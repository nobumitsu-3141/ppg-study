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5"/>
  </p:notesMasterIdLst>
  <p:sldIdLst>
    <p:sldId id="372" r:id="rId2"/>
    <p:sldId id="458" r:id="rId3"/>
    <p:sldId id="259" r:id="rId4"/>
    <p:sldId id="260" r:id="rId5"/>
    <p:sldId id="368" r:id="rId6"/>
    <p:sldId id="369" r:id="rId7"/>
    <p:sldId id="349" r:id="rId8"/>
    <p:sldId id="380" r:id="rId9"/>
    <p:sldId id="399" r:id="rId10"/>
    <p:sldId id="401" r:id="rId11"/>
    <p:sldId id="402" r:id="rId12"/>
    <p:sldId id="377" r:id="rId13"/>
    <p:sldId id="378" r:id="rId14"/>
    <p:sldId id="397" r:id="rId15"/>
    <p:sldId id="347" r:id="rId16"/>
    <p:sldId id="352" r:id="rId17"/>
    <p:sldId id="379" r:id="rId18"/>
    <p:sldId id="351" r:id="rId19"/>
    <p:sldId id="328" r:id="rId20"/>
    <p:sldId id="432" r:id="rId21"/>
    <p:sldId id="306" r:id="rId22"/>
    <p:sldId id="472" r:id="rId23"/>
    <p:sldId id="354" r:id="rId24"/>
    <p:sldId id="422" r:id="rId25"/>
    <p:sldId id="307" r:id="rId26"/>
    <p:sldId id="382" r:id="rId27"/>
    <p:sldId id="384" r:id="rId28"/>
    <p:sldId id="339" r:id="rId29"/>
    <p:sldId id="425" r:id="rId30"/>
    <p:sldId id="424" r:id="rId31"/>
    <p:sldId id="355" r:id="rId32"/>
    <p:sldId id="311" r:id="rId33"/>
    <p:sldId id="272" r:id="rId34"/>
    <p:sldId id="383" r:id="rId35"/>
    <p:sldId id="473" r:id="rId36"/>
    <p:sldId id="403" r:id="rId37"/>
    <p:sldId id="356" r:id="rId38"/>
    <p:sldId id="427" r:id="rId39"/>
    <p:sldId id="428" r:id="rId40"/>
    <p:sldId id="320" r:id="rId41"/>
    <p:sldId id="410" r:id="rId42"/>
    <p:sldId id="409" r:id="rId43"/>
    <p:sldId id="299" r:id="rId44"/>
    <p:sldId id="362" r:id="rId45"/>
    <p:sldId id="474" r:id="rId46"/>
    <p:sldId id="275" r:id="rId47"/>
    <p:sldId id="321" r:id="rId48"/>
    <p:sldId id="310" r:id="rId49"/>
    <p:sldId id="385" r:id="rId50"/>
    <p:sldId id="433" r:id="rId51"/>
    <p:sldId id="364" r:id="rId52"/>
    <p:sldId id="274" r:id="rId53"/>
    <p:sldId id="330" r:id="rId54"/>
    <p:sldId id="386" r:id="rId55"/>
    <p:sldId id="331" r:id="rId56"/>
    <p:sldId id="388" r:id="rId57"/>
    <p:sldId id="398" r:id="rId58"/>
    <p:sldId id="360" r:id="rId59"/>
    <p:sldId id="390" r:id="rId60"/>
    <p:sldId id="391" r:id="rId61"/>
    <p:sldId id="459" r:id="rId62"/>
    <p:sldId id="470" r:id="rId63"/>
    <p:sldId id="414" r:id="rId64"/>
    <p:sldId id="475" r:id="rId65"/>
    <p:sldId id="429" r:id="rId66"/>
    <p:sldId id="476" r:id="rId67"/>
    <p:sldId id="343" r:id="rId68"/>
    <p:sldId id="289" r:id="rId69"/>
    <p:sldId id="479" r:id="rId81"/>
    <p:sldId id="480" r:id="rId82"/>
    <p:sldId id="481" r:id="rId83"/>
    <p:sldId id="482" r:id="rId84"/>
    <p:sldId id="483" r:id="rId85"/>
    <p:sldId id="484" r:id="rId86"/>
    <p:sldId id="485" r:id="rId87"/>
    <p:sldId id="486" r:id="rId88"/>
    <p:sldId id="487" r:id="rId89"/>
    <p:sldId id="488" r:id="rId90"/>
    <p:sldId id="489" r:id="rId91"/>
    <p:sldId id="490" r:id="rId92"/>
    <p:sldId id="296" r:id="rId72"/>
    <p:sldId id="366" r:id="rId73"/>
    <p:sldId id="456" r:id="rId74"/>
    <p:sldId id="491" r:id="rId9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guide id="3" orient="horz" pos="2432" userDrawn="1">
          <p15:clr>
            <a:srgbClr val="A4A3A4"/>
          </p15:clr>
        </p15:guide>
        <p15:guide id="4" orient="horz" pos="1434" userDrawn="1">
          <p15:clr>
            <a:srgbClr val="A4A3A4"/>
          </p15:clr>
        </p15:guide>
        <p15:guide id="5" pos="5405" userDrawn="1">
          <p15:clr>
            <a:srgbClr val="A4A3A4"/>
          </p15:clr>
        </p15:guide>
        <p15:guide id="6" orient="horz" pos="107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1AC31E-A074-BE30-983B-E3E82504D4B4}" name="金子　翔平" initials="金子　翔平" userId="S::aa84312551@ms.nagasaki-u.ac.jp::1ca4e0e6-6999-4e3c-bd1a-befb3b49a97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56"/>
    <p:restoredTop sz="75068"/>
  </p:normalViewPr>
  <p:slideViewPr>
    <p:cSldViewPr snapToGrid="0">
      <p:cViewPr varScale="1">
        <p:scale>
          <a:sx n="80" d="100"/>
          <a:sy n="80" d="100"/>
        </p:scale>
        <p:origin x="2176" y="480"/>
      </p:cViewPr>
      <p:guideLst>
        <p:guide orient="horz" pos="2183"/>
        <p:guide pos="3840"/>
        <p:guide orient="horz" pos="2432"/>
        <p:guide orient="horz" pos="1434"/>
        <p:guide pos="5405"/>
        <p:guide orient="horz" pos="107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 Id="rId80" Type="http://schemas.microsoft.com/office/2018/10/relationships/authors" Target="authors.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37B2AB-5E9D-2D47-A616-04DAF5F03FCC}" type="datetimeFigureOut">
              <a:rPr kumimoji="1" lang="ja-JP" altLang="en-US" smtClean="0"/>
              <a:t>2026/8/14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68CECF-0771-D84F-8D42-085DB944B0B8}" type="slidenum">
              <a:rPr kumimoji="1" lang="ja-JP" altLang="en-US" smtClean="0"/>
              <a:t>‹#›</a:t>
            </a:fld>
            <a:endParaRPr kumimoji="1" lang="ja-JP" altLang="en-US"/>
          </a:p>
        </p:txBody>
      </p:sp>
    </p:spTree>
    <p:extLst>
      <p:ext uri="{BB962C8B-B14F-4D97-AF65-F5344CB8AC3E}">
        <p14:creationId xmlns:p14="http://schemas.microsoft.com/office/powerpoint/2010/main" val="36457354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B5BA2-770E-EEC6-A15C-F39D877242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29A264-1017-70EB-90F4-1820F4DCFD9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40A2C0A-08A6-42A0-68AC-CAC3E0EED470}"/>
              </a:ext>
            </a:extLst>
          </p:cNvPr>
          <p:cNvSpPr>
            <a:spLocks noGrp="1"/>
          </p:cNvSpPr>
          <p:nvPr>
            <p:ph type="body" idx="1"/>
          </p:nvPr>
        </p:nvSpPr>
        <p:spPr/>
        <p:txBody>
          <a:bodyPr/>
          <a:lstStyle/>
          <a:p>
            <a:r>
              <a:rPr kumimoji="1" lang="en-US" altLang="ja-JP" dirty="0"/>
              <a:t> Murray1996</a:t>
            </a:r>
            <a:r>
              <a:rPr kumimoji="1" lang="ja-JP" altLang="en-US"/>
              <a:t> 麻酔導入→手術開始→麻酔調整</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A18A37F1-9485-5C23-7A06-55F6D19E30AF}"/>
              </a:ext>
            </a:extLst>
          </p:cNvPr>
          <p:cNvSpPr>
            <a:spLocks noGrp="1"/>
          </p:cNvSpPr>
          <p:nvPr>
            <p:ph type="sldNum" sz="quarter" idx="5"/>
          </p:nvPr>
        </p:nvSpPr>
        <p:spPr/>
        <p:txBody>
          <a:bodyPr/>
          <a:lstStyle/>
          <a:p>
            <a:fld id="{4368CECF-0771-D84F-8D42-085DB944B0B8}" type="slidenum">
              <a:rPr kumimoji="1" lang="ja-JP" altLang="en-US" smtClean="0"/>
              <a:t>1</a:t>
            </a:fld>
            <a:endParaRPr kumimoji="1" lang="ja-JP" altLang="en-US"/>
          </a:p>
        </p:txBody>
      </p:sp>
    </p:spTree>
    <p:extLst>
      <p:ext uri="{BB962C8B-B14F-4D97-AF65-F5344CB8AC3E}">
        <p14:creationId xmlns:p14="http://schemas.microsoft.com/office/powerpoint/2010/main" val="1959370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66E3C-1DBF-8C4A-3D29-5A5C5E3BE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C5DC0-0D69-4688-C832-650F9A1AE33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252D467-E893-716F-3194-3C309934C9BE}"/>
              </a:ext>
            </a:extLst>
          </p:cNvPr>
          <p:cNvSpPr>
            <a:spLocks noGrp="1"/>
          </p:cNvSpPr>
          <p:nvPr>
            <p:ph type="body" sz="quarter" idx="3"/>
          </p:nvPr>
        </p:nvSpPr>
        <p:spPr/>
        <p:txBody>
          <a:bodyPr/>
          <a:lstStyle/>
          <a:p>
            <a:r>
              <a:t>PPG：皮膚にLEDなどの光を当て、血液量の変化による　　　　光の透過・反射量の変化を検出して、脈波を測定する　　　　非侵襲的な光学的測定法。</a:t>
            </a:r>
          </a:p>
          <a:p>
            <a:endParaRPr/>
          </a:p>
          <a:p>
            <a:r>
              <a:t>得られた脈波をPPG波形や容積脈波などと称する。</a:t>
            </a:r>
          </a:p>
          <a:p>
            <a:endParaRPr/>
          </a:p>
          <a:p>
            <a:r>
              <a:t>パルスオキシメトリーは、光電容積脈波(PPG)信号を利用してSpO₂(経皮的動脈血酸素飽和度)を非侵襲的に推定する測定原理。</a:t>
            </a:r>
          </a:p>
          <a:p>
            <a:endParaRPr/>
          </a:p>
          <a:p>
            <a:endParaRPr/>
          </a:p>
          <a:p>
            <a:r>
              <a:t>用語の整理（図解版）</a:t>
            </a:r>
          </a:p>
          <a:p>
            <a:endParaRPr/>
          </a:p>
          <a:p>
            <a:r>
              <a:t>・PPG（photoplethysmography, 光電式容積脈波記録法）＝ 皮膚に LED などの光を当て、</a:t>
            </a:r>
          </a:p>
          <a:p>
            <a:r>
              <a:t>　血液量の変化による光の透過・反射量の変化を検出して脈波を測定する非侵襲的な光学的測定法。</a:t>
            </a:r>
          </a:p>
          <a:p>
            <a:r>
              <a:t>・得られた脈波を PPG 波形、容積脈波（digital volume pulse, DVP）などと称する。</a:t>
            </a:r>
          </a:p>
          <a:p>
            <a:r>
              <a:t>・パルスオキシメトリーは、この PPG 信号を利用して SpO₂（経皮的動脈血酸素飽和度）を</a:t>
            </a:r>
          </a:p>
          <a:p>
            <a:r>
              <a:t>　非侵襲的に推定する測定原理。</a:t>
            </a:r>
          </a:p>
          <a:p>
            <a:r>
              <a:t>・つまりモニタは SpO₂ という数値を出すためにすでに PPG を取り込んでいる。</a:t>
            </a:r>
          </a:p>
          <a:p>
            <a:r>
              <a:t>　本セッションはその副産物である「波形」をもう一度読み直す作業にあたる。</a:t>
            </a:r>
          </a:p>
          <a:p>
            <a:r>
              <a:t>出典：1. Allen 2007 ／ 2. Aoyagi 2003 ／ 3. Chan 2013</a:t>
            </a:r>
          </a:p>
        </p:txBody>
      </p:sp>
      <p:sp>
        <p:nvSpPr>
          <p:cNvPr id="4" name="Slide Number Placeholder 3">
            <a:extLst>
              <a:ext uri="{FF2B5EF4-FFF2-40B4-BE49-F238E27FC236}">
                <a16:creationId xmlns:a16="http://schemas.microsoft.com/office/drawing/2014/main" id="{873034C7-4055-E666-A435-A0B0FFFD8252}"/>
              </a:ext>
            </a:extLst>
          </p:cNvPr>
          <p:cNvSpPr>
            <a:spLocks noGrp="1"/>
          </p:cNvSpPr>
          <p:nvPr>
            <p:ph type="sldNum" sz="quarter" idx="5"/>
          </p:nvPr>
        </p:nvSpPr>
        <p:spPr/>
      </p:sp>
    </p:spTree>
    <p:extLst>
      <p:ext uri="{BB962C8B-B14F-4D97-AF65-F5344CB8AC3E}">
        <p14:creationId xmlns:p14="http://schemas.microsoft.com/office/powerpoint/2010/main" val="1474409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BDF55-38F1-CE92-ED24-856A73525A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D33A95-8D8E-0BF7-86B4-08C23970BA5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5825CF-951F-C340-FFD4-FA0211F1303F}"/>
              </a:ext>
            </a:extLst>
          </p:cNvPr>
          <p:cNvSpPr>
            <a:spLocks noGrp="1"/>
          </p:cNvSpPr>
          <p:nvPr>
            <p:ph type="body" sz="quarter" idx="3"/>
          </p:nvPr>
        </p:nvSpPr>
        <p:spPr/>
        <p:txBody>
          <a:bodyPr/>
          <a:lstStyle/>
          <a:p>
            <a:endParaRPr/>
          </a:p>
          <a:p>
            <a:r>
              <a:t>European Journal of Haematologyの論文が明確に整理しており、SO₂は「酸化ヘモグロビン(O₂Hb)と、O₂Hb+脱酸素化ヘモグロビン(RHb)の和との比」として100%×O₂Hb/(O₂Hb+RHb)と定義される</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DDE28704-2341-5E6B-1733-FB7FE3DD04AC}"/>
              </a:ext>
            </a:extLst>
          </p:cNvPr>
          <p:cNvSpPr>
            <a:spLocks noGrp="1"/>
          </p:cNvSpPr>
          <p:nvPr>
            <p:ph type="sldNum" sz="quarter" idx="5"/>
          </p:nvPr>
        </p:nvSpPr>
        <p:spPr/>
      </p:sp>
    </p:spTree>
    <p:extLst>
      <p:ext uri="{BB962C8B-B14F-4D97-AF65-F5344CB8AC3E}">
        <p14:creationId xmlns:p14="http://schemas.microsoft.com/office/powerpoint/2010/main" val="4055428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F24CB-7E89-1F57-8033-B7CF9465B1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39D2D-6215-471A-3C05-7CD96F036F2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705D2D-4D55-43A4-83F2-B74FFD5AE6D5}"/>
              </a:ext>
            </a:extLst>
          </p:cNvPr>
          <p:cNvSpPr>
            <a:spLocks noGrp="1"/>
          </p:cNvSpPr>
          <p:nvPr>
            <p:ph type="body" sz="quarter" idx="3"/>
          </p:nvPr>
        </p:nvSpPr>
        <p:spPr/>
        <p:txBody>
          <a:bodyPr/>
          <a:lstStyle/>
          <a:p>
            <a:r>
              <a:t>知りたいのは動脈血中に存在する酸素と結合しているオキシヘモグロビンの割合。</a:t>
            </a:r>
          </a:p>
          <a:p>
            <a:r>
              <a:t>オキシヘモグロビンと酸素を放出したデオキシヘモグロビンの吸光度が違うことに注目した。</a:t>
            </a:r>
          </a:p>
          <a:p>
            <a:r>
              <a:t>でオキシヘモグロビンは660nmの赤色光をよく吸収する。オキシヘモグロビンは940nmの赤外光をよく吸収するという性質がある。</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84BDD548-5997-AB8D-103F-C0B99B10AB99}"/>
              </a:ext>
            </a:extLst>
          </p:cNvPr>
          <p:cNvSpPr>
            <a:spLocks noGrp="1"/>
          </p:cNvSpPr>
          <p:nvPr>
            <p:ph type="sldNum" sz="quarter" idx="5"/>
          </p:nvPr>
        </p:nvSpPr>
        <p:spPr/>
      </p:sp>
    </p:spTree>
    <p:extLst>
      <p:ext uri="{BB962C8B-B14F-4D97-AF65-F5344CB8AC3E}">
        <p14:creationId xmlns:p14="http://schemas.microsoft.com/office/powerpoint/2010/main" val="205938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436EA-BECE-5B89-C144-DA70949B4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19174-777F-842C-ADBF-33BABD2EC29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C27B217-71DD-6C0C-30DE-462278EB74BA}"/>
              </a:ext>
            </a:extLst>
          </p:cNvPr>
          <p:cNvSpPr>
            <a:spLocks noGrp="1"/>
          </p:cNvSpPr>
          <p:nvPr>
            <p:ph type="body" sz="quarter" idx="3"/>
          </p:nvPr>
        </p:nvSpPr>
        <p:spPr/>
        <p:txBody>
          <a:bodyPr/>
          <a:lstStyle/>
          <a:p>
            <a:r>
              <a:rPr lang="en-US" dirty="0"/>
              <a:t>そこで、発光部から660nmの赤色光と940nmの赤外光を測定部位に照射する。</a:t>
            </a:r>
          </a:p>
          <a:p>
            <a:r>
              <a:rPr lang="ja-JP" altLang="en-US"/>
              <a:t>測定部位</a:t>
            </a:r>
            <a:r>
              <a:rPr dirty="0" err="1"/>
              <a:t>を透過（または反射）した光の量を受光素子で拾い</a:t>
            </a:r>
            <a:r>
              <a:rPr dirty="0"/>
              <a:t>、</a:t>
            </a:r>
            <a:r>
              <a:rPr lang="ja-JP" altLang="en-US"/>
              <a:t>血液で吸収され減衰した光を信号にしている。</a:t>
            </a:r>
            <a:endParaRPr lang="en-US" altLang="ja-JP" dirty="0"/>
          </a:p>
          <a:p>
            <a:endParaRPr lang="en-US" dirty="0"/>
          </a:p>
          <a:p>
            <a:r>
              <a:rPr lang="en-US" dirty="0" err="1"/>
              <a:t>そうすると、測定部位には拍動する動脈と、拍動しない</a:t>
            </a:r>
            <a:r>
              <a:rPr lang="ja-JP" altLang="en-US"/>
              <a:t>皮膚・骨・筋・静脈血があるので、右のような波形が得られる。</a:t>
            </a:r>
            <a:endParaRPr lang="en-US" dirty="0"/>
          </a:p>
          <a:p>
            <a:endParaRPr lang="en-US" dirty="0"/>
          </a:p>
          <a:p>
            <a:endParaRPr dirty="0"/>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A7170B71-4F12-92B1-F33E-A60D2CF6BEDA}"/>
              </a:ext>
            </a:extLst>
          </p:cNvPr>
          <p:cNvSpPr>
            <a:spLocks noGrp="1"/>
          </p:cNvSpPr>
          <p:nvPr>
            <p:ph type="sldNum" sz="quarter" idx="5"/>
          </p:nvPr>
        </p:nvSpPr>
        <p:spPr/>
      </p:sp>
    </p:spTree>
    <p:extLst>
      <p:ext uri="{BB962C8B-B14F-4D97-AF65-F5344CB8AC3E}">
        <p14:creationId xmlns:p14="http://schemas.microsoft.com/office/powerpoint/2010/main" val="2501840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97B27-8D6A-ACA9-E579-50AFE4639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F227E-33EB-3747-A6CB-9533981A47D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67F8F25-3CE4-0424-9210-A10D10130312}"/>
              </a:ext>
            </a:extLst>
          </p:cNvPr>
          <p:cNvSpPr>
            <a:spLocks noGrp="1"/>
          </p:cNvSpPr>
          <p:nvPr>
            <p:ph type="body" sz="quarter" idx="3"/>
          </p:nvPr>
        </p:nvSpPr>
        <p:spPr/>
        <p:txBody>
          <a:bodyPr/>
          <a:lstStyle/>
          <a:p>
            <a:r>
              <a:rPr lang="en-US" dirty="0" err="1"/>
              <a:t>拍動成分部分をAC、非拍動成分部分をDCという</a:t>
            </a:r>
            <a:endParaRPr lang="en-US" dirty="0"/>
          </a:p>
          <a:p>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F74C6D83-AF11-9AD2-6735-89EC5A4032F8}"/>
              </a:ext>
            </a:extLst>
          </p:cNvPr>
          <p:cNvSpPr>
            <a:spLocks noGrp="1"/>
          </p:cNvSpPr>
          <p:nvPr>
            <p:ph type="sldNum" sz="quarter" idx="5"/>
          </p:nvPr>
        </p:nvSpPr>
        <p:spPr/>
      </p:sp>
    </p:spTree>
    <p:extLst>
      <p:ext uri="{BB962C8B-B14F-4D97-AF65-F5344CB8AC3E}">
        <p14:creationId xmlns:p14="http://schemas.microsoft.com/office/powerpoint/2010/main" val="1856731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A416C-778B-0061-5200-5F975B778D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4FE94-CAFD-FE75-20F6-FF37BA6219A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FFEB787-C0C6-6166-C38E-EA7DA5CF7998}"/>
              </a:ext>
            </a:extLst>
          </p:cNvPr>
          <p:cNvSpPr>
            <a:spLocks noGrp="1"/>
          </p:cNvSpPr>
          <p:nvPr>
            <p:ph type="body" sz="quarter" idx="3"/>
          </p:nvPr>
        </p:nvSpPr>
        <p:spPr/>
        <p:txBody>
          <a:bodyPr/>
          <a:lstStyle/>
          <a:p>
            <a:pPr algn="l">
              <a:lnSpc>
                <a:spcPct val="150000"/>
              </a:lnSpc>
              <a:spcBef>
                <a:spcPts val="0"/>
              </a:spcBef>
              <a:spcAft>
                <a:spcPts val="0"/>
              </a:spcAft>
            </a:pPr>
            <a:r>
              <a:rPr lang="ja-JP" altLang="en-US" sz="1200" b="1">
                <a:solidFill>
                  <a:srgbClr val="262626"/>
                </a:solidFill>
                <a:latin typeface="Meiryo"/>
                <a:ea typeface="Meiryo"/>
                <a:cs typeface="Meiryo"/>
              </a:rPr>
              <a:t>知りたいのは</a:t>
            </a:r>
            <a:r>
              <a:rPr lang="ja-JP" altLang="en-US" sz="1200" b="1">
                <a:solidFill>
                  <a:srgbClr val="D55E00"/>
                </a:solidFill>
                <a:latin typeface="Meiryo"/>
                <a:ea typeface="Meiryo"/>
                <a:cs typeface="Meiryo"/>
              </a:rPr>
              <a:t> </a:t>
            </a:r>
            <a:r>
              <a:rPr lang="ja-JP" altLang="en-US" sz="1200" b="1">
                <a:solidFill>
                  <a:schemeClr val="tx1"/>
                </a:solidFill>
                <a:latin typeface="Meiryo"/>
                <a:ea typeface="Meiryo"/>
                <a:cs typeface="Meiryo"/>
              </a:rPr>
              <a:t>動脈血の </a:t>
            </a:r>
            <a:r>
              <a:rPr lang="en-US" altLang="ja-JP" sz="1200" b="1" dirty="0">
                <a:solidFill>
                  <a:srgbClr val="D55E00"/>
                </a:solidFill>
                <a:latin typeface="Meiryo"/>
                <a:ea typeface="Meiryo"/>
                <a:cs typeface="Meiryo"/>
              </a:rPr>
              <a:t>O₂ Hb </a:t>
            </a:r>
            <a:r>
              <a:rPr lang="ja-JP" altLang="en-US" sz="1200" b="1">
                <a:solidFill>
                  <a:srgbClr val="262626"/>
                </a:solidFill>
                <a:latin typeface="Meiryo"/>
                <a:ea typeface="Meiryo"/>
                <a:cs typeface="Meiryo"/>
              </a:rPr>
              <a:t>の割合　なので　</a:t>
            </a:r>
            <a:r>
              <a:rPr lang="en-US" altLang="ja-JP" sz="1200" b="1" dirty="0">
                <a:solidFill>
                  <a:srgbClr val="262626"/>
                </a:solidFill>
                <a:latin typeface="Meiryo"/>
                <a:ea typeface="Meiryo"/>
                <a:cs typeface="Meiryo"/>
              </a:rPr>
              <a:t>AC / DC </a:t>
            </a:r>
            <a:r>
              <a:rPr lang="ja-JP" altLang="en-US" sz="1200" b="1">
                <a:solidFill>
                  <a:srgbClr val="262626"/>
                </a:solidFill>
                <a:latin typeface="Meiryo"/>
                <a:ea typeface="Meiryo"/>
                <a:cs typeface="Meiryo"/>
              </a:rPr>
              <a:t>で非拍動成分を除く</a:t>
            </a:r>
            <a:endParaRPr lang="en-US" altLang="ja-JP" sz="1200" b="1" dirty="0">
              <a:solidFill>
                <a:srgbClr val="262626"/>
              </a:solidFill>
              <a:latin typeface="Meiryo"/>
              <a:ea typeface="Meiryo"/>
              <a:cs typeface="Meiryo"/>
            </a:endParaRPr>
          </a:p>
          <a:p>
            <a:pPr algn="l">
              <a:lnSpc>
                <a:spcPct val="150000"/>
              </a:lnSpc>
              <a:spcBef>
                <a:spcPts val="0"/>
              </a:spcBef>
              <a:spcAft>
                <a:spcPts val="0"/>
              </a:spcAft>
            </a:pPr>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81E38478-C98A-F6F2-6F55-2E15B7D639B3}"/>
              </a:ext>
            </a:extLst>
          </p:cNvPr>
          <p:cNvSpPr>
            <a:spLocks noGrp="1"/>
          </p:cNvSpPr>
          <p:nvPr>
            <p:ph type="sldNum" sz="quarter" idx="5"/>
          </p:nvPr>
        </p:nvSpPr>
        <p:spPr/>
      </p:sp>
    </p:spTree>
    <p:extLst>
      <p:ext uri="{BB962C8B-B14F-4D97-AF65-F5344CB8AC3E}">
        <p14:creationId xmlns:p14="http://schemas.microsoft.com/office/powerpoint/2010/main" val="3982212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9123A-7C2B-07E9-E92B-3A26EEB541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C55F46-C3D9-A400-A2F4-C17B53725B1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62E55E6-D9A2-9EB7-1C25-8A83C06E909C}"/>
              </a:ext>
            </a:extLst>
          </p:cNvPr>
          <p:cNvSpPr>
            <a:spLocks noGrp="1"/>
          </p:cNvSpPr>
          <p:nvPr>
            <p:ph type="body" sz="quarter" idx="3"/>
          </p:nvPr>
        </p:nvSpPr>
        <p:spPr/>
        <p:txBody>
          <a:bodyPr/>
          <a:lstStyle/>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D5A5737E-2283-01E1-DEE3-EFD915E640D4}"/>
              </a:ext>
            </a:extLst>
          </p:cNvPr>
          <p:cNvSpPr>
            <a:spLocks noGrp="1"/>
          </p:cNvSpPr>
          <p:nvPr>
            <p:ph type="sldNum" sz="quarter" idx="5"/>
          </p:nvPr>
        </p:nvSpPr>
        <p:spPr/>
      </p:sp>
    </p:spTree>
    <p:extLst>
      <p:ext uri="{BB962C8B-B14F-4D97-AF65-F5344CB8AC3E}">
        <p14:creationId xmlns:p14="http://schemas.microsoft.com/office/powerpoint/2010/main" val="4153427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DCAF9-3DD6-F31A-8C63-13D6D293A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1583D-24E6-9898-5658-59F68125FF7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EE2194D-12E2-953B-A6C5-F452F4A21B8F}"/>
              </a:ext>
            </a:extLst>
          </p:cNvPr>
          <p:cNvSpPr>
            <a:spLocks noGrp="1"/>
          </p:cNvSpPr>
          <p:nvPr>
            <p:ph type="body" sz="quarter" idx="3"/>
          </p:nvPr>
        </p:nvSpPr>
        <p:spPr/>
        <p:txBody>
          <a:bodyPr/>
          <a:lstStyle/>
          <a:p>
            <a:r>
              <a:t>AC / DC で動脈血成分にした</a:t>
            </a:r>
          </a:p>
          <a:p>
            <a:r>
              <a:t>赤外光はO₂Hbの指標、赤色光HHbの指標。</a:t>
            </a:r>
          </a:p>
          <a:p>
            <a:r>
              <a:t>分母は動脈血のO 2Hbの指標で、分子は動脈血のHHbの指標</a:t>
            </a:r>
          </a:p>
          <a:p>
            <a:r>
              <a:t>これによって動脈血中のO 2Hbの割合を出そうとしている。 </a:t>
            </a:r>
          </a:p>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4C3F9C05-7BE8-B858-145F-C6CF39B77F02}"/>
              </a:ext>
            </a:extLst>
          </p:cNvPr>
          <p:cNvSpPr>
            <a:spLocks noGrp="1"/>
          </p:cNvSpPr>
          <p:nvPr>
            <p:ph type="sldNum" sz="quarter" idx="5"/>
          </p:nvPr>
        </p:nvSpPr>
        <p:spPr/>
      </p:sp>
    </p:spTree>
    <p:extLst>
      <p:ext uri="{BB962C8B-B14F-4D97-AF65-F5344CB8AC3E}">
        <p14:creationId xmlns:p14="http://schemas.microsoft.com/office/powerpoint/2010/main" val="2730883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F32FC-3DC5-0E43-3619-E7DC01AA9B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7820B2-C40E-8EE6-A4ED-6388F5232F7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0B3D65F-48A9-EB60-0C53-9596176E7DB9}"/>
              </a:ext>
            </a:extLst>
          </p:cNvPr>
          <p:cNvSpPr>
            <a:spLocks noGrp="1"/>
          </p:cNvSpPr>
          <p:nvPr>
            <p:ph type="body" sz="quarter" idx="3"/>
          </p:nvPr>
        </p:nvSpPr>
        <p:spPr/>
        <p:txBody>
          <a:bodyPr/>
          <a:lstStyle/>
          <a:p>
            <a:r>
              <a:t>健常人に低酸素負荷をしてRと対応するSaO2を得る。健常人なのでSaO２70％が限度。以下は推定。</a:t>
            </a:r>
          </a:p>
          <a:p>
            <a:r>
              <a:t>これを対照とする。</a:t>
            </a:r>
          </a:p>
          <a:p>
            <a:endParaRPr/>
          </a:p>
          <a:p>
            <a:r>
              <a:t>先ほど得られた赤色光赤外光変調比から、</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C544DC85-B427-41E7-F71E-F22650057390}"/>
              </a:ext>
            </a:extLst>
          </p:cNvPr>
          <p:cNvSpPr>
            <a:spLocks noGrp="1"/>
          </p:cNvSpPr>
          <p:nvPr>
            <p:ph type="sldNum" sz="quarter" idx="5"/>
          </p:nvPr>
        </p:nvSpPr>
        <p:spPr/>
      </p:sp>
    </p:spTree>
    <p:extLst>
      <p:ext uri="{BB962C8B-B14F-4D97-AF65-F5344CB8AC3E}">
        <p14:creationId xmlns:p14="http://schemas.microsoft.com/office/powerpoint/2010/main" val="1718225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C1B47-2B33-059E-E0DA-FB1781B3C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514FB-B1F2-4F0A-9CBF-769AA9BCF4D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89D9478-2EA6-D081-E9CD-04FDAB94A84A}"/>
              </a:ext>
            </a:extLst>
          </p:cNvPr>
          <p:cNvSpPr>
            <a:spLocks noGrp="1"/>
          </p:cNvSpPr>
          <p:nvPr>
            <p:ph type="body" sz="quarter" idx="3"/>
          </p:nvPr>
        </p:nvSpPr>
        <p:spPr/>
        <p:txBody>
          <a:bodyPr/>
          <a:lstStyle/>
          <a:p>
            <a:r>
              <a:t>測定対象からRを得ることにより、経皮的にSaO2を推定することができるようになった。</a:t>
            </a:r>
          </a:p>
          <a:p>
            <a:r>
              <a:t>これをSpO₂とする。</a:t>
            </a:r>
          </a:p>
          <a:p>
            <a:endParaRPr/>
          </a:p>
          <a:p>
            <a:r>
              <a:t>パルスオキシメータのSpO₂ルックアップテーブル(較正曲線)は、健常な成人ボランティアを対象とした「意図的低酸素負荷試験(controlled/induced desaturation study)」により、動脈血ガス(SaO₂)を基準として作成される</a:t>
            </a:r>
          </a:p>
          <a:p>
            <a:r>
              <a:t>試験の基本手順(ISO 80601-2-61:2017 / FDA 2013 guidanceに準拠)</a:t>
            </a:r>
          </a:p>
          <a:p>
            <a:r>
              <a:t>対象: 健常な若年成人ボランティア(疾患・喫煙歴なし)。近年はFDAの改訂方針を受け、多様な肌色(Fitzpatrick分類やMonk Skin Tone、個人皮膚色角度ITAなど)を含む被験者構成が求められるようになっている。 [4-5]</a:t>
            </a:r>
          </a:p>
          <a:p>
            <a:r>
              <a:t>低酸素の誘発方法: 安静仰臥位で、吸入酸素・窒素(場合により二酸化炭素)の分圧を部分再呼吸回路(partial rebreathing circuit)や吸入ガス混合装置で段階的に調整し、SaO₂を70%から100%の範囲で複数のプラトー(定常状態)に安定させる。 [3][6]</a:t>
            </a:r>
          </a:p>
          <a:p>
            <a:r>
              <a:t>サンプリングと基準値取得: 橈骨動脈ラインを留置し、各SaO₂プラトーで動脈血を採取、血液ガス分析装置(co-oximeter、例:ABL-90FLEX)でSaO₂を直接測定する。同時に被験機器のSpO₂値を記録し、両者をペアデータとして対応させる。 [3][6]</a:t>
            </a:r>
          </a:p>
          <a:p>
            <a:r>
              <a:t>評価するSaO₂範囲: 通常70〜100%の範囲で複数プラトーを設定するのがISO/FDA標準プロトコルである。70%未満の重度低酸素領域は健常者に対する倫理的制約から通常の市販機器の較正には含まれず、この領域での精度は保証されていない(実際、55〜70%SaO₂域では市販機器がいずれも基準と一致しなかったとする報告もある)。 [1][3]</a:t>
            </a:r>
          </a:p>
          <a:p>
            <a:r>
              <a:t>精度評価指標: 各SpO₂-SaO₂ペアから誤差(bias = SpO₂-SaO₂)を算出し、二乗平均平方根誤差(A_RMS, root mean square error)やBland-Altman法(バイアスと95%一致限界)で評価する。FDA基準ではA_RMSが指先プローブで3%以内、耳朶プローブで3.5%以内であることが求められる。 [4][7]</a:t>
            </a:r>
          </a:p>
          <a:p>
            <a:r>
              <a:t>ルックアップテーブルの作成: 得られたSpO₂-SaO₂ペアデータから回帰式(較正曲線)を導出し、機器内部でRの値(赤色/近赤外の正規化吸光比、ratio of ratios)に対応するSaO₂推定値としてルックアップテーブル化・アルゴリズムに実装する。 </a:t>
            </a:r>
          </a:p>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851A6DD8-9D05-D826-43C6-8AEF19F5F795}"/>
              </a:ext>
            </a:extLst>
          </p:cNvPr>
          <p:cNvSpPr>
            <a:spLocks noGrp="1"/>
          </p:cNvSpPr>
          <p:nvPr>
            <p:ph type="sldNum" sz="quarter" idx="5"/>
          </p:nvPr>
        </p:nvSpPr>
        <p:spPr/>
      </p:sp>
    </p:spTree>
    <p:extLst>
      <p:ext uri="{BB962C8B-B14F-4D97-AF65-F5344CB8AC3E}">
        <p14:creationId xmlns:p14="http://schemas.microsoft.com/office/powerpoint/2010/main" val="8784395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【改善案】元スライド（タイトルだけで本文が空）の完成案。ノートの内容をそのまま3段に整理した。</a:t>
            </a:r>
          </a:p>
          <a:p>
            <a:endParaRPr/>
          </a:p>
          <a:p>
            <a:r>
              <a:t>拡張期でも動脈内の血液はゼロにならず、残存動脈血が DC 成分に含まれる。DC ＝ 静脈血＋組織＋拡張期の動脈血 であり、純粋に動脈成分を除いた値ではない。</a:t>
            </a:r>
          </a:p>
          <a:p>
            <a:r>
              <a:t>理論解析では、R と SaO₂ の関係は「動脈区画が拍動で膨張する部分の吸収変化」と「その膨張領域の実効光路長（mean partial optical path length）」で決まり、DC に残る動脈血を含めた較正が必要とされる。</a:t>
            </a:r>
          </a:p>
          <a:p>
            <a:r>
              <a:t>実運用では、この効果は個々の患者で定量化されているわけではなく、メーカーの経験的較正（健常者の低酸素負荷試験によるルックアップテーブル）に間接的に織り込まれており、通常の臨床精度（誤差 約3〜4%）の範囲に収まると考えられている。</a:t>
            </a:r>
          </a:p>
          <a:p>
            <a:r>
              <a:t>ただし較正は健常成人ボランティアでの経験モデルなので、末梢循環不全・色素性皮膚・異常ヘモグロビン血症では前提から外れて誤差が拡大しうる。肌の色素沈着による hidden/occult hypoxemia はその臨床的発現の一例。</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8382F-7415-AD35-8419-C163B5C550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3E27C-7B80-F4BD-9ACB-08E1BD8ABD8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D4FB8A9-DDB0-BD78-5DF3-7A88014FCB4E}"/>
              </a:ext>
            </a:extLst>
          </p:cNvPr>
          <p:cNvSpPr>
            <a:spLocks noGrp="1"/>
          </p:cNvSpPr>
          <p:nvPr>
            <p:ph type="body" sz="quarter" idx="3"/>
          </p:nvPr>
        </p:nvSpPr>
        <p:spPr/>
        <p:txBody>
          <a:bodyPr/>
          <a:lstStyle/>
          <a:p>
            <a:r>
              <a:rPr lang="en-US" dirty="0"/>
              <a:t>発光部から２種類の波長の光を出し、これを受講部で測定する。</a:t>
            </a:r>
          </a:p>
          <a:p>
            <a:r>
              <a:rPr lang="en-US" dirty="0"/>
              <a:t>拍動時、動脈は、左室からの圧脈波が到着した部分だけ、局所的に受動的に拡張し一時的に容積が増大する。拡張分だけHbが増えた結果、吸光量が増大してPPG信号の変化を起こす。</a:t>
            </a:r>
          </a:p>
          <a:p>
            <a:r>
              <a:rPr lang="en-US" dirty="0" err="1"/>
              <a:t>つまり、PPGは測っているのは拍動する動脈血の容積変化ということになる</a:t>
            </a:r>
            <a:r>
              <a:rPr lang="en-US" dirty="0"/>
              <a:t>。</a:t>
            </a:r>
          </a:p>
          <a:p>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E6D0383E-312B-25EC-7918-6FE5DBCD0578}"/>
              </a:ext>
            </a:extLst>
          </p:cNvPr>
          <p:cNvSpPr>
            <a:spLocks noGrp="1"/>
          </p:cNvSpPr>
          <p:nvPr>
            <p:ph type="sldNum" sz="quarter" idx="5"/>
          </p:nvPr>
        </p:nvSpPr>
        <p:spPr/>
      </p:sp>
    </p:spTree>
    <p:extLst>
      <p:ext uri="{BB962C8B-B14F-4D97-AF65-F5344CB8AC3E}">
        <p14:creationId xmlns:p14="http://schemas.microsoft.com/office/powerpoint/2010/main" val="451975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B2837-D9A8-1F4D-6232-5E5674072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E4CF1-C4D8-8996-8670-9650E2F5E1B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1DBE721-C606-9A7B-BC3C-311DAEF28020}"/>
              </a:ext>
            </a:extLst>
          </p:cNvPr>
          <p:cNvSpPr>
            <a:spLocks noGrp="1"/>
          </p:cNvSpPr>
          <p:nvPr>
            <p:ph type="body" sz="quarter" idx="3"/>
          </p:nvPr>
        </p:nvSpPr>
        <p:spPr/>
        <p:txBody>
          <a:bodyPr/>
          <a:lstStyle/>
          <a:p>
            <a:r>
              <a:rPr lang="en-US" dirty="0"/>
              <a:t>この前進波について、左室からの圧脈波の到着による局所拡張としたが、実際に左室が送り出す血液はこの壁を伝導する厚脈波に比べ10倍以上も遅い。</a:t>
            </a:r>
          </a:p>
          <a:p>
            <a:r>
              <a:rPr lang="en-US" dirty="0" err="1"/>
              <a:t>左室の血液は一心拍の間に指尖部まで届かない</a:t>
            </a:r>
            <a:r>
              <a:rPr lang="en-US" dirty="0"/>
              <a:t>。</a:t>
            </a:r>
          </a:p>
          <a:p>
            <a:endParaRPr lang="en-US" dirty="0"/>
          </a:p>
          <a:p>
            <a:r>
              <a:rPr dirty="0"/>
              <a:t>PPG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C134FB67-A945-C33D-A434-D7420851D740}"/>
              </a:ext>
            </a:extLst>
          </p:cNvPr>
          <p:cNvSpPr>
            <a:spLocks noGrp="1"/>
          </p:cNvSpPr>
          <p:nvPr>
            <p:ph type="sldNum" sz="quarter" idx="5"/>
          </p:nvPr>
        </p:nvSpPr>
        <p:spPr/>
      </p:sp>
    </p:spTree>
    <p:extLst>
      <p:ext uri="{BB962C8B-B14F-4D97-AF65-F5344CB8AC3E}">
        <p14:creationId xmlns:p14="http://schemas.microsoft.com/office/powerpoint/2010/main" val="352152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1FBEE-44E9-7A85-5E96-1C8CE3AF0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ECB69C-5607-8D8F-1067-1AEDD045B84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2C57481-F5FC-5440-DC92-6B3D555EF7E4}"/>
              </a:ext>
            </a:extLst>
          </p:cNvPr>
          <p:cNvSpPr>
            <a:spLocks noGrp="1"/>
          </p:cNvSpPr>
          <p:nvPr>
            <p:ph type="body" sz="quarter" idx="3"/>
          </p:nvPr>
        </p:nvSpPr>
        <p:spPr/>
        <p:txBody>
          <a:bodyPr/>
          <a:lstStyle/>
          <a:p>
            <a:r>
              <a:rPr lang="ja-JP" altLang="en-US"/>
              <a:t>つまり繰り返しになるが</a:t>
            </a:r>
            <a:r>
              <a:rPr dirty="0"/>
              <a:t>PPG</a:t>
            </a:r>
            <a:r>
              <a:rPr lang="ja-JP" altLang="en-US"/>
              <a:t>の測定対象は心臓から拍出された血液量ではなく、圧脈波の到着によって受動的に伸展した血管の容積変化である。</a:t>
            </a:r>
            <a:endParaRPr lang="en-US" altLang="ja-JP" dirty="0"/>
          </a:p>
          <a:p>
            <a:endParaRPr lang="en-US" dirty="0"/>
          </a:p>
          <a:p>
            <a:r>
              <a:rPr dirty="0"/>
              <a:t>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307251F9-2746-F1B6-EBC7-31160B45B1CD}"/>
              </a:ext>
            </a:extLst>
          </p:cNvPr>
          <p:cNvSpPr>
            <a:spLocks noGrp="1"/>
          </p:cNvSpPr>
          <p:nvPr>
            <p:ph type="sldNum" sz="quarter" idx="5"/>
          </p:nvPr>
        </p:nvSpPr>
        <p:spPr/>
      </p:sp>
    </p:spTree>
    <p:extLst>
      <p:ext uri="{BB962C8B-B14F-4D97-AF65-F5344CB8AC3E}">
        <p14:creationId xmlns:p14="http://schemas.microsoft.com/office/powerpoint/2010/main" val="38112743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142EB-8BAF-D335-F64C-9C4B59905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437CAE-E88C-7FE7-DDCE-9B26A8D226B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65D6FD6-B092-D932-5671-8F01A003A495}"/>
              </a:ext>
            </a:extLst>
          </p:cNvPr>
          <p:cNvSpPr>
            <a:spLocks noGrp="1"/>
          </p:cNvSpPr>
          <p:nvPr>
            <p:ph type="body" sz="quarter" idx="3"/>
          </p:nvPr>
        </p:nvSpPr>
        <p:spPr/>
        <p:txBody>
          <a:bodyPr/>
          <a:lstStyle/>
          <a:p>
            <a:r>
              <a:rPr lang="en-US" dirty="0" err="1"/>
              <a:t>左室からの圧の伝導を容積変化という形でまず検出する。最初の波を前進波という</a:t>
            </a:r>
            <a:r>
              <a:rPr lang="en-US" dirty="0"/>
              <a:t>。</a:t>
            </a:r>
          </a:p>
          <a:p>
            <a:endParaRPr lang="en-US" dirty="0"/>
          </a:p>
          <a:p>
            <a:r>
              <a:rPr dirty="0"/>
              <a:t>PPG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5F9F9A8E-9E63-B840-2DE8-1B250982A89F}"/>
              </a:ext>
            </a:extLst>
          </p:cNvPr>
          <p:cNvSpPr>
            <a:spLocks noGrp="1"/>
          </p:cNvSpPr>
          <p:nvPr>
            <p:ph type="sldNum" sz="quarter" idx="5"/>
          </p:nvPr>
        </p:nvSpPr>
        <p:spPr/>
      </p:sp>
    </p:spTree>
    <p:extLst>
      <p:ext uri="{BB962C8B-B14F-4D97-AF65-F5344CB8AC3E}">
        <p14:creationId xmlns:p14="http://schemas.microsoft.com/office/powerpoint/2010/main" val="1347772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上肢や体幹、下肢等のインピーダンス不整合部位で圧脈波が反射し、再度測定部位で信号を検出する</a:t>
            </a:r>
            <a:r>
              <a:rPr lang="en-US" dirty="0"/>
              <a:t>。</a:t>
            </a:r>
          </a:p>
          <a:p>
            <a:r>
              <a:rPr lang="en-US" dirty="0" err="1"/>
              <a:t>反射によって得られた前進波に続く波を反射波という</a:t>
            </a:r>
            <a:r>
              <a:rPr lang="en-US" dirty="0"/>
              <a:t>。</a:t>
            </a:r>
          </a:p>
          <a:p>
            <a:r>
              <a:rPr lang="en-US" dirty="0" err="1"/>
              <a:t>この前進波と反射波の合成により、PPG波形が成り立つ</a:t>
            </a:r>
            <a:r>
              <a:rPr lang="en-US" dirty="0"/>
              <a:t>。</a:t>
            </a:r>
          </a:p>
          <a:p>
            <a:r>
              <a:rPr lang="en-US" dirty="0" err="1"/>
              <a:t>現在この反射は血管内の様々な場所で起こっており、どこで反射するといった場所の特定はできないという意見が主流</a:t>
            </a:r>
            <a:r>
              <a:rPr lang="en-US" dirty="0"/>
              <a:t>。</a:t>
            </a:r>
          </a:p>
          <a:p>
            <a:endParaRPr lang="en-US" dirty="0"/>
          </a:p>
          <a:p>
            <a:r>
              <a:rPr dirty="0"/>
              <a:t>第2の成分は反射波（reflected wave）。</a:t>
            </a:r>
            <a:r>
              <a:rPr dirty="0" err="1"/>
              <a:t>ここで誤解されやすいのは反射の「場所</a:t>
            </a:r>
            <a:r>
              <a:rPr dirty="0"/>
              <a:t>」。</a:t>
            </a:r>
          </a:p>
          <a:p>
            <a:r>
              <a:rPr dirty="0" err="1"/>
              <a:t>反射は指先で起きているのではない</a:t>
            </a:r>
            <a:r>
              <a:rPr dirty="0"/>
              <a:t>。</a:t>
            </a:r>
          </a:p>
          <a:p>
            <a:endParaRPr dirty="0"/>
          </a:p>
          <a:p>
            <a:r>
              <a:rPr dirty="0" err="1"/>
              <a:t>主な反射部位は下半身側</a:t>
            </a:r>
            <a:r>
              <a:rPr dirty="0"/>
              <a:t> — </a:t>
            </a:r>
            <a:r>
              <a:rPr dirty="0" err="1"/>
              <a:t>腹部大動脈の腸骨分岐部と、下肢の抵抗血管（細動脈）である</a:t>
            </a:r>
            <a:r>
              <a:rPr dirty="0"/>
              <a:t>。</a:t>
            </a:r>
          </a:p>
          <a:p>
            <a:r>
              <a:rPr dirty="0"/>
              <a:t>経路は次の3段階：</a:t>
            </a:r>
          </a:p>
          <a:p>
            <a:r>
              <a:rPr dirty="0"/>
              <a:t>① </a:t>
            </a:r>
            <a:r>
              <a:rPr dirty="0" err="1"/>
              <a:t>左室が出した圧波（前進波）が下行大動脈を下る</a:t>
            </a:r>
            <a:endParaRPr dirty="0"/>
          </a:p>
          <a:p>
            <a:r>
              <a:rPr dirty="0"/>
              <a:t>② </a:t>
            </a:r>
            <a:r>
              <a:rPr dirty="0" err="1"/>
              <a:t>腸骨分岐部・下肢でインピーダンスが不連続になり反射する</a:t>
            </a:r>
            <a:endParaRPr dirty="0"/>
          </a:p>
          <a:p>
            <a:r>
              <a:rPr dirty="0"/>
              <a:t>③ </a:t>
            </a:r>
            <a:r>
              <a:rPr dirty="0" err="1"/>
              <a:t>反射波が大動脈を上り、そこから上肢を経て指先に「遅れて」届く</a:t>
            </a:r>
            <a:endParaRPr dirty="0"/>
          </a:p>
          <a:p>
            <a:r>
              <a:rPr dirty="0" err="1"/>
              <a:t>指尖</a:t>
            </a:r>
            <a:r>
              <a:rPr dirty="0"/>
              <a:t> PPG </a:t>
            </a:r>
            <a:r>
              <a:rPr dirty="0" err="1"/>
              <a:t>はこの前進波と反射波の合成波であり、両者の谷が重複切痕（dicrotic</a:t>
            </a:r>
            <a:r>
              <a:rPr dirty="0"/>
              <a:t> notch）、</a:t>
            </a:r>
          </a:p>
          <a:p>
            <a:r>
              <a:rPr dirty="0"/>
              <a:t>反射波の山が拡張期波（第2ピーク P2）として観察される。</a:t>
            </a:r>
          </a:p>
          <a:p>
            <a:endParaRPr dirty="0"/>
          </a:p>
          <a:p>
            <a:r>
              <a:rPr dirty="0" err="1"/>
              <a:t>だから</a:t>
            </a:r>
            <a:r>
              <a:rPr dirty="0"/>
              <a:t> ΔT（P1→P2 </a:t>
            </a:r>
            <a:r>
              <a:rPr dirty="0" err="1"/>
              <a:t>の時間差）は「大動脈を下って反射し戻る往復時間」を反映する</a:t>
            </a:r>
            <a:r>
              <a:rPr dirty="0"/>
              <a:t>。</a:t>
            </a:r>
          </a:p>
          <a:p>
            <a:r>
              <a:rPr dirty="0" err="1"/>
              <a:t>上肢は前進波・反射波の共通の通り道なので、ΔT</a:t>
            </a:r>
            <a:r>
              <a:rPr dirty="0"/>
              <a:t> </a:t>
            </a:r>
            <a:r>
              <a:rPr dirty="0" err="1"/>
              <a:t>にはほとんど影響しない（Millasseau</a:t>
            </a:r>
            <a:r>
              <a:rPr dirty="0"/>
              <a:t> 2002 Fig.1）。</a:t>
            </a:r>
          </a:p>
          <a:p>
            <a:r>
              <a:rPr dirty="0" err="1"/>
              <a:t>この往復の経路長は直接は測れないため、身長に比例すると仮定して身長で代用する</a:t>
            </a:r>
            <a:r>
              <a:rPr dirty="0"/>
              <a:t>。</a:t>
            </a:r>
          </a:p>
          <a:p>
            <a:r>
              <a:rPr dirty="0" err="1"/>
              <a:t>これが</a:t>
            </a:r>
            <a:r>
              <a:rPr dirty="0"/>
              <a:t> 5.1 </a:t>
            </a:r>
            <a:r>
              <a:rPr dirty="0" err="1"/>
              <a:t>の</a:t>
            </a:r>
            <a:r>
              <a:rPr dirty="0"/>
              <a:t> SI ＝ </a:t>
            </a:r>
            <a:r>
              <a:rPr dirty="0" err="1"/>
              <a:t>身長</a:t>
            </a:r>
            <a:r>
              <a:rPr dirty="0"/>
              <a:t> ÷ ΔT </a:t>
            </a:r>
            <a:r>
              <a:rPr dirty="0" err="1"/>
              <a:t>の根拠</a:t>
            </a:r>
            <a:r>
              <a:rPr dirty="0"/>
              <a:t>。「</a:t>
            </a:r>
            <a:r>
              <a:rPr dirty="0" err="1"/>
              <a:t>往復距離＝身長」という意味ではない</a:t>
            </a:r>
            <a:r>
              <a:rPr dirty="0"/>
              <a:t>。</a:t>
            </a:r>
          </a:p>
          <a:p>
            <a:endParaRPr dirty="0"/>
          </a:p>
          <a:p>
            <a:r>
              <a:rPr dirty="0"/>
              <a:t>反射波の2つのパラメータは別々の生理を反映する：</a:t>
            </a:r>
          </a:p>
          <a:p>
            <a:r>
              <a:rPr dirty="0"/>
              <a:t>・</a:t>
            </a:r>
            <a:r>
              <a:rPr dirty="0" err="1"/>
              <a:t>戻る「時相</a:t>
            </a:r>
            <a:r>
              <a:rPr dirty="0"/>
              <a:t>」＝</a:t>
            </a:r>
            <a:r>
              <a:rPr dirty="0" err="1"/>
              <a:t>大動脈の硬さ（PWV</a:t>
            </a:r>
            <a:r>
              <a:rPr dirty="0"/>
              <a:t>）。</a:t>
            </a:r>
            <a:r>
              <a:rPr dirty="0" err="1"/>
              <a:t>硬いほど早く戻り、収縮期に融合して一峰性化する</a:t>
            </a:r>
            <a:r>
              <a:rPr dirty="0"/>
              <a:t>。</a:t>
            </a:r>
          </a:p>
          <a:p>
            <a:r>
              <a:rPr dirty="0"/>
              <a:t>・</a:t>
            </a:r>
            <a:r>
              <a:rPr dirty="0" err="1"/>
              <a:t>反射波の「高さ</a:t>
            </a:r>
            <a:r>
              <a:rPr dirty="0"/>
              <a:t>」＝</a:t>
            </a:r>
            <a:r>
              <a:rPr dirty="0" err="1"/>
              <a:t>末梢血管トーヌス（反射係数</a:t>
            </a:r>
            <a:r>
              <a:rPr dirty="0"/>
              <a:t>）。</a:t>
            </a:r>
            <a:r>
              <a:rPr dirty="0" err="1"/>
              <a:t>血管収縮で高く、拡張で低くなる</a:t>
            </a:r>
            <a:r>
              <a:rPr dirty="0"/>
              <a:t>。</a:t>
            </a:r>
          </a:p>
          <a:p>
            <a:r>
              <a:rPr dirty="0"/>
              <a:t>これが以降の「時相＝硬さ／高さ＝トーヌス」という2軸の読み方の土台。(</a:t>
            </a:r>
            <a:r>
              <a:rPr dirty="0" err="1"/>
              <a:t>Millasseau</a:t>
            </a:r>
            <a:r>
              <a:rPr dirty="0"/>
              <a:t> 2002)</a:t>
            </a:r>
          </a:p>
          <a:p>
            <a:endParaRPr dirty="0"/>
          </a:p>
          <a:p>
            <a:r>
              <a:rPr dirty="0"/>
              <a:t>【文献確認（2026-08）：</a:t>
            </a:r>
            <a:r>
              <a:rPr dirty="0" err="1"/>
              <a:t>この図はどこまで正しいか</a:t>
            </a:r>
            <a:r>
              <a:rPr dirty="0"/>
              <a:t>】</a:t>
            </a:r>
          </a:p>
          <a:p>
            <a:r>
              <a:rPr dirty="0"/>
              <a:t>・「</a:t>
            </a:r>
            <a:r>
              <a:rPr dirty="0" err="1"/>
              <a:t>指尖</a:t>
            </a:r>
            <a:r>
              <a:rPr dirty="0"/>
              <a:t> PPG の拡張期成分（第2ピーク）は下半身で反射した波」という説明は、この分野の原著</a:t>
            </a:r>
          </a:p>
          <a:p>
            <a:r>
              <a:rPr dirty="0"/>
              <a:t>　（</a:t>
            </a:r>
            <a:r>
              <a:rPr dirty="0" err="1"/>
              <a:t>Millasseau</a:t>
            </a:r>
            <a:r>
              <a:rPr dirty="0"/>
              <a:t> 2002 Clin Sci 図1 </a:t>
            </a:r>
            <a:r>
              <a:rPr dirty="0" err="1"/>
              <a:t>凡例、Chowienczyk</a:t>
            </a:r>
            <a:r>
              <a:rPr dirty="0"/>
              <a:t> 1999 </a:t>
            </a:r>
            <a:r>
              <a:rPr dirty="0" err="1"/>
              <a:t>JACC）にほぼ同文で書かれている</a:t>
            </a:r>
            <a:r>
              <a:rPr dirty="0"/>
              <a:t>。</a:t>
            </a:r>
          </a:p>
          <a:p>
            <a:r>
              <a:rPr dirty="0"/>
              <a:t>　上腕動脈内に血管拡張薬を入れて前腕血流を3倍にしても反射指標は動かず、全身投与では</a:t>
            </a:r>
          </a:p>
          <a:p>
            <a:r>
              <a:rPr dirty="0"/>
              <a:t>　</a:t>
            </a:r>
            <a:r>
              <a:rPr dirty="0" err="1"/>
              <a:t>用量依存性に動く</a:t>
            </a:r>
            <a:r>
              <a:rPr dirty="0"/>
              <a:t>＝「指先の血管をいくら拡げても波形の第2成分の位置は変わらない」ことが実験的に示されている。</a:t>
            </a:r>
          </a:p>
          <a:p>
            <a:r>
              <a:rPr dirty="0"/>
              <a:t>　→ 「</a:t>
            </a:r>
            <a:r>
              <a:rPr dirty="0" err="1"/>
              <a:t>反射しているのは指先ではなく体幹側」というメッセージ自体は支持されている</a:t>
            </a:r>
            <a:r>
              <a:rPr dirty="0"/>
              <a:t>。</a:t>
            </a:r>
          </a:p>
          <a:p>
            <a:r>
              <a:rPr dirty="0"/>
              <a:t>・</a:t>
            </a:r>
            <a:r>
              <a:rPr dirty="0" err="1"/>
              <a:t>ただし現代の波動反射の文献では、反射部位は</a:t>
            </a:r>
            <a:r>
              <a:rPr dirty="0"/>
              <a:t> 1 </a:t>
            </a:r>
            <a:r>
              <a:rPr dirty="0" err="1"/>
              <a:t>か所ではなく動脈系全体に分布しているとされる</a:t>
            </a:r>
            <a:r>
              <a:rPr dirty="0"/>
              <a:t>。</a:t>
            </a:r>
          </a:p>
          <a:p>
            <a:r>
              <a:rPr dirty="0"/>
              <a:t>　2016年のワークショップ合意声明は "There is no single or limited number of discrete reflection sites</a:t>
            </a:r>
          </a:p>
          <a:p>
            <a:r>
              <a:rPr dirty="0"/>
              <a:t>　in the arterial tree" </a:t>
            </a:r>
            <a:r>
              <a:rPr dirty="0" err="1"/>
              <a:t>と明記。ヒト大動脈内の実測でも「遠位大動脈近傍に単一の優位な反射部位はない</a:t>
            </a:r>
            <a:r>
              <a:rPr dirty="0"/>
              <a:t>」</a:t>
            </a:r>
          </a:p>
          <a:p>
            <a:r>
              <a:rPr dirty="0"/>
              <a:t>　（Davies 2012 </a:t>
            </a:r>
            <a:r>
              <a:rPr dirty="0" err="1"/>
              <a:t>Hypertension、horizon</a:t>
            </a:r>
            <a:r>
              <a:rPr dirty="0"/>
              <a:t> effect）。</a:t>
            </a:r>
          </a:p>
          <a:p>
            <a:r>
              <a:rPr dirty="0"/>
              <a:t>　→ この図の「腸骨分岐部・下肢」は解剖学的な一点ではなく、分布した反射を1点に集約した</a:t>
            </a:r>
          </a:p>
          <a:p>
            <a:r>
              <a:rPr dirty="0"/>
              <a:t>　　　“</a:t>
            </a:r>
            <a:r>
              <a:rPr dirty="0" err="1"/>
              <a:t>実効（見かけの）反射部位</a:t>
            </a:r>
            <a:r>
              <a:rPr dirty="0"/>
              <a:t>”。</a:t>
            </a:r>
            <a:r>
              <a:rPr dirty="0" err="1"/>
              <a:t>口頭で一言そう断ると安全</a:t>
            </a:r>
            <a:r>
              <a:rPr dirty="0"/>
              <a:t>。</a:t>
            </a:r>
          </a:p>
          <a:p>
            <a:r>
              <a:rPr dirty="0"/>
              <a:t>・1D モデル研究では、指尖波形の第2ピークに効くのは胸部大動脈〜腎動脈レベルという報告</a:t>
            </a:r>
          </a:p>
          <a:p>
            <a:r>
              <a:rPr dirty="0"/>
              <a:t>　（Epstein 2015、Chowienczyk </a:t>
            </a:r>
            <a:r>
              <a:rPr dirty="0" err="1"/>
              <a:t>共著）や、上肢加温と下肢加温で中枢反射波の減り方に差がないという</a:t>
            </a:r>
            <a:endParaRPr dirty="0"/>
          </a:p>
          <a:p>
            <a:r>
              <a:rPr dirty="0"/>
              <a:t>　</a:t>
            </a:r>
            <a:r>
              <a:rPr dirty="0" err="1"/>
              <a:t>ヒト試験（Athaide</a:t>
            </a:r>
            <a:r>
              <a:rPr dirty="0"/>
              <a:t> 2023）もあり、「</a:t>
            </a:r>
            <a:r>
              <a:rPr dirty="0" err="1"/>
              <a:t>下半身が主役」は決着した話ではない</a:t>
            </a:r>
            <a:r>
              <a:rPr dirty="0"/>
              <a:t>。</a:t>
            </a:r>
          </a:p>
          <a:p>
            <a:r>
              <a:rPr dirty="0"/>
              <a:t>・</a:t>
            </a:r>
            <a:r>
              <a:rPr dirty="0" err="1"/>
              <a:t>上肢・手でも反射は起きる（橈骨動脈は後退波エネルギーが最大</a:t>
            </a:r>
            <a:r>
              <a:rPr dirty="0"/>
              <a:t>）。</a:t>
            </a:r>
            <a:r>
              <a:rPr dirty="0" err="1"/>
              <a:t>ただし上肢は前進波・反射波の</a:t>
            </a:r>
            <a:endParaRPr dirty="0"/>
          </a:p>
          <a:p>
            <a:r>
              <a:rPr dirty="0"/>
              <a:t>　</a:t>
            </a:r>
            <a:r>
              <a:rPr dirty="0" err="1"/>
              <a:t>共通経路なので「ΔT（相対タイミング</a:t>
            </a:r>
            <a:r>
              <a:rPr dirty="0"/>
              <a:t>）」</a:t>
            </a:r>
            <a:r>
              <a:rPr dirty="0" err="1"/>
              <a:t>には効きにくい、というのが原著の論理</a:t>
            </a:r>
            <a:r>
              <a:rPr dirty="0"/>
              <a:t>。</a:t>
            </a:r>
          </a:p>
          <a:p>
            <a:r>
              <a:rPr dirty="0"/>
              <a:t>　</a:t>
            </a:r>
            <a:r>
              <a:rPr dirty="0" err="1"/>
              <a:t>振幅・波形の高さには効く</a:t>
            </a:r>
            <a:r>
              <a:rPr dirty="0"/>
              <a:t>（＝3.1 </a:t>
            </a:r>
            <a:r>
              <a:rPr dirty="0" err="1"/>
              <a:t>の</a:t>
            </a:r>
            <a:r>
              <a:rPr dirty="0"/>
              <a:t> ΔPOP・PI </a:t>
            </a:r>
            <a:r>
              <a:rPr dirty="0" err="1"/>
              <a:t>の話と混同しない</a:t>
            </a:r>
            <a:r>
              <a:rPr dirty="0"/>
              <a:t>）。</a:t>
            </a:r>
          </a:p>
          <a:p>
            <a:r>
              <a:rPr dirty="0"/>
              <a:t>・</a:t>
            </a:r>
            <a:r>
              <a:rPr dirty="0" err="1"/>
              <a:t>重複切痕（dicrotic</a:t>
            </a:r>
            <a:r>
              <a:rPr dirty="0"/>
              <a:t> notch）と拡張期ピーク（第2ピーク）は本来別の現象。切痕は中枢では大動脈弁閉鎖に</a:t>
            </a:r>
          </a:p>
          <a:p>
            <a:r>
              <a:rPr dirty="0"/>
              <a:t>　</a:t>
            </a:r>
            <a:r>
              <a:rPr dirty="0" err="1"/>
              <a:t>伴う現象が主因とされ（Gamrah</a:t>
            </a:r>
            <a:r>
              <a:rPr dirty="0"/>
              <a:t> 2020 </a:t>
            </a:r>
            <a:r>
              <a:rPr dirty="0" err="1"/>
              <a:t>の</a:t>
            </a:r>
            <a:r>
              <a:rPr dirty="0"/>
              <a:t> acceleration </a:t>
            </a:r>
            <a:r>
              <a:rPr dirty="0" err="1"/>
              <a:t>hypothesis、Politi</a:t>
            </a:r>
            <a:r>
              <a:rPr dirty="0"/>
              <a:t> 2016 </a:t>
            </a:r>
            <a:r>
              <a:rPr dirty="0" err="1"/>
              <a:t>は反射を「原因の一つ」と限定</a:t>
            </a:r>
            <a:r>
              <a:rPr dirty="0"/>
              <a:t>）、</a:t>
            </a:r>
          </a:p>
          <a:p>
            <a:r>
              <a:rPr dirty="0"/>
              <a:t>　</a:t>
            </a:r>
            <a:r>
              <a:rPr dirty="0" err="1"/>
              <a:t>末梢では反射の影響も受ける。PPG</a:t>
            </a:r>
            <a:r>
              <a:rPr dirty="0"/>
              <a:t> </a:t>
            </a:r>
            <a:r>
              <a:rPr dirty="0" err="1"/>
              <a:t>の標準教科書（Kyriacou</a:t>
            </a:r>
            <a:r>
              <a:rPr dirty="0"/>
              <a:t> &amp; Allen 2022）は末梢 PPG </a:t>
            </a:r>
            <a:r>
              <a:rPr dirty="0" err="1"/>
              <a:t>の切痕・拡張期ピークを</a:t>
            </a:r>
            <a:endParaRPr dirty="0"/>
          </a:p>
          <a:p>
            <a:r>
              <a:rPr dirty="0"/>
              <a:t>　</a:t>
            </a:r>
            <a:r>
              <a:rPr dirty="0" err="1"/>
              <a:t>まとめて「反射による」と記述しており、文献間で用語の指す対象がずれている点に注意</a:t>
            </a:r>
            <a:r>
              <a:rPr dirty="0"/>
              <a:t>。</a:t>
            </a:r>
          </a:p>
          <a:p>
            <a:r>
              <a:rPr dirty="0"/>
              <a:t>　</a:t>
            </a:r>
            <a:r>
              <a:rPr dirty="0" err="1"/>
              <a:t>図の金の点を「重複切痕」と呼ぶのは末梢</a:t>
            </a:r>
            <a:r>
              <a:rPr dirty="0"/>
              <a:t> PPG </a:t>
            </a:r>
            <a:r>
              <a:rPr dirty="0" err="1"/>
              <a:t>の慣用に沿っており、講義としては問題ない</a:t>
            </a:r>
            <a:r>
              <a:rPr dirty="0"/>
              <a:t>。</a:t>
            </a:r>
          </a:p>
          <a:p>
            <a:r>
              <a:rPr dirty="0"/>
              <a:t>(</a:t>
            </a:r>
            <a:r>
              <a:rPr dirty="0" err="1"/>
              <a:t>Millasseau</a:t>
            </a:r>
            <a:r>
              <a:rPr dirty="0"/>
              <a:t> 2002 Clin Sci 103:371 / </a:t>
            </a:r>
            <a:r>
              <a:rPr dirty="0" err="1"/>
              <a:t>Chowienczyk</a:t>
            </a:r>
            <a:r>
              <a:rPr dirty="0"/>
              <a:t> 1999 JACC 34:2007 / Segers 2017 Artery Res 18:75 /</a:t>
            </a:r>
          </a:p>
          <a:p>
            <a:r>
              <a:rPr dirty="0"/>
              <a:t> Davies 2012 Hypertension 60:778 / Epstein 2015 AJP Heart 309:H222 / Athaide 2023 J Appl </a:t>
            </a:r>
            <a:r>
              <a:rPr dirty="0" err="1"/>
              <a:t>Physiol</a:t>
            </a:r>
            <a:r>
              <a:rPr dirty="0"/>
              <a:t> 134:1232)</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PPG 基礎まとめ（図解版）</a:t>
            </a:r>
          </a:p>
          <a:p>
            <a:endParaRPr/>
          </a:p>
          <a:p>
            <a:r>
              <a:t>① SpO₂ は赤色光と赤外光の（AC/DC）比 R を、健常人の低酸素負荷試験で作った較正表に</a:t>
            </a:r>
          </a:p>
          <a:p>
            <a:r>
              <a:t>　 当てはめて SaO₂ を推定した値である。較正データは SaO₂ 70〜100% の範囲でしか取得できず、</a:t>
            </a:r>
          </a:p>
          <a:p>
            <a:r>
              <a:t>　 70% 未満は外挿である。</a:t>
            </a:r>
          </a:p>
          <a:p>
            <a:r>
              <a:t>② PPG 波形は圧ではなく、測定部位の動脈血液量（容積）の拍動性変化を見ている。</a:t>
            </a:r>
          </a:p>
          <a:p>
            <a:r>
              <a:t>　 したがって振幅は中心大動脈圧の絶対値ではなく、局所の血管コンプライアンス・灌流・</a:t>
            </a:r>
          </a:p>
          <a:p>
            <a:r>
              <a:t>　 局所脈圧に依存する。</a:t>
            </a:r>
          </a:p>
          <a:p>
            <a:r>
              <a:t>③ PPG 波形は前進波と反射波の合成によって形成されるが、反射点の解剖学的な場所を</a:t>
            </a:r>
          </a:p>
          <a:p>
            <a:r>
              <a:t>　 同定することは原理的にできない（成立するのは「経路」としての解釈だけ）。</a:t>
            </a:r>
          </a:p>
          <a:p>
            <a:endParaRPr/>
          </a:p>
          <a:p>
            <a:r>
              <a:t>→ 次章以降で、この波形がどのような因子に影響を受けるかを見ていく。</a:t>
            </a:r>
          </a:p>
          <a:p>
            <a:r>
              <a:t>出典：1. Allen 2007 ／ 5. Politi 2016 ／ 2. Aoyagi 2003 ／ 3. Chan 2013</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t>2章、3章でPPG波形に影響を与える因子について見ていく。</a:t>
            </a:r>
          </a:p>
          <a:p>
            <a:r>
              <a:rPr lang="en-US" dirty="0"/>
              <a:t>2章は慢性的な変化によるPPG波形への影響を、3章は主に急性に変化する因子によるPPG波形への影響を検討する。</a:t>
            </a:r>
          </a:p>
          <a:p>
            <a:endParaRPr lang="en-US" dirty="0"/>
          </a:p>
          <a:p>
            <a:r>
              <a:rPr lang="en-US" dirty="0" err="1"/>
              <a:t>まずは加齢によるPPG波形変化の研究を見る</a:t>
            </a:r>
            <a:r>
              <a:rPr lang="en-US" dirty="0"/>
              <a:t>。</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21</a:t>
            </a:fld>
            <a:endParaRPr kumimoji="1" lang="ja-JP" altLang="en-US"/>
          </a:p>
        </p:txBody>
      </p:sp>
    </p:spTree>
    <p:extLst>
      <p:ext uri="{BB962C8B-B14F-4D97-AF65-F5344CB8AC3E}">
        <p14:creationId xmlns:p14="http://schemas.microsoft.com/office/powerpoint/2010/main" val="35307576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799AD-DBCA-A3EA-27A4-5BCD5608E4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9416CE5-8C59-0755-91B2-71589CBA877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037C2A-489A-E348-FC31-2CBE877D8109}"/>
              </a:ext>
            </a:extLst>
          </p:cNvPr>
          <p:cNvSpPr>
            <a:spLocks noGrp="1"/>
          </p:cNvSpPr>
          <p:nvPr>
            <p:ph type="body" idx="1"/>
          </p:nvPr>
        </p:nvSpPr>
        <p:spPr/>
        <p:txBody>
          <a:bodyPr/>
          <a:lstStyle/>
          <a:p>
            <a:r>
              <a:rPr lang="en-US" dirty="0"/>
              <a:t>2章、3章でPPG波形に影響を与える因子について見ていく。</a:t>
            </a:r>
          </a:p>
          <a:p>
            <a:r>
              <a:rPr lang="en-US" dirty="0"/>
              <a:t>2章は慢性的な変化によるPPG波形への影響を、3章は主に急性に変化する因子によるPPG波形への影響を検討する。</a:t>
            </a:r>
          </a:p>
          <a:p>
            <a:endParaRPr lang="en-US" dirty="0"/>
          </a:p>
          <a:p>
            <a:r>
              <a:rPr lang="en-US" dirty="0" err="1"/>
              <a:t>まずは加齢によるPPG波形変化の研究を見る</a:t>
            </a:r>
            <a:r>
              <a:rPr lang="en-US" dirty="0"/>
              <a:t>。</a:t>
            </a:r>
          </a:p>
        </p:txBody>
      </p:sp>
      <p:sp>
        <p:nvSpPr>
          <p:cNvPr id="4" name="スライド番号プレースホルダー 3">
            <a:extLst>
              <a:ext uri="{FF2B5EF4-FFF2-40B4-BE49-F238E27FC236}">
                <a16:creationId xmlns:a16="http://schemas.microsoft.com/office/drawing/2014/main" id="{7ACF3EF7-24D1-482F-1D6A-3E95D92F0D82}"/>
              </a:ext>
            </a:extLst>
          </p:cNvPr>
          <p:cNvSpPr>
            <a:spLocks noGrp="1"/>
          </p:cNvSpPr>
          <p:nvPr>
            <p:ph type="sldNum" sz="quarter" idx="5"/>
          </p:nvPr>
        </p:nvSpPr>
        <p:spPr/>
        <p:txBody>
          <a:bodyPr/>
          <a:lstStyle/>
          <a:p>
            <a:fld id="{4368CECF-0771-D84F-8D42-085DB944B0B8}" type="slidenum">
              <a:rPr kumimoji="1" lang="ja-JP" altLang="en-US" smtClean="0"/>
              <a:t>22</a:t>
            </a:fld>
            <a:endParaRPr kumimoji="1" lang="ja-JP" altLang="en-US"/>
          </a:p>
        </p:txBody>
      </p:sp>
    </p:spTree>
    <p:extLst>
      <p:ext uri="{BB962C8B-B14F-4D97-AF65-F5344CB8AC3E}">
        <p14:creationId xmlns:p14="http://schemas.microsoft.com/office/powerpoint/2010/main" val="24607446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5D002-2458-FB35-B390-8207966994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C218C4-9CD2-0B2E-F732-E05B02F4A5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4DC4E8-D9A6-547B-3414-00E9AAA0B0A4}"/>
              </a:ext>
            </a:extLst>
          </p:cNvPr>
          <p:cNvSpPr>
            <a:spLocks noGrp="1"/>
          </p:cNvSpPr>
          <p:nvPr>
            <p:ph type="body" idx="1"/>
          </p:nvPr>
        </p:nvSpPr>
        <p:spPr/>
        <p:txBody>
          <a:bodyPr/>
          <a:lstStyle/>
          <a:p>
            <a:r>
              <a:rPr lang="en-US" dirty="0" err="1"/>
              <a:t>一つ目はフラミンガム研究。米国フラミンガムでのコホート研究</a:t>
            </a:r>
            <a:r>
              <a:rPr lang="en-US" dirty="0"/>
              <a:t>。</a:t>
            </a:r>
          </a:p>
          <a:p>
            <a:r>
              <a:rPr lang="en-US" dirty="0"/>
              <a:t>1948年に米国国立心臓研究所主導で行われ、登録時に心血管疾患がない３０−６２歳が登録された。</a:t>
            </a:r>
          </a:p>
          <a:p>
            <a:r>
              <a:rPr lang="en-US" dirty="0"/>
              <a:t>2年ごとの追跡を行い、疾患発症前からの経過を終えるようにした有名なコホート</a:t>
            </a:r>
          </a:p>
          <a:p>
            <a:endParaRPr lang="en-US" dirty="0"/>
          </a:p>
          <a:p>
            <a:r>
              <a:rPr lang="en-US" dirty="0" err="1"/>
              <a:t>心疾患発症を予測するフラミンガムスコアやうっ血性心不全のフラミンガム基準を産んでいる</a:t>
            </a:r>
            <a:endParaRPr lang="en-US" dirty="0"/>
          </a:p>
          <a:p>
            <a:endParaRPr lang="en-US" dirty="0"/>
          </a:p>
          <a:p>
            <a:r>
              <a:rPr dirty="0" err="1"/>
              <a:t>フラミンガム心臓研究（Framingham</a:t>
            </a:r>
            <a:r>
              <a:rPr dirty="0"/>
              <a:t> Heart Study, </a:t>
            </a:r>
            <a:r>
              <a:rPr dirty="0" err="1"/>
              <a:t>FHS）とは</a:t>
            </a:r>
            <a:r>
              <a:rPr dirty="0"/>
              <a:t>。</a:t>
            </a:r>
          </a:p>
          <a:p>
            <a:endParaRPr dirty="0"/>
          </a:p>
          <a:p>
            <a:r>
              <a:rPr dirty="0"/>
              <a:t>・1948年、米国マサチューセッツ州フラミンガムで、国立心臓研究所（National Heart Institute、</a:t>
            </a:r>
          </a:p>
          <a:p>
            <a:r>
              <a:rPr dirty="0"/>
              <a:t>　</a:t>
            </a:r>
            <a:r>
              <a:rPr dirty="0" err="1"/>
              <a:t>現</a:t>
            </a:r>
            <a:r>
              <a:rPr dirty="0"/>
              <a:t> </a:t>
            </a:r>
            <a:r>
              <a:rPr dirty="0" err="1"/>
              <a:t>NHLBI）により開始された地域住民ベースの前向きコホート研究</a:t>
            </a:r>
            <a:r>
              <a:rPr dirty="0"/>
              <a:t>。</a:t>
            </a:r>
          </a:p>
          <a:p>
            <a:r>
              <a:rPr dirty="0"/>
              <a:t>・</a:t>
            </a:r>
            <a:r>
              <a:rPr dirty="0" err="1"/>
              <a:t>原コホートは</a:t>
            </a:r>
            <a:r>
              <a:rPr dirty="0"/>
              <a:t> 5,209人（男女）、</a:t>
            </a:r>
            <a:r>
              <a:rPr dirty="0" err="1"/>
              <a:t>登録時</a:t>
            </a:r>
            <a:r>
              <a:rPr dirty="0"/>
              <a:t> 30〜62歳、登録時点で心血管疾患を発症していない住民。</a:t>
            </a:r>
          </a:p>
          <a:p>
            <a:r>
              <a:rPr dirty="0"/>
              <a:t>・以後、原則2年ごとに問診・診察・検査を繰り返して追跡する設計。</a:t>
            </a:r>
          </a:p>
          <a:p>
            <a:r>
              <a:rPr dirty="0"/>
              <a:t>・「</a:t>
            </a:r>
            <a:r>
              <a:rPr dirty="0" err="1"/>
              <a:t>危険因子（risk</a:t>
            </a:r>
            <a:r>
              <a:rPr dirty="0"/>
              <a:t> factor）」</a:t>
            </a:r>
            <a:r>
              <a:rPr dirty="0" err="1"/>
              <a:t>という言葉・考え方はこの研究から広まった</a:t>
            </a:r>
            <a:r>
              <a:rPr dirty="0"/>
              <a:t>。</a:t>
            </a:r>
          </a:p>
          <a:p>
            <a:r>
              <a:rPr dirty="0"/>
              <a:t>・</a:t>
            </a:r>
            <a:r>
              <a:rPr dirty="0" err="1"/>
              <a:t>その後、Offspring</a:t>
            </a:r>
            <a:r>
              <a:rPr dirty="0"/>
              <a:t> コホート（1971年）、Third Generation コホート（2002年）へ拡張されている。</a:t>
            </a:r>
          </a:p>
          <a:p>
            <a:endParaRPr dirty="0"/>
          </a:p>
          <a:p>
            <a:r>
              <a:rPr dirty="0" err="1"/>
              <a:t>本デックでの位置づけ</a:t>
            </a:r>
            <a:endParaRPr dirty="0"/>
          </a:p>
          <a:p>
            <a:r>
              <a:rPr dirty="0"/>
              <a:t>・Dawber TR, Thomas HE, McNamara PM. Characteristics of the dicrotic notch of the arterial</a:t>
            </a:r>
          </a:p>
          <a:p>
            <a:r>
              <a:rPr dirty="0"/>
              <a:t>　pulse wave in coronary heart disease. Angiology 1973;24:244–55.</a:t>
            </a:r>
          </a:p>
          <a:p>
            <a:r>
              <a:rPr dirty="0"/>
              <a:t>　</a:t>
            </a:r>
            <a:r>
              <a:rPr dirty="0" err="1"/>
              <a:t>このフラミンガム集団を対象に、指尖脈波の重複切痕（dicrotic</a:t>
            </a:r>
            <a:r>
              <a:rPr dirty="0"/>
              <a:t> </a:t>
            </a:r>
            <a:r>
              <a:rPr dirty="0" err="1"/>
              <a:t>notch）の見え方を目視で</a:t>
            </a:r>
            <a:endParaRPr dirty="0"/>
          </a:p>
          <a:p>
            <a:r>
              <a:rPr dirty="0"/>
              <a:t>　4クラスに分類し、年齢・冠動脈疾患との関連を検討した（次スライド以降）。</a:t>
            </a:r>
          </a:p>
          <a:p>
            <a:r>
              <a:rPr dirty="0"/>
              <a:t>・</a:t>
            </a:r>
            <a:r>
              <a:rPr dirty="0" err="1"/>
              <a:t>つまり「安静時の血管特性」を見た研究であり、麻酔中の急性変化を見たものではない</a:t>
            </a:r>
            <a:r>
              <a:rPr dirty="0"/>
              <a:t>。</a:t>
            </a:r>
          </a:p>
          <a:p>
            <a:endParaRPr dirty="0"/>
          </a:p>
          <a:p>
            <a:r>
              <a:rPr dirty="0" err="1"/>
              <a:t>注意（数値の出どころ</a:t>
            </a:r>
            <a:r>
              <a:rPr dirty="0"/>
              <a:t>）</a:t>
            </a:r>
          </a:p>
          <a:p>
            <a:r>
              <a:rPr dirty="0"/>
              <a:t>・</a:t>
            </a:r>
            <a:r>
              <a:rPr dirty="0" err="1"/>
              <a:t>開始年・人数・年齢範囲は</a:t>
            </a:r>
            <a:r>
              <a:rPr dirty="0"/>
              <a:t> Framingham Heart </a:t>
            </a:r>
            <a:r>
              <a:rPr dirty="0" err="1"/>
              <a:t>Study／NHLBI</a:t>
            </a:r>
            <a:r>
              <a:rPr dirty="0"/>
              <a:t> </a:t>
            </a:r>
            <a:r>
              <a:rPr dirty="0" err="1"/>
              <a:t>の公表情報に基づく</a:t>
            </a:r>
            <a:endParaRPr dirty="0"/>
          </a:p>
          <a:p>
            <a:r>
              <a:rPr dirty="0"/>
              <a:t>　（1948年開始・5,209人・30〜62歳）。</a:t>
            </a:r>
            <a:r>
              <a:rPr dirty="0" err="1"/>
              <a:t>資料によっては年齢範囲を</a:t>
            </a:r>
            <a:r>
              <a:rPr dirty="0"/>
              <a:t> 28〜62歳と記載するものもある。</a:t>
            </a:r>
          </a:p>
          <a:p>
            <a:r>
              <a:rPr dirty="0"/>
              <a:t>・以前のメモにあった「1949年・30〜59歳」は上記と食い違うため、公表値に合わせて修正した。</a:t>
            </a:r>
          </a:p>
          <a:p>
            <a:r>
              <a:rPr dirty="0"/>
              <a:t>・Dawber 1973 </a:t>
            </a:r>
            <a:r>
              <a:rPr dirty="0" err="1"/>
              <a:t>本体は</a:t>
            </a:r>
            <a:r>
              <a:rPr dirty="0"/>
              <a:t> PubMed </a:t>
            </a:r>
            <a:r>
              <a:rPr dirty="0" err="1"/>
              <a:t>に抄録が無く、対象者数などの詳細は本文でしか確認できない</a:t>
            </a:r>
            <a:r>
              <a:rPr dirty="0"/>
              <a:t>。</a:t>
            </a:r>
          </a:p>
          <a:p>
            <a:endParaRPr dirty="0"/>
          </a:p>
        </p:txBody>
      </p:sp>
      <p:sp>
        <p:nvSpPr>
          <p:cNvPr id="4" name="スライド番号プレースホルダー 3">
            <a:extLst>
              <a:ext uri="{FF2B5EF4-FFF2-40B4-BE49-F238E27FC236}">
                <a16:creationId xmlns:a16="http://schemas.microsoft.com/office/drawing/2014/main" id="{1D7720C9-5CB3-4057-8F64-A16F05A9DD35}"/>
              </a:ext>
            </a:extLst>
          </p:cNvPr>
          <p:cNvSpPr>
            <a:spLocks noGrp="1"/>
          </p:cNvSpPr>
          <p:nvPr>
            <p:ph type="sldNum" sz="quarter" idx="5"/>
          </p:nvPr>
        </p:nvSpPr>
        <p:spPr/>
        <p:txBody>
          <a:bodyPr/>
          <a:lstStyle/>
          <a:p>
            <a:fld id="{4368CECF-0771-D84F-8D42-085DB944B0B8}" type="slidenum">
              <a:rPr kumimoji="1" lang="ja-JP" altLang="en-US" smtClean="0"/>
              <a:t>23</a:t>
            </a:fld>
            <a:endParaRPr kumimoji="1" lang="ja-JP" altLang="en-US"/>
          </a:p>
        </p:txBody>
      </p:sp>
    </p:spTree>
    <p:extLst>
      <p:ext uri="{BB962C8B-B14F-4D97-AF65-F5344CB8AC3E}">
        <p14:creationId xmlns:p14="http://schemas.microsoft.com/office/powerpoint/2010/main" val="36539230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FAF0D-23DC-8860-33E8-D28DB8E2CDB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F47F1E1-B4EA-1EE7-1935-4C27A92D420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C62F80-AAD3-743A-C4E5-D2328476145C}"/>
              </a:ext>
            </a:extLst>
          </p:cNvPr>
          <p:cNvSpPr>
            <a:spLocks noGrp="1"/>
          </p:cNvSpPr>
          <p:nvPr>
            <p:ph type="body" idx="1"/>
          </p:nvPr>
        </p:nvSpPr>
        <p:spPr/>
        <p:txBody>
          <a:bodyPr/>
          <a:lstStyle/>
          <a:p>
            <a:r>
              <a:rPr lang="en-US" dirty="0" err="1"/>
              <a:t>一つ目はフラミンガム研究。米国フラミンガムでのコホート研究</a:t>
            </a:r>
            <a:r>
              <a:rPr lang="en-US" dirty="0"/>
              <a:t>。</a:t>
            </a:r>
          </a:p>
          <a:p>
            <a:r>
              <a:rPr lang="en-US" dirty="0"/>
              <a:t>1948年に米国国立心臓研究所主導で行われ、登録時に心血管疾患がない３０−６２歳が登録された。</a:t>
            </a:r>
          </a:p>
          <a:p>
            <a:r>
              <a:rPr lang="en-US" dirty="0"/>
              <a:t>2年ごとの追跡を行い、疾患発症前からの経過を終えるようにした有名なコホート</a:t>
            </a:r>
          </a:p>
          <a:p>
            <a:endParaRPr lang="en-US" dirty="0"/>
          </a:p>
          <a:p>
            <a:r>
              <a:rPr lang="en-US" dirty="0" err="1"/>
              <a:t>心疾患発症を予測するフラミンガムスコアやうっ血性心不全のフラミンガム基準を産んでいる</a:t>
            </a:r>
            <a:endParaRPr lang="en-US" dirty="0"/>
          </a:p>
          <a:p>
            <a:endParaRPr lang="en-US" dirty="0"/>
          </a:p>
          <a:p>
            <a:r>
              <a:rPr dirty="0" err="1"/>
              <a:t>フラミンガム心臓研究（Framingham</a:t>
            </a:r>
            <a:r>
              <a:rPr dirty="0"/>
              <a:t> Heart Study, </a:t>
            </a:r>
            <a:r>
              <a:rPr dirty="0" err="1"/>
              <a:t>FHS）とは</a:t>
            </a:r>
            <a:r>
              <a:rPr dirty="0"/>
              <a:t>。</a:t>
            </a:r>
          </a:p>
          <a:p>
            <a:endParaRPr dirty="0"/>
          </a:p>
          <a:p>
            <a:r>
              <a:rPr dirty="0"/>
              <a:t>・1948年、米国マサチューセッツ州フラミンガムで、国立心臓研究所（National Heart Institute、</a:t>
            </a:r>
          </a:p>
          <a:p>
            <a:r>
              <a:rPr dirty="0"/>
              <a:t>　</a:t>
            </a:r>
            <a:r>
              <a:rPr dirty="0" err="1"/>
              <a:t>現</a:t>
            </a:r>
            <a:r>
              <a:rPr dirty="0"/>
              <a:t> </a:t>
            </a:r>
            <a:r>
              <a:rPr dirty="0" err="1"/>
              <a:t>NHLBI）により開始された地域住民ベースの前向きコホート研究</a:t>
            </a:r>
            <a:r>
              <a:rPr dirty="0"/>
              <a:t>。</a:t>
            </a:r>
          </a:p>
          <a:p>
            <a:r>
              <a:rPr dirty="0"/>
              <a:t>・</a:t>
            </a:r>
            <a:r>
              <a:rPr dirty="0" err="1"/>
              <a:t>原コホートは</a:t>
            </a:r>
            <a:r>
              <a:rPr dirty="0"/>
              <a:t> 5,209人（男女）、</a:t>
            </a:r>
            <a:r>
              <a:rPr dirty="0" err="1"/>
              <a:t>登録時</a:t>
            </a:r>
            <a:r>
              <a:rPr dirty="0"/>
              <a:t> 30〜62歳、登録時点で心血管疾患を発症していない住民。</a:t>
            </a:r>
          </a:p>
          <a:p>
            <a:r>
              <a:rPr dirty="0"/>
              <a:t>・以後、原則2年ごとに問診・診察・検査を繰り返して追跡する設計。</a:t>
            </a:r>
          </a:p>
          <a:p>
            <a:r>
              <a:rPr dirty="0"/>
              <a:t>・「</a:t>
            </a:r>
            <a:r>
              <a:rPr dirty="0" err="1"/>
              <a:t>危険因子（risk</a:t>
            </a:r>
            <a:r>
              <a:rPr dirty="0"/>
              <a:t> factor）」</a:t>
            </a:r>
            <a:r>
              <a:rPr dirty="0" err="1"/>
              <a:t>という言葉・考え方はこの研究から広まった</a:t>
            </a:r>
            <a:r>
              <a:rPr dirty="0"/>
              <a:t>。</a:t>
            </a:r>
          </a:p>
          <a:p>
            <a:r>
              <a:rPr dirty="0"/>
              <a:t>・</a:t>
            </a:r>
            <a:r>
              <a:rPr dirty="0" err="1"/>
              <a:t>その後、Offspring</a:t>
            </a:r>
            <a:r>
              <a:rPr dirty="0"/>
              <a:t> コホート（1971年）、Third Generation コホート（2002年）へ拡張されている。</a:t>
            </a:r>
          </a:p>
          <a:p>
            <a:endParaRPr dirty="0"/>
          </a:p>
          <a:p>
            <a:r>
              <a:rPr dirty="0" err="1"/>
              <a:t>本デックでの位置づけ</a:t>
            </a:r>
            <a:endParaRPr dirty="0"/>
          </a:p>
          <a:p>
            <a:r>
              <a:rPr dirty="0"/>
              <a:t>・Dawber TR, Thomas HE, McNamara PM. Characteristics of the dicrotic notch of the arterial</a:t>
            </a:r>
          </a:p>
          <a:p>
            <a:r>
              <a:rPr dirty="0"/>
              <a:t>　pulse wave in coronary heart disease. Angiology 1973;24:244–55.</a:t>
            </a:r>
          </a:p>
          <a:p>
            <a:r>
              <a:rPr dirty="0"/>
              <a:t>　</a:t>
            </a:r>
            <a:r>
              <a:rPr dirty="0" err="1"/>
              <a:t>このフラミンガム集団を対象に、指尖脈波の重複切痕（dicrotic</a:t>
            </a:r>
            <a:r>
              <a:rPr dirty="0"/>
              <a:t> </a:t>
            </a:r>
            <a:r>
              <a:rPr dirty="0" err="1"/>
              <a:t>notch）の見え方を目視で</a:t>
            </a:r>
            <a:endParaRPr dirty="0"/>
          </a:p>
          <a:p>
            <a:r>
              <a:rPr dirty="0"/>
              <a:t>　4クラスに分類し、年齢・冠動脈疾患との関連を検討した（次スライド以降）。</a:t>
            </a:r>
          </a:p>
          <a:p>
            <a:r>
              <a:rPr dirty="0"/>
              <a:t>・</a:t>
            </a:r>
            <a:r>
              <a:rPr dirty="0" err="1"/>
              <a:t>つまり「安静時の血管特性」を見た研究であり、麻酔中の急性変化を見たものではない</a:t>
            </a:r>
            <a:r>
              <a:rPr dirty="0"/>
              <a:t>。</a:t>
            </a:r>
          </a:p>
          <a:p>
            <a:endParaRPr dirty="0"/>
          </a:p>
          <a:p>
            <a:r>
              <a:rPr dirty="0" err="1"/>
              <a:t>注意（数値の出どころ</a:t>
            </a:r>
            <a:r>
              <a:rPr dirty="0"/>
              <a:t>）</a:t>
            </a:r>
          </a:p>
          <a:p>
            <a:r>
              <a:rPr dirty="0"/>
              <a:t>・</a:t>
            </a:r>
            <a:r>
              <a:rPr dirty="0" err="1"/>
              <a:t>開始年・人数・年齢範囲は</a:t>
            </a:r>
            <a:r>
              <a:rPr dirty="0"/>
              <a:t> Framingham Heart </a:t>
            </a:r>
            <a:r>
              <a:rPr dirty="0" err="1"/>
              <a:t>Study／NHLBI</a:t>
            </a:r>
            <a:r>
              <a:rPr dirty="0"/>
              <a:t> </a:t>
            </a:r>
            <a:r>
              <a:rPr dirty="0" err="1"/>
              <a:t>の公表情報に基づく</a:t>
            </a:r>
            <a:endParaRPr dirty="0"/>
          </a:p>
          <a:p>
            <a:r>
              <a:rPr dirty="0"/>
              <a:t>　（1948年開始・5,209人・30〜62歳）。</a:t>
            </a:r>
            <a:r>
              <a:rPr dirty="0" err="1"/>
              <a:t>資料によっては年齢範囲を</a:t>
            </a:r>
            <a:r>
              <a:rPr dirty="0"/>
              <a:t> 28〜62歳と記載するものもある。</a:t>
            </a:r>
          </a:p>
          <a:p>
            <a:r>
              <a:rPr dirty="0"/>
              <a:t>・以前のメモにあった「1949年・30〜59歳」は上記と食い違うため、公表値に合わせて修正した。</a:t>
            </a:r>
          </a:p>
          <a:p>
            <a:r>
              <a:rPr dirty="0"/>
              <a:t>・Dawber 1973 </a:t>
            </a:r>
            <a:r>
              <a:rPr dirty="0" err="1"/>
              <a:t>本体は</a:t>
            </a:r>
            <a:r>
              <a:rPr dirty="0"/>
              <a:t> PubMed </a:t>
            </a:r>
            <a:r>
              <a:rPr dirty="0" err="1"/>
              <a:t>に抄録が無く、対象者数などの詳細は本文でしか確認できない</a:t>
            </a:r>
            <a:r>
              <a:rPr dirty="0"/>
              <a:t>。</a:t>
            </a:r>
          </a:p>
          <a:p>
            <a:endParaRPr dirty="0"/>
          </a:p>
        </p:txBody>
      </p:sp>
      <p:sp>
        <p:nvSpPr>
          <p:cNvPr id="4" name="スライド番号プレースホルダー 3">
            <a:extLst>
              <a:ext uri="{FF2B5EF4-FFF2-40B4-BE49-F238E27FC236}">
                <a16:creationId xmlns:a16="http://schemas.microsoft.com/office/drawing/2014/main" id="{E602AB1B-CDD9-7006-B20C-AC224A17F371}"/>
              </a:ext>
            </a:extLst>
          </p:cNvPr>
          <p:cNvSpPr>
            <a:spLocks noGrp="1"/>
          </p:cNvSpPr>
          <p:nvPr>
            <p:ph type="sldNum" sz="quarter" idx="5"/>
          </p:nvPr>
        </p:nvSpPr>
        <p:spPr/>
        <p:txBody>
          <a:bodyPr/>
          <a:lstStyle/>
          <a:p>
            <a:fld id="{4368CECF-0771-D84F-8D42-085DB944B0B8}" type="slidenum">
              <a:rPr kumimoji="1" lang="ja-JP" altLang="en-US" smtClean="0"/>
              <a:t>24</a:t>
            </a:fld>
            <a:endParaRPr kumimoji="1" lang="ja-JP" altLang="en-US"/>
          </a:p>
        </p:txBody>
      </p:sp>
    </p:spTree>
    <p:extLst>
      <p:ext uri="{BB962C8B-B14F-4D97-AF65-F5344CB8AC3E}">
        <p14:creationId xmlns:p14="http://schemas.microsoft.com/office/powerpoint/2010/main" val="17548070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8C8BB-FC18-CC2A-92DE-D789FF460A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653364-141F-7D20-A238-30577D8EAAC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E369720-CD6D-E2B4-BD4A-3FCA38A80E5B}"/>
              </a:ext>
            </a:extLst>
          </p:cNvPr>
          <p:cNvSpPr>
            <a:spLocks noGrp="1"/>
          </p:cNvSpPr>
          <p:nvPr>
            <p:ph type="body" idx="1"/>
          </p:nvPr>
        </p:nvSpPr>
        <p:spPr/>
        <p:txBody>
          <a:bodyPr/>
          <a:lstStyle/>
          <a:p>
            <a:r>
              <a:rPr lang="en-US" altLang="ja-JP" dirty="0"/>
              <a:t>1973</a:t>
            </a:r>
            <a:r>
              <a:rPr lang="ja-JP" altLang="en-US"/>
              <a:t>年にドーバーが指尖脈波の波形を切痕の位置で</a:t>
            </a:r>
            <a:r>
              <a:rPr lang="en-US" altLang="ja-JP" dirty="0"/>
              <a:t>4</a:t>
            </a:r>
            <a:r>
              <a:rPr lang="ja-JP" altLang="en-US"/>
              <a:t>つに分類し、指尖脈波波形と年齢や冠動脈疾患との関連を調べた</a:t>
            </a:r>
            <a:endParaRPr lang="en-US" altLang="ja-JP" dirty="0"/>
          </a:p>
          <a:p>
            <a:endParaRPr lang="en-US" dirty="0"/>
          </a:p>
          <a:p>
            <a:r>
              <a:rPr dirty="0"/>
              <a:t>フラミンガム研究の対象集団5000人をベースにしたコホート研究、血管特性（麻酔変化ではない、安静時）の評価</a:t>
            </a:r>
            <a:endParaRPr lang="en-US" dirty="0"/>
          </a:p>
          <a:p>
            <a:r>
              <a:rPr lang="en-US" altLang="ja-JP" dirty="0"/>
              <a:t>1949</a:t>
            </a:r>
            <a:r>
              <a:rPr lang="ja-JP" altLang="en-US"/>
              <a:t>年マサチューセッツ州フラミンガムで国立心臓研究所により設立。</a:t>
            </a:r>
            <a:r>
              <a:rPr lang="en-US" altLang="ja-JP" dirty="0"/>
              <a:t>30-59</a:t>
            </a:r>
            <a:r>
              <a:rPr lang="ja-JP" altLang="en-US"/>
              <a:t>歳の研究時に疾患がない人口を追った。</a:t>
            </a:r>
            <a:endParaRPr lang="en-US" altLang="ja-JP" dirty="0"/>
          </a:p>
          <a:p>
            <a:endParaRPr lang="en-US" dirty="0"/>
          </a:p>
          <a:p>
            <a:r>
              <a:rPr lang="en-US" dirty="0"/>
              <a:t>重複切痕の位置でクラスを4つに分けた。目視。</a:t>
            </a:r>
          </a:p>
          <a:p>
            <a:r>
              <a:rPr lang="en-US" dirty="0" err="1"/>
              <a:t>クラスが上昇するにつれ高齢者がふえた</a:t>
            </a:r>
            <a:r>
              <a:rPr lang="en-US" dirty="0"/>
              <a:t>。</a:t>
            </a:r>
            <a:r>
              <a:rPr lang="ja-JP" altLang="en-US"/>
              <a:t>　また冠動脈疾患も増えた。</a:t>
            </a:r>
            <a:endParaRPr lang="en-US" dirty="0"/>
          </a:p>
          <a:p>
            <a:endParaRPr dirty="0"/>
          </a:p>
          <a:p>
            <a:r>
              <a:rPr dirty="0" err="1"/>
              <a:t>指尖脈波という特殊な測定のDN消失具合を分類</a:t>
            </a:r>
            <a:endParaRPr dirty="0"/>
          </a:p>
          <a:p>
            <a:r>
              <a:rPr dirty="0" err="1"/>
              <a:t>加齢で切痕が消え、血圧や喫煙と独立し、心血管イベントと関連していた</a:t>
            </a:r>
            <a:r>
              <a:rPr dirty="0"/>
              <a:t>。</a:t>
            </a:r>
          </a:p>
          <a:p>
            <a:endParaRPr dirty="0"/>
          </a:p>
          <a:p>
            <a:r>
              <a:rPr dirty="0"/>
              <a:t>Dawber </a:t>
            </a:r>
            <a:r>
              <a:rPr dirty="0" err="1"/>
              <a:t>の</a:t>
            </a:r>
            <a:r>
              <a:rPr dirty="0"/>
              <a:t> 4 </a:t>
            </a:r>
            <a:r>
              <a:rPr dirty="0" err="1"/>
              <a:t>分類（下降脚＝dicrotic</a:t>
            </a:r>
            <a:r>
              <a:rPr dirty="0"/>
              <a:t> notch </a:t>
            </a:r>
            <a:r>
              <a:rPr dirty="0" err="1"/>
              <a:t>の消え方</a:t>
            </a:r>
            <a:r>
              <a:rPr dirty="0"/>
              <a:t>）</a:t>
            </a:r>
          </a:p>
          <a:p>
            <a:r>
              <a:rPr dirty="0"/>
              <a:t>　Class 1：明瞭な切痕がある</a:t>
            </a:r>
          </a:p>
          <a:p>
            <a:r>
              <a:rPr dirty="0"/>
              <a:t>　Class 2：切痕は消えるが、下降脚に水平な部分（プラトー）</a:t>
            </a:r>
            <a:r>
              <a:rPr dirty="0" err="1"/>
              <a:t>が残る</a:t>
            </a:r>
            <a:endParaRPr dirty="0"/>
          </a:p>
          <a:p>
            <a:r>
              <a:rPr dirty="0"/>
              <a:t>　Class 3：下降脚の角度が変わるだけ</a:t>
            </a:r>
          </a:p>
          <a:p>
            <a:r>
              <a:rPr dirty="0"/>
              <a:t>　Class 4：切痕の痕跡がない（なめらかな下降脚）</a:t>
            </a:r>
          </a:p>
          <a:p>
            <a:r>
              <a:rPr dirty="0" err="1"/>
              <a:t>加齢・スティフネス上昇で</a:t>
            </a:r>
            <a:r>
              <a:rPr dirty="0"/>
              <a:t> 1 → 4 </a:t>
            </a:r>
            <a:r>
              <a:rPr dirty="0" err="1"/>
              <a:t>へ移行する</a:t>
            </a:r>
            <a:r>
              <a:rPr dirty="0"/>
              <a:t>。</a:t>
            </a:r>
          </a:p>
          <a:p>
            <a:r>
              <a:rPr dirty="0" err="1"/>
              <a:t>原著の表現は</a:t>
            </a:r>
            <a:r>
              <a:rPr dirty="0"/>
              <a:t> Class2 </a:t>
            </a:r>
            <a:r>
              <a:rPr dirty="0" err="1"/>
              <a:t>が</a:t>
            </a:r>
            <a:r>
              <a:rPr dirty="0"/>
              <a:t> "a horizontal on the line of descent"、Class3 </a:t>
            </a:r>
            <a:r>
              <a:rPr dirty="0" err="1"/>
              <a:t>が下降脚の角度変化のみ</a:t>
            </a:r>
            <a:r>
              <a:rPr dirty="0"/>
              <a:t>、</a:t>
            </a:r>
          </a:p>
          <a:p>
            <a:r>
              <a:rPr dirty="0"/>
              <a:t>Class4 </a:t>
            </a:r>
            <a:r>
              <a:rPr dirty="0" err="1"/>
              <a:t>が</a:t>
            </a:r>
            <a:r>
              <a:rPr dirty="0"/>
              <a:t> "no evidence of a notch"。この4分類の定義は </a:t>
            </a:r>
            <a:r>
              <a:rPr dirty="0" err="1"/>
              <a:t>VascAgeNet</a:t>
            </a:r>
            <a:r>
              <a:rPr dirty="0"/>
              <a:t> </a:t>
            </a:r>
            <a:r>
              <a:rPr dirty="0" err="1"/>
              <a:t>レビュ</a:t>
            </a:r>
            <a:r>
              <a:rPr dirty="0"/>
              <a:t>ー（Charlton 2022, Fig.4 </a:t>
            </a:r>
            <a:r>
              <a:rPr dirty="0" err="1"/>
              <a:t>凡例）と</a:t>
            </a:r>
            <a:endParaRPr dirty="0"/>
          </a:p>
          <a:p>
            <a:r>
              <a:rPr dirty="0" err="1"/>
              <a:t>pyPPG（Goda</a:t>
            </a:r>
            <a:r>
              <a:rPr dirty="0"/>
              <a:t> 2024）でも同じ定義で引用されており、図はこの定義に合わせて描き直した。</a:t>
            </a:r>
          </a:p>
          <a:p>
            <a:r>
              <a:rPr dirty="0" err="1"/>
              <a:t>注意：この分類は「切痕の見え方」だけを見ており、実際の脈波形はもっと多様（Front</a:t>
            </a:r>
            <a:r>
              <a:rPr dirty="0"/>
              <a:t> </a:t>
            </a:r>
            <a:r>
              <a:rPr dirty="0" err="1"/>
              <a:t>Physiol</a:t>
            </a:r>
            <a:r>
              <a:rPr dirty="0"/>
              <a:t> 2023 </a:t>
            </a:r>
            <a:r>
              <a:rPr dirty="0" err="1"/>
              <a:t>の</a:t>
            </a:r>
            <a:endParaRPr dirty="0"/>
          </a:p>
          <a:p>
            <a:r>
              <a:rPr dirty="0" err="1"/>
              <a:t>クラスタリングでは最適クラスタ数は</a:t>
            </a:r>
            <a:r>
              <a:rPr dirty="0"/>
              <a:t> 7）。「4分類で脈波形のすべてが説明できる」とは言わないこと。</a:t>
            </a:r>
          </a:p>
        </p:txBody>
      </p:sp>
      <p:sp>
        <p:nvSpPr>
          <p:cNvPr id="4" name="スライド番号プレースホルダー 3">
            <a:extLst>
              <a:ext uri="{FF2B5EF4-FFF2-40B4-BE49-F238E27FC236}">
                <a16:creationId xmlns:a16="http://schemas.microsoft.com/office/drawing/2014/main" id="{7CB7F5BF-D92B-090D-5C26-C699156ACB58}"/>
              </a:ext>
            </a:extLst>
          </p:cNvPr>
          <p:cNvSpPr>
            <a:spLocks noGrp="1"/>
          </p:cNvSpPr>
          <p:nvPr>
            <p:ph type="sldNum" sz="quarter" idx="5"/>
          </p:nvPr>
        </p:nvSpPr>
        <p:spPr/>
        <p:txBody>
          <a:bodyPr/>
          <a:lstStyle/>
          <a:p>
            <a:fld id="{4368CECF-0771-D84F-8D42-085DB944B0B8}" type="slidenum">
              <a:rPr kumimoji="1" lang="ja-JP" altLang="en-US" smtClean="0"/>
              <a:t>25</a:t>
            </a:fld>
            <a:endParaRPr kumimoji="1" lang="ja-JP" altLang="en-US"/>
          </a:p>
        </p:txBody>
      </p:sp>
    </p:spTree>
    <p:extLst>
      <p:ext uri="{BB962C8B-B14F-4D97-AF65-F5344CB8AC3E}">
        <p14:creationId xmlns:p14="http://schemas.microsoft.com/office/powerpoint/2010/main" val="3824610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CE460-A9F9-E1D2-F31D-7BB1C727B7A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B0E9035-75D6-CF0A-A2E4-D20F5B4268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EA92F19-E555-9F8D-F887-B89AD6DA8CB9}"/>
              </a:ext>
            </a:extLst>
          </p:cNvPr>
          <p:cNvSpPr>
            <a:spLocks noGrp="1"/>
          </p:cNvSpPr>
          <p:nvPr>
            <p:ph type="body" idx="1"/>
          </p:nvPr>
        </p:nvSpPr>
        <p:spPr/>
        <p:txBody>
          <a:bodyPr/>
          <a:lstStyle/>
          <a:p>
            <a:r>
              <a:rPr kumimoji="1" lang="ja-JP" altLang="ja-JP" sz="1200" b="0" i="0" kern="1200">
                <a:solidFill>
                  <a:schemeClr val="tx1"/>
                </a:solidFill>
                <a:effectLst/>
                <a:latin typeface="+mn-lt"/>
                <a:ea typeface="+mn-ea"/>
                <a:cs typeface="+mn-cs"/>
              </a:rPr>
              <a:t>測定器は Henry Lax が開発した Vasculograph（Princeton Machine and Development Company 製、Lax からの借用機）で、指に巻いた幅 2.5 cm の空気カフの内圧変動を紙送り 2 cm/秒で記録したもの</a:t>
            </a:r>
            <a:endParaRPr lang="en-US" dirty="0"/>
          </a:p>
          <a:p>
            <a:r>
              <a:rPr lang="en-US" dirty="0" err="1"/>
              <a:t>カフの内圧変動を見ており、厳密にはPPGではない</a:t>
            </a:r>
            <a:r>
              <a:rPr lang="en-US" dirty="0"/>
              <a:t>。</a:t>
            </a:r>
            <a:r>
              <a:rPr kumimoji="1" lang="ja-JP" altLang="ja-JP" sz="1200" b="0" i="0" kern="1200">
                <a:solidFill>
                  <a:schemeClr val="tx1"/>
                </a:solidFill>
                <a:effectLst/>
                <a:latin typeface="+mn-lt"/>
                <a:ea typeface="+mn-ea"/>
                <a:cs typeface="+mn-cs"/>
              </a:rPr>
              <a:t>Vasculograph</a:t>
            </a:r>
            <a:r>
              <a:rPr kumimoji="1" lang="ja-JP" altLang="en-US" sz="1200" b="0" i="0" kern="1200">
                <a:solidFill>
                  <a:schemeClr val="tx1"/>
                </a:solidFill>
                <a:effectLst/>
                <a:latin typeface="+mn-lt"/>
                <a:ea typeface="+mn-ea"/>
                <a:cs typeface="+mn-cs"/>
              </a:rPr>
              <a:t>による研究で、切痕の消失が血管疾患との関連を示唆するものであった。</a:t>
            </a:r>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この波形を先ほどの</a:t>
            </a:r>
            <a:r>
              <a:rPr kumimoji="1" lang="en-US" altLang="ja-JP" sz="1200" b="0" i="0" kern="1200" dirty="0">
                <a:solidFill>
                  <a:schemeClr val="tx1"/>
                </a:solidFill>
                <a:effectLst/>
                <a:latin typeface="+mn-lt"/>
                <a:ea typeface="+mn-ea"/>
                <a:cs typeface="+mn-cs"/>
              </a:rPr>
              <a:t>4</a:t>
            </a:r>
            <a:r>
              <a:rPr kumimoji="1" lang="ja-JP" altLang="en-US" sz="1200" b="0" i="0" kern="1200">
                <a:solidFill>
                  <a:schemeClr val="tx1"/>
                </a:solidFill>
                <a:effectLst/>
                <a:latin typeface="+mn-lt"/>
                <a:ea typeface="+mn-ea"/>
                <a:cs typeface="+mn-cs"/>
              </a:rPr>
              <a:t>つに目視で分類。</a:t>
            </a:r>
            <a:r>
              <a:rPr kumimoji="1" lang="en-US" altLang="ja-JP" sz="1200" b="0" i="0" kern="1200" dirty="0">
                <a:solidFill>
                  <a:schemeClr val="tx1"/>
                </a:solidFill>
                <a:effectLst/>
                <a:latin typeface="+mn-lt"/>
                <a:ea typeface="+mn-ea"/>
                <a:cs typeface="+mn-cs"/>
              </a:rPr>
              <a:t>1778</a:t>
            </a:r>
            <a:r>
              <a:rPr kumimoji="1" lang="ja-JP" altLang="en-US" sz="1200" b="0" i="0" kern="1200">
                <a:solidFill>
                  <a:schemeClr val="tx1"/>
                </a:solidFill>
                <a:effectLst/>
                <a:latin typeface="+mn-lt"/>
                <a:ea typeface="+mn-ea"/>
                <a:cs typeface="+mn-cs"/>
              </a:rPr>
              <a:t>人に測定を行った。</a:t>
            </a:r>
            <a:endParaRPr lang="en-US" dirty="0"/>
          </a:p>
          <a:p>
            <a:endParaRPr lang="en-US" dirty="0"/>
          </a:p>
          <a:p>
            <a:r>
              <a:rPr dirty="0"/>
              <a:t>フラミンガム研究の対象集団5000人をベースにしたコホート研究、血管特性（麻酔変化ではない、安静時）の評価</a:t>
            </a:r>
            <a:endParaRPr lang="en-US" dirty="0"/>
          </a:p>
          <a:p>
            <a:r>
              <a:rPr lang="en-US" altLang="ja-JP" dirty="0"/>
              <a:t>1949</a:t>
            </a:r>
            <a:r>
              <a:rPr lang="ja-JP" altLang="en-US"/>
              <a:t>年マサチューセッツ州フラミンガムで国立心臓研究所により設立。</a:t>
            </a:r>
            <a:r>
              <a:rPr lang="en-US" altLang="ja-JP" dirty="0"/>
              <a:t>30-59</a:t>
            </a:r>
            <a:r>
              <a:rPr lang="ja-JP" altLang="en-US"/>
              <a:t>歳の研究時に疾患がない人口を追った。</a:t>
            </a:r>
            <a:endParaRPr lang="en-US" altLang="ja-JP" dirty="0"/>
          </a:p>
          <a:p>
            <a:endParaRPr lang="en-US" dirty="0"/>
          </a:p>
          <a:p>
            <a:r>
              <a:rPr lang="en-US" dirty="0"/>
              <a:t>重複切痕の位置でクラスを4つに分けた。目視。</a:t>
            </a:r>
          </a:p>
          <a:p>
            <a:r>
              <a:rPr lang="en-US" dirty="0" err="1"/>
              <a:t>クラスが上昇するにつれ高齢者がふえた</a:t>
            </a:r>
            <a:r>
              <a:rPr lang="en-US" dirty="0"/>
              <a:t>。</a:t>
            </a:r>
            <a:r>
              <a:rPr lang="ja-JP" altLang="en-US"/>
              <a:t>　また冠動脈疾患も増えた。</a:t>
            </a:r>
            <a:endParaRPr lang="en-US" dirty="0"/>
          </a:p>
          <a:p>
            <a:endParaRPr dirty="0"/>
          </a:p>
          <a:p>
            <a:r>
              <a:rPr dirty="0" err="1"/>
              <a:t>指尖脈波という特殊な測定のDN消失具合を分類</a:t>
            </a:r>
            <a:endParaRPr dirty="0"/>
          </a:p>
          <a:p>
            <a:r>
              <a:rPr dirty="0" err="1"/>
              <a:t>加齢で切痕が消え、血圧や喫煙と独立し、心血管イベントと関連していた</a:t>
            </a:r>
            <a:r>
              <a:rPr dirty="0"/>
              <a:t>。</a:t>
            </a:r>
          </a:p>
          <a:p>
            <a:endParaRPr dirty="0"/>
          </a:p>
          <a:p>
            <a:r>
              <a:rPr dirty="0"/>
              <a:t>Dawber </a:t>
            </a:r>
            <a:r>
              <a:rPr dirty="0" err="1"/>
              <a:t>の</a:t>
            </a:r>
            <a:r>
              <a:rPr dirty="0"/>
              <a:t> 4 </a:t>
            </a:r>
            <a:r>
              <a:rPr dirty="0" err="1"/>
              <a:t>分類（下降脚＝dicrotic</a:t>
            </a:r>
            <a:r>
              <a:rPr dirty="0"/>
              <a:t> notch </a:t>
            </a:r>
            <a:r>
              <a:rPr dirty="0" err="1"/>
              <a:t>の消え方</a:t>
            </a:r>
            <a:r>
              <a:rPr dirty="0"/>
              <a:t>）</a:t>
            </a:r>
          </a:p>
          <a:p>
            <a:r>
              <a:rPr dirty="0"/>
              <a:t>　Class 1：明瞭な切痕がある</a:t>
            </a:r>
          </a:p>
          <a:p>
            <a:r>
              <a:rPr dirty="0"/>
              <a:t>　Class 2：切痕は消えるが、下降脚に水平な部分（プラトー）</a:t>
            </a:r>
            <a:r>
              <a:rPr dirty="0" err="1"/>
              <a:t>が残る</a:t>
            </a:r>
            <a:endParaRPr dirty="0"/>
          </a:p>
          <a:p>
            <a:r>
              <a:rPr dirty="0"/>
              <a:t>　Class 3：下降脚の角度が変わるだけ</a:t>
            </a:r>
          </a:p>
          <a:p>
            <a:r>
              <a:rPr dirty="0"/>
              <a:t>　Class 4：切痕の痕跡がない（なめらかな下降脚）</a:t>
            </a:r>
          </a:p>
          <a:p>
            <a:r>
              <a:rPr dirty="0" err="1"/>
              <a:t>加齢・スティフネス上昇で</a:t>
            </a:r>
            <a:r>
              <a:rPr dirty="0"/>
              <a:t> 1 → 4 </a:t>
            </a:r>
            <a:r>
              <a:rPr dirty="0" err="1"/>
              <a:t>へ移行する</a:t>
            </a:r>
            <a:r>
              <a:rPr dirty="0"/>
              <a:t>。</a:t>
            </a:r>
          </a:p>
          <a:p>
            <a:r>
              <a:rPr dirty="0" err="1"/>
              <a:t>原著の表現は</a:t>
            </a:r>
            <a:r>
              <a:rPr dirty="0"/>
              <a:t> Class2 </a:t>
            </a:r>
            <a:r>
              <a:rPr dirty="0" err="1"/>
              <a:t>が</a:t>
            </a:r>
            <a:r>
              <a:rPr dirty="0"/>
              <a:t> "a horizontal on the line of descent"、Class3 </a:t>
            </a:r>
            <a:r>
              <a:rPr dirty="0" err="1"/>
              <a:t>が下降脚の角度変化のみ</a:t>
            </a:r>
            <a:r>
              <a:rPr dirty="0"/>
              <a:t>、</a:t>
            </a:r>
          </a:p>
          <a:p>
            <a:r>
              <a:rPr dirty="0"/>
              <a:t>Class4 </a:t>
            </a:r>
            <a:r>
              <a:rPr dirty="0" err="1"/>
              <a:t>が</a:t>
            </a:r>
            <a:r>
              <a:rPr dirty="0"/>
              <a:t> "no evidence of a notch"。この4分類の定義は </a:t>
            </a:r>
            <a:r>
              <a:rPr dirty="0" err="1"/>
              <a:t>VascAgeNet</a:t>
            </a:r>
            <a:r>
              <a:rPr dirty="0"/>
              <a:t> </a:t>
            </a:r>
            <a:r>
              <a:rPr dirty="0" err="1"/>
              <a:t>レビュ</a:t>
            </a:r>
            <a:r>
              <a:rPr dirty="0"/>
              <a:t>ー（Charlton 2022, Fig.4 </a:t>
            </a:r>
            <a:r>
              <a:rPr dirty="0" err="1"/>
              <a:t>凡例）と</a:t>
            </a:r>
            <a:endParaRPr dirty="0"/>
          </a:p>
          <a:p>
            <a:r>
              <a:rPr dirty="0" err="1"/>
              <a:t>pyPPG（Goda</a:t>
            </a:r>
            <a:r>
              <a:rPr dirty="0"/>
              <a:t> 2024）でも同じ定義で引用されており、図はこの定義に合わせて描き直した。</a:t>
            </a:r>
          </a:p>
          <a:p>
            <a:r>
              <a:rPr dirty="0" err="1"/>
              <a:t>注意：この分類は「切痕の見え方」だけを見ており、実際の脈波形はもっと多様（Front</a:t>
            </a:r>
            <a:r>
              <a:rPr dirty="0"/>
              <a:t> </a:t>
            </a:r>
            <a:r>
              <a:rPr dirty="0" err="1"/>
              <a:t>Physiol</a:t>
            </a:r>
            <a:r>
              <a:rPr dirty="0"/>
              <a:t> 2023 </a:t>
            </a:r>
            <a:r>
              <a:rPr dirty="0" err="1"/>
              <a:t>の</a:t>
            </a:r>
            <a:endParaRPr dirty="0"/>
          </a:p>
          <a:p>
            <a:r>
              <a:rPr dirty="0" err="1"/>
              <a:t>クラスタリングでは最適クラスタ数は</a:t>
            </a:r>
            <a:r>
              <a:rPr dirty="0"/>
              <a:t> 7）。「4分類で脈波形のすべてが説明できる」とは言わないこと。</a:t>
            </a:r>
          </a:p>
        </p:txBody>
      </p:sp>
      <p:sp>
        <p:nvSpPr>
          <p:cNvPr id="4" name="スライド番号プレースホルダー 3">
            <a:extLst>
              <a:ext uri="{FF2B5EF4-FFF2-40B4-BE49-F238E27FC236}">
                <a16:creationId xmlns:a16="http://schemas.microsoft.com/office/drawing/2014/main" id="{1AE6F828-5606-645B-B5FF-FA9E507FC8E9}"/>
              </a:ext>
            </a:extLst>
          </p:cNvPr>
          <p:cNvSpPr>
            <a:spLocks noGrp="1"/>
          </p:cNvSpPr>
          <p:nvPr>
            <p:ph type="sldNum" sz="quarter" idx="5"/>
          </p:nvPr>
        </p:nvSpPr>
        <p:spPr/>
        <p:txBody>
          <a:bodyPr/>
          <a:lstStyle/>
          <a:p>
            <a:fld id="{4368CECF-0771-D84F-8D42-085DB944B0B8}" type="slidenum">
              <a:rPr kumimoji="1" lang="ja-JP" altLang="en-US" smtClean="0"/>
              <a:t>26</a:t>
            </a:fld>
            <a:endParaRPr kumimoji="1" lang="ja-JP" altLang="en-US"/>
          </a:p>
        </p:txBody>
      </p:sp>
    </p:spTree>
    <p:extLst>
      <p:ext uri="{BB962C8B-B14F-4D97-AF65-F5344CB8AC3E}">
        <p14:creationId xmlns:p14="http://schemas.microsoft.com/office/powerpoint/2010/main" val="13240957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F395C-6F6F-4DF4-8227-DB16E3DA34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17431B-382B-CFDB-F755-755A940A30C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2AF9EDF-C8FA-60D1-02BB-1EC3D007967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男女ともに</a:t>
            </a:r>
            <a:r>
              <a:rPr lang="en-US" altLang="ja-JP" dirty="0" err="1"/>
              <a:t>高齢</a:t>
            </a:r>
            <a:r>
              <a:rPr lang="ja-JP" altLang="en-US"/>
              <a:t>である方が、</a:t>
            </a:r>
            <a:r>
              <a:rPr lang="en-US" altLang="ja-JP" dirty="0"/>
              <a:t>class3,4</a:t>
            </a:r>
            <a:r>
              <a:rPr lang="ja-JP" altLang="en-US"/>
              <a:t>の割合が高い</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Class</a:t>
            </a:r>
            <a:r>
              <a:rPr lang="ja-JP" altLang="en-US"/>
              <a:t>が高い方が、冠動脈疾患を持つ割合が増えた。</a:t>
            </a:r>
            <a:endParaRPr lang="en-US" altLang="ja-JP" dirty="0"/>
          </a:p>
        </p:txBody>
      </p:sp>
      <p:sp>
        <p:nvSpPr>
          <p:cNvPr id="4" name="スライド番号プレースホルダー 3">
            <a:extLst>
              <a:ext uri="{FF2B5EF4-FFF2-40B4-BE49-F238E27FC236}">
                <a16:creationId xmlns:a16="http://schemas.microsoft.com/office/drawing/2014/main" id="{F8413E1D-3C36-00CF-D5E6-5EF8A683A21B}"/>
              </a:ext>
            </a:extLst>
          </p:cNvPr>
          <p:cNvSpPr>
            <a:spLocks noGrp="1"/>
          </p:cNvSpPr>
          <p:nvPr>
            <p:ph type="sldNum" sz="quarter" idx="5"/>
          </p:nvPr>
        </p:nvSpPr>
        <p:spPr/>
        <p:txBody>
          <a:bodyPr/>
          <a:lstStyle/>
          <a:p>
            <a:fld id="{4368CECF-0771-D84F-8D42-085DB944B0B8}" type="slidenum">
              <a:rPr kumimoji="1" lang="ja-JP" altLang="en-US" smtClean="0"/>
              <a:t>27</a:t>
            </a:fld>
            <a:endParaRPr kumimoji="1" lang="ja-JP" altLang="en-US"/>
          </a:p>
        </p:txBody>
      </p:sp>
    </p:spTree>
    <p:extLst>
      <p:ext uri="{BB962C8B-B14F-4D97-AF65-F5344CB8AC3E}">
        <p14:creationId xmlns:p14="http://schemas.microsoft.com/office/powerpoint/2010/main" val="33116991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a:p>
            <a:r>
              <a:rPr kumimoji="1" lang="ja-JP" altLang="en-US"/>
              <a:t>高齢者の方が切痕が平滑で、切痕が平滑である方が冠動脈疾患を持つ人の割合が増える。</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28</a:t>
            </a:fld>
            <a:endParaRPr kumimoji="1" lang="ja-JP" altLang="en-US"/>
          </a:p>
        </p:txBody>
      </p:sp>
    </p:spTree>
    <p:extLst>
      <p:ext uri="{BB962C8B-B14F-4D97-AF65-F5344CB8AC3E}">
        <p14:creationId xmlns:p14="http://schemas.microsoft.com/office/powerpoint/2010/main" val="39768668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0B676-1850-AE0A-C551-08885A212F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3663D56-CFCE-B27F-21BB-E14881C6CB8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7E2D45C-6C0E-905D-E6AD-2B4900AA0F10}"/>
              </a:ext>
            </a:extLst>
          </p:cNvPr>
          <p:cNvSpPr>
            <a:spLocks noGrp="1"/>
          </p:cNvSpPr>
          <p:nvPr>
            <p:ph type="body" idx="1"/>
          </p:nvPr>
        </p:nvSpPr>
        <p:spPr/>
        <p:txBody>
          <a:bodyPr/>
          <a:lstStyle/>
          <a:p>
            <a:r>
              <a:rPr dirty="0"/>
              <a:t>UK Biobank </a:t>
            </a:r>
            <a:r>
              <a:rPr dirty="0" err="1"/>
              <a:t>と</a:t>
            </a:r>
            <a:r>
              <a:rPr lang="ja-JP" altLang="en-US"/>
              <a:t>いうコホートからの研究。</a:t>
            </a:r>
            <a:endParaRPr lang="en-US" altLang="ja-JP" dirty="0"/>
          </a:p>
          <a:p>
            <a:r>
              <a:rPr lang="ja-JP" altLang="en-US"/>
              <a:t>英国のバイオバンク型コホートで、</a:t>
            </a:r>
            <a:r>
              <a:rPr lang="en-US" altLang="ja-JP" dirty="0"/>
              <a:t>2006</a:t>
            </a:r>
            <a:r>
              <a:rPr lang="ja-JP" altLang="en-US"/>
              <a:t>年−</a:t>
            </a:r>
            <a:r>
              <a:rPr lang="en-US" altLang="ja-JP" dirty="0"/>
              <a:t>2010</a:t>
            </a:r>
            <a:r>
              <a:rPr lang="ja-JP" altLang="en-US"/>
              <a:t>年の登録期間で</a:t>
            </a:r>
            <a:r>
              <a:rPr lang="en-US" altLang="ja-JP" dirty="0"/>
              <a:t>50</a:t>
            </a:r>
            <a:r>
              <a:rPr lang="ja-JP" altLang="en-US"/>
              <a:t>万人が登録されてます。</a:t>
            </a:r>
            <a:endParaRPr lang="en-US" altLang="ja-JP" dirty="0"/>
          </a:p>
          <a:p>
            <a:r>
              <a:rPr lang="ja-JP" altLang="en-US"/>
              <a:t>評価施設４０キロ圏内の</a:t>
            </a:r>
            <a:r>
              <a:rPr lang="en-US" altLang="ja-JP" dirty="0"/>
              <a:t>920</a:t>
            </a:r>
            <a:r>
              <a:rPr lang="ja-JP" altLang="en-US"/>
              <a:t>万人を招待し、５％程度が応じています。</a:t>
            </a:r>
            <a:endParaRPr lang="en-US" altLang="ja-JP" dirty="0"/>
          </a:p>
          <a:p>
            <a:r>
              <a:rPr lang="ja-JP" altLang="en-US"/>
              <a:t>対象は４０−</a:t>
            </a:r>
            <a:r>
              <a:rPr lang="en-US" altLang="ja-JP" dirty="0"/>
              <a:t>69</a:t>
            </a:r>
            <a:r>
              <a:rPr lang="ja-JP" altLang="en-US"/>
              <a:t>歳で、非対称者と比較し高齢、女性、社会的に恵まれた地域に住んでいることが多い。また自己申告の疾患も少ない。</a:t>
            </a:r>
            <a:endParaRPr lang="en-US" altLang="ja-JP" dirty="0"/>
          </a:p>
          <a:p>
            <a:r>
              <a:rPr lang="ja-JP" altLang="en-US"/>
              <a:t>４０−</a:t>
            </a:r>
            <a:r>
              <a:rPr lang="en-US" altLang="ja-JP" dirty="0"/>
              <a:t>69</a:t>
            </a:r>
            <a:r>
              <a:rPr lang="ja-JP" altLang="en-US"/>
              <a:t>歳までで、今回は</a:t>
            </a:r>
            <a:r>
              <a:rPr lang="en-US" altLang="ja-JP" dirty="0"/>
              <a:t>PPG</a:t>
            </a:r>
            <a:r>
              <a:rPr lang="ja-JP" altLang="en-US"/>
              <a:t>がある</a:t>
            </a:r>
            <a:r>
              <a:rPr lang="en-US" altLang="ja-JP" dirty="0"/>
              <a:t>17</a:t>
            </a:r>
            <a:r>
              <a:rPr lang="ja-JP" altLang="en-US"/>
              <a:t>万人を対象にしている。</a:t>
            </a:r>
            <a:endParaRPr lang="en-US" altLang="ja-JP" dirty="0"/>
          </a:p>
          <a:p>
            <a:r>
              <a:rPr lang="ja-JP" altLang="en-US"/>
              <a:t>バイオバンク型というのは、登録時にさまざまなデータを集めておいて、あとはイベントがあった時に、受診時のデータを追加するというタイプ。何年ごとに集める、ではない。手軽。</a:t>
            </a:r>
            <a:endParaRPr lang="en-US" altLang="ja-JP" dirty="0"/>
          </a:p>
          <a:p>
            <a:endParaRPr lang="en-US" dirty="0"/>
          </a:p>
          <a:p>
            <a:r>
              <a:rPr kumimoji="1" lang="ja-JP" altLang="en-US" sz="1200" b="0" i="0" kern="1200">
                <a:solidFill>
                  <a:schemeClr val="tx1"/>
                </a:solidFill>
                <a:effectLst/>
                <a:latin typeface="+mn-lt"/>
                <a:ea typeface="+mn-ea"/>
                <a:cs typeface="+mn-cs"/>
              </a:rPr>
              <a:t>イングランド、ウェールズ、スコットランドの</a:t>
            </a:r>
            <a:r>
              <a:rPr kumimoji="1" lang="en-US" altLang="ja-JP" sz="1200" b="0" i="0" kern="1200" dirty="0">
                <a:solidFill>
                  <a:schemeClr val="tx1"/>
                </a:solidFill>
                <a:effectLst/>
                <a:latin typeface="+mn-lt"/>
                <a:ea typeface="+mn-ea"/>
                <a:cs typeface="+mn-cs"/>
              </a:rPr>
              <a:t>22</a:t>
            </a:r>
            <a:r>
              <a:rPr kumimoji="1" lang="ja-JP" altLang="en-US" sz="1200" b="0" i="0" kern="1200">
                <a:solidFill>
                  <a:schemeClr val="tx1"/>
                </a:solidFill>
                <a:effectLst/>
                <a:latin typeface="+mn-lt"/>
                <a:ea typeface="+mn-ea"/>
                <a:cs typeface="+mn-cs"/>
              </a:rPr>
              <a:t>カ所の評価センターから半径</a:t>
            </a:r>
            <a:r>
              <a:rPr kumimoji="1" lang="en-US" altLang="ja-JP" sz="1200" b="0" i="0" kern="1200" dirty="0">
                <a:solidFill>
                  <a:schemeClr val="tx1"/>
                </a:solidFill>
                <a:effectLst/>
                <a:latin typeface="+mn-lt"/>
                <a:ea typeface="+mn-ea"/>
                <a:cs typeface="+mn-cs"/>
              </a:rPr>
              <a:t>25</a:t>
            </a:r>
            <a:r>
              <a:rPr kumimoji="1" lang="ja-JP" altLang="en-US" sz="1200" b="0" i="0" kern="1200">
                <a:solidFill>
                  <a:schemeClr val="tx1"/>
                </a:solidFill>
                <a:effectLst/>
                <a:latin typeface="+mn-lt"/>
                <a:ea typeface="+mn-ea"/>
                <a:cs typeface="+mn-cs"/>
              </a:rPr>
              <a:t>マイル</a:t>
            </a:r>
            <a:r>
              <a:rPr kumimoji="1" lang="en-US" altLang="ja-JP" sz="1200" b="0" i="0" kern="1200" dirty="0">
                <a:solidFill>
                  <a:schemeClr val="tx1"/>
                </a:solidFill>
                <a:effectLst/>
                <a:latin typeface="+mn-lt"/>
                <a:ea typeface="+mn-ea"/>
                <a:cs typeface="+mn-cs"/>
              </a:rPr>
              <a:t>(40</a:t>
            </a:r>
            <a:r>
              <a:rPr kumimoji="1" lang="en" altLang="ja-JP" sz="1200" b="0" i="0" kern="1200" dirty="0">
                <a:solidFill>
                  <a:schemeClr val="tx1"/>
                </a:solidFill>
                <a:effectLst/>
                <a:latin typeface="+mn-lt"/>
                <a:ea typeface="+mn-ea"/>
                <a:cs typeface="+mn-cs"/>
              </a:rPr>
              <a:t>km)</a:t>
            </a:r>
            <a:r>
              <a:rPr kumimoji="1" lang="ja-JP" altLang="en-US" sz="1200" b="0" i="0" kern="1200">
                <a:solidFill>
                  <a:schemeClr val="tx1"/>
                </a:solidFill>
                <a:effectLst/>
                <a:latin typeface="+mn-lt"/>
                <a:ea typeface="+mn-ea"/>
                <a:cs typeface="+mn-cs"/>
              </a:rPr>
              <a:t>以内に居住する</a:t>
            </a:r>
            <a:r>
              <a:rPr kumimoji="1" lang="en-US" altLang="ja-JP" sz="1200" b="0" i="0" kern="1200" dirty="0">
                <a:solidFill>
                  <a:schemeClr val="tx1"/>
                </a:solidFill>
                <a:effectLst/>
                <a:latin typeface="+mn-lt"/>
                <a:ea typeface="+mn-ea"/>
                <a:cs typeface="+mn-cs"/>
              </a:rPr>
              <a:t>40〜69</a:t>
            </a:r>
            <a:r>
              <a:rPr kumimoji="1" lang="ja-JP" altLang="en-US" sz="1200" b="0" i="0" kern="1200">
                <a:solidFill>
                  <a:schemeClr val="tx1"/>
                </a:solidFill>
                <a:effectLst/>
                <a:latin typeface="+mn-lt"/>
                <a:ea typeface="+mn-ea"/>
                <a:cs typeface="+mn-cs"/>
              </a:rPr>
              <a:t>歳の約</a:t>
            </a:r>
            <a:r>
              <a:rPr kumimoji="1" lang="en-US" altLang="ja-JP" sz="1200" b="0" i="0" kern="1200" dirty="0">
                <a:solidFill>
                  <a:schemeClr val="tx1"/>
                </a:solidFill>
                <a:effectLst/>
                <a:latin typeface="+mn-lt"/>
                <a:ea typeface="+mn-ea"/>
                <a:cs typeface="+mn-cs"/>
              </a:rPr>
              <a:t>920</a:t>
            </a:r>
            <a:r>
              <a:rPr kumimoji="1" lang="ja-JP" altLang="en-US" sz="1200" b="0" i="0" kern="1200">
                <a:solidFill>
                  <a:schemeClr val="tx1"/>
                </a:solidFill>
                <a:effectLst/>
                <a:latin typeface="+mn-lt"/>
                <a:ea typeface="+mn-ea"/>
                <a:cs typeface="+mn-cs"/>
              </a:rPr>
              <a:t>万人が招待され、実際に参加</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ベースライン評価に応じた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したのはそのうち</a:t>
            </a:r>
            <a:r>
              <a:rPr kumimoji="1" lang="en-US" altLang="ja-JP" sz="1200" b="0" i="0" kern="1200" dirty="0">
                <a:solidFill>
                  <a:schemeClr val="tx1"/>
                </a:solidFill>
                <a:effectLst/>
                <a:latin typeface="+mn-lt"/>
                <a:ea typeface="+mn-ea"/>
                <a:cs typeface="+mn-cs"/>
              </a:rPr>
              <a:t>5.5%</a:t>
            </a:r>
            <a:r>
              <a:rPr kumimoji="1" lang="ja-JP" altLang="en-US" sz="1200" b="0" i="0" kern="1200">
                <a:solidFill>
                  <a:schemeClr val="tx1"/>
                </a:solidFill>
                <a:effectLst/>
                <a:latin typeface="+mn-lt"/>
                <a:ea typeface="+mn-ea"/>
                <a:cs typeface="+mn-cs"/>
              </a:rPr>
              <a:t>だった。都市部・地方部を含む社会経済的・民族的にある程度多様な集団だが、あくまで自発的なボランティアである。 </a:t>
            </a:r>
            <a:r>
              <a:rPr kumimoji="1" lang="en-US" altLang="ja-JP" sz="1200" b="0" i="0" kern="1200" dirty="0">
                <a:solidFill>
                  <a:schemeClr val="tx1"/>
                </a:solidFill>
                <a:effectLst/>
                <a:latin typeface="+mn-lt"/>
                <a:ea typeface="+mn-ea"/>
                <a:cs typeface="+mn-cs"/>
              </a:rPr>
              <a:t>[1][3-4]</a:t>
            </a:r>
          </a:p>
          <a:p>
            <a:r>
              <a:rPr kumimoji="1" lang="ja-JP" altLang="en-US" sz="1200" b="1" i="0" kern="1200">
                <a:solidFill>
                  <a:schemeClr val="tx1"/>
                </a:solidFill>
                <a:effectLst/>
                <a:latin typeface="+mn-lt"/>
                <a:ea typeface="+mn-ea"/>
                <a:cs typeface="+mn-cs"/>
              </a:rPr>
              <a:t>参加者の特徴</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選択バイアス</a:t>
            </a:r>
            <a:r>
              <a:rPr kumimoji="1" lang="en-US" altLang="ja-JP" sz="1200" b="1" i="0" kern="1200" dirty="0">
                <a:solidFill>
                  <a:schemeClr val="tx1"/>
                </a:solidFill>
                <a:effectLst/>
                <a:latin typeface="+mn-lt"/>
                <a:ea typeface="+mn-ea"/>
                <a:cs typeface="+mn-cs"/>
              </a:rPr>
              <a:t>)</a:t>
            </a:r>
            <a:endParaRPr kumimoji="1" lang="ja-JP" altLang="en-US" sz="1200" b="0" i="0" kern="1200">
              <a:solidFill>
                <a:schemeClr val="tx1"/>
              </a:solidFill>
              <a:effectLst/>
              <a:latin typeface="+mn-lt"/>
              <a:ea typeface="+mn-ea"/>
              <a:cs typeface="+mn-cs"/>
            </a:endParaRPr>
          </a:p>
          <a:p>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参加者は非参加者と比較して、</a:t>
            </a:r>
            <a:r>
              <a:rPr kumimoji="1" lang="ja-JP" altLang="en-US" sz="1200" b="1" i="0" kern="1200">
                <a:solidFill>
                  <a:schemeClr val="tx1"/>
                </a:solidFill>
                <a:effectLst/>
                <a:latin typeface="+mn-lt"/>
                <a:ea typeface="+mn-ea"/>
                <a:cs typeface="+mn-cs"/>
              </a:rPr>
              <a:t>高齢</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女性</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社会経済的に恵まれた地域</a:t>
            </a:r>
            <a:r>
              <a:rPr kumimoji="1" lang="ja-JP" altLang="en-US" sz="1200" b="0" i="0" kern="1200">
                <a:solidFill>
                  <a:schemeClr val="tx1"/>
                </a:solidFill>
                <a:effectLst/>
                <a:latin typeface="+mn-lt"/>
                <a:ea typeface="+mn-ea"/>
                <a:cs typeface="+mn-cs"/>
              </a:rPr>
              <a:t>に居住していることが多い。一般集団と比べても肥満、喫煙、毎日の飲酒が少なく、自己申告の健康問題も少ない傾向があり、</a:t>
            </a:r>
            <a:r>
              <a:rPr kumimoji="1" lang="en-US" altLang="ja-JP" sz="1200" b="0" i="0" kern="1200" dirty="0">
                <a:solidFill>
                  <a:schemeClr val="tx1"/>
                </a:solidFill>
                <a:effectLst/>
                <a:latin typeface="+mn-lt"/>
                <a:ea typeface="+mn-ea"/>
                <a:cs typeface="+mn-cs"/>
              </a:rPr>
              <a:t>70〜74</a:t>
            </a:r>
            <a:r>
              <a:rPr kumimoji="1" lang="ja-JP" altLang="en-US" sz="1200" b="0" i="0" kern="1200">
                <a:solidFill>
                  <a:schemeClr val="tx1"/>
                </a:solidFill>
                <a:effectLst/>
                <a:latin typeface="+mn-lt"/>
                <a:ea typeface="+mn-ea"/>
                <a:cs typeface="+mn-cs"/>
              </a:rPr>
              <a:t>歳時点での全死因死亡率は男性で</a:t>
            </a:r>
            <a:r>
              <a:rPr kumimoji="1" lang="en-US" altLang="ja-JP" sz="1200" b="0" i="0" kern="1200" dirty="0">
                <a:solidFill>
                  <a:schemeClr val="tx1"/>
                </a:solidFill>
                <a:effectLst/>
                <a:latin typeface="+mn-lt"/>
                <a:ea typeface="+mn-ea"/>
                <a:cs typeface="+mn-cs"/>
              </a:rPr>
              <a:t>46.2%</a:t>
            </a:r>
            <a:r>
              <a:rPr kumimoji="1" lang="ja-JP" altLang="en-US" sz="1200" b="0" i="0" kern="1200">
                <a:solidFill>
                  <a:schemeClr val="tx1"/>
                </a:solidFill>
                <a:effectLst/>
                <a:latin typeface="+mn-lt"/>
                <a:ea typeface="+mn-ea"/>
                <a:cs typeface="+mn-cs"/>
              </a:rPr>
              <a:t>、女性で</a:t>
            </a:r>
            <a:r>
              <a:rPr kumimoji="1" lang="en-US" altLang="ja-JP" sz="1200" b="0" i="0" kern="1200" dirty="0">
                <a:solidFill>
                  <a:schemeClr val="tx1"/>
                </a:solidFill>
                <a:effectLst/>
                <a:latin typeface="+mn-lt"/>
                <a:ea typeface="+mn-ea"/>
                <a:cs typeface="+mn-cs"/>
              </a:rPr>
              <a:t>55.5%</a:t>
            </a:r>
            <a:r>
              <a:rPr kumimoji="1" lang="ja-JP" altLang="en-US" sz="1200" b="0" i="0" kern="1200">
                <a:solidFill>
                  <a:schemeClr val="tx1"/>
                </a:solidFill>
                <a:effectLst/>
                <a:latin typeface="+mn-lt"/>
                <a:ea typeface="+mn-ea"/>
                <a:cs typeface="+mn-cs"/>
              </a:rPr>
              <a:t>低く、総がん罹患率もそれぞれ</a:t>
            </a:r>
            <a:r>
              <a:rPr kumimoji="1" lang="en-US" altLang="ja-JP" sz="1200" b="0" i="0" kern="1200" dirty="0">
                <a:solidFill>
                  <a:schemeClr val="tx1"/>
                </a:solidFill>
                <a:effectLst/>
                <a:latin typeface="+mn-lt"/>
                <a:ea typeface="+mn-ea"/>
                <a:cs typeface="+mn-cs"/>
              </a:rPr>
              <a:t>11.8%</a:t>
            </a:r>
            <a:r>
              <a:rPr kumimoji="1" lang="ja-JP" altLang="en-US" sz="1200" b="0" i="0" kern="1200">
                <a:solidFill>
                  <a:schemeClr val="tx1"/>
                </a:solidFill>
                <a:effectLst/>
                <a:latin typeface="+mn-lt"/>
                <a:ea typeface="+mn-ea"/>
                <a:cs typeface="+mn-cs"/>
              </a:rPr>
              <a:t>、</a:t>
            </a:r>
            <a:r>
              <a:rPr kumimoji="1" lang="en-US" altLang="ja-JP" sz="1200" b="0" i="0" kern="1200" dirty="0">
                <a:solidFill>
                  <a:schemeClr val="tx1"/>
                </a:solidFill>
                <a:effectLst/>
                <a:latin typeface="+mn-lt"/>
                <a:ea typeface="+mn-ea"/>
                <a:cs typeface="+mn-cs"/>
              </a:rPr>
              <a:t>18.1%</a:t>
            </a:r>
            <a:r>
              <a:rPr kumimoji="1" lang="ja-JP" altLang="en-US" sz="1200" b="0" i="0" kern="1200">
                <a:solidFill>
                  <a:schemeClr val="tx1"/>
                </a:solidFill>
                <a:effectLst/>
                <a:latin typeface="+mn-lt"/>
                <a:ea typeface="+mn-ea"/>
                <a:cs typeface="+mn-cs"/>
              </a:rPr>
              <a:t>低いことが報告されている。これは「健康ボランティアバイアス</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healthy volunteer selection bias)</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と呼ばれ、</a:t>
            </a:r>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は英国の一般集団を代表するものではない点に注意が必要である</a:t>
            </a:r>
          </a:p>
          <a:p>
            <a:endParaRPr dirty="0"/>
          </a:p>
          <a:p>
            <a:endParaRPr dirty="0"/>
          </a:p>
          <a:p>
            <a:r>
              <a:rPr dirty="0"/>
              <a:t>・英国の大規模バイオバンク型前向きコホート。2006〜2010年に、40〜69歳の約50万人を</a:t>
            </a:r>
          </a:p>
          <a:p>
            <a:r>
              <a:rPr dirty="0"/>
              <a:t>　イングランド・スコットランド・ウェールズの22の評価センターで登録した。</a:t>
            </a:r>
          </a:p>
          <a:p>
            <a:r>
              <a:rPr dirty="0"/>
              <a:t>・</a:t>
            </a:r>
            <a:r>
              <a:rPr dirty="0" err="1"/>
              <a:t>登録時に質問票・身体計測・採血（血液・尿・唾液）を行い、以後は国民保健サービス（NHS）の</a:t>
            </a:r>
            <a:endParaRPr dirty="0"/>
          </a:p>
          <a:p>
            <a:r>
              <a:rPr dirty="0"/>
              <a:t>　</a:t>
            </a:r>
            <a:r>
              <a:rPr dirty="0" err="1"/>
              <a:t>医療記録とのリンクによって疾患発症・死亡を追跡する設計。ゲノム解析データも整備されている</a:t>
            </a:r>
            <a:r>
              <a:rPr dirty="0"/>
              <a:t>。</a:t>
            </a:r>
          </a:p>
          <a:p>
            <a:r>
              <a:rPr dirty="0"/>
              <a:t>・</a:t>
            </a:r>
            <a:r>
              <a:rPr dirty="0" err="1"/>
              <a:t>ベースライン評価の中に指尖光電容積脈波（PPG）による動脈スティフネス測定が含まれており</a:t>
            </a:r>
            <a:r>
              <a:rPr dirty="0"/>
              <a:t>、</a:t>
            </a:r>
          </a:p>
          <a:p>
            <a:r>
              <a:rPr dirty="0"/>
              <a:t>　</a:t>
            </a:r>
            <a:r>
              <a:rPr dirty="0" err="1"/>
              <a:t>これが本デックで扱う波形データの出どころ</a:t>
            </a:r>
            <a:r>
              <a:rPr dirty="0"/>
              <a:t>。</a:t>
            </a:r>
          </a:p>
          <a:p>
            <a:endParaRPr dirty="0"/>
          </a:p>
          <a:p>
            <a:r>
              <a:rPr dirty="0" err="1"/>
              <a:t>本デックでの位置づけ</a:t>
            </a:r>
            <a:r>
              <a:rPr dirty="0"/>
              <a:t> — Cunningham JW, et al. Circ </a:t>
            </a:r>
            <a:r>
              <a:rPr dirty="0" err="1"/>
              <a:t>Genom</a:t>
            </a:r>
            <a:r>
              <a:rPr dirty="0"/>
              <a:t> Precis Med 2023;16:e003676</a:t>
            </a:r>
          </a:p>
          <a:p>
            <a:r>
              <a:rPr dirty="0"/>
              <a:t>・</a:t>
            </a:r>
            <a:r>
              <a:rPr dirty="0" err="1"/>
              <a:t>対象：指尖PPGデータを持つ</a:t>
            </a:r>
            <a:r>
              <a:rPr dirty="0"/>
              <a:t> UK Biobank </a:t>
            </a:r>
            <a:r>
              <a:rPr dirty="0" err="1"/>
              <a:t>参加者</a:t>
            </a:r>
            <a:r>
              <a:rPr dirty="0"/>
              <a:t> 169,787名。</a:t>
            </a:r>
          </a:p>
          <a:p>
            <a:r>
              <a:rPr dirty="0"/>
              <a:t>・</a:t>
            </a:r>
            <a:r>
              <a:rPr dirty="0" err="1"/>
              <a:t>従来は「重複切痕が消えているか／いないか」の二値でしか扱えなかったものを、機械学習で</a:t>
            </a:r>
            <a:endParaRPr dirty="0"/>
          </a:p>
          <a:p>
            <a:r>
              <a:rPr dirty="0"/>
              <a:t>　「</a:t>
            </a:r>
            <a:r>
              <a:rPr dirty="0" err="1"/>
              <a:t>切痕の平滑さ（notch</a:t>
            </a:r>
            <a:r>
              <a:rPr dirty="0"/>
              <a:t> smoothness）」</a:t>
            </a:r>
            <a:r>
              <a:rPr dirty="0" err="1"/>
              <a:t>という連続形質に置き換えた</a:t>
            </a:r>
            <a:r>
              <a:rPr dirty="0"/>
              <a:t>。</a:t>
            </a:r>
          </a:p>
          <a:p>
            <a:r>
              <a:rPr dirty="0"/>
              <a:t>・</a:t>
            </a:r>
            <a:r>
              <a:rPr dirty="0" err="1"/>
              <a:t>遺伝率は連続形質</a:t>
            </a:r>
            <a:r>
              <a:rPr dirty="0"/>
              <a:t> 7.5% ＞ </a:t>
            </a:r>
            <a:r>
              <a:rPr dirty="0" err="1"/>
              <a:t>二値形質</a:t>
            </a:r>
            <a:r>
              <a:rPr dirty="0"/>
              <a:t> 5.6%。GWAS で有意15座位（二値では6座位）を同定し、</a:t>
            </a:r>
          </a:p>
          <a:p>
            <a:r>
              <a:rPr dirty="0"/>
              <a:t>　NT5C2（P=1.2×10⁻²⁶）、IGFBP3（P=4.8×10⁻¹⁸）、PHACTR1（P=1.4×10⁻¹³）などが示唆された。</a:t>
            </a:r>
          </a:p>
          <a:p>
            <a:r>
              <a:rPr dirty="0"/>
              <a:t>・</a:t>
            </a:r>
            <a:r>
              <a:rPr dirty="0" err="1"/>
              <a:t>切痕の平滑さは、心筋梗塞／冠動脈疾患・脳卒中・心不全・大動脈弁狭窄症の新規発症リスクを</a:t>
            </a:r>
            <a:endParaRPr dirty="0"/>
          </a:p>
          <a:p>
            <a:r>
              <a:rPr dirty="0"/>
              <a:t>　</a:t>
            </a:r>
            <a:r>
              <a:rPr dirty="0" err="1"/>
              <a:t>層別化した。多遺伝子リスクスコアは</a:t>
            </a:r>
            <a:r>
              <a:rPr dirty="0"/>
              <a:t> PPG </a:t>
            </a:r>
            <a:r>
              <a:rPr dirty="0" err="1"/>
              <a:t>を持たない参加者でも心血管疾患発症と全死亡に関連</a:t>
            </a:r>
            <a:r>
              <a:rPr dirty="0"/>
              <a:t>。</a:t>
            </a:r>
          </a:p>
          <a:p>
            <a:r>
              <a:rPr dirty="0"/>
              <a:t>・</a:t>
            </a:r>
            <a:r>
              <a:rPr dirty="0" err="1"/>
              <a:t>結論：切痕の平滑さは遺伝率をもつ形質で、血管スティフネス関連遺伝子と結びつき</a:t>
            </a:r>
            <a:r>
              <a:rPr dirty="0"/>
              <a:t>、</a:t>
            </a:r>
          </a:p>
          <a:p>
            <a:r>
              <a:rPr dirty="0"/>
              <a:t>　</a:t>
            </a:r>
            <a:r>
              <a:rPr dirty="0" err="1"/>
              <a:t>平滑なほど心血管疾患の発症リスクが高い</a:t>
            </a:r>
            <a:r>
              <a:rPr dirty="0"/>
              <a:t>。</a:t>
            </a:r>
          </a:p>
          <a:p>
            <a:endParaRPr dirty="0"/>
          </a:p>
          <a:p>
            <a:r>
              <a:rPr dirty="0" err="1"/>
              <a:t>口頭で足す但し書き</a:t>
            </a:r>
            <a:endParaRPr dirty="0"/>
          </a:p>
          <a:p>
            <a:r>
              <a:rPr dirty="0"/>
              <a:t>・「目視4分類（Dawber）」→「</a:t>
            </a:r>
            <a:r>
              <a:rPr dirty="0" err="1"/>
              <a:t>機械学習による連続量（Cunningham</a:t>
            </a:r>
            <a:r>
              <a:rPr dirty="0"/>
              <a:t>）」</a:t>
            </a:r>
            <a:r>
              <a:rPr dirty="0" err="1"/>
              <a:t>という進み方であり</a:t>
            </a:r>
            <a:r>
              <a:rPr dirty="0"/>
              <a:t>、</a:t>
            </a:r>
          </a:p>
          <a:p>
            <a:r>
              <a:rPr dirty="0"/>
              <a:t>　</a:t>
            </a:r>
            <a:r>
              <a:rPr dirty="0" err="1"/>
              <a:t>連続量化したほうが遺伝率も予後層別化も良くなった、という点が要点</a:t>
            </a:r>
            <a:r>
              <a:rPr dirty="0"/>
              <a:t>。</a:t>
            </a:r>
          </a:p>
          <a:p>
            <a:endParaRPr lang="en-US" dirty="0"/>
          </a:p>
          <a:p>
            <a:r>
              <a:rPr kumimoji="1" lang="ja-JP" altLang="ja-JP" sz="1200" b="0" i="0" kern="1200">
                <a:solidFill>
                  <a:schemeClr val="tx1"/>
                </a:solidFill>
                <a:effectLst/>
                <a:latin typeface="+mn-lt"/>
                <a:ea typeface="+mn-ea"/>
                <a:cs typeface="+mn-cs"/>
              </a:rPr>
              <a:t>バイオバンク型の本質は「凍結保存」と「仮説を先に決めない」ことです。DNA・血清・尿を保存しておけば、10年後に新しい仮説が出たとき、その時点の最新技術で測り直せる。しかも全員を測る必要はなく、発症した人＋対照だけ解凍して測る（コホート内症例対照研究）とコストが激減します。ゲノム解析が前提なので GWAS や多遺伝子リスクスコアが回せる ── Cunningham 2023 が切痕の平滑さで15座位を同定できたのは、この設計だからです。</a:t>
            </a:r>
            <a:endParaRPr dirty="0"/>
          </a:p>
        </p:txBody>
      </p:sp>
      <p:sp>
        <p:nvSpPr>
          <p:cNvPr id="4" name="スライド番号プレースホルダー 3">
            <a:extLst>
              <a:ext uri="{FF2B5EF4-FFF2-40B4-BE49-F238E27FC236}">
                <a16:creationId xmlns:a16="http://schemas.microsoft.com/office/drawing/2014/main" id="{8F29C62D-A119-2EA2-3371-9E500074317A}"/>
              </a:ext>
            </a:extLst>
          </p:cNvPr>
          <p:cNvSpPr>
            <a:spLocks noGrp="1"/>
          </p:cNvSpPr>
          <p:nvPr>
            <p:ph type="sldNum" sz="quarter" idx="5"/>
          </p:nvPr>
        </p:nvSpPr>
        <p:spPr/>
        <p:txBody>
          <a:bodyPr/>
          <a:lstStyle/>
          <a:p>
            <a:fld id="{4368CECF-0771-D84F-8D42-085DB944B0B8}" type="slidenum">
              <a:rPr kumimoji="1" lang="ja-JP" altLang="en-US" smtClean="0"/>
              <a:t>29</a:t>
            </a:fld>
            <a:endParaRPr kumimoji="1" lang="ja-JP" altLang="en-US"/>
          </a:p>
        </p:txBody>
      </p:sp>
    </p:spTree>
    <p:extLst>
      <p:ext uri="{BB962C8B-B14F-4D97-AF65-F5344CB8AC3E}">
        <p14:creationId xmlns:p14="http://schemas.microsoft.com/office/powerpoint/2010/main" val="4798235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DB55C-629D-89EC-D883-6C935AB562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A19F23C-C293-130F-51C8-531067D915F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4EFA6ED-F9D5-3C4A-2539-35007E3DC57F}"/>
              </a:ext>
            </a:extLst>
          </p:cNvPr>
          <p:cNvSpPr>
            <a:spLocks noGrp="1"/>
          </p:cNvSpPr>
          <p:nvPr>
            <p:ph type="body" idx="1"/>
          </p:nvPr>
        </p:nvSpPr>
        <p:spPr/>
        <p:txBody>
          <a:bodyPr/>
          <a:lstStyle/>
          <a:p>
            <a:r>
              <a:rPr dirty="0"/>
              <a:t>UK Biobank </a:t>
            </a:r>
            <a:r>
              <a:rPr dirty="0" err="1"/>
              <a:t>と</a:t>
            </a:r>
            <a:r>
              <a:rPr lang="ja-JP" altLang="en-US"/>
              <a:t>いうコホートからの研究。</a:t>
            </a:r>
            <a:endParaRPr lang="en-US" altLang="ja-JP" dirty="0"/>
          </a:p>
          <a:p>
            <a:r>
              <a:rPr lang="ja-JP" altLang="en-US"/>
              <a:t>英国のバイオバンク型コホートで、</a:t>
            </a:r>
            <a:r>
              <a:rPr lang="en-US" altLang="ja-JP" dirty="0"/>
              <a:t>2006</a:t>
            </a:r>
            <a:r>
              <a:rPr lang="ja-JP" altLang="en-US"/>
              <a:t>年−</a:t>
            </a:r>
            <a:r>
              <a:rPr lang="en-US" altLang="ja-JP" dirty="0"/>
              <a:t>2010</a:t>
            </a:r>
            <a:r>
              <a:rPr lang="ja-JP" altLang="en-US"/>
              <a:t>年の登録期間で</a:t>
            </a:r>
            <a:r>
              <a:rPr lang="en-US" altLang="ja-JP" dirty="0"/>
              <a:t>50</a:t>
            </a:r>
            <a:r>
              <a:rPr lang="ja-JP" altLang="en-US"/>
              <a:t>万人が登録されてます。</a:t>
            </a:r>
            <a:endParaRPr lang="en-US" altLang="ja-JP" dirty="0"/>
          </a:p>
          <a:p>
            <a:r>
              <a:rPr lang="ja-JP" altLang="en-US"/>
              <a:t>評価施設４０キロ圏内の</a:t>
            </a:r>
            <a:r>
              <a:rPr lang="en-US" altLang="ja-JP" dirty="0"/>
              <a:t>920</a:t>
            </a:r>
            <a:r>
              <a:rPr lang="ja-JP" altLang="en-US"/>
              <a:t>万人を招待し、５％程度が応じています。</a:t>
            </a:r>
            <a:endParaRPr lang="en-US" altLang="ja-JP" dirty="0"/>
          </a:p>
          <a:p>
            <a:r>
              <a:rPr lang="ja-JP" altLang="en-US"/>
              <a:t>対象は４０−</a:t>
            </a:r>
            <a:r>
              <a:rPr lang="en-US" altLang="ja-JP" dirty="0"/>
              <a:t>69</a:t>
            </a:r>
            <a:r>
              <a:rPr lang="ja-JP" altLang="en-US"/>
              <a:t>歳で、非対称者と比較し高齢、女性、社会的に恵まれた地域に住んでいることが多い。また自己申告の疾患も少ない。</a:t>
            </a:r>
            <a:endParaRPr lang="en-US" altLang="ja-JP" dirty="0"/>
          </a:p>
          <a:p>
            <a:r>
              <a:rPr lang="ja-JP" altLang="en-US"/>
              <a:t>４０−</a:t>
            </a:r>
            <a:r>
              <a:rPr lang="en-US" altLang="ja-JP" dirty="0"/>
              <a:t>69</a:t>
            </a:r>
            <a:r>
              <a:rPr lang="ja-JP" altLang="en-US"/>
              <a:t>歳までで、今回は</a:t>
            </a:r>
            <a:r>
              <a:rPr lang="en-US" altLang="ja-JP" dirty="0"/>
              <a:t>PPG</a:t>
            </a:r>
            <a:r>
              <a:rPr lang="ja-JP" altLang="en-US"/>
              <a:t>がある</a:t>
            </a:r>
            <a:r>
              <a:rPr lang="en-US" altLang="ja-JP" dirty="0"/>
              <a:t>17</a:t>
            </a:r>
            <a:r>
              <a:rPr lang="ja-JP" altLang="en-US"/>
              <a:t>万人を対象にしている。</a:t>
            </a:r>
            <a:endParaRPr lang="en-US" altLang="ja-JP" dirty="0"/>
          </a:p>
          <a:p>
            <a:r>
              <a:rPr lang="ja-JP" altLang="en-US"/>
              <a:t>バイオバンク型というのは、登録時にさまざまなデータを集めておいて、あとはイベントがあった時に、受診時のデータを追加するというタイプ。何年ごとに集める、ではない。手軽。</a:t>
            </a:r>
            <a:endParaRPr lang="en-US" altLang="ja-JP" dirty="0"/>
          </a:p>
          <a:p>
            <a:endParaRPr lang="en-US" dirty="0"/>
          </a:p>
          <a:p>
            <a:r>
              <a:rPr kumimoji="1" lang="ja-JP" altLang="en-US" sz="1200" b="0" i="0" kern="1200">
                <a:solidFill>
                  <a:schemeClr val="tx1"/>
                </a:solidFill>
                <a:effectLst/>
                <a:latin typeface="+mn-lt"/>
                <a:ea typeface="+mn-ea"/>
                <a:cs typeface="+mn-cs"/>
              </a:rPr>
              <a:t>イングランド、ウェールズ、スコットランドの</a:t>
            </a:r>
            <a:r>
              <a:rPr kumimoji="1" lang="en-US" altLang="ja-JP" sz="1200" b="0" i="0" kern="1200" dirty="0">
                <a:solidFill>
                  <a:schemeClr val="tx1"/>
                </a:solidFill>
                <a:effectLst/>
                <a:latin typeface="+mn-lt"/>
                <a:ea typeface="+mn-ea"/>
                <a:cs typeface="+mn-cs"/>
              </a:rPr>
              <a:t>22</a:t>
            </a:r>
            <a:r>
              <a:rPr kumimoji="1" lang="ja-JP" altLang="en-US" sz="1200" b="0" i="0" kern="1200">
                <a:solidFill>
                  <a:schemeClr val="tx1"/>
                </a:solidFill>
                <a:effectLst/>
                <a:latin typeface="+mn-lt"/>
                <a:ea typeface="+mn-ea"/>
                <a:cs typeface="+mn-cs"/>
              </a:rPr>
              <a:t>カ所の評価センターから半径</a:t>
            </a:r>
            <a:r>
              <a:rPr kumimoji="1" lang="en-US" altLang="ja-JP" sz="1200" b="0" i="0" kern="1200" dirty="0">
                <a:solidFill>
                  <a:schemeClr val="tx1"/>
                </a:solidFill>
                <a:effectLst/>
                <a:latin typeface="+mn-lt"/>
                <a:ea typeface="+mn-ea"/>
                <a:cs typeface="+mn-cs"/>
              </a:rPr>
              <a:t>25</a:t>
            </a:r>
            <a:r>
              <a:rPr kumimoji="1" lang="ja-JP" altLang="en-US" sz="1200" b="0" i="0" kern="1200">
                <a:solidFill>
                  <a:schemeClr val="tx1"/>
                </a:solidFill>
                <a:effectLst/>
                <a:latin typeface="+mn-lt"/>
                <a:ea typeface="+mn-ea"/>
                <a:cs typeface="+mn-cs"/>
              </a:rPr>
              <a:t>マイル</a:t>
            </a:r>
            <a:r>
              <a:rPr kumimoji="1" lang="en-US" altLang="ja-JP" sz="1200" b="0" i="0" kern="1200" dirty="0">
                <a:solidFill>
                  <a:schemeClr val="tx1"/>
                </a:solidFill>
                <a:effectLst/>
                <a:latin typeface="+mn-lt"/>
                <a:ea typeface="+mn-ea"/>
                <a:cs typeface="+mn-cs"/>
              </a:rPr>
              <a:t>(40</a:t>
            </a:r>
            <a:r>
              <a:rPr kumimoji="1" lang="en" altLang="ja-JP" sz="1200" b="0" i="0" kern="1200" dirty="0">
                <a:solidFill>
                  <a:schemeClr val="tx1"/>
                </a:solidFill>
                <a:effectLst/>
                <a:latin typeface="+mn-lt"/>
                <a:ea typeface="+mn-ea"/>
                <a:cs typeface="+mn-cs"/>
              </a:rPr>
              <a:t>km)</a:t>
            </a:r>
            <a:r>
              <a:rPr kumimoji="1" lang="ja-JP" altLang="en-US" sz="1200" b="0" i="0" kern="1200">
                <a:solidFill>
                  <a:schemeClr val="tx1"/>
                </a:solidFill>
                <a:effectLst/>
                <a:latin typeface="+mn-lt"/>
                <a:ea typeface="+mn-ea"/>
                <a:cs typeface="+mn-cs"/>
              </a:rPr>
              <a:t>以内に居住する</a:t>
            </a:r>
            <a:r>
              <a:rPr kumimoji="1" lang="en-US" altLang="ja-JP" sz="1200" b="0" i="0" kern="1200" dirty="0">
                <a:solidFill>
                  <a:schemeClr val="tx1"/>
                </a:solidFill>
                <a:effectLst/>
                <a:latin typeface="+mn-lt"/>
                <a:ea typeface="+mn-ea"/>
                <a:cs typeface="+mn-cs"/>
              </a:rPr>
              <a:t>40〜69</a:t>
            </a:r>
            <a:r>
              <a:rPr kumimoji="1" lang="ja-JP" altLang="en-US" sz="1200" b="0" i="0" kern="1200">
                <a:solidFill>
                  <a:schemeClr val="tx1"/>
                </a:solidFill>
                <a:effectLst/>
                <a:latin typeface="+mn-lt"/>
                <a:ea typeface="+mn-ea"/>
                <a:cs typeface="+mn-cs"/>
              </a:rPr>
              <a:t>歳の約</a:t>
            </a:r>
            <a:r>
              <a:rPr kumimoji="1" lang="en-US" altLang="ja-JP" sz="1200" b="0" i="0" kern="1200" dirty="0">
                <a:solidFill>
                  <a:schemeClr val="tx1"/>
                </a:solidFill>
                <a:effectLst/>
                <a:latin typeface="+mn-lt"/>
                <a:ea typeface="+mn-ea"/>
                <a:cs typeface="+mn-cs"/>
              </a:rPr>
              <a:t>920</a:t>
            </a:r>
            <a:r>
              <a:rPr kumimoji="1" lang="ja-JP" altLang="en-US" sz="1200" b="0" i="0" kern="1200">
                <a:solidFill>
                  <a:schemeClr val="tx1"/>
                </a:solidFill>
                <a:effectLst/>
                <a:latin typeface="+mn-lt"/>
                <a:ea typeface="+mn-ea"/>
                <a:cs typeface="+mn-cs"/>
              </a:rPr>
              <a:t>万人が招待され、実際に参加</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ベースライン評価に応じた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したのはそのうち</a:t>
            </a:r>
            <a:r>
              <a:rPr kumimoji="1" lang="en-US" altLang="ja-JP" sz="1200" b="0" i="0" kern="1200" dirty="0">
                <a:solidFill>
                  <a:schemeClr val="tx1"/>
                </a:solidFill>
                <a:effectLst/>
                <a:latin typeface="+mn-lt"/>
                <a:ea typeface="+mn-ea"/>
                <a:cs typeface="+mn-cs"/>
              </a:rPr>
              <a:t>5.5%</a:t>
            </a:r>
            <a:r>
              <a:rPr kumimoji="1" lang="ja-JP" altLang="en-US" sz="1200" b="0" i="0" kern="1200">
                <a:solidFill>
                  <a:schemeClr val="tx1"/>
                </a:solidFill>
                <a:effectLst/>
                <a:latin typeface="+mn-lt"/>
                <a:ea typeface="+mn-ea"/>
                <a:cs typeface="+mn-cs"/>
              </a:rPr>
              <a:t>だった。都市部・地方部を含む社会経済的・民族的にある程度多様な集団だが、あくまで自発的なボランティアである。 </a:t>
            </a:r>
            <a:r>
              <a:rPr kumimoji="1" lang="en-US" altLang="ja-JP" sz="1200" b="0" i="0" kern="1200" dirty="0">
                <a:solidFill>
                  <a:schemeClr val="tx1"/>
                </a:solidFill>
                <a:effectLst/>
                <a:latin typeface="+mn-lt"/>
                <a:ea typeface="+mn-ea"/>
                <a:cs typeface="+mn-cs"/>
              </a:rPr>
              <a:t>[1][3-4]</a:t>
            </a:r>
          </a:p>
          <a:p>
            <a:r>
              <a:rPr kumimoji="1" lang="ja-JP" altLang="en-US" sz="1200" b="1" i="0" kern="1200">
                <a:solidFill>
                  <a:schemeClr val="tx1"/>
                </a:solidFill>
                <a:effectLst/>
                <a:latin typeface="+mn-lt"/>
                <a:ea typeface="+mn-ea"/>
                <a:cs typeface="+mn-cs"/>
              </a:rPr>
              <a:t>参加者の特徴</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選択バイアス</a:t>
            </a:r>
            <a:r>
              <a:rPr kumimoji="1" lang="en-US" altLang="ja-JP" sz="1200" b="1" i="0" kern="1200" dirty="0">
                <a:solidFill>
                  <a:schemeClr val="tx1"/>
                </a:solidFill>
                <a:effectLst/>
                <a:latin typeface="+mn-lt"/>
                <a:ea typeface="+mn-ea"/>
                <a:cs typeface="+mn-cs"/>
              </a:rPr>
              <a:t>)</a:t>
            </a:r>
            <a:endParaRPr kumimoji="1" lang="ja-JP" altLang="en-US" sz="1200" b="0" i="0" kern="1200">
              <a:solidFill>
                <a:schemeClr val="tx1"/>
              </a:solidFill>
              <a:effectLst/>
              <a:latin typeface="+mn-lt"/>
              <a:ea typeface="+mn-ea"/>
              <a:cs typeface="+mn-cs"/>
            </a:endParaRPr>
          </a:p>
          <a:p>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参加者は非参加者と比較して、</a:t>
            </a:r>
            <a:r>
              <a:rPr kumimoji="1" lang="ja-JP" altLang="en-US" sz="1200" b="1" i="0" kern="1200">
                <a:solidFill>
                  <a:schemeClr val="tx1"/>
                </a:solidFill>
                <a:effectLst/>
                <a:latin typeface="+mn-lt"/>
                <a:ea typeface="+mn-ea"/>
                <a:cs typeface="+mn-cs"/>
              </a:rPr>
              <a:t>高齢</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女性</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社会経済的に恵まれた地域</a:t>
            </a:r>
            <a:r>
              <a:rPr kumimoji="1" lang="ja-JP" altLang="en-US" sz="1200" b="0" i="0" kern="1200">
                <a:solidFill>
                  <a:schemeClr val="tx1"/>
                </a:solidFill>
                <a:effectLst/>
                <a:latin typeface="+mn-lt"/>
                <a:ea typeface="+mn-ea"/>
                <a:cs typeface="+mn-cs"/>
              </a:rPr>
              <a:t>に居住していることが多い。一般集団と比べても肥満、喫煙、毎日の飲酒が少なく、自己申告の健康問題も少ない傾向があり、</a:t>
            </a:r>
            <a:r>
              <a:rPr kumimoji="1" lang="en-US" altLang="ja-JP" sz="1200" b="0" i="0" kern="1200" dirty="0">
                <a:solidFill>
                  <a:schemeClr val="tx1"/>
                </a:solidFill>
                <a:effectLst/>
                <a:latin typeface="+mn-lt"/>
                <a:ea typeface="+mn-ea"/>
                <a:cs typeface="+mn-cs"/>
              </a:rPr>
              <a:t>70〜74</a:t>
            </a:r>
            <a:r>
              <a:rPr kumimoji="1" lang="ja-JP" altLang="en-US" sz="1200" b="0" i="0" kern="1200">
                <a:solidFill>
                  <a:schemeClr val="tx1"/>
                </a:solidFill>
                <a:effectLst/>
                <a:latin typeface="+mn-lt"/>
                <a:ea typeface="+mn-ea"/>
                <a:cs typeface="+mn-cs"/>
              </a:rPr>
              <a:t>歳時点での全死因死亡率は男性で</a:t>
            </a:r>
            <a:r>
              <a:rPr kumimoji="1" lang="en-US" altLang="ja-JP" sz="1200" b="0" i="0" kern="1200" dirty="0">
                <a:solidFill>
                  <a:schemeClr val="tx1"/>
                </a:solidFill>
                <a:effectLst/>
                <a:latin typeface="+mn-lt"/>
                <a:ea typeface="+mn-ea"/>
                <a:cs typeface="+mn-cs"/>
              </a:rPr>
              <a:t>46.2%</a:t>
            </a:r>
            <a:r>
              <a:rPr kumimoji="1" lang="ja-JP" altLang="en-US" sz="1200" b="0" i="0" kern="1200">
                <a:solidFill>
                  <a:schemeClr val="tx1"/>
                </a:solidFill>
                <a:effectLst/>
                <a:latin typeface="+mn-lt"/>
                <a:ea typeface="+mn-ea"/>
                <a:cs typeface="+mn-cs"/>
              </a:rPr>
              <a:t>、女性で</a:t>
            </a:r>
            <a:r>
              <a:rPr kumimoji="1" lang="en-US" altLang="ja-JP" sz="1200" b="0" i="0" kern="1200" dirty="0">
                <a:solidFill>
                  <a:schemeClr val="tx1"/>
                </a:solidFill>
                <a:effectLst/>
                <a:latin typeface="+mn-lt"/>
                <a:ea typeface="+mn-ea"/>
                <a:cs typeface="+mn-cs"/>
              </a:rPr>
              <a:t>55.5%</a:t>
            </a:r>
            <a:r>
              <a:rPr kumimoji="1" lang="ja-JP" altLang="en-US" sz="1200" b="0" i="0" kern="1200">
                <a:solidFill>
                  <a:schemeClr val="tx1"/>
                </a:solidFill>
                <a:effectLst/>
                <a:latin typeface="+mn-lt"/>
                <a:ea typeface="+mn-ea"/>
                <a:cs typeface="+mn-cs"/>
              </a:rPr>
              <a:t>低く、総がん罹患率もそれぞれ</a:t>
            </a:r>
            <a:r>
              <a:rPr kumimoji="1" lang="en-US" altLang="ja-JP" sz="1200" b="0" i="0" kern="1200" dirty="0">
                <a:solidFill>
                  <a:schemeClr val="tx1"/>
                </a:solidFill>
                <a:effectLst/>
                <a:latin typeface="+mn-lt"/>
                <a:ea typeface="+mn-ea"/>
                <a:cs typeface="+mn-cs"/>
              </a:rPr>
              <a:t>11.8%</a:t>
            </a:r>
            <a:r>
              <a:rPr kumimoji="1" lang="ja-JP" altLang="en-US" sz="1200" b="0" i="0" kern="1200">
                <a:solidFill>
                  <a:schemeClr val="tx1"/>
                </a:solidFill>
                <a:effectLst/>
                <a:latin typeface="+mn-lt"/>
                <a:ea typeface="+mn-ea"/>
                <a:cs typeface="+mn-cs"/>
              </a:rPr>
              <a:t>、</a:t>
            </a:r>
            <a:r>
              <a:rPr kumimoji="1" lang="en-US" altLang="ja-JP" sz="1200" b="0" i="0" kern="1200" dirty="0">
                <a:solidFill>
                  <a:schemeClr val="tx1"/>
                </a:solidFill>
                <a:effectLst/>
                <a:latin typeface="+mn-lt"/>
                <a:ea typeface="+mn-ea"/>
                <a:cs typeface="+mn-cs"/>
              </a:rPr>
              <a:t>18.1%</a:t>
            </a:r>
            <a:r>
              <a:rPr kumimoji="1" lang="ja-JP" altLang="en-US" sz="1200" b="0" i="0" kern="1200">
                <a:solidFill>
                  <a:schemeClr val="tx1"/>
                </a:solidFill>
                <a:effectLst/>
                <a:latin typeface="+mn-lt"/>
                <a:ea typeface="+mn-ea"/>
                <a:cs typeface="+mn-cs"/>
              </a:rPr>
              <a:t>低いことが報告されている。これは「健康ボランティアバイアス</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healthy volunteer selection bias)</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と呼ばれ、</a:t>
            </a:r>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は英国の一般集団を代表するものではない点に注意が必要である</a:t>
            </a:r>
          </a:p>
          <a:p>
            <a:endParaRPr dirty="0"/>
          </a:p>
          <a:p>
            <a:endParaRPr dirty="0"/>
          </a:p>
          <a:p>
            <a:r>
              <a:rPr dirty="0"/>
              <a:t>・英国の大規模バイオバンク型前向きコホート。2006〜2010年に、40〜69歳の約50万人を</a:t>
            </a:r>
          </a:p>
          <a:p>
            <a:r>
              <a:rPr dirty="0"/>
              <a:t>　イングランド・スコットランド・ウェールズの22の評価センターで登録した。</a:t>
            </a:r>
          </a:p>
          <a:p>
            <a:r>
              <a:rPr dirty="0"/>
              <a:t>・</a:t>
            </a:r>
            <a:r>
              <a:rPr dirty="0" err="1"/>
              <a:t>登録時に質問票・身体計測・採血（血液・尿・唾液）を行い、以後は国民保健サービス（NHS）の</a:t>
            </a:r>
            <a:endParaRPr dirty="0"/>
          </a:p>
          <a:p>
            <a:r>
              <a:rPr dirty="0"/>
              <a:t>　</a:t>
            </a:r>
            <a:r>
              <a:rPr dirty="0" err="1"/>
              <a:t>医療記録とのリンクによって疾患発症・死亡を追跡する設計。ゲノム解析データも整備されている</a:t>
            </a:r>
            <a:r>
              <a:rPr dirty="0"/>
              <a:t>。</a:t>
            </a:r>
          </a:p>
          <a:p>
            <a:r>
              <a:rPr dirty="0"/>
              <a:t>・</a:t>
            </a:r>
            <a:r>
              <a:rPr dirty="0" err="1"/>
              <a:t>ベースライン評価の中に指尖光電容積脈波（PPG）による動脈スティフネス測定が含まれており</a:t>
            </a:r>
            <a:r>
              <a:rPr dirty="0"/>
              <a:t>、</a:t>
            </a:r>
          </a:p>
          <a:p>
            <a:r>
              <a:rPr dirty="0"/>
              <a:t>　</a:t>
            </a:r>
            <a:r>
              <a:rPr dirty="0" err="1"/>
              <a:t>これが本デックで扱う波形データの出どころ</a:t>
            </a:r>
            <a:r>
              <a:rPr dirty="0"/>
              <a:t>。</a:t>
            </a:r>
          </a:p>
          <a:p>
            <a:endParaRPr dirty="0"/>
          </a:p>
          <a:p>
            <a:r>
              <a:rPr dirty="0" err="1"/>
              <a:t>本デックでの位置づけ</a:t>
            </a:r>
            <a:r>
              <a:rPr dirty="0"/>
              <a:t> — Cunningham JW, et al. Circ </a:t>
            </a:r>
            <a:r>
              <a:rPr dirty="0" err="1"/>
              <a:t>Genom</a:t>
            </a:r>
            <a:r>
              <a:rPr dirty="0"/>
              <a:t> Precis Med 2023;16:e003676</a:t>
            </a:r>
          </a:p>
          <a:p>
            <a:r>
              <a:rPr dirty="0"/>
              <a:t>・</a:t>
            </a:r>
            <a:r>
              <a:rPr dirty="0" err="1"/>
              <a:t>対象：指尖PPGデータを持つ</a:t>
            </a:r>
            <a:r>
              <a:rPr dirty="0"/>
              <a:t> UK Biobank </a:t>
            </a:r>
            <a:r>
              <a:rPr dirty="0" err="1"/>
              <a:t>参加者</a:t>
            </a:r>
            <a:r>
              <a:rPr dirty="0"/>
              <a:t> 169,787名。</a:t>
            </a:r>
          </a:p>
          <a:p>
            <a:r>
              <a:rPr dirty="0"/>
              <a:t>・</a:t>
            </a:r>
            <a:r>
              <a:rPr dirty="0" err="1"/>
              <a:t>従来は「重複切痕が消えているか／いないか」の二値でしか扱えなかったものを、機械学習で</a:t>
            </a:r>
            <a:endParaRPr dirty="0"/>
          </a:p>
          <a:p>
            <a:r>
              <a:rPr dirty="0"/>
              <a:t>　「</a:t>
            </a:r>
            <a:r>
              <a:rPr dirty="0" err="1"/>
              <a:t>切痕の平滑さ（notch</a:t>
            </a:r>
            <a:r>
              <a:rPr dirty="0"/>
              <a:t> smoothness）」</a:t>
            </a:r>
            <a:r>
              <a:rPr dirty="0" err="1"/>
              <a:t>という連続形質に置き換えた</a:t>
            </a:r>
            <a:r>
              <a:rPr dirty="0"/>
              <a:t>。</a:t>
            </a:r>
          </a:p>
          <a:p>
            <a:r>
              <a:rPr dirty="0"/>
              <a:t>・</a:t>
            </a:r>
            <a:r>
              <a:rPr dirty="0" err="1"/>
              <a:t>遺伝率は連続形質</a:t>
            </a:r>
            <a:r>
              <a:rPr dirty="0"/>
              <a:t> 7.5% ＞ </a:t>
            </a:r>
            <a:r>
              <a:rPr dirty="0" err="1"/>
              <a:t>二値形質</a:t>
            </a:r>
            <a:r>
              <a:rPr dirty="0"/>
              <a:t> 5.6%。GWAS で有意15座位（二値では6座位）を同定し、</a:t>
            </a:r>
          </a:p>
          <a:p>
            <a:r>
              <a:rPr dirty="0"/>
              <a:t>　NT5C2（P=1.2×10⁻²⁶）、IGFBP3（P=4.8×10⁻¹⁸）、PHACTR1（P=1.4×10⁻¹³）などが示唆された。</a:t>
            </a:r>
          </a:p>
          <a:p>
            <a:r>
              <a:rPr dirty="0"/>
              <a:t>・</a:t>
            </a:r>
            <a:r>
              <a:rPr dirty="0" err="1"/>
              <a:t>切痕の平滑さは、心筋梗塞／冠動脈疾患・脳卒中・心不全・大動脈弁狭窄症の新規発症リスクを</a:t>
            </a:r>
            <a:endParaRPr dirty="0"/>
          </a:p>
          <a:p>
            <a:r>
              <a:rPr dirty="0"/>
              <a:t>　</a:t>
            </a:r>
            <a:r>
              <a:rPr dirty="0" err="1"/>
              <a:t>層別化した。多遺伝子リスクスコアは</a:t>
            </a:r>
            <a:r>
              <a:rPr dirty="0"/>
              <a:t> PPG </a:t>
            </a:r>
            <a:r>
              <a:rPr dirty="0" err="1"/>
              <a:t>を持たない参加者でも心血管疾患発症と全死亡に関連</a:t>
            </a:r>
            <a:r>
              <a:rPr dirty="0"/>
              <a:t>。</a:t>
            </a:r>
          </a:p>
          <a:p>
            <a:r>
              <a:rPr dirty="0"/>
              <a:t>・</a:t>
            </a:r>
            <a:r>
              <a:rPr dirty="0" err="1"/>
              <a:t>結論：切痕の平滑さは遺伝率をもつ形質で、血管スティフネス関連遺伝子と結びつき</a:t>
            </a:r>
            <a:r>
              <a:rPr dirty="0"/>
              <a:t>、</a:t>
            </a:r>
          </a:p>
          <a:p>
            <a:r>
              <a:rPr dirty="0"/>
              <a:t>　</a:t>
            </a:r>
            <a:r>
              <a:rPr dirty="0" err="1"/>
              <a:t>平滑なほど心血管疾患の発症リスクが高い</a:t>
            </a:r>
            <a:r>
              <a:rPr dirty="0"/>
              <a:t>。</a:t>
            </a:r>
          </a:p>
          <a:p>
            <a:endParaRPr dirty="0"/>
          </a:p>
          <a:p>
            <a:r>
              <a:rPr dirty="0" err="1"/>
              <a:t>口頭で足す但し書き</a:t>
            </a:r>
            <a:endParaRPr dirty="0"/>
          </a:p>
          <a:p>
            <a:r>
              <a:rPr dirty="0"/>
              <a:t>・「目視4分類（Dawber）」→「</a:t>
            </a:r>
            <a:r>
              <a:rPr dirty="0" err="1"/>
              <a:t>機械学習による連続量（Cunningham</a:t>
            </a:r>
            <a:r>
              <a:rPr dirty="0"/>
              <a:t>）」</a:t>
            </a:r>
            <a:r>
              <a:rPr dirty="0" err="1"/>
              <a:t>という進み方であり</a:t>
            </a:r>
            <a:r>
              <a:rPr dirty="0"/>
              <a:t>、</a:t>
            </a:r>
          </a:p>
          <a:p>
            <a:r>
              <a:rPr dirty="0"/>
              <a:t>　</a:t>
            </a:r>
            <a:r>
              <a:rPr dirty="0" err="1"/>
              <a:t>連続量化したほうが遺伝率も予後層別化も良くなった、という点が要点</a:t>
            </a:r>
            <a:r>
              <a:rPr dirty="0"/>
              <a:t>。</a:t>
            </a:r>
          </a:p>
          <a:p>
            <a:endParaRPr lang="en-US" dirty="0"/>
          </a:p>
          <a:p>
            <a:r>
              <a:rPr kumimoji="1" lang="ja-JP" altLang="ja-JP" sz="1200" b="0" i="0" kern="1200">
                <a:solidFill>
                  <a:schemeClr val="tx1"/>
                </a:solidFill>
                <a:effectLst/>
                <a:latin typeface="+mn-lt"/>
                <a:ea typeface="+mn-ea"/>
                <a:cs typeface="+mn-cs"/>
              </a:rPr>
              <a:t>バイオバンク型の本質は「凍結保存」と「仮説を先に決めない」ことです。DNA・血清・尿を保存しておけば、10年後に新しい仮説が出たとき、その時点の最新技術で測り直せる。しかも全員を測る必要はなく、発症した人＋対照だけ解凍して測る（コホート内症例対照研究）とコストが激減します。ゲノム解析が前提なので GWAS や多遺伝子リスクスコアが回せる ── Cunningham 2023 が切痕の平滑さで15座位を同定できたのは、この設計だからです。</a:t>
            </a:r>
            <a:endParaRPr dirty="0"/>
          </a:p>
        </p:txBody>
      </p:sp>
      <p:sp>
        <p:nvSpPr>
          <p:cNvPr id="4" name="スライド番号プレースホルダー 3">
            <a:extLst>
              <a:ext uri="{FF2B5EF4-FFF2-40B4-BE49-F238E27FC236}">
                <a16:creationId xmlns:a16="http://schemas.microsoft.com/office/drawing/2014/main" id="{55D0610D-C30B-7AEB-CEBA-096D8D7F8C95}"/>
              </a:ext>
            </a:extLst>
          </p:cNvPr>
          <p:cNvSpPr>
            <a:spLocks noGrp="1"/>
          </p:cNvSpPr>
          <p:nvPr>
            <p:ph type="sldNum" sz="quarter" idx="5"/>
          </p:nvPr>
        </p:nvSpPr>
        <p:spPr/>
        <p:txBody>
          <a:bodyPr/>
          <a:lstStyle/>
          <a:p>
            <a:fld id="{4368CECF-0771-D84F-8D42-085DB944B0B8}" type="slidenum">
              <a:rPr kumimoji="1" lang="ja-JP" altLang="en-US" smtClean="0"/>
              <a:t>30</a:t>
            </a:fld>
            <a:endParaRPr kumimoji="1" lang="ja-JP" altLang="en-US"/>
          </a:p>
        </p:txBody>
      </p:sp>
    </p:spTree>
    <p:extLst>
      <p:ext uri="{BB962C8B-B14F-4D97-AF65-F5344CB8AC3E}">
        <p14:creationId xmlns:p14="http://schemas.microsoft.com/office/powerpoint/2010/main" val="9029176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78CDA-C244-5D90-E99A-63DA49DD19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4E1933C-2A6D-FE16-CE33-D229B7053D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99F231-DED6-7604-DC14-47A58CC260D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切痕の消失具合を機械学習で分類し、従来の４分類というところから切痕の平滑具合を連続量として扱えるようになった。</a:t>
            </a:r>
            <a:endParaRPr kumimoji="1" lang="en-US" altLang="ja-JP" dirty="0"/>
          </a:p>
          <a:p>
            <a:endParaRPr lang="en-US" altLang="ja-JP" dirty="0"/>
          </a:p>
          <a:p>
            <a:r>
              <a:rPr lang="ja-JP" altLang="en-US"/>
              <a:t>切痕の平滑であるほど、高血圧、心筋梗塞／冠動脈疾患・心不全・死亡のリスク（脳卒中や</a:t>
            </a:r>
            <a:r>
              <a:rPr lang="en-US" altLang="ja-JP" dirty="0"/>
              <a:t>AS</a:t>
            </a:r>
            <a:r>
              <a:rPr lang="ja-JP" altLang="en-US"/>
              <a:t>新規発症も）が高かった。</a:t>
            </a:r>
            <a:endParaRPr lang="en-US" altLang="ja-JP" dirty="0"/>
          </a:p>
          <a:p>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遺伝子解析も行なっており、</a:t>
            </a:r>
            <a:r>
              <a:rPr kumimoji="1" lang="ja-JP" altLang="en-US"/>
              <a:t>切痕を平滑化させる</a:t>
            </a:r>
            <a:r>
              <a:rPr kumimoji="1" lang="en-US" altLang="ja-JP" dirty="0"/>
              <a:t>15</a:t>
            </a:r>
            <a:r>
              <a:rPr kumimoji="1" lang="ja-JP" altLang="en-US"/>
              <a:t>の遺伝子座をゲノムワイド解析で特定</a:t>
            </a:r>
            <a:endParaRPr kumimoji="1" lang="en-US" altLang="ja-JP" dirty="0"/>
          </a:p>
          <a:p>
            <a:endParaRPr lang="en-US" altLang="ja-JP" dirty="0"/>
          </a:p>
          <a:p>
            <a:r>
              <a:rPr lang="ja-JP" altLang="en-US"/>
              <a:t>これによる多遺伝子リスクスコアは </a:t>
            </a:r>
            <a:r>
              <a:rPr lang="en" altLang="ja-JP" dirty="0"/>
              <a:t>PPG </a:t>
            </a:r>
            <a:r>
              <a:rPr lang="ja-JP" altLang="en-US"/>
              <a:t>を持たない参加者でも心血管疾患発症と全死亡に関連。</a:t>
            </a:r>
          </a:p>
        </p:txBody>
      </p:sp>
      <p:sp>
        <p:nvSpPr>
          <p:cNvPr id="4" name="スライド番号プレースホルダー 3">
            <a:extLst>
              <a:ext uri="{FF2B5EF4-FFF2-40B4-BE49-F238E27FC236}">
                <a16:creationId xmlns:a16="http://schemas.microsoft.com/office/drawing/2014/main" id="{54E914DD-09BE-E20B-0E61-4FCE6657E439}"/>
              </a:ext>
            </a:extLst>
          </p:cNvPr>
          <p:cNvSpPr>
            <a:spLocks noGrp="1"/>
          </p:cNvSpPr>
          <p:nvPr>
            <p:ph type="sldNum" sz="quarter" idx="5"/>
          </p:nvPr>
        </p:nvSpPr>
        <p:spPr/>
        <p:txBody>
          <a:bodyPr/>
          <a:lstStyle/>
          <a:p>
            <a:fld id="{4368CECF-0771-D84F-8D42-085DB944B0B8}" type="slidenum">
              <a:rPr kumimoji="1" lang="ja-JP" altLang="en-US" smtClean="0"/>
              <a:t>31</a:t>
            </a:fld>
            <a:endParaRPr kumimoji="1" lang="ja-JP" altLang="en-US"/>
          </a:p>
        </p:txBody>
      </p:sp>
    </p:spTree>
    <p:extLst>
      <p:ext uri="{BB962C8B-B14F-4D97-AF65-F5344CB8AC3E}">
        <p14:creationId xmlns:p14="http://schemas.microsoft.com/office/powerpoint/2010/main" val="2254617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3609D-7C41-BF8A-E3A2-5F38525F4D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D6D1903-B218-C00D-11E3-365FA98CFA1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6209AF-A3BC-BED7-0E13-8B95EF25EE1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登録時に遺伝子解析も行なっており、</a:t>
            </a:r>
            <a:r>
              <a:rPr kumimoji="1" lang="ja-JP" altLang="en-US"/>
              <a:t>切痕を平滑化させる</a:t>
            </a:r>
            <a:r>
              <a:rPr kumimoji="1" lang="en-US" altLang="ja-JP" dirty="0"/>
              <a:t>15</a:t>
            </a:r>
            <a:r>
              <a:rPr kumimoji="1" lang="ja-JP" altLang="en-US"/>
              <a:t>の遺伝子座をゲノムワイド解析で特定</a:t>
            </a:r>
            <a:endParaRPr kumimoji="1" lang="en-US" altLang="ja-JP" dirty="0"/>
          </a:p>
          <a:p>
            <a:endParaRPr lang="en-US" altLang="ja-JP" dirty="0"/>
          </a:p>
          <a:p>
            <a:r>
              <a:rPr lang="ja-JP" altLang="en-US"/>
              <a:t>これによる多遺伝子リスクスコアは </a:t>
            </a:r>
            <a:r>
              <a:rPr lang="en" altLang="ja-JP" dirty="0"/>
              <a:t>PPG </a:t>
            </a:r>
            <a:r>
              <a:rPr lang="ja-JP" altLang="en-US"/>
              <a:t>を持たない参加者でも心血管疾患発症と全死亡に関連</a:t>
            </a:r>
            <a:endParaRPr kumimoji="1" lang="ja-JP" altLang="en-US"/>
          </a:p>
        </p:txBody>
      </p:sp>
      <p:sp>
        <p:nvSpPr>
          <p:cNvPr id="4" name="スライド番号プレースホルダー 3">
            <a:extLst>
              <a:ext uri="{FF2B5EF4-FFF2-40B4-BE49-F238E27FC236}">
                <a16:creationId xmlns:a16="http://schemas.microsoft.com/office/drawing/2014/main" id="{7A4B5DA4-C1B5-68C3-7150-76A418B52C44}"/>
              </a:ext>
            </a:extLst>
          </p:cNvPr>
          <p:cNvSpPr>
            <a:spLocks noGrp="1"/>
          </p:cNvSpPr>
          <p:nvPr>
            <p:ph type="sldNum" sz="quarter" idx="5"/>
          </p:nvPr>
        </p:nvSpPr>
        <p:spPr/>
        <p:txBody>
          <a:bodyPr/>
          <a:lstStyle/>
          <a:p>
            <a:fld id="{4368CECF-0771-D84F-8D42-085DB944B0B8}" type="slidenum">
              <a:rPr kumimoji="1" lang="ja-JP" altLang="en-US" smtClean="0"/>
              <a:t>32</a:t>
            </a:fld>
            <a:endParaRPr kumimoji="1" lang="ja-JP" altLang="en-US"/>
          </a:p>
        </p:txBody>
      </p:sp>
    </p:spTree>
    <p:extLst>
      <p:ext uri="{BB962C8B-B14F-4D97-AF65-F5344CB8AC3E}">
        <p14:creationId xmlns:p14="http://schemas.microsoft.com/office/powerpoint/2010/main" val="10817296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加齢などによる影響で、大血管スティッフネスは上昇する。それに伴い反射波の速度が上昇するため、反射波が早く戻ることになり、収縮機へ融合していくことになる。</a:t>
            </a:r>
            <a:endParaRPr kumimoji="1" lang="en-US" altLang="ja-JP" sz="1200" b="1" i="0" kern="1200" dirty="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動脈硬化が強いほど、速度も早く、結果として切痕が消えて見える。</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前進波も早く伝播するが、長い距離を進む反射波の方が大血管スティッフネス上昇による伝播速度上昇の影響を大きく受ける。</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ja-JP" sz="1200" b="1" i="0" kern="1200">
                <a:solidFill>
                  <a:schemeClr val="tx1"/>
                </a:solidFill>
                <a:effectLst/>
                <a:latin typeface="+mn-lt"/>
                <a:ea typeface="+mn-ea"/>
                <a:cs typeface="+mn-cs"/>
              </a:rPr>
              <a:t>前進波(forward wave)自体もPWV上昇に伴い速く伝播するため、心臓から末梢反射点までの到達時間は短縮する</a:t>
            </a:r>
            <a:r>
              <a:rPr kumimoji="1" lang="ja-JP" altLang="ja-JP" sz="1200" b="0" i="0" kern="1200">
                <a:solidFill>
                  <a:schemeClr val="tx1"/>
                </a:solidFill>
                <a:effectLst/>
                <a:latin typeface="+mn-lt"/>
                <a:ea typeface="+mn-ea"/>
                <a:cs typeface="+mn-cs"/>
              </a:rPr>
              <a:t>。しかし、それでもなお反射波が収縮期後半〜収縮期中に「間に合って」戻ってきてしまう理由は、往復距離(心臓→反射点→心臓)の合計伝播時間が、前進波の心臓からの立ち上がり(駆出時間)そのものよりもはるかに大きく短縮するため</a:t>
            </a:r>
            <a:endParaRPr lang="en-US" dirty="0"/>
          </a:p>
          <a:p>
            <a:endParaRPr lang="en-US" dirty="0"/>
          </a:p>
          <a:p>
            <a:r>
              <a:rPr dirty="0"/>
              <a:t>【2章のまとめ】慢性的な波形変化は「大血管のスティフネス上昇」で説明できる、が締めくくり。</a:t>
            </a:r>
          </a:p>
          <a:p>
            <a:endParaRPr dirty="0"/>
          </a:p>
          <a:p>
            <a:r>
              <a:rPr dirty="0"/>
              <a:t>連鎖（オンスライドの2行）</a:t>
            </a:r>
          </a:p>
          <a:p>
            <a:r>
              <a:rPr dirty="0"/>
              <a:t>　</a:t>
            </a:r>
            <a:r>
              <a:rPr dirty="0" err="1"/>
              <a:t>加齢・動脈硬化</a:t>
            </a:r>
            <a:r>
              <a:rPr dirty="0"/>
              <a:t> → </a:t>
            </a:r>
            <a:r>
              <a:rPr dirty="0" err="1"/>
              <a:t>大血管スティフネス</a:t>
            </a:r>
            <a:r>
              <a:rPr dirty="0"/>
              <a:t>↑ → </a:t>
            </a:r>
            <a:r>
              <a:rPr dirty="0" err="1"/>
              <a:t>脈波伝播速度（PWV</a:t>
            </a:r>
            <a:r>
              <a:rPr dirty="0"/>
              <a:t>）↑</a:t>
            </a:r>
          </a:p>
          <a:p>
            <a:r>
              <a:rPr dirty="0"/>
              <a:t>　→ </a:t>
            </a:r>
            <a:r>
              <a:rPr dirty="0" err="1"/>
              <a:t>反射波が早く戻る</a:t>
            </a:r>
            <a:r>
              <a:rPr dirty="0"/>
              <a:t> → </a:t>
            </a:r>
            <a:r>
              <a:rPr dirty="0" err="1"/>
              <a:t>収縮期ピークへ融合</a:t>
            </a:r>
            <a:r>
              <a:rPr dirty="0"/>
              <a:t> → </a:t>
            </a:r>
            <a:r>
              <a:rPr dirty="0" err="1"/>
              <a:t>重複切痕が消える</a:t>
            </a:r>
            <a:endParaRPr dirty="0"/>
          </a:p>
          <a:p>
            <a:endParaRPr dirty="0"/>
          </a:p>
          <a:p>
            <a:r>
              <a:rPr dirty="0"/>
              <a:t>文献での裏取り（2026-08）</a:t>
            </a:r>
          </a:p>
          <a:p>
            <a:r>
              <a:rPr dirty="0"/>
              <a:t>・</a:t>
            </a:r>
            <a:r>
              <a:rPr dirty="0" err="1"/>
              <a:t>加齢・高血圧で中心弾性動脈が硬くなり、PWV</a:t>
            </a:r>
            <a:r>
              <a:rPr dirty="0"/>
              <a:t> </a:t>
            </a:r>
            <a:r>
              <a:rPr dirty="0" err="1"/>
              <a:t>上昇と反射波の早期帰還により中心収縮期圧・脈圧が増大する</a:t>
            </a:r>
            <a:endParaRPr dirty="0"/>
          </a:p>
          <a:p>
            <a:r>
              <a:rPr dirty="0"/>
              <a:t>　（Nichols WW. Clinical measurement of arterial stiffness obtained from noninvasive pressure waveforms.</a:t>
            </a:r>
          </a:p>
          <a:p>
            <a:r>
              <a:rPr dirty="0"/>
              <a:t>　 Am J </a:t>
            </a:r>
            <a:r>
              <a:rPr dirty="0" err="1"/>
              <a:t>Hypertens</a:t>
            </a:r>
            <a:r>
              <a:rPr dirty="0"/>
              <a:t> 2005;18:3S–10S）。「PWV↑ → </a:t>
            </a:r>
            <a:r>
              <a:rPr dirty="0" err="1"/>
              <a:t>反射波が早く戻る」は総説レベルで確立した記述</a:t>
            </a:r>
            <a:r>
              <a:rPr dirty="0"/>
              <a:t>。</a:t>
            </a:r>
          </a:p>
          <a:p>
            <a:r>
              <a:rPr dirty="0"/>
              <a:t>・</a:t>
            </a:r>
            <a:r>
              <a:rPr dirty="0" err="1"/>
              <a:t>指尖</a:t>
            </a:r>
            <a:r>
              <a:rPr dirty="0"/>
              <a:t> PPG </a:t>
            </a:r>
            <a:r>
              <a:rPr dirty="0" err="1"/>
              <a:t>では、波の伝播速度が反射波の到達時刻を決め、それが重複切痕・拡張期ピークの見え方を左右する</a:t>
            </a:r>
            <a:r>
              <a:rPr dirty="0"/>
              <a:t>。</a:t>
            </a:r>
          </a:p>
          <a:p>
            <a:r>
              <a:rPr dirty="0"/>
              <a:t>　</a:t>
            </a:r>
            <a:r>
              <a:rPr dirty="0" err="1"/>
              <a:t>VascAgeNet</a:t>
            </a:r>
            <a:r>
              <a:rPr dirty="0"/>
              <a:t> </a:t>
            </a:r>
            <a:r>
              <a:rPr dirty="0" err="1"/>
              <a:t>総説は</a:t>
            </a:r>
            <a:r>
              <a:rPr dirty="0"/>
              <a:t> "The speed of pulse wave propagation influences the timing of these waves, and</a:t>
            </a:r>
          </a:p>
          <a:p>
            <a:r>
              <a:rPr dirty="0"/>
              <a:t>　therefore contributes to the dicrotic notch and diastolic peak characteristics." </a:t>
            </a:r>
            <a:r>
              <a:rPr dirty="0" err="1"/>
              <a:t>と明記し</a:t>
            </a:r>
            <a:r>
              <a:rPr dirty="0"/>
              <a:t>、</a:t>
            </a:r>
          </a:p>
          <a:p>
            <a:r>
              <a:rPr dirty="0"/>
              <a:t>　</a:t>
            </a:r>
            <a:r>
              <a:rPr dirty="0" err="1"/>
              <a:t>若年に多い</a:t>
            </a:r>
            <a:r>
              <a:rPr dirty="0"/>
              <a:t> class 1（明瞭な切痕）が加齢とともに減り、高齢では見えなくなる（class 4）と述べる</a:t>
            </a:r>
          </a:p>
          <a:p>
            <a:r>
              <a:rPr dirty="0"/>
              <a:t>　（Charlton PH, et al. Am J </a:t>
            </a:r>
            <a:r>
              <a:rPr dirty="0" err="1"/>
              <a:t>Physiol</a:t>
            </a:r>
            <a:r>
              <a:rPr dirty="0"/>
              <a:t> Heart Circ </a:t>
            </a:r>
            <a:r>
              <a:rPr dirty="0" err="1"/>
              <a:t>Physiol</a:t>
            </a:r>
            <a:r>
              <a:rPr dirty="0"/>
              <a:t> 2022;322:H493–H522）。</a:t>
            </a:r>
          </a:p>
          <a:p>
            <a:r>
              <a:rPr dirty="0"/>
              <a:t>・</a:t>
            </a:r>
            <a:r>
              <a:rPr dirty="0" err="1"/>
              <a:t>指尖</a:t>
            </a:r>
            <a:r>
              <a:rPr dirty="0"/>
              <a:t> DVP </a:t>
            </a:r>
            <a:r>
              <a:rPr dirty="0" err="1"/>
              <a:t>の実測でも、加齢に伴い</a:t>
            </a:r>
            <a:r>
              <a:rPr dirty="0"/>
              <a:t> ΔT（P1→P2）が短縮し SI </a:t>
            </a:r>
            <a:r>
              <a:rPr dirty="0" err="1"/>
              <a:t>が上昇する＝反射波の帰還が早まる</a:t>
            </a:r>
            <a:endParaRPr dirty="0"/>
          </a:p>
          <a:p>
            <a:r>
              <a:rPr dirty="0"/>
              <a:t>　（</a:t>
            </a:r>
            <a:r>
              <a:rPr dirty="0" err="1"/>
              <a:t>Millasseau</a:t>
            </a:r>
            <a:r>
              <a:rPr dirty="0"/>
              <a:t> 2002 Clin Sci 103:371、本デック 5.1）。</a:t>
            </a:r>
          </a:p>
          <a:p>
            <a:r>
              <a:rPr dirty="0"/>
              <a:t>・</a:t>
            </a:r>
            <a:r>
              <a:rPr dirty="0" err="1"/>
              <a:t>切痕の消失そのものが加齢・心血管疾患と結びつくことは</a:t>
            </a:r>
            <a:r>
              <a:rPr dirty="0"/>
              <a:t> Dawber 1973（4分類）と</a:t>
            </a:r>
          </a:p>
          <a:p>
            <a:r>
              <a:rPr dirty="0"/>
              <a:t>　Cunningham 2023（UK Biobank 17万例・機械学習）で示されている。</a:t>
            </a:r>
          </a:p>
          <a:p>
            <a:endParaRPr dirty="0"/>
          </a:p>
          <a:p>
            <a:r>
              <a:rPr dirty="0" err="1"/>
              <a:t>口頭で足す但し書き</a:t>
            </a:r>
            <a:endParaRPr dirty="0"/>
          </a:p>
          <a:p>
            <a:r>
              <a:rPr dirty="0"/>
              <a:t>・</a:t>
            </a:r>
            <a:r>
              <a:rPr dirty="0" err="1"/>
              <a:t>中枢動脈の</a:t>
            </a:r>
            <a:r>
              <a:rPr dirty="0"/>
              <a:t> </a:t>
            </a:r>
            <a:r>
              <a:rPr dirty="0" err="1"/>
              <a:t>incisura（大動脈弁閉鎖に伴う切痕）と、末梢</a:t>
            </a:r>
            <a:r>
              <a:rPr dirty="0"/>
              <a:t> PPG </a:t>
            </a:r>
            <a:r>
              <a:rPr dirty="0" err="1"/>
              <a:t>の拡張期ピーク／切痕は本来別の現象</a:t>
            </a:r>
            <a:r>
              <a:rPr dirty="0"/>
              <a:t>。</a:t>
            </a:r>
          </a:p>
          <a:p>
            <a:r>
              <a:rPr dirty="0"/>
              <a:t>　</a:t>
            </a:r>
            <a:r>
              <a:rPr dirty="0" err="1"/>
              <a:t>ここで言う「切痕が消える」は末梢</a:t>
            </a:r>
            <a:r>
              <a:rPr dirty="0"/>
              <a:t> PPG の話（1.4 </a:t>
            </a:r>
            <a:r>
              <a:rPr dirty="0" err="1"/>
              <a:t>のノート参照</a:t>
            </a:r>
            <a:r>
              <a:rPr dirty="0"/>
              <a:t>）。</a:t>
            </a:r>
          </a:p>
          <a:p>
            <a:r>
              <a:rPr dirty="0"/>
              <a:t>・反射部位は1点ではなく動脈系に分布しており、「実効的な反射」を1点に集約した説明であること。</a:t>
            </a:r>
          </a:p>
          <a:p>
            <a:r>
              <a:rPr dirty="0"/>
              <a:t>・この章は安静時・慢性（構造）の変化。急性の変化（血管トーヌス）は3章・4章で扱う。</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33</a:t>
            </a:fld>
            <a:endParaRPr kumimoji="1" lang="ja-JP" altLang="en-US"/>
          </a:p>
        </p:txBody>
      </p:sp>
    </p:spTree>
    <p:extLst>
      <p:ext uri="{BB962C8B-B14F-4D97-AF65-F5344CB8AC3E}">
        <p14:creationId xmlns:p14="http://schemas.microsoft.com/office/powerpoint/2010/main" val="34649596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98FFD-F708-620D-4613-1FFE553826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2BA34D-5B89-5DD1-1074-526118FD8DE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B97420-6DE7-10D6-846C-162B37C6DA1F}"/>
              </a:ext>
            </a:extLst>
          </p:cNvPr>
          <p:cNvSpPr>
            <a:spLocks noGrp="1"/>
          </p:cNvSpPr>
          <p:nvPr>
            <p:ph type="body" idx="1"/>
          </p:nvPr>
        </p:nvSpPr>
        <p:spPr/>
        <p:txBody>
          <a:bodyPr/>
          <a:lstStyle/>
          <a:p>
            <a:r>
              <a:rPr dirty="0"/>
              <a:t>【2章のまとめ】慢性的な波形変化は「大血管のスティフネス上昇」で説明できる、が締めくくり。</a:t>
            </a:r>
          </a:p>
          <a:p>
            <a:endParaRPr dirty="0"/>
          </a:p>
          <a:p>
            <a:r>
              <a:rPr dirty="0"/>
              <a:t>連鎖（オンスライドの2行）</a:t>
            </a:r>
          </a:p>
          <a:p>
            <a:r>
              <a:rPr dirty="0"/>
              <a:t>　</a:t>
            </a:r>
            <a:r>
              <a:rPr dirty="0" err="1"/>
              <a:t>加齢・動脈硬化</a:t>
            </a:r>
            <a:r>
              <a:rPr dirty="0"/>
              <a:t> → </a:t>
            </a:r>
            <a:r>
              <a:rPr dirty="0" err="1"/>
              <a:t>大血管スティフネス</a:t>
            </a:r>
            <a:r>
              <a:rPr dirty="0"/>
              <a:t>↑ → </a:t>
            </a:r>
            <a:r>
              <a:rPr dirty="0" err="1"/>
              <a:t>脈波伝播速度（PWV</a:t>
            </a:r>
            <a:r>
              <a:rPr dirty="0"/>
              <a:t>）↑</a:t>
            </a:r>
          </a:p>
          <a:p>
            <a:r>
              <a:rPr dirty="0"/>
              <a:t>　→ </a:t>
            </a:r>
            <a:r>
              <a:rPr dirty="0" err="1"/>
              <a:t>反射波が早く戻る</a:t>
            </a:r>
            <a:r>
              <a:rPr dirty="0"/>
              <a:t> → </a:t>
            </a:r>
            <a:r>
              <a:rPr dirty="0" err="1"/>
              <a:t>収縮期ピークへ融合</a:t>
            </a:r>
            <a:r>
              <a:rPr dirty="0"/>
              <a:t> → </a:t>
            </a:r>
            <a:r>
              <a:rPr dirty="0" err="1"/>
              <a:t>重複切痕が消える</a:t>
            </a:r>
            <a:endParaRPr dirty="0"/>
          </a:p>
          <a:p>
            <a:endParaRPr dirty="0"/>
          </a:p>
          <a:p>
            <a:r>
              <a:rPr dirty="0"/>
              <a:t>文献での裏取り（2026-08）</a:t>
            </a:r>
          </a:p>
          <a:p>
            <a:r>
              <a:rPr dirty="0"/>
              <a:t>・</a:t>
            </a:r>
            <a:r>
              <a:rPr dirty="0" err="1"/>
              <a:t>加齢・高血圧で中心弾性動脈が硬くなり、PWV</a:t>
            </a:r>
            <a:r>
              <a:rPr dirty="0"/>
              <a:t> </a:t>
            </a:r>
            <a:r>
              <a:rPr dirty="0" err="1"/>
              <a:t>上昇と反射波の早期帰還により中心収縮期圧・脈圧が増大する</a:t>
            </a:r>
            <a:endParaRPr dirty="0"/>
          </a:p>
          <a:p>
            <a:r>
              <a:rPr dirty="0"/>
              <a:t>　（Nichols WW. Clinical measurement of arterial stiffness obtained from noninvasive pressure waveforms.</a:t>
            </a:r>
          </a:p>
          <a:p>
            <a:r>
              <a:rPr dirty="0"/>
              <a:t>　 Am J </a:t>
            </a:r>
            <a:r>
              <a:rPr dirty="0" err="1"/>
              <a:t>Hypertens</a:t>
            </a:r>
            <a:r>
              <a:rPr dirty="0"/>
              <a:t> 2005;18:3S–10S）。「PWV↑ → </a:t>
            </a:r>
            <a:r>
              <a:rPr dirty="0" err="1"/>
              <a:t>反射波が早く戻る」は総説レベルで確立した記述</a:t>
            </a:r>
            <a:r>
              <a:rPr dirty="0"/>
              <a:t>。</a:t>
            </a:r>
          </a:p>
          <a:p>
            <a:r>
              <a:rPr dirty="0"/>
              <a:t>・</a:t>
            </a:r>
            <a:r>
              <a:rPr dirty="0" err="1"/>
              <a:t>指尖</a:t>
            </a:r>
            <a:r>
              <a:rPr dirty="0"/>
              <a:t> PPG </a:t>
            </a:r>
            <a:r>
              <a:rPr dirty="0" err="1"/>
              <a:t>では、波の伝播速度が反射波の到達時刻を決め、それが重複切痕・拡張期ピークの見え方を左右する</a:t>
            </a:r>
            <a:r>
              <a:rPr dirty="0"/>
              <a:t>。</a:t>
            </a:r>
          </a:p>
          <a:p>
            <a:r>
              <a:rPr dirty="0"/>
              <a:t>　</a:t>
            </a:r>
            <a:r>
              <a:rPr dirty="0" err="1"/>
              <a:t>VascAgeNet</a:t>
            </a:r>
            <a:r>
              <a:rPr dirty="0"/>
              <a:t> </a:t>
            </a:r>
            <a:r>
              <a:rPr dirty="0" err="1"/>
              <a:t>総説は</a:t>
            </a:r>
            <a:r>
              <a:rPr dirty="0"/>
              <a:t> "The speed of pulse wave propagation influences the timing of these waves, and</a:t>
            </a:r>
          </a:p>
          <a:p>
            <a:r>
              <a:rPr dirty="0"/>
              <a:t>　therefore contributes to the dicrotic notch and diastolic peak characteristics." </a:t>
            </a:r>
            <a:r>
              <a:rPr dirty="0" err="1"/>
              <a:t>と明記し</a:t>
            </a:r>
            <a:r>
              <a:rPr dirty="0"/>
              <a:t>、</a:t>
            </a:r>
          </a:p>
          <a:p>
            <a:r>
              <a:rPr dirty="0"/>
              <a:t>　</a:t>
            </a:r>
            <a:r>
              <a:rPr dirty="0" err="1"/>
              <a:t>若年に多い</a:t>
            </a:r>
            <a:r>
              <a:rPr dirty="0"/>
              <a:t> class 1（明瞭な切痕）が加齢とともに減り、高齢では見えなくなる（class 4）と述べる</a:t>
            </a:r>
          </a:p>
          <a:p>
            <a:r>
              <a:rPr dirty="0"/>
              <a:t>　（Charlton PH, et al. Am J </a:t>
            </a:r>
            <a:r>
              <a:rPr dirty="0" err="1"/>
              <a:t>Physiol</a:t>
            </a:r>
            <a:r>
              <a:rPr dirty="0"/>
              <a:t> Heart Circ </a:t>
            </a:r>
            <a:r>
              <a:rPr dirty="0" err="1"/>
              <a:t>Physiol</a:t>
            </a:r>
            <a:r>
              <a:rPr dirty="0"/>
              <a:t> 2022;322:H493–H522）。</a:t>
            </a:r>
          </a:p>
          <a:p>
            <a:r>
              <a:rPr dirty="0"/>
              <a:t>・</a:t>
            </a:r>
            <a:r>
              <a:rPr dirty="0" err="1"/>
              <a:t>指尖</a:t>
            </a:r>
            <a:r>
              <a:rPr dirty="0"/>
              <a:t> DVP </a:t>
            </a:r>
            <a:r>
              <a:rPr dirty="0" err="1"/>
              <a:t>の実測でも、加齢に伴い</a:t>
            </a:r>
            <a:r>
              <a:rPr dirty="0"/>
              <a:t> ΔT（P1→P2）が短縮し SI </a:t>
            </a:r>
            <a:r>
              <a:rPr dirty="0" err="1"/>
              <a:t>が上昇する＝反射波の帰還が早まる</a:t>
            </a:r>
            <a:endParaRPr dirty="0"/>
          </a:p>
          <a:p>
            <a:r>
              <a:rPr dirty="0"/>
              <a:t>　（</a:t>
            </a:r>
            <a:r>
              <a:rPr dirty="0" err="1"/>
              <a:t>Millasseau</a:t>
            </a:r>
            <a:r>
              <a:rPr dirty="0"/>
              <a:t> 2002 Clin Sci 103:371、本デック 5.1）。</a:t>
            </a:r>
          </a:p>
          <a:p>
            <a:r>
              <a:rPr dirty="0"/>
              <a:t>・</a:t>
            </a:r>
            <a:r>
              <a:rPr dirty="0" err="1"/>
              <a:t>切痕の消失そのものが加齢・心血管疾患と結びつくことは</a:t>
            </a:r>
            <a:r>
              <a:rPr dirty="0"/>
              <a:t> Dawber 1973（4分類）と</a:t>
            </a:r>
          </a:p>
          <a:p>
            <a:r>
              <a:rPr dirty="0"/>
              <a:t>　Cunningham 2023（UK Biobank 17万例・機械学習）で示されている。</a:t>
            </a:r>
          </a:p>
          <a:p>
            <a:endParaRPr dirty="0"/>
          </a:p>
          <a:p>
            <a:r>
              <a:rPr dirty="0" err="1"/>
              <a:t>口頭で足す但し書き</a:t>
            </a:r>
            <a:endParaRPr dirty="0"/>
          </a:p>
          <a:p>
            <a:r>
              <a:rPr dirty="0"/>
              <a:t>・</a:t>
            </a:r>
            <a:r>
              <a:rPr dirty="0" err="1"/>
              <a:t>中枢動脈の</a:t>
            </a:r>
            <a:r>
              <a:rPr dirty="0"/>
              <a:t> </a:t>
            </a:r>
            <a:r>
              <a:rPr dirty="0" err="1"/>
              <a:t>incisura（大動脈弁閉鎖に伴う切痕）と、末梢</a:t>
            </a:r>
            <a:r>
              <a:rPr dirty="0"/>
              <a:t> PPG </a:t>
            </a:r>
            <a:r>
              <a:rPr dirty="0" err="1"/>
              <a:t>の拡張期ピーク／切痕は本来別の現象</a:t>
            </a:r>
            <a:r>
              <a:rPr dirty="0"/>
              <a:t>。</a:t>
            </a:r>
          </a:p>
          <a:p>
            <a:r>
              <a:rPr dirty="0"/>
              <a:t>　</a:t>
            </a:r>
            <a:r>
              <a:rPr dirty="0" err="1"/>
              <a:t>ここで言う「切痕が消える」は末梢</a:t>
            </a:r>
            <a:r>
              <a:rPr dirty="0"/>
              <a:t> PPG の話（1.4 </a:t>
            </a:r>
            <a:r>
              <a:rPr dirty="0" err="1"/>
              <a:t>のノート参照</a:t>
            </a:r>
            <a:r>
              <a:rPr dirty="0"/>
              <a:t>）。</a:t>
            </a:r>
          </a:p>
          <a:p>
            <a:r>
              <a:rPr dirty="0"/>
              <a:t>・反射部位は1点ではなく動脈系に分布しており、「実効的な反射」を1点に集約した説明であること。</a:t>
            </a:r>
          </a:p>
          <a:p>
            <a:r>
              <a:rPr dirty="0"/>
              <a:t>・この章は安静時・慢性（構造）の変化。急性の変化（血管トーヌス）は3章・4章で扱う。</a:t>
            </a:r>
          </a:p>
        </p:txBody>
      </p:sp>
      <p:sp>
        <p:nvSpPr>
          <p:cNvPr id="4" name="スライド番号プレースホルダー 3">
            <a:extLst>
              <a:ext uri="{FF2B5EF4-FFF2-40B4-BE49-F238E27FC236}">
                <a16:creationId xmlns:a16="http://schemas.microsoft.com/office/drawing/2014/main" id="{4CBC0082-A5B3-654F-FC40-DD924233A42B}"/>
              </a:ext>
            </a:extLst>
          </p:cNvPr>
          <p:cNvSpPr>
            <a:spLocks noGrp="1"/>
          </p:cNvSpPr>
          <p:nvPr>
            <p:ph type="sldNum" sz="quarter" idx="5"/>
          </p:nvPr>
        </p:nvSpPr>
        <p:spPr/>
        <p:txBody>
          <a:bodyPr/>
          <a:lstStyle/>
          <a:p>
            <a:fld id="{4368CECF-0771-D84F-8D42-085DB944B0B8}" type="slidenum">
              <a:rPr kumimoji="1" lang="ja-JP" altLang="en-US" smtClean="0"/>
              <a:t>34</a:t>
            </a:fld>
            <a:endParaRPr kumimoji="1" lang="ja-JP" altLang="en-US"/>
          </a:p>
        </p:txBody>
      </p:sp>
    </p:spTree>
    <p:extLst>
      <p:ext uri="{BB962C8B-B14F-4D97-AF65-F5344CB8AC3E}">
        <p14:creationId xmlns:p14="http://schemas.microsoft.com/office/powerpoint/2010/main" val="4558293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BC4B-DC9F-A085-F30C-25A3CFE993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89D6EAB-2FE2-810A-A5CB-A93E95B845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F2526D0-6E90-7DB1-AB72-BE81DBBF9E4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自発呼吸下の健常ボランティア十一人　下半身陰圧</a:t>
            </a:r>
            <a:r>
              <a:rPr kumimoji="1" lang="en-US" altLang="ja-JP" dirty="0"/>
              <a:t>Lower body negative pressure</a:t>
            </a:r>
            <a:r>
              <a:rPr kumimoji="1" lang="ja-JP" altLang="en-US"/>
              <a:t>で循環血液量減少を再現し</a:t>
            </a:r>
            <a:r>
              <a:rPr kumimoji="1" lang="en-US" altLang="ja-JP" dirty="0"/>
              <a:t>PPG</a:t>
            </a:r>
            <a:r>
              <a:rPr kumimoji="1" lang="ja-JP" altLang="en-US"/>
              <a:t>パラメータの変化を検討する目的</a:t>
            </a:r>
            <a:endParaRPr kumimoji="1" lang="en-US" altLang="ja-JP" dirty="0"/>
          </a:p>
          <a:p>
            <a:r>
              <a:rPr kumimoji="1" lang="ja-JP" altLang="en-US" sz="1200" kern="1200">
                <a:solidFill>
                  <a:schemeClr val="tx1"/>
                </a:solidFill>
                <a:effectLst/>
                <a:latin typeface="+mn-lt"/>
                <a:ea typeface="+mn-ea"/>
                <a:cs typeface="+mn-cs"/>
              </a:rPr>
              <a:t>ネオプレン製のスカートによって腸骨稜（</a:t>
            </a:r>
            <a:r>
              <a:rPr kumimoji="1" lang="en" altLang="ja-JP" sz="1200" kern="1200" dirty="0">
                <a:solidFill>
                  <a:schemeClr val="tx1"/>
                </a:solidFill>
                <a:effectLst/>
                <a:latin typeface="+mn-lt"/>
                <a:ea typeface="+mn-ea"/>
                <a:cs typeface="+mn-cs"/>
              </a:rPr>
              <a:t>iliac crest</a:t>
            </a:r>
            <a:r>
              <a:rPr kumimoji="1" lang="ja-JP" altLang="en" sz="1200" kern="1200">
                <a:solidFill>
                  <a:schemeClr val="tx1"/>
                </a:solidFill>
                <a:effectLst/>
                <a:latin typeface="+mn-lt"/>
                <a:ea typeface="+mn-ea"/>
                <a:cs typeface="+mn-cs"/>
              </a:rPr>
              <a:t>）</a:t>
            </a:r>
            <a:r>
              <a:rPr kumimoji="1" lang="ja-JP" altLang="en-US" sz="1200" kern="1200">
                <a:solidFill>
                  <a:schemeClr val="tx1"/>
                </a:solidFill>
                <a:effectLst/>
                <a:latin typeface="+mn-lt"/>
                <a:ea typeface="+mn-ea"/>
                <a:cs typeface="+mn-cs"/>
              </a:rPr>
              <a:t>の高さで密閉された気密チャンバー内に仰臥位で配置</a:t>
            </a:r>
            <a:endParaRPr kumimoji="1" lang="en-US" altLang="ja-JP" dirty="0"/>
          </a:p>
          <a:p>
            <a:r>
              <a:rPr kumimoji="1" lang="ja-JP" altLang="en-US" sz="1200" kern="1200">
                <a:solidFill>
                  <a:schemeClr val="tx1"/>
                </a:solidFill>
                <a:effectLst/>
                <a:latin typeface="+mn-lt"/>
                <a:ea typeface="+mn-ea"/>
                <a:cs typeface="+mn-cs"/>
              </a:rPr>
              <a:t>ベースライン、</a:t>
            </a:r>
            <a:r>
              <a:rPr kumimoji="1" lang="en-US" altLang="ja-JP" sz="1200" kern="1200" dirty="0">
                <a:solidFill>
                  <a:schemeClr val="tx1"/>
                </a:solidFill>
                <a:effectLst/>
                <a:latin typeface="+mn-lt"/>
                <a:ea typeface="+mn-ea"/>
                <a:cs typeface="+mn-cs"/>
              </a:rPr>
              <a:t>30</a:t>
            </a:r>
            <a:r>
              <a:rPr kumimoji="1" lang="ja-JP" altLang="en-US" sz="1200" kern="120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75</a:t>
            </a:r>
            <a:r>
              <a:rPr kumimoji="1" lang="ja-JP" altLang="en-US" sz="1200" kern="120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90 </a:t>
            </a:r>
            <a:r>
              <a:rPr kumimoji="1" lang="en" altLang="ja-JP" sz="1200" kern="1200" dirty="0">
                <a:solidFill>
                  <a:schemeClr val="tx1"/>
                </a:solidFill>
                <a:effectLst/>
                <a:latin typeface="+mn-lt"/>
                <a:ea typeface="+mn-ea"/>
                <a:cs typeface="+mn-cs"/>
              </a:rPr>
              <a:t>mmHg</a:t>
            </a:r>
            <a:r>
              <a:rPr kumimoji="1" lang="ja-JP" altLang="en" sz="1200" kern="1200">
                <a:solidFill>
                  <a:schemeClr val="tx1"/>
                </a:solidFill>
                <a:effectLst/>
                <a:latin typeface="+mn-lt"/>
                <a:ea typeface="+mn-ea"/>
                <a:cs typeface="+mn-cs"/>
              </a:rPr>
              <a:t>（</a:t>
            </a:r>
            <a:r>
              <a:rPr kumimoji="1" lang="ja-JP" altLang="en-US" sz="1200" kern="1200">
                <a:solidFill>
                  <a:schemeClr val="tx1"/>
                </a:solidFill>
                <a:effectLst/>
                <a:latin typeface="+mn-lt"/>
                <a:ea typeface="+mn-ea"/>
                <a:cs typeface="+mn-cs"/>
              </a:rPr>
              <a:t>あるいは被験者が症状を呈するまで）の</a:t>
            </a:r>
            <a:r>
              <a:rPr kumimoji="1" lang="en" altLang="ja-JP" sz="1200" kern="1200" dirty="0">
                <a:solidFill>
                  <a:schemeClr val="tx1"/>
                </a:solidFill>
                <a:effectLst/>
                <a:latin typeface="+mn-lt"/>
                <a:ea typeface="+mn-ea"/>
                <a:cs typeface="+mn-cs"/>
              </a:rPr>
              <a:t>LBNP</a:t>
            </a:r>
            <a:r>
              <a:rPr kumimoji="1" lang="ja-JP" altLang="en-US" sz="1200" kern="1200">
                <a:solidFill>
                  <a:schemeClr val="tx1"/>
                </a:solidFill>
                <a:effectLst/>
                <a:latin typeface="+mn-lt"/>
                <a:ea typeface="+mn-ea"/>
                <a:cs typeface="+mn-cs"/>
              </a:rPr>
              <a:t>プロトコルを実施し、</a:t>
            </a:r>
            <a:r>
              <a:rPr kumimoji="1" lang="en-US" altLang="ja-JP" sz="1200" kern="1200" dirty="0">
                <a:solidFill>
                  <a:schemeClr val="tx1"/>
                </a:solidFill>
                <a:effectLst/>
                <a:latin typeface="+mn-lt"/>
                <a:ea typeface="+mn-ea"/>
                <a:cs typeface="+mn-cs"/>
              </a:rPr>
              <a:t>PPG</a:t>
            </a:r>
            <a:r>
              <a:rPr kumimoji="1" lang="ja-JP" altLang="en-US" sz="1200" kern="1200">
                <a:solidFill>
                  <a:schemeClr val="tx1"/>
                </a:solidFill>
                <a:effectLst/>
                <a:latin typeface="+mn-lt"/>
                <a:ea typeface="+mn-ea"/>
                <a:cs typeface="+mn-cs"/>
              </a:rPr>
              <a:t>波形の</a:t>
            </a:r>
            <a:r>
              <a:rPr lang="ja-JP" altLang="en-US" sz="1200"/>
              <a:t>ピーク、高さ、幅、傾斜、面積の項目を検討した。</a:t>
            </a:r>
            <a:endParaRPr kumimoji="1" lang="ja-JP" alt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a:p>
            <a:endParaRPr kumimoji="1" lang="en-US" altLang="ja-JP" dirty="0"/>
          </a:p>
          <a:p>
            <a:endParaRPr kumimoji="1" lang="en-US" altLang="ja-JP" dirty="0"/>
          </a:p>
          <a:p>
            <a:r>
              <a:rPr kumimoji="1" lang="en-US" altLang="ja-JP" dirty="0" err="1"/>
              <a:t>cannesson</a:t>
            </a:r>
            <a:r>
              <a:rPr kumimoji="1" lang="en-US" altLang="ja-JP" dirty="0"/>
              <a:t> 2005</a:t>
            </a:r>
            <a:r>
              <a:rPr kumimoji="1" lang="ja-JP" altLang="en-US"/>
              <a:t>の</a:t>
            </a:r>
            <a:r>
              <a:rPr kumimoji="1" lang="en-US" altLang="ja-JP" dirty="0"/>
              <a:t>ΔPOP</a:t>
            </a:r>
            <a:r>
              <a:rPr kumimoji="1" lang="ja-JP" altLang="en-US"/>
              <a:t>も評価していいのか</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72A279B0-5167-1C6E-DCCB-AEE8E8CB8326}"/>
              </a:ext>
            </a:extLst>
          </p:cNvPr>
          <p:cNvSpPr>
            <a:spLocks noGrp="1"/>
          </p:cNvSpPr>
          <p:nvPr>
            <p:ph type="sldNum" sz="quarter" idx="5"/>
          </p:nvPr>
        </p:nvSpPr>
        <p:spPr/>
        <p:txBody>
          <a:bodyPr/>
          <a:lstStyle/>
          <a:p>
            <a:fld id="{4368CECF-0771-D84F-8D42-085DB944B0B8}" type="slidenum">
              <a:rPr kumimoji="1" lang="ja-JP" altLang="en-US" smtClean="0"/>
              <a:t>36</a:t>
            </a:fld>
            <a:endParaRPr kumimoji="1" lang="ja-JP" altLang="en-US"/>
          </a:p>
        </p:txBody>
      </p:sp>
    </p:spTree>
    <p:extLst>
      <p:ext uri="{BB962C8B-B14F-4D97-AF65-F5344CB8AC3E}">
        <p14:creationId xmlns:p14="http://schemas.microsoft.com/office/powerpoint/2010/main" val="21658910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073E1-4312-9B21-BA1D-996C5C4F715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7E9EDCF-117E-0918-9304-CCB70B50F36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BBE0123-27DA-D6F5-38B5-3556EF72B8B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結果として下半身の陰圧が強いほど、</a:t>
            </a:r>
            <a:r>
              <a:rPr lang="ja-JP" altLang="en-US" sz="1200"/>
              <a:t>高さ、幅、傾斜が低下した。</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波形上は右のように振幅が低下し潰れたような波形になる。そして陰圧を解除すると元に戻る。</a:t>
            </a:r>
            <a:endParaRPr kumimoji="1" lang="ja-JP" altLang="en-US"/>
          </a:p>
          <a:p>
            <a:endParaRPr kumimoji="1" lang="en-US" altLang="ja-JP" dirty="0"/>
          </a:p>
        </p:txBody>
      </p:sp>
      <p:sp>
        <p:nvSpPr>
          <p:cNvPr id="4" name="スライド番号プレースホルダー 3">
            <a:extLst>
              <a:ext uri="{FF2B5EF4-FFF2-40B4-BE49-F238E27FC236}">
                <a16:creationId xmlns:a16="http://schemas.microsoft.com/office/drawing/2014/main" id="{D88FE6EA-E664-BA4E-4E28-B897D67A1F6E}"/>
              </a:ext>
            </a:extLst>
          </p:cNvPr>
          <p:cNvSpPr>
            <a:spLocks noGrp="1"/>
          </p:cNvSpPr>
          <p:nvPr>
            <p:ph type="sldNum" sz="quarter" idx="5"/>
          </p:nvPr>
        </p:nvSpPr>
        <p:spPr/>
        <p:txBody>
          <a:bodyPr/>
          <a:lstStyle/>
          <a:p>
            <a:fld id="{4368CECF-0771-D84F-8D42-085DB944B0B8}" type="slidenum">
              <a:rPr kumimoji="1" lang="ja-JP" altLang="en-US" smtClean="0"/>
              <a:t>37</a:t>
            </a:fld>
            <a:endParaRPr kumimoji="1" lang="ja-JP" altLang="en-US"/>
          </a:p>
        </p:txBody>
      </p:sp>
    </p:spTree>
    <p:extLst>
      <p:ext uri="{BB962C8B-B14F-4D97-AF65-F5344CB8AC3E}">
        <p14:creationId xmlns:p14="http://schemas.microsoft.com/office/powerpoint/2010/main" val="8244533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EDB65-9ADD-5BDA-BEB2-E0443EC52D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002C2C-3E13-C69B-4B7D-95A8A560E16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3994529-8A50-B8B4-55E0-93AF5B28646D}"/>
              </a:ext>
            </a:extLst>
          </p:cNvPr>
          <p:cNvSpPr>
            <a:spLocks noGrp="1"/>
          </p:cNvSpPr>
          <p:nvPr>
            <p:ph type="body" idx="1"/>
          </p:nvPr>
        </p:nvSpPr>
        <p:spPr/>
        <p:txBody>
          <a:bodyPr/>
          <a:lstStyle/>
          <a:p>
            <a:r>
              <a:rPr lang="en-US" dirty="0" err="1"/>
              <a:t>続いて末梢血管トーヌスの影響について</a:t>
            </a:r>
            <a:r>
              <a:rPr lang="en-US" dirty="0"/>
              <a:t>。</a:t>
            </a:r>
          </a:p>
          <a:p>
            <a:r>
              <a:rPr lang="en-US" dirty="0" err="1"/>
              <a:t>健常成人ボランティアに血管拡張薬と収縮薬を投与して、PPG波形変化を見た研究</a:t>
            </a:r>
            <a:r>
              <a:rPr lang="en-US" dirty="0"/>
              <a:t>。</a:t>
            </a:r>
          </a:p>
          <a:p>
            <a:r>
              <a:rPr lang="en-US" dirty="0" err="1"/>
              <a:t>拡張薬では反射波の高さが減り、収縮薬では反射波の高さが増えた</a:t>
            </a:r>
            <a:r>
              <a:rPr lang="en-US" dirty="0"/>
              <a:t>。</a:t>
            </a:r>
          </a:p>
          <a:p>
            <a:r>
              <a:rPr dirty="0" err="1"/>
              <a:t>末梢血管トーヌスの変化</a:t>
            </a:r>
            <a:r>
              <a:rPr dirty="0"/>
              <a:t> → </a:t>
            </a:r>
            <a:r>
              <a:rPr dirty="0" err="1"/>
              <a:t>反射波（拡張期波）の「高さ</a:t>
            </a:r>
            <a:r>
              <a:rPr dirty="0"/>
              <a:t>」</a:t>
            </a:r>
            <a:r>
              <a:rPr lang="ja-JP" altLang="en-US"/>
              <a:t>に影響する。</a:t>
            </a:r>
            <a:endParaRPr dirty="0"/>
          </a:p>
          <a:p>
            <a:endParaRPr dirty="0"/>
          </a:p>
          <a:p>
            <a:r>
              <a:rPr dirty="0" err="1"/>
              <a:t>裏づけ（用量依存性のある実測</a:t>
            </a:r>
            <a:r>
              <a:rPr dirty="0"/>
              <a:t>）</a:t>
            </a:r>
          </a:p>
          <a:p>
            <a:r>
              <a:rPr dirty="0"/>
              <a:t>・</a:t>
            </a:r>
            <a:r>
              <a:rPr dirty="0" err="1"/>
              <a:t>Chowienczyk</a:t>
            </a:r>
            <a:r>
              <a:rPr dirty="0"/>
              <a:t> 1999（JACC 34:2007）：</a:t>
            </a:r>
            <a:r>
              <a:rPr dirty="0" err="1"/>
              <a:t>吸入</a:t>
            </a:r>
            <a:r>
              <a:rPr dirty="0"/>
              <a:t>β₂</a:t>
            </a:r>
            <a:r>
              <a:rPr dirty="0" err="1"/>
              <a:t>刺激薬で</a:t>
            </a:r>
            <a:r>
              <a:rPr dirty="0"/>
              <a:t> RI −11.8%、</a:t>
            </a:r>
            <a:r>
              <a:rPr dirty="0" err="1"/>
              <a:t>ニトログリセリンで</a:t>
            </a:r>
            <a:r>
              <a:rPr dirty="0"/>
              <a:t> RI −18.3%。</a:t>
            </a:r>
          </a:p>
          <a:p>
            <a:r>
              <a:rPr dirty="0"/>
              <a:t>・</a:t>
            </a:r>
            <a:r>
              <a:rPr dirty="0" err="1"/>
              <a:t>Millasseau</a:t>
            </a:r>
            <a:r>
              <a:rPr dirty="0"/>
              <a:t> 2003（Am J </a:t>
            </a:r>
            <a:r>
              <a:rPr dirty="0" err="1"/>
              <a:t>Hypertens</a:t>
            </a:r>
            <a:r>
              <a:rPr dirty="0"/>
              <a:t> 16:467）：</a:t>
            </a:r>
            <a:r>
              <a:rPr dirty="0" err="1"/>
              <a:t>健常男性で、RI_DVP</a:t>
            </a:r>
            <a:r>
              <a:rPr dirty="0"/>
              <a:t> </a:t>
            </a:r>
            <a:r>
              <a:rPr dirty="0" err="1"/>
              <a:t>はアンジオテンシンII</a:t>
            </a:r>
            <a:r>
              <a:rPr dirty="0"/>
              <a:t> </a:t>
            </a:r>
            <a:r>
              <a:rPr dirty="0" err="1"/>
              <a:t>で用量依存性に上昇</a:t>
            </a:r>
            <a:r>
              <a:rPr dirty="0"/>
              <a:t>、</a:t>
            </a:r>
          </a:p>
          <a:p>
            <a:r>
              <a:rPr dirty="0"/>
              <a:t>　GTN </a:t>
            </a:r>
            <a:r>
              <a:rPr dirty="0" err="1"/>
              <a:t>で用量依存性に低下した。一方</a:t>
            </a:r>
            <a:r>
              <a:rPr dirty="0"/>
              <a:t> SI_DVP </a:t>
            </a:r>
            <a:r>
              <a:rPr dirty="0" err="1"/>
              <a:t>は</a:t>
            </a:r>
            <a:r>
              <a:rPr dirty="0"/>
              <a:t> AII・GTN </a:t>
            </a:r>
            <a:r>
              <a:rPr dirty="0" err="1"/>
              <a:t>でほとんど動かず、年齢と強く相関（R</a:t>
            </a:r>
            <a:r>
              <a:rPr dirty="0"/>
              <a:t>=0.63）。</a:t>
            </a:r>
          </a:p>
          <a:p>
            <a:r>
              <a:rPr dirty="0"/>
              <a:t>　＝「RI＝急性の血管トーヌス／SI＝慢性の硬さ」という2軸の分離を直接示した論文（→ 3.3・6.1 </a:t>
            </a:r>
            <a:r>
              <a:rPr dirty="0" err="1"/>
              <a:t>の土台</a:t>
            </a:r>
            <a:r>
              <a:rPr dirty="0"/>
              <a:t>）。</a:t>
            </a:r>
          </a:p>
          <a:p>
            <a:r>
              <a:rPr dirty="0"/>
              <a:t>　</a:t>
            </a:r>
            <a:r>
              <a:rPr dirty="0" err="1"/>
              <a:t>なお</a:t>
            </a:r>
            <a:r>
              <a:rPr dirty="0"/>
              <a:t> SDPPG </a:t>
            </a:r>
            <a:r>
              <a:rPr dirty="0" err="1"/>
              <a:t>の</a:t>
            </a:r>
            <a:r>
              <a:rPr dirty="0"/>
              <a:t> d/a </a:t>
            </a:r>
            <a:r>
              <a:rPr dirty="0" err="1"/>
              <a:t>も年齢と強く相関（R</a:t>
            </a:r>
            <a:r>
              <a:rPr dirty="0"/>
              <a:t>=−0.66）するが、GTN </a:t>
            </a:r>
            <a:r>
              <a:rPr dirty="0" err="1"/>
              <a:t>では用量依存性を示さず</a:t>
            </a:r>
            <a:r>
              <a:rPr dirty="0"/>
              <a:t>、</a:t>
            </a:r>
          </a:p>
          <a:p>
            <a:r>
              <a:rPr dirty="0"/>
              <a:t>　</a:t>
            </a:r>
            <a:r>
              <a:rPr dirty="0" err="1"/>
              <a:t>血管作動薬の効果を見る指標としては</a:t>
            </a:r>
            <a:r>
              <a:rPr dirty="0"/>
              <a:t> RI </a:t>
            </a:r>
            <a:r>
              <a:rPr dirty="0" err="1"/>
              <a:t>のほうが信頼できると結論している</a:t>
            </a:r>
            <a:r>
              <a:rPr dirty="0"/>
              <a:t>。</a:t>
            </a:r>
          </a:p>
          <a:p>
            <a:r>
              <a:rPr dirty="0"/>
              <a:t>・</a:t>
            </a:r>
            <a:r>
              <a:rPr dirty="0" err="1"/>
              <a:t>Takazawa</a:t>
            </a:r>
            <a:r>
              <a:rPr dirty="0"/>
              <a:t> 1998（Hypertension 32:365）：</a:t>
            </a:r>
            <a:r>
              <a:rPr dirty="0" err="1"/>
              <a:t>アンジオテンシンII</a:t>
            </a:r>
            <a:r>
              <a:rPr dirty="0"/>
              <a:t> </a:t>
            </a:r>
            <a:r>
              <a:rPr dirty="0" err="1"/>
              <a:t>で</a:t>
            </a:r>
            <a:r>
              <a:rPr dirty="0"/>
              <a:t> d/a↑・AGI↑（</a:t>
            </a:r>
            <a:r>
              <a:rPr dirty="0" err="1"/>
              <a:t>トーヌス上昇側</a:t>
            </a:r>
            <a:r>
              <a:rPr dirty="0"/>
              <a:t>）。</a:t>
            </a:r>
          </a:p>
          <a:p>
            <a:endParaRPr dirty="0"/>
          </a:p>
          <a:p>
            <a:r>
              <a:rPr dirty="0" err="1"/>
              <a:t>引用から外した理由（ユーザー判断・口頭では触れてよい</a:t>
            </a:r>
            <a:r>
              <a:rPr dirty="0"/>
              <a:t>）</a:t>
            </a:r>
          </a:p>
          <a:p>
            <a:r>
              <a:rPr dirty="0"/>
              <a:t>・Awad 2007：CABG 14例で指・耳の PPG </a:t>
            </a:r>
            <a:r>
              <a:rPr dirty="0" err="1"/>
              <a:t>と</a:t>
            </a:r>
            <a:r>
              <a:rPr dirty="0"/>
              <a:t> SVR </a:t>
            </a:r>
            <a:r>
              <a:rPr dirty="0" err="1"/>
              <a:t>を検討。SVR</a:t>
            </a:r>
            <a:r>
              <a:rPr dirty="0"/>
              <a:t> </a:t>
            </a:r>
            <a:r>
              <a:rPr dirty="0" err="1"/>
              <a:t>と相関したのは「耳」かつ「パルス幅」であり</a:t>
            </a:r>
            <a:r>
              <a:rPr dirty="0"/>
              <a:t>、</a:t>
            </a:r>
          </a:p>
          <a:p>
            <a:r>
              <a:rPr dirty="0"/>
              <a:t>　</a:t>
            </a:r>
            <a:r>
              <a:rPr dirty="0" err="1"/>
              <a:t>反射波そのものを見た研究ではないため、このスライドの主張（反射波の高さ）の根拠にはならない</a:t>
            </a:r>
            <a:r>
              <a:rPr dirty="0"/>
              <a:t>。</a:t>
            </a:r>
          </a:p>
          <a:p>
            <a:r>
              <a:rPr dirty="0"/>
              <a:t>・</a:t>
            </a:r>
            <a:r>
              <a:rPr dirty="0" err="1"/>
              <a:t>Tusman</a:t>
            </a:r>
            <a:r>
              <a:rPr dirty="0"/>
              <a:t> 2019：切痕位置の分類（CABG症例）で、4.2 </a:t>
            </a:r>
            <a:r>
              <a:rPr dirty="0" err="1"/>
              <a:t>で正面から扱うためここでは重複</a:t>
            </a:r>
            <a:r>
              <a:rPr dirty="0"/>
              <a:t>。</a:t>
            </a:r>
          </a:p>
        </p:txBody>
      </p:sp>
      <p:sp>
        <p:nvSpPr>
          <p:cNvPr id="4" name="スライド番号プレースホルダー 3">
            <a:extLst>
              <a:ext uri="{FF2B5EF4-FFF2-40B4-BE49-F238E27FC236}">
                <a16:creationId xmlns:a16="http://schemas.microsoft.com/office/drawing/2014/main" id="{09205F14-0FA0-A2FE-B48E-1669C21337F0}"/>
              </a:ext>
            </a:extLst>
          </p:cNvPr>
          <p:cNvSpPr>
            <a:spLocks noGrp="1"/>
          </p:cNvSpPr>
          <p:nvPr>
            <p:ph type="sldNum" sz="quarter" idx="5"/>
          </p:nvPr>
        </p:nvSpPr>
        <p:spPr/>
        <p:txBody>
          <a:bodyPr/>
          <a:lstStyle/>
          <a:p>
            <a:fld id="{4368CECF-0771-D84F-8D42-085DB944B0B8}" type="slidenum">
              <a:rPr kumimoji="1" lang="ja-JP" altLang="en-US" smtClean="0"/>
              <a:t>38</a:t>
            </a:fld>
            <a:endParaRPr kumimoji="1" lang="ja-JP" altLang="en-US"/>
          </a:p>
        </p:txBody>
      </p:sp>
    </p:spTree>
    <p:extLst>
      <p:ext uri="{BB962C8B-B14F-4D97-AF65-F5344CB8AC3E}">
        <p14:creationId xmlns:p14="http://schemas.microsoft.com/office/powerpoint/2010/main" val="1966935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7C435-93F5-4E8C-C090-91E8563BF24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E8537D-C0DB-930B-739C-4978376E46B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6A6372D-ACD0-D9F8-A0EC-3BD2E65AC58D}"/>
              </a:ext>
            </a:extLst>
          </p:cNvPr>
          <p:cNvSpPr>
            <a:spLocks noGrp="1"/>
          </p:cNvSpPr>
          <p:nvPr>
            <p:ph type="body" idx="1"/>
          </p:nvPr>
        </p:nvSpPr>
        <p:spPr/>
        <p:txBody>
          <a:bodyPr/>
          <a:lstStyle/>
          <a:p>
            <a:r>
              <a:rPr lang="en-US" dirty="0" err="1"/>
              <a:t>続いて末梢血管トーヌスの影響について</a:t>
            </a:r>
            <a:r>
              <a:rPr lang="en-US" dirty="0"/>
              <a:t>。</a:t>
            </a:r>
          </a:p>
          <a:p>
            <a:r>
              <a:rPr lang="en-US" dirty="0" err="1"/>
              <a:t>健常成人ボランティアに血管拡張薬と収縮薬を投与して、PPG波形変化を見た研究</a:t>
            </a:r>
            <a:r>
              <a:rPr lang="en-US" dirty="0"/>
              <a:t>。</a:t>
            </a:r>
          </a:p>
          <a:p>
            <a:r>
              <a:rPr lang="en-US" dirty="0" err="1"/>
              <a:t>拡張薬では反射波の高さが減り、収縮薬では反射波の高さが増えた</a:t>
            </a:r>
            <a:r>
              <a:rPr lang="en-US" dirty="0"/>
              <a:t>。</a:t>
            </a:r>
          </a:p>
          <a:p>
            <a:r>
              <a:rPr dirty="0" err="1"/>
              <a:t>末梢血管トーヌスの変化</a:t>
            </a:r>
            <a:r>
              <a:rPr dirty="0"/>
              <a:t> → </a:t>
            </a:r>
            <a:r>
              <a:rPr dirty="0" err="1"/>
              <a:t>反射波（拡張期波）の「高さ</a:t>
            </a:r>
            <a:r>
              <a:rPr dirty="0"/>
              <a:t>」</a:t>
            </a:r>
            <a:r>
              <a:rPr lang="ja-JP" altLang="en-US"/>
              <a:t>に影響する。</a:t>
            </a:r>
            <a:endParaRPr dirty="0"/>
          </a:p>
          <a:p>
            <a:endParaRPr dirty="0"/>
          </a:p>
          <a:p>
            <a:r>
              <a:rPr dirty="0" err="1"/>
              <a:t>裏づけ（用量依存性のある実測</a:t>
            </a:r>
            <a:r>
              <a:rPr dirty="0"/>
              <a:t>）</a:t>
            </a:r>
          </a:p>
          <a:p>
            <a:r>
              <a:rPr dirty="0"/>
              <a:t>・</a:t>
            </a:r>
            <a:r>
              <a:rPr dirty="0" err="1"/>
              <a:t>Chowienczyk</a:t>
            </a:r>
            <a:r>
              <a:rPr dirty="0"/>
              <a:t> 1999（JACC 34:2007）：</a:t>
            </a:r>
            <a:r>
              <a:rPr dirty="0" err="1"/>
              <a:t>吸入</a:t>
            </a:r>
            <a:r>
              <a:rPr dirty="0"/>
              <a:t>β₂</a:t>
            </a:r>
            <a:r>
              <a:rPr dirty="0" err="1"/>
              <a:t>刺激薬で</a:t>
            </a:r>
            <a:r>
              <a:rPr dirty="0"/>
              <a:t> RI −11.8%、</a:t>
            </a:r>
            <a:r>
              <a:rPr dirty="0" err="1"/>
              <a:t>ニトログリセリンで</a:t>
            </a:r>
            <a:r>
              <a:rPr dirty="0"/>
              <a:t> RI −18.3%。</a:t>
            </a:r>
          </a:p>
          <a:p>
            <a:r>
              <a:rPr dirty="0"/>
              <a:t>・</a:t>
            </a:r>
            <a:r>
              <a:rPr dirty="0" err="1"/>
              <a:t>Millasseau</a:t>
            </a:r>
            <a:r>
              <a:rPr dirty="0"/>
              <a:t> 2003（Am J </a:t>
            </a:r>
            <a:r>
              <a:rPr dirty="0" err="1"/>
              <a:t>Hypertens</a:t>
            </a:r>
            <a:r>
              <a:rPr dirty="0"/>
              <a:t> 16:467）：</a:t>
            </a:r>
            <a:r>
              <a:rPr dirty="0" err="1"/>
              <a:t>健常男性で、RI_DVP</a:t>
            </a:r>
            <a:r>
              <a:rPr dirty="0"/>
              <a:t> </a:t>
            </a:r>
            <a:r>
              <a:rPr dirty="0" err="1"/>
              <a:t>はアンジオテンシンII</a:t>
            </a:r>
            <a:r>
              <a:rPr dirty="0"/>
              <a:t> </a:t>
            </a:r>
            <a:r>
              <a:rPr dirty="0" err="1"/>
              <a:t>で用量依存性に上昇</a:t>
            </a:r>
            <a:r>
              <a:rPr dirty="0"/>
              <a:t>、</a:t>
            </a:r>
          </a:p>
          <a:p>
            <a:r>
              <a:rPr dirty="0"/>
              <a:t>　GTN </a:t>
            </a:r>
            <a:r>
              <a:rPr dirty="0" err="1"/>
              <a:t>で用量依存性に低下した。一方</a:t>
            </a:r>
            <a:r>
              <a:rPr dirty="0"/>
              <a:t> SI_DVP </a:t>
            </a:r>
            <a:r>
              <a:rPr dirty="0" err="1"/>
              <a:t>は</a:t>
            </a:r>
            <a:r>
              <a:rPr dirty="0"/>
              <a:t> AII・GTN </a:t>
            </a:r>
            <a:r>
              <a:rPr dirty="0" err="1"/>
              <a:t>でほとんど動かず、年齢と強く相関（R</a:t>
            </a:r>
            <a:r>
              <a:rPr dirty="0"/>
              <a:t>=0.63）。</a:t>
            </a:r>
          </a:p>
          <a:p>
            <a:r>
              <a:rPr dirty="0"/>
              <a:t>　＝「RI＝急性の血管トーヌス／SI＝慢性の硬さ」という2軸の分離を直接示した論文（→ 3.3・6.1 </a:t>
            </a:r>
            <a:r>
              <a:rPr dirty="0" err="1"/>
              <a:t>の土台</a:t>
            </a:r>
            <a:r>
              <a:rPr dirty="0"/>
              <a:t>）。</a:t>
            </a:r>
          </a:p>
          <a:p>
            <a:r>
              <a:rPr dirty="0"/>
              <a:t>　</a:t>
            </a:r>
            <a:r>
              <a:rPr dirty="0" err="1"/>
              <a:t>なお</a:t>
            </a:r>
            <a:r>
              <a:rPr dirty="0"/>
              <a:t> SDPPG </a:t>
            </a:r>
            <a:r>
              <a:rPr dirty="0" err="1"/>
              <a:t>の</a:t>
            </a:r>
            <a:r>
              <a:rPr dirty="0"/>
              <a:t> d/a </a:t>
            </a:r>
            <a:r>
              <a:rPr dirty="0" err="1"/>
              <a:t>も年齢と強く相関（R</a:t>
            </a:r>
            <a:r>
              <a:rPr dirty="0"/>
              <a:t>=−0.66）するが、GTN </a:t>
            </a:r>
            <a:r>
              <a:rPr dirty="0" err="1"/>
              <a:t>では用量依存性を示さず</a:t>
            </a:r>
            <a:r>
              <a:rPr dirty="0"/>
              <a:t>、</a:t>
            </a:r>
          </a:p>
          <a:p>
            <a:r>
              <a:rPr dirty="0"/>
              <a:t>　</a:t>
            </a:r>
            <a:r>
              <a:rPr dirty="0" err="1"/>
              <a:t>血管作動薬の効果を見る指標としては</a:t>
            </a:r>
            <a:r>
              <a:rPr dirty="0"/>
              <a:t> RI </a:t>
            </a:r>
            <a:r>
              <a:rPr dirty="0" err="1"/>
              <a:t>のほうが信頼できると結論している</a:t>
            </a:r>
            <a:r>
              <a:rPr dirty="0"/>
              <a:t>。</a:t>
            </a:r>
          </a:p>
          <a:p>
            <a:r>
              <a:rPr dirty="0"/>
              <a:t>・</a:t>
            </a:r>
            <a:r>
              <a:rPr dirty="0" err="1"/>
              <a:t>Takazawa</a:t>
            </a:r>
            <a:r>
              <a:rPr dirty="0"/>
              <a:t> 1998（Hypertension 32:365）：</a:t>
            </a:r>
            <a:r>
              <a:rPr dirty="0" err="1"/>
              <a:t>アンジオテンシンII</a:t>
            </a:r>
            <a:r>
              <a:rPr dirty="0"/>
              <a:t> </a:t>
            </a:r>
            <a:r>
              <a:rPr dirty="0" err="1"/>
              <a:t>で</a:t>
            </a:r>
            <a:r>
              <a:rPr dirty="0"/>
              <a:t> d/a↑・AGI↑（</a:t>
            </a:r>
            <a:r>
              <a:rPr dirty="0" err="1"/>
              <a:t>トーヌス上昇側</a:t>
            </a:r>
            <a:r>
              <a:rPr dirty="0"/>
              <a:t>）。</a:t>
            </a:r>
          </a:p>
          <a:p>
            <a:endParaRPr dirty="0"/>
          </a:p>
          <a:p>
            <a:r>
              <a:rPr dirty="0" err="1"/>
              <a:t>引用から外した理由（ユーザー判断・口頭では触れてよい</a:t>
            </a:r>
            <a:r>
              <a:rPr dirty="0"/>
              <a:t>）</a:t>
            </a:r>
          </a:p>
          <a:p>
            <a:r>
              <a:rPr dirty="0"/>
              <a:t>・Awad 2007：CABG 14例で指・耳の PPG </a:t>
            </a:r>
            <a:r>
              <a:rPr dirty="0" err="1"/>
              <a:t>と</a:t>
            </a:r>
            <a:r>
              <a:rPr dirty="0"/>
              <a:t> SVR </a:t>
            </a:r>
            <a:r>
              <a:rPr dirty="0" err="1"/>
              <a:t>を検討。SVR</a:t>
            </a:r>
            <a:r>
              <a:rPr dirty="0"/>
              <a:t> </a:t>
            </a:r>
            <a:r>
              <a:rPr dirty="0" err="1"/>
              <a:t>と相関したのは「耳」かつ「パルス幅」であり</a:t>
            </a:r>
            <a:r>
              <a:rPr dirty="0"/>
              <a:t>、</a:t>
            </a:r>
          </a:p>
          <a:p>
            <a:r>
              <a:rPr dirty="0"/>
              <a:t>　</a:t>
            </a:r>
            <a:r>
              <a:rPr dirty="0" err="1"/>
              <a:t>反射波そのものを見た研究ではないため、このスライドの主張（反射波の高さ）の根拠にはならない</a:t>
            </a:r>
            <a:r>
              <a:rPr dirty="0"/>
              <a:t>。</a:t>
            </a:r>
          </a:p>
          <a:p>
            <a:r>
              <a:rPr dirty="0"/>
              <a:t>・</a:t>
            </a:r>
            <a:r>
              <a:rPr dirty="0" err="1"/>
              <a:t>Tusman</a:t>
            </a:r>
            <a:r>
              <a:rPr dirty="0"/>
              <a:t> 2019：切痕位置の分類（CABG症例）で、4.2 </a:t>
            </a:r>
            <a:r>
              <a:rPr dirty="0" err="1"/>
              <a:t>で正面から扱うためここでは重複</a:t>
            </a:r>
            <a:r>
              <a:rPr dirty="0"/>
              <a:t>。</a:t>
            </a:r>
          </a:p>
        </p:txBody>
      </p:sp>
      <p:sp>
        <p:nvSpPr>
          <p:cNvPr id="4" name="スライド番号プレースホルダー 3">
            <a:extLst>
              <a:ext uri="{FF2B5EF4-FFF2-40B4-BE49-F238E27FC236}">
                <a16:creationId xmlns:a16="http://schemas.microsoft.com/office/drawing/2014/main" id="{F9A59906-86C8-734C-B782-4ED35815C7E3}"/>
              </a:ext>
            </a:extLst>
          </p:cNvPr>
          <p:cNvSpPr>
            <a:spLocks noGrp="1"/>
          </p:cNvSpPr>
          <p:nvPr>
            <p:ph type="sldNum" sz="quarter" idx="5"/>
          </p:nvPr>
        </p:nvSpPr>
        <p:spPr/>
        <p:txBody>
          <a:bodyPr/>
          <a:lstStyle/>
          <a:p>
            <a:fld id="{4368CECF-0771-D84F-8D42-085DB944B0B8}" type="slidenum">
              <a:rPr kumimoji="1" lang="ja-JP" altLang="en-US" smtClean="0"/>
              <a:t>39</a:t>
            </a:fld>
            <a:endParaRPr kumimoji="1" lang="ja-JP" altLang="en-US"/>
          </a:p>
        </p:txBody>
      </p:sp>
    </p:spTree>
    <p:extLst>
      <p:ext uri="{BB962C8B-B14F-4D97-AF65-F5344CB8AC3E}">
        <p14:creationId xmlns:p14="http://schemas.microsoft.com/office/powerpoint/2010/main" val="24111550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8F35B-AC06-D0E5-2069-705E0E4FFA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651186-2C79-8F62-0939-B8EF84F20B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070DBA-B8CB-E8F7-C405-16A294B01497}"/>
              </a:ext>
            </a:extLst>
          </p:cNvPr>
          <p:cNvSpPr>
            <a:spLocks noGrp="1"/>
          </p:cNvSpPr>
          <p:nvPr>
            <p:ph type="body" idx="1"/>
          </p:nvPr>
        </p:nvSpPr>
        <p:spPr/>
        <p:txBody>
          <a:bodyPr/>
          <a:lstStyle/>
          <a:p>
            <a:r>
              <a:rPr lang="ja-JP" altLang="en-US"/>
              <a:t>循環の後負荷とされるもののうち、末梢血管トーヌスと大血管スティッフネスが</a:t>
            </a:r>
            <a:r>
              <a:rPr lang="en-US" altLang="ja-JP" dirty="0"/>
              <a:t>PPG</a:t>
            </a:r>
            <a:r>
              <a:rPr lang="ja-JP" altLang="en-US"/>
              <a:t>波形に与える影響の違いをまとめる。</a:t>
            </a:r>
            <a:endParaRPr lang="en-US" altLang="ja-JP" dirty="0"/>
          </a:p>
          <a:p>
            <a:r>
              <a:rPr lang="en-US" dirty="0" err="1"/>
              <a:t>先ほど見たように末梢血管トーヌスは反射波の振幅に影響を与え、大血管スティッフネスは反射波の時相に影響を与える</a:t>
            </a:r>
            <a:endParaRPr lang="en-US" dirty="0"/>
          </a:p>
          <a:p>
            <a:endParaRPr lang="en-US" dirty="0"/>
          </a:p>
          <a:p>
            <a:r>
              <a:rPr dirty="0" err="1"/>
              <a:t>後負荷を「末梢（SVR・血管トーヌス</a:t>
            </a:r>
            <a:r>
              <a:rPr dirty="0"/>
              <a:t>）」</a:t>
            </a:r>
            <a:r>
              <a:rPr dirty="0" err="1"/>
              <a:t>と「大血管（エラスタンス</a:t>
            </a:r>
            <a:r>
              <a:rPr dirty="0"/>
              <a:t>）」</a:t>
            </a:r>
            <a:r>
              <a:rPr dirty="0" err="1"/>
              <a:t>に分け、波形での出方が違うことを示す</a:t>
            </a:r>
            <a:r>
              <a:rPr dirty="0"/>
              <a:t>。</a:t>
            </a:r>
          </a:p>
          <a:p>
            <a:endParaRPr dirty="0"/>
          </a:p>
          <a:p>
            <a:r>
              <a:rPr dirty="0"/>
              <a:t>① </a:t>
            </a:r>
            <a:r>
              <a:rPr dirty="0" err="1"/>
              <a:t>SVR・血管トーヌス</a:t>
            </a:r>
            <a:r>
              <a:rPr dirty="0"/>
              <a:t>↑ → </a:t>
            </a:r>
            <a:r>
              <a:rPr dirty="0" err="1"/>
              <a:t>反射波・切痕が「高く」なる</a:t>
            </a:r>
            <a:r>
              <a:rPr dirty="0"/>
              <a:t>（＝</a:t>
            </a:r>
            <a:r>
              <a:rPr dirty="0" err="1"/>
              <a:t>振幅の軸</a:t>
            </a:r>
            <a:r>
              <a:rPr dirty="0"/>
              <a:t>）</a:t>
            </a:r>
          </a:p>
          <a:p>
            <a:r>
              <a:rPr dirty="0"/>
              <a:t>② </a:t>
            </a:r>
            <a:r>
              <a:rPr dirty="0" err="1"/>
              <a:t>大血管エラスタンス</a:t>
            </a:r>
            <a:r>
              <a:rPr dirty="0"/>
              <a:t>↑ → </a:t>
            </a:r>
            <a:r>
              <a:rPr dirty="0" err="1"/>
              <a:t>反射波が「早く」帰る</a:t>
            </a:r>
            <a:r>
              <a:rPr dirty="0"/>
              <a:t> → </a:t>
            </a:r>
            <a:r>
              <a:rPr dirty="0" err="1"/>
              <a:t>下降脚に変曲点</a:t>
            </a:r>
            <a:r>
              <a:rPr dirty="0"/>
              <a:t>（＝</a:t>
            </a:r>
            <a:r>
              <a:rPr dirty="0" err="1"/>
              <a:t>時相の軸</a:t>
            </a:r>
            <a:r>
              <a:rPr dirty="0"/>
              <a:t>）</a:t>
            </a:r>
          </a:p>
          <a:p>
            <a:endParaRPr dirty="0"/>
          </a:p>
          <a:p>
            <a:r>
              <a:rPr dirty="0" err="1"/>
              <a:t>裏づけ</a:t>
            </a:r>
            <a:endParaRPr dirty="0"/>
          </a:p>
          <a:p>
            <a:r>
              <a:rPr dirty="0"/>
              <a:t>・</a:t>
            </a:r>
            <a:r>
              <a:rPr dirty="0" err="1"/>
              <a:t>Millasseau</a:t>
            </a:r>
            <a:r>
              <a:rPr dirty="0"/>
              <a:t> 2003（Am J </a:t>
            </a:r>
            <a:r>
              <a:rPr dirty="0" err="1"/>
              <a:t>Hypertens</a:t>
            </a:r>
            <a:r>
              <a:rPr dirty="0"/>
              <a:t> 16:467）：</a:t>
            </a:r>
            <a:r>
              <a:rPr dirty="0" err="1"/>
              <a:t>同一被験者で、RI</a:t>
            </a:r>
            <a:r>
              <a:rPr dirty="0"/>
              <a:t> </a:t>
            </a:r>
            <a:r>
              <a:rPr dirty="0" err="1"/>
              <a:t>は</a:t>
            </a:r>
            <a:r>
              <a:rPr dirty="0"/>
              <a:t> AII/GTN </a:t>
            </a:r>
            <a:r>
              <a:rPr dirty="0" err="1"/>
              <a:t>に用量依存性に反応するが</a:t>
            </a:r>
            <a:endParaRPr dirty="0"/>
          </a:p>
          <a:p>
            <a:r>
              <a:rPr dirty="0"/>
              <a:t>　SI </a:t>
            </a:r>
            <a:r>
              <a:rPr dirty="0" err="1"/>
              <a:t>はほとんど動かない。逆に</a:t>
            </a:r>
            <a:r>
              <a:rPr dirty="0"/>
              <a:t> SI </a:t>
            </a:r>
            <a:r>
              <a:rPr dirty="0" err="1"/>
              <a:t>は年齢と強く相関（R</a:t>
            </a:r>
            <a:r>
              <a:rPr dirty="0"/>
              <a:t>=0.63）。＝2つの軸が実測で分離できることの直接証拠。</a:t>
            </a:r>
          </a:p>
          <a:p>
            <a:r>
              <a:rPr dirty="0"/>
              <a:t>・</a:t>
            </a:r>
            <a:r>
              <a:rPr dirty="0" err="1"/>
              <a:t>Millasseau</a:t>
            </a:r>
            <a:r>
              <a:rPr dirty="0"/>
              <a:t> 2002（Clin Sci 103:371）：SI_DVP </a:t>
            </a:r>
            <a:r>
              <a:rPr dirty="0" err="1"/>
              <a:t>が大動脈</a:t>
            </a:r>
            <a:r>
              <a:rPr dirty="0"/>
              <a:t> PWV </a:t>
            </a:r>
            <a:r>
              <a:rPr dirty="0" err="1"/>
              <a:t>と相関し、加齢で</a:t>
            </a:r>
            <a:r>
              <a:rPr dirty="0"/>
              <a:t> ΔT </a:t>
            </a:r>
            <a:r>
              <a:rPr dirty="0" err="1"/>
              <a:t>が短縮（時相の軸</a:t>
            </a:r>
            <a:r>
              <a:rPr dirty="0"/>
              <a:t>）。</a:t>
            </a:r>
          </a:p>
          <a:p>
            <a:r>
              <a:rPr dirty="0"/>
              <a:t>・Dawber 1973（Angiology 24:244）：フラミンガム集団で、切痕の消え方（4分類）が加齢・冠動脈疾患と関連。</a:t>
            </a:r>
          </a:p>
          <a:p>
            <a:r>
              <a:rPr dirty="0"/>
              <a:t>・Cunningham 2023（Circ </a:t>
            </a:r>
            <a:r>
              <a:rPr dirty="0" err="1"/>
              <a:t>Genom</a:t>
            </a:r>
            <a:r>
              <a:rPr dirty="0"/>
              <a:t> Precis Med 16:e003676）：UK Biobank 17万例。切痕の平滑化が</a:t>
            </a:r>
          </a:p>
          <a:p>
            <a:r>
              <a:rPr dirty="0"/>
              <a:t>　</a:t>
            </a:r>
            <a:r>
              <a:rPr dirty="0" err="1"/>
              <a:t>高血圧・心筋梗塞</a:t>
            </a:r>
            <a:r>
              <a:rPr dirty="0"/>
              <a:t>/</a:t>
            </a:r>
            <a:r>
              <a:rPr dirty="0" err="1"/>
              <a:t>CAD・心不全・死亡と関連</a:t>
            </a:r>
            <a:r>
              <a:rPr dirty="0"/>
              <a:t>。②</a:t>
            </a:r>
            <a:r>
              <a:rPr dirty="0" err="1"/>
              <a:t>の軸が長期予後と結びつくことを大規模に示した</a:t>
            </a:r>
            <a:r>
              <a:rPr dirty="0"/>
              <a:t>。</a:t>
            </a:r>
          </a:p>
          <a:p>
            <a:r>
              <a:rPr dirty="0"/>
              <a:t>　→ ①②のうち「時相の軸」は2章（加齢・コホート）で扱った内容と地続きであることを、ここで明示する。</a:t>
            </a:r>
          </a:p>
          <a:p>
            <a:endParaRPr dirty="0"/>
          </a:p>
          <a:p>
            <a:r>
              <a:rPr dirty="0"/>
              <a:t>（Awad 2007 </a:t>
            </a:r>
            <a:r>
              <a:rPr dirty="0" err="1"/>
              <a:t>は引用から外した：SVR</a:t>
            </a:r>
            <a:r>
              <a:rPr dirty="0"/>
              <a:t> </a:t>
            </a:r>
            <a:r>
              <a:rPr dirty="0" err="1"/>
              <a:t>と相関したのは耳のパルス幅であり、反射波の高さ・時相の根拠ではない</a:t>
            </a:r>
            <a:r>
              <a:rPr dirty="0"/>
              <a:t>）</a:t>
            </a:r>
          </a:p>
        </p:txBody>
      </p:sp>
      <p:sp>
        <p:nvSpPr>
          <p:cNvPr id="4" name="スライド番号プレースホルダー 3">
            <a:extLst>
              <a:ext uri="{FF2B5EF4-FFF2-40B4-BE49-F238E27FC236}">
                <a16:creationId xmlns:a16="http://schemas.microsoft.com/office/drawing/2014/main" id="{0047E68D-42E0-3D83-3A48-E688B324C394}"/>
              </a:ext>
            </a:extLst>
          </p:cNvPr>
          <p:cNvSpPr>
            <a:spLocks noGrp="1"/>
          </p:cNvSpPr>
          <p:nvPr>
            <p:ph type="sldNum" sz="quarter" idx="5"/>
          </p:nvPr>
        </p:nvSpPr>
        <p:spPr/>
        <p:txBody>
          <a:bodyPr/>
          <a:lstStyle/>
          <a:p>
            <a:fld id="{4368CECF-0771-D84F-8D42-085DB944B0B8}" type="slidenum">
              <a:rPr kumimoji="1" lang="ja-JP" altLang="en-US" smtClean="0"/>
              <a:t>40</a:t>
            </a:fld>
            <a:endParaRPr kumimoji="1" lang="ja-JP" altLang="en-US"/>
          </a:p>
        </p:txBody>
      </p:sp>
    </p:spTree>
    <p:extLst>
      <p:ext uri="{BB962C8B-B14F-4D97-AF65-F5344CB8AC3E}">
        <p14:creationId xmlns:p14="http://schemas.microsoft.com/office/powerpoint/2010/main" val="12462839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8A6E8-6B94-169A-E75A-9D3F5066DF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90D407-CD80-6773-C9E0-01CE3E3AF1F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9CE6B6-B69F-FBF1-561A-10471DD8A78E}"/>
              </a:ext>
            </a:extLst>
          </p:cNvPr>
          <p:cNvSpPr>
            <a:spLocks noGrp="1"/>
          </p:cNvSpPr>
          <p:nvPr>
            <p:ph type="body" idx="1"/>
          </p:nvPr>
        </p:nvSpPr>
        <p:spPr/>
        <p:txBody>
          <a:bodyPr/>
          <a:lstStyle/>
          <a:p>
            <a:r>
              <a:rPr kumimoji="1" lang="ja-JP" altLang="en-US"/>
              <a:t>続いて心収縮力について。</a:t>
            </a:r>
            <a:endParaRPr kumimoji="1" lang="en-US" altLang="ja-JP" dirty="0"/>
          </a:p>
          <a:p>
            <a:r>
              <a:rPr kumimoji="1" lang="ja-JP" altLang="en-US"/>
              <a:t>残念ながら</a:t>
            </a:r>
            <a:r>
              <a:rPr kumimoji="1" lang="en-US" altLang="ja-JP" dirty="0"/>
              <a:t>PPG</a:t>
            </a:r>
            <a:r>
              <a:rPr kumimoji="1" lang="ja-JP" altLang="en-US"/>
              <a:t>波形関連の文献において、単独で心収縮力を調整することにより</a:t>
            </a:r>
            <a:r>
              <a:rPr kumimoji="1" lang="en-US" altLang="ja-JP" dirty="0"/>
              <a:t>PPG</a:t>
            </a:r>
            <a:r>
              <a:rPr kumimoji="1" lang="ja-JP" altLang="en-US"/>
              <a:t>波形への影響を見た文献はない。</a:t>
            </a:r>
            <a:endParaRPr kumimoji="1" lang="en-US" altLang="ja-JP" dirty="0"/>
          </a:p>
          <a:p>
            <a:r>
              <a:rPr kumimoji="1" lang="ja-JP" altLang="en-US"/>
              <a:t>循環シミュレーションモデルで心収縮力（</a:t>
            </a:r>
            <a:r>
              <a:rPr kumimoji="1" lang="en-US" altLang="ja-JP" dirty="0"/>
              <a:t>Ees</a:t>
            </a:r>
            <a:r>
              <a:rPr kumimoji="1" lang="ja-JP" altLang="en-US"/>
              <a:t>）のみ変化させると、</a:t>
            </a:r>
            <a:r>
              <a:rPr kumimoji="1" lang="en-US" altLang="ja-JP" dirty="0"/>
              <a:t>PPG</a:t>
            </a:r>
            <a:r>
              <a:rPr kumimoji="1" lang="ja-JP" altLang="en-US"/>
              <a:t>波形は立ち上がり勾配が上昇し、前進波は早く先鋭化することがわかった。</a:t>
            </a:r>
            <a:endParaRPr kumimoji="1" lang="en-US" altLang="ja-JP" dirty="0"/>
          </a:p>
          <a:p>
            <a:endParaRPr kumimoji="1" lang="en-US" altLang="ja-JP" dirty="0"/>
          </a:p>
          <a:p>
            <a:r>
              <a:rPr kumimoji="1" lang="en-US" altLang="ja-JP" dirty="0"/>
              <a:t>PPG</a:t>
            </a:r>
            <a:r>
              <a:rPr kumimoji="1" lang="ja-JP" altLang="en-US"/>
              <a:t>スロープは末梢血管抵抗の影響も受ける：</a:t>
            </a:r>
            <a:r>
              <a:rPr kumimoji="1" lang="en-US" altLang="ja-JP" dirty="0"/>
              <a:t>lin2020</a:t>
            </a:r>
          </a:p>
          <a:p>
            <a:endParaRPr kumimoji="1" lang="en-US" altLang="ja-JP" dirty="0"/>
          </a:p>
          <a:p>
            <a:endParaRPr kumimoji="1" lang="en-US" altLang="ja-JP" dirty="0"/>
          </a:p>
          <a:p>
            <a:endParaRPr kumimoji="1" lang="en-US" altLang="ja-JP" dirty="0"/>
          </a:p>
          <a:p>
            <a:r>
              <a:rPr kumimoji="1" lang="ja-JP" altLang="en-US" sz="1200" b="0" i="0" kern="1200">
                <a:solidFill>
                  <a:schemeClr val="tx1"/>
                </a:solidFill>
                <a:effectLst/>
                <a:latin typeface="+mn-lt"/>
                <a:ea typeface="+mn-ea"/>
                <a:cs typeface="+mn-cs"/>
              </a:rPr>
              <a:t>パゴーラとぅ　波の反射は主に血管特性に依存するため、特に影響を受けません</a:t>
            </a:r>
            <a:endParaRPr kumimoji="1" lang="en-US" altLang="ja-JP" dirty="0"/>
          </a:p>
          <a:p>
            <a:endParaRPr kumimoji="1" lang="en-US" altLang="ja-JP" dirty="0"/>
          </a:p>
          <a:p>
            <a:r>
              <a:rPr kumimoji="1" lang="en-US" altLang="ja-JP" dirty="0"/>
              <a:t>PPG</a:t>
            </a:r>
            <a:r>
              <a:rPr kumimoji="1" lang="ja-JP" altLang="en-US"/>
              <a:t>で</a:t>
            </a:r>
            <a:r>
              <a:rPr kumimoji="1" lang="en-US" altLang="ja-JP" dirty="0"/>
              <a:t>LVET</a:t>
            </a:r>
            <a:r>
              <a:rPr kumimoji="1" lang="ja-JP" altLang="en-US"/>
              <a:t>がわかるかも（</a:t>
            </a:r>
            <a:r>
              <a:rPr kumimoji="1" lang="en-US" altLang="ja-JP" dirty="0"/>
              <a:t>chan2007</a:t>
            </a:r>
            <a:r>
              <a:rPr kumimoji="1" lang="ja-JP" altLang="en-US"/>
              <a:t>　</a:t>
            </a:r>
            <a:r>
              <a:rPr kumimoji="1" lang="en" altLang="ja-JP" dirty="0"/>
              <a:t>https://</a:t>
            </a:r>
            <a:r>
              <a:rPr kumimoji="1" lang="en" altLang="ja-JP" dirty="0" err="1"/>
              <a:t>iopscience.iop.org</a:t>
            </a:r>
            <a:r>
              <a:rPr kumimoji="1" lang="en" altLang="ja-JP" dirty="0"/>
              <a:t>/article/10.1088/0967-3334/28/4/009</a:t>
            </a:r>
            <a:r>
              <a:rPr kumimoji="1" lang="ja-JP" altLang="en-US"/>
              <a:t>　</a:t>
            </a:r>
            <a:r>
              <a:rPr kumimoji="1" lang="en-US" altLang="ja-JP" dirty="0"/>
              <a:t>, couseiro2012,2015</a:t>
            </a:r>
            <a:r>
              <a:rPr kumimoji="1" lang="ja-JP" altLang="en-US"/>
              <a:t>）</a:t>
            </a:r>
            <a:endParaRPr kumimoji="1" lang="en-US" altLang="ja-JP" dirty="0"/>
          </a:p>
          <a:p>
            <a:r>
              <a:rPr kumimoji="1" lang="ja-JP" altLang="en-US"/>
              <a:t>測定部位や</a:t>
            </a:r>
            <a:r>
              <a:rPr kumimoji="1" lang="en-US" altLang="ja-JP" dirty="0"/>
              <a:t>LVET</a:t>
            </a:r>
            <a:r>
              <a:rPr kumimoji="1" lang="ja-JP" altLang="en-US"/>
              <a:t>自体で末梢の方が</a:t>
            </a:r>
            <a:r>
              <a:rPr kumimoji="1" lang="en-US" altLang="ja-JP" dirty="0"/>
              <a:t>LVET</a:t>
            </a:r>
            <a:r>
              <a:rPr kumimoji="1" lang="ja-JP" altLang="en-US"/>
              <a:t>が延長する（</a:t>
            </a:r>
            <a:r>
              <a:rPr kumimoji="1" lang="en-US" altLang="ja-JP" dirty="0"/>
              <a:t>obata2017</a:t>
            </a:r>
            <a:r>
              <a:rPr kumimoji="1" lang="ja-JP" altLang="en-US"/>
              <a:t>）</a:t>
            </a:r>
            <a:endParaRPr kumimoji="1" lang="en-US" altLang="ja-JP" dirty="0"/>
          </a:p>
          <a:p>
            <a:r>
              <a:rPr kumimoji="1" lang="ja-JP" altLang="en-US"/>
              <a:t>インピーダンス</a:t>
            </a:r>
            <a:r>
              <a:rPr kumimoji="1" lang="en-US" altLang="ja-JP" dirty="0"/>
              <a:t>ECG</a:t>
            </a:r>
            <a:r>
              <a:rPr kumimoji="1" lang="ja-JP" altLang="en-US"/>
              <a:t>と</a:t>
            </a:r>
            <a:r>
              <a:rPr kumimoji="1" lang="en-US" altLang="ja-JP" dirty="0"/>
              <a:t>PPG LVET</a:t>
            </a:r>
            <a:r>
              <a:rPr kumimoji="1" lang="ja-JP" altLang="en-US"/>
              <a:t>を組み合わせる（</a:t>
            </a:r>
            <a:r>
              <a:rPr kumimoji="1" lang="en-US" altLang="ja-JP" dirty="0"/>
              <a:t>liu2018</a:t>
            </a:r>
            <a:r>
              <a:rPr kumimoji="1" lang="ja-JP" altLang="en-US"/>
              <a:t>　</a:t>
            </a:r>
            <a:r>
              <a:rPr kumimoji="1" lang="en" altLang="ja-JP" dirty="0"/>
              <a:t>https://</a:t>
            </a:r>
            <a:r>
              <a:rPr kumimoji="1" lang="en" altLang="ja-JP" dirty="0" err="1"/>
              <a:t>pubmed.ncbi.nlm.nih.gov</a:t>
            </a:r>
            <a:r>
              <a:rPr kumimoji="1" lang="en" altLang="ja-JP" dirty="0"/>
              <a:t>/30208616/</a:t>
            </a:r>
            <a:r>
              <a:rPr kumimoji="1" lang="ja-JP" altLang="en-US"/>
              <a:t>　）</a:t>
            </a:r>
          </a:p>
        </p:txBody>
      </p:sp>
      <p:sp>
        <p:nvSpPr>
          <p:cNvPr id="4" name="スライド番号プレースホルダー 3">
            <a:extLst>
              <a:ext uri="{FF2B5EF4-FFF2-40B4-BE49-F238E27FC236}">
                <a16:creationId xmlns:a16="http://schemas.microsoft.com/office/drawing/2014/main" id="{7CD2E1E1-E4F5-A0FD-2B4D-81E812B4CF89}"/>
              </a:ext>
            </a:extLst>
          </p:cNvPr>
          <p:cNvSpPr>
            <a:spLocks noGrp="1"/>
          </p:cNvSpPr>
          <p:nvPr>
            <p:ph type="sldNum" sz="quarter" idx="5"/>
          </p:nvPr>
        </p:nvSpPr>
        <p:spPr/>
        <p:txBody>
          <a:bodyPr/>
          <a:lstStyle/>
          <a:p>
            <a:fld id="{4368CECF-0771-D84F-8D42-085DB944B0B8}" type="slidenum">
              <a:rPr kumimoji="1" lang="ja-JP" altLang="en-US" smtClean="0"/>
              <a:t>41</a:t>
            </a:fld>
            <a:endParaRPr kumimoji="1" lang="ja-JP" altLang="en-US"/>
          </a:p>
        </p:txBody>
      </p:sp>
    </p:spTree>
    <p:extLst>
      <p:ext uri="{BB962C8B-B14F-4D97-AF65-F5344CB8AC3E}">
        <p14:creationId xmlns:p14="http://schemas.microsoft.com/office/powerpoint/2010/main" val="12250454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CA865-E7F5-FB09-DE00-530F60882CB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FC7B-8953-E42C-3D2A-C264EB49E69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2B1B5ED-A927-85CF-F76E-39D6306DFF2C}"/>
              </a:ext>
            </a:extLst>
          </p:cNvPr>
          <p:cNvSpPr>
            <a:spLocks noGrp="1"/>
          </p:cNvSpPr>
          <p:nvPr>
            <p:ph type="body" idx="1"/>
          </p:nvPr>
        </p:nvSpPr>
        <p:spPr/>
        <p:txBody>
          <a:bodyPr/>
          <a:lstStyle/>
          <a:p>
            <a:r>
              <a:rPr kumimoji="1" lang="ja-JP" altLang="en-US"/>
              <a:t>続いて心収縮力について。</a:t>
            </a:r>
            <a:endParaRPr kumimoji="1" lang="en-US" altLang="ja-JP" dirty="0"/>
          </a:p>
          <a:p>
            <a:r>
              <a:rPr kumimoji="1" lang="ja-JP" altLang="en-US"/>
              <a:t>残念ながら</a:t>
            </a:r>
            <a:r>
              <a:rPr kumimoji="1" lang="en-US" altLang="ja-JP" dirty="0"/>
              <a:t>PPG</a:t>
            </a:r>
            <a:r>
              <a:rPr kumimoji="1" lang="ja-JP" altLang="en-US"/>
              <a:t>波形関連の文献において、単独で心収縮力を調整することにより</a:t>
            </a:r>
            <a:r>
              <a:rPr kumimoji="1" lang="en-US" altLang="ja-JP" dirty="0"/>
              <a:t>PPG</a:t>
            </a:r>
            <a:r>
              <a:rPr kumimoji="1" lang="ja-JP" altLang="en-US"/>
              <a:t>波形への影響を見た文献はない。</a:t>
            </a:r>
            <a:endParaRPr kumimoji="1" lang="en-US" altLang="ja-JP" dirty="0"/>
          </a:p>
          <a:p>
            <a:r>
              <a:rPr kumimoji="1" lang="ja-JP" altLang="en-US"/>
              <a:t>循環シミュレーションモデルで心収縮力（</a:t>
            </a:r>
            <a:r>
              <a:rPr kumimoji="1" lang="en-US" altLang="ja-JP" dirty="0"/>
              <a:t>Ees</a:t>
            </a:r>
            <a:r>
              <a:rPr kumimoji="1" lang="ja-JP" altLang="en-US"/>
              <a:t>）のみ変化させると、</a:t>
            </a:r>
            <a:r>
              <a:rPr kumimoji="1" lang="en-US" altLang="ja-JP" dirty="0"/>
              <a:t>PPG</a:t>
            </a:r>
            <a:r>
              <a:rPr kumimoji="1" lang="ja-JP" altLang="en-US"/>
              <a:t>波形は立ち上がり勾配が上昇し、前進波は早く先鋭化することがわかった。</a:t>
            </a:r>
            <a:endParaRPr kumimoji="1" lang="en-US" altLang="ja-JP" dirty="0"/>
          </a:p>
          <a:p>
            <a:endParaRPr kumimoji="1" lang="en-US" altLang="ja-JP" dirty="0"/>
          </a:p>
          <a:p>
            <a:r>
              <a:rPr kumimoji="1" lang="en-US" altLang="ja-JP" dirty="0"/>
              <a:t>PPG</a:t>
            </a:r>
            <a:r>
              <a:rPr kumimoji="1" lang="ja-JP" altLang="en-US"/>
              <a:t>スロープは末梢血管抵抗の影響も受ける：</a:t>
            </a:r>
            <a:r>
              <a:rPr kumimoji="1" lang="en-US" altLang="ja-JP" dirty="0"/>
              <a:t>lin2020</a:t>
            </a:r>
          </a:p>
          <a:p>
            <a:endParaRPr kumimoji="1" lang="en-US" altLang="ja-JP" dirty="0"/>
          </a:p>
          <a:p>
            <a:endParaRPr kumimoji="1" lang="en-US" altLang="ja-JP" dirty="0"/>
          </a:p>
          <a:p>
            <a:endParaRPr kumimoji="1" lang="en-US" altLang="ja-JP" dirty="0"/>
          </a:p>
          <a:p>
            <a:r>
              <a:rPr kumimoji="1" lang="ja-JP" altLang="en-US" sz="1200" b="0" i="0" kern="1200">
                <a:solidFill>
                  <a:schemeClr val="tx1"/>
                </a:solidFill>
                <a:effectLst/>
                <a:latin typeface="+mn-lt"/>
                <a:ea typeface="+mn-ea"/>
                <a:cs typeface="+mn-cs"/>
              </a:rPr>
              <a:t>パゴーラとぅ　波の反射は主に血管特性に依存するため、特に影響を受けません</a:t>
            </a:r>
            <a:endParaRPr kumimoji="1" lang="en-US" altLang="ja-JP" dirty="0"/>
          </a:p>
          <a:p>
            <a:endParaRPr kumimoji="1" lang="en-US" altLang="ja-JP" dirty="0"/>
          </a:p>
          <a:p>
            <a:r>
              <a:rPr kumimoji="1" lang="en-US" altLang="ja-JP" dirty="0"/>
              <a:t>PPG</a:t>
            </a:r>
            <a:r>
              <a:rPr kumimoji="1" lang="ja-JP" altLang="en-US"/>
              <a:t>で</a:t>
            </a:r>
            <a:r>
              <a:rPr kumimoji="1" lang="en-US" altLang="ja-JP" dirty="0"/>
              <a:t>LVET</a:t>
            </a:r>
            <a:r>
              <a:rPr kumimoji="1" lang="ja-JP" altLang="en-US"/>
              <a:t>がわかるかも（</a:t>
            </a:r>
            <a:r>
              <a:rPr kumimoji="1" lang="en-US" altLang="ja-JP" dirty="0"/>
              <a:t>chan2007</a:t>
            </a:r>
            <a:r>
              <a:rPr kumimoji="1" lang="ja-JP" altLang="en-US"/>
              <a:t>　</a:t>
            </a:r>
            <a:r>
              <a:rPr kumimoji="1" lang="en" altLang="ja-JP" dirty="0"/>
              <a:t>https://</a:t>
            </a:r>
            <a:r>
              <a:rPr kumimoji="1" lang="en" altLang="ja-JP" dirty="0" err="1"/>
              <a:t>iopscience.iop.org</a:t>
            </a:r>
            <a:r>
              <a:rPr kumimoji="1" lang="en" altLang="ja-JP" dirty="0"/>
              <a:t>/article/10.1088/0967-3334/28/4/009</a:t>
            </a:r>
            <a:r>
              <a:rPr kumimoji="1" lang="ja-JP" altLang="en-US"/>
              <a:t>　</a:t>
            </a:r>
            <a:r>
              <a:rPr kumimoji="1" lang="en-US" altLang="ja-JP" dirty="0"/>
              <a:t>, couseiro2012,2015</a:t>
            </a:r>
            <a:r>
              <a:rPr kumimoji="1" lang="ja-JP" altLang="en-US"/>
              <a:t>）</a:t>
            </a:r>
            <a:endParaRPr kumimoji="1" lang="en-US" altLang="ja-JP" dirty="0"/>
          </a:p>
          <a:p>
            <a:r>
              <a:rPr kumimoji="1" lang="ja-JP" altLang="en-US"/>
              <a:t>測定部位や</a:t>
            </a:r>
            <a:r>
              <a:rPr kumimoji="1" lang="en-US" altLang="ja-JP" dirty="0"/>
              <a:t>LVET</a:t>
            </a:r>
            <a:r>
              <a:rPr kumimoji="1" lang="ja-JP" altLang="en-US"/>
              <a:t>自体で末梢の方が</a:t>
            </a:r>
            <a:r>
              <a:rPr kumimoji="1" lang="en-US" altLang="ja-JP" dirty="0"/>
              <a:t>LVET</a:t>
            </a:r>
            <a:r>
              <a:rPr kumimoji="1" lang="ja-JP" altLang="en-US"/>
              <a:t>が延長する（</a:t>
            </a:r>
            <a:r>
              <a:rPr kumimoji="1" lang="en-US" altLang="ja-JP" dirty="0"/>
              <a:t>obata2017</a:t>
            </a:r>
            <a:r>
              <a:rPr kumimoji="1" lang="ja-JP" altLang="en-US"/>
              <a:t>）</a:t>
            </a:r>
            <a:endParaRPr kumimoji="1" lang="en-US" altLang="ja-JP" dirty="0"/>
          </a:p>
          <a:p>
            <a:r>
              <a:rPr kumimoji="1" lang="ja-JP" altLang="en-US"/>
              <a:t>インピーダンス</a:t>
            </a:r>
            <a:r>
              <a:rPr kumimoji="1" lang="en-US" altLang="ja-JP" dirty="0"/>
              <a:t>ECG</a:t>
            </a:r>
            <a:r>
              <a:rPr kumimoji="1" lang="ja-JP" altLang="en-US"/>
              <a:t>と</a:t>
            </a:r>
            <a:r>
              <a:rPr kumimoji="1" lang="en-US" altLang="ja-JP" dirty="0"/>
              <a:t>PPG LVET</a:t>
            </a:r>
            <a:r>
              <a:rPr kumimoji="1" lang="ja-JP" altLang="en-US"/>
              <a:t>を組み合わせる（</a:t>
            </a:r>
            <a:r>
              <a:rPr kumimoji="1" lang="en-US" altLang="ja-JP" dirty="0"/>
              <a:t>liu2018</a:t>
            </a:r>
            <a:r>
              <a:rPr kumimoji="1" lang="ja-JP" altLang="en-US"/>
              <a:t>　</a:t>
            </a:r>
            <a:r>
              <a:rPr kumimoji="1" lang="en" altLang="ja-JP" dirty="0"/>
              <a:t>https://</a:t>
            </a:r>
            <a:r>
              <a:rPr kumimoji="1" lang="en" altLang="ja-JP" dirty="0" err="1"/>
              <a:t>pubmed.ncbi.nlm.nih.gov</a:t>
            </a:r>
            <a:r>
              <a:rPr kumimoji="1" lang="en" altLang="ja-JP" dirty="0"/>
              <a:t>/30208616/</a:t>
            </a:r>
            <a:r>
              <a:rPr kumimoji="1" lang="ja-JP" altLang="en-US"/>
              <a:t>　）</a:t>
            </a:r>
          </a:p>
        </p:txBody>
      </p:sp>
      <p:sp>
        <p:nvSpPr>
          <p:cNvPr id="4" name="スライド番号プレースホルダー 3">
            <a:extLst>
              <a:ext uri="{FF2B5EF4-FFF2-40B4-BE49-F238E27FC236}">
                <a16:creationId xmlns:a16="http://schemas.microsoft.com/office/drawing/2014/main" id="{3507DAF2-1A29-EDFF-EE79-A238B4E3E171}"/>
              </a:ext>
            </a:extLst>
          </p:cNvPr>
          <p:cNvSpPr>
            <a:spLocks noGrp="1"/>
          </p:cNvSpPr>
          <p:nvPr>
            <p:ph type="sldNum" sz="quarter" idx="5"/>
          </p:nvPr>
        </p:nvSpPr>
        <p:spPr/>
        <p:txBody>
          <a:bodyPr/>
          <a:lstStyle/>
          <a:p>
            <a:fld id="{4368CECF-0771-D84F-8D42-085DB944B0B8}" type="slidenum">
              <a:rPr kumimoji="1" lang="ja-JP" altLang="en-US" smtClean="0"/>
              <a:t>42</a:t>
            </a:fld>
            <a:endParaRPr kumimoji="1" lang="ja-JP" altLang="en-US"/>
          </a:p>
        </p:txBody>
      </p:sp>
    </p:spTree>
    <p:extLst>
      <p:ext uri="{BB962C8B-B14F-4D97-AF65-F5344CB8AC3E}">
        <p14:creationId xmlns:p14="http://schemas.microsoft.com/office/powerpoint/2010/main" val="23690541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t>心拍数が上昇すると左室収縮の時間が短くなるため、前進波の横幅が短くなる。一方血管スティッフネスは影響を受けないため、反射波への影響はない。</a:t>
            </a:r>
          </a:p>
          <a:p>
            <a:r>
              <a:rPr lang="en-US" dirty="0" err="1"/>
              <a:t>前進波との重なりが少なくなる分反射波の振幅が低下して見える</a:t>
            </a:r>
            <a:r>
              <a:rPr lang="en-US" dirty="0"/>
              <a:t>。</a:t>
            </a:r>
          </a:p>
          <a:p>
            <a:endParaRPr lang="en-US" dirty="0"/>
          </a:p>
          <a:p>
            <a:r>
              <a:rPr dirty="0" err="1"/>
              <a:t>図＝Charlton</a:t>
            </a:r>
            <a:r>
              <a:rPr dirty="0"/>
              <a:t> 2019（Am J </a:t>
            </a:r>
            <a:r>
              <a:rPr dirty="0" err="1"/>
              <a:t>Physiol</a:t>
            </a:r>
            <a:r>
              <a:rPr dirty="0"/>
              <a:t> Heart Circ </a:t>
            </a:r>
            <a:r>
              <a:rPr dirty="0" err="1"/>
              <a:t>Physiol</a:t>
            </a:r>
            <a:r>
              <a:rPr dirty="0"/>
              <a:t> 317:H1062）Fig.3B </a:t>
            </a:r>
            <a:r>
              <a:rPr dirty="0" err="1"/>
              <a:t>の橈骨動脈</a:t>
            </a:r>
            <a:r>
              <a:rPr dirty="0"/>
              <a:t> PPG、HR </a:t>
            </a:r>
            <a:r>
              <a:rPr dirty="0" err="1"/>
              <a:t>の行</a:t>
            </a:r>
            <a:r>
              <a:rPr dirty="0"/>
              <a:t>。</a:t>
            </a:r>
          </a:p>
          <a:p>
            <a:r>
              <a:rPr dirty="0" err="1"/>
              <a:t>in-silico（計算モデル）の</a:t>
            </a:r>
            <a:r>
              <a:rPr dirty="0"/>
              <a:t> 25歳仮想被験者で、各パラメータを単独で ±1SD </a:t>
            </a:r>
            <a:r>
              <a:rPr dirty="0" err="1"/>
              <a:t>動かしたときの波形</a:t>
            </a:r>
            <a:r>
              <a:rPr dirty="0"/>
              <a:t>。</a:t>
            </a:r>
          </a:p>
          <a:p>
            <a:r>
              <a:rPr dirty="0" err="1"/>
              <a:t>凡例：青</a:t>
            </a:r>
            <a:r>
              <a:rPr dirty="0"/>
              <a:t>＝+1SD（高心拍）／</a:t>
            </a:r>
            <a:r>
              <a:rPr dirty="0" err="1"/>
              <a:t>黒＝基準／赤</a:t>
            </a:r>
            <a:r>
              <a:rPr dirty="0"/>
              <a:t>＝−1SD（低心拍）。</a:t>
            </a:r>
            <a:r>
              <a:rPr dirty="0" err="1"/>
              <a:t>原著の図凡例に</a:t>
            </a:r>
            <a:endParaRPr dirty="0"/>
          </a:p>
          <a:p>
            <a:r>
              <a:rPr dirty="0"/>
              <a:t>"at baseline (black), and those obtained when increasing (blue) and decreasing (red) each parameter</a:t>
            </a:r>
          </a:p>
          <a:p>
            <a:r>
              <a:rPr dirty="0"/>
              <a:t>independently by 1 SD" </a:t>
            </a:r>
            <a:r>
              <a:rPr dirty="0" err="1"/>
              <a:t>と明記されている</a:t>
            </a:r>
            <a:r>
              <a:rPr dirty="0"/>
              <a:t>。</a:t>
            </a:r>
          </a:p>
          <a:p>
            <a:endParaRPr dirty="0"/>
          </a:p>
          <a:p>
            <a:r>
              <a:rPr dirty="0"/>
              <a:t>図から読めること（2026-08 </a:t>
            </a:r>
            <a:r>
              <a:rPr dirty="0" err="1"/>
              <a:t>に原図で確認・修正</a:t>
            </a:r>
            <a:r>
              <a:rPr dirty="0"/>
              <a:t>）</a:t>
            </a:r>
          </a:p>
          <a:p>
            <a:r>
              <a:rPr dirty="0"/>
              <a:t>・</a:t>
            </a:r>
            <a:r>
              <a:rPr dirty="0" err="1"/>
              <a:t>周期：青が最短</a:t>
            </a:r>
            <a:r>
              <a:rPr dirty="0"/>
              <a:t>（〜0.72 s）、黒〜0.82 </a:t>
            </a:r>
            <a:r>
              <a:rPr dirty="0" err="1"/>
              <a:t>s、赤が最長</a:t>
            </a:r>
            <a:r>
              <a:rPr dirty="0"/>
              <a:t>（〜0.95 s）。＝</a:t>
            </a:r>
            <a:r>
              <a:rPr dirty="0" err="1"/>
              <a:t>青が高心拍で正しい</a:t>
            </a:r>
            <a:r>
              <a:rPr dirty="0"/>
              <a:t>。</a:t>
            </a:r>
          </a:p>
          <a:p>
            <a:r>
              <a:rPr dirty="0"/>
              <a:t>・</a:t>
            </a:r>
            <a:r>
              <a:rPr dirty="0" err="1"/>
              <a:t>拡張期（反射）ピークの相対的な高さ：青＜黒＜赤</a:t>
            </a:r>
            <a:r>
              <a:rPr dirty="0"/>
              <a:t>。</a:t>
            </a:r>
          </a:p>
          <a:p>
            <a:r>
              <a:rPr dirty="0"/>
              <a:t>　＝ HR </a:t>
            </a:r>
            <a:r>
              <a:rPr dirty="0" err="1"/>
              <a:t>が上がるほど、収縮期ピークで正規化した反射波成分は小さくなる（RI・AIx</a:t>
            </a:r>
            <a:r>
              <a:rPr dirty="0"/>
              <a:t> </a:t>
            </a:r>
            <a:r>
              <a:rPr dirty="0" err="1"/>
              <a:t>が下がる向き</a:t>
            </a:r>
            <a:r>
              <a:rPr dirty="0"/>
              <a:t>）。</a:t>
            </a:r>
          </a:p>
          <a:p>
            <a:r>
              <a:rPr dirty="0"/>
              <a:t>・</a:t>
            </a:r>
            <a:r>
              <a:rPr dirty="0" err="1"/>
              <a:t>切痕（谷）の深さ：青がいちばん深く、赤ではほぼ肩（プラト</a:t>
            </a:r>
            <a:r>
              <a:rPr dirty="0"/>
              <a:t>ー）</a:t>
            </a:r>
            <a:r>
              <a:rPr dirty="0" err="1"/>
              <a:t>になる</a:t>
            </a:r>
            <a:r>
              <a:rPr dirty="0"/>
              <a:t>。</a:t>
            </a:r>
          </a:p>
          <a:p>
            <a:r>
              <a:rPr dirty="0"/>
              <a:t>　</a:t>
            </a:r>
            <a:r>
              <a:rPr dirty="0" err="1"/>
              <a:t>高心拍で</a:t>
            </a:r>
            <a:r>
              <a:rPr dirty="0"/>
              <a:t> LVET </a:t>
            </a:r>
            <a:r>
              <a:rPr dirty="0" err="1"/>
              <a:t>が短縮し収縮期波が早く減衰するため、反射波が来る前に波形が下がりきる</a:t>
            </a:r>
            <a:r>
              <a:rPr dirty="0"/>
              <a:t>。</a:t>
            </a:r>
          </a:p>
          <a:p>
            <a:r>
              <a:rPr dirty="0"/>
              <a:t>　→ </a:t>
            </a:r>
            <a:r>
              <a:rPr dirty="0" err="1"/>
              <a:t>以前のノートにあった「高心拍で切痕は浅くなる」は原図と逆だったので訂正した</a:t>
            </a:r>
            <a:r>
              <a:rPr dirty="0"/>
              <a:t>。</a:t>
            </a:r>
          </a:p>
          <a:p>
            <a:endParaRPr dirty="0"/>
          </a:p>
          <a:p>
            <a:r>
              <a:rPr dirty="0" err="1"/>
              <a:t>心拍数が指標に与える影響（実測側</a:t>
            </a:r>
            <a:r>
              <a:rPr dirty="0"/>
              <a:t>）</a:t>
            </a:r>
          </a:p>
          <a:p>
            <a:r>
              <a:rPr dirty="0"/>
              <a:t>・Wilkinson 2000（J </a:t>
            </a:r>
            <a:r>
              <a:rPr dirty="0" err="1"/>
              <a:t>Physiol</a:t>
            </a:r>
            <a:r>
              <a:rPr dirty="0"/>
              <a:t> 525:263）：</a:t>
            </a:r>
            <a:r>
              <a:rPr dirty="0" err="1"/>
              <a:t>ペーシングで</a:t>
            </a:r>
            <a:r>
              <a:rPr dirty="0"/>
              <a:t> HR </a:t>
            </a:r>
            <a:r>
              <a:rPr dirty="0" err="1"/>
              <a:t>を上げると</a:t>
            </a:r>
            <a:r>
              <a:rPr dirty="0"/>
              <a:t> </a:t>
            </a:r>
            <a:r>
              <a:rPr dirty="0" err="1"/>
              <a:t>AIx</a:t>
            </a:r>
            <a:r>
              <a:rPr dirty="0"/>
              <a:t> </a:t>
            </a:r>
            <a:r>
              <a:rPr dirty="0" err="1"/>
              <a:t>はほぼ直線的に低下し</a:t>
            </a:r>
            <a:r>
              <a:rPr dirty="0"/>
              <a:t>、</a:t>
            </a:r>
          </a:p>
          <a:p>
            <a:r>
              <a:rPr dirty="0"/>
              <a:t>　+10 bpm </a:t>
            </a:r>
            <a:r>
              <a:rPr dirty="0" err="1"/>
              <a:t>あたり約</a:t>
            </a:r>
            <a:r>
              <a:rPr dirty="0"/>
              <a:t> −4%。</a:t>
            </a:r>
            <a:r>
              <a:rPr dirty="0" err="1"/>
              <a:t>ただしこれは中心・末梢の「圧」波形での検討</a:t>
            </a:r>
            <a:r>
              <a:rPr dirty="0"/>
              <a:t>。</a:t>
            </a:r>
          </a:p>
          <a:p>
            <a:r>
              <a:rPr dirty="0"/>
              <a:t>・Md Lazim 2020（Int J Environ Res Public Health 17:2591）：</a:t>
            </a:r>
            <a:r>
              <a:rPr dirty="0" err="1"/>
              <a:t>系統的レビュ</a:t>
            </a:r>
            <a:r>
              <a:rPr dirty="0"/>
              <a:t>ー。</a:t>
            </a:r>
            <a:r>
              <a:rPr dirty="0" err="1"/>
              <a:t>SI・RI・SDPPG（b</a:t>
            </a:r>
            <a:r>
              <a:rPr dirty="0"/>
              <a:t>/a, d/a, AGI）</a:t>
            </a:r>
          </a:p>
          <a:p>
            <a:r>
              <a:rPr dirty="0"/>
              <a:t>　</a:t>
            </a:r>
            <a:r>
              <a:rPr dirty="0" err="1"/>
              <a:t>はいずれも</a:t>
            </a:r>
            <a:r>
              <a:rPr dirty="0"/>
              <a:t> HR </a:t>
            </a:r>
            <a:r>
              <a:rPr dirty="0" err="1"/>
              <a:t>と関連し、PPG</a:t>
            </a:r>
            <a:r>
              <a:rPr dirty="0"/>
              <a:t> </a:t>
            </a:r>
            <a:r>
              <a:rPr dirty="0" err="1"/>
              <a:t>指標には</a:t>
            </a:r>
            <a:r>
              <a:rPr dirty="0"/>
              <a:t> HR 補正が必要（AIx@75 </a:t>
            </a:r>
            <a:r>
              <a:rPr dirty="0" err="1"/>
              <a:t>のような扱い</a:t>
            </a:r>
            <a:r>
              <a:rPr dirty="0"/>
              <a:t>）。</a:t>
            </a:r>
          </a:p>
          <a:p>
            <a:r>
              <a:rPr dirty="0"/>
              <a:t>　</a:t>
            </a:r>
            <a:r>
              <a:rPr dirty="0" err="1"/>
              <a:t>ただし本論文は「指標</a:t>
            </a:r>
            <a:r>
              <a:rPr dirty="0"/>
              <a:t> vs </a:t>
            </a:r>
            <a:r>
              <a:rPr dirty="0" err="1"/>
              <a:t>HR」を見ているだけで、波形そのものの形の変化は見ていない</a:t>
            </a:r>
            <a:r>
              <a:rPr dirty="0"/>
              <a:t>。</a:t>
            </a:r>
          </a:p>
          <a:p>
            <a:r>
              <a:rPr dirty="0"/>
              <a:t>・Hashimoto 2002（J </a:t>
            </a:r>
            <a:r>
              <a:rPr dirty="0" err="1"/>
              <a:t>Hypertens</a:t>
            </a:r>
            <a:r>
              <a:rPr dirty="0"/>
              <a:t> 20:2415）：HR </a:t>
            </a:r>
            <a:r>
              <a:rPr dirty="0" err="1"/>
              <a:t>が</a:t>
            </a:r>
            <a:r>
              <a:rPr dirty="0"/>
              <a:t> PWV </a:t>
            </a:r>
            <a:r>
              <a:rPr dirty="0" err="1"/>
              <a:t>とは独立に</a:t>
            </a:r>
            <a:r>
              <a:rPr dirty="0"/>
              <a:t> SDPPG </a:t>
            </a:r>
            <a:r>
              <a:rPr dirty="0" err="1"/>
              <a:t>指標と関連することを示す</a:t>
            </a:r>
            <a:r>
              <a:rPr dirty="0"/>
              <a:t>。</a:t>
            </a:r>
          </a:p>
          <a:p>
            <a:endParaRPr dirty="0"/>
          </a:p>
          <a:p>
            <a:r>
              <a:rPr dirty="0" err="1"/>
              <a:t>注意して話すこと</a:t>
            </a:r>
            <a:endParaRPr dirty="0"/>
          </a:p>
          <a:p>
            <a:r>
              <a:rPr dirty="0"/>
              <a:t>・</a:t>
            </a:r>
            <a:r>
              <a:rPr dirty="0" err="1"/>
              <a:t>波形の直接的な根拠は</a:t>
            </a:r>
            <a:r>
              <a:rPr dirty="0"/>
              <a:t> in-silico モデル1本（Charlton 2019）であり、ヒト指尖 PPG </a:t>
            </a:r>
            <a:r>
              <a:rPr dirty="0" err="1"/>
              <a:t>の実測ではない</a:t>
            </a:r>
            <a:r>
              <a:rPr dirty="0"/>
              <a:t>。</a:t>
            </a:r>
          </a:p>
          <a:p>
            <a:r>
              <a:rPr dirty="0"/>
              <a:t>・</a:t>
            </a:r>
            <a:r>
              <a:rPr dirty="0" err="1"/>
              <a:t>このモデルでは</a:t>
            </a:r>
            <a:r>
              <a:rPr dirty="0"/>
              <a:t> HR </a:t>
            </a:r>
            <a:r>
              <a:rPr dirty="0" err="1"/>
              <a:t>を変えると</a:t>
            </a:r>
            <a:r>
              <a:rPr dirty="0"/>
              <a:t> LVET </a:t>
            </a:r>
            <a:r>
              <a:rPr dirty="0" err="1"/>
              <a:t>も経験式で連動して変わるため</a:t>
            </a:r>
            <a:r>
              <a:rPr dirty="0"/>
              <a:t>、「</a:t>
            </a:r>
            <a:r>
              <a:rPr dirty="0" err="1"/>
              <a:t>純粋な</a:t>
            </a:r>
            <a:r>
              <a:rPr dirty="0"/>
              <a:t> HR </a:t>
            </a:r>
            <a:r>
              <a:rPr dirty="0" err="1"/>
              <a:t>効果」ではない</a:t>
            </a:r>
            <a:r>
              <a:rPr dirty="0"/>
              <a:t>。</a:t>
            </a:r>
          </a:p>
          <a:p>
            <a:r>
              <a:rPr dirty="0"/>
              <a:t>　CO＝HR×SV </a:t>
            </a:r>
            <a:r>
              <a:rPr dirty="0" err="1"/>
              <a:t>の関係を通じた血圧・PWV</a:t>
            </a:r>
            <a:r>
              <a:rPr dirty="0"/>
              <a:t> </a:t>
            </a:r>
            <a:r>
              <a:rPr dirty="0" err="1"/>
              <a:t>の変化も混じりうる</a:t>
            </a:r>
            <a:r>
              <a:rPr dirty="0"/>
              <a:t>。</a:t>
            </a:r>
          </a:p>
          <a:p>
            <a:r>
              <a:rPr dirty="0"/>
              <a:t>・</a:t>
            </a:r>
            <a:r>
              <a:rPr dirty="0" err="1"/>
              <a:t>実務上の結論は変わらない：SI・RI</a:t>
            </a:r>
            <a:r>
              <a:rPr dirty="0"/>
              <a:t> </a:t>
            </a:r>
            <a:r>
              <a:rPr dirty="0" err="1"/>
              <a:t>を経時比較するときは</a:t>
            </a:r>
            <a:r>
              <a:rPr dirty="0"/>
              <a:t> HR </a:t>
            </a:r>
            <a:r>
              <a:rPr dirty="0" err="1"/>
              <a:t>をそろえるか補正する</a:t>
            </a:r>
            <a:r>
              <a:rPr dirty="0"/>
              <a:t>。</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43</a:t>
            </a:fld>
            <a:endParaRPr kumimoji="1" lang="ja-JP" altLang="en-US"/>
          </a:p>
        </p:txBody>
      </p:sp>
    </p:spTree>
    <p:extLst>
      <p:ext uri="{BB962C8B-B14F-4D97-AF65-F5344CB8AC3E}">
        <p14:creationId xmlns:p14="http://schemas.microsoft.com/office/powerpoint/2010/main" val="31899290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今までPPG波形に影響を与える因子とどのような影響があるかを見てきました</a:t>
            </a:r>
            <a:r>
              <a:rPr lang="en-US" dirty="0"/>
              <a:t>。</a:t>
            </a:r>
          </a:p>
          <a:p>
            <a:r>
              <a:rPr lang="en-US" dirty="0" err="1"/>
              <a:t>まとめですが、前負荷は振幅に影響します</a:t>
            </a:r>
            <a:r>
              <a:rPr lang="en-US" dirty="0"/>
              <a:t>。</a:t>
            </a:r>
          </a:p>
          <a:p>
            <a:r>
              <a:rPr lang="en-US" dirty="0" err="1"/>
              <a:t>大血管スティッフネスは反射波の時相に反射波の時相に影響します</a:t>
            </a:r>
            <a:r>
              <a:rPr lang="en-US" dirty="0"/>
              <a:t>。</a:t>
            </a:r>
          </a:p>
          <a:p>
            <a:r>
              <a:rPr lang="en-US" dirty="0" err="1"/>
              <a:t>末梢血管トーヌスは反射波の振幅に影響します</a:t>
            </a:r>
            <a:r>
              <a:rPr lang="en-US" dirty="0"/>
              <a:t>。</a:t>
            </a:r>
          </a:p>
          <a:p>
            <a:r>
              <a:rPr lang="en-US" dirty="0" err="1"/>
              <a:t>心収縮力は前進波の勾配に影響します</a:t>
            </a:r>
            <a:r>
              <a:rPr lang="en-US" dirty="0"/>
              <a:t>。</a:t>
            </a:r>
          </a:p>
          <a:p>
            <a:r>
              <a:rPr lang="en-US" dirty="0" err="1"/>
              <a:t>心拍数は前進波の横幅と反射波の振幅に影響します</a:t>
            </a:r>
            <a:r>
              <a:rPr lang="en-US" dirty="0"/>
              <a:t>。</a:t>
            </a:r>
          </a:p>
          <a:p>
            <a:endParaRPr lang="en-US" dirty="0"/>
          </a:p>
          <a:p>
            <a:r>
              <a:rPr lang="en-US" dirty="0" err="1"/>
              <a:t>特に後負荷に関する研究が進んでいる</a:t>
            </a:r>
            <a:r>
              <a:rPr lang="en-US" dirty="0"/>
              <a:t>。</a:t>
            </a:r>
          </a:p>
          <a:p>
            <a:endParaRPr lang="en-US" dirty="0"/>
          </a:p>
          <a:p>
            <a:endParaRPr lang="en-US" dirty="0"/>
          </a:p>
          <a:p>
            <a:endParaRPr lang="en-US" dirty="0"/>
          </a:p>
          <a:p>
            <a:r>
              <a:rPr dirty="0"/>
              <a:t>3章（循環因子）のまとめ。1枚で「どの因子が波形のどこを動かすか」を一覧する。</a:t>
            </a:r>
          </a:p>
          <a:p>
            <a:endParaRPr dirty="0"/>
          </a:p>
          <a:p>
            <a:r>
              <a:rPr dirty="0" err="1"/>
              <a:t>波形は模式図（ガウス成分の重ね合わせ）で、灰＝基準、青＝当該因子が上がったとき</a:t>
            </a:r>
            <a:r>
              <a:rPr dirty="0"/>
              <a:t>。</a:t>
            </a:r>
          </a:p>
          <a:p>
            <a:r>
              <a:rPr dirty="0" err="1"/>
              <a:t>振幅・時相の変化方向は各原著の記載と一致させてあるが、実測波形そのものではない</a:t>
            </a:r>
            <a:r>
              <a:rPr dirty="0"/>
              <a:t>。</a:t>
            </a:r>
          </a:p>
          <a:p>
            <a:endParaRPr dirty="0"/>
          </a:p>
          <a:p>
            <a:r>
              <a:rPr dirty="0" err="1"/>
              <a:t>各行の根拠</a:t>
            </a:r>
            <a:endParaRPr dirty="0"/>
          </a:p>
          <a:p>
            <a:r>
              <a:rPr dirty="0"/>
              <a:t>・</a:t>
            </a:r>
            <a:r>
              <a:rPr dirty="0" err="1"/>
              <a:t>前負荷</a:t>
            </a:r>
            <a:r>
              <a:rPr dirty="0"/>
              <a:t> ↑ → </a:t>
            </a:r>
            <a:r>
              <a:rPr dirty="0" err="1"/>
              <a:t>全体の振幅が増大</a:t>
            </a:r>
            <a:endParaRPr dirty="0"/>
          </a:p>
          <a:p>
            <a:r>
              <a:rPr dirty="0"/>
              <a:t>　Alian 2011（LBNP </a:t>
            </a:r>
            <a:r>
              <a:rPr dirty="0" err="1"/>
              <a:t>による中心血液量減少で指尖PPGの高さ・面積・傾きが低下</a:t>
            </a:r>
            <a:r>
              <a:rPr dirty="0"/>
              <a:t>）、</a:t>
            </a:r>
          </a:p>
          <a:p>
            <a:r>
              <a:rPr dirty="0"/>
              <a:t>　</a:t>
            </a:r>
            <a:r>
              <a:rPr dirty="0" err="1"/>
              <a:t>Cannesson</a:t>
            </a:r>
            <a:r>
              <a:rPr dirty="0"/>
              <a:t> 2005（呼吸性振幅変動と脈圧変動の対応）。＝</a:t>
            </a:r>
            <a:r>
              <a:rPr dirty="0" err="1"/>
              <a:t>実測</a:t>
            </a:r>
            <a:r>
              <a:rPr dirty="0"/>
              <a:t>。</a:t>
            </a:r>
          </a:p>
          <a:p>
            <a:r>
              <a:rPr dirty="0"/>
              <a:t>・</a:t>
            </a:r>
            <a:r>
              <a:rPr dirty="0" err="1"/>
              <a:t>大血管の硬さ</a:t>
            </a:r>
            <a:r>
              <a:rPr dirty="0"/>
              <a:t> ↑ → </a:t>
            </a:r>
            <a:r>
              <a:rPr dirty="0" err="1"/>
              <a:t>反射波が早く戻り、収縮期ピークへ融合して一峰性化</a:t>
            </a:r>
            <a:endParaRPr dirty="0"/>
          </a:p>
          <a:p>
            <a:r>
              <a:rPr dirty="0"/>
              <a:t>　</a:t>
            </a:r>
            <a:r>
              <a:rPr dirty="0" err="1"/>
              <a:t>Millasseau</a:t>
            </a:r>
            <a:r>
              <a:rPr dirty="0"/>
              <a:t> 2002（加齢で ΔT </a:t>
            </a:r>
            <a:r>
              <a:rPr dirty="0" err="1"/>
              <a:t>短縮・SI</a:t>
            </a:r>
            <a:r>
              <a:rPr dirty="0"/>
              <a:t> </a:t>
            </a:r>
            <a:r>
              <a:rPr dirty="0" err="1"/>
              <a:t>上昇</a:t>
            </a:r>
            <a:r>
              <a:rPr dirty="0"/>
              <a:t>）、Charlton 2019（in-silico）。＝</a:t>
            </a:r>
            <a:r>
              <a:rPr dirty="0" err="1"/>
              <a:t>実測＋モデル</a:t>
            </a:r>
            <a:r>
              <a:rPr dirty="0"/>
              <a:t>。</a:t>
            </a:r>
          </a:p>
          <a:p>
            <a:r>
              <a:rPr dirty="0"/>
              <a:t>・</a:t>
            </a:r>
            <a:r>
              <a:rPr dirty="0" err="1"/>
              <a:t>末梢トーヌス</a:t>
            </a:r>
            <a:r>
              <a:rPr dirty="0"/>
              <a:t> ↑ → </a:t>
            </a:r>
            <a:r>
              <a:rPr dirty="0" err="1"/>
              <a:t>反射波・切痕が高くなる（RI</a:t>
            </a:r>
            <a:r>
              <a:rPr dirty="0"/>
              <a:t> </a:t>
            </a:r>
            <a:r>
              <a:rPr dirty="0" err="1"/>
              <a:t>上昇</a:t>
            </a:r>
            <a:r>
              <a:rPr dirty="0"/>
              <a:t>）</a:t>
            </a:r>
          </a:p>
          <a:p>
            <a:r>
              <a:rPr dirty="0"/>
              <a:t>　</a:t>
            </a:r>
            <a:r>
              <a:rPr dirty="0" err="1"/>
              <a:t>Chowienczyk</a:t>
            </a:r>
            <a:r>
              <a:rPr dirty="0"/>
              <a:t> 1999（β2刺激薬で RI −11.8%、</a:t>
            </a:r>
            <a:r>
              <a:rPr dirty="0" err="1"/>
              <a:t>ニトログリセリンで</a:t>
            </a:r>
            <a:r>
              <a:rPr dirty="0"/>
              <a:t> −18.3%）、</a:t>
            </a:r>
            <a:r>
              <a:rPr dirty="0" err="1"/>
              <a:t>Takazawa</a:t>
            </a:r>
            <a:r>
              <a:rPr dirty="0"/>
              <a:t> 1998。＝</a:t>
            </a:r>
            <a:r>
              <a:rPr dirty="0" err="1"/>
              <a:t>実測</a:t>
            </a:r>
            <a:r>
              <a:rPr dirty="0"/>
              <a:t>。</a:t>
            </a:r>
          </a:p>
          <a:p>
            <a:r>
              <a:rPr dirty="0"/>
              <a:t>・</a:t>
            </a:r>
            <a:r>
              <a:rPr dirty="0" err="1"/>
              <a:t>心収縮力</a:t>
            </a:r>
            <a:r>
              <a:rPr dirty="0"/>
              <a:t> ↑ → </a:t>
            </a:r>
            <a:r>
              <a:rPr dirty="0" err="1"/>
              <a:t>立ち上がりが鋭く・速くなる（収縮期ピークが早く尖鋭化</a:t>
            </a:r>
            <a:r>
              <a:rPr dirty="0"/>
              <a:t>）</a:t>
            </a:r>
          </a:p>
          <a:p>
            <a:r>
              <a:rPr dirty="0"/>
              <a:t>　</a:t>
            </a:r>
            <a:r>
              <a:rPr dirty="0" err="1"/>
              <a:t>Pagoulatou</a:t>
            </a:r>
            <a:r>
              <a:rPr dirty="0"/>
              <a:t> 2021・Piccioli 2022 </a:t>
            </a:r>
            <a:r>
              <a:rPr dirty="0" err="1"/>
              <a:t>はいずれも動脈圧波形のモデル研究であり、指尖PPG</a:t>
            </a:r>
            <a:r>
              <a:rPr dirty="0"/>
              <a:t> </a:t>
            </a:r>
            <a:r>
              <a:rPr dirty="0" err="1"/>
              <a:t>の実測ではない</a:t>
            </a:r>
            <a:r>
              <a:rPr dirty="0"/>
              <a:t>。</a:t>
            </a:r>
          </a:p>
          <a:p>
            <a:r>
              <a:rPr dirty="0"/>
              <a:t>　＝</a:t>
            </a:r>
            <a:r>
              <a:rPr dirty="0" err="1"/>
              <a:t>外挿。断定しないこと</a:t>
            </a:r>
            <a:r>
              <a:rPr dirty="0"/>
              <a:t>。</a:t>
            </a:r>
          </a:p>
          <a:p>
            <a:r>
              <a:rPr dirty="0"/>
              <a:t>・</a:t>
            </a:r>
            <a:r>
              <a:rPr dirty="0" err="1"/>
              <a:t>心拍数</a:t>
            </a:r>
            <a:r>
              <a:rPr dirty="0"/>
              <a:t> ↑ → </a:t>
            </a:r>
            <a:r>
              <a:rPr dirty="0" err="1"/>
              <a:t>周期が短縮し、収縮期ピークで正規化した反射波成分が相対的に低下</a:t>
            </a:r>
            <a:endParaRPr dirty="0"/>
          </a:p>
          <a:p>
            <a:r>
              <a:rPr dirty="0"/>
              <a:t>　Charlton 2019 </a:t>
            </a:r>
            <a:r>
              <a:rPr dirty="0" err="1"/>
              <a:t>の</a:t>
            </a:r>
            <a:r>
              <a:rPr dirty="0"/>
              <a:t> in-silico 25歳仮想被験者で各パラメータを ±1SD </a:t>
            </a:r>
            <a:r>
              <a:rPr dirty="0" err="1"/>
              <a:t>動かした波形が根拠</a:t>
            </a:r>
            <a:r>
              <a:rPr dirty="0"/>
              <a:t>。＝</a:t>
            </a:r>
            <a:r>
              <a:rPr dirty="0" err="1"/>
              <a:t>モデル</a:t>
            </a:r>
            <a:r>
              <a:rPr dirty="0"/>
              <a:t>。</a:t>
            </a:r>
          </a:p>
          <a:p>
            <a:r>
              <a:rPr dirty="0"/>
              <a:t>　</a:t>
            </a:r>
            <a:r>
              <a:rPr dirty="0" err="1"/>
              <a:t>実測側にあるのは「指標</a:t>
            </a:r>
            <a:r>
              <a:rPr dirty="0"/>
              <a:t> vs </a:t>
            </a:r>
            <a:r>
              <a:rPr dirty="0" err="1"/>
              <a:t>心拍数」の関連（Wilkinson</a:t>
            </a:r>
            <a:r>
              <a:rPr dirty="0"/>
              <a:t> 2000 </a:t>
            </a:r>
            <a:r>
              <a:rPr dirty="0" err="1"/>
              <a:t>の</a:t>
            </a:r>
            <a:r>
              <a:rPr dirty="0"/>
              <a:t> </a:t>
            </a:r>
            <a:r>
              <a:rPr dirty="0" err="1"/>
              <a:t>AIx、Md</a:t>
            </a:r>
            <a:r>
              <a:rPr dirty="0"/>
              <a:t> Lazim 2020）であって、</a:t>
            </a:r>
          </a:p>
          <a:p>
            <a:r>
              <a:rPr dirty="0"/>
              <a:t>　</a:t>
            </a:r>
            <a:r>
              <a:rPr dirty="0" err="1"/>
              <a:t>波形の形そのものの実測ではない</a:t>
            </a:r>
            <a:r>
              <a:rPr dirty="0"/>
              <a:t>。</a:t>
            </a:r>
          </a:p>
          <a:p>
            <a:endParaRPr dirty="0"/>
          </a:p>
          <a:p>
            <a:r>
              <a:rPr dirty="0" err="1"/>
              <a:t>話し方</a:t>
            </a:r>
            <a:endParaRPr dirty="0"/>
          </a:p>
          <a:p>
            <a:r>
              <a:rPr dirty="0"/>
              <a:t>・3.6（文献強度）と対になるスライド。3.6 </a:t>
            </a:r>
            <a:r>
              <a:rPr dirty="0" err="1"/>
              <a:t>で「どこまで言えるか」を示し、ここで「何が起きるか」を</a:t>
            </a:r>
            <a:endParaRPr dirty="0"/>
          </a:p>
          <a:p>
            <a:r>
              <a:rPr dirty="0"/>
              <a:t>　</a:t>
            </a:r>
            <a:r>
              <a:rPr dirty="0" err="1"/>
              <a:t>一覧する。バッジの色は</a:t>
            </a:r>
            <a:r>
              <a:rPr dirty="0"/>
              <a:t> 3.6 </a:t>
            </a:r>
            <a:r>
              <a:rPr dirty="0" err="1"/>
              <a:t>と同じ意味（緑＝実測／金＝実測+モデル／橙＝モデル／赤＝外挿</a:t>
            </a:r>
            <a:r>
              <a:rPr dirty="0"/>
              <a:t>）。</a:t>
            </a:r>
          </a:p>
          <a:p>
            <a:r>
              <a:rPr dirty="0"/>
              <a:t>・</a:t>
            </a:r>
            <a:r>
              <a:rPr dirty="0" err="1"/>
              <a:t>因子は単独では動かない（前負荷が下がれば反射的に心拍数もトーヌスも動く）ので</a:t>
            </a:r>
            <a:r>
              <a:rPr dirty="0"/>
              <a:t>、</a:t>
            </a:r>
          </a:p>
          <a:p>
            <a:r>
              <a:rPr dirty="0"/>
              <a:t>　</a:t>
            </a:r>
            <a:r>
              <a:rPr dirty="0" err="1"/>
              <a:t>実際の波形は複数因子の合成であることを必ず添える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麻酔薬</a:t>
            </a:r>
            <a:r>
              <a:rPr kumimoji="1" lang="en-US" altLang="ja-JP" dirty="0"/>
              <a:t>【</a:t>
            </a:r>
            <a:r>
              <a:rPr kumimoji="1" lang="ja-JP" altLang="en-US"/>
              <a:t>イソフルラン</a:t>
            </a:r>
            <a:r>
              <a:rPr kumimoji="1" lang="en-US" altLang="ja-JP" dirty="0"/>
              <a:t>】</a:t>
            </a:r>
            <a:r>
              <a:rPr kumimoji="1" lang="ja-JP" altLang="en-US"/>
              <a:t>による血管拡張</a:t>
            </a:r>
            <a:endParaRPr kumimoji="1" lang="en-US" altLang="ja-JP" dirty="0"/>
          </a:p>
          <a:p>
            <a:endParaRPr kumimoji="1" lang="en-US" altLang="ja-JP" dirty="0"/>
          </a:p>
          <a:p>
            <a:r>
              <a:rPr kumimoji="1" lang="ja-JP" altLang="en-US"/>
              <a:t>古い総説文献で、イソフルラン麻酔の際の麻酔中の</a:t>
            </a:r>
            <a:r>
              <a:rPr kumimoji="1" lang="en-US" altLang="ja-JP" dirty="0"/>
              <a:t>PPG</a:t>
            </a:r>
            <a:r>
              <a:rPr kumimoji="1" lang="ja-JP" altLang="en-US"/>
              <a:t>波形観察の結果をまとめています。</a:t>
            </a:r>
            <a:endParaRPr kumimoji="1" lang="en-US" altLang="ja-JP" dirty="0"/>
          </a:p>
          <a:p>
            <a:r>
              <a:rPr kumimoji="1" lang="ja-JP" altLang="en-US"/>
              <a:t>浅麻酔状態や心麻酔状態の変化を記述しており、数値的な検証ではなく、切痕を対象としていますが、実際にこのような波形変化をすることが多いと思います。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effectLst/>
                <a:latin typeface="+mn-lt"/>
                <a:ea typeface="+mn-ea"/>
                <a:cs typeface="+mn-cs"/>
              </a:rPr>
              <a:t>圧・脈トレースの下行部の切痕の位置は血管運動トーヌスの指標に使える。血管運動トーヌス低下は大半の全麻導入の特徴。血管拡張が進むと末梢静脈が拡張し脈信号が増し、切痕は拡張期圧ベースラインへ下降する。これは安定麻酔中のニトロプルシド・ニトログリセリン・神経節遮断薬の有効投与の有用な徴候でもある</a:t>
            </a:r>
            <a:r>
              <a:rPr kumimoji="1" lang="en-US" altLang="ja-JP" sz="1200" kern="1200" dirty="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切痕がベースライン上にあると、これら薬はそれ以上血圧を下げず回復を遅らせるだけ</a:t>
            </a:r>
            <a:r>
              <a:rPr lang="ja-JP" altLang="ja-JP">
                <a:effectLst/>
              </a:rPr>
              <a:t> </a:t>
            </a:r>
            <a:endParaRPr kumimoji="1" lang="ja-JP" altLang="en-US"/>
          </a:p>
          <a:p>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46</a:t>
            </a:fld>
            <a:endParaRPr kumimoji="1" lang="ja-JP" altLang="en-US"/>
          </a:p>
        </p:txBody>
      </p:sp>
    </p:spTree>
    <p:extLst>
      <p:ext uri="{BB962C8B-B14F-4D97-AF65-F5344CB8AC3E}">
        <p14:creationId xmlns:p14="http://schemas.microsoft.com/office/powerpoint/2010/main" val="42232436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D1CB0-CE00-1CA1-E7F7-7EEDB009DCB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A32D14D-20B6-BBF4-A9E2-BD253587BB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F7221BC-444F-B749-73D8-7FAB73FB3F5E}"/>
              </a:ext>
            </a:extLst>
          </p:cNvPr>
          <p:cNvSpPr>
            <a:spLocks noGrp="1"/>
          </p:cNvSpPr>
          <p:nvPr>
            <p:ph type="body" idx="1"/>
          </p:nvPr>
        </p:nvSpPr>
        <p:spPr/>
        <p:txBody>
          <a:bodyPr/>
          <a:lstStyle/>
          <a:p>
            <a:pPr>
              <a:lnSpc>
                <a:spcPct val="110000"/>
              </a:lnSpc>
            </a:pPr>
            <a:r>
              <a:rPr kumimoji="1" lang="ja-JP" altLang="en-US"/>
              <a:t>続いて</a:t>
            </a:r>
            <a:r>
              <a:rPr lang="en-US" altLang="ja-JP" sz="1200" b="1" dirty="0">
                <a:latin typeface="Meiryo"/>
                <a:ea typeface="Meiryo"/>
                <a:cs typeface="Meiryo"/>
              </a:rPr>
              <a:t>CABG15</a:t>
            </a:r>
            <a:r>
              <a:rPr lang="ja-JP" altLang="en-US" sz="1200" b="1">
                <a:latin typeface="Meiryo"/>
                <a:ea typeface="Meiryo"/>
                <a:cs typeface="Meiryo"/>
              </a:rPr>
              <a:t>症例で</a:t>
            </a:r>
            <a:r>
              <a:rPr lang="en-US" altLang="ja-JP" sz="1200" b="1" dirty="0">
                <a:latin typeface="Meiryo"/>
                <a:ea typeface="Meiryo"/>
                <a:cs typeface="Meiryo"/>
              </a:rPr>
              <a:t> PPG</a:t>
            </a:r>
            <a:r>
              <a:rPr lang="ja-JP" altLang="en-US" sz="1200" b="1">
                <a:latin typeface="Meiryo"/>
                <a:ea typeface="Meiryo"/>
                <a:cs typeface="Meiryo"/>
              </a:rPr>
              <a:t>波形</a:t>
            </a:r>
            <a:r>
              <a:rPr lang="en-US" altLang="ja-JP" sz="1200" b="1" dirty="0">
                <a:latin typeface="Meiryo"/>
                <a:ea typeface="Meiryo"/>
                <a:cs typeface="Meiryo"/>
              </a:rPr>
              <a:t> </a:t>
            </a:r>
            <a:r>
              <a:rPr lang="ja-JP" altLang="en-US" sz="1200" b="1">
                <a:latin typeface="Meiryo"/>
                <a:ea typeface="Meiryo"/>
                <a:cs typeface="Meiryo"/>
              </a:rPr>
              <a:t>を目視で</a:t>
            </a:r>
            <a:r>
              <a:rPr lang="en-US" altLang="ja-JP" sz="1200" b="1" dirty="0">
                <a:latin typeface="Meiryo"/>
                <a:ea typeface="Meiryo"/>
                <a:cs typeface="Meiryo"/>
              </a:rPr>
              <a:t> </a:t>
            </a:r>
            <a:r>
              <a:rPr lang="ja-JP" altLang="en-US" sz="1200" b="1">
                <a:latin typeface="Meiryo"/>
                <a:ea typeface="Meiryo"/>
                <a:cs typeface="Meiryo"/>
              </a:rPr>
              <a:t>切痕位置</a:t>
            </a:r>
            <a:r>
              <a:rPr lang="en-US" altLang="ja-JP" sz="1200" b="1" dirty="0">
                <a:latin typeface="Meiryo"/>
                <a:ea typeface="Meiryo"/>
                <a:cs typeface="Meiryo"/>
              </a:rPr>
              <a:t>× </a:t>
            </a:r>
            <a:r>
              <a:rPr lang="ja-JP" altLang="en-US" sz="1200" b="1">
                <a:latin typeface="Meiryo"/>
                <a:ea typeface="Meiryo"/>
                <a:cs typeface="Meiryo"/>
              </a:rPr>
              <a:t>振幅 で</a:t>
            </a:r>
            <a:r>
              <a:rPr lang="en-US" altLang="ja-JP" sz="1200" b="1" dirty="0">
                <a:latin typeface="Meiryo"/>
                <a:ea typeface="Meiryo"/>
                <a:cs typeface="Meiryo"/>
              </a:rPr>
              <a:t>6</a:t>
            </a:r>
            <a:r>
              <a:rPr lang="ja-JP" altLang="en-US" sz="1200" b="1">
                <a:latin typeface="Meiryo"/>
                <a:ea typeface="Meiryo"/>
                <a:cs typeface="Meiryo"/>
              </a:rPr>
              <a:t>つに分類。　</a:t>
            </a:r>
            <a:endParaRPr lang="en-US" altLang="ja-JP" sz="1200" b="1" dirty="0">
              <a:latin typeface="Meiryo"/>
              <a:ea typeface="Meiryo"/>
              <a:cs typeface="Meiryo"/>
            </a:endParaRPr>
          </a:p>
          <a:p>
            <a:pPr>
              <a:lnSpc>
                <a:spcPct val="110000"/>
              </a:lnSpc>
            </a:pPr>
            <a:r>
              <a:rPr lang="ja-JP" altLang="en-US" sz="1200" b="1">
                <a:latin typeface="Meiryo"/>
                <a:ea typeface="Meiryo"/>
                <a:cs typeface="Meiryo"/>
              </a:rPr>
              <a:t>この分類が血圧変化や循環パラメータと関連があるか調べた。</a:t>
            </a:r>
            <a:endParaRPr lang="en-US" altLang="ja-JP" sz="1200" b="1" dirty="0">
              <a:latin typeface="Meiryo"/>
              <a:ea typeface="Meiryo"/>
              <a:cs typeface="Meiryo"/>
            </a:endParaRPr>
          </a:p>
          <a:p>
            <a:pPr>
              <a:lnSpc>
                <a:spcPct val="110000"/>
              </a:lnSpc>
            </a:pPr>
            <a:endParaRPr kumimoji="1" lang="en-US" altLang="ja-JP" sz="1200" b="1" dirty="0">
              <a:latin typeface="Meiryo"/>
              <a:ea typeface="Meiryo"/>
            </a:endParaRPr>
          </a:p>
          <a:p>
            <a:pPr>
              <a:lnSpc>
                <a:spcPct val="110000"/>
              </a:lnSpc>
            </a:pPr>
            <a:endParaRPr kumimoji="1" lang="ja-JP" altLang="en-US" sz="1200" b="1"/>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PPG</a:t>
            </a:r>
            <a:r>
              <a:rPr kumimoji="1" lang="ja-JP" altLang="en-US"/>
              <a:t>を目視で</a:t>
            </a:r>
            <a:r>
              <a:rPr kumimoji="1" lang="en-US" altLang="ja-JP" dirty="0"/>
              <a:t>6</a:t>
            </a:r>
            <a:r>
              <a:rPr kumimoji="1" lang="ja-JP" altLang="en-US"/>
              <a:t>分類し、これらの分類が、</a:t>
            </a:r>
            <a:r>
              <a:rPr kumimoji="1" lang="en-US" altLang="ja-JP" dirty="0"/>
              <a:t>SVR,</a:t>
            </a:r>
            <a:r>
              <a:rPr kumimoji="1" lang="ja-JP" altLang="en-US"/>
              <a:t>高血圧圧、低血圧、コンプライアンスとよく関連した。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a:solidFill>
                  <a:srgbClr val="8C8C8C"/>
                </a:solidFill>
                <a:latin typeface="Meiryo"/>
                <a:ea typeface="Meiryo"/>
                <a:cs typeface="Meiryo"/>
              </a:rPr>
              <a:t>切痕位置（</a:t>
            </a:r>
            <a:r>
              <a:rPr lang="en" altLang="ja-JP" sz="1200" b="0" dirty="0">
                <a:solidFill>
                  <a:srgbClr val="8C8C8C"/>
                </a:solidFill>
                <a:latin typeface="Meiryo"/>
                <a:ea typeface="Meiryo"/>
                <a:cs typeface="Meiryo"/>
              </a:rPr>
              <a:t>I:</a:t>
            </a:r>
            <a:r>
              <a:rPr lang="ja-JP" altLang="en-US" sz="1200" b="0">
                <a:solidFill>
                  <a:srgbClr val="8C8C8C"/>
                </a:solidFill>
                <a:latin typeface="Meiryo"/>
                <a:ea typeface="Meiryo"/>
                <a:cs typeface="Meiryo"/>
              </a:rPr>
              <a:t>収縮期ピークに融合 → </a:t>
            </a:r>
            <a:r>
              <a:rPr lang="en" altLang="ja-JP" sz="1200" b="0" dirty="0">
                <a:solidFill>
                  <a:srgbClr val="8C8C8C"/>
                </a:solidFill>
                <a:latin typeface="Meiryo"/>
                <a:ea typeface="Meiryo"/>
                <a:cs typeface="Meiryo"/>
              </a:rPr>
              <a:t>VI:</a:t>
            </a:r>
            <a:r>
              <a:rPr lang="ja-JP" altLang="en-US" sz="1200" b="0">
                <a:solidFill>
                  <a:srgbClr val="8C8C8C"/>
                </a:solidFill>
                <a:latin typeface="Meiryo"/>
                <a:ea typeface="Meiryo"/>
                <a:cs typeface="Meiryo"/>
              </a:rPr>
              <a:t>陰性）</a:t>
            </a:r>
            <a:r>
              <a:rPr lang="en-US" altLang="ja-JP" sz="1200" b="0" dirty="0">
                <a:solidFill>
                  <a:srgbClr val="8C8C8C"/>
                </a:solidFill>
                <a:latin typeface="Meiryo"/>
                <a:ea typeface="Meiryo"/>
                <a:cs typeface="Meiryo"/>
              </a:rPr>
              <a:t>× </a:t>
            </a:r>
            <a:r>
              <a:rPr lang="ja-JP" altLang="en-US" sz="1200" b="0">
                <a:solidFill>
                  <a:srgbClr val="8C8C8C"/>
                </a:solidFill>
                <a:latin typeface="Meiryo"/>
                <a:ea typeface="Meiryo"/>
                <a:cs typeface="Meiryo"/>
              </a:rPr>
              <a:t>振幅 で</a:t>
            </a:r>
            <a:r>
              <a:rPr lang="en-US" altLang="ja-JP" sz="1200" b="0" dirty="0">
                <a:solidFill>
                  <a:srgbClr val="8C8C8C"/>
                </a:solidFill>
                <a:latin typeface="Meiryo"/>
                <a:ea typeface="Meiryo"/>
                <a:cs typeface="Meiryo"/>
              </a:rPr>
              <a:t>6</a:t>
            </a:r>
            <a:r>
              <a:rPr lang="ja-JP" altLang="en-US" sz="1200" b="0">
                <a:solidFill>
                  <a:srgbClr val="8C8C8C"/>
                </a:solidFill>
                <a:latin typeface="Meiryo"/>
                <a:ea typeface="Meiryo"/>
                <a:cs typeface="Meiryo"/>
              </a:rPr>
              <a:t>分類。</a:t>
            </a:r>
            <a:r>
              <a:rPr lang="en" altLang="ja-JP" sz="1200" b="0" dirty="0">
                <a:solidFill>
                  <a:srgbClr val="8C8C8C"/>
                </a:solidFill>
                <a:latin typeface="Meiryo"/>
                <a:ea typeface="Meiryo"/>
                <a:cs typeface="Meiryo"/>
              </a:rPr>
              <a:t>SBP</a:t>
            </a:r>
            <a:r>
              <a:rPr lang="ja-JP" altLang="en" sz="1200" b="0">
                <a:solidFill>
                  <a:srgbClr val="8C8C8C"/>
                </a:solidFill>
                <a:latin typeface="Meiryo"/>
                <a:ea typeface="Meiryo"/>
                <a:cs typeface="Meiryo"/>
              </a:rPr>
              <a:t>・</a:t>
            </a:r>
            <a:r>
              <a:rPr lang="en" altLang="ja-JP" sz="1200" b="0" dirty="0">
                <a:solidFill>
                  <a:srgbClr val="8C8C8C"/>
                </a:solidFill>
                <a:latin typeface="Meiryo"/>
                <a:ea typeface="Meiryo"/>
                <a:cs typeface="Meiryo"/>
              </a:rPr>
              <a:t>SVR</a:t>
            </a:r>
            <a:r>
              <a:rPr lang="ja-JP" altLang="en" sz="1200" b="0">
                <a:solidFill>
                  <a:srgbClr val="8C8C8C"/>
                </a:solidFill>
                <a:latin typeface="Meiryo"/>
                <a:ea typeface="Meiryo"/>
                <a:cs typeface="Meiryo"/>
              </a:rPr>
              <a:t>・</a:t>
            </a:r>
            <a:r>
              <a:rPr lang="ja-JP" altLang="en-US" sz="1200" b="0">
                <a:solidFill>
                  <a:srgbClr val="8C8C8C"/>
                </a:solidFill>
                <a:latin typeface="Meiryo"/>
                <a:ea typeface="Meiryo"/>
                <a:cs typeface="Meiryo"/>
              </a:rPr>
              <a:t>コンプライアンスと相関 </a:t>
            </a:r>
            <a:r>
              <a:rPr lang="en-US" altLang="ja-JP" sz="1200" b="0" dirty="0">
                <a:solidFill>
                  <a:srgbClr val="8C8C8C"/>
                </a:solidFill>
                <a:latin typeface="Meiryo"/>
                <a:ea typeface="Meiryo"/>
                <a:cs typeface="Meiryo"/>
              </a:rPr>
              <a:t>(</a:t>
            </a:r>
            <a:r>
              <a:rPr lang="en" altLang="ja-JP" sz="1200" b="0" dirty="0" err="1">
                <a:solidFill>
                  <a:srgbClr val="8C8C8C"/>
                </a:solidFill>
                <a:latin typeface="Meiryo"/>
                <a:ea typeface="Meiryo"/>
                <a:cs typeface="Meiryo"/>
              </a:rPr>
              <a:t>Tusman</a:t>
            </a:r>
            <a:r>
              <a:rPr lang="en" altLang="ja-JP" sz="1200" b="0" dirty="0">
                <a:solidFill>
                  <a:srgbClr val="8C8C8C"/>
                </a:solidFill>
                <a:latin typeface="Meiryo"/>
                <a:ea typeface="Meiryo"/>
                <a:cs typeface="Meiryo"/>
              </a:rPr>
              <a:t> 2019)</a:t>
            </a:r>
          </a:p>
          <a:p>
            <a:r>
              <a:rPr kumimoji="1" lang="en-US" altLang="ja-JP" dirty="0"/>
              <a:t>CABG</a:t>
            </a:r>
            <a:r>
              <a:rPr kumimoji="1" lang="ja-JP" altLang="en-US"/>
              <a:t>症例で胸骨切開前</a:t>
            </a:r>
            <a:r>
              <a:rPr kumimoji="1" lang="en-US" altLang="ja-JP" dirty="0"/>
              <a:t>45</a:t>
            </a:r>
            <a:r>
              <a:rPr kumimoji="1" lang="ja-JP" altLang="en-US"/>
              <a:t>分までと閉胸後</a:t>
            </a:r>
            <a:r>
              <a:rPr kumimoji="1" lang="en-US" altLang="ja-JP" dirty="0"/>
              <a:t>1</a:t>
            </a:r>
            <a:r>
              <a:rPr kumimoji="1" lang="ja-JP" altLang="en-US"/>
              <a:t>時間以内</a:t>
            </a:r>
            <a:endParaRPr kumimoji="1" lang="en-US" altLang="ja-JP" dirty="0"/>
          </a:p>
        </p:txBody>
      </p:sp>
      <p:sp>
        <p:nvSpPr>
          <p:cNvPr id="4" name="スライド番号プレースホルダー 3">
            <a:extLst>
              <a:ext uri="{FF2B5EF4-FFF2-40B4-BE49-F238E27FC236}">
                <a16:creationId xmlns:a16="http://schemas.microsoft.com/office/drawing/2014/main" id="{1E303018-0FDD-B4D9-C12E-E63C06E75F2E}"/>
              </a:ext>
            </a:extLst>
          </p:cNvPr>
          <p:cNvSpPr>
            <a:spLocks noGrp="1"/>
          </p:cNvSpPr>
          <p:nvPr>
            <p:ph type="sldNum" sz="quarter" idx="5"/>
          </p:nvPr>
        </p:nvSpPr>
        <p:spPr/>
        <p:txBody>
          <a:bodyPr/>
          <a:lstStyle/>
          <a:p>
            <a:fld id="{4368CECF-0771-D84F-8D42-085DB944B0B8}" type="slidenum">
              <a:rPr kumimoji="1" lang="ja-JP" altLang="en-US" smtClean="0"/>
              <a:t>47</a:t>
            </a:fld>
            <a:endParaRPr kumimoji="1" lang="ja-JP" altLang="en-US"/>
          </a:p>
        </p:txBody>
      </p:sp>
    </p:spTree>
    <p:extLst>
      <p:ext uri="{BB962C8B-B14F-4D97-AF65-F5344CB8AC3E}">
        <p14:creationId xmlns:p14="http://schemas.microsoft.com/office/powerpoint/2010/main" val="26581162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DBC6A-855F-ECC0-16A4-27C83F4855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2CA2A9-51E7-5D66-5655-CFBCD189124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4DA03C-6146-5E28-C8F1-6A40300213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PPG</a:t>
            </a:r>
            <a:r>
              <a:rPr kumimoji="1" lang="ja-JP" altLang="en-US"/>
              <a:t>を目視で</a:t>
            </a:r>
            <a:r>
              <a:rPr kumimoji="1" lang="en-US" altLang="ja-JP" dirty="0"/>
              <a:t>6</a:t>
            </a:r>
            <a:r>
              <a:rPr kumimoji="1" lang="ja-JP" altLang="en-US"/>
              <a:t>分類し、これらの分類が、</a:t>
            </a:r>
            <a:r>
              <a:rPr kumimoji="1" lang="en-US" altLang="ja-JP" dirty="0"/>
              <a:t>SVR,</a:t>
            </a:r>
            <a:r>
              <a:rPr kumimoji="1" lang="ja-JP" altLang="en-US"/>
              <a:t>高血圧圧、低血圧、コンプライアンスとよく関連した。</a:t>
            </a:r>
            <a:endParaRPr kumimoji="1" lang="en-US" altLang="ja-JP" dirty="0"/>
          </a:p>
          <a:p>
            <a:endParaRPr kumimoji="1" lang="ja-JP" altLang="en-US"/>
          </a:p>
        </p:txBody>
      </p:sp>
      <p:sp>
        <p:nvSpPr>
          <p:cNvPr id="4" name="スライド番号プレースホルダー 3">
            <a:extLst>
              <a:ext uri="{FF2B5EF4-FFF2-40B4-BE49-F238E27FC236}">
                <a16:creationId xmlns:a16="http://schemas.microsoft.com/office/drawing/2014/main" id="{2E5A7203-CDF8-EF8E-5625-F74E3657F8EC}"/>
              </a:ext>
            </a:extLst>
          </p:cNvPr>
          <p:cNvSpPr>
            <a:spLocks noGrp="1"/>
          </p:cNvSpPr>
          <p:nvPr>
            <p:ph type="sldNum" sz="quarter" idx="5"/>
          </p:nvPr>
        </p:nvSpPr>
        <p:spPr/>
        <p:txBody>
          <a:bodyPr/>
          <a:lstStyle/>
          <a:p>
            <a:fld id="{4368CECF-0771-D84F-8D42-085DB944B0B8}" type="slidenum">
              <a:rPr kumimoji="1" lang="ja-JP" altLang="en-US" smtClean="0"/>
              <a:t>48</a:t>
            </a:fld>
            <a:endParaRPr kumimoji="1" lang="ja-JP" altLang="en-US"/>
          </a:p>
        </p:txBody>
      </p:sp>
    </p:spTree>
    <p:extLst>
      <p:ext uri="{BB962C8B-B14F-4D97-AF65-F5344CB8AC3E}">
        <p14:creationId xmlns:p14="http://schemas.microsoft.com/office/powerpoint/2010/main" val="12901608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ED5A-4EC5-8063-2B5A-8659F79F78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6B7E5-4E13-6700-B9C4-06DA1A4D70B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0030154-E22A-E745-F33E-42529B7E6204}"/>
              </a:ext>
            </a:extLst>
          </p:cNvPr>
          <p:cNvSpPr>
            <a:spLocks noGrp="1"/>
          </p:cNvSpPr>
          <p:nvPr>
            <p:ph type="body" sz="quarter" idx="3"/>
          </p:nvPr>
        </p:nvSpPr>
        <p:spPr/>
        <p:txBody>
          <a:bodyPr/>
          <a:lstStyle/>
          <a:p>
            <a:r>
              <a:rPr dirty="0"/>
              <a:t>4.2 の結果スライド。前ページの6分類が「実際に血行動態と対応していたのか」を示す。</a:t>
            </a:r>
            <a:endParaRPr lang="en-US" dirty="0"/>
          </a:p>
          <a:p>
            <a:r>
              <a:rPr lang="ja-JP" altLang="en-US"/>
              <a:t>高血圧は</a:t>
            </a:r>
            <a:r>
              <a:rPr lang="en-US" altLang="ja-JP" dirty="0"/>
              <a:t>S&gt;150</a:t>
            </a:r>
            <a:r>
              <a:rPr lang="ja-JP" altLang="en-US"/>
              <a:t>、低血圧は</a:t>
            </a:r>
            <a:r>
              <a:rPr lang="en-US" altLang="ja-JP" dirty="0"/>
              <a:t>s&lt;90</a:t>
            </a:r>
          </a:p>
          <a:p>
            <a:endParaRPr dirty="0"/>
          </a:p>
          <a:p>
            <a:endParaRPr dirty="0"/>
          </a:p>
          <a:p>
            <a:r>
              <a:rPr dirty="0" err="1"/>
              <a:t>Tusman</a:t>
            </a:r>
            <a:r>
              <a:rPr dirty="0"/>
              <a:t> G, et al. </a:t>
            </a:r>
            <a:r>
              <a:rPr dirty="0" err="1"/>
              <a:t>Photoplethysmographic</a:t>
            </a:r>
            <a:r>
              <a:rPr dirty="0"/>
              <a:t> characterization of vascular tone mediated changes in</a:t>
            </a:r>
          </a:p>
          <a:p>
            <a:r>
              <a:rPr dirty="0"/>
              <a:t>arterial pressure: an observational study. J Clin Monit </a:t>
            </a:r>
            <a:r>
              <a:rPr dirty="0" err="1"/>
              <a:t>Comput</a:t>
            </a:r>
            <a:r>
              <a:rPr dirty="0"/>
              <a:t> 2019;33:815–24.（PMID 30554338）</a:t>
            </a:r>
          </a:p>
          <a:p>
            <a:endParaRPr dirty="0"/>
          </a:p>
          <a:p>
            <a:r>
              <a:rPr dirty="0" err="1"/>
              <a:t>対象（P</a:t>
            </a:r>
            <a:r>
              <a:rPr dirty="0"/>
              <a:t>）</a:t>
            </a:r>
          </a:p>
          <a:p>
            <a:r>
              <a:rPr dirty="0"/>
              <a:t>・心臓手術患者15名、解析対象 190データセット。</a:t>
            </a:r>
          </a:p>
          <a:p>
            <a:r>
              <a:rPr dirty="0"/>
              <a:t>・</a:t>
            </a:r>
            <a:r>
              <a:rPr dirty="0" err="1"/>
              <a:t>高血圧</a:t>
            </a:r>
            <a:r>
              <a:rPr dirty="0"/>
              <a:t> 61エピソード（SAP 159〈151–170〉mmHg）、</a:t>
            </a:r>
            <a:r>
              <a:rPr dirty="0" err="1"/>
              <a:t>正常血圧</a:t>
            </a:r>
            <a:r>
              <a:rPr dirty="0"/>
              <a:t> 84（SAP 124〈113–131〉mmHg）、</a:t>
            </a:r>
          </a:p>
          <a:p>
            <a:r>
              <a:rPr dirty="0"/>
              <a:t>　</a:t>
            </a:r>
            <a:r>
              <a:rPr dirty="0" err="1"/>
              <a:t>低血圧</a:t>
            </a:r>
            <a:r>
              <a:rPr dirty="0"/>
              <a:t> 45（SAP 85〈80–87〉mmHg）。いずれも中央値〈第1–第3四分位〉。</a:t>
            </a:r>
          </a:p>
          <a:p>
            <a:endParaRPr dirty="0"/>
          </a:p>
          <a:p>
            <a:r>
              <a:rPr dirty="0" err="1"/>
              <a:t>分類（I</a:t>
            </a:r>
            <a:r>
              <a:rPr dirty="0"/>
              <a:t>）</a:t>
            </a:r>
          </a:p>
          <a:p>
            <a:r>
              <a:rPr dirty="0"/>
              <a:t>・PPG 波形の輪郭を目視で6クラスに分類（PPGc）。</a:t>
            </a:r>
            <a:r>
              <a:rPr dirty="0" err="1"/>
              <a:t>振幅（足→頂点）と切痕の位置で定義する</a:t>
            </a:r>
            <a:r>
              <a:rPr dirty="0"/>
              <a:t>。</a:t>
            </a:r>
          </a:p>
          <a:p>
            <a:r>
              <a:rPr dirty="0"/>
              <a:t>・</a:t>
            </a:r>
            <a:r>
              <a:rPr dirty="0" err="1"/>
              <a:t>切痕が</a:t>
            </a:r>
            <a:r>
              <a:rPr dirty="0"/>
              <a:t> PPG </a:t>
            </a:r>
            <a:r>
              <a:rPr dirty="0" err="1"/>
              <a:t>振幅の</a:t>
            </a:r>
            <a:r>
              <a:rPr dirty="0"/>
              <a:t> 20〜50% </a:t>
            </a:r>
            <a:r>
              <a:rPr dirty="0" err="1"/>
              <a:t>にある</a:t>
            </a:r>
            <a:r>
              <a:rPr dirty="0"/>
              <a:t> Class III ＝ </a:t>
            </a:r>
            <a:r>
              <a:rPr dirty="0" err="1"/>
              <a:t>正常血管トーヌス</a:t>
            </a:r>
            <a:r>
              <a:rPr dirty="0"/>
              <a:t>。</a:t>
            </a:r>
          </a:p>
          <a:p>
            <a:r>
              <a:rPr dirty="0"/>
              <a:t>・</a:t>
            </a:r>
            <a:r>
              <a:rPr dirty="0" err="1"/>
              <a:t>切痕が</a:t>
            </a:r>
            <a:r>
              <a:rPr dirty="0"/>
              <a:t> &gt;50% </a:t>
            </a:r>
            <a:r>
              <a:rPr dirty="0" err="1"/>
              <a:t>で振幅の小さい</a:t>
            </a:r>
            <a:r>
              <a:rPr dirty="0"/>
              <a:t> Class I〜II ＝ </a:t>
            </a:r>
            <a:r>
              <a:rPr dirty="0" err="1"/>
              <a:t>血管収縮</a:t>
            </a:r>
            <a:r>
              <a:rPr dirty="0"/>
              <a:t>。</a:t>
            </a:r>
          </a:p>
          <a:p>
            <a:r>
              <a:rPr dirty="0"/>
              <a:t>・</a:t>
            </a:r>
            <a:r>
              <a:rPr dirty="0" err="1"/>
              <a:t>切痕が</a:t>
            </a:r>
            <a:r>
              <a:rPr dirty="0"/>
              <a:t> &lt;20% </a:t>
            </a:r>
            <a:r>
              <a:rPr dirty="0" err="1"/>
              <a:t>で背の高い</a:t>
            </a:r>
            <a:r>
              <a:rPr dirty="0"/>
              <a:t> Class IV〜VI ＝ </a:t>
            </a:r>
            <a:r>
              <a:rPr dirty="0" err="1"/>
              <a:t>血管拡張</a:t>
            </a:r>
            <a:r>
              <a:rPr dirty="0"/>
              <a:t>。</a:t>
            </a:r>
          </a:p>
          <a:p>
            <a:endParaRPr dirty="0"/>
          </a:p>
          <a:p>
            <a:r>
              <a:rPr dirty="0" err="1"/>
              <a:t>比較（C</a:t>
            </a:r>
            <a:r>
              <a:rPr dirty="0"/>
              <a:t>）</a:t>
            </a:r>
          </a:p>
          <a:p>
            <a:r>
              <a:rPr dirty="0"/>
              <a:t>・</a:t>
            </a:r>
            <a:r>
              <a:rPr dirty="0" err="1"/>
              <a:t>収縮期動脈圧（SAP</a:t>
            </a:r>
            <a:r>
              <a:rPr dirty="0"/>
              <a:t>）、</a:t>
            </a:r>
            <a:r>
              <a:rPr dirty="0" err="1"/>
              <a:t>および血管トーヌスの代替指標である全身血管抵抗（SVR）と</a:t>
            </a:r>
            <a:endParaRPr dirty="0"/>
          </a:p>
          <a:p>
            <a:r>
              <a:rPr dirty="0"/>
              <a:t>　</a:t>
            </a:r>
            <a:r>
              <a:rPr dirty="0" err="1"/>
              <a:t>血管コンプライアンス（Cvasc</a:t>
            </a:r>
            <a:r>
              <a:rPr dirty="0"/>
              <a:t> ＝ </a:t>
            </a:r>
            <a:r>
              <a:rPr dirty="0" err="1"/>
              <a:t>一回拍出量／脈圧</a:t>
            </a:r>
            <a:r>
              <a:rPr dirty="0"/>
              <a:t>）。</a:t>
            </a:r>
          </a:p>
          <a:p>
            <a:endParaRPr dirty="0"/>
          </a:p>
          <a:p>
            <a:r>
              <a:rPr dirty="0" err="1"/>
              <a:t>結果（O</a:t>
            </a:r>
            <a:r>
              <a:rPr dirty="0"/>
              <a:t>）</a:t>
            </a:r>
          </a:p>
          <a:p>
            <a:r>
              <a:rPr dirty="0"/>
              <a:t>・SAP </a:t>
            </a:r>
            <a:r>
              <a:rPr dirty="0" err="1"/>
              <a:t>は</a:t>
            </a:r>
            <a:r>
              <a:rPr dirty="0"/>
              <a:t> SVR </a:t>
            </a:r>
            <a:r>
              <a:rPr dirty="0" err="1"/>
              <a:t>と</a:t>
            </a:r>
            <a:r>
              <a:rPr dirty="0"/>
              <a:t> r = 0.78（p&lt;0.0001）、</a:t>
            </a:r>
            <a:r>
              <a:rPr dirty="0" err="1"/>
              <a:t>Cvasc</a:t>
            </a:r>
            <a:r>
              <a:rPr dirty="0"/>
              <a:t> </a:t>
            </a:r>
            <a:r>
              <a:rPr dirty="0" err="1"/>
              <a:t>と</a:t>
            </a:r>
            <a:r>
              <a:rPr dirty="0"/>
              <a:t> r = 0.84（p&lt;0.0001）でよく相関した。</a:t>
            </a:r>
          </a:p>
          <a:p>
            <a:r>
              <a:rPr dirty="0"/>
              <a:t>・PPG </a:t>
            </a:r>
            <a:r>
              <a:rPr dirty="0" err="1"/>
              <a:t>分類（クラス番号</a:t>
            </a:r>
            <a:r>
              <a:rPr dirty="0"/>
              <a:t> </a:t>
            </a:r>
            <a:r>
              <a:rPr dirty="0" err="1"/>
              <a:t>I→VI）は</a:t>
            </a:r>
            <a:endParaRPr dirty="0"/>
          </a:p>
          <a:p>
            <a:r>
              <a:rPr dirty="0"/>
              <a:t>　　SAP </a:t>
            </a:r>
            <a:r>
              <a:rPr dirty="0" err="1"/>
              <a:t>と</a:t>
            </a:r>
            <a:r>
              <a:rPr dirty="0"/>
              <a:t> r = −0.90（p&lt;0.0001）</a:t>
            </a:r>
          </a:p>
          <a:p>
            <a:r>
              <a:rPr dirty="0"/>
              <a:t>　　SVR </a:t>
            </a:r>
            <a:r>
              <a:rPr dirty="0" err="1"/>
              <a:t>と</a:t>
            </a:r>
            <a:r>
              <a:rPr dirty="0"/>
              <a:t> r = −0.72（p&lt;0.0001）</a:t>
            </a:r>
          </a:p>
          <a:p>
            <a:r>
              <a:rPr dirty="0"/>
              <a:t>　　</a:t>
            </a:r>
            <a:r>
              <a:rPr dirty="0" err="1"/>
              <a:t>Cvasc</a:t>
            </a:r>
            <a:r>
              <a:rPr dirty="0"/>
              <a:t> </a:t>
            </a:r>
            <a:r>
              <a:rPr dirty="0" err="1"/>
              <a:t>と</a:t>
            </a:r>
            <a:r>
              <a:rPr dirty="0"/>
              <a:t> r = +0.82（p&lt;0.0001）</a:t>
            </a:r>
          </a:p>
          <a:p>
            <a:r>
              <a:rPr dirty="0"/>
              <a:t>　</a:t>
            </a:r>
            <a:r>
              <a:rPr dirty="0" err="1"/>
              <a:t>クラス番号が上がる＝血管拡張側ほど</a:t>
            </a:r>
            <a:r>
              <a:rPr dirty="0"/>
              <a:t> SAP・SVR </a:t>
            </a:r>
            <a:r>
              <a:rPr dirty="0" err="1"/>
              <a:t>が下がり、コンプライアンスが上がる、という向き</a:t>
            </a:r>
            <a:r>
              <a:rPr dirty="0"/>
              <a:t>。</a:t>
            </a:r>
          </a:p>
          <a:p>
            <a:r>
              <a:rPr dirty="0"/>
              <a:t>・190エピソード中7件を誤分類。低血圧検出は正確度 98.4%・</a:t>
            </a:r>
            <a:r>
              <a:rPr dirty="0" err="1"/>
              <a:t>感度</a:t>
            </a:r>
            <a:r>
              <a:rPr dirty="0"/>
              <a:t> 100%・</a:t>
            </a:r>
            <a:r>
              <a:rPr dirty="0" err="1"/>
              <a:t>特異度</a:t>
            </a:r>
            <a:r>
              <a:rPr dirty="0"/>
              <a:t> 97.9%、</a:t>
            </a:r>
          </a:p>
          <a:p>
            <a:r>
              <a:rPr dirty="0"/>
              <a:t>　</a:t>
            </a:r>
            <a:r>
              <a:rPr dirty="0" err="1"/>
              <a:t>高血圧検出は正確度</a:t>
            </a:r>
            <a:r>
              <a:rPr dirty="0"/>
              <a:t> 97.8%・</a:t>
            </a:r>
            <a:r>
              <a:rPr dirty="0" err="1"/>
              <a:t>感度</a:t>
            </a:r>
            <a:r>
              <a:rPr dirty="0"/>
              <a:t> 94.9%・</a:t>
            </a:r>
            <a:r>
              <a:rPr dirty="0" err="1"/>
              <a:t>特異度</a:t>
            </a:r>
            <a:r>
              <a:rPr dirty="0"/>
              <a:t> 99.2%。</a:t>
            </a:r>
          </a:p>
          <a:p>
            <a:endParaRPr dirty="0"/>
          </a:p>
          <a:p>
            <a:r>
              <a:rPr dirty="0" err="1"/>
              <a:t>読み方・限界</a:t>
            </a:r>
            <a:endParaRPr dirty="0"/>
          </a:p>
          <a:p>
            <a:r>
              <a:rPr dirty="0"/>
              <a:t>・「</a:t>
            </a:r>
            <a:r>
              <a:rPr dirty="0" err="1"/>
              <a:t>目視で波形の形を見るだけ」で血管トーヌスと血圧の方向が高い精度で判別できた、というのが要点</a:t>
            </a:r>
            <a:r>
              <a:rPr dirty="0"/>
              <a:t>。</a:t>
            </a:r>
          </a:p>
          <a:p>
            <a:r>
              <a:rPr dirty="0"/>
              <a:t>・ただし心臓手術15名という小規模・単施設の観察研究であり、SAP </a:t>
            </a:r>
            <a:r>
              <a:rPr dirty="0" err="1"/>
              <a:t>との相関が非常に高いのは</a:t>
            </a:r>
            <a:endParaRPr dirty="0"/>
          </a:p>
          <a:p>
            <a:r>
              <a:rPr dirty="0"/>
              <a:t>　</a:t>
            </a:r>
            <a:r>
              <a:rPr dirty="0" err="1"/>
              <a:t>分類の定義自体が血管トーヌス由来の形態変化を狙っているためでもある（循環論法に近い部分がある</a:t>
            </a:r>
            <a:r>
              <a:rPr dirty="0"/>
              <a:t>）。</a:t>
            </a:r>
          </a:p>
          <a:p>
            <a:r>
              <a:rPr dirty="0"/>
              <a:t>・SVR </a:t>
            </a:r>
            <a:r>
              <a:rPr dirty="0" err="1"/>
              <a:t>との相関</a:t>
            </a:r>
            <a:r>
              <a:rPr dirty="0"/>
              <a:t>（−0.72）は SAP（−0.90）ほどではない。PPG </a:t>
            </a:r>
            <a:r>
              <a:rPr dirty="0" err="1"/>
              <a:t>が見ているのは抵抗そのものではなく</a:t>
            </a:r>
            <a:endParaRPr dirty="0"/>
          </a:p>
          <a:p>
            <a:r>
              <a:rPr dirty="0"/>
              <a:t>　</a:t>
            </a:r>
            <a:r>
              <a:rPr dirty="0" err="1"/>
              <a:t>トーヌスに伴う波形変化であることに注意</a:t>
            </a:r>
            <a:r>
              <a:rPr dirty="0"/>
              <a:t>。</a:t>
            </a:r>
          </a:p>
          <a:p>
            <a:endParaRPr dirty="0"/>
          </a:p>
        </p:txBody>
      </p:sp>
      <p:sp>
        <p:nvSpPr>
          <p:cNvPr id="4" name="Slide Number Placeholder 3">
            <a:extLst>
              <a:ext uri="{FF2B5EF4-FFF2-40B4-BE49-F238E27FC236}">
                <a16:creationId xmlns:a16="http://schemas.microsoft.com/office/drawing/2014/main" id="{FBB99F96-C0F1-4D81-7781-53DF03D0ED2F}"/>
              </a:ext>
            </a:extLst>
          </p:cNvPr>
          <p:cNvSpPr>
            <a:spLocks noGrp="1"/>
          </p:cNvSpPr>
          <p:nvPr>
            <p:ph type="sldNum" sz="quarter" idx="5"/>
          </p:nvPr>
        </p:nvSpPr>
        <p:spPr/>
      </p:sp>
    </p:spTree>
    <p:extLst>
      <p:ext uri="{BB962C8B-B14F-4D97-AF65-F5344CB8AC3E}">
        <p14:creationId xmlns:p14="http://schemas.microsoft.com/office/powerpoint/2010/main" val="21421484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4.2 6分類と血行動態（要点版）</a:t>
            </a:r>
          </a:p>
          <a:p>
            <a:endParaRPr/>
          </a:p>
          <a:p>
            <a:r>
              <a:t>Tusman 2019：心臓手術（CABG）15 名・190 エピソード。</a:t>
            </a:r>
          </a:p>
          <a:p>
            <a:r>
              <a:t>PPG 波形を「切痕の位置 × 振幅」で 6 クラスに分類し、観血的血行動態と対比した。</a:t>
            </a:r>
          </a:p>
          <a:p>
            <a:endParaRPr/>
          </a:p>
          <a:p>
            <a:r>
              <a:t>・Class I・II ＝ 血管収縮（SAP・SVR 高）</a:t>
            </a:r>
          </a:p>
          <a:p>
            <a:r>
              <a:t>・Class III  ＝ 正常トーヌス（SAP・SVR 基準）</a:t>
            </a:r>
          </a:p>
          <a:p>
            <a:r>
              <a:t>・Class IV〜VI ＝ 血管拡張（SAP・SVR 低）</a:t>
            </a:r>
          </a:p>
          <a:p>
            <a:endParaRPr/>
          </a:p>
          <a:p>
            <a:r>
              <a:t>PPG 6 分類との相関（いずれも P&lt;0.0001）</a:t>
            </a:r>
          </a:p>
          <a:p>
            <a:r>
              <a:t>・収縮期血圧 SAP        r = −0.90</a:t>
            </a:r>
          </a:p>
          <a:p>
            <a:r>
              <a:t>・全身血管抵抗 SVR      r = −0.72</a:t>
            </a:r>
          </a:p>
          <a:p>
            <a:r>
              <a:t>・血管コンプライアンス   r = +0.82</a:t>
            </a:r>
          </a:p>
          <a:p>
            <a:endParaRPr/>
          </a:p>
          <a:p>
            <a:r>
              <a:t>検出能</a:t>
            </a:r>
          </a:p>
          <a:p>
            <a:r>
              <a:t>・低血圧の検出 感度 100%・特異度 97.9%</a:t>
            </a:r>
          </a:p>
          <a:p>
            <a:r>
              <a:t>・高血圧の検出 感度 94.9%・特異度 99.2%</a:t>
            </a:r>
          </a:p>
          <a:p>
            <a:endParaRPr/>
          </a:p>
          <a:p>
            <a:r>
              <a:t>※前ページに SVR・コンプライアンスを含む全数値を残してあるので、</a:t>
            </a:r>
          </a:p>
          <a:p>
            <a:r>
              <a:t>　口頭ではそちらを補って説明する。</a:t>
            </a:r>
          </a:p>
          <a:p>
            <a:r>
              <a:t>出典：20. Tusman 2019</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4.3 </a:t>
            </a:r>
            <a:r>
              <a:rPr dirty="0" err="1"/>
              <a:t>麻酔導入時の低血圧を</a:t>
            </a:r>
            <a:r>
              <a:rPr dirty="0"/>
              <a:t> PPG </a:t>
            </a:r>
            <a:r>
              <a:rPr dirty="0" err="1"/>
              <a:t>波形から読む</a:t>
            </a:r>
            <a:r>
              <a:rPr dirty="0"/>
              <a:t> — proof of concept。</a:t>
            </a:r>
          </a:p>
          <a:p>
            <a:endParaRPr dirty="0"/>
          </a:p>
          <a:p>
            <a:r>
              <a:rPr dirty="0" err="1"/>
              <a:t>Coutrot</a:t>
            </a:r>
            <a:r>
              <a:rPr dirty="0"/>
              <a:t> M, Joachim J, </a:t>
            </a:r>
            <a:r>
              <a:rPr dirty="0" err="1"/>
              <a:t>Dépret</a:t>
            </a:r>
            <a:r>
              <a:rPr dirty="0"/>
              <a:t> F, et al. Noninvasive continuous detection of arterial hypotension</a:t>
            </a:r>
          </a:p>
          <a:p>
            <a:r>
              <a:rPr dirty="0"/>
              <a:t>during induction of </a:t>
            </a:r>
            <a:r>
              <a:rPr dirty="0" err="1"/>
              <a:t>anaesthesia</a:t>
            </a:r>
            <a:r>
              <a:rPr dirty="0"/>
              <a:t> using a </a:t>
            </a:r>
            <a:r>
              <a:rPr dirty="0" err="1"/>
              <a:t>photoplethysmographic</a:t>
            </a:r>
            <a:r>
              <a:rPr dirty="0"/>
              <a:t> signal: proof of concept.</a:t>
            </a:r>
          </a:p>
          <a:p>
            <a:r>
              <a:rPr dirty="0"/>
              <a:t>Br J </a:t>
            </a:r>
            <a:r>
              <a:rPr dirty="0" err="1"/>
              <a:t>Anaesth</a:t>
            </a:r>
            <a:r>
              <a:rPr dirty="0"/>
              <a:t> 2019;122:605–12.（PMID 30916032／doi 10.1016/j.bja.2019.01.037）</a:t>
            </a:r>
          </a:p>
          <a:p>
            <a:endParaRPr dirty="0"/>
          </a:p>
          <a:p>
            <a:r>
              <a:rPr dirty="0" err="1"/>
              <a:t>対象（P</a:t>
            </a:r>
            <a:r>
              <a:rPr dirty="0"/>
              <a:t>）</a:t>
            </a:r>
          </a:p>
          <a:p>
            <a:r>
              <a:rPr dirty="0"/>
              <a:t>・</a:t>
            </a:r>
            <a:r>
              <a:rPr dirty="0" err="1"/>
              <a:t>プロポフォールとレミフェンタニルの</a:t>
            </a:r>
            <a:r>
              <a:rPr dirty="0"/>
              <a:t> target controlled infusion で全身麻酔導入を受ける患者61名</a:t>
            </a:r>
          </a:p>
          <a:p>
            <a:r>
              <a:rPr dirty="0"/>
              <a:t>　（NCT03756935）。</a:t>
            </a:r>
          </a:p>
          <a:p>
            <a:endParaRPr dirty="0"/>
          </a:p>
          <a:p>
            <a:r>
              <a:rPr dirty="0" err="1"/>
              <a:t>方法（I</a:t>
            </a:r>
            <a:r>
              <a:rPr dirty="0"/>
              <a:t>）</a:t>
            </a:r>
          </a:p>
          <a:p>
            <a:r>
              <a:rPr dirty="0"/>
              <a:t>・</a:t>
            </a:r>
            <a:r>
              <a:rPr dirty="0" err="1"/>
              <a:t>パルスオキシメータの</a:t>
            </a:r>
            <a:r>
              <a:rPr dirty="0"/>
              <a:t> PPG </a:t>
            </a:r>
            <a:r>
              <a:rPr dirty="0" err="1"/>
              <a:t>信号から、相対的ディクロティックノッチ高（Dicpleth）と</a:t>
            </a:r>
            <a:endParaRPr dirty="0"/>
          </a:p>
          <a:p>
            <a:r>
              <a:rPr dirty="0"/>
              <a:t>　</a:t>
            </a:r>
            <a:r>
              <a:rPr dirty="0" err="1"/>
              <a:t>灌流指数（PI）を求め、その相対変化</a:t>
            </a:r>
            <a:r>
              <a:rPr dirty="0"/>
              <a:t> </a:t>
            </a:r>
            <a:r>
              <a:rPr dirty="0" err="1"/>
              <a:t>ΔDicpleth・ΔPI</a:t>
            </a:r>
            <a:r>
              <a:rPr dirty="0"/>
              <a:t> を1分間隔で監視。</a:t>
            </a:r>
          </a:p>
          <a:p>
            <a:r>
              <a:rPr dirty="0"/>
              <a:t>・</a:t>
            </a:r>
            <a:r>
              <a:rPr dirty="0" err="1"/>
              <a:t>昇圧薬（ノルアドレナリンまたはフェニレフリン）投与中の推移も追跡した</a:t>
            </a:r>
            <a:r>
              <a:rPr dirty="0"/>
              <a:t>。</a:t>
            </a:r>
          </a:p>
          <a:p>
            <a:endParaRPr dirty="0"/>
          </a:p>
          <a:p>
            <a:r>
              <a:rPr dirty="0" err="1"/>
              <a:t>基準（C</a:t>
            </a:r>
            <a:r>
              <a:rPr dirty="0"/>
              <a:t>）</a:t>
            </a:r>
          </a:p>
          <a:p>
            <a:r>
              <a:rPr dirty="0"/>
              <a:t>・</a:t>
            </a:r>
            <a:r>
              <a:rPr dirty="0" err="1"/>
              <a:t>術中低血圧（IOH</a:t>
            </a:r>
            <a:r>
              <a:rPr dirty="0"/>
              <a:t>）＝ </a:t>
            </a:r>
            <a:r>
              <a:rPr dirty="0" err="1"/>
              <a:t>平均動脈圧（MAP）が</a:t>
            </a:r>
            <a:r>
              <a:rPr dirty="0"/>
              <a:t> 20% </a:t>
            </a:r>
            <a:r>
              <a:rPr dirty="0" err="1"/>
              <a:t>を超えて低下したもの</a:t>
            </a:r>
            <a:r>
              <a:rPr dirty="0"/>
              <a:t>。</a:t>
            </a:r>
          </a:p>
          <a:p>
            <a:endParaRPr dirty="0"/>
          </a:p>
          <a:p>
            <a:r>
              <a:rPr dirty="0" err="1"/>
              <a:t>結果（O</a:t>
            </a:r>
            <a:r>
              <a:rPr dirty="0"/>
              <a:t>）</a:t>
            </a:r>
          </a:p>
          <a:p>
            <a:r>
              <a:rPr dirty="0"/>
              <a:t>・</a:t>
            </a:r>
            <a:r>
              <a:rPr dirty="0" err="1"/>
              <a:t>ΔDicpleth：AUC</a:t>
            </a:r>
            <a:r>
              <a:rPr dirty="0"/>
              <a:t> 0.86（最適閾値 −19%、</a:t>
            </a:r>
            <a:r>
              <a:rPr dirty="0" err="1"/>
              <a:t>感度</a:t>
            </a:r>
            <a:r>
              <a:rPr dirty="0"/>
              <a:t> 79%・</a:t>
            </a:r>
            <a:r>
              <a:rPr dirty="0" err="1"/>
              <a:t>特異度</a:t>
            </a:r>
            <a:r>
              <a:rPr dirty="0"/>
              <a:t> 84%）</a:t>
            </a:r>
          </a:p>
          <a:p>
            <a:r>
              <a:rPr dirty="0"/>
              <a:t>・ΔPI：AUC 0.83（最適閾値 51%、</a:t>
            </a:r>
            <a:r>
              <a:rPr dirty="0" err="1"/>
              <a:t>感度</a:t>
            </a:r>
            <a:r>
              <a:rPr dirty="0"/>
              <a:t> 82%・</a:t>
            </a:r>
            <a:r>
              <a:rPr dirty="0" err="1"/>
              <a:t>特異度</a:t>
            </a:r>
            <a:r>
              <a:rPr dirty="0"/>
              <a:t> 74%）</a:t>
            </a:r>
          </a:p>
          <a:p>
            <a:r>
              <a:rPr dirty="0"/>
              <a:t>・</a:t>
            </a:r>
            <a:r>
              <a:rPr dirty="0" err="1"/>
              <a:t>両者の</a:t>
            </a:r>
            <a:r>
              <a:rPr dirty="0"/>
              <a:t> ROC </a:t>
            </a:r>
            <a:r>
              <a:rPr dirty="0" err="1"/>
              <a:t>に有意差なし（P</a:t>
            </a:r>
            <a:r>
              <a:rPr dirty="0"/>
              <a:t>=0.22）。</a:t>
            </a:r>
            <a:r>
              <a:rPr dirty="0" err="1"/>
              <a:t>両者を併用すると</a:t>
            </a:r>
            <a:r>
              <a:rPr dirty="0"/>
              <a:t> AUC 0.91（感度・特異度とも 84%）</a:t>
            </a:r>
            <a:r>
              <a:rPr dirty="0" err="1"/>
              <a:t>に向上</a:t>
            </a:r>
            <a:r>
              <a:rPr dirty="0"/>
              <a:t>。</a:t>
            </a:r>
          </a:p>
          <a:p>
            <a:r>
              <a:rPr dirty="0"/>
              <a:t>・</a:t>
            </a:r>
            <a:r>
              <a:rPr dirty="0" err="1"/>
              <a:t>昇圧薬投与中、MAP</a:t>
            </a:r>
            <a:r>
              <a:rPr dirty="0"/>
              <a:t> </a:t>
            </a:r>
            <a:r>
              <a:rPr dirty="0" err="1"/>
              <a:t>の変化は</a:t>
            </a:r>
            <a:r>
              <a:rPr dirty="0"/>
              <a:t> </a:t>
            </a:r>
            <a:r>
              <a:rPr dirty="0" err="1"/>
              <a:t>ΔDicpleth</a:t>
            </a:r>
            <a:r>
              <a:rPr dirty="0"/>
              <a:t> </a:t>
            </a:r>
            <a:r>
              <a:rPr dirty="0" err="1"/>
              <a:t>と</a:t>
            </a:r>
            <a:r>
              <a:rPr dirty="0"/>
              <a:t> r=0.73、ΔPI </a:t>
            </a:r>
            <a:r>
              <a:rPr dirty="0" err="1"/>
              <a:t>と</a:t>
            </a:r>
            <a:r>
              <a:rPr dirty="0"/>
              <a:t> r=−0.62 </a:t>
            </a:r>
            <a:r>
              <a:rPr dirty="0" err="1"/>
              <a:t>で相関（いずれも</a:t>
            </a:r>
            <a:r>
              <a:rPr dirty="0"/>
              <a:t> P&lt;0.001）。</a:t>
            </a:r>
          </a:p>
          <a:p>
            <a:endParaRPr dirty="0"/>
          </a:p>
          <a:p>
            <a:r>
              <a:rPr dirty="0" err="1"/>
              <a:t>波形の見方（スライド左の模式図</a:t>
            </a:r>
            <a:r>
              <a:rPr dirty="0"/>
              <a:t>）</a:t>
            </a:r>
          </a:p>
          <a:p>
            <a:r>
              <a:rPr dirty="0"/>
              <a:t>・</a:t>
            </a:r>
            <a:r>
              <a:rPr dirty="0" err="1"/>
              <a:t>麻酔導入で血管トーヌスが下がる（血管拡張）と、末梢の反射が減って重複切痕がベースライン側へ</a:t>
            </a:r>
            <a:endParaRPr dirty="0"/>
          </a:p>
          <a:p>
            <a:r>
              <a:rPr dirty="0"/>
              <a:t>　</a:t>
            </a:r>
            <a:r>
              <a:rPr dirty="0" err="1"/>
              <a:t>下降し、同時に灌流が増えて脈波振幅（PI）が大きくなる</a:t>
            </a:r>
            <a:r>
              <a:rPr dirty="0"/>
              <a:t>。</a:t>
            </a:r>
          </a:p>
          <a:p>
            <a:r>
              <a:rPr dirty="0"/>
              <a:t>・</a:t>
            </a:r>
            <a:r>
              <a:rPr dirty="0" err="1"/>
              <a:t>つまり「切痕が下がる（ΔDicpleth</a:t>
            </a:r>
            <a:r>
              <a:rPr dirty="0"/>
              <a:t> </a:t>
            </a:r>
            <a:r>
              <a:rPr dirty="0" err="1"/>
              <a:t>陰性</a:t>
            </a:r>
            <a:r>
              <a:rPr dirty="0"/>
              <a:t>）」＋「PI </a:t>
            </a:r>
            <a:r>
              <a:rPr dirty="0" err="1"/>
              <a:t>が上がる（ΔPI</a:t>
            </a:r>
            <a:r>
              <a:rPr dirty="0"/>
              <a:t> </a:t>
            </a:r>
            <a:r>
              <a:rPr dirty="0" err="1"/>
              <a:t>陽性</a:t>
            </a:r>
            <a:r>
              <a:rPr dirty="0"/>
              <a:t>）」</a:t>
            </a:r>
            <a:r>
              <a:rPr dirty="0" err="1"/>
              <a:t>が低血圧のサイン</a:t>
            </a:r>
            <a:r>
              <a:rPr dirty="0"/>
              <a:t>。</a:t>
            </a:r>
          </a:p>
          <a:p>
            <a:r>
              <a:rPr dirty="0"/>
              <a:t>　4.1（Murray 1996：血管拡張で切痕位置↓・</a:t>
            </a:r>
            <a:r>
              <a:rPr dirty="0" err="1"/>
              <a:t>振幅</a:t>
            </a:r>
            <a:r>
              <a:rPr dirty="0"/>
              <a:t>↑）</a:t>
            </a:r>
            <a:r>
              <a:rPr dirty="0" err="1"/>
              <a:t>と同じ向きの現象を、定量指標にしたもの</a:t>
            </a:r>
            <a:r>
              <a:rPr dirty="0"/>
              <a:t>。</a:t>
            </a:r>
          </a:p>
          <a:p>
            <a:endParaRPr dirty="0"/>
          </a:p>
          <a:p>
            <a:r>
              <a:rPr dirty="0" err="1"/>
              <a:t>限界として口頭で足すこと</a:t>
            </a:r>
            <a:endParaRPr dirty="0"/>
          </a:p>
          <a:p>
            <a:r>
              <a:rPr dirty="0"/>
              <a:t>・proof of concept </a:t>
            </a:r>
            <a:r>
              <a:rPr dirty="0" err="1"/>
              <a:t>の単施設研究で、対象は麻酔導入という限られた場面</a:t>
            </a:r>
            <a:r>
              <a:rPr dirty="0"/>
              <a:t>。</a:t>
            </a:r>
          </a:p>
          <a:p>
            <a:r>
              <a:rPr dirty="0"/>
              <a:t>・AUC 0.86〜0.91 </a:t>
            </a:r>
            <a:r>
              <a:rPr dirty="0" err="1"/>
              <a:t>は「低血圧が起きたかどうかの検出」であって、血圧値そのものの推定ではない</a:t>
            </a:r>
            <a:r>
              <a:rPr dirty="0"/>
              <a:t>。</a:t>
            </a:r>
          </a:p>
          <a:p>
            <a:r>
              <a:rPr dirty="0"/>
              <a:t>・</a:t>
            </a:r>
            <a:r>
              <a:rPr dirty="0" err="1"/>
              <a:t>Dicpleth</a:t>
            </a:r>
            <a:r>
              <a:rPr dirty="0"/>
              <a:t> </a:t>
            </a:r>
            <a:r>
              <a:rPr dirty="0" err="1"/>
              <a:t>は重複切痕が見えている波形でしか定義できない</a:t>
            </a:r>
            <a:r>
              <a:rPr dirty="0"/>
              <a:t>（→ 第7章の限界と同じ問題）。</a:t>
            </a:r>
          </a:p>
          <a:p>
            <a:r>
              <a:rPr dirty="0"/>
              <a:t>・</a:t>
            </a:r>
            <a:r>
              <a:rPr dirty="0" err="1"/>
              <a:t>低灌流・体動・血管収縮薬による末梢収縮では</a:t>
            </a:r>
            <a:r>
              <a:rPr dirty="0"/>
              <a:t> PPG </a:t>
            </a:r>
            <a:r>
              <a:rPr dirty="0" err="1"/>
              <a:t>自体の質が落ちる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PPG</a:t>
            </a:r>
            <a:r>
              <a:rPr kumimoji="1" lang="ja-JP" altLang="en-US"/>
              <a:t>波形を定量化することで比較しやすくします。特に</a:t>
            </a:r>
            <a:r>
              <a:rPr kumimoji="1" lang="en-US" altLang="ja-JP" dirty="0"/>
              <a:t>PPG</a:t>
            </a:r>
            <a:r>
              <a:rPr kumimoji="1" lang="ja-JP" altLang="en-US"/>
              <a:t>研究で盛んな後負荷における主な指標をまとめます。</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52</a:t>
            </a:fld>
            <a:endParaRPr kumimoji="1" lang="ja-JP" altLang="en-US"/>
          </a:p>
        </p:txBody>
      </p:sp>
    </p:spTree>
    <p:extLst>
      <p:ext uri="{BB962C8B-B14F-4D97-AF65-F5344CB8AC3E}">
        <p14:creationId xmlns:p14="http://schemas.microsoft.com/office/powerpoint/2010/main" val="40638808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SI（stiffness</a:t>
            </a:r>
            <a:r>
              <a:rPr dirty="0"/>
              <a:t> index）＝ </a:t>
            </a:r>
            <a:r>
              <a:rPr dirty="0" err="1"/>
              <a:t>身長</a:t>
            </a:r>
            <a:r>
              <a:rPr dirty="0"/>
              <a:t> ÷ ΔT。</a:t>
            </a:r>
            <a:endParaRPr lang="en-US" dirty="0"/>
          </a:p>
          <a:p>
            <a:r>
              <a:rPr lang="en-US" dirty="0" err="1"/>
              <a:t>大血管スティッフネスの指標</a:t>
            </a:r>
            <a:r>
              <a:rPr lang="en-US" dirty="0"/>
              <a:t>。</a:t>
            </a:r>
          </a:p>
          <a:p>
            <a:r>
              <a:rPr lang="en-US" dirty="0" err="1"/>
              <a:t>前進波ピークから反射波ピークまでの時間</a:t>
            </a:r>
            <a:r>
              <a:rPr lang="en-US" dirty="0"/>
              <a:t>。</a:t>
            </a:r>
          </a:p>
          <a:p>
            <a:r>
              <a:rPr lang="en-US" dirty="0" err="1"/>
              <a:t>反射波は大動脈を下降したのちに反射して戻ってくるため、個人間での比較を行うため身長を用いている</a:t>
            </a:r>
            <a:r>
              <a:rPr lang="en-US" dirty="0"/>
              <a:t>。</a:t>
            </a:r>
          </a:p>
          <a:p>
            <a:r>
              <a:rPr lang="en-US" dirty="0"/>
              <a:t>循環評価における大血管スティッフネス指標のゴールデンスタンダードは脈波伝播速度であり、SIはこれとよく相関することがわかっている。</a:t>
            </a:r>
          </a:p>
          <a:p>
            <a:endParaRPr dirty="0"/>
          </a:p>
          <a:p>
            <a:r>
              <a:rPr dirty="0"/>
              <a:t>ΔT は前進波ピーク（P1）と反射波ピーク（P2）の時間差で、反射波が大動脈〜下肢を</a:t>
            </a:r>
          </a:p>
          <a:p>
            <a:r>
              <a:rPr dirty="0" err="1"/>
              <a:t>往復するのに要した時間に相当する。身長で割って距離を補正することで、実質的に</a:t>
            </a:r>
            <a:endParaRPr dirty="0"/>
          </a:p>
          <a:p>
            <a:r>
              <a:rPr dirty="0" err="1"/>
              <a:t>大動脈の脈波伝播速度（PWV）の代用指標になる</a:t>
            </a:r>
            <a:r>
              <a:rPr dirty="0"/>
              <a:t>。</a:t>
            </a:r>
          </a:p>
          <a:p>
            <a:r>
              <a:rPr dirty="0" err="1"/>
              <a:t>Millasseau</a:t>
            </a:r>
            <a:r>
              <a:rPr dirty="0"/>
              <a:t> </a:t>
            </a:r>
            <a:r>
              <a:rPr dirty="0" err="1"/>
              <a:t>らは指尖</a:t>
            </a:r>
            <a:r>
              <a:rPr dirty="0"/>
              <a:t> PPG </a:t>
            </a:r>
            <a:r>
              <a:rPr dirty="0" err="1"/>
              <a:t>から求めた</a:t>
            </a:r>
            <a:r>
              <a:rPr dirty="0"/>
              <a:t> SI </a:t>
            </a:r>
            <a:r>
              <a:rPr dirty="0" err="1"/>
              <a:t>が大動脈</a:t>
            </a:r>
            <a:r>
              <a:rPr dirty="0"/>
              <a:t> PWV </a:t>
            </a:r>
            <a:r>
              <a:rPr dirty="0" err="1"/>
              <a:t>とよく相関することを示した</a:t>
            </a:r>
            <a:r>
              <a:rPr dirty="0"/>
              <a:t>。</a:t>
            </a:r>
          </a:p>
          <a:p>
            <a:r>
              <a:rPr dirty="0" err="1"/>
              <a:t>加齢・動脈硬化では</a:t>
            </a:r>
            <a:r>
              <a:rPr dirty="0"/>
              <a:t> ΔT </a:t>
            </a:r>
            <a:r>
              <a:rPr dirty="0" err="1"/>
              <a:t>が短縮し</a:t>
            </a:r>
            <a:r>
              <a:rPr dirty="0"/>
              <a:t> SI </a:t>
            </a:r>
            <a:r>
              <a:rPr dirty="0" err="1"/>
              <a:t>は上昇する</a:t>
            </a:r>
            <a:r>
              <a:rPr dirty="0"/>
              <a:t>。</a:t>
            </a:r>
          </a:p>
          <a:p>
            <a:r>
              <a:rPr dirty="0" err="1"/>
              <a:t>注意点</a:t>
            </a:r>
            <a:r>
              <a:rPr dirty="0"/>
              <a:t>：</a:t>
            </a:r>
          </a:p>
          <a:p>
            <a:r>
              <a:rPr dirty="0"/>
              <a:t>・P2 </a:t>
            </a:r>
            <a:r>
              <a:rPr dirty="0" err="1"/>
              <a:t>が明瞭に同定できる波形でしか計算できない</a:t>
            </a:r>
            <a:r>
              <a:rPr dirty="0"/>
              <a:t>（→ 第7章の限界）</a:t>
            </a:r>
          </a:p>
          <a:p>
            <a:r>
              <a:rPr dirty="0"/>
              <a:t>・</a:t>
            </a:r>
            <a:r>
              <a:rPr dirty="0" err="1"/>
              <a:t>心拍数の影響を受けるため、比較には</a:t>
            </a:r>
            <a:r>
              <a:rPr dirty="0"/>
              <a:t> HR </a:t>
            </a:r>
            <a:r>
              <a:rPr dirty="0" err="1"/>
              <a:t>補正が必要</a:t>
            </a:r>
            <a:endParaRPr dirty="0"/>
          </a:p>
          <a:p>
            <a:r>
              <a:rPr dirty="0"/>
              <a:t>・「</a:t>
            </a:r>
            <a:r>
              <a:rPr dirty="0" err="1"/>
              <a:t>慢性・構造」の指標であり、術中の一拍ごとの変化を追う目的には向かない</a:t>
            </a:r>
            <a:r>
              <a:rPr dirty="0"/>
              <a:t>。(</a:t>
            </a:r>
            <a:r>
              <a:rPr dirty="0" err="1"/>
              <a:t>Millasseau</a:t>
            </a:r>
            <a:r>
              <a:rPr dirty="0"/>
              <a:t> 2002)</a:t>
            </a:r>
          </a:p>
          <a:p>
            <a:endParaRPr dirty="0"/>
          </a:p>
          <a:p>
            <a:r>
              <a:rPr dirty="0"/>
              <a:t>【「</a:t>
            </a:r>
            <a:r>
              <a:rPr dirty="0" err="1"/>
              <a:t>身長」の意味（文献確認</a:t>
            </a:r>
            <a:r>
              <a:rPr dirty="0"/>
              <a:t> 2026-08）】</a:t>
            </a:r>
          </a:p>
          <a:p>
            <a:r>
              <a:rPr dirty="0" err="1"/>
              <a:t>原著</a:t>
            </a:r>
            <a:r>
              <a:rPr dirty="0"/>
              <a:t> </a:t>
            </a:r>
            <a:r>
              <a:rPr dirty="0" err="1"/>
              <a:t>Millasseau</a:t>
            </a:r>
            <a:r>
              <a:rPr dirty="0"/>
              <a:t> 2002 </a:t>
            </a:r>
            <a:r>
              <a:rPr dirty="0" err="1"/>
              <a:t>は</a:t>
            </a:r>
            <a:r>
              <a:rPr dirty="0"/>
              <a:t> "This path length is unknown, but can be assumed to be proportional to</a:t>
            </a:r>
          </a:p>
          <a:p>
            <a:r>
              <a:rPr dirty="0"/>
              <a:t>subject height (h)" </a:t>
            </a:r>
            <a:r>
              <a:rPr dirty="0" err="1"/>
              <a:t>と述べており、身長は「測れない往復経路長の代用（比例すると仮定</a:t>
            </a:r>
            <a:r>
              <a:rPr dirty="0"/>
              <a:t>）」</a:t>
            </a:r>
            <a:r>
              <a:rPr dirty="0" err="1"/>
              <a:t>である</a:t>
            </a:r>
            <a:r>
              <a:rPr dirty="0"/>
              <a:t>。</a:t>
            </a:r>
          </a:p>
          <a:p>
            <a:r>
              <a:rPr dirty="0" err="1"/>
              <a:t>実測された実効反射距離は片道</a:t>
            </a:r>
            <a:r>
              <a:rPr dirty="0"/>
              <a:t> 約45〜62 </a:t>
            </a:r>
            <a:r>
              <a:rPr dirty="0" err="1"/>
              <a:t>cm（往復</a:t>
            </a:r>
            <a:r>
              <a:rPr dirty="0"/>
              <a:t> 0.9〜1.2 m）＝</a:t>
            </a:r>
            <a:r>
              <a:rPr dirty="0" err="1"/>
              <a:t>身長の</a:t>
            </a:r>
            <a:r>
              <a:rPr dirty="0"/>
              <a:t> 0.5〜0.7 </a:t>
            </a:r>
            <a:r>
              <a:rPr dirty="0" err="1"/>
              <a:t>倍程度で</a:t>
            </a:r>
            <a:r>
              <a:rPr dirty="0"/>
              <a:t>、</a:t>
            </a:r>
          </a:p>
          <a:p>
            <a:r>
              <a:rPr dirty="0"/>
              <a:t>「</a:t>
            </a:r>
            <a:r>
              <a:rPr dirty="0" err="1"/>
              <a:t>往復距離＝身長」ではない（Pierce</a:t>
            </a:r>
            <a:r>
              <a:rPr dirty="0"/>
              <a:t> 2013 AJP Heart 305:H135、Trachet 2010 Ann Biomed Eng 38:876）。</a:t>
            </a:r>
          </a:p>
          <a:p>
            <a:r>
              <a:rPr dirty="0" err="1"/>
              <a:t>原著自身も</a:t>
            </a:r>
            <a:r>
              <a:rPr dirty="0"/>
              <a:t> "SI_DVP cannot be considered as a direct measure of large artery PWV" </a:t>
            </a:r>
            <a:r>
              <a:rPr dirty="0" err="1"/>
              <a:t>と限定しており</a:t>
            </a:r>
            <a:r>
              <a:rPr dirty="0"/>
              <a:t>、</a:t>
            </a:r>
          </a:p>
          <a:p>
            <a:r>
              <a:rPr dirty="0" err="1"/>
              <a:t>cf</a:t>
            </a:r>
            <a:r>
              <a:rPr dirty="0"/>
              <a:t>-PWV </a:t>
            </a:r>
            <a:r>
              <a:rPr dirty="0" err="1"/>
              <a:t>との相関は</a:t>
            </a:r>
            <a:r>
              <a:rPr dirty="0"/>
              <a:t> r≈0.65（Bland–Altman </a:t>
            </a:r>
            <a:r>
              <a:rPr dirty="0" err="1"/>
              <a:t>の一致幅は</a:t>
            </a:r>
            <a:r>
              <a:rPr dirty="0"/>
              <a:t> ±4 m/s </a:t>
            </a:r>
            <a:r>
              <a:rPr dirty="0" err="1"/>
              <a:t>程度</a:t>
            </a:r>
            <a:r>
              <a:rPr dirty="0"/>
              <a:t>）＝</a:t>
            </a:r>
            <a:r>
              <a:rPr dirty="0" err="1"/>
              <a:t>個人単位の代替にはならない</a:t>
            </a:r>
            <a:r>
              <a:rPr dirty="0"/>
              <a:t>。</a:t>
            </a:r>
          </a:p>
          <a:p>
            <a:r>
              <a:rPr dirty="0" err="1"/>
              <a:t>高齢・高血圧例では未検証、という限定も原著に明記されている</a:t>
            </a:r>
            <a:r>
              <a:rPr dirty="0"/>
              <a:t>。</a:t>
            </a:r>
          </a:p>
          <a:p>
            <a:r>
              <a:rPr dirty="0" err="1"/>
              <a:t>また</a:t>
            </a:r>
            <a:r>
              <a:rPr dirty="0"/>
              <a:t> ΔT </a:t>
            </a:r>
            <a:r>
              <a:rPr dirty="0" err="1"/>
              <a:t>からは腕の伝播時間が相殺されるので、ΔT</a:t>
            </a:r>
            <a:r>
              <a:rPr dirty="0"/>
              <a:t> </a:t>
            </a:r>
            <a:r>
              <a:rPr dirty="0" err="1"/>
              <a:t>は「心臓〜指先」ではなく「大動脈内の往復」を見ている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A4D7D-187F-37EB-241D-73FEEDBFB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772F9-575E-00AD-F9C1-D687E430E49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099F51E-B5BF-8314-CCEC-48DDAFFA2F30}"/>
              </a:ext>
            </a:extLst>
          </p:cNvPr>
          <p:cNvSpPr>
            <a:spLocks noGrp="1"/>
          </p:cNvSpPr>
          <p:nvPr>
            <p:ph type="body" sz="quarter" idx="3"/>
          </p:nvPr>
        </p:nvSpPr>
        <p:spPr/>
        <p:txBody>
          <a:bodyPr/>
          <a:lstStyle/>
          <a:p>
            <a:r>
              <a:rPr lang="ja-JP" altLang="en-US"/>
              <a:t>健常成人の計測結果では、年齢、</a:t>
            </a:r>
            <a:r>
              <a:rPr lang="ja-JP" altLang="ja-JP" sz="1200" b="1"/>
              <a:t>頸動脈–大腿動脈脈波伝播速度</a:t>
            </a:r>
            <a:r>
              <a:rPr lang="ja-JP" altLang="en-US" sz="1200" b="1"/>
              <a:t>との関連が示されている。</a:t>
            </a:r>
            <a:endParaRPr lang="en-US" altLang="ja-JP" dirty="0"/>
          </a:p>
          <a:p>
            <a:r>
              <a:rPr lang="ja-JP" altLang="en-US"/>
              <a:t>血管収縮薬や拡張薬の使用でほぼ変化しなかった</a:t>
            </a:r>
            <a:endParaRPr lang="en-US" altLang="ja-JP" dirty="0"/>
          </a:p>
          <a:p>
            <a:endParaRPr lang="en-US" altLang="ja-JP" dirty="0"/>
          </a:p>
          <a:p>
            <a:r>
              <a:rPr lang="ja-JP" altLang="en-US"/>
              <a:t>ミラソ</a:t>
            </a:r>
            <a:r>
              <a:rPr lang="en-US" altLang="ja-JP" dirty="0"/>
              <a:t>-2022</a:t>
            </a:r>
            <a:r>
              <a:rPr lang="ja-JP" altLang="en-US"/>
              <a:t>　</a:t>
            </a:r>
            <a:endParaRPr lang="en-US" altLang="ja-JP" dirty="0"/>
          </a:p>
          <a:p>
            <a:r>
              <a:rPr lang="ja-JP" altLang="en-US"/>
              <a:t>健常成人</a:t>
            </a:r>
            <a:r>
              <a:rPr lang="en-US" altLang="ja-JP" dirty="0"/>
              <a:t>87</a:t>
            </a:r>
            <a:r>
              <a:rPr lang="ja-JP" altLang="en-US"/>
              <a:t>人の研究</a:t>
            </a:r>
            <a:endParaRPr dirty="0"/>
          </a:p>
        </p:txBody>
      </p:sp>
      <p:sp>
        <p:nvSpPr>
          <p:cNvPr id="4" name="Slide Number Placeholder 3">
            <a:extLst>
              <a:ext uri="{FF2B5EF4-FFF2-40B4-BE49-F238E27FC236}">
                <a16:creationId xmlns:a16="http://schemas.microsoft.com/office/drawing/2014/main" id="{E4E53ED2-5D8E-98A7-160F-26645192C23E}"/>
              </a:ext>
            </a:extLst>
          </p:cNvPr>
          <p:cNvSpPr>
            <a:spLocks noGrp="1"/>
          </p:cNvSpPr>
          <p:nvPr>
            <p:ph type="sldNum" sz="quarter" idx="5"/>
          </p:nvPr>
        </p:nvSpPr>
        <p:spPr/>
      </p:sp>
    </p:spTree>
    <p:extLst>
      <p:ext uri="{BB962C8B-B14F-4D97-AF65-F5344CB8AC3E}">
        <p14:creationId xmlns:p14="http://schemas.microsoft.com/office/powerpoint/2010/main" val="7851324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Refectction</a:t>
            </a:r>
            <a:r>
              <a:rPr lang="en-US" dirty="0"/>
              <a:t> </a:t>
            </a:r>
            <a:r>
              <a:rPr lang="en-US" dirty="0" err="1"/>
              <a:t>indexは末梢血管抵抗の指標となる</a:t>
            </a:r>
            <a:r>
              <a:rPr lang="en-US" dirty="0"/>
              <a:t>。</a:t>
            </a:r>
          </a:p>
          <a:p>
            <a:r>
              <a:rPr lang="en-US" dirty="0" err="1"/>
              <a:t>反射波ピークを前進波ピークで割ったもの。反射波の振幅が反映される</a:t>
            </a:r>
            <a:r>
              <a:rPr lang="en-US" dirty="0"/>
              <a:t>。</a:t>
            </a:r>
          </a:p>
          <a:p>
            <a:endParaRPr lang="en-US" dirty="0"/>
          </a:p>
          <a:p>
            <a:r>
              <a:rPr lang="en-US" dirty="0"/>
              <a:t>中心はミラソ-2003にする、RIの設定に言及したのは2002</a:t>
            </a:r>
            <a:r>
              <a:rPr lang="ja-JP" altLang="en-US"/>
              <a:t> </a:t>
            </a:r>
            <a:r>
              <a:rPr lang="en-US" dirty="0"/>
              <a:t>1999も原理は似ているし、同じ研究チーム</a:t>
            </a:r>
          </a:p>
          <a:p>
            <a:r>
              <a:rPr dirty="0" err="1"/>
              <a:t>RI（reflecti</a:t>
            </a:r>
            <a:r>
              <a:rPr lang="en" dirty="0"/>
              <a:t>o</a:t>
            </a:r>
            <a:r>
              <a:rPr lang="en-US" dirty="0"/>
              <a:t>n index）＝ P2 ÷ P1（％</a:t>
            </a:r>
            <a:r>
              <a:rPr lang="ja-JP" altLang="en-US"/>
              <a:t>で表す）。</a:t>
            </a:r>
          </a:p>
          <a:p>
            <a:r>
              <a:rPr dirty="0" err="1"/>
              <a:t>反射波の高さを前進波の高さで正規化した指標で、末梢血管トーヌス（反射係数）を反映する</a:t>
            </a:r>
            <a:r>
              <a:rPr dirty="0"/>
              <a:t>。</a:t>
            </a:r>
          </a:p>
          <a:p>
            <a:r>
              <a:rPr dirty="0" err="1"/>
              <a:t>Chowienczyk</a:t>
            </a:r>
            <a:r>
              <a:rPr dirty="0"/>
              <a:t> </a:t>
            </a:r>
            <a:r>
              <a:rPr dirty="0" err="1"/>
              <a:t>らは、吸入</a:t>
            </a:r>
            <a:r>
              <a:rPr dirty="0"/>
              <a:t>β2刺激薬で RI </a:t>
            </a:r>
            <a:r>
              <a:rPr dirty="0" err="1"/>
              <a:t>が約</a:t>
            </a:r>
            <a:r>
              <a:rPr dirty="0"/>
              <a:t> −11.8%、</a:t>
            </a:r>
            <a:r>
              <a:rPr dirty="0" err="1"/>
              <a:t>ニトログリセリンで約</a:t>
            </a:r>
            <a:r>
              <a:rPr dirty="0"/>
              <a:t> −18.3% </a:t>
            </a:r>
            <a:r>
              <a:rPr dirty="0" err="1"/>
              <a:t>低下することを</a:t>
            </a:r>
            <a:endParaRPr dirty="0"/>
          </a:p>
          <a:p>
            <a:r>
              <a:rPr dirty="0" err="1"/>
              <a:t>示し、RI</a:t>
            </a:r>
            <a:r>
              <a:rPr dirty="0"/>
              <a:t> </a:t>
            </a:r>
            <a:r>
              <a:rPr dirty="0" err="1"/>
              <a:t>が小血管の拡張に鋭敏に反応することを示した。逆に血管収縮（昇圧薬・浅麻酔）では</a:t>
            </a:r>
            <a:endParaRPr dirty="0"/>
          </a:p>
          <a:p>
            <a:r>
              <a:rPr dirty="0"/>
              <a:t>RI </a:t>
            </a:r>
            <a:r>
              <a:rPr dirty="0" err="1"/>
              <a:t>は上昇する</a:t>
            </a:r>
            <a:r>
              <a:rPr dirty="0"/>
              <a:t>。</a:t>
            </a:r>
          </a:p>
          <a:p>
            <a:r>
              <a:rPr dirty="0"/>
              <a:t>SI </a:t>
            </a:r>
            <a:r>
              <a:rPr dirty="0" err="1"/>
              <a:t>が「硬さ＝慢性・構造」を見るのに対し、RI</a:t>
            </a:r>
            <a:r>
              <a:rPr dirty="0"/>
              <a:t> </a:t>
            </a:r>
            <a:r>
              <a:rPr dirty="0" err="1"/>
              <a:t>は「トーヌス＝急性・機能」を見る指標であり</a:t>
            </a:r>
            <a:r>
              <a:rPr dirty="0"/>
              <a:t>、</a:t>
            </a:r>
          </a:p>
          <a:p>
            <a:r>
              <a:rPr dirty="0" err="1"/>
              <a:t>術中トレンドを追うのに向く。ただし</a:t>
            </a:r>
            <a:r>
              <a:rPr dirty="0"/>
              <a:t> RI </a:t>
            </a:r>
            <a:r>
              <a:rPr dirty="0" err="1"/>
              <a:t>も心拍数の影響を受けるため補正が必要</a:t>
            </a:r>
            <a:r>
              <a:rPr dirty="0"/>
              <a:t>。(</a:t>
            </a:r>
            <a:r>
              <a:rPr dirty="0" err="1"/>
              <a:t>Chowienczyk</a:t>
            </a:r>
            <a:r>
              <a:rPr dirty="0"/>
              <a:t> 1999)</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24908-BA78-F04F-E00B-6FE995288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CD3B70-66B8-3729-20E6-7A685B831F7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E6B3191-67D7-F8EE-100A-C67909330370}"/>
              </a:ext>
            </a:extLst>
          </p:cNvPr>
          <p:cNvSpPr>
            <a:spLocks noGrp="1"/>
          </p:cNvSpPr>
          <p:nvPr>
            <p:ph type="body" sz="quarter" idx="3"/>
          </p:nvPr>
        </p:nvSpPr>
        <p:spPr/>
        <p:txBody>
          <a:bodyPr/>
          <a:lstStyle/>
          <a:p>
            <a:r>
              <a:rPr lang="en-US" dirty="0"/>
              <a:t>ミラソ-2003</a:t>
            </a:r>
            <a:r>
              <a:rPr lang="ja-JP" altLang="en-US"/>
              <a:t>　</a:t>
            </a:r>
            <a:endParaRPr lang="en-US" altLang="ja-JP" dirty="0"/>
          </a:p>
          <a:p>
            <a:endParaRPr lang="en-US" altLang="ja-JP"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増加させた</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減少させた</a:t>
            </a:r>
            <a:endParaRPr kumimoji="1" lang="en-US" altLang="ja-JP" sz="1200" kern="1200" dirty="0">
              <a:solidFill>
                <a:schemeClr val="tx1"/>
              </a:solidFill>
              <a:effectLst/>
              <a:latin typeface="+mn-lt"/>
              <a:ea typeface="+mn-ea"/>
              <a:cs typeface="+mn-cs"/>
            </a:endParaRPr>
          </a:p>
          <a:p>
            <a:endParaRPr lang="en-US" altLang="ja-JP" dirty="0"/>
          </a:p>
          <a:p>
            <a:r>
              <a:rPr lang="ja-JP" altLang="en-US"/>
              <a:t>健康男性</a:t>
            </a:r>
            <a:r>
              <a:rPr lang="en-US" altLang="ja-JP" dirty="0"/>
              <a:t>124</a:t>
            </a:r>
            <a:r>
              <a:rPr lang="ja-JP" altLang="en-US"/>
              <a:t>人での検討では</a:t>
            </a:r>
            <a:r>
              <a:rPr dirty="0" err="1"/>
              <a:t>Chowienczyk</a:t>
            </a:r>
            <a:r>
              <a:rPr dirty="0"/>
              <a:t> </a:t>
            </a:r>
            <a:r>
              <a:rPr dirty="0" err="1"/>
              <a:t>らは、</a:t>
            </a:r>
            <a:r>
              <a:rPr lang="en-US" altLang="ja-JP" dirty="0" err="1"/>
              <a:t>RI</a:t>
            </a:r>
            <a:r>
              <a:rPr lang="ja-JP" altLang="en-US"/>
              <a:t>が</a:t>
            </a:r>
            <a:r>
              <a:rPr dirty="0" err="1"/>
              <a:t>ニトログリセリンで約</a:t>
            </a:r>
            <a:r>
              <a:rPr dirty="0"/>
              <a:t> −18.3% </a:t>
            </a:r>
            <a:r>
              <a:rPr dirty="0" err="1"/>
              <a:t>低下することを</a:t>
            </a:r>
            <a:endParaRPr dirty="0"/>
          </a:p>
          <a:p>
            <a:r>
              <a:rPr dirty="0" err="1"/>
              <a:t>示し、RI</a:t>
            </a:r>
            <a:r>
              <a:rPr dirty="0"/>
              <a:t> </a:t>
            </a:r>
            <a:r>
              <a:rPr dirty="0" err="1"/>
              <a:t>が小血管の拡張に鋭敏に反応することを示した。逆に血管収縮（昇圧薬・浅麻酔）では</a:t>
            </a:r>
            <a:endParaRPr dirty="0"/>
          </a:p>
          <a:p>
            <a:r>
              <a:rPr dirty="0"/>
              <a:t>RI </a:t>
            </a:r>
            <a:r>
              <a:rPr dirty="0" err="1"/>
              <a:t>は上昇する</a:t>
            </a:r>
            <a:r>
              <a:rPr dirty="0"/>
              <a:t>。</a:t>
            </a:r>
          </a:p>
          <a:p>
            <a:r>
              <a:rPr dirty="0"/>
              <a:t>SI </a:t>
            </a:r>
            <a:r>
              <a:rPr dirty="0" err="1"/>
              <a:t>が「硬さ＝慢性・構造」を見るのに対し、RI</a:t>
            </a:r>
            <a:r>
              <a:rPr dirty="0"/>
              <a:t> </a:t>
            </a:r>
            <a:r>
              <a:rPr dirty="0" err="1"/>
              <a:t>は「トーヌス＝急性・機能」を見る指標であり</a:t>
            </a:r>
            <a:r>
              <a:rPr dirty="0"/>
              <a:t>、</a:t>
            </a:r>
          </a:p>
          <a:p>
            <a:r>
              <a:rPr dirty="0" err="1"/>
              <a:t>術中トレンドを追うのに向く。ただし</a:t>
            </a:r>
            <a:r>
              <a:rPr dirty="0"/>
              <a:t> RI </a:t>
            </a:r>
            <a:r>
              <a:rPr dirty="0" err="1"/>
              <a:t>も心拍数の影響を受けるため補正が必要</a:t>
            </a:r>
            <a:r>
              <a:rPr dirty="0"/>
              <a:t>。(</a:t>
            </a:r>
            <a:r>
              <a:rPr dirty="0" err="1"/>
              <a:t>Chowienczyk</a:t>
            </a:r>
            <a:r>
              <a:rPr dirty="0"/>
              <a:t> 1999)</a:t>
            </a:r>
          </a:p>
        </p:txBody>
      </p:sp>
      <p:sp>
        <p:nvSpPr>
          <p:cNvPr id="4" name="Slide Number Placeholder 3">
            <a:extLst>
              <a:ext uri="{FF2B5EF4-FFF2-40B4-BE49-F238E27FC236}">
                <a16:creationId xmlns:a16="http://schemas.microsoft.com/office/drawing/2014/main" id="{F0212291-EF25-F547-25BD-BC547786E566}"/>
              </a:ext>
            </a:extLst>
          </p:cNvPr>
          <p:cNvSpPr>
            <a:spLocks noGrp="1"/>
          </p:cNvSpPr>
          <p:nvPr>
            <p:ph type="sldNum" sz="quarter" idx="5"/>
          </p:nvPr>
        </p:nvSpPr>
        <p:spPr/>
      </p:sp>
    </p:spTree>
    <p:extLst>
      <p:ext uri="{BB962C8B-B14F-4D97-AF65-F5344CB8AC3E}">
        <p14:creationId xmlns:p14="http://schemas.microsoft.com/office/powerpoint/2010/main" val="17689578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D1EE2-1F6D-690B-B26F-7ACD42E8E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C2CF9-E8A3-453E-6CC6-448B4B6BBBB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8ED0F3F-DA55-BE7D-FC02-4BDB819B6604}"/>
              </a:ext>
            </a:extLst>
          </p:cNvPr>
          <p:cNvSpPr>
            <a:spLocks noGrp="1"/>
          </p:cNvSpPr>
          <p:nvPr>
            <p:ph type="body" sz="quarter" idx="3"/>
          </p:nvPr>
        </p:nvSpPr>
        <p:spPr/>
        <p:txBody>
          <a:bodyPr/>
          <a:lstStyle/>
          <a:p>
            <a:r>
              <a:rPr lang="en-US" dirty="0" err="1"/>
              <a:t>RIとSVRに関連があるのかを調べた研究</a:t>
            </a:r>
            <a:endParaRPr lang="en-US" dirty="0"/>
          </a:p>
          <a:p>
            <a:endParaRPr lang="en-US" dirty="0"/>
          </a:p>
          <a:p>
            <a:r>
              <a:rPr lang="en-US" dirty="0"/>
              <a:t>lee2011</a:t>
            </a:r>
            <a:r>
              <a:rPr lang="ja-JP" altLang="en-US"/>
              <a:t>　オーストラリアの</a:t>
            </a:r>
            <a:r>
              <a:rPr lang="en-US" altLang="ja-JP" dirty="0"/>
              <a:t>ICU</a:t>
            </a:r>
            <a:r>
              <a:rPr lang="ja-JP" altLang="en-US"/>
              <a:t>で測定された</a:t>
            </a:r>
            <a:r>
              <a:rPr lang="en-US" altLang="ja-JP" dirty="0"/>
              <a:t>64</a:t>
            </a:r>
            <a:r>
              <a:rPr lang="ja-JP" altLang="en-US"/>
              <a:t>人分のデータ</a:t>
            </a:r>
            <a:endParaRPr dirty="0"/>
          </a:p>
        </p:txBody>
      </p:sp>
      <p:sp>
        <p:nvSpPr>
          <p:cNvPr id="4" name="Slide Number Placeholder 3">
            <a:extLst>
              <a:ext uri="{FF2B5EF4-FFF2-40B4-BE49-F238E27FC236}">
                <a16:creationId xmlns:a16="http://schemas.microsoft.com/office/drawing/2014/main" id="{F7FB63D8-E5B4-6805-4294-75A17752CBDA}"/>
              </a:ext>
            </a:extLst>
          </p:cNvPr>
          <p:cNvSpPr>
            <a:spLocks noGrp="1"/>
          </p:cNvSpPr>
          <p:nvPr>
            <p:ph type="sldNum" sz="quarter" idx="5"/>
          </p:nvPr>
        </p:nvSpPr>
        <p:spPr/>
      </p:sp>
    </p:spTree>
    <p:extLst>
      <p:ext uri="{BB962C8B-B14F-4D97-AF65-F5344CB8AC3E}">
        <p14:creationId xmlns:p14="http://schemas.microsoft.com/office/powerpoint/2010/main" val="202900447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067BE-0EB2-F075-6441-E26E76CAA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97D34-3E29-96DB-D929-66F5810CBA0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A162AA1-DD8A-A287-EFCA-A13CA9595ADE}"/>
              </a:ext>
            </a:extLst>
          </p:cNvPr>
          <p:cNvSpPr>
            <a:spLocks noGrp="1"/>
          </p:cNvSpPr>
          <p:nvPr>
            <p:ph type="body" sz="quarter" idx="3"/>
          </p:nvPr>
        </p:nvSpPr>
        <p:spPr/>
        <p:txBody>
          <a:bodyPr/>
          <a:lstStyle/>
          <a:p>
            <a:r>
              <a:rPr dirty="0"/>
              <a:t>5.2 の2枚目。RI </a:t>
            </a:r>
            <a:r>
              <a:rPr dirty="0" err="1"/>
              <a:t>を使うときに必ず断らなければならない交絡＝心拍数（HR</a:t>
            </a:r>
            <a:r>
              <a:rPr dirty="0"/>
              <a:t>）。</a:t>
            </a:r>
          </a:p>
          <a:p>
            <a:endParaRPr dirty="0"/>
          </a:p>
          <a:p>
            <a:r>
              <a:rPr dirty="0" err="1"/>
              <a:t>なぜ</a:t>
            </a:r>
            <a:r>
              <a:rPr dirty="0"/>
              <a:t> HR </a:t>
            </a:r>
            <a:r>
              <a:rPr dirty="0" err="1"/>
              <a:t>で動くのか</a:t>
            </a:r>
            <a:endParaRPr dirty="0"/>
          </a:p>
          <a:p>
            <a:r>
              <a:rPr dirty="0"/>
              <a:t>・HR </a:t>
            </a:r>
            <a:r>
              <a:rPr dirty="0" err="1"/>
              <a:t>が上がると拡張期が短くなり、左室駆出時間（LVET）も短縮する</a:t>
            </a:r>
            <a:r>
              <a:rPr dirty="0"/>
              <a:t>。</a:t>
            </a:r>
          </a:p>
          <a:p>
            <a:r>
              <a:rPr dirty="0"/>
              <a:t>・</a:t>
            </a:r>
            <a:r>
              <a:rPr dirty="0" err="1"/>
              <a:t>収縮期波が早く減衰するため、反射波が戻ってきたときには基準となる収縮期ピークが</a:t>
            </a:r>
            <a:endParaRPr dirty="0"/>
          </a:p>
          <a:p>
            <a:r>
              <a:rPr dirty="0"/>
              <a:t>　</a:t>
            </a:r>
            <a:r>
              <a:rPr dirty="0" err="1"/>
              <a:t>すでに下がっており、収縮期ピークで正規化した反射波成分</a:t>
            </a:r>
            <a:r>
              <a:rPr dirty="0"/>
              <a:t>（＝P2/P1＝RI）は小さくなる。</a:t>
            </a:r>
          </a:p>
          <a:p>
            <a:r>
              <a:rPr dirty="0"/>
              <a:t>・Charlton 2019 </a:t>
            </a:r>
            <a:r>
              <a:rPr dirty="0" err="1"/>
              <a:t>の</a:t>
            </a:r>
            <a:r>
              <a:rPr dirty="0"/>
              <a:t> in-silico データ（25歳仮想被験者、各パラメータ ±1SD）でも、</a:t>
            </a:r>
          </a:p>
          <a:p>
            <a:r>
              <a:rPr dirty="0"/>
              <a:t>　HR +1SD </a:t>
            </a:r>
            <a:r>
              <a:rPr dirty="0" err="1"/>
              <a:t>で拡張期（反射）ピークの相対的な高さは低下し、切痕は深く早くなる</a:t>
            </a:r>
            <a:r>
              <a:rPr dirty="0"/>
              <a:t>。</a:t>
            </a:r>
          </a:p>
          <a:p>
            <a:endParaRPr dirty="0"/>
          </a:p>
          <a:p>
            <a:r>
              <a:rPr dirty="0" err="1"/>
              <a:t>実測でどこまで言えるか</a:t>
            </a:r>
            <a:endParaRPr dirty="0"/>
          </a:p>
          <a:p>
            <a:r>
              <a:rPr dirty="0"/>
              <a:t>・Md Lazim MR, et al. Is heart rate a confounding factor for photoplethysmography markers?</a:t>
            </a:r>
          </a:p>
          <a:p>
            <a:r>
              <a:rPr dirty="0"/>
              <a:t>　A systematic review. Int J Environ Res Public Health 2020;17:2591.</a:t>
            </a:r>
          </a:p>
          <a:p>
            <a:r>
              <a:rPr dirty="0"/>
              <a:t>　1960件から選択基準を満たした6編を採択。SI・RI・SDPPG（b/a, d/a, AGI, </a:t>
            </a:r>
            <a:r>
              <a:rPr dirty="0" err="1"/>
              <a:t>RAGI）はいずれも</a:t>
            </a:r>
            <a:endParaRPr dirty="0"/>
          </a:p>
          <a:p>
            <a:r>
              <a:rPr dirty="0"/>
              <a:t>　HR </a:t>
            </a:r>
            <a:r>
              <a:rPr dirty="0" err="1"/>
              <a:t>と関連したが、関連が「相当程度（considerable</a:t>
            </a:r>
            <a:r>
              <a:rPr dirty="0"/>
              <a:t>）」</a:t>
            </a:r>
            <a:r>
              <a:rPr dirty="0" err="1"/>
              <a:t>だったのは</a:t>
            </a:r>
            <a:r>
              <a:rPr dirty="0"/>
              <a:t> RI </a:t>
            </a:r>
            <a:r>
              <a:rPr dirty="0" err="1"/>
              <a:t>のみ</a:t>
            </a:r>
            <a:r>
              <a:rPr dirty="0"/>
              <a:t>。</a:t>
            </a:r>
          </a:p>
          <a:p>
            <a:r>
              <a:rPr dirty="0"/>
              <a:t>　SI </a:t>
            </a:r>
            <a:r>
              <a:rPr dirty="0" err="1"/>
              <a:t>と</a:t>
            </a:r>
            <a:r>
              <a:rPr dirty="0"/>
              <a:t> HR </a:t>
            </a:r>
            <a:r>
              <a:rPr dirty="0" err="1"/>
              <a:t>の関連は</a:t>
            </a:r>
            <a:r>
              <a:rPr dirty="0"/>
              <a:t> </a:t>
            </a:r>
            <a:r>
              <a:rPr dirty="0" err="1"/>
              <a:t>non-considerable、HR</a:t>
            </a:r>
            <a:r>
              <a:rPr dirty="0"/>
              <a:t> </a:t>
            </a:r>
            <a:r>
              <a:rPr dirty="0" err="1"/>
              <a:t>と</a:t>
            </a:r>
            <a:r>
              <a:rPr dirty="0"/>
              <a:t> SDPPG </a:t>
            </a:r>
            <a:r>
              <a:rPr dirty="0" err="1"/>
              <a:t>の関連は</a:t>
            </a:r>
            <a:r>
              <a:rPr dirty="0"/>
              <a:t> inconclusive </a:t>
            </a:r>
            <a:r>
              <a:rPr dirty="0" err="1"/>
              <a:t>と結論している</a:t>
            </a:r>
            <a:r>
              <a:rPr dirty="0"/>
              <a:t>。</a:t>
            </a:r>
          </a:p>
          <a:p>
            <a:r>
              <a:rPr dirty="0"/>
              <a:t>　→ </a:t>
            </a:r>
            <a:r>
              <a:rPr dirty="0" err="1"/>
              <a:t>心拍数が大きく動く周術期では、振幅比である</a:t>
            </a:r>
            <a:r>
              <a:rPr dirty="0"/>
              <a:t> RI </a:t>
            </a:r>
            <a:r>
              <a:rPr dirty="0" err="1"/>
              <a:t>のほうが時間指標の</a:t>
            </a:r>
            <a:r>
              <a:rPr dirty="0"/>
              <a:t> SI </a:t>
            </a:r>
            <a:r>
              <a:rPr dirty="0" err="1"/>
              <a:t>より交絡を受けやすい</a:t>
            </a:r>
            <a:r>
              <a:rPr dirty="0"/>
              <a:t>。</a:t>
            </a:r>
          </a:p>
          <a:p>
            <a:r>
              <a:rPr dirty="0"/>
              <a:t>・Wilkinson IB, et al. J </a:t>
            </a:r>
            <a:r>
              <a:rPr dirty="0" err="1"/>
              <a:t>Physiol</a:t>
            </a:r>
            <a:r>
              <a:rPr dirty="0"/>
              <a:t> 2000;525:263–70.</a:t>
            </a:r>
          </a:p>
          <a:p>
            <a:r>
              <a:rPr dirty="0"/>
              <a:t>　恒久ペースメーカ植込み患者22名（平均63歳）を 60→110 bpm </a:t>
            </a:r>
            <a:r>
              <a:rPr dirty="0" err="1"/>
              <a:t>でペーシングし</a:t>
            </a:r>
            <a:r>
              <a:rPr dirty="0"/>
              <a:t>、</a:t>
            </a:r>
          </a:p>
          <a:p>
            <a:r>
              <a:rPr dirty="0"/>
              <a:t>　</a:t>
            </a:r>
            <a:r>
              <a:rPr dirty="0" err="1"/>
              <a:t>AIx</a:t>
            </a:r>
            <a:r>
              <a:rPr dirty="0"/>
              <a:t> </a:t>
            </a:r>
            <a:r>
              <a:rPr dirty="0" err="1"/>
              <a:t>と</a:t>
            </a:r>
            <a:r>
              <a:rPr dirty="0"/>
              <a:t> HR </a:t>
            </a:r>
            <a:r>
              <a:rPr dirty="0" err="1"/>
              <a:t>に有意な負の直線関係（r</a:t>
            </a:r>
            <a:r>
              <a:rPr dirty="0"/>
              <a:t> = −0.76、P&lt;0.001）、HR 10 bpm </a:t>
            </a:r>
            <a:r>
              <a:rPr dirty="0" err="1"/>
              <a:t>増あたり</a:t>
            </a:r>
            <a:r>
              <a:rPr dirty="0"/>
              <a:t> </a:t>
            </a:r>
            <a:r>
              <a:rPr dirty="0" err="1"/>
              <a:t>AIx</a:t>
            </a:r>
            <a:r>
              <a:rPr dirty="0"/>
              <a:t> </a:t>
            </a:r>
            <a:r>
              <a:rPr dirty="0" err="1"/>
              <a:t>約</a:t>
            </a:r>
            <a:r>
              <a:rPr dirty="0"/>
              <a:t> −4%。</a:t>
            </a:r>
          </a:p>
          <a:p>
            <a:r>
              <a:rPr dirty="0"/>
              <a:t>　</a:t>
            </a:r>
            <a:r>
              <a:rPr dirty="0" err="1"/>
              <a:t>ただしこれは中心・末梢の「圧」波形での検討である</a:t>
            </a:r>
            <a:r>
              <a:rPr dirty="0"/>
              <a:t>。</a:t>
            </a:r>
          </a:p>
          <a:p>
            <a:r>
              <a:rPr dirty="0"/>
              <a:t>・Hashimoto J, et al. J </a:t>
            </a:r>
            <a:r>
              <a:rPr dirty="0" err="1"/>
              <a:t>Hypertens</a:t>
            </a:r>
            <a:r>
              <a:rPr dirty="0"/>
              <a:t> 2002;20:2415–22.</a:t>
            </a:r>
          </a:p>
          <a:p>
            <a:r>
              <a:rPr dirty="0"/>
              <a:t>　治療中高血圧294名で、HR </a:t>
            </a:r>
            <a:r>
              <a:rPr dirty="0" err="1"/>
              <a:t>は</a:t>
            </a:r>
            <a:r>
              <a:rPr dirty="0"/>
              <a:t> SDPTG </a:t>
            </a:r>
            <a:r>
              <a:rPr dirty="0" err="1"/>
              <a:t>の</a:t>
            </a:r>
            <a:r>
              <a:rPr dirty="0"/>
              <a:t> d/</a:t>
            </a:r>
            <a:r>
              <a:rPr dirty="0" err="1"/>
              <a:t>a・AGI</a:t>
            </a:r>
            <a:r>
              <a:rPr dirty="0"/>
              <a:t> </a:t>
            </a:r>
            <a:r>
              <a:rPr dirty="0" err="1"/>
              <a:t>と負、b</a:t>
            </a:r>
            <a:r>
              <a:rPr dirty="0"/>
              <a:t>/a </a:t>
            </a:r>
            <a:r>
              <a:rPr dirty="0" err="1"/>
              <a:t>と正に相関した</a:t>
            </a:r>
            <a:r>
              <a:rPr dirty="0"/>
              <a:t>。</a:t>
            </a:r>
          </a:p>
          <a:p>
            <a:endParaRPr dirty="0"/>
          </a:p>
          <a:p>
            <a:r>
              <a:rPr dirty="0" err="1"/>
              <a:t>実務上どうするか</a:t>
            </a:r>
            <a:endParaRPr dirty="0"/>
          </a:p>
          <a:p>
            <a:r>
              <a:rPr dirty="0"/>
              <a:t>・</a:t>
            </a:r>
            <a:r>
              <a:rPr dirty="0" err="1"/>
              <a:t>圧波形の</a:t>
            </a:r>
            <a:r>
              <a:rPr dirty="0"/>
              <a:t> </a:t>
            </a:r>
            <a:r>
              <a:rPr dirty="0" err="1"/>
              <a:t>AIx</a:t>
            </a:r>
            <a:r>
              <a:rPr dirty="0"/>
              <a:t> には「AIx@75」（75 bpm </a:t>
            </a:r>
            <a:r>
              <a:rPr dirty="0" err="1"/>
              <a:t>に標準化）という確立した補正法があるが</a:t>
            </a:r>
            <a:r>
              <a:rPr dirty="0"/>
              <a:t>、</a:t>
            </a:r>
          </a:p>
          <a:p>
            <a:r>
              <a:rPr dirty="0"/>
              <a:t>　</a:t>
            </a:r>
            <a:r>
              <a:rPr dirty="0" err="1"/>
              <a:t>指尖</a:t>
            </a:r>
            <a:r>
              <a:rPr dirty="0"/>
              <a:t> PPG </a:t>
            </a:r>
            <a:r>
              <a:rPr dirty="0" err="1"/>
              <a:t>の</a:t>
            </a:r>
            <a:r>
              <a:rPr dirty="0"/>
              <a:t> RI </a:t>
            </a:r>
            <a:r>
              <a:rPr dirty="0" err="1"/>
              <a:t>について確立した補正式はない。勝手に</a:t>
            </a:r>
            <a:r>
              <a:rPr dirty="0"/>
              <a:t> AIx@75 </a:t>
            </a:r>
            <a:r>
              <a:rPr dirty="0" err="1"/>
              <a:t>の係数を流用しないこと</a:t>
            </a:r>
            <a:r>
              <a:rPr dirty="0"/>
              <a:t>。</a:t>
            </a:r>
          </a:p>
          <a:p>
            <a:r>
              <a:rPr dirty="0"/>
              <a:t>・したがって現実解は次の3つ。</a:t>
            </a:r>
          </a:p>
          <a:p>
            <a:r>
              <a:rPr dirty="0"/>
              <a:t>　① </a:t>
            </a:r>
            <a:r>
              <a:rPr dirty="0" err="1"/>
              <a:t>経時比較では測定時の</a:t>
            </a:r>
            <a:r>
              <a:rPr dirty="0"/>
              <a:t> HR </a:t>
            </a:r>
            <a:r>
              <a:rPr dirty="0" err="1"/>
              <a:t>をそろえる（同じ深度・同じ薬剤条件で比較する</a:t>
            </a:r>
            <a:r>
              <a:rPr dirty="0"/>
              <a:t>）。</a:t>
            </a:r>
          </a:p>
          <a:p>
            <a:r>
              <a:rPr dirty="0"/>
              <a:t>　② RI </a:t>
            </a:r>
            <a:r>
              <a:rPr dirty="0" err="1"/>
              <a:t>の値は必ず</a:t>
            </a:r>
            <a:r>
              <a:rPr dirty="0"/>
              <a:t> HR </a:t>
            </a:r>
            <a:r>
              <a:rPr dirty="0" err="1"/>
              <a:t>とセットで記録・提示する</a:t>
            </a:r>
            <a:r>
              <a:rPr dirty="0"/>
              <a:t>。</a:t>
            </a:r>
          </a:p>
          <a:p>
            <a:r>
              <a:rPr dirty="0"/>
              <a:t>　③ HR </a:t>
            </a:r>
            <a:r>
              <a:rPr dirty="0" err="1"/>
              <a:t>が大きく動く場面（導入直後、昇圧薬投与直後など）の</a:t>
            </a:r>
            <a:r>
              <a:rPr dirty="0"/>
              <a:t> RI </a:t>
            </a:r>
            <a:r>
              <a:rPr dirty="0" err="1"/>
              <a:t>変化は、トーヌス変化と</a:t>
            </a:r>
            <a:endParaRPr dirty="0"/>
          </a:p>
          <a:p>
            <a:r>
              <a:rPr dirty="0"/>
              <a:t>　　</a:t>
            </a:r>
            <a:r>
              <a:rPr dirty="0" err="1"/>
              <a:t>断定せず「HR</a:t>
            </a:r>
            <a:r>
              <a:rPr dirty="0"/>
              <a:t> </a:t>
            </a:r>
            <a:r>
              <a:rPr dirty="0" err="1"/>
              <a:t>の寄与が混じる」と明示する</a:t>
            </a:r>
            <a:r>
              <a:rPr dirty="0"/>
              <a:t>。</a:t>
            </a:r>
          </a:p>
          <a:p>
            <a:r>
              <a:rPr dirty="0"/>
              <a:t>・SI（＝</a:t>
            </a:r>
            <a:r>
              <a:rPr dirty="0" err="1"/>
              <a:t>身長÷ΔT、時間指標）は</a:t>
            </a:r>
            <a:r>
              <a:rPr dirty="0"/>
              <a:t> HR </a:t>
            </a:r>
            <a:r>
              <a:rPr dirty="0" err="1"/>
              <a:t>の影響が相対的に小さいとされるが、無関係ではない</a:t>
            </a:r>
            <a:r>
              <a:rPr dirty="0"/>
              <a:t>。</a:t>
            </a:r>
          </a:p>
          <a:p>
            <a:endParaRPr dirty="0"/>
          </a:p>
        </p:txBody>
      </p:sp>
      <p:sp>
        <p:nvSpPr>
          <p:cNvPr id="4" name="Slide Number Placeholder 3">
            <a:extLst>
              <a:ext uri="{FF2B5EF4-FFF2-40B4-BE49-F238E27FC236}">
                <a16:creationId xmlns:a16="http://schemas.microsoft.com/office/drawing/2014/main" id="{9D43537F-5F77-CEFE-AF5F-E06DE831A5AA}"/>
              </a:ext>
            </a:extLst>
          </p:cNvPr>
          <p:cNvSpPr>
            <a:spLocks noGrp="1"/>
          </p:cNvSpPr>
          <p:nvPr>
            <p:ph type="sldNum" sz="quarter" idx="5"/>
          </p:nvPr>
        </p:nvSpPr>
        <p:spPr/>
      </p:sp>
    </p:spTree>
    <p:extLst>
      <p:ext uri="{BB962C8B-B14F-4D97-AF65-F5344CB8AC3E}">
        <p14:creationId xmlns:p14="http://schemas.microsoft.com/office/powerpoint/2010/main" val="270818886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62704-B79B-F8AB-1A86-1E9FA35E7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479C02-FAF3-C11B-3BF0-ABDE9EB768C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B061664-B1B8-4E8E-8379-AE2CE27CC0FA}"/>
              </a:ext>
            </a:extLst>
          </p:cNvPr>
          <p:cNvSpPr>
            <a:spLocks noGrp="1"/>
          </p:cNvSpPr>
          <p:nvPr>
            <p:ph type="body" sz="quarter" idx="3"/>
          </p:nvPr>
        </p:nvSpPr>
        <p:spPr/>
        <p:txBody>
          <a:bodyPr/>
          <a:lstStyle/>
          <a:p>
            <a:r>
              <a:rPr lang="en-US" dirty="0"/>
              <a:t>加速度脈波はPPG原波形を2回微分したものです。</a:t>
            </a:r>
          </a:p>
          <a:p>
            <a:r>
              <a:rPr lang="en-US" dirty="0" err="1"/>
              <a:t>そのメリットは原波形での変化を極値として表示できる点にあり、わずかな変化を見逃しません</a:t>
            </a:r>
            <a:r>
              <a:rPr lang="en-US" dirty="0"/>
              <a:t>。</a:t>
            </a:r>
          </a:p>
          <a:p>
            <a:r>
              <a:rPr lang="en-US" dirty="0" err="1"/>
              <a:t>二次微分という解析的手法を臨床に体系化したのは日本人で、高沢らの功績です</a:t>
            </a:r>
            <a:r>
              <a:rPr lang="en-US" dirty="0"/>
              <a:t>。</a:t>
            </a:r>
          </a:p>
          <a:p>
            <a:endParaRPr lang="en-US" dirty="0"/>
          </a:p>
          <a:p>
            <a:r>
              <a:rPr lang="en-US" dirty="0" err="1"/>
              <a:t>振幅情報が消えること、ノイズが増幅されることなどが欠点</a:t>
            </a:r>
            <a:r>
              <a:rPr lang="en-US" dirty="0"/>
              <a:t>。</a:t>
            </a:r>
          </a:p>
          <a:p>
            <a:endParaRPr lang="en-US" dirty="0"/>
          </a:p>
          <a:p>
            <a:r>
              <a:rPr dirty="0" err="1"/>
              <a:t>SDPPG（second</a:t>
            </a:r>
            <a:r>
              <a:rPr dirty="0"/>
              <a:t> derivative of </a:t>
            </a:r>
            <a:r>
              <a:rPr dirty="0" err="1"/>
              <a:t>PPG＝加速度脈波）は、原波形の微妙な「折れ（変曲点</a:t>
            </a:r>
            <a:r>
              <a:rPr dirty="0"/>
              <a:t>）」</a:t>
            </a:r>
            <a:r>
              <a:rPr dirty="0" err="1"/>
              <a:t>を</a:t>
            </a:r>
            <a:endParaRPr dirty="0"/>
          </a:p>
          <a:p>
            <a:r>
              <a:rPr dirty="0" err="1"/>
              <a:t>明瞭な極値に変換する手法。収縮期に</a:t>
            </a:r>
            <a:r>
              <a:rPr dirty="0"/>
              <a:t> </a:t>
            </a:r>
            <a:r>
              <a:rPr dirty="0" err="1"/>
              <a:t>a（初期陽性</a:t>
            </a:r>
            <a:r>
              <a:rPr dirty="0"/>
              <a:t>）・</a:t>
            </a:r>
            <a:r>
              <a:rPr dirty="0" err="1"/>
              <a:t>b（初期陰性</a:t>
            </a:r>
            <a:r>
              <a:rPr dirty="0"/>
              <a:t>）・</a:t>
            </a:r>
            <a:r>
              <a:rPr dirty="0" err="1"/>
              <a:t>c（再上昇</a:t>
            </a:r>
            <a:r>
              <a:rPr dirty="0"/>
              <a:t>）・</a:t>
            </a:r>
            <a:r>
              <a:rPr dirty="0" err="1"/>
              <a:t>d（再下降</a:t>
            </a:r>
            <a:r>
              <a:rPr dirty="0"/>
              <a:t>）、</a:t>
            </a:r>
          </a:p>
          <a:p>
            <a:r>
              <a:rPr dirty="0" err="1"/>
              <a:t>拡張期に</a:t>
            </a:r>
            <a:r>
              <a:rPr dirty="0"/>
              <a:t> </a:t>
            </a:r>
            <a:r>
              <a:rPr dirty="0" err="1"/>
              <a:t>e（重複切痕に相当）の</a:t>
            </a:r>
            <a:r>
              <a:rPr dirty="0"/>
              <a:t> 5 </a:t>
            </a:r>
            <a:r>
              <a:rPr dirty="0" err="1"/>
              <a:t>点が定義される</a:t>
            </a:r>
            <a:r>
              <a:rPr dirty="0"/>
              <a:t>。</a:t>
            </a:r>
          </a:p>
          <a:p>
            <a:r>
              <a:rPr dirty="0" err="1"/>
              <a:t>利点</a:t>
            </a:r>
            <a:r>
              <a:rPr dirty="0"/>
              <a:t>：</a:t>
            </a:r>
          </a:p>
          <a:p>
            <a:r>
              <a:rPr dirty="0"/>
              <a:t>① </a:t>
            </a:r>
            <a:r>
              <a:rPr dirty="0" err="1"/>
              <a:t>変曲点をピークとして扱えるので、位置と大小を数値化できる</a:t>
            </a:r>
            <a:endParaRPr dirty="0"/>
          </a:p>
          <a:p>
            <a:r>
              <a:rPr dirty="0"/>
              <a:t>② </a:t>
            </a:r>
            <a:r>
              <a:rPr dirty="0" err="1"/>
              <a:t>重複切痕が目視で消えている波形でも、e</a:t>
            </a:r>
            <a:r>
              <a:rPr dirty="0"/>
              <a:t> </a:t>
            </a:r>
            <a:r>
              <a:rPr dirty="0" err="1"/>
              <a:t>波として切痕相当点の位置を推定できる</a:t>
            </a:r>
            <a:endParaRPr dirty="0"/>
          </a:p>
          <a:p>
            <a:r>
              <a:rPr dirty="0"/>
              <a:t>③ </a:t>
            </a:r>
            <a:r>
              <a:rPr dirty="0" err="1"/>
              <a:t>直流成分・基線ドリフトが微分で除去され</a:t>
            </a:r>
            <a:r>
              <a:rPr dirty="0"/>
              <a:t>、「</a:t>
            </a:r>
            <a:r>
              <a:rPr dirty="0" err="1"/>
              <a:t>波の比（形</a:t>
            </a:r>
            <a:r>
              <a:rPr dirty="0"/>
              <a:t>）」</a:t>
            </a:r>
            <a:r>
              <a:rPr dirty="0" err="1"/>
              <a:t>で評価できる</a:t>
            </a:r>
            <a:endParaRPr dirty="0"/>
          </a:p>
          <a:p>
            <a:r>
              <a:rPr dirty="0" err="1"/>
              <a:t>臨床的な対応：b</a:t>
            </a:r>
            <a:r>
              <a:rPr dirty="0"/>
              <a:t>/a </a:t>
            </a:r>
            <a:r>
              <a:rPr dirty="0" err="1"/>
              <a:t>は大血管の硬さ、d</a:t>
            </a:r>
            <a:r>
              <a:rPr dirty="0"/>
              <a:t>/a </a:t>
            </a:r>
            <a:r>
              <a:rPr dirty="0" err="1"/>
              <a:t>は末梢トーヌス（昇圧薬で低下、ニトログリセリンで上昇</a:t>
            </a:r>
            <a:r>
              <a:rPr dirty="0"/>
              <a:t>）</a:t>
            </a:r>
          </a:p>
          <a:p>
            <a:r>
              <a:rPr dirty="0" err="1"/>
              <a:t>と関連する</a:t>
            </a:r>
            <a:r>
              <a:rPr dirty="0"/>
              <a:t>。</a:t>
            </a:r>
          </a:p>
          <a:p>
            <a:r>
              <a:rPr dirty="0"/>
              <a:t>注意：2回微分は高周波ノイズを増幅するため、平滑化・帯域制限が前提。各比は心拍数・体位でも</a:t>
            </a:r>
          </a:p>
          <a:p>
            <a:r>
              <a:rPr dirty="0" err="1"/>
              <a:t>変動する（Hashimoto</a:t>
            </a:r>
            <a:r>
              <a:rPr dirty="0"/>
              <a:t> 2002）。(</a:t>
            </a:r>
            <a:r>
              <a:rPr dirty="0" err="1"/>
              <a:t>Takazawa</a:t>
            </a:r>
            <a:r>
              <a:rPr dirty="0"/>
              <a:t> 1998, </a:t>
            </a:r>
            <a:r>
              <a:rPr dirty="0" err="1"/>
              <a:t>Bortolotto</a:t>
            </a:r>
            <a:r>
              <a:rPr dirty="0"/>
              <a:t> 2000)</a:t>
            </a:r>
          </a:p>
          <a:p>
            <a:r>
              <a:rPr dirty="0"/>
              <a:t>【SDPPG </a:t>
            </a:r>
            <a:r>
              <a:rPr dirty="0" err="1"/>
              <a:t>は原波形の変化を忠実に表しているか</a:t>
            </a:r>
            <a:r>
              <a:rPr dirty="0"/>
              <a:t>】</a:t>
            </a:r>
          </a:p>
          <a:p>
            <a:r>
              <a:rPr dirty="0" err="1"/>
              <a:t>結論：数学的には情報を落としていないが、見た目としては「忠実」ではなく</a:t>
            </a:r>
            <a:r>
              <a:rPr dirty="0"/>
              <a:t>、</a:t>
            </a:r>
          </a:p>
          <a:p>
            <a:r>
              <a:rPr dirty="0"/>
              <a:t>「</a:t>
            </a:r>
            <a:r>
              <a:rPr dirty="0" err="1"/>
              <a:t>変曲点を強調し、それ以外（振幅・基線）を捨てた」表示である</a:t>
            </a:r>
            <a:r>
              <a:rPr dirty="0"/>
              <a:t>。</a:t>
            </a:r>
          </a:p>
          <a:p>
            <a:endParaRPr dirty="0"/>
          </a:p>
          <a:p>
            <a:r>
              <a:rPr dirty="0" err="1"/>
              <a:t>忠実な点</a:t>
            </a:r>
            <a:endParaRPr dirty="0"/>
          </a:p>
          <a:p>
            <a:r>
              <a:rPr dirty="0"/>
              <a:t>・2 </a:t>
            </a:r>
            <a:r>
              <a:rPr dirty="0" err="1"/>
              <a:t>回微分は線形演算なので、波形の曲率の情報はそのまま保存される</a:t>
            </a:r>
            <a:r>
              <a:rPr dirty="0"/>
              <a:t>。</a:t>
            </a:r>
          </a:p>
          <a:p>
            <a:r>
              <a:rPr dirty="0"/>
              <a:t>　</a:t>
            </a:r>
            <a:r>
              <a:rPr dirty="0" err="1"/>
              <a:t>目に見えない肩・折れが</a:t>
            </a:r>
            <a:r>
              <a:rPr dirty="0"/>
              <a:t> </a:t>
            </a:r>
            <a:r>
              <a:rPr dirty="0" err="1"/>
              <a:t>a〜e</a:t>
            </a:r>
            <a:r>
              <a:rPr dirty="0"/>
              <a:t> </a:t>
            </a:r>
            <a:r>
              <a:rPr dirty="0" err="1"/>
              <a:t>の極値としてはっきり出る（これが</a:t>
            </a:r>
            <a:r>
              <a:rPr dirty="0"/>
              <a:t> SDPPG </a:t>
            </a:r>
            <a:r>
              <a:rPr dirty="0" err="1"/>
              <a:t>の狙い</a:t>
            </a:r>
            <a:r>
              <a:rPr dirty="0"/>
              <a:t>）。</a:t>
            </a:r>
          </a:p>
          <a:p>
            <a:r>
              <a:rPr dirty="0"/>
              <a:t>・</a:t>
            </a:r>
            <a:r>
              <a:rPr dirty="0" err="1"/>
              <a:t>切痕が目視で消えた波形でも、e</a:t>
            </a:r>
            <a:r>
              <a:rPr dirty="0"/>
              <a:t> </a:t>
            </a:r>
            <a:r>
              <a:rPr dirty="0" err="1"/>
              <a:t>波として切痕相当点の位置を推定できる</a:t>
            </a:r>
            <a:r>
              <a:rPr dirty="0"/>
              <a:t>。</a:t>
            </a:r>
          </a:p>
          <a:p>
            <a:endParaRPr dirty="0"/>
          </a:p>
          <a:p>
            <a:r>
              <a:rPr dirty="0" err="1"/>
              <a:t>忠実でない点（読み替えのときに注意</a:t>
            </a:r>
            <a:r>
              <a:rPr dirty="0"/>
              <a:t>）</a:t>
            </a:r>
          </a:p>
          <a:p>
            <a:r>
              <a:rPr dirty="0"/>
              <a:t>・</a:t>
            </a:r>
            <a:r>
              <a:rPr dirty="0" err="1"/>
              <a:t>振幅情報が消える。通常</a:t>
            </a:r>
            <a:r>
              <a:rPr dirty="0"/>
              <a:t> b/</a:t>
            </a:r>
            <a:r>
              <a:rPr dirty="0" err="1"/>
              <a:t>a・d</a:t>
            </a:r>
            <a:r>
              <a:rPr dirty="0"/>
              <a:t>/a </a:t>
            </a:r>
            <a:r>
              <a:rPr dirty="0" err="1"/>
              <a:t>のように</a:t>
            </a:r>
            <a:r>
              <a:rPr dirty="0"/>
              <a:t> a </a:t>
            </a:r>
            <a:r>
              <a:rPr dirty="0" err="1"/>
              <a:t>で正規化するため、PPG</a:t>
            </a:r>
            <a:r>
              <a:rPr dirty="0"/>
              <a:t> </a:t>
            </a:r>
            <a:r>
              <a:rPr dirty="0" err="1"/>
              <a:t>の絶対振幅</a:t>
            </a:r>
            <a:r>
              <a:rPr dirty="0"/>
              <a:t>（＝PI </a:t>
            </a:r>
            <a:r>
              <a:rPr dirty="0" err="1"/>
              <a:t>や</a:t>
            </a:r>
            <a:endParaRPr dirty="0"/>
          </a:p>
          <a:p>
            <a:r>
              <a:rPr dirty="0"/>
              <a:t>　</a:t>
            </a:r>
            <a:r>
              <a:rPr dirty="0" err="1"/>
              <a:t>前負荷で動く成分）は</a:t>
            </a:r>
            <a:r>
              <a:rPr dirty="0"/>
              <a:t> SDPPG </a:t>
            </a:r>
            <a:r>
              <a:rPr dirty="0" err="1"/>
              <a:t>からは分からない。低灌流で波が小さくなっても比はあまり動かない</a:t>
            </a:r>
            <a:r>
              <a:rPr dirty="0"/>
              <a:t>。</a:t>
            </a:r>
          </a:p>
          <a:p>
            <a:r>
              <a:rPr dirty="0"/>
              <a:t>・</a:t>
            </a:r>
            <a:r>
              <a:rPr dirty="0" err="1"/>
              <a:t>基線・DC</a:t>
            </a:r>
            <a:r>
              <a:rPr dirty="0"/>
              <a:t> </a:t>
            </a:r>
            <a:r>
              <a:rPr dirty="0" err="1"/>
              <a:t>成分は微分で消える（利点でもあるが、RIIV</a:t>
            </a:r>
            <a:r>
              <a:rPr dirty="0"/>
              <a:t> </a:t>
            </a:r>
            <a:r>
              <a:rPr dirty="0" err="1"/>
              <a:t>のような情報は失われる</a:t>
            </a:r>
            <a:r>
              <a:rPr dirty="0"/>
              <a:t>）。</a:t>
            </a:r>
          </a:p>
          <a:p>
            <a:r>
              <a:rPr dirty="0"/>
              <a:t>・</a:t>
            </a:r>
            <a:r>
              <a:rPr dirty="0" err="1"/>
              <a:t>微分はノイズを周波数の</a:t>
            </a:r>
            <a:r>
              <a:rPr dirty="0"/>
              <a:t> 2 </a:t>
            </a:r>
            <a:r>
              <a:rPr dirty="0" err="1"/>
              <a:t>乗で増幅する。実装では必ず平滑化・帯域制限が入り</a:t>
            </a:r>
            <a:r>
              <a:rPr dirty="0"/>
              <a:t>、</a:t>
            </a:r>
          </a:p>
          <a:p>
            <a:r>
              <a:rPr dirty="0"/>
              <a:t>　</a:t>
            </a:r>
            <a:r>
              <a:rPr dirty="0" err="1"/>
              <a:t>その設定（サンプリング周波数、カットオフ、微分の差分幅）で</a:t>
            </a:r>
            <a:r>
              <a:rPr dirty="0"/>
              <a:t> b/</a:t>
            </a:r>
            <a:r>
              <a:rPr dirty="0" err="1"/>
              <a:t>a・d</a:t>
            </a:r>
            <a:r>
              <a:rPr dirty="0"/>
              <a:t>/a </a:t>
            </a:r>
            <a:r>
              <a:rPr dirty="0" err="1"/>
              <a:t>の値が変わる</a:t>
            </a:r>
            <a:r>
              <a:rPr dirty="0"/>
              <a:t>。</a:t>
            </a:r>
          </a:p>
          <a:p>
            <a:r>
              <a:rPr dirty="0"/>
              <a:t>　</a:t>
            </a:r>
            <a:r>
              <a:rPr dirty="0" err="1"/>
              <a:t>文献間で数値を直接比べられないのはこのため</a:t>
            </a:r>
            <a:r>
              <a:rPr dirty="0"/>
              <a:t>。</a:t>
            </a:r>
          </a:p>
          <a:p>
            <a:r>
              <a:rPr dirty="0"/>
              <a:t>・</a:t>
            </a:r>
            <a:r>
              <a:rPr dirty="0" err="1"/>
              <a:t>小さな折れも大きな極値になるので、視覚的には「実際より大きな変化」に見えることがある</a:t>
            </a:r>
            <a:r>
              <a:rPr dirty="0"/>
              <a:t>。</a:t>
            </a:r>
          </a:p>
          <a:p>
            <a:r>
              <a:rPr dirty="0"/>
              <a:t>　</a:t>
            </a:r>
            <a:r>
              <a:rPr dirty="0" err="1"/>
              <a:t>逆に平滑化を強くかけると</a:t>
            </a:r>
            <a:r>
              <a:rPr dirty="0"/>
              <a:t> </a:t>
            </a:r>
            <a:r>
              <a:rPr dirty="0" err="1"/>
              <a:t>c・d</a:t>
            </a:r>
            <a:r>
              <a:rPr dirty="0"/>
              <a:t> </a:t>
            </a:r>
            <a:r>
              <a:rPr dirty="0" err="1"/>
              <a:t>が潰れて検出できなくなる</a:t>
            </a:r>
            <a:r>
              <a:rPr dirty="0"/>
              <a:t>。</a:t>
            </a:r>
          </a:p>
          <a:p>
            <a:r>
              <a:rPr dirty="0"/>
              <a:t>・</a:t>
            </a:r>
            <a:r>
              <a:rPr dirty="0" err="1"/>
              <a:t>低品質拍（体動・低灌流）では極値の同定自体が破綻する</a:t>
            </a:r>
            <a:r>
              <a:rPr dirty="0"/>
              <a:t>。</a:t>
            </a:r>
          </a:p>
          <a:p>
            <a:endParaRPr dirty="0"/>
          </a:p>
          <a:p>
            <a:r>
              <a:rPr dirty="0"/>
              <a:t>文献で裏取りできた具体値（2026-08）</a:t>
            </a:r>
          </a:p>
          <a:p>
            <a:r>
              <a:rPr dirty="0"/>
              <a:t>・</a:t>
            </a:r>
            <a:r>
              <a:rPr dirty="0" err="1"/>
              <a:t>VascAgeNet</a:t>
            </a:r>
            <a:r>
              <a:rPr dirty="0"/>
              <a:t> </a:t>
            </a:r>
            <a:r>
              <a:rPr dirty="0" err="1"/>
              <a:t>レビュ</a:t>
            </a:r>
            <a:r>
              <a:rPr dirty="0"/>
              <a:t>ー（Charlton 2022 </a:t>
            </a:r>
            <a:r>
              <a:rPr dirty="0" err="1"/>
              <a:t>AJP-Heart）本文</a:t>
            </a:r>
            <a:r>
              <a:rPr dirty="0"/>
              <a:t>："Differentiation amplifies higher frequency</a:t>
            </a:r>
          </a:p>
          <a:p>
            <a:r>
              <a:rPr dirty="0"/>
              <a:t>　components of a signal, so noise should be filtered out before differentiation."</a:t>
            </a:r>
          </a:p>
          <a:p>
            <a:r>
              <a:rPr dirty="0"/>
              <a:t>・</a:t>
            </a:r>
            <a:r>
              <a:rPr dirty="0" err="1"/>
              <a:t>Pilt</a:t>
            </a:r>
            <a:r>
              <a:rPr dirty="0"/>
              <a:t> 2013 </a:t>
            </a:r>
            <a:r>
              <a:rPr dirty="0" err="1"/>
              <a:t>は低域通過フィルタのエッジ周波数を</a:t>
            </a:r>
            <a:r>
              <a:rPr dirty="0"/>
              <a:t> 4→14 Hz </a:t>
            </a:r>
            <a:r>
              <a:rPr dirty="0" err="1"/>
              <a:t>に振って</a:t>
            </a:r>
            <a:r>
              <a:rPr dirty="0"/>
              <a:t> b/</a:t>
            </a:r>
            <a:r>
              <a:rPr dirty="0" err="1"/>
              <a:t>a・c</a:t>
            </a:r>
            <a:r>
              <a:rPr dirty="0"/>
              <a:t>/</a:t>
            </a:r>
            <a:r>
              <a:rPr dirty="0" err="1"/>
              <a:t>a・d</a:t>
            </a:r>
            <a:r>
              <a:rPr dirty="0"/>
              <a:t>/</a:t>
            </a:r>
            <a:r>
              <a:rPr dirty="0" err="1"/>
              <a:t>a・e</a:t>
            </a:r>
            <a:r>
              <a:rPr dirty="0"/>
              <a:t>/</a:t>
            </a:r>
            <a:r>
              <a:rPr dirty="0" err="1"/>
              <a:t>a・AGI</a:t>
            </a:r>
            <a:r>
              <a:rPr dirty="0"/>
              <a:t> </a:t>
            </a:r>
            <a:r>
              <a:rPr dirty="0" err="1"/>
              <a:t>の</a:t>
            </a:r>
            <a:endParaRPr dirty="0"/>
          </a:p>
          <a:p>
            <a:r>
              <a:rPr dirty="0"/>
              <a:t>　ばらつきを実測し、6 Hz </a:t>
            </a:r>
            <a:r>
              <a:rPr dirty="0" err="1"/>
              <a:t>で最小（AGI</a:t>
            </a:r>
            <a:r>
              <a:rPr dirty="0"/>
              <a:t> </a:t>
            </a:r>
            <a:r>
              <a:rPr dirty="0" err="1"/>
              <a:t>の</a:t>
            </a:r>
            <a:r>
              <a:rPr dirty="0"/>
              <a:t> SD 0.06）。</a:t>
            </a:r>
            <a:r>
              <a:rPr dirty="0" err="1"/>
              <a:t>設定を最適化しないと</a:t>
            </a:r>
            <a:r>
              <a:rPr dirty="0"/>
              <a:t> SD が約2倍になる。</a:t>
            </a:r>
          </a:p>
          <a:p>
            <a:r>
              <a:rPr dirty="0"/>
              <a:t>　</a:t>
            </a:r>
            <a:r>
              <a:rPr dirty="0" err="1"/>
              <a:t>推奨カットオフは文献間で</a:t>
            </a:r>
            <a:r>
              <a:rPr dirty="0"/>
              <a:t> 6〜20 Hz </a:t>
            </a:r>
            <a:r>
              <a:rPr dirty="0" err="1"/>
              <a:t>と割れており、pyPPG</a:t>
            </a:r>
            <a:r>
              <a:rPr dirty="0"/>
              <a:t> </a:t>
            </a:r>
            <a:r>
              <a:rPr dirty="0" err="1"/>
              <a:t>の既定は</a:t>
            </a:r>
            <a:r>
              <a:rPr dirty="0"/>
              <a:t> 0.5–12 Hz。</a:t>
            </a:r>
          </a:p>
          <a:p>
            <a:r>
              <a:rPr dirty="0"/>
              <a:t>・IIR </a:t>
            </a:r>
            <a:r>
              <a:rPr dirty="0" err="1"/>
              <a:t>フィルタの位相歪みで収縮期ピークの時刻が</a:t>
            </a:r>
            <a:r>
              <a:rPr dirty="0"/>
              <a:t> 0.1–10 Hz </a:t>
            </a:r>
            <a:r>
              <a:rPr dirty="0" err="1"/>
              <a:t>で平均</a:t>
            </a:r>
            <a:r>
              <a:rPr dirty="0"/>
              <a:t> 18.7 ms、0.1–5 Hz </a:t>
            </a:r>
            <a:r>
              <a:rPr dirty="0" err="1"/>
              <a:t>で</a:t>
            </a:r>
            <a:r>
              <a:rPr dirty="0"/>
              <a:t> 51.8 </a:t>
            </a:r>
            <a:r>
              <a:rPr dirty="0" err="1"/>
              <a:t>ms</a:t>
            </a:r>
            <a:r>
              <a:rPr dirty="0"/>
              <a:t> </a:t>
            </a:r>
            <a:r>
              <a:rPr dirty="0" err="1"/>
              <a:t>ずれ</a:t>
            </a:r>
            <a:r>
              <a:rPr dirty="0"/>
              <a:t>、</a:t>
            </a:r>
          </a:p>
          <a:p>
            <a:r>
              <a:rPr dirty="0"/>
              <a:t>　</a:t>
            </a:r>
            <a:r>
              <a:rPr dirty="0" err="1"/>
              <a:t>上限を下げると重複切痕そのものが減衰する。下限を</a:t>
            </a:r>
            <a:r>
              <a:rPr dirty="0"/>
              <a:t> 0.2 Hz </a:t>
            </a:r>
            <a:r>
              <a:rPr dirty="0" err="1"/>
              <a:t>より上げると前進波・反射波が歪む</a:t>
            </a:r>
            <a:r>
              <a:rPr dirty="0"/>
              <a:t>。</a:t>
            </a:r>
          </a:p>
          <a:p>
            <a:r>
              <a:rPr dirty="0"/>
              <a:t>・</a:t>
            </a:r>
            <a:r>
              <a:rPr dirty="0" err="1"/>
              <a:t>再現性は指標で差がある：b</a:t>
            </a:r>
            <a:r>
              <a:rPr dirty="0"/>
              <a:t>/</a:t>
            </a:r>
            <a:r>
              <a:rPr dirty="0" err="1"/>
              <a:t>a（大血管側）は比較的良好だが、d</a:t>
            </a:r>
            <a:r>
              <a:rPr dirty="0"/>
              <a:t>/</a:t>
            </a:r>
            <a:r>
              <a:rPr dirty="0" err="1"/>
              <a:t>a・e</a:t>
            </a:r>
            <a:r>
              <a:rPr dirty="0"/>
              <a:t>/</a:t>
            </a:r>
            <a:r>
              <a:rPr dirty="0" err="1"/>
              <a:t>a（小血管側）は再現性が落ちる</a:t>
            </a:r>
            <a:r>
              <a:rPr dirty="0"/>
              <a:t>。</a:t>
            </a:r>
          </a:p>
          <a:p>
            <a:r>
              <a:rPr dirty="0"/>
              <a:t>・a </a:t>
            </a:r>
            <a:r>
              <a:rPr dirty="0" err="1"/>
              <a:t>波正規化は「情報の損失」でもあるが「デバイス依存性（LED</a:t>
            </a:r>
            <a:r>
              <a:rPr dirty="0"/>
              <a:t> </a:t>
            </a:r>
            <a:r>
              <a:rPr dirty="0" err="1"/>
              <a:t>電流・受光ゲイン・接触圧）の除去」でもある</a:t>
            </a:r>
            <a:r>
              <a:rPr dirty="0"/>
              <a:t>。</a:t>
            </a:r>
          </a:p>
          <a:p>
            <a:r>
              <a:rPr dirty="0"/>
              <a:t>　</a:t>
            </a:r>
            <a:r>
              <a:rPr dirty="0" err="1"/>
              <a:t>ただし</a:t>
            </a:r>
            <a:r>
              <a:rPr dirty="0"/>
              <a:t> ΔPOP／PVI </a:t>
            </a:r>
            <a:r>
              <a:rPr dirty="0" err="1"/>
              <a:t>のような呼吸性の振幅変動は、正規化した</a:t>
            </a:r>
            <a:r>
              <a:rPr dirty="0"/>
              <a:t> SDPPG </a:t>
            </a:r>
            <a:r>
              <a:rPr dirty="0" err="1"/>
              <a:t>指標からは原理的に読めない</a:t>
            </a:r>
            <a:r>
              <a:rPr dirty="0"/>
              <a:t>。</a:t>
            </a:r>
          </a:p>
          <a:p>
            <a:r>
              <a:rPr dirty="0"/>
              <a:t>　→ 3.1（ΔPOP＝絶対振幅を見る）と 5.3（SDPPG＝正規化して形を見る）は前処理の思想が正反対。</a:t>
            </a:r>
          </a:p>
          <a:p>
            <a:endParaRPr dirty="0"/>
          </a:p>
          <a:p>
            <a:r>
              <a:rPr dirty="0" err="1"/>
              <a:t>図についての注意</a:t>
            </a:r>
            <a:endParaRPr dirty="0"/>
          </a:p>
          <a:p>
            <a:r>
              <a:rPr dirty="0"/>
              <a:t>・</a:t>
            </a:r>
            <a:r>
              <a:rPr dirty="0" err="1"/>
              <a:t>このスライドの上下</a:t>
            </a:r>
            <a:r>
              <a:rPr dirty="0"/>
              <a:t> 2 </a:t>
            </a:r>
            <a:r>
              <a:rPr dirty="0" err="1"/>
              <a:t>段は模式図であり、下段は上段を実際に</a:t>
            </a:r>
            <a:r>
              <a:rPr dirty="0"/>
              <a:t> 2 </a:t>
            </a:r>
            <a:r>
              <a:rPr dirty="0" err="1"/>
              <a:t>回微分した曲線ではない</a:t>
            </a:r>
            <a:r>
              <a:rPr dirty="0"/>
              <a:t>。</a:t>
            </a:r>
          </a:p>
          <a:p>
            <a:r>
              <a:rPr dirty="0"/>
              <a:t>　</a:t>
            </a:r>
            <a:r>
              <a:rPr dirty="0" err="1"/>
              <a:t>上段のような「収縮期ピーク＋拡張期ピーク」の単純な合成波を実際に</a:t>
            </a:r>
            <a:r>
              <a:rPr dirty="0"/>
              <a:t> 2 </a:t>
            </a:r>
            <a:r>
              <a:rPr dirty="0" err="1"/>
              <a:t>回微分すると</a:t>
            </a:r>
            <a:r>
              <a:rPr dirty="0"/>
              <a:t>、</a:t>
            </a:r>
          </a:p>
          <a:p>
            <a:r>
              <a:rPr dirty="0"/>
              <a:t>　</a:t>
            </a:r>
            <a:r>
              <a:rPr dirty="0" err="1"/>
              <a:t>極値は</a:t>
            </a:r>
            <a:r>
              <a:rPr dirty="0"/>
              <a:t> </a:t>
            </a:r>
            <a:r>
              <a:rPr dirty="0" err="1"/>
              <a:t>a・b・c</a:t>
            </a:r>
            <a:r>
              <a:rPr dirty="0"/>
              <a:t> </a:t>
            </a:r>
            <a:r>
              <a:rPr dirty="0" err="1"/>
              <a:t>と拡張期の陰性波の</a:t>
            </a:r>
            <a:r>
              <a:rPr dirty="0"/>
              <a:t> 4 </a:t>
            </a:r>
            <a:r>
              <a:rPr dirty="0" err="1"/>
              <a:t>つ程度しか出ず、c</a:t>
            </a:r>
            <a:r>
              <a:rPr dirty="0"/>
              <a:t>–d–e </a:t>
            </a:r>
            <a:r>
              <a:rPr dirty="0" err="1"/>
              <a:t>が収縮期に並ぶ実波形の形にはならない</a:t>
            </a:r>
            <a:r>
              <a:rPr dirty="0"/>
              <a:t>。</a:t>
            </a:r>
          </a:p>
          <a:p>
            <a:r>
              <a:rPr dirty="0"/>
              <a:t>　</a:t>
            </a:r>
            <a:r>
              <a:rPr dirty="0" err="1"/>
              <a:t>実際の</a:t>
            </a:r>
            <a:r>
              <a:rPr dirty="0"/>
              <a:t> SDPPG </a:t>
            </a:r>
            <a:r>
              <a:rPr dirty="0" err="1"/>
              <a:t>で</a:t>
            </a:r>
            <a:r>
              <a:rPr dirty="0"/>
              <a:t> </a:t>
            </a:r>
            <a:r>
              <a:rPr dirty="0" err="1"/>
              <a:t>a〜e</a:t>
            </a:r>
            <a:r>
              <a:rPr dirty="0"/>
              <a:t> </a:t>
            </a:r>
            <a:r>
              <a:rPr dirty="0" err="1"/>
              <a:t>が収縮期に現れるのは、実波形の収縮期に潮波（tidal</a:t>
            </a:r>
            <a:r>
              <a:rPr dirty="0"/>
              <a:t> </a:t>
            </a:r>
            <a:r>
              <a:rPr dirty="0" err="1"/>
              <a:t>wave）などの</a:t>
            </a:r>
            <a:endParaRPr dirty="0"/>
          </a:p>
          <a:p>
            <a:r>
              <a:rPr dirty="0"/>
              <a:t>　</a:t>
            </a:r>
            <a:r>
              <a:rPr dirty="0" err="1"/>
              <a:t>複数の成分が重なっているため。口頭では「模式図」と断ったほうが安全</a:t>
            </a:r>
            <a:r>
              <a:rPr dirty="0"/>
              <a:t>。</a:t>
            </a:r>
          </a:p>
          <a:p>
            <a:r>
              <a:rPr dirty="0"/>
              <a:t>(</a:t>
            </a:r>
            <a:r>
              <a:rPr dirty="0" err="1"/>
              <a:t>Takazawa</a:t>
            </a:r>
            <a:r>
              <a:rPr dirty="0"/>
              <a:t> 1998, </a:t>
            </a:r>
            <a:r>
              <a:rPr dirty="0" err="1"/>
              <a:t>Bortolotto</a:t>
            </a:r>
            <a:r>
              <a:rPr dirty="0"/>
              <a:t> 2000, Hashimoto 2002, </a:t>
            </a:r>
            <a:r>
              <a:rPr dirty="0" err="1"/>
              <a:t>Elgendi</a:t>
            </a:r>
            <a:r>
              <a:rPr dirty="0"/>
              <a:t> 2012)</a:t>
            </a:r>
          </a:p>
        </p:txBody>
      </p:sp>
      <p:sp>
        <p:nvSpPr>
          <p:cNvPr id="4" name="Slide Number Placeholder 3">
            <a:extLst>
              <a:ext uri="{FF2B5EF4-FFF2-40B4-BE49-F238E27FC236}">
                <a16:creationId xmlns:a16="http://schemas.microsoft.com/office/drawing/2014/main" id="{97A790A7-DEA7-7414-F8F3-363170EA35E6}"/>
              </a:ext>
            </a:extLst>
          </p:cNvPr>
          <p:cNvSpPr>
            <a:spLocks noGrp="1"/>
          </p:cNvSpPr>
          <p:nvPr>
            <p:ph type="sldNum" sz="quarter" idx="5"/>
          </p:nvPr>
        </p:nvSpPr>
        <p:spPr/>
      </p:sp>
    </p:spTree>
    <p:extLst>
      <p:ext uri="{BB962C8B-B14F-4D97-AF65-F5344CB8AC3E}">
        <p14:creationId xmlns:p14="http://schemas.microsoft.com/office/powerpoint/2010/main" val="32838935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465A0-6F8A-B442-BCB2-9F2395D14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D53C2-0B0E-CDF0-E1E3-1CACDF037BE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F418670-ACBE-AE37-4CFB-D39DAD6C73C6}"/>
              </a:ext>
            </a:extLst>
          </p:cNvPr>
          <p:cNvSpPr>
            <a:spLocks noGrp="1"/>
          </p:cNvSpPr>
          <p:nvPr>
            <p:ph type="body" sz="quarter" idx="3"/>
          </p:nvPr>
        </p:nvSpPr>
        <p:spPr/>
        <p:txBody>
          <a:bodyPr/>
          <a:lstStyle/>
          <a:p>
            <a:r>
              <a:rPr kumimoji="1" lang="en" altLang="ja-JP" sz="1200" b="1" i="0" kern="1200" dirty="0">
                <a:solidFill>
                  <a:schemeClr val="tx1"/>
                </a:solidFill>
                <a:effectLst/>
                <a:latin typeface="+mn-lt"/>
                <a:ea typeface="+mn-ea"/>
                <a:cs typeface="+mn-cs"/>
              </a:rPr>
              <a:t>b/a</a:t>
            </a:r>
            <a:r>
              <a:rPr kumimoji="1" lang="ja-JP" altLang="en-US" sz="1200" b="1" i="0" kern="1200">
                <a:solidFill>
                  <a:schemeClr val="tx1"/>
                </a:solidFill>
                <a:effectLst/>
                <a:latin typeface="+mn-lt"/>
                <a:ea typeface="+mn-ea"/>
                <a:cs typeface="+mn-cs"/>
              </a:rPr>
              <a:t>は加齢で正方向に、</a:t>
            </a:r>
            <a:r>
              <a:rPr kumimoji="1" lang="en" altLang="ja-JP" sz="1200" b="1" i="0" kern="1200" dirty="0">
                <a:solidFill>
                  <a:schemeClr val="tx1"/>
                </a:solidFill>
                <a:effectLst/>
                <a:latin typeface="+mn-lt"/>
                <a:ea typeface="+mn-ea"/>
                <a:cs typeface="+mn-cs"/>
              </a:rPr>
              <a:t>c/a</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d/a</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e/a</a:t>
            </a:r>
            <a:r>
              <a:rPr kumimoji="1" lang="ja-JP" altLang="en-US" sz="1200" b="1" i="0" kern="1200">
                <a:solidFill>
                  <a:schemeClr val="tx1"/>
                </a:solidFill>
                <a:effectLst/>
                <a:latin typeface="+mn-lt"/>
                <a:ea typeface="+mn-ea"/>
                <a:cs typeface="+mn-cs"/>
              </a:rPr>
              <a:t>は加齢で負方向に変化する</a:t>
            </a:r>
            <a:r>
              <a:rPr kumimoji="1" lang="ja-JP" altLang="en-US" sz="1200" b="0" i="0" kern="1200">
                <a:solidFill>
                  <a:schemeClr val="tx1"/>
                </a:solidFill>
                <a:effectLst/>
                <a:latin typeface="+mn-lt"/>
                <a:ea typeface="+mn-ea"/>
                <a:cs typeface="+mn-cs"/>
              </a:rPr>
              <a:t>という逆方向のトレンドを持つため、これらを単純に足し合わせると加齢の効果が相殺されてしまう。そこで</a:t>
            </a:r>
            <a:r>
              <a:rPr kumimoji="1" lang="en" altLang="ja-JP" sz="1200" b="1" i="0" kern="1200" dirty="0" err="1">
                <a:solidFill>
                  <a:schemeClr val="tx1"/>
                </a:solidFill>
                <a:effectLst/>
                <a:latin typeface="+mn-lt"/>
                <a:ea typeface="+mn-ea"/>
                <a:cs typeface="+mn-cs"/>
              </a:rPr>
              <a:t>Takazawa</a:t>
            </a:r>
            <a:r>
              <a:rPr kumimoji="1" lang="ja-JP" altLang="en-US" sz="1200" b="1" i="0" kern="1200">
                <a:solidFill>
                  <a:schemeClr val="tx1"/>
                </a:solidFill>
                <a:effectLst/>
                <a:latin typeface="+mn-lt"/>
                <a:ea typeface="+mn-ea"/>
                <a:cs typeface="+mn-cs"/>
              </a:rPr>
              <a:t>らは</a:t>
            </a:r>
            <a:r>
              <a:rPr kumimoji="1" lang="en" altLang="ja-JP" sz="1200" b="1" i="0" kern="1200" dirty="0">
                <a:solidFill>
                  <a:schemeClr val="tx1"/>
                </a:solidFill>
                <a:effectLst/>
                <a:latin typeface="+mn-lt"/>
                <a:ea typeface="+mn-ea"/>
                <a:cs typeface="+mn-cs"/>
              </a:rPr>
              <a:t>b/a</a:t>
            </a:r>
            <a:r>
              <a:rPr kumimoji="1" lang="ja-JP" altLang="en-US" sz="1200" b="1" i="0" kern="1200">
                <a:solidFill>
                  <a:schemeClr val="tx1"/>
                </a:solidFill>
                <a:effectLst/>
                <a:latin typeface="+mn-lt"/>
                <a:ea typeface="+mn-ea"/>
                <a:cs typeface="+mn-cs"/>
              </a:rPr>
              <a:t>から他の</a:t>
            </a:r>
            <a:r>
              <a:rPr kumimoji="1" lang="en-US" altLang="ja-JP" sz="1200" b="1" i="0" kern="1200" dirty="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成分を差し引く</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b−c−d−e)/a</a:t>
            </a:r>
            <a:r>
              <a:rPr kumimoji="1" lang="ja-JP" altLang="en-US" sz="1200" b="1" i="0" kern="1200">
                <a:solidFill>
                  <a:schemeClr val="tx1"/>
                </a:solidFill>
                <a:effectLst/>
                <a:latin typeface="+mn-lt"/>
                <a:ea typeface="+mn-ea"/>
                <a:cs typeface="+mn-cs"/>
              </a:rPr>
              <a:t>という合成式</a:t>
            </a:r>
            <a:r>
              <a:rPr kumimoji="1" lang="ja-JP" altLang="en-US" sz="1200" b="0" i="0" kern="1200">
                <a:solidFill>
                  <a:schemeClr val="tx1"/>
                </a:solidFill>
                <a:effectLst/>
                <a:latin typeface="+mn-lt"/>
                <a:ea typeface="+mn-ea"/>
                <a:cs typeface="+mn-cs"/>
              </a:rPr>
              <a:t>を設計することで、すべての成分の加齢効果を同一方向に揃え、加齢に伴う変化を増幅・単一指標として集約した。</a:t>
            </a:r>
            <a:endParaRPr lang="en-US" dirty="0"/>
          </a:p>
          <a:p>
            <a:endParaRPr lang="en-US" dirty="0"/>
          </a:p>
          <a:p>
            <a:r>
              <a:rPr dirty="0" err="1"/>
              <a:t>SDPPG（second</a:t>
            </a:r>
            <a:r>
              <a:rPr dirty="0"/>
              <a:t> derivative of </a:t>
            </a:r>
            <a:r>
              <a:rPr dirty="0" err="1"/>
              <a:t>PPG＝加速度脈波）は、原波形の微妙な「折れ（変曲点</a:t>
            </a:r>
            <a:r>
              <a:rPr dirty="0"/>
              <a:t>）」</a:t>
            </a:r>
            <a:r>
              <a:rPr dirty="0" err="1"/>
              <a:t>を</a:t>
            </a:r>
            <a:endParaRPr dirty="0"/>
          </a:p>
          <a:p>
            <a:r>
              <a:rPr dirty="0" err="1"/>
              <a:t>明瞭な極値に変換する手法。収縮期に</a:t>
            </a:r>
            <a:r>
              <a:rPr dirty="0"/>
              <a:t> </a:t>
            </a:r>
            <a:r>
              <a:rPr dirty="0" err="1"/>
              <a:t>a（初期陽性</a:t>
            </a:r>
            <a:r>
              <a:rPr dirty="0"/>
              <a:t>）・</a:t>
            </a:r>
            <a:r>
              <a:rPr dirty="0" err="1"/>
              <a:t>b（初期陰性</a:t>
            </a:r>
            <a:r>
              <a:rPr dirty="0"/>
              <a:t>）・</a:t>
            </a:r>
            <a:r>
              <a:rPr dirty="0" err="1"/>
              <a:t>c（再上昇</a:t>
            </a:r>
            <a:r>
              <a:rPr dirty="0"/>
              <a:t>）・</a:t>
            </a:r>
            <a:r>
              <a:rPr dirty="0" err="1"/>
              <a:t>d（再下降</a:t>
            </a:r>
            <a:r>
              <a:rPr dirty="0"/>
              <a:t>）、</a:t>
            </a:r>
          </a:p>
          <a:p>
            <a:r>
              <a:rPr dirty="0" err="1"/>
              <a:t>拡張期に</a:t>
            </a:r>
            <a:r>
              <a:rPr dirty="0"/>
              <a:t> </a:t>
            </a:r>
            <a:r>
              <a:rPr dirty="0" err="1"/>
              <a:t>e（重複切痕に相当）の</a:t>
            </a:r>
            <a:r>
              <a:rPr dirty="0"/>
              <a:t> 5 </a:t>
            </a:r>
            <a:r>
              <a:rPr dirty="0" err="1"/>
              <a:t>点が定義される</a:t>
            </a:r>
            <a:r>
              <a:rPr dirty="0"/>
              <a:t>。</a:t>
            </a:r>
          </a:p>
          <a:p>
            <a:r>
              <a:rPr dirty="0" err="1"/>
              <a:t>利点</a:t>
            </a:r>
            <a:r>
              <a:rPr dirty="0"/>
              <a:t>：</a:t>
            </a:r>
          </a:p>
          <a:p>
            <a:r>
              <a:rPr dirty="0"/>
              <a:t>① </a:t>
            </a:r>
            <a:r>
              <a:rPr dirty="0" err="1"/>
              <a:t>変曲点をピークとして扱えるので、位置と大小を数値化できる</a:t>
            </a:r>
            <a:endParaRPr dirty="0"/>
          </a:p>
          <a:p>
            <a:r>
              <a:rPr dirty="0"/>
              <a:t>② </a:t>
            </a:r>
            <a:r>
              <a:rPr dirty="0" err="1"/>
              <a:t>重複切痕が目視で消えている波形でも、e</a:t>
            </a:r>
            <a:r>
              <a:rPr dirty="0"/>
              <a:t> </a:t>
            </a:r>
            <a:r>
              <a:rPr dirty="0" err="1"/>
              <a:t>波として切痕相当点の位置を推定できる</a:t>
            </a:r>
            <a:endParaRPr dirty="0"/>
          </a:p>
          <a:p>
            <a:r>
              <a:rPr dirty="0"/>
              <a:t>③ </a:t>
            </a:r>
            <a:r>
              <a:rPr dirty="0" err="1"/>
              <a:t>直流成分・基線ドリフトが微分で除去され</a:t>
            </a:r>
            <a:r>
              <a:rPr dirty="0"/>
              <a:t>、「</a:t>
            </a:r>
            <a:r>
              <a:rPr dirty="0" err="1"/>
              <a:t>波の比（形</a:t>
            </a:r>
            <a:r>
              <a:rPr dirty="0"/>
              <a:t>）」</a:t>
            </a:r>
            <a:r>
              <a:rPr dirty="0" err="1"/>
              <a:t>で評価できる</a:t>
            </a:r>
            <a:endParaRPr dirty="0"/>
          </a:p>
          <a:p>
            <a:r>
              <a:rPr dirty="0" err="1"/>
              <a:t>臨床的な対応：b</a:t>
            </a:r>
            <a:r>
              <a:rPr dirty="0"/>
              <a:t>/a </a:t>
            </a:r>
            <a:r>
              <a:rPr dirty="0" err="1"/>
              <a:t>は大血管の硬さ、d</a:t>
            </a:r>
            <a:r>
              <a:rPr dirty="0"/>
              <a:t>/a </a:t>
            </a:r>
            <a:r>
              <a:rPr dirty="0" err="1"/>
              <a:t>は末梢トーヌス（昇圧薬で低下、ニトログリセリンで上昇</a:t>
            </a:r>
            <a:r>
              <a:rPr dirty="0"/>
              <a:t>）</a:t>
            </a:r>
          </a:p>
          <a:p>
            <a:r>
              <a:rPr dirty="0" err="1"/>
              <a:t>と関連する</a:t>
            </a:r>
            <a:r>
              <a:rPr dirty="0"/>
              <a:t>。</a:t>
            </a:r>
          </a:p>
          <a:p>
            <a:r>
              <a:rPr dirty="0"/>
              <a:t>注意：2回微分は高周波ノイズを増幅するため、平滑化・帯域制限が前提。各比は心拍数・体位でも</a:t>
            </a:r>
          </a:p>
          <a:p>
            <a:r>
              <a:rPr dirty="0" err="1"/>
              <a:t>変動する（Hashimoto</a:t>
            </a:r>
            <a:r>
              <a:rPr dirty="0"/>
              <a:t> 2002）。(</a:t>
            </a:r>
            <a:r>
              <a:rPr dirty="0" err="1"/>
              <a:t>Takazawa</a:t>
            </a:r>
            <a:r>
              <a:rPr dirty="0"/>
              <a:t> 1998, </a:t>
            </a:r>
            <a:r>
              <a:rPr dirty="0" err="1"/>
              <a:t>Bortolotto</a:t>
            </a:r>
            <a:r>
              <a:rPr dirty="0"/>
              <a:t> 2000)</a:t>
            </a:r>
          </a:p>
          <a:p>
            <a:r>
              <a:rPr dirty="0"/>
              <a:t>【SDPPG </a:t>
            </a:r>
            <a:r>
              <a:rPr dirty="0" err="1"/>
              <a:t>は原波形の変化を忠実に表しているか</a:t>
            </a:r>
            <a:r>
              <a:rPr dirty="0"/>
              <a:t>】</a:t>
            </a:r>
          </a:p>
          <a:p>
            <a:r>
              <a:rPr dirty="0" err="1"/>
              <a:t>結論：数学的には情報を落としていないが、見た目としては「忠実」ではなく</a:t>
            </a:r>
            <a:r>
              <a:rPr dirty="0"/>
              <a:t>、</a:t>
            </a:r>
          </a:p>
          <a:p>
            <a:r>
              <a:rPr dirty="0"/>
              <a:t>「</a:t>
            </a:r>
            <a:r>
              <a:rPr dirty="0" err="1"/>
              <a:t>変曲点を強調し、それ以外（振幅・基線）を捨てた」表示である</a:t>
            </a:r>
            <a:r>
              <a:rPr dirty="0"/>
              <a:t>。</a:t>
            </a:r>
          </a:p>
          <a:p>
            <a:endParaRPr dirty="0"/>
          </a:p>
          <a:p>
            <a:r>
              <a:rPr dirty="0" err="1"/>
              <a:t>忠実な点</a:t>
            </a:r>
            <a:endParaRPr dirty="0"/>
          </a:p>
          <a:p>
            <a:r>
              <a:rPr dirty="0"/>
              <a:t>・2 </a:t>
            </a:r>
            <a:r>
              <a:rPr dirty="0" err="1"/>
              <a:t>回微分は線形演算なので、波形の曲率の情報はそのまま保存される</a:t>
            </a:r>
            <a:r>
              <a:rPr dirty="0"/>
              <a:t>。</a:t>
            </a:r>
          </a:p>
          <a:p>
            <a:r>
              <a:rPr dirty="0"/>
              <a:t>　</a:t>
            </a:r>
            <a:r>
              <a:rPr dirty="0" err="1"/>
              <a:t>目に見えない肩・折れが</a:t>
            </a:r>
            <a:r>
              <a:rPr dirty="0"/>
              <a:t> </a:t>
            </a:r>
            <a:r>
              <a:rPr dirty="0" err="1"/>
              <a:t>a〜e</a:t>
            </a:r>
            <a:r>
              <a:rPr dirty="0"/>
              <a:t> </a:t>
            </a:r>
            <a:r>
              <a:rPr dirty="0" err="1"/>
              <a:t>の極値としてはっきり出る（これが</a:t>
            </a:r>
            <a:r>
              <a:rPr dirty="0"/>
              <a:t> SDPPG </a:t>
            </a:r>
            <a:r>
              <a:rPr dirty="0" err="1"/>
              <a:t>の狙い</a:t>
            </a:r>
            <a:r>
              <a:rPr dirty="0"/>
              <a:t>）。</a:t>
            </a:r>
          </a:p>
          <a:p>
            <a:r>
              <a:rPr dirty="0"/>
              <a:t>・</a:t>
            </a:r>
            <a:r>
              <a:rPr dirty="0" err="1"/>
              <a:t>切痕が目視で消えた波形でも、e</a:t>
            </a:r>
            <a:r>
              <a:rPr dirty="0"/>
              <a:t> </a:t>
            </a:r>
            <a:r>
              <a:rPr dirty="0" err="1"/>
              <a:t>波として切痕相当点の位置を推定できる</a:t>
            </a:r>
            <a:r>
              <a:rPr dirty="0"/>
              <a:t>。</a:t>
            </a:r>
          </a:p>
          <a:p>
            <a:endParaRPr dirty="0"/>
          </a:p>
          <a:p>
            <a:r>
              <a:rPr dirty="0" err="1"/>
              <a:t>忠実でない点（読み替えのときに注意</a:t>
            </a:r>
            <a:r>
              <a:rPr dirty="0"/>
              <a:t>）</a:t>
            </a:r>
          </a:p>
          <a:p>
            <a:r>
              <a:rPr dirty="0"/>
              <a:t>・</a:t>
            </a:r>
            <a:r>
              <a:rPr dirty="0" err="1"/>
              <a:t>振幅情報が消える。通常</a:t>
            </a:r>
            <a:r>
              <a:rPr dirty="0"/>
              <a:t> b/</a:t>
            </a:r>
            <a:r>
              <a:rPr dirty="0" err="1"/>
              <a:t>a・d</a:t>
            </a:r>
            <a:r>
              <a:rPr dirty="0"/>
              <a:t>/a </a:t>
            </a:r>
            <a:r>
              <a:rPr dirty="0" err="1"/>
              <a:t>のように</a:t>
            </a:r>
            <a:r>
              <a:rPr dirty="0"/>
              <a:t> a </a:t>
            </a:r>
            <a:r>
              <a:rPr dirty="0" err="1"/>
              <a:t>で正規化するため、PPG</a:t>
            </a:r>
            <a:r>
              <a:rPr dirty="0"/>
              <a:t> </a:t>
            </a:r>
            <a:r>
              <a:rPr dirty="0" err="1"/>
              <a:t>の絶対振幅</a:t>
            </a:r>
            <a:r>
              <a:rPr dirty="0"/>
              <a:t>（＝PI </a:t>
            </a:r>
            <a:r>
              <a:rPr dirty="0" err="1"/>
              <a:t>や</a:t>
            </a:r>
            <a:endParaRPr dirty="0"/>
          </a:p>
          <a:p>
            <a:r>
              <a:rPr dirty="0"/>
              <a:t>　</a:t>
            </a:r>
            <a:r>
              <a:rPr dirty="0" err="1"/>
              <a:t>前負荷で動く成分）は</a:t>
            </a:r>
            <a:r>
              <a:rPr dirty="0"/>
              <a:t> SDPPG </a:t>
            </a:r>
            <a:r>
              <a:rPr dirty="0" err="1"/>
              <a:t>からは分からない。低灌流で波が小さくなっても比はあまり動かない</a:t>
            </a:r>
            <a:r>
              <a:rPr dirty="0"/>
              <a:t>。</a:t>
            </a:r>
          </a:p>
          <a:p>
            <a:r>
              <a:rPr dirty="0"/>
              <a:t>・</a:t>
            </a:r>
            <a:r>
              <a:rPr dirty="0" err="1"/>
              <a:t>基線・DC</a:t>
            </a:r>
            <a:r>
              <a:rPr dirty="0"/>
              <a:t> </a:t>
            </a:r>
            <a:r>
              <a:rPr dirty="0" err="1"/>
              <a:t>成分は微分で消える（利点でもあるが、RIIV</a:t>
            </a:r>
            <a:r>
              <a:rPr dirty="0"/>
              <a:t> </a:t>
            </a:r>
            <a:r>
              <a:rPr dirty="0" err="1"/>
              <a:t>のような情報は失われる</a:t>
            </a:r>
            <a:r>
              <a:rPr dirty="0"/>
              <a:t>）。</a:t>
            </a:r>
          </a:p>
          <a:p>
            <a:r>
              <a:rPr dirty="0"/>
              <a:t>・</a:t>
            </a:r>
            <a:r>
              <a:rPr dirty="0" err="1"/>
              <a:t>微分はノイズを周波数の</a:t>
            </a:r>
            <a:r>
              <a:rPr dirty="0"/>
              <a:t> 2 </a:t>
            </a:r>
            <a:r>
              <a:rPr dirty="0" err="1"/>
              <a:t>乗で増幅する。実装では必ず平滑化・帯域制限が入り</a:t>
            </a:r>
            <a:r>
              <a:rPr dirty="0"/>
              <a:t>、</a:t>
            </a:r>
          </a:p>
          <a:p>
            <a:r>
              <a:rPr dirty="0"/>
              <a:t>　</a:t>
            </a:r>
            <a:r>
              <a:rPr dirty="0" err="1"/>
              <a:t>その設定（サンプリング周波数、カットオフ、微分の差分幅）で</a:t>
            </a:r>
            <a:r>
              <a:rPr dirty="0"/>
              <a:t> b/</a:t>
            </a:r>
            <a:r>
              <a:rPr dirty="0" err="1"/>
              <a:t>a・d</a:t>
            </a:r>
            <a:r>
              <a:rPr dirty="0"/>
              <a:t>/a </a:t>
            </a:r>
            <a:r>
              <a:rPr dirty="0" err="1"/>
              <a:t>の値が変わる</a:t>
            </a:r>
            <a:r>
              <a:rPr dirty="0"/>
              <a:t>。</a:t>
            </a:r>
          </a:p>
          <a:p>
            <a:r>
              <a:rPr dirty="0"/>
              <a:t>　</a:t>
            </a:r>
            <a:r>
              <a:rPr dirty="0" err="1"/>
              <a:t>文献間で数値を直接比べられないのはこのため</a:t>
            </a:r>
            <a:r>
              <a:rPr dirty="0"/>
              <a:t>。</a:t>
            </a:r>
          </a:p>
          <a:p>
            <a:r>
              <a:rPr dirty="0"/>
              <a:t>・</a:t>
            </a:r>
            <a:r>
              <a:rPr dirty="0" err="1"/>
              <a:t>小さな折れも大きな極値になるので、視覚的には「実際より大きな変化」に見えることがある</a:t>
            </a:r>
            <a:r>
              <a:rPr dirty="0"/>
              <a:t>。</a:t>
            </a:r>
          </a:p>
          <a:p>
            <a:r>
              <a:rPr dirty="0"/>
              <a:t>　</a:t>
            </a:r>
            <a:r>
              <a:rPr dirty="0" err="1"/>
              <a:t>逆に平滑化を強くかけると</a:t>
            </a:r>
            <a:r>
              <a:rPr dirty="0"/>
              <a:t> </a:t>
            </a:r>
            <a:r>
              <a:rPr dirty="0" err="1"/>
              <a:t>c・d</a:t>
            </a:r>
            <a:r>
              <a:rPr dirty="0"/>
              <a:t> </a:t>
            </a:r>
            <a:r>
              <a:rPr dirty="0" err="1"/>
              <a:t>が潰れて検出できなくなる</a:t>
            </a:r>
            <a:r>
              <a:rPr dirty="0"/>
              <a:t>。</a:t>
            </a:r>
          </a:p>
          <a:p>
            <a:r>
              <a:rPr dirty="0"/>
              <a:t>・</a:t>
            </a:r>
            <a:r>
              <a:rPr dirty="0" err="1"/>
              <a:t>低品質拍（体動・低灌流）では極値の同定自体が破綻する</a:t>
            </a:r>
            <a:r>
              <a:rPr dirty="0"/>
              <a:t>。</a:t>
            </a:r>
          </a:p>
          <a:p>
            <a:endParaRPr dirty="0"/>
          </a:p>
          <a:p>
            <a:r>
              <a:rPr dirty="0"/>
              <a:t>文献で裏取りできた具体値（2026-08）</a:t>
            </a:r>
          </a:p>
          <a:p>
            <a:r>
              <a:rPr dirty="0"/>
              <a:t>・</a:t>
            </a:r>
            <a:r>
              <a:rPr dirty="0" err="1"/>
              <a:t>VascAgeNet</a:t>
            </a:r>
            <a:r>
              <a:rPr dirty="0"/>
              <a:t> </a:t>
            </a:r>
            <a:r>
              <a:rPr dirty="0" err="1"/>
              <a:t>レビュ</a:t>
            </a:r>
            <a:r>
              <a:rPr dirty="0"/>
              <a:t>ー（Charlton 2022 </a:t>
            </a:r>
            <a:r>
              <a:rPr dirty="0" err="1"/>
              <a:t>AJP-Heart）本文</a:t>
            </a:r>
            <a:r>
              <a:rPr dirty="0"/>
              <a:t>："Differentiation amplifies higher frequency</a:t>
            </a:r>
          </a:p>
          <a:p>
            <a:r>
              <a:rPr dirty="0"/>
              <a:t>　components of a signal, so noise should be filtered out before differentiation."</a:t>
            </a:r>
          </a:p>
          <a:p>
            <a:r>
              <a:rPr dirty="0"/>
              <a:t>・</a:t>
            </a:r>
            <a:r>
              <a:rPr dirty="0" err="1"/>
              <a:t>Pilt</a:t>
            </a:r>
            <a:r>
              <a:rPr dirty="0"/>
              <a:t> 2013 </a:t>
            </a:r>
            <a:r>
              <a:rPr dirty="0" err="1"/>
              <a:t>は低域通過フィルタのエッジ周波数を</a:t>
            </a:r>
            <a:r>
              <a:rPr dirty="0"/>
              <a:t> 4→14 Hz </a:t>
            </a:r>
            <a:r>
              <a:rPr dirty="0" err="1"/>
              <a:t>に振って</a:t>
            </a:r>
            <a:r>
              <a:rPr dirty="0"/>
              <a:t> b/</a:t>
            </a:r>
            <a:r>
              <a:rPr dirty="0" err="1"/>
              <a:t>a・c</a:t>
            </a:r>
            <a:r>
              <a:rPr dirty="0"/>
              <a:t>/</a:t>
            </a:r>
            <a:r>
              <a:rPr dirty="0" err="1"/>
              <a:t>a・d</a:t>
            </a:r>
            <a:r>
              <a:rPr dirty="0"/>
              <a:t>/</a:t>
            </a:r>
            <a:r>
              <a:rPr dirty="0" err="1"/>
              <a:t>a・e</a:t>
            </a:r>
            <a:r>
              <a:rPr dirty="0"/>
              <a:t>/</a:t>
            </a:r>
            <a:r>
              <a:rPr dirty="0" err="1"/>
              <a:t>a・AGI</a:t>
            </a:r>
            <a:r>
              <a:rPr dirty="0"/>
              <a:t> </a:t>
            </a:r>
            <a:r>
              <a:rPr dirty="0" err="1"/>
              <a:t>の</a:t>
            </a:r>
            <a:endParaRPr dirty="0"/>
          </a:p>
          <a:p>
            <a:r>
              <a:rPr dirty="0"/>
              <a:t>　ばらつきを実測し、6 Hz </a:t>
            </a:r>
            <a:r>
              <a:rPr dirty="0" err="1"/>
              <a:t>で最小（AGI</a:t>
            </a:r>
            <a:r>
              <a:rPr dirty="0"/>
              <a:t> </a:t>
            </a:r>
            <a:r>
              <a:rPr dirty="0" err="1"/>
              <a:t>の</a:t>
            </a:r>
            <a:r>
              <a:rPr dirty="0"/>
              <a:t> SD 0.06）。</a:t>
            </a:r>
            <a:r>
              <a:rPr dirty="0" err="1"/>
              <a:t>設定を最適化しないと</a:t>
            </a:r>
            <a:r>
              <a:rPr dirty="0"/>
              <a:t> SD が約2倍になる。</a:t>
            </a:r>
          </a:p>
          <a:p>
            <a:r>
              <a:rPr dirty="0"/>
              <a:t>　</a:t>
            </a:r>
            <a:r>
              <a:rPr dirty="0" err="1"/>
              <a:t>推奨カットオフは文献間で</a:t>
            </a:r>
            <a:r>
              <a:rPr dirty="0"/>
              <a:t> 6〜20 Hz </a:t>
            </a:r>
            <a:r>
              <a:rPr dirty="0" err="1"/>
              <a:t>と割れており、pyPPG</a:t>
            </a:r>
            <a:r>
              <a:rPr dirty="0"/>
              <a:t> </a:t>
            </a:r>
            <a:r>
              <a:rPr dirty="0" err="1"/>
              <a:t>の既定は</a:t>
            </a:r>
            <a:r>
              <a:rPr dirty="0"/>
              <a:t> 0.5–12 Hz。</a:t>
            </a:r>
          </a:p>
          <a:p>
            <a:r>
              <a:rPr dirty="0"/>
              <a:t>・IIR </a:t>
            </a:r>
            <a:r>
              <a:rPr dirty="0" err="1"/>
              <a:t>フィルタの位相歪みで収縮期ピークの時刻が</a:t>
            </a:r>
            <a:r>
              <a:rPr dirty="0"/>
              <a:t> 0.1–10 Hz </a:t>
            </a:r>
            <a:r>
              <a:rPr dirty="0" err="1"/>
              <a:t>で平均</a:t>
            </a:r>
            <a:r>
              <a:rPr dirty="0"/>
              <a:t> 18.7 ms、0.1–5 Hz </a:t>
            </a:r>
            <a:r>
              <a:rPr dirty="0" err="1"/>
              <a:t>で</a:t>
            </a:r>
            <a:r>
              <a:rPr dirty="0"/>
              <a:t> 51.8 </a:t>
            </a:r>
            <a:r>
              <a:rPr dirty="0" err="1"/>
              <a:t>ms</a:t>
            </a:r>
            <a:r>
              <a:rPr dirty="0"/>
              <a:t> </a:t>
            </a:r>
            <a:r>
              <a:rPr dirty="0" err="1"/>
              <a:t>ずれ</a:t>
            </a:r>
            <a:r>
              <a:rPr dirty="0"/>
              <a:t>、</a:t>
            </a:r>
          </a:p>
          <a:p>
            <a:r>
              <a:rPr dirty="0"/>
              <a:t>　</a:t>
            </a:r>
            <a:r>
              <a:rPr dirty="0" err="1"/>
              <a:t>上限を下げると重複切痕そのものが減衰する。下限を</a:t>
            </a:r>
            <a:r>
              <a:rPr dirty="0"/>
              <a:t> 0.2 Hz </a:t>
            </a:r>
            <a:r>
              <a:rPr dirty="0" err="1"/>
              <a:t>より上げると前進波・反射波が歪む</a:t>
            </a:r>
            <a:r>
              <a:rPr dirty="0"/>
              <a:t>。</a:t>
            </a:r>
          </a:p>
          <a:p>
            <a:r>
              <a:rPr dirty="0"/>
              <a:t>・</a:t>
            </a:r>
            <a:r>
              <a:rPr dirty="0" err="1"/>
              <a:t>再現性は指標で差がある：b</a:t>
            </a:r>
            <a:r>
              <a:rPr dirty="0"/>
              <a:t>/</a:t>
            </a:r>
            <a:r>
              <a:rPr dirty="0" err="1"/>
              <a:t>a（大血管側）は比較的良好だが、d</a:t>
            </a:r>
            <a:r>
              <a:rPr dirty="0"/>
              <a:t>/</a:t>
            </a:r>
            <a:r>
              <a:rPr dirty="0" err="1"/>
              <a:t>a・e</a:t>
            </a:r>
            <a:r>
              <a:rPr dirty="0"/>
              <a:t>/</a:t>
            </a:r>
            <a:r>
              <a:rPr dirty="0" err="1"/>
              <a:t>a（小血管側）は再現性が落ちる</a:t>
            </a:r>
            <a:r>
              <a:rPr dirty="0"/>
              <a:t>。</a:t>
            </a:r>
          </a:p>
          <a:p>
            <a:r>
              <a:rPr dirty="0"/>
              <a:t>・a </a:t>
            </a:r>
            <a:r>
              <a:rPr dirty="0" err="1"/>
              <a:t>波正規化は「情報の損失」でもあるが「デバイス依存性（LED</a:t>
            </a:r>
            <a:r>
              <a:rPr dirty="0"/>
              <a:t> </a:t>
            </a:r>
            <a:r>
              <a:rPr dirty="0" err="1"/>
              <a:t>電流・受光ゲイン・接触圧）の除去」でもある</a:t>
            </a:r>
            <a:r>
              <a:rPr dirty="0"/>
              <a:t>。</a:t>
            </a:r>
          </a:p>
          <a:p>
            <a:r>
              <a:rPr dirty="0"/>
              <a:t>　</a:t>
            </a:r>
            <a:r>
              <a:rPr dirty="0" err="1"/>
              <a:t>ただし</a:t>
            </a:r>
            <a:r>
              <a:rPr dirty="0"/>
              <a:t> ΔPOP／PVI </a:t>
            </a:r>
            <a:r>
              <a:rPr dirty="0" err="1"/>
              <a:t>のような呼吸性の振幅変動は、正規化した</a:t>
            </a:r>
            <a:r>
              <a:rPr dirty="0"/>
              <a:t> SDPPG </a:t>
            </a:r>
            <a:r>
              <a:rPr dirty="0" err="1"/>
              <a:t>指標からは原理的に読めない</a:t>
            </a:r>
            <a:r>
              <a:rPr dirty="0"/>
              <a:t>。</a:t>
            </a:r>
          </a:p>
          <a:p>
            <a:r>
              <a:rPr dirty="0"/>
              <a:t>　→ 3.1（ΔPOP＝絶対振幅を見る）と 5.3（SDPPG＝正規化して形を見る）は前処理の思想が正反対。</a:t>
            </a:r>
          </a:p>
          <a:p>
            <a:endParaRPr dirty="0"/>
          </a:p>
          <a:p>
            <a:r>
              <a:rPr dirty="0" err="1"/>
              <a:t>図についての注意</a:t>
            </a:r>
            <a:endParaRPr dirty="0"/>
          </a:p>
          <a:p>
            <a:r>
              <a:rPr dirty="0"/>
              <a:t>・</a:t>
            </a:r>
            <a:r>
              <a:rPr dirty="0" err="1"/>
              <a:t>このスライドの上下</a:t>
            </a:r>
            <a:r>
              <a:rPr dirty="0"/>
              <a:t> 2 </a:t>
            </a:r>
            <a:r>
              <a:rPr dirty="0" err="1"/>
              <a:t>段は模式図であり、下段は上段を実際に</a:t>
            </a:r>
            <a:r>
              <a:rPr dirty="0"/>
              <a:t> 2 </a:t>
            </a:r>
            <a:r>
              <a:rPr dirty="0" err="1"/>
              <a:t>回微分した曲線ではない</a:t>
            </a:r>
            <a:r>
              <a:rPr dirty="0"/>
              <a:t>。</a:t>
            </a:r>
          </a:p>
          <a:p>
            <a:r>
              <a:rPr dirty="0"/>
              <a:t>　</a:t>
            </a:r>
            <a:r>
              <a:rPr dirty="0" err="1"/>
              <a:t>上段のような「収縮期ピーク＋拡張期ピーク」の単純な合成波を実際に</a:t>
            </a:r>
            <a:r>
              <a:rPr dirty="0"/>
              <a:t> 2 </a:t>
            </a:r>
            <a:r>
              <a:rPr dirty="0" err="1"/>
              <a:t>回微分すると</a:t>
            </a:r>
            <a:r>
              <a:rPr dirty="0"/>
              <a:t>、</a:t>
            </a:r>
          </a:p>
          <a:p>
            <a:r>
              <a:rPr dirty="0"/>
              <a:t>　</a:t>
            </a:r>
            <a:r>
              <a:rPr dirty="0" err="1"/>
              <a:t>極値は</a:t>
            </a:r>
            <a:r>
              <a:rPr dirty="0"/>
              <a:t> </a:t>
            </a:r>
            <a:r>
              <a:rPr dirty="0" err="1"/>
              <a:t>a・b・c</a:t>
            </a:r>
            <a:r>
              <a:rPr dirty="0"/>
              <a:t> </a:t>
            </a:r>
            <a:r>
              <a:rPr dirty="0" err="1"/>
              <a:t>と拡張期の陰性波の</a:t>
            </a:r>
            <a:r>
              <a:rPr dirty="0"/>
              <a:t> 4 </a:t>
            </a:r>
            <a:r>
              <a:rPr dirty="0" err="1"/>
              <a:t>つ程度しか出ず、c</a:t>
            </a:r>
            <a:r>
              <a:rPr dirty="0"/>
              <a:t>–d–e </a:t>
            </a:r>
            <a:r>
              <a:rPr dirty="0" err="1"/>
              <a:t>が収縮期に並ぶ実波形の形にはならない</a:t>
            </a:r>
            <a:r>
              <a:rPr dirty="0"/>
              <a:t>。</a:t>
            </a:r>
          </a:p>
          <a:p>
            <a:r>
              <a:rPr dirty="0"/>
              <a:t>　</a:t>
            </a:r>
            <a:r>
              <a:rPr dirty="0" err="1"/>
              <a:t>実際の</a:t>
            </a:r>
            <a:r>
              <a:rPr dirty="0"/>
              <a:t> SDPPG </a:t>
            </a:r>
            <a:r>
              <a:rPr dirty="0" err="1"/>
              <a:t>で</a:t>
            </a:r>
            <a:r>
              <a:rPr dirty="0"/>
              <a:t> </a:t>
            </a:r>
            <a:r>
              <a:rPr dirty="0" err="1"/>
              <a:t>a〜e</a:t>
            </a:r>
            <a:r>
              <a:rPr dirty="0"/>
              <a:t> </a:t>
            </a:r>
            <a:r>
              <a:rPr dirty="0" err="1"/>
              <a:t>が収縮期に現れるのは、実波形の収縮期に潮波（tidal</a:t>
            </a:r>
            <a:r>
              <a:rPr dirty="0"/>
              <a:t> </a:t>
            </a:r>
            <a:r>
              <a:rPr dirty="0" err="1"/>
              <a:t>wave）などの</a:t>
            </a:r>
            <a:endParaRPr dirty="0"/>
          </a:p>
          <a:p>
            <a:r>
              <a:rPr dirty="0"/>
              <a:t>　</a:t>
            </a:r>
            <a:r>
              <a:rPr dirty="0" err="1"/>
              <a:t>複数の成分が重なっているため。口頭では「模式図」と断ったほうが安全</a:t>
            </a:r>
            <a:r>
              <a:rPr dirty="0"/>
              <a:t>。</a:t>
            </a:r>
          </a:p>
          <a:p>
            <a:r>
              <a:rPr dirty="0"/>
              <a:t>(</a:t>
            </a:r>
            <a:r>
              <a:rPr dirty="0" err="1"/>
              <a:t>Takazawa</a:t>
            </a:r>
            <a:r>
              <a:rPr dirty="0"/>
              <a:t> 1998, </a:t>
            </a:r>
            <a:r>
              <a:rPr dirty="0" err="1"/>
              <a:t>Bortolotto</a:t>
            </a:r>
            <a:r>
              <a:rPr dirty="0"/>
              <a:t> 2000, Hashimoto 2002, </a:t>
            </a:r>
            <a:r>
              <a:rPr dirty="0" err="1"/>
              <a:t>Elgendi</a:t>
            </a:r>
            <a:r>
              <a:rPr dirty="0"/>
              <a:t> 2012)</a:t>
            </a:r>
          </a:p>
        </p:txBody>
      </p:sp>
      <p:sp>
        <p:nvSpPr>
          <p:cNvPr id="4" name="Slide Number Placeholder 3">
            <a:extLst>
              <a:ext uri="{FF2B5EF4-FFF2-40B4-BE49-F238E27FC236}">
                <a16:creationId xmlns:a16="http://schemas.microsoft.com/office/drawing/2014/main" id="{67E83ED4-38FC-C5CB-D260-F4D39B5C4382}"/>
              </a:ext>
            </a:extLst>
          </p:cNvPr>
          <p:cNvSpPr>
            <a:spLocks noGrp="1"/>
          </p:cNvSpPr>
          <p:nvPr>
            <p:ph type="sldNum" sz="quarter" idx="5"/>
          </p:nvPr>
        </p:nvSpPr>
        <p:spPr/>
      </p:sp>
    </p:spTree>
    <p:extLst>
      <p:ext uri="{BB962C8B-B14F-4D97-AF65-F5344CB8AC3E}">
        <p14:creationId xmlns:p14="http://schemas.microsoft.com/office/powerpoint/2010/main" val="23969401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5B5AC-5AD2-01D6-FC18-5C9A7E26F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B0B96-B5CB-49D5-B07E-B36FE0D682F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FA8C1D4-7430-14BF-EA70-730964FDFBFA}"/>
              </a:ext>
            </a:extLst>
          </p:cNvPr>
          <p:cNvSpPr>
            <a:spLocks noGrp="1"/>
          </p:cNvSpPr>
          <p:nvPr>
            <p:ph type="body" sz="quarter" idx="3"/>
          </p:nvPr>
        </p:nvSpPr>
        <p:spPr/>
        <p:txBody>
          <a:bodyPr/>
          <a:lstStyle/>
          <a:p>
            <a:r>
              <a:t>5.3 の2枚目。SDPPG（加速度脈波）の指標が実際に何と結びついたのか、主要3研究を並べる。</a:t>
            </a:r>
          </a:p>
          <a:p>
            <a:endParaRPr/>
          </a:p>
          <a:p>
            <a:r>
              <a:t>指標の定義</a:t>
            </a:r>
          </a:p>
          <a:p>
            <a:r>
              <a:t>・SDPPG ＝ 指尖 PPG の二次微分。収縮期に a（初期陽性）・b（初期陰性）・c（再上昇）・d（再下降）、</a:t>
            </a:r>
          </a:p>
          <a:p>
            <a:r>
              <a:t>　拡張期に e（重複切痕に相当）の5つの極値が定義される。</a:t>
            </a:r>
          </a:p>
          <a:p>
            <a:r>
              <a:t>・b/a：加齢で増加。大血管の硬さ側の指標。</a:t>
            </a:r>
          </a:p>
          <a:p>
            <a:r>
              <a:t>・d/a：血管作動薬で鋭敏に動く。末梢トーヌス側の指標（負の値をとる）。</a:t>
            </a:r>
          </a:p>
          <a:p>
            <a:r>
              <a:t>・AGI（加齢指数／aging index）＝ (b − c − d − e) / a。</a:t>
            </a:r>
          </a:p>
          <a:p>
            <a:endParaRPr/>
          </a:p>
          <a:p>
            <a:r>
              <a:t>① Takazawa K, et al. Hypertension 1998;32:365–70.（PMID 9719069）</a:t>
            </a:r>
          </a:p>
          <a:p>
            <a:r>
              <a:t>・研究1：上行大動脈圧を同時記録した患者39名（平均54±11歳）。</a:t>
            </a:r>
          </a:p>
          <a:p>
            <a:r>
              <a:t>　上行大動脈圧はアンジオテンシン負荷で 126/74 → 160/91 mmHg、ニトログリセリンで 111/73 mmHg。</a:t>
            </a:r>
          </a:p>
          <a:p>
            <a:r>
              <a:t>　d/a はアンジオテンシンで −0.40±0.13 → −0.62±0.19、ニトログリセリンで −0.25±0.12（いずれも P&lt;0.001）。</a:t>
            </a:r>
          </a:p>
          <a:p>
            <a:r>
              <a:t>　＝血管収縮で d/a はより負に、血管拡張で 0 に近づく。</a:t>
            </a:r>
          </a:p>
          <a:p>
            <a:r>
              <a:t>　負の d/a は 容積脈波 AIx と r=0.79、上行大動脈 AIx と r=0.80（いずれも P&lt;0.001）。</a:t>
            </a:r>
          </a:p>
          <a:p>
            <a:r>
              <a:t>・研究2：健診受診者600名（30代〜80代、各年代男女50名ずつ）。</a:t>
            </a:r>
          </a:p>
          <a:p>
            <a:r>
              <a:t>　b/a は加齢で増加、c/a・d/a・e/a は減少。加齢指数は y = 0.023x − 1.515（r=0.80、P&lt;0.001）。</a:t>
            </a:r>
          </a:p>
          <a:p>
            <a:r>
              <a:t>　糖尿病・高血圧・高コレステロール血症・虚血性心疾患のいずれかの既往を持つ126名の加齢指数は</a:t>
            </a:r>
          </a:p>
          <a:p>
            <a:r>
              <a:t>　−0.06±0.36 で、年齢マッチ対照 −0.22±0.41 より高値（P&lt;0.01）。女性が男性より高値（P&lt;0.01）。</a:t>
            </a:r>
          </a:p>
          <a:p>
            <a:endParaRPr/>
          </a:p>
          <a:p>
            <a:r>
              <a:t>② Bortolotto LA, et al. Am J Hypertens 2000;13:165–71.（PMID 10701816）</a:t>
            </a:r>
          </a:p>
          <a:p>
            <a:r>
              <a:t>・連続した本態性高血圧患者524例。うち動脈硬化性病変（AA）を有するもの140例。</a:t>
            </a:r>
          </a:p>
          <a:p>
            <a:r>
              <a:t>・AA 群 vs 非 AA 群：PWV 14.9±4 vs 12.4±2 m/s（P&lt;.001）、</a:t>
            </a:r>
          </a:p>
          <a:p>
            <a:r>
              <a:t>　SDPTG 加齢指数 −0.093±0.03 vs −0.271±0.018（P&lt;.001）、PTG AUI 0.322±0.16 vs 0.252±0.09（P&lt;.001）。</a:t>
            </a:r>
          </a:p>
          <a:p>
            <a:r>
              <a:t>・60歳以下では PWV のみ AA 群で高く、60歳超では PWV と SDPTG AI の両方が高値。</a:t>
            </a:r>
          </a:p>
          <a:p>
            <a:r>
              <a:t>・ただし AA の有無に対するロジスティック回帰では PWV が有意な独立規定因子で、</a:t>
            </a:r>
          </a:p>
          <a:p>
            <a:r>
              <a:t>　SDPTG-AI の寄与は弱かった。＝「高血圧患者の血管加齢評価に有用」という限定つきの結論。</a:t>
            </a:r>
          </a:p>
          <a:p>
            <a:endParaRPr/>
          </a:p>
          <a:p>
            <a:r>
              <a:t>③ Hashimoto J, et al. J Hypertens 2002;20:2415–22.（PMID 12473866）</a:t>
            </a:r>
          </a:p>
          <a:p>
            <a:r>
              <a:t>・治療中の高血圧患者294名（32〜91歳、平均61.4±10.5歳）。</a:t>
            </a:r>
          </a:p>
          <a:p>
            <a:r>
              <a:t>・重回帰で年齢・収縮期血圧・心拍数が PWV と独立に正相関。SDPTG 指標は年齢・血圧と独立に関連し、</a:t>
            </a:r>
          </a:p>
          <a:p>
            <a:r>
              <a:t>　D:A 比・AGI とは正、B:A 比とは負の相関。心拍数は D:A 比・AGI と負、B:A 比と正の相関。</a:t>
            </a:r>
          </a:p>
          <a:p>
            <a:r>
              <a:t>・PWV と SDPTG 指標は年齢・血圧という共通因子を持つが相互の相関は弱く、</a:t>
            </a:r>
          </a:p>
          <a:p>
            <a:r>
              <a:t>　中心部と末梢部の動脈特性について異なる情報を与えると結論。</a:t>
            </a:r>
          </a:p>
          <a:p>
            <a:endParaRPr/>
          </a:p>
          <a:p>
            <a:r>
              <a:t>読み方</a:t>
            </a:r>
          </a:p>
          <a:p>
            <a:r>
              <a:t>・d/a は「いま効いている薬・いまのトーヌス」を映す急性軸、AGI は「その人の血管年齢」を映す</a:t>
            </a:r>
          </a:p>
          <a:p>
            <a:r>
              <a:t>　半ば固定的な慢性軸。この二軸で読むのが SDPPG の使い方（6章の2軸整理につながる）。</a:t>
            </a:r>
          </a:p>
          <a:p>
            <a:r>
              <a:t>・限界：二次微分は高周波ノイズを2乗で増幅するため、平滑化・帯域制限の設定（サンプリング周波数、</a:t>
            </a:r>
          </a:p>
          <a:p>
            <a:r>
              <a:t>　カットオフ、差分幅）で b/a・d/a の値が変わる。文献間で数値を直接比べられないのはこのため。</a:t>
            </a:r>
          </a:p>
          <a:p>
            <a:r>
              <a:t>・b/a（大血管側）は再現性が比較的良いが、d/a・e/a（小血管側）は再現性が落ちる。</a:t>
            </a:r>
          </a:p>
          <a:p>
            <a:endParaRPr/>
          </a:p>
        </p:txBody>
      </p:sp>
      <p:sp>
        <p:nvSpPr>
          <p:cNvPr id="4" name="Slide Number Placeholder 3">
            <a:extLst>
              <a:ext uri="{FF2B5EF4-FFF2-40B4-BE49-F238E27FC236}">
                <a16:creationId xmlns:a16="http://schemas.microsoft.com/office/drawing/2014/main" id="{1D49C0F2-6B65-348A-402D-68732588F490}"/>
              </a:ext>
            </a:extLst>
          </p:cNvPr>
          <p:cNvSpPr>
            <a:spLocks noGrp="1"/>
          </p:cNvSpPr>
          <p:nvPr>
            <p:ph type="sldNum" sz="quarter" idx="5"/>
          </p:nvPr>
        </p:nvSpPr>
        <p:spPr/>
      </p:sp>
    </p:spTree>
    <p:extLst>
      <p:ext uri="{BB962C8B-B14F-4D97-AF65-F5344CB8AC3E}">
        <p14:creationId xmlns:p14="http://schemas.microsoft.com/office/powerpoint/2010/main" val="32098446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5.3 SDPPG は何を測れたか（前ページの改善案）</a:t>
            </a:r>
          </a:p>
          <a:p>
            <a:endParaRPr/>
          </a:p>
          <a:p>
            <a:r>
              <a:t>前ページは「文献名 → 知見」を 5 行並べる形だった。何が言えて何が言えないのかを</a:t>
            </a:r>
          </a:p>
          <a:p>
            <a:r>
              <a:t>つかみやすくするため、**問いの軸で 3 列に組み替えた**のがこのページである。</a:t>
            </a:r>
          </a:p>
          <a:p>
            <a:endParaRPr/>
          </a:p>
          <a:p>
            <a:r>
              <a:t>【急性のトーヌス軸：○】</a:t>
            </a:r>
          </a:p>
          <a:p>
            <a:r>
              <a:t>・24. Takazawa 1998：上行大動脈圧を同時記録した 39 名。d/a はアンジオテンシン II で</a:t>
            </a:r>
          </a:p>
          <a:p>
            <a:r>
              <a:t>　−0.40±0.13 → −0.62±0.19、ニトログリセリンで −0.25±0.12（いずれも P&lt;0.001）。</a:t>
            </a:r>
          </a:p>
          <a:p>
            <a:r>
              <a:t>　血管収縮で d/a はより負に、血管拡張で 0 に近づく。＝薬理学的に鋭敏に動く。</a:t>
            </a:r>
          </a:p>
          <a:p>
            <a:endParaRPr/>
          </a:p>
          <a:p>
            <a:r>
              <a:t>【慢性の加齢軸：○】</a:t>
            </a:r>
          </a:p>
          <a:p>
            <a:r>
              <a:t>・24. Takazawa 1998：健診受診者 600 名。加齢指数 AGI は y = 0.023x − 1.515（r=0.80, P&lt;0.001）。</a:t>
            </a:r>
          </a:p>
          <a:p>
            <a:r>
              <a:t>・26. Otsuka 2006：一般集団 211 名。SDPTG 指標は Framingham risk score と相関</a:t>
            </a:r>
          </a:p>
          <a:p>
            <a:r>
              <a:t>　（b/a r=0.43(男)/0.54(女)、d/a r=−0.38/−0.58）。高リスク者の判別は感度・特異度とも 0.85。</a:t>
            </a:r>
          </a:p>
          <a:p>
            <a:endParaRPr/>
          </a:p>
          <a:p>
            <a:r>
              <a:t>【臓器障害・動脈硬化軸：×】</a:t>
            </a:r>
          </a:p>
          <a:p>
            <a:r>
              <a:t>・25. Bortolotto 2000：高血圧 524 例。動脈硬化性病変あり群で AGI −0.093 vs なし −0.271（P&lt;.001）</a:t>
            </a:r>
          </a:p>
          <a:p>
            <a:r>
              <a:t>　だが、ロジスティック回帰では PWV が有意な独立規定因子で SDPTG-AI の寄与は弱かった。</a:t>
            </a:r>
          </a:p>
          <a:p>
            <a:r>
              <a:t>・27. Tabara 2016（J-SHIPP）：b/a・d/a・AGI の強い規定因子は年齢・性・収縮期血圧・心拍数で、</a:t>
            </a:r>
          </a:p>
          <a:p>
            <a:r>
              <a:t>　頸動脈 IMT など臓器障害との関連は弱いか有意でない（b/a で β=0.069, P=0.002）。</a:t>
            </a:r>
          </a:p>
          <a:p>
            <a:endParaRPr/>
          </a:p>
          <a:p>
            <a:r>
              <a:t>【位置づけ】</a:t>
            </a:r>
          </a:p>
          <a:p>
            <a:r>
              <a:t>・16. Hashimoto 2002：治療中高血圧 294 名。PWV と SDPTG 指標は年齢・血圧という共通因子を</a:t>
            </a:r>
          </a:p>
          <a:p>
            <a:r>
              <a:t>　持つが相互の相関は弱く、中心部と末梢部について異なる情報を与える。</a:t>
            </a:r>
          </a:p>
          <a:p>
            <a:r>
              <a:t>　＝ SDPPG は PWV の代用ではない。別の軸として扱う。</a:t>
            </a:r>
          </a:p>
          <a:p>
            <a:endParaRPr/>
          </a:p>
          <a:p>
            <a:r>
              <a:t>【まとめ】</a:t>
            </a:r>
          </a:p>
          <a:p>
            <a:r>
              <a:t>SDPPG は「いま血管トーヌスがどう動いたか」と「年齢相応か」には答えられるが、</a:t>
            </a:r>
          </a:p>
          <a:p>
            <a:r>
              <a:t>「臓器障害があるか」には単独では答えられない。</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23EE6-4D26-652B-390C-6C5CF42257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B697D-4BCF-08AA-6BC8-78CB39215A2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7117ECD-EF2E-3790-EFB6-5445C57B9497}"/>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A052C56-A64C-6701-08AD-D42F39C65B58}"/>
              </a:ext>
            </a:extLst>
          </p:cNvPr>
          <p:cNvSpPr>
            <a:spLocks noGrp="1"/>
          </p:cNvSpPr>
          <p:nvPr>
            <p:ph type="sldNum" sz="quarter" idx="5"/>
          </p:nvPr>
        </p:nvSpPr>
        <p:spPr/>
      </p:sp>
    </p:spTree>
    <p:extLst>
      <p:ext uri="{BB962C8B-B14F-4D97-AF65-F5344CB8AC3E}">
        <p14:creationId xmlns:p14="http://schemas.microsoft.com/office/powerpoint/2010/main" val="11946345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655AD-E244-D23A-4297-E6F28FA3D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973239-F92D-11DF-4446-9542B5CE3DB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73FD843-3800-0778-4849-6DA8FCA1CFB3}"/>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58E3A687-86C5-FF92-B3E2-6DA642E12B9F}"/>
              </a:ext>
            </a:extLst>
          </p:cNvPr>
          <p:cNvSpPr>
            <a:spLocks noGrp="1"/>
          </p:cNvSpPr>
          <p:nvPr>
            <p:ph type="sldNum" sz="quarter" idx="5"/>
          </p:nvPr>
        </p:nvSpPr>
        <p:spPr/>
      </p:sp>
    </p:spTree>
    <p:extLst>
      <p:ext uri="{BB962C8B-B14F-4D97-AF65-F5344CB8AC3E}">
        <p14:creationId xmlns:p14="http://schemas.microsoft.com/office/powerpoint/2010/main" val="63939011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6299A-76F4-5E53-39C2-CD7F997FE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2A9B8-01B6-0359-CB06-637718E150C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FEC65F3-2C03-6E50-C084-608BC09B746F}"/>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EE5FF02B-6996-28EF-500A-81C33090C21D}"/>
              </a:ext>
            </a:extLst>
          </p:cNvPr>
          <p:cNvSpPr>
            <a:spLocks noGrp="1"/>
          </p:cNvSpPr>
          <p:nvPr>
            <p:ph type="sldNum" sz="quarter" idx="5"/>
          </p:nvPr>
        </p:nvSpPr>
        <p:spPr/>
      </p:sp>
    </p:spTree>
    <p:extLst>
      <p:ext uri="{BB962C8B-B14F-4D97-AF65-F5344CB8AC3E}">
        <p14:creationId xmlns:p14="http://schemas.microsoft.com/office/powerpoint/2010/main" val="192740939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41F5D-907A-5408-2294-D1635E782A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5D77E-A48D-4F10-7339-A6CAF0EBCBC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9E5749B-2AB0-7A13-E720-36673C05486B}"/>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D9CD6C61-19E9-2FCF-01B9-2341E17E4A2D}"/>
              </a:ext>
            </a:extLst>
          </p:cNvPr>
          <p:cNvSpPr>
            <a:spLocks noGrp="1"/>
          </p:cNvSpPr>
          <p:nvPr>
            <p:ph type="sldNum" sz="quarter" idx="5"/>
          </p:nvPr>
        </p:nvSpPr>
        <p:spPr/>
      </p:sp>
    </p:spTree>
    <p:extLst>
      <p:ext uri="{BB962C8B-B14F-4D97-AF65-F5344CB8AC3E}">
        <p14:creationId xmlns:p14="http://schemas.microsoft.com/office/powerpoint/2010/main" val="211713842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FF680-1AF7-27A2-6E26-FA391AFDC7E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05936F0-B182-F864-0D92-28F29E275FE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9A86F4-E3C4-8497-E2A0-5435CE526A90}"/>
              </a:ext>
            </a:extLst>
          </p:cNvPr>
          <p:cNvSpPr>
            <a:spLocks noGrp="1"/>
          </p:cNvSpPr>
          <p:nvPr>
            <p:ph type="body" idx="1"/>
          </p:nvPr>
        </p:nvSpPr>
        <p:spPr/>
        <p:txBody>
          <a:bodyPr/>
          <a:lstStyle/>
          <a:p>
            <a:r>
              <a:rPr dirty="0"/>
              <a:t>読み方は2軸に整理する。左＝慢性（反射・スティフネス軸）、</a:t>
            </a:r>
            <a:r>
              <a:rPr dirty="0" err="1"/>
              <a:t>右＝急性（血管トーヌス軸</a:t>
            </a:r>
            <a:r>
              <a:rPr dirty="0"/>
              <a:t>）。</a:t>
            </a:r>
          </a:p>
          <a:p>
            <a:endParaRPr dirty="0"/>
          </a:p>
          <a:p>
            <a:r>
              <a:rPr dirty="0"/>
              <a:t>【</a:t>
            </a:r>
            <a:r>
              <a:rPr dirty="0" err="1"/>
              <a:t>左軸に足した一行：SI</a:t>
            </a:r>
            <a:r>
              <a:rPr dirty="0"/>
              <a:t> </a:t>
            </a:r>
            <a:r>
              <a:rPr dirty="0" err="1"/>
              <a:t>は血圧に強く依存する</a:t>
            </a:r>
            <a:r>
              <a:rPr dirty="0"/>
              <a:t>】</a:t>
            </a:r>
          </a:p>
          <a:p>
            <a:r>
              <a:rPr dirty="0"/>
              <a:t>SI </a:t>
            </a:r>
            <a:r>
              <a:rPr dirty="0" err="1"/>
              <a:t>は「大動脈</a:t>
            </a:r>
            <a:r>
              <a:rPr dirty="0"/>
              <a:t> PWV </a:t>
            </a:r>
            <a:r>
              <a:rPr dirty="0" err="1"/>
              <a:t>の代用」だが、PWV</a:t>
            </a:r>
            <a:r>
              <a:rPr dirty="0"/>
              <a:t> </a:t>
            </a:r>
            <a:r>
              <a:rPr dirty="0" err="1"/>
              <a:t>自体が測定時の伸展圧（血圧）に強く依存する</a:t>
            </a:r>
            <a:r>
              <a:rPr dirty="0"/>
              <a:t>。</a:t>
            </a:r>
          </a:p>
          <a:p>
            <a:r>
              <a:rPr dirty="0"/>
              <a:t>・</a:t>
            </a:r>
            <a:r>
              <a:rPr dirty="0" err="1"/>
              <a:t>機序：低い血圧では壁の張力をエラスチンが負担するが、血圧が上がるほど、より硬いコラーゲンが</a:t>
            </a:r>
            <a:endParaRPr dirty="0"/>
          </a:p>
          <a:p>
            <a:r>
              <a:rPr dirty="0"/>
              <a:t>　</a:t>
            </a:r>
            <a:r>
              <a:rPr dirty="0" err="1"/>
              <a:t>荷重を担うようになる（Charlton</a:t>
            </a:r>
            <a:r>
              <a:rPr dirty="0"/>
              <a:t> 2022 </a:t>
            </a:r>
            <a:r>
              <a:rPr dirty="0" err="1"/>
              <a:t>VascAgeNet</a:t>
            </a:r>
            <a:r>
              <a:rPr dirty="0"/>
              <a:t> </a:t>
            </a:r>
            <a:r>
              <a:rPr dirty="0" err="1"/>
              <a:t>総説</a:t>
            </a:r>
            <a:r>
              <a:rPr dirty="0"/>
              <a:t>, Am J </a:t>
            </a:r>
            <a:r>
              <a:rPr dirty="0" err="1"/>
              <a:t>Physiol</a:t>
            </a:r>
            <a:r>
              <a:rPr dirty="0"/>
              <a:t> Heart Circ </a:t>
            </a:r>
            <a:r>
              <a:rPr dirty="0" err="1"/>
              <a:t>Physiol</a:t>
            </a:r>
            <a:r>
              <a:rPr dirty="0"/>
              <a:t> 322:H493）。</a:t>
            </a:r>
          </a:p>
          <a:p>
            <a:r>
              <a:rPr dirty="0"/>
              <a:t>　</a:t>
            </a:r>
            <a:r>
              <a:rPr dirty="0" err="1"/>
              <a:t>つまり同じ血管でも「今の血圧」が高いほど硬く測れる</a:t>
            </a:r>
            <a:r>
              <a:rPr dirty="0"/>
              <a:t>。</a:t>
            </a:r>
          </a:p>
          <a:p>
            <a:r>
              <a:rPr dirty="0"/>
              <a:t>・</a:t>
            </a:r>
            <a:r>
              <a:rPr dirty="0" err="1"/>
              <a:t>降圧治療のメタ解析：PWV</a:t>
            </a:r>
            <a:r>
              <a:rPr dirty="0"/>
              <a:t> </a:t>
            </a:r>
            <a:r>
              <a:rPr dirty="0" err="1"/>
              <a:t>の低下は平均血圧</a:t>
            </a:r>
            <a:r>
              <a:rPr dirty="0"/>
              <a:t> −10 mmHg </a:t>
            </a:r>
            <a:r>
              <a:rPr dirty="0" err="1"/>
              <a:t>あたり</a:t>
            </a:r>
            <a:r>
              <a:rPr dirty="0"/>
              <a:t> −0.65 m/s（95%CI −0.46〜−0.83）で、</a:t>
            </a:r>
          </a:p>
          <a:p>
            <a:r>
              <a:rPr dirty="0"/>
              <a:t>　</a:t>
            </a:r>
            <a:r>
              <a:rPr dirty="0" err="1"/>
              <a:t>これは経壁圧を急性に変えたときの変化とほぼ同じ大きさ</a:t>
            </a:r>
            <a:r>
              <a:rPr dirty="0"/>
              <a:t>。＝</a:t>
            </a:r>
            <a:r>
              <a:rPr dirty="0" err="1"/>
              <a:t>治療による</a:t>
            </a:r>
            <a:r>
              <a:rPr dirty="0"/>
              <a:t> PWV </a:t>
            </a:r>
            <a:r>
              <a:rPr dirty="0" err="1"/>
              <a:t>低下の大部分は</a:t>
            </a:r>
            <a:endParaRPr dirty="0"/>
          </a:p>
          <a:p>
            <a:r>
              <a:rPr dirty="0"/>
              <a:t>　</a:t>
            </a:r>
            <a:r>
              <a:rPr dirty="0" err="1"/>
              <a:t>血圧低下で説明される（McNally</a:t>
            </a:r>
            <a:r>
              <a:rPr dirty="0"/>
              <a:t> R, et al. Hypertension 2024）。</a:t>
            </a:r>
          </a:p>
          <a:p>
            <a:r>
              <a:rPr dirty="0"/>
              <a:t>・</a:t>
            </a:r>
            <a:r>
              <a:rPr dirty="0" err="1"/>
              <a:t>昇圧薬による急性変化：L-NMMA・ノルアドレナリン・ドブタミンで</a:t>
            </a:r>
            <a:r>
              <a:rPr dirty="0"/>
              <a:t> </a:t>
            </a:r>
            <a:r>
              <a:rPr dirty="0" err="1"/>
              <a:t>cf</a:t>
            </a:r>
            <a:r>
              <a:rPr dirty="0"/>
              <a:t>-PWV </a:t>
            </a:r>
            <a:r>
              <a:rPr dirty="0" err="1"/>
              <a:t>を動かすと、その変化量は</a:t>
            </a:r>
            <a:endParaRPr dirty="0"/>
          </a:p>
          <a:p>
            <a:r>
              <a:rPr dirty="0"/>
              <a:t>　</a:t>
            </a:r>
            <a:r>
              <a:rPr dirty="0" err="1"/>
              <a:t>平均血圧の変化量とほぼ完全に相関した（R</a:t>
            </a:r>
            <a:r>
              <a:rPr dirty="0"/>
              <a:t>&gt;0.99, P&lt;0.0001）（Stewart AD, </a:t>
            </a:r>
            <a:r>
              <a:rPr dirty="0" err="1"/>
              <a:t>Millasseau</a:t>
            </a:r>
            <a:r>
              <a:rPr dirty="0"/>
              <a:t> SC, et al.</a:t>
            </a:r>
          </a:p>
          <a:p>
            <a:r>
              <a:rPr dirty="0"/>
              <a:t>　Hypertension 2003;42:915）。</a:t>
            </a:r>
          </a:p>
          <a:p>
            <a:r>
              <a:rPr dirty="0"/>
              <a:t>・</a:t>
            </a:r>
            <a:r>
              <a:rPr dirty="0" err="1"/>
              <a:t>指尖</a:t>
            </a:r>
            <a:r>
              <a:rPr dirty="0"/>
              <a:t> PPG </a:t>
            </a:r>
            <a:r>
              <a:rPr dirty="0" err="1"/>
              <a:t>で直接見た研究：健常者で</a:t>
            </a:r>
            <a:r>
              <a:rPr dirty="0"/>
              <a:t> SI </a:t>
            </a:r>
            <a:r>
              <a:rPr dirty="0" err="1"/>
              <a:t>は収縮期・拡張期血圧と有意に相関したが、RI</a:t>
            </a:r>
            <a:r>
              <a:rPr dirty="0"/>
              <a:t> </a:t>
            </a:r>
            <a:r>
              <a:rPr dirty="0" err="1"/>
              <a:t>はどちらとも</a:t>
            </a:r>
            <a:endParaRPr dirty="0"/>
          </a:p>
          <a:p>
            <a:r>
              <a:rPr dirty="0"/>
              <a:t>　</a:t>
            </a:r>
            <a:r>
              <a:rPr dirty="0" err="1"/>
              <a:t>相関しなかった（Padilla</a:t>
            </a:r>
            <a:r>
              <a:rPr dirty="0"/>
              <a:t> JM, et al. Cardiovasc Eng 2009;9:104）。</a:t>
            </a:r>
          </a:p>
          <a:p>
            <a:r>
              <a:rPr dirty="0"/>
              <a:t>　＝「SI </a:t>
            </a:r>
            <a:r>
              <a:rPr dirty="0" err="1"/>
              <a:t>は血圧側、RI</a:t>
            </a:r>
            <a:r>
              <a:rPr dirty="0"/>
              <a:t> </a:t>
            </a:r>
            <a:r>
              <a:rPr dirty="0" err="1"/>
              <a:t>はトーヌス側」という</a:t>
            </a:r>
            <a:r>
              <a:rPr dirty="0"/>
              <a:t> 2軸の分担と整合する。</a:t>
            </a:r>
          </a:p>
          <a:p>
            <a:endParaRPr dirty="0"/>
          </a:p>
          <a:p>
            <a:r>
              <a:rPr dirty="0"/>
              <a:t>→ </a:t>
            </a:r>
            <a:r>
              <a:rPr dirty="0" err="1"/>
              <a:t>読み替え：術中に</a:t>
            </a:r>
            <a:r>
              <a:rPr dirty="0"/>
              <a:t> SI </a:t>
            </a:r>
            <a:r>
              <a:rPr dirty="0" err="1"/>
              <a:t>が短時間で動いたら、それは「血管が硬くなった」のではなく</a:t>
            </a:r>
            <a:endParaRPr dirty="0"/>
          </a:p>
          <a:p>
            <a:r>
              <a:rPr dirty="0"/>
              <a:t>　「</a:t>
            </a:r>
            <a:r>
              <a:rPr dirty="0" err="1"/>
              <a:t>血圧が変わった」を見ている可能性が高い。硬さの指標としては弱点だが</a:t>
            </a:r>
            <a:r>
              <a:rPr dirty="0"/>
              <a:t>、</a:t>
            </a:r>
          </a:p>
          <a:p>
            <a:r>
              <a:rPr dirty="0"/>
              <a:t>　</a:t>
            </a:r>
            <a:r>
              <a:rPr dirty="0" err="1"/>
              <a:t>裏返せば</a:t>
            </a:r>
            <a:r>
              <a:rPr dirty="0"/>
              <a:t> SI（＝</a:t>
            </a:r>
            <a:r>
              <a:rPr dirty="0" err="1"/>
              <a:t>時相の軸）は血圧トレンドのモニターとして使える余地がある、という言い方ができる</a:t>
            </a:r>
            <a:r>
              <a:rPr dirty="0"/>
              <a:t>。</a:t>
            </a:r>
          </a:p>
          <a:p>
            <a:endParaRPr dirty="0"/>
          </a:p>
          <a:p>
            <a:r>
              <a:rPr dirty="0"/>
              <a:t>【</a:t>
            </a:r>
            <a:r>
              <a:rPr dirty="0" err="1"/>
              <a:t>慎重に言うべきこと</a:t>
            </a:r>
            <a:r>
              <a:rPr dirty="0"/>
              <a:t>】</a:t>
            </a:r>
          </a:p>
          <a:p>
            <a:r>
              <a:rPr dirty="0"/>
              <a:t>・</a:t>
            </a:r>
            <a:r>
              <a:rPr dirty="0" err="1"/>
              <a:t>Millasseau</a:t>
            </a:r>
            <a:r>
              <a:rPr dirty="0"/>
              <a:t> 2003（Am J </a:t>
            </a:r>
            <a:r>
              <a:rPr dirty="0" err="1"/>
              <a:t>Hypertens</a:t>
            </a:r>
            <a:r>
              <a:rPr dirty="0"/>
              <a:t> 16:467）では、SI_DVP </a:t>
            </a:r>
            <a:r>
              <a:rPr dirty="0" err="1"/>
              <a:t>はアンジオテンシンII・GTN</a:t>
            </a:r>
            <a:r>
              <a:rPr dirty="0"/>
              <a:t> </a:t>
            </a:r>
            <a:r>
              <a:rPr dirty="0" err="1"/>
              <a:t>でほとんど動かなかった</a:t>
            </a:r>
            <a:r>
              <a:rPr dirty="0"/>
              <a:t>。</a:t>
            </a:r>
          </a:p>
          <a:p>
            <a:r>
              <a:rPr dirty="0"/>
              <a:t>　</a:t>
            </a:r>
            <a:r>
              <a:rPr dirty="0" err="1"/>
              <a:t>薬剤ごとに「血圧を上げても大動脈の見かけの硬さは動かない」ことがあり、SI</a:t>
            </a:r>
            <a:r>
              <a:rPr dirty="0"/>
              <a:t> ＝ </a:t>
            </a:r>
            <a:r>
              <a:rPr dirty="0" err="1"/>
              <a:t>血圧、と単純化はできない</a:t>
            </a:r>
            <a:r>
              <a:rPr dirty="0"/>
              <a:t>。</a:t>
            </a:r>
          </a:p>
          <a:p>
            <a:r>
              <a:rPr dirty="0"/>
              <a:t>・SI </a:t>
            </a:r>
            <a:r>
              <a:rPr dirty="0" err="1"/>
              <a:t>自体が</a:t>
            </a:r>
            <a:r>
              <a:rPr dirty="0"/>
              <a:t> </a:t>
            </a:r>
            <a:r>
              <a:rPr dirty="0" err="1"/>
              <a:t>cf</a:t>
            </a:r>
            <a:r>
              <a:rPr dirty="0"/>
              <a:t>-PWV の代用として個人単位では不十分（r≈0.65、Bland–Altman ±4 m/s </a:t>
            </a:r>
            <a:r>
              <a:rPr dirty="0" err="1"/>
              <a:t>程度、Millasseau</a:t>
            </a:r>
            <a:r>
              <a:rPr dirty="0"/>
              <a:t> 2002）。</a:t>
            </a:r>
          </a:p>
          <a:p>
            <a:r>
              <a:rPr dirty="0"/>
              <a:t>・</a:t>
            </a:r>
            <a:r>
              <a:rPr dirty="0" err="1"/>
              <a:t>したがって「血圧トレンドの指標にもなりうる（かもしれない</a:t>
            </a:r>
            <a:r>
              <a:rPr dirty="0"/>
              <a:t>）」</a:t>
            </a:r>
            <a:r>
              <a:rPr dirty="0" err="1"/>
              <a:t>という仮説として提示し</a:t>
            </a:r>
            <a:r>
              <a:rPr dirty="0"/>
              <a:t>、</a:t>
            </a:r>
          </a:p>
          <a:p>
            <a:r>
              <a:rPr dirty="0"/>
              <a:t>　</a:t>
            </a:r>
            <a:r>
              <a:rPr dirty="0" err="1"/>
              <a:t>絶対値ではなく同一患者内の相対変化として扱う、という限定を必ず添える</a:t>
            </a:r>
            <a:r>
              <a:rPr dirty="0"/>
              <a:t>。</a:t>
            </a:r>
          </a:p>
          <a:p>
            <a:endParaRPr dirty="0"/>
          </a:p>
          <a:p>
            <a:r>
              <a:rPr dirty="0"/>
              <a:t>（</a:t>
            </a:r>
            <a:r>
              <a:rPr dirty="0" err="1"/>
              <a:t>加齢性変化については</a:t>
            </a:r>
            <a:r>
              <a:rPr dirty="0"/>
              <a:t> Allen 2020 doi:10.1088/1361-6579/ab9b67、AIx </a:t>
            </a:r>
            <a:r>
              <a:rPr dirty="0" err="1"/>
              <a:t>は</a:t>
            </a:r>
            <a:r>
              <a:rPr dirty="0"/>
              <a:t> </a:t>
            </a:r>
            <a:r>
              <a:rPr dirty="0" err="1"/>
              <a:t>Pilt</a:t>
            </a:r>
            <a:r>
              <a:rPr dirty="0"/>
              <a:t> 2014 </a:t>
            </a:r>
            <a:r>
              <a:rPr dirty="0" err="1"/>
              <a:t>も参照</a:t>
            </a:r>
            <a:r>
              <a:rPr dirty="0"/>
              <a:t>）</a:t>
            </a:r>
          </a:p>
        </p:txBody>
      </p:sp>
      <p:sp>
        <p:nvSpPr>
          <p:cNvPr id="4" name="スライド番号プレースホルダー 3">
            <a:extLst>
              <a:ext uri="{FF2B5EF4-FFF2-40B4-BE49-F238E27FC236}">
                <a16:creationId xmlns:a16="http://schemas.microsoft.com/office/drawing/2014/main" id="{B9E26898-7377-D0F3-B712-B35D976C1465}"/>
              </a:ext>
            </a:extLst>
          </p:cNvPr>
          <p:cNvSpPr>
            <a:spLocks noGrp="1"/>
          </p:cNvSpPr>
          <p:nvPr>
            <p:ph type="sldNum" sz="quarter" idx="5"/>
          </p:nvPr>
        </p:nvSpPr>
        <p:spPr/>
        <p:txBody>
          <a:bodyPr/>
          <a:lstStyle/>
          <a:p>
            <a:fld id="{4368CECF-0771-D84F-8D42-085DB944B0B8}" type="slidenum">
              <a:rPr kumimoji="1" lang="ja-JP" altLang="en-US" smtClean="0"/>
              <a:t>67</a:t>
            </a:fld>
            <a:endParaRPr kumimoji="1" lang="ja-JP" altLang="en-US"/>
          </a:p>
        </p:txBody>
      </p:sp>
    </p:spTree>
    <p:extLst>
      <p:ext uri="{BB962C8B-B14F-4D97-AF65-F5344CB8AC3E}">
        <p14:creationId xmlns:p14="http://schemas.microsoft.com/office/powerpoint/2010/main" val="1988535440"/>
      </p:ext>
    </p:extLst>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29-32 は第2・3章で引用した文献。33 以降が第4章（提案）で用いた文献で、33-39 が esCCO の原理と精度検証にあたる。</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参考文献の続き（16〜29）。29 は 4.3 で用いた Coutrot 2019。</a:t>
            </a:r>
          </a:p>
          <a:p>
            <a:r>
              <a:t>1枚に28件を並べると下端がはみ出していたため2枚に分割し、本文を 10.5pt にした。</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第4章は提案である。ここから先は確立事実ではなく、反証可能な形に整えた作業仮説を述べる。</a:t>
            </a:r>
          </a:p>
          <a:p>
            <a:r>
              <a:t>4.1 で esCCO の推定構造を確認し、4.2 で「誤差が血管抵抗と系統的に相関する」という実測を示す。</a:t>
            </a:r>
          </a:p>
          <a:p>
            <a:r>
              <a:t>4.3 が本題で、SI・RI という PPG 形態指標で較正係数 K を動的に補正する案。</a:t>
            </a:r>
          </a:p>
          <a:p>
            <a:r>
              <a:t>4.4 に利点、4.5 に限界、4.6 に反証可能な検証設計を置いた。</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esCCO は PWTT から一回拍出量を推定し、心拍数を掛けて心拍出量とする。</a:t>
            </a:r>
          </a:p>
          <a:p>
            <a:r>
              <a:t>  esCCO ＝ esSV × HR ／ esSV ＝ K ×（β − α・PWTT）</a:t>
            </a:r>
          </a:p>
          <a:p>
            <a:r>
              <a:t>α・β は実験的に定めた正の定数、K は較正で決まる比例係数。PWTT が短いほど esSV を大きく推定する、という逆相関が式の骨格である。</a:t>
            </a:r>
          </a:p>
          <a:p>
            <a:r>
              <a:t>※ 上式は原理を説明するための概念式であり、日本光電社の実装アルゴリズムそのものではない。同社の原著は PWTT を PEP と二つの伝播成分（弾性動脈通過時間 T1・末梢抵抗血管通過時間 T2）に分けて定式化している。本章で用いるのは「PWTT から SV を推定する係数 K に血管側の情報が入っていない」という構造的特徴のみ。</a:t>
            </a:r>
          </a:p>
          <a:p/>
          <a:p>
            <a:r>
              <a:t>K の決め方は二通り。①患者背景（年齢・身長・体重＋初回 NIBP）からの自動推定＝追加手技は不要だが精度は劣る。②熱希釈法や心エコーの実測 CO による較正＝一致性は上がるが、そのために侵襲的手技が要るという本末転倒を抱える。</a:t>
            </a:r>
          </a:p>
          <a:p/>
          <a:p>
            <a:r>
              <a:t>モニタが「PWTT」と表示している量は厳密には PAT（pulse arrival time）であり、PEP（前駆出期＝心臓側の時間）と VTT（血管内伝播時間＝血管側の時間）の和である。R 波は「心臓の電気的興奮」であって「大動脈弁が開いた瞬間」ではないため、VTT は分離されていない。</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後負荷が上昇したとき、PWTT の二つの成分は互いに逆向きに動く。</a:t>
            </a:r>
          </a:p>
          <a:p>
            <a:r>
              <a:t>・PEP は延長する。大動脈拡張期圧が高いほど、左室が弁を開けるまでの等容収縮時間が長くなるため。単離心筋標本を用いた Nakamura らの研究は、後負荷の増加が preshortening period（PEP に相当する区間）を延長させることを直接示している。</a:t>
            </a:r>
          </a:p>
          <a:p>
            <a:r>
              <a:t>・VTT は短縮する。経壁圧・平滑筋トーヌスの変化により脈波伝播速度が上がるため。</a:t>
            </a:r>
          </a:p>
          <a:p/>
          <a:p>
            <a:r>
              <a:t>したがって PWTT（＝ PEP ＋ VTT）の正味の変化は相殺されて不定である。ところが同じ場面で、一回拍出量そのものは後負荷上昇により低下している。</a:t>
            </a:r>
          </a:p>
          <a:p>
            <a:r>
              <a:t>VTT 短縮が PEP 延長を上回れば PWTT は短縮し、esCCO の式はそれを一回拍出量の増加と解釈する。実際の SV は低下しているので、符号ごと誤る。これが「全身血管抵抗のみが上昇する場面でesCCO が SV を系統的に過大評価する」ことの機序である。</a:t>
            </a:r>
          </a:p>
          <a:p/>
          <a:p>
            <a:r>
              <a:t>さらに開発元の報告では、PEP の変化が PWTT の変化の約半分を占めるとされている。すなわち esCCO が血管情報として読んでいるつもりの信号の半分は、実は心臓側の時間である。</a:t>
            </a:r>
          </a:p>
          <a:p/>
          <a:p>
            <a:r>
              <a:t>臨床的な読み方：昇圧薬を投与した直後の esCCO 上昇は、心拍出量の増加ではなく後負荷上昇の見かけである可能性が高い。</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esCCO の誤差が全身血管抵抗（SVR）と系統的に相関することは、複数の独立した研究で報告されている。</a:t>
            </a:r>
          </a:p>
          <a:p/>
          <a:p>
            <a:r>
              <a:t>・Yamada 2012（多施設・熱希釈法との比較）：esCCO の誤差が SVR と r = 0.37（P &lt; 0.0001）。</a:t>
            </a:r>
          </a:p>
          <a:p>
            <a:r>
              <a:t>・Magliocca 2018（肝移植 19 例）：バイアスが SVR と r = 0.610、動脈エラスタンス Ea と r = 0.692（いずれも P &lt; 0.0001）。SVR よりも Ea との相関のほうが強い点が示唆的である。</a:t>
            </a:r>
          </a:p>
          <a:p>
            <a:r>
              <a:t>・Biais 2015（重症患者 80 例、輸液／PLR／ノルアドレナリン増減の 4 群）：バイアスが SVR と関連（r² = 0.60, P &lt; 0.0001）。結論は否定的で、esCCO は心拍出量の変化を追跡できず血行動態管理の指標にできないとする。最も厳しい評価である。</a:t>
            </a:r>
          </a:p>
          <a:p/>
          <a:p>
            <a:r>
              <a:t>ここが本提案の出発点。誤差が測定可能な変数と系統的に相関しているということは、その誤差がランダムノイズではなく、説明できる誤差だということを意味する。そして説明できるものは、原理的には補正できる。</a:t>
            </a:r>
          </a:p>
          <a:p/>
          <a:p>
            <a:r>
              <a:t>生理学的な枠組みとしては心室・動脈カップリング（Ea/Ees）が対応する。Guinot らは、術後低血圧患者でベースラインの Ea/Ees 比がノルアドレナリンに対する SV 反応性を予測することを示している。esCCO が最も誤る場面（昇圧薬投与時）と、Ea が最も動く場面が一致している。</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一般に報告される一致性の水準は、安定期の全身麻酔下で熱希釈法との相関 r ≈ 0.84、バイアス約 1.6 L/min、一致限界 −1.8〜+5.0 L/min、誤差率（percentage error）約 47% である。</a:t>
            </a:r>
          </a:p>
          <a:p>
            <a:r>
              <a:t>Critchley と Critchley が提唱した「新しい心拍出量測定法が既存法を代替してよい」とする許容基準は誤差率 ±30% であり、esCCO はこれを大きく超えている。すなわち esCCO は熱希釈法の代替にはならない。</a:t>
            </a:r>
          </a:p>
          <a:p/>
          <a:p>
            <a:r>
              <a:t>一方、変化の向きは追える。Tsutsui 2013（部分肝切除 31 例）は trending concordance 96.0% を報告している。</a:t>
            </a:r>
          </a:p>
          <a:p/>
          <a:p>
            <a:r>
              <a:t>したがって esCCO の正直な位置づけは、絶対値としての心拍出量計ではなく、後負荷にも収縮力にも交絡された、前負荷寄りの連続トレンド／急変検出ツールである。この限定のもとでなら、追加コストゼロという利点は依然として大きい。</a:t>
            </a:r>
          </a:p>
          <a:p/>
          <a:p>
            <a:r>
              <a:t>本提案の狙いは、この「誤差率 47%」と「±30%」の差を、追加センサなしでどこまで詰められるかにある。</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提案は一行で言える。較正係数 K を定数ではなく、同じ光電容積脈波から得られる形態指標の関数とする。</a:t>
            </a:r>
          </a:p>
          <a:p>
            <a:r>
              <a:t>  K → K( SI , RI )</a:t>
            </a:r>
          </a:p>
          <a:p/>
          <a:p>
            <a:r>
              <a:t>SI は大血管スティフネスを反映する指標、RI は末梢血管トーヌスを反映する指標である（第3章）。PWTT にこれらの血管情報をもつ指標を組み合わせることで、CO 推定能力を改善できないか、というのが本提案である。</a:t>
            </a:r>
          </a:p>
          <a:p/>
          <a:p>
            <a:r>
              <a:t>構造としては、波形の『形』（血管情報）で、波形の『時間』（PWTT）を較正する、ということになる。</a:t>
            </a:r>
          </a:p>
          <a:p>
            <a:r>
              <a:t>esCCO は同じ 1 本の PPG から時間軸だけを使っている。形態軸は捨てられている。その捨てられている軸に、いま交絡している当の情報（血管側の状態）が乗っている。</a:t>
            </a:r>
          </a:p>
          <a:p/>
          <a:p>
            <a:r>
              <a:t>なお候補は SI・RI に限らない。SDPPG の d/a・e/a、切痕の位置・幅も同じ枠組みに乗る。本提案はより一般には「Ea の変化を非侵襲的に代理できる形態指標を見つけ、それで PWTT–SV 変換を補正する」という問題に帰着する。第3章の結論（波形が明瞭なら SDPPG 関連指標より SI・RI が有利）から、まず SI・RI を第一候補に置いている。</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末梢脈波は前進波 W_f と反射波 W_r の重ね合わせで表せる。主反射点を一つ仮定するとW_r(t) ≈ Γ・W_f(t − τ)、往復時間 τ ≈ 2d / PWV。ここから位置と大きさの二軸が出る。</a:t>
            </a:r>
          </a:p>
          <a:p/>
          <a:p>
            <a:r>
              <a:t>・位置：SI ＝ 身長 ÷ ΔT ∝ PWV。大血管スティフネス（＝特性インピーダンス Zc 側）を映す時間軸の量。Millasseau 2002 では SI と年齢 r = 0.67、SI と頸動脈–大腿動脈 PWV r = 0.65。</a:t>
            </a:r>
          </a:p>
          <a:p>
            <a:r>
              <a:t>・大きさ：RI ＝ P2 ÷ P1 ≈ Γ。反射係数 Γ =（Z_L − Zc）/（Z_L + Zc）に相当し、末梢の負荷インピーダンス Z_L（ほぼ SVR に対応）を映す高さ軸の量。Chowienczyk 1999 では血管収縮薬・拡張薬に用量依存性に反応する。</a:t>
            </a:r>
          </a:p>
          <a:p/>
          <a:p>
            <a:r>
              <a:t>したがって SVR・血管トーヌスが上がると Z_L↑ → Γ↑ → P2↑ → RI↑ となる。</a:t>
            </a:r>
          </a:p>
          <a:p/>
          <a:p>
            <a:r>
              <a:t>この二軸が重要なのは、esCCO が交絡されている当の変数——血管側の反射特性——を、同一の SpO₂ 波形から、しかもスティフネス成分（SI）とトーヌス成分（RI）に分けて捉えられるからである。Awad 2007 は PPG 形態（幅）と SVR の相関を報告している（r = 0.56）。</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意図する動作は次のとおり。</a:t>
            </a:r>
          </a:p>
          <a:p>
            <a:r>
              <a:t>① 較正時に K₀ と、そのときの形態指標 (SI)₀・(RI)₀ を記録する。</a:t>
            </a:r>
          </a:p>
          <a:p>
            <a:r>
              <a:t>② 測定中、形態指標がベースラインから乖離したとき、それを血管側の状態変化の signal とみなす。</a:t>
            </a:r>
          </a:p>
          <a:p>
            <a:r>
              <a:t>③ その乖離量 ΔSI・ΔRI に応じて K を補正し、PWTT 短縮のうち「血管側に由来する分」を一回拍出量の増加として数えないようにする。</a:t>
            </a:r>
          </a:p>
          <a:p/>
          <a:p>
            <a:r>
              <a:t>麻酔中のデータは少ない。もしかしたら絶対値よりも、個人内での変化 ΔSI・ΔRI といった基準のほうが、より esCCO 誤差と関連するかもしれない——これは本提案の中心的な作業仮説であり、「ベースラインからの相対変化 Δ を追う」という設計原則は、加齢交絡に対する防御にもなっている（数十分の麻酔中に加齢は進まない）。</a:t>
            </a:r>
          </a:p>
          <a:p/>
          <a:p>
            <a:r>
              <a:t>補正関数の形（線形か、SI と RI の積か、Ea の代理量を経由するか）は未決定であり、データから決めるのではなく、事前に決めた形を検証する設計にすべきである（4.6 参照）。</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① 追加センサを必要としない。SI・RI は PWTT の算出に使っているのと同一の SpO₂ センサの同一信号から計算できる。PWTT 最大の美点である『追加コストゼロ』を損なわない。追加センサ（ICG・SCG・PCG・動脈ライン）を前提とする解決策は、この点で最初から性質が異なる。</a:t>
            </a:r>
          </a:p>
          <a:p/>
          <a:p>
            <a:r>
              <a:t>② AGC 耐性。臨床モニタの自動ゲイン制御は振幅の絶対値を破壊するが、同一波形内の振幅比は保存する。RI は同一拍内の P2/P1 比であり、この条件を満たす。SI は時間の量なので、そもそも振幅に依存しない。</a:t>
            </a:r>
          </a:p>
          <a:p/>
          <a:p>
            <a:r>
              <a:t>③ 交絡している当の変数を直接測る。esCCO の誤差は SVR・Ea と相関していた。RI は反射・トーヌス成分（Z_L 側）、SI はスティフネス成分（Zc 側）を映すので、後負荷を二軸に分けて捉えられる。単一のスカラー補正より情報量が多い。</a:t>
            </a:r>
          </a:p>
          <a:p/>
          <a:p>
            <a:r>
              <a:t>④ 個人内 Δ を追うので絶対較正が要らない。校正不要で、加齢のような慢性因子の個人差に強い。</a:t>
            </a:r>
          </a:p>
          <a:p/>
          <a:p>
            <a:r>
              <a:t>⑤ 実装はアルゴリズム側の変更にとどまる。既存の esCCO 搭載機が取得している信号だけで完結するため、ハードウェアの追加なしに後付けできる。</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① 時間スケールの不一致。SI・RI は本来、安静時被験者で半ば慢性の血管特性を評価する指標として検証されており、一拍ごとの急性 SVR／前負荷変動をリアルタイムに追う用途は未検証である。術中の急性トーヌス変化には、従来は切痕位置・幅や SDPPG の d/a が対応しやすいとされてきた。</a:t>
            </a:r>
          </a:p>
          <a:p/>
          <a:p>
            <a:r>
              <a:t>② HR 交絡。振幅比である RI は心拍数の交絡を受けやすく（HR↑ → RI↓）、PPG の RI に確立した補正式はない。時間指標である SI のほうが交絡に強い。周術期のように HR が大きく動く状況では、HR 補正（AIx@75 に倣う正規化）と SI 併用が要る。RI は必ず HR と併記して解釈する。</a:t>
            </a:r>
          </a:p>
          <a:p/>
          <a:p>
            <a:r>
              <a:t>③ SI は血圧依存。SI は大動脈 PWV の代用だが、PWV 自体が測定時の伸展圧（血圧）に強く依存する。低い血圧では壁の張力をエラスチンが負担し、血圧が上がるほど、より硬いコラーゲンが荷重を担うため、同じ血管でも『今の血圧』が高いほど硬く測れる。したがって SI 単独では、慢性のスティフネスと急性の血圧上昇を分離できない。</a:t>
            </a:r>
          </a:p>
          <a:p/>
          <a:p>
            <a:r>
              <a:t>④ 局所か全身か。指尖の反射が局所トーヌスを見ているのか全身 SVR を見ているのかは曖昧で、指尖 PPG と SVR の相関は中等度にとどまる（Middleton 2011: r = 0.54）。Lee 2011 では RI 単独での SVR 3 群分類は κ = 0.33 にすぎない。多部位・相対変化での解釈が要る。</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① 波形そのものが取れない場面がある。加齢・高スティフネスでは反射波が早期帰還して収縮期に融合し、波形が一峰性化して肉眼的に P2 が消える。末梢循環不全・低灌流・体動でも同様に P1・P2 の同定が難しい。二次微分（SDPPG）で潜在的な変曲点を極値として顕在化させる回避策はあるが、その場合は第3章で見た SDPPG 側の限界（HR 交絡・臓器障害との関連の弱さ）を引き受けることになる。</a:t>
            </a:r>
          </a:p>
          <a:p/>
          <a:p>
            <a:r>
              <a:t>② 帯域制限。SDPPG の c 波・d 波に対する主要な脅威は AGC ではなくバンドパスフィルタリングである。臨床モニタの表示波形がどの帯域で処理されているかによって、P2・d/a が計算可能かどうかが決まる。この検証は本提案の成立条件そのものであり、最初に確認すべき事項である。</a:t>
            </a:r>
          </a:p>
          <a:p/>
          <a:p>
            <a:r>
              <a:t>③ 過学習。補正項を増やせば当てはまりが良くなるのは当然であり、それだけでは意味がない。事前に決めた形の補正が、事前に予測した場面（昇圧薬投与時）で効くか、を問う設計にする必要がある。交差検証と、独立サブグループでの検証を最初から設計に組み込む。</a:t>
            </a:r>
          </a:p>
          <a:p/>
          <a:p>
            <a:r>
              <a:t>④ 麻酔中のデータが少ない。SI・RI の術中挙動そのものの記述的データが不足しており、まずその蓄積が要る。</a:t>
            </a:r>
          </a:p>
          <a:p/>
          <a:p>
            <a:r>
              <a:t>先行研究との差分：PAT を心臓由来区間と血管由来区間に分割する試みは Beutel 2021 がある（手法により追加センサを要する）。本提案の新規性は個々の要素ではなく、①PWTT による SV 推定、②PPG 形態指標による血管状態評価、③後者で前者の較正係数を補正する、の三要素を一つのセンサ上で統合する点にある。ただしこの新規性の主張は暫定的で、系統的な先行研究・特許検索で確定させる必要がある。</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仮説である以上、どうなったら間違いと認めるかを先に決めておく必要がある。</a:t>
            </a:r>
          </a:p>
          <a:p/>
          <a:p>
            <a:r>
              <a:t>段階 0：臨床モニタの表示波形から SI・RI（必要なら SDPPG の d/a・e/a）が安定して計算できるか。データは Vital Recorder による実波形取得。帯域制限により P2 や c・d 波が判別できなければ、この時点で提案は成立しない。段階 0 が最初に来ることが重要である。信号が取れなければ以降の議論は無意味であり、ここに最も早く到達すべきである。</a:t>
            </a:r>
          </a:p>
          <a:p/>
          <a:p>
            <a:r>
              <a:t>段階 1：esCCO の誤差は SI・RI で説明できるか。データは VitalDB 公開データセット（心拍出量参照値をもつ症例）。誤差と形態指標の間に有意な関係がなければ棄却。</a:t>
            </a:r>
          </a:p>
          <a:p/>
          <a:p>
            <a:r>
              <a:t>段階 2：補正後に誤差率は改善するか。同上データで交差検証。誤差率が改善しない、または過学習で悪化すれば棄却。目標は誤差率 47% を Critchley 基準（±30%）へどこまで近づけられるか。</a:t>
            </a:r>
          </a:p>
          <a:p/>
          <a:p>
            <a:r>
              <a:t>段階 3：昇圧薬投与という最も誤る場面で改善するか。昇圧薬使用症例のサブグループで検証。当該場面で改善しなければ、実用上の意義はない。</a:t>
            </a:r>
          </a:p>
          <a:p/>
          <a:p>
            <a:r>
              <a:t>参照基準は熱希釈法（可能なら Ea も算出）。広島大学で蓄積されている術中 esCCO データがあれば、段階 1・3 は後ろ向きでも着手できる可能性がある。</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a:t>
            </a:r>
          </a:p>
          <a:p>
            <a:r>
              <a:t>① esCCO の誤差は、全身血管抵抗および動脈エラスタンスと系統的に相関する。系統的な誤差は、原理的には補正可能である。</a:t>
            </a:r>
          </a:p>
          <a:p>
            <a:r>
              <a:t>② 誤差の機序は、後負荷上昇時に PEP 延長と VTT 短縮が相殺し、かつ真の一回拍出量が低下することにある。</a:t>
            </a:r>
          </a:p>
          <a:p>
            <a:r>
              <a:t>③ 提案は、同一の光電容積脈波から得られる形態指標（SI・RI）で較正係数 K を動的に補正することである。SI が大血管スティフネス（時間軸）、RI が末梢トーヌス（高さ軸）を担う。</a:t>
            </a:r>
          </a:p>
          <a:p>
            <a:r>
              <a:t>④ 成立の前提は、臨床モニタの帯域制限下でも SI・RI が計算できることである。これが最初に確認すべき事項であり、否定されれば提案は成立しない。</a:t>
            </a:r>
          </a:p>
          <a:p>
            <a:r>
              <a:t>⑤ 新規性の主張は暫定的であり、系統的な先行研究・特許検索によって確定させる必要がある。</a:t>
            </a:r>
          </a:p>
          <a:p/>
          <a:p>
            <a:r>
              <a:t>本資料は研究上の作業仮説の提示であり、検証されていない。臨床上の意思決定に用いてはならない。因果的記述の多くはモデル・外挿に基づくものであり、実測 PPG での検証を経ていない。</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が心拍出量測定法の代替可否の許容基準（誤差率 ±30%）、41 が後負荷と収縮時間、42 が心室・動脈カップリング、43 が PAT 分割の先行研究、44・45 が指尖 PPG と SVR、46 が SI／PWV の血圧依存。</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BB1DD5-1A16-1A60-20AF-B5EED0CFCF2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8A4C9E5-FD63-3236-24F5-FC748686EB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3E335F1-834C-BABF-045C-355CCB0A42FF}"/>
              </a:ext>
            </a:extLst>
          </p:cNvPr>
          <p:cNvSpPr>
            <a:spLocks noGrp="1"/>
          </p:cNvSpPr>
          <p:nvPr>
            <p:ph type="dt" sz="half" idx="10"/>
          </p:nvPr>
        </p:nvSpPr>
        <p:spPr/>
        <p:txBody>
          <a:bodyPr/>
          <a:lstStyle/>
          <a:p>
            <a:fld id="{64C99FAD-9CFF-A945-A4B4-00DC82096DC7}" type="datetimeFigureOut">
              <a:rPr kumimoji="1" lang="ja-JP" altLang="en-US" smtClean="0"/>
              <a:t>2026/8/14</a:t>
            </a:fld>
            <a:endParaRPr kumimoji="1" lang="ja-JP" altLang="en-US"/>
          </a:p>
        </p:txBody>
      </p:sp>
      <p:sp>
        <p:nvSpPr>
          <p:cNvPr id="5" name="フッター プレースホルダー 4">
            <a:extLst>
              <a:ext uri="{FF2B5EF4-FFF2-40B4-BE49-F238E27FC236}">
                <a16:creationId xmlns:a16="http://schemas.microsoft.com/office/drawing/2014/main" id="{FAFDC9A0-3B96-460D-AAB9-FC66E94BBED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7B83DAC-4DD6-08ED-9DCA-53A6DDC0671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923659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609514-4D53-EA77-F63A-42232F85E86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96EA3DF-4DF3-4992-2DA5-D0DB3DB82D6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80B6BE-5CB3-C4BE-E076-4A49EC4E4922}"/>
              </a:ext>
            </a:extLst>
          </p:cNvPr>
          <p:cNvSpPr>
            <a:spLocks noGrp="1"/>
          </p:cNvSpPr>
          <p:nvPr>
            <p:ph type="dt" sz="half" idx="10"/>
          </p:nvPr>
        </p:nvSpPr>
        <p:spPr/>
        <p:txBody>
          <a:bodyPr/>
          <a:lstStyle/>
          <a:p>
            <a:fld id="{64C99FAD-9CFF-A945-A4B4-00DC82096DC7}" type="datetimeFigureOut">
              <a:rPr kumimoji="1" lang="ja-JP" altLang="en-US" smtClean="0"/>
              <a:t>2026/8/14</a:t>
            </a:fld>
            <a:endParaRPr kumimoji="1" lang="ja-JP" altLang="en-US"/>
          </a:p>
        </p:txBody>
      </p:sp>
      <p:sp>
        <p:nvSpPr>
          <p:cNvPr id="5" name="フッター プレースホルダー 4">
            <a:extLst>
              <a:ext uri="{FF2B5EF4-FFF2-40B4-BE49-F238E27FC236}">
                <a16:creationId xmlns:a16="http://schemas.microsoft.com/office/drawing/2014/main" id="{CEF0FD92-12CD-409B-1CEB-389EE2162B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316860B-2AFE-23CB-BE82-66E8FF319C6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00406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10785A-59BF-2065-B8A1-EBEAADF6A190}"/>
              </a:ext>
            </a:extLst>
          </p:cNvPr>
          <p:cNvSpPr>
            <a:spLocks noGrp="1"/>
          </p:cNvSpPr>
          <p:nvPr>
            <p:ph type="title"/>
          </p:nvPr>
        </p:nvSpPr>
        <p:spPr>
          <a:noFill/>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068DAE1-7483-C30B-E035-FB6DBF4EC39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1C75BA9-652B-2D4F-9F17-725B5935BFBE}"/>
              </a:ext>
            </a:extLst>
          </p:cNvPr>
          <p:cNvSpPr>
            <a:spLocks noGrp="1"/>
          </p:cNvSpPr>
          <p:nvPr>
            <p:ph type="dt" sz="half" idx="10"/>
          </p:nvPr>
        </p:nvSpPr>
        <p:spPr/>
        <p:txBody>
          <a:bodyPr/>
          <a:lstStyle/>
          <a:p>
            <a:fld id="{A73D7EA1-97A8-0545-955B-06694759B3F9}" type="datetimeFigureOut">
              <a:rPr kumimoji="1" lang="ja-JP" altLang="en-US" smtClean="0"/>
              <a:t>2026/8/14</a:t>
            </a:fld>
            <a:endParaRPr kumimoji="1" lang="ja-JP" altLang="en-US"/>
          </a:p>
        </p:txBody>
      </p:sp>
      <p:sp>
        <p:nvSpPr>
          <p:cNvPr id="5" name="フッター プレースホルダー 4">
            <a:extLst>
              <a:ext uri="{FF2B5EF4-FFF2-40B4-BE49-F238E27FC236}">
                <a16:creationId xmlns:a16="http://schemas.microsoft.com/office/drawing/2014/main" id="{437D5B95-0BF5-1A66-4B43-3005CBFD36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F6633EE-B940-40F0-810F-74E7411441EC}"/>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1588CBBB-9AF3-0B69-57D8-03EC6E25D148}"/>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0283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64E0C8-3610-C864-7B17-EEEE201544C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AE91662-1152-EA17-B236-CF25E975C4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A0A7F96-49A0-58F6-DA2B-01B201036C46}"/>
              </a:ext>
            </a:extLst>
          </p:cNvPr>
          <p:cNvSpPr>
            <a:spLocks noGrp="1"/>
          </p:cNvSpPr>
          <p:nvPr>
            <p:ph type="dt" sz="half" idx="10"/>
          </p:nvPr>
        </p:nvSpPr>
        <p:spPr/>
        <p:txBody>
          <a:bodyPr/>
          <a:lstStyle/>
          <a:p>
            <a:fld id="{64C99FAD-9CFF-A945-A4B4-00DC82096DC7}" type="datetimeFigureOut">
              <a:rPr kumimoji="1" lang="ja-JP" altLang="en-US" smtClean="0"/>
              <a:t>2026/8/14</a:t>
            </a:fld>
            <a:endParaRPr kumimoji="1" lang="ja-JP" altLang="en-US"/>
          </a:p>
        </p:txBody>
      </p:sp>
      <p:sp>
        <p:nvSpPr>
          <p:cNvPr id="5" name="フッター プレースホルダー 4">
            <a:extLst>
              <a:ext uri="{FF2B5EF4-FFF2-40B4-BE49-F238E27FC236}">
                <a16:creationId xmlns:a16="http://schemas.microsoft.com/office/drawing/2014/main" id="{A096A423-4B04-3CED-2E70-E49F08F7F7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EF4DCE-A44E-3C9F-B1F7-D59EAF8437DC}"/>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098951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5718C9-086A-D1B4-DD68-4C9B73A0AAD9}"/>
              </a:ext>
            </a:extLst>
          </p:cNvPr>
          <p:cNvSpPr>
            <a:spLocks noGrp="1"/>
          </p:cNvSpPr>
          <p:nvPr>
            <p:ph type="title"/>
          </p:nvPr>
        </p:nvSpPr>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DED73AC-1557-B634-8F9F-5C5723BC5F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DF23024-122B-1FCF-C2E0-B59E059D445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2521A9A-6B13-05C5-5C9D-3D6E125037F3}"/>
              </a:ext>
            </a:extLst>
          </p:cNvPr>
          <p:cNvSpPr>
            <a:spLocks noGrp="1"/>
          </p:cNvSpPr>
          <p:nvPr>
            <p:ph type="dt" sz="half" idx="10"/>
          </p:nvPr>
        </p:nvSpPr>
        <p:spPr/>
        <p:txBody>
          <a:bodyPr/>
          <a:lstStyle/>
          <a:p>
            <a:fld id="{A73D7EA1-97A8-0545-955B-06694759B3F9}" type="datetimeFigureOut">
              <a:rPr kumimoji="1" lang="ja-JP" altLang="en-US" smtClean="0"/>
              <a:t>2026/8/14</a:t>
            </a:fld>
            <a:endParaRPr kumimoji="1" lang="ja-JP" altLang="en-US"/>
          </a:p>
        </p:txBody>
      </p:sp>
      <p:sp>
        <p:nvSpPr>
          <p:cNvPr id="6" name="フッター プレースホルダー 5">
            <a:extLst>
              <a:ext uri="{FF2B5EF4-FFF2-40B4-BE49-F238E27FC236}">
                <a16:creationId xmlns:a16="http://schemas.microsoft.com/office/drawing/2014/main" id="{153A542A-A56B-777E-3F1D-A1708CE104F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0417F42-A65D-CC2D-BF13-1F280C6F77DB}"/>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9" name="直線コネクタ 8">
            <a:extLst>
              <a:ext uri="{FF2B5EF4-FFF2-40B4-BE49-F238E27FC236}">
                <a16:creationId xmlns:a16="http://schemas.microsoft.com/office/drawing/2014/main" id="{937BC2D1-3F82-EF81-D97A-7D3AE2FE202A}"/>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9009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7388CD-1FFB-31F3-C7DB-E3B5FD10D4B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FC6DE23-D275-4370-BD5A-480D95CE28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D690AA4-E9AA-B485-AD6C-1C2878DAD19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8E67483-14AB-067C-B7B7-2EA7516092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65BB0C7-C880-82CA-51CD-8FE569A9A82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B768951-A05B-F317-444E-B2396EBCE859}"/>
              </a:ext>
            </a:extLst>
          </p:cNvPr>
          <p:cNvSpPr>
            <a:spLocks noGrp="1"/>
          </p:cNvSpPr>
          <p:nvPr>
            <p:ph type="dt" sz="half" idx="10"/>
          </p:nvPr>
        </p:nvSpPr>
        <p:spPr/>
        <p:txBody>
          <a:bodyPr/>
          <a:lstStyle/>
          <a:p>
            <a:fld id="{64C99FAD-9CFF-A945-A4B4-00DC82096DC7}" type="datetimeFigureOut">
              <a:rPr kumimoji="1" lang="ja-JP" altLang="en-US" smtClean="0"/>
              <a:t>2026/8/14</a:t>
            </a:fld>
            <a:endParaRPr kumimoji="1" lang="ja-JP" altLang="en-US"/>
          </a:p>
        </p:txBody>
      </p:sp>
      <p:sp>
        <p:nvSpPr>
          <p:cNvPr id="8" name="フッター プレースホルダー 7">
            <a:extLst>
              <a:ext uri="{FF2B5EF4-FFF2-40B4-BE49-F238E27FC236}">
                <a16:creationId xmlns:a16="http://schemas.microsoft.com/office/drawing/2014/main" id="{9818A5DB-3180-023B-135D-27BD785A8DB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9B93B53-35E3-07DA-9CCC-A402E6685B0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557670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B883C7-DD58-5055-62BC-9EDA06590C4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D0DB5EC-BDE0-34D0-DA77-D4DB1A3B6F12}"/>
              </a:ext>
            </a:extLst>
          </p:cNvPr>
          <p:cNvSpPr>
            <a:spLocks noGrp="1"/>
          </p:cNvSpPr>
          <p:nvPr>
            <p:ph type="dt" sz="half" idx="10"/>
          </p:nvPr>
        </p:nvSpPr>
        <p:spPr/>
        <p:txBody>
          <a:bodyPr/>
          <a:lstStyle/>
          <a:p>
            <a:fld id="{64C99FAD-9CFF-A945-A4B4-00DC82096DC7}" type="datetimeFigureOut">
              <a:rPr kumimoji="1" lang="ja-JP" altLang="en-US" smtClean="0"/>
              <a:t>2026/8/14</a:t>
            </a:fld>
            <a:endParaRPr kumimoji="1" lang="ja-JP" altLang="en-US"/>
          </a:p>
        </p:txBody>
      </p:sp>
      <p:sp>
        <p:nvSpPr>
          <p:cNvPr id="4" name="フッター プレースホルダー 3">
            <a:extLst>
              <a:ext uri="{FF2B5EF4-FFF2-40B4-BE49-F238E27FC236}">
                <a16:creationId xmlns:a16="http://schemas.microsoft.com/office/drawing/2014/main" id="{AC03656C-86B7-4C15-7BA3-B3B601F88C4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5CBC942-C4B6-A5DA-4F52-C029DAE94702}"/>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57542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27ED450-F690-B038-0094-3555581065A9}"/>
              </a:ext>
            </a:extLst>
          </p:cNvPr>
          <p:cNvSpPr>
            <a:spLocks noGrp="1"/>
          </p:cNvSpPr>
          <p:nvPr>
            <p:ph type="dt" sz="half" idx="10"/>
          </p:nvPr>
        </p:nvSpPr>
        <p:spPr/>
        <p:txBody>
          <a:bodyPr/>
          <a:lstStyle/>
          <a:p>
            <a:fld id="{64C99FAD-9CFF-A945-A4B4-00DC82096DC7}" type="datetimeFigureOut">
              <a:rPr kumimoji="1" lang="ja-JP" altLang="en-US" smtClean="0"/>
              <a:t>2026/8/14</a:t>
            </a:fld>
            <a:endParaRPr kumimoji="1" lang="ja-JP" altLang="en-US"/>
          </a:p>
        </p:txBody>
      </p:sp>
      <p:sp>
        <p:nvSpPr>
          <p:cNvPr id="3" name="フッター プレースホルダー 2">
            <a:extLst>
              <a:ext uri="{FF2B5EF4-FFF2-40B4-BE49-F238E27FC236}">
                <a16:creationId xmlns:a16="http://schemas.microsoft.com/office/drawing/2014/main" id="{215B6823-52A0-CD63-36F2-D393CFBAD4C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8CFD362-AD76-FE16-43FF-BF50D783C22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3018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AC8FEB-313E-1A23-E039-1FD7BC55147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58DE601-91D4-BA5F-BDED-C48ED34A96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6301970-4A10-1455-4740-658C137B58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1B49241-62A1-1BE7-9708-63D789B8A049}"/>
              </a:ext>
            </a:extLst>
          </p:cNvPr>
          <p:cNvSpPr>
            <a:spLocks noGrp="1"/>
          </p:cNvSpPr>
          <p:nvPr>
            <p:ph type="dt" sz="half" idx="10"/>
          </p:nvPr>
        </p:nvSpPr>
        <p:spPr/>
        <p:txBody>
          <a:bodyPr/>
          <a:lstStyle/>
          <a:p>
            <a:fld id="{64C99FAD-9CFF-A945-A4B4-00DC82096DC7}" type="datetimeFigureOut">
              <a:rPr kumimoji="1" lang="ja-JP" altLang="en-US" smtClean="0"/>
              <a:t>2026/8/14</a:t>
            </a:fld>
            <a:endParaRPr kumimoji="1" lang="ja-JP" altLang="en-US"/>
          </a:p>
        </p:txBody>
      </p:sp>
      <p:sp>
        <p:nvSpPr>
          <p:cNvPr id="6" name="フッター プレースホルダー 5">
            <a:extLst>
              <a:ext uri="{FF2B5EF4-FFF2-40B4-BE49-F238E27FC236}">
                <a16:creationId xmlns:a16="http://schemas.microsoft.com/office/drawing/2014/main" id="{18D7AE81-D6E0-B1A1-B87D-C06575CF96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92F107A-897F-811D-10D8-251DF9C7C7B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2951925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7E2A16-725A-923D-2398-0748807BDF5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341C8C2-22C2-0735-C719-9C480705C8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7A762707-D34C-FFF3-F523-CC41D9BBB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3B0758A-0126-79D7-6E8A-D1F16CA2555A}"/>
              </a:ext>
            </a:extLst>
          </p:cNvPr>
          <p:cNvSpPr>
            <a:spLocks noGrp="1"/>
          </p:cNvSpPr>
          <p:nvPr>
            <p:ph type="dt" sz="half" idx="10"/>
          </p:nvPr>
        </p:nvSpPr>
        <p:spPr/>
        <p:txBody>
          <a:bodyPr/>
          <a:lstStyle/>
          <a:p>
            <a:fld id="{64C99FAD-9CFF-A945-A4B4-00DC82096DC7}" type="datetimeFigureOut">
              <a:rPr kumimoji="1" lang="ja-JP" altLang="en-US" smtClean="0"/>
              <a:t>2026/8/14</a:t>
            </a:fld>
            <a:endParaRPr kumimoji="1" lang="ja-JP" altLang="en-US"/>
          </a:p>
        </p:txBody>
      </p:sp>
      <p:sp>
        <p:nvSpPr>
          <p:cNvPr id="6" name="フッター プレースホルダー 5">
            <a:extLst>
              <a:ext uri="{FF2B5EF4-FFF2-40B4-BE49-F238E27FC236}">
                <a16:creationId xmlns:a16="http://schemas.microsoft.com/office/drawing/2014/main" id="{D356DEE3-FF23-C461-2CDC-6EE451E78D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0889527-DA9C-DD5E-F8C5-7BA97C20C493}"/>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54564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F78201-368B-B21B-3515-CD75CA99C60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B298458-2860-EDE4-A6A1-B909945E445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0C12A1F-E8C6-279E-3702-8D2ABDBF6ED7}"/>
              </a:ext>
            </a:extLst>
          </p:cNvPr>
          <p:cNvSpPr>
            <a:spLocks noGrp="1"/>
          </p:cNvSpPr>
          <p:nvPr>
            <p:ph type="dt" sz="half" idx="10"/>
          </p:nvPr>
        </p:nvSpPr>
        <p:spPr/>
        <p:txBody>
          <a:bodyPr/>
          <a:lstStyle/>
          <a:p>
            <a:fld id="{64C99FAD-9CFF-A945-A4B4-00DC82096DC7}" type="datetimeFigureOut">
              <a:rPr kumimoji="1" lang="ja-JP" altLang="en-US" smtClean="0"/>
              <a:t>2026/8/14</a:t>
            </a:fld>
            <a:endParaRPr kumimoji="1" lang="ja-JP" altLang="en-US"/>
          </a:p>
        </p:txBody>
      </p:sp>
      <p:sp>
        <p:nvSpPr>
          <p:cNvPr id="5" name="フッター プレースホルダー 4">
            <a:extLst>
              <a:ext uri="{FF2B5EF4-FFF2-40B4-BE49-F238E27FC236}">
                <a16:creationId xmlns:a16="http://schemas.microsoft.com/office/drawing/2014/main" id="{1A895D9E-AB19-209A-271D-B608230A1B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7E1F434-D8A1-EF22-053D-975724C5957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747549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 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6934F63-3C4A-7B03-891B-E58C9EA8E71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A287C40-F8A5-5185-5289-BD6F4927388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4E29567-34C3-408A-FF69-904DA4E14F34}"/>
              </a:ext>
            </a:extLst>
          </p:cNvPr>
          <p:cNvSpPr>
            <a:spLocks noGrp="1"/>
          </p:cNvSpPr>
          <p:nvPr>
            <p:ph type="dt" sz="half" idx="10"/>
          </p:nvPr>
        </p:nvSpPr>
        <p:spPr/>
        <p:txBody>
          <a:bodyPr/>
          <a:lstStyle/>
          <a:p>
            <a:fld id="{64C99FAD-9CFF-A945-A4B4-00DC82096DC7}" type="datetimeFigureOut">
              <a:rPr kumimoji="1" lang="ja-JP" altLang="en-US" smtClean="0"/>
              <a:t>2026/8/14</a:t>
            </a:fld>
            <a:endParaRPr kumimoji="1" lang="ja-JP" altLang="en-US"/>
          </a:p>
        </p:txBody>
      </p:sp>
      <p:sp>
        <p:nvSpPr>
          <p:cNvPr id="5" name="フッター プレースホルダー 4">
            <a:extLst>
              <a:ext uri="{FF2B5EF4-FFF2-40B4-BE49-F238E27FC236}">
                <a16:creationId xmlns:a16="http://schemas.microsoft.com/office/drawing/2014/main" id="{45F29D42-3054-9D88-7ED1-821F898FF8C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E444BA-BF3C-F39D-027D-995CD9803464}"/>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8474604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3EDAF73-0985-4932-CF4F-43C22E9DBE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A33A57B-39B7-8230-92F1-93C62ADD8B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2802F8-0984-5FCE-8D31-D5E22B3FB0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C99FAD-9CFF-A945-A4B4-00DC82096DC7}" type="datetimeFigureOut">
              <a:rPr kumimoji="1" lang="ja-JP" altLang="en-US" smtClean="0"/>
              <a:t>2026/8/14</a:t>
            </a:fld>
            <a:endParaRPr kumimoji="1" lang="ja-JP" altLang="en-US"/>
          </a:p>
        </p:txBody>
      </p:sp>
      <p:sp>
        <p:nvSpPr>
          <p:cNvPr id="5" name="フッター プレースホルダー 4">
            <a:extLst>
              <a:ext uri="{FF2B5EF4-FFF2-40B4-BE49-F238E27FC236}">
                <a16:creationId xmlns:a16="http://schemas.microsoft.com/office/drawing/2014/main" id="{45D0B7D1-B6C1-E9C8-4751-E2D7714B0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2583EDD-12F7-AD8E-CC21-18FE39582D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49843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png"/><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8.pn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0.pn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9.png"/><Relationship Id="rId4" Type="http://schemas.openxmlformats.org/officeDocument/2006/relationships/image" Target="../media/image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3.png"/><Relationship Id="rId4" Type="http://schemas.openxmlformats.org/officeDocument/2006/relationships/image" Target="../media/image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06F4D-CC38-C2F8-0A88-B7AF90ADD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00115-DF01-9B57-B621-2A10CF5BA13B}"/>
              </a:ext>
            </a:extLst>
          </p:cNvPr>
          <p:cNvSpPr>
            <a:spLocks noGrp="1"/>
          </p:cNvSpPr>
          <p:nvPr>
            <p:ph type="ctrTitle"/>
          </p:nvPr>
        </p:nvSpPr>
        <p:spPr>
          <a:xfrm>
            <a:off x="517460" y="1191722"/>
            <a:ext cx="11157079" cy="3303864"/>
          </a:xfrm>
        </p:spPr>
        <p:txBody>
          <a:bodyPr>
            <a:noAutofit/>
          </a:bodyPr>
          <a:lstStyle/>
          <a:p>
            <a:pPr>
              <a:lnSpc>
                <a:spcPct val="150000"/>
              </a:lnSpc>
              <a:spcAft>
                <a:spcPts val="600"/>
              </a:spcAft>
            </a:pPr>
            <a:r>
              <a:rPr lang="en-US" sz="4800" b="1" dirty="0" err="1">
                <a:solidFill>
                  <a:srgbClr val="262626"/>
                </a:solidFill>
                <a:latin typeface="Meiryo"/>
                <a:ea typeface="Meiryo"/>
                <a:cs typeface="Meiryo"/>
              </a:rPr>
              <a:t>光電式容積脈波記録法：PhotoPlethysmoGraphy</a:t>
            </a:r>
            <a:r>
              <a:rPr lang="en-US" sz="4800" b="1" dirty="0">
                <a:solidFill>
                  <a:srgbClr val="262626"/>
                </a:solidFill>
                <a:latin typeface="Meiryo"/>
                <a:ea typeface="Meiryo"/>
                <a:cs typeface="Meiryo"/>
              </a:rPr>
              <a:t>（</a:t>
            </a:r>
            <a:r>
              <a:rPr lang="en" altLang="ja-JP" sz="4800" b="1" dirty="0">
                <a:solidFill>
                  <a:srgbClr val="262626"/>
                </a:solidFill>
                <a:latin typeface="Meiryo"/>
                <a:ea typeface="Meiryo"/>
                <a:cs typeface="Meiryo"/>
              </a:rPr>
              <a:t> PPG </a:t>
            </a:r>
            <a:r>
              <a:rPr lang="en-US" sz="4800" b="1" dirty="0">
                <a:solidFill>
                  <a:srgbClr val="262626"/>
                </a:solidFill>
                <a:latin typeface="Meiryo"/>
                <a:ea typeface="Meiryo"/>
                <a:cs typeface="Meiryo"/>
              </a:rPr>
              <a:t>）</a:t>
            </a:r>
            <a:br>
              <a:rPr lang="en-US" sz="4800" b="1" dirty="0">
                <a:solidFill>
                  <a:srgbClr val="262626"/>
                </a:solidFill>
                <a:latin typeface="Meiryo"/>
                <a:ea typeface="Meiryo"/>
                <a:cs typeface="Meiryo"/>
              </a:rPr>
            </a:br>
            <a:r>
              <a:rPr sz="4800" b="1" dirty="0" err="1">
                <a:solidFill>
                  <a:srgbClr val="262626"/>
                </a:solidFill>
                <a:latin typeface="Meiryo"/>
                <a:ea typeface="Meiryo"/>
                <a:cs typeface="Meiryo"/>
              </a:rPr>
              <a:t>波形解析</a:t>
            </a:r>
            <a:r>
              <a:rPr lang="ja-JP" altLang="en-US" sz="4800" b="1">
                <a:solidFill>
                  <a:srgbClr val="262626"/>
                </a:solidFill>
                <a:latin typeface="Meiryo"/>
                <a:ea typeface="Meiryo"/>
                <a:cs typeface="Meiryo"/>
              </a:rPr>
              <a:t>について</a:t>
            </a:r>
            <a:endParaRPr sz="4800" b="1" dirty="0">
              <a:solidFill>
                <a:srgbClr val="262626"/>
              </a:solidFill>
              <a:latin typeface="Meiryo"/>
              <a:ea typeface="Meiryo"/>
              <a:cs typeface="Meiryo"/>
            </a:endParaRPr>
          </a:p>
        </p:txBody>
      </p:sp>
      <p:sp>
        <p:nvSpPr>
          <p:cNvPr id="3" name="Subtitle 2">
            <a:extLst>
              <a:ext uri="{FF2B5EF4-FFF2-40B4-BE49-F238E27FC236}">
                <a16:creationId xmlns:a16="http://schemas.microsoft.com/office/drawing/2014/main" id="{68FAD383-7C85-64B8-3A0D-6A86EE5DD97D}"/>
              </a:ext>
            </a:extLst>
          </p:cNvPr>
          <p:cNvSpPr>
            <a:spLocks noGrp="1"/>
          </p:cNvSpPr>
          <p:nvPr>
            <p:ph type="subTitle" idx="1"/>
          </p:nvPr>
        </p:nvSpPr>
        <p:spPr>
          <a:xfrm>
            <a:off x="1511999" y="4015274"/>
            <a:ext cx="9144000" cy="1655762"/>
          </a:xfrm>
        </p:spPr>
        <p:txBody>
          <a:bodyPr>
            <a:normAutofit/>
          </a:bodyPr>
          <a:lstStyle/>
          <a:p>
            <a:pPr algn="ctr">
              <a:spcAft>
                <a:spcPts val="400"/>
              </a:spcAft>
            </a:pPr>
            <a:endParaRPr lang="en-US" sz="2200" b="0" dirty="0">
              <a:solidFill>
                <a:srgbClr val="808080"/>
              </a:solidFill>
              <a:latin typeface="Meiryo"/>
              <a:ea typeface="Meiryo"/>
              <a:cs typeface="Meiryo"/>
            </a:endParaRPr>
          </a:p>
          <a:p>
            <a:pPr algn="ctr">
              <a:spcAft>
                <a:spcPts val="400"/>
              </a:spcAft>
            </a:pPr>
            <a:endParaRPr sz="2200" b="0" dirty="0">
              <a:solidFill>
                <a:srgbClr val="808080"/>
              </a:solidFill>
              <a:latin typeface="Meiryo"/>
              <a:ea typeface="Meiryo"/>
              <a:cs typeface="Meiryo"/>
            </a:endParaRPr>
          </a:p>
          <a:p>
            <a:pPr algn="ctr">
              <a:spcAft>
                <a:spcPts val="400"/>
              </a:spcAft>
            </a:pPr>
            <a:r>
              <a:rPr sz="2200" b="0" dirty="0">
                <a:solidFill>
                  <a:srgbClr val="262626"/>
                </a:solidFill>
                <a:latin typeface="Meiryo"/>
                <a:ea typeface="Meiryo"/>
                <a:cs typeface="Meiryo"/>
              </a:rPr>
              <a:t>川副 靖晃</a:t>
            </a:r>
          </a:p>
        </p:txBody>
      </p:sp>
      <p:pic>
        <p:nvPicPr>
          <p:cNvPr id="4" name="Picture 3" descr="01_hero.png">
            <a:extLst>
              <a:ext uri="{FF2B5EF4-FFF2-40B4-BE49-F238E27FC236}">
                <a16:creationId xmlns:a16="http://schemas.microsoft.com/office/drawing/2014/main" id="{41F42534-4E2B-4E55-CF2F-2632C2CEB70C}"/>
              </a:ext>
            </a:extLst>
          </p:cNvPr>
          <p:cNvPicPr>
            <a:picLocks noChangeAspect="1"/>
          </p:cNvPicPr>
          <p:nvPr/>
        </p:nvPicPr>
        <p:blipFill>
          <a:blip r:embed="rId3"/>
          <a:stretch>
            <a:fillRect/>
          </a:stretch>
        </p:blipFill>
        <p:spPr>
          <a:xfrm>
            <a:off x="4744259" y="5580000"/>
            <a:ext cx="2679481" cy="1044000"/>
          </a:xfrm>
          <a:prstGeom prst="rect">
            <a:avLst/>
          </a:prstGeom>
        </p:spPr>
      </p:pic>
    </p:spTree>
    <p:extLst>
      <p:ext uri="{BB962C8B-B14F-4D97-AF65-F5344CB8AC3E}">
        <p14:creationId xmlns:p14="http://schemas.microsoft.com/office/powerpoint/2010/main" val="64890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72ECB-9F6F-AE99-94C6-56000401B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DACE4-668A-D2E2-5CFB-29DB39041AB3}"/>
              </a:ext>
            </a:extLst>
          </p:cNvPr>
          <p:cNvSpPr>
            <a:spLocks noGrp="1"/>
          </p:cNvSpPr>
          <p:nvPr>
            <p:ph type="title"/>
          </p:nvPr>
        </p:nvSpPr>
        <p:spPr/>
        <p:txBody>
          <a:bodyPr/>
          <a:lstStyle/>
          <a:p>
            <a:pPr algn="l"/>
            <a:r>
              <a:rPr sz="4600" dirty="0">
                <a:latin typeface="Meiryo"/>
                <a:ea typeface="Meiryo"/>
                <a:cs typeface="Meiryo"/>
              </a:rPr>
              <a:t>用語の整理</a:t>
            </a:r>
          </a:p>
        </p:txBody>
      </p:sp>
      <p:sp>
        <p:nvSpPr>
          <p:cNvPr id="12" name="Off-page Connector 4">
            <a:extLst>
              <a:ext uri="{FF2B5EF4-FFF2-40B4-BE49-F238E27FC236}">
                <a16:creationId xmlns:a16="http://schemas.microsoft.com/office/drawing/2014/main" id="{32CBB9D4-72FC-CE51-CD8B-FDB4CF9593AC}"/>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BBB0670E-8FB2-AC3B-96A2-C01F2B37CDC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428407F8-90F9-7A3F-9A34-CC570C2CA47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989C7F27-A16F-4EF6-7A91-EB05CEE76A5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17" name="Source">
            <a:extLst>
              <a:ext uri="{FF2B5EF4-FFF2-40B4-BE49-F238E27FC236}">
                <a16:creationId xmlns:a16="http://schemas.microsoft.com/office/drawing/2014/main" id="{37C19857-83F1-BA8D-C641-222B8CF685A6}"/>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2. Aoyagi 2003　／　3. Chan 2013</a:t>
            </a:r>
          </a:p>
        </p:txBody>
      </p:sp>
      <p:sp>
        <p:nvSpPr>
          <p:cNvPr id="18" name="Rounded Rectangle 17">
            <a:extLst>
              <a:ext uri="{FF2B5EF4-FFF2-40B4-BE49-F238E27FC236}">
                <a16:creationId xmlns:a16="http://schemas.microsoft.com/office/drawing/2014/main" id="{150D3D67-74A1-7228-7D80-EA72776A3C77}"/>
              </a:ext>
            </a:extLst>
          </p:cNvPr>
          <p:cNvSpPr/>
          <p:nvPr/>
        </p:nvSpPr>
        <p:spPr>
          <a:xfrm>
            <a:off x="390816" y="2413935"/>
            <a:ext cx="3520440"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a:extLst>
              <a:ext uri="{FF2B5EF4-FFF2-40B4-BE49-F238E27FC236}">
                <a16:creationId xmlns:a16="http://schemas.microsoft.com/office/drawing/2014/main" id="{EAF29409-8F38-B8CA-A09C-2C59E4668EDD}"/>
              </a:ext>
            </a:extLst>
          </p:cNvPr>
          <p:cNvSpPr txBox="1"/>
          <p:nvPr/>
        </p:nvSpPr>
        <p:spPr>
          <a:xfrm>
            <a:off x="573696" y="2642535"/>
            <a:ext cx="3154680" cy="634166"/>
          </a:xfrm>
          <a:prstGeom prst="rect">
            <a:avLst/>
          </a:prstGeom>
          <a:noFill/>
        </p:spPr>
        <p:txBody>
          <a:bodyPr wrap="square" lIns="0" tIns="0" rIns="0" bIns="0" anchor="t">
            <a:spAutoFit/>
          </a:bodyPr>
          <a:lstStyle/>
          <a:p>
            <a:pPr algn="ctr"/>
            <a:r>
              <a:rPr sz="3000" b="1">
                <a:solidFill>
                  <a:srgbClr val="0072B2"/>
                </a:solidFill>
                <a:latin typeface="Meiryo"/>
                <a:ea typeface="Meiryo"/>
                <a:cs typeface="Meiryo"/>
              </a:rPr>
              <a:t>PPG</a:t>
            </a:r>
          </a:p>
        </p:txBody>
      </p:sp>
      <p:sp>
        <p:nvSpPr>
          <p:cNvPr id="20" name="TextBox 19">
            <a:extLst>
              <a:ext uri="{FF2B5EF4-FFF2-40B4-BE49-F238E27FC236}">
                <a16:creationId xmlns:a16="http://schemas.microsoft.com/office/drawing/2014/main" id="{A9EFB892-AC88-D9CB-4EA0-73175B966B30}"/>
              </a:ext>
            </a:extLst>
          </p:cNvPr>
          <p:cNvSpPr txBox="1"/>
          <p:nvPr/>
        </p:nvSpPr>
        <p:spPr>
          <a:xfrm>
            <a:off x="573696" y="3191175"/>
            <a:ext cx="3154680" cy="1330390"/>
          </a:xfrm>
          <a:prstGeom prst="rect">
            <a:avLst/>
          </a:prstGeom>
          <a:noFill/>
        </p:spPr>
        <p:txBody>
          <a:bodyPr wrap="square" lIns="0" tIns="0" rIns="0" bIns="0" anchor="t">
            <a:spAutoFit/>
          </a:bodyPr>
          <a:lstStyle/>
          <a:p>
            <a:pPr algn="ctr">
              <a:spcAft>
                <a:spcPts val="400"/>
              </a:spcAft>
            </a:pPr>
            <a:r>
              <a:rPr lang="ja-JP" altLang="en-US" sz="2300">
                <a:solidFill>
                  <a:srgbClr val="262626"/>
                </a:solidFill>
                <a:latin typeface="Meiryo"/>
                <a:ea typeface="Meiryo"/>
                <a:cs typeface="Meiryo"/>
              </a:rPr>
              <a:t>光により</a:t>
            </a:r>
            <a:r>
              <a:rPr sz="2300" b="0" dirty="0" err="1">
                <a:solidFill>
                  <a:srgbClr val="262626"/>
                </a:solidFill>
                <a:latin typeface="Meiryo"/>
                <a:ea typeface="Meiryo"/>
                <a:cs typeface="Meiryo"/>
              </a:rPr>
              <a:t>血液量変化を</a:t>
            </a:r>
            <a:r>
              <a:rPr lang="ja-JP" altLang="en-US" sz="2300" b="0">
                <a:solidFill>
                  <a:srgbClr val="262626"/>
                </a:solidFill>
                <a:latin typeface="Meiryo"/>
                <a:ea typeface="Meiryo"/>
                <a:cs typeface="Meiryo"/>
              </a:rPr>
              <a:t>検出する脈波測定方法</a:t>
            </a:r>
            <a:endParaRPr sz="2300" b="0" dirty="0">
              <a:solidFill>
                <a:srgbClr val="262626"/>
              </a:solidFill>
              <a:latin typeface="Meiryo"/>
              <a:ea typeface="Meiryo"/>
              <a:cs typeface="Meiryo"/>
            </a:endParaRPr>
          </a:p>
        </p:txBody>
      </p:sp>
      <p:sp>
        <p:nvSpPr>
          <p:cNvPr id="21" name="Right Arrow 20">
            <a:extLst>
              <a:ext uri="{FF2B5EF4-FFF2-40B4-BE49-F238E27FC236}">
                <a16:creationId xmlns:a16="http://schemas.microsoft.com/office/drawing/2014/main" id="{3939B752-9763-B2B9-09FC-A1E798FDBEE1}"/>
              </a:ext>
            </a:extLst>
          </p:cNvPr>
          <p:cNvSpPr/>
          <p:nvPr/>
        </p:nvSpPr>
        <p:spPr>
          <a:xfrm>
            <a:off x="4048416" y="3063159"/>
            <a:ext cx="566928" cy="5029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a:extLst>
              <a:ext uri="{FF2B5EF4-FFF2-40B4-BE49-F238E27FC236}">
                <a16:creationId xmlns:a16="http://schemas.microsoft.com/office/drawing/2014/main" id="{0FE3AB1D-C75F-9871-04EC-479CC7BB067B}"/>
              </a:ext>
            </a:extLst>
          </p:cNvPr>
          <p:cNvSpPr/>
          <p:nvPr/>
        </p:nvSpPr>
        <p:spPr>
          <a:xfrm>
            <a:off x="4752504" y="2413935"/>
            <a:ext cx="3520440" cy="178308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a:extLst>
              <a:ext uri="{FF2B5EF4-FFF2-40B4-BE49-F238E27FC236}">
                <a16:creationId xmlns:a16="http://schemas.microsoft.com/office/drawing/2014/main" id="{33F70F4F-CE63-E23E-79D9-2B0D6F15E6EF}"/>
              </a:ext>
            </a:extLst>
          </p:cNvPr>
          <p:cNvSpPr txBox="1"/>
          <p:nvPr/>
        </p:nvSpPr>
        <p:spPr>
          <a:xfrm>
            <a:off x="4935384" y="2642535"/>
            <a:ext cx="3154680" cy="634166"/>
          </a:xfrm>
          <a:prstGeom prst="rect">
            <a:avLst/>
          </a:prstGeom>
          <a:noFill/>
        </p:spPr>
        <p:txBody>
          <a:bodyPr wrap="square" lIns="0" tIns="0" rIns="0" bIns="0" anchor="t">
            <a:spAutoFit/>
          </a:bodyPr>
          <a:lstStyle/>
          <a:p>
            <a:pPr algn="ctr"/>
            <a:r>
              <a:rPr sz="3000" b="1">
                <a:solidFill>
                  <a:srgbClr val="D55E00"/>
                </a:solidFill>
                <a:latin typeface="Meiryo"/>
                <a:ea typeface="Meiryo"/>
                <a:cs typeface="Meiryo"/>
              </a:rPr>
              <a:t>PPG 波形</a:t>
            </a:r>
          </a:p>
        </p:txBody>
      </p:sp>
      <p:sp>
        <p:nvSpPr>
          <p:cNvPr id="24" name="TextBox 23">
            <a:extLst>
              <a:ext uri="{FF2B5EF4-FFF2-40B4-BE49-F238E27FC236}">
                <a16:creationId xmlns:a16="http://schemas.microsoft.com/office/drawing/2014/main" id="{34F9D872-DF80-C90F-413D-3CB1DE063F97}"/>
              </a:ext>
            </a:extLst>
          </p:cNvPr>
          <p:cNvSpPr txBox="1"/>
          <p:nvPr/>
        </p:nvSpPr>
        <p:spPr>
          <a:xfrm>
            <a:off x="4935384" y="3191175"/>
            <a:ext cx="3154680" cy="956692"/>
          </a:xfrm>
          <a:prstGeom prst="rect">
            <a:avLst/>
          </a:prstGeom>
          <a:noFill/>
        </p:spPr>
        <p:txBody>
          <a:bodyPr wrap="square" lIns="0" tIns="0" rIns="0" bIns="0" anchor="t">
            <a:spAutoFit/>
          </a:bodyPr>
          <a:lstStyle/>
          <a:p>
            <a:pPr algn="ctr">
              <a:spcAft>
                <a:spcPts val="400"/>
              </a:spcAft>
            </a:pPr>
            <a:r>
              <a:rPr sz="2300" b="0">
                <a:solidFill>
                  <a:srgbClr val="262626"/>
                </a:solidFill>
                <a:latin typeface="Meiryo"/>
                <a:ea typeface="Meiryo"/>
                <a:cs typeface="Meiryo"/>
              </a:rPr>
              <a:t>得られた波</a:t>
            </a:r>
          </a:p>
          <a:p>
            <a:pPr algn="ctr">
              <a:spcAft>
                <a:spcPts val="400"/>
              </a:spcAft>
            </a:pPr>
            <a:r>
              <a:rPr sz="2300" b="0">
                <a:solidFill>
                  <a:srgbClr val="262626"/>
                </a:solidFill>
                <a:latin typeface="Meiryo"/>
                <a:ea typeface="Meiryo"/>
                <a:cs typeface="Meiryo"/>
              </a:rPr>
              <a:t>＝ 容積脈波</a:t>
            </a:r>
          </a:p>
        </p:txBody>
      </p:sp>
      <p:sp>
        <p:nvSpPr>
          <p:cNvPr id="25" name="Right Arrow 24">
            <a:extLst>
              <a:ext uri="{FF2B5EF4-FFF2-40B4-BE49-F238E27FC236}">
                <a16:creationId xmlns:a16="http://schemas.microsoft.com/office/drawing/2014/main" id="{5ADA7861-730B-7259-EC24-EF084D4F76E9}"/>
              </a:ext>
            </a:extLst>
          </p:cNvPr>
          <p:cNvSpPr/>
          <p:nvPr/>
        </p:nvSpPr>
        <p:spPr>
          <a:xfrm>
            <a:off x="8410104" y="3063159"/>
            <a:ext cx="566928" cy="5029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ounded Rectangle 25">
            <a:extLst>
              <a:ext uri="{FF2B5EF4-FFF2-40B4-BE49-F238E27FC236}">
                <a16:creationId xmlns:a16="http://schemas.microsoft.com/office/drawing/2014/main" id="{9EB29FAA-F593-0915-5268-833A542CE4F6}"/>
              </a:ext>
            </a:extLst>
          </p:cNvPr>
          <p:cNvSpPr/>
          <p:nvPr/>
        </p:nvSpPr>
        <p:spPr>
          <a:xfrm>
            <a:off x="9114192" y="2413935"/>
            <a:ext cx="2487168" cy="17830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a:extLst>
              <a:ext uri="{FF2B5EF4-FFF2-40B4-BE49-F238E27FC236}">
                <a16:creationId xmlns:a16="http://schemas.microsoft.com/office/drawing/2014/main" id="{47E03627-34FC-A9AB-C1BA-4B88E40E3150}"/>
              </a:ext>
            </a:extLst>
          </p:cNvPr>
          <p:cNvSpPr txBox="1"/>
          <p:nvPr/>
        </p:nvSpPr>
        <p:spPr>
          <a:xfrm>
            <a:off x="9251352" y="2642535"/>
            <a:ext cx="2212848" cy="634166"/>
          </a:xfrm>
          <a:prstGeom prst="rect">
            <a:avLst/>
          </a:prstGeom>
          <a:noFill/>
        </p:spPr>
        <p:txBody>
          <a:bodyPr wrap="square" lIns="0" tIns="0" rIns="0" bIns="0" anchor="t">
            <a:spAutoFit/>
          </a:bodyPr>
          <a:lstStyle/>
          <a:p>
            <a:pPr algn="ctr"/>
            <a:r>
              <a:rPr sz="3000" b="1">
                <a:solidFill>
                  <a:srgbClr val="00A8AA"/>
                </a:solidFill>
                <a:latin typeface="Meiryo"/>
                <a:ea typeface="Meiryo"/>
                <a:cs typeface="Meiryo"/>
              </a:rPr>
              <a:t>SpO₂</a:t>
            </a:r>
          </a:p>
        </p:txBody>
      </p:sp>
      <p:sp>
        <p:nvSpPr>
          <p:cNvPr id="28" name="TextBox 27">
            <a:extLst>
              <a:ext uri="{FF2B5EF4-FFF2-40B4-BE49-F238E27FC236}">
                <a16:creationId xmlns:a16="http://schemas.microsoft.com/office/drawing/2014/main" id="{58C51AA9-60BA-2B9B-5827-9CE94ADEF5DE}"/>
              </a:ext>
            </a:extLst>
          </p:cNvPr>
          <p:cNvSpPr txBox="1"/>
          <p:nvPr/>
        </p:nvSpPr>
        <p:spPr>
          <a:xfrm>
            <a:off x="9114192" y="3191175"/>
            <a:ext cx="2487168" cy="1327145"/>
          </a:xfrm>
          <a:prstGeom prst="rect">
            <a:avLst/>
          </a:prstGeom>
          <a:noFill/>
        </p:spPr>
        <p:txBody>
          <a:bodyPr wrap="square" lIns="0" tIns="0" rIns="0" bIns="0" anchor="t">
            <a:spAutoFit/>
          </a:bodyPr>
          <a:lstStyle/>
          <a:p>
            <a:pPr algn="ctr">
              <a:spcAft>
                <a:spcPts val="400"/>
              </a:spcAft>
            </a:pPr>
            <a:r>
              <a:rPr lang="ja-JP" altLang="en-US" sz="2200" b="0">
                <a:solidFill>
                  <a:srgbClr val="262626"/>
                </a:solidFill>
                <a:latin typeface="Meiryo"/>
                <a:ea typeface="Meiryo"/>
                <a:cs typeface="Meiryo"/>
              </a:rPr>
              <a:t>脈</a:t>
            </a:r>
            <a:r>
              <a:rPr sz="2200" b="0" dirty="0" err="1">
                <a:solidFill>
                  <a:srgbClr val="262626"/>
                </a:solidFill>
                <a:latin typeface="Meiryo"/>
                <a:ea typeface="Meiryo"/>
                <a:cs typeface="Meiryo"/>
              </a:rPr>
              <a:t>波から計算した</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酸素飽和度</a:t>
            </a:r>
            <a:endParaRPr sz="2200" b="0" dirty="0">
              <a:solidFill>
                <a:srgbClr val="262626"/>
              </a:solidFill>
              <a:latin typeface="Meiryo"/>
              <a:ea typeface="Meiryo"/>
              <a:cs typeface="Meiryo"/>
            </a:endParaRPr>
          </a:p>
        </p:txBody>
      </p:sp>
      <p:sp>
        <p:nvSpPr>
          <p:cNvPr id="5" name="Rounded Rectangle 25">
            <a:extLst>
              <a:ext uri="{FF2B5EF4-FFF2-40B4-BE49-F238E27FC236}">
                <a16:creationId xmlns:a16="http://schemas.microsoft.com/office/drawing/2014/main" id="{76F8BC04-E993-DEC1-D083-69FB424B965B}"/>
              </a:ext>
            </a:extLst>
          </p:cNvPr>
          <p:cNvSpPr/>
          <p:nvPr/>
        </p:nvSpPr>
        <p:spPr>
          <a:xfrm>
            <a:off x="6504934" y="4493906"/>
            <a:ext cx="4175519" cy="1684644"/>
          </a:xfrm>
          <a:prstGeom prst="roundRect">
            <a:avLst/>
          </a:prstGeom>
          <a:solidFill>
            <a:srgbClr val="F2F2F2"/>
          </a:solidFill>
          <a:ln w="28575">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26">
            <a:extLst>
              <a:ext uri="{FF2B5EF4-FFF2-40B4-BE49-F238E27FC236}">
                <a16:creationId xmlns:a16="http://schemas.microsoft.com/office/drawing/2014/main" id="{A68FFC8F-2BB2-8395-8C71-8940E190A791}"/>
              </a:ext>
            </a:extLst>
          </p:cNvPr>
          <p:cNvSpPr txBox="1"/>
          <p:nvPr/>
        </p:nvSpPr>
        <p:spPr>
          <a:xfrm>
            <a:off x="6573514" y="4717739"/>
            <a:ext cx="4038358" cy="1189847"/>
          </a:xfrm>
          <a:prstGeom prst="rect">
            <a:avLst/>
          </a:prstGeom>
          <a:noFill/>
        </p:spPr>
        <p:txBody>
          <a:bodyPr wrap="square" lIns="0" tIns="0" rIns="0" bIns="0" anchor="t">
            <a:spAutoFit/>
          </a:bodyPr>
          <a:lstStyle/>
          <a:p>
            <a:pPr algn="ctr"/>
            <a:r>
              <a:rPr lang="ja-JP" altLang="en-US" sz="3000" b="1">
                <a:solidFill>
                  <a:schemeClr val="accent4">
                    <a:lumMod val="75000"/>
                  </a:schemeClr>
                </a:solidFill>
                <a:latin typeface="Meiryo"/>
                <a:ea typeface="Meiryo"/>
                <a:cs typeface="Meiryo"/>
              </a:rPr>
              <a:t>パルスオキシメトリー</a:t>
            </a:r>
            <a:endParaRPr sz="3000" b="1" dirty="0">
              <a:solidFill>
                <a:schemeClr val="accent4">
                  <a:lumMod val="75000"/>
                </a:schemeClr>
              </a:solidFill>
              <a:latin typeface="Meiryo"/>
              <a:ea typeface="Meiryo"/>
              <a:cs typeface="Meiryo"/>
            </a:endParaRPr>
          </a:p>
        </p:txBody>
      </p:sp>
      <p:sp>
        <p:nvSpPr>
          <p:cNvPr id="7" name="TextBox 27">
            <a:extLst>
              <a:ext uri="{FF2B5EF4-FFF2-40B4-BE49-F238E27FC236}">
                <a16:creationId xmlns:a16="http://schemas.microsoft.com/office/drawing/2014/main" id="{FC895717-5939-40C2-738A-5761E764598C}"/>
              </a:ext>
            </a:extLst>
          </p:cNvPr>
          <p:cNvSpPr txBox="1"/>
          <p:nvPr/>
        </p:nvSpPr>
        <p:spPr>
          <a:xfrm>
            <a:off x="6504934" y="5266379"/>
            <a:ext cx="4175518" cy="919646"/>
          </a:xfrm>
          <a:prstGeom prst="rect">
            <a:avLst/>
          </a:prstGeom>
          <a:noFill/>
        </p:spPr>
        <p:txBody>
          <a:bodyPr wrap="square" lIns="0" tIns="0" rIns="0" bIns="0" anchor="t">
            <a:spAutoFit/>
          </a:bodyPr>
          <a:lstStyle/>
          <a:p>
            <a:pPr algn="ctr">
              <a:spcAft>
                <a:spcPts val="400"/>
              </a:spcAft>
            </a:pPr>
            <a:r>
              <a:rPr lang="ja-JP" altLang="en-US" sz="2200" b="0">
                <a:solidFill>
                  <a:srgbClr val="262626"/>
                </a:solidFill>
                <a:latin typeface="Meiryo"/>
                <a:ea typeface="Meiryo"/>
                <a:cs typeface="Meiryo"/>
              </a:rPr>
              <a:t>脈</a:t>
            </a:r>
            <a:r>
              <a:rPr sz="2200" b="0" dirty="0" err="1">
                <a:solidFill>
                  <a:srgbClr val="262626"/>
                </a:solidFill>
                <a:latin typeface="Meiryo"/>
                <a:ea typeface="Meiryo"/>
                <a:cs typeface="Meiryo"/>
              </a:rPr>
              <a:t>波から</a:t>
            </a:r>
            <a:r>
              <a:rPr lang="ja-JP" altLang="en-US" sz="2200" b="0">
                <a:solidFill>
                  <a:srgbClr val="262626"/>
                </a:solidFill>
                <a:latin typeface="Meiryo"/>
                <a:ea typeface="Meiryo"/>
                <a:cs typeface="Meiryo"/>
              </a:rPr>
              <a:t>経皮的に</a:t>
            </a:r>
            <a:r>
              <a:rPr lang="en-US" altLang="ja-JP" sz="2200" b="0" dirty="0">
                <a:solidFill>
                  <a:srgbClr val="262626"/>
                </a:solidFill>
                <a:latin typeface="Meiryo"/>
                <a:ea typeface="Meiryo"/>
                <a:cs typeface="Meiryo"/>
              </a:rPr>
              <a:t>SaO2</a:t>
            </a:r>
            <a:r>
              <a:rPr lang="ja-JP" altLang="en-US" sz="2200" b="0">
                <a:solidFill>
                  <a:srgbClr val="262626"/>
                </a:solidFill>
                <a:latin typeface="Meiryo"/>
                <a:ea typeface="Meiryo"/>
                <a:cs typeface="Meiryo"/>
              </a:rPr>
              <a:t>を</a:t>
            </a:r>
            <a:endParaRPr lang="en-US" altLang="ja-JP" sz="2200" dirty="0">
              <a:solidFill>
                <a:srgbClr val="262626"/>
              </a:solidFill>
              <a:latin typeface="Meiryo"/>
              <a:ea typeface="Meiryo"/>
              <a:cs typeface="Meiryo"/>
            </a:endParaRPr>
          </a:p>
          <a:p>
            <a:pPr algn="ctr">
              <a:spcAft>
                <a:spcPts val="400"/>
              </a:spcAft>
            </a:pPr>
            <a:r>
              <a:rPr lang="ja-JP" altLang="en-US" sz="2200" b="0">
                <a:solidFill>
                  <a:srgbClr val="262626"/>
                </a:solidFill>
                <a:latin typeface="Meiryo"/>
                <a:ea typeface="Meiryo"/>
                <a:cs typeface="Meiryo"/>
              </a:rPr>
              <a:t>推定する方法</a:t>
            </a:r>
            <a:endParaRPr sz="2200" b="0" dirty="0">
              <a:solidFill>
                <a:srgbClr val="262626"/>
              </a:solidFill>
              <a:latin typeface="Meiryo"/>
              <a:ea typeface="Meiryo"/>
              <a:cs typeface="Meiryo"/>
            </a:endParaRPr>
          </a:p>
        </p:txBody>
      </p:sp>
      <p:sp>
        <p:nvSpPr>
          <p:cNvPr id="4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2/55</a:t>
            </a:r>
          </a:p>
        </p:txBody>
      </p:sp>
    </p:spTree>
    <p:extLst>
      <p:ext uri="{BB962C8B-B14F-4D97-AF65-F5344CB8AC3E}">
        <p14:creationId xmlns:p14="http://schemas.microsoft.com/office/powerpoint/2010/main" val="1987446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600" dirty="0" err="1">
                <a:latin typeface="Meiryo"/>
                <a:ea typeface="Meiryo"/>
                <a:cs typeface="Meiryo"/>
              </a:rPr>
              <a:t>メニュ</a:t>
            </a:r>
            <a:r>
              <a:rPr sz="4600" dirty="0">
                <a:latin typeface="Meiryo"/>
                <a:ea typeface="Meiryo"/>
                <a:cs typeface="Meiryo"/>
              </a:rPr>
              <a:t>ー</a:t>
            </a:r>
          </a:p>
        </p:txBody>
      </p:sp>
      <p:sp>
        <p:nvSpPr>
          <p:cNvPr id="12" name="Off-page Connector 4"/>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8" name="TextBox 7"/>
          <p:cNvSpPr txBox="1"/>
          <p:nvPr/>
        </p:nvSpPr>
        <p:spPr>
          <a:xfrm>
            <a:off x="859536" y="1536192"/>
            <a:ext cx="10579608" cy="4956048"/>
          </a:xfrm>
          <a:prstGeom prst="rect">
            <a:avLst/>
          </a:prstGeom>
          <a:noFill/>
        </p:spPr>
        <p:txBody>
          <a:bodyPr wrap="square" lIns="0" tIns="0" rIns="0" bIns="0" anchor="ctr">
            <a:spAutoFit/>
          </a:bodyPr>
          <a:lstStyle/>
          <a:p>
            <a:pPr>
              <a:lnSpc>
                <a:spcPct val="145000"/>
              </a:lnSpc>
            </a:pPr>
            <a:r>
              <a:rPr sz="3400" b="1">
                <a:solidFill>
                  <a:srgbClr val="BF9000"/>
                </a:solidFill>
                <a:latin typeface="Meiryo"/>
                <a:ea typeface="Meiryo"/>
                <a:cs typeface="Meiryo"/>
              </a:rPr>
              <a:t>1. </a:t>
            </a:r>
            <a:r>
              <a:rPr sz="3400" b="1">
                <a:solidFill>
                  <a:srgbClr val="262626"/>
                </a:solidFill>
                <a:latin typeface="Meiryo"/>
                <a:ea typeface="Meiryo"/>
                <a:cs typeface="Meiryo"/>
              </a:rPr>
              <a:t>PPGの基礎</a:t>
            </a:r>
          </a:p>
          <a:p>
            <a:pPr>
              <a:lnSpc>
                <a:spcPct val="145000"/>
              </a:lnSpc>
            </a:pPr>
            <a:r>
              <a:rPr sz="3400" b="1">
                <a:solidFill>
                  <a:srgbClr val="BF9000"/>
                </a:solidFill>
                <a:latin typeface="Meiryo"/>
                <a:ea typeface="Meiryo"/>
                <a:cs typeface="Meiryo"/>
              </a:rPr>
              <a:t>2. </a:t>
            </a:r>
            <a:r>
              <a:rPr sz="3400" b="1">
                <a:solidFill>
                  <a:srgbClr val="262626"/>
                </a:solidFill>
                <a:latin typeface="Meiryo"/>
                <a:ea typeface="Meiryo"/>
                <a:cs typeface="Meiryo"/>
              </a:rPr>
              <a:t>波形への影響</a:t>
            </a:r>
          </a:p>
          <a:p>
            <a:pPr>
              <a:lnSpc>
                <a:spcPct val="145000"/>
              </a:lnSpc>
            </a:pPr>
            <a:r>
              <a:rPr sz="3400" b="1">
                <a:solidFill>
                  <a:srgbClr val="BF9000"/>
                </a:solidFill>
                <a:latin typeface="Meiryo"/>
                <a:ea typeface="Meiryo"/>
                <a:cs typeface="Meiryo"/>
              </a:rPr>
              <a:t>3. </a:t>
            </a:r>
            <a:r>
              <a:rPr sz="3400" b="1">
                <a:solidFill>
                  <a:srgbClr val="262626"/>
                </a:solidFill>
                <a:latin typeface="Meiryo"/>
                <a:ea typeface="Meiryo"/>
                <a:cs typeface="Meiryo"/>
              </a:rPr>
              <a:t>波形の定量化</a:t>
            </a:r>
          </a:p>
          <a:p>
            <a:pPr>
              <a:lnSpc>
                <a:spcPct val="145000"/>
              </a:lnSpc>
            </a:pPr>
            <a:r>
              <a:rPr sz="3400" b="1">
                <a:solidFill>
                  <a:srgbClr val="BF9000"/>
                </a:solidFill>
                <a:latin typeface="Meiryo"/>
                <a:ea typeface="Meiryo"/>
                <a:cs typeface="Meiryo"/>
              </a:rPr>
              <a:t>4. </a:t>
            </a:r>
            <a:r>
              <a:rPr sz="3400" b="1">
                <a:solidFill>
                  <a:srgbClr val="262626"/>
                </a:solidFill>
                <a:latin typeface="Meiryo"/>
                <a:ea typeface="Meiryo"/>
                <a:cs typeface="Meiryo"/>
              </a:rPr>
              <a:t>提案</a:t>
            </a:r>
          </a:p>
        </p:txBody>
      </p:sp>
      <p:sp>
        <p:nvSpPr>
          <p:cNvPr id="1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3/55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 PPGの基礎</a:t>
            </a:r>
          </a:p>
        </p:txBody>
      </p:sp>
      <p:sp>
        <p:nvSpPr>
          <p:cNvPr id="12" name="Off-page Connector 4"/>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3" name="Off-page Connector 5"/>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BF9000"/>
                </a:solidFill>
                <a:latin typeface="Meiryo"/>
                <a:ea typeface="Meiryo"/>
                <a:cs typeface="Meiryo"/>
              </a:rPr>
              <a:t>1. </a:t>
            </a:r>
            <a:r>
              <a:rPr sz="3200" b="1">
                <a:solidFill>
                  <a:srgbClr val="262626"/>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提案</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1.1 </a:t>
            </a:r>
            <a:r>
              <a:rPr sz="2900" b="0">
                <a:solidFill>
                  <a:srgbClr val="262626"/>
                </a:solidFill>
                <a:latin typeface="Meiryo"/>
                <a:ea typeface="Meiryo"/>
                <a:cs typeface="Meiryo"/>
              </a:rPr>
              <a:t>SpO₂の測定原理</a:t>
            </a:r>
          </a:p>
          <a:p>
            <a:pPr>
              <a:lnSpc>
                <a:spcPct val="145000"/>
              </a:lnSpc>
            </a:pPr>
            <a:r>
              <a:rPr sz="2900" b="1">
                <a:solidFill>
                  <a:srgbClr val="BF9000"/>
                </a:solidFill>
                <a:latin typeface="Meiryo"/>
                <a:ea typeface="Meiryo"/>
                <a:cs typeface="Meiryo"/>
              </a:rPr>
              <a:t>1.2 </a:t>
            </a:r>
            <a:r>
              <a:rPr sz="2900" b="0">
                <a:solidFill>
                  <a:srgbClr val="262626"/>
                </a:solidFill>
                <a:latin typeface="Meiryo"/>
                <a:ea typeface="Meiryo"/>
                <a:cs typeface="Meiryo"/>
              </a:rPr>
              <a:t>PPGが測るもの</a:t>
            </a:r>
          </a:p>
          <a:p>
            <a:pPr>
              <a:lnSpc>
                <a:spcPct val="145000"/>
              </a:lnSpc>
            </a:pPr>
            <a:r>
              <a:rPr sz="2900" b="1">
                <a:solidFill>
                  <a:srgbClr val="BF9000"/>
                </a:solidFill>
                <a:latin typeface="Meiryo"/>
                <a:ea typeface="Meiryo"/>
                <a:cs typeface="Meiryo"/>
              </a:rPr>
              <a:t>1.3 </a:t>
            </a:r>
            <a:r>
              <a:rPr sz="2900" b="0">
                <a:solidFill>
                  <a:srgbClr val="262626"/>
                </a:solidFill>
                <a:latin typeface="Meiryo"/>
                <a:ea typeface="Meiryo"/>
                <a:cs typeface="Meiryo"/>
              </a:rPr>
              <a:t>前進波の成因</a:t>
            </a:r>
          </a:p>
          <a:p>
            <a:pPr>
              <a:lnSpc>
                <a:spcPct val="145000"/>
              </a:lnSpc>
            </a:pPr>
            <a:r>
              <a:rPr sz="2900" b="1">
                <a:solidFill>
                  <a:srgbClr val="BF9000"/>
                </a:solidFill>
                <a:latin typeface="Meiryo"/>
                <a:ea typeface="Meiryo"/>
                <a:cs typeface="Meiryo"/>
              </a:rPr>
              <a:t>1.4 </a:t>
            </a:r>
            <a:r>
              <a:rPr sz="2900" b="0">
                <a:solidFill>
                  <a:srgbClr val="262626"/>
                </a:solidFill>
                <a:latin typeface="Meiryo"/>
                <a:ea typeface="Meiryo"/>
                <a:cs typeface="Meiryo"/>
              </a:rPr>
              <a:t>反射波の成因</a:t>
            </a:r>
          </a:p>
          <a:p>
            <a:pPr>
              <a:lnSpc>
                <a:spcPct val="145000"/>
              </a:lnSpc>
            </a:pPr>
            <a:r>
              <a:rPr sz="2900" b="1">
                <a:solidFill>
                  <a:srgbClr val="BF9000"/>
                </a:solidFill>
                <a:latin typeface="Meiryo"/>
                <a:ea typeface="Meiryo"/>
                <a:cs typeface="Meiryo"/>
              </a:rPr>
              <a:t>1.5 </a:t>
            </a:r>
            <a:r>
              <a:rPr sz="2900" b="0">
                <a:solidFill>
                  <a:srgbClr val="262626"/>
                </a:solidFill>
                <a:latin typeface="Meiryo"/>
                <a:ea typeface="Meiryo"/>
                <a:cs typeface="Meiryo"/>
              </a:rPr>
              <a:t>PPG基礎まとめ</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4/55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8C2FD-694C-4897-9A75-2D5D9B7FE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E8B2F-E956-0B37-F20F-63DF2F5F4167}"/>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AA9D36CE-3772-F005-B54C-9329ADA7F086}"/>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601E0A5A-858A-8F2B-FBB6-6D1BA67FFAF2}"/>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E4E62E14-CF5D-EBCC-627E-B7B49B8D7BA1}"/>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4007B9C-4CFC-CD55-E599-C1CA9B596D0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3" name="コンテンツ プレースホルダー 2">
            <a:extLst>
              <a:ext uri="{FF2B5EF4-FFF2-40B4-BE49-F238E27FC236}">
                <a16:creationId xmlns:a16="http://schemas.microsoft.com/office/drawing/2014/main" id="{829068BC-7154-CBB1-D545-27AC73B2F90F}"/>
              </a:ext>
            </a:extLst>
          </p:cNvPr>
          <p:cNvSpPr>
            <a:spLocks noGrp="1"/>
          </p:cNvSpPr>
          <p:nvPr>
            <p:ph idx="1"/>
          </p:nvPr>
        </p:nvSpPr>
        <p:spPr>
          <a:xfrm>
            <a:off x="838199" y="1825625"/>
            <a:ext cx="10720319" cy="4351338"/>
          </a:xfrm>
        </p:spPr>
        <p:txBody>
          <a:bodyPr/>
          <a:lstStyle/>
          <a:p>
            <a:pPr>
              <a:spcAft>
                <a:spcPts val="1000"/>
              </a:spcAft>
            </a:pPr>
            <a:r>
              <a:rPr lang="en-US" altLang="ja-JP" dirty="0">
                <a:latin typeface="+mj-ea"/>
                <a:ea typeface="+mj-ea"/>
              </a:rPr>
              <a:t>SpO₂</a:t>
            </a:r>
            <a:r>
              <a:rPr lang="ja-JP" altLang="en-US">
                <a:latin typeface="+mj-ea"/>
                <a:ea typeface="+mj-ea"/>
              </a:rPr>
              <a:t>は</a:t>
            </a:r>
            <a:r>
              <a:rPr lang="en-US" altLang="ja-JP" dirty="0">
                <a:latin typeface="+mj-ea"/>
                <a:ea typeface="+mj-ea"/>
              </a:rPr>
              <a:t>SaO2</a:t>
            </a:r>
            <a:r>
              <a:rPr lang="ja-JP" altLang="en-US">
                <a:latin typeface="+mj-ea"/>
                <a:ea typeface="+mj-ea"/>
              </a:rPr>
              <a:t>を経皮的に推定した値である。</a:t>
            </a:r>
            <a:endParaRPr lang="en-US" altLang="ja-JP" dirty="0">
              <a:latin typeface="+mj-ea"/>
              <a:ea typeface="+mj-ea"/>
            </a:endParaRPr>
          </a:p>
          <a:p>
            <a:pPr>
              <a:spcAft>
                <a:spcPts val="1000"/>
              </a:spcAft>
            </a:pPr>
            <a:r>
              <a:rPr lang="en-US" altLang="ja-JP" dirty="0">
                <a:latin typeface="+mj-ea"/>
                <a:ea typeface="+mj-ea"/>
              </a:rPr>
              <a:t>SaO2</a:t>
            </a:r>
            <a:r>
              <a:rPr lang="ja-JP" altLang="en-US">
                <a:latin typeface="+mj-ea"/>
                <a:ea typeface="+mj-ea"/>
              </a:rPr>
              <a:t>は動脈血中の酸素に結合している</a:t>
            </a:r>
            <a:r>
              <a:rPr lang="en-US" altLang="ja-JP" dirty="0">
                <a:latin typeface="+mj-ea"/>
                <a:ea typeface="+mj-ea"/>
              </a:rPr>
              <a:t>Hb</a:t>
            </a:r>
            <a:r>
              <a:rPr lang="ja-JP" altLang="en-US">
                <a:latin typeface="+mj-ea"/>
                <a:ea typeface="+mj-ea"/>
              </a:rPr>
              <a:t>の割合。</a:t>
            </a:r>
            <a:endParaRPr lang="en-US" altLang="ja-JP" dirty="0">
              <a:latin typeface="+mj-ea"/>
              <a:ea typeface="+mj-ea"/>
            </a:endParaRPr>
          </a:p>
          <a:p>
            <a:pPr>
              <a:spcAft>
                <a:spcPts val="1000"/>
              </a:spcAft>
            </a:pPr>
            <a:r>
              <a:rPr lang="en-US" altLang="ja-JP" dirty="0">
                <a:latin typeface="+mj-ea"/>
                <a:ea typeface="+mj-ea"/>
              </a:rPr>
              <a:t>SaO2</a:t>
            </a:r>
            <a:r>
              <a:rPr lang="ja-JP" altLang="en-US">
                <a:latin typeface="+mj-ea"/>
                <a:ea typeface="+mj-ea"/>
              </a:rPr>
              <a:t>は酸素化評価のゴールドスタンダード。</a:t>
            </a:r>
            <a:endParaRPr lang="en-US" altLang="ja-JP" dirty="0">
              <a:latin typeface="+mj-ea"/>
              <a:ea typeface="+mj-ea"/>
            </a:endParaRPr>
          </a:p>
          <a:p>
            <a:pPr>
              <a:spcAft>
                <a:spcPts val="1000"/>
              </a:spcAft>
            </a:pPr>
            <a:endParaRPr lang="en-US" altLang="ja-JP" dirty="0">
              <a:latin typeface="+mj-ea"/>
              <a:ea typeface="+mj-ea"/>
            </a:endParaRPr>
          </a:p>
          <a:p>
            <a:pPr>
              <a:spcAft>
                <a:spcPts val="1000"/>
              </a:spcAft>
            </a:pPr>
            <a:r>
              <a:rPr lang="ja-JP" altLang="en-US">
                <a:latin typeface="+mj-ea"/>
                <a:ea typeface="+mj-ea"/>
              </a:rPr>
              <a:t>パルスオキシメーターはどのように</a:t>
            </a:r>
            <a:r>
              <a:rPr lang="en-US" altLang="ja-JP" dirty="0">
                <a:latin typeface="+mj-ea"/>
                <a:ea typeface="+mj-ea"/>
              </a:rPr>
              <a:t>SaO2</a:t>
            </a:r>
            <a:r>
              <a:rPr lang="ja-JP" altLang="en-US">
                <a:latin typeface="+mj-ea"/>
                <a:ea typeface="+mj-ea"/>
              </a:rPr>
              <a:t>を推定しているのか？</a:t>
            </a:r>
            <a:endParaRPr lang="en-US" altLang="ja-JP" dirty="0">
              <a:latin typeface="+mj-ea"/>
              <a:ea typeface="+mj-ea"/>
            </a:endParaRPr>
          </a:p>
          <a:p>
            <a:endParaRPr kumimoji="1" lang="ja-JP" altLang="en-US">
              <a:latin typeface="+mj-ea"/>
              <a:ea typeface="+mj-ea"/>
            </a:endParaRPr>
          </a:p>
        </p:txBody>
      </p:sp>
      <p:sp>
        <p:nvSpPr>
          <p:cNvPr id="18" name="Source"/>
          <p:cNvSpPr txBox="1"/>
          <p:nvPr/>
        </p:nvSpPr>
        <p:spPr>
          <a:xfrm>
            <a:off x="720000" y="6606000"/>
            <a:ext cx="10881360" cy="276999"/>
          </a:xfrm>
          <a:prstGeom prst="rect">
            <a:avLst/>
          </a:prstGeom>
          <a:noFill/>
        </p:spPr>
        <p:txBody>
          <a:bodyPr wrap="square" lIns="0" tIns="0" rIns="0" bIns="0" anchor="t">
            <a:spAutoFit/>
          </a:bodyPr>
          <a:lstStyle/>
          <a:p>
            <a:r>
              <a:rPr sz="1050" b="0" dirty="0">
                <a:solidFill>
                  <a:srgbClr val="808080"/>
                </a:solidFill>
                <a:latin typeface="Meiryo"/>
                <a:ea typeface="Meiryo"/>
                <a:cs typeface="Meiryo"/>
              </a:rPr>
              <a:t>2. Aoyagi 2003　／　3. Chan 2013、　Ahmed 2005</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5/55</a:t>
            </a:r>
          </a:p>
        </p:txBody>
      </p:sp>
    </p:spTree>
    <p:extLst>
      <p:ext uri="{BB962C8B-B14F-4D97-AF65-F5344CB8AC3E}">
        <p14:creationId xmlns:p14="http://schemas.microsoft.com/office/powerpoint/2010/main" val="143635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93A90-F67A-A2B1-0655-922448B56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A0EB0-BCC2-59EA-3577-30ECE03291F0}"/>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8E0C622D-099F-3BC2-502E-CA90E240FE44}"/>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C3E3CA0A-6432-5BF5-4E88-00101C7C8F2F}"/>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D1FED4B9-71C9-D8E8-F0F6-0211DC785F0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7248402B-7E67-103C-3AAE-637FE8C8366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20" name="fig_spectra" descr="f_spo2_spectra.png">
            <a:extLst>
              <a:ext uri="{FF2B5EF4-FFF2-40B4-BE49-F238E27FC236}">
                <a16:creationId xmlns:a16="http://schemas.microsoft.com/office/drawing/2014/main" id="{7BB0358E-BFC2-F1D4-4FB0-8D5C77C32EEC}"/>
              </a:ext>
            </a:extLst>
          </p:cNvPr>
          <p:cNvPicPr>
            <a:picLocks noChangeAspect="1"/>
          </p:cNvPicPr>
          <p:nvPr/>
        </p:nvPicPr>
        <p:blipFill>
          <a:blip r:embed="rId3"/>
          <a:stretch>
            <a:fillRect/>
          </a:stretch>
        </p:blipFill>
        <p:spPr>
          <a:xfrm>
            <a:off x="6625764" y="2015999"/>
            <a:ext cx="3479861" cy="3024000"/>
          </a:xfrm>
          <a:prstGeom prst="rect">
            <a:avLst/>
          </a:prstGeom>
        </p:spPr>
      </p:pic>
      <p:sp>
        <p:nvSpPr>
          <p:cNvPr id="22" name="TextBox 21">
            <a:extLst>
              <a:ext uri="{FF2B5EF4-FFF2-40B4-BE49-F238E27FC236}">
                <a16:creationId xmlns:a16="http://schemas.microsoft.com/office/drawing/2014/main" id="{4E769FE3-5506-60DB-856E-01798BA749F0}"/>
              </a:ext>
            </a:extLst>
          </p:cNvPr>
          <p:cNvSpPr txBox="1"/>
          <p:nvPr/>
        </p:nvSpPr>
        <p:spPr>
          <a:xfrm>
            <a:off x="6739488"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660 nm</a:t>
            </a:r>
          </a:p>
        </p:txBody>
      </p:sp>
      <p:sp>
        <p:nvSpPr>
          <p:cNvPr id="23" name="TextBox 22">
            <a:extLst>
              <a:ext uri="{FF2B5EF4-FFF2-40B4-BE49-F238E27FC236}">
                <a16:creationId xmlns:a16="http://schemas.microsoft.com/office/drawing/2014/main" id="{F6BC3CAA-B677-4E61-B4DE-EF4258C4FB92}"/>
              </a:ext>
            </a:extLst>
          </p:cNvPr>
          <p:cNvSpPr txBox="1"/>
          <p:nvPr/>
        </p:nvSpPr>
        <p:spPr>
          <a:xfrm>
            <a:off x="8978689"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940 nm</a:t>
            </a:r>
          </a:p>
        </p:txBody>
      </p:sp>
      <p:sp>
        <p:nvSpPr>
          <p:cNvPr id="24" name="TextBox 23">
            <a:extLst>
              <a:ext uri="{FF2B5EF4-FFF2-40B4-BE49-F238E27FC236}">
                <a16:creationId xmlns:a16="http://schemas.microsoft.com/office/drawing/2014/main" id="{54C657B8-4AE2-2B27-5248-5B59F92DDB7E}"/>
              </a:ext>
            </a:extLst>
          </p:cNvPr>
          <p:cNvSpPr txBox="1"/>
          <p:nvPr/>
        </p:nvSpPr>
        <p:spPr>
          <a:xfrm>
            <a:off x="6869149" y="5006911"/>
            <a:ext cx="3290966" cy="338554"/>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0072B2"/>
                </a:solidFill>
                <a:latin typeface="Meiryo"/>
                <a:ea typeface="Meiryo"/>
                <a:cs typeface="Meiryo"/>
              </a:rPr>
              <a:t>赤</a:t>
            </a:r>
            <a:r>
              <a:rPr sz="2200" b="1" dirty="0" err="1">
                <a:solidFill>
                  <a:srgbClr val="0072B2"/>
                </a:solidFill>
                <a:latin typeface="Meiryo"/>
                <a:ea typeface="Meiryo"/>
                <a:cs typeface="Meiryo"/>
              </a:rPr>
              <a:t>色光</a:t>
            </a:r>
            <a:r>
              <a:rPr sz="2200" b="1" dirty="0">
                <a:solidFill>
                  <a:srgbClr val="0072B2"/>
                </a:solidFill>
                <a:latin typeface="Meiryo"/>
                <a:ea typeface="Meiryo"/>
                <a:cs typeface="Meiryo"/>
              </a:rPr>
              <a:t> 660 nm </a:t>
            </a:r>
            <a:r>
              <a:rPr lang="ja-JP" altLang="en-US" sz="2200" b="1">
                <a:solidFill>
                  <a:srgbClr val="0072B2"/>
                </a:solidFill>
                <a:latin typeface="Meiryo"/>
                <a:ea typeface="Meiryo"/>
                <a:cs typeface="Meiryo"/>
              </a:rPr>
              <a:t>→</a:t>
            </a:r>
            <a:r>
              <a:rPr sz="2200" b="1" dirty="0">
                <a:solidFill>
                  <a:srgbClr val="0072B2"/>
                </a:solidFill>
                <a:latin typeface="Meiryo"/>
                <a:ea typeface="Meiryo"/>
                <a:cs typeface="Meiryo"/>
              </a:rPr>
              <a:t> </a:t>
            </a:r>
            <a:r>
              <a:rPr lang="en-US" altLang="ja-JP" sz="2200" b="1" dirty="0" err="1">
                <a:solidFill>
                  <a:srgbClr val="0072B2"/>
                </a:solidFill>
                <a:latin typeface="Meiryo"/>
                <a:ea typeface="Meiryo"/>
                <a:cs typeface="Meiryo"/>
              </a:rPr>
              <a:t>H</a:t>
            </a:r>
            <a:r>
              <a:rPr sz="2200" b="1" dirty="0" err="1">
                <a:solidFill>
                  <a:srgbClr val="0072B2"/>
                </a:solidFill>
                <a:latin typeface="Meiryo"/>
                <a:ea typeface="Meiryo"/>
                <a:cs typeface="Meiryo"/>
              </a:rPr>
              <a:t>Hb</a:t>
            </a:r>
            <a:r>
              <a:rPr sz="2200" b="1" dirty="0">
                <a:solidFill>
                  <a:srgbClr val="0072B2"/>
                </a:solidFill>
                <a:latin typeface="Meiryo"/>
                <a:ea typeface="Meiryo"/>
                <a:cs typeface="Meiryo"/>
              </a:rPr>
              <a:t> </a:t>
            </a:r>
          </a:p>
        </p:txBody>
      </p:sp>
      <p:sp>
        <p:nvSpPr>
          <p:cNvPr id="25" name="TextBox 24">
            <a:extLst>
              <a:ext uri="{FF2B5EF4-FFF2-40B4-BE49-F238E27FC236}">
                <a16:creationId xmlns:a16="http://schemas.microsoft.com/office/drawing/2014/main" id="{34D904B3-6616-CE00-13CC-0EF39BB3057C}"/>
              </a:ext>
            </a:extLst>
          </p:cNvPr>
          <p:cNvSpPr txBox="1"/>
          <p:nvPr/>
        </p:nvSpPr>
        <p:spPr>
          <a:xfrm>
            <a:off x="6869149" y="5402911"/>
            <a:ext cx="3430426" cy="338554"/>
          </a:xfrm>
          <a:prstGeom prst="rect">
            <a:avLst/>
          </a:prstGeom>
          <a:noFill/>
        </p:spPr>
        <p:txBody>
          <a:bodyPr wrap="none" lIns="0" tIns="0" rIns="0" bIns="0" anchor="ctr">
            <a:spAutoFit/>
          </a:bodyPr>
          <a:lstStyle/>
          <a:p>
            <a:r>
              <a:rPr sz="2200" b="1" dirty="0" err="1">
                <a:solidFill>
                  <a:srgbClr val="D55E00"/>
                </a:solidFill>
                <a:latin typeface="Meiryo"/>
                <a:ea typeface="Meiryo"/>
                <a:cs typeface="Meiryo"/>
              </a:rPr>
              <a:t>赤外光</a:t>
            </a:r>
            <a:r>
              <a:rPr sz="2200" b="1" dirty="0">
                <a:solidFill>
                  <a:srgbClr val="D55E00"/>
                </a:solidFill>
                <a:latin typeface="Meiryo"/>
                <a:ea typeface="Meiryo"/>
                <a:cs typeface="Meiryo"/>
              </a:rPr>
              <a:t> 940 nm </a:t>
            </a:r>
            <a:r>
              <a:rPr lang="ja-JP" altLang="en-US" sz="2200" b="1">
                <a:solidFill>
                  <a:srgbClr val="D55E00"/>
                </a:solidFill>
                <a:latin typeface="Meiryo"/>
                <a:ea typeface="Meiryo"/>
                <a:cs typeface="Meiryo"/>
              </a:rPr>
              <a:t>→</a:t>
            </a:r>
            <a:r>
              <a:rPr sz="2200" b="1" dirty="0">
                <a:solidFill>
                  <a:srgbClr val="D55E00"/>
                </a:solidFill>
                <a:latin typeface="Meiryo"/>
                <a:ea typeface="Meiryo"/>
                <a:cs typeface="Meiryo"/>
              </a:rPr>
              <a:t> </a:t>
            </a:r>
            <a:r>
              <a:rPr lang="en" altLang="ja-JP" sz="2200" b="1" dirty="0">
                <a:solidFill>
                  <a:srgbClr val="D55E00"/>
                </a:solidFill>
                <a:latin typeface="Meiryo"/>
                <a:ea typeface="Meiryo"/>
                <a:cs typeface="Meiryo"/>
              </a:rPr>
              <a:t>O₂ </a:t>
            </a:r>
            <a:r>
              <a:rPr sz="2200" b="1" dirty="0">
                <a:solidFill>
                  <a:srgbClr val="D55E00"/>
                </a:solidFill>
                <a:latin typeface="Meiryo"/>
                <a:ea typeface="Meiryo"/>
                <a:cs typeface="Meiryo"/>
              </a:rPr>
              <a:t>Hb</a:t>
            </a:r>
          </a:p>
        </p:txBody>
      </p:sp>
      <p:sp>
        <p:nvSpPr>
          <p:cNvPr id="4" name="Rounded Rectangle 25">
            <a:extLst>
              <a:ext uri="{FF2B5EF4-FFF2-40B4-BE49-F238E27FC236}">
                <a16:creationId xmlns:a16="http://schemas.microsoft.com/office/drawing/2014/main" id="{82EFDEDC-6707-898A-918A-BBA9422162AC}"/>
              </a:ext>
            </a:extLst>
          </p:cNvPr>
          <p:cNvSpPr/>
          <p:nvPr/>
        </p:nvSpPr>
        <p:spPr>
          <a:xfrm>
            <a:off x="995967" y="2951223"/>
            <a:ext cx="4605830" cy="172308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400" b="1" dirty="0" err="1">
                <a:solidFill>
                  <a:srgbClr val="262626"/>
                </a:solidFill>
                <a:latin typeface="Meiryo"/>
                <a:ea typeface="Meiryo"/>
                <a:cs typeface="Meiryo"/>
              </a:rPr>
              <a:t>知りたいのは</a:t>
            </a:r>
            <a:r>
              <a:rPr lang="en" altLang="ja-JP" sz="2400" b="1" dirty="0">
                <a:solidFill>
                  <a:srgbClr val="D55E00"/>
                </a:solidFill>
                <a:latin typeface="Meiryo"/>
                <a:ea typeface="Meiryo"/>
                <a:cs typeface="Meiryo"/>
              </a:rPr>
              <a:t> O₂ Hb </a:t>
            </a:r>
            <a:r>
              <a:rPr lang="en-US" sz="2400" b="1" dirty="0" err="1">
                <a:solidFill>
                  <a:srgbClr val="262626"/>
                </a:solidFill>
                <a:latin typeface="Meiryo"/>
                <a:ea typeface="Meiryo"/>
                <a:cs typeface="Meiryo"/>
              </a:rPr>
              <a:t>の割合</a:t>
            </a:r>
            <a:endParaRPr lang="en-US" sz="2400" b="1" dirty="0">
              <a:solidFill>
                <a:srgbClr val="262626"/>
              </a:solidFill>
              <a:latin typeface="Meiryo"/>
              <a:ea typeface="Meiryo"/>
              <a:cs typeface="Meiryo"/>
            </a:endParaRPr>
          </a:p>
          <a:p>
            <a:pPr algn="ctr">
              <a:lnSpc>
                <a:spcPct val="150000"/>
              </a:lnSpc>
              <a:spcBef>
                <a:spcPts val="0"/>
              </a:spcBef>
              <a:spcAft>
                <a:spcPts val="0"/>
              </a:spcAft>
            </a:pPr>
            <a:r>
              <a:rPr lang="en-US" sz="2400" b="1" dirty="0">
                <a:solidFill>
                  <a:srgbClr val="262626"/>
                </a:solidFill>
                <a:latin typeface="Meiryo"/>
                <a:ea typeface="Meiryo"/>
                <a:cs typeface="Meiryo"/>
              </a:rPr>
              <a:t>O2HbとHHbは吸光度が違う</a:t>
            </a:r>
            <a:endParaRPr sz="2400" b="1" dirty="0">
              <a:solidFill>
                <a:srgbClr val="262626"/>
              </a:solidFill>
              <a:latin typeface="Meiryo"/>
              <a:ea typeface="Meiryo"/>
              <a:cs typeface="Meiryo"/>
            </a:endParaRPr>
          </a:p>
        </p:txBody>
      </p:sp>
      <p:sp>
        <p:nvSpPr>
          <p:cNvPr id="2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7/55</a:t>
            </a:r>
          </a:p>
        </p:txBody>
      </p:sp>
    </p:spTree>
    <p:extLst>
      <p:ext uri="{BB962C8B-B14F-4D97-AF65-F5344CB8AC3E}">
        <p14:creationId xmlns:p14="http://schemas.microsoft.com/office/powerpoint/2010/main" val="565512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9F38-8D96-0A52-868E-A2118F86B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86965-335C-A22E-F093-A0985E6238B8}"/>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32996C8E-94C0-375A-90F8-A6FBE470E856}"/>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4EC87173-9741-4795-CA15-E7CF4CEB6DAB}"/>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74CEBD50-A62D-986F-1C38-26D78D610F73}"/>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E89D78F-940A-12C3-98E4-693AEBB52C14}"/>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18" name="TextBox 17">
            <a:extLst>
              <a:ext uri="{FF2B5EF4-FFF2-40B4-BE49-F238E27FC236}">
                <a16:creationId xmlns:a16="http://schemas.microsoft.com/office/drawing/2014/main" id="{7A9738C4-4366-AAED-08A4-502037497F45}"/>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B1D890AC-477C-CAF6-168A-91C737EE8919}"/>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3BC81F91-0B68-364C-1BAC-0895369DD8D2}"/>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DFE83EE1-B768-0321-D84D-0F7948A60886}"/>
              </a:ext>
            </a:extLst>
          </p:cNvPr>
          <p:cNvPicPr>
            <a:picLocks noChangeAspect="1"/>
          </p:cNvPicPr>
          <p:nvPr/>
        </p:nvPicPr>
        <p:blipFill>
          <a:blip r:embed="rId4"/>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37A650-CAE7-7B6F-0890-B4DD112EE98F}"/>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CBB492EF-E1AE-F62C-FE07-8198C8340B06}"/>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7/55</a:t>
            </a:r>
          </a:p>
        </p:txBody>
      </p:sp>
    </p:spTree>
    <p:extLst>
      <p:ext uri="{BB962C8B-B14F-4D97-AF65-F5344CB8AC3E}">
        <p14:creationId xmlns:p14="http://schemas.microsoft.com/office/powerpoint/2010/main" val="1684810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F0854-E3CB-EDE1-70FF-444551AECD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F0B92-35CA-E879-39AA-0CA30029F338}"/>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78B1DB27-8E8F-CEF8-2CB9-5E534D1EEF2D}"/>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2CD04F2-1C84-27A7-E0B7-AD77CDE12A4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B852448D-4A81-7AAC-B5E7-3557C8B0646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4FF3A9C-68FD-35EC-C080-80904DED805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18" name="TextBox 17">
            <a:extLst>
              <a:ext uri="{FF2B5EF4-FFF2-40B4-BE49-F238E27FC236}">
                <a16:creationId xmlns:a16="http://schemas.microsoft.com/office/drawing/2014/main" id="{0DCF7FE7-3B26-9289-625A-D37926EF98FF}"/>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F011360F-E6C2-BBA0-4C72-01EEEF696133}"/>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A84F9400-A9EE-F686-F763-FBA9E8F5120E}"/>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EF6BF04E-90FA-6A5C-B11F-A89F559D16A6}"/>
              </a:ext>
            </a:extLst>
          </p:cNvPr>
          <p:cNvPicPr>
            <a:picLocks noChangeAspect="1"/>
          </p:cNvPicPr>
          <p:nvPr/>
        </p:nvPicPr>
        <p:blipFill>
          <a:blip r:embed="rId4"/>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9B227C-424B-FF8C-3228-BF16FDB454EE}"/>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F9D670D0-7593-669E-DF00-25384BA744ED}"/>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4" name="TextBox 23">
            <a:extLst>
              <a:ext uri="{FF2B5EF4-FFF2-40B4-BE49-F238E27FC236}">
                <a16:creationId xmlns:a16="http://schemas.microsoft.com/office/drawing/2014/main" id="{7E044192-7ABD-3367-E1CA-D8ABFD96D756}"/>
              </a:ext>
            </a:extLst>
          </p:cNvPr>
          <p:cNvSpPr txBox="1"/>
          <p:nvPr/>
        </p:nvSpPr>
        <p:spPr>
          <a:xfrm>
            <a:off x="8011674" y="3034428"/>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5" name="TextBox 24">
            <a:extLst>
              <a:ext uri="{FF2B5EF4-FFF2-40B4-BE49-F238E27FC236}">
                <a16:creationId xmlns:a16="http://schemas.microsoft.com/office/drawing/2014/main" id="{C09FBA29-02AC-CE79-80FB-B0D36A24DB42}"/>
              </a:ext>
            </a:extLst>
          </p:cNvPr>
          <p:cNvSpPr txBox="1"/>
          <p:nvPr/>
        </p:nvSpPr>
        <p:spPr>
          <a:xfrm>
            <a:off x="8011674" y="4225014"/>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7/55</a:t>
            </a:r>
          </a:p>
        </p:txBody>
      </p:sp>
    </p:spTree>
    <p:extLst>
      <p:ext uri="{BB962C8B-B14F-4D97-AF65-F5344CB8AC3E}">
        <p14:creationId xmlns:p14="http://schemas.microsoft.com/office/powerpoint/2010/main" val="1237144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8D746-D724-AF64-493F-D6B9CBE82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85D1D-70E4-FBA7-F83B-2496A92DA1FD}"/>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418F264E-EDA4-8488-BE23-4CC9C5BCC0DE}"/>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B9CA89B-D756-D82D-651F-22549BC6D396}"/>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84AF7B09-D6FC-9667-1F0B-E09BE716FF8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E4A8DF70-A28C-38E6-0D07-941534B183A4}"/>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18" name="TextBox 17">
            <a:extLst>
              <a:ext uri="{FF2B5EF4-FFF2-40B4-BE49-F238E27FC236}">
                <a16:creationId xmlns:a16="http://schemas.microsoft.com/office/drawing/2014/main" id="{D5DE044F-460A-E2FF-0BD3-DEC0BB446256}"/>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2A9E9DBB-C7CF-6A30-8780-0FF99F220214}"/>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67F772F7-5025-E253-1367-7EF6F8A35FDE}"/>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676C2E62-B192-0207-6F9B-14C6A99A5487}"/>
              </a:ext>
            </a:extLst>
          </p:cNvPr>
          <p:cNvPicPr>
            <a:picLocks noChangeAspect="1"/>
          </p:cNvPicPr>
          <p:nvPr/>
        </p:nvPicPr>
        <p:blipFill>
          <a:blip r:embed="rId4"/>
          <a:stretch>
            <a:fillRect/>
          </a:stretch>
        </p:blipFill>
        <p:spPr>
          <a:xfrm>
            <a:off x="6640145" y="1571270"/>
            <a:ext cx="4337875" cy="3024000"/>
          </a:xfrm>
          <a:prstGeom prst="rect">
            <a:avLst/>
          </a:prstGeom>
        </p:spPr>
      </p:pic>
      <p:sp>
        <p:nvSpPr>
          <p:cNvPr id="22" name="TextBox 21">
            <a:extLst>
              <a:ext uri="{FF2B5EF4-FFF2-40B4-BE49-F238E27FC236}">
                <a16:creationId xmlns:a16="http://schemas.microsoft.com/office/drawing/2014/main" id="{29B29EDA-DCA4-27AB-8C50-E1792491D39E}"/>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642CAA70-6344-1593-DE98-C5CF27B31DC4}"/>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4" name="TextBox 23">
            <a:extLst>
              <a:ext uri="{FF2B5EF4-FFF2-40B4-BE49-F238E27FC236}">
                <a16:creationId xmlns:a16="http://schemas.microsoft.com/office/drawing/2014/main" id="{833E7898-24B9-3FC7-ACBD-30796044C35A}"/>
              </a:ext>
            </a:extLst>
          </p:cNvPr>
          <p:cNvSpPr txBox="1"/>
          <p:nvPr/>
        </p:nvSpPr>
        <p:spPr>
          <a:xfrm>
            <a:off x="7635894" y="2509423"/>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5" name="TextBox 24">
            <a:extLst>
              <a:ext uri="{FF2B5EF4-FFF2-40B4-BE49-F238E27FC236}">
                <a16:creationId xmlns:a16="http://schemas.microsoft.com/office/drawing/2014/main" id="{105B1721-3DB2-AB29-ED41-82BB8AAFBB33}"/>
              </a:ext>
            </a:extLst>
          </p:cNvPr>
          <p:cNvSpPr txBox="1"/>
          <p:nvPr/>
        </p:nvSpPr>
        <p:spPr>
          <a:xfrm>
            <a:off x="7635894" y="3700009"/>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6" name="Rounded Rectangle 25">
            <a:extLst>
              <a:ext uri="{FF2B5EF4-FFF2-40B4-BE49-F238E27FC236}">
                <a16:creationId xmlns:a16="http://schemas.microsoft.com/office/drawing/2014/main" id="{819240EA-C12F-123D-1210-AC093C6B6FBB}"/>
              </a:ext>
            </a:extLst>
          </p:cNvPr>
          <p:cNvSpPr/>
          <p:nvPr/>
        </p:nvSpPr>
        <p:spPr>
          <a:xfrm>
            <a:off x="6091592" y="4816850"/>
            <a:ext cx="5457584" cy="1325563"/>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400" b="1" dirty="0" err="1">
                <a:solidFill>
                  <a:srgbClr val="262626"/>
                </a:solidFill>
                <a:latin typeface="Meiryo"/>
                <a:ea typeface="Meiryo"/>
                <a:cs typeface="Meiryo"/>
              </a:rPr>
              <a:t>知りたいのは</a:t>
            </a:r>
            <a:r>
              <a:rPr lang="en" altLang="ja-JP" sz="2400" b="1" dirty="0">
                <a:solidFill>
                  <a:srgbClr val="D55E00"/>
                </a:solidFill>
                <a:latin typeface="Meiryo"/>
                <a:ea typeface="Meiryo"/>
                <a:cs typeface="Meiryo"/>
              </a:rPr>
              <a:t> </a:t>
            </a:r>
            <a:r>
              <a:rPr lang="ja-JP" altLang="en-US" sz="2400" b="1">
                <a:solidFill>
                  <a:schemeClr val="tx1"/>
                </a:solidFill>
                <a:latin typeface="Meiryo"/>
                <a:ea typeface="Meiryo"/>
                <a:cs typeface="Meiryo"/>
              </a:rPr>
              <a:t>動脈血の</a:t>
            </a:r>
            <a:r>
              <a:rPr lang="en-US" altLang="ja-JP" sz="2400" b="1" dirty="0">
                <a:solidFill>
                  <a:schemeClr val="tx1"/>
                </a:solidFill>
                <a:latin typeface="Meiryo"/>
                <a:ea typeface="Meiryo"/>
                <a:cs typeface="Meiryo"/>
              </a:rPr>
              <a:t> </a:t>
            </a:r>
            <a:r>
              <a:rPr lang="en" altLang="ja-JP" sz="2400" b="1" dirty="0">
                <a:solidFill>
                  <a:srgbClr val="D55E00"/>
                </a:solidFill>
                <a:latin typeface="Meiryo"/>
                <a:ea typeface="Meiryo"/>
                <a:cs typeface="Meiryo"/>
              </a:rPr>
              <a:t>O₂ Hb </a:t>
            </a:r>
            <a:r>
              <a:rPr lang="en-US" sz="2400" b="1" dirty="0" err="1">
                <a:solidFill>
                  <a:srgbClr val="262626"/>
                </a:solidFill>
                <a:latin typeface="Meiryo"/>
                <a:ea typeface="Meiryo"/>
                <a:cs typeface="Meiryo"/>
              </a:rPr>
              <a:t>の割合</a:t>
            </a:r>
            <a:endParaRPr lang="en-US" sz="2400" b="1" dirty="0">
              <a:solidFill>
                <a:srgbClr val="262626"/>
              </a:solidFill>
              <a:latin typeface="Meiryo"/>
              <a:ea typeface="Meiryo"/>
              <a:cs typeface="Meiryo"/>
            </a:endParaRPr>
          </a:p>
          <a:p>
            <a:pPr algn="ctr">
              <a:lnSpc>
                <a:spcPct val="150000"/>
              </a:lnSpc>
              <a:spcBef>
                <a:spcPts val="0"/>
              </a:spcBef>
              <a:spcAft>
                <a:spcPts val="0"/>
              </a:spcAft>
            </a:pPr>
            <a:r>
              <a:rPr lang="en-US" sz="2400" b="1" dirty="0">
                <a:solidFill>
                  <a:srgbClr val="262626"/>
                </a:solidFill>
                <a:latin typeface="Meiryo"/>
                <a:ea typeface="Meiryo"/>
                <a:cs typeface="Meiryo"/>
              </a:rPr>
              <a:t>AC / DC </a:t>
            </a:r>
            <a:r>
              <a:rPr lang="en-US" sz="2400" b="1" dirty="0" err="1">
                <a:solidFill>
                  <a:srgbClr val="262626"/>
                </a:solidFill>
                <a:latin typeface="Meiryo"/>
                <a:ea typeface="Meiryo"/>
                <a:cs typeface="Meiryo"/>
              </a:rPr>
              <a:t>で非拍動成分を除く</a:t>
            </a:r>
            <a:endParaRPr sz="24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7/55</a:t>
            </a:r>
          </a:p>
        </p:txBody>
      </p:sp>
    </p:spTree>
    <p:extLst>
      <p:ext uri="{BB962C8B-B14F-4D97-AF65-F5344CB8AC3E}">
        <p14:creationId xmlns:p14="http://schemas.microsoft.com/office/powerpoint/2010/main" val="1683894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9DE69-82D3-AD5B-CFBE-CFEB6B707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8B47B-D71E-F528-DC21-4207271B4BD0}"/>
              </a:ext>
            </a:extLst>
          </p:cNvPr>
          <p:cNvSpPr>
            <a:spLocks noGrp="1"/>
          </p:cNvSpPr>
          <p:nvPr>
            <p:ph type="title"/>
          </p:nvPr>
        </p:nvSpPr>
        <p:spPr/>
        <p:txBody>
          <a:bodyPr/>
          <a:lstStyle/>
          <a:p>
            <a:pPr algn="l"/>
            <a:r>
              <a:rPr sz="4600" dirty="0">
                <a:latin typeface="Meiryo"/>
                <a:ea typeface="Meiryo"/>
                <a:cs typeface="Meiryo"/>
              </a:rPr>
              <a:t>1.1  </a:t>
            </a:r>
            <a:r>
              <a:rPr sz="4600" dirty="0" err="1">
                <a:latin typeface="Meiryo"/>
                <a:ea typeface="Meiryo"/>
                <a:cs typeface="Meiryo"/>
              </a:rPr>
              <a:t>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EB68108E-D56D-D2FE-6A95-6AFF4141C08E}"/>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69B98BAC-ED75-3091-DFD4-2055811DC1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5070F443-ED2C-E481-8075-6BF6CD4B9533}"/>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E7ABE82-AE34-DBD8-51F8-C576F890DA6F}"/>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26" name="TextBox 25">
            <a:extLst>
              <a:ext uri="{FF2B5EF4-FFF2-40B4-BE49-F238E27FC236}">
                <a16:creationId xmlns:a16="http://schemas.microsoft.com/office/drawing/2014/main" id="{671C795A-39A0-0F8C-6364-F516729C58C0}"/>
              </a:ext>
            </a:extLst>
          </p:cNvPr>
          <p:cNvSpPr txBox="1"/>
          <p:nvPr/>
        </p:nvSpPr>
        <p:spPr>
          <a:xfrm>
            <a:off x="4969880" y="2698563"/>
            <a:ext cx="2929905"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 </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 </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A70156F4-1C44-3299-5196-6543B5023B59}"/>
              </a:ext>
            </a:extLst>
          </p:cNvPr>
          <p:cNvSpPr txBox="1"/>
          <p:nvPr/>
        </p:nvSpPr>
        <p:spPr>
          <a:xfrm>
            <a:off x="3599763" y="4057392"/>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D3A2BA00-D26D-D3EF-749A-289F98062ED8}"/>
              </a:ext>
            </a:extLst>
          </p:cNvPr>
          <p:cNvSpPr txBox="1"/>
          <p:nvPr/>
        </p:nvSpPr>
        <p:spPr>
          <a:xfrm>
            <a:off x="3882238" y="2898617"/>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56AACF86-978F-44BC-D2E0-1A46847AF410}"/>
              </a:ext>
            </a:extLst>
          </p:cNvPr>
          <p:cNvCxnSpPr>
            <a:cxnSpLocks/>
          </p:cNvCxnSpPr>
          <p:nvPr/>
        </p:nvCxnSpPr>
        <p:spPr>
          <a:xfrm>
            <a:off x="5005146" y="3153474"/>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7/55</a:t>
            </a:r>
          </a:p>
        </p:txBody>
      </p:sp>
    </p:spTree>
    <p:extLst>
      <p:ext uri="{BB962C8B-B14F-4D97-AF65-F5344CB8AC3E}">
        <p14:creationId xmlns:p14="http://schemas.microsoft.com/office/powerpoint/2010/main" val="1271960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8E781-C379-328F-DD39-10AD1E4F6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BD815-6901-B5AD-16B0-30111B30B4E0}"/>
              </a:ext>
            </a:extLst>
          </p:cNvPr>
          <p:cNvSpPr>
            <a:spLocks noGrp="1"/>
          </p:cNvSpPr>
          <p:nvPr>
            <p:ph type="title"/>
          </p:nvPr>
        </p:nvSpPr>
        <p:spPr/>
        <p:txBody>
          <a:bodyPr/>
          <a:lstStyle/>
          <a:p>
            <a:pPr algn="l"/>
            <a:r>
              <a:rPr sz="4600" dirty="0">
                <a:latin typeface="Meiryo"/>
                <a:ea typeface="Meiryo"/>
                <a:cs typeface="Meiryo"/>
              </a:rPr>
              <a:t>1.1  </a:t>
            </a:r>
            <a:r>
              <a:rPr sz="4600" dirty="0" err="1">
                <a:latin typeface="Meiryo"/>
                <a:ea typeface="Meiryo"/>
                <a:cs typeface="Meiryo"/>
              </a:rPr>
              <a:t>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51514755-D727-039C-97EF-F111B7D0E4E0}"/>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FAF4D02A-E95F-3ED3-56DA-7A760F80A9D6}"/>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BAC11D3C-C6C9-6C7B-69AA-54886D6B678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AC01BD48-408B-FFEA-38CD-2EFBF2C721C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26" name="TextBox 25">
            <a:extLst>
              <a:ext uri="{FF2B5EF4-FFF2-40B4-BE49-F238E27FC236}">
                <a16:creationId xmlns:a16="http://schemas.microsoft.com/office/drawing/2014/main" id="{C2AD21ED-7230-B8AF-C43F-21C68FD52DF9}"/>
              </a:ext>
            </a:extLst>
          </p:cNvPr>
          <p:cNvSpPr txBox="1"/>
          <p:nvPr/>
        </p:nvSpPr>
        <p:spPr>
          <a:xfrm>
            <a:off x="2662110" y="2640506"/>
            <a:ext cx="2929905"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 </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 </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ABB0B0E8-BC72-F328-BA26-3A59E264E815}"/>
              </a:ext>
            </a:extLst>
          </p:cNvPr>
          <p:cNvSpPr txBox="1"/>
          <p:nvPr/>
        </p:nvSpPr>
        <p:spPr>
          <a:xfrm>
            <a:off x="1291993" y="3999335"/>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DEE4B20C-7323-02FF-9476-6537183B16B1}"/>
              </a:ext>
            </a:extLst>
          </p:cNvPr>
          <p:cNvSpPr txBox="1"/>
          <p:nvPr/>
        </p:nvSpPr>
        <p:spPr>
          <a:xfrm>
            <a:off x="1574468" y="2840560"/>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770C4FA7-3629-8CB8-8F31-EF8D211C2E66}"/>
              </a:ext>
            </a:extLst>
          </p:cNvPr>
          <p:cNvCxnSpPr>
            <a:cxnSpLocks/>
          </p:cNvCxnSpPr>
          <p:nvPr/>
        </p:nvCxnSpPr>
        <p:spPr>
          <a:xfrm>
            <a:off x="2697376" y="3095417"/>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ounded Rectangle 25">
            <a:extLst>
              <a:ext uri="{FF2B5EF4-FFF2-40B4-BE49-F238E27FC236}">
                <a16:creationId xmlns:a16="http://schemas.microsoft.com/office/drawing/2014/main" id="{C511A174-F59F-B836-29E4-CB4EB16BE94F}"/>
              </a:ext>
            </a:extLst>
          </p:cNvPr>
          <p:cNvSpPr/>
          <p:nvPr/>
        </p:nvSpPr>
        <p:spPr>
          <a:xfrm>
            <a:off x="1236000" y="578015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a:solidFill>
                  <a:srgbClr val="262626"/>
                </a:solidFill>
                <a:latin typeface="Meiryo"/>
                <a:ea typeface="Meiryo"/>
                <a:cs typeface="Meiryo"/>
              </a:rPr>
              <a:t>AC / DC </a:t>
            </a:r>
            <a:r>
              <a:rPr lang="en-US" sz="2400" b="1" dirty="0" err="1">
                <a:solidFill>
                  <a:srgbClr val="262626"/>
                </a:solidFill>
                <a:latin typeface="Meiryo"/>
                <a:ea typeface="Meiryo"/>
                <a:cs typeface="Meiryo"/>
              </a:rPr>
              <a:t>で動脈血成分にし</a:t>
            </a:r>
            <a:r>
              <a:rPr lang="en-US" sz="2400" b="1" dirty="0">
                <a:solidFill>
                  <a:srgbClr val="262626"/>
                </a:solidFill>
                <a:latin typeface="Meiryo"/>
                <a:ea typeface="Meiryo"/>
                <a:cs typeface="Meiryo"/>
              </a:rPr>
              <a:t>、</a:t>
            </a:r>
            <a:r>
              <a:rPr lang="en" altLang="ja-JP" sz="2400" b="1" dirty="0" err="1">
                <a:solidFill>
                  <a:srgbClr val="D55E00"/>
                </a:solidFill>
                <a:latin typeface="Meiryo"/>
                <a:ea typeface="Meiryo"/>
                <a:cs typeface="Meiryo"/>
              </a:rPr>
              <a:t>O₂Hb</a:t>
            </a:r>
            <a:r>
              <a:rPr lang="ja-JP" altLang="en-US" sz="2400" b="1">
                <a:solidFill>
                  <a:schemeClr val="tx1"/>
                </a:solidFill>
                <a:latin typeface="Meiryo"/>
                <a:ea typeface="Meiryo"/>
                <a:cs typeface="Meiryo"/>
              </a:rPr>
              <a:t>と</a:t>
            </a:r>
            <a:r>
              <a:rPr lang="en-US" altLang="ja-JP" sz="2400" b="1" dirty="0" err="1">
                <a:solidFill>
                  <a:srgbClr val="0072B2"/>
                </a:solidFill>
                <a:latin typeface="Meiryo"/>
                <a:ea typeface="Meiryo"/>
                <a:cs typeface="Meiryo"/>
              </a:rPr>
              <a:t>HHb</a:t>
            </a:r>
            <a:r>
              <a:rPr lang="ja-JP" altLang="en-US" sz="2400" b="1">
                <a:solidFill>
                  <a:schemeClr val="tx1"/>
                </a:solidFill>
                <a:latin typeface="Meiryo"/>
                <a:ea typeface="Meiryo"/>
                <a:cs typeface="Meiryo"/>
              </a:rPr>
              <a:t>の比をとった</a:t>
            </a:r>
            <a:r>
              <a:rPr lang="en" altLang="ja-JP" sz="2400" b="1" dirty="0">
                <a:solidFill>
                  <a:schemeClr val="tx1"/>
                </a:solidFill>
                <a:latin typeface="Meiryo"/>
                <a:ea typeface="Meiryo"/>
                <a:cs typeface="Meiryo"/>
              </a:rPr>
              <a:t> </a:t>
            </a:r>
            <a:endParaRPr sz="2400" b="1" dirty="0">
              <a:solidFill>
                <a:schemeClr val="tx1"/>
              </a:solidFill>
              <a:latin typeface="Meiryo"/>
              <a:ea typeface="Meiryo"/>
              <a:cs typeface="Meiryo"/>
            </a:endParaRPr>
          </a:p>
        </p:txBody>
      </p:sp>
      <p:pic>
        <p:nvPicPr>
          <p:cNvPr id="19" name="fig_spectra" descr="f_spo2_spectra.png">
            <a:extLst>
              <a:ext uri="{FF2B5EF4-FFF2-40B4-BE49-F238E27FC236}">
                <a16:creationId xmlns:a16="http://schemas.microsoft.com/office/drawing/2014/main" id="{D50D47BC-E9FD-83BB-CE1F-FB92D00C2E43}"/>
              </a:ext>
            </a:extLst>
          </p:cNvPr>
          <p:cNvPicPr>
            <a:picLocks noChangeAspect="1"/>
          </p:cNvPicPr>
          <p:nvPr/>
        </p:nvPicPr>
        <p:blipFill>
          <a:blip r:embed="rId3"/>
          <a:stretch>
            <a:fillRect/>
          </a:stretch>
        </p:blipFill>
        <p:spPr>
          <a:xfrm>
            <a:off x="9438701" y="2985425"/>
            <a:ext cx="1914641" cy="1663823"/>
          </a:xfrm>
          <a:prstGeom prst="rect">
            <a:avLst/>
          </a:prstGeom>
        </p:spPr>
      </p:pic>
      <p:sp>
        <p:nvSpPr>
          <p:cNvPr id="20" name="TextBox 21">
            <a:extLst>
              <a:ext uri="{FF2B5EF4-FFF2-40B4-BE49-F238E27FC236}">
                <a16:creationId xmlns:a16="http://schemas.microsoft.com/office/drawing/2014/main" id="{9216A2DD-A730-87DC-C5D6-104BE726E473}"/>
              </a:ext>
            </a:extLst>
          </p:cNvPr>
          <p:cNvSpPr txBox="1"/>
          <p:nvPr/>
        </p:nvSpPr>
        <p:spPr>
          <a:xfrm>
            <a:off x="9667453" y="2648746"/>
            <a:ext cx="256480" cy="307777"/>
          </a:xfrm>
          <a:prstGeom prst="rect">
            <a:avLst/>
          </a:prstGeom>
          <a:noFill/>
        </p:spPr>
        <p:txBody>
          <a:bodyPr wrap="none" lIns="0" tIns="0" rIns="0" bIns="0" anchor="ctr">
            <a:spAutoFit/>
          </a:bodyPr>
          <a:lstStyle/>
          <a:p>
            <a:pPr algn="ctr"/>
            <a:r>
              <a:rPr lang="ja-JP" altLang="en-US" sz="2000" b="1">
                <a:solidFill>
                  <a:srgbClr val="0072B2"/>
                </a:solidFill>
                <a:latin typeface="Meiryo"/>
                <a:ea typeface="Meiryo"/>
                <a:cs typeface="Meiryo"/>
              </a:rPr>
              <a:t>赤</a:t>
            </a:r>
            <a:endParaRPr lang="en-US" altLang="ja-JP" sz="2000" b="1" dirty="0">
              <a:latin typeface="Meiryo"/>
              <a:ea typeface="Meiryo"/>
              <a:cs typeface="Meiryo"/>
            </a:endParaRPr>
          </a:p>
        </p:txBody>
      </p:sp>
      <p:sp>
        <p:nvSpPr>
          <p:cNvPr id="21" name="TextBox 22">
            <a:extLst>
              <a:ext uri="{FF2B5EF4-FFF2-40B4-BE49-F238E27FC236}">
                <a16:creationId xmlns:a16="http://schemas.microsoft.com/office/drawing/2014/main" id="{5CE9272C-C8B5-E9E0-DC9D-E667F2BEC444}"/>
              </a:ext>
            </a:extLst>
          </p:cNvPr>
          <p:cNvSpPr txBox="1"/>
          <p:nvPr/>
        </p:nvSpPr>
        <p:spPr>
          <a:xfrm>
            <a:off x="10788661" y="2648745"/>
            <a:ext cx="512961" cy="307777"/>
          </a:xfrm>
          <a:prstGeom prst="rect">
            <a:avLst/>
          </a:prstGeom>
          <a:noFill/>
        </p:spPr>
        <p:txBody>
          <a:bodyPr wrap="none" lIns="0" tIns="0" rIns="0" bIns="0" anchor="ctr">
            <a:spAutoFit/>
          </a:bodyPr>
          <a:lstStyle/>
          <a:p>
            <a:pPr algn="ctr">
              <a:spcBef>
                <a:spcPts val="0"/>
              </a:spcBef>
              <a:spcAft>
                <a:spcPts val="0"/>
              </a:spcAft>
            </a:pPr>
            <a:r>
              <a:rPr lang="en-US" sz="2000" b="1" dirty="0" err="1">
                <a:solidFill>
                  <a:srgbClr val="D55E00"/>
                </a:solidFill>
                <a:latin typeface="Meiryo"/>
                <a:ea typeface="Meiryo"/>
                <a:cs typeface="Meiryo"/>
              </a:rPr>
              <a:t>赤外</a:t>
            </a:r>
            <a:endParaRPr sz="2000" b="1" dirty="0">
              <a:solidFill>
                <a:schemeClr val="accent3"/>
              </a:solidFill>
              <a:latin typeface="Meiryo"/>
              <a:ea typeface="Meiryo"/>
              <a:cs typeface="Meiryo"/>
            </a:endParaRPr>
          </a:p>
        </p:txBody>
      </p:sp>
      <p:pic>
        <p:nvPicPr>
          <p:cNvPr id="23" name="fig_signal" descr="f11_signal.png">
            <a:extLst>
              <a:ext uri="{FF2B5EF4-FFF2-40B4-BE49-F238E27FC236}">
                <a16:creationId xmlns:a16="http://schemas.microsoft.com/office/drawing/2014/main" id="{F2E70046-EF7C-3371-CA42-0B47FD71A17E}"/>
              </a:ext>
            </a:extLst>
          </p:cNvPr>
          <p:cNvPicPr>
            <a:picLocks noChangeAspect="1"/>
          </p:cNvPicPr>
          <p:nvPr/>
        </p:nvPicPr>
        <p:blipFill>
          <a:blip r:embed="rId4"/>
          <a:stretch>
            <a:fillRect/>
          </a:stretch>
        </p:blipFill>
        <p:spPr>
          <a:xfrm>
            <a:off x="6885863" y="3021275"/>
            <a:ext cx="2048853" cy="1428287"/>
          </a:xfrm>
          <a:prstGeom prst="rect">
            <a:avLst/>
          </a:prstGeom>
        </p:spPr>
      </p:pic>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7/55</a:t>
            </a:r>
          </a:p>
        </p:txBody>
      </p:sp>
    </p:spTree>
    <p:extLst>
      <p:ext uri="{BB962C8B-B14F-4D97-AF65-F5344CB8AC3E}">
        <p14:creationId xmlns:p14="http://schemas.microsoft.com/office/powerpoint/2010/main" val="2973052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392F3-CC16-4BE4-EECB-B07536256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7DD56F-375A-ECA5-EF52-F9B4FFE7834F}"/>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62003C50-0946-BE08-1DCB-782C001E0166}"/>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6E08B49-D90C-0AF3-512D-2BC21FD0CC5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905A4842-4D68-85CD-9430-3D539DA8DE4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1D19E03E-C126-A196-7C93-6AD210386A6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26" name="TextBox 25">
            <a:extLst>
              <a:ext uri="{FF2B5EF4-FFF2-40B4-BE49-F238E27FC236}">
                <a16:creationId xmlns:a16="http://schemas.microsoft.com/office/drawing/2014/main" id="{BFF777B3-6953-3586-45E8-2AF7964E9C6F}"/>
              </a:ext>
            </a:extLst>
          </p:cNvPr>
          <p:cNvSpPr txBox="1"/>
          <p:nvPr/>
        </p:nvSpPr>
        <p:spPr>
          <a:xfrm>
            <a:off x="1988403" y="2879984"/>
            <a:ext cx="2859373"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41027131-7DE3-409A-2020-7854B55610AC}"/>
              </a:ext>
            </a:extLst>
          </p:cNvPr>
          <p:cNvSpPr txBox="1"/>
          <p:nvPr/>
        </p:nvSpPr>
        <p:spPr>
          <a:xfrm>
            <a:off x="583020" y="4238813"/>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41AFD698-29F8-4B08-402C-13E77E75C9B3}"/>
              </a:ext>
            </a:extLst>
          </p:cNvPr>
          <p:cNvSpPr txBox="1"/>
          <p:nvPr/>
        </p:nvSpPr>
        <p:spPr>
          <a:xfrm>
            <a:off x="865495" y="3080038"/>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1856A65F-D379-8E71-391C-1CF73EADD557}"/>
              </a:ext>
            </a:extLst>
          </p:cNvPr>
          <p:cNvCxnSpPr>
            <a:cxnSpLocks/>
          </p:cNvCxnSpPr>
          <p:nvPr/>
        </p:nvCxnSpPr>
        <p:spPr>
          <a:xfrm>
            <a:off x="1988403" y="3334895"/>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18">
            <a:extLst>
              <a:ext uri="{FF2B5EF4-FFF2-40B4-BE49-F238E27FC236}">
                <a16:creationId xmlns:a16="http://schemas.microsoft.com/office/drawing/2014/main" id="{9CED8767-6BF3-8EA0-8F87-22C8D4EBEBB5}"/>
              </a:ext>
            </a:extLst>
          </p:cNvPr>
          <p:cNvSpPr txBox="1"/>
          <p:nvPr/>
        </p:nvSpPr>
        <p:spPr>
          <a:xfrm>
            <a:off x="6433489" y="2031071"/>
            <a:ext cx="735779" cy="338554"/>
          </a:xfrm>
          <a:prstGeom prst="rect">
            <a:avLst/>
          </a:prstGeom>
          <a:noFill/>
        </p:spPr>
        <p:txBody>
          <a:bodyPr wrap="none" lIns="0" tIns="0" rIns="0" bIns="0" anchor="ctr">
            <a:spAutoFit/>
          </a:bodyPr>
          <a:lstStyle/>
          <a:p>
            <a:pPr algn="ctr">
              <a:spcBef>
                <a:spcPts val="0"/>
              </a:spcBef>
              <a:spcAft>
                <a:spcPts val="0"/>
              </a:spcAft>
            </a:pPr>
            <a:r>
              <a:rPr sz="2200" b="1" dirty="0" err="1">
                <a:solidFill>
                  <a:schemeClr val="accent3"/>
                </a:solidFill>
                <a:latin typeface="Meiryo"/>
                <a:ea typeface="Meiryo"/>
                <a:cs typeface="Meiryo"/>
              </a:rPr>
              <a:t>S</a:t>
            </a:r>
            <a:r>
              <a:rPr lang="en-US" sz="2200" b="1" dirty="0" err="1">
                <a:solidFill>
                  <a:schemeClr val="accent3"/>
                </a:solidFill>
                <a:latin typeface="Meiryo"/>
                <a:ea typeface="Meiryo"/>
                <a:cs typeface="Meiryo"/>
              </a:rPr>
              <a:t>a</a:t>
            </a:r>
            <a:r>
              <a:rPr sz="2200" b="1" dirty="0" err="1">
                <a:solidFill>
                  <a:schemeClr val="accent3"/>
                </a:solidFill>
                <a:latin typeface="Meiryo"/>
                <a:ea typeface="Meiryo"/>
                <a:cs typeface="Meiryo"/>
              </a:rPr>
              <a:t>O</a:t>
            </a:r>
            <a:r>
              <a:rPr sz="2200" b="1" dirty="0">
                <a:solidFill>
                  <a:schemeClr val="accent3"/>
                </a:solidFill>
                <a:latin typeface="Meiryo"/>
                <a:ea typeface="Meiryo"/>
                <a:cs typeface="Meiryo"/>
              </a:rPr>
              <a:t>₂</a:t>
            </a:r>
          </a:p>
        </p:txBody>
      </p:sp>
      <p:pic>
        <p:nvPicPr>
          <p:cNvPr id="6" name="fig_calib" descr="f_spo2_calib.png">
            <a:extLst>
              <a:ext uri="{FF2B5EF4-FFF2-40B4-BE49-F238E27FC236}">
                <a16:creationId xmlns:a16="http://schemas.microsoft.com/office/drawing/2014/main" id="{2DE2DC97-6121-8AD5-9B06-16D98FA76519}"/>
              </a:ext>
            </a:extLst>
          </p:cNvPr>
          <p:cNvPicPr>
            <a:picLocks noChangeAspect="1"/>
          </p:cNvPicPr>
          <p:nvPr/>
        </p:nvPicPr>
        <p:blipFill>
          <a:blip r:embed="rId3"/>
          <a:stretch>
            <a:fillRect/>
          </a:stretch>
        </p:blipFill>
        <p:spPr>
          <a:xfrm>
            <a:off x="6374203" y="2365258"/>
            <a:ext cx="4078883" cy="3024000"/>
          </a:xfrm>
          <a:prstGeom prst="rect">
            <a:avLst/>
          </a:prstGeom>
        </p:spPr>
      </p:pic>
      <p:sp>
        <p:nvSpPr>
          <p:cNvPr id="9" name="TextBox 18">
            <a:extLst>
              <a:ext uri="{FF2B5EF4-FFF2-40B4-BE49-F238E27FC236}">
                <a16:creationId xmlns:a16="http://schemas.microsoft.com/office/drawing/2014/main" id="{9A2992B8-6BDA-AE8F-09EE-CD3A772CD3B7}"/>
              </a:ext>
            </a:extLst>
          </p:cNvPr>
          <p:cNvSpPr txBox="1"/>
          <p:nvPr/>
        </p:nvSpPr>
        <p:spPr>
          <a:xfrm>
            <a:off x="10840404" y="4931650"/>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
        <p:nvSpPr>
          <p:cNvPr id="19" name="テキスト ボックス 18">
            <a:extLst>
              <a:ext uri="{FF2B5EF4-FFF2-40B4-BE49-F238E27FC236}">
                <a16:creationId xmlns:a16="http://schemas.microsoft.com/office/drawing/2014/main" id="{6AB88125-D6EA-275F-1C3D-C28AC5906615}"/>
              </a:ext>
            </a:extLst>
          </p:cNvPr>
          <p:cNvSpPr txBox="1"/>
          <p:nvPr/>
        </p:nvSpPr>
        <p:spPr>
          <a:xfrm>
            <a:off x="10503049" y="2401662"/>
            <a:ext cx="535724" cy="369332"/>
          </a:xfrm>
          <a:prstGeom prst="rect">
            <a:avLst/>
          </a:prstGeom>
          <a:noFill/>
        </p:spPr>
        <p:txBody>
          <a:bodyPr wrap="none" rtlCol="0">
            <a:spAutoFit/>
          </a:bodyPr>
          <a:lstStyle/>
          <a:p>
            <a:r>
              <a:rPr kumimoji="1" lang="en-US" altLang="ja-JP" b="1" dirty="0">
                <a:solidFill>
                  <a:schemeClr val="accent3"/>
                </a:solidFill>
              </a:rPr>
              <a:t>100</a:t>
            </a:r>
            <a:endParaRPr kumimoji="1" lang="ja-JP" altLang="en-US" b="1">
              <a:solidFill>
                <a:schemeClr val="accent3"/>
              </a:solidFill>
            </a:endParaRPr>
          </a:p>
        </p:txBody>
      </p:sp>
      <p:sp>
        <p:nvSpPr>
          <p:cNvPr id="20" name="テキスト ボックス 19">
            <a:extLst>
              <a:ext uri="{FF2B5EF4-FFF2-40B4-BE49-F238E27FC236}">
                <a16:creationId xmlns:a16="http://schemas.microsoft.com/office/drawing/2014/main" id="{5FABEF62-388E-ED3A-E9E3-5FA514926AF6}"/>
              </a:ext>
            </a:extLst>
          </p:cNvPr>
          <p:cNvSpPr txBox="1"/>
          <p:nvPr/>
        </p:nvSpPr>
        <p:spPr>
          <a:xfrm>
            <a:off x="10566660" y="3118773"/>
            <a:ext cx="418704" cy="369332"/>
          </a:xfrm>
          <a:prstGeom prst="rect">
            <a:avLst/>
          </a:prstGeom>
          <a:noFill/>
        </p:spPr>
        <p:txBody>
          <a:bodyPr wrap="none" rtlCol="0">
            <a:spAutoFit/>
          </a:bodyPr>
          <a:lstStyle/>
          <a:p>
            <a:r>
              <a:rPr kumimoji="1" lang="en-US" altLang="ja-JP" b="1" dirty="0">
                <a:solidFill>
                  <a:schemeClr val="accent3"/>
                </a:solidFill>
              </a:rPr>
              <a:t>70</a:t>
            </a:r>
            <a:endParaRPr kumimoji="1" lang="ja-JP" altLang="en-US" b="1">
              <a:solidFill>
                <a:schemeClr val="accent3"/>
              </a:solidFill>
            </a:endParaRPr>
          </a:p>
        </p:txBody>
      </p:sp>
      <p:sp>
        <p:nvSpPr>
          <p:cNvPr id="21" name="テキスト ボックス 20">
            <a:extLst>
              <a:ext uri="{FF2B5EF4-FFF2-40B4-BE49-F238E27FC236}">
                <a16:creationId xmlns:a16="http://schemas.microsoft.com/office/drawing/2014/main" id="{6D73AF31-3BE1-BE30-7323-513A21BDB122}"/>
              </a:ext>
            </a:extLst>
          </p:cNvPr>
          <p:cNvSpPr txBox="1"/>
          <p:nvPr/>
        </p:nvSpPr>
        <p:spPr>
          <a:xfrm>
            <a:off x="6251540" y="5517944"/>
            <a:ext cx="5262979" cy="369332"/>
          </a:xfrm>
          <a:prstGeom prst="rect">
            <a:avLst/>
          </a:prstGeom>
          <a:noFill/>
        </p:spPr>
        <p:txBody>
          <a:bodyPr wrap="none" rtlCol="0">
            <a:spAutoFit/>
          </a:bodyPr>
          <a:lstStyle/>
          <a:p>
            <a:r>
              <a:rPr kumimoji="1" lang="ja-JP" altLang="en-US" b="1"/>
              <a:t>健常人の低酸素負荷試験</a:t>
            </a:r>
            <a:r>
              <a:rPr lang="ja-JP" altLang="en-US" b="1"/>
              <a:t>により得られた</a:t>
            </a:r>
            <a:r>
              <a:rPr kumimoji="1" lang="ja-JP" altLang="en-US" b="1"/>
              <a:t>テーブル</a:t>
            </a:r>
          </a:p>
        </p:txBody>
      </p: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7/55</a:t>
            </a:r>
          </a:p>
        </p:txBody>
      </p:sp>
    </p:spTree>
    <p:extLst>
      <p:ext uri="{BB962C8B-B14F-4D97-AF65-F5344CB8AC3E}">
        <p14:creationId xmlns:p14="http://schemas.microsoft.com/office/powerpoint/2010/main" val="4207516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900EA-8DE8-CEA6-793D-3C9AAF647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E946C-592F-FEA9-5FAD-AF8D3DA91708}"/>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FF32DBAC-C626-61BC-431C-BFD4D3725BDA}"/>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EC775667-C64E-846A-F7FB-2049EF8F069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5BE0793C-A633-62EF-B32A-975B4754EEB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0C9124B-56CC-A567-DCEE-BCB595F8ACB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26" name="TextBox 25">
            <a:extLst>
              <a:ext uri="{FF2B5EF4-FFF2-40B4-BE49-F238E27FC236}">
                <a16:creationId xmlns:a16="http://schemas.microsoft.com/office/drawing/2014/main" id="{9434E1E4-3859-A30E-A9C6-F65269BC5CFB}"/>
              </a:ext>
            </a:extLst>
          </p:cNvPr>
          <p:cNvSpPr txBox="1"/>
          <p:nvPr/>
        </p:nvSpPr>
        <p:spPr>
          <a:xfrm>
            <a:off x="1988403" y="2879984"/>
            <a:ext cx="2859373"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5" name="テキスト ボックス 4">
            <a:extLst>
              <a:ext uri="{FF2B5EF4-FFF2-40B4-BE49-F238E27FC236}">
                <a16:creationId xmlns:a16="http://schemas.microsoft.com/office/drawing/2014/main" id="{B24F7411-D60A-13ED-524F-98E4A86747B7}"/>
              </a:ext>
            </a:extLst>
          </p:cNvPr>
          <p:cNvSpPr txBox="1"/>
          <p:nvPr/>
        </p:nvSpPr>
        <p:spPr>
          <a:xfrm>
            <a:off x="865495" y="3080038"/>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B135F6BD-B69B-126C-17D8-0DDE0E155EF6}"/>
              </a:ext>
            </a:extLst>
          </p:cNvPr>
          <p:cNvCxnSpPr>
            <a:cxnSpLocks/>
          </p:cNvCxnSpPr>
          <p:nvPr/>
        </p:nvCxnSpPr>
        <p:spPr>
          <a:xfrm>
            <a:off x="1988403" y="3334895"/>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06C4E28E-D78C-AB11-11A9-C187756FF4E2}"/>
              </a:ext>
            </a:extLst>
          </p:cNvPr>
          <p:cNvSpPr txBox="1"/>
          <p:nvPr/>
        </p:nvSpPr>
        <p:spPr>
          <a:xfrm>
            <a:off x="1988403" y="4306474"/>
            <a:ext cx="2089034" cy="1569660"/>
          </a:xfrm>
          <a:prstGeom prst="rect">
            <a:avLst/>
          </a:prstGeom>
          <a:noFill/>
        </p:spPr>
        <p:txBody>
          <a:bodyPr wrap="none" rtlCol="0">
            <a:spAutoFit/>
          </a:bodyPr>
          <a:lstStyle/>
          <a:p>
            <a:pPr algn="ctr"/>
            <a:r>
              <a:rPr kumimoji="1" lang="ja-JP" altLang="en-US" sz="3200" b="1">
                <a:latin typeface="+mj-ea"/>
                <a:ea typeface="+mj-ea"/>
              </a:rPr>
              <a:t>↓</a:t>
            </a:r>
            <a:endParaRPr kumimoji="1" lang="en-US" altLang="ja-JP" sz="3200" b="1" dirty="0">
              <a:latin typeface="+mj-ea"/>
              <a:ea typeface="+mj-ea"/>
            </a:endParaRPr>
          </a:p>
          <a:p>
            <a:pPr algn="ctr"/>
            <a:endParaRPr kumimoji="1" lang="en-US" altLang="ja-JP" sz="3200" b="1" dirty="0">
              <a:latin typeface="+mj-ea"/>
              <a:ea typeface="+mj-ea"/>
            </a:endParaRPr>
          </a:p>
          <a:p>
            <a:pPr algn="ctr"/>
            <a:r>
              <a:rPr lang="en-US" altLang="ja-JP" sz="3200" b="1" dirty="0">
                <a:latin typeface="+mj-ea"/>
                <a:ea typeface="+mj-ea"/>
              </a:rPr>
              <a:t>SpO₂</a:t>
            </a:r>
            <a:r>
              <a:rPr lang="ja-JP" altLang="en-US" sz="3200" b="1">
                <a:latin typeface="+mj-ea"/>
                <a:ea typeface="+mj-ea"/>
              </a:rPr>
              <a:t>決定</a:t>
            </a:r>
            <a:endParaRPr kumimoji="1" lang="ja-JP" altLang="en-US" sz="3200" b="1">
              <a:latin typeface="+mj-ea"/>
              <a:ea typeface="+mj-ea"/>
            </a:endParaRPr>
          </a:p>
        </p:txBody>
      </p:sp>
      <p:sp>
        <p:nvSpPr>
          <p:cNvPr id="4" name="TextBox 18">
            <a:extLst>
              <a:ext uri="{FF2B5EF4-FFF2-40B4-BE49-F238E27FC236}">
                <a16:creationId xmlns:a16="http://schemas.microsoft.com/office/drawing/2014/main" id="{7BE2AC6C-5E04-2BB8-5CFB-211FCC713823}"/>
              </a:ext>
            </a:extLst>
          </p:cNvPr>
          <p:cNvSpPr txBox="1"/>
          <p:nvPr/>
        </p:nvSpPr>
        <p:spPr>
          <a:xfrm>
            <a:off x="6433489" y="2031071"/>
            <a:ext cx="735779" cy="338554"/>
          </a:xfrm>
          <a:prstGeom prst="rect">
            <a:avLst/>
          </a:prstGeom>
          <a:noFill/>
        </p:spPr>
        <p:txBody>
          <a:bodyPr wrap="none" lIns="0" tIns="0" rIns="0" bIns="0" anchor="ctr">
            <a:spAutoFit/>
          </a:bodyPr>
          <a:lstStyle/>
          <a:p>
            <a:pPr algn="ctr">
              <a:spcBef>
                <a:spcPts val="0"/>
              </a:spcBef>
              <a:spcAft>
                <a:spcPts val="0"/>
              </a:spcAft>
            </a:pPr>
            <a:r>
              <a:rPr sz="2200" b="1" dirty="0" err="1">
                <a:solidFill>
                  <a:schemeClr val="accent3"/>
                </a:solidFill>
                <a:latin typeface="Meiryo"/>
                <a:ea typeface="Meiryo"/>
                <a:cs typeface="Meiryo"/>
              </a:rPr>
              <a:t>S</a:t>
            </a:r>
            <a:r>
              <a:rPr lang="en-US" sz="2200" b="1" dirty="0" err="1">
                <a:solidFill>
                  <a:schemeClr val="accent3"/>
                </a:solidFill>
                <a:latin typeface="Meiryo"/>
                <a:ea typeface="Meiryo"/>
                <a:cs typeface="Meiryo"/>
              </a:rPr>
              <a:t>a</a:t>
            </a:r>
            <a:r>
              <a:rPr sz="2200" b="1" dirty="0" err="1">
                <a:solidFill>
                  <a:schemeClr val="accent3"/>
                </a:solidFill>
                <a:latin typeface="Meiryo"/>
                <a:ea typeface="Meiryo"/>
                <a:cs typeface="Meiryo"/>
              </a:rPr>
              <a:t>O</a:t>
            </a:r>
            <a:r>
              <a:rPr sz="2200" b="1" dirty="0">
                <a:solidFill>
                  <a:schemeClr val="accent3"/>
                </a:solidFill>
                <a:latin typeface="Meiryo"/>
                <a:ea typeface="Meiryo"/>
                <a:cs typeface="Meiryo"/>
              </a:rPr>
              <a:t>₂</a:t>
            </a:r>
          </a:p>
        </p:txBody>
      </p:sp>
      <p:pic>
        <p:nvPicPr>
          <p:cNvPr id="22" name="fig_calib" descr="f_spo2_calib.png">
            <a:extLst>
              <a:ext uri="{FF2B5EF4-FFF2-40B4-BE49-F238E27FC236}">
                <a16:creationId xmlns:a16="http://schemas.microsoft.com/office/drawing/2014/main" id="{535361BC-26D6-8B05-A4D1-81B3819BF9BD}"/>
              </a:ext>
            </a:extLst>
          </p:cNvPr>
          <p:cNvPicPr>
            <a:picLocks noChangeAspect="1"/>
          </p:cNvPicPr>
          <p:nvPr/>
        </p:nvPicPr>
        <p:blipFill>
          <a:blip r:embed="rId3"/>
          <a:stretch>
            <a:fillRect/>
          </a:stretch>
        </p:blipFill>
        <p:spPr>
          <a:xfrm>
            <a:off x="6374203" y="2365258"/>
            <a:ext cx="4078883" cy="3024000"/>
          </a:xfrm>
          <a:prstGeom prst="rect">
            <a:avLst/>
          </a:prstGeom>
        </p:spPr>
      </p:pic>
      <p:sp>
        <p:nvSpPr>
          <p:cNvPr id="23" name="TextBox 18">
            <a:extLst>
              <a:ext uri="{FF2B5EF4-FFF2-40B4-BE49-F238E27FC236}">
                <a16:creationId xmlns:a16="http://schemas.microsoft.com/office/drawing/2014/main" id="{6560D9B5-125B-6596-5521-4DA1EAACA04F}"/>
              </a:ext>
            </a:extLst>
          </p:cNvPr>
          <p:cNvSpPr txBox="1"/>
          <p:nvPr/>
        </p:nvSpPr>
        <p:spPr>
          <a:xfrm>
            <a:off x="10840404" y="4931650"/>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
        <p:nvSpPr>
          <p:cNvPr id="24" name="テキスト ボックス 23">
            <a:extLst>
              <a:ext uri="{FF2B5EF4-FFF2-40B4-BE49-F238E27FC236}">
                <a16:creationId xmlns:a16="http://schemas.microsoft.com/office/drawing/2014/main" id="{661D48D2-3AAF-417B-F177-E5E0167778AF}"/>
              </a:ext>
            </a:extLst>
          </p:cNvPr>
          <p:cNvSpPr txBox="1"/>
          <p:nvPr/>
        </p:nvSpPr>
        <p:spPr>
          <a:xfrm>
            <a:off x="10503049" y="2401662"/>
            <a:ext cx="535724" cy="369332"/>
          </a:xfrm>
          <a:prstGeom prst="rect">
            <a:avLst/>
          </a:prstGeom>
          <a:noFill/>
        </p:spPr>
        <p:txBody>
          <a:bodyPr wrap="none" rtlCol="0">
            <a:spAutoFit/>
          </a:bodyPr>
          <a:lstStyle/>
          <a:p>
            <a:r>
              <a:rPr kumimoji="1" lang="en-US" altLang="ja-JP" b="1" dirty="0">
                <a:solidFill>
                  <a:schemeClr val="accent3"/>
                </a:solidFill>
              </a:rPr>
              <a:t>100</a:t>
            </a:r>
            <a:endParaRPr kumimoji="1" lang="ja-JP" altLang="en-US" b="1">
              <a:solidFill>
                <a:schemeClr val="accent3"/>
              </a:solidFill>
            </a:endParaRPr>
          </a:p>
        </p:txBody>
      </p:sp>
      <p:sp>
        <p:nvSpPr>
          <p:cNvPr id="25" name="テキスト ボックス 24">
            <a:extLst>
              <a:ext uri="{FF2B5EF4-FFF2-40B4-BE49-F238E27FC236}">
                <a16:creationId xmlns:a16="http://schemas.microsoft.com/office/drawing/2014/main" id="{95A85D45-3CD3-3571-7513-305F82F23954}"/>
              </a:ext>
            </a:extLst>
          </p:cNvPr>
          <p:cNvSpPr txBox="1"/>
          <p:nvPr/>
        </p:nvSpPr>
        <p:spPr>
          <a:xfrm>
            <a:off x="10566660" y="3118773"/>
            <a:ext cx="418704" cy="369332"/>
          </a:xfrm>
          <a:prstGeom prst="rect">
            <a:avLst/>
          </a:prstGeom>
          <a:noFill/>
        </p:spPr>
        <p:txBody>
          <a:bodyPr wrap="none" rtlCol="0">
            <a:spAutoFit/>
          </a:bodyPr>
          <a:lstStyle/>
          <a:p>
            <a:r>
              <a:rPr kumimoji="1" lang="en-US" altLang="ja-JP" b="1" dirty="0">
                <a:solidFill>
                  <a:schemeClr val="accent3"/>
                </a:solidFill>
              </a:rPr>
              <a:t>70</a:t>
            </a:r>
            <a:endParaRPr kumimoji="1" lang="ja-JP" altLang="en-US" b="1">
              <a:solidFill>
                <a:schemeClr val="accent3"/>
              </a:solidFill>
            </a:endParaRPr>
          </a:p>
        </p:txBody>
      </p:sp>
      <p:sp>
        <p:nvSpPr>
          <p:cNvPr id="27" name="テキスト ボックス 26">
            <a:extLst>
              <a:ext uri="{FF2B5EF4-FFF2-40B4-BE49-F238E27FC236}">
                <a16:creationId xmlns:a16="http://schemas.microsoft.com/office/drawing/2014/main" id="{7F038007-00B8-3212-FD5D-8E93B283E290}"/>
              </a:ext>
            </a:extLst>
          </p:cNvPr>
          <p:cNvSpPr txBox="1"/>
          <p:nvPr/>
        </p:nvSpPr>
        <p:spPr>
          <a:xfrm>
            <a:off x="6251540" y="5517944"/>
            <a:ext cx="5262979" cy="369332"/>
          </a:xfrm>
          <a:prstGeom prst="rect">
            <a:avLst/>
          </a:prstGeom>
          <a:noFill/>
        </p:spPr>
        <p:txBody>
          <a:bodyPr wrap="none" rtlCol="0">
            <a:spAutoFit/>
          </a:bodyPr>
          <a:lstStyle/>
          <a:p>
            <a:r>
              <a:rPr kumimoji="1" lang="ja-JP" altLang="en-US" b="1"/>
              <a:t>健常人の低酸素負荷試験</a:t>
            </a:r>
            <a:r>
              <a:rPr lang="ja-JP" altLang="en-US" b="1"/>
              <a:t>により得られた</a:t>
            </a:r>
            <a:r>
              <a:rPr kumimoji="1" lang="ja-JP" altLang="en-US" b="1"/>
              <a:t>テーブル</a:t>
            </a:r>
          </a:p>
        </p:txBody>
      </p:sp>
      <p:sp>
        <p:nvSpPr>
          <p:cNvPr id="2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2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7/55</a:t>
            </a:r>
          </a:p>
        </p:txBody>
      </p:sp>
    </p:spTree>
    <p:extLst>
      <p:ext uri="{BB962C8B-B14F-4D97-AF65-F5344CB8AC3E}">
        <p14:creationId xmlns:p14="http://schemas.microsoft.com/office/powerpoint/2010/main" val="1175598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 name="Rounded Rectangle 25"/>
          <p:cNvSpPr/>
          <p:nvPr/>
        </p:nvSpPr>
        <p:spPr>
          <a:xfrm>
            <a:off x="540000" y="1872000"/>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DC の中身</a:t>
            </a:r>
          </a:p>
        </p:txBody>
      </p:sp>
      <p:sp>
        <p:nvSpPr>
          <p:cNvPr id="27" name="TextBox 26"/>
          <p:cNvSpPr txBox="1"/>
          <p:nvPr/>
        </p:nvSpPr>
        <p:spPr>
          <a:xfrm>
            <a:off x="3311999" y="192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DC ＝ 静脈血 ＋ 組織 ＋ 拡張期の動脈血</a:t>
            </a:r>
          </a:p>
          <a:p>
            <a:pPr algn="l">
              <a:spcAft>
                <a:spcPts val="400"/>
              </a:spcAft>
            </a:pPr>
            <a:r>
              <a:rPr sz="2400" b="1">
                <a:solidFill>
                  <a:srgbClr val="262626"/>
                </a:solidFill>
                <a:latin typeface="Meiryo"/>
                <a:ea typeface="Meiryo"/>
                <a:cs typeface="Meiryo"/>
              </a:rPr>
              <a:t>「動脈成分を除いた値」ではない</a:t>
            </a:r>
          </a:p>
        </p:txBody>
      </p:sp>
      <p:sp>
        <p:nvSpPr>
          <p:cNvPr id="28" name="Rounded Rectangle 27"/>
          <p:cNvSpPr/>
          <p:nvPr/>
        </p:nvSpPr>
        <p:spPr>
          <a:xfrm>
            <a:off x="540000" y="2951999"/>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理論では</a:t>
            </a:r>
          </a:p>
        </p:txBody>
      </p:sp>
      <p:sp>
        <p:nvSpPr>
          <p:cNvPr id="29" name="TextBox 28"/>
          <p:cNvSpPr txBox="1"/>
          <p:nvPr/>
        </p:nvSpPr>
        <p:spPr>
          <a:xfrm>
            <a:off x="3311999" y="300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R と SaO₂ の関係を決めるのは</a:t>
            </a:r>
          </a:p>
          <a:p>
            <a:pPr algn="l">
              <a:spcAft>
                <a:spcPts val="400"/>
              </a:spcAft>
            </a:pPr>
            <a:r>
              <a:rPr sz="2400" b="1">
                <a:solidFill>
                  <a:srgbClr val="262626"/>
                </a:solidFill>
                <a:latin typeface="Meiryo"/>
                <a:ea typeface="Meiryo"/>
                <a:cs typeface="Meiryo"/>
              </a:rPr>
              <a:t>拍動で膨らむ区画の 実効光路長</a:t>
            </a:r>
          </a:p>
        </p:txBody>
      </p:sp>
      <p:sp>
        <p:nvSpPr>
          <p:cNvPr id="30" name="Rounded Rectangle 29"/>
          <p:cNvSpPr/>
          <p:nvPr/>
        </p:nvSpPr>
        <p:spPr>
          <a:xfrm>
            <a:off x="540000" y="4031999"/>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実務では</a:t>
            </a:r>
          </a:p>
        </p:txBody>
      </p:sp>
      <p:sp>
        <p:nvSpPr>
          <p:cNvPr id="31" name="TextBox 30"/>
          <p:cNvSpPr txBox="1"/>
          <p:nvPr/>
        </p:nvSpPr>
        <p:spPr>
          <a:xfrm>
            <a:off x="3311999" y="408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メーカーの経験的較正（健常者の低酸素負荷）に</a:t>
            </a:r>
          </a:p>
          <a:p>
            <a:pPr algn="l">
              <a:spcAft>
                <a:spcPts val="400"/>
              </a:spcAft>
            </a:pPr>
            <a:r>
              <a:rPr sz="2400" b="1">
                <a:solidFill>
                  <a:srgbClr val="262626"/>
                </a:solidFill>
                <a:latin typeface="Meiryo"/>
                <a:ea typeface="Meiryo"/>
                <a:cs typeface="Meiryo"/>
              </a:rPr>
              <a:t>織り込み済み ＝ 通常の臨床精度 約3〜4% に収まる</a:t>
            </a:r>
          </a:p>
        </p:txBody>
      </p:sp>
      <p:sp>
        <p:nvSpPr>
          <p:cNvPr id="32" name="Rounded Rectangle 31"/>
          <p:cNvSpPr/>
          <p:nvPr/>
        </p:nvSpPr>
        <p:spPr>
          <a:xfrm>
            <a:off x="540000" y="5148000"/>
            <a:ext cx="11160000" cy="1044000"/>
          </a:xfrm>
          <a:prstGeom prst="roundRect">
            <a:avLst/>
          </a:prstGeom>
          <a:no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600" b="1">
                <a:solidFill>
                  <a:srgbClr val="C00000"/>
                </a:solidFill>
                <a:latin typeface="Meiryo"/>
                <a:ea typeface="Meiryo"/>
                <a:cs typeface="Meiryo"/>
              </a:rPr>
              <a:t>較正の前提（健常成人）から外れると 誤差が拡大</a:t>
            </a:r>
          </a:p>
          <a:p>
            <a:pPr algn="ctr">
              <a:spcAft>
                <a:spcPts val="400"/>
              </a:spcAft>
            </a:pPr>
            <a:r>
              <a:rPr sz="2200" b="1">
                <a:solidFill>
                  <a:srgbClr val="262626"/>
                </a:solidFill>
                <a:latin typeface="Meiryo"/>
                <a:ea typeface="Meiryo"/>
                <a:cs typeface="Meiryo"/>
              </a:rPr>
              <a:t>末梢循環不全・色素沈着・異常Hb血症 → hidden hypoxemia</a:t>
            </a:r>
          </a:p>
        </p:txBody>
      </p:sp>
      <p:sp>
        <p:nvSpPr>
          <p:cNvPr id="21" name="Title 1">
            <a:extLst>
              <a:ext uri="{FF2B5EF4-FFF2-40B4-BE49-F238E27FC236}">
                <a16:creationId xmlns:a16="http://schemas.microsoft.com/office/drawing/2014/main" id="{9C289714-CA7F-A992-D29E-FA3F2A8F0919}"/>
              </a:ext>
            </a:extLst>
          </p:cNvPr>
          <p:cNvSpPr>
            <a:spLocks noGrp="1"/>
          </p:cNvSpPr>
          <p:nvPr>
            <p:ph type="title"/>
          </p:nvPr>
        </p:nvSpPr>
        <p:spPr>
          <a:xfrm>
            <a:off x="838200" y="365125"/>
            <a:ext cx="10515600" cy="1325563"/>
          </a:xfrm>
        </p:spPr>
        <p:txBody>
          <a:bodyPr/>
          <a:lstStyle/>
          <a:p>
            <a:pPr algn="l"/>
            <a:r>
              <a:rPr lang="ja-JP" altLang="en-US" sz="4600">
                <a:latin typeface="Meiryo"/>
                <a:ea typeface="Meiryo"/>
                <a:cs typeface="Meiryo"/>
              </a:rPr>
              <a:t>＊</a:t>
            </a:r>
            <a:r>
              <a:rPr sz="4600" dirty="0">
                <a:latin typeface="Meiryo"/>
                <a:ea typeface="Meiryo"/>
                <a:cs typeface="Meiryo"/>
              </a:rPr>
              <a:t> </a:t>
            </a:r>
            <a:r>
              <a:rPr lang="ja-JP" altLang="en-US" sz="4600">
                <a:latin typeface="Meiryo"/>
                <a:ea typeface="Meiryo"/>
                <a:cs typeface="Meiryo"/>
              </a:rPr>
              <a:t>残存動脈血について</a:t>
            </a:r>
            <a:endParaRPr sz="4600" dirty="0">
              <a:latin typeface="Meiryo"/>
              <a:ea typeface="Meiryo"/>
              <a:cs typeface="Meiryo"/>
            </a:endParaRPr>
          </a:p>
        </p:txBody>
      </p:sp>
      <p:sp>
        <p:nvSpPr>
          <p:cNvPr id="24" name="Off-page Connector 4">
            <a:extLst>
              <a:ext uri="{FF2B5EF4-FFF2-40B4-BE49-F238E27FC236}">
                <a16:creationId xmlns:a16="http://schemas.microsoft.com/office/drawing/2014/main" id="{C104181C-0595-D25E-7899-9F2DCB22F14C}"/>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33" name="Off-page Connector 5">
            <a:extLst>
              <a:ext uri="{FF2B5EF4-FFF2-40B4-BE49-F238E27FC236}">
                <a16:creationId xmlns:a16="http://schemas.microsoft.com/office/drawing/2014/main" id="{EA49AC02-5603-00BB-9B05-6D21BBB5361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34" name="Off-page Connector 6">
            <a:extLst>
              <a:ext uri="{FF2B5EF4-FFF2-40B4-BE49-F238E27FC236}">
                <a16:creationId xmlns:a16="http://schemas.microsoft.com/office/drawing/2014/main" id="{7A5D9E57-43B6-61F5-36A0-644FFF1B3D9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5" name="Off-page Connector 7">
            <a:extLst>
              <a:ext uri="{FF2B5EF4-FFF2-40B4-BE49-F238E27FC236}">
                <a16:creationId xmlns:a16="http://schemas.microsoft.com/office/drawing/2014/main" id="{07F9C134-3BEB-BE77-FA16-60912303DD6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3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0213F-9AE9-B5AC-84A0-67940F4F7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D50A5-B875-0F0F-A113-235E673577E2}"/>
              </a:ext>
            </a:extLst>
          </p:cNvPr>
          <p:cNvSpPr>
            <a:spLocks noGrp="1"/>
          </p:cNvSpPr>
          <p:nvPr>
            <p:ph type="title"/>
          </p:nvPr>
        </p:nvSpPr>
        <p:spPr/>
        <p:txBody>
          <a:bodyPr/>
          <a:lstStyle/>
          <a:p>
            <a:pPr algn="l"/>
            <a:r>
              <a:rPr sz="4600">
                <a:latin typeface="Meiryo"/>
                <a:ea typeface="Meiryo"/>
                <a:cs typeface="Meiryo"/>
              </a:rPr>
              <a:t>1.2  PPGが測るもの</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A0688F5D-D548-0A86-F3D6-30A76BA0AE93}"/>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14174C3-B500-4C63-8093-152A3DC4D758}"/>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C7022DA7-F402-260A-E6AB-D42D417F0E4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51341152-344E-FDA7-4360-6157383A803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18" name="TextBox 17">
            <a:extLst>
              <a:ext uri="{FF2B5EF4-FFF2-40B4-BE49-F238E27FC236}">
                <a16:creationId xmlns:a16="http://schemas.microsoft.com/office/drawing/2014/main" id="{7051BD20-0A34-9524-08F0-F6BE167243B8}"/>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74A3A49C-E169-31EF-4BB4-FB61F82262E5}"/>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44784786-4896-08CD-2FD0-53229D7EE7A7}"/>
              </a:ext>
            </a:extLst>
          </p:cNvPr>
          <p:cNvPicPr>
            <a:picLocks noChangeAspect="1"/>
          </p:cNvPicPr>
          <p:nvPr/>
        </p:nvPicPr>
        <p:blipFill>
          <a:blip r:embed="rId3"/>
          <a:stretch>
            <a:fillRect/>
          </a:stretch>
        </p:blipFill>
        <p:spPr>
          <a:xfrm>
            <a:off x="1344680" y="2287984"/>
            <a:ext cx="3472386" cy="3024000"/>
          </a:xfrm>
          <a:prstGeom prst="rect">
            <a:avLst/>
          </a:prstGeom>
        </p:spPr>
      </p:pic>
      <p:sp>
        <p:nvSpPr>
          <p:cNvPr id="22" name="TextBox 21">
            <a:extLst>
              <a:ext uri="{FF2B5EF4-FFF2-40B4-BE49-F238E27FC236}">
                <a16:creationId xmlns:a16="http://schemas.microsoft.com/office/drawing/2014/main" id="{2066DA1A-3FD9-A447-50FA-1AD2CD87C05D}"/>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23" name="TextBox 22">
            <a:extLst>
              <a:ext uri="{FF2B5EF4-FFF2-40B4-BE49-F238E27FC236}">
                <a16:creationId xmlns:a16="http://schemas.microsoft.com/office/drawing/2014/main" id="{723C4902-E489-8214-E816-7EAC05EC4922}"/>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6" name="Rounded Rectangle 25">
            <a:extLst>
              <a:ext uri="{FF2B5EF4-FFF2-40B4-BE49-F238E27FC236}">
                <a16:creationId xmlns:a16="http://schemas.microsoft.com/office/drawing/2014/main" id="{F56FCA1C-98A4-3F27-AE39-4E09D28B9542}"/>
              </a:ext>
            </a:extLst>
          </p:cNvPr>
          <p:cNvSpPr/>
          <p:nvPr/>
        </p:nvSpPr>
        <p:spPr>
          <a:xfrm>
            <a:off x="1224000" y="601200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a:solidFill>
                  <a:srgbClr val="262626"/>
                </a:solidFill>
                <a:latin typeface="Meiryo"/>
                <a:ea typeface="Meiryo"/>
                <a:cs typeface="Meiryo"/>
              </a:rPr>
              <a:t>PPG が測るのは 拍動する動脈血の容積変化</a:t>
            </a:r>
          </a:p>
        </p:txBody>
      </p:sp>
      <p:pic>
        <p:nvPicPr>
          <p:cNvPr id="7" name="fig_wave_vessel" descr="f13_fwd_vessel.png">
            <a:extLst>
              <a:ext uri="{FF2B5EF4-FFF2-40B4-BE49-F238E27FC236}">
                <a16:creationId xmlns:a16="http://schemas.microsoft.com/office/drawing/2014/main" id="{DC7C24AC-9D0E-3C17-CD73-33033FD18424}"/>
              </a:ext>
            </a:extLst>
          </p:cNvPr>
          <p:cNvPicPr>
            <a:picLocks noChangeAspect="1"/>
          </p:cNvPicPr>
          <p:nvPr/>
        </p:nvPicPr>
        <p:blipFill>
          <a:blip r:embed="rId4"/>
          <a:stretch>
            <a:fillRect/>
          </a:stretch>
        </p:blipFill>
        <p:spPr>
          <a:xfrm>
            <a:off x="6528609" y="2501383"/>
            <a:ext cx="4635000" cy="1854000"/>
          </a:xfrm>
          <a:prstGeom prst="rect">
            <a:avLst/>
          </a:prstGeom>
        </p:spPr>
      </p:pic>
      <p:sp>
        <p:nvSpPr>
          <p:cNvPr id="9" name="TextBox 31">
            <a:extLst>
              <a:ext uri="{FF2B5EF4-FFF2-40B4-BE49-F238E27FC236}">
                <a16:creationId xmlns:a16="http://schemas.microsoft.com/office/drawing/2014/main" id="{DE476DB9-2F08-E52B-79F9-1E42C79A6973}"/>
              </a:ext>
            </a:extLst>
          </p:cNvPr>
          <p:cNvSpPr txBox="1"/>
          <p:nvPr/>
        </p:nvSpPr>
        <p:spPr>
          <a:xfrm>
            <a:off x="6195908" y="4781721"/>
            <a:ext cx="4889159"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262626"/>
                </a:solidFill>
                <a:latin typeface="Meiryo"/>
                <a:ea typeface="Meiryo"/>
                <a:cs typeface="Meiryo"/>
              </a:rPr>
              <a:t>圧</a:t>
            </a:r>
            <a:r>
              <a:rPr lang="ja-JP" altLang="en-US" sz="2200" b="1">
                <a:solidFill>
                  <a:srgbClr val="262626"/>
                </a:solidFill>
                <a:latin typeface="Meiryo"/>
                <a:ea typeface="Meiryo"/>
                <a:cs typeface="Meiryo"/>
              </a:rPr>
              <a:t>脈波の到着部分だけ拡張</a:t>
            </a:r>
            <a:r>
              <a:rPr sz="2200" b="1" dirty="0">
                <a:solidFill>
                  <a:srgbClr val="BF9000"/>
                </a:solidFill>
                <a:latin typeface="Meiryo"/>
                <a:ea typeface="Meiryo"/>
                <a:cs typeface="Meiryo"/>
              </a:rPr>
              <a:t>　＝ </a:t>
            </a:r>
            <a:r>
              <a:rPr sz="2200" b="1" dirty="0" err="1">
                <a:solidFill>
                  <a:srgbClr val="BF9000"/>
                </a:solidFill>
                <a:latin typeface="Meiryo"/>
                <a:ea typeface="Meiryo"/>
                <a:cs typeface="Meiryo"/>
              </a:rPr>
              <a:t>容積</a:t>
            </a:r>
            <a:r>
              <a:rPr sz="2200" b="1" dirty="0">
                <a:solidFill>
                  <a:srgbClr val="BF9000"/>
                </a:solidFill>
                <a:latin typeface="Meiryo"/>
                <a:ea typeface="Meiryo"/>
                <a:cs typeface="Meiryo"/>
              </a:rPr>
              <a:t>↑</a:t>
            </a:r>
          </a:p>
        </p:txBody>
      </p: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8/55</a:t>
            </a:r>
          </a:p>
        </p:txBody>
      </p:sp>
    </p:spTree>
    <p:extLst>
      <p:ext uri="{BB962C8B-B14F-4D97-AF65-F5344CB8AC3E}">
        <p14:creationId xmlns:p14="http://schemas.microsoft.com/office/powerpoint/2010/main" val="345179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050BC-8FAF-F7C7-7383-588024CD5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391AB-30D4-16FE-A773-CDD111049356}"/>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4DFA500C-62FD-C61C-440B-D282AE95D768}"/>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1FDF07FD-64A3-8600-6089-5023ABDEFB42}"/>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179FA7F2-CCEF-EBFA-FEE4-82F76D25D74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DE2DD8F-07F9-5271-4D4F-8CC8593B2CC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24" name="TextBox 23">
            <a:extLst>
              <a:ext uri="{FF2B5EF4-FFF2-40B4-BE49-F238E27FC236}">
                <a16:creationId xmlns:a16="http://schemas.microsoft.com/office/drawing/2014/main" id="{B45D55D9-0758-2EDF-21AD-A8773EB056BE}"/>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6026DB75-E07A-9910-5530-06D50593B15F}"/>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BDE4B504-ED83-9FEA-E9B1-570F44D5C927}"/>
              </a:ext>
            </a:extLst>
          </p:cNvPr>
          <p:cNvSpPr txBox="1"/>
          <p:nvPr/>
        </p:nvSpPr>
        <p:spPr>
          <a:xfrm>
            <a:off x="1100558" y="5289119"/>
            <a:ext cx="1915974"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en-US" sz="2200" b="1" dirty="0">
                <a:solidFill>
                  <a:srgbClr val="808080"/>
                </a:solidFill>
                <a:latin typeface="Meiryo"/>
                <a:ea typeface="Meiryo"/>
                <a:cs typeface="Meiryo"/>
              </a:rPr>
              <a:t>20</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324F8A84-ABDA-5698-CC03-741E16541371}"/>
              </a:ext>
            </a:extLst>
          </p:cNvPr>
          <p:cNvSpPr/>
          <p:nvPr/>
        </p:nvSpPr>
        <p:spPr>
          <a:xfrm>
            <a:off x="1100558" y="5685196"/>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5D643E03-693C-B5E6-8F65-FE06C441565A}"/>
              </a:ext>
            </a:extLst>
          </p:cNvPr>
          <p:cNvPicPr>
            <a:picLocks noChangeAspect="1"/>
          </p:cNvPicPr>
          <p:nvPr/>
        </p:nvPicPr>
        <p:blipFill>
          <a:blip r:embed="rId3"/>
          <a:stretch>
            <a:fillRect/>
          </a:stretch>
        </p:blipFill>
        <p:spPr>
          <a:xfrm>
            <a:off x="1100558" y="1906794"/>
            <a:ext cx="4680000" cy="2320797"/>
          </a:xfrm>
          <a:prstGeom prst="rect">
            <a:avLst/>
          </a:prstGeom>
        </p:spPr>
      </p:pic>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9/55</a:t>
            </a:r>
          </a:p>
        </p:txBody>
      </p:sp>
    </p:spTree>
    <p:extLst>
      <p:ext uri="{BB962C8B-B14F-4D97-AF65-F5344CB8AC3E}">
        <p14:creationId xmlns:p14="http://schemas.microsoft.com/office/powerpoint/2010/main" val="3699481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8FE66-A2D6-86A2-6910-772B202D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D029F-EA12-E8FC-37D3-7672B7953ED1}"/>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45A3A22C-DD21-2A35-E6D4-D71B8EE9CEC4}"/>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97994337-F97D-F511-039A-36C0B616600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4C41C884-4F38-6BE1-7757-C4929BD12AC2}"/>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BE9007E8-091B-2031-20CE-927B601E4A2F}"/>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24" name="TextBox 23">
            <a:extLst>
              <a:ext uri="{FF2B5EF4-FFF2-40B4-BE49-F238E27FC236}">
                <a16:creationId xmlns:a16="http://schemas.microsoft.com/office/drawing/2014/main" id="{7004FBEB-B6BC-4C74-695B-C5B300C694D8}"/>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1EC58F54-9E55-0E48-152E-CF5DFB79B63E}"/>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2F0C9D03-4CC7-9E88-EDC8-107FAD6A1791}"/>
              </a:ext>
            </a:extLst>
          </p:cNvPr>
          <p:cNvSpPr txBox="1"/>
          <p:nvPr/>
        </p:nvSpPr>
        <p:spPr>
          <a:xfrm>
            <a:off x="1100558" y="5289119"/>
            <a:ext cx="1915974"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en-US" sz="2200" b="1" dirty="0">
                <a:solidFill>
                  <a:srgbClr val="808080"/>
                </a:solidFill>
                <a:latin typeface="Meiryo"/>
                <a:ea typeface="Meiryo"/>
                <a:cs typeface="Meiryo"/>
              </a:rPr>
              <a:t>20</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8E300BEE-8DD4-B48B-2043-A073CEB14D0C}"/>
              </a:ext>
            </a:extLst>
          </p:cNvPr>
          <p:cNvSpPr/>
          <p:nvPr/>
        </p:nvSpPr>
        <p:spPr>
          <a:xfrm>
            <a:off x="1100558" y="5685196"/>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0901AABF-0E7D-1849-A425-BEDA70C3F452}"/>
              </a:ext>
            </a:extLst>
          </p:cNvPr>
          <p:cNvPicPr>
            <a:picLocks noChangeAspect="1"/>
          </p:cNvPicPr>
          <p:nvPr/>
        </p:nvPicPr>
        <p:blipFill>
          <a:blip r:embed="rId3"/>
          <a:stretch>
            <a:fillRect/>
          </a:stretch>
        </p:blipFill>
        <p:spPr>
          <a:xfrm>
            <a:off x="1100558" y="1906794"/>
            <a:ext cx="4680000" cy="2320797"/>
          </a:xfrm>
          <a:prstGeom prst="rect">
            <a:avLst/>
          </a:prstGeom>
        </p:spPr>
      </p:pic>
      <p:sp>
        <p:nvSpPr>
          <p:cNvPr id="3" name="Rounded Rectangle 29">
            <a:extLst>
              <a:ext uri="{FF2B5EF4-FFF2-40B4-BE49-F238E27FC236}">
                <a16:creationId xmlns:a16="http://schemas.microsoft.com/office/drawing/2014/main" id="{C659F48E-451B-DDC8-74EF-4F7A5B41C4E9}"/>
              </a:ext>
            </a:extLst>
          </p:cNvPr>
          <p:cNvSpPr/>
          <p:nvPr/>
        </p:nvSpPr>
        <p:spPr>
          <a:xfrm>
            <a:off x="6369835" y="2669015"/>
            <a:ext cx="5516264" cy="244232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nSpc>
                <a:spcPct val="150000"/>
              </a:lnSpc>
              <a:spcBef>
                <a:spcPts val="0"/>
              </a:spcBef>
              <a:spcAft>
                <a:spcPts val="0"/>
              </a:spcAft>
            </a:pPr>
            <a:r>
              <a:rPr lang="en-US" altLang="ja-JP" sz="2400" b="1" dirty="0">
                <a:solidFill>
                  <a:srgbClr val="262626"/>
                </a:solidFill>
                <a:latin typeface="Meiryo"/>
                <a:ea typeface="Meiryo"/>
                <a:cs typeface="Meiryo"/>
              </a:rPr>
              <a:t>PPG</a:t>
            </a:r>
            <a:r>
              <a:rPr lang="ja-JP" altLang="en-US" sz="2400" b="1">
                <a:solidFill>
                  <a:srgbClr val="262626"/>
                </a:solidFill>
                <a:latin typeface="Meiryo"/>
                <a:ea typeface="Meiryo"/>
                <a:cs typeface="Meiryo"/>
              </a:rPr>
              <a:t>の測定対象：</a:t>
            </a:r>
            <a:endParaRPr lang="en-US" altLang="ja-JP" sz="2400" b="1" dirty="0">
              <a:solidFill>
                <a:srgbClr val="262626"/>
              </a:solidFill>
              <a:latin typeface="Meiryo"/>
              <a:ea typeface="Meiryo"/>
              <a:cs typeface="Meiryo"/>
            </a:endParaRPr>
          </a:p>
          <a:p>
            <a:pPr>
              <a:lnSpc>
                <a:spcPct val="150000"/>
              </a:lnSpc>
              <a:spcBef>
                <a:spcPts val="0"/>
              </a:spcBef>
              <a:spcAft>
                <a:spcPts val="0"/>
              </a:spcAft>
            </a:pPr>
            <a:r>
              <a:rPr lang="ja-JP" altLang="en-US" sz="2400" b="1">
                <a:solidFill>
                  <a:srgbClr val="262626"/>
                </a:solidFill>
                <a:latin typeface="Meiryo"/>
                <a:ea typeface="Meiryo"/>
                <a:cs typeface="Meiryo"/>
              </a:rPr>
              <a:t>心臓から拍出された血液量</a:t>
            </a:r>
            <a:r>
              <a:rPr lang="en-US" altLang="ja-JP" sz="2400" b="1" dirty="0">
                <a:solidFill>
                  <a:srgbClr val="262626"/>
                </a:solidFill>
                <a:latin typeface="Meiryo"/>
                <a:ea typeface="Meiryo"/>
                <a:cs typeface="Meiryo"/>
              </a:rPr>
              <a:t>	×</a:t>
            </a:r>
          </a:p>
          <a:p>
            <a:pPr>
              <a:lnSpc>
                <a:spcPct val="150000"/>
              </a:lnSpc>
              <a:spcBef>
                <a:spcPts val="0"/>
              </a:spcBef>
              <a:spcAft>
                <a:spcPts val="0"/>
              </a:spcAft>
            </a:pPr>
            <a:r>
              <a:rPr lang="ja-JP" altLang="en-US" sz="2400" b="1">
                <a:solidFill>
                  <a:srgbClr val="262626"/>
                </a:solidFill>
                <a:latin typeface="Meiryo"/>
                <a:ea typeface="Meiryo"/>
                <a:cs typeface="Meiryo"/>
              </a:rPr>
              <a:t>血管伸展による</a:t>
            </a:r>
            <a:r>
              <a:rPr lang="ja-JP" altLang="en-US" sz="2800" b="1">
                <a:solidFill>
                  <a:srgbClr val="262626"/>
                </a:solidFill>
                <a:latin typeface="Meiryo"/>
                <a:ea typeface="Meiryo"/>
                <a:cs typeface="Meiryo"/>
              </a:rPr>
              <a:t>容積変化</a:t>
            </a:r>
            <a:r>
              <a:rPr lang="en-US" altLang="ja-JP" sz="2400" b="1" dirty="0">
                <a:solidFill>
                  <a:srgbClr val="262626"/>
                </a:solidFill>
                <a:latin typeface="Meiryo"/>
                <a:ea typeface="Meiryo"/>
                <a:cs typeface="Meiryo"/>
              </a:rPr>
              <a:t>		</a:t>
            </a:r>
            <a:r>
              <a:rPr lang="ja-JP" altLang="en-US" sz="2800" b="1">
                <a:solidFill>
                  <a:srgbClr val="262626"/>
                </a:solidFill>
                <a:latin typeface="Meiryo"/>
                <a:ea typeface="Meiryo"/>
                <a:cs typeface="Meiryo"/>
              </a:rPr>
              <a:t>○</a:t>
            </a:r>
            <a:endParaRPr lang="en-US" altLang="ja-JP" sz="2400" b="1" dirty="0">
              <a:solidFill>
                <a:srgbClr val="262626"/>
              </a:solidFill>
              <a:latin typeface="Meiryo"/>
              <a:ea typeface="Meiryo"/>
              <a:cs typeface="Meiryo"/>
            </a:endParaRPr>
          </a:p>
          <a:p>
            <a:pPr>
              <a:lnSpc>
                <a:spcPct val="150000"/>
              </a:lnSpc>
              <a:spcBef>
                <a:spcPts val="0"/>
              </a:spcBef>
              <a:spcAft>
                <a:spcPts val="0"/>
              </a:spcAft>
            </a:pPr>
            <a:r>
              <a:rPr lang="ja-JP" altLang="en-US" sz="2400" b="1">
                <a:solidFill>
                  <a:srgbClr val="262626"/>
                </a:solidFill>
                <a:latin typeface="Meiryo"/>
                <a:ea typeface="Meiryo"/>
                <a:cs typeface="Meiryo"/>
              </a:rPr>
              <a:t>（圧脈波による受動的な影響）</a:t>
            </a:r>
            <a:endParaRPr lang="en-US" altLang="ja-JP" sz="2400" b="1" dirty="0">
              <a:solidFill>
                <a:srgbClr val="262626"/>
              </a:solidFill>
              <a:latin typeface="Meiryo"/>
              <a:ea typeface="Meiryo"/>
              <a:cs typeface="Meiryo"/>
            </a:endParaRPr>
          </a:p>
        </p:txBody>
      </p:sp>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9/55</a:t>
            </a:r>
          </a:p>
        </p:txBody>
      </p:sp>
    </p:spTree>
    <p:extLst>
      <p:ext uri="{BB962C8B-B14F-4D97-AF65-F5344CB8AC3E}">
        <p14:creationId xmlns:p14="http://schemas.microsoft.com/office/powerpoint/2010/main" val="1376433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6CDAA-9D94-ACD5-034F-DDBE40AB0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7020E-2B48-211E-9647-9A074D5B2AD2}"/>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32CF05AF-A6AE-3792-77C3-0945EDDA239B}"/>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D9368F35-DAF4-0299-E19E-1A85D98B57B9}"/>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F31C7102-666D-2300-7BB5-04622393766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789A6A2-6371-82EE-F033-517F09DF8BD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19" name="fig_body" descr="f12_body.png">
            <a:extLst>
              <a:ext uri="{FF2B5EF4-FFF2-40B4-BE49-F238E27FC236}">
                <a16:creationId xmlns:a16="http://schemas.microsoft.com/office/drawing/2014/main" id="{79419894-41D9-0EF9-319A-4BD819C5A915}"/>
              </a:ext>
            </a:extLst>
          </p:cNvPr>
          <p:cNvPicPr>
            <a:picLocks noChangeAspect="1"/>
          </p:cNvPicPr>
          <p:nvPr/>
        </p:nvPicPr>
        <p:blipFill>
          <a:blip r:embed="rId3"/>
          <a:stretch>
            <a:fillRect/>
          </a:stretch>
        </p:blipFill>
        <p:spPr>
          <a:xfrm>
            <a:off x="864000" y="1994629"/>
            <a:ext cx="4608000" cy="3744000"/>
          </a:xfrm>
          <a:prstGeom prst="rect">
            <a:avLst/>
          </a:prstGeom>
        </p:spPr>
      </p:pic>
      <p:sp>
        <p:nvSpPr>
          <p:cNvPr id="20" name="TextBox 19">
            <a:extLst>
              <a:ext uri="{FF2B5EF4-FFF2-40B4-BE49-F238E27FC236}">
                <a16:creationId xmlns:a16="http://schemas.microsoft.com/office/drawing/2014/main" id="{12A5DE94-7B01-CF7B-72BB-15451DCD013E}"/>
              </a:ext>
            </a:extLst>
          </p:cNvPr>
          <p:cNvSpPr txBox="1"/>
          <p:nvPr/>
        </p:nvSpPr>
        <p:spPr>
          <a:xfrm>
            <a:off x="921600" y="2282629"/>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a:extLst>
              <a:ext uri="{FF2B5EF4-FFF2-40B4-BE49-F238E27FC236}">
                <a16:creationId xmlns:a16="http://schemas.microsoft.com/office/drawing/2014/main" id="{58293747-D317-5DCB-543D-BE3EE44BEA3F}"/>
              </a:ext>
            </a:extLst>
          </p:cNvPr>
          <p:cNvSpPr txBox="1"/>
          <p:nvPr/>
        </p:nvSpPr>
        <p:spPr>
          <a:xfrm>
            <a:off x="4320000" y="2282629"/>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a:extLst>
              <a:ext uri="{FF2B5EF4-FFF2-40B4-BE49-F238E27FC236}">
                <a16:creationId xmlns:a16="http://schemas.microsoft.com/office/drawing/2014/main" id="{08F0CCF5-5144-43D6-1BB6-2BD2945944B1}"/>
              </a:ext>
            </a:extLst>
          </p:cNvPr>
          <p:cNvSpPr txBox="1"/>
          <p:nvPr/>
        </p:nvSpPr>
        <p:spPr>
          <a:xfrm>
            <a:off x="2390400" y="3895429"/>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a:extLst>
              <a:ext uri="{FF2B5EF4-FFF2-40B4-BE49-F238E27FC236}">
                <a16:creationId xmlns:a16="http://schemas.microsoft.com/office/drawing/2014/main" id="{95D17C31-CE9F-6436-E3EC-9C203ACDF047}"/>
              </a:ext>
            </a:extLst>
          </p:cNvPr>
          <p:cNvSpPr txBox="1"/>
          <p:nvPr/>
        </p:nvSpPr>
        <p:spPr>
          <a:xfrm>
            <a:off x="2476800" y="5177029"/>
            <a:ext cx="2988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下半身へ</a:t>
            </a:r>
          </a:p>
        </p:txBody>
      </p:sp>
      <p:sp>
        <p:nvSpPr>
          <p:cNvPr id="24" name="TextBox 23">
            <a:extLst>
              <a:ext uri="{FF2B5EF4-FFF2-40B4-BE49-F238E27FC236}">
                <a16:creationId xmlns:a16="http://schemas.microsoft.com/office/drawing/2014/main" id="{21710870-005C-97CF-8DE7-7788C39CC068}"/>
              </a:ext>
            </a:extLst>
          </p:cNvPr>
          <p:cNvSpPr txBox="1"/>
          <p:nvPr/>
        </p:nvSpPr>
        <p:spPr>
          <a:xfrm>
            <a:off x="6300001" y="266156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09782EA6-1EFE-C8D6-6352-C0C1C5F33A9C}"/>
              </a:ext>
            </a:extLst>
          </p:cNvPr>
          <p:cNvSpPr/>
          <p:nvPr/>
        </p:nvSpPr>
        <p:spPr>
          <a:xfrm>
            <a:off x="6300001" y="305764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1CC4D179-FBED-65C3-02F3-34A54B8BCE13}"/>
              </a:ext>
            </a:extLst>
          </p:cNvPr>
          <p:cNvPicPr>
            <a:picLocks noChangeAspect="1"/>
          </p:cNvPicPr>
          <p:nvPr/>
        </p:nvPicPr>
        <p:blipFill>
          <a:blip r:embed="rId4"/>
          <a:stretch>
            <a:fillRect/>
          </a:stretch>
        </p:blipFill>
        <p:spPr>
          <a:xfrm>
            <a:off x="6300001" y="3791732"/>
            <a:ext cx="4635000" cy="1854000"/>
          </a:xfrm>
          <a:prstGeom prst="rect">
            <a:avLst/>
          </a:prstGeom>
        </p:spPr>
      </p:pic>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9/55</a:t>
            </a:r>
          </a:p>
        </p:txBody>
      </p:sp>
    </p:spTree>
    <p:extLst>
      <p:ext uri="{BB962C8B-B14F-4D97-AF65-F5344CB8AC3E}">
        <p14:creationId xmlns:p14="http://schemas.microsoft.com/office/powerpoint/2010/main" val="2508768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1.4  </a:t>
            </a:r>
            <a:r>
              <a:rPr sz="4600" dirty="0" err="1">
                <a:latin typeface="Meiryo"/>
                <a:ea typeface="Meiryo"/>
                <a:cs typeface="Meiryo"/>
              </a:rPr>
              <a:t>反射波の成因</a:t>
            </a:r>
            <a:endParaRPr sz="4600" dirty="0">
              <a:latin typeface="Meiryo"/>
              <a:ea typeface="Meiryo"/>
              <a:cs typeface="Meiryo"/>
            </a:endParaRPr>
          </a:p>
        </p:txBody>
      </p:sp>
      <p:sp>
        <p:nvSpPr>
          <p:cNvPr id="13" name="Off-page Connector 4"/>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19" name="fig_body" descr="f13_body.png"/>
          <p:cNvPicPr>
            <a:picLocks noChangeAspect="1"/>
          </p:cNvPicPr>
          <p:nvPr/>
        </p:nvPicPr>
        <p:blipFill>
          <a:blip r:embed="rId3"/>
          <a:stretch>
            <a:fillRect/>
          </a:stretch>
        </p:blipFill>
        <p:spPr>
          <a:xfrm>
            <a:off x="864000" y="1707040"/>
            <a:ext cx="4608000" cy="3744000"/>
          </a:xfrm>
          <a:prstGeom prst="rect">
            <a:avLst/>
          </a:prstGeom>
        </p:spPr>
      </p:pic>
      <p:sp>
        <p:nvSpPr>
          <p:cNvPr id="20" name="TextBox 19"/>
          <p:cNvSpPr txBox="1"/>
          <p:nvPr/>
        </p:nvSpPr>
        <p:spPr>
          <a:xfrm>
            <a:off x="921600" y="1995040"/>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p:cNvSpPr txBox="1"/>
          <p:nvPr/>
        </p:nvSpPr>
        <p:spPr>
          <a:xfrm>
            <a:off x="4320000" y="1995040"/>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p:cNvSpPr txBox="1"/>
          <p:nvPr/>
        </p:nvSpPr>
        <p:spPr>
          <a:xfrm>
            <a:off x="2390400" y="3607840"/>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p:cNvSpPr txBox="1"/>
          <p:nvPr/>
        </p:nvSpPr>
        <p:spPr>
          <a:xfrm>
            <a:off x="2476800" y="4550886"/>
            <a:ext cx="319638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262626"/>
                </a:solidFill>
                <a:latin typeface="Meiryo"/>
                <a:ea typeface="Meiryo"/>
                <a:cs typeface="Meiryo"/>
              </a:rPr>
              <a:t>体幹</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下肢</a:t>
            </a:r>
            <a:r>
              <a:rPr lang="ja-JP" altLang="en-US" sz="2200" b="1">
                <a:solidFill>
                  <a:srgbClr val="262626"/>
                </a:solidFill>
                <a:latin typeface="Meiryo"/>
                <a:ea typeface="Meiryo"/>
                <a:cs typeface="Meiryo"/>
              </a:rPr>
              <a:t>の長経路</a:t>
            </a:r>
            <a:endParaRPr sz="2200" b="1" dirty="0">
              <a:solidFill>
                <a:srgbClr val="262626"/>
              </a:solidFill>
              <a:latin typeface="Meiryo"/>
              <a:ea typeface="Meiryo"/>
              <a:cs typeface="Meiryo"/>
            </a:endParaRPr>
          </a:p>
          <a:p>
            <a:pPr algn="l">
              <a:spcBef>
                <a:spcPts val="0"/>
              </a:spcBef>
              <a:spcAft>
                <a:spcPts val="0"/>
              </a:spcAft>
            </a:pP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主な</a:t>
            </a:r>
            <a:r>
              <a:rPr lang="ja-JP" altLang="en-US" sz="2200" b="1">
                <a:solidFill>
                  <a:srgbClr val="262626"/>
                </a:solidFill>
                <a:latin typeface="Meiryo"/>
                <a:ea typeface="Meiryo"/>
                <a:cs typeface="Meiryo"/>
              </a:rPr>
              <a:t>見かけの</a:t>
            </a:r>
            <a:r>
              <a:rPr sz="2200" b="1" dirty="0" err="1">
                <a:solidFill>
                  <a:srgbClr val="262626"/>
                </a:solidFill>
                <a:latin typeface="Meiryo"/>
                <a:ea typeface="Meiryo"/>
                <a:cs typeface="Meiryo"/>
              </a:rPr>
              <a:t>反射部位</a:t>
            </a:r>
            <a:endParaRPr sz="2200" b="1" dirty="0">
              <a:solidFill>
                <a:srgbClr val="262626"/>
              </a:solidFill>
              <a:latin typeface="Meiryo"/>
              <a:ea typeface="Meiryo"/>
              <a:cs typeface="Meiryo"/>
            </a:endParaRPr>
          </a:p>
        </p:txBody>
      </p:sp>
      <p:sp>
        <p:nvSpPr>
          <p:cNvPr id="25" name="TextBox 24"/>
          <p:cNvSpPr txBox="1"/>
          <p:nvPr/>
        </p:nvSpPr>
        <p:spPr>
          <a:xfrm>
            <a:off x="6665099" y="2384183"/>
            <a:ext cx="423192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D55E00"/>
                </a:solidFill>
                <a:latin typeface="Meiryo"/>
                <a:ea typeface="Meiryo"/>
                <a:cs typeface="Meiryo"/>
              </a:rPr>
              <a:t>体幹から下肢を中心とした</a:t>
            </a:r>
            <a:r>
              <a:rPr sz="2200" b="1" dirty="0" err="1">
                <a:solidFill>
                  <a:srgbClr val="D55E00"/>
                </a:solidFill>
                <a:latin typeface="Meiryo"/>
                <a:ea typeface="Meiryo"/>
                <a:cs typeface="Meiryo"/>
              </a:rPr>
              <a:t>反射</a:t>
            </a:r>
            <a:r>
              <a:rPr lang="ja-JP" altLang="en-US" sz="2200" b="1">
                <a:solidFill>
                  <a:srgbClr val="D55E00"/>
                </a:solidFill>
                <a:latin typeface="Meiryo"/>
                <a:ea typeface="Meiryo"/>
                <a:cs typeface="Meiryo"/>
              </a:rPr>
              <a:t>が</a:t>
            </a:r>
            <a:endParaRPr lang="en-US" altLang="ja-JP" sz="2200" b="1" dirty="0">
              <a:solidFill>
                <a:srgbClr val="D55E00"/>
              </a:solidFill>
              <a:latin typeface="Meiryo"/>
              <a:ea typeface="Meiryo"/>
              <a:cs typeface="Meiryo"/>
            </a:endParaRPr>
          </a:p>
          <a:p>
            <a:r>
              <a:rPr lang="ja-JP" altLang="en-US" sz="2200" b="1">
                <a:solidFill>
                  <a:srgbClr val="D55E00"/>
                </a:solidFill>
                <a:latin typeface="Meiryo"/>
                <a:ea typeface="Meiryo"/>
                <a:cs typeface="Meiryo"/>
              </a:rPr>
              <a:t>大動脈を遡って再度測定部位へ</a:t>
            </a:r>
            <a:endParaRPr sz="2200" b="1" dirty="0">
              <a:solidFill>
                <a:srgbClr val="D55E00"/>
              </a:solidFill>
              <a:latin typeface="Meiryo"/>
              <a:ea typeface="Meiryo"/>
              <a:cs typeface="Meiryo"/>
            </a:endParaRPr>
          </a:p>
        </p:txBody>
      </p:sp>
      <p:pic>
        <p:nvPicPr>
          <p:cNvPr id="27" name="fig_wave" descr="f13_wave.png"/>
          <p:cNvPicPr>
            <a:picLocks noChangeAspect="1"/>
          </p:cNvPicPr>
          <p:nvPr/>
        </p:nvPicPr>
        <p:blipFill>
          <a:blip r:embed="rId4"/>
          <a:stretch>
            <a:fillRect/>
          </a:stretch>
        </p:blipFill>
        <p:spPr>
          <a:xfrm>
            <a:off x="6384001" y="3402644"/>
            <a:ext cx="4320000" cy="1584000"/>
          </a:xfrm>
          <a:prstGeom prst="rect">
            <a:avLst/>
          </a:prstGeom>
        </p:spPr>
      </p:pic>
      <p:sp>
        <p:nvSpPr>
          <p:cNvPr id="28" name="TextBox 27"/>
          <p:cNvSpPr txBox="1"/>
          <p:nvPr/>
        </p:nvSpPr>
        <p:spPr>
          <a:xfrm>
            <a:off x="9120001" y="3834645"/>
            <a:ext cx="2304000" cy="3600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重複切痕</a:t>
            </a:r>
          </a:p>
        </p:txBody>
      </p:sp>
      <p:sp>
        <p:nvSpPr>
          <p:cNvPr id="29" name="TextBox 28"/>
          <p:cNvSpPr txBox="1"/>
          <p:nvPr/>
        </p:nvSpPr>
        <p:spPr>
          <a:xfrm>
            <a:off x="7421357" y="5195368"/>
            <a:ext cx="2821285" cy="338554"/>
          </a:xfrm>
          <a:prstGeom prst="rect">
            <a:avLst/>
          </a:prstGeom>
          <a:noFill/>
        </p:spPr>
        <p:txBody>
          <a:bodyPr wrap="none" lIns="0" tIns="0" rIns="0" bIns="0" anchor="ctr">
            <a:spAutoFit/>
          </a:bodyPr>
          <a:lstStyle/>
          <a:p>
            <a:pPr algn="ctr">
              <a:spcBef>
                <a:spcPts val="0"/>
              </a:spcBef>
              <a:spcAft>
                <a:spcPts val="0"/>
              </a:spcAft>
            </a:pPr>
            <a:r>
              <a:rPr lang="ja-JP" altLang="en-US" sz="2200" b="1">
                <a:solidFill>
                  <a:srgbClr val="262626"/>
                </a:solidFill>
                <a:latin typeface="Meiryo"/>
                <a:ea typeface="Meiryo"/>
                <a:cs typeface="Meiryo"/>
              </a:rPr>
              <a:t>指先</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前進波＋反射波</a:t>
            </a:r>
            <a:endParaRPr sz="2200" b="1" dirty="0">
              <a:solidFill>
                <a:srgbClr val="262626"/>
              </a:solidFill>
              <a:latin typeface="Meiryo"/>
              <a:ea typeface="Meiryo"/>
              <a:cs typeface="Meiryo"/>
            </a:endParaRPr>
          </a:p>
        </p:txBody>
      </p:sp>
      <p:sp>
        <p:nvSpPr>
          <p:cNvPr id="30" name="Rounded Rectangle 29"/>
          <p:cNvSpPr/>
          <p:nvPr/>
        </p:nvSpPr>
        <p:spPr>
          <a:xfrm>
            <a:off x="864000" y="5903999"/>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err="1">
                <a:solidFill>
                  <a:srgbClr val="262626"/>
                </a:solidFill>
                <a:latin typeface="Meiryo"/>
                <a:ea typeface="Meiryo"/>
                <a:cs typeface="Meiryo"/>
              </a:rPr>
              <a:t>前進波と反射波の合成によりPPG波形は成り立つ</a:t>
            </a:r>
            <a:endParaRPr sz="2400" b="1" dirty="0">
              <a:solidFill>
                <a:srgbClr val="262626"/>
              </a:solidFill>
              <a:latin typeface="Meiryo"/>
              <a:ea typeface="Meiryo"/>
              <a:cs typeface="Meiryo"/>
            </a:endParaRPr>
          </a:p>
        </p:txBody>
      </p:sp>
      <p:sp>
        <p:nvSpPr>
          <p:cNvPr id="3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　／　6. Millasseau 2002</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10/55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1.5  PPG基礎まとめ</a:t>
            </a:r>
          </a:p>
        </p:txBody>
      </p:sp>
      <p:sp>
        <p:nvSpPr>
          <p:cNvPr id="12" name="Off-page Connector 4"/>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3" name="Off-page Connector 5"/>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2. Aoyagi 2003　／　3. Chan 2013　／　5. Politi 2016</a:t>
            </a:r>
          </a:p>
        </p:txBody>
      </p:sp>
      <p:sp>
        <p:nvSpPr>
          <p:cNvPr id="18" name="Rounded Rectangle 17"/>
          <p:cNvSpPr/>
          <p:nvPr/>
        </p:nvSpPr>
        <p:spPr>
          <a:xfrm>
            <a:off x="502920" y="1737360"/>
            <a:ext cx="35295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nSpc>
                <a:spcPct val="150000"/>
              </a:lnSpc>
            </a:pPr>
            <a:endParaRPr dirty="0"/>
          </a:p>
        </p:txBody>
      </p:sp>
      <p:sp>
        <p:nvSpPr>
          <p:cNvPr id="19" name="TextBox 18"/>
          <p:cNvSpPr txBox="1"/>
          <p:nvPr/>
        </p:nvSpPr>
        <p:spPr>
          <a:xfrm>
            <a:off x="685800" y="1883664"/>
            <a:ext cx="548640" cy="597121"/>
          </a:xfrm>
          <a:prstGeom prst="rect">
            <a:avLst/>
          </a:prstGeom>
          <a:noFill/>
        </p:spPr>
        <p:txBody>
          <a:bodyPr wrap="square" lIns="0" tIns="0" rIns="0" bIns="0" anchor="t">
            <a:spAutoFit/>
          </a:bodyPr>
          <a:lstStyle/>
          <a:p>
            <a:pPr algn="l"/>
            <a:r>
              <a:rPr sz="2800" b="1">
                <a:solidFill>
                  <a:srgbClr val="0072B2"/>
                </a:solidFill>
                <a:latin typeface="Meiryo"/>
                <a:ea typeface="Meiryo"/>
                <a:cs typeface="Meiryo"/>
              </a:rPr>
              <a:t>①</a:t>
            </a:r>
          </a:p>
        </p:txBody>
      </p:sp>
      <p:sp>
        <p:nvSpPr>
          <p:cNvPr id="20" name="TextBox 19"/>
          <p:cNvSpPr txBox="1"/>
          <p:nvPr/>
        </p:nvSpPr>
        <p:spPr>
          <a:xfrm>
            <a:off x="1234440" y="1920240"/>
            <a:ext cx="2651760" cy="541553"/>
          </a:xfrm>
          <a:prstGeom prst="rect">
            <a:avLst/>
          </a:prstGeom>
          <a:noFill/>
        </p:spPr>
        <p:txBody>
          <a:bodyPr wrap="square" lIns="0" tIns="0" rIns="0" bIns="0" anchor="t">
            <a:spAutoFit/>
          </a:bodyPr>
          <a:lstStyle/>
          <a:p>
            <a:pPr algn="l"/>
            <a:r>
              <a:rPr sz="2500" b="1" dirty="0">
                <a:solidFill>
                  <a:srgbClr val="0072B2"/>
                </a:solidFill>
                <a:latin typeface="Meiryo"/>
                <a:ea typeface="Meiryo"/>
                <a:cs typeface="Meiryo"/>
              </a:rPr>
              <a:t>SpO₂</a:t>
            </a:r>
            <a:r>
              <a:rPr lang="en-US" sz="2500" b="1" dirty="0">
                <a:solidFill>
                  <a:srgbClr val="0072B2"/>
                </a:solidFill>
                <a:latin typeface="Meiryo"/>
                <a:ea typeface="Meiryo"/>
                <a:cs typeface="Meiryo"/>
              </a:rPr>
              <a:t> </a:t>
            </a:r>
            <a:r>
              <a:rPr lang="en-US" sz="2500" b="1" dirty="0" err="1">
                <a:solidFill>
                  <a:srgbClr val="0072B2"/>
                </a:solidFill>
                <a:latin typeface="Meiryo"/>
                <a:ea typeface="Meiryo"/>
                <a:cs typeface="Meiryo"/>
              </a:rPr>
              <a:t>測定原理</a:t>
            </a:r>
            <a:endParaRPr sz="2500" b="1" dirty="0">
              <a:solidFill>
                <a:srgbClr val="0072B2"/>
              </a:solidFill>
              <a:latin typeface="Meiryo"/>
              <a:ea typeface="Meiryo"/>
              <a:cs typeface="Meiryo"/>
            </a:endParaRPr>
          </a:p>
        </p:txBody>
      </p:sp>
      <p:sp>
        <p:nvSpPr>
          <p:cNvPr id="21" name="TextBox 20"/>
          <p:cNvSpPr txBox="1"/>
          <p:nvPr/>
        </p:nvSpPr>
        <p:spPr>
          <a:xfrm>
            <a:off x="731520" y="2514600"/>
            <a:ext cx="3108960" cy="2018032"/>
          </a:xfrm>
          <a:prstGeom prst="rect">
            <a:avLst/>
          </a:prstGeom>
          <a:noFill/>
        </p:spPr>
        <p:txBody>
          <a:bodyPr wrap="square" lIns="0" tIns="0" rIns="0" bIns="0" anchor="t">
            <a:spAutoFit/>
          </a:bodyPr>
          <a:lstStyle/>
          <a:p>
            <a:pPr algn="l">
              <a:lnSpc>
                <a:spcPct val="120000"/>
              </a:lnSpc>
              <a:spcAft>
                <a:spcPts val="600"/>
              </a:spcAft>
            </a:pPr>
            <a:r>
              <a:rPr sz="2300" b="0">
                <a:solidFill>
                  <a:srgbClr val="262626"/>
                </a:solidFill>
                <a:latin typeface="Meiryo"/>
                <a:ea typeface="Meiryo"/>
                <a:cs typeface="Meiryo"/>
              </a:rPr>
              <a:t>赤色光と赤外光の</a:t>
            </a:r>
          </a:p>
          <a:p>
            <a:pPr algn="l">
              <a:lnSpc>
                <a:spcPct val="120000"/>
              </a:lnSpc>
              <a:spcAft>
                <a:spcPts val="600"/>
              </a:spcAft>
            </a:pPr>
            <a:r>
              <a:rPr sz="2300" b="0">
                <a:solidFill>
                  <a:srgbClr val="262626"/>
                </a:solidFill>
                <a:latin typeface="Meiryo"/>
                <a:ea typeface="Meiryo"/>
                <a:cs typeface="Meiryo"/>
              </a:rPr>
              <a:t>吸収の比 R を</a:t>
            </a:r>
          </a:p>
          <a:p>
            <a:pPr algn="l">
              <a:lnSpc>
                <a:spcPct val="120000"/>
              </a:lnSpc>
              <a:spcAft>
                <a:spcPts val="600"/>
              </a:spcAft>
            </a:pPr>
            <a:r>
              <a:rPr sz="2300" b="0">
                <a:solidFill>
                  <a:srgbClr val="262626"/>
                </a:solidFill>
                <a:latin typeface="Meiryo"/>
                <a:ea typeface="Meiryo"/>
                <a:cs typeface="Meiryo"/>
              </a:rPr>
              <a:t>健常者の較正表に</a:t>
            </a:r>
          </a:p>
          <a:p>
            <a:pPr algn="l">
              <a:lnSpc>
                <a:spcPct val="120000"/>
              </a:lnSpc>
              <a:spcAft>
                <a:spcPts val="600"/>
              </a:spcAft>
            </a:pPr>
            <a:r>
              <a:rPr sz="2300" b="0">
                <a:solidFill>
                  <a:srgbClr val="262626"/>
                </a:solidFill>
                <a:latin typeface="Meiryo"/>
                <a:ea typeface="Meiryo"/>
                <a:cs typeface="Meiryo"/>
              </a:rPr>
              <a:t>当てはめた推定値</a:t>
            </a:r>
          </a:p>
        </p:txBody>
      </p:sp>
      <p:sp>
        <p:nvSpPr>
          <p:cNvPr id="22" name="Rounded Rectangle 21"/>
          <p:cNvSpPr/>
          <p:nvPr/>
        </p:nvSpPr>
        <p:spPr>
          <a:xfrm>
            <a:off x="4306824" y="1737360"/>
            <a:ext cx="3529584" cy="30175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489704" y="1883664"/>
            <a:ext cx="548640" cy="597121"/>
          </a:xfrm>
          <a:prstGeom prst="rect">
            <a:avLst/>
          </a:prstGeom>
          <a:noFill/>
        </p:spPr>
        <p:txBody>
          <a:bodyPr wrap="square" lIns="0" tIns="0" rIns="0" bIns="0" anchor="t">
            <a:spAutoFit/>
          </a:bodyPr>
          <a:lstStyle/>
          <a:p>
            <a:pPr algn="l"/>
            <a:r>
              <a:rPr sz="2800" b="1">
                <a:solidFill>
                  <a:srgbClr val="D55E00"/>
                </a:solidFill>
                <a:latin typeface="Meiryo"/>
                <a:ea typeface="Meiryo"/>
                <a:cs typeface="Meiryo"/>
              </a:rPr>
              <a:t>②</a:t>
            </a:r>
          </a:p>
        </p:txBody>
      </p:sp>
      <p:sp>
        <p:nvSpPr>
          <p:cNvPr id="24" name="TextBox 23"/>
          <p:cNvSpPr txBox="1"/>
          <p:nvPr/>
        </p:nvSpPr>
        <p:spPr>
          <a:xfrm>
            <a:off x="5038344" y="1920240"/>
            <a:ext cx="2651760" cy="541553"/>
          </a:xfrm>
          <a:prstGeom prst="rect">
            <a:avLst/>
          </a:prstGeom>
          <a:noFill/>
        </p:spPr>
        <p:txBody>
          <a:bodyPr wrap="square" lIns="0" tIns="0" rIns="0" bIns="0" anchor="t">
            <a:spAutoFit/>
          </a:bodyPr>
          <a:lstStyle/>
          <a:p>
            <a:pPr algn="l"/>
            <a:r>
              <a:rPr sz="2500" b="1" dirty="0">
                <a:solidFill>
                  <a:srgbClr val="D55E00"/>
                </a:solidFill>
                <a:latin typeface="Meiryo"/>
                <a:ea typeface="Meiryo"/>
                <a:cs typeface="Meiryo"/>
              </a:rPr>
              <a:t>PPG </a:t>
            </a:r>
            <a:r>
              <a:rPr lang="ja-JP" altLang="en-US" sz="2500" b="1">
                <a:solidFill>
                  <a:srgbClr val="D55E00"/>
                </a:solidFill>
                <a:latin typeface="Meiryo"/>
                <a:ea typeface="Meiryo"/>
                <a:cs typeface="Meiryo"/>
              </a:rPr>
              <a:t>が測るもの</a:t>
            </a:r>
            <a:endParaRPr sz="2500" b="1" dirty="0">
              <a:solidFill>
                <a:srgbClr val="D55E00"/>
              </a:solidFill>
              <a:latin typeface="Meiryo"/>
              <a:ea typeface="Meiryo"/>
              <a:cs typeface="Meiryo"/>
            </a:endParaRPr>
          </a:p>
        </p:txBody>
      </p:sp>
      <p:sp>
        <p:nvSpPr>
          <p:cNvPr id="25" name="TextBox 24"/>
          <p:cNvSpPr txBox="1"/>
          <p:nvPr/>
        </p:nvSpPr>
        <p:spPr>
          <a:xfrm>
            <a:off x="4535424" y="2514600"/>
            <a:ext cx="3108960" cy="2004395"/>
          </a:xfrm>
          <a:prstGeom prst="rect">
            <a:avLst/>
          </a:prstGeom>
          <a:noFill/>
        </p:spPr>
        <p:txBody>
          <a:bodyPr wrap="square" lIns="0" tIns="0" rIns="0" bIns="0" anchor="t">
            <a:spAutoFit/>
          </a:bodyPr>
          <a:lstStyle/>
          <a:p>
            <a:pPr algn="l">
              <a:lnSpc>
                <a:spcPct val="120000"/>
              </a:lnSpc>
              <a:spcAft>
                <a:spcPts val="600"/>
              </a:spcAft>
            </a:pPr>
            <a:r>
              <a:rPr lang="ja-JP" altLang="en-US" sz="2300">
                <a:solidFill>
                  <a:srgbClr val="262626"/>
                </a:solidFill>
                <a:latin typeface="Meiryo"/>
                <a:ea typeface="Meiryo"/>
                <a:cs typeface="Meiryo"/>
              </a:rPr>
              <a:t>脈波による局所的な</a:t>
            </a:r>
            <a:endParaRPr sz="2300" b="0" dirty="0">
              <a:solidFill>
                <a:srgbClr val="262626"/>
              </a:solidFill>
              <a:latin typeface="Meiryo"/>
              <a:ea typeface="Meiryo"/>
              <a:cs typeface="Meiryo"/>
            </a:endParaRPr>
          </a:p>
          <a:p>
            <a:pPr algn="l">
              <a:lnSpc>
                <a:spcPct val="120000"/>
              </a:lnSpc>
              <a:spcAft>
                <a:spcPts val="600"/>
              </a:spcAft>
            </a:pPr>
            <a:r>
              <a:rPr lang="ja-JP" altLang="en-US" sz="2300" b="0">
                <a:solidFill>
                  <a:srgbClr val="262626"/>
                </a:solidFill>
                <a:latin typeface="Meiryo"/>
                <a:ea typeface="Meiryo"/>
                <a:cs typeface="Meiryo"/>
              </a:rPr>
              <a:t>血管伸展にともなう</a:t>
            </a:r>
            <a:endParaRPr lang="en-US" altLang="ja-JP" sz="2300" b="0" dirty="0">
              <a:solidFill>
                <a:srgbClr val="262626"/>
              </a:solidFill>
              <a:latin typeface="Meiryo"/>
              <a:ea typeface="Meiryo"/>
              <a:cs typeface="Meiryo"/>
            </a:endParaRPr>
          </a:p>
          <a:p>
            <a:pPr algn="l">
              <a:lnSpc>
                <a:spcPct val="120000"/>
              </a:lnSpc>
              <a:spcAft>
                <a:spcPts val="600"/>
              </a:spcAft>
            </a:pPr>
            <a:r>
              <a:rPr sz="2800" b="1" dirty="0" err="1">
                <a:solidFill>
                  <a:srgbClr val="262626"/>
                </a:solidFill>
                <a:latin typeface="Meiryo"/>
                <a:ea typeface="Meiryo"/>
                <a:cs typeface="Meiryo"/>
              </a:rPr>
              <a:t>容積の変化</a:t>
            </a:r>
            <a:endParaRPr sz="2800" b="1" dirty="0">
              <a:solidFill>
                <a:srgbClr val="262626"/>
              </a:solidFill>
              <a:latin typeface="Meiryo"/>
              <a:ea typeface="Meiryo"/>
              <a:cs typeface="Meiryo"/>
            </a:endParaRPr>
          </a:p>
          <a:p>
            <a:pPr algn="l">
              <a:lnSpc>
                <a:spcPct val="120000"/>
              </a:lnSpc>
              <a:spcAft>
                <a:spcPts val="600"/>
              </a:spcAft>
            </a:pPr>
            <a:endParaRPr sz="2300" b="0" dirty="0">
              <a:solidFill>
                <a:srgbClr val="262626"/>
              </a:solidFill>
              <a:latin typeface="Meiryo"/>
              <a:ea typeface="Meiryo"/>
              <a:cs typeface="Meiryo"/>
            </a:endParaRPr>
          </a:p>
        </p:txBody>
      </p:sp>
      <p:sp>
        <p:nvSpPr>
          <p:cNvPr id="26" name="Rounded Rectangle 25"/>
          <p:cNvSpPr/>
          <p:nvPr/>
        </p:nvSpPr>
        <p:spPr>
          <a:xfrm>
            <a:off x="8110728" y="1737360"/>
            <a:ext cx="3529584" cy="30175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293608" y="1883664"/>
            <a:ext cx="548640" cy="597121"/>
          </a:xfrm>
          <a:prstGeom prst="rect">
            <a:avLst/>
          </a:prstGeom>
          <a:noFill/>
        </p:spPr>
        <p:txBody>
          <a:bodyPr wrap="square" lIns="0" tIns="0" rIns="0" bIns="0" anchor="t">
            <a:spAutoFit/>
          </a:bodyPr>
          <a:lstStyle/>
          <a:p>
            <a:pPr algn="l"/>
            <a:r>
              <a:rPr sz="2800" b="1">
                <a:solidFill>
                  <a:srgbClr val="00A8AA"/>
                </a:solidFill>
                <a:latin typeface="Meiryo"/>
                <a:ea typeface="Meiryo"/>
                <a:cs typeface="Meiryo"/>
              </a:rPr>
              <a:t>③</a:t>
            </a:r>
          </a:p>
        </p:txBody>
      </p:sp>
      <p:sp>
        <p:nvSpPr>
          <p:cNvPr id="28" name="TextBox 27"/>
          <p:cNvSpPr txBox="1"/>
          <p:nvPr/>
        </p:nvSpPr>
        <p:spPr>
          <a:xfrm>
            <a:off x="8842248" y="1920240"/>
            <a:ext cx="2651760" cy="541553"/>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波形の成り立ち</a:t>
            </a:r>
          </a:p>
        </p:txBody>
      </p:sp>
      <p:sp>
        <p:nvSpPr>
          <p:cNvPr id="29" name="TextBox 28"/>
          <p:cNvSpPr txBox="1"/>
          <p:nvPr/>
        </p:nvSpPr>
        <p:spPr>
          <a:xfrm>
            <a:off x="8339328" y="2514600"/>
            <a:ext cx="3108960" cy="1101629"/>
          </a:xfrm>
          <a:prstGeom prst="rect">
            <a:avLst/>
          </a:prstGeom>
          <a:noFill/>
        </p:spPr>
        <p:txBody>
          <a:bodyPr wrap="square" lIns="0" tIns="0" rIns="0" bIns="0" anchor="t">
            <a:spAutoFit/>
          </a:bodyPr>
          <a:lstStyle/>
          <a:p>
            <a:pPr algn="l">
              <a:spcAft>
                <a:spcPts val="600"/>
              </a:spcAft>
            </a:pPr>
            <a:r>
              <a:rPr sz="2800" b="1" dirty="0" err="1">
                <a:solidFill>
                  <a:srgbClr val="262626"/>
                </a:solidFill>
                <a:latin typeface="Meiryo"/>
                <a:ea typeface="Meiryo"/>
                <a:cs typeface="Meiryo"/>
              </a:rPr>
              <a:t>前進波</a:t>
            </a:r>
            <a:r>
              <a:rPr sz="2300" b="0" dirty="0">
                <a:solidFill>
                  <a:srgbClr val="262626"/>
                </a:solidFill>
                <a:latin typeface="Meiryo"/>
                <a:ea typeface="Meiryo"/>
                <a:cs typeface="Meiryo"/>
              </a:rPr>
              <a:t> ＋ </a:t>
            </a:r>
            <a:r>
              <a:rPr sz="2800" b="1" dirty="0" err="1">
                <a:solidFill>
                  <a:srgbClr val="262626"/>
                </a:solidFill>
                <a:latin typeface="Meiryo"/>
                <a:ea typeface="Meiryo"/>
                <a:cs typeface="Meiryo"/>
              </a:rPr>
              <a:t>反射波</a:t>
            </a:r>
            <a:endParaRPr sz="2800" b="1" dirty="0">
              <a:solidFill>
                <a:srgbClr val="262626"/>
              </a:solidFill>
              <a:latin typeface="Meiryo"/>
              <a:ea typeface="Meiryo"/>
              <a:cs typeface="Meiryo"/>
            </a:endParaRPr>
          </a:p>
          <a:p>
            <a:pPr algn="l">
              <a:spcAft>
                <a:spcPts val="600"/>
              </a:spcAft>
            </a:pPr>
            <a:r>
              <a:rPr sz="2300" b="0" dirty="0" err="1">
                <a:solidFill>
                  <a:srgbClr val="262626"/>
                </a:solidFill>
                <a:latin typeface="Meiryo"/>
                <a:ea typeface="Meiryo"/>
                <a:cs typeface="Meiryo"/>
              </a:rPr>
              <a:t>の合成</a:t>
            </a:r>
            <a:endParaRPr sz="2300" b="0" dirty="0">
              <a:solidFill>
                <a:srgbClr val="262626"/>
              </a:solidFill>
              <a:latin typeface="Meiryo"/>
              <a:ea typeface="Meiryo"/>
              <a:cs typeface="Meiryo"/>
            </a:endParaRPr>
          </a:p>
        </p:txBody>
      </p:sp>
      <p:sp>
        <p:nvSpPr>
          <p:cNvPr id="30" name="Rounded Rectangle 29"/>
          <p:cNvSpPr/>
          <p:nvPr/>
        </p:nvSpPr>
        <p:spPr>
          <a:xfrm>
            <a:off x="502920" y="5029200"/>
            <a:ext cx="11183112"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5230368"/>
            <a:ext cx="10789920" cy="1049305"/>
          </a:xfrm>
          <a:prstGeom prst="rect">
            <a:avLst/>
          </a:prstGeom>
          <a:noFill/>
        </p:spPr>
        <p:txBody>
          <a:bodyPr wrap="square" lIns="0" tIns="0" rIns="0" bIns="0" anchor="t">
            <a:spAutoFit/>
          </a:bodyPr>
          <a:lstStyle/>
          <a:p>
            <a:pPr algn="ctr">
              <a:spcAft>
                <a:spcPts val="400"/>
              </a:spcAft>
            </a:pPr>
            <a:r>
              <a:rPr lang="en-US" altLang="ja-JP" sz="2700" b="1" dirty="0" err="1">
                <a:solidFill>
                  <a:srgbClr val="262626"/>
                </a:solidFill>
                <a:latin typeface="Meiryo"/>
                <a:ea typeface="Meiryo"/>
                <a:cs typeface="Meiryo"/>
              </a:rPr>
              <a:t>PPG</a:t>
            </a:r>
            <a:r>
              <a:rPr sz="2700" b="1" dirty="0" err="1">
                <a:solidFill>
                  <a:srgbClr val="262626"/>
                </a:solidFill>
                <a:latin typeface="Meiryo"/>
                <a:ea typeface="Meiryo"/>
                <a:cs typeface="Meiryo"/>
              </a:rPr>
              <a:t>波形は</a:t>
            </a:r>
            <a:r>
              <a:rPr sz="2700" b="1" dirty="0">
                <a:solidFill>
                  <a:srgbClr val="262626"/>
                </a:solidFill>
                <a:latin typeface="Meiryo"/>
                <a:ea typeface="Meiryo"/>
                <a:cs typeface="Meiryo"/>
              </a:rPr>
              <a:t> </a:t>
            </a:r>
            <a:r>
              <a:rPr sz="2700" b="1" dirty="0" err="1">
                <a:solidFill>
                  <a:srgbClr val="BF9000"/>
                </a:solidFill>
                <a:latin typeface="Meiryo"/>
                <a:ea typeface="Meiryo"/>
                <a:cs typeface="Meiryo"/>
              </a:rPr>
              <a:t>どのような因子</a:t>
            </a:r>
            <a:r>
              <a:rPr sz="2700" b="1" dirty="0">
                <a:solidFill>
                  <a:srgbClr val="262626"/>
                </a:solidFill>
                <a:latin typeface="Meiryo"/>
                <a:ea typeface="Meiryo"/>
                <a:cs typeface="Meiryo"/>
              </a:rPr>
              <a:t> </a:t>
            </a:r>
            <a:r>
              <a:rPr sz="2700" b="1" dirty="0" err="1">
                <a:solidFill>
                  <a:srgbClr val="262626"/>
                </a:solidFill>
                <a:latin typeface="Meiryo"/>
                <a:ea typeface="Meiryo"/>
                <a:cs typeface="Meiryo"/>
              </a:rPr>
              <a:t>に影響を受けるのか</a:t>
            </a:r>
            <a:endParaRPr sz="2700" b="1" dirty="0">
              <a:solidFill>
                <a:srgbClr val="262626"/>
              </a:solidFill>
              <a:latin typeface="Meiryo"/>
              <a:ea typeface="Meiryo"/>
              <a:cs typeface="Meiryo"/>
            </a:endParaRPr>
          </a:p>
          <a:p>
            <a:pPr algn="ctr">
              <a:spcAft>
                <a:spcPts val="400"/>
              </a:spcAft>
            </a:pP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次章から</a:t>
            </a: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加齢・循環・麻酔</a:t>
            </a: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の順に見ていく</a:t>
            </a:r>
            <a:endParaRPr sz="2400" b="1" dirty="0">
              <a:solidFill>
                <a:srgbClr val="262626"/>
              </a:solidFill>
              <a:latin typeface="Meiryo"/>
              <a:ea typeface="Meiryo"/>
              <a:cs typeface="Meiryo"/>
            </a:endParaRP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11/55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185628-72CC-53D2-71C2-CF0C5DF854AE}"/>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957" name="Agenda"/>
          <p:cNvSpPr txBox="1"/>
          <p:nvPr/>
        </p:nvSpPr>
        <p:spPr>
          <a:xfrm>
            <a:off x="822960" y="1536192"/>
            <a:ext cx="5029200" cy="4956048"/>
          </a:xfrm>
          <a:prstGeom prst="rect">
            <a:avLst/>
          </a:prstGeom>
          <a:noFill/>
        </p:spPr>
        <p:txBody>
          <a:bodyPr wrap="square" lIns="0" tIns="0" rIns="0" bIns="0" anchor="t"/>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BF9000"/>
                </a:solidFill>
                <a:latin typeface="Meiryo"/>
                <a:ea typeface="Meiryo"/>
                <a:cs typeface="Meiryo"/>
              </a:rPr>
              <a:t>2. </a:t>
            </a:r>
            <a:r>
              <a:rPr sz="3200" b="1">
                <a:solidFill>
                  <a:srgbClr val="262626"/>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提案</a:t>
            </a:r>
          </a:p>
        </p:txBody>
      </p:sp>
      <p:sp>
        <p:nvSpPr>
          <p:cNvPr id="959"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2.1 </a:t>
            </a:r>
            <a:r>
              <a:rPr sz="2900" b="0">
                <a:solidFill>
                  <a:srgbClr val="262626"/>
                </a:solidFill>
                <a:latin typeface="Meiryo"/>
                <a:ea typeface="Meiryo"/>
                <a:cs typeface="Meiryo"/>
              </a:rPr>
              <a:t>加齢の影響</a:t>
            </a:r>
          </a:p>
          <a:p>
            <a:pPr>
              <a:lnSpc>
                <a:spcPct val="145000"/>
              </a:lnSpc>
            </a:pPr>
            <a:r>
              <a:rPr sz="2900" b="1">
                <a:solidFill>
                  <a:srgbClr val="BF9000"/>
                </a:solidFill>
                <a:latin typeface="Meiryo"/>
                <a:ea typeface="Meiryo"/>
                <a:cs typeface="Meiryo"/>
              </a:rPr>
              <a:t>2.2 </a:t>
            </a:r>
            <a:r>
              <a:rPr sz="2900" b="0">
                <a:solidFill>
                  <a:srgbClr val="262626"/>
                </a:solidFill>
                <a:latin typeface="Meiryo"/>
                <a:ea typeface="Meiryo"/>
                <a:cs typeface="Meiryo"/>
              </a:rPr>
              <a:t>循環の変化</a:t>
            </a:r>
          </a:p>
          <a:p>
            <a:pPr>
              <a:lnSpc>
                <a:spcPct val="145000"/>
              </a:lnSpc>
            </a:pPr>
            <a:r>
              <a:rPr sz="2900" b="1">
                <a:solidFill>
                  <a:srgbClr val="BF9000"/>
                </a:solidFill>
                <a:latin typeface="Meiryo"/>
                <a:ea typeface="Meiryo"/>
                <a:cs typeface="Meiryo"/>
              </a:rPr>
              <a:t>2.3 </a:t>
            </a:r>
            <a:r>
              <a:rPr sz="2900" b="0">
                <a:solidFill>
                  <a:srgbClr val="262626"/>
                </a:solidFill>
                <a:latin typeface="Meiryo"/>
                <a:ea typeface="Meiryo"/>
                <a:cs typeface="Meiryo"/>
              </a:rPr>
              <a:t>麻酔中の変化</a:t>
            </a:r>
          </a:p>
        </p:txBody>
      </p:sp>
      <p:sp>
        <p:nvSpPr>
          <p:cNvPr id="96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12/55</a:t>
            </a:r>
          </a:p>
        </p:txBody>
      </p:sp>
    </p:spTree>
    <p:extLst>
      <p:ext uri="{BB962C8B-B14F-4D97-AF65-F5344CB8AC3E}">
        <p14:creationId xmlns:p14="http://schemas.microsoft.com/office/powerpoint/2010/main" val="1349306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0D585-C2E4-BE11-73F6-9C986485CE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a:extLst>
              <a:ext uri="{FF2B5EF4-FFF2-40B4-BE49-F238E27FC236}">
                <a16:creationId xmlns:a16="http://schemas.microsoft.com/office/drawing/2014/main" id="{74956F3D-E19A-EDD1-8019-2BEDCBF54DC8}"/>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a:extLst>
              <a:ext uri="{FF2B5EF4-FFF2-40B4-BE49-F238E27FC236}">
                <a16:creationId xmlns:a16="http://schemas.microsoft.com/office/drawing/2014/main" id="{70323696-E7DF-3856-E16B-DF7874ABAA85}"/>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a:extLst>
              <a:ext uri="{FF2B5EF4-FFF2-40B4-BE49-F238E27FC236}">
                <a16:creationId xmlns:a16="http://schemas.microsoft.com/office/drawing/2014/main" id="{DBE3ED70-EF18-AA7E-E12F-9A7FAB18A28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a:extLst>
              <a:ext uri="{FF2B5EF4-FFF2-40B4-BE49-F238E27FC236}">
                <a16:creationId xmlns:a16="http://schemas.microsoft.com/office/drawing/2014/main" id="{620376B2-DB4A-3B9F-1142-2335FA12BFB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4956048"/>
          </a:xfrm>
          <a:prstGeom prst="rect">
            <a:avLst/>
          </a:prstGeom>
          <a:noFill/>
        </p:spPr>
        <p:txBody>
          <a:bodyPr wrap="square" lIns="0" tIns="0" rIns="0" bIns="0" anchor="t"/>
          <a:lstStyle/>
          <a:p>
            <a:pPr>
              <a:lnSpc>
                <a:spcPct val="142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42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42000"/>
              </a:lnSpc>
            </a:pPr>
            <a:r>
              <a:rPr sz="2700" b="1">
                <a:solidFill>
                  <a:srgbClr val="BF9000"/>
                </a:solidFill>
                <a:latin typeface="Meiryo"/>
                <a:ea typeface="Meiryo"/>
                <a:cs typeface="Meiryo"/>
              </a:rPr>
              <a:t>　2.1 </a:t>
            </a:r>
            <a:r>
              <a:rPr sz="2700" b="1">
                <a:solidFill>
                  <a:srgbClr val="262626"/>
                </a:solidFill>
                <a:latin typeface="Meiryo"/>
                <a:ea typeface="Meiryo"/>
                <a:cs typeface="Meiryo"/>
              </a:rPr>
              <a:t>加齢の影響</a:t>
            </a:r>
          </a:p>
          <a:p>
            <a:pPr>
              <a:lnSpc>
                <a:spcPct val="142000"/>
              </a:lnSpc>
            </a:pPr>
            <a:r>
              <a:rPr sz="2700" b="1">
                <a:solidFill>
                  <a:srgbClr val="D9D9D9"/>
                </a:solidFill>
                <a:latin typeface="Meiryo"/>
                <a:ea typeface="Meiryo"/>
                <a:cs typeface="Meiryo"/>
              </a:rPr>
              <a:t>　2.2 </a:t>
            </a:r>
            <a:r>
              <a:rPr sz="2700" b="0">
                <a:solidFill>
                  <a:srgbClr val="808080"/>
                </a:solidFill>
                <a:latin typeface="Meiryo"/>
                <a:ea typeface="Meiryo"/>
                <a:cs typeface="Meiryo"/>
              </a:rPr>
              <a:t>循環の変化</a:t>
            </a:r>
          </a:p>
          <a:p>
            <a:pPr>
              <a:lnSpc>
                <a:spcPct val="142000"/>
              </a:lnSpc>
            </a:pPr>
            <a:r>
              <a:rPr sz="2700" b="1">
                <a:solidFill>
                  <a:srgbClr val="D9D9D9"/>
                </a:solidFill>
                <a:latin typeface="Meiryo"/>
                <a:ea typeface="Meiryo"/>
                <a:cs typeface="Meiryo"/>
              </a:rPr>
              <a:t>　2.3 </a:t>
            </a:r>
            <a:r>
              <a:rPr sz="2700" b="0">
                <a:solidFill>
                  <a:srgbClr val="808080"/>
                </a:solidFill>
                <a:latin typeface="Meiryo"/>
                <a:ea typeface="Meiryo"/>
                <a:cs typeface="Meiryo"/>
              </a:rPr>
              <a:t>麻酔中の変化</a:t>
            </a:r>
          </a:p>
          <a:p>
            <a:pPr>
              <a:lnSpc>
                <a:spcPct val="142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42000"/>
              </a:lnSpc>
            </a:pPr>
            <a:r>
              <a:rPr sz="3000" b="1">
                <a:solidFill>
                  <a:srgbClr val="D9D9D9"/>
                </a:solidFill>
                <a:latin typeface="Meiryo"/>
                <a:ea typeface="Meiryo"/>
                <a:cs typeface="Meiryo"/>
              </a:rPr>
              <a:t>4. </a:t>
            </a:r>
            <a:r>
              <a:rPr sz="3000" b="0">
                <a:solidFill>
                  <a:srgbClr val="D9D9D9"/>
                </a:solidFill>
                <a:latin typeface="Meiryo"/>
                <a:ea typeface="Meiryo"/>
                <a:cs typeface="Meiryo"/>
              </a:rPr>
              <a:t>提案</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2.1 </a:t>
            </a:r>
            <a:r>
              <a:rPr sz="3000" b="1">
                <a:solidFill>
                  <a:srgbClr val="262626"/>
                </a:solidFill>
                <a:latin typeface="Meiryo"/>
                <a:ea typeface="Meiryo"/>
                <a:cs typeface="Meiryo"/>
              </a:rPr>
              <a:t>加齢の影響</a:t>
            </a:r>
          </a:p>
          <a:p>
            <a:pPr>
              <a:lnSpc>
                <a:spcPct val="142000"/>
              </a:lnSpc>
            </a:pPr>
            <a:r>
              <a:rPr sz="2700" b="1">
                <a:solidFill>
                  <a:srgbClr val="BF9000"/>
                </a:solidFill>
                <a:latin typeface="Meiryo"/>
                <a:ea typeface="Meiryo"/>
                <a:cs typeface="Meiryo"/>
              </a:rPr>
              <a:t>2.1.1 </a:t>
            </a:r>
            <a:r>
              <a:rPr sz="2700" b="0">
                <a:solidFill>
                  <a:srgbClr val="262626"/>
                </a:solidFill>
                <a:latin typeface="Meiryo"/>
                <a:ea typeface="Meiryo"/>
                <a:cs typeface="Meiryo"/>
              </a:rPr>
              <a:t>フラミンガム研究</a:t>
            </a:r>
          </a:p>
          <a:p>
            <a:pPr>
              <a:lnSpc>
                <a:spcPct val="142000"/>
              </a:lnSpc>
            </a:pPr>
            <a:r>
              <a:rPr sz="2700" b="1">
                <a:solidFill>
                  <a:srgbClr val="BF9000"/>
                </a:solidFill>
                <a:latin typeface="Meiryo"/>
                <a:ea typeface="Meiryo"/>
                <a:cs typeface="Meiryo"/>
              </a:rPr>
              <a:t>2.1.2 </a:t>
            </a:r>
            <a:r>
              <a:rPr sz="2700" b="0">
                <a:solidFill>
                  <a:srgbClr val="262626"/>
                </a:solidFill>
                <a:latin typeface="Meiryo"/>
                <a:ea typeface="Meiryo"/>
                <a:cs typeface="Meiryo"/>
              </a:rPr>
              <a:t>UK Biobank</a:t>
            </a:r>
          </a:p>
          <a:p>
            <a:pPr>
              <a:lnSpc>
                <a:spcPct val="142000"/>
              </a:lnSpc>
            </a:pPr>
            <a:r>
              <a:rPr sz="2700" b="1">
                <a:solidFill>
                  <a:srgbClr val="BF9000"/>
                </a:solidFill>
                <a:latin typeface="Meiryo"/>
                <a:ea typeface="Meiryo"/>
                <a:cs typeface="Meiryo"/>
              </a:rPr>
              <a:t>2.1.3 </a:t>
            </a:r>
            <a:r>
              <a:rPr sz="2700" b="0">
                <a:solidFill>
                  <a:srgbClr val="262626"/>
                </a:solidFill>
                <a:latin typeface="Meiryo"/>
                <a:ea typeface="Meiryo"/>
                <a:cs typeface="Meiryo"/>
              </a:rPr>
              <a:t>切痕平滑化の理由</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13/55</a:t>
            </a:r>
          </a:p>
        </p:txBody>
      </p:sp>
    </p:spTree>
    <p:extLst>
      <p:ext uri="{BB962C8B-B14F-4D97-AF65-F5344CB8AC3E}">
        <p14:creationId xmlns:p14="http://schemas.microsoft.com/office/powerpoint/2010/main" val="3094319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6FF89-B285-9CE6-7A63-68741F973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201AB-7969-FFD4-7E38-EED96D163515}"/>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841E0964-E45F-CE29-98E0-A7115AB44B7A}"/>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E3132FED-6E38-D861-03F7-D7A42E9905A8}"/>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C2ABAE9C-A018-D5B5-84EE-739957BE8E1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EAC09DD2-957B-97D5-4F0D-ECDD552C40C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19" name="lead"/>
          <p:cNvSpPr txBox="1"/>
          <p:nvPr/>
        </p:nvSpPr>
        <p:spPr>
          <a:xfrm>
            <a:off x="566928" y="2250863"/>
            <a:ext cx="10058400" cy="369332"/>
          </a:xfrm>
          <a:prstGeom prst="rect">
            <a:avLst/>
          </a:prstGeom>
          <a:noFill/>
        </p:spPr>
        <p:txBody>
          <a:bodyPr wrap="square" lIns="0" tIns="0" rIns="0" bIns="0" anchor="ctr">
            <a:spAutoFit/>
          </a:bodyPr>
          <a:lstStyle/>
          <a:p>
            <a:pPr algn="l"/>
            <a:r>
              <a:rPr sz="2400" b="1" dirty="0" err="1">
                <a:solidFill>
                  <a:srgbClr val="262626"/>
                </a:solidFill>
                <a:latin typeface="Meiryo"/>
                <a:ea typeface="Meiryo"/>
                <a:cs typeface="Meiryo"/>
              </a:rPr>
              <a:t>米国の前向きコホート</a:t>
            </a:r>
            <a:endParaRPr sz="2400" b="1" dirty="0">
              <a:solidFill>
                <a:srgbClr val="262626"/>
              </a:solidFill>
              <a:latin typeface="Meiryo"/>
              <a:ea typeface="Meiryo"/>
              <a:cs typeface="Meiryo"/>
            </a:endParaRPr>
          </a:p>
        </p:txBody>
      </p:sp>
      <p:sp>
        <p:nvSpPr>
          <p:cNvPr id="20" name="fact0"/>
          <p:cNvSpPr/>
          <p:nvPr/>
        </p:nvSpPr>
        <p:spPr>
          <a:xfrm>
            <a:off x="548640"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p:cNvSpPr/>
          <p:nvPr/>
        </p:nvSpPr>
        <p:spPr>
          <a:xfrm>
            <a:off x="4370832"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p:cNvSpPr/>
          <p:nvPr/>
        </p:nvSpPr>
        <p:spPr>
          <a:xfrm>
            <a:off x="8193024"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4" name="fact1">
            <a:extLst>
              <a:ext uri="{FF2B5EF4-FFF2-40B4-BE49-F238E27FC236}">
                <a16:creationId xmlns:a16="http://schemas.microsoft.com/office/drawing/2014/main" id="{E9CB1BDA-6335-6B88-D851-03BD5F7CC4E8}"/>
              </a:ext>
            </a:extLst>
          </p:cNvPr>
          <p:cNvSpPr/>
          <p:nvPr/>
        </p:nvSpPr>
        <p:spPr>
          <a:xfrm>
            <a:off x="548640" y="4374056"/>
            <a:ext cx="11119104" cy="969265"/>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2</a:t>
            </a:r>
            <a:r>
              <a:rPr lang="ja-JP" altLang="en-US" sz="2600" b="1">
                <a:solidFill>
                  <a:srgbClr val="262626"/>
                </a:solidFill>
                <a:latin typeface="Meiryo"/>
                <a:ea typeface="Meiryo"/>
                <a:cs typeface="Meiryo"/>
              </a:rPr>
              <a:t>年ごとに追跡し、発症前からの経過を追う</a:t>
            </a:r>
          </a:p>
          <a:p>
            <a:pPr algn="ctr"/>
            <a:r>
              <a:rPr lang="ja-JP" altLang="en-US" sz="2200" b="1">
                <a:solidFill>
                  <a:srgbClr val="262626"/>
                </a:solidFill>
                <a:latin typeface="Meiryo"/>
                <a:ea typeface="Meiryo"/>
                <a:cs typeface="Meiryo"/>
              </a:rPr>
              <a:t>「危険因子（</a:t>
            </a:r>
            <a:r>
              <a:rPr lang="en" altLang="ja-JP" sz="2200" b="1" dirty="0">
                <a:solidFill>
                  <a:srgbClr val="262626"/>
                </a:solidFill>
                <a:latin typeface="Meiryo"/>
                <a:ea typeface="Meiryo"/>
                <a:cs typeface="Meiryo"/>
              </a:rPr>
              <a:t>risk factor</a:t>
            </a:r>
            <a:r>
              <a:rPr lang="ja-JP" altLang="en" sz="2200" b="1">
                <a:solidFill>
                  <a:srgbClr val="262626"/>
                </a:solidFill>
                <a:latin typeface="Meiryo"/>
                <a:ea typeface="Meiryo"/>
                <a:cs typeface="Meiryo"/>
              </a:rPr>
              <a:t>）」</a:t>
            </a:r>
            <a:r>
              <a:rPr lang="ja-JP" altLang="en-US" sz="2200" b="1">
                <a:solidFill>
                  <a:srgbClr val="262626"/>
                </a:solidFill>
                <a:latin typeface="Meiryo"/>
                <a:ea typeface="Meiryo"/>
                <a:cs typeface="Meiryo"/>
              </a:rPr>
              <a:t>という概念を生んだ研究</a:t>
            </a:r>
            <a:endParaRPr lang="ja-JP" altLang="en-US"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14/55</a:t>
            </a:r>
          </a:p>
        </p:txBody>
      </p:sp>
    </p:spTree>
    <p:extLst>
      <p:ext uri="{BB962C8B-B14F-4D97-AF65-F5344CB8AC3E}">
        <p14:creationId xmlns:p14="http://schemas.microsoft.com/office/powerpoint/2010/main" val="14569262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8968F-ADEA-D170-C699-C12C4AFCD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01E03-EEF2-C812-5C12-A17A8C5D2F4D}"/>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F904641B-85DE-8E6C-6C6E-CB18D8B400D1}"/>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E5F5129B-29D5-4A3F-C7CF-A62583168D85}"/>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453A6919-A47D-1801-425D-36733C9C1871}"/>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416F21FD-7073-1352-B10A-D94472A0B493}"/>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19" name="lead">
            <a:extLst>
              <a:ext uri="{FF2B5EF4-FFF2-40B4-BE49-F238E27FC236}">
                <a16:creationId xmlns:a16="http://schemas.microsoft.com/office/drawing/2014/main" id="{F8EC53D6-55CF-9E98-3B56-78CF9A0EB19F}"/>
              </a:ext>
            </a:extLst>
          </p:cNvPr>
          <p:cNvSpPr txBox="1"/>
          <p:nvPr/>
        </p:nvSpPr>
        <p:spPr>
          <a:xfrm>
            <a:off x="566928" y="2250863"/>
            <a:ext cx="10058400" cy="369332"/>
          </a:xfrm>
          <a:prstGeom prst="rect">
            <a:avLst/>
          </a:prstGeom>
          <a:noFill/>
        </p:spPr>
        <p:txBody>
          <a:bodyPr wrap="square" lIns="0" tIns="0" rIns="0" bIns="0" anchor="ctr">
            <a:spAutoFit/>
          </a:bodyPr>
          <a:lstStyle/>
          <a:p>
            <a:pPr algn="l"/>
            <a:r>
              <a:rPr sz="2400" b="1" dirty="0" err="1">
                <a:solidFill>
                  <a:srgbClr val="262626"/>
                </a:solidFill>
                <a:latin typeface="Meiryo"/>
                <a:ea typeface="Meiryo"/>
                <a:cs typeface="Meiryo"/>
              </a:rPr>
              <a:t>米国の前向きコホート</a:t>
            </a:r>
            <a:endParaRPr sz="2400" b="1" dirty="0">
              <a:solidFill>
                <a:srgbClr val="262626"/>
              </a:solidFill>
              <a:latin typeface="Meiryo"/>
              <a:ea typeface="Meiryo"/>
              <a:cs typeface="Meiryo"/>
            </a:endParaRPr>
          </a:p>
        </p:txBody>
      </p:sp>
      <p:sp>
        <p:nvSpPr>
          <p:cNvPr id="20" name="fact0">
            <a:extLst>
              <a:ext uri="{FF2B5EF4-FFF2-40B4-BE49-F238E27FC236}">
                <a16:creationId xmlns:a16="http://schemas.microsoft.com/office/drawing/2014/main" id="{E9D390A7-1B50-043A-92FB-213A4D9A4214}"/>
              </a:ext>
            </a:extLst>
          </p:cNvPr>
          <p:cNvSpPr/>
          <p:nvPr/>
        </p:nvSpPr>
        <p:spPr>
          <a:xfrm>
            <a:off x="548640"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a:extLst>
              <a:ext uri="{FF2B5EF4-FFF2-40B4-BE49-F238E27FC236}">
                <a16:creationId xmlns:a16="http://schemas.microsoft.com/office/drawing/2014/main" id="{206FE081-ED3A-4FC5-288E-D1CEF3A2E35E}"/>
              </a:ext>
            </a:extLst>
          </p:cNvPr>
          <p:cNvSpPr/>
          <p:nvPr/>
        </p:nvSpPr>
        <p:spPr>
          <a:xfrm>
            <a:off x="4370832"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a:extLst>
              <a:ext uri="{FF2B5EF4-FFF2-40B4-BE49-F238E27FC236}">
                <a16:creationId xmlns:a16="http://schemas.microsoft.com/office/drawing/2014/main" id="{015B7C19-73C4-B5A6-9724-4A6AD846E664}"/>
              </a:ext>
            </a:extLst>
          </p:cNvPr>
          <p:cNvSpPr/>
          <p:nvPr/>
        </p:nvSpPr>
        <p:spPr>
          <a:xfrm>
            <a:off x="8193024"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3" name="callout">
            <a:extLst>
              <a:ext uri="{FF2B5EF4-FFF2-40B4-BE49-F238E27FC236}">
                <a16:creationId xmlns:a16="http://schemas.microsoft.com/office/drawing/2014/main" id="{8972EB66-69B1-1329-DF72-0CA13CFBD1AF}"/>
              </a:ext>
            </a:extLst>
          </p:cNvPr>
          <p:cNvSpPr/>
          <p:nvPr/>
        </p:nvSpPr>
        <p:spPr>
          <a:xfrm>
            <a:off x="548639" y="5568236"/>
            <a:ext cx="11119103" cy="583429"/>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指尖脈波波形と年齢や冠動脈疾患の関連を調べた</a:t>
            </a:r>
            <a:endParaRPr sz="2200" b="1" dirty="0">
              <a:solidFill>
                <a:srgbClr val="262626"/>
              </a:solidFill>
              <a:latin typeface="Meiryo"/>
              <a:ea typeface="Meiryo"/>
              <a:cs typeface="Meiryo"/>
            </a:endParaRPr>
          </a:p>
        </p:txBody>
      </p:sp>
      <p:sp>
        <p:nvSpPr>
          <p:cNvPr id="4" name="fact1">
            <a:extLst>
              <a:ext uri="{FF2B5EF4-FFF2-40B4-BE49-F238E27FC236}">
                <a16:creationId xmlns:a16="http://schemas.microsoft.com/office/drawing/2014/main" id="{917550F6-F1DD-C512-E172-D3C4EBCD1DB3}"/>
              </a:ext>
            </a:extLst>
          </p:cNvPr>
          <p:cNvSpPr/>
          <p:nvPr/>
        </p:nvSpPr>
        <p:spPr>
          <a:xfrm>
            <a:off x="548640" y="4374056"/>
            <a:ext cx="11119104" cy="969265"/>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2</a:t>
            </a:r>
            <a:r>
              <a:rPr lang="ja-JP" altLang="en-US" sz="2600" b="1">
                <a:solidFill>
                  <a:srgbClr val="262626"/>
                </a:solidFill>
                <a:latin typeface="Meiryo"/>
                <a:ea typeface="Meiryo"/>
                <a:cs typeface="Meiryo"/>
              </a:rPr>
              <a:t>年ごとに追跡し、発症前からの経過を追う</a:t>
            </a:r>
          </a:p>
          <a:p>
            <a:pPr algn="ctr"/>
            <a:r>
              <a:rPr lang="ja-JP" altLang="en-US" sz="2200" b="1">
                <a:solidFill>
                  <a:srgbClr val="262626"/>
                </a:solidFill>
                <a:latin typeface="Meiryo"/>
                <a:ea typeface="Meiryo"/>
                <a:cs typeface="Meiryo"/>
              </a:rPr>
              <a:t>「危険因子（</a:t>
            </a:r>
            <a:r>
              <a:rPr lang="en" altLang="ja-JP" sz="2200" b="1" dirty="0">
                <a:solidFill>
                  <a:srgbClr val="262626"/>
                </a:solidFill>
                <a:latin typeface="Meiryo"/>
                <a:ea typeface="Meiryo"/>
                <a:cs typeface="Meiryo"/>
              </a:rPr>
              <a:t>risk factor</a:t>
            </a:r>
            <a:r>
              <a:rPr lang="ja-JP" altLang="en" sz="2200" b="1">
                <a:solidFill>
                  <a:srgbClr val="262626"/>
                </a:solidFill>
                <a:latin typeface="Meiryo"/>
                <a:ea typeface="Meiryo"/>
                <a:cs typeface="Meiryo"/>
              </a:rPr>
              <a:t>）」</a:t>
            </a:r>
            <a:r>
              <a:rPr lang="ja-JP" altLang="en-US" sz="2200" b="1">
                <a:solidFill>
                  <a:srgbClr val="262626"/>
                </a:solidFill>
                <a:latin typeface="Meiryo"/>
                <a:ea typeface="Meiryo"/>
                <a:cs typeface="Meiryo"/>
              </a:rPr>
              <a:t>という概念を生んだ研究</a:t>
            </a:r>
            <a:endParaRPr lang="ja-JP" altLang="en-US"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14/55</a:t>
            </a:r>
          </a:p>
        </p:txBody>
      </p:sp>
    </p:spTree>
    <p:extLst>
      <p:ext uri="{BB962C8B-B14F-4D97-AF65-F5344CB8AC3E}">
        <p14:creationId xmlns:p14="http://schemas.microsoft.com/office/powerpoint/2010/main" val="3721215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8552F-549D-3330-54DB-E3DA47239846}"/>
            </a:ext>
          </a:extLst>
        </p:cNvPr>
        <p:cNvGrpSpPr/>
        <p:nvPr/>
      </p:nvGrpSpPr>
      <p:grpSpPr>
        <a:xfrm>
          <a:off x="0" y="0"/>
          <a:ext cx="0" cy="0"/>
          <a:chOff x="0" y="0"/>
          <a:chExt cx="0" cy="0"/>
        </a:xfrm>
      </p:grpSpPr>
      <p:pic>
        <p:nvPicPr>
          <p:cNvPr id="305" name="fig_dawber4" descr="f21_dawber4.png"/>
          <p:cNvPicPr>
            <a:picLocks noChangeAspect="1"/>
          </p:cNvPicPr>
          <p:nvPr/>
        </p:nvPicPr>
        <p:blipFill>
          <a:blip r:embed="rId3"/>
          <a:stretch>
            <a:fillRect/>
          </a:stretch>
        </p:blipFill>
        <p:spPr>
          <a:xfrm>
            <a:off x="929973" y="1800000"/>
            <a:ext cx="10308054" cy="4320000"/>
          </a:xfrm>
          <a:prstGeom prst="rect">
            <a:avLst/>
          </a:prstGeom>
        </p:spPr>
      </p:pic>
      <p:sp>
        <p:nvSpPr>
          <p:cNvPr id="2" name="Title 1">
            <a:extLst>
              <a:ext uri="{FF2B5EF4-FFF2-40B4-BE49-F238E27FC236}">
                <a16:creationId xmlns:a16="http://schemas.microsoft.com/office/drawing/2014/main" id="{D1790004-114C-1086-8AE9-614102C58CAE}"/>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CF5250E4-BF8B-FA72-0DFB-3EA3DB46D0A3}"/>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6D3C1C6F-DF04-39D8-502A-90D8AC4C36A7}"/>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BA91245A-7E70-1C7A-29F0-7C654549335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3D627800-83D0-BA96-6B79-FB0DC61A2EA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300" name="c1"/>
          <p:cNvSpPr txBox="1"/>
          <p:nvPr/>
        </p:nvSpPr>
        <p:spPr>
          <a:xfrm>
            <a:off x="755460" y="1886400"/>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p:cNvSpPr txBox="1"/>
          <p:nvPr/>
        </p:nvSpPr>
        <p:spPr>
          <a:xfrm>
            <a:off x="3381125" y="1886400"/>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p:cNvSpPr txBox="1"/>
          <p:nvPr/>
        </p:nvSpPr>
        <p:spPr>
          <a:xfrm>
            <a:off x="6012905" y="1886400"/>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p:cNvSpPr txBox="1"/>
          <p:nvPr/>
        </p:nvSpPr>
        <p:spPr>
          <a:xfrm>
            <a:off x="8579368" y="1886400"/>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sp>
        <p:nvSpPr>
          <p:cNvPr id="304" name="cap"/>
          <p:cNvSpPr txBox="1"/>
          <p:nvPr/>
        </p:nvSpPr>
        <p:spPr>
          <a:xfrm>
            <a:off x="929973" y="5904000"/>
            <a:ext cx="10308054" cy="302400"/>
          </a:xfrm>
          <a:prstGeom prst="rect">
            <a:avLst/>
          </a:prstGeom>
          <a:noFill/>
        </p:spPr>
        <p:txBody>
          <a:bodyPr wrap="square" lIns="0" tIns="0" rIns="0" bIns="0" anchor="t">
            <a:noAutofit/>
          </a:bodyPr>
          <a:lstStyle/>
          <a:p>
            <a:pPr algn="ctr"/>
            <a:r>
              <a:rPr lang="ja-JP" altLang="en-US" sz="2200" b="1">
                <a:solidFill>
                  <a:srgbClr val="262626"/>
                </a:solidFill>
                <a:latin typeface="Meiryo"/>
                <a:ea typeface="Meiryo"/>
                <a:cs typeface="Meiryo"/>
              </a:rPr>
              <a:t>指尖脈波を切痕の位置で</a:t>
            </a:r>
            <a:r>
              <a:rPr lang="en-US" altLang="ja-JP" sz="2200" b="1" dirty="0">
                <a:solidFill>
                  <a:srgbClr val="262626"/>
                </a:solidFill>
                <a:latin typeface="Meiryo"/>
                <a:ea typeface="Meiryo"/>
                <a:cs typeface="Meiryo"/>
              </a:rPr>
              <a:t>class </a:t>
            </a:r>
            <a:r>
              <a:rPr lang="ja-JP" altLang="en-US" sz="2200" b="1">
                <a:solidFill>
                  <a:srgbClr val="262626"/>
                </a:solidFill>
                <a:latin typeface="Meiryo"/>
                <a:ea typeface="Meiryo"/>
                <a:cs typeface="Meiryo"/>
              </a:rPr>
              <a:t>分類　年齢や冠動脈疾患との関連を調べた</a:t>
            </a:r>
            <a:endParaRPr lang="ja-JP" altLang="en-US" sz="2200" b="1" dirty="0">
              <a:solidFill>
                <a:srgbClr val="262626"/>
              </a:solidFill>
              <a:latin typeface="Meiryo"/>
              <a:ea typeface="Meiryo"/>
              <a:cs typeface="Meiryo"/>
            </a:endParaRPr>
          </a:p>
        </p:txBody>
      </p:sp>
      <p:sp>
        <p:nvSpPr>
          <p:cNvPr id="30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30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14/55</a:t>
            </a:r>
          </a:p>
        </p:txBody>
      </p:sp>
    </p:spTree>
    <p:extLst>
      <p:ext uri="{BB962C8B-B14F-4D97-AF65-F5344CB8AC3E}">
        <p14:creationId xmlns:p14="http://schemas.microsoft.com/office/powerpoint/2010/main" val="1765431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130B3-0213-CD15-2271-9D28D1145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FDB7B5-0971-C91D-B79B-B3B77CD76673}"/>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5C0ACB27-B69D-B9B2-DB81-8531DE017F3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FC547875-78D1-A2D2-4C07-144DD4697DDB}"/>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C6D9E636-69FF-F206-BC02-D24D3AB3B9B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2891074C-1B7C-667C-2B02-AD3856DB771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300" name="c1">
            <a:extLst>
              <a:ext uri="{FF2B5EF4-FFF2-40B4-BE49-F238E27FC236}">
                <a16:creationId xmlns:a16="http://schemas.microsoft.com/office/drawing/2014/main" id="{D4DBE8DF-21F8-4CF5-24FE-DBC30F3F1213}"/>
              </a:ext>
            </a:extLst>
          </p:cNvPr>
          <p:cNvSpPr txBox="1"/>
          <p:nvPr/>
        </p:nvSpPr>
        <p:spPr>
          <a:xfrm>
            <a:off x="239612" y="2446996"/>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a:extLst>
              <a:ext uri="{FF2B5EF4-FFF2-40B4-BE49-F238E27FC236}">
                <a16:creationId xmlns:a16="http://schemas.microsoft.com/office/drawing/2014/main" id="{A982EAFB-5973-9850-9BC7-220A7C8199AE}"/>
              </a:ext>
            </a:extLst>
          </p:cNvPr>
          <p:cNvSpPr txBox="1"/>
          <p:nvPr/>
        </p:nvSpPr>
        <p:spPr>
          <a:xfrm>
            <a:off x="3353587" y="2446996"/>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a:extLst>
              <a:ext uri="{FF2B5EF4-FFF2-40B4-BE49-F238E27FC236}">
                <a16:creationId xmlns:a16="http://schemas.microsoft.com/office/drawing/2014/main" id="{FFB383E3-636C-0892-2784-B994B87D7A26}"/>
              </a:ext>
            </a:extLst>
          </p:cNvPr>
          <p:cNvSpPr txBox="1"/>
          <p:nvPr/>
        </p:nvSpPr>
        <p:spPr>
          <a:xfrm>
            <a:off x="6317553" y="2446996"/>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a:extLst>
              <a:ext uri="{FF2B5EF4-FFF2-40B4-BE49-F238E27FC236}">
                <a16:creationId xmlns:a16="http://schemas.microsoft.com/office/drawing/2014/main" id="{82DF3CD3-71A8-E76E-FBAD-BB4AE090C956}"/>
              </a:ext>
            </a:extLst>
          </p:cNvPr>
          <p:cNvSpPr txBox="1"/>
          <p:nvPr/>
        </p:nvSpPr>
        <p:spPr>
          <a:xfrm>
            <a:off x="9340689" y="2446996"/>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pic>
        <p:nvPicPr>
          <p:cNvPr id="3" name="図 2">
            <a:extLst>
              <a:ext uri="{FF2B5EF4-FFF2-40B4-BE49-F238E27FC236}">
                <a16:creationId xmlns:a16="http://schemas.microsoft.com/office/drawing/2014/main" id="{66299B97-0090-66DC-34D9-27419A7550FD}"/>
              </a:ext>
            </a:extLst>
          </p:cNvPr>
          <p:cNvPicPr>
            <a:picLocks noChangeAspect="1"/>
          </p:cNvPicPr>
          <p:nvPr/>
        </p:nvPicPr>
        <p:blipFill rotWithShape="1">
          <a:blip r:embed="rId3"/>
          <a:srcRect t="27054" r="24870" b="48502"/>
          <a:stretch>
            <a:fillRect/>
          </a:stretch>
        </p:blipFill>
        <p:spPr>
          <a:xfrm>
            <a:off x="3159318" y="3780847"/>
            <a:ext cx="2862470" cy="1325563"/>
          </a:xfrm>
          <a:prstGeom prst="rect">
            <a:avLst/>
          </a:prstGeom>
        </p:spPr>
      </p:pic>
      <p:pic>
        <p:nvPicPr>
          <p:cNvPr id="4" name="図 3">
            <a:extLst>
              <a:ext uri="{FF2B5EF4-FFF2-40B4-BE49-F238E27FC236}">
                <a16:creationId xmlns:a16="http://schemas.microsoft.com/office/drawing/2014/main" id="{A5114804-75F7-28A7-0A6B-F433C0D762F2}"/>
              </a:ext>
            </a:extLst>
          </p:cNvPr>
          <p:cNvPicPr>
            <a:picLocks noChangeAspect="1"/>
          </p:cNvPicPr>
          <p:nvPr/>
        </p:nvPicPr>
        <p:blipFill>
          <a:blip r:embed="rId3"/>
          <a:srcRect l="3013" t="2610" r="21857" b="72946"/>
          <a:stretch>
            <a:fillRect/>
          </a:stretch>
        </p:blipFill>
        <p:spPr>
          <a:xfrm>
            <a:off x="148424" y="3780847"/>
            <a:ext cx="2862470" cy="1325563"/>
          </a:xfrm>
          <a:prstGeom prst="rect">
            <a:avLst/>
          </a:prstGeom>
        </p:spPr>
      </p:pic>
      <p:pic>
        <p:nvPicPr>
          <p:cNvPr id="5" name="図 4">
            <a:extLst>
              <a:ext uri="{FF2B5EF4-FFF2-40B4-BE49-F238E27FC236}">
                <a16:creationId xmlns:a16="http://schemas.microsoft.com/office/drawing/2014/main" id="{0E4B2E59-1360-99D4-DD5D-2170A0FDA1FA}"/>
              </a:ext>
            </a:extLst>
          </p:cNvPr>
          <p:cNvPicPr>
            <a:picLocks noChangeAspect="1"/>
          </p:cNvPicPr>
          <p:nvPr/>
        </p:nvPicPr>
        <p:blipFill>
          <a:blip r:embed="rId3"/>
          <a:srcRect l="3013" t="51498" r="21857" b="24140"/>
          <a:stretch>
            <a:fillRect/>
          </a:stretch>
        </p:blipFill>
        <p:spPr>
          <a:xfrm>
            <a:off x="6170212" y="3780847"/>
            <a:ext cx="2862470" cy="1321124"/>
          </a:xfrm>
          <a:prstGeom prst="rect">
            <a:avLst/>
          </a:prstGeom>
        </p:spPr>
      </p:pic>
      <p:pic>
        <p:nvPicPr>
          <p:cNvPr id="6" name="図 5">
            <a:extLst>
              <a:ext uri="{FF2B5EF4-FFF2-40B4-BE49-F238E27FC236}">
                <a16:creationId xmlns:a16="http://schemas.microsoft.com/office/drawing/2014/main" id="{54828E6E-F6C7-2302-BBD2-9A9F69237FF9}"/>
              </a:ext>
            </a:extLst>
          </p:cNvPr>
          <p:cNvPicPr>
            <a:picLocks noChangeAspect="1"/>
          </p:cNvPicPr>
          <p:nvPr/>
        </p:nvPicPr>
        <p:blipFill>
          <a:blip r:embed="rId3"/>
          <a:srcRect l="3013" t="75860" r="21857"/>
          <a:stretch>
            <a:fillRect/>
          </a:stretch>
        </p:blipFill>
        <p:spPr>
          <a:xfrm>
            <a:off x="9181106" y="3792884"/>
            <a:ext cx="2862470" cy="1309087"/>
          </a:xfrm>
          <a:prstGeom prst="rect">
            <a:avLst/>
          </a:prstGeom>
        </p:spPr>
      </p:pic>
      <p:sp>
        <p:nvSpPr>
          <p:cNvPr id="30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30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14/55</a:t>
            </a:r>
          </a:p>
        </p:txBody>
      </p:sp>
    </p:spTree>
    <p:extLst>
      <p:ext uri="{BB962C8B-B14F-4D97-AF65-F5344CB8AC3E}">
        <p14:creationId xmlns:p14="http://schemas.microsoft.com/office/powerpoint/2010/main" val="1642908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BDBF7-ADC4-A5AA-A03C-7F9C1F764F15}"/>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C53FAAD1-E8F8-0F7C-AC7B-929B3E0DD4DA}"/>
              </a:ext>
            </a:extLst>
          </p:cNvPr>
          <p:cNvPicPr>
            <a:picLocks noChangeAspect="1"/>
          </p:cNvPicPr>
          <p:nvPr/>
        </p:nvPicPr>
        <p:blipFill>
          <a:blip r:embed="rId3"/>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B7D39D22-0973-23D9-5AC9-28DC1AD506DF}"/>
              </a:ext>
            </a:extLst>
          </p:cNvPr>
          <p:cNvPicPr>
            <a:picLocks noChangeAspect="1"/>
          </p:cNvPicPr>
          <p:nvPr/>
        </p:nvPicPr>
        <p:blipFill>
          <a:blip r:embed="rId4"/>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6D74B60B-1522-5A22-9D8B-83BAA12F749D}"/>
              </a:ext>
            </a:extLst>
          </p:cNvPr>
          <p:cNvPicPr>
            <a:picLocks noChangeAspect="1"/>
          </p:cNvPicPr>
          <p:nvPr/>
        </p:nvPicPr>
        <p:blipFill>
          <a:blip r:embed="rId5"/>
          <a:stretch>
            <a:fillRect/>
          </a:stretch>
        </p:blipFill>
        <p:spPr>
          <a:xfrm>
            <a:off x="2188268" y="4523708"/>
            <a:ext cx="7771265" cy="2162439"/>
          </a:xfrm>
          <a:prstGeom prst="rect">
            <a:avLst/>
          </a:prstGeom>
        </p:spPr>
      </p:pic>
      <p:sp>
        <p:nvSpPr>
          <p:cNvPr id="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15/55</a:t>
            </a:r>
          </a:p>
        </p:txBody>
      </p:sp>
    </p:spTree>
    <p:extLst>
      <p:ext uri="{BB962C8B-B14F-4D97-AF65-F5344CB8AC3E}">
        <p14:creationId xmlns:p14="http://schemas.microsoft.com/office/powerpoint/2010/main" val="745935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2FF0DBA-ECBC-8830-B575-566CBAFAD46A}"/>
              </a:ext>
            </a:extLst>
          </p:cNvPr>
          <p:cNvPicPr>
            <a:picLocks noChangeAspect="1"/>
          </p:cNvPicPr>
          <p:nvPr/>
        </p:nvPicPr>
        <p:blipFill>
          <a:blip r:embed="rId3"/>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CF99ACD6-6813-4DAD-7730-8BB6669A38B2}"/>
              </a:ext>
            </a:extLst>
          </p:cNvPr>
          <p:cNvPicPr>
            <a:picLocks noChangeAspect="1"/>
          </p:cNvPicPr>
          <p:nvPr/>
        </p:nvPicPr>
        <p:blipFill>
          <a:blip r:embed="rId4"/>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8B14757C-13FD-7C8F-FBE7-0C476725B37F}"/>
              </a:ext>
            </a:extLst>
          </p:cNvPr>
          <p:cNvPicPr>
            <a:picLocks noChangeAspect="1"/>
          </p:cNvPicPr>
          <p:nvPr/>
        </p:nvPicPr>
        <p:blipFill>
          <a:blip r:embed="rId5"/>
          <a:stretch>
            <a:fillRect/>
          </a:stretch>
        </p:blipFill>
        <p:spPr>
          <a:xfrm>
            <a:off x="2188268" y="4523708"/>
            <a:ext cx="7771265" cy="2162439"/>
          </a:xfrm>
          <a:prstGeom prst="rect">
            <a:avLst/>
          </a:prstGeom>
        </p:spPr>
      </p:pic>
      <p:sp>
        <p:nvSpPr>
          <p:cNvPr id="7" name="callout">
            <a:extLst>
              <a:ext uri="{FF2B5EF4-FFF2-40B4-BE49-F238E27FC236}">
                <a16:creationId xmlns:a16="http://schemas.microsoft.com/office/drawing/2014/main" id="{A48A420C-F01C-9675-D690-5B862DADF8D5}"/>
              </a:ext>
            </a:extLst>
          </p:cNvPr>
          <p:cNvSpPr/>
          <p:nvPr/>
        </p:nvSpPr>
        <p:spPr>
          <a:xfrm>
            <a:off x="536448" y="2538644"/>
            <a:ext cx="11119103" cy="1780711"/>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chemeClr val="tx1"/>
                </a:solidFill>
              </a:rPr>
              <a:t>高齢者の方が切痕が平滑になりやすい。</a:t>
            </a:r>
            <a:endParaRPr lang="en-US" altLang="ja-JP" sz="2800" b="1" dirty="0">
              <a:solidFill>
                <a:schemeClr val="tx1"/>
              </a:solidFill>
            </a:endParaRPr>
          </a:p>
          <a:p>
            <a:pPr algn="ctr">
              <a:lnSpc>
                <a:spcPct val="150000"/>
              </a:lnSpc>
            </a:pPr>
            <a:r>
              <a:rPr lang="ja-JP" altLang="en-US" sz="2800" b="1">
                <a:solidFill>
                  <a:schemeClr val="tx1"/>
                </a:solidFill>
              </a:rPr>
              <a:t>切痕が平滑である方が冠動脈疾患を持つ人の割合が増える。</a:t>
            </a:r>
            <a:endParaRPr sz="2200" b="1" dirty="0">
              <a:solidFill>
                <a:schemeClr val="tx1"/>
              </a:solidFill>
              <a:latin typeface="Meiryo"/>
              <a:ea typeface="Meiryo"/>
              <a:cs typeface="Meiryo"/>
            </a:endParaRPr>
          </a:p>
        </p:txBody>
      </p:sp>
      <p:sp>
        <p:nvSpPr>
          <p:cNvPr id="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16/55</a:t>
            </a:r>
          </a:p>
        </p:txBody>
      </p:sp>
    </p:spTree>
    <p:extLst>
      <p:ext uri="{BB962C8B-B14F-4D97-AF65-F5344CB8AC3E}">
        <p14:creationId xmlns:p14="http://schemas.microsoft.com/office/powerpoint/2010/main" val="25954029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F1733-745F-0EFD-5630-D33A63647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8BA87-019C-0EEE-D56B-C1A2D554C2DE}"/>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758B9F97-3077-8EBB-5EEE-0A55DBA0AF9C}"/>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0F6E5B49-B78E-51F0-52DB-22FDC48255B4}"/>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D4DE397A-B087-3B19-7E27-47311D2D718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CBE4A483-A7B7-8535-E3B5-96609FFDCD01}"/>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21" name="lead">
            <a:extLst>
              <a:ext uri="{FF2B5EF4-FFF2-40B4-BE49-F238E27FC236}">
                <a16:creationId xmlns:a16="http://schemas.microsoft.com/office/drawing/2014/main" id="{526F467B-1137-959F-016C-95A0046B7EEB}"/>
              </a:ext>
            </a:extLst>
          </p:cNvPr>
          <p:cNvSpPr txBox="1"/>
          <p:nvPr/>
        </p:nvSpPr>
        <p:spPr>
          <a:xfrm>
            <a:off x="566928" y="2032118"/>
            <a:ext cx="10058400" cy="457200"/>
          </a:xfrm>
          <a:prstGeom prst="rect">
            <a:avLst/>
          </a:prstGeom>
          <a:noFill/>
        </p:spPr>
        <p:txBody>
          <a:bodyPr wrap="square" lIns="0" tIns="0" rIns="0" bIns="0" anchor="ctr">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a:extLst>
              <a:ext uri="{FF2B5EF4-FFF2-40B4-BE49-F238E27FC236}">
                <a16:creationId xmlns:a16="http://schemas.microsoft.com/office/drawing/2014/main" id="{53CD82EB-1A70-2A49-0DBE-7B4C5B2BFBB6}"/>
              </a:ext>
            </a:extLst>
          </p:cNvPr>
          <p:cNvSpPr/>
          <p:nvPr/>
        </p:nvSpPr>
        <p:spPr>
          <a:xfrm>
            <a:off x="548640"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2006</a:t>
            </a:r>
            <a:r>
              <a:rPr lang="ja-JP" altLang="en-US" sz="3000" b="1">
                <a:solidFill>
                  <a:srgbClr val="262626"/>
                </a:solidFill>
                <a:latin typeface="Meiryo"/>
                <a:ea typeface="Meiryo"/>
                <a:cs typeface="Meiryo"/>
              </a:rPr>
              <a:t>年</a:t>
            </a:r>
            <a:r>
              <a:rPr lang="en-US" altLang="ja-JP" sz="3000" b="1" dirty="0">
                <a:solidFill>
                  <a:srgbClr val="262626"/>
                </a:solidFill>
                <a:latin typeface="Meiryo"/>
                <a:ea typeface="Meiryo"/>
                <a:cs typeface="Meiryo"/>
              </a:rPr>
              <a:t> </a:t>
            </a:r>
            <a:r>
              <a:rPr lang="ja-JP" altLang="en-US" sz="3000" b="1">
                <a:solidFill>
                  <a:srgbClr val="262626"/>
                </a:solidFill>
                <a:latin typeface="Meiryo"/>
                <a:ea typeface="Meiryo"/>
                <a:cs typeface="Meiryo"/>
              </a:rPr>
              <a:t>開始</a:t>
            </a:r>
            <a:endParaRPr lang="en-US" altLang="ja-JP" sz="3000" b="1" dirty="0">
              <a:solidFill>
                <a:srgbClr val="262626"/>
              </a:solidFill>
              <a:latin typeface="Meiryo"/>
              <a:ea typeface="Meiryo"/>
              <a:cs typeface="Meiryo"/>
            </a:endParaRPr>
          </a:p>
          <a:p>
            <a:pPr algn="ctr"/>
            <a:r>
              <a:rPr sz="2200" b="1" dirty="0" err="1">
                <a:solidFill>
                  <a:srgbClr val="262626"/>
                </a:solidFill>
                <a:latin typeface="Meiryo"/>
                <a:ea typeface="Meiryo"/>
                <a:cs typeface="Meiryo"/>
              </a:rPr>
              <a:t>英国</a:t>
            </a:r>
            <a:r>
              <a:rPr sz="2200" b="1" dirty="0">
                <a:solidFill>
                  <a:srgbClr val="262626"/>
                </a:solidFill>
                <a:latin typeface="Meiryo"/>
                <a:ea typeface="Meiryo"/>
                <a:cs typeface="Meiryo"/>
              </a:rPr>
              <a:t> 22施設で登録</a:t>
            </a:r>
          </a:p>
        </p:txBody>
      </p:sp>
      <p:sp>
        <p:nvSpPr>
          <p:cNvPr id="23" name="fact1">
            <a:extLst>
              <a:ext uri="{FF2B5EF4-FFF2-40B4-BE49-F238E27FC236}">
                <a16:creationId xmlns:a16="http://schemas.microsoft.com/office/drawing/2014/main" id="{0507FA75-00C2-B002-C40E-5D97843DE899}"/>
              </a:ext>
            </a:extLst>
          </p:cNvPr>
          <p:cNvSpPr/>
          <p:nvPr/>
        </p:nvSpPr>
        <p:spPr>
          <a:xfrm>
            <a:off x="4370832"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3000" b="1">
                <a:solidFill>
                  <a:srgbClr val="262626"/>
                </a:solidFill>
                <a:latin typeface="Meiryo"/>
                <a:ea typeface="Meiryo"/>
                <a:cs typeface="Meiryo"/>
              </a:rPr>
              <a:t>約</a:t>
            </a:r>
            <a:r>
              <a:rPr lang="en-US" altLang="ja-JP" sz="3000" b="1" dirty="0">
                <a:solidFill>
                  <a:srgbClr val="262626"/>
                </a:solidFill>
                <a:latin typeface="Meiryo"/>
                <a:ea typeface="Meiryo"/>
                <a:cs typeface="Meiryo"/>
              </a:rPr>
              <a:t> 50</a:t>
            </a:r>
            <a:r>
              <a:rPr lang="ja-JP" altLang="en-US" sz="3000" b="1">
                <a:solidFill>
                  <a:srgbClr val="262626"/>
                </a:solidFill>
                <a:latin typeface="Meiryo"/>
                <a:ea typeface="Meiryo"/>
                <a:cs typeface="Meiryo"/>
              </a:rPr>
              <a:t>万人</a:t>
            </a:r>
            <a:endParaRPr lang="en-US" altLang="ja-JP" sz="3000" b="1" dirty="0">
              <a:solidFill>
                <a:srgbClr val="262626"/>
              </a:solidFill>
              <a:latin typeface="Meiryo"/>
              <a:ea typeface="Meiryo"/>
              <a:cs typeface="Meiryo"/>
            </a:endParaRPr>
          </a:p>
          <a:p>
            <a:pPr algn="ctr"/>
            <a:r>
              <a:rPr lang="ja-JP" altLang="en-US" sz="2200" b="1">
                <a:solidFill>
                  <a:srgbClr val="262626"/>
                </a:solidFill>
                <a:latin typeface="Meiryo"/>
                <a:ea typeface="Meiryo"/>
                <a:cs typeface="Meiryo"/>
              </a:rPr>
              <a:t>施設近所のボランティア</a:t>
            </a:r>
          </a:p>
        </p:txBody>
      </p:sp>
      <p:sp>
        <p:nvSpPr>
          <p:cNvPr id="24" name="fact2">
            <a:extLst>
              <a:ext uri="{FF2B5EF4-FFF2-40B4-BE49-F238E27FC236}">
                <a16:creationId xmlns:a16="http://schemas.microsoft.com/office/drawing/2014/main" id="{044B09EA-7AFA-3517-723F-914A205FB697}"/>
              </a:ext>
            </a:extLst>
          </p:cNvPr>
          <p:cNvSpPr/>
          <p:nvPr/>
        </p:nvSpPr>
        <p:spPr>
          <a:xfrm>
            <a:off x="8193024"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40〜69 </a:t>
            </a:r>
            <a:r>
              <a:rPr lang="ja-JP" altLang="en-US" sz="3000" b="1">
                <a:solidFill>
                  <a:srgbClr val="262626"/>
                </a:solidFill>
                <a:latin typeface="Meiryo"/>
                <a:ea typeface="Meiryo"/>
                <a:cs typeface="Meiryo"/>
              </a:rPr>
              <a:t>歳</a:t>
            </a:r>
          </a:p>
          <a:p>
            <a:pPr algn="ctr"/>
            <a:r>
              <a:rPr lang="ja-JP" altLang="en-US" sz="2200" b="1">
                <a:solidFill>
                  <a:srgbClr val="262626"/>
                </a:solidFill>
                <a:latin typeface="Meiryo"/>
                <a:ea typeface="Meiryo"/>
                <a:cs typeface="Meiryo"/>
              </a:rPr>
              <a:t>健康ボランティアバイアス</a:t>
            </a:r>
            <a:endParaRPr sz="2200" b="1" dirty="0">
              <a:solidFill>
                <a:srgbClr val="262626"/>
              </a:solidFill>
              <a:latin typeface="Meiryo"/>
              <a:ea typeface="Meiryo"/>
              <a:cs typeface="Meiryo"/>
            </a:endParaRPr>
          </a:p>
        </p:txBody>
      </p:sp>
      <p:sp>
        <p:nvSpPr>
          <p:cNvPr id="4" name="fact0">
            <a:extLst>
              <a:ext uri="{FF2B5EF4-FFF2-40B4-BE49-F238E27FC236}">
                <a16:creationId xmlns:a16="http://schemas.microsoft.com/office/drawing/2014/main" id="{DEBDC9D6-71D4-256E-A441-19D7FAC18EBA}"/>
              </a:ext>
            </a:extLst>
          </p:cNvPr>
          <p:cNvSpPr/>
          <p:nvPr/>
        </p:nvSpPr>
        <p:spPr>
          <a:xfrm>
            <a:off x="554736" y="4243084"/>
            <a:ext cx="1111300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登録時に 質問票・身体計測・採血・指尖</a:t>
            </a:r>
            <a:r>
              <a:rPr lang="en" altLang="ja-JP" sz="2600" b="1" dirty="0">
                <a:solidFill>
                  <a:srgbClr val="262626"/>
                </a:solidFill>
                <a:latin typeface="Meiryo"/>
                <a:ea typeface="Meiryo"/>
                <a:cs typeface="Meiryo"/>
              </a:rPr>
              <a:t>PPG</a:t>
            </a:r>
          </a:p>
          <a:p>
            <a:pPr algn="ctr"/>
            <a:r>
              <a:rPr lang="ja-JP" altLang="en-US" sz="2200" b="1">
                <a:solidFill>
                  <a:srgbClr val="262626"/>
                </a:solidFill>
                <a:latin typeface="Meiryo"/>
                <a:ea typeface="Meiryo"/>
                <a:cs typeface="Meiryo"/>
              </a:rPr>
              <a:t>その後は 医療記録とのリンクで イベントを追跡</a:t>
            </a:r>
            <a:endParaRPr lang="ja-JP" altLang="en-US" sz="2200" b="1" dirty="0">
              <a:solidFill>
                <a:srgbClr val="262626"/>
              </a:solidFill>
              <a:latin typeface="Meiryo"/>
              <a:ea typeface="Meiryo"/>
              <a:cs typeface="Meiryo"/>
            </a:endParaRP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　／　9. Fry 2017</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17/55</a:t>
            </a:r>
          </a:p>
        </p:txBody>
      </p:sp>
    </p:spTree>
    <p:extLst>
      <p:ext uri="{BB962C8B-B14F-4D97-AF65-F5344CB8AC3E}">
        <p14:creationId xmlns:p14="http://schemas.microsoft.com/office/powerpoint/2010/main" val="3043704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BEF48-854D-4EF6-C11B-6F29BB873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70BB31-5495-A77C-D834-615AF52AB217}"/>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7639B582-06D1-DFEC-B7DD-7B27D05A0099}"/>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D9A81368-A28A-7342-364F-C1780B8D7A85}"/>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5292455A-92CA-67BF-D4ED-968B236466A1}"/>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EE37C782-574B-FAFD-5DE4-4F964522BC04}"/>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21" name="lead">
            <a:extLst>
              <a:ext uri="{FF2B5EF4-FFF2-40B4-BE49-F238E27FC236}">
                <a16:creationId xmlns:a16="http://schemas.microsoft.com/office/drawing/2014/main" id="{F6B2A981-DF9E-8B8B-4366-BACBF5734F93}"/>
              </a:ext>
            </a:extLst>
          </p:cNvPr>
          <p:cNvSpPr txBox="1"/>
          <p:nvPr/>
        </p:nvSpPr>
        <p:spPr>
          <a:xfrm>
            <a:off x="566928" y="2032118"/>
            <a:ext cx="10058400" cy="457200"/>
          </a:xfrm>
          <a:prstGeom prst="rect">
            <a:avLst/>
          </a:prstGeom>
          <a:noFill/>
        </p:spPr>
        <p:txBody>
          <a:bodyPr wrap="square" lIns="0" tIns="0" rIns="0" bIns="0" anchor="ctr">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a:extLst>
              <a:ext uri="{FF2B5EF4-FFF2-40B4-BE49-F238E27FC236}">
                <a16:creationId xmlns:a16="http://schemas.microsoft.com/office/drawing/2014/main" id="{C0E7C231-1C03-4C2A-990C-4FBE42DCA163}"/>
              </a:ext>
            </a:extLst>
          </p:cNvPr>
          <p:cNvSpPr/>
          <p:nvPr/>
        </p:nvSpPr>
        <p:spPr>
          <a:xfrm>
            <a:off x="548640"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2006</a:t>
            </a:r>
            <a:r>
              <a:rPr lang="ja-JP" altLang="en-US" sz="3000" b="1">
                <a:solidFill>
                  <a:srgbClr val="262626"/>
                </a:solidFill>
                <a:latin typeface="Meiryo"/>
                <a:ea typeface="Meiryo"/>
                <a:cs typeface="Meiryo"/>
              </a:rPr>
              <a:t>年</a:t>
            </a:r>
            <a:r>
              <a:rPr lang="en-US" altLang="ja-JP" sz="3000" b="1" dirty="0">
                <a:solidFill>
                  <a:srgbClr val="262626"/>
                </a:solidFill>
                <a:latin typeface="Meiryo"/>
                <a:ea typeface="Meiryo"/>
                <a:cs typeface="Meiryo"/>
              </a:rPr>
              <a:t> </a:t>
            </a:r>
            <a:r>
              <a:rPr lang="ja-JP" altLang="en-US" sz="3000" b="1">
                <a:solidFill>
                  <a:srgbClr val="262626"/>
                </a:solidFill>
                <a:latin typeface="Meiryo"/>
                <a:ea typeface="Meiryo"/>
                <a:cs typeface="Meiryo"/>
              </a:rPr>
              <a:t>開始</a:t>
            </a:r>
            <a:endParaRPr lang="en-US" altLang="ja-JP" sz="3000" b="1" dirty="0">
              <a:solidFill>
                <a:srgbClr val="262626"/>
              </a:solidFill>
              <a:latin typeface="Meiryo"/>
              <a:ea typeface="Meiryo"/>
              <a:cs typeface="Meiryo"/>
            </a:endParaRPr>
          </a:p>
          <a:p>
            <a:pPr algn="ctr"/>
            <a:r>
              <a:rPr sz="2200" b="1" dirty="0" err="1">
                <a:solidFill>
                  <a:srgbClr val="262626"/>
                </a:solidFill>
                <a:latin typeface="Meiryo"/>
                <a:ea typeface="Meiryo"/>
                <a:cs typeface="Meiryo"/>
              </a:rPr>
              <a:t>英国</a:t>
            </a:r>
            <a:r>
              <a:rPr sz="2200" b="1" dirty="0">
                <a:solidFill>
                  <a:srgbClr val="262626"/>
                </a:solidFill>
                <a:latin typeface="Meiryo"/>
                <a:ea typeface="Meiryo"/>
                <a:cs typeface="Meiryo"/>
              </a:rPr>
              <a:t> 22施設で登録</a:t>
            </a:r>
          </a:p>
        </p:txBody>
      </p:sp>
      <p:sp>
        <p:nvSpPr>
          <p:cNvPr id="23" name="fact1">
            <a:extLst>
              <a:ext uri="{FF2B5EF4-FFF2-40B4-BE49-F238E27FC236}">
                <a16:creationId xmlns:a16="http://schemas.microsoft.com/office/drawing/2014/main" id="{C156D6C8-B1C8-2860-7AB4-DA1E14CEC910}"/>
              </a:ext>
            </a:extLst>
          </p:cNvPr>
          <p:cNvSpPr/>
          <p:nvPr/>
        </p:nvSpPr>
        <p:spPr>
          <a:xfrm>
            <a:off x="4370832"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3000" b="1">
                <a:solidFill>
                  <a:srgbClr val="262626"/>
                </a:solidFill>
                <a:latin typeface="Meiryo"/>
                <a:ea typeface="Meiryo"/>
                <a:cs typeface="Meiryo"/>
              </a:rPr>
              <a:t>約</a:t>
            </a:r>
            <a:r>
              <a:rPr lang="en-US" altLang="ja-JP" sz="3000" b="1" dirty="0">
                <a:solidFill>
                  <a:srgbClr val="262626"/>
                </a:solidFill>
                <a:latin typeface="Meiryo"/>
                <a:ea typeface="Meiryo"/>
                <a:cs typeface="Meiryo"/>
              </a:rPr>
              <a:t> 50</a:t>
            </a:r>
            <a:r>
              <a:rPr lang="ja-JP" altLang="en-US" sz="3000" b="1">
                <a:solidFill>
                  <a:srgbClr val="262626"/>
                </a:solidFill>
                <a:latin typeface="Meiryo"/>
                <a:ea typeface="Meiryo"/>
                <a:cs typeface="Meiryo"/>
              </a:rPr>
              <a:t>万人</a:t>
            </a:r>
            <a:endParaRPr lang="en-US" altLang="ja-JP" sz="3000" b="1" dirty="0">
              <a:solidFill>
                <a:srgbClr val="262626"/>
              </a:solidFill>
              <a:latin typeface="Meiryo"/>
              <a:ea typeface="Meiryo"/>
              <a:cs typeface="Meiryo"/>
            </a:endParaRPr>
          </a:p>
          <a:p>
            <a:pPr algn="ctr"/>
            <a:r>
              <a:rPr lang="ja-JP" altLang="en-US" sz="2200" b="1">
                <a:solidFill>
                  <a:srgbClr val="262626"/>
                </a:solidFill>
                <a:latin typeface="Meiryo"/>
                <a:ea typeface="Meiryo"/>
                <a:cs typeface="Meiryo"/>
              </a:rPr>
              <a:t>施設近所のボランティア</a:t>
            </a:r>
          </a:p>
        </p:txBody>
      </p:sp>
      <p:sp>
        <p:nvSpPr>
          <p:cNvPr id="24" name="fact2">
            <a:extLst>
              <a:ext uri="{FF2B5EF4-FFF2-40B4-BE49-F238E27FC236}">
                <a16:creationId xmlns:a16="http://schemas.microsoft.com/office/drawing/2014/main" id="{28C1DA1A-5C57-1005-4BC2-631CE8F28061}"/>
              </a:ext>
            </a:extLst>
          </p:cNvPr>
          <p:cNvSpPr/>
          <p:nvPr/>
        </p:nvSpPr>
        <p:spPr>
          <a:xfrm>
            <a:off x="8193024"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40〜69 </a:t>
            </a:r>
            <a:r>
              <a:rPr lang="ja-JP" altLang="en-US" sz="3000" b="1">
                <a:solidFill>
                  <a:srgbClr val="262626"/>
                </a:solidFill>
                <a:latin typeface="Meiryo"/>
                <a:ea typeface="Meiryo"/>
                <a:cs typeface="Meiryo"/>
              </a:rPr>
              <a:t>歳</a:t>
            </a:r>
          </a:p>
          <a:p>
            <a:pPr algn="ctr"/>
            <a:r>
              <a:rPr lang="ja-JP" altLang="en-US" sz="2200" b="1">
                <a:solidFill>
                  <a:srgbClr val="262626"/>
                </a:solidFill>
                <a:latin typeface="Meiryo"/>
                <a:ea typeface="Meiryo"/>
                <a:cs typeface="Meiryo"/>
              </a:rPr>
              <a:t>健康ボランティアバイアス</a:t>
            </a:r>
            <a:endParaRPr sz="2200" b="1" dirty="0">
              <a:solidFill>
                <a:srgbClr val="262626"/>
              </a:solidFill>
              <a:latin typeface="Meiryo"/>
              <a:ea typeface="Meiryo"/>
              <a:cs typeface="Meiryo"/>
            </a:endParaRPr>
          </a:p>
        </p:txBody>
      </p:sp>
      <p:sp>
        <p:nvSpPr>
          <p:cNvPr id="3" name="callout">
            <a:extLst>
              <a:ext uri="{FF2B5EF4-FFF2-40B4-BE49-F238E27FC236}">
                <a16:creationId xmlns:a16="http://schemas.microsoft.com/office/drawing/2014/main" id="{25B5E446-BAFA-EC66-9AC7-D735C6BF6339}"/>
              </a:ext>
            </a:extLst>
          </p:cNvPr>
          <p:cNvSpPr/>
          <p:nvPr/>
        </p:nvSpPr>
        <p:spPr>
          <a:xfrm>
            <a:off x="548639" y="5488710"/>
            <a:ext cx="11113007" cy="65785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PPG</a:t>
            </a:r>
            <a:r>
              <a:rPr lang="ja-JP" altLang="en-US" sz="2600" b="1">
                <a:solidFill>
                  <a:srgbClr val="262626"/>
                </a:solidFill>
                <a:latin typeface="Meiryo"/>
                <a:ea typeface="Meiryo"/>
                <a:cs typeface="Meiryo"/>
              </a:rPr>
              <a:t>波形を機械学習し、切痕の平滑さと各種疾患の関連を調べた</a:t>
            </a:r>
            <a:endParaRPr sz="2200" b="1" dirty="0">
              <a:solidFill>
                <a:srgbClr val="262626"/>
              </a:solidFill>
              <a:latin typeface="Meiryo"/>
              <a:ea typeface="Meiryo"/>
              <a:cs typeface="Meiryo"/>
            </a:endParaRPr>
          </a:p>
        </p:txBody>
      </p:sp>
      <p:sp>
        <p:nvSpPr>
          <p:cNvPr id="4" name="fact0">
            <a:extLst>
              <a:ext uri="{FF2B5EF4-FFF2-40B4-BE49-F238E27FC236}">
                <a16:creationId xmlns:a16="http://schemas.microsoft.com/office/drawing/2014/main" id="{B332B328-27A5-105B-7A2F-CACD865F3B5A}"/>
              </a:ext>
            </a:extLst>
          </p:cNvPr>
          <p:cNvSpPr/>
          <p:nvPr/>
        </p:nvSpPr>
        <p:spPr>
          <a:xfrm>
            <a:off x="554736" y="4243084"/>
            <a:ext cx="1111300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登録時に 質問票・身体計測・採血・指尖</a:t>
            </a:r>
            <a:r>
              <a:rPr lang="en" altLang="ja-JP" sz="2600" b="1" dirty="0">
                <a:solidFill>
                  <a:srgbClr val="262626"/>
                </a:solidFill>
                <a:latin typeface="Meiryo"/>
                <a:ea typeface="Meiryo"/>
                <a:cs typeface="Meiryo"/>
              </a:rPr>
              <a:t>PPG</a:t>
            </a:r>
          </a:p>
          <a:p>
            <a:pPr algn="ctr"/>
            <a:r>
              <a:rPr lang="ja-JP" altLang="en-US" sz="2200" b="1">
                <a:solidFill>
                  <a:srgbClr val="262626"/>
                </a:solidFill>
                <a:latin typeface="Meiryo"/>
                <a:ea typeface="Meiryo"/>
                <a:cs typeface="Meiryo"/>
              </a:rPr>
              <a:t>その後は 医療記録とのリンクで イベントを追跡</a:t>
            </a:r>
            <a:endParaRPr lang="ja-JP" altLang="en-US" sz="2200" b="1" dirty="0">
              <a:solidFill>
                <a:srgbClr val="262626"/>
              </a:solidFill>
              <a:latin typeface="Meiryo"/>
              <a:ea typeface="Meiryo"/>
              <a:cs typeface="Meiryo"/>
            </a:endParaRP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　／　9. Fry 2017</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17/55</a:t>
            </a:r>
          </a:p>
        </p:txBody>
      </p:sp>
    </p:spTree>
    <p:extLst>
      <p:ext uri="{BB962C8B-B14F-4D97-AF65-F5344CB8AC3E}">
        <p14:creationId xmlns:p14="http://schemas.microsoft.com/office/powerpoint/2010/main" val="23915320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CD83A-C2A9-F647-ADBE-D5CB6D4F8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7C163-F393-8064-6BAA-D9F5CFF6DA31}"/>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59F57616-1BE7-4156-91C0-DC582D1AE70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7E160212-A50C-ABF3-1B9E-694C7EEFAA7B}"/>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2F101920-C64C-DEC2-9F51-9DA11464CB5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8E7FD405-5255-6666-D847-F08EFC902C04}"/>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11" name="図 10">
            <a:extLst>
              <a:ext uri="{FF2B5EF4-FFF2-40B4-BE49-F238E27FC236}">
                <a16:creationId xmlns:a16="http://schemas.microsoft.com/office/drawing/2014/main" id="{EE5BBC1A-3689-6085-055C-20750B8DA905}"/>
              </a:ext>
            </a:extLst>
          </p:cNvPr>
          <p:cNvPicPr>
            <a:picLocks noChangeAspect="1"/>
          </p:cNvPicPr>
          <p:nvPr/>
        </p:nvPicPr>
        <p:blipFill>
          <a:blip r:embed="rId3"/>
          <a:stretch>
            <a:fillRect/>
          </a:stretch>
        </p:blipFill>
        <p:spPr>
          <a:xfrm>
            <a:off x="358058" y="2347302"/>
            <a:ext cx="5874342" cy="3487406"/>
          </a:xfrm>
          <a:prstGeom prst="rect">
            <a:avLst/>
          </a:prstGeom>
        </p:spPr>
      </p:pic>
      <p:pic>
        <p:nvPicPr>
          <p:cNvPr id="13" name="図 12">
            <a:extLst>
              <a:ext uri="{FF2B5EF4-FFF2-40B4-BE49-F238E27FC236}">
                <a16:creationId xmlns:a16="http://schemas.microsoft.com/office/drawing/2014/main" id="{DAE11561-6EFA-9874-E89A-8BBB010948E0}"/>
              </a:ext>
            </a:extLst>
          </p:cNvPr>
          <p:cNvPicPr>
            <a:picLocks noChangeAspect="1"/>
          </p:cNvPicPr>
          <p:nvPr/>
        </p:nvPicPr>
        <p:blipFill>
          <a:blip r:embed="rId4"/>
          <a:srcRect t="1" b="27431"/>
          <a:stretch>
            <a:fillRect/>
          </a:stretch>
        </p:blipFill>
        <p:spPr>
          <a:xfrm>
            <a:off x="6232400" y="1823018"/>
            <a:ext cx="5601542" cy="4337316"/>
          </a:xfrm>
          <a:prstGeom prst="rect">
            <a:avLst/>
          </a:prstGeom>
        </p:spPr>
      </p:pic>
      <p:sp>
        <p:nvSpPr>
          <p:cNvPr id="2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a:t>
            </a:r>
          </a:p>
        </p:txBody>
      </p:sp>
      <p:sp>
        <p:nvSpPr>
          <p:cNvPr id="2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17/55</a:t>
            </a:r>
          </a:p>
        </p:txBody>
      </p:sp>
    </p:spTree>
    <p:extLst>
      <p:ext uri="{BB962C8B-B14F-4D97-AF65-F5344CB8AC3E}">
        <p14:creationId xmlns:p14="http://schemas.microsoft.com/office/powerpoint/2010/main" val="1615702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9ACB8-DCD9-F0FE-6F6A-9CF362E722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1135C-9592-0C51-C9AA-F33BA50304ED}"/>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050492A9-66EC-FA98-B419-C261262F827E}"/>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D1A1AE54-3A35-6730-B959-E69049BC0A65}"/>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0BFF12C2-90BD-E92E-0118-D412BA221E7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3301B627-1673-7484-3485-877B8873E624}"/>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11" name="図 10">
            <a:extLst>
              <a:ext uri="{FF2B5EF4-FFF2-40B4-BE49-F238E27FC236}">
                <a16:creationId xmlns:a16="http://schemas.microsoft.com/office/drawing/2014/main" id="{5AE9E7C1-EAA3-62C2-8F3E-50B3F0EFAC47}"/>
              </a:ext>
            </a:extLst>
          </p:cNvPr>
          <p:cNvPicPr>
            <a:picLocks noChangeAspect="1"/>
          </p:cNvPicPr>
          <p:nvPr/>
        </p:nvPicPr>
        <p:blipFill>
          <a:blip r:embed="rId3"/>
          <a:stretch>
            <a:fillRect/>
          </a:stretch>
        </p:blipFill>
        <p:spPr>
          <a:xfrm>
            <a:off x="358058" y="2347302"/>
            <a:ext cx="5874342" cy="3487406"/>
          </a:xfrm>
          <a:prstGeom prst="rect">
            <a:avLst/>
          </a:prstGeom>
        </p:spPr>
      </p:pic>
      <p:pic>
        <p:nvPicPr>
          <p:cNvPr id="13" name="図 12">
            <a:extLst>
              <a:ext uri="{FF2B5EF4-FFF2-40B4-BE49-F238E27FC236}">
                <a16:creationId xmlns:a16="http://schemas.microsoft.com/office/drawing/2014/main" id="{7BA7E091-456D-3E23-4930-6776B6F92097}"/>
              </a:ext>
            </a:extLst>
          </p:cNvPr>
          <p:cNvPicPr>
            <a:picLocks noChangeAspect="1"/>
          </p:cNvPicPr>
          <p:nvPr/>
        </p:nvPicPr>
        <p:blipFill>
          <a:blip r:embed="rId4"/>
          <a:srcRect t="1" b="27431"/>
          <a:stretch>
            <a:fillRect/>
          </a:stretch>
        </p:blipFill>
        <p:spPr>
          <a:xfrm>
            <a:off x="6232400" y="1823018"/>
            <a:ext cx="5601542" cy="4337316"/>
          </a:xfrm>
          <a:prstGeom prst="rect">
            <a:avLst/>
          </a:prstGeom>
        </p:spPr>
      </p:pic>
      <p:sp>
        <p:nvSpPr>
          <p:cNvPr id="4" name="callout">
            <a:extLst>
              <a:ext uri="{FF2B5EF4-FFF2-40B4-BE49-F238E27FC236}">
                <a16:creationId xmlns:a16="http://schemas.microsoft.com/office/drawing/2014/main" id="{9B6B7DC0-E5C7-B684-E2DA-0B0CBDCB724B}"/>
              </a:ext>
            </a:extLst>
          </p:cNvPr>
          <p:cNvSpPr/>
          <p:nvPr/>
        </p:nvSpPr>
        <p:spPr>
          <a:xfrm>
            <a:off x="1518506" y="3076168"/>
            <a:ext cx="9154988" cy="183101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rgbClr val="262626"/>
                </a:solidFill>
                <a:latin typeface="Meiryo"/>
                <a:ea typeface="Meiryo"/>
                <a:cs typeface="Meiryo"/>
              </a:rPr>
              <a:t>切痕が平滑であるほど、</a:t>
            </a:r>
            <a:endParaRPr lang="en-US" altLang="ja-JP" sz="2800" b="1" dirty="0">
              <a:solidFill>
                <a:srgbClr val="262626"/>
              </a:solidFill>
              <a:latin typeface="Meiryo"/>
              <a:ea typeface="Meiryo"/>
              <a:cs typeface="Meiryo"/>
            </a:endParaRPr>
          </a:p>
          <a:p>
            <a:pPr algn="ctr">
              <a:lnSpc>
                <a:spcPct val="150000"/>
              </a:lnSpc>
            </a:pPr>
            <a:r>
              <a:rPr lang="ja-JP" altLang="en-US" sz="2800" b="1">
                <a:solidFill>
                  <a:srgbClr val="262626"/>
                </a:solidFill>
                <a:latin typeface="Meiryo"/>
                <a:ea typeface="Meiryo"/>
                <a:cs typeface="Meiryo"/>
              </a:rPr>
              <a:t>高血圧・冠動脈疾患・心不全・死亡 が増加する。</a:t>
            </a:r>
          </a:p>
        </p:txBody>
      </p:sp>
      <p:sp>
        <p:nvSpPr>
          <p:cNvPr id="2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a:t>
            </a:r>
          </a:p>
        </p:txBody>
      </p:sp>
      <p:sp>
        <p:nvSpPr>
          <p:cNvPr id="2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17/55</a:t>
            </a:r>
          </a:p>
        </p:txBody>
      </p:sp>
    </p:spTree>
    <p:extLst>
      <p:ext uri="{BB962C8B-B14F-4D97-AF65-F5344CB8AC3E}">
        <p14:creationId xmlns:p14="http://schemas.microsoft.com/office/powerpoint/2010/main" val="28719371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2.1.3  切痕平滑化の理由</a:t>
            </a:r>
          </a:p>
        </p:txBody>
      </p:sp>
      <p:sp>
        <p:nvSpPr>
          <p:cNvPr id="13" name="Off-page Connector 4"/>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9" name="Picture 8" descr="11_stiffness_series.png"/>
          <p:cNvPicPr>
            <a:picLocks noChangeAspect="1"/>
          </p:cNvPicPr>
          <p:nvPr/>
        </p:nvPicPr>
        <p:blipFill>
          <a:blip r:embed="rId3"/>
          <a:stretch>
            <a:fillRect/>
          </a:stretch>
        </p:blipFill>
        <p:spPr>
          <a:xfrm>
            <a:off x="1564000" y="1597656"/>
            <a:ext cx="9040000" cy="4320000"/>
          </a:xfrm>
          <a:prstGeom prst="rect">
            <a:avLst/>
          </a:prstGeom>
        </p:spPr>
      </p:pic>
      <p:sp>
        <p:nvSpPr>
          <p:cNvPr id="270" name="t_g"/>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p:cNvSpPr txBox="1"/>
          <p:nvPr/>
        </p:nvSpPr>
        <p:spPr>
          <a:xfrm>
            <a:off x="864000" y="5395656"/>
            <a:ext cx="10440000" cy="1044000"/>
          </a:xfrm>
          <a:prstGeom prst="rect">
            <a:avLst/>
          </a:prstGeom>
          <a:noFill/>
        </p:spPr>
        <p:txBody>
          <a:bodyPr wrap="square" lIns="0" tIns="0" rIns="0" bIns="0" anchor="t">
            <a:noAutofit/>
          </a:bodyPr>
          <a:lstStyle/>
          <a:p>
            <a:pPr algn="ctr">
              <a:lnSpc>
                <a:spcPct val="150000"/>
              </a:lnSpc>
            </a:pPr>
            <a:r>
              <a:rPr lang="ja-JP" altLang="en-US" sz="2400" b="1" dirty="0">
                <a:solidFill>
                  <a:srgbClr val="262626"/>
                </a:solidFill>
                <a:latin typeface="Meiryo"/>
                <a:ea typeface="Meiryo"/>
                <a:cs typeface="Meiryo"/>
              </a:rPr>
              <a:t>加齢・動脈硬化 → 大血管スティフネス↑ </a:t>
            </a:r>
            <a:r>
              <a:rPr lang="ja-JP" altLang="en-US" sz="2800" b="1" dirty="0">
                <a:solidFill>
                  <a:srgbClr val="262626"/>
                </a:solidFill>
                <a:latin typeface="Meiryo"/>
                <a:ea typeface="Meiryo"/>
                <a:cs typeface="Meiryo"/>
              </a:rPr>
              <a:t>→ 反射波の速度↑</a:t>
            </a:r>
          </a:p>
          <a:p>
            <a:pPr algn="ctr">
              <a:lnSpc>
                <a:spcPct val="150000"/>
              </a:lnSpc>
            </a:pPr>
            <a:r>
              <a:rPr lang="ja-JP" altLang="en-US" sz="2400" b="1" dirty="0">
                <a:solidFill>
                  <a:srgbClr val="262626"/>
                </a:solidFill>
                <a:latin typeface="Meiryo"/>
                <a:ea typeface="Meiryo"/>
                <a:cs typeface="Meiryo"/>
              </a:rPr>
              <a:t>→ 反射波が早く戻る → 収縮期へ融合 → </a:t>
            </a:r>
            <a:r>
              <a:rPr lang="ja-JP" altLang="en-US" sz="2400" b="1" dirty="0">
                <a:latin typeface="Meiryo"/>
                <a:ea typeface="Meiryo"/>
                <a:cs typeface="Meiryo"/>
              </a:rPr>
              <a:t>切痕が消える</a:t>
            </a:r>
          </a:p>
        </p:txBody>
      </p:sp>
      <p:sp>
        <p:nvSpPr>
          <p:cNvPr id="90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7. Dawber 1973　／　8. Cunningham 2023</a:t>
            </a:r>
          </a:p>
        </p:txBody>
      </p:sp>
      <p:sp>
        <p:nvSpPr>
          <p:cNvPr id="90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18/55</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35C80-85A1-E59A-EC49-BD19C22E1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D3EAE-E61A-69EB-5F86-CDAF8BC3B97F}"/>
              </a:ext>
            </a:extLst>
          </p:cNvPr>
          <p:cNvSpPr>
            <a:spLocks noGrp="1"/>
          </p:cNvSpPr>
          <p:nvPr>
            <p:ph type="title"/>
          </p:nvPr>
        </p:nvSpPr>
        <p:spPr/>
        <p:txBody>
          <a:bodyPr>
            <a:normAutofit/>
          </a:bodyPr>
          <a:lstStyle/>
          <a:p>
            <a:pPr algn="l"/>
            <a:r>
              <a:rPr sz="4600" dirty="0">
                <a:latin typeface="Meiryo"/>
                <a:ea typeface="Meiryo"/>
                <a:cs typeface="Meiryo"/>
              </a:rPr>
              <a:t>2.1.3  切痕平滑化の理由</a:t>
            </a:r>
          </a:p>
        </p:txBody>
      </p:sp>
      <p:sp>
        <p:nvSpPr>
          <p:cNvPr id="13" name="Off-page Connector 4">
            <a:extLst>
              <a:ext uri="{FF2B5EF4-FFF2-40B4-BE49-F238E27FC236}">
                <a16:creationId xmlns:a16="http://schemas.microsoft.com/office/drawing/2014/main" id="{827E9629-B337-1E99-36C5-1F4AA5193957}"/>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2C1D0BED-F892-AF73-6B88-1E38B9DE7A82}"/>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71795643-C707-315F-6EF9-6B6628DD473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B77CE50C-7179-C763-5B90-9459E154E63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9" name="Picture 8" descr="11_stiffness_series.png">
            <a:extLst>
              <a:ext uri="{FF2B5EF4-FFF2-40B4-BE49-F238E27FC236}">
                <a16:creationId xmlns:a16="http://schemas.microsoft.com/office/drawing/2014/main" id="{B2A0FFB8-9E06-274E-CB88-667C604AA887}"/>
              </a:ext>
            </a:extLst>
          </p:cNvPr>
          <p:cNvPicPr>
            <a:picLocks noChangeAspect="1"/>
          </p:cNvPicPr>
          <p:nvPr/>
        </p:nvPicPr>
        <p:blipFill>
          <a:blip r:embed="rId3"/>
          <a:stretch>
            <a:fillRect/>
          </a:stretch>
        </p:blipFill>
        <p:spPr>
          <a:xfrm>
            <a:off x="1564000" y="1597656"/>
            <a:ext cx="9040000" cy="4320000"/>
          </a:xfrm>
          <a:prstGeom prst="rect">
            <a:avLst/>
          </a:prstGeom>
        </p:spPr>
      </p:pic>
      <p:sp>
        <p:nvSpPr>
          <p:cNvPr id="270" name="t_g">
            <a:extLst>
              <a:ext uri="{FF2B5EF4-FFF2-40B4-BE49-F238E27FC236}">
                <a16:creationId xmlns:a16="http://schemas.microsoft.com/office/drawing/2014/main" id="{E63171B8-4D19-7F60-33E4-5CCE68416AC4}"/>
              </a:ext>
            </a:extLst>
          </p:cNvPr>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a:extLst>
              <a:ext uri="{FF2B5EF4-FFF2-40B4-BE49-F238E27FC236}">
                <a16:creationId xmlns:a16="http://schemas.microsoft.com/office/drawing/2014/main" id="{A5A14D11-A6D9-AD7A-CB87-BC4B86D571A9}"/>
              </a:ext>
            </a:extLst>
          </p:cNvPr>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a:extLst>
              <a:ext uri="{FF2B5EF4-FFF2-40B4-BE49-F238E27FC236}">
                <a16:creationId xmlns:a16="http://schemas.microsoft.com/office/drawing/2014/main" id="{5590840A-784F-7DD5-1871-AED26F4D85A2}"/>
              </a:ext>
            </a:extLst>
          </p:cNvP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a:extLst>
              <a:ext uri="{FF2B5EF4-FFF2-40B4-BE49-F238E27FC236}">
                <a16:creationId xmlns:a16="http://schemas.microsoft.com/office/drawing/2014/main" id="{1C740D0E-37D3-CEA6-5822-56CD14E4ECAC}"/>
              </a:ext>
            </a:extLst>
          </p:cNvPr>
          <p:cNvSpPr txBox="1"/>
          <p:nvPr/>
        </p:nvSpPr>
        <p:spPr>
          <a:xfrm>
            <a:off x="864000" y="5395656"/>
            <a:ext cx="10440000" cy="1044000"/>
          </a:xfrm>
          <a:prstGeom prst="rect">
            <a:avLst/>
          </a:prstGeom>
          <a:noFill/>
        </p:spPr>
        <p:txBody>
          <a:bodyPr wrap="square" lIns="0" tIns="0" rIns="0" bIns="0" anchor="t">
            <a:noAutofit/>
          </a:bodyPr>
          <a:lstStyle/>
          <a:p>
            <a:pPr algn="ctr">
              <a:lnSpc>
                <a:spcPct val="150000"/>
              </a:lnSpc>
            </a:pPr>
            <a:r>
              <a:rPr lang="ja-JP" altLang="en-US" sz="2400" b="1" dirty="0">
                <a:solidFill>
                  <a:srgbClr val="262626"/>
                </a:solidFill>
                <a:latin typeface="Meiryo"/>
                <a:ea typeface="Meiryo"/>
                <a:cs typeface="Meiryo"/>
              </a:rPr>
              <a:t>加齢・動脈硬化 → 大血管スティフネス↑ </a:t>
            </a:r>
            <a:r>
              <a:rPr lang="ja-JP" altLang="en-US" sz="2800" b="1" dirty="0">
                <a:solidFill>
                  <a:srgbClr val="262626"/>
                </a:solidFill>
                <a:latin typeface="Meiryo"/>
                <a:ea typeface="Meiryo"/>
                <a:cs typeface="Meiryo"/>
              </a:rPr>
              <a:t>→ 反射波の速度↑</a:t>
            </a:r>
          </a:p>
          <a:p>
            <a:pPr algn="ctr">
              <a:lnSpc>
                <a:spcPct val="150000"/>
              </a:lnSpc>
            </a:pPr>
            <a:r>
              <a:rPr lang="ja-JP" altLang="en-US" sz="2400" b="1" dirty="0">
                <a:solidFill>
                  <a:srgbClr val="262626"/>
                </a:solidFill>
                <a:latin typeface="Meiryo"/>
                <a:ea typeface="Meiryo"/>
                <a:cs typeface="Meiryo"/>
              </a:rPr>
              <a:t>→ 反射波が早く戻る → 収縮期へ融合 → </a:t>
            </a:r>
            <a:r>
              <a:rPr lang="ja-JP" altLang="en-US" sz="2400" b="1" dirty="0">
                <a:latin typeface="Meiryo"/>
                <a:ea typeface="Meiryo"/>
                <a:cs typeface="Meiryo"/>
              </a:rPr>
              <a:t>切痕が消える</a:t>
            </a:r>
          </a:p>
        </p:txBody>
      </p:sp>
      <p:sp>
        <p:nvSpPr>
          <p:cNvPr id="4" name="callout">
            <a:extLst>
              <a:ext uri="{FF2B5EF4-FFF2-40B4-BE49-F238E27FC236}">
                <a16:creationId xmlns:a16="http://schemas.microsoft.com/office/drawing/2014/main" id="{27CEA4E8-9A6A-58AB-9954-21E599EFD001}"/>
              </a:ext>
            </a:extLst>
          </p:cNvPr>
          <p:cNvSpPr/>
          <p:nvPr/>
        </p:nvSpPr>
        <p:spPr>
          <a:xfrm>
            <a:off x="916600" y="2919225"/>
            <a:ext cx="10515600" cy="187560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rgbClr val="262626"/>
                </a:solidFill>
                <a:latin typeface="Meiryo"/>
                <a:ea typeface="Meiryo"/>
                <a:cs typeface="Meiryo"/>
              </a:rPr>
              <a:t>切痕の消失は</a:t>
            </a:r>
            <a:r>
              <a:rPr lang="ja-JP" altLang="en-US" sz="4000" b="1">
                <a:solidFill>
                  <a:srgbClr val="262626"/>
                </a:solidFill>
                <a:latin typeface="Meiryo"/>
                <a:ea typeface="Meiryo"/>
                <a:cs typeface="Meiryo"/>
              </a:rPr>
              <a:t>動脈硬化</a:t>
            </a:r>
            <a:r>
              <a:rPr lang="ja-JP" altLang="en-US" sz="2800" b="1">
                <a:solidFill>
                  <a:srgbClr val="262626"/>
                </a:solidFill>
                <a:latin typeface="Meiryo"/>
                <a:ea typeface="Meiryo"/>
                <a:cs typeface="Meiryo"/>
              </a:rPr>
              <a:t>の進行具合と関連する。</a:t>
            </a:r>
            <a:endParaRPr lang="en-US" altLang="ja-JP" sz="2800" b="1" dirty="0">
              <a:solidFill>
                <a:srgbClr val="262626"/>
              </a:solidFill>
              <a:latin typeface="Meiryo"/>
              <a:ea typeface="Meiryo"/>
              <a:cs typeface="Meiryo"/>
            </a:endParaRPr>
          </a:p>
          <a:p>
            <a:pPr algn="ctr">
              <a:lnSpc>
                <a:spcPct val="150000"/>
              </a:lnSpc>
            </a:pPr>
            <a:r>
              <a:rPr lang="ja-JP" altLang="en-US" sz="2800" b="1">
                <a:solidFill>
                  <a:srgbClr val="262626"/>
                </a:solidFill>
                <a:latin typeface="Meiryo"/>
                <a:ea typeface="Meiryo"/>
                <a:cs typeface="Meiryo"/>
              </a:rPr>
              <a:t>消失具合が強いほど動脈硬化性疾患と関連する。</a:t>
            </a:r>
          </a:p>
        </p:txBody>
      </p:sp>
      <p:sp>
        <p:nvSpPr>
          <p:cNvPr id="90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7. Dawber 1973　／　8. Cunningham 2023</a:t>
            </a:r>
          </a:p>
        </p:txBody>
      </p:sp>
      <p:sp>
        <p:nvSpPr>
          <p:cNvPr id="90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18/55</a:t>
            </a:r>
          </a:p>
        </p:txBody>
      </p:sp>
    </p:spTree>
    <p:extLst>
      <p:ext uri="{BB962C8B-B14F-4D97-AF65-F5344CB8AC3E}">
        <p14:creationId xmlns:p14="http://schemas.microsoft.com/office/powerpoint/2010/main" val="2705218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a:extLst>
              <a:ext uri="{FF2B5EF4-FFF2-40B4-BE49-F238E27FC236}">
                <a16:creationId xmlns:a16="http://schemas.microsoft.com/office/drawing/2014/main" id="{74956F3D-E19A-EDD1-8019-2BEDCBF54DC8}"/>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a:extLst>
              <a:ext uri="{FF2B5EF4-FFF2-40B4-BE49-F238E27FC236}">
                <a16:creationId xmlns:a16="http://schemas.microsoft.com/office/drawing/2014/main" id="{70323696-E7DF-3856-E16B-DF7874ABAA85}"/>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a:extLst>
              <a:ext uri="{FF2B5EF4-FFF2-40B4-BE49-F238E27FC236}">
                <a16:creationId xmlns:a16="http://schemas.microsoft.com/office/drawing/2014/main" id="{DBE3ED70-EF18-AA7E-E12F-9A7FAB18A28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a:extLst>
              <a:ext uri="{FF2B5EF4-FFF2-40B4-BE49-F238E27FC236}">
                <a16:creationId xmlns:a16="http://schemas.microsoft.com/office/drawing/2014/main" id="{620376B2-DB4A-3B9F-1142-2335FA12BFB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4956048"/>
          </a:xfrm>
          <a:prstGeom prst="rect">
            <a:avLst/>
          </a:prstGeom>
          <a:noFill/>
        </p:spPr>
        <p:txBody>
          <a:bodyPr wrap="square" lIns="0" tIns="0" rIns="0" bIns="0" anchor="t"/>
          <a:lstStyle/>
          <a:p>
            <a:pPr>
              <a:lnSpc>
                <a:spcPct val="142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42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42000"/>
              </a:lnSpc>
            </a:pPr>
            <a:r>
              <a:rPr sz="2700" b="1">
                <a:solidFill>
                  <a:srgbClr val="D9D9D9"/>
                </a:solidFill>
                <a:latin typeface="Meiryo"/>
                <a:ea typeface="Meiryo"/>
                <a:cs typeface="Meiryo"/>
              </a:rPr>
              <a:t>　2.1 </a:t>
            </a:r>
            <a:r>
              <a:rPr sz="2700" b="0">
                <a:solidFill>
                  <a:srgbClr val="808080"/>
                </a:solidFill>
                <a:latin typeface="Meiryo"/>
                <a:ea typeface="Meiryo"/>
                <a:cs typeface="Meiryo"/>
              </a:rPr>
              <a:t>加齢の影響</a:t>
            </a:r>
          </a:p>
          <a:p>
            <a:pPr>
              <a:lnSpc>
                <a:spcPct val="142000"/>
              </a:lnSpc>
            </a:pPr>
            <a:r>
              <a:rPr sz="2700" b="1">
                <a:solidFill>
                  <a:srgbClr val="BF9000"/>
                </a:solidFill>
                <a:latin typeface="Meiryo"/>
                <a:ea typeface="Meiryo"/>
                <a:cs typeface="Meiryo"/>
              </a:rPr>
              <a:t>　2.2 </a:t>
            </a:r>
            <a:r>
              <a:rPr sz="2700" b="1">
                <a:solidFill>
                  <a:srgbClr val="262626"/>
                </a:solidFill>
                <a:latin typeface="Meiryo"/>
                <a:ea typeface="Meiryo"/>
                <a:cs typeface="Meiryo"/>
              </a:rPr>
              <a:t>循環の変化</a:t>
            </a:r>
          </a:p>
          <a:p>
            <a:pPr>
              <a:lnSpc>
                <a:spcPct val="142000"/>
              </a:lnSpc>
            </a:pPr>
            <a:r>
              <a:rPr sz="2700" b="1">
                <a:solidFill>
                  <a:srgbClr val="D9D9D9"/>
                </a:solidFill>
                <a:latin typeface="Meiryo"/>
                <a:ea typeface="Meiryo"/>
                <a:cs typeface="Meiryo"/>
              </a:rPr>
              <a:t>　2.3 </a:t>
            </a:r>
            <a:r>
              <a:rPr sz="2700" b="0">
                <a:solidFill>
                  <a:srgbClr val="808080"/>
                </a:solidFill>
                <a:latin typeface="Meiryo"/>
                <a:ea typeface="Meiryo"/>
                <a:cs typeface="Meiryo"/>
              </a:rPr>
              <a:t>麻酔中の変化</a:t>
            </a:r>
          </a:p>
          <a:p>
            <a:pPr>
              <a:lnSpc>
                <a:spcPct val="142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42000"/>
              </a:lnSpc>
            </a:pPr>
            <a:r>
              <a:rPr sz="3000" b="1">
                <a:solidFill>
                  <a:srgbClr val="D9D9D9"/>
                </a:solidFill>
                <a:latin typeface="Meiryo"/>
                <a:ea typeface="Meiryo"/>
                <a:cs typeface="Meiryo"/>
              </a:rPr>
              <a:t>4. </a:t>
            </a:r>
            <a:r>
              <a:rPr sz="3000" b="0">
                <a:solidFill>
                  <a:srgbClr val="D9D9D9"/>
                </a:solidFill>
                <a:latin typeface="Meiryo"/>
                <a:ea typeface="Meiryo"/>
                <a:cs typeface="Meiryo"/>
              </a:rPr>
              <a:t>提案</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2.2 </a:t>
            </a:r>
            <a:r>
              <a:rPr sz="3000" b="1">
                <a:solidFill>
                  <a:srgbClr val="262626"/>
                </a:solidFill>
                <a:latin typeface="Meiryo"/>
                <a:ea typeface="Meiryo"/>
                <a:cs typeface="Meiryo"/>
              </a:rPr>
              <a:t>循環の変化</a:t>
            </a:r>
          </a:p>
          <a:p>
            <a:pPr>
              <a:lnSpc>
                <a:spcPct val="142000"/>
              </a:lnSpc>
            </a:pPr>
            <a:r>
              <a:rPr sz="2700" b="1">
                <a:solidFill>
                  <a:srgbClr val="BF9000"/>
                </a:solidFill>
                <a:latin typeface="Meiryo"/>
                <a:ea typeface="Meiryo"/>
                <a:cs typeface="Meiryo"/>
              </a:rPr>
              <a:t>2.2.1 </a:t>
            </a:r>
            <a:r>
              <a:rPr sz="2700" b="0">
                <a:solidFill>
                  <a:srgbClr val="262626"/>
                </a:solidFill>
                <a:latin typeface="Meiryo"/>
                <a:ea typeface="Meiryo"/>
                <a:cs typeface="Meiryo"/>
              </a:rPr>
              <a:t>前負荷</a:t>
            </a:r>
          </a:p>
          <a:p>
            <a:pPr>
              <a:lnSpc>
                <a:spcPct val="142000"/>
              </a:lnSpc>
            </a:pPr>
            <a:r>
              <a:rPr sz="2700" b="1">
                <a:solidFill>
                  <a:srgbClr val="BF9000"/>
                </a:solidFill>
                <a:latin typeface="Meiryo"/>
                <a:ea typeface="Meiryo"/>
                <a:cs typeface="Meiryo"/>
              </a:rPr>
              <a:t>2.2.2 </a:t>
            </a:r>
            <a:r>
              <a:rPr sz="2700" b="0">
                <a:solidFill>
                  <a:srgbClr val="262626"/>
                </a:solidFill>
                <a:latin typeface="Meiryo"/>
                <a:ea typeface="Meiryo"/>
                <a:cs typeface="Meiryo"/>
              </a:rPr>
              <a:t>後負荷：末梢</a:t>
            </a:r>
          </a:p>
          <a:p>
            <a:pPr>
              <a:lnSpc>
                <a:spcPct val="142000"/>
              </a:lnSpc>
            </a:pPr>
            <a:r>
              <a:rPr sz="2700" b="1">
                <a:solidFill>
                  <a:srgbClr val="BF9000"/>
                </a:solidFill>
                <a:latin typeface="Meiryo"/>
                <a:ea typeface="Meiryo"/>
                <a:cs typeface="Meiryo"/>
              </a:rPr>
              <a:t>2.2.3 </a:t>
            </a:r>
            <a:r>
              <a:rPr sz="2700" b="0">
                <a:solidFill>
                  <a:srgbClr val="262626"/>
                </a:solidFill>
                <a:latin typeface="Meiryo"/>
                <a:ea typeface="Meiryo"/>
                <a:cs typeface="Meiryo"/>
              </a:rPr>
              <a:t>後負荷の違い</a:t>
            </a:r>
          </a:p>
          <a:p>
            <a:pPr>
              <a:lnSpc>
                <a:spcPct val="142000"/>
              </a:lnSpc>
            </a:pPr>
            <a:r>
              <a:rPr sz="2700" b="1">
                <a:solidFill>
                  <a:srgbClr val="BF9000"/>
                </a:solidFill>
                <a:latin typeface="Meiryo"/>
                <a:ea typeface="Meiryo"/>
                <a:cs typeface="Meiryo"/>
              </a:rPr>
              <a:t>2.2.4 </a:t>
            </a:r>
            <a:r>
              <a:rPr sz="2700" b="0">
                <a:solidFill>
                  <a:srgbClr val="262626"/>
                </a:solidFill>
                <a:latin typeface="Meiryo"/>
                <a:ea typeface="Meiryo"/>
                <a:cs typeface="Meiryo"/>
              </a:rPr>
              <a:t>心収縮力</a:t>
            </a:r>
          </a:p>
          <a:p>
            <a:pPr>
              <a:lnSpc>
                <a:spcPct val="142000"/>
              </a:lnSpc>
            </a:pPr>
            <a:r>
              <a:rPr sz="2700" b="1">
                <a:solidFill>
                  <a:srgbClr val="BF9000"/>
                </a:solidFill>
                <a:latin typeface="Meiryo"/>
                <a:ea typeface="Meiryo"/>
                <a:cs typeface="Meiryo"/>
              </a:rPr>
              <a:t>2.2.5 </a:t>
            </a:r>
            <a:r>
              <a:rPr sz="2700" b="0">
                <a:solidFill>
                  <a:srgbClr val="262626"/>
                </a:solidFill>
                <a:latin typeface="Meiryo"/>
                <a:ea typeface="Meiryo"/>
                <a:cs typeface="Meiryo"/>
              </a:rPr>
              <a:t>心拍数</a:t>
            </a:r>
          </a:p>
          <a:p>
            <a:pPr>
              <a:lnSpc>
                <a:spcPct val="142000"/>
              </a:lnSpc>
            </a:pPr>
            <a:r>
              <a:rPr sz="2700" b="1">
                <a:solidFill>
                  <a:srgbClr val="BF9000"/>
                </a:solidFill>
                <a:latin typeface="Meiryo"/>
                <a:ea typeface="Meiryo"/>
                <a:cs typeface="Meiryo"/>
              </a:rPr>
              <a:t>2.2.6 </a:t>
            </a:r>
            <a:r>
              <a:rPr sz="2700" b="0">
                <a:solidFill>
                  <a:srgbClr val="262626"/>
                </a:solidFill>
                <a:latin typeface="Meiryo"/>
                <a:ea typeface="Meiryo"/>
                <a:cs typeface="Meiryo"/>
              </a:rPr>
              <a:t>波形変化まとめ</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19/55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8BC60-406C-AB35-6E25-6C26C37AA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AE8E6-AFF7-0B1A-53C3-83B8DB469A70}"/>
              </a:ext>
            </a:extLst>
          </p:cNvPr>
          <p:cNvSpPr>
            <a:spLocks noGrp="1"/>
          </p:cNvSpPr>
          <p:nvPr>
            <p:ph type="title"/>
          </p:nvPr>
        </p:nvSpPr>
        <p:spPr/>
        <p:txBody>
          <a:bodyPr>
            <a:normAutofit/>
          </a:bodyPr>
          <a:lstStyle/>
          <a:p>
            <a:pPr algn="l"/>
            <a:r>
              <a:rPr sz="4600" dirty="0">
                <a:latin typeface="Meiryo"/>
                <a:ea typeface="Meiryo"/>
                <a:cs typeface="Meiryo"/>
              </a:rPr>
              <a:t>2.2.1  前負荷</a:t>
            </a:r>
          </a:p>
        </p:txBody>
      </p:sp>
      <p:sp>
        <p:nvSpPr>
          <p:cNvPr id="13" name="Off-page Connector 4">
            <a:extLst>
              <a:ext uri="{FF2B5EF4-FFF2-40B4-BE49-F238E27FC236}">
                <a16:creationId xmlns:a16="http://schemas.microsoft.com/office/drawing/2014/main" id="{26963288-D6CC-5161-0FD1-8819F2D9083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382384CD-2B24-41DF-9BE1-EF322BE7004E}"/>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D35840E4-246E-6456-1486-0D3C7096DEE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93AE1F30-16AE-6EEF-D45F-9B4E35B0C99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4" name="図 3">
            <a:extLst>
              <a:ext uri="{FF2B5EF4-FFF2-40B4-BE49-F238E27FC236}">
                <a16:creationId xmlns:a16="http://schemas.microsoft.com/office/drawing/2014/main" id="{1DF4DAE4-C276-A673-424B-A341DE4BDD37}"/>
              </a:ext>
            </a:extLst>
          </p:cNvPr>
          <p:cNvPicPr>
            <a:picLocks noChangeAspect="1"/>
          </p:cNvPicPr>
          <p:nvPr/>
        </p:nvPicPr>
        <p:blipFill>
          <a:blip r:embed="rId3"/>
          <a:stretch>
            <a:fillRect/>
          </a:stretch>
        </p:blipFill>
        <p:spPr>
          <a:xfrm>
            <a:off x="313380" y="1662997"/>
            <a:ext cx="3940602" cy="3012788"/>
          </a:xfrm>
          <a:prstGeom prst="rect">
            <a:avLst/>
          </a:prstGeom>
        </p:spPr>
      </p:pic>
      <p:sp>
        <p:nvSpPr>
          <p:cNvPr id="6" name="テキスト ボックス 5">
            <a:extLst>
              <a:ext uri="{FF2B5EF4-FFF2-40B4-BE49-F238E27FC236}">
                <a16:creationId xmlns:a16="http://schemas.microsoft.com/office/drawing/2014/main" id="{E4F3E7F8-03AC-648B-BB45-D2A2EE8702AC}"/>
              </a:ext>
            </a:extLst>
          </p:cNvPr>
          <p:cNvSpPr txBox="1"/>
          <p:nvPr/>
        </p:nvSpPr>
        <p:spPr>
          <a:xfrm>
            <a:off x="338270" y="4854138"/>
            <a:ext cx="11515460" cy="1573508"/>
          </a:xfrm>
          <a:prstGeom prst="rect">
            <a:avLst/>
          </a:prstGeom>
          <a:noFill/>
        </p:spPr>
        <p:txBody>
          <a:bodyPr wrap="none" rtlCol="0">
            <a:spAutoFit/>
          </a:bodyPr>
          <a:lstStyle/>
          <a:p>
            <a:pPr>
              <a:lnSpc>
                <a:spcPct val="150000"/>
              </a:lnSpc>
            </a:pPr>
            <a:r>
              <a:rPr lang="ja-JP" altLang="en-US" sz="2200"/>
              <a:t>自発呼吸下の健常ボランティア</a:t>
            </a:r>
            <a:r>
              <a:rPr lang="en-US" altLang="ja-JP" sz="2200" dirty="0"/>
              <a:t>11</a:t>
            </a:r>
            <a:r>
              <a:rPr lang="ja-JP" altLang="en-US" sz="2200"/>
              <a:t>人に対し、下半身陰圧（</a:t>
            </a:r>
            <a:r>
              <a:rPr lang="en-US" altLang="ja-JP" sz="2200" dirty="0"/>
              <a:t>Lower body negative pressure</a:t>
            </a:r>
            <a:r>
              <a:rPr lang="ja-JP" altLang="en-US" sz="2200"/>
              <a:t>）で</a:t>
            </a:r>
            <a:endParaRPr lang="en-US" altLang="ja-JP" sz="2200" dirty="0"/>
          </a:p>
          <a:p>
            <a:pPr>
              <a:lnSpc>
                <a:spcPct val="150000"/>
              </a:lnSpc>
            </a:pPr>
            <a:r>
              <a:rPr lang="ja-JP" altLang="en-US" sz="2200"/>
              <a:t>循環血液量減少を再現し、</a:t>
            </a:r>
            <a:r>
              <a:rPr lang="en-US" altLang="ja-JP" sz="2200" dirty="0"/>
              <a:t>PPG</a:t>
            </a:r>
            <a:r>
              <a:rPr lang="ja-JP" altLang="en-US" sz="2200"/>
              <a:t>波形変化を観察した。</a:t>
            </a:r>
            <a:endParaRPr lang="en-US" altLang="ja-JP" sz="2200" dirty="0"/>
          </a:p>
          <a:p>
            <a:pPr>
              <a:lnSpc>
                <a:spcPct val="150000"/>
              </a:lnSpc>
            </a:pPr>
            <a:r>
              <a:rPr lang="ja-JP" altLang="en-US" sz="2200"/>
              <a:t>ピーク、高さ、幅、傾斜、面積の項目を検討。</a:t>
            </a:r>
            <a:endParaRPr lang="en-US" altLang="ja-JP" sz="2200" dirty="0"/>
          </a:p>
        </p:txBody>
      </p:sp>
      <p:pic>
        <p:nvPicPr>
          <p:cNvPr id="9" name="図 8">
            <a:extLst>
              <a:ext uri="{FF2B5EF4-FFF2-40B4-BE49-F238E27FC236}">
                <a16:creationId xmlns:a16="http://schemas.microsoft.com/office/drawing/2014/main" id="{8409AFFA-6FAF-66F4-C19C-48A04D529BCD}"/>
              </a:ext>
            </a:extLst>
          </p:cNvPr>
          <p:cNvPicPr>
            <a:picLocks noChangeAspect="1"/>
          </p:cNvPicPr>
          <p:nvPr/>
        </p:nvPicPr>
        <p:blipFill>
          <a:blip r:embed="rId4"/>
          <a:stretch>
            <a:fillRect/>
          </a:stretch>
        </p:blipFill>
        <p:spPr>
          <a:xfrm>
            <a:off x="4253982" y="1783314"/>
            <a:ext cx="7772400" cy="2365030"/>
          </a:xfrm>
          <a:prstGeom prst="rect">
            <a:avLst/>
          </a:prstGeom>
        </p:spPr>
      </p:pic>
      <p:sp>
        <p:nvSpPr>
          <p:cNvPr id="19" name="正方形/長方形 18">
            <a:extLst>
              <a:ext uri="{FF2B5EF4-FFF2-40B4-BE49-F238E27FC236}">
                <a16:creationId xmlns:a16="http://schemas.microsoft.com/office/drawing/2014/main" id="{BDBE8768-AAF0-0C39-482B-086EB88E8FD3}"/>
              </a:ext>
            </a:extLst>
          </p:cNvPr>
          <p:cNvSpPr/>
          <p:nvPr/>
        </p:nvSpPr>
        <p:spPr>
          <a:xfrm>
            <a:off x="6473371" y="1662997"/>
            <a:ext cx="406400" cy="3544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10. Alian 2011</a:t>
            </a:r>
          </a:p>
        </p:txBody>
      </p:sp>
      <p:sp>
        <p:nvSpPr>
          <p:cNvPr id="2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20/55</a:t>
            </a:r>
          </a:p>
        </p:txBody>
      </p:sp>
    </p:spTree>
    <p:extLst>
      <p:ext uri="{BB962C8B-B14F-4D97-AF65-F5344CB8AC3E}">
        <p14:creationId xmlns:p14="http://schemas.microsoft.com/office/powerpoint/2010/main" val="16116634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E30A6-2A5B-FC4D-3096-44A246F34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CFE63-08C5-9A4F-1932-A931EC6F9A8F}"/>
              </a:ext>
            </a:extLst>
          </p:cNvPr>
          <p:cNvSpPr>
            <a:spLocks noGrp="1"/>
          </p:cNvSpPr>
          <p:nvPr>
            <p:ph type="title"/>
          </p:nvPr>
        </p:nvSpPr>
        <p:spPr/>
        <p:txBody>
          <a:bodyPr>
            <a:normAutofit/>
          </a:bodyPr>
          <a:lstStyle/>
          <a:p>
            <a:pPr algn="l"/>
            <a:r>
              <a:rPr sz="4600" dirty="0">
                <a:latin typeface="Meiryo"/>
                <a:ea typeface="Meiryo"/>
                <a:cs typeface="Meiryo"/>
              </a:rPr>
              <a:t>2.2.1  前負荷</a:t>
            </a:r>
          </a:p>
        </p:txBody>
      </p:sp>
      <p:sp>
        <p:nvSpPr>
          <p:cNvPr id="13" name="Off-page Connector 4">
            <a:extLst>
              <a:ext uri="{FF2B5EF4-FFF2-40B4-BE49-F238E27FC236}">
                <a16:creationId xmlns:a16="http://schemas.microsoft.com/office/drawing/2014/main" id="{BB430936-BF81-CADE-E9A4-F650B73DB6A9}"/>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34433F5A-EB95-5445-9E58-B41A531867DB}"/>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66B151D6-0B8E-7C8B-7284-D5E615151D8B}"/>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CAB8C086-C182-C46B-478C-16D81A95A8F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5" name="図 4">
            <a:extLst>
              <a:ext uri="{FF2B5EF4-FFF2-40B4-BE49-F238E27FC236}">
                <a16:creationId xmlns:a16="http://schemas.microsoft.com/office/drawing/2014/main" id="{CC5DFA9D-C3D7-B753-C02F-F00F3F11CAB2}"/>
              </a:ext>
            </a:extLst>
          </p:cNvPr>
          <p:cNvPicPr>
            <a:picLocks noChangeAspect="1"/>
          </p:cNvPicPr>
          <p:nvPr/>
        </p:nvPicPr>
        <p:blipFill>
          <a:blip r:embed="rId3"/>
          <a:srcRect l="1551" b="2497"/>
          <a:stretch>
            <a:fillRect/>
          </a:stretch>
        </p:blipFill>
        <p:spPr>
          <a:xfrm>
            <a:off x="295933" y="1690688"/>
            <a:ext cx="7258586" cy="4697309"/>
          </a:xfrm>
          <a:prstGeom prst="rect">
            <a:avLst/>
          </a:prstGeom>
        </p:spPr>
      </p:pic>
      <p:pic>
        <p:nvPicPr>
          <p:cNvPr id="3" name="Picture 8" descr="09b_preload_overlay.png">
            <a:extLst>
              <a:ext uri="{FF2B5EF4-FFF2-40B4-BE49-F238E27FC236}">
                <a16:creationId xmlns:a16="http://schemas.microsoft.com/office/drawing/2014/main" id="{68CE830F-1028-A26D-05F5-066DFC60D4C7}"/>
              </a:ext>
            </a:extLst>
          </p:cNvPr>
          <p:cNvPicPr>
            <a:picLocks noChangeAspect="1"/>
          </p:cNvPicPr>
          <p:nvPr/>
        </p:nvPicPr>
        <p:blipFill>
          <a:blip r:embed="rId4"/>
          <a:srcRect t="22374" r="28310"/>
          <a:stretch>
            <a:fillRect/>
          </a:stretch>
        </p:blipFill>
        <p:spPr>
          <a:xfrm>
            <a:off x="7199538" y="2753186"/>
            <a:ext cx="5391438" cy="2694404"/>
          </a:xfrm>
          <a:prstGeom prst="rect">
            <a:avLst/>
          </a:prstGeom>
        </p:spPr>
      </p:pic>
      <p:sp>
        <p:nvSpPr>
          <p:cNvPr id="7" name="lg1">
            <a:extLst>
              <a:ext uri="{FF2B5EF4-FFF2-40B4-BE49-F238E27FC236}">
                <a16:creationId xmlns:a16="http://schemas.microsoft.com/office/drawing/2014/main" id="{818DCE95-A46E-741B-4692-46C7F3A7DA8D}"/>
              </a:ext>
            </a:extLst>
          </p:cNvPr>
          <p:cNvSpPr txBox="1"/>
          <p:nvPr/>
        </p:nvSpPr>
        <p:spPr>
          <a:xfrm>
            <a:off x="10406786" y="2105925"/>
            <a:ext cx="1785214" cy="211487"/>
          </a:xfrm>
          <a:prstGeom prst="rect">
            <a:avLst/>
          </a:prstGeom>
          <a:noFill/>
        </p:spPr>
        <p:txBody>
          <a:bodyPr wrap="square" lIns="0" tIns="0" rIns="0" bIns="0" anchor="t">
            <a:noAutofit/>
          </a:bodyPr>
          <a:lstStyle/>
          <a:p>
            <a:pPr algn="l"/>
            <a:r>
              <a:rPr lang="ja-JP" altLang="en-US" sz="2200" b="1" dirty="0">
                <a:solidFill>
                  <a:srgbClr val="70AD47"/>
                </a:solidFill>
                <a:latin typeface="Meiryo"/>
                <a:ea typeface="Meiryo"/>
                <a:cs typeface="Meiryo"/>
              </a:rPr>
              <a:t>正常前負荷</a:t>
            </a:r>
          </a:p>
        </p:txBody>
      </p:sp>
      <p:sp>
        <p:nvSpPr>
          <p:cNvPr id="9" name="lg2">
            <a:extLst>
              <a:ext uri="{FF2B5EF4-FFF2-40B4-BE49-F238E27FC236}">
                <a16:creationId xmlns:a16="http://schemas.microsoft.com/office/drawing/2014/main" id="{9B60C0BF-4ADF-41B8-E481-AFF9CDF58DA0}"/>
              </a:ext>
            </a:extLst>
          </p:cNvPr>
          <p:cNvSpPr txBox="1"/>
          <p:nvPr/>
        </p:nvSpPr>
        <p:spPr>
          <a:xfrm>
            <a:off x="10406786" y="2567812"/>
            <a:ext cx="2604167" cy="614258"/>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前負荷低下</a:t>
            </a:r>
            <a:endParaRPr lang="en-US" altLang="ja-JP" sz="2200" b="1" dirty="0">
              <a:solidFill>
                <a:srgbClr val="E8853B"/>
              </a:solidFill>
              <a:latin typeface="Meiryo"/>
              <a:ea typeface="Meiryo"/>
              <a:cs typeface="Meiryo"/>
            </a:endParaRPr>
          </a:p>
          <a:p>
            <a:pPr algn="l"/>
            <a:r>
              <a:rPr lang="ja-JP" altLang="en-US" sz="2200" b="1">
                <a:solidFill>
                  <a:srgbClr val="E8853B"/>
                </a:solidFill>
                <a:latin typeface="Meiryo"/>
                <a:ea typeface="Meiryo"/>
                <a:cs typeface="Meiryo"/>
              </a:rPr>
              <a:t>（LBNP）</a:t>
            </a:r>
            <a:endParaRPr lang="ja-JP" altLang="en-US" sz="2200" b="1" dirty="0">
              <a:solidFill>
                <a:srgbClr val="E8853B"/>
              </a:solidFill>
              <a:latin typeface="Meiryo"/>
              <a:ea typeface="Meiryo"/>
              <a:cs typeface="Meiryo"/>
            </a:endParaRPr>
          </a:p>
        </p:txBody>
      </p:sp>
      <p:pic>
        <p:nvPicPr>
          <p:cNvPr id="18" name="Picture 8" descr="09b_preload_overlay.png">
            <a:extLst>
              <a:ext uri="{FF2B5EF4-FFF2-40B4-BE49-F238E27FC236}">
                <a16:creationId xmlns:a16="http://schemas.microsoft.com/office/drawing/2014/main" id="{EE87D3CC-BEB4-3BE0-2AD3-E01ABF10B594}"/>
              </a:ext>
            </a:extLst>
          </p:cNvPr>
          <p:cNvPicPr>
            <a:picLocks noChangeAspect="1"/>
          </p:cNvPicPr>
          <p:nvPr/>
        </p:nvPicPr>
        <p:blipFill>
          <a:blip r:embed="rId4"/>
          <a:srcRect l="56359" r="31022" b="72445"/>
          <a:stretch>
            <a:fillRect/>
          </a:stretch>
        </p:blipFill>
        <p:spPr>
          <a:xfrm>
            <a:off x="8897795" y="1792010"/>
            <a:ext cx="1543195" cy="1555256"/>
          </a:xfrm>
          <a:prstGeom prst="rect">
            <a:avLst/>
          </a:prstGeom>
        </p:spPr>
      </p:pic>
      <p:sp>
        <p:nvSpPr>
          <p:cNvPr id="4" name="callout">
            <a:extLst>
              <a:ext uri="{FF2B5EF4-FFF2-40B4-BE49-F238E27FC236}">
                <a16:creationId xmlns:a16="http://schemas.microsoft.com/office/drawing/2014/main" id="{1781950C-5AA7-ED02-0C1A-220540C87262}"/>
              </a:ext>
            </a:extLst>
          </p:cNvPr>
          <p:cNvSpPr/>
          <p:nvPr/>
        </p:nvSpPr>
        <p:spPr>
          <a:xfrm>
            <a:off x="7673745" y="5218959"/>
            <a:ext cx="4341548" cy="82801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400" b="1">
                <a:solidFill>
                  <a:srgbClr val="262626"/>
                </a:solidFill>
                <a:latin typeface="Meiryo"/>
                <a:ea typeface="Meiryo"/>
                <a:cs typeface="Meiryo"/>
              </a:rPr>
              <a:t>高さ・面積・傾き・幅 が低下</a:t>
            </a:r>
            <a:endParaRPr lang="ja-JP" altLang="en-US" sz="2400" b="1" dirty="0">
              <a:solidFill>
                <a:srgbClr val="262626"/>
              </a:solidFill>
              <a:latin typeface="Meiryo"/>
              <a:ea typeface="Meiryo"/>
              <a:cs typeface="Meiryo"/>
            </a:endParaRPr>
          </a:p>
        </p:txBody>
      </p:sp>
      <p:sp>
        <p:nvSpPr>
          <p:cNvPr id="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10. Alian 2011</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20/55</a:t>
            </a:r>
          </a:p>
        </p:txBody>
      </p:sp>
    </p:spTree>
    <p:extLst>
      <p:ext uri="{BB962C8B-B14F-4D97-AF65-F5344CB8AC3E}">
        <p14:creationId xmlns:p14="http://schemas.microsoft.com/office/powerpoint/2010/main" val="27249950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53AE4-12D1-0CF5-A97A-DCFA55FB8828}"/>
            </a:ext>
          </a:extLst>
        </p:cNvPr>
        <p:cNvGrpSpPr/>
        <p:nvPr/>
      </p:nvGrpSpPr>
      <p:grpSpPr>
        <a:xfrm>
          <a:off x="0" y="0"/>
          <a:ext cx="0" cy="0"/>
          <a:chOff x="0" y="0"/>
          <a:chExt cx="0" cy="0"/>
        </a:xfrm>
      </p:grpSpPr>
      <p:pic>
        <p:nvPicPr>
          <p:cNvPr id="3" name="Picture 8" descr="10_svr.png">
            <a:extLst>
              <a:ext uri="{FF2B5EF4-FFF2-40B4-BE49-F238E27FC236}">
                <a16:creationId xmlns:a16="http://schemas.microsoft.com/office/drawing/2014/main" id="{7356DC41-20D4-C3A9-2FA2-9A406D2F7F39}"/>
              </a:ext>
            </a:extLst>
          </p:cNvPr>
          <p:cNvPicPr>
            <a:picLocks noChangeAspect="1"/>
          </p:cNvPicPr>
          <p:nvPr/>
        </p:nvPicPr>
        <p:blipFill>
          <a:blip r:embed="rId3"/>
          <a:srcRect l="50922" t="26379"/>
          <a:stretch>
            <a:fillRect/>
          </a:stretch>
        </p:blipFill>
        <p:spPr>
          <a:xfrm>
            <a:off x="7127061" y="3951766"/>
            <a:ext cx="2679535" cy="2257353"/>
          </a:xfrm>
          <a:prstGeom prst="rect">
            <a:avLst/>
          </a:prstGeom>
        </p:spPr>
      </p:pic>
      <p:sp>
        <p:nvSpPr>
          <p:cNvPr id="2" name="Title 1">
            <a:extLst>
              <a:ext uri="{FF2B5EF4-FFF2-40B4-BE49-F238E27FC236}">
                <a16:creationId xmlns:a16="http://schemas.microsoft.com/office/drawing/2014/main" id="{CC555787-B884-6BA7-F3AA-5408C737906E}"/>
              </a:ext>
            </a:extLst>
          </p:cNvPr>
          <p:cNvSpPr>
            <a:spLocks noGrp="1"/>
          </p:cNvSpPr>
          <p:nvPr>
            <p:ph type="title"/>
          </p:nvPr>
        </p:nvSpPr>
        <p:spPr/>
        <p:txBody>
          <a:bodyPr>
            <a:normAutofit/>
          </a:bodyPr>
          <a:lstStyle/>
          <a:p>
            <a:pPr algn="l"/>
            <a:r>
              <a:rPr sz="4600" dirty="0">
                <a:latin typeface="Meiryo"/>
                <a:ea typeface="Meiryo"/>
                <a:cs typeface="Meiryo"/>
              </a:rPr>
              <a:t>2.2.2  後負荷：末梢</a:t>
            </a:r>
          </a:p>
        </p:txBody>
      </p:sp>
      <p:sp>
        <p:nvSpPr>
          <p:cNvPr id="13" name="Off-page Connector 4">
            <a:extLst>
              <a:ext uri="{FF2B5EF4-FFF2-40B4-BE49-F238E27FC236}">
                <a16:creationId xmlns:a16="http://schemas.microsoft.com/office/drawing/2014/main" id="{D636C95D-DB7D-0974-7314-B94868B13417}"/>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9D3908B6-884F-A3C2-250E-298711EB5D90}"/>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9C5DA544-8DA7-FFDE-3A04-58A3DB87D66B}"/>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18610E29-7B73-C4FB-A7D5-A25DCFF9A99B}"/>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9" name="Picture 8" descr="10_svr.png">
            <a:extLst>
              <a:ext uri="{FF2B5EF4-FFF2-40B4-BE49-F238E27FC236}">
                <a16:creationId xmlns:a16="http://schemas.microsoft.com/office/drawing/2014/main" id="{2BA34126-022A-3DDD-0F79-8FEE29376CAC}"/>
              </a:ext>
            </a:extLst>
          </p:cNvPr>
          <p:cNvPicPr>
            <a:picLocks noChangeAspect="1"/>
          </p:cNvPicPr>
          <p:nvPr/>
        </p:nvPicPr>
        <p:blipFill>
          <a:blip r:embed="rId3"/>
          <a:srcRect t="26379" r="50923"/>
          <a:stretch>
            <a:fillRect/>
          </a:stretch>
        </p:blipFill>
        <p:spPr>
          <a:xfrm>
            <a:off x="7096159" y="1769217"/>
            <a:ext cx="2679535" cy="2257353"/>
          </a:xfrm>
          <a:prstGeom prst="rect">
            <a:avLst/>
          </a:prstGeom>
        </p:spPr>
      </p:pic>
      <p:sp>
        <p:nvSpPr>
          <p:cNvPr id="361" name="t_l">
            <a:extLst>
              <a:ext uri="{FF2B5EF4-FFF2-40B4-BE49-F238E27FC236}">
                <a16:creationId xmlns:a16="http://schemas.microsoft.com/office/drawing/2014/main" id="{617D00CD-0BCE-FB86-85CC-8377B455D112}"/>
              </a:ext>
            </a:extLst>
          </p:cNvPr>
          <p:cNvSpPr txBox="1"/>
          <p:nvPr/>
        </p:nvSpPr>
        <p:spPr>
          <a:xfrm>
            <a:off x="7992795" y="1821510"/>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29C3172F-1A04-41E8-E03B-40077384F00A}"/>
              </a:ext>
            </a:extLst>
          </p:cNvPr>
          <p:cNvSpPr txBox="1"/>
          <p:nvPr/>
        </p:nvSpPr>
        <p:spPr>
          <a:xfrm>
            <a:off x="8023697" y="3974908"/>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pic>
        <p:nvPicPr>
          <p:cNvPr id="4" name="図 3">
            <a:extLst>
              <a:ext uri="{FF2B5EF4-FFF2-40B4-BE49-F238E27FC236}">
                <a16:creationId xmlns:a16="http://schemas.microsoft.com/office/drawing/2014/main" id="{FA304C0D-1D7A-8D2C-0191-02206FD3C5C7}"/>
              </a:ext>
            </a:extLst>
          </p:cNvPr>
          <p:cNvPicPr>
            <a:picLocks noChangeAspect="1"/>
          </p:cNvPicPr>
          <p:nvPr/>
        </p:nvPicPr>
        <p:blipFill>
          <a:blip r:embed="rId4"/>
          <a:srcRect r="48043" b="54220"/>
          <a:stretch>
            <a:fillRect/>
          </a:stretch>
        </p:blipFill>
        <p:spPr>
          <a:xfrm>
            <a:off x="3410583" y="3951766"/>
            <a:ext cx="2782676" cy="1796991"/>
          </a:xfrm>
          <a:prstGeom prst="rect">
            <a:avLst/>
          </a:prstGeom>
        </p:spPr>
      </p:pic>
      <p:pic>
        <p:nvPicPr>
          <p:cNvPr id="5" name="図 4">
            <a:extLst>
              <a:ext uri="{FF2B5EF4-FFF2-40B4-BE49-F238E27FC236}">
                <a16:creationId xmlns:a16="http://schemas.microsoft.com/office/drawing/2014/main" id="{94999B29-D753-BFA3-6518-C23DF092F91E}"/>
              </a:ext>
            </a:extLst>
          </p:cNvPr>
          <p:cNvPicPr>
            <a:picLocks noChangeAspect="1"/>
          </p:cNvPicPr>
          <p:nvPr/>
        </p:nvPicPr>
        <p:blipFill>
          <a:blip r:embed="rId5"/>
          <a:srcRect t="3209" r="47305" b="51417"/>
          <a:stretch>
            <a:fillRect/>
          </a:stretch>
        </p:blipFill>
        <p:spPr>
          <a:xfrm>
            <a:off x="3429436" y="1791233"/>
            <a:ext cx="2782676" cy="1796991"/>
          </a:xfrm>
          <a:prstGeom prst="rect">
            <a:avLst/>
          </a:prstGeom>
        </p:spPr>
      </p:pic>
      <p:sp>
        <p:nvSpPr>
          <p:cNvPr id="6" name="テキスト ボックス 5">
            <a:extLst>
              <a:ext uri="{FF2B5EF4-FFF2-40B4-BE49-F238E27FC236}">
                <a16:creationId xmlns:a16="http://schemas.microsoft.com/office/drawing/2014/main" id="{F4A0F85A-3673-3E17-A05A-E12333A95C66}"/>
              </a:ext>
            </a:extLst>
          </p:cNvPr>
          <p:cNvSpPr txBox="1"/>
          <p:nvPr/>
        </p:nvSpPr>
        <p:spPr>
          <a:xfrm>
            <a:off x="776779" y="4647509"/>
            <a:ext cx="2749471" cy="400110"/>
          </a:xfrm>
          <a:prstGeom prst="rect">
            <a:avLst/>
          </a:prstGeom>
          <a:noFill/>
        </p:spPr>
        <p:txBody>
          <a:bodyPr wrap="none" rtlCol="0">
            <a:spAutoFit/>
          </a:bodyPr>
          <a:lstStyle/>
          <a:p>
            <a:r>
              <a:rPr kumimoji="1" lang="ja-JP" altLang="en-US" sz="2000" b="1"/>
              <a:t>アンジオテンシン投与</a:t>
            </a:r>
          </a:p>
        </p:txBody>
      </p:sp>
      <p:sp>
        <p:nvSpPr>
          <p:cNvPr id="7" name="テキスト ボックス 6">
            <a:extLst>
              <a:ext uri="{FF2B5EF4-FFF2-40B4-BE49-F238E27FC236}">
                <a16:creationId xmlns:a16="http://schemas.microsoft.com/office/drawing/2014/main" id="{E7DEAB5A-38B4-A4E8-7836-B7E43B0F40F4}"/>
              </a:ext>
            </a:extLst>
          </p:cNvPr>
          <p:cNvSpPr txBox="1"/>
          <p:nvPr/>
        </p:nvSpPr>
        <p:spPr>
          <a:xfrm>
            <a:off x="776779" y="2487171"/>
            <a:ext cx="2749471" cy="400110"/>
          </a:xfrm>
          <a:prstGeom prst="rect">
            <a:avLst/>
          </a:prstGeom>
          <a:noFill/>
        </p:spPr>
        <p:txBody>
          <a:bodyPr wrap="none" rtlCol="0">
            <a:spAutoFit/>
          </a:bodyPr>
          <a:lstStyle/>
          <a:p>
            <a:r>
              <a:rPr kumimoji="1" lang="ja-JP" altLang="en-US" sz="2000" b="1"/>
              <a:t>ニトログリセリン投与</a:t>
            </a:r>
          </a:p>
        </p:txBody>
      </p:sp>
      <p:sp>
        <p:nvSpPr>
          <p:cNvPr id="19" name="テキスト ボックス 18">
            <a:extLst>
              <a:ext uri="{FF2B5EF4-FFF2-40B4-BE49-F238E27FC236}">
                <a16:creationId xmlns:a16="http://schemas.microsoft.com/office/drawing/2014/main" id="{D5A65DD6-5058-26B0-247A-72F1D01B1E45}"/>
              </a:ext>
            </a:extLst>
          </p:cNvPr>
          <p:cNvSpPr txBox="1"/>
          <p:nvPr/>
        </p:nvSpPr>
        <p:spPr>
          <a:xfrm>
            <a:off x="1593004" y="6023470"/>
            <a:ext cx="9005992" cy="461665"/>
          </a:xfrm>
          <a:prstGeom prst="rect">
            <a:avLst/>
          </a:prstGeom>
          <a:noFill/>
        </p:spPr>
        <p:txBody>
          <a:bodyPr wrap="none" rtlCol="0">
            <a:spAutoFit/>
          </a:bodyPr>
          <a:lstStyle/>
          <a:p>
            <a:r>
              <a:rPr kumimoji="1" lang="ja-JP" altLang="en-US" sz="2400"/>
              <a:t>健常成人ボランティアに血管拡張・収縮薬投与で</a:t>
            </a:r>
            <a:r>
              <a:rPr kumimoji="1" lang="en-US" altLang="ja-JP" sz="2400" dirty="0"/>
              <a:t>PPG</a:t>
            </a:r>
            <a:r>
              <a:rPr kumimoji="1" lang="ja-JP" altLang="en-US" sz="2400"/>
              <a:t>変化をみた</a:t>
            </a:r>
          </a:p>
        </p:txBody>
      </p:sp>
      <p:sp>
        <p:nvSpPr>
          <p:cNvPr id="36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12. Millasseau 2003</a:t>
            </a:r>
          </a:p>
        </p:txBody>
      </p:sp>
      <p:sp>
        <p:nvSpPr>
          <p:cNvPr id="36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21/55</a:t>
            </a:r>
          </a:p>
        </p:txBody>
      </p:sp>
    </p:spTree>
    <p:extLst>
      <p:ext uri="{BB962C8B-B14F-4D97-AF65-F5344CB8AC3E}">
        <p14:creationId xmlns:p14="http://schemas.microsoft.com/office/powerpoint/2010/main" val="36977261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65079-4508-5497-F141-DE50AAEB0CD4}"/>
            </a:ext>
          </a:extLst>
        </p:cNvPr>
        <p:cNvGrpSpPr/>
        <p:nvPr/>
      </p:nvGrpSpPr>
      <p:grpSpPr>
        <a:xfrm>
          <a:off x="0" y="0"/>
          <a:ext cx="0" cy="0"/>
          <a:chOff x="0" y="0"/>
          <a:chExt cx="0" cy="0"/>
        </a:xfrm>
      </p:grpSpPr>
      <p:pic>
        <p:nvPicPr>
          <p:cNvPr id="3" name="Picture 8" descr="10_svr.png">
            <a:extLst>
              <a:ext uri="{FF2B5EF4-FFF2-40B4-BE49-F238E27FC236}">
                <a16:creationId xmlns:a16="http://schemas.microsoft.com/office/drawing/2014/main" id="{362C4290-EED1-422F-7FB5-DE381B417B94}"/>
              </a:ext>
            </a:extLst>
          </p:cNvPr>
          <p:cNvPicPr>
            <a:picLocks noChangeAspect="1"/>
          </p:cNvPicPr>
          <p:nvPr/>
        </p:nvPicPr>
        <p:blipFill>
          <a:blip r:embed="rId3"/>
          <a:srcRect l="50922" t="26379"/>
          <a:stretch>
            <a:fillRect/>
          </a:stretch>
        </p:blipFill>
        <p:spPr>
          <a:xfrm>
            <a:off x="7127061" y="3951766"/>
            <a:ext cx="2679535" cy="2257353"/>
          </a:xfrm>
          <a:prstGeom prst="rect">
            <a:avLst/>
          </a:prstGeom>
        </p:spPr>
      </p:pic>
      <p:sp>
        <p:nvSpPr>
          <p:cNvPr id="2" name="Title 1">
            <a:extLst>
              <a:ext uri="{FF2B5EF4-FFF2-40B4-BE49-F238E27FC236}">
                <a16:creationId xmlns:a16="http://schemas.microsoft.com/office/drawing/2014/main" id="{1F8D11BB-63E2-2C0D-B496-60630080BA1D}"/>
              </a:ext>
            </a:extLst>
          </p:cNvPr>
          <p:cNvSpPr>
            <a:spLocks noGrp="1"/>
          </p:cNvSpPr>
          <p:nvPr>
            <p:ph type="title"/>
          </p:nvPr>
        </p:nvSpPr>
        <p:spPr/>
        <p:txBody>
          <a:bodyPr>
            <a:normAutofit/>
          </a:bodyPr>
          <a:lstStyle/>
          <a:p>
            <a:pPr algn="l"/>
            <a:r>
              <a:rPr sz="4600" dirty="0">
                <a:latin typeface="Meiryo"/>
                <a:ea typeface="Meiryo"/>
                <a:cs typeface="Meiryo"/>
              </a:rPr>
              <a:t>2.2.2  後負荷：末梢</a:t>
            </a:r>
          </a:p>
        </p:txBody>
      </p:sp>
      <p:sp>
        <p:nvSpPr>
          <p:cNvPr id="13" name="Off-page Connector 4">
            <a:extLst>
              <a:ext uri="{FF2B5EF4-FFF2-40B4-BE49-F238E27FC236}">
                <a16:creationId xmlns:a16="http://schemas.microsoft.com/office/drawing/2014/main" id="{C083CA8D-3BBE-F5CA-B54B-8409E047B57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FBE6D318-39BC-0336-CD5D-ADDF24B6F10E}"/>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9502A3E9-1080-0116-E2BC-E596A6E5C21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84FD6F8-1B4F-A6F3-1451-20BF39490F7F}"/>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9" name="Picture 8" descr="10_svr.png">
            <a:extLst>
              <a:ext uri="{FF2B5EF4-FFF2-40B4-BE49-F238E27FC236}">
                <a16:creationId xmlns:a16="http://schemas.microsoft.com/office/drawing/2014/main" id="{402398F5-DD06-139E-7A44-EE16134071DF}"/>
              </a:ext>
            </a:extLst>
          </p:cNvPr>
          <p:cNvPicPr>
            <a:picLocks noChangeAspect="1"/>
          </p:cNvPicPr>
          <p:nvPr/>
        </p:nvPicPr>
        <p:blipFill>
          <a:blip r:embed="rId3"/>
          <a:srcRect t="26379" r="50923"/>
          <a:stretch>
            <a:fillRect/>
          </a:stretch>
        </p:blipFill>
        <p:spPr>
          <a:xfrm>
            <a:off x="7096159" y="1769217"/>
            <a:ext cx="2679535" cy="2257353"/>
          </a:xfrm>
          <a:prstGeom prst="rect">
            <a:avLst/>
          </a:prstGeom>
        </p:spPr>
      </p:pic>
      <p:sp>
        <p:nvSpPr>
          <p:cNvPr id="361" name="t_l">
            <a:extLst>
              <a:ext uri="{FF2B5EF4-FFF2-40B4-BE49-F238E27FC236}">
                <a16:creationId xmlns:a16="http://schemas.microsoft.com/office/drawing/2014/main" id="{4B67D30A-7DF0-7C19-4766-97B9ECCFC945}"/>
              </a:ext>
            </a:extLst>
          </p:cNvPr>
          <p:cNvSpPr txBox="1"/>
          <p:nvPr/>
        </p:nvSpPr>
        <p:spPr>
          <a:xfrm>
            <a:off x="7992795" y="1821510"/>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61F99186-825D-A604-DC5F-FD6FD8767F62}"/>
              </a:ext>
            </a:extLst>
          </p:cNvPr>
          <p:cNvSpPr txBox="1"/>
          <p:nvPr/>
        </p:nvSpPr>
        <p:spPr>
          <a:xfrm>
            <a:off x="8023697" y="3974908"/>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pic>
        <p:nvPicPr>
          <p:cNvPr id="4" name="図 3">
            <a:extLst>
              <a:ext uri="{FF2B5EF4-FFF2-40B4-BE49-F238E27FC236}">
                <a16:creationId xmlns:a16="http://schemas.microsoft.com/office/drawing/2014/main" id="{015AD26D-E5C6-2A54-3035-ED8289FFCE0A}"/>
              </a:ext>
            </a:extLst>
          </p:cNvPr>
          <p:cNvPicPr>
            <a:picLocks noChangeAspect="1"/>
          </p:cNvPicPr>
          <p:nvPr/>
        </p:nvPicPr>
        <p:blipFill>
          <a:blip r:embed="rId4"/>
          <a:srcRect r="48043" b="54220"/>
          <a:stretch>
            <a:fillRect/>
          </a:stretch>
        </p:blipFill>
        <p:spPr>
          <a:xfrm>
            <a:off x="3410583" y="3951766"/>
            <a:ext cx="2782676" cy="1796991"/>
          </a:xfrm>
          <a:prstGeom prst="rect">
            <a:avLst/>
          </a:prstGeom>
        </p:spPr>
      </p:pic>
      <p:pic>
        <p:nvPicPr>
          <p:cNvPr id="5" name="図 4">
            <a:extLst>
              <a:ext uri="{FF2B5EF4-FFF2-40B4-BE49-F238E27FC236}">
                <a16:creationId xmlns:a16="http://schemas.microsoft.com/office/drawing/2014/main" id="{1270D8DB-21FC-FF91-74DE-8B78AF8E028C}"/>
              </a:ext>
            </a:extLst>
          </p:cNvPr>
          <p:cNvPicPr>
            <a:picLocks noChangeAspect="1"/>
          </p:cNvPicPr>
          <p:nvPr/>
        </p:nvPicPr>
        <p:blipFill>
          <a:blip r:embed="rId5"/>
          <a:srcRect t="3209" r="47305" b="51417"/>
          <a:stretch>
            <a:fillRect/>
          </a:stretch>
        </p:blipFill>
        <p:spPr>
          <a:xfrm>
            <a:off x="3429436" y="1791233"/>
            <a:ext cx="2782676" cy="1796991"/>
          </a:xfrm>
          <a:prstGeom prst="rect">
            <a:avLst/>
          </a:prstGeom>
        </p:spPr>
      </p:pic>
      <p:sp>
        <p:nvSpPr>
          <p:cNvPr id="6" name="テキスト ボックス 5">
            <a:extLst>
              <a:ext uri="{FF2B5EF4-FFF2-40B4-BE49-F238E27FC236}">
                <a16:creationId xmlns:a16="http://schemas.microsoft.com/office/drawing/2014/main" id="{316FD39C-1145-369B-2504-A1474B245055}"/>
              </a:ext>
            </a:extLst>
          </p:cNvPr>
          <p:cNvSpPr txBox="1"/>
          <p:nvPr/>
        </p:nvSpPr>
        <p:spPr>
          <a:xfrm>
            <a:off x="776779" y="4647509"/>
            <a:ext cx="2749471" cy="400110"/>
          </a:xfrm>
          <a:prstGeom prst="rect">
            <a:avLst/>
          </a:prstGeom>
          <a:noFill/>
        </p:spPr>
        <p:txBody>
          <a:bodyPr wrap="none" rtlCol="0">
            <a:spAutoFit/>
          </a:bodyPr>
          <a:lstStyle/>
          <a:p>
            <a:r>
              <a:rPr kumimoji="1" lang="ja-JP" altLang="en-US" sz="2000" b="1"/>
              <a:t>アンジオテンシン投与</a:t>
            </a:r>
          </a:p>
        </p:txBody>
      </p:sp>
      <p:sp>
        <p:nvSpPr>
          <p:cNvPr id="7" name="テキスト ボックス 6">
            <a:extLst>
              <a:ext uri="{FF2B5EF4-FFF2-40B4-BE49-F238E27FC236}">
                <a16:creationId xmlns:a16="http://schemas.microsoft.com/office/drawing/2014/main" id="{B20288AD-2CAE-65BF-CD0A-C086DF9ECA29}"/>
              </a:ext>
            </a:extLst>
          </p:cNvPr>
          <p:cNvSpPr txBox="1"/>
          <p:nvPr/>
        </p:nvSpPr>
        <p:spPr>
          <a:xfrm>
            <a:off x="776779" y="2487171"/>
            <a:ext cx="2749471" cy="400110"/>
          </a:xfrm>
          <a:prstGeom prst="rect">
            <a:avLst/>
          </a:prstGeom>
          <a:noFill/>
        </p:spPr>
        <p:txBody>
          <a:bodyPr wrap="none" rtlCol="0">
            <a:spAutoFit/>
          </a:bodyPr>
          <a:lstStyle/>
          <a:p>
            <a:r>
              <a:rPr kumimoji="1" lang="ja-JP" altLang="en-US" sz="2000" b="1"/>
              <a:t>ニトログリセリン投与</a:t>
            </a:r>
          </a:p>
        </p:txBody>
      </p:sp>
      <p:sp>
        <p:nvSpPr>
          <p:cNvPr id="18" name="callout">
            <a:extLst>
              <a:ext uri="{FF2B5EF4-FFF2-40B4-BE49-F238E27FC236}">
                <a16:creationId xmlns:a16="http://schemas.microsoft.com/office/drawing/2014/main" id="{339F7693-591D-47A2-F762-B4C7374D22E7}"/>
              </a:ext>
            </a:extLst>
          </p:cNvPr>
          <p:cNvSpPr/>
          <p:nvPr/>
        </p:nvSpPr>
        <p:spPr>
          <a:xfrm>
            <a:off x="2077574" y="5922712"/>
            <a:ext cx="8036851" cy="52749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400" b="1">
                <a:solidFill>
                  <a:srgbClr val="1A1A1A"/>
                </a:solidFill>
                <a:latin typeface="Meiryo"/>
                <a:ea typeface="Meiryo"/>
                <a:cs typeface="Meiryo"/>
              </a:rPr>
              <a:t>血管ト⁠ー⁠ヌ⁠スの変化 → 反射波の高さが変わる</a:t>
            </a:r>
            <a:endParaRPr lang="ja-JP" altLang="en-US" sz="2400" b="1" dirty="0">
              <a:solidFill>
                <a:srgbClr val="1A1A1A"/>
              </a:solidFill>
              <a:latin typeface="Meiryo"/>
              <a:ea typeface="Meiryo"/>
              <a:cs typeface="Meiryo"/>
            </a:endParaRPr>
          </a:p>
        </p:txBody>
      </p:sp>
      <p:sp>
        <p:nvSpPr>
          <p:cNvPr id="36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12. Millasseau 2003</a:t>
            </a:r>
          </a:p>
        </p:txBody>
      </p:sp>
      <p:sp>
        <p:nvSpPr>
          <p:cNvPr id="36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21/55</a:t>
            </a:r>
          </a:p>
        </p:txBody>
      </p:sp>
    </p:spTree>
    <p:extLst>
      <p:ext uri="{BB962C8B-B14F-4D97-AF65-F5344CB8AC3E}">
        <p14:creationId xmlns:p14="http://schemas.microsoft.com/office/powerpoint/2010/main" val="32376881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17490-8D86-DB93-6569-A0209107F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E9A4A-0427-4ADE-C047-AB3E3303090B}"/>
              </a:ext>
            </a:extLst>
          </p:cNvPr>
          <p:cNvSpPr>
            <a:spLocks noGrp="1"/>
          </p:cNvSpPr>
          <p:nvPr>
            <p:ph type="title"/>
          </p:nvPr>
        </p:nvSpPr>
        <p:spPr/>
        <p:txBody>
          <a:bodyPr>
            <a:normAutofit/>
          </a:bodyPr>
          <a:lstStyle/>
          <a:p>
            <a:pPr algn="l"/>
            <a:r>
              <a:rPr sz="4600" dirty="0">
                <a:latin typeface="Meiryo"/>
                <a:ea typeface="Meiryo"/>
                <a:cs typeface="Meiryo"/>
              </a:rPr>
              <a:t>2.2.3  後負荷の違い</a:t>
            </a:r>
          </a:p>
        </p:txBody>
      </p:sp>
      <p:sp>
        <p:nvSpPr>
          <p:cNvPr id="13" name="Off-page Connector 4">
            <a:extLst>
              <a:ext uri="{FF2B5EF4-FFF2-40B4-BE49-F238E27FC236}">
                <a16:creationId xmlns:a16="http://schemas.microsoft.com/office/drawing/2014/main" id="{266F0750-78FA-66BC-C93C-64F9454D878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9AA5EE62-C4C5-B94B-E592-7F32385B2E04}"/>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43B9E573-13FF-914F-45E0-3A2F9B8FDA0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4F19F32C-C429-2EB8-0D25-9B3C13EDFD8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9" name="Picture 8" descr="07_factor_2axis.png">
            <a:extLst>
              <a:ext uri="{FF2B5EF4-FFF2-40B4-BE49-F238E27FC236}">
                <a16:creationId xmlns:a16="http://schemas.microsoft.com/office/drawing/2014/main" id="{8C69438D-BFC6-745C-FA3A-8DA981B5ED57}"/>
              </a:ext>
            </a:extLst>
          </p:cNvPr>
          <p:cNvPicPr>
            <a:picLocks noChangeAspect="1"/>
          </p:cNvPicPr>
          <p:nvPr/>
        </p:nvPicPr>
        <p:blipFill>
          <a:blip r:embed="rId3"/>
          <a:srcRect t="16134" b="47584"/>
          <a:stretch>
            <a:fillRect/>
          </a:stretch>
        </p:blipFill>
        <p:spPr>
          <a:xfrm>
            <a:off x="1482436" y="2123504"/>
            <a:ext cx="8328377" cy="1763007"/>
          </a:xfrm>
          <a:prstGeom prst="rect">
            <a:avLst/>
          </a:prstGeom>
        </p:spPr>
      </p:pic>
      <p:pic>
        <p:nvPicPr>
          <p:cNvPr id="250" name="Picture 8b" descr="07_factor_2axis.png">
            <a:extLst>
              <a:ext uri="{FF2B5EF4-FFF2-40B4-BE49-F238E27FC236}">
                <a16:creationId xmlns:a16="http://schemas.microsoft.com/office/drawing/2014/main" id="{63DBEBD7-4675-D2B3-2C9A-6D1A5FB77D10}"/>
              </a:ext>
            </a:extLst>
          </p:cNvPr>
          <p:cNvPicPr>
            <a:picLocks noChangeAspect="1"/>
          </p:cNvPicPr>
          <p:nvPr/>
        </p:nvPicPr>
        <p:blipFill>
          <a:blip r:embed="rId3"/>
          <a:srcRect t="56511"/>
          <a:stretch>
            <a:fillRect/>
          </a:stretch>
        </p:blipFill>
        <p:spPr>
          <a:xfrm>
            <a:off x="1482436" y="4341629"/>
            <a:ext cx="8328377" cy="2113221"/>
          </a:xfrm>
          <a:prstGeom prst="rect">
            <a:avLst/>
          </a:prstGeom>
        </p:spPr>
      </p:pic>
      <p:sp>
        <p:nvSpPr>
          <p:cNvPr id="210" name="h1">
            <a:extLst>
              <a:ext uri="{FF2B5EF4-FFF2-40B4-BE49-F238E27FC236}">
                <a16:creationId xmlns:a16="http://schemas.microsoft.com/office/drawing/2014/main" id="{9643E6C4-AD3E-16B9-9985-622F9A8505C1}"/>
              </a:ext>
            </a:extLst>
          </p:cNvPr>
          <p:cNvSpPr txBox="1"/>
          <p:nvPr/>
        </p:nvSpPr>
        <p:spPr>
          <a:xfrm>
            <a:off x="1519437" y="1812138"/>
            <a:ext cx="9335082" cy="434794"/>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① 末梢血管</a:t>
            </a:r>
            <a:r>
              <a:rPr lang="ja-JP" altLang="en-US" sz="2200" b="1" dirty="0">
                <a:solidFill>
                  <a:srgbClr val="E8853B"/>
                </a:solidFill>
                <a:latin typeface="Meiryo"/>
                <a:ea typeface="Meiryo"/>
                <a:cs typeface="Meiryo"/>
              </a:rPr>
              <a:t>トーヌス ↑ → 反射波・切痕が「高く</a:t>
            </a:r>
            <a:r>
              <a:rPr lang="ja-JP" altLang="en-US" sz="2200" b="1">
                <a:solidFill>
                  <a:srgbClr val="E8853B"/>
                </a:solidFill>
                <a:latin typeface="Meiryo"/>
                <a:ea typeface="Meiryo"/>
                <a:cs typeface="Meiryo"/>
              </a:rPr>
              <a:t>」なる</a:t>
            </a:r>
            <a:endParaRPr lang="ja-JP" altLang="en-US" sz="2200" b="1" dirty="0">
              <a:solidFill>
                <a:srgbClr val="E8853B"/>
              </a:solidFill>
              <a:latin typeface="Meiryo"/>
              <a:ea typeface="Meiryo"/>
              <a:cs typeface="Meiryo"/>
            </a:endParaRPr>
          </a:p>
        </p:txBody>
      </p:sp>
      <p:sp>
        <p:nvSpPr>
          <p:cNvPr id="211" name="takasa">
            <a:extLst>
              <a:ext uri="{FF2B5EF4-FFF2-40B4-BE49-F238E27FC236}">
                <a16:creationId xmlns:a16="http://schemas.microsoft.com/office/drawing/2014/main" id="{B7012E9E-EB04-35BE-FBFB-C8FADEF34CFA}"/>
              </a:ext>
            </a:extLst>
          </p:cNvPr>
          <p:cNvSpPr txBox="1"/>
          <p:nvPr/>
        </p:nvSpPr>
        <p:spPr>
          <a:xfrm>
            <a:off x="9225548" y="2914543"/>
            <a:ext cx="1937942" cy="304356"/>
          </a:xfrm>
          <a:prstGeom prst="rect">
            <a:avLst/>
          </a:prstGeom>
          <a:noFill/>
        </p:spPr>
        <p:txBody>
          <a:bodyPr wrap="square" lIns="0" tIns="0" rIns="0" bIns="0" anchor="t">
            <a:normAutofit lnSpcReduction="10000"/>
          </a:bodyPr>
          <a:lstStyle/>
          <a:p>
            <a:pPr algn="l"/>
            <a:r>
              <a:rPr lang="ja-JP" altLang="en-US" sz="2000" b="1" dirty="0">
                <a:solidFill>
                  <a:srgbClr val="E8853B"/>
                </a:solidFill>
                <a:latin typeface="Meiryo"/>
                <a:ea typeface="Meiryo"/>
                <a:cs typeface="Meiryo"/>
              </a:rPr>
              <a:t>高さ↑</a:t>
            </a:r>
          </a:p>
        </p:txBody>
      </p:sp>
      <p:sp>
        <p:nvSpPr>
          <p:cNvPr id="212" name="h2">
            <a:extLst>
              <a:ext uri="{FF2B5EF4-FFF2-40B4-BE49-F238E27FC236}">
                <a16:creationId xmlns:a16="http://schemas.microsoft.com/office/drawing/2014/main" id="{CF326274-D609-3E77-0B78-BE0B3A09D728}"/>
              </a:ext>
            </a:extLst>
          </p:cNvPr>
          <p:cNvSpPr txBox="1"/>
          <p:nvPr/>
        </p:nvSpPr>
        <p:spPr>
          <a:xfrm>
            <a:off x="1519437" y="4311240"/>
            <a:ext cx="11427118" cy="478274"/>
          </a:xfrm>
          <a:prstGeom prst="rect">
            <a:avLst/>
          </a:prstGeom>
          <a:noFill/>
        </p:spPr>
        <p:txBody>
          <a:bodyPr wrap="square" lIns="0" tIns="0" rIns="0" bIns="0" anchor="t">
            <a:noAutofit/>
          </a:bodyPr>
          <a:lstStyle/>
          <a:p>
            <a:pPr algn="l"/>
            <a:r>
              <a:rPr lang="ja-JP" altLang="en-US" sz="2200" b="1">
                <a:solidFill>
                  <a:srgbClr val="B8860B"/>
                </a:solidFill>
                <a:latin typeface="Meiryo"/>
                <a:ea typeface="Meiryo"/>
                <a:cs typeface="Meiryo"/>
              </a:rPr>
              <a:t>② 大血管スティフネス </a:t>
            </a:r>
            <a:r>
              <a:rPr lang="ja-JP" altLang="en-US" sz="2200" b="1" dirty="0">
                <a:solidFill>
                  <a:srgbClr val="B8860B"/>
                </a:solidFill>
                <a:latin typeface="Meiryo"/>
                <a:ea typeface="Meiryo"/>
                <a:cs typeface="Meiryo"/>
              </a:rPr>
              <a:t>↑ → 反射波が「早く</a:t>
            </a:r>
            <a:r>
              <a:rPr lang="ja-JP" altLang="en-US" sz="2200" b="1">
                <a:solidFill>
                  <a:srgbClr val="B8860B"/>
                </a:solidFill>
                <a:latin typeface="Meiryo"/>
                <a:ea typeface="Meiryo"/>
                <a:cs typeface="Meiryo"/>
              </a:rPr>
              <a:t>」帰る→ 反射波の時相が早くなる</a:t>
            </a:r>
            <a:endParaRPr lang="ja-JP" altLang="en-US" sz="2200" b="1" dirty="0">
              <a:solidFill>
                <a:srgbClr val="B8860B"/>
              </a:solidFill>
              <a:latin typeface="Meiryo"/>
              <a:ea typeface="Meiryo"/>
              <a:cs typeface="Meiryo"/>
            </a:endParaRPr>
          </a:p>
        </p:txBody>
      </p:sp>
      <p:sp>
        <p:nvSpPr>
          <p:cNvPr id="213" name="jiso">
            <a:extLst>
              <a:ext uri="{FF2B5EF4-FFF2-40B4-BE49-F238E27FC236}">
                <a16:creationId xmlns:a16="http://schemas.microsoft.com/office/drawing/2014/main" id="{0954FE5B-58A2-1FC2-8F70-714A7560119B}"/>
              </a:ext>
            </a:extLst>
          </p:cNvPr>
          <p:cNvSpPr txBox="1"/>
          <p:nvPr/>
        </p:nvSpPr>
        <p:spPr>
          <a:xfrm>
            <a:off x="8492796" y="5262282"/>
            <a:ext cx="2003446" cy="359899"/>
          </a:xfrm>
          <a:prstGeom prst="rect">
            <a:avLst/>
          </a:prstGeom>
          <a:noFill/>
        </p:spPr>
        <p:txBody>
          <a:bodyPr wrap="square" lIns="0" tIns="0" rIns="0" bIns="0" anchor="t">
            <a:normAutofit/>
          </a:bodyPr>
          <a:lstStyle/>
          <a:p>
            <a:pPr algn="ctr"/>
            <a:r>
              <a:rPr lang="ja-JP" altLang="en-US" sz="2000" b="1" dirty="0">
                <a:solidFill>
                  <a:srgbClr val="B8860B"/>
                </a:solidFill>
                <a:latin typeface="Meiryo"/>
                <a:ea typeface="Meiryo"/>
                <a:cs typeface="Meiryo"/>
              </a:rPr>
              <a:t>時相 早い</a:t>
            </a:r>
          </a:p>
        </p:txBody>
      </p:sp>
      <p:sp>
        <p:nvSpPr>
          <p:cNvPr id="214" name="henkyoku">
            <a:extLst>
              <a:ext uri="{FF2B5EF4-FFF2-40B4-BE49-F238E27FC236}">
                <a16:creationId xmlns:a16="http://schemas.microsoft.com/office/drawing/2014/main" id="{668686BA-9DCF-A97F-1960-0E5256FBD843}"/>
              </a:ext>
            </a:extLst>
          </p:cNvPr>
          <p:cNvSpPr txBox="1"/>
          <p:nvPr/>
        </p:nvSpPr>
        <p:spPr>
          <a:xfrm>
            <a:off x="3804411" y="5142663"/>
            <a:ext cx="2544787" cy="1118607"/>
          </a:xfrm>
          <a:prstGeom prst="rect">
            <a:avLst/>
          </a:prstGeom>
          <a:noFill/>
        </p:spPr>
        <p:txBody>
          <a:bodyPr wrap="square" lIns="0" tIns="0" rIns="0" bIns="0" anchor="t">
            <a:normAutofit/>
          </a:bodyPr>
          <a:lstStyle/>
          <a:p>
            <a:pPr algn="ctr"/>
            <a:r>
              <a:rPr lang="ja-JP" altLang="en-US" sz="2000" b="1">
                <a:solidFill>
                  <a:srgbClr val="B8860B"/>
                </a:solidFill>
                <a:latin typeface="Meiryo"/>
                <a:ea typeface="Meiryo"/>
                <a:cs typeface="Meiryo"/>
              </a:rPr>
              <a:t>変曲点</a:t>
            </a:r>
            <a:endParaRPr lang="en-US" altLang="ja-JP" sz="2000" b="1" dirty="0">
              <a:solidFill>
                <a:srgbClr val="B8860B"/>
              </a:solidFill>
              <a:latin typeface="Meiryo"/>
              <a:ea typeface="Meiryo"/>
              <a:cs typeface="Meiryo"/>
            </a:endParaRPr>
          </a:p>
          <a:p>
            <a:pPr algn="ctr"/>
            <a:r>
              <a:rPr lang="ja-JP" altLang="en-US" sz="2000" b="1">
                <a:solidFill>
                  <a:srgbClr val="B8860B"/>
                </a:solidFill>
                <a:latin typeface="Meiryo"/>
                <a:ea typeface="Meiryo"/>
                <a:cs typeface="Meiryo"/>
              </a:rPr>
              <a:t>（</a:t>
            </a:r>
            <a:r>
              <a:rPr lang="ja-JP" altLang="en-US" sz="2000" b="1" dirty="0">
                <a:solidFill>
                  <a:srgbClr val="B8860B"/>
                </a:solidFill>
                <a:latin typeface="Meiryo"/>
                <a:ea typeface="Meiryo"/>
                <a:cs typeface="Meiryo"/>
              </a:rPr>
              <a:t>早期反射）</a:t>
            </a:r>
          </a:p>
        </p:txBody>
      </p:sp>
      <p:sp>
        <p:nvSpPr>
          <p:cNvPr id="25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8. Cunningham 2023　／　12. Millasseau 2003</a:t>
            </a:r>
          </a:p>
        </p:txBody>
      </p:sp>
      <p:sp>
        <p:nvSpPr>
          <p:cNvPr id="25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22/55</a:t>
            </a:r>
          </a:p>
        </p:txBody>
      </p:sp>
    </p:spTree>
    <p:extLst>
      <p:ext uri="{BB962C8B-B14F-4D97-AF65-F5344CB8AC3E}">
        <p14:creationId xmlns:p14="http://schemas.microsoft.com/office/powerpoint/2010/main" val="2016611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7A99F-D3E2-0A55-7651-45CB6F7C7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B9FC1-392B-D89A-B3BA-5DD88EE8DAAD}"/>
              </a:ext>
            </a:extLst>
          </p:cNvPr>
          <p:cNvSpPr>
            <a:spLocks noGrp="1"/>
          </p:cNvSpPr>
          <p:nvPr>
            <p:ph type="title"/>
          </p:nvPr>
        </p:nvSpPr>
        <p:spPr/>
        <p:txBody>
          <a:bodyPr>
            <a:normAutofit/>
          </a:bodyPr>
          <a:lstStyle/>
          <a:p>
            <a:pPr algn="l"/>
            <a:r>
              <a:rPr sz="4600" dirty="0">
                <a:latin typeface="Meiryo"/>
                <a:ea typeface="Meiryo"/>
                <a:cs typeface="Meiryo"/>
              </a:rPr>
              <a:t>2.2.4  心収縮力</a:t>
            </a:r>
          </a:p>
        </p:txBody>
      </p:sp>
      <p:sp>
        <p:nvSpPr>
          <p:cNvPr id="13" name="Off-page Connector 4">
            <a:extLst>
              <a:ext uri="{FF2B5EF4-FFF2-40B4-BE49-F238E27FC236}">
                <a16:creationId xmlns:a16="http://schemas.microsoft.com/office/drawing/2014/main" id="{126E03C4-F53B-BA3C-D275-D8315E03369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18B3E220-3FD2-DDF1-01D2-B71CB4E0DF6E}"/>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60CE0B28-7751-0C47-1746-00AF0782105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5DAD2652-C4D4-7C04-0797-291338CB77D6}"/>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642" name="cap2">
            <a:extLst>
              <a:ext uri="{FF2B5EF4-FFF2-40B4-BE49-F238E27FC236}">
                <a16:creationId xmlns:a16="http://schemas.microsoft.com/office/drawing/2014/main" id="{B4A3164A-BA51-5B5B-9E14-47E2B5B27E86}"/>
              </a:ext>
            </a:extLst>
          </p:cNvPr>
          <p:cNvSpPr txBox="1"/>
          <p:nvPr/>
        </p:nvSpPr>
        <p:spPr>
          <a:xfrm>
            <a:off x="4722800" y="483440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a:t>
            </a:r>
            <a:r>
              <a:rPr lang="ja-JP" altLang="en-US" sz="2200">
                <a:solidFill>
                  <a:srgbClr val="8C8C8C"/>
                </a:solidFill>
                <a:latin typeface="Meiryo"/>
                <a:ea typeface="Meiryo"/>
                <a:cs typeface="Meiryo"/>
              </a:rPr>
              <a:t>計算モデルから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grpSp>
        <p:nvGrpSpPr>
          <p:cNvPr id="6" name="グループ化 5">
            <a:extLst>
              <a:ext uri="{FF2B5EF4-FFF2-40B4-BE49-F238E27FC236}">
                <a16:creationId xmlns:a16="http://schemas.microsoft.com/office/drawing/2014/main" id="{F8DC659E-F481-D246-F1F4-84BF134878FE}"/>
              </a:ext>
            </a:extLst>
          </p:cNvPr>
          <p:cNvGrpSpPr/>
          <p:nvPr/>
        </p:nvGrpSpPr>
        <p:grpSpPr>
          <a:xfrm>
            <a:off x="926123" y="1812266"/>
            <a:ext cx="6506310" cy="3294252"/>
            <a:chOff x="1515934" y="3429000"/>
            <a:chExt cx="2128769" cy="1044184"/>
          </a:xfrm>
        </p:grpSpPr>
        <p:pic>
          <p:nvPicPr>
            <p:cNvPr id="3" name="図 2">
              <a:extLst>
                <a:ext uri="{FF2B5EF4-FFF2-40B4-BE49-F238E27FC236}">
                  <a16:creationId xmlns:a16="http://schemas.microsoft.com/office/drawing/2014/main" id="{68BAC6D6-AFF7-91F1-D127-4A1338A9238D}"/>
                </a:ext>
              </a:extLst>
            </p:cNvPr>
            <p:cNvPicPr>
              <a:picLocks noChangeAspect="1"/>
            </p:cNvPicPr>
            <p:nvPr/>
          </p:nvPicPr>
          <p:blipFill>
            <a:blip r:embed="rId3"/>
            <a:srcRect r="90696"/>
            <a:stretch>
              <a:fillRect/>
            </a:stretch>
          </p:blipFill>
          <p:spPr>
            <a:xfrm>
              <a:off x="1515934" y="3429000"/>
              <a:ext cx="723173" cy="1044184"/>
            </a:xfrm>
            <a:prstGeom prst="rect">
              <a:avLst/>
            </a:prstGeom>
          </p:spPr>
        </p:pic>
        <p:pic>
          <p:nvPicPr>
            <p:cNvPr id="4" name="図 3">
              <a:extLst>
                <a:ext uri="{FF2B5EF4-FFF2-40B4-BE49-F238E27FC236}">
                  <a16:creationId xmlns:a16="http://schemas.microsoft.com/office/drawing/2014/main" id="{52CDD66F-2601-0627-925D-D72C2AC987B4}"/>
                </a:ext>
              </a:extLst>
            </p:cNvPr>
            <p:cNvPicPr>
              <a:picLocks noChangeAspect="1"/>
            </p:cNvPicPr>
            <p:nvPr/>
          </p:nvPicPr>
          <p:blipFill>
            <a:blip r:embed="rId3"/>
            <a:srcRect l="81916"/>
            <a:stretch>
              <a:fillRect/>
            </a:stretch>
          </p:blipFill>
          <p:spPr>
            <a:xfrm>
              <a:off x="2239107" y="3429000"/>
              <a:ext cx="1405596" cy="1044184"/>
            </a:xfrm>
            <a:prstGeom prst="rect">
              <a:avLst/>
            </a:prstGeom>
          </p:spPr>
        </p:pic>
      </p:grpSp>
      <p:sp>
        <p:nvSpPr>
          <p:cNvPr id="18" name="Rounded Rectangle 29">
            <a:extLst>
              <a:ext uri="{FF2B5EF4-FFF2-40B4-BE49-F238E27FC236}">
                <a16:creationId xmlns:a16="http://schemas.microsoft.com/office/drawing/2014/main" id="{5B32805A-91E7-52DA-14E9-C0BC5E99A850}"/>
              </a:ext>
            </a:extLst>
          </p:cNvPr>
          <p:cNvSpPr/>
          <p:nvPr/>
        </p:nvSpPr>
        <p:spPr>
          <a:xfrm>
            <a:off x="7610395" y="3290532"/>
            <a:ext cx="4371297" cy="132556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latin typeface="Meiryo"/>
                <a:ea typeface="Meiryo"/>
                <a:cs typeface="Meiryo"/>
              </a:rPr>
              <a:t>収縮力↑→ 立ち上がり勾配↑</a:t>
            </a:r>
            <a:endParaRPr lang="en-US" altLang="ja-JP" sz="2400" b="1" dirty="0">
              <a:solidFill>
                <a:schemeClr val="tx1"/>
              </a:solidFill>
              <a:latin typeface="Meiryo"/>
              <a:ea typeface="Meiryo"/>
              <a:cs typeface="Meiryo"/>
            </a:endParaRPr>
          </a:p>
          <a:p>
            <a:pPr algn="ctr"/>
            <a:r>
              <a:rPr lang="ja-JP" altLang="en-US" sz="2400" b="1">
                <a:solidFill>
                  <a:schemeClr val="tx1"/>
                </a:solidFill>
                <a:latin typeface="Meiryo"/>
                <a:ea typeface="Meiryo"/>
                <a:cs typeface="Meiryo"/>
              </a:rPr>
              <a:t>→ 前進波が早く・尖鋭化</a:t>
            </a:r>
            <a:endParaRPr lang="ja-JP" altLang="en-US" sz="2400" b="1" dirty="0">
              <a:solidFill>
                <a:schemeClr val="tx1"/>
              </a:solidFill>
              <a:latin typeface="Meiryo"/>
              <a:ea typeface="Meiryo"/>
              <a:cs typeface="Meiryo"/>
            </a:endParaRPr>
          </a:p>
        </p:txBody>
      </p:sp>
      <p:sp>
        <p:nvSpPr>
          <p:cNvPr id="64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13. Pagoulatou 2021　／　14. Piccioli 2022</a:t>
            </a:r>
          </a:p>
        </p:txBody>
      </p:sp>
      <p:sp>
        <p:nvSpPr>
          <p:cNvPr id="64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23/55</a:t>
            </a:r>
          </a:p>
        </p:txBody>
      </p:sp>
    </p:spTree>
    <p:extLst>
      <p:ext uri="{BB962C8B-B14F-4D97-AF65-F5344CB8AC3E}">
        <p14:creationId xmlns:p14="http://schemas.microsoft.com/office/powerpoint/2010/main" val="35994046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827E2-CB29-6C3A-54EF-2F3CF659D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AB4B2C-40F7-9B11-9106-6C7BA8C92E96}"/>
              </a:ext>
            </a:extLst>
          </p:cNvPr>
          <p:cNvSpPr>
            <a:spLocks noGrp="1"/>
          </p:cNvSpPr>
          <p:nvPr>
            <p:ph type="title"/>
          </p:nvPr>
        </p:nvSpPr>
        <p:spPr/>
        <p:txBody>
          <a:bodyPr>
            <a:normAutofit/>
          </a:bodyPr>
          <a:lstStyle/>
          <a:p>
            <a:pPr algn="l"/>
            <a:r>
              <a:rPr sz="4600" dirty="0">
                <a:latin typeface="Meiryo"/>
                <a:ea typeface="Meiryo"/>
                <a:cs typeface="Meiryo"/>
              </a:rPr>
              <a:t>2.2.4  心収縮力</a:t>
            </a:r>
          </a:p>
        </p:txBody>
      </p:sp>
      <p:sp>
        <p:nvSpPr>
          <p:cNvPr id="13" name="Off-page Connector 4">
            <a:extLst>
              <a:ext uri="{FF2B5EF4-FFF2-40B4-BE49-F238E27FC236}">
                <a16:creationId xmlns:a16="http://schemas.microsoft.com/office/drawing/2014/main" id="{4BBC1839-0F94-62AC-D516-F62061BB4DF9}"/>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C7FDB4DE-382B-9981-CBEC-1B04AD4688C3}"/>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F09464F3-7A64-0929-25AD-97C2BAC7A15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72DA7D32-18CE-D37C-31D8-E9B5A128805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642" name="cap2">
            <a:extLst>
              <a:ext uri="{FF2B5EF4-FFF2-40B4-BE49-F238E27FC236}">
                <a16:creationId xmlns:a16="http://schemas.microsoft.com/office/drawing/2014/main" id="{2BDAAE34-6C1B-7AD6-FE22-745AD7543112}"/>
              </a:ext>
            </a:extLst>
          </p:cNvPr>
          <p:cNvSpPr txBox="1"/>
          <p:nvPr/>
        </p:nvSpPr>
        <p:spPr>
          <a:xfrm>
            <a:off x="4722800" y="483440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a:t>
            </a:r>
            <a:r>
              <a:rPr lang="ja-JP" altLang="en-US" sz="2200">
                <a:solidFill>
                  <a:srgbClr val="8C8C8C"/>
                </a:solidFill>
                <a:latin typeface="Meiryo"/>
                <a:ea typeface="Meiryo"/>
                <a:cs typeface="Meiryo"/>
              </a:rPr>
              <a:t>計算モデルから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grpSp>
        <p:nvGrpSpPr>
          <p:cNvPr id="6" name="グループ化 5">
            <a:extLst>
              <a:ext uri="{FF2B5EF4-FFF2-40B4-BE49-F238E27FC236}">
                <a16:creationId xmlns:a16="http://schemas.microsoft.com/office/drawing/2014/main" id="{F81A316D-FD0D-D887-2EA0-3CFE25CEB391}"/>
              </a:ext>
            </a:extLst>
          </p:cNvPr>
          <p:cNvGrpSpPr/>
          <p:nvPr/>
        </p:nvGrpSpPr>
        <p:grpSpPr>
          <a:xfrm>
            <a:off x="926123" y="1812266"/>
            <a:ext cx="6506310" cy="3294252"/>
            <a:chOff x="1515934" y="3429000"/>
            <a:chExt cx="2128769" cy="1044184"/>
          </a:xfrm>
        </p:grpSpPr>
        <p:pic>
          <p:nvPicPr>
            <p:cNvPr id="3" name="図 2">
              <a:extLst>
                <a:ext uri="{FF2B5EF4-FFF2-40B4-BE49-F238E27FC236}">
                  <a16:creationId xmlns:a16="http://schemas.microsoft.com/office/drawing/2014/main" id="{850F751C-6284-6659-FF2E-19D1C159CC76}"/>
                </a:ext>
              </a:extLst>
            </p:cNvPr>
            <p:cNvPicPr>
              <a:picLocks noChangeAspect="1"/>
            </p:cNvPicPr>
            <p:nvPr/>
          </p:nvPicPr>
          <p:blipFill>
            <a:blip r:embed="rId3"/>
            <a:srcRect r="90696"/>
            <a:stretch>
              <a:fillRect/>
            </a:stretch>
          </p:blipFill>
          <p:spPr>
            <a:xfrm>
              <a:off x="1515934" y="3429000"/>
              <a:ext cx="723173" cy="1044184"/>
            </a:xfrm>
            <a:prstGeom prst="rect">
              <a:avLst/>
            </a:prstGeom>
          </p:spPr>
        </p:pic>
        <p:pic>
          <p:nvPicPr>
            <p:cNvPr id="4" name="図 3">
              <a:extLst>
                <a:ext uri="{FF2B5EF4-FFF2-40B4-BE49-F238E27FC236}">
                  <a16:creationId xmlns:a16="http://schemas.microsoft.com/office/drawing/2014/main" id="{808CDE7B-3AC6-DB22-8B0D-F28819F1EFAF}"/>
                </a:ext>
              </a:extLst>
            </p:cNvPr>
            <p:cNvPicPr>
              <a:picLocks noChangeAspect="1"/>
            </p:cNvPicPr>
            <p:nvPr/>
          </p:nvPicPr>
          <p:blipFill>
            <a:blip r:embed="rId3"/>
            <a:srcRect l="81916"/>
            <a:stretch>
              <a:fillRect/>
            </a:stretch>
          </p:blipFill>
          <p:spPr>
            <a:xfrm>
              <a:off x="2239107" y="3429000"/>
              <a:ext cx="1405596" cy="1044184"/>
            </a:xfrm>
            <a:prstGeom prst="rect">
              <a:avLst/>
            </a:prstGeom>
          </p:spPr>
        </p:pic>
      </p:grpSp>
      <p:sp>
        <p:nvSpPr>
          <p:cNvPr id="18" name="Rounded Rectangle 29">
            <a:extLst>
              <a:ext uri="{FF2B5EF4-FFF2-40B4-BE49-F238E27FC236}">
                <a16:creationId xmlns:a16="http://schemas.microsoft.com/office/drawing/2014/main" id="{17930FC6-DA6D-B19A-0A0A-A79B48B7D69E}"/>
              </a:ext>
            </a:extLst>
          </p:cNvPr>
          <p:cNvSpPr/>
          <p:nvPr/>
        </p:nvSpPr>
        <p:spPr>
          <a:xfrm>
            <a:off x="7610395" y="3290532"/>
            <a:ext cx="4371297" cy="132556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latin typeface="Meiryo"/>
                <a:ea typeface="Meiryo"/>
                <a:cs typeface="Meiryo"/>
              </a:rPr>
              <a:t>収縮力↑→ 立ち上がり勾配↑</a:t>
            </a:r>
            <a:endParaRPr lang="en-US" altLang="ja-JP" sz="2400" b="1" dirty="0">
              <a:solidFill>
                <a:schemeClr val="tx1"/>
              </a:solidFill>
              <a:latin typeface="Meiryo"/>
              <a:ea typeface="Meiryo"/>
              <a:cs typeface="Meiryo"/>
            </a:endParaRPr>
          </a:p>
          <a:p>
            <a:pPr algn="ctr"/>
            <a:r>
              <a:rPr lang="ja-JP" altLang="en-US" sz="2400" b="1">
                <a:solidFill>
                  <a:schemeClr val="tx1"/>
                </a:solidFill>
                <a:latin typeface="Meiryo"/>
                <a:ea typeface="Meiryo"/>
                <a:cs typeface="Meiryo"/>
              </a:rPr>
              <a:t>→ 前進波が早く・尖鋭化</a:t>
            </a:r>
            <a:endParaRPr lang="ja-JP" altLang="en-US" sz="2400" b="1" dirty="0">
              <a:solidFill>
                <a:schemeClr val="tx1"/>
              </a:solidFill>
              <a:latin typeface="Meiryo"/>
              <a:ea typeface="Meiryo"/>
              <a:cs typeface="Meiryo"/>
            </a:endParaRPr>
          </a:p>
        </p:txBody>
      </p:sp>
      <p:sp>
        <p:nvSpPr>
          <p:cNvPr id="19" name="テキスト ボックス 18">
            <a:extLst>
              <a:ext uri="{FF2B5EF4-FFF2-40B4-BE49-F238E27FC236}">
                <a16:creationId xmlns:a16="http://schemas.microsoft.com/office/drawing/2014/main" id="{148B0A2B-1259-1A22-B626-B10B9B6E4E91}"/>
              </a:ext>
            </a:extLst>
          </p:cNvPr>
          <p:cNvSpPr txBox="1"/>
          <p:nvPr/>
        </p:nvSpPr>
        <p:spPr>
          <a:xfrm>
            <a:off x="2101156" y="5386527"/>
            <a:ext cx="7989688" cy="1065676"/>
          </a:xfrm>
          <a:prstGeom prst="rect">
            <a:avLst/>
          </a:prstGeom>
          <a:noFill/>
        </p:spPr>
        <p:txBody>
          <a:bodyPr wrap="none" rtlCol="0">
            <a:spAutoFit/>
          </a:bodyPr>
          <a:lstStyle/>
          <a:p>
            <a:pPr>
              <a:lnSpc>
                <a:spcPct val="150000"/>
              </a:lnSpc>
            </a:pPr>
            <a:r>
              <a:rPr lang="en-US" altLang="ja-JP" sz="2200" dirty="0"/>
              <a:t>PPG</a:t>
            </a:r>
            <a:r>
              <a:rPr lang="ja-JP" altLang="en-US" sz="2200"/>
              <a:t>波形の立ち上がり勾配は末梢血管抵抗にも影響を受ける。</a:t>
            </a:r>
            <a:endParaRPr lang="en-US" altLang="ja-JP" sz="2200" dirty="0"/>
          </a:p>
          <a:p>
            <a:pPr>
              <a:lnSpc>
                <a:spcPct val="150000"/>
              </a:lnSpc>
            </a:pPr>
            <a:r>
              <a:rPr kumimoji="1" lang="ja-JP" altLang="en-US" sz="2200"/>
              <a:t>単一の</a:t>
            </a:r>
            <a:r>
              <a:rPr kumimoji="1" lang="en-US" altLang="ja-JP" sz="2200" dirty="0"/>
              <a:t>PPG</a:t>
            </a:r>
            <a:r>
              <a:rPr kumimoji="1" lang="ja-JP" altLang="en-US" sz="2200"/>
              <a:t>信号から収縮性のみを分離するのは技術的に困難。</a:t>
            </a:r>
          </a:p>
        </p:txBody>
      </p:sp>
      <p:sp>
        <p:nvSpPr>
          <p:cNvPr id="64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13. Pagoulatou 2021　／　14. Piccioli 2022</a:t>
            </a:r>
          </a:p>
        </p:txBody>
      </p:sp>
      <p:sp>
        <p:nvSpPr>
          <p:cNvPr id="64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23/55</a:t>
            </a:r>
          </a:p>
        </p:txBody>
      </p:sp>
    </p:spTree>
    <p:extLst>
      <p:ext uri="{BB962C8B-B14F-4D97-AF65-F5344CB8AC3E}">
        <p14:creationId xmlns:p14="http://schemas.microsoft.com/office/powerpoint/2010/main" val="16623708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2.2.5  心拍数</a:t>
            </a:r>
          </a:p>
        </p:txBody>
      </p:sp>
      <p:sp>
        <p:nvSpPr>
          <p:cNvPr id="13" name="Off-page Connector 4"/>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3" name="図 2">
            <a:extLst>
              <a:ext uri="{FF2B5EF4-FFF2-40B4-BE49-F238E27FC236}">
                <a16:creationId xmlns:a16="http://schemas.microsoft.com/office/drawing/2014/main" id="{4B243921-2DC2-956B-8955-4BE8E945D2FF}"/>
              </a:ext>
            </a:extLst>
          </p:cNvPr>
          <p:cNvPicPr>
            <a:picLocks noChangeAspect="1"/>
          </p:cNvPicPr>
          <p:nvPr/>
        </p:nvPicPr>
        <p:blipFill>
          <a:blip r:embed="rId3"/>
          <a:srcRect l="71670" t="12610"/>
          <a:stretch>
            <a:fillRect/>
          </a:stretch>
        </p:blipFill>
        <p:spPr>
          <a:xfrm>
            <a:off x="2209800" y="1595154"/>
            <a:ext cx="4433712" cy="4041598"/>
          </a:xfrm>
          <a:prstGeom prst="rect">
            <a:avLst/>
          </a:prstGeom>
        </p:spPr>
      </p:pic>
      <p:pic>
        <p:nvPicPr>
          <p:cNvPr id="6" name="図 5">
            <a:extLst>
              <a:ext uri="{FF2B5EF4-FFF2-40B4-BE49-F238E27FC236}">
                <a16:creationId xmlns:a16="http://schemas.microsoft.com/office/drawing/2014/main" id="{0D6441C1-E3C6-DC13-81F3-F5CA72815B3F}"/>
              </a:ext>
            </a:extLst>
          </p:cNvPr>
          <p:cNvPicPr>
            <a:picLocks noChangeAspect="1"/>
          </p:cNvPicPr>
          <p:nvPr/>
        </p:nvPicPr>
        <p:blipFill rotWithShape="1">
          <a:blip r:embed="rId3"/>
          <a:srcRect l="1877" t="44555" r="91446" b="35539"/>
          <a:stretch>
            <a:fillRect/>
          </a:stretch>
        </p:blipFill>
        <p:spPr>
          <a:xfrm>
            <a:off x="838200" y="3397458"/>
            <a:ext cx="1044979" cy="920578"/>
          </a:xfrm>
          <a:prstGeom prst="rect">
            <a:avLst/>
          </a:prstGeom>
        </p:spPr>
      </p:pic>
      <p:sp>
        <p:nvSpPr>
          <p:cNvPr id="9014" name="legend"/>
          <p:cNvSpPr txBox="1"/>
          <p:nvPr/>
        </p:nvSpPr>
        <p:spPr>
          <a:xfrm>
            <a:off x="7950519" y="2317256"/>
            <a:ext cx="3168000" cy="1548000"/>
          </a:xfrm>
          <a:prstGeom prst="rect">
            <a:avLst/>
          </a:prstGeom>
          <a:noFill/>
        </p:spPr>
        <p:txBody>
          <a:bodyPr wrap="square" lIns="0" tIns="0" rIns="0" bIns="0" anchor="t">
            <a:noAutofit/>
          </a:bodyPr>
          <a:lstStyle/>
          <a:p>
            <a:pPr algn="l"/>
            <a:r>
              <a:rPr lang="ja-JP" altLang="en-US" sz="2400" b="1" dirty="0">
                <a:solidFill>
                  <a:srgbClr val="0000FF"/>
                </a:solidFill>
                <a:latin typeface="Meiryo"/>
                <a:ea typeface="Meiryo"/>
                <a:cs typeface="Meiryo"/>
              </a:rPr>
              <a:t>■ </a:t>
            </a:r>
            <a:r>
              <a:rPr lang="ja-JP" altLang="en-US" sz="2400" b="1" dirty="0">
                <a:solidFill>
                  <a:srgbClr val="262626"/>
                </a:solidFill>
                <a:latin typeface="Meiryo"/>
                <a:ea typeface="Meiryo"/>
                <a:cs typeface="Meiryo"/>
              </a:rPr>
              <a:t>高心拍  +1SD</a:t>
            </a:r>
          </a:p>
          <a:p>
            <a:pPr algn="l"/>
            <a:r>
              <a:rPr lang="ja-JP" altLang="en-US" sz="2400" b="1" dirty="0">
                <a:solidFill>
                  <a:srgbClr val="000000"/>
                </a:solidFill>
                <a:latin typeface="Meiryo"/>
                <a:ea typeface="Meiryo"/>
                <a:cs typeface="Meiryo"/>
              </a:rPr>
              <a:t>■ </a:t>
            </a:r>
            <a:r>
              <a:rPr lang="ja-JP" altLang="en-US" sz="2400" b="1" dirty="0">
                <a:solidFill>
                  <a:srgbClr val="262626"/>
                </a:solidFill>
                <a:latin typeface="Meiryo"/>
                <a:ea typeface="Meiryo"/>
                <a:cs typeface="Meiryo"/>
              </a:rPr>
              <a:t>基準</a:t>
            </a:r>
          </a:p>
          <a:p>
            <a:pPr algn="l"/>
            <a:r>
              <a:rPr lang="ja-JP" altLang="en-US" sz="2400" b="1" dirty="0">
                <a:solidFill>
                  <a:srgbClr val="FF0000"/>
                </a:solidFill>
                <a:latin typeface="Meiryo"/>
                <a:ea typeface="Meiryo"/>
                <a:cs typeface="Meiryo"/>
              </a:rPr>
              <a:t>■ </a:t>
            </a:r>
            <a:r>
              <a:rPr lang="ja-JP" altLang="en-US" sz="2400" b="1" dirty="0">
                <a:solidFill>
                  <a:srgbClr val="262626"/>
                </a:solidFill>
                <a:latin typeface="Meiryo"/>
                <a:ea typeface="Meiryo"/>
                <a:cs typeface="Meiryo"/>
              </a:rPr>
              <a:t>低心拍  −1SD</a:t>
            </a:r>
          </a:p>
        </p:txBody>
      </p:sp>
      <p:sp>
        <p:nvSpPr>
          <p:cNvPr id="5" name="cap2">
            <a:extLst>
              <a:ext uri="{FF2B5EF4-FFF2-40B4-BE49-F238E27FC236}">
                <a16:creationId xmlns:a16="http://schemas.microsoft.com/office/drawing/2014/main" id="{E23ACC53-4CC6-9721-14E9-8A78AC97A7BE}"/>
              </a:ext>
            </a:extLst>
          </p:cNvPr>
          <p:cNvSpPr txBox="1"/>
          <p:nvPr/>
        </p:nvSpPr>
        <p:spPr>
          <a:xfrm>
            <a:off x="3927324" y="5209448"/>
            <a:ext cx="11134389" cy="468327"/>
          </a:xfrm>
          <a:prstGeom prst="rect">
            <a:avLst/>
          </a:prstGeom>
          <a:noFill/>
        </p:spPr>
        <p:txBody>
          <a:bodyPr wrap="square" lIns="0" tIns="0" rIns="0" bIns="0" anchor="t">
            <a:noAutofit/>
          </a:bodyPr>
          <a:lstStyle/>
          <a:p>
            <a:pPr algn="ctr"/>
            <a:r>
              <a:rPr lang="ja-JP" altLang="en-US" b="0">
                <a:solidFill>
                  <a:srgbClr val="8C8C8C"/>
                </a:solidFill>
                <a:latin typeface="Meiryo"/>
                <a:ea typeface="Meiryo"/>
                <a:cs typeface="Meiryo"/>
              </a:rPr>
              <a:t>※ 計算モデル</a:t>
            </a:r>
            <a:r>
              <a:rPr lang="ja-JP" altLang="en-US" b="0" dirty="0">
                <a:solidFill>
                  <a:srgbClr val="8C8C8C"/>
                </a:solidFill>
                <a:latin typeface="Meiryo"/>
                <a:ea typeface="Meiryo"/>
                <a:cs typeface="Meiryo"/>
              </a:rPr>
              <a:t>から</a:t>
            </a:r>
            <a:r>
              <a:rPr lang="ja-JP" altLang="en-US" b="0">
                <a:solidFill>
                  <a:srgbClr val="8C8C8C"/>
                </a:solidFill>
                <a:latin typeface="Meiryo"/>
                <a:ea typeface="Meiryo"/>
                <a:cs typeface="Meiryo"/>
              </a:rPr>
              <a:t>の外挿</a:t>
            </a:r>
            <a:endParaRPr lang="ja-JP" altLang="en-US" b="0" dirty="0">
              <a:solidFill>
                <a:srgbClr val="8C8C8C"/>
              </a:solidFill>
              <a:latin typeface="Meiryo"/>
              <a:ea typeface="Meiryo"/>
              <a:cs typeface="Meiryo"/>
            </a:endParaRPr>
          </a:p>
        </p:txBody>
      </p:sp>
      <p:sp>
        <p:nvSpPr>
          <p:cNvPr id="7" name="Rounded Rectangle 29">
            <a:extLst>
              <a:ext uri="{FF2B5EF4-FFF2-40B4-BE49-F238E27FC236}">
                <a16:creationId xmlns:a16="http://schemas.microsoft.com/office/drawing/2014/main" id="{934C5BEC-F28D-9BF0-28B7-FD36A2F15742}"/>
              </a:ext>
            </a:extLst>
          </p:cNvPr>
          <p:cNvSpPr/>
          <p:nvPr/>
        </p:nvSpPr>
        <p:spPr>
          <a:xfrm>
            <a:off x="876000" y="5754806"/>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en-US" altLang="ja-JP" sz="2400" b="1" dirty="0">
                <a:solidFill>
                  <a:schemeClr val="tx1"/>
                </a:solidFill>
              </a:rPr>
              <a:t>HR </a:t>
            </a:r>
            <a:r>
              <a:rPr lang="ja-JP" altLang="en-US" sz="2400" b="1">
                <a:solidFill>
                  <a:schemeClr val="tx1"/>
                </a:solidFill>
              </a:rPr>
              <a:t>↑ → 左室収縮時間</a:t>
            </a:r>
            <a:r>
              <a:rPr lang="en-US" altLang="ja-JP" sz="2400" b="1" dirty="0">
                <a:solidFill>
                  <a:schemeClr val="tx1"/>
                </a:solidFill>
              </a:rPr>
              <a:t> </a:t>
            </a:r>
            <a:r>
              <a:rPr lang="ja-JP" altLang="en-US" sz="2400" b="1">
                <a:solidFill>
                  <a:schemeClr val="tx1"/>
                </a:solidFill>
              </a:rPr>
              <a:t>↓ → 前進波幅</a:t>
            </a:r>
            <a:r>
              <a:rPr lang="en-US" altLang="ja-JP" sz="2400" b="1" dirty="0">
                <a:solidFill>
                  <a:schemeClr val="tx1"/>
                </a:solidFill>
              </a:rPr>
              <a:t> </a:t>
            </a:r>
            <a:r>
              <a:rPr lang="ja-JP" altLang="en-US" sz="2400" b="1">
                <a:solidFill>
                  <a:schemeClr val="tx1"/>
                </a:solidFill>
              </a:rPr>
              <a:t>↓</a:t>
            </a:r>
            <a:r>
              <a:rPr lang="en-US" altLang="ja-JP" sz="2400" b="1" dirty="0">
                <a:solidFill>
                  <a:schemeClr val="tx1"/>
                </a:solidFill>
              </a:rPr>
              <a:t> </a:t>
            </a:r>
            <a:r>
              <a:rPr lang="ja-JP" altLang="en-US" sz="2400" b="1">
                <a:solidFill>
                  <a:schemeClr val="tx1"/>
                </a:solidFill>
              </a:rPr>
              <a:t>→</a:t>
            </a:r>
            <a:r>
              <a:rPr lang="en-US" altLang="ja-JP" sz="2400" b="1" dirty="0">
                <a:solidFill>
                  <a:schemeClr val="tx1"/>
                </a:solidFill>
              </a:rPr>
              <a:t> </a:t>
            </a:r>
            <a:r>
              <a:rPr lang="ja-JP" altLang="en-US" sz="2400" b="1">
                <a:solidFill>
                  <a:schemeClr val="tx1"/>
                </a:solidFill>
              </a:rPr>
              <a:t>反射波振幅</a:t>
            </a:r>
            <a:r>
              <a:rPr lang="en-US" altLang="ja-JP" sz="2400" b="1" dirty="0">
                <a:solidFill>
                  <a:schemeClr val="tx1"/>
                </a:solidFill>
              </a:rPr>
              <a:t> </a:t>
            </a:r>
            <a:r>
              <a:rPr lang="ja-JP" altLang="en-US" sz="2400" b="1">
                <a:solidFill>
                  <a:schemeClr val="tx1"/>
                </a:solidFill>
              </a:rPr>
              <a:t>↓</a:t>
            </a:r>
          </a:p>
        </p:txBody>
      </p:sp>
      <p:sp>
        <p:nvSpPr>
          <p:cNvPr id="901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Wilkinson 2000　／　16. Hashimoto 2002　／　17. Charlton 2019　／　18. Md Lazim 2020</a:t>
            </a:r>
          </a:p>
        </p:txBody>
      </p:sp>
      <p:sp>
        <p:nvSpPr>
          <p:cNvPr id="901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24/55</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2.2.6  波形変化まとめ</a:t>
            </a:r>
          </a:p>
        </p:txBody>
      </p:sp>
      <p:sp>
        <p:nvSpPr>
          <p:cNvPr id="12" name="Off-page Connector 4"/>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18" name="h_因子"/>
          <p:cNvSpPr txBox="1"/>
          <p:nvPr/>
        </p:nvSpPr>
        <p:spPr>
          <a:xfrm>
            <a:off x="548640" y="1793288"/>
            <a:ext cx="2368296" cy="420624"/>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因子</a:t>
            </a:r>
          </a:p>
        </p:txBody>
      </p:sp>
      <p:sp>
        <p:nvSpPr>
          <p:cNvPr id="19" name="h_波形"/>
          <p:cNvSpPr txBox="1"/>
          <p:nvPr/>
        </p:nvSpPr>
        <p:spPr>
          <a:xfrm>
            <a:off x="3054095" y="1834323"/>
            <a:ext cx="2971801" cy="338554"/>
          </a:xfrm>
          <a:prstGeom prst="rect">
            <a:avLst/>
          </a:prstGeom>
          <a:noFill/>
        </p:spPr>
        <p:txBody>
          <a:bodyPr wrap="square" lIns="0" tIns="0" rIns="0" bIns="0" anchor="ctr">
            <a:spAutoFit/>
          </a:bodyPr>
          <a:lstStyle/>
          <a:p>
            <a:pPr algn="ctr"/>
            <a:r>
              <a:rPr sz="2200" b="1" dirty="0" err="1">
                <a:solidFill>
                  <a:srgbClr val="262626"/>
                </a:solidFill>
                <a:latin typeface="Meiryo"/>
                <a:ea typeface="Meiryo"/>
                <a:cs typeface="Meiryo"/>
              </a:rPr>
              <a:t>波形</a:t>
            </a:r>
            <a:r>
              <a:rPr lang="en-US" sz="2200" b="1" dirty="0">
                <a:solidFill>
                  <a:srgbClr val="262626"/>
                </a:solidFill>
                <a:latin typeface="Meiryo"/>
                <a:ea typeface="Meiryo"/>
                <a:cs typeface="Meiryo"/>
              </a:rPr>
              <a:t> </a:t>
            </a:r>
            <a:r>
              <a:rPr lang="en-US" sz="1600" dirty="0">
                <a:solidFill>
                  <a:srgbClr val="262626"/>
                </a:solidFill>
                <a:latin typeface="Meiryo"/>
                <a:ea typeface="Meiryo"/>
                <a:cs typeface="Meiryo"/>
              </a:rPr>
              <a:t>( </a:t>
            </a:r>
            <a:r>
              <a:rPr lang="ja-JP" altLang="en-US" sz="1600" b="1">
                <a:solidFill>
                  <a:srgbClr val="808080"/>
                </a:solidFill>
                <a:latin typeface="Meiryo"/>
                <a:ea typeface="Meiryo"/>
                <a:cs typeface="Meiryo"/>
              </a:rPr>
              <a:t>灰＝基準</a:t>
            </a:r>
            <a:r>
              <a:rPr lang="en-US" altLang="ja-JP" sz="1600" b="1" dirty="0">
                <a:solidFill>
                  <a:srgbClr val="808080"/>
                </a:solidFill>
                <a:latin typeface="Meiryo"/>
                <a:ea typeface="Meiryo"/>
                <a:cs typeface="Meiryo"/>
              </a:rPr>
              <a:t> </a:t>
            </a:r>
            <a:r>
              <a:rPr lang="ja-JP" altLang="en-US" sz="1600" b="1">
                <a:solidFill>
                  <a:srgbClr val="808080"/>
                </a:solidFill>
                <a:latin typeface="Meiryo"/>
                <a:ea typeface="Meiryo"/>
                <a:cs typeface="Meiryo"/>
              </a:rPr>
              <a:t>青＝因子</a:t>
            </a:r>
            <a:r>
              <a:rPr lang="ja-JP" altLang="en-US" sz="1600">
                <a:solidFill>
                  <a:srgbClr val="808080"/>
                </a:solidFill>
                <a:latin typeface="Meiryo"/>
                <a:ea typeface="Meiryo"/>
                <a:cs typeface="Meiryo"/>
              </a:rPr>
              <a:t>↑</a:t>
            </a:r>
            <a:r>
              <a:rPr lang="en-US" altLang="ja-JP" sz="1600" dirty="0">
                <a:solidFill>
                  <a:srgbClr val="262626"/>
                </a:solidFill>
                <a:latin typeface="Meiryo"/>
                <a:ea typeface="Meiryo"/>
                <a:cs typeface="Meiryo"/>
              </a:rPr>
              <a:t>)</a:t>
            </a:r>
            <a:endParaRPr sz="1600" dirty="0">
              <a:solidFill>
                <a:srgbClr val="262626"/>
              </a:solidFill>
              <a:latin typeface="Meiryo"/>
              <a:ea typeface="Meiryo"/>
              <a:cs typeface="Meiryo"/>
            </a:endParaRPr>
          </a:p>
        </p:txBody>
      </p:sp>
      <p:sp>
        <p:nvSpPr>
          <p:cNvPr id="20" name="h_変化"/>
          <p:cNvSpPr txBox="1"/>
          <p:nvPr/>
        </p:nvSpPr>
        <p:spPr>
          <a:xfrm>
            <a:off x="6025896" y="1834323"/>
            <a:ext cx="3291840" cy="338554"/>
          </a:xfrm>
          <a:prstGeom prst="rect">
            <a:avLst/>
          </a:prstGeom>
          <a:noFill/>
        </p:spPr>
        <p:txBody>
          <a:bodyPr wrap="square" lIns="0" tIns="0" rIns="0" bIns="0" anchor="ctr">
            <a:spAutoFit/>
          </a:bodyPr>
          <a:lstStyle/>
          <a:p>
            <a:pPr algn="ctr"/>
            <a:r>
              <a:rPr lang="ja-JP" altLang="en-US" sz="2200" b="1">
                <a:solidFill>
                  <a:srgbClr val="262626"/>
                </a:solidFill>
                <a:latin typeface="Meiryo"/>
                <a:ea typeface="Meiryo"/>
                <a:cs typeface="Meiryo"/>
              </a:rPr>
              <a:t>主な</a:t>
            </a:r>
            <a:r>
              <a:rPr sz="2200" b="1" dirty="0" err="1">
                <a:solidFill>
                  <a:srgbClr val="262626"/>
                </a:solidFill>
                <a:latin typeface="Meiryo"/>
                <a:ea typeface="Meiryo"/>
                <a:cs typeface="Meiryo"/>
              </a:rPr>
              <a:t>変化</a:t>
            </a:r>
            <a:r>
              <a:rPr lang="ja-JP" altLang="en-US" sz="2200" b="1">
                <a:solidFill>
                  <a:srgbClr val="262626"/>
                </a:solidFill>
                <a:latin typeface="Meiryo"/>
                <a:ea typeface="Meiryo"/>
                <a:cs typeface="Meiryo"/>
              </a:rPr>
              <a:t>対象</a:t>
            </a:r>
            <a:endParaRPr sz="2200" b="1" dirty="0">
              <a:solidFill>
                <a:srgbClr val="262626"/>
              </a:solidFill>
              <a:latin typeface="Meiryo"/>
              <a:ea typeface="Meiryo"/>
              <a:cs typeface="Meiryo"/>
            </a:endParaRPr>
          </a:p>
        </p:txBody>
      </p:sp>
      <p:sp>
        <p:nvSpPr>
          <p:cNvPr id="21" name="h_文献強度"/>
          <p:cNvSpPr txBox="1"/>
          <p:nvPr/>
        </p:nvSpPr>
        <p:spPr>
          <a:xfrm>
            <a:off x="9454896" y="1793288"/>
            <a:ext cx="2112264" cy="420624"/>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文献強度</a:t>
            </a:r>
          </a:p>
        </p:txBody>
      </p:sp>
      <p:sp>
        <p:nvSpPr>
          <p:cNvPr id="22" name="f0"/>
          <p:cNvSpPr/>
          <p:nvPr/>
        </p:nvSpPr>
        <p:spPr>
          <a:xfrm>
            <a:off x="548640" y="2287064"/>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前負荷</a:t>
            </a:r>
            <a:r>
              <a:rPr sz="2200" b="1" dirty="0">
                <a:solidFill>
                  <a:srgbClr val="262626"/>
                </a:solidFill>
                <a:latin typeface="Meiryo"/>
                <a:ea typeface="Meiryo"/>
                <a:cs typeface="Meiryo"/>
              </a:rPr>
              <a:t> </a:t>
            </a:r>
          </a:p>
        </p:txBody>
      </p:sp>
      <p:sp>
        <p:nvSpPr>
          <p:cNvPr id="23" name="wbox0"/>
          <p:cNvSpPr/>
          <p:nvPr/>
        </p:nvSpPr>
        <p:spPr>
          <a:xfrm>
            <a:off x="3054096" y="2287064"/>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wbase0"/>
          <p:cNvCxnSpPr/>
          <p:nvPr/>
        </p:nvCxnSpPr>
        <p:spPr>
          <a:xfrm>
            <a:off x="3163824" y="2908856"/>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g0"/>
          <p:cNvSpPr/>
          <p:nvPr/>
        </p:nvSpPr>
        <p:spPr>
          <a:xfrm>
            <a:off x="3163824" y="2529321"/>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c0"/>
          <p:cNvSpPr/>
          <p:nvPr/>
        </p:nvSpPr>
        <p:spPr>
          <a:xfrm>
            <a:off x="3163824" y="2416745"/>
            <a:ext cx="2615184" cy="492111"/>
          </a:xfrm>
          <a:custGeom>
            <a:avLst/>
            <a:gdLst/>
            <a:ahLst/>
            <a:cxnLst/>
            <a:rect l="l" t="t" r="r" b="b"/>
            <a:pathLst>
              <a:path w="2615184" h="492111">
                <a:moveTo>
                  <a:pt x="0" y="491357"/>
                </a:moveTo>
                <a:lnTo>
                  <a:pt x="14610" y="490991"/>
                </a:lnTo>
                <a:lnTo>
                  <a:pt x="29220" y="490468"/>
                </a:lnTo>
                <a:lnTo>
                  <a:pt x="43830" y="489729"/>
                </a:lnTo>
                <a:lnTo>
                  <a:pt x="58440" y="488702"/>
                </a:lnTo>
                <a:lnTo>
                  <a:pt x="73050" y="487293"/>
                </a:lnTo>
                <a:lnTo>
                  <a:pt x="87660" y="485385"/>
                </a:lnTo>
                <a:lnTo>
                  <a:pt x="102270" y="482839"/>
                </a:lnTo>
                <a:lnTo>
                  <a:pt x="116880" y="479487"/>
                </a:lnTo>
                <a:lnTo>
                  <a:pt x="131490" y="475136"/>
                </a:lnTo>
                <a:lnTo>
                  <a:pt x="146100" y="469569"/>
                </a:lnTo>
                <a:lnTo>
                  <a:pt x="160710" y="462547"/>
                </a:lnTo>
                <a:lnTo>
                  <a:pt x="175320" y="453820"/>
                </a:lnTo>
                <a:lnTo>
                  <a:pt x="189930" y="443131"/>
                </a:lnTo>
                <a:lnTo>
                  <a:pt x="204540" y="430235"/>
                </a:lnTo>
                <a:lnTo>
                  <a:pt x="219149" y="414915"/>
                </a:lnTo>
                <a:lnTo>
                  <a:pt x="233759" y="396995"/>
                </a:lnTo>
                <a:lnTo>
                  <a:pt x="248369" y="376369"/>
                </a:lnTo>
                <a:lnTo>
                  <a:pt x="262979" y="353017"/>
                </a:lnTo>
                <a:lnTo>
                  <a:pt x="277589" y="327028"/>
                </a:lnTo>
                <a:lnTo>
                  <a:pt x="292199" y="298611"/>
                </a:lnTo>
                <a:lnTo>
                  <a:pt x="306809" y="268117"/>
                </a:lnTo>
                <a:lnTo>
                  <a:pt x="321419" y="236031"/>
                </a:lnTo>
                <a:lnTo>
                  <a:pt x="336029" y="202979"/>
                </a:lnTo>
                <a:lnTo>
                  <a:pt x="350639" y="169708"/>
                </a:lnTo>
                <a:lnTo>
                  <a:pt x="365249" y="137063"/>
                </a:lnTo>
                <a:lnTo>
                  <a:pt x="379859" y="105957"/>
                </a:lnTo>
                <a:lnTo>
                  <a:pt x="394469" y="77328"/>
                </a:lnTo>
                <a:lnTo>
                  <a:pt x="409079" y="52091"/>
                </a:lnTo>
                <a:lnTo>
                  <a:pt x="423689" y="31095"/>
                </a:lnTo>
                <a:lnTo>
                  <a:pt x="438299" y="15067"/>
                </a:lnTo>
                <a:lnTo>
                  <a:pt x="452909" y="4577"/>
                </a:lnTo>
                <a:lnTo>
                  <a:pt x="467519" y="0"/>
                </a:lnTo>
                <a:lnTo>
                  <a:pt x="482129" y="1493"/>
                </a:lnTo>
                <a:lnTo>
                  <a:pt x="496739" y="8985"/>
                </a:lnTo>
                <a:lnTo>
                  <a:pt x="511349" y="22182"/>
                </a:lnTo>
                <a:lnTo>
                  <a:pt x="525959" y="40581"/>
                </a:lnTo>
                <a:lnTo>
                  <a:pt x="540569" y="63505"/>
                </a:lnTo>
                <a:lnTo>
                  <a:pt x="555179" y="90138"/>
                </a:lnTo>
                <a:lnTo>
                  <a:pt x="569789" y="119573"/>
                </a:lnTo>
                <a:lnTo>
                  <a:pt x="584399" y="150859"/>
                </a:lnTo>
                <a:lnTo>
                  <a:pt x="599009" y="183052"/>
                </a:lnTo>
                <a:lnTo>
                  <a:pt x="613619" y="215254"/>
                </a:lnTo>
                <a:lnTo>
                  <a:pt x="628229" y="246654"/>
                </a:lnTo>
                <a:lnTo>
                  <a:pt x="642839" y="276552"/>
                </a:lnTo>
                <a:lnTo>
                  <a:pt x="657448" y="304383"/>
                </a:lnTo>
                <a:lnTo>
                  <a:pt x="672058" y="329717"/>
                </a:lnTo>
                <a:lnTo>
                  <a:pt x="686668" y="352267"/>
                </a:lnTo>
                <a:lnTo>
                  <a:pt x="701278" y="371874"/>
                </a:lnTo>
                <a:lnTo>
                  <a:pt x="715888" y="388499"/>
                </a:lnTo>
                <a:lnTo>
                  <a:pt x="730498" y="402196"/>
                </a:lnTo>
                <a:lnTo>
                  <a:pt x="745108" y="413101"/>
                </a:lnTo>
                <a:lnTo>
                  <a:pt x="759718" y="421405"/>
                </a:lnTo>
                <a:lnTo>
                  <a:pt x="774328" y="427337"/>
                </a:lnTo>
                <a:lnTo>
                  <a:pt x="788938" y="431146"/>
                </a:lnTo>
                <a:lnTo>
                  <a:pt x="803548" y="433087"/>
                </a:lnTo>
                <a:lnTo>
                  <a:pt x="818158" y="433411"/>
                </a:lnTo>
                <a:lnTo>
                  <a:pt x="832768" y="432355"/>
                </a:lnTo>
                <a:lnTo>
                  <a:pt x="847378" y="430139"/>
                </a:lnTo>
                <a:lnTo>
                  <a:pt x="861988" y="426963"/>
                </a:lnTo>
                <a:lnTo>
                  <a:pt x="876598" y="423006"/>
                </a:lnTo>
                <a:lnTo>
                  <a:pt x="891208" y="418428"/>
                </a:lnTo>
                <a:lnTo>
                  <a:pt x="905818" y="413370"/>
                </a:lnTo>
                <a:lnTo>
                  <a:pt x="920428" y="407959"/>
                </a:lnTo>
                <a:lnTo>
                  <a:pt x="935038" y="402309"/>
                </a:lnTo>
                <a:lnTo>
                  <a:pt x="949648" y="396523"/>
                </a:lnTo>
                <a:lnTo>
                  <a:pt x="964258" y="390697"/>
                </a:lnTo>
                <a:lnTo>
                  <a:pt x="978868" y="384920"/>
                </a:lnTo>
                <a:lnTo>
                  <a:pt x="993478" y="379275"/>
                </a:lnTo>
                <a:lnTo>
                  <a:pt x="1008088" y="373840"/>
                </a:lnTo>
                <a:lnTo>
                  <a:pt x="1022698" y="368690"/>
                </a:lnTo>
                <a:lnTo>
                  <a:pt x="1037308" y="363894"/>
                </a:lnTo>
                <a:lnTo>
                  <a:pt x="1051918" y="359517"/>
                </a:lnTo>
                <a:lnTo>
                  <a:pt x="1066528" y="355618"/>
                </a:lnTo>
                <a:lnTo>
                  <a:pt x="1081138" y="352251"/>
                </a:lnTo>
                <a:lnTo>
                  <a:pt x="1095747" y="349462"/>
                </a:lnTo>
                <a:lnTo>
                  <a:pt x="1110357" y="347290"/>
                </a:lnTo>
                <a:lnTo>
                  <a:pt x="1124967" y="345764"/>
                </a:lnTo>
                <a:lnTo>
                  <a:pt x="1139577" y="344906"/>
                </a:lnTo>
                <a:lnTo>
                  <a:pt x="1154187" y="344729"/>
                </a:lnTo>
                <a:lnTo>
                  <a:pt x="1168797" y="345234"/>
                </a:lnTo>
                <a:lnTo>
                  <a:pt x="1183407" y="346416"/>
                </a:lnTo>
                <a:lnTo>
                  <a:pt x="1198017" y="348257"/>
                </a:lnTo>
                <a:lnTo>
                  <a:pt x="1212627" y="350733"/>
                </a:lnTo>
                <a:lnTo>
                  <a:pt x="1227237" y="353810"/>
                </a:lnTo>
                <a:lnTo>
                  <a:pt x="1241847" y="357446"/>
                </a:lnTo>
                <a:lnTo>
                  <a:pt x="1256457" y="361593"/>
                </a:lnTo>
                <a:lnTo>
                  <a:pt x="1271067" y="366199"/>
                </a:lnTo>
                <a:lnTo>
                  <a:pt x="1285677" y="371205"/>
                </a:lnTo>
                <a:lnTo>
                  <a:pt x="1300287" y="376549"/>
                </a:lnTo>
                <a:lnTo>
                  <a:pt x="1314897" y="382169"/>
                </a:lnTo>
                <a:lnTo>
                  <a:pt x="1329507" y="387999"/>
                </a:lnTo>
                <a:lnTo>
                  <a:pt x="1344117" y="393977"/>
                </a:lnTo>
                <a:lnTo>
                  <a:pt x="1358727" y="400041"/>
                </a:lnTo>
                <a:lnTo>
                  <a:pt x="1373337" y="406129"/>
                </a:lnTo>
                <a:lnTo>
                  <a:pt x="1387947" y="412187"/>
                </a:lnTo>
                <a:lnTo>
                  <a:pt x="1402557" y="418162"/>
                </a:lnTo>
                <a:lnTo>
                  <a:pt x="1417167" y="424007"/>
                </a:lnTo>
                <a:lnTo>
                  <a:pt x="1431777" y="429681"/>
                </a:lnTo>
                <a:lnTo>
                  <a:pt x="1446387" y="435146"/>
                </a:lnTo>
                <a:lnTo>
                  <a:pt x="1460997" y="440375"/>
                </a:lnTo>
                <a:lnTo>
                  <a:pt x="1475607" y="445340"/>
                </a:lnTo>
                <a:lnTo>
                  <a:pt x="1490217" y="450025"/>
                </a:lnTo>
                <a:lnTo>
                  <a:pt x="1504827" y="454417"/>
                </a:lnTo>
                <a:lnTo>
                  <a:pt x="1519437" y="458506"/>
                </a:lnTo>
                <a:lnTo>
                  <a:pt x="1534046" y="462290"/>
                </a:lnTo>
                <a:lnTo>
                  <a:pt x="1548656" y="465771"/>
                </a:lnTo>
                <a:lnTo>
                  <a:pt x="1563266" y="468953"/>
                </a:lnTo>
                <a:lnTo>
                  <a:pt x="1577876" y="471845"/>
                </a:lnTo>
                <a:lnTo>
                  <a:pt x="1592486" y="474458"/>
                </a:lnTo>
                <a:lnTo>
                  <a:pt x="1607096" y="476806"/>
                </a:lnTo>
                <a:lnTo>
                  <a:pt x="1621706" y="478902"/>
                </a:lnTo>
                <a:lnTo>
                  <a:pt x="1636316" y="480764"/>
                </a:lnTo>
                <a:lnTo>
                  <a:pt x="1650926" y="482409"/>
                </a:lnTo>
                <a:lnTo>
                  <a:pt x="1665536" y="483854"/>
                </a:lnTo>
                <a:lnTo>
                  <a:pt x="1680146" y="485116"/>
                </a:lnTo>
                <a:lnTo>
                  <a:pt x="1694756" y="486213"/>
                </a:lnTo>
                <a:lnTo>
                  <a:pt x="1709366" y="487161"/>
                </a:lnTo>
                <a:lnTo>
                  <a:pt x="1723976" y="487975"/>
                </a:lnTo>
                <a:lnTo>
                  <a:pt x="1738586" y="488672"/>
                </a:lnTo>
                <a:lnTo>
                  <a:pt x="1753196" y="489264"/>
                </a:lnTo>
                <a:lnTo>
                  <a:pt x="1767806" y="489766"/>
                </a:lnTo>
                <a:lnTo>
                  <a:pt x="1782416" y="490188"/>
                </a:lnTo>
                <a:lnTo>
                  <a:pt x="1797026" y="490541"/>
                </a:lnTo>
                <a:lnTo>
                  <a:pt x="1811636" y="490836"/>
                </a:lnTo>
                <a:lnTo>
                  <a:pt x="1826246" y="491080"/>
                </a:lnTo>
                <a:lnTo>
                  <a:pt x="1840856" y="491281"/>
                </a:lnTo>
                <a:lnTo>
                  <a:pt x="1855466" y="491446"/>
                </a:lnTo>
                <a:lnTo>
                  <a:pt x="1870076" y="491580"/>
                </a:lnTo>
                <a:lnTo>
                  <a:pt x="1884686" y="491690"/>
                </a:lnTo>
                <a:lnTo>
                  <a:pt x="1899296" y="491778"/>
                </a:lnTo>
                <a:lnTo>
                  <a:pt x="1913906" y="491849"/>
                </a:lnTo>
                <a:lnTo>
                  <a:pt x="1928516" y="491906"/>
                </a:lnTo>
                <a:lnTo>
                  <a:pt x="1943126" y="491951"/>
                </a:lnTo>
                <a:lnTo>
                  <a:pt x="1957736" y="491987"/>
                </a:lnTo>
                <a:lnTo>
                  <a:pt x="1972345" y="492015"/>
                </a:lnTo>
                <a:lnTo>
                  <a:pt x="1986955" y="492038"/>
                </a:lnTo>
                <a:lnTo>
                  <a:pt x="2001565" y="492055"/>
                </a:lnTo>
                <a:lnTo>
                  <a:pt x="2016175" y="492068"/>
                </a:lnTo>
                <a:lnTo>
                  <a:pt x="2030785" y="492079"/>
                </a:lnTo>
                <a:lnTo>
                  <a:pt x="2045395" y="492087"/>
                </a:lnTo>
                <a:lnTo>
                  <a:pt x="2060005" y="492093"/>
                </a:lnTo>
                <a:lnTo>
                  <a:pt x="2074615" y="492097"/>
                </a:lnTo>
                <a:lnTo>
                  <a:pt x="2089225" y="492101"/>
                </a:lnTo>
                <a:lnTo>
                  <a:pt x="2103835" y="492103"/>
                </a:lnTo>
                <a:lnTo>
                  <a:pt x="2118445" y="492105"/>
                </a:lnTo>
                <a:lnTo>
                  <a:pt x="2133055" y="492107"/>
                </a:lnTo>
                <a:lnTo>
                  <a:pt x="2147665" y="492108"/>
                </a:lnTo>
                <a:lnTo>
                  <a:pt x="2162275" y="492109"/>
                </a:lnTo>
                <a:lnTo>
                  <a:pt x="2176885" y="492109"/>
                </a:lnTo>
                <a:lnTo>
                  <a:pt x="2191495" y="492110"/>
                </a:lnTo>
                <a:lnTo>
                  <a:pt x="2206105" y="492110"/>
                </a:lnTo>
                <a:lnTo>
                  <a:pt x="2220715" y="492110"/>
                </a:lnTo>
                <a:lnTo>
                  <a:pt x="2235325" y="492111"/>
                </a:lnTo>
                <a:lnTo>
                  <a:pt x="2249935" y="492111"/>
                </a:lnTo>
                <a:lnTo>
                  <a:pt x="2264545" y="492111"/>
                </a:lnTo>
                <a:lnTo>
                  <a:pt x="2279155" y="492111"/>
                </a:lnTo>
                <a:lnTo>
                  <a:pt x="2293765" y="492111"/>
                </a:lnTo>
                <a:lnTo>
                  <a:pt x="2308375" y="492111"/>
                </a:lnTo>
                <a:lnTo>
                  <a:pt x="2322985" y="492111"/>
                </a:lnTo>
                <a:lnTo>
                  <a:pt x="2337595" y="492111"/>
                </a:lnTo>
                <a:lnTo>
                  <a:pt x="2352205" y="492111"/>
                </a:lnTo>
                <a:lnTo>
                  <a:pt x="2366815" y="492111"/>
                </a:lnTo>
                <a:lnTo>
                  <a:pt x="2381425" y="492111"/>
                </a:lnTo>
                <a:lnTo>
                  <a:pt x="2396035" y="492111"/>
                </a:lnTo>
                <a:lnTo>
                  <a:pt x="2410644" y="492111"/>
                </a:lnTo>
                <a:lnTo>
                  <a:pt x="2425254" y="492111"/>
                </a:lnTo>
                <a:lnTo>
                  <a:pt x="2439864" y="492111"/>
                </a:lnTo>
                <a:lnTo>
                  <a:pt x="2454474" y="492111"/>
                </a:lnTo>
                <a:lnTo>
                  <a:pt x="2469084" y="492111"/>
                </a:lnTo>
                <a:lnTo>
                  <a:pt x="2483694" y="492111"/>
                </a:lnTo>
                <a:lnTo>
                  <a:pt x="2498304" y="492111"/>
                </a:lnTo>
                <a:lnTo>
                  <a:pt x="2512914" y="492111"/>
                </a:lnTo>
                <a:lnTo>
                  <a:pt x="2527524" y="492111"/>
                </a:lnTo>
                <a:lnTo>
                  <a:pt x="2542134" y="492111"/>
                </a:lnTo>
                <a:lnTo>
                  <a:pt x="2556744" y="492111"/>
                </a:lnTo>
                <a:lnTo>
                  <a:pt x="2571354" y="492111"/>
                </a:lnTo>
                <a:lnTo>
                  <a:pt x="2585964" y="492111"/>
                </a:lnTo>
                <a:lnTo>
                  <a:pt x="2600574" y="492111"/>
                </a:lnTo>
                <a:lnTo>
                  <a:pt x="2615184" y="492111"/>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m0"/>
          <p:cNvSpPr txBox="1"/>
          <p:nvPr/>
        </p:nvSpPr>
        <p:spPr>
          <a:xfrm>
            <a:off x="6025896" y="2456115"/>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全体の</a:t>
            </a:r>
            <a:r>
              <a:rPr sz="2200" b="1" dirty="0" err="1">
                <a:solidFill>
                  <a:srgbClr val="262626"/>
                </a:solidFill>
                <a:latin typeface="Meiryo"/>
                <a:ea typeface="Meiryo"/>
                <a:cs typeface="Meiryo"/>
              </a:rPr>
              <a:t>振幅</a:t>
            </a:r>
            <a:endParaRPr sz="2200" b="1" dirty="0">
              <a:solidFill>
                <a:srgbClr val="262626"/>
              </a:solidFill>
              <a:latin typeface="Meiryo"/>
              <a:ea typeface="Meiryo"/>
              <a:cs typeface="Meiryo"/>
            </a:endParaRPr>
          </a:p>
        </p:txBody>
      </p:sp>
      <p:sp>
        <p:nvSpPr>
          <p:cNvPr id="26" name="g0"/>
          <p:cNvSpPr/>
          <p:nvPr/>
        </p:nvSpPr>
        <p:spPr>
          <a:xfrm>
            <a:off x="9454896" y="2287064"/>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a:t>
            </a:r>
          </a:p>
        </p:txBody>
      </p:sp>
      <p:sp>
        <p:nvSpPr>
          <p:cNvPr id="27" name="f1"/>
          <p:cNvSpPr/>
          <p:nvPr/>
        </p:nvSpPr>
        <p:spPr>
          <a:xfrm>
            <a:off x="548640" y="3036872"/>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大血管の硬さ</a:t>
            </a:r>
            <a:r>
              <a:rPr sz="2200" b="1" dirty="0">
                <a:solidFill>
                  <a:srgbClr val="262626"/>
                </a:solidFill>
                <a:latin typeface="Meiryo"/>
                <a:ea typeface="Meiryo"/>
                <a:cs typeface="Meiryo"/>
              </a:rPr>
              <a:t> </a:t>
            </a:r>
          </a:p>
        </p:txBody>
      </p:sp>
      <p:sp>
        <p:nvSpPr>
          <p:cNvPr id="28" name="wbox1"/>
          <p:cNvSpPr/>
          <p:nvPr/>
        </p:nvSpPr>
        <p:spPr>
          <a:xfrm>
            <a:off x="3054096" y="3036872"/>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wbase1"/>
          <p:cNvCxnSpPr/>
          <p:nvPr/>
        </p:nvCxnSpPr>
        <p:spPr>
          <a:xfrm>
            <a:off x="3163824" y="3658664"/>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5" name="wg1"/>
          <p:cNvSpPr/>
          <p:nvPr/>
        </p:nvSpPr>
        <p:spPr>
          <a:xfrm>
            <a:off x="3163824" y="3279129"/>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wc1"/>
          <p:cNvSpPr/>
          <p:nvPr/>
        </p:nvSpPr>
        <p:spPr>
          <a:xfrm>
            <a:off x="3163824" y="3212402"/>
            <a:ext cx="2615184" cy="446262"/>
          </a:xfrm>
          <a:custGeom>
            <a:avLst/>
            <a:gdLst/>
            <a:ahLst/>
            <a:cxnLst/>
            <a:rect l="l" t="t" r="r" b="b"/>
            <a:pathLst>
              <a:path w="2615184" h="446262">
                <a:moveTo>
                  <a:pt x="0" y="444703"/>
                </a:moveTo>
                <a:lnTo>
                  <a:pt x="14610" y="444146"/>
                </a:lnTo>
                <a:lnTo>
                  <a:pt x="29220" y="443398"/>
                </a:lnTo>
                <a:lnTo>
                  <a:pt x="43830" y="442402"/>
                </a:lnTo>
                <a:lnTo>
                  <a:pt x="58440" y="441086"/>
                </a:lnTo>
                <a:lnTo>
                  <a:pt x="73050" y="439363"/>
                </a:lnTo>
                <a:lnTo>
                  <a:pt x="87660" y="437130"/>
                </a:lnTo>
                <a:lnTo>
                  <a:pt x="102270" y="434263"/>
                </a:lnTo>
                <a:lnTo>
                  <a:pt x="116880" y="430623"/>
                </a:lnTo>
                <a:lnTo>
                  <a:pt x="131490" y="426052"/>
                </a:lnTo>
                <a:lnTo>
                  <a:pt x="146100" y="420378"/>
                </a:lnTo>
                <a:lnTo>
                  <a:pt x="160710" y="413419"/>
                </a:lnTo>
                <a:lnTo>
                  <a:pt x="175320" y="404989"/>
                </a:lnTo>
                <a:lnTo>
                  <a:pt x="189930" y="394905"/>
                </a:lnTo>
                <a:lnTo>
                  <a:pt x="204540" y="382999"/>
                </a:lnTo>
                <a:lnTo>
                  <a:pt x="219149" y="369128"/>
                </a:lnTo>
                <a:lnTo>
                  <a:pt x="233759" y="353191"/>
                </a:lnTo>
                <a:lnTo>
                  <a:pt x="248369" y="335135"/>
                </a:lnTo>
                <a:lnTo>
                  <a:pt x="262979" y="314976"/>
                </a:lnTo>
                <a:lnTo>
                  <a:pt x="277589" y="292808"/>
                </a:lnTo>
                <a:lnTo>
                  <a:pt x="292199" y="268811"/>
                </a:lnTo>
                <a:lnTo>
                  <a:pt x="306809" y="243256"/>
                </a:lnTo>
                <a:lnTo>
                  <a:pt x="321419" y="216510"/>
                </a:lnTo>
                <a:lnTo>
                  <a:pt x="336029" y="189026"/>
                </a:lnTo>
                <a:lnTo>
                  <a:pt x="350639" y="161335"/>
                </a:lnTo>
                <a:lnTo>
                  <a:pt x="365249" y="134030"/>
                </a:lnTo>
                <a:lnTo>
                  <a:pt x="379859" y="107740"/>
                </a:lnTo>
                <a:lnTo>
                  <a:pt x="394469" y="83107"/>
                </a:lnTo>
                <a:lnTo>
                  <a:pt x="409079" y="60755"/>
                </a:lnTo>
                <a:lnTo>
                  <a:pt x="423689" y="41258"/>
                </a:lnTo>
                <a:lnTo>
                  <a:pt x="438299" y="25115"/>
                </a:lnTo>
                <a:lnTo>
                  <a:pt x="452909" y="12719"/>
                </a:lnTo>
                <a:lnTo>
                  <a:pt x="467519" y="4339"/>
                </a:lnTo>
                <a:lnTo>
                  <a:pt x="482129" y="104"/>
                </a:lnTo>
                <a:lnTo>
                  <a:pt x="496739" y="0"/>
                </a:lnTo>
                <a:lnTo>
                  <a:pt x="511349" y="3868"/>
                </a:lnTo>
                <a:lnTo>
                  <a:pt x="525959" y="11417"/>
                </a:lnTo>
                <a:lnTo>
                  <a:pt x="540569" y="22245"/>
                </a:lnTo>
                <a:lnTo>
                  <a:pt x="555179" y="35855"/>
                </a:lnTo>
                <a:lnTo>
                  <a:pt x="569789" y="51693"/>
                </a:lnTo>
                <a:lnTo>
                  <a:pt x="584399" y="69168"/>
                </a:lnTo>
                <a:lnTo>
                  <a:pt x="599009" y="87691"/>
                </a:lnTo>
                <a:lnTo>
                  <a:pt x="613619" y="106696"/>
                </a:lnTo>
                <a:lnTo>
                  <a:pt x="628229" y="125667"/>
                </a:lnTo>
                <a:lnTo>
                  <a:pt x="642839" y="144158"/>
                </a:lnTo>
                <a:lnTo>
                  <a:pt x="657448" y="161803"/>
                </a:lnTo>
                <a:lnTo>
                  <a:pt x="672058" y="178326"/>
                </a:lnTo>
                <a:lnTo>
                  <a:pt x="686668" y="193539"/>
                </a:lnTo>
                <a:lnTo>
                  <a:pt x="701278" y="207342"/>
                </a:lnTo>
                <a:lnTo>
                  <a:pt x="715888" y="219709"/>
                </a:lnTo>
                <a:lnTo>
                  <a:pt x="730498" y="230685"/>
                </a:lnTo>
                <a:lnTo>
                  <a:pt x="745108" y="240364"/>
                </a:lnTo>
                <a:lnTo>
                  <a:pt x="759718" y="248882"/>
                </a:lnTo>
                <a:lnTo>
                  <a:pt x="774328" y="256399"/>
                </a:lnTo>
                <a:lnTo>
                  <a:pt x="788938" y="263087"/>
                </a:lnTo>
                <a:lnTo>
                  <a:pt x="803548" y="269123"/>
                </a:lnTo>
                <a:lnTo>
                  <a:pt x="818158" y="274673"/>
                </a:lnTo>
                <a:lnTo>
                  <a:pt x="832768" y="279893"/>
                </a:lnTo>
                <a:lnTo>
                  <a:pt x="847378" y="284917"/>
                </a:lnTo>
                <a:lnTo>
                  <a:pt x="861988" y="289859"/>
                </a:lnTo>
                <a:lnTo>
                  <a:pt x="876598" y="294810"/>
                </a:lnTo>
                <a:lnTo>
                  <a:pt x="891208" y="299838"/>
                </a:lnTo>
                <a:lnTo>
                  <a:pt x="905818" y="304989"/>
                </a:lnTo>
                <a:lnTo>
                  <a:pt x="920428" y="310291"/>
                </a:lnTo>
                <a:lnTo>
                  <a:pt x="935038" y="315754"/>
                </a:lnTo>
                <a:lnTo>
                  <a:pt x="949648" y="321374"/>
                </a:lnTo>
                <a:lnTo>
                  <a:pt x="964258" y="327135"/>
                </a:lnTo>
                <a:lnTo>
                  <a:pt x="978868" y="333013"/>
                </a:lnTo>
                <a:lnTo>
                  <a:pt x="993478" y="338977"/>
                </a:lnTo>
                <a:lnTo>
                  <a:pt x="1008088" y="344991"/>
                </a:lnTo>
                <a:lnTo>
                  <a:pt x="1022698" y="351017"/>
                </a:lnTo>
                <a:lnTo>
                  <a:pt x="1037308" y="357016"/>
                </a:lnTo>
                <a:lnTo>
                  <a:pt x="1051918" y="362951"/>
                </a:lnTo>
                <a:lnTo>
                  <a:pt x="1066528" y="368785"/>
                </a:lnTo>
                <a:lnTo>
                  <a:pt x="1081138" y="374484"/>
                </a:lnTo>
                <a:lnTo>
                  <a:pt x="1095747" y="380017"/>
                </a:lnTo>
                <a:lnTo>
                  <a:pt x="1110357" y="385357"/>
                </a:lnTo>
                <a:lnTo>
                  <a:pt x="1124967" y="390481"/>
                </a:lnTo>
                <a:lnTo>
                  <a:pt x="1139577" y="395370"/>
                </a:lnTo>
                <a:lnTo>
                  <a:pt x="1154187" y="400009"/>
                </a:lnTo>
                <a:lnTo>
                  <a:pt x="1168797" y="404386"/>
                </a:lnTo>
                <a:lnTo>
                  <a:pt x="1183407" y="408495"/>
                </a:lnTo>
                <a:lnTo>
                  <a:pt x="1198017" y="412331"/>
                </a:lnTo>
                <a:lnTo>
                  <a:pt x="1212627" y="415895"/>
                </a:lnTo>
                <a:lnTo>
                  <a:pt x="1227237" y="419189"/>
                </a:lnTo>
                <a:lnTo>
                  <a:pt x="1241847" y="422219"/>
                </a:lnTo>
                <a:lnTo>
                  <a:pt x="1256457" y="424991"/>
                </a:lnTo>
                <a:lnTo>
                  <a:pt x="1271067" y="427517"/>
                </a:lnTo>
                <a:lnTo>
                  <a:pt x="1285677" y="429806"/>
                </a:lnTo>
                <a:lnTo>
                  <a:pt x="1300287" y="431871"/>
                </a:lnTo>
                <a:lnTo>
                  <a:pt x="1314897" y="433725"/>
                </a:lnTo>
                <a:lnTo>
                  <a:pt x="1329507" y="435382"/>
                </a:lnTo>
                <a:lnTo>
                  <a:pt x="1344117" y="436857"/>
                </a:lnTo>
                <a:lnTo>
                  <a:pt x="1358727" y="438163"/>
                </a:lnTo>
                <a:lnTo>
                  <a:pt x="1373337" y="439314"/>
                </a:lnTo>
                <a:lnTo>
                  <a:pt x="1387947" y="440325"/>
                </a:lnTo>
                <a:lnTo>
                  <a:pt x="1402557" y="441208"/>
                </a:lnTo>
                <a:lnTo>
                  <a:pt x="1417167" y="441977"/>
                </a:lnTo>
                <a:lnTo>
                  <a:pt x="1431777" y="442642"/>
                </a:lnTo>
                <a:lnTo>
                  <a:pt x="1446387" y="443216"/>
                </a:lnTo>
                <a:lnTo>
                  <a:pt x="1460997" y="443709"/>
                </a:lnTo>
                <a:lnTo>
                  <a:pt x="1475607" y="444130"/>
                </a:lnTo>
                <a:lnTo>
                  <a:pt x="1490217" y="444489"/>
                </a:lnTo>
                <a:lnTo>
                  <a:pt x="1504827" y="444793"/>
                </a:lnTo>
                <a:lnTo>
                  <a:pt x="1519437" y="445049"/>
                </a:lnTo>
                <a:lnTo>
                  <a:pt x="1534046" y="445265"/>
                </a:lnTo>
                <a:lnTo>
                  <a:pt x="1548656" y="445445"/>
                </a:lnTo>
                <a:lnTo>
                  <a:pt x="1563266" y="445596"/>
                </a:lnTo>
                <a:lnTo>
                  <a:pt x="1577876" y="445720"/>
                </a:lnTo>
                <a:lnTo>
                  <a:pt x="1592486" y="445823"/>
                </a:lnTo>
                <a:lnTo>
                  <a:pt x="1607096" y="445908"/>
                </a:lnTo>
                <a:lnTo>
                  <a:pt x="1621706" y="445978"/>
                </a:lnTo>
                <a:lnTo>
                  <a:pt x="1636316" y="446035"/>
                </a:lnTo>
                <a:lnTo>
                  <a:pt x="1650926" y="446081"/>
                </a:lnTo>
                <a:lnTo>
                  <a:pt x="1665536" y="446118"/>
                </a:lnTo>
                <a:lnTo>
                  <a:pt x="1680146" y="446148"/>
                </a:lnTo>
                <a:lnTo>
                  <a:pt x="1694756" y="446172"/>
                </a:lnTo>
                <a:lnTo>
                  <a:pt x="1709366" y="446192"/>
                </a:lnTo>
                <a:lnTo>
                  <a:pt x="1723976" y="446207"/>
                </a:lnTo>
                <a:lnTo>
                  <a:pt x="1738586" y="446219"/>
                </a:lnTo>
                <a:lnTo>
                  <a:pt x="1753196" y="446229"/>
                </a:lnTo>
                <a:lnTo>
                  <a:pt x="1767806" y="446236"/>
                </a:lnTo>
                <a:lnTo>
                  <a:pt x="1782416" y="446242"/>
                </a:lnTo>
                <a:lnTo>
                  <a:pt x="1797026" y="446247"/>
                </a:lnTo>
                <a:lnTo>
                  <a:pt x="1811636" y="446250"/>
                </a:lnTo>
                <a:lnTo>
                  <a:pt x="1826246" y="446253"/>
                </a:lnTo>
                <a:lnTo>
                  <a:pt x="1840856" y="446255"/>
                </a:lnTo>
                <a:lnTo>
                  <a:pt x="1855466" y="446257"/>
                </a:lnTo>
                <a:lnTo>
                  <a:pt x="1870076" y="446258"/>
                </a:lnTo>
                <a:lnTo>
                  <a:pt x="1884686" y="446259"/>
                </a:lnTo>
                <a:lnTo>
                  <a:pt x="1899296" y="446260"/>
                </a:lnTo>
                <a:lnTo>
                  <a:pt x="1913906" y="446260"/>
                </a:lnTo>
                <a:lnTo>
                  <a:pt x="1928516" y="446261"/>
                </a:lnTo>
                <a:lnTo>
                  <a:pt x="1943126" y="446261"/>
                </a:lnTo>
                <a:lnTo>
                  <a:pt x="1957736" y="446261"/>
                </a:lnTo>
                <a:lnTo>
                  <a:pt x="1972345" y="446262"/>
                </a:lnTo>
                <a:lnTo>
                  <a:pt x="1986955" y="446262"/>
                </a:lnTo>
                <a:lnTo>
                  <a:pt x="2001565" y="446262"/>
                </a:lnTo>
                <a:lnTo>
                  <a:pt x="2016175" y="446262"/>
                </a:lnTo>
                <a:lnTo>
                  <a:pt x="2030785" y="446262"/>
                </a:lnTo>
                <a:lnTo>
                  <a:pt x="2045395" y="446262"/>
                </a:lnTo>
                <a:lnTo>
                  <a:pt x="2060005" y="446262"/>
                </a:lnTo>
                <a:lnTo>
                  <a:pt x="2074615" y="446262"/>
                </a:lnTo>
                <a:lnTo>
                  <a:pt x="2089225" y="446262"/>
                </a:lnTo>
                <a:lnTo>
                  <a:pt x="2103835" y="446262"/>
                </a:lnTo>
                <a:lnTo>
                  <a:pt x="2118445" y="446262"/>
                </a:lnTo>
                <a:lnTo>
                  <a:pt x="2133055" y="446262"/>
                </a:lnTo>
                <a:lnTo>
                  <a:pt x="2147665" y="446262"/>
                </a:lnTo>
                <a:lnTo>
                  <a:pt x="2162275" y="446262"/>
                </a:lnTo>
                <a:lnTo>
                  <a:pt x="2176885" y="446262"/>
                </a:lnTo>
                <a:lnTo>
                  <a:pt x="2191495" y="446262"/>
                </a:lnTo>
                <a:lnTo>
                  <a:pt x="2206105" y="446262"/>
                </a:lnTo>
                <a:lnTo>
                  <a:pt x="2220715" y="446262"/>
                </a:lnTo>
                <a:lnTo>
                  <a:pt x="2235325" y="446262"/>
                </a:lnTo>
                <a:lnTo>
                  <a:pt x="2249935" y="446262"/>
                </a:lnTo>
                <a:lnTo>
                  <a:pt x="2264545" y="446262"/>
                </a:lnTo>
                <a:lnTo>
                  <a:pt x="2279155" y="446262"/>
                </a:lnTo>
                <a:lnTo>
                  <a:pt x="2293765" y="446262"/>
                </a:lnTo>
                <a:lnTo>
                  <a:pt x="2308375" y="446262"/>
                </a:lnTo>
                <a:lnTo>
                  <a:pt x="2322985" y="446262"/>
                </a:lnTo>
                <a:lnTo>
                  <a:pt x="2337595" y="446262"/>
                </a:lnTo>
                <a:lnTo>
                  <a:pt x="2352205" y="446262"/>
                </a:lnTo>
                <a:lnTo>
                  <a:pt x="2366815" y="446262"/>
                </a:lnTo>
                <a:lnTo>
                  <a:pt x="2381425" y="446262"/>
                </a:lnTo>
                <a:lnTo>
                  <a:pt x="2396035" y="446262"/>
                </a:lnTo>
                <a:lnTo>
                  <a:pt x="2410644" y="446262"/>
                </a:lnTo>
                <a:lnTo>
                  <a:pt x="2425254" y="446262"/>
                </a:lnTo>
                <a:lnTo>
                  <a:pt x="2439864" y="446262"/>
                </a:lnTo>
                <a:lnTo>
                  <a:pt x="2454474" y="446262"/>
                </a:lnTo>
                <a:lnTo>
                  <a:pt x="2469084" y="446262"/>
                </a:lnTo>
                <a:lnTo>
                  <a:pt x="2483694" y="446262"/>
                </a:lnTo>
                <a:lnTo>
                  <a:pt x="2498304" y="446262"/>
                </a:lnTo>
                <a:lnTo>
                  <a:pt x="2512914" y="446262"/>
                </a:lnTo>
                <a:lnTo>
                  <a:pt x="2527524" y="446262"/>
                </a:lnTo>
                <a:lnTo>
                  <a:pt x="2542134" y="446262"/>
                </a:lnTo>
                <a:lnTo>
                  <a:pt x="2556744" y="446262"/>
                </a:lnTo>
                <a:lnTo>
                  <a:pt x="2571354" y="446262"/>
                </a:lnTo>
                <a:lnTo>
                  <a:pt x="2585964" y="446262"/>
                </a:lnTo>
                <a:lnTo>
                  <a:pt x="2600574" y="446262"/>
                </a:lnTo>
                <a:lnTo>
                  <a:pt x="2615184" y="446262"/>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m1"/>
          <p:cNvSpPr txBox="1"/>
          <p:nvPr/>
        </p:nvSpPr>
        <p:spPr>
          <a:xfrm>
            <a:off x="6025896" y="3205923"/>
            <a:ext cx="3291840" cy="338554"/>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反射波</a:t>
            </a:r>
            <a:r>
              <a:rPr lang="ja-JP" altLang="en-US" sz="2200" b="1">
                <a:solidFill>
                  <a:srgbClr val="262626"/>
                </a:solidFill>
                <a:latin typeface="Meiryo"/>
                <a:ea typeface="Meiryo"/>
                <a:cs typeface="Meiryo"/>
              </a:rPr>
              <a:t>の時相</a:t>
            </a:r>
            <a:endParaRPr sz="2200" b="1" dirty="0">
              <a:solidFill>
                <a:srgbClr val="262626"/>
              </a:solidFill>
              <a:latin typeface="Meiryo"/>
              <a:ea typeface="Meiryo"/>
              <a:cs typeface="Meiryo"/>
            </a:endParaRPr>
          </a:p>
        </p:txBody>
      </p:sp>
      <p:sp>
        <p:nvSpPr>
          <p:cNvPr id="31" name="g1"/>
          <p:cNvSpPr/>
          <p:nvPr/>
        </p:nvSpPr>
        <p:spPr>
          <a:xfrm>
            <a:off x="9454896" y="3036872"/>
            <a:ext cx="2112264" cy="676656"/>
          </a:xfrm>
          <a:prstGeom prst="roundRect">
            <a:avLst>
              <a:gd name="adj" fmla="val 40000"/>
            </a:avLst>
          </a:prstGeom>
          <a:solidFill>
            <a:srgbClr val="BF90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実測+モデル</a:t>
            </a:r>
          </a:p>
        </p:txBody>
      </p:sp>
      <p:sp>
        <p:nvSpPr>
          <p:cNvPr id="32" name="f2"/>
          <p:cNvSpPr/>
          <p:nvPr/>
        </p:nvSpPr>
        <p:spPr>
          <a:xfrm>
            <a:off x="548640" y="3786680"/>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末梢トーヌス</a:t>
            </a:r>
            <a:r>
              <a:rPr sz="2200" b="1" dirty="0">
                <a:solidFill>
                  <a:srgbClr val="262626"/>
                </a:solidFill>
                <a:latin typeface="Meiryo"/>
                <a:ea typeface="Meiryo"/>
                <a:cs typeface="Meiryo"/>
              </a:rPr>
              <a:t> </a:t>
            </a:r>
          </a:p>
        </p:txBody>
      </p:sp>
      <p:sp>
        <p:nvSpPr>
          <p:cNvPr id="33" name="wbox2"/>
          <p:cNvSpPr/>
          <p:nvPr/>
        </p:nvSpPr>
        <p:spPr>
          <a:xfrm>
            <a:off x="3054096" y="3786680"/>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wbase2"/>
          <p:cNvCxnSpPr/>
          <p:nvPr/>
        </p:nvCxnSpPr>
        <p:spPr>
          <a:xfrm>
            <a:off x="3163824" y="4408472"/>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7" name="wg2"/>
          <p:cNvSpPr/>
          <p:nvPr/>
        </p:nvSpPr>
        <p:spPr>
          <a:xfrm>
            <a:off x="3163824" y="4028937"/>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c2"/>
          <p:cNvSpPr/>
          <p:nvPr/>
        </p:nvSpPr>
        <p:spPr>
          <a:xfrm>
            <a:off x="3163824" y="4028338"/>
            <a:ext cx="2615184" cy="380134"/>
          </a:xfrm>
          <a:custGeom>
            <a:avLst/>
            <a:gdLst/>
            <a:ahLst/>
            <a:cxnLst/>
            <a:rect l="l" t="t" r="r" b="b"/>
            <a:pathLst>
              <a:path w="2615184" h="380134">
                <a:moveTo>
                  <a:pt x="0" y="379554"/>
                </a:moveTo>
                <a:lnTo>
                  <a:pt x="14610" y="379272"/>
                </a:lnTo>
                <a:lnTo>
                  <a:pt x="29220" y="378869"/>
                </a:lnTo>
                <a:lnTo>
                  <a:pt x="43830" y="378301"/>
                </a:lnTo>
                <a:lnTo>
                  <a:pt x="58440" y="377511"/>
                </a:lnTo>
                <a:lnTo>
                  <a:pt x="73050" y="376426"/>
                </a:lnTo>
                <a:lnTo>
                  <a:pt x="87660" y="374958"/>
                </a:lnTo>
                <a:lnTo>
                  <a:pt x="102270" y="372999"/>
                </a:lnTo>
                <a:lnTo>
                  <a:pt x="116880" y="370419"/>
                </a:lnTo>
                <a:lnTo>
                  <a:pt x="131490" y="367071"/>
                </a:lnTo>
                <a:lnTo>
                  <a:pt x="146100" y="362787"/>
                </a:lnTo>
                <a:lnTo>
                  <a:pt x="160710" y="357383"/>
                </a:lnTo>
                <a:lnTo>
                  <a:pt x="175320" y="350666"/>
                </a:lnTo>
                <a:lnTo>
                  <a:pt x="189930" y="342440"/>
                </a:lnTo>
                <a:lnTo>
                  <a:pt x="204540" y="332515"/>
                </a:lnTo>
                <a:lnTo>
                  <a:pt x="219149" y="320722"/>
                </a:lnTo>
                <a:lnTo>
                  <a:pt x="233759" y="306929"/>
                </a:lnTo>
                <a:lnTo>
                  <a:pt x="248369" y="291051"/>
                </a:lnTo>
                <a:lnTo>
                  <a:pt x="262979" y="273072"/>
                </a:lnTo>
                <a:lnTo>
                  <a:pt x="277589" y="253061"/>
                </a:lnTo>
                <a:lnTo>
                  <a:pt x="292199" y="231177"/>
                </a:lnTo>
                <a:lnTo>
                  <a:pt x="306809" y="207689"/>
                </a:lnTo>
                <a:lnTo>
                  <a:pt x="321419" y="182968"/>
                </a:lnTo>
                <a:lnTo>
                  <a:pt x="336029" y="157495"/>
                </a:lnTo>
                <a:lnTo>
                  <a:pt x="350639" y="131841"/>
                </a:lnTo>
                <a:lnTo>
                  <a:pt x="365249" y="106655"/>
                </a:lnTo>
                <a:lnTo>
                  <a:pt x="379859" y="82636"/>
                </a:lnTo>
                <a:lnTo>
                  <a:pt x="394469" y="60501"/>
                </a:lnTo>
                <a:lnTo>
                  <a:pt x="409079" y="40952"/>
                </a:lnTo>
                <a:lnTo>
                  <a:pt x="423689" y="24636"/>
                </a:lnTo>
                <a:lnTo>
                  <a:pt x="438299" y="12109"/>
                </a:lnTo>
                <a:lnTo>
                  <a:pt x="452909" y="3803"/>
                </a:lnTo>
                <a:lnTo>
                  <a:pt x="467519" y="0"/>
                </a:lnTo>
                <a:lnTo>
                  <a:pt x="482129" y="816"/>
                </a:lnTo>
                <a:lnTo>
                  <a:pt x="496739" y="6187"/>
                </a:lnTo>
                <a:lnTo>
                  <a:pt x="511349" y="15880"/>
                </a:lnTo>
                <a:lnTo>
                  <a:pt x="525959" y="29500"/>
                </a:lnTo>
                <a:lnTo>
                  <a:pt x="540569" y="46517"/>
                </a:lnTo>
                <a:lnTo>
                  <a:pt x="555179" y="66294"/>
                </a:lnTo>
                <a:lnTo>
                  <a:pt x="569789" y="88124"/>
                </a:lnTo>
                <a:lnTo>
                  <a:pt x="584399" y="111268"/>
                </a:lnTo>
                <a:lnTo>
                  <a:pt x="599009" y="134988"/>
                </a:lnTo>
                <a:lnTo>
                  <a:pt x="613619" y="158587"/>
                </a:lnTo>
                <a:lnTo>
                  <a:pt x="628229" y="181431"/>
                </a:lnTo>
                <a:lnTo>
                  <a:pt x="642839" y="202976"/>
                </a:lnTo>
                <a:lnTo>
                  <a:pt x="657448" y="222781"/>
                </a:lnTo>
                <a:lnTo>
                  <a:pt x="672058" y="240511"/>
                </a:lnTo>
                <a:lnTo>
                  <a:pt x="686668" y="255943"/>
                </a:lnTo>
                <a:lnTo>
                  <a:pt x="701278" y="268955"/>
                </a:lnTo>
                <a:lnTo>
                  <a:pt x="715888" y="279519"/>
                </a:lnTo>
                <a:lnTo>
                  <a:pt x="730498" y="287682"/>
                </a:lnTo>
                <a:lnTo>
                  <a:pt x="745108" y="293557"/>
                </a:lnTo>
                <a:lnTo>
                  <a:pt x="759718" y="297302"/>
                </a:lnTo>
                <a:lnTo>
                  <a:pt x="774328" y="299108"/>
                </a:lnTo>
                <a:lnTo>
                  <a:pt x="788938" y="299185"/>
                </a:lnTo>
                <a:lnTo>
                  <a:pt x="803548" y="297751"/>
                </a:lnTo>
                <a:lnTo>
                  <a:pt x="818158" y="295025"/>
                </a:lnTo>
                <a:lnTo>
                  <a:pt x="832768" y="291216"/>
                </a:lnTo>
                <a:lnTo>
                  <a:pt x="847378" y="286526"/>
                </a:lnTo>
                <a:lnTo>
                  <a:pt x="861988" y="281140"/>
                </a:lnTo>
                <a:lnTo>
                  <a:pt x="876598" y="275231"/>
                </a:lnTo>
                <a:lnTo>
                  <a:pt x="891208" y="268959"/>
                </a:lnTo>
                <a:lnTo>
                  <a:pt x="905818" y="262470"/>
                </a:lnTo>
                <a:lnTo>
                  <a:pt x="920428" y="255896"/>
                </a:lnTo>
                <a:lnTo>
                  <a:pt x="935038" y="249362"/>
                </a:lnTo>
                <a:lnTo>
                  <a:pt x="949648" y="242980"/>
                </a:lnTo>
                <a:lnTo>
                  <a:pt x="964258" y="236856"/>
                </a:lnTo>
                <a:lnTo>
                  <a:pt x="978868" y="231084"/>
                </a:lnTo>
                <a:lnTo>
                  <a:pt x="993478" y="225753"/>
                </a:lnTo>
                <a:lnTo>
                  <a:pt x="1008088" y="220942"/>
                </a:lnTo>
                <a:lnTo>
                  <a:pt x="1022698" y="216721"/>
                </a:lnTo>
                <a:lnTo>
                  <a:pt x="1037308" y="213153"/>
                </a:lnTo>
                <a:lnTo>
                  <a:pt x="1051918" y="210289"/>
                </a:lnTo>
                <a:lnTo>
                  <a:pt x="1066528" y="208171"/>
                </a:lnTo>
                <a:lnTo>
                  <a:pt x="1081138" y="206830"/>
                </a:lnTo>
                <a:lnTo>
                  <a:pt x="1095747" y="206285"/>
                </a:lnTo>
                <a:lnTo>
                  <a:pt x="1110357" y="206545"/>
                </a:lnTo>
                <a:lnTo>
                  <a:pt x="1124967" y="207606"/>
                </a:lnTo>
                <a:lnTo>
                  <a:pt x="1139577" y="209455"/>
                </a:lnTo>
                <a:lnTo>
                  <a:pt x="1154187" y="212065"/>
                </a:lnTo>
                <a:lnTo>
                  <a:pt x="1168797" y="215402"/>
                </a:lnTo>
                <a:lnTo>
                  <a:pt x="1183407" y="219420"/>
                </a:lnTo>
                <a:lnTo>
                  <a:pt x="1198017" y="224066"/>
                </a:lnTo>
                <a:lnTo>
                  <a:pt x="1212627" y="229279"/>
                </a:lnTo>
                <a:lnTo>
                  <a:pt x="1227237" y="234994"/>
                </a:lnTo>
                <a:lnTo>
                  <a:pt x="1241847" y="241139"/>
                </a:lnTo>
                <a:lnTo>
                  <a:pt x="1256457" y="247640"/>
                </a:lnTo>
                <a:lnTo>
                  <a:pt x="1271067" y="254422"/>
                </a:lnTo>
                <a:lnTo>
                  <a:pt x="1285677" y="261409"/>
                </a:lnTo>
                <a:lnTo>
                  <a:pt x="1300287" y="268527"/>
                </a:lnTo>
                <a:lnTo>
                  <a:pt x="1314897" y="275704"/>
                </a:lnTo>
                <a:lnTo>
                  <a:pt x="1329507" y="282872"/>
                </a:lnTo>
                <a:lnTo>
                  <a:pt x="1344117" y="289968"/>
                </a:lnTo>
                <a:lnTo>
                  <a:pt x="1358727" y="296933"/>
                </a:lnTo>
                <a:lnTo>
                  <a:pt x="1373337" y="303715"/>
                </a:lnTo>
                <a:lnTo>
                  <a:pt x="1387947" y="310270"/>
                </a:lnTo>
                <a:lnTo>
                  <a:pt x="1402557" y="316558"/>
                </a:lnTo>
                <a:lnTo>
                  <a:pt x="1417167" y="322548"/>
                </a:lnTo>
                <a:lnTo>
                  <a:pt x="1431777" y="328215"/>
                </a:lnTo>
                <a:lnTo>
                  <a:pt x="1446387" y="333542"/>
                </a:lnTo>
                <a:lnTo>
                  <a:pt x="1460997" y="338515"/>
                </a:lnTo>
                <a:lnTo>
                  <a:pt x="1475607" y="343130"/>
                </a:lnTo>
                <a:lnTo>
                  <a:pt x="1490217" y="347385"/>
                </a:lnTo>
                <a:lnTo>
                  <a:pt x="1504827" y="351286"/>
                </a:lnTo>
                <a:lnTo>
                  <a:pt x="1519437" y="354839"/>
                </a:lnTo>
                <a:lnTo>
                  <a:pt x="1534046" y="358057"/>
                </a:lnTo>
                <a:lnTo>
                  <a:pt x="1548656" y="360956"/>
                </a:lnTo>
                <a:lnTo>
                  <a:pt x="1563266" y="363551"/>
                </a:lnTo>
                <a:lnTo>
                  <a:pt x="1577876" y="365861"/>
                </a:lnTo>
                <a:lnTo>
                  <a:pt x="1592486" y="367906"/>
                </a:lnTo>
                <a:lnTo>
                  <a:pt x="1607096" y="369707"/>
                </a:lnTo>
                <a:lnTo>
                  <a:pt x="1621706" y="371283"/>
                </a:lnTo>
                <a:lnTo>
                  <a:pt x="1636316" y="372656"/>
                </a:lnTo>
                <a:lnTo>
                  <a:pt x="1650926" y="373846"/>
                </a:lnTo>
                <a:lnTo>
                  <a:pt x="1665536" y="374870"/>
                </a:lnTo>
                <a:lnTo>
                  <a:pt x="1680146" y="375748"/>
                </a:lnTo>
                <a:lnTo>
                  <a:pt x="1694756" y="376497"/>
                </a:lnTo>
                <a:lnTo>
                  <a:pt x="1709366" y="377132"/>
                </a:lnTo>
                <a:lnTo>
                  <a:pt x="1723976" y="377667"/>
                </a:lnTo>
                <a:lnTo>
                  <a:pt x="1738586" y="378116"/>
                </a:lnTo>
                <a:lnTo>
                  <a:pt x="1753196" y="378492"/>
                </a:lnTo>
                <a:lnTo>
                  <a:pt x="1767806" y="378803"/>
                </a:lnTo>
                <a:lnTo>
                  <a:pt x="1782416" y="379061"/>
                </a:lnTo>
                <a:lnTo>
                  <a:pt x="1797026" y="379272"/>
                </a:lnTo>
                <a:lnTo>
                  <a:pt x="1811636" y="379445"/>
                </a:lnTo>
                <a:lnTo>
                  <a:pt x="1826246" y="379586"/>
                </a:lnTo>
                <a:lnTo>
                  <a:pt x="1840856" y="379700"/>
                </a:lnTo>
                <a:lnTo>
                  <a:pt x="1855466" y="379792"/>
                </a:lnTo>
                <a:lnTo>
                  <a:pt x="1870076" y="379866"/>
                </a:lnTo>
                <a:lnTo>
                  <a:pt x="1884686" y="379925"/>
                </a:lnTo>
                <a:lnTo>
                  <a:pt x="1899296" y="379971"/>
                </a:lnTo>
                <a:lnTo>
                  <a:pt x="1913906" y="380008"/>
                </a:lnTo>
                <a:lnTo>
                  <a:pt x="1928516" y="380037"/>
                </a:lnTo>
                <a:lnTo>
                  <a:pt x="1943126" y="380060"/>
                </a:lnTo>
                <a:lnTo>
                  <a:pt x="1957736" y="380077"/>
                </a:lnTo>
                <a:lnTo>
                  <a:pt x="1972345" y="380091"/>
                </a:lnTo>
                <a:lnTo>
                  <a:pt x="1986955" y="380102"/>
                </a:lnTo>
                <a:lnTo>
                  <a:pt x="2001565" y="380110"/>
                </a:lnTo>
                <a:lnTo>
                  <a:pt x="2016175" y="380116"/>
                </a:lnTo>
                <a:lnTo>
                  <a:pt x="2030785" y="380120"/>
                </a:lnTo>
                <a:lnTo>
                  <a:pt x="2045395" y="380124"/>
                </a:lnTo>
                <a:lnTo>
                  <a:pt x="2060005" y="380127"/>
                </a:lnTo>
                <a:lnTo>
                  <a:pt x="2074615" y="380129"/>
                </a:lnTo>
                <a:lnTo>
                  <a:pt x="2089225" y="380130"/>
                </a:lnTo>
                <a:lnTo>
                  <a:pt x="2103835" y="380131"/>
                </a:lnTo>
                <a:lnTo>
                  <a:pt x="2118445" y="380132"/>
                </a:lnTo>
                <a:lnTo>
                  <a:pt x="2133055" y="380132"/>
                </a:lnTo>
                <a:lnTo>
                  <a:pt x="2147665" y="380133"/>
                </a:lnTo>
                <a:lnTo>
                  <a:pt x="2162275" y="380133"/>
                </a:lnTo>
                <a:lnTo>
                  <a:pt x="2176885" y="380133"/>
                </a:lnTo>
                <a:lnTo>
                  <a:pt x="2191495" y="380134"/>
                </a:lnTo>
                <a:lnTo>
                  <a:pt x="2206105" y="380134"/>
                </a:lnTo>
                <a:lnTo>
                  <a:pt x="2220715" y="380134"/>
                </a:lnTo>
                <a:lnTo>
                  <a:pt x="2235325" y="380134"/>
                </a:lnTo>
                <a:lnTo>
                  <a:pt x="2249935" y="380134"/>
                </a:lnTo>
                <a:lnTo>
                  <a:pt x="2264545" y="380134"/>
                </a:lnTo>
                <a:lnTo>
                  <a:pt x="2279155" y="380134"/>
                </a:lnTo>
                <a:lnTo>
                  <a:pt x="2293765" y="380134"/>
                </a:lnTo>
                <a:lnTo>
                  <a:pt x="2308375" y="380134"/>
                </a:lnTo>
                <a:lnTo>
                  <a:pt x="2322985" y="380134"/>
                </a:lnTo>
                <a:lnTo>
                  <a:pt x="2337595" y="380134"/>
                </a:lnTo>
                <a:lnTo>
                  <a:pt x="2352205" y="380134"/>
                </a:lnTo>
                <a:lnTo>
                  <a:pt x="2366815" y="380134"/>
                </a:lnTo>
                <a:lnTo>
                  <a:pt x="2381425" y="380134"/>
                </a:lnTo>
                <a:lnTo>
                  <a:pt x="2396035" y="380134"/>
                </a:lnTo>
                <a:lnTo>
                  <a:pt x="2410644" y="380134"/>
                </a:lnTo>
                <a:lnTo>
                  <a:pt x="2425254" y="380134"/>
                </a:lnTo>
                <a:lnTo>
                  <a:pt x="2439864" y="380134"/>
                </a:lnTo>
                <a:lnTo>
                  <a:pt x="2454474" y="380134"/>
                </a:lnTo>
                <a:lnTo>
                  <a:pt x="2469084" y="380134"/>
                </a:lnTo>
                <a:lnTo>
                  <a:pt x="2483694" y="380134"/>
                </a:lnTo>
                <a:lnTo>
                  <a:pt x="2498304" y="380134"/>
                </a:lnTo>
                <a:lnTo>
                  <a:pt x="2512914" y="380134"/>
                </a:lnTo>
                <a:lnTo>
                  <a:pt x="2527524" y="380134"/>
                </a:lnTo>
                <a:lnTo>
                  <a:pt x="2542134" y="380134"/>
                </a:lnTo>
                <a:lnTo>
                  <a:pt x="2556744" y="380134"/>
                </a:lnTo>
                <a:lnTo>
                  <a:pt x="2571354" y="380134"/>
                </a:lnTo>
                <a:lnTo>
                  <a:pt x="2585964" y="380134"/>
                </a:lnTo>
                <a:lnTo>
                  <a:pt x="2600574" y="380134"/>
                </a:lnTo>
                <a:lnTo>
                  <a:pt x="2615184" y="380134"/>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m2"/>
          <p:cNvSpPr txBox="1"/>
          <p:nvPr/>
        </p:nvSpPr>
        <p:spPr>
          <a:xfrm>
            <a:off x="6025896" y="3955731"/>
            <a:ext cx="3291840" cy="338554"/>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反射波</a:t>
            </a:r>
            <a:r>
              <a:rPr lang="ja-JP" altLang="en-US" sz="2200" b="1">
                <a:solidFill>
                  <a:srgbClr val="262626"/>
                </a:solidFill>
                <a:latin typeface="Meiryo"/>
                <a:ea typeface="Meiryo"/>
                <a:cs typeface="Meiryo"/>
              </a:rPr>
              <a:t>の振幅</a:t>
            </a:r>
            <a:endParaRPr sz="2200" b="1" dirty="0">
              <a:solidFill>
                <a:srgbClr val="262626"/>
              </a:solidFill>
              <a:latin typeface="Meiryo"/>
              <a:ea typeface="Meiryo"/>
              <a:cs typeface="Meiryo"/>
            </a:endParaRPr>
          </a:p>
        </p:txBody>
      </p:sp>
      <p:sp>
        <p:nvSpPr>
          <p:cNvPr id="36" name="g2"/>
          <p:cNvSpPr/>
          <p:nvPr/>
        </p:nvSpPr>
        <p:spPr>
          <a:xfrm>
            <a:off x="9454896" y="3786680"/>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a:t>
            </a:r>
          </a:p>
        </p:txBody>
      </p:sp>
      <p:sp>
        <p:nvSpPr>
          <p:cNvPr id="37" name="f3"/>
          <p:cNvSpPr/>
          <p:nvPr/>
        </p:nvSpPr>
        <p:spPr>
          <a:xfrm>
            <a:off x="548640" y="4536488"/>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心収縮力</a:t>
            </a:r>
            <a:r>
              <a:rPr sz="2200" b="1" dirty="0">
                <a:solidFill>
                  <a:srgbClr val="262626"/>
                </a:solidFill>
                <a:latin typeface="Meiryo"/>
                <a:ea typeface="Meiryo"/>
                <a:cs typeface="Meiryo"/>
              </a:rPr>
              <a:t> </a:t>
            </a:r>
          </a:p>
        </p:txBody>
      </p:sp>
      <p:sp>
        <p:nvSpPr>
          <p:cNvPr id="38" name="wbox3"/>
          <p:cNvSpPr/>
          <p:nvPr/>
        </p:nvSpPr>
        <p:spPr>
          <a:xfrm>
            <a:off x="3054096" y="4536488"/>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wbase3"/>
          <p:cNvCxnSpPr/>
          <p:nvPr/>
        </p:nvCxnSpPr>
        <p:spPr>
          <a:xfrm>
            <a:off x="3163824" y="5158280"/>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9" name="wg3"/>
          <p:cNvSpPr/>
          <p:nvPr/>
        </p:nvSpPr>
        <p:spPr>
          <a:xfrm>
            <a:off x="3163824" y="4778745"/>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wc3"/>
          <p:cNvSpPr/>
          <p:nvPr/>
        </p:nvSpPr>
        <p:spPr>
          <a:xfrm>
            <a:off x="3163824" y="4722504"/>
            <a:ext cx="2615184" cy="435776"/>
          </a:xfrm>
          <a:custGeom>
            <a:avLst/>
            <a:gdLst/>
            <a:ahLst/>
            <a:cxnLst/>
            <a:rect l="l" t="t" r="r" b="b"/>
            <a:pathLst>
              <a:path w="2615184" h="435776">
                <a:moveTo>
                  <a:pt x="0" y="435629"/>
                </a:moveTo>
                <a:lnTo>
                  <a:pt x="14610" y="435522"/>
                </a:lnTo>
                <a:lnTo>
                  <a:pt x="29220" y="435346"/>
                </a:lnTo>
                <a:lnTo>
                  <a:pt x="43830" y="435060"/>
                </a:lnTo>
                <a:lnTo>
                  <a:pt x="58440" y="434608"/>
                </a:lnTo>
                <a:lnTo>
                  <a:pt x="73050" y="433906"/>
                </a:lnTo>
                <a:lnTo>
                  <a:pt x="87660" y="432840"/>
                </a:lnTo>
                <a:lnTo>
                  <a:pt x="102270" y="431255"/>
                </a:lnTo>
                <a:lnTo>
                  <a:pt x="116880" y="428948"/>
                </a:lnTo>
                <a:lnTo>
                  <a:pt x="131490" y="425664"/>
                </a:lnTo>
                <a:lnTo>
                  <a:pt x="146100" y="421089"/>
                </a:lnTo>
                <a:lnTo>
                  <a:pt x="160710" y="414855"/>
                </a:lnTo>
                <a:lnTo>
                  <a:pt x="175320" y="406551"/>
                </a:lnTo>
                <a:lnTo>
                  <a:pt x="189930" y="395739"/>
                </a:lnTo>
                <a:lnTo>
                  <a:pt x="204540" y="381985"/>
                </a:lnTo>
                <a:lnTo>
                  <a:pt x="219149" y="364902"/>
                </a:lnTo>
                <a:lnTo>
                  <a:pt x="233759" y="344195"/>
                </a:lnTo>
                <a:lnTo>
                  <a:pt x="248369" y="319723"/>
                </a:lnTo>
                <a:lnTo>
                  <a:pt x="262979" y="291550"/>
                </a:lnTo>
                <a:lnTo>
                  <a:pt x="277589" y="259997"/>
                </a:lnTo>
                <a:lnTo>
                  <a:pt x="292199" y="225677"/>
                </a:lnTo>
                <a:lnTo>
                  <a:pt x="306809" y="189500"/>
                </a:lnTo>
                <a:lnTo>
                  <a:pt x="321419" y="152663"/>
                </a:lnTo>
                <a:lnTo>
                  <a:pt x="336029" y="116593"/>
                </a:lnTo>
                <a:lnTo>
                  <a:pt x="350639" y="82863"/>
                </a:lnTo>
                <a:lnTo>
                  <a:pt x="365249" y="53086"/>
                </a:lnTo>
                <a:lnTo>
                  <a:pt x="379859" y="28785"/>
                </a:lnTo>
                <a:lnTo>
                  <a:pt x="394469" y="11263"/>
                </a:lnTo>
                <a:lnTo>
                  <a:pt x="409079" y="1488"/>
                </a:lnTo>
                <a:lnTo>
                  <a:pt x="423689" y="0"/>
                </a:lnTo>
                <a:lnTo>
                  <a:pt x="438299" y="6858"/>
                </a:lnTo>
                <a:lnTo>
                  <a:pt x="452909" y="21639"/>
                </a:lnTo>
                <a:lnTo>
                  <a:pt x="467519" y="43470"/>
                </a:lnTo>
                <a:lnTo>
                  <a:pt x="482129" y="71115"/>
                </a:lnTo>
                <a:lnTo>
                  <a:pt x="496739" y="103083"/>
                </a:lnTo>
                <a:lnTo>
                  <a:pt x="511349" y="137758"/>
                </a:lnTo>
                <a:lnTo>
                  <a:pt x="525959" y="173526"/>
                </a:lnTo>
                <a:lnTo>
                  <a:pt x="540569" y="208893"/>
                </a:lnTo>
                <a:lnTo>
                  <a:pt x="555179" y="242576"/>
                </a:lnTo>
                <a:lnTo>
                  <a:pt x="569789" y="273565"/>
                </a:lnTo>
                <a:lnTo>
                  <a:pt x="584399" y="301148"/>
                </a:lnTo>
                <a:lnTo>
                  <a:pt x="599009" y="324911"/>
                </a:lnTo>
                <a:lnTo>
                  <a:pt x="613619" y="344709"/>
                </a:lnTo>
                <a:lnTo>
                  <a:pt x="628229" y="360620"/>
                </a:lnTo>
                <a:lnTo>
                  <a:pt x="642839" y="372891"/>
                </a:lnTo>
                <a:lnTo>
                  <a:pt x="657448" y="381880"/>
                </a:lnTo>
                <a:lnTo>
                  <a:pt x="672058" y="388007"/>
                </a:lnTo>
                <a:lnTo>
                  <a:pt x="686668" y="391710"/>
                </a:lnTo>
                <a:lnTo>
                  <a:pt x="701278" y="393411"/>
                </a:lnTo>
                <a:lnTo>
                  <a:pt x="715888" y="393495"/>
                </a:lnTo>
                <a:lnTo>
                  <a:pt x="730498" y="392301"/>
                </a:lnTo>
                <a:lnTo>
                  <a:pt x="745108" y="390113"/>
                </a:lnTo>
                <a:lnTo>
                  <a:pt x="759718" y="387164"/>
                </a:lnTo>
                <a:lnTo>
                  <a:pt x="774328" y="383644"/>
                </a:lnTo>
                <a:lnTo>
                  <a:pt x="788938" y="379704"/>
                </a:lnTo>
                <a:lnTo>
                  <a:pt x="803548" y="375464"/>
                </a:lnTo>
                <a:lnTo>
                  <a:pt x="818158" y="371025"/>
                </a:lnTo>
                <a:lnTo>
                  <a:pt x="832768" y="366468"/>
                </a:lnTo>
                <a:lnTo>
                  <a:pt x="847378" y="361866"/>
                </a:lnTo>
                <a:lnTo>
                  <a:pt x="861988" y="357281"/>
                </a:lnTo>
                <a:lnTo>
                  <a:pt x="876598" y="352774"/>
                </a:lnTo>
                <a:lnTo>
                  <a:pt x="891208" y="348401"/>
                </a:lnTo>
                <a:lnTo>
                  <a:pt x="905818" y="344215"/>
                </a:lnTo>
                <a:lnTo>
                  <a:pt x="920428" y="340270"/>
                </a:lnTo>
                <a:lnTo>
                  <a:pt x="935038" y="336613"/>
                </a:lnTo>
                <a:lnTo>
                  <a:pt x="949648" y="333292"/>
                </a:lnTo>
                <a:lnTo>
                  <a:pt x="964258" y="330349"/>
                </a:lnTo>
                <a:lnTo>
                  <a:pt x="978868" y="327824"/>
                </a:lnTo>
                <a:lnTo>
                  <a:pt x="993478" y="325750"/>
                </a:lnTo>
                <a:lnTo>
                  <a:pt x="1008088" y="324155"/>
                </a:lnTo>
                <a:lnTo>
                  <a:pt x="1022698" y="323062"/>
                </a:lnTo>
                <a:lnTo>
                  <a:pt x="1037308" y="322485"/>
                </a:lnTo>
                <a:lnTo>
                  <a:pt x="1051918" y="322432"/>
                </a:lnTo>
                <a:lnTo>
                  <a:pt x="1066528" y="322905"/>
                </a:lnTo>
                <a:lnTo>
                  <a:pt x="1081138" y="323896"/>
                </a:lnTo>
                <a:lnTo>
                  <a:pt x="1095747" y="325392"/>
                </a:lnTo>
                <a:lnTo>
                  <a:pt x="1110357" y="327372"/>
                </a:lnTo>
                <a:lnTo>
                  <a:pt x="1124967" y="329810"/>
                </a:lnTo>
                <a:lnTo>
                  <a:pt x="1139577" y="332672"/>
                </a:lnTo>
                <a:lnTo>
                  <a:pt x="1154187" y="335922"/>
                </a:lnTo>
                <a:lnTo>
                  <a:pt x="1168797" y="339517"/>
                </a:lnTo>
                <a:lnTo>
                  <a:pt x="1183407" y="343413"/>
                </a:lnTo>
                <a:lnTo>
                  <a:pt x="1198017" y="347561"/>
                </a:lnTo>
                <a:lnTo>
                  <a:pt x="1212627" y="351913"/>
                </a:lnTo>
                <a:lnTo>
                  <a:pt x="1227237" y="356420"/>
                </a:lnTo>
                <a:lnTo>
                  <a:pt x="1241847" y="361032"/>
                </a:lnTo>
                <a:lnTo>
                  <a:pt x="1256457" y="365702"/>
                </a:lnTo>
                <a:lnTo>
                  <a:pt x="1271067" y="370384"/>
                </a:lnTo>
                <a:lnTo>
                  <a:pt x="1285677" y="375037"/>
                </a:lnTo>
                <a:lnTo>
                  <a:pt x="1300287" y="379619"/>
                </a:lnTo>
                <a:lnTo>
                  <a:pt x="1314897" y="384096"/>
                </a:lnTo>
                <a:lnTo>
                  <a:pt x="1329507" y="388437"/>
                </a:lnTo>
                <a:lnTo>
                  <a:pt x="1344117" y="392613"/>
                </a:lnTo>
                <a:lnTo>
                  <a:pt x="1358727" y="396604"/>
                </a:lnTo>
                <a:lnTo>
                  <a:pt x="1373337" y="400390"/>
                </a:lnTo>
                <a:lnTo>
                  <a:pt x="1387947" y="403958"/>
                </a:lnTo>
                <a:lnTo>
                  <a:pt x="1402557" y="407299"/>
                </a:lnTo>
                <a:lnTo>
                  <a:pt x="1417167" y="410407"/>
                </a:lnTo>
                <a:lnTo>
                  <a:pt x="1431777" y="413281"/>
                </a:lnTo>
                <a:lnTo>
                  <a:pt x="1446387" y="415921"/>
                </a:lnTo>
                <a:lnTo>
                  <a:pt x="1460997" y="418333"/>
                </a:lnTo>
                <a:lnTo>
                  <a:pt x="1475607" y="420523"/>
                </a:lnTo>
                <a:lnTo>
                  <a:pt x="1490217" y="422499"/>
                </a:lnTo>
                <a:lnTo>
                  <a:pt x="1504827" y="424273"/>
                </a:lnTo>
                <a:lnTo>
                  <a:pt x="1519437" y="425856"/>
                </a:lnTo>
                <a:lnTo>
                  <a:pt x="1534046" y="427261"/>
                </a:lnTo>
                <a:lnTo>
                  <a:pt x="1548656" y="428501"/>
                </a:lnTo>
                <a:lnTo>
                  <a:pt x="1563266" y="429589"/>
                </a:lnTo>
                <a:lnTo>
                  <a:pt x="1577876" y="430539"/>
                </a:lnTo>
                <a:lnTo>
                  <a:pt x="1592486" y="431363"/>
                </a:lnTo>
                <a:lnTo>
                  <a:pt x="1607096" y="432075"/>
                </a:lnTo>
                <a:lnTo>
                  <a:pt x="1621706" y="432686"/>
                </a:lnTo>
                <a:lnTo>
                  <a:pt x="1636316" y="433209"/>
                </a:lnTo>
                <a:lnTo>
                  <a:pt x="1650926" y="433653"/>
                </a:lnTo>
                <a:lnTo>
                  <a:pt x="1665536" y="434028"/>
                </a:lnTo>
                <a:lnTo>
                  <a:pt x="1680146" y="434343"/>
                </a:lnTo>
                <a:lnTo>
                  <a:pt x="1694756" y="434608"/>
                </a:lnTo>
                <a:lnTo>
                  <a:pt x="1709366" y="434827"/>
                </a:lnTo>
                <a:lnTo>
                  <a:pt x="1723976" y="435009"/>
                </a:lnTo>
                <a:lnTo>
                  <a:pt x="1738586" y="435159"/>
                </a:lnTo>
                <a:lnTo>
                  <a:pt x="1753196" y="435282"/>
                </a:lnTo>
                <a:lnTo>
                  <a:pt x="1767806" y="435383"/>
                </a:lnTo>
                <a:lnTo>
                  <a:pt x="1782416" y="435464"/>
                </a:lnTo>
                <a:lnTo>
                  <a:pt x="1797026" y="435530"/>
                </a:lnTo>
                <a:lnTo>
                  <a:pt x="1811636" y="435582"/>
                </a:lnTo>
                <a:lnTo>
                  <a:pt x="1826246" y="435624"/>
                </a:lnTo>
                <a:lnTo>
                  <a:pt x="1840856" y="435658"/>
                </a:lnTo>
                <a:lnTo>
                  <a:pt x="1855466" y="435685"/>
                </a:lnTo>
                <a:lnTo>
                  <a:pt x="1870076" y="435705"/>
                </a:lnTo>
                <a:lnTo>
                  <a:pt x="1884686" y="435722"/>
                </a:lnTo>
                <a:lnTo>
                  <a:pt x="1899296" y="435735"/>
                </a:lnTo>
                <a:lnTo>
                  <a:pt x="1913906" y="435745"/>
                </a:lnTo>
                <a:lnTo>
                  <a:pt x="1928516" y="435752"/>
                </a:lnTo>
                <a:lnTo>
                  <a:pt x="1943126" y="435758"/>
                </a:lnTo>
                <a:lnTo>
                  <a:pt x="1957736" y="435763"/>
                </a:lnTo>
                <a:lnTo>
                  <a:pt x="1972345" y="435766"/>
                </a:lnTo>
                <a:lnTo>
                  <a:pt x="1986955" y="435769"/>
                </a:lnTo>
                <a:lnTo>
                  <a:pt x="2001565" y="435770"/>
                </a:lnTo>
                <a:lnTo>
                  <a:pt x="2016175" y="435772"/>
                </a:lnTo>
                <a:lnTo>
                  <a:pt x="2030785" y="435773"/>
                </a:lnTo>
                <a:lnTo>
                  <a:pt x="2045395" y="435774"/>
                </a:lnTo>
                <a:lnTo>
                  <a:pt x="2060005" y="435774"/>
                </a:lnTo>
                <a:lnTo>
                  <a:pt x="2074615" y="435775"/>
                </a:lnTo>
                <a:lnTo>
                  <a:pt x="2089225" y="435775"/>
                </a:lnTo>
                <a:lnTo>
                  <a:pt x="2103835" y="435775"/>
                </a:lnTo>
                <a:lnTo>
                  <a:pt x="2118445" y="435776"/>
                </a:lnTo>
                <a:lnTo>
                  <a:pt x="2133055" y="435776"/>
                </a:lnTo>
                <a:lnTo>
                  <a:pt x="2147665" y="435776"/>
                </a:lnTo>
                <a:lnTo>
                  <a:pt x="2162275" y="435776"/>
                </a:lnTo>
                <a:lnTo>
                  <a:pt x="2176885" y="435776"/>
                </a:lnTo>
                <a:lnTo>
                  <a:pt x="2191495" y="435776"/>
                </a:lnTo>
                <a:lnTo>
                  <a:pt x="2206105" y="435776"/>
                </a:lnTo>
                <a:lnTo>
                  <a:pt x="2220715" y="435776"/>
                </a:lnTo>
                <a:lnTo>
                  <a:pt x="2235325" y="435776"/>
                </a:lnTo>
                <a:lnTo>
                  <a:pt x="2249935" y="435776"/>
                </a:lnTo>
                <a:lnTo>
                  <a:pt x="2264545" y="435776"/>
                </a:lnTo>
                <a:lnTo>
                  <a:pt x="2279155" y="435776"/>
                </a:lnTo>
                <a:lnTo>
                  <a:pt x="2293765" y="435776"/>
                </a:lnTo>
                <a:lnTo>
                  <a:pt x="2308375" y="435776"/>
                </a:lnTo>
                <a:lnTo>
                  <a:pt x="2322985" y="435776"/>
                </a:lnTo>
                <a:lnTo>
                  <a:pt x="2337595" y="435776"/>
                </a:lnTo>
                <a:lnTo>
                  <a:pt x="2352205" y="435776"/>
                </a:lnTo>
                <a:lnTo>
                  <a:pt x="2366815" y="435776"/>
                </a:lnTo>
                <a:lnTo>
                  <a:pt x="2381425" y="435776"/>
                </a:lnTo>
                <a:lnTo>
                  <a:pt x="2396035" y="435776"/>
                </a:lnTo>
                <a:lnTo>
                  <a:pt x="2410644" y="435776"/>
                </a:lnTo>
                <a:lnTo>
                  <a:pt x="2425254" y="435776"/>
                </a:lnTo>
                <a:lnTo>
                  <a:pt x="2439864" y="435776"/>
                </a:lnTo>
                <a:lnTo>
                  <a:pt x="2454474" y="435776"/>
                </a:lnTo>
                <a:lnTo>
                  <a:pt x="2469084" y="435776"/>
                </a:lnTo>
                <a:lnTo>
                  <a:pt x="2483694" y="435776"/>
                </a:lnTo>
                <a:lnTo>
                  <a:pt x="2498304" y="435776"/>
                </a:lnTo>
                <a:lnTo>
                  <a:pt x="2512914" y="435776"/>
                </a:lnTo>
                <a:lnTo>
                  <a:pt x="2527524" y="435776"/>
                </a:lnTo>
                <a:lnTo>
                  <a:pt x="2542134" y="435776"/>
                </a:lnTo>
                <a:lnTo>
                  <a:pt x="2556744" y="435776"/>
                </a:lnTo>
                <a:lnTo>
                  <a:pt x="2571354" y="435776"/>
                </a:lnTo>
                <a:lnTo>
                  <a:pt x="2585964" y="435776"/>
                </a:lnTo>
                <a:lnTo>
                  <a:pt x="2600574" y="435776"/>
                </a:lnTo>
                <a:lnTo>
                  <a:pt x="2615184" y="435776"/>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m3"/>
          <p:cNvSpPr txBox="1"/>
          <p:nvPr/>
        </p:nvSpPr>
        <p:spPr>
          <a:xfrm>
            <a:off x="6025896" y="4705539"/>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前進波の傾き</a:t>
            </a:r>
            <a:endParaRPr sz="2200" b="1" dirty="0">
              <a:solidFill>
                <a:srgbClr val="262626"/>
              </a:solidFill>
              <a:latin typeface="Meiryo"/>
              <a:ea typeface="Meiryo"/>
              <a:cs typeface="Meiryo"/>
            </a:endParaRPr>
          </a:p>
        </p:txBody>
      </p:sp>
      <p:sp>
        <p:nvSpPr>
          <p:cNvPr id="43" name="f4"/>
          <p:cNvSpPr/>
          <p:nvPr/>
        </p:nvSpPr>
        <p:spPr>
          <a:xfrm>
            <a:off x="548640" y="5286296"/>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心拍数</a:t>
            </a:r>
            <a:r>
              <a:rPr sz="2200" b="1" dirty="0">
                <a:solidFill>
                  <a:srgbClr val="262626"/>
                </a:solidFill>
                <a:latin typeface="Meiryo"/>
                <a:ea typeface="Meiryo"/>
                <a:cs typeface="Meiryo"/>
              </a:rPr>
              <a:t> </a:t>
            </a:r>
          </a:p>
        </p:txBody>
      </p:sp>
      <p:sp>
        <p:nvSpPr>
          <p:cNvPr id="44" name="wbox4"/>
          <p:cNvSpPr/>
          <p:nvPr/>
        </p:nvSpPr>
        <p:spPr>
          <a:xfrm>
            <a:off x="3054096" y="5286296"/>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wbase4"/>
          <p:cNvCxnSpPr/>
          <p:nvPr/>
        </p:nvCxnSpPr>
        <p:spPr>
          <a:xfrm>
            <a:off x="3163824" y="5908088"/>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6" name="wg4"/>
          <p:cNvSpPr/>
          <p:nvPr/>
        </p:nvSpPr>
        <p:spPr>
          <a:xfrm>
            <a:off x="3163824" y="5528553"/>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wc4"/>
          <p:cNvSpPr/>
          <p:nvPr/>
        </p:nvSpPr>
        <p:spPr>
          <a:xfrm>
            <a:off x="3163824" y="5529482"/>
            <a:ext cx="2615184" cy="378598"/>
          </a:xfrm>
          <a:custGeom>
            <a:avLst/>
            <a:gdLst/>
            <a:ahLst/>
            <a:cxnLst/>
            <a:rect l="l" t="t" r="r" b="b"/>
            <a:pathLst>
              <a:path w="2615184" h="378598">
                <a:moveTo>
                  <a:pt x="0" y="378026"/>
                </a:moveTo>
                <a:lnTo>
                  <a:pt x="14610" y="377683"/>
                </a:lnTo>
                <a:lnTo>
                  <a:pt x="29220" y="377163"/>
                </a:lnTo>
                <a:lnTo>
                  <a:pt x="43830" y="376387"/>
                </a:lnTo>
                <a:lnTo>
                  <a:pt x="58440" y="375254"/>
                </a:lnTo>
                <a:lnTo>
                  <a:pt x="73050" y="373627"/>
                </a:lnTo>
                <a:lnTo>
                  <a:pt x="87660" y="371339"/>
                </a:lnTo>
                <a:lnTo>
                  <a:pt x="102270" y="368181"/>
                </a:lnTo>
                <a:lnTo>
                  <a:pt x="116880" y="363906"/>
                </a:lnTo>
                <a:lnTo>
                  <a:pt x="131490" y="358233"/>
                </a:lnTo>
                <a:lnTo>
                  <a:pt x="146100" y="350855"/>
                </a:lnTo>
                <a:lnTo>
                  <a:pt x="160710" y="341451"/>
                </a:lnTo>
                <a:lnTo>
                  <a:pt x="175320" y="329714"/>
                </a:lnTo>
                <a:lnTo>
                  <a:pt x="189930" y="315370"/>
                </a:lnTo>
                <a:lnTo>
                  <a:pt x="204540" y="298219"/>
                </a:lnTo>
                <a:lnTo>
                  <a:pt x="219149" y="278165"/>
                </a:lnTo>
                <a:lnTo>
                  <a:pt x="233759" y="255258"/>
                </a:lnTo>
                <a:lnTo>
                  <a:pt x="248369" y="229720"/>
                </a:lnTo>
                <a:lnTo>
                  <a:pt x="262979" y="201971"/>
                </a:lnTo>
                <a:lnTo>
                  <a:pt x="277589" y="172636"/>
                </a:lnTo>
                <a:lnTo>
                  <a:pt x="292199" y="142538"/>
                </a:lnTo>
                <a:lnTo>
                  <a:pt x="306809" y="112670"/>
                </a:lnTo>
                <a:lnTo>
                  <a:pt x="321419" y="84145"/>
                </a:lnTo>
                <a:lnTo>
                  <a:pt x="336029" y="58130"/>
                </a:lnTo>
                <a:lnTo>
                  <a:pt x="350639" y="35771"/>
                </a:lnTo>
                <a:lnTo>
                  <a:pt x="365249" y="18106"/>
                </a:lnTo>
                <a:lnTo>
                  <a:pt x="379859" y="5985"/>
                </a:lnTo>
                <a:lnTo>
                  <a:pt x="394469" y="0"/>
                </a:lnTo>
                <a:lnTo>
                  <a:pt x="409079" y="435"/>
                </a:lnTo>
                <a:lnTo>
                  <a:pt x="423689" y="7243"/>
                </a:lnTo>
                <a:lnTo>
                  <a:pt x="438299" y="20043"/>
                </a:lnTo>
                <a:lnTo>
                  <a:pt x="452909" y="38161"/>
                </a:lnTo>
                <a:lnTo>
                  <a:pt x="467519" y="60676"/>
                </a:lnTo>
                <a:lnTo>
                  <a:pt x="482129" y="86496"/>
                </a:lnTo>
                <a:lnTo>
                  <a:pt x="496739" y="114443"/>
                </a:lnTo>
                <a:lnTo>
                  <a:pt x="511349" y="143334"/>
                </a:lnTo>
                <a:lnTo>
                  <a:pt x="525959" y="172056"/>
                </a:lnTo>
                <a:lnTo>
                  <a:pt x="540569" y="199633"/>
                </a:lnTo>
                <a:lnTo>
                  <a:pt x="555179" y="225265"/>
                </a:lnTo>
                <a:lnTo>
                  <a:pt x="569789" y="248356"/>
                </a:lnTo>
                <a:lnTo>
                  <a:pt x="584399" y="268516"/>
                </a:lnTo>
                <a:lnTo>
                  <a:pt x="599009" y="285553"/>
                </a:lnTo>
                <a:lnTo>
                  <a:pt x="613619" y="299445"/>
                </a:lnTo>
                <a:lnTo>
                  <a:pt x="628229" y="310310"/>
                </a:lnTo>
                <a:lnTo>
                  <a:pt x="642839" y="318369"/>
                </a:lnTo>
                <a:lnTo>
                  <a:pt x="657448" y="323910"/>
                </a:lnTo>
                <a:lnTo>
                  <a:pt x="672058" y="327260"/>
                </a:lnTo>
                <a:lnTo>
                  <a:pt x="686668" y="328757"/>
                </a:lnTo>
                <a:lnTo>
                  <a:pt x="701278" y="328729"/>
                </a:lnTo>
                <a:lnTo>
                  <a:pt x="715888" y="327482"/>
                </a:lnTo>
                <a:lnTo>
                  <a:pt x="730498" y="325295"/>
                </a:lnTo>
                <a:lnTo>
                  <a:pt x="745108" y="322412"/>
                </a:lnTo>
                <a:lnTo>
                  <a:pt x="759718" y="319046"/>
                </a:lnTo>
                <a:lnTo>
                  <a:pt x="774328" y="315382"/>
                </a:lnTo>
                <a:lnTo>
                  <a:pt x="788938" y="311577"/>
                </a:lnTo>
                <a:lnTo>
                  <a:pt x="803548" y="307766"/>
                </a:lnTo>
                <a:lnTo>
                  <a:pt x="818158" y="304066"/>
                </a:lnTo>
                <a:lnTo>
                  <a:pt x="832768" y="300578"/>
                </a:lnTo>
                <a:lnTo>
                  <a:pt x="847378" y="297388"/>
                </a:lnTo>
                <a:lnTo>
                  <a:pt x="861988" y="294571"/>
                </a:lnTo>
                <a:lnTo>
                  <a:pt x="876598" y="292191"/>
                </a:lnTo>
                <a:lnTo>
                  <a:pt x="891208" y="290298"/>
                </a:lnTo>
                <a:lnTo>
                  <a:pt x="905818" y="288934"/>
                </a:lnTo>
                <a:lnTo>
                  <a:pt x="920428" y="288128"/>
                </a:lnTo>
                <a:lnTo>
                  <a:pt x="935038" y="287897"/>
                </a:lnTo>
                <a:lnTo>
                  <a:pt x="949648" y="288246"/>
                </a:lnTo>
                <a:lnTo>
                  <a:pt x="964258" y="289169"/>
                </a:lnTo>
                <a:lnTo>
                  <a:pt x="978868" y="290649"/>
                </a:lnTo>
                <a:lnTo>
                  <a:pt x="993478" y="292659"/>
                </a:lnTo>
                <a:lnTo>
                  <a:pt x="1008088" y="295160"/>
                </a:lnTo>
                <a:lnTo>
                  <a:pt x="1022698" y="298107"/>
                </a:lnTo>
                <a:lnTo>
                  <a:pt x="1037308" y="301447"/>
                </a:lnTo>
                <a:lnTo>
                  <a:pt x="1051918" y="305123"/>
                </a:lnTo>
                <a:lnTo>
                  <a:pt x="1066528" y="309071"/>
                </a:lnTo>
                <a:lnTo>
                  <a:pt x="1081138" y="313229"/>
                </a:lnTo>
                <a:lnTo>
                  <a:pt x="1095747" y="317532"/>
                </a:lnTo>
                <a:lnTo>
                  <a:pt x="1110357" y="321916"/>
                </a:lnTo>
                <a:lnTo>
                  <a:pt x="1124967" y="326323"/>
                </a:lnTo>
                <a:lnTo>
                  <a:pt x="1139577" y="330697"/>
                </a:lnTo>
                <a:lnTo>
                  <a:pt x="1154187" y="334985"/>
                </a:lnTo>
                <a:lnTo>
                  <a:pt x="1168797" y="339144"/>
                </a:lnTo>
                <a:lnTo>
                  <a:pt x="1183407" y="343135"/>
                </a:lnTo>
                <a:lnTo>
                  <a:pt x="1198017" y="346927"/>
                </a:lnTo>
                <a:lnTo>
                  <a:pt x="1212627" y="350494"/>
                </a:lnTo>
                <a:lnTo>
                  <a:pt x="1227237" y="353820"/>
                </a:lnTo>
                <a:lnTo>
                  <a:pt x="1241847" y="356892"/>
                </a:lnTo>
                <a:lnTo>
                  <a:pt x="1256457" y="359705"/>
                </a:lnTo>
                <a:lnTo>
                  <a:pt x="1271067" y="362259"/>
                </a:lnTo>
                <a:lnTo>
                  <a:pt x="1285677" y="364558"/>
                </a:lnTo>
                <a:lnTo>
                  <a:pt x="1300287" y="366612"/>
                </a:lnTo>
                <a:lnTo>
                  <a:pt x="1314897" y="368430"/>
                </a:lnTo>
                <a:lnTo>
                  <a:pt x="1329507" y="370029"/>
                </a:lnTo>
                <a:lnTo>
                  <a:pt x="1344117" y="371422"/>
                </a:lnTo>
                <a:lnTo>
                  <a:pt x="1358727" y="372628"/>
                </a:lnTo>
                <a:lnTo>
                  <a:pt x="1373337" y="373663"/>
                </a:lnTo>
                <a:lnTo>
                  <a:pt x="1387947" y="374545"/>
                </a:lnTo>
                <a:lnTo>
                  <a:pt x="1402557" y="375291"/>
                </a:lnTo>
                <a:lnTo>
                  <a:pt x="1417167" y="375917"/>
                </a:lnTo>
                <a:lnTo>
                  <a:pt x="1431777" y="376439"/>
                </a:lnTo>
                <a:lnTo>
                  <a:pt x="1446387" y="376871"/>
                </a:lnTo>
                <a:lnTo>
                  <a:pt x="1460997" y="377226"/>
                </a:lnTo>
                <a:lnTo>
                  <a:pt x="1475607" y="377515"/>
                </a:lnTo>
                <a:lnTo>
                  <a:pt x="1490217" y="377749"/>
                </a:lnTo>
                <a:lnTo>
                  <a:pt x="1504827" y="377937"/>
                </a:lnTo>
                <a:lnTo>
                  <a:pt x="1519437" y="378087"/>
                </a:lnTo>
                <a:lnTo>
                  <a:pt x="1534046" y="378207"/>
                </a:lnTo>
                <a:lnTo>
                  <a:pt x="1548656" y="378300"/>
                </a:lnTo>
                <a:lnTo>
                  <a:pt x="1563266" y="378373"/>
                </a:lnTo>
                <a:lnTo>
                  <a:pt x="1577876" y="378430"/>
                </a:lnTo>
                <a:lnTo>
                  <a:pt x="1592486" y="378474"/>
                </a:lnTo>
                <a:lnTo>
                  <a:pt x="1607096" y="378508"/>
                </a:lnTo>
                <a:lnTo>
                  <a:pt x="1621706" y="378533"/>
                </a:lnTo>
                <a:lnTo>
                  <a:pt x="1636316" y="378552"/>
                </a:lnTo>
                <a:lnTo>
                  <a:pt x="1650926" y="378567"/>
                </a:lnTo>
                <a:lnTo>
                  <a:pt x="1665536" y="378577"/>
                </a:lnTo>
                <a:lnTo>
                  <a:pt x="1680146" y="378585"/>
                </a:lnTo>
                <a:lnTo>
                  <a:pt x="1694756" y="378591"/>
                </a:lnTo>
                <a:lnTo>
                  <a:pt x="1709366" y="378595"/>
                </a:lnTo>
                <a:lnTo>
                  <a:pt x="1723976" y="378597"/>
                </a:lnTo>
                <a:lnTo>
                  <a:pt x="1738586" y="378598"/>
                </a:lnTo>
                <a:lnTo>
                  <a:pt x="1753196" y="378598"/>
                </a:lnTo>
                <a:lnTo>
                  <a:pt x="1767806" y="378595"/>
                </a:lnTo>
                <a:lnTo>
                  <a:pt x="1782416" y="378589"/>
                </a:lnTo>
                <a:lnTo>
                  <a:pt x="1797026" y="378578"/>
                </a:lnTo>
                <a:lnTo>
                  <a:pt x="1811636" y="378558"/>
                </a:lnTo>
                <a:lnTo>
                  <a:pt x="1826246" y="378524"/>
                </a:lnTo>
                <a:lnTo>
                  <a:pt x="1840856" y="378468"/>
                </a:lnTo>
                <a:lnTo>
                  <a:pt x="1855466" y="378375"/>
                </a:lnTo>
                <a:lnTo>
                  <a:pt x="1870076" y="378226"/>
                </a:lnTo>
                <a:lnTo>
                  <a:pt x="1884686" y="377992"/>
                </a:lnTo>
                <a:lnTo>
                  <a:pt x="1899296" y="377632"/>
                </a:lnTo>
                <a:lnTo>
                  <a:pt x="1913906" y="377085"/>
                </a:lnTo>
                <a:lnTo>
                  <a:pt x="1928516" y="376273"/>
                </a:lnTo>
                <a:lnTo>
                  <a:pt x="1943126" y="375088"/>
                </a:lnTo>
                <a:lnTo>
                  <a:pt x="1957736" y="373393"/>
                </a:lnTo>
                <a:lnTo>
                  <a:pt x="1972345" y="371013"/>
                </a:lnTo>
                <a:lnTo>
                  <a:pt x="1986955" y="367735"/>
                </a:lnTo>
                <a:lnTo>
                  <a:pt x="2001565" y="363309"/>
                </a:lnTo>
                <a:lnTo>
                  <a:pt x="2016175" y="357450"/>
                </a:lnTo>
                <a:lnTo>
                  <a:pt x="2030785" y="349848"/>
                </a:lnTo>
                <a:lnTo>
                  <a:pt x="2045395" y="340184"/>
                </a:lnTo>
                <a:lnTo>
                  <a:pt x="2060005" y="328151"/>
                </a:lnTo>
                <a:lnTo>
                  <a:pt x="2074615" y="313486"/>
                </a:lnTo>
                <a:lnTo>
                  <a:pt x="2089225" y="295998"/>
                </a:lnTo>
                <a:lnTo>
                  <a:pt x="2103835" y="275608"/>
                </a:lnTo>
                <a:lnTo>
                  <a:pt x="2118445" y="252386"/>
                </a:lnTo>
                <a:lnTo>
                  <a:pt x="2133055" y="226577"/>
                </a:lnTo>
                <a:lnTo>
                  <a:pt x="2147665" y="198628"/>
                </a:lnTo>
                <a:lnTo>
                  <a:pt x="2162275" y="169191"/>
                </a:lnTo>
                <a:lnTo>
                  <a:pt x="2176885" y="139113"/>
                </a:lnTo>
                <a:lnTo>
                  <a:pt x="2191495" y="109407"/>
                </a:lnTo>
                <a:lnTo>
                  <a:pt x="2206105" y="81200"/>
                </a:lnTo>
                <a:lnTo>
                  <a:pt x="2220715" y="55666"/>
                </a:lnTo>
                <a:lnTo>
                  <a:pt x="2235325" y="33947"/>
                </a:lnTo>
                <a:lnTo>
                  <a:pt x="2249935" y="17068"/>
                </a:lnTo>
                <a:lnTo>
                  <a:pt x="2264545" y="5860"/>
                </a:lnTo>
                <a:lnTo>
                  <a:pt x="2279155" y="887"/>
                </a:lnTo>
                <a:lnTo>
                  <a:pt x="2293765" y="2404"/>
                </a:lnTo>
                <a:lnTo>
                  <a:pt x="2308375" y="10334"/>
                </a:lnTo>
                <a:lnTo>
                  <a:pt x="2322985" y="24273"/>
                </a:lnTo>
                <a:lnTo>
                  <a:pt x="2337595" y="43524"/>
                </a:lnTo>
                <a:lnTo>
                  <a:pt x="2352205" y="67158"/>
                </a:lnTo>
                <a:lnTo>
                  <a:pt x="2366815" y="94084"/>
                </a:lnTo>
                <a:lnTo>
                  <a:pt x="2381425" y="123134"/>
                </a:lnTo>
                <a:lnTo>
                  <a:pt x="2396035" y="153148"/>
                </a:lnTo>
                <a:lnTo>
                  <a:pt x="2410644" y="183044"/>
                </a:lnTo>
                <a:lnTo>
                  <a:pt x="2425254" y="211882"/>
                </a:lnTo>
                <a:lnTo>
                  <a:pt x="2439864" y="238902"/>
                </a:lnTo>
                <a:lnTo>
                  <a:pt x="2454474" y="263548"/>
                </a:lnTo>
                <a:lnTo>
                  <a:pt x="2469084" y="285470"/>
                </a:lnTo>
                <a:lnTo>
                  <a:pt x="2483694" y="304507"/>
                </a:lnTo>
                <a:lnTo>
                  <a:pt x="2498304" y="320662"/>
                </a:lnTo>
                <a:lnTo>
                  <a:pt x="2512914" y="334071"/>
                </a:lnTo>
                <a:lnTo>
                  <a:pt x="2527524" y="344964"/>
                </a:lnTo>
                <a:lnTo>
                  <a:pt x="2542134" y="353628"/>
                </a:lnTo>
                <a:lnTo>
                  <a:pt x="2556744" y="360378"/>
                </a:lnTo>
                <a:lnTo>
                  <a:pt x="2571354" y="365532"/>
                </a:lnTo>
                <a:lnTo>
                  <a:pt x="2585964" y="369389"/>
                </a:lnTo>
                <a:lnTo>
                  <a:pt x="2600574" y="372220"/>
                </a:lnTo>
                <a:lnTo>
                  <a:pt x="2615184" y="374257"/>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m4"/>
          <p:cNvSpPr txBox="1"/>
          <p:nvPr/>
        </p:nvSpPr>
        <p:spPr>
          <a:xfrm>
            <a:off x="6025896" y="5455347"/>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前進波横幅・反射波振幅</a:t>
            </a:r>
            <a:endParaRPr sz="2200" b="1" dirty="0">
              <a:solidFill>
                <a:srgbClr val="262626"/>
              </a:solidFill>
              <a:latin typeface="Meiryo"/>
              <a:ea typeface="Meiryo"/>
              <a:cs typeface="Meiryo"/>
            </a:endParaRPr>
          </a:p>
        </p:txBody>
      </p:sp>
      <p:sp>
        <p:nvSpPr>
          <p:cNvPr id="49" name="g4"/>
          <p:cNvSpPr/>
          <p:nvPr/>
        </p:nvSpPr>
        <p:spPr>
          <a:xfrm>
            <a:off x="9454896" y="5286296"/>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モデル</a:t>
            </a:r>
          </a:p>
        </p:txBody>
      </p:sp>
      <p:sp>
        <p:nvSpPr>
          <p:cNvPr id="17" name="g4">
            <a:extLst>
              <a:ext uri="{FF2B5EF4-FFF2-40B4-BE49-F238E27FC236}">
                <a16:creationId xmlns:a16="http://schemas.microsoft.com/office/drawing/2014/main" id="{D3A909D8-DD59-169C-8FF0-1812ECEB36AC}"/>
              </a:ext>
            </a:extLst>
          </p:cNvPr>
          <p:cNvSpPr/>
          <p:nvPr/>
        </p:nvSpPr>
        <p:spPr>
          <a:xfrm>
            <a:off x="9454896" y="4536488"/>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モデル</a:t>
            </a:r>
          </a:p>
        </p:txBody>
      </p:sp>
      <p:sp>
        <p:nvSpPr>
          <p:cNvPr id="50"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10. Alian 2011　／　11. Chowienczyk 1999　／　13. Pagoulatou 2021　／　17. Charlton 2019</a:t>
            </a:r>
          </a:p>
        </p:txBody>
      </p:sp>
      <p:sp>
        <p:nvSpPr>
          <p:cNvPr id="5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25/55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a:extLst>
              <a:ext uri="{FF2B5EF4-FFF2-40B4-BE49-F238E27FC236}">
                <a16:creationId xmlns:a16="http://schemas.microsoft.com/office/drawing/2014/main" id="{74956F3D-E19A-EDD1-8019-2BEDCBF54DC8}"/>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a:extLst>
              <a:ext uri="{FF2B5EF4-FFF2-40B4-BE49-F238E27FC236}">
                <a16:creationId xmlns:a16="http://schemas.microsoft.com/office/drawing/2014/main" id="{70323696-E7DF-3856-E16B-DF7874ABAA85}"/>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a:extLst>
              <a:ext uri="{FF2B5EF4-FFF2-40B4-BE49-F238E27FC236}">
                <a16:creationId xmlns:a16="http://schemas.microsoft.com/office/drawing/2014/main" id="{DBE3ED70-EF18-AA7E-E12F-9A7FAB18A28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a:extLst>
              <a:ext uri="{FF2B5EF4-FFF2-40B4-BE49-F238E27FC236}">
                <a16:creationId xmlns:a16="http://schemas.microsoft.com/office/drawing/2014/main" id="{620376B2-DB4A-3B9F-1142-2335FA12BFB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4956048"/>
          </a:xfrm>
          <a:prstGeom prst="rect">
            <a:avLst/>
          </a:prstGeom>
          <a:noFill/>
        </p:spPr>
        <p:txBody>
          <a:bodyPr wrap="square" lIns="0" tIns="0" rIns="0" bIns="0" anchor="t"/>
          <a:lstStyle/>
          <a:p>
            <a:pPr>
              <a:lnSpc>
                <a:spcPct val="142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42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42000"/>
              </a:lnSpc>
            </a:pPr>
            <a:r>
              <a:rPr sz="2700" b="1">
                <a:solidFill>
                  <a:srgbClr val="D9D9D9"/>
                </a:solidFill>
                <a:latin typeface="Meiryo"/>
                <a:ea typeface="Meiryo"/>
                <a:cs typeface="Meiryo"/>
              </a:rPr>
              <a:t>　2.1 </a:t>
            </a:r>
            <a:r>
              <a:rPr sz="2700" b="0">
                <a:solidFill>
                  <a:srgbClr val="808080"/>
                </a:solidFill>
                <a:latin typeface="Meiryo"/>
                <a:ea typeface="Meiryo"/>
                <a:cs typeface="Meiryo"/>
              </a:rPr>
              <a:t>加齢の影響</a:t>
            </a:r>
          </a:p>
          <a:p>
            <a:pPr>
              <a:lnSpc>
                <a:spcPct val="142000"/>
              </a:lnSpc>
            </a:pPr>
            <a:r>
              <a:rPr sz="2700" b="1">
                <a:solidFill>
                  <a:srgbClr val="D9D9D9"/>
                </a:solidFill>
                <a:latin typeface="Meiryo"/>
                <a:ea typeface="Meiryo"/>
                <a:cs typeface="Meiryo"/>
              </a:rPr>
              <a:t>　2.2 </a:t>
            </a:r>
            <a:r>
              <a:rPr sz="2700" b="0">
                <a:solidFill>
                  <a:srgbClr val="808080"/>
                </a:solidFill>
                <a:latin typeface="Meiryo"/>
                <a:ea typeface="Meiryo"/>
                <a:cs typeface="Meiryo"/>
              </a:rPr>
              <a:t>循環の変化</a:t>
            </a:r>
          </a:p>
          <a:p>
            <a:pPr>
              <a:lnSpc>
                <a:spcPct val="142000"/>
              </a:lnSpc>
            </a:pPr>
            <a:r>
              <a:rPr sz="2700" b="1">
                <a:solidFill>
                  <a:srgbClr val="BF9000"/>
                </a:solidFill>
                <a:latin typeface="Meiryo"/>
                <a:ea typeface="Meiryo"/>
                <a:cs typeface="Meiryo"/>
              </a:rPr>
              <a:t>　2.3 </a:t>
            </a:r>
            <a:r>
              <a:rPr sz="2700" b="1">
                <a:solidFill>
                  <a:srgbClr val="262626"/>
                </a:solidFill>
                <a:latin typeface="Meiryo"/>
                <a:ea typeface="Meiryo"/>
                <a:cs typeface="Meiryo"/>
              </a:rPr>
              <a:t>麻酔中の変化</a:t>
            </a:r>
          </a:p>
          <a:p>
            <a:pPr>
              <a:lnSpc>
                <a:spcPct val="142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42000"/>
              </a:lnSpc>
            </a:pPr>
            <a:r>
              <a:rPr sz="3000" b="1">
                <a:solidFill>
                  <a:srgbClr val="D9D9D9"/>
                </a:solidFill>
                <a:latin typeface="Meiryo"/>
                <a:ea typeface="Meiryo"/>
                <a:cs typeface="Meiryo"/>
              </a:rPr>
              <a:t>4. </a:t>
            </a:r>
            <a:r>
              <a:rPr sz="3000" b="0">
                <a:solidFill>
                  <a:srgbClr val="D9D9D9"/>
                </a:solidFill>
                <a:latin typeface="Meiryo"/>
                <a:ea typeface="Meiryo"/>
                <a:cs typeface="Meiryo"/>
              </a:rPr>
              <a:t>提案</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2.3 </a:t>
            </a:r>
            <a:r>
              <a:rPr sz="3000" b="1">
                <a:solidFill>
                  <a:srgbClr val="262626"/>
                </a:solidFill>
                <a:latin typeface="Meiryo"/>
                <a:ea typeface="Meiryo"/>
                <a:cs typeface="Meiryo"/>
              </a:rPr>
              <a:t>麻酔中の変化</a:t>
            </a:r>
          </a:p>
          <a:p>
            <a:pPr>
              <a:lnSpc>
                <a:spcPct val="142000"/>
              </a:lnSpc>
            </a:pPr>
            <a:r>
              <a:rPr sz="2700" b="1">
                <a:solidFill>
                  <a:srgbClr val="BF9000"/>
                </a:solidFill>
                <a:latin typeface="Meiryo"/>
                <a:ea typeface="Meiryo"/>
                <a:cs typeface="Meiryo"/>
              </a:rPr>
              <a:t>2.3.1 </a:t>
            </a:r>
            <a:r>
              <a:rPr sz="2700" b="0">
                <a:solidFill>
                  <a:srgbClr val="262626"/>
                </a:solidFill>
                <a:latin typeface="Meiryo"/>
                <a:ea typeface="Meiryo"/>
                <a:cs typeface="Meiryo"/>
              </a:rPr>
              <a:t>切痕位置とトーヌス</a:t>
            </a:r>
          </a:p>
          <a:p>
            <a:pPr>
              <a:lnSpc>
                <a:spcPct val="142000"/>
              </a:lnSpc>
            </a:pPr>
            <a:r>
              <a:rPr sz="2700" b="1">
                <a:solidFill>
                  <a:srgbClr val="BF9000"/>
                </a:solidFill>
                <a:latin typeface="Meiryo"/>
                <a:ea typeface="Meiryo"/>
                <a:cs typeface="Meiryo"/>
              </a:rPr>
              <a:t>2.3.2 </a:t>
            </a:r>
            <a:r>
              <a:rPr sz="2700" b="0">
                <a:solidFill>
                  <a:srgbClr val="262626"/>
                </a:solidFill>
                <a:latin typeface="Meiryo"/>
                <a:ea typeface="Meiryo"/>
                <a:cs typeface="Meiryo"/>
              </a:rPr>
              <a:t>波形の6分類</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26/55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2.3.1  切痕位置とトーヌス</a:t>
            </a:r>
          </a:p>
        </p:txBody>
      </p:sp>
      <p:sp>
        <p:nvSpPr>
          <p:cNvPr id="14" name="Off-page Connector 4"/>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9" name="Picture 8" descr="13_murray.png"/>
          <p:cNvPicPr>
            <a:picLocks noChangeAspect="1"/>
          </p:cNvPicPr>
          <p:nvPr/>
        </p:nvPicPr>
        <p:blipFill>
          <a:blip r:embed="rId3"/>
          <a:stretch>
            <a:fillRect/>
          </a:stretch>
        </p:blipFill>
        <p:spPr>
          <a:xfrm>
            <a:off x="1555975" y="1185660"/>
            <a:ext cx="9384005" cy="5052926"/>
          </a:xfrm>
          <a:prstGeom prst="rect">
            <a:avLst/>
          </a:prstGeom>
        </p:spPr>
      </p:pic>
      <p:sp>
        <p:nvSpPr>
          <p:cNvPr id="240" name="t_g"/>
          <p:cNvSpPr txBox="1"/>
          <p:nvPr/>
        </p:nvSpPr>
        <p:spPr>
          <a:xfrm>
            <a:off x="1087393" y="1921645"/>
            <a:ext cx="3424088" cy="401087"/>
          </a:xfrm>
          <a:prstGeom prst="rect">
            <a:avLst/>
          </a:prstGeom>
          <a:noFill/>
        </p:spPr>
        <p:txBody>
          <a:bodyPr wrap="square" lIns="0" tIns="0" rIns="0" bIns="0" anchor="t">
            <a:noAutofit/>
          </a:bodyPr>
          <a:lstStyle/>
          <a:p>
            <a:pPr algn="ctr"/>
            <a:r>
              <a:rPr lang="ja-JP" altLang="en-US" sz="2200" b="1" dirty="0">
                <a:solidFill>
                  <a:srgbClr val="5FA83D"/>
                </a:solidFill>
                <a:latin typeface="Meiryo"/>
                <a:ea typeface="Meiryo"/>
                <a:cs typeface="Meiryo"/>
              </a:rPr>
              <a:t>正常トーヌス</a:t>
            </a:r>
          </a:p>
        </p:txBody>
      </p:sp>
      <p:sp>
        <p:nvSpPr>
          <p:cNvPr id="241" name="t_r"/>
          <p:cNvSpPr txBox="1"/>
          <p:nvPr/>
        </p:nvSpPr>
        <p:spPr>
          <a:xfrm>
            <a:off x="4081830" y="1903279"/>
            <a:ext cx="4028339" cy="401087"/>
          </a:xfrm>
          <a:prstGeom prst="rect">
            <a:avLst/>
          </a:prstGeom>
          <a:noFill/>
        </p:spPr>
        <p:txBody>
          <a:bodyPr wrap="square" lIns="0" tIns="0" rIns="0" bIns="0" anchor="t">
            <a:normAutofit/>
          </a:bodyPr>
          <a:lstStyle/>
          <a:p>
            <a:pPr algn="ctr"/>
            <a:r>
              <a:rPr lang="ja-JP" altLang="en-US" sz="2200" b="1" dirty="0">
                <a:solidFill>
                  <a:srgbClr val="C0121F"/>
                </a:solidFill>
                <a:latin typeface="Meiryo"/>
                <a:ea typeface="Meiryo"/>
                <a:cs typeface="Meiryo"/>
              </a:rPr>
              <a:t>血管収縮（浅麻酔・昇圧）</a:t>
            </a:r>
          </a:p>
        </p:txBody>
      </p:sp>
      <p:sp>
        <p:nvSpPr>
          <p:cNvPr id="242" name="t_b"/>
          <p:cNvSpPr txBox="1"/>
          <p:nvPr/>
        </p:nvSpPr>
        <p:spPr>
          <a:xfrm>
            <a:off x="7629416" y="1903279"/>
            <a:ext cx="4028339" cy="401087"/>
          </a:xfrm>
          <a:prstGeom prst="rect">
            <a:avLst/>
          </a:prstGeom>
          <a:noFill/>
        </p:spPr>
        <p:txBody>
          <a:bodyPr wrap="square" lIns="0" tIns="0" rIns="0" bIns="0" anchor="t">
            <a:normAutofit/>
          </a:bodyPr>
          <a:lstStyle/>
          <a:p>
            <a:pPr algn="ctr"/>
            <a:r>
              <a:rPr lang="ja-JP" altLang="en-US" sz="2200" b="1" dirty="0">
                <a:solidFill>
                  <a:srgbClr val="3F72C4"/>
                </a:solidFill>
                <a:latin typeface="Meiryo"/>
                <a:ea typeface="Meiryo"/>
                <a:cs typeface="Meiryo"/>
              </a:rPr>
              <a:t>血管拡張（深麻酔・降圧）</a:t>
            </a:r>
          </a:p>
        </p:txBody>
      </p:sp>
      <p:sp>
        <p:nvSpPr>
          <p:cNvPr id="243" name="s_g"/>
          <p:cNvSpPr txBox="1"/>
          <p:nvPr/>
        </p:nvSpPr>
        <p:spPr>
          <a:xfrm>
            <a:off x="1393547" y="5190144"/>
            <a:ext cx="2813979" cy="311957"/>
          </a:xfrm>
          <a:prstGeom prst="rect">
            <a:avLst/>
          </a:prstGeom>
          <a:noFill/>
        </p:spPr>
        <p:txBody>
          <a:bodyPr wrap="square" lIns="0" tIns="0" rIns="0" bIns="0" anchor="t">
            <a:normAutofit/>
          </a:bodyPr>
          <a:lstStyle/>
          <a:p>
            <a:pPr algn="ctr"/>
            <a:r>
              <a:rPr lang="ja-JP" altLang="en-US" b="1" dirty="0">
                <a:solidFill>
                  <a:srgbClr val="5FA83D"/>
                </a:solidFill>
                <a:latin typeface="Meiryo"/>
                <a:ea typeface="Meiryo"/>
                <a:cs typeface="Meiryo"/>
              </a:rPr>
              <a:t>切痕：中 ・ 振幅：中</a:t>
            </a:r>
          </a:p>
        </p:txBody>
      </p:sp>
      <p:sp>
        <p:nvSpPr>
          <p:cNvPr id="244" name="s_r"/>
          <p:cNvSpPr txBox="1"/>
          <p:nvPr/>
        </p:nvSpPr>
        <p:spPr>
          <a:xfrm>
            <a:off x="4440717" y="5190143"/>
            <a:ext cx="3310564" cy="311957"/>
          </a:xfrm>
          <a:prstGeom prst="rect">
            <a:avLst/>
          </a:prstGeom>
          <a:noFill/>
        </p:spPr>
        <p:txBody>
          <a:bodyPr wrap="square" lIns="0" tIns="0" rIns="0" bIns="0" anchor="t">
            <a:normAutofit/>
          </a:bodyPr>
          <a:lstStyle/>
          <a:p>
            <a:pPr algn="ctr"/>
            <a:r>
              <a:rPr lang="ja-JP" altLang="en-US" b="1" dirty="0">
                <a:solidFill>
                  <a:srgbClr val="C0121F"/>
                </a:solidFill>
                <a:latin typeface="Meiryo"/>
                <a:ea typeface="Meiryo"/>
                <a:cs typeface="Meiryo"/>
              </a:rPr>
              <a:t>切痕位置↑ ・ 振幅↓</a:t>
            </a:r>
          </a:p>
        </p:txBody>
      </p:sp>
      <p:sp>
        <p:nvSpPr>
          <p:cNvPr id="245" name="s_b"/>
          <p:cNvSpPr txBox="1"/>
          <p:nvPr/>
        </p:nvSpPr>
        <p:spPr>
          <a:xfrm>
            <a:off x="7529237" y="5190143"/>
            <a:ext cx="3310564" cy="311957"/>
          </a:xfrm>
          <a:prstGeom prst="rect">
            <a:avLst/>
          </a:prstGeom>
          <a:noFill/>
        </p:spPr>
        <p:txBody>
          <a:bodyPr wrap="square" lIns="0" tIns="0" rIns="0" bIns="0" anchor="t">
            <a:normAutofit/>
          </a:bodyPr>
          <a:lstStyle/>
          <a:p>
            <a:pPr algn="ctr"/>
            <a:r>
              <a:rPr lang="ja-JP" altLang="en-US" b="1" dirty="0">
                <a:solidFill>
                  <a:srgbClr val="3F72C4"/>
                </a:solidFill>
                <a:latin typeface="Meiryo"/>
                <a:ea typeface="Meiryo"/>
                <a:cs typeface="Meiryo"/>
              </a:rPr>
              <a:t>切痕位置↓ ・ 振幅↑</a:t>
            </a:r>
          </a:p>
        </p:txBody>
      </p:sp>
      <p:sp>
        <p:nvSpPr>
          <p:cNvPr id="24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19. Murray 1996</a:t>
            </a:r>
          </a:p>
        </p:txBody>
      </p:sp>
      <p:sp>
        <p:nvSpPr>
          <p:cNvPr id="24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27/55</a:t>
            </a:r>
          </a:p>
        </p:txBody>
      </p:sp>
    </p:spTree>
    <p:extLst>
      <p:ext uri="{BB962C8B-B14F-4D97-AF65-F5344CB8AC3E}">
        <p14:creationId xmlns:p14="http://schemas.microsoft.com/office/powerpoint/2010/main" val="7861759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52E25-3834-FFF5-C1F9-8915F22C3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1CE18-A000-3BE7-F918-94B3DFE349BF}"/>
              </a:ext>
            </a:extLst>
          </p:cNvPr>
          <p:cNvSpPr>
            <a:spLocks noGrp="1"/>
          </p:cNvSpPr>
          <p:nvPr>
            <p:ph type="title"/>
          </p:nvPr>
        </p:nvSpPr>
        <p:spPr/>
        <p:txBody>
          <a:bodyPr>
            <a:normAutofit/>
          </a:bodyPr>
          <a:lstStyle/>
          <a:p>
            <a:pPr algn="l"/>
            <a:r>
              <a:rPr sz="4600" dirty="0">
                <a:latin typeface="Meiryo"/>
                <a:ea typeface="Meiryo"/>
                <a:cs typeface="Meiryo"/>
              </a:rPr>
              <a:t>2.3.2  波形の6分類</a:t>
            </a:r>
          </a:p>
        </p:txBody>
      </p:sp>
      <p:sp>
        <p:nvSpPr>
          <p:cNvPr id="13" name="Off-page Connector 4">
            <a:extLst>
              <a:ext uri="{FF2B5EF4-FFF2-40B4-BE49-F238E27FC236}">
                <a16:creationId xmlns:a16="http://schemas.microsoft.com/office/drawing/2014/main" id="{49A4D507-BB9B-3AF5-BCF2-47C5A02DF53C}"/>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55C2685D-08EF-D887-88C4-558BE54B19EF}"/>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9BC46FA6-A2A0-6D46-F748-A5C12DA8AA1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AFFB54AC-B2B2-2999-329E-1B3A1DA6E286}"/>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9" name="Picture 8" descr="15_tusman.png">
            <a:extLst>
              <a:ext uri="{FF2B5EF4-FFF2-40B4-BE49-F238E27FC236}">
                <a16:creationId xmlns:a16="http://schemas.microsoft.com/office/drawing/2014/main" id="{5629390F-4A41-9297-E2B0-AF511FF69391}"/>
              </a:ext>
            </a:extLst>
          </p:cNvPr>
          <p:cNvPicPr>
            <a:picLocks noChangeAspect="1"/>
          </p:cNvPicPr>
          <p:nvPr/>
        </p:nvPicPr>
        <p:blipFill>
          <a:blip r:embed="rId3"/>
          <a:stretch>
            <a:fillRect/>
          </a:stretch>
        </p:blipFill>
        <p:spPr>
          <a:xfrm>
            <a:off x="720986" y="1800000"/>
            <a:ext cx="10726027" cy="4320000"/>
          </a:xfrm>
          <a:prstGeom prst="rect">
            <a:avLst/>
          </a:prstGeom>
        </p:spPr>
      </p:pic>
      <p:sp>
        <p:nvSpPr>
          <p:cNvPr id="18" name="TextBox 17">
            <a:extLst>
              <a:ext uri="{FF2B5EF4-FFF2-40B4-BE49-F238E27FC236}">
                <a16:creationId xmlns:a16="http://schemas.microsoft.com/office/drawing/2014/main" id="{9B8A685E-2720-EFFA-9D6C-ADFA47F6207D}"/>
              </a:ext>
            </a:extLst>
          </p:cNvPr>
          <p:cNvSpPr txBox="1"/>
          <p:nvPr/>
        </p:nvSpPr>
        <p:spPr>
          <a:xfrm>
            <a:off x="2156683" y="1783080"/>
            <a:ext cx="1487587" cy="456535"/>
          </a:xfrm>
          <a:prstGeom prst="rect">
            <a:avLst/>
          </a:prstGeom>
          <a:noFill/>
        </p:spPr>
        <p:txBody>
          <a:bodyPr wrap="none" lIns="25400" tIns="12700" rIns="25400" bIns="12700">
            <a:spAutoFit/>
          </a:bodyPr>
          <a:lstStyle/>
          <a:p>
            <a:pPr algn="ctr"/>
            <a:r>
              <a:rPr sz="2800" b="1">
                <a:solidFill>
                  <a:srgbClr val="4472C4"/>
                </a:solidFill>
                <a:latin typeface="Meiryo"/>
                <a:ea typeface="Meiryo"/>
                <a:cs typeface="Meiryo"/>
              </a:rPr>
              <a:t>血管収縮</a:t>
            </a:r>
          </a:p>
        </p:txBody>
      </p:sp>
      <p:sp>
        <p:nvSpPr>
          <p:cNvPr id="19" name="TextBox 18">
            <a:extLst>
              <a:ext uri="{FF2B5EF4-FFF2-40B4-BE49-F238E27FC236}">
                <a16:creationId xmlns:a16="http://schemas.microsoft.com/office/drawing/2014/main" id="{64964FFB-D78D-4944-7A45-68E9B13D4A6E}"/>
              </a:ext>
            </a:extLst>
          </p:cNvPr>
          <p:cNvSpPr txBox="1"/>
          <p:nvPr/>
        </p:nvSpPr>
        <p:spPr>
          <a:xfrm>
            <a:off x="5011153" y="1783080"/>
            <a:ext cx="769441" cy="456535"/>
          </a:xfrm>
          <a:prstGeom prst="rect">
            <a:avLst/>
          </a:prstGeom>
          <a:noFill/>
        </p:spPr>
        <p:txBody>
          <a:bodyPr wrap="none" lIns="25400" tIns="12700" rIns="25400" bIns="12700">
            <a:spAutoFit/>
          </a:bodyPr>
          <a:lstStyle/>
          <a:p>
            <a:pPr algn="ctr"/>
            <a:r>
              <a:rPr sz="2800" b="1">
                <a:solidFill>
                  <a:srgbClr val="70AD47"/>
                </a:solidFill>
                <a:latin typeface="Meiryo"/>
                <a:ea typeface="Meiryo"/>
                <a:cs typeface="Meiryo"/>
              </a:rPr>
              <a:t>正常</a:t>
            </a:r>
          </a:p>
        </p:txBody>
      </p:sp>
      <p:sp>
        <p:nvSpPr>
          <p:cNvPr id="20" name="TextBox 19">
            <a:extLst>
              <a:ext uri="{FF2B5EF4-FFF2-40B4-BE49-F238E27FC236}">
                <a16:creationId xmlns:a16="http://schemas.microsoft.com/office/drawing/2014/main" id="{6E421EF3-E9EF-67C8-BD8C-61A328D9FDC4}"/>
              </a:ext>
            </a:extLst>
          </p:cNvPr>
          <p:cNvSpPr txBox="1"/>
          <p:nvPr/>
        </p:nvSpPr>
        <p:spPr>
          <a:xfrm>
            <a:off x="8178007" y="1783080"/>
            <a:ext cx="1487587" cy="456535"/>
          </a:xfrm>
          <a:prstGeom prst="rect">
            <a:avLst/>
          </a:prstGeom>
          <a:noFill/>
        </p:spPr>
        <p:txBody>
          <a:bodyPr wrap="none" lIns="25400" tIns="12700" rIns="25400" bIns="12700">
            <a:spAutoFit/>
          </a:bodyPr>
          <a:lstStyle/>
          <a:p>
            <a:pPr algn="ctr"/>
            <a:r>
              <a:rPr sz="2800" b="1">
                <a:solidFill>
                  <a:srgbClr val="8A3B00"/>
                </a:solidFill>
                <a:latin typeface="Meiryo"/>
                <a:ea typeface="Meiryo"/>
                <a:cs typeface="Meiryo"/>
              </a:rPr>
              <a:t>血管拡張</a:t>
            </a:r>
          </a:p>
        </p:txBody>
      </p:sp>
      <p:sp>
        <p:nvSpPr>
          <p:cNvPr id="21" name="TextBox 20">
            <a:extLst>
              <a:ext uri="{FF2B5EF4-FFF2-40B4-BE49-F238E27FC236}">
                <a16:creationId xmlns:a16="http://schemas.microsoft.com/office/drawing/2014/main" id="{D72ADAEF-B48D-EB66-FE3A-AC3F3759E781}"/>
              </a:ext>
            </a:extLst>
          </p:cNvPr>
          <p:cNvSpPr txBox="1"/>
          <p:nvPr/>
        </p:nvSpPr>
        <p:spPr>
          <a:xfrm>
            <a:off x="1714683" y="2856879"/>
            <a:ext cx="788486" cy="302647"/>
          </a:xfrm>
          <a:prstGeom prst="rect">
            <a:avLst/>
          </a:prstGeom>
          <a:noFill/>
        </p:spPr>
        <p:txBody>
          <a:bodyPr wrap="none" lIns="25400" tIns="12700" rIns="25400" bIns="12700">
            <a:spAutoFit/>
          </a:bodyPr>
          <a:lstStyle/>
          <a:p>
            <a:pPr algn="ctr"/>
            <a:r>
              <a:rPr b="0" dirty="0">
                <a:solidFill>
                  <a:srgbClr val="8C8C8C"/>
                </a:solidFill>
                <a:latin typeface="Meiryo"/>
                <a:ea typeface="Meiryo"/>
                <a:cs typeface="Meiryo"/>
              </a:rPr>
              <a:t>severe</a:t>
            </a:r>
          </a:p>
        </p:txBody>
      </p:sp>
      <p:sp>
        <p:nvSpPr>
          <p:cNvPr id="22" name="TextBox 21">
            <a:extLst>
              <a:ext uri="{FF2B5EF4-FFF2-40B4-BE49-F238E27FC236}">
                <a16:creationId xmlns:a16="http://schemas.microsoft.com/office/drawing/2014/main" id="{DDB977FB-4CA6-27B9-81F4-DB06B8F3637C}"/>
              </a:ext>
            </a:extLst>
          </p:cNvPr>
          <p:cNvSpPr txBox="1"/>
          <p:nvPr/>
        </p:nvSpPr>
        <p:spPr>
          <a:xfrm>
            <a:off x="3220107"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3" name="TextBox 22">
            <a:extLst>
              <a:ext uri="{FF2B5EF4-FFF2-40B4-BE49-F238E27FC236}">
                <a16:creationId xmlns:a16="http://schemas.microsoft.com/office/drawing/2014/main" id="{58C0E1E8-FFF3-34F9-C4A9-120D29685B1B}"/>
              </a:ext>
            </a:extLst>
          </p:cNvPr>
          <p:cNvSpPr txBox="1"/>
          <p:nvPr/>
        </p:nvSpPr>
        <p:spPr>
          <a:xfrm>
            <a:off x="6806653" y="2856879"/>
            <a:ext cx="655629"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slight</a:t>
            </a:r>
          </a:p>
        </p:txBody>
      </p:sp>
      <p:sp>
        <p:nvSpPr>
          <p:cNvPr id="24" name="TextBox 23">
            <a:extLst>
              <a:ext uri="{FF2B5EF4-FFF2-40B4-BE49-F238E27FC236}">
                <a16:creationId xmlns:a16="http://schemas.microsoft.com/office/drawing/2014/main" id="{1DB50F6C-A843-A198-923E-3D09134C7438}"/>
              </a:ext>
            </a:extLst>
          </p:cNvPr>
          <p:cNvSpPr txBox="1"/>
          <p:nvPr/>
        </p:nvSpPr>
        <p:spPr>
          <a:xfrm>
            <a:off x="8244735"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5" name="TextBox 24">
            <a:extLst>
              <a:ext uri="{FF2B5EF4-FFF2-40B4-BE49-F238E27FC236}">
                <a16:creationId xmlns:a16="http://schemas.microsoft.com/office/drawing/2014/main" id="{8EE01CE3-12CB-24CA-9A06-8F6BAE405904}"/>
              </a:ext>
            </a:extLst>
          </p:cNvPr>
          <p:cNvSpPr txBox="1"/>
          <p:nvPr/>
        </p:nvSpPr>
        <p:spPr>
          <a:xfrm>
            <a:off x="10088758" y="2856879"/>
            <a:ext cx="78848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severe</a:t>
            </a:r>
          </a:p>
        </p:txBody>
      </p:sp>
      <p:sp>
        <p:nvSpPr>
          <p:cNvPr id="26" name="TextBox 25">
            <a:extLst>
              <a:ext uri="{FF2B5EF4-FFF2-40B4-BE49-F238E27FC236}">
                <a16:creationId xmlns:a16="http://schemas.microsoft.com/office/drawing/2014/main" id="{7935C084-AE8B-8914-6EB6-C95ADF998EFB}"/>
              </a:ext>
            </a:extLst>
          </p:cNvPr>
          <p:cNvSpPr txBox="1"/>
          <p:nvPr/>
        </p:nvSpPr>
        <p:spPr>
          <a:xfrm>
            <a:off x="132039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a:t>
            </a:r>
          </a:p>
        </p:txBody>
      </p:sp>
      <p:sp>
        <p:nvSpPr>
          <p:cNvPr id="27" name="TextBox 26">
            <a:extLst>
              <a:ext uri="{FF2B5EF4-FFF2-40B4-BE49-F238E27FC236}">
                <a16:creationId xmlns:a16="http://schemas.microsoft.com/office/drawing/2014/main" id="{7F32B748-9FD6-5E3D-A361-143B593F4D11}"/>
              </a:ext>
            </a:extLst>
          </p:cNvPr>
          <p:cNvSpPr txBox="1"/>
          <p:nvPr/>
        </p:nvSpPr>
        <p:spPr>
          <a:xfrm>
            <a:off x="299740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II</a:t>
            </a:r>
          </a:p>
        </p:txBody>
      </p:sp>
      <p:sp>
        <p:nvSpPr>
          <p:cNvPr id="28" name="TextBox 27">
            <a:extLst>
              <a:ext uri="{FF2B5EF4-FFF2-40B4-BE49-F238E27FC236}">
                <a16:creationId xmlns:a16="http://schemas.microsoft.com/office/drawing/2014/main" id="{EA55B207-9AA9-6EAD-4E57-5D5178E80E5A}"/>
              </a:ext>
            </a:extLst>
          </p:cNvPr>
          <p:cNvSpPr txBox="1"/>
          <p:nvPr/>
        </p:nvSpPr>
        <p:spPr>
          <a:xfrm>
            <a:off x="4674412" y="5120640"/>
            <a:ext cx="1828800" cy="329184"/>
          </a:xfrm>
          <a:prstGeom prst="rect">
            <a:avLst/>
          </a:prstGeom>
          <a:noFill/>
        </p:spPr>
        <p:txBody>
          <a:bodyPr wrap="none" lIns="25400" tIns="12700" rIns="25400" bIns="12700">
            <a:spAutoFit/>
          </a:bodyPr>
          <a:lstStyle/>
          <a:p>
            <a:pPr algn="ctr"/>
            <a:r>
              <a:rPr sz="1500" b="1">
                <a:solidFill>
                  <a:srgbClr val="70AD47"/>
                </a:solidFill>
                <a:latin typeface="Meiryo"/>
                <a:ea typeface="Meiryo"/>
                <a:cs typeface="Meiryo"/>
              </a:rPr>
              <a:t>Class III</a:t>
            </a:r>
          </a:p>
        </p:txBody>
      </p:sp>
      <p:sp>
        <p:nvSpPr>
          <p:cNvPr id="29" name="TextBox 28">
            <a:extLst>
              <a:ext uri="{FF2B5EF4-FFF2-40B4-BE49-F238E27FC236}">
                <a16:creationId xmlns:a16="http://schemas.microsoft.com/office/drawing/2014/main" id="{093ECF76-0F3E-2BF5-C081-48A28FE51A22}"/>
              </a:ext>
            </a:extLst>
          </p:cNvPr>
          <p:cNvSpPr txBox="1"/>
          <p:nvPr/>
        </p:nvSpPr>
        <p:spPr>
          <a:xfrm>
            <a:off x="6355994"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IV</a:t>
            </a:r>
          </a:p>
        </p:txBody>
      </p:sp>
      <p:sp>
        <p:nvSpPr>
          <p:cNvPr id="30" name="TextBox 29">
            <a:extLst>
              <a:ext uri="{FF2B5EF4-FFF2-40B4-BE49-F238E27FC236}">
                <a16:creationId xmlns:a16="http://schemas.microsoft.com/office/drawing/2014/main" id="{2381C2C1-93BF-6D30-CEF5-AAA5E72F6642}"/>
              </a:ext>
            </a:extLst>
          </p:cNvPr>
          <p:cNvSpPr txBox="1"/>
          <p:nvPr/>
        </p:nvSpPr>
        <p:spPr>
          <a:xfrm>
            <a:off x="8032089"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V</a:t>
            </a:r>
          </a:p>
        </p:txBody>
      </p:sp>
      <p:sp>
        <p:nvSpPr>
          <p:cNvPr id="31" name="TextBox 30">
            <a:extLst>
              <a:ext uri="{FF2B5EF4-FFF2-40B4-BE49-F238E27FC236}">
                <a16:creationId xmlns:a16="http://schemas.microsoft.com/office/drawing/2014/main" id="{F910EA68-CBFF-B379-3A8A-2D363A3B64D7}"/>
              </a:ext>
            </a:extLst>
          </p:cNvPr>
          <p:cNvSpPr txBox="1"/>
          <p:nvPr/>
        </p:nvSpPr>
        <p:spPr>
          <a:xfrm>
            <a:off x="9704527" y="5120640"/>
            <a:ext cx="1828800" cy="329184"/>
          </a:xfrm>
          <a:prstGeom prst="rect">
            <a:avLst/>
          </a:prstGeom>
          <a:noFill/>
        </p:spPr>
        <p:txBody>
          <a:bodyPr wrap="none" lIns="25400" tIns="12700" rIns="25400" bIns="12700">
            <a:spAutoFit/>
          </a:bodyPr>
          <a:lstStyle/>
          <a:p>
            <a:pPr algn="ctr"/>
            <a:r>
              <a:rPr sz="1500" b="1">
                <a:solidFill>
                  <a:srgbClr val="C00000"/>
                </a:solidFill>
                <a:latin typeface="Meiryo"/>
                <a:ea typeface="Meiryo"/>
                <a:cs typeface="Meiryo"/>
              </a:rPr>
              <a:t>Class VI</a:t>
            </a:r>
          </a:p>
        </p:txBody>
      </p:sp>
      <p:sp>
        <p:nvSpPr>
          <p:cNvPr id="32" name="TextBox 31">
            <a:extLst>
              <a:ext uri="{FF2B5EF4-FFF2-40B4-BE49-F238E27FC236}">
                <a16:creationId xmlns:a16="http://schemas.microsoft.com/office/drawing/2014/main" id="{AE24AB45-2B70-815A-7C05-CD0E978C4492}"/>
              </a:ext>
            </a:extLst>
          </p:cNvPr>
          <p:cNvSpPr txBox="1"/>
          <p:nvPr/>
        </p:nvSpPr>
        <p:spPr>
          <a:xfrm rot="16200000">
            <a:off x="104997" y="4002952"/>
            <a:ext cx="1200650" cy="333425"/>
          </a:xfrm>
          <a:prstGeom prst="rect">
            <a:avLst/>
          </a:prstGeom>
          <a:noFill/>
        </p:spPr>
        <p:txBody>
          <a:bodyPr wrap="none" lIns="25400" tIns="12700" rIns="25400" bIns="12700">
            <a:spAutoFit/>
          </a:bodyPr>
          <a:lstStyle/>
          <a:p>
            <a:pPr algn="ctr"/>
            <a:r>
              <a:rPr sz="2000" b="1">
                <a:solidFill>
                  <a:srgbClr val="272727"/>
                </a:solidFill>
                <a:latin typeface="Meiryo"/>
                <a:ea typeface="Meiryo"/>
                <a:cs typeface="Meiryo"/>
              </a:rPr>
              <a:t>PPG 振幅</a:t>
            </a:r>
          </a:p>
        </p:txBody>
      </p:sp>
      <p:sp>
        <p:nvSpPr>
          <p:cNvPr id="4" name="テキスト ボックス 3">
            <a:extLst>
              <a:ext uri="{FF2B5EF4-FFF2-40B4-BE49-F238E27FC236}">
                <a16:creationId xmlns:a16="http://schemas.microsoft.com/office/drawing/2014/main" id="{6D828D3A-5ACF-C19C-0C7E-81F1ABBA3109}"/>
              </a:ext>
            </a:extLst>
          </p:cNvPr>
          <p:cNvSpPr txBox="1"/>
          <p:nvPr/>
        </p:nvSpPr>
        <p:spPr>
          <a:xfrm>
            <a:off x="1951104" y="5559458"/>
            <a:ext cx="8676158" cy="895630"/>
          </a:xfrm>
          <a:prstGeom prst="rect">
            <a:avLst/>
          </a:prstGeom>
          <a:noFill/>
        </p:spPr>
        <p:txBody>
          <a:bodyPr wrap="none" rtlCol="0">
            <a:spAutoFit/>
          </a:bodyPr>
          <a:lstStyle/>
          <a:p>
            <a:pPr>
              <a:lnSpc>
                <a:spcPct val="110000"/>
              </a:lnSpc>
            </a:pPr>
            <a:r>
              <a:rPr lang="en-US" altLang="ja-JP" sz="2400" b="1" dirty="0">
                <a:latin typeface="Meiryo"/>
                <a:ea typeface="Meiryo"/>
                <a:cs typeface="Meiryo"/>
              </a:rPr>
              <a:t>CABG</a:t>
            </a:r>
            <a:r>
              <a:rPr lang="ja-JP" altLang="en-US" sz="2400" b="1">
                <a:latin typeface="Meiryo"/>
                <a:ea typeface="Meiryo"/>
                <a:cs typeface="Meiryo"/>
              </a:rPr>
              <a:t>症例で</a:t>
            </a:r>
            <a:r>
              <a:rPr lang="en-US" altLang="ja-JP" sz="2400" b="1" dirty="0">
                <a:latin typeface="Meiryo"/>
                <a:ea typeface="Meiryo"/>
                <a:cs typeface="Meiryo"/>
              </a:rPr>
              <a:t>PPG</a:t>
            </a:r>
            <a:r>
              <a:rPr lang="ja-JP" altLang="en-US" sz="2400" b="1">
                <a:latin typeface="Meiryo"/>
                <a:ea typeface="Meiryo"/>
                <a:cs typeface="Meiryo"/>
              </a:rPr>
              <a:t>波形を</a:t>
            </a:r>
            <a:r>
              <a:rPr lang="en-US" altLang="ja-JP" sz="2400" b="1" dirty="0">
                <a:latin typeface="Meiryo"/>
                <a:ea typeface="Meiryo"/>
                <a:cs typeface="Meiryo"/>
              </a:rPr>
              <a:t> </a:t>
            </a:r>
            <a:r>
              <a:rPr lang="ja-JP" altLang="en-US" sz="2400" b="1">
                <a:latin typeface="Meiryo"/>
                <a:ea typeface="Meiryo"/>
                <a:cs typeface="Meiryo"/>
              </a:rPr>
              <a:t>切痕位置</a:t>
            </a:r>
            <a:r>
              <a:rPr lang="en-US" altLang="ja-JP" sz="2400" b="1" dirty="0">
                <a:latin typeface="Meiryo"/>
                <a:ea typeface="Meiryo"/>
                <a:cs typeface="Meiryo"/>
              </a:rPr>
              <a:t> × </a:t>
            </a:r>
            <a:r>
              <a:rPr lang="ja-JP" altLang="en-US" sz="2400" b="1">
                <a:latin typeface="Meiryo"/>
                <a:ea typeface="Meiryo"/>
                <a:cs typeface="Meiryo"/>
              </a:rPr>
              <a:t>振幅 で</a:t>
            </a:r>
            <a:r>
              <a:rPr lang="en-US" altLang="ja-JP" sz="2400" b="1" dirty="0">
                <a:latin typeface="Meiryo"/>
                <a:ea typeface="Meiryo"/>
                <a:cs typeface="Meiryo"/>
              </a:rPr>
              <a:t>6</a:t>
            </a:r>
            <a:r>
              <a:rPr lang="ja-JP" altLang="en-US" sz="2400" b="1">
                <a:latin typeface="Meiryo"/>
                <a:ea typeface="Meiryo"/>
                <a:cs typeface="Meiryo"/>
              </a:rPr>
              <a:t>つに分類。　</a:t>
            </a:r>
            <a:endParaRPr lang="en-US" altLang="ja-JP" sz="2400" b="1" dirty="0">
              <a:latin typeface="Meiryo"/>
              <a:ea typeface="Meiryo"/>
              <a:cs typeface="Meiryo"/>
            </a:endParaRPr>
          </a:p>
          <a:p>
            <a:pPr>
              <a:lnSpc>
                <a:spcPct val="110000"/>
              </a:lnSpc>
            </a:pPr>
            <a:r>
              <a:rPr lang="ja-JP" altLang="en-US" sz="2400" b="1">
                <a:latin typeface="Meiryo"/>
                <a:ea typeface="Meiryo"/>
                <a:cs typeface="Meiryo"/>
              </a:rPr>
              <a:t>分類が血圧変化や循環パラメータと関連があるか調べた。</a:t>
            </a:r>
            <a:endParaRPr kumimoji="1" lang="ja-JP" altLang="en-US" sz="2400" b="1"/>
          </a:p>
        </p:txBody>
      </p:sp>
      <p:sp>
        <p:nvSpPr>
          <p:cNvPr id="3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3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28/55</a:t>
            </a:r>
          </a:p>
        </p:txBody>
      </p:sp>
    </p:spTree>
    <p:extLst>
      <p:ext uri="{BB962C8B-B14F-4D97-AF65-F5344CB8AC3E}">
        <p14:creationId xmlns:p14="http://schemas.microsoft.com/office/powerpoint/2010/main" val="18334007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21BB2-C3AC-D389-0079-C15A9126A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0CFEC-44D8-2442-2332-E2F79E8A884C}"/>
              </a:ext>
            </a:extLst>
          </p:cNvPr>
          <p:cNvSpPr>
            <a:spLocks noGrp="1"/>
          </p:cNvSpPr>
          <p:nvPr>
            <p:ph type="title"/>
          </p:nvPr>
        </p:nvSpPr>
        <p:spPr/>
        <p:txBody>
          <a:bodyPr>
            <a:normAutofit/>
          </a:bodyPr>
          <a:lstStyle/>
          <a:p>
            <a:pPr algn="l"/>
            <a:r>
              <a:rPr sz="4600" dirty="0">
                <a:latin typeface="Meiryo"/>
                <a:ea typeface="Meiryo"/>
                <a:cs typeface="Meiryo"/>
              </a:rPr>
              <a:t>2.3.2  波形の6分類</a:t>
            </a:r>
          </a:p>
        </p:txBody>
      </p:sp>
      <p:sp>
        <p:nvSpPr>
          <p:cNvPr id="13" name="Off-page Connector 4">
            <a:extLst>
              <a:ext uri="{FF2B5EF4-FFF2-40B4-BE49-F238E27FC236}">
                <a16:creationId xmlns:a16="http://schemas.microsoft.com/office/drawing/2014/main" id="{934E9F3E-5064-B3E8-CB0F-6905C4297CEC}"/>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523BEF27-76BB-81FA-1A7D-8F14768898A9}"/>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D723B94C-9217-9F4A-91DE-BF5AFA255F1F}"/>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9EC3082-930D-D3C0-51FF-267D58BF216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9" name="Picture 8" descr="15_tusman.png">
            <a:extLst>
              <a:ext uri="{FF2B5EF4-FFF2-40B4-BE49-F238E27FC236}">
                <a16:creationId xmlns:a16="http://schemas.microsoft.com/office/drawing/2014/main" id="{17DF98B4-4112-E40F-4C68-F344E0D26A6B}"/>
              </a:ext>
            </a:extLst>
          </p:cNvPr>
          <p:cNvPicPr>
            <a:picLocks noChangeAspect="1"/>
          </p:cNvPicPr>
          <p:nvPr/>
        </p:nvPicPr>
        <p:blipFill>
          <a:blip r:embed="rId3"/>
          <a:stretch>
            <a:fillRect/>
          </a:stretch>
        </p:blipFill>
        <p:spPr>
          <a:xfrm>
            <a:off x="720986" y="1800000"/>
            <a:ext cx="10726027" cy="4320000"/>
          </a:xfrm>
          <a:prstGeom prst="rect">
            <a:avLst/>
          </a:prstGeom>
        </p:spPr>
      </p:pic>
      <p:pic>
        <p:nvPicPr>
          <p:cNvPr id="3" name="図 2">
            <a:extLst>
              <a:ext uri="{FF2B5EF4-FFF2-40B4-BE49-F238E27FC236}">
                <a16:creationId xmlns:a16="http://schemas.microsoft.com/office/drawing/2014/main" id="{A236D4E2-3099-F0FD-523C-93E225DCA580}"/>
              </a:ext>
            </a:extLst>
          </p:cNvPr>
          <p:cNvPicPr>
            <a:picLocks noChangeAspect="1"/>
          </p:cNvPicPr>
          <p:nvPr/>
        </p:nvPicPr>
        <p:blipFill>
          <a:blip r:embed="rId4"/>
          <a:stretch>
            <a:fillRect/>
          </a:stretch>
        </p:blipFill>
        <p:spPr>
          <a:xfrm>
            <a:off x="744987" y="1690688"/>
            <a:ext cx="11115624" cy="4050414"/>
          </a:xfrm>
          <a:prstGeom prst="rect">
            <a:avLst/>
          </a:prstGeom>
        </p:spPr>
      </p:pic>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28/55</a:t>
            </a:r>
          </a:p>
        </p:txBody>
      </p:sp>
    </p:spTree>
    <p:extLst>
      <p:ext uri="{BB962C8B-B14F-4D97-AF65-F5344CB8AC3E}">
        <p14:creationId xmlns:p14="http://schemas.microsoft.com/office/powerpoint/2010/main" val="6683892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815C-2CC2-3F24-F6F3-6185A510B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72301-5AC6-3B3A-71EE-CC2222AA02BF}"/>
              </a:ext>
            </a:extLst>
          </p:cNvPr>
          <p:cNvSpPr>
            <a:spLocks noGrp="1"/>
          </p:cNvSpPr>
          <p:nvPr>
            <p:ph type="title"/>
          </p:nvPr>
        </p:nvSpPr>
        <p:spPr/>
        <p:txBody>
          <a:bodyPr/>
          <a:lstStyle/>
          <a:p>
            <a:pPr algn="l"/>
            <a:r>
              <a:rPr sz="4600" dirty="0">
                <a:latin typeface="Meiryo"/>
                <a:ea typeface="Meiryo"/>
                <a:cs typeface="Meiryo"/>
              </a:rPr>
              <a:t>2.3.2  6分類と血行動態</a:t>
            </a:r>
          </a:p>
        </p:txBody>
      </p:sp>
      <p:sp>
        <p:nvSpPr>
          <p:cNvPr id="12" name="Off-page Connector 4">
            <a:extLst>
              <a:ext uri="{FF2B5EF4-FFF2-40B4-BE49-F238E27FC236}">
                <a16:creationId xmlns:a16="http://schemas.microsoft.com/office/drawing/2014/main" id="{C4009E35-BB85-D0CA-44E6-8905B9D59A15}"/>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93209FE-98B2-0622-AFB2-ED8DDD424E8C}"/>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a:extLst>
              <a:ext uri="{FF2B5EF4-FFF2-40B4-BE49-F238E27FC236}">
                <a16:creationId xmlns:a16="http://schemas.microsoft.com/office/drawing/2014/main" id="{53D5C8C7-03C9-3FD5-5085-51D16DA9741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BFD89725-E1CF-4E4A-3D78-94A042C0121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3" name="図 2">
            <a:extLst>
              <a:ext uri="{FF2B5EF4-FFF2-40B4-BE49-F238E27FC236}">
                <a16:creationId xmlns:a16="http://schemas.microsoft.com/office/drawing/2014/main" id="{8DF31F8E-F11A-C9E0-1E9F-EDEE84B3DB8A}"/>
              </a:ext>
            </a:extLst>
          </p:cNvPr>
          <p:cNvPicPr>
            <a:picLocks noChangeAspect="1"/>
          </p:cNvPicPr>
          <p:nvPr/>
        </p:nvPicPr>
        <p:blipFill>
          <a:blip r:embed="rId3"/>
          <a:stretch>
            <a:fillRect/>
          </a:stretch>
        </p:blipFill>
        <p:spPr>
          <a:xfrm>
            <a:off x="1349391" y="1555420"/>
            <a:ext cx="9497786" cy="5086680"/>
          </a:xfrm>
          <a:prstGeom prst="rect">
            <a:avLst/>
          </a:prstGeom>
        </p:spPr>
      </p:pic>
      <p:sp>
        <p:nvSpPr>
          <p:cNvPr id="4" name="callout">
            <a:extLst>
              <a:ext uri="{FF2B5EF4-FFF2-40B4-BE49-F238E27FC236}">
                <a16:creationId xmlns:a16="http://schemas.microsoft.com/office/drawing/2014/main" id="{B5086CE6-A9B1-B237-A41A-55E5CFE6DB85}"/>
              </a:ext>
            </a:extLst>
          </p:cNvPr>
          <p:cNvSpPr/>
          <p:nvPr/>
        </p:nvSpPr>
        <p:spPr>
          <a:xfrm>
            <a:off x="1344822" y="5861538"/>
            <a:ext cx="9509697" cy="382641"/>
          </a:xfrm>
          <a:prstGeom prst="roundRect">
            <a:avLst>
              <a:gd name="adj" fmla="val 12000"/>
            </a:avLst>
          </a:prstGeom>
          <a:solidFill>
            <a:srgbClr val="F2E2B3">
              <a:alpha val="28000"/>
            </a:srgbClr>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endParaRPr sz="2400" b="1" dirty="0">
              <a:solidFill>
                <a:srgbClr val="262626"/>
              </a:solidFill>
              <a:latin typeface="Meiryo"/>
              <a:ea typeface="Meiryo"/>
              <a:cs typeface="Meiryo"/>
            </a:endParaRP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29/55</a:t>
            </a:r>
          </a:p>
        </p:txBody>
      </p:sp>
    </p:spTree>
    <p:extLst>
      <p:ext uri="{BB962C8B-B14F-4D97-AF65-F5344CB8AC3E}">
        <p14:creationId xmlns:p14="http://schemas.microsoft.com/office/powerpoint/2010/main" val="20339620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2.3.2  6分類と血行動態</a:t>
            </a:r>
          </a:p>
        </p:txBody>
      </p:sp>
      <p:sp>
        <p:nvSpPr>
          <p:cNvPr id="12" name="Off-page Connector 4"/>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2019（心臓手術 15 名・190 エピソード）</a:t>
            </a:r>
          </a:p>
        </p:txBody>
      </p:sp>
      <p:sp>
        <p:nvSpPr>
          <p:cNvPr id="18" name="Rounded Rectangle 17"/>
          <p:cNvSpPr/>
          <p:nvPr/>
        </p:nvSpPr>
        <p:spPr>
          <a:xfrm>
            <a:off x="502920" y="1783080"/>
            <a:ext cx="3529584" cy="1234440"/>
          </a:xfrm>
          <a:prstGeom prst="round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I・II</a:t>
            </a:r>
          </a:p>
        </p:txBody>
      </p:sp>
      <p:sp>
        <p:nvSpPr>
          <p:cNvPr id="20" name="TextBox 19"/>
          <p:cNvSpPr txBox="1"/>
          <p:nvPr/>
        </p:nvSpPr>
        <p:spPr>
          <a:xfrm>
            <a:off x="594360"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血管収縮</a:t>
            </a:r>
          </a:p>
        </p:txBody>
      </p:sp>
      <p:sp>
        <p:nvSpPr>
          <p:cNvPr id="21" name="Rounded Rectangle 20"/>
          <p:cNvSpPr/>
          <p:nvPr/>
        </p:nvSpPr>
        <p:spPr>
          <a:xfrm>
            <a:off x="4306824" y="1783080"/>
            <a:ext cx="3529584" cy="1234440"/>
          </a:xfrm>
          <a:prstGeom prst="roundRect">
            <a:avLst/>
          </a:prstGeom>
          <a:solidFill>
            <a:srgbClr val="4E8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398264"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III</a:t>
            </a:r>
          </a:p>
        </p:txBody>
      </p:sp>
      <p:sp>
        <p:nvSpPr>
          <p:cNvPr id="23" name="TextBox 22"/>
          <p:cNvSpPr txBox="1"/>
          <p:nvPr/>
        </p:nvSpPr>
        <p:spPr>
          <a:xfrm>
            <a:off x="4398264"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正常</a:t>
            </a:r>
          </a:p>
        </p:txBody>
      </p:sp>
      <p:sp>
        <p:nvSpPr>
          <p:cNvPr id="24" name="Rounded Rectangle 23"/>
          <p:cNvSpPr/>
          <p:nvPr/>
        </p:nvSpPr>
        <p:spPr>
          <a:xfrm>
            <a:off x="8110728" y="1783080"/>
            <a:ext cx="3529584" cy="1234440"/>
          </a:xfrm>
          <a:prstGeom prst="round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202168"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IV〜VI</a:t>
            </a:r>
          </a:p>
        </p:txBody>
      </p:sp>
      <p:sp>
        <p:nvSpPr>
          <p:cNvPr id="26" name="TextBox 25"/>
          <p:cNvSpPr txBox="1"/>
          <p:nvPr/>
        </p:nvSpPr>
        <p:spPr>
          <a:xfrm>
            <a:off x="8202168"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血管拡張</a:t>
            </a:r>
          </a:p>
        </p:txBody>
      </p:sp>
      <p:sp>
        <p:nvSpPr>
          <p:cNvPr id="27" name="Rounded Rectangle 26"/>
          <p:cNvSpPr/>
          <p:nvPr/>
        </p:nvSpPr>
        <p:spPr>
          <a:xfrm>
            <a:off x="502920" y="3291840"/>
            <a:ext cx="11183112" cy="13258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85800" y="3493008"/>
            <a:ext cx="10789920" cy="541553"/>
          </a:xfrm>
          <a:prstGeom prst="rect">
            <a:avLst/>
          </a:prstGeom>
          <a:noFill/>
        </p:spPr>
        <p:txBody>
          <a:bodyPr wrap="square" lIns="0" tIns="0" rIns="0" bIns="0" anchor="t">
            <a:spAutoFit/>
          </a:bodyPr>
          <a:lstStyle/>
          <a:p>
            <a:pPr algn="ctr"/>
            <a:r>
              <a:rPr sz="2500" b="1">
                <a:solidFill>
                  <a:srgbClr val="262626"/>
                </a:solidFill>
                <a:latin typeface="Meiryo"/>
                <a:ea typeface="Meiryo"/>
                <a:cs typeface="Meiryo"/>
              </a:rPr>
              <a:t>収縮期血圧との相関</a:t>
            </a:r>
          </a:p>
        </p:txBody>
      </p:sp>
      <p:sp>
        <p:nvSpPr>
          <p:cNvPr id="29" name="TextBox 28"/>
          <p:cNvSpPr txBox="1"/>
          <p:nvPr/>
        </p:nvSpPr>
        <p:spPr>
          <a:xfrm>
            <a:off x="685800" y="3977640"/>
            <a:ext cx="10789920" cy="671212"/>
          </a:xfrm>
          <a:prstGeom prst="rect">
            <a:avLst/>
          </a:prstGeom>
          <a:noFill/>
        </p:spPr>
        <p:txBody>
          <a:bodyPr wrap="square" lIns="0" tIns="0" rIns="0" bIns="0" anchor="t">
            <a:spAutoFit/>
          </a:bodyPr>
          <a:lstStyle/>
          <a:p>
            <a:pPr algn="ctr"/>
            <a:r>
              <a:rPr sz="3200" b="1">
                <a:solidFill>
                  <a:srgbClr val="0072B2"/>
                </a:solidFill>
                <a:latin typeface="Meiryo"/>
                <a:ea typeface="Meiryo"/>
                <a:cs typeface="Meiryo"/>
              </a:rPr>
              <a:t>r ＝ −0.90　（P&lt;0.0001）</a:t>
            </a:r>
          </a:p>
        </p:txBody>
      </p:sp>
      <p:sp>
        <p:nvSpPr>
          <p:cNvPr id="30" name="Rounded Rectangle 29"/>
          <p:cNvSpPr/>
          <p:nvPr/>
        </p:nvSpPr>
        <p:spPr>
          <a:xfrm>
            <a:off x="502920" y="4846320"/>
            <a:ext cx="11183112" cy="12344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5047488"/>
            <a:ext cx="10789920" cy="1067828"/>
          </a:xfrm>
          <a:prstGeom prst="rect">
            <a:avLst/>
          </a:prstGeom>
          <a:noFill/>
        </p:spPr>
        <p:txBody>
          <a:bodyPr wrap="square" lIns="0" tIns="0" rIns="0" bIns="0" anchor="t">
            <a:spAutoFit/>
          </a:bodyPr>
          <a:lstStyle/>
          <a:p>
            <a:pPr algn="ctr">
              <a:spcAft>
                <a:spcPts val="400"/>
              </a:spcAft>
            </a:pPr>
            <a:r>
              <a:rPr sz="2600" b="1">
                <a:solidFill>
                  <a:srgbClr val="262626"/>
                </a:solidFill>
                <a:latin typeface="Meiryo"/>
                <a:ea typeface="Meiryo"/>
                <a:cs typeface="Meiryo"/>
              </a:rPr>
              <a:t>低血圧の検出　感度 100%　・　特異度 97.9%</a:t>
            </a:r>
          </a:p>
          <a:p>
            <a:pPr algn="ctr">
              <a:spcAft>
                <a:spcPts val="400"/>
              </a:spcAft>
            </a:pPr>
            <a:r>
              <a:rPr sz="2600" b="1">
                <a:solidFill>
                  <a:srgbClr val="262626"/>
                </a:solidFill>
                <a:latin typeface="Meiryo"/>
                <a:ea typeface="Meiryo"/>
                <a:cs typeface="Meiryo"/>
              </a:rPr>
              <a:t>高血圧の検出　感度 94.9%　・　特異度 99.2%</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29/55</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2.3.3  導入時の低血圧</a:t>
            </a:r>
          </a:p>
        </p:txBody>
      </p:sp>
      <p:sp>
        <p:nvSpPr>
          <p:cNvPr id="12" name="Off-page Connector 4"/>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17" name="deflabel"/>
          <p:cNvSpPr txBox="1"/>
          <p:nvPr/>
        </p:nvSpPr>
        <p:spPr>
          <a:xfrm>
            <a:off x="566928" y="1664208"/>
            <a:ext cx="5760720" cy="420624"/>
          </a:xfrm>
          <a:prstGeom prst="rect">
            <a:avLst/>
          </a:prstGeom>
          <a:noFill/>
        </p:spPr>
        <p:txBody>
          <a:bodyPr wrap="square" lIns="0" tIns="0" rIns="0" bIns="0" anchor="ctr">
            <a:spAutoFit/>
          </a:bodyPr>
          <a:lstStyle/>
          <a:p>
            <a:pPr algn="l"/>
            <a:r>
              <a:rPr sz="2200" b="1">
                <a:solidFill>
                  <a:srgbClr val="262626"/>
                </a:solidFill>
                <a:latin typeface="Meiryo"/>
                <a:ea typeface="Meiryo"/>
                <a:cs typeface="Meiryo"/>
              </a:rPr>
              <a:t>Dicpleth ＝ 切痕の高さ ÷ 脈波振幅</a:t>
            </a:r>
          </a:p>
        </p:txBody>
      </p:sp>
      <p:sp>
        <p:nvSpPr>
          <p:cNvPr id="18" name="pbox0"/>
          <p:cNvSpPr/>
          <p:nvPr/>
        </p:nvSpPr>
        <p:spPr>
          <a:xfrm>
            <a:off x="5486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pb0"/>
          <p:cNvCxnSpPr/>
          <p:nvPr/>
        </p:nvCxnSpPr>
        <p:spPr>
          <a:xfrm>
            <a:off x="6766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pw0"/>
          <p:cNvSpPr/>
          <p:nvPr/>
        </p:nvSpPr>
        <p:spPr>
          <a:xfrm>
            <a:off x="676656" y="2770032"/>
            <a:ext cx="2487168" cy="1125312"/>
          </a:xfrm>
          <a:custGeom>
            <a:avLst/>
            <a:gdLst/>
            <a:ahLst/>
            <a:cxnLst/>
            <a:rect l="l" t="t" r="r" b="b"/>
            <a:pathLst>
              <a:path w="2487168" h="1125312">
                <a:moveTo>
                  <a:pt x="0" y="1124624"/>
                </a:moveTo>
                <a:lnTo>
                  <a:pt x="13895" y="1124278"/>
                </a:lnTo>
                <a:lnTo>
                  <a:pt x="27790" y="1123775"/>
                </a:lnTo>
                <a:lnTo>
                  <a:pt x="41684" y="1123055"/>
                </a:lnTo>
                <a:lnTo>
                  <a:pt x="55579" y="1122035"/>
                </a:lnTo>
                <a:lnTo>
                  <a:pt x="69474" y="1120609"/>
                </a:lnTo>
                <a:lnTo>
                  <a:pt x="83369" y="1118641"/>
                </a:lnTo>
                <a:lnTo>
                  <a:pt x="97264" y="1115956"/>
                </a:lnTo>
                <a:lnTo>
                  <a:pt x="111158" y="1112342"/>
                </a:lnTo>
                <a:lnTo>
                  <a:pt x="125053" y="1107538"/>
                </a:lnTo>
                <a:lnTo>
                  <a:pt x="138948" y="1101234"/>
                </a:lnTo>
                <a:lnTo>
                  <a:pt x="152843" y="1093068"/>
                </a:lnTo>
                <a:lnTo>
                  <a:pt x="166738" y="1082628"/>
                </a:lnTo>
                <a:lnTo>
                  <a:pt x="180632" y="1069457"/>
                </a:lnTo>
                <a:lnTo>
                  <a:pt x="194527" y="1053061"/>
                </a:lnTo>
                <a:lnTo>
                  <a:pt x="208422" y="1032923"/>
                </a:lnTo>
                <a:lnTo>
                  <a:pt x="222317" y="1008527"/>
                </a:lnTo>
                <a:lnTo>
                  <a:pt x="236211" y="979384"/>
                </a:lnTo>
                <a:lnTo>
                  <a:pt x="250106" y="945061"/>
                </a:lnTo>
                <a:lnTo>
                  <a:pt x="264001" y="905218"/>
                </a:lnTo>
                <a:lnTo>
                  <a:pt x="277896" y="859651"/>
                </a:lnTo>
                <a:lnTo>
                  <a:pt x="291791" y="808329"/>
                </a:lnTo>
                <a:lnTo>
                  <a:pt x="305685" y="751430"/>
                </a:lnTo>
                <a:lnTo>
                  <a:pt x="319580" y="689376"/>
                </a:lnTo>
                <a:lnTo>
                  <a:pt x="333475" y="622850"/>
                </a:lnTo>
                <a:lnTo>
                  <a:pt x="347370" y="552813"/>
                </a:lnTo>
                <a:lnTo>
                  <a:pt x="361265" y="480490"/>
                </a:lnTo>
                <a:lnTo>
                  <a:pt x="375159" y="407355"/>
                </a:lnTo>
                <a:lnTo>
                  <a:pt x="389054" y="335082"/>
                </a:lnTo>
                <a:lnTo>
                  <a:pt x="402949" y="265494"/>
                </a:lnTo>
                <a:lnTo>
                  <a:pt x="416844" y="200486"/>
                </a:lnTo>
                <a:lnTo>
                  <a:pt x="430739" y="141940"/>
                </a:lnTo>
                <a:lnTo>
                  <a:pt x="444633" y="91638"/>
                </a:lnTo>
                <a:lnTo>
                  <a:pt x="458528" y="51165"/>
                </a:lnTo>
                <a:lnTo>
                  <a:pt x="472423" y="21831"/>
                </a:lnTo>
                <a:lnTo>
                  <a:pt x="486318" y="4592"/>
                </a:lnTo>
                <a:lnTo>
                  <a:pt x="500213" y="0"/>
                </a:lnTo>
                <a:lnTo>
                  <a:pt x="514107" y="8168"/>
                </a:lnTo>
                <a:lnTo>
                  <a:pt x="528002" y="28764"/>
                </a:lnTo>
                <a:lnTo>
                  <a:pt x="541897" y="61027"/>
                </a:lnTo>
                <a:lnTo>
                  <a:pt x="555792" y="103809"/>
                </a:lnTo>
                <a:lnTo>
                  <a:pt x="569687" y="155638"/>
                </a:lnTo>
                <a:lnTo>
                  <a:pt x="583581" y="214796"/>
                </a:lnTo>
                <a:lnTo>
                  <a:pt x="597476" y="279404"/>
                </a:lnTo>
                <a:lnTo>
                  <a:pt x="611371" y="347519"/>
                </a:lnTo>
                <a:lnTo>
                  <a:pt x="625266" y="417220"/>
                </a:lnTo>
                <a:lnTo>
                  <a:pt x="639160" y="486687"/>
                </a:lnTo>
                <a:lnTo>
                  <a:pt x="653055" y="554272"/>
                </a:lnTo>
                <a:lnTo>
                  <a:pt x="666950" y="618552"/>
                </a:lnTo>
                <a:lnTo>
                  <a:pt x="680845" y="678358"/>
                </a:lnTo>
                <a:lnTo>
                  <a:pt x="694740" y="732797"/>
                </a:lnTo>
                <a:lnTo>
                  <a:pt x="708634" y="781249"/>
                </a:lnTo>
                <a:lnTo>
                  <a:pt x="722529" y="823356"/>
                </a:lnTo>
                <a:lnTo>
                  <a:pt x="736424" y="858991"/>
                </a:lnTo>
                <a:lnTo>
                  <a:pt x="750319" y="888232"/>
                </a:lnTo>
                <a:lnTo>
                  <a:pt x="764214" y="911320"/>
                </a:lnTo>
                <a:lnTo>
                  <a:pt x="778108" y="928621"/>
                </a:lnTo>
                <a:lnTo>
                  <a:pt x="792003" y="940590"/>
                </a:lnTo>
                <a:lnTo>
                  <a:pt x="805898" y="947736"/>
                </a:lnTo>
                <a:lnTo>
                  <a:pt x="819793" y="950594"/>
                </a:lnTo>
                <a:lnTo>
                  <a:pt x="833688" y="949702"/>
                </a:lnTo>
                <a:lnTo>
                  <a:pt x="847582" y="945582"/>
                </a:lnTo>
                <a:lnTo>
                  <a:pt x="861477" y="938730"/>
                </a:lnTo>
                <a:lnTo>
                  <a:pt x="875372" y="929607"/>
                </a:lnTo>
                <a:lnTo>
                  <a:pt x="889267" y="918637"/>
                </a:lnTo>
                <a:lnTo>
                  <a:pt x="903162" y="906206"/>
                </a:lnTo>
                <a:lnTo>
                  <a:pt x="917056" y="892665"/>
                </a:lnTo>
                <a:lnTo>
                  <a:pt x="930951" y="878333"/>
                </a:lnTo>
                <a:lnTo>
                  <a:pt x="944846" y="863500"/>
                </a:lnTo>
                <a:lnTo>
                  <a:pt x="958741" y="848433"/>
                </a:lnTo>
                <a:lnTo>
                  <a:pt x="972636" y="833377"/>
                </a:lnTo>
                <a:lnTo>
                  <a:pt x="986530" y="818560"/>
                </a:lnTo>
                <a:lnTo>
                  <a:pt x="1000425" y="804193"/>
                </a:lnTo>
                <a:lnTo>
                  <a:pt x="1014320" y="790476"/>
                </a:lnTo>
                <a:lnTo>
                  <a:pt x="1028215" y="777592"/>
                </a:lnTo>
                <a:lnTo>
                  <a:pt x="1042109" y="765712"/>
                </a:lnTo>
                <a:lnTo>
                  <a:pt x="1056004" y="754991"/>
                </a:lnTo>
                <a:lnTo>
                  <a:pt x="1069899" y="745570"/>
                </a:lnTo>
                <a:lnTo>
                  <a:pt x="1083794" y="737572"/>
                </a:lnTo>
                <a:lnTo>
                  <a:pt x="1097689" y="731102"/>
                </a:lnTo>
                <a:lnTo>
                  <a:pt x="1111583" y="726246"/>
                </a:lnTo>
                <a:lnTo>
                  <a:pt x="1125478" y="723067"/>
                </a:lnTo>
                <a:lnTo>
                  <a:pt x="1139373" y="721609"/>
                </a:lnTo>
                <a:lnTo>
                  <a:pt x="1153268" y="721890"/>
                </a:lnTo>
                <a:lnTo>
                  <a:pt x="1167163" y="723907"/>
                </a:lnTo>
                <a:lnTo>
                  <a:pt x="1181057" y="727636"/>
                </a:lnTo>
                <a:lnTo>
                  <a:pt x="1194952" y="733028"/>
                </a:lnTo>
                <a:lnTo>
                  <a:pt x="1208847" y="740015"/>
                </a:lnTo>
                <a:lnTo>
                  <a:pt x="1222742" y="748508"/>
                </a:lnTo>
                <a:lnTo>
                  <a:pt x="1236637" y="758402"/>
                </a:lnTo>
                <a:lnTo>
                  <a:pt x="1250531" y="769577"/>
                </a:lnTo>
                <a:lnTo>
                  <a:pt x="1264426" y="781898"/>
                </a:lnTo>
                <a:lnTo>
                  <a:pt x="1278321" y="795221"/>
                </a:lnTo>
                <a:lnTo>
                  <a:pt x="1292216" y="809395"/>
                </a:lnTo>
                <a:lnTo>
                  <a:pt x="1306111" y="824263"/>
                </a:lnTo>
                <a:lnTo>
                  <a:pt x="1320005" y="839669"/>
                </a:lnTo>
                <a:lnTo>
                  <a:pt x="1333900" y="855454"/>
                </a:lnTo>
                <a:lnTo>
                  <a:pt x="1347795" y="871466"/>
                </a:lnTo>
                <a:lnTo>
                  <a:pt x="1361690" y="887557"/>
                </a:lnTo>
                <a:lnTo>
                  <a:pt x="1375585" y="903588"/>
                </a:lnTo>
                <a:lnTo>
                  <a:pt x="1389479" y="919429"/>
                </a:lnTo>
                <a:lnTo>
                  <a:pt x="1403374" y="934962"/>
                </a:lnTo>
                <a:lnTo>
                  <a:pt x="1417269" y="950082"/>
                </a:lnTo>
                <a:lnTo>
                  <a:pt x="1431164" y="964697"/>
                </a:lnTo>
                <a:lnTo>
                  <a:pt x="1445059" y="978727"/>
                </a:lnTo>
                <a:lnTo>
                  <a:pt x="1458953" y="992108"/>
                </a:lnTo>
                <a:lnTo>
                  <a:pt x="1472848" y="1004790"/>
                </a:lnTo>
                <a:lnTo>
                  <a:pt x="1486743" y="1016734"/>
                </a:lnTo>
                <a:lnTo>
                  <a:pt x="1500638" y="1027916"/>
                </a:lnTo>
                <a:lnTo>
                  <a:pt x="1514532" y="1038323"/>
                </a:lnTo>
                <a:lnTo>
                  <a:pt x="1528427" y="1047953"/>
                </a:lnTo>
                <a:lnTo>
                  <a:pt x="1542322" y="1056813"/>
                </a:lnTo>
                <a:lnTo>
                  <a:pt x="1556217" y="1064920"/>
                </a:lnTo>
                <a:lnTo>
                  <a:pt x="1570112" y="1072297"/>
                </a:lnTo>
                <a:lnTo>
                  <a:pt x="1584006" y="1078974"/>
                </a:lnTo>
                <a:lnTo>
                  <a:pt x="1597901" y="1084984"/>
                </a:lnTo>
                <a:lnTo>
                  <a:pt x="1611796" y="1090366"/>
                </a:lnTo>
                <a:lnTo>
                  <a:pt x="1625691" y="1095160"/>
                </a:lnTo>
                <a:lnTo>
                  <a:pt x="1639586" y="1099409"/>
                </a:lnTo>
                <a:lnTo>
                  <a:pt x="1653480" y="1103155"/>
                </a:lnTo>
                <a:lnTo>
                  <a:pt x="1667375" y="1106441"/>
                </a:lnTo>
                <a:lnTo>
                  <a:pt x="1681270" y="1109309"/>
                </a:lnTo>
                <a:lnTo>
                  <a:pt x="1695165" y="1111799"/>
                </a:lnTo>
                <a:lnTo>
                  <a:pt x="1709060" y="1113951"/>
                </a:lnTo>
                <a:lnTo>
                  <a:pt x="1722954" y="1115802"/>
                </a:lnTo>
                <a:lnTo>
                  <a:pt x="1736849" y="1117385"/>
                </a:lnTo>
                <a:lnTo>
                  <a:pt x="1750744" y="1118734"/>
                </a:lnTo>
                <a:lnTo>
                  <a:pt x="1764639" y="1119876"/>
                </a:lnTo>
                <a:lnTo>
                  <a:pt x="1778534" y="1120839"/>
                </a:lnTo>
                <a:lnTo>
                  <a:pt x="1792428" y="1121648"/>
                </a:lnTo>
                <a:lnTo>
                  <a:pt x="1806323" y="1122323"/>
                </a:lnTo>
                <a:lnTo>
                  <a:pt x="1820218" y="1122885"/>
                </a:lnTo>
                <a:lnTo>
                  <a:pt x="1834113" y="1123349"/>
                </a:lnTo>
                <a:lnTo>
                  <a:pt x="1848008" y="1123731"/>
                </a:lnTo>
                <a:lnTo>
                  <a:pt x="1861902" y="1124045"/>
                </a:lnTo>
                <a:lnTo>
                  <a:pt x="1875797" y="1124300"/>
                </a:lnTo>
                <a:lnTo>
                  <a:pt x="1889692" y="1124508"/>
                </a:lnTo>
                <a:lnTo>
                  <a:pt x="1903587" y="1124676"/>
                </a:lnTo>
                <a:lnTo>
                  <a:pt x="1917481" y="1124811"/>
                </a:lnTo>
                <a:lnTo>
                  <a:pt x="1931376" y="1124919"/>
                </a:lnTo>
                <a:lnTo>
                  <a:pt x="1945271" y="1125005"/>
                </a:lnTo>
                <a:lnTo>
                  <a:pt x="1959166" y="1125073"/>
                </a:lnTo>
                <a:lnTo>
                  <a:pt x="1973061" y="1125127"/>
                </a:lnTo>
                <a:lnTo>
                  <a:pt x="1986955" y="1125169"/>
                </a:lnTo>
                <a:lnTo>
                  <a:pt x="2000850" y="1125202"/>
                </a:lnTo>
                <a:lnTo>
                  <a:pt x="2014745" y="1125228"/>
                </a:lnTo>
                <a:lnTo>
                  <a:pt x="2028640" y="1125248"/>
                </a:lnTo>
                <a:lnTo>
                  <a:pt x="2042535" y="1125264"/>
                </a:lnTo>
                <a:lnTo>
                  <a:pt x="2056429" y="1125276"/>
                </a:lnTo>
                <a:lnTo>
                  <a:pt x="2070324" y="1125285"/>
                </a:lnTo>
                <a:lnTo>
                  <a:pt x="2084219" y="1125291"/>
                </a:lnTo>
                <a:lnTo>
                  <a:pt x="2098114" y="1125297"/>
                </a:lnTo>
                <a:lnTo>
                  <a:pt x="2112009" y="1125301"/>
                </a:lnTo>
                <a:lnTo>
                  <a:pt x="2125903" y="1125304"/>
                </a:lnTo>
                <a:lnTo>
                  <a:pt x="2139798" y="1125306"/>
                </a:lnTo>
                <a:lnTo>
                  <a:pt x="2153693" y="1125307"/>
                </a:lnTo>
                <a:lnTo>
                  <a:pt x="2167588" y="1125309"/>
                </a:lnTo>
                <a:lnTo>
                  <a:pt x="2181483" y="1125310"/>
                </a:lnTo>
                <a:lnTo>
                  <a:pt x="2195377" y="1125310"/>
                </a:lnTo>
                <a:lnTo>
                  <a:pt x="2209272" y="1125311"/>
                </a:lnTo>
                <a:lnTo>
                  <a:pt x="2223167" y="1125311"/>
                </a:lnTo>
                <a:lnTo>
                  <a:pt x="2237062" y="1125311"/>
                </a:lnTo>
                <a:lnTo>
                  <a:pt x="2250957" y="1125312"/>
                </a:lnTo>
                <a:lnTo>
                  <a:pt x="2264851" y="1125312"/>
                </a:lnTo>
                <a:lnTo>
                  <a:pt x="2278746" y="1125312"/>
                </a:lnTo>
                <a:lnTo>
                  <a:pt x="2292641" y="1125312"/>
                </a:lnTo>
                <a:lnTo>
                  <a:pt x="2306536" y="1125312"/>
                </a:lnTo>
                <a:lnTo>
                  <a:pt x="2320430" y="1125312"/>
                </a:lnTo>
                <a:lnTo>
                  <a:pt x="2334325" y="1125312"/>
                </a:lnTo>
                <a:lnTo>
                  <a:pt x="2348220" y="1125312"/>
                </a:lnTo>
                <a:lnTo>
                  <a:pt x="2362115" y="1125312"/>
                </a:lnTo>
                <a:lnTo>
                  <a:pt x="2376010" y="1125312"/>
                </a:lnTo>
                <a:lnTo>
                  <a:pt x="2389904" y="1125312"/>
                </a:lnTo>
                <a:lnTo>
                  <a:pt x="2403799" y="1125312"/>
                </a:lnTo>
                <a:lnTo>
                  <a:pt x="2417694" y="1125312"/>
                </a:lnTo>
                <a:lnTo>
                  <a:pt x="2431589" y="1125312"/>
                </a:lnTo>
                <a:lnTo>
                  <a:pt x="2445484" y="1125312"/>
                </a:lnTo>
                <a:lnTo>
                  <a:pt x="2459378" y="1125312"/>
                </a:lnTo>
                <a:lnTo>
                  <a:pt x="2473273" y="1125312"/>
                </a:lnTo>
                <a:lnTo>
                  <a:pt x="2487168" y="1125312"/>
                </a:lnTo>
              </a:path>
            </a:pathLst>
          </a:custGeom>
          <a:noFill/>
          <a:ln w="317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pn0"/>
          <p:cNvCxnSpPr/>
          <p:nvPr/>
        </p:nvCxnSpPr>
        <p:spPr>
          <a:xfrm>
            <a:off x="676656" y="3720734"/>
            <a:ext cx="823253" cy="0"/>
          </a:xfrm>
          <a:prstGeom prst="line">
            <a:avLst/>
          </a:prstGeom>
          <a:ln w="12700">
            <a:solidFill>
              <a:srgbClr val="808080"/>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pd0"/>
          <p:cNvSpPr/>
          <p:nvPr/>
        </p:nvSpPr>
        <p:spPr>
          <a:xfrm>
            <a:off x="1440473" y="3661298"/>
            <a:ext cx="118872" cy="118872"/>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lab0"/>
          <p:cNvSpPr txBox="1"/>
          <p:nvPr/>
        </p:nvSpPr>
        <p:spPr>
          <a:xfrm>
            <a:off x="548640" y="3986784"/>
            <a:ext cx="2743200" cy="402336"/>
          </a:xfrm>
          <a:prstGeom prst="rect">
            <a:avLst/>
          </a:prstGeom>
          <a:noFill/>
        </p:spPr>
        <p:txBody>
          <a:bodyPr wrap="square" lIns="0" tIns="0" rIns="0" bIns="0" anchor="ctr">
            <a:spAutoFit/>
          </a:bodyPr>
          <a:lstStyle/>
          <a:p>
            <a:pPr algn="ctr"/>
            <a:r>
              <a:rPr sz="2200" b="1">
                <a:solidFill>
                  <a:srgbClr val="808080"/>
                </a:solidFill>
                <a:latin typeface="Meiryo"/>
                <a:ea typeface="Meiryo"/>
                <a:cs typeface="Meiryo"/>
              </a:rPr>
              <a:t>導入前</a:t>
            </a:r>
          </a:p>
        </p:txBody>
      </p:sp>
      <p:sp>
        <p:nvSpPr>
          <p:cNvPr id="23" name="pnote0"/>
          <p:cNvSpPr txBox="1"/>
          <p:nvPr/>
        </p:nvSpPr>
        <p:spPr>
          <a:xfrm>
            <a:off x="548640" y="4425696"/>
            <a:ext cx="2743200" cy="402336"/>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切痕 高い</a:t>
            </a:r>
          </a:p>
        </p:txBody>
      </p:sp>
      <p:sp>
        <p:nvSpPr>
          <p:cNvPr id="24" name="pbox1"/>
          <p:cNvSpPr/>
          <p:nvPr/>
        </p:nvSpPr>
        <p:spPr>
          <a:xfrm>
            <a:off x="35204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pb1"/>
          <p:cNvCxnSpPr/>
          <p:nvPr/>
        </p:nvCxnSpPr>
        <p:spPr>
          <a:xfrm>
            <a:off x="36484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 name="pw1"/>
          <p:cNvSpPr/>
          <p:nvPr/>
        </p:nvSpPr>
        <p:spPr>
          <a:xfrm>
            <a:off x="3648456" y="2414589"/>
            <a:ext cx="2487168" cy="1480755"/>
          </a:xfrm>
          <a:custGeom>
            <a:avLst/>
            <a:gdLst/>
            <a:ahLst/>
            <a:cxnLst/>
            <a:rect l="l" t="t" r="r" b="b"/>
            <a:pathLst>
              <a:path w="2487168" h="1480755">
                <a:moveTo>
                  <a:pt x="0" y="1479671"/>
                </a:moveTo>
                <a:lnTo>
                  <a:pt x="13895" y="1479109"/>
                </a:lnTo>
                <a:lnTo>
                  <a:pt x="27790" y="1478285"/>
                </a:lnTo>
                <a:lnTo>
                  <a:pt x="41684" y="1477094"/>
                </a:lnTo>
                <a:lnTo>
                  <a:pt x="55579" y="1475397"/>
                </a:lnTo>
                <a:lnTo>
                  <a:pt x="69474" y="1473010"/>
                </a:lnTo>
                <a:lnTo>
                  <a:pt x="83369" y="1469699"/>
                </a:lnTo>
                <a:lnTo>
                  <a:pt x="97264" y="1465168"/>
                </a:lnTo>
                <a:lnTo>
                  <a:pt x="111158" y="1459054"/>
                </a:lnTo>
                <a:lnTo>
                  <a:pt x="125053" y="1450916"/>
                </a:lnTo>
                <a:lnTo>
                  <a:pt x="138948" y="1440234"/>
                </a:lnTo>
                <a:lnTo>
                  <a:pt x="152843" y="1426412"/>
                </a:lnTo>
                <a:lnTo>
                  <a:pt x="166738" y="1408779"/>
                </a:lnTo>
                <a:lnTo>
                  <a:pt x="180632" y="1386608"/>
                </a:lnTo>
                <a:lnTo>
                  <a:pt x="194527" y="1359135"/>
                </a:lnTo>
                <a:lnTo>
                  <a:pt x="208422" y="1325593"/>
                </a:lnTo>
                <a:lnTo>
                  <a:pt x="222317" y="1285258"/>
                </a:lnTo>
                <a:lnTo>
                  <a:pt x="236211" y="1237492"/>
                </a:lnTo>
                <a:lnTo>
                  <a:pt x="250106" y="1181812"/>
                </a:lnTo>
                <a:lnTo>
                  <a:pt x="264001" y="1117944"/>
                </a:lnTo>
                <a:lnTo>
                  <a:pt x="277896" y="1045895"/>
                </a:lnTo>
                <a:lnTo>
                  <a:pt x="291791" y="966003"/>
                </a:lnTo>
                <a:lnTo>
                  <a:pt x="305685" y="878994"/>
                </a:lnTo>
                <a:lnTo>
                  <a:pt x="319580" y="786004"/>
                </a:lnTo>
                <a:lnTo>
                  <a:pt x="333475" y="688596"/>
                </a:lnTo>
                <a:lnTo>
                  <a:pt x="347370" y="588737"/>
                </a:lnTo>
                <a:lnTo>
                  <a:pt x="361265" y="488750"/>
                </a:lnTo>
                <a:lnTo>
                  <a:pt x="375159" y="391241"/>
                </a:lnTo>
                <a:lnTo>
                  <a:pt x="389054" y="298992"/>
                </a:lnTo>
                <a:lnTo>
                  <a:pt x="402949" y="214833"/>
                </a:lnTo>
                <a:lnTo>
                  <a:pt x="416844" y="141502"/>
                </a:lnTo>
                <a:lnTo>
                  <a:pt x="430739" y="81498"/>
                </a:lnTo>
                <a:lnTo>
                  <a:pt x="444633" y="36938"/>
                </a:lnTo>
                <a:lnTo>
                  <a:pt x="458528" y="9435"/>
                </a:lnTo>
                <a:lnTo>
                  <a:pt x="472423" y="0"/>
                </a:lnTo>
                <a:lnTo>
                  <a:pt x="486318" y="8980"/>
                </a:lnTo>
                <a:lnTo>
                  <a:pt x="500213" y="36037"/>
                </a:lnTo>
                <a:lnTo>
                  <a:pt x="514107" y="80167"/>
                </a:lnTo>
                <a:lnTo>
                  <a:pt x="528002" y="139763"/>
                </a:lnTo>
                <a:lnTo>
                  <a:pt x="541897" y="212709"/>
                </a:lnTo>
                <a:lnTo>
                  <a:pt x="555792" y="296507"/>
                </a:lnTo>
                <a:lnTo>
                  <a:pt x="569687" y="388414"/>
                </a:lnTo>
                <a:lnTo>
                  <a:pt x="583581" y="485592"/>
                </a:lnTo>
                <a:lnTo>
                  <a:pt x="597476" y="585245"/>
                </a:lnTo>
                <a:lnTo>
                  <a:pt x="611371" y="684751"/>
                </a:lnTo>
                <a:lnTo>
                  <a:pt x="625266" y="781767"/>
                </a:lnTo>
                <a:lnTo>
                  <a:pt x="639160" y="874301"/>
                </a:lnTo>
                <a:lnTo>
                  <a:pt x="653055" y="960767"/>
                </a:lnTo>
                <a:lnTo>
                  <a:pt x="666950" y="1039998"/>
                </a:lnTo>
                <a:lnTo>
                  <a:pt x="680845" y="1111240"/>
                </a:lnTo>
                <a:lnTo>
                  <a:pt x="694740" y="1174120"/>
                </a:lnTo>
                <a:lnTo>
                  <a:pt x="708634" y="1228602"/>
                </a:lnTo>
                <a:lnTo>
                  <a:pt x="722529" y="1274922"/>
                </a:lnTo>
                <a:lnTo>
                  <a:pt x="736424" y="1313530"/>
                </a:lnTo>
                <a:lnTo>
                  <a:pt x="750319" y="1345027"/>
                </a:lnTo>
                <a:lnTo>
                  <a:pt x="764214" y="1370101"/>
                </a:lnTo>
                <a:lnTo>
                  <a:pt x="778108" y="1389484"/>
                </a:lnTo>
                <a:lnTo>
                  <a:pt x="792003" y="1403900"/>
                </a:lnTo>
                <a:lnTo>
                  <a:pt x="805898" y="1414042"/>
                </a:lnTo>
                <a:lnTo>
                  <a:pt x="819793" y="1420546"/>
                </a:lnTo>
                <a:lnTo>
                  <a:pt x="833688" y="1423974"/>
                </a:lnTo>
                <a:lnTo>
                  <a:pt x="847582" y="1424817"/>
                </a:lnTo>
                <a:lnTo>
                  <a:pt x="861477" y="1423488"/>
                </a:lnTo>
                <a:lnTo>
                  <a:pt x="875372" y="1420328"/>
                </a:lnTo>
                <a:lnTo>
                  <a:pt x="889267" y="1415616"/>
                </a:lnTo>
                <a:lnTo>
                  <a:pt x="903162" y="1409580"/>
                </a:lnTo>
                <a:lnTo>
                  <a:pt x="917056" y="1402400"/>
                </a:lnTo>
                <a:lnTo>
                  <a:pt x="930951" y="1394226"/>
                </a:lnTo>
                <a:lnTo>
                  <a:pt x="944846" y="1385181"/>
                </a:lnTo>
                <a:lnTo>
                  <a:pt x="958741" y="1375375"/>
                </a:lnTo>
                <a:lnTo>
                  <a:pt x="972636" y="1364906"/>
                </a:lnTo>
                <a:lnTo>
                  <a:pt x="986530" y="1353871"/>
                </a:lnTo>
                <a:lnTo>
                  <a:pt x="1000425" y="1342364"/>
                </a:lnTo>
                <a:lnTo>
                  <a:pt x="1014320" y="1330487"/>
                </a:lnTo>
                <a:lnTo>
                  <a:pt x="1028215" y="1318346"/>
                </a:lnTo>
                <a:lnTo>
                  <a:pt x="1042109" y="1306053"/>
                </a:lnTo>
                <a:lnTo>
                  <a:pt x="1056004" y="1293729"/>
                </a:lnTo>
                <a:lnTo>
                  <a:pt x="1069899" y="1281500"/>
                </a:lnTo>
                <a:lnTo>
                  <a:pt x="1083794" y="1269499"/>
                </a:lnTo>
                <a:lnTo>
                  <a:pt x="1097689" y="1257861"/>
                </a:lnTo>
                <a:lnTo>
                  <a:pt x="1111583" y="1246724"/>
                </a:lnTo>
                <a:lnTo>
                  <a:pt x="1125478" y="1236226"/>
                </a:lnTo>
                <a:lnTo>
                  <a:pt x="1139373" y="1226498"/>
                </a:lnTo>
                <a:lnTo>
                  <a:pt x="1153268" y="1217669"/>
                </a:lnTo>
                <a:lnTo>
                  <a:pt x="1167163" y="1209858"/>
                </a:lnTo>
                <a:lnTo>
                  <a:pt x="1181057" y="1203172"/>
                </a:lnTo>
                <a:lnTo>
                  <a:pt x="1194952" y="1197704"/>
                </a:lnTo>
                <a:lnTo>
                  <a:pt x="1208847" y="1193533"/>
                </a:lnTo>
                <a:lnTo>
                  <a:pt x="1222742" y="1190718"/>
                </a:lnTo>
                <a:lnTo>
                  <a:pt x="1236637" y="1189300"/>
                </a:lnTo>
                <a:lnTo>
                  <a:pt x="1250531" y="1189300"/>
                </a:lnTo>
                <a:lnTo>
                  <a:pt x="1264426" y="1190718"/>
                </a:lnTo>
                <a:lnTo>
                  <a:pt x="1278321" y="1193533"/>
                </a:lnTo>
                <a:lnTo>
                  <a:pt x="1292216" y="1197704"/>
                </a:lnTo>
                <a:lnTo>
                  <a:pt x="1306111" y="1203172"/>
                </a:lnTo>
                <a:lnTo>
                  <a:pt x="1320005" y="1209858"/>
                </a:lnTo>
                <a:lnTo>
                  <a:pt x="1333900" y="1217670"/>
                </a:lnTo>
                <a:lnTo>
                  <a:pt x="1347795" y="1226499"/>
                </a:lnTo>
                <a:lnTo>
                  <a:pt x="1361690" y="1236227"/>
                </a:lnTo>
                <a:lnTo>
                  <a:pt x="1375585" y="1246727"/>
                </a:lnTo>
                <a:lnTo>
                  <a:pt x="1389479" y="1257866"/>
                </a:lnTo>
                <a:lnTo>
                  <a:pt x="1403374" y="1269507"/>
                </a:lnTo>
                <a:lnTo>
                  <a:pt x="1417269" y="1281514"/>
                </a:lnTo>
                <a:lnTo>
                  <a:pt x="1431164" y="1293753"/>
                </a:lnTo>
                <a:lnTo>
                  <a:pt x="1445059" y="1306094"/>
                </a:lnTo>
                <a:lnTo>
                  <a:pt x="1458953" y="1318414"/>
                </a:lnTo>
                <a:lnTo>
                  <a:pt x="1472848" y="1330599"/>
                </a:lnTo>
                <a:lnTo>
                  <a:pt x="1486743" y="1342545"/>
                </a:lnTo>
                <a:lnTo>
                  <a:pt x="1500638" y="1354160"/>
                </a:lnTo>
                <a:lnTo>
                  <a:pt x="1514532" y="1365363"/>
                </a:lnTo>
                <a:lnTo>
                  <a:pt x="1528427" y="1376086"/>
                </a:lnTo>
                <a:lnTo>
                  <a:pt x="1542322" y="1386274"/>
                </a:lnTo>
                <a:lnTo>
                  <a:pt x="1556217" y="1395886"/>
                </a:lnTo>
                <a:lnTo>
                  <a:pt x="1570112" y="1404890"/>
                </a:lnTo>
                <a:lnTo>
                  <a:pt x="1584006" y="1413269"/>
                </a:lnTo>
                <a:lnTo>
                  <a:pt x="1597901" y="1421015"/>
                </a:lnTo>
                <a:lnTo>
                  <a:pt x="1611796" y="1428129"/>
                </a:lnTo>
                <a:lnTo>
                  <a:pt x="1625691" y="1434621"/>
                </a:lnTo>
                <a:lnTo>
                  <a:pt x="1639586" y="1440509"/>
                </a:lnTo>
                <a:lnTo>
                  <a:pt x="1653480" y="1445817"/>
                </a:lnTo>
                <a:lnTo>
                  <a:pt x="1667375" y="1450572"/>
                </a:lnTo>
                <a:lnTo>
                  <a:pt x="1681270" y="1454807"/>
                </a:lnTo>
                <a:lnTo>
                  <a:pt x="1695165" y="1458556"/>
                </a:lnTo>
                <a:lnTo>
                  <a:pt x="1709060" y="1461856"/>
                </a:lnTo>
                <a:lnTo>
                  <a:pt x="1722954" y="1464743"/>
                </a:lnTo>
                <a:lnTo>
                  <a:pt x="1736849" y="1467256"/>
                </a:lnTo>
                <a:lnTo>
                  <a:pt x="1750744" y="1469429"/>
                </a:lnTo>
                <a:lnTo>
                  <a:pt x="1764639" y="1471299"/>
                </a:lnTo>
                <a:lnTo>
                  <a:pt x="1778534" y="1472898"/>
                </a:lnTo>
                <a:lnTo>
                  <a:pt x="1792428" y="1474259"/>
                </a:lnTo>
                <a:lnTo>
                  <a:pt x="1806323" y="1475410"/>
                </a:lnTo>
                <a:lnTo>
                  <a:pt x="1820218" y="1476379"/>
                </a:lnTo>
                <a:lnTo>
                  <a:pt x="1834113" y="1477189"/>
                </a:lnTo>
                <a:lnTo>
                  <a:pt x="1848008" y="1477864"/>
                </a:lnTo>
                <a:lnTo>
                  <a:pt x="1861902" y="1478422"/>
                </a:lnTo>
                <a:lnTo>
                  <a:pt x="1875797" y="1478882"/>
                </a:lnTo>
                <a:lnTo>
                  <a:pt x="1889692" y="1479258"/>
                </a:lnTo>
                <a:lnTo>
                  <a:pt x="1903587" y="1479565"/>
                </a:lnTo>
                <a:lnTo>
                  <a:pt x="1917481" y="1479813"/>
                </a:lnTo>
                <a:lnTo>
                  <a:pt x="1931376" y="1480013"/>
                </a:lnTo>
                <a:lnTo>
                  <a:pt x="1945271" y="1480174"/>
                </a:lnTo>
                <a:lnTo>
                  <a:pt x="1959166" y="1480302"/>
                </a:lnTo>
                <a:lnTo>
                  <a:pt x="1973061" y="1480403"/>
                </a:lnTo>
                <a:lnTo>
                  <a:pt x="1986955" y="1480483"/>
                </a:lnTo>
                <a:lnTo>
                  <a:pt x="2000850" y="1480546"/>
                </a:lnTo>
                <a:lnTo>
                  <a:pt x="2014745" y="1480595"/>
                </a:lnTo>
                <a:lnTo>
                  <a:pt x="2028640" y="1480634"/>
                </a:lnTo>
                <a:lnTo>
                  <a:pt x="2042535" y="1480663"/>
                </a:lnTo>
                <a:lnTo>
                  <a:pt x="2056429" y="1480686"/>
                </a:lnTo>
                <a:lnTo>
                  <a:pt x="2070324" y="1480703"/>
                </a:lnTo>
                <a:lnTo>
                  <a:pt x="2084219" y="1480716"/>
                </a:lnTo>
                <a:lnTo>
                  <a:pt x="2098114" y="1480726"/>
                </a:lnTo>
                <a:lnTo>
                  <a:pt x="2112009" y="1480734"/>
                </a:lnTo>
                <a:lnTo>
                  <a:pt x="2125903" y="1480739"/>
                </a:lnTo>
                <a:lnTo>
                  <a:pt x="2139798" y="1480744"/>
                </a:lnTo>
                <a:lnTo>
                  <a:pt x="2153693" y="1480747"/>
                </a:lnTo>
                <a:lnTo>
                  <a:pt x="2167588" y="1480749"/>
                </a:lnTo>
                <a:lnTo>
                  <a:pt x="2181483" y="1480751"/>
                </a:lnTo>
                <a:lnTo>
                  <a:pt x="2195377" y="1480752"/>
                </a:lnTo>
                <a:lnTo>
                  <a:pt x="2209272" y="1480753"/>
                </a:lnTo>
                <a:lnTo>
                  <a:pt x="2223167" y="1480753"/>
                </a:lnTo>
                <a:lnTo>
                  <a:pt x="2237062" y="1480754"/>
                </a:lnTo>
                <a:lnTo>
                  <a:pt x="2250957" y="1480754"/>
                </a:lnTo>
                <a:lnTo>
                  <a:pt x="2264851" y="1480754"/>
                </a:lnTo>
                <a:lnTo>
                  <a:pt x="2278746" y="1480755"/>
                </a:lnTo>
                <a:lnTo>
                  <a:pt x="2292641" y="1480755"/>
                </a:lnTo>
                <a:lnTo>
                  <a:pt x="2306536" y="1480755"/>
                </a:lnTo>
                <a:lnTo>
                  <a:pt x="2320430" y="1480755"/>
                </a:lnTo>
                <a:lnTo>
                  <a:pt x="2334325" y="1480755"/>
                </a:lnTo>
                <a:lnTo>
                  <a:pt x="2348220" y="1480755"/>
                </a:lnTo>
                <a:lnTo>
                  <a:pt x="2362115" y="1480755"/>
                </a:lnTo>
                <a:lnTo>
                  <a:pt x="2376010" y="1480755"/>
                </a:lnTo>
                <a:lnTo>
                  <a:pt x="2389904" y="1480755"/>
                </a:lnTo>
                <a:lnTo>
                  <a:pt x="2403799" y="1480755"/>
                </a:lnTo>
                <a:lnTo>
                  <a:pt x="2417694" y="1480755"/>
                </a:lnTo>
                <a:lnTo>
                  <a:pt x="2431589" y="1480755"/>
                </a:lnTo>
                <a:lnTo>
                  <a:pt x="2445484" y="1480755"/>
                </a:lnTo>
                <a:lnTo>
                  <a:pt x="2459378" y="1480755"/>
                </a:lnTo>
                <a:lnTo>
                  <a:pt x="2473273" y="1480755"/>
                </a:lnTo>
                <a:lnTo>
                  <a:pt x="2487168" y="1480755"/>
                </a:lnTo>
              </a:path>
            </a:pathLst>
          </a:custGeom>
          <a:noFill/>
          <a:ln w="317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pn1"/>
          <p:cNvCxnSpPr/>
          <p:nvPr/>
        </p:nvCxnSpPr>
        <p:spPr>
          <a:xfrm>
            <a:off x="3648456" y="3839428"/>
            <a:ext cx="845637" cy="0"/>
          </a:xfrm>
          <a:prstGeom prst="line">
            <a:avLst/>
          </a:prstGeom>
          <a:ln w="12700">
            <a:solidFill>
              <a:srgbClr val="D55E00"/>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pd1"/>
          <p:cNvSpPr/>
          <p:nvPr/>
        </p:nvSpPr>
        <p:spPr>
          <a:xfrm>
            <a:off x="4434657" y="3779992"/>
            <a:ext cx="118872" cy="118872"/>
          </a:xfrm>
          <a:prstGeom prst="ellipse">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plab1"/>
          <p:cNvSpPr txBox="1"/>
          <p:nvPr/>
        </p:nvSpPr>
        <p:spPr>
          <a:xfrm>
            <a:off x="3520440" y="3986784"/>
            <a:ext cx="2743200" cy="402336"/>
          </a:xfrm>
          <a:prstGeom prst="rect">
            <a:avLst/>
          </a:prstGeom>
          <a:noFill/>
        </p:spPr>
        <p:txBody>
          <a:bodyPr wrap="square" lIns="0" tIns="0" rIns="0" bIns="0" anchor="ctr">
            <a:spAutoFit/>
          </a:bodyPr>
          <a:lstStyle/>
          <a:p>
            <a:pPr algn="ctr"/>
            <a:r>
              <a:rPr sz="2200" b="1">
                <a:solidFill>
                  <a:srgbClr val="D55E00"/>
                </a:solidFill>
                <a:latin typeface="Meiryo"/>
                <a:ea typeface="Meiryo"/>
                <a:cs typeface="Meiryo"/>
              </a:rPr>
              <a:t>低血圧時</a:t>
            </a:r>
          </a:p>
        </p:txBody>
      </p:sp>
      <p:sp>
        <p:nvSpPr>
          <p:cNvPr id="29" name="pnote1"/>
          <p:cNvSpPr txBox="1"/>
          <p:nvPr/>
        </p:nvSpPr>
        <p:spPr>
          <a:xfrm>
            <a:off x="3520440" y="4425696"/>
            <a:ext cx="2743200" cy="402336"/>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切痕 低い・振幅↑</a:t>
            </a:r>
          </a:p>
        </p:txBody>
      </p:sp>
      <p:sp>
        <p:nvSpPr>
          <p:cNvPr id="30" name="auc0"/>
          <p:cNvSpPr/>
          <p:nvPr/>
        </p:nvSpPr>
        <p:spPr>
          <a:xfrm>
            <a:off x="6583680" y="168249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ΔDicpleth　AUC 0.86</a:t>
            </a:r>
          </a:p>
          <a:p>
            <a:pPr algn="ctr"/>
            <a:r>
              <a:rPr sz="2200" b="1">
                <a:solidFill>
                  <a:srgbClr val="262626"/>
                </a:solidFill>
                <a:latin typeface="Meiryo"/>
                <a:ea typeface="Meiryo"/>
                <a:cs typeface="Meiryo"/>
              </a:rPr>
              <a:t>閾値 −19%　感度79%・特異度84%</a:t>
            </a:r>
          </a:p>
        </p:txBody>
      </p:sp>
      <p:sp>
        <p:nvSpPr>
          <p:cNvPr id="31" name="auc1"/>
          <p:cNvSpPr/>
          <p:nvPr/>
        </p:nvSpPr>
        <p:spPr>
          <a:xfrm>
            <a:off x="6583680" y="277977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ΔPI　AUC 0.83</a:t>
            </a:r>
          </a:p>
          <a:p>
            <a:pPr algn="ctr"/>
            <a:r>
              <a:rPr sz="2200" b="1">
                <a:solidFill>
                  <a:srgbClr val="262626"/>
                </a:solidFill>
                <a:latin typeface="Meiryo"/>
                <a:ea typeface="Meiryo"/>
                <a:cs typeface="Meiryo"/>
              </a:rPr>
              <a:t>閾値 +51%　感度82%・特異度74%</a:t>
            </a:r>
          </a:p>
        </p:txBody>
      </p:sp>
      <p:sp>
        <p:nvSpPr>
          <p:cNvPr id="32" name="auc2"/>
          <p:cNvSpPr/>
          <p:nvPr/>
        </p:nvSpPr>
        <p:spPr>
          <a:xfrm>
            <a:off x="6583680" y="3877056"/>
            <a:ext cx="4956048" cy="969264"/>
          </a:xfrm>
          <a:prstGeom prst="roundRect">
            <a:avLst>
              <a:gd name="adj" fmla="val 16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2つを併用　AUC 0.91</a:t>
            </a:r>
          </a:p>
          <a:p>
            <a:pPr algn="ctr"/>
            <a:r>
              <a:rPr sz="2200" b="1">
                <a:solidFill>
                  <a:srgbClr val="262626"/>
                </a:solidFill>
                <a:latin typeface="Meiryo"/>
                <a:ea typeface="Meiryo"/>
                <a:cs typeface="Meiryo"/>
              </a:rPr>
              <a:t>感度・特異度 とも 84%</a:t>
            </a:r>
          </a:p>
        </p:txBody>
      </p:sp>
      <p:sp>
        <p:nvSpPr>
          <p:cNvPr id="33" name="callout"/>
          <p:cNvSpPr/>
          <p:nvPr/>
        </p:nvSpPr>
        <p:spPr>
          <a:xfrm>
            <a:off x="548640" y="5138928"/>
            <a:ext cx="10954512" cy="1042416"/>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600" b="1">
                <a:solidFill>
                  <a:srgbClr val="262626"/>
                </a:solidFill>
                <a:latin typeface="Meiryo"/>
                <a:ea typeface="Meiryo"/>
                <a:cs typeface="Meiryo"/>
              </a:rPr>
              <a:t>昇圧薬の投与中も MAP と連動して動く</a:t>
            </a:r>
          </a:p>
          <a:p>
            <a:pPr algn="ctr"/>
            <a:r>
              <a:rPr sz="2200" b="1">
                <a:solidFill>
                  <a:srgbClr val="262626"/>
                </a:solidFill>
                <a:latin typeface="Meiryo"/>
                <a:ea typeface="Meiryo"/>
                <a:cs typeface="Meiryo"/>
              </a:rPr>
              <a:t>ΔDicpleth  r = 0.73　／　ΔPI  r = −0.62（P&lt;0.001）</a:t>
            </a:r>
          </a:p>
        </p:txBody>
      </p:sp>
      <p:sp>
        <p:nvSpPr>
          <p:cNvPr id="3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21. Coutrot 2019（全身麻酔導入 61 名）</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 波形の定量化</a:t>
            </a:r>
          </a:p>
        </p:txBody>
      </p:sp>
      <p:sp>
        <p:nvSpPr>
          <p:cNvPr id="12" name="Off-page Connector 4"/>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BF9000"/>
                </a:solidFill>
                <a:latin typeface="Meiryo"/>
                <a:ea typeface="Meiryo"/>
                <a:cs typeface="Meiryo"/>
              </a:rPr>
              <a:t>3. </a:t>
            </a:r>
            <a:r>
              <a:rPr sz="3200" b="1">
                <a:solidFill>
                  <a:srgbClr val="262626"/>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提案</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3.1 </a:t>
            </a:r>
            <a:r>
              <a:rPr sz="2900" b="0">
                <a:solidFill>
                  <a:srgbClr val="262626"/>
                </a:solidFill>
                <a:latin typeface="Meiryo"/>
                <a:ea typeface="Meiryo"/>
                <a:cs typeface="Meiryo"/>
              </a:rPr>
              <a:t>Stiffness Index (SI)</a:t>
            </a:r>
          </a:p>
          <a:p>
            <a:pPr>
              <a:lnSpc>
                <a:spcPct val="145000"/>
              </a:lnSpc>
            </a:pPr>
            <a:r>
              <a:rPr sz="2900" b="1">
                <a:solidFill>
                  <a:srgbClr val="BF9000"/>
                </a:solidFill>
                <a:latin typeface="Meiryo"/>
                <a:ea typeface="Meiryo"/>
                <a:cs typeface="Meiryo"/>
              </a:rPr>
              <a:t>3.2 </a:t>
            </a:r>
            <a:r>
              <a:rPr sz="2900" b="0">
                <a:solidFill>
                  <a:srgbClr val="262626"/>
                </a:solidFill>
                <a:latin typeface="Meiryo"/>
                <a:ea typeface="Meiryo"/>
                <a:cs typeface="Meiryo"/>
              </a:rPr>
              <a:t>Reflection Index (RI)</a:t>
            </a:r>
          </a:p>
          <a:p>
            <a:pPr>
              <a:lnSpc>
                <a:spcPct val="145000"/>
              </a:lnSpc>
            </a:pPr>
            <a:r>
              <a:rPr sz="2900" b="1">
                <a:solidFill>
                  <a:srgbClr val="BF9000"/>
                </a:solidFill>
                <a:latin typeface="Meiryo"/>
                <a:ea typeface="Meiryo"/>
                <a:cs typeface="Meiryo"/>
              </a:rPr>
              <a:t>3.3 </a:t>
            </a:r>
            <a:r>
              <a:rPr sz="2900" b="0">
                <a:solidFill>
                  <a:srgbClr val="262626"/>
                </a:solidFill>
                <a:latin typeface="Meiryo"/>
                <a:ea typeface="Meiryo"/>
                <a:cs typeface="Meiryo"/>
              </a:rPr>
              <a:t>加速度脈波 SDPPG</a:t>
            </a:r>
          </a:p>
          <a:p>
            <a:pPr>
              <a:lnSpc>
                <a:spcPct val="145000"/>
              </a:lnSpc>
            </a:pPr>
            <a:r>
              <a:rPr sz="2900" b="1">
                <a:solidFill>
                  <a:srgbClr val="BF9000"/>
                </a:solidFill>
                <a:latin typeface="Meiryo"/>
                <a:ea typeface="Meiryo"/>
                <a:cs typeface="Meiryo"/>
              </a:rPr>
              <a:t>3.4 </a:t>
            </a:r>
            <a:r>
              <a:rPr sz="2900" b="0">
                <a:solidFill>
                  <a:srgbClr val="262626"/>
                </a:solidFill>
                <a:latin typeface="Meiryo"/>
                <a:ea typeface="Meiryo"/>
                <a:cs typeface="Meiryo"/>
              </a:rPr>
              <a:t>定量化指標まとめ</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30/55</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3.1. Stiffness Index</a:t>
            </a:r>
          </a:p>
        </p:txBody>
      </p:sp>
      <p:sp>
        <p:nvSpPr>
          <p:cNvPr id="13" name="Off-page Connector 4"/>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18" name="fig_si" descr="f51_si.png"/>
          <p:cNvPicPr>
            <a:picLocks noChangeAspect="1"/>
          </p:cNvPicPr>
          <p:nvPr/>
        </p:nvPicPr>
        <p:blipFill>
          <a:blip r:embed="rId3"/>
          <a:stretch>
            <a:fillRect/>
          </a:stretch>
        </p:blipFill>
        <p:spPr>
          <a:xfrm>
            <a:off x="2340000" y="1872000"/>
            <a:ext cx="7521787" cy="3600000"/>
          </a:xfrm>
          <a:prstGeom prst="rect">
            <a:avLst/>
          </a:prstGeom>
        </p:spPr>
      </p:pic>
      <p:sp>
        <p:nvSpPr>
          <p:cNvPr id="19" name="TextBox 18"/>
          <p:cNvSpPr txBox="1"/>
          <p:nvPr/>
        </p:nvSpPr>
        <p:spPr>
          <a:xfrm>
            <a:off x="1584000" y="2052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412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TextBox 20"/>
          <p:cNvSpPr txBox="1"/>
          <p:nvPr/>
        </p:nvSpPr>
        <p:spPr>
          <a:xfrm>
            <a:off x="5112000" y="5004000"/>
            <a:ext cx="1152000" cy="378000"/>
          </a:xfrm>
          <a:prstGeom prst="rect">
            <a:avLst/>
          </a:prstGeom>
          <a:noFill/>
        </p:spPr>
        <p:txBody>
          <a:bodyPr wrap="none" lIns="0" tIns="0" rIns="0" bIns="0" anchor="ctr">
            <a:spAutoFit/>
          </a:bodyPr>
          <a:lstStyle/>
          <a:p>
            <a:pPr algn="ctr">
              <a:spcBef>
                <a:spcPts val="0"/>
              </a:spcBef>
              <a:spcAft>
                <a:spcPts val="0"/>
              </a:spcAft>
            </a:pPr>
            <a:r>
              <a:rPr sz="2400" b="1">
                <a:solidFill>
                  <a:srgbClr val="BF9000"/>
                </a:solidFill>
                <a:latin typeface="Meiryo"/>
                <a:ea typeface="Meiryo"/>
                <a:cs typeface="Meiryo"/>
              </a:rPr>
              <a:t>ΔT</a:t>
            </a:r>
          </a:p>
        </p:txBody>
      </p:sp>
      <p:sp>
        <p:nvSpPr>
          <p:cNvPr id="22" name="Rounded Rectangle 21"/>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SI ＝ </a:t>
            </a:r>
            <a:r>
              <a:rPr sz="2600" b="1" dirty="0" err="1">
                <a:solidFill>
                  <a:srgbClr val="262626"/>
                </a:solidFill>
                <a:latin typeface="Meiryo"/>
                <a:ea typeface="Meiryo"/>
                <a:cs typeface="Meiryo"/>
              </a:rPr>
              <a:t>身長</a:t>
            </a:r>
            <a:r>
              <a:rPr sz="2600" b="1" dirty="0">
                <a:solidFill>
                  <a:srgbClr val="262626"/>
                </a:solidFill>
                <a:latin typeface="Meiryo"/>
                <a:ea typeface="Meiryo"/>
                <a:cs typeface="Meiryo"/>
              </a:rPr>
              <a:t> ÷ ΔT</a:t>
            </a:r>
          </a:p>
          <a:p>
            <a:pPr algn="ctr">
              <a:spcBef>
                <a:spcPts val="0"/>
              </a:spcBef>
              <a:spcAft>
                <a:spcPts val="0"/>
              </a:spcAft>
            </a:pPr>
            <a:r>
              <a:rPr sz="2200" b="1" dirty="0" err="1">
                <a:solidFill>
                  <a:srgbClr val="262626"/>
                </a:solidFill>
                <a:latin typeface="Meiryo"/>
                <a:ea typeface="Meiryo"/>
                <a:cs typeface="Meiryo"/>
              </a:rPr>
              <a:t>大動脈の硬さを反映</a:t>
            </a:r>
            <a:endParaRPr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31/55</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FA238-20C4-7D4C-7799-A9FB3EC89A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F5D0B-40AF-A2F0-0DD2-80CC350F3BD0}"/>
              </a:ext>
            </a:extLst>
          </p:cNvPr>
          <p:cNvSpPr>
            <a:spLocks noGrp="1"/>
          </p:cNvSpPr>
          <p:nvPr>
            <p:ph type="title"/>
          </p:nvPr>
        </p:nvSpPr>
        <p:spPr/>
        <p:txBody>
          <a:bodyPr/>
          <a:lstStyle/>
          <a:p>
            <a:pPr algn="l"/>
            <a:r>
              <a:rPr sz="4600" dirty="0">
                <a:latin typeface="Meiryo"/>
                <a:ea typeface="Meiryo"/>
                <a:cs typeface="Meiryo"/>
              </a:rPr>
              <a:t>3.1. Stiffness Index</a:t>
            </a:r>
          </a:p>
        </p:txBody>
      </p:sp>
      <p:sp>
        <p:nvSpPr>
          <p:cNvPr id="13" name="Off-page Connector 4">
            <a:extLst>
              <a:ext uri="{FF2B5EF4-FFF2-40B4-BE49-F238E27FC236}">
                <a16:creationId xmlns:a16="http://schemas.microsoft.com/office/drawing/2014/main" id="{69355710-BBA3-115E-E2C7-A8DB4769F04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CD9EFE41-777E-CF2B-430A-5D8360041083}"/>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A99947AF-BEB1-7A3D-0D60-0F8D393BEE31}"/>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A2AB76F2-CE51-776B-20C0-C0E39D591E6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3" name="図 2">
            <a:extLst>
              <a:ext uri="{FF2B5EF4-FFF2-40B4-BE49-F238E27FC236}">
                <a16:creationId xmlns:a16="http://schemas.microsoft.com/office/drawing/2014/main" id="{F685F716-4BEB-6267-1B6E-136F25AE4C48}"/>
              </a:ext>
            </a:extLst>
          </p:cNvPr>
          <p:cNvPicPr>
            <a:picLocks noChangeAspect="1"/>
          </p:cNvPicPr>
          <p:nvPr/>
        </p:nvPicPr>
        <p:blipFill>
          <a:blip r:embed="rId3"/>
          <a:srcRect r="52357"/>
          <a:stretch>
            <a:fillRect/>
          </a:stretch>
        </p:blipFill>
        <p:spPr>
          <a:xfrm>
            <a:off x="741476" y="1700213"/>
            <a:ext cx="4686300" cy="4400448"/>
          </a:xfrm>
          <a:prstGeom prst="rect">
            <a:avLst/>
          </a:prstGeom>
        </p:spPr>
      </p:pic>
      <p:sp>
        <p:nvSpPr>
          <p:cNvPr id="4" name="テキスト ボックス 3">
            <a:extLst>
              <a:ext uri="{FF2B5EF4-FFF2-40B4-BE49-F238E27FC236}">
                <a16:creationId xmlns:a16="http://schemas.microsoft.com/office/drawing/2014/main" id="{3EE5EB3D-2DE0-7C24-5AD3-67C9530F495F}"/>
              </a:ext>
            </a:extLst>
          </p:cNvPr>
          <p:cNvSpPr txBox="1"/>
          <p:nvPr/>
        </p:nvSpPr>
        <p:spPr>
          <a:xfrm>
            <a:off x="6909208" y="2002868"/>
            <a:ext cx="3945311" cy="3108543"/>
          </a:xfrm>
          <a:prstGeom prst="rect">
            <a:avLst/>
          </a:prstGeom>
          <a:noFill/>
        </p:spPr>
        <p:txBody>
          <a:bodyPr wrap="none" rtlCol="0">
            <a:spAutoFit/>
          </a:bodyPr>
          <a:lstStyle/>
          <a:p>
            <a:r>
              <a:rPr lang="ja-JP" altLang="en-US" sz="2800"/>
              <a:t>健常成人</a:t>
            </a:r>
            <a:r>
              <a:rPr lang="en-US" altLang="ja-JP" sz="2800" dirty="0"/>
              <a:t>87</a:t>
            </a:r>
            <a:r>
              <a:rPr lang="ja-JP" altLang="en-US" sz="2800"/>
              <a:t>人で計測</a:t>
            </a:r>
            <a:endParaRPr lang="en-US" altLang="ja-JP" sz="2800" dirty="0"/>
          </a:p>
          <a:p>
            <a:endParaRPr lang="en-US" altLang="ja-JP" sz="2800" dirty="0"/>
          </a:p>
          <a:p>
            <a:r>
              <a:rPr lang="ja-JP" altLang="ja-JP" sz="2800" b="1"/>
              <a:t>SI</a:t>
            </a:r>
            <a:r>
              <a:rPr lang="ja-JP" altLang="en-US" sz="2800" b="1"/>
              <a:t>と</a:t>
            </a:r>
            <a:r>
              <a:rPr lang="ja-JP" altLang="ja-JP" sz="2800" b="1"/>
              <a:t>年齢</a:t>
            </a:r>
            <a:r>
              <a:rPr lang="ja-JP" altLang="en-US" sz="2800" b="1"/>
              <a:t>　</a:t>
            </a:r>
            <a:endParaRPr lang="en-US" altLang="ja-JP" sz="2800" b="1" dirty="0"/>
          </a:p>
          <a:p>
            <a:r>
              <a:rPr lang="en-US" altLang="ja-JP" sz="2800" dirty="0"/>
              <a:t>	</a:t>
            </a:r>
            <a:r>
              <a:rPr lang="ja-JP" altLang="ja-JP" sz="2800"/>
              <a:t>r = 0.67、P&lt;0.0001</a:t>
            </a:r>
            <a:endParaRPr lang="en-US" altLang="ja-JP" sz="2800" dirty="0"/>
          </a:p>
          <a:p>
            <a:endParaRPr lang="en-US" altLang="ja-JP" sz="2800" dirty="0"/>
          </a:p>
          <a:p>
            <a:r>
              <a:rPr lang="en-US" altLang="ja-JP" sz="2800" b="1" dirty="0"/>
              <a:t>S</a:t>
            </a:r>
            <a:r>
              <a:rPr lang="ja-JP" altLang="ja-JP" sz="2800" b="1"/>
              <a:t>I</a:t>
            </a:r>
            <a:r>
              <a:rPr lang="ja-JP" altLang="en-US" sz="2800" b="1"/>
              <a:t>と</a:t>
            </a:r>
            <a:r>
              <a:rPr lang="ja-JP" altLang="ja-JP" sz="2800" b="1"/>
              <a:t> PWVcf </a:t>
            </a:r>
            <a:r>
              <a:rPr lang="ja-JP" altLang="en-US" sz="2800" b="1"/>
              <a:t>　</a:t>
            </a:r>
            <a:endParaRPr lang="en-US" altLang="ja-JP" sz="2800" b="1" dirty="0"/>
          </a:p>
          <a:p>
            <a:r>
              <a:rPr lang="en-US" altLang="ja-JP" sz="2800" dirty="0"/>
              <a:t>	</a:t>
            </a:r>
            <a:r>
              <a:rPr lang="ja-JP" altLang="ja-JP" sz="2800"/>
              <a:t>r =0.65、P&lt;0.0001</a:t>
            </a:r>
            <a:endParaRPr lang="en-US" altLang="ja-JP" sz="2800" dirty="0"/>
          </a:p>
        </p:txBody>
      </p:sp>
      <p:sp>
        <p:nvSpPr>
          <p:cNvPr id="5" name="テキスト ボックス 4">
            <a:extLst>
              <a:ext uri="{FF2B5EF4-FFF2-40B4-BE49-F238E27FC236}">
                <a16:creationId xmlns:a16="http://schemas.microsoft.com/office/drawing/2014/main" id="{25577C28-11A3-C308-D54B-DDC1AEC1FCB2}"/>
              </a:ext>
            </a:extLst>
          </p:cNvPr>
          <p:cNvSpPr txBox="1"/>
          <p:nvPr/>
        </p:nvSpPr>
        <p:spPr>
          <a:xfrm>
            <a:off x="838200" y="6044593"/>
            <a:ext cx="4600105" cy="400110"/>
          </a:xfrm>
          <a:prstGeom prst="rect">
            <a:avLst/>
          </a:prstGeom>
          <a:noFill/>
        </p:spPr>
        <p:txBody>
          <a:bodyPr wrap="none" rtlCol="0">
            <a:spAutoFit/>
          </a:bodyPr>
          <a:lstStyle/>
          <a:p>
            <a:r>
              <a:rPr lang="ja-JP" altLang="ja-JP" sz="2000" b="1"/>
              <a:t>PWVcf</a:t>
            </a:r>
            <a:r>
              <a:rPr lang="ja-JP" altLang="en-US" sz="2000" b="1"/>
              <a:t>：</a:t>
            </a:r>
            <a:r>
              <a:rPr lang="ja-JP" altLang="ja-JP" sz="2000" b="1"/>
              <a:t>頸動脈–大腿動脈脈波伝播速度</a:t>
            </a:r>
          </a:p>
        </p:txBody>
      </p:sp>
      <p:sp>
        <p:nvSpPr>
          <p:cNvPr id="6" name="Rounded Rectangle 21">
            <a:extLst>
              <a:ext uri="{FF2B5EF4-FFF2-40B4-BE49-F238E27FC236}">
                <a16:creationId xmlns:a16="http://schemas.microsoft.com/office/drawing/2014/main" id="{81C8F315-7A19-16F7-6685-36BB9429E8EC}"/>
              </a:ext>
            </a:extLst>
          </p:cNvPr>
          <p:cNvSpPr/>
          <p:nvPr/>
        </p:nvSpPr>
        <p:spPr>
          <a:xfrm>
            <a:off x="5862603" y="5430241"/>
            <a:ext cx="6038519" cy="74449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SI </a:t>
            </a:r>
            <a:r>
              <a:rPr lang="en-US" sz="2600" b="1" dirty="0" err="1">
                <a:solidFill>
                  <a:srgbClr val="262626"/>
                </a:solidFill>
                <a:latin typeface="Meiryo"/>
                <a:ea typeface="Meiryo"/>
                <a:cs typeface="Meiryo"/>
              </a:rPr>
              <a:t>は年齢や脈波伝播速度と関連する</a:t>
            </a:r>
            <a:endParaRPr sz="2200" b="1" dirty="0">
              <a:solidFill>
                <a:srgbClr val="262626"/>
              </a:solidFill>
              <a:latin typeface="Meiryo"/>
              <a:ea typeface="Meiryo"/>
              <a:cs typeface="Meiryo"/>
            </a:endParaRPr>
          </a:p>
        </p:txBody>
      </p:sp>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31/55</a:t>
            </a:r>
          </a:p>
        </p:txBody>
      </p:sp>
    </p:spTree>
    <p:extLst>
      <p:ext uri="{BB962C8B-B14F-4D97-AF65-F5344CB8AC3E}">
        <p14:creationId xmlns:p14="http://schemas.microsoft.com/office/powerpoint/2010/main" val="10086392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3.2  Reflection Index</a:t>
            </a:r>
          </a:p>
        </p:txBody>
      </p:sp>
      <p:sp>
        <p:nvSpPr>
          <p:cNvPr id="13" name="Off-page Connector 4"/>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18" name="fig_ri" descr="f52_ri.png"/>
          <p:cNvPicPr>
            <a:picLocks noChangeAspect="1"/>
          </p:cNvPicPr>
          <p:nvPr/>
        </p:nvPicPr>
        <p:blipFill>
          <a:blip r:embed="rId3"/>
          <a:stretch>
            <a:fillRect/>
          </a:stretch>
        </p:blipFill>
        <p:spPr>
          <a:xfrm>
            <a:off x="2340000" y="1872000"/>
            <a:ext cx="7521787" cy="3600000"/>
          </a:xfrm>
          <a:prstGeom prst="rect">
            <a:avLst/>
          </a:prstGeom>
        </p:spPr>
      </p:pic>
      <p:sp>
        <p:nvSpPr>
          <p:cNvPr id="19" name="TextBox 18"/>
          <p:cNvSpPr txBox="1"/>
          <p:nvPr/>
        </p:nvSpPr>
        <p:spPr>
          <a:xfrm>
            <a:off x="1584000" y="2124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520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Rounded Rectangle 20"/>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a:solidFill>
                  <a:srgbClr val="262626"/>
                </a:solidFill>
                <a:latin typeface="Meiryo"/>
                <a:ea typeface="Meiryo"/>
                <a:cs typeface="Meiryo"/>
              </a:rPr>
              <a:t>RI ＝ P2 ÷ P1</a:t>
            </a:r>
          </a:p>
          <a:p>
            <a:pPr algn="ctr">
              <a:spcBef>
                <a:spcPts val="0"/>
              </a:spcBef>
              <a:spcAft>
                <a:spcPts val="0"/>
              </a:spcAft>
            </a:pPr>
            <a:r>
              <a:rPr sz="2200" b="1">
                <a:solidFill>
                  <a:srgbClr val="262626"/>
                </a:solidFill>
                <a:latin typeface="Meiryo"/>
                <a:ea typeface="Meiryo"/>
                <a:cs typeface="Meiryo"/>
              </a:rPr>
              <a:t>末梢血管トーヌス（反射の大きさ）を反映</a:t>
            </a:r>
          </a:p>
        </p:txBody>
      </p:sp>
      <p:sp>
        <p:nvSpPr>
          <p:cNvPr id="2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2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32/55</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E19EF-DBC9-EB20-10C0-EC248698E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8725C-CB53-105E-8C3B-A9F29A5B0055}"/>
              </a:ext>
            </a:extLst>
          </p:cNvPr>
          <p:cNvSpPr>
            <a:spLocks noGrp="1"/>
          </p:cNvSpPr>
          <p:nvPr>
            <p:ph type="title"/>
          </p:nvPr>
        </p:nvSpPr>
        <p:spPr/>
        <p:txBody>
          <a:bodyPr/>
          <a:lstStyle/>
          <a:p>
            <a:pPr algn="l"/>
            <a:r>
              <a:rPr sz="4600" dirty="0">
                <a:latin typeface="Meiryo"/>
                <a:ea typeface="Meiryo"/>
                <a:cs typeface="Meiryo"/>
              </a:rPr>
              <a:t>3.2  Reflection Index</a:t>
            </a:r>
          </a:p>
        </p:txBody>
      </p:sp>
      <p:sp>
        <p:nvSpPr>
          <p:cNvPr id="13" name="Off-page Connector 4">
            <a:extLst>
              <a:ext uri="{FF2B5EF4-FFF2-40B4-BE49-F238E27FC236}">
                <a16:creationId xmlns:a16="http://schemas.microsoft.com/office/drawing/2014/main" id="{2C144E0A-3C51-DA3E-A0F1-BDA2BF58066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173C3379-5C69-FB45-DFA3-9408AB29665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A1B0C08A-4EA6-C6D5-FE63-E066B0ED9D0A}"/>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D9A04435-9816-C39B-3616-AAE3265F2CA3}"/>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3" name="図 2">
            <a:extLst>
              <a:ext uri="{FF2B5EF4-FFF2-40B4-BE49-F238E27FC236}">
                <a16:creationId xmlns:a16="http://schemas.microsoft.com/office/drawing/2014/main" id="{639150FC-4759-1D06-47BB-13778B76B92D}"/>
              </a:ext>
            </a:extLst>
          </p:cNvPr>
          <p:cNvPicPr>
            <a:picLocks noChangeAspect="1"/>
          </p:cNvPicPr>
          <p:nvPr/>
        </p:nvPicPr>
        <p:blipFill>
          <a:blip r:embed="rId3"/>
          <a:srcRect r="48043" b="54220"/>
          <a:stretch>
            <a:fillRect/>
          </a:stretch>
        </p:blipFill>
        <p:spPr>
          <a:xfrm>
            <a:off x="560616" y="2390494"/>
            <a:ext cx="4801419" cy="3100651"/>
          </a:xfrm>
          <a:prstGeom prst="rect">
            <a:avLst/>
          </a:prstGeom>
        </p:spPr>
      </p:pic>
      <p:pic>
        <p:nvPicPr>
          <p:cNvPr id="4" name="図 3">
            <a:extLst>
              <a:ext uri="{FF2B5EF4-FFF2-40B4-BE49-F238E27FC236}">
                <a16:creationId xmlns:a16="http://schemas.microsoft.com/office/drawing/2014/main" id="{962BB7AC-DA1C-BE16-D3C7-0E9FFD71C17D}"/>
              </a:ext>
            </a:extLst>
          </p:cNvPr>
          <p:cNvPicPr>
            <a:picLocks noChangeAspect="1"/>
          </p:cNvPicPr>
          <p:nvPr/>
        </p:nvPicPr>
        <p:blipFill>
          <a:blip r:embed="rId4"/>
          <a:srcRect r="47305" b="49958"/>
          <a:stretch>
            <a:fillRect/>
          </a:stretch>
        </p:blipFill>
        <p:spPr>
          <a:xfrm>
            <a:off x="6135826" y="2171223"/>
            <a:ext cx="4801419" cy="3419682"/>
          </a:xfrm>
          <a:prstGeom prst="rect">
            <a:avLst/>
          </a:prstGeom>
        </p:spPr>
      </p:pic>
      <p:sp>
        <p:nvSpPr>
          <p:cNvPr id="5" name="テキスト ボックス 4">
            <a:extLst>
              <a:ext uri="{FF2B5EF4-FFF2-40B4-BE49-F238E27FC236}">
                <a16:creationId xmlns:a16="http://schemas.microsoft.com/office/drawing/2014/main" id="{753EB817-69D7-0093-73A0-71C10EA3B760}"/>
              </a:ext>
            </a:extLst>
          </p:cNvPr>
          <p:cNvSpPr txBox="1"/>
          <p:nvPr/>
        </p:nvSpPr>
        <p:spPr>
          <a:xfrm>
            <a:off x="1975759" y="1820747"/>
            <a:ext cx="2749471" cy="400110"/>
          </a:xfrm>
          <a:prstGeom prst="rect">
            <a:avLst/>
          </a:prstGeom>
          <a:noFill/>
        </p:spPr>
        <p:txBody>
          <a:bodyPr wrap="none" rtlCol="0">
            <a:spAutoFit/>
          </a:bodyPr>
          <a:lstStyle/>
          <a:p>
            <a:r>
              <a:rPr kumimoji="1" lang="ja-JP" altLang="en-US" sz="2000" b="1"/>
              <a:t>アンジオテンシン投与</a:t>
            </a:r>
          </a:p>
        </p:txBody>
      </p:sp>
      <p:sp>
        <p:nvSpPr>
          <p:cNvPr id="6" name="テキスト ボックス 5">
            <a:extLst>
              <a:ext uri="{FF2B5EF4-FFF2-40B4-BE49-F238E27FC236}">
                <a16:creationId xmlns:a16="http://schemas.microsoft.com/office/drawing/2014/main" id="{EDE3662F-A2C0-DA98-F494-3AA126BCECEE}"/>
              </a:ext>
            </a:extLst>
          </p:cNvPr>
          <p:cNvSpPr txBox="1"/>
          <p:nvPr/>
        </p:nvSpPr>
        <p:spPr>
          <a:xfrm>
            <a:off x="7543533" y="1820747"/>
            <a:ext cx="2749471" cy="400110"/>
          </a:xfrm>
          <a:prstGeom prst="rect">
            <a:avLst/>
          </a:prstGeom>
          <a:noFill/>
        </p:spPr>
        <p:txBody>
          <a:bodyPr wrap="none" rtlCol="0">
            <a:spAutoFit/>
          </a:bodyPr>
          <a:lstStyle/>
          <a:p>
            <a:r>
              <a:rPr kumimoji="1" lang="ja-JP" altLang="en-US" sz="2000" b="1"/>
              <a:t>ニトログリセリン投与</a:t>
            </a:r>
          </a:p>
        </p:txBody>
      </p:sp>
      <p:sp>
        <p:nvSpPr>
          <p:cNvPr id="7" name="Rounded Rectangle 20">
            <a:extLst>
              <a:ext uri="{FF2B5EF4-FFF2-40B4-BE49-F238E27FC236}">
                <a16:creationId xmlns:a16="http://schemas.microsoft.com/office/drawing/2014/main" id="{A886D300-A0C7-4945-DFC8-15572E105CB1}"/>
              </a:ext>
            </a:extLst>
          </p:cNvPr>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altLang="ja-JP" sz="2400" b="1" dirty="0">
                <a:solidFill>
                  <a:srgbClr val="262626"/>
                </a:solidFill>
                <a:latin typeface="Meiryo"/>
                <a:ea typeface="Meiryo"/>
                <a:cs typeface="Meiryo"/>
              </a:rPr>
              <a:t>RI</a:t>
            </a:r>
            <a:r>
              <a:rPr lang="ja-JP" altLang="en-US" sz="2400" b="1">
                <a:solidFill>
                  <a:srgbClr val="262626"/>
                </a:solidFill>
                <a:latin typeface="Meiryo"/>
                <a:ea typeface="Meiryo"/>
                <a:cs typeface="Meiryo"/>
              </a:rPr>
              <a:t>は血管収縮・拡張薬と用量依存性に反応する</a:t>
            </a:r>
            <a:endParaRPr sz="2400" b="1" dirty="0">
              <a:solidFill>
                <a:srgbClr val="262626"/>
              </a:solidFill>
              <a:latin typeface="Meiryo"/>
              <a:ea typeface="Meiryo"/>
              <a:cs typeface="Meiryo"/>
            </a:endParaRPr>
          </a:p>
        </p:txBody>
      </p:sp>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32/55</a:t>
            </a:r>
          </a:p>
        </p:txBody>
      </p:sp>
    </p:spTree>
    <p:extLst>
      <p:ext uri="{BB962C8B-B14F-4D97-AF65-F5344CB8AC3E}">
        <p14:creationId xmlns:p14="http://schemas.microsoft.com/office/powerpoint/2010/main" val="31964551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63D79-A0ED-99D2-A804-31F5C81C9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491EC-D70F-DD18-A8BB-8C48A3E5DB47}"/>
              </a:ext>
            </a:extLst>
          </p:cNvPr>
          <p:cNvSpPr>
            <a:spLocks noGrp="1"/>
          </p:cNvSpPr>
          <p:nvPr>
            <p:ph type="title"/>
          </p:nvPr>
        </p:nvSpPr>
        <p:spPr/>
        <p:txBody>
          <a:bodyPr/>
          <a:lstStyle/>
          <a:p>
            <a:pPr algn="l"/>
            <a:r>
              <a:rPr sz="4600" dirty="0">
                <a:latin typeface="Meiryo"/>
                <a:ea typeface="Meiryo"/>
                <a:cs typeface="Meiryo"/>
              </a:rPr>
              <a:t>3.2  Reflection Index</a:t>
            </a:r>
          </a:p>
        </p:txBody>
      </p:sp>
      <p:sp>
        <p:nvSpPr>
          <p:cNvPr id="13" name="Off-page Connector 4">
            <a:extLst>
              <a:ext uri="{FF2B5EF4-FFF2-40B4-BE49-F238E27FC236}">
                <a16:creationId xmlns:a16="http://schemas.microsoft.com/office/drawing/2014/main" id="{3B4A464C-D41B-8A70-9B6A-F8C7D77DA374}"/>
              </a:ext>
            </a:extLst>
          </p:cNvPr>
          <p:cNvSpPr/>
          <p:nvPr/>
        </p:nvSpPr>
        <p:spPr>
          <a:xfrm>
            <a:off x="95345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13D3B515-6204-82D0-BAC6-F007934E6F04}"/>
              </a:ext>
            </a:extLst>
          </p:cNvPr>
          <p:cNvSpPr/>
          <p:nvPr/>
        </p:nvSpPr>
        <p:spPr>
          <a:xfrm>
            <a:off x="101945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92D096EE-A4A9-02F4-9620-C4F2691BB487}"/>
              </a:ext>
            </a:extLst>
          </p:cNvPr>
          <p:cNvSpPr/>
          <p:nvPr/>
        </p:nvSpPr>
        <p:spPr>
          <a:xfrm>
            <a:off x="10854519" y="50400"/>
            <a:ext cx="576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4EC13131-6B2A-58CE-87C7-489AE5F06A33}"/>
              </a:ext>
            </a:extLst>
          </p:cNvPr>
          <p:cNvSpPr/>
          <p:nvPr/>
        </p:nvSpPr>
        <p:spPr>
          <a:xfrm>
            <a:off x="115145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22" name="図 21">
            <a:extLst>
              <a:ext uri="{FF2B5EF4-FFF2-40B4-BE49-F238E27FC236}">
                <a16:creationId xmlns:a16="http://schemas.microsoft.com/office/drawing/2014/main" id="{4D09E345-A83C-BB82-B903-B4F55D561CCB}"/>
              </a:ext>
            </a:extLst>
          </p:cNvPr>
          <p:cNvPicPr>
            <a:picLocks noChangeAspect="1"/>
          </p:cNvPicPr>
          <p:nvPr/>
        </p:nvPicPr>
        <p:blipFill>
          <a:blip r:embed="rId3"/>
          <a:stretch>
            <a:fillRect/>
          </a:stretch>
        </p:blipFill>
        <p:spPr>
          <a:xfrm>
            <a:off x="540000" y="1728000"/>
            <a:ext cx="6480000" cy="3780000"/>
          </a:xfrm>
          <a:prstGeom prst="rect">
            <a:avLst/>
          </a:prstGeom>
        </p:spPr>
      </p:pic>
      <p:sp>
        <p:nvSpPr>
          <p:cNvPr id="23" name="テキスト ボックス 22">
            <a:extLst>
              <a:ext uri="{FF2B5EF4-FFF2-40B4-BE49-F238E27FC236}">
                <a16:creationId xmlns:a16="http://schemas.microsoft.com/office/drawing/2014/main" id="{67803B91-A8D8-913C-8686-EE0BC9521B48}"/>
              </a:ext>
            </a:extLst>
          </p:cNvPr>
          <p:cNvSpPr txBox="1"/>
          <p:nvPr/>
        </p:nvSpPr>
        <p:spPr>
          <a:xfrm>
            <a:off x="7307169" y="1800000"/>
            <a:ext cx="4680000" cy="3195747"/>
          </a:xfrm>
          <a:prstGeom prst="rect">
            <a:avLst/>
          </a:prstGeom>
          <a:noFill/>
        </p:spPr>
        <p:txBody>
          <a:bodyPr wrap="square" rtlCol="0">
            <a:spAutoFit/>
          </a:bodyPr>
          <a:lstStyle/>
          <a:p>
            <a:pPr>
              <a:spcAft>
                <a:spcPts val="200"/>
              </a:spcAft>
            </a:pPr>
            <a:r>
              <a:rPr kumimoji="1" lang="en-US" altLang="ja-JP" sz="2200" dirty="0">
                <a:latin typeface="+mn-ea"/>
              </a:rPr>
              <a:t>SVR </a:t>
            </a:r>
            <a:r>
              <a:rPr kumimoji="1" lang="ja-JP" altLang="en-US" sz="2200">
                <a:latin typeface="+mn-ea"/>
              </a:rPr>
              <a:t>で</a:t>
            </a:r>
            <a:r>
              <a:rPr kumimoji="1" lang="en-US" altLang="ja-JP" sz="2200" dirty="0">
                <a:latin typeface="+mn-ea"/>
              </a:rPr>
              <a:t> </a:t>
            </a:r>
            <a:r>
              <a:rPr kumimoji="1" lang="en-US" altLang="ja-JP" sz="2200" dirty="0" err="1">
                <a:latin typeface="+mn-ea"/>
              </a:rPr>
              <a:t>低・中・高</a:t>
            </a:r>
            <a:r>
              <a:rPr kumimoji="1" lang="en-US" altLang="ja-JP" sz="2200" dirty="0">
                <a:latin typeface="+mn-ea"/>
              </a:rPr>
              <a:t> </a:t>
            </a:r>
            <a:r>
              <a:rPr kumimoji="1" lang="ja-JP" altLang="en-US" sz="2200">
                <a:latin typeface="+mn-ea"/>
              </a:rPr>
              <a:t>の３群</a:t>
            </a:r>
            <a:r>
              <a:rPr kumimoji="1" lang="en-US" altLang="ja-JP" sz="2200" dirty="0" err="1">
                <a:latin typeface="+mn-ea"/>
              </a:rPr>
              <a:t>に分けて</a:t>
            </a:r>
            <a:endParaRPr kumimoji="1" lang="en-US" altLang="ja-JP" dirty="0">
              <a:latin typeface="+mn-ea"/>
            </a:endParaRPr>
          </a:p>
          <a:p>
            <a:pPr>
              <a:spcAft>
                <a:spcPts val="200"/>
              </a:spcAft>
            </a:pPr>
            <a:r>
              <a:rPr kumimoji="1" lang="en-US" altLang="ja-JP" sz="2200" dirty="0">
                <a:latin typeface="+mn-ea"/>
              </a:rPr>
              <a:t>PPG </a:t>
            </a:r>
            <a:r>
              <a:rPr kumimoji="1" lang="en-US" altLang="ja-JP" sz="2200" dirty="0" err="1">
                <a:latin typeface="+mn-ea"/>
              </a:rPr>
              <a:t>特徴量やバイタル</a:t>
            </a:r>
            <a:r>
              <a:rPr kumimoji="1" lang="ja-JP" altLang="en-US" sz="2200">
                <a:latin typeface="+mn-ea"/>
              </a:rPr>
              <a:t>サインで　分類可能か</a:t>
            </a:r>
            <a:r>
              <a:rPr kumimoji="1" lang="en-US" altLang="ja-JP" sz="2200" dirty="0" err="1">
                <a:latin typeface="+mn-ea"/>
              </a:rPr>
              <a:t>検討</a:t>
            </a:r>
            <a:r>
              <a:rPr kumimoji="1" lang="ja-JP" altLang="en-US" sz="2200">
                <a:latin typeface="+mn-ea"/>
              </a:rPr>
              <a:t>した。</a:t>
            </a:r>
            <a:endParaRPr kumimoji="1" lang="en-US" altLang="ja-JP" dirty="0">
              <a:latin typeface="+mn-ea"/>
            </a:endParaRPr>
          </a:p>
          <a:p>
            <a:pPr>
              <a:spcAft>
                <a:spcPts val="200"/>
              </a:spcAft>
            </a:pPr>
            <a:endParaRPr kumimoji="1" lang="en-US" altLang="ja-JP" dirty="0">
              <a:latin typeface="+mn-ea"/>
            </a:endParaRPr>
          </a:p>
          <a:p>
            <a:pPr>
              <a:spcAft>
                <a:spcPts val="200"/>
              </a:spcAft>
            </a:pPr>
            <a:r>
              <a:rPr kumimoji="1" lang="en-US" altLang="ja-JP" sz="2200" dirty="0">
                <a:latin typeface="+mn-ea"/>
              </a:rPr>
              <a:t>ICU 患者 48人</a:t>
            </a:r>
            <a:endParaRPr kumimoji="1" lang="en-US" altLang="ja-JP" dirty="0">
              <a:latin typeface="+mn-ea"/>
            </a:endParaRPr>
          </a:p>
          <a:p>
            <a:pPr>
              <a:spcAft>
                <a:spcPts val="200"/>
              </a:spcAft>
            </a:pPr>
            <a:endParaRPr kumimoji="1" lang="en-US" altLang="ja-JP" dirty="0">
              <a:latin typeface="+mn-ea"/>
            </a:endParaRPr>
          </a:p>
          <a:p>
            <a:pPr>
              <a:spcAft>
                <a:spcPts val="200"/>
              </a:spcAft>
            </a:pPr>
            <a:r>
              <a:rPr kumimoji="1" lang="en-US" altLang="ja-JP" sz="2200" dirty="0">
                <a:latin typeface="+mn-ea"/>
              </a:rPr>
              <a:t>・低SVR で RI は低下する</a:t>
            </a:r>
            <a:endParaRPr kumimoji="1" lang="en-US" altLang="ja-JP" dirty="0">
              <a:latin typeface="+mn-ea"/>
            </a:endParaRPr>
          </a:p>
          <a:p>
            <a:pPr>
              <a:spcAft>
                <a:spcPts val="200"/>
              </a:spcAft>
            </a:pPr>
            <a:r>
              <a:rPr kumimoji="1" lang="en-US" altLang="ja-JP" sz="2200" dirty="0">
                <a:latin typeface="+mn-ea"/>
              </a:rPr>
              <a:t>・</a:t>
            </a:r>
            <a:r>
              <a:rPr kumimoji="1" lang="en-US" altLang="ja-JP" sz="2200" dirty="0" err="1">
                <a:latin typeface="+mn-ea"/>
              </a:rPr>
              <a:t>単独の特徴量では識別能力が</a:t>
            </a:r>
            <a:r>
              <a:rPr kumimoji="1" lang="ja-JP" altLang="en-US" sz="2200">
                <a:latin typeface="+mn-ea"/>
              </a:rPr>
              <a:t>高め</a:t>
            </a:r>
            <a:endParaRPr kumimoji="1" lang="en-US" altLang="ja-JP" sz="2200" dirty="0">
              <a:latin typeface="+mn-ea"/>
            </a:endParaRPr>
          </a:p>
          <a:p>
            <a:pPr>
              <a:spcAft>
                <a:spcPts val="200"/>
              </a:spcAft>
            </a:pPr>
            <a:r>
              <a:rPr lang="ja-JP" altLang="en-US" sz="2200">
                <a:latin typeface="+mn-ea"/>
              </a:rPr>
              <a:t>・RI 単独 κ=0.33</a:t>
            </a:r>
            <a:endParaRPr kumimoji="1" lang="en-US" altLang="ja-JP" dirty="0">
              <a:latin typeface="+mn-ea"/>
            </a:endParaRPr>
          </a:p>
        </p:txBody>
      </p:sp>
      <p:sp>
        <p:nvSpPr>
          <p:cNvPr id="3" name="callout">
            <a:extLst>
              <a:ext uri="{FF2B5EF4-FFF2-40B4-BE49-F238E27FC236}">
                <a16:creationId xmlns:a16="http://schemas.microsoft.com/office/drawing/2014/main" id="{71DB1571-7D05-1607-6033-17C6704F9E20}"/>
              </a:ext>
            </a:extLst>
          </p:cNvPr>
          <p:cNvSpPr/>
          <p:nvPr/>
        </p:nvSpPr>
        <p:spPr>
          <a:xfrm>
            <a:off x="540001" y="4504179"/>
            <a:ext cx="6480000" cy="216000"/>
          </a:xfrm>
          <a:prstGeom prst="roundRect">
            <a:avLst>
              <a:gd name="adj" fmla="val 21191"/>
            </a:avLst>
          </a:prstGeom>
          <a:solidFill>
            <a:srgbClr val="F2E2B3">
              <a:alpha val="28000"/>
            </a:srgbClr>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endParaRPr sz="2400" b="1" dirty="0">
              <a:solidFill>
                <a:srgbClr val="262626"/>
              </a:solidFill>
              <a:latin typeface="Meiryo"/>
              <a:ea typeface="Meiryo"/>
              <a:cs typeface="Meiryo"/>
            </a:endParaRPr>
          </a:p>
        </p:txBody>
      </p:sp>
      <p:sp>
        <p:nvSpPr>
          <p:cNvPr id="2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22. Lee 2011（ICU 48 名）</a:t>
            </a:r>
          </a:p>
        </p:txBody>
      </p:sp>
      <p:sp>
        <p:nvSpPr>
          <p:cNvPr id="2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32/55</a:t>
            </a:r>
          </a:p>
        </p:txBody>
      </p:sp>
    </p:spTree>
    <p:extLst>
      <p:ext uri="{BB962C8B-B14F-4D97-AF65-F5344CB8AC3E}">
        <p14:creationId xmlns:p14="http://schemas.microsoft.com/office/powerpoint/2010/main" val="7859751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621EB6-121F-AD4D-699D-FAE858E85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7A7913-E1A2-6038-1CFC-011E88F2F4B0}"/>
              </a:ext>
            </a:extLst>
          </p:cNvPr>
          <p:cNvSpPr>
            <a:spLocks noGrp="1"/>
          </p:cNvSpPr>
          <p:nvPr>
            <p:ph type="title"/>
          </p:nvPr>
        </p:nvSpPr>
        <p:spPr/>
        <p:txBody>
          <a:bodyPr/>
          <a:lstStyle/>
          <a:p>
            <a:pPr algn="l"/>
            <a:r>
              <a:rPr sz="4600" dirty="0">
                <a:latin typeface="Meiryo"/>
                <a:ea typeface="Meiryo"/>
                <a:cs typeface="Meiryo"/>
              </a:rPr>
              <a:t>3.2  RI と心拍数</a:t>
            </a:r>
          </a:p>
        </p:txBody>
      </p:sp>
      <p:sp>
        <p:nvSpPr>
          <p:cNvPr id="13" name="Off-page Connector 4">
            <a:extLst>
              <a:ext uri="{FF2B5EF4-FFF2-40B4-BE49-F238E27FC236}">
                <a16:creationId xmlns:a16="http://schemas.microsoft.com/office/drawing/2014/main" id="{1BA6D5A7-BC18-F2B2-F176-8988D990CA7A}"/>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8236811D-30B0-5D80-F614-1DF55396C8EB}"/>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E0440796-214F-A8DD-9634-78690288DEF4}"/>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00420769-5585-1A4A-A236-ECF033DA04F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19" name="wbox"/>
          <p:cNvSpPr/>
          <p:nvPr/>
        </p:nvSpPr>
        <p:spPr>
          <a:xfrm>
            <a:off x="548640" y="2157984"/>
            <a:ext cx="5577840" cy="2139696"/>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wbase"/>
          <p:cNvCxnSpPr/>
          <p:nvPr/>
        </p:nvCxnSpPr>
        <p:spPr>
          <a:xfrm>
            <a:off x="731520" y="4023360"/>
            <a:ext cx="5212080"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_low"/>
          <p:cNvSpPr/>
          <p:nvPr/>
        </p:nvSpPr>
        <p:spPr>
          <a:xfrm>
            <a:off x="731520" y="2232758"/>
            <a:ext cx="5212080" cy="1790602"/>
          </a:xfrm>
          <a:custGeom>
            <a:avLst/>
            <a:gdLst/>
            <a:ahLst/>
            <a:cxnLst/>
            <a:rect l="l" t="t" r="r" b="b"/>
            <a:pathLst>
              <a:path w="5212080" h="1790602">
                <a:moveTo>
                  <a:pt x="0" y="1788206"/>
                </a:moveTo>
                <a:lnTo>
                  <a:pt x="29118" y="1787153"/>
                </a:lnTo>
                <a:lnTo>
                  <a:pt x="58236" y="1785689"/>
                </a:lnTo>
                <a:lnTo>
                  <a:pt x="87353" y="1783675"/>
                </a:lnTo>
                <a:lnTo>
                  <a:pt x="116471" y="1780936"/>
                </a:lnTo>
                <a:lnTo>
                  <a:pt x="145589" y="1777251"/>
                </a:lnTo>
                <a:lnTo>
                  <a:pt x="174707" y="1772351"/>
                </a:lnTo>
                <a:lnTo>
                  <a:pt x="203824" y="1765910"/>
                </a:lnTo>
                <a:lnTo>
                  <a:pt x="232942" y="1757537"/>
                </a:lnTo>
                <a:lnTo>
                  <a:pt x="262060" y="1746780"/>
                </a:lnTo>
                <a:lnTo>
                  <a:pt x="291178" y="1733118"/>
                </a:lnTo>
                <a:lnTo>
                  <a:pt x="320295" y="1715972"/>
                </a:lnTo>
                <a:lnTo>
                  <a:pt x="349413" y="1694706"/>
                </a:lnTo>
                <a:lnTo>
                  <a:pt x="378531" y="1668644"/>
                </a:lnTo>
                <a:lnTo>
                  <a:pt x="407649" y="1637091"/>
                </a:lnTo>
                <a:lnTo>
                  <a:pt x="436766" y="1599358"/>
                </a:lnTo>
                <a:lnTo>
                  <a:pt x="465884" y="1554794"/>
                </a:lnTo>
                <a:lnTo>
                  <a:pt x="495002" y="1502828"/>
                </a:lnTo>
                <a:lnTo>
                  <a:pt x="524120" y="1443014"/>
                </a:lnTo>
                <a:lnTo>
                  <a:pt x="553238" y="1375073"/>
                </a:lnTo>
                <a:lnTo>
                  <a:pt x="582355" y="1298949"/>
                </a:lnTo>
                <a:lnTo>
                  <a:pt x="611473" y="1214844"/>
                </a:lnTo>
                <a:lnTo>
                  <a:pt x="640591" y="1123266"/>
                </a:lnTo>
                <a:lnTo>
                  <a:pt x="669709" y="1025052"/>
                </a:lnTo>
                <a:lnTo>
                  <a:pt x="698826" y="921386"/>
                </a:lnTo>
                <a:lnTo>
                  <a:pt x="727944" y="813794"/>
                </a:lnTo>
                <a:lnTo>
                  <a:pt x="757062" y="704130"/>
                </a:lnTo>
                <a:lnTo>
                  <a:pt x="786180" y="594527"/>
                </a:lnTo>
                <a:lnTo>
                  <a:pt x="815297" y="487342"/>
                </a:lnTo>
                <a:lnTo>
                  <a:pt x="844415" y="385074"/>
                </a:lnTo>
                <a:lnTo>
                  <a:pt x="873533" y="290269"/>
                </a:lnTo>
                <a:lnTo>
                  <a:pt x="902651" y="205415"/>
                </a:lnTo>
                <a:lnTo>
                  <a:pt x="931768" y="132834"/>
                </a:lnTo>
                <a:lnTo>
                  <a:pt x="960886" y="74568"/>
                </a:lnTo>
                <a:lnTo>
                  <a:pt x="990004" y="32288"/>
                </a:lnTo>
                <a:lnTo>
                  <a:pt x="1019122" y="7202"/>
                </a:lnTo>
                <a:lnTo>
                  <a:pt x="1048240" y="0"/>
                </a:lnTo>
                <a:lnTo>
                  <a:pt x="1077357" y="10810"/>
                </a:lnTo>
                <a:lnTo>
                  <a:pt x="1106475" y="39195"/>
                </a:lnTo>
                <a:lnTo>
                  <a:pt x="1135593" y="84168"/>
                </a:lnTo>
                <a:lnTo>
                  <a:pt x="1164711" y="144245"/>
                </a:lnTo>
                <a:lnTo>
                  <a:pt x="1193828" y="217511"/>
                </a:lnTo>
                <a:lnTo>
                  <a:pt x="1222946" y="301715"/>
                </a:lnTo>
                <a:lnTo>
                  <a:pt x="1252064" y="394372"/>
                </a:lnTo>
                <a:lnTo>
                  <a:pt x="1281182" y="492871"/>
                </a:lnTo>
                <a:lnTo>
                  <a:pt x="1310299" y="594588"/>
                </a:lnTo>
                <a:lnTo>
                  <a:pt x="1339417" y="696987"/>
                </a:lnTo>
                <a:lnTo>
                  <a:pt x="1368535" y="797707"/>
                </a:lnTo>
                <a:lnTo>
                  <a:pt x="1397653" y="894641"/>
                </a:lnTo>
                <a:lnTo>
                  <a:pt x="1426771" y="985985"/>
                </a:lnTo>
                <a:lnTo>
                  <a:pt x="1455888" y="1070275"/>
                </a:lnTo>
                <a:lnTo>
                  <a:pt x="1485006" y="1146400"/>
                </a:lnTo>
                <a:lnTo>
                  <a:pt x="1514124" y="1213600"/>
                </a:lnTo>
                <a:lnTo>
                  <a:pt x="1543242" y="1271442"/>
                </a:lnTo>
                <a:lnTo>
                  <a:pt x="1572359" y="1319794"/>
                </a:lnTo>
                <a:lnTo>
                  <a:pt x="1601477" y="1358783"/>
                </a:lnTo>
                <a:lnTo>
                  <a:pt x="1630595" y="1388748"/>
                </a:lnTo>
                <a:lnTo>
                  <a:pt x="1659713" y="1410198"/>
                </a:lnTo>
                <a:lnTo>
                  <a:pt x="1688830" y="1423764"/>
                </a:lnTo>
                <a:lnTo>
                  <a:pt x="1717948" y="1430160"/>
                </a:lnTo>
                <a:lnTo>
                  <a:pt x="1747066" y="1430147"/>
                </a:lnTo>
                <a:lnTo>
                  <a:pt x="1776184" y="1424501"/>
                </a:lnTo>
                <a:lnTo>
                  <a:pt x="1805301" y="1413993"/>
                </a:lnTo>
                <a:lnTo>
                  <a:pt x="1834419" y="1399369"/>
                </a:lnTo>
                <a:lnTo>
                  <a:pt x="1863537" y="1381338"/>
                </a:lnTo>
                <a:lnTo>
                  <a:pt x="1892655" y="1360571"/>
                </a:lnTo>
                <a:lnTo>
                  <a:pt x="1921773" y="1337690"/>
                </a:lnTo>
                <a:lnTo>
                  <a:pt x="1950890" y="1313273"/>
                </a:lnTo>
                <a:lnTo>
                  <a:pt x="1980008" y="1287854"/>
                </a:lnTo>
                <a:lnTo>
                  <a:pt x="2009126" y="1261925"/>
                </a:lnTo>
                <a:lnTo>
                  <a:pt x="2038244" y="1235943"/>
                </a:lnTo>
                <a:lnTo>
                  <a:pt x="2067361" y="1210327"/>
                </a:lnTo>
                <a:lnTo>
                  <a:pt x="2096479" y="1185467"/>
                </a:lnTo>
                <a:lnTo>
                  <a:pt x="2125597" y="1161721"/>
                </a:lnTo>
                <a:lnTo>
                  <a:pt x="2154715" y="1139418"/>
                </a:lnTo>
                <a:lnTo>
                  <a:pt x="2183832" y="1118861"/>
                </a:lnTo>
                <a:lnTo>
                  <a:pt x="2212950" y="1100319"/>
                </a:lnTo>
                <a:lnTo>
                  <a:pt x="2242068" y="1084036"/>
                </a:lnTo>
                <a:lnTo>
                  <a:pt x="2271186" y="1070222"/>
                </a:lnTo>
                <a:lnTo>
                  <a:pt x="2300303" y="1059054"/>
                </a:lnTo>
                <a:lnTo>
                  <a:pt x="2329421" y="1050677"/>
                </a:lnTo>
                <a:lnTo>
                  <a:pt x="2358539" y="1045198"/>
                </a:lnTo>
                <a:lnTo>
                  <a:pt x="2387657" y="1042688"/>
                </a:lnTo>
                <a:lnTo>
                  <a:pt x="2416775" y="1043181"/>
                </a:lnTo>
                <a:lnTo>
                  <a:pt x="2445892" y="1046675"/>
                </a:lnTo>
                <a:lnTo>
                  <a:pt x="2475010" y="1053127"/>
                </a:lnTo>
                <a:lnTo>
                  <a:pt x="2504128" y="1062462"/>
                </a:lnTo>
                <a:lnTo>
                  <a:pt x="2533246" y="1074570"/>
                </a:lnTo>
                <a:lnTo>
                  <a:pt x="2562363" y="1089307"/>
                </a:lnTo>
                <a:lnTo>
                  <a:pt x="2591481" y="1106504"/>
                </a:lnTo>
                <a:lnTo>
                  <a:pt x="2620599" y="1125963"/>
                </a:lnTo>
                <a:lnTo>
                  <a:pt x="2649717" y="1147465"/>
                </a:lnTo>
                <a:lnTo>
                  <a:pt x="2678834" y="1170775"/>
                </a:lnTo>
                <a:lnTo>
                  <a:pt x="2707952" y="1195642"/>
                </a:lnTo>
                <a:lnTo>
                  <a:pt x="2737070" y="1221809"/>
                </a:lnTo>
                <a:lnTo>
                  <a:pt x="2766188" y="1249012"/>
                </a:lnTo>
                <a:lnTo>
                  <a:pt x="2795305" y="1276989"/>
                </a:lnTo>
                <a:lnTo>
                  <a:pt x="2824423" y="1305479"/>
                </a:lnTo>
                <a:lnTo>
                  <a:pt x="2853541" y="1334232"/>
                </a:lnTo>
                <a:lnTo>
                  <a:pt x="2882659" y="1363007"/>
                </a:lnTo>
                <a:lnTo>
                  <a:pt x="2911777" y="1391579"/>
                </a:lnTo>
                <a:lnTo>
                  <a:pt x="2940894" y="1419740"/>
                </a:lnTo>
                <a:lnTo>
                  <a:pt x="2970012" y="1447300"/>
                </a:lnTo>
                <a:lnTo>
                  <a:pt x="2999130" y="1474090"/>
                </a:lnTo>
                <a:lnTo>
                  <a:pt x="3028248" y="1499963"/>
                </a:lnTo>
                <a:lnTo>
                  <a:pt x="3057365" y="1524795"/>
                </a:lnTo>
                <a:lnTo>
                  <a:pt x="3086483" y="1548482"/>
                </a:lnTo>
                <a:lnTo>
                  <a:pt x="3115601" y="1570946"/>
                </a:lnTo>
                <a:lnTo>
                  <a:pt x="3144719" y="1592127"/>
                </a:lnTo>
                <a:lnTo>
                  <a:pt x="3173836" y="1611987"/>
                </a:lnTo>
                <a:lnTo>
                  <a:pt x="3202954" y="1630506"/>
                </a:lnTo>
                <a:lnTo>
                  <a:pt x="3232072" y="1647683"/>
                </a:lnTo>
                <a:lnTo>
                  <a:pt x="3261190" y="1663529"/>
                </a:lnTo>
                <a:lnTo>
                  <a:pt x="3290307" y="1678073"/>
                </a:lnTo>
                <a:lnTo>
                  <a:pt x="3319425" y="1691354"/>
                </a:lnTo>
                <a:lnTo>
                  <a:pt x="3348543" y="1703419"/>
                </a:lnTo>
                <a:lnTo>
                  <a:pt x="3377661" y="1714325"/>
                </a:lnTo>
                <a:lnTo>
                  <a:pt x="3406779" y="1724135"/>
                </a:lnTo>
                <a:lnTo>
                  <a:pt x="3435896" y="1732917"/>
                </a:lnTo>
                <a:lnTo>
                  <a:pt x="3465014" y="1740740"/>
                </a:lnTo>
                <a:lnTo>
                  <a:pt x="3494132" y="1747675"/>
                </a:lnTo>
                <a:lnTo>
                  <a:pt x="3523250" y="1753794"/>
                </a:lnTo>
                <a:lnTo>
                  <a:pt x="3552367" y="1759168"/>
                </a:lnTo>
                <a:lnTo>
                  <a:pt x="3581485" y="1763865"/>
                </a:lnTo>
                <a:lnTo>
                  <a:pt x="3610603" y="1767952"/>
                </a:lnTo>
                <a:lnTo>
                  <a:pt x="3639721" y="1771492"/>
                </a:lnTo>
                <a:lnTo>
                  <a:pt x="3668838" y="1774543"/>
                </a:lnTo>
                <a:lnTo>
                  <a:pt x="3697956" y="1777161"/>
                </a:lnTo>
                <a:lnTo>
                  <a:pt x="3727074" y="1779398"/>
                </a:lnTo>
                <a:lnTo>
                  <a:pt x="3756192" y="1781300"/>
                </a:lnTo>
                <a:lnTo>
                  <a:pt x="3785309" y="1782910"/>
                </a:lnTo>
                <a:lnTo>
                  <a:pt x="3814427" y="1784267"/>
                </a:lnTo>
                <a:lnTo>
                  <a:pt x="3843545" y="1785405"/>
                </a:lnTo>
                <a:lnTo>
                  <a:pt x="3872663" y="1786357"/>
                </a:lnTo>
                <a:lnTo>
                  <a:pt x="3901781" y="1787148"/>
                </a:lnTo>
                <a:lnTo>
                  <a:pt x="3930898" y="1787803"/>
                </a:lnTo>
                <a:lnTo>
                  <a:pt x="3960016" y="1788342"/>
                </a:lnTo>
                <a:lnTo>
                  <a:pt x="3989134" y="1788786"/>
                </a:lnTo>
                <a:lnTo>
                  <a:pt x="4018252" y="1789148"/>
                </a:lnTo>
                <a:lnTo>
                  <a:pt x="4047369" y="1789442"/>
                </a:lnTo>
                <a:lnTo>
                  <a:pt x="4076487" y="1789681"/>
                </a:lnTo>
                <a:lnTo>
                  <a:pt x="4105605" y="1789873"/>
                </a:lnTo>
                <a:lnTo>
                  <a:pt x="4134723" y="1790028"/>
                </a:lnTo>
                <a:lnTo>
                  <a:pt x="4163840" y="1790151"/>
                </a:lnTo>
                <a:lnTo>
                  <a:pt x="4192958" y="1790250"/>
                </a:lnTo>
                <a:lnTo>
                  <a:pt x="4222076" y="1790328"/>
                </a:lnTo>
                <a:lnTo>
                  <a:pt x="4251194" y="1790390"/>
                </a:lnTo>
                <a:lnTo>
                  <a:pt x="4280312" y="1790438"/>
                </a:lnTo>
                <a:lnTo>
                  <a:pt x="4309429" y="1790476"/>
                </a:lnTo>
                <a:lnTo>
                  <a:pt x="4338547" y="1790505"/>
                </a:lnTo>
                <a:lnTo>
                  <a:pt x="4367665" y="1790528"/>
                </a:lnTo>
                <a:lnTo>
                  <a:pt x="4396783" y="1790546"/>
                </a:lnTo>
                <a:lnTo>
                  <a:pt x="4425900" y="1790560"/>
                </a:lnTo>
                <a:lnTo>
                  <a:pt x="4455018" y="1790570"/>
                </a:lnTo>
                <a:lnTo>
                  <a:pt x="4484136" y="1790578"/>
                </a:lnTo>
                <a:lnTo>
                  <a:pt x="4513254" y="1790584"/>
                </a:lnTo>
                <a:lnTo>
                  <a:pt x="4542371" y="1790589"/>
                </a:lnTo>
                <a:lnTo>
                  <a:pt x="4571489" y="1790592"/>
                </a:lnTo>
                <a:lnTo>
                  <a:pt x="4600607" y="1790595"/>
                </a:lnTo>
                <a:lnTo>
                  <a:pt x="4629725" y="1790597"/>
                </a:lnTo>
                <a:lnTo>
                  <a:pt x="4658842" y="1790598"/>
                </a:lnTo>
                <a:lnTo>
                  <a:pt x="4687960" y="1790599"/>
                </a:lnTo>
                <a:lnTo>
                  <a:pt x="4717078" y="1790600"/>
                </a:lnTo>
                <a:lnTo>
                  <a:pt x="4746196" y="1790600"/>
                </a:lnTo>
                <a:lnTo>
                  <a:pt x="4775314" y="1790601"/>
                </a:lnTo>
                <a:lnTo>
                  <a:pt x="4804431" y="1790601"/>
                </a:lnTo>
                <a:lnTo>
                  <a:pt x="4833549" y="1790601"/>
                </a:lnTo>
                <a:lnTo>
                  <a:pt x="4862667" y="1790602"/>
                </a:lnTo>
                <a:lnTo>
                  <a:pt x="4891785" y="1790602"/>
                </a:lnTo>
                <a:lnTo>
                  <a:pt x="4920902" y="1790602"/>
                </a:lnTo>
                <a:lnTo>
                  <a:pt x="4950020" y="1790602"/>
                </a:lnTo>
                <a:lnTo>
                  <a:pt x="4979138" y="1790602"/>
                </a:lnTo>
                <a:lnTo>
                  <a:pt x="5008256" y="1790602"/>
                </a:lnTo>
                <a:lnTo>
                  <a:pt x="5037373" y="1790602"/>
                </a:lnTo>
                <a:lnTo>
                  <a:pt x="5066491" y="1790602"/>
                </a:lnTo>
                <a:lnTo>
                  <a:pt x="5095609" y="1790602"/>
                </a:lnTo>
                <a:lnTo>
                  <a:pt x="5124727" y="1790602"/>
                </a:lnTo>
                <a:lnTo>
                  <a:pt x="5153844" y="1790602"/>
                </a:lnTo>
                <a:lnTo>
                  <a:pt x="5182962" y="1790602"/>
                </a:lnTo>
                <a:lnTo>
                  <a:pt x="5212080" y="1790602"/>
                </a:lnTo>
              </a:path>
            </a:pathLst>
          </a:custGeom>
          <a:noFill/>
          <a:ln w="3175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_high"/>
          <p:cNvSpPr/>
          <p:nvPr/>
        </p:nvSpPr>
        <p:spPr>
          <a:xfrm>
            <a:off x="731520" y="2236453"/>
            <a:ext cx="5212080" cy="1786907"/>
          </a:xfrm>
          <a:custGeom>
            <a:avLst/>
            <a:gdLst/>
            <a:ahLst/>
            <a:cxnLst/>
            <a:rect l="l" t="t" r="r" b="b"/>
            <a:pathLst>
              <a:path w="5212080" h="1786907">
                <a:moveTo>
                  <a:pt x="0" y="1786604"/>
                </a:moveTo>
                <a:lnTo>
                  <a:pt x="29118" y="1786419"/>
                </a:lnTo>
                <a:lnTo>
                  <a:pt x="58236" y="1786130"/>
                </a:lnTo>
                <a:lnTo>
                  <a:pt x="87353" y="1785687"/>
                </a:lnTo>
                <a:lnTo>
                  <a:pt x="116471" y="1785018"/>
                </a:lnTo>
                <a:lnTo>
                  <a:pt x="145589" y="1784021"/>
                </a:lnTo>
                <a:lnTo>
                  <a:pt x="174707" y="1782556"/>
                </a:lnTo>
                <a:lnTo>
                  <a:pt x="203824" y="1780436"/>
                </a:lnTo>
                <a:lnTo>
                  <a:pt x="232942" y="1777413"/>
                </a:lnTo>
                <a:lnTo>
                  <a:pt x="262060" y="1773164"/>
                </a:lnTo>
                <a:lnTo>
                  <a:pt x="291178" y="1767283"/>
                </a:lnTo>
                <a:lnTo>
                  <a:pt x="320295" y="1759261"/>
                </a:lnTo>
                <a:lnTo>
                  <a:pt x="349413" y="1748484"/>
                </a:lnTo>
                <a:lnTo>
                  <a:pt x="378531" y="1734224"/>
                </a:lnTo>
                <a:lnTo>
                  <a:pt x="407649" y="1715644"/>
                </a:lnTo>
                <a:lnTo>
                  <a:pt x="436766" y="1691809"/>
                </a:lnTo>
                <a:lnTo>
                  <a:pt x="465884" y="1661708"/>
                </a:lnTo>
                <a:lnTo>
                  <a:pt x="495002" y="1624296"/>
                </a:lnTo>
                <a:lnTo>
                  <a:pt x="524120" y="1578547"/>
                </a:lnTo>
                <a:lnTo>
                  <a:pt x="553238" y="1523517"/>
                </a:lnTo>
                <a:lnTo>
                  <a:pt x="582355" y="1458432"/>
                </a:lnTo>
                <a:lnTo>
                  <a:pt x="611473" y="1382774"/>
                </a:lnTo>
                <a:lnTo>
                  <a:pt x="640591" y="1296377"/>
                </a:lnTo>
                <a:lnTo>
                  <a:pt x="669709" y="1199516"/>
                </a:lnTo>
                <a:lnTo>
                  <a:pt x="698826" y="1092987"/>
                </a:lnTo>
                <a:lnTo>
                  <a:pt x="727944" y="978158"/>
                </a:lnTo>
                <a:lnTo>
                  <a:pt x="757062" y="856998"/>
                </a:lnTo>
                <a:lnTo>
                  <a:pt x="786180" y="732056"/>
                </a:lnTo>
                <a:lnTo>
                  <a:pt x="815297" y="606402"/>
                </a:lnTo>
                <a:lnTo>
                  <a:pt x="844415" y="483523"/>
                </a:lnTo>
                <a:lnTo>
                  <a:pt x="873533" y="367169"/>
                </a:lnTo>
                <a:lnTo>
                  <a:pt x="902651" y="261172"/>
                </a:lnTo>
                <a:lnTo>
                  <a:pt x="931768" y="169238"/>
                </a:lnTo>
                <a:lnTo>
                  <a:pt x="960886" y="94725"/>
                </a:lnTo>
                <a:lnTo>
                  <a:pt x="990004" y="40443"/>
                </a:lnTo>
                <a:lnTo>
                  <a:pt x="1019122" y="8466"/>
                </a:lnTo>
                <a:lnTo>
                  <a:pt x="1048240" y="0"/>
                </a:lnTo>
                <a:lnTo>
                  <a:pt x="1077357" y="15297"/>
                </a:lnTo>
                <a:lnTo>
                  <a:pt x="1106475" y="53636"/>
                </a:lnTo>
                <a:lnTo>
                  <a:pt x="1135593" y="113367"/>
                </a:lnTo>
                <a:lnTo>
                  <a:pt x="1164711" y="192021"/>
                </a:lnTo>
                <a:lnTo>
                  <a:pt x="1193828" y="286461"/>
                </a:lnTo>
                <a:lnTo>
                  <a:pt x="1222946" y="393080"/>
                </a:lnTo>
                <a:lnTo>
                  <a:pt x="1252064" y="508014"/>
                </a:lnTo>
                <a:lnTo>
                  <a:pt x="1281182" y="627355"/>
                </a:lnTo>
                <a:lnTo>
                  <a:pt x="1310299" y="747358"/>
                </a:lnTo>
                <a:lnTo>
                  <a:pt x="1339417" y="864606"/>
                </a:lnTo>
                <a:lnTo>
                  <a:pt x="1368535" y="976154"/>
                </a:lnTo>
                <a:lnTo>
                  <a:pt x="1397653" y="1079609"/>
                </a:lnTo>
                <a:lnTo>
                  <a:pt x="1426771" y="1173182"/>
                </a:lnTo>
                <a:lnTo>
                  <a:pt x="1455888" y="1255685"/>
                </a:lnTo>
                <a:lnTo>
                  <a:pt x="1485006" y="1326499"/>
                </a:lnTo>
                <a:lnTo>
                  <a:pt x="1514124" y="1385508"/>
                </a:lnTo>
                <a:lnTo>
                  <a:pt x="1543242" y="1433020"/>
                </a:lnTo>
                <a:lnTo>
                  <a:pt x="1572359" y="1469678"/>
                </a:lnTo>
                <a:lnTo>
                  <a:pt x="1601477" y="1496364"/>
                </a:lnTo>
                <a:lnTo>
                  <a:pt x="1630595" y="1514117"/>
                </a:lnTo>
                <a:lnTo>
                  <a:pt x="1659713" y="1524056"/>
                </a:lnTo>
                <a:lnTo>
                  <a:pt x="1688830" y="1527321"/>
                </a:lnTo>
                <a:lnTo>
                  <a:pt x="1717948" y="1525023"/>
                </a:lnTo>
                <a:lnTo>
                  <a:pt x="1747066" y="1518215"/>
                </a:lnTo>
                <a:lnTo>
                  <a:pt x="1776184" y="1507868"/>
                </a:lnTo>
                <a:lnTo>
                  <a:pt x="1805301" y="1494864"/>
                </a:lnTo>
                <a:lnTo>
                  <a:pt x="1834419" y="1479993"/>
                </a:lnTo>
                <a:lnTo>
                  <a:pt x="1863537" y="1463953"/>
                </a:lnTo>
                <a:lnTo>
                  <a:pt x="1892655" y="1447362"/>
                </a:lnTo>
                <a:lnTo>
                  <a:pt x="1921773" y="1430763"/>
                </a:lnTo>
                <a:lnTo>
                  <a:pt x="1950890" y="1414632"/>
                </a:lnTo>
                <a:lnTo>
                  <a:pt x="1980008" y="1399384"/>
                </a:lnTo>
                <a:lnTo>
                  <a:pt x="2009126" y="1385379"/>
                </a:lnTo>
                <a:lnTo>
                  <a:pt x="2038244" y="1372930"/>
                </a:lnTo>
                <a:lnTo>
                  <a:pt x="2067361" y="1362299"/>
                </a:lnTo>
                <a:lnTo>
                  <a:pt x="2096479" y="1353703"/>
                </a:lnTo>
                <a:lnTo>
                  <a:pt x="2125597" y="1347315"/>
                </a:lnTo>
                <a:lnTo>
                  <a:pt x="2154715" y="1343260"/>
                </a:lnTo>
                <a:lnTo>
                  <a:pt x="2183832" y="1341620"/>
                </a:lnTo>
                <a:lnTo>
                  <a:pt x="2212950" y="1342432"/>
                </a:lnTo>
                <a:lnTo>
                  <a:pt x="2242068" y="1345689"/>
                </a:lnTo>
                <a:lnTo>
                  <a:pt x="2271186" y="1351340"/>
                </a:lnTo>
                <a:lnTo>
                  <a:pt x="2300303" y="1359294"/>
                </a:lnTo>
                <a:lnTo>
                  <a:pt x="2329421" y="1369424"/>
                </a:lnTo>
                <a:lnTo>
                  <a:pt x="2358539" y="1381569"/>
                </a:lnTo>
                <a:lnTo>
                  <a:pt x="2387657" y="1395537"/>
                </a:lnTo>
                <a:lnTo>
                  <a:pt x="2416775" y="1411114"/>
                </a:lnTo>
                <a:lnTo>
                  <a:pt x="2445892" y="1428068"/>
                </a:lnTo>
                <a:lnTo>
                  <a:pt x="2475010" y="1446152"/>
                </a:lnTo>
                <a:lnTo>
                  <a:pt x="2504128" y="1465116"/>
                </a:lnTo>
                <a:lnTo>
                  <a:pt x="2533246" y="1484705"/>
                </a:lnTo>
                <a:lnTo>
                  <a:pt x="2562363" y="1504673"/>
                </a:lnTo>
                <a:lnTo>
                  <a:pt x="2591481" y="1524779"/>
                </a:lnTo>
                <a:lnTo>
                  <a:pt x="2620599" y="1544800"/>
                </a:lnTo>
                <a:lnTo>
                  <a:pt x="2649717" y="1564530"/>
                </a:lnTo>
                <a:lnTo>
                  <a:pt x="2678834" y="1583781"/>
                </a:lnTo>
                <a:lnTo>
                  <a:pt x="2707952" y="1602393"/>
                </a:lnTo>
                <a:lnTo>
                  <a:pt x="2737070" y="1620226"/>
                </a:lnTo>
                <a:lnTo>
                  <a:pt x="2766188" y="1637170"/>
                </a:lnTo>
                <a:lnTo>
                  <a:pt x="2795305" y="1653135"/>
                </a:lnTo>
                <a:lnTo>
                  <a:pt x="2824423" y="1668059"/>
                </a:lnTo>
                <a:lnTo>
                  <a:pt x="2853541" y="1681902"/>
                </a:lnTo>
                <a:lnTo>
                  <a:pt x="2882659" y="1694647"/>
                </a:lnTo>
                <a:lnTo>
                  <a:pt x="2911777" y="1706293"/>
                </a:lnTo>
                <a:lnTo>
                  <a:pt x="2940894" y="1716858"/>
                </a:lnTo>
                <a:lnTo>
                  <a:pt x="2970012" y="1726376"/>
                </a:lnTo>
                <a:lnTo>
                  <a:pt x="2999130" y="1734890"/>
                </a:lnTo>
                <a:lnTo>
                  <a:pt x="3028248" y="1742454"/>
                </a:lnTo>
                <a:lnTo>
                  <a:pt x="3057365" y="1749128"/>
                </a:lnTo>
                <a:lnTo>
                  <a:pt x="3086483" y="1754978"/>
                </a:lnTo>
                <a:lnTo>
                  <a:pt x="3115601" y="1760071"/>
                </a:lnTo>
                <a:lnTo>
                  <a:pt x="3144719" y="1764476"/>
                </a:lnTo>
                <a:lnTo>
                  <a:pt x="3173836" y="1768262"/>
                </a:lnTo>
                <a:lnTo>
                  <a:pt x="3202954" y="1771495"/>
                </a:lnTo>
                <a:lnTo>
                  <a:pt x="3232072" y="1774238"/>
                </a:lnTo>
                <a:lnTo>
                  <a:pt x="3261190" y="1776550"/>
                </a:lnTo>
                <a:lnTo>
                  <a:pt x="3290307" y="1778487"/>
                </a:lnTo>
                <a:lnTo>
                  <a:pt x="3319425" y="1780100"/>
                </a:lnTo>
                <a:lnTo>
                  <a:pt x="3348543" y="1781434"/>
                </a:lnTo>
                <a:lnTo>
                  <a:pt x="3377661" y="1782531"/>
                </a:lnTo>
                <a:lnTo>
                  <a:pt x="3406779" y="1783428"/>
                </a:lnTo>
                <a:lnTo>
                  <a:pt x="3435896" y="1784156"/>
                </a:lnTo>
                <a:lnTo>
                  <a:pt x="3465014" y="1784744"/>
                </a:lnTo>
                <a:lnTo>
                  <a:pt x="3494132" y="1785215"/>
                </a:lnTo>
                <a:lnTo>
                  <a:pt x="3523250" y="1785591"/>
                </a:lnTo>
                <a:lnTo>
                  <a:pt x="3552367" y="1785890"/>
                </a:lnTo>
                <a:lnTo>
                  <a:pt x="3581485" y="1786125"/>
                </a:lnTo>
                <a:lnTo>
                  <a:pt x="3610603" y="1786309"/>
                </a:lnTo>
                <a:lnTo>
                  <a:pt x="3639721" y="1786452"/>
                </a:lnTo>
                <a:lnTo>
                  <a:pt x="3668838" y="1786563"/>
                </a:lnTo>
                <a:lnTo>
                  <a:pt x="3697956" y="1786648"/>
                </a:lnTo>
                <a:lnTo>
                  <a:pt x="3727074" y="1786713"/>
                </a:lnTo>
                <a:lnTo>
                  <a:pt x="3756192" y="1786763"/>
                </a:lnTo>
                <a:lnTo>
                  <a:pt x="3785309" y="1786800"/>
                </a:lnTo>
                <a:lnTo>
                  <a:pt x="3814427" y="1786829"/>
                </a:lnTo>
                <a:lnTo>
                  <a:pt x="3843545" y="1786850"/>
                </a:lnTo>
                <a:lnTo>
                  <a:pt x="3872663" y="1786865"/>
                </a:lnTo>
                <a:lnTo>
                  <a:pt x="3901781" y="1786877"/>
                </a:lnTo>
                <a:lnTo>
                  <a:pt x="3930898" y="1786885"/>
                </a:lnTo>
                <a:lnTo>
                  <a:pt x="3960016" y="1786891"/>
                </a:lnTo>
                <a:lnTo>
                  <a:pt x="3989134" y="1786896"/>
                </a:lnTo>
                <a:lnTo>
                  <a:pt x="4018252" y="1786899"/>
                </a:lnTo>
                <a:lnTo>
                  <a:pt x="4047369" y="1786901"/>
                </a:lnTo>
                <a:lnTo>
                  <a:pt x="4076487" y="1786903"/>
                </a:lnTo>
                <a:lnTo>
                  <a:pt x="4105605" y="1786904"/>
                </a:lnTo>
                <a:lnTo>
                  <a:pt x="4134723" y="1786905"/>
                </a:lnTo>
                <a:lnTo>
                  <a:pt x="4163840" y="1786906"/>
                </a:lnTo>
                <a:lnTo>
                  <a:pt x="4192958" y="1786906"/>
                </a:lnTo>
                <a:lnTo>
                  <a:pt x="4222076" y="1786906"/>
                </a:lnTo>
                <a:lnTo>
                  <a:pt x="4251194" y="1786907"/>
                </a:lnTo>
                <a:lnTo>
                  <a:pt x="4280312" y="1786907"/>
                </a:lnTo>
                <a:lnTo>
                  <a:pt x="4309429" y="1786907"/>
                </a:lnTo>
                <a:lnTo>
                  <a:pt x="4338547" y="1786907"/>
                </a:lnTo>
                <a:lnTo>
                  <a:pt x="4367665" y="1786907"/>
                </a:lnTo>
                <a:lnTo>
                  <a:pt x="4396783" y="1786907"/>
                </a:lnTo>
                <a:lnTo>
                  <a:pt x="4425900" y="1786907"/>
                </a:lnTo>
                <a:lnTo>
                  <a:pt x="4455018" y="1786907"/>
                </a:lnTo>
                <a:lnTo>
                  <a:pt x="4484136" y="1786907"/>
                </a:lnTo>
                <a:lnTo>
                  <a:pt x="4513254" y="1786907"/>
                </a:lnTo>
                <a:lnTo>
                  <a:pt x="4542371" y="1786907"/>
                </a:lnTo>
                <a:lnTo>
                  <a:pt x="4571489" y="1786907"/>
                </a:lnTo>
                <a:lnTo>
                  <a:pt x="4600607" y="1786907"/>
                </a:lnTo>
                <a:lnTo>
                  <a:pt x="4629725" y="1786907"/>
                </a:lnTo>
                <a:lnTo>
                  <a:pt x="4658842" y="1786907"/>
                </a:lnTo>
                <a:lnTo>
                  <a:pt x="4687960" y="1786907"/>
                </a:lnTo>
                <a:lnTo>
                  <a:pt x="4717078" y="1786907"/>
                </a:lnTo>
                <a:lnTo>
                  <a:pt x="4746196" y="1786907"/>
                </a:lnTo>
                <a:lnTo>
                  <a:pt x="4775314" y="1786907"/>
                </a:lnTo>
                <a:lnTo>
                  <a:pt x="4804431" y="1786907"/>
                </a:lnTo>
                <a:lnTo>
                  <a:pt x="4833549" y="1786907"/>
                </a:lnTo>
                <a:lnTo>
                  <a:pt x="4862667" y="1786907"/>
                </a:lnTo>
                <a:lnTo>
                  <a:pt x="4891785" y="1786907"/>
                </a:lnTo>
                <a:lnTo>
                  <a:pt x="4920902" y="1786907"/>
                </a:lnTo>
                <a:lnTo>
                  <a:pt x="4950020" y="1786907"/>
                </a:lnTo>
                <a:lnTo>
                  <a:pt x="4979138" y="1786907"/>
                </a:lnTo>
                <a:lnTo>
                  <a:pt x="5008256" y="1786907"/>
                </a:lnTo>
                <a:lnTo>
                  <a:pt x="5037373" y="1786907"/>
                </a:lnTo>
                <a:lnTo>
                  <a:pt x="5066491" y="1786907"/>
                </a:lnTo>
                <a:lnTo>
                  <a:pt x="5095609" y="1786907"/>
                </a:lnTo>
                <a:lnTo>
                  <a:pt x="5124727" y="1786907"/>
                </a:lnTo>
                <a:lnTo>
                  <a:pt x="5153844" y="1786907"/>
                </a:lnTo>
                <a:lnTo>
                  <a:pt x="5182962" y="1786907"/>
                </a:lnTo>
                <a:lnTo>
                  <a:pt x="5212080" y="1786907"/>
                </a:lnTo>
              </a:path>
            </a:pathLst>
          </a:custGeom>
          <a:noFill/>
          <a:ln w="317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_low"/>
          <p:cNvSpPr/>
          <p:nvPr/>
        </p:nvSpPr>
        <p:spPr>
          <a:xfrm>
            <a:off x="3063505" y="3211272"/>
            <a:ext cx="128016" cy="12801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d_high"/>
          <p:cNvSpPr/>
          <p:nvPr/>
        </p:nvSpPr>
        <p:spPr>
          <a:xfrm>
            <a:off x="2855543" y="3514031"/>
            <a:ext cx="128016" cy="128016"/>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legend"/>
          <p:cNvSpPr txBox="1"/>
          <p:nvPr/>
        </p:nvSpPr>
        <p:spPr>
          <a:xfrm>
            <a:off x="3626617" y="4404673"/>
            <a:ext cx="3291840" cy="402336"/>
          </a:xfrm>
          <a:prstGeom prst="rect">
            <a:avLst/>
          </a:prstGeom>
          <a:noFill/>
        </p:spPr>
        <p:txBody>
          <a:bodyPr wrap="square" lIns="0" tIns="0" rIns="0" bIns="0" anchor="ctr">
            <a:spAutoFit/>
          </a:bodyPr>
          <a:lstStyle/>
          <a:p>
            <a:pPr algn="l"/>
            <a:r>
              <a:rPr sz="2200" b="1">
                <a:solidFill>
                  <a:srgbClr val="808080"/>
                </a:solidFill>
                <a:latin typeface="Meiryo"/>
                <a:ea typeface="Meiryo"/>
                <a:cs typeface="Meiryo"/>
              </a:rPr>
              <a:t>低心拍</a:t>
            </a:r>
            <a:r>
              <a:rPr sz="2200" b="1">
                <a:solidFill>
                  <a:srgbClr val="262626"/>
                </a:solidFill>
                <a:latin typeface="Meiryo"/>
                <a:ea typeface="Meiryo"/>
                <a:cs typeface="Meiryo"/>
              </a:rPr>
              <a:t>　／　</a:t>
            </a:r>
            <a:r>
              <a:rPr sz="2200" b="1">
                <a:solidFill>
                  <a:srgbClr val="0072B2"/>
                </a:solidFill>
                <a:latin typeface="Meiryo"/>
                <a:ea typeface="Meiryo"/>
                <a:cs typeface="Meiryo"/>
              </a:rPr>
              <a:t>高心拍</a:t>
            </a:r>
          </a:p>
        </p:txBody>
      </p:sp>
      <p:sp>
        <p:nvSpPr>
          <p:cNvPr id="24" name="rilab"/>
          <p:cNvSpPr txBox="1"/>
          <p:nvPr/>
        </p:nvSpPr>
        <p:spPr>
          <a:xfrm>
            <a:off x="3877056" y="2194560"/>
            <a:ext cx="2194560" cy="914400"/>
          </a:xfrm>
          <a:prstGeom prst="rect">
            <a:avLst/>
          </a:prstGeom>
          <a:noFill/>
        </p:spPr>
        <p:txBody>
          <a:bodyPr wrap="square" lIns="0" tIns="0" rIns="0" bIns="0" anchor="ctr">
            <a:spAutoFit/>
          </a:bodyPr>
          <a:lstStyle/>
          <a:p>
            <a:pPr algn="l"/>
            <a:r>
              <a:rPr sz="2200" b="1">
                <a:solidFill>
                  <a:srgbClr val="262626"/>
                </a:solidFill>
                <a:latin typeface="Meiryo"/>
                <a:ea typeface="Meiryo"/>
                <a:cs typeface="Meiryo"/>
              </a:rPr>
              <a:t>P2/P1 ＝ RI</a:t>
            </a:r>
          </a:p>
          <a:p>
            <a:pPr algn="l"/>
            <a:r>
              <a:rPr sz="2200" b="1">
                <a:solidFill>
                  <a:srgbClr val="262626"/>
                </a:solidFill>
                <a:latin typeface="Meiryo"/>
                <a:ea typeface="Meiryo"/>
                <a:cs typeface="Meiryo"/>
              </a:rPr>
              <a:t>HR↑ → RI↓</a:t>
            </a:r>
          </a:p>
        </p:txBody>
      </p:sp>
      <p:sp>
        <p:nvSpPr>
          <p:cNvPr id="25" name="pt0"/>
          <p:cNvSpPr/>
          <p:nvPr/>
        </p:nvSpPr>
        <p:spPr>
          <a:xfrm>
            <a:off x="6419088" y="2157984"/>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262626"/>
                </a:solidFill>
                <a:latin typeface="Meiryo"/>
                <a:ea typeface="Meiryo"/>
                <a:cs typeface="Meiryo"/>
              </a:rPr>
              <a:t>RI は HR の影響を受ける</a:t>
            </a:r>
          </a:p>
        </p:txBody>
      </p:sp>
      <p:sp>
        <p:nvSpPr>
          <p:cNvPr id="27" name="pt2"/>
          <p:cNvSpPr/>
          <p:nvPr/>
        </p:nvSpPr>
        <p:spPr>
          <a:xfrm>
            <a:off x="6419088" y="3474720"/>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262626"/>
                </a:solidFill>
                <a:latin typeface="Meiryo"/>
                <a:ea typeface="Meiryo"/>
                <a:cs typeface="Meiryo"/>
              </a:rPr>
              <a:t>PPG の RI に確立した補正式なし</a:t>
            </a:r>
          </a:p>
        </p:txBody>
      </p:sp>
      <p:sp>
        <p:nvSpPr>
          <p:cNvPr id="28" name="callout"/>
          <p:cNvSpPr/>
          <p:nvPr/>
        </p:nvSpPr>
        <p:spPr>
          <a:xfrm>
            <a:off x="548640" y="5120640"/>
            <a:ext cx="10991088" cy="106070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600" b="1">
                <a:solidFill>
                  <a:srgbClr val="C00000"/>
                </a:solidFill>
                <a:latin typeface="Meiryo"/>
                <a:ea typeface="Meiryo"/>
                <a:cs typeface="Meiryo"/>
              </a:rPr>
              <a:t>RI 単独で トーヌスを語らない</a:t>
            </a:r>
          </a:p>
          <a:p>
            <a:pPr algn="ctr"/>
            <a:r>
              <a:rPr sz="2200" b="1">
                <a:solidFill>
                  <a:srgbClr val="262626"/>
                </a:solidFill>
                <a:latin typeface="Meiryo"/>
                <a:ea typeface="Meiryo"/>
                <a:cs typeface="Meiryo"/>
              </a:rPr>
              <a:t>経時比較は HR をそろえる　／　RI は HR と併記して解釈</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Wilkinson 2000　／　16. Hashimoto 2002　／　17. Charlton 2019　／　18. Md Lazim 2020</a:t>
            </a:r>
          </a:p>
        </p:txBody>
      </p:sp>
    </p:spTree>
    <p:extLst>
      <p:ext uri="{BB962C8B-B14F-4D97-AF65-F5344CB8AC3E}">
        <p14:creationId xmlns:p14="http://schemas.microsoft.com/office/powerpoint/2010/main" val="1780773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85AB5-62E7-2957-C4A4-3C2B2E264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8B12D-4579-D621-91F6-FC3E2300A14E}"/>
              </a:ext>
            </a:extLst>
          </p:cNvPr>
          <p:cNvSpPr>
            <a:spLocks noGrp="1"/>
          </p:cNvSpPr>
          <p:nvPr>
            <p:ph type="title"/>
          </p:nvPr>
        </p:nvSpPr>
        <p:spPr/>
        <p:txBody>
          <a:bodyPr/>
          <a:lstStyle/>
          <a:p>
            <a:pPr algn="l"/>
            <a:r>
              <a:rPr sz="4600" dirty="0">
                <a:latin typeface="Meiryo"/>
                <a:ea typeface="Meiryo"/>
                <a:cs typeface="Meiryo"/>
              </a:rPr>
              <a:t>3.3  加速度脈波 SDPPG</a:t>
            </a:r>
          </a:p>
        </p:txBody>
      </p:sp>
      <p:sp>
        <p:nvSpPr>
          <p:cNvPr id="13" name="Off-page Connector 4">
            <a:extLst>
              <a:ext uri="{FF2B5EF4-FFF2-40B4-BE49-F238E27FC236}">
                <a16:creationId xmlns:a16="http://schemas.microsoft.com/office/drawing/2014/main" id="{4AE854FB-7763-74A3-33B4-EB15866EF5C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35A21CFF-0263-8C66-F570-3EF27321C774}"/>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C017F691-B5DE-A682-AC9A-C061DAAF234F}"/>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168E6F26-1772-B5A4-645D-085E8A17C02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pic>
        <p:nvPicPr>
          <p:cNvPr id="18" name="fig_sdppg" descr="image.png">
            <a:extLst>
              <a:ext uri="{FF2B5EF4-FFF2-40B4-BE49-F238E27FC236}">
                <a16:creationId xmlns:a16="http://schemas.microsoft.com/office/drawing/2014/main" id="{8C4CFCCE-27B5-D2AF-0026-0D40D6B89C78}"/>
              </a:ext>
            </a:extLst>
          </p:cNvPr>
          <p:cNvPicPr>
            <a:picLocks noChangeAspect="1"/>
          </p:cNvPicPr>
          <p:nvPr/>
        </p:nvPicPr>
        <p:blipFill>
          <a:blip r:embed="rId3"/>
          <a:stretch>
            <a:fillRect/>
          </a:stretch>
        </p:blipFill>
        <p:spPr>
          <a:xfrm>
            <a:off x="1625105" y="1835999"/>
            <a:ext cx="6336000" cy="3960000"/>
          </a:xfrm>
          <a:prstGeom prst="rect">
            <a:avLst/>
          </a:prstGeom>
        </p:spPr>
      </p:pic>
      <p:sp>
        <p:nvSpPr>
          <p:cNvPr id="19" name="TextBox 18">
            <a:extLst>
              <a:ext uri="{FF2B5EF4-FFF2-40B4-BE49-F238E27FC236}">
                <a16:creationId xmlns:a16="http://schemas.microsoft.com/office/drawing/2014/main" id="{4BE9FE95-37E9-0E76-1D4A-BC6F614E59D7}"/>
              </a:ext>
            </a:extLst>
          </p:cNvPr>
          <p:cNvSpPr txBox="1"/>
          <p:nvPr/>
        </p:nvSpPr>
        <p:spPr>
          <a:xfrm>
            <a:off x="500549" y="1944000"/>
            <a:ext cx="3744000" cy="378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原波形 PPG</a:t>
            </a:r>
          </a:p>
        </p:txBody>
      </p:sp>
      <p:sp>
        <p:nvSpPr>
          <p:cNvPr id="21" name="TextBox 20">
            <a:extLst>
              <a:ext uri="{FF2B5EF4-FFF2-40B4-BE49-F238E27FC236}">
                <a16:creationId xmlns:a16="http://schemas.microsoft.com/office/drawing/2014/main" id="{F19B4D6B-BE3F-4AC3-35BB-35AA6E377D40}"/>
              </a:ext>
            </a:extLst>
          </p:cNvPr>
          <p:cNvSpPr txBox="1"/>
          <p:nvPr/>
        </p:nvSpPr>
        <p:spPr>
          <a:xfrm>
            <a:off x="500549" y="4086000"/>
            <a:ext cx="2240998"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A8AA"/>
                </a:solidFill>
                <a:latin typeface="Meiryo"/>
                <a:ea typeface="Meiryo"/>
                <a:cs typeface="Meiryo"/>
              </a:rPr>
              <a:t>二次微分</a:t>
            </a:r>
            <a:r>
              <a:rPr sz="2200" b="1" dirty="0">
                <a:solidFill>
                  <a:srgbClr val="00A8AA"/>
                </a:solidFill>
                <a:latin typeface="Meiryo"/>
                <a:ea typeface="Meiryo"/>
                <a:cs typeface="Meiryo"/>
              </a:rPr>
              <a:t> SDPPG</a:t>
            </a:r>
            <a:endParaRPr lang="en-US" sz="2200" b="1" dirty="0">
              <a:solidFill>
                <a:srgbClr val="00A8AA"/>
              </a:solidFill>
              <a:latin typeface="Meiryo"/>
              <a:ea typeface="Meiryo"/>
              <a:cs typeface="Meiryo"/>
            </a:endParaRPr>
          </a:p>
        </p:txBody>
      </p:sp>
      <p:sp>
        <p:nvSpPr>
          <p:cNvPr id="23" name="Rounded Rectangle 22">
            <a:extLst>
              <a:ext uri="{FF2B5EF4-FFF2-40B4-BE49-F238E27FC236}">
                <a16:creationId xmlns:a16="http://schemas.microsoft.com/office/drawing/2014/main" id="{22594183-3678-C70E-EED7-7361DFB0C4C5}"/>
              </a:ext>
            </a:extLst>
          </p:cNvPr>
          <p:cNvSpPr/>
          <p:nvPr/>
        </p:nvSpPr>
        <p:spPr>
          <a:xfrm>
            <a:off x="8174519" y="2390814"/>
            <a:ext cx="3644869" cy="129018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200" b="1" dirty="0" err="1">
                <a:solidFill>
                  <a:srgbClr val="262626"/>
                </a:solidFill>
                <a:latin typeface="Meiryo"/>
                <a:ea typeface="Meiryo"/>
                <a:cs typeface="Meiryo"/>
              </a:rPr>
              <a:t>原波形のわずかな変化を</a:t>
            </a:r>
            <a:endParaRPr lang="en-US" sz="2200" b="1" dirty="0">
              <a:solidFill>
                <a:srgbClr val="262626"/>
              </a:solidFill>
              <a:latin typeface="Meiryo"/>
              <a:ea typeface="Meiryo"/>
              <a:cs typeface="Meiryo"/>
            </a:endParaRPr>
          </a:p>
          <a:p>
            <a:pPr algn="ctr">
              <a:lnSpc>
                <a:spcPct val="150000"/>
              </a:lnSpc>
              <a:spcBef>
                <a:spcPts val="0"/>
              </a:spcBef>
              <a:spcAft>
                <a:spcPts val="0"/>
              </a:spcAft>
            </a:pPr>
            <a:r>
              <a:rPr lang="en-US" sz="2200" b="1" dirty="0" err="1">
                <a:solidFill>
                  <a:srgbClr val="262626"/>
                </a:solidFill>
                <a:latin typeface="Meiryo"/>
                <a:ea typeface="Meiryo"/>
                <a:cs typeface="Meiryo"/>
              </a:rPr>
              <a:t>極値に変換できる</a:t>
            </a:r>
            <a:endParaRPr sz="2200" b="1" dirty="0">
              <a:solidFill>
                <a:srgbClr val="262626"/>
              </a:solidFill>
              <a:latin typeface="Meiryo"/>
              <a:ea typeface="Meiryo"/>
              <a:cs typeface="Meiryo"/>
            </a:endParaRPr>
          </a:p>
        </p:txBody>
      </p:sp>
      <p:sp>
        <p:nvSpPr>
          <p:cNvPr id="24" name="TextBox 23">
            <a:extLst>
              <a:ext uri="{FF2B5EF4-FFF2-40B4-BE49-F238E27FC236}">
                <a16:creationId xmlns:a16="http://schemas.microsoft.com/office/drawing/2014/main" id="{A9B8F385-3709-EEE8-5E2E-752CA308BB4C}"/>
              </a:ext>
            </a:extLst>
          </p:cNvPr>
          <p:cNvSpPr txBox="1"/>
          <p:nvPr/>
        </p:nvSpPr>
        <p:spPr>
          <a:xfrm>
            <a:off x="2423624" y="5906529"/>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sp>
        <p:nvSpPr>
          <p:cNvPr id="6" name="テキスト ボックス 5">
            <a:extLst>
              <a:ext uri="{FF2B5EF4-FFF2-40B4-BE49-F238E27FC236}">
                <a16:creationId xmlns:a16="http://schemas.microsoft.com/office/drawing/2014/main" id="{7EDD8D34-52AC-C545-1024-247767B86617}"/>
              </a:ext>
            </a:extLst>
          </p:cNvPr>
          <p:cNvSpPr txBox="1"/>
          <p:nvPr/>
        </p:nvSpPr>
        <p:spPr>
          <a:xfrm>
            <a:off x="8712749" y="4077341"/>
            <a:ext cx="2568408" cy="1785104"/>
          </a:xfrm>
          <a:prstGeom prst="rect">
            <a:avLst/>
          </a:prstGeom>
          <a:noFill/>
        </p:spPr>
        <p:txBody>
          <a:bodyPr wrap="square" rtlCol="0">
            <a:spAutoFit/>
          </a:bodyPr>
          <a:lstStyle/>
          <a:p>
            <a:pPr>
              <a:lnSpc>
                <a:spcPct val="150000"/>
              </a:lnSpc>
            </a:pPr>
            <a:r>
              <a:rPr kumimoji="1" lang="en-US" altLang="ja-JP" sz="2000" b="1" dirty="0">
                <a:latin typeface="+mj-ea"/>
                <a:ea typeface="+mj-ea"/>
              </a:rPr>
              <a:t>b/a : </a:t>
            </a:r>
            <a:r>
              <a:rPr kumimoji="1" lang="ja-JP" altLang="en-US" sz="2000" b="1">
                <a:latin typeface="+mj-ea"/>
                <a:ea typeface="+mj-ea"/>
              </a:rPr>
              <a:t>大血管の硬さ</a:t>
            </a:r>
            <a:endParaRPr kumimoji="1" lang="en-US" altLang="ja-JP" sz="2000" b="1" dirty="0">
              <a:latin typeface="+mj-ea"/>
              <a:ea typeface="+mj-ea"/>
            </a:endParaRPr>
          </a:p>
          <a:p>
            <a:pPr>
              <a:lnSpc>
                <a:spcPct val="150000"/>
              </a:lnSpc>
            </a:pPr>
            <a:r>
              <a:rPr lang="en-US" altLang="ja-JP" sz="2000" b="1" dirty="0">
                <a:latin typeface="+mj-ea"/>
                <a:ea typeface="+mj-ea"/>
              </a:rPr>
              <a:t>d/a : </a:t>
            </a:r>
            <a:r>
              <a:rPr lang="ja-JP" altLang="en-US" sz="2000" b="1">
                <a:latin typeface="+mj-ea"/>
                <a:ea typeface="+mj-ea"/>
              </a:rPr>
              <a:t>末梢トーヌス</a:t>
            </a:r>
            <a:endParaRPr lang="en-US" altLang="ja-JP" sz="2000" b="1" dirty="0">
              <a:latin typeface="+mj-ea"/>
              <a:ea typeface="+mj-ea"/>
            </a:endParaRPr>
          </a:p>
          <a:p>
            <a:pPr>
              <a:lnSpc>
                <a:spcPct val="150000"/>
              </a:lnSpc>
            </a:pPr>
            <a:r>
              <a:rPr kumimoji="1" lang="en-US" altLang="ja-JP" sz="2000" b="1" dirty="0">
                <a:latin typeface="+mj-ea"/>
                <a:ea typeface="+mj-ea"/>
              </a:rPr>
              <a:t>AGI : </a:t>
            </a:r>
            <a:r>
              <a:rPr kumimoji="1" lang="ja-JP" altLang="en-US" sz="2000" b="1">
                <a:latin typeface="+mj-ea"/>
                <a:ea typeface="+mj-ea"/>
              </a:rPr>
              <a:t>血管加齢指数</a:t>
            </a:r>
            <a:endParaRPr lang="en-US" altLang="ja-JP" sz="2000" b="1" dirty="0">
              <a:latin typeface="+mj-ea"/>
              <a:ea typeface="+mj-ea"/>
            </a:endParaRPr>
          </a:p>
          <a:p>
            <a:pPr algn="r"/>
            <a:r>
              <a:rPr lang="ja-JP" altLang="ja-JP" sz="2000"/>
              <a:t>(b–c–d–e)/a</a:t>
            </a:r>
          </a:p>
        </p:txBody>
      </p:sp>
      <p:sp>
        <p:nvSpPr>
          <p:cNvPr id="3" name="テキスト ボックス 2">
            <a:extLst>
              <a:ext uri="{FF2B5EF4-FFF2-40B4-BE49-F238E27FC236}">
                <a16:creationId xmlns:a16="http://schemas.microsoft.com/office/drawing/2014/main" id="{D90946D4-5E1D-11B6-E5C2-06A0D9567897}"/>
              </a:ext>
            </a:extLst>
          </p:cNvPr>
          <p:cNvSpPr txBox="1"/>
          <p:nvPr/>
        </p:nvSpPr>
        <p:spPr>
          <a:xfrm>
            <a:off x="5017477" y="5401745"/>
            <a:ext cx="2929905" cy="338554"/>
          </a:xfrm>
          <a:prstGeom prst="rect">
            <a:avLst/>
          </a:prstGeom>
          <a:noFill/>
        </p:spPr>
        <p:txBody>
          <a:bodyPr wrap="none" rtlCol="0">
            <a:spAutoFit/>
          </a:bodyPr>
          <a:lstStyle/>
          <a:p>
            <a:r>
              <a:rPr lang="en-US" altLang="ja-JP" sz="1600" b="1" dirty="0">
                <a:solidFill>
                  <a:srgbClr val="00A8AA"/>
                </a:solidFill>
                <a:latin typeface="Meiryo"/>
                <a:ea typeface="Meiryo"/>
                <a:cs typeface="Meiryo"/>
              </a:rPr>
              <a:t>Second Derivative of PPG</a:t>
            </a: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23. Elgendi 2012</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33/55</a:t>
            </a:r>
          </a:p>
        </p:txBody>
      </p:sp>
    </p:spTree>
    <p:extLst>
      <p:ext uri="{BB962C8B-B14F-4D97-AF65-F5344CB8AC3E}">
        <p14:creationId xmlns:p14="http://schemas.microsoft.com/office/powerpoint/2010/main" val="5183498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117EE-6908-300F-949E-A63FBBD27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4315EC-F06D-9088-6B2F-D537E8063CDB}"/>
              </a:ext>
            </a:extLst>
          </p:cNvPr>
          <p:cNvSpPr>
            <a:spLocks noGrp="1"/>
          </p:cNvSpPr>
          <p:nvPr>
            <p:ph type="title"/>
          </p:nvPr>
        </p:nvSpPr>
        <p:spPr/>
        <p:txBody>
          <a:bodyPr/>
          <a:lstStyle/>
          <a:p>
            <a:pPr algn="l"/>
            <a:r>
              <a:rPr sz="4600" dirty="0">
                <a:latin typeface="Meiryo"/>
                <a:ea typeface="Meiryo"/>
                <a:cs typeface="Meiryo"/>
              </a:rPr>
              <a:t>3.3  加速度脈波 SDPPG</a:t>
            </a:r>
          </a:p>
        </p:txBody>
      </p:sp>
      <p:sp>
        <p:nvSpPr>
          <p:cNvPr id="13" name="Off-page Connector 4">
            <a:extLst>
              <a:ext uri="{FF2B5EF4-FFF2-40B4-BE49-F238E27FC236}">
                <a16:creationId xmlns:a16="http://schemas.microsoft.com/office/drawing/2014/main" id="{F82859B7-7A8B-D6BA-99A5-6386B3561DA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B15DFAAE-E79C-4B59-124F-EA9B54F59FFF}"/>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85C38581-8D3D-3E39-4649-60E4AB874185}"/>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BBE12F32-226A-723D-D428-721E42599F8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24" name="TextBox 23">
            <a:extLst>
              <a:ext uri="{FF2B5EF4-FFF2-40B4-BE49-F238E27FC236}">
                <a16:creationId xmlns:a16="http://schemas.microsoft.com/office/drawing/2014/main" id="{AACC6462-0E6D-5AFB-2805-B7029C62C4F1}"/>
              </a:ext>
            </a:extLst>
          </p:cNvPr>
          <p:cNvSpPr txBox="1"/>
          <p:nvPr/>
        </p:nvSpPr>
        <p:spPr>
          <a:xfrm>
            <a:off x="2423624" y="5906529"/>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pic>
        <p:nvPicPr>
          <p:cNvPr id="3" name="図 2">
            <a:extLst>
              <a:ext uri="{FF2B5EF4-FFF2-40B4-BE49-F238E27FC236}">
                <a16:creationId xmlns:a16="http://schemas.microsoft.com/office/drawing/2014/main" id="{898F44B3-F197-127F-726A-0C5012339931}"/>
              </a:ext>
            </a:extLst>
          </p:cNvPr>
          <p:cNvPicPr>
            <a:picLocks noChangeAspect="1"/>
          </p:cNvPicPr>
          <p:nvPr/>
        </p:nvPicPr>
        <p:blipFill>
          <a:blip r:embed="rId3"/>
          <a:stretch>
            <a:fillRect/>
          </a:stretch>
        </p:blipFill>
        <p:spPr>
          <a:xfrm>
            <a:off x="2853303" y="1635761"/>
            <a:ext cx="3149931" cy="4210789"/>
          </a:xfrm>
          <a:prstGeom prst="rect">
            <a:avLst/>
          </a:prstGeom>
        </p:spPr>
      </p:pic>
      <p:sp>
        <p:nvSpPr>
          <p:cNvPr id="5" name="Rounded Rectangle 22">
            <a:extLst>
              <a:ext uri="{FF2B5EF4-FFF2-40B4-BE49-F238E27FC236}">
                <a16:creationId xmlns:a16="http://schemas.microsoft.com/office/drawing/2014/main" id="{8B88CFAA-7D53-AA63-03B5-6B1A8A021B53}"/>
              </a:ext>
            </a:extLst>
          </p:cNvPr>
          <p:cNvSpPr/>
          <p:nvPr/>
        </p:nvSpPr>
        <p:spPr>
          <a:xfrm>
            <a:off x="8174519" y="2390814"/>
            <a:ext cx="3644869" cy="129018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200" b="1" dirty="0" err="1">
                <a:solidFill>
                  <a:srgbClr val="262626"/>
                </a:solidFill>
                <a:latin typeface="Meiryo"/>
                <a:ea typeface="Meiryo"/>
                <a:cs typeface="Meiryo"/>
              </a:rPr>
              <a:t>原波形のわずかな変化を</a:t>
            </a:r>
            <a:endParaRPr lang="en-US" sz="2200" b="1" dirty="0">
              <a:solidFill>
                <a:srgbClr val="262626"/>
              </a:solidFill>
              <a:latin typeface="Meiryo"/>
              <a:ea typeface="Meiryo"/>
              <a:cs typeface="Meiryo"/>
            </a:endParaRPr>
          </a:p>
          <a:p>
            <a:pPr algn="ctr">
              <a:lnSpc>
                <a:spcPct val="150000"/>
              </a:lnSpc>
              <a:spcBef>
                <a:spcPts val="0"/>
              </a:spcBef>
              <a:spcAft>
                <a:spcPts val="0"/>
              </a:spcAft>
            </a:pPr>
            <a:r>
              <a:rPr lang="en-US" sz="2200" b="1" dirty="0" err="1">
                <a:solidFill>
                  <a:srgbClr val="262626"/>
                </a:solidFill>
                <a:latin typeface="Meiryo"/>
                <a:ea typeface="Meiryo"/>
                <a:cs typeface="Meiryo"/>
              </a:rPr>
              <a:t>極値に変換できる</a:t>
            </a:r>
            <a:endParaRPr sz="2200" b="1" dirty="0">
              <a:solidFill>
                <a:srgbClr val="262626"/>
              </a:solidFill>
              <a:latin typeface="Meiryo"/>
              <a:ea typeface="Meiryo"/>
              <a:cs typeface="Meiryo"/>
            </a:endParaRPr>
          </a:p>
        </p:txBody>
      </p:sp>
      <p:sp>
        <p:nvSpPr>
          <p:cNvPr id="6" name="テキスト ボックス 5">
            <a:extLst>
              <a:ext uri="{FF2B5EF4-FFF2-40B4-BE49-F238E27FC236}">
                <a16:creationId xmlns:a16="http://schemas.microsoft.com/office/drawing/2014/main" id="{899FC92F-C02C-C2A4-9231-72B4312A2C0C}"/>
              </a:ext>
            </a:extLst>
          </p:cNvPr>
          <p:cNvSpPr txBox="1"/>
          <p:nvPr/>
        </p:nvSpPr>
        <p:spPr>
          <a:xfrm>
            <a:off x="8712749" y="4077341"/>
            <a:ext cx="2568408" cy="1785104"/>
          </a:xfrm>
          <a:prstGeom prst="rect">
            <a:avLst/>
          </a:prstGeom>
          <a:noFill/>
        </p:spPr>
        <p:txBody>
          <a:bodyPr wrap="square" rtlCol="0">
            <a:spAutoFit/>
          </a:bodyPr>
          <a:lstStyle/>
          <a:p>
            <a:pPr>
              <a:lnSpc>
                <a:spcPct val="150000"/>
              </a:lnSpc>
            </a:pPr>
            <a:r>
              <a:rPr kumimoji="1" lang="en-US" altLang="ja-JP" sz="2000" b="1" dirty="0">
                <a:latin typeface="+mj-ea"/>
                <a:ea typeface="+mj-ea"/>
              </a:rPr>
              <a:t>b/a : </a:t>
            </a:r>
            <a:r>
              <a:rPr kumimoji="1" lang="ja-JP" altLang="en-US" sz="2000" b="1">
                <a:latin typeface="+mj-ea"/>
                <a:ea typeface="+mj-ea"/>
              </a:rPr>
              <a:t>大血管の硬さ</a:t>
            </a:r>
            <a:endParaRPr kumimoji="1" lang="en-US" altLang="ja-JP" sz="2000" b="1" dirty="0">
              <a:latin typeface="+mj-ea"/>
              <a:ea typeface="+mj-ea"/>
            </a:endParaRPr>
          </a:p>
          <a:p>
            <a:pPr>
              <a:lnSpc>
                <a:spcPct val="150000"/>
              </a:lnSpc>
            </a:pPr>
            <a:r>
              <a:rPr lang="en-US" altLang="ja-JP" sz="2000" b="1" dirty="0">
                <a:latin typeface="+mj-ea"/>
                <a:ea typeface="+mj-ea"/>
              </a:rPr>
              <a:t>d/a : </a:t>
            </a:r>
            <a:r>
              <a:rPr lang="ja-JP" altLang="en-US" sz="2000" b="1">
                <a:latin typeface="+mj-ea"/>
                <a:ea typeface="+mj-ea"/>
              </a:rPr>
              <a:t>末梢トーヌス</a:t>
            </a:r>
            <a:endParaRPr lang="en-US" altLang="ja-JP" sz="2000" b="1" dirty="0">
              <a:latin typeface="+mj-ea"/>
              <a:ea typeface="+mj-ea"/>
            </a:endParaRPr>
          </a:p>
          <a:p>
            <a:pPr>
              <a:lnSpc>
                <a:spcPct val="150000"/>
              </a:lnSpc>
            </a:pPr>
            <a:r>
              <a:rPr kumimoji="1" lang="en-US" altLang="ja-JP" sz="2000" b="1" dirty="0">
                <a:latin typeface="+mj-ea"/>
                <a:ea typeface="+mj-ea"/>
              </a:rPr>
              <a:t>AGI : </a:t>
            </a:r>
            <a:r>
              <a:rPr kumimoji="1" lang="ja-JP" altLang="en-US" sz="2000" b="1">
                <a:latin typeface="+mj-ea"/>
                <a:ea typeface="+mj-ea"/>
              </a:rPr>
              <a:t>血管加齢指数</a:t>
            </a:r>
            <a:endParaRPr lang="en-US" altLang="ja-JP" sz="2000" b="1" dirty="0">
              <a:latin typeface="+mj-ea"/>
              <a:ea typeface="+mj-ea"/>
            </a:endParaRPr>
          </a:p>
          <a:p>
            <a:pPr algn="r"/>
            <a:r>
              <a:rPr lang="ja-JP" altLang="ja-JP" sz="2000"/>
              <a:t>(b–c–d–e)/a</a:t>
            </a: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33/55</a:t>
            </a:r>
          </a:p>
        </p:txBody>
      </p:sp>
    </p:spTree>
    <p:extLst>
      <p:ext uri="{BB962C8B-B14F-4D97-AF65-F5344CB8AC3E}">
        <p14:creationId xmlns:p14="http://schemas.microsoft.com/office/powerpoint/2010/main" val="1811021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FF3DC-DBE2-F1CA-D509-1FDD4DD8A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3.3  SDPPG の主な知見</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20" name="st0">
            <a:extLst>
              <a:ext uri="{FF2B5EF4-FFF2-40B4-BE49-F238E27FC236}">
                <a16:creationId xmlns:a16="http://schemas.microsoft.com/office/drawing/2014/main" id="{A69AD9DE-FE15-D9A0-97CF-F74D33568E1A}"/>
              </a:ext>
            </a:extLst>
          </p:cNvPr>
          <p:cNvSpPr/>
          <p:nvPr/>
        </p:nvSpPr>
        <p:spPr>
          <a:xfrm>
            <a:off x="548640" y="1567988"/>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Takazawa</a:t>
            </a:r>
            <a:r>
              <a:rPr sz="2200" b="1" dirty="0">
                <a:solidFill>
                  <a:srgbClr val="262626"/>
                </a:solidFill>
                <a:latin typeface="Meiryo"/>
                <a:ea typeface="Meiryo"/>
                <a:cs typeface="Meiryo"/>
              </a:rPr>
              <a:t> 1998</a:t>
            </a:r>
          </a:p>
        </p:txBody>
      </p:sp>
      <p:sp>
        <p:nvSpPr>
          <p:cNvPr id="21" name="sr0">
            <a:extLst>
              <a:ext uri="{FF2B5EF4-FFF2-40B4-BE49-F238E27FC236}">
                <a16:creationId xmlns:a16="http://schemas.microsoft.com/office/drawing/2014/main" id="{3F5DD0A6-7558-4C70-A09F-D1C08996BE50}"/>
              </a:ext>
            </a:extLst>
          </p:cNvPr>
          <p:cNvSpPr txBox="1"/>
          <p:nvPr/>
        </p:nvSpPr>
        <p:spPr>
          <a:xfrm>
            <a:off x="3467151" y="1686634"/>
            <a:ext cx="8174736" cy="677108"/>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血管作動薬で</a:t>
            </a:r>
            <a:r>
              <a:rPr sz="2200" b="1" dirty="0">
                <a:solidFill>
                  <a:srgbClr val="262626"/>
                </a:solidFill>
                <a:latin typeface="Meiryo"/>
                <a:ea typeface="Meiryo"/>
                <a:cs typeface="Meiryo"/>
              </a:rPr>
              <a:t> d/a </a:t>
            </a:r>
            <a:r>
              <a:rPr sz="2200" b="1" dirty="0" err="1">
                <a:solidFill>
                  <a:srgbClr val="262626"/>
                </a:solidFill>
                <a:latin typeface="Meiryo"/>
                <a:ea typeface="Meiryo"/>
                <a:cs typeface="Meiryo"/>
              </a:rPr>
              <a:t>が変化：AT</a:t>
            </a:r>
            <a:r>
              <a:rPr sz="2200" b="1" dirty="0">
                <a:solidFill>
                  <a:srgbClr val="262626"/>
                </a:solidFill>
                <a:latin typeface="Meiryo"/>
                <a:ea typeface="Meiryo"/>
                <a:cs typeface="Meiryo"/>
              </a:rPr>
              <a:t> II −0.62 ／ NTG −0.25</a:t>
            </a:r>
          </a:p>
          <a:p>
            <a:pPr algn="l"/>
            <a:r>
              <a:rPr lang="ja-JP" altLang="en-US" sz="2200" b="1">
                <a:solidFill>
                  <a:srgbClr val="262626"/>
                </a:solidFill>
                <a:latin typeface="Meiryo"/>
                <a:ea typeface="Meiryo"/>
                <a:cs typeface="Meiryo"/>
              </a:rPr>
              <a:t>血管加齢指数</a:t>
            </a:r>
            <a:r>
              <a:rPr lang="en-US" altLang="ja-JP" sz="2200" b="1" dirty="0">
                <a:solidFill>
                  <a:srgbClr val="262626"/>
                </a:solidFill>
                <a:latin typeface="Meiryo"/>
                <a:ea typeface="Meiryo"/>
                <a:cs typeface="Meiryo"/>
              </a:rPr>
              <a:t> </a:t>
            </a:r>
            <a:r>
              <a:rPr sz="2200" b="1" dirty="0">
                <a:solidFill>
                  <a:srgbClr val="262626"/>
                </a:solidFill>
                <a:latin typeface="Meiryo"/>
                <a:ea typeface="Meiryo"/>
                <a:cs typeface="Meiryo"/>
              </a:rPr>
              <a:t>AGI </a:t>
            </a:r>
            <a:r>
              <a:rPr sz="2200" b="1" dirty="0" err="1">
                <a:solidFill>
                  <a:srgbClr val="262626"/>
                </a:solidFill>
                <a:latin typeface="Meiryo"/>
                <a:ea typeface="Meiryo"/>
                <a:cs typeface="Meiryo"/>
              </a:rPr>
              <a:t>と</a:t>
            </a: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年齢</a:t>
            </a:r>
            <a:r>
              <a:rPr sz="2200" b="1" dirty="0">
                <a:solidFill>
                  <a:srgbClr val="262626"/>
                </a:solidFill>
                <a:latin typeface="Meiryo"/>
                <a:ea typeface="Meiryo"/>
                <a:cs typeface="Meiryo"/>
              </a:rPr>
              <a:t> r=0.80</a:t>
            </a:r>
          </a:p>
        </p:txBody>
      </p:sp>
      <p:sp>
        <p:nvSpPr>
          <p:cNvPr id="22" name="st1">
            <a:extLst>
              <a:ext uri="{FF2B5EF4-FFF2-40B4-BE49-F238E27FC236}">
                <a16:creationId xmlns:a16="http://schemas.microsoft.com/office/drawing/2014/main" id="{A7CB9A96-465E-EEC4-39E3-AFE34E82455C}"/>
              </a:ext>
            </a:extLst>
          </p:cNvPr>
          <p:cNvSpPr/>
          <p:nvPr/>
        </p:nvSpPr>
        <p:spPr>
          <a:xfrm>
            <a:off x="548640" y="2543914"/>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Bortolotto</a:t>
            </a:r>
            <a:r>
              <a:rPr sz="2200" b="1" dirty="0">
                <a:solidFill>
                  <a:srgbClr val="262626"/>
                </a:solidFill>
                <a:latin typeface="Meiryo"/>
                <a:ea typeface="Meiryo"/>
                <a:cs typeface="Meiryo"/>
              </a:rPr>
              <a:t> 2000</a:t>
            </a:r>
          </a:p>
        </p:txBody>
      </p:sp>
      <p:sp>
        <p:nvSpPr>
          <p:cNvPr id="23" name="sr1">
            <a:extLst>
              <a:ext uri="{FF2B5EF4-FFF2-40B4-BE49-F238E27FC236}">
                <a16:creationId xmlns:a16="http://schemas.microsoft.com/office/drawing/2014/main" id="{956EC523-6A44-37E2-4B03-A7B1D576A436}"/>
              </a:ext>
            </a:extLst>
          </p:cNvPr>
          <p:cNvSpPr txBox="1"/>
          <p:nvPr/>
        </p:nvSpPr>
        <p:spPr>
          <a:xfrm>
            <a:off x="3467151" y="2662560"/>
            <a:ext cx="8174736" cy="677108"/>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動脈硬化あり</a:t>
            </a:r>
            <a:r>
              <a:rPr sz="2200" b="1" dirty="0">
                <a:solidFill>
                  <a:srgbClr val="262626"/>
                </a:solidFill>
                <a:latin typeface="Meiryo"/>
                <a:ea typeface="Meiryo"/>
                <a:cs typeface="Meiryo"/>
              </a:rPr>
              <a:t> AGI −0.093 ／ </a:t>
            </a:r>
            <a:r>
              <a:rPr sz="2200" b="1" dirty="0" err="1">
                <a:solidFill>
                  <a:srgbClr val="262626"/>
                </a:solidFill>
                <a:latin typeface="Meiryo"/>
                <a:ea typeface="Meiryo"/>
                <a:cs typeface="Meiryo"/>
              </a:rPr>
              <a:t>なし</a:t>
            </a:r>
            <a:r>
              <a:rPr sz="2200" b="1" dirty="0">
                <a:solidFill>
                  <a:srgbClr val="262626"/>
                </a:solidFill>
                <a:latin typeface="Meiryo"/>
                <a:ea typeface="Meiryo"/>
                <a:cs typeface="Meiryo"/>
              </a:rPr>
              <a:t> −0.271（P&lt;0.001）</a:t>
            </a:r>
          </a:p>
          <a:p>
            <a:pPr algn="l"/>
            <a:r>
              <a:rPr lang="ja-JP" altLang="en-US" sz="2200" b="1">
                <a:solidFill>
                  <a:srgbClr val="262626"/>
                </a:solidFill>
                <a:latin typeface="Meiryo"/>
                <a:ea typeface="Meiryo"/>
                <a:cs typeface="Meiryo"/>
              </a:rPr>
              <a:t>動脈硬化の</a:t>
            </a: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独立規定因子としては</a:t>
            </a:r>
            <a:r>
              <a:rPr sz="2200" b="1" dirty="0">
                <a:solidFill>
                  <a:srgbClr val="262626"/>
                </a:solidFill>
                <a:latin typeface="Meiryo"/>
                <a:ea typeface="Meiryo"/>
                <a:cs typeface="Meiryo"/>
              </a:rPr>
              <a:t> PWV </a:t>
            </a:r>
            <a:r>
              <a:rPr sz="2200" b="1" dirty="0" err="1">
                <a:solidFill>
                  <a:srgbClr val="262626"/>
                </a:solidFill>
                <a:latin typeface="Meiryo"/>
                <a:ea typeface="Meiryo"/>
                <a:cs typeface="Meiryo"/>
              </a:rPr>
              <a:t>が優位</a:t>
            </a:r>
            <a:endParaRPr sz="2200" b="1" dirty="0">
              <a:solidFill>
                <a:srgbClr val="262626"/>
              </a:solidFill>
              <a:latin typeface="Meiryo"/>
              <a:ea typeface="Meiryo"/>
              <a:cs typeface="Meiryo"/>
            </a:endParaRPr>
          </a:p>
        </p:txBody>
      </p:sp>
      <p:sp>
        <p:nvSpPr>
          <p:cNvPr id="24" name="st2">
            <a:extLst>
              <a:ext uri="{FF2B5EF4-FFF2-40B4-BE49-F238E27FC236}">
                <a16:creationId xmlns:a16="http://schemas.microsoft.com/office/drawing/2014/main" id="{DF5C56B1-7A32-A9A5-4FC0-BF2B52C46C27}"/>
              </a:ext>
            </a:extLst>
          </p:cNvPr>
          <p:cNvSpPr/>
          <p:nvPr/>
        </p:nvSpPr>
        <p:spPr>
          <a:xfrm>
            <a:off x="548640" y="3519840"/>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Hashimoto 2002</a:t>
            </a:r>
            <a:endParaRPr sz="2200" b="1" dirty="0">
              <a:solidFill>
                <a:srgbClr val="262626"/>
              </a:solidFill>
              <a:latin typeface="Meiryo"/>
              <a:ea typeface="Meiryo"/>
              <a:cs typeface="Meiryo"/>
            </a:endParaRPr>
          </a:p>
        </p:txBody>
      </p:sp>
      <p:sp>
        <p:nvSpPr>
          <p:cNvPr id="25" name="sr2">
            <a:extLst>
              <a:ext uri="{FF2B5EF4-FFF2-40B4-BE49-F238E27FC236}">
                <a16:creationId xmlns:a16="http://schemas.microsoft.com/office/drawing/2014/main" id="{4C889F4B-1141-A2B9-799E-CAA07C013806}"/>
              </a:ext>
            </a:extLst>
          </p:cNvPr>
          <p:cNvSpPr txBox="1"/>
          <p:nvPr/>
        </p:nvSpPr>
        <p:spPr>
          <a:xfrm>
            <a:off x="3467151" y="4614412"/>
            <a:ext cx="8174736" cy="677108"/>
          </a:xfrm>
          <a:prstGeom prst="rect">
            <a:avLst/>
          </a:prstGeom>
          <a:noFill/>
        </p:spPr>
        <p:txBody>
          <a:bodyPr wrap="square" lIns="0" tIns="0" rIns="0" bIns="0" anchor="ctr">
            <a:spAutoFit/>
          </a:bodyPr>
          <a:lstStyle/>
          <a:p>
            <a:r>
              <a:rPr lang="en" altLang="ja-JP" sz="2200" b="1" dirty="0">
                <a:latin typeface="+mj-ea"/>
                <a:ea typeface="+mj-ea"/>
              </a:rPr>
              <a:t>Framingham risk score </a:t>
            </a:r>
            <a:r>
              <a:rPr lang="ja-JP" altLang="en-US" sz="2200" b="1">
                <a:latin typeface="+mj-ea"/>
                <a:ea typeface="+mj-ea"/>
              </a:rPr>
              <a:t>との相関 　</a:t>
            </a:r>
            <a:r>
              <a:rPr lang="en" altLang="ja-JP" sz="2200" b="1" dirty="0">
                <a:latin typeface="+mj-ea"/>
                <a:ea typeface="+mj-ea"/>
              </a:rPr>
              <a:t>b/a</a:t>
            </a:r>
            <a:r>
              <a:rPr lang="ja-JP" altLang="en" sz="2200" b="1">
                <a:latin typeface="+mj-ea"/>
                <a:ea typeface="+mj-ea"/>
              </a:rPr>
              <a:t>：</a:t>
            </a:r>
            <a:r>
              <a:rPr lang="ja-JP" altLang="en-US" sz="2200" b="1">
                <a:latin typeface="+mj-ea"/>
                <a:ea typeface="+mj-ea"/>
              </a:rPr>
              <a:t> </a:t>
            </a:r>
            <a:r>
              <a:rPr lang="en" altLang="ja-JP" sz="2200" b="1" dirty="0">
                <a:latin typeface="+mj-ea"/>
                <a:ea typeface="+mj-ea"/>
              </a:rPr>
              <a:t>r=0.43</a:t>
            </a:r>
            <a:r>
              <a:rPr lang="ja-JP" altLang="en" sz="2200" b="1">
                <a:latin typeface="+mj-ea"/>
                <a:ea typeface="+mj-ea"/>
              </a:rPr>
              <a:t>／</a:t>
            </a:r>
            <a:r>
              <a:rPr lang="en" altLang="ja-JP" sz="2200" b="1" dirty="0">
                <a:latin typeface="+mj-ea"/>
                <a:ea typeface="+mj-ea"/>
              </a:rPr>
              <a:t>0.54 (</a:t>
            </a:r>
            <a:r>
              <a:rPr lang="ja-JP" altLang="en-US" sz="2200" b="1">
                <a:latin typeface="+mj-ea"/>
                <a:ea typeface="+mj-ea"/>
              </a:rPr>
              <a:t>男</a:t>
            </a:r>
            <a:r>
              <a:rPr lang="en-US" altLang="ja-JP" sz="2200" b="1" dirty="0">
                <a:latin typeface="+mj-ea"/>
                <a:ea typeface="+mj-ea"/>
              </a:rPr>
              <a:t>/</a:t>
            </a:r>
            <a:r>
              <a:rPr lang="ja-JP" altLang="en-US" sz="2200" b="1">
                <a:latin typeface="+mj-ea"/>
                <a:ea typeface="+mj-ea"/>
              </a:rPr>
              <a:t>女</a:t>
            </a:r>
            <a:r>
              <a:rPr lang="en" altLang="ja-JP" sz="2200" b="1" dirty="0">
                <a:latin typeface="+mj-ea"/>
                <a:ea typeface="+mj-ea"/>
              </a:rPr>
              <a:t>)</a:t>
            </a:r>
            <a:r>
              <a:rPr lang="ja-JP" altLang="en" sz="2200" b="1">
                <a:latin typeface="+mj-ea"/>
                <a:ea typeface="+mj-ea"/>
              </a:rPr>
              <a:t>、</a:t>
            </a:r>
            <a:r>
              <a:rPr lang="en" altLang="ja-JP" sz="2200" b="1" dirty="0">
                <a:latin typeface="+mj-ea"/>
                <a:ea typeface="+mj-ea"/>
              </a:rPr>
              <a:t>d/a</a:t>
            </a:r>
            <a:r>
              <a:rPr lang="ja-JP" altLang="en" sz="2200" b="1">
                <a:latin typeface="+mj-ea"/>
                <a:ea typeface="+mj-ea"/>
              </a:rPr>
              <a:t>：</a:t>
            </a:r>
            <a:r>
              <a:rPr lang="en-US" altLang="ja-JP" sz="2200" b="1" dirty="0">
                <a:latin typeface="+mj-ea"/>
                <a:ea typeface="+mj-ea"/>
              </a:rPr>
              <a:t>r=</a:t>
            </a:r>
            <a:r>
              <a:rPr lang="ja-JP" altLang="en-US" sz="2200" b="1">
                <a:latin typeface="+mj-ea"/>
                <a:ea typeface="+mj-ea"/>
              </a:rPr>
              <a:t>−</a:t>
            </a:r>
            <a:r>
              <a:rPr lang="en-US" altLang="ja-JP" sz="2200" b="1" dirty="0">
                <a:latin typeface="+mj-ea"/>
                <a:ea typeface="+mj-ea"/>
              </a:rPr>
              <a:t>0.38</a:t>
            </a:r>
            <a:r>
              <a:rPr lang="ja-JP" altLang="en-US" sz="2200" b="1">
                <a:latin typeface="+mj-ea"/>
                <a:ea typeface="+mj-ea"/>
              </a:rPr>
              <a:t>／ −</a:t>
            </a:r>
            <a:r>
              <a:rPr lang="en-US" altLang="ja-JP" sz="2200" b="1" dirty="0">
                <a:latin typeface="+mj-ea"/>
                <a:ea typeface="+mj-ea"/>
              </a:rPr>
              <a:t>0.58 (</a:t>
            </a:r>
            <a:r>
              <a:rPr lang="ja-JP" altLang="en-US" sz="2200" b="1">
                <a:latin typeface="+mj-ea"/>
                <a:ea typeface="+mj-ea"/>
              </a:rPr>
              <a:t>男</a:t>
            </a:r>
            <a:r>
              <a:rPr lang="en-US" altLang="ja-JP" sz="2200" b="1" dirty="0">
                <a:latin typeface="+mj-ea"/>
                <a:ea typeface="+mj-ea"/>
              </a:rPr>
              <a:t>/</a:t>
            </a:r>
            <a:r>
              <a:rPr lang="ja-JP" altLang="en-US" sz="2200" b="1">
                <a:latin typeface="+mj-ea"/>
                <a:ea typeface="+mj-ea"/>
              </a:rPr>
              <a:t>女</a:t>
            </a:r>
            <a:r>
              <a:rPr lang="en-US" altLang="ja-JP" sz="2200" b="1" dirty="0">
                <a:latin typeface="+mj-ea"/>
                <a:ea typeface="+mj-ea"/>
              </a:rPr>
              <a:t>)</a:t>
            </a:r>
            <a:endParaRPr sz="2200" b="1" dirty="0">
              <a:solidFill>
                <a:srgbClr val="262626"/>
              </a:solidFill>
              <a:latin typeface="+mj-ea"/>
              <a:ea typeface="+mj-ea"/>
              <a:cs typeface="Meiryo"/>
            </a:endParaRPr>
          </a:p>
        </p:txBody>
      </p:sp>
      <p:sp>
        <p:nvSpPr>
          <p:cNvPr id="3" name="st2">
            <a:extLst>
              <a:ext uri="{FF2B5EF4-FFF2-40B4-BE49-F238E27FC236}">
                <a16:creationId xmlns:a16="http://schemas.microsoft.com/office/drawing/2014/main" id="{D01B300E-138B-711A-9BBC-DC39FEA03A42}"/>
              </a:ext>
            </a:extLst>
          </p:cNvPr>
          <p:cNvSpPr/>
          <p:nvPr/>
        </p:nvSpPr>
        <p:spPr>
          <a:xfrm>
            <a:off x="548640" y="4495766"/>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Otsuka</a:t>
            </a:r>
            <a:r>
              <a:rPr sz="2200" b="1" dirty="0">
                <a:solidFill>
                  <a:srgbClr val="262626"/>
                </a:solidFill>
                <a:latin typeface="Meiryo"/>
                <a:ea typeface="Meiryo"/>
                <a:cs typeface="Meiryo"/>
              </a:rPr>
              <a:t> 200</a:t>
            </a:r>
            <a:r>
              <a:rPr lang="en-US" sz="2200" b="1" dirty="0">
                <a:solidFill>
                  <a:srgbClr val="262626"/>
                </a:solidFill>
                <a:latin typeface="Meiryo"/>
                <a:ea typeface="Meiryo"/>
                <a:cs typeface="Meiryo"/>
              </a:rPr>
              <a:t>6</a:t>
            </a:r>
            <a:endParaRPr sz="2200" b="1" dirty="0">
              <a:solidFill>
                <a:srgbClr val="262626"/>
              </a:solidFill>
              <a:latin typeface="Meiryo"/>
              <a:ea typeface="Meiryo"/>
              <a:cs typeface="Meiryo"/>
            </a:endParaRPr>
          </a:p>
        </p:txBody>
      </p:sp>
      <p:sp>
        <p:nvSpPr>
          <p:cNvPr id="4" name="sr2">
            <a:extLst>
              <a:ext uri="{FF2B5EF4-FFF2-40B4-BE49-F238E27FC236}">
                <a16:creationId xmlns:a16="http://schemas.microsoft.com/office/drawing/2014/main" id="{9ACEB9CE-B3AB-61FD-6B96-748745BBBEE5}"/>
              </a:ext>
            </a:extLst>
          </p:cNvPr>
          <p:cNvSpPr txBox="1"/>
          <p:nvPr/>
        </p:nvSpPr>
        <p:spPr>
          <a:xfrm>
            <a:off x="3467151" y="5590338"/>
            <a:ext cx="8174736" cy="677108"/>
          </a:xfrm>
          <a:prstGeom prst="rect">
            <a:avLst/>
          </a:prstGeom>
          <a:noFill/>
        </p:spPr>
        <p:txBody>
          <a:bodyPr wrap="square" lIns="0" tIns="0" rIns="0" bIns="0" anchor="ctr">
            <a:spAutoFit/>
          </a:bodyPr>
          <a:lstStyle/>
          <a:p>
            <a:r>
              <a:rPr lang="ja-JP" altLang="en-US" sz="2200" b="1">
                <a:solidFill>
                  <a:srgbClr val="262626"/>
                </a:solidFill>
                <a:latin typeface="+mj-ea"/>
                <a:ea typeface="+mj-ea"/>
                <a:cs typeface="Meiryo"/>
              </a:rPr>
              <a:t>頸動脈 IMT など臓器障害との関連は弱いか有意でない</a:t>
            </a:r>
            <a:endParaRPr lang="en-US" altLang="ja-JP" sz="2200" b="1" dirty="0">
              <a:solidFill>
                <a:srgbClr val="262626"/>
              </a:solidFill>
              <a:latin typeface="+mj-ea"/>
              <a:ea typeface="+mj-ea"/>
              <a:cs typeface="Meiryo"/>
            </a:endParaRPr>
          </a:p>
          <a:p>
            <a:r>
              <a:rPr lang="en-US" altLang="ja-JP" sz="2200" b="1" dirty="0">
                <a:solidFill>
                  <a:srgbClr val="262626"/>
                </a:solidFill>
                <a:latin typeface="+mj-ea"/>
                <a:ea typeface="+mj-ea"/>
                <a:cs typeface="Meiryo"/>
              </a:rPr>
              <a:t>b/a・d/</a:t>
            </a:r>
            <a:r>
              <a:rPr lang="en-US" altLang="ja-JP" sz="2200" b="1" dirty="0" err="1">
                <a:solidFill>
                  <a:srgbClr val="262626"/>
                </a:solidFill>
                <a:latin typeface="+mj-ea"/>
                <a:ea typeface="+mj-ea"/>
                <a:cs typeface="Meiryo"/>
              </a:rPr>
              <a:t>a・AGI</a:t>
            </a:r>
            <a:r>
              <a:rPr lang="en-US" altLang="ja-JP" sz="2200" b="1" dirty="0">
                <a:solidFill>
                  <a:srgbClr val="262626"/>
                </a:solidFill>
                <a:latin typeface="+mj-ea"/>
                <a:ea typeface="+mj-ea"/>
                <a:cs typeface="Meiryo"/>
              </a:rPr>
              <a:t> </a:t>
            </a:r>
            <a:r>
              <a:rPr lang="en-US" altLang="ja-JP" sz="2200" b="1" dirty="0" err="1">
                <a:solidFill>
                  <a:srgbClr val="262626"/>
                </a:solidFill>
                <a:latin typeface="+mj-ea"/>
                <a:ea typeface="+mj-ea"/>
                <a:cs typeface="Meiryo"/>
              </a:rPr>
              <a:t>の規定因子は</a:t>
            </a:r>
            <a:r>
              <a:rPr lang="en-US" altLang="ja-JP" sz="2200" b="1" dirty="0">
                <a:solidFill>
                  <a:srgbClr val="262626"/>
                </a:solidFill>
                <a:latin typeface="+mj-ea"/>
                <a:ea typeface="+mj-ea"/>
                <a:cs typeface="Meiryo"/>
              </a:rPr>
              <a:t> 年齢・性・収縮期血圧・心拍数</a:t>
            </a:r>
            <a:endParaRPr sz="2200" b="1" dirty="0">
              <a:solidFill>
                <a:srgbClr val="262626"/>
              </a:solidFill>
              <a:latin typeface="+mj-ea"/>
              <a:ea typeface="+mj-ea"/>
              <a:cs typeface="Meiryo"/>
            </a:endParaRPr>
          </a:p>
        </p:txBody>
      </p:sp>
      <p:sp>
        <p:nvSpPr>
          <p:cNvPr id="5" name="st2">
            <a:extLst>
              <a:ext uri="{FF2B5EF4-FFF2-40B4-BE49-F238E27FC236}">
                <a16:creationId xmlns:a16="http://schemas.microsoft.com/office/drawing/2014/main" id="{40F1D81F-94D4-8663-C39F-8B95EC37524F}"/>
              </a:ext>
            </a:extLst>
          </p:cNvPr>
          <p:cNvSpPr/>
          <p:nvPr/>
        </p:nvSpPr>
        <p:spPr>
          <a:xfrm>
            <a:off x="548640" y="5471692"/>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Tabara 2016 </a:t>
            </a:r>
            <a:endParaRPr sz="2200" b="1" dirty="0">
              <a:solidFill>
                <a:srgbClr val="262626"/>
              </a:solidFill>
              <a:latin typeface="Meiryo"/>
              <a:ea typeface="Meiryo"/>
              <a:cs typeface="Meiryo"/>
            </a:endParaRPr>
          </a:p>
        </p:txBody>
      </p:sp>
      <p:sp>
        <p:nvSpPr>
          <p:cNvPr id="6" name="sr2">
            <a:extLst>
              <a:ext uri="{FF2B5EF4-FFF2-40B4-BE49-F238E27FC236}">
                <a16:creationId xmlns:a16="http://schemas.microsoft.com/office/drawing/2014/main" id="{92697709-B3D9-1610-E7F2-68BAB82C7C1C}"/>
              </a:ext>
            </a:extLst>
          </p:cNvPr>
          <p:cNvSpPr txBox="1"/>
          <p:nvPr/>
        </p:nvSpPr>
        <p:spPr>
          <a:xfrm>
            <a:off x="3467151" y="3638486"/>
            <a:ext cx="8174736" cy="677108"/>
          </a:xfrm>
          <a:prstGeom prst="rect">
            <a:avLst/>
          </a:prstGeom>
          <a:noFill/>
        </p:spPr>
        <p:txBody>
          <a:bodyPr wrap="square" lIns="0" tIns="0" rIns="0" bIns="0" anchor="ctr">
            <a:spAutoFit/>
          </a:bodyPr>
          <a:lstStyle/>
          <a:p>
            <a:r>
              <a:rPr lang="en-US" altLang="ja-JP" sz="2200" b="1" dirty="0">
                <a:latin typeface="+mj-ea"/>
                <a:ea typeface="+mj-ea"/>
              </a:rPr>
              <a:t>PWV と SDPPG </a:t>
            </a:r>
            <a:r>
              <a:rPr lang="en-US" altLang="ja-JP" sz="2200" b="1" dirty="0" err="1">
                <a:latin typeface="+mj-ea"/>
                <a:ea typeface="+mj-ea"/>
              </a:rPr>
              <a:t>の相関は弱</a:t>
            </a:r>
            <a:r>
              <a:rPr lang="ja-JP" altLang="en-US" sz="2200" b="1">
                <a:latin typeface="+mj-ea"/>
                <a:ea typeface="+mj-ea"/>
              </a:rPr>
              <a:t>い</a:t>
            </a:r>
            <a:endParaRPr lang="en-US" altLang="ja-JP" sz="2200" b="1" dirty="0">
              <a:latin typeface="+mj-ea"/>
              <a:ea typeface="+mj-ea"/>
            </a:endParaRPr>
          </a:p>
          <a:p>
            <a:r>
              <a:rPr lang="en-US" altLang="ja-JP" sz="2200" dirty="0">
                <a:solidFill>
                  <a:srgbClr val="262626"/>
                </a:solidFill>
                <a:latin typeface="Meiryo"/>
                <a:ea typeface="Meiryo"/>
                <a:cs typeface="Meiryo"/>
              </a:rPr>
              <a:t>HR</a:t>
            </a:r>
            <a:r>
              <a:rPr sz="2200" dirty="0">
                <a:solidFill>
                  <a:srgbClr val="262626"/>
                </a:solidFill>
                <a:latin typeface="Meiryo"/>
                <a:ea typeface="Meiryo"/>
                <a:cs typeface="Meiryo"/>
              </a:rPr>
              <a:t>は d/</a:t>
            </a:r>
            <a:r>
              <a:rPr sz="2200" dirty="0" err="1">
                <a:solidFill>
                  <a:srgbClr val="262626"/>
                </a:solidFill>
                <a:latin typeface="Meiryo"/>
                <a:ea typeface="Meiryo"/>
                <a:cs typeface="Meiryo"/>
              </a:rPr>
              <a:t>a・AGI</a:t>
            </a:r>
            <a:r>
              <a:rPr sz="2200" dirty="0">
                <a:solidFill>
                  <a:srgbClr val="262626"/>
                </a:solidFill>
                <a:latin typeface="Meiryo"/>
                <a:ea typeface="Meiryo"/>
                <a:cs typeface="Meiryo"/>
              </a:rPr>
              <a:t> </a:t>
            </a:r>
            <a:r>
              <a:rPr sz="2200" dirty="0" err="1">
                <a:solidFill>
                  <a:srgbClr val="262626"/>
                </a:solidFill>
                <a:latin typeface="Meiryo"/>
                <a:ea typeface="Meiryo"/>
                <a:cs typeface="Meiryo"/>
              </a:rPr>
              <a:t>と負、b</a:t>
            </a:r>
            <a:r>
              <a:rPr sz="2200" dirty="0">
                <a:solidFill>
                  <a:srgbClr val="262626"/>
                </a:solidFill>
                <a:latin typeface="Meiryo"/>
                <a:ea typeface="Meiryo"/>
                <a:cs typeface="Meiryo"/>
              </a:rPr>
              <a:t>/a </a:t>
            </a:r>
            <a:r>
              <a:rPr sz="2200" dirty="0" err="1">
                <a:solidFill>
                  <a:srgbClr val="262626"/>
                </a:solidFill>
                <a:latin typeface="Meiryo"/>
                <a:ea typeface="Meiryo"/>
                <a:cs typeface="Meiryo"/>
              </a:rPr>
              <a:t>と正に相関（治療中高血圧</a:t>
            </a:r>
            <a:r>
              <a:rPr sz="2200" dirty="0">
                <a:solidFill>
                  <a:srgbClr val="262626"/>
                </a:solidFill>
                <a:latin typeface="Meiryo"/>
                <a:ea typeface="Meiryo"/>
                <a:cs typeface="Meiryo"/>
              </a:rPr>
              <a:t> 294 </a:t>
            </a:r>
            <a:r>
              <a:rPr sz="2200" dirty="0" err="1">
                <a:solidFill>
                  <a:srgbClr val="262626"/>
                </a:solidFill>
                <a:latin typeface="Meiryo"/>
                <a:ea typeface="Meiryo"/>
                <a:cs typeface="Meiryo"/>
              </a:rPr>
              <a:t>名</a:t>
            </a:r>
            <a:r>
              <a:rPr sz="2200" dirty="0">
                <a:solidFill>
                  <a:srgbClr val="262626"/>
                </a:solidFill>
                <a:latin typeface="Meiryo"/>
                <a:ea typeface="Meiryo"/>
                <a:cs typeface="Meiryo"/>
              </a:rPr>
              <a:t>）</a:t>
            </a:r>
          </a:p>
        </p:txBody>
      </p:sp>
      <p:sp>
        <p:nvSpPr>
          <p:cNvPr id="7" name="Source">
            <a:extLst>
              <a:ext uri="{FF2B5EF4-FFF2-40B4-BE49-F238E27FC236}">
                <a16:creationId xmlns:a16="http://schemas.microsoft.com/office/drawing/2014/main" id="{6FF5DF5E-413E-E2F8-7727-6220DC8C4DEB}"/>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　／　25. Bortolotto 2000　／　26. Otsuka 2006　／　27. Tabara 2016</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34/55</a:t>
            </a:r>
          </a:p>
        </p:txBody>
      </p:sp>
    </p:spTree>
    <p:extLst>
      <p:ext uri="{BB962C8B-B14F-4D97-AF65-F5344CB8AC3E}">
        <p14:creationId xmlns:p14="http://schemas.microsoft.com/office/powerpoint/2010/main" val="42435178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3.3  SDPPG は何を測れたか</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　／　25. Bortolotto 2000　／　26. Otsuka 2006　／　27. Tabara 2016</a:t>
            </a:r>
          </a:p>
        </p:txBody>
      </p:sp>
      <p:sp>
        <p:nvSpPr>
          <p:cNvPr id="30" name="Rounded Rectangle 29"/>
          <p:cNvSpPr/>
          <p:nvPr/>
        </p:nvSpPr>
        <p:spPr>
          <a:xfrm>
            <a:off x="472440" y="2155801"/>
            <a:ext cx="3566160" cy="3703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82168" y="2320393"/>
            <a:ext cx="3346704" cy="457200"/>
          </a:xfrm>
          <a:prstGeom prst="rect">
            <a:avLst/>
          </a:prstGeom>
          <a:noFill/>
        </p:spPr>
        <p:txBody>
          <a:bodyPr wrap="square" lIns="0" tIns="0" rIns="0" bIns="0" anchor="t">
            <a:spAutoFit/>
          </a:bodyPr>
          <a:lstStyle/>
          <a:p>
            <a:pPr algn="ctr"/>
            <a:r>
              <a:rPr sz="2400" b="1">
                <a:solidFill>
                  <a:srgbClr val="0072B2"/>
                </a:solidFill>
                <a:latin typeface="Meiryo"/>
                <a:ea typeface="Meiryo"/>
                <a:cs typeface="Meiryo"/>
              </a:rPr>
              <a:t>急性のトーヌス</a:t>
            </a:r>
          </a:p>
        </p:txBody>
      </p:sp>
      <p:sp>
        <p:nvSpPr>
          <p:cNvPr id="32" name="TextBox 31"/>
          <p:cNvSpPr txBox="1"/>
          <p:nvPr/>
        </p:nvSpPr>
        <p:spPr>
          <a:xfrm>
            <a:off x="582168" y="2869033"/>
            <a:ext cx="3346704" cy="457200"/>
          </a:xfrm>
          <a:prstGeom prst="rect">
            <a:avLst/>
          </a:prstGeom>
          <a:noFill/>
        </p:spPr>
        <p:txBody>
          <a:bodyPr wrap="square" lIns="0" tIns="0" rIns="0" bIns="0" anchor="t">
            <a:spAutoFit/>
          </a:bodyPr>
          <a:lstStyle/>
          <a:p>
            <a:pPr algn="ctr"/>
            <a:r>
              <a:rPr sz="3000" b="1">
                <a:solidFill>
                  <a:srgbClr val="0072B2"/>
                </a:solidFill>
                <a:latin typeface="Meiryo"/>
                <a:ea typeface="Meiryo"/>
                <a:cs typeface="Meiryo"/>
              </a:rPr>
              <a:t>○</a:t>
            </a:r>
          </a:p>
        </p:txBody>
      </p:sp>
      <p:sp>
        <p:nvSpPr>
          <p:cNvPr id="33" name="TextBox 32"/>
          <p:cNvSpPr txBox="1"/>
          <p:nvPr/>
        </p:nvSpPr>
        <p:spPr>
          <a:xfrm>
            <a:off x="60960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24. Takazawa 1998</a:t>
            </a:r>
          </a:p>
        </p:txBody>
      </p:sp>
      <p:sp>
        <p:nvSpPr>
          <p:cNvPr id="34" name="TextBox 33"/>
          <p:cNvSpPr txBox="1"/>
          <p:nvPr/>
        </p:nvSpPr>
        <p:spPr>
          <a:xfrm>
            <a:off x="609600" y="3893161"/>
            <a:ext cx="3291840" cy="384048"/>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薬で d/a が動く</a:t>
            </a:r>
          </a:p>
        </p:txBody>
      </p:sp>
      <p:sp>
        <p:nvSpPr>
          <p:cNvPr id="35" name="TextBox 34"/>
          <p:cNvSpPr txBox="1"/>
          <p:nvPr/>
        </p:nvSpPr>
        <p:spPr>
          <a:xfrm>
            <a:off x="609600" y="4405225"/>
            <a:ext cx="3291840" cy="768096"/>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AT II −0.62</a:t>
            </a:r>
          </a:p>
          <a:p>
            <a:pPr algn="l">
              <a:spcAft>
                <a:spcPts val="100"/>
              </a:spcAft>
            </a:pPr>
            <a:r>
              <a:rPr sz="2200" b="0">
                <a:solidFill>
                  <a:srgbClr val="808080"/>
                </a:solidFill>
                <a:latin typeface="Meiryo"/>
                <a:ea typeface="Meiryo"/>
                <a:cs typeface="Meiryo"/>
              </a:rPr>
              <a:t>NTG −0.25</a:t>
            </a:r>
          </a:p>
        </p:txBody>
      </p:sp>
      <p:sp>
        <p:nvSpPr>
          <p:cNvPr id="36" name="Rounded Rectangle 35"/>
          <p:cNvSpPr/>
          <p:nvPr/>
        </p:nvSpPr>
        <p:spPr>
          <a:xfrm>
            <a:off x="4312920" y="2155801"/>
            <a:ext cx="3566160" cy="3703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422648" y="2320393"/>
            <a:ext cx="3346704" cy="45720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慢性の加齢</a:t>
            </a:r>
          </a:p>
        </p:txBody>
      </p:sp>
      <p:sp>
        <p:nvSpPr>
          <p:cNvPr id="38" name="TextBox 37"/>
          <p:cNvSpPr txBox="1"/>
          <p:nvPr/>
        </p:nvSpPr>
        <p:spPr>
          <a:xfrm>
            <a:off x="4422648" y="2869033"/>
            <a:ext cx="3346704" cy="457200"/>
          </a:xfrm>
          <a:prstGeom prst="rect">
            <a:avLst/>
          </a:prstGeom>
          <a:noFill/>
        </p:spPr>
        <p:txBody>
          <a:bodyPr wrap="square" lIns="0" tIns="0" rIns="0" bIns="0" anchor="t">
            <a:spAutoFit/>
          </a:bodyPr>
          <a:lstStyle/>
          <a:p>
            <a:pPr algn="ctr"/>
            <a:r>
              <a:rPr sz="3000" b="1">
                <a:solidFill>
                  <a:srgbClr val="00A8AA"/>
                </a:solidFill>
                <a:latin typeface="Meiryo"/>
                <a:ea typeface="Meiryo"/>
                <a:cs typeface="Meiryo"/>
              </a:rPr>
              <a:t>○</a:t>
            </a:r>
          </a:p>
        </p:txBody>
      </p:sp>
      <p:sp>
        <p:nvSpPr>
          <p:cNvPr id="39" name="TextBox 38"/>
          <p:cNvSpPr txBox="1"/>
          <p:nvPr/>
        </p:nvSpPr>
        <p:spPr>
          <a:xfrm>
            <a:off x="445008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24. Takazawa 1998</a:t>
            </a:r>
          </a:p>
        </p:txBody>
      </p:sp>
      <p:sp>
        <p:nvSpPr>
          <p:cNvPr id="40" name="TextBox 39"/>
          <p:cNvSpPr txBox="1"/>
          <p:nvPr/>
        </p:nvSpPr>
        <p:spPr>
          <a:xfrm>
            <a:off x="4450080" y="3893161"/>
            <a:ext cx="3291840" cy="384048"/>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AGI と年齢 r=0.80</a:t>
            </a:r>
          </a:p>
        </p:txBody>
      </p:sp>
      <p:sp>
        <p:nvSpPr>
          <p:cNvPr id="41" name="TextBox 40"/>
          <p:cNvSpPr txBox="1"/>
          <p:nvPr/>
        </p:nvSpPr>
        <p:spPr>
          <a:xfrm>
            <a:off x="4450080" y="44052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26. Otsuka 2006</a:t>
            </a:r>
          </a:p>
        </p:txBody>
      </p:sp>
      <p:sp>
        <p:nvSpPr>
          <p:cNvPr id="42" name="TextBox 41"/>
          <p:cNvSpPr txBox="1"/>
          <p:nvPr/>
        </p:nvSpPr>
        <p:spPr>
          <a:xfrm>
            <a:off x="4450080" y="4807561"/>
            <a:ext cx="3291840" cy="768096"/>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Framingham risk</a:t>
            </a:r>
          </a:p>
          <a:p>
            <a:pPr algn="l">
              <a:spcAft>
                <a:spcPts val="100"/>
              </a:spcAft>
            </a:pPr>
            <a:r>
              <a:rPr sz="2200" b="0">
                <a:solidFill>
                  <a:srgbClr val="808080"/>
                </a:solidFill>
                <a:latin typeface="Meiryo"/>
                <a:ea typeface="Meiryo"/>
                <a:cs typeface="Meiryo"/>
              </a:rPr>
              <a:t>score と相関</a:t>
            </a:r>
          </a:p>
        </p:txBody>
      </p:sp>
      <p:sp>
        <p:nvSpPr>
          <p:cNvPr id="43" name="Rounded Rectangle 42"/>
          <p:cNvSpPr/>
          <p:nvPr/>
        </p:nvSpPr>
        <p:spPr>
          <a:xfrm>
            <a:off x="8153400" y="2155801"/>
            <a:ext cx="3566160" cy="3703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8263128" y="2320393"/>
            <a:ext cx="3346704" cy="457200"/>
          </a:xfrm>
          <a:prstGeom prst="rect">
            <a:avLst/>
          </a:prstGeom>
          <a:noFill/>
        </p:spPr>
        <p:txBody>
          <a:bodyPr wrap="square" lIns="0" tIns="0" rIns="0" bIns="0" anchor="t">
            <a:spAutoFit/>
          </a:bodyPr>
          <a:lstStyle/>
          <a:p>
            <a:pPr algn="ctr"/>
            <a:r>
              <a:rPr sz="2400" b="1">
                <a:solidFill>
                  <a:srgbClr val="D55E00"/>
                </a:solidFill>
                <a:latin typeface="Meiryo"/>
                <a:ea typeface="Meiryo"/>
                <a:cs typeface="Meiryo"/>
              </a:rPr>
              <a:t>臓器障害・動脈硬化</a:t>
            </a:r>
          </a:p>
        </p:txBody>
      </p:sp>
      <p:sp>
        <p:nvSpPr>
          <p:cNvPr id="45" name="TextBox 44"/>
          <p:cNvSpPr txBox="1"/>
          <p:nvPr/>
        </p:nvSpPr>
        <p:spPr>
          <a:xfrm>
            <a:off x="8263128" y="2869033"/>
            <a:ext cx="3346704" cy="457200"/>
          </a:xfrm>
          <a:prstGeom prst="rect">
            <a:avLst/>
          </a:prstGeom>
          <a:noFill/>
        </p:spPr>
        <p:txBody>
          <a:bodyPr wrap="square" lIns="0" tIns="0" rIns="0" bIns="0" anchor="t">
            <a:spAutoFit/>
          </a:bodyPr>
          <a:lstStyle/>
          <a:p>
            <a:pPr algn="ctr"/>
            <a:r>
              <a:rPr sz="3000" b="1">
                <a:solidFill>
                  <a:srgbClr val="D55E00"/>
                </a:solidFill>
                <a:latin typeface="Meiryo"/>
                <a:ea typeface="Meiryo"/>
                <a:cs typeface="Meiryo"/>
              </a:rPr>
              <a:t>×</a:t>
            </a:r>
          </a:p>
        </p:txBody>
      </p:sp>
      <p:sp>
        <p:nvSpPr>
          <p:cNvPr id="46" name="TextBox 45"/>
          <p:cNvSpPr txBox="1"/>
          <p:nvPr/>
        </p:nvSpPr>
        <p:spPr>
          <a:xfrm>
            <a:off x="829056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25. Bortolotto 2000</a:t>
            </a:r>
          </a:p>
        </p:txBody>
      </p:sp>
      <p:sp>
        <p:nvSpPr>
          <p:cNvPr id="47" name="TextBox 46"/>
          <p:cNvSpPr txBox="1"/>
          <p:nvPr/>
        </p:nvSpPr>
        <p:spPr>
          <a:xfrm>
            <a:off x="8290560" y="3893161"/>
            <a:ext cx="3291840" cy="338554"/>
          </a:xfrm>
          <a:prstGeom prst="rect">
            <a:avLst/>
          </a:prstGeom>
          <a:noFill/>
        </p:spPr>
        <p:txBody>
          <a:bodyPr wrap="square" lIns="0" tIns="0" rIns="0" bIns="0" anchor="t">
            <a:spAutoFit/>
          </a:bodyPr>
          <a:lstStyle/>
          <a:p>
            <a:pPr algn="l">
              <a:spcAft>
                <a:spcPts val="100"/>
              </a:spcAft>
            </a:pPr>
            <a:r>
              <a:rPr sz="2200" b="0" dirty="0" err="1">
                <a:solidFill>
                  <a:srgbClr val="808080"/>
                </a:solidFill>
                <a:latin typeface="Meiryo"/>
                <a:ea typeface="Meiryo"/>
                <a:cs typeface="Meiryo"/>
              </a:rPr>
              <a:t>規定因子はPWV</a:t>
            </a:r>
            <a:r>
              <a:rPr sz="2200" b="0" dirty="0">
                <a:solidFill>
                  <a:srgbClr val="808080"/>
                </a:solidFill>
                <a:latin typeface="Meiryo"/>
                <a:ea typeface="Meiryo"/>
                <a:cs typeface="Meiryo"/>
              </a:rPr>
              <a:t> </a:t>
            </a:r>
            <a:r>
              <a:rPr sz="2200" b="0" dirty="0" err="1">
                <a:solidFill>
                  <a:srgbClr val="808080"/>
                </a:solidFill>
                <a:latin typeface="Meiryo"/>
                <a:ea typeface="Meiryo"/>
                <a:cs typeface="Meiryo"/>
              </a:rPr>
              <a:t>が優位</a:t>
            </a:r>
            <a:endParaRPr sz="2200" b="0" dirty="0">
              <a:solidFill>
                <a:srgbClr val="808080"/>
              </a:solidFill>
              <a:latin typeface="Meiryo"/>
              <a:ea typeface="Meiryo"/>
              <a:cs typeface="Meiryo"/>
            </a:endParaRPr>
          </a:p>
        </p:txBody>
      </p:sp>
      <p:sp>
        <p:nvSpPr>
          <p:cNvPr id="48" name="TextBox 47"/>
          <p:cNvSpPr txBox="1"/>
          <p:nvPr/>
        </p:nvSpPr>
        <p:spPr>
          <a:xfrm>
            <a:off x="8290560" y="4404133"/>
            <a:ext cx="3291840" cy="384048"/>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27. Tabara 2016</a:t>
            </a:r>
          </a:p>
        </p:txBody>
      </p:sp>
      <p:sp>
        <p:nvSpPr>
          <p:cNvPr id="49" name="TextBox 48"/>
          <p:cNvSpPr txBox="1"/>
          <p:nvPr/>
        </p:nvSpPr>
        <p:spPr>
          <a:xfrm>
            <a:off x="8290560" y="4806469"/>
            <a:ext cx="3291840" cy="384048"/>
          </a:xfrm>
          <a:prstGeom prst="rect">
            <a:avLst/>
          </a:prstGeom>
          <a:noFill/>
        </p:spPr>
        <p:txBody>
          <a:bodyPr wrap="square" lIns="0" tIns="0" rIns="0" bIns="0" anchor="t">
            <a:spAutoFit/>
          </a:bodyPr>
          <a:lstStyle/>
          <a:p>
            <a:pPr algn="l">
              <a:spcAft>
                <a:spcPts val="100"/>
              </a:spcAft>
            </a:pPr>
            <a:r>
              <a:rPr sz="2200" b="0" dirty="0" err="1">
                <a:solidFill>
                  <a:srgbClr val="808080"/>
                </a:solidFill>
                <a:latin typeface="Meiryo"/>
                <a:ea typeface="Meiryo"/>
                <a:cs typeface="Meiryo"/>
              </a:rPr>
              <a:t>関連は弱い</a:t>
            </a:r>
            <a:endParaRPr sz="2200" b="0" dirty="0">
              <a:solidFill>
                <a:srgbClr val="808080"/>
              </a:solidFill>
              <a:latin typeface="Meiryo"/>
              <a:ea typeface="Meiryo"/>
              <a:cs typeface="Meiryo"/>
            </a:endParaRPr>
          </a:p>
        </p:txBody>
      </p:sp>
      <p:sp>
        <p:nvSpPr>
          <p:cNvPr id="5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35/55</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42A5A-F54E-2A96-5C0C-CDC7E47BE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59EFC-B386-F317-2F15-3C6CEDA9BD27}"/>
              </a:ext>
            </a:extLst>
          </p:cNvPr>
          <p:cNvSpPr>
            <a:spLocks noGrp="1"/>
          </p:cNvSpPr>
          <p:nvPr>
            <p:ph type="title"/>
          </p:nvPr>
        </p:nvSpPr>
        <p:spPr/>
        <p:txBody>
          <a:bodyPr/>
          <a:lstStyle/>
          <a:p>
            <a:pPr algn="l"/>
            <a:r>
              <a:rPr sz="4600" dirty="0">
                <a:latin typeface="Meiryo"/>
                <a:ea typeface="Meiryo"/>
                <a:cs typeface="Meiryo"/>
              </a:rPr>
              <a:t>3.3  b/a と SI</a:t>
            </a:r>
          </a:p>
        </p:txBody>
      </p:sp>
      <p:sp>
        <p:nvSpPr>
          <p:cNvPr id="12" name="Off-page Connector 4">
            <a:extLst>
              <a:ext uri="{FF2B5EF4-FFF2-40B4-BE49-F238E27FC236}">
                <a16:creationId xmlns:a16="http://schemas.microsoft.com/office/drawing/2014/main" id="{1A6D44E0-9C70-A806-FDC9-9EB5FDF1428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17EC24F4-CACD-616A-3BD2-0926E1860CC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7507A708-B891-3804-47A9-01F652BC4933}"/>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0A840E67-0AC1-5787-BEC9-02E9BC87543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graphicFrame>
        <p:nvGraphicFramePr>
          <p:cNvPr id="5" name="表 4">
            <a:extLst>
              <a:ext uri="{FF2B5EF4-FFF2-40B4-BE49-F238E27FC236}">
                <a16:creationId xmlns:a16="http://schemas.microsoft.com/office/drawing/2014/main" id="{5EA9EBCB-6381-8641-46BD-D4F4E87DFAFD}"/>
              </a:ext>
            </a:extLst>
          </p:cNvPr>
          <p:cNvGraphicFramePr>
            <a:graphicFrameLocks noGrp="1"/>
          </p:cNvGraphicFramePr>
          <p:nvPr>
            <p:extLst>
              <p:ext uri="{D42A27DB-BD31-4B8C-83A1-F6EECF244321}">
                <p14:modId xmlns:p14="http://schemas.microsoft.com/office/powerpoint/2010/main" val="1457008109"/>
              </p:ext>
            </p:extLst>
          </p:nvPr>
        </p:nvGraphicFramePr>
        <p:xfrm>
          <a:off x="248659" y="1690688"/>
          <a:ext cx="11694681" cy="3566160"/>
        </p:xfrm>
        <a:graphic>
          <a:graphicData uri="http://schemas.openxmlformats.org/drawingml/2006/table">
            <a:tbl>
              <a:tblPr firstRow="1" bandRow="1">
                <a:tableStyleId>{74C1A8A3-306A-4EB7-A6B1-4F7E0EB9C5D6}</a:tableStyleId>
              </a:tblPr>
              <a:tblGrid>
                <a:gridCol w="3118655">
                  <a:extLst>
                    <a:ext uri="{9D8B030D-6E8A-4147-A177-3AD203B41FA5}">
                      <a16:colId xmlns:a16="http://schemas.microsoft.com/office/drawing/2014/main" val="1747660977"/>
                    </a:ext>
                  </a:extLst>
                </a:gridCol>
                <a:gridCol w="4354286">
                  <a:extLst>
                    <a:ext uri="{9D8B030D-6E8A-4147-A177-3AD203B41FA5}">
                      <a16:colId xmlns:a16="http://schemas.microsoft.com/office/drawing/2014/main" val="3064939031"/>
                    </a:ext>
                  </a:extLst>
                </a:gridCol>
                <a:gridCol w="4221740">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b/a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SI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年齢との相関</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0.51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0.63</a:t>
                      </a:r>
                      <a:r>
                        <a:rPr kumimoji="1" lang="ja-JP" altLang="en-US" sz="2400">
                          <a:latin typeface="+mj-ea"/>
                          <a:ea typeface="+mj-ea"/>
                        </a:rPr>
                        <a:t>）</a:t>
                      </a:r>
                    </a:p>
                  </a:txBody>
                  <a:tcPr/>
                </a:tc>
                <a:extLst>
                  <a:ext uri="{0D108BD9-81ED-4DB2-BD59-A6C34878D82A}">
                    <a16:rowId xmlns:a16="http://schemas.microsoft.com/office/drawing/2014/main" val="284507999"/>
                  </a:ext>
                </a:extLst>
              </a:tr>
              <a:tr h="533276">
                <a:tc>
                  <a:txBody>
                    <a:bodyPr/>
                    <a:lstStyle/>
                    <a:p>
                      <a:pPr>
                        <a:lnSpc>
                          <a:spcPct val="150000"/>
                        </a:lnSpc>
                      </a:pPr>
                      <a:r>
                        <a:rPr kumimoji="1" lang="en-US" altLang="ja-JP" sz="2400" dirty="0">
                          <a:latin typeface="+mj-ea"/>
                          <a:ea typeface="+mj-ea"/>
                        </a:rPr>
                        <a:t>PWV</a:t>
                      </a:r>
                      <a:r>
                        <a:rPr kumimoji="1" lang="ja-JP" altLang="en-US" sz="2400">
                          <a:latin typeface="+mj-ea"/>
                          <a:ea typeface="+mj-ea"/>
                        </a:rPr>
                        <a:t>との相関</a:t>
                      </a: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0.65</a:t>
                      </a:r>
                      <a:r>
                        <a:rPr kumimoji="1" lang="ja-JP" altLang="en-US" sz="2400">
                          <a:latin typeface="+mj-ea"/>
                          <a:ea typeface="+mj-ea"/>
                        </a:rPr>
                        <a:t>）</a:t>
                      </a:r>
                    </a:p>
                  </a:txBody>
                  <a:tcPr/>
                </a:tc>
                <a:extLst>
                  <a:ext uri="{0D108BD9-81ED-4DB2-BD59-A6C34878D82A}">
                    <a16:rowId xmlns:a16="http://schemas.microsoft.com/office/drawing/2014/main" val="4154383642"/>
                  </a:ext>
                </a:extLst>
              </a:tr>
              <a:tr h="532175">
                <a:tc>
                  <a:txBody>
                    <a:bodyPr/>
                    <a:lstStyle/>
                    <a:p>
                      <a:pPr>
                        <a:lnSpc>
                          <a:spcPct val="150000"/>
                        </a:lnSpc>
                      </a:pPr>
                      <a:r>
                        <a:rPr kumimoji="1" lang="ja-JP" altLang="en-US" sz="2400">
                          <a:latin typeface="+mj-ea"/>
                          <a:ea typeface="+mj-ea"/>
                        </a:rPr>
                        <a:t>血圧との相関</a:t>
                      </a:r>
                    </a:p>
                  </a:txBody>
                  <a:tcPr/>
                </a:tc>
                <a:tc>
                  <a:txBody>
                    <a:bodyPr/>
                    <a:lstStyle/>
                    <a:p>
                      <a:pPr>
                        <a:lnSpc>
                          <a:spcPct val="150000"/>
                        </a:lnSpc>
                      </a:pPr>
                      <a:r>
                        <a:rPr kumimoji="1" lang="en-US" altLang="ja-JP" sz="2400" dirty="0">
                          <a:latin typeface="+mj-ea"/>
                          <a:ea typeface="+mj-ea"/>
                        </a:rPr>
                        <a:t>×</a:t>
                      </a:r>
                      <a:r>
                        <a:rPr kumimoji="1" lang="ja-JP" altLang="en-US" sz="2400">
                          <a:latin typeface="+mj-ea"/>
                          <a:ea typeface="+mj-ea"/>
                        </a:rPr>
                        <a:t>（</a:t>
                      </a:r>
                      <a:r>
                        <a:rPr kumimoji="1" lang="en-US" altLang="ja-JP" sz="2400" dirty="0">
                          <a:latin typeface="+mj-ea"/>
                          <a:ea typeface="+mj-ea"/>
                        </a:rPr>
                        <a:t>0.19</a:t>
                      </a:r>
                      <a:r>
                        <a:rPr kumimoji="1" lang="ja-JP" altLang="en-US" sz="2400">
                          <a:latin typeface="+mj-ea"/>
                          <a:ea typeface="+mj-ea"/>
                        </a:rPr>
                        <a:t>）</a:t>
                      </a:r>
                    </a:p>
                  </a:txBody>
                  <a:tcPr/>
                </a:tc>
                <a:tc>
                  <a:txBody>
                    <a:bodyPr/>
                    <a:lstStyle/>
                    <a:p>
                      <a:pPr>
                        <a:lnSpc>
                          <a:spcPct val="150000"/>
                        </a:lnSpc>
                      </a:pPr>
                      <a:r>
                        <a:rPr kumimoji="1" lang="ja-JP" altLang="en-US" sz="2400">
                          <a:latin typeface="+mj-ea"/>
                          <a:ea typeface="+mj-ea"/>
                        </a:rPr>
                        <a:t>あり（特に</a:t>
                      </a:r>
                      <a:r>
                        <a:rPr kumimoji="1" lang="en-US" altLang="ja-JP" sz="2400" dirty="0">
                          <a:latin typeface="+mj-ea"/>
                          <a:ea typeface="+mj-ea"/>
                        </a:rPr>
                        <a:t>DBP</a:t>
                      </a:r>
                      <a:r>
                        <a:rPr kumimoji="1" lang="ja-JP" altLang="en-US" sz="2400">
                          <a:latin typeface="+mj-ea"/>
                          <a:ea typeface="+mj-ea"/>
                        </a:rPr>
                        <a:t>で</a:t>
                      </a:r>
                      <a:r>
                        <a:rPr kumimoji="1" lang="en-US" altLang="ja-JP" sz="2400" dirty="0">
                          <a:latin typeface="+mj-ea"/>
                          <a:ea typeface="+mj-ea"/>
                        </a:rPr>
                        <a:t>0.68</a:t>
                      </a:r>
                      <a:r>
                        <a:rPr kumimoji="1" lang="ja-JP" altLang="en-US" sz="2400">
                          <a:latin typeface="+mj-ea"/>
                          <a:ea typeface="+mj-ea"/>
                        </a:rPr>
                        <a:t>）</a:t>
                      </a:r>
                    </a:p>
                  </a:txBody>
                  <a:tcPr/>
                </a:tc>
                <a:extLst>
                  <a:ext uri="{0D108BD9-81ED-4DB2-BD59-A6C34878D82A}">
                    <a16:rowId xmlns:a16="http://schemas.microsoft.com/office/drawing/2014/main" val="1477270729"/>
                  </a:ext>
                </a:extLst>
              </a:tr>
              <a:tr h="533276">
                <a:tc>
                  <a:txBody>
                    <a:bodyPr/>
                    <a:lstStyle/>
                    <a:p>
                      <a:pPr>
                        <a:lnSpc>
                          <a:spcPct val="150000"/>
                        </a:lnSpc>
                      </a:pPr>
                      <a:r>
                        <a:rPr kumimoji="1" lang="ja-JP" altLang="en-US" sz="2400">
                          <a:latin typeface="+mj-ea"/>
                          <a:ea typeface="+mj-ea"/>
                        </a:rPr>
                        <a:t>利点</a:t>
                      </a:r>
                    </a:p>
                  </a:txBody>
                  <a:tcPr/>
                </a:tc>
                <a:tc>
                  <a:txBody>
                    <a:bodyPr/>
                    <a:lstStyle/>
                    <a:p>
                      <a:pPr>
                        <a:lnSpc>
                          <a:spcPct val="150000"/>
                        </a:lnSpc>
                      </a:pPr>
                      <a:r>
                        <a:rPr kumimoji="1" lang="ja-JP" altLang="en-US" sz="2400">
                          <a:latin typeface="+mj-ea"/>
                          <a:ea typeface="+mj-ea"/>
                        </a:rPr>
                        <a:t>検出が頑健</a:t>
                      </a:r>
                    </a:p>
                  </a:txBody>
                  <a:tcPr/>
                </a:tc>
                <a:tc>
                  <a:txBody>
                    <a:bodyPr/>
                    <a:lstStyle/>
                    <a:p>
                      <a:pPr>
                        <a:lnSpc>
                          <a:spcPct val="150000"/>
                        </a:lnSpc>
                      </a:pPr>
                      <a:r>
                        <a:rPr kumimoji="1" lang="ja-JP" altLang="en-US" sz="2400">
                          <a:latin typeface="+mj-ea"/>
                          <a:ea typeface="+mj-ea"/>
                        </a:rPr>
                        <a:t>大動脈弾性と強い相関</a:t>
                      </a:r>
                    </a:p>
                  </a:txBody>
                  <a:tcPr/>
                </a:tc>
                <a:extLst>
                  <a:ext uri="{0D108BD9-81ED-4DB2-BD59-A6C34878D82A}">
                    <a16:rowId xmlns:a16="http://schemas.microsoft.com/office/drawing/2014/main" val="980721823"/>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臓器障害との関連がない</a:t>
                      </a:r>
                    </a:p>
                  </a:txBody>
                  <a:tcPr/>
                </a:tc>
                <a:tc>
                  <a:txBody>
                    <a:bodyPr/>
                    <a:lstStyle/>
                    <a:p>
                      <a:pPr>
                        <a:lnSpc>
                          <a:spcPct val="150000"/>
                        </a:lnSpc>
                      </a:pPr>
                      <a:r>
                        <a:rPr kumimoji="1" lang="ja-JP" altLang="en-US" sz="2400">
                          <a:latin typeface="+mj-ea"/>
                          <a:ea typeface="+mj-ea"/>
                        </a:rPr>
                        <a:t>前向きアウトカム研究がない</a:t>
                      </a:r>
                    </a:p>
                  </a:txBody>
                  <a:tcPr/>
                </a:tc>
                <a:extLst>
                  <a:ext uri="{0D108BD9-81ED-4DB2-BD59-A6C34878D82A}">
                    <a16:rowId xmlns:a16="http://schemas.microsoft.com/office/drawing/2014/main" val="2897397817"/>
                  </a:ext>
                </a:extLst>
              </a:tr>
            </a:tbl>
          </a:graphicData>
        </a:graphic>
      </p:graphicFrame>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12. Millasseau 2003　／　27. Tabara 2016　／　28. von Wowern 2015　／　29. Elgendi 2014</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36/55</a:t>
            </a:r>
          </a:p>
        </p:txBody>
      </p:sp>
    </p:spTree>
    <p:extLst>
      <p:ext uri="{BB962C8B-B14F-4D97-AF65-F5344CB8AC3E}">
        <p14:creationId xmlns:p14="http://schemas.microsoft.com/office/powerpoint/2010/main" val="1026032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E450-F5BA-B811-63EC-6E48220AB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FD4FB-72BD-74DC-D03C-696E61566395}"/>
              </a:ext>
            </a:extLst>
          </p:cNvPr>
          <p:cNvSpPr>
            <a:spLocks noGrp="1"/>
          </p:cNvSpPr>
          <p:nvPr>
            <p:ph type="title"/>
          </p:nvPr>
        </p:nvSpPr>
        <p:spPr/>
        <p:txBody>
          <a:bodyPr/>
          <a:lstStyle/>
          <a:p>
            <a:pPr algn="l"/>
            <a:r>
              <a:rPr sz="4600" dirty="0">
                <a:latin typeface="Meiryo"/>
                <a:ea typeface="Meiryo"/>
                <a:cs typeface="Meiryo"/>
              </a:rPr>
              <a:t>3.3  b/a と SI</a:t>
            </a:r>
          </a:p>
        </p:txBody>
      </p:sp>
      <p:sp>
        <p:nvSpPr>
          <p:cNvPr id="12" name="Off-page Connector 4">
            <a:extLst>
              <a:ext uri="{FF2B5EF4-FFF2-40B4-BE49-F238E27FC236}">
                <a16:creationId xmlns:a16="http://schemas.microsoft.com/office/drawing/2014/main" id="{9063AB0A-C61E-9098-D072-192F4A1E3A1C}"/>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70CB13B5-F3EA-5563-3466-60B5F6816F5B}"/>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1DA8C7D5-CD9E-A5CA-6434-81A7AB94FE84}"/>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5901C1CA-3510-321C-5C05-F28423457714}"/>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graphicFrame>
        <p:nvGraphicFramePr>
          <p:cNvPr id="5" name="表 4">
            <a:extLst>
              <a:ext uri="{FF2B5EF4-FFF2-40B4-BE49-F238E27FC236}">
                <a16:creationId xmlns:a16="http://schemas.microsoft.com/office/drawing/2014/main" id="{4F010993-BC2F-F701-3624-F2DB11E24D85}"/>
              </a:ext>
            </a:extLst>
          </p:cNvPr>
          <p:cNvGraphicFramePr>
            <a:graphicFrameLocks noGrp="1"/>
          </p:cNvGraphicFramePr>
          <p:nvPr/>
        </p:nvGraphicFramePr>
        <p:xfrm>
          <a:off x="248659" y="1690688"/>
          <a:ext cx="11694681" cy="3566160"/>
        </p:xfrm>
        <a:graphic>
          <a:graphicData uri="http://schemas.openxmlformats.org/drawingml/2006/table">
            <a:tbl>
              <a:tblPr firstRow="1" bandRow="1">
                <a:tableStyleId>{74C1A8A3-306A-4EB7-A6B1-4F7E0EB9C5D6}</a:tableStyleId>
              </a:tblPr>
              <a:tblGrid>
                <a:gridCol w="3118655">
                  <a:extLst>
                    <a:ext uri="{9D8B030D-6E8A-4147-A177-3AD203B41FA5}">
                      <a16:colId xmlns:a16="http://schemas.microsoft.com/office/drawing/2014/main" val="1747660977"/>
                    </a:ext>
                  </a:extLst>
                </a:gridCol>
                <a:gridCol w="4354286">
                  <a:extLst>
                    <a:ext uri="{9D8B030D-6E8A-4147-A177-3AD203B41FA5}">
                      <a16:colId xmlns:a16="http://schemas.microsoft.com/office/drawing/2014/main" val="3064939031"/>
                    </a:ext>
                  </a:extLst>
                </a:gridCol>
                <a:gridCol w="4221740">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b/a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SI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年齢との相関</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0.51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0.63</a:t>
                      </a:r>
                      <a:r>
                        <a:rPr kumimoji="1" lang="ja-JP" altLang="en-US" sz="2400">
                          <a:latin typeface="+mj-ea"/>
                          <a:ea typeface="+mj-ea"/>
                        </a:rPr>
                        <a:t>）</a:t>
                      </a:r>
                    </a:p>
                  </a:txBody>
                  <a:tcPr/>
                </a:tc>
                <a:extLst>
                  <a:ext uri="{0D108BD9-81ED-4DB2-BD59-A6C34878D82A}">
                    <a16:rowId xmlns:a16="http://schemas.microsoft.com/office/drawing/2014/main" val="284507999"/>
                  </a:ext>
                </a:extLst>
              </a:tr>
              <a:tr h="533276">
                <a:tc>
                  <a:txBody>
                    <a:bodyPr/>
                    <a:lstStyle/>
                    <a:p>
                      <a:pPr>
                        <a:lnSpc>
                          <a:spcPct val="150000"/>
                        </a:lnSpc>
                      </a:pPr>
                      <a:r>
                        <a:rPr kumimoji="1" lang="en-US" altLang="ja-JP" sz="2400" dirty="0">
                          <a:latin typeface="+mj-ea"/>
                          <a:ea typeface="+mj-ea"/>
                        </a:rPr>
                        <a:t>PWV</a:t>
                      </a:r>
                      <a:r>
                        <a:rPr kumimoji="1" lang="ja-JP" altLang="en-US" sz="2400">
                          <a:latin typeface="+mj-ea"/>
                          <a:ea typeface="+mj-ea"/>
                        </a:rPr>
                        <a:t>との相関</a:t>
                      </a: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0.65</a:t>
                      </a:r>
                      <a:r>
                        <a:rPr kumimoji="1" lang="ja-JP" altLang="en-US" sz="2400">
                          <a:latin typeface="+mj-ea"/>
                          <a:ea typeface="+mj-ea"/>
                        </a:rPr>
                        <a:t>）</a:t>
                      </a:r>
                    </a:p>
                  </a:txBody>
                  <a:tcPr/>
                </a:tc>
                <a:extLst>
                  <a:ext uri="{0D108BD9-81ED-4DB2-BD59-A6C34878D82A}">
                    <a16:rowId xmlns:a16="http://schemas.microsoft.com/office/drawing/2014/main" val="4154383642"/>
                  </a:ext>
                </a:extLst>
              </a:tr>
              <a:tr h="532175">
                <a:tc>
                  <a:txBody>
                    <a:bodyPr/>
                    <a:lstStyle/>
                    <a:p>
                      <a:pPr>
                        <a:lnSpc>
                          <a:spcPct val="150000"/>
                        </a:lnSpc>
                      </a:pPr>
                      <a:r>
                        <a:rPr kumimoji="1" lang="ja-JP" altLang="en-US" sz="2400">
                          <a:latin typeface="+mj-ea"/>
                          <a:ea typeface="+mj-ea"/>
                        </a:rPr>
                        <a:t>血圧との相関</a:t>
                      </a:r>
                    </a:p>
                  </a:txBody>
                  <a:tcPr/>
                </a:tc>
                <a:tc>
                  <a:txBody>
                    <a:bodyPr/>
                    <a:lstStyle/>
                    <a:p>
                      <a:pPr>
                        <a:lnSpc>
                          <a:spcPct val="150000"/>
                        </a:lnSpc>
                      </a:pPr>
                      <a:r>
                        <a:rPr kumimoji="1" lang="en-US" altLang="ja-JP" sz="2400" dirty="0">
                          <a:latin typeface="+mj-ea"/>
                          <a:ea typeface="+mj-ea"/>
                        </a:rPr>
                        <a:t>×</a:t>
                      </a:r>
                      <a:r>
                        <a:rPr kumimoji="1" lang="ja-JP" altLang="en-US" sz="2400">
                          <a:latin typeface="+mj-ea"/>
                          <a:ea typeface="+mj-ea"/>
                        </a:rPr>
                        <a:t>（</a:t>
                      </a:r>
                      <a:r>
                        <a:rPr kumimoji="1" lang="en-US" altLang="ja-JP" sz="2400" dirty="0">
                          <a:latin typeface="+mj-ea"/>
                          <a:ea typeface="+mj-ea"/>
                        </a:rPr>
                        <a:t>0.19</a:t>
                      </a:r>
                      <a:r>
                        <a:rPr kumimoji="1" lang="ja-JP" altLang="en-US" sz="2400">
                          <a:latin typeface="+mj-ea"/>
                          <a:ea typeface="+mj-ea"/>
                        </a:rPr>
                        <a:t>）</a:t>
                      </a:r>
                    </a:p>
                  </a:txBody>
                  <a:tcPr/>
                </a:tc>
                <a:tc>
                  <a:txBody>
                    <a:bodyPr/>
                    <a:lstStyle/>
                    <a:p>
                      <a:pPr>
                        <a:lnSpc>
                          <a:spcPct val="150000"/>
                        </a:lnSpc>
                      </a:pPr>
                      <a:r>
                        <a:rPr kumimoji="1" lang="ja-JP" altLang="en-US" sz="2400">
                          <a:latin typeface="+mj-ea"/>
                          <a:ea typeface="+mj-ea"/>
                        </a:rPr>
                        <a:t>あり（特に</a:t>
                      </a:r>
                      <a:r>
                        <a:rPr kumimoji="1" lang="en-US" altLang="ja-JP" sz="2400" dirty="0">
                          <a:latin typeface="+mj-ea"/>
                          <a:ea typeface="+mj-ea"/>
                        </a:rPr>
                        <a:t>DBP</a:t>
                      </a:r>
                      <a:r>
                        <a:rPr kumimoji="1" lang="ja-JP" altLang="en-US" sz="2400">
                          <a:latin typeface="+mj-ea"/>
                          <a:ea typeface="+mj-ea"/>
                        </a:rPr>
                        <a:t>で</a:t>
                      </a:r>
                      <a:r>
                        <a:rPr kumimoji="1" lang="en-US" altLang="ja-JP" sz="2400" dirty="0">
                          <a:latin typeface="+mj-ea"/>
                          <a:ea typeface="+mj-ea"/>
                        </a:rPr>
                        <a:t>0.68</a:t>
                      </a:r>
                      <a:r>
                        <a:rPr kumimoji="1" lang="ja-JP" altLang="en-US" sz="2400">
                          <a:latin typeface="+mj-ea"/>
                          <a:ea typeface="+mj-ea"/>
                        </a:rPr>
                        <a:t>）</a:t>
                      </a:r>
                    </a:p>
                  </a:txBody>
                  <a:tcPr/>
                </a:tc>
                <a:extLst>
                  <a:ext uri="{0D108BD9-81ED-4DB2-BD59-A6C34878D82A}">
                    <a16:rowId xmlns:a16="http://schemas.microsoft.com/office/drawing/2014/main" val="1477270729"/>
                  </a:ext>
                </a:extLst>
              </a:tr>
              <a:tr h="533276">
                <a:tc>
                  <a:txBody>
                    <a:bodyPr/>
                    <a:lstStyle/>
                    <a:p>
                      <a:pPr>
                        <a:lnSpc>
                          <a:spcPct val="150000"/>
                        </a:lnSpc>
                      </a:pPr>
                      <a:r>
                        <a:rPr kumimoji="1" lang="ja-JP" altLang="en-US" sz="2400">
                          <a:latin typeface="+mj-ea"/>
                          <a:ea typeface="+mj-ea"/>
                        </a:rPr>
                        <a:t>利点</a:t>
                      </a:r>
                    </a:p>
                  </a:txBody>
                  <a:tcPr/>
                </a:tc>
                <a:tc>
                  <a:txBody>
                    <a:bodyPr/>
                    <a:lstStyle/>
                    <a:p>
                      <a:pPr>
                        <a:lnSpc>
                          <a:spcPct val="150000"/>
                        </a:lnSpc>
                      </a:pPr>
                      <a:r>
                        <a:rPr kumimoji="1" lang="ja-JP" altLang="en-US" sz="2400">
                          <a:latin typeface="+mj-ea"/>
                          <a:ea typeface="+mj-ea"/>
                        </a:rPr>
                        <a:t>検出が頑健</a:t>
                      </a:r>
                    </a:p>
                  </a:txBody>
                  <a:tcPr/>
                </a:tc>
                <a:tc>
                  <a:txBody>
                    <a:bodyPr/>
                    <a:lstStyle/>
                    <a:p>
                      <a:pPr>
                        <a:lnSpc>
                          <a:spcPct val="150000"/>
                        </a:lnSpc>
                      </a:pPr>
                      <a:r>
                        <a:rPr kumimoji="1" lang="ja-JP" altLang="en-US" sz="2400">
                          <a:latin typeface="+mj-ea"/>
                          <a:ea typeface="+mj-ea"/>
                        </a:rPr>
                        <a:t>大動脈弾性と強い相関</a:t>
                      </a:r>
                    </a:p>
                  </a:txBody>
                  <a:tcPr/>
                </a:tc>
                <a:extLst>
                  <a:ext uri="{0D108BD9-81ED-4DB2-BD59-A6C34878D82A}">
                    <a16:rowId xmlns:a16="http://schemas.microsoft.com/office/drawing/2014/main" val="980721823"/>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臓器障害との関連がない</a:t>
                      </a:r>
                    </a:p>
                  </a:txBody>
                  <a:tcPr/>
                </a:tc>
                <a:tc>
                  <a:txBody>
                    <a:bodyPr/>
                    <a:lstStyle/>
                    <a:p>
                      <a:pPr>
                        <a:lnSpc>
                          <a:spcPct val="150000"/>
                        </a:lnSpc>
                      </a:pPr>
                      <a:r>
                        <a:rPr kumimoji="1" lang="ja-JP" altLang="en-US" sz="2400">
                          <a:latin typeface="+mj-ea"/>
                          <a:ea typeface="+mj-ea"/>
                        </a:rPr>
                        <a:t>前向きアウトカム研究がない</a:t>
                      </a:r>
                    </a:p>
                  </a:txBody>
                  <a:tcPr/>
                </a:tc>
                <a:extLst>
                  <a:ext uri="{0D108BD9-81ED-4DB2-BD59-A6C34878D82A}">
                    <a16:rowId xmlns:a16="http://schemas.microsoft.com/office/drawing/2014/main" val="2897397817"/>
                  </a:ext>
                </a:extLst>
              </a:tr>
            </a:tbl>
          </a:graphicData>
        </a:graphic>
      </p:graphicFrame>
      <p:sp>
        <p:nvSpPr>
          <p:cNvPr id="17" name="Source">
            <a:extLst>
              <a:ext uri="{FF2B5EF4-FFF2-40B4-BE49-F238E27FC236}">
                <a16:creationId xmlns:a16="http://schemas.microsoft.com/office/drawing/2014/main" id="{7EB3939B-817A-0AE9-C71C-BA2B09A3DB38}"/>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12. Millasseau 2003　／　27. Tabara 2016　／　28. von Wowern 2015　／　29. Elgendi 2014</a:t>
            </a:r>
          </a:p>
        </p:txBody>
      </p:sp>
      <p:sp>
        <p:nvSpPr>
          <p:cNvPr id="18" name="PageNo">
            <a:extLst>
              <a:ext uri="{FF2B5EF4-FFF2-40B4-BE49-F238E27FC236}">
                <a16:creationId xmlns:a16="http://schemas.microsoft.com/office/drawing/2014/main" id="{4D3C528E-186E-B544-54DD-2CF5DB467DB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36/55</a:t>
            </a:r>
          </a:p>
        </p:txBody>
      </p:sp>
      <p:sp>
        <p:nvSpPr>
          <p:cNvPr id="3" name="Rounded Rectangle 49">
            <a:extLst>
              <a:ext uri="{FF2B5EF4-FFF2-40B4-BE49-F238E27FC236}">
                <a16:creationId xmlns:a16="http://schemas.microsoft.com/office/drawing/2014/main" id="{1CBEFFFE-D48D-011E-52C6-EC4FC8FA18D9}"/>
              </a:ext>
            </a:extLst>
          </p:cNvPr>
          <p:cNvSpPr/>
          <p:nvPr/>
        </p:nvSpPr>
        <p:spPr>
          <a:xfrm>
            <a:off x="472439" y="3429000"/>
            <a:ext cx="11247120" cy="7772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3200" b="1">
                <a:solidFill>
                  <a:schemeClr val="tx1"/>
                </a:solidFill>
                <a:latin typeface="+mn-ea"/>
              </a:rPr>
              <a:t>動脈硬化の指標としては</a:t>
            </a:r>
            <a:r>
              <a:rPr lang="en-US" altLang="ja-JP" sz="3200" b="1" dirty="0">
                <a:solidFill>
                  <a:schemeClr val="tx1"/>
                </a:solidFill>
                <a:latin typeface="+mn-ea"/>
              </a:rPr>
              <a:t>SI</a:t>
            </a:r>
            <a:r>
              <a:rPr lang="ja-JP" altLang="en-US" sz="3200" b="1">
                <a:solidFill>
                  <a:schemeClr val="tx1"/>
                </a:solidFill>
                <a:latin typeface="+mn-ea"/>
              </a:rPr>
              <a:t>が有利</a:t>
            </a:r>
            <a:endParaRPr sz="3200" b="1" dirty="0">
              <a:solidFill>
                <a:schemeClr val="tx1"/>
              </a:solidFill>
              <a:latin typeface="+mn-ea"/>
            </a:endParaRPr>
          </a:p>
        </p:txBody>
      </p:sp>
    </p:spTree>
    <p:extLst>
      <p:ext uri="{BB962C8B-B14F-4D97-AF65-F5344CB8AC3E}">
        <p14:creationId xmlns:p14="http://schemas.microsoft.com/office/powerpoint/2010/main" val="22810381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F3C04-3644-8CAA-2A00-DA61634C8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08F11-8283-08BE-58A9-332E53339E22}"/>
              </a:ext>
            </a:extLst>
          </p:cNvPr>
          <p:cNvSpPr>
            <a:spLocks noGrp="1"/>
          </p:cNvSpPr>
          <p:nvPr>
            <p:ph type="title"/>
          </p:nvPr>
        </p:nvSpPr>
        <p:spPr/>
        <p:txBody>
          <a:bodyPr/>
          <a:lstStyle/>
          <a:p>
            <a:pPr algn="l"/>
            <a:r>
              <a:rPr sz="4600" dirty="0">
                <a:latin typeface="Meiryo"/>
                <a:ea typeface="Meiryo"/>
                <a:cs typeface="Meiryo"/>
              </a:rPr>
              <a:t>3.3  d/a と RI</a:t>
            </a:r>
          </a:p>
        </p:txBody>
      </p:sp>
      <p:sp>
        <p:nvSpPr>
          <p:cNvPr id="12" name="Off-page Connector 4">
            <a:extLst>
              <a:ext uri="{FF2B5EF4-FFF2-40B4-BE49-F238E27FC236}">
                <a16:creationId xmlns:a16="http://schemas.microsoft.com/office/drawing/2014/main" id="{259A016A-8E0E-8D4C-35C4-64C9BE13B5E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35736BF2-6A2D-8A12-2687-DE4AAAE5E634}"/>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69E7E4A2-C128-5272-2FC9-0195AD02F959}"/>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444914FA-1CD2-95DD-4B74-DE7BFA47777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graphicFrame>
        <p:nvGraphicFramePr>
          <p:cNvPr id="5" name="表 4">
            <a:extLst>
              <a:ext uri="{FF2B5EF4-FFF2-40B4-BE49-F238E27FC236}">
                <a16:creationId xmlns:a16="http://schemas.microsoft.com/office/drawing/2014/main" id="{2364539F-58C8-53A8-3467-FB73BD3962B2}"/>
              </a:ext>
            </a:extLst>
          </p:cNvPr>
          <p:cNvGraphicFramePr>
            <a:graphicFrameLocks noGrp="1"/>
          </p:cNvGraphicFramePr>
          <p:nvPr>
            <p:extLst>
              <p:ext uri="{D42A27DB-BD31-4B8C-83A1-F6EECF244321}">
                <p14:modId xmlns:p14="http://schemas.microsoft.com/office/powerpoint/2010/main" val="837418225"/>
              </p:ext>
            </p:extLst>
          </p:nvPr>
        </p:nvGraphicFramePr>
        <p:xfrm>
          <a:off x="248659" y="1690688"/>
          <a:ext cx="11694681" cy="4495800"/>
        </p:xfrm>
        <a:graphic>
          <a:graphicData uri="http://schemas.openxmlformats.org/drawingml/2006/table">
            <a:tbl>
              <a:tblPr firstRow="1" bandRow="1">
                <a:tableStyleId>{74C1A8A3-306A-4EB7-A6B1-4F7E0EB9C5D6}</a:tableStyleId>
              </a:tblPr>
              <a:tblGrid>
                <a:gridCol w="3678572">
                  <a:extLst>
                    <a:ext uri="{9D8B030D-6E8A-4147-A177-3AD203B41FA5}">
                      <a16:colId xmlns:a16="http://schemas.microsoft.com/office/drawing/2014/main" val="1747660977"/>
                    </a:ext>
                  </a:extLst>
                </a:gridCol>
                <a:gridCol w="4117882">
                  <a:extLst>
                    <a:ext uri="{9D8B030D-6E8A-4147-A177-3AD203B41FA5}">
                      <a16:colId xmlns:a16="http://schemas.microsoft.com/office/drawing/2014/main" val="3064939031"/>
                    </a:ext>
                  </a:extLst>
                </a:gridCol>
                <a:gridCol w="3898227">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d/a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RI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昇圧薬</a:t>
                      </a:r>
                      <a:r>
                        <a:rPr kumimoji="1" lang="en-US" altLang="ja-JP" sz="2400" dirty="0">
                          <a:latin typeface="+mj-ea"/>
                          <a:ea typeface="+mj-ea"/>
                        </a:rPr>
                        <a:t>(</a:t>
                      </a:r>
                      <a:r>
                        <a:rPr kumimoji="1" lang="en-US" altLang="ja-JP" sz="2400" dirty="0" err="1">
                          <a:latin typeface="+mj-ea"/>
                          <a:ea typeface="+mj-ea"/>
                        </a:rPr>
                        <a:t>ATⅡ</a:t>
                      </a:r>
                      <a:r>
                        <a:rPr kumimoji="1" lang="en-US" altLang="ja-JP" sz="2400" dirty="0">
                          <a:latin typeface="+mj-ea"/>
                          <a:ea typeface="+mj-ea"/>
                        </a:rPr>
                        <a:t>)</a:t>
                      </a:r>
                      <a:r>
                        <a:rPr kumimoji="1" lang="ja-JP" altLang="en-US" sz="2400">
                          <a:latin typeface="+mj-ea"/>
                          <a:ea typeface="+mj-ea"/>
                        </a:rPr>
                        <a:t>への反応</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p>
                  </a:txBody>
                  <a:tcPr/>
                </a:tc>
                <a:extLst>
                  <a:ext uri="{0D108BD9-81ED-4DB2-BD59-A6C34878D82A}">
                    <a16:rowId xmlns:a16="http://schemas.microsoft.com/office/drawing/2014/main" val="284507999"/>
                  </a:ext>
                </a:extLst>
              </a:tr>
              <a:tr h="533276">
                <a:tc>
                  <a:txBody>
                    <a:bodyPr/>
                    <a:lstStyle/>
                    <a:p>
                      <a:pPr>
                        <a:lnSpc>
                          <a:spcPct val="150000"/>
                        </a:lnSpc>
                      </a:pPr>
                      <a:r>
                        <a:rPr kumimoji="1" lang="ja-JP" altLang="en-US" sz="2400">
                          <a:latin typeface="+mj-ea"/>
                          <a:ea typeface="+mj-ea"/>
                        </a:rPr>
                        <a:t>降圧薬</a:t>
                      </a:r>
                      <a:r>
                        <a:rPr kumimoji="1" lang="en-US" altLang="ja-JP" sz="2400" dirty="0">
                          <a:latin typeface="+mj-ea"/>
                          <a:ea typeface="+mj-ea"/>
                        </a:rPr>
                        <a:t>(GTN)</a:t>
                      </a:r>
                      <a:r>
                        <a:rPr kumimoji="1" lang="ja-JP" altLang="en-US" sz="2400">
                          <a:latin typeface="+mj-ea"/>
                          <a:ea typeface="+mj-ea"/>
                        </a:rPr>
                        <a:t>への反応</a:t>
                      </a:r>
                    </a:p>
                  </a:txBody>
                  <a:tcPr/>
                </a:tc>
                <a:tc>
                  <a:txBody>
                    <a:bodyPr/>
                    <a:lstStyle/>
                    <a:p>
                      <a:pPr>
                        <a:lnSpc>
                          <a:spcPct val="150000"/>
                        </a:lnSpc>
                      </a:pP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○（上昇）</a:t>
                      </a:r>
                    </a:p>
                  </a:txBody>
                  <a:tcPr/>
                </a:tc>
                <a:extLst>
                  <a:ext uri="{0D108BD9-81ED-4DB2-BD59-A6C34878D82A}">
                    <a16:rowId xmlns:a16="http://schemas.microsoft.com/office/drawing/2014/main" val="4154383642"/>
                  </a:ext>
                </a:extLst>
              </a:tr>
              <a:tr h="1244310">
                <a:tc>
                  <a:txBody>
                    <a:bodyPr/>
                    <a:lstStyle/>
                    <a:p>
                      <a:pPr>
                        <a:lnSpc>
                          <a:spcPct val="150000"/>
                        </a:lnSpc>
                      </a:pPr>
                      <a:r>
                        <a:rPr kumimoji="1" lang="ja-JP" altLang="en-US" sz="2400">
                          <a:latin typeface="+mj-ea"/>
                          <a:ea typeface="+mj-ea"/>
                        </a:rPr>
                        <a:t>術中の変化</a:t>
                      </a:r>
                    </a:p>
                  </a:txBody>
                  <a:tcPr/>
                </a:tc>
                <a:tc>
                  <a:txBody>
                    <a:bodyPr/>
                    <a:lstStyle/>
                    <a:p>
                      <a:pPr>
                        <a:lnSpc>
                          <a:spcPct val="150000"/>
                        </a:lnSpc>
                      </a:pPr>
                      <a:r>
                        <a:rPr kumimoji="1" lang="ja-JP" altLang="en-US" sz="2400">
                          <a:latin typeface="+mj-ea"/>
                          <a:ea typeface="+mj-ea"/>
                        </a:rPr>
                        <a:t>挿管時高血圧で低下</a:t>
                      </a:r>
                    </a:p>
                  </a:txBody>
                  <a:tcPr/>
                </a:tc>
                <a:tc>
                  <a:txBody>
                    <a:bodyPr/>
                    <a:lstStyle/>
                    <a:p>
                      <a:pPr>
                        <a:lnSpc>
                          <a:spcPct val="150000"/>
                        </a:lnSpc>
                      </a:pPr>
                      <a:r>
                        <a:rPr kumimoji="1" lang="ja-JP" altLang="en-US" sz="2400">
                          <a:latin typeface="+mj-ea"/>
                          <a:ea typeface="+mj-ea"/>
                        </a:rPr>
                        <a:t>麻酔中の低血圧検出</a:t>
                      </a:r>
                      <a:endParaRPr kumimoji="1" lang="en-US" altLang="ja-JP" sz="2400" dirty="0">
                        <a:latin typeface="+mj-ea"/>
                        <a:ea typeface="+mj-ea"/>
                      </a:endParaRPr>
                    </a:p>
                    <a:p>
                      <a:pPr>
                        <a:lnSpc>
                          <a:spcPct val="150000"/>
                        </a:lnSpc>
                      </a:pPr>
                      <a:r>
                        <a:rPr kumimoji="1" lang="ja-JP" altLang="en-US" sz="2400">
                          <a:latin typeface="+mj-ea"/>
                          <a:ea typeface="+mj-ea"/>
                        </a:rPr>
                        <a:t>血管収縮薬に反応</a:t>
                      </a:r>
                      <a:endParaRPr kumimoji="1" lang="en-US" altLang="ja-JP" sz="2400" dirty="0">
                        <a:latin typeface="+mj-ea"/>
                        <a:ea typeface="+mj-ea"/>
                      </a:endParaRPr>
                    </a:p>
                    <a:p>
                      <a:pPr>
                        <a:lnSpc>
                          <a:spcPct val="150000"/>
                        </a:lnSpc>
                      </a:pPr>
                      <a:r>
                        <a:rPr kumimoji="1" lang="ja-JP" altLang="en-US" sz="1600">
                          <a:latin typeface="+mj-ea"/>
                          <a:ea typeface="+mj-ea"/>
                        </a:rPr>
                        <a:t>（厳密には重複切痕</a:t>
                      </a:r>
                      <a:r>
                        <a:rPr kumimoji="1" lang="en-US" altLang="ja-JP" sz="1600" dirty="0">
                          <a:latin typeface="+mj-ea"/>
                          <a:ea typeface="+mj-ea"/>
                        </a:rPr>
                        <a:t>/</a:t>
                      </a:r>
                      <a:r>
                        <a:rPr kumimoji="1" lang="ja-JP" altLang="en-US" sz="1600">
                          <a:latin typeface="+mj-ea"/>
                          <a:ea typeface="+mj-ea"/>
                        </a:rPr>
                        <a:t>前進波ピーク）</a:t>
                      </a:r>
                    </a:p>
                  </a:txBody>
                  <a:tcPr/>
                </a:tc>
                <a:extLst>
                  <a:ext uri="{0D108BD9-81ED-4DB2-BD59-A6C34878D82A}">
                    <a16:rowId xmlns:a16="http://schemas.microsoft.com/office/drawing/2014/main" val="1477270729"/>
                  </a:ext>
                </a:extLst>
              </a:tr>
              <a:tr h="533276">
                <a:tc>
                  <a:txBody>
                    <a:bodyPr/>
                    <a:lstStyle/>
                    <a:p>
                      <a:pPr>
                        <a:lnSpc>
                          <a:spcPct val="150000"/>
                        </a:lnSpc>
                      </a:pPr>
                      <a:r>
                        <a:rPr kumimoji="1" lang="en-US" altLang="ja-JP" sz="2400" dirty="0">
                          <a:latin typeface="+mj-ea"/>
                          <a:ea typeface="+mj-ea"/>
                        </a:rPr>
                        <a:t>SVR</a:t>
                      </a:r>
                      <a:r>
                        <a:rPr kumimoji="1" lang="ja-JP" altLang="en-US" sz="2400">
                          <a:latin typeface="+mj-ea"/>
                          <a:ea typeface="+mj-ea"/>
                        </a:rPr>
                        <a:t>との比較</a:t>
                      </a:r>
                    </a:p>
                  </a:txBody>
                  <a:tcPr/>
                </a:tc>
                <a:tc>
                  <a:txBody>
                    <a:bodyPr/>
                    <a:lstStyle/>
                    <a:p>
                      <a:pPr>
                        <a:lnSpc>
                          <a:spcPct val="150000"/>
                        </a:lnSpc>
                      </a:pPr>
                      <a:r>
                        <a:rPr kumimoji="1" lang="ja-JP" altLang="en-US" sz="2400">
                          <a:latin typeface="+mj-ea"/>
                          <a:ea typeface="+mj-ea"/>
                        </a:rPr>
                        <a:t>なし</a:t>
                      </a:r>
                    </a:p>
                  </a:txBody>
                  <a:tcPr/>
                </a:tc>
                <a:tc>
                  <a:txBody>
                    <a:bodyPr/>
                    <a:lstStyle/>
                    <a:p>
                      <a:pPr>
                        <a:lnSpc>
                          <a:spcPct val="150000"/>
                        </a:lnSpc>
                      </a:pPr>
                      <a:r>
                        <a:rPr kumimoji="1" lang="ja-JP" altLang="en-US" sz="2400">
                          <a:latin typeface="+mj-ea"/>
                          <a:ea typeface="+mj-ea"/>
                        </a:rPr>
                        <a:t>あり（まずまず）</a:t>
                      </a:r>
                    </a:p>
                  </a:txBody>
                  <a:tcPr/>
                </a:tc>
                <a:extLst>
                  <a:ext uri="{0D108BD9-81ED-4DB2-BD59-A6C34878D82A}">
                    <a16:rowId xmlns:a16="http://schemas.microsoft.com/office/drawing/2014/main" val="4185263036"/>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物理的な意味が明白でない</a:t>
                      </a:r>
                    </a:p>
                  </a:txBody>
                  <a:tcPr/>
                </a:tc>
                <a:tc>
                  <a:txBody>
                    <a:bodyPr/>
                    <a:lstStyle/>
                    <a:p>
                      <a:pPr>
                        <a:lnSpc>
                          <a:spcPct val="150000"/>
                        </a:lnSpc>
                      </a:pPr>
                      <a:r>
                        <a:rPr kumimoji="1" lang="en-US" altLang="ja-JP" sz="2400" dirty="0">
                          <a:latin typeface="+mj-ea"/>
                          <a:ea typeface="+mj-ea"/>
                        </a:rPr>
                        <a:t>HR</a:t>
                      </a:r>
                      <a:r>
                        <a:rPr kumimoji="1" lang="ja-JP" altLang="en-US" sz="2400">
                          <a:latin typeface="+mj-ea"/>
                          <a:ea typeface="+mj-ea"/>
                        </a:rPr>
                        <a:t>との交絡がある</a:t>
                      </a:r>
                    </a:p>
                  </a:txBody>
                  <a:tcPr/>
                </a:tc>
                <a:extLst>
                  <a:ext uri="{0D108BD9-81ED-4DB2-BD59-A6C34878D82A}">
                    <a16:rowId xmlns:a16="http://schemas.microsoft.com/office/drawing/2014/main" val="2897397817"/>
                  </a:ext>
                </a:extLst>
              </a:tr>
            </a:tbl>
          </a:graphicData>
        </a:graphic>
      </p:graphicFrame>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12. Millasseau 2003　／　18. Md Lazim 2020　／　21. Coutrot 2019　／　24. Takazawa 1998　／　30. Kohjitani 2012</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37/55</a:t>
            </a:r>
          </a:p>
        </p:txBody>
      </p:sp>
    </p:spTree>
    <p:extLst>
      <p:ext uri="{BB962C8B-B14F-4D97-AF65-F5344CB8AC3E}">
        <p14:creationId xmlns:p14="http://schemas.microsoft.com/office/powerpoint/2010/main" val="35206919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CBD4D-727E-4E00-27F1-04E703BE3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968E8-3D82-6A35-6165-1D53AB28225B}"/>
              </a:ext>
            </a:extLst>
          </p:cNvPr>
          <p:cNvSpPr>
            <a:spLocks noGrp="1"/>
          </p:cNvSpPr>
          <p:nvPr>
            <p:ph type="title"/>
          </p:nvPr>
        </p:nvSpPr>
        <p:spPr/>
        <p:txBody>
          <a:bodyPr/>
          <a:lstStyle/>
          <a:p>
            <a:pPr algn="l"/>
            <a:r>
              <a:rPr sz="4600" dirty="0">
                <a:latin typeface="Meiryo"/>
                <a:ea typeface="Meiryo"/>
                <a:cs typeface="Meiryo"/>
              </a:rPr>
              <a:t>3.3  d/a と RI</a:t>
            </a:r>
          </a:p>
        </p:txBody>
      </p:sp>
      <p:sp>
        <p:nvSpPr>
          <p:cNvPr id="12" name="Off-page Connector 4">
            <a:extLst>
              <a:ext uri="{FF2B5EF4-FFF2-40B4-BE49-F238E27FC236}">
                <a16:creationId xmlns:a16="http://schemas.microsoft.com/office/drawing/2014/main" id="{BF2A21EE-9438-5337-6E35-B466C338B58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3FBC431C-12CE-1EB2-618E-DC4D3ED05B61}"/>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1C5B16FE-0C40-6E08-3173-F72C1E6570B6}"/>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44716399-2CBF-5A0F-903E-8954F90DF4F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graphicFrame>
        <p:nvGraphicFramePr>
          <p:cNvPr id="5" name="表 4">
            <a:extLst>
              <a:ext uri="{FF2B5EF4-FFF2-40B4-BE49-F238E27FC236}">
                <a16:creationId xmlns:a16="http://schemas.microsoft.com/office/drawing/2014/main" id="{01536987-B580-321E-5A4E-75502F767AD3}"/>
              </a:ext>
            </a:extLst>
          </p:cNvPr>
          <p:cNvGraphicFramePr>
            <a:graphicFrameLocks noGrp="1"/>
          </p:cNvGraphicFramePr>
          <p:nvPr/>
        </p:nvGraphicFramePr>
        <p:xfrm>
          <a:off x="248659" y="1690688"/>
          <a:ext cx="11694681" cy="4495800"/>
        </p:xfrm>
        <a:graphic>
          <a:graphicData uri="http://schemas.openxmlformats.org/drawingml/2006/table">
            <a:tbl>
              <a:tblPr firstRow="1" bandRow="1">
                <a:tableStyleId>{74C1A8A3-306A-4EB7-A6B1-4F7E0EB9C5D6}</a:tableStyleId>
              </a:tblPr>
              <a:tblGrid>
                <a:gridCol w="3678572">
                  <a:extLst>
                    <a:ext uri="{9D8B030D-6E8A-4147-A177-3AD203B41FA5}">
                      <a16:colId xmlns:a16="http://schemas.microsoft.com/office/drawing/2014/main" val="1747660977"/>
                    </a:ext>
                  </a:extLst>
                </a:gridCol>
                <a:gridCol w="4117882">
                  <a:extLst>
                    <a:ext uri="{9D8B030D-6E8A-4147-A177-3AD203B41FA5}">
                      <a16:colId xmlns:a16="http://schemas.microsoft.com/office/drawing/2014/main" val="3064939031"/>
                    </a:ext>
                  </a:extLst>
                </a:gridCol>
                <a:gridCol w="3898227">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d/a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RI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昇圧薬</a:t>
                      </a:r>
                      <a:r>
                        <a:rPr kumimoji="1" lang="en-US" altLang="ja-JP" sz="2400" dirty="0">
                          <a:latin typeface="+mj-ea"/>
                          <a:ea typeface="+mj-ea"/>
                        </a:rPr>
                        <a:t>(</a:t>
                      </a:r>
                      <a:r>
                        <a:rPr kumimoji="1" lang="en-US" altLang="ja-JP" sz="2400" dirty="0" err="1">
                          <a:latin typeface="+mj-ea"/>
                          <a:ea typeface="+mj-ea"/>
                        </a:rPr>
                        <a:t>ATⅡ</a:t>
                      </a:r>
                      <a:r>
                        <a:rPr kumimoji="1" lang="en-US" altLang="ja-JP" sz="2400" dirty="0">
                          <a:latin typeface="+mj-ea"/>
                          <a:ea typeface="+mj-ea"/>
                        </a:rPr>
                        <a:t>)</a:t>
                      </a:r>
                      <a:r>
                        <a:rPr kumimoji="1" lang="ja-JP" altLang="en-US" sz="2400">
                          <a:latin typeface="+mj-ea"/>
                          <a:ea typeface="+mj-ea"/>
                        </a:rPr>
                        <a:t>への反応</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p>
                  </a:txBody>
                  <a:tcPr/>
                </a:tc>
                <a:extLst>
                  <a:ext uri="{0D108BD9-81ED-4DB2-BD59-A6C34878D82A}">
                    <a16:rowId xmlns:a16="http://schemas.microsoft.com/office/drawing/2014/main" val="284507999"/>
                  </a:ext>
                </a:extLst>
              </a:tr>
              <a:tr h="533276">
                <a:tc>
                  <a:txBody>
                    <a:bodyPr/>
                    <a:lstStyle/>
                    <a:p>
                      <a:pPr>
                        <a:lnSpc>
                          <a:spcPct val="150000"/>
                        </a:lnSpc>
                      </a:pPr>
                      <a:r>
                        <a:rPr kumimoji="1" lang="ja-JP" altLang="en-US" sz="2400">
                          <a:latin typeface="+mj-ea"/>
                          <a:ea typeface="+mj-ea"/>
                        </a:rPr>
                        <a:t>降圧薬</a:t>
                      </a:r>
                      <a:r>
                        <a:rPr kumimoji="1" lang="en-US" altLang="ja-JP" sz="2400" dirty="0">
                          <a:latin typeface="+mj-ea"/>
                          <a:ea typeface="+mj-ea"/>
                        </a:rPr>
                        <a:t>(GTN)</a:t>
                      </a:r>
                      <a:r>
                        <a:rPr kumimoji="1" lang="ja-JP" altLang="en-US" sz="2400">
                          <a:latin typeface="+mj-ea"/>
                          <a:ea typeface="+mj-ea"/>
                        </a:rPr>
                        <a:t>への反応</a:t>
                      </a:r>
                    </a:p>
                  </a:txBody>
                  <a:tcPr/>
                </a:tc>
                <a:tc>
                  <a:txBody>
                    <a:bodyPr/>
                    <a:lstStyle/>
                    <a:p>
                      <a:pPr>
                        <a:lnSpc>
                          <a:spcPct val="150000"/>
                        </a:lnSpc>
                      </a:pP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○（上昇）</a:t>
                      </a:r>
                    </a:p>
                  </a:txBody>
                  <a:tcPr/>
                </a:tc>
                <a:extLst>
                  <a:ext uri="{0D108BD9-81ED-4DB2-BD59-A6C34878D82A}">
                    <a16:rowId xmlns:a16="http://schemas.microsoft.com/office/drawing/2014/main" val="4154383642"/>
                  </a:ext>
                </a:extLst>
              </a:tr>
              <a:tr h="1244310">
                <a:tc>
                  <a:txBody>
                    <a:bodyPr/>
                    <a:lstStyle/>
                    <a:p>
                      <a:pPr>
                        <a:lnSpc>
                          <a:spcPct val="150000"/>
                        </a:lnSpc>
                      </a:pPr>
                      <a:r>
                        <a:rPr kumimoji="1" lang="ja-JP" altLang="en-US" sz="2400">
                          <a:latin typeface="+mj-ea"/>
                          <a:ea typeface="+mj-ea"/>
                        </a:rPr>
                        <a:t>術中の変化</a:t>
                      </a:r>
                    </a:p>
                  </a:txBody>
                  <a:tcPr/>
                </a:tc>
                <a:tc>
                  <a:txBody>
                    <a:bodyPr/>
                    <a:lstStyle/>
                    <a:p>
                      <a:pPr>
                        <a:lnSpc>
                          <a:spcPct val="150000"/>
                        </a:lnSpc>
                      </a:pPr>
                      <a:r>
                        <a:rPr kumimoji="1" lang="ja-JP" altLang="en-US" sz="2400">
                          <a:latin typeface="+mj-ea"/>
                          <a:ea typeface="+mj-ea"/>
                        </a:rPr>
                        <a:t>挿管時高血圧で低下</a:t>
                      </a:r>
                    </a:p>
                  </a:txBody>
                  <a:tcPr/>
                </a:tc>
                <a:tc>
                  <a:txBody>
                    <a:bodyPr/>
                    <a:lstStyle/>
                    <a:p>
                      <a:pPr>
                        <a:lnSpc>
                          <a:spcPct val="150000"/>
                        </a:lnSpc>
                      </a:pPr>
                      <a:r>
                        <a:rPr kumimoji="1" lang="ja-JP" altLang="en-US" sz="2400">
                          <a:latin typeface="+mj-ea"/>
                          <a:ea typeface="+mj-ea"/>
                        </a:rPr>
                        <a:t>麻酔中の低血圧検出</a:t>
                      </a:r>
                      <a:endParaRPr kumimoji="1" lang="en-US" altLang="ja-JP" sz="2400" dirty="0">
                        <a:latin typeface="+mj-ea"/>
                        <a:ea typeface="+mj-ea"/>
                      </a:endParaRPr>
                    </a:p>
                    <a:p>
                      <a:pPr>
                        <a:lnSpc>
                          <a:spcPct val="150000"/>
                        </a:lnSpc>
                      </a:pPr>
                      <a:r>
                        <a:rPr kumimoji="1" lang="ja-JP" altLang="en-US" sz="2400">
                          <a:latin typeface="+mj-ea"/>
                          <a:ea typeface="+mj-ea"/>
                        </a:rPr>
                        <a:t>血管収縮薬に反応</a:t>
                      </a:r>
                      <a:endParaRPr kumimoji="1" lang="en-US" altLang="ja-JP" sz="2400" dirty="0">
                        <a:latin typeface="+mj-ea"/>
                        <a:ea typeface="+mj-ea"/>
                      </a:endParaRPr>
                    </a:p>
                    <a:p>
                      <a:pPr>
                        <a:lnSpc>
                          <a:spcPct val="150000"/>
                        </a:lnSpc>
                      </a:pPr>
                      <a:r>
                        <a:rPr kumimoji="1" lang="ja-JP" altLang="en-US" sz="1600">
                          <a:latin typeface="+mj-ea"/>
                          <a:ea typeface="+mj-ea"/>
                        </a:rPr>
                        <a:t>（厳密には重複切痕</a:t>
                      </a:r>
                      <a:r>
                        <a:rPr kumimoji="1" lang="en-US" altLang="ja-JP" sz="1600" dirty="0">
                          <a:latin typeface="+mj-ea"/>
                          <a:ea typeface="+mj-ea"/>
                        </a:rPr>
                        <a:t>/</a:t>
                      </a:r>
                      <a:r>
                        <a:rPr kumimoji="1" lang="ja-JP" altLang="en-US" sz="1600">
                          <a:latin typeface="+mj-ea"/>
                          <a:ea typeface="+mj-ea"/>
                        </a:rPr>
                        <a:t>前進波ピーク）</a:t>
                      </a:r>
                    </a:p>
                  </a:txBody>
                  <a:tcPr/>
                </a:tc>
                <a:extLst>
                  <a:ext uri="{0D108BD9-81ED-4DB2-BD59-A6C34878D82A}">
                    <a16:rowId xmlns:a16="http://schemas.microsoft.com/office/drawing/2014/main" val="1477270729"/>
                  </a:ext>
                </a:extLst>
              </a:tr>
              <a:tr h="533276">
                <a:tc>
                  <a:txBody>
                    <a:bodyPr/>
                    <a:lstStyle/>
                    <a:p>
                      <a:pPr>
                        <a:lnSpc>
                          <a:spcPct val="150000"/>
                        </a:lnSpc>
                      </a:pPr>
                      <a:r>
                        <a:rPr kumimoji="1" lang="en-US" altLang="ja-JP" sz="2400" dirty="0">
                          <a:latin typeface="+mj-ea"/>
                          <a:ea typeface="+mj-ea"/>
                        </a:rPr>
                        <a:t>SVR</a:t>
                      </a:r>
                      <a:r>
                        <a:rPr kumimoji="1" lang="ja-JP" altLang="en-US" sz="2400">
                          <a:latin typeface="+mj-ea"/>
                          <a:ea typeface="+mj-ea"/>
                        </a:rPr>
                        <a:t>との比較</a:t>
                      </a:r>
                    </a:p>
                  </a:txBody>
                  <a:tcPr/>
                </a:tc>
                <a:tc>
                  <a:txBody>
                    <a:bodyPr/>
                    <a:lstStyle/>
                    <a:p>
                      <a:pPr>
                        <a:lnSpc>
                          <a:spcPct val="150000"/>
                        </a:lnSpc>
                      </a:pPr>
                      <a:r>
                        <a:rPr kumimoji="1" lang="ja-JP" altLang="en-US" sz="2400">
                          <a:latin typeface="+mj-ea"/>
                          <a:ea typeface="+mj-ea"/>
                        </a:rPr>
                        <a:t>なし</a:t>
                      </a:r>
                    </a:p>
                  </a:txBody>
                  <a:tcPr/>
                </a:tc>
                <a:tc>
                  <a:txBody>
                    <a:bodyPr/>
                    <a:lstStyle/>
                    <a:p>
                      <a:pPr>
                        <a:lnSpc>
                          <a:spcPct val="150000"/>
                        </a:lnSpc>
                      </a:pPr>
                      <a:r>
                        <a:rPr kumimoji="1" lang="ja-JP" altLang="en-US" sz="2400">
                          <a:latin typeface="+mj-ea"/>
                          <a:ea typeface="+mj-ea"/>
                        </a:rPr>
                        <a:t>あり（まずまず）</a:t>
                      </a:r>
                    </a:p>
                  </a:txBody>
                  <a:tcPr/>
                </a:tc>
                <a:extLst>
                  <a:ext uri="{0D108BD9-81ED-4DB2-BD59-A6C34878D82A}">
                    <a16:rowId xmlns:a16="http://schemas.microsoft.com/office/drawing/2014/main" val="4185263036"/>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物理的な意味が明白でない</a:t>
                      </a:r>
                    </a:p>
                  </a:txBody>
                  <a:tcPr/>
                </a:tc>
                <a:tc>
                  <a:txBody>
                    <a:bodyPr/>
                    <a:lstStyle/>
                    <a:p>
                      <a:pPr>
                        <a:lnSpc>
                          <a:spcPct val="150000"/>
                        </a:lnSpc>
                      </a:pPr>
                      <a:r>
                        <a:rPr kumimoji="1" lang="en-US" altLang="ja-JP" sz="2400" dirty="0">
                          <a:latin typeface="+mj-ea"/>
                          <a:ea typeface="+mj-ea"/>
                        </a:rPr>
                        <a:t>HR</a:t>
                      </a:r>
                      <a:r>
                        <a:rPr kumimoji="1" lang="ja-JP" altLang="en-US" sz="2400">
                          <a:latin typeface="+mj-ea"/>
                          <a:ea typeface="+mj-ea"/>
                        </a:rPr>
                        <a:t>との交絡がある</a:t>
                      </a:r>
                    </a:p>
                  </a:txBody>
                  <a:tcPr/>
                </a:tc>
                <a:extLst>
                  <a:ext uri="{0D108BD9-81ED-4DB2-BD59-A6C34878D82A}">
                    <a16:rowId xmlns:a16="http://schemas.microsoft.com/office/drawing/2014/main" val="2897397817"/>
                  </a:ext>
                </a:extLst>
              </a:tr>
            </a:tbl>
          </a:graphicData>
        </a:graphic>
      </p:graphicFrame>
      <p:sp>
        <p:nvSpPr>
          <p:cNvPr id="17" name="Source">
            <a:extLst>
              <a:ext uri="{FF2B5EF4-FFF2-40B4-BE49-F238E27FC236}">
                <a16:creationId xmlns:a16="http://schemas.microsoft.com/office/drawing/2014/main" id="{1CBC7279-5768-DF14-495E-AF7948B34689}"/>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12. Millasseau 2003　／　18. Md Lazim 2020　／　21. Coutrot 2019　／　24. Takazawa 1998　／　30. Kohjitani 2012</a:t>
            </a:r>
          </a:p>
        </p:txBody>
      </p:sp>
      <p:sp>
        <p:nvSpPr>
          <p:cNvPr id="18" name="PageNo">
            <a:extLst>
              <a:ext uri="{FF2B5EF4-FFF2-40B4-BE49-F238E27FC236}">
                <a16:creationId xmlns:a16="http://schemas.microsoft.com/office/drawing/2014/main" id="{27F77403-9685-5E7C-27C4-B4DBF94705C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37/55</a:t>
            </a:r>
          </a:p>
        </p:txBody>
      </p:sp>
      <p:sp>
        <p:nvSpPr>
          <p:cNvPr id="3" name="Rounded Rectangle 49">
            <a:extLst>
              <a:ext uri="{FF2B5EF4-FFF2-40B4-BE49-F238E27FC236}">
                <a16:creationId xmlns:a16="http://schemas.microsoft.com/office/drawing/2014/main" id="{61FE4FAC-B7F3-AD30-5B94-C997111BE8AB}"/>
              </a:ext>
            </a:extLst>
          </p:cNvPr>
          <p:cNvSpPr/>
          <p:nvPr/>
        </p:nvSpPr>
        <p:spPr>
          <a:xfrm>
            <a:off x="472439" y="3429000"/>
            <a:ext cx="11247120" cy="7772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3200" b="1">
                <a:solidFill>
                  <a:schemeClr val="tx1"/>
                </a:solidFill>
                <a:latin typeface="+mj-ea"/>
                <a:ea typeface="+mj-ea"/>
              </a:rPr>
              <a:t>末梢血管トーヌスの指標としては</a:t>
            </a:r>
            <a:r>
              <a:rPr lang="en-US" altLang="ja-JP" sz="3200" b="1" dirty="0">
                <a:solidFill>
                  <a:schemeClr val="tx1"/>
                </a:solidFill>
                <a:latin typeface="+mj-ea"/>
                <a:ea typeface="+mj-ea"/>
              </a:rPr>
              <a:t>RI</a:t>
            </a:r>
            <a:r>
              <a:rPr lang="ja-JP" altLang="en-US" sz="3200" b="1">
                <a:solidFill>
                  <a:schemeClr val="tx1"/>
                </a:solidFill>
                <a:latin typeface="+mj-ea"/>
                <a:ea typeface="+mj-ea"/>
              </a:rPr>
              <a:t>が有利</a:t>
            </a:r>
            <a:endParaRPr sz="3200" b="1" dirty="0">
              <a:solidFill>
                <a:schemeClr val="tx1"/>
              </a:solidFill>
              <a:latin typeface="+mj-ea"/>
              <a:ea typeface="+mj-ea"/>
            </a:endParaRPr>
          </a:p>
        </p:txBody>
      </p:sp>
    </p:spTree>
    <p:extLst>
      <p:ext uri="{BB962C8B-B14F-4D97-AF65-F5344CB8AC3E}">
        <p14:creationId xmlns:p14="http://schemas.microsoft.com/office/powerpoint/2010/main" val="39428572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83AA6-895A-DE94-FE9D-DE65225C9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9DB9C-CAED-236C-06FC-5283A9213EA6}"/>
              </a:ext>
            </a:extLst>
          </p:cNvPr>
          <p:cNvSpPr>
            <a:spLocks noGrp="1"/>
          </p:cNvSpPr>
          <p:nvPr>
            <p:ph type="title"/>
          </p:nvPr>
        </p:nvSpPr>
        <p:spPr/>
        <p:txBody>
          <a:bodyPr>
            <a:normAutofit/>
          </a:bodyPr>
          <a:lstStyle/>
          <a:p>
            <a:pPr algn="l"/>
            <a:r>
              <a:rPr sz="4600" dirty="0">
                <a:latin typeface="Meiryo"/>
                <a:ea typeface="Meiryo"/>
                <a:cs typeface="Meiryo"/>
              </a:rPr>
              <a:t>3.4  定量化指標まとめ</a:t>
            </a:r>
          </a:p>
        </p:txBody>
      </p:sp>
      <p:sp>
        <p:nvSpPr>
          <p:cNvPr id="13" name="Off-page Connector 4">
            <a:extLst>
              <a:ext uri="{FF2B5EF4-FFF2-40B4-BE49-F238E27FC236}">
                <a16:creationId xmlns:a16="http://schemas.microsoft.com/office/drawing/2014/main" id="{149917C2-2B39-F4AB-4E06-D7C300EFAA18}"/>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BEE701F9-5341-1992-5F64-95AB392C2A3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7173B31B-3338-1D75-4D66-BC9CCE911001}"/>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lnSpc>
                <a:spcPct val="100000"/>
              </a:lnSpc>
              <a:spcBef>
                <a:spcPts val="100"/>
              </a:spcBef>
            </a:pP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DC845168-E5E9-3AAF-39FA-385B0163339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lnSpc>
                <a:spcPct val="100000"/>
              </a:lnSpc>
              <a:spcBef>
                <a:spcPts val="100"/>
              </a:spcBef>
            </a:pPr>
            <a:r>
              <a:rPr sz="1050" b="1">
                <a:solidFill>
                  <a:srgbClr val="808080"/>
                </a:solidFill>
                <a:latin typeface="Meiryo"/>
                <a:ea typeface="Meiryo"/>
                <a:cs typeface="Meiryo"/>
              </a:rPr>
              <a:t>提案</a:t>
            </a:r>
          </a:p>
        </p:txBody>
      </p:sp>
      <p:sp>
        <p:nvSpPr>
          <p:cNvPr id="540" name="lbg">
            <a:extLst>
              <a:ext uri="{FF2B5EF4-FFF2-40B4-BE49-F238E27FC236}">
                <a16:creationId xmlns:a16="http://schemas.microsoft.com/office/drawing/2014/main" id="{76739A53-E56E-45CC-3F22-5C7909DBDAB3}"/>
              </a:ext>
            </a:extLst>
          </p:cNvPr>
          <p:cNvSpPr/>
          <p:nvPr/>
        </p:nvSpPr>
        <p:spPr>
          <a:xfrm>
            <a:off x="1544025" y="1976839"/>
            <a:ext cx="4284000" cy="2784951"/>
          </a:xfrm>
          <a:prstGeom prst="roundRect">
            <a:avLst>
              <a:gd name="adj" fmla="val 6000"/>
            </a:avLst>
          </a:prstGeom>
          <a:solidFill>
            <a:srgbClr val="EAF0F8"/>
          </a:solidFill>
          <a:ln w="19050">
            <a:solidFill>
              <a:srgbClr val="2E5395"/>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1" name="ltitle">
            <a:extLst>
              <a:ext uri="{FF2B5EF4-FFF2-40B4-BE49-F238E27FC236}">
                <a16:creationId xmlns:a16="http://schemas.microsoft.com/office/drawing/2014/main" id="{42763D8D-96D8-C2E6-41FC-AA22D953D18C}"/>
              </a:ext>
            </a:extLst>
          </p:cNvPr>
          <p:cNvSpPr txBox="1"/>
          <p:nvPr/>
        </p:nvSpPr>
        <p:spPr>
          <a:xfrm>
            <a:off x="1715018" y="2311605"/>
            <a:ext cx="3942015" cy="357746"/>
          </a:xfrm>
          <a:prstGeom prst="rect">
            <a:avLst/>
          </a:prstGeom>
          <a:noFill/>
        </p:spPr>
        <p:txBody>
          <a:bodyPr wrap="square" lIns="0" tIns="0" rIns="0" bIns="0" anchor="t">
            <a:noAutofit/>
          </a:bodyPr>
          <a:lstStyle/>
          <a:p>
            <a:pPr algn="ctr"/>
            <a:r>
              <a:rPr lang="ja-JP" altLang="en-US" sz="2400" b="1" dirty="0">
                <a:solidFill>
                  <a:srgbClr val="2E5395"/>
                </a:solidFill>
                <a:latin typeface="Meiryo"/>
                <a:ea typeface="Meiryo"/>
                <a:cs typeface="Meiryo"/>
              </a:rPr>
              <a:t>慢性</a:t>
            </a:r>
            <a:r>
              <a:rPr lang="ja-JP" altLang="en-US" sz="2400" b="1">
                <a:solidFill>
                  <a:srgbClr val="2E5395"/>
                </a:solidFill>
                <a:latin typeface="Meiryo"/>
                <a:ea typeface="Meiryo"/>
                <a:cs typeface="Meiryo"/>
              </a:rPr>
              <a:t>変化＝スティフネス軸</a:t>
            </a:r>
            <a:endParaRPr lang="ja-JP" altLang="en-US" sz="2400" b="1" dirty="0">
              <a:solidFill>
                <a:srgbClr val="2E5395"/>
              </a:solidFill>
              <a:latin typeface="Meiryo"/>
              <a:ea typeface="Meiryo"/>
              <a:cs typeface="Meiryo"/>
            </a:endParaRPr>
          </a:p>
        </p:txBody>
      </p:sp>
      <p:sp>
        <p:nvSpPr>
          <p:cNvPr id="543" name="lbul">
            <a:extLst>
              <a:ext uri="{FF2B5EF4-FFF2-40B4-BE49-F238E27FC236}">
                <a16:creationId xmlns:a16="http://schemas.microsoft.com/office/drawing/2014/main" id="{58737256-E75F-EF1C-057C-9C815B422AEE}"/>
              </a:ext>
            </a:extLst>
          </p:cNvPr>
          <p:cNvSpPr txBox="1"/>
          <p:nvPr/>
        </p:nvSpPr>
        <p:spPr>
          <a:xfrm>
            <a:off x="1972106" y="3102386"/>
            <a:ext cx="3427839" cy="1422000"/>
          </a:xfrm>
          <a:prstGeom prst="rect">
            <a:avLst/>
          </a:prstGeom>
          <a:noFill/>
        </p:spPr>
        <p:txBody>
          <a:bodyPr wrap="square" lIns="0" tIns="0" rIns="0" bIns="0" anchor="t">
            <a:noAutofit/>
          </a:bodyPr>
          <a:lstStyle/>
          <a:p>
            <a:pPr algn="l"/>
            <a:r>
              <a:rPr lang="ja-JP" altLang="en-US" sz="2000" b="1">
                <a:solidFill>
                  <a:srgbClr val="262626"/>
                </a:solidFill>
                <a:latin typeface="Meiryo"/>
                <a:ea typeface="Meiryo"/>
                <a:cs typeface="Meiryo"/>
              </a:rPr>
              <a:t>・切痕の平滑さ</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pPr algn="l"/>
            <a:r>
              <a:rPr lang="ja-JP" altLang="en-US" sz="2000" b="1">
                <a:solidFill>
                  <a:srgbClr val="262626"/>
                </a:solidFill>
                <a:latin typeface="Meiryo"/>
                <a:ea typeface="Meiryo"/>
                <a:cs typeface="Meiryo"/>
              </a:rPr>
              <a:t>・SI</a:t>
            </a:r>
            <a:br>
              <a:rPr lang="ja-JP" altLang="en-US" sz="2000" b="1">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加齢指数 AGI</a:t>
            </a:r>
          </a:p>
        </p:txBody>
      </p:sp>
      <p:sp>
        <p:nvSpPr>
          <p:cNvPr id="544" name="rbg">
            <a:extLst>
              <a:ext uri="{FF2B5EF4-FFF2-40B4-BE49-F238E27FC236}">
                <a16:creationId xmlns:a16="http://schemas.microsoft.com/office/drawing/2014/main" id="{14F6B24A-8BEA-9492-6857-9FC82B9DAD79}"/>
              </a:ext>
            </a:extLst>
          </p:cNvPr>
          <p:cNvSpPr/>
          <p:nvPr/>
        </p:nvSpPr>
        <p:spPr>
          <a:xfrm>
            <a:off x="6339971" y="1976839"/>
            <a:ext cx="4284000" cy="2784951"/>
          </a:xfrm>
          <a:prstGeom prst="roundRect">
            <a:avLst>
              <a:gd name="adj" fmla="val 6000"/>
            </a:avLst>
          </a:prstGeom>
          <a:solidFill>
            <a:srgbClr val="FDF0E6"/>
          </a:solidFill>
          <a:ln w="19050">
            <a:solidFill>
              <a:srgbClr val="C55A11"/>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5" name="rtitle">
            <a:extLst>
              <a:ext uri="{FF2B5EF4-FFF2-40B4-BE49-F238E27FC236}">
                <a16:creationId xmlns:a16="http://schemas.microsoft.com/office/drawing/2014/main" id="{777326C6-04E1-8C1C-9B02-14BFBD5F1F72}"/>
              </a:ext>
            </a:extLst>
          </p:cNvPr>
          <p:cNvSpPr txBox="1"/>
          <p:nvPr/>
        </p:nvSpPr>
        <p:spPr>
          <a:xfrm>
            <a:off x="6510964" y="2311605"/>
            <a:ext cx="3942015" cy="357746"/>
          </a:xfrm>
          <a:prstGeom prst="rect">
            <a:avLst/>
          </a:prstGeom>
          <a:noFill/>
        </p:spPr>
        <p:txBody>
          <a:bodyPr wrap="square" lIns="0" tIns="0" rIns="0" bIns="0" anchor="t">
            <a:normAutofit lnSpcReduction="10000"/>
          </a:bodyPr>
          <a:lstStyle/>
          <a:p>
            <a:pPr algn="ctr"/>
            <a:r>
              <a:rPr lang="ja-JP" altLang="en-US" sz="2400" b="1" dirty="0">
                <a:solidFill>
                  <a:srgbClr val="C55A11"/>
                </a:solidFill>
                <a:latin typeface="Meiryo"/>
                <a:ea typeface="Meiryo"/>
                <a:cs typeface="Meiryo"/>
              </a:rPr>
              <a:t>急性変化＝血管トーヌス軸</a:t>
            </a:r>
          </a:p>
        </p:txBody>
      </p:sp>
      <p:sp>
        <p:nvSpPr>
          <p:cNvPr id="547" name="rbul">
            <a:extLst>
              <a:ext uri="{FF2B5EF4-FFF2-40B4-BE49-F238E27FC236}">
                <a16:creationId xmlns:a16="http://schemas.microsoft.com/office/drawing/2014/main" id="{E870DC5E-CBA4-5443-94C2-1875EAFFE0E8}"/>
              </a:ext>
            </a:extLst>
          </p:cNvPr>
          <p:cNvSpPr txBox="1"/>
          <p:nvPr/>
        </p:nvSpPr>
        <p:spPr>
          <a:xfrm>
            <a:off x="6768052" y="3102386"/>
            <a:ext cx="3427839" cy="1878165"/>
          </a:xfrm>
          <a:prstGeom prst="rect">
            <a:avLst/>
          </a:prstGeom>
          <a:noFill/>
        </p:spPr>
        <p:txBody>
          <a:bodyPr wrap="square" lIns="0" tIns="0" rIns="0" bIns="0" anchor="t">
            <a:normAutofit/>
          </a:bodyPr>
          <a:lstStyle/>
          <a:p>
            <a:pPr algn="l"/>
            <a:r>
              <a:rPr lang="ja-JP" altLang="en-US" sz="2000" b="1" dirty="0">
                <a:solidFill>
                  <a:srgbClr val="262626"/>
                </a:solidFill>
                <a:latin typeface="Meiryo"/>
                <a:ea typeface="Meiryo"/>
                <a:cs typeface="Meiryo"/>
              </a:rPr>
              <a:t>・切痕</a:t>
            </a:r>
            <a:r>
              <a:rPr lang="ja-JP" altLang="en-US" sz="2000" b="1">
                <a:solidFill>
                  <a:srgbClr val="262626"/>
                </a:solidFill>
                <a:latin typeface="Meiryo"/>
                <a:ea typeface="Meiryo"/>
                <a:cs typeface="Meiryo"/>
              </a:rPr>
              <a:t>の位置、反射波高さ</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r>
              <a:rPr lang="ja-JP" altLang="en-US" sz="2000" b="1">
                <a:solidFill>
                  <a:srgbClr val="262626"/>
                </a:solidFill>
                <a:latin typeface="Meiryo"/>
                <a:ea typeface="Meiryo"/>
                <a:cs typeface="Meiryo"/>
              </a:rPr>
              <a:t>・RI</a:t>
            </a:r>
            <a:br>
              <a:rPr lang="ja-JP" altLang="en-US" sz="2000" b="1" dirty="0">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の d</a:t>
            </a:r>
            <a:r>
              <a:rPr lang="ja-JP" altLang="en-US" sz="2000" b="1">
                <a:solidFill>
                  <a:srgbClr val="262626"/>
                </a:solidFill>
                <a:latin typeface="Meiryo"/>
                <a:ea typeface="Meiryo"/>
                <a:cs typeface="Meiryo"/>
              </a:rPr>
              <a:t>/a</a:t>
            </a:r>
            <a:endParaRPr lang="en-US" altLang="ja-JP" sz="2000" b="1" dirty="0">
              <a:solidFill>
                <a:srgbClr val="262626"/>
              </a:solidFill>
              <a:latin typeface="Meiryo"/>
              <a:ea typeface="Meiryo"/>
              <a:cs typeface="Meiryo"/>
            </a:endParaRPr>
          </a:p>
          <a:p>
            <a:pPr algn="l"/>
            <a:endParaRPr lang="ja-JP" altLang="en-US" sz="2000" b="1" dirty="0">
              <a:solidFill>
                <a:srgbClr val="262626"/>
              </a:solidFill>
              <a:latin typeface="Meiryo"/>
              <a:ea typeface="Meiryo"/>
              <a:cs typeface="Meiryo"/>
            </a:endParaRPr>
          </a:p>
        </p:txBody>
      </p:sp>
      <p:sp>
        <p:nvSpPr>
          <p:cNvPr id="54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24. Takazawa 1998　／　31. Joachim 2021　／　32. Padilla 2009</a:t>
            </a:r>
          </a:p>
        </p:txBody>
      </p:sp>
      <p:sp>
        <p:nvSpPr>
          <p:cNvPr id="55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38/55</a:t>
            </a:r>
          </a:p>
        </p:txBody>
      </p:sp>
      <p:sp>
        <p:nvSpPr>
          <p:cNvPr id="3" name="Rounded Rectangle 49">
            <a:extLst>
              <a:ext uri="{FF2B5EF4-FFF2-40B4-BE49-F238E27FC236}">
                <a16:creationId xmlns:a16="http://schemas.microsoft.com/office/drawing/2014/main" id="{6E083A77-EEA4-2709-889E-EE5C149EAB1E}"/>
              </a:ext>
            </a:extLst>
          </p:cNvPr>
          <p:cNvSpPr/>
          <p:nvPr/>
        </p:nvSpPr>
        <p:spPr>
          <a:xfrm>
            <a:off x="1544025" y="5266702"/>
            <a:ext cx="9079947" cy="6638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r>
              <a:rPr lang="en-US" sz="2400" b="1" dirty="0" err="1">
                <a:solidFill>
                  <a:schemeClr val="tx1"/>
                </a:solidFill>
                <a:latin typeface="Meiryo" panose="020B0604030504040204" pitchFamily="34" charset="-128"/>
                <a:ea typeface="Meiryo" panose="020B0604030504040204" pitchFamily="34" charset="-128"/>
              </a:rPr>
              <a:t>波形が明瞭でSDPPGが不要なら、SDPPG関連指標</a:t>
            </a:r>
            <a:r>
              <a:rPr lang="en-US" sz="2400" b="1" dirty="0">
                <a:solidFill>
                  <a:schemeClr val="tx1"/>
                </a:solidFill>
                <a:latin typeface="Meiryo" panose="020B0604030504040204" pitchFamily="34" charset="-128"/>
                <a:ea typeface="Meiryo" panose="020B0604030504040204" pitchFamily="34" charset="-128"/>
              </a:rPr>
              <a:t> &lt; SI、RI</a:t>
            </a:r>
            <a:endParaRPr sz="2400" b="1"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6107498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4. </a:t>
            </a:r>
            <a:r>
              <a:rPr lang="ja-JP" altLang="en-US" sz="4600">
                <a:latin typeface="Meiryo"/>
                <a:ea typeface="Meiryo"/>
                <a:cs typeface="Meiryo"/>
              </a:rPr>
              <a:t>提案</a:t>
            </a:r>
            <a:endParaRPr sz="4600" dirty="0">
              <a:latin typeface="Meiryo"/>
              <a:ea typeface="Meiryo"/>
              <a:cs typeface="Meiryo"/>
            </a:endParaRPr>
          </a:p>
        </p:txBody>
      </p:sp>
      <p:sp>
        <p:nvSpPr>
          <p:cNvPr id="12" name="Off-page Connector 4"/>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提案</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BF9000"/>
                </a:solidFill>
                <a:latin typeface="Meiryo"/>
                <a:ea typeface="Meiryo"/>
                <a:cs typeface="Meiryo"/>
              </a:rPr>
              <a:t>4. </a:t>
            </a:r>
            <a:r>
              <a:rPr sz="3200" b="1">
                <a:solidFill>
                  <a:srgbClr val="262626"/>
                </a:solidFill>
                <a:latin typeface="Meiryo"/>
                <a:ea typeface="Meiryo"/>
                <a:cs typeface="Meiryo"/>
              </a:rPr>
              <a:t>提案</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4.1 </a:t>
            </a:r>
            <a:r>
              <a:rPr sz="2900" b="0">
                <a:solidFill>
                  <a:srgbClr val="262626"/>
                </a:solidFill>
                <a:latin typeface="Meiryo"/>
                <a:ea typeface="Meiryo"/>
                <a:cs typeface="Meiryo"/>
              </a:rPr>
              <a:t>esCCO の構造</a:t>
            </a:r>
          </a:p>
          <a:p>
            <a:pPr>
              <a:lnSpc>
                <a:spcPct val="145000"/>
              </a:lnSpc>
            </a:pPr>
            <a:r>
              <a:rPr sz="2900" b="1">
                <a:solidFill>
                  <a:srgbClr val="BF9000"/>
                </a:solidFill>
                <a:latin typeface="Meiryo"/>
                <a:ea typeface="Meiryo"/>
                <a:cs typeface="Meiryo"/>
              </a:rPr>
              <a:t>4.2 </a:t>
            </a:r>
            <a:r>
              <a:rPr sz="2900" b="0">
                <a:solidFill>
                  <a:srgbClr val="262626"/>
                </a:solidFill>
                <a:latin typeface="Meiryo"/>
                <a:ea typeface="Meiryo"/>
                <a:cs typeface="Meiryo"/>
              </a:rPr>
              <a:t>誤差と血管抵抗の関係</a:t>
            </a:r>
          </a:p>
          <a:p>
            <a:pPr>
              <a:lnSpc>
                <a:spcPct val="145000"/>
              </a:lnSpc>
            </a:pPr>
            <a:r>
              <a:rPr sz="2900" b="1">
                <a:solidFill>
                  <a:srgbClr val="BF9000"/>
                </a:solidFill>
                <a:latin typeface="Meiryo"/>
                <a:ea typeface="Meiryo"/>
                <a:cs typeface="Meiryo"/>
              </a:rPr>
              <a:t>4.3 </a:t>
            </a:r>
            <a:r>
              <a:rPr sz="2900" b="0">
                <a:solidFill>
                  <a:srgbClr val="262626"/>
                </a:solidFill>
                <a:latin typeface="Meiryo"/>
                <a:ea typeface="Meiryo"/>
                <a:cs typeface="Meiryo"/>
              </a:rPr>
              <a:t>提案：K の補正</a:t>
            </a:r>
          </a:p>
          <a:p>
            <a:pPr>
              <a:lnSpc>
                <a:spcPct val="145000"/>
              </a:lnSpc>
            </a:pPr>
            <a:r>
              <a:rPr sz="2900" b="1">
                <a:solidFill>
                  <a:srgbClr val="BF9000"/>
                </a:solidFill>
                <a:latin typeface="Meiryo"/>
                <a:ea typeface="Meiryo"/>
                <a:cs typeface="Meiryo"/>
              </a:rPr>
              <a:t>4.4 </a:t>
            </a:r>
            <a:r>
              <a:rPr sz="2900" b="0">
                <a:solidFill>
                  <a:srgbClr val="262626"/>
                </a:solidFill>
                <a:latin typeface="Meiryo"/>
                <a:ea typeface="Meiryo"/>
                <a:cs typeface="Meiryo"/>
              </a:rPr>
              <a:t>期待される利点</a:t>
            </a:r>
          </a:p>
          <a:p>
            <a:pPr>
              <a:lnSpc>
                <a:spcPct val="145000"/>
              </a:lnSpc>
            </a:pPr>
            <a:r>
              <a:rPr sz="2900" b="1">
                <a:solidFill>
                  <a:srgbClr val="BF9000"/>
                </a:solidFill>
                <a:latin typeface="Meiryo"/>
                <a:ea typeface="Meiryo"/>
                <a:cs typeface="Meiryo"/>
              </a:rPr>
              <a:t>4.5 </a:t>
            </a:r>
            <a:r>
              <a:rPr sz="2900" b="0">
                <a:solidFill>
                  <a:srgbClr val="262626"/>
                </a:solidFill>
                <a:latin typeface="Meiryo"/>
                <a:ea typeface="Meiryo"/>
                <a:cs typeface="Meiryo"/>
              </a:rPr>
              <a:t>限界と留意点</a:t>
            </a:r>
          </a:p>
          <a:p>
            <a:pPr>
              <a:lnSpc>
                <a:spcPct val="145000"/>
              </a:lnSpc>
            </a:pPr>
            <a:r>
              <a:rPr sz="2900" b="1">
                <a:solidFill>
                  <a:srgbClr val="BF9000"/>
                </a:solidFill>
                <a:latin typeface="Meiryo"/>
                <a:ea typeface="Meiryo"/>
                <a:cs typeface="Meiryo"/>
              </a:rPr>
              <a:t>4.6 </a:t>
            </a:r>
            <a:r>
              <a:rPr sz="2900" b="0">
                <a:solidFill>
                  <a:srgbClr val="262626"/>
                </a:solidFill>
                <a:latin typeface="Meiryo"/>
                <a:ea typeface="Meiryo"/>
                <a:cs typeface="Meiryo"/>
              </a:rPr>
              <a:t>検証設計と反証条件</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39/55</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2" name="Title 1"/>
          <p:cNvSpPr>
            <a:spLocks noGrp="1"/>
          </p:cNvSpPr>
          <p:nvPr>
            <p:ph type="title"/>
          </p:nvPr>
        </p:nvSpPr>
        <p:spPr/>
        <p:txBody>
          <a:bodyPr/>
          <a:lstStyle/>
          <a:p>
            <a:pPr algn="l"/>
            <a:r>
              <a:rPr sz="4600" dirty="0">
                <a:latin typeface="Meiryo"/>
                <a:ea typeface="Meiryo"/>
                <a:cs typeface="Meiryo"/>
              </a:rPr>
              <a:t>参考文献</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1. Allen J. Photoplethysmography and its application in clinical physiological measurement. Physiol Meas 2007;28:R1–39.</a:t>
            </a:r>
          </a:p>
          <a:p>
            <a:pPr algn="l">
              <a:lnSpc>
                <a:spcPct val="115000"/>
              </a:lnSpc>
              <a:spcAft>
                <a:spcPts val="700"/>
              </a:spcAft>
            </a:pPr>
            <a:r>
              <a:rPr sz="1050" b="0">
                <a:solidFill>
                  <a:srgbClr val="262626"/>
                </a:solidFill>
                <a:latin typeface="Meiryo"/>
                <a:ea typeface="Meiryo"/>
                <a:cs typeface="Meiryo"/>
              </a:rPr>
              <a:t>2. Aoyagi T. Pulse oximetry: its invention, theory, and future. J Anesth 2003;17:259–66.</a:t>
            </a:r>
          </a:p>
          <a:p>
            <a:pPr algn="l">
              <a:lnSpc>
                <a:spcPct val="115000"/>
              </a:lnSpc>
              <a:spcAft>
                <a:spcPts val="700"/>
              </a:spcAft>
            </a:pPr>
            <a:r>
              <a:rPr sz="1050" b="0">
                <a:solidFill>
                  <a:srgbClr val="262626"/>
                </a:solidFill>
                <a:latin typeface="Meiryo"/>
                <a:ea typeface="Meiryo"/>
                <a:cs typeface="Meiryo"/>
              </a:rPr>
              <a:t>3. Chan ED, Chan MM, Chan MM. Pulse oximetry: understanding its basic principles facilitates appreciation of its limitations. Respir Med 2013;107:789–99.</a:t>
            </a:r>
          </a:p>
          <a:p>
            <a:pPr algn="l">
              <a:lnSpc>
                <a:spcPct val="115000"/>
              </a:lnSpc>
              <a:spcAft>
                <a:spcPts val="700"/>
              </a:spcAft>
            </a:pPr>
            <a:r>
              <a:rPr sz="1050" b="0">
                <a:solidFill>
                  <a:srgbClr val="262626"/>
                </a:solidFill>
                <a:latin typeface="Meiryo"/>
                <a:ea typeface="Meiryo"/>
                <a:cs typeface="Meiryo"/>
              </a:rPr>
              <a:t>4. Ahmed A, et al. Hemoglobin oxygen saturation discrepancy using various methods in patients with sickle cell vaso-occlusive painful crisis. Eur J Haematol 2005;74:309–14.</a:t>
            </a:r>
          </a:p>
          <a:p>
            <a:pPr algn="l">
              <a:lnSpc>
                <a:spcPct val="115000"/>
              </a:lnSpc>
              <a:spcAft>
                <a:spcPts val="700"/>
              </a:spcAft>
            </a:pPr>
            <a:r>
              <a:rPr sz="1050" b="0">
                <a:solidFill>
                  <a:srgbClr val="262626"/>
                </a:solidFill>
                <a:latin typeface="Meiryo"/>
                <a:ea typeface="Meiryo"/>
                <a:cs typeface="Meiryo"/>
              </a:rPr>
              <a:t>5. Politi MT, et al. The dicrotic notch analyzed by a numerical model. Comput Biol Med 2016;72:54–64.</a:t>
            </a:r>
          </a:p>
          <a:p>
            <a:pPr algn="l">
              <a:lnSpc>
                <a:spcPct val="115000"/>
              </a:lnSpc>
              <a:spcAft>
                <a:spcPts val="700"/>
              </a:spcAft>
            </a:pPr>
            <a:r>
              <a:rPr sz="1050" b="0">
                <a:solidFill>
                  <a:srgbClr val="262626"/>
                </a:solidFill>
                <a:latin typeface="Meiryo"/>
                <a:ea typeface="Meiryo"/>
                <a:cs typeface="Meiryo"/>
              </a:rPr>
              <a:t>6. Millasseau SC, et al. Determination of age-related increases in large artery stiffness by digital pulse contour analysis. Clin Sci (Lond) 2002;103:371–7.</a:t>
            </a:r>
          </a:p>
          <a:p>
            <a:pPr algn="l">
              <a:lnSpc>
                <a:spcPct val="115000"/>
              </a:lnSpc>
              <a:spcAft>
                <a:spcPts val="700"/>
              </a:spcAft>
            </a:pPr>
            <a:r>
              <a:rPr sz="1050" b="0">
                <a:solidFill>
                  <a:srgbClr val="262626"/>
                </a:solidFill>
                <a:latin typeface="Meiryo"/>
                <a:ea typeface="Meiryo"/>
                <a:cs typeface="Meiryo"/>
              </a:rPr>
              <a:t>7. Dawber TR, Thomas HE, McNamara PM. Characteristics of the dicrotic notch of the arterial pulse wave in coronary heart disease. Angiology 1973;24:244–55.</a:t>
            </a:r>
          </a:p>
        </p:txBody>
      </p:sp>
      <p:sp>
        <p:nvSpPr>
          <p:cNvPr id="17" name="TextBox 16"/>
          <p:cNvSpPr txBox="1"/>
          <p:nvPr/>
        </p:nvSpPr>
        <p:spPr>
          <a:xfrm>
            <a:off x="6217920" y="1737360"/>
            <a:ext cx="5440680" cy="474143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8. Cunningham JW, et al. Machine learning to understand genetic and clinical factors associated with the pulse waveform dicrotic notch. Circ Genom Precis Med 2023;16:e003676.</a:t>
            </a:r>
          </a:p>
          <a:p>
            <a:pPr algn="l">
              <a:lnSpc>
                <a:spcPct val="115000"/>
              </a:lnSpc>
              <a:spcAft>
                <a:spcPts val="700"/>
              </a:spcAft>
            </a:pPr>
            <a:r>
              <a:rPr sz="1050" b="0">
                <a:solidFill>
                  <a:srgbClr val="262626"/>
                </a:solidFill>
                <a:latin typeface="Meiryo"/>
                <a:ea typeface="Meiryo"/>
                <a:cs typeface="Meiryo"/>
              </a:rPr>
              <a:t>9. Fry A, et al. Comparison of sociodemographic and health-related characteristics of UK Biobank participants with those of the general population. Am J Epidemiol 2017;186:1026–34.</a:t>
            </a:r>
          </a:p>
          <a:p>
            <a:pPr algn="l">
              <a:lnSpc>
                <a:spcPct val="115000"/>
              </a:lnSpc>
              <a:spcAft>
                <a:spcPts val="700"/>
              </a:spcAft>
            </a:pPr>
            <a:r>
              <a:rPr sz="1050" b="0">
                <a:solidFill>
                  <a:srgbClr val="262626"/>
                </a:solidFill>
                <a:latin typeface="Meiryo"/>
                <a:ea typeface="Meiryo"/>
                <a:cs typeface="Meiryo"/>
              </a:rPr>
              <a:t>10. Alian AA, et al. Impact of central hypovolemia on photoplethysmographic waveform parameters in healthy volunteers. Part 1: time domain analysis. J Clin Monit Comput 2011;25:377–85.</a:t>
            </a:r>
          </a:p>
          <a:p>
            <a:pPr algn="l">
              <a:lnSpc>
                <a:spcPct val="115000"/>
              </a:lnSpc>
              <a:spcAft>
                <a:spcPts val="700"/>
              </a:spcAft>
            </a:pPr>
            <a:r>
              <a:rPr sz="1050" b="0">
                <a:solidFill>
                  <a:srgbClr val="262626"/>
                </a:solidFill>
                <a:latin typeface="Meiryo"/>
                <a:ea typeface="Meiryo"/>
                <a:cs typeface="Meiryo"/>
              </a:rPr>
              <a:t>11. Chowienczyk PJ, et al. Photoplethysmographic assessment of pulse wave reflection: blunted response to endothelium-dependent β2-adrenergic vasodilation in type II diabetes mellitus. J Am Coll Cardiol 1999;34:2007–14.</a:t>
            </a:r>
          </a:p>
          <a:p>
            <a:pPr algn="l">
              <a:lnSpc>
                <a:spcPct val="115000"/>
              </a:lnSpc>
              <a:spcAft>
                <a:spcPts val="700"/>
              </a:spcAft>
            </a:pPr>
            <a:r>
              <a:rPr sz="1050" b="0">
                <a:solidFill>
                  <a:srgbClr val="262626"/>
                </a:solidFill>
                <a:latin typeface="Meiryo"/>
                <a:ea typeface="Meiryo"/>
                <a:cs typeface="Meiryo"/>
              </a:rPr>
              <a:t>12. Millasseau SC, Kelly RP, Ritter JM, Chowienczyk PJ. The vascular impact of aging and vasoactive drugs: comparison of two digital volume pulse measurements. Am J Hypertens 2003;16:467–72.</a:t>
            </a:r>
          </a:p>
          <a:p>
            <a:pPr algn="l">
              <a:lnSpc>
                <a:spcPct val="115000"/>
              </a:lnSpc>
              <a:spcAft>
                <a:spcPts val="700"/>
              </a:spcAft>
            </a:pPr>
            <a:r>
              <a:rPr sz="1050" b="0">
                <a:solidFill>
                  <a:srgbClr val="262626"/>
                </a:solidFill>
                <a:latin typeface="Meiryo"/>
                <a:ea typeface="Meiryo"/>
                <a:cs typeface="Meiryo"/>
              </a:rPr>
              <a:t>13. Pagoulatou S, et al. The effect of left ventricular contractility on arterial hemodynamics: a model-based investigation. PLoS One 2021;16(8):e0255561.</a:t>
            </a:r>
          </a:p>
          <a:p>
            <a:pPr algn="l">
              <a:lnSpc>
                <a:spcPct val="115000"/>
              </a:lnSpc>
              <a:spcAft>
                <a:spcPts val="700"/>
              </a:spcAft>
            </a:pPr>
            <a:r>
              <a:rPr sz="1050" b="0">
                <a:solidFill>
                  <a:srgbClr val="262626"/>
                </a:solidFill>
                <a:latin typeface="Meiryo"/>
                <a:ea typeface="Meiryo"/>
                <a:cs typeface="Meiryo"/>
              </a:rPr>
              <a:t>14. Piccioli F, et al. The effect of cardiac properties on arterial pulse waves: an in-silico study. Int J Numer Method Biomed Eng 2022;38(12):e3658.</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52/55</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2" name="Title 1"/>
          <p:cNvSpPr>
            <a:spLocks noGrp="1"/>
          </p:cNvSpPr>
          <p:nvPr>
            <p:ph type="title"/>
          </p:nvPr>
        </p:nvSpPr>
        <p:spPr/>
        <p:txBody>
          <a:bodyPr/>
          <a:lstStyle/>
          <a:p>
            <a:pPr algn="l"/>
            <a:r>
              <a:rPr sz="4600" dirty="0">
                <a:latin typeface="Meiryo"/>
                <a:ea typeface="Meiryo"/>
                <a:cs typeface="Meiryo"/>
              </a:rPr>
              <a:t>参考文献（2）</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15. Wilkinson IB, et al. The influence of heart rate on augmentation index and central arterial pressure in humans. J Physiol 2000;525:263–70.</a:t>
            </a:r>
          </a:p>
          <a:p>
            <a:pPr algn="l">
              <a:lnSpc>
                <a:spcPct val="115000"/>
              </a:lnSpc>
              <a:spcAft>
                <a:spcPts val="700"/>
              </a:spcAft>
            </a:pPr>
            <a:r>
              <a:rPr sz="1050" b="0">
                <a:solidFill>
                  <a:srgbClr val="262626"/>
                </a:solidFill>
                <a:latin typeface="Meiryo"/>
                <a:ea typeface="Meiryo"/>
                <a:cs typeface="Meiryo"/>
              </a:rPr>
              <a:t>16. Hashimoto J, et al. Pulse wave velocity and the second derivative of the finger photoplethysmogram in treated hypertensive patients. J Hypertens 2002;20:2415–22.</a:t>
            </a:r>
          </a:p>
          <a:p>
            <a:pPr algn="l">
              <a:lnSpc>
                <a:spcPct val="115000"/>
              </a:lnSpc>
              <a:spcAft>
                <a:spcPts val="700"/>
              </a:spcAft>
            </a:pPr>
            <a:r>
              <a:rPr sz="1050" b="0">
                <a:solidFill>
                  <a:srgbClr val="262626"/>
                </a:solidFill>
                <a:latin typeface="Meiryo"/>
                <a:ea typeface="Meiryo"/>
                <a:cs typeface="Meiryo"/>
              </a:rPr>
              <a:t>17. Charlton PH, et al. Modeling arterial pulse waves in healthy aging: a database for in silico evaluation of hemodynamics and pulse wave indexes. Am J Physiol Heart Circ Physiol 2019;317:H1062–85.</a:t>
            </a:r>
          </a:p>
          <a:p>
            <a:pPr algn="l">
              <a:lnSpc>
                <a:spcPct val="115000"/>
              </a:lnSpc>
              <a:spcAft>
                <a:spcPts val="700"/>
              </a:spcAft>
            </a:pPr>
            <a:r>
              <a:rPr sz="1050" b="0">
                <a:solidFill>
                  <a:srgbClr val="262626"/>
                </a:solidFill>
                <a:latin typeface="Meiryo"/>
                <a:ea typeface="Meiryo"/>
                <a:cs typeface="Meiryo"/>
              </a:rPr>
              <a:t>18. Md Lazim MR, et al. Is heart rate a confounding factor for photoplethysmography markers? A systematic review. Int J Environ Res Public Health 2020;17:2591.</a:t>
            </a:r>
          </a:p>
          <a:p>
            <a:pPr algn="l">
              <a:lnSpc>
                <a:spcPct val="115000"/>
              </a:lnSpc>
              <a:spcAft>
                <a:spcPts val="700"/>
              </a:spcAft>
            </a:pPr>
            <a:r>
              <a:rPr sz="1050" b="0">
                <a:solidFill>
                  <a:srgbClr val="262626"/>
                </a:solidFill>
                <a:latin typeface="Meiryo"/>
                <a:ea typeface="Meiryo"/>
                <a:cs typeface="Meiryo"/>
              </a:rPr>
              <a:t>19. Murray WB, Foster PA. The peripheral pulse wave: information overlooked. J Clin Monit 1996;12:365–77.</a:t>
            </a:r>
          </a:p>
          <a:p>
            <a:pPr algn="l">
              <a:lnSpc>
                <a:spcPct val="115000"/>
              </a:lnSpc>
              <a:spcAft>
                <a:spcPts val="700"/>
              </a:spcAft>
            </a:pPr>
            <a:r>
              <a:rPr sz="1050" b="0">
                <a:solidFill>
                  <a:srgbClr val="262626"/>
                </a:solidFill>
                <a:latin typeface="Meiryo"/>
                <a:ea typeface="Meiryo"/>
                <a:cs typeface="Meiryo"/>
              </a:rPr>
              <a:t>20. Tusman G, et al. Photoplethysmographic characterization of vascular tone mediated changes in arterial pressure: an observational study. J Clin Monit Comput 2019;33:815–24.</a:t>
            </a:r>
          </a:p>
          <a:p>
            <a:pPr algn="l">
              <a:lnSpc>
                <a:spcPct val="115000"/>
              </a:lnSpc>
              <a:spcAft>
                <a:spcPts val="700"/>
              </a:spcAft>
            </a:pPr>
            <a:r>
              <a:rPr sz="1050" b="0">
                <a:solidFill>
                  <a:srgbClr val="262626"/>
                </a:solidFill>
                <a:latin typeface="Meiryo"/>
                <a:ea typeface="Meiryo"/>
                <a:cs typeface="Meiryo"/>
              </a:rPr>
              <a:t>21. Coutrot M, et al. Noninvasive continuous detection of arterial hypotension during induction of anaesthesia using a photoplethysmographic signal: proof of concept. Br J Anaesth 2019;122:605–12.</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22. Lee QY, et al. Multivariate classification of systemic vascular resistance using photoplethysmography. Physiol Meas 2011;32:1117–32.</a:t>
            </a:r>
          </a:p>
          <a:p>
            <a:pPr algn="l">
              <a:lnSpc>
                <a:spcPct val="115000"/>
              </a:lnSpc>
              <a:spcAft>
                <a:spcPts val="700"/>
              </a:spcAft>
            </a:pPr>
            <a:r>
              <a:rPr sz="1050" b="0">
                <a:solidFill>
                  <a:srgbClr val="262626"/>
                </a:solidFill>
                <a:latin typeface="Meiryo"/>
                <a:ea typeface="Meiryo"/>
                <a:cs typeface="Meiryo"/>
              </a:rPr>
              <a:t>23. Elgendi M. On the analysis of fingertip photoplethysmogram signals. Curr Cardiol Rev 2012;8:14–25.</a:t>
            </a:r>
          </a:p>
          <a:p>
            <a:pPr algn="l">
              <a:lnSpc>
                <a:spcPct val="115000"/>
              </a:lnSpc>
              <a:spcAft>
                <a:spcPts val="700"/>
              </a:spcAft>
            </a:pPr>
            <a:r>
              <a:rPr sz="1050" b="0">
                <a:solidFill>
                  <a:srgbClr val="262626"/>
                </a:solidFill>
                <a:latin typeface="Meiryo"/>
                <a:ea typeface="Meiryo"/>
                <a:cs typeface="Meiryo"/>
              </a:rPr>
              <a:t>24. Takazawa K, et al. Assessment of vasoactive agents and vascular aging by the second derivative of the photoplethysmogram waveform. Hypertension 1998;32:365–70.</a:t>
            </a:r>
          </a:p>
          <a:p>
            <a:pPr algn="l">
              <a:lnSpc>
                <a:spcPct val="115000"/>
              </a:lnSpc>
              <a:spcAft>
                <a:spcPts val="700"/>
              </a:spcAft>
            </a:pPr>
            <a:r>
              <a:rPr sz="1050" b="0">
                <a:solidFill>
                  <a:srgbClr val="262626"/>
                </a:solidFill>
                <a:latin typeface="Meiryo"/>
                <a:ea typeface="Meiryo"/>
                <a:cs typeface="Meiryo"/>
              </a:rPr>
              <a:t>25. Bortolotto LA, et al. Assessment of vascular aging and atherosclerosis in hypertensive subjects: second derivative of photoplethysmogram versus pulse wave velocity. Am J Hypertens 2000;13:165–71.</a:t>
            </a:r>
          </a:p>
          <a:p>
            <a:pPr algn="l">
              <a:lnSpc>
                <a:spcPct val="115000"/>
              </a:lnSpc>
              <a:spcAft>
                <a:spcPts val="700"/>
              </a:spcAft>
            </a:pPr>
            <a:r>
              <a:rPr sz="1050" b="0">
                <a:solidFill>
                  <a:srgbClr val="262626"/>
                </a:solidFill>
                <a:latin typeface="Meiryo"/>
                <a:ea typeface="Meiryo"/>
                <a:cs typeface="Meiryo"/>
              </a:rPr>
              <a:t>26. Otsuka T, et al. Utility of second derivative of the finger photoplethysmogram for the estimation of the risk of coronary heart disease in the general population. Circ J 2006;70:304–10.</a:t>
            </a:r>
          </a:p>
          <a:p>
            <a:pPr algn="l">
              <a:lnSpc>
                <a:spcPct val="115000"/>
              </a:lnSpc>
              <a:spcAft>
                <a:spcPts val="700"/>
              </a:spcAft>
            </a:pPr>
            <a:r>
              <a:rPr sz="1050" b="0">
                <a:solidFill>
                  <a:srgbClr val="262626"/>
                </a:solidFill>
                <a:latin typeface="Meiryo"/>
                <a:ea typeface="Meiryo"/>
                <a:cs typeface="Meiryo"/>
              </a:rPr>
              <a:t>27. Tabara Y, et al. Usefulness of the second derivative of the finger photoplethysmogram for assessment of end-organ damage: the J-SHIPP study. Hypertens Res 2016;39:552–6.</a:t>
            </a:r>
          </a:p>
          <a:p>
            <a:pPr algn="l">
              <a:lnSpc>
                <a:spcPct val="115000"/>
              </a:lnSpc>
              <a:spcAft>
                <a:spcPts val="700"/>
              </a:spcAft>
            </a:pPr>
            <a:r>
              <a:rPr sz="1050" b="0">
                <a:solidFill>
                  <a:srgbClr val="262626"/>
                </a:solidFill>
                <a:latin typeface="Meiryo"/>
                <a:ea typeface="Meiryo"/>
                <a:cs typeface="Meiryo"/>
              </a:rPr>
              <a:t>28. von Wowern E, Östling G, Nilsson PM, Olofsson P. Digital photoplethysmography for assessment of arterial stiffness: repeatability and comparison with applanation tonometry. PLoS One 2015;10(8):e0135659.</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53/55</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提案</a:t>
            </a:r>
          </a:p>
        </p:txBody>
      </p:sp>
      <p:sp>
        <p:nvSpPr>
          <p:cNvPr id="2" name="Title 1"/>
          <p:cNvSpPr>
            <a:spLocks noGrp="1"/>
          </p:cNvSpPr>
          <p:nvPr>
            <p:ph type="title"/>
          </p:nvPr>
        </p:nvSpPr>
        <p:spPr/>
        <p:txBody>
          <a:bodyPr/>
          <a:lstStyle/>
          <a:p>
            <a:pPr algn="l"/>
            <a:r>
              <a:rPr sz="4600" dirty="0">
                <a:latin typeface="Meiryo"/>
                <a:ea typeface="Meiryo"/>
                <a:cs typeface="Meiryo"/>
              </a:rPr>
              <a:t>参考文献（3）</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29. Elgendi M, et al. Detection of a and b waves in the acceleration photoplethysmogram. Biomed Eng Online 2014;13:139.</a:t>
            </a:r>
          </a:p>
          <a:p>
            <a:pPr algn="l">
              <a:lnSpc>
                <a:spcPct val="115000"/>
              </a:lnSpc>
              <a:spcAft>
                <a:spcPts val="700"/>
              </a:spcAft>
            </a:pPr>
            <a:r>
              <a:rPr sz="1050" b="0">
                <a:solidFill>
                  <a:srgbClr val="262626"/>
                </a:solidFill>
                <a:latin typeface="Meiryo"/>
                <a:ea typeface="Meiryo"/>
                <a:cs typeface="Meiryo"/>
              </a:rPr>
              <a:t>30. Kohjitani A, et al. Responses of the second derivative of the finger photoplethysmogram indices and hemodynamic parameters to anesthesia induction. Hypertens Res 2012;35:53–60.</a:t>
            </a:r>
          </a:p>
          <a:p>
            <a:pPr algn="l">
              <a:lnSpc>
                <a:spcPct val="115000"/>
              </a:lnSpc>
              <a:spcAft>
                <a:spcPts val="700"/>
              </a:spcAft>
            </a:pPr>
            <a:r>
              <a:rPr sz="1050" b="0">
                <a:solidFill>
                  <a:srgbClr val="262626"/>
                </a:solidFill>
                <a:latin typeface="Meiryo"/>
                <a:ea typeface="Meiryo"/>
                <a:cs typeface="Meiryo"/>
              </a:rPr>
              <a:t>31. Joachim J, et al. Real-time estimation of mean arterial blood pressure based on photoplethysmography dicrotic notch and perfusion index: a pilot study. J Clin Monit Comput 2021;35:395–404.</a:t>
            </a:r>
          </a:p>
          <a:p>
            <a:pPr algn="l">
              <a:lnSpc>
                <a:spcPct val="115000"/>
              </a:lnSpc>
              <a:spcAft>
                <a:spcPts val="700"/>
              </a:spcAft>
            </a:pPr>
            <a:r>
              <a:rPr sz="1050" b="0">
                <a:solidFill>
                  <a:srgbClr val="262626"/>
                </a:solidFill>
                <a:latin typeface="Meiryo"/>
                <a:ea typeface="Meiryo"/>
                <a:cs typeface="Meiryo"/>
              </a:rPr>
              <a:t>32. Padilla JM, et al. Pulse wave velocity and digital volume pulse as indirect estimators of blood pressure: pilot study on healthy volunteers. Cardiovasc Eng 2009;9:104–12.</a:t>
            </a:r>
          </a:p>
          <a:p>
            <a:pPr algn="l">
              <a:lnSpc>
                <a:spcPct val="115000"/>
              </a:lnSpc>
              <a:spcAft>
                <a:spcPts val="700"/>
              </a:spcAft>
            </a:pPr>
            <a:r>
              <a:rPr sz="1050" b="0">
                <a:solidFill>
                  <a:srgbClr val="262626"/>
                </a:solidFill>
                <a:latin typeface="Meiryo"/>
                <a:ea typeface="Meiryo"/>
                <a:cs typeface="Meiryo"/>
              </a:rPr>
              <a:t>33. Sugo Y, et al. A novel continuous cardiac output monitor based on pulse wave transit time. Annu Int Conf IEEE Eng Med Biol Soc 2010;2010:2853–6.</a:t>
            </a:r>
          </a:p>
          <a:p>
            <a:pPr algn="l">
              <a:lnSpc>
                <a:spcPct val="115000"/>
              </a:lnSpc>
              <a:spcAft>
                <a:spcPts val="700"/>
              </a:spcAft>
            </a:pPr>
            <a:r>
              <a:rPr sz="1050" b="0">
                <a:solidFill>
                  <a:srgbClr val="262626"/>
                </a:solidFill>
                <a:latin typeface="Meiryo"/>
                <a:ea typeface="Meiryo"/>
                <a:cs typeface="Meiryo"/>
              </a:rPr>
              <a:t>34. Sugo Y, et al. The comparison of a novel continuous cardiac output monitor based on pulse wave transit time and echo Doppler during exercise. Annu Int Conf IEEE Eng Med Biol Soc 2012;2012:236–9.</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35. Yamada T, et al. Multicenter study verifying a method of noninvasive continuous cardiac output measurement using pulse wave transit time: a comparison with intermittent bolus thermodilution cardiac output. Anesth Analg 2012;115:82–7.</a:t>
            </a:r>
          </a:p>
          <a:p>
            <a:pPr algn="l">
              <a:lnSpc>
                <a:spcPct val="115000"/>
              </a:lnSpc>
              <a:spcAft>
                <a:spcPts val="700"/>
              </a:spcAft>
            </a:pPr>
            <a:r>
              <a:rPr sz="1050" b="0">
                <a:solidFill>
                  <a:srgbClr val="262626"/>
                </a:solidFill>
                <a:latin typeface="Meiryo"/>
                <a:ea typeface="Meiryo"/>
                <a:cs typeface="Meiryo"/>
              </a:rPr>
              <a:t>36. Ishihara H, et al. The ability of a new continuous cardiac output monitor to measure trends in cardiac output following implementation of a patient information calibration and an automated exclusion algorithm. J Clin Monit Comput 2012;26:465–71.</a:t>
            </a:r>
          </a:p>
          <a:p>
            <a:pPr algn="l">
              <a:lnSpc>
                <a:spcPct val="115000"/>
              </a:lnSpc>
              <a:spcAft>
                <a:spcPts val="700"/>
              </a:spcAft>
            </a:pPr>
            <a:r>
              <a:rPr sz="1050" b="0">
                <a:solidFill>
                  <a:srgbClr val="262626"/>
                </a:solidFill>
                <a:latin typeface="Meiryo"/>
                <a:ea typeface="Meiryo"/>
                <a:cs typeface="Meiryo"/>
              </a:rPr>
              <a:t>37. Tsutsui M, et al. Pulse wave transit time measurements of cardiac output in patients undergoing partial hepatectomy: a comparison of the esCCO system with thermodilution. Anesth Analg 2013;117:1307–12.</a:t>
            </a:r>
          </a:p>
          <a:p>
            <a:pPr algn="l">
              <a:lnSpc>
                <a:spcPct val="115000"/>
              </a:lnSpc>
              <a:spcAft>
                <a:spcPts val="700"/>
              </a:spcAft>
            </a:pPr>
            <a:r>
              <a:rPr sz="1050" b="0">
                <a:solidFill>
                  <a:srgbClr val="262626"/>
                </a:solidFill>
                <a:latin typeface="Meiryo"/>
                <a:ea typeface="Meiryo"/>
                <a:cs typeface="Meiryo"/>
              </a:rPr>
              <a:t>38. Biais M, et al. Ability of esCCO to track changes in cardiac output. Br J Anaesth 2015;115:403–10.</a:t>
            </a:r>
          </a:p>
          <a:p>
            <a:pPr algn="l">
              <a:lnSpc>
                <a:spcPct val="115000"/>
              </a:lnSpc>
              <a:spcAft>
                <a:spcPts val="700"/>
              </a:spcAft>
            </a:pPr>
            <a:r>
              <a:rPr sz="1050" b="0">
                <a:solidFill>
                  <a:srgbClr val="262626"/>
                </a:solidFill>
                <a:latin typeface="Meiryo"/>
                <a:ea typeface="Meiryo"/>
                <a:cs typeface="Meiryo"/>
              </a:rPr>
              <a:t>39. Magliocca A, et al. Cardiac output measurements based on the pulse wave transit time and thoracic impedance exhibit limited agreement with thermodilution method during orthotopic liver transplantation. Anesth Analg 2018;126:85–92.</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54/55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600" dirty="0">
                <a:latin typeface="Meiryo"/>
                <a:ea typeface="Meiryo"/>
                <a:cs typeface="Meiryo"/>
              </a:rPr>
              <a:t>4.1  esCCO の推定構造</a:t>
            </a:r>
          </a:p>
        </p:txBody>
      </p:sp>
      <p:sp>
        <p:nvSpPr>
          <p:cNvPr id="101" name="Off-page Connector 1"/>
          <p:cNvSpPr/>
          <p:nvPr/>
        </p:nvSpPr>
        <p:spPr>
          <a:xfrm>
            <a:off x="953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102" name="Off-page Connector 2"/>
          <p:cNvSpPr/>
          <p:nvPr/>
        </p:nvSpPr>
        <p:spPr>
          <a:xfrm>
            <a:off x="1019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103" name="Off-page Connector 3"/>
          <p:cNvSpPr/>
          <p:nvPr/>
        </p:nvSpPr>
        <p:spPr>
          <a:xfrm>
            <a:off x="1085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lnSpc>
                <a:spcPct val="100000"/>
              </a:lnSpc>
              <a:spcBef>
                <a:spcPts val="100"/>
              </a:spcBef>
            </a:pPr>
            <a:r>
              <a:rPr sz="1050" b="1">
                <a:solidFill>
                  <a:srgbClr val="808080"/>
                </a:solidFill>
                <a:latin typeface="Meiryo"/>
                <a:ea typeface="Meiryo"/>
                <a:cs typeface="Meiryo"/>
              </a:rPr>
              <a:t>定量化</a:t>
            </a:r>
          </a:p>
        </p:txBody>
      </p:sp>
      <p:sp>
        <p:nvSpPr>
          <p:cNvPr id="104" name="Off-page Connector 4"/>
          <p:cNvSpPr/>
          <p:nvPr/>
        </p:nvSpPr>
        <p:spPr>
          <a:xfrm>
            <a:off x="11514519" y="50400"/>
            <a:ext cx="620000" cy="583200"/>
          </a:xfrm>
          <a:prstGeom prst="flowChartOffpageConnector">
            <a:avLst/>
          </a:prstGeom>
          <a:solidFill>
            <a:srgbClr val="00A8AA"/>
          </a:solidFill>
          <a:ln>
            <a:noFill/>
          </a:ln>
          <a:effectLst/>
        </p:spPr>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lnSpc>
                <a:spcPct val="100000"/>
              </a:lnSpc>
              <a:spcBef>
                <a:spcPts val="100"/>
              </a:spcBef>
            </a:pPr>
            <a:r>
              <a:rPr sz="1050" b="1">
                <a:solidFill>
                  <a:srgbClr val="FFFFFF"/>
                </a:solidFill>
                <a:latin typeface="Meiryo"/>
                <a:ea typeface="Meiryo"/>
                <a:cs typeface="Meiryo"/>
              </a:rPr>
              <a:t>提案</a:t>
            </a:r>
          </a:p>
        </p:txBody>
      </p:sp>
      <p:sp>
        <p:nvSpPr>
          <p:cNvPr id="105"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33. Sugo 2010　／　35. Yamada 2012</a:t>
            </a:r>
          </a:p>
        </p:txBody>
      </p:sp>
      <p:sp>
        <p:nvSpPr>
          <p:cNvPr id="106" name="PageNo"/>
          <p:cNvSpPr txBox="1"/>
          <p:nvPr/>
        </p:nvSpPr>
        <p:spPr>
          <a:xfrm>
            <a:off x="11049000" y="6606000"/>
            <a:ext cx="1005840" cy="219456"/>
          </a:xfrm>
          <a:prstGeom prst="rect">
            <a:avLst/>
          </a:prstGeom>
          <a:noFill/>
        </p:spPr>
        <p:txBody>
          <a:bodyPr wrap="square" lIns="0" tIns="0" rIns="0" bIns="0" anchor="t">
            <a:spAutoFit/>
          </a:bodyPr>
          <a:lstStyle/>
          <a:p>
            <a:pPr algn="r"/>
            <a:r>
              <a:rPr sz="1200">
                <a:solidFill>
                  <a:srgbClr val="808080"/>
                </a:solidFill>
                <a:latin typeface="Meiryo"/>
                <a:ea typeface="Meiryo"/>
                <a:cs typeface="Meiryo"/>
              </a:rPr>
              <a:t>40/55</a:t>
            </a:r>
          </a:p>
        </p:txBody>
      </p:sp>
      <p:sp>
        <p:nvSpPr>
          <p:cNvPr id="107" name="formula"/>
          <p:cNvSpPr/>
          <p:nvPr/>
        </p:nvSpPr>
        <p:spPr>
          <a:xfrm>
            <a:off x="502920" y="1760000"/>
            <a:ext cx="11140000" cy="145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800" b="1" dirty="0">
                <a:solidFill>
                  <a:srgbClr val="262626"/>
                </a:solidFill>
                <a:latin typeface="Meiryo"/>
                <a:ea typeface="Meiryo"/>
                <a:cs typeface="Meiryo"/>
              </a:rPr>
              <a:t>esCCO ＝ esSV × HR</a:t>
            </a:r>
          </a:p>
          <a:p>
            <a:pPr algn="ctr">
              <a:lnSpc>
                <a:spcPct val="120000"/>
              </a:lnSpc>
            </a:pPr>
            <a:r>
              <a:rPr lang="ja-JP" altLang="en-US" sz="2800" b="1" dirty="0">
                <a:solidFill>
                  <a:srgbClr val="262626"/>
                </a:solidFill>
                <a:latin typeface="Meiryo"/>
                <a:ea typeface="Meiryo"/>
                <a:cs typeface="Meiryo"/>
              </a:rPr>
              <a:t>esSV ＝ K ×（β − α・PWTT）</a:t>
            </a:r>
          </a:p>
        </p:txBody>
      </p:sp>
      <p:sp>
        <p:nvSpPr>
          <p:cNvPr id="108" name="l-bg"/>
          <p:cNvSpPr/>
          <p:nvPr/>
        </p:nvSpPr>
        <p:spPr>
          <a:xfrm>
            <a:off x="502920" y="334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p:txBody>
      </p:sp>
      <p:sp>
        <p:nvSpPr>
          <p:cNvPr id="109" name="l-t"/>
          <p:cNvSpPr txBox="1"/>
          <p:nvPr/>
        </p:nvSpPr>
        <p:spPr>
          <a:xfrm>
            <a:off x="702920" y="349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PWTT ＝ PEP ＋ VTT</a:t>
            </a:r>
          </a:p>
        </p:txBody>
      </p:sp>
      <p:sp>
        <p:nvSpPr>
          <p:cNvPr id="110" name="l-b"/>
          <p:cNvSpPr txBox="1"/>
          <p:nvPr/>
        </p:nvSpPr>
        <p:spPr>
          <a:xfrm>
            <a:off x="702920" y="404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・PEP：心臓側の時間</a:t>
            </a:r>
          </a:p>
          <a:p>
            <a:pPr algn="l">
              <a:lnSpc>
                <a:spcPct val="120000"/>
              </a:lnSpc>
            </a:pPr>
            <a:r>
              <a:rPr lang="ja-JP" altLang="en-US" sz="2200" b="1" dirty="0">
                <a:solidFill>
                  <a:srgbClr val="262626"/>
                </a:solidFill>
                <a:latin typeface="Meiryo"/>
                <a:ea typeface="Meiryo"/>
                <a:cs typeface="Meiryo"/>
              </a:rPr>
              <a:t>・VTT：血管側の時間</a:t>
            </a:r>
          </a:p>
        </p:txBody>
      </p:sp>
      <p:sp>
        <p:nvSpPr>
          <p:cNvPr id="111" name="r-bg"/>
          <p:cNvSpPr/>
          <p:nvPr/>
        </p:nvSpPr>
        <p:spPr>
          <a:xfrm>
            <a:off x="6210080" y="3340000"/>
            <a:ext cx="5432840" cy="17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p:txBody>
      </p:sp>
      <p:sp>
        <p:nvSpPr>
          <p:cNvPr id="112" name="r-t"/>
          <p:cNvSpPr txBox="1"/>
          <p:nvPr/>
        </p:nvSpPr>
        <p:spPr>
          <a:xfrm>
            <a:off x="6410080" y="349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K ＝ 較正で決まる定数</a:t>
            </a:r>
          </a:p>
        </p:txBody>
      </p:sp>
      <p:sp>
        <p:nvSpPr>
          <p:cNvPr id="113" name="r-b"/>
          <p:cNvSpPr txBox="1"/>
          <p:nvPr/>
        </p:nvSpPr>
        <p:spPr>
          <a:xfrm>
            <a:off x="6410080" y="404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・年齢・身長・体重 から</a:t>
            </a:r>
          </a:p>
          <a:p>
            <a:pPr algn="l">
              <a:lnSpc>
                <a:spcPct val="120000"/>
              </a:lnSpc>
            </a:pPr>
            <a:r>
              <a:rPr lang="ja-JP" altLang="en-US" sz="2200" b="1" dirty="0">
                <a:solidFill>
                  <a:srgbClr val="262626"/>
                </a:solidFill>
                <a:latin typeface="Meiryo"/>
                <a:ea typeface="Meiryo"/>
                <a:cs typeface="Meiryo"/>
              </a:rPr>
              <a:t>・または実測 CO で較正</a:t>
            </a:r>
          </a:p>
        </p:txBody>
      </p:sp>
      <p:sp>
        <p:nvSpPr>
          <p:cNvPr id="114" name="alert"/>
          <p:cNvSpPr/>
          <p:nvPr/>
        </p:nvSpPr>
        <p:spPr>
          <a:xfrm>
            <a:off x="502920" y="5240000"/>
            <a:ext cx="11140000" cy="900000"/>
          </a:xfrm>
          <a:prstGeom prst="roundRect">
            <a:avLst>
              <a:gd name="adj" fmla="val 4000"/>
            </a:avLst>
          </a:prstGeom>
          <a:solidFill>
            <a:srgbClr val="FCEAEA"/>
          </a:solidFill>
          <a:ln w="28575">
            <a:solidFill>
              <a:srgbClr val="C00000"/>
            </a:solidFill>
          </a:ln>
          <a:effectLst/>
        </p:spPr>
        <p:txBody>
          <a:bodyPr wrap="square" lIns="91440" tIns="45720" rIns="91440" bIns="45720" rtlCol="0" anchor="ctr">
            <a:noAutofit/>
          </a:bodyPr>
          <a:lstStyle/>
          <a:p>
            <a:pPr algn="ctr">
              <a:lnSpc>
                <a:spcPct val="120000"/>
              </a:lnSpc>
            </a:pPr>
            <a:r>
              <a:rPr lang="ja-JP" altLang="en-US" sz="2600" b="1" dirty="0">
                <a:solidFill>
                  <a:srgbClr val="C00000"/>
                </a:solidFill>
                <a:latin typeface="Meiryo"/>
                <a:ea typeface="Meiryo"/>
                <a:cs typeface="Meiryo"/>
              </a:rPr>
              <a:t>K に血管側の情報が入っていない</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600" dirty="0">
                <a:latin typeface="Meiryo"/>
                <a:ea typeface="Meiryo"/>
                <a:cs typeface="Meiryo"/>
              </a:rPr>
              <a:t>4.1  後負荷で符号が反転</a:t>
            </a:r>
          </a:p>
        </p:txBody>
      </p:sp>
      <p:sp>
        <p:nvSpPr>
          <p:cNvPr id="115" name="Off-page Connector 1"/>
          <p:cNvSpPr/>
          <p:nvPr/>
        </p:nvSpPr>
        <p:spPr>
          <a:xfrm>
            <a:off x="953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116" name="Off-page Connector 2"/>
          <p:cNvSpPr/>
          <p:nvPr/>
        </p:nvSpPr>
        <p:spPr>
          <a:xfrm>
            <a:off x="1019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117" name="Off-page Connector 3"/>
          <p:cNvSpPr/>
          <p:nvPr/>
        </p:nvSpPr>
        <p:spPr>
          <a:xfrm>
            <a:off x="1085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lnSpc>
                <a:spcPct val="100000"/>
              </a:lnSpc>
              <a:spcBef>
                <a:spcPts val="100"/>
              </a:spcBef>
            </a:pPr>
            <a:r>
              <a:rPr sz="1050" b="1">
                <a:solidFill>
                  <a:srgbClr val="808080"/>
                </a:solidFill>
                <a:latin typeface="Meiryo"/>
                <a:ea typeface="Meiryo"/>
                <a:cs typeface="Meiryo"/>
              </a:rPr>
              <a:t>定量化</a:t>
            </a:r>
          </a:p>
        </p:txBody>
      </p:sp>
      <p:sp>
        <p:nvSpPr>
          <p:cNvPr id="118" name="Off-page Connector 4"/>
          <p:cNvSpPr/>
          <p:nvPr/>
        </p:nvSpPr>
        <p:spPr>
          <a:xfrm>
            <a:off x="11514519" y="50400"/>
            <a:ext cx="620000" cy="583200"/>
          </a:xfrm>
          <a:prstGeom prst="flowChartOffpageConnector">
            <a:avLst/>
          </a:prstGeom>
          <a:solidFill>
            <a:srgbClr val="00A8AA"/>
          </a:solidFill>
          <a:ln>
            <a:noFill/>
          </a:ln>
          <a:effectLst/>
        </p:spPr>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lnSpc>
                <a:spcPct val="100000"/>
              </a:lnSpc>
              <a:spcBef>
                <a:spcPts val="100"/>
              </a:spcBef>
            </a:pPr>
            <a:r>
              <a:rPr sz="1050" b="1">
                <a:solidFill>
                  <a:srgbClr val="FFFFFF"/>
                </a:solidFill>
                <a:latin typeface="Meiryo"/>
                <a:ea typeface="Meiryo"/>
                <a:cs typeface="Meiryo"/>
              </a:rPr>
              <a:t>提案</a:t>
            </a:r>
          </a:p>
        </p:txBody>
      </p:sp>
      <p:sp>
        <p:nvSpPr>
          <p:cNvPr id="119"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34. Sugo 2012　／　41. Nakamura 1983</a:t>
            </a:r>
          </a:p>
        </p:txBody>
      </p:sp>
      <p:sp>
        <p:nvSpPr>
          <p:cNvPr id="120" name="PageNo"/>
          <p:cNvSpPr txBox="1"/>
          <p:nvPr/>
        </p:nvSpPr>
        <p:spPr>
          <a:xfrm>
            <a:off x="11049000" y="6606000"/>
            <a:ext cx="1005840" cy="219456"/>
          </a:xfrm>
          <a:prstGeom prst="rect">
            <a:avLst/>
          </a:prstGeom>
          <a:noFill/>
        </p:spPr>
        <p:txBody>
          <a:bodyPr wrap="square" lIns="0" tIns="0" rIns="0" bIns="0" anchor="t">
            <a:spAutoFit/>
          </a:bodyPr>
          <a:lstStyle/>
          <a:p>
            <a:pPr algn="r"/>
            <a:r>
              <a:rPr sz="1200">
                <a:solidFill>
                  <a:srgbClr val="808080"/>
                </a:solidFill>
                <a:latin typeface="Meiryo"/>
                <a:ea typeface="Meiryo"/>
                <a:cs typeface="Meiryo"/>
              </a:rPr>
              <a:t>41/55</a:t>
            </a:r>
          </a:p>
        </p:txBody>
      </p:sp>
      <p:sp>
        <p:nvSpPr>
          <p:cNvPr id="121" name="c0-bg"/>
          <p:cNvSpPr/>
          <p:nvPr/>
        </p:nvSpPr>
        <p:spPr>
          <a:xfrm>
            <a:off x="502920" y="1800000"/>
            <a:ext cx="3560933" cy="20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p:txBody>
      </p:sp>
      <p:sp>
        <p:nvSpPr>
          <p:cNvPr id="122" name="c0-t"/>
          <p:cNvSpPr txBox="1"/>
          <p:nvPr/>
        </p:nvSpPr>
        <p:spPr>
          <a:xfrm>
            <a:off x="702920" y="195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PEP ＝ 延長</a:t>
            </a:r>
          </a:p>
        </p:txBody>
      </p:sp>
      <p:sp>
        <p:nvSpPr>
          <p:cNvPr id="123" name="c0-b"/>
          <p:cNvSpPr txBox="1"/>
          <p:nvPr/>
        </p:nvSpPr>
        <p:spPr>
          <a:xfrm>
            <a:off x="702920" y="2500000"/>
            <a:ext cx="3160933" cy="47183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大動脈拡張期圧 ↑</a:t>
            </a:r>
          </a:p>
        </p:txBody>
      </p:sp>
      <p:sp>
        <p:nvSpPr>
          <p:cNvPr id="124" name="c1-bg"/>
          <p:cNvSpPr/>
          <p:nvPr/>
        </p:nvSpPr>
        <p:spPr>
          <a:xfrm>
            <a:off x="4292453" y="1800000"/>
            <a:ext cx="3560933" cy="20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p:txBody>
      </p:sp>
      <p:sp>
        <p:nvSpPr>
          <p:cNvPr id="125" name="c1-t"/>
          <p:cNvSpPr txBox="1"/>
          <p:nvPr/>
        </p:nvSpPr>
        <p:spPr>
          <a:xfrm>
            <a:off x="4492453" y="195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VTT ＝ 短縮</a:t>
            </a:r>
          </a:p>
        </p:txBody>
      </p:sp>
      <p:sp>
        <p:nvSpPr>
          <p:cNvPr id="126" name="c1-b"/>
          <p:cNvSpPr txBox="1"/>
          <p:nvPr/>
        </p:nvSpPr>
        <p:spPr>
          <a:xfrm>
            <a:off x="4492453" y="2500000"/>
            <a:ext cx="3160933" cy="47183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PWV ↑ で速く伝わる</a:t>
            </a:r>
          </a:p>
        </p:txBody>
      </p:sp>
      <p:sp>
        <p:nvSpPr>
          <p:cNvPr id="127" name="c2-bg"/>
          <p:cNvSpPr/>
          <p:nvPr/>
        </p:nvSpPr>
        <p:spPr>
          <a:xfrm>
            <a:off x="8081986" y="1800000"/>
            <a:ext cx="3560933" cy="200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p:txBody>
      </p:sp>
      <p:sp>
        <p:nvSpPr>
          <p:cNvPr id="128" name="c2-t"/>
          <p:cNvSpPr txBox="1"/>
          <p:nvPr/>
        </p:nvSpPr>
        <p:spPr>
          <a:xfrm>
            <a:off x="8281986" y="195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PWTT ＝ 不定</a:t>
            </a:r>
          </a:p>
        </p:txBody>
      </p:sp>
      <p:sp>
        <p:nvSpPr>
          <p:cNvPr id="129" name="c2-b"/>
          <p:cNvSpPr txBox="1"/>
          <p:nvPr/>
        </p:nvSpPr>
        <p:spPr>
          <a:xfrm>
            <a:off x="8281986" y="2500000"/>
            <a:ext cx="3160933" cy="47183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二つが打ち消し合う</a:t>
            </a:r>
          </a:p>
        </p:txBody>
      </p:sp>
      <p:sp>
        <p:nvSpPr>
          <p:cNvPr id="130" name="alert"/>
          <p:cNvSpPr/>
          <p:nvPr/>
        </p:nvSpPr>
        <p:spPr>
          <a:xfrm>
            <a:off x="502920" y="3950000"/>
            <a:ext cx="11140000" cy="1000000"/>
          </a:xfrm>
          <a:prstGeom prst="roundRect">
            <a:avLst>
              <a:gd name="adj" fmla="val 4000"/>
            </a:avLst>
          </a:prstGeom>
          <a:solidFill>
            <a:srgbClr val="FCEAEA"/>
          </a:solidFill>
          <a:ln w="28575">
            <a:solidFill>
              <a:srgbClr val="C00000"/>
            </a:solidFill>
          </a:ln>
          <a:effectLst/>
        </p:spPr>
        <p:txBody>
          <a:bodyPr wrap="square" lIns="91440" tIns="45720" rIns="91440" bIns="45720" rtlCol="0" anchor="ctr">
            <a:noAutofit/>
          </a:bodyPr>
          <a:lstStyle/>
          <a:p>
            <a:pPr algn="ctr">
              <a:lnSpc>
                <a:spcPct val="120000"/>
              </a:lnSpc>
            </a:pPr>
            <a:r>
              <a:rPr lang="ja-JP" altLang="en-US" sz="2600" b="1" dirty="0">
                <a:solidFill>
                  <a:srgbClr val="C00000"/>
                </a:solidFill>
                <a:latin typeface="Meiryo"/>
                <a:ea typeface="Meiryo"/>
                <a:cs typeface="Meiryo"/>
              </a:rPr>
              <a:t>真の SV は低下、esCCO は上昇 ＝ 符号が逆</a:t>
            </a:r>
          </a:p>
        </p:txBody>
      </p:sp>
      <p:sp>
        <p:nvSpPr>
          <p:cNvPr id="131" name="note"/>
          <p:cNvSpPr/>
          <p:nvPr/>
        </p:nvSpPr>
        <p:spPr>
          <a:xfrm>
            <a:off x="502920" y="5100000"/>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PEP は PWTT 変化の約半分を占める</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600" dirty="0">
                <a:latin typeface="Meiryo"/>
                <a:ea typeface="Meiryo"/>
                <a:cs typeface="Meiryo"/>
              </a:rPr>
              <a:t>4.2  誤差と血管抵抗の関係</a:t>
            </a:r>
          </a:p>
        </p:txBody>
      </p:sp>
      <p:sp>
        <p:nvSpPr>
          <p:cNvPr id="132" name="Off-page Connector 1"/>
          <p:cNvSpPr/>
          <p:nvPr/>
        </p:nvSpPr>
        <p:spPr>
          <a:xfrm>
            <a:off x="953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133" name="Off-page Connector 2"/>
          <p:cNvSpPr/>
          <p:nvPr/>
        </p:nvSpPr>
        <p:spPr>
          <a:xfrm>
            <a:off x="1019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134" name="Off-page Connector 3"/>
          <p:cNvSpPr/>
          <p:nvPr/>
        </p:nvSpPr>
        <p:spPr>
          <a:xfrm>
            <a:off x="1085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lnSpc>
                <a:spcPct val="100000"/>
              </a:lnSpc>
              <a:spcBef>
                <a:spcPts val="100"/>
              </a:spcBef>
            </a:pPr>
            <a:r>
              <a:rPr sz="1050" b="1">
                <a:solidFill>
                  <a:srgbClr val="808080"/>
                </a:solidFill>
                <a:latin typeface="Meiryo"/>
                <a:ea typeface="Meiryo"/>
                <a:cs typeface="Meiryo"/>
              </a:rPr>
              <a:t>定量化</a:t>
            </a:r>
          </a:p>
        </p:txBody>
      </p:sp>
      <p:sp>
        <p:nvSpPr>
          <p:cNvPr id="135" name="Off-page Connector 4"/>
          <p:cNvSpPr/>
          <p:nvPr/>
        </p:nvSpPr>
        <p:spPr>
          <a:xfrm>
            <a:off x="11514519" y="50400"/>
            <a:ext cx="620000" cy="583200"/>
          </a:xfrm>
          <a:prstGeom prst="flowChartOffpageConnector">
            <a:avLst/>
          </a:prstGeom>
          <a:solidFill>
            <a:srgbClr val="00A8AA"/>
          </a:solidFill>
          <a:ln>
            <a:noFill/>
          </a:ln>
          <a:effectLst/>
        </p:spPr>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lnSpc>
                <a:spcPct val="100000"/>
              </a:lnSpc>
              <a:spcBef>
                <a:spcPts val="100"/>
              </a:spcBef>
            </a:pPr>
            <a:r>
              <a:rPr sz="1050" b="1">
                <a:solidFill>
                  <a:srgbClr val="FFFFFF"/>
                </a:solidFill>
                <a:latin typeface="Meiryo"/>
                <a:ea typeface="Meiryo"/>
                <a:cs typeface="Meiryo"/>
              </a:rPr>
              <a:t>提案</a:t>
            </a:r>
          </a:p>
        </p:txBody>
      </p:sp>
      <p:sp>
        <p:nvSpPr>
          <p:cNvPr id="136"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35. Yamada 2012　／　38. Biais 2015　／　39. Magliocca 2018</a:t>
            </a:r>
          </a:p>
        </p:txBody>
      </p:sp>
      <p:sp>
        <p:nvSpPr>
          <p:cNvPr id="137" name="PageNo"/>
          <p:cNvSpPr txBox="1"/>
          <p:nvPr/>
        </p:nvSpPr>
        <p:spPr>
          <a:xfrm>
            <a:off x="11049000" y="6606000"/>
            <a:ext cx="1005840" cy="219456"/>
          </a:xfrm>
          <a:prstGeom prst="rect">
            <a:avLst/>
          </a:prstGeom>
          <a:noFill/>
        </p:spPr>
        <p:txBody>
          <a:bodyPr wrap="square" lIns="0" tIns="0" rIns="0" bIns="0" anchor="t">
            <a:spAutoFit/>
          </a:bodyPr>
          <a:lstStyle/>
          <a:p>
            <a:pPr algn="r"/>
            <a:r>
              <a:rPr sz="1200">
                <a:solidFill>
                  <a:srgbClr val="808080"/>
                </a:solidFill>
                <a:latin typeface="Meiryo"/>
                <a:ea typeface="Meiryo"/>
                <a:cs typeface="Meiryo"/>
              </a:rPr>
              <a:t>42/55</a:t>
            </a:r>
          </a:p>
        </p:txBody>
      </p:sp>
      <p:sp>
        <p:nvSpPr>
          <p:cNvPr id="138" name="c0-bg"/>
          <p:cNvSpPr/>
          <p:nvPr/>
        </p:nvSpPr>
        <p:spPr>
          <a:xfrm>
            <a:off x="502920" y="1800000"/>
            <a:ext cx="3560933" cy="24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p:txBody>
      </p:sp>
      <p:sp>
        <p:nvSpPr>
          <p:cNvPr id="139" name="c0-t"/>
          <p:cNvSpPr txBox="1"/>
          <p:nvPr/>
        </p:nvSpPr>
        <p:spPr>
          <a:xfrm>
            <a:off x="702920" y="195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Yamada 2012</a:t>
            </a:r>
          </a:p>
        </p:txBody>
      </p:sp>
      <p:sp>
        <p:nvSpPr>
          <p:cNvPr id="140" name="c0-b"/>
          <p:cNvSpPr txBox="1"/>
          <p:nvPr/>
        </p:nvSpPr>
        <p:spPr>
          <a:xfrm>
            <a:off x="702920" y="2500000"/>
            <a:ext cx="3160933"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誤差 と SVR</a:t>
            </a:r>
          </a:p>
          <a:p>
            <a:pPr algn="l">
              <a:lnSpc>
                <a:spcPct val="120000"/>
              </a:lnSpc>
            </a:pPr>
            <a:r>
              <a:rPr lang="ja-JP" altLang="en-US" sz="2200" b="1" dirty="0">
                <a:solidFill>
                  <a:srgbClr val="262626"/>
                </a:solidFill>
                <a:latin typeface="Meiryo"/>
                <a:ea typeface="Meiryo"/>
                <a:cs typeface="Meiryo"/>
              </a:rPr>
              <a:t>r ＝ 0.37</a:t>
            </a:r>
          </a:p>
          <a:p>
            <a:pPr algn="l">
              <a:lnSpc>
                <a:spcPct val="120000"/>
              </a:lnSpc>
            </a:pPr>
            <a:r>
              <a:rPr lang="ja-JP" altLang="en-US" sz="2200" b="1" dirty="0">
                <a:solidFill>
                  <a:srgbClr val="262626"/>
                </a:solidFill>
                <a:latin typeface="Meiryo"/>
                <a:ea typeface="Meiryo"/>
                <a:cs typeface="Meiryo"/>
              </a:rPr>
              <a:t>（P&lt;0.0001）</a:t>
            </a:r>
          </a:p>
        </p:txBody>
      </p:sp>
      <p:sp>
        <p:nvSpPr>
          <p:cNvPr id="141" name="c1-bg"/>
          <p:cNvSpPr/>
          <p:nvPr/>
        </p:nvSpPr>
        <p:spPr>
          <a:xfrm>
            <a:off x="4292453" y="1800000"/>
            <a:ext cx="3560933" cy="24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p:txBody>
      </p:sp>
      <p:sp>
        <p:nvSpPr>
          <p:cNvPr id="142" name="c1-t"/>
          <p:cNvSpPr txBox="1"/>
          <p:nvPr/>
        </p:nvSpPr>
        <p:spPr>
          <a:xfrm>
            <a:off x="4492453" y="195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Magliocca 2018</a:t>
            </a:r>
          </a:p>
        </p:txBody>
      </p:sp>
      <p:sp>
        <p:nvSpPr>
          <p:cNvPr id="143" name="c1-b"/>
          <p:cNvSpPr txBox="1"/>
          <p:nvPr/>
        </p:nvSpPr>
        <p:spPr>
          <a:xfrm>
            <a:off x="4492453" y="2500000"/>
            <a:ext cx="3160933"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バイアス と</a:t>
            </a:r>
          </a:p>
          <a:p>
            <a:pPr algn="l">
              <a:lnSpc>
                <a:spcPct val="120000"/>
              </a:lnSpc>
            </a:pPr>
            <a:r>
              <a:rPr lang="ja-JP" altLang="en-US" sz="2200" b="1" dirty="0">
                <a:solidFill>
                  <a:srgbClr val="262626"/>
                </a:solidFill>
                <a:latin typeface="Meiryo"/>
                <a:ea typeface="Meiryo"/>
                <a:cs typeface="Meiryo"/>
              </a:rPr>
              <a:t>SVR　r ＝ 0.610</a:t>
            </a:r>
          </a:p>
          <a:p>
            <a:pPr algn="l">
              <a:lnSpc>
                <a:spcPct val="120000"/>
              </a:lnSpc>
            </a:pPr>
            <a:r>
              <a:rPr lang="ja-JP" altLang="en-US" sz="2200" b="1" dirty="0">
                <a:solidFill>
                  <a:srgbClr val="262626"/>
                </a:solidFill>
                <a:latin typeface="Meiryo"/>
                <a:ea typeface="Meiryo"/>
                <a:cs typeface="Meiryo"/>
              </a:rPr>
              <a:t>Ea　　r ＝ 0.692</a:t>
            </a:r>
          </a:p>
        </p:txBody>
      </p:sp>
      <p:sp>
        <p:nvSpPr>
          <p:cNvPr id="144" name="c2-bg"/>
          <p:cNvSpPr/>
          <p:nvPr/>
        </p:nvSpPr>
        <p:spPr>
          <a:xfrm>
            <a:off x="8081986" y="1800000"/>
            <a:ext cx="3560933" cy="240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p:txBody>
      </p:sp>
      <p:sp>
        <p:nvSpPr>
          <p:cNvPr id="145" name="c2-t"/>
          <p:cNvSpPr txBox="1"/>
          <p:nvPr/>
        </p:nvSpPr>
        <p:spPr>
          <a:xfrm>
            <a:off x="8281986" y="195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Biais 2015</a:t>
            </a:r>
          </a:p>
        </p:txBody>
      </p:sp>
      <p:sp>
        <p:nvSpPr>
          <p:cNvPr id="146" name="c2-b"/>
          <p:cNvSpPr txBox="1"/>
          <p:nvPr/>
        </p:nvSpPr>
        <p:spPr>
          <a:xfrm>
            <a:off x="8281986" y="2500000"/>
            <a:ext cx="3160933"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バイアス と SVR</a:t>
            </a:r>
          </a:p>
          <a:p>
            <a:pPr algn="l">
              <a:lnSpc>
                <a:spcPct val="120000"/>
              </a:lnSpc>
            </a:pPr>
            <a:r>
              <a:rPr lang="ja-JP" altLang="en-US" sz="2200" b="1" dirty="0">
                <a:solidFill>
                  <a:srgbClr val="262626"/>
                </a:solidFill>
                <a:latin typeface="Meiryo"/>
                <a:ea typeface="Meiryo"/>
                <a:cs typeface="Meiryo"/>
              </a:rPr>
              <a:t>r² ＝ 0.60</a:t>
            </a:r>
          </a:p>
          <a:p>
            <a:pPr algn="l">
              <a:lnSpc>
                <a:spcPct val="120000"/>
              </a:lnSpc>
            </a:pPr>
            <a:r>
              <a:rPr lang="ja-JP" altLang="en-US" sz="2200" b="1" dirty="0">
                <a:solidFill>
                  <a:srgbClr val="262626"/>
                </a:solidFill>
                <a:latin typeface="Meiryo"/>
                <a:ea typeface="Meiryo"/>
                <a:cs typeface="Meiryo"/>
              </a:rPr>
              <a:t>CO 変化は追えず</a:t>
            </a:r>
          </a:p>
        </p:txBody>
      </p:sp>
      <p:sp>
        <p:nvSpPr>
          <p:cNvPr id="147" name="b1"/>
          <p:cNvSpPr/>
          <p:nvPr/>
        </p:nvSpPr>
        <p:spPr>
          <a:xfrm>
            <a:off x="502920" y="4400000"/>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誤差はランダムではなく、血管抵抗で説明できる</a:t>
            </a:r>
          </a:p>
        </p:txBody>
      </p:sp>
      <p:sp>
        <p:nvSpPr>
          <p:cNvPr id="148" name="b2"/>
          <p:cNvSpPr/>
          <p:nvPr/>
        </p:nvSpPr>
        <p:spPr>
          <a:xfrm>
            <a:off x="502920" y="5450000"/>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説明できる誤差は、原理的に補正できる</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600" dirty="0">
                <a:latin typeface="Meiryo"/>
                <a:ea typeface="Meiryo"/>
                <a:cs typeface="Meiryo"/>
              </a:rPr>
              <a:t>4.2  精度の現在地</a:t>
            </a:r>
          </a:p>
        </p:txBody>
      </p:sp>
      <p:sp>
        <p:nvSpPr>
          <p:cNvPr id="149" name="Off-page Connector 1"/>
          <p:cNvSpPr/>
          <p:nvPr/>
        </p:nvSpPr>
        <p:spPr>
          <a:xfrm>
            <a:off x="953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150" name="Off-page Connector 2"/>
          <p:cNvSpPr/>
          <p:nvPr/>
        </p:nvSpPr>
        <p:spPr>
          <a:xfrm>
            <a:off x="1019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151" name="Off-page Connector 3"/>
          <p:cNvSpPr/>
          <p:nvPr/>
        </p:nvSpPr>
        <p:spPr>
          <a:xfrm>
            <a:off x="1085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lnSpc>
                <a:spcPct val="100000"/>
              </a:lnSpc>
              <a:spcBef>
                <a:spcPts val="100"/>
              </a:spcBef>
            </a:pPr>
            <a:r>
              <a:rPr sz="1050" b="1">
                <a:solidFill>
                  <a:srgbClr val="808080"/>
                </a:solidFill>
                <a:latin typeface="Meiryo"/>
                <a:ea typeface="Meiryo"/>
                <a:cs typeface="Meiryo"/>
              </a:rPr>
              <a:t>定量化</a:t>
            </a:r>
          </a:p>
        </p:txBody>
      </p:sp>
      <p:sp>
        <p:nvSpPr>
          <p:cNvPr id="152" name="Off-page Connector 4"/>
          <p:cNvSpPr/>
          <p:nvPr/>
        </p:nvSpPr>
        <p:spPr>
          <a:xfrm>
            <a:off x="11514519" y="50400"/>
            <a:ext cx="620000" cy="583200"/>
          </a:xfrm>
          <a:prstGeom prst="flowChartOffpageConnector">
            <a:avLst/>
          </a:prstGeom>
          <a:solidFill>
            <a:srgbClr val="00A8AA"/>
          </a:solidFill>
          <a:ln>
            <a:noFill/>
          </a:ln>
          <a:effectLst/>
        </p:spPr>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lnSpc>
                <a:spcPct val="100000"/>
              </a:lnSpc>
              <a:spcBef>
                <a:spcPts val="100"/>
              </a:spcBef>
            </a:pPr>
            <a:r>
              <a:rPr sz="1050" b="1">
                <a:solidFill>
                  <a:srgbClr val="FFFFFF"/>
                </a:solidFill>
                <a:latin typeface="Meiryo"/>
                <a:ea typeface="Meiryo"/>
                <a:cs typeface="Meiryo"/>
              </a:rPr>
              <a:t>提案</a:t>
            </a:r>
          </a:p>
        </p:txBody>
      </p:sp>
      <p:sp>
        <p:nvSpPr>
          <p:cNvPr id="153"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37. Tsutsui 2013　／　40. Critchley 1999</a:t>
            </a:r>
          </a:p>
        </p:txBody>
      </p:sp>
      <p:sp>
        <p:nvSpPr>
          <p:cNvPr id="154" name="PageNo"/>
          <p:cNvSpPr txBox="1"/>
          <p:nvPr/>
        </p:nvSpPr>
        <p:spPr>
          <a:xfrm>
            <a:off x="11049000" y="6606000"/>
            <a:ext cx="1005840" cy="219456"/>
          </a:xfrm>
          <a:prstGeom prst="rect">
            <a:avLst/>
          </a:prstGeom>
          <a:noFill/>
        </p:spPr>
        <p:txBody>
          <a:bodyPr wrap="square" lIns="0" tIns="0" rIns="0" bIns="0" anchor="t">
            <a:spAutoFit/>
          </a:bodyPr>
          <a:lstStyle/>
          <a:p>
            <a:pPr algn="r"/>
            <a:r>
              <a:rPr sz="1200">
                <a:solidFill>
                  <a:srgbClr val="808080"/>
                </a:solidFill>
                <a:latin typeface="Meiryo"/>
                <a:ea typeface="Meiryo"/>
                <a:cs typeface="Meiryo"/>
              </a:rPr>
              <a:t>43/55</a:t>
            </a:r>
          </a:p>
        </p:txBody>
      </p:sp>
      <p:sp>
        <p:nvSpPr>
          <p:cNvPr id="155" name="l-bg"/>
          <p:cNvSpPr/>
          <p:nvPr/>
        </p:nvSpPr>
        <p:spPr>
          <a:xfrm>
            <a:off x="502920" y="1800000"/>
            <a:ext cx="5432840" cy="23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p:txBody>
      </p:sp>
      <p:sp>
        <p:nvSpPr>
          <p:cNvPr id="156" name="l-t"/>
          <p:cNvSpPr txBox="1"/>
          <p:nvPr/>
        </p:nvSpPr>
        <p:spPr>
          <a:xfrm>
            <a:off x="70292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絶対値としての一致</a:t>
            </a:r>
          </a:p>
        </p:txBody>
      </p:sp>
      <p:sp>
        <p:nvSpPr>
          <p:cNvPr id="157" name="l-b"/>
          <p:cNvSpPr txBox="1"/>
          <p:nvPr/>
        </p:nvSpPr>
        <p:spPr>
          <a:xfrm>
            <a:off x="702920" y="2500000"/>
            <a:ext cx="5032840"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・バイアス 約 1.6 L/min</a:t>
            </a:r>
          </a:p>
          <a:p>
            <a:pPr algn="l">
              <a:lnSpc>
                <a:spcPct val="120000"/>
              </a:lnSpc>
            </a:pPr>
            <a:r>
              <a:rPr lang="ja-JP" altLang="en-US" sz="2200" b="1" dirty="0">
                <a:solidFill>
                  <a:srgbClr val="262626"/>
                </a:solidFill>
                <a:latin typeface="Meiryo"/>
                <a:ea typeface="Meiryo"/>
                <a:cs typeface="Meiryo"/>
              </a:rPr>
              <a:t>・誤差率 約 47 %</a:t>
            </a:r>
          </a:p>
          <a:p>
            <a:pPr algn="l">
              <a:lnSpc>
                <a:spcPct val="120000"/>
              </a:lnSpc>
            </a:pPr>
            <a:r>
              <a:rPr lang="ja-JP" altLang="en-US" sz="2200" b="1" dirty="0">
                <a:solidFill>
                  <a:srgbClr val="262626"/>
                </a:solidFill>
                <a:latin typeface="Meiryo"/>
                <a:ea typeface="Meiryo"/>
                <a:cs typeface="Meiryo"/>
              </a:rPr>
              <a:t>・許容基準 ±30 %</a:t>
            </a:r>
          </a:p>
        </p:txBody>
      </p:sp>
      <p:sp>
        <p:nvSpPr>
          <p:cNvPr id="158" name="r-bg"/>
          <p:cNvSpPr/>
          <p:nvPr/>
        </p:nvSpPr>
        <p:spPr>
          <a:xfrm>
            <a:off x="6210080" y="1800000"/>
            <a:ext cx="5432840" cy="23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p:txBody>
      </p:sp>
      <p:sp>
        <p:nvSpPr>
          <p:cNvPr id="159" name="r-t"/>
          <p:cNvSpPr txBox="1"/>
          <p:nvPr/>
        </p:nvSpPr>
        <p:spPr>
          <a:xfrm>
            <a:off x="641008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変化のトレンド</a:t>
            </a:r>
          </a:p>
        </p:txBody>
      </p:sp>
      <p:sp>
        <p:nvSpPr>
          <p:cNvPr id="160" name="r-b"/>
          <p:cNvSpPr txBox="1"/>
          <p:nvPr/>
        </p:nvSpPr>
        <p:spPr>
          <a:xfrm>
            <a:off x="6410080" y="2500000"/>
            <a:ext cx="5032840"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・concordance 96.0 %</a:t>
            </a:r>
          </a:p>
          <a:p>
            <a:pPr algn="l">
              <a:lnSpc>
                <a:spcPct val="120000"/>
              </a:lnSpc>
            </a:pPr>
            <a:r>
              <a:rPr lang="ja-JP" altLang="en-US" sz="2200" b="1" dirty="0">
                <a:solidFill>
                  <a:srgbClr val="262626"/>
                </a:solidFill>
                <a:latin typeface="Meiryo"/>
                <a:ea typeface="Meiryo"/>
                <a:cs typeface="Meiryo"/>
              </a:rPr>
              <a:t>・向きは追える</a:t>
            </a:r>
          </a:p>
          <a:p>
            <a:pPr algn="l">
              <a:lnSpc>
                <a:spcPct val="120000"/>
              </a:lnSpc>
            </a:pPr>
            <a:r>
              <a:rPr lang="ja-JP" altLang="en-US" sz="2200" b="1" dirty="0">
                <a:solidFill>
                  <a:srgbClr val="262626"/>
                </a:solidFill>
                <a:latin typeface="Meiryo"/>
                <a:ea typeface="Meiryo"/>
                <a:cs typeface="Meiryo"/>
              </a:rPr>
              <a:t>・部分肝切除 31 例</a:t>
            </a:r>
          </a:p>
        </p:txBody>
      </p:sp>
      <p:sp>
        <p:nvSpPr>
          <p:cNvPr id="161" name="alert"/>
          <p:cNvSpPr/>
          <p:nvPr/>
        </p:nvSpPr>
        <p:spPr>
          <a:xfrm>
            <a:off x="502920" y="4250000"/>
            <a:ext cx="11140000" cy="900000"/>
          </a:xfrm>
          <a:prstGeom prst="roundRect">
            <a:avLst>
              <a:gd name="adj" fmla="val 4000"/>
            </a:avLst>
          </a:prstGeom>
          <a:solidFill>
            <a:srgbClr val="FCEAEA"/>
          </a:solidFill>
          <a:ln w="28575">
            <a:solidFill>
              <a:srgbClr val="C00000"/>
            </a:solidFill>
          </a:ln>
          <a:effectLst/>
        </p:spPr>
        <p:txBody>
          <a:bodyPr wrap="square" lIns="91440" tIns="45720" rIns="91440" bIns="45720" rtlCol="0" anchor="ctr">
            <a:noAutofit/>
          </a:bodyPr>
          <a:lstStyle/>
          <a:p>
            <a:pPr algn="ctr">
              <a:lnSpc>
                <a:spcPct val="120000"/>
              </a:lnSpc>
            </a:pPr>
            <a:r>
              <a:rPr lang="ja-JP" altLang="en-US" sz="2600" b="1" dirty="0">
                <a:solidFill>
                  <a:srgbClr val="C00000"/>
                </a:solidFill>
                <a:latin typeface="Meiryo"/>
                <a:ea typeface="Meiryo"/>
                <a:cs typeface="Meiryo"/>
              </a:rPr>
              <a:t>熱希釈法の代替にはならない</a:t>
            </a:r>
          </a:p>
        </p:txBody>
      </p:sp>
      <p:sp>
        <p:nvSpPr>
          <p:cNvPr id="162" name="note"/>
          <p:cNvSpPr/>
          <p:nvPr/>
        </p:nvSpPr>
        <p:spPr>
          <a:xfrm>
            <a:off x="502920" y="5300000"/>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位置づけ ＝ 前負荷寄りの連続トレンド指標</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600" dirty="0">
                <a:latin typeface="Meiryo"/>
                <a:ea typeface="Meiryo"/>
                <a:cs typeface="Meiryo"/>
              </a:rPr>
              <a:t>4.3  提案 ― K を動的に補正</a:t>
            </a:r>
          </a:p>
        </p:txBody>
      </p:sp>
      <p:sp>
        <p:nvSpPr>
          <p:cNvPr id="163" name="Off-page Connector 1"/>
          <p:cNvSpPr/>
          <p:nvPr/>
        </p:nvSpPr>
        <p:spPr>
          <a:xfrm>
            <a:off x="953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164" name="Off-page Connector 2"/>
          <p:cNvSpPr/>
          <p:nvPr/>
        </p:nvSpPr>
        <p:spPr>
          <a:xfrm>
            <a:off x="1019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165" name="Off-page Connector 3"/>
          <p:cNvSpPr/>
          <p:nvPr/>
        </p:nvSpPr>
        <p:spPr>
          <a:xfrm>
            <a:off x="1085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lnSpc>
                <a:spcPct val="100000"/>
              </a:lnSpc>
              <a:spcBef>
                <a:spcPts val="100"/>
              </a:spcBef>
            </a:pPr>
            <a:r>
              <a:rPr sz="1050" b="1">
                <a:solidFill>
                  <a:srgbClr val="808080"/>
                </a:solidFill>
                <a:latin typeface="Meiryo"/>
                <a:ea typeface="Meiryo"/>
                <a:cs typeface="Meiryo"/>
              </a:rPr>
              <a:t>定量化</a:t>
            </a:r>
          </a:p>
        </p:txBody>
      </p:sp>
      <p:sp>
        <p:nvSpPr>
          <p:cNvPr id="166" name="Off-page Connector 4"/>
          <p:cNvSpPr/>
          <p:nvPr/>
        </p:nvSpPr>
        <p:spPr>
          <a:xfrm>
            <a:off x="11514519" y="50400"/>
            <a:ext cx="620000" cy="583200"/>
          </a:xfrm>
          <a:prstGeom prst="flowChartOffpageConnector">
            <a:avLst/>
          </a:prstGeom>
          <a:solidFill>
            <a:srgbClr val="00A8AA"/>
          </a:solidFill>
          <a:ln>
            <a:noFill/>
          </a:ln>
          <a:effectLst/>
        </p:spPr>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lnSpc>
                <a:spcPct val="100000"/>
              </a:lnSpc>
              <a:spcBef>
                <a:spcPts val="100"/>
              </a:spcBef>
            </a:pPr>
            <a:r>
              <a:rPr sz="1050" b="1">
                <a:solidFill>
                  <a:srgbClr val="FFFFFF"/>
                </a:solidFill>
                <a:latin typeface="Meiryo"/>
                <a:ea typeface="Meiryo"/>
                <a:cs typeface="Meiryo"/>
              </a:rPr>
              <a:t>提案</a:t>
            </a:r>
          </a:p>
        </p:txBody>
      </p:sp>
      <p:sp>
        <p:nvSpPr>
          <p:cNvPr id="167"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6. Millasseau 2002　／　11. Chowienczyk 1999</a:t>
            </a:r>
          </a:p>
        </p:txBody>
      </p:sp>
      <p:sp>
        <p:nvSpPr>
          <p:cNvPr id="168" name="PageNo"/>
          <p:cNvSpPr txBox="1"/>
          <p:nvPr/>
        </p:nvSpPr>
        <p:spPr>
          <a:xfrm>
            <a:off x="11049000" y="6606000"/>
            <a:ext cx="1005840" cy="219456"/>
          </a:xfrm>
          <a:prstGeom prst="rect">
            <a:avLst/>
          </a:prstGeom>
          <a:noFill/>
        </p:spPr>
        <p:txBody>
          <a:bodyPr wrap="square" lIns="0" tIns="0" rIns="0" bIns="0" anchor="t">
            <a:spAutoFit/>
          </a:bodyPr>
          <a:lstStyle/>
          <a:p>
            <a:pPr algn="r"/>
            <a:r>
              <a:rPr sz="1200">
                <a:solidFill>
                  <a:srgbClr val="808080"/>
                </a:solidFill>
                <a:latin typeface="Meiryo"/>
                <a:ea typeface="Meiryo"/>
                <a:cs typeface="Meiryo"/>
              </a:rPr>
              <a:t>44/55</a:t>
            </a:r>
          </a:p>
        </p:txBody>
      </p:sp>
      <p:sp>
        <p:nvSpPr>
          <p:cNvPr id="169" name="l-bg"/>
          <p:cNvSpPr/>
          <p:nvPr/>
        </p:nvSpPr>
        <p:spPr>
          <a:xfrm>
            <a:off x="502920" y="1800000"/>
            <a:ext cx="5432840" cy="22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p:txBody>
      </p:sp>
      <p:sp>
        <p:nvSpPr>
          <p:cNvPr id="170" name="l-t"/>
          <p:cNvSpPr txBox="1"/>
          <p:nvPr/>
        </p:nvSpPr>
        <p:spPr>
          <a:xfrm>
            <a:off x="70292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時間軸（既存）</a:t>
            </a:r>
          </a:p>
        </p:txBody>
      </p:sp>
      <p:sp>
        <p:nvSpPr>
          <p:cNvPr id="171" name="l-b"/>
          <p:cNvSpPr txBox="1"/>
          <p:nvPr/>
        </p:nvSpPr>
        <p:spPr>
          <a:xfrm>
            <a:off x="702920" y="250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PWTT → esSV</a:t>
            </a:r>
          </a:p>
          <a:p>
            <a:pPr algn="l">
              <a:lnSpc>
                <a:spcPct val="120000"/>
              </a:lnSpc>
            </a:pPr>
            <a:r>
              <a:rPr lang="ja-JP" altLang="en-US" sz="2200" b="1" dirty="0">
                <a:solidFill>
                  <a:srgbClr val="262626"/>
                </a:solidFill>
                <a:latin typeface="Meiryo"/>
                <a:ea typeface="Meiryo"/>
                <a:cs typeface="Meiryo"/>
              </a:rPr>
              <a:t>・心臓と血管が混在</a:t>
            </a:r>
          </a:p>
        </p:txBody>
      </p:sp>
      <p:sp>
        <p:nvSpPr>
          <p:cNvPr id="172" name="r-bg"/>
          <p:cNvSpPr/>
          <p:nvPr/>
        </p:nvSpPr>
        <p:spPr>
          <a:xfrm>
            <a:off x="6210080" y="1800000"/>
            <a:ext cx="5432840" cy="22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p:txBody>
      </p:sp>
      <p:sp>
        <p:nvSpPr>
          <p:cNvPr id="173" name="r-t"/>
          <p:cNvSpPr txBox="1"/>
          <p:nvPr/>
        </p:nvSpPr>
        <p:spPr>
          <a:xfrm>
            <a:off x="641008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形態軸（提案）</a:t>
            </a:r>
          </a:p>
        </p:txBody>
      </p:sp>
      <p:sp>
        <p:nvSpPr>
          <p:cNvPr id="174" name="r-b"/>
          <p:cNvSpPr txBox="1"/>
          <p:nvPr/>
        </p:nvSpPr>
        <p:spPr>
          <a:xfrm>
            <a:off x="6410080" y="250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SI・RI → 血管の状態</a:t>
            </a:r>
          </a:p>
          <a:p>
            <a:pPr algn="l">
              <a:lnSpc>
                <a:spcPct val="120000"/>
              </a:lnSpc>
            </a:pPr>
            <a:r>
              <a:rPr lang="ja-JP" altLang="en-US" sz="2200" b="1" dirty="0">
                <a:solidFill>
                  <a:srgbClr val="262626"/>
                </a:solidFill>
                <a:latin typeface="Meiryo"/>
                <a:ea typeface="Meiryo"/>
                <a:cs typeface="Meiryo"/>
              </a:rPr>
              <a:t>・同じ波形から取得</a:t>
            </a:r>
          </a:p>
        </p:txBody>
      </p:sp>
      <p:sp>
        <p:nvSpPr>
          <p:cNvPr id="175" name="banner"/>
          <p:cNvSpPr/>
          <p:nvPr/>
        </p:nvSpPr>
        <p:spPr>
          <a:xfrm>
            <a:off x="502920" y="4200000"/>
            <a:ext cx="11140000" cy="175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600" b="1" dirty="0">
                <a:solidFill>
                  <a:srgbClr val="262626"/>
                </a:solidFill>
                <a:latin typeface="Meiryo"/>
                <a:ea typeface="Meiryo"/>
                <a:cs typeface="Meiryo"/>
              </a:rPr>
              <a:t>K → K ( SI , RI )</a:t>
            </a:r>
          </a:p>
          <a:p>
            <a:pPr algn="ctr">
              <a:lnSpc>
                <a:spcPct val="120000"/>
              </a:lnSpc>
            </a:pPr>
            <a:r>
              <a:rPr lang="ja-JP" altLang="en-US" sz="2600" b="1" dirty="0">
                <a:solidFill>
                  <a:srgbClr val="262626"/>
                </a:solidFill>
                <a:latin typeface="Meiryo"/>
                <a:ea typeface="Meiryo"/>
                <a:cs typeface="Meiryo"/>
              </a:rPr>
              <a:t>波形の形（血管）で 波形の時間（PWTT）を較正</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600" dirty="0">
                <a:latin typeface="Meiryo"/>
                <a:ea typeface="Meiryo"/>
                <a:cs typeface="Meiryo"/>
              </a:rPr>
              <a:t>4.3  なぜ SI・RI か</a:t>
            </a:r>
          </a:p>
        </p:txBody>
      </p:sp>
      <p:sp>
        <p:nvSpPr>
          <p:cNvPr id="176" name="Off-page Connector 1"/>
          <p:cNvSpPr/>
          <p:nvPr/>
        </p:nvSpPr>
        <p:spPr>
          <a:xfrm>
            <a:off x="953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177" name="Off-page Connector 2"/>
          <p:cNvSpPr/>
          <p:nvPr/>
        </p:nvSpPr>
        <p:spPr>
          <a:xfrm>
            <a:off x="1019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178" name="Off-page Connector 3"/>
          <p:cNvSpPr/>
          <p:nvPr/>
        </p:nvSpPr>
        <p:spPr>
          <a:xfrm>
            <a:off x="1085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lnSpc>
                <a:spcPct val="100000"/>
              </a:lnSpc>
              <a:spcBef>
                <a:spcPts val="100"/>
              </a:spcBef>
            </a:pPr>
            <a:r>
              <a:rPr sz="1050" b="1">
                <a:solidFill>
                  <a:srgbClr val="808080"/>
                </a:solidFill>
                <a:latin typeface="Meiryo"/>
                <a:ea typeface="Meiryo"/>
                <a:cs typeface="Meiryo"/>
              </a:rPr>
              <a:t>定量化</a:t>
            </a:r>
          </a:p>
        </p:txBody>
      </p:sp>
      <p:sp>
        <p:nvSpPr>
          <p:cNvPr id="179" name="Off-page Connector 4"/>
          <p:cNvSpPr/>
          <p:nvPr/>
        </p:nvSpPr>
        <p:spPr>
          <a:xfrm>
            <a:off x="11514519" y="50400"/>
            <a:ext cx="620000" cy="583200"/>
          </a:xfrm>
          <a:prstGeom prst="flowChartOffpageConnector">
            <a:avLst/>
          </a:prstGeom>
          <a:solidFill>
            <a:srgbClr val="00A8AA"/>
          </a:solidFill>
          <a:ln>
            <a:noFill/>
          </a:ln>
          <a:effectLst/>
        </p:spPr>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lnSpc>
                <a:spcPct val="100000"/>
              </a:lnSpc>
              <a:spcBef>
                <a:spcPts val="100"/>
              </a:spcBef>
            </a:pPr>
            <a:r>
              <a:rPr sz="1050" b="1">
                <a:solidFill>
                  <a:srgbClr val="FFFFFF"/>
                </a:solidFill>
                <a:latin typeface="Meiryo"/>
                <a:ea typeface="Meiryo"/>
                <a:cs typeface="Meiryo"/>
              </a:rPr>
              <a:t>提案</a:t>
            </a:r>
          </a:p>
        </p:txBody>
      </p:sp>
      <p:sp>
        <p:nvSpPr>
          <p:cNvPr id="180"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6. Millasseau 2002　／　11. Chowienczyk 1999　／　45. Awad 2007</a:t>
            </a:r>
          </a:p>
        </p:txBody>
      </p:sp>
      <p:sp>
        <p:nvSpPr>
          <p:cNvPr id="181" name="PageNo"/>
          <p:cNvSpPr txBox="1"/>
          <p:nvPr/>
        </p:nvSpPr>
        <p:spPr>
          <a:xfrm>
            <a:off x="11049000" y="6606000"/>
            <a:ext cx="1005840" cy="219456"/>
          </a:xfrm>
          <a:prstGeom prst="rect">
            <a:avLst/>
          </a:prstGeom>
          <a:noFill/>
        </p:spPr>
        <p:txBody>
          <a:bodyPr wrap="square" lIns="0" tIns="0" rIns="0" bIns="0" anchor="t">
            <a:spAutoFit/>
          </a:bodyPr>
          <a:lstStyle/>
          <a:p>
            <a:pPr algn="r"/>
            <a:r>
              <a:rPr sz="1200">
                <a:solidFill>
                  <a:srgbClr val="808080"/>
                </a:solidFill>
                <a:latin typeface="Meiryo"/>
                <a:ea typeface="Meiryo"/>
                <a:cs typeface="Meiryo"/>
              </a:rPr>
              <a:t>45/55</a:t>
            </a:r>
          </a:p>
        </p:txBody>
      </p:sp>
      <p:sp>
        <p:nvSpPr>
          <p:cNvPr id="182" name="l-bg"/>
          <p:cNvSpPr/>
          <p:nvPr/>
        </p:nvSpPr>
        <p:spPr>
          <a:xfrm>
            <a:off x="502920" y="1800000"/>
            <a:ext cx="5432840" cy="24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p:txBody>
      </p:sp>
      <p:sp>
        <p:nvSpPr>
          <p:cNvPr id="183" name="l-t"/>
          <p:cNvSpPr txBox="1"/>
          <p:nvPr/>
        </p:nvSpPr>
        <p:spPr>
          <a:xfrm>
            <a:off x="70292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SI ＝ 身長 ÷ ΔT</a:t>
            </a:r>
          </a:p>
        </p:txBody>
      </p:sp>
      <p:sp>
        <p:nvSpPr>
          <p:cNvPr id="184" name="l-b"/>
          <p:cNvSpPr txBox="1"/>
          <p:nvPr/>
        </p:nvSpPr>
        <p:spPr>
          <a:xfrm>
            <a:off x="702920" y="2500000"/>
            <a:ext cx="5032840"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 PWV</a:t>
            </a:r>
          </a:p>
          <a:p>
            <a:pPr algn="l">
              <a:lnSpc>
                <a:spcPct val="120000"/>
              </a:lnSpc>
            </a:pPr>
            <a:r>
              <a:rPr lang="ja-JP" altLang="en-US" sz="2200" b="1" dirty="0">
                <a:solidFill>
                  <a:srgbClr val="262626"/>
                </a:solidFill>
                <a:latin typeface="Meiryo"/>
                <a:ea typeface="Meiryo"/>
                <a:cs typeface="Meiryo"/>
              </a:rPr>
              <a:t>・大血管スティフネス</a:t>
            </a:r>
          </a:p>
          <a:p>
            <a:pPr algn="l">
              <a:lnSpc>
                <a:spcPct val="120000"/>
              </a:lnSpc>
            </a:pPr>
            <a:r>
              <a:rPr lang="ja-JP" altLang="en-US" sz="2200" b="1" dirty="0">
                <a:solidFill>
                  <a:srgbClr val="262626"/>
                </a:solidFill>
                <a:latin typeface="Meiryo"/>
                <a:ea typeface="Meiryo"/>
                <a:cs typeface="Meiryo"/>
              </a:rPr>
              <a:t>・時間軸（位置）</a:t>
            </a:r>
          </a:p>
        </p:txBody>
      </p:sp>
      <p:sp>
        <p:nvSpPr>
          <p:cNvPr id="185" name="r-bg"/>
          <p:cNvSpPr/>
          <p:nvPr/>
        </p:nvSpPr>
        <p:spPr>
          <a:xfrm>
            <a:off x="6210080" y="1800000"/>
            <a:ext cx="5432840" cy="24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p:txBody>
      </p:sp>
      <p:sp>
        <p:nvSpPr>
          <p:cNvPr id="186" name="r-t"/>
          <p:cNvSpPr txBox="1"/>
          <p:nvPr/>
        </p:nvSpPr>
        <p:spPr>
          <a:xfrm>
            <a:off x="641008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RI ＝ P2 ÷ P1</a:t>
            </a:r>
          </a:p>
        </p:txBody>
      </p:sp>
      <p:sp>
        <p:nvSpPr>
          <p:cNvPr id="187" name="r-b"/>
          <p:cNvSpPr txBox="1"/>
          <p:nvPr/>
        </p:nvSpPr>
        <p:spPr>
          <a:xfrm>
            <a:off x="6410080" y="2500000"/>
            <a:ext cx="5032840"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・反射係数 Γ に相当</a:t>
            </a:r>
          </a:p>
          <a:p>
            <a:pPr algn="l">
              <a:lnSpc>
                <a:spcPct val="120000"/>
              </a:lnSpc>
            </a:pPr>
            <a:r>
              <a:rPr lang="ja-JP" altLang="en-US" sz="2200" b="1" dirty="0">
                <a:solidFill>
                  <a:srgbClr val="262626"/>
                </a:solidFill>
                <a:latin typeface="Meiryo"/>
                <a:ea typeface="Meiryo"/>
                <a:cs typeface="Meiryo"/>
              </a:rPr>
              <a:t>・末梢トーヌス・SVR</a:t>
            </a:r>
          </a:p>
          <a:p>
            <a:pPr algn="l">
              <a:lnSpc>
                <a:spcPct val="120000"/>
              </a:lnSpc>
            </a:pPr>
            <a:r>
              <a:rPr lang="ja-JP" altLang="en-US" sz="2200" b="1" dirty="0">
                <a:solidFill>
                  <a:srgbClr val="262626"/>
                </a:solidFill>
                <a:latin typeface="Meiryo"/>
                <a:ea typeface="Meiryo"/>
                <a:cs typeface="Meiryo"/>
              </a:rPr>
              <a:t>・高さ軸（大きさ）</a:t>
            </a:r>
          </a:p>
        </p:txBody>
      </p:sp>
      <p:sp>
        <p:nvSpPr>
          <p:cNvPr id="188" name="b1"/>
          <p:cNvSpPr/>
          <p:nvPr/>
        </p:nvSpPr>
        <p:spPr>
          <a:xfrm>
            <a:off x="502920" y="4400000"/>
            <a:ext cx="11140000" cy="95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交絡している後負荷そのものを 2 軸で測る</a:t>
            </a:r>
          </a:p>
        </p:txBody>
      </p:sp>
      <p:sp>
        <p:nvSpPr>
          <p:cNvPr id="189" name="b2"/>
          <p:cNvSpPr/>
          <p:nvPr/>
        </p:nvSpPr>
        <p:spPr>
          <a:xfrm>
            <a:off x="502920" y="5500000"/>
            <a:ext cx="11140000" cy="850000"/>
          </a:xfrm>
          <a:prstGeom prst="roundRect">
            <a:avLst>
              <a:gd name="adj" fmla="val 4000"/>
            </a:avLst>
          </a:prstGeom>
          <a:solidFill>
            <a:srgbClr val="E4F5F5"/>
          </a:solidFill>
          <a:ln w="28575">
            <a:solidFill>
              <a:srgbClr val="00A8AA"/>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SVR ↑ → 反射 ↑ → RI ↑</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600" dirty="0">
                <a:latin typeface="Meiryo"/>
                <a:ea typeface="Meiryo"/>
                <a:cs typeface="Meiryo"/>
              </a:rPr>
              <a:t>4.3  補正の手順</a:t>
            </a:r>
          </a:p>
        </p:txBody>
      </p:sp>
      <p:sp>
        <p:nvSpPr>
          <p:cNvPr id="190" name="Off-page Connector 1"/>
          <p:cNvSpPr/>
          <p:nvPr/>
        </p:nvSpPr>
        <p:spPr>
          <a:xfrm>
            <a:off x="953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191" name="Off-page Connector 2"/>
          <p:cNvSpPr/>
          <p:nvPr/>
        </p:nvSpPr>
        <p:spPr>
          <a:xfrm>
            <a:off x="1019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192" name="Off-page Connector 3"/>
          <p:cNvSpPr/>
          <p:nvPr/>
        </p:nvSpPr>
        <p:spPr>
          <a:xfrm>
            <a:off x="1085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lnSpc>
                <a:spcPct val="100000"/>
              </a:lnSpc>
              <a:spcBef>
                <a:spcPts val="100"/>
              </a:spcBef>
            </a:pPr>
            <a:r>
              <a:rPr sz="1050" b="1">
                <a:solidFill>
                  <a:srgbClr val="808080"/>
                </a:solidFill>
                <a:latin typeface="Meiryo"/>
                <a:ea typeface="Meiryo"/>
                <a:cs typeface="Meiryo"/>
              </a:rPr>
              <a:t>定量化</a:t>
            </a:r>
          </a:p>
        </p:txBody>
      </p:sp>
      <p:sp>
        <p:nvSpPr>
          <p:cNvPr id="193" name="Off-page Connector 4"/>
          <p:cNvSpPr/>
          <p:nvPr/>
        </p:nvSpPr>
        <p:spPr>
          <a:xfrm>
            <a:off x="11514519" y="50400"/>
            <a:ext cx="620000" cy="583200"/>
          </a:xfrm>
          <a:prstGeom prst="flowChartOffpageConnector">
            <a:avLst/>
          </a:prstGeom>
          <a:solidFill>
            <a:srgbClr val="00A8AA"/>
          </a:solidFill>
          <a:ln>
            <a:noFill/>
          </a:ln>
          <a:effectLst/>
        </p:spPr>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lnSpc>
                <a:spcPct val="100000"/>
              </a:lnSpc>
              <a:spcBef>
                <a:spcPts val="100"/>
              </a:spcBef>
            </a:pPr>
            <a:r>
              <a:rPr sz="1050" b="1">
                <a:solidFill>
                  <a:srgbClr val="FFFFFF"/>
                </a:solidFill>
                <a:latin typeface="Meiryo"/>
                <a:ea typeface="Meiryo"/>
                <a:cs typeface="Meiryo"/>
              </a:rPr>
              <a:t>提案</a:t>
            </a:r>
          </a:p>
        </p:txBody>
      </p:sp>
      <p:sp>
        <p:nvSpPr>
          <p:cNvPr id="194"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39. Magliocca 2018　／　42. Guinot 2018</a:t>
            </a:r>
          </a:p>
        </p:txBody>
      </p:sp>
      <p:sp>
        <p:nvSpPr>
          <p:cNvPr id="195" name="PageNo"/>
          <p:cNvSpPr txBox="1"/>
          <p:nvPr/>
        </p:nvSpPr>
        <p:spPr>
          <a:xfrm>
            <a:off x="11049000" y="6606000"/>
            <a:ext cx="1005840" cy="219456"/>
          </a:xfrm>
          <a:prstGeom prst="rect">
            <a:avLst/>
          </a:prstGeom>
          <a:noFill/>
        </p:spPr>
        <p:txBody>
          <a:bodyPr wrap="square" lIns="0" tIns="0" rIns="0" bIns="0" anchor="t">
            <a:spAutoFit/>
          </a:bodyPr>
          <a:lstStyle/>
          <a:p>
            <a:pPr algn="r"/>
            <a:r>
              <a:rPr sz="1200">
                <a:solidFill>
                  <a:srgbClr val="808080"/>
                </a:solidFill>
                <a:latin typeface="Meiryo"/>
                <a:ea typeface="Meiryo"/>
                <a:cs typeface="Meiryo"/>
              </a:rPr>
              <a:t>46/55</a:t>
            </a:r>
          </a:p>
        </p:txBody>
      </p:sp>
      <p:sp>
        <p:nvSpPr>
          <p:cNvPr id="196" name="c0-bg"/>
          <p:cNvSpPr/>
          <p:nvPr/>
        </p:nvSpPr>
        <p:spPr>
          <a:xfrm>
            <a:off x="502920" y="1800000"/>
            <a:ext cx="3560933" cy="21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p:txBody>
      </p:sp>
      <p:sp>
        <p:nvSpPr>
          <p:cNvPr id="197" name="c0-t"/>
          <p:cNvSpPr txBox="1"/>
          <p:nvPr/>
        </p:nvSpPr>
        <p:spPr>
          <a:xfrm>
            <a:off x="702920" y="195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較正時</a:t>
            </a:r>
          </a:p>
        </p:txBody>
      </p:sp>
      <p:sp>
        <p:nvSpPr>
          <p:cNvPr id="198" name="c0-b"/>
          <p:cNvSpPr txBox="1"/>
          <p:nvPr/>
        </p:nvSpPr>
        <p:spPr>
          <a:xfrm>
            <a:off x="702920" y="250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K と SI・RI を記録</a:t>
            </a:r>
          </a:p>
          <a:p>
            <a:pPr algn="l">
              <a:lnSpc>
                <a:spcPct val="120000"/>
              </a:lnSpc>
            </a:pPr>
            <a:r>
              <a:rPr lang="ja-JP" altLang="en-US" sz="2200" b="1" dirty="0">
                <a:solidFill>
                  <a:srgbClr val="262626"/>
                </a:solidFill>
                <a:latin typeface="Meiryo"/>
                <a:ea typeface="Meiryo"/>
                <a:cs typeface="Meiryo"/>
              </a:rPr>
              <a:t>同時刻の値を保存</a:t>
            </a:r>
          </a:p>
        </p:txBody>
      </p:sp>
      <p:sp>
        <p:nvSpPr>
          <p:cNvPr id="199" name="c1-bg"/>
          <p:cNvSpPr/>
          <p:nvPr/>
        </p:nvSpPr>
        <p:spPr>
          <a:xfrm>
            <a:off x="4292453" y="1800000"/>
            <a:ext cx="3560933" cy="21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p:txBody>
      </p:sp>
      <p:sp>
        <p:nvSpPr>
          <p:cNvPr id="200" name="c1-t"/>
          <p:cNvSpPr txBox="1"/>
          <p:nvPr/>
        </p:nvSpPr>
        <p:spPr>
          <a:xfrm>
            <a:off x="4492453" y="195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測定中</a:t>
            </a:r>
          </a:p>
        </p:txBody>
      </p:sp>
      <p:sp>
        <p:nvSpPr>
          <p:cNvPr id="201" name="c1-b"/>
          <p:cNvSpPr txBox="1"/>
          <p:nvPr/>
        </p:nvSpPr>
        <p:spPr>
          <a:xfrm>
            <a:off x="4492453" y="250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ΔSI・ΔRI を検出</a:t>
            </a:r>
          </a:p>
          <a:p>
            <a:pPr algn="l">
              <a:lnSpc>
                <a:spcPct val="120000"/>
              </a:lnSpc>
            </a:pPr>
            <a:r>
              <a:rPr lang="ja-JP" altLang="en-US" sz="2200" b="1" dirty="0">
                <a:solidFill>
                  <a:srgbClr val="262626"/>
                </a:solidFill>
                <a:latin typeface="Meiryo"/>
                <a:ea typeface="Meiryo"/>
                <a:cs typeface="Meiryo"/>
              </a:rPr>
              <a:t>血管側の変化とみなす</a:t>
            </a:r>
          </a:p>
        </p:txBody>
      </p:sp>
      <p:sp>
        <p:nvSpPr>
          <p:cNvPr id="202" name="c2-bg"/>
          <p:cNvSpPr/>
          <p:nvPr/>
        </p:nvSpPr>
        <p:spPr>
          <a:xfrm>
            <a:off x="8081986" y="1800000"/>
            <a:ext cx="3560933" cy="21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p:txBody>
      </p:sp>
      <p:sp>
        <p:nvSpPr>
          <p:cNvPr id="203" name="c2-t"/>
          <p:cNvSpPr txBox="1"/>
          <p:nvPr/>
        </p:nvSpPr>
        <p:spPr>
          <a:xfrm>
            <a:off x="8281986" y="195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補正</a:t>
            </a:r>
          </a:p>
        </p:txBody>
      </p:sp>
      <p:sp>
        <p:nvSpPr>
          <p:cNvPr id="204" name="c2-b"/>
          <p:cNvSpPr txBox="1"/>
          <p:nvPr/>
        </p:nvSpPr>
        <p:spPr>
          <a:xfrm>
            <a:off x="8281986" y="250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Δ に応じて K を補正</a:t>
            </a:r>
          </a:p>
          <a:p>
            <a:pPr algn="l">
              <a:lnSpc>
                <a:spcPct val="120000"/>
              </a:lnSpc>
            </a:pPr>
            <a:r>
              <a:rPr lang="ja-JP" altLang="en-US" sz="2200" b="1" dirty="0">
                <a:solidFill>
                  <a:srgbClr val="262626"/>
                </a:solidFill>
                <a:latin typeface="Meiryo"/>
                <a:ea typeface="Meiryo"/>
                <a:cs typeface="Meiryo"/>
              </a:rPr>
              <a:t>血管由来分を除く</a:t>
            </a:r>
          </a:p>
        </p:txBody>
      </p:sp>
      <p:sp>
        <p:nvSpPr>
          <p:cNvPr id="205" name="b1"/>
          <p:cNvSpPr/>
          <p:nvPr/>
        </p:nvSpPr>
        <p:spPr>
          <a:xfrm>
            <a:off x="502920" y="4150000"/>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600" b="1" dirty="0">
                <a:solidFill>
                  <a:srgbClr val="262626"/>
                </a:solidFill>
                <a:latin typeface="Meiryo"/>
                <a:ea typeface="Meiryo"/>
                <a:cs typeface="Meiryo"/>
              </a:rPr>
              <a:t>PWTT 短縮を SV 増加と数えない</a:t>
            </a:r>
          </a:p>
        </p:txBody>
      </p:sp>
      <p:sp>
        <p:nvSpPr>
          <p:cNvPr id="206" name="b2"/>
          <p:cNvSpPr/>
          <p:nvPr/>
        </p:nvSpPr>
        <p:spPr>
          <a:xfrm>
            <a:off x="502920" y="5200000"/>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個人内の Δ を追う ＝ 絶対較正が不要</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600" dirty="0">
                <a:latin typeface="Meiryo"/>
                <a:ea typeface="Meiryo"/>
                <a:cs typeface="Meiryo"/>
              </a:rPr>
              <a:t>4.4  期待される利点</a:t>
            </a:r>
          </a:p>
        </p:txBody>
      </p:sp>
      <p:sp>
        <p:nvSpPr>
          <p:cNvPr id="207" name="Off-page Connector 1"/>
          <p:cNvSpPr/>
          <p:nvPr/>
        </p:nvSpPr>
        <p:spPr>
          <a:xfrm>
            <a:off x="953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208" name="Off-page Connector 2"/>
          <p:cNvSpPr/>
          <p:nvPr/>
        </p:nvSpPr>
        <p:spPr>
          <a:xfrm>
            <a:off x="1019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209" name="Off-page Connector 3"/>
          <p:cNvSpPr/>
          <p:nvPr/>
        </p:nvSpPr>
        <p:spPr>
          <a:xfrm>
            <a:off x="1085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lnSpc>
                <a:spcPct val="100000"/>
              </a:lnSpc>
              <a:spcBef>
                <a:spcPts val="100"/>
              </a:spcBef>
            </a:pPr>
            <a:r>
              <a:rPr sz="1050" b="1">
                <a:solidFill>
                  <a:srgbClr val="808080"/>
                </a:solidFill>
                <a:latin typeface="Meiryo"/>
                <a:ea typeface="Meiryo"/>
                <a:cs typeface="Meiryo"/>
              </a:rPr>
              <a:t>定量化</a:t>
            </a:r>
          </a:p>
        </p:txBody>
      </p:sp>
      <p:sp>
        <p:nvSpPr>
          <p:cNvPr id="210" name="Off-page Connector 4"/>
          <p:cNvSpPr/>
          <p:nvPr/>
        </p:nvSpPr>
        <p:spPr>
          <a:xfrm>
            <a:off x="11514519" y="50400"/>
            <a:ext cx="620000" cy="583200"/>
          </a:xfrm>
          <a:prstGeom prst="flowChartOffpageConnector">
            <a:avLst/>
          </a:prstGeom>
          <a:solidFill>
            <a:srgbClr val="00A8AA"/>
          </a:solidFill>
          <a:ln>
            <a:noFill/>
          </a:ln>
          <a:effectLst/>
        </p:spPr>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lnSpc>
                <a:spcPct val="100000"/>
              </a:lnSpc>
              <a:spcBef>
                <a:spcPts val="100"/>
              </a:spcBef>
            </a:pPr>
            <a:r>
              <a:rPr sz="1050" b="1">
                <a:solidFill>
                  <a:srgbClr val="FFFFFF"/>
                </a:solidFill>
                <a:latin typeface="Meiryo"/>
                <a:ea typeface="Meiryo"/>
                <a:cs typeface="Meiryo"/>
              </a:rPr>
              <a:t>提案</a:t>
            </a:r>
          </a:p>
        </p:txBody>
      </p:sp>
      <p:sp>
        <p:nvSpPr>
          <p:cNvPr id="211"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6. Millasseau 2002　／　11. Chowienczyk 1999　／　33. Sugo 2010</a:t>
            </a:r>
          </a:p>
        </p:txBody>
      </p:sp>
      <p:sp>
        <p:nvSpPr>
          <p:cNvPr id="212" name="PageNo"/>
          <p:cNvSpPr txBox="1"/>
          <p:nvPr/>
        </p:nvSpPr>
        <p:spPr>
          <a:xfrm>
            <a:off x="11049000" y="6606000"/>
            <a:ext cx="1005840" cy="219456"/>
          </a:xfrm>
          <a:prstGeom prst="rect">
            <a:avLst/>
          </a:prstGeom>
          <a:noFill/>
        </p:spPr>
        <p:txBody>
          <a:bodyPr wrap="square" lIns="0" tIns="0" rIns="0" bIns="0" anchor="t">
            <a:spAutoFit/>
          </a:bodyPr>
          <a:lstStyle/>
          <a:p>
            <a:pPr algn="r"/>
            <a:r>
              <a:rPr sz="1200">
                <a:solidFill>
                  <a:srgbClr val="808080"/>
                </a:solidFill>
                <a:latin typeface="Meiryo"/>
                <a:ea typeface="Meiryo"/>
                <a:cs typeface="Meiryo"/>
              </a:rPr>
              <a:t>47/55</a:t>
            </a:r>
          </a:p>
        </p:txBody>
      </p:sp>
      <p:sp>
        <p:nvSpPr>
          <p:cNvPr id="213" name="c0-bg"/>
          <p:cNvSpPr/>
          <p:nvPr/>
        </p:nvSpPr>
        <p:spPr>
          <a:xfrm>
            <a:off x="502920" y="17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p:txBody>
      </p:sp>
      <p:sp>
        <p:nvSpPr>
          <p:cNvPr id="214" name="c0-t"/>
          <p:cNvSpPr txBox="1"/>
          <p:nvPr/>
        </p:nvSpPr>
        <p:spPr>
          <a:xfrm>
            <a:off x="70292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追加センサ 不要</a:t>
            </a:r>
          </a:p>
        </p:txBody>
      </p:sp>
      <p:sp>
        <p:nvSpPr>
          <p:cNvPr id="215" name="c0-b"/>
          <p:cNvSpPr txBox="1"/>
          <p:nvPr/>
        </p:nvSpPr>
        <p:spPr>
          <a:xfrm>
            <a:off x="70292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PWTT と同じ SpO₂ 信号</a:t>
            </a:r>
          </a:p>
          <a:p>
            <a:pPr algn="l">
              <a:lnSpc>
                <a:spcPct val="120000"/>
              </a:lnSpc>
            </a:pPr>
            <a:r>
              <a:rPr lang="ja-JP" altLang="en-US" sz="2200" b="1" dirty="0">
                <a:solidFill>
                  <a:srgbClr val="262626"/>
                </a:solidFill>
                <a:latin typeface="Meiryo"/>
                <a:ea typeface="Meiryo"/>
                <a:cs typeface="Meiryo"/>
              </a:rPr>
              <a:t>追加コスト ゼロ</a:t>
            </a:r>
          </a:p>
        </p:txBody>
      </p:sp>
      <p:sp>
        <p:nvSpPr>
          <p:cNvPr id="216" name="c1-bg"/>
          <p:cNvSpPr/>
          <p:nvPr/>
        </p:nvSpPr>
        <p:spPr>
          <a:xfrm>
            <a:off x="6210080" y="1780000"/>
            <a:ext cx="5432840" cy="17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p:txBody>
      </p:sp>
      <p:sp>
        <p:nvSpPr>
          <p:cNvPr id="217" name="c1-t"/>
          <p:cNvSpPr txBox="1"/>
          <p:nvPr/>
        </p:nvSpPr>
        <p:spPr>
          <a:xfrm>
            <a:off x="641008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AGC に強い</a:t>
            </a:r>
          </a:p>
        </p:txBody>
      </p:sp>
      <p:sp>
        <p:nvSpPr>
          <p:cNvPr id="218" name="c1-b"/>
          <p:cNvSpPr txBox="1"/>
          <p:nvPr/>
        </p:nvSpPr>
        <p:spPr>
          <a:xfrm>
            <a:off x="641008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同一拍内の振幅比</a:t>
            </a:r>
          </a:p>
          <a:p>
            <a:pPr algn="l">
              <a:lnSpc>
                <a:spcPct val="120000"/>
              </a:lnSpc>
            </a:pPr>
            <a:r>
              <a:rPr lang="ja-JP" altLang="en-US" sz="2200" b="1" dirty="0">
                <a:solidFill>
                  <a:srgbClr val="262626"/>
                </a:solidFill>
                <a:latin typeface="Meiryo"/>
                <a:ea typeface="Meiryo"/>
                <a:cs typeface="Meiryo"/>
              </a:rPr>
              <a:t>絶対振幅に依存しない</a:t>
            </a:r>
          </a:p>
        </p:txBody>
      </p:sp>
      <p:sp>
        <p:nvSpPr>
          <p:cNvPr id="219" name="c2-bg"/>
          <p:cNvSpPr/>
          <p:nvPr/>
        </p:nvSpPr>
        <p:spPr>
          <a:xfrm>
            <a:off x="502920" y="3680000"/>
            <a:ext cx="5432840" cy="17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p:txBody>
      </p:sp>
      <p:sp>
        <p:nvSpPr>
          <p:cNvPr id="220" name="c2-t"/>
          <p:cNvSpPr txBox="1"/>
          <p:nvPr/>
        </p:nvSpPr>
        <p:spPr>
          <a:xfrm>
            <a:off x="70292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後負荷を直接測る</a:t>
            </a:r>
          </a:p>
        </p:txBody>
      </p:sp>
      <p:sp>
        <p:nvSpPr>
          <p:cNvPr id="221" name="c2-b"/>
          <p:cNvSpPr txBox="1"/>
          <p:nvPr/>
        </p:nvSpPr>
        <p:spPr>
          <a:xfrm>
            <a:off x="70292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交絡変数そのもの</a:t>
            </a:r>
          </a:p>
          <a:p>
            <a:pPr algn="l">
              <a:lnSpc>
                <a:spcPct val="120000"/>
              </a:lnSpc>
            </a:pPr>
            <a:r>
              <a:rPr lang="ja-JP" altLang="en-US" sz="2200" b="1" dirty="0">
                <a:solidFill>
                  <a:srgbClr val="262626"/>
                </a:solidFill>
                <a:latin typeface="Meiryo"/>
                <a:ea typeface="Meiryo"/>
                <a:cs typeface="Meiryo"/>
              </a:rPr>
              <a:t>2 軸で分離できる</a:t>
            </a:r>
          </a:p>
        </p:txBody>
      </p:sp>
      <p:sp>
        <p:nvSpPr>
          <p:cNvPr id="222" name="c3-bg"/>
          <p:cNvSpPr/>
          <p:nvPr/>
        </p:nvSpPr>
        <p:spPr>
          <a:xfrm>
            <a:off x="6210080" y="36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p:txBody>
      </p:sp>
      <p:sp>
        <p:nvSpPr>
          <p:cNvPr id="223" name="c3-t"/>
          <p:cNvSpPr txBox="1"/>
          <p:nvPr/>
        </p:nvSpPr>
        <p:spPr>
          <a:xfrm>
            <a:off x="641008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④ 個人内 Δ で追う</a:t>
            </a:r>
          </a:p>
        </p:txBody>
      </p:sp>
      <p:sp>
        <p:nvSpPr>
          <p:cNvPr id="224" name="c3-b"/>
          <p:cNvSpPr txBox="1"/>
          <p:nvPr/>
        </p:nvSpPr>
        <p:spPr>
          <a:xfrm>
            <a:off x="641008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絶対較正が不要</a:t>
            </a:r>
          </a:p>
          <a:p>
            <a:pPr algn="l">
              <a:lnSpc>
                <a:spcPct val="120000"/>
              </a:lnSpc>
            </a:pPr>
            <a:r>
              <a:rPr lang="ja-JP" altLang="en-US" sz="2200" b="1" dirty="0">
                <a:solidFill>
                  <a:srgbClr val="262626"/>
                </a:solidFill>
                <a:latin typeface="Meiryo"/>
                <a:ea typeface="Meiryo"/>
                <a:cs typeface="Meiryo"/>
              </a:rPr>
              <a:t>加齢交絡に強い</a:t>
            </a:r>
          </a:p>
        </p:txBody>
      </p:sp>
      <p:sp>
        <p:nvSpPr>
          <p:cNvPr id="225" name="b"/>
          <p:cNvSpPr/>
          <p:nvPr/>
        </p:nvSpPr>
        <p:spPr>
          <a:xfrm>
            <a:off x="502920" y="5580000"/>
            <a:ext cx="11140000" cy="78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既存モニタに後付けできる（信号は同一）</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600" dirty="0">
                <a:latin typeface="Meiryo"/>
                <a:ea typeface="Meiryo"/>
                <a:cs typeface="Meiryo"/>
              </a:rPr>
              <a:t>4.5  限界 ― 指標の側</a:t>
            </a:r>
          </a:p>
        </p:txBody>
      </p:sp>
      <p:sp>
        <p:nvSpPr>
          <p:cNvPr id="226" name="Off-page Connector 1"/>
          <p:cNvSpPr/>
          <p:nvPr/>
        </p:nvSpPr>
        <p:spPr>
          <a:xfrm>
            <a:off x="953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227" name="Off-page Connector 2"/>
          <p:cNvSpPr/>
          <p:nvPr/>
        </p:nvSpPr>
        <p:spPr>
          <a:xfrm>
            <a:off x="1019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228" name="Off-page Connector 3"/>
          <p:cNvSpPr/>
          <p:nvPr/>
        </p:nvSpPr>
        <p:spPr>
          <a:xfrm>
            <a:off x="1085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lnSpc>
                <a:spcPct val="100000"/>
              </a:lnSpc>
              <a:spcBef>
                <a:spcPts val="100"/>
              </a:spcBef>
            </a:pPr>
            <a:r>
              <a:rPr sz="1050" b="1">
                <a:solidFill>
                  <a:srgbClr val="808080"/>
                </a:solidFill>
                <a:latin typeface="Meiryo"/>
                <a:ea typeface="Meiryo"/>
                <a:cs typeface="Meiryo"/>
              </a:rPr>
              <a:t>定量化</a:t>
            </a:r>
          </a:p>
        </p:txBody>
      </p:sp>
      <p:sp>
        <p:nvSpPr>
          <p:cNvPr id="229" name="Off-page Connector 4"/>
          <p:cNvSpPr/>
          <p:nvPr/>
        </p:nvSpPr>
        <p:spPr>
          <a:xfrm>
            <a:off x="11514519" y="50400"/>
            <a:ext cx="620000" cy="583200"/>
          </a:xfrm>
          <a:prstGeom prst="flowChartOffpageConnector">
            <a:avLst/>
          </a:prstGeom>
          <a:solidFill>
            <a:srgbClr val="00A8AA"/>
          </a:solidFill>
          <a:ln>
            <a:noFill/>
          </a:ln>
          <a:effectLst/>
        </p:spPr>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lnSpc>
                <a:spcPct val="100000"/>
              </a:lnSpc>
              <a:spcBef>
                <a:spcPts val="100"/>
              </a:spcBef>
            </a:pPr>
            <a:r>
              <a:rPr sz="1050" b="1">
                <a:solidFill>
                  <a:srgbClr val="FFFFFF"/>
                </a:solidFill>
                <a:latin typeface="Meiryo"/>
                <a:ea typeface="Meiryo"/>
                <a:cs typeface="Meiryo"/>
              </a:rPr>
              <a:t>提案</a:t>
            </a:r>
          </a:p>
        </p:txBody>
      </p:sp>
      <p:sp>
        <p:nvSpPr>
          <p:cNvPr id="230"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18. Md Lazim 2020　／　22. Lee 2011　／　44. Middleton 2011　／　46. Charlton 2022</a:t>
            </a:r>
          </a:p>
        </p:txBody>
      </p:sp>
      <p:sp>
        <p:nvSpPr>
          <p:cNvPr id="231" name="PageNo"/>
          <p:cNvSpPr txBox="1"/>
          <p:nvPr/>
        </p:nvSpPr>
        <p:spPr>
          <a:xfrm>
            <a:off x="11049000" y="6606000"/>
            <a:ext cx="1005840" cy="219456"/>
          </a:xfrm>
          <a:prstGeom prst="rect">
            <a:avLst/>
          </a:prstGeom>
          <a:noFill/>
        </p:spPr>
        <p:txBody>
          <a:bodyPr wrap="square" lIns="0" tIns="0" rIns="0" bIns="0" anchor="t">
            <a:spAutoFit/>
          </a:bodyPr>
          <a:lstStyle/>
          <a:p>
            <a:pPr algn="r"/>
            <a:r>
              <a:rPr sz="1200">
                <a:solidFill>
                  <a:srgbClr val="808080"/>
                </a:solidFill>
                <a:latin typeface="Meiryo"/>
                <a:ea typeface="Meiryo"/>
                <a:cs typeface="Meiryo"/>
              </a:rPr>
              <a:t>48/55</a:t>
            </a:r>
          </a:p>
        </p:txBody>
      </p:sp>
      <p:sp>
        <p:nvSpPr>
          <p:cNvPr id="232" name="c0-bg"/>
          <p:cNvSpPr/>
          <p:nvPr/>
        </p:nvSpPr>
        <p:spPr>
          <a:xfrm>
            <a:off x="502920" y="1780000"/>
            <a:ext cx="5432840" cy="175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p:txBody>
      </p:sp>
      <p:sp>
        <p:nvSpPr>
          <p:cNvPr id="233" name="c0-t"/>
          <p:cNvSpPr txBox="1"/>
          <p:nvPr/>
        </p:nvSpPr>
        <p:spPr>
          <a:xfrm>
            <a:off x="70292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00000"/>
                </a:solidFill>
                <a:latin typeface="Meiryo"/>
                <a:ea typeface="Meiryo"/>
                <a:cs typeface="Meiryo"/>
              </a:rPr>
              <a:t>① 時間スケール</a:t>
            </a:r>
          </a:p>
        </p:txBody>
      </p:sp>
      <p:sp>
        <p:nvSpPr>
          <p:cNvPr id="234" name="c0-b"/>
          <p:cNvSpPr txBox="1"/>
          <p:nvPr/>
        </p:nvSpPr>
        <p:spPr>
          <a:xfrm>
            <a:off x="70292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安静時・半慢性で検証</a:t>
            </a:r>
          </a:p>
          <a:p>
            <a:pPr algn="l">
              <a:lnSpc>
                <a:spcPct val="120000"/>
              </a:lnSpc>
            </a:pPr>
            <a:r>
              <a:rPr lang="ja-JP" altLang="en-US" sz="2200" b="1" dirty="0">
                <a:solidFill>
                  <a:srgbClr val="262626"/>
                </a:solidFill>
                <a:latin typeface="Meiryo"/>
                <a:ea typeface="Meiryo"/>
                <a:cs typeface="Meiryo"/>
              </a:rPr>
              <a:t>術中の急性変化は未検証</a:t>
            </a:r>
          </a:p>
        </p:txBody>
      </p:sp>
      <p:sp>
        <p:nvSpPr>
          <p:cNvPr id="235" name="c1-bg"/>
          <p:cNvSpPr/>
          <p:nvPr/>
        </p:nvSpPr>
        <p:spPr>
          <a:xfrm>
            <a:off x="6210080" y="1780000"/>
            <a:ext cx="5432840" cy="17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p:txBody>
      </p:sp>
      <p:sp>
        <p:nvSpPr>
          <p:cNvPr id="236" name="c1-t"/>
          <p:cNvSpPr txBox="1"/>
          <p:nvPr/>
        </p:nvSpPr>
        <p:spPr>
          <a:xfrm>
            <a:off x="641008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HR 交絡</a:t>
            </a:r>
          </a:p>
        </p:txBody>
      </p:sp>
      <p:sp>
        <p:nvSpPr>
          <p:cNvPr id="237" name="c1-b"/>
          <p:cNvSpPr txBox="1"/>
          <p:nvPr/>
        </p:nvSpPr>
        <p:spPr>
          <a:xfrm>
            <a:off x="641008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RI は振幅比 → HR 依存</a:t>
            </a:r>
          </a:p>
          <a:p>
            <a:pPr algn="l">
              <a:lnSpc>
                <a:spcPct val="120000"/>
              </a:lnSpc>
            </a:pPr>
            <a:r>
              <a:rPr lang="ja-JP" altLang="en-US" sz="2200" b="1" dirty="0">
                <a:solidFill>
                  <a:srgbClr val="262626"/>
                </a:solidFill>
                <a:latin typeface="Meiryo"/>
                <a:ea typeface="Meiryo"/>
                <a:cs typeface="Meiryo"/>
              </a:rPr>
              <a:t>確立した補正式なし</a:t>
            </a:r>
          </a:p>
        </p:txBody>
      </p:sp>
      <p:sp>
        <p:nvSpPr>
          <p:cNvPr id="238" name="c2-bg"/>
          <p:cNvSpPr/>
          <p:nvPr/>
        </p:nvSpPr>
        <p:spPr>
          <a:xfrm>
            <a:off x="502920" y="36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p:txBody>
      </p:sp>
      <p:sp>
        <p:nvSpPr>
          <p:cNvPr id="239" name="c2-t"/>
          <p:cNvSpPr txBox="1"/>
          <p:nvPr/>
        </p:nvSpPr>
        <p:spPr>
          <a:xfrm>
            <a:off x="70292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③ SI の血圧依存</a:t>
            </a:r>
          </a:p>
        </p:txBody>
      </p:sp>
      <p:sp>
        <p:nvSpPr>
          <p:cNvPr id="240" name="c2-b"/>
          <p:cNvSpPr txBox="1"/>
          <p:nvPr/>
        </p:nvSpPr>
        <p:spPr>
          <a:xfrm>
            <a:off x="70292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PWV 自体が伸展圧依存</a:t>
            </a:r>
          </a:p>
          <a:p>
            <a:pPr algn="l">
              <a:lnSpc>
                <a:spcPct val="120000"/>
              </a:lnSpc>
            </a:pPr>
            <a:r>
              <a:rPr lang="ja-JP" altLang="en-US" sz="2200" b="1" dirty="0">
                <a:solidFill>
                  <a:srgbClr val="262626"/>
                </a:solidFill>
                <a:latin typeface="Meiryo"/>
                <a:ea typeface="Meiryo"/>
                <a:cs typeface="Meiryo"/>
              </a:rPr>
              <a:t>硬さと血圧が不可分</a:t>
            </a:r>
          </a:p>
        </p:txBody>
      </p:sp>
      <p:sp>
        <p:nvSpPr>
          <p:cNvPr id="241" name="c3-bg"/>
          <p:cNvSpPr/>
          <p:nvPr/>
        </p:nvSpPr>
        <p:spPr>
          <a:xfrm>
            <a:off x="6210080" y="3680000"/>
            <a:ext cx="5432840" cy="17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p:txBody>
      </p:sp>
      <p:sp>
        <p:nvSpPr>
          <p:cNvPr id="242" name="c3-t"/>
          <p:cNvSpPr txBox="1"/>
          <p:nvPr/>
        </p:nvSpPr>
        <p:spPr>
          <a:xfrm>
            <a:off x="641008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④ 局所か全身か</a:t>
            </a:r>
          </a:p>
        </p:txBody>
      </p:sp>
      <p:sp>
        <p:nvSpPr>
          <p:cNvPr id="243" name="c3-b"/>
          <p:cNvSpPr txBox="1"/>
          <p:nvPr/>
        </p:nvSpPr>
        <p:spPr>
          <a:xfrm>
            <a:off x="641008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指尖 PPG と SVR</a:t>
            </a:r>
          </a:p>
          <a:p>
            <a:pPr algn="l">
              <a:lnSpc>
                <a:spcPct val="120000"/>
              </a:lnSpc>
            </a:pPr>
            <a:r>
              <a:rPr lang="ja-JP" altLang="en-US" sz="2200" b="1" dirty="0">
                <a:solidFill>
                  <a:srgbClr val="262626"/>
                </a:solidFill>
                <a:latin typeface="Meiryo"/>
                <a:ea typeface="Meiryo"/>
                <a:cs typeface="Meiryo"/>
              </a:rPr>
              <a:t>r ＝ 0.54 ／ κ ＝ 0.33</a:t>
            </a:r>
          </a:p>
        </p:txBody>
      </p:sp>
      <p:sp>
        <p:nvSpPr>
          <p:cNvPr id="244" name="b"/>
          <p:cNvSpPr/>
          <p:nvPr/>
        </p:nvSpPr>
        <p:spPr>
          <a:xfrm>
            <a:off x="502920" y="5580000"/>
            <a:ext cx="11140000" cy="780000"/>
          </a:xfrm>
          <a:prstGeom prst="roundRect">
            <a:avLst>
              <a:gd name="adj" fmla="val 4000"/>
            </a:avLst>
          </a:prstGeom>
          <a:solidFill>
            <a:srgbClr val="FCEAEA"/>
          </a:solidFill>
          <a:ln w="28575">
            <a:solidFill>
              <a:srgbClr val="C00000"/>
            </a:solidFill>
          </a:ln>
          <a:effectLst/>
        </p:spPr>
        <p:txBody>
          <a:bodyPr wrap="square" lIns="91440" tIns="45720" rIns="91440" bIns="45720" rtlCol="0" anchor="ctr">
            <a:noAutofit/>
          </a:bodyPr>
          <a:lstStyle/>
          <a:p>
            <a:pPr algn="ctr">
              <a:lnSpc>
                <a:spcPct val="120000"/>
              </a:lnSpc>
            </a:pPr>
            <a:r>
              <a:rPr lang="ja-JP" altLang="en-US" sz="2400" b="1" dirty="0">
                <a:solidFill>
                  <a:srgbClr val="C00000"/>
                </a:solidFill>
                <a:latin typeface="Meiryo"/>
                <a:ea typeface="Meiryo"/>
                <a:cs typeface="Meiryo"/>
              </a:rPr>
              <a:t>SI・RI は「安静時の指標」として検証されてきた</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600" dirty="0">
                <a:latin typeface="Meiryo"/>
                <a:ea typeface="Meiryo"/>
                <a:cs typeface="Meiryo"/>
              </a:rPr>
              <a:t>4.5  限界 ― 信号と検証の側</a:t>
            </a:r>
          </a:p>
        </p:txBody>
      </p:sp>
      <p:sp>
        <p:nvSpPr>
          <p:cNvPr id="245" name="Off-page Connector 1"/>
          <p:cNvSpPr/>
          <p:nvPr/>
        </p:nvSpPr>
        <p:spPr>
          <a:xfrm>
            <a:off x="953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246" name="Off-page Connector 2"/>
          <p:cNvSpPr/>
          <p:nvPr/>
        </p:nvSpPr>
        <p:spPr>
          <a:xfrm>
            <a:off x="1019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247" name="Off-page Connector 3"/>
          <p:cNvSpPr/>
          <p:nvPr/>
        </p:nvSpPr>
        <p:spPr>
          <a:xfrm>
            <a:off x="1085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lnSpc>
                <a:spcPct val="100000"/>
              </a:lnSpc>
              <a:spcBef>
                <a:spcPts val="100"/>
              </a:spcBef>
            </a:pPr>
            <a:r>
              <a:rPr sz="1050" b="1">
                <a:solidFill>
                  <a:srgbClr val="808080"/>
                </a:solidFill>
                <a:latin typeface="Meiryo"/>
                <a:ea typeface="Meiryo"/>
                <a:cs typeface="Meiryo"/>
              </a:rPr>
              <a:t>定量化</a:t>
            </a:r>
          </a:p>
        </p:txBody>
      </p:sp>
      <p:sp>
        <p:nvSpPr>
          <p:cNvPr id="248" name="Off-page Connector 4"/>
          <p:cNvSpPr/>
          <p:nvPr/>
        </p:nvSpPr>
        <p:spPr>
          <a:xfrm>
            <a:off x="11514519" y="50400"/>
            <a:ext cx="620000" cy="583200"/>
          </a:xfrm>
          <a:prstGeom prst="flowChartOffpageConnector">
            <a:avLst/>
          </a:prstGeom>
          <a:solidFill>
            <a:srgbClr val="00A8AA"/>
          </a:solidFill>
          <a:ln>
            <a:noFill/>
          </a:ln>
          <a:effectLst/>
        </p:spPr>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lnSpc>
                <a:spcPct val="100000"/>
              </a:lnSpc>
              <a:spcBef>
                <a:spcPts val="100"/>
              </a:spcBef>
            </a:pPr>
            <a:r>
              <a:rPr sz="1050" b="1">
                <a:solidFill>
                  <a:srgbClr val="FFFFFF"/>
                </a:solidFill>
                <a:latin typeface="Meiryo"/>
                <a:ea typeface="Meiryo"/>
                <a:cs typeface="Meiryo"/>
              </a:rPr>
              <a:t>提案</a:t>
            </a:r>
          </a:p>
        </p:txBody>
      </p:sp>
      <p:sp>
        <p:nvSpPr>
          <p:cNvPr id="249"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23. Elgendi 2012　／　24. Takazawa 1998　／　43. Beutel 2021</a:t>
            </a:r>
          </a:p>
        </p:txBody>
      </p:sp>
      <p:sp>
        <p:nvSpPr>
          <p:cNvPr id="250" name="PageNo"/>
          <p:cNvSpPr txBox="1"/>
          <p:nvPr/>
        </p:nvSpPr>
        <p:spPr>
          <a:xfrm>
            <a:off x="11049000" y="6606000"/>
            <a:ext cx="1005840" cy="219456"/>
          </a:xfrm>
          <a:prstGeom prst="rect">
            <a:avLst/>
          </a:prstGeom>
          <a:noFill/>
        </p:spPr>
        <p:txBody>
          <a:bodyPr wrap="square" lIns="0" tIns="0" rIns="0" bIns="0" anchor="t">
            <a:spAutoFit/>
          </a:bodyPr>
          <a:lstStyle/>
          <a:p>
            <a:pPr algn="r"/>
            <a:r>
              <a:rPr sz="1200">
                <a:solidFill>
                  <a:srgbClr val="808080"/>
                </a:solidFill>
                <a:latin typeface="Meiryo"/>
                <a:ea typeface="Meiryo"/>
                <a:cs typeface="Meiryo"/>
              </a:rPr>
              <a:t>49/55</a:t>
            </a:r>
          </a:p>
        </p:txBody>
      </p:sp>
      <p:sp>
        <p:nvSpPr>
          <p:cNvPr id="251" name="c0-bg"/>
          <p:cNvSpPr/>
          <p:nvPr/>
        </p:nvSpPr>
        <p:spPr>
          <a:xfrm>
            <a:off x="502920" y="1800000"/>
            <a:ext cx="3560933" cy="200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p:txBody>
      </p:sp>
      <p:sp>
        <p:nvSpPr>
          <p:cNvPr id="252" name="c0-t"/>
          <p:cNvSpPr txBox="1"/>
          <p:nvPr/>
        </p:nvSpPr>
        <p:spPr>
          <a:xfrm>
            <a:off x="702920" y="195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00000"/>
                </a:solidFill>
                <a:latin typeface="Meiryo"/>
                <a:ea typeface="Meiryo"/>
                <a:cs typeface="Meiryo"/>
              </a:rPr>
              <a:t>① 波形が取れない</a:t>
            </a:r>
          </a:p>
        </p:txBody>
      </p:sp>
      <p:sp>
        <p:nvSpPr>
          <p:cNvPr id="253" name="c0-b"/>
          <p:cNvSpPr txBox="1"/>
          <p:nvPr/>
        </p:nvSpPr>
        <p:spPr>
          <a:xfrm>
            <a:off x="702920" y="250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一峰性化・低灌流</a:t>
            </a:r>
          </a:p>
          <a:p>
            <a:pPr algn="l">
              <a:lnSpc>
                <a:spcPct val="120000"/>
              </a:lnSpc>
            </a:pPr>
            <a:r>
              <a:rPr lang="ja-JP" altLang="en-US" sz="2200" b="1" dirty="0">
                <a:solidFill>
                  <a:srgbClr val="262626"/>
                </a:solidFill>
                <a:latin typeface="Meiryo"/>
                <a:ea typeface="Meiryo"/>
                <a:cs typeface="Meiryo"/>
              </a:rPr>
              <a:t>P1・P2 が同定不能</a:t>
            </a:r>
          </a:p>
        </p:txBody>
      </p:sp>
      <p:sp>
        <p:nvSpPr>
          <p:cNvPr id="254" name="c1-bg"/>
          <p:cNvSpPr/>
          <p:nvPr/>
        </p:nvSpPr>
        <p:spPr>
          <a:xfrm>
            <a:off x="4292453" y="1800000"/>
            <a:ext cx="3560933" cy="20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p:txBody>
      </p:sp>
      <p:sp>
        <p:nvSpPr>
          <p:cNvPr id="255" name="c1-t"/>
          <p:cNvSpPr txBox="1"/>
          <p:nvPr/>
        </p:nvSpPr>
        <p:spPr>
          <a:xfrm>
            <a:off x="4492453" y="195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帯域制限</a:t>
            </a:r>
          </a:p>
        </p:txBody>
      </p:sp>
      <p:sp>
        <p:nvSpPr>
          <p:cNvPr id="256" name="c1-b"/>
          <p:cNvSpPr txBox="1"/>
          <p:nvPr/>
        </p:nvSpPr>
        <p:spPr>
          <a:xfrm>
            <a:off x="4492453" y="250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モニタ側の前処理</a:t>
            </a:r>
          </a:p>
          <a:p>
            <a:pPr algn="l">
              <a:lnSpc>
                <a:spcPct val="120000"/>
              </a:lnSpc>
            </a:pPr>
            <a:r>
              <a:rPr lang="ja-JP" altLang="en-US" sz="2200" b="1" dirty="0">
                <a:solidFill>
                  <a:srgbClr val="262626"/>
                </a:solidFill>
                <a:latin typeface="Meiryo"/>
                <a:ea typeface="Meiryo"/>
                <a:cs typeface="Meiryo"/>
              </a:rPr>
              <a:t>P2 が消えれば不成立</a:t>
            </a:r>
          </a:p>
        </p:txBody>
      </p:sp>
      <p:sp>
        <p:nvSpPr>
          <p:cNvPr id="257" name="c2-bg"/>
          <p:cNvSpPr/>
          <p:nvPr/>
        </p:nvSpPr>
        <p:spPr>
          <a:xfrm>
            <a:off x="8081986" y="1800000"/>
            <a:ext cx="3560933" cy="20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p:txBody>
      </p:sp>
      <p:sp>
        <p:nvSpPr>
          <p:cNvPr id="258" name="c2-t"/>
          <p:cNvSpPr txBox="1"/>
          <p:nvPr/>
        </p:nvSpPr>
        <p:spPr>
          <a:xfrm>
            <a:off x="8281986" y="195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③ 過学習</a:t>
            </a:r>
          </a:p>
        </p:txBody>
      </p:sp>
      <p:sp>
        <p:nvSpPr>
          <p:cNvPr id="259" name="c2-b"/>
          <p:cNvSpPr txBox="1"/>
          <p:nvPr/>
        </p:nvSpPr>
        <p:spPr>
          <a:xfrm>
            <a:off x="8281986" y="250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項を足せば当たる</a:t>
            </a:r>
          </a:p>
          <a:p>
            <a:pPr algn="l">
              <a:lnSpc>
                <a:spcPct val="120000"/>
              </a:lnSpc>
            </a:pPr>
            <a:r>
              <a:rPr lang="ja-JP" altLang="en-US" sz="2200" b="1" dirty="0">
                <a:solidFill>
                  <a:srgbClr val="262626"/>
                </a:solidFill>
                <a:latin typeface="Meiryo"/>
                <a:ea typeface="Meiryo"/>
                <a:cs typeface="Meiryo"/>
              </a:rPr>
              <a:t>交差検証が必須</a:t>
            </a:r>
          </a:p>
        </p:txBody>
      </p:sp>
      <p:sp>
        <p:nvSpPr>
          <p:cNvPr id="260" name="b1"/>
          <p:cNvSpPr/>
          <p:nvPr/>
        </p:nvSpPr>
        <p:spPr>
          <a:xfrm>
            <a:off x="502920" y="3950000"/>
            <a:ext cx="11140000" cy="1000000"/>
          </a:xfrm>
          <a:prstGeom prst="roundRect">
            <a:avLst>
              <a:gd name="adj" fmla="val 4000"/>
            </a:avLst>
          </a:prstGeom>
          <a:solidFill>
            <a:srgbClr val="FCEAEA"/>
          </a:solidFill>
          <a:ln w="28575">
            <a:solidFill>
              <a:srgbClr val="C00000"/>
            </a:solidFill>
          </a:ln>
          <a:effectLst/>
        </p:spPr>
        <p:txBody>
          <a:bodyPr wrap="square" lIns="91440" tIns="45720" rIns="91440" bIns="45720" rtlCol="0" anchor="ctr">
            <a:noAutofit/>
          </a:bodyPr>
          <a:lstStyle/>
          <a:p>
            <a:pPr algn="ctr">
              <a:lnSpc>
                <a:spcPct val="120000"/>
              </a:lnSpc>
            </a:pPr>
            <a:r>
              <a:rPr lang="ja-JP" altLang="en-US" sz="2600" b="1" dirty="0">
                <a:solidFill>
                  <a:srgbClr val="C00000"/>
                </a:solidFill>
                <a:latin typeface="Meiryo"/>
                <a:ea typeface="Meiryo"/>
                <a:cs typeface="Meiryo"/>
              </a:rPr>
              <a:t>まず「実波形で SI・RI が取れるか」</a:t>
            </a:r>
          </a:p>
        </p:txBody>
      </p:sp>
      <p:sp>
        <p:nvSpPr>
          <p:cNvPr id="261" name="b2"/>
          <p:cNvSpPr/>
          <p:nvPr/>
        </p:nvSpPr>
        <p:spPr>
          <a:xfrm>
            <a:off x="502920" y="5100000"/>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麻酔中のデータが少ない ― 蓄積が要る</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600" dirty="0">
                <a:latin typeface="Meiryo"/>
                <a:ea typeface="Meiryo"/>
                <a:cs typeface="Meiryo"/>
              </a:rPr>
              <a:t>4.6  検証設計と反証条件</a:t>
            </a:r>
          </a:p>
        </p:txBody>
      </p:sp>
      <p:sp>
        <p:nvSpPr>
          <p:cNvPr id="262" name="Off-page Connector 1"/>
          <p:cNvSpPr/>
          <p:nvPr/>
        </p:nvSpPr>
        <p:spPr>
          <a:xfrm>
            <a:off x="953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263" name="Off-page Connector 2"/>
          <p:cNvSpPr/>
          <p:nvPr/>
        </p:nvSpPr>
        <p:spPr>
          <a:xfrm>
            <a:off x="1019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264" name="Off-page Connector 3"/>
          <p:cNvSpPr/>
          <p:nvPr/>
        </p:nvSpPr>
        <p:spPr>
          <a:xfrm>
            <a:off x="1085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lnSpc>
                <a:spcPct val="100000"/>
              </a:lnSpc>
              <a:spcBef>
                <a:spcPts val="100"/>
              </a:spcBef>
            </a:pPr>
            <a:r>
              <a:rPr sz="1050" b="1">
                <a:solidFill>
                  <a:srgbClr val="808080"/>
                </a:solidFill>
                <a:latin typeface="Meiryo"/>
                <a:ea typeface="Meiryo"/>
                <a:cs typeface="Meiryo"/>
              </a:rPr>
              <a:t>定量化</a:t>
            </a:r>
          </a:p>
        </p:txBody>
      </p:sp>
      <p:sp>
        <p:nvSpPr>
          <p:cNvPr id="265" name="Off-page Connector 4"/>
          <p:cNvSpPr/>
          <p:nvPr/>
        </p:nvSpPr>
        <p:spPr>
          <a:xfrm>
            <a:off x="11514519" y="50400"/>
            <a:ext cx="620000" cy="583200"/>
          </a:xfrm>
          <a:prstGeom prst="flowChartOffpageConnector">
            <a:avLst/>
          </a:prstGeom>
          <a:solidFill>
            <a:srgbClr val="00A8AA"/>
          </a:solidFill>
          <a:ln>
            <a:noFill/>
          </a:ln>
          <a:effectLst/>
        </p:spPr>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lnSpc>
                <a:spcPct val="100000"/>
              </a:lnSpc>
              <a:spcBef>
                <a:spcPts val="100"/>
              </a:spcBef>
            </a:pPr>
            <a:r>
              <a:rPr sz="1050" b="1">
                <a:solidFill>
                  <a:srgbClr val="FFFFFF"/>
                </a:solidFill>
                <a:latin typeface="Meiryo"/>
                <a:ea typeface="Meiryo"/>
                <a:cs typeface="Meiryo"/>
              </a:rPr>
              <a:t>提案</a:t>
            </a:r>
          </a:p>
        </p:txBody>
      </p:sp>
      <p:sp>
        <p:nvSpPr>
          <p:cNvPr id="266"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38. Biais 2015　／　40. Critchley 1999</a:t>
            </a:r>
          </a:p>
        </p:txBody>
      </p:sp>
      <p:sp>
        <p:nvSpPr>
          <p:cNvPr id="267" name="PageNo"/>
          <p:cNvSpPr txBox="1"/>
          <p:nvPr/>
        </p:nvSpPr>
        <p:spPr>
          <a:xfrm>
            <a:off x="11049000" y="6606000"/>
            <a:ext cx="1005840" cy="219456"/>
          </a:xfrm>
          <a:prstGeom prst="rect">
            <a:avLst/>
          </a:prstGeom>
          <a:noFill/>
        </p:spPr>
        <p:txBody>
          <a:bodyPr wrap="square" lIns="0" tIns="0" rIns="0" bIns="0" anchor="t">
            <a:spAutoFit/>
          </a:bodyPr>
          <a:lstStyle/>
          <a:p>
            <a:pPr algn="r"/>
            <a:r>
              <a:rPr sz="1200">
                <a:solidFill>
                  <a:srgbClr val="808080"/>
                </a:solidFill>
                <a:latin typeface="Meiryo"/>
                <a:ea typeface="Meiryo"/>
                <a:cs typeface="Meiryo"/>
              </a:rPr>
              <a:t>50/55</a:t>
            </a:r>
          </a:p>
        </p:txBody>
      </p:sp>
      <p:sp>
        <p:nvSpPr>
          <p:cNvPr id="268" name="chip0"/>
          <p:cNvSpPr/>
          <p:nvPr/>
        </p:nvSpPr>
        <p:spPr>
          <a:xfrm>
            <a:off x="502920" y="1750000"/>
            <a:ext cx="1600000" cy="1100000"/>
          </a:xfrm>
          <a:prstGeom prst="roundRect">
            <a:avLst>
              <a:gd name="adj" fmla="val 6000"/>
            </a:avLst>
          </a:prstGeom>
          <a:solidFill>
            <a:srgbClr val="C00000"/>
          </a:solidFill>
          <a:ln w="19050">
            <a:solidFill>
              <a:srgbClr val="C00000"/>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段階 0</a:t>
            </a:r>
          </a:p>
        </p:txBody>
      </p:sp>
      <p:sp>
        <p:nvSpPr>
          <p:cNvPr id="269" name="row0"/>
          <p:cNvSpPr/>
          <p:nvPr/>
        </p:nvSpPr>
        <p:spPr>
          <a:xfrm>
            <a:off x="2302920" y="1750000"/>
            <a:ext cx="9340000" cy="110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p:txBody>
      </p:sp>
      <p:sp>
        <p:nvSpPr>
          <p:cNvPr id="270" name="t0"/>
          <p:cNvSpPr txBox="1"/>
          <p:nvPr/>
        </p:nvSpPr>
        <p:spPr>
          <a:xfrm>
            <a:off x="2502920" y="183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実波形から SI・RI が安定して取れるか</a:t>
            </a:r>
          </a:p>
          <a:p>
            <a:pPr algn="l">
              <a:lnSpc>
                <a:spcPct val="120000"/>
              </a:lnSpc>
            </a:pPr>
            <a:r>
              <a:rPr lang="ja-JP" altLang="en-US" sz="2200" b="1" dirty="0">
                <a:solidFill>
                  <a:srgbClr val="262626"/>
                </a:solidFill>
                <a:latin typeface="Meiryo"/>
                <a:ea typeface="Meiryo"/>
                <a:cs typeface="Meiryo"/>
              </a:rPr>
              <a:t>→ 取れなければ、この時点で提案は成立しない</a:t>
            </a:r>
          </a:p>
        </p:txBody>
      </p:sp>
      <p:sp>
        <p:nvSpPr>
          <p:cNvPr id="271" name="chip1"/>
          <p:cNvSpPr/>
          <p:nvPr/>
        </p:nvSpPr>
        <p:spPr>
          <a:xfrm>
            <a:off x="502920" y="293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段階 1</a:t>
            </a:r>
          </a:p>
        </p:txBody>
      </p:sp>
      <p:sp>
        <p:nvSpPr>
          <p:cNvPr id="272" name="row1"/>
          <p:cNvSpPr/>
          <p:nvPr/>
        </p:nvSpPr>
        <p:spPr>
          <a:xfrm>
            <a:off x="2302920" y="293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p:txBody>
      </p:sp>
      <p:sp>
        <p:nvSpPr>
          <p:cNvPr id="273" name="t1"/>
          <p:cNvSpPr txBox="1"/>
          <p:nvPr/>
        </p:nvSpPr>
        <p:spPr>
          <a:xfrm>
            <a:off x="2502920" y="301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esCCO の誤差を SI・RI で説明できるか</a:t>
            </a:r>
          </a:p>
          <a:p>
            <a:pPr algn="l">
              <a:lnSpc>
                <a:spcPct val="120000"/>
              </a:lnSpc>
            </a:pPr>
            <a:r>
              <a:rPr lang="ja-JP" altLang="en-US" sz="2200" b="1" dirty="0">
                <a:solidFill>
                  <a:srgbClr val="262626"/>
                </a:solidFill>
                <a:latin typeface="Meiryo"/>
                <a:ea typeface="Meiryo"/>
                <a:cs typeface="Meiryo"/>
              </a:rPr>
              <a:t>→ 有意な関係がなければ棄却</a:t>
            </a:r>
          </a:p>
        </p:txBody>
      </p:sp>
      <p:sp>
        <p:nvSpPr>
          <p:cNvPr id="274" name="chip2"/>
          <p:cNvSpPr/>
          <p:nvPr/>
        </p:nvSpPr>
        <p:spPr>
          <a:xfrm>
            <a:off x="502920" y="411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段階 2</a:t>
            </a:r>
          </a:p>
        </p:txBody>
      </p:sp>
      <p:sp>
        <p:nvSpPr>
          <p:cNvPr id="275" name="row2"/>
          <p:cNvSpPr/>
          <p:nvPr/>
        </p:nvSpPr>
        <p:spPr>
          <a:xfrm>
            <a:off x="2302920" y="411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p:txBody>
      </p:sp>
      <p:sp>
        <p:nvSpPr>
          <p:cNvPr id="276" name="t2"/>
          <p:cNvSpPr txBox="1"/>
          <p:nvPr/>
        </p:nvSpPr>
        <p:spPr>
          <a:xfrm>
            <a:off x="2502920" y="419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補正後に誤差率は改善するか</a:t>
            </a:r>
          </a:p>
          <a:p>
            <a:pPr algn="l">
              <a:lnSpc>
                <a:spcPct val="120000"/>
              </a:lnSpc>
            </a:pPr>
            <a:r>
              <a:rPr lang="ja-JP" altLang="en-US" sz="2200" b="1" dirty="0">
                <a:solidFill>
                  <a:srgbClr val="262626"/>
                </a:solidFill>
                <a:latin typeface="Meiryo"/>
                <a:ea typeface="Meiryo"/>
                <a:cs typeface="Meiryo"/>
              </a:rPr>
              <a:t>→ 交差検証で改善しない・悪化すれば棄却</a:t>
            </a:r>
          </a:p>
        </p:txBody>
      </p:sp>
      <p:sp>
        <p:nvSpPr>
          <p:cNvPr id="277" name="chip3"/>
          <p:cNvSpPr/>
          <p:nvPr/>
        </p:nvSpPr>
        <p:spPr>
          <a:xfrm>
            <a:off x="502920" y="529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段階 3</a:t>
            </a:r>
          </a:p>
        </p:txBody>
      </p:sp>
      <p:sp>
        <p:nvSpPr>
          <p:cNvPr id="278" name="row3"/>
          <p:cNvSpPr/>
          <p:nvPr/>
        </p:nvSpPr>
        <p:spPr>
          <a:xfrm>
            <a:off x="2302920" y="529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p:txBody>
      </p:sp>
      <p:sp>
        <p:nvSpPr>
          <p:cNvPr id="279" name="t3"/>
          <p:cNvSpPr txBox="1"/>
          <p:nvPr/>
        </p:nvSpPr>
        <p:spPr>
          <a:xfrm>
            <a:off x="2502920" y="537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昇圧薬投与の場面で改善するか</a:t>
            </a:r>
          </a:p>
          <a:p>
            <a:pPr algn="l">
              <a:lnSpc>
                <a:spcPct val="120000"/>
              </a:lnSpc>
            </a:pPr>
            <a:r>
              <a:rPr lang="ja-JP" altLang="en-US" sz="2200" b="1" dirty="0">
                <a:solidFill>
                  <a:srgbClr val="262626"/>
                </a:solidFill>
                <a:latin typeface="Meiryo"/>
                <a:ea typeface="Meiryo"/>
                <a:cs typeface="Meiryo"/>
              </a:rPr>
              <a:t>→ 改善しなければ実用上の意義はない</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600" dirty="0">
                <a:latin typeface="Meiryo"/>
                <a:ea typeface="Meiryo"/>
                <a:cs typeface="Meiryo"/>
              </a:rPr>
              <a:t>4.  提案のまとめ</a:t>
            </a:r>
          </a:p>
        </p:txBody>
      </p:sp>
      <p:sp>
        <p:nvSpPr>
          <p:cNvPr id="280" name="Off-page Connector 1"/>
          <p:cNvSpPr/>
          <p:nvPr/>
        </p:nvSpPr>
        <p:spPr>
          <a:xfrm>
            <a:off x="953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281" name="Off-page Connector 2"/>
          <p:cNvSpPr/>
          <p:nvPr/>
        </p:nvSpPr>
        <p:spPr>
          <a:xfrm>
            <a:off x="1019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282" name="Off-page Connector 3"/>
          <p:cNvSpPr/>
          <p:nvPr/>
        </p:nvSpPr>
        <p:spPr>
          <a:xfrm>
            <a:off x="1085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lnSpc>
                <a:spcPct val="100000"/>
              </a:lnSpc>
              <a:spcBef>
                <a:spcPts val="100"/>
              </a:spcBef>
            </a:pPr>
            <a:r>
              <a:rPr sz="1050" b="1">
                <a:solidFill>
                  <a:srgbClr val="808080"/>
                </a:solidFill>
                <a:latin typeface="Meiryo"/>
                <a:ea typeface="Meiryo"/>
                <a:cs typeface="Meiryo"/>
              </a:rPr>
              <a:t>定量化</a:t>
            </a:r>
          </a:p>
        </p:txBody>
      </p:sp>
      <p:sp>
        <p:nvSpPr>
          <p:cNvPr id="283" name="Off-page Connector 4"/>
          <p:cNvSpPr/>
          <p:nvPr/>
        </p:nvSpPr>
        <p:spPr>
          <a:xfrm>
            <a:off x="11514519" y="50400"/>
            <a:ext cx="620000" cy="583200"/>
          </a:xfrm>
          <a:prstGeom prst="flowChartOffpageConnector">
            <a:avLst/>
          </a:prstGeom>
          <a:solidFill>
            <a:srgbClr val="00A8AA"/>
          </a:solidFill>
          <a:ln>
            <a:noFill/>
          </a:ln>
          <a:effectLst/>
        </p:spPr>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lnSpc>
                <a:spcPct val="100000"/>
              </a:lnSpc>
              <a:spcBef>
                <a:spcPts val="100"/>
              </a:spcBef>
            </a:pPr>
            <a:r>
              <a:rPr sz="1050" b="1">
                <a:solidFill>
                  <a:srgbClr val="FFFFFF"/>
                </a:solidFill>
                <a:latin typeface="Meiryo"/>
                <a:ea typeface="Meiryo"/>
                <a:cs typeface="Meiryo"/>
              </a:rPr>
              <a:t>提案</a:t>
            </a:r>
          </a:p>
        </p:txBody>
      </p:sp>
      <p:sp>
        <p:nvSpPr>
          <p:cNvPr id="284"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35. Yamada 2012　／　39. Magliocca 2018</a:t>
            </a:r>
          </a:p>
        </p:txBody>
      </p:sp>
      <p:sp>
        <p:nvSpPr>
          <p:cNvPr id="285" name="PageNo"/>
          <p:cNvSpPr txBox="1"/>
          <p:nvPr/>
        </p:nvSpPr>
        <p:spPr>
          <a:xfrm>
            <a:off x="11049000" y="6606000"/>
            <a:ext cx="1005840" cy="219456"/>
          </a:xfrm>
          <a:prstGeom prst="rect">
            <a:avLst/>
          </a:prstGeom>
          <a:noFill/>
        </p:spPr>
        <p:txBody>
          <a:bodyPr wrap="square" lIns="0" tIns="0" rIns="0" bIns="0" anchor="t">
            <a:spAutoFit/>
          </a:bodyPr>
          <a:lstStyle/>
          <a:p>
            <a:pPr algn="r"/>
            <a:r>
              <a:rPr sz="1200">
                <a:solidFill>
                  <a:srgbClr val="808080"/>
                </a:solidFill>
                <a:latin typeface="Meiryo"/>
                <a:ea typeface="Meiryo"/>
                <a:cs typeface="Meiryo"/>
              </a:rPr>
              <a:t>51/55</a:t>
            </a:r>
          </a:p>
        </p:txBody>
      </p:sp>
      <p:sp>
        <p:nvSpPr>
          <p:cNvPr id="286" name="c0-bg"/>
          <p:cNvSpPr/>
          <p:nvPr/>
        </p:nvSpPr>
        <p:spPr>
          <a:xfrm>
            <a:off x="502920" y="1780000"/>
            <a:ext cx="3560933" cy="21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p:txBody>
      </p:sp>
      <p:sp>
        <p:nvSpPr>
          <p:cNvPr id="287" name="c0-t"/>
          <p:cNvSpPr txBox="1"/>
          <p:nvPr/>
        </p:nvSpPr>
        <p:spPr>
          <a:xfrm>
            <a:off x="702920" y="193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説明できる誤差</a:t>
            </a:r>
          </a:p>
        </p:txBody>
      </p:sp>
      <p:sp>
        <p:nvSpPr>
          <p:cNvPr id="288" name="c0-b"/>
          <p:cNvSpPr txBox="1"/>
          <p:nvPr/>
        </p:nvSpPr>
        <p:spPr>
          <a:xfrm>
            <a:off x="702920" y="248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SVR・Ea と相関</a:t>
            </a:r>
          </a:p>
          <a:p>
            <a:pPr algn="l">
              <a:lnSpc>
                <a:spcPct val="120000"/>
              </a:lnSpc>
            </a:pPr>
            <a:r>
              <a:rPr lang="ja-JP" altLang="en-US" sz="2200" b="1" dirty="0">
                <a:solidFill>
                  <a:srgbClr val="262626"/>
                </a:solidFill>
                <a:latin typeface="Meiryo"/>
                <a:ea typeface="Meiryo"/>
                <a:cs typeface="Meiryo"/>
              </a:rPr>
              <a:t>＝ 補正の余地</a:t>
            </a:r>
          </a:p>
        </p:txBody>
      </p:sp>
      <p:sp>
        <p:nvSpPr>
          <p:cNvPr id="289" name="c1-bg"/>
          <p:cNvSpPr/>
          <p:nvPr/>
        </p:nvSpPr>
        <p:spPr>
          <a:xfrm>
            <a:off x="4292453" y="1780000"/>
            <a:ext cx="3560933" cy="21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p:txBody>
      </p:sp>
      <p:sp>
        <p:nvSpPr>
          <p:cNvPr id="290" name="c1-t"/>
          <p:cNvSpPr txBox="1"/>
          <p:nvPr/>
        </p:nvSpPr>
        <p:spPr>
          <a:xfrm>
            <a:off x="4492453" y="193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同じ波形から</a:t>
            </a:r>
          </a:p>
        </p:txBody>
      </p:sp>
      <p:sp>
        <p:nvSpPr>
          <p:cNvPr id="291" name="c1-b"/>
          <p:cNvSpPr txBox="1"/>
          <p:nvPr/>
        </p:nvSpPr>
        <p:spPr>
          <a:xfrm>
            <a:off x="4492453" y="248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SI ＝ スティフネス</a:t>
            </a:r>
          </a:p>
          <a:p>
            <a:pPr algn="l">
              <a:lnSpc>
                <a:spcPct val="120000"/>
              </a:lnSpc>
            </a:pPr>
            <a:r>
              <a:rPr lang="ja-JP" altLang="en-US" sz="2200" b="1" dirty="0">
                <a:solidFill>
                  <a:srgbClr val="262626"/>
                </a:solidFill>
                <a:latin typeface="Meiryo"/>
                <a:ea typeface="Meiryo"/>
                <a:cs typeface="Meiryo"/>
              </a:rPr>
              <a:t>RI ＝ トーヌス</a:t>
            </a:r>
          </a:p>
        </p:txBody>
      </p:sp>
      <p:sp>
        <p:nvSpPr>
          <p:cNvPr id="292" name="c2-bg"/>
          <p:cNvSpPr/>
          <p:nvPr/>
        </p:nvSpPr>
        <p:spPr>
          <a:xfrm>
            <a:off x="8081986" y="1780000"/>
            <a:ext cx="3560933" cy="21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p:txBody>
      </p:sp>
      <p:sp>
        <p:nvSpPr>
          <p:cNvPr id="293" name="c2-t"/>
          <p:cNvSpPr txBox="1"/>
          <p:nvPr/>
        </p:nvSpPr>
        <p:spPr>
          <a:xfrm>
            <a:off x="8281986" y="193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提案</a:t>
            </a:r>
          </a:p>
        </p:txBody>
      </p:sp>
      <p:sp>
        <p:nvSpPr>
          <p:cNvPr id="294" name="c2-b"/>
          <p:cNvSpPr txBox="1"/>
          <p:nvPr/>
        </p:nvSpPr>
        <p:spPr>
          <a:xfrm>
            <a:off x="8281986" y="248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K を SI・RI で補正</a:t>
            </a:r>
          </a:p>
          <a:p>
            <a:pPr algn="l">
              <a:lnSpc>
                <a:spcPct val="120000"/>
              </a:lnSpc>
            </a:pPr>
            <a:r>
              <a:rPr lang="ja-JP" altLang="en-US" sz="2200" b="1" dirty="0">
                <a:solidFill>
                  <a:srgbClr val="262626"/>
                </a:solidFill>
                <a:latin typeface="Meiryo"/>
                <a:ea typeface="Meiryo"/>
                <a:cs typeface="Meiryo"/>
              </a:rPr>
              <a:t>形で 時間 を較正</a:t>
            </a:r>
          </a:p>
        </p:txBody>
      </p:sp>
      <p:sp>
        <p:nvSpPr>
          <p:cNvPr id="295" name="b1"/>
          <p:cNvSpPr/>
          <p:nvPr/>
        </p:nvSpPr>
        <p:spPr>
          <a:xfrm>
            <a:off x="502920" y="4080000"/>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次の一歩 ― 実波形で SI・RI が取れるかの確認</a:t>
            </a:r>
          </a:p>
        </p:txBody>
      </p:sp>
      <p:sp>
        <p:nvSpPr>
          <p:cNvPr id="296" name="b2"/>
          <p:cNvSpPr/>
          <p:nvPr/>
        </p:nvSpPr>
        <p:spPr>
          <a:xfrm>
            <a:off x="502920" y="5130000"/>
            <a:ext cx="11140000" cy="900000"/>
          </a:xfrm>
          <a:prstGeom prst="roundRect">
            <a:avLst>
              <a:gd name="adj" fmla="val 4000"/>
            </a:avLst>
          </a:prstGeom>
          <a:solidFill>
            <a:srgbClr val="FCEAEA"/>
          </a:solidFill>
          <a:ln w="28575">
            <a:solidFill>
              <a:srgbClr val="C00000"/>
            </a:solidFill>
          </a:ln>
          <a:effectLst/>
        </p:spPr>
        <p:txBody>
          <a:bodyPr wrap="square" lIns="91440" tIns="45720" rIns="91440" bIns="45720" rtlCol="0" anchor="ctr">
            <a:noAutofit/>
          </a:bodyPr>
          <a:lstStyle/>
          <a:p>
            <a:pPr algn="ctr">
              <a:lnSpc>
                <a:spcPct val="120000"/>
              </a:lnSpc>
            </a:pPr>
            <a:r>
              <a:rPr lang="ja-JP" altLang="en-US" sz="2200" b="1" dirty="0">
                <a:solidFill>
                  <a:srgbClr val="C00000"/>
                </a:solidFill>
                <a:latin typeface="Meiryo"/>
                <a:ea typeface="Meiryo"/>
                <a:cs typeface="Meiryo"/>
              </a:rPr>
              <a:t>本提案は未検証の作業仮説であり、臨床使用を意図しない</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600" dirty="0">
                <a:latin typeface="Meiryo"/>
                <a:ea typeface="Meiryo"/>
                <a:cs typeface="Meiryo"/>
              </a:rPr>
              <a:t>参考文献（4）</a:t>
            </a:r>
          </a:p>
        </p:txBody>
      </p:sp>
      <p:sp>
        <p:nvSpPr>
          <p:cNvPr id="297" name="Off-page Connector 1"/>
          <p:cNvSpPr/>
          <p:nvPr/>
        </p:nvSpPr>
        <p:spPr>
          <a:xfrm>
            <a:off x="953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298" name="Off-page Connector 2"/>
          <p:cNvSpPr/>
          <p:nvPr/>
        </p:nvSpPr>
        <p:spPr>
          <a:xfrm>
            <a:off x="1019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299" name="Off-page Connector 3"/>
          <p:cNvSpPr/>
          <p:nvPr/>
        </p:nvSpPr>
        <p:spPr>
          <a:xfrm>
            <a:off x="1085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lnSpc>
                <a:spcPct val="100000"/>
              </a:lnSpc>
              <a:spcBef>
                <a:spcPts val="100"/>
              </a:spcBef>
            </a:pPr>
            <a:r>
              <a:rPr sz="1050" b="1">
                <a:solidFill>
                  <a:srgbClr val="808080"/>
                </a:solidFill>
                <a:latin typeface="Meiryo"/>
                <a:ea typeface="Meiryo"/>
                <a:cs typeface="Meiryo"/>
              </a:rPr>
              <a:t>定量化</a:t>
            </a:r>
          </a:p>
        </p:txBody>
      </p:sp>
      <p:sp>
        <p:nvSpPr>
          <p:cNvPr id="300" name="Off-page Connector 4"/>
          <p:cNvSpPr/>
          <p:nvPr/>
        </p:nvSpPr>
        <p:spPr>
          <a:xfrm>
            <a:off x="11514519" y="50400"/>
            <a:ext cx="620000" cy="583200"/>
          </a:xfrm>
          <a:prstGeom prst="flowChartOffpageConnector">
            <a:avLst/>
          </a:prstGeom>
          <a:solidFill>
            <a:srgbClr val="D9D9D9"/>
          </a:solidFill>
          <a:ln>
            <a:noFill/>
          </a:ln>
          <a:effectLst/>
        </p:spPr>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lnSpc>
                <a:spcPct val="100000"/>
              </a:lnSpc>
              <a:spcBef>
                <a:spcPts val="100"/>
              </a:spcBef>
            </a:pPr>
            <a:r>
              <a:rPr sz="1050" b="1">
                <a:solidFill>
                  <a:srgbClr val="808080"/>
                </a:solidFill>
                <a:latin typeface="Meiryo"/>
                <a:ea typeface="Meiryo"/>
                <a:cs typeface="Meiryo"/>
              </a:rPr>
              <a:t>提案</a:t>
            </a:r>
          </a:p>
        </p:txBody>
      </p:sp>
      <p:sp>
        <p:nvSpPr>
          <p:cNvPr id="301" name="PageNo"/>
          <p:cNvSpPr txBox="1"/>
          <p:nvPr/>
        </p:nvSpPr>
        <p:spPr>
          <a:xfrm>
            <a:off x="11049000" y="6606000"/>
            <a:ext cx="1005840" cy="219456"/>
          </a:xfrm>
          <a:prstGeom prst="rect">
            <a:avLst/>
          </a:prstGeom>
          <a:noFill/>
        </p:spPr>
        <p:txBody>
          <a:bodyPr wrap="square" lIns="0" tIns="0" rIns="0" bIns="0" anchor="t">
            <a:spAutoFit/>
          </a:bodyPr>
          <a:lstStyle/>
          <a:p>
            <a:pPr algn="r"/>
            <a:r>
              <a:rPr sz="1200">
                <a:solidFill>
                  <a:srgbClr val="808080"/>
                </a:solidFill>
                <a:latin typeface="Meiryo"/>
                <a:ea typeface="Meiryo"/>
                <a:cs typeface="Meiryo"/>
              </a:rPr>
              <a:t>55/55</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40. Critchley LA, Critchley JA. A meta-analysis of studies using bias and precision statistics to compare cardiac output measurement techniques. J Clin Monit Comput 1999;15:85–91.</a:t>
            </a:r>
          </a:p>
          <a:p>
            <a:pPr algn="l">
              <a:lnSpc>
                <a:spcPct val="115000"/>
              </a:lnSpc>
              <a:spcAft>
                <a:spcPts val="700"/>
              </a:spcAft>
            </a:pPr>
            <a:r>
              <a:rPr sz="1050" b="0">
                <a:solidFill>
                  <a:srgbClr val="262626"/>
                </a:solidFill>
                <a:latin typeface="Meiryo"/>
                <a:ea typeface="Meiryo"/>
                <a:cs typeface="Meiryo"/>
              </a:rPr>
              <a:t>41. Nakamura Y, Wiegner AW, Gaasch WH, Bing OH. Systolic time intervals: assessment by isolated cardiac muscle studies. J Am Coll Cardiol 1983;2:973–8.</a:t>
            </a:r>
          </a:p>
          <a:p>
            <a:pPr algn="l">
              <a:lnSpc>
                <a:spcPct val="115000"/>
              </a:lnSpc>
              <a:spcAft>
                <a:spcPts val="700"/>
              </a:spcAft>
            </a:pPr>
            <a:r>
              <a:rPr sz="1050" b="0">
                <a:solidFill>
                  <a:srgbClr val="262626"/>
                </a:solidFill>
                <a:latin typeface="Meiryo"/>
                <a:ea typeface="Meiryo"/>
                <a:cs typeface="Meiryo"/>
              </a:rPr>
              <a:t>42. Guinot PG, et al. Ventriculo-arterial coupling analysis predicts the hemodynamic response to norepinephrine in hypotensive postoperative patients. Crit Care Med 2018;46:e17–e25.</a:t>
            </a:r>
          </a:p>
          <a:p>
            <a:pPr algn="l">
              <a:lnSpc>
                <a:spcPct val="115000"/>
              </a:lnSpc>
              <a:spcAft>
                <a:spcPts val="700"/>
              </a:spcAft>
            </a:pPr>
            <a:r>
              <a:rPr sz="1050" b="0">
                <a:solidFill>
                  <a:srgbClr val="262626"/>
                </a:solidFill>
                <a:latin typeface="Meiryo"/>
                <a:ea typeface="Meiryo"/>
                <a:cs typeface="Meiryo"/>
              </a:rPr>
              <a:t>43. Beutel F, et al. Pulse arrival time segmentation into cardiac and vascular intervals: implications for pulse wave velocity and blood pressure estimation. IEEE Trans Biomed Eng 2021;68:2810–20.</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44. Middleton PM, et al. Fingertip photoplethysmographic waveform variability and systemic vascular resistance in intensive care unit patients. Med Biol Eng Comput 2011;49:859–66.</a:t>
            </a:r>
          </a:p>
          <a:p>
            <a:pPr algn="l">
              <a:lnSpc>
                <a:spcPct val="115000"/>
              </a:lnSpc>
              <a:spcAft>
                <a:spcPts val="700"/>
              </a:spcAft>
            </a:pPr>
            <a:r>
              <a:rPr sz="1050" b="0">
                <a:solidFill>
                  <a:srgbClr val="262626"/>
                </a:solidFill>
                <a:latin typeface="Meiryo"/>
                <a:ea typeface="Meiryo"/>
                <a:cs typeface="Meiryo"/>
              </a:rPr>
              <a:t>45. Awad AA, et al. The relationship between the photoplethysmographic waveform and systemic vascular resistance. J Clin Monit Comput 2007;21:365–72.</a:t>
            </a:r>
          </a:p>
          <a:p>
            <a:pPr algn="l">
              <a:lnSpc>
                <a:spcPct val="115000"/>
              </a:lnSpc>
              <a:spcAft>
                <a:spcPts val="700"/>
              </a:spcAft>
            </a:pPr>
            <a:r>
              <a:rPr sz="1050" b="0">
                <a:solidFill>
                  <a:srgbClr val="262626"/>
                </a:solidFill>
                <a:latin typeface="Meiryo"/>
                <a:ea typeface="Meiryo"/>
                <a:cs typeface="Meiryo"/>
              </a:rPr>
              <a:t>46. Charlton PH, et al. Arterial pulse wave modeling and analysis for vascular-age studies: a review from VascAgeNet. Am J Physiol Heart Circ Physiol 2022;322:H493–H523.</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オレンジ　ユニバーサル" id="{DDF077F7-BA21-FC41-978A-DD4CA4756309}" vid="{43215BA7-B5F4-3049-B00B-423F1BE0E8B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24546</TotalTime>
  <Words>21022</Words>
  <Application>Microsoft Macintosh PowerPoint</Application>
  <PresentationFormat>ワイド画面</PresentationFormat>
  <Paragraphs>2889</Paragraphs>
  <Slides>73</Slides>
  <Notes>65</Notes>
  <HiddenSlides>3</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73</vt:i4>
      </vt:variant>
    </vt:vector>
  </HeadingPairs>
  <TitlesOfParts>
    <vt:vector size="78" baseType="lpstr">
      <vt:lpstr>Meiryo</vt:lpstr>
      <vt:lpstr>游ゴシック</vt:lpstr>
      <vt:lpstr>Arial</vt:lpstr>
      <vt:lpstr>Calibri</vt:lpstr>
      <vt:lpstr>Office テーマ</vt:lpstr>
      <vt:lpstr>光電式容積脈波記録法：PhotoPlethysmoGraphy（ PPG ） 波形解析について</vt:lpstr>
      <vt:lpstr>用語の整理</vt:lpstr>
      <vt:lpstr>メニュー</vt:lpstr>
      <vt:lpstr>1. PPGの基礎</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 残存動脈血について</vt:lpstr>
      <vt:lpstr>1.2  PPGが測るもの</vt:lpstr>
      <vt:lpstr>1.3  前進波の成因</vt:lpstr>
      <vt:lpstr>1.3  前進波の成因</vt:lpstr>
      <vt:lpstr>1.3  前進波の成因</vt:lpstr>
      <vt:lpstr>1.4  反射波の成因</vt:lpstr>
      <vt:lpstr>1.5  PPG基礎まとめ</vt:lpstr>
      <vt:lpstr>2. 波形への影響</vt:lpstr>
      <vt:lpstr>2. 波形への影響</vt:lpstr>
      <vt:lpstr>2.1.1  フラミンガム研究</vt:lpstr>
      <vt:lpstr>2.1.1  フラミンガム研究</vt:lpstr>
      <vt:lpstr>2.1.1  フラミンガム研究</vt:lpstr>
      <vt:lpstr>2.1.1  フラミンガム研究</vt:lpstr>
      <vt:lpstr>PowerPoint プレゼンテーション</vt:lpstr>
      <vt:lpstr>PowerPoint プレゼンテーション</vt:lpstr>
      <vt:lpstr>2.1.2  UK Biobank</vt:lpstr>
      <vt:lpstr>2.1.2  UK Biobank</vt:lpstr>
      <vt:lpstr>2.1.2  UK Biobank</vt:lpstr>
      <vt:lpstr>2.1.2  UK Biobank</vt:lpstr>
      <vt:lpstr>2.1.3  切痕平滑化の理由</vt:lpstr>
      <vt:lpstr>2.1.3  切痕平滑化の理由</vt:lpstr>
      <vt:lpstr>2. 波形への影響</vt:lpstr>
      <vt:lpstr>2.2.1  前負荷</vt:lpstr>
      <vt:lpstr>2.2.1  前負荷</vt:lpstr>
      <vt:lpstr>2.2.2  後負荷：末梢</vt:lpstr>
      <vt:lpstr>2.2.2  後負荷：末梢</vt:lpstr>
      <vt:lpstr>2.2.3  後負荷の違い</vt:lpstr>
      <vt:lpstr>2.2.4  心収縮力</vt:lpstr>
      <vt:lpstr>2.2.4  心収縮力</vt:lpstr>
      <vt:lpstr>2.2.5  心拍数</vt:lpstr>
      <vt:lpstr>2.2.6  波形変化まとめ</vt:lpstr>
      <vt:lpstr>2. 波形への影響</vt:lpstr>
      <vt:lpstr>2.3.1  切痕位置とトーヌス</vt:lpstr>
      <vt:lpstr>2.3.2  波形の6分類</vt:lpstr>
      <vt:lpstr>2.3.2  波形の6分類</vt:lpstr>
      <vt:lpstr>2.3.2  6分類と血行動態</vt:lpstr>
      <vt:lpstr>2.3.2  6分類と血行動態</vt:lpstr>
      <vt:lpstr>2.3.3  導入時の低血圧</vt:lpstr>
      <vt:lpstr>3. 波形の定量化</vt:lpstr>
      <vt:lpstr>3.1. Stiffness Index</vt:lpstr>
      <vt:lpstr>3.1. Stiffness Index</vt:lpstr>
      <vt:lpstr>3.2  Reflection Index</vt:lpstr>
      <vt:lpstr>3.2  Reflection Index</vt:lpstr>
      <vt:lpstr>3.2  Reflection Index</vt:lpstr>
      <vt:lpstr>3.2  RI と心拍数</vt:lpstr>
      <vt:lpstr>3.3  加速度脈波 SDPPG</vt:lpstr>
      <vt:lpstr>3.3  加速度脈波 SDPPG</vt:lpstr>
      <vt:lpstr>3.3  SDPPG の主な知見</vt:lpstr>
      <vt:lpstr>3.3  SDPPG は何を測れたか</vt:lpstr>
      <vt:lpstr>3.3  b/a と SI</vt:lpstr>
      <vt:lpstr>3.3  b/a と SI</vt:lpstr>
      <vt:lpstr>3.3  d/a と RI</vt:lpstr>
      <vt:lpstr>3.3  d/a と RI</vt:lpstr>
      <vt:lpstr>3.4  定量化指標まとめ</vt:lpstr>
      <vt:lpstr>4. 提案</vt:lpstr>
      <vt:lpstr>PowerPoint プレゼンテーション</vt:lpstr>
      <vt:lpstr>PowerPoint プレゼンテーション</vt:lpstr>
      <vt:lpstr>参考文献</vt:lpstr>
      <vt:lpstr>参考文献（2）</vt:lpstr>
      <vt:lpstr>参考文献（3）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 pauseの（ほぼ）全て</dc:title>
  <dc:creator>靖晃 川副</dc:creator>
  <cp:lastModifiedBy>靖晃 川副</cp:lastModifiedBy>
  <cp:revision>67</cp:revision>
  <dcterms:created xsi:type="dcterms:W3CDTF">2025-01-05T04:32:32Z</dcterms:created>
  <dcterms:modified xsi:type="dcterms:W3CDTF">2026-08-14T07:16:24Z</dcterms:modified>
</cp:coreProperties>
</file>