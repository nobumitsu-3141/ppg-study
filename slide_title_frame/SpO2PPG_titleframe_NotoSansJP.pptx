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p:cViewPr varScale="1">
        <p:scale>
          <a:sx n="116" d="100"/>
          <a:sy n="116" d="100"/>
        </p:scale>
        <p:origin x="9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defTabSz="914400">
              <a:lnSpc>
                <a:spcPct val="90000"/>
              </a:lnSpc>
            </a:pPr>
            <a:r>
              <a:rPr lang="en-US" sz="6000" b="0" u="none" strike="noStrike">
                <a:solidFill>
                  <a:schemeClr val="dk1"/>
                </a:solidFill>
                <a:effectLst/>
                <a:uFillTx/>
                <a:latin typeface="Calibri"/>
              </a:rPr>
              <a:t>Click to move the slide</a:t>
            </a: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9"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70"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71"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72"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F00E303-B3D0-4FDC-BDCC-008183B3FC94}"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 name="PlaceHolder 1"/>
          <p:cNvSpPr>
            <a:spLocks noGrp="1" noRot="1" noChangeAspect="1"/>
          </p:cNvSpPr>
          <p:nvPr>
            <p:ph type="sldImg"/>
          </p:nvPr>
        </p:nvSpPr>
        <p:spPr>
          <a:xfrm>
            <a:off x="685800" y="1143000"/>
            <a:ext cx="5486040" cy="3085920"/>
          </a:xfrm>
          <a:prstGeom prst="rect">
            <a:avLst/>
          </a:prstGeom>
          <a:ln w="0">
            <a:noFill/>
          </a:ln>
        </p:spPr>
      </p:sp>
      <p:sp>
        <p:nvSpPr>
          <p:cNvPr id="7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 Murray1996 </a:t>
            </a:r>
            <a:r>
              <a:rPr lang="ja-JP" sz="2000" b="0" u="none" strike="noStrike">
                <a:solidFill>
                  <a:srgbClr val="000000"/>
                </a:solidFill>
                <a:effectLst/>
                <a:uFillTx/>
                <a:latin typeface="Arial"/>
              </a:rPr>
              <a:t>麻酔導入→手術開始→麻酔調整</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28"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21CB0D-CD05-4824-831C-996293EA9659}" type="slidenum">
              <a:rPr lang="en-US" sz="1200" b="0" u="none" strike="noStrike">
                <a:solidFill>
                  <a:srgbClr val="000000"/>
                </a:solidFill>
                <a:effectLst/>
                <a:uFillTx/>
                <a:latin typeface="Times New Roman"/>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PlaceHolder 1"/>
          <p:cNvSpPr>
            <a:spLocks noGrp="1" noRot="1" noChangeAspect="1"/>
          </p:cNvSpPr>
          <p:nvPr>
            <p:ph type="sldImg"/>
          </p:nvPr>
        </p:nvSpPr>
        <p:spPr>
          <a:xfrm>
            <a:off x="685800" y="1143000"/>
            <a:ext cx="5486040" cy="3085920"/>
          </a:xfrm>
          <a:prstGeom prst="rect">
            <a:avLst/>
          </a:prstGeom>
          <a:ln w="0">
            <a:noFill/>
          </a:ln>
        </p:spPr>
      </p:sp>
      <p:sp>
        <p:nvSpPr>
          <p:cNvPr id="7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ミラソー</a:t>
            </a:r>
            <a:r>
              <a:rPr lang="en-US" sz="2000" b="0" u="none" strike="noStrike">
                <a:solidFill>
                  <a:srgbClr val="000000"/>
                </a:solidFill>
                <a:effectLst/>
                <a:uFillTx/>
                <a:latin typeface="Arial"/>
              </a:rPr>
              <a:t>2002</a:t>
            </a:r>
            <a:r>
              <a:rPr lang="ja-JP" sz="2000" b="0" u="none" strike="noStrike">
                <a:solidFill>
                  <a:srgbClr val="000000"/>
                </a:solidFill>
                <a:effectLst/>
                <a:uFillTx/>
                <a:latin typeface="Arial"/>
              </a:rPr>
              <a:t>だけでいいかも</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31"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AB8F3BF-DFDD-4A88-9BE7-13A21E83CDE9}" type="slidenum">
              <a:rPr lang="en-US" sz="1200" b="0" u="none" strike="noStrike">
                <a:solidFill>
                  <a:srgbClr val="000000"/>
                </a:solidFill>
                <a:effectLst/>
                <a:uFillTx/>
                <a:latin typeface="Times New Roman"/>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 name="PlaceHolder 1"/>
          <p:cNvSpPr>
            <a:spLocks noGrp="1" noRot="1" noChangeAspect="1"/>
          </p:cNvSpPr>
          <p:nvPr>
            <p:ph type="sldImg"/>
          </p:nvPr>
        </p:nvSpPr>
        <p:spPr>
          <a:xfrm>
            <a:off x="685800" y="1143000"/>
            <a:ext cx="5486040" cy="3085920"/>
          </a:xfrm>
          <a:prstGeom prst="rect">
            <a:avLst/>
          </a:prstGeom>
          <a:ln w="0">
            <a:noFill/>
          </a:ln>
        </p:spPr>
      </p:sp>
      <p:sp>
        <p:nvSpPr>
          <p:cNvPr id="7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２つのコホート研究</a:t>
            </a:r>
            <a:endParaRPr lang="en-US" sz="2000" b="0" u="none" strike="noStrike">
              <a:solidFill>
                <a:srgbClr val="000000"/>
              </a:solidFill>
              <a:effectLst/>
              <a:uFillTx/>
              <a:latin typeface="Arial"/>
            </a:endParaRPr>
          </a:p>
        </p:txBody>
      </p:sp>
      <p:sp>
        <p:nvSpPr>
          <p:cNvPr id="734"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3D8AFF2-0FC4-4BFD-A38F-6FFED6BA8057}" type="slidenum">
              <a:rPr lang="en-US" sz="1200" b="0" u="none" strike="noStrike">
                <a:solidFill>
                  <a:srgbClr val="000000"/>
                </a:solidFill>
                <a:effectLst/>
                <a:uFillTx/>
                <a:latin typeface="Times New Roman"/>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 name="PlaceHolder 1"/>
          <p:cNvSpPr>
            <a:spLocks noGrp="1" noRot="1" noChangeAspect="1"/>
          </p:cNvSpPr>
          <p:nvPr>
            <p:ph type="sldImg"/>
          </p:nvPr>
        </p:nvSpPr>
        <p:spPr>
          <a:xfrm>
            <a:off x="685800" y="1143000"/>
            <a:ext cx="5486040" cy="3085920"/>
          </a:xfrm>
          <a:prstGeom prst="rect">
            <a:avLst/>
          </a:prstGeom>
          <a:ln w="0">
            <a:noFill/>
          </a:ln>
        </p:spPr>
      </p:sp>
      <p:sp>
        <p:nvSpPr>
          <p:cNvPr id="7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フラミンガム研究の対象集団</a:t>
            </a:r>
            <a:r>
              <a:rPr lang="en-US" sz="2000" b="0" u="none" strike="noStrike">
                <a:solidFill>
                  <a:srgbClr val="000000"/>
                </a:solidFill>
                <a:effectLst/>
                <a:uFillTx/>
                <a:latin typeface="Arial"/>
              </a:rPr>
              <a:t>5000</a:t>
            </a:r>
            <a:r>
              <a:rPr lang="ja-JP" sz="2000" b="0" u="none" strike="noStrike">
                <a:solidFill>
                  <a:srgbClr val="000000"/>
                </a:solidFill>
                <a:effectLst/>
                <a:uFillTx/>
                <a:latin typeface="Arial"/>
              </a:rPr>
              <a:t>人をベースにしたコホート研究、血管特性（麻酔変化ではない、安静時）の評価</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Arial"/>
              </a:rPr>
              <a:t>指尖脈波という特殊な測定の</a:t>
            </a:r>
            <a:r>
              <a:rPr lang="en-US" sz="2000" b="0" u="none" strike="noStrike">
                <a:solidFill>
                  <a:srgbClr val="000000"/>
                </a:solidFill>
                <a:effectLst/>
                <a:uFillTx/>
                <a:latin typeface="Arial"/>
              </a:rPr>
              <a:t>DN</a:t>
            </a:r>
            <a:r>
              <a:rPr lang="ja-JP" sz="2000" b="0" u="none" strike="noStrike">
                <a:solidFill>
                  <a:srgbClr val="000000"/>
                </a:solidFill>
                <a:effectLst/>
                <a:uFillTx/>
                <a:latin typeface="Arial"/>
              </a:rPr>
              <a:t>消失具合を分類</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Arial"/>
              </a:rPr>
              <a:t>加齢で切痕が消え、血圧や喫煙と独立し、心血管イベントと関連していた。</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2.1  class2</a:t>
            </a:r>
            <a:r>
              <a:rPr lang="ja-JP" sz="2000" b="0" u="none" strike="noStrike">
                <a:solidFill>
                  <a:srgbClr val="000000"/>
                </a:solidFill>
                <a:effectLst/>
                <a:uFillTx/>
                <a:latin typeface="Arial"/>
              </a:rPr>
              <a:t>の画像で、波形は下降脚でノッチを作らず、水平に横向きに出るようにして（</a:t>
            </a:r>
            <a:r>
              <a:rPr lang="en-US" sz="2000" b="0" u="none" strike="noStrike">
                <a:solidFill>
                  <a:srgbClr val="000000"/>
                </a:solidFill>
                <a:effectLst/>
                <a:uFillTx/>
                <a:latin typeface="Arial"/>
              </a:rPr>
              <a:t>class3</a:t>
            </a:r>
            <a:r>
              <a:rPr lang="ja-JP" sz="2000" b="0" u="none" strike="noStrike">
                <a:solidFill>
                  <a:srgbClr val="000000"/>
                </a:solidFill>
                <a:effectLst/>
                <a:uFillTx/>
                <a:latin typeface="Arial"/>
              </a:rPr>
              <a:t>がそれに近い）。</a:t>
            </a:r>
            <a:r>
              <a:rPr lang="en-US" sz="2000" b="0" u="none" strike="noStrike">
                <a:solidFill>
                  <a:srgbClr val="000000"/>
                </a:solidFill>
                <a:effectLst/>
                <a:uFillTx/>
                <a:latin typeface="Arial"/>
              </a:rPr>
              <a:t>class3</a:t>
            </a:r>
            <a:r>
              <a:rPr lang="ja-JP" sz="2000" b="0" u="none" strike="noStrike">
                <a:solidFill>
                  <a:srgbClr val="000000"/>
                </a:solidFill>
                <a:effectLst/>
                <a:uFillTx/>
                <a:latin typeface="Arial"/>
              </a:rPr>
              <a:t>は下降脚のどこかで角度が変わるだけにして（この画像は</a:t>
            </a:r>
            <a:r>
              <a:rPr lang="en-US" sz="2000" b="0" u="none" strike="noStrike">
                <a:solidFill>
                  <a:srgbClr val="000000"/>
                </a:solidFill>
                <a:effectLst/>
                <a:uFillTx/>
                <a:latin typeface="Arial"/>
              </a:rPr>
              <a:t>class2</a:t>
            </a:r>
            <a:r>
              <a:rPr lang="ja-JP" sz="2000" b="0" u="none" strike="noStrike">
                <a:solidFill>
                  <a:srgbClr val="000000"/>
                </a:solidFill>
                <a:effectLst/>
                <a:uFillTx/>
                <a:latin typeface="Arial"/>
              </a:rPr>
              <a:t>に近い）。</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37"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857E2B0-2B29-452E-A38A-7A54F5434FF7}" type="slidenum">
              <a:rPr lang="en-US" sz="1200" b="0" u="none" strike="noStrike">
                <a:solidFill>
                  <a:srgbClr val="000000"/>
                </a:solidFill>
                <a:effectLst/>
                <a:uFillTx/>
                <a:latin typeface="Times New Roman"/>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PlaceHolder 1"/>
          <p:cNvSpPr>
            <a:spLocks noGrp="1" noRot="1" noChangeAspect="1"/>
          </p:cNvSpPr>
          <p:nvPr>
            <p:ph type="sldImg"/>
          </p:nvPr>
        </p:nvSpPr>
        <p:spPr>
          <a:xfrm>
            <a:off x="685800" y="1143000"/>
            <a:ext cx="5486040" cy="3085920"/>
          </a:xfrm>
          <a:prstGeom prst="rect">
            <a:avLst/>
          </a:prstGeom>
          <a:ln w="0">
            <a:noFill/>
          </a:ln>
        </p:spPr>
      </p:sp>
      <p:sp>
        <p:nvSpPr>
          <p:cNvPr id="7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指尖脈波という特殊な測定の</a:t>
            </a:r>
            <a:r>
              <a:rPr lang="en-US" sz="2000" b="0" u="none" strike="noStrike">
                <a:solidFill>
                  <a:srgbClr val="000000"/>
                </a:solidFill>
                <a:effectLst/>
                <a:uFillTx/>
                <a:latin typeface="Arial"/>
              </a:rPr>
              <a:t>DN</a:t>
            </a:r>
            <a:r>
              <a:rPr lang="ja-JP" sz="2000" b="0" u="none" strike="noStrike">
                <a:solidFill>
                  <a:srgbClr val="000000"/>
                </a:solidFill>
                <a:effectLst/>
                <a:uFillTx/>
                <a:latin typeface="Arial"/>
              </a:rPr>
              <a:t>消失具合を分類</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Arial"/>
              </a:rPr>
              <a:t>加齢で切痕が消え、血圧や喫煙と独立し、心血管イベントと関連していた。</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dawber</a:t>
            </a:r>
            <a:r>
              <a:rPr lang="ja-JP" sz="2000" b="0" u="none" strike="noStrike">
                <a:solidFill>
                  <a:srgbClr val="000000"/>
                </a:solidFill>
                <a:effectLst/>
                <a:uFillTx/>
                <a:latin typeface="Arial"/>
              </a:rPr>
              <a:t>はフラミンが無研究という集団をベースにした、血管特性（麻酔変化ではない、安静時）の評価</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40"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E5916ED-E3F2-4EBA-BCE1-681F33C1B336}" type="slidenum">
              <a:rPr lang="en-US" sz="1200" b="0" u="none" strike="noStrike">
                <a:solidFill>
                  <a:srgbClr val="000000"/>
                </a:solidFill>
                <a:effectLst/>
                <a:uFillTx/>
                <a:latin typeface="Times New Roman"/>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 name="PlaceHolder 1"/>
          <p:cNvSpPr>
            <a:spLocks noGrp="1" noRot="1" noChangeAspect="1"/>
          </p:cNvSpPr>
          <p:nvPr>
            <p:ph type="sldImg"/>
          </p:nvPr>
        </p:nvSpPr>
        <p:spPr>
          <a:xfrm>
            <a:off x="685800" y="1143000"/>
            <a:ext cx="5486040" cy="3085920"/>
          </a:xfrm>
          <a:prstGeom prst="rect">
            <a:avLst/>
          </a:prstGeom>
          <a:ln w="0">
            <a:noFill/>
          </a:ln>
        </p:spPr>
      </p:sp>
      <p:sp>
        <p:nvSpPr>
          <p:cNvPr id="7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切痕の消失が加齢と心血管疾患のマーカーとなる　</a:t>
            </a:r>
            <a:r>
              <a:rPr lang="en-US" sz="2000" b="0" u="none" strike="noStrike">
                <a:solidFill>
                  <a:srgbClr val="000000"/>
                </a:solidFill>
                <a:effectLst/>
                <a:uFillTx/>
                <a:latin typeface="Arial"/>
              </a:rPr>
              <a:t>machine learning</a:t>
            </a: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43"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32637F3-89AC-4ABC-8F99-4C36B1766892}" type="slidenum">
              <a:rPr lang="en-US" sz="1200" b="0" u="none" strike="noStrike">
                <a:solidFill>
                  <a:srgbClr val="000000"/>
                </a:solidFill>
                <a:effectLst/>
                <a:uFillTx/>
                <a:latin typeface="Times New Roman"/>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PlaceHolder 1"/>
          <p:cNvSpPr>
            <a:spLocks noGrp="1" noRot="1" noChangeAspect="1"/>
          </p:cNvSpPr>
          <p:nvPr>
            <p:ph type="sldImg"/>
          </p:nvPr>
        </p:nvSpPr>
        <p:spPr>
          <a:xfrm>
            <a:off x="685800" y="1143000"/>
            <a:ext cx="5486040" cy="3085920"/>
          </a:xfrm>
          <a:prstGeom prst="rect">
            <a:avLst/>
          </a:prstGeom>
          <a:ln w="0">
            <a:noFill/>
          </a:ln>
        </p:spPr>
      </p:sp>
      <p:sp>
        <p:nvSpPr>
          <p:cNvPr id="7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切痕の消失が加齢と心血管疾患のマーカーとなる　</a:t>
            </a:r>
            <a:r>
              <a:rPr lang="en-US" sz="2000" b="0" u="none" strike="noStrike">
                <a:solidFill>
                  <a:srgbClr val="000000"/>
                </a:solidFill>
                <a:effectLst/>
                <a:uFillTx/>
                <a:latin typeface="Arial"/>
              </a:rPr>
              <a:t>machine learning</a:t>
            </a: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46"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242B334-7128-481C-BF8F-02F2A66F4C0B}" type="slidenum">
              <a:rPr lang="en-US" sz="1200" b="0" u="none" strike="noStrike">
                <a:solidFill>
                  <a:srgbClr val="000000"/>
                </a:solidFill>
                <a:effectLst/>
                <a:uFillTx/>
                <a:latin typeface="Times New Roman"/>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 name="PlaceHolder 1"/>
          <p:cNvSpPr>
            <a:spLocks noGrp="1" noRot="1" noChangeAspect="1"/>
          </p:cNvSpPr>
          <p:nvPr>
            <p:ph type="sldImg"/>
          </p:nvPr>
        </p:nvSpPr>
        <p:spPr>
          <a:xfrm>
            <a:off x="685800" y="1143000"/>
            <a:ext cx="5486040" cy="3085920"/>
          </a:xfrm>
          <a:prstGeom prst="rect">
            <a:avLst/>
          </a:prstGeom>
          <a:ln w="0">
            <a:noFill/>
          </a:ln>
        </p:spPr>
      </p:sp>
      <p:sp>
        <p:nvSpPr>
          <p:cNvPr id="7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3000"/>
              </a:lnSpc>
              <a:spcAft>
                <a:spcPts val="601"/>
              </a:spcAft>
              <a:buNone/>
            </a:pPr>
            <a:r>
              <a:rPr lang="en" sz="1400" b="1" u="none" strike="noStrike">
                <a:solidFill>
                  <a:srgbClr val="009BA5"/>
                </a:solidFill>
                <a:effectLst/>
                <a:uFillTx/>
                <a:latin typeface="Meiryo"/>
                <a:ea typeface="Meiryo"/>
              </a:rPr>
              <a:t>HR </a:t>
            </a:r>
            <a:r>
              <a:rPr lang="ja-JP" sz="1400" b="1" u="none" strike="noStrike">
                <a:solidFill>
                  <a:srgbClr val="009BA5"/>
                </a:solidFill>
                <a:effectLst/>
                <a:uFillTx/>
                <a:latin typeface="Meiryo"/>
                <a:ea typeface="Meiryo"/>
              </a:rPr>
              <a:t>で変わるのは「拡張期側」の形→反射波</a:t>
            </a:r>
            <a:endParaRPr lang="en-US" sz="14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低心拍（周期長）</a:t>
            </a:r>
            <a:r>
              <a:rPr lang="ja-JP" sz="1200" b="0" u="none" strike="noStrike">
                <a:solidFill>
                  <a:srgbClr val="262626"/>
                </a:solidFill>
                <a:effectLst/>
                <a:uFillTx/>
                <a:latin typeface="Meiryo"/>
                <a:ea typeface="Meiryo"/>
              </a:rPr>
              <a:t>：拡張期が長く確保され、重複切痕と拡張期（反射）波が明瞭に分離。</a:t>
            </a:r>
            <a:endParaRPr lang="en-US" sz="12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高心拍（周期短）</a:t>
            </a:r>
            <a:r>
              <a:rPr lang="ja-JP" sz="1200" b="0" u="none" strike="noStrike">
                <a:solidFill>
                  <a:srgbClr val="262626"/>
                </a:solidFill>
                <a:effectLst/>
                <a:uFillTx/>
                <a:latin typeface="Meiryo"/>
                <a:ea typeface="Meiryo"/>
              </a:rPr>
              <a:t>：拡張期が短縮し、反射波が収縮期ピークへ接近・切り詰め。切痕は浅く拡張期ピークは埋没。</a:t>
            </a:r>
            <a:endParaRPr lang="en-US" sz="1200" b="0" u="none" strike="noStrike">
              <a:solidFill>
                <a:srgbClr val="000000"/>
              </a:solidFill>
              <a:effectLst/>
              <a:uFillTx/>
              <a:latin typeface="Arial"/>
            </a:endParaRPr>
          </a:p>
          <a:p>
            <a:pPr indent="0" algn="l">
              <a:lnSpc>
                <a:spcPct val="103000"/>
              </a:lnSpc>
              <a:spcAft>
                <a:spcPts val="499"/>
              </a:spcAft>
              <a:buNone/>
            </a:pPr>
            <a:r>
              <a:rPr lang="ja-JP" sz="1200" b="0" u="none" strike="noStrike">
                <a:solidFill>
                  <a:srgbClr val="262626"/>
                </a:solidFill>
                <a:effectLst/>
                <a:uFillTx/>
                <a:latin typeface="Meiryo"/>
                <a:ea typeface="Meiryo"/>
              </a:rPr>
              <a:t>収縮期の立ち上がり〜一次ピークはほぼ不変。変化するのは反射波の「位置と分離度」。</a:t>
            </a:r>
            <a:endParaRPr lang="en-US" sz="12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機序</a:t>
            </a:r>
            <a:r>
              <a:rPr lang="ja-JP" sz="1200" b="0" u="none" strike="noStrike">
                <a:solidFill>
                  <a:srgbClr val="262626"/>
                </a:solidFill>
                <a:effectLst/>
                <a:uFillTx/>
                <a:latin typeface="Meiryo"/>
                <a:ea typeface="Meiryo"/>
              </a:rPr>
              <a:t>：反射波の到達時刻はほぼ一定でも、周期が短いと相対的に前方へ寄る → </a:t>
            </a:r>
            <a:r>
              <a:rPr lang="en" sz="1200" b="0" u="none" strike="noStrike">
                <a:solidFill>
                  <a:srgbClr val="262626"/>
                </a:solidFill>
                <a:effectLst/>
                <a:uFillTx/>
                <a:latin typeface="Meiryo"/>
                <a:ea typeface="Meiryo"/>
              </a:rPr>
              <a:t>AIx </a:t>
            </a:r>
            <a:r>
              <a:rPr lang="ja-JP" sz="1200" b="0" u="none" strike="noStrike">
                <a:solidFill>
                  <a:srgbClr val="262626"/>
                </a:solidFill>
                <a:effectLst/>
                <a:uFillTx/>
                <a:latin typeface="Meiryo"/>
                <a:ea typeface="Meiryo"/>
              </a:rPr>
              <a:t>は </a:t>
            </a:r>
            <a:r>
              <a:rPr lang="en" sz="1200" b="0" u="none" strike="noStrike">
                <a:solidFill>
                  <a:srgbClr val="262626"/>
                </a:solidFill>
                <a:effectLst/>
                <a:uFillTx/>
                <a:latin typeface="Meiryo"/>
                <a:ea typeface="Meiryo"/>
              </a:rPr>
              <a:t>HR </a:t>
            </a:r>
            <a:r>
              <a:rPr lang="ja-JP" sz="1200" b="0" u="none" strike="noStrike">
                <a:solidFill>
                  <a:srgbClr val="262626"/>
                </a:solidFill>
                <a:effectLst/>
                <a:uFillTx/>
                <a:latin typeface="Meiryo"/>
                <a:ea typeface="Meiryo"/>
              </a:rPr>
              <a:t>と逆相関（</a:t>
            </a:r>
            <a:r>
              <a:rPr lang="en-US" sz="1200" b="0" u="none" strike="noStrike">
                <a:solidFill>
                  <a:srgbClr val="262626"/>
                </a:solidFill>
                <a:effectLst/>
                <a:uFillTx/>
                <a:latin typeface="Meiryo"/>
                <a:ea typeface="Meiryo"/>
              </a:rPr>
              <a:t>+10 </a:t>
            </a:r>
            <a:r>
              <a:rPr lang="en" sz="1200" b="0" u="none" strike="noStrike">
                <a:solidFill>
                  <a:srgbClr val="262626"/>
                </a:solidFill>
                <a:effectLst/>
                <a:uFillTx/>
                <a:latin typeface="Meiryo"/>
                <a:ea typeface="Meiryo"/>
              </a:rPr>
              <a:t>bpm </a:t>
            </a:r>
            <a:r>
              <a:rPr lang="ja-JP" sz="1200" b="0" u="none" strike="noStrike">
                <a:solidFill>
                  <a:srgbClr val="262626"/>
                </a:solidFill>
                <a:effectLst/>
                <a:uFillTx/>
                <a:latin typeface="Meiryo"/>
                <a:ea typeface="Meiryo"/>
              </a:rPr>
              <a:t>で約 −</a:t>
            </a:r>
            <a:r>
              <a:rPr lang="en-US" sz="1200" b="0" u="none" strike="noStrike">
                <a:solidFill>
                  <a:srgbClr val="262626"/>
                </a:solidFill>
                <a:effectLst/>
                <a:uFillTx/>
                <a:latin typeface="Meiryo"/>
                <a:ea typeface="Meiryo"/>
              </a:rPr>
              <a:t>4%</a:t>
            </a:r>
            <a:r>
              <a:rPr lang="ja-JP" sz="1200" b="0" u="none" strike="noStrike">
                <a:solidFill>
                  <a:srgbClr val="262626"/>
                </a:solidFill>
                <a:effectLst/>
                <a:uFillTx/>
                <a:latin typeface="Meiryo"/>
                <a:ea typeface="Meiryo"/>
              </a:rPr>
              <a:t>）。</a:t>
            </a:r>
            <a:endParaRPr lang="en-US" sz="12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指標への交絡</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RI</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SI</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SDPPG</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b/a</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d/a</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AGI</a:t>
            </a:r>
            <a:r>
              <a:rPr lang="ja-JP" sz="1200" b="0" u="none" strike="noStrike">
                <a:solidFill>
                  <a:srgbClr val="262626"/>
                </a:solidFill>
                <a:effectLst/>
                <a:uFillTx/>
                <a:latin typeface="Meiryo"/>
                <a:ea typeface="Meiryo"/>
              </a:rPr>
              <a:t>）は </a:t>
            </a:r>
            <a:r>
              <a:rPr lang="en" sz="1200" b="0" u="none" strike="noStrike">
                <a:solidFill>
                  <a:srgbClr val="262626"/>
                </a:solidFill>
                <a:effectLst/>
                <a:uFillTx/>
                <a:latin typeface="Meiryo"/>
                <a:ea typeface="Meiryo"/>
              </a:rPr>
              <a:t>HR </a:t>
            </a:r>
            <a:r>
              <a:rPr lang="ja-JP" sz="1200" b="0" u="none" strike="noStrike">
                <a:solidFill>
                  <a:srgbClr val="262626"/>
                </a:solidFill>
                <a:effectLst/>
                <a:uFillTx/>
                <a:latin typeface="Meiryo"/>
                <a:ea typeface="Meiryo"/>
              </a:rPr>
              <a:t>と関連（特に </a:t>
            </a:r>
            <a:r>
              <a:rPr lang="en" sz="1200" b="0" u="none" strike="noStrike">
                <a:solidFill>
                  <a:srgbClr val="262626"/>
                </a:solidFill>
                <a:effectLst/>
                <a:uFillTx/>
                <a:latin typeface="Meiryo"/>
                <a:ea typeface="Meiryo"/>
              </a:rPr>
              <a:t>RI</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PPG </a:t>
            </a:r>
            <a:r>
              <a:rPr lang="ja-JP" sz="1200" b="0" u="none" strike="noStrike">
                <a:solidFill>
                  <a:srgbClr val="262626"/>
                </a:solidFill>
                <a:effectLst/>
                <a:uFillTx/>
                <a:latin typeface="Meiryo"/>
                <a:ea typeface="Meiryo"/>
              </a:rPr>
              <a:t>指標は </a:t>
            </a:r>
            <a:r>
              <a:rPr lang="en" sz="1200" b="0" u="none" strike="noStrike">
                <a:solidFill>
                  <a:srgbClr val="262626"/>
                </a:solidFill>
                <a:effectLst/>
                <a:uFillTx/>
                <a:latin typeface="Meiryo"/>
                <a:ea typeface="Meiryo"/>
              </a:rPr>
              <a:t>HR </a:t>
            </a:r>
            <a:r>
              <a:rPr lang="ja-JP" sz="1200" b="0" u="none" strike="noStrike">
                <a:solidFill>
                  <a:srgbClr val="262626"/>
                </a:solidFill>
                <a:effectLst/>
                <a:uFillTx/>
                <a:latin typeface="Meiryo"/>
                <a:ea typeface="Meiryo"/>
              </a:rPr>
              <a:t>補正が必要（例 </a:t>
            </a:r>
            <a:r>
              <a:rPr lang="en" sz="1200" b="0" u="none" strike="noStrike">
                <a:solidFill>
                  <a:srgbClr val="262626"/>
                </a:solidFill>
                <a:effectLst/>
                <a:uFillTx/>
                <a:latin typeface="Meiryo"/>
                <a:ea typeface="Meiryo"/>
              </a:rPr>
              <a:t>AIx@75</a:t>
            </a:r>
            <a:r>
              <a:rPr lang="ja-JP" sz="1200" b="0" u="none" strike="noStrike">
                <a:solidFill>
                  <a:srgbClr val="262626"/>
                </a:solidFill>
                <a:effectLst/>
                <a:uFillTx/>
                <a:latin typeface="Meiryo"/>
                <a:ea typeface="Meiryo"/>
              </a:rPr>
              <a:t>）。</a:t>
            </a:r>
            <a:endParaRPr lang="en-US" sz="1200" b="0" u="none" strike="noStrike">
              <a:solidFill>
                <a:srgbClr val="000000"/>
              </a:solidFill>
              <a:effectLst/>
              <a:uFillTx/>
              <a:latin typeface="Arial"/>
            </a:endParaRPr>
          </a:p>
          <a:p>
            <a:pPr indent="0" algn="l">
              <a:lnSpc>
                <a:spcPct val="103000"/>
              </a:lnSpc>
              <a:buNone/>
            </a:pP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Wilkinson 2000</a:t>
            </a: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Hashimoto 2002</a:t>
            </a: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Charlton 2019</a:t>
            </a: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Md Lazim 2020</a:t>
            </a:r>
            <a:r>
              <a:rPr lang="ja-JP" sz="900" b="0" u="none" strike="noStrike">
                <a:solidFill>
                  <a:srgbClr val="808080"/>
                </a:solidFill>
                <a:effectLst/>
                <a:uFillTx/>
                <a:latin typeface="Meiryo"/>
                <a:ea typeface="Meiryo"/>
              </a:rPr>
              <a:t>）</a:t>
            </a:r>
            <a:endParaRPr lang="en-US" sz="900" b="0" u="none" strike="noStrike">
              <a:solidFill>
                <a:srgbClr val="000000"/>
              </a:solidFill>
              <a:effectLst/>
              <a:uFillTx/>
              <a:latin typeface="Arial"/>
            </a:endParaRPr>
          </a:p>
          <a:p>
            <a:pPr indent="0" algn="l">
              <a:lnSpc>
                <a:spcPct val="100000"/>
              </a:lnSpc>
              <a:buNone/>
            </a:pPr>
            <a:endParaRPr lang="en-US" sz="900" b="0" u="none" strike="noStrike">
              <a:solidFill>
                <a:srgbClr val="000000"/>
              </a:solidFill>
              <a:effectLst/>
              <a:uFillTx/>
              <a:latin typeface="Arial"/>
            </a:endParaRPr>
          </a:p>
          <a:p>
            <a:pPr indent="0" algn="l">
              <a:lnSpc>
                <a:spcPct val="100000"/>
              </a:lnSpc>
              <a:buNone/>
            </a:pPr>
            <a:endParaRPr lang="en-US" sz="9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willkinson2000</a:t>
            </a:r>
            <a:r>
              <a:rPr lang="ja-JP" sz="2000" b="0" u="none" strike="noStrike">
                <a:solidFill>
                  <a:srgbClr val="000000"/>
                </a:solidFill>
                <a:effectLst/>
                <a:uFillTx/>
                <a:latin typeface="Meiryo"/>
                <a:ea typeface="Meiryo"/>
              </a:rPr>
              <a:t>は末梢動脈圧での検討。</a:t>
            </a:r>
            <a:r>
              <a:rPr lang="en-US" sz="2000" b="0" u="none" strike="noStrike">
                <a:solidFill>
                  <a:srgbClr val="000000"/>
                </a:solidFill>
                <a:effectLst/>
                <a:uFillTx/>
                <a:latin typeface="Meiryo"/>
                <a:ea typeface="Meiryo"/>
              </a:rPr>
              <a:t>PPG</a:t>
            </a:r>
            <a:r>
              <a:rPr lang="ja-JP" sz="2000" b="0" u="none" strike="noStrike">
                <a:solidFill>
                  <a:srgbClr val="000000"/>
                </a:solidFill>
                <a:effectLst/>
                <a:uFillTx/>
                <a:latin typeface="Meiryo"/>
                <a:ea typeface="Meiryo"/>
              </a:rPr>
              <a:t>での検討文献もいるだろう。</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Md Lazim</a:t>
            </a:r>
            <a:r>
              <a:rPr lang="ja-JP" sz="2000" b="0" u="none" strike="noStrike">
                <a:solidFill>
                  <a:srgbClr val="000000"/>
                </a:solidFill>
                <a:effectLst/>
                <a:uFillTx/>
                <a:latin typeface="Meiryo"/>
                <a:ea typeface="Meiryo"/>
              </a:rPr>
              <a:t>は</a:t>
            </a:r>
            <a:r>
              <a:rPr lang="en-US" sz="2000" b="0" u="none" strike="noStrike">
                <a:solidFill>
                  <a:srgbClr val="000000"/>
                </a:solidFill>
                <a:effectLst/>
                <a:uFillTx/>
                <a:latin typeface="Meiryo"/>
                <a:ea typeface="Meiryo"/>
              </a:rPr>
              <a:t>SI,RI,SDPPG</a:t>
            </a:r>
            <a:r>
              <a:rPr lang="ja-JP" sz="2000" b="0" u="none" strike="noStrike">
                <a:solidFill>
                  <a:srgbClr val="000000"/>
                </a:solidFill>
                <a:effectLst/>
                <a:uFillTx/>
                <a:latin typeface="Meiryo"/>
                <a:ea typeface="Meiryo"/>
              </a:rPr>
              <a:t>と</a:t>
            </a:r>
            <a:r>
              <a:rPr lang="en-US" sz="2000" b="0" u="none" strike="noStrike">
                <a:solidFill>
                  <a:srgbClr val="000000"/>
                </a:solidFill>
                <a:effectLst/>
                <a:uFillTx/>
                <a:latin typeface="Meiryo"/>
                <a:ea typeface="Meiryo"/>
              </a:rPr>
              <a:t>HR</a:t>
            </a:r>
            <a:r>
              <a:rPr lang="ja-JP" sz="2000" b="0" u="none" strike="noStrike">
                <a:solidFill>
                  <a:srgbClr val="000000"/>
                </a:solidFill>
                <a:effectLst/>
                <a:uFillTx/>
                <a:latin typeface="Meiryo"/>
                <a:ea typeface="Meiryo"/>
              </a:rPr>
              <a:t>の関係を見ているだけ　波形との関連は見ていない</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Hashimoto</a:t>
            </a:r>
            <a:r>
              <a:rPr lang="ja-JP" sz="2000" b="0" u="none" strike="noStrike">
                <a:solidFill>
                  <a:srgbClr val="000000"/>
                </a:solidFill>
                <a:effectLst/>
                <a:uFillTx/>
                <a:latin typeface="Meiryo"/>
                <a:ea typeface="Meiryo"/>
              </a:rPr>
              <a:t>は</a:t>
            </a:r>
            <a:r>
              <a:rPr lang="en-US" sz="2000" b="0" u="none" strike="noStrike">
                <a:solidFill>
                  <a:srgbClr val="000000"/>
                </a:solidFill>
                <a:effectLst/>
                <a:uFillTx/>
                <a:latin typeface="Meiryo"/>
                <a:ea typeface="Meiryo"/>
              </a:rPr>
              <a:t>HR</a:t>
            </a:r>
            <a:r>
              <a:rPr lang="ja-JP" sz="2000" b="0" u="none" strike="noStrike">
                <a:solidFill>
                  <a:srgbClr val="000000"/>
                </a:solidFill>
                <a:effectLst/>
                <a:uFillTx/>
                <a:latin typeface="Meiryo"/>
                <a:ea typeface="Meiryo"/>
              </a:rPr>
              <a:t>が</a:t>
            </a:r>
            <a:r>
              <a:rPr lang="en-US" sz="2000" b="0" u="none" strike="noStrike">
                <a:solidFill>
                  <a:srgbClr val="000000"/>
                </a:solidFill>
                <a:effectLst/>
                <a:uFillTx/>
                <a:latin typeface="Meiryo"/>
                <a:ea typeface="Meiryo"/>
              </a:rPr>
              <a:t>PWT</a:t>
            </a:r>
            <a:r>
              <a:rPr lang="ja-JP" sz="2000" b="0" u="none" strike="noStrike">
                <a:solidFill>
                  <a:srgbClr val="000000"/>
                </a:solidFill>
                <a:effectLst/>
                <a:uFillTx/>
                <a:latin typeface="Meiryo"/>
                <a:ea typeface="Meiryo"/>
              </a:rPr>
              <a:t>と独立して関連することを示すだけ</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https://doi.org/10.1152/ajpheart.00218.2019</a:t>
            </a:r>
            <a:r>
              <a:rPr lang="ja-JP" sz="2000" b="0" u="none" strike="noStrike">
                <a:solidFill>
                  <a:srgbClr val="000000"/>
                </a:solidFill>
                <a:effectLst/>
                <a:uFillTx/>
                <a:latin typeface="Meiryo"/>
                <a:ea typeface="Meiryo"/>
              </a:rPr>
              <a:t>　</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in‑silico </a:t>
            </a:r>
            <a:r>
              <a:rPr lang="ja-JP" sz="2000" b="0" u="none" strike="noStrike">
                <a:solidFill>
                  <a:srgbClr val="000000"/>
                </a:solidFill>
                <a:effectLst/>
                <a:uFillTx/>
                <a:latin typeface="Meiryo"/>
                <a:ea typeface="Meiryo"/>
              </a:rPr>
              <a:t>を唯一の直接根拠として明示</a:t>
            </a:r>
            <a:r>
              <a:rPr lang="en-US" sz="2000" b="0" u="none" strike="noStrike">
                <a:solidFill>
                  <a:srgbClr val="000000"/>
                </a:solidFill>
                <a:effectLst/>
                <a:uFillTx/>
                <a:latin typeface="Meiryo"/>
                <a:ea typeface="Meiryo"/>
              </a:rPr>
              <a:t>+</a:t>
            </a:r>
            <a:r>
              <a:rPr lang="ja-JP" sz="2000" b="0" u="none" strike="noStrike">
                <a:solidFill>
                  <a:srgbClr val="000000"/>
                </a:solidFill>
                <a:effectLst/>
                <a:uFillTx/>
                <a:latin typeface="Meiryo"/>
                <a:ea typeface="Meiryo"/>
              </a:rPr>
              <a:t>方向を </a:t>
            </a:r>
            <a:r>
              <a:rPr lang="en-US" sz="2000" b="0" u="none" strike="noStrike">
                <a:solidFill>
                  <a:srgbClr val="000000"/>
                </a:solidFill>
                <a:effectLst/>
                <a:uFillTx/>
                <a:latin typeface="Meiryo"/>
                <a:ea typeface="Meiryo"/>
              </a:rPr>
              <a:t>HR↑→</a:t>
            </a:r>
            <a:r>
              <a:rPr lang="ja-JP" sz="2000" b="0" u="none" strike="noStrike">
                <a:solidFill>
                  <a:srgbClr val="000000"/>
                </a:solidFill>
                <a:effectLst/>
                <a:uFillTx/>
                <a:latin typeface="Meiryo"/>
                <a:ea typeface="Meiryo"/>
              </a:rPr>
              <a:t>反射波低下に修正</a:t>
            </a:r>
            <a:r>
              <a:rPr lang="en-US" sz="2000" b="0" u="none" strike="noStrike">
                <a:solidFill>
                  <a:srgbClr val="000000"/>
                </a:solidFill>
                <a:effectLst/>
                <a:uFillTx/>
                <a:latin typeface="Meiryo"/>
                <a:ea typeface="Meiryo"/>
              </a:rPr>
              <a:t>+</a:t>
            </a:r>
            <a:r>
              <a:rPr lang="ja-JP" sz="2000" b="0" u="none" strike="noStrike">
                <a:solidFill>
                  <a:srgbClr val="000000"/>
                </a:solidFill>
                <a:effectLst/>
                <a:uFillTx/>
                <a:latin typeface="Meiryo"/>
                <a:ea typeface="Meiryo"/>
              </a:rPr>
              <a:t>実測は圧波形</a:t>
            </a:r>
            <a:r>
              <a:rPr lang="en-US" sz="2000" b="0" u="none" strike="noStrike">
                <a:solidFill>
                  <a:srgbClr val="000000"/>
                </a:solidFill>
                <a:effectLst/>
                <a:uFillTx/>
                <a:latin typeface="Meiryo"/>
                <a:ea typeface="Meiryo"/>
              </a:rPr>
              <a:t>(Wilkinson)</a:t>
            </a:r>
            <a:r>
              <a:rPr lang="ja-JP" sz="2000" b="0" u="none" strike="noStrike">
                <a:solidFill>
                  <a:srgbClr val="000000"/>
                </a:solidFill>
                <a:effectLst/>
                <a:uFillTx/>
                <a:latin typeface="Meiryo"/>
                <a:ea typeface="Meiryo"/>
              </a:rPr>
              <a:t>からの外挿と注記</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Meiryo"/>
                <a:ea typeface="Meiryo"/>
              </a:rPr>
              <a:t>大動脈への流入波、動脈セグメント、血管床の</a:t>
            </a:r>
            <a:r>
              <a:rPr lang="en-US" sz="2000" b="0" u="none" strike="noStrike">
                <a:solidFill>
                  <a:srgbClr val="000000"/>
                </a:solidFill>
                <a:effectLst/>
                <a:uFillTx/>
                <a:latin typeface="Meiryo"/>
                <a:ea typeface="Meiryo"/>
              </a:rPr>
              <a:t>3</a:t>
            </a:r>
            <a:r>
              <a:rPr lang="ja-JP" sz="2000" b="0" u="none" strike="noStrike">
                <a:solidFill>
                  <a:srgbClr val="000000"/>
                </a:solidFill>
                <a:effectLst/>
                <a:uFillTx/>
                <a:latin typeface="Meiryo"/>
                <a:ea typeface="Meiryo"/>
              </a:rPr>
              <a:t>要素ウインドケッセルモデルでそれぞれをモデル化　青は１標準偏差増加　赤は１標準偏差減少</a:t>
            </a:r>
            <a:endParaRPr lang="en-US" sz="2000" b="0" u="none" strike="noStrike">
              <a:solidFill>
                <a:srgbClr val="000000"/>
              </a:solidFill>
              <a:effectLst/>
              <a:uFillTx/>
              <a:latin typeface="Arial"/>
            </a:endParaRPr>
          </a:p>
        </p:txBody>
      </p:sp>
      <p:sp>
        <p:nvSpPr>
          <p:cNvPr id="749"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771079E-5265-42C4-9AD2-DC7A617C294B}" type="slidenum">
              <a:rPr lang="en-US" sz="1200" b="0" u="none" strike="noStrike">
                <a:solidFill>
                  <a:srgbClr val="000000"/>
                </a:solidFill>
                <a:effectLst/>
                <a:uFillTx/>
                <a:latin typeface="Times New Roman"/>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 name="PlaceHolder 1"/>
          <p:cNvSpPr>
            <a:spLocks noGrp="1" noRot="1" noChangeAspect="1"/>
          </p:cNvSpPr>
          <p:nvPr>
            <p:ph type="sldImg"/>
          </p:nvPr>
        </p:nvSpPr>
        <p:spPr>
          <a:xfrm>
            <a:off x="685800" y="1143000"/>
            <a:ext cx="5486040" cy="3085920"/>
          </a:xfrm>
          <a:prstGeom prst="rect">
            <a:avLst/>
          </a:prstGeom>
          <a:ln w="0">
            <a:noFill/>
          </a:ln>
        </p:spPr>
      </p:sp>
      <p:sp>
        <p:nvSpPr>
          <p:cNvPr id="7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図は</a:t>
            </a:r>
            <a:r>
              <a:rPr lang="en-US" sz="2000" b="0" u="none" strike="noStrike">
                <a:solidFill>
                  <a:srgbClr val="000000"/>
                </a:solidFill>
                <a:effectLst/>
                <a:uFillTx/>
                <a:latin typeface="Arial"/>
              </a:rPr>
              <a:t>alian 2011</a:t>
            </a:r>
            <a:r>
              <a:rPr lang="ja-JP" sz="2000" b="0" u="none" strike="noStrike">
                <a:solidFill>
                  <a:srgbClr val="000000"/>
                </a:solidFill>
                <a:effectLst/>
                <a:uFillTx/>
                <a:latin typeface="Arial"/>
              </a:rPr>
              <a:t>をもとに作成。正しいと思われる。</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Convertino 2017</a:t>
            </a:r>
            <a:r>
              <a:rPr lang="ja-JP" sz="2000" b="0" u="none" strike="noStrike">
                <a:solidFill>
                  <a:srgbClr val="000000"/>
                </a:solidFill>
                <a:effectLst/>
                <a:uFillTx/>
                <a:latin typeface="Arial"/>
              </a:rPr>
              <a:t>はいらないかも</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Lower body negative pressure</a:t>
            </a:r>
            <a:r>
              <a:rPr lang="ja-JP" sz="2000" b="0" u="none" strike="noStrike">
                <a:solidFill>
                  <a:srgbClr val="000000"/>
                </a:solidFill>
                <a:effectLst/>
                <a:uFillTx/>
                <a:latin typeface="Arial"/>
              </a:rPr>
              <a:t>で循環血液量減少を再現</a:t>
            </a:r>
            <a:endParaRPr lang="en-US" sz="2000" b="0" u="none" strike="noStrike">
              <a:solidFill>
                <a:srgbClr val="000000"/>
              </a:solidFill>
              <a:effectLst/>
              <a:uFillTx/>
              <a:latin typeface="Arial"/>
            </a:endParaRPr>
          </a:p>
        </p:txBody>
      </p:sp>
      <p:sp>
        <p:nvSpPr>
          <p:cNvPr id="752"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BE9BDC-69F6-42B9-B5DD-6943B3C9BF60}" type="slidenum">
              <a:rPr lang="en-US" sz="1200" b="0" u="none" strike="noStrike">
                <a:solidFill>
                  <a:srgbClr val="000000"/>
                </a:solidFill>
                <a:effectLst/>
                <a:uFillTx/>
                <a:latin typeface="Times New Roman"/>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 name="PlaceHolder 1"/>
          <p:cNvSpPr>
            <a:spLocks noGrp="1" noRot="1" noChangeAspect="1"/>
          </p:cNvSpPr>
          <p:nvPr>
            <p:ph type="sldImg"/>
          </p:nvPr>
        </p:nvSpPr>
        <p:spPr>
          <a:xfrm>
            <a:off x="685800" y="1143000"/>
            <a:ext cx="5486040" cy="3085920"/>
          </a:xfrm>
          <a:prstGeom prst="rect">
            <a:avLst/>
          </a:prstGeom>
          <a:ln w="0">
            <a:noFill/>
          </a:ln>
        </p:spPr>
      </p:sp>
      <p:sp>
        <p:nvSpPr>
          <p:cNvPr id="7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cannesson 2005</a:t>
            </a:r>
            <a:r>
              <a:rPr lang="ja-JP" sz="2000" b="0" u="none" strike="noStrike">
                <a:solidFill>
                  <a:srgbClr val="000000"/>
                </a:solidFill>
                <a:effectLst/>
                <a:uFillTx/>
                <a:latin typeface="Arial"/>
              </a:rPr>
              <a:t>は精度は低めだが</a:t>
            </a:r>
            <a:r>
              <a:rPr lang="en-US" sz="2000" b="0" u="none" strike="noStrike">
                <a:solidFill>
                  <a:srgbClr val="000000"/>
                </a:solidFill>
                <a:effectLst/>
                <a:uFillTx/>
                <a:latin typeface="Arial"/>
              </a:rPr>
              <a:t>ΔPOP</a:t>
            </a:r>
            <a:r>
              <a:rPr lang="ja-JP" sz="2000" b="0" u="none" strike="noStrike">
                <a:solidFill>
                  <a:srgbClr val="000000"/>
                </a:solidFill>
                <a:effectLst/>
                <a:uFillTx/>
                <a:latin typeface="Arial"/>
              </a:rPr>
              <a:t>と</a:t>
            </a:r>
            <a:r>
              <a:rPr lang="en-US" sz="2000" b="0" u="none" strike="noStrike">
                <a:solidFill>
                  <a:srgbClr val="000000"/>
                </a:solidFill>
                <a:effectLst/>
                <a:uFillTx/>
                <a:latin typeface="Arial"/>
              </a:rPr>
              <a:t>ΔPP</a:t>
            </a:r>
            <a:r>
              <a:rPr lang="ja-JP" sz="2000" b="0" u="none" strike="noStrike">
                <a:solidFill>
                  <a:srgbClr val="000000"/>
                </a:solidFill>
                <a:effectLst/>
                <a:uFillTx/>
                <a:latin typeface="Arial"/>
              </a:rPr>
              <a:t>が相関することを示した。オートゲインオフで相対変化を見る条件。</a:t>
            </a:r>
            <a:r>
              <a:rPr lang="en-US" sz="2000" b="0" u="none" strike="noStrike">
                <a:solidFill>
                  <a:srgbClr val="000000"/>
                </a:solidFill>
                <a:effectLst/>
                <a:uFillTx/>
                <a:latin typeface="Arial"/>
              </a:rPr>
              <a:t>PVI</a:t>
            </a:r>
            <a:r>
              <a:rPr lang="ja-JP" sz="2000" b="0" u="none" strike="noStrike">
                <a:solidFill>
                  <a:srgbClr val="000000"/>
                </a:solidFill>
                <a:effectLst/>
                <a:uFillTx/>
                <a:latin typeface="Arial"/>
              </a:rPr>
              <a:t>の元となる</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murray 1996 </a:t>
            </a:r>
            <a:r>
              <a:rPr lang="en-US" sz="1200" b="0" u="none" strike="noStrike">
                <a:solidFill>
                  <a:schemeClr val="dk1"/>
                </a:solidFill>
                <a:effectLst/>
                <a:uFillTx/>
                <a:latin typeface="+mn-lt"/>
                <a:ea typeface="+mn-ea"/>
              </a:rPr>
              <a:t>IPPV</a:t>
            </a:r>
            <a:r>
              <a:rPr lang="ja-JP" sz="1200" b="0" u="none" strike="noStrike">
                <a:solidFill>
                  <a:schemeClr val="dk1"/>
                </a:solidFill>
                <a:effectLst/>
                <a:uFillTx/>
                <a:latin typeface="+mn-lt"/>
                <a:ea typeface="+mn-ea"/>
              </a:rPr>
              <a:t>吸気開始時の短時間の左室一回拍出量・オキシメータ振幅増加には</a:t>
            </a:r>
            <a:r>
              <a:rPr lang="en-US" sz="1200" b="0" u="none" strike="noStrike">
                <a:solidFill>
                  <a:schemeClr val="dk1"/>
                </a:solidFill>
                <a:effectLst/>
                <a:uFillTx/>
                <a:latin typeface="+mn-lt"/>
                <a:ea typeface="+mn-ea"/>
              </a:rPr>
              <a:t>4</a:t>
            </a:r>
            <a:r>
              <a:rPr lang="ja-JP" sz="1200" b="0" u="none" strike="noStrike">
                <a:solidFill>
                  <a:schemeClr val="dk1"/>
                </a:solidFill>
                <a:effectLst/>
                <a:uFillTx/>
                <a:latin typeface="+mn-lt"/>
                <a:ea typeface="+mn-ea"/>
              </a:rPr>
              <a:t>因子が寄与：①肺から左心へ血液が押し出される前負荷増加、②肺による左心の直接的物理的圧迫、③左室後負荷の減少、④中隔の右方偏位を伴う右室容積減少が左室コンプライアンスを増して左室充満を増強。心外の陽性胸腔内圧（左室の圧アンローディング）で一回拍出量が短時間増強され、左心の充満減少がその拍出を減らすまで続く（図</a:t>
            </a:r>
            <a:r>
              <a:rPr lang="en-US" sz="1200" b="0" u="none" strike="noStrike">
                <a:solidFill>
                  <a:schemeClr val="dk1"/>
                </a:solidFill>
                <a:effectLst/>
                <a:uFillTx/>
                <a:latin typeface="+mn-lt"/>
                <a:ea typeface="+mn-ea"/>
              </a:rPr>
              <a:t>6</a:t>
            </a:r>
            <a:r>
              <a:rPr lang="ja-JP" sz="1200" b="0" u="none" strike="noStrike">
                <a:solidFill>
                  <a:schemeClr val="dk1"/>
                </a:solidFill>
                <a:effectLst/>
                <a:uFillTx/>
                <a:latin typeface="+mn-lt"/>
                <a:ea typeface="+mn-ea"/>
              </a:rPr>
              <a:t>）。これは、静脈還流減少が心室径を</a:t>
            </a:r>
            <a:r>
              <a:rPr lang="en-US" sz="1200" b="0" u="none" strike="noStrike">
                <a:solidFill>
                  <a:schemeClr val="dk1"/>
                </a:solidFill>
                <a:effectLst/>
                <a:uFillTx/>
                <a:latin typeface="+mn-lt"/>
                <a:ea typeface="+mn-ea"/>
              </a:rPr>
              <a:t>Starling</a:t>
            </a:r>
            <a:r>
              <a:rPr lang="ja-JP" sz="1200" b="0" u="none" strike="noStrike">
                <a:solidFill>
                  <a:schemeClr val="dk1"/>
                </a:solidFill>
                <a:effectLst/>
                <a:uFillTx/>
                <a:latin typeface="+mn-lt"/>
                <a:ea typeface="+mn-ea"/>
              </a:rPr>
              <a:t>曲線のより有利な点へ戻しうる不全心では見られないかもしれない</a:t>
            </a:r>
            <a:r>
              <a:rPr lang="en-US" sz="2000" b="0" u="none" strike="noStrike">
                <a:solidFill>
                  <a:srgbClr val="000000"/>
                </a:solidFill>
                <a:effectLst/>
                <a:uFillTx/>
                <a:latin typeface="+mn-lt"/>
                <a:ea typeface="+mn-ea"/>
              </a:rPr>
              <a:t> .</a:t>
            </a:r>
            <a:r>
              <a:rPr lang="ja-JP" sz="1200" b="0" u="none" strike="noStrike">
                <a:solidFill>
                  <a:schemeClr val="dk1"/>
                </a:solidFill>
                <a:effectLst/>
                <a:uFillTx/>
                <a:latin typeface="+mn-lt"/>
                <a:ea typeface="+mn-ea"/>
              </a:rPr>
              <a:t>実質的にミニ・バルサルバ</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したがって末梢脈波の呼吸性変動は、閉じた胸腔内の</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つの圧——静脈還流を駆動する圧と換気を生む圧——のバランスを反映する。</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p:txBody>
      </p:sp>
      <p:sp>
        <p:nvSpPr>
          <p:cNvPr id="755"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25C224C-3538-4F18-9E28-1D19B1203911}" type="slidenum">
              <a:rPr lang="en-US" sz="1200" b="0" u="none" strike="noStrike">
                <a:solidFill>
                  <a:srgbClr val="000000"/>
                </a:solidFill>
                <a:effectLst/>
                <a:uFillTx/>
                <a:latin typeface="Times New Roman"/>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 name="PlaceHolder 1"/>
          <p:cNvSpPr>
            <a:spLocks noGrp="1" noRot="1" noChangeAspect="1"/>
          </p:cNvSpPr>
          <p:nvPr>
            <p:ph type="sldImg"/>
          </p:nvPr>
        </p:nvSpPr>
        <p:spPr>
          <a:xfrm>
            <a:off x="685800" y="1143000"/>
            <a:ext cx="5486040" cy="3085920"/>
          </a:xfrm>
          <a:prstGeom prst="rect">
            <a:avLst/>
          </a:prstGeom>
          <a:ln w="0">
            <a:noFill/>
          </a:ln>
        </p:spPr>
      </p:sp>
      <p:sp>
        <p:nvSpPr>
          <p:cNvPr id="7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cannesson 2005</a:t>
            </a:r>
            <a:r>
              <a:rPr lang="ja-JP" sz="2000" b="0" u="none" strike="noStrike">
                <a:solidFill>
                  <a:srgbClr val="000000"/>
                </a:solidFill>
                <a:effectLst/>
                <a:uFillTx/>
                <a:latin typeface="Arial"/>
              </a:rPr>
              <a:t>は精度は低めだが</a:t>
            </a:r>
            <a:r>
              <a:rPr lang="en-US" sz="2000" b="0" u="none" strike="noStrike">
                <a:solidFill>
                  <a:srgbClr val="000000"/>
                </a:solidFill>
                <a:effectLst/>
                <a:uFillTx/>
                <a:latin typeface="Arial"/>
              </a:rPr>
              <a:t>ΔPOP</a:t>
            </a:r>
            <a:r>
              <a:rPr lang="ja-JP" sz="2000" b="0" u="none" strike="noStrike">
                <a:solidFill>
                  <a:srgbClr val="000000"/>
                </a:solidFill>
                <a:effectLst/>
                <a:uFillTx/>
                <a:latin typeface="Arial"/>
              </a:rPr>
              <a:t>と</a:t>
            </a:r>
            <a:r>
              <a:rPr lang="en-US" sz="2000" b="0" u="none" strike="noStrike">
                <a:solidFill>
                  <a:srgbClr val="000000"/>
                </a:solidFill>
                <a:effectLst/>
                <a:uFillTx/>
                <a:latin typeface="Arial"/>
              </a:rPr>
              <a:t>ΔPP</a:t>
            </a:r>
            <a:r>
              <a:rPr lang="ja-JP" sz="2000" b="0" u="none" strike="noStrike">
                <a:solidFill>
                  <a:srgbClr val="000000"/>
                </a:solidFill>
                <a:effectLst/>
                <a:uFillTx/>
                <a:latin typeface="Arial"/>
              </a:rPr>
              <a:t>が相関することを示した。オートゲインオフで相対変化を見る条件。</a:t>
            </a:r>
            <a:r>
              <a:rPr lang="en-US" sz="2000" b="0" u="none" strike="noStrike">
                <a:solidFill>
                  <a:srgbClr val="000000"/>
                </a:solidFill>
                <a:effectLst/>
                <a:uFillTx/>
                <a:latin typeface="Arial"/>
              </a:rPr>
              <a:t>PVI</a:t>
            </a:r>
            <a:r>
              <a:rPr lang="ja-JP" sz="2000" b="0" u="none" strike="noStrike">
                <a:solidFill>
                  <a:srgbClr val="000000"/>
                </a:solidFill>
                <a:effectLst/>
                <a:uFillTx/>
                <a:latin typeface="Arial"/>
              </a:rPr>
              <a:t>の元となる</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murray 1996 </a:t>
            </a:r>
            <a:r>
              <a:rPr lang="en-US" sz="1200" b="0" u="none" strike="noStrike">
                <a:solidFill>
                  <a:schemeClr val="dk1"/>
                </a:solidFill>
                <a:effectLst/>
                <a:uFillTx/>
                <a:latin typeface="+mn-lt"/>
                <a:ea typeface="+mn-ea"/>
              </a:rPr>
              <a:t>IPPV</a:t>
            </a:r>
            <a:r>
              <a:rPr lang="ja-JP" sz="1200" b="0" u="none" strike="noStrike">
                <a:solidFill>
                  <a:schemeClr val="dk1"/>
                </a:solidFill>
                <a:effectLst/>
                <a:uFillTx/>
                <a:latin typeface="+mn-lt"/>
                <a:ea typeface="+mn-ea"/>
              </a:rPr>
              <a:t>吸気開始時の短時間の左室一回拍出量・オキシメータ振幅増加には</a:t>
            </a:r>
            <a:r>
              <a:rPr lang="en-US" sz="1200" b="0" u="none" strike="noStrike">
                <a:solidFill>
                  <a:schemeClr val="dk1"/>
                </a:solidFill>
                <a:effectLst/>
                <a:uFillTx/>
                <a:latin typeface="+mn-lt"/>
                <a:ea typeface="+mn-ea"/>
              </a:rPr>
              <a:t>4</a:t>
            </a:r>
            <a:r>
              <a:rPr lang="ja-JP" sz="1200" b="0" u="none" strike="noStrike">
                <a:solidFill>
                  <a:schemeClr val="dk1"/>
                </a:solidFill>
                <a:effectLst/>
                <a:uFillTx/>
                <a:latin typeface="+mn-lt"/>
                <a:ea typeface="+mn-ea"/>
              </a:rPr>
              <a:t>因子が寄与：①肺から左心へ血液が押し出される前負荷増加、②肺による左心の直接的物理的圧迫、③左室後負荷の減少、④中隔の右方偏位を伴う右室容積減少が左室コンプライアンスを増して左室充満を増強。心外の陽性胸腔内圧（左室の圧アンローディング）で一回拍出量が短時間増強され、左心の充満減少がその拍出を減らすまで続く（図</a:t>
            </a:r>
            <a:r>
              <a:rPr lang="en-US" sz="1200" b="0" u="none" strike="noStrike">
                <a:solidFill>
                  <a:schemeClr val="dk1"/>
                </a:solidFill>
                <a:effectLst/>
                <a:uFillTx/>
                <a:latin typeface="+mn-lt"/>
                <a:ea typeface="+mn-ea"/>
              </a:rPr>
              <a:t>6</a:t>
            </a:r>
            <a:r>
              <a:rPr lang="ja-JP" sz="1200" b="0" u="none" strike="noStrike">
                <a:solidFill>
                  <a:schemeClr val="dk1"/>
                </a:solidFill>
                <a:effectLst/>
                <a:uFillTx/>
                <a:latin typeface="+mn-lt"/>
                <a:ea typeface="+mn-ea"/>
              </a:rPr>
              <a:t>）。これは、静脈還流減少が心室径を</a:t>
            </a:r>
            <a:r>
              <a:rPr lang="en-US" sz="1200" b="0" u="none" strike="noStrike">
                <a:solidFill>
                  <a:schemeClr val="dk1"/>
                </a:solidFill>
                <a:effectLst/>
                <a:uFillTx/>
                <a:latin typeface="+mn-lt"/>
                <a:ea typeface="+mn-ea"/>
              </a:rPr>
              <a:t>Starling</a:t>
            </a:r>
            <a:r>
              <a:rPr lang="ja-JP" sz="1200" b="0" u="none" strike="noStrike">
                <a:solidFill>
                  <a:schemeClr val="dk1"/>
                </a:solidFill>
                <a:effectLst/>
                <a:uFillTx/>
                <a:latin typeface="+mn-lt"/>
                <a:ea typeface="+mn-ea"/>
              </a:rPr>
              <a:t>曲線のより有利な点へ戻しうる不全心では見られないかもしれない</a:t>
            </a:r>
            <a:r>
              <a:rPr lang="en-US" sz="2000" b="0" u="none" strike="noStrike">
                <a:solidFill>
                  <a:srgbClr val="000000"/>
                </a:solidFill>
                <a:effectLst/>
                <a:uFillTx/>
                <a:latin typeface="+mn-lt"/>
                <a:ea typeface="+mn-ea"/>
              </a:rPr>
              <a:t> .</a:t>
            </a:r>
            <a:r>
              <a:rPr lang="ja-JP" sz="1200" b="0" u="none" strike="noStrike">
                <a:solidFill>
                  <a:schemeClr val="dk1"/>
                </a:solidFill>
                <a:effectLst/>
                <a:uFillTx/>
                <a:latin typeface="+mn-lt"/>
                <a:ea typeface="+mn-ea"/>
              </a:rPr>
              <a:t>実質的にミニ・バルサルバ</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したがって末梢脈波の呼吸性変動は、閉じた胸腔内の</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つの圧——静脈還流を駆動する圧と換気を生む圧——のバランスを反映する。</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p:txBody>
      </p:sp>
      <p:sp>
        <p:nvSpPr>
          <p:cNvPr id="758"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720D37C-0645-48F6-9AEC-BBF4079DF2E3}" type="slidenum">
              <a:rPr lang="en-US" sz="1200" b="0" u="none" strike="noStrike">
                <a:solidFill>
                  <a:srgbClr val="000000"/>
                </a:solidFill>
                <a:effectLst/>
                <a:uFillTx/>
                <a:latin typeface="Times New Roman"/>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PlaceHolder 1"/>
          <p:cNvSpPr>
            <a:spLocks noGrp="1" noRot="1" noChangeAspect="1"/>
          </p:cNvSpPr>
          <p:nvPr>
            <p:ph type="sldImg"/>
          </p:nvPr>
        </p:nvSpPr>
        <p:spPr>
          <a:xfrm>
            <a:off x="685800" y="1143000"/>
            <a:ext cx="5486040" cy="3085920"/>
          </a:xfrm>
          <a:prstGeom prst="rect">
            <a:avLst/>
          </a:prstGeom>
          <a:ln w="0">
            <a:noFill/>
          </a:ln>
        </p:spPr>
      </p:sp>
      <p:sp>
        <p:nvSpPr>
          <p:cNvPr id="7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1200" b="1" u="none" strike="noStrike">
                <a:solidFill>
                  <a:srgbClr val="00A8AA"/>
                </a:solidFill>
                <a:effectLst/>
                <a:uFillTx/>
                <a:latin typeface="Meiryo"/>
                <a:ea typeface="Meiryo"/>
              </a:rPr>
              <a:t>トーヌス低下：</a:t>
            </a:r>
            <a:r>
              <a:rPr lang="en-US" sz="1200" b="1" u="none" strike="noStrike">
                <a:solidFill>
                  <a:srgbClr val="00A8AA"/>
                </a:solidFill>
                <a:effectLst/>
                <a:uFillTx/>
                <a:latin typeface="Meiryo"/>
                <a:ea typeface="Meiryo"/>
              </a:rPr>
              <a:t>Chowienczyk 1999</a:t>
            </a:r>
            <a:r>
              <a:rPr lang="ja-JP" sz="1200" b="1" u="none" strike="noStrike">
                <a:solidFill>
                  <a:srgbClr val="00A8AA"/>
                </a:solidFill>
                <a:effectLst/>
                <a:uFillTx/>
                <a:latin typeface="Meiryo"/>
                <a:ea typeface="Meiryo"/>
              </a:rPr>
              <a:t>：吸入</a:t>
            </a:r>
            <a:r>
              <a:rPr lang="en-US" sz="1200" b="1" u="none" strike="noStrike">
                <a:solidFill>
                  <a:srgbClr val="00A8AA"/>
                </a:solidFill>
                <a:effectLst/>
                <a:uFillTx/>
                <a:latin typeface="Meiryo"/>
                <a:ea typeface="Meiryo"/>
              </a:rPr>
              <a:t>β₂ −11.8% / GTN −18.3%</a:t>
            </a:r>
            <a:endParaRPr lang="en-US" sz="1200" b="0" u="none" strike="noStrike">
              <a:solidFill>
                <a:srgbClr val="000000"/>
              </a:solidFill>
              <a:effectLst/>
              <a:uFillTx/>
              <a:latin typeface="Arial"/>
            </a:endParaRPr>
          </a:p>
          <a:p>
            <a:pPr indent="0" algn="l" defTabSz="914400">
              <a:lnSpc>
                <a:spcPct val="100000"/>
              </a:lnSpc>
              <a:buNone/>
              <a:tabLst>
                <a:tab pos="0" algn="l"/>
              </a:tabLst>
            </a:pPr>
            <a:r>
              <a:rPr lang="ja-JP" sz="1200" b="1" u="none" strike="noStrike">
                <a:solidFill>
                  <a:srgbClr val="E8853B"/>
                </a:solidFill>
                <a:effectLst/>
                <a:uFillTx/>
                <a:latin typeface="Meiryo"/>
                <a:ea typeface="Meiryo"/>
              </a:rPr>
              <a:t>トーヌス上昇：</a:t>
            </a:r>
            <a:r>
              <a:rPr lang="en-US" sz="1200" b="1" u="none" strike="noStrike">
                <a:solidFill>
                  <a:srgbClr val="E8853B"/>
                </a:solidFill>
                <a:effectLst/>
                <a:uFillTx/>
                <a:latin typeface="Meiryo"/>
                <a:ea typeface="Meiryo"/>
              </a:rPr>
              <a:t>Takazawa 1998</a:t>
            </a:r>
            <a:r>
              <a:rPr lang="ja-JP" sz="1200" b="1" u="none" strike="noStrike">
                <a:solidFill>
                  <a:srgbClr val="E8853B"/>
                </a:solidFill>
                <a:effectLst/>
                <a:uFillTx/>
                <a:latin typeface="Meiryo"/>
                <a:ea typeface="Meiryo"/>
              </a:rPr>
              <a:t>：</a:t>
            </a:r>
            <a:r>
              <a:rPr lang="en-US" sz="1200" b="1" u="none" strike="noStrike">
                <a:solidFill>
                  <a:srgbClr val="E8853B"/>
                </a:solidFill>
                <a:effectLst/>
                <a:uFillTx/>
                <a:latin typeface="Meiryo"/>
                <a:ea typeface="Meiryo"/>
              </a:rPr>
              <a:t>AngII </a:t>
            </a:r>
            <a:r>
              <a:rPr lang="ja-JP" sz="1200" b="1" u="none" strike="noStrike">
                <a:solidFill>
                  <a:srgbClr val="E8853B"/>
                </a:solidFill>
                <a:effectLst/>
                <a:uFillTx/>
                <a:latin typeface="Meiryo"/>
                <a:ea typeface="Meiryo"/>
              </a:rPr>
              <a:t>で </a:t>
            </a:r>
            <a:r>
              <a:rPr lang="en-US" sz="1200" b="1" u="none" strike="noStrike">
                <a:solidFill>
                  <a:srgbClr val="E8853B"/>
                </a:solidFill>
                <a:effectLst/>
                <a:uFillTx/>
                <a:latin typeface="Meiryo"/>
                <a:ea typeface="Meiryo"/>
              </a:rPr>
              <a:t>d/a↑</a:t>
            </a:r>
            <a:r>
              <a:rPr lang="ja-JP" sz="1200" b="1" u="none" strike="noStrike">
                <a:solidFill>
                  <a:srgbClr val="E8853B"/>
                </a:solidFill>
                <a:effectLst/>
                <a:uFillTx/>
                <a:latin typeface="Meiryo"/>
                <a:ea typeface="Meiryo"/>
              </a:rPr>
              <a:t>・</a:t>
            </a:r>
            <a:r>
              <a:rPr lang="en-US" sz="1200" b="1" u="none" strike="noStrike">
                <a:solidFill>
                  <a:srgbClr val="E8853B"/>
                </a:solidFill>
                <a:effectLst/>
                <a:uFillTx/>
                <a:latin typeface="Meiryo"/>
                <a:ea typeface="Meiryo"/>
              </a:rPr>
              <a:t>AIx↑</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61"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5C9609B-483D-44AC-BA1F-3BD5E232D169}" type="slidenum">
              <a:rPr lang="en-US" sz="1200" b="0" u="none" strike="noStrike">
                <a:solidFill>
                  <a:srgbClr val="000000"/>
                </a:solidFill>
                <a:effectLst/>
                <a:uFillTx/>
                <a:latin typeface="Times New Roman"/>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 name="PlaceHolder 1"/>
          <p:cNvSpPr>
            <a:spLocks noGrp="1" noRot="1" noChangeAspect="1"/>
          </p:cNvSpPr>
          <p:nvPr>
            <p:ph type="sldImg"/>
          </p:nvPr>
        </p:nvSpPr>
        <p:spPr>
          <a:xfrm>
            <a:off x="685800" y="1143000"/>
            <a:ext cx="5486040" cy="3085920"/>
          </a:xfrm>
          <a:prstGeom prst="rect">
            <a:avLst/>
          </a:prstGeom>
          <a:ln w="0">
            <a:noFill/>
          </a:ln>
        </p:spPr>
      </p:sp>
      <p:sp>
        <p:nvSpPr>
          <p:cNvPr id="7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　加齢性変化については</a:t>
            </a:r>
            <a:r>
              <a:rPr lang="en-US" sz="2000" b="0" u="none" strike="noStrike">
                <a:solidFill>
                  <a:srgbClr val="000000"/>
                </a:solidFill>
                <a:effectLst/>
                <a:uFillTx/>
                <a:latin typeface="Arial"/>
              </a:rPr>
              <a:t>Dawber</a:t>
            </a:r>
            <a:r>
              <a:rPr lang="ja-JP" sz="2000" b="0" u="none" strike="noStrike">
                <a:solidFill>
                  <a:srgbClr val="000000"/>
                </a:solidFill>
                <a:effectLst/>
                <a:uFillTx/>
                <a:latin typeface="Arial"/>
              </a:rPr>
              <a:t>も参照可能。（</a:t>
            </a:r>
            <a:r>
              <a:rPr lang="en-US" sz="2000" b="0" u="none" strike="noStrike">
                <a:solidFill>
                  <a:srgbClr val="000000"/>
                </a:solidFill>
                <a:effectLst/>
                <a:uFillTx/>
                <a:latin typeface="Arial"/>
              </a:rPr>
              <a:t>charlton2022</a:t>
            </a:r>
            <a:r>
              <a:rPr lang="ja-JP" sz="2000" b="0" u="none" strike="noStrike">
                <a:solidFill>
                  <a:srgbClr val="000000"/>
                </a:solidFill>
                <a:effectLst/>
                <a:uFillTx/>
                <a:latin typeface="Arial"/>
              </a:rPr>
              <a:t>より）</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64"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3FE3474-D0BC-4DA7-A8C7-6915EDF3CF13}" type="slidenum">
              <a:rPr lang="en-US" sz="1200" b="0" u="none" strike="noStrike">
                <a:solidFill>
                  <a:srgbClr val="000000"/>
                </a:solidFill>
                <a:effectLst/>
                <a:uFillTx/>
                <a:latin typeface="Times New Roman"/>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PlaceHolder 1"/>
          <p:cNvSpPr>
            <a:spLocks noGrp="1" noRot="1" noChangeAspect="1"/>
          </p:cNvSpPr>
          <p:nvPr>
            <p:ph type="sldImg"/>
          </p:nvPr>
        </p:nvSpPr>
        <p:spPr>
          <a:xfrm>
            <a:off x="685800" y="1143000"/>
            <a:ext cx="5486040" cy="3085920"/>
          </a:xfrm>
          <a:prstGeom prst="rect">
            <a:avLst/>
          </a:prstGeom>
          <a:ln w="0">
            <a:noFill/>
          </a:ln>
        </p:spPr>
      </p:sp>
      <p:sp>
        <p:nvSpPr>
          <p:cNvPr id="7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ミラソー</a:t>
            </a:r>
            <a:r>
              <a:rPr lang="en-US" sz="2000" b="0" u="none" strike="noStrike">
                <a:solidFill>
                  <a:srgbClr val="000000"/>
                </a:solidFill>
                <a:effectLst/>
                <a:uFillTx/>
                <a:latin typeface="Arial"/>
              </a:rPr>
              <a:t>2022</a:t>
            </a:r>
            <a:r>
              <a:rPr lang="ja-JP" sz="2000" b="0" u="none" strike="noStrike">
                <a:solidFill>
                  <a:srgbClr val="000000"/>
                </a:solidFill>
                <a:effectLst/>
                <a:uFillTx/>
                <a:latin typeface="Arial"/>
              </a:rPr>
              <a:t>で</a:t>
            </a:r>
            <a:r>
              <a:rPr lang="en-US" sz="2000" b="0" u="none" strike="noStrike">
                <a:solidFill>
                  <a:srgbClr val="000000"/>
                </a:solidFill>
                <a:effectLst/>
                <a:uFillTx/>
                <a:latin typeface="Arial"/>
              </a:rPr>
              <a:t>SI</a:t>
            </a:r>
            <a:r>
              <a:rPr lang="ja-JP" sz="2000" b="0" u="none" strike="noStrike">
                <a:solidFill>
                  <a:srgbClr val="000000"/>
                </a:solidFill>
                <a:effectLst/>
                <a:uFillTx/>
                <a:latin typeface="Arial"/>
              </a:rPr>
              <a:t>と</a:t>
            </a:r>
            <a:r>
              <a:rPr lang="en-US" sz="2000" b="0" u="none" strike="noStrike">
                <a:solidFill>
                  <a:srgbClr val="000000"/>
                </a:solidFill>
                <a:effectLst/>
                <a:uFillTx/>
                <a:latin typeface="Arial"/>
              </a:rPr>
              <a:t>PWV</a:t>
            </a:r>
            <a:r>
              <a:rPr lang="ja-JP" sz="2000" b="0" u="none" strike="noStrike">
                <a:solidFill>
                  <a:srgbClr val="000000"/>
                </a:solidFill>
                <a:effectLst/>
                <a:uFillTx/>
                <a:latin typeface="Arial"/>
              </a:rPr>
              <a:t>の関連を示し、</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への影響とエラスタンスへの影響が切り離される様子を見た</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Awad2007</a:t>
            </a:r>
            <a:r>
              <a:rPr lang="ja-JP" sz="2000" b="0" u="none" strike="noStrike">
                <a:solidFill>
                  <a:srgbClr val="000000"/>
                </a:solidFill>
                <a:effectLst/>
                <a:uFillTx/>
                <a:latin typeface="Arial"/>
              </a:rPr>
              <a:t>は</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と関連するのは振幅＜脈波幅、指＜耳</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67"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F224611-94F9-42AE-9E99-0BEDDDB3035D}" type="slidenum">
              <a:rPr lang="en-US" sz="1200" b="0" u="none" strike="noStrike">
                <a:solidFill>
                  <a:srgbClr val="000000"/>
                </a:solidFill>
                <a:effectLst/>
                <a:uFillTx/>
                <a:latin typeface="Times New Roman"/>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 name="PlaceHolder 1"/>
          <p:cNvSpPr>
            <a:spLocks noGrp="1" noRot="1" noChangeAspect="1"/>
          </p:cNvSpPr>
          <p:nvPr>
            <p:ph type="sldImg"/>
          </p:nvPr>
        </p:nvSpPr>
        <p:spPr>
          <a:xfrm>
            <a:off x="685800" y="1143000"/>
            <a:ext cx="5486040" cy="3085920"/>
          </a:xfrm>
          <a:prstGeom prst="rect">
            <a:avLst/>
          </a:prstGeom>
          <a:ln w="0">
            <a:noFill/>
          </a:ln>
        </p:spPr>
      </p:sp>
      <p:sp>
        <p:nvSpPr>
          <p:cNvPr id="7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麻酔薬【イソフルラン】による血管拡張</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切痕がベースライン上にあると、これら薬はそれ以上血圧を下げず回復を遅らせるだけ</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70"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5883B68-20C5-4C54-B954-B2F50B2085D0}" type="slidenum">
              <a:rPr lang="en-US" sz="1200" b="0" u="none" strike="noStrike">
                <a:solidFill>
                  <a:srgbClr val="000000"/>
                </a:solidFill>
                <a:effectLst/>
                <a:uFillTx/>
                <a:latin typeface="Times New Roman"/>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 name="PlaceHolder 1"/>
          <p:cNvSpPr>
            <a:spLocks noGrp="1" noRot="1" noChangeAspect="1"/>
          </p:cNvSpPr>
          <p:nvPr>
            <p:ph type="sldImg"/>
          </p:nvPr>
        </p:nvSpPr>
        <p:spPr>
          <a:xfrm>
            <a:off x="685800" y="1143000"/>
            <a:ext cx="5486040" cy="3085920"/>
          </a:xfrm>
          <a:prstGeom prst="rect">
            <a:avLst/>
          </a:prstGeom>
          <a:ln w="0">
            <a:noFill/>
          </a:ln>
        </p:spPr>
      </p:sp>
      <p:sp>
        <p:nvSpPr>
          <p:cNvPr id="7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麻酔薬【イソフルラン】による血管拡張</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切痕がベースライン上にあると、これら薬はそれ以上血圧を下げず回復を遅らせるだけ</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73"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918213F-4A06-42F5-803D-DB63F00F026E}" type="slidenum">
              <a:rPr lang="en-US" sz="1200" b="0" u="none" strike="noStrike">
                <a:solidFill>
                  <a:srgbClr val="000000"/>
                </a:solidFill>
                <a:effectLst/>
                <a:uFillTx/>
                <a:latin typeface="Times New Roman"/>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PlaceHolder 1"/>
          <p:cNvSpPr>
            <a:spLocks noGrp="1" noRot="1" noChangeAspect="1"/>
          </p:cNvSpPr>
          <p:nvPr>
            <p:ph type="sldImg"/>
          </p:nvPr>
        </p:nvSpPr>
        <p:spPr>
          <a:xfrm>
            <a:off x="685800" y="1143000"/>
            <a:ext cx="5486040" cy="3085920"/>
          </a:xfrm>
          <a:prstGeom prst="rect">
            <a:avLst/>
          </a:prstGeom>
          <a:ln w="0">
            <a:noFill/>
          </a:ln>
        </p:spPr>
      </p:sp>
      <p:sp>
        <p:nvSpPr>
          <p:cNvPr id="7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PPG</a:t>
            </a:r>
            <a:r>
              <a:rPr lang="ja-JP" sz="2000" b="0" u="none" strike="noStrike">
                <a:solidFill>
                  <a:srgbClr val="000000"/>
                </a:solidFill>
                <a:effectLst/>
                <a:uFillTx/>
                <a:latin typeface="Arial"/>
              </a:rPr>
              <a:t>を目視で</a:t>
            </a:r>
            <a:r>
              <a:rPr lang="en-US" sz="2000" b="0" u="none" strike="noStrike">
                <a:solidFill>
                  <a:srgbClr val="000000"/>
                </a:solidFill>
                <a:effectLst/>
                <a:uFillTx/>
                <a:latin typeface="Arial"/>
              </a:rPr>
              <a:t>6</a:t>
            </a:r>
            <a:r>
              <a:rPr lang="ja-JP" sz="2000" b="0" u="none" strike="noStrike">
                <a:solidFill>
                  <a:srgbClr val="000000"/>
                </a:solidFill>
                <a:effectLst/>
                <a:uFillTx/>
                <a:latin typeface="Arial"/>
              </a:rPr>
              <a:t>分類し、これらの分類が、</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高血圧圧、低血圧、コンプライアンスとよく関連した。</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rgbClr val="8C8C8C"/>
                </a:solidFill>
                <a:effectLst/>
                <a:uFillTx/>
                <a:latin typeface="Meiryo"/>
                <a:ea typeface="Meiryo"/>
              </a:rPr>
              <a:t>切痕位置（</a:t>
            </a:r>
            <a:r>
              <a:rPr lang="en" sz="1200" b="0" u="none" strike="noStrike">
                <a:solidFill>
                  <a:srgbClr val="8C8C8C"/>
                </a:solidFill>
                <a:effectLst/>
                <a:uFillTx/>
                <a:latin typeface="Meiryo"/>
                <a:ea typeface="Meiryo"/>
              </a:rPr>
              <a:t>I:</a:t>
            </a:r>
            <a:r>
              <a:rPr lang="ja-JP" sz="1200" b="0" u="none" strike="noStrike">
                <a:solidFill>
                  <a:srgbClr val="8C8C8C"/>
                </a:solidFill>
                <a:effectLst/>
                <a:uFillTx/>
                <a:latin typeface="Meiryo"/>
                <a:ea typeface="Meiryo"/>
              </a:rPr>
              <a:t>収縮期ピークに融合 → </a:t>
            </a:r>
            <a:r>
              <a:rPr lang="en" sz="1200" b="0" u="none" strike="noStrike">
                <a:solidFill>
                  <a:srgbClr val="8C8C8C"/>
                </a:solidFill>
                <a:effectLst/>
                <a:uFillTx/>
                <a:latin typeface="Meiryo"/>
                <a:ea typeface="Meiryo"/>
              </a:rPr>
              <a:t>VI:</a:t>
            </a:r>
            <a:r>
              <a:rPr lang="ja-JP" sz="1200" b="0" u="none" strike="noStrike">
                <a:solidFill>
                  <a:srgbClr val="8C8C8C"/>
                </a:solidFill>
                <a:effectLst/>
                <a:uFillTx/>
                <a:latin typeface="Meiryo"/>
                <a:ea typeface="Meiryo"/>
              </a:rPr>
              <a:t>陰性）</a:t>
            </a:r>
            <a:r>
              <a:rPr lang="en-US" sz="1200" b="0" u="none" strike="noStrike">
                <a:solidFill>
                  <a:srgbClr val="8C8C8C"/>
                </a:solidFill>
                <a:effectLst/>
                <a:uFillTx/>
                <a:latin typeface="Meiryo"/>
                <a:ea typeface="Meiryo"/>
              </a:rPr>
              <a:t>× </a:t>
            </a:r>
            <a:r>
              <a:rPr lang="ja-JP" sz="1200" b="0" u="none" strike="noStrike">
                <a:solidFill>
                  <a:srgbClr val="8C8C8C"/>
                </a:solidFill>
                <a:effectLst/>
                <a:uFillTx/>
                <a:latin typeface="Meiryo"/>
                <a:ea typeface="Meiryo"/>
              </a:rPr>
              <a:t>振幅 で</a:t>
            </a:r>
            <a:r>
              <a:rPr lang="en-US" sz="1200" b="0" u="none" strike="noStrike">
                <a:solidFill>
                  <a:srgbClr val="8C8C8C"/>
                </a:solidFill>
                <a:effectLst/>
                <a:uFillTx/>
                <a:latin typeface="Meiryo"/>
                <a:ea typeface="Meiryo"/>
              </a:rPr>
              <a:t>6</a:t>
            </a:r>
            <a:r>
              <a:rPr lang="ja-JP" sz="1200" b="0" u="none" strike="noStrike">
                <a:solidFill>
                  <a:srgbClr val="8C8C8C"/>
                </a:solidFill>
                <a:effectLst/>
                <a:uFillTx/>
                <a:latin typeface="Meiryo"/>
                <a:ea typeface="Meiryo"/>
              </a:rPr>
              <a:t>分類。</a:t>
            </a:r>
            <a:r>
              <a:rPr lang="en" sz="1200" b="0" u="none" strike="noStrike">
                <a:solidFill>
                  <a:srgbClr val="8C8C8C"/>
                </a:solidFill>
                <a:effectLst/>
                <a:uFillTx/>
                <a:latin typeface="Meiryo"/>
                <a:ea typeface="Meiryo"/>
              </a:rPr>
              <a:t>SBP</a:t>
            </a:r>
            <a:r>
              <a:rPr lang="ja-JP" sz="1200" b="0" u="none" strike="noStrike">
                <a:solidFill>
                  <a:srgbClr val="8C8C8C"/>
                </a:solidFill>
                <a:effectLst/>
                <a:uFillTx/>
                <a:latin typeface="Meiryo"/>
                <a:ea typeface="Meiryo"/>
              </a:rPr>
              <a:t>・</a:t>
            </a:r>
            <a:r>
              <a:rPr lang="en" sz="1200" b="0" u="none" strike="noStrike">
                <a:solidFill>
                  <a:srgbClr val="8C8C8C"/>
                </a:solidFill>
                <a:effectLst/>
                <a:uFillTx/>
                <a:latin typeface="Meiryo"/>
                <a:ea typeface="Meiryo"/>
              </a:rPr>
              <a:t>SVR</a:t>
            </a:r>
            <a:r>
              <a:rPr lang="ja-JP" sz="1200" b="0" u="none" strike="noStrike">
                <a:solidFill>
                  <a:srgbClr val="8C8C8C"/>
                </a:solidFill>
                <a:effectLst/>
                <a:uFillTx/>
                <a:latin typeface="Meiryo"/>
                <a:ea typeface="Meiryo"/>
              </a:rPr>
              <a:t>・コンプライアンスと相関 </a:t>
            </a:r>
            <a:r>
              <a:rPr lang="en-US" sz="1200" b="0" u="none" strike="noStrike">
                <a:solidFill>
                  <a:srgbClr val="8C8C8C"/>
                </a:solidFill>
                <a:effectLst/>
                <a:uFillTx/>
                <a:latin typeface="Meiryo"/>
                <a:ea typeface="Meiryo"/>
              </a:rPr>
              <a:t>(</a:t>
            </a:r>
            <a:r>
              <a:rPr lang="en" sz="1200" b="0" u="none" strike="noStrike">
                <a:solidFill>
                  <a:srgbClr val="8C8C8C"/>
                </a:solidFill>
                <a:effectLst/>
                <a:uFillTx/>
                <a:latin typeface="Meiryo"/>
                <a:ea typeface="Meiryo"/>
              </a:rPr>
              <a:t>Tusman 2019)</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76"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A0A9C57-6956-4955-9619-56D2812BEF08}" type="slidenum">
              <a:rPr lang="en-US" sz="1200" b="0" u="none" strike="noStrike">
                <a:solidFill>
                  <a:srgbClr val="000000"/>
                </a:solidFill>
                <a:effectLst/>
                <a:uFillTx/>
                <a:latin typeface="Times New Roman"/>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 name="PlaceHolder 1"/>
          <p:cNvSpPr>
            <a:spLocks noGrp="1" noRot="1" noChangeAspect="1"/>
          </p:cNvSpPr>
          <p:nvPr>
            <p:ph type="sldImg"/>
          </p:nvPr>
        </p:nvSpPr>
        <p:spPr>
          <a:xfrm>
            <a:off x="685800" y="1143000"/>
            <a:ext cx="5486040" cy="3085920"/>
          </a:xfrm>
          <a:prstGeom prst="rect">
            <a:avLst/>
          </a:prstGeom>
          <a:ln w="0">
            <a:noFill/>
          </a:ln>
        </p:spPr>
      </p:sp>
      <p:sp>
        <p:nvSpPr>
          <p:cNvPr id="7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PPG</a:t>
            </a:r>
            <a:r>
              <a:rPr lang="ja-JP" sz="2000" b="0" u="none" strike="noStrike">
                <a:solidFill>
                  <a:srgbClr val="000000"/>
                </a:solidFill>
                <a:effectLst/>
                <a:uFillTx/>
                <a:latin typeface="Arial"/>
              </a:rPr>
              <a:t>を目視で</a:t>
            </a:r>
            <a:r>
              <a:rPr lang="en-US" sz="2000" b="0" u="none" strike="noStrike">
                <a:solidFill>
                  <a:srgbClr val="000000"/>
                </a:solidFill>
                <a:effectLst/>
                <a:uFillTx/>
                <a:latin typeface="Arial"/>
              </a:rPr>
              <a:t>6</a:t>
            </a:r>
            <a:r>
              <a:rPr lang="ja-JP" sz="2000" b="0" u="none" strike="noStrike">
                <a:solidFill>
                  <a:srgbClr val="000000"/>
                </a:solidFill>
                <a:effectLst/>
                <a:uFillTx/>
                <a:latin typeface="Arial"/>
              </a:rPr>
              <a:t>分類し、これらの分類が、</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高血圧圧、低血圧、コンプライアンスとよく関連した。</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79"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DC7CFD7-F35A-4280-B8DF-66B9F6E8BFA1}" type="slidenum">
              <a:rPr lang="en-US" sz="1200" b="0" u="none" strike="noStrike">
                <a:solidFill>
                  <a:srgbClr val="000000"/>
                </a:solidFill>
                <a:effectLst/>
                <a:uFillTx/>
                <a:latin typeface="Times New Roman"/>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 name="PlaceHolder 1"/>
          <p:cNvSpPr>
            <a:spLocks noGrp="1" noRot="1" noChangeAspect="1"/>
          </p:cNvSpPr>
          <p:nvPr>
            <p:ph type="sldImg"/>
          </p:nvPr>
        </p:nvSpPr>
        <p:spPr>
          <a:xfrm>
            <a:off x="685800" y="1143000"/>
            <a:ext cx="5486040" cy="3085920"/>
          </a:xfrm>
          <a:prstGeom prst="rect">
            <a:avLst/>
          </a:prstGeom>
          <a:ln w="0">
            <a:noFill/>
          </a:ln>
        </p:spPr>
      </p:sp>
      <p:sp>
        <p:nvSpPr>
          <p:cNvPr id="7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SI,RI</a:t>
            </a:r>
            <a:r>
              <a:rPr lang="ja-JP" sz="2000" b="0" u="none" strike="noStrike">
                <a:solidFill>
                  <a:srgbClr val="000000"/>
                </a:solidFill>
                <a:effectLst/>
                <a:uFillTx/>
                <a:latin typeface="Arial"/>
              </a:rPr>
              <a:t>は</a:t>
            </a:r>
            <a:r>
              <a:rPr lang="en" sz="2000" b="0" u="none" strike="noStrike">
                <a:solidFill>
                  <a:srgbClr val="000000"/>
                </a:solidFill>
                <a:effectLst/>
                <a:uFillTx/>
                <a:latin typeface="Arial"/>
              </a:rPr>
              <a:t>https://www.jacc.org/doi/10.1016/S0735-1097(99)00441-6</a:t>
            </a:r>
            <a:r>
              <a:rPr lang="ja-JP" sz="2000" b="0" u="none" strike="noStrike">
                <a:solidFill>
                  <a:srgbClr val="000000"/>
                </a:solidFill>
                <a:effectLst/>
                <a:uFillTx/>
                <a:latin typeface="Arial"/>
              </a:rPr>
              <a:t>も参考になる。</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 sz="2000" b="0" u="none" strike="noStrike">
                <a:solidFill>
                  <a:srgbClr val="000000"/>
                </a:solidFill>
                <a:effectLst/>
                <a:uFillTx/>
                <a:latin typeface="Arial"/>
              </a:rPr>
              <a:t>Aix</a:t>
            </a:r>
            <a:r>
              <a:rPr lang="ja-JP" sz="2000" b="0" u="none" strike="noStrike">
                <a:solidFill>
                  <a:srgbClr val="000000"/>
                </a:solidFill>
                <a:effectLst/>
                <a:uFillTx/>
                <a:latin typeface="Arial"/>
              </a:rPr>
              <a:t>は</a:t>
            </a:r>
            <a:r>
              <a:rPr lang="en-US" sz="2000" b="0" u="none" strike="noStrike">
                <a:solidFill>
                  <a:srgbClr val="000000"/>
                </a:solidFill>
                <a:effectLst/>
                <a:uFillTx/>
                <a:latin typeface="Arial"/>
              </a:rPr>
              <a:t>pilt2014</a:t>
            </a:r>
            <a:r>
              <a:rPr lang="ja-JP" sz="2000" b="0" u="none" strike="noStrike">
                <a:solidFill>
                  <a:srgbClr val="000000"/>
                </a:solidFill>
                <a:effectLst/>
                <a:uFillTx/>
                <a:latin typeface="Arial"/>
              </a:rPr>
              <a:t>も</a:t>
            </a:r>
            <a:r>
              <a:rPr lang="en" sz="2000" b="0" u="none" strike="noStrike">
                <a:solidFill>
                  <a:srgbClr val="000000"/>
                </a:solidFill>
                <a:effectLst/>
                <a:uFillTx/>
                <a:latin typeface="Arial"/>
              </a:rPr>
              <a:t>https://iopscience.iop.org/article/10.1088/0967-3334/35/10/2027</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代替</a:t>
            </a:r>
            <a:r>
              <a:rPr lang="en-US" sz="1200" b="0" u="none" strike="noStrike">
                <a:solidFill>
                  <a:schemeClr val="dk1"/>
                </a:solidFill>
                <a:effectLst/>
                <a:uFillTx/>
                <a:latin typeface="+mn-lt"/>
                <a:ea typeface="+mn-ea"/>
              </a:rPr>
              <a:t>augmentation index</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AIx</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AIx</a:t>
            </a:r>
            <a:r>
              <a:rPr lang="ja-JP" sz="1200" b="0" u="none" strike="noStrike">
                <a:solidFill>
                  <a:schemeClr val="dk1"/>
                </a:solidFill>
                <a:effectLst/>
                <a:uFillTx/>
                <a:latin typeface="+mn-lt"/>
                <a:ea typeface="+mn-ea"/>
              </a:rPr>
              <a:t>は動脈スティフネス・波動反射と関係する。通常は上行大動脈圧波形から導かれ、</a:t>
            </a:r>
            <a:r>
              <a:rPr lang="en-US" sz="1200" b="0" u="none" strike="noStrike">
                <a:solidFill>
                  <a:schemeClr val="dk1"/>
                </a:solidFill>
                <a:effectLst/>
                <a:uFillTx/>
                <a:latin typeface="+mn-lt"/>
                <a:ea typeface="+mn-ea"/>
              </a:rPr>
              <a:t>augmentation pressure</a:t>
            </a:r>
            <a:r>
              <a:rPr lang="ja-JP" sz="1200" b="0" u="none" strike="noStrike">
                <a:solidFill>
                  <a:schemeClr val="dk1"/>
                </a:solidFill>
                <a:effectLst/>
                <a:uFillTx/>
                <a:latin typeface="+mn-lt"/>
                <a:ea typeface="+mn-ea"/>
              </a:rPr>
              <a:t>（第</a:t>
            </a:r>
            <a:r>
              <a:rPr lang="en-US" sz="1200" b="0" u="none" strike="noStrike">
                <a:solidFill>
                  <a:schemeClr val="dk1"/>
                </a:solidFill>
                <a:effectLst/>
                <a:uFillTx/>
                <a:latin typeface="+mn-lt"/>
                <a:ea typeface="+mn-ea"/>
              </a:rPr>
              <a:t>1</a:t>
            </a:r>
            <a:r>
              <a:rPr lang="ja-JP" sz="1200" b="0" u="none" strike="noStrike">
                <a:solidFill>
                  <a:schemeClr val="dk1"/>
                </a:solidFill>
                <a:effectLst/>
                <a:uFillTx/>
                <a:latin typeface="+mn-lt"/>
                <a:ea typeface="+mn-ea"/>
              </a:rPr>
              <a:t>・第</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収縮期ピーク間の圧差）を脈圧で割って算出される。</a:t>
            </a:r>
            <a:r>
              <a:rPr lang="en-US" sz="1200" b="1" u="none" strike="noStrike">
                <a:solidFill>
                  <a:schemeClr val="dk1"/>
                </a:solidFill>
                <a:effectLst/>
                <a:uFillTx/>
                <a:latin typeface="+mn-lt"/>
                <a:ea typeface="+mn-ea"/>
              </a:rPr>
              <a:t>PPG</a:t>
            </a:r>
            <a:r>
              <a:rPr lang="ja-JP" sz="1200" b="1" u="none" strike="noStrike">
                <a:solidFill>
                  <a:schemeClr val="dk1"/>
                </a:solidFill>
                <a:effectLst/>
                <a:uFillTx/>
                <a:latin typeface="+mn-lt"/>
                <a:ea typeface="+mn-ea"/>
              </a:rPr>
              <a:t>脈波から算出した代替</a:t>
            </a:r>
            <a:r>
              <a:rPr lang="en-US" sz="1200" b="1" u="none" strike="noStrike">
                <a:solidFill>
                  <a:schemeClr val="dk1"/>
                </a:solidFill>
                <a:effectLst/>
                <a:uFillTx/>
                <a:latin typeface="+mn-lt"/>
                <a:ea typeface="+mn-ea"/>
              </a:rPr>
              <a:t>AIx</a:t>
            </a:r>
            <a:r>
              <a:rPr lang="ja-JP" sz="1200" b="1" u="none" strike="noStrike">
                <a:solidFill>
                  <a:schemeClr val="dk1"/>
                </a:solidFill>
                <a:effectLst/>
                <a:uFillTx/>
                <a:latin typeface="+mn-lt"/>
                <a:ea typeface="+mn-ea"/>
              </a:rPr>
              <a:t>は、橈骨</a:t>
            </a:r>
            <a:r>
              <a:rPr lang="en-US" sz="1200" b="1" u="none" strike="noStrike">
                <a:solidFill>
                  <a:schemeClr val="dk1"/>
                </a:solidFill>
                <a:effectLst/>
                <a:uFillTx/>
                <a:latin typeface="+mn-lt"/>
                <a:ea typeface="+mn-ea"/>
              </a:rPr>
              <a:t>BP</a:t>
            </a:r>
            <a:r>
              <a:rPr lang="ja-JP" sz="1200" b="1" u="none" strike="noStrike">
                <a:solidFill>
                  <a:schemeClr val="dk1"/>
                </a:solidFill>
                <a:effectLst/>
                <a:uFillTx/>
                <a:latin typeface="+mn-lt"/>
                <a:ea typeface="+mn-ea"/>
              </a:rPr>
              <a:t>脈波から算出した</a:t>
            </a:r>
            <a:r>
              <a:rPr lang="en-US" sz="1200" b="1" u="none" strike="noStrike">
                <a:solidFill>
                  <a:schemeClr val="dk1"/>
                </a:solidFill>
                <a:effectLst/>
                <a:uFillTx/>
                <a:latin typeface="+mn-lt"/>
                <a:ea typeface="+mn-ea"/>
              </a:rPr>
              <a:t>AIx</a:t>
            </a:r>
            <a:r>
              <a:rPr lang="ja-JP" sz="1200" b="1" u="none" strike="noStrike">
                <a:solidFill>
                  <a:schemeClr val="dk1"/>
                </a:solidFill>
                <a:effectLst/>
                <a:uFillTx/>
                <a:latin typeface="+mn-lt"/>
                <a:ea typeface="+mn-ea"/>
              </a:rPr>
              <a:t>（</a:t>
            </a:r>
            <a:r>
              <a:rPr lang="en-US" sz="1200" b="1" u="none" strike="noStrike">
                <a:solidFill>
                  <a:schemeClr val="dk1"/>
                </a:solidFill>
                <a:effectLst/>
                <a:uFillTx/>
                <a:latin typeface="+mn-lt"/>
                <a:ea typeface="+mn-ea"/>
              </a:rPr>
              <a:t>r=0.77</a:t>
            </a:r>
            <a:r>
              <a:rPr lang="ja-JP" sz="1200" b="1" u="none" strike="noStrike">
                <a:solidFill>
                  <a:schemeClr val="dk1"/>
                </a:solidFill>
                <a:effectLst/>
                <a:uFillTx/>
                <a:latin typeface="+mn-lt"/>
                <a:ea typeface="+mn-ea"/>
              </a:rPr>
              <a:t>）および中枢</a:t>
            </a:r>
            <a:r>
              <a:rPr lang="en-US" sz="1200" b="1" u="none" strike="noStrike">
                <a:solidFill>
                  <a:schemeClr val="dk1"/>
                </a:solidFill>
                <a:effectLst/>
                <a:uFillTx/>
                <a:latin typeface="+mn-lt"/>
                <a:ea typeface="+mn-ea"/>
              </a:rPr>
              <a:t>BP</a:t>
            </a:r>
            <a:r>
              <a:rPr lang="ja-JP" sz="1200" b="1" u="none" strike="noStrike">
                <a:solidFill>
                  <a:schemeClr val="dk1"/>
                </a:solidFill>
                <a:effectLst/>
                <a:uFillTx/>
                <a:latin typeface="+mn-lt"/>
                <a:ea typeface="+mn-ea"/>
              </a:rPr>
              <a:t>脈波から算出した</a:t>
            </a:r>
            <a:r>
              <a:rPr lang="en-US" sz="1200" b="1" u="none" strike="noStrike">
                <a:solidFill>
                  <a:schemeClr val="dk1"/>
                </a:solidFill>
                <a:effectLst/>
                <a:uFillTx/>
                <a:latin typeface="+mn-lt"/>
                <a:ea typeface="+mn-ea"/>
              </a:rPr>
              <a:t>AIx</a:t>
            </a:r>
            <a:r>
              <a:rPr lang="ja-JP" sz="1200" b="1" u="none" strike="noStrike">
                <a:solidFill>
                  <a:schemeClr val="dk1"/>
                </a:solidFill>
                <a:effectLst/>
                <a:uFillTx/>
                <a:latin typeface="+mn-lt"/>
                <a:ea typeface="+mn-ea"/>
              </a:rPr>
              <a:t>（</a:t>
            </a:r>
            <a:r>
              <a:rPr lang="en-US" sz="1200" b="1" u="none" strike="noStrike">
                <a:solidFill>
                  <a:schemeClr val="dk1"/>
                </a:solidFill>
                <a:effectLst/>
                <a:uFillTx/>
                <a:latin typeface="+mn-lt"/>
                <a:ea typeface="+mn-ea"/>
              </a:rPr>
              <a:t>r=0.78, 0.86</a:t>
            </a:r>
            <a:r>
              <a:rPr lang="ja-JP" sz="1200" b="1" u="none" strike="noStrike">
                <a:solidFill>
                  <a:schemeClr val="dk1"/>
                </a:solidFill>
                <a:effectLst/>
                <a:uFillTx/>
                <a:latin typeface="+mn-lt"/>
                <a:ea typeface="+mn-ea"/>
              </a:rPr>
              <a:t>）と有意に相関する。</a:t>
            </a:r>
            <a:r>
              <a:rPr lang="en-US" sz="1200" b="0" u="none" strike="noStrike">
                <a:solidFill>
                  <a:schemeClr val="dk1"/>
                </a:solidFill>
                <a:effectLst/>
                <a:uFillTx/>
                <a:latin typeface="+mn-lt"/>
                <a:ea typeface="+mn-ea"/>
              </a:rPr>
              <a:t>PPG</a:t>
            </a:r>
            <a:r>
              <a:rPr lang="ja-JP" sz="1200" b="0" u="none" strike="noStrike">
                <a:solidFill>
                  <a:schemeClr val="dk1"/>
                </a:solidFill>
                <a:effectLst/>
                <a:uFillTx/>
                <a:latin typeface="+mn-lt"/>
                <a:ea typeface="+mn-ea"/>
              </a:rPr>
              <a:t>と</a:t>
            </a:r>
            <a:r>
              <a:rPr lang="en-US" sz="1200" b="0" u="none" strike="noStrike">
                <a:solidFill>
                  <a:schemeClr val="dk1"/>
                </a:solidFill>
                <a:effectLst/>
                <a:uFillTx/>
                <a:latin typeface="+mn-lt"/>
                <a:ea typeface="+mn-ea"/>
              </a:rPr>
              <a:t>BP</a:t>
            </a:r>
            <a:r>
              <a:rPr lang="ja-JP" sz="1200" b="0" u="none" strike="noStrike">
                <a:solidFill>
                  <a:schemeClr val="dk1"/>
                </a:solidFill>
                <a:effectLst/>
                <a:uFillTx/>
                <a:latin typeface="+mn-lt"/>
                <a:ea typeface="+mn-ea"/>
              </a:rPr>
              <a:t>脈波由来の</a:t>
            </a:r>
            <a:r>
              <a:rPr lang="en-US" sz="1200" b="0" u="none" strike="noStrike">
                <a:solidFill>
                  <a:schemeClr val="dk1"/>
                </a:solidFill>
                <a:effectLst/>
                <a:uFillTx/>
                <a:latin typeface="+mn-lt"/>
                <a:ea typeface="+mn-ea"/>
              </a:rPr>
              <a:t>AIx</a:t>
            </a:r>
            <a:r>
              <a:rPr lang="ja-JP" sz="1200" b="0" u="none" strike="noStrike">
                <a:solidFill>
                  <a:schemeClr val="dk1"/>
                </a:solidFill>
                <a:effectLst/>
                <a:uFillTx/>
                <a:latin typeface="+mn-lt"/>
                <a:ea typeface="+mn-ea"/>
              </a:rPr>
              <a:t>には差があるが、</a:t>
            </a:r>
            <a:r>
              <a:rPr lang="en-US" sz="1200" b="0" u="none" strike="noStrike">
                <a:solidFill>
                  <a:schemeClr val="dk1"/>
                </a:solidFill>
                <a:effectLst/>
                <a:uFillTx/>
                <a:latin typeface="+mn-lt"/>
                <a:ea typeface="+mn-ea"/>
              </a:rPr>
              <a:t>BP</a:t>
            </a:r>
            <a:r>
              <a:rPr lang="ja-JP" sz="1200" b="0" u="none" strike="noStrike">
                <a:solidFill>
                  <a:schemeClr val="dk1"/>
                </a:solidFill>
                <a:effectLst/>
                <a:uFillTx/>
                <a:latin typeface="+mn-lt"/>
                <a:ea typeface="+mn-ea"/>
              </a:rPr>
              <a:t>脈波で</a:t>
            </a:r>
            <a:r>
              <a:rPr lang="en-US" sz="1200" b="0" u="none" strike="noStrike">
                <a:solidFill>
                  <a:schemeClr val="dk1"/>
                </a:solidFill>
                <a:effectLst/>
                <a:uFillTx/>
                <a:latin typeface="+mn-lt"/>
                <a:ea typeface="+mn-ea"/>
              </a:rPr>
              <a:t>augmentation</a:t>
            </a:r>
            <a:r>
              <a:rPr lang="ja-JP" sz="1200" b="0" u="none" strike="noStrike">
                <a:solidFill>
                  <a:schemeClr val="dk1"/>
                </a:solidFill>
                <a:effectLst/>
                <a:uFillTx/>
                <a:latin typeface="+mn-lt"/>
                <a:ea typeface="+mn-ea"/>
              </a:rPr>
              <a:t>が正のとき</a:t>
            </a:r>
            <a:r>
              <a:rPr lang="en-US" sz="1200" b="0" u="none" strike="noStrike">
                <a:solidFill>
                  <a:schemeClr val="dk1"/>
                </a:solidFill>
                <a:effectLst/>
                <a:uFillTx/>
                <a:latin typeface="+mn-lt"/>
                <a:ea typeface="+mn-ea"/>
              </a:rPr>
              <a:t>PPG</a:t>
            </a:r>
            <a:r>
              <a:rPr lang="ja-JP" sz="1200" b="0" u="none" strike="noStrike">
                <a:solidFill>
                  <a:schemeClr val="dk1"/>
                </a:solidFill>
                <a:effectLst/>
                <a:uFillTx/>
                <a:latin typeface="+mn-lt"/>
                <a:ea typeface="+mn-ea"/>
              </a:rPr>
              <a:t>脈波でも通常正であり（逆も同様）と観察されている。脈波上で第</a:t>
            </a:r>
            <a:r>
              <a:rPr lang="en-US" sz="1200" b="0" u="none" strike="noStrike">
                <a:solidFill>
                  <a:schemeClr val="dk1"/>
                </a:solidFill>
                <a:effectLst/>
                <a:uFillTx/>
                <a:latin typeface="+mn-lt"/>
                <a:ea typeface="+mn-ea"/>
              </a:rPr>
              <a:t>1</a:t>
            </a:r>
            <a:r>
              <a:rPr lang="ja-JP" sz="1200" b="0" u="none" strike="noStrike">
                <a:solidFill>
                  <a:schemeClr val="dk1"/>
                </a:solidFill>
                <a:effectLst/>
                <a:uFillTx/>
                <a:latin typeface="+mn-lt"/>
                <a:ea typeface="+mn-ea"/>
              </a:rPr>
              <a:t>・第</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ピークを同定する方法として、二次・三次・四次微分の使用がある</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82"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F294C7-4ADE-4CF9-8792-EE7CE7F95CF7}" type="slidenum">
              <a:rPr lang="en-US" sz="1200" b="0" u="none" strike="noStrike">
                <a:solidFill>
                  <a:srgbClr val="000000"/>
                </a:solidFill>
                <a:effectLst/>
                <a:uFillTx/>
                <a:latin typeface="Times New Roman"/>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 name="PlaceHolder 1"/>
          <p:cNvSpPr>
            <a:spLocks noGrp="1" noRot="1" noChangeAspect="1"/>
          </p:cNvSpPr>
          <p:nvPr>
            <p:ph type="sldImg"/>
          </p:nvPr>
        </p:nvSpPr>
        <p:spPr>
          <a:xfrm>
            <a:off x="685800" y="1143000"/>
            <a:ext cx="5486040" cy="3085920"/>
          </a:xfrm>
          <a:prstGeom prst="rect">
            <a:avLst/>
          </a:prstGeom>
          <a:ln w="0">
            <a:noFill/>
          </a:ln>
        </p:spPr>
      </p:sp>
      <p:sp>
        <p:nvSpPr>
          <p:cNvPr id="7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1200" b="1" u="none" strike="noStrike">
                <a:solidFill>
                  <a:srgbClr val="009BA5"/>
                </a:solidFill>
                <a:effectLst/>
                <a:uFillTx/>
                <a:latin typeface="Meiryo"/>
                <a:ea typeface="Meiryo"/>
              </a:rPr>
              <a:t>原波形の微妙な「折れ」を明瞭な極値に変換 </a:t>
            </a:r>
            <a:r>
              <a:rPr lang="en-US" sz="1200" b="0" u="none" strike="noStrike">
                <a:solidFill>
                  <a:srgbClr val="262626"/>
                </a:solidFill>
                <a:effectLst/>
                <a:uFillTx/>
                <a:latin typeface="Meiryo"/>
                <a:ea typeface="Meiryo"/>
              </a:rPr>
              <a:t>― 切痕・反射波・加齢を「数値」で扱えるようにする。</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r>
              <a:rPr lang="ja-JP" sz="1200" b="1" u="none" strike="noStrike">
                <a:solidFill>
                  <a:srgbClr val="ED7D31"/>
                </a:solidFill>
                <a:effectLst/>
                <a:uFillTx/>
                <a:latin typeface="Meiryo"/>
                <a:ea typeface="Meiryo"/>
              </a:rPr>
              <a:t>注意：</a:t>
            </a:r>
            <a:r>
              <a:rPr lang="en-US" sz="1200" b="0" u="none" strike="noStrike">
                <a:solidFill>
                  <a:srgbClr val="808080"/>
                </a:solidFill>
                <a:effectLst/>
                <a:uFillTx/>
                <a:latin typeface="Meiryo"/>
                <a:ea typeface="Meiryo"/>
              </a:rPr>
              <a:t>2</a:t>
            </a:r>
            <a:r>
              <a:rPr lang="ja-JP" sz="1200" b="0" u="none" strike="noStrike">
                <a:solidFill>
                  <a:srgbClr val="808080"/>
                </a:solidFill>
                <a:effectLst/>
                <a:uFillTx/>
                <a:latin typeface="Meiryo"/>
                <a:ea typeface="Meiryo"/>
              </a:rPr>
              <a:t>回微分は高周波ノイズを増幅するため平滑化・帯域制限が前提。各比（</a:t>
            </a:r>
            <a:r>
              <a:rPr lang="en" sz="1200" b="0" u="none" strike="noStrike">
                <a:solidFill>
                  <a:srgbClr val="808080"/>
                </a:solidFill>
                <a:effectLst/>
                <a:uFillTx/>
                <a:latin typeface="Meiryo"/>
                <a:ea typeface="Meiryo"/>
              </a:rPr>
              <a:t>b/a </a:t>
            </a:r>
            <a:r>
              <a:rPr lang="ja-JP" sz="1200" b="0" u="none" strike="noStrike">
                <a:solidFill>
                  <a:srgbClr val="808080"/>
                </a:solidFill>
                <a:effectLst/>
                <a:uFillTx/>
                <a:latin typeface="Meiryo"/>
                <a:ea typeface="Meiryo"/>
              </a:rPr>
              <a:t>等）は </a:t>
            </a:r>
            <a:r>
              <a:rPr lang="en" sz="1200" b="0" u="none" strike="noStrike">
                <a:solidFill>
                  <a:srgbClr val="808080"/>
                </a:solidFill>
                <a:effectLst/>
                <a:uFillTx/>
                <a:latin typeface="Meiryo"/>
                <a:ea typeface="Meiryo"/>
              </a:rPr>
              <a:t>HR</a:t>
            </a:r>
            <a:r>
              <a:rPr lang="ja-JP" sz="1200" b="0" u="none" strike="noStrike">
                <a:solidFill>
                  <a:srgbClr val="808080"/>
                </a:solidFill>
                <a:effectLst/>
                <a:uFillTx/>
                <a:latin typeface="Meiryo"/>
                <a:ea typeface="Meiryo"/>
              </a:rPr>
              <a:t>・体位でも変動する（</a:t>
            </a:r>
            <a:r>
              <a:rPr lang="en" sz="1200" b="0" u="none" strike="noStrike">
                <a:solidFill>
                  <a:srgbClr val="808080"/>
                </a:solidFill>
                <a:effectLst/>
                <a:uFillTx/>
                <a:latin typeface="Meiryo"/>
                <a:ea typeface="Meiryo"/>
              </a:rPr>
              <a:t>Hashimoto 2002</a:t>
            </a:r>
            <a:r>
              <a:rPr lang="ja-JP" sz="1200" b="0" u="none" strike="noStrike">
                <a:solidFill>
                  <a:srgbClr val="808080"/>
                </a:solidFill>
                <a:effectLst/>
                <a:uFillTx/>
                <a:latin typeface="Meiryo"/>
                <a:ea typeface="Meiryo"/>
              </a:rPr>
              <a:t>）。</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85"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332D193-537D-4981-B182-667E7F5765F4}" type="slidenum">
              <a:rPr lang="en-US" sz="1200" b="0" u="none" strike="noStrike">
                <a:solidFill>
                  <a:srgbClr val="000000"/>
                </a:solidFill>
                <a:effectLst/>
                <a:uFillTx/>
                <a:latin typeface="Times New Roman"/>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 name="PlaceHolder 1"/>
          <p:cNvSpPr>
            <a:spLocks noGrp="1" noRot="1" noChangeAspect="1"/>
          </p:cNvSpPr>
          <p:nvPr>
            <p:ph type="sldImg"/>
          </p:nvPr>
        </p:nvSpPr>
        <p:spPr>
          <a:xfrm>
            <a:off x="685800" y="1143000"/>
            <a:ext cx="5486040" cy="3085920"/>
          </a:xfrm>
          <a:prstGeom prst="rect">
            <a:avLst/>
          </a:prstGeom>
          <a:ln w="0">
            <a:noFill/>
          </a:ln>
        </p:spPr>
      </p:sp>
      <p:sp>
        <p:nvSpPr>
          <p:cNvPr id="7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1200" b="0" u="none" strike="noStrike">
                <a:solidFill>
                  <a:schemeClr val="dk1"/>
                </a:solidFill>
                <a:effectLst/>
                <a:uFillTx/>
                <a:latin typeface="+mn-lt"/>
                <a:ea typeface="+mn-ea"/>
              </a:rPr>
              <a:t>MAP_NAA </a:t>
            </a:r>
            <a:r>
              <a:rPr lang="ja-JP" sz="1200" b="0" u="none" strike="noStrike">
                <a:solidFill>
                  <a:schemeClr val="dk1"/>
                </a:solidFill>
                <a:effectLst/>
                <a:uFillTx/>
                <a:latin typeface="+mn-lt"/>
                <a:ea typeface="+mn-ea"/>
              </a:rPr>
              <a:t>が</a:t>
            </a:r>
            <a:r>
              <a:rPr lang="en-US" sz="1200" b="0" u="none" strike="noStrike">
                <a:solidFill>
                  <a:schemeClr val="dk1"/>
                </a:solidFill>
                <a:effectLst/>
                <a:uFillTx/>
                <a:latin typeface="+mn-lt"/>
                <a:ea typeface="+mn-ea"/>
              </a:rPr>
              <a:t>3</a:t>
            </a:r>
            <a:r>
              <a:rPr lang="ja-JP" sz="1200" b="0" u="none" strike="noStrike">
                <a:solidFill>
                  <a:schemeClr val="dk1"/>
                </a:solidFill>
                <a:effectLst/>
                <a:uFillTx/>
                <a:latin typeface="+mn-lt"/>
                <a:ea typeface="+mn-ea"/>
              </a:rPr>
              <a:t>法中で最小バイアスを示した。</a:t>
            </a:r>
            <a:r>
              <a:rPr lang="en-US" sz="1200" b="0" u="none" strike="noStrike">
                <a:solidFill>
                  <a:schemeClr val="dk1"/>
                </a:solidFill>
                <a:effectLst/>
                <a:uFillTx/>
                <a:latin typeface="+mn-lt"/>
                <a:ea typeface="+mn-ea"/>
              </a:rPr>
              <a:t>MAP_NAA </a:t>
            </a:r>
            <a:r>
              <a:rPr lang="ja-JP" sz="1200" b="0" u="none" strike="noStrike">
                <a:solidFill>
                  <a:schemeClr val="dk1"/>
                </a:solidFill>
                <a:effectLst/>
                <a:uFillTx/>
                <a:latin typeface="+mn-lt"/>
                <a:ea typeface="+mn-ea"/>
              </a:rPr>
              <a:t>は </a:t>
            </a:r>
            <a:r>
              <a:rPr lang="en-US" sz="1200" b="0" u="none" strike="noStrike">
                <a:solidFill>
                  <a:schemeClr val="dk1"/>
                </a:solidFill>
                <a:effectLst/>
                <a:uFillTx/>
                <a:latin typeface="+mn-lt"/>
                <a:ea typeface="+mn-ea"/>
              </a:rPr>
              <a:t>Hdia</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Hsys </a:t>
            </a:r>
            <a:r>
              <a:rPr lang="ja-JP" sz="1200" b="0" u="none" strike="noStrike">
                <a:solidFill>
                  <a:schemeClr val="dk1"/>
                </a:solidFill>
                <a:effectLst/>
                <a:uFillTx/>
                <a:latin typeface="+mn-lt"/>
                <a:ea typeface="+mn-ea"/>
              </a:rPr>
              <a:t>を考慮せず切痕の絶対値</a:t>
            </a:r>
            <a:r>
              <a:rPr lang="en-US" sz="1200" b="0" u="none" strike="noStrike">
                <a:solidFill>
                  <a:schemeClr val="dk1"/>
                </a:solidFill>
                <a:effectLst/>
                <a:uFillTx/>
                <a:latin typeface="+mn-lt"/>
                <a:ea typeface="+mn-ea"/>
              </a:rPr>
              <a:t>Hdic</a:t>
            </a:r>
            <a:r>
              <a:rPr lang="ja-JP" sz="1200" b="0" u="none" strike="noStrike">
                <a:solidFill>
                  <a:schemeClr val="dk1"/>
                </a:solidFill>
                <a:effectLst/>
                <a:uFillTx/>
                <a:latin typeface="+mn-lt"/>
                <a:ea typeface="+mn-ea"/>
              </a:rPr>
              <a:t>のみを用いる。</a:t>
            </a:r>
            <a:endParaRPr lang="en-US"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MAP_NRA </a:t>
            </a:r>
            <a:r>
              <a:rPr lang="ja-JP" sz="1200" b="0" u="none" strike="noStrike">
                <a:solidFill>
                  <a:schemeClr val="dk1"/>
                </a:solidFill>
                <a:effectLst/>
                <a:uFillTx/>
                <a:latin typeface="+mn-lt"/>
                <a:ea typeface="+mn-ea"/>
              </a:rPr>
              <a:t>は拡張期・収縮期値の間の相対値を用いるため直感的には良さそうだが、血管収縮時に収縮期ピーク高が恣意的で時に</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と逆方向に変わることを観察した。したがって切痕の相対％（</a:t>
            </a:r>
            <a:r>
              <a:rPr lang="en-US" sz="1200" b="0" u="none" strike="noStrike">
                <a:solidFill>
                  <a:schemeClr val="dk1"/>
                </a:solidFill>
                <a:effectLst/>
                <a:uFillTx/>
                <a:latin typeface="+mn-lt"/>
                <a:ea typeface="+mn-ea"/>
              </a:rPr>
              <a:t>NRA</a:t>
            </a:r>
            <a:r>
              <a:rPr lang="ja-JP" sz="1200" b="0" u="none" strike="noStrike">
                <a:solidFill>
                  <a:schemeClr val="dk1"/>
                </a:solidFill>
                <a:effectLst/>
                <a:uFillTx/>
                <a:latin typeface="+mn-lt"/>
                <a:ea typeface="+mn-ea"/>
              </a:rPr>
              <a:t>）は生値（</a:t>
            </a:r>
            <a:r>
              <a:rPr lang="en-US" sz="1200" b="0" u="none" strike="noStrike">
                <a:solidFill>
                  <a:schemeClr val="dk1"/>
                </a:solidFill>
                <a:effectLst/>
                <a:uFillTx/>
                <a:latin typeface="+mn-lt"/>
                <a:ea typeface="+mn-ea"/>
              </a:rPr>
              <a:t>NAA</a:t>
            </a:r>
            <a:r>
              <a:rPr lang="ja-JP" sz="1200" b="0" u="none" strike="noStrike">
                <a:solidFill>
                  <a:schemeClr val="dk1"/>
                </a:solidFill>
                <a:effectLst/>
                <a:uFillTx/>
                <a:latin typeface="+mn-lt"/>
                <a:ea typeface="+mn-ea"/>
              </a:rPr>
              <a:t>）より</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変化の指標として信頼性が低い。</a:t>
            </a:r>
            <a:endParaRPr lang="en-US"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NRA</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PI</a:t>
            </a:r>
            <a:r>
              <a:rPr lang="ja-JP" sz="1200" b="0" u="none" strike="noStrike">
                <a:solidFill>
                  <a:schemeClr val="dk1"/>
                </a:solidFill>
                <a:effectLst/>
                <a:uFillTx/>
                <a:latin typeface="+mn-lt"/>
                <a:ea typeface="+mn-ea"/>
              </a:rPr>
              <a:t>は</a:t>
            </a:r>
            <a:r>
              <a:rPr lang="en-US" sz="1200" b="0" u="none" strike="noStrike">
                <a:solidFill>
                  <a:schemeClr val="dk1"/>
                </a:solidFill>
                <a:effectLst/>
                <a:uFillTx/>
                <a:latin typeface="+mn-lt"/>
                <a:ea typeface="+mn-ea"/>
              </a:rPr>
              <a:t>MAPcuff</a:t>
            </a:r>
            <a:r>
              <a:rPr lang="ja-JP" sz="1200" b="0" u="none" strike="noStrike">
                <a:solidFill>
                  <a:schemeClr val="dk1"/>
                </a:solidFill>
                <a:effectLst/>
                <a:uFillTx/>
                <a:latin typeface="+mn-lt"/>
                <a:ea typeface="+mn-ea"/>
              </a:rPr>
              <a:t>に対し比例バイアス（小</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で過小・大</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で過大評価）を示した。</a:t>
            </a:r>
            <a:r>
              <a:rPr lang="en-US" sz="1200" b="0" u="none" strike="noStrike">
                <a:solidFill>
                  <a:schemeClr val="dk1"/>
                </a:solidFill>
                <a:effectLst/>
                <a:uFillTx/>
                <a:latin typeface="+mn-lt"/>
                <a:ea typeface="+mn-ea"/>
              </a:rPr>
              <a:t>MAP_PI </a:t>
            </a:r>
            <a:r>
              <a:rPr lang="ja-JP" sz="1200" b="0" u="none" strike="noStrike">
                <a:solidFill>
                  <a:schemeClr val="dk1"/>
                </a:solidFill>
                <a:effectLst/>
                <a:uFillTx/>
                <a:latin typeface="+mn-lt"/>
                <a:ea typeface="+mn-ea"/>
              </a:rPr>
              <a:t>は対数を用いても</a:t>
            </a:r>
            <a:r>
              <a:rPr lang="en-US" sz="1200" b="0" u="none" strike="noStrike">
                <a:solidFill>
                  <a:schemeClr val="dk1"/>
                </a:solidFill>
                <a:effectLst/>
                <a:uFillTx/>
                <a:latin typeface="+mn-lt"/>
                <a:ea typeface="+mn-ea"/>
              </a:rPr>
              <a:t>PI</a:t>
            </a:r>
            <a:r>
              <a:rPr lang="ja-JP" sz="1200" b="0" u="none" strike="noStrike">
                <a:solidFill>
                  <a:schemeClr val="dk1"/>
                </a:solidFill>
                <a:effectLst/>
                <a:uFillTx/>
                <a:latin typeface="+mn-lt"/>
                <a:ea typeface="+mn-ea"/>
              </a:rPr>
              <a:t>変動がなお指数的で、単純線形モデルでは挙動を説明できず、より良いモデル化が必要</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mn-lt"/>
                <a:ea typeface="+mn-ea"/>
              </a:rPr>
              <a:t>切痕の絶対位置が良さそう。</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88"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C3FBE3E-31F8-4F39-A4B6-E940CB774D3D}" type="slidenum">
              <a:rPr lang="en-US" sz="1200" b="0" u="none" strike="noStrike">
                <a:solidFill>
                  <a:srgbClr val="000000"/>
                </a:solidFill>
                <a:effectLst/>
                <a:uFillTx/>
                <a:latin typeface="Times New Roman"/>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PlaceHolder 1"/>
          <p:cNvSpPr>
            <a:spLocks noGrp="1" noRot="1" noChangeAspect="1"/>
          </p:cNvSpPr>
          <p:nvPr>
            <p:ph type="sldImg"/>
          </p:nvPr>
        </p:nvSpPr>
        <p:spPr>
          <a:xfrm>
            <a:off x="685800" y="1143000"/>
            <a:ext cx="5486040" cy="3085920"/>
          </a:xfrm>
          <a:prstGeom prst="rect">
            <a:avLst/>
          </a:prstGeom>
          <a:ln w="0">
            <a:noFill/>
          </a:ln>
        </p:spPr>
      </p:sp>
      <p:sp>
        <p:nvSpPr>
          <p:cNvPr id="7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加齢性変化については　</a:t>
            </a:r>
            <a:r>
              <a:rPr lang="en-US" sz="2000" b="0" u="none" strike="noStrike">
                <a:solidFill>
                  <a:srgbClr val="000000"/>
                </a:solidFill>
                <a:effectLst/>
                <a:uFillTx/>
                <a:latin typeface="Arial"/>
              </a:rPr>
              <a:t>Allen 2020</a:t>
            </a:r>
            <a:r>
              <a:rPr lang="ja-JP" sz="2000" b="0" u="none" strike="noStrike">
                <a:solidFill>
                  <a:srgbClr val="000000"/>
                </a:solidFill>
                <a:effectLst/>
                <a:uFillTx/>
                <a:latin typeface="Arial"/>
              </a:rPr>
              <a:t>も</a:t>
            </a:r>
            <a:r>
              <a:rPr lang="en" sz="2000" b="0" u="none" strike="noStrike">
                <a:solidFill>
                  <a:srgbClr val="000000"/>
                </a:solidFill>
                <a:effectLst/>
                <a:uFillTx/>
                <a:latin typeface="Arial"/>
              </a:rPr>
              <a:t>https://iopscience.iop.org/article/10.1088/1361-6579/ab9b67</a:t>
            </a:r>
            <a:endParaRPr lang="en-US" sz="2000" b="0" u="none" strike="noStrike">
              <a:solidFill>
                <a:srgbClr val="000000"/>
              </a:solidFill>
              <a:effectLst/>
              <a:uFillTx/>
              <a:latin typeface="Arial"/>
            </a:endParaRPr>
          </a:p>
          <a:p>
            <a:pPr indent="0" algn="l">
              <a:lnSpc>
                <a:spcPct val="100000"/>
              </a:lnSpc>
              <a:buNone/>
            </a:pPr>
            <a:r>
              <a:rPr lang="en" sz="2000" b="0" u="none" strike="noStrike">
                <a:solidFill>
                  <a:srgbClr val="000000"/>
                </a:solidFill>
                <a:effectLst/>
                <a:uFillTx/>
                <a:latin typeface="Arial"/>
              </a:rPr>
              <a:t>Aix</a:t>
            </a:r>
            <a:r>
              <a:rPr lang="ja-JP" sz="2000" b="0" u="none" strike="noStrike">
                <a:solidFill>
                  <a:srgbClr val="000000"/>
                </a:solidFill>
                <a:effectLst/>
                <a:uFillTx/>
                <a:latin typeface="Arial"/>
              </a:rPr>
              <a:t>は</a:t>
            </a:r>
            <a:r>
              <a:rPr lang="en-US" sz="2000" b="0" u="none" strike="noStrike">
                <a:solidFill>
                  <a:srgbClr val="000000"/>
                </a:solidFill>
                <a:effectLst/>
                <a:uFillTx/>
                <a:latin typeface="Arial"/>
              </a:rPr>
              <a:t>pilt2014</a:t>
            </a:r>
            <a:r>
              <a:rPr lang="ja-JP" sz="2000" b="0" u="none" strike="noStrike">
                <a:solidFill>
                  <a:srgbClr val="000000"/>
                </a:solidFill>
                <a:effectLst/>
                <a:uFillTx/>
                <a:latin typeface="Arial"/>
              </a:rPr>
              <a:t>も</a:t>
            </a:r>
            <a:r>
              <a:rPr lang="en" sz="2000" b="0" u="none" strike="noStrike">
                <a:solidFill>
                  <a:srgbClr val="000000"/>
                </a:solidFill>
                <a:effectLst/>
                <a:uFillTx/>
                <a:latin typeface="Arial"/>
              </a:rPr>
              <a:t>https://iopscience.iop.org/article/10.1088/0967-3334/35/10/2027</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91"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729103-E3E5-4B82-97DD-5F88552669E3}" type="slidenum">
              <a:rPr lang="en-US" sz="1200" b="0" u="none" strike="noStrike">
                <a:solidFill>
                  <a:srgbClr val="000000"/>
                </a:solidFill>
                <a:effectLst/>
                <a:uFillTx/>
                <a:latin typeface="Times New Roman"/>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 name="PlaceHolder 1"/>
          <p:cNvSpPr>
            <a:spLocks noGrp="1" noRot="1" noChangeAspect="1"/>
          </p:cNvSpPr>
          <p:nvPr>
            <p:ph type="sldImg"/>
          </p:nvPr>
        </p:nvSpPr>
        <p:spPr>
          <a:xfrm>
            <a:off x="685800" y="1143000"/>
            <a:ext cx="5486040" cy="3085920"/>
          </a:xfrm>
          <a:prstGeom prst="rect">
            <a:avLst/>
          </a:prstGeom>
          <a:ln w="0">
            <a:noFill/>
          </a:ln>
        </p:spPr>
      </p:sp>
      <p:sp>
        <p:nvSpPr>
          <p:cNvPr id="7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1200" b="0" u="none" strike="noStrike">
                <a:solidFill>
                  <a:srgbClr val="7F7F7F"/>
                </a:solidFill>
                <a:effectLst/>
                <a:uFillTx/>
                <a:latin typeface="Meiryo"/>
                <a:ea typeface="Meiryo"/>
              </a:rPr>
              <a:t>指尖</a:t>
            </a:r>
            <a:r>
              <a:rPr lang="en-US" sz="1200" b="0" u="none" strike="noStrike">
                <a:solidFill>
                  <a:srgbClr val="7F7F7F"/>
                </a:solidFill>
                <a:effectLst/>
                <a:uFillTx/>
                <a:latin typeface="Meiryo"/>
                <a:ea typeface="Meiryo"/>
              </a:rPr>
              <a:t>PPG⇔SVR </a:t>
            </a:r>
            <a:r>
              <a:rPr lang="ja-JP" sz="1200" b="0" u="none" strike="noStrike">
                <a:solidFill>
                  <a:srgbClr val="7F7F7F"/>
                </a:solidFill>
                <a:effectLst/>
                <a:uFillTx/>
                <a:latin typeface="Meiryo"/>
                <a:ea typeface="Meiryo"/>
              </a:rPr>
              <a:t>は中等度 </a:t>
            </a:r>
            <a:r>
              <a:rPr lang="en-US" sz="1200" b="0" u="none" strike="noStrike">
                <a:solidFill>
                  <a:srgbClr val="7F7F7F"/>
                </a:solidFill>
                <a:effectLst/>
                <a:uFillTx/>
                <a:latin typeface="Meiryo"/>
                <a:ea typeface="Meiryo"/>
              </a:rPr>
              <a:t>r=0.54</a:t>
            </a:r>
            <a:r>
              <a:rPr lang="ja-JP" sz="1200" b="0" u="none" strike="noStrike">
                <a:solidFill>
                  <a:srgbClr val="7F7F7F"/>
                </a:solidFill>
                <a:effectLst/>
                <a:uFillTx/>
                <a:latin typeface="Meiryo"/>
                <a:ea typeface="Meiryo"/>
              </a:rPr>
              <a:t>（</a:t>
            </a:r>
            <a:r>
              <a:rPr lang="en-US" sz="1200" b="0" u="none" strike="noStrike">
                <a:solidFill>
                  <a:srgbClr val="7F7F7F"/>
                </a:solidFill>
                <a:effectLst/>
                <a:uFillTx/>
                <a:latin typeface="Meiryo"/>
                <a:ea typeface="Meiryo"/>
              </a:rPr>
              <a:t>Middleton 2011</a:t>
            </a:r>
            <a:r>
              <a:rPr lang="ja-JP" sz="1200" b="0" u="none" strike="noStrike">
                <a:solidFill>
                  <a:srgbClr val="7F7F7F"/>
                </a:solidFill>
                <a:effectLst/>
                <a:uFillTx/>
                <a:latin typeface="Meiryo"/>
                <a:ea typeface="Meiryo"/>
              </a:rPr>
              <a:t>）</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94"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49DBAB2-3286-4C40-B40B-80FDA4F43443}" type="slidenum">
              <a:rPr lang="en-US" sz="1200" b="0" u="none" strike="noStrike">
                <a:solidFill>
                  <a:srgbClr val="000000"/>
                </a:solidFill>
                <a:effectLst/>
                <a:uFillTx/>
                <a:latin typeface="Times New Roman"/>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 name="PlaceHolder 1"/>
          <p:cNvSpPr>
            <a:spLocks noGrp="1" noRot="1" noChangeAspect="1"/>
          </p:cNvSpPr>
          <p:nvPr>
            <p:ph type="sldImg"/>
          </p:nvPr>
        </p:nvSpPr>
        <p:spPr>
          <a:xfrm>
            <a:off x="685800" y="1143000"/>
            <a:ext cx="5486040" cy="3085920"/>
          </a:xfrm>
          <a:prstGeom prst="rect">
            <a:avLst/>
          </a:prstGeom>
          <a:ln w="0">
            <a:noFill/>
          </a:ln>
        </p:spPr>
      </p:sp>
      <p:sp>
        <p:nvSpPr>
          <p:cNvPr id="7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（推定連続心拍出量）は、</a:t>
            </a:r>
            <a:r>
              <a:rPr lang="en-US" sz="2000" b="0" u="none" strike="noStrike">
                <a:solidFill>
                  <a:srgbClr val="000000"/>
                </a:solidFill>
                <a:effectLst/>
                <a:uFillTx/>
                <a:latin typeface="Arial"/>
              </a:rPr>
              <a:t>ECG</a:t>
            </a:r>
            <a:r>
              <a:rPr lang="zh-CN" sz="2000" b="0" u="none" strike="noStrike">
                <a:solidFill>
                  <a:srgbClr val="000000"/>
                </a:solidFill>
                <a:effectLst/>
                <a:uFillTx/>
                <a:latin typeface="Arial"/>
              </a:rPr>
              <a:t>の</a:t>
            </a:r>
            <a:r>
              <a:rPr lang="en-US" sz="2000" b="0" u="none" strike="noStrike">
                <a:solidFill>
                  <a:srgbClr val="000000"/>
                </a:solidFill>
                <a:effectLst/>
                <a:uFillTx/>
                <a:latin typeface="Arial"/>
              </a:rPr>
              <a:t>R</a:t>
            </a:r>
            <a:r>
              <a:rPr lang="zh-CN" sz="2000" b="0" u="none" strike="noStrike">
                <a:solidFill>
                  <a:srgbClr val="000000"/>
                </a:solidFill>
                <a:effectLst/>
                <a:uFillTx/>
                <a:latin typeface="Arial"/>
              </a:rPr>
              <a:t>波から</a:t>
            </a:r>
            <a:r>
              <a:rPr lang="en-US" sz="2000" b="0" u="none" strike="noStrike">
                <a:solidFill>
                  <a:srgbClr val="000000"/>
                </a:solidFill>
                <a:effectLst/>
                <a:uFillTx/>
                <a:latin typeface="Arial"/>
              </a:rPr>
              <a:t>SpO₂</a:t>
            </a:r>
            <a:r>
              <a:rPr lang="zh-CN" sz="2000" b="0" u="none" strike="noStrike">
                <a:solidFill>
                  <a:srgbClr val="000000"/>
                </a:solidFill>
                <a:effectLst/>
                <a:uFillTx/>
                <a:latin typeface="Arial"/>
              </a:rPr>
              <a:t>脈波の立ち上がりまでの時間＝</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（脈波伝播時間）で</a:t>
            </a:r>
            <a:r>
              <a:rPr lang="en-US" sz="2000" b="0" u="none" strike="noStrike">
                <a:solidFill>
                  <a:srgbClr val="000000"/>
                </a:solidFill>
                <a:effectLst/>
                <a:uFillTx/>
                <a:latin typeface="Arial"/>
              </a:rPr>
              <a:t>CO</a:t>
            </a:r>
            <a:r>
              <a:rPr lang="zh-CN" sz="2000" b="0" u="none" strike="noStrike">
                <a:solidFill>
                  <a:srgbClr val="000000"/>
                </a:solidFill>
                <a:effectLst/>
                <a:uFillTx/>
                <a:latin typeface="Arial"/>
              </a:rPr>
              <a:t>を非侵襲・連続推定する。中核の前提は『</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と</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が負の相関』＝</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が短縮すれば</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が増えたとみなす（</a:t>
            </a:r>
            <a:r>
              <a:rPr lang="en-US" sz="2000" b="0" u="none" strike="noStrike">
                <a:solidFill>
                  <a:srgbClr val="000000"/>
                </a:solidFill>
                <a:effectLst/>
                <a:uFillTx/>
                <a:latin typeface="Arial"/>
              </a:rPr>
              <a:t>Sugo 2012</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Ishihara 2013</a:t>
            </a:r>
            <a:r>
              <a:rPr lang="zh-CN" sz="2000" b="0" u="none" strike="noStrike">
                <a:solidFill>
                  <a:srgbClr val="000000"/>
                </a:solidFill>
                <a:effectLst/>
                <a:uFillTx/>
                <a:latin typeface="Arial"/>
              </a:rPr>
              <a:t>）。推定式は概念的に </a:t>
            </a:r>
            <a:r>
              <a:rPr lang="en-US" sz="2000" b="0" u="none" strike="noStrike">
                <a:solidFill>
                  <a:srgbClr val="000000"/>
                </a:solidFill>
                <a:effectLst/>
                <a:uFillTx/>
                <a:latin typeface="Arial"/>
              </a:rPr>
              <a:t>SV≈K</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(α·PWTT+β)</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CO=SV×HR </a:t>
            </a:r>
            <a:r>
              <a:rPr lang="zh-CN" sz="2000" b="0" u="none" strike="noStrike">
                <a:solidFill>
                  <a:srgbClr val="000000"/>
                </a:solidFill>
                <a:effectLst/>
                <a:uFillTx/>
                <a:latin typeface="Arial"/>
              </a:rPr>
              <a:t>で、</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は個体ごとの較正定数。ここで</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に血管側（後負荷・スティフネス）の情報が入っていないことが後で問題になる。</a:t>
            </a:r>
            <a:endParaRPr lang="en-US" sz="2000" b="0" u="none" strike="noStrike">
              <a:solidFill>
                <a:srgbClr val="000000"/>
              </a:solidFill>
              <a:effectLst/>
              <a:uFillTx/>
              <a:latin typeface="Arial"/>
            </a:endParaRPr>
          </a:p>
        </p:txBody>
      </p:sp>
      <p:sp>
        <p:nvSpPr>
          <p:cNvPr id="797"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4AB6CB6-A60B-473E-9B77-FE2434826229}" type="slidenum">
              <a:rPr lang="en-US" sz="1200" b="0" u="none" strike="noStrike">
                <a:solidFill>
                  <a:srgbClr val="000000"/>
                </a:solidFill>
                <a:effectLst/>
                <a:uFillTx/>
                <a:latin typeface="Times New Roman"/>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 name="PlaceHolder 1"/>
          <p:cNvSpPr>
            <a:spLocks noGrp="1" noRot="1" noChangeAspect="1"/>
          </p:cNvSpPr>
          <p:nvPr>
            <p:ph type="sldImg"/>
          </p:nvPr>
        </p:nvSpPr>
        <p:spPr>
          <a:xfrm>
            <a:off x="685800" y="1143000"/>
            <a:ext cx="5486040" cy="3085920"/>
          </a:xfrm>
          <a:prstGeom prst="rect">
            <a:avLst/>
          </a:prstGeom>
          <a:ln w="0">
            <a:noFill/>
          </a:ln>
        </p:spPr>
      </p:sp>
      <p:sp>
        <p:nvSpPr>
          <p:cNvPr id="7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（前駆出期：電気興奮〜大動脈弁開放）と</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（血管伝播時間：大動脈弁〜指尖）の合成量。</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は前負荷・心収縮性で主に短縮し、後負荷では延長する。</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（本章の</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T2</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（脈波伝播速度）＝血管スティフネス・血圧＝後負荷で規定され、</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（中心大動脈由来）が支配的。開発元</a:t>
            </a:r>
            <a:r>
              <a:rPr lang="en-US" sz="2000" b="0" u="none" strike="noStrike">
                <a:solidFill>
                  <a:srgbClr val="000000"/>
                </a:solidFill>
                <a:effectLst/>
                <a:uFillTx/>
                <a:latin typeface="Arial"/>
              </a:rPr>
              <a:t>Nihon Kohden</a:t>
            </a:r>
            <a:r>
              <a:rPr lang="zh-CN" sz="2000" b="0" u="none" strike="noStrike">
                <a:solidFill>
                  <a:srgbClr val="000000"/>
                </a:solidFill>
                <a:effectLst/>
                <a:uFillTx/>
                <a:latin typeface="Arial"/>
              </a:rPr>
              <a:t>でも</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変化が</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変化の約半分を占めると報告（</a:t>
            </a:r>
            <a:r>
              <a:rPr lang="en-US" sz="2000" b="0" u="none" strike="noStrike">
                <a:solidFill>
                  <a:srgbClr val="000000"/>
                </a:solidFill>
                <a:effectLst/>
                <a:uFillTx/>
                <a:latin typeface="Arial"/>
              </a:rPr>
              <a:t>Sugo 2012</a:t>
            </a:r>
            <a:r>
              <a:rPr lang="zh-CN" sz="2000" b="0" u="none" strike="noStrike">
                <a:solidFill>
                  <a:srgbClr val="000000"/>
                </a:solidFill>
                <a:effectLst/>
                <a:uFillTx/>
                <a:latin typeface="Arial"/>
              </a:rPr>
              <a:t>）。つまり</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は心臓成分と血管成分の混合信号。</a:t>
            </a:r>
            <a:endParaRPr lang="en-US" sz="2000" b="0" u="none" strike="noStrike">
              <a:solidFill>
                <a:srgbClr val="000000"/>
              </a:solidFill>
              <a:effectLst/>
              <a:uFillTx/>
              <a:latin typeface="Arial"/>
            </a:endParaRPr>
          </a:p>
        </p:txBody>
      </p:sp>
      <p:sp>
        <p:nvSpPr>
          <p:cNvPr id="800"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EC65612-82BF-4C29-B365-7BBC10C1E2BD}" type="slidenum">
              <a:rPr lang="en-US" sz="1200" b="0" u="none" strike="noStrike">
                <a:solidFill>
                  <a:srgbClr val="000000"/>
                </a:solidFill>
                <a:effectLst/>
                <a:uFillTx/>
                <a:latin typeface="Times New Roman"/>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PlaceHolder 1"/>
          <p:cNvSpPr>
            <a:spLocks noGrp="1" noRot="1" noChangeAspect="1"/>
          </p:cNvSpPr>
          <p:nvPr>
            <p:ph type="sldImg"/>
          </p:nvPr>
        </p:nvSpPr>
        <p:spPr>
          <a:xfrm>
            <a:off x="685800" y="1143000"/>
            <a:ext cx="5486040" cy="3085920"/>
          </a:xfrm>
          <a:prstGeom prst="rect">
            <a:avLst/>
          </a:prstGeom>
          <a:ln w="0">
            <a:noFill/>
          </a:ln>
        </p:spPr>
      </p:sp>
      <p:sp>
        <p:nvSpPr>
          <p:cNvPr id="8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後負荷が上がると（</a:t>
            </a:r>
            <a:r>
              <a:rPr lang="en-US" sz="2000" b="0" u="none" strike="noStrike">
                <a:solidFill>
                  <a:srgbClr val="000000"/>
                </a:solidFill>
                <a:effectLst/>
                <a:uFillTx/>
                <a:latin typeface="Arial"/>
              </a:rPr>
              <a:t>SVR</a:t>
            </a:r>
            <a:r>
              <a:rPr lang="zh-CN" sz="2000" b="0" u="none" strike="noStrike">
                <a:solidFill>
                  <a:srgbClr val="000000"/>
                </a:solidFill>
                <a:effectLst/>
                <a:uFillTx/>
                <a:latin typeface="Arial"/>
              </a:rPr>
              <a:t>・動脈エラスタンス</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）、血圧上昇→</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上昇→</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短縮→</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短縮となる。ところが後負荷上昇では心室‑動脈カップリング上</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は減少する。</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増加』と読むため、後負荷上昇局面で</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を過大評価する。臨床的にも</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の</a:t>
            </a:r>
            <a:r>
              <a:rPr lang="en-US" sz="2000" b="0" u="none" strike="noStrike">
                <a:solidFill>
                  <a:srgbClr val="000000"/>
                </a:solidFill>
                <a:effectLst/>
                <a:uFillTx/>
                <a:latin typeface="Arial"/>
              </a:rPr>
              <a:t>bias</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SVR</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r=0.61</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r=0.69</a:t>
            </a:r>
            <a:r>
              <a:rPr lang="zh-CN" sz="2000" b="0" u="none" strike="noStrike">
                <a:solidFill>
                  <a:srgbClr val="000000"/>
                </a:solidFill>
                <a:effectLst/>
                <a:uFillTx/>
                <a:latin typeface="Arial"/>
              </a:rPr>
              <a:t>）と相関し、</a:t>
            </a:r>
            <a:r>
              <a:rPr lang="en-US" sz="2000" b="0" u="none" strike="noStrike">
                <a:solidFill>
                  <a:srgbClr val="000000"/>
                </a:solidFill>
                <a:effectLst/>
                <a:uFillTx/>
                <a:latin typeface="Arial"/>
              </a:rPr>
              <a:t>SVR/Ea</a:t>
            </a:r>
            <a:r>
              <a:rPr lang="zh-CN" sz="2000" b="0" u="none" strike="noStrike">
                <a:solidFill>
                  <a:srgbClr val="000000"/>
                </a:solidFill>
                <a:effectLst/>
                <a:uFillTx/>
                <a:latin typeface="Arial"/>
              </a:rPr>
              <a:t>低下時に誤差最大（</a:t>
            </a:r>
            <a:r>
              <a:rPr lang="en-US" sz="2000" b="0" u="none" strike="noStrike">
                <a:solidFill>
                  <a:srgbClr val="000000"/>
                </a:solidFill>
                <a:effectLst/>
                <a:uFillTx/>
                <a:latin typeface="Arial"/>
              </a:rPr>
              <a:t>Magliocca 2018</a:t>
            </a:r>
            <a:r>
              <a:rPr lang="zh-CN" sz="2000" b="0" u="none" strike="noStrike">
                <a:solidFill>
                  <a:srgbClr val="000000"/>
                </a:solidFill>
                <a:effectLst/>
                <a:uFillTx/>
                <a:latin typeface="Arial"/>
              </a:rPr>
              <a:t>）、昇圧薬使用・</a:t>
            </a:r>
            <a:r>
              <a:rPr lang="en-US" sz="2000" b="0" u="none" strike="noStrike">
                <a:solidFill>
                  <a:srgbClr val="000000"/>
                </a:solidFill>
                <a:effectLst/>
                <a:uFillTx/>
                <a:latin typeface="Arial"/>
              </a:rPr>
              <a:t>SVR</a:t>
            </a:r>
            <a:r>
              <a:rPr lang="zh-CN" sz="2000" b="0" u="none" strike="noStrike">
                <a:solidFill>
                  <a:srgbClr val="000000"/>
                </a:solidFill>
                <a:effectLst/>
                <a:uFillTx/>
                <a:latin typeface="Arial"/>
              </a:rPr>
              <a:t>変動時に不正確（</a:t>
            </a:r>
            <a:r>
              <a:rPr lang="en-US" sz="2000" b="0" u="none" strike="noStrike">
                <a:solidFill>
                  <a:srgbClr val="000000"/>
                </a:solidFill>
                <a:effectLst/>
                <a:uFillTx/>
                <a:latin typeface="Arial"/>
              </a:rPr>
              <a:t>Ishihara 2013</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Tsutsui 2013</a:t>
            </a:r>
            <a:r>
              <a:rPr lang="zh-CN" sz="2000" b="0" u="none" strike="noStrike">
                <a:solidFill>
                  <a:srgbClr val="000000"/>
                </a:solidFill>
                <a:effectLst/>
                <a:uFillTx/>
                <a:latin typeface="Arial"/>
              </a:rPr>
              <a:t>）。要点：後負荷は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と</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を同方向に動かし前提を破綻させる。</a:t>
            </a:r>
            <a:endParaRPr lang="en-US" sz="2000" b="0" u="none" strike="noStrike">
              <a:solidFill>
                <a:srgbClr val="000000"/>
              </a:solidFill>
              <a:effectLst/>
              <a:uFillTx/>
              <a:latin typeface="Arial"/>
            </a:endParaRPr>
          </a:p>
        </p:txBody>
      </p:sp>
      <p:sp>
        <p:nvSpPr>
          <p:cNvPr id="803"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E00FAF8-E59C-4D08-8837-F9D5BEB8C473}" type="slidenum">
              <a:rPr lang="en-US" sz="1200" b="0" u="none" strike="noStrike">
                <a:solidFill>
                  <a:srgbClr val="000000"/>
                </a:solidFill>
                <a:effectLst/>
                <a:uFillTx/>
                <a:latin typeface="Times New Roman"/>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 name="PlaceHolder 1"/>
          <p:cNvSpPr>
            <a:spLocks noGrp="1" noRot="1" noChangeAspect="1"/>
          </p:cNvSpPr>
          <p:nvPr>
            <p:ph type="sldImg"/>
          </p:nvPr>
        </p:nvSpPr>
        <p:spPr>
          <a:xfrm>
            <a:off x="685800" y="1143000"/>
            <a:ext cx="5486040" cy="3085920"/>
          </a:xfrm>
          <a:prstGeom prst="rect">
            <a:avLst/>
          </a:prstGeom>
          <a:ln w="0">
            <a:noFill/>
          </a:ln>
        </p:spPr>
      </p:sp>
      <p:sp>
        <p:nvSpPr>
          <p:cNvPr id="8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分割表の読み。</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短縮の</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経路：①</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短縮（前負荷</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収縮↑）は</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で</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正しい。②</a:t>
            </a:r>
            <a:r>
              <a:rPr lang="en-US" sz="2000" b="0" u="none" strike="noStrike">
                <a:solidFill>
                  <a:srgbClr val="000000"/>
                </a:solidFill>
                <a:effectLst/>
                <a:uFillTx/>
                <a:latin typeface="Arial"/>
              </a:rPr>
              <a:t>T1T2</a:t>
            </a:r>
            <a:r>
              <a:rPr lang="zh-CN" sz="2000" b="0" u="none" strike="noStrike">
                <a:solidFill>
                  <a:srgbClr val="000000"/>
                </a:solidFill>
                <a:effectLst/>
                <a:uFillTx/>
                <a:latin typeface="Arial"/>
              </a:rPr>
              <a:t>短縮（後負荷↑）は実際</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なのに</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と過大評価。③</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は延長しても</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優位で</a:t>
            </a:r>
            <a:r>
              <a:rPr lang="en-US" sz="2000" b="0" u="none" strike="noStrike">
                <a:solidFill>
                  <a:srgbClr val="000000"/>
                </a:solidFill>
                <a:effectLst/>
                <a:uFillTx/>
                <a:latin typeface="Arial"/>
              </a:rPr>
              <a:t>T1T2</a:t>
            </a:r>
            <a:r>
              <a:rPr lang="zh-CN" sz="2000" b="0" u="none" strike="noStrike">
                <a:solidFill>
                  <a:srgbClr val="000000"/>
                </a:solidFill>
                <a:effectLst/>
                <a:uFillTx/>
                <a:latin typeface="Arial"/>
              </a:rPr>
              <a:t>短縮が勝ち正味</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で過大評価。</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延長も対称に</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経路（④正しい／⑤⑥過小評価）。緑＝前提成立、赤＝後負荷が交絡し前提破綻。これが私の仮説の骨子。</a:t>
            </a:r>
            <a:endParaRPr lang="en-US" sz="2000" b="0" u="none" strike="noStrike">
              <a:solidFill>
                <a:srgbClr val="000000"/>
              </a:solidFill>
              <a:effectLst/>
              <a:uFillTx/>
              <a:latin typeface="Arial"/>
            </a:endParaRPr>
          </a:p>
        </p:txBody>
      </p:sp>
      <p:sp>
        <p:nvSpPr>
          <p:cNvPr id="806"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BC3AD3F-2B93-4CC7-9E0C-730192BD9056}" type="slidenum">
              <a:rPr lang="en-US" sz="1200" b="0" u="none" strike="noStrike">
                <a:solidFill>
                  <a:srgbClr val="000000"/>
                </a:solidFill>
                <a:effectLst/>
                <a:uFillTx/>
                <a:latin typeface="Times New Roman"/>
              </a:rPr>
              <a:t>41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 name="PlaceHolder 1"/>
          <p:cNvSpPr>
            <a:spLocks noGrp="1" noRot="1" noChangeAspect="1"/>
          </p:cNvSpPr>
          <p:nvPr>
            <p:ph type="sldImg"/>
          </p:nvPr>
        </p:nvSpPr>
        <p:spPr>
          <a:xfrm>
            <a:off x="685800" y="1143000"/>
            <a:ext cx="5486040" cy="3085920"/>
          </a:xfrm>
          <a:prstGeom prst="rect">
            <a:avLst/>
          </a:prstGeom>
          <a:ln w="0">
            <a:noFill/>
          </a:ln>
        </p:spPr>
      </p:sp>
      <p:sp>
        <p:nvSpPr>
          <p:cNvPr id="8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各方向の文献的裏付け。</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前負荷↑（</a:t>
            </a:r>
            <a:r>
              <a:rPr lang="en-US" sz="2000" b="0" u="none" strike="noStrike">
                <a:solidFill>
                  <a:srgbClr val="000000"/>
                </a:solidFill>
                <a:effectLst/>
                <a:uFillTx/>
                <a:latin typeface="Arial"/>
              </a:rPr>
              <a:t>Nakamura 1983</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収縮↑（</a:t>
            </a:r>
            <a:r>
              <a:rPr lang="en-US" sz="2000" b="0" u="none" strike="noStrike">
                <a:solidFill>
                  <a:srgbClr val="000000"/>
                </a:solidFill>
                <a:effectLst/>
                <a:uFillTx/>
                <a:latin typeface="Arial"/>
              </a:rPr>
              <a:t>Nakamura 1983</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Ahmed 1972</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Kettunen 1985</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後負荷↑（</a:t>
            </a:r>
            <a:r>
              <a:rPr lang="en-US" sz="2000" b="0" u="none" strike="noStrike">
                <a:solidFill>
                  <a:srgbClr val="000000"/>
                </a:solidFill>
                <a:effectLst/>
                <a:uFillTx/>
                <a:latin typeface="Arial"/>
              </a:rPr>
              <a:t>Nakamura 1983</a:t>
            </a:r>
            <a:r>
              <a:rPr lang="zh-CN" sz="2000" b="0" u="none" strike="noStrike">
                <a:solidFill>
                  <a:srgbClr val="000000"/>
                </a:solidFill>
                <a:effectLst/>
                <a:uFillTx/>
                <a:latin typeface="Arial"/>
              </a:rPr>
              <a:t>＝後負荷は</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を延長し交絡を複雑化）、</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後負荷↑（</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Bramwell‑Hill</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Borlaug 2007</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後負荷↑（心室‑動脈カップリング；</a:t>
            </a:r>
            <a:r>
              <a:rPr lang="en-US" sz="2000" b="0" u="none" strike="noStrike">
                <a:solidFill>
                  <a:srgbClr val="000000"/>
                </a:solidFill>
                <a:effectLst/>
                <a:uFillTx/>
                <a:latin typeface="Arial"/>
              </a:rPr>
              <a:t>Borlaug 2007</a:t>
            </a:r>
            <a:r>
              <a:rPr lang="zh-CN" sz="2000" b="0" u="none" strike="noStrike">
                <a:solidFill>
                  <a:srgbClr val="000000"/>
                </a:solidFill>
                <a:effectLst/>
                <a:uFillTx/>
                <a:latin typeface="Arial"/>
              </a:rPr>
              <a:t>）。判定：方向性は文献と概ね整合。ただし</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は後負荷でも延長する点は単純化で、</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優位・混合症例は妥当な作業仮説（前向き検証が必要）。</a:t>
            </a:r>
            <a:endParaRPr lang="en-US" sz="2000" b="0" u="none" strike="noStrike">
              <a:solidFill>
                <a:srgbClr val="000000"/>
              </a:solidFill>
              <a:effectLst/>
              <a:uFillTx/>
              <a:latin typeface="Arial"/>
            </a:endParaRPr>
          </a:p>
        </p:txBody>
      </p:sp>
      <p:sp>
        <p:nvSpPr>
          <p:cNvPr id="809"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0314992-41FA-40D4-89AC-B7054AD5ED2B}" type="slidenum">
              <a:rPr lang="en-US" sz="1200" b="0" u="none" strike="noStrike">
                <a:solidFill>
                  <a:srgbClr val="000000"/>
                </a:solidFill>
                <a:effectLst/>
                <a:uFillTx/>
                <a:latin typeface="Times New Roman"/>
              </a:rPr>
              <a:t>42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PlaceHolder 1"/>
          <p:cNvSpPr>
            <a:spLocks noGrp="1" noRot="1" noChangeAspect="1"/>
          </p:cNvSpPr>
          <p:nvPr>
            <p:ph type="sldImg"/>
          </p:nvPr>
        </p:nvSpPr>
        <p:spPr>
          <a:xfrm>
            <a:off x="685800" y="1143000"/>
            <a:ext cx="5486040" cy="3085920"/>
          </a:xfrm>
          <a:prstGeom prst="rect">
            <a:avLst/>
          </a:prstGeom>
          <a:ln w="0">
            <a:noFill/>
          </a:ln>
        </p:spPr>
      </p:sp>
      <p:sp>
        <p:nvSpPr>
          <p:cNvPr id="8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指尖</a:t>
            </a:r>
            <a:r>
              <a:rPr lang="en-US" sz="2000" b="0" u="none" strike="noStrike">
                <a:solidFill>
                  <a:srgbClr val="000000"/>
                </a:solidFill>
                <a:effectLst/>
                <a:uFillTx/>
                <a:latin typeface="Arial"/>
              </a:rPr>
              <a:t>PPG</a:t>
            </a:r>
            <a:r>
              <a:rPr lang="zh-CN" sz="2000" b="0" u="none" strike="noStrike">
                <a:solidFill>
                  <a:srgbClr val="000000"/>
                </a:solidFill>
                <a:effectLst/>
                <a:uFillTx/>
                <a:latin typeface="Arial"/>
              </a:rPr>
              <a:t>の形態には血管側（後負荷・スティフネス・トーヌス）の情報が含まれる。</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（加速度脈波）の</a:t>
            </a:r>
            <a:r>
              <a:rPr lang="en-US" sz="2000" b="0" u="none" strike="noStrike">
                <a:solidFill>
                  <a:srgbClr val="000000"/>
                </a:solidFill>
                <a:effectLst/>
                <a:uFillTx/>
                <a:latin typeface="Arial"/>
              </a:rPr>
              <a:t>d/a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、反射指数、切痕位置が血管スティフネス</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トーヌスの指標（</a:t>
            </a:r>
            <a:r>
              <a:rPr lang="en-US" sz="2000" b="0" u="none" strike="noStrike">
                <a:solidFill>
                  <a:srgbClr val="000000"/>
                </a:solidFill>
                <a:effectLst/>
                <a:uFillTx/>
                <a:latin typeface="Arial"/>
              </a:rPr>
              <a:t>Takazawa 1998</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Hashimoto 2002</a:t>
            </a:r>
            <a:r>
              <a:rPr lang="zh-CN" sz="2000" b="0" u="none" strike="noStrike">
                <a:solidFill>
                  <a:srgbClr val="000000"/>
                </a:solidFill>
                <a:effectLst/>
                <a:uFillTx/>
                <a:latin typeface="Arial"/>
              </a:rPr>
              <a:t>）。提案：</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推定の</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を</a:t>
            </a:r>
            <a:r>
              <a:rPr lang="en-US" sz="2000" b="0" u="none" strike="noStrike">
                <a:solidFill>
                  <a:srgbClr val="000000"/>
                </a:solidFill>
                <a:effectLst/>
                <a:uFillTx/>
                <a:latin typeface="Arial"/>
              </a:rPr>
              <a:t>PPG</a:t>
            </a:r>
            <a:r>
              <a:rPr lang="zh-CN" sz="2000" b="0" u="none" strike="noStrike">
                <a:solidFill>
                  <a:srgbClr val="000000"/>
                </a:solidFill>
                <a:effectLst/>
                <a:uFillTx/>
                <a:latin typeface="Arial"/>
              </a:rPr>
              <a:t>由来の血管指標で動的に補正する（</a:t>
            </a:r>
            <a:r>
              <a:rPr lang="en-US" sz="2000" b="0" u="none" strike="noStrike">
                <a:solidFill>
                  <a:srgbClr val="000000"/>
                </a:solidFill>
                <a:effectLst/>
                <a:uFillTx/>
                <a:latin typeface="Arial"/>
              </a:rPr>
              <a:t>K→K(d/a,e/a…)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SV≈K(</a:t>
            </a:r>
            <a:r>
              <a:rPr lang="zh-CN" sz="2000" b="0" u="none" strike="noStrike">
                <a:solidFill>
                  <a:srgbClr val="000000"/>
                </a:solidFill>
                <a:effectLst/>
                <a:uFillTx/>
                <a:latin typeface="Arial"/>
              </a:rPr>
              <a:t>血管</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(α·PWTT+β)</a:t>
            </a:r>
            <a:r>
              <a:rPr lang="zh-CN" sz="2000" b="0" u="none" strike="noStrike">
                <a:solidFill>
                  <a:srgbClr val="000000"/>
                </a:solidFill>
                <a:effectLst/>
                <a:uFillTx/>
                <a:latin typeface="Arial"/>
              </a:rPr>
              <a:t>）。狙いは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短縮が後負荷由来か前負荷</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収縮由来かを形態で判別し後負荷交絡を打ち消すこと。</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は形・タイミングを保存し絶対振幅を捨てるため、原波形の振幅（</a:t>
            </a:r>
            <a:r>
              <a:rPr lang="en-US" sz="2000" b="0" u="none" strike="noStrike">
                <a:solidFill>
                  <a:srgbClr val="000000"/>
                </a:solidFill>
                <a:effectLst/>
                <a:uFillTx/>
                <a:latin typeface="Arial"/>
              </a:rPr>
              <a:t>PI</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AC</a:t>
            </a:r>
            <a:r>
              <a:rPr lang="zh-CN" sz="2000" b="0" u="none" strike="noStrike">
                <a:solidFill>
                  <a:srgbClr val="000000"/>
                </a:solidFill>
                <a:effectLst/>
                <a:uFillTx/>
                <a:latin typeface="Arial"/>
              </a:rPr>
              <a:t>）と相補的に使える。</a:t>
            </a:r>
            <a:endParaRPr lang="en-US" sz="2000" b="0" u="none" strike="noStrike">
              <a:solidFill>
                <a:srgbClr val="000000"/>
              </a:solidFill>
              <a:effectLst/>
              <a:uFillTx/>
              <a:latin typeface="Arial"/>
            </a:endParaRPr>
          </a:p>
        </p:txBody>
      </p:sp>
      <p:sp>
        <p:nvSpPr>
          <p:cNvPr id="812"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5068145-B64D-4786-B2AA-8470B0D2AAF4}" type="slidenum">
              <a:rPr lang="en-US" sz="1200" b="0" u="none" strike="noStrike">
                <a:solidFill>
                  <a:srgbClr val="000000"/>
                </a:solidFill>
                <a:effectLst/>
                <a:uFillTx/>
                <a:latin typeface="Times New Roman"/>
              </a:rPr>
              <a:t>43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PlaceHolder 1"/>
          <p:cNvSpPr>
            <a:spLocks noGrp="1" noRot="1" noChangeAspect="1"/>
          </p:cNvSpPr>
          <p:nvPr>
            <p:ph type="sldImg"/>
          </p:nvPr>
        </p:nvSpPr>
        <p:spPr>
          <a:xfrm>
            <a:off x="685800" y="1143000"/>
            <a:ext cx="5486040" cy="3085920"/>
          </a:xfrm>
          <a:prstGeom prst="rect">
            <a:avLst/>
          </a:prstGeom>
          <a:ln w="0">
            <a:noFill/>
          </a:ln>
        </p:spPr>
      </p:sp>
      <p:sp>
        <p:nvSpPr>
          <p:cNvPr id="8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既存①</a:t>
            </a:r>
            <a:r>
              <a:rPr lang="en-US" sz="2000" b="0" u="none" strike="noStrike">
                <a:solidFill>
                  <a:srgbClr val="000000"/>
                </a:solidFill>
                <a:effectLst/>
                <a:uFillTx/>
                <a:latin typeface="Arial"/>
              </a:rPr>
              <a:t>PPG</a:t>
            </a:r>
            <a:r>
              <a:rPr lang="zh-CN" sz="2000" b="0" u="none" strike="noStrike">
                <a:solidFill>
                  <a:srgbClr val="000000"/>
                </a:solidFill>
                <a:effectLst/>
                <a:uFillTx/>
                <a:latin typeface="Arial"/>
              </a:rPr>
              <a:t>形態→動脈スティフネス推定（多数）、②</a:t>
            </a:r>
            <a:r>
              <a:rPr lang="en-US" sz="2000" b="0" u="none" strike="noStrike">
                <a:solidFill>
                  <a:srgbClr val="000000"/>
                </a:solidFill>
                <a:effectLst/>
                <a:uFillTx/>
                <a:latin typeface="Arial"/>
              </a:rPr>
              <a:t>PAT</a:t>
            </a:r>
            <a:r>
              <a:rPr lang="zh-CN" sz="2000" b="0" u="none" strike="noStrike">
                <a:solidFill>
                  <a:srgbClr val="000000"/>
                </a:solidFill>
                <a:effectLst/>
                <a:uFillTx/>
                <a:latin typeface="Arial"/>
              </a:rPr>
              <a:t>分割（</a:t>
            </a:r>
            <a:r>
              <a:rPr lang="en-US" sz="2000" b="0" u="none" strike="noStrike">
                <a:solidFill>
                  <a:srgbClr val="000000"/>
                </a:solidFill>
                <a:effectLst/>
                <a:uFillTx/>
                <a:latin typeface="Arial"/>
              </a:rPr>
              <a:t>IVC≈PEP</a:t>
            </a:r>
            <a:r>
              <a:rPr lang="zh-CN" sz="2000" b="0" u="none" strike="noStrike">
                <a:solidFill>
                  <a:srgbClr val="000000"/>
                </a:solidFill>
                <a:effectLst/>
                <a:uFillTx/>
                <a:latin typeface="Arial"/>
              </a:rPr>
              <a:t>＋血管成分）→</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・血圧推定（</a:t>
            </a:r>
            <a:r>
              <a:rPr lang="en-US" sz="2000" b="0" u="none" strike="noStrike">
                <a:solidFill>
                  <a:srgbClr val="000000"/>
                </a:solidFill>
                <a:effectLst/>
                <a:uFillTx/>
                <a:latin typeface="Arial"/>
              </a:rPr>
              <a:t>Beutel 2021</a:t>
            </a:r>
            <a:r>
              <a:rPr lang="zh-CN" sz="2000" b="0" u="none" strike="noStrike">
                <a:solidFill>
                  <a:srgbClr val="000000"/>
                </a:solidFill>
                <a:effectLst/>
                <a:uFillTx/>
                <a:latin typeface="Arial"/>
              </a:rPr>
              <a:t>）、③</a:t>
            </a:r>
            <a:r>
              <a:rPr lang="en-US" sz="2000" b="0" u="none" strike="noStrike">
                <a:solidFill>
                  <a:srgbClr val="000000"/>
                </a:solidFill>
                <a:effectLst/>
                <a:uFillTx/>
                <a:latin typeface="Arial"/>
              </a:rPr>
              <a:t>PWTT→CO</a:t>
            </a:r>
            <a:r>
              <a:rPr lang="zh-CN" sz="2000" b="0" u="none" strike="noStrike">
                <a:solidFill>
                  <a:srgbClr val="000000"/>
                </a:solidFill>
                <a:effectLst/>
                <a:uFillTx/>
                <a:latin typeface="Arial"/>
              </a:rPr>
              <a:t>推定（</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Sugo 2012</a:t>
            </a:r>
            <a:r>
              <a:rPr lang="zh-CN" sz="2000" b="0" u="none" strike="noStrike">
                <a:solidFill>
                  <a:srgbClr val="000000"/>
                </a:solidFill>
                <a:effectLst/>
                <a:uFillTx/>
                <a:latin typeface="Arial"/>
              </a:rPr>
              <a:t>）。未報告＝</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形態指標（</a:t>
            </a:r>
            <a:r>
              <a:rPr lang="en-US" sz="2000" b="0" u="none" strike="noStrike">
                <a:solidFill>
                  <a:srgbClr val="000000"/>
                </a:solidFill>
                <a:effectLst/>
                <a:uFillTx/>
                <a:latin typeface="Arial"/>
              </a:rPr>
              <a:t>d/a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）で後負荷交絡を除き</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の</a:t>
            </a:r>
            <a:r>
              <a:rPr lang="en-US" sz="2000" b="0" u="none" strike="noStrike">
                <a:solidFill>
                  <a:srgbClr val="000000"/>
                </a:solidFill>
                <a:effectLst/>
                <a:uFillTx/>
                <a:latin typeface="Arial"/>
              </a:rPr>
              <a:t>SV(K)</a:t>
            </a:r>
            <a:r>
              <a:rPr lang="zh-CN" sz="2000" b="0" u="none" strike="noStrike">
                <a:solidFill>
                  <a:srgbClr val="000000"/>
                </a:solidFill>
                <a:effectLst/>
                <a:uFillTx/>
                <a:latin typeface="Arial"/>
              </a:rPr>
              <a:t>を補正する枠組み。要素技術①②③は存在するが、</a:t>
            </a:r>
            <a:r>
              <a:rPr lang="en-US" sz="2000" b="0" u="none" strike="noStrike">
                <a:solidFill>
                  <a:srgbClr val="000000"/>
                </a:solidFill>
                <a:effectLst/>
                <a:uFillTx/>
                <a:latin typeface="Arial"/>
              </a:rPr>
              <a:t>CO</a:t>
            </a:r>
            <a:r>
              <a:rPr lang="zh-CN" sz="2000" b="0" u="none" strike="noStrike">
                <a:solidFill>
                  <a:srgbClr val="000000"/>
                </a:solidFill>
                <a:effectLst/>
                <a:uFillTx/>
                <a:latin typeface="Arial"/>
              </a:rPr>
              <a:t>精度改善へ統合した報告は渉猟し得ず新規性がある。</a:t>
            </a:r>
            <a:endParaRPr lang="en-US" sz="2000" b="0" u="none" strike="noStrike">
              <a:solidFill>
                <a:srgbClr val="000000"/>
              </a:solidFill>
              <a:effectLst/>
              <a:uFillTx/>
              <a:latin typeface="Arial"/>
            </a:endParaRPr>
          </a:p>
        </p:txBody>
      </p:sp>
      <p:sp>
        <p:nvSpPr>
          <p:cNvPr id="815"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D5B96CB-083A-4AB7-A3D4-DF816F819424}" type="slidenum">
              <a:rPr lang="en-US" sz="1200" b="0" u="none" strike="noStrike">
                <a:solidFill>
                  <a:srgbClr val="000000"/>
                </a:solidFill>
                <a:effectLst/>
                <a:uFillTx/>
                <a:latin typeface="Times New Roman"/>
              </a:rPr>
              <a:t>44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 name="PlaceHolder 1"/>
          <p:cNvSpPr>
            <a:spLocks noGrp="1" noRot="1" noChangeAspect="1"/>
          </p:cNvSpPr>
          <p:nvPr>
            <p:ph type="sldImg"/>
          </p:nvPr>
        </p:nvSpPr>
        <p:spPr>
          <a:xfrm>
            <a:off x="685800" y="1143000"/>
            <a:ext cx="5486040" cy="3085920"/>
          </a:xfrm>
          <a:prstGeom prst="rect">
            <a:avLst/>
          </a:prstGeom>
          <a:ln w="0">
            <a:noFill/>
          </a:ln>
        </p:spPr>
      </p:sp>
      <p:sp>
        <p:nvSpPr>
          <p:cNvPr id="8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まとめ。</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の合成量で、後負荷は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と</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を同方向に動かし</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の中核前提を破綻させ得る。</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形態で血管成分を分離し</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を補正する提案は機序的に妥当で新規性がある。限界：本分割表・</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優位仮説は作業仮説で、前向き・多施設検証、</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指標と</a:t>
            </a:r>
            <a:r>
              <a:rPr lang="en-US" sz="2000" b="0" u="none" strike="noStrike">
                <a:solidFill>
                  <a:srgbClr val="000000"/>
                </a:solidFill>
                <a:effectLst/>
                <a:uFillTx/>
                <a:latin typeface="Arial"/>
              </a:rPr>
              <a:t>SVR/Ea</a:t>
            </a:r>
            <a:r>
              <a:rPr lang="zh-CN" sz="2000" b="0" u="none" strike="noStrike">
                <a:solidFill>
                  <a:srgbClr val="000000"/>
                </a:solidFill>
                <a:effectLst/>
                <a:uFillTx/>
                <a:latin typeface="Arial"/>
              </a:rPr>
              <a:t>の対応づけ、較正法の確立が必要。展望：</a:t>
            </a:r>
            <a:r>
              <a:rPr lang="en-US" sz="2000" b="0" u="none" strike="noStrike">
                <a:solidFill>
                  <a:srgbClr val="000000"/>
                </a:solidFill>
                <a:effectLst/>
                <a:uFillTx/>
                <a:latin typeface="Arial"/>
              </a:rPr>
              <a:t>SpO₂</a:t>
            </a:r>
            <a:r>
              <a:rPr lang="zh-CN" sz="2000" b="0" u="none" strike="noStrike">
                <a:solidFill>
                  <a:srgbClr val="000000"/>
                </a:solidFill>
                <a:effectLst/>
                <a:uFillTx/>
                <a:latin typeface="Arial"/>
              </a:rPr>
              <a:t>一点から心臓と血管を分離し非侵襲</a:t>
            </a:r>
            <a:r>
              <a:rPr lang="en-US" sz="2000" b="0" u="none" strike="noStrike">
                <a:solidFill>
                  <a:srgbClr val="000000"/>
                </a:solidFill>
                <a:effectLst/>
                <a:uFillTx/>
                <a:latin typeface="Arial"/>
              </a:rPr>
              <a:t>CO</a:t>
            </a:r>
            <a:r>
              <a:rPr lang="zh-CN" sz="2000" b="0" u="none" strike="noStrike">
                <a:solidFill>
                  <a:srgbClr val="000000"/>
                </a:solidFill>
                <a:effectLst/>
                <a:uFillTx/>
                <a:latin typeface="Arial"/>
              </a:rPr>
              <a:t>推定の精度向上へ。</a:t>
            </a:r>
            <a:endParaRPr lang="en-US" sz="2000" b="0" u="none" strike="noStrike">
              <a:solidFill>
                <a:srgbClr val="000000"/>
              </a:solidFill>
              <a:effectLst/>
              <a:uFillTx/>
              <a:latin typeface="Arial"/>
            </a:endParaRPr>
          </a:p>
        </p:txBody>
      </p:sp>
      <p:sp>
        <p:nvSpPr>
          <p:cNvPr id="818"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9DD2303-80BF-47A2-9734-14DFC1FDF15C}" type="slidenum">
              <a:rPr lang="en-US" sz="1200" b="0" u="none" strike="noStrike">
                <a:solidFill>
                  <a:srgbClr val="000000"/>
                </a:solidFill>
                <a:effectLst/>
                <a:uFillTx/>
                <a:latin typeface="Times New Roman"/>
              </a:rPr>
              <a:t>45</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ja-JP" sz="6000" b="0" u="none" strike="noStrike">
                <a:solidFill>
                  <a:schemeClr val="dk1"/>
                </a:solidFill>
                <a:effectLst/>
                <a:uFillTx/>
                <a:latin typeface="Calibri"/>
              </a:defRPr>
            </a:lvl1pPr>
          </a:lstStyle>
          <a:p>
            <a:pPr indent="0" algn="ctr" defTabSz="914400">
              <a:lnSpc>
                <a:spcPct val="90000"/>
              </a:lnSpc>
              <a:buNone/>
            </a:pPr>
            <a:r>
              <a:rPr lang="ja-JP" sz="6000" b="0" u="none" strike="noStrike">
                <a:solidFill>
                  <a:schemeClr val="dk1"/>
                </a:solidFill>
                <a:effectLst/>
                <a:uFillTx/>
                <a:latin typeface="Calibri"/>
              </a:rPr>
              <a:t>マスター タイトルの書式設定</a:t>
            </a:r>
            <a:endParaRPr lang="en-US"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49EAB1D-1124-4DD5-9F25-1C19E57BDDB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the outline text format</a:t>
            </a: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Outline Level</a:t>
            </a: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タイトル付きの図">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ja-JP" sz="3200" b="0" u="none" strike="noStrike">
                <a:solidFill>
                  <a:schemeClr val="dk1"/>
                </a:solidFill>
                <a:effectLst/>
                <a:uFillTx/>
                <a:latin typeface="Calibri"/>
              </a:defRPr>
            </a:lvl1pPr>
          </a:lstStyle>
          <a:p>
            <a:pPr indent="0" algn="l" defTabSz="914400">
              <a:lnSpc>
                <a:spcPct val="90000"/>
              </a:lnSpc>
              <a:buNone/>
            </a:pPr>
            <a:r>
              <a:rPr lang="ja-JP" sz="3200" b="0" u="none" strike="noStrike">
                <a:solidFill>
                  <a:schemeClr val="dk1"/>
                </a:solidFill>
                <a:effectLst/>
                <a:uFillTx/>
                <a:latin typeface="Calibri"/>
              </a:rPr>
              <a:t>マスター タイトルの書式設定</a:t>
            </a:r>
            <a:endParaRPr lang="en-US" sz="3200" b="0" u="none" strike="noStrike">
              <a:solidFill>
                <a:schemeClr val="dk1"/>
              </a:solidFill>
              <a:effectLst/>
              <a:uFillTx/>
              <a:latin typeface="Calibri"/>
            </a:endParaRPr>
          </a:p>
        </p:txBody>
      </p:sp>
      <p:sp>
        <p:nvSpPr>
          <p:cNvPr id="8"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ja-JP" sz="3200" b="0" u="none" strike="noStrike">
                <a:solidFill>
                  <a:schemeClr val="dk1"/>
                </a:solidFill>
                <a:effectLst/>
                <a:uFillTx/>
                <a:latin typeface="Calibri"/>
              </a:defRPr>
            </a:lvl1pPr>
          </a:lstStyle>
          <a:p>
            <a:pPr indent="0" algn="l" defTabSz="914400">
              <a:lnSpc>
                <a:spcPct val="100000"/>
              </a:lnSpc>
              <a:buNone/>
              <a:tabLst>
                <a:tab pos="0" algn="l"/>
              </a:tabLst>
            </a:pPr>
            <a:r>
              <a:rPr lang="ja-JP" sz="3200" b="0" u="none" strike="noStrike">
                <a:solidFill>
                  <a:schemeClr val="dk1"/>
                </a:solidFill>
                <a:effectLst/>
                <a:uFillTx/>
                <a:latin typeface="Calibri"/>
              </a:rPr>
              <a:t>アイコンをクリックして図を追加</a:t>
            </a:r>
            <a:endParaRPr lang="en-US" sz="3200" b="0" u="none" strike="noStrike">
              <a:solidFill>
                <a:schemeClr val="dk1"/>
              </a:solidFill>
              <a:effectLst/>
              <a:uFillTx/>
              <a:latin typeface="Calibri"/>
            </a:endParaRPr>
          </a:p>
        </p:txBody>
      </p:sp>
      <p:sp>
        <p:nvSpPr>
          <p:cNvPr id="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ja-JP"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1600" b="0" u="none" strike="noStrike">
                <a:solidFill>
                  <a:schemeClr val="dk1"/>
                </a:solidFill>
                <a:effectLst/>
                <a:uFillTx/>
                <a:latin typeface="Calibri"/>
              </a:rPr>
              <a:t>マスター テキストの書式設定</a:t>
            </a:r>
            <a:endParaRPr lang="en-US" sz="1600" b="0" u="none" strike="noStrike">
              <a:solidFill>
                <a:schemeClr val="dk1"/>
              </a:solidFill>
              <a:effectLst/>
              <a:uFillTx/>
              <a:latin typeface="Calibri"/>
            </a:endParaRPr>
          </a:p>
        </p:txBody>
      </p:sp>
      <p:sp>
        <p:nvSpPr>
          <p:cNvPr id="10" name="PlaceHolder 4"/>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2" name="PlaceHolder 6"/>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B06A02E5-5B00-4A1B-8A9D-998C3CAF218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14"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15"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6"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7"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0F92925-80C0-42CE-AF7C-39B9AFC387C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bg>
      <p:bgPr>
        <a:solidFill>
          <a:srgbClr val="FFFFFF"/>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19"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20"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1"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2"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CE639BF5-B664-4746-A17F-ABE650F978B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タイトルとコンテンツ">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24"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25"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7"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72BB614-1325-47A2-A5A0-D713FE7329B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タイトルとコンテンツ">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defTabSz="914400">
              <a:lnSpc>
                <a:spcPct val="90000"/>
              </a:lnSpc>
              <a:buNone/>
              <a:defRPr lang="ja-JP" sz="5400" b="1" u="none" strike="noStrike">
                <a:solidFill>
                  <a:schemeClr val="accent4">
                    <a:lumMod val="75000"/>
                  </a:schemeClr>
                </a:solidFill>
                <a:effectLst/>
                <a:uFillTx/>
                <a:latin typeface="Calibri"/>
              </a:defRPr>
            </a:lvl1pPr>
          </a:lstStyle>
          <a:p>
            <a:pPr indent="0" algn="l" defTabSz="914400">
              <a:lnSpc>
                <a:spcPct val="90000"/>
              </a:lnSpc>
              <a:buNone/>
            </a:pPr>
            <a:r>
              <a:rPr lang="ja-JP" sz="5400" b="1" u="none" strike="noStrike">
                <a:solidFill>
                  <a:schemeClr val="accent4">
                    <a:lumMod val="75000"/>
                  </a:schemeClr>
                </a:solidFill>
                <a:effectLst/>
                <a:uFillTx/>
                <a:latin typeface="Calibri"/>
              </a:rPr>
              <a:t>マスター タイトルの書式設定</a:t>
            </a:r>
            <a:endParaRPr lang="en-US" sz="5400" b="1" u="none" strike="noStrike">
              <a:solidFill>
                <a:schemeClr val="accent4">
                  <a:lumMod val="75000"/>
                </a:schemeClr>
              </a:solidFill>
              <a:effectLst/>
              <a:uFillTx/>
              <a:latin typeface="Calibri"/>
            </a:endParaRPr>
          </a:p>
        </p:txBody>
      </p:sp>
      <p:sp>
        <p:nvSpPr>
          <p:cNvPr id="29"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30" name="PlaceHolder 3"/>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2" name="PlaceHolder 5"/>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1CC3FDA8-543D-4176-B43F-65308D0D606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cxnSp>
        <p:nvCxnSpPr>
          <p:cNvPr id="33" name="直線コネクタ 7"/>
          <p:cNvCxnSpPr/>
          <p:nvPr/>
        </p:nvCxnSpPr>
        <p:spPr>
          <a:xfrm>
            <a:off x="0" y="1385640"/>
            <a:ext cx="12192120" cy="360"/>
          </a:xfrm>
          <a:prstGeom prst="straightConnector1">
            <a:avLst/>
          </a:prstGeom>
          <a:ln w="101600">
            <a:solidFill>
              <a:srgbClr val="FFC000">
                <a:lumMod val="75000"/>
              </a:srgbClr>
            </a:solidFill>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セクション見出し">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ja-JP" sz="6000" b="0" u="none" strike="noStrike">
                <a:solidFill>
                  <a:schemeClr val="dk1"/>
                </a:solidFill>
                <a:effectLst/>
                <a:uFillTx/>
                <a:latin typeface="Calibri"/>
              </a:defRPr>
            </a:lvl1pPr>
          </a:lstStyle>
          <a:p>
            <a:pPr indent="0" algn="l" defTabSz="914400">
              <a:lnSpc>
                <a:spcPct val="90000"/>
              </a:lnSpc>
              <a:buNone/>
            </a:pPr>
            <a:r>
              <a:rPr lang="ja-JP" sz="6000" b="0" u="none" strike="noStrike">
                <a:solidFill>
                  <a:schemeClr val="dk1"/>
                </a:solidFill>
                <a:effectLst/>
                <a:uFillTx/>
                <a:latin typeface="Calibri"/>
              </a:rPr>
              <a:t>マスター タイトルの書式設定</a:t>
            </a:r>
            <a:endParaRPr lang="en-US" sz="6000" b="0" u="none" strike="noStrike">
              <a:solidFill>
                <a:schemeClr val="dk1"/>
              </a:solidFill>
              <a:effectLst/>
              <a:uFillTx/>
              <a:latin typeface="Calibri"/>
            </a:endParaRPr>
          </a:p>
        </p:txBody>
      </p:sp>
      <p:sp>
        <p:nvSpPr>
          <p:cNvPr id="35"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ja-JP"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ja-JP" sz="2400" b="0" u="none" strike="noStrike">
                <a:solidFill>
                  <a:schemeClr val="dk1">
                    <a:tint val="75000"/>
                  </a:schemeClr>
                </a:solidFill>
                <a:effectLst/>
                <a:uFillTx/>
                <a:latin typeface="Calibri"/>
              </a:rPr>
              <a:t>マスター テキストの書式設定</a:t>
            </a:r>
            <a:endParaRPr lang="en-US" sz="2400" b="0" u="none" strike="noStrike">
              <a:solidFill>
                <a:schemeClr val="dk1">
                  <a:tint val="75000"/>
                </a:schemeClr>
              </a:solidFill>
              <a:effectLst/>
              <a:uFillTx/>
              <a:latin typeface="Calibri"/>
            </a:endParaRPr>
          </a:p>
        </p:txBody>
      </p:sp>
      <p:sp>
        <p:nvSpPr>
          <p:cNvPr id="36" name="PlaceHolder 3"/>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7" name="PlaceHolder 4"/>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8" name="PlaceHolder 5"/>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D46D4AE-FB5C-45DA-B13C-E77342FF1B0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1_2 つのコンテンツ">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defTabSz="914400">
              <a:lnSpc>
                <a:spcPct val="90000"/>
              </a:lnSpc>
              <a:buNone/>
              <a:defRPr lang="ja-JP" sz="5400" b="1" u="none" strike="noStrike">
                <a:solidFill>
                  <a:schemeClr val="accent4">
                    <a:lumMod val="75000"/>
                  </a:schemeClr>
                </a:solidFill>
                <a:effectLst/>
                <a:uFillTx/>
                <a:latin typeface="Calibri"/>
              </a:defRPr>
            </a:lvl1pPr>
          </a:lstStyle>
          <a:p>
            <a:pPr indent="0" algn="l" defTabSz="914400">
              <a:lnSpc>
                <a:spcPct val="90000"/>
              </a:lnSpc>
              <a:buNone/>
            </a:pPr>
            <a:r>
              <a:rPr lang="ja-JP" sz="5400" b="1" u="none" strike="noStrike">
                <a:solidFill>
                  <a:schemeClr val="accent4">
                    <a:lumMod val="75000"/>
                  </a:schemeClr>
                </a:solidFill>
                <a:effectLst/>
                <a:uFillTx/>
                <a:latin typeface="Calibri"/>
              </a:rPr>
              <a:t>マスター タイトルの書式設定</a:t>
            </a:r>
            <a:endParaRPr lang="en-US" sz="5400" b="1" u="none" strike="noStrike">
              <a:solidFill>
                <a:schemeClr val="accent4">
                  <a:lumMod val="75000"/>
                </a:schemeClr>
              </a:solidFill>
              <a:effectLst/>
              <a:uFillTx/>
              <a:latin typeface="Calibri"/>
            </a:endParaRPr>
          </a:p>
        </p:txBody>
      </p:sp>
      <p:sp>
        <p:nvSpPr>
          <p:cNvPr id="40"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41"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42" name="PlaceHolder 4"/>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3" name="PlaceHolder 5"/>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4" name="PlaceHolder 6"/>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C23BA2D-2AAF-41E9-ABB0-C6889AE57B6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cxnSp>
        <p:nvCxnSpPr>
          <p:cNvPr id="45" name="直線コネクタ 8"/>
          <p:cNvCxnSpPr/>
          <p:nvPr/>
        </p:nvCxnSpPr>
        <p:spPr>
          <a:xfrm>
            <a:off x="0" y="1385640"/>
            <a:ext cx="12192120" cy="360"/>
          </a:xfrm>
          <a:prstGeom prst="straightConnector1">
            <a:avLst/>
          </a:prstGeom>
          <a:ln w="101600">
            <a:solidFill>
              <a:srgbClr val="FFC000">
                <a:lumMod val="75000"/>
              </a:srgbClr>
            </a:solidFill>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比較">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47"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ja-JP"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2400" b="1" u="none" strike="noStrike">
                <a:solidFill>
                  <a:schemeClr val="dk1"/>
                </a:solidFill>
                <a:effectLst/>
                <a:uFillTx/>
                <a:latin typeface="Calibri"/>
              </a:rPr>
              <a:t>マスター テキストの書式設定</a:t>
            </a:r>
            <a:endParaRPr lang="en-US" sz="2400" b="0" u="none" strike="noStrike">
              <a:solidFill>
                <a:schemeClr val="dk1"/>
              </a:solidFill>
              <a:effectLst/>
              <a:uFillTx/>
              <a:latin typeface="Calibri"/>
            </a:endParaRPr>
          </a:p>
        </p:txBody>
      </p:sp>
      <p:sp>
        <p:nvSpPr>
          <p:cNvPr id="48"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49"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ja-JP"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2400" b="1" u="none" strike="noStrike">
                <a:solidFill>
                  <a:schemeClr val="dk1"/>
                </a:solidFill>
                <a:effectLst/>
                <a:uFillTx/>
                <a:latin typeface="Calibri"/>
              </a:rPr>
              <a:t>マスター テキストの書式設定</a:t>
            </a:r>
            <a:endParaRPr lang="en-US" sz="2400" b="0" u="none" strike="noStrike">
              <a:solidFill>
                <a:schemeClr val="dk1"/>
              </a:solidFill>
              <a:effectLst/>
              <a:uFillTx/>
              <a:latin typeface="Calibri"/>
            </a:endParaRPr>
          </a:p>
        </p:txBody>
      </p:sp>
      <p:sp>
        <p:nvSpPr>
          <p:cNvPr id="50"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51" name="PlaceHolder 6"/>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2" name="PlaceHolder 7"/>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3" name="PlaceHolder 8"/>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AF24B72-0775-4D2B-B358-50F33D527C8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タイトルのみ">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55" name="PlaceHolder 2"/>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6" name="PlaceHolder 3"/>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7" name="PlaceHolder 4"/>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C49F299-9B00-45E3-9329-D3CE05687BF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白紙">
    <p:bg>
      <p:bgPr>
        <a:solidFill>
          <a:srgbClr val="FFFFFF"/>
        </a:solidFill>
        <a:effectLst/>
      </p:bgPr>
    </p:bg>
    <p:spTree>
      <p:nvGrpSpPr>
        <p:cNvPr id="1" name=""/>
        <p:cNvGrpSpPr/>
        <p:nvPr/>
      </p:nvGrpSpPr>
      <p:grpSpPr>
        <a:xfrm>
          <a:off x="0" y="0"/>
          <a:ext cx="0" cy="0"/>
          <a:chOff x="0" y="0"/>
          <a:chExt cx="0" cy="0"/>
        </a:xfrm>
      </p:grpSpPr>
      <p:sp>
        <p:nvSpPr>
          <p:cNvPr id="58" name="PlaceHolder 1"/>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2"/>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3"/>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5E7B600-7941-4823-B39E-22B86C37F63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タイトル付きのコンテンツ">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ja-JP" sz="3200" b="0" u="none" strike="noStrike">
                <a:solidFill>
                  <a:schemeClr val="dk1"/>
                </a:solidFill>
                <a:effectLst/>
                <a:uFillTx/>
                <a:latin typeface="Calibri"/>
              </a:defRPr>
            </a:lvl1pPr>
          </a:lstStyle>
          <a:p>
            <a:pPr indent="0" algn="l" defTabSz="914400">
              <a:lnSpc>
                <a:spcPct val="90000"/>
              </a:lnSpc>
              <a:buNone/>
            </a:pPr>
            <a:r>
              <a:rPr lang="ja-JP" sz="3200" b="0" u="none" strike="noStrike">
                <a:solidFill>
                  <a:schemeClr val="dk1"/>
                </a:solidFill>
                <a:effectLst/>
                <a:uFillTx/>
                <a:latin typeface="Calibri"/>
              </a:rPr>
              <a:t>マスター タイトルの書式設定</a:t>
            </a:r>
            <a:endParaRPr lang="en-US" sz="3200" b="0" u="none" strike="noStrike">
              <a:solidFill>
                <a:schemeClr val="dk1"/>
              </a:solidFill>
              <a:effectLst/>
              <a:uFillTx/>
              <a:latin typeface="Calibri"/>
            </a:endParaRPr>
          </a:p>
        </p:txBody>
      </p:sp>
      <p:sp>
        <p:nvSpPr>
          <p:cNvPr id="62"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3200" b="0" u="none" strike="noStrike">
                <a:solidFill>
                  <a:schemeClr val="dk1"/>
                </a:solidFill>
                <a:effectLst/>
                <a:uFillTx/>
                <a:latin typeface="Calibri"/>
              </a:rPr>
              <a:t>マスター テキストの書式設定</a:t>
            </a:r>
            <a:endParaRPr lang="en-US"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800" b="0" u="none" strike="noStrike">
                <a:solidFill>
                  <a:schemeClr val="dk1"/>
                </a:solidFill>
                <a:effectLst/>
                <a:uFillTx/>
                <a:latin typeface="Calibri"/>
              </a:rPr>
              <a:t>第 </a:t>
            </a:r>
            <a:r>
              <a:rPr lang="en-US" sz="2800" b="0" u="none" strike="noStrike">
                <a:solidFill>
                  <a:schemeClr val="dk1"/>
                </a:solidFill>
                <a:effectLst/>
                <a:uFillTx/>
                <a:latin typeface="Calibri"/>
              </a:rPr>
              <a:t>2 </a:t>
            </a:r>
            <a:r>
              <a:rPr lang="ja-JP" sz="2800" b="0" u="none" strike="noStrike">
                <a:solidFill>
                  <a:schemeClr val="dk1"/>
                </a:solidFill>
                <a:effectLst/>
                <a:uFillTx/>
                <a:latin typeface="Calibri"/>
              </a:rPr>
              <a:t>レベル</a:t>
            </a:r>
            <a:endParaRPr lang="en-US"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3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4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5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p:txBody>
      </p:sp>
      <p:sp>
        <p:nvSpPr>
          <p:cNvPr id="63"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ja-JP"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1600" b="0" u="none" strike="noStrike">
                <a:solidFill>
                  <a:schemeClr val="dk1"/>
                </a:solidFill>
                <a:effectLst/>
                <a:uFillTx/>
                <a:latin typeface="Calibri"/>
              </a:rPr>
              <a:t>マスター テキストの書式設定</a:t>
            </a:r>
            <a:endParaRPr lang="en-US" sz="1600" b="0" u="none" strike="noStrike">
              <a:solidFill>
                <a:schemeClr val="dk1"/>
              </a:solidFill>
              <a:effectLst/>
              <a:uFillTx/>
              <a:latin typeface="Calibri"/>
            </a:endParaRPr>
          </a:p>
        </p:txBody>
      </p:sp>
      <p:sp>
        <p:nvSpPr>
          <p:cNvPr id="64" name="PlaceHolder 4"/>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5" name="PlaceHolder 5"/>
          <p:cNvSpPr>
            <a:spLocks noGrp="1"/>
          </p:cNvSpPr>
          <p:nvPr>
            <p:ph type="ftr" idx="3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09E3F58-3F45-48C9-BCAE-03D22C6A3E8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17322588/" TargetMode="Externa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www.sciencedirect.com/science/article/abs/pii/S0010482516300592" TargetMode="External"/><Relationship Id="rId4" Type="http://schemas.openxmlformats.org/officeDocument/2006/relationships/hyperlink" Target="https://pubmed.ncbi.nlm.nih.gov/9887020/" TargetMode="External"/><Relationship Id="rId5" Type="http://schemas.openxmlformats.org/officeDocument/2006/relationships/hyperlink" Target="https://pubmed.ncbi.nlm.nih.gov/12241535/" TargetMode="External"/><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hyperlink" Target="https://pubmed.ncbi.nlm.nih.gov/4699520/" TargetMode="Externa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hyperlink" Target="https://pubmed.ncbi.nlm.nih.gov/4699520/" TargetMode="Externa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hyperlink" Target="https://www.ahajournals.org/doi/10.1161/CIRCGEN.121.003676" TargetMode="External"/><Relationship Id="rId4" Type="http://schemas.openxmlformats.org/officeDocument/2006/relationships/image" Target="../media/image6.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hyperlink" Target="https://www.ahajournals.org/doi/10.1161/CIRCGEN.121.003676" TargetMode="External"/><Relationship Id="rId4" Type="http://schemas.openxmlformats.org/officeDocument/2006/relationships/image" Target="../media/image6.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pubmed.ncbi.nlm.nih.gov/10811742/" TargetMode="Externa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hyperlink" Target="https://pubmed.ncbi.nlm.nih.gov/22051898/" TargetMode="External"/><Relationship Id="rId4" Type="http://schemas.openxmlformats.org/officeDocument/2006/relationships/hyperlink" Target="https://pubmed.ncbi.nlm.nih.gov/16277719/" TargetMode="External"/><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hyperlink" Target="https://pubmed.ncbi.nlm.nih.gov/1627771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hyperlink" Target="https://pubmed.ncbi.nlm.nih.gov/16277719/" TargetMode="Externa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34339454/" TargetMode="External"/><Relationship Id="rId3" Type="http://schemas.openxmlformats.org/officeDocument/2006/relationships/hyperlink" Target="https://pubmed.ncbi.nlm.nih.gov/23366792/" TargetMode="External"/><Relationship Id="rId4" Type="http://schemas.openxmlformats.org/officeDocument/2006/relationships/hyperlink" Target="https://pubmed.ncbi.nlm.nih.gov/36286406/" TargetMode="External"/><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pubmed.ncbi.nlm.nih.gov/17940842/" TargetMode="External"/><Relationship Id="rId4" Type="http://schemas.openxmlformats.org/officeDocument/2006/relationships/hyperlink" Target="https://link.springer.com/article/10.1007/s10877-018-0235-z" TargetMode="External"/><Relationship Id="rId5" Type="http://schemas.openxmlformats.org/officeDocument/2006/relationships/hyperlink" Target="https://pubmed.ncbi.nlm.nih.gov/10588217/" TargetMode="External"/><Relationship Id="rId6" Type="http://schemas.openxmlformats.org/officeDocument/2006/relationships/hyperlink" Target="https://pubmed.ncbi.nlm.nih.gov/9719069/" TargetMode="External"/><Relationship Id="rId7"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pubmed.ncbi.nlm.nih.gov/12241535/" TargetMode="External"/><Relationship Id="rId4" Type="http://schemas.openxmlformats.org/officeDocument/2006/relationships/hyperlink" Target="https://pubmed.ncbi.nlm.nih.gov/4699520/" TargetMode="External"/><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hyperlink" Target="https://pubmed.ncbi.nlm.nih.gov/12241535/" TargetMode="External"/><Relationship Id="rId4" Type="http://schemas.openxmlformats.org/officeDocument/2006/relationships/hyperlink" Target="https://pubmed.ncbi.nlm.nih.gov/17940842/" TargetMode="External"/><Relationship Id="rId5" Type="http://schemas.openxmlformats.org/officeDocument/2006/relationships/image" Target="../media/image17.png"/><Relationship Id="rId6"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hyperlink" Target="https://pubmed.ncbi.nlm.nih.gov/8934343/" TargetMode="Externa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hyperlink" Target="https://pubmed.ncbi.nlm.nih.gov/8934343/" TargetMode="External"/><Relationship Id="rId4" Type="http://schemas.openxmlformats.org/officeDocument/2006/relationships/image" Target="../media/image19.png"/><Relationship Id="rId5"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hyperlink" Target="https://link.springer.com/article/10.1007/s10877-018-0235-z" TargetMode="Externa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hyperlink" Target="https://link.springer.com/article/10.1007/s10877-018-0235-z" TargetMode="External"/><Relationship Id="rId4" Type="http://schemas.openxmlformats.org/officeDocument/2006/relationships/image" Target="../media/image21.png"/><Relationship Id="rId5"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hyperlink" Target="https://pubmed.ncbi.nlm.nih.gov/12241535/" TargetMode="External"/><Relationship Id="rId4" Type="http://schemas.openxmlformats.org/officeDocument/2006/relationships/hyperlink" Target="https://pubmed.ncbi.nlm.nih.gov/10588217/" TargetMode="External"/><Relationship Id="rId5" Type="http://schemas.openxmlformats.org/officeDocument/2006/relationships/hyperlink" Target="https://pubmed.ncbi.nlm.nih.gov/9719069/" TargetMode="External"/><Relationship Id="rId6"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9719069/" TargetMode="External"/><Relationship Id="rId3" Type="http://schemas.openxmlformats.org/officeDocument/2006/relationships/hyperlink" Target="https://pubmed.ncbi.nlm.nih.gov/10701816/" TargetMode="External"/><Relationship Id="rId4" Type="http://schemas.openxmlformats.org/officeDocument/2006/relationships/hyperlink" Target="https://pubmed.ncbi.nlm.nih.gov/12473866/" TargetMode="External"/><Relationship Id="rId5"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hyperlink" Target="https://pubmed.ncbi.nlm.nih.gov/9719069/"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hyperlink" Target="https://link.springer.com/article/10.1007/s10877-020-00486-y" TargetMode="Externa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hyperlink" Target="https://pubmed.ncbi.nlm.nih.gov/12241535/" TargetMode="External"/><Relationship Id="rId4" Type="http://schemas.openxmlformats.org/officeDocument/2006/relationships/hyperlink" Target="https://pubmed.ncbi.nlm.nih.gov/9719069/" TargetMode="External"/><Relationship Id="rId5" Type="http://schemas.openxmlformats.org/officeDocument/2006/relationships/hyperlink" Target="https://link.springer.com/article/10.1007/s10877-018-0235-z" TargetMode="External"/><Relationship Id="rId6" Type="http://schemas.openxmlformats.org/officeDocument/2006/relationships/hyperlink" Target="https://link.springer.com/article/10.1007/s10877-020-00486-y" TargetMode="External"/><Relationship Id="rId7"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12241535/" TargetMode="External"/><Relationship Id="rId3" Type="http://schemas.openxmlformats.org/officeDocument/2006/relationships/hyperlink" Target="https://pubmed.ncbi.nlm.nih.gov/17940842/" TargetMode="External"/><Relationship Id="rId4" Type="http://schemas.openxmlformats.org/officeDocument/2006/relationships/hyperlink" Target="https://link.springer.com/article/10.1007/s10877-018-0235-z" TargetMode="External"/><Relationship Id="rId5" Type="http://schemas.openxmlformats.org/officeDocument/2006/relationships/hyperlink" Target="https://pubmed.ncbi.nlm.nih.gov/10588217/" TargetMode="External"/><Relationship Id="rId6" Type="http://schemas.openxmlformats.org/officeDocument/2006/relationships/hyperlink" Target="https://pubmed.ncbi.nlm.nih.gov/9719069/" TargetMode="External"/><Relationship Id="rId7" Type="http://schemas.openxmlformats.org/officeDocument/2006/relationships/hyperlink" Target="https://link.springer.com/article/10.1007/s10877-020-00486-y" TargetMode="External"/><Relationship Id="rId8"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hyperlink" Target="https://pubmed.ncbi.nlm.nih.gov/21340639/"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hyperlink" Target="https://pubmed.ncbi.nlm.nih.gov/21340639/"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17322588/" TargetMode="External"/><Relationship Id="rId3" Type="http://schemas.openxmlformats.org/officeDocument/2006/relationships/hyperlink" Target="https://www.sciencedirect.com/science/article/abs/pii/S0010482516300592" TargetMode="External"/><Relationship Id="rId4" Type="http://schemas.openxmlformats.org/officeDocument/2006/relationships/hyperlink" Target="https://pubmed.ncbi.nlm.nih.gov/9887020/" TargetMode="External"/><Relationship Id="rId5" Type="http://schemas.openxmlformats.org/officeDocument/2006/relationships/hyperlink" Target="https://pubmed.ncbi.nlm.nih.gov/12241535/" TargetMode="External"/><Relationship Id="rId6" Type="http://schemas.openxmlformats.org/officeDocument/2006/relationships/hyperlink" Target="https://pubmed.ncbi.nlm.nih.gov/4699520/" TargetMode="External"/><Relationship Id="rId7" Type="http://schemas.openxmlformats.org/officeDocument/2006/relationships/hyperlink" Target="https://www.ahajournals.org/doi/10.1161/CIRCGEN.121.003676" TargetMode="External"/><Relationship Id="rId8" Type="http://schemas.openxmlformats.org/officeDocument/2006/relationships/hyperlink" Target="https://pubmed.ncbi.nlm.nih.gov/10811742/" TargetMode="External"/><Relationship Id="rId9" Type="http://schemas.openxmlformats.org/officeDocument/2006/relationships/hyperlink" Target="https://pubmed.ncbi.nlm.nih.gov/22051898/" TargetMode="External"/><Relationship Id="rId10" Type="http://schemas.openxmlformats.org/officeDocument/2006/relationships/hyperlink" Target="https://pubmed.ncbi.nlm.nih.gov/16277719/" TargetMode="External"/><Relationship Id="rId11" Type="http://schemas.openxmlformats.org/officeDocument/2006/relationships/hyperlink" Target="https://pubmed.ncbi.nlm.nih.gov/34339454/" TargetMode="External"/><Relationship Id="rId12" Type="http://schemas.openxmlformats.org/officeDocument/2006/relationships/hyperlink" Target="https://pubmed.ncbi.nlm.nih.gov/23366792/" TargetMode="External"/><Relationship Id="rId13" Type="http://schemas.openxmlformats.org/officeDocument/2006/relationships/hyperlink" Target="https://pubmed.ncbi.nlm.nih.gov/36286406/" TargetMode="External"/><Relationship Id="rId14" Type="http://schemas.openxmlformats.org/officeDocument/2006/relationships/hyperlink" Target="https://pubmed.ncbi.nlm.nih.gov/17940842/" TargetMode="External"/><Relationship Id="rId15" Type="http://schemas.openxmlformats.org/officeDocument/2006/relationships/hyperlink" Target="https://link.springer.com/article/10.1007/s10877-018-0235-z" TargetMode="External"/><Relationship Id="rId16" Type="http://schemas.openxmlformats.org/officeDocument/2006/relationships/hyperlink" Target="https://pubmed.ncbi.nlm.nih.gov/10588217/" TargetMode="External"/><Relationship Id="rId17" Type="http://schemas.openxmlformats.org/officeDocument/2006/relationships/hyperlink" Target="https://pubmed.ncbi.nlm.nih.gov/9719069/" TargetMode="External"/><Relationship Id="rId18" Type="http://schemas.openxmlformats.org/officeDocument/2006/relationships/hyperlink" Target="https://pubmed.ncbi.nlm.nih.gov/8934343/" TargetMode="External"/><Relationship Id="rId19" Type="http://schemas.openxmlformats.org/officeDocument/2006/relationships/hyperlink" Target="https://pubmed.ncbi.nlm.nih.gov/10701816/" TargetMode="External"/><Relationship Id="rId20" Type="http://schemas.openxmlformats.org/officeDocument/2006/relationships/hyperlink" Target="https://pubmed.ncbi.nlm.nih.gov/12473866/" TargetMode="External"/><Relationship Id="rId21" Type="http://schemas.openxmlformats.org/officeDocument/2006/relationships/hyperlink" Target="https://link.springer.com/article/10.1007/s10877-020-00486-y" TargetMode="External"/><Relationship Id="rId22" Type="http://schemas.openxmlformats.org/officeDocument/2006/relationships/hyperlink" Target="https://pubmed.ncbi.nlm.nih.gov/21340639/"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itleFrame"/>
          <p:cNvSpPr/>
          <p:nvPr/>
        </p:nvSpPr>
        <p:spPr>
          <a:xfrm>
            <a:off x="1828800" y="2706624"/>
            <a:ext cx="8531352" cy="822960"/>
          </a:xfrm>
          <a:prstGeom prst="roundRect">
            <a:avLst>
              <a:gd name="adj" fmla="val 8000"/>
            </a:avLst>
          </a:prstGeom>
          <a:noFill/>
          <a:ln w="28575" cap="flat">
            <a:solidFill>
              <a:srgbClr val="44546A"/>
            </a:solidFill>
            <a:round/>
          </a:ln>
        </p:spPr>
        <p:txBody>
          <a:bodyPr rtlCol="0" anchor="ctr"/>
          <a:lstStyle/>
          <a:p>
            <a:endParaRPr lang="ja-JP"/>
          </a:p>
        </p:txBody>
      </p:sp>
      <p:sp>
        <p:nvSpPr>
          <p:cNvPr id="73"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spcAft>
                <a:spcPts val="601"/>
              </a:spcAft>
              <a:buNone/>
            </a:pPr>
            <a:r>
              <a:rPr lang="en-US" sz="4400" b="1" u="none" strike="noStrike">
                <a:solidFill>
                  <a:srgbClr val="262626"/>
                </a:solidFill>
                <a:effectLst/>
                <a:uFillTx/>
                <a:latin typeface="Noto Sans JP"/>
                <a:ea typeface="Noto Sans JP"/>
              </a:rPr>
              <a:t>SpO₂</a:t>
            </a:r>
            <a:r>
              <a:rPr lang="ja-JP" sz="4400" b="1" u="none" strike="noStrike">
                <a:solidFill>
                  <a:srgbClr val="262626"/>
                </a:solidFill>
                <a:effectLst/>
                <a:uFillTx/>
                <a:latin typeface="Noto Sans JP"/>
                <a:ea typeface="Noto Sans JP"/>
              </a:rPr>
              <a:t>（</a:t>
            </a:r>
            <a:r>
              <a:rPr lang="en-US" sz="4400" b="1" u="none" strike="noStrike">
                <a:solidFill>
                  <a:srgbClr val="262626"/>
                </a:solidFill>
                <a:effectLst/>
                <a:uFillTx/>
                <a:latin typeface="Noto Sans JP"/>
                <a:ea typeface="Noto Sans JP"/>
              </a:rPr>
              <a:t>PPG</a:t>
            </a:r>
            <a:r>
              <a:rPr lang="ja-JP" sz="4400" b="1" u="none" strike="noStrike">
                <a:solidFill>
                  <a:srgbClr val="262626"/>
                </a:solidFill>
                <a:effectLst/>
                <a:uFillTx/>
                <a:latin typeface="Noto Sans JP"/>
                <a:ea typeface="Noto Sans JP"/>
              </a:rPr>
              <a:t>）波形解析の流れ</a:t>
            </a:r>
            <a:endParaRPr lang="en-US" sz="4000" b="0" u="none" strike="noStrike">
              <a:solidFill>
                <a:schemeClr val="dk1"/>
              </a:solidFill>
              <a:effectLst/>
              <a:uFillTx/>
              <a:latin typeface="Calibri"/>
            </a:endParaRPr>
          </a:p>
        </p:txBody>
      </p:sp>
      <p:sp>
        <p:nvSpPr>
          <p:cNvPr id="74" name="PlaceHolder 2"/>
          <p:cNvSpPr>
            <a:spLocks noGrp="1"/>
          </p:cNvSpPr>
          <p:nvPr>
            <p:ph type="subTitle"/>
          </p:nvPr>
        </p:nvSpPr>
        <p:spPr>
          <a:xfrm>
            <a:off x="1523880" y="3602160"/>
            <a:ext cx="9143640" cy="1655280"/>
          </a:xfrm>
          <a:prstGeom prst="rect">
            <a:avLst/>
          </a:prstGeom>
          <a:noFill/>
          <a:ln w="0">
            <a:noFill/>
          </a:ln>
        </p:spPr>
        <p:txBody>
          <a:bodyPr lIns="91440" tIns="45720" rIns="91440" bIns="45720" anchor="t">
            <a:normAutofit/>
          </a:bodyPr>
          <a:lstStyle/>
          <a:p>
            <a:pPr indent="0" algn="ctr" defTabSz="914400">
              <a:lnSpc>
                <a:spcPct val="90000"/>
              </a:lnSpc>
              <a:spcBef>
                <a:spcPts val="1001"/>
              </a:spcBef>
              <a:spcAft>
                <a:spcPts val="400"/>
              </a:spcAft>
              <a:buNone/>
              <a:tabLst>
                <a:tab pos="0" algn="l"/>
              </a:tabLst>
            </a:pPr>
            <a:r>
              <a:rPr lang="en-US" sz="2200" b="1" u="none" strike="noStrike">
                <a:solidFill>
                  <a:srgbClr val="262626"/>
                </a:solidFill>
                <a:effectLst/>
                <a:uFillTx/>
                <a:latin typeface="Noto Sans JP"/>
                <a:ea typeface="Noto Sans JP"/>
              </a:rPr>
              <a:t>― 成り立ちから dicrotic notch </a:t>
            </a:r>
            <a:r>
              <a:rPr lang="zh-CN" sz="2200" b="1" u="none" strike="noStrike">
                <a:solidFill>
                  <a:srgbClr val="262626"/>
                </a:solidFill>
                <a:effectLst/>
                <a:uFillTx/>
                <a:latin typeface="Noto Sans JP"/>
                <a:ea typeface="Noto Sans JP"/>
              </a:rPr>
              <a:t>まで ―</a:t>
            </a:r>
            <a:endParaRPr lang="en-US" sz="2200" b="0" u="none" strike="noStrike">
              <a:solidFill>
                <a:schemeClr val="dk1"/>
              </a:solidFill>
              <a:effectLst/>
              <a:uFillTx/>
              <a:latin typeface="Calibri"/>
            </a:endParaRPr>
          </a:p>
          <a:p>
            <a:pPr indent="0" algn="ctr" defTabSz="914400">
              <a:lnSpc>
                <a:spcPct val="90000"/>
              </a:lnSpc>
              <a:spcBef>
                <a:spcPts val="1001"/>
              </a:spcBef>
              <a:spcAft>
                <a:spcPts val="400"/>
              </a:spcAft>
              <a:buNone/>
              <a:tabLst>
                <a:tab pos="0" algn="l"/>
              </a:tabLst>
            </a:pPr>
            <a:endParaRPr lang="en-US" sz="2200" b="0" u="none" strike="noStrike">
              <a:solidFill>
                <a:schemeClr val="dk1"/>
              </a:solidFill>
              <a:effectLst/>
              <a:uFillTx/>
              <a:latin typeface="Calibri"/>
            </a:endParaRPr>
          </a:p>
          <a:p>
            <a:pPr indent="0" algn="ctr" defTabSz="914400">
              <a:lnSpc>
                <a:spcPct val="90000"/>
              </a:lnSpc>
              <a:spcBef>
                <a:spcPts val="1001"/>
              </a:spcBef>
              <a:spcAft>
                <a:spcPts val="400"/>
              </a:spcAft>
              <a:buNone/>
              <a:tabLst>
                <a:tab pos="0" algn="l"/>
              </a:tabLst>
            </a:pPr>
            <a:r>
              <a:rPr lang="zh-CN" sz="2200" b="0" u="none" strike="noStrike">
                <a:solidFill>
                  <a:srgbClr val="262626"/>
                </a:solidFill>
                <a:effectLst/>
                <a:uFillTx/>
                <a:latin typeface="Noto Sans JP"/>
                <a:ea typeface="Noto Sans JP"/>
              </a:rPr>
              <a:t>川副 靖晃</a:t>
            </a:r>
            <a:endParaRPr lang="en-US" sz="2200" b="0" u="none" strike="noStrike">
              <a:solidFill>
                <a:schemeClr val="dk1"/>
              </a:solidFill>
              <a:effectLst/>
              <a:uFillTx/>
              <a:latin typeface="Calibri"/>
            </a:endParaRPr>
          </a:p>
        </p:txBody>
      </p:sp>
      <p:pic>
        <p:nvPicPr>
          <p:cNvPr id="75" name="Picture 3" descr="01_hero.png"/>
          <p:cNvPicPr/>
          <p:nvPr/>
        </p:nvPicPr>
        <p:blipFill>
          <a:blip r:embed="rId3"/>
          <a:stretch/>
        </p:blipFill>
        <p:spPr>
          <a:xfrm>
            <a:off x="4744080" y="5580000"/>
            <a:ext cx="2679120" cy="1043640"/>
          </a:xfrm>
          <a:prstGeom prst="rect">
            <a:avLst/>
          </a:prstGeom>
          <a:noFill/>
          <a:ln w="0">
            <a:noFill/>
          </a:ln>
        </p:spPr>
      </p:pic>
      <p:sp>
        <p:nvSpPr>
          <p:cNvPr id="76" name="TextBox 4"/>
          <p:cNvSpPr/>
          <p:nvPr/>
        </p:nvSpPr>
        <p:spPr>
          <a:xfrm>
            <a:off x="567000" y="64465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rPr>
              <a:t>PPG</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photoplethysmography</a:t>
            </a:r>
            <a:r>
              <a:rPr lang="ja-JP" sz="1050" b="0" u="none" strike="noStrike">
                <a:solidFill>
                  <a:srgbClr val="808080"/>
                </a:solidFill>
                <a:effectLst/>
                <a:uFillTx/>
                <a:latin typeface="Noto Sans JP"/>
                <a:ea typeface="Noto Sans JP"/>
              </a:rPr>
              <a:t>（光電容積脈波）　／　</a:t>
            </a:r>
            <a:r>
              <a:rPr lang="en-US" sz="1050" b="0" u="none" strike="noStrike">
                <a:solidFill>
                  <a:srgbClr val="808080"/>
                </a:solidFill>
                <a:effectLst/>
                <a:uFillTx/>
                <a:latin typeface="Noto Sans JP"/>
                <a:ea typeface="Noto Sans JP"/>
              </a:rPr>
              <a:t>SpO₂</a:t>
            </a:r>
            <a:r>
              <a:rPr lang="ja-JP" sz="1050" b="0" u="none" strike="noStrike">
                <a:solidFill>
                  <a:srgbClr val="808080"/>
                </a:solidFill>
                <a:effectLst/>
                <a:uFillTx/>
                <a:latin typeface="Noto Sans JP"/>
                <a:ea typeface="Noto Sans JP"/>
              </a:rPr>
              <a:t>：経皮的動脈血酸素飽和度　／　</a:t>
            </a:r>
            <a:r>
              <a:rPr lang="en-US" sz="1050" b="0" u="none" strike="noStrike">
                <a:solidFill>
                  <a:srgbClr val="808080"/>
                </a:solidFill>
                <a:effectLst/>
                <a:uFillTx/>
                <a:latin typeface="Noto Sans JP"/>
                <a:ea typeface="Noto Sans JP"/>
              </a:rPr>
              <a:t>dicrotic notch</a:t>
            </a:r>
            <a:r>
              <a:rPr lang="ja-JP" sz="1050" b="0" u="none" strike="noStrike">
                <a:solidFill>
                  <a:srgbClr val="808080"/>
                </a:solidFill>
                <a:effectLst/>
                <a:uFillTx/>
                <a:latin typeface="Noto Sans JP"/>
                <a:ea typeface="Noto Sans JP"/>
              </a:rPr>
              <a:t>：重複切痕</a:t>
            </a:r>
            <a:endParaRPr lang="en-US" sz="105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itleFrame"/>
          <p:cNvSpPr/>
          <p:nvPr/>
        </p:nvSpPr>
        <p:spPr>
          <a:xfrm>
            <a:off x="655200" y="603504"/>
            <a:ext cx="2962656" cy="804672"/>
          </a:xfrm>
          <a:prstGeom prst="roundRect">
            <a:avLst>
              <a:gd name="adj" fmla="val 8000"/>
            </a:avLst>
          </a:prstGeom>
          <a:noFill/>
          <a:ln w="28575" cap="flat">
            <a:solidFill>
              <a:srgbClr val="44546A"/>
            </a:solidFill>
            <a:round/>
          </a:ln>
        </p:spPr>
        <p:txBody>
          <a:bodyPr rtlCol="0" anchor="ctr"/>
          <a:lstStyle/>
          <a:p>
            <a:endParaRPr lang="ja-JP"/>
          </a:p>
        </p:txBody>
      </p:sp>
      <p:sp>
        <p:nvSpPr>
          <p:cNvPr id="7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ja-JP" sz="4400" b="1" u="none" strike="noStrike">
                <a:ln w="19050">
                  <a:solidFill>
                    <a:srgbClr val="000000"/>
                  </a:solidFill>
                </a:ln>
                <a:solidFill>
                  <a:schemeClr val="accent4">
                    <a:lumMod val="75000"/>
                  </a:schemeClr>
                </a:solidFill>
                <a:effectLst/>
                <a:uFillTx/>
                <a:latin typeface="Noto Sans JP"/>
                <a:ea typeface="Noto Sans JP"/>
              </a:rPr>
              <a:t>メニュー</a:t>
            </a:r>
            <a:endParaRPr lang="en-US" sz="4600" b="1" u="none" strike="noStrike">
              <a:ln w="19050">
                <a:solidFill>
                  <a:srgbClr val="000000"/>
                </a:solidFill>
              </a:ln>
              <a:solidFill>
                <a:schemeClr val="accent4">
                  <a:lumMod val="75000"/>
                </a:schemeClr>
              </a:solidFill>
              <a:effectLst/>
              <a:uFillTx/>
              <a:latin typeface="Calibri"/>
            </a:endParaRPr>
          </a:p>
        </p:txBody>
      </p:sp>
      <p:sp>
        <p:nvSpPr>
          <p:cNvPr id="7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7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8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8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8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8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8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85" name="TextBox 7"/>
          <p:cNvSpPr/>
          <p:nvPr/>
        </p:nvSpPr>
        <p:spPr>
          <a:xfrm>
            <a:off x="936000" y="2113920"/>
            <a:ext cx="10439640" cy="382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28000"/>
              </a:lnSpc>
              <a:spcAft>
                <a:spcPts val="649"/>
              </a:spcAft>
            </a:pPr>
            <a:r>
              <a:rPr lang="en-US" sz="2400" b="1" u="none" strike="noStrike">
                <a:solidFill>
                  <a:srgbClr val="BF9000"/>
                </a:solidFill>
                <a:effectLst/>
                <a:uFillTx/>
                <a:latin typeface="Noto Sans JP"/>
                <a:ea typeface="Noto Sans JP"/>
              </a:rPr>
              <a:t>1.</a:t>
            </a:r>
            <a:r>
              <a:rPr lang="ja-JP" sz="2400" b="1" u="none" strike="noStrike">
                <a:solidFill>
                  <a:srgbClr val="BF9000"/>
                </a:solidFill>
                <a:effectLst/>
                <a:uFillTx/>
                <a:latin typeface="Noto Sans JP"/>
                <a:ea typeface="Noto Sans JP"/>
              </a:rPr>
              <a:t>　</a:t>
            </a:r>
            <a:r>
              <a:rPr lang="ja-JP" sz="2400" b="1" u="none" strike="noStrike">
                <a:solidFill>
                  <a:srgbClr val="262626"/>
                </a:solidFill>
                <a:effectLst/>
                <a:uFillTx/>
                <a:latin typeface="Noto Sans JP"/>
                <a:ea typeface="Noto Sans JP"/>
              </a:rPr>
              <a:t>基礎：</a:t>
            </a:r>
            <a:r>
              <a:rPr lang="en-US" sz="2400" b="1" u="none" strike="noStrike">
                <a:solidFill>
                  <a:srgbClr val="262626"/>
                </a:solidFill>
                <a:effectLst/>
                <a:uFillTx/>
                <a:latin typeface="Noto Sans JP"/>
                <a:ea typeface="Noto Sans JP"/>
              </a:rPr>
              <a:t>PPG</a:t>
            </a:r>
            <a:r>
              <a:rPr lang="ja-JP" sz="2400" b="1" u="none" strike="noStrike">
                <a:solidFill>
                  <a:srgbClr val="262626"/>
                </a:solidFill>
                <a:effectLst/>
                <a:uFillTx/>
                <a:latin typeface="Noto Sans JP"/>
                <a:ea typeface="Noto Sans JP"/>
              </a:rPr>
              <a:t>の成り立ちと反射波の土台</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Noto Sans JP"/>
                <a:ea typeface="Noto Sans JP"/>
              </a:rPr>
              <a:t>2.</a:t>
            </a:r>
            <a:r>
              <a:rPr lang="ja-JP" sz="2400" b="1" u="none" strike="noStrike">
                <a:solidFill>
                  <a:srgbClr val="BF9000"/>
                </a:solidFill>
                <a:effectLst/>
                <a:uFillTx/>
                <a:latin typeface="Noto Sans JP"/>
                <a:ea typeface="Noto Sans JP"/>
              </a:rPr>
              <a:t>　</a:t>
            </a:r>
            <a:r>
              <a:rPr lang="ja-JP" sz="2400" b="1" u="none" strike="noStrike">
                <a:solidFill>
                  <a:schemeClr val="dk1"/>
                </a:solidFill>
                <a:effectLst/>
                <a:uFillTx/>
                <a:latin typeface="Noto Sans JP"/>
                <a:ea typeface="Noto Sans JP"/>
              </a:rPr>
              <a:t>波形への影響：加齢</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Noto Sans JP"/>
                <a:ea typeface="Noto Sans JP"/>
              </a:rPr>
              <a:t>3.</a:t>
            </a:r>
            <a:r>
              <a:rPr lang="ja-JP" sz="2400" b="1" u="none" strike="noStrike">
                <a:solidFill>
                  <a:srgbClr val="BF9000"/>
                </a:solidFill>
                <a:effectLst/>
                <a:uFillTx/>
                <a:latin typeface="Noto Sans JP"/>
                <a:ea typeface="Noto Sans JP"/>
              </a:rPr>
              <a:t>　</a:t>
            </a:r>
            <a:r>
              <a:rPr lang="ja-JP" sz="2400" b="1" u="none" strike="noStrike">
                <a:solidFill>
                  <a:srgbClr val="262626"/>
                </a:solidFill>
                <a:effectLst/>
                <a:uFillTx/>
                <a:latin typeface="Noto Sans JP"/>
                <a:ea typeface="Noto Sans JP"/>
              </a:rPr>
              <a:t>波形への影響：循環</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Noto Sans JP"/>
                <a:ea typeface="Noto Sans JP"/>
              </a:rPr>
              <a:t>4.</a:t>
            </a:r>
            <a:r>
              <a:rPr lang="ja-JP" sz="2400" b="1" u="none" strike="noStrike">
                <a:solidFill>
                  <a:srgbClr val="BF9000"/>
                </a:solidFill>
                <a:effectLst/>
                <a:uFillTx/>
                <a:latin typeface="Noto Sans JP"/>
                <a:ea typeface="Noto Sans JP"/>
              </a:rPr>
              <a:t>　</a:t>
            </a:r>
            <a:r>
              <a:rPr lang="ja-JP" sz="2400" b="1" u="none" strike="noStrike">
                <a:solidFill>
                  <a:srgbClr val="262626"/>
                </a:solidFill>
                <a:effectLst/>
                <a:uFillTx/>
                <a:latin typeface="Noto Sans JP"/>
                <a:ea typeface="Noto Sans JP"/>
              </a:rPr>
              <a:t>波形の定量化</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Noto Sans JP"/>
                <a:ea typeface="Noto Sans JP"/>
              </a:rPr>
              <a:t>5.</a:t>
            </a:r>
            <a:r>
              <a:rPr lang="ja-JP" sz="2400" b="1" u="none" strike="noStrike">
                <a:solidFill>
                  <a:srgbClr val="BF9000"/>
                </a:solidFill>
                <a:effectLst/>
                <a:uFillTx/>
                <a:latin typeface="Noto Sans JP"/>
                <a:ea typeface="Noto Sans JP"/>
              </a:rPr>
              <a:t>　</a:t>
            </a:r>
            <a:r>
              <a:rPr lang="en-US" sz="2400" b="1" u="none" strike="noStrike">
                <a:solidFill>
                  <a:srgbClr val="262626"/>
                </a:solidFill>
                <a:effectLst/>
                <a:uFillTx/>
                <a:latin typeface="Noto Sans JP"/>
                <a:ea typeface="Noto Sans JP"/>
              </a:rPr>
              <a:t>SpO₂</a:t>
            </a:r>
            <a:r>
              <a:rPr lang="ja-JP" sz="2400" b="1" u="none" strike="noStrike">
                <a:solidFill>
                  <a:srgbClr val="262626"/>
                </a:solidFill>
                <a:effectLst/>
                <a:uFillTx/>
                <a:latin typeface="Noto Sans JP"/>
                <a:ea typeface="Noto Sans JP"/>
              </a:rPr>
              <a:t>波形解析まとめ</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Noto Sans JP"/>
                <a:ea typeface="Noto Sans JP"/>
              </a:rPr>
              <a:t>6.</a:t>
            </a:r>
            <a:r>
              <a:rPr lang="ja-JP" sz="2400" b="1" u="none" strike="noStrike">
                <a:solidFill>
                  <a:srgbClr val="BF9000"/>
                </a:solidFill>
                <a:effectLst/>
                <a:uFillTx/>
                <a:latin typeface="Noto Sans JP"/>
                <a:ea typeface="Noto Sans JP"/>
              </a:rPr>
              <a:t>　</a:t>
            </a:r>
            <a:r>
              <a:rPr lang="ja-JP" sz="2400" b="1" u="none" strike="noStrike">
                <a:solidFill>
                  <a:srgbClr val="262626"/>
                </a:solidFill>
                <a:effectLst/>
                <a:uFillTx/>
                <a:latin typeface="Noto Sans JP"/>
                <a:ea typeface="Noto Sans JP"/>
              </a:rPr>
              <a:t>限界</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Noto Sans JP"/>
                <a:ea typeface="Noto Sans JP"/>
              </a:rPr>
              <a:t>7.</a:t>
            </a:r>
            <a:r>
              <a:rPr lang="ja-JP" sz="2400" b="1" u="none" strike="noStrike">
                <a:solidFill>
                  <a:srgbClr val="BF9000"/>
                </a:solidFill>
                <a:effectLst/>
                <a:uFillTx/>
                <a:latin typeface="Noto Sans JP"/>
                <a:ea typeface="Noto Sans JP"/>
              </a:rPr>
              <a:t>　</a:t>
            </a:r>
            <a:r>
              <a:rPr lang="en-US" sz="2400" b="1" u="none" strike="noStrike">
                <a:solidFill>
                  <a:srgbClr val="262626"/>
                </a:solidFill>
                <a:effectLst/>
                <a:uFillTx/>
                <a:latin typeface="Noto Sans JP"/>
                <a:ea typeface="Noto Sans JP"/>
              </a:rPr>
              <a:t>esCCO</a:t>
            </a:r>
            <a:r>
              <a:rPr lang="ja-JP" sz="2400" b="1" u="none" strike="noStrike">
                <a:solidFill>
                  <a:srgbClr val="262626"/>
                </a:solidFill>
                <a:effectLst/>
                <a:uFillTx/>
                <a:latin typeface="Noto Sans JP"/>
                <a:ea typeface="Noto Sans JP"/>
              </a:rPr>
              <a:t>精度改善案</a:t>
            </a:r>
            <a:endParaRPr lang="en-US" sz="2400" b="0" u="none" strike="noStrike">
              <a:solidFill>
                <a:srgbClr val="000000"/>
              </a:solidFill>
              <a:effectLst/>
              <a:uFillTx/>
              <a:latin typeface="Arial"/>
            </a:endParaRPr>
          </a:p>
        </p:txBody>
      </p:sp>
      <p:sp>
        <p:nvSpPr>
          <p:cNvPr id="86"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2/47</a:t>
            </a:r>
            <a:endParaRPr lang="en-US" sz="12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itleFrame"/>
          <p:cNvSpPr/>
          <p:nvPr/>
        </p:nvSpPr>
        <p:spPr>
          <a:xfrm>
            <a:off x="655200" y="603504"/>
            <a:ext cx="2798064" cy="804672"/>
          </a:xfrm>
          <a:prstGeom prst="roundRect">
            <a:avLst>
              <a:gd name="adj" fmla="val 8000"/>
            </a:avLst>
          </a:prstGeom>
          <a:noFill/>
          <a:ln w="28575" cap="flat">
            <a:solidFill>
              <a:srgbClr val="44546A"/>
            </a:solidFill>
            <a:round/>
          </a:ln>
        </p:spPr>
        <p:txBody>
          <a:bodyPr rtlCol="0" anchor="ctr"/>
          <a:lstStyle/>
          <a:p>
            <a:endParaRPr lang="ja-JP"/>
          </a:p>
        </p:txBody>
      </p:sp>
      <p:sp>
        <p:nvSpPr>
          <p:cNvPr id="8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1. </a:t>
            </a:r>
            <a:r>
              <a:rPr lang="ja-JP" sz="4400" b="1" u="none" strike="noStrike">
                <a:ln w="19050">
                  <a:solidFill>
                    <a:srgbClr val="000000"/>
                  </a:solidFill>
                </a:ln>
                <a:solidFill>
                  <a:schemeClr val="accent4">
                    <a:lumMod val="75000"/>
                  </a:schemeClr>
                </a:solidFill>
                <a:effectLst/>
                <a:uFillTx/>
                <a:latin typeface="Noto Sans JP"/>
                <a:ea typeface="Noto Sans JP"/>
              </a:rPr>
              <a:t>基礎</a:t>
            </a:r>
            <a:endParaRPr lang="en-US" sz="4600" b="1" u="none" strike="noStrike">
              <a:ln w="19050">
                <a:solidFill>
                  <a:srgbClr val="000000"/>
                </a:solidFill>
              </a:ln>
              <a:solidFill>
                <a:schemeClr val="accent4">
                  <a:lumMod val="75000"/>
                </a:schemeClr>
              </a:solidFill>
              <a:effectLst/>
              <a:uFillTx/>
              <a:latin typeface="Calibri"/>
            </a:endParaRPr>
          </a:p>
        </p:txBody>
      </p:sp>
      <p:sp>
        <p:nvSpPr>
          <p:cNvPr id="88" name="Off-page Connector 2"/>
          <p:cNvSpPr/>
          <p:nvPr/>
        </p:nvSpPr>
        <p:spPr>
          <a:xfrm>
            <a:off x="755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1</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基礎</a:t>
            </a:r>
            <a:endParaRPr lang="en-US" sz="1050" b="0" u="none" strike="noStrike">
              <a:solidFill>
                <a:srgbClr val="FFFFFF"/>
              </a:solidFill>
              <a:effectLst/>
              <a:uFillTx/>
              <a:latin typeface="Arial"/>
            </a:endParaRPr>
          </a:p>
        </p:txBody>
      </p:sp>
      <p:sp>
        <p:nvSpPr>
          <p:cNvPr id="8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9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9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9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9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9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95"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600" b="1" u="none" strike="noStrike">
                <a:solidFill>
                  <a:srgbClr val="BF9000"/>
                </a:solidFill>
                <a:effectLst/>
                <a:uFillTx/>
                <a:latin typeface="Noto Sans JP"/>
                <a:ea typeface="Noto Sans JP"/>
              </a:rPr>
              <a:t>1. </a:t>
            </a:r>
            <a:r>
              <a:rPr lang="ja-JP" sz="2600" b="1" u="none" strike="noStrike">
                <a:solidFill>
                  <a:srgbClr val="262626"/>
                </a:solidFill>
                <a:effectLst/>
                <a:uFillTx/>
                <a:latin typeface="Noto Sans JP"/>
                <a:ea typeface="Noto Sans JP"/>
              </a:rPr>
              <a:t>基礎：</a:t>
            </a:r>
            <a:r>
              <a:rPr lang="en-US" sz="2600" b="1" u="none" strike="noStrike">
                <a:solidFill>
                  <a:srgbClr val="262626"/>
                </a:solidFill>
                <a:effectLst/>
                <a:uFillTx/>
                <a:latin typeface="Noto Sans JP"/>
                <a:ea typeface="Noto Sans JP"/>
              </a:rPr>
              <a:t>PPG</a:t>
            </a:r>
            <a:r>
              <a:rPr lang="ja-JP" sz="2600" b="1" u="none" strike="noStrike">
                <a:solidFill>
                  <a:srgbClr val="262626"/>
                </a:solidFill>
                <a:effectLst/>
                <a:uFillTx/>
                <a:latin typeface="Noto Sans JP"/>
                <a:ea typeface="Noto Sans JP"/>
              </a:rPr>
              <a:t>の成り立ちと反射波の土台</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Noto Sans JP"/>
                <a:ea typeface="Noto Sans JP"/>
              </a:rPr>
              <a:t>1.1</a:t>
            </a:r>
            <a:r>
              <a:rPr lang="ja-JP" sz="2200" b="1" u="none" strike="noStrike">
                <a:solidFill>
                  <a:srgbClr val="BF9000"/>
                </a:solidFill>
                <a:effectLst/>
                <a:uFillTx/>
                <a:latin typeface="Noto Sans JP"/>
                <a:ea typeface="Noto Sans JP"/>
              </a:rPr>
              <a:t>　</a:t>
            </a:r>
            <a:r>
              <a:rPr lang="en-US" sz="2200" b="1" u="none" strike="noStrike">
                <a:solidFill>
                  <a:srgbClr val="262626"/>
                </a:solidFill>
                <a:effectLst/>
                <a:uFillTx/>
                <a:latin typeface="Noto Sans JP"/>
                <a:ea typeface="Noto Sans JP"/>
              </a:rPr>
              <a:t>PPG</a:t>
            </a:r>
            <a:r>
              <a:rPr lang="ja-JP" sz="2200" b="1" u="none" strike="noStrike">
                <a:solidFill>
                  <a:srgbClr val="262626"/>
                </a:solidFill>
                <a:effectLst/>
                <a:uFillTx/>
                <a:latin typeface="Noto Sans JP"/>
                <a:ea typeface="Noto Sans JP"/>
              </a:rPr>
              <a:t>＝容積信号</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Noto Sans JP"/>
                <a:ea typeface="Noto Sans JP"/>
              </a:rPr>
              <a:t>1.2</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前進波＋反射波</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2. </a:t>
            </a:r>
            <a:r>
              <a:rPr lang="ja-JP" sz="2400" b="0" u="none" strike="noStrike">
                <a:solidFill>
                  <a:srgbClr val="D9D9D9"/>
                </a:solidFill>
                <a:effectLst/>
                <a:uFillTx/>
                <a:latin typeface="Noto Sans JP"/>
                <a:ea typeface="Noto Sans JP"/>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3. </a:t>
            </a:r>
            <a:r>
              <a:rPr lang="ja-JP" sz="2400" b="0" u="none" strike="noStrike">
                <a:solidFill>
                  <a:srgbClr val="D9D9D9"/>
                </a:solidFill>
                <a:effectLst/>
                <a:uFillTx/>
                <a:latin typeface="Noto Sans JP"/>
                <a:ea typeface="Noto Sans JP"/>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4. </a:t>
            </a:r>
            <a:r>
              <a:rPr lang="ja-JP" sz="2400" b="0" u="none" strike="noStrike">
                <a:solidFill>
                  <a:srgbClr val="D9D9D9"/>
                </a:solidFill>
                <a:effectLst/>
                <a:uFillTx/>
                <a:latin typeface="Noto Sans JP"/>
                <a:ea typeface="Noto Sans JP"/>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5. </a:t>
            </a:r>
            <a:r>
              <a:rPr lang="en-US" sz="2400" b="0" u="none" strike="noStrike">
                <a:solidFill>
                  <a:srgbClr val="D9D9D9"/>
                </a:solidFill>
                <a:effectLst/>
                <a:uFillTx/>
                <a:latin typeface="Noto Sans JP"/>
                <a:ea typeface="Noto Sans JP"/>
              </a:rPr>
              <a:t>SpO₂</a:t>
            </a:r>
            <a:r>
              <a:rPr lang="ja-JP" sz="2400" b="0" u="none" strike="noStrike">
                <a:solidFill>
                  <a:srgbClr val="D9D9D9"/>
                </a:solidFill>
                <a:effectLst/>
                <a:uFillTx/>
                <a:latin typeface="Noto Sans JP"/>
                <a:ea typeface="Noto Sans JP"/>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6. </a:t>
            </a:r>
            <a:r>
              <a:rPr lang="ja-JP" sz="2400" b="0" u="none" strike="noStrike">
                <a:solidFill>
                  <a:srgbClr val="D9D9D9"/>
                </a:solidFill>
                <a:effectLst/>
                <a:uFillTx/>
                <a:latin typeface="Noto Sans JP"/>
                <a:ea typeface="Noto Sans JP"/>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7. </a:t>
            </a:r>
            <a:r>
              <a:rPr lang="en-US" sz="2400" b="0" u="none" strike="noStrike">
                <a:solidFill>
                  <a:srgbClr val="D9D9D9"/>
                </a:solidFill>
                <a:effectLst/>
                <a:uFillTx/>
                <a:latin typeface="Noto Sans JP"/>
                <a:ea typeface="Noto Sans JP"/>
              </a:rPr>
              <a:t>esCCO</a:t>
            </a:r>
            <a:r>
              <a:rPr lang="ja-JP" sz="2400" b="0" u="none" strike="noStrike">
                <a:solidFill>
                  <a:srgbClr val="D9D9D9"/>
                </a:solidFill>
                <a:effectLst/>
                <a:uFillTx/>
                <a:latin typeface="Noto Sans JP"/>
                <a:ea typeface="Noto Sans JP"/>
              </a:rPr>
              <a:t>精度改善案</a:t>
            </a:r>
            <a:endParaRPr lang="en-US" sz="2400" b="0" u="none" strike="noStrike">
              <a:solidFill>
                <a:srgbClr val="000000"/>
              </a:solidFill>
              <a:effectLst/>
              <a:uFillTx/>
              <a:latin typeface="Arial"/>
            </a:endParaRPr>
          </a:p>
        </p:txBody>
      </p:sp>
      <p:sp>
        <p:nvSpPr>
          <p:cNvPr id="96"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3/47</a:t>
            </a:r>
            <a:endParaRPr lang="en-US" sz="12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Frame"/>
          <p:cNvSpPr/>
          <p:nvPr/>
        </p:nvSpPr>
        <p:spPr>
          <a:xfrm>
            <a:off x="655200" y="603504"/>
            <a:ext cx="6345936" cy="804672"/>
          </a:xfrm>
          <a:prstGeom prst="roundRect">
            <a:avLst>
              <a:gd name="adj" fmla="val 8000"/>
            </a:avLst>
          </a:prstGeom>
          <a:noFill/>
          <a:ln w="28575" cap="flat">
            <a:solidFill>
              <a:srgbClr val="44546A"/>
            </a:solidFill>
            <a:round/>
          </a:ln>
        </p:spPr>
        <p:txBody>
          <a:bodyPr rtlCol="0" anchor="ctr"/>
          <a:lstStyle/>
          <a:p>
            <a:endParaRPr lang="ja-JP"/>
          </a:p>
        </p:txBody>
      </p:sp>
      <p:sp>
        <p:nvSpPr>
          <p:cNvPr id="9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1.1  PPG</a:t>
            </a:r>
            <a:r>
              <a:rPr lang="ja-JP" sz="4400" b="1" u="none" strike="noStrike">
                <a:ln w="19050">
                  <a:solidFill>
                    <a:srgbClr val="000000"/>
                  </a:solidFill>
                </a:ln>
                <a:solidFill>
                  <a:schemeClr val="accent4">
                    <a:lumMod val="75000"/>
                  </a:schemeClr>
                </a:solidFill>
                <a:effectLst/>
                <a:uFillTx/>
                <a:latin typeface="Noto Sans JP"/>
                <a:ea typeface="Noto Sans JP"/>
              </a:rPr>
              <a:t>＝容積信号</a:t>
            </a:r>
            <a:endParaRPr lang="en-US" sz="4600" b="1" u="none" strike="noStrike">
              <a:ln w="19050">
                <a:solidFill>
                  <a:srgbClr val="000000"/>
                </a:solidFill>
              </a:ln>
              <a:solidFill>
                <a:schemeClr val="accent4">
                  <a:lumMod val="75000"/>
                </a:schemeClr>
              </a:solidFill>
              <a:effectLst/>
              <a:uFillTx/>
              <a:latin typeface="Calibri"/>
            </a:endParaRPr>
          </a:p>
        </p:txBody>
      </p:sp>
      <p:sp>
        <p:nvSpPr>
          <p:cNvPr id="98" name="Off-page Connector 2"/>
          <p:cNvSpPr/>
          <p:nvPr/>
        </p:nvSpPr>
        <p:spPr>
          <a:xfrm>
            <a:off x="755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1</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基礎</a:t>
            </a:r>
            <a:endParaRPr lang="en-US" sz="1050" b="0" u="none" strike="noStrike">
              <a:solidFill>
                <a:srgbClr val="FFFFFF"/>
              </a:solidFill>
              <a:effectLst/>
              <a:uFillTx/>
              <a:latin typeface="Arial"/>
            </a:endParaRPr>
          </a:p>
        </p:txBody>
      </p:sp>
      <p:sp>
        <p:nvSpPr>
          <p:cNvPr id="9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10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10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10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10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10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10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2"/>
              </a:rPr>
              <a:t>1. Allen 2007</a:t>
            </a:r>
            <a:endParaRPr lang="en-US" sz="1050" b="0" u="none" strike="noStrike">
              <a:solidFill>
                <a:srgbClr val="000000"/>
              </a:solidFill>
              <a:effectLst/>
              <a:uFillTx/>
              <a:latin typeface="Arial"/>
            </a:endParaRPr>
          </a:p>
        </p:txBody>
      </p:sp>
      <p:pic>
        <p:nvPicPr>
          <p:cNvPr id="106" name="Picture 8" descr="02_acdc.png"/>
          <p:cNvPicPr/>
          <p:nvPr/>
        </p:nvPicPr>
        <p:blipFill>
          <a:blip r:embed="rId3"/>
          <a:stretch/>
        </p:blipFill>
        <p:spPr>
          <a:xfrm>
            <a:off x="2324160" y="1800000"/>
            <a:ext cx="7519320" cy="4319640"/>
          </a:xfrm>
          <a:prstGeom prst="rect">
            <a:avLst/>
          </a:prstGeom>
          <a:noFill/>
          <a:ln w="0">
            <a:noFill/>
          </a:ln>
        </p:spPr>
      </p:pic>
      <p:sp>
        <p:nvSpPr>
          <p:cNvPr id="10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4/47</a:t>
            </a:r>
            <a:endParaRPr lang="en-US" sz="1200" b="0" u="none" strike="noStrike">
              <a:solidFill>
                <a:srgbClr val="000000"/>
              </a:solidFill>
              <a:effectLst/>
              <a:uFillTx/>
              <a:latin typeface="Arial"/>
            </a:endParaRPr>
          </a:p>
        </p:txBody>
      </p:sp>
      <p:sp>
        <p:nvSpPr>
          <p:cNvPr id="108" name="pibox"/>
          <p:cNvSpPr/>
          <p:nvPr/>
        </p:nvSpPr>
        <p:spPr>
          <a:xfrm>
            <a:off x="6234480" y="2037600"/>
            <a:ext cx="3157920" cy="496440"/>
          </a:xfrm>
          <a:prstGeom prst="roundRect">
            <a:avLst>
              <a:gd name="adj" fmla="val 25000"/>
            </a:avLst>
          </a:prstGeom>
          <a:solidFill>
            <a:srgbClr val="F2E2B3"/>
          </a:solidFill>
          <a:ln w="15875">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62626"/>
                </a:solidFill>
                <a:effectLst/>
                <a:uFillTx/>
                <a:latin typeface="Noto Sans JP"/>
                <a:ea typeface="Noto Sans JP"/>
              </a:rPr>
              <a:t>PI = AC / DC</a:t>
            </a:r>
            <a:endParaRPr lang="en-US" sz="1800" b="0" u="none" strike="noStrike">
              <a:solidFill>
                <a:srgbClr val="000000"/>
              </a:solidFill>
              <a:effectLst/>
              <a:uFillTx/>
              <a:latin typeface="Arial"/>
            </a:endParaRPr>
          </a:p>
        </p:txBody>
      </p:sp>
      <p:sp>
        <p:nvSpPr>
          <p:cNvPr id="109" name="pisub"/>
          <p:cNvSpPr/>
          <p:nvPr/>
        </p:nvSpPr>
        <p:spPr>
          <a:xfrm>
            <a:off x="6084000" y="2599200"/>
            <a:ext cx="3458520" cy="258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1250" b="0" u="none" strike="noStrike">
                <a:solidFill>
                  <a:srgbClr val="8C8C8C"/>
                </a:solidFill>
                <a:effectLst/>
                <a:uFillTx/>
                <a:latin typeface="Noto Sans JP"/>
                <a:ea typeface="Noto Sans JP"/>
              </a:rPr>
              <a:t>灌流指数＝末梢灌流・血管トーヌス</a:t>
            </a:r>
            <a:endParaRPr lang="en-US" sz="1250" b="0" u="none" strike="noStrike">
              <a:solidFill>
                <a:srgbClr val="000000"/>
              </a:solidFill>
              <a:effectLst/>
              <a:uFillTx/>
              <a:latin typeface="Arial"/>
            </a:endParaRPr>
          </a:p>
        </p:txBody>
      </p:sp>
      <p:sp>
        <p:nvSpPr>
          <p:cNvPr id="110" name="ac"/>
          <p:cNvSpPr/>
          <p:nvPr/>
        </p:nvSpPr>
        <p:spPr>
          <a:xfrm>
            <a:off x="4762800" y="3825000"/>
            <a:ext cx="2354400" cy="51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en-US" sz="2200" b="1" u="none" strike="noStrike">
                <a:solidFill>
                  <a:srgbClr val="BF9000"/>
                </a:solidFill>
                <a:effectLst/>
                <a:uFillTx/>
                <a:latin typeface="Noto Sans JP"/>
                <a:ea typeface="Noto Sans JP"/>
              </a:rPr>
              <a:t>AC</a:t>
            </a:r>
            <a:r>
              <a:rPr lang="ja-JP" sz="2200" b="1" u="none" strike="noStrike">
                <a:solidFill>
                  <a:srgbClr val="BF9000"/>
                </a:solidFill>
                <a:effectLst/>
                <a:uFillTx/>
                <a:latin typeface="Noto Sans JP"/>
                <a:ea typeface="Noto Sans JP"/>
              </a:rPr>
              <a:t>拍動成分</a:t>
            </a:r>
            <a:endParaRPr lang="en-US" sz="2000" b="0" u="none" strike="noStrike">
              <a:solidFill>
                <a:srgbClr val="000000"/>
              </a:solidFill>
              <a:effectLst/>
              <a:uFillTx/>
              <a:latin typeface="Arial"/>
            </a:endParaRPr>
          </a:p>
        </p:txBody>
      </p:sp>
      <p:sp>
        <p:nvSpPr>
          <p:cNvPr id="111" name="dcbox"/>
          <p:cNvSpPr/>
          <p:nvPr/>
        </p:nvSpPr>
        <p:spPr>
          <a:xfrm>
            <a:off x="3076200" y="4586400"/>
            <a:ext cx="6643488" cy="1187640"/>
          </a:xfrm>
          <a:prstGeom prst="rect">
            <a:avLst/>
          </a:prstGeom>
          <a:solidFill>
            <a:srgbClr val="BDD7EE"/>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E75B6"/>
                </a:solidFill>
                <a:effectLst/>
                <a:uFillTx/>
                <a:latin typeface="Noto Sans JP"/>
                <a:ea typeface="Noto Sans JP"/>
              </a:rPr>
              <a:t>DC </a:t>
            </a:r>
            <a:endParaRPr lang="en-US" sz="2000" b="0" u="none" strike="noStrike">
              <a:solidFill>
                <a:srgbClr val="000000"/>
              </a:solidFill>
              <a:effectLst/>
              <a:uFillTx/>
              <a:latin typeface="Arial"/>
            </a:endParaRPr>
          </a:p>
          <a:p>
            <a:pPr algn="ctr" defTabSz="914400">
              <a:lnSpc>
                <a:spcPct val="100000"/>
              </a:lnSpc>
            </a:pPr>
            <a:endParaRPr lang="en-US" sz="2000" b="0" u="none" strike="noStrike">
              <a:solidFill>
                <a:srgbClr val="000000"/>
              </a:solidFill>
              <a:effectLst/>
              <a:uFillTx/>
              <a:latin typeface="Arial"/>
            </a:endParaRPr>
            <a:r>
              <a:rPr lang="ja-JP" sz="2200" b="1" u="none" strike="noStrike">
                <a:solidFill>
                  <a:srgbClr val="2E75B6"/>
                </a:solidFill>
                <a:effectLst/>
                <a:uFillTx/>
                <a:latin typeface="Noto Sans JP"/>
                <a:ea typeface="Noto Sans JP"/>
              </a:rPr>
              <a:t>非拍動成分（組織・静脈血・非拍動性動脈血）</a:t>
            </a:r>
          </a:p>
        </p:txBody>
      </p:sp>
      <p:sp>
        <p:nvSpPr>
          <p:cNvPr id="112" name="TextBox 473"/>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rPr>
              <a:t>PI</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perfusion index</a:t>
            </a:r>
            <a:r>
              <a:rPr lang="ja-JP" sz="1050" b="0" u="none" strike="noStrike">
                <a:solidFill>
                  <a:srgbClr val="808080"/>
                </a:solidFill>
                <a:effectLst/>
                <a:uFillTx/>
                <a:latin typeface="Noto Sans JP"/>
                <a:ea typeface="Noto Sans JP"/>
              </a:rPr>
              <a:t>（灌流指数）　／　</a:t>
            </a:r>
            <a:r>
              <a:rPr lang="en-US" sz="1050" b="0" u="none" strike="noStrike">
                <a:solidFill>
                  <a:srgbClr val="808080"/>
                </a:solidFill>
                <a:effectLst/>
                <a:uFillTx/>
                <a:latin typeface="Noto Sans JP"/>
                <a:ea typeface="Noto Sans JP"/>
              </a:rPr>
              <a:t>AC</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DC</a:t>
            </a:r>
            <a:r>
              <a:rPr lang="ja-JP" sz="1050" b="0" u="none" strike="noStrike">
                <a:solidFill>
                  <a:srgbClr val="808080"/>
                </a:solidFill>
                <a:effectLst/>
                <a:uFillTx/>
                <a:latin typeface="Noto Sans JP"/>
                <a:ea typeface="Noto Sans JP"/>
              </a:rPr>
              <a:t>：拍動成分・非拍動成分</a:t>
            </a:r>
            <a:endParaRPr lang="en-US" sz="105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itleFrame"/>
          <p:cNvSpPr/>
          <p:nvPr/>
        </p:nvSpPr>
        <p:spPr>
          <a:xfrm>
            <a:off x="655200" y="603504"/>
            <a:ext cx="6510528" cy="804672"/>
          </a:xfrm>
          <a:prstGeom prst="roundRect">
            <a:avLst>
              <a:gd name="adj" fmla="val 8000"/>
            </a:avLst>
          </a:prstGeom>
          <a:noFill/>
          <a:ln w="28575" cap="flat">
            <a:solidFill>
              <a:srgbClr val="44546A"/>
            </a:solidFill>
            <a:round/>
          </a:ln>
        </p:spPr>
        <p:txBody>
          <a:bodyPr rtlCol="0" anchor="ctr"/>
          <a:lstStyle/>
          <a:p>
            <a:endParaRPr lang="ja-JP"/>
          </a:p>
        </p:txBody>
      </p:sp>
      <p:sp>
        <p:nvSpPr>
          <p:cNvPr id="11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1.2  </a:t>
            </a:r>
            <a:r>
              <a:rPr lang="ja-JP" sz="4400" b="1" u="none" strike="noStrike">
                <a:ln w="19050">
                  <a:solidFill>
                    <a:srgbClr val="000000"/>
                  </a:solidFill>
                </a:ln>
                <a:solidFill>
                  <a:schemeClr val="accent4">
                    <a:lumMod val="75000"/>
                  </a:schemeClr>
                </a:solidFill>
                <a:effectLst/>
                <a:uFillTx/>
                <a:latin typeface="Noto Sans JP"/>
                <a:ea typeface="Noto Sans JP"/>
              </a:rPr>
              <a:t>前進波＋反射波</a:t>
            </a:r>
            <a:endParaRPr lang="en-US" sz="4600" b="1" u="none" strike="noStrike">
              <a:ln w="19050">
                <a:solidFill>
                  <a:srgbClr val="000000"/>
                </a:solidFill>
              </a:ln>
              <a:solidFill>
                <a:schemeClr val="accent4">
                  <a:lumMod val="75000"/>
                </a:schemeClr>
              </a:solidFill>
              <a:effectLst/>
              <a:uFillTx/>
              <a:latin typeface="Calibri"/>
            </a:endParaRPr>
          </a:p>
        </p:txBody>
      </p:sp>
      <p:sp>
        <p:nvSpPr>
          <p:cNvPr id="114" name="Off-page Connector 2"/>
          <p:cNvSpPr/>
          <p:nvPr/>
        </p:nvSpPr>
        <p:spPr>
          <a:xfrm>
            <a:off x="755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1</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基礎</a:t>
            </a:r>
            <a:endParaRPr lang="en-US" sz="1050" b="0" u="none" strike="noStrike">
              <a:solidFill>
                <a:srgbClr val="FFFFFF"/>
              </a:solidFill>
              <a:effectLst/>
              <a:uFillTx/>
              <a:latin typeface="Arial"/>
            </a:endParaRPr>
          </a:p>
        </p:txBody>
      </p:sp>
      <p:sp>
        <p:nvSpPr>
          <p:cNvPr id="11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11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11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11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11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12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12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2. Politi 2016</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4"/>
              </a:rPr>
              <a:t>3. Stergiopulos 1999</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5"/>
              </a:rPr>
              <a:t>4. Millasseau 2002</a:t>
            </a:r>
            <a:endParaRPr lang="en-US" sz="1050" b="0" u="none" strike="noStrike">
              <a:solidFill>
                <a:srgbClr val="000000"/>
              </a:solidFill>
              <a:effectLst/>
              <a:uFillTx/>
              <a:latin typeface="Arial"/>
            </a:endParaRPr>
          </a:p>
        </p:txBody>
      </p:sp>
      <p:pic>
        <p:nvPicPr>
          <p:cNvPr id="122" name="Picture 8" descr="04_fwd_refl.png"/>
          <p:cNvPicPr/>
          <p:nvPr/>
        </p:nvPicPr>
        <p:blipFill>
          <a:blip r:embed="rId6"/>
          <a:srcRect b="14504"/>
          <a:stretch/>
        </p:blipFill>
        <p:spPr>
          <a:xfrm>
            <a:off x="1690200" y="1700280"/>
            <a:ext cx="8739360" cy="4214880"/>
          </a:xfrm>
          <a:prstGeom prst="rect">
            <a:avLst/>
          </a:prstGeom>
          <a:noFill/>
          <a:ln w="0">
            <a:noFill/>
          </a:ln>
        </p:spPr>
      </p:pic>
      <p:sp>
        <p:nvSpPr>
          <p:cNvPr id="123"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5/47</a:t>
            </a:r>
            <a:endParaRPr lang="en-US" sz="1200" b="0" u="none" strike="noStrike">
              <a:solidFill>
                <a:srgbClr val="000000"/>
              </a:solidFill>
              <a:effectLst/>
              <a:uFillTx/>
              <a:latin typeface="Arial"/>
            </a:endParaRPr>
          </a:p>
        </p:txBody>
      </p:sp>
      <p:sp>
        <p:nvSpPr>
          <p:cNvPr id="124" name="notch"/>
          <p:cNvSpPr/>
          <p:nvPr/>
        </p:nvSpPr>
        <p:spPr>
          <a:xfrm>
            <a:off x="6972480" y="2420640"/>
            <a:ext cx="2297160" cy="56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5000" lnSpcReduction="9999"/>
          </a:bodyPr>
          <a:lstStyle/>
          <a:p>
            <a:pPr algn="ctr" defTabSz="914400">
              <a:lnSpc>
                <a:spcPct val="100000"/>
              </a:lnSpc>
            </a:pPr>
            <a:r>
              <a:rPr lang="ja-JP" sz="2400" b="1" u="none" strike="noStrike">
                <a:solidFill>
                  <a:srgbClr val="C00000"/>
                </a:solidFill>
                <a:effectLst/>
                <a:uFillTx/>
                <a:latin typeface="Noto Sans JP"/>
                <a:ea typeface="Noto Sans JP"/>
              </a:rPr>
              <a:t>重複切痕</a:t>
            </a:r>
            <a:br>
              <a:rPr sz="2400"/>
            </a:br>
            <a:r>
              <a:rPr lang="en-US" sz="2400" b="1" u="none" strike="noStrike">
                <a:solidFill>
                  <a:srgbClr val="C00000"/>
                </a:solidFill>
                <a:effectLst/>
                <a:uFillTx/>
                <a:latin typeface="Noto Sans JP"/>
                <a:ea typeface="Noto Sans JP"/>
              </a:rPr>
              <a:t>(dicrotic notch)</a:t>
            </a:r>
            <a:endParaRPr lang="en-US" sz="2400" b="0" u="none" strike="noStrike">
              <a:solidFill>
                <a:srgbClr val="000000"/>
              </a:solidFill>
              <a:effectLst/>
              <a:uFillTx/>
              <a:latin typeface="Arial"/>
            </a:endParaRPr>
          </a:p>
        </p:txBody>
      </p:sp>
      <p:sp>
        <p:nvSpPr>
          <p:cNvPr id="125" name="fwd"/>
          <p:cNvSpPr/>
          <p:nvPr/>
        </p:nvSpPr>
        <p:spPr>
          <a:xfrm>
            <a:off x="3465000" y="5455440"/>
            <a:ext cx="2843973" cy="86752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400" b="1" u="none" strike="noStrike">
                <a:solidFill>
                  <a:srgbClr val="2E75B6"/>
                </a:solidFill>
                <a:effectLst/>
                <a:uFillTx/>
                <a:latin typeface="Noto Sans JP"/>
                <a:ea typeface="Noto Sans JP"/>
              </a:rPr>
              <a:t>前進波</a:t>
            </a:r>
            <a:br>
              <a:rPr sz="2400"/>
            </a:br>
            <a:r>
              <a:rPr lang="en-US" sz="2400" b="1" u="none" strike="noStrike">
                <a:solidFill>
                  <a:srgbClr val="2E75B6"/>
                </a:solidFill>
                <a:effectLst/>
                <a:uFillTx/>
                <a:latin typeface="Noto Sans JP"/>
                <a:ea typeface="Noto Sans JP"/>
              </a:rPr>
              <a:t>(</a:t>
            </a:r>
            <a:r>
              <a:rPr lang="ja-JP" sz="2400" b="1" u="none" strike="noStrike">
                <a:solidFill>
                  <a:srgbClr val="2E75B6"/>
                </a:solidFill>
                <a:effectLst/>
                <a:uFillTx/>
                <a:latin typeface="Noto Sans JP"/>
                <a:ea typeface="Noto Sans JP"/>
              </a:rPr>
              <a:t>左室駆出</a:t>
            </a:r>
            <a:r>
              <a:rPr lang="en-US" sz="2400" b="1" u="none" strike="noStrike">
                <a:solidFill>
                  <a:srgbClr val="2E75B6"/>
                </a:solidFill>
                <a:effectLst/>
                <a:uFillTx/>
                <a:latin typeface="Noto Sans JP"/>
                <a:ea typeface="Noto Sans JP"/>
              </a:rPr>
              <a:t>)</a:t>
            </a:r>
            <a:endParaRPr lang="en-US" sz="2400" b="0" u="none" strike="noStrike">
              <a:solidFill>
                <a:srgbClr val="000000"/>
              </a:solidFill>
              <a:effectLst/>
              <a:uFillTx/>
              <a:latin typeface="Arial"/>
            </a:endParaRPr>
          </a:p>
        </p:txBody>
      </p:sp>
      <p:sp>
        <p:nvSpPr>
          <p:cNvPr id="126" name="ref"/>
          <p:cNvSpPr/>
          <p:nvPr/>
        </p:nvSpPr>
        <p:spPr>
          <a:xfrm>
            <a:off x="5609160" y="5455440"/>
            <a:ext cx="3868101" cy="86752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400" b="1" u="none" strike="noStrike">
                <a:solidFill>
                  <a:srgbClr val="E8853B"/>
                </a:solidFill>
                <a:effectLst/>
                <a:uFillTx/>
                <a:latin typeface="Noto Sans JP"/>
                <a:ea typeface="Noto Sans JP"/>
              </a:rPr>
              <a:t>反射波</a:t>
            </a:r>
            <a:br>
              <a:rPr sz="2400"/>
            </a:br>
            <a:r>
              <a:rPr lang="en-US" sz="2400" b="1" u="none" strike="noStrike">
                <a:solidFill>
                  <a:srgbClr val="E8853B"/>
                </a:solidFill>
                <a:effectLst/>
                <a:uFillTx/>
                <a:latin typeface="Noto Sans JP"/>
                <a:ea typeface="Noto Sans JP"/>
              </a:rPr>
              <a:t>(</a:t>
            </a:r>
            <a:r>
              <a:rPr lang="ja-JP" sz="2400" b="1" u="none" strike="noStrike">
                <a:solidFill>
                  <a:srgbClr val="E8853B"/>
                </a:solidFill>
                <a:effectLst/>
                <a:uFillTx/>
                <a:latin typeface="Noto Sans JP"/>
                <a:ea typeface="Noto Sans JP"/>
              </a:rPr>
              <a:t>末梢からの帰還</a:t>
            </a:r>
            <a:r>
              <a:rPr lang="en-US" sz="2400" b="1" u="none" strike="noStrike">
                <a:solidFill>
                  <a:srgbClr val="E8853B"/>
                </a:solidFill>
                <a:effectLst/>
                <a:uFillTx/>
                <a:latin typeface="Noto Sans JP"/>
                <a:ea typeface="Noto Sans JP"/>
              </a:rPr>
              <a:t>)</a:t>
            </a:r>
            <a:endParaRPr lang="en-US" sz="24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1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2. </a:t>
            </a:r>
            <a:r>
              <a:rPr lang="ja-JP" sz="4400" b="1" u="none" strike="noStrike">
                <a:ln w="19050">
                  <a:solidFill>
                    <a:srgbClr val="000000"/>
                  </a:solidFill>
                </a:ln>
                <a:solidFill>
                  <a:schemeClr val="accent4">
                    <a:lumMod val="75000"/>
                  </a:schemeClr>
                </a:solidFill>
                <a:effectLst/>
                <a:uFillTx/>
                <a:latin typeface="Calibri"/>
              </a:rPr>
              <a:t>波形への影響：加齢</a:t>
            </a:r>
            <a:endParaRPr lang="en-US" sz="4600" b="1" u="none" strike="noStrike">
              <a:ln w="19050">
                <a:solidFill>
                  <a:srgbClr val="000000"/>
                </a:solidFill>
              </a:ln>
              <a:solidFill>
                <a:schemeClr val="accent4">
                  <a:lumMod val="75000"/>
                </a:schemeClr>
              </a:solidFill>
              <a:effectLst/>
              <a:uFillTx/>
              <a:latin typeface="Calibri"/>
            </a:endParaRPr>
          </a:p>
        </p:txBody>
      </p:sp>
      <p:sp>
        <p:nvSpPr>
          <p:cNvPr id="12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129"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加齢</a:t>
            </a:r>
            <a:endParaRPr lang="en-US" sz="1050" b="0" u="none" strike="noStrike">
              <a:solidFill>
                <a:srgbClr val="FFFFFF"/>
              </a:solidFill>
              <a:effectLst/>
              <a:uFillTx/>
              <a:latin typeface="Arial"/>
            </a:endParaRPr>
          </a:p>
        </p:txBody>
      </p:sp>
      <p:sp>
        <p:nvSpPr>
          <p:cNvPr id="13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13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13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13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13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135" name="Agenda"/>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3801"/>
              </a:lnSpc>
              <a:tabLst>
                <a:tab pos="0" algn="l"/>
              </a:tabLst>
            </a:pPr>
            <a:r>
              <a:rPr lang="en-US" sz="2400" b="1" u="none" strike="noStrike">
                <a:solidFill>
                  <a:srgbClr val="D9D9D9"/>
                </a:solidFill>
                <a:effectLst/>
                <a:uFillTx/>
                <a:latin typeface="Noto Sans JP"/>
                <a:ea typeface="Noto Sans JP"/>
              </a:rPr>
              <a:t>1. </a:t>
            </a:r>
            <a:r>
              <a:rPr lang="ja-JP" sz="2400" b="0" u="none" strike="noStrike">
                <a:solidFill>
                  <a:srgbClr val="D9D9D9"/>
                </a:solidFill>
                <a:effectLst/>
                <a:uFillTx/>
                <a:latin typeface="Noto Sans JP"/>
                <a:ea typeface="Noto Sans JP"/>
              </a:rPr>
              <a:t>基礎：</a:t>
            </a:r>
            <a:r>
              <a:rPr lang="en-US" sz="2400" b="0" u="none" strike="noStrike">
                <a:solidFill>
                  <a:srgbClr val="D9D9D9"/>
                </a:solidFill>
                <a:effectLst/>
                <a:uFillTx/>
                <a:latin typeface="Noto Sans JP"/>
                <a:ea typeface="Noto Sans JP"/>
              </a:rPr>
              <a:t>PPG</a:t>
            </a:r>
            <a:r>
              <a:rPr lang="ja-JP" sz="2400" b="0" u="none" strike="noStrike">
                <a:solidFill>
                  <a:srgbClr val="D9D9D9"/>
                </a:solidFill>
                <a:effectLst/>
                <a:uFillTx/>
                <a:latin typeface="Noto Sans JP"/>
                <a:ea typeface="Noto Sans JP"/>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Noto Sans JP"/>
                <a:ea typeface="Noto Sans JP"/>
              </a:rPr>
              <a:t>2. </a:t>
            </a:r>
            <a:r>
              <a:rPr lang="ja-JP" sz="2600" b="1" u="none" strike="noStrike">
                <a:solidFill>
                  <a:srgbClr val="262626"/>
                </a:solidFill>
                <a:effectLst/>
                <a:uFillTx/>
                <a:latin typeface="Noto Sans JP"/>
                <a:ea typeface="Noto Sans JP"/>
              </a:rPr>
              <a:t>波形への影響：加齢</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Noto Sans JP"/>
                <a:ea typeface="Noto Sans JP"/>
              </a:rPr>
              <a:t>2.1</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フラミンガム研究</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Noto Sans JP"/>
                <a:ea typeface="Noto Sans JP"/>
              </a:rPr>
              <a:t>2.2</a:t>
            </a:r>
            <a:r>
              <a:rPr lang="ja-JP" sz="2200" b="1" u="none" strike="noStrike">
                <a:solidFill>
                  <a:srgbClr val="BF9000"/>
                </a:solidFill>
                <a:effectLst/>
                <a:uFillTx/>
                <a:latin typeface="Noto Sans JP"/>
                <a:ea typeface="Noto Sans JP"/>
              </a:rPr>
              <a:t>　</a:t>
            </a:r>
            <a:r>
              <a:rPr lang="en-US" sz="2200" b="1" u="none" strike="noStrike">
                <a:solidFill>
                  <a:srgbClr val="262626"/>
                </a:solidFill>
                <a:effectLst/>
                <a:uFillTx/>
                <a:latin typeface="Noto Sans JP"/>
                <a:ea typeface="Noto Sans JP"/>
              </a:rPr>
              <a:t>UK Biobank</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3. </a:t>
            </a:r>
            <a:r>
              <a:rPr lang="ja-JP" sz="2400" b="0" u="none" strike="noStrike">
                <a:solidFill>
                  <a:srgbClr val="D9D9D9"/>
                </a:solidFill>
                <a:effectLst/>
                <a:uFillTx/>
                <a:latin typeface="Noto Sans JP"/>
                <a:ea typeface="Noto Sans JP"/>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4. </a:t>
            </a:r>
            <a:r>
              <a:rPr lang="ja-JP" sz="2400" b="0" u="none" strike="noStrike">
                <a:solidFill>
                  <a:srgbClr val="D9D9D9"/>
                </a:solidFill>
                <a:effectLst/>
                <a:uFillTx/>
                <a:latin typeface="Noto Sans JP"/>
                <a:ea typeface="Noto Sans JP"/>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5. </a:t>
            </a:r>
            <a:r>
              <a:rPr lang="en-US" sz="2400" b="0" u="none" strike="noStrike">
                <a:solidFill>
                  <a:srgbClr val="D9D9D9"/>
                </a:solidFill>
                <a:effectLst/>
                <a:uFillTx/>
                <a:latin typeface="Noto Sans JP"/>
                <a:ea typeface="Noto Sans JP"/>
              </a:rPr>
              <a:t>SpO₂</a:t>
            </a:r>
            <a:r>
              <a:rPr lang="ja-JP" sz="2400" b="0" u="none" strike="noStrike">
                <a:solidFill>
                  <a:srgbClr val="D9D9D9"/>
                </a:solidFill>
                <a:effectLst/>
                <a:uFillTx/>
                <a:latin typeface="Noto Sans JP"/>
                <a:ea typeface="Noto Sans JP"/>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6. </a:t>
            </a:r>
            <a:r>
              <a:rPr lang="ja-JP" sz="2400" b="0" u="none" strike="noStrike">
                <a:solidFill>
                  <a:srgbClr val="D9D9D9"/>
                </a:solidFill>
                <a:effectLst/>
                <a:uFillTx/>
                <a:latin typeface="Noto Sans JP"/>
                <a:ea typeface="Noto Sans JP"/>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7. </a:t>
            </a:r>
            <a:r>
              <a:rPr lang="en-US" sz="2400" b="0" u="none" strike="noStrike">
                <a:solidFill>
                  <a:srgbClr val="D9D9D9"/>
                </a:solidFill>
                <a:effectLst/>
                <a:uFillTx/>
                <a:latin typeface="Noto Sans JP"/>
                <a:ea typeface="Noto Sans JP"/>
              </a:rPr>
              <a:t>esCCO</a:t>
            </a:r>
            <a:r>
              <a:rPr lang="ja-JP" sz="2400" b="0" u="none" strike="noStrike">
                <a:solidFill>
                  <a:srgbClr val="D9D9D9"/>
                </a:solidFill>
                <a:effectLst/>
                <a:uFillTx/>
                <a:latin typeface="Noto Sans JP"/>
                <a:ea typeface="Noto Sans JP"/>
              </a:rPr>
              <a:t>精度改善案</a:t>
            </a:r>
            <a:endParaRPr lang="en-US" sz="2400" b="0" u="none" strike="noStrike">
              <a:solidFill>
                <a:srgbClr val="000000"/>
              </a:solidFill>
              <a:effectLst/>
              <a:uFillTx/>
              <a:latin typeface="Arial"/>
            </a:endParaRPr>
          </a:p>
        </p:txBody>
      </p:sp>
      <p:sp>
        <p:nvSpPr>
          <p:cNvPr id="136"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Noto Sans JP"/>
                <a:ea typeface="Noto Sans JP"/>
              </a:rPr>
              <a:t>6/47</a:t>
            </a:r>
            <a:endParaRPr lang="en-US" sz="12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13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2.1  </a:t>
            </a:r>
            <a:r>
              <a:rPr lang="ja-JP" sz="4400" b="1" u="none" strike="noStrike">
                <a:ln w="19050">
                  <a:solidFill>
                    <a:srgbClr val="000000"/>
                  </a:solidFill>
                </a:ln>
                <a:solidFill>
                  <a:schemeClr val="accent4">
                    <a:lumMod val="75000"/>
                  </a:schemeClr>
                </a:solidFill>
                <a:effectLst/>
                <a:uFillTx/>
                <a:latin typeface="Noto Sans JP"/>
                <a:ea typeface="Noto Sans JP"/>
              </a:rPr>
              <a:t>フラミンガム研究</a:t>
            </a:r>
            <a:endParaRPr lang="en-US" sz="4600" b="1" u="none" strike="noStrike">
              <a:ln w="19050">
                <a:solidFill>
                  <a:srgbClr val="000000"/>
                </a:solidFill>
              </a:ln>
              <a:solidFill>
                <a:schemeClr val="accent4">
                  <a:lumMod val="75000"/>
                </a:schemeClr>
              </a:solidFill>
              <a:effectLst/>
              <a:uFillTx/>
              <a:latin typeface="Calibri"/>
            </a:endParaRPr>
          </a:p>
        </p:txBody>
      </p:sp>
      <p:sp>
        <p:nvSpPr>
          <p:cNvPr id="13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139"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加齢</a:t>
            </a:r>
            <a:endParaRPr lang="en-US" sz="1050" b="0" u="none" strike="noStrike">
              <a:solidFill>
                <a:srgbClr val="FFFFFF"/>
              </a:solidFill>
              <a:effectLst/>
              <a:uFillTx/>
              <a:latin typeface="Arial"/>
            </a:endParaRPr>
          </a:p>
        </p:txBody>
      </p:sp>
      <p:sp>
        <p:nvSpPr>
          <p:cNvPr id="14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14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14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14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14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14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5. Dawber 1973</a:t>
            </a:r>
            <a:endParaRPr lang="en-US" sz="1050" b="0" u="none" strike="noStrike">
              <a:solidFill>
                <a:srgbClr val="000000"/>
              </a:solidFill>
              <a:effectLst/>
              <a:uFillTx/>
              <a:latin typeface="Arial"/>
            </a:endParaRPr>
          </a:p>
        </p:txBody>
      </p:sp>
      <p:pic>
        <p:nvPicPr>
          <p:cNvPr id="146" name="Picture 8" descr="22_dawber.png"/>
          <p:cNvPicPr/>
          <p:nvPr/>
        </p:nvPicPr>
        <p:blipFill>
          <a:blip r:embed="rId4"/>
          <a:stretch/>
        </p:blipFill>
        <p:spPr>
          <a:xfrm>
            <a:off x="929880" y="1800000"/>
            <a:ext cx="10307520" cy="4319640"/>
          </a:xfrm>
          <a:prstGeom prst="rect">
            <a:avLst/>
          </a:prstGeom>
          <a:noFill/>
          <a:ln w="0">
            <a:noFill/>
          </a:ln>
        </p:spPr>
      </p:pic>
      <p:sp>
        <p:nvSpPr>
          <p:cNvPr id="14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7/47</a:t>
            </a:r>
            <a:endParaRPr lang="en-US" sz="1200" b="0" u="none" strike="noStrike">
              <a:solidFill>
                <a:srgbClr val="000000"/>
              </a:solidFill>
              <a:effectLst/>
              <a:uFillTx/>
              <a:latin typeface="Arial"/>
            </a:endParaRPr>
          </a:p>
        </p:txBody>
      </p:sp>
      <p:sp>
        <p:nvSpPr>
          <p:cNvPr id="148" name="c1"/>
          <p:cNvSpPr/>
          <p:nvPr/>
        </p:nvSpPr>
        <p:spPr>
          <a:xfrm>
            <a:off x="755640" y="1886400"/>
            <a:ext cx="267984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70AD47"/>
                </a:solidFill>
                <a:effectLst/>
                <a:uFillTx/>
                <a:latin typeface="Noto Sans JP"/>
                <a:ea typeface="Noto Sans JP"/>
              </a:rPr>
              <a:t>Class 1</a:t>
            </a:r>
            <a:br>
              <a:rPr sz="2200"/>
            </a:br>
            <a:r>
              <a:rPr lang="ja-JP" sz="2200" b="1" u="none" strike="noStrike">
                <a:solidFill>
                  <a:srgbClr val="70AD47"/>
                </a:solidFill>
                <a:effectLst/>
                <a:uFillTx/>
                <a:latin typeface="Noto Sans JP"/>
                <a:ea typeface="Noto Sans JP"/>
              </a:rPr>
              <a:t>明瞭な切痕</a:t>
            </a:r>
            <a:endParaRPr lang="en-US" sz="2200" b="0" u="none" strike="noStrike">
              <a:solidFill>
                <a:srgbClr val="000000"/>
              </a:solidFill>
              <a:effectLst/>
              <a:uFillTx/>
              <a:latin typeface="Arial"/>
            </a:endParaRPr>
          </a:p>
        </p:txBody>
      </p:sp>
      <p:sp>
        <p:nvSpPr>
          <p:cNvPr id="149" name="c2"/>
          <p:cNvSpPr/>
          <p:nvPr/>
        </p:nvSpPr>
        <p:spPr>
          <a:xfrm>
            <a:off x="3381120" y="1886400"/>
            <a:ext cx="247356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00A8AA"/>
                </a:solidFill>
                <a:effectLst/>
                <a:uFillTx/>
                <a:latin typeface="Noto Sans JP"/>
                <a:ea typeface="Noto Sans JP"/>
              </a:rPr>
              <a:t>Class 2</a:t>
            </a:r>
            <a:br>
              <a:rPr sz="2200"/>
            </a:br>
            <a:r>
              <a:rPr lang="ja-JP" sz="2200" b="1" u="none" strike="noStrike">
                <a:solidFill>
                  <a:srgbClr val="00A8AA"/>
                </a:solidFill>
                <a:effectLst/>
                <a:uFillTx/>
                <a:latin typeface="Noto Sans JP"/>
                <a:ea typeface="Noto Sans JP"/>
              </a:rPr>
              <a:t>切痕は消え水平化</a:t>
            </a:r>
            <a:endParaRPr lang="en-US" sz="2200" b="0" u="none" strike="noStrike">
              <a:solidFill>
                <a:srgbClr val="000000"/>
              </a:solidFill>
              <a:effectLst/>
              <a:uFillTx/>
              <a:latin typeface="Arial"/>
            </a:endParaRPr>
          </a:p>
        </p:txBody>
      </p:sp>
      <p:sp>
        <p:nvSpPr>
          <p:cNvPr id="150" name="c3"/>
          <p:cNvSpPr/>
          <p:nvPr/>
        </p:nvSpPr>
        <p:spPr>
          <a:xfrm>
            <a:off x="6013080" y="1886400"/>
            <a:ext cx="247356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BF9000"/>
                </a:solidFill>
                <a:effectLst/>
                <a:uFillTx/>
                <a:latin typeface="Noto Sans JP"/>
                <a:ea typeface="Noto Sans JP"/>
              </a:rPr>
              <a:t>Class 3</a:t>
            </a:r>
            <a:br>
              <a:rPr sz="2200"/>
            </a:br>
            <a:r>
              <a:rPr lang="ja-JP" sz="2200" b="1" u="none" strike="noStrike">
                <a:solidFill>
                  <a:srgbClr val="BF9000"/>
                </a:solidFill>
                <a:effectLst/>
                <a:uFillTx/>
                <a:latin typeface="Noto Sans JP"/>
                <a:ea typeface="Noto Sans JP"/>
              </a:rPr>
              <a:t>下降角の変化のみ</a:t>
            </a:r>
            <a:endParaRPr lang="en-US" sz="2200" b="0" u="none" strike="noStrike">
              <a:solidFill>
                <a:srgbClr val="000000"/>
              </a:solidFill>
              <a:effectLst/>
              <a:uFillTx/>
              <a:latin typeface="Arial"/>
            </a:endParaRPr>
          </a:p>
        </p:txBody>
      </p:sp>
      <p:sp>
        <p:nvSpPr>
          <p:cNvPr id="151" name="c4"/>
          <p:cNvSpPr/>
          <p:nvPr/>
        </p:nvSpPr>
        <p:spPr>
          <a:xfrm>
            <a:off x="8579520" y="1886400"/>
            <a:ext cx="2473560" cy="8837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C00000"/>
                </a:solidFill>
                <a:effectLst/>
                <a:uFillTx/>
                <a:latin typeface="Noto Sans JP"/>
                <a:ea typeface="Noto Sans JP"/>
              </a:rPr>
              <a:t>Class </a:t>
            </a:r>
            <a:br>
              <a:rPr sz="2200"/>
            </a:br>
            <a:endParaRPr lang="en-US" sz="2200" b="0" u="none" strike="noStrike">
              <a:solidFill>
                <a:srgbClr val="000000"/>
              </a:solidFill>
              <a:effectLst/>
              <a:uFillTx/>
              <a:latin typeface="Arial"/>
            </a:endParaRPr>
          </a:p>
          <a:p>
            <a:pPr algn="ctr" defTabSz="914400">
              <a:lnSpc>
                <a:spcPct val="100000"/>
              </a:lnSpc>
            </a:pPr>
            <a:br>
              <a:rPr sz="2200"/>
            </a:br>
            <a:endParaRPr lang="en-US" sz="2200" b="0" u="none" strike="noStrike">
              <a:solidFill>
                <a:srgbClr val="000000"/>
              </a:solidFill>
              <a:effectLst/>
              <a:uFillTx/>
              <a:latin typeface="Arial"/>
            </a:endParaRPr>
            <a:r>
              <a:rPr lang="en-US" sz="2200" b="1" u="none" strike="noStrike">
                <a:solidFill>
                  <a:srgbClr val="C00000"/>
                </a:solidFill>
                <a:effectLst/>
                <a:uFillTx/>
                <a:latin typeface="Noto Sans JP"/>
                <a:ea typeface="Noto Sans JP"/>
              </a:rPr>
              <a:t/>
            </a:r>
            <a:r>
              <a:rPr lang="ja-JP" sz="2200" b="1" u="none" strike="noStrike">
                <a:solidFill>
                  <a:srgbClr val="C00000"/>
                </a:solidFill>
                <a:effectLst/>
                <a:uFillTx/>
                <a:latin typeface="Noto Sans JP"/>
                <a:ea typeface="Noto Sans JP"/>
              </a:rPr>
              <a:t>切痕の痕跡なし</a:t>
            </a:r>
          </a:p>
        </p:txBody>
      </p:sp>
      <p:sp>
        <p:nvSpPr>
          <p:cNvPr id="152" name="cap"/>
          <p:cNvSpPr/>
          <p:nvPr/>
        </p:nvSpPr>
        <p:spPr>
          <a:xfrm>
            <a:off x="929880" y="5904000"/>
            <a:ext cx="1030752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262626"/>
                </a:solidFill>
                <a:effectLst/>
                <a:uFillTx/>
                <a:latin typeface="Noto Sans JP"/>
                <a:ea typeface="Noto Sans JP"/>
              </a:rPr>
              <a:t>健常若年 </a:t>
            </a:r>
            <a:r>
              <a:rPr lang="en-US" sz="2200" b="1" u="none" strike="noStrike">
                <a:solidFill>
                  <a:srgbClr val="262626"/>
                </a:solidFill>
                <a:effectLst/>
                <a:uFillTx/>
                <a:latin typeface="Noto Sans JP"/>
                <a:ea typeface="Noto Sans JP"/>
              </a:rPr>
              <a:t>Class 1 → </a:t>
            </a:r>
            <a:r>
              <a:rPr lang="ja-JP" sz="2200" b="1" u="none" strike="noStrike">
                <a:solidFill>
                  <a:srgbClr val="262626"/>
                </a:solidFill>
                <a:effectLst/>
                <a:uFillTx/>
                <a:latin typeface="Noto Sans JP"/>
                <a:ea typeface="Noto Sans JP"/>
              </a:rPr>
              <a:t>加齢・スティフネス上昇で </a:t>
            </a:r>
            <a:r>
              <a:rPr lang="en-US" sz="2200" b="1" u="none" strike="noStrike">
                <a:solidFill>
                  <a:srgbClr val="262626"/>
                </a:solidFill>
                <a:effectLst/>
                <a:uFillTx/>
                <a:latin typeface="Noto Sans JP"/>
                <a:ea typeface="Noto Sans JP"/>
              </a:rPr>
              <a:t>Class 4 </a:t>
            </a:r>
            <a:r>
              <a:rPr lang="ja-JP" sz="2200" b="1" u="none" strike="noStrike">
                <a:solidFill>
                  <a:srgbClr val="262626"/>
                </a:solidFill>
                <a:effectLst/>
                <a:uFillTx/>
                <a:latin typeface="Noto Sans JP"/>
                <a:ea typeface="Noto Sans JP"/>
              </a:rPr>
              <a:t>へ移行</a:t>
            </a:r>
            <a:endParaRPr lang="en-US" sz="22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15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2.1  </a:t>
            </a:r>
            <a:r>
              <a:rPr lang="ja-JP" sz="4400" b="1" u="none" strike="noStrike">
                <a:ln w="19050">
                  <a:solidFill>
                    <a:srgbClr val="000000"/>
                  </a:solidFill>
                </a:ln>
                <a:solidFill>
                  <a:schemeClr val="accent4">
                    <a:lumMod val="75000"/>
                  </a:schemeClr>
                </a:solidFill>
                <a:effectLst/>
                <a:uFillTx/>
                <a:latin typeface="Noto Sans JP"/>
                <a:ea typeface="Noto Sans JP"/>
              </a:rPr>
              <a:t>フラミンガム研究</a:t>
            </a:r>
            <a:endParaRPr lang="en-US" sz="4600" b="1" u="none" strike="noStrike">
              <a:ln w="19050">
                <a:solidFill>
                  <a:srgbClr val="000000"/>
                </a:solidFill>
              </a:ln>
              <a:solidFill>
                <a:schemeClr val="accent4">
                  <a:lumMod val="75000"/>
                </a:schemeClr>
              </a:solidFill>
              <a:effectLst/>
              <a:uFillTx/>
              <a:latin typeface="Calibri"/>
            </a:endParaRPr>
          </a:p>
        </p:txBody>
      </p:sp>
      <p:sp>
        <p:nvSpPr>
          <p:cNvPr id="15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155"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加齢</a:t>
            </a:r>
            <a:endParaRPr lang="en-US" sz="1050" b="0" u="none" strike="noStrike">
              <a:solidFill>
                <a:srgbClr val="FFFFFF"/>
              </a:solidFill>
              <a:effectLst/>
              <a:uFillTx/>
              <a:latin typeface="Arial"/>
            </a:endParaRPr>
          </a:p>
        </p:txBody>
      </p:sp>
      <p:sp>
        <p:nvSpPr>
          <p:cNvPr id="15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15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15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15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16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16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5. Dawber 1973</a:t>
            </a:r>
            <a:endParaRPr lang="en-US" sz="1050" b="0" u="none" strike="noStrike">
              <a:solidFill>
                <a:srgbClr val="000000"/>
              </a:solidFill>
              <a:effectLst/>
              <a:uFillTx/>
              <a:latin typeface="Arial"/>
            </a:endParaRPr>
          </a:p>
        </p:txBody>
      </p:sp>
      <p:sp>
        <p:nvSpPr>
          <p:cNvPr id="16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8/47</a:t>
            </a:r>
            <a:endParaRPr lang="en-US" sz="1200" b="0" u="none" strike="noStrike">
              <a:solidFill>
                <a:srgbClr val="000000"/>
              </a:solidFill>
              <a:effectLst/>
              <a:uFillTx/>
              <a:latin typeface="Arial"/>
            </a:endParaRPr>
          </a:p>
        </p:txBody>
      </p:sp>
      <p:pic>
        <p:nvPicPr>
          <p:cNvPr id="163" name="図 10"/>
          <p:cNvPicPr/>
          <p:nvPr/>
        </p:nvPicPr>
        <p:blipFill>
          <a:blip r:embed="rId4"/>
          <a:stretch/>
        </p:blipFill>
        <p:spPr>
          <a:xfrm>
            <a:off x="2509200" y="1434960"/>
            <a:ext cx="3809520" cy="5422680"/>
          </a:xfrm>
          <a:prstGeom prst="rect">
            <a:avLst/>
          </a:prstGeom>
          <a:noFill/>
          <a:ln w="0">
            <a:noFill/>
          </a:ln>
        </p:spPr>
      </p:pic>
      <p:sp>
        <p:nvSpPr>
          <p:cNvPr id="164" name="c1"/>
          <p:cNvSpPr/>
          <p:nvPr/>
        </p:nvSpPr>
        <p:spPr>
          <a:xfrm>
            <a:off x="7287480" y="1816560"/>
            <a:ext cx="267984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70AD47"/>
                </a:solidFill>
                <a:effectLst/>
                <a:uFillTx/>
                <a:latin typeface="Noto Sans JP"/>
                <a:ea typeface="Noto Sans JP"/>
              </a:rPr>
              <a:t>Class 1</a:t>
            </a:r>
            <a:br>
              <a:rPr sz="2200"/>
            </a:br>
            <a:r>
              <a:rPr lang="ja-JP" sz="2200" b="1" u="none" strike="noStrike">
                <a:solidFill>
                  <a:srgbClr val="70AD47"/>
                </a:solidFill>
                <a:effectLst/>
                <a:uFillTx/>
                <a:latin typeface="Noto Sans JP"/>
                <a:ea typeface="Noto Sans JP"/>
              </a:rPr>
              <a:t>明瞭な切痕</a:t>
            </a:r>
            <a:endParaRPr lang="en-US" sz="2200" b="0" u="none" strike="noStrike">
              <a:solidFill>
                <a:srgbClr val="000000"/>
              </a:solidFill>
              <a:effectLst/>
              <a:uFillTx/>
              <a:latin typeface="Arial"/>
            </a:endParaRPr>
          </a:p>
        </p:txBody>
      </p:sp>
      <p:sp>
        <p:nvSpPr>
          <p:cNvPr id="165" name="c2"/>
          <p:cNvSpPr/>
          <p:nvPr/>
        </p:nvSpPr>
        <p:spPr>
          <a:xfrm>
            <a:off x="7287480" y="3112560"/>
            <a:ext cx="372074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00A8AA"/>
                </a:solidFill>
                <a:effectLst/>
                <a:uFillTx/>
                <a:latin typeface="Noto Sans JP"/>
                <a:ea typeface="Noto Sans JP"/>
              </a:rPr>
              <a:t>Class 2</a:t>
            </a:r>
            <a:br>
              <a:rPr sz="2200"/>
            </a:br>
            <a:r>
              <a:rPr lang="ja-JP" sz="2200" b="1" u="none" strike="noStrike">
                <a:solidFill>
                  <a:srgbClr val="00A8AA"/>
                </a:solidFill>
                <a:effectLst/>
                <a:uFillTx/>
                <a:latin typeface="Noto Sans JP"/>
                <a:ea typeface="Noto Sans JP"/>
              </a:rPr>
              <a:t>切痕は消え水平化</a:t>
            </a:r>
            <a:endParaRPr lang="en-US" sz="2200" b="0" u="none" strike="noStrike">
              <a:solidFill>
                <a:srgbClr val="000000"/>
              </a:solidFill>
              <a:effectLst/>
              <a:uFillTx/>
              <a:latin typeface="Arial"/>
            </a:endParaRPr>
          </a:p>
        </p:txBody>
      </p:sp>
      <p:sp>
        <p:nvSpPr>
          <p:cNvPr id="166" name="c3"/>
          <p:cNvSpPr/>
          <p:nvPr/>
        </p:nvSpPr>
        <p:spPr>
          <a:xfrm>
            <a:off x="7287480" y="4451040"/>
            <a:ext cx="372074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BF9000"/>
                </a:solidFill>
                <a:effectLst/>
                <a:uFillTx/>
                <a:latin typeface="Noto Sans JP"/>
                <a:ea typeface="Noto Sans JP"/>
              </a:rPr>
              <a:t>Class 3</a:t>
            </a:r>
            <a:br>
              <a:rPr sz="2200"/>
            </a:br>
            <a:r>
              <a:rPr lang="ja-JP" sz="2200" b="1" u="none" strike="noStrike">
                <a:solidFill>
                  <a:srgbClr val="BF9000"/>
                </a:solidFill>
                <a:effectLst/>
                <a:uFillTx/>
                <a:latin typeface="Noto Sans JP"/>
                <a:ea typeface="Noto Sans JP"/>
              </a:rPr>
              <a:t>下降角の変化のみ</a:t>
            </a:r>
            <a:endParaRPr lang="en-US" sz="2200" b="0" u="none" strike="noStrike">
              <a:solidFill>
                <a:srgbClr val="000000"/>
              </a:solidFill>
              <a:effectLst/>
              <a:uFillTx/>
              <a:latin typeface="Arial"/>
            </a:endParaRPr>
          </a:p>
        </p:txBody>
      </p:sp>
      <p:sp>
        <p:nvSpPr>
          <p:cNvPr id="167" name="c4"/>
          <p:cNvSpPr/>
          <p:nvPr/>
        </p:nvSpPr>
        <p:spPr>
          <a:xfrm>
            <a:off x="7287480" y="5832000"/>
            <a:ext cx="3407812" cy="66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C00000"/>
                </a:solidFill>
                <a:effectLst/>
                <a:uFillTx/>
                <a:latin typeface="Noto Sans JP"/>
                <a:ea typeface="Noto Sans JP"/>
              </a:rPr>
              <a:t>Class 4</a:t>
            </a:r>
            <a:br>
              <a:rPr sz="2200"/>
            </a:br>
            <a:r>
              <a:rPr lang="ja-JP" sz="2200" b="1" u="none" strike="noStrike">
                <a:solidFill>
                  <a:srgbClr val="C00000"/>
                </a:solidFill>
                <a:effectLst/>
                <a:uFillTx/>
                <a:latin typeface="Noto Sans JP"/>
                <a:ea typeface="Noto Sans JP"/>
              </a:rPr>
              <a:t>切痕の痕跡なし</a:t>
            </a:r>
            <a:endParaRPr lang="en-US" sz="22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TitleFrame"/>
          <p:cNvSpPr/>
          <p:nvPr/>
        </p:nvSpPr>
        <p:spPr>
          <a:xfrm>
            <a:off x="655200" y="603504"/>
            <a:ext cx="5760720" cy="804672"/>
          </a:xfrm>
          <a:prstGeom prst="roundRect">
            <a:avLst>
              <a:gd name="adj" fmla="val 8000"/>
            </a:avLst>
          </a:prstGeom>
          <a:noFill/>
          <a:ln w="28575" cap="flat">
            <a:solidFill>
              <a:srgbClr val="44546A"/>
            </a:solidFill>
            <a:round/>
          </a:ln>
        </p:spPr>
        <p:txBody>
          <a:bodyPr rtlCol="0" anchor="ctr"/>
          <a:lstStyle/>
          <a:p>
            <a:endParaRPr lang="ja-JP"/>
          </a:p>
        </p:txBody>
      </p:sp>
      <p:sp>
        <p:nvSpPr>
          <p:cNvPr id="16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2.2  UK Biobank</a:t>
            </a:r>
            <a:endParaRPr lang="en-US" sz="4600" b="1" u="none" strike="noStrike">
              <a:ln w="19050">
                <a:solidFill>
                  <a:srgbClr val="000000"/>
                </a:solidFill>
              </a:ln>
              <a:solidFill>
                <a:schemeClr val="accent4">
                  <a:lumMod val="75000"/>
                </a:schemeClr>
              </a:solidFill>
              <a:effectLst/>
              <a:uFillTx/>
              <a:latin typeface="Calibri"/>
            </a:endParaRPr>
          </a:p>
        </p:txBody>
      </p:sp>
      <p:sp>
        <p:nvSpPr>
          <p:cNvPr id="16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170"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加齢</a:t>
            </a:r>
            <a:endParaRPr lang="en-US" sz="1050" b="0" u="none" strike="noStrike">
              <a:solidFill>
                <a:srgbClr val="FFFFFF"/>
              </a:solidFill>
              <a:effectLst/>
              <a:uFillTx/>
              <a:latin typeface="Arial"/>
            </a:endParaRPr>
          </a:p>
        </p:txBody>
      </p:sp>
      <p:sp>
        <p:nvSpPr>
          <p:cNvPr id="171"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17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17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17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175"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176"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6. Cunningham 2023</a:t>
            </a:r>
            <a:endParaRPr lang="en-US" sz="1050" b="0" u="none" strike="noStrike">
              <a:solidFill>
                <a:srgbClr val="000000"/>
              </a:solidFill>
              <a:effectLst/>
              <a:uFillTx/>
              <a:latin typeface="Arial"/>
            </a:endParaRPr>
          </a:p>
        </p:txBody>
      </p:sp>
      <p:sp>
        <p:nvSpPr>
          <p:cNvPr id="17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9/47</a:t>
            </a:r>
            <a:endParaRPr lang="en-US" sz="1200" b="0" u="none" strike="noStrike">
              <a:solidFill>
                <a:srgbClr val="000000"/>
              </a:solidFill>
              <a:effectLst/>
              <a:uFillTx/>
              <a:latin typeface="Arial"/>
            </a:endParaRPr>
          </a:p>
        </p:txBody>
      </p:sp>
      <p:pic>
        <p:nvPicPr>
          <p:cNvPr id="178" name="図 10"/>
          <p:cNvPicPr/>
          <p:nvPr/>
        </p:nvPicPr>
        <p:blipFill>
          <a:blip r:embed="rId4"/>
          <a:stretch/>
        </p:blipFill>
        <p:spPr>
          <a:xfrm>
            <a:off x="358200" y="2347200"/>
            <a:ext cx="5874120" cy="3486960"/>
          </a:xfrm>
          <a:prstGeom prst="rect">
            <a:avLst/>
          </a:prstGeom>
          <a:noFill/>
          <a:ln w="0">
            <a:noFill/>
          </a:ln>
        </p:spPr>
      </p:pic>
      <p:sp>
        <p:nvSpPr>
          <p:cNvPr id="179" name="テキスト ボックス 11"/>
          <p:cNvSpPr/>
          <p:nvPr/>
        </p:nvSpPr>
        <p:spPr>
          <a:xfrm>
            <a:off x="7518240" y="638100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US" sz="1800" b="0" u="none" strike="noStrike">
              <a:solidFill>
                <a:schemeClr val="dk1"/>
              </a:solidFill>
              <a:effectLst/>
              <a:uFillTx/>
              <a:latin typeface="Calibri"/>
            </a:endParaRPr>
          </a:p>
        </p:txBody>
      </p:sp>
      <p:pic>
        <p:nvPicPr>
          <p:cNvPr id="180" name="図 12"/>
          <p:cNvPicPr/>
          <p:nvPr/>
        </p:nvPicPr>
        <p:blipFill>
          <a:blip r:embed="rId5"/>
          <a:srcRect b="27428"/>
          <a:stretch/>
        </p:blipFill>
        <p:spPr>
          <a:xfrm>
            <a:off x="6232320" y="1823040"/>
            <a:ext cx="5601240" cy="43369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TitleFrame"/>
          <p:cNvSpPr/>
          <p:nvPr/>
        </p:nvSpPr>
        <p:spPr>
          <a:xfrm>
            <a:off x="655200" y="603504"/>
            <a:ext cx="5760720" cy="804672"/>
          </a:xfrm>
          <a:prstGeom prst="roundRect">
            <a:avLst>
              <a:gd name="adj" fmla="val 8000"/>
            </a:avLst>
          </a:prstGeom>
          <a:noFill/>
          <a:ln w="28575" cap="flat">
            <a:solidFill>
              <a:srgbClr val="44546A"/>
            </a:solidFill>
            <a:round/>
          </a:ln>
        </p:spPr>
        <p:txBody>
          <a:bodyPr rtlCol="0" anchor="ctr"/>
          <a:lstStyle/>
          <a:p>
            <a:endParaRPr lang="ja-JP"/>
          </a:p>
        </p:txBody>
      </p:sp>
      <p:sp>
        <p:nvSpPr>
          <p:cNvPr id="18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2.2  UK Biobank</a:t>
            </a:r>
            <a:endParaRPr lang="en-US" sz="4600" b="1" u="none" strike="noStrike">
              <a:ln w="19050">
                <a:solidFill>
                  <a:srgbClr val="000000"/>
                </a:solidFill>
              </a:ln>
              <a:solidFill>
                <a:schemeClr val="accent4">
                  <a:lumMod val="75000"/>
                </a:schemeClr>
              </a:solidFill>
              <a:effectLst/>
              <a:uFillTx/>
              <a:latin typeface="Calibri"/>
            </a:endParaRPr>
          </a:p>
        </p:txBody>
      </p:sp>
      <p:sp>
        <p:nvSpPr>
          <p:cNvPr id="18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183"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加齢</a:t>
            </a:r>
            <a:endParaRPr lang="en-US" sz="1050" b="0" u="none" strike="noStrike">
              <a:solidFill>
                <a:srgbClr val="FFFFFF"/>
              </a:solidFill>
              <a:effectLst/>
              <a:uFillTx/>
              <a:latin typeface="Arial"/>
            </a:endParaRPr>
          </a:p>
        </p:txBody>
      </p:sp>
      <p:sp>
        <p:nvSpPr>
          <p:cNvPr id="184"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18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18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18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188"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189"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6. Cunningham 2023</a:t>
            </a:r>
            <a:endParaRPr lang="en-US" sz="1050" b="0" u="none" strike="noStrike">
              <a:solidFill>
                <a:srgbClr val="000000"/>
              </a:solidFill>
              <a:effectLst/>
              <a:uFillTx/>
              <a:latin typeface="Arial"/>
            </a:endParaRPr>
          </a:p>
        </p:txBody>
      </p:sp>
      <p:sp>
        <p:nvSpPr>
          <p:cNvPr id="190"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10/47</a:t>
            </a:r>
            <a:endParaRPr lang="en-US" sz="1200" b="0" u="none" strike="noStrike">
              <a:solidFill>
                <a:srgbClr val="000000"/>
              </a:solidFill>
              <a:effectLst/>
              <a:uFillTx/>
              <a:latin typeface="Arial"/>
            </a:endParaRPr>
          </a:p>
        </p:txBody>
      </p:sp>
      <p:pic>
        <p:nvPicPr>
          <p:cNvPr id="191" name="図 10"/>
          <p:cNvPicPr/>
          <p:nvPr/>
        </p:nvPicPr>
        <p:blipFill>
          <a:blip r:embed="rId4"/>
          <a:stretch/>
        </p:blipFill>
        <p:spPr>
          <a:xfrm>
            <a:off x="358200" y="2347200"/>
            <a:ext cx="5874120" cy="3486960"/>
          </a:xfrm>
          <a:prstGeom prst="rect">
            <a:avLst/>
          </a:prstGeom>
          <a:noFill/>
          <a:ln w="0">
            <a:noFill/>
          </a:ln>
        </p:spPr>
      </p:pic>
      <p:sp>
        <p:nvSpPr>
          <p:cNvPr id="192" name="テキスト ボックス 11"/>
          <p:cNvSpPr/>
          <p:nvPr/>
        </p:nvSpPr>
        <p:spPr>
          <a:xfrm>
            <a:off x="7518240" y="638100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US" sz="1800" b="0" u="none" strike="noStrike">
              <a:solidFill>
                <a:schemeClr val="dk1"/>
              </a:solidFill>
              <a:effectLst/>
              <a:uFillTx/>
              <a:latin typeface="Calibri"/>
            </a:endParaRPr>
          </a:p>
        </p:txBody>
      </p:sp>
      <p:pic>
        <p:nvPicPr>
          <p:cNvPr id="193" name="図 12"/>
          <p:cNvPicPr/>
          <p:nvPr/>
        </p:nvPicPr>
        <p:blipFill>
          <a:blip r:embed="rId5"/>
          <a:srcRect b="27428"/>
          <a:stretch/>
        </p:blipFill>
        <p:spPr>
          <a:xfrm>
            <a:off x="6232320" y="1823040"/>
            <a:ext cx="5601240" cy="4336920"/>
          </a:xfrm>
          <a:prstGeom prst="rect">
            <a:avLst/>
          </a:prstGeom>
          <a:noFill/>
          <a:ln w="0">
            <a:noFill/>
          </a:ln>
        </p:spPr>
      </p:pic>
      <p:sp>
        <p:nvSpPr>
          <p:cNvPr id="194" name="box"/>
          <p:cNvSpPr/>
          <p:nvPr/>
        </p:nvSpPr>
        <p:spPr>
          <a:xfrm>
            <a:off x="2283840" y="3539160"/>
            <a:ext cx="7896600" cy="1103400"/>
          </a:xfrm>
          <a:prstGeom prst="roundRect">
            <a:avLst>
              <a:gd name="adj" fmla="val 16667"/>
            </a:avLst>
          </a:prstGeom>
          <a:solidFill>
            <a:srgbClr val="F5E8C8"/>
          </a:solidFill>
          <a:ln w="15875">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262626"/>
                </a:solidFill>
                <a:effectLst/>
                <a:uFillTx/>
                <a:latin typeface="Noto Sans JP"/>
                <a:ea typeface="Noto Sans JP"/>
              </a:rPr>
              <a:t>切痕が平滑なほど</a:t>
            </a:r>
            <a:r>
              <a:rPr lang="en-US" sz="2400" b="1" u="none" strike="noStrike">
                <a:solidFill>
                  <a:srgbClr val="262626"/>
                </a:solidFill>
                <a:effectLst/>
                <a:uFillTx/>
                <a:latin typeface="Noto Sans JP"/>
                <a:ea typeface="Noto Sans JP"/>
              </a:rPr>
              <a:t>,</a:t>
            </a:r>
            <a:r>
              <a:rPr lang="ja-JP" sz="2400" b="1" u="none" strike="noStrike">
                <a:solidFill>
                  <a:srgbClr val="262626"/>
                </a:solidFill>
                <a:effectLst/>
                <a:uFillTx/>
                <a:latin typeface="Noto Sans JP"/>
                <a:ea typeface="Noto Sans JP"/>
              </a:rPr>
              <a:t>高血圧・心筋梗塞</a:t>
            </a:r>
            <a:r>
              <a:rPr lang="en-US" sz="2400" b="1" u="none" strike="noStrike">
                <a:solidFill>
                  <a:srgbClr val="262626"/>
                </a:solidFill>
                <a:effectLst/>
                <a:uFillTx/>
                <a:latin typeface="Noto Sans JP"/>
                <a:ea typeface="Noto Sans JP"/>
              </a:rPr>
              <a:t>/CAD</a:t>
            </a:r>
            <a:r>
              <a:rPr lang="ja-JP" sz="2400" b="1" u="none" strike="noStrike">
                <a:solidFill>
                  <a:srgbClr val="262626"/>
                </a:solidFill>
                <a:effectLst/>
                <a:uFillTx/>
                <a:latin typeface="Noto Sans JP"/>
                <a:ea typeface="Noto Sans JP"/>
              </a:rPr>
              <a:t>・</a:t>
            </a:r>
            <a:endParaRPr lang="en-US" sz="2400" b="0" u="none" strike="noStrike">
              <a:solidFill>
                <a:srgbClr val="000000"/>
              </a:solidFill>
              <a:effectLst/>
              <a:uFillTx/>
              <a:latin typeface="Arial"/>
            </a:endParaRPr>
          </a:p>
          <a:p>
            <a:pPr algn="ctr" defTabSz="914400">
              <a:lnSpc>
                <a:spcPct val="100000"/>
              </a:lnSpc>
            </a:pPr>
            <a:r>
              <a:rPr lang="ja-JP" sz="2400" b="1" u="none" strike="noStrike">
                <a:solidFill>
                  <a:srgbClr val="262626"/>
                </a:solidFill>
                <a:effectLst/>
                <a:uFillTx/>
                <a:latin typeface="Noto Sans JP"/>
                <a:ea typeface="Noto Sans JP"/>
              </a:rPr>
              <a:t>心不全・死亡 が増加</a:t>
            </a:r>
            <a:endParaRPr lang="en-US" sz="2400" b="0" u="none" strike="noStrike">
              <a:solidFill>
                <a:srgbClr val="000000"/>
              </a:solidFill>
              <a:effectLst/>
              <a:uFillTx/>
              <a:latin typeface="Arial"/>
            </a:endParaRPr>
          </a:p>
        </p:txBody>
      </p:sp>
      <p:sp>
        <p:nvSpPr>
          <p:cNvPr id="195" name="TextBox 20"/>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rPr>
              <a:t>CAD</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coronary artery disease</a:t>
            </a:r>
            <a:r>
              <a:rPr lang="ja-JP" sz="1050" b="0" u="none" strike="noStrike">
                <a:solidFill>
                  <a:srgbClr val="808080"/>
                </a:solidFill>
                <a:effectLst/>
                <a:uFillTx/>
                <a:latin typeface="Noto Sans JP"/>
                <a:ea typeface="Noto Sans JP"/>
              </a:rPr>
              <a:t>（冠動脈疾患）</a:t>
            </a:r>
            <a:endParaRPr lang="en-US" sz="105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19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 </a:t>
            </a:r>
            <a:r>
              <a:rPr lang="ja-JP" sz="4400" b="1" u="none" strike="noStrike">
                <a:ln w="19050">
                  <a:solidFill>
                    <a:srgbClr val="000000"/>
                  </a:solidFill>
                </a:ln>
                <a:solidFill>
                  <a:schemeClr val="accent4">
                    <a:lumMod val="75000"/>
                  </a:schemeClr>
                </a:solidFill>
                <a:effectLst/>
                <a:uFillTx/>
                <a:latin typeface="Noto Sans JP"/>
                <a:ea typeface="Noto Sans JP"/>
              </a:rPr>
              <a:t>波形への影響：循環</a:t>
            </a:r>
            <a:endParaRPr lang="en-US" sz="4600" b="1" u="none" strike="noStrike">
              <a:ln w="19050">
                <a:solidFill>
                  <a:srgbClr val="000000"/>
                </a:solidFill>
              </a:ln>
              <a:solidFill>
                <a:schemeClr val="accent4">
                  <a:lumMod val="75000"/>
                </a:schemeClr>
              </a:solidFill>
              <a:effectLst/>
              <a:uFillTx/>
              <a:latin typeface="Calibri"/>
            </a:endParaRPr>
          </a:p>
        </p:txBody>
      </p:sp>
      <p:sp>
        <p:nvSpPr>
          <p:cNvPr id="19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19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199"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20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20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20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20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204"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2701"/>
              </a:lnSpc>
              <a:tabLst>
                <a:tab pos="0" algn="l"/>
              </a:tabLst>
            </a:pPr>
            <a:r>
              <a:rPr lang="en-US" sz="2200" b="1" u="none" strike="noStrike">
                <a:solidFill>
                  <a:srgbClr val="D9D9D9"/>
                </a:solidFill>
                <a:effectLst/>
                <a:uFillTx/>
                <a:latin typeface="Noto Sans JP"/>
                <a:ea typeface="Noto Sans JP"/>
              </a:rPr>
              <a:t>1. </a:t>
            </a:r>
            <a:r>
              <a:rPr lang="ja-JP" sz="2200" b="0" u="none" strike="noStrike">
                <a:solidFill>
                  <a:srgbClr val="D9D9D9"/>
                </a:solidFill>
                <a:effectLst/>
                <a:uFillTx/>
                <a:latin typeface="Noto Sans JP"/>
                <a:ea typeface="Noto Sans JP"/>
              </a:rPr>
              <a:t>基礎：</a:t>
            </a:r>
            <a:r>
              <a:rPr lang="en-US" sz="2200" b="0" u="none" strike="noStrike">
                <a:solidFill>
                  <a:srgbClr val="D9D9D9"/>
                </a:solidFill>
                <a:effectLst/>
                <a:uFillTx/>
                <a:latin typeface="Noto Sans JP"/>
                <a:ea typeface="Noto Sans JP"/>
              </a:rPr>
              <a:t>PPG</a:t>
            </a:r>
            <a:r>
              <a:rPr lang="ja-JP" sz="2200" b="0" u="none" strike="noStrike">
                <a:solidFill>
                  <a:srgbClr val="D9D9D9"/>
                </a:solidFill>
                <a:effectLst/>
                <a:uFillTx/>
                <a:latin typeface="Noto Sans JP"/>
                <a:ea typeface="Noto Sans JP"/>
              </a:rPr>
              <a:t>の成り立ちと反射波の土台</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Noto Sans JP"/>
                <a:ea typeface="Noto Sans JP"/>
              </a:rPr>
              <a:t>2. </a:t>
            </a:r>
            <a:r>
              <a:rPr lang="ja-JP" sz="2200" b="0" u="none" strike="noStrike">
                <a:solidFill>
                  <a:srgbClr val="D9D9D9"/>
                </a:solidFill>
                <a:effectLst/>
                <a:uFillTx/>
                <a:latin typeface="Noto Sans JP"/>
                <a:ea typeface="Noto Sans JP"/>
              </a:rPr>
              <a:t>波形への影響：加齢</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BF9000"/>
                </a:solidFill>
                <a:effectLst/>
                <a:uFillTx/>
                <a:latin typeface="Noto Sans JP"/>
                <a:ea typeface="Noto Sans JP"/>
              </a:rPr>
              <a:t>3. </a:t>
            </a:r>
            <a:r>
              <a:rPr lang="ja-JP" sz="2200" b="1" u="none" strike="noStrike">
                <a:solidFill>
                  <a:srgbClr val="262626"/>
                </a:solidFill>
                <a:effectLst/>
                <a:uFillTx/>
                <a:latin typeface="Noto Sans JP"/>
                <a:ea typeface="Noto Sans JP"/>
              </a:rPr>
              <a:t>波形への影響：循環</a:t>
            </a:r>
            <a:endParaRPr lang="en-US" sz="215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Noto Sans JP"/>
                <a:ea typeface="Noto Sans JP"/>
              </a:rPr>
              <a:t>3.1</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心拍数</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Noto Sans JP"/>
                <a:ea typeface="Noto Sans JP"/>
              </a:rPr>
              <a:t>3.2</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前負荷</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Noto Sans JP"/>
                <a:ea typeface="Noto Sans JP"/>
              </a:rPr>
              <a:t>3.3</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心収縮力</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Noto Sans JP"/>
                <a:ea typeface="Noto Sans JP"/>
              </a:rPr>
              <a:t>3.4</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末梢血管トーヌス</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Noto Sans JP"/>
                <a:ea typeface="Noto Sans JP"/>
              </a:rPr>
              <a:t>3.5</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大血管エラスタンス</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Noto Sans JP"/>
                <a:ea typeface="Noto Sans JP"/>
              </a:rPr>
              <a:t>3.6</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後負荷の差</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Noto Sans JP"/>
                <a:ea typeface="Noto Sans JP"/>
              </a:rPr>
              <a:t>3.7</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裏付けの強さ</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Noto Sans JP"/>
                <a:ea typeface="Noto Sans JP"/>
              </a:rPr>
              <a:t>3.8</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麻酔中の変化</a:t>
            </a:r>
            <a:endParaRPr lang="en-US" sz="18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Noto Sans JP"/>
                <a:ea typeface="Noto Sans JP"/>
              </a:rPr>
              <a:t>4. </a:t>
            </a:r>
            <a:r>
              <a:rPr lang="ja-JP" sz="2200" b="0" u="none" strike="noStrike">
                <a:solidFill>
                  <a:srgbClr val="D9D9D9"/>
                </a:solidFill>
                <a:effectLst/>
                <a:uFillTx/>
                <a:latin typeface="Noto Sans JP"/>
                <a:ea typeface="Noto Sans JP"/>
              </a:rPr>
              <a:t>波形の定量化</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Noto Sans JP"/>
                <a:ea typeface="Noto Sans JP"/>
              </a:rPr>
              <a:t>5. </a:t>
            </a:r>
            <a:r>
              <a:rPr lang="en-US" sz="2200" b="0" u="none" strike="noStrike">
                <a:solidFill>
                  <a:srgbClr val="D9D9D9"/>
                </a:solidFill>
                <a:effectLst/>
                <a:uFillTx/>
                <a:latin typeface="Noto Sans JP"/>
                <a:ea typeface="Noto Sans JP"/>
              </a:rPr>
              <a:t>SpO₂</a:t>
            </a:r>
            <a:r>
              <a:rPr lang="ja-JP" sz="2200" b="0" u="none" strike="noStrike">
                <a:solidFill>
                  <a:srgbClr val="D9D9D9"/>
                </a:solidFill>
                <a:effectLst/>
                <a:uFillTx/>
                <a:latin typeface="Noto Sans JP"/>
                <a:ea typeface="Noto Sans JP"/>
              </a:rPr>
              <a:t>波形解析まとめ</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Noto Sans JP"/>
                <a:ea typeface="Noto Sans JP"/>
              </a:rPr>
              <a:t>6. </a:t>
            </a:r>
            <a:r>
              <a:rPr lang="ja-JP" sz="2200" b="0" u="none" strike="noStrike">
                <a:solidFill>
                  <a:srgbClr val="D9D9D9"/>
                </a:solidFill>
                <a:effectLst/>
                <a:uFillTx/>
                <a:latin typeface="Noto Sans JP"/>
                <a:ea typeface="Noto Sans JP"/>
              </a:rPr>
              <a:t>限界</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Noto Sans JP"/>
                <a:ea typeface="Noto Sans JP"/>
              </a:rPr>
              <a:t>7. </a:t>
            </a:r>
            <a:r>
              <a:rPr lang="en-US" sz="2200" b="0" u="none" strike="noStrike">
                <a:solidFill>
                  <a:srgbClr val="D9D9D9"/>
                </a:solidFill>
                <a:effectLst/>
                <a:uFillTx/>
                <a:latin typeface="Noto Sans JP"/>
                <a:ea typeface="Noto Sans JP"/>
              </a:rPr>
              <a:t>esCCO</a:t>
            </a:r>
            <a:r>
              <a:rPr lang="ja-JP" sz="2200" b="0" u="none" strike="noStrike">
                <a:solidFill>
                  <a:srgbClr val="D9D9D9"/>
                </a:solidFill>
                <a:effectLst/>
                <a:uFillTx/>
                <a:latin typeface="Noto Sans JP"/>
                <a:ea typeface="Noto Sans JP"/>
              </a:rPr>
              <a:t>精度改善案</a:t>
            </a:r>
            <a:endParaRPr lang="en-US" sz="2000" b="0" u="none" strike="noStrike">
              <a:solidFill>
                <a:srgbClr val="000000"/>
              </a:solidFill>
              <a:effectLst/>
              <a:uFillTx/>
              <a:latin typeface="Arial"/>
            </a:endParaRPr>
          </a:p>
        </p:txBody>
      </p:sp>
      <p:sp>
        <p:nvSpPr>
          <p:cNvPr id="205"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11/47</a:t>
            </a:r>
            <a:endParaRPr lang="en-US" sz="12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itleFrame"/>
          <p:cNvSpPr/>
          <p:nvPr/>
        </p:nvSpPr>
        <p:spPr>
          <a:xfrm>
            <a:off x="655200" y="603504"/>
            <a:ext cx="4096512" cy="804672"/>
          </a:xfrm>
          <a:prstGeom prst="roundRect">
            <a:avLst>
              <a:gd name="adj" fmla="val 8000"/>
            </a:avLst>
          </a:prstGeom>
          <a:noFill/>
          <a:ln w="28575" cap="flat">
            <a:solidFill>
              <a:srgbClr val="44546A"/>
            </a:solidFill>
            <a:round/>
          </a:ln>
        </p:spPr>
        <p:txBody>
          <a:bodyPr rtlCol="0" anchor="ctr"/>
          <a:lstStyle/>
          <a:p>
            <a:endParaRPr lang="ja-JP"/>
          </a:p>
        </p:txBody>
      </p:sp>
      <p:sp>
        <p:nvSpPr>
          <p:cNvPr id="20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3.1  </a:t>
            </a:r>
            <a:r>
              <a:rPr lang="ja-JP" sz="4400" b="1" u="none" strike="noStrike">
                <a:ln w="19050">
                  <a:solidFill>
                    <a:srgbClr val="000000"/>
                  </a:solidFill>
                </a:ln>
                <a:solidFill>
                  <a:schemeClr val="accent4">
                    <a:lumMod val="75000"/>
                  </a:schemeClr>
                </a:solidFill>
                <a:effectLst/>
                <a:uFillTx/>
                <a:latin typeface="Noto Sans JP"/>
                <a:ea typeface="Noto Sans JP"/>
              </a:rPr>
              <a:t>心拍数</a:t>
            </a:r>
            <a:endParaRPr lang="en-US" sz="4600" b="1" u="none" strike="noStrike">
              <a:ln w="19050">
                <a:solidFill>
                  <a:srgbClr val="000000"/>
                </a:solidFill>
              </a:ln>
              <a:solidFill>
                <a:schemeClr val="accent4">
                  <a:lumMod val="75000"/>
                </a:schemeClr>
              </a:solidFill>
              <a:effectLst/>
              <a:uFillTx/>
              <a:latin typeface="Calibri"/>
            </a:endParaRPr>
          </a:p>
        </p:txBody>
      </p:sp>
      <p:sp>
        <p:nvSpPr>
          <p:cNvPr id="20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20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209"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21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21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21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21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214"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7. Wilkinson 2000  ／  19. Hashimoto 2002  ／  23. Charlton 2019  ／  24. Md Lazim 2020</a:t>
            </a:r>
            <a:endParaRPr lang="en-US" sz="1050" b="0" u="none" strike="noStrike">
              <a:solidFill>
                <a:srgbClr val="000000"/>
              </a:solidFill>
              <a:effectLst/>
              <a:uFillTx/>
              <a:latin typeface="Arial"/>
            </a:endParaRPr>
          </a:p>
        </p:txBody>
      </p:sp>
      <p:sp>
        <p:nvSpPr>
          <p:cNvPr id="215"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12/47</a:t>
            </a:r>
            <a:endParaRPr lang="en-US" sz="1200" b="0" u="none" strike="noStrike">
              <a:solidFill>
                <a:srgbClr val="000000"/>
              </a:solidFill>
              <a:effectLst/>
              <a:uFillTx/>
              <a:latin typeface="Arial"/>
            </a:endParaRPr>
          </a:p>
        </p:txBody>
      </p:sp>
      <p:pic>
        <p:nvPicPr>
          <p:cNvPr id="216" name="図 2"/>
          <p:cNvPicPr/>
          <p:nvPr/>
        </p:nvPicPr>
        <p:blipFill>
          <a:blip r:embed="rId4"/>
          <a:srcRect l="71660" t="12611"/>
          <a:stretch/>
        </p:blipFill>
        <p:spPr>
          <a:xfrm>
            <a:off x="4250880" y="1793520"/>
            <a:ext cx="4433400" cy="4041360"/>
          </a:xfrm>
          <a:prstGeom prst="rect">
            <a:avLst/>
          </a:prstGeom>
          <a:noFill/>
          <a:ln w="0">
            <a:noFill/>
          </a:ln>
        </p:spPr>
      </p:pic>
      <p:pic>
        <p:nvPicPr>
          <p:cNvPr id="217" name="図 5"/>
          <p:cNvPicPr/>
          <p:nvPr/>
        </p:nvPicPr>
        <p:blipFill>
          <a:blip r:embed="rId4"/>
          <a:srcRect l="1878" t="44550" r="91433" b="35540"/>
          <a:stretch/>
        </p:blipFill>
        <p:spPr>
          <a:xfrm>
            <a:off x="2879280" y="3595680"/>
            <a:ext cx="1044720" cy="92016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TitleFrame"/>
          <p:cNvSpPr/>
          <p:nvPr/>
        </p:nvSpPr>
        <p:spPr>
          <a:xfrm>
            <a:off x="655200" y="603504"/>
            <a:ext cx="4096512" cy="804672"/>
          </a:xfrm>
          <a:prstGeom prst="roundRect">
            <a:avLst>
              <a:gd name="adj" fmla="val 8000"/>
            </a:avLst>
          </a:prstGeom>
          <a:noFill/>
          <a:ln w="28575" cap="flat">
            <a:solidFill>
              <a:srgbClr val="44546A"/>
            </a:solidFill>
            <a:round/>
          </a:ln>
        </p:spPr>
        <p:txBody>
          <a:bodyPr rtlCol="0" anchor="ctr"/>
          <a:lstStyle/>
          <a:p>
            <a:endParaRPr lang="ja-JP"/>
          </a:p>
        </p:txBody>
      </p:sp>
      <p:sp>
        <p:nvSpPr>
          <p:cNvPr id="21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3.2  </a:t>
            </a:r>
            <a:r>
              <a:rPr lang="ja-JP" sz="4400" b="1" u="none" strike="noStrike">
                <a:ln w="19050">
                  <a:solidFill>
                    <a:srgbClr val="000000"/>
                  </a:solidFill>
                </a:ln>
                <a:solidFill>
                  <a:schemeClr val="accent4">
                    <a:lumMod val="75000"/>
                  </a:schemeClr>
                </a:solidFill>
                <a:effectLst/>
                <a:uFillTx/>
                <a:latin typeface="Noto Sans JP"/>
                <a:ea typeface="Noto Sans JP"/>
              </a:rPr>
              <a:t>前負荷</a:t>
            </a:r>
            <a:endParaRPr lang="en-US" sz="4600" b="1" u="none" strike="noStrike">
              <a:ln w="19050">
                <a:solidFill>
                  <a:srgbClr val="000000"/>
                </a:solidFill>
              </a:ln>
              <a:solidFill>
                <a:schemeClr val="accent4">
                  <a:lumMod val="75000"/>
                </a:schemeClr>
              </a:solidFill>
              <a:effectLst/>
              <a:uFillTx/>
              <a:latin typeface="Calibri"/>
            </a:endParaRPr>
          </a:p>
        </p:txBody>
      </p:sp>
      <p:sp>
        <p:nvSpPr>
          <p:cNvPr id="21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220"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221"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22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22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22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225"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226" name="TextBox 7"/>
          <p:cNvSpPr/>
          <p:nvPr/>
        </p:nvSpPr>
        <p:spPr>
          <a:xfrm>
            <a:off x="720000" y="6606000"/>
            <a:ext cx="10439640" cy="16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8. Alian 2011</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4"/>
              </a:rPr>
              <a:t>9. Cannesson 2005</a:t>
            </a:r>
            <a:endParaRPr lang="en-US" sz="1050" b="0" u="none" strike="noStrike">
              <a:solidFill>
                <a:srgbClr val="000000"/>
              </a:solidFill>
              <a:effectLst/>
              <a:uFillTx/>
              <a:latin typeface="Arial"/>
            </a:endParaRPr>
          </a:p>
        </p:txBody>
      </p:sp>
      <p:pic>
        <p:nvPicPr>
          <p:cNvPr id="227" name="Picture 8" descr="09b_preload_overlay.png"/>
          <p:cNvPicPr/>
          <p:nvPr/>
        </p:nvPicPr>
        <p:blipFill>
          <a:blip r:embed="rId5"/>
          <a:srcRect t="22370" r="28310"/>
          <a:stretch/>
        </p:blipFill>
        <p:spPr>
          <a:xfrm>
            <a:off x="-61560" y="1463760"/>
            <a:ext cx="9074520" cy="4534920"/>
          </a:xfrm>
          <a:prstGeom prst="rect">
            <a:avLst/>
          </a:prstGeom>
          <a:noFill/>
          <a:ln w="0">
            <a:noFill/>
          </a:ln>
        </p:spPr>
      </p:pic>
      <p:sp>
        <p:nvSpPr>
          <p:cNvPr id="228"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13/47</a:t>
            </a:r>
            <a:endParaRPr lang="en-US" sz="1200" b="0" u="none" strike="noStrike">
              <a:solidFill>
                <a:srgbClr val="000000"/>
              </a:solidFill>
              <a:effectLst/>
              <a:uFillTx/>
              <a:latin typeface="Arial"/>
            </a:endParaRPr>
          </a:p>
        </p:txBody>
      </p:sp>
      <p:sp>
        <p:nvSpPr>
          <p:cNvPr id="229" name="lg1"/>
          <p:cNvSpPr/>
          <p:nvPr/>
        </p:nvSpPr>
        <p:spPr>
          <a:xfrm>
            <a:off x="8475480" y="2156400"/>
            <a:ext cx="2979360" cy="300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200" b="1" u="none" strike="noStrike">
                <a:solidFill>
                  <a:srgbClr val="70AD47"/>
                </a:solidFill>
                <a:effectLst/>
                <a:uFillTx/>
                <a:latin typeface="Noto Sans JP"/>
                <a:ea typeface="Noto Sans JP"/>
              </a:rPr>
              <a:t>正常前負荷</a:t>
            </a:r>
            <a:endParaRPr lang="en-US" sz="2200" b="0" u="none" strike="noStrike">
              <a:solidFill>
                <a:srgbClr val="000000"/>
              </a:solidFill>
              <a:effectLst/>
              <a:uFillTx/>
              <a:latin typeface="Arial"/>
            </a:endParaRPr>
          </a:p>
        </p:txBody>
      </p:sp>
      <p:sp>
        <p:nvSpPr>
          <p:cNvPr id="230" name="lg2"/>
          <p:cNvSpPr/>
          <p:nvPr/>
        </p:nvSpPr>
        <p:spPr>
          <a:xfrm>
            <a:off x="7737839" y="2610720"/>
            <a:ext cx="4346280" cy="37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200" b="1" u="none" strike="noStrike">
                <a:solidFill>
                  <a:srgbClr val="E8853B"/>
                </a:solidFill>
                <a:effectLst/>
                <a:uFillTx/>
                <a:latin typeface="Noto Sans JP"/>
                <a:ea typeface="Noto Sans JP"/>
              </a:rPr>
              <a:t>前負荷低下（脱血・</a:t>
            </a:r>
            <a:r>
              <a:rPr lang="en-US" sz="2200" b="1" u="none" strike="noStrike">
                <a:solidFill>
                  <a:srgbClr val="E8853B"/>
                </a:solidFill>
                <a:effectLst/>
                <a:uFillTx/>
                <a:latin typeface="Noto Sans JP"/>
                <a:ea typeface="Noto Sans JP"/>
              </a:rPr>
              <a:t>LBNP</a:t>
            </a:r>
            <a:r>
              <a:rPr lang="ja-JP" sz="2200" b="1" u="none" strike="noStrike">
                <a:solidFill>
                  <a:srgbClr val="E8853B"/>
                </a:solidFill>
                <a:effectLst/>
                <a:uFillTx/>
                <a:latin typeface="Noto Sans JP"/>
                <a:ea typeface="Noto Sans JP"/>
              </a:rPr>
              <a:t>）</a:t>
            </a:r>
            <a:endParaRPr lang="en-US" sz="2200" b="0" u="none" strike="noStrike">
              <a:solidFill>
                <a:srgbClr val="000000"/>
              </a:solidFill>
              <a:effectLst/>
              <a:uFillTx/>
              <a:latin typeface="Arial"/>
            </a:endParaRPr>
          </a:p>
        </p:txBody>
      </p:sp>
      <p:sp>
        <p:nvSpPr>
          <p:cNvPr id="231" name="cap"/>
          <p:cNvSpPr/>
          <p:nvPr/>
        </p:nvSpPr>
        <p:spPr>
          <a:xfrm>
            <a:off x="1440360" y="5427000"/>
            <a:ext cx="9311040" cy="873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800" b="1" u="none" strike="noStrike">
                <a:solidFill>
                  <a:srgbClr val="262626"/>
                </a:solidFill>
                <a:effectLst/>
                <a:uFillTx/>
                <a:latin typeface="Noto Sans JP"/>
                <a:ea typeface="Noto Sans JP"/>
              </a:rPr>
              <a:t>progressive hypovolemia </a:t>
            </a:r>
            <a:r>
              <a:rPr lang="ja-JP" sz="2800" b="1" u="none" strike="noStrike">
                <a:solidFill>
                  <a:srgbClr val="262626"/>
                </a:solidFill>
                <a:effectLst/>
                <a:uFillTx/>
                <a:latin typeface="Noto Sans JP"/>
                <a:ea typeface="Noto Sans JP"/>
              </a:rPr>
              <a:t>で </a:t>
            </a:r>
            <a:endParaRPr lang="en-US" sz="2800" b="0" u="none" strike="noStrike">
              <a:solidFill>
                <a:srgbClr val="000000"/>
              </a:solidFill>
              <a:effectLst/>
              <a:uFillTx/>
              <a:latin typeface="Arial"/>
            </a:endParaRPr>
          </a:p>
          <a:p>
            <a:pPr algn="ctr" defTabSz="914400">
              <a:lnSpc>
                <a:spcPct val="100000"/>
              </a:lnSpc>
            </a:pPr>
            <a:r>
              <a:rPr lang="ja-JP" sz="2800" b="1" u="none" strike="noStrike">
                <a:solidFill>
                  <a:srgbClr val="262626"/>
                </a:solidFill>
                <a:effectLst/>
                <a:uFillTx/>
                <a:latin typeface="Noto Sans JP"/>
                <a:ea typeface="Noto Sans JP"/>
              </a:rPr>
              <a:t>指尖</a:t>
            </a:r>
            <a:r>
              <a:rPr lang="en-US" sz="2800" b="1" u="none" strike="noStrike">
                <a:solidFill>
                  <a:srgbClr val="262626"/>
                </a:solidFill>
                <a:effectLst/>
                <a:uFillTx/>
                <a:latin typeface="Noto Sans JP"/>
                <a:ea typeface="Noto Sans JP"/>
              </a:rPr>
              <a:t>PPG </a:t>
            </a:r>
            <a:r>
              <a:rPr lang="ja-JP" sz="2800" b="1" u="none" strike="noStrike">
                <a:solidFill>
                  <a:srgbClr val="262626"/>
                </a:solidFill>
                <a:effectLst/>
                <a:uFillTx/>
                <a:latin typeface="Noto Sans JP"/>
                <a:ea typeface="Noto Sans JP"/>
              </a:rPr>
              <a:t>の 高さ・面積・傾き が低下</a:t>
            </a:r>
            <a:endParaRPr lang="en-US" sz="2800" b="0" u="none" strike="noStrike">
              <a:solidFill>
                <a:srgbClr val="000000"/>
              </a:solidFill>
              <a:effectLst/>
              <a:uFillTx/>
              <a:latin typeface="Arial"/>
            </a:endParaRPr>
          </a:p>
        </p:txBody>
      </p:sp>
      <p:pic>
        <p:nvPicPr>
          <p:cNvPr id="232" name="Picture 8" descr="09b_preload_overlay.png"/>
          <p:cNvPicPr/>
          <p:nvPr/>
        </p:nvPicPr>
        <p:blipFill>
          <a:blip r:embed="rId5"/>
          <a:srcRect l="56359" r="31021" b="72449"/>
          <a:stretch/>
        </p:blipFill>
        <p:spPr>
          <a:xfrm>
            <a:off x="6737400" y="1842120"/>
            <a:ext cx="1622160" cy="1634760"/>
          </a:xfrm>
          <a:prstGeom prst="rect">
            <a:avLst/>
          </a:prstGeom>
          <a:noFill/>
          <a:ln w="0">
            <a:noFill/>
          </a:ln>
        </p:spPr>
      </p:pic>
      <p:sp>
        <p:nvSpPr>
          <p:cNvPr id="233" name="TextBox 343"/>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rPr>
              <a:t>LBNP</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lower body negative pressure</a:t>
            </a:r>
            <a:r>
              <a:rPr lang="ja-JP" sz="1050" b="0" u="none" strike="noStrike">
                <a:solidFill>
                  <a:srgbClr val="808080"/>
                </a:solidFill>
                <a:effectLst/>
                <a:uFillTx/>
                <a:latin typeface="Noto Sans JP"/>
                <a:ea typeface="Noto Sans JP"/>
              </a:rPr>
              <a:t>（下半身陰圧負荷）</a:t>
            </a:r>
            <a:endParaRPr lang="en-US" sz="105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TitleFrame"/>
          <p:cNvSpPr/>
          <p:nvPr/>
        </p:nvSpPr>
        <p:spPr>
          <a:xfrm>
            <a:off x="655200" y="603504"/>
            <a:ext cx="4096512" cy="804672"/>
          </a:xfrm>
          <a:prstGeom prst="roundRect">
            <a:avLst>
              <a:gd name="adj" fmla="val 8000"/>
            </a:avLst>
          </a:prstGeom>
          <a:noFill/>
          <a:ln w="28575" cap="flat">
            <a:solidFill>
              <a:srgbClr val="44546A"/>
            </a:solidFill>
            <a:round/>
          </a:ln>
        </p:spPr>
        <p:txBody>
          <a:bodyPr rtlCol="0" anchor="ctr"/>
          <a:lstStyle/>
          <a:p>
            <a:endParaRPr lang="ja-JP"/>
          </a:p>
        </p:txBody>
      </p:sp>
      <p:sp>
        <p:nvSpPr>
          <p:cNvPr id="23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3.2  </a:t>
            </a:r>
            <a:r>
              <a:rPr lang="ja-JP" sz="4400" b="1" u="none" strike="noStrike">
                <a:ln w="19050">
                  <a:solidFill>
                    <a:srgbClr val="000000"/>
                  </a:solidFill>
                </a:ln>
                <a:solidFill>
                  <a:schemeClr val="accent4">
                    <a:lumMod val="75000"/>
                  </a:schemeClr>
                </a:solidFill>
                <a:effectLst/>
                <a:uFillTx/>
                <a:latin typeface="Noto Sans JP"/>
                <a:ea typeface="Noto Sans JP"/>
              </a:rPr>
              <a:t>前負荷</a:t>
            </a:r>
            <a:endParaRPr lang="en-US" sz="5400" b="1" u="none" strike="noStrike">
              <a:ln w="19050">
                <a:solidFill>
                  <a:srgbClr val="000000"/>
                </a:solidFill>
              </a:ln>
              <a:solidFill>
                <a:schemeClr val="accent4">
                  <a:lumMod val="75000"/>
                </a:schemeClr>
              </a:solidFill>
              <a:effectLst/>
              <a:uFillTx/>
              <a:latin typeface="Calibri"/>
            </a:endParaRPr>
          </a:p>
        </p:txBody>
      </p:sp>
      <p:sp>
        <p:nvSpPr>
          <p:cNvPr id="235"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indent="0" algn="l" defTabSz="914400">
              <a:lnSpc>
                <a:spcPct val="90000"/>
              </a:lnSpc>
              <a:spcBef>
                <a:spcPts val="1001"/>
              </a:spcBef>
              <a:buNone/>
            </a:pPr>
            <a:endParaRPr lang="en-US" sz="2800" b="0" u="none" strike="noStrike">
              <a:ln w="19050">
                <a:solidFill>
                  <a:srgbClr val="000000"/>
                </a:solidFill>
              </a:ln>
              <a:solidFill>
                <a:schemeClr val="dk1"/>
              </a:solidFill>
              <a:effectLst/>
              <a:uFillTx/>
              <a:latin typeface="Calibri"/>
            </a:endParaRPr>
          </a:p>
        </p:txBody>
      </p:sp>
      <p:pic>
        <p:nvPicPr>
          <p:cNvPr id="236" name="図 4"/>
          <p:cNvPicPr/>
          <p:nvPr/>
        </p:nvPicPr>
        <p:blipFill>
          <a:blip r:embed="rId2"/>
          <a:stretch/>
        </p:blipFill>
        <p:spPr>
          <a:xfrm>
            <a:off x="8019000" y="1560600"/>
            <a:ext cx="3940200" cy="3012480"/>
          </a:xfrm>
          <a:prstGeom prst="rect">
            <a:avLst/>
          </a:prstGeom>
          <a:noFill/>
          <a:ln w="0">
            <a:noFill/>
          </a:ln>
        </p:spPr>
      </p:pic>
      <p:pic>
        <p:nvPicPr>
          <p:cNvPr id="237" name="図 5"/>
          <p:cNvPicPr/>
          <p:nvPr/>
        </p:nvPicPr>
        <p:blipFill>
          <a:blip r:embed="rId3"/>
          <a:stretch/>
        </p:blipFill>
        <p:spPr>
          <a:xfrm>
            <a:off x="75240" y="1560600"/>
            <a:ext cx="7772040" cy="5078160"/>
          </a:xfrm>
          <a:prstGeom prst="rect">
            <a:avLst/>
          </a:prstGeom>
          <a:noFill/>
          <a:ln w="0">
            <a:noFill/>
          </a:ln>
        </p:spPr>
      </p:pic>
      <p:sp>
        <p:nvSpPr>
          <p:cNvPr id="238" name="TextBox 6"/>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200" b="0" u="none" strike="noStrike">
                <a:solidFill>
                  <a:srgbClr val="808080"/>
                </a:solidFill>
                <a:effectLst/>
                <a:uFillTx/>
                <a:latin typeface="Noto Sans JP"/>
                <a:ea typeface="Noto Sans JP"/>
              </a:rPr>
              <a:t>14/47</a:t>
            </a:r>
            <a:endParaRPr lang="en-US" sz="12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 name="Picture 8" descr="09_preload.png"/>
          <p:cNvPicPr/>
          <p:nvPr/>
        </p:nvPicPr>
        <p:blipFill>
          <a:blip r:embed="rId3"/>
          <a:stretch/>
        </p:blipFill>
        <p:spPr>
          <a:xfrm>
            <a:off x="1442160" y="1800000"/>
            <a:ext cx="9283320" cy="4317840"/>
          </a:xfrm>
          <a:prstGeom prst="rect">
            <a:avLst/>
          </a:prstGeom>
          <a:noFill/>
          <a:ln w="0">
            <a:noFill/>
          </a:ln>
        </p:spPr>
      </p:pic>
      <p:sp>
        <p:nvSpPr>
          <p:cNvPr id="253"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2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3.2  </a:t>
            </a:r>
            <a:r>
              <a:rPr lang="ja-JP" sz="4400" b="1" u="none" strike="noStrike">
                <a:ln w="19050">
                  <a:solidFill>
                    <a:srgbClr val="000000"/>
                  </a:solidFill>
                </a:ln>
                <a:solidFill>
                  <a:schemeClr val="accent4">
                    <a:lumMod val="75000"/>
                  </a:schemeClr>
                </a:solidFill>
                <a:effectLst/>
                <a:uFillTx/>
                <a:latin typeface="Noto Sans JP"/>
                <a:ea typeface="Noto Sans JP"/>
              </a:rPr>
              <a:t>前負荷（</a:t>
            </a:r>
            <a:r>
              <a:rPr lang="en-US" sz="4400" b="1" u="none" strike="noStrike">
                <a:ln w="19050">
                  <a:solidFill>
                    <a:srgbClr val="000000"/>
                  </a:solidFill>
                </a:ln>
                <a:solidFill>
                  <a:schemeClr val="accent4">
                    <a:lumMod val="75000"/>
                  </a:schemeClr>
                </a:solidFill>
                <a:effectLst/>
                <a:uFillTx/>
                <a:latin typeface="Noto Sans JP"/>
                <a:ea typeface="Noto Sans JP"/>
              </a:rPr>
              <a:t>ΔPOP</a:t>
            </a:r>
            <a:r>
              <a:rPr lang="ja-JP" sz="4400" b="1" u="none" strike="noStrike">
                <a:ln w="19050">
                  <a:solidFill>
                    <a:srgbClr val="000000"/>
                  </a:solidFill>
                </a:ln>
                <a:solidFill>
                  <a:schemeClr val="accent4">
                    <a:lumMod val="75000"/>
                  </a:schemeClr>
                </a:solidFill>
                <a:effectLst/>
                <a:uFillTx/>
                <a:latin typeface="Noto Sans JP"/>
                <a:ea typeface="Noto Sans JP"/>
              </a:rPr>
              <a:t>）</a:t>
            </a:r>
            <a:endParaRPr lang="en-US" sz="4600" b="1" u="none" strike="noStrike">
              <a:ln w="19050">
                <a:solidFill>
                  <a:srgbClr val="000000"/>
                </a:solidFill>
              </a:ln>
              <a:solidFill>
                <a:schemeClr val="accent4">
                  <a:lumMod val="75000"/>
                </a:schemeClr>
              </a:solidFill>
              <a:effectLst/>
              <a:uFillTx/>
              <a:latin typeface="Calibri"/>
            </a:endParaRPr>
          </a:p>
        </p:txBody>
      </p:sp>
      <p:sp>
        <p:nvSpPr>
          <p:cNvPr id="24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24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243"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24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24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24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247"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248"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4"/>
              </a:rPr>
              <a:t>9. </a:t>
            </a:r>
            <a:r>
              <a:rPr lang="en-US" sz="1050" b="0" u="none" strike="noStrike">
                <a:solidFill>
                  <a:srgbClr val="808080"/>
                </a:solidFill>
                <a:effectLst/>
                <a:uFillTx/>
                <a:latin typeface="Noto Sans JP"/>
                <a:ea typeface="Noto Sans JP"/>
                <a:hlinkClick r:id="rId4"/>
              </a:rPr>
              <a:t>Cannesson 2005</a:t>
            </a:r>
            <a:endParaRPr lang="en-US" sz="1050" b="0" u="none" strike="noStrike">
              <a:solidFill>
                <a:srgbClr val="000000"/>
              </a:solidFill>
              <a:effectLst/>
              <a:uFillTx/>
              <a:latin typeface="Arial"/>
            </a:endParaRPr>
          </a:p>
        </p:txBody>
      </p:sp>
      <p:sp>
        <p:nvSpPr>
          <p:cNvPr id="249"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15/47</a:t>
            </a:r>
            <a:endParaRPr lang="en-US" sz="1200" b="0" u="none" strike="noStrike">
              <a:solidFill>
                <a:srgbClr val="000000"/>
              </a:solidFill>
              <a:effectLst/>
              <a:uFillTx/>
              <a:latin typeface="Arial"/>
            </a:endParaRPr>
          </a:p>
        </p:txBody>
      </p:sp>
      <p:sp>
        <p:nvSpPr>
          <p:cNvPr id="250" name="Rounded Rectangle 19"/>
          <p:cNvSpPr/>
          <p:nvPr/>
        </p:nvSpPr>
        <p:spPr>
          <a:xfrm>
            <a:off x="1722960" y="5464440"/>
            <a:ext cx="8588520" cy="550440"/>
          </a:xfrm>
          <a:prstGeom prst="roundRect">
            <a:avLst>
              <a:gd name="adj" fmla="val 10000"/>
            </a:avLst>
          </a:prstGeom>
          <a:solidFill>
            <a:srgbClr val="F5E8C8"/>
          </a:solidFill>
          <a:ln w="19050">
            <a:solidFill>
              <a:srgbClr val="C9992B"/>
            </a:solidFill>
          </a:ln>
        </p:spPr>
        <p:style>
          <a:lnRef idx="1">
            <a:schemeClr val="accent1"/>
          </a:lnRef>
          <a:fillRef idx="3">
            <a:schemeClr val="accent1"/>
          </a:fillRef>
          <a:effectRef idx="2">
            <a:schemeClr val="accent1"/>
          </a:effectRef>
          <a:fontRef idx="minor"/>
        </p:style>
        <p:txBody>
          <a:bodyPr lIns="76320" tIns="38160" rIns="76320" bIns="38160" anchor="ctr">
            <a:noAutofit/>
          </a:bodyPr>
          <a:lstStyle/>
          <a:p>
            <a:pPr algn="ctr" defTabSz="914400">
              <a:lnSpc>
                <a:spcPct val="105000"/>
              </a:lnSpc>
            </a:pPr>
            <a:r>
              <a:rPr lang="en-US" sz="2400" b="1" u="none" strike="noStrike">
                <a:solidFill>
                  <a:srgbClr val="5B4A12"/>
                </a:solidFill>
                <a:effectLst/>
                <a:uFillTx/>
                <a:latin typeface="Noto Sans JP"/>
                <a:ea typeface="Noto Sans JP"/>
              </a:rPr>
              <a:t>ΔPOP </a:t>
            </a:r>
            <a:r>
              <a:rPr lang="ja-JP" sz="2400" b="1" u="none" strike="noStrike">
                <a:solidFill>
                  <a:srgbClr val="5B4A12"/>
                </a:solidFill>
                <a:effectLst/>
                <a:uFillTx/>
                <a:latin typeface="Noto Sans JP"/>
                <a:ea typeface="Noto Sans JP"/>
              </a:rPr>
              <a:t>呼吸性変動⇔ </a:t>
            </a:r>
            <a:r>
              <a:rPr lang="en-US" sz="2400" b="1" u="none" strike="noStrike">
                <a:solidFill>
                  <a:srgbClr val="5B4A12"/>
                </a:solidFill>
                <a:effectLst/>
                <a:uFillTx/>
                <a:latin typeface="Noto Sans JP"/>
                <a:ea typeface="Noto Sans JP"/>
              </a:rPr>
              <a:t>ΔPP </a:t>
            </a:r>
            <a:r>
              <a:rPr lang="ja-JP" sz="2400" b="1" u="none" strike="noStrike">
                <a:solidFill>
                  <a:srgbClr val="5B4A12"/>
                </a:solidFill>
                <a:effectLst/>
                <a:uFillTx/>
                <a:latin typeface="Noto Sans JP"/>
                <a:ea typeface="Noto Sans JP"/>
              </a:rPr>
              <a:t>と良好に相関</a:t>
            </a:r>
            <a:endParaRPr lang="en-US" sz="2400" b="0" u="none" strike="noStrike">
              <a:solidFill>
                <a:srgbClr val="000000"/>
              </a:solidFill>
              <a:effectLst/>
              <a:uFillTx/>
              <a:latin typeface="Arial"/>
            </a:endParaRPr>
          </a:p>
        </p:txBody>
      </p:sp>
      <p:sp>
        <p:nvSpPr>
          <p:cNvPr id="251" name="TextBox 20"/>
          <p:cNvSpPr/>
          <p:nvPr/>
        </p:nvSpPr>
        <p:spPr>
          <a:xfrm>
            <a:off x="9144000" y="2376720"/>
            <a:ext cx="1294200" cy="348480"/>
          </a:xfrm>
          <a:prstGeom prst="rect">
            <a:avLst/>
          </a:prstGeom>
          <a:noFill/>
          <a:ln w="0">
            <a:noFill/>
          </a:ln>
        </p:spPr>
        <p:style>
          <a:lnRef idx="0">
            <a:scrgbClr r="0" g="0" b="0"/>
          </a:lnRef>
          <a:fillRef idx="0">
            <a:scrgbClr r="0" g="0" b="0"/>
          </a:fillRef>
          <a:effectRef idx="0">
            <a:scrgbClr r="0" g="0" b="0"/>
          </a:effectRef>
          <a:fontRef idx="minor"/>
        </p:style>
        <p:txBody>
          <a:bodyPr lIns="25560" tIns="12600" rIns="25560" bIns="12600" anchor="t">
            <a:spAutoFit/>
          </a:bodyPr>
          <a:lstStyle/>
          <a:p>
            <a:pPr algn="ctr" defTabSz="914400">
              <a:lnSpc>
                <a:spcPct val="105000"/>
              </a:lnSpc>
            </a:pPr>
            <a:r>
              <a:rPr lang="ja-JP" sz="2200" b="1" u="none" strike="noStrike">
                <a:solidFill>
                  <a:srgbClr val="2F5C9E"/>
                </a:solidFill>
                <a:effectLst/>
                <a:uFillTx/>
                <a:latin typeface="Noto Sans JP"/>
                <a:ea typeface="Noto Sans JP"/>
              </a:rPr>
              <a:t>陽圧換気</a:t>
            </a:r>
            <a:endParaRPr lang="en-US" sz="2000" b="0" u="none" strike="noStrike">
              <a:solidFill>
                <a:srgbClr val="000000"/>
              </a:solidFill>
              <a:effectLst/>
              <a:uFillTx/>
              <a:latin typeface="Arial"/>
            </a:endParaRPr>
          </a:p>
        </p:txBody>
      </p:sp>
      <p:sp>
        <p:nvSpPr>
          <p:cNvPr id="252" name="TextBox 21"/>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rPr>
              <a:t>ΔPOP</a:t>
            </a:r>
            <a:r>
              <a:rPr lang="ja-JP" sz="1050" b="0" u="none" strike="noStrike">
                <a:solidFill>
                  <a:srgbClr val="808080"/>
                </a:solidFill>
                <a:effectLst/>
                <a:uFillTx/>
                <a:latin typeface="Noto Sans JP"/>
                <a:ea typeface="Noto Sans JP"/>
              </a:rPr>
              <a:t>：脈波振幅の呼吸性変動　／　</a:t>
            </a:r>
            <a:r>
              <a:rPr lang="en-US" sz="1050" b="0" u="none" strike="noStrike">
                <a:solidFill>
                  <a:srgbClr val="808080"/>
                </a:solidFill>
                <a:effectLst/>
                <a:uFillTx/>
                <a:latin typeface="Noto Sans JP"/>
                <a:ea typeface="Noto Sans JP"/>
              </a:rPr>
              <a:t>ΔPP</a:t>
            </a:r>
            <a:r>
              <a:rPr lang="ja-JP" sz="1050" b="0" u="none" strike="noStrike">
                <a:solidFill>
                  <a:srgbClr val="808080"/>
                </a:solidFill>
                <a:effectLst/>
                <a:uFillTx/>
                <a:latin typeface="Noto Sans JP"/>
                <a:ea typeface="Noto Sans JP"/>
              </a:rPr>
              <a:t>：脈圧変動（</a:t>
            </a:r>
            <a:r>
              <a:rPr lang="en-US" sz="1050" b="0" u="none" strike="noStrike">
                <a:solidFill>
                  <a:srgbClr val="808080"/>
                </a:solidFill>
                <a:effectLst/>
                <a:uFillTx/>
                <a:latin typeface="Noto Sans JP"/>
                <a:ea typeface="Noto Sans JP"/>
              </a:rPr>
              <a:t>pulse pressure variation</a:t>
            </a:r>
            <a:r>
              <a:rPr lang="ja-JP" sz="1050" b="0" u="none" strike="noStrike">
                <a:solidFill>
                  <a:srgbClr val="808080"/>
                </a:solidFill>
                <a:effectLst/>
                <a:uFillTx/>
                <a:latin typeface="Noto Sans JP"/>
                <a:ea typeface="Noto Sans JP"/>
              </a:rPr>
              <a:t>）</a:t>
            </a:r>
            <a:endParaRPr lang="en-US" sz="105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25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3.2  </a:t>
            </a:r>
            <a:r>
              <a:rPr lang="ja-JP" sz="4400" b="1" u="none" strike="noStrike">
                <a:ln w="19050">
                  <a:solidFill>
                    <a:srgbClr val="000000"/>
                  </a:solidFill>
                </a:ln>
                <a:solidFill>
                  <a:schemeClr val="accent4">
                    <a:lumMod val="75000"/>
                  </a:schemeClr>
                </a:solidFill>
                <a:effectLst/>
                <a:uFillTx/>
                <a:latin typeface="Noto Sans JP"/>
                <a:ea typeface="Noto Sans JP"/>
              </a:rPr>
              <a:t>前負荷（</a:t>
            </a:r>
            <a:r>
              <a:rPr lang="en-US" sz="4400" b="1" u="none" strike="noStrike">
                <a:ln w="19050">
                  <a:solidFill>
                    <a:srgbClr val="000000"/>
                  </a:solidFill>
                </a:ln>
                <a:solidFill>
                  <a:schemeClr val="accent4">
                    <a:lumMod val="75000"/>
                  </a:schemeClr>
                </a:solidFill>
                <a:effectLst/>
                <a:uFillTx/>
                <a:latin typeface="Noto Sans JP"/>
                <a:ea typeface="Noto Sans JP"/>
              </a:rPr>
              <a:t>ΔPOP</a:t>
            </a:r>
            <a:r>
              <a:rPr lang="ja-JP" sz="4400" b="1" u="none" strike="noStrike">
                <a:ln w="19050">
                  <a:solidFill>
                    <a:srgbClr val="000000"/>
                  </a:solidFill>
                </a:ln>
                <a:solidFill>
                  <a:schemeClr val="accent4">
                    <a:lumMod val="75000"/>
                  </a:schemeClr>
                </a:solidFill>
                <a:effectLst/>
                <a:uFillTx/>
                <a:latin typeface="Noto Sans JP"/>
                <a:ea typeface="Noto Sans JP"/>
              </a:rPr>
              <a:t>）</a:t>
            </a:r>
            <a:endParaRPr lang="en-US" sz="4600" b="1" u="none" strike="noStrike">
              <a:ln w="19050">
                <a:solidFill>
                  <a:srgbClr val="000000"/>
                </a:solidFill>
              </a:ln>
              <a:solidFill>
                <a:schemeClr val="accent4">
                  <a:lumMod val="75000"/>
                </a:schemeClr>
              </a:solidFill>
              <a:effectLst/>
              <a:uFillTx/>
              <a:latin typeface="Calibri"/>
            </a:endParaRPr>
          </a:p>
        </p:txBody>
      </p:sp>
      <p:sp>
        <p:nvSpPr>
          <p:cNvPr id="25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25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256"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25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25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25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26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26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9. </a:t>
            </a:r>
            <a:r>
              <a:rPr lang="en-US" sz="1050" b="0" u="none" strike="noStrike">
                <a:solidFill>
                  <a:srgbClr val="808080"/>
                </a:solidFill>
                <a:effectLst/>
                <a:uFillTx/>
                <a:latin typeface="Noto Sans JP"/>
                <a:ea typeface="Noto Sans JP"/>
                <a:hlinkClick r:id="rId3"/>
              </a:rPr>
              <a:t>Cannesson 2005</a:t>
            </a:r>
            <a:endParaRPr lang="en-US" sz="1050" b="0" u="none" strike="noStrike">
              <a:solidFill>
                <a:srgbClr val="000000"/>
              </a:solidFill>
              <a:effectLst/>
              <a:uFillTx/>
              <a:latin typeface="Arial"/>
            </a:endParaRPr>
          </a:p>
        </p:txBody>
      </p:sp>
      <p:sp>
        <p:nvSpPr>
          <p:cNvPr id="26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16/47</a:t>
            </a:r>
            <a:endParaRPr lang="en-US" sz="1200" b="0" u="none" strike="noStrike">
              <a:solidFill>
                <a:srgbClr val="000000"/>
              </a:solidFill>
              <a:effectLst/>
              <a:uFillTx/>
              <a:latin typeface="Arial"/>
            </a:endParaRPr>
          </a:p>
        </p:txBody>
      </p:sp>
      <p:sp>
        <p:nvSpPr>
          <p:cNvPr id="263" name="Rounded Rectangle 19"/>
          <p:cNvSpPr/>
          <p:nvPr/>
        </p:nvSpPr>
        <p:spPr>
          <a:xfrm>
            <a:off x="1722960" y="5464440"/>
            <a:ext cx="8588520" cy="550440"/>
          </a:xfrm>
          <a:prstGeom prst="roundRect">
            <a:avLst>
              <a:gd name="adj" fmla="val 10000"/>
            </a:avLst>
          </a:prstGeom>
          <a:solidFill>
            <a:srgbClr val="F5E8C8"/>
          </a:solidFill>
          <a:ln w="19050">
            <a:solidFill>
              <a:srgbClr val="C9992B"/>
            </a:solidFill>
          </a:ln>
        </p:spPr>
        <p:style>
          <a:lnRef idx="1">
            <a:schemeClr val="accent1"/>
          </a:lnRef>
          <a:fillRef idx="3">
            <a:schemeClr val="accent1"/>
          </a:fillRef>
          <a:effectRef idx="2">
            <a:schemeClr val="accent1"/>
          </a:effectRef>
          <a:fontRef idx="minor"/>
        </p:style>
        <p:txBody>
          <a:bodyPr lIns="76320" tIns="38160" rIns="76320" bIns="38160" anchor="ctr">
            <a:noAutofit/>
          </a:bodyPr>
          <a:lstStyle/>
          <a:p>
            <a:pPr algn="ctr" defTabSz="914400">
              <a:lnSpc>
                <a:spcPct val="105000"/>
              </a:lnSpc>
            </a:pPr>
            <a:r>
              <a:rPr lang="en-US" sz="2400" b="1" u="none" strike="noStrike">
                <a:solidFill>
                  <a:srgbClr val="5B4A12"/>
                </a:solidFill>
                <a:effectLst/>
                <a:uFillTx/>
                <a:latin typeface="Noto Sans JP"/>
                <a:ea typeface="Noto Sans JP"/>
              </a:rPr>
              <a:t>ΔPOP </a:t>
            </a:r>
            <a:r>
              <a:rPr lang="ja-JP" sz="2400" b="1" u="none" strike="noStrike">
                <a:solidFill>
                  <a:srgbClr val="5B4A12"/>
                </a:solidFill>
                <a:effectLst/>
                <a:uFillTx/>
                <a:latin typeface="Noto Sans JP"/>
                <a:ea typeface="Noto Sans JP"/>
              </a:rPr>
              <a:t>呼吸性変動⇔ </a:t>
            </a:r>
            <a:r>
              <a:rPr lang="en-US" sz="2400" b="1" u="none" strike="noStrike">
                <a:solidFill>
                  <a:srgbClr val="5B4A12"/>
                </a:solidFill>
                <a:effectLst/>
                <a:uFillTx/>
                <a:latin typeface="Noto Sans JP"/>
                <a:ea typeface="Noto Sans JP"/>
              </a:rPr>
              <a:t>ΔPP </a:t>
            </a:r>
            <a:r>
              <a:rPr lang="ja-JP" sz="2400" b="1" u="none" strike="noStrike">
                <a:solidFill>
                  <a:srgbClr val="5B4A12"/>
                </a:solidFill>
                <a:effectLst/>
                <a:uFillTx/>
                <a:latin typeface="Noto Sans JP"/>
                <a:ea typeface="Noto Sans JP"/>
              </a:rPr>
              <a:t>と良好に相関</a:t>
            </a:r>
            <a:endParaRPr lang="en-US" sz="2400" b="0" u="none" strike="noStrike">
              <a:solidFill>
                <a:srgbClr val="000000"/>
              </a:solidFill>
              <a:effectLst/>
              <a:uFillTx/>
              <a:latin typeface="Arial"/>
            </a:endParaRPr>
          </a:p>
        </p:txBody>
      </p:sp>
      <p:sp>
        <p:nvSpPr>
          <p:cNvPr id="264" name="TextBox 20"/>
          <p:cNvSpPr/>
          <p:nvPr/>
        </p:nvSpPr>
        <p:spPr>
          <a:xfrm>
            <a:off x="10207440" y="2278440"/>
            <a:ext cx="1294200" cy="348480"/>
          </a:xfrm>
          <a:prstGeom prst="rect">
            <a:avLst/>
          </a:prstGeom>
          <a:noFill/>
          <a:ln w="0">
            <a:noFill/>
          </a:ln>
        </p:spPr>
        <p:style>
          <a:lnRef idx="0">
            <a:scrgbClr r="0" g="0" b="0"/>
          </a:lnRef>
          <a:fillRef idx="0">
            <a:scrgbClr r="0" g="0" b="0"/>
          </a:fillRef>
          <a:effectRef idx="0">
            <a:scrgbClr r="0" g="0" b="0"/>
          </a:effectRef>
          <a:fontRef idx="minor"/>
        </p:style>
        <p:txBody>
          <a:bodyPr lIns="25560" tIns="12600" rIns="25560" bIns="12600" anchor="t">
            <a:spAutoFit/>
          </a:bodyPr>
          <a:lstStyle/>
          <a:p>
            <a:pPr algn="ctr" defTabSz="914400">
              <a:lnSpc>
                <a:spcPct val="105000"/>
              </a:lnSpc>
            </a:pPr>
            <a:r>
              <a:rPr lang="ja-JP" sz="2200" b="1" u="none" strike="noStrike">
                <a:solidFill>
                  <a:srgbClr val="2F5C9E"/>
                </a:solidFill>
                <a:effectLst/>
                <a:uFillTx/>
                <a:latin typeface="Noto Sans JP"/>
                <a:ea typeface="Noto Sans JP"/>
              </a:rPr>
              <a:t>陽圧換気</a:t>
            </a:r>
            <a:endParaRPr lang="en-US" sz="2000" b="0" u="none" strike="noStrike">
              <a:solidFill>
                <a:srgbClr val="000000"/>
              </a:solidFill>
              <a:effectLst/>
              <a:uFillTx/>
              <a:latin typeface="Arial"/>
            </a:endParaRPr>
          </a:p>
        </p:txBody>
      </p:sp>
      <p:pic>
        <p:nvPicPr>
          <p:cNvPr id="265" name="図 2"/>
          <p:cNvPicPr/>
          <p:nvPr/>
        </p:nvPicPr>
        <p:blipFill>
          <a:blip r:embed="rId4"/>
          <a:srcRect b="41910"/>
          <a:stretch/>
        </p:blipFill>
        <p:spPr>
          <a:xfrm>
            <a:off x="2306880" y="2005560"/>
            <a:ext cx="7420680" cy="3194280"/>
          </a:xfrm>
          <a:prstGeom prst="rect">
            <a:avLst/>
          </a:prstGeom>
          <a:noFill/>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TitleFrame"/>
          <p:cNvSpPr/>
          <p:nvPr/>
        </p:nvSpPr>
        <p:spPr>
          <a:xfrm>
            <a:off x="655200" y="603504"/>
            <a:ext cx="4608576" cy="804672"/>
          </a:xfrm>
          <a:prstGeom prst="roundRect">
            <a:avLst>
              <a:gd name="adj" fmla="val 8000"/>
            </a:avLst>
          </a:prstGeom>
          <a:noFill/>
          <a:ln w="28575" cap="flat">
            <a:solidFill>
              <a:srgbClr val="44546A"/>
            </a:solidFill>
            <a:round/>
          </a:ln>
        </p:spPr>
        <p:txBody>
          <a:bodyPr rtlCol="0" anchor="ctr"/>
          <a:lstStyle/>
          <a:p>
            <a:endParaRPr lang="ja-JP"/>
          </a:p>
        </p:txBody>
      </p:sp>
      <p:sp>
        <p:nvSpPr>
          <p:cNvPr id="26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3.3</a:t>
            </a:r>
            <a:r>
              <a:rPr lang="ja-JP" sz="4400" b="1" u="none" strike="noStrike">
                <a:ln w="19050">
                  <a:solidFill>
                    <a:srgbClr val="000000"/>
                  </a:solidFill>
                </a:ln>
                <a:solidFill>
                  <a:schemeClr val="accent4">
                    <a:lumMod val="75000"/>
                  </a:schemeClr>
                </a:solidFill>
                <a:effectLst/>
                <a:uFillTx/>
                <a:latin typeface="Noto Sans JP"/>
                <a:ea typeface="Noto Sans JP"/>
              </a:rPr>
              <a:t>　心収縮力</a:t>
            </a:r>
            <a:endParaRPr lang="en-US" sz="4600" b="1" u="none" strike="noStrike">
              <a:ln w="19050">
                <a:solidFill>
                  <a:srgbClr val="000000"/>
                </a:solidFill>
              </a:ln>
              <a:solidFill>
                <a:schemeClr val="accent4">
                  <a:lumMod val="75000"/>
                </a:schemeClr>
              </a:solidFill>
              <a:effectLst/>
              <a:uFillTx/>
              <a:latin typeface="Calibri"/>
            </a:endParaRPr>
          </a:p>
        </p:txBody>
      </p:sp>
      <p:sp>
        <p:nvSpPr>
          <p:cNvPr id="26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26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269"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27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27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27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27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274"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2"/>
              </a:rPr>
              <a:t>10. Pagoulatou 2021</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3"/>
              </a:rPr>
              <a:t>11. Couceiro 2012</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4"/>
              </a:rPr>
              <a:t>12. Piccioli 2022</a:t>
            </a:r>
            <a:endParaRPr lang="en-US" sz="1050" b="0" u="none" strike="noStrike">
              <a:solidFill>
                <a:srgbClr val="000000"/>
              </a:solidFill>
              <a:effectLst/>
              <a:uFillTx/>
              <a:latin typeface="Arial"/>
            </a:endParaRPr>
          </a:p>
        </p:txBody>
      </p:sp>
      <p:pic>
        <p:nvPicPr>
          <p:cNvPr id="275" name="Picture 8" descr="42_contractility.png"/>
          <p:cNvPicPr/>
          <p:nvPr/>
        </p:nvPicPr>
        <p:blipFill>
          <a:blip r:embed="rId5"/>
          <a:stretch/>
        </p:blipFill>
        <p:spPr>
          <a:xfrm>
            <a:off x="640080" y="1591560"/>
            <a:ext cx="8621640" cy="4319640"/>
          </a:xfrm>
          <a:prstGeom prst="rect">
            <a:avLst/>
          </a:prstGeom>
          <a:noFill/>
          <a:ln w="0">
            <a:noFill/>
          </a:ln>
        </p:spPr>
      </p:pic>
      <p:sp>
        <p:nvSpPr>
          <p:cNvPr id="276"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endParaRPr lang="en-US" sz="1800" b="0" u="none" strike="noStrike">
              <a:solidFill>
                <a:schemeClr val="dk1"/>
              </a:solidFill>
              <a:effectLst/>
              <a:uFillTx/>
              <a:latin typeface="Calibri"/>
            </a:endParaRPr>
          </a:p>
        </p:txBody>
      </p:sp>
      <p:sp>
        <p:nvSpPr>
          <p:cNvPr id="277"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Noto Sans JP"/>
                <a:ea typeface="Noto Sans JP"/>
              </a:rPr>
              <a:t>17/47</a:t>
            </a:r>
            <a:endParaRPr lang="en-US" sz="1200" b="0" u="none" strike="noStrike">
              <a:solidFill>
                <a:srgbClr val="000000"/>
              </a:solidFill>
              <a:effectLst/>
              <a:uFillTx/>
              <a:latin typeface="Arial"/>
            </a:endParaRPr>
          </a:p>
        </p:txBody>
      </p:sp>
      <p:sp>
        <p:nvSpPr>
          <p:cNvPr id="278" name="yac"/>
          <p:cNvSpPr/>
          <p:nvPr/>
        </p:nvSpPr>
        <p:spPr>
          <a:xfrm>
            <a:off x="640080" y="2801160"/>
            <a:ext cx="1398814" cy="113727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0" u="none" strike="noStrike">
                <a:solidFill>
                  <a:srgbClr val="8C8C8C"/>
                </a:solidFill>
                <a:effectLst/>
                <a:uFillTx/>
                <a:latin typeface="Noto Sans JP"/>
                <a:ea typeface="Noto Sans JP"/>
              </a:rPr>
              <a:t>容積</a:t>
            </a:r>
            <a:br>
              <a:rPr sz="2200"/>
            </a:br>
            <a:r>
              <a:rPr lang="en-US" sz="2200" b="0" u="none" strike="noStrike">
                <a:solidFill>
                  <a:srgbClr val="8C8C8C"/>
                </a:solidFill>
                <a:effectLst/>
                <a:uFillTx/>
                <a:latin typeface="Noto Sans JP"/>
                <a:ea typeface="Noto Sans JP"/>
              </a:rPr>
              <a:t>(AC)</a:t>
            </a:r>
            <a:endParaRPr lang="en-US" sz="2200" b="0" u="none" strike="noStrike">
              <a:solidFill>
                <a:srgbClr val="000000"/>
              </a:solidFill>
              <a:effectLst/>
              <a:uFillTx/>
              <a:latin typeface="Arial"/>
            </a:endParaRPr>
          </a:p>
        </p:txBody>
      </p:sp>
      <p:sp>
        <p:nvSpPr>
          <p:cNvPr id="279" name="hino"/>
          <p:cNvSpPr/>
          <p:nvPr/>
        </p:nvSpPr>
        <p:spPr>
          <a:xfrm>
            <a:off x="6191640" y="1986480"/>
            <a:ext cx="3706920" cy="47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ja-JP" sz="2200" b="1" u="none" strike="noStrike">
                <a:solidFill>
                  <a:srgbClr val="00A8AA"/>
                </a:solidFill>
                <a:effectLst/>
                <a:uFillTx/>
                <a:latin typeface="Noto Sans JP"/>
                <a:ea typeface="Noto Sans JP"/>
              </a:rPr>
              <a:t>高収縮</a:t>
            </a:r>
            <a:endParaRPr lang="en-US" sz="2200" b="0" u="none" strike="noStrike">
              <a:solidFill>
                <a:srgbClr val="000000"/>
              </a:solidFill>
              <a:effectLst/>
              <a:uFillTx/>
              <a:latin typeface="Arial"/>
            </a:endParaRPr>
          </a:p>
        </p:txBody>
      </p:sp>
      <p:sp>
        <p:nvSpPr>
          <p:cNvPr id="280" name="hilist"/>
          <p:cNvSpPr/>
          <p:nvPr/>
        </p:nvSpPr>
        <p:spPr>
          <a:xfrm>
            <a:off x="6280919" y="2567520"/>
            <a:ext cx="5803200" cy="103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2200" b="1" u="none" strike="noStrike">
                <a:solidFill>
                  <a:srgbClr val="00A8AA"/>
                </a:solidFill>
                <a:effectLst/>
                <a:uFillTx/>
                <a:latin typeface="Noto Sans JP"/>
                <a:ea typeface="Noto Sans JP"/>
              </a:rPr>
              <a:t>→ 立ち上がり勾配↑</a:t>
            </a:r>
            <a:endParaRPr lang="en-US" sz="2200" b="0" u="none" strike="noStrike">
              <a:solidFill>
                <a:srgbClr val="000000"/>
              </a:solidFill>
              <a:effectLst/>
              <a:uFillTx/>
              <a:latin typeface="Arial"/>
            </a:endParaRPr>
          </a:p>
          <a:p>
            <a:pPr defTabSz="914400">
              <a:lnSpc>
                <a:spcPct val="100000"/>
              </a:lnSpc>
            </a:pPr>
            <a:r>
              <a:rPr lang="en-US" sz="2200" b="1" u="none" strike="noStrike">
                <a:solidFill>
                  <a:srgbClr val="00A8AA"/>
                </a:solidFill>
                <a:effectLst/>
                <a:uFillTx/>
                <a:latin typeface="Noto Sans JP"/>
                <a:ea typeface="Noto Sans JP"/>
              </a:rPr>
              <a:t>→ 収縮期ピークが早く・尖鋭化</a:t>
            </a:r>
            <a:br>
              <a:rPr sz="2200"/>
            </a:br>
            <a:endParaRPr lang="en-US" sz="2200" b="0" u="none" strike="noStrike">
              <a:solidFill>
                <a:srgbClr val="000000"/>
              </a:solidFill>
              <a:effectLst/>
              <a:uFillTx/>
              <a:latin typeface="Arial"/>
            </a:endParaRPr>
          </a:p>
        </p:txBody>
      </p:sp>
      <p:sp>
        <p:nvSpPr>
          <p:cNvPr id="281" name="ydv"/>
          <p:cNvSpPr/>
          <p:nvPr/>
        </p:nvSpPr>
        <p:spPr>
          <a:xfrm>
            <a:off x="273600" y="4884480"/>
            <a:ext cx="219991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0" u="none" strike="noStrike">
                <a:solidFill>
                  <a:srgbClr val="8C8C8C"/>
                </a:solidFill>
                <a:effectLst/>
                <a:uFillTx/>
                <a:latin typeface="Noto Sans JP"/>
                <a:ea typeface="Noto Sans JP"/>
              </a:rPr>
              <a:t>一次微分</a:t>
            </a:r>
            <a:br>
              <a:rPr sz="2200"/>
            </a:br>
            <a:r>
              <a:rPr lang="en-US" sz="2200" b="0" u="none" strike="noStrike">
                <a:solidFill>
                  <a:srgbClr val="8C8C8C"/>
                </a:solidFill>
                <a:effectLst/>
                <a:uFillTx/>
                <a:latin typeface="Noto Sans JP"/>
                <a:ea typeface="Noto Sans JP"/>
              </a:rPr>
              <a:t>dV/dt</a:t>
            </a:r>
            <a:endParaRPr lang="en-US" sz="2200" b="0" u="none" strike="noStrike">
              <a:solidFill>
                <a:srgbClr val="000000"/>
              </a:solidFill>
              <a:effectLst/>
              <a:uFillTx/>
              <a:latin typeface="Arial"/>
            </a:endParaRPr>
          </a:p>
        </p:txBody>
      </p:sp>
      <p:sp>
        <p:nvSpPr>
          <p:cNvPr id="282" name="cap2"/>
          <p:cNvSpPr/>
          <p:nvPr/>
        </p:nvSpPr>
        <p:spPr>
          <a:xfrm>
            <a:off x="640080" y="6024600"/>
            <a:ext cx="11134080" cy="46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0" u="none" strike="noStrike">
                <a:solidFill>
                  <a:srgbClr val="8C8C8C"/>
                </a:solidFill>
                <a:effectLst/>
                <a:uFillTx/>
                <a:latin typeface="Noto Sans JP"/>
                <a:ea typeface="Noto Sans JP"/>
              </a:rPr>
              <a:t>※ 収縮力を単独で変えた PPG </a:t>
            </a:r>
            <a:r>
              <a:rPr lang="ja-JP" sz="2200" b="0" u="none" strike="noStrike">
                <a:solidFill>
                  <a:srgbClr val="8C8C8C"/>
                </a:solidFill>
                <a:effectLst/>
                <a:uFillTx/>
                <a:latin typeface="Noto Sans JP"/>
                <a:ea typeface="Noto Sans JP"/>
              </a:rPr>
              <a:t>実測はなし → 動脈圧波形モデルからの外挿</a:t>
            </a:r>
            <a:endParaRPr lang="en-US" sz="22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28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3.4  </a:t>
            </a:r>
            <a:r>
              <a:rPr lang="ja-JP" sz="4400" b="1" u="none" strike="noStrike">
                <a:ln w="19050">
                  <a:solidFill>
                    <a:srgbClr val="000000"/>
                  </a:solidFill>
                </a:ln>
                <a:solidFill>
                  <a:schemeClr val="accent4">
                    <a:lumMod val="75000"/>
                  </a:schemeClr>
                </a:solidFill>
                <a:effectLst/>
                <a:uFillTx/>
                <a:latin typeface="Noto Sans JP"/>
                <a:ea typeface="Noto Sans JP"/>
              </a:rPr>
              <a:t>末梢血管トーヌス</a:t>
            </a:r>
            <a:endParaRPr lang="en-US" sz="4600" b="1" u="none" strike="noStrike">
              <a:ln w="19050">
                <a:solidFill>
                  <a:srgbClr val="000000"/>
                </a:solidFill>
              </a:ln>
              <a:solidFill>
                <a:schemeClr val="accent4">
                  <a:lumMod val="75000"/>
                </a:schemeClr>
              </a:solidFill>
              <a:effectLst/>
              <a:uFillTx/>
              <a:latin typeface="Calibri"/>
            </a:endParaRPr>
          </a:p>
        </p:txBody>
      </p:sp>
      <p:sp>
        <p:nvSpPr>
          <p:cNvPr id="28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28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286"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28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28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28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29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29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13. Awad 2007</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4"/>
              </a:rPr>
              <a:t>14. Tusman 2019</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5"/>
              </a:rPr>
              <a:t>15. Chowienczyk 1999</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6"/>
              </a:rPr>
              <a:t>16. Takazawa 1998</a:t>
            </a:r>
            <a:endParaRPr lang="en-US" sz="1050" b="0" u="none" strike="noStrike">
              <a:solidFill>
                <a:srgbClr val="000000"/>
              </a:solidFill>
              <a:effectLst/>
              <a:uFillTx/>
              <a:latin typeface="Arial"/>
            </a:endParaRPr>
          </a:p>
        </p:txBody>
      </p:sp>
      <p:pic>
        <p:nvPicPr>
          <p:cNvPr id="292" name="Picture 8" descr="10_svr.png"/>
          <p:cNvPicPr/>
          <p:nvPr/>
        </p:nvPicPr>
        <p:blipFill>
          <a:blip r:embed="rId7"/>
          <a:stretch/>
        </p:blipFill>
        <p:spPr>
          <a:xfrm>
            <a:off x="2237760" y="1491480"/>
            <a:ext cx="7692120" cy="4319640"/>
          </a:xfrm>
          <a:prstGeom prst="rect">
            <a:avLst/>
          </a:prstGeom>
          <a:noFill/>
          <a:ln w="0">
            <a:noFill/>
          </a:ln>
        </p:spPr>
      </p:pic>
      <p:sp>
        <p:nvSpPr>
          <p:cNvPr id="293"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18/47</a:t>
            </a:r>
            <a:endParaRPr lang="en-US" sz="1200" b="0" u="none" strike="noStrike">
              <a:solidFill>
                <a:srgbClr val="000000"/>
              </a:solidFill>
              <a:effectLst/>
              <a:uFillTx/>
              <a:latin typeface="Arial"/>
            </a:endParaRPr>
          </a:p>
        </p:txBody>
      </p:sp>
      <p:sp>
        <p:nvSpPr>
          <p:cNvPr id="294" name="sub"/>
          <p:cNvSpPr/>
          <p:nvPr/>
        </p:nvSpPr>
        <p:spPr>
          <a:xfrm>
            <a:off x="2237760" y="5942880"/>
            <a:ext cx="769212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pPr>
            <a:r>
              <a:rPr lang="ja-JP" sz="2400" b="1" u="none" strike="noStrike">
                <a:solidFill>
                  <a:srgbClr val="1A1A1A"/>
                </a:solidFill>
                <a:effectLst/>
                <a:uFillTx/>
                <a:latin typeface="Noto Sans JP"/>
                <a:ea typeface="Noto Sans JP"/>
              </a:rPr>
              <a:t>血管ト⁠ー⁠ヌ⁠スの変化 → </a:t>
            </a:r>
            <a:endParaRPr lang="en-US" sz="2400" b="0" u="none" strike="noStrike">
              <a:solidFill>
                <a:srgbClr val="000000"/>
              </a:solidFill>
              <a:effectLst/>
              <a:uFillTx/>
              <a:latin typeface="Arial"/>
            </a:endParaRPr>
          </a:p>
          <a:p>
            <a:pPr algn="ctr" defTabSz="914400">
              <a:lnSpc>
                <a:spcPct val="100000"/>
              </a:lnSpc>
            </a:pPr>
            <a:endParaRPr lang="en-US" sz="2400" b="0" u="none" strike="noStrike">
              <a:solidFill>
                <a:srgbClr val="000000"/>
              </a:solidFill>
              <a:effectLst/>
              <a:uFillTx/>
              <a:latin typeface="Arial"/>
            </a:endParaRPr>
            <a:r>
              <a:rPr lang="ja-JP" sz="2400" b="1" u="none" strike="noStrike">
                <a:solidFill>
                  <a:srgbClr val="1A1A1A"/>
                </a:solidFill>
                <a:effectLst/>
                <a:uFillTx/>
                <a:latin typeface="Noto Sans JP"/>
                <a:ea typeface="Noto Sans JP"/>
              </a:rPr>
              <a:t/>
            </a:r>
          </a:p>
        </p:txBody>
      </p:sp>
      <p:sp>
        <p:nvSpPr>
          <p:cNvPr id="295" name="t_l"/>
          <p:cNvSpPr/>
          <p:nvPr/>
        </p:nvSpPr>
        <p:spPr>
          <a:xfrm>
            <a:off x="2422440" y="1954800"/>
            <a:ext cx="3538080" cy="34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1700" b="1" u="none" strike="noStrike">
                <a:solidFill>
                  <a:srgbClr val="1A1A1A"/>
                </a:solidFill>
                <a:effectLst/>
                <a:uFillTx/>
                <a:latin typeface="Noto Sans JP"/>
                <a:ea typeface="Noto Sans JP"/>
              </a:rPr>
              <a:t>血管拡張（ト⁠ー⁠ヌ⁠ス↓）</a:t>
            </a:r>
            <a:endParaRPr lang="en-US" sz="1700" b="0" u="none" strike="noStrike">
              <a:solidFill>
                <a:srgbClr val="000000"/>
              </a:solidFill>
              <a:effectLst/>
              <a:uFillTx/>
              <a:latin typeface="Arial"/>
            </a:endParaRPr>
          </a:p>
        </p:txBody>
      </p:sp>
      <p:sp>
        <p:nvSpPr>
          <p:cNvPr id="296" name="t_r"/>
          <p:cNvSpPr/>
          <p:nvPr/>
        </p:nvSpPr>
        <p:spPr>
          <a:xfrm>
            <a:off x="6161040" y="1954800"/>
            <a:ext cx="3538080" cy="34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1700" b="1" u="none" strike="noStrike">
                <a:solidFill>
                  <a:srgbClr val="1A1A1A"/>
                </a:solidFill>
                <a:effectLst/>
                <a:uFillTx/>
                <a:latin typeface="Noto Sans JP"/>
                <a:ea typeface="Noto Sans JP"/>
              </a:rPr>
              <a:t>血管収縮（ト⁠ー⁠ヌ⁠ス↑）</a:t>
            </a:r>
            <a:endParaRPr lang="en-US" sz="1700" b="0" u="none" strike="noStrike">
              <a:solidFill>
                <a:srgbClr val="000000"/>
              </a:solidFill>
              <a:effectLst/>
              <a:uFillTx/>
              <a:latin typeface="Arial"/>
            </a:endParaRPr>
          </a:p>
        </p:txBody>
      </p:sp>
      <p:sp>
        <p:nvSpPr>
          <p:cNvPr id="297" name="r_l"/>
          <p:cNvSpPr/>
          <p:nvPr/>
        </p:nvSpPr>
        <p:spPr>
          <a:xfrm>
            <a:off x="2130120" y="5191560"/>
            <a:ext cx="4149720" cy="55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2200" b="1" u="none" strike="noStrike">
                <a:solidFill>
                  <a:srgbClr val="00A8AA"/>
                </a:solidFill>
                <a:effectLst/>
                <a:uFillTx/>
                <a:latin typeface="Noto Sans JP"/>
                <a:ea typeface="Noto Sans JP"/>
              </a:rPr>
              <a:t>反射波 ↓　</a:t>
            </a:r>
            <a:r>
              <a:rPr lang="en-US" sz="2200" b="1" u="none" strike="noStrike">
                <a:solidFill>
                  <a:srgbClr val="00A8AA"/>
                </a:solidFill>
                <a:effectLst/>
                <a:uFillTx/>
                <a:latin typeface="Noto Sans JP"/>
                <a:ea typeface="Noto Sans JP"/>
              </a:rPr>
              <a:t>RI ↓</a:t>
            </a:r>
            <a:endParaRPr lang="en-US" sz="2000" b="0" u="none" strike="noStrike">
              <a:solidFill>
                <a:srgbClr val="000000"/>
              </a:solidFill>
              <a:effectLst/>
              <a:uFillTx/>
              <a:latin typeface="Arial"/>
            </a:endParaRPr>
          </a:p>
        </p:txBody>
      </p:sp>
      <p:sp>
        <p:nvSpPr>
          <p:cNvPr id="298" name="r_r"/>
          <p:cNvSpPr/>
          <p:nvPr/>
        </p:nvSpPr>
        <p:spPr>
          <a:xfrm>
            <a:off x="6540120" y="5191560"/>
            <a:ext cx="4149720" cy="55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2200" b="1" u="none" strike="noStrike">
                <a:solidFill>
                  <a:srgbClr val="E8853B"/>
                </a:solidFill>
                <a:effectLst/>
                <a:uFillTx/>
                <a:latin typeface="Noto Sans JP"/>
                <a:ea typeface="Noto Sans JP"/>
              </a:rPr>
              <a:t>反射波 ↑　</a:t>
            </a:r>
            <a:r>
              <a:rPr lang="en-US" sz="2200" b="1" u="none" strike="noStrike">
                <a:solidFill>
                  <a:srgbClr val="E8853B"/>
                </a:solidFill>
                <a:effectLst/>
                <a:uFillTx/>
                <a:latin typeface="Noto Sans JP"/>
                <a:ea typeface="Noto Sans JP"/>
              </a:rPr>
              <a:t>RI ↑</a:t>
            </a:r>
            <a:endParaRPr lang="en-US" sz="2000" b="0" u="none" strike="noStrike">
              <a:solidFill>
                <a:srgbClr val="000000"/>
              </a:solidFill>
              <a:effectLst/>
              <a:uFillTx/>
              <a:latin typeface="Arial"/>
            </a:endParaRPr>
          </a:p>
        </p:txBody>
      </p:sp>
      <p:sp>
        <p:nvSpPr>
          <p:cNvPr id="299" name="note"/>
          <p:cNvSpPr/>
          <p:nvPr/>
        </p:nvSpPr>
        <p:spPr>
          <a:xfrm>
            <a:off x="1622160" y="6450480"/>
            <a:ext cx="10099800" cy="29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1100" b="0" u="none" strike="noStrike">
                <a:solidFill>
                  <a:srgbClr val="595959"/>
                </a:solidFill>
                <a:effectLst/>
                <a:uFillTx/>
                <a:latin typeface="Noto Sans JP"/>
                <a:ea typeface="Noto Sans JP"/>
              </a:rPr>
              <a:t>＋ 切痕位置も同方向 </a:t>
            </a:r>
            <a:r>
              <a:rPr lang="en-US" sz="1100" b="0" u="none" strike="noStrike">
                <a:solidFill>
                  <a:srgbClr val="595959"/>
                </a:solidFill>
                <a:effectLst/>
                <a:uFillTx/>
                <a:latin typeface="Noto Sans JP"/>
                <a:ea typeface="Noto Sans JP"/>
              </a:rPr>
              <a:t>(Tusman 2019)</a:t>
            </a:r>
            <a:r>
              <a:rPr lang="ja-JP" sz="1100" b="0" u="none" strike="noStrike">
                <a:solidFill>
                  <a:srgbClr val="595959"/>
                </a:solidFill>
                <a:effectLst/>
                <a:uFillTx/>
                <a:latin typeface="Noto Sans JP"/>
                <a:ea typeface="Noto Sans JP"/>
              </a:rPr>
              <a:t>　／　振幅より「パ⁠ル⁠ス幅」が </a:t>
            </a:r>
            <a:r>
              <a:rPr lang="en-US" sz="1100" b="0" u="none" strike="noStrike">
                <a:solidFill>
                  <a:srgbClr val="595959"/>
                </a:solidFill>
                <a:effectLst/>
                <a:uFillTx/>
                <a:latin typeface="Noto Sans JP"/>
                <a:ea typeface="Noto Sans JP"/>
              </a:rPr>
              <a:t>SVR </a:t>
            </a:r>
            <a:r>
              <a:rPr lang="ja-JP" sz="1100" b="0" u="none" strike="noStrike">
                <a:solidFill>
                  <a:srgbClr val="595959"/>
                </a:solidFill>
                <a:effectLst/>
                <a:uFillTx/>
                <a:latin typeface="Noto Sans JP"/>
                <a:ea typeface="Noto Sans JP"/>
              </a:rPr>
              <a:t>を反映 </a:t>
            </a:r>
            <a:r>
              <a:rPr lang="en-US" sz="1100" b="0" u="none" strike="noStrike">
                <a:solidFill>
                  <a:srgbClr val="595959"/>
                </a:solidFill>
                <a:effectLst/>
                <a:uFillTx/>
                <a:latin typeface="Noto Sans JP"/>
                <a:ea typeface="Noto Sans JP"/>
              </a:rPr>
              <a:t>(Awad 2007)</a:t>
            </a:r>
            <a:endParaRPr lang="en-US" sz="11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0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3.5  </a:t>
            </a:r>
            <a:r>
              <a:rPr lang="ja-JP" sz="4400" b="1" u="none" strike="noStrike">
                <a:ln w="19050">
                  <a:solidFill>
                    <a:srgbClr val="000000"/>
                  </a:solidFill>
                </a:ln>
                <a:solidFill>
                  <a:schemeClr val="accent4">
                    <a:lumMod val="75000"/>
                  </a:schemeClr>
                </a:solidFill>
                <a:effectLst/>
                <a:uFillTx/>
                <a:latin typeface="Noto Sans JP"/>
                <a:ea typeface="Noto Sans JP"/>
              </a:rPr>
              <a:t>大血管エラスタンス</a:t>
            </a:r>
            <a:endParaRPr lang="en-US" sz="4600" b="1" u="none" strike="noStrike">
              <a:ln w="19050">
                <a:solidFill>
                  <a:srgbClr val="000000"/>
                </a:solidFill>
              </a:ln>
              <a:solidFill>
                <a:schemeClr val="accent4">
                  <a:lumMod val="75000"/>
                </a:schemeClr>
              </a:solidFill>
              <a:effectLst/>
              <a:uFillTx/>
              <a:latin typeface="Calibri"/>
            </a:endParaRPr>
          </a:p>
        </p:txBody>
      </p:sp>
      <p:sp>
        <p:nvSpPr>
          <p:cNvPr id="30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30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303"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30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30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30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307"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308"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4. Millasseau 2002</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4"/>
              </a:rPr>
              <a:t>5. Dawber 1973</a:t>
            </a:r>
            <a:endParaRPr lang="en-US" sz="1050" b="0" u="none" strike="noStrike">
              <a:solidFill>
                <a:srgbClr val="000000"/>
              </a:solidFill>
              <a:effectLst/>
              <a:uFillTx/>
              <a:latin typeface="Arial"/>
            </a:endParaRPr>
          </a:p>
        </p:txBody>
      </p:sp>
      <p:pic>
        <p:nvPicPr>
          <p:cNvPr id="309" name="Picture 8" descr="11_stiffness_series.png"/>
          <p:cNvPicPr/>
          <p:nvPr/>
        </p:nvPicPr>
        <p:blipFill>
          <a:blip r:embed="rId5"/>
          <a:stretch/>
        </p:blipFill>
        <p:spPr>
          <a:xfrm>
            <a:off x="1563840" y="1800000"/>
            <a:ext cx="9039600" cy="4319640"/>
          </a:xfrm>
          <a:prstGeom prst="rect">
            <a:avLst/>
          </a:prstGeom>
          <a:noFill/>
          <a:ln w="0">
            <a:noFill/>
          </a:ln>
        </p:spPr>
      </p:pic>
      <p:sp>
        <p:nvSpPr>
          <p:cNvPr id="310"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19/47</a:t>
            </a:r>
            <a:endParaRPr lang="en-US" sz="1200" b="0" u="none" strike="noStrike">
              <a:solidFill>
                <a:srgbClr val="000000"/>
              </a:solidFill>
              <a:effectLst/>
              <a:uFillTx/>
              <a:latin typeface="Arial"/>
            </a:endParaRPr>
          </a:p>
        </p:txBody>
      </p:sp>
      <p:sp>
        <p:nvSpPr>
          <p:cNvPr id="311" name="t_g"/>
          <p:cNvSpPr/>
          <p:nvPr/>
        </p:nvSpPr>
        <p:spPr>
          <a:xfrm>
            <a:off x="1925640" y="1929600"/>
            <a:ext cx="2621160" cy="38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70AD47"/>
                </a:solidFill>
                <a:effectLst/>
                <a:uFillTx/>
                <a:latin typeface="Noto Sans JP"/>
                <a:ea typeface="Noto Sans JP"/>
              </a:rPr>
              <a:t>若年・柔らかい</a:t>
            </a:r>
            <a:endParaRPr lang="en-US" sz="2200" b="0" u="none" strike="noStrike">
              <a:solidFill>
                <a:srgbClr val="000000"/>
              </a:solidFill>
              <a:effectLst/>
              <a:uFillTx/>
              <a:latin typeface="Arial"/>
            </a:endParaRPr>
          </a:p>
        </p:txBody>
      </p:sp>
      <p:sp>
        <p:nvSpPr>
          <p:cNvPr id="312" name="t_m"/>
          <p:cNvSpPr/>
          <p:nvPr/>
        </p:nvSpPr>
        <p:spPr>
          <a:xfrm>
            <a:off x="4908960" y="1929600"/>
            <a:ext cx="2530800" cy="38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BF9000"/>
                </a:solidFill>
                <a:effectLst/>
                <a:uFillTx/>
                <a:latin typeface="Noto Sans JP"/>
                <a:ea typeface="Noto Sans JP"/>
              </a:rPr>
              <a:t>中間</a:t>
            </a:r>
            <a:endParaRPr lang="en-US" sz="2200" b="0" u="none" strike="noStrike">
              <a:solidFill>
                <a:srgbClr val="000000"/>
              </a:solidFill>
              <a:effectLst/>
              <a:uFillTx/>
              <a:latin typeface="Arial"/>
            </a:endParaRPr>
          </a:p>
        </p:txBody>
      </p:sp>
      <p:sp>
        <p:nvSpPr>
          <p:cNvPr id="313" name="t_r"/>
          <p:cNvSpPr/>
          <p:nvPr/>
        </p:nvSpPr>
        <p:spPr>
          <a:xfrm>
            <a:off x="7891920" y="1929600"/>
            <a:ext cx="2621160" cy="38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00000"/>
                </a:solidFill>
                <a:effectLst/>
                <a:uFillTx/>
                <a:latin typeface="Noto Sans JP"/>
                <a:ea typeface="Noto Sans JP"/>
              </a:rPr>
              <a:t>高齢・硬い</a:t>
            </a:r>
            <a:endParaRPr lang="en-US" sz="2200" b="0" u="none" strike="noStrike">
              <a:solidFill>
                <a:srgbClr val="000000"/>
              </a:solidFill>
              <a:effectLst/>
              <a:uFillTx/>
              <a:latin typeface="Arial"/>
            </a:endParaRPr>
          </a:p>
        </p:txBody>
      </p:sp>
      <p:sp>
        <p:nvSpPr>
          <p:cNvPr id="314" name="a_g"/>
          <p:cNvSpPr/>
          <p:nvPr/>
        </p:nvSpPr>
        <p:spPr>
          <a:xfrm>
            <a:off x="3078360" y="3193200"/>
            <a:ext cx="3827136"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70AD47"/>
                </a:solidFill>
                <a:effectLst/>
                <a:uFillTx/>
                <a:latin typeface="Noto Sans JP"/>
                <a:ea typeface="Noto Sans JP"/>
              </a:rPr>
              <a:t>明瞭な切痕</a:t>
            </a:r>
            <a:br>
              <a:rPr sz="2200"/>
            </a:br>
            <a:r>
              <a:rPr lang="ja-JP" sz="2200" b="1" u="none" strike="noStrike">
                <a:solidFill>
                  <a:srgbClr val="70AD47"/>
                </a:solidFill>
                <a:effectLst/>
                <a:uFillTx/>
                <a:latin typeface="Noto Sans JP"/>
                <a:ea typeface="Noto Sans JP"/>
              </a:rPr>
              <a:t>＋拡張期ピーク</a:t>
            </a:r>
            <a:endParaRPr lang="en-US" sz="2200" b="0" u="none" strike="noStrike">
              <a:solidFill>
                <a:srgbClr val="000000"/>
              </a:solidFill>
              <a:effectLst/>
              <a:uFillTx/>
              <a:latin typeface="Arial"/>
            </a:endParaRPr>
          </a:p>
        </p:txBody>
      </p:sp>
      <p:sp>
        <p:nvSpPr>
          <p:cNvPr id="315" name="a_r"/>
          <p:cNvSpPr/>
          <p:nvPr/>
        </p:nvSpPr>
        <p:spPr>
          <a:xfrm>
            <a:off x="9534600" y="3184560"/>
            <a:ext cx="2549519"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C00000"/>
                </a:solidFill>
                <a:effectLst/>
                <a:uFillTx/>
                <a:latin typeface="Noto Sans JP"/>
                <a:ea typeface="Noto Sans JP"/>
              </a:rPr>
              <a:t>一峰性化</a:t>
            </a:r>
            <a:br>
              <a:rPr sz="2200"/>
            </a:br>
            <a:r>
              <a:rPr lang="ja-JP" sz="2200" b="1" u="none" strike="noStrike">
                <a:solidFill>
                  <a:srgbClr val="C00000"/>
                </a:solidFill>
                <a:effectLst/>
                <a:uFillTx/>
                <a:latin typeface="Noto Sans JP"/>
                <a:ea typeface="Noto Sans JP"/>
              </a:rPr>
              <a:t>切痕は消失</a:t>
            </a:r>
            <a:endParaRPr lang="en-US" sz="2200" b="0" u="none" strike="noStrike">
              <a:solidFill>
                <a:srgbClr val="000000"/>
              </a:solidFill>
              <a:effectLst/>
              <a:uFillTx/>
              <a:latin typeface="Arial"/>
            </a:endParaRPr>
          </a:p>
        </p:txBody>
      </p:sp>
      <p:sp>
        <p:nvSpPr>
          <p:cNvPr id="316" name="cap"/>
          <p:cNvSpPr/>
          <p:nvPr/>
        </p:nvSpPr>
        <p:spPr>
          <a:xfrm>
            <a:off x="1563840" y="5709600"/>
            <a:ext cx="903960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262626"/>
                </a:solidFill>
                <a:effectLst/>
                <a:uFillTx/>
                <a:latin typeface="Noto Sans JP"/>
                <a:ea typeface="Noto Sans JP"/>
              </a:rPr>
              <a:t>スティフネス上昇 → 反射波の早期帰還 → 収縮期へ融合 → 一峰性化</a:t>
            </a:r>
            <a:endParaRPr lang="en-US" sz="22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TitleFrame"/>
          <p:cNvSpPr/>
          <p:nvPr/>
        </p:nvSpPr>
        <p:spPr>
          <a:xfrm>
            <a:off x="655200" y="603504"/>
            <a:ext cx="5303520" cy="804672"/>
          </a:xfrm>
          <a:prstGeom prst="roundRect">
            <a:avLst>
              <a:gd name="adj" fmla="val 8000"/>
            </a:avLst>
          </a:prstGeom>
          <a:noFill/>
          <a:ln w="28575" cap="flat">
            <a:solidFill>
              <a:srgbClr val="44546A"/>
            </a:solidFill>
            <a:round/>
          </a:ln>
        </p:spPr>
        <p:txBody>
          <a:bodyPr rtlCol="0" anchor="ctr"/>
          <a:lstStyle/>
          <a:p>
            <a:endParaRPr lang="ja-JP"/>
          </a:p>
        </p:txBody>
      </p:sp>
      <p:sp>
        <p:nvSpPr>
          <p:cNvPr id="3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3.6  </a:t>
            </a:r>
            <a:r>
              <a:rPr lang="ja-JP" sz="4400" b="1" u="none" strike="noStrike">
                <a:ln w="19050">
                  <a:solidFill>
                    <a:srgbClr val="000000"/>
                  </a:solidFill>
                </a:ln>
                <a:solidFill>
                  <a:schemeClr val="accent4">
                    <a:lumMod val="75000"/>
                  </a:schemeClr>
                </a:solidFill>
                <a:effectLst/>
                <a:uFillTx/>
                <a:latin typeface="Noto Sans JP"/>
                <a:ea typeface="Noto Sans JP"/>
              </a:rPr>
              <a:t>後負荷の差</a:t>
            </a:r>
            <a:endParaRPr lang="en-US" sz="4600" b="1" u="none" strike="noStrike">
              <a:ln w="19050">
                <a:solidFill>
                  <a:srgbClr val="000000"/>
                </a:solidFill>
              </a:ln>
              <a:solidFill>
                <a:schemeClr val="accent4">
                  <a:lumMod val="75000"/>
                </a:schemeClr>
              </a:solidFill>
              <a:effectLst/>
              <a:uFillTx/>
              <a:latin typeface="Calibri"/>
            </a:endParaRPr>
          </a:p>
        </p:txBody>
      </p:sp>
      <p:sp>
        <p:nvSpPr>
          <p:cNvPr id="31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31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320"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32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32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32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32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32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4. Millasseau 2002</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4"/>
              </a:rPr>
              <a:t>13. Awad 2007</a:t>
            </a:r>
            <a:r>
              <a:rPr lang="ja-JP" sz="1050" b="0" u="none" strike="noStrike">
                <a:solidFill>
                  <a:srgbClr val="808080"/>
                </a:solidFill>
                <a:effectLst/>
                <a:uFillTx/>
                <a:latin typeface="Noto Sans JP"/>
                <a:ea typeface="Noto Sans JP"/>
              </a:rPr>
              <a:t>　／　</a:t>
            </a:r>
            <a:r>
              <a:rPr lang="en-US" sz="1050" b="0" u="none" strike="noStrike">
                <a:solidFill>
                  <a:srgbClr val="808080"/>
                </a:solidFill>
                <a:effectLst/>
                <a:uFillTx/>
                <a:latin typeface="Noto Sans JP"/>
                <a:ea typeface="Noto Sans JP"/>
              </a:rPr>
              <a:t>SVR</a:t>
            </a:r>
            <a:r>
              <a:rPr lang="ja-JP" sz="1050" b="0" u="none" strike="noStrike">
                <a:solidFill>
                  <a:srgbClr val="808080"/>
                </a:solidFill>
                <a:effectLst/>
                <a:uFillTx/>
                <a:latin typeface="Noto Sans JP"/>
                <a:ea typeface="Noto Sans JP"/>
              </a:rPr>
              <a:t>：体血管抵抗（</a:t>
            </a:r>
            <a:r>
              <a:rPr lang="en-US" sz="1050" b="0" u="none" strike="noStrike">
                <a:solidFill>
                  <a:srgbClr val="808080"/>
                </a:solidFill>
                <a:effectLst/>
                <a:uFillTx/>
                <a:latin typeface="Noto Sans JP"/>
                <a:ea typeface="Noto Sans JP"/>
              </a:rPr>
              <a:t>systemic vascular resistance</a:t>
            </a:r>
            <a:r>
              <a:rPr lang="ja-JP" sz="1050" b="0" u="none" strike="noStrike">
                <a:solidFill>
                  <a:srgbClr val="808080"/>
                </a:solidFill>
                <a:effectLst/>
                <a:uFillTx/>
                <a:latin typeface="Noto Sans JP"/>
                <a:ea typeface="Noto Sans JP"/>
              </a:rPr>
              <a:t>）</a:t>
            </a:r>
            <a:endParaRPr lang="en-US" sz="1050" b="0" u="none" strike="noStrike">
              <a:solidFill>
                <a:srgbClr val="000000"/>
              </a:solidFill>
              <a:effectLst/>
              <a:uFillTx/>
              <a:latin typeface="Arial"/>
            </a:endParaRPr>
          </a:p>
        </p:txBody>
      </p:sp>
      <p:pic>
        <p:nvPicPr>
          <p:cNvPr id="326" name="Picture 8" descr="07_factor_2axis.png"/>
          <p:cNvPicPr/>
          <p:nvPr/>
        </p:nvPicPr>
        <p:blipFill>
          <a:blip r:embed="rId5"/>
          <a:srcRect t="16138" b="47582"/>
          <a:stretch/>
        </p:blipFill>
        <p:spPr>
          <a:xfrm>
            <a:off x="1482480" y="2123640"/>
            <a:ext cx="8327880" cy="1762560"/>
          </a:xfrm>
          <a:prstGeom prst="rect">
            <a:avLst/>
          </a:prstGeom>
          <a:noFill/>
          <a:ln w="0">
            <a:noFill/>
          </a:ln>
        </p:spPr>
      </p:pic>
      <p:pic>
        <p:nvPicPr>
          <p:cNvPr id="327" name="Picture 8b" descr="07_factor_2axis.png"/>
          <p:cNvPicPr/>
          <p:nvPr/>
        </p:nvPicPr>
        <p:blipFill>
          <a:blip r:embed="rId6"/>
          <a:srcRect t="56511"/>
          <a:stretch/>
        </p:blipFill>
        <p:spPr>
          <a:xfrm>
            <a:off x="1482480" y="4341600"/>
            <a:ext cx="8327880" cy="2112840"/>
          </a:xfrm>
          <a:prstGeom prst="rect">
            <a:avLst/>
          </a:prstGeom>
          <a:noFill/>
          <a:ln w="0">
            <a:noFill/>
          </a:ln>
        </p:spPr>
      </p:pic>
      <p:sp>
        <p:nvSpPr>
          <p:cNvPr id="328"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20/47</a:t>
            </a:r>
            <a:endParaRPr lang="en-US" sz="1200" b="0" u="none" strike="noStrike">
              <a:solidFill>
                <a:srgbClr val="000000"/>
              </a:solidFill>
              <a:effectLst/>
              <a:uFillTx/>
              <a:latin typeface="Arial"/>
            </a:endParaRPr>
          </a:p>
        </p:txBody>
      </p:sp>
      <p:sp>
        <p:nvSpPr>
          <p:cNvPr id="329" name="h1"/>
          <p:cNvSpPr/>
          <p:nvPr/>
        </p:nvSpPr>
        <p:spPr>
          <a:xfrm>
            <a:off x="1519560" y="1812240"/>
            <a:ext cx="9334800" cy="43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2200" b="1" u="none" strike="noStrike">
                <a:solidFill>
                  <a:srgbClr val="E8853B"/>
                </a:solidFill>
                <a:effectLst/>
                <a:uFillTx/>
                <a:latin typeface="Noto Sans JP"/>
                <a:ea typeface="Noto Sans JP"/>
              </a:rPr>
              <a:t>① SVR</a:t>
            </a:r>
            <a:r>
              <a:rPr lang="ja-JP" sz="2200" b="1" u="none" strike="noStrike">
                <a:solidFill>
                  <a:srgbClr val="E8853B"/>
                </a:solidFill>
                <a:effectLst/>
                <a:uFillTx/>
                <a:latin typeface="Noto Sans JP"/>
                <a:ea typeface="Noto Sans JP"/>
              </a:rPr>
              <a:t>・血管トーヌス ↑ → 反射波・切痕が「高く」なる</a:t>
            </a:r>
            <a:endParaRPr lang="en-US" sz="2200" b="0" u="none" strike="noStrike">
              <a:solidFill>
                <a:srgbClr val="000000"/>
              </a:solidFill>
              <a:effectLst/>
              <a:uFillTx/>
              <a:latin typeface="Arial"/>
            </a:endParaRPr>
          </a:p>
        </p:txBody>
      </p:sp>
      <p:sp>
        <p:nvSpPr>
          <p:cNvPr id="330" name="takasa"/>
          <p:cNvSpPr/>
          <p:nvPr/>
        </p:nvSpPr>
        <p:spPr>
          <a:xfrm>
            <a:off x="9225720" y="2914560"/>
            <a:ext cx="1937520" cy="30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pPr>
            <a:r>
              <a:rPr lang="ja-JP" sz="2200" b="1" u="none" strike="noStrike">
                <a:solidFill>
                  <a:srgbClr val="E8853B"/>
                </a:solidFill>
                <a:effectLst/>
                <a:uFillTx/>
                <a:latin typeface="Noto Sans JP"/>
                <a:ea typeface="Noto Sans JP"/>
              </a:rPr>
              <a:t>高さ↑</a:t>
            </a:r>
            <a:endParaRPr lang="en-US" sz="2000" b="0" u="none" strike="noStrike">
              <a:solidFill>
                <a:srgbClr val="000000"/>
              </a:solidFill>
              <a:effectLst/>
              <a:uFillTx/>
              <a:latin typeface="Arial"/>
            </a:endParaRPr>
          </a:p>
        </p:txBody>
      </p:sp>
      <p:sp>
        <p:nvSpPr>
          <p:cNvPr id="331" name="h2"/>
          <p:cNvSpPr/>
          <p:nvPr/>
        </p:nvSpPr>
        <p:spPr>
          <a:xfrm>
            <a:off x="657359" y="4311360"/>
            <a:ext cx="11426760" cy="47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2200" b="1" u="none" strike="noStrike">
                <a:solidFill>
                  <a:srgbClr val="B8860B"/>
                </a:solidFill>
                <a:effectLst/>
                <a:uFillTx/>
                <a:latin typeface="Noto Sans JP"/>
                <a:ea typeface="Noto Sans JP"/>
              </a:rPr>
              <a:t>② 大血管エラスタンス ↑ → 反射波が「早く」帰る→ 下降脚に変曲点</a:t>
            </a:r>
            <a:endParaRPr lang="en-US" sz="2200" b="0" u="none" strike="noStrike">
              <a:solidFill>
                <a:srgbClr val="000000"/>
              </a:solidFill>
              <a:effectLst/>
              <a:uFillTx/>
              <a:latin typeface="Arial"/>
            </a:endParaRPr>
          </a:p>
        </p:txBody>
      </p:sp>
      <p:sp>
        <p:nvSpPr>
          <p:cNvPr id="332" name="jiso"/>
          <p:cNvSpPr/>
          <p:nvPr/>
        </p:nvSpPr>
        <p:spPr>
          <a:xfrm>
            <a:off x="5806440" y="4864680"/>
            <a:ext cx="2003040" cy="35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B8860B"/>
                </a:solidFill>
                <a:effectLst/>
                <a:uFillTx/>
                <a:latin typeface="Noto Sans JP"/>
                <a:ea typeface="Noto Sans JP"/>
              </a:rPr>
              <a:t>時相 早い</a:t>
            </a:r>
            <a:endParaRPr lang="en-US" sz="2000" b="0" u="none" strike="noStrike">
              <a:solidFill>
                <a:srgbClr val="000000"/>
              </a:solidFill>
              <a:effectLst/>
              <a:uFillTx/>
              <a:latin typeface="Arial"/>
            </a:endParaRPr>
          </a:p>
        </p:txBody>
      </p:sp>
      <p:sp>
        <p:nvSpPr>
          <p:cNvPr id="333" name="henkyoku"/>
          <p:cNvSpPr/>
          <p:nvPr/>
        </p:nvSpPr>
        <p:spPr>
          <a:xfrm>
            <a:off x="3246120" y="4846320"/>
            <a:ext cx="2544480" cy="1118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B8860B"/>
                </a:solidFill>
                <a:effectLst/>
                <a:uFillTx/>
                <a:latin typeface="Noto Sans JP"/>
                <a:ea typeface="Noto Sans JP"/>
              </a:rPr>
              <a:t>変曲点</a:t>
            </a:r>
            <a:endParaRPr lang="en-US" sz="2000" b="0" u="none" strike="noStrike">
              <a:solidFill>
                <a:srgbClr val="000000"/>
              </a:solidFill>
              <a:effectLst/>
              <a:uFillTx/>
              <a:latin typeface="Arial"/>
            </a:endParaRPr>
          </a:p>
          <a:p>
            <a:pPr algn="ctr" defTabSz="914400">
              <a:lnSpc>
                <a:spcPct val="100000"/>
              </a:lnSpc>
            </a:pPr>
            <a:r>
              <a:rPr lang="ja-JP" sz="2200" b="1" u="none" strike="noStrike">
                <a:solidFill>
                  <a:srgbClr val="B8860B"/>
                </a:solidFill>
                <a:effectLst/>
                <a:uFillTx/>
                <a:latin typeface="Noto Sans JP"/>
                <a:ea typeface="Noto Sans JP"/>
              </a:rPr>
              <a:t>（早期反射）</a:t>
            </a:r>
            <a:endParaRPr lang="en-US" sz="20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3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3.7  </a:t>
            </a:r>
            <a:r>
              <a:rPr lang="ja-JP" sz="4400" b="1" u="none" strike="noStrike">
                <a:ln w="19050">
                  <a:solidFill>
                    <a:srgbClr val="000000"/>
                  </a:solidFill>
                </a:ln>
                <a:solidFill>
                  <a:schemeClr val="accent4">
                    <a:lumMod val="75000"/>
                  </a:schemeClr>
                </a:solidFill>
                <a:effectLst/>
                <a:uFillTx/>
                <a:latin typeface="Noto Sans JP"/>
                <a:ea typeface="Noto Sans JP"/>
              </a:rPr>
              <a:t>裏付けの強さ</a:t>
            </a:r>
            <a:endParaRPr lang="en-US" sz="4600" b="1" u="none" strike="noStrike">
              <a:ln w="19050">
                <a:solidFill>
                  <a:srgbClr val="000000"/>
                </a:solidFill>
              </a:ln>
              <a:solidFill>
                <a:schemeClr val="accent4">
                  <a:lumMod val="75000"/>
                </a:schemeClr>
              </a:solidFill>
              <a:effectLst/>
              <a:uFillTx/>
              <a:latin typeface="Calibri"/>
            </a:endParaRPr>
          </a:p>
        </p:txBody>
      </p:sp>
      <p:sp>
        <p:nvSpPr>
          <p:cNvPr id="33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33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337"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33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33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34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34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342"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21/47</a:t>
            </a:r>
            <a:endParaRPr lang="en-US" sz="1200" b="0" u="none" strike="noStrike">
              <a:solidFill>
                <a:srgbClr val="000000"/>
              </a:solidFill>
              <a:effectLst/>
              <a:uFillTx/>
              <a:latin typeface="Arial"/>
            </a:endParaRPr>
          </a:p>
        </p:txBody>
      </p:sp>
      <p:sp>
        <p:nvSpPr>
          <p:cNvPr id="343" name="h1"/>
          <p:cNvSpPr/>
          <p:nvPr/>
        </p:nvSpPr>
        <p:spPr>
          <a:xfrm>
            <a:off x="1339200" y="1890720"/>
            <a:ext cx="2367360" cy="36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7F7F7F"/>
                </a:solidFill>
                <a:effectLst/>
                <a:uFillTx/>
                <a:latin typeface="Noto Sans JP"/>
                <a:ea typeface="Noto Sans JP"/>
              </a:rPr>
              <a:t>因子</a:t>
            </a:r>
            <a:endParaRPr lang="en-US" sz="2000" b="0" u="none" strike="noStrike">
              <a:solidFill>
                <a:srgbClr val="000000"/>
              </a:solidFill>
              <a:effectLst/>
              <a:uFillTx/>
              <a:latin typeface="Arial"/>
            </a:endParaRPr>
          </a:p>
        </p:txBody>
      </p:sp>
      <p:sp>
        <p:nvSpPr>
          <p:cNvPr id="344" name="h2"/>
          <p:cNvSpPr/>
          <p:nvPr/>
        </p:nvSpPr>
        <p:spPr>
          <a:xfrm>
            <a:off x="4404960" y="1890720"/>
            <a:ext cx="3381840" cy="36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200" b="1" u="none" strike="noStrike">
                <a:solidFill>
                  <a:srgbClr val="7F7F7F"/>
                </a:solidFill>
                <a:effectLst/>
                <a:uFillTx/>
                <a:latin typeface="Noto Sans JP"/>
                <a:ea typeface="Noto Sans JP"/>
              </a:rPr>
              <a:t>波形変化</a:t>
            </a:r>
            <a:endParaRPr lang="en-US" sz="2000" b="0" u="none" strike="noStrike">
              <a:solidFill>
                <a:srgbClr val="000000"/>
              </a:solidFill>
              <a:effectLst/>
              <a:uFillTx/>
              <a:latin typeface="Arial"/>
            </a:endParaRPr>
          </a:p>
        </p:txBody>
      </p:sp>
      <p:sp>
        <p:nvSpPr>
          <p:cNvPr id="345" name="h3"/>
          <p:cNvSpPr/>
          <p:nvPr/>
        </p:nvSpPr>
        <p:spPr>
          <a:xfrm>
            <a:off x="8028720" y="1890720"/>
            <a:ext cx="2113560" cy="36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7F7F7F"/>
                </a:solidFill>
                <a:effectLst/>
                <a:uFillTx/>
                <a:latin typeface="Noto Sans JP"/>
                <a:ea typeface="Noto Sans JP"/>
              </a:rPr>
              <a:t>裏付けの強さ</a:t>
            </a:r>
            <a:endParaRPr lang="en-US" sz="2000" b="0" u="none" strike="noStrike">
              <a:solidFill>
                <a:srgbClr val="000000"/>
              </a:solidFill>
              <a:effectLst/>
              <a:uFillTx/>
              <a:latin typeface="Arial"/>
            </a:endParaRPr>
          </a:p>
        </p:txBody>
      </p:sp>
      <p:sp>
        <p:nvSpPr>
          <p:cNvPr id="346" name="f0"/>
          <p:cNvSpPr/>
          <p:nvPr/>
        </p:nvSpPr>
        <p:spPr>
          <a:xfrm>
            <a:off x="1339200" y="2503080"/>
            <a:ext cx="2367360" cy="52128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Noto Sans JP"/>
                <a:ea typeface="Noto Sans JP"/>
              </a:rPr>
              <a:t>心拍数</a:t>
            </a:r>
            <a:endParaRPr lang="en-US" sz="1800" b="0" u="none" strike="noStrike">
              <a:solidFill>
                <a:srgbClr val="000000"/>
              </a:solidFill>
              <a:effectLst/>
              <a:uFillTx/>
              <a:latin typeface="Arial"/>
            </a:endParaRPr>
          </a:p>
        </p:txBody>
      </p:sp>
      <p:sp>
        <p:nvSpPr>
          <p:cNvPr id="347" name="m0"/>
          <p:cNvSpPr/>
          <p:nvPr/>
        </p:nvSpPr>
        <p:spPr>
          <a:xfrm>
            <a:off x="4404960" y="250308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Noto Sans JP"/>
                <a:ea typeface="Noto Sans JP"/>
              </a:rPr>
              <a:t>反射波の相対位置</a:t>
            </a:r>
            <a:endParaRPr lang="en-US" sz="1800" b="0" u="none" strike="noStrike">
              <a:solidFill>
                <a:srgbClr val="000000"/>
              </a:solidFill>
              <a:effectLst/>
              <a:uFillTx/>
              <a:latin typeface="Arial"/>
            </a:endParaRPr>
          </a:p>
        </p:txBody>
      </p:sp>
      <p:sp>
        <p:nvSpPr>
          <p:cNvPr id="348" name="g0"/>
          <p:cNvSpPr/>
          <p:nvPr/>
        </p:nvSpPr>
        <p:spPr>
          <a:xfrm>
            <a:off x="8028720" y="2503080"/>
            <a:ext cx="2113560" cy="521280"/>
          </a:xfrm>
          <a:prstGeom prst="roundRect">
            <a:avLst>
              <a:gd name="adj" fmla="val 40000"/>
            </a:avLst>
          </a:prstGeom>
          <a:solidFill>
            <a:srgbClr val="BF9000"/>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Noto Sans JP"/>
                <a:ea typeface="Noto Sans JP"/>
              </a:rPr>
              <a:t>モデル推定</a:t>
            </a:r>
            <a:endParaRPr lang="en-US" sz="1800" b="0" u="none" strike="noStrike">
              <a:solidFill>
                <a:srgbClr val="FFFFFF"/>
              </a:solidFill>
              <a:effectLst/>
              <a:uFillTx/>
              <a:latin typeface="Arial"/>
            </a:endParaRPr>
          </a:p>
        </p:txBody>
      </p:sp>
      <p:sp>
        <p:nvSpPr>
          <p:cNvPr id="349" name="f1"/>
          <p:cNvSpPr/>
          <p:nvPr/>
        </p:nvSpPr>
        <p:spPr>
          <a:xfrm>
            <a:off x="1339200" y="3228840"/>
            <a:ext cx="2367360" cy="52128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Noto Sans JP"/>
                <a:ea typeface="Noto Sans JP"/>
              </a:rPr>
              <a:t>前負荷</a:t>
            </a:r>
            <a:endParaRPr lang="en-US" sz="1800" b="0" u="none" strike="noStrike">
              <a:solidFill>
                <a:srgbClr val="000000"/>
              </a:solidFill>
              <a:effectLst/>
              <a:uFillTx/>
              <a:latin typeface="Arial"/>
            </a:endParaRPr>
          </a:p>
        </p:txBody>
      </p:sp>
      <p:sp>
        <p:nvSpPr>
          <p:cNvPr id="350" name="m1"/>
          <p:cNvSpPr/>
          <p:nvPr/>
        </p:nvSpPr>
        <p:spPr>
          <a:xfrm>
            <a:off x="4404960" y="322884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Noto Sans JP"/>
                <a:ea typeface="Noto Sans JP"/>
              </a:rPr>
              <a:t>全体の振幅↑↓</a:t>
            </a:r>
            <a:endParaRPr lang="en-US" sz="1800" b="0" u="none" strike="noStrike">
              <a:solidFill>
                <a:srgbClr val="000000"/>
              </a:solidFill>
              <a:effectLst/>
              <a:uFillTx/>
              <a:latin typeface="Arial"/>
            </a:endParaRPr>
          </a:p>
        </p:txBody>
      </p:sp>
      <p:sp>
        <p:nvSpPr>
          <p:cNvPr id="351" name="g1"/>
          <p:cNvSpPr/>
          <p:nvPr/>
        </p:nvSpPr>
        <p:spPr>
          <a:xfrm>
            <a:off x="8028720" y="3228840"/>
            <a:ext cx="2113560" cy="521280"/>
          </a:xfrm>
          <a:prstGeom prst="roundRect">
            <a:avLst>
              <a:gd name="adj" fmla="val 40000"/>
            </a:avLst>
          </a:prstGeom>
          <a:solidFill>
            <a:srgbClr val="70AD47"/>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Noto Sans JP"/>
                <a:ea typeface="Noto Sans JP"/>
              </a:rPr>
              <a:t>実測</a:t>
            </a:r>
            <a:endParaRPr lang="en-US" sz="1800" b="0" u="none" strike="noStrike">
              <a:solidFill>
                <a:srgbClr val="FFFFFF"/>
              </a:solidFill>
              <a:effectLst/>
              <a:uFillTx/>
              <a:latin typeface="Arial"/>
            </a:endParaRPr>
          </a:p>
        </p:txBody>
      </p:sp>
      <p:sp>
        <p:nvSpPr>
          <p:cNvPr id="352" name="f2"/>
          <p:cNvSpPr/>
          <p:nvPr/>
        </p:nvSpPr>
        <p:spPr>
          <a:xfrm>
            <a:off x="1339200" y="3954600"/>
            <a:ext cx="2367360" cy="52128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Noto Sans JP"/>
                <a:ea typeface="Noto Sans JP"/>
              </a:rPr>
              <a:t>心収縮力</a:t>
            </a:r>
            <a:endParaRPr lang="en-US" sz="1800" b="0" u="none" strike="noStrike">
              <a:solidFill>
                <a:srgbClr val="000000"/>
              </a:solidFill>
              <a:effectLst/>
              <a:uFillTx/>
              <a:latin typeface="Arial"/>
            </a:endParaRPr>
          </a:p>
        </p:txBody>
      </p:sp>
      <p:sp>
        <p:nvSpPr>
          <p:cNvPr id="353" name="m2"/>
          <p:cNvSpPr/>
          <p:nvPr/>
        </p:nvSpPr>
        <p:spPr>
          <a:xfrm>
            <a:off x="4404960" y="395460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Noto Sans JP"/>
                <a:ea typeface="Noto Sans JP"/>
              </a:rPr>
              <a:t>立ち上がりが鋭く速く</a:t>
            </a:r>
            <a:endParaRPr lang="en-US" sz="1800" b="0" u="none" strike="noStrike">
              <a:solidFill>
                <a:srgbClr val="000000"/>
              </a:solidFill>
              <a:effectLst/>
              <a:uFillTx/>
              <a:latin typeface="Arial"/>
            </a:endParaRPr>
          </a:p>
        </p:txBody>
      </p:sp>
      <p:sp>
        <p:nvSpPr>
          <p:cNvPr id="354" name="g2"/>
          <p:cNvSpPr/>
          <p:nvPr/>
        </p:nvSpPr>
        <p:spPr>
          <a:xfrm>
            <a:off x="8028720" y="3954600"/>
            <a:ext cx="2113560" cy="521280"/>
          </a:xfrm>
          <a:prstGeom prst="roundRect">
            <a:avLst>
              <a:gd name="adj" fmla="val 40000"/>
            </a:avLst>
          </a:prstGeom>
          <a:solidFill>
            <a:srgbClr val="C00000"/>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Noto Sans JP"/>
                <a:ea typeface="Noto Sans JP"/>
              </a:rPr>
              <a:t>外挿</a:t>
            </a:r>
            <a:endParaRPr lang="en-US" sz="1800" b="0" u="none" strike="noStrike">
              <a:solidFill>
                <a:srgbClr val="FFFFFF"/>
              </a:solidFill>
              <a:effectLst/>
              <a:uFillTx/>
              <a:latin typeface="Arial"/>
            </a:endParaRPr>
          </a:p>
        </p:txBody>
      </p:sp>
      <p:sp>
        <p:nvSpPr>
          <p:cNvPr id="355" name="f3"/>
          <p:cNvSpPr/>
          <p:nvPr/>
        </p:nvSpPr>
        <p:spPr>
          <a:xfrm>
            <a:off x="1339200" y="4680360"/>
            <a:ext cx="2575424" cy="61776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Noto Sans JP"/>
                <a:ea typeface="Noto Sans JP"/>
              </a:rPr>
              <a:t>末梢血管トーヌス</a:t>
            </a:r>
            <a:endParaRPr lang="en-US" sz="1800" b="0" u="none" strike="noStrike">
              <a:solidFill>
                <a:srgbClr val="000000"/>
              </a:solidFill>
              <a:effectLst/>
              <a:uFillTx/>
              <a:latin typeface="Arial"/>
            </a:endParaRPr>
          </a:p>
        </p:txBody>
      </p:sp>
      <p:sp>
        <p:nvSpPr>
          <p:cNvPr id="356" name="m3"/>
          <p:cNvSpPr/>
          <p:nvPr/>
        </p:nvSpPr>
        <p:spPr>
          <a:xfrm>
            <a:off x="4404960" y="468036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Noto Sans JP"/>
                <a:ea typeface="Noto Sans JP"/>
              </a:rPr>
              <a:t>反射波・切痕が上下</a:t>
            </a:r>
            <a:endParaRPr lang="en-US" sz="1800" b="0" u="none" strike="noStrike">
              <a:solidFill>
                <a:srgbClr val="000000"/>
              </a:solidFill>
              <a:effectLst/>
              <a:uFillTx/>
              <a:latin typeface="Arial"/>
            </a:endParaRPr>
          </a:p>
        </p:txBody>
      </p:sp>
      <p:sp>
        <p:nvSpPr>
          <p:cNvPr id="357" name="g3"/>
          <p:cNvSpPr/>
          <p:nvPr/>
        </p:nvSpPr>
        <p:spPr>
          <a:xfrm>
            <a:off x="8028720" y="4680360"/>
            <a:ext cx="2113560" cy="521280"/>
          </a:xfrm>
          <a:prstGeom prst="roundRect">
            <a:avLst>
              <a:gd name="adj" fmla="val 40000"/>
            </a:avLst>
          </a:prstGeom>
          <a:solidFill>
            <a:srgbClr val="70AD47"/>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Noto Sans JP"/>
                <a:ea typeface="Noto Sans JP"/>
              </a:rPr>
              <a:t>実測</a:t>
            </a:r>
            <a:endParaRPr lang="en-US" sz="1800" b="0" u="none" strike="noStrike">
              <a:solidFill>
                <a:srgbClr val="FFFFFF"/>
              </a:solidFill>
              <a:effectLst/>
              <a:uFillTx/>
              <a:latin typeface="Arial"/>
            </a:endParaRPr>
          </a:p>
        </p:txBody>
      </p:sp>
      <p:sp>
        <p:nvSpPr>
          <p:cNvPr id="358" name="f4"/>
          <p:cNvSpPr/>
          <p:nvPr/>
        </p:nvSpPr>
        <p:spPr>
          <a:xfrm>
            <a:off x="1339200" y="5406120"/>
            <a:ext cx="2888352" cy="807584"/>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Autofit/>
          </a:bodyPr>
          <a:lstStyle/>
          <a:p>
            <a:pPr algn="ctr" defTabSz="914400">
              <a:lnSpc>
                <a:spcPct val="100000"/>
              </a:lnSpc>
            </a:pPr>
            <a:r>
              <a:rPr lang="ja-JP" sz="2200" b="1" u="none" strike="noStrike">
                <a:solidFill>
                  <a:srgbClr val="262626"/>
                </a:solidFill>
                <a:effectLst/>
                <a:uFillTx/>
                <a:latin typeface="Noto Sans JP"/>
                <a:ea typeface="Noto Sans JP"/>
              </a:rPr>
              <a:t>大血管エラスタンス</a:t>
            </a:r>
            <a:endParaRPr lang="en-US" sz="1800" b="0" u="none" strike="noStrike">
              <a:solidFill>
                <a:srgbClr val="000000"/>
              </a:solidFill>
              <a:effectLst/>
              <a:uFillTx/>
              <a:latin typeface="Arial"/>
            </a:endParaRPr>
          </a:p>
        </p:txBody>
      </p:sp>
      <p:sp>
        <p:nvSpPr>
          <p:cNvPr id="359" name="m4"/>
          <p:cNvSpPr/>
          <p:nvPr/>
        </p:nvSpPr>
        <p:spPr>
          <a:xfrm>
            <a:off x="4404960" y="540612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Noto Sans JP"/>
                <a:ea typeface="Noto Sans JP"/>
              </a:rPr>
              <a:t>反射波が前後</a:t>
            </a:r>
            <a:endParaRPr lang="en-US" sz="1800" b="0" u="none" strike="noStrike">
              <a:solidFill>
                <a:srgbClr val="000000"/>
              </a:solidFill>
              <a:effectLst/>
              <a:uFillTx/>
              <a:latin typeface="Arial"/>
            </a:endParaRPr>
          </a:p>
        </p:txBody>
      </p:sp>
      <p:sp>
        <p:nvSpPr>
          <p:cNvPr id="360" name="g4"/>
          <p:cNvSpPr/>
          <p:nvPr/>
        </p:nvSpPr>
        <p:spPr>
          <a:xfrm>
            <a:off x="8028720" y="5406120"/>
            <a:ext cx="2113560" cy="521280"/>
          </a:xfrm>
          <a:prstGeom prst="roundRect">
            <a:avLst>
              <a:gd name="adj" fmla="val 40000"/>
            </a:avLst>
          </a:prstGeom>
          <a:solidFill>
            <a:srgbClr val="BF9000"/>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Noto Sans JP"/>
                <a:ea typeface="Noto Sans JP"/>
              </a:rPr>
              <a:t>実測</a:t>
            </a:r>
            <a:r>
              <a:rPr lang="en-US" sz="2200" b="1" u="none" strike="noStrike">
                <a:solidFill>
                  <a:srgbClr val="FFFFFF"/>
                </a:solidFill>
                <a:effectLst/>
                <a:uFillTx/>
                <a:latin typeface="Noto Sans JP"/>
                <a:ea typeface="Noto Sans JP"/>
              </a:rPr>
              <a:t>+</a:t>
            </a:r>
            <a:r>
              <a:rPr lang="ja-JP" sz="2200" b="1" u="none" strike="noStrike">
                <a:solidFill>
                  <a:srgbClr val="FFFFFF"/>
                </a:solidFill>
                <a:effectLst/>
                <a:uFillTx/>
                <a:latin typeface="Noto Sans JP"/>
                <a:ea typeface="Noto Sans JP"/>
              </a:rPr>
              <a:t>モデル</a:t>
            </a:r>
            <a:endParaRPr lang="en-US" sz="1800" b="0" u="none" strike="noStrike">
              <a:solidFill>
                <a:srgbClr val="FFFFFF"/>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6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3.8  </a:t>
            </a:r>
            <a:r>
              <a:rPr lang="ja-JP" sz="4400" b="1" u="none" strike="noStrike">
                <a:ln w="19050">
                  <a:solidFill>
                    <a:srgbClr val="000000"/>
                  </a:solidFill>
                </a:ln>
                <a:solidFill>
                  <a:schemeClr val="accent4">
                    <a:lumMod val="75000"/>
                  </a:schemeClr>
                </a:solidFill>
                <a:effectLst/>
                <a:uFillTx/>
                <a:latin typeface="Noto Sans JP"/>
                <a:ea typeface="Noto Sans JP"/>
              </a:rPr>
              <a:t>麻酔中の変化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36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363"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364"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36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36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36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368"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369"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17. Murray 1996</a:t>
            </a:r>
            <a:endParaRPr lang="en-US" sz="1050" b="0" u="none" strike="noStrike">
              <a:solidFill>
                <a:srgbClr val="000000"/>
              </a:solidFill>
              <a:effectLst/>
              <a:uFillTx/>
              <a:latin typeface="Arial"/>
            </a:endParaRPr>
          </a:p>
        </p:txBody>
      </p:sp>
      <p:pic>
        <p:nvPicPr>
          <p:cNvPr id="370" name="Picture 8" descr="13_murray.png"/>
          <p:cNvPicPr/>
          <p:nvPr/>
        </p:nvPicPr>
        <p:blipFill>
          <a:blip r:embed="rId4"/>
          <a:stretch/>
        </p:blipFill>
        <p:spPr>
          <a:xfrm>
            <a:off x="1555920" y="1185840"/>
            <a:ext cx="9383760" cy="5052600"/>
          </a:xfrm>
          <a:prstGeom prst="rect">
            <a:avLst/>
          </a:prstGeom>
          <a:noFill/>
          <a:ln w="0">
            <a:noFill/>
          </a:ln>
        </p:spPr>
      </p:pic>
      <p:sp>
        <p:nvSpPr>
          <p:cNvPr id="371"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22/47</a:t>
            </a:r>
            <a:endParaRPr lang="en-US" sz="1200" b="0" u="none" strike="noStrike">
              <a:solidFill>
                <a:srgbClr val="000000"/>
              </a:solidFill>
              <a:effectLst/>
              <a:uFillTx/>
              <a:latin typeface="Arial"/>
            </a:endParaRPr>
          </a:p>
        </p:txBody>
      </p:sp>
      <p:sp>
        <p:nvSpPr>
          <p:cNvPr id="372" name="t_g"/>
          <p:cNvSpPr/>
          <p:nvPr/>
        </p:nvSpPr>
        <p:spPr>
          <a:xfrm>
            <a:off x="1087560" y="1921680"/>
            <a:ext cx="3423600" cy="40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5FA83D"/>
                </a:solidFill>
                <a:effectLst/>
                <a:uFillTx/>
                <a:latin typeface="Noto Sans JP"/>
                <a:ea typeface="Noto Sans JP"/>
              </a:rPr>
              <a:t>正常トーヌス</a:t>
            </a:r>
            <a:endParaRPr lang="en-US" sz="2200" b="0" u="none" strike="noStrike">
              <a:solidFill>
                <a:srgbClr val="000000"/>
              </a:solidFill>
              <a:effectLst/>
              <a:uFillTx/>
              <a:latin typeface="Arial"/>
            </a:endParaRPr>
          </a:p>
        </p:txBody>
      </p:sp>
      <p:sp>
        <p:nvSpPr>
          <p:cNvPr id="373" name="t_r"/>
          <p:cNvSpPr/>
          <p:nvPr/>
        </p:nvSpPr>
        <p:spPr>
          <a:xfrm>
            <a:off x="4081680" y="1903320"/>
            <a:ext cx="4028040" cy="40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0121F"/>
                </a:solidFill>
                <a:effectLst/>
                <a:uFillTx/>
                <a:latin typeface="Noto Sans JP"/>
                <a:ea typeface="Noto Sans JP"/>
              </a:rPr>
              <a:t>血管収縮（浅麻酔・昇圧）</a:t>
            </a:r>
            <a:endParaRPr lang="en-US" sz="2200" b="0" u="none" strike="noStrike">
              <a:solidFill>
                <a:srgbClr val="000000"/>
              </a:solidFill>
              <a:effectLst/>
              <a:uFillTx/>
              <a:latin typeface="Arial"/>
            </a:endParaRPr>
          </a:p>
        </p:txBody>
      </p:sp>
      <p:sp>
        <p:nvSpPr>
          <p:cNvPr id="374" name="t_b"/>
          <p:cNvSpPr/>
          <p:nvPr/>
        </p:nvSpPr>
        <p:spPr>
          <a:xfrm>
            <a:off x="7629480" y="1903320"/>
            <a:ext cx="4028040" cy="40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3F72C4"/>
                </a:solidFill>
                <a:effectLst/>
                <a:uFillTx/>
                <a:latin typeface="Noto Sans JP"/>
                <a:ea typeface="Noto Sans JP"/>
              </a:rPr>
              <a:t>血管拡張（深麻酔・降圧）</a:t>
            </a:r>
            <a:endParaRPr lang="en-US" sz="2200" b="0" u="none" strike="noStrike">
              <a:solidFill>
                <a:srgbClr val="000000"/>
              </a:solidFill>
              <a:effectLst/>
              <a:uFillTx/>
              <a:latin typeface="Arial"/>
            </a:endParaRPr>
          </a:p>
        </p:txBody>
      </p:sp>
      <p:sp>
        <p:nvSpPr>
          <p:cNvPr id="375" name="s_g"/>
          <p:cNvSpPr/>
          <p:nvPr/>
        </p:nvSpPr>
        <p:spPr>
          <a:xfrm>
            <a:off x="1393560" y="5190120"/>
            <a:ext cx="2813760" cy="31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1800" b="1" u="none" strike="noStrike">
                <a:solidFill>
                  <a:srgbClr val="5FA83D"/>
                </a:solidFill>
                <a:effectLst/>
                <a:uFillTx/>
                <a:latin typeface="Noto Sans JP"/>
                <a:ea typeface="Noto Sans JP"/>
              </a:rPr>
              <a:t>切痕：中 ・ 振幅：中</a:t>
            </a:r>
            <a:endParaRPr lang="en-US" sz="1800" b="0" u="none" strike="noStrike">
              <a:solidFill>
                <a:srgbClr val="000000"/>
              </a:solidFill>
              <a:effectLst/>
              <a:uFillTx/>
              <a:latin typeface="Arial"/>
            </a:endParaRPr>
          </a:p>
        </p:txBody>
      </p:sp>
      <p:sp>
        <p:nvSpPr>
          <p:cNvPr id="376" name="s_r"/>
          <p:cNvSpPr/>
          <p:nvPr/>
        </p:nvSpPr>
        <p:spPr>
          <a:xfrm>
            <a:off x="4440600" y="5190120"/>
            <a:ext cx="3310200" cy="31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0121F"/>
                </a:solidFill>
                <a:effectLst/>
                <a:uFillTx/>
                <a:latin typeface="Noto Sans JP"/>
                <a:ea typeface="Noto Sans JP"/>
              </a:rPr>
              <a:t>切痕位置↑ ・ 振幅↓</a:t>
            </a:r>
            <a:endParaRPr lang="en-US" sz="1800" b="0" u="none" strike="noStrike">
              <a:solidFill>
                <a:srgbClr val="000000"/>
              </a:solidFill>
              <a:effectLst/>
              <a:uFillTx/>
              <a:latin typeface="Arial"/>
            </a:endParaRPr>
          </a:p>
        </p:txBody>
      </p:sp>
      <p:sp>
        <p:nvSpPr>
          <p:cNvPr id="377" name="s_b"/>
          <p:cNvSpPr/>
          <p:nvPr/>
        </p:nvSpPr>
        <p:spPr>
          <a:xfrm>
            <a:off x="7529400" y="5190120"/>
            <a:ext cx="3310200" cy="31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3F72C4"/>
                </a:solidFill>
                <a:effectLst/>
                <a:uFillTx/>
                <a:latin typeface="Noto Sans JP"/>
                <a:ea typeface="Noto Sans JP"/>
              </a:rPr>
              <a:t>切痕位置↓ ・ 振幅↑</a:t>
            </a:r>
            <a:endParaRPr lang="en-US" sz="18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7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3.8  </a:t>
            </a:r>
            <a:r>
              <a:rPr lang="ja-JP" sz="4400" b="1" u="none" strike="noStrike">
                <a:ln w="19050">
                  <a:solidFill>
                    <a:srgbClr val="000000"/>
                  </a:solidFill>
                </a:ln>
                <a:solidFill>
                  <a:schemeClr val="accent4">
                    <a:lumMod val="75000"/>
                  </a:schemeClr>
                </a:solidFill>
                <a:effectLst/>
                <a:uFillTx/>
                <a:latin typeface="Noto Sans JP"/>
                <a:ea typeface="Noto Sans JP"/>
              </a:rPr>
              <a:t>麻酔中の変化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37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380"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381"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38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38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38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385"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386"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17. Murray 1996</a:t>
            </a:r>
            <a:endParaRPr lang="en-US" sz="1050" b="0" u="none" strike="noStrike">
              <a:solidFill>
                <a:srgbClr val="000000"/>
              </a:solidFill>
              <a:effectLst/>
              <a:uFillTx/>
              <a:latin typeface="Arial"/>
            </a:endParaRPr>
          </a:p>
        </p:txBody>
      </p:sp>
      <p:pic>
        <p:nvPicPr>
          <p:cNvPr id="387" name="Picture 8" descr="13_murray.png"/>
          <p:cNvPicPr/>
          <p:nvPr/>
        </p:nvPicPr>
        <p:blipFill>
          <a:blip r:embed="rId4"/>
          <a:stretch/>
        </p:blipFill>
        <p:spPr>
          <a:xfrm>
            <a:off x="1945800" y="1800000"/>
            <a:ext cx="8276040" cy="4319640"/>
          </a:xfrm>
          <a:prstGeom prst="rect">
            <a:avLst/>
          </a:prstGeom>
          <a:noFill/>
          <a:ln w="0">
            <a:noFill/>
          </a:ln>
        </p:spPr>
      </p:pic>
      <p:sp>
        <p:nvSpPr>
          <p:cNvPr id="388"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23/47</a:t>
            </a:r>
            <a:endParaRPr lang="en-US" sz="1200" b="0" u="none" strike="noStrike">
              <a:solidFill>
                <a:srgbClr val="000000"/>
              </a:solidFill>
              <a:effectLst/>
              <a:uFillTx/>
              <a:latin typeface="Arial"/>
            </a:endParaRPr>
          </a:p>
        </p:txBody>
      </p:sp>
      <p:pic>
        <p:nvPicPr>
          <p:cNvPr id="389" name="図 10"/>
          <p:cNvPicPr/>
          <p:nvPr/>
        </p:nvPicPr>
        <p:blipFill>
          <a:blip r:embed="rId5"/>
          <a:srcRect t="3827" b="70275"/>
          <a:stretch/>
        </p:blipFill>
        <p:spPr>
          <a:xfrm>
            <a:off x="720000" y="2442600"/>
            <a:ext cx="10924920" cy="2814120"/>
          </a:xfrm>
          <a:prstGeom prst="rect">
            <a:avLst/>
          </a:prstGeom>
          <a:noFill/>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9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3.9  </a:t>
            </a:r>
            <a:r>
              <a:rPr lang="ja-JP" sz="4400" b="1" u="none" strike="noStrike">
                <a:ln w="19050">
                  <a:solidFill>
                    <a:srgbClr val="000000"/>
                  </a:solidFill>
                </a:ln>
                <a:solidFill>
                  <a:schemeClr val="accent4">
                    <a:lumMod val="75000"/>
                  </a:schemeClr>
                </a:solidFill>
                <a:effectLst/>
                <a:uFillTx/>
                <a:latin typeface="Noto Sans JP"/>
                <a:ea typeface="Noto Sans JP"/>
              </a:rPr>
              <a:t>麻酔中の変化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39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39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393"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39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39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39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397"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398"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14. Tusman 2019</a:t>
            </a:r>
            <a:endParaRPr lang="en-US" sz="1050" b="0" u="none" strike="noStrike">
              <a:solidFill>
                <a:srgbClr val="000000"/>
              </a:solidFill>
              <a:effectLst/>
              <a:uFillTx/>
              <a:latin typeface="Arial"/>
            </a:endParaRPr>
          </a:p>
        </p:txBody>
      </p:sp>
      <p:pic>
        <p:nvPicPr>
          <p:cNvPr id="399" name="Picture 8" descr="15_tusman.png"/>
          <p:cNvPicPr/>
          <p:nvPr/>
        </p:nvPicPr>
        <p:blipFill>
          <a:blip r:embed="rId4"/>
          <a:stretch/>
        </p:blipFill>
        <p:spPr>
          <a:xfrm>
            <a:off x="721080" y="1800000"/>
            <a:ext cx="10725840" cy="4319640"/>
          </a:xfrm>
          <a:prstGeom prst="rect">
            <a:avLst/>
          </a:prstGeom>
          <a:noFill/>
          <a:ln w="0">
            <a:noFill/>
          </a:ln>
        </p:spPr>
      </p:pic>
      <p:sp>
        <p:nvSpPr>
          <p:cNvPr id="400"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24/47</a:t>
            </a:r>
            <a:endParaRPr lang="en-US" sz="1200" b="0" u="none" strike="noStrike">
              <a:solidFill>
                <a:srgbClr val="000000"/>
              </a:solidFill>
              <a:effectLst/>
              <a:uFillTx/>
              <a:latin typeface="Arial"/>
            </a:endParaRPr>
          </a:p>
        </p:txBody>
      </p:sp>
      <p:sp>
        <p:nvSpPr>
          <p:cNvPr id="401" name="TextBox 17"/>
          <p:cNvSpPr/>
          <p:nvPr/>
        </p:nvSpPr>
        <p:spPr>
          <a:xfrm>
            <a:off x="2156760" y="1783080"/>
            <a:ext cx="1665088" cy="9658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ja-JP" sz="2800" b="1" u="none" strike="noStrike">
                <a:solidFill>
                  <a:srgbClr val="4472C4"/>
                </a:solidFill>
                <a:effectLst/>
                <a:uFillTx/>
                <a:latin typeface="Noto Sans JP"/>
                <a:ea typeface="Noto Sans JP"/>
              </a:rPr>
              <a:t>血管収縮</a:t>
            </a:r>
            <a:endParaRPr lang="en-US" sz="2800" b="0" u="none" strike="noStrike">
              <a:solidFill>
                <a:srgbClr val="000000"/>
              </a:solidFill>
              <a:effectLst/>
              <a:uFillTx/>
              <a:latin typeface="Arial"/>
            </a:endParaRPr>
          </a:p>
        </p:txBody>
      </p:sp>
      <p:sp>
        <p:nvSpPr>
          <p:cNvPr id="402" name="TextBox 18"/>
          <p:cNvSpPr/>
          <p:nvPr/>
        </p:nvSpPr>
        <p:spPr>
          <a:xfrm>
            <a:off x="5011200" y="1783080"/>
            <a:ext cx="868544" cy="987416"/>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ja-JP" sz="2800" b="1" u="none" strike="noStrike">
                <a:solidFill>
                  <a:srgbClr val="70AD47"/>
                </a:solidFill>
                <a:effectLst/>
                <a:uFillTx/>
                <a:latin typeface="Noto Sans JP"/>
                <a:ea typeface="Noto Sans JP"/>
              </a:rPr>
              <a:t>正常</a:t>
            </a:r>
            <a:endParaRPr lang="en-US" sz="2800" b="0" u="none" strike="noStrike">
              <a:solidFill>
                <a:srgbClr val="000000"/>
              </a:solidFill>
              <a:effectLst/>
              <a:uFillTx/>
              <a:latin typeface="Arial"/>
            </a:endParaRPr>
          </a:p>
        </p:txBody>
      </p:sp>
      <p:sp>
        <p:nvSpPr>
          <p:cNvPr id="403" name="TextBox 19"/>
          <p:cNvSpPr/>
          <p:nvPr/>
        </p:nvSpPr>
        <p:spPr>
          <a:xfrm>
            <a:off x="8178120" y="1783080"/>
            <a:ext cx="1665088" cy="9658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ja-JP" sz="2800" b="1" u="none" strike="noStrike">
                <a:solidFill>
                  <a:srgbClr val="8A3B00"/>
                </a:solidFill>
                <a:effectLst/>
                <a:uFillTx/>
                <a:latin typeface="Noto Sans JP"/>
                <a:ea typeface="Noto Sans JP"/>
              </a:rPr>
              <a:t>血管拡張</a:t>
            </a:r>
            <a:endParaRPr lang="en-US" sz="2800" b="0" u="none" strike="noStrike">
              <a:solidFill>
                <a:srgbClr val="000000"/>
              </a:solidFill>
              <a:effectLst/>
              <a:uFillTx/>
              <a:latin typeface="Arial"/>
            </a:endParaRPr>
          </a:p>
        </p:txBody>
      </p:sp>
      <p:sp>
        <p:nvSpPr>
          <p:cNvPr id="404" name="TextBox 20"/>
          <p:cNvSpPr/>
          <p:nvPr/>
        </p:nvSpPr>
        <p:spPr>
          <a:xfrm>
            <a:off x="1714680" y="2856960"/>
            <a:ext cx="1123438"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Noto Sans JP"/>
                <a:ea typeface="Noto Sans JP"/>
              </a:rPr>
              <a:t>severe</a:t>
            </a:r>
            <a:endParaRPr lang="en-US" sz="1800" b="0" u="none" strike="noStrike">
              <a:solidFill>
                <a:srgbClr val="000000"/>
              </a:solidFill>
              <a:effectLst/>
              <a:uFillTx/>
              <a:latin typeface="Arial"/>
            </a:endParaRPr>
          </a:p>
        </p:txBody>
      </p:sp>
      <p:sp>
        <p:nvSpPr>
          <p:cNvPr id="405" name="TextBox 21"/>
          <p:cNvSpPr/>
          <p:nvPr/>
        </p:nvSpPr>
        <p:spPr>
          <a:xfrm>
            <a:off x="3220200" y="2856960"/>
            <a:ext cx="1473917"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Noto Sans JP"/>
                <a:ea typeface="Noto Sans JP"/>
              </a:rPr>
              <a:t>moderate</a:t>
            </a:r>
            <a:endParaRPr lang="en-US" sz="1800" b="0" u="none" strike="noStrike">
              <a:solidFill>
                <a:srgbClr val="000000"/>
              </a:solidFill>
              <a:effectLst/>
              <a:uFillTx/>
              <a:latin typeface="Arial"/>
            </a:endParaRPr>
          </a:p>
        </p:txBody>
      </p:sp>
      <p:sp>
        <p:nvSpPr>
          <p:cNvPr id="406" name="TextBox 22"/>
          <p:cNvSpPr/>
          <p:nvPr/>
        </p:nvSpPr>
        <p:spPr>
          <a:xfrm>
            <a:off x="6806520" y="2856960"/>
            <a:ext cx="1123438"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Noto Sans JP"/>
                <a:ea typeface="Noto Sans JP"/>
              </a:rPr>
              <a:t>slight</a:t>
            </a:r>
            <a:endParaRPr lang="en-US" sz="1800" b="0" u="none" strike="noStrike">
              <a:solidFill>
                <a:srgbClr val="000000"/>
              </a:solidFill>
              <a:effectLst/>
              <a:uFillTx/>
              <a:latin typeface="Arial"/>
            </a:endParaRPr>
          </a:p>
        </p:txBody>
      </p:sp>
      <p:sp>
        <p:nvSpPr>
          <p:cNvPr id="407" name="TextBox 23"/>
          <p:cNvSpPr/>
          <p:nvPr/>
        </p:nvSpPr>
        <p:spPr>
          <a:xfrm>
            <a:off x="8244720" y="2856960"/>
            <a:ext cx="1473917"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Noto Sans JP"/>
                <a:ea typeface="Noto Sans JP"/>
              </a:rPr>
              <a:t>moderate</a:t>
            </a:r>
            <a:endParaRPr lang="en-US" sz="1800" b="0" u="none" strike="noStrike">
              <a:solidFill>
                <a:srgbClr val="000000"/>
              </a:solidFill>
              <a:effectLst/>
              <a:uFillTx/>
              <a:latin typeface="Arial"/>
            </a:endParaRPr>
          </a:p>
        </p:txBody>
      </p:sp>
      <p:sp>
        <p:nvSpPr>
          <p:cNvPr id="408" name="TextBox 24"/>
          <p:cNvSpPr/>
          <p:nvPr/>
        </p:nvSpPr>
        <p:spPr>
          <a:xfrm>
            <a:off x="10088640" y="2856960"/>
            <a:ext cx="1123438"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Noto Sans JP"/>
                <a:ea typeface="Noto Sans JP"/>
              </a:rPr>
              <a:t>severe</a:t>
            </a:r>
            <a:endParaRPr lang="en-US" sz="1800" b="0" u="none" strike="noStrike">
              <a:solidFill>
                <a:srgbClr val="000000"/>
              </a:solidFill>
              <a:effectLst/>
              <a:uFillTx/>
              <a:latin typeface="Arial"/>
            </a:endParaRPr>
          </a:p>
        </p:txBody>
      </p:sp>
      <p:sp>
        <p:nvSpPr>
          <p:cNvPr id="409" name="TextBox 25"/>
          <p:cNvSpPr/>
          <p:nvPr/>
        </p:nvSpPr>
        <p:spPr>
          <a:xfrm>
            <a:off x="132048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4472C4"/>
                </a:solidFill>
                <a:effectLst/>
                <a:uFillTx/>
                <a:latin typeface="Noto Sans JP"/>
                <a:ea typeface="Noto Sans JP"/>
              </a:rPr>
              <a:t>Class I</a:t>
            </a:r>
            <a:endParaRPr lang="en-US" sz="1500" b="0" u="none" strike="noStrike">
              <a:solidFill>
                <a:srgbClr val="000000"/>
              </a:solidFill>
              <a:effectLst/>
              <a:uFillTx/>
              <a:latin typeface="Arial"/>
            </a:endParaRPr>
          </a:p>
        </p:txBody>
      </p:sp>
      <p:sp>
        <p:nvSpPr>
          <p:cNvPr id="410" name="TextBox 26"/>
          <p:cNvSpPr/>
          <p:nvPr/>
        </p:nvSpPr>
        <p:spPr>
          <a:xfrm>
            <a:off x="299736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4472C4"/>
                </a:solidFill>
                <a:effectLst/>
                <a:uFillTx/>
                <a:latin typeface="Noto Sans JP"/>
                <a:ea typeface="Noto Sans JP"/>
              </a:rPr>
              <a:t>Class II</a:t>
            </a:r>
            <a:endParaRPr lang="en-US" sz="1500" b="0" u="none" strike="noStrike">
              <a:solidFill>
                <a:srgbClr val="000000"/>
              </a:solidFill>
              <a:effectLst/>
              <a:uFillTx/>
              <a:latin typeface="Arial"/>
            </a:endParaRPr>
          </a:p>
        </p:txBody>
      </p:sp>
      <p:sp>
        <p:nvSpPr>
          <p:cNvPr id="411" name="TextBox 27"/>
          <p:cNvSpPr/>
          <p:nvPr/>
        </p:nvSpPr>
        <p:spPr>
          <a:xfrm>
            <a:off x="467424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70AD47"/>
                </a:solidFill>
                <a:effectLst/>
                <a:uFillTx/>
                <a:latin typeface="Noto Sans JP"/>
                <a:ea typeface="Noto Sans JP"/>
              </a:rPr>
              <a:t>Class III</a:t>
            </a:r>
            <a:endParaRPr lang="en-US" sz="1500" b="0" u="none" strike="noStrike">
              <a:solidFill>
                <a:srgbClr val="000000"/>
              </a:solidFill>
              <a:effectLst/>
              <a:uFillTx/>
              <a:latin typeface="Arial"/>
            </a:endParaRPr>
          </a:p>
        </p:txBody>
      </p:sp>
      <p:sp>
        <p:nvSpPr>
          <p:cNvPr id="412" name="TextBox 28"/>
          <p:cNvSpPr/>
          <p:nvPr/>
        </p:nvSpPr>
        <p:spPr>
          <a:xfrm>
            <a:off x="635616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ED7D31"/>
                </a:solidFill>
                <a:effectLst/>
                <a:uFillTx/>
                <a:latin typeface="Noto Sans JP"/>
                <a:ea typeface="Noto Sans JP"/>
              </a:rPr>
              <a:t>Class IV</a:t>
            </a:r>
            <a:endParaRPr lang="en-US" sz="1500" b="0" u="none" strike="noStrike">
              <a:solidFill>
                <a:srgbClr val="000000"/>
              </a:solidFill>
              <a:effectLst/>
              <a:uFillTx/>
              <a:latin typeface="Arial"/>
            </a:endParaRPr>
          </a:p>
        </p:txBody>
      </p:sp>
      <p:sp>
        <p:nvSpPr>
          <p:cNvPr id="413" name="TextBox 29"/>
          <p:cNvSpPr/>
          <p:nvPr/>
        </p:nvSpPr>
        <p:spPr>
          <a:xfrm>
            <a:off x="803196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ED7D31"/>
                </a:solidFill>
                <a:effectLst/>
                <a:uFillTx/>
                <a:latin typeface="Noto Sans JP"/>
                <a:ea typeface="Noto Sans JP"/>
              </a:rPr>
              <a:t>Class V</a:t>
            </a:r>
            <a:endParaRPr lang="en-US" sz="1500" b="0" u="none" strike="noStrike">
              <a:solidFill>
                <a:srgbClr val="000000"/>
              </a:solidFill>
              <a:effectLst/>
              <a:uFillTx/>
              <a:latin typeface="Arial"/>
            </a:endParaRPr>
          </a:p>
        </p:txBody>
      </p:sp>
      <p:sp>
        <p:nvSpPr>
          <p:cNvPr id="414" name="TextBox 30"/>
          <p:cNvSpPr/>
          <p:nvPr/>
        </p:nvSpPr>
        <p:spPr>
          <a:xfrm>
            <a:off x="970452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C00000"/>
                </a:solidFill>
                <a:effectLst/>
                <a:uFillTx/>
                <a:latin typeface="Noto Sans JP"/>
                <a:ea typeface="Noto Sans JP"/>
              </a:rPr>
              <a:t>Class VI</a:t>
            </a:r>
            <a:endParaRPr lang="en-US" sz="1500" b="0" u="none" strike="noStrike">
              <a:solidFill>
                <a:srgbClr val="000000"/>
              </a:solidFill>
              <a:effectLst/>
              <a:uFillTx/>
              <a:latin typeface="Arial"/>
            </a:endParaRPr>
          </a:p>
        </p:txBody>
      </p:sp>
      <p:sp>
        <p:nvSpPr>
          <p:cNvPr id="415" name="TextBox 31"/>
          <p:cNvSpPr/>
          <p:nvPr/>
        </p:nvSpPr>
        <p:spPr>
          <a:xfrm rot="16200000">
            <a:off x="104760" y="4003200"/>
            <a:ext cx="1317453"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272727"/>
                </a:solidFill>
                <a:effectLst/>
                <a:uFillTx/>
                <a:latin typeface="Noto Sans JP"/>
                <a:ea typeface="Noto Sans JP"/>
              </a:rPr>
              <a:t>PPG </a:t>
            </a:r>
            <a:r>
              <a:rPr lang="ja-JP" sz="2200" b="1" u="none" strike="noStrike">
                <a:solidFill>
                  <a:srgbClr val="272727"/>
                </a:solidFill>
                <a:effectLst/>
                <a:uFillTx/>
                <a:latin typeface="Noto Sans JP"/>
                <a:ea typeface="Noto Sans JP"/>
              </a:rPr>
              <a:t>振幅</a:t>
            </a:r>
            <a:endParaRPr lang="en-US" sz="2000" b="0" u="none" strike="noStrike">
              <a:solidFill>
                <a:srgbClr val="000000"/>
              </a:solidFill>
              <a:effectLst/>
              <a:uFillTx/>
              <a:latin typeface="Arial"/>
            </a:endParaRPr>
          </a:p>
        </p:txBody>
      </p:sp>
      <p:sp>
        <p:nvSpPr>
          <p:cNvPr id="416" name="テキスト ボックス 3"/>
          <p:cNvSpPr/>
          <p:nvPr/>
        </p:nvSpPr>
        <p:spPr>
          <a:xfrm>
            <a:off x="1271520" y="5809680"/>
            <a:ext cx="10101626" cy="688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2400" b="1" u="none" strike="noStrike">
                <a:solidFill>
                  <a:schemeClr val="dk1"/>
                </a:solidFill>
                <a:effectLst/>
                <a:uFillTx/>
                <a:latin typeface="Noto Sans JP"/>
                <a:ea typeface="Noto Sans JP"/>
              </a:rPr>
              <a:t>切痕位置</a:t>
            </a:r>
            <a:r>
              <a:rPr lang="en-US" sz="2400" b="1" u="none" strike="noStrike">
                <a:solidFill>
                  <a:schemeClr val="dk1"/>
                </a:solidFill>
                <a:effectLst/>
                <a:uFillTx/>
                <a:latin typeface="Noto Sans JP"/>
                <a:ea typeface="Noto Sans JP"/>
              </a:rPr>
              <a:t>× </a:t>
            </a:r>
            <a:r>
              <a:rPr lang="ja-JP" sz="2400" b="1" u="none" strike="noStrike">
                <a:solidFill>
                  <a:schemeClr val="dk1"/>
                </a:solidFill>
                <a:effectLst/>
                <a:uFillTx/>
                <a:latin typeface="Noto Sans JP"/>
                <a:ea typeface="Noto Sans JP"/>
              </a:rPr>
              <a:t>振幅 で</a:t>
            </a:r>
            <a:r>
              <a:rPr lang="en-US" sz="2400" b="1" u="none" strike="noStrike">
                <a:solidFill>
                  <a:schemeClr val="dk1"/>
                </a:solidFill>
                <a:effectLst/>
                <a:uFillTx/>
                <a:latin typeface="Noto Sans JP"/>
                <a:ea typeface="Noto Sans JP"/>
              </a:rPr>
              <a:t>6</a:t>
            </a:r>
            <a:r>
              <a:rPr lang="ja-JP" sz="2400" b="1" u="none" strike="noStrike">
                <a:solidFill>
                  <a:schemeClr val="dk1"/>
                </a:solidFill>
                <a:effectLst/>
                <a:uFillTx/>
                <a:latin typeface="Noto Sans JP"/>
                <a:ea typeface="Noto Sans JP"/>
              </a:rPr>
              <a:t>分類。</a:t>
            </a:r>
            <a:r>
              <a:rPr lang="en" sz="2400" b="1" u="none" strike="noStrike">
                <a:solidFill>
                  <a:schemeClr val="dk1"/>
                </a:solidFill>
                <a:effectLst/>
                <a:uFillTx/>
                <a:latin typeface="Noto Sans JP"/>
                <a:ea typeface="Noto Sans JP"/>
              </a:rPr>
              <a:t>SBP</a:t>
            </a:r>
            <a:r>
              <a:rPr lang="ja-JP" sz="2400" b="1" u="none" strike="noStrike">
                <a:solidFill>
                  <a:schemeClr val="dk1"/>
                </a:solidFill>
                <a:effectLst/>
                <a:uFillTx/>
                <a:latin typeface="Noto Sans JP"/>
                <a:ea typeface="Noto Sans JP"/>
              </a:rPr>
              <a:t>・</a:t>
            </a:r>
            <a:r>
              <a:rPr lang="en" sz="2400" b="1" u="none" strike="noStrike">
                <a:solidFill>
                  <a:schemeClr val="dk1"/>
                </a:solidFill>
                <a:effectLst/>
                <a:uFillTx/>
                <a:latin typeface="Noto Sans JP"/>
                <a:ea typeface="Noto Sans JP"/>
              </a:rPr>
              <a:t>SVR</a:t>
            </a:r>
            <a:r>
              <a:rPr lang="ja-JP" sz="2400" b="1" u="none" strike="noStrike">
                <a:solidFill>
                  <a:schemeClr val="dk1"/>
                </a:solidFill>
                <a:effectLst/>
                <a:uFillTx/>
                <a:latin typeface="Noto Sans JP"/>
                <a:ea typeface="Noto Sans JP"/>
              </a:rPr>
              <a:t>・コンプライアンスと相関。 </a:t>
            </a:r>
            <a:endParaRPr lang="en-US" sz="24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4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3.9  </a:t>
            </a:r>
            <a:r>
              <a:rPr lang="ja-JP" sz="4400" b="1" u="none" strike="noStrike">
                <a:ln w="19050">
                  <a:solidFill>
                    <a:srgbClr val="000000"/>
                  </a:solidFill>
                </a:ln>
                <a:solidFill>
                  <a:schemeClr val="accent4">
                    <a:lumMod val="75000"/>
                  </a:schemeClr>
                </a:solidFill>
                <a:effectLst/>
                <a:uFillTx/>
                <a:latin typeface="Noto Sans JP"/>
                <a:ea typeface="Noto Sans JP"/>
              </a:rPr>
              <a:t>麻酔中の変化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41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41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420"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循環</a:t>
            </a:r>
            <a:endParaRPr lang="en-US" sz="1050" b="0" u="none" strike="noStrike">
              <a:solidFill>
                <a:srgbClr val="FFFFFF"/>
              </a:solidFill>
              <a:effectLst/>
              <a:uFillTx/>
              <a:latin typeface="Arial"/>
            </a:endParaRPr>
          </a:p>
        </p:txBody>
      </p:sp>
      <p:sp>
        <p:nvSpPr>
          <p:cNvPr id="42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42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42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42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42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14. Tusman 2019</a:t>
            </a:r>
            <a:endParaRPr lang="en-US" sz="1050" b="0" u="none" strike="noStrike">
              <a:solidFill>
                <a:srgbClr val="000000"/>
              </a:solidFill>
              <a:effectLst/>
              <a:uFillTx/>
              <a:latin typeface="Arial"/>
            </a:endParaRPr>
          </a:p>
        </p:txBody>
      </p:sp>
      <p:pic>
        <p:nvPicPr>
          <p:cNvPr id="426" name="Picture 8" descr="15_tusman.png"/>
          <p:cNvPicPr/>
          <p:nvPr/>
        </p:nvPicPr>
        <p:blipFill>
          <a:blip r:embed="rId4"/>
          <a:stretch/>
        </p:blipFill>
        <p:spPr>
          <a:xfrm>
            <a:off x="721080" y="1800000"/>
            <a:ext cx="10725840" cy="4319640"/>
          </a:xfrm>
          <a:prstGeom prst="rect">
            <a:avLst/>
          </a:prstGeom>
          <a:noFill/>
          <a:ln w="0">
            <a:noFill/>
          </a:ln>
        </p:spPr>
      </p:pic>
      <p:sp>
        <p:nvSpPr>
          <p:cNvPr id="42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25/47</a:t>
            </a:r>
            <a:endParaRPr lang="en-US" sz="1200" b="0" u="none" strike="noStrike">
              <a:solidFill>
                <a:srgbClr val="000000"/>
              </a:solidFill>
              <a:effectLst/>
              <a:uFillTx/>
              <a:latin typeface="Arial"/>
            </a:endParaRPr>
          </a:p>
        </p:txBody>
      </p:sp>
      <p:pic>
        <p:nvPicPr>
          <p:cNvPr id="428" name="図 2"/>
          <p:cNvPicPr/>
          <p:nvPr/>
        </p:nvPicPr>
        <p:blipFill>
          <a:blip r:embed="rId5"/>
          <a:stretch/>
        </p:blipFill>
        <p:spPr>
          <a:xfrm>
            <a:off x="744840" y="1690560"/>
            <a:ext cx="11115360" cy="4050000"/>
          </a:xfrm>
          <a:prstGeom prst="rect">
            <a:avLst/>
          </a:prstGeom>
          <a:noFill/>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TitleFrame"/>
          <p:cNvSpPr/>
          <p:nvPr/>
        </p:nvSpPr>
        <p:spPr>
          <a:xfrm>
            <a:off x="655200" y="603504"/>
            <a:ext cx="5212080" cy="804672"/>
          </a:xfrm>
          <a:prstGeom prst="roundRect">
            <a:avLst>
              <a:gd name="adj" fmla="val 8000"/>
            </a:avLst>
          </a:prstGeom>
          <a:noFill/>
          <a:ln w="28575" cap="flat">
            <a:solidFill>
              <a:srgbClr val="44546A"/>
            </a:solidFill>
            <a:round/>
          </a:ln>
        </p:spPr>
        <p:txBody>
          <a:bodyPr rtlCol="0" anchor="ctr"/>
          <a:lstStyle/>
          <a:p>
            <a:endParaRPr lang="ja-JP"/>
          </a:p>
        </p:txBody>
      </p:sp>
      <p:sp>
        <p:nvSpPr>
          <p:cNvPr id="42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4. </a:t>
            </a:r>
            <a:r>
              <a:rPr lang="ja-JP" sz="4400" b="1" u="none" strike="noStrike">
                <a:ln w="19050">
                  <a:solidFill>
                    <a:srgbClr val="000000"/>
                  </a:solidFill>
                </a:ln>
                <a:solidFill>
                  <a:schemeClr val="accent4">
                    <a:lumMod val="75000"/>
                  </a:schemeClr>
                </a:solidFill>
                <a:effectLst/>
                <a:uFillTx/>
                <a:latin typeface="Noto Sans JP"/>
                <a:ea typeface="Noto Sans JP"/>
              </a:rPr>
              <a:t>波形の定量化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430"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431"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432"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433"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定量化</a:t>
            </a:r>
            <a:endParaRPr lang="en-US" sz="1050" b="0" u="none" strike="noStrike">
              <a:solidFill>
                <a:srgbClr val="FFFFFF"/>
              </a:solidFill>
              <a:effectLst/>
              <a:uFillTx/>
              <a:latin typeface="Arial"/>
            </a:endParaRPr>
          </a:p>
        </p:txBody>
      </p:sp>
      <p:sp>
        <p:nvSpPr>
          <p:cNvPr id="434"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435"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436"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437"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Noto Sans JP"/>
                <a:ea typeface="Noto Sans JP"/>
              </a:rPr>
              <a:t>1. </a:t>
            </a:r>
            <a:r>
              <a:rPr lang="ja-JP" sz="2400" b="0" u="none" strike="noStrike">
                <a:solidFill>
                  <a:srgbClr val="D9D9D9"/>
                </a:solidFill>
                <a:effectLst/>
                <a:uFillTx/>
                <a:latin typeface="Noto Sans JP"/>
                <a:ea typeface="Noto Sans JP"/>
              </a:rPr>
              <a:t>基礎：</a:t>
            </a:r>
            <a:r>
              <a:rPr lang="en-US" sz="2400" b="0" u="none" strike="noStrike">
                <a:solidFill>
                  <a:srgbClr val="D9D9D9"/>
                </a:solidFill>
                <a:effectLst/>
                <a:uFillTx/>
                <a:latin typeface="Noto Sans JP"/>
                <a:ea typeface="Noto Sans JP"/>
              </a:rPr>
              <a:t>PPG</a:t>
            </a:r>
            <a:r>
              <a:rPr lang="ja-JP" sz="2400" b="0" u="none" strike="noStrike">
                <a:solidFill>
                  <a:srgbClr val="D9D9D9"/>
                </a:solidFill>
                <a:effectLst/>
                <a:uFillTx/>
                <a:latin typeface="Noto Sans JP"/>
                <a:ea typeface="Noto Sans JP"/>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2. </a:t>
            </a:r>
            <a:r>
              <a:rPr lang="ja-JP" sz="2400" b="0" u="none" strike="noStrike">
                <a:solidFill>
                  <a:srgbClr val="D9D9D9"/>
                </a:solidFill>
                <a:effectLst/>
                <a:uFillTx/>
                <a:latin typeface="Noto Sans JP"/>
                <a:ea typeface="Noto Sans JP"/>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3. </a:t>
            </a:r>
            <a:r>
              <a:rPr lang="ja-JP" sz="2400" b="0" u="none" strike="noStrike">
                <a:solidFill>
                  <a:srgbClr val="D9D9D9"/>
                </a:solidFill>
                <a:effectLst/>
                <a:uFillTx/>
                <a:latin typeface="Noto Sans JP"/>
                <a:ea typeface="Noto Sans JP"/>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Noto Sans JP"/>
                <a:ea typeface="Noto Sans JP"/>
              </a:rPr>
              <a:t>4. </a:t>
            </a:r>
            <a:r>
              <a:rPr lang="ja-JP" sz="2600" b="1" u="none" strike="noStrike">
                <a:solidFill>
                  <a:srgbClr val="262626"/>
                </a:solidFill>
                <a:effectLst/>
                <a:uFillTx/>
                <a:latin typeface="Noto Sans JP"/>
                <a:ea typeface="Noto Sans JP"/>
              </a:rPr>
              <a:t>波形の定量化</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Noto Sans JP"/>
                <a:ea typeface="Noto Sans JP"/>
              </a:rPr>
              <a:t>4.1</a:t>
            </a:r>
            <a:r>
              <a:rPr lang="ja-JP" sz="2200" b="1" u="none" strike="noStrike">
                <a:solidFill>
                  <a:srgbClr val="BF9000"/>
                </a:solidFill>
                <a:effectLst/>
                <a:uFillTx/>
                <a:latin typeface="Noto Sans JP"/>
                <a:ea typeface="Noto Sans JP"/>
              </a:rPr>
              <a:t>　</a:t>
            </a:r>
            <a:r>
              <a:rPr lang="en-US" sz="2200" b="1" u="none" strike="noStrike">
                <a:solidFill>
                  <a:srgbClr val="262626"/>
                </a:solidFill>
                <a:effectLst/>
                <a:uFillTx/>
                <a:latin typeface="Noto Sans JP"/>
                <a:ea typeface="Noto Sans JP"/>
              </a:rPr>
              <a:t>SI</a:t>
            </a:r>
            <a:r>
              <a:rPr lang="ja-JP" sz="2200" b="1" u="none" strike="noStrike">
                <a:solidFill>
                  <a:srgbClr val="262626"/>
                </a:solidFill>
                <a:effectLst/>
                <a:uFillTx/>
                <a:latin typeface="Noto Sans JP"/>
                <a:ea typeface="Noto Sans JP"/>
              </a:rPr>
              <a:t>・</a:t>
            </a:r>
            <a:r>
              <a:rPr lang="en-US" sz="2200" b="1" u="none" strike="noStrike">
                <a:solidFill>
                  <a:srgbClr val="262626"/>
                </a:solidFill>
                <a:effectLst/>
                <a:uFillTx/>
                <a:latin typeface="Noto Sans JP"/>
                <a:ea typeface="Noto Sans JP"/>
              </a:rPr>
              <a:t>RI</a:t>
            </a:r>
            <a:r>
              <a:rPr lang="ja-JP" sz="2200" b="1" u="none" strike="noStrike">
                <a:solidFill>
                  <a:srgbClr val="262626"/>
                </a:solidFill>
                <a:effectLst/>
                <a:uFillTx/>
                <a:latin typeface="Noto Sans JP"/>
                <a:ea typeface="Noto Sans JP"/>
              </a:rPr>
              <a:t>・</a:t>
            </a:r>
            <a:r>
              <a:rPr lang="en-US" sz="2200" b="1" u="none" strike="noStrike">
                <a:solidFill>
                  <a:srgbClr val="262626"/>
                </a:solidFill>
                <a:effectLst/>
                <a:uFillTx/>
                <a:latin typeface="Noto Sans JP"/>
                <a:ea typeface="Noto Sans JP"/>
              </a:rPr>
              <a:t>AIx</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Noto Sans JP"/>
                <a:ea typeface="Noto Sans JP"/>
              </a:rPr>
              <a:t>4.2</a:t>
            </a:r>
            <a:r>
              <a:rPr lang="ja-JP" sz="2200" b="1" u="none" strike="noStrike">
                <a:solidFill>
                  <a:srgbClr val="BF9000"/>
                </a:solidFill>
                <a:effectLst/>
                <a:uFillTx/>
                <a:latin typeface="Noto Sans JP"/>
                <a:ea typeface="Noto Sans JP"/>
              </a:rPr>
              <a:t>　</a:t>
            </a:r>
            <a:r>
              <a:rPr lang="en-US" sz="2200" b="1" u="none" strike="noStrike">
                <a:solidFill>
                  <a:srgbClr val="262626"/>
                </a:solidFill>
                <a:effectLst/>
                <a:uFillTx/>
                <a:latin typeface="Noto Sans JP"/>
                <a:ea typeface="Noto Sans JP"/>
              </a:rPr>
              <a:t>SDPPG </a:t>
            </a:r>
            <a:r>
              <a:rPr lang="ja-JP" sz="2200" b="1" u="none" strike="noStrike">
                <a:solidFill>
                  <a:srgbClr val="262626"/>
                </a:solidFill>
                <a:effectLst/>
                <a:uFillTx/>
                <a:latin typeface="Noto Sans JP"/>
                <a:ea typeface="Noto Sans JP"/>
              </a:rPr>
              <a:t>と </a:t>
            </a:r>
            <a:r>
              <a:rPr lang="en-US" sz="2200" b="1" u="none" strike="noStrike">
                <a:solidFill>
                  <a:srgbClr val="262626"/>
                </a:solidFill>
                <a:effectLst/>
                <a:uFillTx/>
                <a:latin typeface="Noto Sans JP"/>
                <a:ea typeface="Noto Sans JP"/>
              </a:rPr>
              <a:t>AGI</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Noto Sans JP"/>
                <a:ea typeface="Noto Sans JP"/>
              </a:rPr>
              <a:t>4.3</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切痕＋</a:t>
            </a:r>
            <a:r>
              <a:rPr lang="en-US" sz="2200" b="1" u="none" strike="noStrike">
                <a:solidFill>
                  <a:srgbClr val="262626"/>
                </a:solidFill>
                <a:effectLst/>
                <a:uFillTx/>
                <a:latin typeface="Noto Sans JP"/>
                <a:ea typeface="Noto Sans JP"/>
              </a:rPr>
              <a:t>PI→MAP</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5. </a:t>
            </a:r>
            <a:r>
              <a:rPr lang="en-US" sz="2400" b="0" u="none" strike="noStrike">
                <a:solidFill>
                  <a:srgbClr val="D9D9D9"/>
                </a:solidFill>
                <a:effectLst/>
                <a:uFillTx/>
                <a:latin typeface="Noto Sans JP"/>
                <a:ea typeface="Noto Sans JP"/>
              </a:rPr>
              <a:t>SpO₂</a:t>
            </a:r>
            <a:r>
              <a:rPr lang="ja-JP" sz="2400" b="0" u="none" strike="noStrike">
                <a:solidFill>
                  <a:srgbClr val="D9D9D9"/>
                </a:solidFill>
                <a:effectLst/>
                <a:uFillTx/>
                <a:latin typeface="Noto Sans JP"/>
                <a:ea typeface="Noto Sans JP"/>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6. </a:t>
            </a:r>
            <a:r>
              <a:rPr lang="ja-JP" sz="2400" b="0" u="none" strike="noStrike">
                <a:solidFill>
                  <a:srgbClr val="D9D9D9"/>
                </a:solidFill>
                <a:effectLst/>
                <a:uFillTx/>
                <a:latin typeface="Noto Sans JP"/>
                <a:ea typeface="Noto Sans JP"/>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7. </a:t>
            </a:r>
            <a:r>
              <a:rPr lang="en-US" sz="2400" b="0" u="none" strike="noStrike">
                <a:solidFill>
                  <a:srgbClr val="D9D9D9"/>
                </a:solidFill>
                <a:effectLst/>
                <a:uFillTx/>
                <a:latin typeface="Noto Sans JP"/>
                <a:ea typeface="Noto Sans JP"/>
              </a:rPr>
              <a:t>esCCO</a:t>
            </a:r>
            <a:r>
              <a:rPr lang="ja-JP" sz="2400" b="0" u="none" strike="noStrike">
                <a:solidFill>
                  <a:srgbClr val="D9D9D9"/>
                </a:solidFill>
                <a:effectLst/>
                <a:uFillTx/>
                <a:latin typeface="Noto Sans JP"/>
                <a:ea typeface="Noto Sans JP"/>
              </a:rPr>
              <a:t>精度改善案</a:t>
            </a:r>
            <a:endParaRPr lang="en-US" sz="2400" b="0" u="none" strike="noStrike">
              <a:solidFill>
                <a:srgbClr val="000000"/>
              </a:solidFill>
              <a:effectLst/>
              <a:uFillTx/>
              <a:latin typeface="Arial"/>
            </a:endParaRPr>
          </a:p>
        </p:txBody>
      </p:sp>
      <p:sp>
        <p:nvSpPr>
          <p:cNvPr id="438"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26/47</a:t>
            </a:r>
            <a:endParaRPr lang="en-US" sz="12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TitleFrame"/>
          <p:cNvSpPr/>
          <p:nvPr/>
        </p:nvSpPr>
        <p:spPr>
          <a:xfrm>
            <a:off x="655200" y="603504"/>
            <a:ext cx="5925312" cy="804672"/>
          </a:xfrm>
          <a:prstGeom prst="roundRect">
            <a:avLst>
              <a:gd name="adj" fmla="val 8000"/>
            </a:avLst>
          </a:prstGeom>
          <a:noFill/>
          <a:ln w="28575" cap="flat">
            <a:solidFill>
              <a:srgbClr val="44546A"/>
            </a:solidFill>
            <a:round/>
          </a:ln>
        </p:spPr>
        <p:txBody>
          <a:bodyPr rtlCol="0" anchor="ctr"/>
          <a:lstStyle/>
          <a:p>
            <a:endParaRPr lang="ja-JP"/>
          </a:p>
        </p:txBody>
      </p:sp>
      <p:sp>
        <p:nvSpPr>
          <p:cNvPr id="43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4.1  SI</a:t>
            </a:r>
            <a:r>
              <a:rPr lang="ja-JP" sz="4400" b="1" u="none" strike="noStrike">
                <a:ln w="19050">
                  <a:solidFill>
                    <a:srgbClr val="000000"/>
                  </a:solidFill>
                </a:ln>
                <a:solidFill>
                  <a:schemeClr val="accent4">
                    <a:lumMod val="75000"/>
                  </a:schemeClr>
                </a:solidFill>
                <a:effectLst/>
                <a:uFillTx/>
                <a:latin typeface="Noto Sans JP"/>
                <a:ea typeface="Noto Sans JP"/>
              </a:rPr>
              <a:t>・</a:t>
            </a:r>
            <a:r>
              <a:rPr lang="en-US" sz="4400" b="1" u="none" strike="noStrike">
                <a:ln w="19050">
                  <a:solidFill>
                    <a:srgbClr val="000000"/>
                  </a:solidFill>
                </a:ln>
                <a:solidFill>
                  <a:schemeClr val="accent4">
                    <a:lumMod val="75000"/>
                  </a:schemeClr>
                </a:solidFill>
                <a:effectLst/>
                <a:uFillTx/>
                <a:latin typeface="Noto Sans JP"/>
                <a:ea typeface="Noto Sans JP"/>
              </a:rPr>
              <a:t>RI</a:t>
            </a:r>
            <a:r>
              <a:rPr lang="ja-JP" sz="4400" b="1" u="none" strike="noStrike">
                <a:ln w="19050">
                  <a:solidFill>
                    <a:srgbClr val="000000"/>
                  </a:solidFill>
                </a:ln>
                <a:solidFill>
                  <a:schemeClr val="accent4">
                    <a:lumMod val="75000"/>
                  </a:schemeClr>
                </a:solidFill>
                <a:effectLst/>
                <a:uFillTx/>
                <a:latin typeface="Noto Sans JP"/>
                <a:ea typeface="Noto Sans JP"/>
              </a:rPr>
              <a:t>・</a:t>
            </a:r>
            <a:r>
              <a:rPr lang="en-US" sz="4400" b="1" u="none" strike="noStrike">
                <a:ln w="19050">
                  <a:solidFill>
                    <a:srgbClr val="000000"/>
                  </a:solidFill>
                </a:ln>
                <a:solidFill>
                  <a:schemeClr val="accent4">
                    <a:lumMod val="75000"/>
                  </a:schemeClr>
                </a:solidFill>
                <a:effectLst/>
                <a:uFillTx/>
                <a:latin typeface="Noto Sans JP"/>
                <a:ea typeface="Noto Sans JP"/>
              </a:rPr>
              <a:t>AIx</a:t>
            </a:r>
            <a:endParaRPr lang="en-US" sz="4600" b="1" u="none" strike="noStrike">
              <a:ln w="19050">
                <a:solidFill>
                  <a:srgbClr val="000000"/>
                </a:solidFill>
              </a:ln>
              <a:solidFill>
                <a:schemeClr val="accent4">
                  <a:lumMod val="75000"/>
                </a:schemeClr>
              </a:solidFill>
              <a:effectLst/>
              <a:uFillTx/>
              <a:latin typeface="Calibri"/>
            </a:endParaRPr>
          </a:p>
        </p:txBody>
      </p:sp>
      <p:sp>
        <p:nvSpPr>
          <p:cNvPr id="440"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441"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442"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443"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定量化</a:t>
            </a:r>
            <a:endParaRPr lang="en-US" sz="1050" b="0" u="none" strike="noStrike">
              <a:solidFill>
                <a:srgbClr val="FFFFFF"/>
              </a:solidFill>
              <a:effectLst/>
              <a:uFillTx/>
              <a:latin typeface="Arial"/>
            </a:endParaRPr>
          </a:p>
        </p:txBody>
      </p:sp>
      <p:sp>
        <p:nvSpPr>
          <p:cNvPr id="444"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445"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446"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447"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4. Millasseau 2002</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4"/>
              </a:rPr>
              <a:t>15. Chowienczyk 1999</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5"/>
              </a:rPr>
              <a:t>16. Takazawa 1998</a:t>
            </a:r>
            <a:endParaRPr lang="en-US" sz="1050" b="0" u="none" strike="noStrike">
              <a:solidFill>
                <a:srgbClr val="000000"/>
              </a:solidFill>
              <a:effectLst/>
              <a:uFillTx/>
              <a:latin typeface="Arial"/>
            </a:endParaRPr>
          </a:p>
        </p:txBody>
      </p:sp>
      <p:pic>
        <p:nvPicPr>
          <p:cNvPr id="448" name="Picture 8" descr="17_si_ri_aix.png"/>
          <p:cNvPicPr/>
          <p:nvPr/>
        </p:nvPicPr>
        <p:blipFill>
          <a:blip r:embed="rId6"/>
          <a:stretch/>
        </p:blipFill>
        <p:spPr>
          <a:xfrm>
            <a:off x="1798200" y="1749960"/>
            <a:ext cx="8595000" cy="4523400"/>
          </a:xfrm>
          <a:prstGeom prst="rect">
            <a:avLst/>
          </a:prstGeom>
          <a:noFill/>
          <a:ln w="0">
            <a:noFill/>
          </a:ln>
        </p:spPr>
      </p:pic>
      <p:sp>
        <p:nvSpPr>
          <p:cNvPr id="449"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27/47</a:t>
            </a:r>
            <a:endParaRPr lang="en-US" sz="1200" b="0" u="none" strike="noStrike">
              <a:solidFill>
                <a:srgbClr val="000000"/>
              </a:solidFill>
              <a:effectLst/>
              <a:uFillTx/>
              <a:latin typeface="Arial"/>
            </a:endParaRPr>
          </a:p>
        </p:txBody>
      </p:sp>
      <p:sp>
        <p:nvSpPr>
          <p:cNvPr id="450" name="p1"/>
          <p:cNvSpPr/>
          <p:nvPr/>
        </p:nvSpPr>
        <p:spPr>
          <a:xfrm>
            <a:off x="1939320" y="2294280"/>
            <a:ext cx="358488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2E6FBF"/>
                </a:solidFill>
                <a:effectLst/>
                <a:uFillTx/>
                <a:latin typeface="Noto Sans JP"/>
                <a:ea typeface="Noto Sans JP"/>
              </a:rPr>
              <a:t>P1</a:t>
            </a:r>
            <a:r>
              <a:rPr lang="ja-JP" sz="2200" b="1" u="none" strike="noStrike">
                <a:solidFill>
                  <a:srgbClr val="2E6FBF"/>
                </a:solidFill>
                <a:effectLst/>
                <a:uFillTx/>
                <a:latin typeface="Noto Sans JP"/>
                <a:ea typeface="Noto Sans JP"/>
              </a:rPr>
              <a:t>（前進波・前期収縮期）</a:t>
            </a:r>
            <a:endParaRPr lang="en-US" sz="2000" b="0" u="none" strike="noStrike">
              <a:solidFill>
                <a:srgbClr val="000000"/>
              </a:solidFill>
              <a:effectLst/>
              <a:uFillTx/>
              <a:latin typeface="Arial"/>
            </a:endParaRPr>
          </a:p>
        </p:txBody>
      </p:sp>
      <p:sp>
        <p:nvSpPr>
          <p:cNvPr id="451" name="p2"/>
          <p:cNvSpPr/>
          <p:nvPr/>
        </p:nvSpPr>
        <p:spPr>
          <a:xfrm>
            <a:off x="5632200" y="2294280"/>
            <a:ext cx="4464720" cy="420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en-US" sz="2000" b="1" u="none" strike="noStrike">
                <a:solidFill>
                  <a:srgbClr val="E8853B"/>
                </a:solidFill>
                <a:effectLst/>
                <a:uFillTx/>
                <a:latin typeface="Noto Sans JP"/>
                <a:ea typeface="Noto Sans JP"/>
              </a:rPr>
              <a:t>P2</a:t>
            </a:r>
            <a:r>
              <a:rPr lang="ja-JP" sz="2000" b="1" u="none" strike="noStrike">
                <a:solidFill>
                  <a:srgbClr val="E8853B"/>
                </a:solidFill>
                <a:effectLst/>
                <a:uFillTx/>
                <a:latin typeface="Noto Sans JP"/>
                <a:ea typeface="Noto Sans JP"/>
              </a:rPr>
              <a:t>（反射波・後期収縮期</a:t>
            </a:r>
            <a:r>
              <a:rPr lang="en-US" sz="2000" b="1" u="none" strike="noStrike">
                <a:solidFill>
                  <a:srgbClr val="E8853B"/>
                </a:solidFill>
                <a:effectLst/>
                <a:uFillTx/>
                <a:latin typeface="Noto Sans JP"/>
                <a:ea typeface="Noto Sans JP"/>
              </a:rPr>
              <a:t>/</a:t>
            </a:r>
            <a:r>
              <a:rPr lang="ja-JP" sz="2000" b="1" u="none" strike="noStrike">
                <a:solidFill>
                  <a:srgbClr val="E8853B"/>
                </a:solidFill>
                <a:effectLst/>
                <a:uFillTx/>
                <a:latin typeface="Noto Sans JP"/>
                <a:ea typeface="Noto Sans JP"/>
              </a:rPr>
              <a:t>拡張期）</a:t>
            </a:r>
            <a:endParaRPr lang="en-US" sz="2000" b="0" u="none" strike="noStrike">
              <a:solidFill>
                <a:srgbClr val="000000"/>
              </a:solidFill>
              <a:effectLst/>
              <a:uFillTx/>
              <a:latin typeface="Arial"/>
            </a:endParaRPr>
          </a:p>
        </p:txBody>
      </p:sp>
      <p:sp>
        <p:nvSpPr>
          <p:cNvPr id="452" name="dt"/>
          <p:cNvSpPr/>
          <p:nvPr/>
        </p:nvSpPr>
        <p:spPr>
          <a:xfrm>
            <a:off x="5236560" y="4034520"/>
            <a:ext cx="859320" cy="31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en-US" sz="2200" b="1" u="none" strike="noStrike">
                <a:solidFill>
                  <a:srgbClr val="C6960C"/>
                </a:solidFill>
                <a:effectLst/>
                <a:uFillTx/>
                <a:latin typeface="Noto Sans JP"/>
                <a:ea typeface="Noto Sans JP"/>
              </a:rPr>
              <a:t>ΔT</a:t>
            </a:r>
            <a:endParaRPr lang="en-US" sz="1500" b="0" u="none" strike="noStrike">
              <a:solidFill>
                <a:srgbClr val="000000"/>
              </a:solidFill>
              <a:effectLst/>
              <a:uFillTx/>
              <a:latin typeface="Arial"/>
            </a:endParaRPr>
          </a:p>
        </p:txBody>
      </p:sp>
      <p:sp>
        <p:nvSpPr>
          <p:cNvPr id="453" name="base"/>
          <p:cNvSpPr/>
          <p:nvPr/>
        </p:nvSpPr>
        <p:spPr>
          <a:xfrm>
            <a:off x="1841400" y="4848840"/>
            <a:ext cx="730080" cy="27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1200" b="0" u="none" strike="noStrike">
                <a:solidFill>
                  <a:srgbClr val="7F7F7F"/>
                </a:solidFill>
                <a:effectLst/>
                <a:uFillTx/>
                <a:latin typeface="Noto Sans JP"/>
                <a:ea typeface="Noto Sans JP"/>
              </a:rPr>
              <a:t>基線</a:t>
            </a:r>
            <a:endParaRPr lang="en-US" sz="1200" b="0" u="none" strike="noStrike">
              <a:solidFill>
                <a:srgbClr val="000000"/>
              </a:solidFill>
              <a:effectLst/>
              <a:uFillTx/>
              <a:latin typeface="Arial"/>
            </a:endParaRPr>
          </a:p>
        </p:txBody>
      </p:sp>
      <p:sp>
        <p:nvSpPr>
          <p:cNvPr id="454" name="fbox"/>
          <p:cNvSpPr/>
          <p:nvPr/>
        </p:nvSpPr>
        <p:spPr>
          <a:xfrm>
            <a:off x="576000" y="5358600"/>
            <a:ext cx="11016000" cy="676800"/>
          </a:xfrm>
          <a:prstGeom prst="roundRect">
            <a:avLst>
              <a:gd name="adj" fmla="val 16667"/>
            </a:avLst>
          </a:prstGeom>
          <a:solidFill>
            <a:srgbClr val="F2F2F2"/>
          </a:solidFill>
          <a:ln w="9525">
            <a:solidFill>
              <a:srgbClr val="BFBFBF"/>
            </a:solidFill>
            <a:round/>
          </a:ln>
        </p:spPr>
        <p:style>
          <a:lnRef idx="0">
            <a:scrgbClr r="0" g="0" b="0"/>
          </a:lnRef>
          <a:fillRef idx="0">
            <a:scrgbClr r="0" g="0" b="0"/>
          </a:fillRef>
          <a:effectRef idx="0">
            <a:scrgbClr r="0" g="0" b="0"/>
          </a:effectRef>
          <a:fontRef idx="minor"/>
        </p:style>
        <p:txBody>
          <a:bodyPr lIns="45720" tIns="27360" rIns="45720" bIns="27360" anchor="ctr">
            <a:normAutofit fontScale="92500" lnSpcReduction="9999"/>
          </a:bodyPr>
          <a:lstStyle/>
          <a:p>
            <a:pPr algn="ctr" defTabSz="914400">
              <a:lnSpc>
                <a:spcPct val="100000"/>
              </a:lnSpc>
            </a:pPr>
            <a:r>
              <a:rPr lang="en-US" sz="2400" b="1" u="none" strike="noStrike">
                <a:solidFill>
                  <a:srgbClr val="262626"/>
                </a:solidFill>
                <a:effectLst/>
                <a:uFillTx/>
                <a:latin typeface="Noto Sans JP"/>
                <a:ea typeface="Noto Sans JP"/>
              </a:rPr>
              <a:t>SI</a:t>
            </a:r>
            <a:r>
              <a:rPr lang="ja-JP" sz="2400" b="1" u="none" strike="noStrike">
                <a:solidFill>
                  <a:srgbClr val="262626"/>
                </a:solidFill>
                <a:effectLst/>
                <a:uFillTx/>
                <a:latin typeface="Noto Sans JP"/>
                <a:ea typeface="Noto Sans JP"/>
              </a:rPr>
              <a:t>＝身長</a:t>
            </a:r>
            <a:r>
              <a:rPr lang="en-US" sz="2400" b="1" u="none" strike="noStrike">
                <a:solidFill>
                  <a:srgbClr val="262626"/>
                </a:solidFill>
                <a:effectLst/>
                <a:uFillTx/>
                <a:latin typeface="Noto Sans JP"/>
                <a:ea typeface="Noto Sans JP"/>
              </a:rPr>
              <a:t>/</a:t>
            </a:r>
            <a:r>
              <a:rPr lang="en-US" sz="2400" b="1" u="none" strike="noStrike">
                <a:solidFill>
                  <a:srgbClr val="C6960C"/>
                </a:solidFill>
                <a:effectLst/>
                <a:uFillTx/>
                <a:latin typeface="Noto Sans JP"/>
                <a:ea typeface="Noto Sans JP"/>
              </a:rPr>
              <a:t>ΔT</a:t>
            </a:r>
            <a:r>
              <a:rPr lang="ja-JP" sz="2400" b="1" u="none" strike="noStrike">
                <a:solidFill>
                  <a:srgbClr val="262626"/>
                </a:solidFill>
                <a:effectLst/>
                <a:uFillTx/>
                <a:latin typeface="Noto Sans JP"/>
                <a:ea typeface="Noto Sans JP"/>
              </a:rPr>
              <a:t>　　　　</a:t>
            </a:r>
            <a:r>
              <a:rPr lang="en-US" sz="2400" b="1" u="none" strike="noStrike">
                <a:solidFill>
                  <a:srgbClr val="262626"/>
                </a:solidFill>
                <a:effectLst/>
                <a:uFillTx/>
                <a:latin typeface="Noto Sans JP"/>
                <a:ea typeface="Noto Sans JP"/>
              </a:rPr>
              <a:t>RI</a:t>
            </a:r>
            <a:r>
              <a:rPr lang="ja-JP" sz="2400" b="1" u="none" strike="noStrike">
                <a:solidFill>
                  <a:srgbClr val="262626"/>
                </a:solidFill>
                <a:effectLst/>
                <a:uFillTx/>
                <a:latin typeface="Noto Sans JP"/>
                <a:ea typeface="Noto Sans JP"/>
              </a:rPr>
              <a:t>＝</a:t>
            </a:r>
            <a:r>
              <a:rPr lang="en-US" sz="2400" b="1" u="none" strike="noStrike">
                <a:solidFill>
                  <a:srgbClr val="E8853B"/>
                </a:solidFill>
                <a:effectLst/>
                <a:uFillTx/>
                <a:latin typeface="Noto Sans JP"/>
                <a:ea typeface="Noto Sans JP"/>
              </a:rPr>
              <a:t>P2</a:t>
            </a:r>
            <a:r>
              <a:rPr lang="en-US" sz="2400" b="1" u="none" strike="noStrike">
                <a:solidFill>
                  <a:srgbClr val="262626"/>
                </a:solidFill>
                <a:effectLst/>
                <a:uFillTx/>
                <a:latin typeface="Noto Sans JP"/>
                <a:ea typeface="Noto Sans JP"/>
              </a:rPr>
              <a:t>/</a:t>
            </a:r>
            <a:r>
              <a:rPr lang="en-US" sz="2400" b="1" u="none" strike="noStrike">
                <a:solidFill>
                  <a:srgbClr val="2E6FBF"/>
                </a:solidFill>
                <a:effectLst/>
                <a:uFillTx/>
                <a:latin typeface="Noto Sans JP"/>
                <a:ea typeface="Noto Sans JP"/>
              </a:rPr>
              <a:t>P1</a:t>
            </a:r>
            <a:r>
              <a:rPr lang="ja-JP" sz="2400" b="1" u="none" strike="noStrike">
                <a:solidFill>
                  <a:srgbClr val="262626"/>
                </a:solidFill>
                <a:effectLst/>
                <a:uFillTx/>
                <a:latin typeface="Noto Sans JP"/>
                <a:ea typeface="Noto Sans JP"/>
              </a:rPr>
              <a:t>　　　　</a:t>
            </a:r>
            <a:r>
              <a:rPr lang="en-US" sz="2400" b="1" u="none" strike="noStrike">
                <a:solidFill>
                  <a:srgbClr val="262626"/>
                </a:solidFill>
                <a:effectLst/>
                <a:uFillTx/>
                <a:latin typeface="Noto Sans JP"/>
                <a:ea typeface="Noto Sans JP"/>
              </a:rPr>
              <a:t>AIx</a:t>
            </a:r>
            <a:r>
              <a:rPr lang="ja-JP" sz="2400" b="1" u="none" strike="noStrike">
                <a:solidFill>
                  <a:srgbClr val="262626"/>
                </a:solidFill>
                <a:effectLst/>
                <a:uFillTx/>
                <a:latin typeface="Noto Sans JP"/>
                <a:ea typeface="Noto Sans JP"/>
              </a:rPr>
              <a:t>＝</a:t>
            </a:r>
            <a:r>
              <a:rPr lang="en-US" sz="2400" b="1" u="none" strike="noStrike">
                <a:solidFill>
                  <a:srgbClr val="262626"/>
                </a:solidFill>
                <a:effectLst/>
                <a:uFillTx/>
                <a:latin typeface="Noto Sans JP"/>
                <a:ea typeface="Noto Sans JP"/>
              </a:rPr>
              <a:t>(</a:t>
            </a:r>
            <a:r>
              <a:rPr lang="en-US" sz="2400" b="1" u="none" strike="noStrike">
                <a:solidFill>
                  <a:srgbClr val="E8853B"/>
                </a:solidFill>
                <a:effectLst/>
                <a:uFillTx/>
                <a:latin typeface="Noto Sans JP"/>
                <a:ea typeface="Noto Sans JP"/>
              </a:rPr>
              <a:t>P2</a:t>
            </a:r>
            <a:r>
              <a:rPr lang="en-US" sz="2400" b="1" u="none" strike="noStrike">
                <a:solidFill>
                  <a:srgbClr val="262626"/>
                </a:solidFill>
                <a:effectLst/>
                <a:uFillTx/>
                <a:latin typeface="Noto Sans JP"/>
                <a:ea typeface="Noto Sans JP"/>
              </a:rPr>
              <a:t>−</a:t>
            </a:r>
            <a:r>
              <a:rPr lang="en-US" sz="2400" b="1" u="none" strike="noStrike">
                <a:solidFill>
                  <a:srgbClr val="2E6FBF"/>
                </a:solidFill>
                <a:effectLst/>
                <a:uFillTx/>
                <a:latin typeface="Noto Sans JP"/>
                <a:ea typeface="Noto Sans JP"/>
              </a:rPr>
              <a:t>P1</a:t>
            </a:r>
            <a:r>
              <a:rPr lang="en-US" sz="2400" b="1" u="none" strike="noStrike">
                <a:solidFill>
                  <a:srgbClr val="262626"/>
                </a:solidFill>
                <a:effectLst/>
                <a:uFillTx/>
                <a:latin typeface="Noto Sans JP"/>
                <a:ea typeface="Noto Sans JP"/>
              </a:rPr>
              <a:t>)/PP</a:t>
            </a:r>
            <a:endParaRPr lang="en-US" sz="2400" b="0" u="none" strike="noStrike">
              <a:solidFill>
                <a:srgbClr val="000000"/>
              </a:solidFill>
              <a:effectLst/>
              <a:uFillTx/>
              <a:latin typeface="Arial"/>
            </a:endParaRPr>
          </a:p>
        </p:txBody>
      </p:sp>
      <p:sp>
        <p:nvSpPr>
          <p:cNvPr id="455" name="gencho"/>
          <p:cNvSpPr/>
          <p:nvPr/>
        </p:nvSpPr>
        <p:spPr>
          <a:xfrm>
            <a:off x="1899000" y="6095880"/>
            <a:ext cx="8393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ja-JP" sz="1200" b="1" u="none" strike="noStrike">
                <a:solidFill>
                  <a:srgbClr val="7F7F7F"/>
                </a:solidFill>
                <a:effectLst/>
                <a:uFillTx/>
                <a:latin typeface="Noto Sans JP"/>
                <a:ea typeface="Noto Sans JP"/>
              </a:rPr>
              <a:t>原著　</a:t>
            </a:r>
            <a:r>
              <a:rPr lang="en-US" sz="1200" b="1" u="none" strike="noStrike">
                <a:solidFill>
                  <a:srgbClr val="7F7F7F"/>
                </a:solidFill>
                <a:effectLst/>
                <a:uFillTx/>
                <a:latin typeface="Noto Sans JP"/>
                <a:ea typeface="Noto Sans JP"/>
              </a:rPr>
              <a:t>SI</a:t>
            </a:r>
            <a:r>
              <a:rPr lang="ja-JP" sz="1200" b="1" u="none" strike="noStrike">
                <a:solidFill>
                  <a:srgbClr val="7F7F7F"/>
                </a:solidFill>
                <a:effectLst/>
                <a:uFillTx/>
                <a:latin typeface="Noto Sans JP"/>
                <a:ea typeface="Noto Sans JP"/>
              </a:rPr>
              <a:t>：</a:t>
            </a:r>
            <a:r>
              <a:rPr lang="en-US" sz="1200" b="1" u="none" strike="noStrike">
                <a:solidFill>
                  <a:srgbClr val="7F7F7F"/>
                </a:solidFill>
                <a:effectLst/>
                <a:uFillTx/>
                <a:latin typeface="Noto Sans JP"/>
                <a:ea typeface="Noto Sans JP"/>
              </a:rPr>
              <a:t>Millasseau 2002</a:t>
            </a:r>
            <a:r>
              <a:rPr lang="ja-JP" sz="1200" b="1" u="none" strike="noStrike">
                <a:solidFill>
                  <a:srgbClr val="7F7F7F"/>
                </a:solidFill>
                <a:effectLst/>
                <a:uFillTx/>
                <a:latin typeface="Noto Sans JP"/>
                <a:ea typeface="Noto Sans JP"/>
              </a:rPr>
              <a:t>　／　</a:t>
            </a:r>
            <a:r>
              <a:rPr lang="en-US" sz="1200" b="1" u="none" strike="noStrike">
                <a:solidFill>
                  <a:srgbClr val="7F7F7F"/>
                </a:solidFill>
                <a:effectLst/>
                <a:uFillTx/>
                <a:latin typeface="Noto Sans JP"/>
                <a:ea typeface="Noto Sans JP"/>
              </a:rPr>
              <a:t>RI</a:t>
            </a:r>
            <a:r>
              <a:rPr lang="ja-JP" sz="1200" b="1" u="none" strike="noStrike">
                <a:solidFill>
                  <a:srgbClr val="7F7F7F"/>
                </a:solidFill>
                <a:effectLst/>
                <a:uFillTx/>
                <a:latin typeface="Noto Sans JP"/>
                <a:ea typeface="Noto Sans JP"/>
              </a:rPr>
              <a:t>：</a:t>
            </a:r>
            <a:r>
              <a:rPr lang="en-US" sz="1200" b="1" u="none" strike="noStrike">
                <a:solidFill>
                  <a:srgbClr val="7F7F7F"/>
                </a:solidFill>
                <a:effectLst/>
                <a:uFillTx/>
                <a:latin typeface="Noto Sans JP"/>
                <a:ea typeface="Noto Sans JP"/>
              </a:rPr>
              <a:t>Chowienczyk 1999</a:t>
            </a:r>
            <a:r>
              <a:rPr lang="ja-JP" sz="1200" b="1" u="none" strike="noStrike">
                <a:solidFill>
                  <a:srgbClr val="7F7F7F"/>
                </a:solidFill>
                <a:effectLst/>
                <a:uFillTx/>
                <a:latin typeface="Noto Sans JP"/>
                <a:ea typeface="Noto Sans JP"/>
              </a:rPr>
              <a:t>　／　</a:t>
            </a:r>
            <a:r>
              <a:rPr lang="en-US" sz="1200" b="1" u="none" strike="noStrike">
                <a:solidFill>
                  <a:srgbClr val="7F7F7F"/>
                </a:solidFill>
                <a:effectLst/>
                <a:uFillTx/>
                <a:latin typeface="Noto Sans JP"/>
                <a:ea typeface="Noto Sans JP"/>
              </a:rPr>
              <a:t>AIx</a:t>
            </a:r>
            <a:r>
              <a:rPr lang="ja-JP" sz="1200" b="1" u="none" strike="noStrike">
                <a:solidFill>
                  <a:srgbClr val="7F7F7F"/>
                </a:solidFill>
                <a:effectLst/>
                <a:uFillTx/>
                <a:latin typeface="Noto Sans JP"/>
                <a:ea typeface="Noto Sans JP"/>
              </a:rPr>
              <a:t>：</a:t>
            </a:r>
            <a:r>
              <a:rPr lang="en-US" sz="1200" b="1" u="none" strike="noStrike">
                <a:solidFill>
                  <a:srgbClr val="7F7F7F"/>
                </a:solidFill>
                <a:effectLst/>
                <a:uFillTx/>
                <a:latin typeface="Noto Sans JP"/>
                <a:ea typeface="Noto Sans JP"/>
              </a:rPr>
              <a:t>Takazawa 1998</a:t>
            </a:r>
            <a:endParaRPr lang="en-US" sz="1200" b="0" u="none" strike="noStrike">
              <a:solidFill>
                <a:srgbClr val="000000"/>
              </a:solidFill>
              <a:effectLst/>
              <a:uFillTx/>
              <a:latin typeface="Arial"/>
            </a:endParaRPr>
          </a:p>
        </p:txBody>
      </p:sp>
      <p:sp>
        <p:nvSpPr>
          <p:cNvPr id="456" name="TextBox 491"/>
          <p:cNvSpPr/>
          <p:nvPr/>
        </p:nvSpPr>
        <p:spPr>
          <a:xfrm>
            <a:off x="576000" y="6400800"/>
            <a:ext cx="1101600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rPr>
              <a:t>SI</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stiffness index</a:t>
            </a:r>
            <a:r>
              <a:rPr lang="ja-JP" sz="1050" b="0" u="none" strike="noStrike">
                <a:solidFill>
                  <a:srgbClr val="808080"/>
                </a:solidFill>
                <a:effectLst/>
                <a:uFillTx/>
                <a:latin typeface="Noto Sans JP"/>
                <a:ea typeface="Noto Sans JP"/>
              </a:rPr>
              <a:t>（ス⁠テ⁠ィ⁠フ⁠ネ⁠ス指数）　／　</a:t>
            </a:r>
            <a:r>
              <a:rPr lang="en-US" sz="1050" b="0" u="none" strike="noStrike">
                <a:solidFill>
                  <a:srgbClr val="808080"/>
                </a:solidFill>
                <a:effectLst/>
                <a:uFillTx/>
                <a:latin typeface="Noto Sans JP"/>
                <a:ea typeface="Noto Sans JP"/>
              </a:rPr>
              <a:t>RI</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reflection index</a:t>
            </a:r>
            <a:r>
              <a:rPr lang="ja-JP" sz="1050" b="0" u="none" strike="noStrike">
                <a:solidFill>
                  <a:srgbClr val="808080"/>
                </a:solidFill>
                <a:effectLst/>
                <a:uFillTx/>
                <a:latin typeface="Noto Sans JP"/>
                <a:ea typeface="Noto Sans JP"/>
              </a:rPr>
              <a:t>（反射指数）　／　</a:t>
            </a:r>
            <a:r>
              <a:rPr lang="en-US" sz="1050" b="0" u="none" strike="noStrike">
                <a:solidFill>
                  <a:srgbClr val="808080"/>
                </a:solidFill>
                <a:effectLst/>
                <a:uFillTx/>
                <a:latin typeface="Noto Sans JP"/>
                <a:ea typeface="Noto Sans JP"/>
              </a:rPr>
              <a:t>AIx</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augmentation index</a:t>
            </a:r>
            <a:r>
              <a:rPr lang="ja-JP" sz="1050" b="0" u="none" strike="noStrike">
                <a:solidFill>
                  <a:srgbClr val="808080"/>
                </a:solidFill>
                <a:effectLst/>
                <a:uFillTx/>
                <a:latin typeface="Noto Sans JP"/>
                <a:ea typeface="Noto Sans JP"/>
              </a:rPr>
              <a:t>（増大係数）</a:t>
            </a:r>
            <a:endParaRPr lang="en-US" sz="105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TitleFrame"/>
          <p:cNvSpPr/>
          <p:nvPr/>
        </p:nvSpPr>
        <p:spPr>
          <a:xfrm>
            <a:off x="655200" y="603504"/>
            <a:ext cx="63642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45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4.2  SDPPG </a:t>
            </a:r>
            <a:r>
              <a:rPr lang="ja-JP" sz="4400" b="1" u="none" strike="noStrike">
                <a:ln w="19050">
                  <a:solidFill>
                    <a:srgbClr val="000000"/>
                  </a:solidFill>
                </a:ln>
                <a:solidFill>
                  <a:schemeClr val="accent4">
                    <a:lumMod val="75000"/>
                  </a:schemeClr>
                </a:solidFill>
                <a:effectLst/>
                <a:uFillTx/>
                <a:latin typeface="Noto Sans JP"/>
                <a:ea typeface="Noto Sans JP"/>
              </a:rPr>
              <a:t>と </a:t>
            </a:r>
            <a:r>
              <a:rPr lang="en-US" sz="4400" b="1" u="none" strike="noStrike">
                <a:ln w="19050">
                  <a:solidFill>
                    <a:srgbClr val="000000"/>
                  </a:solidFill>
                </a:ln>
                <a:solidFill>
                  <a:schemeClr val="accent4">
                    <a:lumMod val="75000"/>
                  </a:schemeClr>
                </a:solidFill>
                <a:effectLst/>
                <a:uFillTx/>
                <a:latin typeface="Noto Sans JP"/>
                <a:ea typeface="Noto Sans JP"/>
              </a:rPr>
              <a:t>AGI</a:t>
            </a:r>
            <a:endParaRPr lang="en-US" sz="4600" b="1" u="none" strike="noStrike">
              <a:ln w="19050">
                <a:solidFill>
                  <a:srgbClr val="000000"/>
                </a:solidFill>
              </a:ln>
              <a:solidFill>
                <a:schemeClr val="accent4">
                  <a:lumMod val="75000"/>
                </a:schemeClr>
              </a:solidFill>
              <a:effectLst/>
              <a:uFillTx/>
              <a:latin typeface="Calibri"/>
            </a:endParaRPr>
          </a:p>
        </p:txBody>
      </p:sp>
      <p:sp>
        <p:nvSpPr>
          <p:cNvPr id="45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45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46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461"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定量化</a:t>
            </a:r>
            <a:endParaRPr lang="en-US" sz="1050" b="0" u="none" strike="noStrike">
              <a:solidFill>
                <a:srgbClr val="FFFFFF"/>
              </a:solidFill>
              <a:effectLst/>
              <a:uFillTx/>
              <a:latin typeface="Arial"/>
            </a:endParaRPr>
          </a:p>
        </p:txBody>
      </p:sp>
      <p:sp>
        <p:nvSpPr>
          <p:cNvPr id="46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46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46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46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2"/>
              </a:rPr>
              <a:t>16. Takazawa 1998</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3"/>
              </a:rPr>
              <a:t>18. Bortolotto 2000</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4"/>
              </a:rPr>
              <a:t>19. Hashimoto 2002</a:t>
            </a:r>
            <a:endParaRPr lang="en-US" sz="1050" b="0" u="none" strike="noStrike">
              <a:solidFill>
                <a:srgbClr val="000000"/>
              </a:solidFill>
              <a:effectLst/>
              <a:uFillTx/>
              <a:latin typeface="Arial"/>
            </a:endParaRPr>
          </a:p>
        </p:txBody>
      </p:sp>
      <p:pic>
        <p:nvPicPr>
          <p:cNvPr id="466" name="Picture 8" descr="18_sdppg.png"/>
          <p:cNvPicPr/>
          <p:nvPr/>
        </p:nvPicPr>
        <p:blipFill>
          <a:blip r:embed="rId5"/>
          <a:stretch/>
        </p:blipFill>
        <p:spPr>
          <a:xfrm>
            <a:off x="2625840" y="1800000"/>
            <a:ext cx="6916320" cy="4319640"/>
          </a:xfrm>
          <a:prstGeom prst="rect">
            <a:avLst/>
          </a:prstGeom>
          <a:noFill/>
          <a:ln w="0">
            <a:noFill/>
          </a:ln>
        </p:spPr>
      </p:pic>
      <p:sp>
        <p:nvSpPr>
          <p:cNvPr id="46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28/47</a:t>
            </a:r>
            <a:endParaRPr lang="en-US" sz="1200" b="0" u="none" strike="noStrike">
              <a:solidFill>
                <a:srgbClr val="000000"/>
              </a:solidFill>
              <a:effectLst/>
              <a:uFillTx/>
              <a:latin typeface="Arial"/>
            </a:endParaRPr>
          </a:p>
        </p:txBody>
      </p:sp>
      <p:sp>
        <p:nvSpPr>
          <p:cNvPr id="468" name="ppg"/>
          <p:cNvSpPr/>
          <p:nvPr/>
        </p:nvSpPr>
        <p:spPr>
          <a:xfrm>
            <a:off x="2761560" y="1968840"/>
            <a:ext cx="193644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2200" b="1" u="none" strike="noStrike">
                <a:solidFill>
                  <a:srgbClr val="262626"/>
                </a:solidFill>
                <a:effectLst/>
                <a:uFillTx/>
                <a:latin typeface="Noto Sans JP"/>
                <a:ea typeface="Noto Sans JP"/>
              </a:rPr>
              <a:t>原波形 </a:t>
            </a:r>
            <a:r>
              <a:rPr lang="en-US" sz="2200" b="1" u="none" strike="noStrike">
                <a:solidFill>
                  <a:srgbClr val="262626"/>
                </a:solidFill>
                <a:effectLst/>
                <a:uFillTx/>
                <a:latin typeface="Noto Sans JP"/>
                <a:ea typeface="Noto Sans JP"/>
              </a:rPr>
              <a:t>PPG</a:t>
            </a:r>
            <a:endParaRPr lang="en-US" sz="1450" b="0" u="none" strike="noStrike">
              <a:solidFill>
                <a:srgbClr val="000000"/>
              </a:solidFill>
              <a:effectLst/>
              <a:uFillTx/>
              <a:latin typeface="Arial"/>
            </a:endParaRPr>
          </a:p>
        </p:txBody>
      </p:sp>
      <p:sp>
        <p:nvSpPr>
          <p:cNvPr id="469" name="sys"/>
          <p:cNvSpPr/>
          <p:nvPr/>
        </p:nvSpPr>
        <p:spPr>
          <a:xfrm>
            <a:off x="6429960" y="2037600"/>
            <a:ext cx="304308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5000" lnSpcReduction="9999"/>
          </a:bodyPr>
          <a:lstStyle/>
          <a:p>
            <a:pPr defTabSz="914400">
              <a:lnSpc>
                <a:spcPct val="100000"/>
              </a:lnSpc>
            </a:pPr>
            <a:r>
              <a:rPr lang="ja-JP" sz="1350" b="1" u="none" strike="noStrike">
                <a:solidFill>
                  <a:srgbClr val="262626"/>
                </a:solidFill>
                <a:effectLst/>
                <a:uFillTx/>
                <a:latin typeface="Noto Sans JP"/>
                <a:ea typeface="Noto Sans JP"/>
              </a:rPr>
              <a:t>収縮期：</a:t>
            </a:r>
            <a:r>
              <a:rPr lang="en-US" sz="1350" b="1" u="none" strike="noStrike">
                <a:solidFill>
                  <a:srgbClr val="262626"/>
                </a:solidFill>
                <a:effectLst/>
                <a:uFillTx/>
                <a:latin typeface="Noto Sans JP"/>
                <a:ea typeface="Noto Sans JP"/>
              </a:rPr>
              <a:t>a–d</a:t>
            </a:r>
            <a:r>
              <a:rPr lang="ja-JP" sz="1350" b="1" u="none" strike="noStrike">
                <a:solidFill>
                  <a:srgbClr val="262626"/>
                </a:solidFill>
                <a:effectLst/>
                <a:uFillTx/>
                <a:latin typeface="Noto Sans JP"/>
                <a:ea typeface="Noto Sans JP"/>
              </a:rPr>
              <a:t>　／　拡張期：</a:t>
            </a:r>
            <a:r>
              <a:rPr lang="en-US" sz="1350" b="1" u="none" strike="noStrike">
                <a:solidFill>
                  <a:srgbClr val="262626"/>
                </a:solidFill>
                <a:effectLst/>
                <a:uFillTx/>
                <a:latin typeface="Noto Sans JP"/>
                <a:ea typeface="Noto Sans JP"/>
              </a:rPr>
              <a:t>e</a:t>
            </a:r>
            <a:r>
              <a:rPr lang="ja-JP" sz="1350" b="1" u="none" strike="noStrike">
                <a:solidFill>
                  <a:srgbClr val="262626"/>
                </a:solidFill>
                <a:effectLst/>
                <a:uFillTx/>
                <a:latin typeface="Noto Sans JP"/>
                <a:ea typeface="Noto Sans JP"/>
              </a:rPr>
              <a:t>（重複切痕）</a:t>
            </a:r>
            <a:endParaRPr lang="en-US" sz="1350" b="0" u="none" strike="noStrike">
              <a:solidFill>
                <a:srgbClr val="000000"/>
              </a:solidFill>
              <a:effectLst/>
              <a:uFillTx/>
              <a:latin typeface="Arial"/>
            </a:endParaRPr>
          </a:p>
        </p:txBody>
      </p:sp>
      <p:sp>
        <p:nvSpPr>
          <p:cNvPr id="470" name="sd"/>
          <p:cNvSpPr/>
          <p:nvPr/>
        </p:nvSpPr>
        <p:spPr>
          <a:xfrm>
            <a:off x="2761560" y="3794760"/>
            <a:ext cx="4484284"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2200" b="1" u="none" strike="noStrike">
                <a:solidFill>
                  <a:srgbClr val="00A8AA"/>
                </a:solidFill>
                <a:effectLst/>
                <a:uFillTx/>
                <a:latin typeface="Noto Sans JP"/>
                <a:ea typeface="Noto Sans JP"/>
              </a:rPr>
              <a:t>二次微分 </a:t>
            </a:r>
            <a:r>
              <a:rPr lang="en-US" sz="2200" b="1" u="none" strike="noStrike">
                <a:solidFill>
                  <a:srgbClr val="00A8AA"/>
                </a:solidFill>
                <a:effectLst/>
                <a:uFillTx/>
                <a:latin typeface="Noto Sans JP"/>
                <a:ea typeface="Noto Sans JP"/>
              </a:rPr>
              <a:t>SDPPG</a:t>
            </a:r>
            <a:r>
              <a:rPr lang="ja-JP" sz="2200" b="1" u="none" strike="noStrike">
                <a:solidFill>
                  <a:srgbClr val="00A8AA"/>
                </a:solidFill>
                <a:effectLst/>
                <a:uFillTx/>
                <a:latin typeface="Noto Sans JP"/>
                <a:ea typeface="Noto Sans JP"/>
              </a:rPr>
              <a:t>（加速度脈波）</a:t>
            </a:r>
            <a:endParaRPr lang="en-US" sz="1450" b="0" u="none" strike="noStrike">
              <a:solidFill>
                <a:srgbClr val="000000"/>
              </a:solidFill>
              <a:effectLst/>
              <a:uFillTx/>
              <a:latin typeface="Arial"/>
            </a:endParaRPr>
          </a:p>
        </p:txBody>
      </p:sp>
      <p:sp>
        <p:nvSpPr>
          <p:cNvPr id="471" name="agi"/>
          <p:cNvSpPr/>
          <p:nvPr/>
        </p:nvSpPr>
        <p:spPr>
          <a:xfrm>
            <a:off x="6429960" y="5234400"/>
            <a:ext cx="2973960" cy="712440"/>
          </a:xfrm>
          <a:prstGeom prst="roundRect">
            <a:avLst>
              <a:gd name="adj" fmla="val 16667"/>
            </a:avLst>
          </a:prstGeom>
          <a:solidFill>
            <a:srgbClr val="F2E2B3"/>
          </a:solidFill>
          <a:ln w="12700">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1300" b="1" u="none" strike="noStrike">
                <a:solidFill>
                  <a:srgbClr val="7A5C00"/>
                </a:solidFill>
                <a:effectLst/>
                <a:uFillTx/>
                <a:latin typeface="Noto Sans JP"/>
                <a:ea typeface="Noto Sans JP"/>
              </a:rPr>
              <a:t>AGI=(b−c−d−e)/a</a:t>
            </a:r>
            <a:endParaRPr lang="en-US" sz="1300" b="0" u="none" strike="noStrike">
              <a:solidFill>
                <a:srgbClr val="000000"/>
              </a:solidFill>
              <a:effectLst/>
              <a:uFillTx/>
              <a:latin typeface="Arial"/>
            </a:endParaRPr>
          </a:p>
          <a:p>
            <a:pPr algn="ctr" defTabSz="914400">
              <a:lnSpc>
                <a:spcPct val="100000"/>
              </a:lnSpc>
            </a:pPr>
            <a:r>
              <a:rPr lang="ja-JP" sz="1250" b="1" u="none" strike="noStrike">
                <a:solidFill>
                  <a:srgbClr val="7A5C00"/>
                </a:solidFill>
                <a:effectLst/>
                <a:uFillTx/>
                <a:latin typeface="Noto Sans JP"/>
                <a:ea typeface="Noto Sans JP"/>
              </a:rPr>
              <a:t>加齢↑で </a:t>
            </a:r>
            <a:r>
              <a:rPr lang="en-US" sz="1250" b="1" u="none" strike="noStrike">
                <a:solidFill>
                  <a:srgbClr val="7A5C00"/>
                </a:solidFill>
                <a:effectLst/>
                <a:uFillTx/>
                <a:latin typeface="Noto Sans JP"/>
                <a:ea typeface="Noto Sans JP"/>
              </a:rPr>
              <a:t>b/a↑, c/a</a:t>
            </a:r>
            <a:r>
              <a:rPr lang="ja-JP" sz="1250" b="1" u="none" strike="noStrike">
                <a:solidFill>
                  <a:srgbClr val="7A5C00"/>
                </a:solidFill>
                <a:effectLst/>
                <a:uFillTx/>
                <a:latin typeface="Noto Sans JP"/>
                <a:ea typeface="Noto Sans JP"/>
              </a:rPr>
              <a:t>・</a:t>
            </a:r>
            <a:r>
              <a:rPr lang="en-US" sz="1250" b="1" u="none" strike="noStrike">
                <a:solidFill>
                  <a:srgbClr val="7A5C00"/>
                </a:solidFill>
                <a:effectLst/>
                <a:uFillTx/>
                <a:latin typeface="Noto Sans JP"/>
                <a:ea typeface="Noto Sans JP"/>
              </a:rPr>
              <a:t>d/a</a:t>
            </a:r>
            <a:r>
              <a:rPr lang="ja-JP" sz="1250" b="1" u="none" strike="noStrike">
                <a:solidFill>
                  <a:srgbClr val="7A5C00"/>
                </a:solidFill>
                <a:effectLst/>
                <a:uFillTx/>
                <a:latin typeface="Noto Sans JP"/>
                <a:ea typeface="Noto Sans JP"/>
              </a:rPr>
              <a:t>・</a:t>
            </a:r>
            <a:r>
              <a:rPr lang="en-US" sz="1250" b="1" u="none" strike="noStrike">
                <a:solidFill>
                  <a:srgbClr val="7A5C00"/>
                </a:solidFill>
                <a:effectLst/>
                <a:uFillTx/>
                <a:latin typeface="Noto Sans JP"/>
                <a:ea typeface="Noto Sans JP"/>
              </a:rPr>
              <a:t>e/a↓</a:t>
            </a:r>
            <a:endParaRPr lang="en-US" sz="1250" b="0" u="none" strike="noStrike">
              <a:solidFill>
                <a:srgbClr val="000000"/>
              </a:solidFill>
              <a:effectLst/>
              <a:uFillTx/>
              <a:latin typeface="Arial"/>
            </a:endParaRPr>
          </a:p>
        </p:txBody>
      </p:sp>
      <p:sp>
        <p:nvSpPr>
          <p:cNvPr id="472" name="TextBox 440"/>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rPr>
              <a:t>SDPPG</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second derivative of PPG</a:t>
            </a:r>
            <a:r>
              <a:rPr lang="ja-JP" sz="1050" b="0" u="none" strike="noStrike">
                <a:solidFill>
                  <a:srgbClr val="808080"/>
                </a:solidFill>
                <a:effectLst/>
                <a:uFillTx/>
                <a:latin typeface="Noto Sans JP"/>
                <a:ea typeface="Noto Sans JP"/>
              </a:rPr>
              <a:t>（加速度脈波）　／　</a:t>
            </a:r>
            <a:r>
              <a:rPr lang="en-US" sz="1050" b="0" u="none" strike="noStrike">
                <a:solidFill>
                  <a:srgbClr val="808080"/>
                </a:solidFill>
                <a:effectLst/>
                <a:uFillTx/>
                <a:latin typeface="Noto Sans JP"/>
                <a:ea typeface="Noto Sans JP"/>
              </a:rPr>
              <a:t>AGI</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aging index</a:t>
            </a:r>
            <a:r>
              <a:rPr lang="ja-JP" sz="1050" b="0" u="none" strike="noStrike">
                <a:solidFill>
                  <a:srgbClr val="808080"/>
                </a:solidFill>
                <a:effectLst/>
                <a:uFillTx/>
                <a:latin typeface="Noto Sans JP"/>
                <a:ea typeface="Noto Sans JP"/>
              </a:rPr>
              <a:t>（加齢指数）</a:t>
            </a:r>
            <a:endParaRPr lang="en-US" sz="105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TitleFrame"/>
          <p:cNvSpPr/>
          <p:nvPr/>
        </p:nvSpPr>
        <p:spPr>
          <a:xfrm>
            <a:off x="655200" y="603504"/>
            <a:ext cx="6181344" cy="804672"/>
          </a:xfrm>
          <a:prstGeom prst="roundRect">
            <a:avLst>
              <a:gd name="adj" fmla="val 8000"/>
            </a:avLst>
          </a:prstGeom>
          <a:noFill/>
          <a:ln w="28575" cap="flat">
            <a:solidFill>
              <a:srgbClr val="44546A"/>
            </a:solidFill>
            <a:round/>
          </a:ln>
        </p:spPr>
        <p:txBody>
          <a:bodyPr rtlCol="0" anchor="ctr"/>
          <a:lstStyle/>
          <a:p>
            <a:endParaRPr lang="ja-JP"/>
          </a:p>
        </p:txBody>
      </p:sp>
      <p:sp>
        <p:nvSpPr>
          <p:cNvPr id="47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4.2  SDPPG </a:t>
            </a:r>
            <a:r>
              <a:rPr lang="ja-JP" sz="4400" b="1" u="none" strike="noStrike">
                <a:ln w="19050">
                  <a:solidFill>
                    <a:srgbClr val="000000"/>
                  </a:solidFill>
                </a:ln>
                <a:solidFill>
                  <a:schemeClr val="accent4">
                    <a:lumMod val="75000"/>
                  </a:schemeClr>
                </a:solidFill>
                <a:effectLst/>
                <a:uFillTx/>
                <a:latin typeface="Noto Sans JP"/>
                <a:ea typeface="Noto Sans JP"/>
              </a:rPr>
              <a:t>の利点</a:t>
            </a:r>
            <a:endParaRPr lang="en-US" sz="4600" b="1" u="none" strike="noStrike">
              <a:ln w="19050">
                <a:solidFill>
                  <a:srgbClr val="000000"/>
                </a:solidFill>
              </a:ln>
              <a:solidFill>
                <a:schemeClr val="accent4">
                  <a:lumMod val="75000"/>
                </a:schemeClr>
              </a:solidFill>
              <a:effectLst/>
              <a:uFillTx/>
              <a:latin typeface="Calibri"/>
            </a:endParaRPr>
          </a:p>
        </p:txBody>
      </p:sp>
      <p:sp>
        <p:nvSpPr>
          <p:cNvPr id="47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47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47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477"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定量化</a:t>
            </a:r>
            <a:endParaRPr lang="en-US" sz="1050" b="0" u="none" strike="noStrike">
              <a:solidFill>
                <a:srgbClr val="FFFFFF"/>
              </a:solidFill>
              <a:effectLst/>
              <a:uFillTx/>
              <a:latin typeface="Arial"/>
            </a:endParaRPr>
          </a:p>
        </p:txBody>
      </p:sp>
      <p:sp>
        <p:nvSpPr>
          <p:cNvPr id="47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47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48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48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16. Takazawa 1998  ／  18. Bortolotto 2000  ／  19. Hashimoto 2002  ／  22. Elgendi 2012</a:t>
            </a:r>
            <a:endParaRPr lang="en-US" sz="1050" b="0" u="none" strike="noStrike">
              <a:solidFill>
                <a:srgbClr val="000000"/>
              </a:solidFill>
              <a:effectLst/>
              <a:uFillTx/>
              <a:latin typeface="Arial"/>
            </a:endParaRPr>
          </a:p>
        </p:txBody>
      </p:sp>
      <p:sp>
        <p:nvSpPr>
          <p:cNvPr id="48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29/47</a:t>
            </a:r>
            <a:endParaRPr lang="en-US" sz="1200" b="0" u="none" strike="noStrike">
              <a:solidFill>
                <a:srgbClr val="000000"/>
              </a:solidFill>
              <a:effectLst/>
              <a:uFillTx/>
              <a:latin typeface="Arial"/>
            </a:endParaRPr>
          </a:p>
        </p:txBody>
      </p:sp>
      <p:sp>
        <p:nvSpPr>
          <p:cNvPr id="483" name="Rounded Rectangle 18"/>
          <p:cNvSpPr/>
          <p:nvPr/>
        </p:nvSpPr>
        <p:spPr>
          <a:xfrm>
            <a:off x="658440" y="2377440"/>
            <a:ext cx="5211720" cy="1572480"/>
          </a:xfrm>
          <a:prstGeom prst="roundRect">
            <a:avLst>
              <a:gd name="adj" fmla="val 5000"/>
            </a:avLst>
          </a:prstGeom>
          <a:solidFill>
            <a:srgbClr val="FFFFFF"/>
          </a:solidFill>
          <a:ln w="15875">
            <a:solidFill>
              <a:srgbClr val="2E75B6"/>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2E75B6"/>
                </a:solidFill>
                <a:effectLst/>
                <a:uFillTx/>
                <a:latin typeface="Noto Sans JP"/>
                <a:ea typeface="Noto Sans JP"/>
              </a:rPr>
              <a:t>① 変曲点を「ピーク」に変換</a:t>
            </a:r>
            <a:endParaRPr lang="en-US" sz="2200" b="0" u="none" strike="noStrike">
              <a:solidFill>
                <a:srgbClr val="000000"/>
              </a:solidFill>
              <a:effectLst/>
              <a:uFillTx/>
              <a:latin typeface="Arial"/>
            </a:endParaRPr>
          </a:p>
          <a:p>
            <a:pPr defTabSz="914400">
              <a:lnSpc>
                <a:spcPct val="108000"/>
              </a:lnSpc>
            </a:pPr>
            <a:r>
              <a:rPr lang="ja-JP" sz="2200" b="0" u="none" strike="noStrike">
                <a:solidFill>
                  <a:srgbClr val="262626"/>
                </a:solidFill>
                <a:effectLst/>
                <a:uFillTx/>
                <a:latin typeface="Noto Sans JP"/>
                <a:ea typeface="Noto Sans JP"/>
              </a:rPr>
              <a:t>「折れ」を </a:t>
            </a:r>
            <a:r>
              <a:rPr lang="en-US" sz="2200" b="0" u="none" strike="noStrike">
                <a:solidFill>
                  <a:srgbClr val="262626"/>
                </a:solidFill>
                <a:effectLst/>
                <a:uFillTx/>
                <a:latin typeface="Noto Sans JP"/>
                <a:ea typeface="Noto Sans JP"/>
              </a:rPr>
              <a:t>a–e </a:t>
            </a:r>
            <a:r>
              <a:rPr lang="ja-JP" sz="2200" b="0" u="none" strike="noStrike">
                <a:solidFill>
                  <a:srgbClr val="262626"/>
                </a:solidFill>
                <a:effectLst/>
                <a:uFillTx/>
                <a:latin typeface="Noto Sans JP"/>
                <a:ea typeface="Noto Sans JP"/>
              </a:rPr>
              <a:t>の明瞭な極値に</a:t>
            </a:r>
            <a:br>
              <a:rPr sz="2200"/>
            </a:br>
            <a:r>
              <a:rPr lang="ja-JP" sz="2200" b="0" u="none" strike="noStrike">
                <a:solidFill>
                  <a:srgbClr val="262626"/>
                </a:solidFill>
                <a:effectLst/>
                <a:uFillTx/>
                <a:latin typeface="Noto Sans JP"/>
                <a:ea typeface="Noto Sans JP"/>
              </a:rPr>
              <a:t>変換し、位置と大小を定量化</a:t>
            </a:r>
            <a:endParaRPr lang="en-US" sz="2200" b="0" u="none" strike="noStrike">
              <a:solidFill>
                <a:srgbClr val="000000"/>
              </a:solidFill>
              <a:effectLst/>
              <a:uFillTx/>
              <a:latin typeface="Arial"/>
            </a:endParaRPr>
          </a:p>
        </p:txBody>
      </p:sp>
      <p:sp>
        <p:nvSpPr>
          <p:cNvPr id="484" name="Rounded Rectangle 19"/>
          <p:cNvSpPr/>
          <p:nvPr/>
        </p:nvSpPr>
        <p:spPr>
          <a:xfrm>
            <a:off x="6309360" y="2377440"/>
            <a:ext cx="5211720" cy="1572480"/>
          </a:xfrm>
          <a:prstGeom prst="roundRect">
            <a:avLst>
              <a:gd name="adj" fmla="val 5000"/>
            </a:avLst>
          </a:prstGeom>
          <a:solidFill>
            <a:srgbClr val="FFFFFF"/>
          </a:solidFill>
          <a:ln w="15875">
            <a:solidFill>
              <a:srgbClr val="009BA5"/>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009BA5"/>
                </a:solidFill>
                <a:effectLst/>
                <a:uFillTx/>
                <a:latin typeface="Noto Sans JP"/>
                <a:ea typeface="Noto Sans JP"/>
              </a:rPr>
              <a:t>② 切痕が消えても検出できる</a:t>
            </a:r>
            <a:endParaRPr lang="en-US" sz="2200" b="0" u="none" strike="noStrike">
              <a:solidFill>
                <a:srgbClr val="000000"/>
              </a:solidFill>
              <a:effectLst/>
              <a:uFillTx/>
              <a:latin typeface="Arial"/>
            </a:endParaRPr>
          </a:p>
          <a:p>
            <a:pPr defTabSz="914400">
              <a:lnSpc>
                <a:spcPct val="108000"/>
              </a:lnSpc>
            </a:pPr>
            <a:r>
              <a:rPr lang="ja-JP" sz="2200" b="0" u="none" strike="noStrike">
                <a:solidFill>
                  <a:srgbClr val="262626"/>
                </a:solidFill>
                <a:effectLst/>
                <a:uFillTx/>
                <a:latin typeface="Noto Sans JP"/>
                <a:ea typeface="Noto Sans JP"/>
              </a:rPr>
              <a:t>過減衰・</a:t>
            </a:r>
            <a:r>
              <a:rPr lang="en-US" sz="2200" b="0" u="none" strike="noStrike">
                <a:solidFill>
                  <a:srgbClr val="262626"/>
                </a:solidFill>
                <a:effectLst/>
                <a:uFillTx/>
                <a:latin typeface="Noto Sans JP"/>
                <a:ea typeface="Noto Sans JP"/>
              </a:rPr>
              <a:t>DN-less </a:t>
            </a:r>
            <a:r>
              <a:rPr lang="ja-JP" sz="2200" b="0" u="none" strike="noStrike">
                <a:solidFill>
                  <a:srgbClr val="262626"/>
                </a:solidFill>
                <a:effectLst/>
                <a:uFillTx/>
                <a:latin typeface="Noto Sans JP"/>
                <a:ea typeface="Noto Sans JP"/>
              </a:rPr>
              <a:t>でも </a:t>
            </a:r>
            <a:r>
              <a:rPr lang="en-US" sz="2200" b="0" u="none" strike="noStrike">
                <a:solidFill>
                  <a:srgbClr val="262626"/>
                </a:solidFill>
                <a:effectLst/>
                <a:uFillTx/>
                <a:latin typeface="Noto Sans JP"/>
                <a:ea typeface="Noto Sans JP"/>
              </a:rPr>
              <a:t>e </a:t>
            </a:r>
            <a:br>
              <a:rPr sz="2200"/>
            </a:br>
            <a:endParaRPr lang="en-US" sz="2200" b="0" u="none" strike="noStrike">
              <a:solidFill>
                <a:srgbClr val="000000"/>
              </a:solidFill>
              <a:effectLst/>
              <a:uFillTx/>
              <a:latin typeface="Arial"/>
            </a:endParaRPr>
          </a:p>
          <a:p>
            <a:pPr defTabSz="914400">
              <a:lnSpc>
                <a:spcPct val="108000"/>
              </a:lnSpc>
            </a:pPr>
            <a:br>
              <a:rPr sz="2200"/>
            </a:br>
            <a:endParaRPr lang="en-US" sz="2200" b="0" u="none" strike="noStrike">
              <a:solidFill>
                <a:srgbClr val="000000"/>
              </a:solidFill>
              <a:effectLst/>
              <a:uFillTx/>
              <a:latin typeface="Arial"/>
            </a:endParaRPr>
            <a:r>
              <a:rPr lang="ja-JP" sz="2200" b="0" u="none" strike="noStrike">
                <a:solidFill>
                  <a:srgbClr val="262626"/>
                </a:solidFill>
                <a:effectLst/>
                <a:uFillTx/>
                <a:latin typeface="Noto Sans JP"/>
                <a:ea typeface="Noto Sans JP"/>
              </a:rPr>
              <a:t>波で</a:t>
            </a:r>
            <a:r>
              <a:rPr lang="ja-JP" sz="2200" b="0" u="none" strike="noStrike">
                <a:solidFill>
                  <a:srgbClr val="262626"/>
                </a:solidFill>
                <a:effectLst/>
                <a:uFillTx/>
                <a:latin typeface="Noto Sans JP"/>
                <a:ea typeface="Noto Sans JP"/>
              </a:rPr>
              <a:t>切痕相当点を検出し位置を推定</a:t>
            </a:r>
          </a:p>
        </p:txBody>
      </p:sp>
      <p:sp>
        <p:nvSpPr>
          <p:cNvPr id="485" name="Rounded Rectangle 20"/>
          <p:cNvSpPr/>
          <p:nvPr/>
        </p:nvSpPr>
        <p:spPr>
          <a:xfrm>
            <a:off x="658440" y="4096440"/>
            <a:ext cx="5211720" cy="1572480"/>
          </a:xfrm>
          <a:prstGeom prst="roundRect">
            <a:avLst>
              <a:gd name="adj" fmla="val 5000"/>
            </a:avLst>
          </a:prstGeom>
          <a:solidFill>
            <a:srgbClr val="FFFFFF"/>
          </a:solidFill>
          <a:ln w="15875">
            <a:solidFill>
              <a:srgbClr val="BF9000"/>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BF9000"/>
                </a:solidFill>
                <a:effectLst/>
                <a:uFillTx/>
                <a:latin typeface="Noto Sans JP"/>
                <a:ea typeface="Noto Sans JP"/>
              </a:rPr>
              <a:t>③ 加齢・動脈硬化の指標</a:t>
            </a:r>
            <a:endParaRPr lang="en-US" sz="2200" b="0" u="none" strike="noStrike">
              <a:solidFill>
                <a:srgbClr val="000000"/>
              </a:solidFill>
              <a:effectLst/>
              <a:uFillTx/>
              <a:latin typeface="Arial"/>
            </a:endParaRPr>
          </a:p>
          <a:p>
            <a:pPr defTabSz="914400">
              <a:lnSpc>
                <a:spcPct val="108000"/>
              </a:lnSpc>
            </a:pPr>
            <a:r>
              <a:rPr lang="en-US" sz="2200" b="0" u="none" strike="noStrike">
                <a:solidFill>
                  <a:srgbClr val="262626"/>
                </a:solidFill>
                <a:effectLst/>
                <a:uFillTx/>
                <a:latin typeface="Noto Sans JP"/>
                <a:ea typeface="Noto Sans JP"/>
              </a:rPr>
              <a:t>b/a↑</a:t>
            </a:r>
            <a:r>
              <a:rPr lang="ja-JP" sz="2200" b="0" u="none" strike="noStrike">
                <a:solidFill>
                  <a:srgbClr val="262626"/>
                </a:solidFill>
                <a:effectLst/>
                <a:uFillTx/>
                <a:latin typeface="Noto Sans JP"/>
                <a:ea typeface="Noto Sans JP"/>
              </a:rPr>
              <a:t>・</a:t>
            </a:r>
            <a:r>
              <a:rPr lang="en-US" sz="2200" b="0" u="none" strike="noStrike">
                <a:solidFill>
                  <a:srgbClr val="262626"/>
                </a:solidFill>
                <a:effectLst/>
                <a:uFillTx/>
                <a:latin typeface="Noto Sans JP"/>
                <a:ea typeface="Noto Sans JP"/>
              </a:rPr>
              <a:t>AGI </a:t>
            </a:r>
            <a:r>
              <a:rPr lang="ja-JP" sz="2200" b="0" u="none" strike="noStrike">
                <a:solidFill>
                  <a:srgbClr val="262626"/>
                </a:solidFill>
                <a:effectLst/>
                <a:uFillTx/>
                <a:latin typeface="Noto Sans JP"/>
                <a:ea typeface="Noto Sans JP"/>
              </a:rPr>
              <a:t>が年齢と相関</a:t>
            </a:r>
            <a:br>
              <a:rPr sz="2200"/>
            </a:br>
            <a:r>
              <a:rPr lang="ja-JP" sz="2200" b="0" u="none" strike="noStrike">
                <a:solidFill>
                  <a:srgbClr val="262626"/>
                </a:solidFill>
                <a:effectLst/>
                <a:uFillTx/>
                <a:latin typeface="Noto Sans JP"/>
                <a:ea typeface="Noto Sans JP"/>
              </a:rPr>
              <a:t>（</a:t>
            </a:r>
            <a:r>
              <a:rPr lang="en-US" sz="2200" b="0" u="none" strike="noStrike">
                <a:solidFill>
                  <a:srgbClr val="262626"/>
                </a:solidFill>
                <a:effectLst/>
                <a:uFillTx/>
                <a:latin typeface="Noto Sans JP"/>
                <a:ea typeface="Noto Sans JP"/>
              </a:rPr>
              <a:t>r≈0.80</a:t>
            </a:r>
            <a:r>
              <a:rPr lang="ja-JP" sz="2200" b="0" u="none" strike="noStrike">
                <a:solidFill>
                  <a:srgbClr val="262626"/>
                </a:solidFill>
                <a:effectLst/>
                <a:uFillTx/>
                <a:latin typeface="Noto Sans JP"/>
                <a:ea typeface="Noto Sans JP"/>
              </a:rPr>
              <a:t>）。血管作動薬にも鋭敏</a:t>
            </a:r>
            <a:endParaRPr lang="en-US" sz="2200" b="0" u="none" strike="noStrike">
              <a:solidFill>
                <a:srgbClr val="000000"/>
              </a:solidFill>
              <a:effectLst/>
              <a:uFillTx/>
              <a:latin typeface="Arial"/>
            </a:endParaRPr>
          </a:p>
        </p:txBody>
      </p:sp>
      <p:sp>
        <p:nvSpPr>
          <p:cNvPr id="486" name="Rounded Rectangle 21"/>
          <p:cNvSpPr/>
          <p:nvPr/>
        </p:nvSpPr>
        <p:spPr>
          <a:xfrm>
            <a:off x="6309360" y="4096440"/>
            <a:ext cx="5211720" cy="1572480"/>
          </a:xfrm>
          <a:prstGeom prst="roundRect">
            <a:avLst>
              <a:gd name="adj" fmla="val 5000"/>
            </a:avLst>
          </a:prstGeom>
          <a:solidFill>
            <a:srgbClr val="FFFFFF"/>
          </a:solidFill>
          <a:ln w="15875">
            <a:solidFill>
              <a:srgbClr val="ED7D31"/>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ED7D31"/>
                </a:solidFill>
                <a:effectLst/>
                <a:uFillTx/>
                <a:latin typeface="Noto Sans JP"/>
                <a:ea typeface="Noto Sans JP"/>
              </a:rPr>
              <a:t>④ 基線変動・絶対振幅に強い</a:t>
            </a:r>
            <a:endParaRPr lang="en-US" sz="2200" b="0" u="none" strike="noStrike">
              <a:solidFill>
                <a:srgbClr val="000000"/>
              </a:solidFill>
              <a:effectLst/>
              <a:uFillTx/>
              <a:latin typeface="Arial"/>
            </a:endParaRPr>
          </a:p>
          <a:p>
            <a:pPr defTabSz="914400">
              <a:lnSpc>
                <a:spcPct val="108000"/>
              </a:lnSpc>
            </a:pPr>
            <a:r>
              <a:rPr lang="ja-JP" sz="2200" b="0" u="none" strike="noStrike">
                <a:solidFill>
                  <a:srgbClr val="262626"/>
                </a:solidFill>
                <a:effectLst/>
                <a:uFillTx/>
                <a:latin typeface="Noto Sans JP"/>
                <a:ea typeface="Noto Sans JP"/>
              </a:rPr>
              <a:t>直流・基線ドリフトを微分で除去</a:t>
            </a:r>
            <a:br>
              <a:rPr sz="2200"/>
            </a:br>
            <a:r>
              <a:rPr lang="ja-JP" sz="2200" b="0" u="none" strike="noStrike">
                <a:solidFill>
                  <a:srgbClr val="262626"/>
                </a:solidFill>
                <a:effectLst/>
                <a:uFillTx/>
                <a:latin typeface="Noto Sans JP"/>
                <a:ea typeface="Noto Sans JP"/>
              </a:rPr>
              <a:t>「波の比（形）」で評価する</a:t>
            </a:r>
            <a:endParaRPr lang="en-US" sz="22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 name="TitleFrame"/>
          <p:cNvSpPr/>
          <p:nvPr/>
        </p:nvSpPr>
        <p:spPr>
          <a:xfrm>
            <a:off x="655200" y="603504"/>
            <a:ext cx="6437376" cy="804672"/>
          </a:xfrm>
          <a:prstGeom prst="roundRect">
            <a:avLst>
              <a:gd name="adj" fmla="val 8000"/>
            </a:avLst>
          </a:prstGeom>
          <a:noFill/>
          <a:ln w="28575" cap="flat">
            <a:solidFill>
              <a:srgbClr val="44546A"/>
            </a:solidFill>
            <a:round/>
          </a:ln>
        </p:spPr>
        <p:txBody>
          <a:bodyPr rtlCol="0" anchor="ctr"/>
          <a:lstStyle/>
          <a:p>
            <a:endParaRPr lang="ja-JP"/>
          </a:p>
        </p:txBody>
      </p:sp>
      <p:sp>
        <p:nvSpPr>
          <p:cNvPr id="48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4.3  </a:t>
            </a:r>
            <a:r>
              <a:rPr lang="ja-JP" sz="4400" b="1" u="none" strike="noStrike">
                <a:ln w="19050">
                  <a:solidFill>
                    <a:srgbClr val="000000"/>
                  </a:solidFill>
                </a:ln>
                <a:solidFill>
                  <a:schemeClr val="accent4">
                    <a:lumMod val="75000"/>
                  </a:schemeClr>
                </a:solidFill>
                <a:effectLst/>
                <a:uFillTx/>
                <a:latin typeface="Noto Sans JP"/>
                <a:ea typeface="Noto Sans JP"/>
              </a:rPr>
              <a:t>切痕＋</a:t>
            </a:r>
            <a:r>
              <a:rPr lang="en-US" sz="4400" b="1" u="none" strike="noStrike">
                <a:ln w="19050">
                  <a:solidFill>
                    <a:srgbClr val="000000"/>
                  </a:solidFill>
                </a:ln>
                <a:solidFill>
                  <a:schemeClr val="accent4">
                    <a:lumMod val="75000"/>
                  </a:schemeClr>
                </a:solidFill>
                <a:effectLst/>
                <a:uFillTx/>
                <a:latin typeface="Noto Sans JP"/>
                <a:ea typeface="Noto Sans JP"/>
              </a:rPr>
              <a:t>PI→MAP</a:t>
            </a:r>
            <a:endParaRPr lang="en-US" sz="4600" b="1" u="none" strike="noStrike">
              <a:ln w="19050">
                <a:solidFill>
                  <a:srgbClr val="000000"/>
                </a:solidFill>
              </a:ln>
              <a:solidFill>
                <a:schemeClr val="accent4">
                  <a:lumMod val="75000"/>
                </a:schemeClr>
              </a:solidFill>
              <a:effectLst/>
              <a:uFillTx/>
              <a:latin typeface="Calibri"/>
            </a:endParaRPr>
          </a:p>
        </p:txBody>
      </p:sp>
      <p:sp>
        <p:nvSpPr>
          <p:cNvPr id="48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48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49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491"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定量化</a:t>
            </a:r>
            <a:endParaRPr lang="en-US" sz="1050" b="0" u="none" strike="noStrike">
              <a:solidFill>
                <a:srgbClr val="FFFFFF"/>
              </a:solidFill>
              <a:effectLst/>
              <a:uFillTx/>
              <a:latin typeface="Arial"/>
            </a:endParaRPr>
          </a:p>
        </p:txBody>
      </p:sp>
      <p:sp>
        <p:nvSpPr>
          <p:cNvPr id="49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49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49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49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20. Joachim 2021</a:t>
            </a:r>
            <a:endParaRPr lang="en-US" sz="1050" b="0" u="none" strike="noStrike">
              <a:solidFill>
                <a:srgbClr val="000000"/>
              </a:solidFill>
              <a:effectLst/>
              <a:uFillTx/>
              <a:latin typeface="Arial"/>
            </a:endParaRPr>
          </a:p>
        </p:txBody>
      </p:sp>
      <p:pic>
        <p:nvPicPr>
          <p:cNvPr id="496" name="Picture 8" descr="16_joachim.png"/>
          <p:cNvPicPr/>
          <p:nvPr/>
        </p:nvPicPr>
        <p:blipFill>
          <a:blip r:embed="rId4"/>
          <a:stretch/>
        </p:blipFill>
        <p:spPr>
          <a:xfrm>
            <a:off x="720000" y="1838880"/>
            <a:ext cx="10727640" cy="4241520"/>
          </a:xfrm>
          <a:prstGeom prst="rect">
            <a:avLst/>
          </a:prstGeom>
          <a:noFill/>
          <a:ln w="0">
            <a:noFill/>
          </a:ln>
        </p:spPr>
      </p:pic>
      <p:sp>
        <p:nvSpPr>
          <p:cNvPr id="49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30/47</a:t>
            </a:r>
            <a:endParaRPr lang="en-US" sz="1200" b="0" u="none" strike="noStrike">
              <a:solidFill>
                <a:srgbClr val="000000"/>
              </a:solidFill>
              <a:effectLst/>
              <a:uFillTx/>
              <a:latin typeface="Arial"/>
            </a:endParaRPr>
          </a:p>
        </p:txBody>
      </p:sp>
      <p:sp>
        <p:nvSpPr>
          <p:cNvPr id="498" name="b1"/>
          <p:cNvSpPr/>
          <p:nvPr/>
        </p:nvSpPr>
        <p:spPr>
          <a:xfrm>
            <a:off x="1363680" y="2984400"/>
            <a:ext cx="2252520" cy="1484280"/>
          </a:xfrm>
          <a:prstGeom prst="roundRect">
            <a:avLst>
              <a:gd name="adj" fmla="val 18000"/>
            </a:avLst>
          </a:prstGeom>
          <a:solidFill>
            <a:srgbClr val="F8CBAD"/>
          </a:solidFill>
          <a:ln w="19050">
            <a:solidFill>
              <a:srgbClr val="C55A1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262626"/>
                </a:solidFill>
                <a:effectLst/>
                <a:uFillTx/>
                <a:latin typeface="Noto Sans JP"/>
                <a:ea typeface="Noto Sans JP"/>
              </a:rPr>
              <a:t>切痕の</a:t>
            </a:r>
            <a:br>
              <a:rPr sz="2400"/>
            </a:br>
            <a:r>
              <a:rPr lang="ja-JP" sz="2400" b="1" u="none" strike="noStrike">
                <a:solidFill>
                  <a:srgbClr val="262626"/>
                </a:solidFill>
                <a:effectLst/>
                <a:uFillTx/>
                <a:latin typeface="Noto Sans JP"/>
                <a:ea typeface="Noto Sans JP"/>
              </a:rPr>
              <a:t>相対位置</a:t>
            </a:r>
            <a:endParaRPr lang="en-US" sz="2400" b="0" u="none" strike="noStrike">
              <a:solidFill>
                <a:srgbClr val="000000"/>
              </a:solidFill>
              <a:effectLst/>
              <a:uFillTx/>
              <a:latin typeface="Arial"/>
            </a:endParaRPr>
          </a:p>
        </p:txBody>
      </p:sp>
      <p:sp>
        <p:nvSpPr>
          <p:cNvPr id="499" name="plus"/>
          <p:cNvSpPr/>
          <p:nvPr/>
        </p:nvSpPr>
        <p:spPr>
          <a:xfrm>
            <a:off x="3777480" y="3366000"/>
            <a:ext cx="750600" cy="67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600" b="1" u="none" strike="noStrike">
                <a:solidFill>
                  <a:srgbClr val="262626"/>
                </a:solidFill>
                <a:effectLst/>
                <a:uFillTx/>
                <a:latin typeface="Noto Sans JP"/>
                <a:ea typeface="Noto Sans JP"/>
              </a:rPr>
              <a:t>＋</a:t>
            </a:r>
            <a:endParaRPr lang="en-US" sz="2600" b="0" u="none" strike="noStrike">
              <a:solidFill>
                <a:srgbClr val="000000"/>
              </a:solidFill>
              <a:effectLst/>
              <a:uFillTx/>
              <a:latin typeface="Arial"/>
            </a:endParaRPr>
          </a:p>
        </p:txBody>
      </p:sp>
      <p:sp>
        <p:nvSpPr>
          <p:cNvPr id="500" name="b2"/>
          <p:cNvSpPr/>
          <p:nvPr/>
        </p:nvSpPr>
        <p:spPr>
          <a:xfrm>
            <a:off x="4474800" y="2984400"/>
            <a:ext cx="1930680" cy="1484280"/>
          </a:xfrm>
          <a:prstGeom prst="roundRect">
            <a:avLst>
              <a:gd name="adj" fmla="val 18000"/>
            </a:avLst>
          </a:prstGeom>
          <a:solidFill>
            <a:srgbClr val="DAE3F3"/>
          </a:solidFill>
          <a:ln w="19050">
            <a:solidFill>
              <a:srgbClr val="2E75B6"/>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3200" b="1" u="none" strike="noStrike">
                <a:solidFill>
                  <a:srgbClr val="262626"/>
                </a:solidFill>
                <a:effectLst/>
                <a:uFillTx/>
                <a:latin typeface="Noto Sans JP"/>
                <a:ea typeface="Noto Sans JP"/>
              </a:rPr>
              <a:t>PI</a:t>
            </a:r>
            <a:endParaRPr lang="en-US" sz="3200" b="0" u="none" strike="noStrike">
              <a:solidFill>
                <a:srgbClr val="000000"/>
              </a:solidFill>
              <a:effectLst/>
              <a:uFillTx/>
              <a:latin typeface="Arial"/>
            </a:endParaRPr>
          </a:p>
        </p:txBody>
      </p:sp>
      <p:sp>
        <p:nvSpPr>
          <p:cNvPr id="501" name="b3"/>
          <p:cNvSpPr/>
          <p:nvPr/>
        </p:nvSpPr>
        <p:spPr>
          <a:xfrm>
            <a:off x="8122320" y="2984400"/>
            <a:ext cx="3003480" cy="1484280"/>
          </a:xfrm>
          <a:prstGeom prst="roundRect">
            <a:avLst>
              <a:gd name="adj" fmla="val 18000"/>
            </a:avLst>
          </a:prstGeom>
          <a:solidFill>
            <a:srgbClr val="EDE1B3"/>
          </a:solidFill>
          <a:ln w="19050">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262626"/>
                </a:solidFill>
                <a:effectLst/>
                <a:uFillTx/>
                <a:latin typeface="Noto Sans JP"/>
                <a:ea typeface="Noto Sans JP"/>
              </a:rPr>
              <a:t>平均動脈圧</a:t>
            </a:r>
            <a:r>
              <a:rPr lang="en-US" sz="2400" b="1" u="none" strike="noStrike">
                <a:solidFill>
                  <a:srgbClr val="262626"/>
                </a:solidFill>
                <a:effectLst/>
                <a:uFillTx/>
                <a:latin typeface="Noto Sans JP"/>
                <a:ea typeface="Noto Sans JP"/>
              </a:rPr>
              <a:t>(MAP)</a:t>
            </a:r>
            <a:br>
              <a:rPr sz="2400"/>
            </a:br>
            <a:endParaRPr lang="en-US" sz="2400" b="0" u="none" strike="noStrike">
              <a:solidFill>
                <a:srgbClr val="000000"/>
              </a:solidFill>
              <a:effectLst/>
              <a:uFillTx/>
              <a:latin typeface="Arial"/>
            </a:endParaRPr>
          </a:p>
          <a:p>
            <a:pPr algn="ctr" defTabSz="914400">
              <a:lnSpc>
                <a:spcPct val="100000"/>
              </a:lnSpc>
            </a:pPr>
            <a:br>
              <a:rPr sz="2400"/>
            </a:br>
            <a:endParaRPr lang="en-US" sz="2400" b="0" u="none" strike="noStrike">
              <a:solidFill>
                <a:srgbClr val="000000"/>
              </a:solidFill>
              <a:effectLst/>
              <a:uFillTx/>
              <a:latin typeface="Arial"/>
            </a:endParaRPr>
            <a:r>
              <a:rPr lang="ja-JP" sz="2400" b="1" u="none" strike="noStrike">
                <a:solidFill>
                  <a:srgbClr val="262626"/>
                </a:solidFill>
                <a:effectLst/>
                <a:uFillTx/>
                <a:latin typeface="Noto Sans JP"/>
                <a:ea typeface="Noto Sans JP"/>
              </a:rPr>
              <a:t>リアルタイム推定</a:t>
            </a:r>
          </a:p>
        </p:txBody>
      </p:sp>
      <p:sp>
        <p:nvSpPr>
          <p:cNvPr id="502" name="cap"/>
          <p:cNvSpPr/>
          <p:nvPr/>
        </p:nvSpPr>
        <p:spPr>
          <a:xfrm>
            <a:off x="720000" y="5232600"/>
            <a:ext cx="10727640" cy="38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262626"/>
                </a:solidFill>
                <a:effectLst/>
                <a:uFillTx/>
                <a:latin typeface="Noto Sans JP"/>
                <a:ea typeface="Noto Sans JP"/>
              </a:rPr>
              <a:t>全身麻酔中に切痕位置＝急性トーヌスの形態指標を連続血圧推定に応用</a:t>
            </a:r>
            <a:endParaRPr lang="en-US" sz="20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TitleFrame"/>
          <p:cNvSpPr/>
          <p:nvPr/>
        </p:nvSpPr>
        <p:spPr>
          <a:xfrm>
            <a:off x="655200" y="603504"/>
            <a:ext cx="3401568" cy="804672"/>
          </a:xfrm>
          <a:prstGeom prst="roundRect">
            <a:avLst>
              <a:gd name="adj" fmla="val 8000"/>
            </a:avLst>
          </a:prstGeom>
          <a:noFill/>
          <a:ln w="28575" cap="flat">
            <a:solidFill>
              <a:srgbClr val="44546A"/>
            </a:solidFill>
            <a:round/>
          </a:ln>
        </p:spPr>
        <p:txBody>
          <a:bodyPr rtlCol="0" anchor="ctr"/>
          <a:lstStyle/>
          <a:p>
            <a:endParaRPr lang="ja-JP"/>
          </a:p>
        </p:txBody>
      </p:sp>
      <p:sp>
        <p:nvSpPr>
          <p:cNvPr id="50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5. </a:t>
            </a:r>
            <a:r>
              <a:rPr lang="ja-JP" sz="4400" b="1" u="none" strike="noStrike">
                <a:ln w="19050">
                  <a:solidFill>
                    <a:srgbClr val="000000"/>
                  </a:solidFill>
                </a:ln>
                <a:solidFill>
                  <a:schemeClr val="accent4">
                    <a:lumMod val="75000"/>
                  </a:schemeClr>
                </a:solidFill>
                <a:effectLst/>
                <a:uFillTx/>
                <a:latin typeface="Noto Sans JP"/>
                <a:ea typeface="Noto Sans JP"/>
              </a:rPr>
              <a:t>まとめ</a:t>
            </a:r>
            <a:endParaRPr lang="en-US" sz="4600" b="1" u="none" strike="noStrike">
              <a:ln w="19050">
                <a:solidFill>
                  <a:srgbClr val="000000"/>
                </a:solidFill>
              </a:ln>
              <a:solidFill>
                <a:schemeClr val="accent4">
                  <a:lumMod val="75000"/>
                </a:schemeClr>
              </a:solidFill>
              <a:effectLst/>
              <a:uFillTx/>
              <a:latin typeface="Calibri"/>
            </a:endParaRPr>
          </a:p>
        </p:txBody>
      </p:sp>
      <p:sp>
        <p:nvSpPr>
          <p:cNvPr id="50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50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50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50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508" name="Off-page Connector 6"/>
          <p:cNvSpPr/>
          <p:nvPr/>
        </p:nvSpPr>
        <p:spPr>
          <a:xfrm>
            <a:off x="1019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5</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まとめ</a:t>
            </a:r>
            <a:endParaRPr lang="en-US" sz="1050" b="0" u="none" strike="noStrike">
              <a:solidFill>
                <a:srgbClr val="FFFFFF"/>
              </a:solidFill>
              <a:effectLst/>
              <a:uFillTx/>
              <a:latin typeface="Arial"/>
            </a:endParaRPr>
          </a:p>
        </p:txBody>
      </p:sp>
      <p:sp>
        <p:nvSpPr>
          <p:cNvPr id="50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51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511"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Noto Sans JP"/>
                <a:ea typeface="Noto Sans JP"/>
              </a:rPr>
              <a:t>1. </a:t>
            </a:r>
            <a:r>
              <a:rPr lang="ja-JP" sz="2400" b="0" u="none" strike="noStrike">
                <a:solidFill>
                  <a:srgbClr val="D9D9D9"/>
                </a:solidFill>
                <a:effectLst/>
                <a:uFillTx/>
                <a:latin typeface="Noto Sans JP"/>
                <a:ea typeface="Noto Sans JP"/>
              </a:rPr>
              <a:t>基礎：</a:t>
            </a:r>
            <a:r>
              <a:rPr lang="en-US" sz="2400" b="0" u="none" strike="noStrike">
                <a:solidFill>
                  <a:srgbClr val="D9D9D9"/>
                </a:solidFill>
                <a:effectLst/>
                <a:uFillTx/>
                <a:latin typeface="Noto Sans JP"/>
                <a:ea typeface="Noto Sans JP"/>
              </a:rPr>
              <a:t>PPG</a:t>
            </a:r>
            <a:r>
              <a:rPr lang="ja-JP" sz="2400" b="0" u="none" strike="noStrike">
                <a:solidFill>
                  <a:srgbClr val="D9D9D9"/>
                </a:solidFill>
                <a:effectLst/>
                <a:uFillTx/>
                <a:latin typeface="Noto Sans JP"/>
                <a:ea typeface="Noto Sans JP"/>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2. </a:t>
            </a:r>
            <a:r>
              <a:rPr lang="ja-JP" sz="2400" b="0" u="none" strike="noStrike">
                <a:solidFill>
                  <a:srgbClr val="D9D9D9"/>
                </a:solidFill>
                <a:effectLst/>
                <a:uFillTx/>
                <a:latin typeface="Noto Sans JP"/>
                <a:ea typeface="Noto Sans JP"/>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3. </a:t>
            </a:r>
            <a:r>
              <a:rPr lang="ja-JP" sz="2400" b="0" u="none" strike="noStrike">
                <a:solidFill>
                  <a:srgbClr val="D9D9D9"/>
                </a:solidFill>
                <a:effectLst/>
                <a:uFillTx/>
                <a:latin typeface="Noto Sans JP"/>
                <a:ea typeface="Noto Sans JP"/>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4. </a:t>
            </a:r>
            <a:r>
              <a:rPr lang="ja-JP" sz="2400" b="0" u="none" strike="noStrike">
                <a:solidFill>
                  <a:srgbClr val="D9D9D9"/>
                </a:solidFill>
                <a:effectLst/>
                <a:uFillTx/>
                <a:latin typeface="Noto Sans JP"/>
                <a:ea typeface="Noto Sans JP"/>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Noto Sans JP"/>
                <a:ea typeface="Noto Sans JP"/>
              </a:rPr>
              <a:t>5. </a:t>
            </a:r>
            <a:r>
              <a:rPr lang="en-US" sz="2600" b="1" u="none" strike="noStrike">
                <a:solidFill>
                  <a:srgbClr val="262626"/>
                </a:solidFill>
                <a:effectLst/>
                <a:uFillTx/>
                <a:latin typeface="Noto Sans JP"/>
                <a:ea typeface="Noto Sans JP"/>
              </a:rPr>
              <a:t>SpO₂</a:t>
            </a:r>
            <a:r>
              <a:rPr lang="ja-JP" sz="2600" b="1" u="none" strike="noStrike">
                <a:solidFill>
                  <a:srgbClr val="262626"/>
                </a:solidFill>
                <a:effectLst/>
                <a:uFillTx/>
                <a:latin typeface="Noto Sans JP"/>
                <a:ea typeface="Noto Sans JP"/>
              </a:rPr>
              <a:t>波形解析まとめ</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Noto Sans JP"/>
                <a:ea typeface="Noto Sans JP"/>
              </a:rPr>
              <a:t>5.1</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読み方の</a:t>
            </a:r>
            <a:r>
              <a:rPr lang="en-US" sz="2200" b="1" u="none" strike="noStrike">
                <a:solidFill>
                  <a:srgbClr val="262626"/>
                </a:solidFill>
                <a:effectLst/>
                <a:uFillTx/>
                <a:latin typeface="Noto Sans JP"/>
                <a:ea typeface="Noto Sans JP"/>
              </a:rPr>
              <a:t>2</a:t>
            </a:r>
            <a:r>
              <a:rPr lang="ja-JP" sz="2200" b="1" u="none" strike="noStrike">
                <a:solidFill>
                  <a:srgbClr val="262626"/>
                </a:solidFill>
                <a:effectLst/>
                <a:uFillTx/>
                <a:latin typeface="Noto Sans JP"/>
                <a:ea typeface="Noto Sans JP"/>
              </a:rPr>
              <a:t>軸</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Noto Sans JP"/>
                <a:ea typeface="Noto Sans JP"/>
              </a:rPr>
              <a:t>5.2</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指標まとめ</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6. </a:t>
            </a:r>
            <a:r>
              <a:rPr lang="ja-JP" sz="2400" b="0" u="none" strike="noStrike">
                <a:solidFill>
                  <a:srgbClr val="D9D9D9"/>
                </a:solidFill>
                <a:effectLst/>
                <a:uFillTx/>
                <a:latin typeface="Noto Sans JP"/>
                <a:ea typeface="Noto Sans JP"/>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7. </a:t>
            </a:r>
            <a:r>
              <a:rPr lang="en-US" sz="2400" b="0" u="none" strike="noStrike">
                <a:solidFill>
                  <a:srgbClr val="D9D9D9"/>
                </a:solidFill>
                <a:effectLst/>
                <a:uFillTx/>
                <a:latin typeface="Noto Sans JP"/>
                <a:ea typeface="Noto Sans JP"/>
              </a:rPr>
              <a:t>esCCO</a:t>
            </a:r>
            <a:r>
              <a:rPr lang="ja-JP" sz="2400" b="0" u="none" strike="noStrike">
                <a:solidFill>
                  <a:srgbClr val="D9D9D9"/>
                </a:solidFill>
                <a:effectLst/>
                <a:uFillTx/>
                <a:latin typeface="Noto Sans JP"/>
                <a:ea typeface="Noto Sans JP"/>
              </a:rPr>
              <a:t>精度改善案</a:t>
            </a:r>
            <a:endParaRPr lang="en-US" sz="2400" b="0" u="none" strike="noStrike">
              <a:solidFill>
                <a:srgbClr val="000000"/>
              </a:solidFill>
              <a:effectLst/>
              <a:uFillTx/>
              <a:latin typeface="Arial"/>
            </a:endParaRPr>
          </a:p>
        </p:txBody>
      </p:sp>
      <p:sp>
        <p:nvSpPr>
          <p:cNvPr id="512"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endParaRPr lang="en-US" sz="1800" b="0" u="none" strike="noStrike">
              <a:solidFill>
                <a:schemeClr val="dk1"/>
              </a:solidFill>
              <a:effectLst/>
              <a:uFillTx/>
              <a:latin typeface="Calibri"/>
            </a:endParaRPr>
          </a:p>
        </p:txBody>
      </p:sp>
      <p:sp>
        <p:nvSpPr>
          <p:cNvPr id="513"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Noto Sans JP"/>
                <a:ea typeface="Noto Sans JP"/>
              </a:rPr>
              <a:t>31/47</a:t>
            </a:r>
            <a:endParaRPr lang="en-US" sz="120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TitleFrame"/>
          <p:cNvSpPr/>
          <p:nvPr/>
        </p:nvSpPr>
        <p:spPr>
          <a:xfrm>
            <a:off x="655200" y="603504"/>
            <a:ext cx="5650992" cy="804672"/>
          </a:xfrm>
          <a:prstGeom prst="roundRect">
            <a:avLst>
              <a:gd name="adj" fmla="val 8000"/>
            </a:avLst>
          </a:prstGeom>
          <a:noFill/>
          <a:ln w="28575" cap="flat">
            <a:solidFill>
              <a:srgbClr val="44546A"/>
            </a:solidFill>
            <a:round/>
          </a:ln>
        </p:spPr>
        <p:txBody>
          <a:bodyPr rtlCol="0" anchor="ctr"/>
          <a:lstStyle/>
          <a:p>
            <a:endParaRPr lang="ja-JP"/>
          </a:p>
        </p:txBody>
      </p:sp>
      <p:sp>
        <p:nvSpPr>
          <p:cNvPr id="51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5.1  </a:t>
            </a:r>
            <a:r>
              <a:rPr lang="ja-JP" sz="4400" b="1" u="none" strike="noStrike">
                <a:ln w="19050">
                  <a:solidFill>
                    <a:srgbClr val="000000"/>
                  </a:solidFill>
                </a:ln>
                <a:solidFill>
                  <a:schemeClr val="accent4">
                    <a:lumMod val="75000"/>
                  </a:schemeClr>
                </a:solidFill>
                <a:effectLst/>
                <a:uFillTx/>
                <a:latin typeface="Noto Sans JP"/>
                <a:ea typeface="Noto Sans JP"/>
              </a:rPr>
              <a:t>読み方の</a:t>
            </a:r>
            <a:r>
              <a:rPr lang="en-US" sz="4400" b="1" u="none" strike="noStrike">
                <a:ln w="19050">
                  <a:solidFill>
                    <a:srgbClr val="000000"/>
                  </a:solidFill>
                </a:ln>
                <a:solidFill>
                  <a:schemeClr val="accent4">
                    <a:lumMod val="75000"/>
                  </a:schemeClr>
                </a:solidFill>
                <a:effectLst/>
                <a:uFillTx/>
                <a:latin typeface="Noto Sans JP"/>
                <a:ea typeface="Noto Sans JP"/>
              </a:rPr>
              <a:t>2</a:t>
            </a:r>
            <a:r>
              <a:rPr lang="ja-JP" sz="4400" b="1" u="none" strike="noStrike">
                <a:ln w="19050">
                  <a:solidFill>
                    <a:srgbClr val="000000"/>
                  </a:solidFill>
                </a:ln>
                <a:solidFill>
                  <a:schemeClr val="accent4">
                    <a:lumMod val="75000"/>
                  </a:schemeClr>
                </a:solidFill>
                <a:effectLst/>
                <a:uFillTx/>
                <a:latin typeface="Noto Sans JP"/>
                <a:ea typeface="Noto Sans JP"/>
              </a:rPr>
              <a:t>軸</a:t>
            </a:r>
            <a:endParaRPr lang="en-US" sz="4600" b="1" u="none" strike="noStrike">
              <a:ln w="19050">
                <a:solidFill>
                  <a:srgbClr val="000000"/>
                </a:solidFill>
              </a:ln>
              <a:solidFill>
                <a:schemeClr val="accent4">
                  <a:lumMod val="75000"/>
                </a:schemeClr>
              </a:solidFill>
              <a:effectLst/>
              <a:uFillTx/>
              <a:latin typeface="Calibri"/>
            </a:endParaRPr>
          </a:p>
        </p:txBody>
      </p:sp>
      <p:sp>
        <p:nvSpPr>
          <p:cNvPr id="51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51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51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51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519" name="Off-page Connector 6"/>
          <p:cNvSpPr/>
          <p:nvPr/>
        </p:nvSpPr>
        <p:spPr>
          <a:xfrm>
            <a:off x="1019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5</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まとめ</a:t>
            </a:r>
            <a:endParaRPr lang="en-US" sz="1050" b="0" u="none" strike="noStrike">
              <a:solidFill>
                <a:srgbClr val="FFFFFF"/>
              </a:solidFill>
              <a:effectLst/>
              <a:uFillTx/>
              <a:latin typeface="Arial"/>
            </a:endParaRPr>
          </a:p>
        </p:txBody>
      </p:sp>
      <p:sp>
        <p:nvSpPr>
          <p:cNvPr id="52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52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522"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3"/>
              </a:rPr>
              <a:t>4. Millasseau 2002</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4"/>
              </a:rPr>
              <a:t>16. Takazawa 1998</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5"/>
              </a:rPr>
              <a:t>14. Tusman 2019</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6"/>
              </a:rPr>
              <a:t>20. Joachim 2021</a:t>
            </a:r>
            <a:endParaRPr lang="en-US" sz="1050" b="0" u="none" strike="noStrike">
              <a:solidFill>
                <a:srgbClr val="000000"/>
              </a:solidFill>
              <a:effectLst/>
              <a:uFillTx/>
              <a:latin typeface="Arial"/>
            </a:endParaRPr>
          </a:p>
        </p:txBody>
      </p:sp>
      <p:pic>
        <p:nvPicPr>
          <p:cNvPr id="523" name="Picture 8" descr="19_two_track.png"/>
          <p:cNvPicPr/>
          <p:nvPr/>
        </p:nvPicPr>
        <p:blipFill>
          <a:blip r:embed="rId7"/>
          <a:stretch/>
        </p:blipFill>
        <p:spPr>
          <a:xfrm>
            <a:off x="1990080" y="1800000"/>
            <a:ext cx="8187120" cy="4319640"/>
          </a:xfrm>
          <a:prstGeom prst="rect">
            <a:avLst/>
          </a:prstGeom>
          <a:noFill/>
          <a:ln w="0">
            <a:noFill/>
          </a:ln>
        </p:spPr>
      </p:pic>
      <p:sp>
        <p:nvSpPr>
          <p:cNvPr id="524"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32/47</a:t>
            </a:r>
            <a:endParaRPr lang="en-US" sz="1200" b="0" u="none" strike="noStrike">
              <a:solidFill>
                <a:srgbClr val="000000"/>
              </a:solidFill>
              <a:effectLst/>
              <a:uFillTx/>
              <a:latin typeface="Arial"/>
            </a:endParaRPr>
          </a:p>
        </p:txBody>
      </p:sp>
      <p:sp>
        <p:nvSpPr>
          <p:cNvPr id="525" name="lbg"/>
          <p:cNvSpPr/>
          <p:nvPr/>
        </p:nvSpPr>
        <p:spPr>
          <a:xfrm>
            <a:off x="1544760" y="2005560"/>
            <a:ext cx="4283640" cy="3219480"/>
          </a:xfrm>
          <a:prstGeom prst="roundRect">
            <a:avLst>
              <a:gd name="adj" fmla="val 6000"/>
            </a:avLst>
          </a:prstGeom>
          <a:solidFill>
            <a:srgbClr val="EAF0F8"/>
          </a:solidFill>
          <a:ln w="19050">
            <a:solidFill>
              <a:srgbClr val="2E5395"/>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62626"/>
                </a:solidFill>
                <a:effectLst/>
                <a:uFillTx/>
                <a:latin typeface="Noto Sans JP"/>
                <a:ea typeface="Noto Sans JP"/>
              </a:rPr>
              <a:t> </a:t>
            </a:r>
            <a:endParaRPr lang="en-US" sz="1400" b="0" u="none" strike="noStrike">
              <a:solidFill>
                <a:srgbClr val="000000"/>
              </a:solidFill>
              <a:effectLst/>
              <a:uFillTx/>
              <a:latin typeface="Arial"/>
            </a:endParaRPr>
          </a:p>
        </p:txBody>
      </p:sp>
      <p:sp>
        <p:nvSpPr>
          <p:cNvPr id="526" name="ltitle"/>
          <p:cNvSpPr/>
          <p:nvPr/>
        </p:nvSpPr>
        <p:spPr>
          <a:xfrm>
            <a:off x="1715760" y="2340000"/>
            <a:ext cx="3941640" cy="357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000" b="1" u="none" strike="noStrike">
                <a:solidFill>
                  <a:srgbClr val="2E5395"/>
                </a:solidFill>
                <a:effectLst/>
                <a:uFillTx/>
                <a:latin typeface="Noto Sans JP"/>
                <a:ea typeface="Noto Sans JP"/>
              </a:rPr>
              <a:t>慢性変化＝反射・スティフネス軸</a:t>
            </a:r>
            <a:endParaRPr lang="en-US" sz="2000" b="0" u="none" strike="noStrike">
              <a:solidFill>
                <a:srgbClr val="000000"/>
              </a:solidFill>
              <a:effectLst/>
              <a:uFillTx/>
              <a:latin typeface="Arial"/>
            </a:endParaRPr>
          </a:p>
        </p:txBody>
      </p:sp>
      <p:sp>
        <p:nvSpPr>
          <p:cNvPr id="527" name="lbul"/>
          <p:cNvSpPr/>
          <p:nvPr/>
        </p:nvSpPr>
        <p:spPr>
          <a:xfrm>
            <a:off x="1972800" y="3130920"/>
            <a:ext cx="3427560" cy="187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pPr>
            <a:r>
              <a:rPr lang="ja-JP" sz="1800" b="1" u="none" strike="noStrike">
                <a:solidFill>
                  <a:srgbClr val="262626"/>
                </a:solidFill>
                <a:effectLst/>
                <a:uFillTx/>
                <a:latin typeface="Noto Sans JP"/>
                <a:ea typeface="Noto Sans JP"/>
              </a:rPr>
              <a:t>・</a:t>
            </a:r>
            <a:r>
              <a:rPr lang="en-US" sz="1800" b="1" u="none" strike="noStrike">
                <a:solidFill>
                  <a:srgbClr val="262626"/>
                </a:solidFill>
                <a:effectLst/>
                <a:uFillTx/>
                <a:latin typeface="Noto Sans JP"/>
                <a:ea typeface="Noto Sans JP"/>
              </a:rPr>
              <a:t>SI</a:t>
            </a:r>
            <a:r>
              <a:rPr lang="ja-JP" sz="1800" b="1" u="none" strike="noStrike">
                <a:solidFill>
                  <a:srgbClr val="262626"/>
                </a:solidFill>
                <a:effectLst/>
                <a:uFillTx/>
                <a:latin typeface="Noto Sans JP"/>
                <a:ea typeface="Noto Sans JP"/>
              </a:rPr>
              <a:t>（スティフネス指数）</a:t>
            </a:r>
            <a:br>
              <a:rPr sz="1800"/>
            </a:br>
            <a:br>
              <a:rPr sz="1800"/>
            </a:br>
            <a:r>
              <a:rPr lang="ja-JP" sz="1800" b="1" u="none" strike="noStrike">
                <a:solidFill>
                  <a:srgbClr val="262626"/>
                </a:solidFill>
                <a:effectLst/>
                <a:uFillTx/>
                <a:latin typeface="Noto Sans JP"/>
                <a:ea typeface="Noto Sans JP"/>
              </a:rPr>
              <a:t>・</a:t>
            </a:r>
            <a:r>
              <a:rPr lang="en-US" sz="1800" b="1" u="none" strike="noStrike">
                <a:solidFill>
                  <a:srgbClr val="262626"/>
                </a:solidFill>
                <a:effectLst/>
                <a:uFillTx/>
                <a:latin typeface="Noto Sans JP"/>
                <a:ea typeface="Noto Sans JP"/>
              </a:rPr>
              <a:t>RI</a:t>
            </a:r>
            <a:r>
              <a:rPr lang="ja-JP" sz="1800" b="1" u="none" strike="noStrike">
                <a:solidFill>
                  <a:srgbClr val="262626"/>
                </a:solidFill>
                <a:effectLst/>
                <a:uFillTx/>
                <a:latin typeface="Noto Sans JP"/>
                <a:ea typeface="Noto Sans JP"/>
              </a:rPr>
              <a:t>（反射指数）</a:t>
            </a:r>
            <a:br>
              <a:rPr sz="1800"/>
            </a:br>
            <a:br>
              <a:rPr sz="1800"/>
            </a:br>
            <a:r>
              <a:rPr lang="ja-JP" sz="1800" b="1" u="none" strike="noStrike">
                <a:solidFill>
                  <a:srgbClr val="262626"/>
                </a:solidFill>
                <a:effectLst/>
                <a:uFillTx/>
                <a:latin typeface="Noto Sans JP"/>
                <a:ea typeface="Noto Sans JP"/>
              </a:rPr>
              <a:t>・</a:t>
            </a:r>
            <a:r>
              <a:rPr lang="en-US" sz="1800" b="1" u="none" strike="noStrike">
                <a:solidFill>
                  <a:srgbClr val="262626"/>
                </a:solidFill>
                <a:effectLst/>
                <a:uFillTx/>
                <a:latin typeface="Noto Sans JP"/>
                <a:ea typeface="Noto Sans JP"/>
              </a:rPr>
              <a:t>AIx / AIx@75</a:t>
            </a:r>
            <a:br>
              <a:rPr sz="1800"/>
            </a:br>
            <a:br>
              <a:rPr sz="1800"/>
            </a:br>
            <a:r>
              <a:rPr lang="ja-JP" sz="1800" b="1" u="none" strike="noStrike">
                <a:solidFill>
                  <a:srgbClr val="262626"/>
                </a:solidFill>
                <a:effectLst/>
                <a:uFillTx/>
                <a:latin typeface="Noto Sans JP"/>
                <a:ea typeface="Noto Sans JP"/>
              </a:rPr>
              <a:t>・</a:t>
            </a:r>
            <a:r>
              <a:rPr lang="en-US" sz="1800" b="1" u="none" strike="noStrike">
                <a:solidFill>
                  <a:srgbClr val="262626"/>
                </a:solidFill>
                <a:effectLst/>
                <a:uFillTx/>
                <a:latin typeface="Noto Sans JP"/>
                <a:ea typeface="Noto Sans JP"/>
              </a:rPr>
              <a:t>SDPPG </a:t>
            </a:r>
            <a:r>
              <a:rPr lang="ja-JP" sz="1800" b="1" u="none" strike="noStrike">
                <a:solidFill>
                  <a:srgbClr val="262626"/>
                </a:solidFill>
                <a:effectLst/>
                <a:uFillTx/>
                <a:latin typeface="Noto Sans JP"/>
                <a:ea typeface="Noto Sans JP"/>
              </a:rPr>
              <a:t>加齢指数 </a:t>
            </a:r>
            <a:r>
              <a:rPr lang="en-US" sz="1800" b="1" u="none" strike="noStrike">
                <a:solidFill>
                  <a:srgbClr val="262626"/>
                </a:solidFill>
                <a:effectLst/>
                <a:uFillTx/>
                <a:latin typeface="Noto Sans JP"/>
                <a:ea typeface="Noto Sans JP"/>
              </a:rPr>
              <a:t>AGI</a:t>
            </a:r>
            <a:endParaRPr lang="en-US" sz="1800" b="0" u="none" strike="noStrike">
              <a:solidFill>
                <a:srgbClr val="000000"/>
              </a:solidFill>
              <a:effectLst/>
              <a:uFillTx/>
              <a:latin typeface="Arial"/>
            </a:endParaRPr>
          </a:p>
        </p:txBody>
      </p:sp>
      <p:sp>
        <p:nvSpPr>
          <p:cNvPr id="528" name="rbg"/>
          <p:cNvSpPr/>
          <p:nvPr/>
        </p:nvSpPr>
        <p:spPr>
          <a:xfrm>
            <a:off x="6340680" y="2005560"/>
            <a:ext cx="4283640" cy="3219480"/>
          </a:xfrm>
          <a:prstGeom prst="roundRect">
            <a:avLst>
              <a:gd name="adj" fmla="val 6000"/>
            </a:avLst>
          </a:prstGeom>
          <a:solidFill>
            <a:srgbClr val="FDF0E6"/>
          </a:solidFill>
          <a:ln w="19050">
            <a:solidFill>
              <a:srgbClr val="C55A1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62626"/>
                </a:solidFill>
                <a:effectLst/>
                <a:uFillTx/>
                <a:latin typeface="Noto Sans JP"/>
                <a:ea typeface="Noto Sans JP"/>
              </a:rPr>
              <a:t> </a:t>
            </a:r>
            <a:endParaRPr lang="en-US" sz="1400" b="0" u="none" strike="noStrike">
              <a:solidFill>
                <a:srgbClr val="000000"/>
              </a:solidFill>
              <a:effectLst/>
              <a:uFillTx/>
              <a:latin typeface="Arial"/>
            </a:endParaRPr>
          </a:p>
        </p:txBody>
      </p:sp>
      <p:sp>
        <p:nvSpPr>
          <p:cNvPr id="529" name="rtitle"/>
          <p:cNvSpPr/>
          <p:nvPr/>
        </p:nvSpPr>
        <p:spPr>
          <a:xfrm>
            <a:off x="6511680" y="2340000"/>
            <a:ext cx="3941640" cy="357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55A11"/>
                </a:solidFill>
                <a:effectLst/>
                <a:uFillTx/>
                <a:latin typeface="Noto Sans JP"/>
                <a:ea typeface="Noto Sans JP"/>
              </a:rPr>
              <a:t>急性変化＝血管トーヌス軸</a:t>
            </a:r>
            <a:endParaRPr lang="en-US" sz="2000" b="0" u="none" strike="noStrike">
              <a:solidFill>
                <a:srgbClr val="000000"/>
              </a:solidFill>
              <a:effectLst/>
              <a:uFillTx/>
              <a:latin typeface="Arial"/>
            </a:endParaRPr>
          </a:p>
        </p:txBody>
      </p:sp>
      <p:sp>
        <p:nvSpPr>
          <p:cNvPr id="530" name="rbul"/>
          <p:cNvSpPr/>
          <p:nvPr/>
        </p:nvSpPr>
        <p:spPr>
          <a:xfrm>
            <a:off x="6768720" y="3130920"/>
            <a:ext cx="3427560" cy="187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1800" b="1" u="none" strike="noStrike">
                <a:solidFill>
                  <a:srgbClr val="262626"/>
                </a:solidFill>
                <a:effectLst/>
                <a:uFillTx/>
                <a:latin typeface="Noto Sans JP"/>
                <a:ea typeface="Noto Sans JP"/>
              </a:rPr>
              <a:t>・切痕の位置・高さ・幅</a:t>
            </a:r>
            <a:br>
              <a:rPr sz="1800"/>
            </a:br>
            <a:br>
              <a:rPr sz="1800"/>
            </a:br>
            <a:r>
              <a:rPr lang="ja-JP" sz="1800" b="1" u="none" strike="noStrike">
                <a:solidFill>
                  <a:srgbClr val="262626"/>
                </a:solidFill>
                <a:effectLst/>
                <a:uFillTx/>
                <a:latin typeface="Noto Sans JP"/>
                <a:ea typeface="Noto Sans JP"/>
              </a:rPr>
              <a:t>・切痕位置＋</a:t>
            </a:r>
            <a:r>
              <a:rPr lang="en-US" sz="1800" b="1" u="none" strike="noStrike">
                <a:solidFill>
                  <a:srgbClr val="262626"/>
                </a:solidFill>
                <a:effectLst/>
                <a:uFillTx/>
                <a:latin typeface="Noto Sans JP"/>
                <a:ea typeface="Noto Sans JP"/>
              </a:rPr>
              <a:t>PI → MAP</a:t>
            </a:r>
            <a:r>
              <a:rPr lang="ja-JP" sz="1800" b="1" u="none" strike="noStrike">
                <a:solidFill>
                  <a:srgbClr val="262626"/>
                </a:solidFill>
                <a:effectLst/>
                <a:uFillTx/>
                <a:latin typeface="Noto Sans JP"/>
                <a:ea typeface="Noto Sans JP"/>
              </a:rPr>
              <a:t>推定</a:t>
            </a:r>
            <a:br>
              <a:rPr sz="1800"/>
            </a:br>
            <a:br>
              <a:rPr sz="1800"/>
            </a:br>
            <a:r>
              <a:rPr lang="ja-JP" sz="1800" b="1" u="none" strike="noStrike">
                <a:solidFill>
                  <a:srgbClr val="262626"/>
                </a:solidFill>
                <a:effectLst/>
                <a:uFillTx/>
                <a:latin typeface="Noto Sans JP"/>
                <a:ea typeface="Noto Sans JP"/>
              </a:rPr>
              <a:t>・</a:t>
            </a:r>
            <a:r>
              <a:rPr lang="en-US" sz="1800" b="1" u="none" strike="noStrike">
                <a:solidFill>
                  <a:srgbClr val="262626"/>
                </a:solidFill>
                <a:effectLst/>
                <a:uFillTx/>
                <a:latin typeface="Noto Sans JP"/>
                <a:ea typeface="Noto Sans JP"/>
              </a:rPr>
              <a:t>SDPPG </a:t>
            </a:r>
            <a:r>
              <a:rPr lang="ja-JP" sz="1800" b="1" u="none" strike="noStrike">
                <a:solidFill>
                  <a:srgbClr val="262626"/>
                </a:solidFill>
                <a:effectLst/>
                <a:uFillTx/>
                <a:latin typeface="Noto Sans JP"/>
                <a:ea typeface="Noto Sans JP"/>
              </a:rPr>
              <a:t>の </a:t>
            </a:r>
            <a:r>
              <a:rPr lang="en-US" sz="1800" b="1" u="none" strike="noStrike">
                <a:solidFill>
                  <a:srgbClr val="262626"/>
                </a:solidFill>
                <a:effectLst/>
                <a:uFillTx/>
                <a:latin typeface="Noto Sans JP"/>
                <a:ea typeface="Noto Sans JP"/>
              </a:rPr>
              <a:t>d/a</a:t>
            </a:r>
            <a:endParaRPr lang="en-US" sz="1800" b="0" u="none" strike="noStrike">
              <a:solidFill>
                <a:srgbClr val="000000"/>
              </a:solidFill>
              <a:effectLst/>
              <a:uFillTx/>
              <a:latin typeface="Arial"/>
            </a:endParaRPr>
          </a:p>
          <a:p>
            <a:pPr defTabSz="914400">
              <a:lnSpc>
                <a:spcPct val="100000"/>
              </a:lnSpc>
            </a:pPr>
            <a:r>
              <a:rPr lang="ja-JP" sz="1800" b="1" u="none" strike="noStrike">
                <a:solidFill>
                  <a:srgbClr val="262626"/>
                </a:solidFill>
                <a:effectLst/>
                <a:uFillTx/>
                <a:latin typeface="Noto Sans JP"/>
                <a:ea typeface="Noto Sans JP"/>
              </a:rPr>
              <a:t>（血管作動薬に鋭敏）</a:t>
            </a:r>
            <a:endParaRPr lang="en-US" sz="1800" b="0" u="none" strike="noStrike">
              <a:solidFill>
                <a:srgbClr val="000000"/>
              </a:solidFill>
              <a:effectLst/>
              <a:uFillTx/>
              <a:latin typeface="Arial"/>
            </a:endParaRPr>
          </a:p>
        </p:txBody>
      </p:sp>
      <p:sp>
        <p:nvSpPr>
          <p:cNvPr id="531" name="cap"/>
          <p:cNvSpPr/>
          <p:nvPr/>
        </p:nvSpPr>
        <p:spPr>
          <a:xfrm>
            <a:off x="1064160" y="5828400"/>
            <a:ext cx="11019959" cy="66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algn="ctr" defTabSz="914400">
              <a:lnSpc>
                <a:spcPct val="100000"/>
              </a:lnSpc>
            </a:pPr>
            <a:r>
              <a:rPr lang="ja-JP" sz="2200" b="1" u="none" strike="noStrike">
                <a:solidFill>
                  <a:srgbClr val="262626"/>
                </a:solidFill>
                <a:effectLst/>
                <a:uFillTx/>
                <a:latin typeface="Noto Sans JP"/>
                <a:ea typeface="Noto Sans JP"/>
              </a:rPr>
              <a:t>術中に一拍ごとを追うのは 急性トーヌス軸 </a:t>
            </a:r>
            <a:r>
              <a:rPr lang="en-US" sz="2200" b="1" u="none" strike="noStrike">
                <a:solidFill>
                  <a:srgbClr val="262626"/>
                </a:solidFill>
                <a:effectLst/>
                <a:uFillTx/>
                <a:latin typeface="Noto Sans JP"/>
                <a:ea typeface="Noto Sans JP"/>
              </a:rPr>
              <a:t>/ </a:t>
            </a:r>
            <a:r>
              <a:rPr lang="ja-JP" sz="2200" b="1" u="none" strike="noStrike">
                <a:solidFill>
                  <a:srgbClr val="262626"/>
                </a:solidFill>
                <a:effectLst/>
                <a:uFillTx/>
                <a:latin typeface="Noto Sans JP"/>
                <a:ea typeface="Noto Sans JP"/>
              </a:rPr>
              <a:t>術前ベースライン把握は 反射・スティフネス軸</a:t>
            </a:r>
            <a:endParaRPr lang="en-US" sz="20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TitleFrame"/>
          <p:cNvSpPr/>
          <p:nvPr/>
        </p:nvSpPr>
        <p:spPr>
          <a:xfrm>
            <a:off x="655200" y="603504"/>
            <a:ext cx="5303520" cy="804672"/>
          </a:xfrm>
          <a:prstGeom prst="roundRect">
            <a:avLst>
              <a:gd name="adj" fmla="val 8000"/>
            </a:avLst>
          </a:prstGeom>
          <a:noFill/>
          <a:ln w="28575" cap="flat">
            <a:solidFill>
              <a:srgbClr val="44546A"/>
            </a:solidFill>
            <a:round/>
          </a:ln>
        </p:spPr>
        <p:txBody>
          <a:bodyPr rtlCol="0" anchor="ctr"/>
          <a:lstStyle/>
          <a:p>
            <a:endParaRPr lang="ja-JP"/>
          </a:p>
        </p:txBody>
      </p:sp>
      <p:sp>
        <p:nvSpPr>
          <p:cNvPr id="53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5.2  </a:t>
            </a:r>
            <a:r>
              <a:rPr lang="ja-JP" sz="4400" b="1" u="none" strike="noStrike">
                <a:ln w="19050">
                  <a:solidFill>
                    <a:srgbClr val="000000"/>
                  </a:solidFill>
                </a:ln>
                <a:solidFill>
                  <a:schemeClr val="accent4">
                    <a:lumMod val="75000"/>
                  </a:schemeClr>
                </a:solidFill>
                <a:effectLst/>
                <a:uFillTx/>
                <a:latin typeface="Noto Sans JP"/>
                <a:ea typeface="Noto Sans JP"/>
              </a:rPr>
              <a:t>指標まとめ</a:t>
            </a:r>
            <a:endParaRPr lang="en-US" sz="4600" b="1" u="none" strike="noStrike">
              <a:ln w="19050">
                <a:solidFill>
                  <a:srgbClr val="000000"/>
                </a:solidFill>
              </a:ln>
              <a:solidFill>
                <a:schemeClr val="accent4">
                  <a:lumMod val="75000"/>
                </a:schemeClr>
              </a:solidFill>
              <a:effectLst/>
              <a:uFillTx/>
              <a:latin typeface="Calibri"/>
            </a:endParaRPr>
          </a:p>
        </p:txBody>
      </p:sp>
      <p:sp>
        <p:nvSpPr>
          <p:cNvPr id="533"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534"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535"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536"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537" name="Off-page Connector 6"/>
          <p:cNvSpPr/>
          <p:nvPr/>
        </p:nvSpPr>
        <p:spPr>
          <a:xfrm>
            <a:off x="1019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5</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まとめ</a:t>
            </a:r>
            <a:endParaRPr lang="en-US" sz="1050" b="0" u="none" strike="noStrike">
              <a:solidFill>
                <a:srgbClr val="FFFFFF"/>
              </a:solidFill>
              <a:effectLst/>
              <a:uFillTx/>
              <a:latin typeface="Arial"/>
            </a:endParaRPr>
          </a:p>
        </p:txBody>
      </p:sp>
      <p:sp>
        <p:nvSpPr>
          <p:cNvPr id="538"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539"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540"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hlinkClick r:id="rId2"/>
              </a:rPr>
              <a:t>4. Millasseau 2002</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3"/>
              </a:rPr>
              <a:t>13. Awad 2007</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4"/>
              </a:rPr>
              <a:t>14. Tusman 2019</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5"/>
              </a:rPr>
              <a:t>15. Chowienczyk 1999</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6"/>
              </a:rPr>
              <a:t>16. Takazawa 1998</a:t>
            </a:r>
            <a:r>
              <a:rPr lang="en-US" sz="1050" b="0" u="none" strike="noStrike">
                <a:solidFill>
                  <a:srgbClr val="808080"/>
                </a:solidFill>
                <a:effectLst/>
                <a:uFillTx/>
                <a:latin typeface="Noto Sans JP"/>
                <a:ea typeface="Noto Sans JP"/>
              </a:rPr>
              <a:t>  </a:t>
            </a:r>
            <a:r>
              <a:rPr lang="ja-JP" sz="1050" b="0" u="none" strike="noStrike">
                <a:solidFill>
                  <a:srgbClr val="808080"/>
                </a:solidFill>
                <a:effectLst/>
                <a:uFillTx/>
                <a:latin typeface="Noto Sans JP"/>
                <a:ea typeface="Noto Sans JP"/>
              </a:rPr>
              <a:t>／  </a:t>
            </a:r>
            <a:r>
              <a:rPr lang="en-US" sz="1050" b="0" u="none" strike="noStrike">
                <a:solidFill>
                  <a:srgbClr val="808080"/>
                </a:solidFill>
                <a:effectLst/>
                <a:uFillTx/>
                <a:latin typeface="Noto Sans JP"/>
                <a:ea typeface="Noto Sans JP"/>
                <a:hlinkClick r:id="rId7"/>
              </a:rPr>
              <a:t>20. Joachim 2021</a:t>
            </a:r>
            <a:endParaRPr lang="en-US" sz="1050" b="0" u="none" strike="noStrike">
              <a:solidFill>
                <a:srgbClr val="000000"/>
              </a:solidFill>
              <a:effectLst/>
              <a:uFillTx/>
              <a:latin typeface="Arial"/>
            </a:endParaRPr>
          </a:p>
        </p:txBody>
      </p:sp>
      <p:pic>
        <p:nvPicPr>
          <p:cNvPr id="541" name="Picture 8" descr="28_matrix.png"/>
          <p:cNvPicPr/>
          <p:nvPr/>
        </p:nvPicPr>
        <p:blipFill>
          <a:blip r:embed="rId8"/>
          <a:stretch/>
        </p:blipFill>
        <p:spPr>
          <a:xfrm>
            <a:off x="1386720" y="1463040"/>
            <a:ext cx="9417960" cy="5065560"/>
          </a:xfrm>
          <a:prstGeom prst="rect">
            <a:avLst/>
          </a:prstGeom>
          <a:noFill/>
          <a:ln w="0">
            <a:noFill/>
          </a:ln>
        </p:spPr>
      </p:pic>
      <p:sp>
        <p:nvSpPr>
          <p:cNvPr id="54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33/47</a:t>
            </a:r>
            <a:endParaRPr lang="en-US" sz="1200" b="0" u="none" strike="noStrike">
              <a:solidFill>
                <a:srgbClr val="000000"/>
              </a:solidFill>
              <a:effectLst/>
              <a:uFillTx/>
              <a:latin typeface="Arial"/>
            </a:endParaRPr>
          </a:p>
        </p:txBody>
      </p:sp>
      <p:sp>
        <p:nvSpPr>
          <p:cNvPr id="543" name="hc"/>
          <p:cNvSpPr/>
          <p:nvPr/>
        </p:nvSpPr>
        <p:spPr>
          <a:xfrm>
            <a:off x="2819880" y="1746000"/>
            <a:ext cx="4139640" cy="681480"/>
          </a:xfrm>
          <a:prstGeom prst="roundRect">
            <a:avLst>
              <a:gd name="adj" fmla="val 8000"/>
            </a:avLst>
          </a:prstGeom>
          <a:solidFill>
            <a:srgbClr val="4472C4"/>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FFFFFF"/>
                </a:solidFill>
                <a:effectLst/>
                <a:uFillTx/>
                <a:latin typeface="Noto Sans JP"/>
                <a:ea typeface="Noto Sans JP"/>
              </a:rPr>
              <a:t>慢性変化</a:t>
            </a:r>
            <a:endParaRPr lang="en-US" sz="2400" b="0" u="none" strike="noStrike">
              <a:solidFill>
                <a:srgbClr val="FFFFFF"/>
              </a:solidFill>
              <a:effectLst/>
              <a:uFillTx/>
              <a:latin typeface="Arial"/>
            </a:endParaRPr>
          </a:p>
          <a:p>
            <a:pPr algn="ctr" defTabSz="914400">
              <a:lnSpc>
                <a:spcPct val="100000"/>
              </a:lnSpc>
            </a:pPr>
            <a:r>
              <a:rPr lang="ja-JP" sz="1200" b="0" u="none" strike="noStrike">
                <a:solidFill>
                  <a:srgbClr val="FFFFFF"/>
                </a:solidFill>
                <a:effectLst/>
                <a:uFillTx/>
                <a:latin typeface="Noto Sans JP"/>
                <a:ea typeface="Noto Sans JP"/>
              </a:rPr>
              <a:t>血管加齢・大血管スティフネス／術前ベースライン</a:t>
            </a:r>
            <a:endParaRPr lang="en-US" sz="1200" b="0" u="none" strike="noStrike">
              <a:solidFill>
                <a:srgbClr val="FFFFFF"/>
              </a:solidFill>
              <a:effectLst/>
              <a:uFillTx/>
              <a:latin typeface="Arial"/>
            </a:endParaRPr>
          </a:p>
        </p:txBody>
      </p:sp>
      <p:sp>
        <p:nvSpPr>
          <p:cNvPr id="544" name="ha"/>
          <p:cNvSpPr/>
          <p:nvPr/>
        </p:nvSpPr>
        <p:spPr>
          <a:xfrm>
            <a:off x="7179840" y="1746000"/>
            <a:ext cx="4139640" cy="681480"/>
          </a:xfrm>
          <a:prstGeom prst="roundRect">
            <a:avLst>
              <a:gd name="adj" fmla="val 8000"/>
            </a:avLst>
          </a:prstGeom>
          <a:solidFill>
            <a:srgbClr val="ED7D31"/>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FFFFFF"/>
                </a:solidFill>
                <a:effectLst/>
                <a:uFillTx/>
                <a:latin typeface="Noto Sans JP"/>
                <a:ea typeface="Noto Sans JP"/>
              </a:rPr>
              <a:t>急性変化</a:t>
            </a:r>
            <a:endParaRPr lang="en-US" sz="2400" b="0" u="none" strike="noStrike">
              <a:solidFill>
                <a:srgbClr val="FFFFFF"/>
              </a:solidFill>
              <a:effectLst/>
              <a:uFillTx/>
              <a:latin typeface="Arial"/>
            </a:endParaRPr>
          </a:p>
          <a:p>
            <a:pPr algn="ctr" defTabSz="914400">
              <a:lnSpc>
                <a:spcPct val="100000"/>
              </a:lnSpc>
            </a:pPr>
            <a:r>
              <a:rPr lang="ja-JP" sz="1200" b="0" u="none" strike="noStrike">
                <a:solidFill>
                  <a:srgbClr val="FFFFFF"/>
                </a:solidFill>
                <a:effectLst/>
                <a:uFillTx/>
                <a:latin typeface="Noto Sans JP"/>
                <a:ea typeface="Noto Sans JP"/>
              </a:rPr>
              <a:t>血管トーヌス・</a:t>
            </a:r>
            <a:r>
              <a:rPr lang="en-US" sz="1200" b="0" u="none" strike="noStrike">
                <a:solidFill>
                  <a:srgbClr val="FFFFFF"/>
                </a:solidFill>
                <a:effectLst/>
                <a:uFillTx/>
                <a:latin typeface="Noto Sans JP"/>
                <a:ea typeface="Noto Sans JP"/>
              </a:rPr>
              <a:t>SVR</a:t>
            </a:r>
            <a:r>
              <a:rPr lang="ja-JP" sz="1200" b="0" u="none" strike="noStrike">
                <a:solidFill>
                  <a:srgbClr val="FFFFFF"/>
                </a:solidFill>
                <a:effectLst/>
                <a:uFillTx/>
                <a:latin typeface="Noto Sans JP"/>
                <a:ea typeface="Noto Sans JP"/>
              </a:rPr>
              <a:t>・前負荷／術中トレンド</a:t>
            </a:r>
            <a:endParaRPr lang="en-US" sz="1200" b="0" u="none" strike="noStrike">
              <a:solidFill>
                <a:srgbClr val="FFFFFF"/>
              </a:solidFill>
              <a:effectLst/>
              <a:uFillTx/>
              <a:latin typeface="Arial"/>
            </a:endParaRPr>
          </a:p>
        </p:txBody>
      </p:sp>
      <p:sp>
        <p:nvSpPr>
          <p:cNvPr id="545" name="l1"/>
          <p:cNvSpPr/>
          <p:nvPr/>
        </p:nvSpPr>
        <p:spPr>
          <a:xfrm>
            <a:off x="587160" y="2753640"/>
            <a:ext cx="1883160" cy="111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en-US" sz="2200" b="1" u="none" strike="noStrike">
                <a:solidFill>
                  <a:srgbClr val="262626"/>
                </a:solidFill>
                <a:effectLst/>
                <a:uFillTx/>
                <a:latin typeface="Noto Sans JP"/>
                <a:ea typeface="Noto Sans JP"/>
              </a:rPr>
              <a:t>①PPG</a:t>
            </a:r>
            <a:r>
              <a:rPr lang="ja-JP" sz="2200" b="1" u="none" strike="noStrike">
                <a:solidFill>
                  <a:srgbClr val="262626"/>
                </a:solidFill>
                <a:effectLst/>
                <a:uFillTx/>
                <a:latin typeface="Noto Sans JP"/>
                <a:ea typeface="Noto Sans JP"/>
              </a:rPr>
              <a:t>原波形</a:t>
            </a:r>
            <a:endParaRPr lang="en-US" sz="1800" b="0" u="none" strike="noStrike">
              <a:solidFill>
                <a:srgbClr val="000000"/>
              </a:solidFill>
              <a:effectLst/>
              <a:uFillTx/>
              <a:latin typeface="Arial"/>
            </a:endParaRPr>
          </a:p>
        </p:txBody>
      </p:sp>
      <p:sp>
        <p:nvSpPr>
          <p:cNvPr id="546" name="l2"/>
          <p:cNvSpPr/>
          <p:nvPr/>
        </p:nvSpPr>
        <p:spPr>
          <a:xfrm>
            <a:off x="587160" y="4259520"/>
            <a:ext cx="1883160" cy="60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en-US" sz="2200" b="1" u="none" strike="noStrike">
                <a:solidFill>
                  <a:srgbClr val="262626"/>
                </a:solidFill>
                <a:effectLst/>
                <a:uFillTx/>
                <a:latin typeface="Noto Sans JP"/>
                <a:ea typeface="Noto Sans JP"/>
              </a:rPr>
              <a:t>②SDPPG</a:t>
            </a:r>
            <a:endParaRPr lang="en-US" sz="1800" b="0" u="none" strike="noStrike">
              <a:solidFill>
                <a:srgbClr val="000000"/>
              </a:solidFill>
              <a:effectLst/>
              <a:uFillTx/>
              <a:latin typeface="Arial"/>
            </a:endParaRPr>
          </a:p>
        </p:txBody>
      </p:sp>
      <p:sp>
        <p:nvSpPr>
          <p:cNvPr id="547" name="l3"/>
          <p:cNvSpPr/>
          <p:nvPr/>
        </p:nvSpPr>
        <p:spPr>
          <a:xfrm>
            <a:off x="587160" y="5211720"/>
            <a:ext cx="1883160" cy="810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en-US" sz="2200" b="1" u="none" strike="noStrike">
                <a:solidFill>
                  <a:srgbClr val="262626"/>
                </a:solidFill>
                <a:effectLst/>
                <a:uFillTx/>
                <a:latin typeface="Noto Sans JP"/>
                <a:ea typeface="Noto Sans JP"/>
              </a:rPr>
              <a:t>③波形分析</a:t>
            </a:r>
            <a:endParaRPr lang="en-US" sz="1800" b="0" u="none" strike="noStrike">
              <a:solidFill>
                <a:srgbClr val="000000"/>
              </a:solidFill>
              <a:effectLst/>
              <a:uFillTx/>
              <a:latin typeface="Arial"/>
            </a:endParaRPr>
          </a:p>
        </p:txBody>
      </p:sp>
      <p:sp>
        <p:nvSpPr>
          <p:cNvPr id="548" name="c1"/>
          <p:cNvSpPr/>
          <p:nvPr/>
        </p:nvSpPr>
        <p:spPr>
          <a:xfrm>
            <a:off x="2819880" y="2629080"/>
            <a:ext cx="4139640" cy="1363320"/>
          </a:xfrm>
          <a:prstGeom prst="roundRect">
            <a:avLst>
              <a:gd name="adj" fmla="val 6000"/>
            </a:avLst>
          </a:prstGeom>
          <a:solidFill>
            <a:srgbClr val="DAE3F3"/>
          </a:solidFill>
          <a:ln w="9525">
            <a:solidFill>
              <a:srgbClr val="4472C4"/>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SI</a:t>
            </a:r>
            <a:r>
              <a:rPr lang="ja-JP" sz="1600" b="1" u="none" strike="noStrike">
                <a:solidFill>
                  <a:srgbClr val="262626"/>
                </a:solidFill>
                <a:effectLst/>
                <a:uFillTx/>
                <a:latin typeface="Noto Sans JP"/>
                <a:ea typeface="Noto Sans JP"/>
              </a:rPr>
              <a:t>＝身長</a:t>
            </a:r>
            <a:r>
              <a:rPr lang="en-US" sz="1600" b="1" u="none" strike="noStrike">
                <a:solidFill>
                  <a:srgbClr val="262626"/>
                </a:solidFill>
                <a:effectLst/>
                <a:uFillTx/>
                <a:latin typeface="Noto Sans JP"/>
                <a:ea typeface="Noto Sans JP"/>
              </a:rPr>
              <a:t>/ΔT</a:t>
            </a: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Millasseau</a:t>
            </a:r>
            <a:r>
              <a:rPr lang="ja-JP" sz="1600" b="1" u="none" strike="noStrike">
                <a:solidFill>
                  <a:srgbClr val="262626"/>
                </a:solidFill>
                <a:effectLst/>
                <a:uFillTx/>
                <a:latin typeface="Noto Sans JP"/>
                <a:ea typeface="Noto Sans JP"/>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AIx</a:t>
            </a: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(P2−P1)/P1</a:t>
            </a: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Takazawa</a:t>
            </a:r>
            <a:r>
              <a:rPr lang="ja-JP" sz="1600" b="1" u="none" strike="noStrike">
                <a:solidFill>
                  <a:srgbClr val="262626"/>
                </a:solidFill>
                <a:effectLst/>
                <a:uFillTx/>
                <a:latin typeface="Noto Sans JP"/>
                <a:ea typeface="Noto Sans JP"/>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Noto Sans JP"/>
                <a:ea typeface="Noto Sans JP"/>
              </a:rPr>
              <a:t>・収縮期上昇時間・立ち上がり傾き</a:t>
            </a:r>
            <a:endParaRPr lang="en-US" sz="1600" b="0" u="none" strike="noStrike">
              <a:solidFill>
                <a:srgbClr val="000000"/>
              </a:solidFill>
              <a:effectLst/>
              <a:uFillTx/>
              <a:latin typeface="Arial"/>
            </a:endParaRPr>
          </a:p>
        </p:txBody>
      </p:sp>
      <p:sp>
        <p:nvSpPr>
          <p:cNvPr id="549" name="c2"/>
          <p:cNvSpPr/>
          <p:nvPr/>
        </p:nvSpPr>
        <p:spPr>
          <a:xfrm>
            <a:off x="2819880" y="4194000"/>
            <a:ext cx="4139640" cy="738360"/>
          </a:xfrm>
          <a:prstGeom prst="roundRect">
            <a:avLst>
              <a:gd name="adj" fmla="val 8000"/>
            </a:avLst>
          </a:prstGeom>
          <a:solidFill>
            <a:srgbClr val="DAE3F3"/>
          </a:solidFill>
          <a:ln w="9525">
            <a:solidFill>
              <a:srgbClr val="4472C4"/>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b/a</a:t>
            </a:r>
            <a:r>
              <a:rPr lang="ja-JP" sz="1600" b="1" u="none" strike="noStrike">
                <a:solidFill>
                  <a:srgbClr val="262626"/>
                </a:solidFill>
                <a:effectLst/>
                <a:uFillTx/>
                <a:latin typeface="Noto Sans JP"/>
                <a:ea typeface="Noto Sans JP"/>
              </a:rPr>
              <a:t>・加齢指数</a:t>
            </a:r>
            <a:r>
              <a:rPr lang="en-US" sz="1600" b="1" u="none" strike="noStrike">
                <a:solidFill>
                  <a:srgbClr val="262626"/>
                </a:solidFill>
                <a:effectLst/>
                <a:uFillTx/>
                <a:latin typeface="Noto Sans JP"/>
                <a:ea typeface="Noto Sans JP"/>
              </a:rPr>
              <a:t>AGI</a:t>
            </a: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Takazawa</a:t>
            </a: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Bortolotto</a:t>
            </a:r>
            <a:r>
              <a:rPr lang="ja-JP" sz="1600" b="1" u="none" strike="noStrike">
                <a:solidFill>
                  <a:srgbClr val="262626"/>
                </a:solidFill>
                <a:effectLst/>
                <a:uFillTx/>
                <a:latin typeface="Noto Sans JP"/>
                <a:ea typeface="Noto Sans JP"/>
              </a:rPr>
              <a:t>）</a:t>
            </a:r>
            <a:endParaRPr lang="en-US" sz="1600" b="0" u="none" strike="noStrike">
              <a:solidFill>
                <a:srgbClr val="000000"/>
              </a:solidFill>
              <a:effectLst/>
              <a:uFillTx/>
              <a:latin typeface="Arial"/>
            </a:endParaRPr>
          </a:p>
        </p:txBody>
      </p:sp>
      <p:sp>
        <p:nvSpPr>
          <p:cNvPr id="550" name="c3"/>
          <p:cNvSpPr/>
          <p:nvPr/>
        </p:nvSpPr>
        <p:spPr>
          <a:xfrm>
            <a:off x="2819880" y="5133960"/>
            <a:ext cx="4139640" cy="965520"/>
          </a:xfrm>
          <a:prstGeom prst="roundRect">
            <a:avLst>
              <a:gd name="adj" fmla="val 7000"/>
            </a:avLst>
          </a:prstGeom>
          <a:solidFill>
            <a:srgbClr val="DAE3F3"/>
          </a:solidFill>
          <a:ln w="9525">
            <a:solidFill>
              <a:srgbClr val="4472C4"/>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Noto Sans JP"/>
                <a:ea typeface="Noto Sans JP"/>
              </a:rPr>
              <a:t>・反射波分離（</a:t>
            </a:r>
            <a:r>
              <a:rPr lang="en-US" sz="1600" b="1" u="none" strike="noStrike">
                <a:solidFill>
                  <a:srgbClr val="262626"/>
                </a:solidFill>
                <a:effectLst/>
                <a:uFillTx/>
                <a:latin typeface="Noto Sans JP"/>
                <a:ea typeface="Noto Sans JP"/>
              </a:rPr>
              <a:t>pulse decomposition</a:t>
            </a:r>
            <a:r>
              <a:rPr lang="ja-JP" sz="1600" b="1" u="none" strike="noStrike">
                <a:solidFill>
                  <a:srgbClr val="262626"/>
                </a:solidFill>
                <a:effectLst/>
                <a:uFillTx/>
                <a:latin typeface="Noto Sans JP"/>
                <a:ea typeface="Noto Sans JP"/>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PTT</a:t>
            </a: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PWV</a:t>
            </a: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ML</a:t>
            </a:r>
            <a:r>
              <a:rPr lang="ja-JP" sz="1600" b="1" u="none" strike="noStrike">
                <a:solidFill>
                  <a:srgbClr val="262626"/>
                </a:solidFill>
                <a:effectLst/>
                <a:uFillTx/>
                <a:latin typeface="Noto Sans JP"/>
                <a:ea typeface="Noto Sans JP"/>
              </a:rPr>
              <a:t>血管年齢</a:t>
            </a:r>
            <a:endParaRPr lang="en-US" sz="1600" b="0" u="none" strike="noStrike">
              <a:solidFill>
                <a:srgbClr val="000000"/>
              </a:solidFill>
              <a:effectLst/>
              <a:uFillTx/>
              <a:latin typeface="Arial"/>
            </a:endParaRPr>
          </a:p>
        </p:txBody>
      </p:sp>
      <p:sp>
        <p:nvSpPr>
          <p:cNvPr id="551" name="a1"/>
          <p:cNvSpPr/>
          <p:nvPr/>
        </p:nvSpPr>
        <p:spPr>
          <a:xfrm>
            <a:off x="7179120" y="2629080"/>
            <a:ext cx="4139640" cy="1363320"/>
          </a:xfrm>
          <a:prstGeom prst="roundRect">
            <a:avLst>
              <a:gd name="adj" fmla="val 6000"/>
            </a:avLst>
          </a:prstGeom>
          <a:solidFill>
            <a:srgbClr val="FCE4D6"/>
          </a:solidFill>
          <a:ln w="952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Noto Sans JP"/>
                <a:ea typeface="Noto Sans JP"/>
              </a:rPr>
              <a:t>・振幅・パルス幅（</a:t>
            </a:r>
            <a:r>
              <a:rPr lang="en-US" sz="1600" b="1" u="none" strike="noStrike">
                <a:solidFill>
                  <a:srgbClr val="262626"/>
                </a:solidFill>
                <a:effectLst/>
                <a:uFillTx/>
                <a:latin typeface="Noto Sans JP"/>
                <a:ea typeface="Noto Sans JP"/>
              </a:rPr>
              <a:t>Awad</a:t>
            </a:r>
            <a:r>
              <a:rPr lang="ja-JP" sz="1600" b="1" u="none" strike="noStrike">
                <a:solidFill>
                  <a:srgbClr val="262626"/>
                </a:solidFill>
                <a:effectLst/>
                <a:uFillTx/>
                <a:latin typeface="Noto Sans JP"/>
                <a:ea typeface="Noto Sans JP"/>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Noto Sans JP"/>
                <a:ea typeface="Noto Sans JP"/>
              </a:rPr>
              <a:t>・切痕位置（</a:t>
            </a:r>
            <a:r>
              <a:rPr lang="en-US" sz="1600" b="1" u="none" strike="noStrike">
                <a:solidFill>
                  <a:srgbClr val="262626"/>
                </a:solidFill>
                <a:effectLst/>
                <a:uFillTx/>
                <a:latin typeface="Noto Sans JP"/>
                <a:ea typeface="Noto Sans JP"/>
              </a:rPr>
              <a:t>Tusman</a:t>
            </a: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Politi</a:t>
            </a:r>
            <a:r>
              <a:rPr lang="ja-JP" sz="1600" b="1" u="none" strike="noStrike">
                <a:solidFill>
                  <a:srgbClr val="262626"/>
                </a:solidFill>
                <a:effectLst/>
                <a:uFillTx/>
                <a:latin typeface="Noto Sans JP"/>
                <a:ea typeface="Noto Sans JP"/>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Noto Sans JP"/>
                <a:ea typeface="Noto Sans JP"/>
              </a:rPr>
              <a:t>・反射指数</a:t>
            </a:r>
            <a:r>
              <a:rPr lang="en-US" sz="1600" b="1" u="none" strike="noStrike">
                <a:solidFill>
                  <a:srgbClr val="262626"/>
                </a:solidFill>
                <a:effectLst/>
                <a:uFillTx/>
                <a:latin typeface="Noto Sans JP"/>
                <a:ea typeface="Noto Sans JP"/>
              </a:rPr>
              <a:t>RI</a:t>
            </a: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Chowienczyk</a:t>
            </a:r>
            <a:r>
              <a:rPr lang="ja-JP" sz="1600" b="1" u="none" strike="noStrike">
                <a:solidFill>
                  <a:srgbClr val="262626"/>
                </a:solidFill>
                <a:effectLst/>
                <a:uFillTx/>
                <a:latin typeface="Noto Sans JP"/>
                <a:ea typeface="Noto Sans JP"/>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Noto Sans JP"/>
                <a:ea typeface="Noto Sans JP"/>
              </a:rPr>
              <a:t>・高さ・面積・幅↓（</a:t>
            </a:r>
            <a:r>
              <a:rPr lang="en-US" sz="1600" b="1" u="none" strike="noStrike">
                <a:solidFill>
                  <a:srgbClr val="262626"/>
                </a:solidFill>
                <a:effectLst/>
                <a:uFillTx/>
                <a:latin typeface="Noto Sans JP"/>
                <a:ea typeface="Noto Sans JP"/>
              </a:rPr>
              <a:t>Alian</a:t>
            </a:r>
            <a:r>
              <a:rPr lang="ja-JP" sz="1600" b="1" u="none" strike="noStrike">
                <a:solidFill>
                  <a:srgbClr val="262626"/>
                </a:solidFill>
                <a:effectLst/>
                <a:uFillTx/>
                <a:latin typeface="Noto Sans JP"/>
                <a:ea typeface="Noto Sans JP"/>
              </a:rPr>
              <a:t>）</a:t>
            </a:r>
            <a:endParaRPr lang="en-US" sz="1600" b="0" u="none" strike="noStrike">
              <a:solidFill>
                <a:srgbClr val="000000"/>
              </a:solidFill>
              <a:effectLst/>
              <a:uFillTx/>
              <a:latin typeface="Arial"/>
            </a:endParaRPr>
          </a:p>
        </p:txBody>
      </p:sp>
      <p:sp>
        <p:nvSpPr>
          <p:cNvPr id="552" name="a2"/>
          <p:cNvSpPr/>
          <p:nvPr/>
        </p:nvSpPr>
        <p:spPr>
          <a:xfrm>
            <a:off x="7179120" y="4194000"/>
            <a:ext cx="4139640" cy="738360"/>
          </a:xfrm>
          <a:prstGeom prst="roundRect">
            <a:avLst>
              <a:gd name="adj" fmla="val 8000"/>
            </a:avLst>
          </a:prstGeom>
          <a:solidFill>
            <a:srgbClr val="FCE4D6"/>
          </a:solidFill>
          <a:ln w="952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d/a</a:t>
            </a:r>
            <a:r>
              <a:rPr lang="ja-JP" sz="1600" b="1" u="none" strike="noStrike">
                <a:solidFill>
                  <a:srgbClr val="262626"/>
                </a:solidFill>
                <a:effectLst/>
                <a:uFillTx/>
                <a:latin typeface="Noto Sans JP"/>
                <a:ea typeface="Noto Sans JP"/>
              </a:rPr>
              <a:t>：昇圧薬↓・</a:t>
            </a:r>
            <a:r>
              <a:rPr lang="en-US" sz="1600" b="1" u="none" strike="noStrike">
                <a:solidFill>
                  <a:srgbClr val="262626"/>
                </a:solidFill>
                <a:effectLst/>
                <a:uFillTx/>
                <a:latin typeface="Noto Sans JP"/>
                <a:ea typeface="Noto Sans JP"/>
              </a:rPr>
              <a:t>NTG↑</a:t>
            </a: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Takazawa</a:t>
            </a: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Hashimoto</a:t>
            </a:r>
            <a:r>
              <a:rPr lang="ja-JP" sz="1600" b="1" u="none" strike="noStrike">
                <a:solidFill>
                  <a:srgbClr val="262626"/>
                </a:solidFill>
                <a:effectLst/>
                <a:uFillTx/>
                <a:latin typeface="Noto Sans JP"/>
                <a:ea typeface="Noto Sans JP"/>
              </a:rPr>
              <a:t>）</a:t>
            </a:r>
            <a:endParaRPr lang="en-US" sz="1600" b="0" u="none" strike="noStrike">
              <a:solidFill>
                <a:srgbClr val="000000"/>
              </a:solidFill>
              <a:effectLst/>
              <a:uFillTx/>
              <a:latin typeface="Arial"/>
            </a:endParaRPr>
          </a:p>
        </p:txBody>
      </p:sp>
      <p:sp>
        <p:nvSpPr>
          <p:cNvPr id="553" name="a3"/>
          <p:cNvSpPr/>
          <p:nvPr/>
        </p:nvSpPr>
        <p:spPr>
          <a:xfrm>
            <a:off x="7179120" y="5133960"/>
            <a:ext cx="4139640" cy="965520"/>
          </a:xfrm>
          <a:prstGeom prst="roundRect">
            <a:avLst>
              <a:gd name="adj" fmla="val 7000"/>
            </a:avLst>
          </a:prstGeom>
          <a:solidFill>
            <a:srgbClr val="FCE4D6"/>
          </a:solidFill>
          <a:ln w="952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Noto Sans JP"/>
                <a:ea typeface="Noto Sans JP"/>
              </a:rPr>
              <a:t>・切痕＋</a:t>
            </a:r>
            <a:r>
              <a:rPr lang="en-US" sz="1600" b="1" u="none" strike="noStrike">
                <a:solidFill>
                  <a:srgbClr val="262626"/>
                </a:solidFill>
                <a:effectLst/>
                <a:uFillTx/>
                <a:latin typeface="Noto Sans JP"/>
                <a:ea typeface="Noto Sans JP"/>
              </a:rPr>
              <a:t>PI → MAP</a:t>
            </a:r>
            <a:r>
              <a:rPr lang="ja-JP" sz="1600" b="1" u="none" strike="noStrike">
                <a:solidFill>
                  <a:srgbClr val="262626"/>
                </a:solidFill>
                <a:effectLst/>
                <a:uFillTx/>
                <a:latin typeface="Noto Sans JP"/>
                <a:ea typeface="Noto Sans JP"/>
              </a:rPr>
              <a:t>推定（</a:t>
            </a:r>
            <a:r>
              <a:rPr lang="en-US" sz="1600" b="1" u="none" strike="noStrike">
                <a:solidFill>
                  <a:srgbClr val="262626"/>
                </a:solidFill>
                <a:effectLst/>
                <a:uFillTx/>
                <a:latin typeface="Noto Sans JP"/>
                <a:ea typeface="Noto Sans JP"/>
              </a:rPr>
              <a:t>Joachim</a:t>
            </a:r>
            <a:r>
              <a:rPr lang="ja-JP" sz="1600" b="1" u="none" strike="noStrike">
                <a:solidFill>
                  <a:srgbClr val="262626"/>
                </a:solidFill>
                <a:effectLst/>
                <a:uFillTx/>
                <a:latin typeface="Noto Sans JP"/>
                <a:ea typeface="Noto Sans JP"/>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compensatory reserve</a:t>
            </a:r>
            <a:r>
              <a:rPr lang="ja-JP" sz="1600" b="1" u="none" strike="noStrike">
                <a:solidFill>
                  <a:srgbClr val="262626"/>
                </a:solidFill>
                <a:effectLst/>
                <a:uFillTx/>
                <a:latin typeface="Noto Sans JP"/>
                <a:ea typeface="Noto Sans JP"/>
              </a:rPr>
              <a:t>（</a:t>
            </a:r>
            <a:r>
              <a:rPr lang="en-US" sz="1600" b="1" u="none" strike="noStrike">
                <a:solidFill>
                  <a:srgbClr val="262626"/>
                </a:solidFill>
                <a:effectLst/>
                <a:uFillTx/>
                <a:latin typeface="Noto Sans JP"/>
                <a:ea typeface="Noto Sans JP"/>
              </a:rPr>
              <a:t>Convertino</a:t>
            </a:r>
            <a:r>
              <a:rPr lang="ja-JP" sz="1600" b="1" u="none" strike="noStrike">
                <a:solidFill>
                  <a:srgbClr val="262626"/>
                </a:solidFill>
                <a:effectLst/>
                <a:uFillTx/>
                <a:latin typeface="Noto Sans JP"/>
                <a:ea typeface="Noto Sans JP"/>
              </a:rPr>
              <a:t>）</a:t>
            </a:r>
            <a:endParaRPr lang="en-US" sz="16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 name="TitleFrame"/>
          <p:cNvSpPr/>
          <p:nvPr/>
        </p:nvSpPr>
        <p:spPr>
          <a:xfrm>
            <a:off x="655200" y="603504"/>
            <a:ext cx="2798064" cy="804672"/>
          </a:xfrm>
          <a:prstGeom prst="roundRect">
            <a:avLst>
              <a:gd name="adj" fmla="val 8000"/>
            </a:avLst>
          </a:prstGeom>
          <a:noFill/>
          <a:ln w="28575" cap="flat">
            <a:solidFill>
              <a:srgbClr val="44546A"/>
            </a:solidFill>
            <a:round/>
          </a:ln>
        </p:spPr>
        <p:txBody>
          <a:bodyPr rtlCol="0" anchor="ctr"/>
          <a:lstStyle/>
          <a:p>
            <a:endParaRPr lang="ja-JP"/>
          </a:p>
        </p:txBody>
      </p:sp>
      <p:sp>
        <p:nvSpPr>
          <p:cNvPr id="55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6. </a:t>
            </a:r>
            <a:r>
              <a:rPr lang="ja-JP" sz="4400" b="1" u="none" strike="noStrike">
                <a:ln w="19050">
                  <a:solidFill>
                    <a:srgbClr val="000000"/>
                  </a:solidFill>
                </a:ln>
                <a:solidFill>
                  <a:schemeClr val="accent4">
                    <a:lumMod val="75000"/>
                  </a:schemeClr>
                </a:solidFill>
                <a:effectLst/>
                <a:uFillTx/>
                <a:latin typeface="Noto Sans JP"/>
                <a:ea typeface="Noto Sans JP"/>
              </a:rPr>
              <a:t>限界</a:t>
            </a:r>
            <a:endParaRPr lang="en-US" sz="4600" b="1" u="none" strike="noStrike">
              <a:ln w="19050">
                <a:solidFill>
                  <a:srgbClr val="000000"/>
                </a:solidFill>
              </a:ln>
              <a:solidFill>
                <a:schemeClr val="accent4">
                  <a:lumMod val="75000"/>
                </a:schemeClr>
              </a:solidFill>
              <a:effectLst/>
              <a:uFillTx/>
              <a:latin typeface="Calibri"/>
            </a:endParaRPr>
          </a:p>
        </p:txBody>
      </p:sp>
      <p:sp>
        <p:nvSpPr>
          <p:cNvPr id="55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55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55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55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55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560" name="Off-page Connector 7"/>
          <p:cNvSpPr/>
          <p:nvPr/>
        </p:nvSpPr>
        <p:spPr>
          <a:xfrm>
            <a:off x="1085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6</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限界</a:t>
            </a:r>
            <a:endParaRPr lang="en-US" sz="1050" b="0" u="none" strike="noStrike">
              <a:solidFill>
                <a:srgbClr val="FFFFFF"/>
              </a:solidFill>
              <a:effectLst/>
              <a:uFillTx/>
              <a:latin typeface="Arial"/>
            </a:endParaRPr>
          </a:p>
        </p:txBody>
      </p:sp>
      <p:sp>
        <p:nvSpPr>
          <p:cNvPr id="56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562"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Noto Sans JP"/>
                <a:ea typeface="Noto Sans JP"/>
              </a:rPr>
              <a:t>1. </a:t>
            </a:r>
            <a:r>
              <a:rPr lang="ja-JP" sz="2400" b="0" u="none" strike="noStrike">
                <a:solidFill>
                  <a:srgbClr val="D9D9D9"/>
                </a:solidFill>
                <a:effectLst/>
                <a:uFillTx/>
                <a:latin typeface="Noto Sans JP"/>
                <a:ea typeface="Noto Sans JP"/>
              </a:rPr>
              <a:t>基礎：</a:t>
            </a:r>
            <a:r>
              <a:rPr lang="en-US" sz="2400" b="0" u="none" strike="noStrike">
                <a:solidFill>
                  <a:srgbClr val="D9D9D9"/>
                </a:solidFill>
                <a:effectLst/>
                <a:uFillTx/>
                <a:latin typeface="Noto Sans JP"/>
                <a:ea typeface="Noto Sans JP"/>
              </a:rPr>
              <a:t>PPG</a:t>
            </a:r>
            <a:r>
              <a:rPr lang="ja-JP" sz="2400" b="0" u="none" strike="noStrike">
                <a:solidFill>
                  <a:srgbClr val="D9D9D9"/>
                </a:solidFill>
                <a:effectLst/>
                <a:uFillTx/>
                <a:latin typeface="Noto Sans JP"/>
                <a:ea typeface="Noto Sans JP"/>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2. </a:t>
            </a:r>
            <a:r>
              <a:rPr lang="ja-JP" sz="2400" b="0" u="none" strike="noStrike">
                <a:solidFill>
                  <a:srgbClr val="D9D9D9"/>
                </a:solidFill>
                <a:effectLst/>
                <a:uFillTx/>
                <a:latin typeface="Noto Sans JP"/>
                <a:ea typeface="Noto Sans JP"/>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3. </a:t>
            </a:r>
            <a:r>
              <a:rPr lang="ja-JP" sz="2400" b="0" u="none" strike="noStrike">
                <a:solidFill>
                  <a:srgbClr val="D9D9D9"/>
                </a:solidFill>
                <a:effectLst/>
                <a:uFillTx/>
                <a:latin typeface="Noto Sans JP"/>
                <a:ea typeface="Noto Sans JP"/>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4. </a:t>
            </a:r>
            <a:r>
              <a:rPr lang="ja-JP" sz="2400" b="0" u="none" strike="noStrike">
                <a:solidFill>
                  <a:srgbClr val="D9D9D9"/>
                </a:solidFill>
                <a:effectLst/>
                <a:uFillTx/>
                <a:latin typeface="Noto Sans JP"/>
                <a:ea typeface="Noto Sans JP"/>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5. </a:t>
            </a:r>
            <a:r>
              <a:rPr lang="en-US" sz="2400" b="0" u="none" strike="noStrike">
                <a:solidFill>
                  <a:srgbClr val="D9D9D9"/>
                </a:solidFill>
                <a:effectLst/>
                <a:uFillTx/>
                <a:latin typeface="Noto Sans JP"/>
                <a:ea typeface="Noto Sans JP"/>
              </a:rPr>
              <a:t>SpO₂</a:t>
            </a:r>
            <a:r>
              <a:rPr lang="ja-JP" sz="2400" b="0" u="none" strike="noStrike">
                <a:solidFill>
                  <a:srgbClr val="D9D9D9"/>
                </a:solidFill>
                <a:effectLst/>
                <a:uFillTx/>
                <a:latin typeface="Noto Sans JP"/>
                <a:ea typeface="Noto Sans JP"/>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Noto Sans JP"/>
                <a:ea typeface="Noto Sans JP"/>
              </a:rPr>
              <a:t>6. </a:t>
            </a:r>
            <a:r>
              <a:rPr lang="ja-JP" sz="2600" b="1" u="none" strike="noStrike">
                <a:solidFill>
                  <a:srgbClr val="262626"/>
                </a:solidFill>
                <a:effectLst/>
                <a:uFillTx/>
                <a:latin typeface="Noto Sans JP"/>
                <a:ea typeface="Noto Sans JP"/>
              </a:rPr>
              <a:t>限界</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Noto Sans JP"/>
                <a:ea typeface="Noto Sans JP"/>
              </a:rPr>
              <a:t>6.1</a:t>
            </a:r>
            <a:r>
              <a:rPr lang="ja-JP" sz="2200" b="1" u="none" strike="noStrike">
                <a:solidFill>
                  <a:srgbClr val="BF9000"/>
                </a:solidFill>
                <a:effectLst/>
                <a:uFillTx/>
                <a:latin typeface="Noto Sans JP"/>
                <a:ea typeface="Noto Sans JP"/>
              </a:rPr>
              <a:t>　</a:t>
            </a:r>
            <a:r>
              <a:rPr lang="ja-JP" sz="2200" b="1" u="none" strike="noStrike">
                <a:solidFill>
                  <a:srgbClr val="262626"/>
                </a:solidFill>
                <a:effectLst/>
                <a:uFillTx/>
                <a:latin typeface="Noto Sans JP"/>
                <a:ea typeface="Noto Sans JP"/>
              </a:rPr>
              <a:t>本手法の限界</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7. </a:t>
            </a:r>
            <a:r>
              <a:rPr lang="en-US" sz="2400" b="0" u="none" strike="noStrike">
                <a:solidFill>
                  <a:srgbClr val="D9D9D9"/>
                </a:solidFill>
                <a:effectLst/>
                <a:uFillTx/>
                <a:latin typeface="Noto Sans JP"/>
                <a:ea typeface="Noto Sans JP"/>
              </a:rPr>
              <a:t>esCCO</a:t>
            </a:r>
            <a:r>
              <a:rPr lang="ja-JP" sz="2400" b="0" u="none" strike="noStrike">
                <a:solidFill>
                  <a:srgbClr val="D9D9D9"/>
                </a:solidFill>
                <a:effectLst/>
                <a:uFillTx/>
                <a:latin typeface="Noto Sans JP"/>
                <a:ea typeface="Noto Sans JP"/>
              </a:rPr>
              <a:t>精度改善案</a:t>
            </a:r>
            <a:endParaRPr lang="en-US" sz="2400" b="0" u="none" strike="noStrike">
              <a:solidFill>
                <a:srgbClr val="000000"/>
              </a:solidFill>
              <a:effectLst/>
              <a:uFillTx/>
              <a:latin typeface="Arial"/>
            </a:endParaRPr>
          </a:p>
        </p:txBody>
      </p:sp>
      <p:sp>
        <p:nvSpPr>
          <p:cNvPr id="563"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34/47</a:t>
            </a:r>
            <a:endParaRPr lang="en-US" sz="12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56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6.1  </a:t>
            </a:r>
            <a:r>
              <a:rPr lang="ja-JP" sz="4400" b="1" u="none" strike="noStrike">
                <a:ln w="19050">
                  <a:solidFill>
                    <a:srgbClr val="000000"/>
                  </a:solidFill>
                </a:ln>
                <a:solidFill>
                  <a:schemeClr val="accent4">
                    <a:lumMod val="75000"/>
                  </a:schemeClr>
                </a:solidFill>
                <a:effectLst/>
                <a:uFillTx/>
                <a:latin typeface="Noto Sans JP"/>
                <a:ea typeface="Noto Sans JP"/>
              </a:rPr>
              <a:t>本手法の限界</a:t>
            </a:r>
            <a:endParaRPr lang="en-US" sz="4600" b="1" u="none" strike="noStrike">
              <a:ln w="19050">
                <a:solidFill>
                  <a:srgbClr val="000000"/>
                </a:solidFill>
              </a:ln>
              <a:solidFill>
                <a:schemeClr val="accent4">
                  <a:lumMod val="75000"/>
                </a:schemeClr>
              </a:solidFill>
              <a:effectLst/>
              <a:uFillTx/>
              <a:latin typeface="Calibri"/>
            </a:endParaRPr>
          </a:p>
        </p:txBody>
      </p:sp>
      <p:sp>
        <p:nvSpPr>
          <p:cNvPr id="56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56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56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56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56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570" name="Off-page Connector 7"/>
          <p:cNvSpPr/>
          <p:nvPr/>
        </p:nvSpPr>
        <p:spPr>
          <a:xfrm>
            <a:off x="1085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6</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限界</a:t>
            </a:r>
            <a:endParaRPr lang="en-US" sz="1050" b="0" u="none" strike="noStrike">
              <a:solidFill>
                <a:srgbClr val="FFFFFF"/>
              </a:solidFill>
              <a:effectLst/>
              <a:uFillTx/>
              <a:latin typeface="Arial"/>
            </a:endParaRPr>
          </a:p>
        </p:txBody>
      </p:sp>
      <p:sp>
        <p:nvSpPr>
          <p:cNvPr id="57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pic>
        <p:nvPicPr>
          <p:cNvPr id="572" name="Picture 7" descr="24_limits.png"/>
          <p:cNvPicPr/>
          <p:nvPr/>
        </p:nvPicPr>
        <p:blipFill>
          <a:blip r:embed="rId3"/>
          <a:stretch/>
        </p:blipFill>
        <p:spPr>
          <a:xfrm>
            <a:off x="1425240" y="1774440"/>
            <a:ext cx="9316800" cy="4586400"/>
          </a:xfrm>
          <a:prstGeom prst="rect">
            <a:avLst/>
          </a:prstGeom>
          <a:noFill/>
          <a:ln w="0">
            <a:noFill/>
          </a:ln>
        </p:spPr>
      </p:pic>
      <p:sp>
        <p:nvSpPr>
          <p:cNvPr id="573"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35/47</a:t>
            </a:r>
            <a:endParaRPr lang="en-US" sz="1200" b="0" u="none" strike="noStrike">
              <a:solidFill>
                <a:srgbClr val="000000"/>
              </a:solidFill>
              <a:effectLst/>
              <a:uFillTx/>
              <a:latin typeface="Arial"/>
            </a:endParaRPr>
          </a:p>
        </p:txBody>
      </p:sp>
      <p:sp>
        <p:nvSpPr>
          <p:cNvPr id="574" name="Footnote"/>
          <p:cNvSpPr/>
          <p:nvPr/>
        </p:nvSpPr>
        <p:spPr>
          <a:xfrm>
            <a:off x="731520" y="6606000"/>
            <a:ext cx="999972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050" b="0" u="none" strike="noStrike">
                <a:solidFill>
                  <a:srgbClr val="808080"/>
                </a:solidFill>
                <a:effectLst/>
                <a:uFillTx/>
                <a:latin typeface="Noto Sans JP"/>
                <a:ea typeface="Noto Sans JP"/>
                <a:hlinkClick r:id="rId4"/>
              </a:rPr>
              <a:t>21. Middleton 2011</a:t>
            </a:r>
            <a:endParaRPr lang="en-US" sz="1050" b="0" u="none" strike="noStrike">
              <a:solidFill>
                <a:srgbClr val="000000"/>
              </a:solidFill>
              <a:effectLst/>
              <a:uFillTx/>
              <a:latin typeface="Arial"/>
            </a:endParaRPr>
          </a:p>
        </p:txBody>
      </p:sp>
      <p:sp>
        <p:nvSpPr>
          <p:cNvPr id="575" name="panel"/>
          <p:cNvSpPr/>
          <p:nvPr/>
        </p:nvSpPr>
        <p:spPr>
          <a:xfrm>
            <a:off x="1425240" y="1774440"/>
            <a:ext cx="9316800" cy="4586400"/>
          </a:xfrm>
          <a:prstGeom prst="roundRect">
            <a:avLst>
              <a:gd name="adj" fmla="val 3000"/>
            </a:avLst>
          </a:prstGeom>
          <a:solidFill>
            <a:srgbClr val="F4F4F4"/>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400" b="1" u="none" strike="noStrike">
                <a:solidFill>
                  <a:srgbClr val="262626"/>
                </a:solidFill>
                <a:effectLst/>
                <a:uFillTx/>
                <a:latin typeface="Noto Sans JP"/>
                <a:ea typeface="Noto Sans JP"/>
              </a:rPr>
              <a:t> </a:t>
            </a:r>
            <a:endParaRPr lang="en-US" sz="400" b="0" u="none" strike="noStrike">
              <a:solidFill>
                <a:srgbClr val="000000"/>
              </a:solidFill>
              <a:effectLst/>
              <a:uFillTx/>
              <a:latin typeface="Arial"/>
            </a:endParaRPr>
          </a:p>
        </p:txBody>
      </p:sp>
      <p:sp>
        <p:nvSpPr>
          <p:cNvPr id="576" name="b1"/>
          <p:cNvSpPr/>
          <p:nvPr/>
        </p:nvSpPr>
        <p:spPr>
          <a:xfrm>
            <a:off x="1798200" y="2279160"/>
            <a:ext cx="3912840" cy="1559160"/>
          </a:xfrm>
          <a:prstGeom prst="roundRect">
            <a:avLst>
              <a:gd name="adj" fmla="val 8000"/>
            </a:avLst>
          </a:prstGeom>
          <a:solidFill>
            <a:srgbClr val="FFFFFF"/>
          </a:solidFill>
          <a:ln w="15875">
            <a:solidFill>
              <a:srgbClr val="2E75B6"/>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500" b="1" u="none" strike="noStrike">
                <a:solidFill>
                  <a:srgbClr val="262626"/>
                </a:solidFill>
                <a:effectLst/>
                <a:uFillTx/>
                <a:latin typeface="Noto Sans JP"/>
                <a:ea typeface="Noto Sans JP"/>
              </a:rPr>
              <a:t> </a:t>
            </a:r>
            <a:endParaRPr lang="en-US" sz="500" b="0" u="none" strike="noStrike">
              <a:solidFill>
                <a:srgbClr val="000000"/>
              </a:solidFill>
              <a:effectLst/>
              <a:uFillTx/>
              <a:latin typeface="Arial"/>
            </a:endParaRPr>
          </a:p>
        </p:txBody>
      </p:sp>
      <p:sp>
        <p:nvSpPr>
          <p:cNvPr id="577" name="b1t"/>
          <p:cNvSpPr/>
          <p:nvPr/>
        </p:nvSpPr>
        <p:spPr>
          <a:xfrm>
            <a:off x="2170800" y="2508480"/>
            <a:ext cx="3353760" cy="44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400" b="1" u="none" strike="noStrike">
                <a:solidFill>
                  <a:srgbClr val="2E75B6"/>
                </a:solidFill>
                <a:effectLst/>
                <a:uFillTx/>
                <a:latin typeface="Noto Sans JP"/>
                <a:ea typeface="Noto Sans JP"/>
              </a:rPr>
              <a:t>検出の不安定性</a:t>
            </a:r>
            <a:endParaRPr lang="en-US" sz="2400" b="0" u="none" strike="noStrike">
              <a:solidFill>
                <a:srgbClr val="000000"/>
              </a:solidFill>
              <a:effectLst/>
              <a:uFillTx/>
              <a:latin typeface="Arial"/>
            </a:endParaRPr>
          </a:p>
        </p:txBody>
      </p:sp>
      <p:sp>
        <p:nvSpPr>
          <p:cNvPr id="578" name="b1b"/>
          <p:cNvSpPr/>
          <p:nvPr/>
        </p:nvSpPr>
        <p:spPr>
          <a:xfrm>
            <a:off x="2170800" y="3058920"/>
            <a:ext cx="3353760" cy="45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400" b="0" u="none" strike="noStrike">
                <a:solidFill>
                  <a:srgbClr val="262626"/>
                </a:solidFill>
                <a:effectLst/>
                <a:uFillTx/>
                <a:latin typeface="Noto Sans JP"/>
                <a:ea typeface="Noto Sans JP"/>
              </a:rPr>
              <a:t>DN-less </a:t>
            </a:r>
            <a:r>
              <a:rPr lang="ja-JP" sz="1400" b="0" u="none" strike="noStrike">
                <a:solidFill>
                  <a:srgbClr val="262626"/>
                </a:solidFill>
                <a:effectLst/>
                <a:uFillTx/>
                <a:latin typeface="Noto Sans JP"/>
                <a:ea typeface="Noto Sans JP"/>
              </a:rPr>
              <a:t>信号・過減衰で切痕が消える</a:t>
            </a:r>
            <a:endParaRPr lang="en-US" sz="1400" b="0" u="none" strike="noStrike">
              <a:solidFill>
                <a:srgbClr val="000000"/>
              </a:solidFill>
              <a:effectLst/>
              <a:uFillTx/>
              <a:latin typeface="Arial"/>
            </a:endParaRPr>
          </a:p>
        </p:txBody>
      </p:sp>
      <p:sp>
        <p:nvSpPr>
          <p:cNvPr id="579" name="b2"/>
          <p:cNvSpPr/>
          <p:nvPr/>
        </p:nvSpPr>
        <p:spPr>
          <a:xfrm>
            <a:off x="6456600" y="2279160"/>
            <a:ext cx="3912840" cy="1559160"/>
          </a:xfrm>
          <a:prstGeom prst="roundRect">
            <a:avLst>
              <a:gd name="adj" fmla="val 8000"/>
            </a:avLst>
          </a:prstGeom>
          <a:solidFill>
            <a:srgbClr val="FFFFFF"/>
          </a:solidFill>
          <a:ln w="15875">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500" b="1" u="none" strike="noStrike">
                <a:solidFill>
                  <a:srgbClr val="262626"/>
                </a:solidFill>
                <a:effectLst/>
                <a:uFillTx/>
                <a:latin typeface="Noto Sans JP"/>
                <a:ea typeface="Noto Sans JP"/>
              </a:rPr>
              <a:t> </a:t>
            </a:r>
            <a:endParaRPr lang="en-US" sz="500" b="0" u="none" strike="noStrike">
              <a:solidFill>
                <a:srgbClr val="000000"/>
              </a:solidFill>
              <a:effectLst/>
              <a:uFillTx/>
              <a:latin typeface="Arial"/>
            </a:endParaRPr>
          </a:p>
        </p:txBody>
      </p:sp>
      <p:sp>
        <p:nvSpPr>
          <p:cNvPr id="580" name="b2t"/>
          <p:cNvSpPr/>
          <p:nvPr/>
        </p:nvSpPr>
        <p:spPr>
          <a:xfrm>
            <a:off x="6829200" y="2508480"/>
            <a:ext cx="3353760" cy="44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400" b="1" u="none" strike="noStrike">
                <a:solidFill>
                  <a:srgbClr val="BF9000"/>
                </a:solidFill>
                <a:effectLst/>
                <a:uFillTx/>
                <a:latin typeface="Noto Sans JP"/>
                <a:ea typeface="Noto Sans JP"/>
              </a:rPr>
              <a:t>加齢交絡</a:t>
            </a:r>
            <a:endParaRPr lang="en-US" sz="2400" b="0" u="none" strike="noStrike">
              <a:solidFill>
                <a:srgbClr val="000000"/>
              </a:solidFill>
              <a:effectLst/>
              <a:uFillTx/>
              <a:latin typeface="Arial"/>
            </a:endParaRPr>
          </a:p>
        </p:txBody>
      </p:sp>
      <p:sp>
        <p:nvSpPr>
          <p:cNvPr id="581" name="b2b"/>
          <p:cNvSpPr/>
          <p:nvPr/>
        </p:nvSpPr>
        <p:spPr>
          <a:xfrm>
            <a:off x="6829200" y="3058920"/>
            <a:ext cx="3353760" cy="45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1400" b="0" u="none" strike="noStrike">
                <a:solidFill>
                  <a:srgbClr val="262626"/>
                </a:solidFill>
                <a:effectLst/>
                <a:uFillTx/>
                <a:latin typeface="Noto Sans JP"/>
                <a:ea typeface="Noto Sans JP"/>
              </a:rPr>
              <a:t>「いまの収縮」か「もとの硬さ」か</a:t>
            </a:r>
            <a:endParaRPr lang="en-US" sz="1400" b="0" u="none" strike="noStrike">
              <a:solidFill>
                <a:srgbClr val="000000"/>
              </a:solidFill>
              <a:effectLst/>
              <a:uFillTx/>
              <a:latin typeface="Arial"/>
            </a:endParaRPr>
          </a:p>
        </p:txBody>
      </p:sp>
      <p:sp>
        <p:nvSpPr>
          <p:cNvPr id="582" name="b3"/>
          <p:cNvSpPr/>
          <p:nvPr/>
        </p:nvSpPr>
        <p:spPr>
          <a:xfrm>
            <a:off x="4127400" y="4205520"/>
            <a:ext cx="3912840" cy="1742760"/>
          </a:xfrm>
          <a:prstGeom prst="roundRect">
            <a:avLst>
              <a:gd name="adj" fmla="val 8000"/>
            </a:avLst>
          </a:prstGeom>
          <a:solidFill>
            <a:srgbClr val="FFFFFF"/>
          </a:solidFill>
          <a:ln w="1587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400" b="1" u="none" strike="noStrike">
                <a:solidFill>
                  <a:srgbClr val="262626"/>
                </a:solidFill>
                <a:effectLst/>
                <a:uFillTx/>
                <a:latin typeface="Noto Sans JP"/>
                <a:ea typeface="Noto Sans JP"/>
              </a:rPr>
              <a:t> </a:t>
            </a:r>
            <a:endParaRPr lang="en-US" sz="400" b="0" u="none" strike="noStrike">
              <a:solidFill>
                <a:srgbClr val="000000"/>
              </a:solidFill>
              <a:effectLst/>
              <a:uFillTx/>
              <a:latin typeface="Arial"/>
            </a:endParaRPr>
          </a:p>
        </p:txBody>
      </p:sp>
      <p:sp>
        <p:nvSpPr>
          <p:cNvPr id="583" name="b3t"/>
          <p:cNvSpPr/>
          <p:nvPr/>
        </p:nvSpPr>
        <p:spPr>
          <a:xfrm>
            <a:off x="4500000" y="4434840"/>
            <a:ext cx="3353760" cy="44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400" b="1" u="none" strike="noStrike">
                <a:solidFill>
                  <a:srgbClr val="ED7D31"/>
                </a:solidFill>
                <a:effectLst/>
                <a:uFillTx/>
                <a:latin typeface="Noto Sans JP"/>
                <a:ea typeface="Noto Sans JP"/>
              </a:rPr>
              <a:t>局所か全身か</a:t>
            </a:r>
            <a:endParaRPr lang="en-US" sz="2400" b="0" u="none" strike="noStrike">
              <a:solidFill>
                <a:srgbClr val="000000"/>
              </a:solidFill>
              <a:effectLst/>
              <a:uFillTx/>
              <a:latin typeface="Arial"/>
            </a:endParaRPr>
          </a:p>
        </p:txBody>
      </p:sp>
      <p:sp>
        <p:nvSpPr>
          <p:cNvPr id="584" name="b3b"/>
          <p:cNvSpPr/>
          <p:nvPr/>
        </p:nvSpPr>
        <p:spPr>
          <a:xfrm>
            <a:off x="4500000" y="4985280"/>
            <a:ext cx="3353760" cy="320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1400" b="0" u="none" strike="noStrike">
                <a:solidFill>
                  <a:srgbClr val="262626"/>
                </a:solidFill>
                <a:effectLst/>
                <a:uFillTx/>
                <a:latin typeface="Noto Sans JP"/>
                <a:ea typeface="Noto Sans JP"/>
              </a:rPr>
              <a:t>指の切痕＝局所トーヌス？ 全身</a:t>
            </a:r>
            <a:r>
              <a:rPr lang="en-US" sz="1400" b="0" u="none" strike="noStrike">
                <a:solidFill>
                  <a:srgbClr val="262626"/>
                </a:solidFill>
                <a:effectLst/>
                <a:uFillTx/>
                <a:latin typeface="Noto Sans JP"/>
                <a:ea typeface="Noto Sans JP"/>
              </a:rPr>
              <a:t>SVR</a:t>
            </a:r>
            <a:r>
              <a:rPr lang="ja-JP" sz="1400" b="0" u="none" strike="noStrike">
                <a:solidFill>
                  <a:srgbClr val="262626"/>
                </a:solidFill>
                <a:effectLst/>
                <a:uFillTx/>
                <a:latin typeface="Noto Sans JP"/>
                <a:ea typeface="Noto Sans JP"/>
              </a:rPr>
              <a:t>？</a:t>
            </a:r>
            <a:endParaRPr lang="en-US" sz="1400" b="0" u="none" strike="noStrike">
              <a:solidFill>
                <a:srgbClr val="000000"/>
              </a:solidFill>
              <a:effectLst/>
              <a:uFillTx/>
              <a:latin typeface="Arial"/>
            </a:endParaRPr>
          </a:p>
        </p:txBody>
      </p:sp>
      <p:sp>
        <p:nvSpPr>
          <p:cNvPr id="585" name="TextBox 579"/>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Noto Sans JP"/>
                <a:ea typeface="Noto Sans JP"/>
              </a:rPr>
              <a:t>DN</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dicrotic notch</a:t>
            </a:r>
            <a:r>
              <a:rPr lang="ja-JP" sz="1050" b="0" u="none" strike="noStrike">
                <a:solidFill>
                  <a:srgbClr val="808080"/>
                </a:solidFill>
                <a:effectLst/>
                <a:uFillTx/>
                <a:latin typeface="Noto Sans JP"/>
                <a:ea typeface="Noto Sans JP"/>
              </a:rPr>
              <a:t>（重複切痕）　／　</a:t>
            </a:r>
            <a:r>
              <a:rPr lang="en-US" sz="1050" b="0" u="none" strike="noStrike">
                <a:solidFill>
                  <a:srgbClr val="808080"/>
                </a:solidFill>
                <a:effectLst/>
                <a:uFillTx/>
                <a:latin typeface="Noto Sans JP"/>
                <a:ea typeface="Noto Sans JP"/>
              </a:rPr>
              <a:t>DN-less</a:t>
            </a:r>
            <a:r>
              <a:rPr lang="ja-JP" sz="1050" b="0" u="none" strike="noStrike">
                <a:solidFill>
                  <a:srgbClr val="808080"/>
                </a:solidFill>
                <a:effectLst/>
                <a:uFillTx/>
                <a:latin typeface="Noto Sans JP"/>
                <a:ea typeface="Noto Sans JP"/>
              </a:rPr>
              <a:t>：切痕が消失した波形</a:t>
            </a:r>
            <a:endParaRPr lang="en-US" sz="105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5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6.2  限界への対応</a:t>
            </a:r>
            <a:endParaRPr lang="en-US" sz="4600" b="1" u="none" strike="noStrike">
              <a:ln w="19050">
                <a:solidFill>
                  <a:srgbClr val="000000"/>
                </a:solidFill>
              </a:ln>
              <a:solidFill>
                <a:schemeClr val="accent4">
                  <a:lumMod val="75000"/>
                </a:schemeClr>
              </a:solidFill>
              <a:effectLst/>
              <a:uFillTx/>
              <a:latin typeface="Calibri"/>
            </a:endParaRPr>
          </a:p>
        </p:txBody>
      </p:sp>
      <p:sp>
        <p:nvSpPr>
          <p:cNvPr id="58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58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589"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59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59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592" name="Off-page Connector 7"/>
          <p:cNvSpPr/>
          <p:nvPr/>
        </p:nvSpPr>
        <p:spPr>
          <a:xfrm>
            <a:off x="1085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6</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Noto Sans JP"/>
                <a:ea typeface="Noto Sans JP"/>
              </a:rPr>
              <a:t>限界</a:t>
            </a:r>
            <a:endParaRPr lang="en-US" sz="1050" b="0" u="none" strike="noStrike">
              <a:solidFill>
                <a:srgbClr val="FFFFFF"/>
              </a:solidFill>
              <a:effectLst/>
              <a:uFillTx/>
              <a:latin typeface="Arial"/>
            </a:endParaRPr>
          </a:p>
        </p:txBody>
      </p:sp>
      <p:sp>
        <p:nvSpPr>
          <p:cNvPr id="59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pic>
        <p:nvPicPr>
          <p:cNvPr id="594" name="Picture 7" descr="24_limits.png"/>
          <p:cNvPicPr/>
          <p:nvPr/>
        </p:nvPicPr>
        <p:blipFill>
          <a:blip r:embed="rId2"/>
          <a:stretch/>
        </p:blipFill>
        <p:spPr>
          <a:xfrm>
            <a:off x="1425240" y="1774440"/>
            <a:ext cx="9316800" cy="4586400"/>
          </a:xfrm>
          <a:prstGeom prst="rect">
            <a:avLst/>
          </a:prstGeom>
          <a:noFill/>
          <a:ln w="0">
            <a:noFill/>
          </a:ln>
        </p:spPr>
      </p:pic>
      <p:sp>
        <p:nvSpPr>
          <p:cNvPr id="595"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36/47</a:t>
            </a:r>
            <a:endParaRPr lang="en-US" sz="1200" b="0" u="none" strike="noStrike">
              <a:solidFill>
                <a:srgbClr val="000000"/>
              </a:solidFill>
              <a:effectLst/>
              <a:uFillTx/>
              <a:latin typeface="Arial"/>
            </a:endParaRPr>
          </a:p>
        </p:txBody>
      </p:sp>
      <p:sp>
        <p:nvSpPr>
          <p:cNvPr id="596" name="Footnote"/>
          <p:cNvSpPr/>
          <p:nvPr/>
        </p:nvSpPr>
        <p:spPr>
          <a:xfrm>
            <a:off x="731520" y="6606000"/>
            <a:ext cx="999972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050" b="0" u="none" strike="noStrike">
                <a:solidFill>
                  <a:srgbClr val="808080"/>
                </a:solidFill>
                <a:effectLst/>
                <a:uFillTx/>
                <a:latin typeface="Noto Sans JP"/>
                <a:ea typeface="Noto Sans JP"/>
                <a:hlinkClick r:id="rId3"/>
              </a:rPr>
              <a:t>11. Couceiro 2012  ／  16. Takazawa 1998  ／  21. Middleton 2011  ／  22. Elgendi 2012</a:t>
            </a:r>
            <a:endParaRPr lang="en-US" sz="1050" b="0" u="none" strike="noStrike">
              <a:solidFill>
                <a:srgbClr val="000000"/>
              </a:solidFill>
              <a:effectLst/>
              <a:uFillTx/>
              <a:latin typeface="Arial"/>
            </a:endParaRPr>
          </a:p>
        </p:txBody>
      </p:sp>
      <p:sp>
        <p:nvSpPr>
          <p:cNvPr id="597" name="panel"/>
          <p:cNvSpPr/>
          <p:nvPr/>
        </p:nvSpPr>
        <p:spPr>
          <a:xfrm>
            <a:off x="1425240" y="1774440"/>
            <a:ext cx="9316800" cy="4586400"/>
          </a:xfrm>
          <a:prstGeom prst="roundRect">
            <a:avLst>
              <a:gd name="adj" fmla="val 3000"/>
            </a:avLst>
          </a:prstGeom>
          <a:solidFill>
            <a:srgbClr val="F4F4F4"/>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400" b="1" u="none" strike="noStrike">
                <a:solidFill>
                  <a:srgbClr val="262626"/>
                </a:solidFill>
                <a:effectLst/>
                <a:uFillTx/>
                <a:latin typeface="Noto Sans JP"/>
                <a:ea typeface="Noto Sans JP"/>
              </a:rPr>
              <a:t> </a:t>
            </a:r>
            <a:endParaRPr lang="en-US" sz="400" b="0" u="none" strike="noStrike">
              <a:solidFill>
                <a:srgbClr val="000000"/>
              </a:solidFill>
              <a:effectLst/>
              <a:uFillTx/>
              <a:latin typeface="Arial"/>
            </a:endParaRPr>
          </a:p>
        </p:txBody>
      </p:sp>
      <p:sp>
        <p:nvSpPr>
          <p:cNvPr id="598" name="Rounded Rectangle 570"/>
          <p:cNvSpPr/>
          <p:nvPr/>
        </p:nvSpPr>
        <p:spPr>
          <a:xfrm>
            <a:off x="1700640" y="1965960"/>
            <a:ext cx="2891520" cy="3977280"/>
          </a:xfrm>
          <a:prstGeom prst="roundRect">
            <a:avLst>
              <a:gd name="adj" fmla="val 5000"/>
            </a:avLst>
          </a:prstGeom>
          <a:solidFill>
            <a:srgbClr val="FFFFFF"/>
          </a:solidFill>
          <a:ln w="15875">
            <a:solidFill>
              <a:srgbClr val="2E75B6"/>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201"/>
              </a:spcAft>
            </a:pPr>
            <a:r>
              <a:rPr lang="ja-JP" sz="2400" b="1" u="none" strike="noStrike">
                <a:solidFill>
                  <a:srgbClr val="2E75B6"/>
                </a:solidFill>
                <a:effectLst/>
                <a:uFillTx/>
                <a:latin typeface="Noto Sans JP"/>
                <a:ea typeface="Noto Sans JP"/>
              </a:rPr>
              <a:t>検出の不安定性</a:t>
            </a:r>
            <a:endParaRPr lang="en-US" sz="2400" b="0" u="none" strike="noStrike">
              <a:solidFill>
                <a:srgbClr val="000000"/>
              </a:solidFill>
              <a:effectLst/>
              <a:uFillTx/>
              <a:latin typeface="Arial"/>
            </a:endParaRPr>
          </a:p>
          <a:p>
            <a:pPr defTabSz="914400">
              <a:lnSpc>
                <a:spcPct val="100000"/>
              </a:lnSpc>
              <a:spcAft>
                <a:spcPts val="601"/>
              </a:spcAft>
            </a:pPr>
            <a:r>
              <a:rPr lang="en-US" sz="2200" b="0" u="none" strike="noStrike">
                <a:solidFill>
                  <a:srgbClr val="808080"/>
                </a:solidFill>
                <a:effectLst/>
                <a:uFillTx/>
                <a:latin typeface="Noto Sans JP"/>
                <a:ea typeface="Noto Sans JP"/>
              </a:rPr>
              <a:t>DN-less</a:t>
            </a:r>
            <a:r>
              <a:rPr lang="ja-JP" sz="2200" b="0" u="none" strike="noStrike">
                <a:solidFill>
                  <a:srgbClr val="808080"/>
                </a:solidFill>
                <a:effectLst/>
                <a:uFillTx/>
                <a:latin typeface="Noto Sans JP"/>
                <a:ea typeface="Noto Sans JP"/>
              </a:rPr>
              <a:t>・過減衰で切痕消失</a:t>
            </a:r>
            <a:endParaRPr lang="en-US" sz="1400" b="0" u="none" strike="noStrike">
              <a:solidFill>
                <a:srgbClr val="000000"/>
              </a:solidFill>
              <a:effectLst/>
              <a:uFillTx/>
              <a:latin typeface="Arial"/>
            </a:endParaRPr>
          </a:p>
          <a:p>
            <a:pPr defTabSz="914400">
              <a:lnSpc>
                <a:spcPct val="100000"/>
              </a:lnSpc>
              <a:spcAft>
                <a:spcPts val="601"/>
              </a:spcAft>
            </a:pPr>
            <a:endParaRPr lang="en-US" sz="1400" b="0" u="none" strike="noStrike">
              <a:solidFill>
                <a:srgbClr val="000000"/>
              </a:solidFill>
              <a:effectLst/>
              <a:uFillTx/>
              <a:latin typeface="Arial"/>
            </a:endParaRPr>
          </a:p>
          <a:p>
            <a:pPr defTabSz="914400">
              <a:lnSpc>
                <a:spcPct val="100000"/>
              </a:lnSpc>
              <a:spcAft>
                <a:spcPts val="400"/>
              </a:spcAft>
            </a:pPr>
            <a:r>
              <a:rPr lang="en-US" sz="2200" b="1" u="none" strike="noStrike">
                <a:solidFill>
                  <a:srgbClr val="2E75B6"/>
                </a:solidFill>
                <a:effectLst/>
                <a:uFillTx/>
                <a:latin typeface="Noto Sans JP"/>
                <a:ea typeface="Noto Sans JP"/>
              </a:rPr>
              <a:t>→ 対策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Noto Sans JP"/>
                <a:ea typeface="Noto Sans JP"/>
              </a:rPr>
              <a:t>・</a:t>
            </a:r>
            <a:r>
              <a:rPr lang="en-US" sz="2200" b="0" u="none" strike="noStrike">
                <a:solidFill>
                  <a:srgbClr val="262626"/>
                </a:solidFill>
                <a:effectLst/>
                <a:uFillTx/>
                <a:latin typeface="Noto Sans JP"/>
                <a:ea typeface="Noto Sans JP"/>
              </a:rPr>
              <a:t>SDPPG </a:t>
            </a:r>
            <a:r>
              <a:rPr lang="ja-JP" sz="2200" b="0" u="none" strike="noStrike">
                <a:solidFill>
                  <a:srgbClr val="262626"/>
                </a:solidFill>
                <a:effectLst/>
                <a:uFillTx/>
                <a:latin typeface="Noto Sans JP"/>
                <a:ea typeface="Noto Sans JP"/>
              </a:rPr>
              <a:t>で検出</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Noto Sans JP"/>
                <a:ea typeface="Noto Sans JP"/>
              </a:rPr>
              <a:t>・低品質拍を除外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Noto Sans JP"/>
                <a:ea typeface="Noto Sans JP"/>
              </a:rPr>
              <a:t>・変曲点を同定</a:t>
            </a:r>
            <a:endParaRPr lang="en-US" sz="2000" b="0" u="none" strike="noStrike">
              <a:solidFill>
                <a:srgbClr val="000000"/>
              </a:solidFill>
              <a:effectLst/>
              <a:uFillTx/>
              <a:latin typeface="Arial"/>
            </a:endParaRPr>
          </a:p>
          <a:p>
            <a:pPr defTabSz="914400">
              <a:lnSpc>
                <a:spcPct val="100000"/>
              </a:lnSpc>
            </a:pPr>
            <a:r>
              <a:rPr lang="en-US" sz="1100" b="0" u="none" strike="noStrike">
                <a:solidFill>
                  <a:srgbClr val="808080"/>
                </a:solidFill>
                <a:effectLst/>
                <a:uFillTx/>
                <a:latin typeface="Noto Sans JP"/>
                <a:ea typeface="Noto Sans JP"/>
              </a:rPr>
              <a:t>(Takazawa 1998 </a:t>
            </a:r>
            <a:r>
              <a:rPr lang="ja-JP" sz="1100" b="0" u="none" strike="noStrike">
                <a:solidFill>
                  <a:srgbClr val="808080"/>
                </a:solidFill>
                <a:effectLst/>
                <a:uFillTx/>
                <a:latin typeface="Noto Sans JP"/>
                <a:ea typeface="Noto Sans JP"/>
              </a:rPr>
              <a:t>他</a:t>
            </a:r>
            <a:r>
              <a:rPr lang="en-US" sz="1100" b="0" u="none" strike="noStrike">
                <a:solidFill>
                  <a:srgbClr val="808080"/>
                </a:solidFill>
                <a:effectLst/>
                <a:uFillTx/>
                <a:latin typeface="Noto Sans JP"/>
                <a:ea typeface="Noto Sans JP"/>
              </a:rPr>
              <a:t>)</a:t>
            </a:r>
            <a:endParaRPr lang="en-US" sz="1100" b="0" u="none" strike="noStrike">
              <a:solidFill>
                <a:srgbClr val="000000"/>
              </a:solidFill>
              <a:effectLst/>
              <a:uFillTx/>
              <a:latin typeface="Arial"/>
            </a:endParaRPr>
          </a:p>
        </p:txBody>
      </p:sp>
      <p:sp>
        <p:nvSpPr>
          <p:cNvPr id="599" name="Rounded Rectangle 571"/>
          <p:cNvSpPr/>
          <p:nvPr/>
        </p:nvSpPr>
        <p:spPr>
          <a:xfrm>
            <a:off x="4700160" y="1965960"/>
            <a:ext cx="2891160" cy="3977280"/>
          </a:xfrm>
          <a:prstGeom prst="roundRect">
            <a:avLst>
              <a:gd name="adj" fmla="val 5000"/>
            </a:avLst>
          </a:prstGeom>
          <a:solidFill>
            <a:srgbClr val="FFFFFF"/>
          </a:solidFill>
          <a:ln w="15875">
            <a:solidFill>
              <a:srgbClr val="BF9000"/>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201"/>
              </a:spcAft>
            </a:pPr>
            <a:r>
              <a:rPr lang="ja-JP" sz="2400" b="1" u="none" strike="noStrike">
                <a:solidFill>
                  <a:srgbClr val="BF9000"/>
                </a:solidFill>
                <a:effectLst/>
                <a:uFillTx/>
                <a:latin typeface="Noto Sans JP"/>
                <a:ea typeface="Noto Sans JP"/>
              </a:rPr>
              <a:t>加齢交絡</a:t>
            </a:r>
            <a:endParaRPr lang="en-US" sz="2400" b="0" u="none" strike="noStrike">
              <a:solidFill>
                <a:srgbClr val="000000"/>
              </a:solidFill>
              <a:effectLst/>
              <a:uFillTx/>
              <a:latin typeface="Arial"/>
            </a:endParaRPr>
          </a:p>
          <a:p>
            <a:pPr defTabSz="914400">
              <a:lnSpc>
                <a:spcPct val="100000"/>
              </a:lnSpc>
              <a:spcAft>
                <a:spcPts val="601"/>
              </a:spcAft>
            </a:pPr>
            <a:r>
              <a:rPr lang="ja-JP" sz="2200" b="0" u="none" strike="noStrike">
                <a:solidFill>
                  <a:srgbClr val="808080"/>
                </a:solidFill>
                <a:effectLst/>
                <a:uFillTx/>
                <a:latin typeface="Noto Sans JP"/>
                <a:ea typeface="Noto Sans JP"/>
              </a:rPr>
              <a:t>今の収縮か元の硬さか</a:t>
            </a:r>
            <a:endParaRPr lang="en-US" sz="1400" b="0" u="none" strike="noStrike">
              <a:solidFill>
                <a:srgbClr val="000000"/>
              </a:solidFill>
              <a:effectLst/>
              <a:uFillTx/>
              <a:latin typeface="Arial"/>
            </a:endParaRPr>
          </a:p>
          <a:p>
            <a:pPr defTabSz="914400">
              <a:lnSpc>
                <a:spcPct val="100000"/>
              </a:lnSpc>
              <a:spcAft>
                <a:spcPts val="601"/>
              </a:spcAft>
            </a:pPr>
            <a:endParaRPr lang="en-US" sz="1400" b="0" u="none" strike="noStrike">
              <a:solidFill>
                <a:srgbClr val="000000"/>
              </a:solidFill>
              <a:effectLst/>
              <a:uFillTx/>
              <a:latin typeface="Arial"/>
            </a:endParaRPr>
          </a:p>
          <a:p>
            <a:pPr defTabSz="914400">
              <a:lnSpc>
                <a:spcPct val="100000"/>
              </a:lnSpc>
              <a:spcAft>
                <a:spcPts val="400"/>
              </a:spcAft>
            </a:pPr>
            <a:r>
              <a:rPr lang="en-US" sz="2200" b="1" u="none" strike="noStrike">
                <a:solidFill>
                  <a:srgbClr val="BF9000"/>
                </a:solidFill>
                <a:effectLst/>
                <a:uFillTx/>
                <a:latin typeface="Noto Sans JP"/>
                <a:ea typeface="Noto Sans JP"/>
              </a:rPr>
              <a:t>→ 対策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Noto Sans JP"/>
                <a:ea typeface="Noto Sans JP"/>
              </a:rPr>
              <a:t>・自己基準で監視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Noto Sans JP"/>
                <a:ea typeface="Noto Sans JP"/>
              </a:rPr>
              <a:t>・年齢・</a:t>
            </a:r>
            <a:r>
              <a:rPr lang="en-US" sz="2200" b="0" u="none" strike="noStrike">
                <a:solidFill>
                  <a:srgbClr val="262626"/>
                </a:solidFill>
                <a:effectLst/>
                <a:uFillTx/>
                <a:latin typeface="Noto Sans JP"/>
                <a:ea typeface="Noto Sans JP"/>
              </a:rPr>
              <a:t>HR </a:t>
            </a:r>
            <a:r>
              <a:rPr lang="ja-JP" sz="2200" b="0" u="none" strike="noStrike">
                <a:solidFill>
                  <a:srgbClr val="262626"/>
                </a:solidFill>
                <a:effectLst/>
                <a:uFillTx/>
                <a:latin typeface="Noto Sans JP"/>
                <a:ea typeface="Noto Sans JP"/>
              </a:rPr>
              <a:t>で補正</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Noto Sans JP"/>
                <a:ea typeface="Noto Sans JP"/>
              </a:rPr>
              <a:t>・急性</a:t>
            </a:r>
            <a:r>
              <a:rPr lang="en-US" sz="2200" b="0" u="none" strike="noStrike">
                <a:solidFill>
                  <a:srgbClr val="262626"/>
                </a:solidFill>
                <a:effectLst/>
                <a:uFillTx/>
                <a:latin typeface="Noto Sans JP"/>
                <a:ea typeface="Noto Sans JP"/>
              </a:rPr>
              <a:t>/</a:t>
            </a:r>
            <a:r>
              <a:rPr lang="ja-JP" sz="2200" b="0" u="none" strike="noStrike">
                <a:solidFill>
                  <a:srgbClr val="262626"/>
                </a:solidFill>
                <a:effectLst/>
                <a:uFillTx/>
                <a:latin typeface="Noto Sans JP"/>
                <a:ea typeface="Noto Sans JP"/>
              </a:rPr>
              <a:t>慢性を区別</a:t>
            </a:r>
            <a:endParaRPr lang="en-US" sz="2000" b="0" u="none" strike="noStrike">
              <a:solidFill>
                <a:srgbClr val="000000"/>
              </a:solidFill>
              <a:effectLst/>
              <a:uFillTx/>
              <a:latin typeface="Arial"/>
            </a:endParaRPr>
          </a:p>
          <a:p>
            <a:pPr defTabSz="914400">
              <a:lnSpc>
                <a:spcPct val="100000"/>
              </a:lnSpc>
            </a:pPr>
            <a:r>
              <a:rPr lang="en-US" sz="1100" b="0" u="none" strike="noStrike">
                <a:solidFill>
                  <a:srgbClr val="808080"/>
                </a:solidFill>
                <a:effectLst/>
                <a:uFillTx/>
                <a:latin typeface="Noto Sans JP"/>
                <a:ea typeface="Noto Sans JP"/>
              </a:rPr>
              <a:t>(Wilkinson 2000 </a:t>
            </a:r>
            <a:r>
              <a:rPr lang="ja-JP" sz="1100" b="0" u="none" strike="noStrike">
                <a:solidFill>
                  <a:srgbClr val="808080"/>
                </a:solidFill>
                <a:effectLst/>
                <a:uFillTx/>
                <a:latin typeface="Noto Sans JP"/>
                <a:ea typeface="Noto Sans JP"/>
              </a:rPr>
              <a:t>他</a:t>
            </a:r>
            <a:r>
              <a:rPr lang="en-US" sz="1100" b="0" u="none" strike="noStrike">
                <a:solidFill>
                  <a:srgbClr val="808080"/>
                </a:solidFill>
                <a:effectLst/>
                <a:uFillTx/>
                <a:latin typeface="Noto Sans JP"/>
                <a:ea typeface="Noto Sans JP"/>
              </a:rPr>
              <a:t>)</a:t>
            </a:r>
            <a:endParaRPr lang="en-US" sz="1100" b="0" u="none" strike="noStrike">
              <a:solidFill>
                <a:srgbClr val="000000"/>
              </a:solidFill>
              <a:effectLst/>
              <a:uFillTx/>
              <a:latin typeface="Arial"/>
            </a:endParaRPr>
          </a:p>
        </p:txBody>
      </p:sp>
      <p:sp>
        <p:nvSpPr>
          <p:cNvPr id="600" name="Rounded Rectangle 572"/>
          <p:cNvSpPr/>
          <p:nvPr/>
        </p:nvSpPr>
        <p:spPr>
          <a:xfrm>
            <a:off x="7699320" y="1965960"/>
            <a:ext cx="2761200" cy="3977280"/>
          </a:xfrm>
          <a:prstGeom prst="roundRect">
            <a:avLst>
              <a:gd name="adj" fmla="val 5000"/>
            </a:avLst>
          </a:prstGeom>
          <a:solidFill>
            <a:srgbClr val="FFFFFF"/>
          </a:solidFill>
          <a:ln w="15875">
            <a:solidFill>
              <a:srgbClr val="ED7D31"/>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201"/>
              </a:spcAft>
            </a:pPr>
            <a:r>
              <a:rPr lang="ja-JP" sz="2400" b="1" u="none" strike="noStrike">
                <a:solidFill>
                  <a:srgbClr val="ED7D31"/>
                </a:solidFill>
                <a:effectLst/>
                <a:uFillTx/>
                <a:latin typeface="Noto Sans JP"/>
                <a:ea typeface="Noto Sans JP"/>
              </a:rPr>
              <a:t>局所か全身か</a:t>
            </a:r>
            <a:endParaRPr lang="en-US" sz="2400" b="0" u="none" strike="noStrike">
              <a:solidFill>
                <a:srgbClr val="000000"/>
              </a:solidFill>
              <a:effectLst/>
              <a:uFillTx/>
              <a:latin typeface="Arial"/>
            </a:endParaRPr>
          </a:p>
          <a:p>
            <a:pPr defTabSz="914400">
              <a:lnSpc>
                <a:spcPct val="100000"/>
              </a:lnSpc>
              <a:spcAft>
                <a:spcPts val="601"/>
              </a:spcAft>
            </a:pPr>
            <a:r>
              <a:rPr lang="ja-JP" sz="2200" b="0" u="none" strike="noStrike">
                <a:solidFill>
                  <a:srgbClr val="808080"/>
                </a:solidFill>
                <a:effectLst/>
                <a:uFillTx/>
                <a:latin typeface="Noto Sans JP"/>
                <a:ea typeface="Noto Sans JP"/>
              </a:rPr>
              <a:t>局所か全身 </a:t>
            </a:r>
            <a:r>
              <a:rPr lang="en-US" sz="2200" b="0" u="none" strike="noStrike">
                <a:solidFill>
                  <a:srgbClr val="808080"/>
                </a:solidFill>
                <a:effectLst/>
                <a:uFillTx/>
                <a:latin typeface="Noto Sans JP"/>
                <a:ea typeface="Noto Sans JP"/>
              </a:rPr>
              <a:t>SVR </a:t>
            </a:r>
            <a:r>
              <a:rPr lang="ja-JP" sz="2200" b="0" u="none" strike="noStrike">
                <a:solidFill>
                  <a:srgbClr val="808080"/>
                </a:solidFill>
                <a:effectLst/>
                <a:uFillTx/>
                <a:latin typeface="Noto Sans JP"/>
                <a:ea typeface="Noto Sans JP"/>
              </a:rPr>
              <a:t>か</a:t>
            </a:r>
            <a:endParaRPr lang="en-US" sz="1400" b="0" u="none" strike="noStrike">
              <a:solidFill>
                <a:srgbClr val="000000"/>
              </a:solidFill>
              <a:effectLst/>
              <a:uFillTx/>
              <a:latin typeface="Arial"/>
            </a:endParaRPr>
          </a:p>
          <a:p>
            <a:pPr defTabSz="914400">
              <a:lnSpc>
                <a:spcPct val="100000"/>
              </a:lnSpc>
              <a:spcAft>
                <a:spcPts val="601"/>
              </a:spcAft>
            </a:pPr>
            <a:endParaRPr lang="en-US" sz="1400" b="0" u="none" strike="noStrike">
              <a:solidFill>
                <a:srgbClr val="000000"/>
              </a:solidFill>
              <a:effectLst/>
              <a:uFillTx/>
              <a:latin typeface="Arial"/>
            </a:endParaRPr>
          </a:p>
          <a:p>
            <a:pPr defTabSz="914400">
              <a:lnSpc>
                <a:spcPct val="100000"/>
              </a:lnSpc>
              <a:spcAft>
                <a:spcPts val="400"/>
              </a:spcAft>
            </a:pPr>
            <a:r>
              <a:rPr lang="en-US" sz="2200" b="1" u="none" strike="noStrike">
                <a:solidFill>
                  <a:srgbClr val="ED7D31"/>
                </a:solidFill>
                <a:effectLst/>
                <a:uFillTx/>
                <a:latin typeface="Noto Sans JP"/>
                <a:ea typeface="Noto Sans JP"/>
              </a:rPr>
              <a:t>→ 対策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Noto Sans JP"/>
                <a:ea typeface="Noto Sans JP"/>
              </a:rPr>
              <a:t>・相対変化で解釈</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Noto Sans JP"/>
                <a:ea typeface="Noto Sans JP"/>
              </a:rPr>
              <a:t>・多部位で補完</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Noto Sans JP"/>
                <a:ea typeface="Noto Sans JP"/>
              </a:rPr>
              <a:t>・末梢交絡を管理</a:t>
            </a:r>
            <a:endParaRPr lang="en-US" sz="2000" b="0" u="none" strike="noStrike">
              <a:solidFill>
                <a:srgbClr val="000000"/>
              </a:solidFill>
              <a:effectLst/>
              <a:uFillTx/>
              <a:latin typeface="Arial"/>
            </a:endParaRPr>
          </a:p>
          <a:p>
            <a:pPr defTabSz="914400">
              <a:lnSpc>
                <a:spcPct val="100000"/>
              </a:lnSpc>
            </a:pPr>
            <a:r>
              <a:rPr lang="en-US" sz="1100" b="0" u="none" strike="noStrike">
                <a:solidFill>
                  <a:srgbClr val="808080"/>
                </a:solidFill>
                <a:effectLst/>
                <a:uFillTx/>
                <a:latin typeface="Noto Sans JP"/>
                <a:ea typeface="Noto Sans JP"/>
              </a:rPr>
              <a:t>(Middleton 2011)</a:t>
            </a:r>
            <a:endParaRPr lang="en-US" sz="110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 name="TitleFrame"/>
          <p:cNvSpPr/>
          <p:nvPr/>
        </p:nvSpPr>
        <p:spPr>
          <a:xfrm>
            <a:off x="655200" y="603504"/>
            <a:ext cx="6345936" cy="804672"/>
          </a:xfrm>
          <a:prstGeom prst="roundRect">
            <a:avLst>
              <a:gd name="adj" fmla="val 8000"/>
            </a:avLst>
          </a:prstGeom>
          <a:noFill/>
          <a:ln w="28575" cap="flat">
            <a:solidFill>
              <a:srgbClr val="44546A"/>
            </a:solidFill>
            <a:round/>
          </a:ln>
        </p:spPr>
        <p:txBody>
          <a:bodyPr rtlCol="0" anchor="ctr"/>
          <a:lstStyle/>
          <a:p>
            <a:endParaRPr lang="ja-JP"/>
          </a:p>
        </p:txBody>
      </p:sp>
      <p:sp>
        <p:nvSpPr>
          <p:cNvPr id="60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Noto Sans JP"/>
                <a:ea typeface="Noto Sans JP"/>
              </a:rPr>
              <a:t>7. esCCO</a:t>
            </a:r>
            <a:r>
              <a:rPr lang="ja-JP" sz="4400" b="1" u="none" strike="noStrike">
                <a:ln w="19050">
                  <a:solidFill>
                    <a:srgbClr val="000000"/>
                  </a:solidFill>
                </a:ln>
                <a:solidFill>
                  <a:schemeClr val="accent4">
                    <a:lumMod val="75000"/>
                  </a:schemeClr>
                </a:solidFill>
                <a:effectLst/>
                <a:uFillTx/>
                <a:latin typeface="Noto Sans JP"/>
                <a:ea typeface="Noto Sans JP"/>
              </a:rPr>
              <a:t>精度改善案</a:t>
            </a:r>
            <a:endParaRPr lang="en-US" sz="4600" b="1" u="none" strike="noStrike">
              <a:ln w="19050">
                <a:solidFill>
                  <a:srgbClr val="000000"/>
                </a:solidFill>
              </a:ln>
              <a:solidFill>
                <a:schemeClr val="accent4">
                  <a:lumMod val="75000"/>
                </a:schemeClr>
              </a:solidFill>
              <a:effectLst/>
              <a:uFillTx/>
              <a:latin typeface="Calibri"/>
            </a:endParaRPr>
          </a:p>
        </p:txBody>
      </p:sp>
      <p:sp>
        <p:nvSpPr>
          <p:cNvPr id="60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603"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604"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60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60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60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608"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Noto Sans JP"/>
                <a:ea typeface="Noto Sans JP"/>
              </a:rPr>
              <a:t>esCCO</a:t>
            </a:r>
            <a:endParaRPr lang="en-US" sz="1050" b="0" u="none" strike="noStrike">
              <a:solidFill>
                <a:srgbClr val="FFFFFF"/>
              </a:solidFill>
              <a:effectLst/>
              <a:uFillTx/>
              <a:latin typeface="Arial"/>
            </a:endParaRPr>
          </a:p>
        </p:txBody>
      </p:sp>
      <p:sp>
        <p:nvSpPr>
          <p:cNvPr id="609" name="TextBox 7"/>
          <p:cNvSpPr/>
          <p:nvPr/>
        </p:nvSpPr>
        <p:spPr>
          <a:xfrm>
            <a:off x="864000" y="2459160"/>
            <a:ext cx="10583640" cy="3389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Noto Sans JP"/>
                <a:ea typeface="Noto Sans JP"/>
              </a:rPr>
              <a:t>1. </a:t>
            </a:r>
            <a:r>
              <a:rPr lang="ja-JP" sz="2400" b="0" u="none" strike="noStrike">
                <a:solidFill>
                  <a:srgbClr val="D9D9D9"/>
                </a:solidFill>
                <a:effectLst/>
                <a:uFillTx/>
                <a:latin typeface="Noto Sans JP"/>
                <a:ea typeface="Noto Sans JP"/>
              </a:rPr>
              <a:t>基礎：</a:t>
            </a:r>
            <a:r>
              <a:rPr lang="en-US" sz="2400" b="0" u="none" strike="noStrike">
                <a:solidFill>
                  <a:srgbClr val="D9D9D9"/>
                </a:solidFill>
                <a:effectLst/>
                <a:uFillTx/>
                <a:latin typeface="Noto Sans JP"/>
                <a:ea typeface="Noto Sans JP"/>
              </a:rPr>
              <a:t>PPG</a:t>
            </a:r>
            <a:r>
              <a:rPr lang="ja-JP" sz="2400" b="0" u="none" strike="noStrike">
                <a:solidFill>
                  <a:srgbClr val="D9D9D9"/>
                </a:solidFill>
                <a:effectLst/>
                <a:uFillTx/>
                <a:latin typeface="Noto Sans JP"/>
                <a:ea typeface="Noto Sans JP"/>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2. </a:t>
            </a:r>
            <a:r>
              <a:rPr lang="ja-JP" sz="2400" b="0" u="none" strike="noStrike">
                <a:solidFill>
                  <a:srgbClr val="D9D9D9"/>
                </a:solidFill>
                <a:effectLst/>
                <a:uFillTx/>
                <a:latin typeface="Noto Sans JP"/>
                <a:ea typeface="Noto Sans JP"/>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3. </a:t>
            </a:r>
            <a:r>
              <a:rPr lang="ja-JP" sz="2400" b="0" u="none" strike="noStrike">
                <a:solidFill>
                  <a:srgbClr val="D9D9D9"/>
                </a:solidFill>
                <a:effectLst/>
                <a:uFillTx/>
                <a:latin typeface="Noto Sans JP"/>
                <a:ea typeface="Noto Sans JP"/>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4. </a:t>
            </a:r>
            <a:r>
              <a:rPr lang="ja-JP" sz="2400" b="0" u="none" strike="noStrike">
                <a:solidFill>
                  <a:srgbClr val="D9D9D9"/>
                </a:solidFill>
                <a:effectLst/>
                <a:uFillTx/>
                <a:latin typeface="Noto Sans JP"/>
                <a:ea typeface="Noto Sans JP"/>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5. </a:t>
            </a:r>
            <a:r>
              <a:rPr lang="en-US" sz="2400" b="0" u="none" strike="noStrike">
                <a:solidFill>
                  <a:srgbClr val="D9D9D9"/>
                </a:solidFill>
                <a:effectLst/>
                <a:uFillTx/>
                <a:latin typeface="Noto Sans JP"/>
                <a:ea typeface="Noto Sans JP"/>
              </a:rPr>
              <a:t>SpO₂</a:t>
            </a:r>
            <a:r>
              <a:rPr lang="ja-JP" sz="2400" b="0" u="none" strike="noStrike">
                <a:solidFill>
                  <a:srgbClr val="D9D9D9"/>
                </a:solidFill>
                <a:effectLst/>
                <a:uFillTx/>
                <a:latin typeface="Noto Sans JP"/>
                <a:ea typeface="Noto Sans JP"/>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Noto Sans JP"/>
                <a:ea typeface="Noto Sans JP"/>
              </a:rPr>
              <a:t>6. </a:t>
            </a:r>
            <a:r>
              <a:rPr lang="ja-JP" sz="2400" b="0" u="none" strike="noStrike">
                <a:solidFill>
                  <a:srgbClr val="D9D9D9"/>
                </a:solidFill>
                <a:effectLst/>
                <a:uFillTx/>
                <a:latin typeface="Noto Sans JP"/>
                <a:ea typeface="Noto Sans JP"/>
              </a:rPr>
              <a:t>限界</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Noto Sans JP"/>
                <a:ea typeface="Noto Sans JP"/>
              </a:rPr>
              <a:t>7. </a:t>
            </a:r>
            <a:r>
              <a:rPr lang="en-US" sz="2600" b="1" u="none" strike="noStrike">
                <a:solidFill>
                  <a:srgbClr val="262626"/>
                </a:solidFill>
                <a:effectLst/>
                <a:uFillTx/>
                <a:latin typeface="Noto Sans JP"/>
                <a:ea typeface="Noto Sans JP"/>
              </a:rPr>
              <a:t>esCCO</a:t>
            </a:r>
            <a:r>
              <a:rPr lang="ja-JP" sz="2600" b="1" u="none" strike="noStrike">
                <a:solidFill>
                  <a:srgbClr val="262626"/>
                </a:solidFill>
                <a:effectLst/>
                <a:uFillTx/>
                <a:latin typeface="Noto Sans JP"/>
                <a:ea typeface="Noto Sans JP"/>
              </a:rPr>
              <a:t>精度改善案</a:t>
            </a:r>
            <a:endParaRPr lang="en-US" sz="2600" b="0" u="none" strike="noStrike">
              <a:solidFill>
                <a:srgbClr val="000000"/>
              </a:solidFill>
              <a:effectLst/>
              <a:uFillTx/>
              <a:latin typeface="Arial"/>
            </a:endParaRPr>
          </a:p>
        </p:txBody>
      </p:sp>
      <p:sp>
        <p:nvSpPr>
          <p:cNvPr id="610"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endParaRPr lang="en-US" sz="1800" b="0" u="none" strike="noStrike">
              <a:solidFill>
                <a:schemeClr val="dk1"/>
              </a:solidFill>
              <a:effectLst/>
              <a:uFillTx/>
              <a:latin typeface="Calibri"/>
            </a:endParaRPr>
          </a:p>
        </p:txBody>
      </p:sp>
      <p:sp>
        <p:nvSpPr>
          <p:cNvPr id="611"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Noto Sans JP"/>
                <a:ea typeface="Noto Sans JP"/>
              </a:rPr>
              <a:t>37/47</a:t>
            </a:r>
            <a:endParaRPr lang="en-US" sz="120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TitleFrame"/>
          <p:cNvSpPr/>
          <p:nvPr/>
        </p:nvSpPr>
        <p:spPr>
          <a:xfrm>
            <a:off x="655200" y="603504"/>
            <a:ext cx="5486400" cy="804672"/>
          </a:xfrm>
          <a:prstGeom prst="roundRect">
            <a:avLst>
              <a:gd name="adj" fmla="val 8000"/>
            </a:avLst>
          </a:prstGeom>
          <a:noFill/>
          <a:ln w="28575" cap="flat">
            <a:solidFill>
              <a:srgbClr val="44546A"/>
            </a:solidFill>
            <a:round/>
          </a:ln>
        </p:spPr>
        <p:txBody>
          <a:bodyPr rtlCol="0" anchor="ctr"/>
          <a:lstStyle/>
          <a:p>
            <a:endParaRPr lang="ja-JP"/>
          </a:p>
        </p:txBody>
      </p:sp>
      <p:sp>
        <p:nvSpPr>
          <p:cNvPr id="61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7.1 esCCO</a:t>
            </a:r>
            <a:r>
              <a:rPr lang="ja-JP" sz="4400" b="1" u="none" strike="noStrike">
                <a:ln w="19050">
                  <a:solidFill>
                    <a:srgbClr val="000000"/>
                  </a:solidFill>
                </a:ln>
                <a:solidFill>
                  <a:schemeClr val="accent4">
                    <a:lumMod val="75000"/>
                  </a:schemeClr>
                </a:solidFill>
                <a:effectLst/>
                <a:uFillTx/>
                <a:latin typeface="Calibri"/>
              </a:rPr>
              <a:t>の原理</a:t>
            </a:r>
            <a:endParaRPr lang="en-US" sz="4000" b="1" u="none" strike="noStrike">
              <a:ln w="19050">
                <a:solidFill>
                  <a:srgbClr val="000000"/>
                </a:solidFill>
              </a:ln>
              <a:solidFill>
                <a:schemeClr val="accent4">
                  <a:lumMod val="75000"/>
                </a:schemeClr>
              </a:solidFill>
              <a:effectLst/>
              <a:uFillTx/>
              <a:latin typeface="Calibri"/>
            </a:endParaRPr>
          </a:p>
        </p:txBody>
      </p:sp>
      <p:sp>
        <p:nvSpPr>
          <p:cNvPr id="613"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614"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615"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616"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617"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618"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619"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Noto Sans JP"/>
                <a:ea typeface="Noto Sans JP"/>
              </a:rPr>
              <a:t>esCCO</a:t>
            </a:r>
            <a:endParaRPr lang="en-US" sz="1050" b="0" u="none" strike="noStrike">
              <a:solidFill>
                <a:srgbClr val="FFFFFF"/>
              </a:solidFill>
              <a:effectLst/>
              <a:uFillTx/>
              <a:latin typeface="Arial"/>
            </a:endParaRPr>
          </a:p>
        </p:txBody>
      </p:sp>
      <p:sp>
        <p:nvSpPr>
          <p:cNvPr id="620"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Noto Sans JP"/>
                <a:ea typeface="Noto Sans JP"/>
              </a:rPr>
              <a:t>25. Sugo 2012</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IEEE EMBC</a:t>
            </a:r>
            <a:r>
              <a:rPr lang="ja-JP" sz="1050" b="0" u="none" strike="noStrike">
                <a:solidFill>
                  <a:srgbClr val="808080"/>
                </a:solidFill>
                <a:effectLst/>
                <a:uFillTx/>
                <a:latin typeface="Noto Sans JP"/>
                <a:ea typeface="Noto Sans JP"/>
              </a:rPr>
              <a:t>）　／　</a:t>
            </a:r>
            <a:r>
              <a:rPr lang="en-US" sz="1050" b="0" u="none" strike="noStrike">
                <a:solidFill>
                  <a:srgbClr val="808080"/>
                </a:solidFill>
                <a:effectLst/>
                <a:uFillTx/>
                <a:latin typeface="Noto Sans JP"/>
                <a:ea typeface="Noto Sans JP"/>
              </a:rPr>
              <a:t>26. Ishihara 2013</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J Clin Monit Comput</a:t>
            </a:r>
            <a:r>
              <a:rPr lang="ja-JP" sz="1050" b="0" u="none" strike="noStrike">
                <a:solidFill>
                  <a:srgbClr val="808080"/>
                </a:solidFill>
                <a:effectLst/>
                <a:uFillTx/>
                <a:latin typeface="Noto Sans JP"/>
                <a:ea typeface="Noto Sans JP"/>
              </a:rPr>
              <a:t>）</a:t>
            </a:r>
            <a:endParaRPr lang="en-US" sz="1050" b="0" u="none" strike="noStrike">
              <a:solidFill>
                <a:srgbClr val="000000"/>
              </a:solidFill>
              <a:effectLst/>
              <a:uFillTx/>
              <a:latin typeface="Arial"/>
            </a:endParaRPr>
          </a:p>
        </p:txBody>
      </p:sp>
      <p:sp>
        <p:nvSpPr>
          <p:cNvPr id="621"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200" b="0" u="none" strike="noStrike">
                <a:solidFill>
                  <a:srgbClr val="808080"/>
                </a:solidFill>
                <a:effectLst/>
                <a:uFillTx/>
                <a:latin typeface="Noto Sans JP"/>
                <a:ea typeface="Noto Sans JP"/>
              </a:rPr>
              <a:t>38/47</a:t>
            </a:r>
            <a:endParaRPr lang="en-US" sz="1200" b="0" u="none" strike="noStrike">
              <a:solidFill>
                <a:srgbClr val="000000"/>
              </a:solidFill>
              <a:effectLst/>
              <a:uFillTx/>
              <a:latin typeface="Arial"/>
            </a:endParaRPr>
          </a:p>
        </p:txBody>
      </p:sp>
      <p:pic>
        <p:nvPicPr>
          <p:cNvPr id="622" name="Picture 12" descr="fig71.png"/>
          <p:cNvPicPr/>
          <p:nvPr/>
        </p:nvPicPr>
        <p:blipFill>
          <a:blip r:embed="rId3"/>
          <a:stretch/>
        </p:blipFill>
        <p:spPr>
          <a:xfrm>
            <a:off x="380880" y="2013840"/>
            <a:ext cx="11429640" cy="4064400"/>
          </a:xfrm>
          <a:prstGeom prst="rect">
            <a:avLst/>
          </a:prstGeom>
          <a:noFill/>
          <a:ln w="0">
            <a:noFill/>
          </a:ln>
        </p:spPr>
      </p:pic>
      <p:sp>
        <p:nvSpPr>
          <p:cNvPr id="623" name="TextBox 13"/>
          <p:cNvSpPr/>
          <p:nvPr/>
        </p:nvSpPr>
        <p:spPr>
          <a:xfrm>
            <a:off x="567000" y="63277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Noto Sans JP"/>
                <a:ea typeface="Noto Sans JP"/>
              </a:rPr>
              <a:t>esCCO</a:t>
            </a:r>
            <a:r>
              <a:rPr lang="ja-JP" sz="1050" b="0" u="none" strike="noStrike">
                <a:solidFill>
                  <a:srgbClr val="808080"/>
                </a:solidFill>
                <a:effectLst/>
                <a:uFillTx/>
                <a:latin typeface="Noto Sans JP"/>
                <a:ea typeface="Noto Sans JP"/>
              </a:rPr>
              <a:t>：推定連続心拍出量　／　</a:t>
            </a:r>
            <a:r>
              <a:rPr lang="en-US" sz="1050" b="0" u="none" strike="noStrike">
                <a:solidFill>
                  <a:srgbClr val="808080"/>
                </a:solidFill>
                <a:effectLst/>
                <a:uFillTx/>
                <a:latin typeface="Noto Sans JP"/>
                <a:ea typeface="Noto Sans JP"/>
              </a:rPr>
              <a:t>PWTT</a:t>
            </a:r>
            <a:r>
              <a:rPr lang="ja-JP" sz="1050" b="0" u="none" strike="noStrike">
                <a:solidFill>
                  <a:srgbClr val="808080"/>
                </a:solidFill>
                <a:effectLst/>
                <a:uFillTx/>
                <a:latin typeface="Noto Sans JP"/>
                <a:ea typeface="Noto Sans JP"/>
              </a:rPr>
              <a:t>：脈波伝播時間　／　</a:t>
            </a:r>
            <a:r>
              <a:rPr lang="en-US" sz="1050" b="0" u="none" strike="noStrike">
                <a:solidFill>
                  <a:srgbClr val="808080"/>
                </a:solidFill>
                <a:effectLst/>
                <a:uFillTx/>
                <a:latin typeface="Noto Sans JP"/>
                <a:ea typeface="Noto Sans JP"/>
              </a:rPr>
              <a:t>SV</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1</a:t>
            </a:r>
            <a:r>
              <a:rPr lang="ja-JP" sz="1050" b="0" u="none" strike="noStrike">
                <a:solidFill>
                  <a:srgbClr val="808080"/>
                </a:solidFill>
                <a:effectLst/>
                <a:uFillTx/>
                <a:latin typeface="Noto Sans JP"/>
                <a:ea typeface="Noto Sans JP"/>
              </a:rPr>
              <a:t>回拍出量　／　</a:t>
            </a:r>
            <a:r>
              <a:rPr lang="en-US" sz="1050" b="0" u="none" strike="noStrike">
                <a:solidFill>
                  <a:srgbClr val="808080"/>
                </a:solidFill>
                <a:effectLst/>
                <a:uFillTx/>
                <a:latin typeface="Noto Sans JP"/>
                <a:ea typeface="Noto Sans JP"/>
              </a:rPr>
              <a:t>CO</a:t>
            </a:r>
            <a:r>
              <a:rPr lang="ja-JP" sz="1050" b="0" u="none" strike="noStrike">
                <a:solidFill>
                  <a:srgbClr val="808080"/>
                </a:solidFill>
                <a:effectLst/>
                <a:uFillTx/>
                <a:latin typeface="Noto Sans JP"/>
                <a:ea typeface="Noto Sans JP"/>
              </a:rPr>
              <a:t>：心拍出量　／　</a:t>
            </a:r>
            <a:r>
              <a:rPr lang="en-US" sz="1050" b="0" u="none" strike="noStrike">
                <a:solidFill>
                  <a:srgbClr val="808080"/>
                </a:solidFill>
                <a:effectLst/>
                <a:uFillTx/>
                <a:latin typeface="Noto Sans JP"/>
                <a:ea typeface="Noto Sans JP"/>
              </a:rPr>
              <a:t>HR</a:t>
            </a:r>
            <a:r>
              <a:rPr lang="ja-JP" sz="1050" b="0" u="none" strike="noStrike">
                <a:solidFill>
                  <a:srgbClr val="808080"/>
                </a:solidFill>
                <a:effectLst/>
                <a:uFillTx/>
                <a:latin typeface="Noto Sans JP"/>
                <a:ea typeface="Noto Sans JP"/>
              </a:rPr>
              <a:t>：心拍数</a:t>
            </a:r>
            <a:endParaRPr lang="en-US" sz="105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TitleFrame"/>
          <p:cNvSpPr/>
          <p:nvPr/>
        </p:nvSpPr>
        <p:spPr>
          <a:xfrm>
            <a:off x="655200" y="603504"/>
            <a:ext cx="6620256" cy="804672"/>
          </a:xfrm>
          <a:prstGeom prst="roundRect">
            <a:avLst>
              <a:gd name="adj" fmla="val 8000"/>
            </a:avLst>
          </a:prstGeom>
          <a:noFill/>
          <a:ln w="28575" cap="flat">
            <a:solidFill>
              <a:srgbClr val="44546A"/>
            </a:solidFill>
            <a:round/>
          </a:ln>
        </p:spPr>
        <p:txBody>
          <a:bodyPr rtlCol="0" anchor="ctr"/>
          <a:lstStyle/>
          <a:p>
            <a:endParaRPr lang="ja-JP"/>
          </a:p>
        </p:txBody>
      </p:sp>
      <p:sp>
        <p:nvSpPr>
          <p:cNvPr id="62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7.2 PWTT</a:t>
            </a:r>
            <a:r>
              <a:rPr lang="ja-JP" sz="4400" b="1" u="none" strike="noStrike">
                <a:ln w="19050">
                  <a:solidFill>
                    <a:srgbClr val="000000"/>
                  </a:solidFill>
                </a:ln>
                <a:solidFill>
                  <a:schemeClr val="accent4">
                    <a:lumMod val="75000"/>
                  </a:schemeClr>
                </a:solidFill>
                <a:effectLst/>
                <a:uFillTx/>
                <a:latin typeface="Calibri"/>
              </a:rPr>
              <a:t>＝</a:t>
            </a:r>
            <a:r>
              <a:rPr lang="en-US" sz="4400" b="1" u="none" strike="noStrike">
                <a:ln w="19050">
                  <a:solidFill>
                    <a:srgbClr val="000000"/>
                  </a:solidFill>
                </a:ln>
                <a:solidFill>
                  <a:schemeClr val="accent4">
                    <a:lumMod val="75000"/>
                  </a:schemeClr>
                </a:solidFill>
                <a:effectLst/>
                <a:uFillTx/>
                <a:latin typeface="Calibri"/>
              </a:rPr>
              <a:t>PEP</a:t>
            </a:r>
            <a:r>
              <a:rPr lang="ja-JP" sz="4400" b="1" u="none" strike="noStrike">
                <a:ln w="19050">
                  <a:solidFill>
                    <a:srgbClr val="000000"/>
                  </a:solidFill>
                </a:ln>
                <a:solidFill>
                  <a:schemeClr val="accent4">
                    <a:lumMod val="75000"/>
                  </a:schemeClr>
                </a:solidFill>
                <a:effectLst/>
                <a:uFillTx/>
                <a:latin typeface="Calibri"/>
              </a:rPr>
              <a:t>＋</a:t>
            </a:r>
            <a:r>
              <a:rPr lang="en-US" sz="4400" b="1" u="none" strike="noStrike">
                <a:ln w="19050">
                  <a:solidFill>
                    <a:srgbClr val="000000"/>
                  </a:solidFill>
                </a:ln>
                <a:solidFill>
                  <a:schemeClr val="accent4">
                    <a:lumMod val="75000"/>
                  </a:schemeClr>
                </a:solidFill>
                <a:effectLst/>
                <a:uFillTx/>
                <a:latin typeface="Calibri"/>
              </a:rPr>
              <a:t>VTT</a:t>
            </a:r>
          </a:p>
        </p:txBody>
      </p:sp>
      <p:sp>
        <p:nvSpPr>
          <p:cNvPr id="62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62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62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62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62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63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631"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Noto Sans JP"/>
                <a:ea typeface="Noto Sans JP"/>
              </a:rPr>
              <a:t>esCCO</a:t>
            </a:r>
            <a:endParaRPr lang="en-US" sz="1050" b="0" u="none" strike="noStrike">
              <a:solidFill>
                <a:srgbClr val="FFFFFF"/>
              </a:solidFill>
              <a:effectLst/>
              <a:uFillTx/>
              <a:latin typeface="Arial"/>
            </a:endParaRPr>
          </a:p>
        </p:txBody>
      </p:sp>
      <p:sp>
        <p:nvSpPr>
          <p:cNvPr id="632"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Noto Sans JP"/>
                <a:ea typeface="Noto Sans JP"/>
              </a:rPr>
              <a:t>25. Sugo 2012</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IEEE EMBC 2012;2012:236–9</a:t>
            </a:r>
            <a:r>
              <a:rPr lang="ja-JP" sz="1050" b="0" u="none" strike="noStrike">
                <a:solidFill>
                  <a:srgbClr val="808080"/>
                </a:solidFill>
                <a:effectLst/>
                <a:uFillTx/>
                <a:latin typeface="Noto Sans JP"/>
                <a:ea typeface="Noto Sans JP"/>
              </a:rPr>
              <a:t>）</a:t>
            </a:r>
            <a:endParaRPr lang="en-US" sz="1050" b="0" u="none" strike="noStrike">
              <a:solidFill>
                <a:srgbClr val="000000"/>
              </a:solidFill>
              <a:effectLst/>
              <a:uFillTx/>
              <a:latin typeface="Arial"/>
            </a:endParaRPr>
          </a:p>
        </p:txBody>
      </p:sp>
      <p:sp>
        <p:nvSpPr>
          <p:cNvPr id="633"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Noto Sans JP"/>
                <a:ea typeface="Noto Sans JP"/>
              </a:rPr>
              <a:t>39/47</a:t>
            </a:r>
            <a:endParaRPr lang="en-US" sz="1050" b="0" u="none" strike="noStrike">
              <a:solidFill>
                <a:srgbClr val="000000"/>
              </a:solidFill>
              <a:effectLst/>
              <a:uFillTx/>
              <a:latin typeface="Arial"/>
            </a:endParaRPr>
          </a:p>
        </p:txBody>
      </p:sp>
      <p:pic>
        <p:nvPicPr>
          <p:cNvPr id="634" name="Picture 12" descr="fig72.png"/>
          <p:cNvPicPr/>
          <p:nvPr/>
        </p:nvPicPr>
        <p:blipFill>
          <a:blip r:embed="rId3"/>
          <a:stretch/>
        </p:blipFill>
        <p:spPr>
          <a:xfrm>
            <a:off x="380880" y="2104920"/>
            <a:ext cx="11429640" cy="3882600"/>
          </a:xfrm>
          <a:prstGeom prst="rect">
            <a:avLst/>
          </a:prstGeom>
          <a:noFill/>
          <a:ln w="0">
            <a:noFill/>
          </a:ln>
        </p:spPr>
      </p:pic>
      <p:sp>
        <p:nvSpPr>
          <p:cNvPr id="635" name="TextBox 13"/>
          <p:cNvSpPr/>
          <p:nvPr/>
        </p:nvSpPr>
        <p:spPr>
          <a:xfrm>
            <a:off x="567000" y="63277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Noto Sans JP"/>
                <a:ea typeface="Noto Sans JP"/>
              </a:rPr>
              <a:t>PWV</a:t>
            </a:r>
            <a:r>
              <a:rPr lang="ja-JP" sz="1050" b="0" u="none" strike="noStrike">
                <a:solidFill>
                  <a:srgbClr val="808080"/>
                </a:solidFill>
                <a:effectLst/>
                <a:uFillTx/>
                <a:latin typeface="Noto Sans JP"/>
                <a:ea typeface="Noto Sans JP"/>
              </a:rPr>
              <a:t>：脈波伝播速度（</a:t>
            </a:r>
            <a:r>
              <a:rPr lang="en-US" sz="1050" b="0" u="none" strike="noStrike">
                <a:solidFill>
                  <a:srgbClr val="808080"/>
                </a:solidFill>
                <a:effectLst/>
                <a:uFillTx/>
                <a:latin typeface="Noto Sans JP"/>
                <a:ea typeface="Noto Sans JP"/>
              </a:rPr>
              <a:t>PEP</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VTT </a:t>
            </a:r>
            <a:r>
              <a:rPr lang="ja-JP" sz="1050" b="0" u="none" strike="noStrike">
                <a:solidFill>
                  <a:srgbClr val="808080"/>
                </a:solidFill>
                <a:effectLst/>
                <a:uFillTx/>
                <a:latin typeface="Noto Sans JP"/>
                <a:ea typeface="Noto Sans JP"/>
              </a:rPr>
              <a:t>は図中に定義）</a:t>
            </a:r>
            <a:endParaRPr lang="en-US" sz="105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 name="TitleFrame"/>
          <p:cNvSpPr/>
          <p:nvPr/>
        </p:nvSpPr>
        <p:spPr>
          <a:xfrm>
            <a:off x="655200" y="603504"/>
            <a:ext cx="5559552" cy="804672"/>
          </a:xfrm>
          <a:prstGeom prst="roundRect">
            <a:avLst>
              <a:gd name="adj" fmla="val 8000"/>
            </a:avLst>
          </a:prstGeom>
          <a:noFill/>
          <a:ln w="28575" cap="flat">
            <a:solidFill>
              <a:srgbClr val="44546A"/>
            </a:solidFill>
            <a:round/>
          </a:ln>
        </p:spPr>
        <p:txBody>
          <a:bodyPr rtlCol="0" anchor="ctr"/>
          <a:lstStyle/>
          <a:p>
            <a:endParaRPr lang="ja-JP"/>
          </a:p>
        </p:txBody>
      </p:sp>
      <p:sp>
        <p:nvSpPr>
          <p:cNvPr id="63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7.3 </a:t>
            </a:r>
            <a:r>
              <a:rPr lang="ja-JP" sz="4400" b="1" u="none" strike="noStrike">
                <a:ln w="19050">
                  <a:solidFill>
                    <a:srgbClr val="000000"/>
                  </a:solidFill>
                </a:ln>
                <a:solidFill>
                  <a:schemeClr val="accent4">
                    <a:lumMod val="75000"/>
                  </a:schemeClr>
                </a:solidFill>
                <a:effectLst/>
                <a:uFillTx/>
                <a:latin typeface="Calibri"/>
              </a:rPr>
              <a:t>後負荷の交絡</a:t>
            </a:r>
            <a:endParaRPr lang="en-US" sz="4000" b="1" u="none" strike="noStrike">
              <a:ln w="19050">
                <a:solidFill>
                  <a:srgbClr val="000000"/>
                </a:solidFill>
              </a:ln>
              <a:solidFill>
                <a:schemeClr val="accent4">
                  <a:lumMod val="75000"/>
                </a:schemeClr>
              </a:solidFill>
              <a:effectLst/>
              <a:uFillTx/>
              <a:latin typeface="Calibri"/>
            </a:endParaRPr>
          </a:p>
        </p:txBody>
      </p:sp>
      <p:sp>
        <p:nvSpPr>
          <p:cNvPr id="63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63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639"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64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64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64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643"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Noto Sans JP"/>
                <a:ea typeface="Noto Sans JP"/>
              </a:rPr>
              <a:t>esCCO</a:t>
            </a:r>
            <a:endParaRPr lang="en-US" sz="1050" b="0" u="none" strike="noStrike">
              <a:solidFill>
                <a:srgbClr val="FFFFFF"/>
              </a:solidFill>
              <a:effectLst/>
              <a:uFillTx/>
              <a:latin typeface="Arial"/>
            </a:endParaRPr>
          </a:p>
        </p:txBody>
      </p:sp>
      <p:sp>
        <p:nvSpPr>
          <p:cNvPr id="644"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Noto Sans JP"/>
                <a:ea typeface="Noto Sans JP"/>
              </a:rPr>
              <a:t>26. Ishihara 2013</a:t>
            </a:r>
            <a:r>
              <a:rPr lang="ja-JP" sz="1050" b="0" u="none" strike="noStrike">
                <a:solidFill>
                  <a:srgbClr val="808080"/>
                </a:solidFill>
                <a:effectLst/>
                <a:uFillTx/>
                <a:latin typeface="Noto Sans JP"/>
                <a:ea typeface="Noto Sans JP"/>
              </a:rPr>
              <a:t>　／　</a:t>
            </a:r>
            <a:r>
              <a:rPr lang="en-US" sz="1050" b="0" u="none" strike="noStrike">
                <a:solidFill>
                  <a:srgbClr val="808080"/>
                </a:solidFill>
                <a:effectLst/>
                <a:uFillTx/>
                <a:latin typeface="Noto Sans JP"/>
                <a:ea typeface="Noto Sans JP"/>
              </a:rPr>
              <a:t>27. Tsutsui 2013</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Anesth Analg</a:t>
            </a:r>
            <a:r>
              <a:rPr lang="ja-JP" sz="1050" b="0" u="none" strike="noStrike">
                <a:solidFill>
                  <a:srgbClr val="808080"/>
                </a:solidFill>
                <a:effectLst/>
                <a:uFillTx/>
                <a:latin typeface="Noto Sans JP"/>
                <a:ea typeface="Noto Sans JP"/>
              </a:rPr>
              <a:t>）　／　</a:t>
            </a:r>
            <a:r>
              <a:rPr lang="en-US" sz="1050" b="0" u="none" strike="noStrike">
                <a:solidFill>
                  <a:srgbClr val="808080"/>
                </a:solidFill>
                <a:effectLst/>
                <a:uFillTx/>
                <a:latin typeface="Noto Sans JP"/>
                <a:ea typeface="Noto Sans JP"/>
              </a:rPr>
              <a:t>28. Magliocca 2018</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Anesth Analg</a:t>
            </a:r>
            <a:r>
              <a:rPr lang="ja-JP" sz="1050" b="0" u="none" strike="noStrike">
                <a:solidFill>
                  <a:srgbClr val="808080"/>
                </a:solidFill>
                <a:effectLst/>
                <a:uFillTx/>
                <a:latin typeface="Noto Sans JP"/>
                <a:ea typeface="Noto Sans JP"/>
              </a:rPr>
              <a:t>）</a:t>
            </a:r>
            <a:endParaRPr lang="en-US" sz="1050" b="0" u="none" strike="noStrike">
              <a:solidFill>
                <a:srgbClr val="000000"/>
              </a:solidFill>
              <a:effectLst/>
              <a:uFillTx/>
              <a:latin typeface="Arial"/>
            </a:endParaRPr>
          </a:p>
        </p:txBody>
      </p:sp>
      <p:sp>
        <p:nvSpPr>
          <p:cNvPr id="645"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Noto Sans JP"/>
                <a:ea typeface="Noto Sans JP"/>
              </a:rPr>
              <a:t>40/47</a:t>
            </a:r>
            <a:endParaRPr lang="en-US" sz="1050" b="0" u="none" strike="noStrike">
              <a:solidFill>
                <a:srgbClr val="000000"/>
              </a:solidFill>
              <a:effectLst/>
              <a:uFillTx/>
              <a:latin typeface="Arial"/>
            </a:endParaRPr>
          </a:p>
        </p:txBody>
      </p:sp>
      <p:pic>
        <p:nvPicPr>
          <p:cNvPr id="646" name="Picture 12" descr="fig73.png"/>
          <p:cNvPicPr/>
          <p:nvPr/>
        </p:nvPicPr>
        <p:blipFill>
          <a:blip r:embed="rId3"/>
          <a:stretch/>
        </p:blipFill>
        <p:spPr>
          <a:xfrm>
            <a:off x="388800" y="1828800"/>
            <a:ext cx="11413800" cy="4434480"/>
          </a:xfrm>
          <a:prstGeom prst="rect">
            <a:avLst/>
          </a:prstGeom>
          <a:noFill/>
          <a:ln w="0">
            <a:noFill/>
          </a:ln>
        </p:spPr>
      </p:pic>
      <p:sp>
        <p:nvSpPr>
          <p:cNvPr id="647" name="TextBox 13"/>
          <p:cNvSpPr/>
          <p:nvPr/>
        </p:nvSpPr>
        <p:spPr>
          <a:xfrm>
            <a:off x="567000" y="63277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Noto Sans JP"/>
                <a:ea typeface="Noto Sans JP"/>
              </a:rPr>
              <a:t>Ea</a:t>
            </a:r>
            <a:r>
              <a:rPr lang="ja-JP" sz="1050" b="0" u="none" strike="noStrike">
                <a:solidFill>
                  <a:srgbClr val="808080"/>
                </a:solidFill>
                <a:effectLst/>
                <a:uFillTx/>
                <a:latin typeface="Noto Sans JP"/>
                <a:ea typeface="Noto Sans JP"/>
              </a:rPr>
              <a:t>：動脈エ⁠ラ⁠ス⁠タ⁠ン⁠ス　／　</a:t>
            </a:r>
            <a:r>
              <a:rPr lang="en-US" sz="1050" b="0" u="none" strike="noStrike">
                <a:solidFill>
                  <a:srgbClr val="808080"/>
                </a:solidFill>
                <a:effectLst/>
                <a:uFillTx/>
                <a:latin typeface="Noto Sans JP"/>
                <a:ea typeface="Noto Sans JP"/>
              </a:rPr>
              <a:t>SVR</a:t>
            </a:r>
            <a:r>
              <a:rPr lang="ja-JP" sz="1050" b="0" u="none" strike="noStrike">
                <a:solidFill>
                  <a:srgbClr val="808080"/>
                </a:solidFill>
                <a:effectLst/>
                <a:uFillTx/>
                <a:latin typeface="Noto Sans JP"/>
                <a:ea typeface="Noto Sans JP"/>
              </a:rPr>
              <a:t>：体血管抵抗</a:t>
            </a:r>
            <a:endParaRPr lang="en-US" sz="105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 name="TitleFrame"/>
          <p:cNvSpPr/>
          <p:nvPr/>
        </p:nvSpPr>
        <p:spPr>
          <a:xfrm>
            <a:off x="655200" y="603504"/>
            <a:ext cx="6437376" cy="804672"/>
          </a:xfrm>
          <a:prstGeom prst="roundRect">
            <a:avLst>
              <a:gd name="adj" fmla="val 8000"/>
            </a:avLst>
          </a:prstGeom>
          <a:noFill/>
          <a:ln w="28575" cap="flat">
            <a:solidFill>
              <a:srgbClr val="44546A"/>
            </a:solidFill>
            <a:round/>
          </a:ln>
        </p:spPr>
        <p:txBody>
          <a:bodyPr rtlCol="0" anchor="ctr"/>
          <a:lstStyle/>
          <a:p>
            <a:endParaRPr lang="ja-JP"/>
          </a:p>
        </p:txBody>
      </p:sp>
      <p:sp>
        <p:nvSpPr>
          <p:cNvPr id="64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7.4 PWTT–SV</a:t>
            </a:r>
            <a:r>
              <a:rPr lang="ja-JP" sz="4400" b="1" u="none" strike="noStrike">
                <a:ln w="19050">
                  <a:solidFill>
                    <a:srgbClr val="000000"/>
                  </a:solidFill>
                </a:ln>
                <a:solidFill>
                  <a:schemeClr val="accent4">
                    <a:lumMod val="75000"/>
                  </a:schemeClr>
                </a:solidFill>
                <a:effectLst/>
                <a:uFillTx/>
                <a:latin typeface="Calibri"/>
              </a:rPr>
              <a:t>分割表</a:t>
            </a:r>
            <a:endParaRPr lang="en-US" sz="4000" b="1" u="none" strike="noStrike">
              <a:ln w="19050">
                <a:solidFill>
                  <a:srgbClr val="000000"/>
                </a:solidFill>
              </a:ln>
              <a:solidFill>
                <a:schemeClr val="accent4">
                  <a:lumMod val="75000"/>
                </a:schemeClr>
              </a:solidFill>
              <a:effectLst/>
              <a:uFillTx/>
              <a:latin typeface="Calibri"/>
            </a:endParaRPr>
          </a:p>
        </p:txBody>
      </p:sp>
      <p:sp>
        <p:nvSpPr>
          <p:cNvPr id="64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650"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651"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65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65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65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655"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Noto Sans JP"/>
                <a:ea typeface="Noto Sans JP"/>
              </a:rPr>
              <a:t>esCCO</a:t>
            </a:r>
            <a:endParaRPr lang="en-US" sz="1050" b="0" u="none" strike="noStrike">
              <a:solidFill>
                <a:srgbClr val="FFFFFF"/>
              </a:solidFill>
              <a:effectLst/>
              <a:uFillTx/>
              <a:latin typeface="Arial"/>
            </a:endParaRPr>
          </a:p>
        </p:txBody>
      </p:sp>
      <p:graphicFrame>
        <p:nvGraphicFramePr>
          <p:cNvPr id="656" name="Table 10"/>
          <p:cNvGraphicFramePr/>
          <p:nvPr/>
        </p:nvGraphicFramePr>
        <p:xfrm>
          <a:off x="502920" y="1783080"/>
          <a:ext cx="11155320" cy="3840480"/>
        </p:xfrm>
        <a:graphic>
          <a:graphicData uri="http://schemas.openxmlformats.org/drawingml/2006/table">
            <a:tbl>
              <a:tblPr/>
              <a:tblGrid>
                <a:gridCol w="118872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48640">
                <a:tc>
                  <a:txBody>
                    <a:bodyPr/>
                    <a:lstStyle/>
                    <a:p>
                      <a:pPr algn="ctr" defTabSz="914400">
                        <a:lnSpc>
                          <a:spcPct val="100000"/>
                        </a:lnSpc>
                      </a:pPr>
                      <a:r>
                        <a:rPr lang="en-US" sz="1400" b="1" u="none" strike="noStrike">
                          <a:solidFill>
                            <a:srgbClr val="FFFFFF"/>
                          </a:solidFill>
                          <a:effectLst/>
                          <a:uFillTx/>
                          <a:latin typeface="Noto Sans JP"/>
                          <a:ea typeface="Noto Sans JP"/>
                        </a:rPr>
                        <a:t>PWTT</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tc>
                  <a:txBody>
                    <a:bodyPr/>
                    <a:lstStyle/>
                    <a:p>
                      <a:pPr defTabSz="914400">
                        <a:lnSpc>
                          <a:spcPct val="100000"/>
                        </a:lnSpc>
                      </a:pPr>
                      <a:r>
                        <a:rPr lang="ja-JP" sz="1400" b="1" u="none" strike="noStrike">
                          <a:solidFill>
                            <a:srgbClr val="FFFFFF"/>
                          </a:solidFill>
                          <a:effectLst/>
                          <a:uFillTx/>
                          <a:latin typeface="Noto Sans JP"/>
                          <a:ea typeface="Noto Sans JP"/>
                        </a:rPr>
                        <a:t>主な機序</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tc>
                  <a:txBody>
                    <a:bodyPr/>
                    <a:lstStyle/>
                    <a:p>
                      <a:pPr algn="ctr" defTabSz="914400">
                        <a:lnSpc>
                          <a:spcPct val="100000"/>
                        </a:lnSpc>
                      </a:pPr>
                      <a:r>
                        <a:rPr lang="ja-JP" sz="1400" b="1" u="none" strike="noStrike">
                          <a:solidFill>
                            <a:srgbClr val="FFFFFF"/>
                          </a:solidFill>
                          <a:effectLst/>
                          <a:uFillTx/>
                          <a:latin typeface="Noto Sans JP"/>
                          <a:ea typeface="Noto Sans JP"/>
                        </a:rPr>
                        <a:t>実際の </a:t>
                      </a:r>
                      <a:r>
                        <a:rPr lang="en-US" sz="1400" b="1" u="none" strike="noStrike">
                          <a:solidFill>
                            <a:srgbClr val="FFFFFF"/>
                          </a:solidFill>
                          <a:effectLst/>
                          <a:uFillTx/>
                          <a:latin typeface="Noto Sans JP"/>
                          <a:ea typeface="Noto Sans JP"/>
                        </a:rPr>
                        <a:t>SV</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tc>
                  <a:txBody>
                    <a:bodyPr/>
                    <a:lstStyle/>
                    <a:p>
                      <a:pPr algn="ctr" defTabSz="914400">
                        <a:lnSpc>
                          <a:spcPct val="100000"/>
                        </a:lnSpc>
                      </a:pPr>
                      <a:r>
                        <a:rPr lang="en-US" sz="1400" b="1" u="none" strike="noStrike">
                          <a:solidFill>
                            <a:srgbClr val="FFFFFF"/>
                          </a:solidFill>
                          <a:effectLst/>
                          <a:uFillTx/>
                          <a:latin typeface="Noto Sans JP"/>
                          <a:ea typeface="Noto Sans JP"/>
                        </a:rPr>
                        <a:t>esCCO </a:t>
                      </a:r>
                      <a:r>
                        <a:rPr lang="ja-JP" sz="1400" b="1" u="none" strike="noStrike">
                          <a:solidFill>
                            <a:srgbClr val="FFFFFF"/>
                          </a:solidFill>
                          <a:effectLst/>
                          <a:uFillTx/>
                          <a:latin typeface="Noto Sans JP"/>
                          <a:ea typeface="Noto Sans JP"/>
                        </a:rPr>
                        <a:t>判定</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extLst>
                  <a:ext uri="{0D108BD9-81ED-4DB2-BD59-A6C34878D82A}">
                    <a16:rowId xmlns:a16="http://schemas.microsoft.com/office/drawing/2014/main" val="10000"/>
                  </a:ext>
                </a:extLst>
              </a:tr>
              <a:tr h="548640">
                <a:tc>
                  <a:txBody>
                    <a:bodyPr/>
                    <a:lstStyle/>
                    <a:p>
                      <a:pPr algn="ctr" defTabSz="914400">
                        <a:lnSpc>
                          <a:spcPct val="100000"/>
                        </a:lnSpc>
                      </a:pPr>
                      <a:r>
                        <a:rPr lang="ja-JP" sz="1400" b="1" u="none" strike="noStrike">
                          <a:solidFill>
                            <a:srgbClr val="FFFFFF"/>
                          </a:solidFill>
                          <a:effectLst/>
                          <a:uFillTx/>
                          <a:latin typeface="Noto Sans JP"/>
                          <a:ea typeface="Noto Sans JP"/>
                        </a:rPr>
                        <a:t>短縮</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8438"/>
                    </a:solidFill>
                  </a:tcPr>
                </a:tc>
                <a:tc>
                  <a:txBody>
                    <a:bodyPr/>
                    <a:lstStyle/>
                    <a:p>
                      <a:pPr defTabSz="914400">
                        <a:lnSpc>
                          <a:spcPct val="100000"/>
                        </a:lnSpc>
                      </a:pPr>
                      <a:r>
                        <a:rPr lang="en-US" sz="1350" b="0" u="none" strike="noStrike">
                          <a:solidFill>
                            <a:srgbClr val="333333"/>
                          </a:solidFill>
                          <a:effectLst/>
                          <a:uFillTx/>
                          <a:latin typeface="Noto Sans JP"/>
                          <a:ea typeface="Noto Sans JP"/>
                        </a:rPr>
                        <a:t>PEP</a:t>
                      </a:r>
                      <a:r>
                        <a:rPr lang="ja-JP" sz="1350" b="0" u="none" strike="noStrike">
                          <a:solidFill>
                            <a:srgbClr val="333333"/>
                          </a:solidFill>
                          <a:effectLst/>
                          <a:uFillTx/>
                          <a:latin typeface="Noto Sans JP"/>
                          <a:ea typeface="Noto Sans JP"/>
                        </a:rPr>
                        <a:t>短縮（前負荷↑・心収縮↑）</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70AD47"/>
                          </a:solidFill>
                          <a:effectLst/>
                          <a:uFillTx/>
                          <a:latin typeface="Noto Sans JP"/>
                          <a:ea typeface="Noto Sans JP"/>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Noto Sans JP"/>
                          <a:ea typeface="Noto Sans JP"/>
                        </a:rPr>
                        <a:t>正しい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70AD47"/>
                    </a:solidFill>
                  </a:tcPr>
                </a:tc>
                <a:extLst>
                  <a:ext uri="{0D108BD9-81ED-4DB2-BD59-A6C34878D82A}">
                    <a16:rowId xmlns:a16="http://schemas.microsoft.com/office/drawing/2014/main" val="10001"/>
                  </a:ext>
                </a:extLst>
              </a:tr>
              <a:tr h="548640">
                <a:tc>
                  <a:txBody>
                    <a:bodyPr/>
                    <a:lstStyle/>
                    <a:p>
                      <a:pPr algn="ctr" defTabSz="914400">
                        <a:lnSpc>
                          <a:spcPct val="100000"/>
                        </a:lnSpc>
                      </a:pPr>
                      <a:r>
                        <a:rPr lang="ja-JP" sz="1400" b="1" u="none" strike="noStrike">
                          <a:solidFill>
                            <a:srgbClr val="FFFFFF"/>
                          </a:solidFill>
                          <a:effectLst/>
                          <a:uFillTx/>
                          <a:latin typeface="Noto Sans JP"/>
                          <a:ea typeface="Noto Sans JP"/>
                        </a:rPr>
                        <a:t>短縮</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8438"/>
                    </a:solidFill>
                  </a:tcPr>
                </a:tc>
                <a:tc>
                  <a:txBody>
                    <a:bodyPr/>
                    <a:lstStyle/>
                    <a:p>
                      <a:pPr defTabSz="914400">
                        <a:lnSpc>
                          <a:spcPct val="100000"/>
                        </a:lnSpc>
                      </a:pPr>
                      <a:r>
                        <a:rPr lang="en-US" sz="1350" b="0" u="none" strike="noStrike">
                          <a:solidFill>
                            <a:srgbClr val="333333"/>
                          </a:solidFill>
                          <a:effectLst/>
                          <a:uFillTx/>
                          <a:latin typeface="Noto Sans JP"/>
                          <a:ea typeface="Noto Sans JP"/>
                        </a:rPr>
                        <a:t>T1T2</a:t>
                      </a:r>
                      <a:r>
                        <a:rPr lang="ja-JP" sz="1350" b="0" u="none" strike="noStrike">
                          <a:solidFill>
                            <a:srgbClr val="333333"/>
                          </a:solidFill>
                          <a:effectLst/>
                          <a:uFillTx/>
                          <a:latin typeface="Noto Sans JP"/>
                          <a:ea typeface="Noto Sans JP"/>
                        </a:rPr>
                        <a:t>短縮（後負荷↑＝硬く速い）</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C00000"/>
                          </a:solidFill>
                          <a:effectLst/>
                          <a:uFillTx/>
                          <a:latin typeface="Noto Sans JP"/>
                          <a:ea typeface="Noto Sans JP"/>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Noto Sans JP"/>
                          <a:ea typeface="Noto Sans JP"/>
                        </a:rPr>
                        <a:t>過大評価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2"/>
                  </a:ext>
                </a:extLst>
              </a:tr>
              <a:tr h="548640">
                <a:tc>
                  <a:txBody>
                    <a:bodyPr/>
                    <a:lstStyle/>
                    <a:p>
                      <a:pPr algn="ctr" defTabSz="914400">
                        <a:lnSpc>
                          <a:spcPct val="100000"/>
                        </a:lnSpc>
                      </a:pPr>
                      <a:r>
                        <a:rPr lang="ja-JP" sz="1400" b="1" u="none" strike="noStrike">
                          <a:solidFill>
                            <a:srgbClr val="FFFFFF"/>
                          </a:solidFill>
                          <a:effectLst/>
                          <a:uFillTx/>
                          <a:latin typeface="Noto Sans JP"/>
                          <a:ea typeface="Noto Sans JP"/>
                        </a:rPr>
                        <a:t>短縮</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8438"/>
                    </a:solidFill>
                  </a:tcPr>
                </a:tc>
                <a:tc>
                  <a:txBody>
                    <a:bodyPr/>
                    <a:lstStyle/>
                    <a:p>
                      <a:pPr defTabSz="914400">
                        <a:lnSpc>
                          <a:spcPct val="100000"/>
                        </a:lnSpc>
                      </a:pPr>
                      <a:r>
                        <a:rPr lang="en-US" sz="1350" b="0" u="none" strike="noStrike">
                          <a:solidFill>
                            <a:srgbClr val="333333"/>
                          </a:solidFill>
                          <a:effectLst/>
                          <a:uFillTx/>
                          <a:latin typeface="Noto Sans JP"/>
                          <a:ea typeface="Noto Sans JP"/>
                        </a:rPr>
                        <a:t>PEP</a:t>
                      </a:r>
                      <a:r>
                        <a:rPr lang="ja-JP" sz="1350" b="0" u="none" strike="noStrike">
                          <a:solidFill>
                            <a:srgbClr val="333333"/>
                          </a:solidFill>
                          <a:effectLst/>
                          <a:uFillTx/>
                          <a:latin typeface="Noto Sans JP"/>
                          <a:ea typeface="Noto Sans JP"/>
                        </a:rPr>
                        <a:t>延長＋</a:t>
                      </a:r>
                      <a:r>
                        <a:rPr lang="en-US" sz="1350" b="0" u="none" strike="noStrike">
                          <a:solidFill>
                            <a:srgbClr val="333333"/>
                          </a:solidFill>
                          <a:effectLst/>
                          <a:uFillTx/>
                          <a:latin typeface="Noto Sans JP"/>
                          <a:ea typeface="Noto Sans JP"/>
                        </a:rPr>
                        <a:t>T1T2</a:t>
                      </a:r>
                      <a:r>
                        <a:rPr lang="ja-JP" sz="1350" b="0" u="none" strike="noStrike">
                          <a:solidFill>
                            <a:srgbClr val="333333"/>
                          </a:solidFill>
                          <a:effectLst/>
                          <a:uFillTx/>
                          <a:latin typeface="Noto Sans JP"/>
                          <a:ea typeface="Noto Sans JP"/>
                        </a:rPr>
                        <a:t>短縮（</a:t>
                      </a:r>
                      <a:r>
                        <a:rPr lang="en-US" sz="1350" b="0" u="none" strike="noStrike">
                          <a:solidFill>
                            <a:srgbClr val="333333"/>
                          </a:solidFill>
                          <a:effectLst/>
                          <a:uFillTx/>
                          <a:latin typeface="Noto Sans JP"/>
                          <a:ea typeface="Noto Sans JP"/>
                        </a:rPr>
                        <a:t>T1</a:t>
                      </a:r>
                      <a:r>
                        <a:rPr lang="ja-JP" sz="1350" b="0" u="none" strike="noStrike">
                          <a:solidFill>
                            <a:srgbClr val="333333"/>
                          </a:solidFill>
                          <a:effectLst/>
                          <a:uFillTx/>
                          <a:latin typeface="Noto Sans JP"/>
                          <a:ea typeface="Noto Sans JP"/>
                        </a:rPr>
                        <a:t>優位）</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C00000"/>
                          </a:solidFill>
                          <a:effectLst/>
                          <a:uFillTx/>
                          <a:latin typeface="Noto Sans JP"/>
                          <a:ea typeface="Noto Sans JP"/>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Noto Sans JP"/>
                          <a:ea typeface="Noto Sans JP"/>
                        </a:rPr>
                        <a:t>過大評価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3"/>
                  </a:ext>
                </a:extLst>
              </a:tr>
              <a:tr h="548640">
                <a:tc>
                  <a:txBody>
                    <a:bodyPr/>
                    <a:lstStyle/>
                    <a:p>
                      <a:pPr algn="ctr" defTabSz="914400">
                        <a:lnSpc>
                          <a:spcPct val="100000"/>
                        </a:lnSpc>
                      </a:pPr>
                      <a:r>
                        <a:rPr lang="ja-JP" sz="1400" b="1" u="none" strike="noStrike">
                          <a:solidFill>
                            <a:srgbClr val="FFFFFF"/>
                          </a:solidFill>
                          <a:effectLst/>
                          <a:uFillTx/>
                          <a:latin typeface="Noto Sans JP"/>
                          <a:ea typeface="Noto Sans JP"/>
                        </a:rPr>
                        <a:t>延長</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6FB0"/>
                    </a:solidFill>
                  </a:tcPr>
                </a:tc>
                <a:tc>
                  <a:txBody>
                    <a:bodyPr/>
                    <a:lstStyle/>
                    <a:p>
                      <a:pPr defTabSz="914400">
                        <a:lnSpc>
                          <a:spcPct val="100000"/>
                        </a:lnSpc>
                      </a:pPr>
                      <a:r>
                        <a:rPr lang="en-US" sz="1350" b="0" u="none" strike="noStrike">
                          <a:solidFill>
                            <a:srgbClr val="333333"/>
                          </a:solidFill>
                          <a:effectLst/>
                          <a:uFillTx/>
                          <a:latin typeface="Noto Sans JP"/>
                          <a:ea typeface="Noto Sans JP"/>
                        </a:rPr>
                        <a:t>PEP</a:t>
                      </a:r>
                      <a:r>
                        <a:rPr lang="ja-JP" sz="1350" b="0" u="none" strike="noStrike">
                          <a:solidFill>
                            <a:srgbClr val="333333"/>
                          </a:solidFill>
                          <a:effectLst/>
                          <a:uFillTx/>
                          <a:latin typeface="Noto Sans JP"/>
                          <a:ea typeface="Noto Sans JP"/>
                        </a:rPr>
                        <a:t>延長（前負荷↓・心収縮↓）</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C00000"/>
                          </a:solidFill>
                          <a:effectLst/>
                          <a:uFillTx/>
                          <a:latin typeface="Noto Sans JP"/>
                          <a:ea typeface="Noto Sans JP"/>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Noto Sans JP"/>
                          <a:ea typeface="Noto Sans JP"/>
                        </a:rPr>
                        <a:t>正しい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70AD47"/>
                    </a:solidFill>
                  </a:tcPr>
                </a:tc>
                <a:extLst>
                  <a:ext uri="{0D108BD9-81ED-4DB2-BD59-A6C34878D82A}">
                    <a16:rowId xmlns:a16="http://schemas.microsoft.com/office/drawing/2014/main" val="10004"/>
                  </a:ext>
                </a:extLst>
              </a:tr>
              <a:tr h="548640">
                <a:tc>
                  <a:txBody>
                    <a:bodyPr/>
                    <a:lstStyle/>
                    <a:p>
                      <a:pPr algn="ctr" defTabSz="914400">
                        <a:lnSpc>
                          <a:spcPct val="100000"/>
                        </a:lnSpc>
                      </a:pPr>
                      <a:r>
                        <a:rPr lang="ja-JP" sz="1400" b="1" u="none" strike="noStrike">
                          <a:solidFill>
                            <a:srgbClr val="FFFFFF"/>
                          </a:solidFill>
                          <a:effectLst/>
                          <a:uFillTx/>
                          <a:latin typeface="Noto Sans JP"/>
                          <a:ea typeface="Noto Sans JP"/>
                        </a:rPr>
                        <a:t>延長</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6FB0"/>
                    </a:solidFill>
                  </a:tcPr>
                </a:tc>
                <a:tc>
                  <a:txBody>
                    <a:bodyPr/>
                    <a:lstStyle/>
                    <a:p>
                      <a:pPr defTabSz="914400">
                        <a:lnSpc>
                          <a:spcPct val="100000"/>
                        </a:lnSpc>
                      </a:pPr>
                      <a:r>
                        <a:rPr lang="en-US" sz="1350" b="0" u="none" strike="noStrike">
                          <a:solidFill>
                            <a:srgbClr val="333333"/>
                          </a:solidFill>
                          <a:effectLst/>
                          <a:uFillTx/>
                          <a:latin typeface="Noto Sans JP"/>
                          <a:ea typeface="Noto Sans JP"/>
                        </a:rPr>
                        <a:t>T1T2</a:t>
                      </a:r>
                      <a:r>
                        <a:rPr lang="ja-JP" sz="1350" b="0" u="none" strike="noStrike">
                          <a:solidFill>
                            <a:srgbClr val="333333"/>
                          </a:solidFill>
                          <a:effectLst/>
                          <a:uFillTx/>
                          <a:latin typeface="Noto Sans JP"/>
                          <a:ea typeface="Noto Sans JP"/>
                        </a:rPr>
                        <a:t>延長（後負荷↓＝軟く遅い）</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70AD47"/>
                          </a:solidFill>
                          <a:effectLst/>
                          <a:uFillTx/>
                          <a:latin typeface="Noto Sans JP"/>
                          <a:ea typeface="Noto Sans JP"/>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Noto Sans JP"/>
                          <a:ea typeface="Noto Sans JP"/>
                        </a:rPr>
                        <a:t>過小評価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5"/>
                  </a:ext>
                </a:extLst>
              </a:tr>
              <a:tr h="548640">
                <a:tc>
                  <a:txBody>
                    <a:bodyPr/>
                    <a:lstStyle/>
                    <a:p>
                      <a:pPr algn="ctr" defTabSz="914400">
                        <a:lnSpc>
                          <a:spcPct val="100000"/>
                        </a:lnSpc>
                      </a:pPr>
                      <a:r>
                        <a:rPr lang="ja-JP" sz="1400" b="1" u="none" strike="noStrike">
                          <a:solidFill>
                            <a:srgbClr val="FFFFFF"/>
                          </a:solidFill>
                          <a:effectLst/>
                          <a:uFillTx/>
                          <a:latin typeface="Noto Sans JP"/>
                          <a:ea typeface="Noto Sans JP"/>
                        </a:rPr>
                        <a:t>延長</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6FB0"/>
                    </a:solidFill>
                  </a:tcPr>
                </a:tc>
                <a:tc>
                  <a:txBody>
                    <a:bodyPr/>
                    <a:lstStyle/>
                    <a:p>
                      <a:pPr defTabSz="914400">
                        <a:lnSpc>
                          <a:spcPct val="100000"/>
                        </a:lnSpc>
                      </a:pPr>
                      <a:r>
                        <a:rPr lang="en-US" sz="1350" b="0" u="none" strike="noStrike">
                          <a:solidFill>
                            <a:srgbClr val="333333"/>
                          </a:solidFill>
                          <a:effectLst/>
                          <a:uFillTx/>
                          <a:latin typeface="Noto Sans JP"/>
                          <a:ea typeface="Noto Sans JP"/>
                        </a:rPr>
                        <a:t>PEP</a:t>
                      </a:r>
                      <a:r>
                        <a:rPr lang="ja-JP" sz="1350" b="0" u="none" strike="noStrike">
                          <a:solidFill>
                            <a:srgbClr val="333333"/>
                          </a:solidFill>
                          <a:effectLst/>
                          <a:uFillTx/>
                          <a:latin typeface="Noto Sans JP"/>
                          <a:ea typeface="Noto Sans JP"/>
                        </a:rPr>
                        <a:t>短縮＋</a:t>
                      </a:r>
                      <a:r>
                        <a:rPr lang="en-US" sz="1350" b="0" u="none" strike="noStrike">
                          <a:solidFill>
                            <a:srgbClr val="333333"/>
                          </a:solidFill>
                          <a:effectLst/>
                          <a:uFillTx/>
                          <a:latin typeface="Noto Sans JP"/>
                          <a:ea typeface="Noto Sans JP"/>
                        </a:rPr>
                        <a:t>T1T2</a:t>
                      </a:r>
                      <a:r>
                        <a:rPr lang="ja-JP" sz="1350" b="0" u="none" strike="noStrike">
                          <a:solidFill>
                            <a:srgbClr val="333333"/>
                          </a:solidFill>
                          <a:effectLst/>
                          <a:uFillTx/>
                          <a:latin typeface="Noto Sans JP"/>
                          <a:ea typeface="Noto Sans JP"/>
                        </a:rPr>
                        <a:t>延長（</a:t>
                      </a:r>
                      <a:r>
                        <a:rPr lang="en-US" sz="1350" b="0" u="none" strike="noStrike">
                          <a:solidFill>
                            <a:srgbClr val="333333"/>
                          </a:solidFill>
                          <a:effectLst/>
                          <a:uFillTx/>
                          <a:latin typeface="Noto Sans JP"/>
                          <a:ea typeface="Noto Sans JP"/>
                        </a:rPr>
                        <a:t>T1</a:t>
                      </a:r>
                      <a:r>
                        <a:rPr lang="ja-JP" sz="1350" b="0" u="none" strike="noStrike">
                          <a:solidFill>
                            <a:srgbClr val="333333"/>
                          </a:solidFill>
                          <a:effectLst/>
                          <a:uFillTx/>
                          <a:latin typeface="Noto Sans JP"/>
                          <a:ea typeface="Noto Sans JP"/>
                        </a:rPr>
                        <a:t>優位）</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70AD47"/>
                          </a:solidFill>
                          <a:effectLst/>
                          <a:uFillTx/>
                          <a:latin typeface="Noto Sans JP"/>
                          <a:ea typeface="Noto Sans JP"/>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Noto Sans JP"/>
                          <a:ea typeface="Noto Sans JP"/>
                        </a:rPr>
                        <a:t>過小評価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6"/>
                  </a:ext>
                </a:extLst>
              </a:tr>
            </a:tbl>
          </a:graphicData>
        </a:graphic>
      </p:graphicFrame>
      <p:sp>
        <p:nvSpPr>
          <p:cNvPr id="657" name="TextBox 11"/>
          <p:cNvSpPr/>
          <p:nvPr/>
        </p:nvSpPr>
        <p:spPr>
          <a:xfrm>
            <a:off x="502920" y="5806440"/>
            <a:ext cx="1115532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2200" b="1" u="none" strike="noStrike">
                <a:solidFill>
                  <a:srgbClr val="70AD47"/>
                </a:solidFill>
                <a:effectLst/>
                <a:uFillTx/>
                <a:latin typeface="Noto Sans JP"/>
                <a:ea typeface="Noto Sans JP"/>
              </a:rPr>
              <a:t>緑＝前提が成立</a:t>
            </a:r>
            <a:r>
              <a:rPr lang="ja-JP" sz="2200" b="0" u="none" strike="noStrike">
                <a:solidFill>
                  <a:srgbClr val="808080"/>
                </a:solidFill>
                <a:effectLst/>
                <a:uFillTx/>
                <a:latin typeface="Noto Sans JP"/>
                <a:ea typeface="Noto Sans JP"/>
              </a:rPr>
              <a:t>　／　</a:t>
            </a:r>
            <a:r>
              <a:rPr lang="ja-JP" sz="2200" b="1" u="none" strike="noStrike">
                <a:solidFill>
                  <a:srgbClr val="C00000"/>
                </a:solidFill>
                <a:effectLst/>
                <a:uFillTx/>
                <a:latin typeface="Noto Sans JP"/>
                <a:ea typeface="Noto Sans JP"/>
              </a:rPr>
              <a:t>赤＝後負荷が交絡し破綻（本仮説）</a:t>
            </a:r>
            <a:endParaRPr lang="en-US" sz="1500" b="0" u="none" strike="noStrike">
              <a:solidFill>
                <a:srgbClr val="000000"/>
              </a:solidFill>
              <a:effectLst/>
              <a:uFillTx/>
              <a:latin typeface="Arial"/>
            </a:endParaRPr>
          </a:p>
        </p:txBody>
      </p:sp>
      <p:sp>
        <p:nvSpPr>
          <p:cNvPr id="658" name="TextBox 12"/>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ja-JP" sz="1050" b="0" u="none" strike="noStrike">
                <a:solidFill>
                  <a:srgbClr val="808080"/>
                </a:solidFill>
                <a:effectLst/>
                <a:uFillTx/>
                <a:latin typeface="Noto Sans JP"/>
                <a:ea typeface="Noto Sans JP"/>
              </a:rPr>
              <a:t>各方向の文献的根拠は次頁（</a:t>
            </a:r>
            <a:r>
              <a:rPr lang="en-US" sz="1050" b="0" u="none" strike="noStrike">
                <a:solidFill>
                  <a:srgbClr val="808080"/>
                </a:solidFill>
                <a:effectLst/>
                <a:uFillTx/>
                <a:latin typeface="Noto Sans JP"/>
                <a:ea typeface="Noto Sans JP"/>
              </a:rPr>
              <a:t>7.5</a:t>
            </a:r>
            <a:r>
              <a:rPr lang="ja-JP" sz="1050" b="0" u="none" strike="noStrike">
                <a:solidFill>
                  <a:srgbClr val="808080"/>
                </a:solidFill>
                <a:effectLst/>
                <a:uFillTx/>
                <a:latin typeface="Noto Sans JP"/>
                <a:ea typeface="Noto Sans JP"/>
              </a:rPr>
              <a:t>）に示す</a:t>
            </a:r>
            <a:endParaRPr lang="en-US" sz="1050" b="0" u="none" strike="noStrike">
              <a:solidFill>
                <a:srgbClr val="000000"/>
              </a:solidFill>
              <a:effectLst/>
              <a:uFillTx/>
              <a:latin typeface="Arial"/>
            </a:endParaRPr>
          </a:p>
        </p:txBody>
      </p:sp>
      <p:sp>
        <p:nvSpPr>
          <p:cNvPr id="659" name="TextBox 13"/>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Noto Sans JP"/>
                <a:ea typeface="Noto Sans JP"/>
              </a:rPr>
              <a:t>41/47</a:t>
            </a:r>
            <a:endParaRPr lang="en-US" sz="105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 name="TitleFrame"/>
          <p:cNvSpPr/>
          <p:nvPr/>
        </p:nvSpPr>
        <p:spPr>
          <a:xfrm>
            <a:off x="655200" y="603504"/>
            <a:ext cx="5559552" cy="804672"/>
          </a:xfrm>
          <a:prstGeom prst="roundRect">
            <a:avLst>
              <a:gd name="adj" fmla="val 8000"/>
            </a:avLst>
          </a:prstGeom>
          <a:noFill/>
          <a:ln w="28575" cap="flat">
            <a:solidFill>
              <a:srgbClr val="44546A"/>
            </a:solidFill>
            <a:round/>
          </a:ln>
        </p:spPr>
        <p:txBody>
          <a:bodyPr rtlCol="0" anchor="ctr"/>
          <a:lstStyle/>
          <a:p>
            <a:endParaRPr lang="ja-JP"/>
          </a:p>
        </p:txBody>
      </p:sp>
      <p:sp>
        <p:nvSpPr>
          <p:cNvPr id="66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7.5 </a:t>
            </a:r>
            <a:r>
              <a:rPr lang="ja-JP" sz="4400" b="1" u="none" strike="noStrike">
                <a:ln w="19050">
                  <a:solidFill>
                    <a:srgbClr val="000000"/>
                  </a:solidFill>
                </a:ln>
                <a:solidFill>
                  <a:schemeClr val="accent4">
                    <a:lumMod val="75000"/>
                  </a:schemeClr>
                </a:solidFill>
                <a:effectLst/>
                <a:uFillTx/>
                <a:latin typeface="Calibri"/>
              </a:rPr>
              <a:t>仮説の裏付け</a:t>
            </a:r>
            <a:endParaRPr lang="en-US" sz="4000" b="1" u="none" strike="noStrike">
              <a:ln w="19050">
                <a:solidFill>
                  <a:srgbClr val="000000"/>
                </a:solidFill>
              </a:ln>
              <a:solidFill>
                <a:schemeClr val="accent4">
                  <a:lumMod val="75000"/>
                </a:schemeClr>
              </a:solidFill>
              <a:effectLst/>
              <a:uFillTx/>
              <a:latin typeface="Calibri"/>
            </a:endParaRPr>
          </a:p>
        </p:txBody>
      </p:sp>
      <p:sp>
        <p:nvSpPr>
          <p:cNvPr id="66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66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663"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66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66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66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667"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Noto Sans JP"/>
                <a:ea typeface="Noto Sans JP"/>
              </a:rPr>
              <a:t>esCCO</a:t>
            </a:r>
            <a:endParaRPr lang="en-US" sz="1050" b="0" u="none" strike="noStrike">
              <a:solidFill>
                <a:srgbClr val="FFFFFF"/>
              </a:solidFill>
              <a:effectLst/>
              <a:uFillTx/>
              <a:latin typeface="Arial"/>
            </a:endParaRPr>
          </a:p>
        </p:txBody>
      </p:sp>
      <p:sp>
        <p:nvSpPr>
          <p:cNvPr id="668"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Noto Sans JP"/>
                <a:ea typeface="Noto Sans JP"/>
              </a:rPr>
              <a:t>29. Nakamura 1983</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JACC</a:t>
            </a:r>
            <a:r>
              <a:rPr lang="ja-JP" sz="1050" b="0" u="none" strike="noStrike">
                <a:solidFill>
                  <a:srgbClr val="808080"/>
                </a:solidFill>
                <a:effectLst/>
                <a:uFillTx/>
                <a:latin typeface="Noto Sans JP"/>
                <a:ea typeface="Noto Sans JP"/>
              </a:rPr>
              <a:t>）　／　</a:t>
            </a:r>
            <a:r>
              <a:rPr lang="en-US" sz="1050" b="0" u="none" strike="noStrike">
                <a:solidFill>
                  <a:srgbClr val="808080"/>
                </a:solidFill>
                <a:effectLst/>
                <a:uFillTx/>
                <a:latin typeface="Noto Sans JP"/>
                <a:ea typeface="Noto Sans JP"/>
              </a:rPr>
              <a:t>30. Ahmed 1972</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Circulation</a:t>
            </a:r>
            <a:r>
              <a:rPr lang="ja-JP" sz="1050" b="0" u="none" strike="noStrike">
                <a:solidFill>
                  <a:srgbClr val="808080"/>
                </a:solidFill>
                <a:effectLst/>
                <a:uFillTx/>
                <a:latin typeface="Noto Sans JP"/>
                <a:ea typeface="Noto Sans JP"/>
              </a:rPr>
              <a:t>）　／　</a:t>
            </a:r>
            <a:r>
              <a:rPr lang="en-US" sz="1050" b="0" u="none" strike="noStrike">
                <a:solidFill>
                  <a:srgbClr val="808080"/>
                </a:solidFill>
                <a:effectLst/>
                <a:uFillTx/>
                <a:latin typeface="Noto Sans JP"/>
                <a:ea typeface="Noto Sans JP"/>
              </a:rPr>
              <a:t>31. Kettunen 1985</a:t>
            </a:r>
            <a:r>
              <a:rPr lang="ja-JP" sz="1050" b="0" u="none" strike="noStrike">
                <a:solidFill>
                  <a:srgbClr val="808080"/>
                </a:solidFill>
                <a:effectLst/>
                <a:uFillTx/>
                <a:latin typeface="Noto Sans JP"/>
                <a:ea typeface="Noto Sans JP"/>
              </a:rPr>
              <a:t>　／　</a:t>
            </a:r>
            <a:r>
              <a:rPr lang="en-US" sz="1050" b="0" u="none" strike="noStrike">
                <a:solidFill>
                  <a:srgbClr val="808080"/>
                </a:solidFill>
                <a:effectLst/>
                <a:uFillTx/>
                <a:latin typeface="Noto Sans JP"/>
                <a:ea typeface="Noto Sans JP"/>
              </a:rPr>
              <a:t>32. Borlaug 2007</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JACC</a:t>
            </a:r>
            <a:r>
              <a:rPr lang="ja-JP" sz="1050" b="0" u="none" strike="noStrike">
                <a:solidFill>
                  <a:srgbClr val="808080"/>
                </a:solidFill>
                <a:effectLst/>
                <a:uFillTx/>
                <a:latin typeface="Noto Sans JP"/>
                <a:ea typeface="Noto Sans JP"/>
              </a:rPr>
              <a:t>）</a:t>
            </a:r>
            <a:endParaRPr lang="en-US" sz="1050" b="0" u="none" strike="noStrike">
              <a:solidFill>
                <a:srgbClr val="000000"/>
              </a:solidFill>
              <a:effectLst/>
              <a:uFillTx/>
              <a:latin typeface="Arial"/>
            </a:endParaRPr>
          </a:p>
        </p:txBody>
      </p:sp>
      <p:sp>
        <p:nvSpPr>
          <p:cNvPr id="669"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Noto Sans JP"/>
                <a:ea typeface="Noto Sans JP"/>
              </a:rPr>
              <a:t>42/47</a:t>
            </a:r>
            <a:endParaRPr lang="en-US" sz="1050" b="0" u="none" strike="noStrike">
              <a:solidFill>
                <a:srgbClr val="000000"/>
              </a:solidFill>
              <a:effectLst/>
              <a:uFillTx/>
              <a:latin typeface="Arial"/>
            </a:endParaRPr>
          </a:p>
        </p:txBody>
      </p:sp>
      <p:pic>
        <p:nvPicPr>
          <p:cNvPr id="670" name="Picture 12" descr="fig75.png"/>
          <p:cNvPicPr/>
          <p:nvPr/>
        </p:nvPicPr>
        <p:blipFill>
          <a:blip r:embed="rId3"/>
          <a:stretch/>
        </p:blipFill>
        <p:spPr>
          <a:xfrm>
            <a:off x="380880" y="1919880"/>
            <a:ext cx="11429640" cy="4252680"/>
          </a:xfrm>
          <a:prstGeom prst="rect">
            <a:avLst/>
          </a:prstGeom>
          <a:noFill/>
          <a:ln w="0">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TitleFrame"/>
          <p:cNvSpPr/>
          <p:nvPr/>
        </p:nvSpPr>
        <p:spPr>
          <a:xfrm>
            <a:off x="655200" y="603504"/>
            <a:ext cx="4791456" cy="804672"/>
          </a:xfrm>
          <a:prstGeom prst="roundRect">
            <a:avLst>
              <a:gd name="adj" fmla="val 8000"/>
            </a:avLst>
          </a:prstGeom>
          <a:noFill/>
          <a:ln w="28575" cap="flat">
            <a:solidFill>
              <a:srgbClr val="44546A"/>
            </a:solidFill>
            <a:round/>
          </a:ln>
        </p:spPr>
        <p:txBody>
          <a:bodyPr rtlCol="0" anchor="ctr"/>
          <a:lstStyle/>
          <a:p>
            <a:endParaRPr lang="ja-JP"/>
          </a:p>
        </p:txBody>
      </p:sp>
      <p:sp>
        <p:nvSpPr>
          <p:cNvPr id="67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7.6 PPG</a:t>
            </a:r>
            <a:r>
              <a:rPr lang="ja-JP" sz="4400" b="1" u="none" strike="noStrike">
                <a:ln w="19050">
                  <a:solidFill>
                    <a:srgbClr val="000000"/>
                  </a:solidFill>
                </a:ln>
                <a:solidFill>
                  <a:schemeClr val="accent4">
                    <a:lumMod val="75000"/>
                  </a:schemeClr>
                </a:solidFill>
                <a:effectLst/>
                <a:uFillTx/>
                <a:latin typeface="Calibri"/>
              </a:rPr>
              <a:t>で補正</a:t>
            </a:r>
            <a:endParaRPr lang="en-US" sz="4000" b="1" u="none" strike="noStrike">
              <a:ln w="19050">
                <a:solidFill>
                  <a:srgbClr val="000000"/>
                </a:solidFill>
              </a:ln>
              <a:solidFill>
                <a:schemeClr val="accent4">
                  <a:lumMod val="75000"/>
                </a:schemeClr>
              </a:solidFill>
              <a:effectLst/>
              <a:uFillTx/>
              <a:latin typeface="Calibri"/>
            </a:endParaRPr>
          </a:p>
        </p:txBody>
      </p:sp>
      <p:sp>
        <p:nvSpPr>
          <p:cNvPr id="67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673"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674"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67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67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67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678"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Noto Sans JP"/>
                <a:ea typeface="Noto Sans JP"/>
              </a:rPr>
              <a:t>esCCO</a:t>
            </a:r>
            <a:endParaRPr lang="en-US" sz="1050" b="0" u="none" strike="noStrike">
              <a:solidFill>
                <a:srgbClr val="FFFFFF"/>
              </a:solidFill>
              <a:effectLst/>
              <a:uFillTx/>
              <a:latin typeface="Arial"/>
            </a:endParaRPr>
          </a:p>
        </p:txBody>
      </p:sp>
      <p:sp>
        <p:nvSpPr>
          <p:cNvPr id="679" name="TextBox 11"/>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Noto Sans JP"/>
                <a:ea typeface="Noto Sans JP"/>
              </a:rPr>
              <a:t>16. Takazawa 1998</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Hypertension</a:t>
            </a:r>
            <a:r>
              <a:rPr lang="ja-JP" sz="1050" b="0" u="none" strike="noStrike">
                <a:solidFill>
                  <a:srgbClr val="808080"/>
                </a:solidFill>
                <a:effectLst/>
                <a:uFillTx/>
                <a:latin typeface="Noto Sans JP"/>
                <a:ea typeface="Noto Sans JP"/>
              </a:rPr>
              <a:t>）　／　</a:t>
            </a:r>
            <a:r>
              <a:rPr lang="en-US" sz="1050" b="0" u="none" strike="noStrike">
                <a:solidFill>
                  <a:srgbClr val="808080"/>
                </a:solidFill>
                <a:effectLst/>
                <a:uFillTx/>
                <a:latin typeface="Noto Sans JP"/>
                <a:ea typeface="Noto Sans JP"/>
              </a:rPr>
              <a:t>19. Hashimoto 2002</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J Hypertens</a:t>
            </a:r>
            <a:r>
              <a:rPr lang="ja-JP" sz="1050" b="0" u="none" strike="noStrike">
                <a:solidFill>
                  <a:srgbClr val="808080"/>
                </a:solidFill>
                <a:effectLst/>
                <a:uFillTx/>
                <a:latin typeface="Noto Sans JP"/>
                <a:ea typeface="Noto Sans JP"/>
              </a:rPr>
              <a:t>）</a:t>
            </a:r>
            <a:endParaRPr lang="en-US" sz="1050" b="0" u="none" strike="noStrike">
              <a:solidFill>
                <a:srgbClr val="000000"/>
              </a:solidFill>
              <a:effectLst/>
              <a:uFillTx/>
              <a:latin typeface="Arial"/>
            </a:endParaRPr>
          </a:p>
        </p:txBody>
      </p:sp>
      <p:sp>
        <p:nvSpPr>
          <p:cNvPr id="680" name="TextBox 12"/>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Noto Sans JP"/>
                <a:ea typeface="Noto Sans JP"/>
              </a:rPr>
              <a:t>43/47</a:t>
            </a:r>
            <a:endParaRPr lang="en-US" sz="1050" b="0" u="none" strike="noStrike">
              <a:solidFill>
                <a:srgbClr val="000000"/>
              </a:solidFill>
              <a:effectLst/>
              <a:uFillTx/>
              <a:latin typeface="Arial"/>
            </a:endParaRPr>
          </a:p>
        </p:txBody>
      </p:sp>
      <p:pic>
        <p:nvPicPr>
          <p:cNvPr id="681" name="Picture 13" descr="fig76.png"/>
          <p:cNvPicPr/>
          <p:nvPr/>
        </p:nvPicPr>
        <p:blipFill>
          <a:blip r:embed="rId3"/>
          <a:stretch/>
        </p:blipFill>
        <p:spPr>
          <a:xfrm>
            <a:off x="380880" y="2104920"/>
            <a:ext cx="11429640" cy="3882600"/>
          </a:xfrm>
          <a:prstGeom prst="rect">
            <a:avLst/>
          </a:prstGeom>
          <a:noFill/>
          <a:ln w="0">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 name="TitleFrame"/>
          <p:cNvSpPr/>
          <p:nvPr/>
        </p:nvSpPr>
        <p:spPr>
          <a:xfrm>
            <a:off x="655200" y="603504"/>
            <a:ext cx="5559552" cy="804672"/>
          </a:xfrm>
          <a:prstGeom prst="roundRect">
            <a:avLst>
              <a:gd name="adj" fmla="val 8000"/>
            </a:avLst>
          </a:prstGeom>
          <a:noFill/>
          <a:ln w="28575" cap="flat">
            <a:solidFill>
              <a:srgbClr val="44546A"/>
            </a:solidFill>
            <a:round/>
          </a:ln>
        </p:spPr>
        <p:txBody>
          <a:bodyPr rtlCol="0" anchor="ctr"/>
          <a:lstStyle/>
          <a:p>
            <a:endParaRPr lang="ja-JP"/>
          </a:p>
        </p:txBody>
      </p:sp>
      <p:sp>
        <p:nvSpPr>
          <p:cNvPr id="68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7.7 </a:t>
            </a:r>
            <a:r>
              <a:rPr lang="ja-JP" sz="4400" b="1" u="none" strike="noStrike">
                <a:ln w="19050">
                  <a:solidFill>
                    <a:srgbClr val="000000"/>
                  </a:solidFill>
                </a:ln>
                <a:solidFill>
                  <a:schemeClr val="accent4">
                    <a:lumMod val="75000"/>
                  </a:schemeClr>
                </a:solidFill>
                <a:effectLst/>
                <a:uFillTx/>
                <a:latin typeface="Calibri"/>
              </a:rPr>
              <a:t>提案の新規性</a:t>
            </a:r>
            <a:endParaRPr lang="en-US" sz="4000" b="1" u="none" strike="noStrike">
              <a:ln w="19050">
                <a:solidFill>
                  <a:srgbClr val="000000"/>
                </a:solidFill>
              </a:ln>
              <a:solidFill>
                <a:schemeClr val="accent4">
                  <a:lumMod val="75000"/>
                </a:schemeClr>
              </a:solidFill>
              <a:effectLst/>
              <a:uFillTx/>
              <a:latin typeface="Calibri"/>
            </a:endParaRPr>
          </a:p>
        </p:txBody>
      </p:sp>
      <p:sp>
        <p:nvSpPr>
          <p:cNvPr id="683"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684"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685"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686"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687"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688"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689"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Noto Sans JP"/>
                <a:ea typeface="Noto Sans JP"/>
              </a:rPr>
              <a:t>esCCO</a:t>
            </a:r>
            <a:endParaRPr lang="en-US" sz="1050" b="0" u="none" strike="noStrike">
              <a:solidFill>
                <a:srgbClr val="FFFFFF"/>
              </a:solidFill>
              <a:effectLst/>
              <a:uFillTx/>
              <a:latin typeface="Arial"/>
            </a:endParaRPr>
          </a:p>
        </p:txBody>
      </p:sp>
      <p:sp>
        <p:nvSpPr>
          <p:cNvPr id="690"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Noto Sans JP"/>
                <a:ea typeface="Noto Sans JP"/>
              </a:rPr>
              <a:t>25. Sugo 2012</a:t>
            </a:r>
            <a:r>
              <a:rPr lang="ja-JP" sz="1050" b="0" u="none" strike="noStrike">
                <a:solidFill>
                  <a:srgbClr val="808080"/>
                </a:solidFill>
                <a:effectLst/>
                <a:uFillTx/>
                <a:latin typeface="Noto Sans JP"/>
                <a:ea typeface="Noto Sans JP"/>
              </a:rPr>
              <a:t>　／　</a:t>
            </a:r>
            <a:r>
              <a:rPr lang="en-US" sz="1050" b="0" u="none" strike="noStrike">
                <a:solidFill>
                  <a:srgbClr val="808080"/>
                </a:solidFill>
                <a:effectLst/>
                <a:uFillTx/>
                <a:latin typeface="Noto Sans JP"/>
                <a:ea typeface="Noto Sans JP"/>
              </a:rPr>
              <a:t>33. Beutel 2021</a:t>
            </a:r>
            <a:r>
              <a:rPr lang="ja-JP" sz="1050" b="0" u="none" strike="noStrike">
                <a:solidFill>
                  <a:srgbClr val="808080"/>
                </a:solidFill>
                <a:effectLst/>
                <a:uFillTx/>
                <a:latin typeface="Noto Sans JP"/>
                <a:ea typeface="Noto Sans JP"/>
              </a:rPr>
              <a:t>（</a:t>
            </a:r>
            <a:r>
              <a:rPr lang="en-US" sz="1050" b="0" u="none" strike="noStrike">
                <a:solidFill>
                  <a:srgbClr val="808080"/>
                </a:solidFill>
                <a:effectLst/>
                <a:uFillTx/>
                <a:latin typeface="Noto Sans JP"/>
                <a:ea typeface="Noto Sans JP"/>
              </a:rPr>
              <a:t>IEEE Trans Biomed Eng 2021;68:2810–20</a:t>
            </a:r>
            <a:r>
              <a:rPr lang="ja-JP" sz="1050" b="0" u="none" strike="noStrike">
                <a:solidFill>
                  <a:srgbClr val="808080"/>
                </a:solidFill>
                <a:effectLst/>
                <a:uFillTx/>
                <a:latin typeface="Noto Sans JP"/>
                <a:ea typeface="Noto Sans JP"/>
              </a:rPr>
              <a:t>）</a:t>
            </a:r>
            <a:endParaRPr lang="en-US" sz="1050" b="0" u="none" strike="noStrike">
              <a:solidFill>
                <a:srgbClr val="000000"/>
              </a:solidFill>
              <a:effectLst/>
              <a:uFillTx/>
              <a:latin typeface="Arial"/>
            </a:endParaRPr>
          </a:p>
        </p:txBody>
      </p:sp>
      <p:sp>
        <p:nvSpPr>
          <p:cNvPr id="691"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Noto Sans JP"/>
                <a:ea typeface="Noto Sans JP"/>
              </a:rPr>
              <a:t>44/47</a:t>
            </a:r>
            <a:endParaRPr lang="en-US" sz="1050" b="0" u="none" strike="noStrike">
              <a:solidFill>
                <a:srgbClr val="000000"/>
              </a:solidFill>
              <a:effectLst/>
              <a:uFillTx/>
              <a:latin typeface="Arial"/>
            </a:endParaRPr>
          </a:p>
        </p:txBody>
      </p:sp>
      <p:pic>
        <p:nvPicPr>
          <p:cNvPr id="692" name="Picture 12" descr="fig77.png"/>
          <p:cNvPicPr/>
          <p:nvPr/>
        </p:nvPicPr>
        <p:blipFill>
          <a:blip r:embed="rId3"/>
          <a:stretch/>
        </p:blipFill>
        <p:spPr>
          <a:xfrm>
            <a:off x="380880" y="2013840"/>
            <a:ext cx="11429640" cy="4064400"/>
          </a:xfrm>
          <a:prstGeom prst="rect">
            <a:avLst/>
          </a:prstGeom>
          <a:noFill/>
          <a:ln w="0">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 name="TitleFrame"/>
          <p:cNvSpPr/>
          <p:nvPr/>
        </p:nvSpPr>
        <p:spPr>
          <a:xfrm>
            <a:off x="655200" y="603504"/>
            <a:ext cx="3749040" cy="804672"/>
          </a:xfrm>
          <a:prstGeom prst="roundRect">
            <a:avLst>
              <a:gd name="adj" fmla="val 8000"/>
            </a:avLst>
          </a:prstGeom>
          <a:noFill/>
          <a:ln w="28575" cap="flat">
            <a:solidFill>
              <a:srgbClr val="44546A"/>
            </a:solidFill>
            <a:round/>
          </a:ln>
        </p:spPr>
        <p:txBody>
          <a:bodyPr rtlCol="0" anchor="ctr"/>
          <a:lstStyle/>
          <a:p>
            <a:endParaRPr lang="ja-JP"/>
          </a:p>
        </p:txBody>
      </p:sp>
      <p:sp>
        <p:nvSpPr>
          <p:cNvPr id="69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7.8 </a:t>
            </a:r>
            <a:r>
              <a:rPr lang="ja-JP" sz="4400" b="1" u="none" strike="noStrike">
                <a:ln w="19050">
                  <a:solidFill>
                    <a:srgbClr val="000000"/>
                  </a:solidFill>
                </a:ln>
                <a:solidFill>
                  <a:schemeClr val="accent4">
                    <a:lumMod val="75000"/>
                  </a:schemeClr>
                </a:solidFill>
                <a:effectLst/>
                <a:uFillTx/>
                <a:latin typeface="Calibri"/>
              </a:rPr>
              <a:t>まとめ</a:t>
            </a:r>
            <a:endParaRPr lang="en-US" sz="4000" b="1" u="none" strike="noStrike">
              <a:ln w="19050">
                <a:solidFill>
                  <a:srgbClr val="000000"/>
                </a:solidFill>
              </a:ln>
              <a:solidFill>
                <a:schemeClr val="accent4">
                  <a:lumMod val="75000"/>
                </a:schemeClr>
              </a:solidFill>
              <a:effectLst/>
              <a:uFillTx/>
              <a:latin typeface="Calibri"/>
            </a:endParaRPr>
          </a:p>
        </p:txBody>
      </p:sp>
      <p:sp>
        <p:nvSpPr>
          <p:cNvPr id="69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69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69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69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69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69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700"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Noto Sans JP"/>
                <a:ea typeface="Noto Sans JP"/>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Noto Sans JP"/>
                <a:ea typeface="Noto Sans JP"/>
              </a:rPr>
              <a:t>esCCO</a:t>
            </a:r>
            <a:endParaRPr lang="en-US" sz="1050" b="0" u="none" strike="noStrike">
              <a:solidFill>
                <a:srgbClr val="FFFFFF"/>
              </a:solidFill>
              <a:effectLst/>
              <a:uFillTx/>
              <a:latin typeface="Arial"/>
            </a:endParaRPr>
          </a:p>
        </p:txBody>
      </p:sp>
      <p:sp>
        <p:nvSpPr>
          <p:cNvPr id="701"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ja-JP" sz="1050" b="0" u="none" strike="noStrike">
                <a:solidFill>
                  <a:srgbClr val="808080"/>
                </a:solidFill>
                <a:effectLst/>
                <a:uFillTx/>
                <a:latin typeface="Noto Sans JP"/>
                <a:ea typeface="Noto Sans JP"/>
              </a:rPr>
              <a:t>総括　（引用は各頁および巻末の参考文献一覧を参照）</a:t>
            </a:r>
            <a:endParaRPr lang="en-US" sz="1050" b="0" u="none" strike="noStrike">
              <a:solidFill>
                <a:srgbClr val="000000"/>
              </a:solidFill>
              <a:effectLst/>
              <a:uFillTx/>
              <a:latin typeface="Arial"/>
            </a:endParaRPr>
          </a:p>
        </p:txBody>
      </p:sp>
      <p:sp>
        <p:nvSpPr>
          <p:cNvPr id="702"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Noto Sans JP"/>
                <a:ea typeface="Noto Sans JP"/>
              </a:rPr>
              <a:t>45/47</a:t>
            </a:r>
            <a:endParaRPr lang="en-US" sz="1050" b="0" u="none" strike="noStrike">
              <a:solidFill>
                <a:srgbClr val="000000"/>
              </a:solidFill>
              <a:effectLst/>
              <a:uFillTx/>
              <a:latin typeface="Arial"/>
            </a:endParaRPr>
          </a:p>
        </p:txBody>
      </p:sp>
      <p:pic>
        <p:nvPicPr>
          <p:cNvPr id="703" name="Picture 12" descr="fig78.png"/>
          <p:cNvPicPr/>
          <p:nvPr/>
        </p:nvPicPr>
        <p:blipFill>
          <a:blip r:embed="rId3"/>
          <a:stretch/>
        </p:blipFill>
        <p:spPr>
          <a:xfrm>
            <a:off x="380880" y="2198880"/>
            <a:ext cx="11429640" cy="3694320"/>
          </a:xfrm>
          <a:prstGeom prst="rect">
            <a:avLst/>
          </a:prstGeom>
          <a:noFill/>
          <a:ln w="0">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70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70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70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70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70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71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715" name="TitleFrame"/>
          <p:cNvSpPr/>
          <p:nvPr/>
        </p:nvSpPr>
        <p:spPr>
          <a:xfrm>
            <a:off x="655200" y="603504"/>
            <a:ext cx="2962656" cy="804672"/>
          </a:xfrm>
          <a:prstGeom prst="roundRect">
            <a:avLst>
              <a:gd name="adj" fmla="val 8000"/>
            </a:avLst>
          </a:prstGeom>
          <a:noFill/>
          <a:ln w="28575" cap="flat">
            <a:solidFill>
              <a:srgbClr val="44546A"/>
            </a:solidFill>
            <a:round/>
          </a:ln>
        </p:spPr>
        <p:txBody>
          <a:bodyPr rtlCol="0" anchor="ctr"/>
          <a:lstStyle/>
          <a:p>
            <a:endParaRPr lang="ja-JP"/>
          </a:p>
        </p:txBody>
      </p:sp>
      <p:sp>
        <p:nvSpPr>
          <p:cNvPr id="71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ja-JP" sz="4400" b="1" u="none" strike="noStrike">
                <a:ln w="19050">
                  <a:solidFill>
                    <a:srgbClr val="000000"/>
                  </a:solidFill>
                </a:ln>
                <a:solidFill>
                  <a:schemeClr val="accent4">
                    <a:lumMod val="75000"/>
                  </a:schemeClr>
                </a:solidFill>
                <a:effectLst/>
                <a:uFillTx/>
                <a:latin typeface="Noto Sans JP"/>
                <a:ea typeface="Noto Sans JP"/>
              </a:rPr>
              <a:t>参考文献</a:t>
            </a:r>
            <a:endParaRPr lang="en-US" sz="4600" b="1" u="none" strike="noStrike">
              <a:ln w="19050">
                <a:solidFill>
                  <a:srgbClr val="000000"/>
                </a:solidFill>
              </a:ln>
              <a:solidFill>
                <a:schemeClr val="accent4">
                  <a:lumMod val="75000"/>
                </a:schemeClr>
              </a:solidFill>
              <a:effectLst/>
              <a:uFillTx/>
              <a:latin typeface="Calibri"/>
            </a:endParaRPr>
          </a:p>
        </p:txBody>
      </p:sp>
      <p:sp>
        <p:nvSpPr>
          <p:cNvPr id="712" name="TextBox 2"/>
          <p:cNvSpPr/>
          <p:nvPr/>
        </p:nvSpPr>
        <p:spPr>
          <a:xfrm>
            <a:off x="792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499"/>
              </a:spcAft>
            </a:pPr>
            <a:r>
              <a:rPr lang="en-US" sz="950" b="0" u="none" strike="noStrike">
                <a:solidFill>
                  <a:srgbClr val="808080"/>
                </a:solidFill>
                <a:effectLst/>
                <a:uFillTx/>
                <a:latin typeface="Noto Sans JP"/>
                <a:ea typeface="Noto Sans JP"/>
                <a:hlinkClick r:id="rId2"/>
              </a:rPr>
              <a:t>1. Allen J. Photoplethysmography and its application in clinical physiological measurement. Physiol Meas 2007;28:R1–39.</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3"/>
              </a:rPr>
              <a:t>2. Politi MT, et al. The dicrotic notch analyzed by a numerical model. Comput Biol Med 2016;72:54–64.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4"/>
              </a:rPr>
              <a:t>3. Stergiopulos N, Westerhof BE, Westerhof N. Total arterial inertance as the fourth element of the windkessel model. Am J Physiol 1999;276:H81–8.</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5"/>
              </a:rPr>
              <a:t>4. Millasseau SC, et al. Determination of age-related increases in large artery stiffness by digital pulse contour analysis. Clin Sci (Lond) 2002;103:371–7.</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6"/>
              </a:rPr>
              <a:t>5. Dawber TR, Thomas HE, McNamara PM. Characteristics of the dicrotic notch of the arterial pulse wave in coronary heart disease. Angiology 1973;24:244–55.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7"/>
              </a:rPr>
              <a:t>6. Cunningham JW, et al. Machine learning to understand genetic and clinical factors associated with the pulse waveform dicrotic notch. Circ Genom Precis Med 2023;16:e003676.</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8"/>
              </a:rPr>
              <a:t>7. Wilkinson IB, et al. The influence of heart rate on augmentation index and central arterial pressure in humans. J Physiol 2000;525:263–70.</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9"/>
              </a:rPr>
              <a:t>8. Alian AA, et al. Impact of central hypovolemia on photoplethysmographic waveform parameters in healthy volunteers. Part 1: time domain analysis. J Clin Monit Comput 2011;25:377–85.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10"/>
              </a:rPr>
              <a:t>9. Cannesson M, et al. Relation between respiratory variations in pulse oximetry plethysmographic waveform amplitude and arterial pulse pressure in ventilated patients. Crit Care 2005;9:R562–8.</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11"/>
              </a:rPr>
              <a:t>10. Pagoulatou S, et al. The effect of left ventricular contractility on arterial hemodynamics: a model-based investigation. PLoS One 2021;16(8):e0255561.</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12"/>
              </a:rPr>
              <a:t>11. Couceiro R, et al. Multi-Gaussian fitting for the assessment of left ventricular ejection time from the photoplethysmogram. Annu Int Conf IEEE EMBC 2012;2012:3951–4.</a:t>
            </a:r>
            <a:endParaRPr lang="en-US" sz="950" b="0" u="none" strike="noStrike">
              <a:solidFill>
                <a:srgbClr val="000000"/>
              </a:solidFill>
              <a:effectLst/>
              <a:uFillTx/>
              <a:latin typeface="Arial"/>
            </a:endParaRPr>
          </a:p>
        </p:txBody>
      </p:sp>
      <p:sp>
        <p:nvSpPr>
          <p:cNvPr id="713" name="TextBox 3"/>
          <p:cNvSpPr/>
          <p:nvPr/>
        </p:nvSpPr>
        <p:spPr>
          <a:xfrm>
            <a:off x="6264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499"/>
              </a:spcAft>
            </a:pPr>
            <a:r>
              <a:rPr lang="en-US" sz="950" b="0" u="none" strike="noStrike">
                <a:solidFill>
                  <a:srgbClr val="808080"/>
                </a:solidFill>
                <a:effectLst/>
                <a:uFillTx/>
                <a:latin typeface="Noto Sans JP"/>
                <a:ea typeface="Noto Sans JP"/>
                <a:hlinkClick r:id="rId13"/>
              </a:rPr>
              <a:t>12. Piccioli F, et al. The effect of cardiac properties on arterial pulse waves: an in-silico study. Int J Numer Method Biomed Eng 2022;38(12):e3658.</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14"/>
              </a:rPr>
              <a:t>13. Awad AA, et al. The relationship between the photoplethysmographic waveform and systemic vascular resistance. J Clin Monit Comput 2007;21:365–72.</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15"/>
              </a:rPr>
              <a:t>14. Tusman G, et al. Photoplethysmographic characterization of vascular tone mediated changes in arterial pressure: an observational study. J Clin Monit Comput 2019;33:815–24.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16"/>
              </a:rPr>
              <a:t>15. Chowienczyk PJ, et al. Photoplethysmographic assessment of pulse wave reflection: blunted response to endothelium-dependent β2-adrenergic vasodilation in type II diabetes mellitus. J Am Coll Cardiol 1999;34:2007–14.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17"/>
              </a:rPr>
              <a:t>16. Takazawa K, et al. Assessment of vasoactive agents and vascular aging by the second derivative of the photoplethysmogram waveform. Hypertension 1998;32:365–70.</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18"/>
              </a:rPr>
              <a:t>17. Murray WB, Foster PA. The peripheral pulse wave: information overlooked. J Clin Monit 1996;12:365–77.</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19"/>
              </a:rPr>
              <a:t>18. Bortolotto LA, et al. Assessment of vascular aging and atherosclerosis in hypertensive subjects: second derivative of photoplethysmogram versus pulse wave velocity. Am J Hypertens 2000;13:165–71.</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20"/>
              </a:rPr>
              <a:t>19. Hashimoto J, et al. Pulse wave velocity and the second derivative of the finger photoplethysmogram in treated hypertensive patients. J Hypertens 2002;20:2415–22.</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21"/>
              </a:rPr>
              <a:t>20. Joachim J, et al. Real-time estimation of mean arterial blood pressure based on photoplethysmography dicrotic notch and perfusion index: a pilot study. J Clin Monit Comput 2021;35:395–404.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22"/>
              </a:rPr>
              <a:t>21. Middleton PM, et al. Fingertip photoplethysmographic waveform variability and systemic vascular resistance in intensive care unit patients. Med Biol Eng Comput 2011;49:859–66.</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22"/>
              </a:rPr>
              <a:t>22. Elgendi M. On the analysis of fingertip photoplethysmogram signals. Curr Cardiol Rev 2012;8:14–25.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22"/>
              </a:rPr>
              <a:t>23. Charlton PH, et al. Modeling arterial pulse waves in healthy aging: a database for in silico evaluation of hemodynamics and pulse wave indexes. Am J Physiol Heart Circ Physiol 2019;317:H1062–H1085.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Noto Sans JP"/>
                <a:ea typeface="Noto Sans JP"/>
                <a:hlinkClick r:id="rId22"/>
              </a:rPr>
              <a:t>24. Md Lazim MR, et al. Is heart rate a confounding factor for photoplethysmography markers? A systematic review. Int J Environ Res Public Health 2020;17:2591.</a:t>
            </a:r>
            <a:endParaRPr lang="en-US" sz="950" b="0" u="none" strike="noStrike">
              <a:solidFill>
                <a:srgbClr val="000000"/>
              </a:solidFill>
              <a:effectLst/>
              <a:uFillTx/>
              <a:latin typeface="Arial"/>
            </a:endParaRPr>
          </a:p>
        </p:txBody>
      </p:sp>
      <p:sp>
        <p:nvSpPr>
          <p:cNvPr id="714" name="TextBox 4"/>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46/47</a:t>
            </a:r>
            <a:endParaRPr lang="en-US" sz="120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基礎</a:t>
            </a:r>
            <a:endParaRPr lang="en-US" sz="1050" b="0" u="none" strike="noStrike">
              <a:solidFill>
                <a:srgbClr val="000000"/>
              </a:solidFill>
              <a:effectLst/>
              <a:uFillTx/>
              <a:latin typeface="Arial"/>
            </a:endParaRPr>
          </a:p>
        </p:txBody>
      </p:sp>
      <p:sp>
        <p:nvSpPr>
          <p:cNvPr id="71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加齢</a:t>
            </a:r>
            <a:endParaRPr lang="en-US" sz="1050" b="0" u="none" strike="noStrike">
              <a:solidFill>
                <a:srgbClr val="000000"/>
              </a:solidFill>
              <a:effectLst/>
              <a:uFillTx/>
              <a:latin typeface="Arial"/>
            </a:endParaRPr>
          </a:p>
        </p:txBody>
      </p:sp>
      <p:sp>
        <p:nvSpPr>
          <p:cNvPr id="71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循環</a:t>
            </a:r>
            <a:endParaRPr lang="en-US" sz="1050" b="0" u="none" strike="noStrike">
              <a:solidFill>
                <a:srgbClr val="000000"/>
              </a:solidFill>
              <a:effectLst/>
              <a:uFillTx/>
              <a:latin typeface="Arial"/>
            </a:endParaRPr>
          </a:p>
        </p:txBody>
      </p:sp>
      <p:sp>
        <p:nvSpPr>
          <p:cNvPr id="71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定量化</a:t>
            </a:r>
            <a:endParaRPr lang="en-US" sz="1050" b="0" u="none" strike="noStrike">
              <a:solidFill>
                <a:srgbClr val="000000"/>
              </a:solidFill>
              <a:effectLst/>
              <a:uFillTx/>
              <a:latin typeface="Arial"/>
            </a:endParaRPr>
          </a:p>
        </p:txBody>
      </p:sp>
      <p:sp>
        <p:nvSpPr>
          <p:cNvPr id="71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まとめ</a:t>
            </a:r>
            <a:endParaRPr lang="en-US" sz="1050" b="0" u="none" strike="noStrike">
              <a:solidFill>
                <a:srgbClr val="000000"/>
              </a:solidFill>
              <a:effectLst/>
              <a:uFillTx/>
              <a:latin typeface="Arial"/>
            </a:endParaRPr>
          </a:p>
        </p:txBody>
      </p:sp>
      <p:sp>
        <p:nvSpPr>
          <p:cNvPr id="72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Noto Sans JP"/>
                <a:ea typeface="Noto Sans JP"/>
              </a:rPr>
              <a:t>限界</a:t>
            </a:r>
            <a:endParaRPr lang="en-US" sz="1050" b="0" u="none" strike="noStrike">
              <a:solidFill>
                <a:srgbClr val="000000"/>
              </a:solidFill>
              <a:effectLst/>
              <a:uFillTx/>
              <a:latin typeface="Arial"/>
            </a:endParaRPr>
          </a:p>
        </p:txBody>
      </p:sp>
      <p:sp>
        <p:nvSpPr>
          <p:cNvPr id="72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Noto Sans JP"/>
                <a:ea typeface="Noto Sans JP"/>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Noto Sans JP"/>
                <a:ea typeface="Noto Sans JP"/>
              </a:rPr>
              <a:t>esCCO</a:t>
            </a:r>
            <a:endParaRPr lang="en-US" sz="1050" b="0" u="none" strike="noStrike">
              <a:solidFill>
                <a:srgbClr val="000000"/>
              </a:solidFill>
              <a:effectLst/>
              <a:uFillTx/>
              <a:latin typeface="Arial"/>
            </a:endParaRPr>
          </a:p>
        </p:txBody>
      </p:sp>
      <p:sp>
        <p:nvSpPr>
          <p:cNvPr id="726" name="TitleFrame"/>
          <p:cNvSpPr/>
          <p:nvPr/>
        </p:nvSpPr>
        <p:spPr>
          <a:xfrm>
            <a:off x="655200" y="603504"/>
            <a:ext cx="5376672" cy="804672"/>
          </a:xfrm>
          <a:prstGeom prst="roundRect">
            <a:avLst>
              <a:gd name="adj" fmla="val 8000"/>
            </a:avLst>
          </a:prstGeom>
          <a:noFill/>
          <a:ln w="28575" cap="flat">
            <a:solidFill>
              <a:srgbClr val="44546A"/>
            </a:solidFill>
            <a:round/>
          </a:ln>
        </p:spPr>
        <p:txBody>
          <a:bodyPr rtlCol="0" anchor="ctr"/>
          <a:lstStyle/>
          <a:p>
            <a:endParaRPr lang="ja-JP"/>
          </a:p>
        </p:txBody>
      </p:sp>
      <p:sp>
        <p:nvSpPr>
          <p:cNvPr id="72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ja-JP" sz="4400" b="1" u="none" strike="noStrike">
                <a:ln w="19050">
                  <a:solidFill>
                    <a:srgbClr val="000000"/>
                  </a:solidFill>
                </a:ln>
                <a:solidFill>
                  <a:schemeClr val="accent4">
                    <a:lumMod val="75000"/>
                  </a:schemeClr>
                </a:solidFill>
                <a:effectLst/>
                <a:uFillTx/>
                <a:latin typeface="Noto Sans JP"/>
                <a:ea typeface="Noto Sans JP"/>
              </a:rPr>
              <a:t>参考文献（続き）</a:t>
            </a:r>
            <a:endParaRPr lang="en-US" sz="4600" b="1" u="none" strike="noStrike">
              <a:ln w="19050">
                <a:solidFill>
                  <a:srgbClr val="000000"/>
                </a:solidFill>
              </a:ln>
              <a:solidFill>
                <a:schemeClr val="accent4">
                  <a:lumMod val="75000"/>
                </a:schemeClr>
              </a:solidFill>
              <a:effectLst/>
              <a:uFillTx/>
              <a:latin typeface="Calibri"/>
            </a:endParaRPr>
          </a:p>
        </p:txBody>
      </p:sp>
      <p:sp>
        <p:nvSpPr>
          <p:cNvPr id="723" name="TextBox 2"/>
          <p:cNvSpPr/>
          <p:nvPr/>
        </p:nvSpPr>
        <p:spPr>
          <a:xfrm>
            <a:off x="792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601"/>
              </a:spcAft>
            </a:pPr>
            <a:r>
              <a:rPr lang="en-US" sz="950" b="0" u="none" strike="noStrike">
                <a:solidFill>
                  <a:srgbClr val="404040"/>
                </a:solidFill>
                <a:effectLst/>
                <a:uFillTx/>
                <a:latin typeface="Noto Sans JP"/>
                <a:ea typeface="Noto Sans JP"/>
              </a:rPr>
              <a:t>25. Sugo Y, Sakai T, Terao M, Ukawa T, Ochiai R. The comparison of a novel continuous cardiac output monitor based on pulse wave transit time and echo Doppler during exercise. Annu Int Conf IEEE EMBC 2012;2012:236–9.</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Noto Sans JP"/>
                <a:ea typeface="Noto Sans JP"/>
              </a:rPr>
              <a:t>26. Ishihara H, Tsutsui M. Impact of changes in systemic vascular resistance on a novel non-invasive continuous cardiac output measurement system based on pulse wave transit time: a report of two cases. J Clin Monit Comput 2013;28:423–7.</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Noto Sans JP"/>
                <a:ea typeface="Noto Sans JP"/>
              </a:rPr>
              <a:t>27. Tsutsui M, Araki Y, Masui K, et al. Pulse wave transit time measurements of cardiac output in patients undergoing partial hepatectomy: a comparison of the esCCO system with thermodilution. Anesth Analg 2013;117:1307–12.</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Noto Sans JP"/>
                <a:ea typeface="Noto Sans JP"/>
              </a:rPr>
              <a:t>28. Magliocca A, Rezoagli E, Anderson TA, et al. Cardiac output measurements based on pulse wave transit time and thoracic impedance exhibit limited agreement with thermodilution during orthotopic liver transplantation. Anesth Analg 2018;126:85–92.</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Noto Sans JP"/>
                <a:ea typeface="Noto Sans JP"/>
              </a:rPr>
              <a:t>29. Nakamura Y, Wiegner AW, Gaasch WH, Bing OH. Systolic time intervals: assessment by isolated cardiac muscle studies. J Am Coll Cardiol 1983;2:973–8.</a:t>
            </a:r>
            <a:endParaRPr lang="en-US" sz="950" b="0" u="none" strike="noStrike">
              <a:solidFill>
                <a:srgbClr val="000000"/>
              </a:solidFill>
              <a:effectLst/>
              <a:uFillTx/>
              <a:latin typeface="Arial"/>
            </a:endParaRPr>
          </a:p>
        </p:txBody>
      </p:sp>
      <p:sp>
        <p:nvSpPr>
          <p:cNvPr id="724" name="TextBox 3"/>
          <p:cNvSpPr/>
          <p:nvPr/>
        </p:nvSpPr>
        <p:spPr>
          <a:xfrm>
            <a:off x="6264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601"/>
              </a:spcAft>
            </a:pPr>
            <a:r>
              <a:rPr lang="en-US" sz="950" b="0" u="none" strike="noStrike">
                <a:solidFill>
                  <a:srgbClr val="404040"/>
                </a:solidFill>
                <a:effectLst/>
                <a:uFillTx/>
                <a:latin typeface="Noto Sans JP"/>
                <a:ea typeface="Noto Sans JP"/>
              </a:rPr>
              <a:t>30. Ahmed SS, Levinson GE, Schwartz CJ, Ettinger PO. Systolic time intervals as measures of the contractile state of the left ventricular myocardium in man. Circulation 1972;46:559–71.</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Noto Sans JP"/>
                <a:ea typeface="Noto Sans JP"/>
              </a:rPr>
              <a:t>31. Kettunen R, Timisjärvi J, Kouvalainen E, et al. Electromechanical delay in the intact dog heart. Int J Cardiol 1985;9:161–71.</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Noto Sans JP"/>
                <a:ea typeface="Noto Sans JP"/>
              </a:rPr>
              <a:t>32. Borlaug BA, Melenovsky V, Redfield MM, et al. Impact of arterial load and loading sequence on left ventricular tissue velocities in humans. J Am Coll Cardiol 2007;50:1570–7.</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Noto Sans JP"/>
                <a:ea typeface="Noto Sans JP"/>
              </a:rPr>
              <a:t>33. Beutel F, Van Hoof C, Rottenberg X, Reesink K, Hermeling E. Pulse arrival time segmentation into cardiac and vascular intervals — implications for pulse wave velocity and blood pressure estimation. IEEE Trans Biomed Eng 2021;68:2810–20.</a:t>
            </a:r>
            <a:endParaRPr lang="en-US" sz="950" b="0" u="none" strike="noStrike">
              <a:solidFill>
                <a:srgbClr val="000000"/>
              </a:solidFill>
              <a:effectLst/>
              <a:uFillTx/>
              <a:latin typeface="Arial"/>
            </a:endParaRPr>
          </a:p>
        </p:txBody>
      </p:sp>
      <p:sp>
        <p:nvSpPr>
          <p:cNvPr id="725" name="TextBox 4"/>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Noto Sans JP"/>
                <a:ea typeface="Noto Sans JP"/>
              </a:rPr>
              <a:t>47/47</a:t>
            </a:r>
            <a:endParaRPr lang="en-US"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テーマ</Template>
  <TotalTime>16513</TotalTime>
  <Words>7052</Words>
  <Application>Microsoft Macintosh PowerPoint</Application>
  <PresentationFormat>ワイド画面</PresentationFormat>
  <Paragraphs>1193</Paragraphs>
  <Slides>47</Slides>
  <Notes>31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47</vt:i4>
      </vt:variant>
    </vt:vector>
  </HeadingPairs>
  <TitlesOfParts>
    <vt:vector size="54" baseType="lpstr">
      <vt:lpstr>Meiryo</vt:lpstr>
      <vt:lpstr>Arial</vt:lpstr>
      <vt:lpstr>Calibri</vt:lpstr>
      <vt:lpstr>Symbol</vt:lpstr>
      <vt:lpstr>Times New Roman</vt:lpstr>
      <vt:lpstr>Wingdings</vt:lpstr>
      <vt:lpstr>Office テーマ</vt:lpstr>
      <vt:lpstr>SpO₂（PPG）波形解析の流れ</vt:lpstr>
      <vt:lpstr>メニュー</vt:lpstr>
      <vt:lpstr>1. 基礎</vt:lpstr>
      <vt:lpstr>1.1  PPG＝容積信号</vt:lpstr>
      <vt:lpstr>1.2  前進波＋反射波</vt:lpstr>
      <vt:lpstr>2. 波形への影響：加齢</vt:lpstr>
      <vt:lpstr>2.1  フラミンガム研究</vt:lpstr>
      <vt:lpstr>2.1  フラミンガム研究</vt:lpstr>
      <vt:lpstr>2.2  UK Biobank</vt:lpstr>
      <vt:lpstr>2.2  UK Biobank</vt:lpstr>
      <vt:lpstr>3. 波形への影響：循環</vt:lpstr>
      <vt:lpstr>3.1  心拍数</vt:lpstr>
      <vt:lpstr>3.2  前負荷</vt:lpstr>
      <vt:lpstr>3.2  前負荷</vt:lpstr>
      <vt:lpstr>3.2  前負荷（ΔPOP）</vt:lpstr>
      <vt:lpstr>3.2  前負荷（ΔPOP）</vt:lpstr>
      <vt:lpstr>3.3　心収縮力</vt:lpstr>
      <vt:lpstr>3.4  末梢血管トーヌス</vt:lpstr>
      <vt:lpstr>3.5  大血管エラスタンス</vt:lpstr>
      <vt:lpstr>3.6  後負荷の差</vt:lpstr>
      <vt:lpstr>3.7  裏付けの強さ</vt:lpstr>
      <vt:lpstr>3.8  麻酔中の変化</vt:lpstr>
      <vt:lpstr>3.8  麻酔中の変化</vt:lpstr>
      <vt:lpstr>3.9  麻酔中の変化</vt:lpstr>
      <vt:lpstr>3.9  麻酔中の変化</vt:lpstr>
      <vt:lpstr>4. 波形の定量化</vt:lpstr>
      <vt:lpstr>4.1  SI・RI・AIx</vt:lpstr>
      <vt:lpstr>4.2  SDPPG と AGI</vt:lpstr>
      <vt:lpstr>4.2  SDPPG の利点</vt:lpstr>
      <vt:lpstr>4.3  切痕＋PI→MAP</vt:lpstr>
      <vt:lpstr>5. まとめ</vt:lpstr>
      <vt:lpstr>5.1  読み方の2軸</vt:lpstr>
      <vt:lpstr>5.2  指標まとめ</vt:lpstr>
      <vt:lpstr>6. 限界</vt:lpstr>
      <vt:lpstr>6.1  本手法の限界</vt:lpstr>
      <vt:lpstr>6.2  限界への対応（解決の方向性）</vt:lpstr>
      <vt:lpstr>7. esCCO精度改善案</vt:lpstr>
      <vt:lpstr>7.1 esCCOの原理</vt:lpstr>
      <vt:lpstr>7.2 PWTT＝PEP＋VTT</vt:lpstr>
      <vt:lpstr>7.3 後負荷の交絡</vt:lpstr>
      <vt:lpstr>7.4 PWTT–SV分割表</vt:lpstr>
      <vt:lpstr>7.5 仮説の裏付け</vt:lpstr>
      <vt:lpstr>7.6 PPGで補正</vt:lpstr>
      <vt:lpstr>7.7 提案の新規性</vt:lpstr>
      <vt:lpstr>7.8 まとめ</vt:lpstr>
      <vt:lpstr>参考文献</vt:lpstr>
      <vt:lpstr>参考文献（続き）</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subject/>
  <dc:creator>靖晃 川副</dc:creator>
  <dc:description/>
  <cp:lastModifiedBy>靖晃 川副</cp:lastModifiedBy>
  <cp:revision>37</cp:revision>
  <dcterms:created xsi:type="dcterms:W3CDTF">2025-01-05T04:32:32Z</dcterms:created>
  <dcterms:modified xsi:type="dcterms:W3CDTF">2026-07-12T14:18:50Z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23</vt:r8>
  </property>
  <property fmtid="{D5CDD505-2E9C-101B-9397-08002B2CF9AE}" pid="3" name="PresentationFormat">
    <vt:lpwstr>ワイド画面</vt:lpwstr>
  </property>
  <property fmtid="{D5CDD505-2E9C-101B-9397-08002B2CF9AE}" pid="4" name="Slides">
    <vt:r8>39</vt:r8>
  </property>
</Properties>
</file>