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p:cViewPr varScale="1">
        <p:scale>
          <a:sx n="116" d="100"/>
          <a:sy n="116" d="100"/>
        </p:scale>
        <p:origin x="9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defTabSz="914400">
              <a:lnSpc>
                <a:spcPct val="90000"/>
              </a:lnSpc>
            </a:pPr>
            <a:r>
              <a:rPr lang="en-US" sz="6000" b="0" u="none" strike="noStrike">
                <a:solidFill>
                  <a:schemeClr val="dk1"/>
                </a:solidFill>
                <a:effectLst/>
                <a:uFillTx/>
                <a:latin typeface="Calibri"/>
              </a:rPr>
              <a:t>Click to move the slide</a:t>
            </a: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70"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71"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72"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F00E303-B3D0-4FDC-BDCC-008183B3FC9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PlaceHolder 1"/>
          <p:cNvSpPr>
            <a:spLocks noGrp="1" noRot="1" noChangeAspect="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 Murray1996 </a:t>
            </a:r>
            <a:r>
              <a:rPr lang="ja-JP" sz="2000" b="0" u="none" strike="noStrike">
                <a:solidFill>
                  <a:srgbClr val="000000"/>
                </a:solidFill>
                <a:effectLst/>
                <a:uFillTx/>
                <a:latin typeface="Arial"/>
              </a:rPr>
              <a:t>麻酔導入→手術開始→麻酔調整</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2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21CB0D-CD05-4824-831C-996293EA9659}"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noRot="1" noChangeAspect="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2002</a:t>
            </a:r>
            <a:r>
              <a:rPr lang="ja-JP" sz="2000" b="0" u="none" strike="noStrike">
                <a:solidFill>
                  <a:srgbClr val="000000"/>
                </a:solidFill>
                <a:effectLst/>
                <a:uFillTx/>
                <a:latin typeface="Arial"/>
              </a:rPr>
              <a:t>だけでいいかも</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B8F3BF-DFDD-4A88-9BE7-13A21E83CDE9}"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PlaceHolder 1"/>
          <p:cNvSpPr>
            <a:spLocks noGrp="1" noRot="1" noChangeAspect="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２つのコホート研究</a:t>
            </a:r>
            <a:endParaRPr lang="en-US" sz="2000" b="0" u="none" strike="noStrike">
              <a:solidFill>
                <a:srgbClr val="000000"/>
              </a:solidFill>
              <a:effectLst/>
              <a:uFillTx/>
              <a:latin typeface="Arial"/>
            </a:endParaRPr>
          </a:p>
        </p:txBody>
      </p:sp>
      <p:sp>
        <p:nvSpPr>
          <p:cNvPr id="73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3D8AFF2-0FC4-4BFD-A38F-6FFED6BA8057}"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noRot="1" noChangeAspect="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フラミンガム研究の対象集団</a:t>
            </a:r>
            <a:r>
              <a:rPr lang="en-US" sz="2000" b="0" u="none" strike="noStrike">
                <a:solidFill>
                  <a:srgbClr val="000000"/>
                </a:solidFill>
                <a:effectLst/>
                <a:uFillTx/>
                <a:latin typeface="Arial"/>
              </a:rPr>
              <a:t>5000</a:t>
            </a:r>
            <a:r>
              <a:rPr lang="ja-JP" sz="2000" b="0" u="none" strike="noStrike">
                <a:solidFill>
                  <a:srgbClr val="000000"/>
                </a:solidFill>
                <a:effectLst/>
                <a:uFillTx/>
                <a:latin typeface="Arial"/>
              </a:rPr>
              <a:t>人をベースにしたコホート研究、血管特性（麻酔変化ではない、安静時）の評価</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2.1  class2</a:t>
            </a:r>
            <a:r>
              <a:rPr lang="ja-JP" sz="2000" b="0" u="none" strike="noStrike">
                <a:solidFill>
                  <a:srgbClr val="000000"/>
                </a:solidFill>
                <a:effectLst/>
                <a:uFillTx/>
                <a:latin typeface="Arial"/>
              </a:rPr>
              <a:t>の画像で、波形は下降脚でノッチを作らず、水平に横向きに出るようにして（</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がそれに近い）。</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は下降脚のどこかで角度が変わるだけにして（この画像は</a:t>
            </a:r>
            <a:r>
              <a:rPr lang="en-US" sz="2000" b="0" u="none" strike="noStrike">
                <a:solidFill>
                  <a:srgbClr val="000000"/>
                </a:solidFill>
                <a:effectLst/>
                <a:uFillTx/>
                <a:latin typeface="Arial"/>
              </a:rPr>
              <a:t>class2</a:t>
            </a:r>
            <a:r>
              <a:rPr lang="ja-JP" sz="2000" b="0" u="none" strike="noStrike">
                <a:solidFill>
                  <a:srgbClr val="000000"/>
                </a:solidFill>
                <a:effectLst/>
                <a:uFillTx/>
                <a:latin typeface="Arial"/>
              </a:rPr>
              <a:t>に近い）。</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57E2B0-2B29-452E-A38A-7A54F5434FF7}"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noRot="1" noChangeAspect="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はフラミンが無研究という集団をベースにした、血管特性（麻酔変化ではない、安静時）の評価</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4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E5916ED-E3F2-4EBA-BCE1-681F33C1B336}"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PlaceHolder 1"/>
          <p:cNvSpPr>
            <a:spLocks noGrp="1" noRot="1" noChangeAspect="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2637F3-89AC-4ABC-8F99-4C36B1766892}"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1"/>
          <p:cNvSpPr>
            <a:spLocks noGrp="1" noRot="1" noChangeAspect="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42B334-7128-481C-BF8F-02F2A66F4C0B}"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PlaceHolder 1"/>
          <p:cNvSpPr>
            <a:spLocks noGrp="1" noRot="1" noChangeAspect="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3000"/>
              </a:lnSpc>
              <a:spcAft>
                <a:spcPts val="601"/>
              </a:spcAft>
              <a:buNone/>
            </a:pPr>
            <a:r>
              <a:rPr lang="en" sz="1400" b="1" u="none" strike="noStrike">
                <a:solidFill>
                  <a:srgbClr val="009BA5"/>
                </a:solidFill>
                <a:effectLst/>
                <a:uFillTx/>
                <a:latin typeface="Meiryo"/>
                <a:ea typeface="Meiryo"/>
              </a:rPr>
              <a:t>HR </a:t>
            </a:r>
            <a:r>
              <a:rPr lang="ja-JP" sz="1400" b="1" u="none" strike="noStrike">
                <a:solidFill>
                  <a:srgbClr val="009BA5"/>
                </a:solidFill>
                <a:effectLst/>
                <a:uFillTx/>
                <a:latin typeface="Meiryo"/>
                <a:ea typeface="Meiryo"/>
              </a:rPr>
              <a:t>で変わるのは「拡張期側」の形→反射波</a:t>
            </a:r>
            <a:endParaRPr lang="en-US" sz="14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低心拍（周期長）</a:t>
            </a:r>
            <a:r>
              <a:rPr lang="ja-JP" sz="1200" b="0" u="none" strike="noStrike">
                <a:solidFill>
                  <a:srgbClr val="262626"/>
                </a:solidFill>
                <a:effectLst/>
                <a:uFillTx/>
                <a:latin typeface="Meiryo"/>
                <a:ea typeface="Meiryo"/>
              </a:rPr>
              <a:t>：拡張期が長く確保され、重複切痕と拡張期（反射）波が明瞭に分離。</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高心拍（周期短）</a:t>
            </a:r>
            <a:r>
              <a:rPr lang="ja-JP" sz="1200" b="0" u="none" strike="noStrike">
                <a:solidFill>
                  <a:srgbClr val="262626"/>
                </a:solidFill>
                <a:effectLst/>
                <a:uFillTx/>
                <a:latin typeface="Meiryo"/>
                <a:ea typeface="Meiryo"/>
              </a:rPr>
              <a:t>：拡張期が短縮し、反射波が収縮期ピークへ接近・切り詰め。切痕は浅く拡張期ピークは埋没。</a:t>
            </a:r>
            <a:endParaRPr lang="en-US" sz="1200" b="0" u="none" strike="noStrike">
              <a:solidFill>
                <a:srgbClr val="000000"/>
              </a:solidFill>
              <a:effectLst/>
              <a:uFillTx/>
              <a:latin typeface="Arial"/>
            </a:endParaRPr>
          </a:p>
          <a:p>
            <a:pPr indent="0" algn="l">
              <a:lnSpc>
                <a:spcPct val="103000"/>
              </a:lnSpc>
              <a:spcAft>
                <a:spcPts val="499"/>
              </a:spcAft>
              <a:buNone/>
            </a:pPr>
            <a:r>
              <a:rPr lang="ja-JP" sz="1200" b="0" u="none" strike="noStrike">
                <a:solidFill>
                  <a:srgbClr val="262626"/>
                </a:solidFill>
                <a:effectLst/>
                <a:uFillTx/>
                <a:latin typeface="Meiryo"/>
                <a:ea typeface="Meiryo"/>
              </a:rPr>
              <a:t>収縮期の立ち上がり〜一次ピークはほぼ不変。変化するのは反射波の「位置と分離度」。</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機序</a:t>
            </a:r>
            <a:r>
              <a:rPr lang="ja-JP" sz="1200" b="0" u="none" strike="noStrike">
                <a:solidFill>
                  <a:srgbClr val="262626"/>
                </a:solidFill>
                <a:effectLst/>
                <a:uFillTx/>
                <a:latin typeface="Meiryo"/>
                <a:ea typeface="Meiryo"/>
              </a:rPr>
              <a:t>：反射波の到達時刻はほぼ一定でも、周期が短いと相対的に前方へ寄る → </a:t>
            </a:r>
            <a:r>
              <a:rPr lang="en" sz="1200" b="0" u="none" strike="noStrike">
                <a:solidFill>
                  <a:srgbClr val="262626"/>
                </a:solidFill>
                <a:effectLst/>
                <a:uFillTx/>
                <a:latin typeface="Meiryo"/>
                <a:ea typeface="Meiryo"/>
              </a:rPr>
              <a:t>AIx </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と逆相関（</a:t>
            </a:r>
            <a:r>
              <a:rPr lang="en-US" sz="1200" b="0" u="none" strike="noStrike">
                <a:solidFill>
                  <a:srgbClr val="262626"/>
                </a:solidFill>
                <a:effectLst/>
                <a:uFillTx/>
                <a:latin typeface="Meiryo"/>
                <a:ea typeface="Meiryo"/>
              </a:rPr>
              <a:t>+10 </a:t>
            </a:r>
            <a:r>
              <a:rPr lang="en" sz="1200" b="0" u="none" strike="noStrike">
                <a:solidFill>
                  <a:srgbClr val="262626"/>
                </a:solidFill>
                <a:effectLst/>
                <a:uFillTx/>
                <a:latin typeface="Meiryo"/>
                <a:ea typeface="Meiryo"/>
              </a:rPr>
              <a:t>bpm </a:t>
            </a:r>
            <a:r>
              <a:rPr lang="ja-JP" sz="1200" b="0" u="none" strike="noStrike">
                <a:solidFill>
                  <a:srgbClr val="262626"/>
                </a:solidFill>
                <a:effectLst/>
                <a:uFillTx/>
                <a:latin typeface="Meiryo"/>
                <a:ea typeface="Meiryo"/>
              </a:rPr>
              <a:t>で約 −</a:t>
            </a:r>
            <a:r>
              <a:rPr lang="en-US" sz="1200" b="0" u="none" strike="noStrike">
                <a:solidFill>
                  <a:srgbClr val="262626"/>
                </a:solidFill>
                <a:effectLst/>
                <a:uFillTx/>
                <a:latin typeface="Meiryo"/>
                <a:ea typeface="Meiryo"/>
              </a:rPr>
              <a:t>4%</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指標への交絡</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SDPPG</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b/a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d/a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AGI</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と関連（特に </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PPG </a:t>
            </a:r>
            <a:r>
              <a:rPr lang="ja-JP" sz="1200" b="0" u="none" strike="noStrike">
                <a:solidFill>
                  <a:srgbClr val="262626"/>
                </a:solidFill>
                <a:effectLst/>
                <a:uFillTx/>
                <a:latin typeface="Meiryo"/>
                <a:ea typeface="Meiryo"/>
              </a:rPr>
              <a:t>指標は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補正が必要（例 </a:t>
            </a:r>
            <a:r>
              <a:rPr lang="en" sz="1200" b="0" u="none" strike="noStrike">
                <a:solidFill>
                  <a:srgbClr val="262626"/>
                </a:solidFill>
                <a:effectLst/>
                <a:uFillTx/>
                <a:latin typeface="Meiryo"/>
                <a:ea typeface="Meiryo"/>
              </a:rPr>
              <a:t>AIx@75</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buNone/>
            </a:pP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Wilkinson 2000</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Hashimoto 2002</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Charlton 2019</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Md Lazim 2020</a:t>
            </a:r>
            <a:r>
              <a:rPr lang="ja-JP" sz="900" b="0" u="none" strike="noStrike">
                <a:solidFill>
                  <a:srgbClr val="808080"/>
                </a:solidFill>
                <a:effectLst/>
                <a:uFillTx/>
                <a:latin typeface="Meiryo"/>
                <a:ea typeface="Meiryo"/>
              </a:rPr>
              <a:t>）</a:t>
            </a: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willkinson2000</a:t>
            </a:r>
            <a:r>
              <a:rPr lang="ja-JP" sz="2000" b="0" u="none" strike="noStrike">
                <a:solidFill>
                  <a:srgbClr val="000000"/>
                </a:solidFill>
                <a:effectLst/>
                <a:uFillTx/>
                <a:latin typeface="Meiryo"/>
                <a:ea typeface="Meiryo"/>
              </a:rPr>
              <a:t>は末梢動脈圧での検討。</a:t>
            </a:r>
            <a:r>
              <a:rPr lang="en-US" sz="2000" b="0" u="none" strike="noStrike">
                <a:solidFill>
                  <a:srgbClr val="000000"/>
                </a:solidFill>
                <a:effectLst/>
                <a:uFillTx/>
                <a:latin typeface="Meiryo"/>
                <a:ea typeface="Meiryo"/>
              </a:rPr>
              <a:t>PPG</a:t>
            </a:r>
            <a:r>
              <a:rPr lang="ja-JP" sz="2000" b="0" u="none" strike="noStrike">
                <a:solidFill>
                  <a:srgbClr val="000000"/>
                </a:solidFill>
                <a:effectLst/>
                <a:uFillTx/>
                <a:latin typeface="Meiryo"/>
                <a:ea typeface="Meiryo"/>
              </a:rPr>
              <a:t>での検討文献もいるだろう。</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Md Lazim</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SI,RI,SDPPG</a:t>
            </a:r>
            <a:r>
              <a:rPr lang="ja-JP" sz="2000" b="0" u="none" strike="noStrike">
                <a:solidFill>
                  <a:srgbClr val="000000"/>
                </a:solidFill>
                <a:effectLst/>
                <a:uFillTx/>
                <a:latin typeface="Meiryo"/>
                <a:ea typeface="Meiryo"/>
              </a:rPr>
              <a:t>と</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の関係を見ているだけ　波形との関連は見ていない</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Hashimoto</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が</a:t>
            </a:r>
            <a:r>
              <a:rPr lang="en-US" sz="2000" b="0" u="none" strike="noStrike">
                <a:solidFill>
                  <a:srgbClr val="000000"/>
                </a:solidFill>
                <a:effectLst/>
                <a:uFillTx/>
                <a:latin typeface="Meiryo"/>
                <a:ea typeface="Meiryo"/>
              </a:rPr>
              <a:t>PWT</a:t>
            </a:r>
            <a:r>
              <a:rPr lang="ja-JP" sz="2000" b="0" u="none" strike="noStrike">
                <a:solidFill>
                  <a:srgbClr val="000000"/>
                </a:solidFill>
                <a:effectLst/>
                <a:uFillTx/>
                <a:latin typeface="Meiryo"/>
                <a:ea typeface="Meiryo"/>
              </a:rPr>
              <a:t>と独立して関連することを示すだけ</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https://doi.org/10.1152/ajpheart.00218.2019</a:t>
            </a:r>
            <a:r>
              <a:rPr lang="ja-JP" sz="2000" b="0" u="none" strike="noStrike">
                <a:solidFill>
                  <a:srgbClr val="000000"/>
                </a:solidFill>
                <a:effectLst/>
                <a:uFillTx/>
                <a:latin typeface="Meiryo"/>
                <a:ea typeface="Meiryo"/>
              </a:rPr>
              <a:t>　</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in‑silico </a:t>
            </a:r>
            <a:r>
              <a:rPr lang="ja-JP" sz="2000" b="0" u="none" strike="noStrike">
                <a:solidFill>
                  <a:srgbClr val="000000"/>
                </a:solidFill>
                <a:effectLst/>
                <a:uFillTx/>
                <a:latin typeface="Meiryo"/>
                <a:ea typeface="Meiryo"/>
              </a:rPr>
              <a:t>を唯一の直接根拠として明示</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方向を </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反射波低下に修正</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実測は圧波形</a:t>
            </a:r>
            <a:r>
              <a:rPr lang="en-US" sz="2000" b="0" u="none" strike="noStrike">
                <a:solidFill>
                  <a:srgbClr val="000000"/>
                </a:solidFill>
                <a:effectLst/>
                <a:uFillTx/>
                <a:latin typeface="Meiryo"/>
                <a:ea typeface="Meiryo"/>
              </a:rPr>
              <a:t>(Wilkinson)</a:t>
            </a:r>
            <a:r>
              <a:rPr lang="ja-JP" sz="2000" b="0" u="none" strike="noStrike">
                <a:solidFill>
                  <a:srgbClr val="000000"/>
                </a:solidFill>
                <a:effectLst/>
                <a:uFillTx/>
                <a:latin typeface="Meiryo"/>
                <a:ea typeface="Meiryo"/>
              </a:rPr>
              <a:t>からの外挿と注記</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eiryo"/>
                <a:ea typeface="Meiryo"/>
              </a:rPr>
              <a:t>大動脈への流入波、動脈セグメント、血管床の</a:t>
            </a:r>
            <a:r>
              <a:rPr lang="en-US" sz="2000" b="0" u="none" strike="noStrike">
                <a:solidFill>
                  <a:srgbClr val="000000"/>
                </a:solidFill>
                <a:effectLst/>
                <a:uFillTx/>
                <a:latin typeface="Meiryo"/>
                <a:ea typeface="Meiryo"/>
              </a:rPr>
              <a:t>3</a:t>
            </a:r>
            <a:r>
              <a:rPr lang="ja-JP" sz="2000" b="0" u="none" strike="noStrike">
                <a:solidFill>
                  <a:srgbClr val="000000"/>
                </a:solidFill>
                <a:effectLst/>
                <a:uFillTx/>
                <a:latin typeface="Meiryo"/>
                <a:ea typeface="Meiryo"/>
              </a:rPr>
              <a:t>要素ウインドケッセルモデルでそれぞれをモデル化　青は１標準偏差増加　赤は１標準偏差減少</a:t>
            </a:r>
            <a:endParaRPr lang="en-US" sz="2000" b="0" u="none" strike="noStrike">
              <a:solidFill>
                <a:srgbClr val="000000"/>
              </a:solidFill>
              <a:effectLst/>
              <a:uFillTx/>
              <a:latin typeface="Arial"/>
            </a:endParaRPr>
          </a:p>
        </p:txBody>
      </p:sp>
      <p:sp>
        <p:nvSpPr>
          <p:cNvPr id="74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71079E-5265-42C4-9AD2-DC7A617C294B}"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noRot="1" noChangeAspect="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図は</a:t>
            </a:r>
            <a:r>
              <a:rPr lang="en-US" sz="2000" b="0" u="none" strike="noStrike">
                <a:solidFill>
                  <a:srgbClr val="000000"/>
                </a:solidFill>
                <a:effectLst/>
                <a:uFillTx/>
                <a:latin typeface="Arial"/>
              </a:rPr>
              <a:t>alian 2011</a:t>
            </a:r>
            <a:r>
              <a:rPr lang="ja-JP" sz="2000" b="0" u="none" strike="noStrike">
                <a:solidFill>
                  <a:srgbClr val="000000"/>
                </a:solidFill>
                <a:effectLst/>
                <a:uFillTx/>
                <a:latin typeface="Arial"/>
              </a:rPr>
              <a:t>をもとに作成。正しいと思われる。</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Convertino 2017</a:t>
            </a:r>
            <a:r>
              <a:rPr lang="ja-JP" sz="2000" b="0" u="none" strike="noStrike">
                <a:solidFill>
                  <a:srgbClr val="000000"/>
                </a:solidFill>
                <a:effectLst/>
                <a:uFillTx/>
                <a:latin typeface="Arial"/>
              </a:rPr>
              <a:t>はいらないかも</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Lower body negative pressure</a:t>
            </a:r>
            <a:r>
              <a:rPr lang="ja-JP" sz="2000" b="0" u="none" strike="noStrike">
                <a:solidFill>
                  <a:srgbClr val="000000"/>
                </a:solidFill>
                <a:effectLst/>
                <a:uFillTx/>
                <a:latin typeface="Arial"/>
              </a:rPr>
              <a:t>で循環血液量減少を再現</a:t>
            </a:r>
            <a:endParaRPr lang="en-US" sz="2000" b="0" u="none" strike="noStrike">
              <a:solidFill>
                <a:srgbClr val="000000"/>
              </a:solidFill>
              <a:effectLst/>
              <a:uFillTx/>
              <a:latin typeface="Arial"/>
            </a:endParaRPr>
          </a:p>
        </p:txBody>
      </p:sp>
      <p:sp>
        <p:nvSpPr>
          <p:cNvPr id="75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BE9BDC-69F6-42B9-B5DD-6943B3C9BF60}"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noRot="1" noChangeAspect="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5C224C-3538-4F18-9E28-1D19B1203911}"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PlaceHolder 1"/>
          <p:cNvSpPr>
            <a:spLocks noGrp="1" noRot="1" noChangeAspect="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20D37C-0645-48F6-9AEC-BBF4079DF2E3}"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noRot="1" noChangeAspect="1"/>
          </p:cNvSpPr>
          <p:nvPr>
            <p:ph type="sldImg"/>
          </p:nvPr>
        </p:nvSpPr>
        <p:spPr>
          <a:xfrm>
            <a:off x="685800" y="1143000"/>
            <a:ext cx="5486040" cy="308592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A8AA"/>
                </a:solidFill>
                <a:effectLst/>
                <a:uFillTx/>
                <a:latin typeface="Meiryo"/>
                <a:ea typeface="Meiryo"/>
              </a:rPr>
              <a:t>トーヌス低下：</a:t>
            </a:r>
            <a:r>
              <a:rPr lang="en-US" sz="1200" b="1" u="none" strike="noStrike">
                <a:solidFill>
                  <a:srgbClr val="00A8AA"/>
                </a:solidFill>
                <a:effectLst/>
                <a:uFillTx/>
                <a:latin typeface="Meiryo"/>
                <a:ea typeface="Meiryo"/>
              </a:rPr>
              <a:t>Chowienczyk 1999</a:t>
            </a:r>
            <a:r>
              <a:rPr lang="ja-JP" sz="1200" b="1" u="none" strike="noStrike">
                <a:solidFill>
                  <a:srgbClr val="00A8AA"/>
                </a:solidFill>
                <a:effectLst/>
                <a:uFillTx/>
                <a:latin typeface="Meiryo"/>
                <a:ea typeface="Meiryo"/>
              </a:rPr>
              <a:t>：吸入</a:t>
            </a:r>
            <a:r>
              <a:rPr lang="en-US" sz="1200" b="1" u="none" strike="noStrike">
                <a:solidFill>
                  <a:srgbClr val="00A8AA"/>
                </a:solidFill>
                <a:effectLst/>
                <a:uFillTx/>
                <a:latin typeface="Meiryo"/>
                <a:ea typeface="Meiryo"/>
              </a:rPr>
              <a:t>β₂ −11.8% / GTN −18.3%</a:t>
            </a: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8853B"/>
                </a:solidFill>
                <a:effectLst/>
                <a:uFillTx/>
                <a:latin typeface="Meiryo"/>
                <a:ea typeface="Meiryo"/>
              </a:rPr>
              <a:t>トーヌス上昇：</a:t>
            </a:r>
            <a:r>
              <a:rPr lang="en-US" sz="1200" b="1" u="none" strike="noStrike">
                <a:solidFill>
                  <a:srgbClr val="E8853B"/>
                </a:solidFill>
                <a:effectLst/>
                <a:uFillTx/>
                <a:latin typeface="Meiryo"/>
                <a:ea typeface="Meiryo"/>
              </a:rPr>
              <a:t>Takazawa 1998</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AngII </a:t>
            </a:r>
            <a:r>
              <a:rPr lang="ja-JP" sz="1200" b="1" u="none" strike="noStrike">
                <a:solidFill>
                  <a:srgbClr val="E8853B"/>
                </a:solidFill>
                <a:effectLst/>
                <a:uFillTx/>
                <a:latin typeface="Meiryo"/>
                <a:ea typeface="Meiryo"/>
              </a:rPr>
              <a:t>で </a:t>
            </a:r>
            <a:r>
              <a:rPr lang="en-US" sz="1200" b="1" u="none" strike="noStrike">
                <a:solidFill>
                  <a:srgbClr val="E8853B"/>
                </a:solidFill>
                <a:effectLst/>
                <a:uFillTx/>
                <a:latin typeface="Meiryo"/>
                <a:ea typeface="Meiryo"/>
              </a:rPr>
              <a:t>d/a↑</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AIx↑</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6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C9609B-483D-44AC-BA1F-3BD5E232D169}"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noRot="1" noChangeAspect="1"/>
          </p:cNvSpPr>
          <p:nvPr>
            <p:ph type="sldImg"/>
          </p:nvPr>
        </p:nvSpPr>
        <p:spPr>
          <a:xfrm>
            <a:off x="685800" y="1143000"/>
            <a:ext cx="5486040" cy="308592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　加齢性変化については</a:t>
            </a: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も参照可能。（</a:t>
            </a:r>
            <a:r>
              <a:rPr lang="en-US" sz="2000" b="0" u="none" strike="noStrike">
                <a:solidFill>
                  <a:srgbClr val="000000"/>
                </a:solidFill>
                <a:effectLst/>
                <a:uFillTx/>
                <a:latin typeface="Arial"/>
              </a:rPr>
              <a:t>charlton2022</a:t>
            </a:r>
            <a:r>
              <a:rPr lang="ja-JP" sz="2000" b="0" u="none" strike="noStrike">
                <a:solidFill>
                  <a:srgbClr val="000000"/>
                </a:solidFill>
                <a:effectLst/>
                <a:uFillTx/>
                <a:latin typeface="Arial"/>
              </a:rPr>
              <a:t>より）</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6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FE3474-D0BC-4DA7-A8C7-6915EDF3CF13}"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noRot="1" noChangeAspect="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2022</a:t>
            </a:r>
            <a:r>
              <a:rPr lang="ja-JP" sz="2000" b="0" u="none" strike="noStrike">
                <a:solidFill>
                  <a:srgbClr val="000000"/>
                </a:solidFill>
                <a:effectLst/>
                <a:uFillTx/>
                <a:latin typeface="Arial"/>
              </a:rPr>
              <a:t>で</a:t>
            </a:r>
            <a:r>
              <a:rPr lang="en-US" sz="2000" b="0" u="none" strike="noStrike">
                <a:solidFill>
                  <a:srgbClr val="000000"/>
                </a:solidFill>
                <a:effectLst/>
                <a:uFillTx/>
                <a:latin typeface="Arial"/>
              </a:rPr>
              <a:t>SI</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PWV</a:t>
            </a:r>
            <a:r>
              <a:rPr lang="ja-JP" sz="2000" b="0" u="none" strike="noStrike">
                <a:solidFill>
                  <a:srgbClr val="000000"/>
                </a:solidFill>
                <a:effectLst/>
                <a:uFillTx/>
                <a:latin typeface="Arial"/>
              </a:rPr>
              <a:t>の関連を示し、</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への影響とエラスタンスへの影響が切り離される様子を見た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Awad2007</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と関連するのは振幅＜脈波幅、指＜耳</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6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F224611-94F9-42AE-9E99-0BEDDDB3035D}"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PlaceHolder 1"/>
          <p:cNvSpPr>
            <a:spLocks noGrp="1" noRot="1" noChangeAspect="1"/>
          </p:cNvSpPr>
          <p:nvPr>
            <p:ph type="sldImg"/>
          </p:nvPr>
        </p:nvSpPr>
        <p:spPr>
          <a:xfrm>
            <a:off x="685800" y="1143000"/>
            <a:ext cx="5486040" cy="308592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883B68-20C5-4C54-B954-B2F50B2085D0}" type="slidenum">
              <a:rPr lang="en-US" sz="1200" b="0" u="none" strike="noStrike">
                <a:solidFill>
                  <a:srgbClr val="000000"/>
                </a:solidFill>
                <a:effectLst/>
                <a:uFillTx/>
                <a:latin typeface="Times New Roman"/>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noRot="1" noChangeAspect="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18213F-4A06-42F5-803D-DB63F00F026E}" type="slidenum">
              <a:rPr lang="en-US" sz="1200" b="0" u="none" strike="noStrike">
                <a:solidFill>
                  <a:srgbClr val="000000"/>
                </a:solidFill>
                <a:effectLst/>
                <a:uFillTx/>
                <a:latin typeface="Times New Roman"/>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PlaceHolder 1"/>
          <p:cNvSpPr>
            <a:spLocks noGrp="1" noRot="1" noChangeAspect="1"/>
          </p:cNvSpPr>
          <p:nvPr>
            <p:ph type="sldImg"/>
          </p:nvPr>
        </p:nvSpPr>
        <p:spPr>
          <a:xfrm>
            <a:off x="685800" y="1143000"/>
            <a:ext cx="5486040" cy="308592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rgbClr val="8C8C8C"/>
                </a:solidFill>
                <a:effectLst/>
                <a:uFillTx/>
                <a:latin typeface="Meiryo"/>
                <a:ea typeface="Meiryo"/>
              </a:rPr>
              <a:t>切痕位置（</a:t>
            </a:r>
            <a:r>
              <a:rPr lang="en" sz="1200" b="0" u="none" strike="noStrike">
                <a:solidFill>
                  <a:srgbClr val="8C8C8C"/>
                </a:solidFill>
                <a:effectLst/>
                <a:uFillTx/>
                <a:latin typeface="Meiryo"/>
                <a:ea typeface="Meiryo"/>
              </a:rPr>
              <a:t>I:</a:t>
            </a:r>
            <a:r>
              <a:rPr lang="ja-JP" sz="1200" b="0" u="none" strike="noStrike">
                <a:solidFill>
                  <a:srgbClr val="8C8C8C"/>
                </a:solidFill>
                <a:effectLst/>
                <a:uFillTx/>
                <a:latin typeface="Meiryo"/>
                <a:ea typeface="Meiryo"/>
              </a:rPr>
              <a:t>収縮期ピークに融合 → </a:t>
            </a:r>
            <a:r>
              <a:rPr lang="en" sz="1200" b="0" u="none" strike="noStrike">
                <a:solidFill>
                  <a:srgbClr val="8C8C8C"/>
                </a:solidFill>
                <a:effectLst/>
                <a:uFillTx/>
                <a:latin typeface="Meiryo"/>
                <a:ea typeface="Meiryo"/>
              </a:rPr>
              <a:t>VI:</a:t>
            </a:r>
            <a:r>
              <a:rPr lang="ja-JP" sz="1200" b="0" u="none" strike="noStrike">
                <a:solidFill>
                  <a:srgbClr val="8C8C8C"/>
                </a:solidFill>
                <a:effectLst/>
                <a:uFillTx/>
                <a:latin typeface="Meiryo"/>
                <a:ea typeface="Meiryo"/>
              </a:rPr>
              <a:t>陰性）</a:t>
            </a:r>
            <a:r>
              <a:rPr lang="en-US" sz="1200" b="0" u="none" strike="noStrike">
                <a:solidFill>
                  <a:srgbClr val="8C8C8C"/>
                </a:solidFill>
                <a:effectLst/>
                <a:uFillTx/>
                <a:latin typeface="Meiryo"/>
                <a:ea typeface="Meiryo"/>
              </a:rPr>
              <a:t>× </a:t>
            </a:r>
            <a:r>
              <a:rPr lang="ja-JP" sz="1200" b="0" u="none" strike="noStrike">
                <a:solidFill>
                  <a:srgbClr val="8C8C8C"/>
                </a:solidFill>
                <a:effectLst/>
                <a:uFillTx/>
                <a:latin typeface="Meiryo"/>
                <a:ea typeface="Meiryo"/>
              </a:rPr>
              <a:t>振幅 で</a:t>
            </a:r>
            <a:r>
              <a:rPr lang="en-US" sz="1200" b="0" u="none" strike="noStrike">
                <a:solidFill>
                  <a:srgbClr val="8C8C8C"/>
                </a:solidFill>
                <a:effectLst/>
                <a:uFillTx/>
                <a:latin typeface="Meiryo"/>
                <a:ea typeface="Meiryo"/>
              </a:rPr>
              <a:t>6</a:t>
            </a:r>
            <a:r>
              <a:rPr lang="ja-JP" sz="1200" b="0" u="none" strike="noStrike">
                <a:solidFill>
                  <a:srgbClr val="8C8C8C"/>
                </a:solidFill>
                <a:effectLst/>
                <a:uFillTx/>
                <a:latin typeface="Meiryo"/>
                <a:ea typeface="Meiryo"/>
              </a:rPr>
              <a:t>分類。</a:t>
            </a:r>
            <a:r>
              <a:rPr lang="en" sz="1200" b="0" u="none" strike="noStrike">
                <a:solidFill>
                  <a:srgbClr val="8C8C8C"/>
                </a:solidFill>
                <a:effectLst/>
                <a:uFillTx/>
                <a:latin typeface="Meiryo"/>
                <a:ea typeface="Meiryo"/>
              </a:rPr>
              <a:t>SBP</a:t>
            </a:r>
            <a:r>
              <a:rPr lang="ja-JP"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SVR</a:t>
            </a:r>
            <a:r>
              <a:rPr lang="ja-JP" sz="1200" b="0" u="none" strike="noStrike">
                <a:solidFill>
                  <a:srgbClr val="8C8C8C"/>
                </a:solidFill>
                <a:effectLst/>
                <a:uFillTx/>
                <a:latin typeface="Meiryo"/>
                <a:ea typeface="Meiryo"/>
              </a:rPr>
              <a:t>・コンプライアンスと相関 </a:t>
            </a:r>
            <a:r>
              <a:rPr lang="en-US"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Tusman 2019)</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7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0A9C57-6956-4955-9619-56D2812BEF08}" type="slidenum">
              <a:rPr lang="en-US"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PlaceHolder 1"/>
          <p:cNvSpPr>
            <a:spLocks noGrp="1" noRot="1" noChangeAspect="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C7CFD7-F35A-4280-B8DF-66B9F6E8BFA1}" type="slidenum">
              <a:rPr lang="en-US" sz="1200" b="0" u="none" strike="noStrike">
                <a:solidFill>
                  <a:srgbClr val="000000"/>
                </a:solidFill>
                <a:effectLst/>
                <a:uFillTx/>
                <a:latin typeface="Times New Roman"/>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PlaceHolder 1"/>
          <p:cNvSpPr>
            <a:spLocks noGrp="1" noRot="1" noChangeAspect="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SI,RI</a:t>
            </a:r>
            <a:r>
              <a:rPr lang="ja-JP" sz="2000" b="0" u="none" strike="noStrike">
                <a:solidFill>
                  <a:srgbClr val="000000"/>
                </a:solidFill>
                <a:effectLst/>
                <a:uFillTx/>
                <a:latin typeface="Arial"/>
              </a:rPr>
              <a:t>は</a:t>
            </a:r>
            <a:r>
              <a:rPr lang="en" sz="2000" b="0" u="none" strike="noStrike">
                <a:solidFill>
                  <a:srgbClr val="000000"/>
                </a:solidFill>
                <a:effectLst/>
                <a:uFillTx/>
                <a:latin typeface="Arial"/>
              </a:rPr>
              <a:t>https://www.jacc.org/doi/10.1016/S0735-1097(99)00441-6</a:t>
            </a:r>
            <a:r>
              <a:rPr lang="ja-JP" sz="2000" b="0" u="none" strike="noStrike">
                <a:solidFill>
                  <a:srgbClr val="000000"/>
                </a:solidFill>
                <a:effectLst/>
                <a:uFillTx/>
                <a:latin typeface="Arial"/>
              </a:rPr>
              <a:t>も参考になる。</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代替</a:t>
            </a:r>
            <a:r>
              <a:rPr lang="en-US" sz="1200" b="0" u="none" strike="noStrike">
                <a:solidFill>
                  <a:schemeClr val="dk1"/>
                </a:solidFill>
                <a:effectLst/>
                <a:uFillTx/>
                <a:latin typeface="+mn-lt"/>
                <a:ea typeface="+mn-ea"/>
              </a:rPr>
              <a:t>augmentation index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は動脈スティフネス・波動反射と関係する。通常は上行大動脈圧波形から導かれ、</a:t>
            </a:r>
            <a:r>
              <a:rPr lang="en-US" sz="1200" b="0" u="none" strike="noStrike">
                <a:solidFill>
                  <a:schemeClr val="dk1"/>
                </a:solidFill>
                <a:effectLst/>
                <a:uFillTx/>
                <a:latin typeface="+mn-lt"/>
                <a:ea typeface="+mn-ea"/>
              </a:rPr>
              <a:t>augmentation pressure</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収縮期ピーク間の圧差）を脈圧で割って算出される。</a:t>
            </a:r>
            <a:r>
              <a:rPr lang="en-US" sz="1200" b="1" u="none" strike="noStrike">
                <a:solidFill>
                  <a:schemeClr val="dk1"/>
                </a:solidFill>
                <a:effectLst/>
                <a:uFillTx/>
                <a:latin typeface="+mn-lt"/>
                <a:ea typeface="+mn-ea"/>
              </a:rPr>
              <a:t>PPG</a:t>
            </a:r>
            <a:r>
              <a:rPr lang="ja-JP" sz="1200" b="1" u="none" strike="noStrike">
                <a:solidFill>
                  <a:schemeClr val="dk1"/>
                </a:solidFill>
                <a:effectLst/>
                <a:uFillTx/>
                <a:latin typeface="+mn-lt"/>
                <a:ea typeface="+mn-ea"/>
              </a:rPr>
              <a:t>脈波から算出した代替</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は、橈骨</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r=0.77</a:t>
            </a:r>
            <a:r>
              <a:rPr lang="ja-JP" sz="1200" b="1" u="none" strike="noStrike">
                <a:solidFill>
                  <a:schemeClr val="dk1"/>
                </a:solidFill>
                <a:effectLst/>
                <a:uFillTx/>
                <a:latin typeface="+mn-lt"/>
                <a:ea typeface="+mn-ea"/>
              </a:rPr>
              <a:t>）および中枢</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r=0.78, 0.86</a:t>
            </a:r>
            <a:r>
              <a:rPr lang="ja-JP" sz="1200" b="1" u="none" strike="noStrike">
                <a:solidFill>
                  <a:schemeClr val="dk1"/>
                </a:solidFill>
                <a:effectLst/>
                <a:uFillTx/>
                <a:latin typeface="+mn-lt"/>
                <a:ea typeface="+mn-ea"/>
              </a:rPr>
              <a:t>）と有意に相関する。</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と</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脈波由来の</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には差があるが、</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脈波で</a:t>
            </a:r>
            <a:r>
              <a:rPr lang="en-US" sz="1200" b="0" u="none" strike="noStrike">
                <a:solidFill>
                  <a:schemeClr val="dk1"/>
                </a:solidFill>
                <a:effectLst/>
                <a:uFillTx/>
                <a:latin typeface="+mn-lt"/>
                <a:ea typeface="+mn-ea"/>
              </a:rPr>
              <a:t>augmentation</a:t>
            </a:r>
            <a:r>
              <a:rPr lang="ja-JP" sz="1200" b="0" u="none" strike="noStrike">
                <a:solidFill>
                  <a:schemeClr val="dk1"/>
                </a:solidFill>
                <a:effectLst/>
                <a:uFillTx/>
                <a:latin typeface="+mn-lt"/>
                <a:ea typeface="+mn-ea"/>
              </a:rPr>
              <a:t>が正のとき</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脈波でも通常正であり（逆も同様）と観察されている。脈波上で第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ピークを同定する方法として、二次・三次・四次微分の使用がある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8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294C7-4ADE-4CF9-8792-EE7CE7F95CF7}" type="slidenum">
              <a:rPr lang="en-US"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PlaceHolder 1"/>
          <p:cNvSpPr>
            <a:spLocks noGrp="1" noRot="1" noChangeAspect="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9BA5"/>
                </a:solidFill>
                <a:effectLst/>
                <a:uFillTx/>
                <a:latin typeface="Meiryo"/>
                <a:ea typeface="Meiryo"/>
              </a:rPr>
              <a:t>原波形の微妙な「折れ」を明瞭な極値に変換 </a:t>
            </a:r>
            <a:r>
              <a:rPr lang="en-US" sz="1200" b="0" u="none" strike="noStrike">
                <a:solidFill>
                  <a:srgbClr val="262626"/>
                </a:solidFill>
                <a:effectLst/>
                <a:uFillTx/>
                <a:latin typeface="Meiryo"/>
                <a:ea typeface="Meiryo"/>
              </a:rPr>
              <a:t>― 切痕・反射波・加齢を「数値」で扱えるようにする。</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D7D31"/>
                </a:solidFill>
                <a:effectLst/>
                <a:uFillTx/>
                <a:latin typeface="Meiryo"/>
                <a:ea typeface="Meiryo"/>
              </a:rPr>
              <a:t>注意：</a:t>
            </a:r>
            <a:r>
              <a:rPr lang="en-US" sz="1200" b="0" u="none" strike="noStrike">
                <a:solidFill>
                  <a:srgbClr val="808080"/>
                </a:solidFill>
                <a:effectLst/>
                <a:uFillTx/>
                <a:latin typeface="Meiryo"/>
                <a:ea typeface="Meiryo"/>
              </a:rPr>
              <a:t>2</a:t>
            </a:r>
            <a:r>
              <a:rPr lang="ja-JP" sz="1200" b="0" u="none" strike="noStrike">
                <a:solidFill>
                  <a:srgbClr val="808080"/>
                </a:solidFill>
                <a:effectLst/>
                <a:uFillTx/>
                <a:latin typeface="Meiryo"/>
                <a:ea typeface="Meiryo"/>
              </a:rPr>
              <a:t>回微分は高周波ノイズを増幅するため平滑化・帯域制限が前提。各比（</a:t>
            </a:r>
            <a:r>
              <a:rPr lang="en" sz="1200" b="0" u="none" strike="noStrike">
                <a:solidFill>
                  <a:srgbClr val="808080"/>
                </a:solidFill>
                <a:effectLst/>
                <a:uFillTx/>
                <a:latin typeface="Meiryo"/>
                <a:ea typeface="Meiryo"/>
              </a:rPr>
              <a:t>b/a </a:t>
            </a:r>
            <a:r>
              <a:rPr lang="ja-JP" sz="1200" b="0" u="none" strike="noStrike">
                <a:solidFill>
                  <a:srgbClr val="808080"/>
                </a:solidFill>
                <a:effectLst/>
                <a:uFillTx/>
                <a:latin typeface="Meiryo"/>
                <a:ea typeface="Meiryo"/>
              </a:rPr>
              <a:t>等）は </a:t>
            </a:r>
            <a:r>
              <a:rPr lang="en" sz="1200" b="0" u="none" strike="noStrike">
                <a:solidFill>
                  <a:srgbClr val="808080"/>
                </a:solidFill>
                <a:effectLst/>
                <a:uFillTx/>
                <a:latin typeface="Meiryo"/>
                <a:ea typeface="Meiryo"/>
              </a:rPr>
              <a:t>HR</a:t>
            </a:r>
            <a:r>
              <a:rPr lang="ja-JP" sz="1200" b="0" u="none" strike="noStrike">
                <a:solidFill>
                  <a:srgbClr val="808080"/>
                </a:solidFill>
                <a:effectLst/>
                <a:uFillTx/>
                <a:latin typeface="Meiryo"/>
                <a:ea typeface="Meiryo"/>
              </a:rPr>
              <a:t>・体位でも変動する（</a:t>
            </a:r>
            <a:r>
              <a:rPr lang="en" sz="1200" b="0" u="none" strike="noStrike">
                <a:solidFill>
                  <a:srgbClr val="808080"/>
                </a:solidFill>
                <a:effectLst/>
                <a:uFillTx/>
                <a:latin typeface="Meiryo"/>
                <a:ea typeface="Meiryo"/>
              </a:rPr>
              <a:t>Hashimoto 2002</a:t>
            </a:r>
            <a:r>
              <a:rPr lang="ja-JP" sz="1200" b="0" u="none" strike="noStrike">
                <a:solidFill>
                  <a:srgbClr val="808080"/>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8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332D193-537D-4981-B182-667E7F5765F4}" type="slidenum">
              <a:rPr lang="en-US"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PlaceHolder 1"/>
          <p:cNvSpPr>
            <a:spLocks noGrp="1" noRot="1" noChangeAspect="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が</a:t>
            </a:r>
            <a:r>
              <a:rPr lang="en-US" sz="1200" b="0" u="none" strike="noStrike">
                <a:solidFill>
                  <a:schemeClr val="dk1"/>
                </a:solidFill>
                <a:effectLst/>
                <a:uFillTx/>
                <a:latin typeface="+mn-lt"/>
                <a:ea typeface="+mn-ea"/>
              </a:rPr>
              <a:t>3</a:t>
            </a:r>
            <a:r>
              <a:rPr lang="ja-JP" sz="1200" b="0" u="none" strike="noStrike">
                <a:solidFill>
                  <a:schemeClr val="dk1"/>
                </a:solidFill>
                <a:effectLst/>
                <a:uFillTx/>
                <a:latin typeface="+mn-lt"/>
                <a:ea typeface="+mn-ea"/>
              </a:rPr>
              <a:t>法中で最小バイアスを示した。</a:t>
            </a: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は </a:t>
            </a:r>
            <a:r>
              <a:rPr lang="en-US" sz="1200" b="0" u="none" strike="noStrike">
                <a:solidFill>
                  <a:schemeClr val="dk1"/>
                </a:solidFill>
                <a:effectLst/>
                <a:uFillTx/>
                <a:latin typeface="+mn-lt"/>
                <a:ea typeface="+mn-ea"/>
              </a:rPr>
              <a:t>Hdia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Hsys </a:t>
            </a:r>
            <a:r>
              <a:rPr lang="ja-JP" sz="1200" b="0" u="none" strike="noStrike">
                <a:solidFill>
                  <a:schemeClr val="dk1"/>
                </a:solidFill>
                <a:effectLst/>
                <a:uFillTx/>
                <a:latin typeface="+mn-lt"/>
                <a:ea typeface="+mn-ea"/>
              </a:rPr>
              <a:t>を考慮せず切痕の絶対値</a:t>
            </a:r>
            <a:r>
              <a:rPr lang="en-US" sz="1200" b="0" u="none" strike="noStrike">
                <a:solidFill>
                  <a:schemeClr val="dk1"/>
                </a:solidFill>
                <a:effectLst/>
                <a:uFillTx/>
                <a:latin typeface="+mn-lt"/>
                <a:ea typeface="+mn-ea"/>
              </a:rPr>
              <a:t>Hdic</a:t>
            </a:r>
            <a:r>
              <a:rPr lang="ja-JP" sz="1200" b="0" u="none" strike="noStrike">
                <a:solidFill>
                  <a:schemeClr val="dk1"/>
                </a:solidFill>
                <a:effectLst/>
                <a:uFillTx/>
                <a:latin typeface="+mn-lt"/>
                <a:ea typeface="+mn-ea"/>
              </a:rPr>
              <a:t>のみを用いる。</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MAP_NRA </a:t>
            </a:r>
            <a:r>
              <a:rPr lang="ja-JP" sz="1200" b="0" u="none" strike="noStrike">
                <a:solidFill>
                  <a:schemeClr val="dk1"/>
                </a:solidFill>
                <a:effectLst/>
                <a:uFillTx/>
                <a:latin typeface="+mn-lt"/>
                <a:ea typeface="+mn-ea"/>
              </a:rPr>
              <a:t>は拡張期・収縮期値の間の相対値を用いるため直感的には良さそうだが、血管収縮時に収縮期ピーク高が恣意的で時に</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と逆方向に変わることを観察した。したがって切痕の相対％（</a:t>
            </a: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）は生値（</a:t>
            </a:r>
            <a:r>
              <a:rPr lang="en-US" sz="1200" b="0" u="none" strike="noStrike">
                <a:solidFill>
                  <a:schemeClr val="dk1"/>
                </a:solidFill>
                <a:effectLst/>
                <a:uFillTx/>
                <a:latin typeface="+mn-lt"/>
                <a:ea typeface="+mn-ea"/>
              </a:rPr>
              <a:t>NAA</a:t>
            </a:r>
            <a:r>
              <a:rPr lang="ja-JP" sz="1200" b="0" u="none" strike="noStrike">
                <a:solidFill>
                  <a:schemeClr val="dk1"/>
                </a:solidFill>
                <a:effectLst/>
                <a:uFillTx/>
                <a:latin typeface="+mn-lt"/>
                <a:ea typeface="+mn-ea"/>
              </a:rPr>
              <a:t>）より</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変化の指標として信頼性が低い。</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は</a:t>
            </a:r>
            <a:r>
              <a:rPr lang="en-US" sz="1200" b="0" u="none" strike="noStrike">
                <a:solidFill>
                  <a:schemeClr val="dk1"/>
                </a:solidFill>
                <a:effectLst/>
                <a:uFillTx/>
                <a:latin typeface="+mn-lt"/>
                <a:ea typeface="+mn-ea"/>
              </a:rPr>
              <a:t>MAPcuff</a:t>
            </a:r>
            <a:r>
              <a:rPr lang="ja-JP" sz="1200" b="0" u="none" strike="noStrike">
                <a:solidFill>
                  <a:schemeClr val="dk1"/>
                </a:solidFill>
                <a:effectLst/>
                <a:uFillTx/>
                <a:latin typeface="+mn-lt"/>
                <a:ea typeface="+mn-ea"/>
              </a:rPr>
              <a:t>に対し比例バイアス（小</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で過小・大</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で過大評価）を示した。</a:t>
            </a:r>
            <a:r>
              <a:rPr lang="en-US" sz="1200" b="0" u="none" strike="noStrike">
                <a:solidFill>
                  <a:schemeClr val="dk1"/>
                </a:solidFill>
                <a:effectLst/>
                <a:uFillTx/>
                <a:latin typeface="+mn-lt"/>
                <a:ea typeface="+mn-ea"/>
              </a:rPr>
              <a:t>MAP_PI </a:t>
            </a:r>
            <a:r>
              <a:rPr lang="ja-JP" sz="1200" b="0" u="none" strike="noStrike">
                <a:solidFill>
                  <a:schemeClr val="dk1"/>
                </a:solidFill>
                <a:effectLst/>
                <a:uFillTx/>
                <a:latin typeface="+mn-lt"/>
                <a:ea typeface="+mn-ea"/>
              </a:rPr>
              <a:t>は対数を用いても</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変動がなお指数的で、単純線形モデルでは挙動を説明できず、より良いモデル化が必要</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n-lt"/>
                <a:ea typeface="+mn-ea"/>
              </a:rPr>
              <a:t>切痕の絶対位置が良さそう。</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8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3FBE3E-31F8-4F39-A4B6-E940CB774D3D}"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PlaceHolder 1"/>
          <p:cNvSpPr>
            <a:spLocks noGrp="1" noRot="1" noChangeAspect="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加齢性変化については　</a:t>
            </a:r>
            <a:r>
              <a:rPr lang="en-US" sz="2000" b="0" u="none" strike="noStrike">
                <a:solidFill>
                  <a:srgbClr val="000000"/>
                </a:solidFill>
                <a:effectLst/>
                <a:uFillTx/>
                <a:latin typeface="Arial"/>
              </a:rPr>
              <a:t>Allen 2020</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https://iopscience.iop.org/article/10.1088/1361-6579/ab9b67</a:t>
            </a:r>
            <a:endParaRPr lang="en-US" sz="2000" b="0" u="none" strike="noStrike">
              <a:solidFill>
                <a:srgbClr val="000000"/>
              </a:solidFill>
              <a:effectLst/>
              <a:uFillTx/>
              <a:latin typeface="Arial"/>
            </a:endParaRPr>
          </a:p>
          <a:p>
            <a:pPr indent="0" algn="l">
              <a:lnSpc>
                <a:spcPct val="100000"/>
              </a:lnSpc>
              <a:buNone/>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9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729103-E3E5-4B82-97DD-5F88552669E3}" type="slidenum">
              <a:rPr lang="en-US"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PlaceHolder 1"/>
          <p:cNvSpPr>
            <a:spLocks noGrp="1" noRot="1" noChangeAspect="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0" u="none" strike="noStrike">
                <a:solidFill>
                  <a:srgbClr val="7F7F7F"/>
                </a:solidFill>
                <a:effectLst/>
                <a:uFillTx/>
                <a:latin typeface="Meiryo"/>
                <a:ea typeface="Meiryo"/>
              </a:rPr>
              <a:t>指尖</a:t>
            </a:r>
            <a:r>
              <a:rPr lang="en-US" sz="1200" b="0" u="none" strike="noStrike">
                <a:solidFill>
                  <a:srgbClr val="7F7F7F"/>
                </a:solidFill>
                <a:effectLst/>
                <a:uFillTx/>
                <a:latin typeface="Meiryo"/>
                <a:ea typeface="Meiryo"/>
              </a:rPr>
              <a:t>PPG⇔SVR </a:t>
            </a:r>
            <a:r>
              <a:rPr lang="ja-JP" sz="1200" b="0" u="none" strike="noStrike">
                <a:solidFill>
                  <a:srgbClr val="7F7F7F"/>
                </a:solidFill>
                <a:effectLst/>
                <a:uFillTx/>
                <a:latin typeface="Meiryo"/>
                <a:ea typeface="Meiryo"/>
              </a:rPr>
              <a:t>は中等度 </a:t>
            </a:r>
            <a:r>
              <a:rPr lang="en-US" sz="1200" b="0" u="none" strike="noStrike">
                <a:solidFill>
                  <a:srgbClr val="7F7F7F"/>
                </a:solidFill>
                <a:effectLst/>
                <a:uFillTx/>
                <a:latin typeface="Meiryo"/>
                <a:ea typeface="Meiryo"/>
              </a:rPr>
              <a:t>r=0.54</a:t>
            </a:r>
            <a:r>
              <a:rPr lang="ja-JP" sz="1200" b="0" u="none" strike="noStrike">
                <a:solidFill>
                  <a:srgbClr val="7F7F7F"/>
                </a:solidFill>
                <a:effectLst/>
                <a:uFillTx/>
                <a:latin typeface="Meiryo"/>
                <a:ea typeface="Meiryo"/>
              </a:rPr>
              <a:t>（</a:t>
            </a:r>
            <a:r>
              <a:rPr lang="en-US" sz="1200" b="0" u="none" strike="noStrike">
                <a:solidFill>
                  <a:srgbClr val="7F7F7F"/>
                </a:solidFill>
                <a:effectLst/>
                <a:uFillTx/>
                <a:latin typeface="Meiryo"/>
                <a:ea typeface="Meiryo"/>
              </a:rPr>
              <a:t>Middleton 2011</a:t>
            </a:r>
            <a:r>
              <a:rPr lang="ja-JP" sz="1200" b="0" u="none" strike="noStrike">
                <a:solidFill>
                  <a:srgbClr val="7F7F7F"/>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9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9DBAB2-3286-4C40-B40B-80FDA4F43443}"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PlaceHolder 1"/>
          <p:cNvSpPr>
            <a:spLocks noGrp="1" noRot="1" noChangeAspect="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（推定連続心拍出量）は、</a:t>
            </a:r>
            <a:r>
              <a:rPr lang="en-US" sz="2000" b="0" u="none" strike="noStrike">
                <a:solidFill>
                  <a:srgbClr val="000000"/>
                </a:solidFill>
                <a:effectLst/>
                <a:uFillTx/>
                <a:latin typeface="Arial"/>
              </a:rPr>
              <a:t>ECG</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R</a:t>
            </a:r>
            <a:r>
              <a:rPr lang="zh-CN" sz="2000" b="0" u="none" strike="noStrike">
                <a:solidFill>
                  <a:srgbClr val="000000"/>
                </a:solidFill>
                <a:effectLst/>
                <a:uFillTx/>
                <a:latin typeface="Arial"/>
              </a:rPr>
              <a:t>波から</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脈波の立ち上がりまでの時間＝</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（脈波伝播時間）で</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を非侵襲・連続推定する。中核の前提は『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が負の相関』＝</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が短縮すれば</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が増えたとみなす（</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）。推定式は概念的に </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CO=SV×HR </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は個体ごとの較正定数。ここで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に血管側（後負荷・スティフネス）の情報が入っていないことが後で問題になる。</a:t>
            </a:r>
            <a:endParaRPr lang="en-US" sz="2000" b="0" u="none" strike="noStrike">
              <a:solidFill>
                <a:srgbClr val="000000"/>
              </a:solidFill>
              <a:effectLst/>
              <a:uFillTx/>
              <a:latin typeface="Arial"/>
            </a:endParaRPr>
          </a:p>
        </p:txBody>
      </p:sp>
      <p:sp>
        <p:nvSpPr>
          <p:cNvPr id="79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4AB6CB6-A60B-473E-9B77-FE2434826229}" type="slidenum">
              <a:rPr lang="en-US" sz="1200" b="0" u="none" strike="noStrike">
                <a:solidFill>
                  <a:srgbClr val="000000"/>
                </a:solidFill>
                <a:effectLst/>
                <a:uFillTx/>
                <a:latin typeface="Times New Roman"/>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PlaceHolder 1"/>
          <p:cNvSpPr>
            <a:spLocks noGrp="1" noRot="1" noChangeAspect="1"/>
          </p:cNvSpPr>
          <p:nvPr>
            <p:ph type="sldImg"/>
          </p:nvPr>
        </p:nvSpPr>
        <p:spPr>
          <a:xfrm>
            <a:off x="685800" y="1143000"/>
            <a:ext cx="5486040" cy="308592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（前駆出期：電気興奮〜大動脈弁開放）と</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（血管伝播時間：大動脈弁〜指尖）の合成量。</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は前負荷・心収縮性で主に短縮し、後負荷では延長する。</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（本章の</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T2</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（脈波伝播速度）＝血管スティフネス・血圧＝後負荷で規定され、</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（中心大動脈由来）が支配的。開発元</a:t>
            </a:r>
            <a:r>
              <a:rPr lang="en-US" sz="2000" b="0" u="none" strike="noStrike">
                <a:solidFill>
                  <a:srgbClr val="000000"/>
                </a:solidFill>
                <a:effectLst/>
                <a:uFillTx/>
                <a:latin typeface="Arial"/>
              </a:rPr>
              <a:t>Nihon Kohden</a:t>
            </a:r>
            <a:r>
              <a:rPr lang="zh-CN" sz="2000" b="0" u="none" strike="noStrike">
                <a:solidFill>
                  <a:srgbClr val="000000"/>
                </a:solidFill>
                <a:effectLst/>
                <a:uFillTx/>
                <a:latin typeface="Arial"/>
              </a:rPr>
              <a:t>でも</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変化が</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変化の約半分を占めると報告（</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）。つまり</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は心臓成分と血管成分の混合信号。</a:t>
            </a:r>
            <a:endParaRPr lang="en-US" sz="2000" b="0" u="none" strike="noStrike">
              <a:solidFill>
                <a:srgbClr val="000000"/>
              </a:solidFill>
              <a:effectLst/>
              <a:uFillTx/>
              <a:latin typeface="Arial"/>
            </a:endParaRPr>
          </a:p>
        </p:txBody>
      </p:sp>
      <p:sp>
        <p:nvSpPr>
          <p:cNvPr id="80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EC65612-82BF-4C29-B365-7BBC10C1E2BD}" type="slidenum">
              <a:rPr lang="en-US" sz="1200" b="0" u="none" strike="noStrike">
                <a:solidFill>
                  <a:srgbClr val="000000"/>
                </a:solidFill>
                <a:effectLst/>
                <a:uFillTx/>
                <a:latin typeface="Times New Roman"/>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PlaceHolder 1"/>
          <p:cNvSpPr>
            <a:spLocks noGrp="1" noRot="1" noChangeAspect="1"/>
          </p:cNvSpPr>
          <p:nvPr>
            <p:ph type="sldImg"/>
          </p:nvPr>
        </p:nvSpPr>
        <p:spPr>
          <a:xfrm>
            <a:off x="685800" y="1143000"/>
            <a:ext cx="5486040" cy="308592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後負荷が上がると（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・動脈エラスタンス</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）、血圧上昇→</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上昇→</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短縮となる。ところが後負荷上昇では心室‑動脈カップリング上</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は減少する。</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増加』と読むため、後負荷上昇局面で</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を過大評価する。臨床的にも</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bias</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r=0.69</a:t>
            </a:r>
            <a:r>
              <a:rPr lang="zh-CN" sz="2000" b="0" u="none" strike="noStrike">
                <a:solidFill>
                  <a:srgbClr val="000000"/>
                </a:solidFill>
                <a:effectLst/>
                <a:uFillTx/>
                <a:latin typeface="Arial"/>
              </a:rPr>
              <a:t>）と相関し、</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低下時に誤差最大（</a:t>
            </a:r>
            <a:r>
              <a:rPr lang="en-US" sz="2000" b="0" u="none" strike="noStrike">
                <a:solidFill>
                  <a:srgbClr val="000000"/>
                </a:solidFill>
                <a:effectLst/>
                <a:uFillTx/>
                <a:latin typeface="Arial"/>
              </a:rPr>
              <a:t>Magliocca 2018</a:t>
            </a:r>
            <a:r>
              <a:rPr lang="zh-CN" sz="2000" b="0" u="none" strike="noStrike">
                <a:solidFill>
                  <a:srgbClr val="000000"/>
                </a:solidFill>
                <a:effectLst/>
                <a:uFillTx/>
                <a:latin typeface="Arial"/>
              </a:rPr>
              <a:t>）、昇圧薬使用・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変動時に不正確（</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Tsutsui 2013</a:t>
            </a:r>
            <a:r>
              <a:rPr lang="zh-CN" sz="2000" b="0" u="none" strike="noStrike">
                <a:solidFill>
                  <a:srgbClr val="000000"/>
                </a:solidFill>
                <a:effectLst/>
                <a:uFillTx/>
                <a:latin typeface="Arial"/>
              </a:rPr>
              <a:t>）。要点：後負荷は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を同方向に動かし前提を破綻させる。</a:t>
            </a:r>
            <a:endParaRPr lang="en-US" sz="2000" b="0" u="none" strike="noStrike">
              <a:solidFill>
                <a:srgbClr val="000000"/>
              </a:solidFill>
              <a:effectLst/>
              <a:uFillTx/>
              <a:latin typeface="Arial"/>
            </a:endParaRPr>
          </a:p>
        </p:txBody>
      </p:sp>
      <p:sp>
        <p:nvSpPr>
          <p:cNvPr id="803"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00FAF8-E59C-4D08-8837-F9D5BEB8C473}"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PlaceHolder 1"/>
          <p:cNvSpPr>
            <a:spLocks noGrp="1" noRot="1" noChangeAspect="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分割表の読み。</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短縮の</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経路：①</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短縮（前負荷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正しい。②</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短縮（後負荷↑）は実際</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なのに</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と過大評価。③</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は延長しても</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優位で</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短縮が勝ち正味</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で過大評価。</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延長も対称に</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経路（④正しい／⑤⑥過小評価）。緑＝前提成立、赤＝後負荷が交絡し前提破綻。これが私の仮説の骨子。</a:t>
            </a:r>
            <a:endParaRPr lang="en-US" sz="2000" b="0" u="none" strike="noStrike">
              <a:solidFill>
                <a:srgbClr val="000000"/>
              </a:solidFill>
              <a:effectLst/>
              <a:uFillTx/>
              <a:latin typeface="Arial"/>
            </a:endParaRPr>
          </a:p>
        </p:txBody>
      </p:sp>
      <p:sp>
        <p:nvSpPr>
          <p:cNvPr id="806"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C3AD3F-2B93-4CC7-9E0C-730192BD9056}" type="slidenum">
              <a:rPr lang="en-US" sz="1200" b="0" u="none" strike="noStrike">
                <a:solidFill>
                  <a:srgbClr val="000000"/>
                </a:solidFill>
                <a:effectLst/>
                <a:uFillTx/>
                <a:latin typeface="Times New Roman"/>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PlaceHolder 1"/>
          <p:cNvSpPr>
            <a:spLocks noGrp="1" noRot="1" noChangeAspect="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各方向の文献的裏付け。</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収縮↑（</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Ahmed 1972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Kettunen 1985</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＝後負荷は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を延長し交絡を複雑化）、</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Bramwell‑Hill</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後負荷↑（心室‑動脈カップリング；</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）。判定：方向性は文献と概ね整合。ただし</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は後負荷でも延長する点は単純化で、</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優位・混合症例は妥当な作業仮説（前向き検証が必要）。</a:t>
            </a:r>
            <a:endParaRPr lang="en-US" sz="2000" b="0" u="none" strike="noStrike">
              <a:solidFill>
                <a:srgbClr val="000000"/>
              </a:solidFill>
              <a:effectLst/>
              <a:uFillTx/>
              <a:latin typeface="Arial"/>
            </a:endParaRPr>
          </a:p>
        </p:txBody>
      </p:sp>
      <p:sp>
        <p:nvSpPr>
          <p:cNvPr id="809"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0314992-41FA-40D4-89AC-B7054AD5ED2B}" type="slidenum">
              <a:rPr lang="en-US" sz="1200" b="0" u="none" strike="noStrike">
                <a:solidFill>
                  <a:srgbClr val="000000"/>
                </a:solidFill>
                <a:effectLst/>
                <a:uFillTx/>
                <a:latin typeface="Times New Roman"/>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noRot="1" noChangeAspect="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指尖</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の形態には血管側（後負荷・スティフネス・トーヌス）の情報が含まれる。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（加速度脈波）の</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、反射指数、切痕位置が血管スティフネス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トーヌスの指標（</a:t>
            </a:r>
            <a:r>
              <a:rPr lang="en-US" sz="2000" b="0" u="none" strike="noStrike">
                <a:solidFill>
                  <a:srgbClr val="000000"/>
                </a:solidFill>
                <a:effectLst/>
                <a:uFillTx/>
                <a:latin typeface="Arial"/>
              </a:rPr>
              <a:t>Takazawa 1998</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Hashimoto 2002</a:t>
            </a:r>
            <a:r>
              <a:rPr lang="zh-CN" sz="2000" b="0" u="none" strike="noStrike">
                <a:solidFill>
                  <a:srgbClr val="000000"/>
                </a:solidFill>
                <a:effectLst/>
                <a:uFillTx/>
                <a:latin typeface="Arial"/>
              </a:rPr>
              <a:t>）。提案：</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推定の</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由来の血管指標で動的に補正する（</a:t>
            </a:r>
            <a:r>
              <a:rPr lang="en-US" sz="2000" b="0" u="none" strike="noStrike">
                <a:solidFill>
                  <a:srgbClr val="000000"/>
                </a:solidFill>
                <a:effectLst/>
                <a:uFillTx/>
                <a:latin typeface="Arial"/>
              </a:rPr>
              <a:t>K→K(d/a,e/a…)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血管</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）。狙いは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短縮が後負荷由来か前負荷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収縮由来かを形態で判別し後負荷交絡を打ち消すこと。</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は形・タイミングを保存し絶対振幅を捨てるため、原波形の振幅（</a:t>
            </a:r>
            <a:r>
              <a:rPr lang="en-US" sz="2000" b="0" u="none" strike="noStrike">
                <a:solidFill>
                  <a:srgbClr val="000000"/>
                </a:solidFill>
                <a:effectLst/>
                <a:uFillTx/>
                <a:latin typeface="Arial"/>
              </a:rPr>
              <a:t>PI</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AC</a:t>
            </a:r>
            <a:r>
              <a:rPr lang="zh-CN" sz="2000" b="0" u="none" strike="noStrike">
                <a:solidFill>
                  <a:srgbClr val="000000"/>
                </a:solidFill>
                <a:effectLst/>
                <a:uFillTx/>
                <a:latin typeface="Arial"/>
              </a:rPr>
              <a:t>）と相補的に使える。</a:t>
            </a:r>
            <a:endParaRPr lang="en-US" sz="2000" b="0" u="none" strike="noStrike">
              <a:solidFill>
                <a:srgbClr val="000000"/>
              </a:solidFill>
              <a:effectLst/>
              <a:uFillTx/>
              <a:latin typeface="Arial"/>
            </a:endParaRPr>
          </a:p>
        </p:txBody>
      </p:sp>
      <p:sp>
        <p:nvSpPr>
          <p:cNvPr id="812"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068145-B64D-4786-B2AA-8470B0D2AAF4}" type="slidenum">
              <a:rPr lang="en-US" sz="1200" b="0" u="none" strike="noStrike">
                <a:solidFill>
                  <a:srgbClr val="000000"/>
                </a:solidFill>
                <a:effectLst/>
                <a:uFillTx/>
                <a:latin typeface="Times New Roman"/>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p:cNvSpPr>
            <a:spLocks noGrp="1" noRot="1" noChangeAspect="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既存①</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形態→動脈スティフネス推定（多数）、②</a:t>
            </a:r>
            <a:r>
              <a:rPr lang="en-US" sz="2000" b="0" u="none" strike="noStrike">
                <a:solidFill>
                  <a:srgbClr val="000000"/>
                </a:solidFill>
                <a:effectLst/>
                <a:uFillTx/>
                <a:latin typeface="Arial"/>
              </a:rPr>
              <a:t>PAT</a:t>
            </a:r>
            <a:r>
              <a:rPr lang="zh-CN" sz="2000" b="0" u="none" strike="noStrike">
                <a:solidFill>
                  <a:srgbClr val="000000"/>
                </a:solidFill>
                <a:effectLst/>
                <a:uFillTx/>
                <a:latin typeface="Arial"/>
              </a:rPr>
              <a:t>分割（</a:t>
            </a:r>
            <a:r>
              <a:rPr lang="en-US" sz="2000" b="0" u="none" strike="noStrike">
                <a:solidFill>
                  <a:srgbClr val="000000"/>
                </a:solidFill>
                <a:effectLst/>
                <a:uFillTx/>
                <a:latin typeface="Arial"/>
              </a:rPr>
              <a:t>IVC≈PEP</a:t>
            </a:r>
            <a:r>
              <a:rPr lang="zh-CN" sz="2000" b="0" u="none" strike="noStrike">
                <a:solidFill>
                  <a:srgbClr val="000000"/>
                </a:solidFill>
                <a:effectLst/>
                <a:uFillTx/>
                <a:latin typeface="Arial"/>
              </a:rPr>
              <a:t>＋血管成分）→</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・血圧推定（</a:t>
            </a:r>
            <a:r>
              <a:rPr lang="en-US" sz="2000" b="0" u="none" strike="noStrike">
                <a:solidFill>
                  <a:srgbClr val="000000"/>
                </a:solidFill>
                <a:effectLst/>
                <a:uFillTx/>
                <a:latin typeface="Arial"/>
              </a:rPr>
              <a:t>Beutel 2021</a:t>
            </a:r>
            <a:r>
              <a:rPr lang="zh-CN" sz="2000" b="0" u="none" strike="noStrike">
                <a:solidFill>
                  <a:srgbClr val="000000"/>
                </a:solidFill>
                <a:effectLst/>
                <a:uFillTx/>
                <a:latin typeface="Arial"/>
              </a:rPr>
              <a:t>）、③</a:t>
            </a:r>
            <a:r>
              <a:rPr lang="en-US" sz="2000" b="0" u="none" strike="noStrike">
                <a:solidFill>
                  <a:srgbClr val="000000"/>
                </a:solidFill>
                <a:effectLst/>
                <a:uFillTx/>
                <a:latin typeface="Arial"/>
              </a:rPr>
              <a:t>PWTT→CO</a:t>
            </a:r>
            <a:r>
              <a:rPr lang="zh-CN" sz="2000" b="0" u="none" strike="noStrike">
                <a:solidFill>
                  <a:srgbClr val="000000"/>
                </a:solidFill>
                <a:effectLst/>
                <a:uFillTx/>
                <a:latin typeface="Arial"/>
              </a:rPr>
              <a:t>推定（</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）。未報告＝</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形態指標（</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）で後負荷交絡を除き</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を補正する枠組み。要素技術①②③は存在するが、</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精度改善へ統合した報告は渉猟し得ず新規性がある。</a:t>
            </a:r>
            <a:endParaRPr lang="en-US" sz="2000" b="0" u="none" strike="noStrike">
              <a:solidFill>
                <a:srgbClr val="000000"/>
              </a:solidFill>
              <a:effectLst/>
              <a:uFillTx/>
              <a:latin typeface="Arial"/>
            </a:endParaRPr>
          </a:p>
        </p:txBody>
      </p:sp>
      <p:sp>
        <p:nvSpPr>
          <p:cNvPr id="815"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D5B96CB-083A-4AB7-A3D4-DF816F819424}" type="slidenum">
              <a:rPr lang="en-US" sz="1200" b="0" u="none" strike="noStrike">
                <a:solidFill>
                  <a:srgbClr val="000000"/>
                </a:solidFill>
                <a:effectLst/>
                <a:uFillTx/>
                <a:latin typeface="Times New Roman"/>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PlaceHolder 1"/>
          <p:cNvSpPr>
            <a:spLocks noGrp="1" noRot="1" noChangeAspect="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まとめ。</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の合成量で、後負荷は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の中核前提を破綻させ得る。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形態で血管成分を分離し</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を補正する提案は機序的に妥当で新規性がある。限界：本分割表・</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優位仮説は作業仮説で、前向き・多施設検証、</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指標と</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の対応づけ、較正法の確立が必要。展望：</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一点から心臓と血管を分離し非侵襲</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推定の精度向上へ。</a:t>
            </a:r>
            <a:endParaRPr lang="en-US" sz="2000" b="0" u="none" strike="noStrike">
              <a:solidFill>
                <a:srgbClr val="000000"/>
              </a:solidFill>
              <a:effectLst/>
              <a:uFillTx/>
              <a:latin typeface="Arial"/>
            </a:endParaRPr>
          </a:p>
        </p:txBody>
      </p:sp>
      <p:sp>
        <p:nvSpPr>
          <p:cNvPr id="818"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DD2303-80BF-47A2-9734-14DFC1FDF15C}"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ja-JP" sz="6000" b="0" u="none" strike="noStrike">
                <a:solidFill>
                  <a:schemeClr val="dk1"/>
                </a:solidFill>
                <a:effectLst/>
                <a:uFillTx/>
                <a:latin typeface="Calibri"/>
              </a:defRPr>
            </a:lvl1pPr>
          </a:lstStyle>
          <a:p>
            <a:pPr indent="0" algn="ctr"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49EAB1D-1124-4DD5-9F25-1C19E57BDDB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タイトル付きの図">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ja-JP" sz="3200" b="0" u="none" strike="noStrike">
                <a:solidFill>
                  <a:schemeClr val="dk1"/>
                </a:solidFill>
                <a:effectLst/>
                <a:uFillTx/>
                <a:latin typeface="Calibri"/>
              </a:defRPr>
            </a:lvl1pPr>
          </a:lstStyle>
          <a:p>
            <a:pPr indent="0" algn="l" defTabSz="914400">
              <a:lnSpc>
                <a:spcPct val="100000"/>
              </a:lnSpc>
              <a:buNone/>
              <a:tabLst>
                <a:tab pos="0" algn="l"/>
              </a:tabLst>
            </a:pPr>
            <a:r>
              <a:rPr lang="ja-JP" sz="3200" b="0" u="none" strike="noStrike">
                <a:solidFill>
                  <a:schemeClr val="dk1"/>
                </a:solidFill>
                <a:effectLst/>
                <a:uFillTx/>
                <a:latin typeface="Calibri"/>
              </a:rPr>
              <a:t>アイコンをクリックして図を追加</a:t>
            </a:r>
            <a:endParaRPr lang="en-US" sz="3200" b="0" u="none" strike="noStrike">
              <a:solidFill>
                <a:schemeClr val="dk1"/>
              </a:solidFill>
              <a:effectLst/>
              <a:uFillTx/>
              <a:latin typeface="Calibri"/>
            </a:endParaRPr>
          </a:p>
        </p:txBody>
      </p:sp>
      <p:sp>
        <p:nvSpPr>
          <p:cNvPr id="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10" name="PlaceHolder 4"/>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2" name="PlaceHolder 6"/>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06A02E5-5B00-4A1B-8A9D-998C3CAF218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4"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0F92925-80C0-42CE-AF7C-39B9AFC387C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9"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0"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2"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E639BF5-B664-4746-A17F-ABE650F978B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とコンテンツ">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5"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7"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2BB614-1325-47A2-A5A0-D713FE7329B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タイトルとコンテンツ">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2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30"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2"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CC3FDA8-543D-4176-B43F-65308D0D60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33" name="直線コネクタ 7"/>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セクション見出し">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ja-JP" sz="6000" b="0" u="none" strike="noStrike">
                <a:solidFill>
                  <a:schemeClr val="dk1"/>
                </a:solidFill>
                <a:effectLst/>
                <a:uFillTx/>
                <a:latin typeface="Calibri"/>
              </a:defRPr>
            </a:lvl1pPr>
          </a:lstStyle>
          <a:p>
            <a:pPr indent="0" algn="l"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ja-JP" sz="2400" b="0" u="none" strike="noStrike">
                <a:solidFill>
                  <a:schemeClr val="dk1">
                    <a:tint val="75000"/>
                  </a:schemeClr>
                </a:solidFill>
                <a:effectLst/>
                <a:uFillTx/>
                <a:latin typeface="Calibri"/>
              </a:rPr>
              <a:t>マスター テキストの書式設定</a:t>
            </a:r>
            <a:endParaRPr lang="en-US" sz="2400" b="0" u="none" strike="noStrike">
              <a:solidFill>
                <a:schemeClr val="dk1">
                  <a:tint val="75000"/>
                </a:schemeClr>
              </a:solidFill>
              <a:effectLst/>
              <a:uFillTx/>
              <a:latin typeface="Calibri"/>
            </a:endParaRPr>
          </a:p>
        </p:txBody>
      </p:sp>
      <p:sp>
        <p:nvSpPr>
          <p:cNvPr id="36" name="PlaceHolder 3"/>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5"/>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D46D4AE-FB5C-45DA-B13C-E77342FF1B0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2 つのコンテンツ">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4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2"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4"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C23BA2D-2AAF-41E9-ABB0-C6889AE57B6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45" name="直線コネクタ 8"/>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比較">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47"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48"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9"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50"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51" name="PlaceHolder 6"/>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7"/>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3" name="PlaceHolder 8"/>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AF24B72-0775-4D2B-B358-50F33D527C8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55" name="PlaceHolder 2"/>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3"/>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7" name="PlaceHolder 4"/>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C49F299-9B00-45E3-9329-D3CE05687B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bg>
      <p:bgPr>
        <a:solidFill>
          <a:srgbClr val="FFFFFF"/>
        </a:solidFill>
        <a:effectLst/>
      </p:bgPr>
    </p:bg>
    <p:spTree>
      <p:nvGrpSpPr>
        <p:cNvPr id="1" name=""/>
        <p:cNvGrpSpPr/>
        <p:nvPr/>
      </p:nvGrpSpPr>
      <p:grpSpPr>
        <a:xfrm>
          <a:off x="0" y="0"/>
          <a:ext cx="0" cy="0"/>
          <a:chOff x="0" y="0"/>
          <a:chExt cx="0" cy="0"/>
        </a:xfrm>
      </p:grpSpPr>
      <p:sp>
        <p:nvSpPr>
          <p:cNvPr id="58" name="PlaceHolder 1"/>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2"/>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3"/>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5E7B600-7941-4823-B39E-22B86C37F63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タイトル付きのコンテンツ">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62"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3200" b="0" u="none" strike="noStrike">
                <a:solidFill>
                  <a:schemeClr val="dk1"/>
                </a:solidFill>
                <a:effectLst/>
                <a:uFillTx/>
                <a:latin typeface="Calibri"/>
              </a:rPr>
              <a:t>マスター テキストの書式設定</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800" b="0" u="none" strike="noStrike">
                <a:solidFill>
                  <a:schemeClr val="dk1"/>
                </a:solidFill>
                <a:effectLst/>
                <a:uFillTx/>
                <a:latin typeface="Calibri"/>
              </a:rPr>
              <a:t>第 </a:t>
            </a:r>
            <a:r>
              <a:rPr lang="en-US" sz="2800" b="0" u="none" strike="noStrike">
                <a:solidFill>
                  <a:schemeClr val="dk1"/>
                </a:solidFill>
                <a:effectLst/>
                <a:uFillTx/>
                <a:latin typeface="Calibri"/>
              </a:rPr>
              <a:t>2 </a:t>
            </a:r>
            <a:r>
              <a:rPr lang="ja-JP" sz="2800" b="0" u="none" strike="noStrike">
                <a:solidFill>
                  <a:schemeClr val="dk1"/>
                </a:solidFill>
                <a:effectLst/>
                <a:uFillTx/>
                <a:latin typeface="Calibri"/>
              </a:rPr>
              <a:t>レベル</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3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4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5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p:txBody>
      </p:sp>
      <p:sp>
        <p:nvSpPr>
          <p:cNvPr id="6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64"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5"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09E3F58-3F45-48C9-BCAE-03D22C6A3E8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s://pubmed.ncbi.nlm.nih.gov/4699520/"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pubmed.ncbi.nlm.nih.gov/4699520/"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pubmed.ncbi.nlm.nih.gov/10811742/"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s://pubmed.ncbi.nlm.nih.gov/1627771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pubmed.ncbi.nlm.nih.gov/16277719/" TargetMode="Externa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34339454/" TargetMode="External"/><Relationship Id="rId3" Type="http://schemas.openxmlformats.org/officeDocument/2006/relationships/hyperlink" Target="https://pubmed.ncbi.nlm.nih.gov/23366792/" TargetMode="External"/><Relationship Id="rId4" Type="http://schemas.openxmlformats.org/officeDocument/2006/relationships/hyperlink" Target="https://pubmed.ncbi.nlm.nih.gov/36286406/" TargetMode="External"/><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pubmed.ncbi.nlm.nih.gov/12241535/" TargetMode="External"/><Relationship Id="rId4" Type="http://schemas.openxmlformats.org/officeDocument/2006/relationships/hyperlink" Target="https://pubmed.ncbi.nlm.nih.gov/4699520/" TargetMode="External"/><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pubmed.ncbi.nlm.nih.gov/12241535/" TargetMode="External"/><Relationship Id="rId4" Type="http://schemas.openxmlformats.org/officeDocument/2006/relationships/hyperlink" Target="https://pubmed.ncbi.nlm.nih.gov/17940842/" TargetMode="External"/><Relationship Id="rId5" Type="http://schemas.openxmlformats.org/officeDocument/2006/relationships/image" Target="../media/image17.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pubmed.ncbi.nlm.nih.gov/8934343/" TargetMode="Externa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pubmed.ncbi.nlm.nih.gov/8934343/" TargetMode="External"/><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 Id="rId5"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pubmed.ncbi.nlm.nih.gov/12241535/" TargetMode="External"/><Relationship Id="rId4" Type="http://schemas.openxmlformats.org/officeDocument/2006/relationships/hyperlink" Target="https://pubmed.ncbi.nlm.nih.gov/10588217/" TargetMode="External"/><Relationship Id="rId5" Type="http://schemas.openxmlformats.org/officeDocument/2006/relationships/hyperlink" Target="https://pubmed.ncbi.nlm.nih.gov/9719069/" TargetMode="External"/><Relationship Id="rId6"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9719069/" TargetMode="External"/><Relationship Id="rId3" Type="http://schemas.openxmlformats.org/officeDocument/2006/relationships/hyperlink" Target="https://pubmed.ncbi.nlm.nih.gov/10701816/" TargetMode="External"/><Relationship Id="rId4" Type="http://schemas.openxmlformats.org/officeDocument/2006/relationships/hyperlink" Target="https://pubmed.ncbi.nlm.nih.gov/12473866/" TargetMode="External"/><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pubmed.ncbi.nlm.nih.gov/971906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link.springer.com/article/10.1007/s10877-020-00486-y" TargetMode="Externa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pubmed.ncbi.nlm.nih.gov/12241535/" TargetMode="External"/><Relationship Id="rId4" Type="http://schemas.openxmlformats.org/officeDocument/2006/relationships/hyperlink" Target="https://pubmed.ncbi.nlm.nih.gov/9719069/" TargetMode="External"/><Relationship Id="rId5" Type="http://schemas.openxmlformats.org/officeDocument/2006/relationships/hyperlink" Target="https://link.springer.com/article/10.1007/s10877-018-0235-z" TargetMode="External"/><Relationship Id="rId6" Type="http://schemas.openxmlformats.org/officeDocument/2006/relationships/hyperlink" Target="https://link.springer.com/article/10.1007/s10877-020-00486-y" TargetMode="External"/><Relationship Id="rId7"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2241535/" TargetMode="Externa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hyperlink" Target="https://link.springer.com/article/10.1007/s10877-020-00486-y" TargetMode="External"/><Relationship Id="rId8"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hyperlink" Target="https://pubmed.ncbi.nlm.nih.gov/2134063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hyperlink" Target="https://pubmed.ncbi.nlm.nih.gov/21340639/"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hyperlink" Target="https://pubmed.ncbi.nlm.nih.gov/4699520/" TargetMode="External"/><Relationship Id="rId7" Type="http://schemas.openxmlformats.org/officeDocument/2006/relationships/hyperlink" Target="https://www.ahajournals.org/doi/10.1161/CIRCGEN.121.003676" TargetMode="External"/><Relationship Id="rId8" Type="http://schemas.openxmlformats.org/officeDocument/2006/relationships/hyperlink" Target="https://pubmed.ncbi.nlm.nih.gov/10811742/" TargetMode="External"/><Relationship Id="rId9" Type="http://schemas.openxmlformats.org/officeDocument/2006/relationships/hyperlink" Target="https://pubmed.ncbi.nlm.nih.gov/22051898/" TargetMode="External"/><Relationship Id="rId10" Type="http://schemas.openxmlformats.org/officeDocument/2006/relationships/hyperlink" Target="https://pubmed.ncbi.nlm.nih.gov/16277719/" TargetMode="External"/><Relationship Id="rId11" Type="http://schemas.openxmlformats.org/officeDocument/2006/relationships/hyperlink" Target="https://pubmed.ncbi.nlm.nih.gov/34339454/" TargetMode="External"/><Relationship Id="rId12" Type="http://schemas.openxmlformats.org/officeDocument/2006/relationships/hyperlink" Target="https://pubmed.ncbi.nlm.nih.gov/23366792/" TargetMode="External"/><Relationship Id="rId13" Type="http://schemas.openxmlformats.org/officeDocument/2006/relationships/hyperlink" Target="https://pubmed.ncbi.nlm.nih.gov/36286406/" TargetMode="External"/><Relationship Id="rId14" Type="http://schemas.openxmlformats.org/officeDocument/2006/relationships/hyperlink" Target="https://pubmed.ncbi.nlm.nih.gov/17940842/" TargetMode="External"/><Relationship Id="rId15" Type="http://schemas.openxmlformats.org/officeDocument/2006/relationships/hyperlink" Target="https://link.springer.com/article/10.1007/s10877-018-0235-z" TargetMode="External"/><Relationship Id="rId16" Type="http://schemas.openxmlformats.org/officeDocument/2006/relationships/hyperlink" Target="https://pubmed.ncbi.nlm.nih.gov/10588217/" TargetMode="External"/><Relationship Id="rId17" Type="http://schemas.openxmlformats.org/officeDocument/2006/relationships/hyperlink" Target="https://pubmed.ncbi.nlm.nih.gov/9719069/" TargetMode="External"/><Relationship Id="rId18" Type="http://schemas.openxmlformats.org/officeDocument/2006/relationships/hyperlink" Target="https://pubmed.ncbi.nlm.nih.gov/8934343/" TargetMode="External"/><Relationship Id="rId19" Type="http://schemas.openxmlformats.org/officeDocument/2006/relationships/hyperlink" Target="https://pubmed.ncbi.nlm.nih.gov/10701816/" TargetMode="External"/><Relationship Id="rId20" Type="http://schemas.openxmlformats.org/officeDocument/2006/relationships/hyperlink" Target="https://pubmed.ncbi.nlm.nih.gov/12473866/" TargetMode="External"/><Relationship Id="rId21" Type="http://schemas.openxmlformats.org/officeDocument/2006/relationships/hyperlink" Target="https://link.springer.com/article/10.1007/s10877-020-00486-y" TargetMode="External"/><Relationship Id="rId22" Type="http://schemas.openxmlformats.org/officeDocument/2006/relationships/hyperlink" Target="https://pubmed.ncbi.nlm.nih.gov/2134063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itleFrame"/>
          <p:cNvSpPr/>
          <p:nvPr/>
        </p:nvSpPr>
        <p:spPr>
          <a:xfrm>
            <a:off x="1828800" y="2706624"/>
            <a:ext cx="8531352" cy="822960"/>
          </a:xfrm>
          <a:prstGeom prst="roundRect">
            <a:avLst>
              <a:gd name="adj" fmla="val 8000"/>
            </a:avLst>
          </a:prstGeom>
          <a:noFill/>
          <a:ln w="28575" cap="flat">
            <a:solidFill>
              <a:srgbClr val="44546A"/>
            </a:solidFill>
            <a:round/>
          </a:ln>
        </p:spPr>
        <p:txBody>
          <a:bodyPr rtlCol="0" anchor="ctr"/>
          <a:lstStyle/>
          <a:p>
            <a:endParaRPr lang="ja-JP"/>
          </a:p>
        </p:txBody>
      </p:sp>
      <p:sp>
        <p:nvSpPr>
          <p:cNvPr id="73"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spcAft>
                <a:spcPts val="601"/>
              </a:spcAft>
              <a:buNone/>
            </a:pPr>
            <a:r>
              <a:rPr lang="en-US" sz="4400" b="1" u="none" strike="noStrike">
                <a:solidFill>
                  <a:srgbClr val="262626"/>
                </a:solidFill>
                <a:effectLst/>
                <a:uFillTx/>
                <a:latin typeface="Meiryo"/>
                <a:ea typeface="Meiryo"/>
              </a:rPr>
              <a:t>SpO₂</a:t>
            </a:r>
            <a:r>
              <a:rPr lang="ja-JP" sz="4400" b="1" u="none" strike="noStrike">
                <a:solidFill>
                  <a:srgbClr val="262626"/>
                </a:solidFill>
                <a:effectLst/>
                <a:uFillTx/>
                <a:latin typeface="Meiryo"/>
                <a:ea typeface="Meiryo"/>
              </a:rPr>
              <a:t>（</a:t>
            </a:r>
            <a:r>
              <a:rPr lang="en-US" sz="4400" b="1" u="none" strike="noStrike">
                <a:solidFill>
                  <a:srgbClr val="262626"/>
                </a:solidFill>
                <a:effectLst/>
                <a:uFillTx/>
                <a:latin typeface="Meiryo"/>
                <a:ea typeface="Meiryo"/>
              </a:rPr>
              <a:t>PPG</a:t>
            </a:r>
            <a:r>
              <a:rPr lang="ja-JP" sz="4400" b="1" u="none" strike="noStrike">
                <a:solidFill>
                  <a:srgbClr val="262626"/>
                </a:solidFill>
                <a:effectLst/>
                <a:uFillTx/>
                <a:latin typeface="Meiryo"/>
                <a:ea typeface="Meiryo"/>
              </a:rPr>
              <a:t>）波形解析の流れ</a:t>
            </a:r>
            <a:endParaRPr lang="en-US" sz="4000" b="0" u="none" strike="noStrike">
              <a:solidFill>
                <a:schemeClr val="dk1"/>
              </a:solidFill>
              <a:effectLst/>
              <a:uFillTx/>
              <a:latin typeface="Calibri"/>
            </a:endParaRPr>
          </a:p>
        </p:txBody>
      </p:sp>
      <p:sp>
        <p:nvSpPr>
          <p:cNvPr id="74"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rmAutofit/>
          </a:bodyPr>
          <a:lstStyle/>
          <a:p>
            <a:pPr indent="0" algn="ctr" defTabSz="914400">
              <a:lnSpc>
                <a:spcPct val="90000"/>
              </a:lnSpc>
              <a:spcBef>
                <a:spcPts val="1001"/>
              </a:spcBef>
              <a:spcAft>
                <a:spcPts val="400"/>
              </a:spcAft>
              <a:buNone/>
              <a:tabLst>
                <a:tab pos="0" algn="l"/>
              </a:tabLst>
            </a:pPr>
            <a:r>
              <a:rPr lang="en-US" sz="2200" b="1" u="none" strike="noStrike">
                <a:solidFill>
                  <a:srgbClr val="262626"/>
                </a:solidFill>
                <a:effectLst/>
                <a:uFillTx/>
                <a:latin typeface="Meiryo"/>
                <a:ea typeface="Meiryo"/>
              </a:rPr>
              <a:t>― 成り立ちから dicrotic notch </a:t>
            </a:r>
            <a:r>
              <a:rPr lang="zh-CN" sz="2200" b="1" u="none" strike="noStrike">
                <a:solidFill>
                  <a:srgbClr val="262626"/>
                </a:solidFill>
                <a:effectLst/>
                <a:uFillTx/>
                <a:latin typeface="Meiryo"/>
                <a:ea typeface="Meiryo"/>
              </a:rPr>
              <a:t>まで ―</a:t>
            </a: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r>
              <a:rPr lang="zh-CN" sz="2200" b="0" u="none" strike="noStrike">
                <a:solidFill>
                  <a:srgbClr val="262626"/>
                </a:solidFill>
                <a:effectLst/>
                <a:uFillTx/>
                <a:latin typeface="Meiryo"/>
                <a:ea typeface="Meiryo"/>
              </a:rPr>
              <a:t>川副 靖晃</a:t>
            </a:r>
            <a:endParaRPr lang="en-US" sz="2200" b="0" u="none" strike="noStrike">
              <a:solidFill>
                <a:schemeClr val="dk1"/>
              </a:solidFill>
              <a:effectLst/>
              <a:uFillTx/>
              <a:latin typeface="Calibri"/>
            </a:endParaRPr>
          </a:p>
        </p:txBody>
      </p:sp>
      <p:pic>
        <p:nvPicPr>
          <p:cNvPr id="75" name="Picture 3" descr="01_hero.png"/>
          <p:cNvPicPr/>
          <p:nvPr/>
        </p:nvPicPr>
        <p:blipFill>
          <a:blip r:embed="rId3"/>
          <a:stretch/>
        </p:blipFill>
        <p:spPr>
          <a:xfrm>
            <a:off x="4744080" y="5580000"/>
            <a:ext cx="2679120" cy="1043640"/>
          </a:xfrm>
          <a:prstGeom prst="rect">
            <a:avLst/>
          </a:prstGeom>
          <a:noFill/>
          <a:ln w="0">
            <a:noFill/>
          </a:ln>
        </p:spPr>
      </p:pic>
      <p:sp>
        <p:nvSpPr>
          <p:cNvPr id="76" name="TextBox 4"/>
          <p:cNvSpPr/>
          <p:nvPr/>
        </p:nvSpPr>
        <p:spPr>
          <a:xfrm>
            <a:off x="567000" y="64465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PPG</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photoplethysmography</a:t>
            </a:r>
            <a:r>
              <a:rPr lang="ja-JP" sz="1050" b="0" u="none" strike="noStrike">
                <a:solidFill>
                  <a:srgbClr val="808080"/>
                </a:solidFill>
                <a:effectLst/>
                <a:uFillTx/>
                <a:latin typeface="Meiryo"/>
                <a:ea typeface="Meiryo"/>
              </a:rPr>
              <a:t>（光電容積脈波）　／　</a:t>
            </a:r>
            <a:r>
              <a:rPr lang="en-US" sz="1050" b="0" u="none" strike="noStrike">
                <a:solidFill>
                  <a:srgbClr val="808080"/>
                </a:solidFill>
                <a:effectLst/>
                <a:uFillTx/>
                <a:latin typeface="Meiryo"/>
                <a:ea typeface="Meiryo"/>
              </a:rPr>
              <a:t>SpO₂</a:t>
            </a:r>
            <a:r>
              <a:rPr lang="ja-JP" sz="1050" b="0" u="none" strike="noStrike">
                <a:solidFill>
                  <a:srgbClr val="808080"/>
                </a:solidFill>
                <a:effectLst/>
                <a:uFillTx/>
                <a:latin typeface="Meiryo"/>
                <a:ea typeface="Meiryo"/>
              </a:rPr>
              <a:t>：経皮的動脈血酸素飽和度　／　</a:t>
            </a:r>
            <a:r>
              <a:rPr lang="en-US" sz="1050" b="0" u="none" strike="noStrike">
                <a:solidFill>
                  <a:srgbClr val="808080"/>
                </a:solidFill>
                <a:effectLst/>
                <a:uFillTx/>
                <a:latin typeface="Meiryo"/>
                <a:ea typeface="Meiryo"/>
              </a:rPr>
              <a:t>dicrotic notch</a:t>
            </a:r>
            <a:r>
              <a:rPr lang="ja-JP" sz="1050" b="0" u="none" strike="noStrike">
                <a:solidFill>
                  <a:srgbClr val="808080"/>
                </a:solidFill>
                <a:effectLst/>
                <a:uFillTx/>
                <a:latin typeface="Meiryo"/>
                <a:ea typeface="Meiryo"/>
              </a:rPr>
              <a:t>：重複切痕</a:t>
            </a:r>
            <a:endParaRPr lang="en-US" sz="105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itleFrame"/>
          <p:cNvSpPr/>
          <p:nvPr/>
        </p:nvSpPr>
        <p:spPr>
          <a:xfrm>
            <a:off x="655200" y="603504"/>
            <a:ext cx="29626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7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Meiryo"/>
                <a:ea typeface="Meiryo"/>
              </a:rPr>
              <a:t>メニュー</a:t>
            </a:r>
            <a:endParaRPr lang="en-US" sz="4600" b="1" u="none" strike="noStrike">
              <a:ln w="19050">
                <a:solidFill>
                  <a:srgbClr val="000000"/>
                </a:solidFill>
              </a:ln>
              <a:solidFill>
                <a:schemeClr val="accent4">
                  <a:lumMod val="75000"/>
                </a:schemeClr>
              </a:solidFill>
              <a:effectLst/>
              <a:uFillTx/>
              <a:latin typeface="Calibri"/>
            </a:endParaRPr>
          </a:p>
        </p:txBody>
      </p:sp>
      <p:sp>
        <p:nvSpPr>
          <p:cNvPr id="7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7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8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8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8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8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8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85" name="TextBox 7"/>
          <p:cNvSpPr/>
          <p:nvPr/>
        </p:nvSpPr>
        <p:spPr>
          <a:xfrm>
            <a:off x="936000" y="2113920"/>
            <a:ext cx="10439640" cy="382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28000"/>
              </a:lnSpc>
              <a:spcAft>
                <a:spcPts val="649"/>
              </a:spcAft>
            </a:pPr>
            <a:r>
              <a:rPr lang="en-US" sz="2400" b="1" u="none" strike="noStrike">
                <a:solidFill>
                  <a:srgbClr val="BF9000"/>
                </a:solidFill>
                <a:effectLst/>
                <a:uFillTx/>
                <a:latin typeface="Meiryo"/>
                <a:ea typeface="Meiryo"/>
              </a:rPr>
              <a:t>1.</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基礎：</a:t>
            </a:r>
            <a:r>
              <a:rPr lang="en-US" sz="2400" b="1" u="none" strike="noStrike">
                <a:solidFill>
                  <a:srgbClr val="262626"/>
                </a:solidFill>
                <a:effectLst/>
                <a:uFillTx/>
                <a:latin typeface="Meiryo"/>
                <a:ea typeface="Meiryo"/>
              </a:rPr>
              <a:t>PPG</a:t>
            </a:r>
            <a:r>
              <a:rPr lang="ja-JP" sz="2400" b="1" u="none" strike="noStrike">
                <a:solidFill>
                  <a:srgbClr val="262626"/>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2.</a:t>
            </a:r>
            <a:r>
              <a:rPr lang="ja-JP" sz="2400" b="1" u="none" strike="noStrike">
                <a:solidFill>
                  <a:srgbClr val="BF9000"/>
                </a:solidFill>
                <a:effectLst/>
                <a:uFillTx/>
                <a:latin typeface="Meiryo"/>
                <a:ea typeface="Meiryo"/>
              </a:rPr>
              <a:t>　</a:t>
            </a:r>
            <a:r>
              <a:rPr lang="ja-JP" sz="2400" b="1" u="none" strike="noStrike">
                <a:solidFill>
                  <a:schemeClr val="dk1"/>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3.</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4.</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5.</a:t>
            </a:r>
            <a:r>
              <a:rPr lang="ja-JP" sz="2400" b="1" u="none" strike="noStrike">
                <a:solidFill>
                  <a:srgbClr val="BF9000"/>
                </a:solidFill>
                <a:effectLst/>
                <a:uFillTx/>
                <a:latin typeface="Meiryo"/>
                <a:ea typeface="Meiryo"/>
              </a:rPr>
              <a:t>　</a:t>
            </a:r>
            <a:r>
              <a:rPr lang="en-US" sz="2400" b="1" u="none" strike="noStrike">
                <a:solidFill>
                  <a:srgbClr val="262626"/>
                </a:solidFill>
                <a:effectLst/>
                <a:uFillTx/>
                <a:latin typeface="Meiryo"/>
                <a:ea typeface="Meiryo"/>
              </a:rPr>
              <a:t>SpO₂</a:t>
            </a:r>
            <a:r>
              <a:rPr lang="ja-JP" sz="2400" b="1" u="none" strike="noStrike">
                <a:solidFill>
                  <a:srgbClr val="262626"/>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6.</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限界</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7.</a:t>
            </a:r>
            <a:r>
              <a:rPr lang="ja-JP" sz="2400" b="1" u="none" strike="noStrike">
                <a:solidFill>
                  <a:srgbClr val="BF9000"/>
                </a:solidFill>
                <a:effectLst/>
                <a:uFillTx/>
                <a:latin typeface="Meiryo"/>
                <a:ea typeface="Meiryo"/>
              </a:rPr>
              <a:t>　</a:t>
            </a:r>
            <a:r>
              <a:rPr lang="en-US" sz="2400" b="1" u="none" strike="noStrike">
                <a:solidFill>
                  <a:srgbClr val="262626"/>
                </a:solidFill>
                <a:effectLst/>
                <a:uFillTx/>
                <a:latin typeface="Meiryo"/>
                <a:ea typeface="Meiryo"/>
              </a:rPr>
              <a:t>esCCO</a:t>
            </a:r>
            <a:r>
              <a:rPr lang="ja-JP" sz="2400" b="1" u="none" strike="noStrike">
                <a:solidFill>
                  <a:srgbClr val="262626"/>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8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2/47</a:t>
            </a:r>
            <a:endParaRPr lang="en-US" sz="1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Frame"/>
          <p:cNvSpPr/>
          <p:nvPr/>
        </p:nvSpPr>
        <p:spPr>
          <a:xfrm>
            <a:off x="655200" y="603504"/>
            <a:ext cx="2798064" cy="804672"/>
          </a:xfrm>
          <a:prstGeom prst="roundRect">
            <a:avLst>
              <a:gd name="adj" fmla="val 8000"/>
            </a:avLst>
          </a:prstGeom>
          <a:noFill/>
          <a:ln w="28575" cap="flat">
            <a:solidFill>
              <a:srgbClr val="44546A"/>
            </a:solidFill>
            <a:round/>
          </a:ln>
        </p:spPr>
        <p:txBody>
          <a:bodyPr rtlCol="0" anchor="ctr"/>
          <a:lstStyle/>
          <a:p>
            <a:endParaRPr lang="ja-JP"/>
          </a:p>
        </p:txBody>
      </p:sp>
      <p:sp>
        <p:nvSpPr>
          <p:cNvPr id="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1. </a:t>
            </a:r>
            <a:r>
              <a:rPr lang="ja-JP" sz="4400" b="1" u="none" strike="noStrike">
                <a:ln w="19050">
                  <a:solidFill>
                    <a:srgbClr val="000000"/>
                  </a:solidFill>
                </a:ln>
                <a:solidFill>
                  <a:schemeClr val="accent4">
                    <a:lumMod val="75000"/>
                  </a:schemeClr>
                </a:solidFill>
                <a:effectLst/>
                <a:uFillTx/>
                <a:latin typeface="Meiryo"/>
                <a:ea typeface="Meiryo"/>
              </a:rPr>
              <a:t>基礎</a:t>
            </a:r>
            <a:endParaRPr lang="en-US" sz="4600" b="1" u="none" strike="noStrike">
              <a:ln w="19050">
                <a:solidFill>
                  <a:srgbClr val="000000"/>
                </a:solidFill>
              </a:ln>
              <a:solidFill>
                <a:schemeClr val="accent4">
                  <a:lumMod val="75000"/>
                </a:schemeClr>
              </a:solidFill>
              <a:effectLst/>
              <a:uFillTx/>
              <a:latin typeface="Calibri"/>
            </a:endParaRPr>
          </a:p>
        </p:txBody>
      </p:sp>
      <p:sp>
        <p:nvSpPr>
          <p:cNvPr id="8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基礎</a:t>
            </a:r>
            <a:endParaRPr lang="en-US" sz="1050" b="0" u="none" strike="noStrike">
              <a:solidFill>
                <a:srgbClr val="FFFFFF"/>
              </a:solidFill>
              <a:effectLst/>
              <a:uFillTx/>
              <a:latin typeface="Arial"/>
            </a:endParaRPr>
          </a:p>
        </p:txBody>
      </p:sp>
      <p:sp>
        <p:nvSpPr>
          <p:cNvPr id="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9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95"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600" b="1" u="none" strike="noStrike">
                <a:solidFill>
                  <a:srgbClr val="BF9000"/>
                </a:solidFill>
                <a:effectLst/>
                <a:uFillTx/>
                <a:latin typeface="Meiryo"/>
                <a:ea typeface="Meiryo"/>
              </a:rPr>
              <a:t>1. </a:t>
            </a:r>
            <a:r>
              <a:rPr lang="ja-JP" sz="2600" b="1" u="none" strike="noStrike">
                <a:solidFill>
                  <a:srgbClr val="262626"/>
                </a:solidFill>
                <a:effectLst/>
                <a:uFillTx/>
                <a:latin typeface="Meiryo"/>
                <a:ea typeface="Meiryo"/>
              </a:rPr>
              <a:t>基礎：</a:t>
            </a:r>
            <a:r>
              <a:rPr lang="en-US" sz="2600" b="1" u="none" strike="noStrike">
                <a:solidFill>
                  <a:srgbClr val="262626"/>
                </a:solidFill>
                <a:effectLst/>
                <a:uFillTx/>
                <a:latin typeface="Meiryo"/>
                <a:ea typeface="Meiryo"/>
              </a:rPr>
              <a:t>PPG</a:t>
            </a:r>
            <a:r>
              <a:rPr lang="ja-JP" sz="2600" b="1" u="none" strike="noStrike">
                <a:solidFill>
                  <a:srgbClr val="262626"/>
                </a:solidFill>
                <a:effectLst/>
                <a:uFillTx/>
                <a:latin typeface="Meiryo"/>
                <a:ea typeface="Meiryo"/>
              </a:rPr>
              <a:t>の成り立ちと反射波の土台</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1.1</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PPG</a:t>
            </a:r>
            <a:r>
              <a:rPr lang="ja-JP" sz="2200" b="1" u="none" strike="noStrike">
                <a:solidFill>
                  <a:srgbClr val="262626"/>
                </a:solidFill>
                <a:effectLst/>
                <a:uFillTx/>
                <a:latin typeface="Meiryo"/>
                <a:ea typeface="Meiryo"/>
              </a:rPr>
              <a:t>＝容積信号</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1.2</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前進波＋反射波</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9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3/47</a:t>
            </a:r>
            <a:endParaRPr lang="en-US" sz="1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Frame"/>
          <p:cNvSpPr/>
          <p:nvPr/>
        </p:nvSpPr>
        <p:spPr>
          <a:xfrm>
            <a:off x="655200" y="603504"/>
            <a:ext cx="6345936" cy="804672"/>
          </a:xfrm>
          <a:prstGeom prst="roundRect">
            <a:avLst>
              <a:gd name="adj" fmla="val 8000"/>
            </a:avLst>
          </a:prstGeom>
          <a:noFill/>
          <a:ln w="28575" cap="flat">
            <a:solidFill>
              <a:srgbClr val="44546A"/>
            </a:solidFill>
            <a:round/>
          </a:ln>
        </p:spPr>
        <p:txBody>
          <a:bodyPr rtlCol="0" anchor="ctr"/>
          <a:lstStyle/>
          <a:p>
            <a:endParaRPr lang="ja-JP"/>
          </a:p>
        </p:txBody>
      </p:sp>
      <p:sp>
        <p:nvSpPr>
          <p:cNvPr id="9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1.1  PPG</a:t>
            </a:r>
            <a:r>
              <a:rPr lang="ja-JP" sz="4400" b="1" u="none" strike="noStrike">
                <a:ln w="19050">
                  <a:solidFill>
                    <a:srgbClr val="000000"/>
                  </a:solidFill>
                </a:ln>
                <a:solidFill>
                  <a:schemeClr val="accent4">
                    <a:lumMod val="75000"/>
                  </a:schemeClr>
                </a:solidFill>
                <a:effectLst/>
                <a:uFillTx/>
                <a:latin typeface="Meiryo"/>
                <a:ea typeface="Meiryo"/>
              </a:rPr>
              <a:t>＝容積信号</a:t>
            </a:r>
            <a:endParaRPr lang="en-US" sz="4600" b="1" u="none" strike="noStrike">
              <a:ln w="19050">
                <a:solidFill>
                  <a:srgbClr val="000000"/>
                </a:solidFill>
              </a:ln>
              <a:solidFill>
                <a:schemeClr val="accent4">
                  <a:lumMod val="75000"/>
                </a:schemeClr>
              </a:solidFill>
              <a:effectLst/>
              <a:uFillTx/>
              <a:latin typeface="Calibri"/>
            </a:endParaRPr>
          </a:p>
        </p:txBody>
      </p:sp>
      <p:sp>
        <p:nvSpPr>
          <p:cNvPr id="9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基礎</a:t>
            </a:r>
            <a:endParaRPr lang="en-US" sz="1050" b="0" u="none" strike="noStrike">
              <a:solidFill>
                <a:srgbClr val="FFFFFF"/>
              </a:solidFill>
              <a:effectLst/>
              <a:uFillTx/>
              <a:latin typeface="Arial"/>
            </a:endParaRPr>
          </a:p>
        </p:txBody>
      </p:sp>
      <p:sp>
        <p:nvSpPr>
          <p:cNvPr id="9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10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0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0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0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0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0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1. Allen 2007</a:t>
            </a:r>
            <a:endParaRPr lang="en-US" sz="1050" b="0" u="none" strike="noStrike">
              <a:solidFill>
                <a:srgbClr val="000000"/>
              </a:solidFill>
              <a:effectLst/>
              <a:uFillTx/>
              <a:latin typeface="Arial"/>
            </a:endParaRPr>
          </a:p>
        </p:txBody>
      </p:sp>
      <p:pic>
        <p:nvPicPr>
          <p:cNvPr id="106" name="Picture 8" descr="02_acdc.png"/>
          <p:cNvPicPr/>
          <p:nvPr/>
        </p:nvPicPr>
        <p:blipFill>
          <a:blip r:embed="rId3"/>
          <a:stretch/>
        </p:blipFill>
        <p:spPr>
          <a:xfrm>
            <a:off x="2324160" y="1800000"/>
            <a:ext cx="7519320" cy="4319640"/>
          </a:xfrm>
          <a:prstGeom prst="rect">
            <a:avLst/>
          </a:prstGeom>
          <a:noFill/>
          <a:ln w="0">
            <a:noFill/>
          </a:ln>
        </p:spPr>
      </p:pic>
      <p:sp>
        <p:nvSpPr>
          <p:cNvPr id="10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4/47</a:t>
            </a:r>
            <a:endParaRPr lang="en-US" sz="1200" b="0" u="none" strike="noStrike">
              <a:solidFill>
                <a:srgbClr val="000000"/>
              </a:solidFill>
              <a:effectLst/>
              <a:uFillTx/>
              <a:latin typeface="Arial"/>
            </a:endParaRPr>
          </a:p>
        </p:txBody>
      </p:sp>
      <p:sp>
        <p:nvSpPr>
          <p:cNvPr id="108" name="pibox"/>
          <p:cNvSpPr/>
          <p:nvPr/>
        </p:nvSpPr>
        <p:spPr>
          <a:xfrm>
            <a:off x="6234480" y="2037600"/>
            <a:ext cx="3157920" cy="496440"/>
          </a:xfrm>
          <a:prstGeom prst="roundRect">
            <a:avLst>
              <a:gd name="adj" fmla="val 25000"/>
            </a:avLst>
          </a:prstGeom>
          <a:solidFill>
            <a:srgbClr val="F2E2B3"/>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Meiryo"/>
                <a:ea typeface="Meiryo"/>
              </a:rPr>
              <a:t>PI = AC / DC</a:t>
            </a:r>
            <a:endParaRPr lang="en-US" sz="1800" b="0" u="none" strike="noStrike">
              <a:solidFill>
                <a:srgbClr val="000000"/>
              </a:solidFill>
              <a:effectLst/>
              <a:uFillTx/>
              <a:latin typeface="Arial"/>
            </a:endParaRPr>
          </a:p>
        </p:txBody>
      </p:sp>
      <p:sp>
        <p:nvSpPr>
          <p:cNvPr id="109" name="pisub"/>
          <p:cNvSpPr/>
          <p:nvPr/>
        </p:nvSpPr>
        <p:spPr>
          <a:xfrm>
            <a:off x="6084000" y="2599200"/>
            <a:ext cx="3458520" cy="25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250" b="0" u="none" strike="noStrike">
                <a:solidFill>
                  <a:srgbClr val="8C8C8C"/>
                </a:solidFill>
                <a:effectLst/>
                <a:uFillTx/>
                <a:latin typeface="Meiryo"/>
                <a:ea typeface="Meiryo"/>
              </a:rPr>
              <a:t>灌流指数＝末梢灌流・血管トーヌス</a:t>
            </a:r>
            <a:endParaRPr lang="en-US" sz="1250" b="0" u="none" strike="noStrike">
              <a:solidFill>
                <a:srgbClr val="000000"/>
              </a:solidFill>
              <a:effectLst/>
              <a:uFillTx/>
              <a:latin typeface="Arial"/>
            </a:endParaRPr>
          </a:p>
        </p:txBody>
      </p:sp>
      <p:sp>
        <p:nvSpPr>
          <p:cNvPr id="110" name="ac"/>
          <p:cNvSpPr/>
          <p:nvPr/>
        </p:nvSpPr>
        <p:spPr>
          <a:xfrm>
            <a:off x="4762800" y="3825000"/>
            <a:ext cx="2354400" cy="51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en-US" sz="2200" b="1" u="none" strike="noStrike">
                <a:solidFill>
                  <a:srgbClr val="BF9000"/>
                </a:solidFill>
                <a:effectLst/>
                <a:uFillTx/>
                <a:latin typeface="Meiryo"/>
                <a:ea typeface="Meiryo"/>
              </a:rPr>
              <a:t>AC</a:t>
            </a:r>
            <a:r>
              <a:rPr lang="ja-JP" sz="2200" b="1" u="none" strike="noStrike">
                <a:solidFill>
                  <a:srgbClr val="BF9000"/>
                </a:solidFill>
                <a:effectLst/>
                <a:uFillTx/>
                <a:latin typeface="Meiryo"/>
                <a:ea typeface="Meiryo"/>
              </a:rPr>
              <a:t>拍動成分</a:t>
            </a:r>
            <a:endParaRPr lang="en-US" sz="2000" b="0" u="none" strike="noStrike">
              <a:solidFill>
                <a:srgbClr val="000000"/>
              </a:solidFill>
              <a:effectLst/>
              <a:uFillTx/>
              <a:latin typeface="Arial"/>
            </a:endParaRPr>
          </a:p>
        </p:txBody>
      </p:sp>
      <p:sp>
        <p:nvSpPr>
          <p:cNvPr id="111" name="dcbox"/>
          <p:cNvSpPr/>
          <p:nvPr/>
        </p:nvSpPr>
        <p:spPr>
          <a:xfrm>
            <a:off x="3076200" y="4586400"/>
            <a:ext cx="6643488" cy="1187640"/>
          </a:xfrm>
          <a:prstGeom prst="rect">
            <a:avLst/>
          </a:prstGeom>
          <a:solidFill>
            <a:srgbClr val="BDD7EE"/>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E75B6"/>
                </a:solidFill>
                <a:effectLst/>
                <a:uFillTx/>
                <a:latin typeface="Meiryo"/>
                <a:ea typeface="Meiryo"/>
              </a:rPr>
              <a:t>DC </a:t>
            </a:r>
            <a:endParaRPr lang="en-US" sz="2000" b="0" u="none" strike="noStrike">
              <a:solidFill>
                <a:srgbClr val="000000"/>
              </a:solidFill>
              <a:effectLst/>
              <a:uFillTx/>
              <a:latin typeface="Arial"/>
            </a:endParaRPr>
          </a:p>
          <a:p>
            <a:pPr algn="ctr" defTabSz="914400">
              <a:lnSpc>
                <a:spcPct val="100000"/>
              </a:lnSpc>
            </a:pPr>
            <a:endParaRPr lang="en-US" sz="2000" b="0" u="none" strike="noStrike">
              <a:solidFill>
                <a:srgbClr val="000000"/>
              </a:solidFill>
              <a:effectLst/>
              <a:uFillTx/>
              <a:latin typeface="Arial"/>
            </a:endParaRPr>
            <a:r>
              <a:rPr lang="ja-JP" sz="2200" b="1" u="none" strike="noStrike">
                <a:solidFill>
                  <a:srgbClr val="2E75B6"/>
                </a:solidFill>
                <a:effectLst/>
                <a:uFillTx/>
                <a:latin typeface="Meiryo"/>
                <a:ea typeface="Meiryo"/>
              </a:rPr>
              <a:t>非拍動成分（組織・静脈血・非拍動性動脈血）</a:t>
            </a:r>
          </a:p>
        </p:txBody>
      </p:sp>
      <p:sp>
        <p:nvSpPr>
          <p:cNvPr id="112" name="TextBox 47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PI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perfusion index</a:t>
            </a:r>
            <a:r>
              <a:rPr lang="ja-JP" sz="1050" b="0" u="none" strike="noStrike">
                <a:solidFill>
                  <a:srgbClr val="808080"/>
                </a:solidFill>
                <a:effectLst/>
                <a:uFillTx/>
                <a:latin typeface="Meiryo"/>
                <a:ea typeface="Meiryo"/>
              </a:rPr>
              <a:t>（灌流指数）　／　</a:t>
            </a:r>
            <a:r>
              <a:rPr lang="en-US" sz="1050" b="0" u="none" strike="noStrike">
                <a:solidFill>
                  <a:srgbClr val="808080"/>
                </a:solidFill>
                <a:effectLst/>
                <a:uFillTx/>
                <a:latin typeface="Meiryo"/>
                <a:ea typeface="Meiryo"/>
              </a:rPr>
              <a:t>AC</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DC</a:t>
            </a:r>
            <a:r>
              <a:rPr lang="ja-JP" sz="1050" b="0" u="none" strike="noStrike">
                <a:solidFill>
                  <a:srgbClr val="808080"/>
                </a:solidFill>
                <a:effectLst/>
                <a:uFillTx/>
                <a:latin typeface="Meiryo"/>
                <a:ea typeface="Meiryo"/>
              </a:rPr>
              <a:t>：拍動成分・非拍動成分</a:t>
            </a:r>
            <a:endParaRPr lang="en-US" sz="10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itleFrame"/>
          <p:cNvSpPr/>
          <p:nvPr/>
        </p:nvSpPr>
        <p:spPr>
          <a:xfrm>
            <a:off x="655200" y="603504"/>
            <a:ext cx="6510528" cy="804672"/>
          </a:xfrm>
          <a:prstGeom prst="roundRect">
            <a:avLst>
              <a:gd name="adj" fmla="val 8000"/>
            </a:avLst>
          </a:prstGeom>
          <a:noFill/>
          <a:ln w="28575" cap="flat">
            <a:solidFill>
              <a:srgbClr val="44546A"/>
            </a:solidFill>
            <a:round/>
          </a:ln>
        </p:spPr>
        <p:txBody>
          <a:bodyPr rtlCol="0" anchor="ctr"/>
          <a:lstStyle/>
          <a:p>
            <a:endParaRPr lang="ja-JP"/>
          </a:p>
        </p:txBody>
      </p:sp>
      <p:sp>
        <p:nvSpPr>
          <p:cNvPr id="1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1.2  </a:t>
            </a:r>
            <a:r>
              <a:rPr lang="ja-JP" sz="4400" b="1" u="none" strike="noStrike">
                <a:ln w="19050">
                  <a:solidFill>
                    <a:srgbClr val="000000"/>
                  </a:solidFill>
                </a:ln>
                <a:solidFill>
                  <a:schemeClr val="accent4">
                    <a:lumMod val="75000"/>
                  </a:schemeClr>
                </a:solidFill>
                <a:effectLst/>
                <a:uFillTx/>
                <a:latin typeface="Meiryo"/>
                <a:ea typeface="Meiryo"/>
              </a:rPr>
              <a:t>前進波＋反射波</a:t>
            </a:r>
            <a:endParaRPr lang="en-US" sz="4600" b="1" u="none" strike="noStrike">
              <a:ln w="19050">
                <a:solidFill>
                  <a:srgbClr val="000000"/>
                </a:solidFill>
              </a:ln>
              <a:solidFill>
                <a:schemeClr val="accent4">
                  <a:lumMod val="75000"/>
                </a:schemeClr>
              </a:solidFill>
              <a:effectLst/>
              <a:uFillTx/>
              <a:latin typeface="Calibri"/>
            </a:endParaRPr>
          </a:p>
        </p:txBody>
      </p:sp>
      <p:sp>
        <p:nvSpPr>
          <p:cNvPr id="114"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基礎</a:t>
            </a:r>
            <a:endParaRPr lang="en-US" sz="1050" b="0" u="none" strike="noStrike">
              <a:solidFill>
                <a:srgbClr val="FFFFFF"/>
              </a:solidFill>
              <a:effectLst/>
              <a:uFillTx/>
              <a:latin typeface="Arial"/>
            </a:endParaRPr>
          </a:p>
        </p:txBody>
      </p:sp>
      <p:sp>
        <p:nvSpPr>
          <p:cNvPr id="11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11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1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1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1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2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2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2. Politi 2016</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3. Stergiopulos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4. Millasseau 2002</a:t>
            </a:r>
            <a:endParaRPr lang="en-US" sz="1050" b="0" u="none" strike="noStrike">
              <a:solidFill>
                <a:srgbClr val="000000"/>
              </a:solidFill>
              <a:effectLst/>
              <a:uFillTx/>
              <a:latin typeface="Arial"/>
            </a:endParaRPr>
          </a:p>
        </p:txBody>
      </p:sp>
      <p:pic>
        <p:nvPicPr>
          <p:cNvPr id="122" name="Picture 8" descr="04_fwd_refl.png"/>
          <p:cNvPicPr/>
          <p:nvPr/>
        </p:nvPicPr>
        <p:blipFill>
          <a:blip r:embed="rId6"/>
          <a:srcRect b="14504"/>
          <a:stretch/>
        </p:blipFill>
        <p:spPr>
          <a:xfrm>
            <a:off x="1690200" y="1700280"/>
            <a:ext cx="8739360" cy="4214880"/>
          </a:xfrm>
          <a:prstGeom prst="rect">
            <a:avLst/>
          </a:prstGeom>
          <a:noFill/>
          <a:ln w="0">
            <a:noFill/>
          </a:ln>
        </p:spPr>
      </p:pic>
      <p:sp>
        <p:nvSpPr>
          <p:cNvPr id="12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5/47</a:t>
            </a:r>
            <a:endParaRPr lang="en-US" sz="1200" b="0" u="none" strike="noStrike">
              <a:solidFill>
                <a:srgbClr val="000000"/>
              </a:solidFill>
              <a:effectLst/>
              <a:uFillTx/>
              <a:latin typeface="Arial"/>
            </a:endParaRPr>
          </a:p>
        </p:txBody>
      </p:sp>
      <p:sp>
        <p:nvSpPr>
          <p:cNvPr id="124" name="notch"/>
          <p:cNvSpPr/>
          <p:nvPr/>
        </p:nvSpPr>
        <p:spPr>
          <a:xfrm>
            <a:off x="6972480" y="2420640"/>
            <a:ext cx="2297160" cy="56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algn="ctr" defTabSz="914400">
              <a:lnSpc>
                <a:spcPct val="100000"/>
              </a:lnSpc>
            </a:pPr>
            <a:r>
              <a:rPr lang="ja-JP" sz="2400" b="1" u="none" strike="noStrike">
                <a:solidFill>
                  <a:srgbClr val="C00000"/>
                </a:solidFill>
                <a:effectLst/>
                <a:uFillTx/>
                <a:latin typeface="Meiryo"/>
                <a:ea typeface="Meiryo"/>
              </a:rPr>
              <a:t>重複切痕</a:t>
            </a:r>
            <a:br>
              <a:rPr sz="2400"/>
            </a:br>
            <a:r>
              <a:rPr lang="en-US" sz="2400" b="1" u="none" strike="noStrike">
                <a:solidFill>
                  <a:srgbClr val="C00000"/>
                </a:solidFill>
                <a:effectLst/>
                <a:uFillTx/>
                <a:latin typeface="Meiryo"/>
                <a:ea typeface="Meiryo"/>
              </a:rPr>
              <a:t>(dicrotic notch)</a:t>
            </a:r>
            <a:endParaRPr lang="en-US" sz="2400" b="0" u="none" strike="noStrike">
              <a:solidFill>
                <a:srgbClr val="000000"/>
              </a:solidFill>
              <a:effectLst/>
              <a:uFillTx/>
              <a:latin typeface="Arial"/>
            </a:endParaRPr>
          </a:p>
        </p:txBody>
      </p:sp>
      <p:sp>
        <p:nvSpPr>
          <p:cNvPr id="125" name="fwd"/>
          <p:cNvSpPr/>
          <p:nvPr/>
        </p:nvSpPr>
        <p:spPr>
          <a:xfrm>
            <a:off x="3465000" y="5455440"/>
            <a:ext cx="2843973"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2E75B6"/>
                </a:solidFill>
                <a:effectLst/>
                <a:uFillTx/>
                <a:latin typeface="Meiryo"/>
                <a:ea typeface="Meiryo"/>
              </a:rPr>
              <a:t>前進波</a:t>
            </a:r>
            <a:br>
              <a:rPr sz="2400"/>
            </a:br>
            <a:r>
              <a:rPr lang="en-US" sz="2400" b="1" u="none" strike="noStrike">
                <a:solidFill>
                  <a:srgbClr val="2E75B6"/>
                </a:solidFill>
                <a:effectLst/>
                <a:uFillTx/>
                <a:latin typeface="Meiryo"/>
                <a:ea typeface="Meiryo"/>
              </a:rPr>
              <a:t>(</a:t>
            </a:r>
            <a:r>
              <a:rPr lang="ja-JP" sz="2400" b="1" u="none" strike="noStrike">
                <a:solidFill>
                  <a:srgbClr val="2E75B6"/>
                </a:solidFill>
                <a:effectLst/>
                <a:uFillTx/>
                <a:latin typeface="Meiryo"/>
                <a:ea typeface="Meiryo"/>
              </a:rPr>
              <a:t>左室駆出</a:t>
            </a:r>
            <a:r>
              <a:rPr lang="en-US" sz="2400" b="1" u="none" strike="noStrike">
                <a:solidFill>
                  <a:srgbClr val="2E75B6"/>
                </a:solidFill>
                <a:effectLst/>
                <a:uFillTx/>
                <a:latin typeface="Meiryo"/>
                <a:ea typeface="Meiryo"/>
              </a:rPr>
              <a:t>)</a:t>
            </a:r>
            <a:endParaRPr lang="en-US" sz="2400" b="0" u="none" strike="noStrike">
              <a:solidFill>
                <a:srgbClr val="000000"/>
              </a:solidFill>
              <a:effectLst/>
              <a:uFillTx/>
              <a:latin typeface="Arial"/>
            </a:endParaRPr>
          </a:p>
        </p:txBody>
      </p:sp>
      <p:sp>
        <p:nvSpPr>
          <p:cNvPr id="126" name="ref"/>
          <p:cNvSpPr/>
          <p:nvPr/>
        </p:nvSpPr>
        <p:spPr>
          <a:xfrm>
            <a:off x="5609160" y="5455440"/>
            <a:ext cx="3868101"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E8853B"/>
                </a:solidFill>
                <a:effectLst/>
                <a:uFillTx/>
                <a:latin typeface="Meiryo"/>
                <a:ea typeface="Meiryo"/>
              </a:rPr>
              <a:t>反射波</a:t>
            </a:r>
            <a:br>
              <a:rPr sz="2400"/>
            </a:br>
            <a:r>
              <a:rPr lang="en-US" sz="2400" b="1" u="none" strike="noStrike">
                <a:solidFill>
                  <a:srgbClr val="E8853B"/>
                </a:solidFill>
                <a:effectLst/>
                <a:uFillTx/>
                <a:latin typeface="Meiryo"/>
                <a:ea typeface="Meiryo"/>
              </a:rPr>
              <a:t>(</a:t>
            </a:r>
            <a:r>
              <a:rPr lang="ja-JP" sz="2400" b="1" u="none" strike="noStrike">
                <a:solidFill>
                  <a:srgbClr val="E8853B"/>
                </a:solidFill>
                <a:effectLst/>
                <a:uFillTx/>
                <a:latin typeface="Meiryo"/>
                <a:ea typeface="Meiryo"/>
              </a:rPr>
              <a:t>末梢からの帰還</a:t>
            </a:r>
            <a:r>
              <a:rPr lang="en-US" sz="2400" b="1" u="none" strike="noStrike">
                <a:solidFill>
                  <a:srgbClr val="E8853B"/>
                </a:solidFill>
                <a:effectLst/>
                <a:uFillTx/>
                <a:latin typeface="Meiryo"/>
                <a:ea typeface="Meiryo"/>
              </a:rPr>
              <a:t>)</a:t>
            </a:r>
            <a:endParaRPr lang="en-US" sz="2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2. </a:t>
            </a:r>
            <a:r>
              <a:rPr lang="ja-JP" sz="4400" b="1" u="none" strike="noStrike">
                <a:ln w="19050">
                  <a:solidFill>
                    <a:srgbClr val="000000"/>
                  </a:solidFill>
                </a:ln>
                <a:solidFill>
                  <a:schemeClr val="accent4">
                    <a:lumMod val="75000"/>
                  </a:schemeClr>
                </a:solidFill>
                <a:effectLst/>
                <a:uFillTx/>
                <a:latin typeface="Calibri"/>
              </a:rPr>
              <a:t>波形への影響：加齢</a:t>
            </a:r>
            <a:endParaRPr lang="en-US" sz="4600" b="1" u="none" strike="noStrike">
              <a:ln w="19050">
                <a:solidFill>
                  <a:srgbClr val="000000"/>
                </a:solidFill>
              </a:ln>
              <a:solidFill>
                <a:schemeClr val="accent4">
                  <a:lumMod val="75000"/>
                </a:schemeClr>
              </a:solidFill>
              <a:effectLst/>
              <a:uFillTx/>
              <a:latin typeface="Calibri"/>
            </a:endParaRPr>
          </a:p>
        </p:txBody>
      </p:sp>
      <p:sp>
        <p:nvSpPr>
          <p:cNvPr id="12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2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3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3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3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3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3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35" name="Agenda"/>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2. </a:t>
            </a:r>
            <a:r>
              <a:rPr lang="ja-JP" sz="2600" b="1" u="none" strike="noStrike">
                <a:solidFill>
                  <a:srgbClr val="262626"/>
                </a:solidFill>
                <a:effectLst/>
                <a:uFillTx/>
                <a:latin typeface="Meiryo"/>
                <a:ea typeface="Meiryo"/>
              </a:rPr>
              <a:t>波形への影響：加齢</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2.1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フラミンガム研究</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2.2</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UK Biobank</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136"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6/47</a:t>
            </a:r>
            <a:endParaRPr lang="en-US"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3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2.1  </a:t>
            </a:r>
            <a:r>
              <a:rPr lang="ja-JP" sz="4400" b="1" u="none" strike="noStrike">
                <a:ln w="19050">
                  <a:solidFill>
                    <a:srgbClr val="000000"/>
                  </a:solidFill>
                </a:ln>
                <a:solidFill>
                  <a:schemeClr val="accent4">
                    <a:lumMod val="75000"/>
                  </a:schemeClr>
                </a:solidFill>
                <a:effectLst/>
                <a:uFillTx/>
                <a:latin typeface="Meiryo"/>
                <a:ea typeface="Meiryo"/>
              </a:rPr>
              <a:t>フラミンガム研究</a:t>
            </a:r>
            <a:endParaRPr lang="en-US" sz="4600" b="1" u="none" strike="noStrike">
              <a:ln w="19050">
                <a:solidFill>
                  <a:srgbClr val="000000"/>
                </a:solidFill>
              </a:ln>
              <a:solidFill>
                <a:schemeClr val="accent4">
                  <a:lumMod val="75000"/>
                </a:schemeClr>
              </a:solidFill>
              <a:effectLst/>
              <a:uFillTx/>
              <a:latin typeface="Calibri"/>
            </a:endParaRPr>
          </a:p>
        </p:txBody>
      </p:sp>
      <p:sp>
        <p:nvSpPr>
          <p:cNvPr id="13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3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4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4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4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4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4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4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5. Dawber 1973</a:t>
            </a:r>
            <a:endParaRPr lang="en-US" sz="1050" b="0" u="none" strike="noStrike">
              <a:solidFill>
                <a:srgbClr val="000000"/>
              </a:solidFill>
              <a:effectLst/>
              <a:uFillTx/>
              <a:latin typeface="Arial"/>
            </a:endParaRPr>
          </a:p>
        </p:txBody>
      </p:sp>
      <p:pic>
        <p:nvPicPr>
          <p:cNvPr id="146" name="Picture 8" descr="22_dawber.png"/>
          <p:cNvPicPr/>
          <p:nvPr/>
        </p:nvPicPr>
        <p:blipFill>
          <a:blip r:embed="rId4"/>
          <a:stretch/>
        </p:blipFill>
        <p:spPr>
          <a:xfrm>
            <a:off x="929880" y="1800000"/>
            <a:ext cx="10307520" cy="4319640"/>
          </a:xfrm>
          <a:prstGeom prst="rect">
            <a:avLst/>
          </a:prstGeom>
          <a:noFill/>
          <a:ln w="0">
            <a:noFill/>
          </a:ln>
        </p:spPr>
      </p:pic>
      <p:sp>
        <p:nvSpPr>
          <p:cNvPr id="14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7/47</a:t>
            </a:r>
            <a:endParaRPr lang="en-US" sz="1200" b="0" u="none" strike="noStrike">
              <a:solidFill>
                <a:srgbClr val="000000"/>
              </a:solidFill>
              <a:effectLst/>
              <a:uFillTx/>
              <a:latin typeface="Arial"/>
            </a:endParaRPr>
          </a:p>
        </p:txBody>
      </p:sp>
      <p:sp>
        <p:nvSpPr>
          <p:cNvPr id="148" name="c1"/>
          <p:cNvSpPr/>
          <p:nvPr/>
        </p:nvSpPr>
        <p:spPr>
          <a:xfrm>
            <a:off x="755640" y="188640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Meiryo"/>
                <a:ea typeface="Meiryo"/>
              </a:rPr>
              <a:t>Class 1</a:t>
            </a:r>
            <a:br>
              <a:rPr sz="2200"/>
            </a:br>
            <a:r>
              <a:rPr lang="ja-JP" sz="2200" b="1" u="none" strike="noStrike">
                <a:solidFill>
                  <a:srgbClr val="70AD47"/>
                </a:solidFill>
                <a:effectLst/>
                <a:uFillTx/>
                <a:latin typeface="Meiryo"/>
                <a:ea typeface="Meiryo"/>
              </a:rPr>
              <a:t>明瞭な切痕</a:t>
            </a:r>
            <a:endParaRPr lang="en-US" sz="2200" b="0" u="none" strike="noStrike">
              <a:solidFill>
                <a:srgbClr val="000000"/>
              </a:solidFill>
              <a:effectLst/>
              <a:uFillTx/>
              <a:latin typeface="Arial"/>
            </a:endParaRPr>
          </a:p>
        </p:txBody>
      </p:sp>
      <p:sp>
        <p:nvSpPr>
          <p:cNvPr id="149" name="c2"/>
          <p:cNvSpPr/>
          <p:nvPr/>
        </p:nvSpPr>
        <p:spPr>
          <a:xfrm>
            <a:off x="338112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Meiryo"/>
                <a:ea typeface="Meiryo"/>
              </a:rPr>
              <a:t>Class 2</a:t>
            </a:r>
            <a:br>
              <a:rPr sz="2200"/>
            </a:br>
            <a:r>
              <a:rPr lang="ja-JP" sz="2200" b="1" u="none" strike="noStrike">
                <a:solidFill>
                  <a:srgbClr val="00A8AA"/>
                </a:solidFill>
                <a:effectLst/>
                <a:uFillTx/>
                <a:latin typeface="Meiryo"/>
                <a:ea typeface="Meiryo"/>
              </a:rPr>
              <a:t>切痕は消え水平化</a:t>
            </a:r>
            <a:endParaRPr lang="en-US" sz="2200" b="0" u="none" strike="noStrike">
              <a:solidFill>
                <a:srgbClr val="000000"/>
              </a:solidFill>
              <a:effectLst/>
              <a:uFillTx/>
              <a:latin typeface="Arial"/>
            </a:endParaRPr>
          </a:p>
        </p:txBody>
      </p:sp>
      <p:sp>
        <p:nvSpPr>
          <p:cNvPr id="150" name="c3"/>
          <p:cNvSpPr/>
          <p:nvPr/>
        </p:nvSpPr>
        <p:spPr>
          <a:xfrm>
            <a:off x="601308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Meiryo"/>
                <a:ea typeface="Meiryo"/>
              </a:rPr>
              <a:t>Class 3</a:t>
            </a:r>
            <a:br>
              <a:rPr sz="2200"/>
            </a:br>
            <a:r>
              <a:rPr lang="ja-JP" sz="2200" b="1" u="none" strike="noStrike">
                <a:solidFill>
                  <a:srgbClr val="BF9000"/>
                </a:solidFill>
                <a:effectLst/>
                <a:uFillTx/>
                <a:latin typeface="Meiryo"/>
                <a:ea typeface="Meiryo"/>
              </a:rPr>
              <a:t>下降角の変化のみ</a:t>
            </a:r>
            <a:endParaRPr lang="en-US" sz="2200" b="0" u="none" strike="noStrike">
              <a:solidFill>
                <a:srgbClr val="000000"/>
              </a:solidFill>
              <a:effectLst/>
              <a:uFillTx/>
              <a:latin typeface="Arial"/>
            </a:endParaRPr>
          </a:p>
        </p:txBody>
      </p:sp>
      <p:sp>
        <p:nvSpPr>
          <p:cNvPr id="151" name="c4"/>
          <p:cNvSpPr/>
          <p:nvPr/>
        </p:nvSpPr>
        <p:spPr>
          <a:xfrm>
            <a:off x="8579520" y="1886400"/>
            <a:ext cx="2473560" cy="8837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Meiryo"/>
                <a:ea typeface="Meiryo"/>
              </a:rPr>
              <a:t>Class </a:t>
            </a:r>
            <a:br>
              <a:rPr sz="2200"/>
            </a:br>
            <a:endParaRPr lang="en-US" sz="2200" b="0" u="none" strike="noStrike">
              <a:solidFill>
                <a:srgbClr val="000000"/>
              </a:solidFill>
              <a:effectLst/>
              <a:uFillTx/>
              <a:latin typeface="Arial"/>
            </a:endParaRPr>
          </a:p>
          <a:p>
            <a:pPr algn="ctr" defTabSz="914400">
              <a:lnSpc>
                <a:spcPct val="100000"/>
              </a:lnSpc>
            </a:pPr>
            <a:br>
              <a:rPr sz="2200"/>
            </a:br>
            <a:endParaRPr lang="en-US" sz="2200" b="0" u="none" strike="noStrike">
              <a:solidFill>
                <a:srgbClr val="000000"/>
              </a:solidFill>
              <a:effectLst/>
              <a:uFillTx/>
              <a:latin typeface="Arial"/>
            </a:endParaRPr>
            <a:r>
              <a:rPr lang="en-US" sz="2200" b="1" u="none" strike="noStrike">
                <a:solidFill>
                  <a:srgbClr val="C00000"/>
                </a:solidFill>
                <a:effectLst/>
                <a:uFillTx/>
                <a:latin typeface="Meiryo"/>
                <a:ea typeface="Meiryo"/>
              </a:rPr>
              <a:t/>
            </a:r>
            <a:r>
              <a:rPr lang="ja-JP" sz="2200" b="1" u="none" strike="noStrike">
                <a:solidFill>
                  <a:srgbClr val="C00000"/>
                </a:solidFill>
                <a:effectLst/>
                <a:uFillTx/>
                <a:latin typeface="Meiryo"/>
                <a:ea typeface="Meiryo"/>
              </a:rPr>
              <a:t>切痕の痕跡なし</a:t>
            </a:r>
          </a:p>
        </p:txBody>
      </p:sp>
      <p:sp>
        <p:nvSpPr>
          <p:cNvPr id="152" name="cap"/>
          <p:cNvSpPr/>
          <p:nvPr/>
        </p:nvSpPr>
        <p:spPr>
          <a:xfrm>
            <a:off x="929880" y="5904000"/>
            <a:ext cx="1030752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Meiryo"/>
                <a:ea typeface="Meiryo"/>
              </a:rPr>
              <a:t>健常若年 </a:t>
            </a:r>
            <a:r>
              <a:rPr lang="en-US" sz="2200" b="1" u="none" strike="noStrike">
                <a:solidFill>
                  <a:srgbClr val="262626"/>
                </a:solidFill>
                <a:effectLst/>
                <a:uFillTx/>
                <a:latin typeface="Meiryo"/>
                <a:ea typeface="Meiryo"/>
              </a:rPr>
              <a:t>Class 1 → </a:t>
            </a:r>
            <a:r>
              <a:rPr lang="ja-JP" sz="2200" b="1" u="none" strike="noStrike">
                <a:solidFill>
                  <a:srgbClr val="262626"/>
                </a:solidFill>
                <a:effectLst/>
                <a:uFillTx/>
                <a:latin typeface="Meiryo"/>
                <a:ea typeface="Meiryo"/>
              </a:rPr>
              <a:t>加齢・スティフネス上昇で </a:t>
            </a:r>
            <a:r>
              <a:rPr lang="en-US" sz="2200" b="1" u="none" strike="noStrike">
                <a:solidFill>
                  <a:srgbClr val="262626"/>
                </a:solidFill>
                <a:effectLst/>
                <a:uFillTx/>
                <a:latin typeface="Meiryo"/>
                <a:ea typeface="Meiryo"/>
              </a:rPr>
              <a:t>Class 4 </a:t>
            </a:r>
            <a:r>
              <a:rPr lang="ja-JP" sz="2200" b="1" u="none" strike="noStrike">
                <a:solidFill>
                  <a:srgbClr val="262626"/>
                </a:solidFill>
                <a:effectLst/>
                <a:uFillTx/>
                <a:latin typeface="Meiryo"/>
                <a:ea typeface="Meiryo"/>
              </a:rPr>
              <a:t>へ移行</a:t>
            </a:r>
            <a:endParaRPr lang="en-US" sz="22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2.1  </a:t>
            </a:r>
            <a:r>
              <a:rPr lang="ja-JP" sz="4400" b="1" u="none" strike="noStrike">
                <a:ln w="19050">
                  <a:solidFill>
                    <a:srgbClr val="000000"/>
                  </a:solidFill>
                </a:ln>
                <a:solidFill>
                  <a:schemeClr val="accent4">
                    <a:lumMod val="75000"/>
                  </a:schemeClr>
                </a:solidFill>
                <a:effectLst/>
                <a:uFillTx/>
                <a:latin typeface="Meiryo"/>
                <a:ea typeface="Meiryo"/>
              </a:rPr>
              <a:t>フラミンガム研究</a:t>
            </a:r>
            <a:endParaRPr lang="en-US" sz="4600" b="1" u="none" strike="noStrike">
              <a:ln w="19050">
                <a:solidFill>
                  <a:srgbClr val="000000"/>
                </a:solidFill>
              </a:ln>
              <a:solidFill>
                <a:schemeClr val="accent4">
                  <a:lumMod val="75000"/>
                </a:schemeClr>
              </a:solidFill>
              <a:effectLst/>
              <a:uFillTx/>
              <a:latin typeface="Calibri"/>
            </a:endParaRPr>
          </a:p>
        </p:txBody>
      </p:sp>
      <p:sp>
        <p:nvSpPr>
          <p:cNvPr id="1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55"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5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5. Dawber 1973</a:t>
            </a:r>
            <a:endParaRPr lang="en-US" sz="1050" b="0" u="none" strike="noStrike">
              <a:solidFill>
                <a:srgbClr val="000000"/>
              </a:solidFill>
              <a:effectLst/>
              <a:uFillTx/>
              <a:latin typeface="Arial"/>
            </a:endParaRPr>
          </a:p>
        </p:txBody>
      </p:sp>
      <p:sp>
        <p:nvSpPr>
          <p:cNvPr id="1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8/47</a:t>
            </a:r>
            <a:endParaRPr lang="en-US" sz="1200" b="0" u="none" strike="noStrike">
              <a:solidFill>
                <a:srgbClr val="000000"/>
              </a:solidFill>
              <a:effectLst/>
              <a:uFillTx/>
              <a:latin typeface="Arial"/>
            </a:endParaRPr>
          </a:p>
        </p:txBody>
      </p:sp>
      <p:pic>
        <p:nvPicPr>
          <p:cNvPr id="163" name="図 10"/>
          <p:cNvPicPr/>
          <p:nvPr/>
        </p:nvPicPr>
        <p:blipFill>
          <a:blip r:embed="rId4"/>
          <a:stretch/>
        </p:blipFill>
        <p:spPr>
          <a:xfrm>
            <a:off x="2509200" y="1434960"/>
            <a:ext cx="3809520" cy="5422680"/>
          </a:xfrm>
          <a:prstGeom prst="rect">
            <a:avLst/>
          </a:prstGeom>
          <a:noFill/>
          <a:ln w="0">
            <a:noFill/>
          </a:ln>
        </p:spPr>
      </p:pic>
      <p:sp>
        <p:nvSpPr>
          <p:cNvPr id="164" name="c1"/>
          <p:cNvSpPr/>
          <p:nvPr/>
        </p:nvSpPr>
        <p:spPr>
          <a:xfrm>
            <a:off x="7287480" y="181656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Meiryo"/>
                <a:ea typeface="Meiryo"/>
              </a:rPr>
              <a:t>Class 1</a:t>
            </a:r>
            <a:br>
              <a:rPr sz="2200"/>
            </a:br>
            <a:r>
              <a:rPr lang="ja-JP" sz="2200" b="1" u="none" strike="noStrike">
                <a:solidFill>
                  <a:srgbClr val="70AD47"/>
                </a:solidFill>
                <a:effectLst/>
                <a:uFillTx/>
                <a:latin typeface="Meiryo"/>
                <a:ea typeface="Meiryo"/>
              </a:rPr>
              <a:t>明瞭な切痕</a:t>
            </a:r>
            <a:endParaRPr lang="en-US" sz="2200" b="0" u="none" strike="noStrike">
              <a:solidFill>
                <a:srgbClr val="000000"/>
              </a:solidFill>
              <a:effectLst/>
              <a:uFillTx/>
              <a:latin typeface="Arial"/>
            </a:endParaRPr>
          </a:p>
        </p:txBody>
      </p:sp>
      <p:sp>
        <p:nvSpPr>
          <p:cNvPr id="165" name="c2"/>
          <p:cNvSpPr/>
          <p:nvPr/>
        </p:nvSpPr>
        <p:spPr>
          <a:xfrm>
            <a:off x="7287480" y="311256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Meiryo"/>
                <a:ea typeface="Meiryo"/>
              </a:rPr>
              <a:t>Class 2</a:t>
            </a:r>
            <a:br>
              <a:rPr sz="2200"/>
            </a:br>
            <a:r>
              <a:rPr lang="ja-JP" sz="2200" b="1" u="none" strike="noStrike">
                <a:solidFill>
                  <a:srgbClr val="00A8AA"/>
                </a:solidFill>
                <a:effectLst/>
                <a:uFillTx/>
                <a:latin typeface="Meiryo"/>
                <a:ea typeface="Meiryo"/>
              </a:rPr>
              <a:t>切痕は消え水平化</a:t>
            </a:r>
            <a:endParaRPr lang="en-US" sz="2200" b="0" u="none" strike="noStrike">
              <a:solidFill>
                <a:srgbClr val="000000"/>
              </a:solidFill>
              <a:effectLst/>
              <a:uFillTx/>
              <a:latin typeface="Arial"/>
            </a:endParaRPr>
          </a:p>
        </p:txBody>
      </p:sp>
      <p:sp>
        <p:nvSpPr>
          <p:cNvPr id="166" name="c3"/>
          <p:cNvSpPr/>
          <p:nvPr/>
        </p:nvSpPr>
        <p:spPr>
          <a:xfrm>
            <a:off x="7287480" y="445104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Meiryo"/>
                <a:ea typeface="Meiryo"/>
              </a:rPr>
              <a:t>Class 3</a:t>
            </a:r>
            <a:br>
              <a:rPr sz="2200"/>
            </a:br>
            <a:r>
              <a:rPr lang="ja-JP" sz="2200" b="1" u="none" strike="noStrike">
                <a:solidFill>
                  <a:srgbClr val="BF9000"/>
                </a:solidFill>
                <a:effectLst/>
                <a:uFillTx/>
                <a:latin typeface="Meiryo"/>
                <a:ea typeface="Meiryo"/>
              </a:rPr>
              <a:t>下降角の変化のみ</a:t>
            </a:r>
            <a:endParaRPr lang="en-US" sz="2200" b="0" u="none" strike="noStrike">
              <a:solidFill>
                <a:srgbClr val="000000"/>
              </a:solidFill>
              <a:effectLst/>
              <a:uFillTx/>
              <a:latin typeface="Arial"/>
            </a:endParaRPr>
          </a:p>
        </p:txBody>
      </p:sp>
      <p:sp>
        <p:nvSpPr>
          <p:cNvPr id="167" name="c4"/>
          <p:cNvSpPr/>
          <p:nvPr/>
        </p:nvSpPr>
        <p:spPr>
          <a:xfrm>
            <a:off x="7287480" y="5832000"/>
            <a:ext cx="3407812" cy="66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Meiryo"/>
                <a:ea typeface="Meiryo"/>
              </a:rPr>
              <a:t>Class 4</a:t>
            </a:r>
            <a:br>
              <a:rPr sz="2200"/>
            </a:br>
            <a:r>
              <a:rPr lang="ja-JP" sz="2200" b="1" u="none" strike="noStrike">
                <a:solidFill>
                  <a:srgbClr val="C00000"/>
                </a:solidFill>
                <a:effectLst/>
                <a:uFillTx/>
                <a:latin typeface="Meiryo"/>
                <a:ea typeface="Meiryo"/>
              </a:rPr>
              <a:t>切痕の痕跡なし</a:t>
            </a:r>
            <a:endParaRPr lang="en-US" sz="22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itleFrame"/>
          <p:cNvSpPr/>
          <p:nvPr/>
        </p:nvSpPr>
        <p:spPr>
          <a:xfrm>
            <a:off x="655200" y="603504"/>
            <a:ext cx="57607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16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2.2  UK Biobank</a:t>
            </a:r>
            <a:endParaRPr lang="en-US" sz="4600" b="1" u="none" strike="noStrike">
              <a:ln w="19050">
                <a:solidFill>
                  <a:srgbClr val="000000"/>
                </a:solidFill>
              </a:ln>
              <a:solidFill>
                <a:schemeClr val="accent4">
                  <a:lumMod val="75000"/>
                </a:schemeClr>
              </a:solidFill>
              <a:effectLst/>
              <a:uFillTx/>
              <a:latin typeface="Calibri"/>
            </a:endParaRPr>
          </a:p>
        </p:txBody>
      </p:sp>
      <p:sp>
        <p:nvSpPr>
          <p:cNvPr id="16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70"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7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7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7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7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7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7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6. Cunningham 2023</a:t>
            </a:r>
            <a:endParaRPr lang="en-US" sz="1050" b="0" u="none" strike="noStrike">
              <a:solidFill>
                <a:srgbClr val="000000"/>
              </a:solidFill>
              <a:effectLst/>
              <a:uFillTx/>
              <a:latin typeface="Arial"/>
            </a:endParaRPr>
          </a:p>
        </p:txBody>
      </p:sp>
      <p:sp>
        <p:nvSpPr>
          <p:cNvPr id="17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9/47</a:t>
            </a:r>
            <a:endParaRPr lang="en-US" sz="1200" b="0" u="none" strike="noStrike">
              <a:solidFill>
                <a:srgbClr val="000000"/>
              </a:solidFill>
              <a:effectLst/>
              <a:uFillTx/>
              <a:latin typeface="Arial"/>
            </a:endParaRPr>
          </a:p>
        </p:txBody>
      </p:sp>
      <p:pic>
        <p:nvPicPr>
          <p:cNvPr id="178" name="図 10"/>
          <p:cNvPicPr/>
          <p:nvPr/>
        </p:nvPicPr>
        <p:blipFill>
          <a:blip r:embed="rId4"/>
          <a:stretch/>
        </p:blipFill>
        <p:spPr>
          <a:xfrm>
            <a:off x="358200" y="2347200"/>
            <a:ext cx="5874120" cy="3486960"/>
          </a:xfrm>
          <a:prstGeom prst="rect">
            <a:avLst/>
          </a:prstGeom>
          <a:noFill/>
          <a:ln w="0">
            <a:noFill/>
          </a:ln>
        </p:spPr>
      </p:pic>
      <p:sp>
        <p:nvSpPr>
          <p:cNvPr id="179"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80" name="図 12"/>
          <p:cNvPicPr/>
          <p:nvPr/>
        </p:nvPicPr>
        <p:blipFill>
          <a:blip r:embed="rId5"/>
          <a:srcRect b="27428"/>
          <a:stretch/>
        </p:blipFill>
        <p:spPr>
          <a:xfrm>
            <a:off x="6232320" y="1823040"/>
            <a:ext cx="5601240" cy="43369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itleFrame"/>
          <p:cNvSpPr/>
          <p:nvPr/>
        </p:nvSpPr>
        <p:spPr>
          <a:xfrm>
            <a:off x="655200" y="603504"/>
            <a:ext cx="57607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18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2.2  UK Biobank</a:t>
            </a:r>
            <a:endParaRPr lang="en-US" sz="4600" b="1" u="none" strike="noStrike">
              <a:ln w="19050">
                <a:solidFill>
                  <a:srgbClr val="000000"/>
                </a:solidFill>
              </a:ln>
              <a:solidFill>
                <a:schemeClr val="accent4">
                  <a:lumMod val="75000"/>
                </a:schemeClr>
              </a:solidFill>
              <a:effectLst/>
              <a:uFillTx/>
              <a:latin typeface="Calibri"/>
            </a:endParaRPr>
          </a:p>
        </p:txBody>
      </p:sp>
      <p:sp>
        <p:nvSpPr>
          <p:cNvPr id="18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83"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8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8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8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8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8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8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6. Cunningham 2023</a:t>
            </a:r>
            <a:endParaRPr lang="en-US" sz="1050" b="0" u="none" strike="noStrike">
              <a:solidFill>
                <a:srgbClr val="000000"/>
              </a:solidFill>
              <a:effectLst/>
              <a:uFillTx/>
              <a:latin typeface="Arial"/>
            </a:endParaRPr>
          </a:p>
        </p:txBody>
      </p:sp>
      <p:sp>
        <p:nvSpPr>
          <p:cNvPr id="19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10/47</a:t>
            </a:r>
            <a:endParaRPr lang="en-US" sz="1200" b="0" u="none" strike="noStrike">
              <a:solidFill>
                <a:srgbClr val="000000"/>
              </a:solidFill>
              <a:effectLst/>
              <a:uFillTx/>
              <a:latin typeface="Arial"/>
            </a:endParaRPr>
          </a:p>
        </p:txBody>
      </p:sp>
      <p:pic>
        <p:nvPicPr>
          <p:cNvPr id="191" name="図 10"/>
          <p:cNvPicPr/>
          <p:nvPr/>
        </p:nvPicPr>
        <p:blipFill>
          <a:blip r:embed="rId4"/>
          <a:stretch/>
        </p:blipFill>
        <p:spPr>
          <a:xfrm>
            <a:off x="358200" y="2347200"/>
            <a:ext cx="5874120" cy="3486960"/>
          </a:xfrm>
          <a:prstGeom prst="rect">
            <a:avLst/>
          </a:prstGeom>
          <a:noFill/>
          <a:ln w="0">
            <a:noFill/>
          </a:ln>
        </p:spPr>
      </p:pic>
      <p:sp>
        <p:nvSpPr>
          <p:cNvPr id="192"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93" name="図 12"/>
          <p:cNvPicPr/>
          <p:nvPr/>
        </p:nvPicPr>
        <p:blipFill>
          <a:blip r:embed="rId5"/>
          <a:srcRect b="27428"/>
          <a:stretch/>
        </p:blipFill>
        <p:spPr>
          <a:xfrm>
            <a:off x="6232320" y="1823040"/>
            <a:ext cx="5601240" cy="4336920"/>
          </a:xfrm>
          <a:prstGeom prst="rect">
            <a:avLst/>
          </a:prstGeom>
          <a:noFill/>
          <a:ln w="0">
            <a:noFill/>
          </a:ln>
        </p:spPr>
      </p:pic>
      <p:sp>
        <p:nvSpPr>
          <p:cNvPr id="194" name="box"/>
          <p:cNvSpPr/>
          <p:nvPr/>
        </p:nvSpPr>
        <p:spPr>
          <a:xfrm>
            <a:off x="2283840" y="3539160"/>
            <a:ext cx="7896600" cy="1103400"/>
          </a:xfrm>
          <a:prstGeom prst="roundRect">
            <a:avLst>
              <a:gd name="adj" fmla="val 16667"/>
            </a:avLst>
          </a:prstGeom>
          <a:solidFill>
            <a:srgbClr val="F5E8C8"/>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Meiryo"/>
                <a:ea typeface="Meiryo"/>
              </a:rPr>
              <a:t>切痕が平滑なほど</a:t>
            </a:r>
            <a:r>
              <a:rPr lang="en-US" sz="2400" b="1" u="none" strike="noStrike">
                <a:solidFill>
                  <a:srgbClr val="262626"/>
                </a:solidFill>
                <a:effectLst/>
                <a:uFillTx/>
                <a:latin typeface="Meiryo"/>
                <a:ea typeface="Meiryo"/>
              </a:rPr>
              <a:t>,</a:t>
            </a:r>
            <a:r>
              <a:rPr lang="ja-JP" sz="2400" b="1" u="none" strike="noStrike">
                <a:solidFill>
                  <a:srgbClr val="262626"/>
                </a:solidFill>
                <a:effectLst/>
                <a:uFillTx/>
                <a:latin typeface="Meiryo"/>
                <a:ea typeface="Meiryo"/>
              </a:rPr>
              <a:t>高血圧・心筋梗塞</a:t>
            </a:r>
            <a:r>
              <a:rPr lang="en-US" sz="2400" b="1" u="none" strike="noStrike">
                <a:solidFill>
                  <a:srgbClr val="262626"/>
                </a:solidFill>
                <a:effectLst/>
                <a:uFillTx/>
                <a:latin typeface="Meiryo"/>
                <a:ea typeface="Meiryo"/>
              </a:rPr>
              <a:t>/CAD</a:t>
            </a:r>
            <a:r>
              <a:rPr lang="ja-JP" sz="2400" b="1" u="none" strike="noStrike">
                <a:solidFill>
                  <a:srgbClr val="262626"/>
                </a:solidFill>
                <a:effectLst/>
                <a:uFillTx/>
                <a:latin typeface="Meiryo"/>
                <a:ea typeface="Meiryo"/>
              </a:rPr>
              <a:t>・</a:t>
            </a:r>
            <a:endParaRPr lang="en-US" sz="2400" b="0" u="none" strike="noStrike">
              <a:solidFill>
                <a:srgbClr val="000000"/>
              </a:solidFill>
              <a:effectLst/>
              <a:uFillTx/>
              <a:latin typeface="Arial"/>
            </a:endParaRPr>
          </a:p>
          <a:p>
            <a:pPr algn="ctr" defTabSz="914400">
              <a:lnSpc>
                <a:spcPct val="100000"/>
              </a:lnSpc>
            </a:pPr>
            <a:r>
              <a:rPr lang="ja-JP" sz="2400" b="1" u="none" strike="noStrike">
                <a:solidFill>
                  <a:srgbClr val="262626"/>
                </a:solidFill>
                <a:effectLst/>
                <a:uFillTx/>
                <a:latin typeface="Meiryo"/>
                <a:ea typeface="Meiryo"/>
              </a:rPr>
              <a:t>心不全・死亡 が増加</a:t>
            </a:r>
            <a:endParaRPr lang="en-US" sz="2400" b="0" u="none" strike="noStrike">
              <a:solidFill>
                <a:srgbClr val="000000"/>
              </a:solidFill>
              <a:effectLst/>
              <a:uFillTx/>
              <a:latin typeface="Arial"/>
            </a:endParaRPr>
          </a:p>
        </p:txBody>
      </p:sp>
      <p:sp>
        <p:nvSpPr>
          <p:cNvPr id="195" name="TextBox 2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CAD</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coronary artery disease</a:t>
            </a:r>
            <a:r>
              <a:rPr lang="ja-JP" sz="1050" b="0" u="none" strike="noStrike">
                <a:solidFill>
                  <a:srgbClr val="808080"/>
                </a:solidFill>
                <a:effectLst/>
                <a:uFillTx/>
                <a:latin typeface="Meiryo"/>
                <a:ea typeface="Meiryo"/>
              </a:rPr>
              <a:t>（冠動脈疾患）</a:t>
            </a:r>
            <a:endParaRPr lang="en-US" sz="10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19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 </a:t>
            </a:r>
            <a:r>
              <a:rPr lang="ja-JP" sz="4400" b="1" u="none" strike="noStrike">
                <a:ln w="19050">
                  <a:solidFill>
                    <a:srgbClr val="000000"/>
                  </a:solidFill>
                </a:ln>
                <a:solidFill>
                  <a:schemeClr val="accent4">
                    <a:lumMod val="75000"/>
                  </a:schemeClr>
                </a:solidFill>
                <a:effectLst/>
                <a:uFillTx/>
                <a:latin typeface="Meiryo"/>
                <a:ea typeface="Meiryo"/>
              </a:rPr>
              <a:t>波形への影響：循環</a:t>
            </a:r>
            <a:endParaRPr lang="en-US" sz="4600" b="1" u="none" strike="noStrike">
              <a:ln w="19050">
                <a:solidFill>
                  <a:srgbClr val="000000"/>
                </a:solidFill>
              </a:ln>
              <a:solidFill>
                <a:schemeClr val="accent4">
                  <a:lumMod val="75000"/>
                </a:schemeClr>
              </a:solidFill>
              <a:effectLst/>
              <a:uFillTx/>
              <a:latin typeface="Calibri"/>
            </a:endParaRPr>
          </a:p>
        </p:txBody>
      </p:sp>
      <p:sp>
        <p:nvSpPr>
          <p:cNvPr id="19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9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19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0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0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0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0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04"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2701"/>
              </a:lnSpc>
              <a:tabLst>
                <a:tab pos="0" algn="l"/>
              </a:tabLst>
            </a:pPr>
            <a:r>
              <a:rPr lang="en-US" sz="2200" b="1" u="none" strike="noStrike">
                <a:solidFill>
                  <a:srgbClr val="D9D9D9"/>
                </a:solidFill>
                <a:effectLst/>
                <a:uFillTx/>
                <a:latin typeface="Meiryo"/>
                <a:ea typeface="Meiryo"/>
              </a:rPr>
              <a:t>1. </a:t>
            </a:r>
            <a:r>
              <a:rPr lang="ja-JP" sz="2200" b="0" u="none" strike="noStrike">
                <a:solidFill>
                  <a:srgbClr val="D9D9D9"/>
                </a:solidFill>
                <a:effectLst/>
                <a:uFillTx/>
                <a:latin typeface="Meiryo"/>
                <a:ea typeface="Meiryo"/>
              </a:rPr>
              <a:t>基礎：</a:t>
            </a:r>
            <a:r>
              <a:rPr lang="en-US" sz="2200" b="0" u="none" strike="noStrike">
                <a:solidFill>
                  <a:srgbClr val="D9D9D9"/>
                </a:solidFill>
                <a:effectLst/>
                <a:uFillTx/>
                <a:latin typeface="Meiryo"/>
                <a:ea typeface="Meiryo"/>
              </a:rPr>
              <a:t>PPG</a:t>
            </a:r>
            <a:r>
              <a:rPr lang="ja-JP" sz="2200" b="0" u="none" strike="noStrike">
                <a:solidFill>
                  <a:srgbClr val="D9D9D9"/>
                </a:solidFill>
                <a:effectLst/>
                <a:uFillTx/>
                <a:latin typeface="Meiryo"/>
                <a:ea typeface="Meiryo"/>
              </a:rPr>
              <a:t>の成り立ちと反射波の土台</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2. </a:t>
            </a:r>
            <a:r>
              <a:rPr lang="ja-JP" sz="2200" b="0" u="none" strike="noStrike">
                <a:solidFill>
                  <a:srgbClr val="D9D9D9"/>
                </a:solidFill>
                <a:effectLst/>
                <a:uFillTx/>
                <a:latin typeface="Meiryo"/>
                <a:ea typeface="Meiryo"/>
              </a:rPr>
              <a:t>波形への影響：加齢</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BF9000"/>
                </a:solidFill>
                <a:effectLst/>
                <a:uFillTx/>
                <a:latin typeface="Meiryo"/>
                <a:ea typeface="Meiryo"/>
              </a:rPr>
              <a:t>3. </a:t>
            </a:r>
            <a:r>
              <a:rPr lang="ja-JP" sz="2200" b="1" u="none" strike="noStrike">
                <a:solidFill>
                  <a:srgbClr val="262626"/>
                </a:solidFill>
                <a:effectLst/>
                <a:uFillTx/>
                <a:latin typeface="Meiryo"/>
                <a:ea typeface="Meiryo"/>
              </a:rPr>
              <a:t>波形への影響：循環</a:t>
            </a:r>
            <a:endParaRPr lang="en-US" sz="215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心拍数</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3.2</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前負荷</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3.3</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心収縮力</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3.4</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末梢血管トーヌス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3.5</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大血管エラスタンス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3.6</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後負荷の差</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3.7</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裏付けの強さ</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3.8</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麻酔中の変化</a:t>
            </a:r>
            <a:endParaRPr lang="en-US" sz="18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4. </a:t>
            </a:r>
            <a:r>
              <a:rPr lang="ja-JP" sz="2200" b="0" u="none" strike="noStrike">
                <a:solidFill>
                  <a:srgbClr val="D9D9D9"/>
                </a:solidFill>
                <a:effectLst/>
                <a:uFillTx/>
                <a:latin typeface="Meiryo"/>
                <a:ea typeface="Meiryo"/>
              </a:rPr>
              <a:t>波形の定量化</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5. </a:t>
            </a:r>
            <a:r>
              <a:rPr lang="en-US" sz="2200" b="0" u="none" strike="noStrike">
                <a:solidFill>
                  <a:srgbClr val="D9D9D9"/>
                </a:solidFill>
                <a:effectLst/>
                <a:uFillTx/>
                <a:latin typeface="Meiryo"/>
                <a:ea typeface="Meiryo"/>
              </a:rPr>
              <a:t>SpO₂</a:t>
            </a:r>
            <a:r>
              <a:rPr lang="ja-JP" sz="2200" b="0" u="none" strike="noStrike">
                <a:solidFill>
                  <a:srgbClr val="D9D9D9"/>
                </a:solidFill>
                <a:effectLst/>
                <a:uFillTx/>
                <a:latin typeface="Meiryo"/>
                <a:ea typeface="Meiryo"/>
              </a:rPr>
              <a:t>波形解析まとめ</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6. </a:t>
            </a:r>
            <a:r>
              <a:rPr lang="ja-JP" sz="2200" b="0" u="none" strike="noStrike">
                <a:solidFill>
                  <a:srgbClr val="D9D9D9"/>
                </a:solidFill>
                <a:effectLst/>
                <a:uFillTx/>
                <a:latin typeface="Meiryo"/>
                <a:ea typeface="Meiryo"/>
              </a:rPr>
              <a:t>限界</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7. </a:t>
            </a:r>
            <a:r>
              <a:rPr lang="en-US" sz="2200" b="0" u="none" strike="noStrike">
                <a:solidFill>
                  <a:srgbClr val="D9D9D9"/>
                </a:solidFill>
                <a:effectLst/>
                <a:uFillTx/>
                <a:latin typeface="Meiryo"/>
                <a:ea typeface="Meiryo"/>
              </a:rPr>
              <a:t>esCCO</a:t>
            </a:r>
            <a:r>
              <a:rPr lang="ja-JP" sz="2200" b="0" u="none" strike="noStrike">
                <a:solidFill>
                  <a:srgbClr val="D9D9D9"/>
                </a:solidFill>
                <a:effectLst/>
                <a:uFillTx/>
                <a:latin typeface="Meiryo"/>
                <a:ea typeface="Meiryo"/>
              </a:rPr>
              <a:t>精度改善案</a:t>
            </a:r>
            <a:endParaRPr lang="en-US" sz="2000" b="0" u="none" strike="noStrike">
              <a:solidFill>
                <a:srgbClr val="000000"/>
              </a:solidFill>
              <a:effectLst/>
              <a:uFillTx/>
              <a:latin typeface="Arial"/>
            </a:endParaRPr>
          </a:p>
        </p:txBody>
      </p:sp>
      <p:sp>
        <p:nvSpPr>
          <p:cNvPr id="20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11/47</a:t>
            </a:r>
            <a:endParaRPr lang="en-US" sz="1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0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3.1  </a:t>
            </a:r>
            <a:r>
              <a:rPr lang="ja-JP" sz="4400" b="1" u="none" strike="noStrike">
                <a:ln w="19050">
                  <a:solidFill>
                    <a:srgbClr val="000000"/>
                  </a:solidFill>
                </a:ln>
                <a:solidFill>
                  <a:schemeClr val="accent4">
                    <a:lumMod val="75000"/>
                  </a:schemeClr>
                </a:solidFill>
                <a:effectLst/>
                <a:uFillTx/>
                <a:latin typeface="Meiryo"/>
                <a:ea typeface="Meiryo"/>
              </a:rPr>
              <a:t>心拍数</a:t>
            </a:r>
            <a:endParaRPr lang="en-US" sz="4600" b="1" u="none" strike="noStrike">
              <a:ln w="19050">
                <a:solidFill>
                  <a:srgbClr val="000000"/>
                </a:solidFill>
              </a:ln>
              <a:solidFill>
                <a:schemeClr val="accent4">
                  <a:lumMod val="75000"/>
                </a:schemeClr>
              </a:solidFill>
              <a:effectLst/>
              <a:uFillTx/>
              <a:latin typeface="Calibri"/>
            </a:endParaRPr>
          </a:p>
        </p:txBody>
      </p:sp>
      <p:sp>
        <p:nvSpPr>
          <p:cNvPr id="20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0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0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1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1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1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1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1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7. Wilkinson 2000  ／  19. Hashimoto 2002  ／  23. Charlton 2019  ／  24. Md Lazim 2020</a:t>
            </a:r>
            <a:endParaRPr lang="en-US" sz="1050" b="0" u="none" strike="noStrike">
              <a:solidFill>
                <a:srgbClr val="000000"/>
              </a:solidFill>
              <a:effectLst/>
              <a:uFillTx/>
              <a:latin typeface="Arial"/>
            </a:endParaRPr>
          </a:p>
        </p:txBody>
      </p:sp>
      <p:sp>
        <p:nvSpPr>
          <p:cNvPr id="215"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12/47</a:t>
            </a:r>
            <a:endParaRPr lang="en-US" sz="1200" b="0" u="none" strike="noStrike">
              <a:solidFill>
                <a:srgbClr val="000000"/>
              </a:solidFill>
              <a:effectLst/>
              <a:uFillTx/>
              <a:latin typeface="Arial"/>
            </a:endParaRPr>
          </a:p>
        </p:txBody>
      </p:sp>
      <p:pic>
        <p:nvPicPr>
          <p:cNvPr id="216" name="図 2"/>
          <p:cNvPicPr/>
          <p:nvPr/>
        </p:nvPicPr>
        <p:blipFill>
          <a:blip r:embed="rId4"/>
          <a:srcRect l="71660" t="12611"/>
          <a:stretch/>
        </p:blipFill>
        <p:spPr>
          <a:xfrm>
            <a:off x="4250880" y="1793520"/>
            <a:ext cx="4433400" cy="4041360"/>
          </a:xfrm>
          <a:prstGeom prst="rect">
            <a:avLst/>
          </a:prstGeom>
          <a:noFill/>
          <a:ln w="0">
            <a:noFill/>
          </a:ln>
        </p:spPr>
      </p:pic>
      <p:pic>
        <p:nvPicPr>
          <p:cNvPr id="217" name="図 5"/>
          <p:cNvPicPr/>
          <p:nvPr/>
        </p:nvPicPr>
        <p:blipFill>
          <a:blip r:embed="rId4"/>
          <a:srcRect l="1878" t="44550" r="91433" b="35540"/>
          <a:stretch/>
        </p:blipFill>
        <p:spPr>
          <a:xfrm>
            <a:off x="2879280" y="3595680"/>
            <a:ext cx="1044720" cy="92016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3.2  </a:t>
            </a:r>
            <a:r>
              <a:rPr lang="ja-JP" sz="4400" b="1" u="none" strike="noStrike">
                <a:ln w="19050">
                  <a:solidFill>
                    <a:srgbClr val="000000"/>
                  </a:solidFill>
                </a:ln>
                <a:solidFill>
                  <a:schemeClr val="accent4">
                    <a:lumMod val="75000"/>
                  </a:schemeClr>
                </a:solidFill>
                <a:effectLst/>
                <a:uFillTx/>
                <a:latin typeface="Meiryo"/>
                <a:ea typeface="Meiryo"/>
              </a:rPr>
              <a:t>前負荷</a:t>
            </a:r>
            <a:endParaRPr lang="en-US" sz="4600" b="1" u="none" strike="noStrike">
              <a:ln w="19050">
                <a:solidFill>
                  <a:srgbClr val="000000"/>
                </a:solidFill>
              </a:ln>
              <a:solidFill>
                <a:schemeClr val="accent4">
                  <a:lumMod val="75000"/>
                </a:schemeClr>
              </a:solidFill>
              <a:effectLst/>
              <a:uFillTx/>
              <a:latin typeface="Calibri"/>
            </a:endParaRPr>
          </a:p>
        </p:txBody>
      </p:sp>
      <p:sp>
        <p:nvSpPr>
          <p:cNvPr id="21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2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2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2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2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2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2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26" name="TextBox 7"/>
          <p:cNvSpPr/>
          <p:nvPr/>
        </p:nvSpPr>
        <p:spPr>
          <a:xfrm>
            <a:off x="720000" y="6606000"/>
            <a:ext cx="10439640" cy="16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8. Alian 2011</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9. Cannesson 2005</a:t>
            </a:r>
            <a:endParaRPr lang="en-US" sz="1050" b="0" u="none" strike="noStrike">
              <a:solidFill>
                <a:srgbClr val="000000"/>
              </a:solidFill>
              <a:effectLst/>
              <a:uFillTx/>
              <a:latin typeface="Arial"/>
            </a:endParaRPr>
          </a:p>
        </p:txBody>
      </p:sp>
      <p:pic>
        <p:nvPicPr>
          <p:cNvPr id="227" name="Picture 8" descr="09b_preload_overlay.png"/>
          <p:cNvPicPr/>
          <p:nvPr/>
        </p:nvPicPr>
        <p:blipFill>
          <a:blip r:embed="rId5"/>
          <a:srcRect t="22370" r="28310"/>
          <a:stretch/>
        </p:blipFill>
        <p:spPr>
          <a:xfrm>
            <a:off x="-61560" y="1463760"/>
            <a:ext cx="9074520" cy="4534920"/>
          </a:xfrm>
          <a:prstGeom prst="rect">
            <a:avLst/>
          </a:prstGeom>
          <a:noFill/>
          <a:ln w="0">
            <a:noFill/>
          </a:ln>
        </p:spPr>
      </p:pic>
      <p:sp>
        <p:nvSpPr>
          <p:cNvPr id="2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13/47</a:t>
            </a:r>
            <a:endParaRPr lang="en-US" sz="1200" b="0" u="none" strike="noStrike">
              <a:solidFill>
                <a:srgbClr val="000000"/>
              </a:solidFill>
              <a:effectLst/>
              <a:uFillTx/>
              <a:latin typeface="Arial"/>
            </a:endParaRPr>
          </a:p>
        </p:txBody>
      </p:sp>
      <p:sp>
        <p:nvSpPr>
          <p:cNvPr id="229" name="lg1"/>
          <p:cNvSpPr/>
          <p:nvPr/>
        </p:nvSpPr>
        <p:spPr>
          <a:xfrm>
            <a:off x="8475480" y="2156400"/>
            <a:ext cx="2979360" cy="30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0AD47"/>
                </a:solidFill>
                <a:effectLst/>
                <a:uFillTx/>
                <a:latin typeface="Meiryo"/>
                <a:ea typeface="Meiryo"/>
              </a:rPr>
              <a:t>正常前負荷</a:t>
            </a:r>
            <a:endParaRPr lang="en-US" sz="2200" b="0" u="none" strike="noStrike">
              <a:solidFill>
                <a:srgbClr val="000000"/>
              </a:solidFill>
              <a:effectLst/>
              <a:uFillTx/>
              <a:latin typeface="Arial"/>
            </a:endParaRPr>
          </a:p>
        </p:txBody>
      </p:sp>
      <p:sp>
        <p:nvSpPr>
          <p:cNvPr id="230" name="lg2"/>
          <p:cNvSpPr/>
          <p:nvPr/>
        </p:nvSpPr>
        <p:spPr>
          <a:xfrm>
            <a:off x="7737839" y="2610720"/>
            <a:ext cx="4346280" cy="37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E8853B"/>
                </a:solidFill>
                <a:effectLst/>
                <a:uFillTx/>
                <a:latin typeface="Meiryo"/>
                <a:ea typeface="Meiryo"/>
              </a:rPr>
              <a:t>前負荷低下（脱血・</a:t>
            </a:r>
            <a:r>
              <a:rPr lang="en-US" sz="2200" b="1" u="none" strike="noStrike">
                <a:solidFill>
                  <a:srgbClr val="E8853B"/>
                </a:solidFill>
                <a:effectLst/>
                <a:uFillTx/>
                <a:latin typeface="Meiryo"/>
                <a:ea typeface="Meiryo"/>
              </a:rPr>
              <a:t>LBNP</a:t>
            </a:r>
            <a:r>
              <a:rPr lang="ja-JP" sz="2200" b="1" u="none" strike="noStrike">
                <a:solidFill>
                  <a:srgbClr val="E8853B"/>
                </a:solidFill>
                <a:effectLst/>
                <a:uFillTx/>
                <a:latin typeface="Meiryo"/>
                <a:ea typeface="Meiryo"/>
              </a:rPr>
              <a:t>）</a:t>
            </a:r>
            <a:endParaRPr lang="en-US" sz="2200" b="0" u="none" strike="noStrike">
              <a:solidFill>
                <a:srgbClr val="000000"/>
              </a:solidFill>
              <a:effectLst/>
              <a:uFillTx/>
              <a:latin typeface="Arial"/>
            </a:endParaRPr>
          </a:p>
        </p:txBody>
      </p:sp>
      <p:sp>
        <p:nvSpPr>
          <p:cNvPr id="231" name="cap"/>
          <p:cNvSpPr/>
          <p:nvPr/>
        </p:nvSpPr>
        <p:spPr>
          <a:xfrm>
            <a:off x="1440360" y="5427000"/>
            <a:ext cx="9311040" cy="873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800" b="1" u="none" strike="noStrike">
                <a:solidFill>
                  <a:srgbClr val="262626"/>
                </a:solidFill>
                <a:effectLst/>
                <a:uFillTx/>
                <a:latin typeface="Meiryo"/>
                <a:ea typeface="Meiryo"/>
              </a:rPr>
              <a:t>progressive hypovolemia </a:t>
            </a:r>
            <a:r>
              <a:rPr lang="ja-JP" sz="2800" b="1" u="none" strike="noStrike">
                <a:solidFill>
                  <a:srgbClr val="262626"/>
                </a:solidFill>
                <a:effectLst/>
                <a:uFillTx/>
                <a:latin typeface="Meiryo"/>
                <a:ea typeface="Meiryo"/>
              </a:rPr>
              <a:t>で </a:t>
            </a:r>
            <a:endParaRPr lang="en-US" sz="2800" b="0" u="none" strike="noStrike">
              <a:solidFill>
                <a:srgbClr val="000000"/>
              </a:solidFill>
              <a:effectLst/>
              <a:uFillTx/>
              <a:latin typeface="Arial"/>
            </a:endParaRPr>
          </a:p>
          <a:p>
            <a:pPr algn="ctr" defTabSz="914400">
              <a:lnSpc>
                <a:spcPct val="100000"/>
              </a:lnSpc>
            </a:pPr>
            <a:r>
              <a:rPr lang="ja-JP" sz="2800" b="1" u="none" strike="noStrike">
                <a:solidFill>
                  <a:srgbClr val="262626"/>
                </a:solidFill>
                <a:effectLst/>
                <a:uFillTx/>
                <a:latin typeface="Meiryo"/>
                <a:ea typeface="Meiryo"/>
              </a:rPr>
              <a:t>指尖</a:t>
            </a:r>
            <a:r>
              <a:rPr lang="en-US" sz="2800" b="1" u="none" strike="noStrike">
                <a:solidFill>
                  <a:srgbClr val="262626"/>
                </a:solidFill>
                <a:effectLst/>
                <a:uFillTx/>
                <a:latin typeface="Meiryo"/>
                <a:ea typeface="Meiryo"/>
              </a:rPr>
              <a:t>PPG </a:t>
            </a:r>
            <a:r>
              <a:rPr lang="ja-JP" sz="2800" b="1" u="none" strike="noStrike">
                <a:solidFill>
                  <a:srgbClr val="262626"/>
                </a:solidFill>
                <a:effectLst/>
                <a:uFillTx/>
                <a:latin typeface="Meiryo"/>
                <a:ea typeface="Meiryo"/>
              </a:rPr>
              <a:t>の 高さ・面積・傾き が低下</a:t>
            </a:r>
            <a:endParaRPr lang="en-US" sz="2800" b="0" u="none" strike="noStrike">
              <a:solidFill>
                <a:srgbClr val="000000"/>
              </a:solidFill>
              <a:effectLst/>
              <a:uFillTx/>
              <a:latin typeface="Arial"/>
            </a:endParaRPr>
          </a:p>
        </p:txBody>
      </p:sp>
      <p:pic>
        <p:nvPicPr>
          <p:cNvPr id="232" name="Picture 8" descr="09b_preload_overlay.png"/>
          <p:cNvPicPr/>
          <p:nvPr/>
        </p:nvPicPr>
        <p:blipFill>
          <a:blip r:embed="rId5"/>
          <a:srcRect l="56359" r="31021" b="72449"/>
          <a:stretch/>
        </p:blipFill>
        <p:spPr>
          <a:xfrm>
            <a:off x="6737400" y="1842120"/>
            <a:ext cx="1622160" cy="1634760"/>
          </a:xfrm>
          <a:prstGeom prst="rect">
            <a:avLst/>
          </a:prstGeom>
          <a:noFill/>
          <a:ln w="0">
            <a:noFill/>
          </a:ln>
        </p:spPr>
      </p:pic>
      <p:sp>
        <p:nvSpPr>
          <p:cNvPr id="233" name="TextBox 34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LBNP</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lower body negative pressure</a:t>
            </a:r>
            <a:r>
              <a:rPr lang="ja-JP" sz="1050" b="0" u="none" strike="noStrike">
                <a:solidFill>
                  <a:srgbClr val="808080"/>
                </a:solidFill>
                <a:effectLst/>
                <a:uFillTx/>
                <a:latin typeface="Meiryo"/>
                <a:ea typeface="Meiryo"/>
              </a:rPr>
              <a:t>（下半身陰圧負荷）</a:t>
            </a:r>
            <a:endParaRPr lang="en-US" sz="10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itleFrame"/>
          <p:cNvSpPr/>
          <p:nvPr/>
        </p:nvSpPr>
        <p:spPr>
          <a:xfrm>
            <a:off x="655200" y="603504"/>
            <a:ext cx="40965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2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3.2  </a:t>
            </a:r>
            <a:r>
              <a:rPr lang="ja-JP" sz="4400" b="1" u="none" strike="noStrike">
                <a:ln w="19050">
                  <a:solidFill>
                    <a:srgbClr val="000000"/>
                  </a:solidFill>
                </a:ln>
                <a:solidFill>
                  <a:schemeClr val="accent4">
                    <a:lumMod val="75000"/>
                  </a:schemeClr>
                </a:solidFill>
                <a:effectLst/>
                <a:uFillTx/>
                <a:latin typeface="Meiryo"/>
                <a:ea typeface="Meiryo"/>
              </a:rPr>
              <a:t>前負荷</a:t>
            </a:r>
            <a:endParaRPr lang="en-US" sz="5400" b="1" u="none" strike="noStrike">
              <a:ln w="19050">
                <a:solidFill>
                  <a:srgbClr val="000000"/>
                </a:solidFill>
              </a:ln>
              <a:solidFill>
                <a:schemeClr val="accent4">
                  <a:lumMod val="75000"/>
                </a:schemeClr>
              </a:solidFill>
              <a:effectLst/>
              <a:uFillTx/>
              <a:latin typeface="Calibri"/>
            </a:endParaRPr>
          </a:p>
        </p:txBody>
      </p:sp>
      <p:sp>
        <p:nvSpPr>
          <p:cNvPr id="23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gn="l" defTabSz="914400">
              <a:lnSpc>
                <a:spcPct val="90000"/>
              </a:lnSpc>
              <a:spcBef>
                <a:spcPts val="1001"/>
              </a:spcBef>
              <a:buNone/>
            </a:pPr>
            <a:endParaRPr lang="en-US" sz="2800" b="0" u="none" strike="noStrike">
              <a:ln w="19050">
                <a:solidFill>
                  <a:srgbClr val="000000"/>
                </a:solidFill>
              </a:ln>
              <a:solidFill>
                <a:schemeClr val="dk1"/>
              </a:solidFill>
              <a:effectLst/>
              <a:uFillTx/>
              <a:latin typeface="Calibri"/>
            </a:endParaRPr>
          </a:p>
        </p:txBody>
      </p:sp>
      <p:pic>
        <p:nvPicPr>
          <p:cNvPr id="236" name="図 4"/>
          <p:cNvPicPr/>
          <p:nvPr/>
        </p:nvPicPr>
        <p:blipFill>
          <a:blip r:embed="rId2"/>
          <a:stretch/>
        </p:blipFill>
        <p:spPr>
          <a:xfrm>
            <a:off x="8019000" y="1560600"/>
            <a:ext cx="3940200" cy="3012480"/>
          </a:xfrm>
          <a:prstGeom prst="rect">
            <a:avLst/>
          </a:prstGeom>
          <a:noFill/>
          <a:ln w="0">
            <a:noFill/>
          </a:ln>
        </p:spPr>
      </p:pic>
      <p:pic>
        <p:nvPicPr>
          <p:cNvPr id="237" name="図 5"/>
          <p:cNvPicPr/>
          <p:nvPr/>
        </p:nvPicPr>
        <p:blipFill>
          <a:blip r:embed="rId3"/>
          <a:stretch/>
        </p:blipFill>
        <p:spPr>
          <a:xfrm>
            <a:off x="75240" y="1560600"/>
            <a:ext cx="7772040" cy="5078160"/>
          </a:xfrm>
          <a:prstGeom prst="rect">
            <a:avLst/>
          </a:prstGeom>
          <a:noFill/>
          <a:ln w="0">
            <a:noFill/>
          </a:ln>
        </p:spPr>
      </p:pic>
      <p:sp>
        <p:nvSpPr>
          <p:cNvPr id="238" name="TextBox 6"/>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Meiryo"/>
                <a:ea typeface="Meiryo"/>
              </a:rPr>
              <a:t>14/47</a:t>
            </a:r>
            <a:endParaRPr lang="en-US" sz="1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8" descr="09_preload.png"/>
          <p:cNvPicPr/>
          <p:nvPr/>
        </p:nvPicPr>
        <p:blipFill>
          <a:blip r:embed="rId3"/>
          <a:stretch/>
        </p:blipFill>
        <p:spPr>
          <a:xfrm>
            <a:off x="1442160" y="1800000"/>
            <a:ext cx="9283320" cy="4317840"/>
          </a:xfrm>
          <a:prstGeom prst="rect">
            <a:avLst/>
          </a:prstGeom>
          <a:noFill/>
          <a:ln w="0">
            <a:noFill/>
          </a:ln>
        </p:spPr>
      </p:pic>
      <p:sp>
        <p:nvSpPr>
          <p:cNvPr id="253"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3.2  </a:t>
            </a:r>
            <a:r>
              <a:rPr lang="ja-JP" sz="4400" b="1" u="none" strike="noStrike">
                <a:ln w="19050">
                  <a:solidFill>
                    <a:srgbClr val="000000"/>
                  </a:solidFill>
                </a:ln>
                <a:solidFill>
                  <a:schemeClr val="accent4">
                    <a:lumMod val="75000"/>
                  </a:schemeClr>
                </a:solidFill>
                <a:effectLst/>
                <a:uFillTx/>
                <a:latin typeface="Meiryo"/>
                <a:ea typeface="Meiryo"/>
              </a:rPr>
              <a:t>前負荷（</a:t>
            </a:r>
            <a:r>
              <a:rPr lang="en-US" sz="4400" b="1" u="none" strike="noStrike">
                <a:ln w="19050">
                  <a:solidFill>
                    <a:srgbClr val="000000"/>
                  </a:solidFill>
                </a:ln>
                <a:solidFill>
                  <a:schemeClr val="accent4">
                    <a:lumMod val="75000"/>
                  </a:schemeClr>
                </a:solidFill>
                <a:effectLst/>
                <a:uFillTx/>
                <a:latin typeface="Meiryo"/>
                <a:ea typeface="Meiryo"/>
              </a:rPr>
              <a:t>ΔPOP</a:t>
            </a:r>
            <a:r>
              <a:rPr lang="ja-JP" sz="4400" b="1" u="none" strike="noStrike">
                <a:ln w="19050">
                  <a:solidFill>
                    <a:srgbClr val="000000"/>
                  </a:solidFill>
                </a:ln>
                <a:solidFill>
                  <a:schemeClr val="accent4">
                    <a:lumMod val="75000"/>
                  </a:schemeClr>
                </a:solidFill>
                <a:effectLst/>
                <a:uFillTx/>
                <a:latin typeface="Meiryo"/>
                <a:ea typeface="Meiryo"/>
              </a:rPr>
              <a:t>）</a:t>
            </a:r>
            <a:endParaRPr lang="en-US" sz="4600" b="1" u="none" strike="noStrike">
              <a:ln w="19050">
                <a:solidFill>
                  <a:srgbClr val="000000"/>
                </a:solidFill>
              </a:ln>
              <a:solidFill>
                <a:schemeClr val="accent4">
                  <a:lumMod val="75000"/>
                </a:schemeClr>
              </a:solidFill>
              <a:effectLst/>
              <a:uFillTx/>
              <a:latin typeface="Calibri"/>
            </a:endParaRPr>
          </a:p>
        </p:txBody>
      </p:sp>
      <p:sp>
        <p:nvSpPr>
          <p:cNvPr id="24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4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4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4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4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4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4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4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4"/>
              </a:rPr>
              <a:t>9. </a:t>
            </a:r>
            <a:r>
              <a:rPr lang="en-US" sz="1050" b="0" u="none" strike="noStrike">
                <a:solidFill>
                  <a:srgbClr val="808080"/>
                </a:solidFill>
                <a:effectLst/>
                <a:uFillTx/>
                <a:latin typeface="Meiryo"/>
                <a:ea typeface="Meiryo"/>
                <a:hlinkClick r:id="rId4"/>
              </a:rPr>
              <a:t>Cannesson 2005</a:t>
            </a:r>
            <a:endParaRPr lang="en-US" sz="1050" b="0" u="none" strike="noStrike">
              <a:solidFill>
                <a:srgbClr val="000000"/>
              </a:solidFill>
              <a:effectLst/>
              <a:uFillTx/>
              <a:latin typeface="Arial"/>
            </a:endParaRPr>
          </a:p>
        </p:txBody>
      </p:sp>
      <p:sp>
        <p:nvSpPr>
          <p:cNvPr id="2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15/47</a:t>
            </a:r>
            <a:endParaRPr lang="en-US" sz="1200" b="0" u="none" strike="noStrike">
              <a:solidFill>
                <a:srgbClr val="000000"/>
              </a:solidFill>
              <a:effectLst/>
              <a:uFillTx/>
              <a:latin typeface="Arial"/>
            </a:endParaRPr>
          </a:p>
        </p:txBody>
      </p:sp>
      <p:sp>
        <p:nvSpPr>
          <p:cNvPr id="250"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Meiryo"/>
                <a:ea typeface="Meiryo"/>
              </a:rPr>
              <a:t>ΔPOP </a:t>
            </a:r>
            <a:r>
              <a:rPr lang="ja-JP" sz="2400" b="1" u="none" strike="noStrike">
                <a:solidFill>
                  <a:srgbClr val="5B4A12"/>
                </a:solidFill>
                <a:effectLst/>
                <a:uFillTx/>
                <a:latin typeface="Meiryo"/>
                <a:ea typeface="Meiryo"/>
              </a:rPr>
              <a:t>呼吸性変動⇔ </a:t>
            </a:r>
            <a:r>
              <a:rPr lang="en-US" sz="2400" b="1" u="none" strike="noStrike">
                <a:solidFill>
                  <a:srgbClr val="5B4A12"/>
                </a:solidFill>
                <a:effectLst/>
                <a:uFillTx/>
                <a:latin typeface="Meiryo"/>
                <a:ea typeface="Meiryo"/>
              </a:rPr>
              <a:t>ΔPP </a:t>
            </a:r>
            <a:r>
              <a:rPr lang="ja-JP" sz="2400" b="1" u="none" strike="noStrike">
                <a:solidFill>
                  <a:srgbClr val="5B4A12"/>
                </a:solidFill>
                <a:effectLst/>
                <a:uFillTx/>
                <a:latin typeface="Meiryo"/>
                <a:ea typeface="Meiryo"/>
              </a:rPr>
              <a:t>と良好に相関</a:t>
            </a:r>
            <a:endParaRPr lang="en-US" sz="2400" b="0" u="none" strike="noStrike">
              <a:solidFill>
                <a:srgbClr val="000000"/>
              </a:solidFill>
              <a:effectLst/>
              <a:uFillTx/>
              <a:latin typeface="Arial"/>
            </a:endParaRPr>
          </a:p>
        </p:txBody>
      </p:sp>
      <p:sp>
        <p:nvSpPr>
          <p:cNvPr id="251" name="TextBox 20"/>
          <p:cNvSpPr/>
          <p:nvPr/>
        </p:nvSpPr>
        <p:spPr>
          <a:xfrm>
            <a:off x="9144000" y="237672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Meiryo"/>
                <a:ea typeface="Meiryo"/>
              </a:rPr>
              <a:t>陽圧換気</a:t>
            </a:r>
            <a:endParaRPr lang="en-US" sz="2000" b="0" u="none" strike="noStrike">
              <a:solidFill>
                <a:srgbClr val="000000"/>
              </a:solidFill>
              <a:effectLst/>
              <a:uFillTx/>
              <a:latin typeface="Arial"/>
            </a:endParaRPr>
          </a:p>
        </p:txBody>
      </p:sp>
      <p:sp>
        <p:nvSpPr>
          <p:cNvPr id="252" name="TextBox 21"/>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ΔPOP</a:t>
            </a:r>
            <a:r>
              <a:rPr lang="ja-JP" sz="1050" b="0" u="none" strike="noStrike">
                <a:solidFill>
                  <a:srgbClr val="808080"/>
                </a:solidFill>
                <a:effectLst/>
                <a:uFillTx/>
                <a:latin typeface="Meiryo"/>
                <a:ea typeface="Meiryo"/>
              </a:rPr>
              <a:t>：脈波振幅の呼吸性変動　／　</a:t>
            </a:r>
            <a:r>
              <a:rPr lang="en-US" sz="1050" b="0" u="none" strike="noStrike">
                <a:solidFill>
                  <a:srgbClr val="808080"/>
                </a:solidFill>
                <a:effectLst/>
                <a:uFillTx/>
                <a:latin typeface="Meiryo"/>
                <a:ea typeface="Meiryo"/>
              </a:rPr>
              <a:t>ΔPP</a:t>
            </a:r>
            <a:r>
              <a:rPr lang="ja-JP" sz="1050" b="0" u="none" strike="noStrike">
                <a:solidFill>
                  <a:srgbClr val="808080"/>
                </a:solidFill>
                <a:effectLst/>
                <a:uFillTx/>
                <a:latin typeface="Meiryo"/>
                <a:ea typeface="Meiryo"/>
              </a:rPr>
              <a:t>：脈圧変動（</a:t>
            </a:r>
            <a:r>
              <a:rPr lang="en-US" sz="1050" b="0" u="none" strike="noStrike">
                <a:solidFill>
                  <a:srgbClr val="808080"/>
                </a:solidFill>
                <a:effectLst/>
                <a:uFillTx/>
                <a:latin typeface="Meiryo"/>
                <a:ea typeface="Meiryo"/>
              </a:rPr>
              <a:t>pulse pressure variation</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3.2  </a:t>
            </a:r>
            <a:r>
              <a:rPr lang="ja-JP" sz="4400" b="1" u="none" strike="noStrike">
                <a:ln w="19050">
                  <a:solidFill>
                    <a:srgbClr val="000000"/>
                  </a:solidFill>
                </a:ln>
                <a:solidFill>
                  <a:schemeClr val="accent4">
                    <a:lumMod val="75000"/>
                  </a:schemeClr>
                </a:solidFill>
                <a:effectLst/>
                <a:uFillTx/>
                <a:latin typeface="Meiryo"/>
                <a:ea typeface="Meiryo"/>
              </a:rPr>
              <a:t>前負荷（</a:t>
            </a:r>
            <a:r>
              <a:rPr lang="en-US" sz="4400" b="1" u="none" strike="noStrike">
                <a:ln w="19050">
                  <a:solidFill>
                    <a:srgbClr val="000000"/>
                  </a:solidFill>
                </a:ln>
                <a:solidFill>
                  <a:schemeClr val="accent4">
                    <a:lumMod val="75000"/>
                  </a:schemeClr>
                </a:solidFill>
                <a:effectLst/>
                <a:uFillTx/>
                <a:latin typeface="Meiryo"/>
                <a:ea typeface="Meiryo"/>
              </a:rPr>
              <a:t>ΔPOP</a:t>
            </a:r>
            <a:r>
              <a:rPr lang="ja-JP" sz="4400" b="1" u="none" strike="noStrike">
                <a:ln w="19050">
                  <a:solidFill>
                    <a:srgbClr val="000000"/>
                  </a:solidFill>
                </a:ln>
                <a:solidFill>
                  <a:schemeClr val="accent4">
                    <a:lumMod val="75000"/>
                  </a:schemeClr>
                </a:solidFill>
                <a:effectLst/>
                <a:uFillTx/>
                <a:latin typeface="Meiryo"/>
                <a:ea typeface="Meiryo"/>
              </a:rPr>
              <a:t>）</a:t>
            </a:r>
            <a:endParaRPr lang="en-US" sz="4600" b="1" u="none" strike="noStrike">
              <a:ln w="19050">
                <a:solidFill>
                  <a:srgbClr val="000000"/>
                </a:solidFill>
              </a:ln>
              <a:solidFill>
                <a:schemeClr val="accent4">
                  <a:lumMod val="75000"/>
                </a:schemeClr>
              </a:solidFill>
              <a:effectLst/>
              <a:uFillTx/>
              <a:latin typeface="Calibri"/>
            </a:endParaRPr>
          </a:p>
        </p:txBody>
      </p:sp>
      <p:sp>
        <p:nvSpPr>
          <p:cNvPr id="2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5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5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9. </a:t>
            </a:r>
            <a:r>
              <a:rPr lang="en-US" sz="1050" b="0" u="none" strike="noStrike">
                <a:solidFill>
                  <a:srgbClr val="808080"/>
                </a:solidFill>
                <a:effectLst/>
                <a:uFillTx/>
                <a:latin typeface="Meiryo"/>
                <a:ea typeface="Meiryo"/>
                <a:hlinkClick r:id="rId3"/>
              </a:rPr>
              <a:t>Cannesson 2005</a:t>
            </a:r>
            <a:endParaRPr lang="en-US" sz="1050" b="0" u="none" strike="noStrike">
              <a:solidFill>
                <a:srgbClr val="000000"/>
              </a:solidFill>
              <a:effectLst/>
              <a:uFillTx/>
              <a:latin typeface="Arial"/>
            </a:endParaRPr>
          </a:p>
        </p:txBody>
      </p:sp>
      <p:sp>
        <p:nvSpPr>
          <p:cNvPr id="2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16/47</a:t>
            </a:r>
            <a:endParaRPr lang="en-US" sz="1200" b="0" u="none" strike="noStrike">
              <a:solidFill>
                <a:srgbClr val="000000"/>
              </a:solidFill>
              <a:effectLst/>
              <a:uFillTx/>
              <a:latin typeface="Arial"/>
            </a:endParaRPr>
          </a:p>
        </p:txBody>
      </p:sp>
      <p:sp>
        <p:nvSpPr>
          <p:cNvPr id="263"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Meiryo"/>
                <a:ea typeface="Meiryo"/>
              </a:rPr>
              <a:t>ΔPOP </a:t>
            </a:r>
            <a:r>
              <a:rPr lang="ja-JP" sz="2400" b="1" u="none" strike="noStrike">
                <a:solidFill>
                  <a:srgbClr val="5B4A12"/>
                </a:solidFill>
                <a:effectLst/>
                <a:uFillTx/>
                <a:latin typeface="Meiryo"/>
                <a:ea typeface="Meiryo"/>
              </a:rPr>
              <a:t>呼吸性変動⇔ </a:t>
            </a:r>
            <a:r>
              <a:rPr lang="en-US" sz="2400" b="1" u="none" strike="noStrike">
                <a:solidFill>
                  <a:srgbClr val="5B4A12"/>
                </a:solidFill>
                <a:effectLst/>
                <a:uFillTx/>
                <a:latin typeface="Meiryo"/>
                <a:ea typeface="Meiryo"/>
              </a:rPr>
              <a:t>ΔPP </a:t>
            </a:r>
            <a:r>
              <a:rPr lang="ja-JP" sz="2400" b="1" u="none" strike="noStrike">
                <a:solidFill>
                  <a:srgbClr val="5B4A12"/>
                </a:solidFill>
                <a:effectLst/>
                <a:uFillTx/>
                <a:latin typeface="Meiryo"/>
                <a:ea typeface="Meiryo"/>
              </a:rPr>
              <a:t>と良好に相関</a:t>
            </a:r>
            <a:endParaRPr lang="en-US" sz="2400" b="0" u="none" strike="noStrike">
              <a:solidFill>
                <a:srgbClr val="000000"/>
              </a:solidFill>
              <a:effectLst/>
              <a:uFillTx/>
              <a:latin typeface="Arial"/>
            </a:endParaRPr>
          </a:p>
        </p:txBody>
      </p:sp>
      <p:sp>
        <p:nvSpPr>
          <p:cNvPr id="264" name="TextBox 20"/>
          <p:cNvSpPr/>
          <p:nvPr/>
        </p:nvSpPr>
        <p:spPr>
          <a:xfrm>
            <a:off x="10207440" y="227844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Meiryo"/>
                <a:ea typeface="Meiryo"/>
              </a:rPr>
              <a:t>陽圧換気</a:t>
            </a:r>
            <a:endParaRPr lang="en-US" sz="2000" b="0" u="none" strike="noStrike">
              <a:solidFill>
                <a:srgbClr val="000000"/>
              </a:solidFill>
              <a:effectLst/>
              <a:uFillTx/>
              <a:latin typeface="Arial"/>
            </a:endParaRPr>
          </a:p>
        </p:txBody>
      </p:sp>
      <p:pic>
        <p:nvPicPr>
          <p:cNvPr id="265" name="図 2"/>
          <p:cNvPicPr/>
          <p:nvPr/>
        </p:nvPicPr>
        <p:blipFill>
          <a:blip r:embed="rId4"/>
          <a:srcRect b="41910"/>
          <a:stretch/>
        </p:blipFill>
        <p:spPr>
          <a:xfrm>
            <a:off x="2306880" y="2005560"/>
            <a:ext cx="7420680" cy="319428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itleFrame"/>
          <p:cNvSpPr/>
          <p:nvPr/>
        </p:nvSpPr>
        <p:spPr>
          <a:xfrm>
            <a:off x="655200" y="603504"/>
            <a:ext cx="46085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2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3.3</a:t>
            </a:r>
            <a:r>
              <a:rPr lang="ja-JP" sz="4400" b="1" u="none" strike="noStrike">
                <a:ln w="19050">
                  <a:solidFill>
                    <a:srgbClr val="000000"/>
                  </a:solidFill>
                </a:ln>
                <a:solidFill>
                  <a:schemeClr val="accent4">
                    <a:lumMod val="75000"/>
                  </a:schemeClr>
                </a:solidFill>
                <a:effectLst/>
                <a:uFillTx/>
                <a:latin typeface="Meiryo"/>
                <a:ea typeface="Meiryo"/>
              </a:rPr>
              <a:t>　心収縮力</a:t>
            </a:r>
            <a:endParaRPr lang="en-US" sz="4600" b="1" u="none" strike="noStrike">
              <a:ln w="19050">
                <a:solidFill>
                  <a:srgbClr val="000000"/>
                </a:solidFill>
              </a:ln>
              <a:solidFill>
                <a:schemeClr val="accent4">
                  <a:lumMod val="75000"/>
                </a:schemeClr>
              </a:solidFill>
              <a:effectLst/>
              <a:uFillTx/>
              <a:latin typeface="Calibri"/>
            </a:endParaRPr>
          </a:p>
        </p:txBody>
      </p:sp>
      <p:sp>
        <p:nvSpPr>
          <p:cNvPr id="26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6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6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7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7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7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7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7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10. Pagoulatou 2021</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3"/>
              </a:rPr>
              <a:t>11. Couceiro 2012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12. Piccioli 2022</a:t>
            </a:r>
            <a:endParaRPr lang="en-US" sz="1050" b="0" u="none" strike="noStrike">
              <a:solidFill>
                <a:srgbClr val="000000"/>
              </a:solidFill>
              <a:effectLst/>
              <a:uFillTx/>
              <a:latin typeface="Arial"/>
            </a:endParaRPr>
          </a:p>
        </p:txBody>
      </p:sp>
      <p:pic>
        <p:nvPicPr>
          <p:cNvPr id="275" name="Picture 8" descr="42_contractility.png"/>
          <p:cNvPicPr/>
          <p:nvPr/>
        </p:nvPicPr>
        <p:blipFill>
          <a:blip r:embed="rId5"/>
          <a:stretch/>
        </p:blipFill>
        <p:spPr>
          <a:xfrm>
            <a:off x="640080" y="1591560"/>
            <a:ext cx="8621640" cy="4319640"/>
          </a:xfrm>
          <a:prstGeom prst="rect">
            <a:avLst/>
          </a:prstGeom>
          <a:noFill/>
          <a:ln w="0">
            <a:noFill/>
          </a:ln>
        </p:spPr>
      </p:pic>
      <p:sp>
        <p:nvSpPr>
          <p:cNvPr id="276"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277"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17/47</a:t>
            </a:r>
            <a:endParaRPr lang="en-US" sz="1200" b="0" u="none" strike="noStrike">
              <a:solidFill>
                <a:srgbClr val="000000"/>
              </a:solidFill>
              <a:effectLst/>
              <a:uFillTx/>
              <a:latin typeface="Arial"/>
            </a:endParaRPr>
          </a:p>
        </p:txBody>
      </p:sp>
      <p:sp>
        <p:nvSpPr>
          <p:cNvPr id="278" name="yac"/>
          <p:cNvSpPr/>
          <p:nvPr/>
        </p:nvSpPr>
        <p:spPr>
          <a:xfrm>
            <a:off x="640080" y="2801160"/>
            <a:ext cx="1398814" cy="113727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Meiryo"/>
                <a:ea typeface="Meiryo"/>
              </a:rPr>
              <a:t>容積</a:t>
            </a:r>
            <a:br>
              <a:rPr sz="2200"/>
            </a:br>
            <a:r>
              <a:rPr lang="en-US" sz="2200" b="0" u="none" strike="noStrike">
                <a:solidFill>
                  <a:srgbClr val="8C8C8C"/>
                </a:solidFill>
                <a:effectLst/>
                <a:uFillTx/>
                <a:latin typeface="Meiryo"/>
                <a:ea typeface="Meiryo"/>
              </a:rPr>
              <a:t>(AC)</a:t>
            </a:r>
            <a:endParaRPr lang="en-US" sz="2200" b="0" u="none" strike="noStrike">
              <a:solidFill>
                <a:srgbClr val="000000"/>
              </a:solidFill>
              <a:effectLst/>
              <a:uFillTx/>
              <a:latin typeface="Arial"/>
            </a:endParaRPr>
          </a:p>
        </p:txBody>
      </p:sp>
      <p:sp>
        <p:nvSpPr>
          <p:cNvPr id="279" name="hino"/>
          <p:cNvSpPr/>
          <p:nvPr/>
        </p:nvSpPr>
        <p:spPr>
          <a:xfrm>
            <a:off x="6191640" y="1986480"/>
            <a:ext cx="3706920" cy="47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ja-JP" sz="2200" b="1" u="none" strike="noStrike">
                <a:solidFill>
                  <a:srgbClr val="00A8AA"/>
                </a:solidFill>
                <a:effectLst/>
                <a:uFillTx/>
                <a:latin typeface="Meiryo"/>
                <a:ea typeface="Meiryo"/>
              </a:rPr>
              <a:t>高収縮</a:t>
            </a:r>
            <a:endParaRPr lang="en-US" sz="2200" b="0" u="none" strike="noStrike">
              <a:solidFill>
                <a:srgbClr val="000000"/>
              </a:solidFill>
              <a:effectLst/>
              <a:uFillTx/>
              <a:latin typeface="Arial"/>
            </a:endParaRPr>
          </a:p>
        </p:txBody>
      </p:sp>
      <p:sp>
        <p:nvSpPr>
          <p:cNvPr id="280" name="hilist"/>
          <p:cNvSpPr/>
          <p:nvPr/>
        </p:nvSpPr>
        <p:spPr>
          <a:xfrm>
            <a:off x="6280919" y="2567520"/>
            <a:ext cx="5803200" cy="103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00A8AA"/>
                </a:solidFill>
                <a:effectLst/>
                <a:uFillTx/>
                <a:latin typeface="Meiryo"/>
                <a:ea typeface="Meiryo"/>
              </a:rPr>
              <a:t>→ 立ち上がり勾配↑</a:t>
            </a:r>
            <a:endParaRPr lang="en-US" sz="2200" b="0" u="none" strike="noStrike">
              <a:solidFill>
                <a:srgbClr val="000000"/>
              </a:solidFill>
              <a:effectLst/>
              <a:uFillTx/>
              <a:latin typeface="Arial"/>
            </a:endParaRPr>
          </a:p>
          <a:p>
            <a:pPr defTabSz="914400">
              <a:lnSpc>
                <a:spcPct val="100000"/>
              </a:lnSpc>
            </a:pPr>
            <a:r>
              <a:rPr lang="en-US" sz="2200" b="1" u="none" strike="noStrike">
                <a:solidFill>
                  <a:srgbClr val="00A8AA"/>
                </a:solidFill>
                <a:effectLst/>
                <a:uFillTx/>
                <a:latin typeface="Meiryo"/>
                <a:ea typeface="Meiryo"/>
              </a:rPr>
              <a:t>→ 収縮期ピークが早く・尖鋭化</a:t>
            </a:r>
            <a:br>
              <a:rPr sz="2200"/>
            </a:br>
            <a:endParaRPr lang="en-US" sz="2200" b="0" u="none" strike="noStrike">
              <a:solidFill>
                <a:srgbClr val="000000"/>
              </a:solidFill>
              <a:effectLst/>
              <a:uFillTx/>
              <a:latin typeface="Arial"/>
            </a:endParaRPr>
          </a:p>
        </p:txBody>
      </p:sp>
      <p:sp>
        <p:nvSpPr>
          <p:cNvPr id="281" name="ydv"/>
          <p:cNvSpPr/>
          <p:nvPr/>
        </p:nvSpPr>
        <p:spPr>
          <a:xfrm>
            <a:off x="273600" y="4884480"/>
            <a:ext cx="219991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Meiryo"/>
                <a:ea typeface="Meiryo"/>
              </a:rPr>
              <a:t>一次微分</a:t>
            </a:r>
            <a:br>
              <a:rPr sz="2200"/>
            </a:br>
            <a:r>
              <a:rPr lang="en-US" sz="2200" b="0" u="none" strike="noStrike">
                <a:solidFill>
                  <a:srgbClr val="8C8C8C"/>
                </a:solidFill>
                <a:effectLst/>
                <a:uFillTx/>
                <a:latin typeface="Meiryo"/>
                <a:ea typeface="Meiryo"/>
              </a:rPr>
              <a:t>dV/dt</a:t>
            </a:r>
            <a:endParaRPr lang="en-US" sz="2200" b="0" u="none" strike="noStrike">
              <a:solidFill>
                <a:srgbClr val="000000"/>
              </a:solidFill>
              <a:effectLst/>
              <a:uFillTx/>
              <a:latin typeface="Arial"/>
            </a:endParaRPr>
          </a:p>
        </p:txBody>
      </p:sp>
      <p:sp>
        <p:nvSpPr>
          <p:cNvPr id="282" name="cap2"/>
          <p:cNvSpPr/>
          <p:nvPr/>
        </p:nvSpPr>
        <p:spPr>
          <a:xfrm>
            <a:off x="640080" y="6024600"/>
            <a:ext cx="11134080" cy="46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0" u="none" strike="noStrike">
                <a:solidFill>
                  <a:srgbClr val="8C8C8C"/>
                </a:solidFill>
                <a:effectLst/>
                <a:uFillTx/>
                <a:latin typeface="Meiryo"/>
                <a:ea typeface="Meiryo"/>
              </a:rPr>
              <a:t>※ 収縮力を単独で変えた PPG </a:t>
            </a:r>
            <a:r>
              <a:rPr lang="ja-JP" sz="2200" b="0" u="none" strike="noStrike">
                <a:solidFill>
                  <a:srgbClr val="8C8C8C"/>
                </a:solidFill>
                <a:effectLst/>
                <a:uFillTx/>
                <a:latin typeface="Meiryo"/>
                <a:ea typeface="Meiryo"/>
              </a:rPr>
              <a:t>実測はなし → 動脈圧波形モデルからの外挿</a:t>
            </a:r>
            <a:endParaRPr lang="en-US" sz="2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28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3.4  </a:t>
            </a:r>
            <a:r>
              <a:rPr lang="ja-JP" sz="4400" b="1" u="none" strike="noStrike">
                <a:ln w="19050">
                  <a:solidFill>
                    <a:srgbClr val="000000"/>
                  </a:solidFill>
                </a:ln>
                <a:solidFill>
                  <a:schemeClr val="accent4">
                    <a:lumMod val="75000"/>
                  </a:schemeClr>
                </a:solidFill>
                <a:effectLst/>
                <a:uFillTx/>
                <a:latin typeface="Meiryo"/>
                <a:ea typeface="Meiryo"/>
              </a:rPr>
              <a:t>末梢血管トーヌス</a:t>
            </a:r>
            <a:endParaRPr lang="en-US" sz="4600" b="1" u="none" strike="noStrike">
              <a:ln w="19050">
                <a:solidFill>
                  <a:srgbClr val="000000"/>
                </a:solidFill>
              </a:ln>
              <a:solidFill>
                <a:schemeClr val="accent4">
                  <a:lumMod val="75000"/>
                </a:schemeClr>
              </a:solidFill>
              <a:effectLst/>
              <a:uFillTx/>
              <a:latin typeface="Calibri"/>
            </a:endParaRPr>
          </a:p>
        </p:txBody>
      </p:sp>
      <p:sp>
        <p:nvSpPr>
          <p:cNvPr id="28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8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8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8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8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8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9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9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13. Awad 2007</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14. Tusman 2019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15. Chowienczyk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6"/>
              </a:rPr>
              <a:t>16. Takazawa 1998</a:t>
            </a:r>
            <a:endParaRPr lang="en-US" sz="1050" b="0" u="none" strike="noStrike">
              <a:solidFill>
                <a:srgbClr val="000000"/>
              </a:solidFill>
              <a:effectLst/>
              <a:uFillTx/>
              <a:latin typeface="Arial"/>
            </a:endParaRPr>
          </a:p>
        </p:txBody>
      </p:sp>
      <p:pic>
        <p:nvPicPr>
          <p:cNvPr id="292" name="Picture 8" descr="10_svr.png"/>
          <p:cNvPicPr/>
          <p:nvPr/>
        </p:nvPicPr>
        <p:blipFill>
          <a:blip r:embed="rId7"/>
          <a:stretch/>
        </p:blipFill>
        <p:spPr>
          <a:xfrm>
            <a:off x="2237760" y="1491480"/>
            <a:ext cx="7692120" cy="4319640"/>
          </a:xfrm>
          <a:prstGeom prst="rect">
            <a:avLst/>
          </a:prstGeom>
          <a:noFill/>
          <a:ln w="0">
            <a:noFill/>
          </a:ln>
        </p:spPr>
      </p:pic>
      <p:sp>
        <p:nvSpPr>
          <p:cNvPr id="29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18/47</a:t>
            </a:r>
            <a:endParaRPr lang="en-US" sz="1200" b="0" u="none" strike="noStrike">
              <a:solidFill>
                <a:srgbClr val="000000"/>
              </a:solidFill>
              <a:effectLst/>
              <a:uFillTx/>
              <a:latin typeface="Arial"/>
            </a:endParaRPr>
          </a:p>
        </p:txBody>
      </p:sp>
      <p:sp>
        <p:nvSpPr>
          <p:cNvPr id="294" name="sub"/>
          <p:cNvSpPr/>
          <p:nvPr/>
        </p:nvSpPr>
        <p:spPr>
          <a:xfrm>
            <a:off x="2237760" y="5942880"/>
            <a:ext cx="76921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pPr>
            <a:r>
              <a:rPr lang="ja-JP" sz="2400" b="1" u="none" strike="noStrike">
                <a:solidFill>
                  <a:srgbClr val="1A1A1A"/>
                </a:solidFill>
                <a:effectLst/>
                <a:uFillTx/>
                <a:latin typeface="Meiryo"/>
                <a:ea typeface="Meiryo"/>
              </a:rPr>
              <a:t>血管ト⁠ー⁠ヌ⁠スの変化 → </a:t>
            </a:r>
            <a:endParaRPr lang="en-US" sz="2400" b="0" u="none" strike="noStrike">
              <a:solidFill>
                <a:srgbClr val="000000"/>
              </a:solidFill>
              <a:effectLst/>
              <a:uFillTx/>
              <a:latin typeface="Arial"/>
            </a:endParaRPr>
          </a:p>
          <a:p>
            <a:pPr algn="ctr" defTabSz="914400">
              <a:lnSpc>
                <a:spcPct val="100000"/>
              </a:lnSpc>
            </a:pPr>
            <a:endParaRPr lang="en-US" sz="2400" b="0" u="none" strike="noStrike">
              <a:solidFill>
                <a:srgbClr val="000000"/>
              </a:solidFill>
              <a:effectLst/>
              <a:uFillTx/>
              <a:latin typeface="Arial"/>
            </a:endParaRPr>
            <a:r>
              <a:rPr lang="ja-JP" sz="2400" b="1" u="none" strike="noStrike">
                <a:solidFill>
                  <a:srgbClr val="1A1A1A"/>
                </a:solidFill>
                <a:effectLst/>
                <a:uFillTx/>
                <a:latin typeface="Meiryo"/>
                <a:ea typeface="Meiryo"/>
              </a:rPr>
              <a:t/>
            </a:r>
          </a:p>
        </p:txBody>
      </p:sp>
      <p:sp>
        <p:nvSpPr>
          <p:cNvPr id="295" name="t_l"/>
          <p:cNvSpPr/>
          <p:nvPr/>
        </p:nvSpPr>
        <p:spPr>
          <a:xfrm>
            <a:off x="24224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Meiryo"/>
                <a:ea typeface="Meiryo"/>
              </a:rPr>
              <a:t>血管拡張（ト⁠ー⁠ヌ⁠ス↓）</a:t>
            </a:r>
            <a:endParaRPr lang="en-US" sz="1700" b="0" u="none" strike="noStrike">
              <a:solidFill>
                <a:srgbClr val="000000"/>
              </a:solidFill>
              <a:effectLst/>
              <a:uFillTx/>
              <a:latin typeface="Arial"/>
            </a:endParaRPr>
          </a:p>
        </p:txBody>
      </p:sp>
      <p:sp>
        <p:nvSpPr>
          <p:cNvPr id="296" name="t_r"/>
          <p:cNvSpPr/>
          <p:nvPr/>
        </p:nvSpPr>
        <p:spPr>
          <a:xfrm>
            <a:off x="61610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Meiryo"/>
                <a:ea typeface="Meiryo"/>
              </a:rPr>
              <a:t>血管収縮（ト⁠ー⁠ヌ⁠ス↑）</a:t>
            </a:r>
            <a:endParaRPr lang="en-US" sz="1700" b="0" u="none" strike="noStrike">
              <a:solidFill>
                <a:srgbClr val="000000"/>
              </a:solidFill>
              <a:effectLst/>
              <a:uFillTx/>
              <a:latin typeface="Arial"/>
            </a:endParaRPr>
          </a:p>
        </p:txBody>
      </p:sp>
      <p:sp>
        <p:nvSpPr>
          <p:cNvPr id="297" name="r_l"/>
          <p:cNvSpPr/>
          <p:nvPr/>
        </p:nvSpPr>
        <p:spPr>
          <a:xfrm>
            <a:off x="213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00A8AA"/>
                </a:solidFill>
                <a:effectLst/>
                <a:uFillTx/>
                <a:latin typeface="Meiryo"/>
                <a:ea typeface="Meiryo"/>
              </a:rPr>
              <a:t>反射波 ↓　</a:t>
            </a:r>
            <a:r>
              <a:rPr lang="en-US" sz="2200" b="1" u="none" strike="noStrike">
                <a:solidFill>
                  <a:srgbClr val="00A8AA"/>
                </a:solidFill>
                <a:effectLst/>
                <a:uFillTx/>
                <a:latin typeface="Meiryo"/>
                <a:ea typeface="Meiryo"/>
              </a:rPr>
              <a:t>RI ↓</a:t>
            </a:r>
            <a:endParaRPr lang="en-US" sz="2000" b="0" u="none" strike="noStrike">
              <a:solidFill>
                <a:srgbClr val="000000"/>
              </a:solidFill>
              <a:effectLst/>
              <a:uFillTx/>
              <a:latin typeface="Arial"/>
            </a:endParaRPr>
          </a:p>
        </p:txBody>
      </p:sp>
      <p:sp>
        <p:nvSpPr>
          <p:cNvPr id="298" name="r_r"/>
          <p:cNvSpPr/>
          <p:nvPr/>
        </p:nvSpPr>
        <p:spPr>
          <a:xfrm>
            <a:off x="654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E8853B"/>
                </a:solidFill>
                <a:effectLst/>
                <a:uFillTx/>
                <a:latin typeface="Meiryo"/>
                <a:ea typeface="Meiryo"/>
              </a:rPr>
              <a:t>反射波 ↑　</a:t>
            </a:r>
            <a:r>
              <a:rPr lang="en-US" sz="2200" b="1" u="none" strike="noStrike">
                <a:solidFill>
                  <a:srgbClr val="E8853B"/>
                </a:solidFill>
                <a:effectLst/>
                <a:uFillTx/>
                <a:latin typeface="Meiryo"/>
                <a:ea typeface="Meiryo"/>
              </a:rPr>
              <a:t>RI ↑</a:t>
            </a:r>
            <a:endParaRPr lang="en-US" sz="2000" b="0" u="none" strike="noStrike">
              <a:solidFill>
                <a:srgbClr val="000000"/>
              </a:solidFill>
              <a:effectLst/>
              <a:uFillTx/>
              <a:latin typeface="Arial"/>
            </a:endParaRPr>
          </a:p>
        </p:txBody>
      </p:sp>
      <p:sp>
        <p:nvSpPr>
          <p:cNvPr id="299" name="note"/>
          <p:cNvSpPr/>
          <p:nvPr/>
        </p:nvSpPr>
        <p:spPr>
          <a:xfrm>
            <a:off x="1622160" y="6450480"/>
            <a:ext cx="10099800" cy="29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100" b="0" u="none" strike="noStrike">
                <a:solidFill>
                  <a:srgbClr val="595959"/>
                </a:solidFill>
                <a:effectLst/>
                <a:uFillTx/>
                <a:latin typeface="Meiryo"/>
                <a:ea typeface="Meiryo"/>
              </a:rPr>
              <a:t>＋ 切痕位置も同方向 </a:t>
            </a:r>
            <a:r>
              <a:rPr lang="en-US" sz="1100" b="0" u="none" strike="noStrike">
                <a:solidFill>
                  <a:srgbClr val="595959"/>
                </a:solidFill>
                <a:effectLst/>
                <a:uFillTx/>
                <a:latin typeface="Meiryo"/>
                <a:ea typeface="Meiryo"/>
              </a:rPr>
              <a:t>(Tusman 2019)</a:t>
            </a:r>
            <a:r>
              <a:rPr lang="ja-JP" sz="1100" b="0" u="none" strike="noStrike">
                <a:solidFill>
                  <a:srgbClr val="595959"/>
                </a:solidFill>
                <a:effectLst/>
                <a:uFillTx/>
                <a:latin typeface="Meiryo"/>
                <a:ea typeface="Meiryo"/>
              </a:rPr>
              <a:t>　／　振幅より「パ⁠ル⁠ス幅」が </a:t>
            </a:r>
            <a:r>
              <a:rPr lang="en-US" sz="1100" b="0" u="none" strike="noStrike">
                <a:solidFill>
                  <a:srgbClr val="595959"/>
                </a:solidFill>
                <a:effectLst/>
                <a:uFillTx/>
                <a:latin typeface="Meiryo"/>
                <a:ea typeface="Meiryo"/>
              </a:rPr>
              <a:t>SVR </a:t>
            </a:r>
            <a:r>
              <a:rPr lang="ja-JP" sz="1100" b="0" u="none" strike="noStrike">
                <a:solidFill>
                  <a:srgbClr val="595959"/>
                </a:solidFill>
                <a:effectLst/>
                <a:uFillTx/>
                <a:latin typeface="Meiryo"/>
                <a:ea typeface="Meiryo"/>
              </a:rPr>
              <a:t>を反映 </a:t>
            </a:r>
            <a:r>
              <a:rPr lang="en-US" sz="1100" b="0" u="none" strike="noStrike">
                <a:solidFill>
                  <a:srgbClr val="595959"/>
                </a:solidFill>
                <a:effectLst/>
                <a:uFillTx/>
                <a:latin typeface="Meiryo"/>
                <a:ea typeface="Meiryo"/>
              </a:rPr>
              <a:t>(Awad 2007)</a:t>
            </a:r>
            <a:endParaRPr lang="en-US" sz="11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itleFrame"/>
          <p:cNvSpPr/>
          <p:nvPr/>
        </p:nvSpPr>
        <p:spPr>
          <a:xfrm>
            <a:off x="655200" y="603504"/>
            <a:ext cx="677138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0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3.5  </a:t>
            </a:r>
            <a:r>
              <a:rPr lang="ja-JP" sz="4400" b="1" u="none" strike="noStrike">
                <a:ln w="19050">
                  <a:solidFill>
                    <a:srgbClr val="000000"/>
                  </a:solidFill>
                </a:ln>
                <a:solidFill>
                  <a:schemeClr val="accent4">
                    <a:lumMod val="75000"/>
                  </a:schemeClr>
                </a:solidFill>
                <a:effectLst/>
                <a:uFillTx/>
                <a:latin typeface="Meiryo"/>
                <a:ea typeface="Meiryo"/>
              </a:rPr>
              <a:t>大血管エラスタンス</a:t>
            </a:r>
            <a:endParaRPr lang="en-US" sz="4600" b="1" u="none" strike="noStrike">
              <a:ln w="19050">
                <a:solidFill>
                  <a:srgbClr val="000000"/>
                </a:solidFill>
              </a:ln>
              <a:solidFill>
                <a:schemeClr val="accent4">
                  <a:lumMod val="75000"/>
                </a:schemeClr>
              </a:solidFill>
              <a:effectLst/>
              <a:uFillTx/>
              <a:latin typeface="Calibri"/>
            </a:endParaRPr>
          </a:p>
        </p:txBody>
      </p:sp>
      <p:sp>
        <p:nvSpPr>
          <p:cNvPr id="30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0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0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0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0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0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0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0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5. Dawber 1973</a:t>
            </a:r>
            <a:endParaRPr lang="en-US" sz="1050" b="0" u="none" strike="noStrike">
              <a:solidFill>
                <a:srgbClr val="000000"/>
              </a:solidFill>
              <a:effectLst/>
              <a:uFillTx/>
              <a:latin typeface="Arial"/>
            </a:endParaRPr>
          </a:p>
        </p:txBody>
      </p:sp>
      <p:pic>
        <p:nvPicPr>
          <p:cNvPr id="309" name="Picture 8" descr="11_stiffness_series.png"/>
          <p:cNvPicPr/>
          <p:nvPr/>
        </p:nvPicPr>
        <p:blipFill>
          <a:blip r:embed="rId5"/>
          <a:stretch/>
        </p:blipFill>
        <p:spPr>
          <a:xfrm>
            <a:off x="1563840" y="1800000"/>
            <a:ext cx="9039600" cy="4319640"/>
          </a:xfrm>
          <a:prstGeom prst="rect">
            <a:avLst/>
          </a:prstGeom>
          <a:noFill/>
          <a:ln w="0">
            <a:noFill/>
          </a:ln>
        </p:spPr>
      </p:pic>
      <p:sp>
        <p:nvSpPr>
          <p:cNvPr id="31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19/47</a:t>
            </a:r>
            <a:endParaRPr lang="en-US" sz="1200" b="0" u="none" strike="noStrike">
              <a:solidFill>
                <a:srgbClr val="000000"/>
              </a:solidFill>
              <a:effectLst/>
              <a:uFillTx/>
              <a:latin typeface="Arial"/>
            </a:endParaRPr>
          </a:p>
        </p:txBody>
      </p:sp>
      <p:sp>
        <p:nvSpPr>
          <p:cNvPr id="311" name="t_g"/>
          <p:cNvSpPr/>
          <p:nvPr/>
        </p:nvSpPr>
        <p:spPr>
          <a:xfrm>
            <a:off x="192564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0AD47"/>
                </a:solidFill>
                <a:effectLst/>
                <a:uFillTx/>
                <a:latin typeface="Meiryo"/>
                <a:ea typeface="Meiryo"/>
              </a:rPr>
              <a:t>若年・柔らかい</a:t>
            </a:r>
            <a:endParaRPr lang="en-US" sz="2200" b="0" u="none" strike="noStrike">
              <a:solidFill>
                <a:srgbClr val="000000"/>
              </a:solidFill>
              <a:effectLst/>
              <a:uFillTx/>
              <a:latin typeface="Arial"/>
            </a:endParaRPr>
          </a:p>
        </p:txBody>
      </p:sp>
      <p:sp>
        <p:nvSpPr>
          <p:cNvPr id="312" name="t_m"/>
          <p:cNvSpPr/>
          <p:nvPr/>
        </p:nvSpPr>
        <p:spPr>
          <a:xfrm>
            <a:off x="4908960" y="1929600"/>
            <a:ext cx="253080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F9000"/>
                </a:solidFill>
                <a:effectLst/>
                <a:uFillTx/>
                <a:latin typeface="Meiryo"/>
                <a:ea typeface="Meiryo"/>
              </a:rPr>
              <a:t>中間</a:t>
            </a:r>
            <a:endParaRPr lang="en-US" sz="2200" b="0" u="none" strike="noStrike">
              <a:solidFill>
                <a:srgbClr val="000000"/>
              </a:solidFill>
              <a:effectLst/>
              <a:uFillTx/>
              <a:latin typeface="Arial"/>
            </a:endParaRPr>
          </a:p>
        </p:txBody>
      </p:sp>
      <p:sp>
        <p:nvSpPr>
          <p:cNvPr id="313" name="t_r"/>
          <p:cNvSpPr/>
          <p:nvPr/>
        </p:nvSpPr>
        <p:spPr>
          <a:xfrm>
            <a:off x="789192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0000"/>
                </a:solidFill>
                <a:effectLst/>
                <a:uFillTx/>
                <a:latin typeface="Meiryo"/>
                <a:ea typeface="Meiryo"/>
              </a:rPr>
              <a:t>高齢・硬い</a:t>
            </a:r>
            <a:endParaRPr lang="en-US" sz="2200" b="0" u="none" strike="noStrike">
              <a:solidFill>
                <a:srgbClr val="000000"/>
              </a:solidFill>
              <a:effectLst/>
              <a:uFillTx/>
              <a:latin typeface="Arial"/>
            </a:endParaRPr>
          </a:p>
        </p:txBody>
      </p:sp>
      <p:sp>
        <p:nvSpPr>
          <p:cNvPr id="314" name="a_g"/>
          <p:cNvSpPr/>
          <p:nvPr/>
        </p:nvSpPr>
        <p:spPr>
          <a:xfrm>
            <a:off x="3078360" y="3193200"/>
            <a:ext cx="3827136"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0AD47"/>
                </a:solidFill>
                <a:effectLst/>
                <a:uFillTx/>
                <a:latin typeface="Meiryo"/>
                <a:ea typeface="Meiryo"/>
              </a:rPr>
              <a:t>明瞭な切痕</a:t>
            </a:r>
            <a:br>
              <a:rPr sz="2200"/>
            </a:br>
            <a:r>
              <a:rPr lang="ja-JP" sz="2200" b="1" u="none" strike="noStrike">
                <a:solidFill>
                  <a:srgbClr val="70AD47"/>
                </a:solidFill>
                <a:effectLst/>
                <a:uFillTx/>
                <a:latin typeface="Meiryo"/>
                <a:ea typeface="Meiryo"/>
              </a:rPr>
              <a:t>＋拡張期ピーク</a:t>
            </a:r>
            <a:endParaRPr lang="en-US" sz="2200" b="0" u="none" strike="noStrike">
              <a:solidFill>
                <a:srgbClr val="000000"/>
              </a:solidFill>
              <a:effectLst/>
              <a:uFillTx/>
              <a:latin typeface="Arial"/>
            </a:endParaRPr>
          </a:p>
        </p:txBody>
      </p:sp>
      <p:sp>
        <p:nvSpPr>
          <p:cNvPr id="315" name="a_r"/>
          <p:cNvSpPr/>
          <p:nvPr/>
        </p:nvSpPr>
        <p:spPr>
          <a:xfrm>
            <a:off x="9534600" y="3184560"/>
            <a:ext cx="2549519"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C00000"/>
                </a:solidFill>
                <a:effectLst/>
                <a:uFillTx/>
                <a:latin typeface="Meiryo"/>
                <a:ea typeface="Meiryo"/>
              </a:rPr>
              <a:t>一峰性化</a:t>
            </a:r>
            <a:br>
              <a:rPr sz="2200"/>
            </a:br>
            <a:r>
              <a:rPr lang="ja-JP" sz="2200" b="1" u="none" strike="noStrike">
                <a:solidFill>
                  <a:srgbClr val="C00000"/>
                </a:solidFill>
                <a:effectLst/>
                <a:uFillTx/>
                <a:latin typeface="Meiryo"/>
                <a:ea typeface="Meiryo"/>
              </a:rPr>
              <a:t>切痕は消失</a:t>
            </a:r>
            <a:endParaRPr lang="en-US" sz="2200" b="0" u="none" strike="noStrike">
              <a:solidFill>
                <a:srgbClr val="000000"/>
              </a:solidFill>
              <a:effectLst/>
              <a:uFillTx/>
              <a:latin typeface="Arial"/>
            </a:endParaRPr>
          </a:p>
        </p:txBody>
      </p:sp>
      <p:sp>
        <p:nvSpPr>
          <p:cNvPr id="316" name="cap"/>
          <p:cNvSpPr/>
          <p:nvPr/>
        </p:nvSpPr>
        <p:spPr>
          <a:xfrm>
            <a:off x="1563840" y="5709600"/>
            <a:ext cx="903960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Meiryo"/>
                <a:ea typeface="Meiryo"/>
              </a:rPr>
              <a:t>スティフネス上昇 → 反射波の早期帰還 → 収縮期へ融合 → 一峰性化</a:t>
            </a:r>
            <a:endParaRPr lang="en-US" sz="22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TitleFrame"/>
          <p:cNvSpPr/>
          <p:nvPr/>
        </p:nvSpPr>
        <p:spPr>
          <a:xfrm>
            <a:off x="655200" y="603504"/>
            <a:ext cx="53035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3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3.6  </a:t>
            </a:r>
            <a:r>
              <a:rPr lang="ja-JP" sz="4400" b="1" u="none" strike="noStrike">
                <a:ln w="19050">
                  <a:solidFill>
                    <a:srgbClr val="000000"/>
                  </a:solidFill>
                </a:ln>
                <a:solidFill>
                  <a:schemeClr val="accent4">
                    <a:lumMod val="75000"/>
                  </a:schemeClr>
                </a:solidFill>
                <a:effectLst/>
                <a:uFillTx/>
                <a:latin typeface="Meiryo"/>
                <a:ea typeface="Meiryo"/>
              </a:rPr>
              <a:t>後負荷の差</a:t>
            </a:r>
            <a:endParaRPr lang="en-US" sz="4600" b="1" u="none" strike="noStrike">
              <a:ln w="19050">
                <a:solidFill>
                  <a:srgbClr val="000000"/>
                </a:solidFill>
              </a:ln>
              <a:solidFill>
                <a:schemeClr val="accent4">
                  <a:lumMod val="75000"/>
                </a:schemeClr>
              </a:solidFill>
              <a:effectLst/>
              <a:uFillTx/>
              <a:latin typeface="Calibri"/>
            </a:endParaRPr>
          </a:p>
        </p:txBody>
      </p:sp>
      <p:sp>
        <p:nvSpPr>
          <p:cNvPr id="3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13. Awad 2007</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SVR</a:t>
            </a:r>
            <a:r>
              <a:rPr lang="ja-JP" sz="1050" b="0" u="none" strike="noStrike">
                <a:solidFill>
                  <a:srgbClr val="808080"/>
                </a:solidFill>
                <a:effectLst/>
                <a:uFillTx/>
                <a:latin typeface="Meiryo"/>
                <a:ea typeface="Meiryo"/>
              </a:rPr>
              <a:t>：体血管抵抗（</a:t>
            </a:r>
            <a:r>
              <a:rPr lang="en-US" sz="1050" b="0" u="none" strike="noStrike">
                <a:solidFill>
                  <a:srgbClr val="808080"/>
                </a:solidFill>
                <a:effectLst/>
                <a:uFillTx/>
                <a:latin typeface="Meiryo"/>
                <a:ea typeface="Meiryo"/>
              </a:rPr>
              <a:t>systemic vascular resistance</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pic>
        <p:nvPicPr>
          <p:cNvPr id="326" name="Picture 8" descr="07_factor_2axis.png"/>
          <p:cNvPicPr/>
          <p:nvPr/>
        </p:nvPicPr>
        <p:blipFill>
          <a:blip r:embed="rId5"/>
          <a:srcRect t="16138" b="47582"/>
          <a:stretch/>
        </p:blipFill>
        <p:spPr>
          <a:xfrm>
            <a:off x="1482480" y="2123640"/>
            <a:ext cx="8327880" cy="1762560"/>
          </a:xfrm>
          <a:prstGeom prst="rect">
            <a:avLst/>
          </a:prstGeom>
          <a:noFill/>
          <a:ln w="0">
            <a:noFill/>
          </a:ln>
        </p:spPr>
      </p:pic>
      <p:pic>
        <p:nvPicPr>
          <p:cNvPr id="327" name="Picture 8b" descr="07_factor_2axis.png"/>
          <p:cNvPicPr/>
          <p:nvPr/>
        </p:nvPicPr>
        <p:blipFill>
          <a:blip r:embed="rId6"/>
          <a:srcRect t="56511"/>
          <a:stretch/>
        </p:blipFill>
        <p:spPr>
          <a:xfrm>
            <a:off x="1482480" y="4341600"/>
            <a:ext cx="8327880" cy="2112840"/>
          </a:xfrm>
          <a:prstGeom prst="rect">
            <a:avLst/>
          </a:prstGeom>
          <a:noFill/>
          <a:ln w="0">
            <a:noFill/>
          </a:ln>
        </p:spPr>
      </p:pic>
      <p:sp>
        <p:nvSpPr>
          <p:cNvPr id="3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20/47</a:t>
            </a:r>
            <a:endParaRPr lang="en-US" sz="1200" b="0" u="none" strike="noStrike">
              <a:solidFill>
                <a:srgbClr val="000000"/>
              </a:solidFill>
              <a:effectLst/>
              <a:uFillTx/>
              <a:latin typeface="Arial"/>
            </a:endParaRPr>
          </a:p>
        </p:txBody>
      </p:sp>
      <p:sp>
        <p:nvSpPr>
          <p:cNvPr id="329" name="h1"/>
          <p:cNvSpPr/>
          <p:nvPr/>
        </p:nvSpPr>
        <p:spPr>
          <a:xfrm>
            <a:off x="1519560" y="1812240"/>
            <a:ext cx="933480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E8853B"/>
                </a:solidFill>
                <a:effectLst/>
                <a:uFillTx/>
                <a:latin typeface="Meiryo"/>
                <a:ea typeface="Meiryo"/>
              </a:rPr>
              <a:t>① SVR</a:t>
            </a:r>
            <a:r>
              <a:rPr lang="ja-JP" sz="2200" b="1" u="none" strike="noStrike">
                <a:solidFill>
                  <a:srgbClr val="E8853B"/>
                </a:solidFill>
                <a:effectLst/>
                <a:uFillTx/>
                <a:latin typeface="Meiryo"/>
                <a:ea typeface="Meiryo"/>
              </a:rPr>
              <a:t>・血管トーヌス ↑ → 反射波・切痕が「高く」なる</a:t>
            </a:r>
            <a:endParaRPr lang="en-US" sz="2200" b="0" u="none" strike="noStrike">
              <a:solidFill>
                <a:srgbClr val="000000"/>
              </a:solidFill>
              <a:effectLst/>
              <a:uFillTx/>
              <a:latin typeface="Arial"/>
            </a:endParaRPr>
          </a:p>
        </p:txBody>
      </p:sp>
      <p:sp>
        <p:nvSpPr>
          <p:cNvPr id="330" name="takasa"/>
          <p:cNvSpPr/>
          <p:nvPr/>
        </p:nvSpPr>
        <p:spPr>
          <a:xfrm>
            <a:off x="9225720" y="2914560"/>
            <a:ext cx="1937520" cy="30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2200" b="1" u="none" strike="noStrike">
                <a:solidFill>
                  <a:srgbClr val="E8853B"/>
                </a:solidFill>
                <a:effectLst/>
                <a:uFillTx/>
                <a:latin typeface="Meiryo"/>
                <a:ea typeface="Meiryo"/>
              </a:rPr>
              <a:t>高さ↑</a:t>
            </a:r>
            <a:endParaRPr lang="en-US" sz="2000" b="0" u="none" strike="noStrike">
              <a:solidFill>
                <a:srgbClr val="000000"/>
              </a:solidFill>
              <a:effectLst/>
              <a:uFillTx/>
              <a:latin typeface="Arial"/>
            </a:endParaRPr>
          </a:p>
        </p:txBody>
      </p:sp>
      <p:sp>
        <p:nvSpPr>
          <p:cNvPr id="331" name="h2"/>
          <p:cNvSpPr/>
          <p:nvPr/>
        </p:nvSpPr>
        <p:spPr>
          <a:xfrm>
            <a:off x="657359" y="4311360"/>
            <a:ext cx="11426760" cy="47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B8860B"/>
                </a:solidFill>
                <a:effectLst/>
                <a:uFillTx/>
                <a:latin typeface="Meiryo"/>
                <a:ea typeface="Meiryo"/>
              </a:rPr>
              <a:t>② 大血管エラスタンス ↑ → 反射波が「早く」帰る→ 下降脚に変曲点</a:t>
            </a:r>
            <a:endParaRPr lang="en-US" sz="2200" b="0" u="none" strike="noStrike">
              <a:solidFill>
                <a:srgbClr val="000000"/>
              </a:solidFill>
              <a:effectLst/>
              <a:uFillTx/>
              <a:latin typeface="Arial"/>
            </a:endParaRPr>
          </a:p>
        </p:txBody>
      </p:sp>
      <p:sp>
        <p:nvSpPr>
          <p:cNvPr id="332" name="jiso"/>
          <p:cNvSpPr/>
          <p:nvPr/>
        </p:nvSpPr>
        <p:spPr>
          <a:xfrm>
            <a:off x="5806440" y="4864680"/>
            <a:ext cx="2003040" cy="35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Meiryo"/>
                <a:ea typeface="Meiryo"/>
              </a:rPr>
              <a:t>時相 早い</a:t>
            </a:r>
            <a:endParaRPr lang="en-US" sz="2000" b="0" u="none" strike="noStrike">
              <a:solidFill>
                <a:srgbClr val="000000"/>
              </a:solidFill>
              <a:effectLst/>
              <a:uFillTx/>
              <a:latin typeface="Arial"/>
            </a:endParaRPr>
          </a:p>
        </p:txBody>
      </p:sp>
      <p:sp>
        <p:nvSpPr>
          <p:cNvPr id="333" name="henkyoku"/>
          <p:cNvSpPr/>
          <p:nvPr/>
        </p:nvSpPr>
        <p:spPr>
          <a:xfrm>
            <a:off x="3246120" y="4846320"/>
            <a:ext cx="2544480" cy="111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Meiryo"/>
                <a:ea typeface="Meiryo"/>
              </a:rPr>
              <a:t>変曲点</a:t>
            </a:r>
            <a:endParaRPr lang="en-US" sz="2000" b="0" u="none" strike="noStrike">
              <a:solidFill>
                <a:srgbClr val="000000"/>
              </a:solidFill>
              <a:effectLst/>
              <a:uFillTx/>
              <a:latin typeface="Arial"/>
            </a:endParaRPr>
          </a:p>
          <a:p>
            <a:pPr algn="ctr" defTabSz="914400">
              <a:lnSpc>
                <a:spcPct val="100000"/>
              </a:lnSpc>
            </a:pPr>
            <a:r>
              <a:rPr lang="ja-JP" sz="2200" b="1" u="none" strike="noStrike">
                <a:solidFill>
                  <a:srgbClr val="B8860B"/>
                </a:solidFill>
                <a:effectLst/>
                <a:uFillTx/>
                <a:latin typeface="Meiryo"/>
                <a:ea typeface="Meiryo"/>
              </a:rPr>
              <a:t>（早期反射）</a:t>
            </a:r>
            <a:endParaRPr lang="en-US" sz="20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3.7  </a:t>
            </a:r>
            <a:r>
              <a:rPr lang="ja-JP" sz="4400" b="1" u="none" strike="noStrike">
                <a:ln w="19050">
                  <a:solidFill>
                    <a:srgbClr val="000000"/>
                  </a:solidFill>
                </a:ln>
                <a:solidFill>
                  <a:schemeClr val="accent4">
                    <a:lumMod val="75000"/>
                  </a:schemeClr>
                </a:solidFill>
                <a:effectLst/>
                <a:uFillTx/>
                <a:latin typeface="Meiryo"/>
                <a:ea typeface="Meiryo"/>
              </a:rPr>
              <a:t>裏付けの強さ</a:t>
            </a:r>
            <a:endParaRPr lang="en-US" sz="4600" b="1" u="none" strike="noStrike">
              <a:ln w="19050">
                <a:solidFill>
                  <a:srgbClr val="000000"/>
                </a:solidFill>
              </a:ln>
              <a:solidFill>
                <a:schemeClr val="accent4">
                  <a:lumMod val="75000"/>
                </a:schemeClr>
              </a:solidFill>
              <a:effectLst/>
              <a:uFillTx/>
              <a:latin typeface="Calibri"/>
            </a:endParaRPr>
          </a:p>
        </p:txBody>
      </p:sp>
      <p:sp>
        <p:nvSpPr>
          <p:cNvPr id="33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3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37"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3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3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4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4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4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21/47</a:t>
            </a:r>
            <a:endParaRPr lang="en-US" sz="1200" b="0" u="none" strike="noStrike">
              <a:solidFill>
                <a:srgbClr val="000000"/>
              </a:solidFill>
              <a:effectLst/>
              <a:uFillTx/>
              <a:latin typeface="Arial"/>
            </a:endParaRPr>
          </a:p>
        </p:txBody>
      </p:sp>
      <p:sp>
        <p:nvSpPr>
          <p:cNvPr id="343" name="h1"/>
          <p:cNvSpPr/>
          <p:nvPr/>
        </p:nvSpPr>
        <p:spPr>
          <a:xfrm>
            <a:off x="1339200" y="1890720"/>
            <a:ext cx="23673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F7F7F"/>
                </a:solidFill>
                <a:effectLst/>
                <a:uFillTx/>
                <a:latin typeface="Meiryo"/>
                <a:ea typeface="Meiryo"/>
              </a:rPr>
              <a:t>因子</a:t>
            </a:r>
            <a:endParaRPr lang="en-US" sz="2000" b="0" u="none" strike="noStrike">
              <a:solidFill>
                <a:srgbClr val="000000"/>
              </a:solidFill>
              <a:effectLst/>
              <a:uFillTx/>
              <a:latin typeface="Arial"/>
            </a:endParaRPr>
          </a:p>
        </p:txBody>
      </p:sp>
      <p:sp>
        <p:nvSpPr>
          <p:cNvPr id="344" name="h2"/>
          <p:cNvSpPr/>
          <p:nvPr/>
        </p:nvSpPr>
        <p:spPr>
          <a:xfrm>
            <a:off x="4404960" y="1890720"/>
            <a:ext cx="338184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F7F7F"/>
                </a:solidFill>
                <a:effectLst/>
                <a:uFillTx/>
                <a:latin typeface="Meiryo"/>
                <a:ea typeface="Meiryo"/>
              </a:rPr>
              <a:t>波形変化</a:t>
            </a:r>
            <a:endParaRPr lang="en-US" sz="2000" b="0" u="none" strike="noStrike">
              <a:solidFill>
                <a:srgbClr val="000000"/>
              </a:solidFill>
              <a:effectLst/>
              <a:uFillTx/>
              <a:latin typeface="Arial"/>
            </a:endParaRPr>
          </a:p>
        </p:txBody>
      </p:sp>
      <p:sp>
        <p:nvSpPr>
          <p:cNvPr id="345" name="h3"/>
          <p:cNvSpPr/>
          <p:nvPr/>
        </p:nvSpPr>
        <p:spPr>
          <a:xfrm>
            <a:off x="8028720" y="1890720"/>
            <a:ext cx="21135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F7F7F"/>
                </a:solidFill>
                <a:effectLst/>
                <a:uFillTx/>
                <a:latin typeface="Meiryo"/>
                <a:ea typeface="Meiryo"/>
              </a:rPr>
              <a:t>裏付けの強さ</a:t>
            </a:r>
            <a:endParaRPr lang="en-US" sz="2000" b="0" u="none" strike="noStrike">
              <a:solidFill>
                <a:srgbClr val="000000"/>
              </a:solidFill>
              <a:effectLst/>
              <a:uFillTx/>
              <a:latin typeface="Arial"/>
            </a:endParaRPr>
          </a:p>
        </p:txBody>
      </p:sp>
      <p:sp>
        <p:nvSpPr>
          <p:cNvPr id="346" name="f0"/>
          <p:cNvSpPr/>
          <p:nvPr/>
        </p:nvSpPr>
        <p:spPr>
          <a:xfrm>
            <a:off x="1339200" y="250308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心拍数</a:t>
            </a:r>
            <a:endParaRPr lang="en-US" sz="1800" b="0" u="none" strike="noStrike">
              <a:solidFill>
                <a:srgbClr val="000000"/>
              </a:solidFill>
              <a:effectLst/>
              <a:uFillTx/>
              <a:latin typeface="Arial"/>
            </a:endParaRPr>
          </a:p>
        </p:txBody>
      </p:sp>
      <p:sp>
        <p:nvSpPr>
          <p:cNvPr id="347" name="m0"/>
          <p:cNvSpPr/>
          <p:nvPr/>
        </p:nvSpPr>
        <p:spPr>
          <a:xfrm>
            <a:off x="4404960" y="250308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反射波の相対位置</a:t>
            </a:r>
            <a:endParaRPr lang="en-US" sz="1800" b="0" u="none" strike="noStrike">
              <a:solidFill>
                <a:srgbClr val="000000"/>
              </a:solidFill>
              <a:effectLst/>
              <a:uFillTx/>
              <a:latin typeface="Arial"/>
            </a:endParaRPr>
          </a:p>
        </p:txBody>
      </p:sp>
      <p:sp>
        <p:nvSpPr>
          <p:cNvPr id="348" name="g0"/>
          <p:cNvSpPr/>
          <p:nvPr/>
        </p:nvSpPr>
        <p:spPr>
          <a:xfrm>
            <a:off x="8028720" y="250308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モデル推定</a:t>
            </a:r>
            <a:endParaRPr lang="en-US" sz="1800" b="0" u="none" strike="noStrike">
              <a:solidFill>
                <a:srgbClr val="FFFFFF"/>
              </a:solidFill>
              <a:effectLst/>
              <a:uFillTx/>
              <a:latin typeface="Arial"/>
            </a:endParaRPr>
          </a:p>
        </p:txBody>
      </p:sp>
      <p:sp>
        <p:nvSpPr>
          <p:cNvPr id="349" name="f1"/>
          <p:cNvSpPr/>
          <p:nvPr/>
        </p:nvSpPr>
        <p:spPr>
          <a:xfrm>
            <a:off x="1339200" y="322884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前負荷</a:t>
            </a:r>
            <a:endParaRPr lang="en-US" sz="1800" b="0" u="none" strike="noStrike">
              <a:solidFill>
                <a:srgbClr val="000000"/>
              </a:solidFill>
              <a:effectLst/>
              <a:uFillTx/>
              <a:latin typeface="Arial"/>
            </a:endParaRPr>
          </a:p>
        </p:txBody>
      </p:sp>
      <p:sp>
        <p:nvSpPr>
          <p:cNvPr id="350" name="m1"/>
          <p:cNvSpPr/>
          <p:nvPr/>
        </p:nvSpPr>
        <p:spPr>
          <a:xfrm>
            <a:off x="4404960" y="322884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全体の振幅↑↓</a:t>
            </a:r>
            <a:endParaRPr lang="en-US" sz="1800" b="0" u="none" strike="noStrike">
              <a:solidFill>
                <a:srgbClr val="000000"/>
              </a:solidFill>
              <a:effectLst/>
              <a:uFillTx/>
              <a:latin typeface="Arial"/>
            </a:endParaRPr>
          </a:p>
        </p:txBody>
      </p:sp>
      <p:sp>
        <p:nvSpPr>
          <p:cNvPr id="351" name="g1"/>
          <p:cNvSpPr/>
          <p:nvPr/>
        </p:nvSpPr>
        <p:spPr>
          <a:xfrm>
            <a:off x="8028720" y="322884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実測</a:t>
            </a:r>
            <a:endParaRPr lang="en-US" sz="1800" b="0" u="none" strike="noStrike">
              <a:solidFill>
                <a:srgbClr val="FFFFFF"/>
              </a:solidFill>
              <a:effectLst/>
              <a:uFillTx/>
              <a:latin typeface="Arial"/>
            </a:endParaRPr>
          </a:p>
        </p:txBody>
      </p:sp>
      <p:sp>
        <p:nvSpPr>
          <p:cNvPr id="352" name="f2"/>
          <p:cNvSpPr/>
          <p:nvPr/>
        </p:nvSpPr>
        <p:spPr>
          <a:xfrm>
            <a:off x="1339200" y="395460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心収縮力</a:t>
            </a:r>
            <a:endParaRPr lang="en-US" sz="1800" b="0" u="none" strike="noStrike">
              <a:solidFill>
                <a:srgbClr val="000000"/>
              </a:solidFill>
              <a:effectLst/>
              <a:uFillTx/>
              <a:latin typeface="Arial"/>
            </a:endParaRPr>
          </a:p>
        </p:txBody>
      </p:sp>
      <p:sp>
        <p:nvSpPr>
          <p:cNvPr id="353" name="m2"/>
          <p:cNvSpPr/>
          <p:nvPr/>
        </p:nvSpPr>
        <p:spPr>
          <a:xfrm>
            <a:off x="4404960" y="395460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立ち上がりが鋭く速く</a:t>
            </a:r>
            <a:endParaRPr lang="en-US" sz="1800" b="0" u="none" strike="noStrike">
              <a:solidFill>
                <a:srgbClr val="000000"/>
              </a:solidFill>
              <a:effectLst/>
              <a:uFillTx/>
              <a:latin typeface="Arial"/>
            </a:endParaRPr>
          </a:p>
        </p:txBody>
      </p:sp>
      <p:sp>
        <p:nvSpPr>
          <p:cNvPr id="354" name="g2"/>
          <p:cNvSpPr/>
          <p:nvPr/>
        </p:nvSpPr>
        <p:spPr>
          <a:xfrm>
            <a:off x="8028720" y="3954600"/>
            <a:ext cx="2113560" cy="521280"/>
          </a:xfrm>
          <a:prstGeom prst="roundRect">
            <a:avLst>
              <a:gd name="adj" fmla="val 40000"/>
            </a:avLst>
          </a:prstGeom>
          <a:solidFill>
            <a:srgbClr val="C00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外挿</a:t>
            </a:r>
            <a:endParaRPr lang="en-US" sz="1800" b="0" u="none" strike="noStrike">
              <a:solidFill>
                <a:srgbClr val="FFFFFF"/>
              </a:solidFill>
              <a:effectLst/>
              <a:uFillTx/>
              <a:latin typeface="Arial"/>
            </a:endParaRPr>
          </a:p>
        </p:txBody>
      </p:sp>
      <p:sp>
        <p:nvSpPr>
          <p:cNvPr id="355" name="f3"/>
          <p:cNvSpPr/>
          <p:nvPr/>
        </p:nvSpPr>
        <p:spPr>
          <a:xfrm>
            <a:off x="1339200" y="4680360"/>
            <a:ext cx="2575424" cy="61776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末梢血管トーヌス</a:t>
            </a:r>
            <a:endParaRPr lang="en-US" sz="1800" b="0" u="none" strike="noStrike">
              <a:solidFill>
                <a:srgbClr val="000000"/>
              </a:solidFill>
              <a:effectLst/>
              <a:uFillTx/>
              <a:latin typeface="Arial"/>
            </a:endParaRPr>
          </a:p>
        </p:txBody>
      </p:sp>
      <p:sp>
        <p:nvSpPr>
          <p:cNvPr id="356" name="m3"/>
          <p:cNvSpPr/>
          <p:nvPr/>
        </p:nvSpPr>
        <p:spPr>
          <a:xfrm>
            <a:off x="4404960" y="468036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反射波・切痕が上下</a:t>
            </a:r>
            <a:endParaRPr lang="en-US" sz="1800" b="0" u="none" strike="noStrike">
              <a:solidFill>
                <a:srgbClr val="000000"/>
              </a:solidFill>
              <a:effectLst/>
              <a:uFillTx/>
              <a:latin typeface="Arial"/>
            </a:endParaRPr>
          </a:p>
        </p:txBody>
      </p:sp>
      <p:sp>
        <p:nvSpPr>
          <p:cNvPr id="357" name="g3"/>
          <p:cNvSpPr/>
          <p:nvPr/>
        </p:nvSpPr>
        <p:spPr>
          <a:xfrm>
            <a:off x="8028720" y="468036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実測</a:t>
            </a:r>
            <a:endParaRPr lang="en-US" sz="1800" b="0" u="none" strike="noStrike">
              <a:solidFill>
                <a:srgbClr val="FFFFFF"/>
              </a:solidFill>
              <a:effectLst/>
              <a:uFillTx/>
              <a:latin typeface="Arial"/>
            </a:endParaRPr>
          </a:p>
        </p:txBody>
      </p:sp>
      <p:sp>
        <p:nvSpPr>
          <p:cNvPr id="358" name="f4"/>
          <p:cNvSpPr/>
          <p:nvPr/>
        </p:nvSpPr>
        <p:spPr>
          <a:xfrm>
            <a:off x="1339200" y="5406120"/>
            <a:ext cx="2888352" cy="807584"/>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Autofit/>
          </a:bodyPr>
          <a:lstStyle/>
          <a:p>
            <a:pPr algn="ctr" defTabSz="914400">
              <a:lnSpc>
                <a:spcPct val="100000"/>
              </a:lnSpc>
            </a:pPr>
            <a:r>
              <a:rPr lang="ja-JP" sz="2200" b="1" u="none" strike="noStrike">
                <a:solidFill>
                  <a:srgbClr val="262626"/>
                </a:solidFill>
                <a:effectLst/>
                <a:uFillTx/>
                <a:latin typeface="Meiryo"/>
                <a:ea typeface="Meiryo"/>
              </a:rPr>
              <a:t>大血管エラスタンス</a:t>
            </a:r>
            <a:endParaRPr lang="en-US" sz="1800" b="0" u="none" strike="noStrike">
              <a:solidFill>
                <a:srgbClr val="000000"/>
              </a:solidFill>
              <a:effectLst/>
              <a:uFillTx/>
              <a:latin typeface="Arial"/>
            </a:endParaRPr>
          </a:p>
        </p:txBody>
      </p:sp>
      <p:sp>
        <p:nvSpPr>
          <p:cNvPr id="359" name="m4"/>
          <p:cNvSpPr/>
          <p:nvPr/>
        </p:nvSpPr>
        <p:spPr>
          <a:xfrm>
            <a:off x="4404960" y="540612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反射波が前後</a:t>
            </a:r>
            <a:endParaRPr lang="en-US" sz="1800" b="0" u="none" strike="noStrike">
              <a:solidFill>
                <a:srgbClr val="000000"/>
              </a:solidFill>
              <a:effectLst/>
              <a:uFillTx/>
              <a:latin typeface="Arial"/>
            </a:endParaRPr>
          </a:p>
        </p:txBody>
      </p:sp>
      <p:sp>
        <p:nvSpPr>
          <p:cNvPr id="360" name="g4"/>
          <p:cNvSpPr/>
          <p:nvPr/>
        </p:nvSpPr>
        <p:spPr>
          <a:xfrm>
            <a:off x="8028720" y="540612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実測</a:t>
            </a:r>
            <a:r>
              <a:rPr lang="en-US" sz="2200" b="1" u="none" strike="noStrike">
                <a:solidFill>
                  <a:srgbClr val="FFFFFF"/>
                </a:solidFill>
                <a:effectLst/>
                <a:uFillTx/>
                <a:latin typeface="Meiryo"/>
                <a:ea typeface="Meiryo"/>
              </a:rPr>
              <a:t>+</a:t>
            </a:r>
            <a:r>
              <a:rPr lang="ja-JP" sz="2200" b="1" u="none" strike="noStrike">
                <a:solidFill>
                  <a:srgbClr val="FFFFFF"/>
                </a:solidFill>
                <a:effectLst/>
                <a:uFillTx/>
                <a:latin typeface="Meiryo"/>
                <a:ea typeface="Meiryo"/>
              </a:rPr>
              <a:t>モデル</a:t>
            </a:r>
            <a:endParaRPr lang="en-US" sz="18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6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3.8  </a:t>
            </a:r>
            <a:r>
              <a:rPr lang="ja-JP" sz="4400" b="1" u="none" strike="noStrike">
                <a:ln w="19050">
                  <a:solidFill>
                    <a:srgbClr val="000000"/>
                  </a:solidFill>
                </a:ln>
                <a:solidFill>
                  <a:schemeClr val="accent4">
                    <a:lumMod val="75000"/>
                  </a:schemeClr>
                </a:solidFill>
                <a:effectLst/>
                <a:uFillTx/>
                <a:latin typeface="Meiryo"/>
                <a:ea typeface="Meiryo"/>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6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6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64"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6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6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6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6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6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17. Murray 1996</a:t>
            </a:r>
            <a:endParaRPr lang="en-US" sz="1050" b="0" u="none" strike="noStrike">
              <a:solidFill>
                <a:srgbClr val="000000"/>
              </a:solidFill>
              <a:effectLst/>
              <a:uFillTx/>
              <a:latin typeface="Arial"/>
            </a:endParaRPr>
          </a:p>
        </p:txBody>
      </p:sp>
      <p:pic>
        <p:nvPicPr>
          <p:cNvPr id="370" name="Picture 8" descr="13_murray.png"/>
          <p:cNvPicPr/>
          <p:nvPr/>
        </p:nvPicPr>
        <p:blipFill>
          <a:blip r:embed="rId4"/>
          <a:stretch/>
        </p:blipFill>
        <p:spPr>
          <a:xfrm>
            <a:off x="1555920" y="1185840"/>
            <a:ext cx="9383760" cy="5052600"/>
          </a:xfrm>
          <a:prstGeom prst="rect">
            <a:avLst/>
          </a:prstGeom>
          <a:noFill/>
          <a:ln w="0">
            <a:noFill/>
          </a:ln>
        </p:spPr>
      </p:pic>
      <p:sp>
        <p:nvSpPr>
          <p:cNvPr id="371"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22/47</a:t>
            </a:r>
            <a:endParaRPr lang="en-US" sz="1200" b="0" u="none" strike="noStrike">
              <a:solidFill>
                <a:srgbClr val="000000"/>
              </a:solidFill>
              <a:effectLst/>
              <a:uFillTx/>
              <a:latin typeface="Arial"/>
            </a:endParaRPr>
          </a:p>
        </p:txBody>
      </p:sp>
      <p:sp>
        <p:nvSpPr>
          <p:cNvPr id="372" name="t_g"/>
          <p:cNvSpPr/>
          <p:nvPr/>
        </p:nvSpPr>
        <p:spPr>
          <a:xfrm>
            <a:off x="1087560" y="1921680"/>
            <a:ext cx="342360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5FA83D"/>
                </a:solidFill>
                <a:effectLst/>
                <a:uFillTx/>
                <a:latin typeface="Meiryo"/>
                <a:ea typeface="Meiryo"/>
              </a:rPr>
              <a:t>正常トーヌス</a:t>
            </a:r>
            <a:endParaRPr lang="en-US" sz="2200" b="0" u="none" strike="noStrike">
              <a:solidFill>
                <a:srgbClr val="000000"/>
              </a:solidFill>
              <a:effectLst/>
              <a:uFillTx/>
              <a:latin typeface="Arial"/>
            </a:endParaRPr>
          </a:p>
        </p:txBody>
      </p:sp>
      <p:sp>
        <p:nvSpPr>
          <p:cNvPr id="373" name="t_r"/>
          <p:cNvSpPr/>
          <p:nvPr/>
        </p:nvSpPr>
        <p:spPr>
          <a:xfrm>
            <a:off x="40816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Meiryo"/>
                <a:ea typeface="Meiryo"/>
              </a:rPr>
              <a:t>血管収縮（浅麻酔・昇圧）</a:t>
            </a:r>
            <a:endParaRPr lang="en-US" sz="2200" b="0" u="none" strike="noStrike">
              <a:solidFill>
                <a:srgbClr val="000000"/>
              </a:solidFill>
              <a:effectLst/>
              <a:uFillTx/>
              <a:latin typeface="Arial"/>
            </a:endParaRPr>
          </a:p>
        </p:txBody>
      </p:sp>
      <p:sp>
        <p:nvSpPr>
          <p:cNvPr id="374" name="t_b"/>
          <p:cNvSpPr/>
          <p:nvPr/>
        </p:nvSpPr>
        <p:spPr>
          <a:xfrm>
            <a:off x="76294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Meiryo"/>
                <a:ea typeface="Meiryo"/>
              </a:rPr>
              <a:t>血管拡張（深麻酔・降圧）</a:t>
            </a:r>
            <a:endParaRPr lang="en-US" sz="2200" b="0" u="none" strike="noStrike">
              <a:solidFill>
                <a:srgbClr val="000000"/>
              </a:solidFill>
              <a:effectLst/>
              <a:uFillTx/>
              <a:latin typeface="Arial"/>
            </a:endParaRPr>
          </a:p>
        </p:txBody>
      </p:sp>
      <p:sp>
        <p:nvSpPr>
          <p:cNvPr id="375" name="s_g"/>
          <p:cNvSpPr/>
          <p:nvPr/>
        </p:nvSpPr>
        <p:spPr>
          <a:xfrm>
            <a:off x="1393560" y="5190120"/>
            <a:ext cx="281376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800" b="1" u="none" strike="noStrike">
                <a:solidFill>
                  <a:srgbClr val="5FA83D"/>
                </a:solidFill>
                <a:effectLst/>
                <a:uFillTx/>
                <a:latin typeface="Meiryo"/>
                <a:ea typeface="Meiryo"/>
              </a:rPr>
              <a:t>切痕：中 ・ 振幅：中</a:t>
            </a:r>
            <a:endParaRPr lang="en-US" sz="1800" b="0" u="none" strike="noStrike">
              <a:solidFill>
                <a:srgbClr val="000000"/>
              </a:solidFill>
              <a:effectLst/>
              <a:uFillTx/>
              <a:latin typeface="Arial"/>
            </a:endParaRPr>
          </a:p>
        </p:txBody>
      </p:sp>
      <p:sp>
        <p:nvSpPr>
          <p:cNvPr id="376" name="s_r"/>
          <p:cNvSpPr/>
          <p:nvPr/>
        </p:nvSpPr>
        <p:spPr>
          <a:xfrm>
            <a:off x="44406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Meiryo"/>
                <a:ea typeface="Meiryo"/>
              </a:rPr>
              <a:t>切痕位置↑ ・ 振幅↓</a:t>
            </a:r>
            <a:endParaRPr lang="en-US" sz="1800" b="0" u="none" strike="noStrike">
              <a:solidFill>
                <a:srgbClr val="000000"/>
              </a:solidFill>
              <a:effectLst/>
              <a:uFillTx/>
              <a:latin typeface="Arial"/>
            </a:endParaRPr>
          </a:p>
        </p:txBody>
      </p:sp>
      <p:sp>
        <p:nvSpPr>
          <p:cNvPr id="377" name="s_b"/>
          <p:cNvSpPr/>
          <p:nvPr/>
        </p:nvSpPr>
        <p:spPr>
          <a:xfrm>
            <a:off x="75294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Meiryo"/>
                <a:ea typeface="Meiryo"/>
              </a:rPr>
              <a:t>切痕位置↓ ・ 振幅↑</a:t>
            </a:r>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7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3.8  </a:t>
            </a:r>
            <a:r>
              <a:rPr lang="ja-JP" sz="4400" b="1" u="none" strike="noStrike">
                <a:ln w="19050">
                  <a:solidFill>
                    <a:srgbClr val="000000"/>
                  </a:solidFill>
                </a:ln>
                <a:solidFill>
                  <a:schemeClr val="accent4">
                    <a:lumMod val="75000"/>
                  </a:schemeClr>
                </a:solidFill>
                <a:effectLst/>
                <a:uFillTx/>
                <a:latin typeface="Meiryo"/>
                <a:ea typeface="Meiryo"/>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7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8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8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8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8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8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8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8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17. Murray 1996</a:t>
            </a:r>
            <a:endParaRPr lang="en-US" sz="1050" b="0" u="none" strike="noStrike">
              <a:solidFill>
                <a:srgbClr val="000000"/>
              </a:solidFill>
              <a:effectLst/>
              <a:uFillTx/>
              <a:latin typeface="Arial"/>
            </a:endParaRPr>
          </a:p>
        </p:txBody>
      </p:sp>
      <p:pic>
        <p:nvPicPr>
          <p:cNvPr id="387" name="Picture 8" descr="13_murray.png"/>
          <p:cNvPicPr/>
          <p:nvPr/>
        </p:nvPicPr>
        <p:blipFill>
          <a:blip r:embed="rId4"/>
          <a:stretch/>
        </p:blipFill>
        <p:spPr>
          <a:xfrm>
            <a:off x="1945800" y="1800000"/>
            <a:ext cx="8276040" cy="4319640"/>
          </a:xfrm>
          <a:prstGeom prst="rect">
            <a:avLst/>
          </a:prstGeom>
          <a:noFill/>
          <a:ln w="0">
            <a:noFill/>
          </a:ln>
        </p:spPr>
      </p:pic>
      <p:sp>
        <p:nvSpPr>
          <p:cNvPr id="38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23/47</a:t>
            </a:r>
            <a:endParaRPr lang="en-US" sz="1200" b="0" u="none" strike="noStrike">
              <a:solidFill>
                <a:srgbClr val="000000"/>
              </a:solidFill>
              <a:effectLst/>
              <a:uFillTx/>
              <a:latin typeface="Arial"/>
            </a:endParaRPr>
          </a:p>
        </p:txBody>
      </p:sp>
      <p:pic>
        <p:nvPicPr>
          <p:cNvPr id="389" name="図 10"/>
          <p:cNvPicPr/>
          <p:nvPr/>
        </p:nvPicPr>
        <p:blipFill>
          <a:blip r:embed="rId5"/>
          <a:srcRect t="3827" b="70275"/>
          <a:stretch/>
        </p:blipFill>
        <p:spPr>
          <a:xfrm>
            <a:off x="720000" y="2442600"/>
            <a:ext cx="10924920" cy="281412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39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3.9  </a:t>
            </a:r>
            <a:r>
              <a:rPr lang="ja-JP" sz="4400" b="1" u="none" strike="noStrike">
                <a:ln w="19050">
                  <a:solidFill>
                    <a:srgbClr val="000000"/>
                  </a:solidFill>
                </a:ln>
                <a:solidFill>
                  <a:schemeClr val="accent4">
                    <a:lumMod val="75000"/>
                  </a:schemeClr>
                </a:solidFill>
                <a:effectLst/>
                <a:uFillTx/>
                <a:latin typeface="Meiryo"/>
                <a:ea typeface="Meiryo"/>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39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9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9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9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9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9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9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9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14. Tusman 2019</a:t>
            </a:r>
            <a:endParaRPr lang="en-US" sz="1050" b="0" u="none" strike="noStrike">
              <a:solidFill>
                <a:srgbClr val="000000"/>
              </a:solidFill>
              <a:effectLst/>
              <a:uFillTx/>
              <a:latin typeface="Arial"/>
            </a:endParaRPr>
          </a:p>
        </p:txBody>
      </p:sp>
      <p:pic>
        <p:nvPicPr>
          <p:cNvPr id="399" name="Picture 8" descr="15_tusman.png"/>
          <p:cNvPicPr/>
          <p:nvPr/>
        </p:nvPicPr>
        <p:blipFill>
          <a:blip r:embed="rId4"/>
          <a:stretch/>
        </p:blipFill>
        <p:spPr>
          <a:xfrm>
            <a:off x="721080" y="1800000"/>
            <a:ext cx="10725840" cy="4319640"/>
          </a:xfrm>
          <a:prstGeom prst="rect">
            <a:avLst/>
          </a:prstGeom>
          <a:noFill/>
          <a:ln w="0">
            <a:noFill/>
          </a:ln>
        </p:spPr>
      </p:pic>
      <p:sp>
        <p:nvSpPr>
          <p:cNvPr id="40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24/47</a:t>
            </a:r>
            <a:endParaRPr lang="en-US" sz="1200" b="0" u="none" strike="noStrike">
              <a:solidFill>
                <a:srgbClr val="000000"/>
              </a:solidFill>
              <a:effectLst/>
              <a:uFillTx/>
              <a:latin typeface="Arial"/>
            </a:endParaRPr>
          </a:p>
        </p:txBody>
      </p:sp>
      <p:sp>
        <p:nvSpPr>
          <p:cNvPr id="401" name="TextBox 17"/>
          <p:cNvSpPr/>
          <p:nvPr/>
        </p:nvSpPr>
        <p:spPr>
          <a:xfrm>
            <a:off x="215676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4472C4"/>
                </a:solidFill>
                <a:effectLst/>
                <a:uFillTx/>
                <a:latin typeface="Meiryo"/>
                <a:ea typeface="Meiryo"/>
              </a:rPr>
              <a:t>血管収縮</a:t>
            </a:r>
            <a:endParaRPr lang="en-US" sz="2800" b="0" u="none" strike="noStrike">
              <a:solidFill>
                <a:srgbClr val="000000"/>
              </a:solidFill>
              <a:effectLst/>
              <a:uFillTx/>
              <a:latin typeface="Arial"/>
            </a:endParaRPr>
          </a:p>
        </p:txBody>
      </p:sp>
      <p:sp>
        <p:nvSpPr>
          <p:cNvPr id="402" name="TextBox 18"/>
          <p:cNvSpPr/>
          <p:nvPr/>
        </p:nvSpPr>
        <p:spPr>
          <a:xfrm>
            <a:off x="5011200" y="1783080"/>
            <a:ext cx="868544" cy="987416"/>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70AD47"/>
                </a:solidFill>
                <a:effectLst/>
                <a:uFillTx/>
                <a:latin typeface="Meiryo"/>
                <a:ea typeface="Meiryo"/>
              </a:rPr>
              <a:t>正常</a:t>
            </a:r>
            <a:endParaRPr lang="en-US" sz="2800" b="0" u="none" strike="noStrike">
              <a:solidFill>
                <a:srgbClr val="000000"/>
              </a:solidFill>
              <a:effectLst/>
              <a:uFillTx/>
              <a:latin typeface="Arial"/>
            </a:endParaRPr>
          </a:p>
        </p:txBody>
      </p:sp>
      <p:sp>
        <p:nvSpPr>
          <p:cNvPr id="403" name="TextBox 19"/>
          <p:cNvSpPr/>
          <p:nvPr/>
        </p:nvSpPr>
        <p:spPr>
          <a:xfrm>
            <a:off x="817812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8A3B00"/>
                </a:solidFill>
                <a:effectLst/>
                <a:uFillTx/>
                <a:latin typeface="Meiryo"/>
                <a:ea typeface="Meiryo"/>
              </a:rPr>
              <a:t>血管拡張</a:t>
            </a:r>
            <a:endParaRPr lang="en-US" sz="2800" b="0" u="none" strike="noStrike">
              <a:solidFill>
                <a:srgbClr val="000000"/>
              </a:solidFill>
              <a:effectLst/>
              <a:uFillTx/>
              <a:latin typeface="Arial"/>
            </a:endParaRPr>
          </a:p>
        </p:txBody>
      </p:sp>
      <p:sp>
        <p:nvSpPr>
          <p:cNvPr id="404" name="TextBox 20"/>
          <p:cNvSpPr/>
          <p:nvPr/>
        </p:nvSpPr>
        <p:spPr>
          <a:xfrm>
            <a:off x="171468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severe</a:t>
            </a:r>
            <a:endParaRPr lang="en-US" sz="1800" b="0" u="none" strike="noStrike">
              <a:solidFill>
                <a:srgbClr val="000000"/>
              </a:solidFill>
              <a:effectLst/>
              <a:uFillTx/>
              <a:latin typeface="Arial"/>
            </a:endParaRPr>
          </a:p>
        </p:txBody>
      </p:sp>
      <p:sp>
        <p:nvSpPr>
          <p:cNvPr id="405" name="TextBox 21"/>
          <p:cNvSpPr/>
          <p:nvPr/>
        </p:nvSpPr>
        <p:spPr>
          <a:xfrm>
            <a:off x="322020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moderate</a:t>
            </a:r>
            <a:endParaRPr lang="en-US" sz="1800" b="0" u="none" strike="noStrike">
              <a:solidFill>
                <a:srgbClr val="000000"/>
              </a:solidFill>
              <a:effectLst/>
              <a:uFillTx/>
              <a:latin typeface="Arial"/>
            </a:endParaRPr>
          </a:p>
        </p:txBody>
      </p:sp>
      <p:sp>
        <p:nvSpPr>
          <p:cNvPr id="406" name="TextBox 22"/>
          <p:cNvSpPr/>
          <p:nvPr/>
        </p:nvSpPr>
        <p:spPr>
          <a:xfrm>
            <a:off x="680652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slight</a:t>
            </a:r>
            <a:endParaRPr lang="en-US" sz="1800" b="0" u="none" strike="noStrike">
              <a:solidFill>
                <a:srgbClr val="000000"/>
              </a:solidFill>
              <a:effectLst/>
              <a:uFillTx/>
              <a:latin typeface="Arial"/>
            </a:endParaRPr>
          </a:p>
        </p:txBody>
      </p:sp>
      <p:sp>
        <p:nvSpPr>
          <p:cNvPr id="407" name="TextBox 23"/>
          <p:cNvSpPr/>
          <p:nvPr/>
        </p:nvSpPr>
        <p:spPr>
          <a:xfrm>
            <a:off x="824472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moderate</a:t>
            </a:r>
            <a:endParaRPr lang="en-US" sz="1800" b="0" u="none" strike="noStrike">
              <a:solidFill>
                <a:srgbClr val="000000"/>
              </a:solidFill>
              <a:effectLst/>
              <a:uFillTx/>
              <a:latin typeface="Arial"/>
            </a:endParaRPr>
          </a:p>
        </p:txBody>
      </p:sp>
      <p:sp>
        <p:nvSpPr>
          <p:cNvPr id="408" name="TextBox 24"/>
          <p:cNvSpPr/>
          <p:nvPr/>
        </p:nvSpPr>
        <p:spPr>
          <a:xfrm>
            <a:off x="1008864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severe</a:t>
            </a:r>
            <a:endParaRPr lang="en-US" sz="1800" b="0" u="none" strike="noStrike">
              <a:solidFill>
                <a:srgbClr val="000000"/>
              </a:solidFill>
              <a:effectLst/>
              <a:uFillTx/>
              <a:latin typeface="Arial"/>
            </a:endParaRPr>
          </a:p>
        </p:txBody>
      </p:sp>
      <p:sp>
        <p:nvSpPr>
          <p:cNvPr id="409" name="TextBox 25"/>
          <p:cNvSpPr/>
          <p:nvPr/>
        </p:nvSpPr>
        <p:spPr>
          <a:xfrm>
            <a:off x="132048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Meiryo"/>
                <a:ea typeface="Meiryo"/>
              </a:rPr>
              <a:t>Class I</a:t>
            </a:r>
            <a:endParaRPr lang="en-US" sz="1500" b="0" u="none" strike="noStrike">
              <a:solidFill>
                <a:srgbClr val="000000"/>
              </a:solidFill>
              <a:effectLst/>
              <a:uFillTx/>
              <a:latin typeface="Arial"/>
            </a:endParaRPr>
          </a:p>
        </p:txBody>
      </p:sp>
      <p:sp>
        <p:nvSpPr>
          <p:cNvPr id="410" name="TextBox 26"/>
          <p:cNvSpPr/>
          <p:nvPr/>
        </p:nvSpPr>
        <p:spPr>
          <a:xfrm>
            <a:off x="29973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Meiryo"/>
                <a:ea typeface="Meiryo"/>
              </a:rPr>
              <a:t>Class II</a:t>
            </a:r>
            <a:endParaRPr lang="en-US" sz="1500" b="0" u="none" strike="noStrike">
              <a:solidFill>
                <a:srgbClr val="000000"/>
              </a:solidFill>
              <a:effectLst/>
              <a:uFillTx/>
              <a:latin typeface="Arial"/>
            </a:endParaRPr>
          </a:p>
        </p:txBody>
      </p:sp>
      <p:sp>
        <p:nvSpPr>
          <p:cNvPr id="411" name="TextBox 27"/>
          <p:cNvSpPr/>
          <p:nvPr/>
        </p:nvSpPr>
        <p:spPr>
          <a:xfrm>
            <a:off x="467424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70AD47"/>
                </a:solidFill>
                <a:effectLst/>
                <a:uFillTx/>
                <a:latin typeface="Meiryo"/>
                <a:ea typeface="Meiryo"/>
              </a:rPr>
              <a:t>Class III</a:t>
            </a:r>
            <a:endParaRPr lang="en-US" sz="1500" b="0" u="none" strike="noStrike">
              <a:solidFill>
                <a:srgbClr val="000000"/>
              </a:solidFill>
              <a:effectLst/>
              <a:uFillTx/>
              <a:latin typeface="Arial"/>
            </a:endParaRPr>
          </a:p>
        </p:txBody>
      </p:sp>
      <p:sp>
        <p:nvSpPr>
          <p:cNvPr id="412" name="TextBox 28"/>
          <p:cNvSpPr/>
          <p:nvPr/>
        </p:nvSpPr>
        <p:spPr>
          <a:xfrm>
            <a:off x="63561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Meiryo"/>
                <a:ea typeface="Meiryo"/>
              </a:rPr>
              <a:t>Class IV</a:t>
            </a:r>
            <a:endParaRPr lang="en-US" sz="1500" b="0" u="none" strike="noStrike">
              <a:solidFill>
                <a:srgbClr val="000000"/>
              </a:solidFill>
              <a:effectLst/>
              <a:uFillTx/>
              <a:latin typeface="Arial"/>
            </a:endParaRPr>
          </a:p>
        </p:txBody>
      </p:sp>
      <p:sp>
        <p:nvSpPr>
          <p:cNvPr id="413" name="TextBox 29"/>
          <p:cNvSpPr/>
          <p:nvPr/>
        </p:nvSpPr>
        <p:spPr>
          <a:xfrm>
            <a:off x="80319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Meiryo"/>
                <a:ea typeface="Meiryo"/>
              </a:rPr>
              <a:t>Class V</a:t>
            </a:r>
            <a:endParaRPr lang="en-US" sz="1500" b="0" u="none" strike="noStrike">
              <a:solidFill>
                <a:srgbClr val="000000"/>
              </a:solidFill>
              <a:effectLst/>
              <a:uFillTx/>
              <a:latin typeface="Arial"/>
            </a:endParaRPr>
          </a:p>
        </p:txBody>
      </p:sp>
      <p:sp>
        <p:nvSpPr>
          <p:cNvPr id="414" name="TextBox 30"/>
          <p:cNvSpPr/>
          <p:nvPr/>
        </p:nvSpPr>
        <p:spPr>
          <a:xfrm>
            <a:off x="970452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C00000"/>
                </a:solidFill>
                <a:effectLst/>
                <a:uFillTx/>
                <a:latin typeface="Meiryo"/>
                <a:ea typeface="Meiryo"/>
              </a:rPr>
              <a:t>Class VI</a:t>
            </a:r>
            <a:endParaRPr lang="en-US" sz="1500" b="0" u="none" strike="noStrike">
              <a:solidFill>
                <a:srgbClr val="000000"/>
              </a:solidFill>
              <a:effectLst/>
              <a:uFillTx/>
              <a:latin typeface="Arial"/>
            </a:endParaRPr>
          </a:p>
        </p:txBody>
      </p:sp>
      <p:sp>
        <p:nvSpPr>
          <p:cNvPr id="415" name="TextBox 31"/>
          <p:cNvSpPr/>
          <p:nvPr/>
        </p:nvSpPr>
        <p:spPr>
          <a:xfrm rot="16200000">
            <a:off x="104760" y="4003200"/>
            <a:ext cx="1317453"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272727"/>
                </a:solidFill>
                <a:effectLst/>
                <a:uFillTx/>
                <a:latin typeface="Meiryo"/>
                <a:ea typeface="Meiryo"/>
              </a:rPr>
              <a:t>PPG </a:t>
            </a:r>
            <a:r>
              <a:rPr lang="ja-JP" sz="2200" b="1" u="none" strike="noStrike">
                <a:solidFill>
                  <a:srgbClr val="272727"/>
                </a:solidFill>
                <a:effectLst/>
                <a:uFillTx/>
                <a:latin typeface="Meiryo"/>
                <a:ea typeface="Meiryo"/>
              </a:rPr>
              <a:t>振幅</a:t>
            </a:r>
            <a:endParaRPr lang="en-US" sz="2000" b="0" u="none" strike="noStrike">
              <a:solidFill>
                <a:srgbClr val="000000"/>
              </a:solidFill>
              <a:effectLst/>
              <a:uFillTx/>
              <a:latin typeface="Arial"/>
            </a:endParaRPr>
          </a:p>
        </p:txBody>
      </p:sp>
      <p:sp>
        <p:nvSpPr>
          <p:cNvPr id="416" name="テキスト ボックス 3"/>
          <p:cNvSpPr/>
          <p:nvPr/>
        </p:nvSpPr>
        <p:spPr>
          <a:xfrm>
            <a:off x="1271520" y="5809680"/>
            <a:ext cx="10101626" cy="688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1" u="none" strike="noStrike">
                <a:solidFill>
                  <a:schemeClr val="dk1"/>
                </a:solidFill>
                <a:effectLst/>
                <a:uFillTx/>
                <a:latin typeface="Meiryo"/>
                <a:ea typeface="Meiryo"/>
              </a:rPr>
              <a:t>切痕位置</a:t>
            </a:r>
            <a:r>
              <a:rPr lang="en-US" sz="2400" b="1" u="none" strike="noStrike">
                <a:solidFill>
                  <a:schemeClr val="dk1"/>
                </a:solidFill>
                <a:effectLst/>
                <a:uFillTx/>
                <a:latin typeface="Meiryo"/>
                <a:ea typeface="Meiryo"/>
              </a:rPr>
              <a:t>× </a:t>
            </a:r>
            <a:r>
              <a:rPr lang="ja-JP" sz="2400" b="1" u="none" strike="noStrike">
                <a:solidFill>
                  <a:schemeClr val="dk1"/>
                </a:solidFill>
                <a:effectLst/>
                <a:uFillTx/>
                <a:latin typeface="Meiryo"/>
                <a:ea typeface="Meiryo"/>
              </a:rPr>
              <a:t>振幅 で</a:t>
            </a:r>
            <a:r>
              <a:rPr lang="en-US" sz="2400" b="1" u="none" strike="noStrike">
                <a:solidFill>
                  <a:schemeClr val="dk1"/>
                </a:solidFill>
                <a:effectLst/>
                <a:uFillTx/>
                <a:latin typeface="Meiryo"/>
                <a:ea typeface="Meiryo"/>
              </a:rPr>
              <a:t>6</a:t>
            </a:r>
            <a:r>
              <a:rPr lang="ja-JP" sz="2400" b="1" u="none" strike="noStrike">
                <a:solidFill>
                  <a:schemeClr val="dk1"/>
                </a:solidFill>
                <a:effectLst/>
                <a:uFillTx/>
                <a:latin typeface="Meiryo"/>
                <a:ea typeface="Meiryo"/>
              </a:rPr>
              <a:t>分類。</a:t>
            </a:r>
            <a:r>
              <a:rPr lang="en" sz="2400" b="1" u="none" strike="noStrike">
                <a:solidFill>
                  <a:schemeClr val="dk1"/>
                </a:solidFill>
                <a:effectLst/>
                <a:uFillTx/>
                <a:latin typeface="Meiryo"/>
                <a:ea typeface="Meiryo"/>
              </a:rPr>
              <a:t>SBP</a:t>
            </a:r>
            <a:r>
              <a:rPr lang="ja-JP" sz="2400" b="1" u="none" strike="noStrike">
                <a:solidFill>
                  <a:schemeClr val="dk1"/>
                </a:solidFill>
                <a:effectLst/>
                <a:uFillTx/>
                <a:latin typeface="Meiryo"/>
                <a:ea typeface="Meiryo"/>
              </a:rPr>
              <a:t>・</a:t>
            </a:r>
            <a:r>
              <a:rPr lang="en" sz="2400" b="1" u="none" strike="noStrike">
                <a:solidFill>
                  <a:schemeClr val="dk1"/>
                </a:solidFill>
                <a:effectLst/>
                <a:uFillTx/>
                <a:latin typeface="Meiryo"/>
                <a:ea typeface="Meiryo"/>
              </a:rPr>
              <a:t>SVR</a:t>
            </a:r>
            <a:r>
              <a:rPr lang="ja-JP" sz="2400" b="1" u="none" strike="noStrike">
                <a:solidFill>
                  <a:schemeClr val="dk1"/>
                </a:solidFill>
                <a:effectLst/>
                <a:uFillTx/>
                <a:latin typeface="Meiryo"/>
                <a:ea typeface="Meiryo"/>
              </a:rPr>
              <a:t>・コンプライアンスと相関。 </a:t>
            </a:r>
            <a:endParaRPr lang="en-US" sz="24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3.9  </a:t>
            </a:r>
            <a:r>
              <a:rPr lang="ja-JP" sz="4400" b="1" u="none" strike="noStrike">
                <a:ln w="19050">
                  <a:solidFill>
                    <a:srgbClr val="000000"/>
                  </a:solidFill>
                </a:ln>
                <a:solidFill>
                  <a:schemeClr val="accent4">
                    <a:lumMod val="75000"/>
                  </a:schemeClr>
                </a:solidFill>
                <a:effectLst/>
                <a:uFillTx/>
                <a:latin typeface="Meiryo"/>
                <a:ea typeface="Meiryo"/>
              </a:rPr>
              <a:t>麻酔中の変化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4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4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4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14. Tusman 2019</a:t>
            </a:r>
            <a:endParaRPr lang="en-US" sz="1050" b="0" u="none" strike="noStrike">
              <a:solidFill>
                <a:srgbClr val="000000"/>
              </a:solidFill>
              <a:effectLst/>
              <a:uFillTx/>
              <a:latin typeface="Arial"/>
            </a:endParaRPr>
          </a:p>
        </p:txBody>
      </p:sp>
      <p:pic>
        <p:nvPicPr>
          <p:cNvPr id="426" name="Picture 8" descr="15_tusman.png"/>
          <p:cNvPicPr/>
          <p:nvPr/>
        </p:nvPicPr>
        <p:blipFill>
          <a:blip r:embed="rId4"/>
          <a:stretch/>
        </p:blipFill>
        <p:spPr>
          <a:xfrm>
            <a:off x="721080" y="1800000"/>
            <a:ext cx="10725840" cy="4319640"/>
          </a:xfrm>
          <a:prstGeom prst="rect">
            <a:avLst/>
          </a:prstGeom>
          <a:noFill/>
          <a:ln w="0">
            <a:noFill/>
          </a:ln>
        </p:spPr>
      </p:pic>
      <p:sp>
        <p:nvSpPr>
          <p:cNvPr id="42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25/47</a:t>
            </a:r>
            <a:endParaRPr lang="en-US" sz="1200" b="0" u="none" strike="noStrike">
              <a:solidFill>
                <a:srgbClr val="000000"/>
              </a:solidFill>
              <a:effectLst/>
              <a:uFillTx/>
              <a:latin typeface="Arial"/>
            </a:endParaRPr>
          </a:p>
        </p:txBody>
      </p:sp>
      <p:pic>
        <p:nvPicPr>
          <p:cNvPr id="428" name="図 2"/>
          <p:cNvPicPr/>
          <p:nvPr/>
        </p:nvPicPr>
        <p:blipFill>
          <a:blip r:embed="rId5"/>
          <a:stretch/>
        </p:blipFill>
        <p:spPr>
          <a:xfrm>
            <a:off x="744840" y="1690560"/>
            <a:ext cx="11115360" cy="405000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TitleFrame"/>
          <p:cNvSpPr/>
          <p:nvPr/>
        </p:nvSpPr>
        <p:spPr>
          <a:xfrm>
            <a:off x="655200" y="603504"/>
            <a:ext cx="5212080" cy="804672"/>
          </a:xfrm>
          <a:prstGeom prst="roundRect">
            <a:avLst>
              <a:gd name="adj" fmla="val 8000"/>
            </a:avLst>
          </a:prstGeom>
          <a:noFill/>
          <a:ln w="28575" cap="flat">
            <a:solidFill>
              <a:srgbClr val="44546A"/>
            </a:solidFill>
            <a:round/>
          </a:ln>
        </p:spPr>
        <p:txBody>
          <a:bodyPr rtlCol="0" anchor="ctr"/>
          <a:lstStyle/>
          <a:p>
            <a:endParaRPr lang="ja-JP"/>
          </a:p>
        </p:txBody>
      </p:sp>
      <p:sp>
        <p:nvSpPr>
          <p:cNvPr id="4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4. </a:t>
            </a:r>
            <a:r>
              <a:rPr lang="ja-JP" sz="4400" b="1" u="none" strike="noStrike">
                <a:ln w="19050">
                  <a:solidFill>
                    <a:srgbClr val="000000"/>
                  </a:solidFill>
                </a:ln>
                <a:solidFill>
                  <a:schemeClr val="accent4">
                    <a:lumMod val="75000"/>
                  </a:schemeClr>
                </a:solidFill>
                <a:effectLst/>
                <a:uFillTx/>
                <a:latin typeface="Meiryo"/>
                <a:ea typeface="Meiryo"/>
              </a:rPr>
              <a:t>波形の定量化</a:t>
            </a:r>
            <a:endParaRPr lang="en-US" sz="4600" b="1" u="none" strike="noStrike">
              <a:ln w="19050">
                <a:solidFill>
                  <a:srgbClr val="000000"/>
                </a:solidFill>
              </a:ln>
              <a:solidFill>
                <a:schemeClr val="accent4">
                  <a:lumMod val="75000"/>
                </a:schemeClr>
              </a:solidFill>
              <a:effectLst/>
              <a:uFillTx/>
              <a:latin typeface="Calibri"/>
            </a:endParaRPr>
          </a:p>
        </p:txBody>
      </p:sp>
      <p:sp>
        <p:nvSpPr>
          <p:cNvPr id="43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3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3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3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3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3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3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37"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4. </a:t>
            </a:r>
            <a:r>
              <a:rPr lang="ja-JP" sz="2600" b="1" u="none" strike="noStrike">
                <a:solidFill>
                  <a:srgbClr val="262626"/>
                </a:solidFill>
                <a:effectLst/>
                <a:uFillTx/>
                <a:latin typeface="Meiryo"/>
                <a:ea typeface="Meiryo"/>
              </a:rPr>
              <a:t>波形の定量化</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4.1</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SI</a:t>
            </a:r>
            <a:r>
              <a:rPr lang="ja-JP" sz="2200" b="1" u="none" strike="noStrike">
                <a:solidFill>
                  <a:srgbClr val="262626"/>
                </a:solidFill>
                <a:effectLst/>
                <a:uFillTx/>
                <a:latin typeface="Meiryo"/>
                <a:ea typeface="Meiryo"/>
              </a:rPr>
              <a:t>・</a:t>
            </a:r>
            <a:r>
              <a:rPr lang="en-US" sz="2200" b="1" u="none" strike="noStrike">
                <a:solidFill>
                  <a:srgbClr val="262626"/>
                </a:solidFill>
                <a:effectLst/>
                <a:uFillTx/>
                <a:latin typeface="Meiryo"/>
                <a:ea typeface="Meiryo"/>
              </a:rPr>
              <a:t>RI</a:t>
            </a:r>
            <a:r>
              <a:rPr lang="ja-JP" sz="2200" b="1" u="none" strike="noStrike">
                <a:solidFill>
                  <a:srgbClr val="262626"/>
                </a:solidFill>
                <a:effectLst/>
                <a:uFillTx/>
                <a:latin typeface="Meiryo"/>
                <a:ea typeface="Meiryo"/>
              </a:rPr>
              <a:t>・</a:t>
            </a:r>
            <a:r>
              <a:rPr lang="en-US" sz="2200" b="1" u="none" strike="noStrike">
                <a:solidFill>
                  <a:srgbClr val="262626"/>
                </a:solidFill>
                <a:effectLst/>
                <a:uFillTx/>
                <a:latin typeface="Meiryo"/>
                <a:ea typeface="Meiryo"/>
              </a:rPr>
              <a:t>AIx</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4.2</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SDPPG </a:t>
            </a:r>
            <a:r>
              <a:rPr lang="ja-JP" sz="2200" b="1" u="none" strike="noStrike">
                <a:solidFill>
                  <a:srgbClr val="262626"/>
                </a:solidFill>
                <a:effectLst/>
                <a:uFillTx/>
                <a:latin typeface="Meiryo"/>
                <a:ea typeface="Meiryo"/>
              </a:rPr>
              <a:t>と </a:t>
            </a:r>
            <a:r>
              <a:rPr lang="en-US" sz="2200" b="1" u="none" strike="noStrike">
                <a:solidFill>
                  <a:srgbClr val="262626"/>
                </a:solidFill>
                <a:effectLst/>
                <a:uFillTx/>
                <a:latin typeface="Meiryo"/>
                <a:ea typeface="Meiryo"/>
              </a:rPr>
              <a:t>AGI</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4.3</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切痕＋</a:t>
            </a:r>
            <a:r>
              <a:rPr lang="en-US" sz="2200" b="1" u="none" strike="noStrike">
                <a:solidFill>
                  <a:srgbClr val="262626"/>
                </a:solidFill>
                <a:effectLst/>
                <a:uFillTx/>
                <a:latin typeface="Meiryo"/>
                <a:ea typeface="Meiryo"/>
              </a:rPr>
              <a:t>PI→MAP</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438"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26/47</a:t>
            </a:r>
            <a:endParaRPr lang="en-US" sz="12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TitleFrame"/>
          <p:cNvSpPr/>
          <p:nvPr/>
        </p:nvSpPr>
        <p:spPr>
          <a:xfrm>
            <a:off x="655200" y="603504"/>
            <a:ext cx="5925312" cy="804672"/>
          </a:xfrm>
          <a:prstGeom prst="roundRect">
            <a:avLst>
              <a:gd name="adj" fmla="val 8000"/>
            </a:avLst>
          </a:prstGeom>
          <a:noFill/>
          <a:ln w="28575" cap="flat">
            <a:solidFill>
              <a:srgbClr val="44546A"/>
            </a:solidFill>
            <a:round/>
          </a:ln>
        </p:spPr>
        <p:txBody>
          <a:bodyPr rtlCol="0" anchor="ctr"/>
          <a:lstStyle/>
          <a:p>
            <a:endParaRPr lang="ja-JP"/>
          </a:p>
        </p:txBody>
      </p:sp>
      <p:sp>
        <p:nvSpPr>
          <p:cNvPr id="4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4.1  SI</a:t>
            </a:r>
            <a:r>
              <a:rPr lang="ja-JP" sz="4400" b="1" u="none" strike="noStrike">
                <a:ln w="19050">
                  <a:solidFill>
                    <a:srgbClr val="000000"/>
                  </a:solidFill>
                </a:ln>
                <a:solidFill>
                  <a:schemeClr val="accent4">
                    <a:lumMod val="75000"/>
                  </a:schemeClr>
                </a:solidFill>
                <a:effectLst/>
                <a:uFillTx/>
                <a:latin typeface="Meiryo"/>
                <a:ea typeface="Meiryo"/>
              </a:rPr>
              <a:t>・</a:t>
            </a:r>
            <a:r>
              <a:rPr lang="en-US" sz="4400" b="1" u="none" strike="noStrike">
                <a:ln w="19050">
                  <a:solidFill>
                    <a:srgbClr val="000000"/>
                  </a:solidFill>
                </a:ln>
                <a:solidFill>
                  <a:schemeClr val="accent4">
                    <a:lumMod val="75000"/>
                  </a:schemeClr>
                </a:solidFill>
                <a:effectLst/>
                <a:uFillTx/>
                <a:latin typeface="Meiryo"/>
                <a:ea typeface="Meiryo"/>
              </a:rPr>
              <a:t>RI</a:t>
            </a:r>
            <a:r>
              <a:rPr lang="ja-JP" sz="4400" b="1" u="none" strike="noStrike">
                <a:ln w="19050">
                  <a:solidFill>
                    <a:srgbClr val="000000"/>
                  </a:solidFill>
                </a:ln>
                <a:solidFill>
                  <a:schemeClr val="accent4">
                    <a:lumMod val="75000"/>
                  </a:schemeClr>
                </a:solidFill>
                <a:effectLst/>
                <a:uFillTx/>
                <a:latin typeface="Meiryo"/>
                <a:ea typeface="Meiryo"/>
              </a:rPr>
              <a:t>・</a:t>
            </a:r>
            <a:r>
              <a:rPr lang="en-US" sz="4400" b="1" u="none" strike="noStrike">
                <a:ln w="19050">
                  <a:solidFill>
                    <a:srgbClr val="000000"/>
                  </a:solidFill>
                </a:ln>
                <a:solidFill>
                  <a:schemeClr val="accent4">
                    <a:lumMod val="75000"/>
                  </a:schemeClr>
                </a:solidFill>
                <a:effectLst/>
                <a:uFillTx/>
                <a:latin typeface="Meiryo"/>
                <a:ea typeface="Meiryo"/>
              </a:rPr>
              <a:t>AIx</a:t>
            </a:r>
            <a:endParaRPr lang="en-US" sz="4600" b="1" u="none" strike="noStrike">
              <a:ln w="19050">
                <a:solidFill>
                  <a:srgbClr val="000000"/>
                </a:solidFill>
              </a:ln>
              <a:solidFill>
                <a:schemeClr val="accent4">
                  <a:lumMod val="75000"/>
                </a:schemeClr>
              </a:solidFill>
              <a:effectLst/>
              <a:uFillTx/>
              <a:latin typeface="Calibri"/>
            </a:endParaRPr>
          </a:p>
        </p:txBody>
      </p:sp>
      <p:sp>
        <p:nvSpPr>
          <p:cNvPr id="44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4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4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4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4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4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4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47"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15. Chowienczyk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16. Takazawa 1998</a:t>
            </a:r>
            <a:endParaRPr lang="en-US" sz="1050" b="0" u="none" strike="noStrike">
              <a:solidFill>
                <a:srgbClr val="000000"/>
              </a:solidFill>
              <a:effectLst/>
              <a:uFillTx/>
              <a:latin typeface="Arial"/>
            </a:endParaRPr>
          </a:p>
        </p:txBody>
      </p:sp>
      <p:pic>
        <p:nvPicPr>
          <p:cNvPr id="448" name="Picture 8" descr="17_si_ri_aix.png"/>
          <p:cNvPicPr/>
          <p:nvPr/>
        </p:nvPicPr>
        <p:blipFill>
          <a:blip r:embed="rId6"/>
          <a:stretch/>
        </p:blipFill>
        <p:spPr>
          <a:xfrm>
            <a:off x="1798200" y="1749960"/>
            <a:ext cx="8595000" cy="4523400"/>
          </a:xfrm>
          <a:prstGeom prst="rect">
            <a:avLst/>
          </a:prstGeom>
          <a:noFill/>
          <a:ln w="0">
            <a:noFill/>
          </a:ln>
        </p:spPr>
      </p:pic>
      <p:sp>
        <p:nvSpPr>
          <p:cNvPr id="4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27/47</a:t>
            </a:r>
            <a:endParaRPr lang="en-US" sz="1200" b="0" u="none" strike="noStrike">
              <a:solidFill>
                <a:srgbClr val="000000"/>
              </a:solidFill>
              <a:effectLst/>
              <a:uFillTx/>
              <a:latin typeface="Arial"/>
            </a:endParaRPr>
          </a:p>
        </p:txBody>
      </p:sp>
      <p:sp>
        <p:nvSpPr>
          <p:cNvPr id="450" name="p1"/>
          <p:cNvSpPr/>
          <p:nvPr/>
        </p:nvSpPr>
        <p:spPr>
          <a:xfrm>
            <a:off x="1939320" y="2294280"/>
            <a:ext cx="358488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2E6FBF"/>
                </a:solidFill>
                <a:effectLst/>
                <a:uFillTx/>
                <a:latin typeface="Meiryo"/>
                <a:ea typeface="Meiryo"/>
              </a:rPr>
              <a:t>P1</a:t>
            </a:r>
            <a:r>
              <a:rPr lang="ja-JP" sz="2200" b="1" u="none" strike="noStrike">
                <a:solidFill>
                  <a:srgbClr val="2E6FBF"/>
                </a:solidFill>
                <a:effectLst/>
                <a:uFillTx/>
                <a:latin typeface="Meiryo"/>
                <a:ea typeface="Meiryo"/>
              </a:rPr>
              <a:t>（前進波・前期収縮期）</a:t>
            </a:r>
            <a:endParaRPr lang="en-US" sz="2000" b="0" u="none" strike="noStrike">
              <a:solidFill>
                <a:srgbClr val="000000"/>
              </a:solidFill>
              <a:effectLst/>
              <a:uFillTx/>
              <a:latin typeface="Arial"/>
            </a:endParaRPr>
          </a:p>
        </p:txBody>
      </p:sp>
      <p:sp>
        <p:nvSpPr>
          <p:cNvPr id="451" name="p2"/>
          <p:cNvSpPr/>
          <p:nvPr/>
        </p:nvSpPr>
        <p:spPr>
          <a:xfrm>
            <a:off x="5632200" y="2294280"/>
            <a:ext cx="446472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000" b="1" u="none" strike="noStrike">
                <a:solidFill>
                  <a:srgbClr val="E8853B"/>
                </a:solidFill>
                <a:effectLst/>
                <a:uFillTx/>
                <a:latin typeface="Meiryo"/>
                <a:ea typeface="Meiryo"/>
              </a:rPr>
              <a:t>P2</a:t>
            </a:r>
            <a:r>
              <a:rPr lang="ja-JP" sz="2000" b="1" u="none" strike="noStrike">
                <a:solidFill>
                  <a:srgbClr val="E8853B"/>
                </a:solidFill>
                <a:effectLst/>
                <a:uFillTx/>
                <a:latin typeface="Meiryo"/>
                <a:ea typeface="Meiryo"/>
              </a:rPr>
              <a:t>（反射波・後期収縮期</a:t>
            </a:r>
            <a:r>
              <a:rPr lang="en-US" sz="2000" b="1" u="none" strike="noStrike">
                <a:solidFill>
                  <a:srgbClr val="E8853B"/>
                </a:solidFill>
                <a:effectLst/>
                <a:uFillTx/>
                <a:latin typeface="Meiryo"/>
                <a:ea typeface="Meiryo"/>
              </a:rPr>
              <a:t>/</a:t>
            </a:r>
            <a:r>
              <a:rPr lang="ja-JP" sz="2000" b="1" u="none" strike="noStrike">
                <a:solidFill>
                  <a:srgbClr val="E8853B"/>
                </a:solidFill>
                <a:effectLst/>
                <a:uFillTx/>
                <a:latin typeface="Meiryo"/>
                <a:ea typeface="Meiryo"/>
              </a:rPr>
              <a:t>拡張期）</a:t>
            </a:r>
            <a:endParaRPr lang="en-US" sz="2000" b="0" u="none" strike="noStrike">
              <a:solidFill>
                <a:srgbClr val="000000"/>
              </a:solidFill>
              <a:effectLst/>
              <a:uFillTx/>
              <a:latin typeface="Arial"/>
            </a:endParaRPr>
          </a:p>
        </p:txBody>
      </p:sp>
      <p:sp>
        <p:nvSpPr>
          <p:cNvPr id="452" name="dt"/>
          <p:cNvSpPr/>
          <p:nvPr/>
        </p:nvSpPr>
        <p:spPr>
          <a:xfrm>
            <a:off x="5236560" y="4034520"/>
            <a:ext cx="859320" cy="31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200" b="1" u="none" strike="noStrike">
                <a:solidFill>
                  <a:srgbClr val="C6960C"/>
                </a:solidFill>
                <a:effectLst/>
                <a:uFillTx/>
                <a:latin typeface="Meiryo"/>
                <a:ea typeface="Meiryo"/>
              </a:rPr>
              <a:t>ΔT</a:t>
            </a:r>
            <a:endParaRPr lang="en-US" sz="1500" b="0" u="none" strike="noStrike">
              <a:solidFill>
                <a:srgbClr val="000000"/>
              </a:solidFill>
              <a:effectLst/>
              <a:uFillTx/>
              <a:latin typeface="Arial"/>
            </a:endParaRPr>
          </a:p>
        </p:txBody>
      </p:sp>
      <p:sp>
        <p:nvSpPr>
          <p:cNvPr id="453" name="base"/>
          <p:cNvSpPr/>
          <p:nvPr/>
        </p:nvSpPr>
        <p:spPr>
          <a:xfrm>
            <a:off x="1841400" y="4848840"/>
            <a:ext cx="730080" cy="27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200" b="0" u="none" strike="noStrike">
                <a:solidFill>
                  <a:srgbClr val="7F7F7F"/>
                </a:solidFill>
                <a:effectLst/>
                <a:uFillTx/>
                <a:latin typeface="Meiryo"/>
                <a:ea typeface="Meiryo"/>
              </a:rPr>
              <a:t>基線</a:t>
            </a:r>
            <a:endParaRPr lang="en-US" sz="1200" b="0" u="none" strike="noStrike">
              <a:solidFill>
                <a:srgbClr val="000000"/>
              </a:solidFill>
              <a:effectLst/>
              <a:uFillTx/>
              <a:latin typeface="Arial"/>
            </a:endParaRPr>
          </a:p>
        </p:txBody>
      </p:sp>
      <p:sp>
        <p:nvSpPr>
          <p:cNvPr id="454" name="fbox"/>
          <p:cNvSpPr/>
          <p:nvPr/>
        </p:nvSpPr>
        <p:spPr>
          <a:xfrm>
            <a:off x="576000" y="5358600"/>
            <a:ext cx="11016000" cy="676800"/>
          </a:xfrm>
          <a:prstGeom prst="roundRect">
            <a:avLst>
              <a:gd name="adj" fmla="val 16667"/>
            </a:avLst>
          </a:prstGeom>
          <a:solidFill>
            <a:srgbClr val="F2F2F2"/>
          </a:solidFill>
          <a:ln w="9525">
            <a:solidFill>
              <a:srgbClr val="BFBFBF"/>
            </a:solidFill>
            <a:round/>
          </a:ln>
        </p:spPr>
        <p:style>
          <a:lnRef idx="0">
            <a:scrgbClr r="0" g="0" b="0"/>
          </a:lnRef>
          <a:fillRef idx="0">
            <a:scrgbClr r="0" g="0" b="0"/>
          </a:fillRef>
          <a:effectRef idx="0">
            <a:scrgbClr r="0" g="0" b="0"/>
          </a:effectRef>
          <a:fontRef idx="minor"/>
        </p:style>
        <p:txBody>
          <a:bodyPr lIns="45720" tIns="27360" rIns="45720" bIns="27360" anchor="ctr">
            <a:normAutofit fontScale="92500" lnSpcReduction="9999"/>
          </a:bodyPr>
          <a:lstStyle/>
          <a:p>
            <a:pPr algn="ctr" defTabSz="914400">
              <a:lnSpc>
                <a:spcPct val="100000"/>
              </a:lnSpc>
            </a:pPr>
            <a:r>
              <a:rPr lang="en-US" sz="2400" b="1" u="none" strike="noStrike">
                <a:solidFill>
                  <a:srgbClr val="262626"/>
                </a:solidFill>
                <a:effectLst/>
                <a:uFillTx/>
                <a:latin typeface="Meiryo"/>
                <a:ea typeface="Meiryo"/>
              </a:rPr>
              <a:t>SI</a:t>
            </a:r>
            <a:r>
              <a:rPr lang="ja-JP" sz="2400" b="1" u="none" strike="noStrike">
                <a:solidFill>
                  <a:srgbClr val="262626"/>
                </a:solidFill>
                <a:effectLst/>
                <a:uFillTx/>
                <a:latin typeface="Meiryo"/>
                <a:ea typeface="Meiryo"/>
              </a:rPr>
              <a:t>＝身長</a:t>
            </a:r>
            <a:r>
              <a:rPr lang="en-US" sz="2400" b="1" u="none" strike="noStrike">
                <a:solidFill>
                  <a:srgbClr val="262626"/>
                </a:solidFill>
                <a:effectLst/>
                <a:uFillTx/>
                <a:latin typeface="Meiryo"/>
                <a:ea typeface="Meiryo"/>
              </a:rPr>
              <a:t>/</a:t>
            </a:r>
            <a:r>
              <a:rPr lang="en-US" sz="2400" b="1" u="none" strike="noStrike">
                <a:solidFill>
                  <a:srgbClr val="C6960C"/>
                </a:solidFill>
                <a:effectLst/>
                <a:uFillTx/>
                <a:latin typeface="Meiryo"/>
                <a:ea typeface="Meiryo"/>
              </a:rPr>
              <a:t>ΔT</a:t>
            </a:r>
            <a:r>
              <a:rPr lang="ja-JP" sz="2400" b="1" u="none" strike="noStrike">
                <a:solidFill>
                  <a:srgbClr val="262626"/>
                </a:solidFill>
                <a:effectLst/>
                <a:uFillTx/>
                <a:latin typeface="Meiryo"/>
                <a:ea typeface="Meiryo"/>
              </a:rPr>
              <a:t>　　　　</a:t>
            </a:r>
            <a:r>
              <a:rPr lang="en-US" sz="2400" b="1" u="none" strike="noStrike">
                <a:solidFill>
                  <a:srgbClr val="262626"/>
                </a:solidFill>
                <a:effectLst/>
                <a:uFillTx/>
                <a:latin typeface="Meiryo"/>
                <a:ea typeface="Meiryo"/>
              </a:rPr>
              <a:t>RI</a:t>
            </a:r>
            <a:r>
              <a:rPr lang="ja-JP" sz="2400" b="1" u="none" strike="noStrike">
                <a:solidFill>
                  <a:srgbClr val="262626"/>
                </a:solidFill>
                <a:effectLst/>
                <a:uFillTx/>
                <a:latin typeface="Meiryo"/>
                <a:ea typeface="Meiryo"/>
              </a:rPr>
              <a:t>＝</a:t>
            </a:r>
            <a:r>
              <a:rPr lang="en-US" sz="2400" b="1" u="none" strike="noStrike">
                <a:solidFill>
                  <a:srgbClr val="E8853B"/>
                </a:solidFill>
                <a:effectLst/>
                <a:uFillTx/>
                <a:latin typeface="Meiryo"/>
                <a:ea typeface="Meiryo"/>
              </a:rPr>
              <a:t>P2</a:t>
            </a:r>
            <a:r>
              <a:rPr lang="en-US" sz="2400" b="1" u="none" strike="noStrike">
                <a:solidFill>
                  <a:srgbClr val="262626"/>
                </a:solidFill>
                <a:effectLst/>
                <a:uFillTx/>
                <a:latin typeface="Meiryo"/>
                <a:ea typeface="Meiryo"/>
              </a:rPr>
              <a:t>/</a:t>
            </a:r>
            <a:r>
              <a:rPr lang="en-US" sz="2400" b="1" u="none" strike="noStrike">
                <a:solidFill>
                  <a:srgbClr val="2E6FBF"/>
                </a:solidFill>
                <a:effectLst/>
                <a:uFillTx/>
                <a:latin typeface="Meiryo"/>
                <a:ea typeface="Meiryo"/>
              </a:rPr>
              <a:t>P1</a:t>
            </a:r>
            <a:r>
              <a:rPr lang="ja-JP" sz="2400" b="1" u="none" strike="noStrike">
                <a:solidFill>
                  <a:srgbClr val="262626"/>
                </a:solidFill>
                <a:effectLst/>
                <a:uFillTx/>
                <a:latin typeface="Meiryo"/>
                <a:ea typeface="Meiryo"/>
              </a:rPr>
              <a:t>　　　　</a:t>
            </a:r>
            <a:r>
              <a:rPr lang="en-US" sz="2400" b="1" u="none" strike="noStrike">
                <a:solidFill>
                  <a:srgbClr val="262626"/>
                </a:solidFill>
                <a:effectLst/>
                <a:uFillTx/>
                <a:latin typeface="Meiryo"/>
                <a:ea typeface="Meiryo"/>
              </a:rPr>
              <a:t>AIx</a:t>
            </a:r>
            <a:r>
              <a:rPr lang="ja-JP" sz="2400" b="1" u="none" strike="noStrike">
                <a:solidFill>
                  <a:srgbClr val="262626"/>
                </a:solidFill>
                <a:effectLst/>
                <a:uFillTx/>
                <a:latin typeface="Meiryo"/>
                <a:ea typeface="Meiryo"/>
              </a:rPr>
              <a:t>＝</a:t>
            </a:r>
            <a:r>
              <a:rPr lang="en-US" sz="2400" b="1" u="none" strike="noStrike">
                <a:solidFill>
                  <a:srgbClr val="262626"/>
                </a:solidFill>
                <a:effectLst/>
                <a:uFillTx/>
                <a:latin typeface="Meiryo"/>
                <a:ea typeface="Meiryo"/>
              </a:rPr>
              <a:t>(</a:t>
            </a:r>
            <a:r>
              <a:rPr lang="en-US" sz="2400" b="1" u="none" strike="noStrike">
                <a:solidFill>
                  <a:srgbClr val="E8853B"/>
                </a:solidFill>
                <a:effectLst/>
                <a:uFillTx/>
                <a:latin typeface="Meiryo"/>
                <a:ea typeface="Meiryo"/>
              </a:rPr>
              <a:t>P2</a:t>
            </a:r>
            <a:r>
              <a:rPr lang="en-US" sz="2400" b="1" u="none" strike="noStrike">
                <a:solidFill>
                  <a:srgbClr val="262626"/>
                </a:solidFill>
                <a:effectLst/>
                <a:uFillTx/>
                <a:latin typeface="Meiryo"/>
                <a:ea typeface="Meiryo"/>
              </a:rPr>
              <a:t>−</a:t>
            </a:r>
            <a:r>
              <a:rPr lang="en-US" sz="2400" b="1" u="none" strike="noStrike">
                <a:solidFill>
                  <a:srgbClr val="2E6FBF"/>
                </a:solidFill>
                <a:effectLst/>
                <a:uFillTx/>
                <a:latin typeface="Meiryo"/>
                <a:ea typeface="Meiryo"/>
              </a:rPr>
              <a:t>P1</a:t>
            </a:r>
            <a:r>
              <a:rPr lang="en-US" sz="2400" b="1" u="none" strike="noStrike">
                <a:solidFill>
                  <a:srgbClr val="262626"/>
                </a:solidFill>
                <a:effectLst/>
                <a:uFillTx/>
                <a:latin typeface="Meiryo"/>
                <a:ea typeface="Meiryo"/>
              </a:rPr>
              <a:t>)/PP</a:t>
            </a:r>
            <a:endParaRPr lang="en-US" sz="2400" b="0" u="none" strike="noStrike">
              <a:solidFill>
                <a:srgbClr val="000000"/>
              </a:solidFill>
              <a:effectLst/>
              <a:uFillTx/>
              <a:latin typeface="Arial"/>
            </a:endParaRPr>
          </a:p>
        </p:txBody>
      </p:sp>
      <p:sp>
        <p:nvSpPr>
          <p:cNvPr id="455" name="gencho"/>
          <p:cNvSpPr/>
          <p:nvPr/>
        </p:nvSpPr>
        <p:spPr>
          <a:xfrm>
            <a:off x="1899000" y="6095880"/>
            <a:ext cx="8393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ja-JP" sz="1200" b="1" u="none" strike="noStrike">
                <a:solidFill>
                  <a:srgbClr val="7F7F7F"/>
                </a:solidFill>
                <a:effectLst/>
                <a:uFillTx/>
                <a:latin typeface="Meiryo"/>
                <a:ea typeface="Meiryo"/>
              </a:rPr>
              <a:t>原著　</a:t>
            </a:r>
            <a:r>
              <a:rPr lang="en-US" sz="1200" b="1" u="none" strike="noStrike">
                <a:solidFill>
                  <a:srgbClr val="7F7F7F"/>
                </a:solidFill>
                <a:effectLst/>
                <a:uFillTx/>
                <a:latin typeface="Meiryo"/>
                <a:ea typeface="Meiryo"/>
              </a:rPr>
              <a:t>SI</a:t>
            </a:r>
            <a:r>
              <a:rPr lang="ja-JP" sz="1200" b="1" u="none" strike="noStrike">
                <a:solidFill>
                  <a:srgbClr val="7F7F7F"/>
                </a:solidFill>
                <a:effectLst/>
                <a:uFillTx/>
                <a:latin typeface="Meiryo"/>
                <a:ea typeface="Meiryo"/>
              </a:rPr>
              <a:t>：</a:t>
            </a:r>
            <a:r>
              <a:rPr lang="en-US" sz="1200" b="1" u="none" strike="noStrike">
                <a:solidFill>
                  <a:srgbClr val="7F7F7F"/>
                </a:solidFill>
                <a:effectLst/>
                <a:uFillTx/>
                <a:latin typeface="Meiryo"/>
                <a:ea typeface="Meiryo"/>
              </a:rPr>
              <a:t>Millasseau 2002</a:t>
            </a:r>
            <a:r>
              <a:rPr lang="ja-JP" sz="1200" b="1" u="none" strike="noStrike">
                <a:solidFill>
                  <a:srgbClr val="7F7F7F"/>
                </a:solidFill>
                <a:effectLst/>
                <a:uFillTx/>
                <a:latin typeface="Meiryo"/>
                <a:ea typeface="Meiryo"/>
              </a:rPr>
              <a:t>　／　</a:t>
            </a:r>
            <a:r>
              <a:rPr lang="en-US" sz="1200" b="1" u="none" strike="noStrike">
                <a:solidFill>
                  <a:srgbClr val="7F7F7F"/>
                </a:solidFill>
                <a:effectLst/>
                <a:uFillTx/>
                <a:latin typeface="Meiryo"/>
                <a:ea typeface="Meiryo"/>
              </a:rPr>
              <a:t>RI</a:t>
            </a:r>
            <a:r>
              <a:rPr lang="ja-JP" sz="1200" b="1" u="none" strike="noStrike">
                <a:solidFill>
                  <a:srgbClr val="7F7F7F"/>
                </a:solidFill>
                <a:effectLst/>
                <a:uFillTx/>
                <a:latin typeface="Meiryo"/>
                <a:ea typeface="Meiryo"/>
              </a:rPr>
              <a:t>：</a:t>
            </a:r>
            <a:r>
              <a:rPr lang="en-US" sz="1200" b="1" u="none" strike="noStrike">
                <a:solidFill>
                  <a:srgbClr val="7F7F7F"/>
                </a:solidFill>
                <a:effectLst/>
                <a:uFillTx/>
                <a:latin typeface="Meiryo"/>
                <a:ea typeface="Meiryo"/>
              </a:rPr>
              <a:t>Chowienczyk 1999</a:t>
            </a:r>
            <a:r>
              <a:rPr lang="ja-JP" sz="1200" b="1" u="none" strike="noStrike">
                <a:solidFill>
                  <a:srgbClr val="7F7F7F"/>
                </a:solidFill>
                <a:effectLst/>
                <a:uFillTx/>
                <a:latin typeface="Meiryo"/>
                <a:ea typeface="Meiryo"/>
              </a:rPr>
              <a:t>　／　</a:t>
            </a:r>
            <a:r>
              <a:rPr lang="en-US" sz="1200" b="1" u="none" strike="noStrike">
                <a:solidFill>
                  <a:srgbClr val="7F7F7F"/>
                </a:solidFill>
                <a:effectLst/>
                <a:uFillTx/>
                <a:latin typeface="Meiryo"/>
                <a:ea typeface="Meiryo"/>
              </a:rPr>
              <a:t>AIx</a:t>
            </a:r>
            <a:r>
              <a:rPr lang="ja-JP" sz="1200" b="1" u="none" strike="noStrike">
                <a:solidFill>
                  <a:srgbClr val="7F7F7F"/>
                </a:solidFill>
                <a:effectLst/>
                <a:uFillTx/>
                <a:latin typeface="Meiryo"/>
                <a:ea typeface="Meiryo"/>
              </a:rPr>
              <a:t>：</a:t>
            </a:r>
            <a:r>
              <a:rPr lang="en-US" sz="1200" b="1" u="none" strike="noStrike">
                <a:solidFill>
                  <a:srgbClr val="7F7F7F"/>
                </a:solidFill>
                <a:effectLst/>
                <a:uFillTx/>
                <a:latin typeface="Meiryo"/>
                <a:ea typeface="Meiryo"/>
              </a:rPr>
              <a:t>Takazawa 1998</a:t>
            </a:r>
            <a:endParaRPr lang="en-US" sz="1200" b="0" u="none" strike="noStrike">
              <a:solidFill>
                <a:srgbClr val="000000"/>
              </a:solidFill>
              <a:effectLst/>
              <a:uFillTx/>
              <a:latin typeface="Arial"/>
            </a:endParaRPr>
          </a:p>
        </p:txBody>
      </p:sp>
      <p:sp>
        <p:nvSpPr>
          <p:cNvPr id="456" name="TextBox 491"/>
          <p:cNvSpPr/>
          <p:nvPr/>
        </p:nvSpPr>
        <p:spPr>
          <a:xfrm>
            <a:off x="576000" y="6400800"/>
            <a:ext cx="1101600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SI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stiffness index</a:t>
            </a:r>
            <a:r>
              <a:rPr lang="ja-JP" sz="1050" b="0" u="none" strike="noStrike">
                <a:solidFill>
                  <a:srgbClr val="808080"/>
                </a:solidFill>
                <a:effectLst/>
                <a:uFillTx/>
                <a:latin typeface="Meiryo"/>
                <a:ea typeface="Meiryo"/>
              </a:rPr>
              <a:t>（ス⁠テ⁠ィ⁠フ⁠ネ⁠ス指数）　／　</a:t>
            </a:r>
            <a:r>
              <a:rPr lang="en-US" sz="1050" b="0" u="none" strike="noStrike">
                <a:solidFill>
                  <a:srgbClr val="808080"/>
                </a:solidFill>
                <a:effectLst/>
                <a:uFillTx/>
                <a:latin typeface="Meiryo"/>
                <a:ea typeface="Meiryo"/>
              </a:rPr>
              <a:t>RI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reflection index</a:t>
            </a:r>
            <a:r>
              <a:rPr lang="ja-JP" sz="1050" b="0" u="none" strike="noStrike">
                <a:solidFill>
                  <a:srgbClr val="808080"/>
                </a:solidFill>
                <a:effectLst/>
                <a:uFillTx/>
                <a:latin typeface="Meiryo"/>
                <a:ea typeface="Meiryo"/>
              </a:rPr>
              <a:t>（反射指数）　／　</a:t>
            </a:r>
            <a:r>
              <a:rPr lang="en-US" sz="1050" b="0" u="none" strike="noStrike">
                <a:solidFill>
                  <a:srgbClr val="808080"/>
                </a:solidFill>
                <a:effectLst/>
                <a:uFillTx/>
                <a:latin typeface="Meiryo"/>
                <a:ea typeface="Meiryo"/>
              </a:rPr>
              <a:t>AIx</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augmentation index</a:t>
            </a:r>
            <a:r>
              <a:rPr lang="ja-JP" sz="1050" b="0" u="none" strike="noStrike">
                <a:solidFill>
                  <a:srgbClr val="808080"/>
                </a:solidFill>
                <a:effectLst/>
                <a:uFillTx/>
                <a:latin typeface="Meiryo"/>
                <a:ea typeface="Meiryo"/>
              </a:rPr>
              <a:t>（増大係数）</a:t>
            </a:r>
            <a:endParaRPr lang="en-US" sz="10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TitleFrame"/>
          <p:cNvSpPr/>
          <p:nvPr/>
        </p:nvSpPr>
        <p:spPr>
          <a:xfrm>
            <a:off x="655200" y="603504"/>
            <a:ext cx="63642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5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4.2  SDPPG </a:t>
            </a:r>
            <a:r>
              <a:rPr lang="ja-JP" sz="4400" b="1" u="none" strike="noStrike">
                <a:ln w="19050">
                  <a:solidFill>
                    <a:srgbClr val="000000"/>
                  </a:solidFill>
                </a:ln>
                <a:solidFill>
                  <a:schemeClr val="accent4">
                    <a:lumMod val="75000"/>
                  </a:schemeClr>
                </a:solidFill>
                <a:effectLst/>
                <a:uFillTx/>
                <a:latin typeface="Meiryo"/>
                <a:ea typeface="Meiryo"/>
              </a:rPr>
              <a:t>と </a:t>
            </a:r>
            <a:r>
              <a:rPr lang="en-US" sz="4400" b="1" u="none" strike="noStrike">
                <a:ln w="19050">
                  <a:solidFill>
                    <a:srgbClr val="000000"/>
                  </a:solidFill>
                </a:ln>
                <a:solidFill>
                  <a:schemeClr val="accent4">
                    <a:lumMod val="75000"/>
                  </a:schemeClr>
                </a:solidFill>
                <a:effectLst/>
                <a:uFillTx/>
                <a:latin typeface="Meiryo"/>
                <a:ea typeface="Meiryo"/>
              </a:rPr>
              <a:t>AGI</a:t>
            </a:r>
            <a:endParaRPr lang="en-US" sz="4600" b="1" u="none" strike="noStrike">
              <a:ln w="19050">
                <a:solidFill>
                  <a:srgbClr val="000000"/>
                </a:solidFill>
              </a:ln>
              <a:solidFill>
                <a:schemeClr val="accent4">
                  <a:lumMod val="75000"/>
                </a:schemeClr>
              </a:solidFill>
              <a:effectLst/>
              <a:uFillTx/>
              <a:latin typeface="Calibri"/>
            </a:endParaRPr>
          </a:p>
        </p:txBody>
      </p:sp>
      <p:sp>
        <p:nvSpPr>
          <p:cNvPr id="45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5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6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6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6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6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6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6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16. Takazawa 1998</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3"/>
              </a:rPr>
              <a:t>18. Bortolotto 2000</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19. Hashimoto 2002</a:t>
            </a:r>
            <a:endParaRPr lang="en-US" sz="1050" b="0" u="none" strike="noStrike">
              <a:solidFill>
                <a:srgbClr val="000000"/>
              </a:solidFill>
              <a:effectLst/>
              <a:uFillTx/>
              <a:latin typeface="Arial"/>
            </a:endParaRPr>
          </a:p>
        </p:txBody>
      </p:sp>
      <p:pic>
        <p:nvPicPr>
          <p:cNvPr id="466" name="Picture 8" descr="18_sdppg.png"/>
          <p:cNvPicPr/>
          <p:nvPr/>
        </p:nvPicPr>
        <p:blipFill>
          <a:blip r:embed="rId5"/>
          <a:stretch/>
        </p:blipFill>
        <p:spPr>
          <a:xfrm>
            <a:off x="2625840" y="1800000"/>
            <a:ext cx="6916320" cy="4319640"/>
          </a:xfrm>
          <a:prstGeom prst="rect">
            <a:avLst/>
          </a:prstGeom>
          <a:noFill/>
          <a:ln w="0">
            <a:noFill/>
          </a:ln>
        </p:spPr>
      </p:pic>
      <p:sp>
        <p:nvSpPr>
          <p:cNvPr id="46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28/47</a:t>
            </a:r>
            <a:endParaRPr lang="en-US" sz="1200" b="0" u="none" strike="noStrike">
              <a:solidFill>
                <a:srgbClr val="000000"/>
              </a:solidFill>
              <a:effectLst/>
              <a:uFillTx/>
              <a:latin typeface="Arial"/>
            </a:endParaRPr>
          </a:p>
        </p:txBody>
      </p:sp>
      <p:sp>
        <p:nvSpPr>
          <p:cNvPr id="468" name="ppg"/>
          <p:cNvSpPr/>
          <p:nvPr/>
        </p:nvSpPr>
        <p:spPr>
          <a:xfrm>
            <a:off x="2761560" y="1968840"/>
            <a:ext cx="193644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262626"/>
                </a:solidFill>
                <a:effectLst/>
                <a:uFillTx/>
                <a:latin typeface="Meiryo"/>
                <a:ea typeface="Meiryo"/>
              </a:rPr>
              <a:t>原波形 </a:t>
            </a:r>
            <a:r>
              <a:rPr lang="en-US" sz="2200" b="1" u="none" strike="noStrike">
                <a:solidFill>
                  <a:srgbClr val="262626"/>
                </a:solidFill>
                <a:effectLst/>
                <a:uFillTx/>
                <a:latin typeface="Meiryo"/>
                <a:ea typeface="Meiryo"/>
              </a:rPr>
              <a:t>PPG</a:t>
            </a:r>
            <a:endParaRPr lang="en-US" sz="1450" b="0" u="none" strike="noStrike">
              <a:solidFill>
                <a:srgbClr val="000000"/>
              </a:solidFill>
              <a:effectLst/>
              <a:uFillTx/>
              <a:latin typeface="Arial"/>
            </a:endParaRPr>
          </a:p>
        </p:txBody>
      </p:sp>
      <p:sp>
        <p:nvSpPr>
          <p:cNvPr id="469" name="sys"/>
          <p:cNvSpPr/>
          <p:nvPr/>
        </p:nvSpPr>
        <p:spPr>
          <a:xfrm>
            <a:off x="6429960" y="2037600"/>
            <a:ext cx="304308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defTabSz="914400">
              <a:lnSpc>
                <a:spcPct val="100000"/>
              </a:lnSpc>
            </a:pPr>
            <a:r>
              <a:rPr lang="ja-JP" sz="1350" b="1" u="none" strike="noStrike">
                <a:solidFill>
                  <a:srgbClr val="262626"/>
                </a:solidFill>
                <a:effectLst/>
                <a:uFillTx/>
                <a:latin typeface="Meiryo"/>
                <a:ea typeface="Meiryo"/>
              </a:rPr>
              <a:t>収縮期：</a:t>
            </a:r>
            <a:r>
              <a:rPr lang="en-US" sz="1350" b="1" u="none" strike="noStrike">
                <a:solidFill>
                  <a:srgbClr val="262626"/>
                </a:solidFill>
                <a:effectLst/>
                <a:uFillTx/>
                <a:latin typeface="Meiryo"/>
                <a:ea typeface="Meiryo"/>
              </a:rPr>
              <a:t>a–d</a:t>
            </a:r>
            <a:r>
              <a:rPr lang="ja-JP" sz="1350" b="1" u="none" strike="noStrike">
                <a:solidFill>
                  <a:srgbClr val="262626"/>
                </a:solidFill>
                <a:effectLst/>
                <a:uFillTx/>
                <a:latin typeface="Meiryo"/>
                <a:ea typeface="Meiryo"/>
              </a:rPr>
              <a:t>　／　拡張期：</a:t>
            </a:r>
            <a:r>
              <a:rPr lang="en-US" sz="1350" b="1" u="none" strike="noStrike">
                <a:solidFill>
                  <a:srgbClr val="262626"/>
                </a:solidFill>
                <a:effectLst/>
                <a:uFillTx/>
                <a:latin typeface="Meiryo"/>
                <a:ea typeface="Meiryo"/>
              </a:rPr>
              <a:t>e</a:t>
            </a:r>
            <a:r>
              <a:rPr lang="ja-JP" sz="1350" b="1" u="none" strike="noStrike">
                <a:solidFill>
                  <a:srgbClr val="262626"/>
                </a:solidFill>
                <a:effectLst/>
                <a:uFillTx/>
                <a:latin typeface="Meiryo"/>
                <a:ea typeface="Meiryo"/>
              </a:rPr>
              <a:t>（重複切痕）</a:t>
            </a:r>
            <a:endParaRPr lang="en-US" sz="1350" b="0" u="none" strike="noStrike">
              <a:solidFill>
                <a:srgbClr val="000000"/>
              </a:solidFill>
              <a:effectLst/>
              <a:uFillTx/>
              <a:latin typeface="Arial"/>
            </a:endParaRPr>
          </a:p>
        </p:txBody>
      </p:sp>
      <p:sp>
        <p:nvSpPr>
          <p:cNvPr id="470" name="sd"/>
          <p:cNvSpPr/>
          <p:nvPr/>
        </p:nvSpPr>
        <p:spPr>
          <a:xfrm>
            <a:off x="2761560" y="3794760"/>
            <a:ext cx="4484284"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00A8AA"/>
                </a:solidFill>
                <a:effectLst/>
                <a:uFillTx/>
                <a:latin typeface="Meiryo"/>
                <a:ea typeface="Meiryo"/>
              </a:rPr>
              <a:t>二次微分 </a:t>
            </a:r>
            <a:r>
              <a:rPr lang="en-US" sz="2200" b="1" u="none" strike="noStrike">
                <a:solidFill>
                  <a:srgbClr val="00A8AA"/>
                </a:solidFill>
                <a:effectLst/>
                <a:uFillTx/>
                <a:latin typeface="Meiryo"/>
                <a:ea typeface="Meiryo"/>
              </a:rPr>
              <a:t>SDPPG</a:t>
            </a:r>
            <a:r>
              <a:rPr lang="ja-JP" sz="2200" b="1" u="none" strike="noStrike">
                <a:solidFill>
                  <a:srgbClr val="00A8AA"/>
                </a:solidFill>
                <a:effectLst/>
                <a:uFillTx/>
                <a:latin typeface="Meiryo"/>
                <a:ea typeface="Meiryo"/>
              </a:rPr>
              <a:t>（加速度脈波）</a:t>
            </a:r>
            <a:endParaRPr lang="en-US" sz="1450" b="0" u="none" strike="noStrike">
              <a:solidFill>
                <a:srgbClr val="000000"/>
              </a:solidFill>
              <a:effectLst/>
              <a:uFillTx/>
              <a:latin typeface="Arial"/>
            </a:endParaRPr>
          </a:p>
        </p:txBody>
      </p:sp>
      <p:sp>
        <p:nvSpPr>
          <p:cNvPr id="471" name="agi"/>
          <p:cNvSpPr/>
          <p:nvPr/>
        </p:nvSpPr>
        <p:spPr>
          <a:xfrm>
            <a:off x="6429960" y="5234400"/>
            <a:ext cx="2973960" cy="712440"/>
          </a:xfrm>
          <a:prstGeom prst="roundRect">
            <a:avLst>
              <a:gd name="adj" fmla="val 16667"/>
            </a:avLst>
          </a:prstGeom>
          <a:solidFill>
            <a:srgbClr val="F2E2B3"/>
          </a:solidFill>
          <a:ln w="1270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1300" b="1" u="none" strike="noStrike">
                <a:solidFill>
                  <a:srgbClr val="7A5C00"/>
                </a:solidFill>
                <a:effectLst/>
                <a:uFillTx/>
                <a:latin typeface="Meiryo"/>
                <a:ea typeface="Meiryo"/>
              </a:rPr>
              <a:t>AGI=(b−c−d−e)/a</a:t>
            </a:r>
            <a:endParaRPr lang="en-US" sz="1300" b="0" u="none" strike="noStrike">
              <a:solidFill>
                <a:srgbClr val="000000"/>
              </a:solidFill>
              <a:effectLst/>
              <a:uFillTx/>
              <a:latin typeface="Arial"/>
            </a:endParaRPr>
          </a:p>
          <a:p>
            <a:pPr algn="ctr" defTabSz="914400">
              <a:lnSpc>
                <a:spcPct val="100000"/>
              </a:lnSpc>
            </a:pPr>
            <a:r>
              <a:rPr lang="ja-JP" sz="1250" b="1" u="none" strike="noStrike">
                <a:solidFill>
                  <a:srgbClr val="7A5C00"/>
                </a:solidFill>
                <a:effectLst/>
                <a:uFillTx/>
                <a:latin typeface="Meiryo"/>
                <a:ea typeface="Meiryo"/>
              </a:rPr>
              <a:t>加齢↑で </a:t>
            </a:r>
            <a:r>
              <a:rPr lang="en-US" sz="1250" b="1" u="none" strike="noStrike">
                <a:solidFill>
                  <a:srgbClr val="7A5C00"/>
                </a:solidFill>
                <a:effectLst/>
                <a:uFillTx/>
                <a:latin typeface="Meiryo"/>
                <a:ea typeface="Meiryo"/>
              </a:rPr>
              <a:t>b/a↑, c/a</a:t>
            </a:r>
            <a:r>
              <a:rPr lang="ja-JP" sz="1250" b="1" u="none" strike="noStrike">
                <a:solidFill>
                  <a:srgbClr val="7A5C00"/>
                </a:solidFill>
                <a:effectLst/>
                <a:uFillTx/>
                <a:latin typeface="Meiryo"/>
                <a:ea typeface="Meiryo"/>
              </a:rPr>
              <a:t>・</a:t>
            </a:r>
            <a:r>
              <a:rPr lang="en-US" sz="1250" b="1" u="none" strike="noStrike">
                <a:solidFill>
                  <a:srgbClr val="7A5C00"/>
                </a:solidFill>
                <a:effectLst/>
                <a:uFillTx/>
                <a:latin typeface="Meiryo"/>
                <a:ea typeface="Meiryo"/>
              </a:rPr>
              <a:t>d/a</a:t>
            </a:r>
            <a:r>
              <a:rPr lang="ja-JP" sz="1250" b="1" u="none" strike="noStrike">
                <a:solidFill>
                  <a:srgbClr val="7A5C00"/>
                </a:solidFill>
                <a:effectLst/>
                <a:uFillTx/>
                <a:latin typeface="Meiryo"/>
                <a:ea typeface="Meiryo"/>
              </a:rPr>
              <a:t>・</a:t>
            </a:r>
            <a:r>
              <a:rPr lang="en-US" sz="1250" b="1" u="none" strike="noStrike">
                <a:solidFill>
                  <a:srgbClr val="7A5C00"/>
                </a:solidFill>
                <a:effectLst/>
                <a:uFillTx/>
                <a:latin typeface="Meiryo"/>
                <a:ea typeface="Meiryo"/>
              </a:rPr>
              <a:t>e/a↓</a:t>
            </a:r>
            <a:endParaRPr lang="en-US" sz="1250" b="0" u="none" strike="noStrike">
              <a:solidFill>
                <a:srgbClr val="000000"/>
              </a:solidFill>
              <a:effectLst/>
              <a:uFillTx/>
              <a:latin typeface="Arial"/>
            </a:endParaRPr>
          </a:p>
        </p:txBody>
      </p:sp>
      <p:sp>
        <p:nvSpPr>
          <p:cNvPr id="472" name="TextBox 44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SDPPG</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second derivative of PPG</a:t>
            </a:r>
            <a:r>
              <a:rPr lang="ja-JP" sz="1050" b="0" u="none" strike="noStrike">
                <a:solidFill>
                  <a:srgbClr val="808080"/>
                </a:solidFill>
                <a:effectLst/>
                <a:uFillTx/>
                <a:latin typeface="Meiryo"/>
                <a:ea typeface="Meiryo"/>
              </a:rPr>
              <a:t>（加速度脈波）　／　</a:t>
            </a:r>
            <a:r>
              <a:rPr lang="en-US" sz="1050" b="0" u="none" strike="noStrike">
                <a:solidFill>
                  <a:srgbClr val="808080"/>
                </a:solidFill>
                <a:effectLst/>
                <a:uFillTx/>
                <a:latin typeface="Meiryo"/>
                <a:ea typeface="Meiryo"/>
              </a:rPr>
              <a:t>AGI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aging index</a:t>
            </a:r>
            <a:r>
              <a:rPr lang="ja-JP" sz="1050" b="0" u="none" strike="noStrike">
                <a:solidFill>
                  <a:srgbClr val="808080"/>
                </a:solidFill>
                <a:effectLst/>
                <a:uFillTx/>
                <a:latin typeface="Meiryo"/>
                <a:ea typeface="Meiryo"/>
              </a:rPr>
              <a:t>（加齢指数）</a:t>
            </a:r>
            <a:endParaRPr lang="en-US" sz="10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TitleFrame"/>
          <p:cNvSpPr/>
          <p:nvPr/>
        </p:nvSpPr>
        <p:spPr>
          <a:xfrm>
            <a:off x="655200" y="603504"/>
            <a:ext cx="6181344" cy="804672"/>
          </a:xfrm>
          <a:prstGeom prst="roundRect">
            <a:avLst>
              <a:gd name="adj" fmla="val 8000"/>
            </a:avLst>
          </a:prstGeom>
          <a:noFill/>
          <a:ln w="28575" cap="flat">
            <a:solidFill>
              <a:srgbClr val="44546A"/>
            </a:solidFill>
            <a:round/>
          </a:ln>
        </p:spPr>
        <p:txBody>
          <a:bodyPr rtlCol="0" anchor="ctr"/>
          <a:lstStyle/>
          <a:p>
            <a:endParaRPr lang="ja-JP"/>
          </a:p>
        </p:txBody>
      </p:sp>
      <p:sp>
        <p:nvSpPr>
          <p:cNvPr id="47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4.2  SDPPG </a:t>
            </a:r>
            <a:r>
              <a:rPr lang="ja-JP" sz="4400" b="1" u="none" strike="noStrike">
                <a:ln w="19050">
                  <a:solidFill>
                    <a:srgbClr val="000000"/>
                  </a:solidFill>
                </a:ln>
                <a:solidFill>
                  <a:schemeClr val="accent4">
                    <a:lumMod val="75000"/>
                  </a:schemeClr>
                </a:solidFill>
                <a:effectLst/>
                <a:uFillTx/>
                <a:latin typeface="Meiryo"/>
                <a:ea typeface="Meiryo"/>
              </a:rPr>
              <a:t>の利点</a:t>
            </a:r>
            <a:endParaRPr lang="en-US" sz="4600" b="1" u="none" strike="noStrike">
              <a:ln w="19050">
                <a:solidFill>
                  <a:srgbClr val="000000"/>
                </a:solidFill>
              </a:ln>
              <a:solidFill>
                <a:schemeClr val="accent4">
                  <a:lumMod val="75000"/>
                </a:schemeClr>
              </a:solidFill>
              <a:effectLst/>
              <a:uFillTx/>
              <a:latin typeface="Calibri"/>
            </a:endParaRPr>
          </a:p>
        </p:txBody>
      </p:sp>
      <p:sp>
        <p:nvSpPr>
          <p:cNvPr id="47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7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7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77"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7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7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8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8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16. Takazawa 1998  ／  18. Bortolotto 2000  ／  19. Hashimoto 2002  ／  22. Elgendi 2012</a:t>
            </a:r>
            <a:endParaRPr lang="en-US" sz="1050" b="0" u="none" strike="noStrike">
              <a:solidFill>
                <a:srgbClr val="000000"/>
              </a:solidFill>
              <a:effectLst/>
              <a:uFillTx/>
              <a:latin typeface="Arial"/>
            </a:endParaRPr>
          </a:p>
        </p:txBody>
      </p:sp>
      <p:sp>
        <p:nvSpPr>
          <p:cNvPr id="48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29/47</a:t>
            </a:r>
            <a:endParaRPr lang="en-US" sz="1200" b="0" u="none" strike="noStrike">
              <a:solidFill>
                <a:srgbClr val="000000"/>
              </a:solidFill>
              <a:effectLst/>
              <a:uFillTx/>
              <a:latin typeface="Arial"/>
            </a:endParaRPr>
          </a:p>
        </p:txBody>
      </p:sp>
      <p:sp>
        <p:nvSpPr>
          <p:cNvPr id="483" name="Rounded Rectangle 18"/>
          <p:cNvSpPr/>
          <p:nvPr/>
        </p:nvSpPr>
        <p:spPr>
          <a:xfrm>
            <a:off x="658440" y="2377440"/>
            <a:ext cx="5211720" cy="15724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2E75B6"/>
                </a:solidFill>
                <a:effectLst/>
                <a:uFillTx/>
                <a:latin typeface="Meiryo"/>
                <a:ea typeface="Meiryo"/>
              </a:rPr>
              <a:t>① 変曲点を「ピーク」に変換</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Meiryo"/>
                <a:ea typeface="Meiryo"/>
              </a:rPr>
              <a:t>「折れ」を </a:t>
            </a:r>
            <a:r>
              <a:rPr lang="en-US" sz="2200" b="0" u="none" strike="noStrike">
                <a:solidFill>
                  <a:srgbClr val="262626"/>
                </a:solidFill>
                <a:effectLst/>
                <a:uFillTx/>
                <a:latin typeface="Meiryo"/>
                <a:ea typeface="Meiryo"/>
              </a:rPr>
              <a:t>a–e </a:t>
            </a:r>
            <a:r>
              <a:rPr lang="ja-JP" sz="2200" b="0" u="none" strike="noStrike">
                <a:solidFill>
                  <a:srgbClr val="262626"/>
                </a:solidFill>
                <a:effectLst/>
                <a:uFillTx/>
                <a:latin typeface="Meiryo"/>
                <a:ea typeface="Meiryo"/>
              </a:rPr>
              <a:t>の明瞭な極値に</a:t>
            </a:r>
            <a:br>
              <a:rPr sz="2200"/>
            </a:br>
            <a:r>
              <a:rPr lang="ja-JP" sz="2200" b="0" u="none" strike="noStrike">
                <a:solidFill>
                  <a:srgbClr val="262626"/>
                </a:solidFill>
                <a:effectLst/>
                <a:uFillTx/>
                <a:latin typeface="Meiryo"/>
                <a:ea typeface="Meiryo"/>
              </a:rPr>
              <a:t>変換し、位置と大小を定量化</a:t>
            </a:r>
            <a:endParaRPr lang="en-US" sz="2200" b="0" u="none" strike="noStrike">
              <a:solidFill>
                <a:srgbClr val="000000"/>
              </a:solidFill>
              <a:effectLst/>
              <a:uFillTx/>
              <a:latin typeface="Arial"/>
            </a:endParaRPr>
          </a:p>
        </p:txBody>
      </p:sp>
      <p:sp>
        <p:nvSpPr>
          <p:cNvPr id="484" name="Rounded Rectangle 19"/>
          <p:cNvSpPr/>
          <p:nvPr/>
        </p:nvSpPr>
        <p:spPr>
          <a:xfrm>
            <a:off x="6309360" y="2377440"/>
            <a:ext cx="5211720" cy="1572480"/>
          </a:xfrm>
          <a:prstGeom prst="roundRect">
            <a:avLst>
              <a:gd name="adj" fmla="val 5000"/>
            </a:avLst>
          </a:prstGeom>
          <a:solidFill>
            <a:srgbClr val="FFFFFF"/>
          </a:solidFill>
          <a:ln w="15875">
            <a:solidFill>
              <a:srgbClr val="009BA5"/>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009BA5"/>
                </a:solidFill>
                <a:effectLst/>
                <a:uFillTx/>
                <a:latin typeface="Meiryo"/>
                <a:ea typeface="Meiryo"/>
              </a:rPr>
              <a:t>② 切痕が消えても検出できる</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Meiryo"/>
                <a:ea typeface="Meiryo"/>
              </a:rPr>
              <a:t>過減衰・</a:t>
            </a:r>
            <a:r>
              <a:rPr lang="en-US" sz="2200" b="0" u="none" strike="noStrike">
                <a:solidFill>
                  <a:srgbClr val="262626"/>
                </a:solidFill>
                <a:effectLst/>
                <a:uFillTx/>
                <a:latin typeface="Meiryo"/>
                <a:ea typeface="Meiryo"/>
              </a:rPr>
              <a:t>DN-less </a:t>
            </a:r>
            <a:r>
              <a:rPr lang="ja-JP" sz="2200" b="0" u="none" strike="noStrike">
                <a:solidFill>
                  <a:srgbClr val="262626"/>
                </a:solidFill>
                <a:effectLst/>
                <a:uFillTx/>
                <a:latin typeface="Meiryo"/>
                <a:ea typeface="Meiryo"/>
              </a:rPr>
              <a:t>でも </a:t>
            </a:r>
            <a:r>
              <a:rPr lang="en-US" sz="2200" b="0" u="none" strike="noStrike">
                <a:solidFill>
                  <a:srgbClr val="262626"/>
                </a:solidFill>
                <a:effectLst/>
                <a:uFillTx/>
                <a:latin typeface="Meiryo"/>
                <a:ea typeface="Meiryo"/>
              </a:rPr>
              <a:t>e </a:t>
            </a:r>
            <a:br>
              <a:rPr sz="2200"/>
            </a:br>
            <a:endParaRPr lang="en-US" sz="2200" b="0" u="none" strike="noStrike">
              <a:solidFill>
                <a:srgbClr val="000000"/>
              </a:solidFill>
              <a:effectLst/>
              <a:uFillTx/>
              <a:latin typeface="Arial"/>
            </a:endParaRPr>
          </a:p>
          <a:p>
            <a:pPr defTabSz="914400">
              <a:lnSpc>
                <a:spcPct val="108000"/>
              </a:lnSpc>
            </a:pPr>
            <a:br>
              <a:rPr sz="2200"/>
            </a:br>
            <a:endParaRPr lang="en-US" sz="2200" b="0" u="none" strike="noStrike">
              <a:solidFill>
                <a:srgbClr val="000000"/>
              </a:solidFill>
              <a:effectLst/>
              <a:uFillTx/>
              <a:latin typeface="Arial"/>
            </a:endParaRPr>
            <a:r>
              <a:rPr lang="ja-JP" sz="2200" b="0" u="none" strike="noStrike">
                <a:solidFill>
                  <a:srgbClr val="262626"/>
                </a:solidFill>
                <a:effectLst/>
                <a:uFillTx/>
                <a:latin typeface="Meiryo"/>
                <a:ea typeface="Meiryo"/>
              </a:rPr>
              <a:t>波で</a:t>
            </a:r>
            <a:r>
              <a:rPr lang="ja-JP" sz="2200" b="0" u="none" strike="noStrike">
                <a:solidFill>
                  <a:srgbClr val="262626"/>
                </a:solidFill>
                <a:effectLst/>
                <a:uFillTx/>
                <a:latin typeface="Meiryo"/>
                <a:ea typeface="Meiryo"/>
              </a:rPr>
              <a:t>切痕相当点を検出し位置を推定</a:t>
            </a:r>
          </a:p>
        </p:txBody>
      </p:sp>
      <p:sp>
        <p:nvSpPr>
          <p:cNvPr id="485" name="Rounded Rectangle 20"/>
          <p:cNvSpPr/>
          <p:nvPr/>
        </p:nvSpPr>
        <p:spPr>
          <a:xfrm>
            <a:off x="658440" y="4096440"/>
            <a:ext cx="5211720" cy="15724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BF9000"/>
                </a:solidFill>
                <a:effectLst/>
                <a:uFillTx/>
                <a:latin typeface="Meiryo"/>
                <a:ea typeface="Meiryo"/>
              </a:rPr>
              <a:t>③ 加齢・動脈硬化の指標</a:t>
            </a:r>
            <a:endParaRPr lang="en-US" sz="2200" b="0" u="none" strike="noStrike">
              <a:solidFill>
                <a:srgbClr val="000000"/>
              </a:solidFill>
              <a:effectLst/>
              <a:uFillTx/>
              <a:latin typeface="Arial"/>
            </a:endParaRPr>
          </a:p>
          <a:p>
            <a:pPr defTabSz="914400">
              <a:lnSpc>
                <a:spcPct val="108000"/>
              </a:lnSpc>
            </a:pPr>
            <a:r>
              <a:rPr lang="en-US" sz="2200" b="0" u="none" strike="noStrike">
                <a:solidFill>
                  <a:srgbClr val="262626"/>
                </a:solidFill>
                <a:effectLst/>
                <a:uFillTx/>
                <a:latin typeface="Meiryo"/>
                <a:ea typeface="Meiryo"/>
              </a:rPr>
              <a:t>b/a↑</a:t>
            </a:r>
            <a:r>
              <a:rPr lang="ja-JP" sz="2200" b="0" u="none" strike="noStrike">
                <a:solidFill>
                  <a:srgbClr val="262626"/>
                </a:solidFill>
                <a:effectLst/>
                <a:uFillTx/>
                <a:latin typeface="Meiryo"/>
                <a:ea typeface="Meiryo"/>
              </a:rPr>
              <a:t>・</a:t>
            </a:r>
            <a:r>
              <a:rPr lang="en-US" sz="2200" b="0" u="none" strike="noStrike">
                <a:solidFill>
                  <a:srgbClr val="262626"/>
                </a:solidFill>
                <a:effectLst/>
                <a:uFillTx/>
                <a:latin typeface="Meiryo"/>
                <a:ea typeface="Meiryo"/>
              </a:rPr>
              <a:t>AGI </a:t>
            </a:r>
            <a:r>
              <a:rPr lang="ja-JP" sz="2200" b="0" u="none" strike="noStrike">
                <a:solidFill>
                  <a:srgbClr val="262626"/>
                </a:solidFill>
                <a:effectLst/>
                <a:uFillTx/>
                <a:latin typeface="Meiryo"/>
                <a:ea typeface="Meiryo"/>
              </a:rPr>
              <a:t>が年齢と相関</a:t>
            </a:r>
            <a:br>
              <a:rPr sz="2200"/>
            </a:br>
            <a:r>
              <a:rPr lang="ja-JP" sz="2200" b="0" u="none" strike="noStrike">
                <a:solidFill>
                  <a:srgbClr val="262626"/>
                </a:solidFill>
                <a:effectLst/>
                <a:uFillTx/>
                <a:latin typeface="Meiryo"/>
                <a:ea typeface="Meiryo"/>
              </a:rPr>
              <a:t>（</a:t>
            </a:r>
            <a:r>
              <a:rPr lang="en-US" sz="2200" b="0" u="none" strike="noStrike">
                <a:solidFill>
                  <a:srgbClr val="262626"/>
                </a:solidFill>
                <a:effectLst/>
                <a:uFillTx/>
                <a:latin typeface="Meiryo"/>
                <a:ea typeface="Meiryo"/>
              </a:rPr>
              <a:t>r≈0.80</a:t>
            </a:r>
            <a:r>
              <a:rPr lang="ja-JP" sz="2200" b="0" u="none" strike="noStrike">
                <a:solidFill>
                  <a:srgbClr val="262626"/>
                </a:solidFill>
                <a:effectLst/>
                <a:uFillTx/>
                <a:latin typeface="Meiryo"/>
                <a:ea typeface="Meiryo"/>
              </a:rPr>
              <a:t>）。血管作動薬にも鋭敏</a:t>
            </a:r>
            <a:endParaRPr lang="en-US" sz="2200" b="0" u="none" strike="noStrike">
              <a:solidFill>
                <a:srgbClr val="000000"/>
              </a:solidFill>
              <a:effectLst/>
              <a:uFillTx/>
              <a:latin typeface="Arial"/>
            </a:endParaRPr>
          </a:p>
        </p:txBody>
      </p:sp>
      <p:sp>
        <p:nvSpPr>
          <p:cNvPr id="486" name="Rounded Rectangle 21"/>
          <p:cNvSpPr/>
          <p:nvPr/>
        </p:nvSpPr>
        <p:spPr>
          <a:xfrm>
            <a:off x="6309360" y="4096440"/>
            <a:ext cx="5211720" cy="15724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ED7D31"/>
                </a:solidFill>
                <a:effectLst/>
                <a:uFillTx/>
                <a:latin typeface="Meiryo"/>
                <a:ea typeface="Meiryo"/>
              </a:rPr>
              <a:t>④ 基線変動・絶対振幅に強い</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Meiryo"/>
                <a:ea typeface="Meiryo"/>
              </a:rPr>
              <a:t>直流・基線ドリフトを微分で除去</a:t>
            </a:r>
            <a:br>
              <a:rPr sz="2200"/>
            </a:br>
            <a:r>
              <a:rPr lang="ja-JP" sz="2200" b="0" u="none" strike="noStrike">
                <a:solidFill>
                  <a:srgbClr val="262626"/>
                </a:solidFill>
                <a:effectLst/>
                <a:uFillTx/>
                <a:latin typeface="Meiryo"/>
                <a:ea typeface="Meiryo"/>
              </a:rPr>
              <a:t>「波の比（形）」で評価する</a:t>
            </a:r>
            <a:endParaRPr lang="en-US" sz="22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TitleFrame"/>
          <p:cNvSpPr/>
          <p:nvPr/>
        </p:nvSpPr>
        <p:spPr>
          <a:xfrm>
            <a:off x="655200" y="603504"/>
            <a:ext cx="64373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4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4.3  </a:t>
            </a:r>
            <a:r>
              <a:rPr lang="ja-JP" sz="4400" b="1" u="none" strike="noStrike">
                <a:ln w="19050">
                  <a:solidFill>
                    <a:srgbClr val="000000"/>
                  </a:solidFill>
                </a:ln>
                <a:solidFill>
                  <a:schemeClr val="accent4">
                    <a:lumMod val="75000"/>
                  </a:schemeClr>
                </a:solidFill>
                <a:effectLst/>
                <a:uFillTx/>
                <a:latin typeface="Meiryo"/>
                <a:ea typeface="Meiryo"/>
              </a:rPr>
              <a:t>切痕＋</a:t>
            </a:r>
            <a:r>
              <a:rPr lang="en-US" sz="4400" b="1" u="none" strike="noStrike">
                <a:ln w="19050">
                  <a:solidFill>
                    <a:srgbClr val="000000"/>
                  </a:solidFill>
                </a:ln>
                <a:solidFill>
                  <a:schemeClr val="accent4">
                    <a:lumMod val="75000"/>
                  </a:schemeClr>
                </a:solidFill>
                <a:effectLst/>
                <a:uFillTx/>
                <a:latin typeface="Meiryo"/>
                <a:ea typeface="Meiryo"/>
              </a:rPr>
              <a:t>PI→MAP</a:t>
            </a:r>
            <a:endParaRPr lang="en-US" sz="4600" b="1" u="none" strike="noStrike">
              <a:ln w="19050">
                <a:solidFill>
                  <a:srgbClr val="000000"/>
                </a:solidFill>
              </a:ln>
              <a:solidFill>
                <a:schemeClr val="accent4">
                  <a:lumMod val="75000"/>
                </a:schemeClr>
              </a:solidFill>
              <a:effectLst/>
              <a:uFillTx/>
              <a:latin typeface="Calibri"/>
            </a:endParaRPr>
          </a:p>
        </p:txBody>
      </p:sp>
      <p:sp>
        <p:nvSpPr>
          <p:cNvPr id="48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9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9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20. Joachim 2021</a:t>
            </a:r>
            <a:endParaRPr lang="en-US" sz="1050" b="0" u="none" strike="noStrike">
              <a:solidFill>
                <a:srgbClr val="000000"/>
              </a:solidFill>
              <a:effectLst/>
              <a:uFillTx/>
              <a:latin typeface="Arial"/>
            </a:endParaRPr>
          </a:p>
        </p:txBody>
      </p:sp>
      <p:pic>
        <p:nvPicPr>
          <p:cNvPr id="496" name="Picture 8" descr="16_joachim.png"/>
          <p:cNvPicPr/>
          <p:nvPr/>
        </p:nvPicPr>
        <p:blipFill>
          <a:blip r:embed="rId4"/>
          <a:stretch/>
        </p:blipFill>
        <p:spPr>
          <a:xfrm>
            <a:off x="720000" y="1838880"/>
            <a:ext cx="10727640" cy="4241520"/>
          </a:xfrm>
          <a:prstGeom prst="rect">
            <a:avLst/>
          </a:prstGeom>
          <a:noFill/>
          <a:ln w="0">
            <a:noFill/>
          </a:ln>
        </p:spPr>
      </p:pic>
      <p:sp>
        <p:nvSpPr>
          <p:cNvPr id="49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30/47</a:t>
            </a:r>
            <a:endParaRPr lang="en-US" sz="1200" b="0" u="none" strike="noStrike">
              <a:solidFill>
                <a:srgbClr val="000000"/>
              </a:solidFill>
              <a:effectLst/>
              <a:uFillTx/>
              <a:latin typeface="Arial"/>
            </a:endParaRPr>
          </a:p>
        </p:txBody>
      </p:sp>
      <p:sp>
        <p:nvSpPr>
          <p:cNvPr id="498" name="b1"/>
          <p:cNvSpPr/>
          <p:nvPr/>
        </p:nvSpPr>
        <p:spPr>
          <a:xfrm>
            <a:off x="1363680" y="2984400"/>
            <a:ext cx="2252520" cy="1484280"/>
          </a:xfrm>
          <a:prstGeom prst="roundRect">
            <a:avLst>
              <a:gd name="adj" fmla="val 18000"/>
            </a:avLst>
          </a:prstGeom>
          <a:solidFill>
            <a:srgbClr val="F8CBAD"/>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Meiryo"/>
                <a:ea typeface="Meiryo"/>
              </a:rPr>
              <a:t>切痕の</a:t>
            </a:r>
            <a:br>
              <a:rPr sz="2400"/>
            </a:br>
            <a:r>
              <a:rPr lang="ja-JP" sz="2400" b="1" u="none" strike="noStrike">
                <a:solidFill>
                  <a:srgbClr val="262626"/>
                </a:solidFill>
                <a:effectLst/>
                <a:uFillTx/>
                <a:latin typeface="Meiryo"/>
                <a:ea typeface="Meiryo"/>
              </a:rPr>
              <a:t>相対位置</a:t>
            </a:r>
            <a:endParaRPr lang="en-US" sz="2400" b="0" u="none" strike="noStrike">
              <a:solidFill>
                <a:srgbClr val="000000"/>
              </a:solidFill>
              <a:effectLst/>
              <a:uFillTx/>
              <a:latin typeface="Arial"/>
            </a:endParaRPr>
          </a:p>
        </p:txBody>
      </p:sp>
      <p:sp>
        <p:nvSpPr>
          <p:cNvPr id="499" name="plus"/>
          <p:cNvSpPr/>
          <p:nvPr/>
        </p:nvSpPr>
        <p:spPr>
          <a:xfrm>
            <a:off x="3777480" y="3366000"/>
            <a:ext cx="750600" cy="67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600" b="1" u="none" strike="noStrike">
                <a:solidFill>
                  <a:srgbClr val="262626"/>
                </a:solidFill>
                <a:effectLst/>
                <a:uFillTx/>
                <a:latin typeface="Meiryo"/>
                <a:ea typeface="Meiryo"/>
              </a:rPr>
              <a:t>＋</a:t>
            </a:r>
            <a:endParaRPr lang="en-US" sz="2600" b="0" u="none" strike="noStrike">
              <a:solidFill>
                <a:srgbClr val="000000"/>
              </a:solidFill>
              <a:effectLst/>
              <a:uFillTx/>
              <a:latin typeface="Arial"/>
            </a:endParaRPr>
          </a:p>
        </p:txBody>
      </p:sp>
      <p:sp>
        <p:nvSpPr>
          <p:cNvPr id="500" name="b2"/>
          <p:cNvSpPr/>
          <p:nvPr/>
        </p:nvSpPr>
        <p:spPr>
          <a:xfrm>
            <a:off x="4474800" y="2984400"/>
            <a:ext cx="1930680" cy="1484280"/>
          </a:xfrm>
          <a:prstGeom prst="roundRect">
            <a:avLst>
              <a:gd name="adj" fmla="val 18000"/>
            </a:avLst>
          </a:prstGeom>
          <a:solidFill>
            <a:srgbClr val="DAE3F3"/>
          </a:solidFill>
          <a:ln w="19050">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3200" b="1" u="none" strike="noStrike">
                <a:solidFill>
                  <a:srgbClr val="262626"/>
                </a:solidFill>
                <a:effectLst/>
                <a:uFillTx/>
                <a:latin typeface="Meiryo"/>
                <a:ea typeface="Meiryo"/>
              </a:rPr>
              <a:t>PI</a:t>
            </a:r>
            <a:endParaRPr lang="en-US" sz="3200" b="0" u="none" strike="noStrike">
              <a:solidFill>
                <a:srgbClr val="000000"/>
              </a:solidFill>
              <a:effectLst/>
              <a:uFillTx/>
              <a:latin typeface="Arial"/>
            </a:endParaRPr>
          </a:p>
        </p:txBody>
      </p:sp>
      <p:sp>
        <p:nvSpPr>
          <p:cNvPr id="501" name="b3"/>
          <p:cNvSpPr/>
          <p:nvPr/>
        </p:nvSpPr>
        <p:spPr>
          <a:xfrm>
            <a:off x="8122320" y="2984400"/>
            <a:ext cx="3003480" cy="1484280"/>
          </a:xfrm>
          <a:prstGeom prst="roundRect">
            <a:avLst>
              <a:gd name="adj" fmla="val 18000"/>
            </a:avLst>
          </a:prstGeom>
          <a:solidFill>
            <a:srgbClr val="EDE1B3"/>
          </a:solidFill>
          <a:ln w="1905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Meiryo"/>
                <a:ea typeface="Meiryo"/>
              </a:rPr>
              <a:t>平均動脈圧</a:t>
            </a:r>
            <a:r>
              <a:rPr lang="en-US" sz="2400" b="1" u="none" strike="noStrike">
                <a:solidFill>
                  <a:srgbClr val="262626"/>
                </a:solidFill>
                <a:effectLst/>
                <a:uFillTx/>
                <a:latin typeface="Meiryo"/>
                <a:ea typeface="Meiryo"/>
              </a:rPr>
              <a:t>(MAP)</a:t>
            </a:r>
            <a:br>
              <a:rPr sz="2400"/>
            </a:br>
            <a:endParaRPr lang="en-US" sz="2400" b="0" u="none" strike="noStrike">
              <a:solidFill>
                <a:srgbClr val="000000"/>
              </a:solidFill>
              <a:effectLst/>
              <a:uFillTx/>
              <a:latin typeface="Arial"/>
            </a:endParaRPr>
          </a:p>
          <a:p>
            <a:pPr algn="ctr" defTabSz="914400">
              <a:lnSpc>
                <a:spcPct val="100000"/>
              </a:lnSpc>
            </a:pPr>
            <a:br>
              <a:rPr sz="2400"/>
            </a:br>
            <a:endParaRPr lang="en-US" sz="2400" b="0" u="none" strike="noStrike">
              <a:solidFill>
                <a:srgbClr val="000000"/>
              </a:solidFill>
              <a:effectLst/>
              <a:uFillTx/>
              <a:latin typeface="Arial"/>
            </a:endParaRPr>
            <a:r>
              <a:rPr lang="ja-JP" sz="2400" b="1" u="none" strike="noStrike">
                <a:solidFill>
                  <a:srgbClr val="262626"/>
                </a:solidFill>
                <a:effectLst/>
                <a:uFillTx/>
                <a:latin typeface="Meiryo"/>
                <a:ea typeface="Meiryo"/>
              </a:rPr>
              <a:t>リアルタイム推定</a:t>
            </a:r>
          </a:p>
        </p:txBody>
      </p:sp>
      <p:sp>
        <p:nvSpPr>
          <p:cNvPr id="502" name="cap"/>
          <p:cNvSpPr/>
          <p:nvPr/>
        </p:nvSpPr>
        <p:spPr>
          <a:xfrm>
            <a:off x="720000" y="5232600"/>
            <a:ext cx="10727640" cy="38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262626"/>
                </a:solidFill>
                <a:effectLst/>
                <a:uFillTx/>
                <a:latin typeface="Meiryo"/>
                <a:ea typeface="Meiryo"/>
              </a:rPr>
              <a:t>全身麻酔中に切痕位置＝急性トーヌスの形態指標を連続血圧推定に応用</a:t>
            </a:r>
            <a:endParaRPr lang="en-US" sz="20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TitleFrame"/>
          <p:cNvSpPr/>
          <p:nvPr/>
        </p:nvSpPr>
        <p:spPr>
          <a:xfrm>
            <a:off x="655200" y="603504"/>
            <a:ext cx="3401568" cy="804672"/>
          </a:xfrm>
          <a:prstGeom prst="roundRect">
            <a:avLst>
              <a:gd name="adj" fmla="val 8000"/>
            </a:avLst>
          </a:prstGeom>
          <a:noFill/>
          <a:ln w="28575" cap="flat">
            <a:solidFill>
              <a:srgbClr val="44546A"/>
            </a:solidFill>
            <a:round/>
          </a:ln>
        </p:spPr>
        <p:txBody>
          <a:bodyPr rtlCol="0" anchor="ctr"/>
          <a:lstStyle/>
          <a:p>
            <a:endParaRPr lang="ja-JP"/>
          </a:p>
        </p:txBody>
      </p:sp>
      <p:sp>
        <p:nvSpPr>
          <p:cNvPr id="50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5. </a:t>
            </a:r>
            <a:r>
              <a:rPr lang="ja-JP" sz="4400" b="1" u="none" strike="noStrike">
                <a:ln w="19050">
                  <a:solidFill>
                    <a:srgbClr val="000000"/>
                  </a:solidFill>
                </a:ln>
                <a:solidFill>
                  <a:schemeClr val="accent4">
                    <a:lumMod val="75000"/>
                  </a:schemeClr>
                </a:solidFill>
                <a:effectLst/>
                <a:uFillTx/>
                <a:latin typeface="Meiryo"/>
                <a:ea typeface="Meiryo"/>
              </a:rPr>
              <a:t>まとめ</a:t>
            </a:r>
            <a:endParaRPr lang="en-US" sz="4600" b="1" u="none" strike="noStrike">
              <a:ln w="19050">
                <a:solidFill>
                  <a:srgbClr val="000000"/>
                </a:solidFill>
              </a:ln>
              <a:solidFill>
                <a:schemeClr val="accent4">
                  <a:lumMod val="75000"/>
                </a:schemeClr>
              </a:solidFill>
              <a:effectLst/>
              <a:uFillTx/>
              <a:latin typeface="Calibri"/>
            </a:endParaRPr>
          </a:p>
        </p:txBody>
      </p:sp>
      <p:sp>
        <p:nvSpPr>
          <p:cNvPr id="5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08"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まとめ</a:t>
            </a:r>
            <a:endParaRPr lang="en-US" sz="1050" b="0" u="none" strike="noStrike">
              <a:solidFill>
                <a:srgbClr val="FFFFFF"/>
              </a:solidFill>
              <a:effectLst/>
              <a:uFillTx/>
              <a:latin typeface="Arial"/>
            </a:endParaRPr>
          </a:p>
        </p:txBody>
      </p:sp>
      <p:sp>
        <p:nvSpPr>
          <p:cNvPr id="5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5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11"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5. </a:t>
            </a:r>
            <a:r>
              <a:rPr lang="en-US" sz="2600" b="1" u="none" strike="noStrike">
                <a:solidFill>
                  <a:srgbClr val="262626"/>
                </a:solidFill>
                <a:effectLst/>
                <a:uFillTx/>
                <a:latin typeface="Meiryo"/>
                <a:ea typeface="Meiryo"/>
              </a:rPr>
              <a:t>SpO₂</a:t>
            </a:r>
            <a:r>
              <a:rPr lang="ja-JP" sz="2600" b="1" u="none" strike="noStrike">
                <a:solidFill>
                  <a:srgbClr val="262626"/>
                </a:solidFill>
                <a:effectLst/>
                <a:uFillTx/>
                <a:latin typeface="Meiryo"/>
                <a:ea typeface="Meiryo"/>
              </a:rPr>
              <a:t>波形解析まとめ</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5.1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読み方の</a:t>
            </a:r>
            <a:r>
              <a:rPr lang="en-US" sz="2200" b="1" u="none" strike="noStrike">
                <a:solidFill>
                  <a:srgbClr val="262626"/>
                </a:solidFill>
                <a:effectLst/>
                <a:uFillTx/>
                <a:latin typeface="Meiryo"/>
                <a:ea typeface="Meiryo"/>
              </a:rPr>
              <a:t>2</a:t>
            </a:r>
            <a:r>
              <a:rPr lang="ja-JP" sz="2200" b="1" u="none" strike="noStrike">
                <a:solidFill>
                  <a:srgbClr val="262626"/>
                </a:solidFill>
                <a:effectLst/>
                <a:uFillTx/>
                <a:latin typeface="Meiryo"/>
                <a:ea typeface="Meiryo"/>
              </a:rPr>
              <a:t>軸</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5.2</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指標まとめ</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51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513"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31/47</a:t>
            </a:r>
            <a:endParaRPr lang="en-US" sz="12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TitleFrame"/>
          <p:cNvSpPr/>
          <p:nvPr/>
        </p:nvSpPr>
        <p:spPr>
          <a:xfrm>
            <a:off x="655200" y="603504"/>
            <a:ext cx="5650992" cy="804672"/>
          </a:xfrm>
          <a:prstGeom prst="roundRect">
            <a:avLst>
              <a:gd name="adj" fmla="val 8000"/>
            </a:avLst>
          </a:prstGeom>
          <a:noFill/>
          <a:ln w="28575" cap="flat">
            <a:solidFill>
              <a:srgbClr val="44546A"/>
            </a:solidFill>
            <a:round/>
          </a:ln>
        </p:spPr>
        <p:txBody>
          <a:bodyPr rtlCol="0" anchor="ctr"/>
          <a:lstStyle/>
          <a:p>
            <a:endParaRPr lang="ja-JP"/>
          </a:p>
        </p:txBody>
      </p:sp>
      <p:sp>
        <p:nvSpPr>
          <p:cNvPr id="51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5.1  </a:t>
            </a:r>
            <a:r>
              <a:rPr lang="ja-JP" sz="4400" b="1" u="none" strike="noStrike">
                <a:ln w="19050">
                  <a:solidFill>
                    <a:srgbClr val="000000"/>
                  </a:solidFill>
                </a:ln>
                <a:solidFill>
                  <a:schemeClr val="accent4">
                    <a:lumMod val="75000"/>
                  </a:schemeClr>
                </a:solidFill>
                <a:effectLst/>
                <a:uFillTx/>
                <a:latin typeface="Meiryo"/>
                <a:ea typeface="Meiryo"/>
              </a:rPr>
              <a:t>読み方の</a:t>
            </a:r>
            <a:r>
              <a:rPr lang="en-US" sz="4400" b="1" u="none" strike="noStrike">
                <a:ln w="19050">
                  <a:solidFill>
                    <a:srgbClr val="000000"/>
                  </a:solidFill>
                </a:ln>
                <a:solidFill>
                  <a:schemeClr val="accent4">
                    <a:lumMod val="75000"/>
                  </a:schemeClr>
                </a:solidFill>
                <a:effectLst/>
                <a:uFillTx/>
                <a:latin typeface="Meiryo"/>
                <a:ea typeface="Meiryo"/>
              </a:rPr>
              <a:t>2</a:t>
            </a:r>
            <a:r>
              <a:rPr lang="ja-JP" sz="4400" b="1" u="none" strike="noStrike">
                <a:ln w="19050">
                  <a:solidFill>
                    <a:srgbClr val="000000"/>
                  </a:solidFill>
                </a:ln>
                <a:solidFill>
                  <a:schemeClr val="accent4">
                    <a:lumMod val="75000"/>
                  </a:schemeClr>
                </a:solidFill>
                <a:effectLst/>
                <a:uFillTx/>
                <a:latin typeface="Meiryo"/>
                <a:ea typeface="Meiryo"/>
              </a:rPr>
              <a:t>軸</a:t>
            </a:r>
            <a:endParaRPr lang="en-US" sz="4600" b="1" u="none" strike="noStrike">
              <a:ln w="19050">
                <a:solidFill>
                  <a:srgbClr val="000000"/>
                </a:solidFill>
              </a:ln>
              <a:solidFill>
                <a:schemeClr val="accent4">
                  <a:lumMod val="75000"/>
                </a:schemeClr>
              </a:solidFill>
              <a:effectLst/>
              <a:uFillTx/>
              <a:latin typeface="Calibri"/>
            </a:endParaRPr>
          </a:p>
        </p:txBody>
      </p:sp>
      <p:sp>
        <p:nvSpPr>
          <p:cNvPr id="5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19"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まとめ</a:t>
            </a:r>
            <a:endParaRPr lang="en-US" sz="1050" b="0" u="none" strike="noStrike">
              <a:solidFill>
                <a:srgbClr val="FFFFFF"/>
              </a:solidFill>
              <a:effectLst/>
              <a:uFillTx/>
              <a:latin typeface="Arial"/>
            </a:endParaRPr>
          </a:p>
        </p:txBody>
      </p:sp>
      <p:sp>
        <p:nvSpPr>
          <p:cNvPr id="5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5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22"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16. Takazawa 1998</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14. Tusman 2019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6"/>
              </a:rPr>
              <a:t>20. Joachim 2021</a:t>
            </a:r>
            <a:endParaRPr lang="en-US" sz="1050" b="0" u="none" strike="noStrike">
              <a:solidFill>
                <a:srgbClr val="000000"/>
              </a:solidFill>
              <a:effectLst/>
              <a:uFillTx/>
              <a:latin typeface="Arial"/>
            </a:endParaRPr>
          </a:p>
        </p:txBody>
      </p:sp>
      <p:pic>
        <p:nvPicPr>
          <p:cNvPr id="523" name="Picture 8" descr="19_two_track.png"/>
          <p:cNvPicPr/>
          <p:nvPr/>
        </p:nvPicPr>
        <p:blipFill>
          <a:blip r:embed="rId7"/>
          <a:stretch/>
        </p:blipFill>
        <p:spPr>
          <a:xfrm>
            <a:off x="1990080" y="1800000"/>
            <a:ext cx="8187120" cy="4319640"/>
          </a:xfrm>
          <a:prstGeom prst="rect">
            <a:avLst/>
          </a:prstGeom>
          <a:noFill/>
          <a:ln w="0">
            <a:noFill/>
          </a:ln>
        </p:spPr>
      </p:pic>
      <p:sp>
        <p:nvSpPr>
          <p:cNvPr id="524"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32/47</a:t>
            </a:r>
            <a:endParaRPr lang="en-US" sz="1200" b="0" u="none" strike="noStrike">
              <a:solidFill>
                <a:srgbClr val="000000"/>
              </a:solidFill>
              <a:effectLst/>
              <a:uFillTx/>
              <a:latin typeface="Arial"/>
            </a:endParaRPr>
          </a:p>
        </p:txBody>
      </p:sp>
      <p:sp>
        <p:nvSpPr>
          <p:cNvPr id="525" name="lbg"/>
          <p:cNvSpPr/>
          <p:nvPr/>
        </p:nvSpPr>
        <p:spPr>
          <a:xfrm>
            <a:off x="1544760" y="2005560"/>
            <a:ext cx="4283640" cy="3219480"/>
          </a:xfrm>
          <a:prstGeom prst="roundRect">
            <a:avLst>
              <a:gd name="adj" fmla="val 6000"/>
            </a:avLst>
          </a:prstGeom>
          <a:solidFill>
            <a:srgbClr val="EAF0F8"/>
          </a:solidFill>
          <a:ln w="19050">
            <a:solidFill>
              <a:srgbClr val="2E5395"/>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Meiryo"/>
                <a:ea typeface="Meiryo"/>
              </a:rPr>
              <a:t> </a:t>
            </a:r>
            <a:endParaRPr lang="en-US" sz="1400" b="0" u="none" strike="noStrike">
              <a:solidFill>
                <a:srgbClr val="000000"/>
              </a:solidFill>
              <a:effectLst/>
              <a:uFillTx/>
              <a:latin typeface="Arial"/>
            </a:endParaRPr>
          </a:p>
        </p:txBody>
      </p:sp>
      <p:sp>
        <p:nvSpPr>
          <p:cNvPr id="526" name="ltitle"/>
          <p:cNvSpPr/>
          <p:nvPr/>
        </p:nvSpPr>
        <p:spPr>
          <a:xfrm>
            <a:off x="171576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000" b="1" u="none" strike="noStrike">
                <a:solidFill>
                  <a:srgbClr val="2E5395"/>
                </a:solidFill>
                <a:effectLst/>
                <a:uFillTx/>
                <a:latin typeface="Meiryo"/>
                <a:ea typeface="Meiryo"/>
              </a:rPr>
              <a:t>慢性変化＝反射・スティフネス軸</a:t>
            </a:r>
            <a:endParaRPr lang="en-US" sz="2000" b="0" u="none" strike="noStrike">
              <a:solidFill>
                <a:srgbClr val="000000"/>
              </a:solidFill>
              <a:effectLst/>
              <a:uFillTx/>
              <a:latin typeface="Arial"/>
            </a:endParaRPr>
          </a:p>
        </p:txBody>
      </p:sp>
      <p:sp>
        <p:nvSpPr>
          <p:cNvPr id="527" name="lbul"/>
          <p:cNvSpPr/>
          <p:nvPr/>
        </p:nvSpPr>
        <p:spPr>
          <a:xfrm>
            <a:off x="197280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SI</a:t>
            </a:r>
            <a:r>
              <a:rPr lang="ja-JP" sz="1800" b="1" u="none" strike="noStrike">
                <a:solidFill>
                  <a:srgbClr val="262626"/>
                </a:solidFill>
                <a:effectLst/>
                <a:uFillTx/>
                <a:latin typeface="Meiryo"/>
                <a:ea typeface="Meiryo"/>
              </a:rPr>
              <a:t>（スティフネス指数）</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RI</a:t>
            </a:r>
            <a:r>
              <a:rPr lang="ja-JP" sz="1800" b="1" u="none" strike="noStrike">
                <a:solidFill>
                  <a:srgbClr val="262626"/>
                </a:solidFill>
                <a:effectLst/>
                <a:uFillTx/>
                <a:latin typeface="Meiryo"/>
                <a:ea typeface="Meiryo"/>
              </a:rPr>
              <a:t>（反射指数）</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AIx / AIx@75</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SDPPG </a:t>
            </a:r>
            <a:r>
              <a:rPr lang="ja-JP" sz="1800" b="1" u="none" strike="noStrike">
                <a:solidFill>
                  <a:srgbClr val="262626"/>
                </a:solidFill>
                <a:effectLst/>
                <a:uFillTx/>
                <a:latin typeface="Meiryo"/>
                <a:ea typeface="Meiryo"/>
              </a:rPr>
              <a:t>加齢指数 </a:t>
            </a:r>
            <a:r>
              <a:rPr lang="en-US" sz="1800" b="1" u="none" strike="noStrike">
                <a:solidFill>
                  <a:srgbClr val="262626"/>
                </a:solidFill>
                <a:effectLst/>
                <a:uFillTx/>
                <a:latin typeface="Meiryo"/>
                <a:ea typeface="Meiryo"/>
              </a:rPr>
              <a:t>AGI</a:t>
            </a:r>
            <a:endParaRPr lang="en-US" sz="1800" b="0" u="none" strike="noStrike">
              <a:solidFill>
                <a:srgbClr val="000000"/>
              </a:solidFill>
              <a:effectLst/>
              <a:uFillTx/>
              <a:latin typeface="Arial"/>
            </a:endParaRPr>
          </a:p>
        </p:txBody>
      </p:sp>
      <p:sp>
        <p:nvSpPr>
          <p:cNvPr id="528" name="rbg"/>
          <p:cNvSpPr/>
          <p:nvPr/>
        </p:nvSpPr>
        <p:spPr>
          <a:xfrm>
            <a:off x="6340680" y="2005560"/>
            <a:ext cx="4283640" cy="3219480"/>
          </a:xfrm>
          <a:prstGeom prst="roundRect">
            <a:avLst>
              <a:gd name="adj" fmla="val 6000"/>
            </a:avLst>
          </a:prstGeom>
          <a:solidFill>
            <a:srgbClr val="FDF0E6"/>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Meiryo"/>
                <a:ea typeface="Meiryo"/>
              </a:rPr>
              <a:t> </a:t>
            </a:r>
            <a:endParaRPr lang="en-US" sz="1400" b="0" u="none" strike="noStrike">
              <a:solidFill>
                <a:srgbClr val="000000"/>
              </a:solidFill>
              <a:effectLst/>
              <a:uFillTx/>
              <a:latin typeface="Arial"/>
            </a:endParaRPr>
          </a:p>
        </p:txBody>
      </p:sp>
      <p:sp>
        <p:nvSpPr>
          <p:cNvPr id="529" name="rtitle"/>
          <p:cNvSpPr/>
          <p:nvPr/>
        </p:nvSpPr>
        <p:spPr>
          <a:xfrm>
            <a:off x="651168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55A11"/>
                </a:solidFill>
                <a:effectLst/>
                <a:uFillTx/>
                <a:latin typeface="Meiryo"/>
                <a:ea typeface="Meiryo"/>
              </a:rPr>
              <a:t>急性変化＝血管トーヌス軸</a:t>
            </a:r>
            <a:endParaRPr lang="en-US" sz="2000" b="0" u="none" strike="noStrike">
              <a:solidFill>
                <a:srgbClr val="000000"/>
              </a:solidFill>
              <a:effectLst/>
              <a:uFillTx/>
              <a:latin typeface="Arial"/>
            </a:endParaRPr>
          </a:p>
        </p:txBody>
      </p:sp>
      <p:sp>
        <p:nvSpPr>
          <p:cNvPr id="530" name="rbul"/>
          <p:cNvSpPr/>
          <p:nvPr/>
        </p:nvSpPr>
        <p:spPr>
          <a:xfrm>
            <a:off x="676872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800" b="1" u="none" strike="noStrike">
                <a:solidFill>
                  <a:srgbClr val="262626"/>
                </a:solidFill>
                <a:effectLst/>
                <a:uFillTx/>
                <a:latin typeface="Meiryo"/>
                <a:ea typeface="Meiryo"/>
              </a:rPr>
              <a:t>・切痕の位置・高さ・幅</a:t>
            </a:r>
            <a:br>
              <a:rPr sz="1800"/>
            </a:br>
            <a:br>
              <a:rPr sz="1800"/>
            </a:br>
            <a:r>
              <a:rPr lang="ja-JP" sz="1800" b="1" u="none" strike="noStrike">
                <a:solidFill>
                  <a:srgbClr val="262626"/>
                </a:solidFill>
                <a:effectLst/>
                <a:uFillTx/>
                <a:latin typeface="Meiryo"/>
                <a:ea typeface="Meiryo"/>
              </a:rPr>
              <a:t>・切痕位置＋</a:t>
            </a:r>
            <a:r>
              <a:rPr lang="en-US" sz="1800" b="1" u="none" strike="noStrike">
                <a:solidFill>
                  <a:srgbClr val="262626"/>
                </a:solidFill>
                <a:effectLst/>
                <a:uFillTx/>
                <a:latin typeface="Meiryo"/>
                <a:ea typeface="Meiryo"/>
              </a:rPr>
              <a:t>PI → MAP</a:t>
            </a:r>
            <a:r>
              <a:rPr lang="ja-JP" sz="1800" b="1" u="none" strike="noStrike">
                <a:solidFill>
                  <a:srgbClr val="262626"/>
                </a:solidFill>
                <a:effectLst/>
                <a:uFillTx/>
                <a:latin typeface="Meiryo"/>
                <a:ea typeface="Meiryo"/>
              </a:rPr>
              <a:t>推定</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SDPPG </a:t>
            </a:r>
            <a:r>
              <a:rPr lang="ja-JP" sz="1800" b="1" u="none" strike="noStrike">
                <a:solidFill>
                  <a:srgbClr val="262626"/>
                </a:solidFill>
                <a:effectLst/>
                <a:uFillTx/>
                <a:latin typeface="Meiryo"/>
                <a:ea typeface="Meiryo"/>
              </a:rPr>
              <a:t>の </a:t>
            </a:r>
            <a:r>
              <a:rPr lang="en-US" sz="1800" b="1" u="none" strike="noStrike">
                <a:solidFill>
                  <a:srgbClr val="262626"/>
                </a:solidFill>
                <a:effectLst/>
                <a:uFillTx/>
                <a:latin typeface="Meiryo"/>
                <a:ea typeface="Meiryo"/>
              </a:rPr>
              <a:t>d/a</a:t>
            </a:r>
            <a:endParaRPr lang="en-US" sz="1800" b="0" u="none" strike="noStrike">
              <a:solidFill>
                <a:srgbClr val="000000"/>
              </a:solidFill>
              <a:effectLst/>
              <a:uFillTx/>
              <a:latin typeface="Arial"/>
            </a:endParaRPr>
          </a:p>
          <a:p>
            <a:pPr defTabSz="914400">
              <a:lnSpc>
                <a:spcPct val="100000"/>
              </a:lnSpc>
            </a:pPr>
            <a:r>
              <a:rPr lang="ja-JP" sz="1800" b="1" u="none" strike="noStrike">
                <a:solidFill>
                  <a:srgbClr val="262626"/>
                </a:solidFill>
                <a:effectLst/>
                <a:uFillTx/>
                <a:latin typeface="Meiryo"/>
                <a:ea typeface="Meiryo"/>
              </a:rPr>
              <a:t>（血管作動薬に鋭敏）</a:t>
            </a:r>
            <a:endParaRPr lang="en-US" sz="1800" b="0" u="none" strike="noStrike">
              <a:solidFill>
                <a:srgbClr val="000000"/>
              </a:solidFill>
              <a:effectLst/>
              <a:uFillTx/>
              <a:latin typeface="Arial"/>
            </a:endParaRPr>
          </a:p>
        </p:txBody>
      </p:sp>
      <p:sp>
        <p:nvSpPr>
          <p:cNvPr id="531" name="cap"/>
          <p:cNvSpPr/>
          <p:nvPr/>
        </p:nvSpPr>
        <p:spPr>
          <a:xfrm>
            <a:off x="1064160" y="5828400"/>
            <a:ext cx="11019959" cy="66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algn="ctr" defTabSz="914400">
              <a:lnSpc>
                <a:spcPct val="100000"/>
              </a:lnSpc>
            </a:pPr>
            <a:r>
              <a:rPr lang="ja-JP" sz="2200" b="1" u="none" strike="noStrike">
                <a:solidFill>
                  <a:srgbClr val="262626"/>
                </a:solidFill>
                <a:effectLst/>
                <a:uFillTx/>
                <a:latin typeface="Meiryo"/>
                <a:ea typeface="Meiryo"/>
              </a:rPr>
              <a:t>術中に一拍ごとを追うのは 急性トーヌス軸 </a:t>
            </a:r>
            <a:r>
              <a:rPr lang="en-US" sz="2200" b="1" u="none" strike="noStrike">
                <a:solidFill>
                  <a:srgbClr val="262626"/>
                </a:solidFill>
                <a:effectLst/>
                <a:uFillTx/>
                <a:latin typeface="Meiryo"/>
                <a:ea typeface="Meiryo"/>
              </a:rPr>
              <a:t>/ </a:t>
            </a:r>
            <a:r>
              <a:rPr lang="ja-JP" sz="2200" b="1" u="none" strike="noStrike">
                <a:solidFill>
                  <a:srgbClr val="262626"/>
                </a:solidFill>
                <a:effectLst/>
                <a:uFillTx/>
                <a:latin typeface="Meiryo"/>
                <a:ea typeface="Meiryo"/>
              </a:rPr>
              <a:t>術前ベースライン把握は 反射・スティフネス軸</a:t>
            </a:r>
            <a:endParaRPr lang="en-US" sz="20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TitleFrame"/>
          <p:cNvSpPr/>
          <p:nvPr/>
        </p:nvSpPr>
        <p:spPr>
          <a:xfrm>
            <a:off x="655200" y="603504"/>
            <a:ext cx="5303520" cy="804672"/>
          </a:xfrm>
          <a:prstGeom prst="roundRect">
            <a:avLst>
              <a:gd name="adj" fmla="val 8000"/>
            </a:avLst>
          </a:prstGeom>
          <a:noFill/>
          <a:ln w="28575" cap="flat">
            <a:solidFill>
              <a:srgbClr val="44546A"/>
            </a:solidFill>
            <a:round/>
          </a:ln>
        </p:spPr>
        <p:txBody>
          <a:bodyPr rtlCol="0" anchor="ctr"/>
          <a:lstStyle/>
          <a:p>
            <a:endParaRPr lang="ja-JP"/>
          </a:p>
        </p:txBody>
      </p:sp>
      <p:sp>
        <p:nvSpPr>
          <p:cNvPr id="53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5.2  </a:t>
            </a:r>
            <a:r>
              <a:rPr lang="ja-JP" sz="4400" b="1" u="none" strike="noStrike">
                <a:ln w="19050">
                  <a:solidFill>
                    <a:srgbClr val="000000"/>
                  </a:solidFill>
                </a:ln>
                <a:solidFill>
                  <a:schemeClr val="accent4">
                    <a:lumMod val="75000"/>
                  </a:schemeClr>
                </a:solidFill>
                <a:effectLst/>
                <a:uFillTx/>
                <a:latin typeface="Meiryo"/>
                <a:ea typeface="Meiryo"/>
              </a:rPr>
              <a:t>指標まとめ</a:t>
            </a:r>
            <a:endParaRPr lang="en-US" sz="4600" b="1" u="none" strike="noStrike">
              <a:ln w="19050">
                <a:solidFill>
                  <a:srgbClr val="000000"/>
                </a:solidFill>
              </a:ln>
              <a:solidFill>
                <a:schemeClr val="accent4">
                  <a:lumMod val="75000"/>
                </a:schemeClr>
              </a:solidFill>
              <a:effectLst/>
              <a:uFillTx/>
              <a:latin typeface="Calibri"/>
            </a:endParaRPr>
          </a:p>
        </p:txBody>
      </p:sp>
      <p:sp>
        <p:nvSpPr>
          <p:cNvPr id="53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3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3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3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37"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まとめ</a:t>
            </a:r>
            <a:endParaRPr lang="en-US" sz="1050" b="0" u="none" strike="noStrike">
              <a:solidFill>
                <a:srgbClr val="FFFFFF"/>
              </a:solidFill>
              <a:effectLst/>
              <a:uFillTx/>
              <a:latin typeface="Arial"/>
            </a:endParaRPr>
          </a:p>
        </p:txBody>
      </p:sp>
      <p:sp>
        <p:nvSpPr>
          <p:cNvPr id="53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539"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40"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3"/>
              </a:rPr>
              <a:t>13. Awad 2007</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14. Tusman 2019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15. Chowienczyk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6"/>
              </a:rPr>
              <a:t>16. Takazawa 1998</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7"/>
              </a:rPr>
              <a:t>20. Joachim 2021</a:t>
            </a:r>
            <a:endParaRPr lang="en-US" sz="1050" b="0" u="none" strike="noStrike">
              <a:solidFill>
                <a:srgbClr val="000000"/>
              </a:solidFill>
              <a:effectLst/>
              <a:uFillTx/>
              <a:latin typeface="Arial"/>
            </a:endParaRPr>
          </a:p>
        </p:txBody>
      </p:sp>
      <p:pic>
        <p:nvPicPr>
          <p:cNvPr id="541" name="Picture 8" descr="28_matrix.png"/>
          <p:cNvPicPr/>
          <p:nvPr/>
        </p:nvPicPr>
        <p:blipFill>
          <a:blip r:embed="rId8"/>
          <a:stretch/>
        </p:blipFill>
        <p:spPr>
          <a:xfrm>
            <a:off x="1386720" y="1463040"/>
            <a:ext cx="9417960" cy="5065560"/>
          </a:xfrm>
          <a:prstGeom prst="rect">
            <a:avLst/>
          </a:prstGeom>
          <a:noFill/>
          <a:ln w="0">
            <a:noFill/>
          </a:ln>
        </p:spPr>
      </p:pic>
      <p:sp>
        <p:nvSpPr>
          <p:cNvPr id="54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33/47</a:t>
            </a:r>
            <a:endParaRPr lang="en-US" sz="1200" b="0" u="none" strike="noStrike">
              <a:solidFill>
                <a:srgbClr val="000000"/>
              </a:solidFill>
              <a:effectLst/>
              <a:uFillTx/>
              <a:latin typeface="Arial"/>
            </a:endParaRPr>
          </a:p>
        </p:txBody>
      </p:sp>
      <p:sp>
        <p:nvSpPr>
          <p:cNvPr id="543" name="hc"/>
          <p:cNvSpPr/>
          <p:nvPr/>
        </p:nvSpPr>
        <p:spPr>
          <a:xfrm>
            <a:off x="2819880" y="1746000"/>
            <a:ext cx="4139640" cy="681480"/>
          </a:xfrm>
          <a:prstGeom prst="roundRect">
            <a:avLst>
              <a:gd name="adj" fmla="val 8000"/>
            </a:avLst>
          </a:prstGeom>
          <a:solidFill>
            <a:srgbClr val="4472C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Meiryo"/>
                <a:ea typeface="Meiryo"/>
              </a:rPr>
              <a:t>慢性変化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Meiryo"/>
                <a:ea typeface="Meiryo"/>
              </a:rPr>
              <a:t>血管加齢・大血管スティフネス／術前ベースライン</a:t>
            </a:r>
            <a:endParaRPr lang="en-US" sz="1200" b="0" u="none" strike="noStrike">
              <a:solidFill>
                <a:srgbClr val="FFFFFF"/>
              </a:solidFill>
              <a:effectLst/>
              <a:uFillTx/>
              <a:latin typeface="Arial"/>
            </a:endParaRPr>
          </a:p>
        </p:txBody>
      </p:sp>
      <p:sp>
        <p:nvSpPr>
          <p:cNvPr id="544" name="ha"/>
          <p:cNvSpPr/>
          <p:nvPr/>
        </p:nvSpPr>
        <p:spPr>
          <a:xfrm>
            <a:off x="7179840" y="1746000"/>
            <a:ext cx="4139640" cy="681480"/>
          </a:xfrm>
          <a:prstGeom prst="roundRect">
            <a:avLst>
              <a:gd name="adj" fmla="val 8000"/>
            </a:avLst>
          </a:prstGeom>
          <a:solidFill>
            <a:srgbClr val="ED7D31"/>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Meiryo"/>
                <a:ea typeface="Meiryo"/>
              </a:rPr>
              <a:t>急性変化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Meiryo"/>
                <a:ea typeface="Meiryo"/>
              </a:rPr>
              <a:t>血管トーヌス・</a:t>
            </a:r>
            <a:r>
              <a:rPr lang="en-US" sz="1200" b="0" u="none" strike="noStrike">
                <a:solidFill>
                  <a:srgbClr val="FFFFFF"/>
                </a:solidFill>
                <a:effectLst/>
                <a:uFillTx/>
                <a:latin typeface="Meiryo"/>
                <a:ea typeface="Meiryo"/>
              </a:rPr>
              <a:t>SVR</a:t>
            </a:r>
            <a:r>
              <a:rPr lang="ja-JP" sz="1200" b="0" u="none" strike="noStrike">
                <a:solidFill>
                  <a:srgbClr val="FFFFFF"/>
                </a:solidFill>
                <a:effectLst/>
                <a:uFillTx/>
                <a:latin typeface="Meiryo"/>
                <a:ea typeface="Meiryo"/>
              </a:rPr>
              <a:t>・前負荷／術中トレンド</a:t>
            </a:r>
            <a:endParaRPr lang="en-US" sz="1200" b="0" u="none" strike="noStrike">
              <a:solidFill>
                <a:srgbClr val="FFFFFF"/>
              </a:solidFill>
              <a:effectLst/>
              <a:uFillTx/>
              <a:latin typeface="Arial"/>
            </a:endParaRPr>
          </a:p>
        </p:txBody>
      </p:sp>
      <p:sp>
        <p:nvSpPr>
          <p:cNvPr id="545" name="l1"/>
          <p:cNvSpPr/>
          <p:nvPr/>
        </p:nvSpPr>
        <p:spPr>
          <a:xfrm>
            <a:off x="587160" y="2753640"/>
            <a:ext cx="1883160" cy="11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Meiryo"/>
                <a:ea typeface="Meiryo"/>
              </a:rPr>
              <a:t>①PPG</a:t>
            </a:r>
            <a:r>
              <a:rPr lang="ja-JP" sz="2200" b="1" u="none" strike="noStrike">
                <a:solidFill>
                  <a:srgbClr val="262626"/>
                </a:solidFill>
                <a:effectLst/>
                <a:uFillTx/>
                <a:latin typeface="Meiryo"/>
                <a:ea typeface="Meiryo"/>
              </a:rPr>
              <a:t>原波形</a:t>
            </a:r>
            <a:endParaRPr lang="en-US" sz="1800" b="0" u="none" strike="noStrike">
              <a:solidFill>
                <a:srgbClr val="000000"/>
              </a:solidFill>
              <a:effectLst/>
              <a:uFillTx/>
              <a:latin typeface="Arial"/>
            </a:endParaRPr>
          </a:p>
        </p:txBody>
      </p:sp>
      <p:sp>
        <p:nvSpPr>
          <p:cNvPr id="546" name="l2"/>
          <p:cNvSpPr/>
          <p:nvPr/>
        </p:nvSpPr>
        <p:spPr>
          <a:xfrm>
            <a:off x="587160" y="4259520"/>
            <a:ext cx="1883160" cy="6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Meiryo"/>
                <a:ea typeface="Meiryo"/>
              </a:rPr>
              <a:t>②SDPPG</a:t>
            </a:r>
            <a:endParaRPr lang="en-US" sz="1800" b="0" u="none" strike="noStrike">
              <a:solidFill>
                <a:srgbClr val="000000"/>
              </a:solidFill>
              <a:effectLst/>
              <a:uFillTx/>
              <a:latin typeface="Arial"/>
            </a:endParaRPr>
          </a:p>
        </p:txBody>
      </p:sp>
      <p:sp>
        <p:nvSpPr>
          <p:cNvPr id="547" name="l3"/>
          <p:cNvSpPr/>
          <p:nvPr/>
        </p:nvSpPr>
        <p:spPr>
          <a:xfrm>
            <a:off x="587160" y="5211720"/>
            <a:ext cx="1883160" cy="81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Meiryo"/>
                <a:ea typeface="Meiryo"/>
              </a:rPr>
              <a:t>③波形分析</a:t>
            </a:r>
            <a:endParaRPr lang="en-US" sz="1800" b="0" u="none" strike="noStrike">
              <a:solidFill>
                <a:srgbClr val="000000"/>
              </a:solidFill>
              <a:effectLst/>
              <a:uFillTx/>
              <a:latin typeface="Arial"/>
            </a:endParaRPr>
          </a:p>
        </p:txBody>
      </p:sp>
      <p:sp>
        <p:nvSpPr>
          <p:cNvPr id="548" name="c1"/>
          <p:cNvSpPr/>
          <p:nvPr/>
        </p:nvSpPr>
        <p:spPr>
          <a:xfrm>
            <a:off x="2819880" y="2629080"/>
            <a:ext cx="4139640" cy="1363320"/>
          </a:xfrm>
          <a:prstGeom prst="roundRect">
            <a:avLst>
              <a:gd name="adj" fmla="val 6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SI</a:t>
            </a:r>
            <a:r>
              <a:rPr lang="ja-JP" sz="1600" b="1" u="none" strike="noStrike">
                <a:solidFill>
                  <a:srgbClr val="262626"/>
                </a:solidFill>
                <a:effectLst/>
                <a:uFillTx/>
                <a:latin typeface="Meiryo"/>
                <a:ea typeface="Meiryo"/>
              </a:rPr>
              <a:t>＝身長</a:t>
            </a:r>
            <a:r>
              <a:rPr lang="en-US" sz="1600" b="1" u="none" strike="noStrike">
                <a:solidFill>
                  <a:srgbClr val="262626"/>
                </a:solidFill>
                <a:effectLst/>
                <a:uFillTx/>
                <a:latin typeface="Meiryo"/>
                <a:ea typeface="Meiryo"/>
              </a:rPr>
              <a:t>/ΔT</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Millasseau</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AIx</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(P2−P1)/P1</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Takazawa</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・収縮期上昇時間・立ち上がり傾き</a:t>
            </a:r>
            <a:endParaRPr lang="en-US" sz="1600" b="0" u="none" strike="noStrike">
              <a:solidFill>
                <a:srgbClr val="000000"/>
              </a:solidFill>
              <a:effectLst/>
              <a:uFillTx/>
              <a:latin typeface="Arial"/>
            </a:endParaRPr>
          </a:p>
        </p:txBody>
      </p:sp>
      <p:sp>
        <p:nvSpPr>
          <p:cNvPr id="549" name="c2"/>
          <p:cNvSpPr/>
          <p:nvPr/>
        </p:nvSpPr>
        <p:spPr>
          <a:xfrm>
            <a:off x="2819880" y="4194000"/>
            <a:ext cx="4139640" cy="738360"/>
          </a:xfrm>
          <a:prstGeom prst="roundRect">
            <a:avLst>
              <a:gd name="adj" fmla="val 8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b/a</a:t>
            </a:r>
            <a:r>
              <a:rPr lang="ja-JP" sz="1600" b="1" u="none" strike="noStrike">
                <a:solidFill>
                  <a:srgbClr val="262626"/>
                </a:solidFill>
                <a:effectLst/>
                <a:uFillTx/>
                <a:latin typeface="Meiryo"/>
                <a:ea typeface="Meiryo"/>
              </a:rPr>
              <a:t>・加齢指数</a:t>
            </a:r>
            <a:r>
              <a:rPr lang="en-US" sz="1600" b="1" u="none" strike="noStrike">
                <a:solidFill>
                  <a:srgbClr val="262626"/>
                </a:solidFill>
                <a:effectLst/>
                <a:uFillTx/>
                <a:latin typeface="Meiryo"/>
                <a:ea typeface="Meiryo"/>
              </a:rPr>
              <a:t>AGI</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Takazawa</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Bortolotto</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
        <p:nvSpPr>
          <p:cNvPr id="550" name="c3"/>
          <p:cNvSpPr/>
          <p:nvPr/>
        </p:nvSpPr>
        <p:spPr>
          <a:xfrm>
            <a:off x="2819880" y="5133960"/>
            <a:ext cx="4139640" cy="965520"/>
          </a:xfrm>
          <a:prstGeom prst="roundRect">
            <a:avLst>
              <a:gd name="adj" fmla="val 7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・反射波分離（</a:t>
            </a:r>
            <a:r>
              <a:rPr lang="en-US" sz="1600" b="1" u="none" strike="noStrike">
                <a:solidFill>
                  <a:srgbClr val="262626"/>
                </a:solidFill>
                <a:effectLst/>
                <a:uFillTx/>
                <a:latin typeface="Meiryo"/>
                <a:ea typeface="Meiryo"/>
              </a:rPr>
              <a:t>pulse decomposition</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PTT</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PWV</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ML</a:t>
            </a:r>
            <a:r>
              <a:rPr lang="ja-JP" sz="1600" b="1" u="none" strike="noStrike">
                <a:solidFill>
                  <a:srgbClr val="262626"/>
                </a:solidFill>
                <a:effectLst/>
                <a:uFillTx/>
                <a:latin typeface="Meiryo"/>
                <a:ea typeface="Meiryo"/>
              </a:rPr>
              <a:t>血管年齢</a:t>
            </a:r>
            <a:endParaRPr lang="en-US" sz="1600" b="0" u="none" strike="noStrike">
              <a:solidFill>
                <a:srgbClr val="000000"/>
              </a:solidFill>
              <a:effectLst/>
              <a:uFillTx/>
              <a:latin typeface="Arial"/>
            </a:endParaRPr>
          </a:p>
        </p:txBody>
      </p:sp>
      <p:sp>
        <p:nvSpPr>
          <p:cNvPr id="551" name="a1"/>
          <p:cNvSpPr/>
          <p:nvPr/>
        </p:nvSpPr>
        <p:spPr>
          <a:xfrm>
            <a:off x="7179120" y="2629080"/>
            <a:ext cx="4139640" cy="1363320"/>
          </a:xfrm>
          <a:prstGeom prst="roundRect">
            <a:avLst>
              <a:gd name="adj" fmla="val 6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・振幅・パルス幅（</a:t>
            </a:r>
            <a:r>
              <a:rPr lang="en-US" sz="1600" b="1" u="none" strike="noStrike">
                <a:solidFill>
                  <a:srgbClr val="262626"/>
                </a:solidFill>
                <a:effectLst/>
                <a:uFillTx/>
                <a:latin typeface="Meiryo"/>
                <a:ea typeface="Meiryo"/>
              </a:rPr>
              <a:t>Awad</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・切痕位置（</a:t>
            </a:r>
            <a:r>
              <a:rPr lang="en-US" sz="1600" b="1" u="none" strike="noStrike">
                <a:solidFill>
                  <a:srgbClr val="262626"/>
                </a:solidFill>
                <a:effectLst/>
                <a:uFillTx/>
                <a:latin typeface="Meiryo"/>
                <a:ea typeface="Meiryo"/>
              </a:rPr>
              <a:t>Tusman</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Politi</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・反射指数</a:t>
            </a:r>
            <a:r>
              <a:rPr lang="en-US" sz="1600" b="1" u="none" strike="noStrike">
                <a:solidFill>
                  <a:srgbClr val="262626"/>
                </a:solidFill>
                <a:effectLst/>
                <a:uFillTx/>
                <a:latin typeface="Meiryo"/>
                <a:ea typeface="Meiryo"/>
              </a:rPr>
              <a:t>RI</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Chowienczyk</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・高さ・面積・幅↓（</a:t>
            </a:r>
            <a:r>
              <a:rPr lang="en-US" sz="1600" b="1" u="none" strike="noStrike">
                <a:solidFill>
                  <a:srgbClr val="262626"/>
                </a:solidFill>
                <a:effectLst/>
                <a:uFillTx/>
                <a:latin typeface="Meiryo"/>
                <a:ea typeface="Meiryo"/>
              </a:rPr>
              <a:t>Alian</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
        <p:nvSpPr>
          <p:cNvPr id="552" name="a2"/>
          <p:cNvSpPr/>
          <p:nvPr/>
        </p:nvSpPr>
        <p:spPr>
          <a:xfrm>
            <a:off x="7179120" y="4194000"/>
            <a:ext cx="4139640" cy="738360"/>
          </a:xfrm>
          <a:prstGeom prst="roundRect">
            <a:avLst>
              <a:gd name="adj" fmla="val 8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d/a</a:t>
            </a:r>
            <a:r>
              <a:rPr lang="ja-JP" sz="1600" b="1" u="none" strike="noStrike">
                <a:solidFill>
                  <a:srgbClr val="262626"/>
                </a:solidFill>
                <a:effectLst/>
                <a:uFillTx/>
                <a:latin typeface="Meiryo"/>
                <a:ea typeface="Meiryo"/>
              </a:rPr>
              <a:t>：昇圧薬↓・</a:t>
            </a:r>
            <a:r>
              <a:rPr lang="en-US" sz="1600" b="1" u="none" strike="noStrike">
                <a:solidFill>
                  <a:srgbClr val="262626"/>
                </a:solidFill>
                <a:effectLst/>
                <a:uFillTx/>
                <a:latin typeface="Meiryo"/>
                <a:ea typeface="Meiryo"/>
              </a:rPr>
              <a:t>NTG↑</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Takazawa</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Hashimoto</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
        <p:nvSpPr>
          <p:cNvPr id="553" name="a3"/>
          <p:cNvSpPr/>
          <p:nvPr/>
        </p:nvSpPr>
        <p:spPr>
          <a:xfrm>
            <a:off x="7179120" y="5133960"/>
            <a:ext cx="4139640" cy="965520"/>
          </a:xfrm>
          <a:prstGeom prst="roundRect">
            <a:avLst>
              <a:gd name="adj" fmla="val 7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・切痕＋</a:t>
            </a:r>
            <a:r>
              <a:rPr lang="en-US" sz="1600" b="1" u="none" strike="noStrike">
                <a:solidFill>
                  <a:srgbClr val="262626"/>
                </a:solidFill>
                <a:effectLst/>
                <a:uFillTx/>
                <a:latin typeface="Meiryo"/>
                <a:ea typeface="Meiryo"/>
              </a:rPr>
              <a:t>PI → MAP</a:t>
            </a:r>
            <a:r>
              <a:rPr lang="ja-JP" sz="1600" b="1" u="none" strike="noStrike">
                <a:solidFill>
                  <a:srgbClr val="262626"/>
                </a:solidFill>
                <a:effectLst/>
                <a:uFillTx/>
                <a:latin typeface="Meiryo"/>
                <a:ea typeface="Meiryo"/>
              </a:rPr>
              <a:t>推定（</a:t>
            </a:r>
            <a:r>
              <a:rPr lang="en-US" sz="1600" b="1" u="none" strike="noStrike">
                <a:solidFill>
                  <a:srgbClr val="262626"/>
                </a:solidFill>
                <a:effectLst/>
                <a:uFillTx/>
                <a:latin typeface="Meiryo"/>
                <a:ea typeface="Meiryo"/>
              </a:rPr>
              <a:t>Joachim</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compensatory reserve</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Convertino</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TitleFrame"/>
          <p:cNvSpPr/>
          <p:nvPr/>
        </p:nvSpPr>
        <p:spPr>
          <a:xfrm>
            <a:off x="655200" y="603504"/>
            <a:ext cx="279806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6. </a:t>
            </a:r>
            <a:r>
              <a:rPr lang="ja-JP" sz="4400" b="1" u="none" strike="noStrike">
                <a:ln w="19050">
                  <a:solidFill>
                    <a:srgbClr val="000000"/>
                  </a:solidFill>
                </a:ln>
                <a:solidFill>
                  <a:schemeClr val="accent4">
                    <a:lumMod val="75000"/>
                  </a:schemeClr>
                </a:solidFill>
                <a:effectLst/>
                <a:uFillTx/>
                <a:latin typeface="Meiryo"/>
                <a:ea typeface="Meiryo"/>
              </a:rPr>
              <a:t>限界</a:t>
            </a:r>
            <a:endParaRPr lang="en-US" sz="4600" b="1" u="none" strike="noStrike">
              <a:ln w="19050">
                <a:solidFill>
                  <a:srgbClr val="000000"/>
                </a:solidFill>
              </a:ln>
              <a:solidFill>
                <a:schemeClr val="accent4">
                  <a:lumMod val="75000"/>
                </a:schemeClr>
              </a:solidFill>
              <a:effectLst/>
              <a:uFillTx/>
              <a:latin typeface="Calibri"/>
            </a:endParaRPr>
          </a:p>
        </p:txBody>
      </p:sp>
      <p:sp>
        <p:nvSpPr>
          <p:cNvPr id="55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5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5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5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5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56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限界</a:t>
            </a:r>
            <a:endParaRPr lang="en-US" sz="1050" b="0" u="none" strike="noStrike">
              <a:solidFill>
                <a:srgbClr val="FFFFFF"/>
              </a:solidFill>
              <a:effectLst/>
              <a:uFillTx/>
              <a:latin typeface="Arial"/>
            </a:endParaRPr>
          </a:p>
        </p:txBody>
      </p:sp>
      <p:sp>
        <p:nvSpPr>
          <p:cNvPr id="56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62"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6. </a:t>
            </a:r>
            <a:r>
              <a:rPr lang="ja-JP" sz="2600" b="1" u="none" strike="noStrike">
                <a:solidFill>
                  <a:srgbClr val="262626"/>
                </a:solidFill>
                <a:effectLst/>
                <a:uFillTx/>
                <a:latin typeface="Meiryo"/>
                <a:ea typeface="Meiryo"/>
              </a:rPr>
              <a:t>限界</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6.1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本手法の限界</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56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34/47</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6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6.1  </a:t>
            </a:r>
            <a:r>
              <a:rPr lang="ja-JP" sz="4400" b="1" u="none" strike="noStrike">
                <a:ln w="19050">
                  <a:solidFill>
                    <a:srgbClr val="000000"/>
                  </a:solidFill>
                </a:ln>
                <a:solidFill>
                  <a:schemeClr val="accent4">
                    <a:lumMod val="75000"/>
                  </a:schemeClr>
                </a:solidFill>
                <a:effectLst/>
                <a:uFillTx/>
                <a:latin typeface="Meiryo"/>
                <a:ea typeface="Meiryo"/>
              </a:rPr>
              <a:t>本手法の限界</a:t>
            </a:r>
            <a:endParaRPr lang="en-US" sz="4600" b="1" u="none" strike="noStrike">
              <a:ln w="19050">
                <a:solidFill>
                  <a:srgbClr val="000000"/>
                </a:solidFill>
              </a:ln>
              <a:solidFill>
                <a:schemeClr val="accent4">
                  <a:lumMod val="75000"/>
                </a:schemeClr>
              </a:solidFill>
              <a:effectLst/>
              <a:uFillTx/>
              <a:latin typeface="Calibri"/>
            </a:endParaRPr>
          </a:p>
        </p:txBody>
      </p:sp>
      <p:sp>
        <p:nvSpPr>
          <p:cNvPr id="56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6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6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6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6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57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限界</a:t>
            </a:r>
            <a:endParaRPr lang="en-US" sz="1050" b="0" u="none" strike="noStrike">
              <a:solidFill>
                <a:srgbClr val="FFFFFF"/>
              </a:solidFill>
              <a:effectLst/>
              <a:uFillTx/>
              <a:latin typeface="Arial"/>
            </a:endParaRPr>
          </a:p>
        </p:txBody>
      </p:sp>
      <p:sp>
        <p:nvSpPr>
          <p:cNvPr id="57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pic>
        <p:nvPicPr>
          <p:cNvPr id="572" name="Picture 7" descr="24_limits.png"/>
          <p:cNvPicPr/>
          <p:nvPr/>
        </p:nvPicPr>
        <p:blipFill>
          <a:blip r:embed="rId3"/>
          <a:stretch/>
        </p:blipFill>
        <p:spPr>
          <a:xfrm>
            <a:off x="1425240" y="1774440"/>
            <a:ext cx="9316800" cy="4586400"/>
          </a:xfrm>
          <a:prstGeom prst="rect">
            <a:avLst/>
          </a:prstGeom>
          <a:noFill/>
          <a:ln w="0">
            <a:noFill/>
          </a:ln>
        </p:spPr>
      </p:pic>
      <p:sp>
        <p:nvSpPr>
          <p:cNvPr id="57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35/47</a:t>
            </a:r>
            <a:endParaRPr lang="en-US" sz="1200" b="0" u="none" strike="noStrike">
              <a:solidFill>
                <a:srgbClr val="000000"/>
              </a:solidFill>
              <a:effectLst/>
              <a:uFillTx/>
              <a:latin typeface="Arial"/>
            </a:endParaRPr>
          </a:p>
        </p:txBody>
      </p:sp>
      <p:sp>
        <p:nvSpPr>
          <p:cNvPr id="574"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Meiryo"/>
                <a:ea typeface="Meiryo"/>
                <a:hlinkClick r:id="rId4"/>
              </a:rPr>
              <a:t>21. Middleton 2011</a:t>
            </a:r>
            <a:endParaRPr lang="en-US" sz="1050" b="0" u="none" strike="noStrike">
              <a:solidFill>
                <a:srgbClr val="000000"/>
              </a:solidFill>
              <a:effectLst/>
              <a:uFillTx/>
              <a:latin typeface="Arial"/>
            </a:endParaRPr>
          </a:p>
        </p:txBody>
      </p:sp>
      <p:sp>
        <p:nvSpPr>
          <p:cNvPr id="575"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Meiryo"/>
                <a:ea typeface="Meiryo"/>
              </a:rPr>
              <a:t> </a:t>
            </a:r>
            <a:endParaRPr lang="en-US" sz="400" b="0" u="none" strike="noStrike">
              <a:solidFill>
                <a:srgbClr val="000000"/>
              </a:solidFill>
              <a:effectLst/>
              <a:uFillTx/>
              <a:latin typeface="Arial"/>
            </a:endParaRPr>
          </a:p>
        </p:txBody>
      </p:sp>
      <p:sp>
        <p:nvSpPr>
          <p:cNvPr id="576" name="b1"/>
          <p:cNvSpPr/>
          <p:nvPr/>
        </p:nvSpPr>
        <p:spPr>
          <a:xfrm>
            <a:off x="1798200" y="2279160"/>
            <a:ext cx="3912840" cy="1559160"/>
          </a:xfrm>
          <a:prstGeom prst="roundRect">
            <a:avLst>
              <a:gd name="adj" fmla="val 8000"/>
            </a:avLst>
          </a:prstGeom>
          <a:solidFill>
            <a:srgbClr val="FFFFFF"/>
          </a:solidFill>
          <a:ln w="15875">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Meiryo"/>
                <a:ea typeface="Meiryo"/>
              </a:rPr>
              <a:t> </a:t>
            </a:r>
            <a:endParaRPr lang="en-US" sz="500" b="0" u="none" strike="noStrike">
              <a:solidFill>
                <a:srgbClr val="000000"/>
              </a:solidFill>
              <a:effectLst/>
              <a:uFillTx/>
              <a:latin typeface="Arial"/>
            </a:endParaRPr>
          </a:p>
        </p:txBody>
      </p:sp>
      <p:sp>
        <p:nvSpPr>
          <p:cNvPr id="577" name="b1t"/>
          <p:cNvSpPr/>
          <p:nvPr/>
        </p:nvSpPr>
        <p:spPr>
          <a:xfrm>
            <a:off x="21708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2E75B6"/>
                </a:solidFill>
                <a:effectLst/>
                <a:uFillTx/>
                <a:latin typeface="Meiryo"/>
                <a:ea typeface="Meiryo"/>
              </a:rPr>
              <a:t>検出の不安定性</a:t>
            </a:r>
            <a:endParaRPr lang="en-US" sz="2400" b="0" u="none" strike="noStrike">
              <a:solidFill>
                <a:srgbClr val="000000"/>
              </a:solidFill>
              <a:effectLst/>
              <a:uFillTx/>
              <a:latin typeface="Arial"/>
            </a:endParaRPr>
          </a:p>
        </p:txBody>
      </p:sp>
      <p:sp>
        <p:nvSpPr>
          <p:cNvPr id="578" name="b1b"/>
          <p:cNvSpPr/>
          <p:nvPr/>
        </p:nvSpPr>
        <p:spPr>
          <a:xfrm>
            <a:off x="21708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400" b="0" u="none" strike="noStrike">
                <a:solidFill>
                  <a:srgbClr val="262626"/>
                </a:solidFill>
                <a:effectLst/>
                <a:uFillTx/>
                <a:latin typeface="Meiryo"/>
                <a:ea typeface="Meiryo"/>
              </a:rPr>
              <a:t>DN-less </a:t>
            </a:r>
            <a:r>
              <a:rPr lang="ja-JP" sz="1400" b="0" u="none" strike="noStrike">
                <a:solidFill>
                  <a:srgbClr val="262626"/>
                </a:solidFill>
                <a:effectLst/>
                <a:uFillTx/>
                <a:latin typeface="Meiryo"/>
                <a:ea typeface="Meiryo"/>
              </a:rPr>
              <a:t>信号・過減衰で切痕が消える</a:t>
            </a:r>
            <a:endParaRPr lang="en-US" sz="1400" b="0" u="none" strike="noStrike">
              <a:solidFill>
                <a:srgbClr val="000000"/>
              </a:solidFill>
              <a:effectLst/>
              <a:uFillTx/>
              <a:latin typeface="Arial"/>
            </a:endParaRPr>
          </a:p>
        </p:txBody>
      </p:sp>
      <p:sp>
        <p:nvSpPr>
          <p:cNvPr id="579" name="b2"/>
          <p:cNvSpPr/>
          <p:nvPr/>
        </p:nvSpPr>
        <p:spPr>
          <a:xfrm>
            <a:off x="6456600" y="2279160"/>
            <a:ext cx="3912840" cy="1559160"/>
          </a:xfrm>
          <a:prstGeom prst="roundRect">
            <a:avLst>
              <a:gd name="adj" fmla="val 8000"/>
            </a:avLst>
          </a:prstGeom>
          <a:solidFill>
            <a:srgbClr val="FFFFFF"/>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Meiryo"/>
                <a:ea typeface="Meiryo"/>
              </a:rPr>
              <a:t> </a:t>
            </a:r>
            <a:endParaRPr lang="en-US" sz="500" b="0" u="none" strike="noStrike">
              <a:solidFill>
                <a:srgbClr val="000000"/>
              </a:solidFill>
              <a:effectLst/>
              <a:uFillTx/>
              <a:latin typeface="Arial"/>
            </a:endParaRPr>
          </a:p>
        </p:txBody>
      </p:sp>
      <p:sp>
        <p:nvSpPr>
          <p:cNvPr id="580" name="b2t"/>
          <p:cNvSpPr/>
          <p:nvPr/>
        </p:nvSpPr>
        <p:spPr>
          <a:xfrm>
            <a:off x="68292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BF9000"/>
                </a:solidFill>
                <a:effectLst/>
                <a:uFillTx/>
                <a:latin typeface="Meiryo"/>
                <a:ea typeface="Meiryo"/>
              </a:rPr>
              <a:t>加齢交絡</a:t>
            </a:r>
            <a:endParaRPr lang="en-US" sz="2400" b="0" u="none" strike="noStrike">
              <a:solidFill>
                <a:srgbClr val="000000"/>
              </a:solidFill>
              <a:effectLst/>
              <a:uFillTx/>
              <a:latin typeface="Arial"/>
            </a:endParaRPr>
          </a:p>
        </p:txBody>
      </p:sp>
      <p:sp>
        <p:nvSpPr>
          <p:cNvPr id="581" name="b2b"/>
          <p:cNvSpPr/>
          <p:nvPr/>
        </p:nvSpPr>
        <p:spPr>
          <a:xfrm>
            <a:off x="68292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400" b="0" u="none" strike="noStrike">
                <a:solidFill>
                  <a:srgbClr val="262626"/>
                </a:solidFill>
                <a:effectLst/>
                <a:uFillTx/>
                <a:latin typeface="Meiryo"/>
                <a:ea typeface="Meiryo"/>
              </a:rPr>
              <a:t>「いまの収縮」か「もとの硬さ」か</a:t>
            </a:r>
            <a:endParaRPr lang="en-US" sz="1400" b="0" u="none" strike="noStrike">
              <a:solidFill>
                <a:srgbClr val="000000"/>
              </a:solidFill>
              <a:effectLst/>
              <a:uFillTx/>
              <a:latin typeface="Arial"/>
            </a:endParaRPr>
          </a:p>
        </p:txBody>
      </p:sp>
      <p:sp>
        <p:nvSpPr>
          <p:cNvPr id="582" name="b3"/>
          <p:cNvSpPr/>
          <p:nvPr/>
        </p:nvSpPr>
        <p:spPr>
          <a:xfrm>
            <a:off x="4127400" y="4205520"/>
            <a:ext cx="3912840" cy="1742760"/>
          </a:xfrm>
          <a:prstGeom prst="roundRect">
            <a:avLst>
              <a:gd name="adj" fmla="val 8000"/>
            </a:avLst>
          </a:prstGeom>
          <a:solidFill>
            <a:srgbClr val="FFFFFF"/>
          </a:solidFill>
          <a:ln w="1587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Meiryo"/>
                <a:ea typeface="Meiryo"/>
              </a:rPr>
              <a:t> </a:t>
            </a:r>
            <a:endParaRPr lang="en-US" sz="400" b="0" u="none" strike="noStrike">
              <a:solidFill>
                <a:srgbClr val="000000"/>
              </a:solidFill>
              <a:effectLst/>
              <a:uFillTx/>
              <a:latin typeface="Arial"/>
            </a:endParaRPr>
          </a:p>
        </p:txBody>
      </p:sp>
      <p:sp>
        <p:nvSpPr>
          <p:cNvPr id="583" name="b3t"/>
          <p:cNvSpPr/>
          <p:nvPr/>
        </p:nvSpPr>
        <p:spPr>
          <a:xfrm>
            <a:off x="4500000" y="443484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ED7D31"/>
                </a:solidFill>
                <a:effectLst/>
                <a:uFillTx/>
                <a:latin typeface="Meiryo"/>
                <a:ea typeface="Meiryo"/>
              </a:rPr>
              <a:t>局所か全身か</a:t>
            </a:r>
            <a:endParaRPr lang="en-US" sz="2400" b="0" u="none" strike="noStrike">
              <a:solidFill>
                <a:srgbClr val="000000"/>
              </a:solidFill>
              <a:effectLst/>
              <a:uFillTx/>
              <a:latin typeface="Arial"/>
            </a:endParaRPr>
          </a:p>
        </p:txBody>
      </p:sp>
      <p:sp>
        <p:nvSpPr>
          <p:cNvPr id="584" name="b3b"/>
          <p:cNvSpPr/>
          <p:nvPr/>
        </p:nvSpPr>
        <p:spPr>
          <a:xfrm>
            <a:off x="4500000" y="4985280"/>
            <a:ext cx="3353760" cy="32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1400" b="0" u="none" strike="noStrike">
                <a:solidFill>
                  <a:srgbClr val="262626"/>
                </a:solidFill>
                <a:effectLst/>
                <a:uFillTx/>
                <a:latin typeface="Meiryo"/>
                <a:ea typeface="Meiryo"/>
              </a:rPr>
              <a:t>指の切痕＝局所トーヌス？ 全身</a:t>
            </a:r>
            <a:r>
              <a:rPr lang="en-US" sz="1400" b="0" u="none" strike="noStrike">
                <a:solidFill>
                  <a:srgbClr val="262626"/>
                </a:solidFill>
                <a:effectLst/>
                <a:uFillTx/>
                <a:latin typeface="Meiryo"/>
                <a:ea typeface="Meiryo"/>
              </a:rPr>
              <a:t>SVR</a:t>
            </a:r>
            <a:r>
              <a:rPr lang="ja-JP" sz="1400" b="0" u="none" strike="noStrike">
                <a:solidFill>
                  <a:srgbClr val="262626"/>
                </a:solidFill>
                <a:effectLst/>
                <a:uFillTx/>
                <a:latin typeface="Meiryo"/>
                <a:ea typeface="Meiryo"/>
              </a:rPr>
              <a:t>？</a:t>
            </a:r>
            <a:endParaRPr lang="en-US" sz="1400" b="0" u="none" strike="noStrike">
              <a:solidFill>
                <a:srgbClr val="000000"/>
              </a:solidFill>
              <a:effectLst/>
              <a:uFillTx/>
              <a:latin typeface="Arial"/>
            </a:endParaRPr>
          </a:p>
        </p:txBody>
      </p:sp>
      <p:sp>
        <p:nvSpPr>
          <p:cNvPr id="585" name="TextBox 579"/>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DN</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dicrotic notch</a:t>
            </a:r>
            <a:r>
              <a:rPr lang="ja-JP" sz="1050" b="0" u="none" strike="noStrike">
                <a:solidFill>
                  <a:srgbClr val="808080"/>
                </a:solidFill>
                <a:effectLst/>
                <a:uFillTx/>
                <a:latin typeface="Meiryo"/>
                <a:ea typeface="Meiryo"/>
              </a:rPr>
              <a:t>（重複切痕）　／　</a:t>
            </a:r>
            <a:r>
              <a:rPr lang="en-US" sz="1050" b="0" u="none" strike="noStrike">
                <a:solidFill>
                  <a:srgbClr val="808080"/>
                </a:solidFill>
                <a:effectLst/>
                <a:uFillTx/>
                <a:latin typeface="Meiryo"/>
                <a:ea typeface="Meiryo"/>
              </a:rPr>
              <a:t>DN-less</a:t>
            </a:r>
            <a:r>
              <a:rPr lang="ja-JP" sz="1050" b="0" u="none" strike="noStrike">
                <a:solidFill>
                  <a:srgbClr val="808080"/>
                </a:solidFill>
                <a:effectLst/>
                <a:uFillTx/>
                <a:latin typeface="Meiryo"/>
                <a:ea typeface="Meiryo"/>
              </a:rPr>
              <a:t>：切痕が消失した波形</a:t>
            </a:r>
            <a:endParaRPr lang="en-US" sz="10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TitleFrame"/>
          <p:cNvSpPr/>
          <p:nvPr/>
        </p:nvSpPr>
        <p:spPr>
          <a:xfrm>
            <a:off x="655200" y="603504"/>
            <a:ext cx="5907024" cy="804672"/>
          </a:xfrm>
          <a:prstGeom prst="roundRect">
            <a:avLst>
              <a:gd name="adj" fmla="val 8000"/>
            </a:avLst>
          </a:prstGeom>
          <a:noFill/>
          <a:ln w="28575" cap="flat">
            <a:solidFill>
              <a:srgbClr val="44546A"/>
            </a:solidFill>
            <a:round/>
          </a:ln>
        </p:spPr>
        <p:txBody>
          <a:bodyPr rtlCol="0" anchor="ctr"/>
          <a:lstStyle/>
          <a:p>
            <a:endParaRPr lang="ja-JP"/>
          </a:p>
        </p:txBody>
      </p:sp>
      <p:sp>
        <p:nvSpPr>
          <p:cNvPr id="5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6.2  限界への対応</a:t>
            </a:r>
            <a:endParaRPr lang="en-US" sz="4600" b="1" u="none" strike="noStrike">
              <a:ln w="19050">
                <a:solidFill>
                  <a:srgbClr val="000000"/>
                </a:solidFill>
              </a:ln>
              <a:solidFill>
                <a:schemeClr val="accent4">
                  <a:lumMod val="75000"/>
                </a:schemeClr>
              </a:solidFill>
              <a:effectLst/>
              <a:uFillTx/>
              <a:latin typeface="Calibri"/>
            </a:endParaRPr>
          </a:p>
        </p:txBody>
      </p:sp>
      <p:sp>
        <p:nvSpPr>
          <p:cNvPr id="58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8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8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9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9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592"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限界</a:t>
            </a:r>
            <a:endParaRPr lang="en-US" sz="1050" b="0" u="none" strike="noStrike">
              <a:solidFill>
                <a:srgbClr val="FFFFFF"/>
              </a:solidFill>
              <a:effectLst/>
              <a:uFillTx/>
              <a:latin typeface="Arial"/>
            </a:endParaRPr>
          </a:p>
        </p:txBody>
      </p:sp>
      <p:sp>
        <p:nvSpPr>
          <p:cNvPr id="59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pic>
        <p:nvPicPr>
          <p:cNvPr id="594" name="Picture 7" descr="24_limits.png"/>
          <p:cNvPicPr/>
          <p:nvPr/>
        </p:nvPicPr>
        <p:blipFill>
          <a:blip r:embed="rId2"/>
          <a:stretch/>
        </p:blipFill>
        <p:spPr>
          <a:xfrm>
            <a:off x="1425240" y="1774440"/>
            <a:ext cx="9316800" cy="4586400"/>
          </a:xfrm>
          <a:prstGeom prst="rect">
            <a:avLst/>
          </a:prstGeom>
          <a:noFill/>
          <a:ln w="0">
            <a:noFill/>
          </a:ln>
        </p:spPr>
      </p:pic>
      <p:sp>
        <p:nvSpPr>
          <p:cNvPr id="59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36/47</a:t>
            </a:r>
            <a:endParaRPr lang="en-US" sz="1200" b="0" u="none" strike="noStrike">
              <a:solidFill>
                <a:srgbClr val="000000"/>
              </a:solidFill>
              <a:effectLst/>
              <a:uFillTx/>
              <a:latin typeface="Arial"/>
            </a:endParaRPr>
          </a:p>
        </p:txBody>
      </p:sp>
      <p:sp>
        <p:nvSpPr>
          <p:cNvPr id="596"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Meiryo"/>
                <a:ea typeface="Meiryo"/>
                <a:hlinkClick r:id="rId3"/>
              </a:rPr>
              <a:t>11. Couceiro 2012  ／  16. Takazawa 1998  ／  21. Middleton 2011  ／  22. Elgendi 2012</a:t>
            </a:r>
            <a:endParaRPr lang="en-US" sz="1050" b="0" u="none" strike="noStrike">
              <a:solidFill>
                <a:srgbClr val="000000"/>
              </a:solidFill>
              <a:effectLst/>
              <a:uFillTx/>
              <a:latin typeface="Arial"/>
            </a:endParaRPr>
          </a:p>
        </p:txBody>
      </p:sp>
      <p:sp>
        <p:nvSpPr>
          <p:cNvPr id="597"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Meiryo"/>
                <a:ea typeface="Meiryo"/>
              </a:rPr>
              <a:t> </a:t>
            </a:r>
            <a:endParaRPr lang="en-US" sz="400" b="0" u="none" strike="noStrike">
              <a:solidFill>
                <a:srgbClr val="000000"/>
              </a:solidFill>
              <a:effectLst/>
              <a:uFillTx/>
              <a:latin typeface="Arial"/>
            </a:endParaRPr>
          </a:p>
        </p:txBody>
      </p:sp>
      <p:sp>
        <p:nvSpPr>
          <p:cNvPr id="598" name="Rounded Rectangle 570"/>
          <p:cNvSpPr/>
          <p:nvPr/>
        </p:nvSpPr>
        <p:spPr>
          <a:xfrm>
            <a:off x="1700640" y="1965960"/>
            <a:ext cx="2891520" cy="39772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2E75B6"/>
                </a:solidFill>
                <a:effectLst/>
                <a:uFillTx/>
                <a:latin typeface="Meiryo"/>
                <a:ea typeface="Meiryo"/>
              </a:rPr>
              <a:t>検出の不安定性</a:t>
            </a:r>
            <a:endParaRPr lang="en-US" sz="2400" b="0" u="none" strike="noStrike">
              <a:solidFill>
                <a:srgbClr val="000000"/>
              </a:solidFill>
              <a:effectLst/>
              <a:uFillTx/>
              <a:latin typeface="Arial"/>
            </a:endParaRPr>
          </a:p>
          <a:p>
            <a:pPr defTabSz="914400">
              <a:lnSpc>
                <a:spcPct val="100000"/>
              </a:lnSpc>
              <a:spcAft>
                <a:spcPts val="601"/>
              </a:spcAft>
            </a:pPr>
            <a:r>
              <a:rPr lang="en-US" sz="2200" b="0" u="none" strike="noStrike">
                <a:solidFill>
                  <a:srgbClr val="808080"/>
                </a:solidFill>
                <a:effectLst/>
                <a:uFillTx/>
                <a:latin typeface="Meiryo"/>
                <a:ea typeface="Meiryo"/>
              </a:rPr>
              <a:t>DN-less</a:t>
            </a:r>
            <a:r>
              <a:rPr lang="ja-JP" sz="2200" b="0" u="none" strike="noStrike">
                <a:solidFill>
                  <a:srgbClr val="808080"/>
                </a:solidFill>
                <a:effectLst/>
                <a:uFillTx/>
                <a:latin typeface="Meiryo"/>
                <a:ea typeface="Meiryo"/>
              </a:rPr>
              <a:t>・過減衰で切痕消失</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2E75B6"/>
                </a:solidFill>
                <a:effectLst/>
                <a:uFillTx/>
                <a:latin typeface="Meiryo"/>
                <a:ea typeface="Meiryo"/>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a:t>
            </a:r>
            <a:r>
              <a:rPr lang="en-US" sz="2200" b="0" u="none" strike="noStrike">
                <a:solidFill>
                  <a:srgbClr val="262626"/>
                </a:solidFill>
                <a:effectLst/>
                <a:uFillTx/>
                <a:latin typeface="Meiryo"/>
                <a:ea typeface="Meiryo"/>
              </a:rPr>
              <a:t>SDPPG </a:t>
            </a:r>
            <a:r>
              <a:rPr lang="ja-JP" sz="2200" b="0" u="none" strike="noStrike">
                <a:solidFill>
                  <a:srgbClr val="262626"/>
                </a:solidFill>
                <a:effectLst/>
                <a:uFillTx/>
                <a:latin typeface="Meiryo"/>
                <a:ea typeface="Meiryo"/>
              </a:rPr>
              <a:t>で検出</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・低品質拍を除外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・変曲点を同定</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Meiryo"/>
                <a:ea typeface="Meiryo"/>
              </a:rPr>
              <a:t>(Takazawa 1998 </a:t>
            </a:r>
            <a:r>
              <a:rPr lang="ja-JP" sz="1100" b="0" u="none" strike="noStrike">
                <a:solidFill>
                  <a:srgbClr val="808080"/>
                </a:solidFill>
                <a:effectLst/>
                <a:uFillTx/>
                <a:latin typeface="Meiryo"/>
                <a:ea typeface="Meiryo"/>
              </a:rPr>
              <a:t>他</a:t>
            </a:r>
            <a:r>
              <a:rPr lang="en-US" sz="1100" b="0" u="none" strike="noStrike">
                <a:solidFill>
                  <a:srgbClr val="808080"/>
                </a:solidFill>
                <a:effectLst/>
                <a:uFillTx/>
                <a:latin typeface="Meiryo"/>
                <a:ea typeface="Meiryo"/>
              </a:rPr>
              <a:t>)</a:t>
            </a:r>
            <a:endParaRPr lang="en-US" sz="1100" b="0" u="none" strike="noStrike">
              <a:solidFill>
                <a:srgbClr val="000000"/>
              </a:solidFill>
              <a:effectLst/>
              <a:uFillTx/>
              <a:latin typeface="Arial"/>
            </a:endParaRPr>
          </a:p>
        </p:txBody>
      </p:sp>
      <p:sp>
        <p:nvSpPr>
          <p:cNvPr id="599" name="Rounded Rectangle 571"/>
          <p:cNvSpPr/>
          <p:nvPr/>
        </p:nvSpPr>
        <p:spPr>
          <a:xfrm>
            <a:off x="4700160" y="1965960"/>
            <a:ext cx="2891160" cy="39772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BF9000"/>
                </a:solidFill>
                <a:effectLst/>
                <a:uFillTx/>
                <a:latin typeface="Meiryo"/>
                <a:ea typeface="Meiryo"/>
              </a:rPr>
              <a:t>加齢交絡</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Meiryo"/>
                <a:ea typeface="Meiryo"/>
              </a:rPr>
              <a:t>今の収縮か元の硬さか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BF9000"/>
                </a:solidFill>
                <a:effectLst/>
                <a:uFillTx/>
                <a:latin typeface="Meiryo"/>
                <a:ea typeface="Meiryo"/>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・自己基準で監視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・年齢・</a:t>
            </a:r>
            <a:r>
              <a:rPr lang="en-US" sz="2200" b="0" u="none" strike="noStrike">
                <a:solidFill>
                  <a:srgbClr val="262626"/>
                </a:solidFill>
                <a:effectLst/>
                <a:uFillTx/>
                <a:latin typeface="Meiryo"/>
                <a:ea typeface="Meiryo"/>
              </a:rPr>
              <a:t>HR </a:t>
            </a:r>
            <a:r>
              <a:rPr lang="ja-JP" sz="2200" b="0" u="none" strike="noStrike">
                <a:solidFill>
                  <a:srgbClr val="262626"/>
                </a:solidFill>
                <a:effectLst/>
                <a:uFillTx/>
                <a:latin typeface="Meiryo"/>
                <a:ea typeface="Meiryo"/>
              </a:rPr>
              <a:t>で補正</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・急性</a:t>
            </a:r>
            <a:r>
              <a:rPr lang="en-US" sz="2200" b="0" u="none" strike="noStrike">
                <a:solidFill>
                  <a:srgbClr val="262626"/>
                </a:solidFill>
                <a:effectLst/>
                <a:uFillTx/>
                <a:latin typeface="Meiryo"/>
                <a:ea typeface="Meiryo"/>
              </a:rPr>
              <a:t>/</a:t>
            </a:r>
            <a:r>
              <a:rPr lang="ja-JP" sz="2200" b="0" u="none" strike="noStrike">
                <a:solidFill>
                  <a:srgbClr val="262626"/>
                </a:solidFill>
                <a:effectLst/>
                <a:uFillTx/>
                <a:latin typeface="Meiryo"/>
                <a:ea typeface="Meiryo"/>
              </a:rPr>
              <a:t>慢性を区別</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Meiryo"/>
                <a:ea typeface="Meiryo"/>
              </a:rPr>
              <a:t>(Wilkinson 2000 </a:t>
            </a:r>
            <a:r>
              <a:rPr lang="ja-JP" sz="1100" b="0" u="none" strike="noStrike">
                <a:solidFill>
                  <a:srgbClr val="808080"/>
                </a:solidFill>
                <a:effectLst/>
                <a:uFillTx/>
                <a:latin typeface="Meiryo"/>
                <a:ea typeface="Meiryo"/>
              </a:rPr>
              <a:t>他</a:t>
            </a:r>
            <a:r>
              <a:rPr lang="en-US" sz="1100" b="0" u="none" strike="noStrike">
                <a:solidFill>
                  <a:srgbClr val="808080"/>
                </a:solidFill>
                <a:effectLst/>
                <a:uFillTx/>
                <a:latin typeface="Meiryo"/>
                <a:ea typeface="Meiryo"/>
              </a:rPr>
              <a:t>)</a:t>
            </a:r>
            <a:endParaRPr lang="en-US" sz="1100" b="0" u="none" strike="noStrike">
              <a:solidFill>
                <a:srgbClr val="000000"/>
              </a:solidFill>
              <a:effectLst/>
              <a:uFillTx/>
              <a:latin typeface="Arial"/>
            </a:endParaRPr>
          </a:p>
        </p:txBody>
      </p:sp>
      <p:sp>
        <p:nvSpPr>
          <p:cNvPr id="600" name="Rounded Rectangle 572"/>
          <p:cNvSpPr/>
          <p:nvPr/>
        </p:nvSpPr>
        <p:spPr>
          <a:xfrm>
            <a:off x="7699320" y="1965960"/>
            <a:ext cx="2761200" cy="39772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ED7D31"/>
                </a:solidFill>
                <a:effectLst/>
                <a:uFillTx/>
                <a:latin typeface="Meiryo"/>
                <a:ea typeface="Meiryo"/>
              </a:rPr>
              <a:t>局所か全身か</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Meiryo"/>
                <a:ea typeface="Meiryo"/>
              </a:rPr>
              <a:t>局所か全身 </a:t>
            </a:r>
            <a:r>
              <a:rPr lang="en-US" sz="2200" b="0" u="none" strike="noStrike">
                <a:solidFill>
                  <a:srgbClr val="808080"/>
                </a:solidFill>
                <a:effectLst/>
                <a:uFillTx/>
                <a:latin typeface="Meiryo"/>
                <a:ea typeface="Meiryo"/>
              </a:rPr>
              <a:t>SVR </a:t>
            </a:r>
            <a:r>
              <a:rPr lang="ja-JP" sz="2200" b="0" u="none" strike="noStrike">
                <a:solidFill>
                  <a:srgbClr val="808080"/>
                </a:solidFill>
                <a:effectLst/>
                <a:uFillTx/>
                <a:latin typeface="Meiryo"/>
                <a:ea typeface="Meiryo"/>
              </a:rPr>
              <a:t>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ED7D31"/>
                </a:solidFill>
                <a:effectLst/>
                <a:uFillTx/>
                <a:latin typeface="Meiryo"/>
                <a:ea typeface="Meiryo"/>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・相対変化で解釈</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・多部位で補完</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・末梢交絡を管理</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Meiryo"/>
                <a:ea typeface="Meiryo"/>
              </a:rPr>
              <a:t>(Middleton 2011)</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TitleFrame"/>
          <p:cNvSpPr/>
          <p:nvPr/>
        </p:nvSpPr>
        <p:spPr>
          <a:xfrm>
            <a:off x="655200" y="603504"/>
            <a:ext cx="634593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0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Meiryo"/>
                <a:ea typeface="Meiryo"/>
              </a:rPr>
              <a:t>7. esCCO</a:t>
            </a:r>
            <a:r>
              <a:rPr lang="ja-JP" sz="4400" b="1" u="none" strike="noStrike">
                <a:ln w="19050">
                  <a:solidFill>
                    <a:srgbClr val="000000"/>
                  </a:solidFill>
                </a:ln>
                <a:solidFill>
                  <a:schemeClr val="accent4">
                    <a:lumMod val="75000"/>
                  </a:schemeClr>
                </a:solidFill>
                <a:effectLst/>
                <a:uFillTx/>
                <a:latin typeface="Meiryo"/>
                <a:ea typeface="Meiryo"/>
              </a:rPr>
              <a:t>精度改善案</a:t>
            </a:r>
            <a:endParaRPr lang="en-US" sz="4600" b="1" u="none" strike="noStrike">
              <a:ln w="19050">
                <a:solidFill>
                  <a:srgbClr val="000000"/>
                </a:solidFill>
              </a:ln>
              <a:solidFill>
                <a:schemeClr val="accent4">
                  <a:lumMod val="75000"/>
                </a:schemeClr>
              </a:solidFill>
              <a:effectLst/>
              <a:uFillTx/>
              <a:latin typeface="Calibri"/>
            </a:endParaRPr>
          </a:p>
        </p:txBody>
      </p:sp>
      <p:sp>
        <p:nvSpPr>
          <p:cNvPr id="60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0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0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0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0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0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0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09" name="TextBox 7"/>
          <p:cNvSpPr/>
          <p:nvPr/>
        </p:nvSpPr>
        <p:spPr>
          <a:xfrm>
            <a:off x="864000" y="2459160"/>
            <a:ext cx="10583640" cy="338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7. </a:t>
            </a:r>
            <a:r>
              <a:rPr lang="en-US" sz="2600" b="1" u="none" strike="noStrike">
                <a:solidFill>
                  <a:srgbClr val="262626"/>
                </a:solidFill>
                <a:effectLst/>
                <a:uFillTx/>
                <a:latin typeface="Meiryo"/>
                <a:ea typeface="Meiryo"/>
              </a:rPr>
              <a:t>esCCO</a:t>
            </a:r>
            <a:r>
              <a:rPr lang="ja-JP" sz="2600" b="1" u="none" strike="noStrike">
                <a:solidFill>
                  <a:srgbClr val="262626"/>
                </a:solidFill>
                <a:effectLst/>
                <a:uFillTx/>
                <a:latin typeface="Meiryo"/>
                <a:ea typeface="Meiryo"/>
              </a:rPr>
              <a:t>精度改善案</a:t>
            </a:r>
            <a:endParaRPr lang="en-US" sz="2600" b="0" u="none" strike="noStrike">
              <a:solidFill>
                <a:srgbClr val="000000"/>
              </a:solidFill>
              <a:effectLst/>
              <a:uFillTx/>
              <a:latin typeface="Arial"/>
            </a:endParaRPr>
          </a:p>
        </p:txBody>
      </p:sp>
      <p:sp>
        <p:nvSpPr>
          <p:cNvPr id="610"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611"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37/47</a:t>
            </a:r>
            <a:endParaRPr lang="en-US" sz="12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TitleFrame"/>
          <p:cNvSpPr/>
          <p:nvPr/>
        </p:nvSpPr>
        <p:spPr>
          <a:xfrm>
            <a:off x="655200" y="603504"/>
            <a:ext cx="5486400" cy="804672"/>
          </a:xfrm>
          <a:prstGeom prst="roundRect">
            <a:avLst>
              <a:gd name="adj" fmla="val 8000"/>
            </a:avLst>
          </a:prstGeom>
          <a:noFill/>
          <a:ln w="28575" cap="flat">
            <a:solidFill>
              <a:srgbClr val="44546A"/>
            </a:solidFill>
            <a:round/>
          </a:ln>
        </p:spPr>
        <p:txBody>
          <a:bodyPr rtlCol="0" anchor="ctr"/>
          <a:lstStyle/>
          <a:p>
            <a:endParaRPr lang="ja-JP"/>
          </a:p>
        </p:txBody>
      </p:sp>
      <p:sp>
        <p:nvSpPr>
          <p:cNvPr id="61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7.1 esCCO</a:t>
            </a:r>
            <a:r>
              <a:rPr lang="ja-JP" sz="4400" b="1" u="none" strike="noStrike">
                <a:ln w="19050">
                  <a:solidFill>
                    <a:srgbClr val="000000"/>
                  </a:solidFill>
                </a:ln>
                <a:solidFill>
                  <a:schemeClr val="accent4">
                    <a:lumMod val="75000"/>
                  </a:schemeClr>
                </a:solidFill>
                <a:effectLst/>
                <a:uFillTx/>
                <a:latin typeface="Calibri"/>
              </a:rPr>
              <a:t>の原理</a:t>
            </a:r>
            <a:endParaRPr lang="en-US" sz="4000" b="1" u="none" strike="noStrike">
              <a:ln w="19050">
                <a:solidFill>
                  <a:srgbClr val="000000"/>
                </a:solidFill>
              </a:ln>
              <a:solidFill>
                <a:schemeClr val="accent4">
                  <a:lumMod val="75000"/>
                </a:schemeClr>
              </a:solidFill>
              <a:effectLst/>
              <a:uFillTx/>
              <a:latin typeface="Calibri"/>
            </a:endParaRPr>
          </a:p>
        </p:txBody>
      </p:sp>
      <p:sp>
        <p:nvSpPr>
          <p:cNvPr id="61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1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1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1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1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1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1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2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25. Sugo 2012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IEEE EMBC</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26. Ishihara 2013</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 Clin Monit Comput</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2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Meiryo"/>
                <a:ea typeface="Meiryo"/>
              </a:rPr>
              <a:t>38/47</a:t>
            </a:r>
            <a:endParaRPr lang="en-US" sz="1200" b="0" u="none" strike="noStrike">
              <a:solidFill>
                <a:srgbClr val="000000"/>
              </a:solidFill>
              <a:effectLst/>
              <a:uFillTx/>
              <a:latin typeface="Arial"/>
            </a:endParaRPr>
          </a:p>
        </p:txBody>
      </p:sp>
      <p:pic>
        <p:nvPicPr>
          <p:cNvPr id="622" name="Picture 12" descr="fig71.png"/>
          <p:cNvPicPr/>
          <p:nvPr/>
        </p:nvPicPr>
        <p:blipFill>
          <a:blip r:embed="rId3"/>
          <a:stretch/>
        </p:blipFill>
        <p:spPr>
          <a:xfrm>
            <a:off x="380880" y="2013840"/>
            <a:ext cx="11429640" cy="4064400"/>
          </a:xfrm>
          <a:prstGeom prst="rect">
            <a:avLst/>
          </a:prstGeom>
          <a:noFill/>
          <a:ln w="0">
            <a:noFill/>
          </a:ln>
        </p:spPr>
      </p:pic>
      <p:sp>
        <p:nvSpPr>
          <p:cNvPr id="623"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esCCO</a:t>
            </a:r>
            <a:r>
              <a:rPr lang="ja-JP" sz="1050" b="0" u="none" strike="noStrike">
                <a:solidFill>
                  <a:srgbClr val="808080"/>
                </a:solidFill>
                <a:effectLst/>
                <a:uFillTx/>
                <a:latin typeface="Meiryo"/>
                <a:ea typeface="Meiryo"/>
              </a:rPr>
              <a:t>：推定連続心拍出量　／　</a:t>
            </a:r>
            <a:r>
              <a:rPr lang="en-US" sz="1050" b="0" u="none" strike="noStrike">
                <a:solidFill>
                  <a:srgbClr val="808080"/>
                </a:solidFill>
                <a:effectLst/>
                <a:uFillTx/>
                <a:latin typeface="Meiryo"/>
                <a:ea typeface="Meiryo"/>
              </a:rPr>
              <a:t>PWTT</a:t>
            </a:r>
            <a:r>
              <a:rPr lang="ja-JP" sz="1050" b="0" u="none" strike="noStrike">
                <a:solidFill>
                  <a:srgbClr val="808080"/>
                </a:solidFill>
                <a:effectLst/>
                <a:uFillTx/>
                <a:latin typeface="Meiryo"/>
                <a:ea typeface="Meiryo"/>
              </a:rPr>
              <a:t>：脈波伝播時間　／　</a:t>
            </a:r>
            <a:r>
              <a:rPr lang="en-US" sz="1050" b="0" u="none" strike="noStrike">
                <a:solidFill>
                  <a:srgbClr val="808080"/>
                </a:solidFill>
                <a:effectLst/>
                <a:uFillTx/>
                <a:latin typeface="Meiryo"/>
                <a:ea typeface="Meiryo"/>
              </a:rPr>
              <a:t>SV</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1</a:t>
            </a:r>
            <a:r>
              <a:rPr lang="ja-JP" sz="1050" b="0" u="none" strike="noStrike">
                <a:solidFill>
                  <a:srgbClr val="808080"/>
                </a:solidFill>
                <a:effectLst/>
                <a:uFillTx/>
                <a:latin typeface="Meiryo"/>
                <a:ea typeface="Meiryo"/>
              </a:rPr>
              <a:t>回拍出量　／　</a:t>
            </a:r>
            <a:r>
              <a:rPr lang="en-US" sz="1050" b="0" u="none" strike="noStrike">
                <a:solidFill>
                  <a:srgbClr val="808080"/>
                </a:solidFill>
                <a:effectLst/>
                <a:uFillTx/>
                <a:latin typeface="Meiryo"/>
                <a:ea typeface="Meiryo"/>
              </a:rPr>
              <a:t>CO</a:t>
            </a:r>
            <a:r>
              <a:rPr lang="ja-JP" sz="1050" b="0" u="none" strike="noStrike">
                <a:solidFill>
                  <a:srgbClr val="808080"/>
                </a:solidFill>
                <a:effectLst/>
                <a:uFillTx/>
                <a:latin typeface="Meiryo"/>
                <a:ea typeface="Meiryo"/>
              </a:rPr>
              <a:t>：心拍出量　／　</a:t>
            </a:r>
            <a:r>
              <a:rPr lang="en-US" sz="1050" b="0" u="none" strike="noStrike">
                <a:solidFill>
                  <a:srgbClr val="808080"/>
                </a:solidFill>
                <a:effectLst/>
                <a:uFillTx/>
                <a:latin typeface="Meiryo"/>
                <a:ea typeface="Meiryo"/>
              </a:rPr>
              <a:t>HR</a:t>
            </a:r>
            <a:r>
              <a:rPr lang="ja-JP" sz="1050" b="0" u="none" strike="noStrike">
                <a:solidFill>
                  <a:srgbClr val="808080"/>
                </a:solidFill>
                <a:effectLst/>
                <a:uFillTx/>
                <a:latin typeface="Meiryo"/>
                <a:ea typeface="Meiryo"/>
              </a:rPr>
              <a:t>：心拍数</a:t>
            </a:r>
            <a:endParaRPr lang="en-US" sz="105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TitleFrame"/>
          <p:cNvSpPr/>
          <p:nvPr/>
        </p:nvSpPr>
        <p:spPr>
          <a:xfrm>
            <a:off x="655200" y="603504"/>
            <a:ext cx="66202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2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7.2 PWTT</a:t>
            </a:r>
            <a:r>
              <a:rPr lang="ja-JP" sz="4400" b="1" u="none" strike="noStrike">
                <a:ln w="19050">
                  <a:solidFill>
                    <a:srgbClr val="000000"/>
                  </a:solidFill>
                </a:ln>
                <a:solidFill>
                  <a:schemeClr val="accent4">
                    <a:lumMod val="75000"/>
                  </a:schemeClr>
                </a:solidFill>
                <a:effectLst/>
                <a:uFillTx/>
                <a:latin typeface="Calibri"/>
              </a:rPr>
              <a:t>＝</a:t>
            </a:r>
            <a:r>
              <a:rPr lang="en-US" sz="4400" b="1" u="none" strike="noStrike">
                <a:ln w="19050">
                  <a:solidFill>
                    <a:srgbClr val="000000"/>
                  </a:solidFill>
                </a:ln>
                <a:solidFill>
                  <a:schemeClr val="accent4">
                    <a:lumMod val="75000"/>
                  </a:schemeClr>
                </a:solidFill>
                <a:effectLst/>
                <a:uFillTx/>
                <a:latin typeface="Calibri"/>
              </a:rPr>
              <a:t>PEP</a:t>
            </a:r>
            <a:r>
              <a:rPr lang="ja-JP" sz="4400" b="1" u="none" strike="noStrike">
                <a:ln w="19050">
                  <a:solidFill>
                    <a:srgbClr val="000000"/>
                  </a:solidFill>
                </a:ln>
                <a:solidFill>
                  <a:schemeClr val="accent4">
                    <a:lumMod val="75000"/>
                  </a:schemeClr>
                </a:solidFill>
                <a:effectLst/>
                <a:uFillTx/>
                <a:latin typeface="Calibri"/>
              </a:rPr>
              <a:t>＋</a:t>
            </a:r>
            <a:r>
              <a:rPr lang="en-US" sz="4400" b="1" u="none" strike="noStrike">
                <a:ln w="19050">
                  <a:solidFill>
                    <a:srgbClr val="000000"/>
                  </a:solidFill>
                </a:ln>
                <a:solidFill>
                  <a:schemeClr val="accent4">
                    <a:lumMod val="75000"/>
                  </a:schemeClr>
                </a:solidFill>
                <a:effectLst/>
                <a:uFillTx/>
                <a:latin typeface="Calibri"/>
              </a:rPr>
              <a:t>VTT</a:t>
            </a:r>
          </a:p>
        </p:txBody>
      </p:sp>
      <p:sp>
        <p:nvSpPr>
          <p:cNvPr id="62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2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2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2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2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3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31"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32"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25. Sugo 2012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IEEE EMBC 2012;2012:236–9</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33"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39/47</a:t>
            </a:r>
            <a:endParaRPr lang="en-US" sz="1050" b="0" u="none" strike="noStrike">
              <a:solidFill>
                <a:srgbClr val="000000"/>
              </a:solidFill>
              <a:effectLst/>
              <a:uFillTx/>
              <a:latin typeface="Arial"/>
            </a:endParaRPr>
          </a:p>
        </p:txBody>
      </p:sp>
      <p:pic>
        <p:nvPicPr>
          <p:cNvPr id="634" name="Picture 12" descr="fig72.png"/>
          <p:cNvPicPr/>
          <p:nvPr/>
        </p:nvPicPr>
        <p:blipFill>
          <a:blip r:embed="rId3"/>
          <a:stretch/>
        </p:blipFill>
        <p:spPr>
          <a:xfrm>
            <a:off x="380880" y="2104920"/>
            <a:ext cx="11429640" cy="3882600"/>
          </a:xfrm>
          <a:prstGeom prst="rect">
            <a:avLst/>
          </a:prstGeom>
          <a:noFill/>
          <a:ln w="0">
            <a:noFill/>
          </a:ln>
        </p:spPr>
      </p:pic>
      <p:sp>
        <p:nvSpPr>
          <p:cNvPr id="635"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PWV</a:t>
            </a:r>
            <a:r>
              <a:rPr lang="ja-JP" sz="1050" b="0" u="none" strike="noStrike">
                <a:solidFill>
                  <a:srgbClr val="808080"/>
                </a:solidFill>
                <a:effectLst/>
                <a:uFillTx/>
                <a:latin typeface="Meiryo"/>
                <a:ea typeface="Meiryo"/>
              </a:rPr>
              <a:t>：脈波伝播速度（</a:t>
            </a:r>
            <a:r>
              <a:rPr lang="en-US" sz="1050" b="0" u="none" strike="noStrike">
                <a:solidFill>
                  <a:srgbClr val="808080"/>
                </a:solidFill>
                <a:effectLst/>
                <a:uFillTx/>
                <a:latin typeface="Meiryo"/>
                <a:ea typeface="Meiryo"/>
              </a:rPr>
              <a:t>PEP</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VTT </a:t>
            </a:r>
            <a:r>
              <a:rPr lang="ja-JP" sz="1050" b="0" u="none" strike="noStrike">
                <a:solidFill>
                  <a:srgbClr val="808080"/>
                </a:solidFill>
                <a:effectLst/>
                <a:uFillTx/>
                <a:latin typeface="Meiryo"/>
                <a:ea typeface="Meiryo"/>
              </a:rPr>
              <a:t>は図中に定義）</a:t>
            </a:r>
            <a:endParaRPr lang="en-US" sz="10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3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7.3 </a:t>
            </a:r>
            <a:r>
              <a:rPr lang="ja-JP" sz="4400" b="1" u="none" strike="noStrike">
                <a:ln w="19050">
                  <a:solidFill>
                    <a:srgbClr val="000000"/>
                  </a:solidFill>
                </a:ln>
                <a:solidFill>
                  <a:schemeClr val="accent4">
                    <a:lumMod val="75000"/>
                  </a:schemeClr>
                </a:solidFill>
                <a:effectLst/>
                <a:uFillTx/>
                <a:latin typeface="Calibri"/>
              </a:rPr>
              <a:t>後負荷の交絡</a:t>
            </a:r>
            <a:endParaRPr lang="en-US" sz="4000" b="1" u="none" strike="noStrike">
              <a:ln w="19050">
                <a:solidFill>
                  <a:srgbClr val="000000"/>
                </a:solidFill>
              </a:ln>
              <a:solidFill>
                <a:schemeClr val="accent4">
                  <a:lumMod val="75000"/>
                </a:schemeClr>
              </a:solidFill>
              <a:effectLst/>
              <a:uFillTx/>
              <a:latin typeface="Calibri"/>
            </a:endParaRPr>
          </a:p>
        </p:txBody>
      </p:sp>
      <p:sp>
        <p:nvSpPr>
          <p:cNvPr id="63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3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3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4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4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4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43"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44"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26. Ishihara 2013</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27. Tsutsui 2013</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Anesth Analg</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28. Magliocca 2018</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Anesth Analg</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45"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40/47</a:t>
            </a:r>
            <a:endParaRPr lang="en-US" sz="1050" b="0" u="none" strike="noStrike">
              <a:solidFill>
                <a:srgbClr val="000000"/>
              </a:solidFill>
              <a:effectLst/>
              <a:uFillTx/>
              <a:latin typeface="Arial"/>
            </a:endParaRPr>
          </a:p>
        </p:txBody>
      </p:sp>
      <p:pic>
        <p:nvPicPr>
          <p:cNvPr id="646" name="Picture 12" descr="fig73.png"/>
          <p:cNvPicPr/>
          <p:nvPr/>
        </p:nvPicPr>
        <p:blipFill>
          <a:blip r:embed="rId3"/>
          <a:stretch/>
        </p:blipFill>
        <p:spPr>
          <a:xfrm>
            <a:off x="388800" y="1828800"/>
            <a:ext cx="11413800" cy="4434480"/>
          </a:xfrm>
          <a:prstGeom prst="rect">
            <a:avLst/>
          </a:prstGeom>
          <a:noFill/>
          <a:ln w="0">
            <a:noFill/>
          </a:ln>
        </p:spPr>
      </p:pic>
      <p:sp>
        <p:nvSpPr>
          <p:cNvPr id="647"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Ea</a:t>
            </a:r>
            <a:r>
              <a:rPr lang="ja-JP" sz="1050" b="0" u="none" strike="noStrike">
                <a:solidFill>
                  <a:srgbClr val="808080"/>
                </a:solidFill>
                <a:effectLst/>
                <a:uFillTx/>
                <a:latin typeface="Meiryo"/>
                <a:ea typeface="Meiryo"/>
              </a:rPr>
              <a:t>：動脈エ⁠ラ⁠ス⁠タ⁠ン⁠ス　／　</a:t>
            </a:r>
            <a:r>
              <a:rPr lang="en-US" sz="1050" b="0" u="none" strike="noStrike">
                <a:solidFill>
                  <a:srgbClr val="808080"/>
                </a:solidFill>
                <a:effectLst/>
                <a:uFillTx/>
                <a:latin typeface="Meiryo"/>
                <a:ea typeface="Meiryo"/>
              </a:rPr>
              <a:t>SVR</a:t>
            </a:r>
            <a:r>
              <a:rPr lang="ja-JP" sz="1050" b="0" u="none" strike="noStrike">
                <a:solidFill>
                  <a:srgbClr val="808080"/>
                </a:solidFill>
                <a:effectLst/>
                <a:uFillTx/>
                <a:latin typeface="Meiryo"/>
                <a:ea typeface="Meiryo"/>
              </a:rPr>
              <a:t>：体血管抵抗</a:t>
            </a:r>
            <a:endParaRPr lang="en-US" sz="105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TitleFrame"/>
          <p:cNvSpPr/>
          <p:nvPr/>
        </p:nvSpPr>
        <p:spPr>
          <a:xfrm>
            <a:off x="655200" y="603504"/>
            <a:ext cx="643737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4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7.4 PWTT–SV</a:t>
            </a:r>
            <a:r>
              <a:rPr lang="ja-JP" sz="4400" b="1" u="none" strike="noStrike">
                <a:ln w="19050">
                  <a:solidFill>
                    <a:srgbClr val="000000"/>
                  </a:solidFill>
                </a:ln>
                <a:solidFill>
                  <a:schemeClr val="accent4">
                    <a:lumMod val="75000"/>
                  </a:schemeClr>
                </a:solidFill>
                <a:effectLst/>
                <a:uFillTx/>
                <a:latin typeface="Calibri"/>
              </a:rPr>
              <a:t>分割表</a:t>
            </a:r>
            <a:endParaRPr lang="en-US" sz="4000" b="1" u="none" strike="noStrike">
              <a:ln w="19050">
                <a:solidFill>
                  <a:srgbClr val="000000"/>
                </a:solidFill>
              </a:ln>
              <a:solidFill>
                <a:schemeClr val="accent4">
                  <a:lumMod val="75000"/>
                </a:schemeClr>
              </a:solidFill>
              <a:effectLst/>
              <a:uFillTx/>
              <a:latin typeface="Calibri"/>
            </a:endParaRPr>
          </a:p>
        </p:txBody>
      </p:sp>
      <p:sp>
        <p:nvSpPr>
          <p:cNvPr id="64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5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5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5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5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5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55"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graphicFrame>
        <p:nvGraphicFramePr>
          <p:cNvPr id="656" name="Table 10"/>
          <p:cNvGraphicFramePr/>
          <p:nvPr/>
        </p:nvGraphicFramePr>
        <p:xfrm>
          <a:off x="502920" y="1783080"/>
          <a:ext cx="11155320" cy="3840480"/>
        </p:xfrm>
        <a:graphic>
          <a:graphicData uri="http://schemas.openxmlformats.org/drawingml/2006/table">
            <a:tbl>
              <a:tblPr/>
              <a:tblGrid>
                <a:gridCol w="11887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48640">
                <a:tc>
                  <a:txBody>
                    <a:bodyPr/>
                    <a:lstStyle/>
                    <a:p>
                      <a:pPr algn="ctr" defTabSz="914400">
                        <a:lnSpc>
                          <a:spcPct val="100000"/>
                        </a:lnSpc>
                      </a:pPr>
                      <a:r>
                        <a:rPr lang="en-US" sz="1400" b="1" u="none" strike="noStrike">
                          <a:solidFill>
                            <a:srgbClr val="FFFFFF"/>
                          </a:solidFill>
                          <a:effectLst/>
                          <a:uFillTx/>
                          <a:latin typeface="Meiryo"/>
                          <a:ea typeface="Meiryo"/>
                        </a:rPr>
                        <a:t>PWTT</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defTabSz="914400">
                        <a:lnSpc>
                          <a:spcPct val="100000"/>
                        </a:lnSpc>
                      </a:pPr>
                      <a:r>
                        <a:rPr lang="ja-JP" sz="1400" b="1" u="none" strike="noStrike">
                          <a:solidFill>
                            <a:srgbClr val="FFFFFF"/>
                          </a:solidFill>
                          <a:effectLst/>
                          <a:uFillTx/>
                          <a:latin typeface="Meiryo"/>
                          <a:ea typeface="Meiryo"/>
                        </a:rPr>
                        <a:t>主な機序</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ja-JP" sz="1400" b="1" u="none" strike="noStrike">
                          <a:solidFill>
                            <a:srgbClr val="FFFFFF"/>
                          </a:solidFill>
                          <a:effectLst/>
                          <a:uFillTx/>
                          <a:latin typeface="Meiryo"/>
                          <a:ea typeface="Meiryo"/>
                        </a:rPr>
                        <a:t>実際の </a:t>
                      </a:r>
                      <a:r>
                        <a:rPr lang="en-US" sz="1400" b="1" u="none" strike="noStrike">
                          <a:solidFill>
                            <a:srgbClr val="FFFFFF"/>
                          </a:solidFill>
                          <a:effectLst/>
                          <a:uFillTx/>
                          <a:latin typeface="Meiryo"/>
                          <a:ea typeface="Meiryo"/>
                        </a:rPr>
                        <a:t>SV</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en-US" sz="1400" b="1" u="none" strike="noStrike">
                          <a:solidFill>
                            <a:srgbClr val="FFFFFF"/>
                          </a:solidFill>
                          <a:effectLst/>
                          <a:uFillTx/>
                          <a:latin typeface="Meiryo"/>
                          <a:ea typeface="Meiryo"/>
                        </a:rPr>
                        <a:t>esCCO </a:t>
                      </a:r>
                      <a:r>
                        <a:rPr lang="ja-JP" sz="1400" b="1" u="none" strike="noStrike">
                          <a:solidFill>
                            <a:srgbClr val="FFFFFF"/>
                          </a:solidFill>
                          <a:effectLst/>
                          <a:uFillTx/>
                          <a:latin typeface="Meiryo"/>
                          <a:ea typeface="Meiryo"/>
                        </a:rPr>
                        <a:t>判定</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extLst>
                  <a:ext uri="{0D108BD9-81ED-4DB2-BD59-A6C34878D82A}">
                    <a16:rowId xmlns:a16="http://schemas.microsoft.com/office/drawing/2014/main" val="10000"/>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短縮（前負荷↑・心収縮↑）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1"/>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短縮（後負荷↑＝硬く速い）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2"/>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延長＋</a:t>
                      </a: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短縮（</a:t>
                      </a:r>
                      <a:r>
                        <a:rPr lang="en-US" sz="1350" b="0" u="none" strike="noStrike">
                          <a:solidFill>
                            <a:srgbClr val="333333"/>
                          </a:solidFill>
                          <a:effectLst/>
                          <a:uFillTx/>
                          <a:latin typeface="Meiryo"/>
                          <a:ea typeface="Meiryo"/>
                        </a:rPr>
                        <a:t>T1</a:t>
                      </a:r>
                      <a:r>
                        <a:rPr lang="ja-JP" sz="1350" b="0" u="none" strike="noStrike">
                          <a:solidFill>
                            <a:srgbClr val="333333"/>
                          </a:solidFill>
                          <a:effectLst/>
                          <a:uFillTx/>
                          <a:latin typeface="Meiryo"/>
                          <a:ea typeface="Meiryo"/>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3"/>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延長（前負荷↓・心収縮↓）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4"/>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延長（後負荷↓＝軟く遅い）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5"/>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短縮＋</a:t>
                      </a: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延長（</a:t>
                      </a:r>
                      <a:r>
                        <a:rPr lang="en-US" sz="1350" b="0" u="none" strike="noStrike">
                          <a:solidFill>
                            <a:srgbClr val="333333"/>
                          </a:solidFill>
                          <a:effectLst/>
                          <a:uFillTx/>
                          <a:latin typeface="Meiryo"/>
                          <a:ea typeface="Meiryo"/>
                        </a:rPr>
                        <a:t>T1</a:t>
                      </a:r>
                      <a:r>
                        <a:rPr lang="ja-JP" sz="1350" b="0" u="none" strike="noStrike">
                          <a:solidFill>
                            <a:srgbClr val="333333"/>
                          </a:solidFill>
                          <a:effectLst/>
                          <a:uFillTx/>
                          <a:latin typeface="Meiryo"/>
                          <a:ea typeface="Meiryo"/>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6"/>
                  </a:ext>
                </a:extLst>
              </a:tr>
            </a:tbl>
          </a:graphicData>
        </a:graphic>
      </p:graphicFrame>
      <p:sp>
        <p:nvSpPr>
          <p:cNvPr id="657" name="TextBox 11"/>
          <p:cNvSpPr/>
          <p:nvPr/>
        </p:nvSpPr>
        <p:spPr>
          <a:xfrm>
            <a:off x="502920" y="5806440"/>
            <a:ext cx="111553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200" b="1" u="none" strike="noStrike">
                <a:solidFill>
                  <a:srgbClr val="70AD47"/>
                </a:solidFill>
                <a:effectLst/>
                <a:uFillTx/>
                <a:latin typeface="Meiryo"/>
                <a:ea typeface="Meiryo"/>
              </a:rPr>
              <a:t>緑＝前提が成立</a:t>
            </a:r>
            <a:r>
              <a:rPr lang="ja-JP" sz="2200" b="0" u="none" strike="noStrike">
                <a:solidFill>
                  <a:srgbClr val="808080"/>
                </a:solidFill>
                <a:effectLst/>
                <a:uFillTx/>
                <a:latin typeface="Meiryo"/>
                <a:ea typeface="Meiryo"/>
              </a:rPr>
              <a:t>　／　</a:t>
            </a:r>
            <a:r>
              <a:rPr lang="ja-JP" sz="2200" b="1" u="none" strike="noStrike">
                <a:solidFill>
                  <a:srgbClr val="C00000"/>
                </a:solidFill>
                <a:effectLst/>
                <a:uFillTx/>
                <a:latin typeface="Meiryo"/>
                <a:ea typeface="Meiryo"/>
              </a:rPr>
              <a:t>赤＝後負荷が交絡し破綻（本仮説）</a:t>
            </a:r>
            <a:endParaRPr lang="en-US" sz="1500" b="0" u="none" strike="noStrike">
              <a:solidFill>
                <a:srgbClr val="000000"/>
              </a:solidFill>
              <a:effectLst/>
              <a:uFillTx/>
              <a:latin typeface="Arial"/>
            </a:endParaRPr>
          </a:p>
        </p:txBody>
      </p:sp>
      <p:sp>
        <p:nvSpPr>
          <p:cNvPr id="658" name="TextBox 12"/>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Meiryo"/>
                <a:ea typeface="Meiryo"/>
              </a:rPr>
              <a:t>各方向の文献的根拠は次頁（</a:t>
            </a:r>
            <a:r>
              <a:rPr lang="en-US" sz="1050" b="0" u="none" strike="noStrike">
                <a:solidFill>
                  <a:srgbClr val="808080"/>
                </a:solidFill>
                <a:effectLst/>
                <a:uFillTx/>
                <a:latin typeface="Meiryo"/>
                <a:ea typeface="Meiryo"/>
              </a:rPr>
              <a:t>7.5</a:t>
            </a:r>
            <a:r>
              <a:rPr lang="ja-JP" sz="1050" b="0" u="none" strike="noStrike">
                <a:solidFill>
                  <a:srgbClr val="808080"/>
                </a:solidFill>
                <a:effectLst/>
                <a:uFillTx/>
                <a:latin typeface="Meiryo"/>
                <a:ea typeface="Meiryo"/>
              </a:rPr>
              <a:t>）に示す</a:t>
            </a:r>
            <a:endParaRPr lang="en-US" sz="1050" b="0" u="none" strike="noStrike">
              <a:solidFill>
                <a:srgbClr val="000000"/>
              </a:solidFill>
              <a:effectLst/>
              <a:uFillTx/>
              <a:latin typeface="Arial"/>
            </a:endParaRPr>
          </a:p>
        </p:txBody>
      </p:sp>
      <p:sp>
        <p:nvSpPr>
          <p:cNvPr id="659" name="TextBox 13"/>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41/47</a:t>
            </a:r>
            <a:endParaRPr lang="en-US" sz="10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6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7.5 </a:t>
            </a:r>
            <a:r>
              <a:rPr lang="ja-JP" sz="4400" b="1" u="none" strike="noStrike">
                <a:ln w="19050">
                  <a:solidFill>
                    <a:srgbClr val="000000"/>
                  </a:solidFill>
                </a:ln>
                <a:solidFill>
                  <a:schemeClr val="accent4">
                    <a:lumMod val="75000"/>
                  </a:schemeClr>
                </a:solidFill>
                <a:effectLst/>
                <a:uFillTx/>
                <a:latin typeface="Calibri"/>
              </a:rPr>
              <a:t>仮説の裏付け</a:t>
            </a:r>
            <a:endParaRPr lang="en-US" sz="4000" b="1" u="none" strike="noStrike">
              <a:ln w="19050">
                <a:solidFill>
                  <a:srgbClr val="000000"/>
                </a:solidFill>
              </a:ln>
              <a:solidFill>
                <a:schemeClr val="accent4">
                  <a:lumMod val="75000"/>
                </a:schemeClr>
              </a:solidFill>
              <a:effectLst/>
              <a:uFillTx/>
              <a:latin typeface="Calibri"/>
            </a:endParaRPr>
          </a:p>
        </p:txBody>
      </p:sp>
      <p:sp>
        <p:nvSpPr>
          <p:cNvPr id="66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6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63"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6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6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6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67"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68"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29. Nakamura 1983</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JACC</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30. Ahmed 1972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Circulation</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31. Kettunen 1985</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32. Borlaug 2007</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JACC</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69"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42/47</a:t>
            </a:r>
            <a:endParaRPr lang="en-US" sz="1050" b="0" u="none" strike="noStrike">
              <a:solidFill>
                <a:srgbClr val="000000"/>
              </a:solidFill>
              <a:effectLst/>
              <a:uFillTx/>
              <a:latin typeface="Arial"/>
            </a:endParaRPr>
          </a:p>
        </p:txBody>
      </p:sp>
      <p:pic>
        <p:nvPicPr>
          <p:cNvPr id="670" name="Picture 12" descr="fig75.png"/>
          <p:cNvPicPr/>
          <p:nvPr/>
        </p:nvPicPr>
        <p:blipFill>
          <a:blip r:embed="rId3"/>
          <a:stretch/>
        </p:blipFill>
        <p:spPr>
          <a:xfrm>
            <a:off x="380880" y="1919880"/>
            <a:ext cx="11429640" cy="4252680"/>
          </a:xfrm>
          <a:prstGeom prst="rect">
            <a:avLst/>
          </a:prstGeom>
          <a:noFill/>
          <a:ln w="0">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TitleFrame"/>
          <p:cNvSpPr/>
          <p:nvPr/>
        </p:nvSpPr>
        <p:spPr>
          <a:xfrm>
            <a:off x="655200" y="603504"/>
            <a:ext cx="47914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67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7.6 PPG</a:t>
            </a:r>
            <a:r>
              <a:rPr lang="ja-JP" sz="4400" b="1" u="none" strike="noStrike">
                <a:ln w="19050">
                  <a:solidFill>
                    <a:srgbClr val="000000"/>
                  </a:solidFill>
                </a:ln>
                <a:solidFill>
                  <a:schemeClr val="accent4">
                    <a:lumMod val="75000"/>
                  </a:schemeClr>
                </a:solidFill>
                <a:effectLst/>
                <a:uFillTx/>
                <a:latin typeface="Calibri"/>
              </a:rPr>
              <a:t>で補正</a:t>
            </a:r>
            <a:endParaRPr lang="en-US" sz="4000" b="1" u="none" strike="noStrike">
              <a:ln w="19050">
                <a:solidFill>
                  <a:srgbClr val="000000"/>
                </a:solidFill>
              </a:ln>
              <a:solidFill>
                <a:schemeClr val="accent4">
                  <a:lumMod val="75000"/>
                </a:schemeClr>
              </a:solidFill>
              <a:effectLst/>
              <a:uFillTx/>
              <a:latin typeface="Calibri"/>
            </a:endParaRPr>
          </a:p>
        </p:txBody>
      </p:sp>
      <p:sp>
        <p:nvSpPr>
          <p:cNvPr id="67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7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7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7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7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7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7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79" name="TextBox 11"/>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16. Takazawa 1998</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Hypertension</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19. Hashimoto 2002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 Hypertens</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80" name="TextBox 12"/>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43/47</a:t>
            </a:r>
            <a:endParaRPr lang="en-US" sz="1050" b="0" u="none" strike="noStrike">
              <a:solidFill>
                <a:srgbClr val="000000"/>
              </a:solidFill>
              <a:effectLst/>
              <a:uFillTx/>
              <a:latin typeface="Arial"/>
            </a:endParaRPr>
          </a:p>
        </p:txBody>
      </p:sp>
      <p:pic>
        <p:nvPicPr>
          <p:cNvPr id="681" name="Picture 13" descr="fig76.png"/>
          <p:cNvPicPr/>
          <p:nvPr/>
        </p:nvPicPr>
        <p:blipFill>
          <a:blip r:embed="rId3"/>
          <a:stretch/>
        </p:blipFill>
        <p:spPr>
          <a:xfrm>
            <a:off x="380880" y="2104920"/>
            <a:ext cx="11429640" cy="388260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TitleFrame"/>
          <p:cNvSpPr/>
          <p:nvPr/>
        </p:nvSpPr>
        <p:spPr>
          <a:xfrm>
            <a:off x="655200" y="603504"/>
            <a:ext cx="5559552" cy="804672"/>
          </a:xfrm>
          <a:prstGeom prst="roundRect">
            <a:avLst>
              <a:gd name="adj" fmla="val 8000"/>
            </a:avLst>
          </a:prstGeom>
          <a:noFill/>
          <a:ln w="28575" cap="flat">
            <a:solidFill>
              <a:srgbClr val="44546A"/>
            </a:solidFill>
            <a:round/>
          </a:ln>
        </p:spPr>
        <p:txBody>
          <a:bodyPr rtlCol="0" anchor="ctr"/>
          <a:lstStyle/>
          <a:p>
            <a:endParaRPr lang="ja-JP"/>
          </a:p>
        </p:txBody>
      </p:sp>
      <p:sp>
        <p:nvSpPr>
          <p:cNvPr id="68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7.7 </a:t>
            </a:r>
            <a:r>
              <a:rPr lang="ja-JP" sz="4400" b="1" u="none" strike="noStrike">
                <a:ln w="19050">
                  <a:solidFill>
                    <a:srgbClr val="000000"/>
                  </a:solidFill>
                </a:ln>
                <a:solidFill>
                  <a:schemeClr val="accent4">
                    <a:lumMod val="75000"/>
                  </a:schemeClr>
                </a:solidFill>
                <a:effectLst/>
                <a:uFillTx/>
                <a:latin typeface="Calibri"/>
              </a:rPr>
              <a:t>提案の新規性</a:t>
            </a:r>
            <a:endParaRPr lang="en-US" sz="4000" b="1" u="none" strike="noStrike">
              <a:ln w="19050">
                <a:solidFill>
                  <a:srgbClr val="000000"/>
                </a:solidFill>
              </a:ln>
              <a:solidFill>
                <a:schemeClr val="accent4">
                  <a:lumMod val="75000"/>
                </a:schemeClr>
              </a:solidFill>
              <a:effectLst/>
              <a:uFillTx/>
              <a:latin typeface="Calibri"/>
            </a:endParaRPr>
          </a:p>
        </p:txBody>
      </p:sp>
      <p:sp>
        <p:nvSpPr>
          <p:cNvPr id="68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8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8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8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8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8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8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9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25. Sugo 2012</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33. Beutel 2021</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IEEE Trans Biomed Eng 2021;68:2810–20</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9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44/47</a:t>
            </a:r>
            <a:endParaRPr lang="en-US" sz="1050" b="0" u="none" strike="noStrike">
              <a:solidFill>
                <a:srgbClr val="000000"/>
              </a:solidFill>
              <a:effectLst/>
              <a:uFillTx/>
              <a:latin typeface="Arial"/>
            </a:endParaRPr>
          </a:p>
        </p:txBody>
      </p:sp>
      <p:pic>
        <p:nvPicPr>
          <p:cNvPr id="692" name="Picture 12" descr="fig77.png"/>
          <p:cNvPicPr/>
          <p:nvPr/>
        </p:nvPicPr>
        <p:blipFill>
          <a:blip r:embed="rId3"/>
          <a:stretch/>
        </p:blipFill>
        <p:spPr>
          <a:xfrm>
            <a:off x="380880" y="2013840"/>
            <a:ext cx="11429640" cy="406440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TitleFrame"/>
          <p:cNvSpPr/>
          <p:nvPr/>
        </p:nvSpPr>
        <p:spPr>
          <a:xfrm>
            <a:off x="655200" y="603504"/>
            <a:ext cx="3749040" cy="804672"/>
          </a:xfrm>
          <a:prstGeom prst="roundRect">
            <a:avLst>
              <a:gd name="adj" fmla="val 8000"/>
            </a:avLst>
          </a:prstGeom>
          <a:noFill/>
          <a:ln w="28575" cap="flat">
            <a:solidFill>
              <a:srgbClr val="44546A"/>
            </a:solidFill>
            <a:round/>
          </a:ln>
        </p:spPr>
        <p:txBody>
          <a:bodyPr rtlCol="0" anchor="ctr"/>
          <a:lstStyle/>
          <a:p>
            <a:endParaRPr lang="ja-JP"/>
          </a:p>
        </p:txBody>
      </p:sp>
      <p:sp>
        <p:nvSpPr>
          <p:cNvPr id="69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ln w="19050">
                  <a:solidFill>
                    <a:srgbClr val="000000"/>
                  </a:solidFill>
                </a:ln>
                <a:solidFill>
                  <a:schemeClr val="accent4">
                    <a:lumMod val="75000"/>
                  </a:schemeClr>
                </a:solidFill>
                <a:effectLst/>
                <a:uFillTx/>
                <a:latin typeface="Calibri"/>
              </a:rPr>
              <a:t>7.8 </a:t>
            </a:r>
            <a:r>
              <a:rPr lang="ja-JP" sz="4400" b="1" u="none" strike="noStrike">
                <a:ln w="19050">
                  <a:solidFill>
                    <a:srgbClr val="000000"/>
                  </a:solidFill>
                </a:ln>
                <a:solidFill>
                  <a:schemeClr val="accent4">
                    <a:lumMod val="75000"/>
                  </a:schemeClr>
                </a:solidFill>
                <a:effectLst/>
                <a:uFillTx/>
                <a:latin typeface="Calibri"/>
              </a:rPr>
              <a:t>まとめ</a:t>
            </a:r>
            <a:endParaRPr lang="en-US" sz="4000" b="1" u="none" strike="noStrike">
              <a:ln w="19050">
                <a:solidFill>
                  <a:srgbClr val="000000"/>
                </a:solidFill>
              </a:ln>
              <a:solidFill>
                <a:schemeClr val="accent4">
                  <a:lumMod val="75000"/>
                </a:schemeClr>
              </a:solidFill>
              <a:effectLst/>
              <a:uFillTx/>
              <a:latin typeface="Calibri"/>
            </a:endParaRPr>
          </a:p>
        </p:txBody>
      </p:sp>
      <p:sp>
        <p:nvSpPr>
          <p:cNvPr id="69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9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9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9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9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9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700"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701"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Meiryo"/>
                <a:ea typeface="Meiryo"/>
              </a:rPr>
              <a:t>総括　（引用は各頁および巻末の参考文献一覧を参照）</a:t>
            </a:r>
            <a:endParaRPr lang="en-US" sz="1050" b="0" u="none" strike="noStrike">
              <a:solidFill>
                <a:srgbClr val="000000"/>
              </a:solidFill>
              <a:effectLst/>
              <a:uFillTx/>
              <a:latin typeface="Arial"/>
            </a:endParaRPr>
          </a:p>
        </p:txBody>
      </p:sp>
      <p:sp>
        <p:nvSpPr>
          <p:cNvPr id="702"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45/47</a:t>
            </a:r>
            <a:endParaRPr lang="en-US" sz="1050" b="0" u="none" strike="noStrike">
              <a:solidFill>
                <a:srgbClr val="000000"/>
              </a:solidFill>
              <a:effectLst/>
              <a:uFillTx/>
              <a:latin typeface="Arial"/>
            </a:endParaRPr>
          </a:p>
        </p:txBody>
      </p:sp>
      <p:pic>
        <p:nvPicPr>
          <p:cNvPr id="703" name="Picture 12" descr="fig78.png"/>
          <p:cNvPicPr/>
          <p:nvPr/>
        </p:nvPicPr>
        <p:blipFill>
          <a:blip r:embed="rId3"/>
          <a:stretch/>
        </p:blipFill>
        <p:spPr>
          <a:xfrm>
            <a:off x="380880" y="2198880"/>
            <a:ext cx="11429640" cy="3694320"/>
          </a:xfrm>
          <a:prstGeom prst="rect">
            <a:avLst/>
          </a:prstGeom>
          <a:noFill/>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7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7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7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70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7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7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715" name="TitleFrame"/>
          <p:cNvSpPr/>
          <p:nvPr/>
        </p:nvSpPr>
        <p:spPr>
          <a:xfrm>
            <a:off x="655200" y="603504"/>
            <a:ext cx="2962656" cy="804672"/>
          </a:xfrm>
          <a:prstGeom prst="roundRect">
            <a:avLst>
              <a:gd name="adj" fmla="val 8000"/>
            </a:avLst>
          </a:prstGeom>
          <a:noFill/>
          <a:ln w="28575" cap="flat">
            <a:solidFill>
              <a:srgbClr val="44546A"/>
            </a:solidFill>
            <a:round/>
          </a:ln>
        </p:spPr>
        <p:txBody>
          <a:bodyPr rtlCol="0" anchor="ctr"/>
          <a:lstStyle/>
          <a:p>
            <a:endParaRPr lang="ja-JP"/>
          </a:p>
        </p:txBody>
      </p:sp>
      <p:sp>
        <p:nvSpPr>
          <p:cNvPr id="71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Meiryo"/>
                <a:ea typeface="Meiryo"/>
              </a:rPr>
              <a:t>参考文献</a:t>
            </a:r>
            <a:endParaRPr lang="en-US" sz="4600" b="1" u="none" strike="noStrike">
              <a:ln w="19050">
                <a:solidFill>
                  <a:srgbClr val="000000"/>
                </a:solidFill>
              </a:ln>
              <a:solidFill>
                <a:schemeClr val="accent4">
                  <a:lumMod val="75000"/>
                </a:schemeClr>
              </a:solidFill>
              <a:effectLst/>
              <a:uFillTx/>
              <a:latin typeface="Calibri"/>
            </a:endParaRPr>
          </a:p>
        </p:txBody>
      </p:sp>
      <p:sp>
        <p:nvSpPr>
          <p:cNvPr id="712"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Meiryo"/>
                <a:ea typeface="Meiryo"/>
                <a:hlinkClick r:id="rId2"/>
              </a:rPr>
              <a:t>1. Allen J. Photoplethysmography and its application in clinical physiological measurement. Physiol Meas 2007;28:R1–39.</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3"/>
              </a:rPr>
              <a:t>2. Politi MT, et al. The dicrotic notch analyzed by a numerical model. Comput Biol Med 2016;72:54–64.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4"/>
              </a:rPr>
              <a:t>3. Stergiopulos N, Westerhof BE, Westerhof N. Total arterial inertance as the fourth element of the windkessel model. Am J Physiol 1999;276:H81–8.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5"/>
              </a:rPr>
              <a:t>4. Millasseau SC, et al. Determination of age-related increases in large artery stiffness by digital pulse contour analysis. Clin Sci (Lond) 2002;103:371–7.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6"/>
              </a:rPr>
              <a:t>5. Dawber TR, Thomas HE, McNamara PM. Characteristics of the dicrotic notch of the arterial pulse wave in coronary heart disease. Angiology 1973;24:244–55.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7"/>
              </a:rPr>
              <a:t>6. Cunningham JW, et al. Machine learning to understand genetic and clinical factors associated with the pulse waveform dicrotic notch. Circ Genom Precis Med 2023;16:e003676.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8"/>
              </a:rPr>
              <a:t>7. Wilkinson IB, et al. The influence of heart rate on augmentation index and central arterial pressure in humans. J Physiol 2000;525:263–70.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9"/>
              </a:rPr>
              <a:t>8. Alian AA, et al. Impact of central hypovolemia on photoplethysmographic waveform parameters in healthy volunteers. Part 1: time domain analysis. J Clin Monit Comput 2011;25:377–85.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0"/>
              </a:rPr>
              <a:t>9. Cannesson M, et al. Relation between respiratory variations in pulse oximetry plethysmographic waveform amplitude and arterial pulse pressure in ventilated patients. Crit Care 2005;9:R562–8.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1"/>
              </a:rPr>
              <a:t>10. Pagoulatou S, et al. The effect of left ventricular contractility on arterial hemodynamics: a model-based investigation. PLoS One 2021;16(8):e0255561.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2"/>
              </a:rPr>
              <a:t>11. Couceiro R, et al. Multi-Gaussian fitting for the assessment of left ventricular ejection time from the photoplethysmogram. Annu Int Conf IEEE EMBC 2012;2012:3951–4.</a:t>
            </a:r>
            <a:endParaRPr lang="en-US" sz="950" b="0" u="none" strike="noStrike">
              <a:solidFill>
                <a:srgbClr val="000000"/>
              </a:solidFill>
              <a:effectLst/>
              <a:uFillTx/>
              <a:latin typeface="Arial"/>
            </a:endParaRPr>
          </a:p>
        </p:txBody>
      </p:sp>
      <p:sp>
        <p:nvSpPr>
          <p:cNvPr id="713"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Meiryo"/>
                <a:ea typeface="Meiryo"/>
                <a:hlinkClick r:id="rId13"/>
              </a:rPr>
              <a:t>12. Piccioli F, et al. The effect of cardiac properties on arterial pulse waves: an in-silico study. Int J Numer Method Biomed Eng 2022;38(12):e3658.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4"/>
              </a:rPr>
              <a:t>13. Awad AA, et al. The relationship between the photoplethysmographic waveform and systemic vascular resistance. J Clin Monit Comput 2007;21:365–72.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5"/>
              </a:rPr>
              <a:t>14. Tusman G, et al. Photoplethysmographic characterization of vascular tone mediated changes in arterial pressure: an observational study. J Clin Monit Comput 2019;33:815–24.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6"/>
              </a:rPr>
              <a:t>15. Chowienczyk PJ, et al. Photoplethysmographic assessment of pulse wave reflection: blunted response to endothelium-dependent β2-adrenergic vasodilation in type II diabetes mellitus. J Am Coll Cardiol 1999;34:2007–14.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7"/>
              </a:rPr>
              <a:t>16. Takazawa K, et al. Assessment of vasoactive agents and vascular aging by the second derivative of the photoplethysmogram waveform. Hypertension 1998;32:365–70.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8"/>
              </a:rPr>
              <a:t>17. Murray WB, Foster PA. The peripheral pulse wave: information overlooked. J Clin Monit 1996;12:365–77.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9"/>
              </a:rPr>
              <a:t>18. Bortolotto LA, et al. Assessment of vascular aging and atherosclerosis in hypertensive subjects: second derivative of photoplethysmogram versus pulse wave velocity. Am J Hypertens 2000;13:165–71.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0"/>
              </a:rPr>
              <a:t>19. Hashimoto J, et al. Pulse wave velocity and the second derivative of the finger photoplethysmogram in treated hypertensive patients. J Hypertens 2002;20:2415–22.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1"/>
              </a:rPr>
              <a:t>20. Joachim J, et al. Real-time estimation of mean arterial blood pressure based on photoplethysmography dicrotic notch and perfusion index: a pilot study. J Clin Monit Comput 2021;35:395–404.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21. Middleton PM, et al. Fingertip photoplethysmographic waveform variability and systemic vascular resistance in intensive care unit patients. Med Biol Eng Comput 2011;49:859–66.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22. Elgendi M. On the analysis of fingertip photoplethysmogram signals. Curr Cardiol Rev 2012;8:14–25.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23. Charlton PH, et al. Modeling arterial pulse waves in healthy aging: a database for in silico evaluation of hemodynamics and pulse wave indexes. Am J Physiol Heart Circ Physiol 2019;317:H1062–H1085.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24. Md Lazim MR, et al. Is heart rate a confounding factor for photoplethysmography markers? A systematic review. Int J Environ Res Public Health 2020;17:2591.</a:t>
            </a:r>
            <a:endParaRPr lang="en-US" sz="950" b="0" u="none" strike="noStrike">
              <a:solidFill>
                <a:srgbClr val="000000"/>
              </a:solidFill>
              <a:effectLst/>
              <a:uFillTx/>
              <a:latin typeface="Arial"/>
            </a:endParaRPr>
          </a:p>
        </p:txBody>
      </p:sp>
      <p:sp>
        <p:nvSpPr>
          <p:cNvPr id="714"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46/47</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7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7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7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71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7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7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726" name="TitleFrame"/>
          <p:cNvSpPr/>
          <p:nvPr/>
        </p:nvSpPr>
        <p:spPr>
          <a:xfrm>
            <a:off x="655200" y="603504"/>
            <a:ext cx="5376672" cy="804672"/>
          </a:xfrm>
          <a:prstGeom prst="roundRect">
            <a:avLst>
              <a:gd name="adj" fmla="val 8000"/>
            </a:avLst>
          </a:prstGeom>
          <a:noFill/>
          <a:ln w="28575" cap="flat">
            <a:solidFill>
              <a:srgbClr val="44546A"/>
            </a:solidFill>
            <a:round/>
          </a:ln>
        </p:spPr>
        <p:txBody>
          <a:bodyPr rtlCol="0" anchor="ctr"/>
          <a:lstStyle/>
          <a:p>
            <a:endParaRPr lang="ja-JP"/>
          </a:p>
        </p:txBody>
      </p:sp>
      <p:sp>
        <p:nvSpPr>
          <p:cNvPr id="72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ln w="19050">
                  <a:solidFill>
                    <a:srgbClr val="000000"/>
                  </a:solidFill>
                </a:ln>
                <a:solidFill>
                  <a:schemeClr val="accent4">
                    <a:lumMod val="75000"/>
                  </a:schemeClr>
                </a:solidFill>
                <a:effectLst/>
                <a:uFillTx/>
                <a:latin typeface="Meiryo"/>
                <a:ea typeface="Meiryo"/>
              </a:rPr>
              <a:t>参考文献（続き）</a:t>
            </a:r>
            <a:endParaRPr lang="en-US" sz="4600" b="1" u="none" strike="noStrike">
              <a:ln w="19050">
                <a:solidFill>
                  <a:srgbClr val="000000"/>
                </a:solidFill>
              </a:ln>
              <a:solidFill>
                <a:schemeClr val="accent4">
                  <a:lumMod val="75000"/>
                </a:schemeClr>
              </a:solidFill>
              <a:effectLst/>
              <a:uFillTx/>
              <a:latin typeface="Calibri"/>
            </a:endParaRPr>
          </a:p>
        </p:txBody>
      </p:sp>
      <p:sp>
        <p:nvSpPr>
          <p:cNvPr id="723"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Meiryo"/>
                <a:ea typeface="Meiryo"/>
              </a:rPr>
              <a:t>25. Sugo Y, Sakai T, Terao M, Ukawa T, Ochiai R. The comparison of a novel continuous cardiac output monitor based on pulse wave transit time and echo Doppler during exercise. Annu Int Conf IEEE EMBC 2012;2012:236–9.</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26. Ishihara H, Tsutsui M. Impact of changes in systemic vascular resistance on a novel non-invasive continuous cardiac output measurement system based on pulse wave transit time: a report of two cases. J Clin Monit Comput 2013;28:423–7.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27. Tsutsui M, Araki Y, Masui K, et al. Pulse wave transit time measurements of cardiac output in patients undergoing partial hepatectomy: a comparison of the esCCO system with thermodilution. Anesth Analg 2013;117:1307–12.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28. Magliocca A, Rezoagli E, Anderson TA, et al. Cardiac output measurements based on pulse wave transit time and thoracic impedance exhibit limited agreement with thermodilution during orthotopic liver transplantation. Anesth Analg 2018;126:85–92.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29. Nakamura Y, Wiegner AW, Gaasch WH, Bing OH. Systolic time intervals: assessment by isolated cardiac muscle studies. J Am Coll Cardiol 1983;2:973–8.</a:t>
            </a:r>
            <a:endParaRPr lang="en-US" sz="950" b="0" u="none" strike="noStrike">
              <a:solidFill>
                <a:srgbClr val="000000"/>
              </a:solidFill>
              <a:effectLst/>
              <a:uFillTx/>
              <a:latin typeface="Arial"/>
            </a:endParaRPr>
          </a:p>
        </p:txBody>
      </p:sp>
      <p:sp>
        <p:nvSpPr>
          <p:cNvPr id="724"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Meiryo"/>
                <a:ea typeface="Meiryo"/>
              </a:rPr>
              <a:t>30. Ahmed SS, Levinson GE, Schwartz CJ, Ettinger PO. Systolic time intervals as measures of the contractile state of the left ventricular myocardium in man. Circulation 1972;46:559–71.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31. Kettunen R, Timisjärvi J, Kouvalainen E, et al. Electromechanical delay in the intact dog heart. Int J Cardiol 1985;9:161–71.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32. Borlaug BA, Melenovsky V, Redfield MM, et al. Impact of arterial load and loading sequence on left ventricular tissue velocities in humans. J Am Coll Cardiol 2007;50:1570–7.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33. Beutel F, Van Hoof C, Rottenberg X, Reesink K, Hermeling E. Pulse arrival time segmentation into cardiac and vascular intervals — implications for pulse wave velocity and blood pressure estimation. IEEE Trans Biomed Eng 2021;68:2810–20.</a:t>
            </a:r>
            <a:endParaRPr lang="en-US" sz="950" b="0" u="none" strike="noStrike">
              <a:solidFill>
                <a:srgbClr val="000000"/>
              </a:solidFill>
              <a:effectLst/>
              <a:uFillTx/>
              <a:latin typeface="Arial"/>
            </a:endParaRPr>
          </a:p>
        </p:txBody>
      </p:sp>
      <p:sp>
        <p:nvSpPr>
          <p:cNvPr id="725"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47/47</a:t>
            </a:r>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テーマ</Template>
  <TotalTime>16513</TotalTime>
  <Words>7052</Words>
  <Application>Microsoft Macintosh PowerPoint</Application>
  <PresentationFormat>ワイド画面</PresentationFormat>
  <Paragraphs>1193</Paragraphs>
  <Slides>47</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47</vt:i4>
      </vt:variant>
    </vt:vector>
  </HeadingPairs>
  <TitlesOfParts>
    <vt:vector size="54" baseType="lpstr">
      <vt:lpstr>Meiryo</vt:lpstr>
      <vt:lpstr>Arial</vt:lpstr>
      <vt:lpstr>Calibri</vt:lpstr>
      <vt:lpstr>Symbol</vt:lpstr>
      <vt:lpstr>Times New Roman</vt:lpstr>
      <vt:lpstr>Wingdings</vt:lpstr>
      <vt:lpstr>Office テーマ</vt:lpstr>
      <vt:lpstr>SpO₂（PPG）波形解析の流れ</vt:lpstr>
      <vt:lpstr>メニュー</vt:lpstr>
      <vt:lpstr>1. 基礎</vt:lpstr>
      <vt:lpstr>1.1  PPG＝容積信号</vt:lpstr>
      <vt:lpstr>1.2  前進波＋反射波</vt:lpstr>
      <vt:lpstr>2. 波形への影響：加齢</vt:lpstr>
      <vt:lpstr>2.1  フラミンガム研究</vt:lpstr>
      <vt:lpstr>2.1  フラミンガム研究</vt:lpstr>
      <vt:lpstr>2.2  UK Biobank</vt:lpstr>
      <vt:lpstr>2.2  UK Biobank</vt:lpstr>
      <vt:lpstr>3. 波形への影響：循環</vt:lpstr>
      <vt:lpstr>3.1  心拍数</vt:lpstr>
      <vt:lpstr>3.2  前負荷</vt:lpstr>
      <vt:lpstr>3.2  前負荷</vt:lpstr>
      <vt:lpstr>3.2  前負荷（ΔPOP）</vt:lpstr>
      <vt:lpstr>3.2  前負荷（ΔPOP）</vt:lpstr>
      <vt:lpstr>3.3　心収縮力</vt:lpstr>
      <vt:lpstr>3.4  末梢血管トーヌス</vt:lpstr>
      <vt:lpstr>3.5  大血管エラスタンス</vt:lpstr>
      <vt:lpstr>3.6  後負荷の差</vt:lpstr>
      <vt:lpstr>3.7  裏付けの強さ</vt:lpstr>
      <vt:lpstr>3.8  麻酔中の変化</vt:lpstr>
      <vt:lpstr>3.8  麻酔中の変化</vt:lpstr>
      <vt:lpstr>3.9  麻酔中の変化</vt:lpstr>
      <vt:lpstr>3.9  麻酔中の変化</vt:lpstr>
      <vt:lpstr>4. 波形の定量化</vt:lpstr>
      <vt:lpstr>4.1  SI・RI・AIx</vt:lpstr>
      <vt:lpstr>4.2  SDPPG と AGI</vt:lpstr>
      <vt:lpstr>4.2  SDPPG の利点</vt:lpstr>
      <vt:lpstr>4.3  切痕＋PI→MAP</vt:lpstr>
      <vt:lpstr>5. まとめ</vt:lpstr>
      <vt:lpstr>5.1  読み方の2軸</vt:lpstr>
      <vt:lpstr>5.2  指標まとめ</vt:lpstr>
      <vt:lpstr>6. 限界</vt:lpstr>
      <vt:lpstr>6.1  本手法の限界</vt:lpstr>
      <vt:lpstr>6.2  限界への対応（解決の方向性）</vt:lpstr>
      <vt:lpstr>7. esCCO精度改善案</vt:lpstr>
      <vt:lpstr>7.1 esCCOの原理</vt:lpstr>
      <vt:lpstr>7.2 PWTT＝PEP＋VTT</vt:lpstr>
      <vt:lpstr>7.3 後負荷の交絡</vt:lpstr>
      <vt:lpstr>7.4 PWTT–SV分割表</vt:lpstr>
      <vt:lpstr>7.5 仮説の裏付け</vt:lpstr>
      <vt:lpstr>7.6 PPGで補正</vt:lpstr>
      <vt:lpstr>7.7 提案の新規性</vt:lpstr>
      <vt:lpstr>7.8 まとめ</vt:lpstr>
      <vt:lpstr>参考文献</vt:lpstr>
      <vt:lpstr>参考文献（続き）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subject/>
  <dc:creator>靖晃 川副</dc:creator>
  <dc:description/>
  <cp:lastModifiedBy>靖晃 川副</cp:lastModifiedBy>
  <cp:revision>37</cp:revision>
  <dcterms:created xsi:type="dcterms:W3CDTF">2025-01-05T04:32:32Z</dcterms:created>
  <dcterms:modified xsi:type="dcterms:W3CDTF">2026-07-12T14:18:50Z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23</vt:r8>
  </property>
  <property fmtid="{D5CDD505-2E9C-101B-9397-08002B2CF9AE}" pid="3" name="PresentationFormat">
    <vt:lpwstr>ワイド画面</vt:lpwstr>
  </property>
  <property fmtid="{D5CDD505-2E9C-101B-9397-08002B2CF9AE}" pid="4" name="Slides">
    <vt:r8>39</vt:r8>
  </property>
</Properties>
</file>