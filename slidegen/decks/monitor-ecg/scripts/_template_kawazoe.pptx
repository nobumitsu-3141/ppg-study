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B055E-D772-5449-974A-04006BE12771}" v="35" dt="2025-08-19T10:34:29.3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81"/>
    <p:restoredTop sz="80858"/>
  </p:normalViewPr>
  <p:slideViewPr>
    <p:cSldViewPr snapToGrid="0">
      <p:cViewPr varScale="1">
        <p:scale>
          <a:sx n="110" d="100"/>
          <a:sy n="110" d="100"/>
        </p:scale>
        <p:origin x="856" y="472"/>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9" Type="http://schemas.openxmlformats.org/officeDocument/2006/relationships/notesMaster" Target="notesMasters/notesMaster1.xml"/><Relationship Id="rId42" Type="http://schemas.openxmlformats.org/officeDocument/2006/relationships/theme" Target="theme/theme1.xml"/><Relationship Id="rId1" Type="http://schemas.openxmlformats.org/officeDocument/2006/relationships/slideMaster" Target="slideMasters/slideMaster1.xml"/><Relationship Id="rId40" Type="http://schemas.openxmlformats.org/officeDocument/2006/relationships/presProps" Target="presProps.xml"/><Relationship Id="rId45" Type="http://schemas.microsoft.com/office/2018/10/relationships/authors" Target="authors.xml"/><Relationship Id="rId44" Type="http://schemas.microsoft.com/office/2015/10/relationships/revisionInfo" Target="revisionInfo.xml"/><Relationship Id="rId43" Type="http://schemas.openxmlformats.org/officeDocument/2006/relationships/tableStyles" Target="tableStyles.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2025/8/19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今回は</a:t>
            </a:r>
            <a:r>
              <a:rPr kumimoji="1" lang="en-US" altLang="ja-JP" dirty="0"/>
              <a:t>EIP</a:t>
            </a:r>
            <a:r>
              <a:rPr kumimoji="1" lang="ja-JP" altLang="en-US"/>
              <a:t>とは、設定するメリット、研究に基づく推奨設定ということで、総まとめを行います。現時点で</a:t>
            </a:r>
            <a:r>
              <a:rPr kumimoji="1" lang="en-US" altLang="ja-JP" dirty="0"/>
              <a:t>EIP</a:t>
            </a:r>
            <a:r>
              <a:rPr kumimoji="1" lang="ja-JP" altLang="en-US"/>
              <a:t>に関してはスペイン語以外のレビューがありませんのでぜひ聞いていってください。</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a:t>
            </a:fld>
            <a:endParaRPr kumimoji="1" lang="ja-JP" altLang="en-US"/>
          </a:p>
        </p:txBody>
      </p:sp>
    </p:spTree>
    <p:extLst>
      <p:ext uri="{BB962C8B-B14F-4D97-AF65-F5344CB8AC3E}">
        <p14:creationId xmlns:p14="http://schemas.microsoft.com/office/powerpoint/2010/main" val="1776241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レントゲン撮る時にいきスッテー、止めてーはい吐いてていいいですよー。</a:t>
            </a:r>
            <a:endParaRPr kumimoji="1" lang="en-US" altLang="ja-JP" dirty="0"/>
          </a:p>
          <a:p>
            <a:r>
              <a:rPr kumimoji="1" lang="ja-JP" altLang="en-US"/>
              <a:t>止めてーのタイミングがまさに吸気終末一時停止の状態ということになります。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6</a:t>
            </a:fld>
            <a:endParaRPr kumimoji="1" lang="ja-JP" altLang="en-US"/>
          </a:p>
        </p:txBody>
      </p:sp>
    </p:spTree>
    <p:extLst>
      <p:ext uri="{BB962C8B-B14F-4D97-AF65-F5344CB8AC3E}">
        <p14:creationId xmlns:p14="http://schemas.microsoft.com/office/powerpoint/2010/main" val="590573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VCV</a:t>
            </a:r>
            <a:r>
              <a:rPr kumimoji="1" lang="ja-JP" altLang="en-US" dirty="0"/>
              <a:t>において</a:t>
            </a:r>
            <a:r>
              <a:rPr kumimoji="1" lang="ja-JP" altLang="en-US"/>
              <a:t>、吸気直後に呼気弁を閉じたままにすることで、</a:t>
            </a:r>
            <a:r>
              <a:rPr kumimoji="1" lang="ja-JP" altLang="en-US" dirty="0"/>
              <a:t>気道を閉鎖</a:t>
            </a:r>
            <a:r>
              <a:rPr kumimoji="1" lang="ja-JP" altLang="en-US"/>
              <a:t>し、吸って吐かない時間、フロー</a:t>
            </a:r>
            <a:r>
              <a:rPr kumimoji="1" lang="ja-JP" altLang="en-US" dirty="0"/>
              <a:t>が</a:t>
            </a:r>
            <a:r>
              <a:rPr kumimoji="1" lang="en-US" altLang="ja-JP" dirty="0"/>
              <a:t>0</a:t>
            </a:r>
            <a:r>
              <a:rPr kumimoji="1" lang="ja-JP" altLang="en-US" dirty="0"/>
              <a:t>の時間を作る。</a:t>
            </a:r>
            <a:endParaRPr kumimoji="1" lang="en-US" altLang="ja-JP" dirty="0"/>
          </a:p>
          <a:p>
            <a:r>
              <a:rPr lang="ja-JP" altLang="en-US"/>
              <a:t>流量曲線ではフローが</a:t>
            </a:r>
            <a:r>
              <a:rPr lang="en-US" altLang="ja-JP" dirty="0"/>
              <a:t>0</a:t>
            </a:r>
            <a:r>
              <a:rPr lang="ja-JP" altLang="en-US"/>
              <a:t>なので、基線に戻ることになる。流速が</a:t>
            </a:r>
            <a:r>
              <a:rPr lang="en-US" altLang="ja-JP" dirty="0"/>
              <a:t>0</a:t>
            </a:r>
            <a:r>
              <a:rPr lang="ja-JP" altLang="en-US"/>
              <a:t>の時間を</a:t>
            </a:r>
            <a:r>
              <a:rPr lang="en-US" altLang="ja-JP" dirty="0"/>
              <a:t>EIP</a:t>
            </a:r>
            <a:r>
              <a:rPr lang="ja-JP" altLang="en-US"/>
              <a:t>という。</a:t>
            </a:r>
            <a:endParaRPr lang="en-US" altLang="ja-JP" dirty="0"/>
          </a:p>
          <a:p>
            <a:endParaRPr lang="en-US" altLang="ja-JP" dirty="0"/>
          </a:p>
          <a:p>
            <a:r>
              <a:rPr kumimoji="1" lang="ja-JP" altLang="en-US" dirty="0"/>
              <a:t>送気　休止　呼気</a:t>
            </a:r>
            <a:endParaRPr kumimoji="1" lang="en-US" altLang="ja-JP" dirty="0"/>
          </a:p>
          <a:p>
            <a:endParaRPr lang="en-US" altLang="ja-JP" dirty="0"/>
          </a:p>
          <a:p>
            <a:endParaRPr lang="en-US" altLang="ja-JP" dirty="0"/>
          </a:p>
          <a:p>
            <a:r>
              <a:rPr kumimoji="1" lang="ja-JP" altLang="en-US" dirty="0"/>
              <a:t>麻酔器では吸気時間の？％という形で設定することができる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a:t>
            </a:fld>
            <a:endParaRPr kumimoji="1" lang="ja-JP" altLang="en-US"/>
          </a:p>
        </p:txBody>
      </p:sp>
    </p:spTree>
    <p:extLst>
      <p:ext uri="{BB962C8B-B14F-4D97-AF65-F5344CB8AC3E}">
        <p14:creationId xmlns:p14="http://schemas.microsoft.com/office/powerpoint/2010/main" val="2661050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こちらは</a:t>
            </a:r>
            <a:r>
              <a:rPr kumimoji="1" lang="en-US" altLang="ja-JP" dirty="0"/>
              <a:t>VCV</a:t>
            </a:r>
            <a:r>
              <a:rPr kumimoji="1" lang="ja-JP" altLang="en-US"/>
              <a:t>の気道内圧曲線ですが、そもそも気道内圧は大きく</a:t>
            </a:r>
            <a:r>
              <a:rPr kumimoji="1" lang="en-US" altLang="ja-JP" dirty="0"/>
              <a:t>3</a:t>
            </a:r>
            <a:r>
              <a:rPr kumimoji="1" lang="ja-JP" altLang="en-US"/>
              <a:t>つの構成要素に分かれます。</a:t>
            </a:r>
            <a:endParaRPr kumimoji="1" lang="en-US" altLang="ja-JP" dirty="0"/>
          </a:p>
          <a:p>
            <a:r>
              <a:rPr kumimoji="1" lang="ja-JP" altLang="en-US"/>
              <a:t>一つは気道抵抗成分に対抗する圧です。オームの法則で、抵抗とフローの積で示されます。</a:t>
            </a:r>
            <a:endParaRPr kumimoji="1" lang="en-US" altLang="ja-JP" dirty="0"/>
          </a:p>
          <a:p>
            <a:r>
              <a:rPr kumimoji="1" lang="ja-JP" altLang="en-US"/>
              <a:t>もう一つは肺、胸郭を広げるための圧です。コンプライアンスの逆数であるエラスタンス（つまり肺の硬さ）と一回換気量の積で示されます。</a:t>
            </a:r>
            <a:endParaRPr kumimoji="1" lang="en-US" altLang="ja-JP" dirty="0"/>
          </a:p>
          <a:p>
            <a:r>
              <a:rPr kumimoji="1" lang="ja-JP" altLang="en-US"/>
              <a:t>最後に、残機量に対してかかる圧です。大抵設定した</a:t>
            </a:r>
            <a:r>
              <a:rPr kumimoji="1" lang="en-US" altLang="ja-JP" dirty="0"/>
              <a:t>PEEP</a:t>
            </a:r>
            <a:r>
              <a:rPr kumimoji="1" lang="ja-JP" altLang="en-US"/>
              <a:t>になります。</a:t>
            </a:r>
            <a:endParaRPr kumimoji="1" lang="en-US" altLang="ja-JP" dirty="0"/>
          </a:p>
          <a:p>
            <a:r>
              <a:rPr kumimoji="1" lang="ja-JP" altLang="en-US"/>
              <a:t>ポーズを設けてフローが</a:t>
            </a:r>
            <a:r>
              <a:rPr kumimoji="1" lang="en-US" altLang="ja-JP" dirty="0"/>
              <a:t>0</a:t>
            </a:r>
            <a:r>
              <a:rPr kumimoji="1" lang="ja-JP" altLang="en-US"/>
              <a:t>になると、気道抵抗成分部分を無視できるようになり、気道内圧が低下します。</a:t>
            </a:r>
            <a:endParaRPr kumimoji="1" lang="en-US" altLang="ja-JP" dirty="0"/>
          </a:p>
          <a:p>
            <a:r>
              <a:rPr kumimoji="1" lang="ja-JP" altLang="en-US"/>
              <a:t>コキ直前の気道内圧をプラトー圧と言います。</a:t>
            </a:r>
            <a:endParaRPr kumimoji="1" lang="en-US" altLang="ja-JP" dirty="0"/>
          </a:p>
          <a:p>
            <a:r>
              <a:rPr kumimoji="1" lang="ja-JP" altLang="en-US"/>
              <a:t>ではなぜ</a:t>
            </a:r>
            <a:r>
              <a:rPr kumimoji="1" lang="en-US" altLang="ja-JP" dirty="0"/>
              <a:t>P1</a:t>
            </a:r>
            <a:r>
              <a:rPr kumimoji="1" lang="ja-JP" altLang="en-US"/>
              <a:t>からプラトー圧に低下するのか。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10</a:t>
            </a:fld>
            <a:endParaRPr kumimoji="1" lang="ja-JP" altLang="en-US"/>
          </a:p>
        </p:txBody>
      </p:sp>
    </p:spTree>
    <p:extLst>
      <p:ext uri="{BB962C8B-B14F-4D97-AF65-F5344CB8AC3E}">
        <p14:creationId xmlns:p14="http://schemas.microsoft.com/office/powerpoint/2010/main" val="396239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VCV</a:t>
            </a:r>
            <a:r>
              <a:rPr kumimoji="1" lang="ja-JP" altLang="en-US"/>
              <a:t>では太い気管の先にある肺胞により送気されることになります。</a:t>
            </a:r>
            <a:endParaRPr kumimoji="1" lang="en-US" altLang="ja-JP" dirty="0"/>
          </a:p>
          <a:p>
            <a:r>
              <a:rPr kumimoji="1" lang="ja-JP" altLang="en-US"/>
              <a:t>ポーズを設けることにより、肺胞同士のガス移動が徐々に起こって圧が消費されるため、</a:t>
            </a:r>
            <a:r>
              <a:rPr kumimoji="1" lang="en-US" altLang="ja-JP" dirty="0"/>
              <a:t>P1</a:t>
            </a:r>
            <a:r>
              <a:rPr kumimoji="1" lang="ja-JP" altLang="en-US"/>
              <a:t>からプラトーまで緩徐に低下します。</a:t>
            </a:r>
            <a:endParaRPr kumimoji="1" lang="en-US" altLang="ja-JP" dirty="0"/>
          </a:p>
          <a:p>
            <a:r>
              <a:rPr kumimoji="1" lang="ja-JP" altLang="en-US"/>
              <a:t>この時高圧状態での肺胞のリクルートメントや、過膨張肺胞の抑制が行われ、肺胸郭に対してかかる均一な圧を知ることができる。</a:t>
            </a:r>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11</a:t>
            </a:fld>
            <a:endParaRPr kumimoji="1" lang="ja-JP" altLang="en-US"/>
          </a:p>
        </p:txBody>
      </p:sp>
    </p:spTree>
    <p:extLst>
      <p:ext uri="{BB962C8B-B14F-4D97-AF65-F5344CB8AC3E}">
        <p14:creationId xmlns:p14="http://schemas.microsoft.com/office/powerpoint/2010/main" val="423218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VCV</a:t>
            </a:r>
            <a:r>
              <a:rPr kumimoji="1" lang="ja-JP" altLang="en-US"/>
              <a:t>における気道内圧曲線です。</a:t>
            </a:r>
            <a:endParaRPr kumimoji="1" lang="en-US" altLang="ja-JP" dirty="0"/>
          </a:p>
          <a:p>
            <a:r>
              <a:rPr kumimoji="1" lang="ja-JP" altLang="en-US"/>
              <a:t>吸気にポーズを設ける直前の最高気道内圧を</a:t>
            </a:r>
            <a:r>
              <a:rPr kumimoji="1" lang="en-US" altLang="ja-JP" dirty="0"/>
              <a:t>Pmax</a:t>
            </a:r>
            <a:r>
              <a:rPr kumimoji="1" lang="ja-JP" altLang="en-US"/>
              <a:t>や</a:t>
            </a:r>
            <a:r>
              <a:rPr kumimoji="1" lang="en-US" altLang="ja-JP" dirty="0" err="1"/>
              <a:t>Ppeak</a:t>
            </a:r>
            <a:r>
              <a:rPr kumimoji="1" lang="ja-JP" altLang="en-US"/>
              <a:t>と言います。吸気時にポーズを設けて得られる呼気直前のあつをプラトー圧といいます。</a:t>
            </a:r>
            <a:endParaRPr kumimoji="1" lang="en-US" altLang="ja-JP" dirty="0"/>
          </a:p>
          <a:p>
            <a:r>
              <a:rPr kumimoji="1" lang="ja-JP" altLang="en-US"/>
              <a:t>プラトー圧から設定した</a:t>
            </a:r>
            <a:r>
              <a:rPr kumimoji="1" lang="en-US" altLang="ja-JP" dirty="0"/>
              <a:t>PEEP</a:t>
            </a:r>
            <a:r>
              <a:rPr kumimoji="1" lang="ja-JP" altLang="en-US"/>
              <a:t>を引いた時の圧を駆動圧、ドライビングプレッシャーと言い、肺胸郭を実際に広げている圧とされていて、肺保護換気で重要な役割をもつ圧になります。</a:t>
            </a:r>
            <a:endParaRPr kumimoji="1" lang="en-US" altLang="ja-JP" dirty="0"/>
          </a:p>
          <a:p>
            <a:r>
              <a:rPr kumimoji="1" lang="en-US" altLang="ja-JP" dirty="0"/>
              <a:t>VCV</a:t>
            </a:r>
            <a:r>
              <a:rPr kumimoji="1" lang="ja-JP" altLang="en-US"/>
              <a:t>の話なので、設定した一回換気量を駆動圧で割ることで、呼吸器系のコンプライアンスつまり肺、胸郭の広がりやすさを知ることができます。</a:t>
            </a:r>
            <a:endParaRPr kumimoji="1" lang="en-US" altLang="ja-JP" dirty="0"/>
          </a:p>
          <a:p>
            <a:endParaRPr kumimoji="1" lang="en-US" altLang="ja-JP" dirty="0"/>
          </a:p>
          <a:p>
            <a:r>
              <a:rPr kumimoji="1" lang="ja-JP" altLang="en-US"/>
              <a:t>プラトー圧がわかるということは、駆動圧や呼吸器系コンプライアンスといった、換気の重要なパラメーターを求めることができるという点で非常に重要です。</a:t>
            </a:r>
            <a:endParaRPr kumimoji="1" lang="en-US" altLang="ja-JP"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12</a:t>
            </a:fld>
            <a:endParaRPr kumimoji="1" lang="ja-JP" altLang="en-US"/>
          </a:p>
        </p:txBody>
      </p:sp>
    </p:spTree>
    <p:extLst>
      <p:ext uri="{BB962C8B-B14F-4D97-AF65-F5344CB8AC3E}">
        <p14:creationId xmlns:p14="http://schemas.microsoft.com/office/powerpoint/2010/main" val="213719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左は正常肺ですが、ここから</a:t>
            </a:r>
            <a:r>
              <a:rPr kumimoji="1" lang="en-US" altLang="ja-JP" dirty="0"/>
              <a:t>Pmax</a:t>
            </a:r>
            <a:r>
              <a:rPr kumimoji="1" lang="ja-JP" altLang="en-US"/>
              <a:t>が上昇した場合、ポーズを設けることで、なぜ</a:t>
            </a:r>
            <a:r>
              <a:rPr kumimoji="1" lang="en-US" altLang="ja-JP" dirty="0"/>
              <a:t>Pmax</a:t>
            </a:r>
            <a:r>
              <a:rPr kumimoji="1" lang="ja-JP" altLang="en-US"/>
              <a:t>が上昇したかわかることがあります。</a:t>
            </a:r>
            <a:endParaRPr kumimoji="1" lang="en-US" altLang="ja-JP" dirty="0"/>
          </a:p>
          <a:p>
            <a:r>
              <a:rPr kumimoji="1" lang="ja-JP" altLang="en-US"/>
              <a:t>真ん中のパターンであれば、</a:t>
            </a:r>
            <a:r>
              <a:rPr kumimoji="1" lang="en-US" altLang="ja-JP" dirty="0"/>
              <a:t>plat</a:t>
            </a:r>
            <a:r>
              <a:rPr kumimoji="1" lang="ja-JP" altLang="en-US"/>
              <a:t>圧は高くないものの、気道抵抗成分が上昇しており、</a:t>
            </a:r>
            <a:r>
              <a:rPr kumimoji="1" lang="en-US" altLang="ja-JP" dirty="0"/>
              <a:t>Pmax</a:t>
            </a:r>
            <a:r>
              <a:rPr kumimoji="1" lang="ja-JP" altLang="en-US"/>
              <a:t>上昇の原因が気道にあることが疑われる状況です。</a:t>
            </a:r>
            <a:endParaRPr kumimoji="1" lang="en-US" altLang="ja-JP" dirty="0"/>
          </a:p>
          <a:p>
            <a:r>
              <a:rPr kumimoji="1" lang="ja-JP" altLang="en-US"/>
              <a:t>右のように</a:t>
            </a:r>
            <a:r>
              <a:rPr kumimoji="1" lang="en-US" altLang="ja-JP" dirty="0"/>
              <a:t>plat</a:t>
            </a:r>
            <a:r>
              <a:rPr kumimoji="1" lang="ja-JP" altLang="en-US"/>
              <a:t>圧も上昇しているのであれば、胸郭肺のコンプライアンスが低下していおり、気道以遠に問題があることが疑われます。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14</a:t>
            </a:fld>
            <a:endParaRPr kumimoji="1" lang="ja-JP" altLang="en-US"/>
          </a:p>
        </p:txBody>
      </p:sp>
    </p:spTree>
    <p:extLst>
      <p:ext uri="{BB962C8B-B14F-4D97-AF65-F5344CB8AC3E}">
        <p14:creationId xmlns:p14="http://schemas.microsoft.com/office/powerpoint/2010/main" val="1162739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ポーズによる</a:t>
            </a:r>
            <a:r>
              <a:rPr kumimoji="1" lang="en-US" altLang="ja-JP" dirty="0"/>
              <a:t>Co2</a:t>
            </a:r>
            <a:r>
              <a:rPr kumimoji="1" lang="ja-JP" altLang="en-US"/>
              <a:t>排出促進効果については、ポーズによる高圧のリクルートめんとをベースにした死腔の減少及び換気血流比の改善を下にして、年代が進むごとに平均分布時間、吸気終末流速、吸気時間ポーズ時間比といった要素が関係していることがわかっています。年表のようにして歴史を概観していくことにし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16</a:t>
            </a:fld>
            <a:endParaRPr kumimoji="1" lang="ja-JP" altLang="en-US"/>
          </a:p>
        </p:txBody>
      </p:sp>
    </p:spTree>
    <p:extLst>
      <p:ext uri="{BB962C8B-B14F-4D97-AF65-F5344CB8AC3E}">
        <p14:creationId xmlns:p14="http://schemas.microsoft.com/office/powerpoint/2010/main" val="25005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できるだけ古い文献まであたろうとした結果、</a:t>
            </a:r>
            <a:r>
              <a:rPr kumimoji="1" lang="en-US" altLang="ja-JP" dirty="0"/>
              <a:t>1956</a:t>
            </a:r>
            <a:r>
              <a:rPr kumimoji="1" lang="ja-JP" altLang="en-US"/>
              <a:t>年の</a:t>
            </a:r>
            <a:r>
              <a:rPr kumimoji="1" lang="en-US" altLang="ja-JP" dirty="0"/>
              <a:t>Otis</a:t>
            </a:r>
            <a:r>
              <a:rPr kumimoji="1" lang="ja-JP" altLang="en-US"/>
              <a:t>らがすでにコンスタントフローの陽圧持続かんき時にポーズを設けた際の生理学的変化について記述していました。これを元に主に</a:t>
            </a:r>
            <a:r>
              <a:rPr kumimoji="1" lang="en-US" altLang="ja-JP" dirty="0"/>
              <a:t>1970-80</a:t>
            </a:r>
            <a:r>
              <a:rPr kumimoji="1" lang="ja-JP" altLang="en-US"/>
              <a:t>年にかけて呼吸器感染症の動物やヒトでポーズによる</a:t>
            </a:r>
            <a:r>
              <a:rPr kumimoji="1" lang="en-US" altLang="ja-JP" dirty="0"/>
              <a:t>CO2</a:t>
            </a:r>
            <a:r>
              <a:rPr kumimoji="1" lang="ja-JP" altLang="en-US"/>
              <a:t>排出改善が検討されています。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17</a:t>
            </a:fld>
            <a:endParaRPr kumimoji="1" lang="ja-JP" altLang="en-US"/>
          </a:p>
        </p:txBody>
      </p:sp>
    </p:spTree>
    <p:extLst>
      <p:ext uri="{BB962C8B-B14F-4D97-AF65-F5344CB8AC3E}">
        <p14:creationId xmlns:p14="http://schemas.microsoft.com/office/powerpoint/2010/main" val="3788595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D001-02AB-8DCC-4EE0-EF71604611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08038B-A686-500B-61A9-4E333A64763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F203942-1243-27F0-2252-0A9F1B6DB4E6}"/>
              </a:ext>
            </a:extLst>
          </p:cNvPr>
          <p:cNvSpPr>
            <a:spLocks noGrp="1"/>
          </p:cNvSpPr>
          <p:nvPr>
            <p:ph type="body" idx="1"/>
          </p:nvPr>
        </p:nvSpPr>
        <p:spPr/>
        <p:txBody>
          <a:bodyPr/>
          <a:lstStyle/>
          <a:p>
            <a:r>
              <a:rPr kumimoji="1" lang="ja-JP" altLang="en-US"/>
              <a:t>続いてより生理学的な理解が進んでいくことになりますが、</a:t>
            </a:r>
            <a:endParaRPr kumimoji="1" lang="en-US" altLang="ja-JP" dirty="0"/>
          </a:p>
          <a:p>
            <a:r>
              <a:rPr kumimoji="1" lang="ja-JP" altLang="en-US"/>
              <a:t>青線が換気量曲線、黒線がフロー曲線です。換気量が死腔を越えてガス拡散が行われるようになってから、呼気に変わるまでの平均時間を</a:t>
            </a:r>
            <a:r>
              <a:rPr kumimoji="1" lang="en-US" altLang="ja-JP" dirty="0"/>
              <a:t>mean distribution time</a:t>
            </a:r>
            <a:r>
              <a:rPr kumimoji="1" lang="ja-JP" altLang="en-US"/>
              <a:t>といいます。</a:t>
            </a:r>
            <a:endParaRPr kumimoji="1" lang="en-US" altLang="ja-JP" dirty="0"/>
          </a:p>
          <a:p>
            <a:r>
              <a:rPr kumimoji="1" lang="en-US" altLang="ja-JP" dirty="0"/>
              <a:t>2000</a:t>
            </a:r>
            <a:r>
              <a:rPr kumimoji="1" lang="ja-JP" altLang="en-US"/>
              <a:t>年ごろからポーズを設けることにより、</a:t>
            </a:r>
            <a:r>
              <a:rPr kumimoji="1" lang="en-US" altLang="ja-JP" dirty="0"/>
              <a:t>mean distribution time</a:t>
            </a:r>
            <a:r>
              <a:rPr kumimoji="1" lang="ja-JP" altLang="en-US"/>
              <a:t>が延長することでガス拡散の時間が長くなり、</a:t>
            </a:r>
            <a:r>
              <a:rPr kumimoji="1" lang="en-US" altLang="ja-JP" dirty="0"/>
              <a:t>CO2</a:t>
            </a:r>
            <a:r>
              <a:rPr kumimoji="1" lang="ja-JP" altLang="en-US"/>
              <a:t>が効率よく排出されるという考え方が生まれました。</a:t>
            </a:r>
          </a:p>
        </p:txBody>
      </p:sp>
      <p:sp>
        <p:nvSpPr>
          <p:cNvPr id="4" name="スライド番号プレースホルダー 3">
            <a:extLst>
              <a:ext uri="{FF2B5EF4-FFF2-40B4-BE49-F238E27FC236}">
                <a16:creationId xmlns:a16="http://schemas.microsoft.com/office/drawing/2014/main" id="{04F4C5BF-2BCF-7DF9-8000-64FBF742E8B5}"/>
              </a:ext>
            </a:extLst>
          </p:cNvPr>
          <p:cNvSpPr>
            <a:spLocks noGrp="1"/>
          </p:cNvSpPr>
          <p:nvPr>
            <p:ph type="sldNum" sz="quarter" idx="5"/>
          </p:nvPr>
        </p:nvSpPr>
        <p:spPr/>
        <p:txBody>
          <a:bodyPr/>
          <a:lstStyle/>
          <a:p>
            <a:fld id="{4368CECF-0771-D84F-8D42-085DB944B0B8}" type="slidenum">
              <a:rPr kumimoji="1" lang="ja-JP" altLang="en-US" smtClean="0"/>
              <a:t>18</a:t>
            </a:fld>
            <a:endParaRPr kumimoji="1" lang="ja-JP" altLang="en-US"/>
          </a:p>
        </p:txBody>
      </p:sp>
    </p:spTree>
    <p:extLst>
      <p:ext uri="{BB962C8B-B14F-4D97-AF65-F5344CB8AC3E}">
        <p14:creationId xmlns:p14="http://schemas.microsoft.com/office/powerpoint/2010/main" val="903630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uttman</a:t>
            </a:r>
            <a:r>
              <a:rPr kumimoji="1" lang="ja-JP" altLang="en-US"/>
              <a:t>らが</a:t>
            </a:r>
            <a:r>
              <a:rPr kumimoji="1" lang="en-US" altLang="ja-JP" dirty="0"/>
              <a:t>MDT</a:t>
            </a:r>
            <a:r>
              <a:rPr kumimoji="1" lang="ja-JP" altLang="en-US"/>
              <a:t>の概念を持ち込み、健常人、</a:t>
            </a:r>
            <a:r>
              <a:rPr kumimoji="1" lang="en-US" altLang="ja-JP" dirty="0"/>
              <a:t>ARDS</a:t>
            </a:r>
            <a:r>
              <a:rPr kumimoji="1" lang="ja-JP" altLang="en-US"/>
              <a:t>患者に対してポーズ設定により、</a:t>
            </a:r>
            <a:r>
              <a:rPr kumimoji="1" lang="en-US" altLang="ja-JP" dirty="0"/>
              <a:t>MDT</a:t>
            </a:r>
            <a:r>
              <a:rPr kumimoji="1" lang="ja-JP" altLang="en-US"/>
              <a:t>が延長して、より</a:t>
            </a:r>
            <a:r>
              <a:rPr kumimoji="1" lang="en-US" altLang="ja-JP" dirty="0"/>
              <a:t>CO2</a:t>
            </a:r>
            <a:r>
              <a:rPr kumimoji="1" lang="ja-JP" altLang="en-US"/>
              <a:t>排出効率があがったということがわかりました。</a:t>
            </a:r>
            <a:endParaRPr kumimoji="1" lang="en-US" altLang="ja-JP" dirty="0"/>
          </a:p>
          <a:p>
            <a:endParaRPr kumimoji="1" lang="en-US" altLang="ja-JP" dirty="0"/>
          </a:p>
          <a:p>
            <a:endParaRPr kumimoji="1" lang="en-US" altLang="ja-JP" dirty="0"/>
          </a:p>
          <a:p>
            <a:r>
              <a:rPr kumimoji="1" lang="en-US" altLang="ja-JP" dirty="0" err="1"/>
              <a:t>Devaquet</a:t>
            </a:r>
            <a:r>
              <a:rPr kumimoji="1" lang="ja-JP" altLang="en-US"/>
              <a:t>らは</a:t>
            </a:r>
            <a:r>
              <a:rPr kumimoji="1" lang="en-US" altLang="ja-JP" dirty="0"/>
              <a:t>EtCo2</a:t>
            </a:r>
            <a:r>
              <a:rPr kumimoji="1" lang="ja-JP" altLang="en-US"/>
              <a:t>だけでなく、</a:t>
            </a:r>
            <a:r>
              <a:rPr kumimoji="1" lang="en-US" altLang="ja-JP" dirty="0"/>
              <a:t>PaCO2</a:t>
            </a:r>
            <a:r>
              <a:rPr kumimoji="1" lang="ja-JP" altLang="en-US"/>
              <a:t>の改善までみている</a:t>
            </a:r>
            <a:endParaRPr kumimoji="1" lang="en-US" altLang="ja-JP"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19</a:t>
            </a:fld>
            <a:endParaRPr kumimoji="1" lang="ja-JP" altLang="en-US"/>
          </a:p>
        </p:txBody>
      </p:sp>
    </p:spTree>
    <p:extLst>
      <p:ext uri="{BB962C8B-B14F-4D97-AF65-F5344CB8AC3E}">
        <p14:creationId xmlns:p14="http://schemas.microsoft.com/office/powerpoint/2010/main" val="2314610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082D1-86E1-5CF9-E75D-FC9DAFCC0C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1F8980-5A03-C0C1-1D31-173A9D71643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31C680-D78A-E050-FC34-E00D67AD08AF}"/>
              </a:ext>
            </a:extLst>
          </p:cNvPr>
          <p:cNvSpPr>
            <a:spLocks noGrp="1"/>
          </p:cNvSpPr>
          <p:nvPr>
            <p:ph type="body" idx="1"/>
          </p:nvPr>
        </p:nvSpPr>
        <p:spPr/>
        <p:txBody>
          <a:bodyPr/>
          <a:lstStyle/>
          <a:p>
            <a:r>
              <a:rPr kumimoji="1" lang="en-US" altLang="ja-JP" dirty="0" err="1"/>
              <a:t>uttman</a:t>
            </a:r>
            <a:r>
              <a:rPr kumimoji="1" lang="ja-JP" altLang="en-US"/>
              <a:t>らが</a:t>
            </a:r>
            <a:r>
              <a:rPr kumimoji="1" lang="en-US" altLang="ja-JP" dirty="0"/>
              <a:t>MDT</a:t>
            </a:r>
            <a:r>
              <a:rPr kumimoji="1" lang="ja-JP" altLang="en-US"/>
              <a:t>の概念を持ち込み、健常人、</a:t>
            </a:r>
            <a:r>
              <a:rPr kumimoji="1" lang="en-US" altLang="ja-JP" dirty="0"/>
              <a:t>ARDS</a:t>
            </a:r>
            <a:r>
              <a:rPr kumimoji="1" lang="ja-JP" altLang="en-US"/>
              <a:t>患者に対してポーズ設定により、</a:t>
            </a:r>
            <a:r>
              <a:rPr kumimoji="1" lang="en-US" altLang="ja-JP" dirty="0"/>
              <a:t>MDT</a:t>
            </a:r>
            <a:r>
              <a:rPr kumimoji="1" lang="ja-JP" altLang="en-US"/>
              <a:t>が延長して、より</a:t>
            </a:r>
            <a:r>
              <a:rPr kumimoji="1" lang="en-US" altLang="ja-JP" dirty="0"/>
              <a:t>CO2</a:t>
            </a:r>
            <a:r>
              <a:rPr kumimoji="1" lang="ja-JP" altLang="en-US"/>
              <a:t>排出効率があがったということがわかりました。</a:t>
            </a:r>
            <a:endParaRPr kumimoji="1" lang="en-US" altLang="ja-JP" dirty="0"/>
          </a:p>
          <a:p>
            <a:r>
              <a:rPr kumimoji="1" lang="ja-JP" altLang="en-US"/>
              <a:t>ただ、</a:t>
            </a:r>
            <a:r>
              <a:rPr kumimoji="1" lang="en-US" altLang="ja-JP" dirty="0"/>
              <a:t>MDT</a:t>
            </a:r>
            <a:r>
              <a:rPr kumimoji="1" lang="ja-JP" altLang="en-US"/>
              <a:t>よりも、</a:t>
            </a:r>
            <a:r>
              <a:rPr kumimoji="1" lang="en-US" altLang="ja-JP" dirty="0" err="1"/>
              <a:t>logMDT</a:t>
            </a:r>
            <a:r>
              <a:rPr kumimoji="1" lang="ja-JP" altLang="en-US"/>
              <a:t>との相関の方が強かったようです。</a:t>
            </a:r>
            <a:endParaRPr kumimoji="1" lang="en-US" altLang="ja-JP" dirty="0"/>
          </a:p>
        </p:txBody>
      </p:sp>
      <p:sp>
        <p:nvSpPr>
          <p:cNvPr id="4" name="スライド番号プレースホルダー 3">
            <a:extLst>
              <a:ext uri="{FF2B5EF4-FFF2-40B4-BE49-F238E27FC236}">
                <a16:creationId xmlns:a16="http://schemas.microsoft.com/office/drawing/2014/main" id="{FD887756-3642-DE53-78A4-5B6E72EFAD8A}"/>
              </a:ext>
            </a:extLst>
          </p:cNvPr>
          <p:cNvSpPr>
            <a:spLocks noGrp="1"/>
          </p:cNvSpPr>
          <p:nvPr>
            <p:ph type="sldNum" sz="quarter" idx="5"/>
          </p:nvPr>
        </p:nvSpPr>
        <p:spPr/>
        <p:txBody>
          <a:bodyPr/>
          <a:lstStyle/>
          <a:p>
            <a:fld id="{4368CECF-0771-D84F-8D42-085DB944B0B8}" type="slidenum">
              <a:rPr kumimoji="1" lang="ja-JP" altLang="en-US" smtClean="0"/>
              <a:t>20</a:t>
            </a:fld>
            <a:endParaRPr kumimoji="1" lang="ja-JP" altLang="en-US"/>
          </a:p>
        </p:txBody>
      </p:sp>
    </p:spTree>
    <p:extLst>
      <p:ext uri="{BB962C8B-B14F-4D97-AF65-F5344CB8AC3E}">
        <p14:creationId xmlns:p14="http://schemas.microsoft.com/office/powerpoint/2010/main" val="3712239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2010</a:t>
            </a:r>
            <a:r>
              <a:rPr kumimoji="1" lang="ja-JP" altLang="en-US"/>
              <a:t>年以降はより</a:t>
            </a:r>
            <a:r>
              <a:rPr kumimoji="1" lang="en-US" altLang="ja-JP" dirty="0"/>
              <a:t>CO2</a:t>
            </a:r>
            <a:r>
              <a:rPr kumimoji="1" lang="ja-JP" altLang="en-US"/>
              <a:t>排出効率を上げるための研究が行われています。</a:t>
            </a:r>
            <a:endParaRPr kumimoji="1" lang="en-US" altLang="ja-JP" dirty="0"/>
          </a:p>
          <a:p>
            <a:r>
              <a:rPr kumimoji="1" lang="ja-JP" altLang="en-US"/>
              <a:t>上はフローを変化させている様子です。</a:t>
            </a:r>
            <a:r>
              <a:rPr kumimoji="1" lang="en-US" altLang="ja-JP" dirty="0"/>
              <a:t>VCV</a:t>
            </a:r>
            <a:r>
              <a:rPr kumimoji="1" lang="ja-JP" altLang="en-US"/>
              <a:t>なら横一線のコンスタントフロー、</a:t>
            </a:r>
            <a:r>
              <a:rPr kumimoji="1" lang="en-US" altLang="ja-JP" dirty="0"/>
              <a:t>PCV</a:t>
            </a:r>
            <a:r>
              <a:rPr kumimoji="1" lang="ja-JP" altLang="en-US"/>
              <a:t>に近い、加工型のフロー、現状再現が難しい上行型のフローで検討されています。</a:t>
            </a:r>
            <a:endParaRPr kumimoji="1" lang="en-US" altLang="ja-JP" dirty="0"/>
          </a:p>
          <a:p>
            <a:r>
              <a:rPr kumimoji="1" lang="ja-JP" altLang="en-US"/>
              <a:t>また、ポーズ時間を伸ばすことで、吸気時間とポーズ時間の比が</a:t>
            </a:r>
            <a:r>
              <a:rPr kumimoji="1" lang="en-US" altLang="ja-JP" dirty="0"/>
              <a:t>CO2</a:t>
            </a:r>
            <a:r>
              <a:rPr kumimoji="1" lang="ja-JP" altLang="en-US"/>
              <a:t>排出に影響するかどうか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340230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ポーズ直前の吸気流速が高い方がガスがより混ざり、排出効率がよくなる　流速パルス</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3803095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ポーズ直前の吸気流速が高い方がガスの伝達効率がよく、より混ざり、排出効率がよくなる　</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また、吸気短めポーズ長めの方が排出効率が良いことがわかりました。</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1444234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全吸気時間に対して、呼気を短縮させていく形でポーズを設定する場合は</a:t>
            </a:r>
            <a:r>
              <a:rPr kumimoji="1" lang="en-US" altLang="ja-JP" dirty="0"/>
              <a:t>CO2</a:t>
            </a:r>
            <a:r>
              <a:rPr kumimoji="1" lang="ja-JP" altLang="en-US"/>
              <a:t>排出促進のメリットと思われます。</a:t>
            </a:r>
            <a:endParaRPr kumimoji="1" lang="en-US" altLang="ja-JP" dirty="0"/>
          </a:p>
          <a:p>
            <a:r>
              <a:rPr kumimoji="1" lang="ja-JP" altLang="en-US"/>
              <a:t>が、吸気時間中にポーズを設ける場合に同様のメリットがあるかというのは、今までの研究からはわかりません。</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657700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ED5B-0005-3D35-C06F-C966414F99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9E84B1-679C-4C4C-73C3-DA8C29C244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51D9E5C-FADC-3A99-DF8B-B75C9F3EB3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ポーズ直前の吸気流速が高い方がガスの伝達効率がよく、より混ざり、排出効率がよくなる　</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また、吸気短めポーズ長めの方が排出効率が良いことがわかりました。</a:t>
            </a:r>
          </a:p>
          <a:p>
            <a:endParaRPr kumimoji="1" lang="ja-JP" altLang="en-US"/>
          </a:p>
        </p:txBody>
      </p:sp>
      <p:sp>
        <p:nvSpPr>
          <p:cNvPr id="4" name="スライド番号プレースホルダー 3">
            <a:extLst>
              <a:ext uri="{FF2B5EF4-FFF2-40B4-BE49-F238E27FC236}">
                <a16:creationId xmlns:a16="http://schemas.microsoft.com/office/drawing/2014/main" id="{6D632B6C-18D9-6889-CFF6-2CB27519DF1C}"/>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2295809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ここから先はポーズ文献の中でも最近出された、手術麻酔に関わる文献を取り上げます。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4054328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anesthesia critical care medicine 2022</a:t>
            </a:r>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1558689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そもそも相対的高圧環境下でのリクルートメント効果を生理的な背景とする</a:t>
            </a:r>
            <a:r>
              <a:rPr kumimoji="1" lang="en-US" altLang="ja-JP" dirty="0"/>
              <a:t>EIP</a:t>
            </a:r>
            <a:r>
              <a:rPr kumimoji="1" lang="ja-JP" altLang="en-US"/>
              <a:t>ですが、ベストピープという肺胞が換気に動員されやすい状況でもコンプライアンスを改善することがわかった。</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3758157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frontiers in medicine 2025</a:t>
            </a:r>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869743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optimal EIP</a:t>
            </a:r>
            <a:r>
              <a:rPr kumimoji="1" lang="ja-JP" altLang="en-US"/>
              <a:t>群は</a:t>
            </a:r>
            <a:r>
              <a:rPr kumimoji="1" lang="en-US" altLang="ja-JP" dirty="0"/>
              <a:t>DP</a:t>
            </a:r>
            <a:r>
              <a:rPr kumimoji="1" lang="ja-JP" altLang="en-US"/>
              <a:t>を最小にするように設定されているため、コンプライアンスの改善は当然にように思えますが、全例で</a:t>
            </a:r>
            <a:r>
              <a:rPr kumimoji="1" lang="en-US" altLang="ja-JP" dirty="0"/>
              <a:t>30</a:t>
            </a:r>
            <a:r>
              <a:rPr kumimoji="1" lang="ja-JP" altLang="en-US"/>
              <a:t>％であったという点に価値があるのかなと考えます。</a:t>
            </a:r>
            <a:endParaRPr kumimoji="1" lang="en-US" altLang="ja-JP" dirty="0"/>
          </a:p>
          <a:p>
            <a:endParaRPr kumimoji="1" lang="en-US" altLang="ja-JP" dirty="0"/>
          </a:p>
          <a:p>
            <a:r>
              <a:rPr kumimoji="1" lang="ja-JP" altLang="en-US"/>
              <a:t>また、</a:t>
            </a:r>
            <a:r>
              <a:rPr kumimoji="1" lang="en-US" altLang="ja-JP" dirty="0"/>
              <a:t>optimal EIP</a:t>
            </a:r>
            <a:r>
              <a:rPr kumimoji="1" lang="ja-JP" altLang="en-US"/>
              <a:t>によるコンプライアンス改善効果は時間経過後も変わらないことがわかりました。</a:t>
            </a:r>
            <a:endParaRPr kumimoji="1" lang="en-US" altLang="ja-JP"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14839804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a:t>ICU (44/46 covid-19)</a:t>
            </a:r>
            <a:r>
              <a:rPr lang="ja-JP" altLang="en-US"/>
              <a:t>で換気モードと</a:t>
            </a:r>
            <a:r>
              <a:rPr lang="en-US" altLang="ja-JP"/>
              <a:t>MP</a:t>
            </a:r>
            <a:r>
              <a:rPr lang="ja-JP" altLang="en-US"/>
              <a:t>の関連を調べた　　　</a:t>
            </a:r>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4038259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2025/8/19</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2025/8/19</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13411</TotalTime>
  <Words>3574</Words>
  <Application>Microsoft Macintosh PowerPoint</Application>
  <PresentationFormat>ワイド画面</PresentationFormat>
  <Paragraphs>633</Paragraphs>
  <Slides>37</Slides>
  <Notes>23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37</vt:i4>
      </vt:variant>
    </vt:vector>
  </HeadingPairs>
  <TitlesOfParts>
    <vt:vector size="43" baseType="lpstr">
      <vt:lpstr>游ゴシック</vt:lpstr>
      <vt:lpstr>游明朝</vt:lpstr>
      <vt:lpstr>游明朝</vt:lpstr>
      <vt:lpstr>Arial</vt:lpstr>
      <vt:lpstr>Calibri</vt:lpstr>
      <vt:lpstr>Office テーマ</vt:lpstr>
      <vt:lpstr>T pauseの（ほぼ）全て</vt:lpstr>
      <vt:lpstr>PowerPoint プレゼンテーション</vt:lpstr>
      <vt:lpstr>T pauseの（ほぼ）全て</vt:lpstr>
      <vt:lpstr>T pause の設定どうしてますか？</vt:lpstr>
      <vt:lpstr>メニュー</vt:lpstr>
      <vt:lpstr>1. EIPとは</vt:lpstr>
      <vt:lpstr>1. EIPとは</vt:lpstr>
      <vt:lpstr>2. EIPのメリット</vt:lpstr>
      <vt:lpstr>2. EIPのメリット</vt:lpstr>
      <vt:lpstr>2.1 プラトー圧を知る</vt:lpstr>
      <vt:lpstr>2.1 プラトー圧を知る</vt:lpstr>
      <vt:lpstr>2.1 プラトー圧を知る</vt:lpstr>
      <vt:lpstr>2. EIPのメリット</vt:lpstr>
      <vt:lpstr>2.2 Pmax上昇時の鑑別</vt:lpstr>
      <vt:lpstr>2. EIPのメリット</vt:lpstr>
      <vt:lpstr>2.3 CO2排出促進</vt:lpstr>
      <vt:lpstr>2.3 CO2排出促進</vt:lpstr>
      <vt:lpstr>2.3 CO2排出促進</vt:lpstr>
      <vt:lpstr>2.3 CO2排出促進</vt:lpstr>
      <vt:lpstr>2.3 CO2排出促進</vt:lpstr>
      <vt:lpstr>2.3 CO2排出促進</vt:lpstr>
      <vt:lpstr>2.3 CO2排出促進</vt:lpstr>
      <vt:lpstr>2.3 CO2排出促進</vt:lpstr>
      <vt:lpstr>2.3 CO2排出促進</vt:lpstr>
      <vt:lpstr>2.3 CO2排出促進</vt:lpstr>
      <vt:lpstr>2.3 CO2排出促進</vt:lpstr>
      <vt:lpstr>2. EIPのメリット</vt:lpstr>
      <vt:lpstr>2.4 Crs改善 </vt:lpstr>
      <vt:lpstr>PowerPoint プレゼンテーション</vt:lpstr>
      <vt:lpstr>2.4 Crs改善</vt:lpstr>
      <vt:lpstr>PowerPoint プレゼンテーション</vt:lpstr>
      <vt:lpstr>3. EIP研究に基づく推奨</vt:lpstr>
      <vt:lpstr>ポーズ設定は本当に肺保護的か？</vt:lpstr>
      <vt:lpstr>人工呼吸器の Pressure –Volume Loopは　　肺に与える仕事を反映するか</vt:lpstr>
      <vt:lpstr>1.1 MPの提唱</vt:lpstr>
      <vt:lpstr>3.3 換気モードとMP</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16</cp:revision>
  <dcterms:created xsi:type="dcterms:W3CDTF">2025-01-05T04:32:32Z</dcterms:created>
  <dcterms:modified xsi:type="dcterms:W3CDTF">2025-08-19T11:04:40Z</dcterms:modified>
</cp:coreProperties>
</file>