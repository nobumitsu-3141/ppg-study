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8"/>
  </p:notesMasterIdLst>
  <p:sldIdLst>
    <p:sldId id="372" r:id="rId2"/>
    <p:sldId id="458" r:id="rId3"/>
    <p:sldId id="259" r:id="rId4"/>
    <p:sldId id="260" r:id="rId5"/>
    <p:sldId id="368" r:id="rId6"/>
    <p:sldId id="369" r:id="rId7"/>
    <p:sldId id="349" r:id="rId8"/>
    <p:sldId id="380" r:id="rId9"/>
    <p:sldId id="399" r:id="rId10"/>
    <p:sldId id="401" r:id="rId11"/>
    <p:sldId id="402" r:id="rId12"/>
    <p:sldId id="377" r:id="rId13"/>
    <p:sldId id="378" r:id="rId14"/>
    <p:sldId id="397" r:id="rId15"/>
    <p:sldId id="347" r:id="rId16"/>
    <p:sldId id="352" r:id="rId17"/>
    <p:sldId id="379" r:id="rId18"/>
    <p:sldId id="351" r:id="rId19"/>
    <p:sldId id="328" r:id="rId20"/>
    <p:sldId id="432" r:id="rId21"/>
    <p:sldId id="306" r:id="rId22"/>
    <p:sldId id="472" r:id="rId23"/>
    <p:sldId id="354" r:id="rId24"/>
    <p:sldId id="422" r:id="rId25"/>
    <p:sldId id="307" r:id="rId26"/>
    <p:sldId id="382" r:id="rId27"/>
    <p:sldId id="384" r:id="rId28"/>
    <p:sldId id="339" r:id="rId29"/>
    <p:sldId id="425" r:id="rId30"/>
    <p:sldId id="424" r:id="rId31"/>
    <p:sldId id="355" r:id="rId32"/>
    <p:sldId id="311" r:id="rId33"/>
    <p:sldId id="272" r:id="rId34"/>
    <p:sldId id="383" r:id="rId35"/>
    <p:sldId id="473" r:id="rId36"/>
    <p:sldId id="403" r:id="rId37"/>
    <p:sldId id="356" r:id="rId38"/>
    <p:sldId id="427" r:id="rId39"/>
    <p:sldId id="428" r:id="rId40"/>
    <p:sldId id="320" r:id="rId41"/>
    <p:sldId id="410" r:id="rId42"/>
    <p:sldId id="409" r:id="rId43"/>
    <p:sldId id="299" r:id="rId44"/>
    <p:sldId id="362" r:id="rId45"/>
    <p:sldId id="474" r:id="rId46"/>
    <p:sldId id="275" r:id="rId47"/>
    <p:sldId id="321" r:id="rId48"/>
    <p:sldId id="310" r:id="rId49"/>
    <p:sldId id="385" r:id="rId50"/>
    <p:sldId id="433" r:id="rId51"/>
    <p:sldId id="364" r:id="rId52"/>
    <p:sldId id="274" r:id="rId53"/>
    <p:sldId id="330" r:id="rId54"/>
    <p:sldId id="386" r:id="rId55"/>
    <p:sldId id="331" r:id="rId56"/>
    <p:sldId id="388" r:id="rId57"/>
    <p:sldId id="398" r:id="rId58"/>
    <p:sldId id="360" r:id="rId59"/>
    <p:sldId id="390" r:id="rId60"/>
    <p:sldId id="391" r:id="rId61"/>
    <p:sldId id="459" r:id="rId62"/>
    <p:sldId id="470" r:id="rId63"/>
    <p:sldId id="414" r:id="rId64"/>
    <p:sldId id="475" r:id="rId65"/>
    <p:sldId id="429" r:id="rId66"/>
    <p:sldId id="476" r:id="rId67"/>
    <p:sldId id="343" r:id="rId68"/>
    <p:sldId id="289" r:id="rId69"/>
    <p:sldId id="333" r:id="rId70"/>
    <p:sldId id="411" r:id="rId71"/>
    <p:sldId id="460" r:id="rId72"/>
    <p:sldId id="461" r:id="rId73"/>
    <p:sldId id="462" r:id="rId74"/>
    <p:sldId id="442" r:id="rId75"/>
    <p:sldId id="463" r:id="rId76"/>
    <p:sldId id="478" r:id="rId77"/>
    <p:sldId id="464" r:id="rId78"/>
    <p:sldId id="479" r:id="rId79"/>
    <p:sldId id="490" r:id="rId116"/>
    <p:sldId id="444" r:id="rId80"/>
    <p:sldId id="480" r:id="rId81"/>
    <p:sldId id="465" r:id="rId82"/>
    <p:sldId id="481" r:id="rId83"/>
    <p:sldId id="443" r:id="rId84"/>
    <p:sldId id="466" r:id="rId85"/>
    <p:sldId id="483" r:id="rId86"/>
    <p:sldId id="484" r:id="rId87"/>
    <p:sldId id="489" r:id="rId115"/>
    <p:sldId id="485" r:id="rId88"/>
    <p:sldId id="486" r:id="rId89"/>
    <p:sldId id="488" r:id="rId114"/>
    <p:sldId id="487" r:id="rId90"/>
    <p:sldId id="467" r:id="rId91"/>
    <p:sldId id="468" r:id="rId92"/>
    <p:sldId id="482" r:id="rId93"/>
    <p:sldId id="445" r:id="rId94"/>
    <p:sldId id="446" r:id="rId95"/>
    <p:sldId id="447" r:id="rId96"/>
    <p:sldId id="448" r:id="rId97"/>
    <p:sldId id="449" r:id="rId98"/>
    <p:sldId id="450" r:id="rId99"/>
    <p:sldId id="451" r:id="rId100"/>
    <p:sldId id="452" r:id="rId101"/>
    <p:sldId id="453" r:id="rId102"/>
    <p:sldId id="454" r:id="rId103"/>
    <p:sldId id="296" r:id="rId104"/>
    <p:sldId id="366" r:id="rId105"/>
    <p:sldId id="456" r:id="rId106"/>
    <p:sldId id="457" r:id="rId10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5"/>
    <p:restoredTop sz="75000"/>
  </p:normalViewPr>
  <p:slideViewPr>
    <p:cSldViewPr snapToGrid="0">
      <p:cViewPr varScale="1">
        <p:scale>
          <a:sx n="88" d="100"/>
          <a:sy n="88" d="100"/>
        </p:scale>
        <p:origin x="1856" y="184"/>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80.xml"/><Relationship Id="rId81" Type="http://schemas.openxmlformats.org/officeDocument/2006/relationships/slide" Target="slides/slide81.xml"/><Relationship Id="rId82" Type="http://schemas.openxmlformats.org/officeDocument/2006/relationships/slide" Target="slides/slide82.xml"/><Relationship Id="rId83" Type="http://schemas.openxmlformats.org/officeDocument/2006/relationships/slide" Target="slides/slide83.xml"/><Relationship Id="rId84" Type="http://schemas.openxmlformats.org/officeDocument/2006/relationships/slide" Target="slides/slide84.xml"/><Relationship Id="rId85" Type="http://schemas.openxmlformats.org/officeDocument/2006/relationships/slide" Target="slides/slide85.xml"/><Relationship Id="rId86" Type="http://schemas.openxmlformats.org/officeDocument/2006/relationships/slide" Target="slides/slide86.xml"/><Relationship Id="rId87" Type="http://schemas.openxmlformats.org/officeDocument/2006/relationships/slide" Target="slides/slide87.xml"/><Relationship Id="rId88" Type="http://schemas.openxmlformats.org/officeDocument/2006/relationships/slide" Target="slides/slide89.xml"/><Relationship Id="rId89" Type="http://schemas.openxmlformats.org/officeDocument/2006/relationships/slide" Target="slides/slide90.xml"/><Relationship Id="rId90" Type="http://schemas.openxmlformats.org/officeDocument/2006/relationships/slide" Target="slides/slide92.xml"/><Relationship Id="rId91" Type="http://schemas.openxmlformats.org/officeDocument/2006/relationships/slide" Target="slides/slide93.xml"/><Relationship Id="rId92" Type="http://schemas.openxmlformats.org/officeDocument/2006/relationships/slide" Target="slides/slide94.xml"/><Relationship Id="rId93" Type="http://schemas.openxmlformats.org/officeDocument/2006/relationships/slide" Target="slides/slide95.xml"/><Relationship Id="rId94" Type="http://schemas.openxmlformats.org/officeDocument/2006/relationships/slide" Target="slides/slide96.xml"/><Relationship Id="rId95" Type="http://schemas.openxmlformats.org/officeDocument/2006/relationships/slide" Target="slides/slide97.xml"/><Relationship Id="rId96" Type="http://schemas.openxmlformats.org/officeDocument/2006/relationships/slide" Target="slides/slide98.xml"/><Relationship Id="rId97" Type="http://schemas.openxmlformats.org/officeDocument/2006/relationships/slide" Target="slides/slide99.xml"/><Relationship Id="rId98" Type="http://schemas.openxmlformats.org/officeDocument/2006/relationships/slide" Target="slides/slide100.xml"/><Relationship Id="rId99" Type="http://schemas.openxmlformats.org/officeDocument/2006/relationships/slide" Target="slides/slide101.xml"/><Relationship Id="rId100" Type="http://schemas.openxmlformats.org/officeDocument/2006/relationships/slide" Target="slides/slide102.xml"/><Relationship Id="rId101" Type="http://schemas.openxmlformats.org/officeDocument/2006/relationships/slide" Target="slides/slide103.xml"/><Relationship Id="rId102" Type="http://schemas.openxmlformats.org/officeDocument/2006/relationships/slide" Target="slides/slide104.xml"/><Relationship Id="rId103" Type="http://schemas.openxmlformats.org/officeDocument/2006/relationships/slide" Target="slides/slide105.xml"/><Relationship Id="rId104" Type="http://schemas.openxmlformats.org/officeDocument/2006/relationships/slide" Target="slides/slide106.xml"/><Relationship Id="rId105" Type="http://schemas.openxmlformats.org/officeDocument/2006/relationships/slide" Target="slides/slide107.xml"/><Relationship Id="rId106" Type="http://schemas.openxmlformats.org/officeDocument/2006/relationships/slide" Target="slides/slide108.xml"/><Relationship Id="rId107" Type="http://schemas.openxmlformats.org/officeDocument/2006/relationships/slide" Target="slides/slide109.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 Id="rId113" Type="http://schemas.microsoft.com/office/2018/10/relationships/authors" Target="authors.xml"/><Relationship Id="rId114" Type="http://schemas.openxmlformats.org/officeDocument/2006/relationships/slide" Target="slides/slide91.xml"/><Relationship Id="rId115" Type="http://schemas.openxmlformats.org/officeDocument/2006/relationships/slide" Target="slides/slide88.xml"/><Relationship Id="rId11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t>PPG：皮膚にLEDなどの光を当て、血液量の変化による　　　　光の透過・反射量の変化を検出して、脈波を測定する　　　　非侵襲的な光学的測定法。</a:t>
            </a:r>
          </a:p>
          <a:p>
            <a:endParaRPr/>
          </a:p>
          <a:p>
            <a:r>
              <a:t>得られた脈波をPPG波形や容積脈波などと称する。</a:t>
            </a:r>
          </a:p>
          <a:p>
            <a:endParaRPr/>
          </a:p>
          <a:p>
            <a:r>
              <a:t>パルスオキシメトリーは、光電容積脈波(PPG)信号を利用してSpO₂(経皮的動脈血酸素飽和度)を非侵襲的に推定する測定原理。</a:t>
            </a:r>
          </a:p>
          <a:p>
            <a:endParaRPr/>
          </a:p>
          <a:p>
            <a:endParaRPr/>
          </a:p>
          <a:p>
            <a:r>
              <a:t>用語の整理（図解版）</a:t>
            </a:r>
          </a:p>
          <a:p>
            <a:endParaRPr/>
          </a:p>
          <a:p>
            <a:r>
              <a:t>・PPG（photoplethysmography, 光電式容積脈波記録法）＝ 皮膚に LED などの光を当て、</a:t>
            </a:r>
          </a:p>
          <a:p>
            <a:r>
              <a:t>　血液量の変化による光の透過・反射量の変化を検出して脈波を測定する非侵襲的な光学的測定法。</a:t>
            </a:r>
          </a:p>
          <a:p>
            <a:r>
              <a:t>・得られた脈波を PPG 波形、容積脈波（digital volume pulse, DVP）などと称する。</a:t>
            </a:r>
          </a:p>
          <a:p>
            <a:r>
              <a:t>・パルスオキシメトリーは、この PPG 信号を利用して SpO₂（経皮的動脈血酸素飽和度）を</a:t>
            </a:r>
          </a:p>
          <a:p>
            <a:r>
              <a:t>　非侵襲的に推定する測定原理。</a:t>
            </a:r>
          </a:p>
          <a:p>
            <a:r>
              <a:t>・つまりモニタは SpO₂ という数値を出すためにすでに PPG を取り込んでいる。</a:t>
            </a:r>
          </a:p>
          <a:p>
            <a:r>
              <a:t>　本セッションはその副産物である「波形」をもう一度読み直す作業にあたる。</a:t>
            </a:r>
          </a:p>
          <a:p>
            <a:r>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t>AC / DC で動脈血成分にした</a:t>
            </a:r>
          </a:p>
          <a:p>
            <a:r>
              <a:t>赤外光はO₂Hbの指標、赤色光HHbの指標。</a:t>
            </a:r>
          </a:p>
          <a:p>
            <a:r>
              <a:t>分母は動脈血のO 2Hbの指標で、分子は動脈血のHHbの指標</a:t>
            </a:r>
          </a:p>
          <a:p>
            <a:r>
              <a:t>これによって動脈血中のO 2Hbの割合を出そうとしている。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t>健常人に低酸素負荷をしてRと対応するSaO2を得る。健常人なのでSaO２70％が限度。以下は推定。</a:t>
            </a:r>
          </a:p>
          <a:p>
            <a:r>
              <a:t>これを対照とする。</a:t>
            </a:r>
          </a:p>
          <a:p>
            <a:endParaRPr/>
          </a:p>
          <a:p>
            <a:r>
              <a:t>先ほど得られた赤色光赤外光変調比から、</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a:t>発光部から２種類の波長の光を出し、これを受講部で測定する。</a:t>
            </a:r>
          </a:p>
          <a:p>
            <a:r>
              <a:rPr lang="en-US" dirty="0"/>
              <a:t>拍動時、動脈は、左室からの圧脈波が到着した部分だけ、局所的に受動的に拡張し一時的に容積が増大する。拡張分だけHbが増えた結果、吸光量が増大してPPG信号の変化を起こす。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この前進波について、左室からの圧脈波の到着による局所拡張としたが、実際に左室が送り出す血液はこの壁を伝導する厚脈波に比べ10倍以上も遅い。</a:t>
            </a:r>
          </a:p>
          <a:p>
            <a:r>
              <a:rPr lang="en-US" dirty="0" err="1"/>
              <a:t>左室の血液は一心拍の間に指尖部まで届かない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上肢や体幹、下肢等のインピーダンス不整合部位で圧脈波が反射し、再度測定部位で信号を検出する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PPG 基礎まとめ（図解版）</a:t>
            </a:r>
          </a:p>
          <a:p>
            <a:endParaRPr/>
          </a:p>
          <a:p>
            <a:r>
              <a:t>① SpO₂ は赤色光と赤外光の（AC/DC）比 R を、健常人の低酸素負荷試験で作った較正表に</a:t>
            </a:r>
          </a:p>
          <a:p>
            <a:r>
              <a:t>　 当てはめて SaO₂ を推定した値である。較正データは SaO₂ 70〜100% の範囲でしか取得できず、</a:t>
            </a:r>
          </a:p>
          <a:p>
            <a:r>
              <a:t>　 70% 未満は外挿である。</a:t>
            </a:r>
          </a:p>
          <a:p>
            <a:r>
              <a:t>② PPG 波形は圧ではなく、測定部位の動脈血液量（容積）の拍動性変化を見ている。</a:t>
            </a:r>
          </a:p>
          <a:p>
            <a:r>
              <a:t>　 したがって振幅は中心大動脈圧の絶対値ではなく、局所の血管コンプライアンス・灌流・</a:t>
            </a:r>
          </a:p>
          <a:p>
            <a:r>
              <a:t>　 局所脈圧に依存する。</a:t>
            </a:r>
          </a:p>
          <a:p>
            <a:r>
              <a:t>③ PPG 波形は前進波と反射波の合成によって形成されるが、反射点の解剖学的な場所を</a:t>
            </a:r>
          </a:p>
          <a:p>
            <a:r>
              <a:t>　 同定することは原理的にできない（成立するのは「経路」としての解釈だけ）。</a:t>
            </a:r>
          </a:p>
          <a:p>
            <a:endParaRPr/>
          </a:p>
          <a:p>
            <a:r>
              <a:t>→ 次章以降で、この波形がどのような因子に影響を受けるかを見ていく。</a:t>
            </a:r>
          </a:p>
          <a:p>
            <a:r>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endParaRPr lang="en-US" dirty="0"/>
          </a:p>
          <a:p>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52</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67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70</a:t>
            </a:fld>
            <a:endParaRPr kumimoji="1" lang="ja-JP" altLang="en-US"/>
          </a:p>
        </p:txBody>
      </p:sp>
    </p:spTree>
    <p:extLst>
      <p:ext uri="{BB962C8B-B14F-4D97-AF65-F5344CB8AC3E}">
        <p14:creationId xmlns:p14="http://schemas.microsoft.com/office/powerpoint/2010/main" val="40536581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90B-C38C-9F84-4650-E12B1B4CE0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D08E72-E7BC-F6A5-A003-58BD35C7A6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55A61F-1B07-D593-6818-12F4E4242214}"/>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CD70CE38-97F3-4FCF-5C9D-BE87403C8145}"/>
              </a:ext>
            </a:extLst>
          </p:cNvPr>
          <p:cNvSpPr>
            <a:spLocks noGrp="1"/>
          </p:cNvSpPr>
          <p:nvPr>
            <p:ph type="sldNum" sz="quarter" idx="5"/>
          </p:nvPr>
        </p:nvSpPr>
        <p:spPr/>
        <p:txBody>
          <a:bodyPr/>
          <a:lstStyle/>
          <a:p>
            <a:fld id="{4368CECF-0771-D84F-8D42-085DB944B0B8}" type="slidenum">
              <a:rPr kumimoji="1" lang="ja-JP" altLang="en-US" smtClean="0"/>
              <a:t>71</a:t>
            </a:fld>
            <a:endParaRPr kumimoji="1" lang="ja-JP" altLang="en-US"/>
          </a:p>
        </p:txBody>
      </p:sp>
    </p:spTree>
    <p:extLst>
      <p:ext uri="{BB962C8B-B14F-4D97-AF65-F5344CB8AC3E}">
        <p14:creationId xmlns:p14="http://schemas.microsoft.com/office/powerpoint/2010/main" val="34364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0C2A-B3B4-F8A2-CBFF-85DF6AD12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E3F6C-66EF-F585-AB42-DBEC1E06B0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E72D68-B954-CB33-C31D-B83D126AFB7B}"/>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9C5BE1CF-9252-F03E-91D6-5E5A0F228D7F}"/>
              </a:ext>
            </a:extLst>
          </p:cNvPr>
          <p:cNvSpPr>
            <a:spLocks noGrp="1"/>
          </p:cNvSpPr>
          <p:nvPr>
            <p:ph type="sldNum" sz="quarter" idx="5"/>
          </p:nvPr>
        </p:nvSpPr>
        <p:spPr/>
        <p:txBody>
          <a:bodyPr/>
          <a:lstStyle/>
          <a:p>
            <a:fld id="{4368CECF-0771-D84F-8D42-085DB944B0B8}" type="slidenum">
              <a:rPr kumimoji="1" lang="ja-JP" altLang="en-US" smtClean="0"/>
              <a:t>72</a:t>
            </a:fld>
            <a:endParaRPr kumimoji="1" lang="ja-JP" altLang="en-US"/>
          </a:p>
        </p:txBody>
      </p:sp>
    </p:spTree>
    <p:extLst>
      <p:ext uri="{BB962C8B-B14F-4D97-AF65-F5344CB8AC3E}">
        <p14:creationId xmlns:p14="http://schemas.microsoft.com/office/powerpoint/2010/main" val="18394528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という考え方</a:t>
            </a:r>
          </a:p>
          <a:p>
            <a:endParaRPr/>
          </a:p>
          <a:p>
            <a:r>
              <a:t>PDA（pulse decomposition analysis, 脈波分解解析）は、PPG の一拍を</a:t>
            </a:r>
          </a:p>
          <a:p>
            <a:r>
              <a:t>「複数の成分波（基底関数）の線形和」としてモデル化し、そのパラメータを最小二乗などで</a:t>
            </a:r>
          </a:p>
          <a:p>
            <a:r>
              <a:t>当てはめる手法である。ちょうど複数の音源からの音波が重なって 1 つの波形になるのと同じで、</a:t>
            </a:r>
          </a:p>
          <a:p>
            <a:r>
              <a:t>心臓から来た前進波と、末梢から戻ってきた反射波の重ね合わせとして PPG を説明する。</a:t>
            </a:r>
          </a:p>
          <a:p>
            <a:endParaRPr/>
          </a:p>
          <a:p>
            <a:r>
              <a:t>■ なぜ必要か</a:t>
            </a:r>
          </a:p>
          <a:p>
            <a:r>
              <a:t>従来の SI（＝身長 ÷ ΔT）も RI（＝P2/P1）も、「P2 という点」の時刻と高さを必要とする。</a:t>
            </a:r>
          </a:p>
          <a:p>
            <a:r>
              <a:t>下降脚が平滑化して P2 が局所最大として存在しない波形（DN-less）では原理的に計算できず、</a:t>
            </a:r>
          </a:p>
          <a:p>
            <a:r>
              <a:t>検出できた症例だけを解析する選択バイアスが生じる。</a:t>
            </a:r>
          </a:p>
          <a:p>
            <a:r>
              <a:t>PDA は点を探さずモデルを当てはめるので、切痕が消えていても</a:t>
            </a:r>
          </a:p>
          <a:p>
            <a:r>
              <a:t>反射成分の時刻 τ と振幅 a を数値として返せる。</a:t>
            </a:r>
          </a:p>
          <a:p>
            <a:endParaRPr/>
          </a:p>
          <a:p>
            <a:r>
              <a:t>■ 得られる量</a:t>
            </a:r>
          </a:p>
          <a:p>
            <a:r>
              <a:t>・T1_2（前進波と反射波の時間差）→ SI に相当</a:t>
            </a:r>
          </a:p>
          <a:p>
            <a:r>
              <a:t>・R1_2（両者の振幅比）→ RI に相当</a:t>
            </a:r>
          </a:p>
          <a:p>
            <a:r>
              <a:t>・LVET（左室駆出時間）も導出できる</a:t>
            </a:r>
          </a:p>
          <a:p>
            <a:endParaRPr/>
          </a:p>
          <a:p>
            <a:r>
              <a:t>出典：40. Rubins 2008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4431A-32D6-3366-FBF7-F1CCFFB8F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6C5B0-F978-9974-43FD-7807E31113C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A27DEB-EB8D-5CC1-EE28-05E079685F14}"/>
              </a:ext>
            </a:extLst>
          </p:cNvPr>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a:extLst>
              <a:ext uri="{FF2B5EF4-FFF2-40B4-BE49-F238E27FC236}">
                <a16:creationId xmlns:a16="http://schemas.microsoft.com/office/drawing/2014/main" id="{E61843F1-272E-73CC-91F7-BFA505EFF70B}"/>
              </a:ext>
            </a:extLst>
          </p:cNvPr>
          <p:cNvSpPr>
            <a:spLocks noGrp="1"/>
          </p:cNvSpPr>
          <p:nvPr>
            <p:ph type="sldNum" sz="quarter" idx="5"/>
          </p:nvPr>
        </p:nvSpPr>
        <p:spPr/>
      </p:sp>
    </p:spTree>
    <p:extLst>
      <p:ext uri="{BB962C8B-B14F-4D97-AF65-F5344CB8AC3E}">
        <p14:creationId xmlns:p14="http://schemas.microsoft.com/office/powerpoint/2010/main" val="23970299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1810E-77FD-0498-ACEC-704177185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2F172-0ABC-BCB8-DD17-44ED07C6EFE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BDA1A8D-F34F-CF13-5C3C-7B092248C41F}"/>
              </a:ext>
            </a:extLst>
          </p:cNvPr>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a:extLst>
              <a:ext uri="{FF2B5EF4-FFF2-40B4-BE49-F238E27FC236}">
                <a16:creationId xmlns:a16="http://schemas.microsoft.com/office/drawing/2014/main" id="{A8D747FD-3C19-DDB6-6251-8BBDD55E2DD1}"/>
              </a:ext>
            </a:extLst>
          </p:cNvPr>
          <p:cNvSpPr>
            <a:spLocks noGrp="1"/>
          </p:cNvSpPr>
          <p:nvPr>
            <p:ph type="sldNum" sz="quarter" idx="5"/>
          </p:nvPr>
        </p:nvSpPr>
        <p:spPr/>
      </p:sp>
    </p:spTree>
    <p:extLst>
      <p:ext uri="{BB962C8B-B14F-4D97-AF65-F5344CB8AC3E}">
        <p14:creationId xmlns:p14="http://schemas.microsoft.com/office/powerpoint/2010/main" val="31955571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515F-EF3C-EC57-8583-CF41D661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D8B41-A2B6-3459-2C37-BBD9FC2860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B3932D-9514-4813-2A26-E21E4551FBF5}"/>
              </a:ext>
            </a:extLst>
          </p:cNvPr>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a:extLst>
              <a:ext uri="{FF2B5EF4-FFF2-40B4-BE49-F238E27FC236}">
                <a16:creationId xmlns:a16="http://schemas.microsoft.com/office/drawing/2014/main" id="{F767655D-E850-DB35-F8EF-26F44D1383AD}"/>
              </a:ext>
            </a:extLst>
          </p:cNvPr>
          <p:cNvSpPr>
            <a:spLocks noGrp="1"/>
          </p:cNvSpPr>
          <p:nvPr>
            <p:ph type="sldNum" sz="quarter" idx="5"/>
          </p:nvPr>
        </p:nvSpPr>
        <p:spPr/>
      </p:sp>
    </p:spTree>
    <p:extLst>
      <p:ext uri="{BB962C8B-B14F-4D97-AF65-F5344CB8AC3E}">
        <p14:creationId xmlns:p14="http://schemas.microsoft.com/office/powerpoint/2010/main" val="41608795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成分波を何本使うか（カーネル数）</a:t>
            </a:r>
          </a:p>
          <a:p>
            <a:endParaRPr/>
          </a:p>
          <a:p>
            <a:r>
              <a:t>「カーネル」は、当てはめに使う基底関数 1 本 1 本のこと。</a:t>
            </a:r>
          </a:p>
          <a:p>
            <a:r>
              <a:t>何本使うか（カーネル数）は研究者が決める設計値であり、正解は決まっていない。</a:t>
            </a:r>
          </a:p>
          <a:p>
            <a:endParaRPr/>
          </a:p>
          <a:p>
            <a:r>
              <a:t>・2 本 … 前進波＋反射波。いちばん素直だが、拡張期の細かい形は表せない。</a:t>
            </a:r>
          </a:p>
          <a:p>
            <a:r>
              <a:t>・3〜5 本 … 反射が複数回戻ってくるとみなす。当てはまりは良くなるが、</a:t>
            </a:r>
          </a:p>
          <a:p>
            <a:r>
              <a:t>　　　　　　どの成分波が何に対応するかの解釈が曖昧になる。</a:t>
            </a:r>
          </a:p>
          <a:p>
            <a:endParaRPr/>
          </a:p>
          <a:p>
            <a:r>
              <a:t>■ 本数が増えるとどうなるか</a:t>
            </a:r>
          </a:p>
          <a:p>
            <a:r>
              <a:t>本数を増やせば残差はいくらでも小さくできる（過剰適合）。</a:t>
            </a:r>
          </a:p>
          <a:p>
            <a:r>
              <a:t>一方でパラメータが増えるほど解が一意でなくなり、初期値しだいで答えが動く。</a:t>
            </a:r>
          </a:p>
          <a:p>
            <a:r>
              <a:t>そこで情報量規準（AICc など）で「当てはまりの良さ」と「パラメータの少なさ」を</a:t>
            </a:r>
          </a:p>
          <a:p>
            <a:r>
              <a:t>つり合わせてモデルを選ぶ。</a:t>
            </a:r>
          </a:p>
          <a:p>
            <a:endParaRPr/>
          </a:p>
          <a:p>
            <a:r>
              <a:t>■ 実際の報告</a:t>
            </a:r>
          </a:p>
          <a:p>
            <a:r>
              <a:t>・Tigges 2017：指尖容積脈波 7,805 拍で 4 種の基底関数とモデル次数を総当たりし AICc で選択。</a:t>
            </a:r>
          </a:p>
          <a:p>
            <a:r>
              <a:t>　最頻の最良モデルは Gamma 3 本で 28.1%、次点は Rayleigh 2 本で 14.4%。</a:t>
            </a:r>
          </a:p>
          <a:p>
            <a:r>
              <a:t>　単一の最良モデルは存在しなかった。</a:t>
            </a:r>
          </a:p>
          <a:p>
            <a:r>
              <a:t>・Fleischhauer 2020：カーネル 2 本がノイズ・体動にもっとも頑健で、</a:t>
            </a:r>
          </a:p>
          <a:p>
            <a:r>
              <a:t>　評価指標が 14.09% 改善しつつ、より多いカーネルと同等に形態情報を保った。</a:t>
            </a:r>
          </a:p>
          <a:p>
            <a:endParaRPr/>
          </a:p>
          <a:p>
            <a:r>
              <a:t>→ 「多いほど良い」ではない。2 本が実用上のバランス点という報告が複数ある。</a:t>
            </a:r>
          </a:p>
          <a:p>
            <a:endParaRPr/>
          </a:p>
          <a:p>
            <a:r>
              <a:t>出典：43.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4F24-30A4-7D30-4005-351F5E45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2882C-8702-BDC7-738A-ED84995FD8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35622D-17B4-12EE-5A48-962C1B7BD9EA}"/>
              </a:ext>
            </a:extLst>
          </p:cNvPr>
          <p:cNvSpPr>
            <a:spLocks noGrp="1"/>
          </p:cNvSpPr>
          <p:nvPr>
            <p:ph type="body" sz="quarter" idx="3"/>
          </p:nvPr>
        </p:nvSpPr>
        <p:spPr/>
        <p:txBody>
          <a:bodyPr/>
          <a:lstStyle/>
          <a:p>
            <a:r>
              <a:rPr dirty="0"/>
              <a:t>7.2 </a:t>
            </a:r>
            <a:r>
              <a:rPr dirty="0" err="1"/>
              <a:t>成分波を何本使うか（カーネル数</a:t>
            </a:r>
            <a:r>
              <a:rPr dirty="0"/>
              <a:t>）</a:t>
            </a:r>
          </a:p>
          <a:p>
            <a:endParaRPr dirty="0"/>
          </a:p>
          <a:p>
            <a:r>
              <a:rPr dirty="0"/>
              <a:t>「</a:t>
            </a:r>
            <a:r>
              <a:rPr dirty="0" err="1"/>
              <a:t>カーネル」は、当てはめに使う基底関数</a:t>
            </a:r>
            <a:r>
              <a:rPr dirty="0"/>
              <a:t> 1 </a:t>
            </a:r>
            <a:r>
              <a:rPr dirty="0" err="1"/>
              <a:t>本</a:t>
            </a:r>
            <a:r>
              <a:rPr dirty="0"/>
              <a:t> 1 </a:t>
            </a:r>
            <a:r>
              <a:rPr dirty="0" err="1"/>
              <a:t>本のこと</a:t>
            </a:r>
            <a:r>
              <a:rPr dirty="0"/>
              <a:t>。</a:t>
            </a:r>
          </a:p>
          <a:p>
            <a:r>
              <a:rPr dirty="0" err="1"/>
              <a:t>何本使うか（カーネル数）は研究者が決める設計値であり、正解は決まっていない</a:t>
            </a:r>
            <a:r>
              <a:rPr dirty="0"/>
              <a:t>。</a:t>
            </a:r>
          </a:p>
          <a:p>
            <a:endParaRPr dirty="0"/>
          </a:p>
          <a:p>
            <a:r>
              <a:rPr dirty="0"/>
              <a:t>・2 </a:t>
            </a:r>
            <a:r>
              <a:rPr dirty="0" err="1"/>
              <a:t>本</a:t>
            </a:r>
            <a:r>
              <a:rPr dirty="0"/>
              <a:t> … </a:t>
            </a:r>
            <a:r>
              <a:rPr dirty="0" err="1"/>
              <a:t>前進波＋反射波。いちばん素直だが、拡張期の細かい形は表せない</a:t>
            </a:r>
            <a:r>
              <a:rPr dirty="0"/>
              <a:t>。</a:t>
            </a:r>
          </a:p>
          <a:p>
            <a:r>
              <a:rPr dirty="0"/>
              <a:t>・3〜5 </a:t>
            </a:r>
            <a:r>
              <a:rPr dirty="0" err="1"/>
              <a:t>本</a:t>
            </a:r>
            <a:r>
              <a:rPr dirty="0"/>
              <a:t> … </a:t>
            </a:r>
            <a:r>
              <a:rPr dirty="0" err="1"/>
              <a:t>反射が複数回戻ってくるとみなす。当てはまりは良くなるが</a:t>
            </a:r>
            <a:r>
              <a:rPr dirty="0"/>
              <a:t>、</a:t>
            </a:r>
          </a:p>
          <a:p>
            <a:r>
              <a:rPr dirty="0"/>
              <a:t>　　　　　　</a:t>
            </a:r>
            <a:r>
              <a:rPr dirty="0" err="1"/>
              <a:t>どの成分波が何に対応するかの解釈が曖昧になる</a:t>
            </a:r>
            <a:r>
              <a:rPr dirty="0"/>
              <a:t>。</a:t>
            </a:r>
          </a:p>
          <a:p>
            <a:endParaRPr lang="en-US" dirty="0"/>
          </a:p>
          <a:p>
            <a:r>
              <a:rPr kumimoji="1" lang="ja-JP" altLang="ja-JP" sz="1200" b="0" i="0" kern="1200">
                <a:solidFill>
                  <a:schemeClr val="tx1"/>
                </a:solidFill>
                <a:effectLst/>
                <a:latin typeface="+mn-lt"/>
                <a:ea typeface="+mn-ea"/>
                <a:cs typeface="+mn-cs"/>
              </a:rPr>
              <a:t>圧縮・波形合成が目的なら6本以上も使われる（PPG を6個のガウス関数で圧縮する報告や、3〜21個を比較した報告がある）。残差だけを基準にすれば本数に上限はないため。ここでの「×」は、成分波に生理学的な意味を持たせる場合の話</a:t>
            </a:r>
            <a:endParaRPr lang="en-US" dirty="0"/>
          </a:p>
          <a:p>
            <a:endParaRPr dirty="0"/>
          </a:p>
          <a:p>
            <a:r>
              <a:rPr dirty="0"/>
              <a:t>■ </a:t>
            </a:r>
            <a:r>
              <a:rPr dirty="0" err="1"/>
              <a:t>本数が増えるとどうなるか</a:t>
            </a:r>
            <a:endParaRPr dirty="0"/>
          </a:p>
          <a:p>
            <a:r>
              <a:rPr dirty="0" err="1"/>
              <a:t>本数を増やせば残差はいくらでも小さくできる（過剰適合</a:t>
            </a:r>
            <a:r>
              <a:rPr dirty="0"/>
              <a:t>）。</a:t>
            </a:r>
          </a:p>
          <a:p>
            <a:r>
              <a:rPr dirty="0" err="1"/>
              <a:t>一方でパラメータが増えるほど解が一意でなくなり、初期値しだいで答えが動く</a:t>
            </a:r>
            <a:r>
              <a:rPr dirty="0"/>
              <a:t>。</a:t>
            </a:r>
          </a:p>
          <a:p>
            <a:r>
              <a:rPr dirty="0" err="1"/>
              <a:t>そこで情報量規準（AICc</a:t>
            </a:r>
            <a:r>
              <a:rPr dirty="0"/>
              <a:t> </a:t>
            </a:r>
            <a:r>
              <a:rPr dirty="0" err="1"/>
              <a:t>など）で「当てはまりの良さ」と「パラメータの少なさ」を</a:t>
            </a:r>
            <a:endParaRPr dirty="0"/>
          </a:p>
          <a:p>
            <a:r>
              <a:rPr dirty="0" err="1"/>
              <a:t>つり合わせてモデルを選ぶ</a:t>
            </a:r>
            <a:r>
              <a:rPr dirty="0"/>
              <a:t>。</a:t>
            </a:r>
          </a:p>
          <a:p>
            <a:endParaRPr dirty="0"/>
          </a:p>
          <a:p>
            <a:r>
              <a:rPr dirty="0"/>
              <a:t>■ </a:t>
            </a:r>
            <a:r>
              <a:rPr dirty="0" err="1"/>
              <a:t>実際の報告</a:t>
            </a:r>
            <a:endParaRPr dirty="0"/>
          </a:p>
          <a:p>
            <a:r>
              <a:rPr dirty="0"/>
              <a:t>・Tigges 2017：指尖容積脈波 7,805 </a:t>
            </a:r>
            <a:r>
              <a:rPr dirty="0" err="1"/>
              <a:t>拍で</a:t>
            </a:r>
            <a:r>
              <a:rPr dirty="0"/>
              <a:t> 4 </a:t>
            </a:r>
            <a:r>
              <a:rPr dirty="0" err="1"/>
              <a:t>種の基底関数とモデル次数を総当たりし</a:t>
            </a:r>
            <a:r>
              <a:rPr dirty="0"/>
              <a:t> </a:t>
            </a:r>
            <a:r>
              <a:rPr dirty="0" err="1"/>
              <a:t>AICc</a:t>
            </a:r>
            <a:r>
              <a:rPr dirty="0"/>
              <a:t> </a:t>
            </a:r>
            <a:r>
              <a:rPr dirty="0" err="1"/>
              <a:t>で選択</a:t>
            </a:r>
            <a:r>
              <a:rPr dirty="0"/>
              <a:t>。</a:t>
            </a:r>
          </a:p>
          <a:p>
            <a:r>
              <a:rPr dirty="0"/>
              <a:t>　</a:t>
            </a:r>
            <a:r>
              <a:rPr dirty="0" err="1"/>
              <a:t>最頻の最良モデルは</a:t>
            </a:r>
            <a:r>
              <a:rPr dirty="0"/>
              <a:t> Gamma 3 </a:t>
            </a:r>
            <a:r>
              <a:rPr dirty="0" err="1"/>
              <a:t>本で</a:t>
            </a:r>
            <a:r>
              <a:rPr dirty="0"/>
              <a:t> 28.1%、</a:t>
            </a:r>
            <a:r>
              <a:rPr dirty="0" err="1"/>
              <a:t>次点は</a:t>
            </a:r>
            <a:r>
              <a:rPr dirty="0"/>
              <a:t> Rayleigh 2 </a:t>
            </a:r>
            <a:r>
              <a:rPr dirty="0" err="1"/>
              <a:t>本で</a:t>
            </a:r>
            <a:r>
              <a:rPr dirty="0"/>
              <a:t> 14.4%。</a:t>
            </a:r>
          </a:p>
          <a:p>
            <a:r>
              <a:rPr dirty="0"/>
              <a:t>　</a:t>
            </a:r>
            <a:r>
              <a:rPr dirty="0" err="1"/>
              <a:t>単一の最良モデルは存在しなかった</a:t>
            </a:r>
            <a:r>
              <a:rPr dirty="0"/>
              <a:t>。</a:t>
            </a:r>
          </a:p>
          <a:p>
            <a:r>
              <a:rPr dirty="0"/>
              <a:t>・Fleischhauer 2020：カーネル 2 </a:t>
            </a:r>
            <a:r>
              <a:rPr dirty="0" err="1"/>
              <a:t>本がノイズ・体動にもっとも頑健で</a:t>
            </a:r>
            <a:r>
              <a:rPr dirty="0"/>
              <a:t>、</a:t>
            </a:r>
          </a:p>
          <a:p>
            <a:r>
              <a:rPr dirty="0"/>
              <a:t>　</a:t>
            </a:r>
            <a:r>
              <a:rPr dirty="0" err="1"/>
              <a:t>評価指標が</a:t>
            </a:r>
            <a:r>
              <a:rPr dirty="0"/>
              <a:t> 14.09% </a:t>
            </a:r>
            <a:r>
              <a:rPr dirty="0" err="1"/>
              <a:t>改善しつつ、より多いカーネルと同等に形態情報を保った</a:t>
            </a:r>
            <a:r>
              <a:rPr dirty="0"/>
              <a:t>。</a:t>
            </a:r>
          </a:p>
          <a:p>
            <a:endParaRPr dirty="0"/>
          </a:p>
          <a:p>
            <a:r>
              <a:rPr dirty="0"/>
              <a:t>→ 「多いほど良い」ではない。2 </a:t>
            </a:r>
            <a:r>
              <a:rPr dirty="0" err="1"/>
              <a:t>本が実用上のバランス点という報告が複数ある</a:t>
            </a:r>
            <a:r>
              <a:rPr dirty="0"/>
              <a:t>。</a:t>
            </a:r>
          </a:p>
          <a:p>
            <a:endParaRPr dirty="0"/>
          </a:p>
          <a:p>
            <a:r>
              <a:rPr dirty="0"/>
              <a:t>出典：43. Tigges 2017 ／ 35. Fleischhauer 2020</a:t>
            </a:r>
          </a:p>
        </p:txBody>
      </p:sp>
      <p:sp>
        <p:nvSpPr>
          <p:cNvPr id="4" name="Slide Number Placeholder 3">
            <a:extLst>
              <a:ext uri="{FF2B5EF4-FFF2-40B4-BE49-F238E27FC236}">
                <a16:creationId xmlns:a16="http://schemas.microsoft.com/office/drawing/2014/main" id="{BC3B0E26-66F4-2555-9A82-8879BC418533}"/>
              </a:ext>
            </a:extLst>
          </p:cNvPr>
          <p:cNvSpPr>
            <a:spLocks noGrp="1"/>
          </p:cNvSpPr>
          <p:nvPr>
            <p:ph type="sldNum" sz="quarter" idx="5"/>
          </p:nvPr>
        </p:nvSpPr>
        <p:spPr/>
      </p:sp>
    </p:spTree>
    <p:extLst>
      <p:ext uri="{BB962C8B-B14F-4D97-AF65-F5344CB8AC3E}">
        <p14:creationId xmlns:p14="http://schemas.microsoft.com/office/powerpoint/2010/main" val="5058677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の手順</a:t>
            </a:r>
          </a:p>
          <a:p>
            <a:endParaRPr/>
          </a:p>
          <a:p>
            <a:r>
              <a:t>① 一拍ごとに切り出し、幅と振幅を正規化する。</a:t>
            </a:r>
          </a:p>
          <a:p>
            <a:r>
              <a:t>② 基底関数（山の形）の種類と個数を決める。ここが本手法の急所。</a:t>
            </a:r>
          </a:p>
          <a:p>
            <a:r>
              <a:t>   Gaussian／Gamma／skewed-Gaussian／Rayleigh／log-normal、カーネル数は 2〜5 と</a:t>
            </a:r>
          </a:p>
          <a:p>
            <a:r>
              <a:t>   研究ごとに割れている。</a:t>
            </a:r>
          </a:p>
          <a:p>
            <a:r>
              <a:t>③ 重み付き最小二乗などでパラメータ（位置・高さ・幅）を推定する。</a:t>
            </a:r>
          </a:p>
          <a:p>
            <a:r>
              <a:t>   初期値の選び方で解が動くことが知られている。</a:t>
            </a:r>
          </a:p>
          <a:p>
            <a:r>
              <a:t>④ 得られた成分波どうしの時間差 T1_2 と振幅比 R1_2 を、それぞれ SI・RI に対応させる。</a:t>
            </a:r>
          </a:p>
          <a:p>
            <a:endParaRPr/>
          </a:p>
          <a:p>
            <a:r>
              <a:t>■ ② が決着していないことの意味</a:t>
            </a:r>
          </a:p>
          <a:p>
            <a:r>
              <a:t>Tigges 2017 は 7,805 拍を対象に 4 種の基底関数とモデル次数を総当たりし、AICc で選択した。</a:t>
            </a:r>
          </a:p>
          <a:p>
            <a:r>
              <a:t>最頻の最良モデル（Gamma 3 個）でも全体の 28.1%、次点（Rayleigh 2 個）が 14.4% で、</a:t>
            </a:r>
          </a:p>
          <a:p>
            <a:r>
              <a:t>両者を足しても半数に満たない。単一の最良モデルは存在しない。</a:t>
            </a:r>
          </a:p>
          <a:p>
            <a:r>
              <a:t>これは「分解」という逆問題が一意に解けていないことの直接の表れである。</a:t>
            </a:r>
          </a:p>
          <a:p>
            <a:endParaRPr/>
          </a:p>
          <a:p>
            <a:r>
              <a:t>出典：42. Couceiro 2015 ／ 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当てはめの計算</a:t>
            </a:r>
            <a:r>
              <a:rPr dirty="0"/>
              <a:t> ― </a:t>
            </a:r>
            <a:r>
              <a:rPr dirty="0" err="1"/>
              <a:t>何をどう決めているのか</a:t>
            </a:r>
            <a:endParaRPr dirty="0"/>
          </a:p>
          <a:p>
            <a:endParaRPr dirty="0"/>
          </a:p>
          <a:p>
            <a:r>
              <a:rPr dirty="0"/>
              <a:t>■ </a:t>
            </a:r>
            <a:r>
              <a:rPr dirty="0" err="1"/>
              <a:t>目的関数</a:t>
            </a:r>
            <a:endParaRPr dirty="0"/>
          </a:p>
          <a:p>
            <a:r>
              <a:rPr dirty="0" err="1"/>
              <a:t>実測した合成波</a:t>
            </a:r>
            <a:r>
              <a:rPr dirty="0"/>
              <a:t> y(t) </a:t>
            </a:r>
            <a:r>
              <a:rPr dirty="0" err="1"/>
              <a:t>と、モデルが作る合成波</a:t>
            </a:r>
            <a:r>
              <a:rPr dirty="0"/>
              <a:t> </a:t>
            </a:r>
            <a:r>
              <a:rPr dirty="0" err="1"/>
              <a:t>ŷ</a:t>
            </a:r>
            <a:r>
              <a:rPr dirty="0"/>
              <a:t>(t)=Σf_k(t) </a:t>
            </a:r>
            <a:r>
              <a:rPr dirty="0" err="1"/>
              <a:t>の差（残差）を</a:t>
            </a:r>
            <a:r>
              <a:rPr dirty="0"/>
              <a:t>、</a:t>
            </a:r>
          </a:p>
          <a:p>
            <a:r>
              <a:rPr dirty="0" err="1"/>
              <a:t>全時点で二乗して足し合わせた値（残差平方和</a:t>
            </a:r>
            <a:r>
              <a:rPr dirty="0"/>
              <a:t> RSS）を最小にするパラメータを探す。</a:t>
            </a:r>
          </a:p>
          <a:p>
            <a:r>
              <a:rPr dirty="0"/>
              <a:t>　　RSS = </a:t>
            </a:r>
            <a:r>
              <a:rPr dirty="0" err="1"/>
              <a:t>Σ_t</a:t>
            </a:r>
            <a:r>
              <a:rPr dirty="0"/>
              <a:t> { y(t) − </a:t>
            </a:r>
            <a:r>
              <a:rPr dirty="0" err="1"/>
              <a:t>ŷ</a:t>
            </a:r>
            <a:r>
              <a:rPr dirty="0"/>
              <a:t>(t) }²</a:t>
            </a:r>
          </a:p>
          <a:p>
            <a:r>
              <a:rPr dirty="0" err="1"/>
              <a:t>サンプル点ごとに重みを変える重み付き最小二乗（WLS）を使う実装もある</a:t>
            </a:r>
            <a:endParaRPr dirty="0"/>
          </a:p>
          <a:p>
            <a:r>
              <a:rPr dirty="0"/>
              <a:t>（Wang L 2013 </a:t>
            </a:r>
            <a:r>
              <a:rPr dirty="0" err="1"/>
              <a:t>は重みを多基準意思決定法で最適化している</a:t>
            </a:r>
            <a:r>
              <a:rPr dirty="0"/>
              <a:t>）。</a:t>
            </a:r>
          </a:p>
          <a:p>
            <a:endParaRPr dirty="0"/>
          </a:p>
          <a:p>
            <a:r>
              <a:rPr dirty="0"/>
              <a:t>■ </a:t>
            </a:r>
            <a:r>
              <a:rPr dirty="0" err="1"/>
              <a:t>解き方</a:t>
            </a:r>
            <a:endParaRPr dirty="0"/>
          </a:p>
          <a:p>
            <a:r>
              <a:rPr dirty="0" err="1"/>
              <a:t>パラメータについて非線形なので、解析的には解けない</a:t>
            </a:r>
            <a:r>
              <a:rPr dirty="0"/>
              <a:t>。</a:t>
            </a:r>
          </a:p>
          <a:p>
            <a:r>
              <a:rPr dirty="0"/>
              <a:t>Levenberg–Marquardt </a:t>
            </a:r>
            <a:r>
              <a:rPr dirty="0" err="1"/>
              <a:t>法などの反復計算で、初期値から少しずつ動かして最小値を探す</a:t>
            </a:r>
            <a:r>
              <a:rPr dirty="0"/>
              <a:t>。</a:t>
            </a:r>
          </a:p>
          <a:p>
            <a:endParaRPr dirty="0"/>
          </a:p>
          <a:p>
            <a:r>
              <a:rPr dirty="0"/>
              <a:t>■ </a:t>
            </a:r>
            <a:r>
              <a:rPr dirty="0" err="1"/>
              <a:t>初期値の問題</a:t>
            </a:r>
            <a:endParaRPr dirty="0"/>
          </a:p>
          <a:p>
            <a:r>
              <a:rPr dirty="0" err="1"/>
              <a:t>反復計算は初期値の近くの谷（局所解）に落ちる。したがって</a:t>
            </a:r>
            <a:endParaRPr dirty="0"/>
          </a:p>
          <a:p>
            <a:r>
              <a:rPr dirty="0"/>
              <a:t>「</a:t>
            </a:r>
            <a:r>
              <a:rPr dirty="0" err="1"/>
              <a:t>同じ波形・同じモデルでも、初期値を変えると別の答えが出る」ことが起こる</a:t>
            </a:r>
            <a:r>
              <a:rPr dirty="0"/>
              <a:t>。</a:t>
            </a:r>
          </a:p>
          <a:p>
            <a:r>
              <a:rPr dirty="0"/>
              <a:t>Basso 2024 </a:t>
            </a:r>
            <a:r>
              <a:rPr dirty="0" err="1"/>
              <a:t>は</a:t>
            </a:r>
            <a:r>
              <a:rPr dirty="0"/>
              <a:t> skewed-Gaussian </a:t>
            </a:r>
            <a:r>
              <a:rPr dirty="0" err="1"/>
              <a:t>モデルがランダム初期値に対して感度が低く</a:t>
            </a:r>
            <a:endParaRPr dirty="0"/>
          </a:p>
          <a:p>
            <a:r>
              <a:rPr dirty="0" err="1"/>
              <a:t>一貫して頑健だったと報告しており、これは裏を返せば</a:t>
            </a:r>
            <a:endParaRPr dirty="0"/>
          </a:p>
          <a:p>
            <a:r>
              <a:rPr dirty="0" err="1"/>
              <a:t>従来モデルでは初期値で答えが動いていたということである</a:t>
            </a:r>
            <a:r>
              <a:rPr dirty="0"/>
              <a:t>。</a:t>
            </a:r>
          </a:p>
          <a:p>
            <a:endParaRPr dirty="0"/>
          </a:p>
          <a:p>
            <a:r>
              <a:rPr dirty="0"/>
              <a:t>■ </a:t>
            </a:r>
            <a:r>
              <a:rPr dirty="0" err="1"/>
              <a:t>当てはまりの評価</a:t>
            </a:r>
            <a:endParaRPr dirty="0"/>
          </a:p>
          <a:p>
            <a:r>
              <a:rPr dirty="0"/>
              <a:t>・</a:t>
            </a:r>
            <a:r>
              <a:rPr dirty="0" err="1"/>
              <a:t>残差平方和</a:t>
            </a:r>
            <a:r>
              <a:rPr dirty="0"/>
              <a:t> </a:t>
            </a:r>
            <a:r>
              <a:rPr dirty="0" err="1"/>
              <a:t>RSS、正規化</a:t>
            </a:r>
            <a:r>
              <a:rPr dirty="0"/>
              <a:t> RMSE、R²</a:t>
            </a:r>
          </a:p>
          <a:p>
            <a:r>
              <a:rPr dirty="0"/>
              <a:t>・</a:t>
            </a:r>
            <a:r>
              <a:rPr dirty="0" err="1"/>
              <a:t>モデル選択には補正赤池情報量規準</a:t>
            </a:r>
            <a:r>
              <a:rPr dirty="0"/>
              <a:t> </a:t>
            </a:r>
            <a:r>
              <a:rPr dirty="0" err="1"/>
              <a:t>AICc（当てはまりとパラメータ数のつり合い</a:t>
            </a:r>
            <a:r>
              <a:rPr dirty="0"/>
              <a:t>）</a:t>
            </a:r>
          </a:p>
          <a:p>
            <a:r>
              <a:rPr dirty="0"/>
              <a:t>Couceiro 2015 </a:t>
            </a:r>
            <a:r>
              <a:rPr dirty="0" err="1"/>
              <a:t>の</a:t>
            </a:r>
            <a:r>
              <a:rPr dirty="0"/>
              <a:t> 5 </a:t>
            </a:r>
            <a:r>
              <a:rPr dirty="0" err="1"/>
              <a:t>ガウスモデルでは、LVET</a:t>
            </a:r>
            <a:r>
              <a:rPr dirty="0"/>
              <a:t> </a:t>
            </a:r>
            <a:r>
              <a:rPr dirty="0" err="1"/>
              <a:t>絶対誤差</a:t>
            </a:r>
            <a:r>
              <a:rPr dirty="0"/>
              <a:t> 15.41±13.66 </a:t>
            </a:r>
            <a:r>
              <a:rPr dirty="0" err="1"/>
              <a:t>ms、ρ</a:t>
            </a:r>
            <a:r>
              <a:rPr dirty="0"/>
              <a:t>=0.78 </a:t>
            </a:r>
            <a:r>
              <a:rPr dirty="0" err="1"/>
              <a:t>が得られている</a:t>
            </a:r>
            <a:r>
              <a:rPr dirty="0"/>
              <a:t>。</a:t>
            </a:r>
          </a:p>
          <a:p>
            <a:endParaRPr dirty="0"/>
          </a:p>
          <a:p>
            <a:r>
              <a:rPr dirty="0"/>
              <a:t>出典：42. Couceiro 2015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当てはめの中身</a:t>
            </a:r>
            <a:r>
              <a:rPr dirty="0"/>
              <a:t> ― </a:t>
            </a:r>
            <a:r>
              <a:rPr dirty="0" err="1"/>
              <a:t>全体像</a:t>
            </a:r>
            <a:endParaRPr dirty="0"/>
          </a:p>
          <a:p>
            <a:endParaRPr dirty="0"/>
          </a:p>
          <a:p>
            <a:r>
              <a:rPr dirty="0" err="1"/>
              <a:t>前スライドの手順</a:t>
            </a:r>
            <a:r>
              <a:rPr dirty="0"/>
              <a:t>①〜④</a:t>
            </a:r>
            <a:r>
              <a:rPr dirty="0" err="1"/>
              <a:t>のうち</a:t>
            </a:r>
            <a:r>
              <a:rPr dirty="0"/>
              <a:t>、③「当てはめる」を開くと次の4段になる。</a:t>
            </a:r>
          </a:p>
          <a:p>
            <a:endParaRPr dirty="0"/>
          </a:p>
          <a:p>
            <a:r>
              <a:rPr dirty="0"/>
              <a:t>① </a:t>
            </a:r>
            <a:r>
              <a:rPr dirty="0" err="1"/>
              <a:t>モデルを決める</a:t>
            </a:r>
            <a:r>
              <a:rPr dirty="0"/>
              <a:t> … </a:t>
            </a:r>
            <a:r>
              <a:rPr dirty="0" err="1"/>
              <a:t>基底関数の種類（Gaussian／Gamma／Rayleigh／skewed-Gaussian</a:t>
            </a:r>
            <a:r>
              <a:rPr dirty="0"/>
              <a:t> </a:t>
            </a:r>
            <a:r>
              <a:rPr dirty="0" err="1"/>
              <a:t>ほか）と</a:t>
            </a:r>
            <a:endParaRPr dirty="0"/>
          </a:p>
          <a:p>
            <a:r>
              <a:rPr dirty="0"/>
              <a:t>　</a:t>
            </a:r>
            <a:r>
              <a:rPr dirty="0" err="1"/>
              <a:t>カーネル数</a:t>
            </a:r>
            <a:r>
              <a:rPr dirty="0"/>
              <a:t> N </a:t>
            </a:r>
            <a:r>
              <a:rPr dirty="0" err="1"/>
              <a:t>を決める。データからは決まらない設計値。Tigges</a:t>
            </a:r>
            <a:r>
              <a:rPr dirty="0"/>
              <a:t> 2017 </a:t>
            </a:r>
            <a:r>
              <a:rPr dirty="0" err="1"/>
              <a:t>の総当たりでも</a:t>
            </a:r>
            <a:endParaRPr dirty="0"/>
          </a:p>
          <a:p>
            <a:r>
              <a:rPr dirty="0"/>
              <a:t>　</a:t>
            </a:r>
            <a:r>
              <a:rPr dirty="0" err="1"/>
              <a:t>単一の最良モデルは存在しなかった</a:t>
            </a:r>
            <a:r>
              <a:rPr dirty="0"/>
              <a:t>。</a:t>
            </a:r>
          </a:p>
          <a:p>
            <a:r>
              <a:rPr dirty="0"/>
              <a:t>② </a:t>
            </a:r>
            <a:r>
              <a:rPr dirty="0" err="1"/>
              <a:t>初期値と境界を置く</a:t>
            </a:r>
            <a:r>
              <a:rPr dirty="0"/>
              <a:t> … </a:t>
            </a:r>
            <a:r>
              <a:rPr dirty="0" err="1"/>
              <a:t>反復計算をどこから始め、パラメータをどこまで動かしてよいかを決める</a:t>
            </a:r>
            <a:r>
              <a:rPr dirty="0"/>
              <a:t>。</a:t>
            </a:r>
          </a:p>
          <a:p>
            <a:r>
              <a:rPr dirty="0"/>
              <a:t>　</a:t>
            </a:r>
            <a:r>
              <a:rPr dirty="0" err="1"/>
              <a:t>これも設計値であり、論文では細部として扱われがちだが結果を左右する</a:t>
            </a:r>
            <a:r>
              <a:rPr dirty="0"/>
              <a:t>。</a:t>
            </a:r>
          </a:p>
          <a:p>
            <a:r>
              <a:rPr dirty="0"/>
              <a:t>③ </a:t>
            </a:r>
            <a:r>
              <a:rPr dirty="0" err="1"/>
              <a:t>残差を最小にする</a:t>
            </a:r>
            <a:r>
              <a:rPr dirty="0"/>
              <a:t> … </a:t>
            </a:r>
            <a:r>
              <a:rPr dirty="0" err="1"/>
              <a:t>初期値から反復計算で残差の谷を下る</a:t>
            </a:r>
            <a:r>
              <a:rPr dirty="0"/>
              <a:t>。</a:t>
            </a:r>
          </a:p>
          <a:p>
            <a:r>
              <a:rPr dirty="0"/>
              <a:t>④ </a:t>
            </a:r>
            <a:r>
              <a:rPr dirty="0" err="1"/>
              <a:t>出た値を検算する</a:t>
            </a:r>
            <a:r>
              <a:rPr dirty="0"/>
              <a:t> … </a:t>
            </a:r>
            <a:r>
              <a:rPr dirty="0" err="1"/>
              <a:t>境界への張り付き、初期値を変えたときの再現性、残差の谷の幅を確かめる</a:t>
            </a:r>
            <a:r>
              <a:rPr dirty="0"/>
              <a:t>。</a:t>
            </a:r>
          </a:p>
          <a:p>
            <a:endParaRPr dirty="0"/>
          </a:p>
          <a:p>
            <a:r>
              <a:rPr dirty="0"/>
              <a:t>■ </a:t>
            </a:r>
            <a:r>
              <a:rPr dirty="0" err="1"/>
              <a:t>麻酔中に使う場合の粒度</a:t>
            </a:r>
            <a:endParaRPr dirty="0"/>
          </a:p>
          <a:p>
            <a:r>
              <a:rPr dirty="0" err="1"/>
              <a:t>当てはめ自体は</a:t>
            </a:r>
            <a:r>
              <a:rPr dirty="0"/>
              <a:t> 1 </a:t>
            </a:r>
            <a:r>
              <a:rPr dirty="0" err="1"/>
              <a:t>拍ごとに計算できる。ただし</a:t>
            </a:r>
            <a:r>
              <a:rPr dirty="0"/>
              <a:t> 1 </a:t>
            </a:r>
            <a:r>
              <a:rPr dirty="0" err="1"/>
              <a:t>拍だけの推定値はばらつくので</a:t>
            </a:r>
            <a:r>
              <a:rPr dirty="0"/>
              <a:t>、</a:t>
            </a:r>
          </a:p>
          <a:p>
            <a:r>
              <a:rPr dirty="0" err="1"/>
              <a:t>実務では「拍ごとに当てはめ、指標は数拍〜十数拍の移動中央値で出す」設計が扱いやすい</a:t>
            </a:r>
            <a:r>
              <a:rPr dirty="0"/>
              <a:t>。</a:t>
            </a:r>
          </a:p>
          <a:p>
            <a:r>
              <a:rPr dirty="0" err="1"/>
              <a:t>先に波形を平均してから</a:t>
            </a:r>
            <a:r>
              <a:rPr dirty="0"/>
              <a:t> 1 </a:t>
            </a:r>
            <a:r>
              <a:rPr dirty="0" err="1"/>
              <a:t>回だけ当てはめる方式は</a:t>
            </a:r>
            <a:r>
              <a:rPr dirty="0"/>
              <a:t> S/N </a:t>
            </a:r>
            <a:r>
              <a:rPr dirty="0" err="1"/>
              <a:t>は良くなるが</a:t>
            </a:r>
            <a:r>
              <a:rPr dirty="0"/>
              <a:t>、</a:t>
            </a:r>
          </a:p>
          <a:p>
            <a:r>
              <a:rPr dirty="0" err="1"/>
              <a:t>当てはめ不能な拍が混ざっても気づけず、心拍数が動くと波形が鈍る欠点がある</a:t>
            </a:r>
            <a:r>
              <a:rPr dirty="0"/>
              <a:t>。</a:t>
            </a:r>
          </a:p>
          <a:p>
            <a:endParaRPr dirty="0"/>
          </a:p>
          <a:p>
            <a:r>
              <a:rPr dirty="0"/>
              <a:t>■ </a:t>
            </a:r>
            <a:r>
              <a:rPr dirty="0" err="1"/>
              <a:t>初期値の方式は併用できる</a:t>
            </a:r>
            <a:endParaRPr dirty="0"/>
          </a:p>
          <a:p>
            <a:r>
              <a:rPr dirty="0" err="1"/>
              <a:t>ランドマーク方式・前拍からの継承・ランダム初期値は排他ではない</a:t>
            </a:r>
            <a:r>
              <a:rPr dirty="0"/>
              <a:t>。</a:t>
            </a:r>
          </a:p>
          <a:p>
            <a:r>
              <a:rPr dirty="0"/>
              <a:t>3 </a:t>
            </a:r>
            <a:r>
              <a:rPr dirty="0" err="1"/>
              <a:t>種を並行に走らせて最も残差の小さい解を採れば</a:t>
            </a:r>
            <a:r>
              <a:rPr dirty="0"/>
              <a:t>、</a:t>
            </a:r>
          </a:p>
          <a:p>
            <a:r>
              <a:rPr dirty="0"/>
              <a:t>「</a:t>
            </a:r>
            <a:r>
              <a:rPr dirty="0" err="1"/>
              <a:t>複数の出発点が同じ解に収束したか」がそのまま④の検算になる</a:t>
            </a:r>
            <a:r>
              <a:rPr dirty="0"/>
              <a:t>。</a:t>
            </a:r>
          </a:p>
          <a:p>
            <a:endParaRPr dirty="0"/>
          </a:p>
          <a:p>
            <a:r>
              <a:rPr dirty="0"/>
              <a:t>出典：42. Couceiro 2015 ／ 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初期値の決め方</a:t>
            </a:r>
            <a:endParaRPr dirty="0"/>
          </a:p>
          <a:p>
            <a:endParaRPr dirty="0"/>
          </a:p>
          <a:p>
            <a:r>
              <a:rPr dirty="0" err="1"/>
              <a:t>反復計算は初期値の近くの谷に落ちるので、初期値をどう置くかが結果を左右する</a:t>
            </a:r>
            <a:r>
              <a:rPr dirty="0"/>
              <a:t>。</a:t>
            </a:r>
          </a:p>
          <a:p>
            <a:r>
              <a:rPr dirty="0"/>
              <a:t>方式は大きく3つあり、どれを使うかは研究ごとに違う。</a:t>
            </a:r>
          </a:p>
          <a:p>
            <a:endParaRPr dirty="0"/>
          </a:p>
          <a:p>
            <a:r>
              <a:rPr dirty="0"/>
              <a:t>■ </a:t>
            </a:r>
            <a:r>
              <a:rPr dirty="0" err="1"/>
              <a:t>ランドマーク方式（主流</a:t>
            </a:r>
            <a:r>
              <a:rPr dirty="0"/>
              <a:t>）</a:t>
            </a:r>
          </a:p>
          <a:p>
            <a:r>
              <a:rPr dirty="0"/>
              <a:t>1次微分でピーク、2次微分で変曲点・肩を検出し、その時刻を成分波の位置 </a:t>
            </a:r>
            <a:r>
              <a:rPr dirty="0" err="1"/>
              <a:t>μ</a:t>
            </a:r>
            <a:r>
              <a:rPr dirty="0"/>
              <a:t> </a:t>
            </a:r>
            <a:r>
              <a:rPr dirty="0" err="1"/>
              <a:t>の初期値にする</a:t>
            </a:r>
            <a:r>
              <a:rPr dirty="0"/>
              <a:t>。</a:t>
            </a:r>
          </a:p>
          <a:p>
            <a:r>
              <a:rPr dirty="0" err="1"/>
              <a:t>高さ</a:t>
            </a:r>
            <a:r>
              <a:rPr dirty="0"/>
              <a:t> a </a:t>
            </a:r>
            <a:r>
              <a:rPr dirty="0" err="1"/>
              <a:t>はその時刻の振幅、幅</a:t>
            </a:r>
            <a:r>
              <a:rPr dirty="0"/>
              <a:t> </a:t>
            </a:r>
            <a:r>
              <a:rPr dirty="0" err="1"/>
              <a:t>σ</a:t>
            </a:r>
            <a:r>
              <a:rPr dirty="0"/>
              <a:t> </a:t>
            </a:r>
            <a:r>
              <a:rPr dirty="0" err="1"/>
              <a:t>は半値全幅</a:t>
            </a:r>
            <a:r>
              <a:rPr dirty="0"/>
              <a:t> ÷ 2.355 </a:t>
            </a:r>
            <a:r>
              <a:rPr dirty="0" err="1"/>
              <a:t>から見積もる</a:t>
            </a:r>
            <a:r>
              <a:rPr dirty="0"/>
              <a:t>。</a:t>
            </a:r>
          </a:p>
          <a:p>
            <a:r>
              <a:rPr dirty="0" err="1"/>
              <a:t>生理学的に妥当な初期値が得られるので収束が速い</a:t>
            </a:r>
            <a:r>
              <a:rPr dirty="0"/>
              <a:t>。</a:t>
            </a:r>
          </a:p>
          <a:p>
            <a:r>
              <a:rPr dirty="0" err="1"/>
              <a:t>弱点は</a:t>
            </a:r>
            <a:r>
              <a:rPr dirty="0"/>
              <a:t> DN-less </a:t>
            </a:r>
            <a:r>
              <a:rPr dirty="0" err="1"/>
              <a:t>波形で、目印が消えるのではなく「弱くなってノイズと区別できなくなる」こと</a:t>
            </a:r>
            <a:r>
              <a:rPr dirty="0"/>
              <a:t>。</a:t>
            </a:r>
          </a:p>
          <a:p>
            <a:r>
              <a:rPr dirty="0"/>
              <a:t>Pal 2024 では、従来の2次微分法による重複切痕の検出誤差は 0.0968 </a:t>
            </a:r>
            <a:r>
              <a:rPr dirty="0" err="1"/>
              <a:t>秒（SD</a:t>
            </a:r>
            <a:r>
              <a:rPr dirty="0"/>
              <a:t> 0.0909）で、</a:t>
            </a:r>
          </a:p>
          <a:p>
            <a:r>
              <a:rPr dirty="0"/>
              <a:t>IEM </a:t>
            </a:r>
            <a:r>
              <a:rPr dirty="0" err="1"/>
              <a:t>法の</a:t>
            </a:r>
            <a:r>
              <a:rPr dirty="0"/>
              <a:t> 0.0046 </a:t>
            </a:r>
            <a:r>
              <a:rPr dirty="0" err="1"/>
              <a:t>秒（SD</a:t>
            </a:r>
            <a:r>
              <a:rPr dirty="0"/>
              <a:t> 0.0029）と桁で違う。使えないのではなく不安定である。</a:t>
            </a:r>
          </a:p>
          <a:p>
            <a:endParaRPr dirty="0"/>
          </a:p>
          <a:p>
            <a:r>
              <a:rPr dirty="0"/>
              <a:t>■ </a:t>
            </a:r>
            <a:r>
              <a:rPr dirty="0" err="1"/>
              <a:t>前の拍を引き継ぐ</a:t>
            </a:r>
            <a:endParaRPr dirty="0"/>
          </a:p>
          <a:p>
            <a:r>
              <a:rPr dirty="0" err="1"/>
              <a:t>直前の拍で得た解を次の拍の初期値にする。目印に依存せず、指標が拍ごとに跳ばないので</a:t>
            </a:r>
            <a:r>
              <a:rPr dirty="0"/>
              <a:t>、</a:t>
            </a:r>
          </a:p>
          <a:p>
            <a:r>
              <a:rPr dirty="0" err="1"/>
              <a:t>麻酔導入時のようにトーヌスが動く場面のトレンド表示に向く</a:t>
            </a:r>
            <a:r>
              <a:rPr dirty="0"/>
              <a:t>。</a:t>
            </a:r>
          </a:p>
          <a:p>
            <a:r>
              <a:rPr dirty="0" err="1"/>
              <a:t>ただし前の拍が誤っていると引きずるので、外れ値の棄却と併用する</a:t>
            </a:r>
            <a:r>
              <a:rPr dirty="0"/>
              <a:t>。</a:t>
            </a:r>
          </a:p>
          <a:p>
            <a:endParaRPr dirty="0"/>
          </a:p>
          <a:p>
            <a:r>
              <a:rPr dirty="0"/>
              <a:t>■ </a:t>
            </a:r>
            <a:r>
              <a:rPr dirty="0" err="1"/>
              <a:t>多点スタート・大域最適化</a:t>
            </a:r>
            <a:endParaRPr dirty="0"/>
          </a:p>
          <a:p>
            <a:r>
              <a:rPr dirty="0" err="1"/>
              <a:t>多数のランダム初期値から当てはめて最良を選ぶ、あるいは粒子群最適化などの大域探索を使う</a:t>
            </a:r>
            <a:r>
              <a:rPr dirty="0"/>
              <a:t>。</a:t>
            </a:r>
          </a:p>
          <a:p>
            <a:r>
              <a:rPr dirty="0" err="1"/>
              <a:t>初期値依存を避けられるが計算量は増える</a:t>
            </a:r>
            <a:r>
              <a:rPr dirty="0"/>
              <a:t>。</a:t>
            </a:r>
          </a:p>
          <a:p>
            <a:r>
              <a:rPr dirty="0" err="1"/>
              <a:t>なおランダム初期値は本来アルゴリズムの頑健性を評価する手段であり</a:t>
            </a:r>
            <a:endParaRPr dirty="0"/>
          </a:p>
          <a:p>
            <a:r>
              <a:rPr dirty="0"/>
              <a:t>（Basso 2024 </a:t>
            </a:r>
            <a:r>
              <a:rPr dirty="0" err="1"/>
              <a:t>はこの方法で</a:t>
            </a:r>
            <a:r>
              <a:rPr dirty="0"/>
              <a:t> skewed-Gaussian </a:t>
            </a:r>
            <a:r>
              <a:rPr dirty="0" err="1"/>
              <a:t>の初期値感度の低さを示した</a:t>
            </a:r>
            <a:r>
              <a:rPr dirty="0"/>
              <a:t>）、</a:t>
            </a:r>
          </a:p>
          <a:p>
            <a:r>
              <a:rPr dirty="0" err="1"/>
              <a:t>実運用の推奨ではない</a:t>
            </a:r>
            <a:r>
              <a:rPr dirty="0"/>
              <a:t>。</a:t>
            </a:r>
          </a:p>
          <a:p>
            <a:endParaRPr dirty="0"/>
          </a:p>
          <a:p>
            <a:r>
              <a:rPr dirty="0"/>
              <a:t>■ 3 </a:t>
            </a:r>
            <a:r>
              <a:rPr dirty="0" err="1"/>
              <a:t>方式は排他ではない</a:t>
            </a:r>
            <a:endParaRPr dirty="0"/>
          </a:p>
          <a:p>
            <a:r>
              <a:rPr dirty="0" err="1"/>
              <a:t>ランドマーク・前拍継承・ランダムの</a:t>
            </a:r>
            <a:r>
              <a:rPr dirty="0"/>
              <a:t> 3 </a:t>
            </a:r>
            <a:r>
              <a:rPr dirty="0" err="1"/>
              <a:t>種を並行に走らせ、最も残差の小さい解を採ればよい</a:t>
            </a:r>
            <a:r>
              <a:rPr dirty="0"/>
              <a:t>。</a:t>
            </a:r>
          </a:p>
          <a:p>
            <a:r>
              <a:rPr dirty="0" err="1"/>
              <a:t>このとき複数の出発点が同じ解に収束したかどうかが、そのまま非一意性の検査になる</a:t>
            </a:r>
            <a:r>
              <a:rPr dirty="0"/>
              <a:t>。</a:t>
            </a:r>
          </a:p>
          <a:p>
            <a:r>
              <a:rPr dirty="0" err="1"/>
              <a:t>単独方式では失敗を検出する手段がないので、併用は保険ではなく検算そのものである</a:t>
            </a:r>
            <a:r>
              <a:rPr dirty="0"/>
              <a:t>。</a:t>
            </a:r>
          </a:p>
          <a:p>
            <a:endParaRPr dirty="0"/>
          </a:p>
          <a:p>
            <a:r>
              <a:rPr dirty="0"/>
              <a:t>■ </a:t>
            </a:r>
            <a:r>
              <a:rPr dirty="0" err="1"/>
              <a:t>基底関数が決めるのは「翻訳の式」だけ</a:t>
            </a:r>
            <a:endParaRPr dirty="0"/>
          </a:p>
          <a:p>
            <a:r>
              <a:rPr dirty="0" err="1"/>
              <a:t>方式は研究者が選ぶが、ランドマークをパラメータに直す式は基底関数で決まる</a:t>
            </a:r>
            <a:r>
              <a:rPr dirty="0"/>
              <a:t>。</a:t>
            </a:r>
          </a:p>
          <a:p>
            <a:r>
              <a:rPr dirty="0"/>
              <a:t>Gaussian </a:t>
            </a:r>
            <a:r>
              <a:rPr dirty="0" err="1"/>
              <a:t>は</a:t>
            </a:r>
            <a:r>
              <a:rPr dirty="0"/>
              <a:t> </a:t>
            </a:r>
            <a:r>
              <a:rPr dirty="0" err="1"/>
              <a:t>μ</a:t>
            </a:r>
            <a:r>
              <a:rPr dirty="0"/>
              <a:t> </a:t>
            </a:r>
            <a:r>
              <a:rPr dirty="0" err="1"/>
              <a:t>が頂点の時刻なのでそのまま入れられるが</a:t>
            </a:r>
            <a:r>
              <a:rPr dirty="0"/>
              <a:t>、</a:t>
            </a:r>
          </a:p>
          <a:p>
            <a:r>
              <a:rPr dirty="0"/>
              <a:t>Rayleigh </a:t>
            </a:r>
            <a:r>
              <a:rPr dirty="0" err="1"/>
              <a:t>は</a:t>
            </a:r>
            <a:r>
              <a:rPr dirty="0"/>
              <a:t> </a:t>
            </a:r>
            <a:r>
              <a:rPr dirty="0" err="1"/>
              <a:t>μ</a:t>
            </a:r>
            <a:r>
              <a:rPr dirty="0"/>
              <a:t> </a:t>
            </a:r>
            <a:r>
              <a:rPr dirty="0" err="1"/>
              <a:t>が立ち上がりの時刻で頂点は</a:t>
            </a:r>
            <a:r>
              <a:rPr dirty="0"/>
              <a:t> </a:t>
            </a:r>
            <a:r>
              <a:rPr dirty="0" err="1"/>
              <a:t>μ+σ</a:t>
            </a:r>
            <a:r>
              <a:rPr dirty="0"/>
              <a:t> </a:t>
            </a:r>
            <a:r>
              <a:rPr dirty="0" err="1"/>
              <a:t>なので、μ</a:t>
            </a:r>
            <a:r>
              <a:rPr dirty="0"/>
              <a:t> = </a:t>
            </a:r>
            <a:r>
              <a:rPr dirty="0" err="1"/>
              <a:t>頂点時刻</a:t>
            </a:r>
            <a:r>
              <a:rPr dirty="0"/>
              <a:t> − </a:t>
            </a:r>
            <a:r>
              <a:rPr dirty="0" err="1"/>
              <a:t>σ</a:t>
            </a:r>
            <a:r>
              <a:rPr dirty="0"/>
              <a:t> </a:t>
            </a:r>
            <a:r>
              <a:rPr dirty="0" err="1"/>
              <a:t>として入れる</a:t>
            </a:r>
            <a:r>
              <a:rPr dirty="0"/>
              <a:t>。</a:t>
            </a:r>
          </a:p>
          <a:p>
            <a:r>
              <a:rPr dirty="0"/>
              <a:t>Gamma </a:t>
            </a:r>
            <a:r>
              <a:rPr dirty="0" err="1"/>
              <a:t>は形状・尺度パラメータから逆算する</a:t>
            </a:r>
            <a:r>
              <a:rPr dirty="0"/>
              <a:t>。</a:t>
            </a:r>
          </a:p>
          <a:p>
            <a:endParaRPr dirty="0"/>
          </a:p>
          <a:p>
            <a:r>
              <a:rPr dirty="0"/>
              <a:t>■ </a:t>
            </a:r>
            <a:r>
              <a:rPr dirty="0" err="1"/>
              <a:t>境界条件</a:t>
            </a:r>
            <a:endParaRPr dirty="0"/>
          </a:p>
          <a:p>
            <a:r>
              <a:rPr dirty="0"/>
              <a:t>・a &gt; 0 … </a:t>
            </a:r>
            <a:r>
              <a:rPr dirty="0" err="1"/>
              <a:t>負の成分波（引き算で辻褄を合わせる解）を禁じる</a:t>
            </a:r>
            <a:endParaRPr dirty="0"/>
          </a:p>
          <a:p>
            <a:r>
              <a:rPr dirty="0"/>
              <a:t>・</a:t>
            </a:r>
            <a:r>
              <a:rPr dirty="0" err="1"/>
              <a:t>μ</a:t>
            </a:r>
            <a:r>
              <a:rPr dirty="0"/>
              <a:t>₁ &lt; </a:t>
            </a:r>
            <a:r>
              <a:rPr dirty="0" err="1"/>
              <a:t>μ</a:t>
            </a:r>
            <a:r>
              <a:rPr dirty="0"/>
              <a:t>₂ &lt; … </a:t>
            </a:r>
            <a:r>
              <a:rPr dirty="0" err="1"/>
              <a:t>の順序制約</a:t>
            </a:r>
            <a:r>
              <a:rPr dirty="0"/>
              <a:t> … N </a:t>
            </a:r>
            <a:r>
              <a:rPr dirty="0" err="1"/>
              <a:t>本のモデルには</a:t>
            </a:r>
            <a:r>
              <a:rPr dirty="0"/>
              <a:t> N! </a:t>
            </a:r>
            <a:r>
              <a:rPr dirty="0" err="1"/>
              <a:t>通りの等価な解がある</a:t>
            </a:r>
            <a:r>
              <a:rPr dirty="0"/>
              <a:t>。</a:t>
            </a:r>
          </a:p>
          <a:p>
            <a:r>
              <a:rPr dirty="0"/>
              <a:t>　順序を固定しないと、拍ごとに「第2成分波」が指す対象が入れ替わり、時系列で追えなくなる。</a:t>
            </a:r>
          </a:p>
          <a:p>
            <a:r>
              <a:rPr dirty="0"/>
              <a:t>・</a:t>
            </a:r>
            <a:r>
              <a:rPr dirty="0" err="1"/>
              <a:t>σ</a:t>
            </a:r>
            <a:r>
              <a:rPr dirty="0"/>
              <a:t> </a:t>
            </a:r>
            <a:r>
              <a:rPr dirty="0" err="1"/>
              <a:t>の上下限</a:t>
            </a:r>
            <a:r>
              <a:rPr dirty="0"/>
              <a:t> … </a:t>
            </a:r>
            <a:r>
              <a:rPr dirty="0" err="1"/>
              <a:t>細すぎるカーネル（ノイズを吸う）と太すぎるカーネル（ベースラインを吸う）を防ぐ</a:t>
            </a:r>
            <a:endParaRPr dirty="0"/>
          </a:p>
          <a:p>
            <a:endParaRPr dirty="0"/>
          </a:p>
          <a:p>
            <a:r>
              <a:rPr dirty="0"/>
              <a:t>出典：42. Couceiro 2015 ／ 45. Couceiro 2012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当てはめの選び方</a:t>
            </a:r>
            <a:r>
              <a:rPr dirty="0"/>
              <a:t> ― </a:t>
            </a:r>
            <a:r>
              <a:rPr dirty="0" err="1"/>
              <a:t>目的関数と探索法は別物</a:t>
            </a:r>
            <a:endParaRPr dirty="0"/>
          </a:p>
          <a:p>
            <a:endParaRPr dirty="0"/>
          </a:p>
          <a:p>
            <a:r>
              <a:rPr dirty="0" err="1"/>
              <a:t>混同されやすいが</a:t>
            </a:r>
            <a:r>
              <a:rPr dirty="0"/>
              <a:t>、「</a:t>
            </a:r>
            <a:r>
              <a:rPr dirty="0" err="1"/>
              <a:t>何を最小にするか（目的関数</a:t>
            </a:r>
            <a:r>
              <a:rPr dirty="0"/>
              <a:t>）」</a:t>
            </a:r>
            <a:r>
              <a:rPr dirty="0" err="1"/>
              <a:t>と「どうやって最小値を探すか（探索法</a:t>
            </a:r>
            <a:r>
              <a:rPr dirty="0"/>
              <a:t>）」</a:t>
            </a:r>
          </a:p>
          <a:p>
            <a:r>
              <a:rPr dirty="0" err="1"/>
              <a:t>は独立した選択である。次のスライドの地形の図でいえば</a:t>
            </a:r>
            <a:r>
              <a:rPr dirty="0"/>
              <a:t>、</a:t>
            </a:r>
          </a:p>
          <a:p>
            <a:r>
              <a:rPr dirty="0" err="1"/>
              <a:t>目的関数は地形そのものの形を決め、探索法はその地形をどこからどう下るかを決める</a:t>
            </a:r>
            <a:r>
              <a:rPr dirty="0"/>
              <a:t>。</a:t>
            </a:r>
          </a:p>
          <a:p>
            <a:endParaRPr dirty="0"/>
          </a:p>
          <a:p>
            <a:r>
              <a:rPr dirty="0"/>
              <a:t>■ </a:t>
            </a:r>
            <a:r>
              <a:rPr dirty="0" err="1"/>
              <a:t>目的関数</a:t>
            </a:r>
            <a:endParaRPr dirty="0"/>
          </a:p>
          <a:p>
            <a:r>
              <a:rPr dirty="0"/>
              <a:t>・</a:t>
            </a:r>
            <a:r>
              <a:rPr dirty="0" err="1"/>
              <a:t>残差平方和</a:t>
            </a:r>
            <a:r>
              <a:rPr dirty="0"/>
              <a:t> RSS ＝ </a:t>
            </a:r>
            <a:r>
              <a:rPr dirty="0" err="1"/>
              <a:t>実測とモデルの差を二乗して全時点で合計したもの。事実上の標準</a:t>
            </a:r>
            <a:r>
              <a:rPr dirty="0"/>
              <a:t>。</a:t>
            </a:r>
          </a:p>
          <a:p>
            <a:r>
              <a:rPr dirty="0"/>
              <a:t>　</a:t>
            </a:r>
            <a:r>
              <a:rPr dirty="0" err="1"/>
              <a:t>二乗するのは、符号を消すため、大きなズレを重く見るため、微分できて計算しやすいため</a:t>
            </a:r>
            <a:r>
              <a:rPr dirty="0"/>
              <a:t>。</a:t>
            </a:r>
          </a:p>
          <a:p>
            <a:r>
              <a:rPr dirty="0"/>
              <a:t>　</a:t>
            </a:r>
            <a:r>
              <a:rPr dirty="0" err="1"/>
              <a:t>統計的な裏づけもあり、ノイズが平均ゼロ・分散一定の正規分布に従い各時点で独立であれば</a:t>
            </a:r>
            <a:r>
              <a:rPr dirty="0"/>
              <a:t>、</a:t>
            </a:r>
          </a:p>
          <a:p>
            <a:r>
              <a:rPr dirty="0"/>
              <a:t>　RSS </a:t>
            </a:r>
            <a:r>
              <a:rPr dirty="0" err="1"/>
              <a:t>を最小にするパラメータは最尤推定値と厳密に一致する。恣意的な選択ではない</a:t>
            </a:r>
            <a:r>
              <a:rPr dirty="0"/>
              <a:t>。</a:t>
            </a:r>
          </a:p>
          <a:p>
            <a:r>
              <a:rPr dirty="0"/>
              <a:t>・</a:t>
            </a:r>
            <a:r>
              <a:rPr dirty="0" err="1"/>
              <a:t>重み付き最小二乗</a:t>
            </a:r>
            <a:r>
              <a:rPr dirty="0"/>
              <a:t> WLS ＝ </a:t>
            </a:r>
            <a:r>
              <a:rPr dirty="0" err="1"/>
              <a:t>時点ごとに重みを変える</a:t>
            </a:r>
            <a:r>
              <a:rPr dirty="0"/>
              <a:t>。</a:t>
            </a:r>
          </a:p>
          <a:p>
            <a:r>
              <a:rPr dirty="0"/>
              <a:t>　RSS </a:t>
            </a:r>
            <a:r>
              <a:rPr dirty="0" err="1"/>
              <a:t>は全時点を平等に扱うため、サンプル点の多い拡張期の平坦部が、点数の少ない</a:t>
            </a:r>
            <a:endParaRPr dirty="0"/>
          </a:p>
          <a:p>
            <a:r>
              <a:rPr dirty="0"/>
              <a:t>　</a:t>
            </a:r>
            <a:r>
              <a:rPr dirty="0" err="1"/>
              <a:t>収縮期ピーク付近より結果を支配してしまう。臨床的に見たいのは後者なので、その補正</a:t>
            </a:r>
            <a:r>
              <a:rPr dirty="0"/>
              <a:t>。</a:t>
            </a:r>
          </a:p>
          <a:p>
            <a:r>
              <a:rPr dirty="0"/>
              <a:t>　Wang L 2013 </a:t>
            </a:r>
            <a:r>
              <a:rPr dirty="0" err="1"/>
              <a:t>は重みを多基準意思決定法で最適化している</a:t>
            </a:r>
            <a:r>
              <a:rPr dirty="0"/>
              <a:t>。</a:t>
            </a:r>
          </a:p>
          <a:p>
            <a:r>
              <a:rPr dirty="0"/>
              <a:t>・ロバスト損失（Huber、soft-L1）＝ </a:t>
            </a:r>
            <a:r>
              <a:rPr dirty="0" err="1"/>
              <a:t>大きな残差の重みを下げる。体動アーチファクトに強い</a:t>
            </a:r>
            <a:r>
              <a:rPr dirty="0"/>
              <a:t>。</a:t>
            </a:r>
          </a:p>
          <a:p>
            <a:r>
              <a:rPr dirty="0"/>
              <a:t>・</a:t>
            </a:r>
            <a:r>
              <a:rPr dirty="0" err="1"/>
              <a:t>ベイズ・MAP・正則化</a:t>
            </a:r>
            <a:r>
              <a:rPr dirty="0"/>
              <a:t> ＝ </a:t>
            </a:r>
            <a:r>
              <a:rPr dirty="0" err="1"/>
              <a:t>パラメータに事前分布や罰則を課す。非一意性そのものを抑える点で</a:t>
            </a:r>
            <a:endParaRPr dirty="0"/>
          </a:p>
          <a:p>
            <a:r>
              <a:rPr dirty="0"/>
              <a:t>　</a:t>
            </a:r>
            <a:r>
              <a:rPr dirty="0" err="1"/>
              <a:t>原理的には最も筋が良いが、PDA</a:t>
            </a:r>
            <a:r>
              <a:rPr dirty="0"/>
              <a:t> </a:t>
            </a:r>
            <a:r>
              <a:rPr dirty="0" err="1"/>
              <a:t>ではまだ一般的でない</a:t>
            </a:r>
            <a:r>
              <a:rPr dirty="0"/>
              <a:t>。</a:t>
            </a:r>
          </a:p>
          <a:p>
            <a:endParaRPr dirty="0"/>
          </a:p>
          <a:p>
            <a:r>
              <a:rPr dirty="0"/>
              <a:t>■ </a:t>
            </a:r>
            <a:r>
              <a:rPr dirty="0" err="1"/>
              <a:t>探索法（目的関数は</a:t>
            </a:r>
            <a:r>
              <a:rPr dirty="0"/>
              <a:t> RSS </a:t>
            </a:r>
            <a:r>
              <a:rPr dirty="0" err="1"/>
              <a:t>のまま変えない</a:t>
            </a:r>
            <a:r>
              <a:rPr dirty="0"/>
              <a:t>）</a:t>
            </a:r>
          </a:p>
          <a:p>
            <a:r>
              <a:rPr dirty="0"/>
              <a:t>・Levenberg–Marquardt </a:t>
            </a:r>
            <a:r>
              <a:rPr dirty="0" err="1"/>
              <a:t>法</a:t>
            </a:r>
            <a:r>
              <a:rPr dirty="0"/>
              <a:t> ＝ </a:t>
            </a:r>
            <a:r>
              <a:rPr dirty="0" err="1"/>
              <a:t>標準。最急降下法と</a:t>
            </a:r>
            <a:r>
              <a:rPr dirty="0"/>
              <a:t> Gauss–Newton </a:t>
            </a:r>
            <a:r>
              <a:rPr dirty="0" err="1"/>
              <a:t>法を減衰係数で切り替える</a:t>
            </a:r>
            <a:r>
              <a:rPr dirty="0"/>
              <a:t>。</a:t>
            </a:r>
          </a:p>
          <a:p>
            <a:r>
              <a:rPr dirty="0"/>
              <a:t>　</a:t>
            </a:r>
            <a:r>
              <a:rPr dirty="0" err="1"/>
              <a:t>速いが局所解に落ちる</a:t>
            </a:r>
            <a:r>
              <a:rPr dirty="0"/>
              <a:t>。</a:t>
            </a:r>
          </a:p>
          <a:p>
            <a:r>
              <a:rPr dirty="0"/>
              <a:t>・</a:t>
            </a:r>
            <a:r>
              <a:rPr dirty="0" err="1"/>
              <a:t>大域最適化（粒子群最適化、人工蜂コロニ</a:t>
            </a:r>
            <a:r>
              <a:rPr dirty="0"/>
              <a:t>ー、</a:t>
            </a:r>
            <a:r>
              <a:rPr dirty="0" err="1"/>
              <a:t>遺伝的アルゴリズム</a:t>
            </a:r>
            <a:r>
              <a:rPr dirty="0"/>
              <a:t>）＝ </a:t>
            </a:r>
            <a:r>
              <a:rPr dirty="0" err="1"/>
              <a:t>局所解を回避。計算量増</a:t>
            </a:r>
            <a:r>
              <a:rPr dirty="0"/>
              <a:t>。</a:t>
            </a:r>
          </a:p>
          <a:p>
            <a:r>
              <a:rPr dirty="0"/>
              <a:t>・</a:t>
            </a:r>
            <a:r>
              <a:rPr dirty="0" err="1"/>
              <a:t>変数分離</a:t>
            </a:r>
            <a:r>
              <a:rPr dirty="0"/>
              <a:t> VARPRO ＝ </a:t>
            </a:r>
            <a:r>
              <a:rPr dirty="0" err="1"/>
              <a:t>高さ</a:t>
            </a:r>
            <a:r>
              <a:rPr dirty="0"/>
              <a:t> a </a:t>
            </a:r>
            <a:r>
              <a:rPr dirty="0" err="1"/>
              <a:t>はモデルに線形に入るので、μ</a:t>
            </a:r>
            <a:r>
              <a:rPr dirty="0"/>
              <a:t> </a:t>
            </a:r>
            <a:r>
              <a:rPr dirty="0" err="1"/>
              <a:t>と</a:t>
            </a:r>
            <a:r>
              <a:rPr dirty="0"/>
              <a:t> </a:t>
            </a:r>
            <a:r>
              <a:rPr dirty="0" err="1"/>
              <a:t>σ</a:t>
            </a:r>
            <a:r>
              <a:rPr dirty="0"/>
              <a:t> </a:t>
            </a:r>
            <a:r>
              <a:rPr dirty="0" err="1"/>
              <a:t>が決まれば</a:t>
            </a:r>
            <a:r>
              <a:rPr dirty="0"/>
              <a:t> a </a:t>
            </a:r>
            <a:r>
              <a:rPr dirty="0" err="1"/>
              <a:t>は</a:t>
            </a:r>
            <a:endParaRPr dirty="0"/>
          </a:p>
          <a:p>
            <a:r>
              <a:rPr dirty="0"/>
              <a:t>　</a:t>
            </a:r>
            <a:r>
              <a:rPr dirty="0" err="1"/>
              <a:t>線形最小二乗で厳密に解ける。反復すべき非線形パラメータが</a:t>
            </a:r>
            <a:r>
              <a:rPr dirty="0"/>
              <a:t> 3N </a:t>
            </a:r>
            <a:r>
              <a:rPr dirty="0" err="1"/>
              <a:t>から</a:t>
            </a:r>
            <a:r>
              <a:rPr dirty="0"/>
              <a:t> 2N </a:t>
            </a:r>
            <a:r>
              <a:rPr dirty="0" err="1"/>
              <a:t>に減り</a:t>
            </a:r>
            <a:r>
              <a:rPr dirty="0"/>
              <a:t>、</a:t>
            </a:r>
          </a:p>
          <a:p>
            <a:r>
              <a:rPr dirty="0"/>
              <a:t>　</a:t>
            </a:r>
            <a:r>
              <a:rPr dirty="0" err="1"/>
              <a:t>初期値依存が下がる</a:t>
            </a:r>
            <a:r>
              <a:rPr dirty="0"/>
              <a:t>。</a:t>
            </a:r>
          </a:p>
          <a:p>
            <a:r>
              <a:rPr dirty="0"/>
              <a:t>・</a:t>
            </a:r>
            <a:r>
              <a:rPr dirty="0" err="1"/>
              <a:t>逐次剥ぎ取り</a:t>
            </a:r>
            <a:r>
              <a:rPr dirty="0"/>
              <a:t> ＝ </a:t>
            </a:r>
            <a:r>
              <a:rPr dirty="0" err="1"/>
              <a:t>大きい山から順に当てはめて引いていく。初期値づくりの前処理としても使う</a:t>
            </a:r>
            <a:r>
              <a:rPr dirty="0"/>
              <a:t>。</a:t>
            </a:r>
          </a:p>
          <a:p>
            <a:endParaRPr dirty="0"/>
          </a:p>
          <a:p>
            <a:r>
              <a:rPr dirty="0"/>
              <a:t>出典：42. Couceiro 2015 ／ 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 当てはめの選び方 ― 残差の地形として見る</a:t>
            </a:r>
          </a:p>
          <a:p>
            <a:endParaRPr/>
          </a:p>
          <a:p>
            <a:r>
              <a:t>横軸はパラメータ（成分波の位置や幅）、縦軸はそのパラメータでの残差。</a:t>
            </a:r>
          </a:p>
          <a:p>
            <a:r>
              <a:t>当てはめとは、この地形の谷底を探す作業である。</a:t>
            </a:r>
          </a:p>
          <a:p>
            <a:endParaRPr/>
          </a:p>
          <a:p>
            <a:r>
              <a:t>■ 目的関数は「地形の形」を決める</a:t>
            </a:r>
          </a:p>
          <a:p>
            <a:r>
              <a:t>残差平方和にするか、重み付きにするか、ロバスト損失にするかで、</a:t>
            </a:r>
          </a:p>
          <a:p>
            <a:r>
              <a:t>同じ実測データでも地形の形が変わる。どこを谷にするかを決めているのが目的関数である。</a:t>
            </a:r>
          </a:p>
          <a:p>
            <a:endParaRPr/>
          </a:p>
          <a:p>
            <a:r>
              <a:t>■ 探索法は「どこからどう下るか」を決める</a:t>
            </a:r>
          </a:p>
          <a:p>
            <a:r>
              <a:t>Levenberg–Marquardt 法は初期値の位置から坂を下るので、近くの谷で止まる。</a:t>
            </a:r>
          </a:p>
          <a:p>
            <a:r>
              <a:t>図の初期値①は左の浅い谷（局所解）に落ち、初期値②は右の深い谷（大域解）に落ちる。</a:t>
            </a:r>
          </a:p>
          <a:p>
            <a:r>
              <a:t>どちらも「残差が極小」であり、計算は正常に終了する。</a:t>
            </a:r>
          </a:p>
          <a:p>
            <a:r>
              <a:t>つまり収束したことは、正しい答えに着いたことを意味しない。</a:t>
            </a:r>
          </a:p>
          <a:p>
            <a:endParaRPr/>
          </a:p>
          <a:p>
            <a:r>
              <a:t>■ カーネル数が増えるとどうなるか</a:t>
            </a:r>
          </a:p>
          <a:p>
            <a:r>
              <a:t>谷の数が増える。合成波形での検証では、カーネル 2 本のときはランダム初期値の 96% が</a:t>
            </a:r>
          </a:p>
          <a:p>
            <a:r>
              <a:t>同じ解に収束したのに対し、6 本では 1.3% しか最良解に到達しなかった</a:t>
            </a:r>
          </a:p>
          <a:p>
            <a:r>
              <a:t>（局所解のクラスタ数は 4 個から 92 個に増加）。</a:t>
            </a:r>
          </a:p>
          <a:p>
            <a:r>
              <a:t>本数が多いほど、実務的には「実行するたびに違う答えが出る」状態に近づく。</a:t>
            </a:r>
          </a:p>
          <a:p>
            <a:endParaRPr/>
          </a:p>
          <a:p>
            <a:r>
              <a:t>■ 対策</a:t>
            </a:r>
          </a:p>
          <a:p>
            <a:r>
              <a:t>・複数の初期値から走らせて、同じ谷に集まるか確かめる（＝次スライドの検算③）</a:t>
            </a:r>
          </a:p>
          <a:p>
            <a:r>
              <a:t>・大域最適化を使う</a:t>
            </a:r>
          </a:p>
          <a:p>
            <a:r>
              <a:t>・非対称な基底関数を使う（Basso 2024 は skewed-Gaussian で初期値感度が低いと報告）</a:t>
            </a:r>
          </a:p>
          <a:p>
            <a:endParaRPr/>
          </a:p>
          <a:p>
            <a:r>
              <a:t>（数値は合成波形による検証例であり、文献値ではない。）</a:t>
            </a:r>
          </a:p>
          <a:p>
            <a:endParaRPr/>
          </a:p>
          <a:p>
            <a:r>
              <a:t>出典：43.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 収束の検算 ― 値が返ってきたら確認すること</a:t>
            </a:r>
          </a:p>
          <a:p>
            <a:endParaRPr/>
          </a:p>
          <a:p>
            <a:r>
              <a:t>当てはめは必ず何らかの値を返す。返ってきたこと自体は成功を意味しない。</a:t>
            </a:r>
          </a:p>
          <a:p>
            <a:endParaRPr/>
          </a:p>
          <a:p>
            <a:r>
              <a:t>■ ① 境界に張り付いていないか</a:t>
            </a:r>
          </a:p>
          <a:p>
            <a:r>
              <a:t>パラメータが設定した上限・下限に達したまま止まっている場合、最適化は「そこから先に</a:t>
            </a:r>
          </a:p>
          <a:p>
            <a:r>
              <a:t>行きたかったのに行けなかった」状態である。モデルの形か本数か境界の置き方が</a:t>
            </a:r>
          </a:p>
          <a:p>
            <a:r>
              <a:t>その波形に合っていない。値は使えない。</a:t>
            </a:r>
          </a:p>
          <a:p>
            <a:endParaRPr/>
          </a:p>
          <a:p>
            <a:r>
              <a:t>■ ② 振幅がほぼゼロのカーネルが無いか</a:t>
            </a:r>
          </a:p>
          <a:p>
            <a:r>
              <a:t>実質的に使われていないカーネルがあるということは、その拍にはその本数が多すぎる。</a:t>
            </a:r>
          </a:p>
          <a:p>
            <a:r>
              <a:t>本数を減らすか、AICc などのモデル選択に委ねる。</a:t>
            </a:r>
          </a:p>
          <a:p>
            <a:endParaRPr/>
          </a:p>
          <a:p>
            <a:r>
              <a:t>■ ③ 初期値を変えても同じ解に収束するか</a:t>
            </a:r>
          </a:p>
          <a:p>
            <a:r>
              <a:t>複数の初期値から当てはめて、同じ解に落ちるかを見る。これが最も直接的な非一意性の検査で、</a:t>
            </a:r>
          </a:p>
          <a:p>
            <a:r>
              <a:t>前スライドの地形の図でいえば「どの出発点からも同じ谷に着くか」を確かめている。</a:t>
            </a:r>
          </a:p>
          <a:p>
            <a:r>
              <a:t>ランドマーク方式・前拍継承・ランダムを併用しておけば、この検査は追加コストなしで行える。</a:t>
            </a:r>
          </a:p>
          <a:p>
            <a:r>
              <a:t>合成波形での検証では、カーネル2本のときはランダム初期値の 96% が同じ解に収束したのに対し、</a:t>
            </a:r>
          </a:p>
          <a:p>
            <a:r>
              <a:t>6本では 1.3% しか到達しなかった。</a:t>
            </a:r>
          </a:p>
          <a:p>
            <a:endParaRPr/>
          </a:p>
          <a:p>
            <a:r>
              <a:t>■ ④ 残差プロファイルの幅</a:t>
            </a:r>
          </a:p>
          <a:p>
            <a:r>
              <a:t>時間差 T を固定して残りのパラメータだけ最適化し、T を動かしながら残差を描く</a:t>
            </a:r>
          </a:p>
          <a:p>
            <a:r>
              <a:t>（プロファイル法。同定可能性の標準的な診断）。谷が鋭ければ T は決まっており、</a:t>
            </a:r>
          </a:p>
          <a:p>
            <a:r>
              <a:t>平らならデータは T を決めていない。</a:t>
            </a:r>
          </a:p>
          <a:p>
            <a:r>
              <a:t>合成波形での検証では、切痕がある波形では T の区別できない範囲が ±5 ms 未満だったのに対し、</a:t>
            </a:r>
          </a:p>
          <a:p>
            <a:r>
              <a:t>切痕が消えた波形では 75〜110 ms（幅 35 ms）に広がった。</a:t>
            </a:r>
          </a:p>
          <a:p>
            <a:r>
              <a:t>このとき最良解の残差はどちらも 0.9% 前後で同じであり、</a:t>
            </a:r>
          </a:p>
          <a:p>
            <a:r>
              <a:t>残差を見ても不確かさの差はまったく分からない。</a:t>
            </a:r>
          </a:p>
          <a:p>
            <a:endParaRPr/>
          </a:p>
          <a:p>
            <a:r>
              <a:t>■ 麻酔中に運用する場合</a:t>
            </a:r>
          </a:p>
          <a:p>
            <a:r>
              <a:t>当てはめ自体は 1 拍あたりミリ秒〜数百ミリ秒で終わるので、拍ごとの計算は可能である。</a:t>
            </a:r>
          </a:p>
          <a:p>
            <a:r>
              <a:t>ただし 1 拍だけの推定値はばらつくため、拍ごとに当てはめて①〜③で異常拍を弾き、</a:t>
            </a:r>
          </a:p>
          <a:p>
            <a:r>
              <a:t>指標は数拍〜十数拍の移動中央値として表示する設計が扱いやすい。</a:t>
            </a:r>
          </a:p>
          <a:p>
            <a:endParaRPr/>
          </a:p>
          <a:p>
            <a:r>
              <a:t>■ 要点</a:t>
            </a:r>
          </a:p>
          <a:p>
            <a:r>
              <a:t>残差の小ささは当てはまりの指標であって、解の確からしさの指標ではない。</a:t>
            </a:r>
          </a:p>
          <a:p>
            <a:endParaRPr/>
          </a:p>
          <a:p>
            <a:r>
              <a:t>（③④の数値は合成波形による検証例であり、文献値ではない。）</a:t>
            </a:r>
          </a:p>
          <a:p>
            <a:endParaRPr/>
          </a:p>
          <a:p>
            <a:r>
              <a:t>出典：43.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7.4 分解から何が得られるか</a:t>
            </a:r>
          </a:p>
          <a:p>
            <a:endParaRPr/>
          </a:p>
          <a:p>
            <a:r>
              <a:t>分解が終わると、各成分波の（高さ a・位置 μ・幅 σ）が数値として手に入る。</a:t>
            </a:r>
          </a:p>
          <a:p>
            <a:r>
              <a:t>そこから従来の指標を作り直せる。</a:t>
            </a:r>
          </a:p>
          <a:p>
            <a:endParaRPr/>
          </a:p>
          <a:p>
            <a:r>
              <a:t>・時間差 T1_2 ＝ μ₂ − μ₁（第1成分波と第2成分波の頂点の時刻差）</a:t>
            </a:r>
          </a:p>
          <a:p>
            <a:r>
              <a:t>　　→ 従来の ΔT に相当。SI ＝ 身長 ÷ T1_2 として再定義できる。</a:t>
            </a:r>
          </a:p>
          <a:p>
            <a:r>
              <a:t>・振幅比 R1_2 ＝ a₂ / a₁</a:t>
            </a:r>
          </a:p>
          <a:p>
            <a:r>
              <a:t>　　→ 従来の RI（P2/P1）に相当。</a:t>
            </a:r>
          </a:p>
          <a:p>
            <a:r>
              <a:t>・LVET（左室駆出時間）も、収縮期成分の微分解析から推定できる（Couceiro 2012）。</a:t>
            </a:r>
          </a:p>
          <a:p>
            <a:endParaRPr/>
          </a:p>
          <a:p>
            <a:r>
              <a:t>■ 従来法との決定的な違い</a:t>
            </a:r>
          </a:p>
          <a:p>
            <a:r>
              <a:t>従来法は「切痕・P2 という点」が波形上に存在しないと計算できない。</a:t>
            </a:r>
          </a:p>
          <a:p>
            <a:r>
              <a:t>分解法は点を探さないので、切痕が消えている波形（DN-less）でも</a:t>
            </a:r>
          </a:p>
          <a:p>
            <a:r>
              <a:t>μ₂ と a₂ という数値が返ってくる。これが本章の要点である。</a:t>
            </a:r>
          </a:p>
          <a:p>
            <a:endParaRPr/>
          </a:p>
          <a:p>
            <a:r>
              <a:t>■ ただし</a:t>
            </a:r>
          </a:p>
          <a:p>
            <a:r>
              <a:t>Couceiro 2015 では、振幅比 R1_2 はすべての参照値と低相関だった。</a:t>
            </a:r>
          </a:p>
          <a:p>
            <a:r>
              <a:t>時間側の T1_2 でも総末梢血管抵抗係数との相関は ρ=0.45 にとどまる。</a:t>
            </a:r>
          </a:p>
          <a:p>
            <a:r>
              <a:t>値が返ってくることと、その値が臨床的に意味を持つことは別である。</a:t>
            </a:r>
          </a:p>
          <a:p>
            <a:endParaRPr/>
          </a:p>
          <a:p>
            <a:r>
              <a:t>出典：45. Couceiro 2012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C41C-4152-8826-0969-7789F2473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AAD3-5CA5-B9D4-A430-838CF606B5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4C75333-C979-01B5-C5F3-BDF3267A274A}"/>
              </a:ext>
            </a:extLst>
          </p:cNvPr>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a:extLst>
              <a:ext uri="{FF2B5EF4-FFF2-40B4-BE49-F238E27FC236}">
                <a16:creationId xmlns:a16="http://schemas.microsoft.com/office/drawing/2014/main" id="{CAECD2B4-C080-42A6-C3D9-0E7F8D2F9890}"/>
              </a:ext>
            </a:extLst>
          </p:cNvPr>
          <p:cNvSpPr>
            <a:spLocks noGrp="1"/>
          </p:cNvSpPr>
          <p:nvPr>
            <p:ph type="sldNum" sz="quarter" idx="5"/>
          </p:nvPr>
        </p:nvSpPr>
        <p:spPr/>
      </p:sp>
    </p:spTree>
    <p:extLst>
      <p:ext uri="{BB962C8B-B14F-4D97-AF65-F5344CB8AC3E}">
        <p14:creationId xmlns:p14="http://schemas.microsoft.com/office/powerpoint/2010/main" val="410158157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Rubins 2008</a:t>
            </a:r>
          </a:p>
          <a:p>
            <a:endParaRPr/>
          </a:p>
          <a:p>
            <a:r>
              <a:t>Rubins U. Finger and ear photoplethysmogram waveform analysis by fitting with Gaussians. Med Biol Eng Comput 2008;46:1271–6.</a:t>
            </a:r>
          </a:p>
          <a:p>
            <a:endParaRPr/>
          </a:p>
          <a:p>
            <a:r>
              <a:t>比較対照は同一波形から微分法で求めた同じ指標。</a:t>
            </a:r>
          </a:p>
          <a:p>
            <a:r>
              <a:t>「分解由来の RI」の最初期の報告として位置づけられる。</a:t>
            </a:r>
          </a:p>
          <a:p>
            <a:r>
              <a:t>PMID 18855034</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Goswami 2010</a:t>
            </a:r>
          </a:p>
          <a:p>
            <a:endParaRPr/>
          </a:p>
          <a:p>
            <a:r>
              <a:t>Goswami D, et al. A new two-pulse synthesis model for digital volume pulse signal analysis. Cardiovasc Eng 2010;10:109–17.</a:t>
            </a:r>
          </a:p>
          <a:p>
            <a:endParaRPr/>
          </a:p>
          <a:p>
            <a:r>
              <a:t>新指標 differential pulse spread（DPS）も提案している。</a:t>
            </a:r>
          </a:p>
          <a:p>
            <a:r>
              <a:t>基底関数がガウス関数とは限らないことを早くから示した例でもある。</a:t>
            </a:r>
          </a:p>
          <a:p>
            <a:r>
              <a:t>PMID 20734136</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2012</a:t>
            </a:r>
          </a:p>
          <a:p>
            <a:endParaRPr/>
          </a:p>
          <a:p>
            <a:r>
              <a:t>Couceiro R, et al. Multi-Gaussian fitting for the assessment of left ventricular ejection time from the photoplethysmogram. Annu Int Conf IEEE EMBC 2012;2012:3951–4.</a:t>
            </a:r>
          </a:p>
          <a:p>
            <a:endParaRPr/>
          </a:p>
          <a:p>
            <a:r>
              <a:t>比較対照は Chan らの既存 LVET 推定アルゴリズムと心エコー参照値。</a:t>
            </a:r>
          </a:p>
          <a:p>
            <a:r>
              <a:t>PMID 23366792</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2015</a:t>
            </a:r>
          </a:p>
          <a:p>
            <a:endParaRPr/>
          </a:p>
          <a:p>
            <a:r>
              <a:t>Couceiro R, et al. Assessment of cardiovascular function from multi-Gaussian fitting of a finger photoplethysmogram. Physiol Meas 2015;36:1801–25.</a:t>
            </a:r>
          </a:p>
          <a:p>
            <a:endParaRPr/>
          </a:p>
          <a:p>
            <a:r>
              <a:t>本デックにとって最も重要な 1 本。</a:t>
            </a:r>
          </a:p>
          <a:p>
            <a:r>
              <a:t>「分解由来の SI・RI を血圧・総末梢血管抵抗係数と対比する」という設問は</a:t>
            </a:r>
          </a:p>
          <a:p>
            <a:r>
              <a:t>2015 年に既に実施済みであり、しかも成績が芳しくない。</a:t>
            </a:r>
          </a:p>
          <a:p>
            <a:r>
              <a:t>失神を経験した患者では SI と収縮期血圧・平均血圧の一致が最高で 0.57。</a:t>
            </a:r>
          </a:p>
          <a:p>
            <a:r>
              <a:t>→ 主要評価項目は振幅側ではなく時間側に置くべき、という設計上の含意。</a:t>
            </a:r>
          </a:p>
          <a:p>
            <a:r>
              <a:t>PMID 26235798</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Tigges 2017</a:t>
            </a:r>
          </a:p>
          <a:p>
            <a:endParaRPr/>
          </a:p>
          <a:p>
            <a:r>
              <a:t>Tigges T, et al. Model selection for the pulse decomposition analysis of fingertip photoplethysmograms. Annu Int Conf IEEE EMBC 2017;2017:4014–7.</a:t>
            </a:r>
          </a:p>
          <a:p>
            <a:endParaRPr/>
          </a:p>
          <a:p>
            <a:r>
              <a:t>単一の最良モデルは存在しない。</a:t>
            </a:r>
          </a:p>
          <a:p>
            <a:r>
              <a:t>これは分解という逆問題が一意に解けていないことの直接の根拠であり、</a:t>
            </a:r>
          </a:p>
          <a:p>
            <a:r>
              <a:t>分解成分に「前進波」「反射波」という部位名を割り当てること自体の弱さにもつながる。</a:t>
            </a:r>
          </a:p>
          <a:p>
            <a:r>
              <a:t>PMID 29060777</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Fleischhauer</a:t>
            </a:r>
          </a:p>
          <a:p>
            <a:endParaRPr/>
          </a:p>
          <a:p>
            <a:r>
              <a:t>Fleischhauer V, et al. Pulse decomposition analysis in photoplethysmography imaging. Physiol Meas 2020;41:095009.</a:t>
            </a:r>
          </a:p>
          <a:p>
            <a:endParaRPr/>
          </a:p>
          <a:p>
            <a:r>
              <a:t>初期値設定の影響も検討している。</a:t>
            </a:r>
          </a:p>
          <a:p>
            <a:r>
              <a:t>アルゴリズム間の差と初期値依存性を実証した文献。</a:t>
            </a:r>
          </a:p>
          <a:p>
            <a:r>
              <a:t>PMID 33021236</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Basso 2024</a:t>
            </a:r>
          </a:p>
          <a:p>
            <a:endParaRPr/>
          </a:p>
          <a:p>
            <a:r>
              <a:t>Basso G, et al. A skewed-Gaussian model for pulse decomposition analysis of photoplethysmography signals. Physiol Meas 2024;45(11):12507. Bland-Altman でバイアスも評価している（数値は抄録に記載なし）。</a:t>
            </a:r>
          </a:p>
          <a:p>
            <a:r>
              <a:t>基底関数の選択が決着していないことの実例であると同時に、</a:t>
            </a:r>
          </a:p>
          <a:p>
            <a:r>
              <a:t>非対称基底の採用という対策の根拠でもある。</a:t>
            </a:r>
          </a:p>
          <a:p>
            <a:r>
              <a:t>PMID 39577084</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Baruch 2014</a:t>
            </a:r>
          </a:p>
          <a:p>
            <a:endParaRPr/>
          </a:p>
          <a:p>
            <a:r>
              <a:t>Baruch MC, et al. Validation of the pulse decomposition analysis algorithm using central arterial blood pressure. Biomed Eng Online 2014;13:96.</a:t>
            </a:r>
          </a:p>
          <a:p>
            <a:endParaRPr/>
          </a:p>
          <a:p>
            <a:r>
              <a:t>中心ラインカテーテルによる中心動脈圧の実測値と比較。</a:t>
            </a:r>
          </a:p>
          <a:p>
            <a:r>
              <a:t>Bland-Altman は AAMI SP-10 のトレンド基準内。</a:t>
            </a:r>
          </a:p>
          <a:p>
            <a:r>
              <a:t>PDA を製品化している系譜（CareTaker／Vitalstream）があり、</a:t>
            </a:r>
          </a:p>
          <a:p>
            <a:r>
              <a:t>実装を検討する場合は特許調査が別途必要になる。</a:t>
            </a:r>
          </a:p>
          <a:p>
            <a:r>
              <a:t>PMID 25005686</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Pal 2024</a:t>
            </a:r>
          </a:p>
          <a:p>
            <a:endParaRPr/>
          </a:p>
          <a:p>
            <a:r>
              <a:t>Pal R, et al. An algorithm to detect dicrotic notch in arterial blood pressure and photoplethysmography waveforms using the iterative envelope mean method. Comput Methods Programs Biomed 2024;254:108283.</a:t>
            </a:r>
          </a:p>
          <a:p>
            <a:endParaRPr/>
          </a:p>
          <a:p>
            <a:r>
              <a:t>収縮期相持続時間 SPD の相関は PPG で R²=0.98（n=86,764, p&lt;.001）。</a:t>
            </a:r>
          </a:p>
          <a:p>
            <a:r>
              <a:t>SNR −12 dB まで高い検出率を維持。</a:t>
            </a:r>
          </a:p>
          <a:p>
            <a:r>
              <a:t>分解法（PDA）ではなく「切痕を直接検出する」系統の到達点であり、</a:t>
            </a:r>
          </a:p>
          <a:p>
            <a:r>
              <a:t>PDA の比較対象になる。</a:t>
            </a:r>
          </a:p>
          <a:p>
            <a:r>
              <a:t>PMID 38901273</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a:t>
            </a:r>
            <a:r>
              <a:rPr dirty="0" err="1"/>
              <a:t>の限界</a:t>
            </a:r>
            <a:endParaRPr dirty="0"/>
          </a:p>
          <a:p>
            <a:endParaRPr dirty="0"/>
          </a:p>
          <a:p>
            <a:r>
              <a:rPr dirty="0"/>
              <a:t>① </a:t>
            </a:r>
            <a:r>
              <a:rPr dirty="0" err="1"/>
              <a:t>逆問題が一意に解けていない</a:t>
            </a:r>
            <a:endParaRPr dirty="0"/>
          </a:p>
          <a:p>
            <a:r>
              <a:rPr dirty="0"/>
              <a:t>　　</a:t>
            </a:r>
            <a:r>
              <a:rPr dirty="0" err="1"/>
              <a:t>Gaussian／Gamma／skewed-Gaussian／Rayleigh、カーネル数</a:t>
            </a:r>
            <a:r>
              <a:rPr dirty="0"/>
              <a:t> 2〜5 </a:t>
            </a:r>
            <a:r>
              <a:rPr dirty="0" err="1"/>
              <a:t>と研究ごとに最良が異なる</a:t>
            </a:r>
            <a:endParaRPr dirty="0"/>
          </a:p>
          <a:p>
            <a:r>
              <a:rPr dirty="0"/>
              <a:t>　　（Tigges 2017 </a:t>
            </a:r>
            <a:r>
              <a:rPr dirty="0" err="1"/>
              <a:t>の総当たりで最頻モデルでも</a:t>
            </a:r>
            <a:r>
              <a:rPr dirty="0"/>
              <a:t> 28.1%）。Basso 2024 </a:t>
            </a:r>
            <a:r>
              <a:rPr dirty="0" err="1"/>
              <a:t>が示した初期値依存性も</a:t>
            </a:r>
            <a:endParaRPr dirty="0"/>
          </a:p>
          <a:p>
            <a:r>
              <a:rPr dirty="0"/>
              <a:t>　　</a:t>
            </a:r>
            <a:r>
              <a:rPr dirty="0" err="1"/>
              <a:t>同じ根を持つ</a:t>
            </a:r>
            <a:r>
              <a:rPr dirty="0"/>
              <a:t>。</a:t>
            </a:r>
          </a:p>
          <a:p>
            <a:endParaRPr dirty="0"/>
          </a:p>
          <a:p>
            <a:r>
              <a:rPr dirty="0"/>
              <a:t>② </a:t>
            </a:r>
            <a:r>
              <a:rPr dirty="0" err="1"/>
              <a:t>物理的な帰属が数値モデルから支持されていない</a:t>
            </a:r>
            <a:endParaRPr dirty="0"/>
          </a:p>
          <a:p>
            <a:r>
              <a:rPr dirty="0"/>
              <a:t>　　Epstein 2014 </a:t>
            </a:r>
            <a:r>
              <a:rPr dirty="0" err="1"/>
              <a:t>は手の主要動脈を含む</a:t>
            </a:r>
            <a:r>
              <a:rPr dirty="0"/>
              <a:t> 75 </a:t>
            </a:r>
            <a:r>
              <a:rPr dirty="0" err="1"/>
              <a:t>本の動脈網を表現した非線形</a:t>
            </a:r>
            <a:r>
              <a:rPr dirty="0"/>
              <a:t> 1 </a:t>
            </a:r>
            <a:r>
              <a:rPr dirty="0" err="1"/>
              <a:t>次元モデルで</a:t>
            </a:r>
            <a:r>
              <a:rPr dirty="0"/>
              <a:t>、</a:t>
            </a:r>
          </a:p>
          <a:p>
            <a:r>
              <a:rPr dirty="0"/>
              <a:t>　　SI </a:t>
            </a:r>
            <a:r>
              <a:rPr dirty="0" err="1"/>
              <a:t>が大動脈</a:t>
            </a:r>
            <a:r>
              <a:rPr dirty="0"/>
              <a:t> PWV </a:t>
            </a:r>
            <a:r>
              <a:rPr dirty="0" err="1"/>
              <a:t>の直接の代用ではないこと、さらに</a:t>
            </a:r>
            <a:endParaRPr dirty="0"/>
          </a:p>
          <a:p>
            <a:r>
              <a:rPr dirty="0"/>
              <a:t>　　**</a:t>
            </a:r>
            <a:r>
              <a:rPr dirty="0" err="1"/>
              <a:t>第</a:t>
            </a:r>
            <a:r>
              <a:rPr dirty="0"/>
              <a:t> 2 </a:t>
            </a:r>
            <a:r>
              <a:rPr dirty="0" err="1"/>
              <a:t>ピークは末梢反射ではなく動脈網内部のインピーダンス不整合が主因</a:t>
            </a:r>
            <a:r>
              <a:rPr dirty="0"/>
              <a:t>**</a:t>
            </a:r>
            <a:r>
              <a:rPr dirty="0" err="1"/>
              <a:t>であり</a:t>
            </a:r>
            <a:r>
              <a:rPr dirty="0"/>
              <a:t>、</a:t>
            </a:r>
          </a:p>
          <a:p>
            <a:r>
              <a:rPr dirty="0"/>
              <a:t>　　</a:t>
            </a:r>
            <a:r>
              <a:rPr dirty="0" err="1"/>
              <a:t>上肢の末梢反射はむしろ第</a:t>
            </a:r>
            <a:r>
              <a:rPr dirty="0"/>
              <a:t> 1 </a:t>
            </a:r>
            <a:r>
              <a:rPr dirty="0" err="1"/>
              <a:t>ピークの到達時刻を遅らせることを示した</a:t>
            </a:r>
            <a:r>
              <a:rPr dirty="0"/>
              <a:t>。</a:t>
            </a:r>
          </a:p>
          <a:p>
            <a:r>
              <a:rPr dirty="0"/>
              <a:t>　　「2 </a:t>
            </a:r>
            <a:r>
              <a:rPr dirty="0" err="1"/>
              <a:t>番目の山＝末梢からの反射波」というラベルは自明ではない</a:t>
            </a:r>
            <a:r>
              <a:rPr dirty="0"/>
              <a:t>。</a:t>
            </a:r>
          </a:p>
          <a:p>
            <a:r>
              <a:rPr dirty="0"/>
              <a:t>　　</a:t>
            </a:r>
            <a:r>
              <a:rPr dirty="0" err="1"/>
              <a:t>当てはまりがいくら改善しても、この帰属が誤っていれば</a:t>
            </a:r>
            <a:endParaRPr dirty="0"/>
          </a:p>
          <a:p>
            <a:r>
              <a:rPr dirty="0"/>
              <a:t>　　</a:t>
            </a:r>
            <a:r>
              <a:rPr dirty="0" err="1"/>
              <a:t>そこから作った</a:t>
            </a:r>
            <a:r>
              <a:rPr dirty="0"/>
              <a:t> RI・SI </a:t>
            </a:r>
            <a:r>
              <a:rPr dirty="0" err="1"/>
              <a:t>の生理学的意味は変わってしまう</a:t>
            </a:r>
            <a:r>
              <a:rPr dirty="0"/>
              <a:t>。</a:t>
            </a:r>
          </a:p>
          <a:p>
            <a:endParaRPr dirty="0"/>
          </a:p>
          <a:p>
            <a:r>
              <a:rPr dirty="0"/>
              <a:t>③ </a:t>
            </a:r>
            <a:r>
              <a:rPr dirty="0" err="1"/>
              <a:t>振幅側の成績が一貫して弱い</a:t>
            </a:r>
            <a:endParaRPr dirty="0"/>
          </a:p>
          <a:p>
            <a:r>
              <a:rPr dirty="0"/>
              <a:t>　　Couceiro 2015 </a:t>
            </a:r>
            <a:r>
              <a:rPr dirty="0" err="1"/>
              <a:t>の</a:t>
            </a:r>
            <a:r>
              <a:rPr dirty="0"/>
              <a:t> R1_2（モデル由来の </a:t>
            </a:r>
            <a:r>
              <a:rPr dirty="0" err="1"/>
              <a:t>RI）はすべての参照値と低相関</a:t>
            </a:r>
            <a:r>
              <a:rPr dirty="0"/>
              <a:t>。</a:t>
            </a:r>
          </a:p>
          <a:p>
            <a:r>
              <a:rPr dirty="0"/>
              <a:t>　　</a:t>
            </a:r>
            <a:r>
              <a:rPr dirty="0" err="1"/>
              <a:t>時間側の</a:t>
            </a:r>
            <a:r>
              <a:rPr dirty="0"/>
              <a:t> T1_2 </a:t>
            </a:r>
            <a:r>
              <a:rPr dirty="0" err="1"/>
              <a:t>ですら</a:t>
            </a:r>
            <a:r>
              <a:rPr dirty="0"/>
              <a:t> TPRI </a:t>
            </a:r>
            <a:r>
              <a:rPr dirty="0" err="1"/>
              <a:t>との</a:t>
            </a:r>
            <a:r>
              <a:rPr dirty="0"/>
              <a:t> </a:t>
            </a:r>
            <a:r>
              <a:rPr dirty="0" err="1"/>
              <a:t>ρ</a:t>
            </a:r>
            <a:r>
              <a:rPr dirty="0"/>
              <a:t>=0.45 </a:t>
            </a:r>
            <a:r>
              <a:rPr dirty="0" err="1"/>
              <a:t>にとどまる</a:t>
            </a:r>
            <a:r>
              <a:rPr dirty="0"/>
              <a:t>。</a:t>
            </a:r>
          </a:p>
          <a:p>
            <a:endParaRPr dirty="0"/>
          </a:p>
          <a:p>
            <a:r>
              <a:rPr dirty="0"/>
              <a:t>→ </a:t>
            </a:r>
            <a:r>
              <a:rPr dirty="0" err="1"/>
              <a:t>検証設計としては、真値が既知の仮想被験者データベース（Charlton</a:t>
            </a:r>
            <a:r>
              <a:rPr dirty="0"/>
              <a:t> 2019）で</a:t>
            </a:r>
          </a:p>
          <a:p>
            <a:r>
              <a:rPr dirty="0"/>
              <a:t>　 </a:t>
            </a:r>
            <a:r>
              <a:rPr dirty="0" err="1"/>
              <a:t>先に帰属を確かめるのが筋である</a:t>
            </a:r>
            <a:r>
              <a:rPr dirty="0"/>
              <a:t>。</a:t>
            </a:r>
          </a:p>
          <a:p>
            <a:endParaRPr dirty="0"/>
          </a:p>
          <a:p>
            <a:r>
              <a:rPr dirty="0"/>
              <a:t>出典：42. Couceiro 2015 ／ 43. Tigges 2017 ／ 44. Basso 2024 ／ 47. Epstein 2014</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基底関数のパラメータ ― a・μ・σ</a:t>
            </a:r>
          </a:p>
          <a:p/>
          <a:p>
            <a:r>
              <a:t>成分波1本は、高さ a・位置 μ・幅 σ の3つの数字で決まる。</a:t>
            </a:r>
          </a:p>
          <a:p>
            <a:r>
              <a:t>カーネルを N 本使えばパラメータは 3N 個になり、当てはめとはこの 3N 個を決める作業である。</a:t>
            </a:r>
          </a:p>
          <a:p/>
          <a:p>
            <a:r>
              <a:t>・a（高さ）… 成分波の振幅。第2成分波の a₂ と第1成分波の a₁ の比 a₂/a₁ が RI に対応する。</a:t>
            </a:r>
          </a:p>
          <a:p>
            <a:r>
              <a:t>・μ（位置）… 頂点が来る時刻。μ₂ − μ₁ が T1_2 で、SI に対応する。</a:t>
            </a:r>
          </a:p>
          <a:p>
            <a:r>
              <a:t>・σ（幅）… 山の広がり。図では頂点の高さの約 0.607 倍（e^−0.5 倍）になる点までの距離として</a:t>
            </a:r>
          </a:p>
          <a:p>
            <a:r>
              <a:t>　示している。ガウス関数では半値全幅 ＝ 2.355σ の関係にあり、初期値を作るときは</a:t>
            </a:r>
          </a:p>
          <a:p>
            <a:r>
              <a:t>　半値全幅 ÷ 2.355 で σ を見積もることが多い。</a:t>
            </a:r>
          </a:p>
          <a:p/>
          <a:p>
            <a:r>
              <a:t>■ 基底関数によって μ の意味が変わる</a:t>
            </a:r>
          </a:p>
          <a:p>
            <a:r>
              <a:t>Gaussian は μ が頂点の時刻だが、Rayleigh は μ が立ち上がりの時刻で頂点は μ+σ に来る。</a:t>
            </a:r>
          </a:p>
          <a:p>
            <a:r>
              <a:t>Gamma は形状・尺度パラメータの組で表す。</a:t>
            </a:r>
          </a:p>
          <a:p>
            <a:r>
              <a:t>ランドマークから初期値を作るときは、この違いに応じて変換式を変える必要がある。</a:t>
            </a:r>
          </a:p>
          <a:p/>
          <a:p>
            <a:r>
              <a:t>出典：40. Rubins 2008 ／ 43. Tigges 2017</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初期値の決め方 ― 図解</a:t>
            </a:r>
          </a:p>
          <a:p/>
          <a:p>
            <a:r>
              <a:t>a　ランドマーク方式（主流）</a:t>
            </a:r>
          </a:p>
          <a:p>
            <a:r>
              <a:t>　1次微分でピーク、2次微分で変曲点・肩を検出し、その時刻を成分波の位置 μ の初期値にする。</a:t>
            </a:r>
          </a:p>
          <a:p>
            <a:r>
              <a:t>　図では上段が波形、下段が2次微分で、赤点が初期値として使う時刻。</a:t>
            </a:r>
          </a:p>
          <a:p>
            <a:r>
              <a:t>　高さ a はその時刻の振幅、幅 σ は半値全幅 ÷ 2.355 から見積もる。</a:t>
            </a:r>
          </a:p>
          <a:p>
            <a:r>
              <a:t>　弱点は DN-less 波形で、目印が消えるのではなく弱くなってノイズと区別できなくなること。</a:t>
            </a:r>
          </a:p>
          <a:p>
            <a:r>
              <a:t>　Pal 2024 では、2次微分法による重複切痕の検出誤差 0.0968 秒（SD 0.0909）に対し、</a:t>
            </a:r>
          </a:p>
          <a:p>
            <a:r>
              <a:t>　IEM 法は 0.0046 秒（SD 0.0029）で、桁が違う。</a:t>
            </a:r>
          </a:p>
          <a:p/>
          <a:p>
            <a:r>
              <a:t>b　前の拍を引き継ぐ</a:t>
            </a:r>
          </a:p>
          <a:p>
            <a:r>
              <a:t>　直前の拍で得た解（塗りつぶし）を、この拍の初期値（白抜き）にそのまま持ち込む。</a:t>
            </a:r>
          </a:p>
          <a:p>
            <a:r>
              <a:t>　目印に依存せず、指標が拍ごとに跳ばないので、麻酔導入時のようにトーヌスが動く場面の</a:t>
            </a:r>
          </a:p>
          <a:p>
            <a:r>
              <a:t>　トレンド表示に向く。ただし前の拍が誤っていると引きずるので、外れ値の棄却と併用する。</a:t>
            </a:r>
          </a:p>
          <a:p/>
          <a:p>
            <a:r>
              <a:t>c　多点スタート</a:t>
            </a:r>
          </a:p>
          <a:p>
            <a:r>
              <a:t>　出発点を多数ばらまき、最も残差の小さい解を採る。初期値依存を避けられるが計算量は増える。</a:t>
            </a:r>
          </a:p>
          <a:p>
            <a:r>
              <a:t>　カーネル2本なら1拍あたり数ミリ秒なので、数点スタートでも麻酔中のリアルタイム処理に収まる。</a:t>
            </a:r>
          </a:p>
          <a:p/>
          <a:p>
            <a:r>
              <a:t>■ 3方式は併用できる</a:t>
            </a:r>
          </a:p>
          <a:p>
            <a:r>
              <a:t>排他ではない。3種を並行に走らせて最も残差の小さい解を採れば、</a:t>
            </a:r>
          </a:p>
          <a:p>
            <a:r>
              <a:t>複数の出発点が同じ解に収束したかどうかが、そのまま収束の検算になる。</a:t>
            </a:r>
          </a:p>
          <a:p/>
          <a:p>
            <a:r>
              <a:t>出典：42. Couceiro 2015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当てはめの選び方 ― 標準の2つ</a:t>
            </a:r>
          </a:p>
          <a:p/>
          <a:p>
            <a:r>
              <a:t>■ 目的関数の標準：残差平方和（RSS）</a:t>
            </a:r>
          </a:p>
          <a:p>
            <a:r>
              <a:t>実測とモデルの縦の差（残差）を二乗して全時点で合計したものを最小にする。</a:t>
            </a:r>
          </a:p>
          <a:p>
            <a:r>
              <a:t>二乗するのは、符号を消すため、大きなズレを重く見るため、微分できて計算しやすいため。</a:t>
            </a:r>
          </a:p>
          <a:p>
            <a:r>
              <a:t>統計的な裏づけもあり、ノイズが平均ゼロ・分散一定の正規分布に従い各時点で独立であれば、</a:t>
            </a:r>
          </a:p>
          <a:p>
            <a:r>
              <a:t>RSS を最小にするパラメータは最尤推定値と厳密に一致する。べき指数は仮定したノイズ分布が</a:t>
            </a:r>
          </a:p>
          <a:p>
            <a:r>
              <a:t>決めており、恣意的な選択ではない。</a:t>
            </a:r>
          </a:p>
          <a:p>
            <a:r>
              <a:t>なお三乗にすると外れ値の影響がさらに強くなる。合成波形の検証では、振幅の 55% の外れ値を</a:t>
            </a:r>
          </a:p>
          <a:p>
            <a:r>
              <a:t>1点混ぜたとき、反射波の位置の推定値が二乗で 1.7 ms、三乗で 54.1 ms ずれた。</a:t>
            </a:r>
          </a:p>
          <a:p>
            <a:r>
              <a:t>実務でべき指数を変えるときは下げる方向（Huber・絶対値）で、上げる方向は使われない。</a:t>
            </a:r>
          </a:p>
          <a:p/>
          <a:p>
            <a:r>
              <a:t>■ 探索法の標準：Levenberg–Marquardt 法</a:t>
            </a:r>
          </a:p>
          <a:p>
            <a:r>
              <a:t>6 つの数字（a₁ μ₁ σ₁ a₂ μ₂ σ₂）を、1 反復でいっせいに更新する。1 回の更新は3段階。</a:t>
            </a:r>
          </a:p>
          <a:p>
            <a:r>
              <a:t>　① 6 つそれぞれについて「少し動かすと合成波がどう動くか」を計算する（感度）</a:t>
            </a:r>
          </a:p>
          <a:p>
            <a:r>
              <a:t>　② その感度から「これだけ動かせば残差がゼロになるはず」という一手を連立方程式で解く</a:t>
            </a:r>
          </a:p>
          <a:p>
            <a:r>
              <a:t>　③ 実際に動かして良くなったか確かめる。良くなれば採用して次は大胆に、</a:t>
            </a:r>
          </a:p>
          <a:p>
            <a:r>
              <a:t>　　 悪くなれば棄却して同じ場所からもっと小刻みに解き直す（減衰係数 λ の役割）</a:t>
            </a:r>
          </a:p>
          <a:p>
            <a:r>
              <a:t>合成波形での実測では、反復1が棄却、反復2〜5で大きく改善し、反復6で残差 1.2022% に到達。</a:t>
            </a:r>
          </a:p>
          <a:p>
            <a:r>
              <a:t>以降は小数第4位以下しか動かず、実質的な仕事は最初の5〜6回で終わっていた。</a:t>
            </a:r>
          </a:p>
          <a:p/>
          <a:p>
            <a:r>
              <a:t>■ 停止条件は4つ</a:t>
            </a:r>
          </a:p>
          <a:p>
            <a:r>
              <a:t>　・残差がもう減らない（相対的な減少が閾値未満）… 実用上はこれで止まる</a:t>
            </a:r>
          </a:p>
          <a:p>
            <a:r>
              <a:t>　・パラメータがもう動かない（一手の大きさが閾値未満）</a:t>
            </a:r>
          </a:p>
          <a:p>
            <a:r>
              <a:t>　・勾配がほぼゼロ（下る方向がもう無い）</a:t>
            </a:r>
          </a:p>
          <a:p>
            <a:r>
              <a:t>　・反復回数の上限（収束しなくても打ち切る）</a:t>
            </a:r>
          </a:p>
          <a:p>
            <a:r>
              <a:t>最後の1つで打ち切られた場合、返るのは収束していない途中の値なのに、見た目は普通の推定値と</a:t>
            </a:r>
          </a:p>
          <a:p>
            <a:r>
              <a:t>区別がつかない。終了理由を確認せずに値だけ使うのは危険で、これが収束の検算が要る理由の一つ。</a:t>
            </a:r>
          </a:p>
          <a:p/>
          <a:p>
            <a:r>
              <a:t>（数値は合成波形による検証例であり、文献値ではない。）</a:t>
            </a:r>
          </a:p>
          <a:p/>
          <a:p>
            <a:r>
              <a:t>出典：42. Couceiro 2015 ／ 44. Basso 2024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2" name="Off-page Connector 4">
            <a:extLst>
              <a:ext uri="{FF2B5EF4-FFF2-40B4-BE49-F238E27FC236}">
                <a16:creationId xmlns:a16="http://schemas.microsoft.com/office/drawing/2014/main" id="{32CBB9D4-72FC-CE51-CD8B-FDB4CF9593A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BBB0670E-8FB2-AC3B-96A2-C01F2B37CDC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428407F8-90F9-7A3F-9A34-CC570C2CA47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89C7F27-A16F-4EF6-7A91-EB05CEE76A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7D6E77E0-89EF-FA99-E9A8-75B42B3E7E9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0456716" y="6615533"/>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2/72</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504934" y="4493906"/>
            <a:ext cx="4175519"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573514" y="4717739"/>
            <a:ext cx="4038358" cy="1189847"/>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504934" y="5266379"/>
            <a:ext cx="4175518" cy="919646"/>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4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2/72</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59536" y="1536192"/>
            <a:ext cx="10579608" cy="4956048"/>
          </a:xfrm>
          <a:prstGeom prst="rect">
            <a:avLst/>
          </a:prstGeom>
          <a:noFill/>
        </p:spPr>
        <p:txBody>
          <a:bodyPr wrap="square" lIns="0" tIns="0" rIns="0" bIns="0" anchor="ctr">
            <a:spAutoFit/>
          </a:bodyPr>
          <a:lstStyle/>
          <a:p>
            <a:pPr>
              <a:lnSpc>
                <a:spcPct val="145000"/>
              </a:lnSpc>
            </a:pPr>
            <a:r>
              <a:rPr sz="3400" b="1">
                <a:solidFill>
                  <a:srgbClr val="BF9000"/>
                </a:solidFill>
                <a:latin typeface="Meiryo"/>
                <a:ea typeface="Meiryo"/>
                <a:cs typeface="Meiryo"/>
              </a:rPr>
              <a:t>1. </a:t>
            </a:r>
            <a:r>
              <a:rPr sz="3400" b="1">
                <a:solidFill>
                  <a:srgbClr val="262626"/>
                </a:solidFill>
                <a:latin typeface="Meiryo"/>
                <a:ea typeface="Meiryo"/>
                <a:cs typeface="Meiryo"/>
              </a:rPr>
              <a:t>PPGの基礎</a:t>
            </a:r>
          </a:p>
          <a:p>
            <a:pPr>
              <a:lnSpc>
                <a:spcPct val="145000"/>
              </a:lnSpc>
            </a:pPr>
            <a:r>
              <a:rPr sz="3400" b="1">
                <a:solidFill>
                  <a:srgbClr val="BF9000"/>
                </a:solidFill>
                <a:latin typeface="Meiryo"/>
                <a:ea typeface="Meiryo"/>
                <a:cs typeface="Meiryo"/>
              </a:rPr>
              <a:t>2. </a:t>
            </a:r>
            <a:r>
              <a:rPr sz="3400" b="1">
                <a:solidFill>
                  <a:srgbClr val="262626"/>
                </a:solidFill>
                <a:latin typeface="Meiryo"/>
                <a:ea typeface="Meiryo"/>
                <a:cs typeface="Meiryo"/>
              </a:rPr>
              <a:t>波形への影響</a:t>
            </a:r>
          </a:p>
          <a:p>
            <a:pPr>
              <a:lnSpc>
                <a:spcPct val="145000"/>
              </a:lnSpc>
            </a:pPr>
            <a:r>
              <a:rPr sz="3400" b="1">
                <a:solidFill>
                  <a:srgbClr val="BF9000"/>
                </a:solidFill>
                <a:latin typeface="Meiryo"/>
                <a:ea typeface="Meiryo"/>
                <a:cs typeface="Meiryo"/>
              </a:rPr>
              <a:t>3. </a:t>
            </a:r>
            <a:r>
              <a:rPr sz="3400" b="1">
                <a:solidFill>
                  <a:srgbClr val="262626"/>
                </a:solidFill>
                <a:latin typeface="Meiryo"/>
                <a:ea typeface="Meiryo"/>
                <a:cs typeface="Meiryo"/>
              </a:rPr>
              <a:t>波形の定量化</a:t>
            </a:r>
          </a:p>
          <a:p>
            <a:pPr>
              <a:lnSpc>
                <a:spcPct val="145000"/>
              </a:lnSpc>
            </a:pPr>
            <a:r>
              <a:rPr sz="3400" b="1">
                <a:solidFill>
                  <a:srgbClr val="BF9000"/>
                </a:solidFill>
                <a:latin typeface="Meiryo"/>
                <a:ea typeface="Meiryo"/>
                <a:cs typeface="Meiryo"/>
              </a:rPr>
              <a:t>4. </a:t>
            </a:r>
            <a:r>
              <a:rPr sz="3400" b="1">
                <a:solidFill>
                  <a:srgbClr val="262626"/>
                </a:solidFill>
                <a:latin typeface="Meiryo"/>
                <a:ea typeface="Meiryo"/>
                <a:cs typeface="Meiryo"/>
              </a:rPr>
              <a:t>限界</a:t>
            </a:r>
          </a:p>
          <a:p>
            <a:pPr>
              <a:lnSpc>
                <a:spcPct val="145000"/>
              </a:lnSpc>
            </a:pPr>
            <a:r>
              <a:rPr sz="3400" b="1">
                <a:solidFill>
                  <a:srgbClr val="BF9000"/>
                </a:solidFill>
                <a:latin typeface="Meiryo"/>
                <a:ea typeface="Meiryo"/>
                <a:cs typeface="Meiryo"/>
              </a:rPr>
              <a:t>5. </a:t>
            </a:r>
            <a:r>
              <a:rPr sz="3400" b="1">
                <a:solidFill>
                  <a:srgbClr val="262626"/>
                </a:solidFill>
                <a:latin typeface="Meiryo"/>
                <a:ea typeface="Meiryo"/>
                <a:cs typeface="Meiryo"/>
              </a:rPr>
              <a:t>PDA（波形分解）</a:t>
            </a: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A9D36CE-3772-F005-B54C-9329ADA7F08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01E0A5A-858A-8F2B-FBB6-6D1BA67FFAF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4E62E14-CF5D-EBCC-627E-B7B49B8D7B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4007B9C-4CFC-CD55-E599-C1CA9B596D0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22D81F5-A6DB-CCD5-0FBD-589BB65E18A2}"/>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パルスオキシメーターはどのように</a:t>
            </a:r>
            <a:r>
              <a:rPr lang="en-US" altLang="ja-JP" dirty="0">
                <a:latin typeface="+mj-ea"/>
                <a:ea typeface="+mj-ea"/>
              </a:rPr>
              <a:t>SaO2</a:t>
            </a:r>
            <a:r>
              <a:rPr lang="ja-JP" altLang="en-US">
                <a:latin typeface="+mj-ea"/>
                <a:ea typeface="+mj-ea"/>
              </a:rPr>
              <a:t>を推定しているのか？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5/72</a:t>
            </a:r>
          </a:p>
        </p:txBody>
      </p:sp>
    </p:spTree>
    <p:extLst>
      <p:ext uri="{BB962C8B-B14F-4D97-AF65-F5344CB8AC3E}">
        <p14:creationId xmlns:p14="http://schemas.microsoft.com/office/powerpoint/2010/main" val="14363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8E0C622D-099F-3BC2-502E-CA90E240FE4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C3E3CA0A-6432-5BF5-4E88-00101C7C8F2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D1FED4B9-71C9-D8E8-F0F6-0211DC785F0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48402B-7E67-103C-3AAE-637FE8C8366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19683B-9818-6005-6ED1-8ED17FE30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56551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996C8E-94C0-375A-90F8-A6FBE470E85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2F7F1A20-200D-89FF-D5E5-7F6A57BDFF4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481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78B1DB27-8E8F-CEF8-2CB9-5E534D1EEF2D}"/>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2CD04F2-1C84-27A7-E0B7-AD77CDE12A4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852448D-4A81-7AAC-B5E7-3557C8B0646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4FF3A9C-68FD-35EC-C080-80904DED80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EE56CE6-37DD-F462-84D4-0EA06909920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3714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18F264E-EDA4-8488-BE23-4CC9C5BCC0D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B9CA89B-D756-D82D-651F-22549BC6D39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4AF7B09-D6FC-9667-1F0B-E09BE716FF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4A8DF70-A28C-38E6-0D07-941534B183A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8C49741A-BCD1-C630-9ED6-2EEA7C756F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3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EB68108E-D56D-D2FE-6A95-6AFF4141C08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9B98BAC-ED75-3091-DFD4-2055811DC18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070F443-ED2C-E481-8075-6BF6CD4B953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E7ABE82-AE34-DBD8-51F8-C576F890DA6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A1766E-8FDE-2D67-EAA8-9CF5A0E8BD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719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51514755-D727-039C-97EF-F111B7D0E4E0}"/>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FAF4D02A-E95F-3ED3-56DA-7A760F80A9D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AC11D3C-C6C9-6C7B-69AA-54886D6B678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C01BD48-408B-FFEA-38CD-2EFBF2C721C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A479A1A-9188-6C69-8D9E-0207089C5BA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297305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62003C50-0946-BE08-1DCB-782C001E016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6E08B49-D90C-0AF3-512D-2BC21FD0CC5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05A4842-4D68-85CD-9430-3D539DA8DE4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D19E03E-C126-A196-7C93-6AD210386A6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0AC3373A-18C8-EBE5-BDC9-E07163E7BE4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420751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FF32DBAC-C626-61BC-431C-BFD4D3725BDA}"/>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EC775667-C64E-846A-F7FB-2049EF8F069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BE0793C-A633-62EF-B32A-975B4754EEB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0C9124B-56CC-A567-DCEE-BCB595F8ACB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EA8FFDD-4534-1A5C-5494-90ABB37335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sp>
        <p:nvSpPr>
          <p:cNvPr id="4" name="TextBox 18">
            <a:extLst>
              <a:ext uri="{FF2B5EF4-FFF2-40B4-BE49-F238E27FC236}">
                <a16:creationId xmlns:a16="http://schemas.microsoft.com/office/drawing/2014/main" id="{7BE2AC6C-5E04-2BB8-5CFB-211FCC713823}"/>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1755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24" name="Off-page Connector 4">
            <a:extLst>
              <a:ext uri="{FF2B5EF4-FFF2-40B4-BE49-F238E27FC236}">
                <a16:creationId xmlns:a16="http://schemas.microsoft.com/office/drawing/2014/main" id="{C104181C-0595-D25E-7899-9F2DCB22F14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3" name="Off-page Connector 5">
            <a:extLst>
              <a:ext uri="{FF2B5EF4-FFF2-40B4-BE49-F238E27FC236}">
                <a16:creationId xmlns:a16="http://schemas.microsoft.com/office/drawing/2014/main" id="{EA49AC02-5603-00BB-9B05-6D21BBB5361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4" name="Off-page Connector 6">
            <a:extLst>
              <a:ext uri="{FF2B5EF4-FFF2-40B4-BE49-F238E27FC236}">
                <a16:creationId xmlns:a16="http://schemas.microsoft.com/office/drawing/2014/main" id="{7A5D9E57-43B6-61F5-36A0-644FFF1B3D9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5" name="Off-page Connector 7">
            <a:extLst>
              <a:ext uri="{FF2B5EF4-FFF2-40B4-BE49-F238E27FC236}">
                <a16:creationId xmlns:a16="http://schemas.microsoft.com/office/drawing/2014/main" id="{07F9C134-3BEB-BE77-FA16-60912303DD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 name="Off-page Connector 8">
            <a:extLst>
              <a:ext uri="{FF2B5EF4-FFF2-40B4-BE49-F238E27FC236}">
                <a16:creationId xmlns:a16="http://schemas.microsoft.com/office/drawing/2014/main" id="{3371D76A-1D43-0092-31D3-891C741D4E7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0688F5D-D548-0A86-F3D6-30A76BA0AE93}"/>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0916281-6882-F039-A2CF-2DC1C57137C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8/72</a:t>
            </a:r>
          </a:p>
        </p:txBody>
      </p:sp>
    </p:spTree>
    <p:extLst>
      <p:ext uri="{BB962C8B-B14F-4D97-AF65-F5344CB8AC3E}">
        <p14:creationId xmlns:p14="http://schemas.microsoft.com/office/powerpoint/2010/main" val="34517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DFA500C-62FD-C61C-440B-D282AE95D768}"/>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89610E2-4A20-D8D1-36A7-2042EF05F69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369948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5A3A22C-DD21-2A35-E6D4-D71B8EE9CEC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97994337-F97D-F511-039A-36C0B616600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4C41C884-4F38-6BE1-7757-C4929BD12A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E9007E8-091B-2031-20CE-927B601E4A2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F288B1B-105A-B675-DBBE-6EE6B929B8C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1376433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CF05AF-A6AE-3792-77C3-0945EDDA239B}"/>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FB85EB6-3472-5741-36C2-EEFFB2FF48B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25087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a:solidFill>
                  <a:srgbClr val="262626"/>
                </a:solidFill>
                <a:latin typeface="Meiryo"/>
                <a:ea typeface="Meiryo"/>
                <a:cs typeface="Meiryo"/>
              </a:rPr>
              <a:t>赤色光と赤外光の</a:t>
            </a:r>
          </a:p>
          <a:p>
            <a:pPr algn="l">
              <a:lnSpc>
                <a:spcPct val="120000"/>
              </a:lnSpc>
              <a:spcAft>
                <a:spcPts val="600"/>
              </a:spcAft>
            </a:pPr>
            <a:r>
              <a:rPr sz="2300" b="0">
                <a:solidFill>
                  <a:srgbClr val="262626"/>
                </a:solidFill>
                <a:latin typeface="Meiryo"/>
                <a:ea typeface="Meiryo"/>
                <a:cs typeface="Meiryo"/>
              </a:rPr>
              <a:t>吸収の比 R を</a:t>
            </a:r>
          </a:p>
          <a:p>
            <a:pPr algn="l">
              <a:lnSpc>
                <a:spcPct val="120000"/>
              </a:lnSpc>
              <a:spcAft>
                <a:spcPts val="600"/>
              </a:spcAft>
            </a:pPr>
            <a:r>
              <a:rPr sz="2300" b="0">
                <a:solidFill>
                  <a:srgbClr val="262626"/>
                </a:solidFill>
                <a:latin typeface="Meiryo"/>
                <a:ea typeface="Meiryo"/>
                <a:cs typeface="Meiryo"/>
              </a:rPr>
              <a:t>健常者の較正表に</a:t>
            </a:r>
          </a:p>
          <a:p>
            <a:pPr algn="l">
              <a:lnSpc>
                <a:spcPct val="120000"/>
              </a:lnSpc>
              <a:spcAft>
                <a:spcPts val="600"/>
              </a:spcAft>
            </a:pPr>
            <a:r>
              <a:rPr sz="2300" b="0">
                <a:solidFill>
                  <a:srgbClr val="262626"/>
                </a:solidFill>
                <a:latin typeface="Meiryo"/>
                <a:ea typeface="Meiryo"/>
                <a:cs typeface="Meiryo"/>
              </a:rPr>
              <a:t>当てはめた推定値</a:t>
            </a: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1049305"/>
          </a:xfrm>
          <a:prstGeom prst="rect">
            <a:avLst/>
          </a:prstGeom>
          <a:noFill/>
        </p:spPr>
        <p:txBody>
          <a:bodyPr wrap="square" lIns="0" tIns="0" rIns="0" bIns="0" anchor="t">
            <a:spAutoFit/>
          </a:bodyPr>
          <a:lstStyle/>
          <a:p>
            <a:pPr algn="ctr">
              <a:spcAft>
                <a:spcPts val="400"/>
              </a:spcAft>
            </a:pPr>
            <a:r>
              <a:rPr lang="en-US" altLang="ja-JP" sz="2700" b="1" dirty="0" err="1">
                <a:solidFill>
                  <a:srgbClr val="262626"/>
                </a:solidFill>
                <a:latin typeface="Meiryo"/>
                <a:ea typeface="Meiryo"/>
                <a:cs typeface="Meiryo"/>
              </a:rPr>
              <a:t>PPG</a:t>
            </a:r>
            <a:r>
              <a:rPr sz="2700" b="1" dirty="0" err="1">
                <a:solidFill>
                  <a:srgbClr val="262626"/>
                </a:solidFill>
                <a:latin typeface="Meiryo"/>
                <a:ea typeface="Meiryo"/>
                <a:cs typeface="Meiryo"/>
              </a:rPr>
              <a:t>波形は</a:t>
            </a:r>
            <a:r>
              <a:rPr sz="2700" b="1" dirty="0">
                <a:solidFill>
                  <a:srgbClr val="262626"/>
                </a:solidFill>
                <a:latin typeface="Meiryo"/>
                <a:ea typeface="Meiryo"/>
                <a:cs typeface="Meiryo"/>
              </a:rPr>
              <a:t> </a:t>
            </a:r>
            <a:r>
              <a:rPr sz="2700" b="1" dirty="0" err="1">
                <a:solidFill>
                  <a:srgbClr val="BF9000"/>
                </a:solidFill>
                <a:latin typeface="Meiryo"/>
                <a:ea typeface="Meiryo"/>
                <a:cs typeface="Meiryo"/>
              </a:rPr>
              <a:t>どのような因子</a:t>
            </a:r>
            <a:r>
              <a:rPr sz="2700" b="1" dirty="0">
                <a:solidFill>
                  <a:srgbClr val="262626"/>
                </a:solidFill>
                <a:latin typeface="Meiryo"/>
                <a:ea typeface="Meiryo"/>
                <a:cs typeface="Meiryo"/>
              </a:rPr>
              <a:t> </a:t>
            </a:r>
            <a:r>
              <a:rPr sz="2700" b="1" dirty="0" err="1">
                <a:solidFill>
                  <a:srgbClr val="262626"/>
                </a:solidFill>
                <a:latin typeface="Meiryo"/>
                <a:ea typeface="Meiryo"/>
                <a:cs typeface="Meiryo"/>
              </a:rPr>
              <a:t>に影響を受けるのか</a:t>
            </a:r>
            <a:endParaRPr sz="2700" b="1" dirty="0">
              <a:solidFill>
                <a:srgbClr val="262626"/>
              </a:solidFill>
              <a:latin typeface="Meiryo"/>
              <a:ea typeface="Meiryo"/>
              <a:cs typeface="Meiryo"/>
            </a:endParaRPr>
          </a:p>
          <a:p>
            <a:pPr algn="ctr">
              <a:spcAft>
                <a:spcPts val="40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次章から</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加齢・循環・麻酔</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の順に見ていく</a:t>
            </a:r>
            <a:endParaRPr sz="2400" b="1" dirty="0">
              <a:solidFill>
                <a:srgbClr val="262626"/>
              </a:solidFill>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12/72</a:t>
            </a:r>
          </a:p>
        </p:txBody>
      </p:sp>
    </p:spTree>
    <p:extLst>
      <p:ext uri="{BB962C8B-B14F-4D97-AF65-F5344CB8AC3E}">
        <p14:creationId xmlns:p14="http://schemas.microsoft.com/office/powerpoint/2010/main" val="134930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13/72</a:t>
            </a:r>
          </a:p>
        </p:txBody>
      </p:sp>
    </p:spTree>
    <p:extLst>
      <p:ext uri="{BB962C8B-B14F-4D97-AF65-F5344CB8AC3E}">
        <p14:creationId xmlns:p14="http://schemas.microsoft.com/office/powerpoint/2010/main" val="3094319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071E0BA8-F957-7153-77B9-719EDC30588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4569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F904641B-85DE-8E6C-6C6E-CB18D8B400D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5F5129B-29D5-4A3F-C7CF-A62583168D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453A6919-A47D-1801-425D-36733C9C187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416F21FD-7073-1352-B10A-D94472A0B49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28C88997-B342-0DC0-B064-6EE32E8FEF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372121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B07CD557-6D40-D3B8-CF8F-157FA4F6A15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76543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5C0ACB27-B69D-B9B2-DB81-8531DE017F3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FC547875-78D1-A2D2-4C07-144DD4697D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6D9E636-69FF-F206-BC02-D24D3AB3B9B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2891074C-1B7C-667C-2B02-AD3856DB771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7F9B3F51-14B6-D571-3688-70FC3099113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64290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15/72</a:t>
            </a:r>
          </a:p>
        </p:txBody>
      </p:sp>
    </p:spTree>
    <p:extLst>
      <p:ext uri="{BB962C8B-B14F-4D97-AF65-F5344CB8AC3E}">
        <p14:creationId xmlns:p14="http://schemas.microsoft.com/office/powerpoint/2010/main" val="74593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16/72</a:t>
            </a:r>
          </a:p>
        </p:txBody>
      </p:sp>
    </p:spTree>
    <p:extLst>
      <p:ext uri="{BB962C8B-B14F-4D97-AF65-F5344CB8AC3E}">
        <p14:creationId xmlns:p14="http://schemas.microsoft.com/office/powerpoint/2010/main" val="2595402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58B9F97-3077-8EBB-5EEE-0A55DBA0AF9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0F6E5B49-B78E-51F0-52DB-22FDC48255B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D4DE397A-B087-3B19-7E27-47311D2D718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CBE4A483-A7B7-8535-E3B5-96609FFDCD0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FFC52689-4F8F-542B-D8DA-CF3BB5F37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3043704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639B582-06D1-DFEC-B7DD-7B27D05A009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9A81368-A28A-7342-364F-C1780B8D7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5292455A-92CA-67BF-D4ED-968B236466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EE37C782-574B-FAFD-5DE4-4F964522B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DC3326B9-8F76-788E-AF3E-C5A98E4F4A7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391532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C86A3FE9-B677-40CE-1AFB-5B56F269C89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161570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971DCEDA-7638-2156-8F9F-6FD6C8DBE5F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871937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a:extLst>
              <a:ext uri="{FF2B5EF4-FFF2-40B4-BE49-F238E27FC236}">
                <a16:creationId xmlns:a16="http://schemas.microsoft.com/office/drawing/2014/main" id="{827E9629-B337-1E99-36C5-1F4AA519395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2C1D0BED-F892-AF73-6B88-1E38B9DE7A82}"/>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71795643-C707-315F-6EF9-6B6628DD473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77CE50C-7179-C763-5B90-9459E154E63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E672F60-FAEC-3346-FF59-1B6F1C83939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extLst>
      <p:ext uri="{BB962C8B-B14F-4D97-AF65-F5344CB8AC3E}">
        <p14:creationId xmlns:p14="http://schemas.microsoft.com/office/powerpoint/2010/main" val="27052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19/72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26963288-D6CC-5161-0FD1-8819F2D9083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82384CD-2B24-41DF-9BE1-EF322BE7004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35840E4-246E-6456-1486-0D3C7096DEE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3AE1F30-16AE-6EEF-D45F-9B4E35B0C99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75DFDAB-E462-B320-678B-2D7F9FEFD04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161166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0FE34E6-4AB2-3F68-108C-4E3DBE5DB32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272499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D636C95D-DB7D-0974-7314-B94868B1341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D3908B6-884F-A3C2-250E-298711EB5D90}"/>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C5DA544-8DA7-FFDE-3A04-58A3DB87D66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8610E29-7B73-C4FB-A7D5-A25DCFF9A99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81379C4-00EB-AD7E-D19C-D28035851DA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697726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C083CA8D-3BBE-F5CA-B54B-8409E047B57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FBE6D318-39BC-0336-CD5D-ADDF24B6F10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502A3E9-1080-0116-E2BC-E596A6E5C2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84FD6F8-1B4F-A6F3-1451-20BF39490F7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7BF977B-436D-4F41-8C39-B2239A9F9D2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237688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7EC0EF8-6A25-DB92-5EF8-FE7093DCF6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22/72</a:t>
            </a:r>
          </a:p>
        </p:txBody>
      </p:sp>
    </p:spTree>
    <p:extLst>
      <p:ext uri="{BB962C8B-B14F-4D97-AF65-F5344CB8AC3E}">
        <p14:creationId xmlns:p14="http://schemas.microsoft.com/office/powerpoint/2010/main" val="201661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126E03C4-F53B-BA3C-D275-D8315E0336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8B3E220-3FD2-DDF1-01D2-B71CB4E0DF6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0CE0B28-7751-0C47-1746-00AF078210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DAD2652-C4D4-7C04-0797-291338CB77D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813FD56-8ACC-F3A2-8638-3AE16EA54B2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359940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4BBC1839-0F94-62AC-D516-F62061BB4DF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7FDB4DE-382B-9981-CBEC-1B04AD4688C3}"/>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F09464F3-7A64-0929-25AD-97C2BAC7A1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DA7D32-18CE-D37C-31D8-E9B5A128805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546107B-EA50-9F53-3DB5-88C566EAD65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166237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24/72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25/72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26/72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27/72</a:t>
            </a:r>
          </a:p>
        </p:txBody>
      </p:sp>
    </p:spTree>
    <p:extLst>
      <p:ext uri="{BB962C8B-B14F-4D97-AF65-F5344CB8AC3E}">
        <p14:creationId xmlns:p14="http://schemas.microsoft.com/office/powerpoint/2010/main" val="78617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669F7C6E-EF6A-F551-5CC0-25FD3ECC55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1833400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583A65C-CA72-2CB4-70BD-1B35910DF08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668389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a:extLst>
              <a:ext uri="{FF2B5EF4-FFF2-40B4-BE49-F238E27FC236}">
                <a16:creationId xmlns:a16="http://schemas.microsoft.com/office/drawing/2014/main" id="{C4009E35-BB85-D0CA-44E6-8905B9D59A1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93209FE-98B2-0622-AFB2-ED8DDD424E8C}"/>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a:extLst>
              <a:ext uri="{FF2B5EF4-FFF2-40B4-BE49-F238E27FC236}">
                <a16:creationId xmlns:a16="http://schemas.microsoft.com/office/drawing/2014/main" id="{53D5C8C7-03C9-3FD5-5085-51D16DA9741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FD89725-E1CF-4E4A-3D78-94A042C0121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7E5518A-5231-37E1-3F1D-2C1084D722E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extLst>
      <p:ext uri="{BB962C8B-B14F-4D97-AF65-F5344CB8AC3E}">
        <p14:creationId xmlns:p14="http://schemas.microsoft.com/office/powerpoint/2010/main" val="2033962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2019（心臓手術 15 名・190 エピソード）</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21. Coutrot 2019（全身麻酔導入 61 名）</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30/72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a:extLst>
              <a:ext uri="{FF2B5EF4-FFF2-40B4-BE49-F238E27FC236}">
                <a16:creationId xmlns:a16="http://schemas.microsoft.com/office/drawing/2014/main" id="{69355710-BBA3-115E-E2C7-A8DB4769F04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D9EFE41-777E-CF2B-430A-5D836004108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99947AF-BEB1-7A3D-0D60-0F8D393BEE3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A2AB76F2-CE51-776B-20C0-C0E39D591E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CE4331C7-8C2C-C0B0-00DB-2D9F5906F12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extLst>
      <p:ext uri="{BB962C8B-B14F-4D97-AF65-F5344CB8AC3E}">
        <p14:creationId xmlns:p14="http://schemas.microsoft.com/office/powerpoint/2010/main" val="1008639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2C144E0A-3C51-DA3E-A0F1-BDA2BF58066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73C3379-5C69-FB45-DFA3-9408AB29665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1B0C08A-4EA6-C6D5-FE63-E066B0ED9D0A}"/>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9A04435-9816-C39B-3616-AAE3265F2CA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7700E4AC-08F9-85FD-8F5B-A203E84C276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3196455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3B4A464C-D41B-8A70-9B6A-F8C7D77DA374}"/>
              </a:ext>
            </a:extLst>
          </p:cNvPr>
          <p:cNvSpPr/>
          <p:nvPr/>
        </p:nvSpPr>
        <p:spPr>
          <a:xfrm>
            <a:off x="90817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3D3B515-6204-82D0-BAC6-F007934E6F04}"/>
              </a:ext>
            </a:extLst>
          </p:cNvPr>
          <p:cNvSpPr/>
          <p:nvPr/>
        </p:nvSpPr>
        <p:spPr>
          <a:xfrm>
            <a:off x="97009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2D096EE-A4A9-02F4-9620-C4F2691BB487}"/>
              </a:ext>
            </a:extLst>
          </p:cNvPr>
          <p:cNvSpPr/>
          <p:nvPr/>
        </p:nvSpPr>
        <p:spPr>
          <a:xfrm>
            <a:off x="10320119" y="50400"/>
            <a:ext cx="576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4EC13131-6B2A-58CE-87C7-489AE5F06A33}"/>
              </a:ext>
            </a:extLst>
          </p:cNvPr>
          <p:cNvSpPr/>
          <p:nvPr/>
        </p:nvSpPr>
        <p:spPr>
          <a:xfrm>
            <a:off x="109393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BFAF256-89BC-3031-019F-D4E5A1B7EC48}"/>
              </a:ext>
            </a:extLst>
          </p:cNvPr>
          <p:cNvSpPr/>
          <p:nvPr/>
        </p:nvSpPr>
        <p:spPr>
          <a:xfrm>
            <a:off x="11558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Lee 2011（ICU 48 名）</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785975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E3DD97E-2E2A-A71D-8837-2ED6C40DFFA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Tree>
    <p:extLst>
      <p:ext uri="{BB962C8B-B14F-4D97-AF65-F5344CB8AC3E}">
        <p14:creationId xmlns:p14="http://schemas.microsoft.com/office/powerpoint/2010/main" val="1780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4AE854FB-7763-74A3-33B4-EB15866EF5C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5A21CFF-0263-8C66-F570-3EF27321C77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017F691-B5DE-A682-AC9A-C061DAAF234F}"/>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168E6F26-1772-B5A4-645D-085E8A17C02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16C3531-BDC7-581D-EA06-A8B8571AFD0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518349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F82859B7-7A8B-D6BA-99A5-6386B3561DA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15DFAAE-E79C-4B59-124F-EA9B54F59FF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5C38581-8D3D-3E39-4649-60E4AB8741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BBE12F32-226A-723D-D428-721E42599F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C0A1BD9-C8F0-F8A0-5884-C2A793CE81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1811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34/72</a:t>
            </a:r>
          </a:p>
        </p:txBody>
      </p:sp>
    </p:spTree>
    <p:extLst>
      <p:ext uri="{BB962C8B-B14F-4D97-AF65-F5344CB8AC3E}">
        <p14:creationId xmlns:p14="http://schemas.microsoft.com/office/powerpoint/2010/main" val="424351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a:t>
            </a: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35/72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1A6D44E0-9C70-A806-FDC9-9EB5FDF1428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7EC24F4-CACD-616A-3BD2-0926E1860CC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7507A708-B891-3804-47A9-01F652BC4933}"/>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0A840E67-0AC1-5787-BEC9-02E9BC87543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D797FB8-1913-10AF-6541-098470D4D9D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Tree>
    <p:extLst>
      <p:ext uri="{BB962C8B-B14F-4D97-AF65-F5344CB8AC3E}">
        <p14:creationId xmlns:p14="http://schemas.microsoft.com/office/powerpoint/2010/main" val="102603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9063AB0A-C61E-9098-D072-192F4A1E3A1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0CB13B5-F3EA-5563-3466-60B5F6816F5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DA8C7D5-CD9E-A5CA-6434-81A7AB94FE8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5901C1CA-3510-321C-5C05-F284234577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1A231BE-60F1-2D79-FFE7-07D3C3C46FB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Tree>
    <p:extLst>
      <p:ext uri="{BB962C8B-B14F-4D97-AF65-F5344CB8AC3E}">
        <p14:creationId xmlns:p14="http://schemas.microsoft.com/office/powerpoint/2010/main" val="2281038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259A016A-8E0E-8D4C-35C4-64C9BE13B5E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5736BF2-6A2D-8A12-2687-DE4AAAE5E63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69E7E4A2-C128-5272-2FC9-0195AD02F959}"/>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4914FA-1CD2-95DD-4B74-DE7BFA47777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AF8EF7DC-7AF5-471B-21FD-63C1A9116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Tree>
    <p:extLst>
      <p:ext uri="{BB962C8B-B14F-4D97-AF65-F5344CB8AC3E}">
        <p14:creationId xmlns:p14="http://schemas.microsoft.com/office/powerpoint/2010/main" val="3520691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BF2A21EE-9438-5337-6E35-B466C338B5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FBC431C-12CE-1EB2-618E-DC4D3ED05B6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C5B16FE-0C40-6E08-3173-F72C1E6570B6}"/>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716399-2CBF-5A0F-903E-8954F90DF4F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1F139F85-A147-D4EE-A18D-164498B273D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Tree>
    <p:extLst>
      <p:ext uri="{BB962C8B-B14F-4D97-AF65-F5344CB8AC3E}">
        <p14:creationId xmlns:p14="http://schemas.microsoft.com/office/powerpoint/2010/main" val="3942857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lnSpc>
                <a:spcPct val="100000"/>
              </a:lnSpc>
              <a:spcBef>
                <a:spcPts val="100"/>
              </a:spcBef>
            </a:pP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3681E52B-4BF1-A99F-9FFB-BA7AB32ADAF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lnSpc>
                <a:spcPct val="100000"/>
              </a:lnSpc>
              <a:spcBef>
                <a:spcPts val="100"/>
              </a:spcBef>
            </a:pPr>
            <a:r>
              <a:rPr sz="1050" b="1">
                <a:solidFill>
                  <a:srgbClr val="808080"/>
                </a:solidFill>
                <a:latin typeface="Meiryo"/>
                <a:ea typeface="Meiryo"/>
                <a:cs typeface="Meiryo"/>
              </a:rPr>
              <a:t>PDA</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38/72</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0749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39/72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自動解析の壁</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limits" descr="f71_limits.png"/>
          <p:cNvPicPr>
            <a:picLocks noChangeAspect="1"/>
          </p:cNvPicPr>
          <p:nvPr/>
        </p:nvPicPr>
        <p:blipFill>
          <a:blip r:embed="rId3"/>
          <a:stretch>
            <a:fillRect/>
          </a:stretch>
        </p:blipFill>
        <p:spPr>
          <a:xfrm>
            <a:off x="864000" y="2628000"/>
            <a:ext cx="10440000" cy="2141279"/>
          </a:xfrm>
          <a:prstGeom prst="rect">
            <a:avLst/>
          </a:prstGeom>
        </p:spPr>
      </p:pic>
      <p:sp>
        <p:nvSpPr>
          <p:cNvPr id="20" name="TextBox 19"/>
          <p:cNvSpPr txBox="1"/>
          <p:nvPr/>
        </p:nvSpPr>
        <p:spPr>
          <a:xfrm>
            <a:off x="86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反射波が2つ</a:t>
            </a:r>
          </a:p>
        </p:txBody>
      </p:sp>
      <p:sp>
        <p:nvSpPr>
          <p:cNvPr id="21" name="TextBox 20"/>
          <p:cNvSpPr txBox="1"/>
          <p:nvPr/>
        </p:nvSpPr>
        <p:spPr>
          <a:xfrm>
            <a:off x="86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どちらが P2 ?</a:t>
            </a:r>
          </a:p>
        </p:txBody>
      </p:sp>
      <p:sp>
        <p:nvSpPr>
          <p:cNvPr id="22" name="TextBox 21"/>
          <p:cNvSpPr txBox="1"/>
          <p:nvPr/>
        </p:nvSpPr>
        <p:spPr>
          <a:xfrm>
            <a:off x="347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p:cNvSpPr txBox="1"/>
          <p:nvPr/>
        </p:nvSpPr>
        <p:spPr>
          <a:xfrm>
            <a:off x="347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p:cNvSpPr txBox="1"/>
          <p:nvPr/>
        </p:nvSpPr>
        <p:spPr>
          <a:xfrm>
            <a:off x="6083999"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p:cNvSpPr txBox="1"/>
          <p:nvPr/>
        </p:nvSpPr>
        <p:spPr>
          <a:xfrm>
            <a:off x="6083999"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P2 が無い</a:t>
            </a:r>
          </a:p>
        </p:txBody>
      </p:sp>
      <p:sp>
        <p:nvSpPr>
          <p:cNvPr id="26" name="TextBox 25"/>
          <p:cNvSpPr txBox="1"/>
          <p:nvPr/>
        </p:nvSpPr>
        <p:spPr>
          <a:xfrm>
            <a:off x="869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p:cNvSpPr txBox="1"/>
          <p:nvPr/>
        </p:nvSpPr>
        <p:spPr>
          <a:xfrm>
            <a:off x="869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8" name="Rounded Rectangle 27"/>
          <p:cNvSpPr/>
          <p:nvPr/>
        </p:nvSpPr>
        <p:spPr>
          <a:xfrm>
            <a:off x="864000" y="5508000"/>
            <a:ext cx="10440000" cy="1007999"/>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dirty="0">
                <a:solidFill>
                  <a:srgbClr val="C00000"/>
                </a:solidFill>
                <a:latin typeface="Meiryo"/>
                <a:ea typeface="Meiryo"/>
                <a:cs typeface="Meiryo"/>
              </a:rPr>
              <a:t>同じ定義（P2・切痕）が全部には当てはまらない</a:t>
            </a:r>
          </a:p>
          <a:p>
            <a:pPr algn="ctr">
              <a:spcBef>
                <a:spcPts val="0"/>
              </a:spcBef>
              <a:spcAft>
                <a:spcPts val="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自動で一律に解析することが</a:t>
            </a:r>
            <a:r>
              <a:rPr lang="ja-JP" altLang="en-US" sz="2400" b="1">
                <a:solidFill>
                  <a:srgbClr val="262626"/>
                </a:solidFill>
                <a:latin typeface="Meiryo"/>
                <a:ea typeface="Meiryo"/>
                <a:cs typeface="Meiryo"/>
              </a:rPr>
              <a:t>難しい</a:t>
            </a:r>
            <a:endParaRPr sz="2400" b="1" dirty="0">
              <a:solidFill>
                <a:srgbClr val="262626"/>
              </a:solidFill>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人のうち、切痕不明瞭なのは</a:t>
            </a:r>
            <a:r>
              <a:rPr lang="en-US" altLang="ja-JP" dirty="0"/>
              <a:t>25,286</a:t>
            </a:r>
            <a:r>
              <a:rPr lang="ja-JP" altLang="en-US"/>
              <a:t>人。（</a:t>
            </a:r>
            <a:r>
              <a:rPr lang="en-US" altLang="ja-JP" dirty="0"/>
              <a:t>14%  UK Biobank</a:t>
            </a:r>
            <a:r>
              <a:rPr lang="ja-JP" altLang="en-US"/>
              <a:t>）</a:t>
            </a:r>
            <a:endParaRPr lang="en-US" altLang="ja-JP" dirty="0"/>
          </a:p>
          <a:p>
            <a:pPr>
              <a:lnSpc>
                <a:spcPct val="150000"/>
              </a:lnSpc>
            </a:pPr>
            <a:r>
              <a:rPr lang="ja-JP" altLang="en-US"/>
              <a:t>切痕が不明瞭な</a:t>
            </a:r>
            <a:r>
              <a:rPr lang="en-US" altLang="ja-JP" dirty="0"/>
              <a:t>PPG</a:t>
            </a:r>
            <a:r>
              <a:rPr lang="ja-JP" altLang="en-US"/>
              <a:t>信号を</a:t>
            </a:r>
            <a:r>
              <a:rPr lang="en-US" altLang="ja-JP" dirty="0"/>
              <a:t>DN-less signal</a:t>
            </a:r>
            <a:r>
              <a:rPr lang="ja-JP" altLang="en-US"/>
              <a:t>という。</a:t>
            </a:r>
          </a:p>
          <a:p>
            <a:pPr>
              <a:lnSpc>
                <a:spcPct val="150000"/>
              </a:lnSpc>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15" name="Off-page Connector 4">
            <a:extLst>
              <a:ext uri="{FF2B5EF4-FFF2-40B4-BE49-F238E27FC236}">
                <a16:creationId xmlns:a16="http://schemas.microsoft.com/office/drawing/2014/main" id="{4E43B2F5-7A94-9CF4-625F-2CD4B5BD95C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F0248E4B-9189-267A-5F94-7F85BBD18A0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7E41AC3A-EA76-E86A-DA03-FA061B4C67B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E7C403D1-F5DE-3364-B35D-76F3B949A3EE}"/>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5D7B35B3-070B-CB8B-114C-31C420641F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33. Wu 2010　／　34.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D-N less signal</a:t>
            </a:r>
            <a:r>
              <a:rPr lang="ja-JP" altLang="en-US" sz="2400" b="1">
                <a:solidFill>
                  <a:schemeClr val="tx1"/>
                </a:solidFill>
              </a:rPr>
              <a:t>でも</a:t>
            </a:r>
            <a:r>
              <a:rPr lang="en-US" altLang="ja-JP" sz="2400" b="1" dirty="0">
                <a:solidFill>
                  <a:schemeClr val="tx1"/>
                </a:solidFill>
              </a:rPr>
              <a:t>PPG</a:t>
            </a:r>
            <a:r>
              <a:rPr lang="ja-JP" altLang="en-US" sz="2400" b="1">
                <a:solidFill>
                  <a:schemeClr val="tx1"/>
                </a:solidFill>
              </a:rPr>
              <a:t>から特徴量を抽出し解析できないか？？</a:t>
            </a:r>
            <a:endParaRPr lang="en-US" altLang="ja-JP" sz="2400" b="1" dirty="0">
              <a:solidFill>
                <a:schemeClr val="tx1"/>
              </a:solidFill>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41/72</a:t>
            </a:r>
          </a:p>
        </p:txBody>
      </p:sp>
    </p:spTree>
    <p:extLst>
      <p:ext uri="{BB962C8B-B14F-4D97-AF65-F5344CB8AC3E}">
        <p14:creationId xmlns:p14="http://schemas.microsoft.com/office/powerpoint/2010/main" val="24266886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202B3C79-3BBF-BBB9-B0E6-622A738141B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B61C9A81-B053-2EF9-0315-D753E1A083A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2C21C98E-DEF0-E00D-DFBC-545446CABBF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7C7B672A-AB61-A39C-1120-2019054EADD9}"/>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F48CA1FF-C620-650C-A196-62515736E79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37496487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1D666880-7CB3-12E3-E9FB-F0B14D24F0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427C8111-9B64-E411-C3C2-5351CBBC312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5D1BC14E-2ED1-D0F6-8AB1-BDF4B7C3315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D0D795BB-EA41-E136-B66D-89672E3E5DD3}"/>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8DFBE63E-2238-E72F-CC37-89CBA791FE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2075056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得られる指標</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5.6 </a:t>
            </a:r>
            <a:r>
              <a:rPr sz="2900" b="0">
                <a:solidFill>
                  <a:srgbClr val="262626"/>
                </a:solidFill>
                <a:latin typeface="Meiryo"/>
                <a:ea typeface="Meiryo"/>
                <a:cs typeface="Meiryo"/>
              </a:rPr>
              <a:t>限界</a:t>
            </a:r>
          </a:p>
          <a:p>
            <a:pPr>
              <a:lnSpc>
                <a:spcPct val="145000"/>
              </a:lnSpc>
            </a:pPr>
            <a:r>
              <a:rPr sz="2900" b="1">
                <a:solidFill>
                  <a:srgbClr val="BF9000"/>
                </a:solidFill>
                <a:latin typeface="Meiryo"/>
                <a:ea typeface="Meiryo"/>
                <a:cs typeface="Meiryo"/>
              </a:rPr>
              <a:t>5.7 </a:t>
            </a:r>
            <a:r>
              <a:rPr sz="2900" b="0">
                <a:solidFill>
                  <a:srgbClr val="262626"/>
                </a:solidFill>
                <a:latin typeface="Meiryo"/>
                <a:ea typeface="Meiryo"/>
                <a:cs typeface="Meiryo"/>
              </a:rPr>
              <a:t>残された問い</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44/72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41. Goswami 2010　／　42.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sz="2300" b="0" dirty="0" err="1">
                <a:solidFill>
                  <a:srgbClr val="262626"/>
                </a:solidFill>
                <a:latin typeface="Meiryo"/>
                <a:ea typeface="Meiryo"/>
                <a:cs typeface="Meiryo"/>
              </a:rPr>
              <a:t>波形を成分波の重ね合わせに当てはめ</a:t>
            </a:r>
            <a:r>
              <a:rPr sz="2300" b="1" dirty="0" err="1">
                <a:solidFill>
                  <a:srgbClr val="262626"/>
                </a:solidFill>
                <a:latin typeface="Meiryo"/>
                <a:ea typeface="Meiryo"/>
                <a:cs typeface="Meiryo"/>
              </a:rPr>
              <a:t>反射波の</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時刻と高さ</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を推定する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45/72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309360" y="3035808"/>
            <a:ext cx="5257800"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成分波</a:t>
            </a:r>
          </a:p>
        </p:txBody>
      </p:sp>
      <p:sp>
        <p:nvSpPr>
          <p:cNvPr id="41" name="TextBox 40"/>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2" name="Rounded Rectangle 41"/>
          <p:cNvSpPr/>
          <p:nvPr/>
        </p:nvSpPr>
        <p:spPr>
          <a:xfrm>
            <a:off x="6126480" y="4114800"/>
            <a:ext cx="5623560" cy="1078992"/>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09360" y="4224528"/>
            <a:ext cx="5257800" cy="384048"/>
          </a:xfrm>
          <a:prstGeom prst="rect">
            <a:avLst/>
          </a:prstGeom>
          <a:noFill/>
        </p:spPr>
        <p:txBody>
          <a:bodyPr wrap="square" lIns="0" tIns="0" rIns="0" bIns="0" anchor="t">
            <a:spAutoFit/>
          </a:bodyPr>
          <a:lstStyle/>
          <a:p>
            <a:pPr algn="l"/>
            <a:r>
              <a:rPr sz="2400" b="1">
                <a:solidFill>
                  <a:srgbClr val="00A8AA"/>
                </a:solidFill>
                <a:latin typeface="Meiryo"/>
                <a:ea typeface="Meiryo"/>
                <a:cs typeface="Meiryo"/>
              </a:rPr>
              <a:t>基底関数</a:t>
            </a:r>
          </a:p>
        </p:txBody>
      </p:sp>
      <p:sp>
        <p:nvSpPr>
          <p:cNvPr id="44" name="TextBox 43"/>
          <p:cNvSpPr txBox="1"/>
          <p:nvPr/>
        </p:nvSpPr>
        <p:spPr>
          <a:xfrm>
            <a:off x="6309360" y="468172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成分波の形を表す数式のひな型</a:t>
            </a:r>
          </a:p>
        </p:txBody>
      </p:sp>
      <p:sp>
        <p:nvSpPr>
          <p:cNvPr id="45" name="Rounded Rectangle 44"/>
          <p:cNvSpPr/>
          <p:nvPr/>
        </p:nvSpPr>
        <p:spPr>
          <a:xfrm>
            <a:off x="6126480" y="5303520"/>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291072" y="5477256"/>
            <a:ext cx="5294376" cy="640080"/>
          </a:xfrm>
          <a:prstGeom prst="rect">
            <a:avLst/>
          </a:prstGeom>
          <a:noFill/>
        </p:spPr>
        <p:txBody>
          <a:bodyPr wrap="square" lIns="0" tIns="0" rIns="0" bIns="0" anchor="t">
            <a:spAutoFit/>
          </a:bodyPr>
          <a:lstStyle/>
          <a:p>
            <a:pPr algn="ctr">
              <a:spcAft>
                <a:spcPts val="300"/>
              </a:spcAft>
            </a:pPr>
            <a:r>
              <a:rPr sz="2300" b="1">
                <a:solidFill>
                  <a:srgbClr val="262626"/>
                </a:solidFill>
                <a:latin typeface="Meiryo"/>
                <a:ea typeface="Meiryo"/>
                <a:cs typeface="Meiryo"/>
              </a:rPr>
              <a:t>第1成分波 ＝ 前進波</a:t>
            </a:r>
          </a:p>
          <a:p>
            <a:pPr algn="ctr">
              <a:spcAft>
                <a:spcPts val="300"/>
              </a:spcAft>
            </a:pPr>
            <a:r>
              <a:rPr sz="2300" b="1">
                <a:solidFill>
                  <a:srgbClr val="262626"/>
                </a:solidFill>
                <a:latin typeface="Meiryo"/>
                <a:ea typeface="Meiryo"/>
                <a:cs typeface="Meiryo"/>
              </a:rPr>
              <a:t>第2成分波 ＝ 反射波 とみなす</a:t>
            </a:r>
          </a:p>
        </p:txBody>
      </p:sp>
      <p:sp>
        <p:nvSpPr>
          <p:cNvPr id="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9C16B1DC-05F4-7984-9EB3-FA664407528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C56E686-AE95-C74B-6233-0B2E8353D6E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B992AE01-FA19-AFB9-28C1-0EDCE24092E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A86083F-D646-EA1D-F7FB-331952DEA05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02FF6180-3998-7292-AB71-FF770414F42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46/72</a:t>
            </a:r>
          </a:p>
        </p:txBody>
      </p:sp>
    </p:spTree>
    <p:extLst>
      <p:ext uri="{BB962C8B-B14F-4D97-AF65-F5344CB8AC3E}">
        <p14:creationId xmlns:p14="http://schemas.microsoft.com/office/powerpoint/2010/main" val="54829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p:cNvSpPr/>
          <p:nvPr/>
        </p:nvSpPr>
        <p:spPr>
          <a:xfrm>
            <a:off x="502920" y="1719072"/>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1920240"/>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p:cNvSpPr/>
          <p:nvPr/>
        </p:nvSpPr>
        <p:spPr>
          <a:xfrm>
            <a:off x="502920" y="3127248"/>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 y="3310128"/>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p:cNvSpPr txBox="1"/>
          <p:nvPr/>
        </p:nvSpPr>
        <p:spPr>
          <a:xfrm>
            <a:off x="640080" y="3840480"/>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p:cNvSpPr txBox="1"/>
          <p:nvPr/>
        </p:nvSpPr>
        <p:spPr>
          <a:xfrm>
            <a:off x="594360"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p:cNvSpPr/>
          <p:nvPr/>
        </p:nvSpPr>
        <p:spPr>
          <a:xfrm>
            <a:off x="4306824" y="3127248"/>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43984" y="3310128"/>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p:cNvSpPr txBox="1"/>
          <p:nvPr/>
        </p:nvSpPr>
        <p:spPr>
          <a:xfrm>
            <a:off x="4443984" y="3840480"/>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p:cNvSpPr txBox="1"/>
          <p:nvPr/>
        </p:nvSpPr>
        <p:spPr>
          <a:xfrm>
            <a:off x="4398264"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p:cNvSpPr/>
          <p:nvPr/>
        </p:nvSpPr>
        <p:spPr>
          <a:xfrm>
            <a:off x="8110728" y="3127248"/>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247888" y="3310128"/>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p:cNvSpPr txBox="1"/>
          <p:nvPr/>
        </p:nvSpPr>
        <p:spPr>
          <a:xfrm>
            <a:off x="8247888" y="3840480"/>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p:cNvSpPr txBox="1"/>
          <p:nvPr/>
        </p:nvSpPr>
        <p:spPr>
          <a:xfrm>
            <a:off x="8202168"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4" name="Rounded Rectangle 43"/>
          <p:cNvSpPr/>
          <p:nvPr/>
        </p:nvSpPr>
        <p:spPr>
          <a:xfrm>
            <a:off x="502920" y="5138928"/>
            <a:ext cx="11201400" cy="10058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5340096"/>
            <a:ext cx="10835640" cy="64008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合成波 ≒ 成分波1 ＋ 成分波2 ＋ …</a:t>
            </a:r>
          </a:p>
          <a:p>
            <a:pPr algn="ctr">
              <a:spcAft>
                <a:spcPts val="300"/>
              </a:spcAft>
            </a:pPr>
            <a:r>
              <a:rPr sz="2400" b="1">
                <a:solidFill>
                  <a:srgbClr val="262626"/>
                </a:solidFill>
                <a:latin typeface="Meiryo"/>
                <a:ea typeface="Meiryo"/>
                <a:cs typeface="Meiryo"/>
              </a:rPr>
              <a:t>点を探すのではなく、この足し算が実測に一番合う数字を探す</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EDCE-0196-86AA-F1D2-952AD8766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599BB-854B-F0A0-CAF6-47CD66BF5D6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89E51903-093B-EC1A-B633-3F6DD605A3F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3459FAF-1D2E-333F-B069-87B8CE3FF71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E69373-9598-187A-4A51-9AE384AE949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87F886A5-BEFB-35C1-6AAE-EF2FCCAA029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D70FAAC5-2052-A1B4-EBC9-3C6F3021EC95}"/>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609DDD14-D14F-E3CE-5407-E3C34268027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a:extLst>
              <a:ext uri="{FF2B5EF4-FFF2-40B4-BE49-F238E27FC236}">
                <a16:creationId xmlns:a16="http://schemas.microsoft.com/office/drawing/2014/main" id="{5E41C895-8FAB-1387-DAFE-45354471B0E9}"/>
              </a:ext>
            </a:extLst>
          </p:cNvPr>
          <p:cNvSpPr/>
          <p:nvPr/>
        </p:nvSpPr>
        <p:spPr>
          <a:xfrm>
            <a:off x="502920" y="2328671"/>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a:extLst>
              <a:ext uri="{FF2B5EF4-FFF2-40B4-BE49-F238E27FC236}">
                <a16:creationId xmlns:a16="http://schemas.microsoft.com/office/drawing/2014/main" id="{32EC5493-C26E-12B4-267F-9C86493BB334}"/>
              </a:ext>
            </a:extLst>
          </p:cNvPr>
          <p:cNvSpPr txBox="1"/>
          <p:nvPr/>
        </p:nvSpPr>
        <p:spPr>
          <a:xfrm>
            <a:off x="685800" y="2529839"/>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a:extLst>
              <a:ext uri="{FF2B5EF4-FFF2-40B4-BE49-F238E27FC236}">
                <a16:creationId xmlns:a16="http://schemas.microsoft.com/office/drawing/2014/main" id="{ACC012E0-FAE0-1747-ADD4-EBA1B84CDF37}"/>
              </a:ext>
            </a:extLst>
          </p:cNvPr>
          <p:cNvSpPr/>
          <p:nvPr/>
        </p:nvSpPr>
        <p:spPr>
          <a:xfrm>
            <a:off x="502920" y="3736847"/>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a:extLst>
              <a:ext uri="{FF2B5EF4-FFF2-40B4-BE49-F238E27FC236}">
                <a16:creationId xmlns:a16="http://schemas.microsoft.com/office/drawing/2014/main" id="{F9CAC76F-9A25-909C-5A4A-C7C23F76FA78}"/>
              </a:ext>
            </a:extLst>
          </p:cNvPr>
          <p:cNvSpPr txBox="1"/>
          <p:nvPr/>
        </p:nvSpPr>
        <p:spPr>
          <a:xfrm>
            <a:off x="640080" y="3919727"/>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a:extLst>
              <a:ext uri="{FF2B5EF4-FFF2-40B4-BE49-F238E27FC236}">
                <a16:creationId xmlns:a16="http://schemas.microsoft.com/office/drawing/2014/main" id="{DC5C78DA-57F8-50B3-1AFB-C26D1FB11F7E}"/>
              </a:ext>
            </a:extLst>
          </p:cNvPr>
          <p:cNvSpPr txBox="1"/>
          <p:nvPr/>
        </p:nvSpPr>
        <p:spPr>
          <a:xfrm>
            <a:off x="640080" y="4450079"/>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a:extLst>
              <a:ext uri="{FF2B5EF4-FFF2-40B4-BE49-F238E27FC236}">
                <a16:creationId xmlns:a16="http://schemas.microsoft.com/office/drawing/2014/main" id="{92EDB3FF-6C7B-62CF-784F-F39524D2F9E1}"/>
              </a:ext>
            </a:extLst>
          </p:cNvPr>
          <p:cNvSpPr txBox="1"/>
          <p:nvPr/>
        </p:nvSpPr>
        <p:spPr>
          <a:xfrm>
            <a:off x="594360"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a:extLst>
              <a:ext uri="{FF2B5EF4-FFF2-40B4-BE49-F238E27FC236}">
                <a16:creationId xmlns:a16="http://schemas.microsoft.com/office/drawing/2014/main" id="{086AD1E5-DCBB-A20F-3EB8-1BC38116C13D}"/>
              </a:ext>
            </a:extLst>
          </p:cNvPr>
          <p:cNvSpPr/>
          <p:nvPr/>
        </p:nvSpPr>
        <p:spPr>
          <a:xfrm>
            <a:off x="4306824" y="3736847"/>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2F88DED5-6DFA-936A-EFE0-9DB0163CB3D7}"/>
              </a:ext>
            </a:extLst>
          </p:cNvPr>
          <p:cNvSpPr txBox="1"/>
          <p:nvPr/>
        </p:nvSpPr>
        <p:spPr>
          <a:xfrm>
            <a:off x="4443984" y="3919727"/>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a:extLst>
              <a:ext uri="{FF2B5EF4-FFF2-40B4-BE49-F238E27FC236}">
                <a16:creationId xmlns:a16="http://schemas.microsoft.com/office/drawing/2014/main" id="{30665257-8073-6A29-FD38-800A2605FCF1}"/>
              </a:ext>
            </a:extLst>
          </p:cNvPr>
          <p:cNvSpPr txBox="1"/>
          <p:nvPr/>
        </p:nvSpPr>
        <p:spPr>
          <a:xfrm>
            <a:off x="4443984" y="4450079"/>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a:extLst>
              <a:ext uri="{FF2B5EF4-FFF2-40B4-BE49-F238E27FC236}">
                <a16:creationId xmlns:a16="http://schemas.microsoft.com/office/drawing/2014/main" id="{1C67598B-9E93-5402-FB5B-A9BA295A098F}"/>
              </a:ext>
            </a:extLst>
          </p:cNvPr>
          <p:cNvSpPr txBox="1"/>
          <p:nvPr/>
        </p:nvSpPr>
        <p:spPr>
          <a:xfrm>
            <a:off x="4398264"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a:extLst>
              <a:ext uri="{FF2B5EF4-FFF2-40B4-BE49-F238E27FC236}">
                <a16:creationId xmlns:a16="http://schemas.microsoft.com/office/drawing/2014/main" id="{608A8727-9F7D-AB56-0DA8-6FF0E66F1888}"/>
              </a:ext>
            </a:extLst>
          </p:cNvPr>
          <p:cNvSpPr/>
          <p:nvPr/>
        </p:nvSpPr>
        <p:spPr>
          <a:xfrm>
            <a:off x="8110728" y="3736847"/>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a:extLst>
              <a:ext uri="{FF2B5EF4-FFF2-40B4-BE49-F238E27FC236}">
                <a16:creationId xmlns:a16="http://schemas.microsoft.com/office/drawing/2014/main" id="{8ABFD40C-C743-425A-7BFE-F05E28746CC2}"/>
              </a:ext>
            </a:extLst>
          </p:cNvPr>
          <p:cNvSpPr txBox="1"/>
          <p:nvPr/>
        </p:nvSpPr>
        <p:spPr>
          <a:xfrm>
            <a:off x="8247888" y="3919727"/>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a:extLst>
              <a:ext uri="{FF2B5EF4-FFF2-40B4-BE49-F238E27FC236}">
                <a16:creationId xmlns:a16="http://schemas.microsoft.com/office/drawing/2014/main" id="{BAA7CA6F-4FFF-5972-63D6-20193172289C}"/>
              </a:ext>
            </a:extLst>
          </p:cNvPr>
          <p:cNvSpPr txBox="1"/>
          <p:nvPr/>
        </p:nvSpPr>
        <p:spPr>
          <a:xfrm>
            <a:off x="8247888" y="4450079"/>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a:extLst>
              <a:ext uri="{FF2B5EF4-FFF2-40B4-BE49-F238E27FC236}">
                <a16:creationId xmlns:a16="http://schemas.microsoft.com/office/drawing/2014/main" id="{05809275-A5F4-F7F6-DAEF-914A9F1024EB}"/>
              </a:ext>
            </a:extLst>
          </p:cNvPr>
          <p:cNvSpPr txBox="1"/>
          <p:nvPr/>
        </p:nvSpPr>
        <p:spPr>
          <a:xfrm>
            <a:off x="8202168"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6" name="PageNo">
            <a:extLst>
              <a:ext uri="{FF2B5EF4-FFF2-40B4-BE49-F238E27FC236}">
                <a16:creationId xmlns:a16="http://schemas.microsoft.com/office/drawing/2014/main" id="{91A22E96-F99F-46B6-98AB-E82A5F500B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Tree>
    <p:extLst>
      <p:ext uri="{BB962C8B-B14F-4D97-AF65-F5344CB8AC3E}">
        <p14:creationId xmlns:p14="http://schemas.microsoft.com/office/powerpoint/2010/main" val="23224547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EDCE-0196-86AA-F1D2-952AD8766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599BB-854B-F0A0-CAF6-47CD66BF5D6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89E51903-093B-EC1A-B633-3F6DD605A3F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3459FAF-1D2E-333F-B069-87B8CE3FF71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E69373-9598-187A-4A51-9AE384AE949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87F886A5-BEFB-35C1-6AAE-EF2FCCAA029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D70FAAC5-2052-A1B4-EBC9-3C6F3021EC95}"/>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609DDD14-D14F-E3CE-5407-E3C34268027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46" name="PageNo">
            <a:extLst>
              <a:ext uri="{FF2B5EF4-FFF2-40B4-BE49-F238E27FC236}">
                <a16:creationId xmlns:a16="http://schemas.microsoft.com/office/drawing/2014/main" id="{91A22E96-F99F-46B6-98AB-E82A5F500B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
        <p:nvSpPr>
          <p:cNvPr id="47" name="Rounded Rectangle 46"/>
          <p:cNvSpPr/>
          <p:nvPr/>
        </p:nvSpPr>
        <p:spPr>
          <a:xfrm>
            <a:off x="502920" y="1737360"/>
            <a:ext cx="6675120" cy="3794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1051560" y="2358039"/>
            <a:ext cx="5577840" cy="2110844"/>
          </a:xfrm>
          <a:custGeom>
            <a:avLst/>
            <a:gdLst/>
            <a:ahLst/>
            <a:cxnLst/>
            <a:rect l="l" t="t" r="r" b="b"/>
            <a:pathLst>
              <a:path w="5577840" h="2110844">
                <a:moveTo>
                  <a:pt x="0" y="2110844"/>
                </a:moveTo>
                <a:lnTo>
                  <a:pt x="23338" y="2109787"/>
                </a:lnTo>
                <a:lnTo>
                  <a:pt x="46676" y="2108643"/>
                </a:lnTo>
                <a:lnTo>
                  <a:pt x="70014" y="2107408"/>
                </a:lnTo>
                <a:lnTo>
                  <a:pt x="93352" y="2106076"/>
                </a:lnTo>
                <a:lnTo>
                  <a:pt x="116691" y="2104638"/>
                </a:lnTo>
                <a:lnTo>
                  <a:pt x="140029" y="2103089"/>
                </a:lnTo>
                <a:lnTo>
                  <a:pt x="163367" y="2101421"/>
                </a:lnTo>
                <a:lnTo>
                  <a:pt x="186705" y="2099627"/>
                </a:lnTo>
                <a:lnTo>
                  <a:pt x="210044" y="2097699"/>
                </a:lnTo>
                <a:lnTo>
                  <a:pt x="233382" y="2095627"/>
                </a:lnTo>
                <a:lnTo>
                  <a:pt x="256720" y="2093404"/>
                </a:lnTo>
                <a:lnTo>
                  <a:pt x="280058" y="2091020"/>
                </a:lnTo>
                <a:lnTo>
                  <a:pt x="303397" y="2088465"/>
                </a:lnTo>
                <a:lnTo>
                  <a:pt x="326735" y="2085731"/>
                </a:lnTo>
                <a:lnTo>
                  <a:pt x="350073" y="2082805"/>
                </a:lnTo>
                <a:lnTo>
                  <a:pt x="373411" y="2079679"/>
                </a:lnTo>
                <a:lnTo>
                  <a:pt x="396750" y="2076339"/>
                </a:lnTo>
                <a:lnTo>
                  <a:pt x="420088" y="2072776"/>
                </a:lnTo>
                <a:lnTo>
                  <a:pt x="443426" y="2068977"/>
                </a:lnTo>
                <a:lnTo>
                  <a:pt x="466764" y="2064930"/>
                </a:lnTo>
                <a:lnTo>
                  <a:pt x="490103" y="2060622"/>
                </a:lnTo>
                <a:lnTo>
                  <a:pt x="513441" y="2056040"/>
                </a:lnTo>
                <a:lnTo>
                  <a:pt x="536779" y="2051171"/>
                </a:lnTo>
                <a:lnTo>
                  <a:pt x="560117" y="2046001"/>
                </a:lnTo>
                <a:lnTo>
                  <a:pt x="583456" y="2040516"/>
                </a:lnTo>
                <a:lnTo>
                  <a:pt x="606794" y="2034702"/>
                </a:lnTo>
                <a:lnTo>
                  <a:pt x="630132" y="2028545"/>
                </a:lnTo>
                <a:lnTo>
                  <a:pt x="653470" y="2022029"/>
                </a:lnTo>
                <a:lnTo>
                  <a:pt x="676809" y="2015139"/>
                </a:lnTo>
                <a:lnTo>
                  <a:pt x="700147" y="2007861"/>
                </a:lnTo>
                <a:lnTo>
                  <a:pt x="723485" y="2000178"/>
                </a:lnTo>
                <a:lnTo>
                  <a:pt x="746823" y="1992076"/>
                </a:lnTo>
                <a:lnTo>
                  <a:pt x="770162" y="1983539"/>
                </a:lnTo>
                <a:lnTo>
                  <a:pt x="793500" y="1974550"/>
                </a:lnTo>
                <a:lnTo>
                  <a:pt x="816838" y="1965096"/>
                </a:lnTo>
                <a:lnTo>
                  <a:pt x="840176" y="1955159"/>
                </a:lnTo>
                <a:lnTo>
                  <a:pt x="863514" y="1944724"/>
                </a:lnTo>
                <a:lnTo>
                  <a:pt x="886853" y="1933777"/>
                </a:lnTo>
                <a:lnTo>
                  <a:pt x="910191" y="1922301"/>
                </a:lnTo>
                <a:lnTo>
                  <a:pt x="933529" y="1910282"/>
                </a:lnTo>
                <a:lnTo>
                  <a:pt x="956867" y="1897706"/>
                </a:lnTo>
                <a:lnTo>
                  <a:pt x="980206" y="1884558"/>
                </a:lnTo>
                <a:lnTo>
                  <a:pt x="1003544" y="1870824"/>
                </a:lnTo>
                <a:lnTo>
                  <a:pt x="1026882" y="1856492"/>
                </a:lnTo>
                <a:lnTo>
                  <a:pt x="1050220" y="1841549"/>
                </a:lnTo>
                <a:lnTo>
                  <a:pt x="1073559" y="1825982"/>
                </a:lnTo>
                <a:lnTo>
                  <a:pt x="1096897" y="1809781"/>
                </a:lnTo>
                <a:lnTo>
                  <a:pt x="1120235" y="1792935"/>
                </a:lnTo>
                <a:lnTo>
                  <a:pt x="1143573" y="1775434"/>
                </a:lnTo>
                <a:lnTo>
                  <a:pt x="1166912" y="1757271"/>
                </a:lnTo>
                <a:lnTo>
                  <a:pt x="1190250" y="1738437"/>
                </a:lnTo>
                <a:lnTo>
                  <a:pt x="1213588" y="1718926"/>
                </a:lnTo>
                <a:lnTo>
                  <a:pt x="1236926" y="1698732"/>
                </a:lnTo>
                <a:lnTo>
                  <a:pt x="1260265" y="1677853"/>
                </a:lnTo>
                <a:lnTo>
                  <a:pt x="1283603" y="1656285"/>
                </a:lnTo>
                <a:lnTo>
                  <a:pt x="1306941" y="1634026"/>
                </a:lnTo>
                <a:lnTo>
                  <a:pt x="1330279" y="1611078"/>
                </a:lnTo>
                <a:lnTo>
                  <a:pt x="1353618" y="1587442"/>
                </a:lnTo>
                <a:lnTo>
                  <a:pt x="1376956" y="1563121"/>
                </a:lnTo>
                <a:lnTo>
                  <a:pt x="1400294" y="1538121"/>
                </a:lnTo>
                <a:lnTo>
                  <a:pt x="1423632" y="1512449"/>
                </a:lnTo>
                <a:lnTo>
                  <a:pt x="1446971" y="1486112"/>
                </a:lnTo>
                <a:lnTo>
                  <a:pt x="1470309" y="1459122"/>
                </a:lnTo>
                <a:lnTo>
                  <a:pt x="1493647" y="1431491"/>
                </a:lnTo>
                <a:lnTo>
                  <a:pt x="1516985" y="1403234"/>
                </a:lnTo>
                <a:lnTo>
                  <a:pt x="1540324" y="1374366"/>
                </a:lnTo>
                <a:lnTo>
                  <a:pt x="1563662" y="1344907"/>
                </a:lnTo>
                <a:lnTo>
                  <a:pt x="1587000" y="1314877"/>
                </a:lnTo>
                <a:lnTo>
                  <a:pt x="1610338" y="1284297"/>
                </a:lnTo>
                <a:lnTo>
                  <a:pt x="1633676" y="1253194"/>
                </a:lnTo>
                <a:lnTo>
                  <a:pt x="1657015" y="1221593"/>
                </a:lnTo>
                <a:lnTo>
                  <a:pt x="1680353" y="1189524"/>
                </a:lnTo>
                <a:lnTo>
                  <a:pt x="1703691" y="1157017"/>
                </a:lnTo>
                <a:lnTo>
                  <a:pt x="1727029" y="1124105"/>
                </a:lnTo>
                <a:lnTo>
                  <a:pt x="1750368" y="1090824"/>
                </a:lnTo>
                <a:lnTo>
                  <a:pt x="1773706" y="1057209"/>
                </a:lnTo>
                <a:lnTo>
                  <a:pt x="1797044" y="1023301"/>
                </a:lnTo>
                <a:lnTo>
                  <a:pt x="1820382" y="989139"/>
                </a:lnTo>
                <a:lnTo>
                  <a:pt x="1843721" y="954767"/>
                </a:lnTo>
                <a:lnTo>
                  <a:pt x="1867059" y="920229"/>
                </a:lnTo>
                <a:lnTo>
                  <a:pt x="1890397" y="885572"/>
                </a:lnTo>
                <a:lnTo>
                  <a:pt x="1913735" y="850842"/>
                </a:lnTo>
                <a:lnTo>
                  <a:pt x="1937074" y="816089"/>
                </a:lnTo>
                <a:lnTo>
                  <a:pt x="1960412" y="781364"/>
                </a:lnTo>
                <a:lnTo>
                  <a:pt x="1983750" y="746720"/>
                </a:lnTo>
                <a:lnTo>
                  <a:pt x="2007088" y="712208"/>
                </a:lnTo>
                <a:lnTo>
                  <a:pt x="2030427" y="677884"/>
                </a:lnTo>
                <a:lnTo>
                  <a:pt x="2053765" y="643802"/>
                </a:lnTo>
                <a:lnTo>
                  <a:pt x="2077103" y="610019"/>
                </a:lnTo>
                <a:lnTo>
                  <a:pt x="2100441" y="576590"/>
                </a:lnTo>
                <a:lnTo>
                  <a:pt x="2123780" y="543574"/>
                </a:lnTo>
                <a:lnTo>
                  <a:pt x="2147118" y="511028"/>
                </a:lnTo>
                <a:lnTo>
                  <a:pt x="2170456" y="479008"/>
                </a:lnTo>
                <a:lnTo>
                  <a:pt x="2193794" y="447574"/>
                </a:lnTo>
                <a:lnTo>
                  <a:pt x="2217133" y="416781"/>
                </a:lnTo>
                <a:lnTo>
                  <a:pt x="2240471" y="386688"/>
                </a:lnTo>
                <a:lnTo>
                  <a:pt x="2263809" y="357351"/>
                </a:lnTo>
                <a:lnTo>
                  <a:pt x="2287147" y="328825"/>
                </a:lnTo>
                <a:lnTo>
                  <a:pt x="2310486" y="301166"/>
                </a:lnTo>
                <a:lnTo>
                  <a:pt x="2333824" y="274428"/>
                </a:lnTo>
                <a:lnTo>
                  <a:pt x="2357162" y="248663"/>
                </a:lnTo>
                <a:lnTo>
                  <a:pt x="2380500" y="223923"/>
                </a:lnTo>
                <a:lnTo>
                  <a:pt x="2403838" y="200258"/>
                </a:lnTo>
                <a:lnTo>
                  <a:pt x="2427177" y="177715"/>
                </a:lnTo>
                <a:lnTo>
                  <a:pt x="2450515" y="156341"/>
                </a:lnTo>
                <a:lnTo>
                  <a:pt x="2473853" y="136180"/>
                </a:lnTo>
                <a:lnTo>
                  <a:pt x="2497191" y="117274"/>
                </a:lnTo>
                <a:lnTo>
                  <a:pt x="2520530" y="99663"/>
                </a:lnTo>
                <a:lnTo>
                  <a:pt x="2543868" y="83383"/>
                </a:lnTo>
                <a:lnTo>
                  <a:pt x="2567206" y="68470"/>
                </a:lnTo>
                <a:lnTo>
                  <a:pt x="2590544" y="54955"/>
                </a:lnTo>
                <a:lnTo>
                  <a:pt x="2613883" y="42867"/>
                </a:lnTo>
                <a:lnTo>
                  <a:pt x="2637221" y="32232"/>
                </a:lnTo>
                <a:lnTo>
                  <a:pt x="2660559" y="23073"/>
                </a:lnTo>
                <a:lnTo>
                  <a:pt x="2683897" y="15410"/>
                </a:lnTo>
                <a:lnTo>
                  <a:pt x="2707236" y="9259"/>
                </a:lnTo>
                <a:lnTo>
                  <a:pt x="2730574" y="4634"/>
                </a:lnTo>
                <a:lnTo>
                  <a:pt x="2753912" y="1546"/>
                </a:lnTo>
                <a:lnTo>
                  <a:pt x="2777250" y="0"/>
                </a:lnTo>
                <a:lnTo>
                  <a:pt x="2800589" y="0"/>
                </a:lnTo>
                <a:lnTo>
                  <a:pt x="2823927" y="1546"/>
                </a:lnTo>
                <a:lnTo>
                  <a:pt x="2847265" y="4634"/>
                </a:lnTo>
                <a:lnTo>
                  <a:pt x="2870603" y="9259"/>
                </a:lnTo>
                <a:lnTo>
                  <a:pt x="2893942" y="15410"/>
                </a:lnTo>
                <a:lnTo>
                  <a:pt x="2917280" y="23073"/>
                </a:lnTo>
                <a:lnTo>
                  <a:pt x="2940618" y="32232"/>
                </a:lnTo>
                <a:lnTo>
                  <a:pt x="2963956" y="42867"/>
                </a:lnTo>
                <a:lnTo>
                  <a:pt x="2987295" y="54955"/>
                </a:lnTo>
                <a:lnTo>
                  <a:pt x="3010633" y="68470"/>
                </a:lnTo>
                <a:lnTo>
                  <a:pt x="3033971" y="83383"/>
                </a:lnTo>
                <a:lnTo>
                  <a:pt x="3057309" y="99663"/>
                </a:lnTo>
                <a:lnTo>
                  <a:pt x="3080648" y="117274"/>
                </a:lnTo>
                <a:lnTo>
                  <a:pt x="3103986" y="136180"/>
                </a:lnTo>
                <a:lnTo>
                  <a:pt x="3127324" y="156341"/>
                </a:lnTo>
                <a:lnTo>
                  <a:pt x="3150662" y="177715"/>
                </a:lnTo>
                <a:lnTo>
                  <a:pt x="3174001" y="200258"/>
                </a:lnTo>
                <a:lnTo>
                  <a:pt x="3197339" y="223923"/>
                </a:lnTo>
                <a:lnTo>
                  <a:pt x="3220677" y="248663"/>
                </a:lnTo>
                <a:lnTo>
                  <a:pt x="3244015" y="274428"/>
                </a:lnTo>
                <a:lnTo>
                  <a:pt x="3267353" y="301166"/>
                </a:lnTo>
                <a:lnTo>
                  <a:pt x="3290692" y="328825"/>
                </a:lnTo>
                <a:lnTo>
                  <a:pt x="3314030" y="357351"/>
                </a:lnTo>
                <a:lnTo>
                  <a:pt x="3337368" y="386688"/>
                </a:lnTo>
                <a:lnTo>
                  <a:pt x="3360706" y="416781"/>
                </a:lnTo>
                <a:lnTo>
                  <a:pt x="3384045" y="447574"/>
                </a:lnTo>
                <a:lnTo>
                  <a:pt x="3407383" y="479008"/>
                </a:lnTo>
                <a:lnTo>
                  <a:pt x="3430721" y="511028"/>
                </a:lnTo>
                <a:lnTo>
                  <a:pt x="3454059" y="543574"/>
                </a:lnTo>
                <a:lnTo>
                  <a:pt x="3477398" y="576590"/>
                </a:lnTo>
                <a:lnTo>
                  <a:pt x="3500736" y="610019"/>
                </a:lnTo>
                <a:lnTo>
                  <a:pt x="3524074" y="643802"/>
                </a:lnTo>
                <a:lnTo>
                  <a:pt x="3547412" y="677884"/>
                </a:lnTo>
                <a:lnTo>
                  <a:pt x="3570751" y="712208"/>
                </a:lnTo>
                <a:lnTo>
                  <a:pt x="3594089" y="746720"/>
                </a:lnTo>
                <a:lnTo>
                  <a:pt x="3617427" y="781364"/>
                </a:lnTo>
                <a:lnTo>
                  <a:pt x="3640765" y="816089"/>
                </a:lnTo>
                <a:lnTo>
                  <a:pt x="3664104" y="850842"/>
                </a:lnTo>
                <a:lnTo>
                  <a:pt x="3687442" y="885572"/>
                </a:lnTo>
                <a:lnTo>
                  <a:pt x="3710780" y="920229"/>
                </a:lnTo>
                <a:lnTo>
                  <a:pt x="3734118" y="954767"/>
                </a:lnTo>
                <a:lnTo>
                  <a:pt x="3757457" y="989139"/>
                </a:lnTo>
                <a:lnTo>
                  <a:pt x="3780795" y="1023301"/>
                </a:lnTo>
                <a:lnTo>
                  <a:pt x="3804133" y="1057209"/>
                </a:lnTo>
                <a:lnTo>
                  <a:pt x="3827471" y="1090824"/>
                </a:lnTo>
                <a:lnTo>
                  <a:pt x="3850810" y="1124105"/>
                </a:lnTo>
                <a:lnTo>
                  <a:pt x="3874148" y="1157017"/>
                </a:lnTo>
                <a:lnTo>
                  <a:pt x="3897486" y="1189524"/>
                </a:lnTo>
                <a:lnTo>
                  <a:pt x="3920824" y="1221593"/>
                </a:lnTo>
                <a:lnTo>
                  <a:pt x="3944163" y="1253194"/>
                </a:lnTo>
                <a:lnTo>
                  <a:pt x="3967501" y="1284297"/>
                </a:lnTo>
                <a:lnTo>
                  <a:pt x="3990839" y="1314877"/>
                </a:lnTo>
                <a:lnTo>
                  <a:pt x="4014177" y="1344907"/>
                </a:lnTo>
                <a:lnTo>
                  <a:pt x="4037515" y="1374366"/>
                </a:lnTo>
                <a:lnTo>
                  <a:pt x="4060854" y="1403234"/>
                </a:lnTo>
                <a:lnTo>
                  <a:pt x="4084192" y="1431491"/>
                </a:lnTo>
                <a:lnTo>
                  <a:pt x="4107530" y="1459122"/>
                </a:lnTo>
                <a:lnTo>
                  <a:pt x="4130868" y="1486112"/>
                </a:lnTo>
                <a:lnTo>
                  <a:pt x="4154207" y="1512449"/>
                </a:lnTo>
                <a:lnTo>
                  <a:pt x="4177545" y="1538121"/>
                </a:lnTo>
                <a:lnTo>
                  <a:pt x="4200883" y="1563121"/>
                </a:lnTo>
                <a:lnTo>
                  <a:pt x="4224221" y="1587442"/>
                </a:lnTo>
                <a:lnTo>
                  <a:pt x="4247560" y="1611078"/>
                </a:lnTo>
                <a:lnTo>
                  <a:pt x="4270898" y="1634026"/>
                </a:lnTo>
                <a:lnTo>
                  <a:pt x="4294236" y="1656285"/>
                </a:lnTo>
                <a:lnTo>
                  <a:pt x="4317574" y="1677853"/>
                </a:lnTo>
                <a:lnTo>
                  <a:pt x="4340913" y="1698732"/>
                </a:lnTo>
                <a:lnTo>
                  <a:pt x="4364251" y="1718926"/>
                </a:lnTo>
                <a:lnTo>
                  <a:pt x="4387589" y="1738437"/>
                </a:lnTo>
                <a:lnTo>
                  <a:pt x="4410927" y="1757271"/>
                </a:lnTo>
                <a:lnTo>
                  <a:pt x="4434266" y="1775434"/>
                </a:lnTo>
                <a:lnTo>
                  <a:pt x="4457604" y="1792935"/>
                </a:lnTo>
                <a:lnTo>
                  <a:pt x="4480942" y="1809781"/>
                </a:lnTo>
                <a:lnTo>
                  <a:pt x="4504280" y="1825982"/>
                </a:lnTo>
                <a:lnTo>
                  <a:pt x="4527619" y="1841549"/>
                </a:lnTo>
                <a:lnTo>
                  <a:pt x="4550957" y="1856492"/>
                </a:lnTo>
                <a:lnTo>
                  <a:pt x="4574295" y="1870824"/>
                </a:lnTo>
                <a:lnTo>
                  <a:pt x="4597633" y="1884558"/>
                </a:lnTo>
                <a:lnTo>
                  <a:pt x="4620972" y="1897706"/>
                </a:lnTo>
                <a:lnTo>
                  <a:pt x="4644310" y="1910282"/>
                </a:lnTo>
                <a:lnTo>
                  <a:pt x="4667648" y="1922301"/>
                </a:lnTo>
                <a:lnTo>
                  <a:pt x="4690986" y="1933777"/>
                </a:lnTo>
                <a:lnTo>
                  <a:pt x="4714325" y="1944724"/>
                </a:lnTo>
                <a:lnTo>
                  <a:pt x="4737663" y="1955159"/>
                </a:lnTo>
                <a:lnTo>
                  <a:pt x="4761001" y="1965096"/>
                </a:lnTo>
                <a:lnTo>
                  <a:pt x="4784339" y="1974550"/>
                </a:lnTo>
                <a:lnTo>
                  <a:pt x="4807677" y="1983539"/>
                </a:lnTo>
                <a:lnTo>
                  <a:pt x="4831016" y="1992076"/>
                </a:lnTo>
                <a:lnTo>
                  <a:pt x="4854354" y="2000178"/>
                </a:lnTo>
                <a:lnTo>
                  <a:pt x="4877692" y="2007861"/>
                </a:lnTo>
                <a:lnTo>
                  <a:pt x="4901030" y="2015139"/>
                </a:lnTo>
                <a:lnTo>
                  <a:pt x="4924369" y="2022029"/>
                </a:lnTo>
                <a:lnTo>
                  <a:pt x="4947707" y="2028545"/>
                </a:lnTo>
                <a:lnTo>
                  <a:pt x="4971045" y="2034702"/>
                </a:lnTo>
                <a:lnTo>
                  <a:pt x="4994383" y="2040516"/>
                </a:lnTo>
                <a:lnTo>
                  <a:pt x="5017722" y="2046001"/>
                </a:lnTo>
                <a:lnTo>
                  <a:pt x="5041060" y="2051171"/>
                </a:lnTo>
                <a:lnTo>
                  <a:pt x="5064398" y="2056040"/>
                </a:lnTo>
                <a:lnTo>
                  <a:pt x="5087736" y="2060622"/>
                </a:lnTo>
                <a:lnTo>
                  <a:pt x="5111075" y="2064930"/>
                </a:lnTo>
                <a:lnTo>
                  <a:pt x="5134413" y="2068977"/>
                </a:lnTo>
                <a:lnTo>
                  <a:pt x="5157751" y="2072776"/>
                </a:lnTo>
                <a:lnTo>
                  <a:pt x="5181089" y="2076339"/>
                </a:lnTo>
                <a:lnTo>
                  <a:pt x="5204428" y="2079679"/>
                </a:lnTo>
                <a:lnTo>
                  <a:pt x="5227766" y="2082805"/>
                </a:lnTo>
                <a:lnTo>
                  <a:pt x="5251104" y="2085731"/>
                </a:lnTo>
                <a:lnTo>
                  <a:pt x="5274442" y="2088465"/>
                </a:lnTo>
                <a:lnTo>
                  <a:pt x="5297781" y="2091020"/>
                </a:lnTo>
                <a:lnTo>
                  <a:pt x="5321119" y="2093404"/>
                </a:lnTo>
                <a:lnTo>
                  <a:pt x="5344457" y="2095627"/>
                </a:lnTo>
                <a:lnTo>
                  <a:pt x="5367795" y="2097699"/>
                </a:lnTo>
                <a:lnTo>
                  <a:pt x="5391134" y="2099627"/>
                </a:lnTo>
                <a:lnTo>
                  <a:pt x="5414472" y="2101421"/>
                </a:lnTo>
                <a:lnTo>
                  <a:pt x="5437810" y="2103089"/>
                </a:lnTo>
                <a:lnTo>
                  <a:pt x="5461148" y="2104638"/>
                </a:lnTo>
                <a:lnTo>
                  <a:pt x="5484487" y="2106076"/>
                </a:lnTo>
                <a:lnTo>
                  <a:pt x="5507825" y="2107408"/>
                </a:lnTo>
                <a:lnTo>
                  <a:pt x="5531163" y="2108643"/>
                </a:lnTo>
                <a:lnTo>
                  <a:pt x="5554501" y="2109787"/>
                </a:lnTo>
                <a:lnTo>
                  <a:pt x="5577840" y="2110844"/>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914399" y="4480560"/>
            <a:ext cx="5806441" cy="0"/>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40479" y="2357845"/>
            <a:ext cx="0" cy="2122715"/>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325880" y="2357845"/>
            <a:ext cx="0" cy="2122715"/>
          </a:xfrm>
          <a:prstGeom prst="line">
            <a:avLst/>
          </a:prstGeom>
          <a:ln w="28575">
            <a:solidFill>
              <a:srgbClr val="0072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325880" y="2357845"/>
            <a:ext cx="2514599"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94359" y="3163170"/>
            <a:ext cx="566928" cy="503529"/>
          </a:xfrm>
          <a:prstGeom prst="rect">
            <a:avLst/>
          </a:prstGeom>
          <a:noFill/>
        </p:spPr>
        <p:txBody>
          <a:bodyPr wrap="square" lIns="0" tIns="0" rIns="0" bIns="0" anchor="t">
            <a:spAutoFit/>
          </a:bodyPr>
          <a:lstStyle/>
          <a:p>
            <a:pPr algn="r">
              <a:spcAft>
                <a:spcPts val="0"/>
              </a:spcAft>
            </a:pPr>
            <a:r>
              <a:rPr sz="2800" b="1" dirty="0">
                <a:solidFill>
                  <a:srgbClr val="0072B2"/>
                </a:solidFill>
                <a:latin typeface="Meiryo"/>
                <a:ea typeface="Meiryo"/>
                <a:cs typeface="Meiryo"/>
              </a:rPr>
              <a:t>a</a:t>
            </a:r>
          </a:p>
        </p:txBody>
      </p:sp>
      <p:cxnSp>
        <p:nvCxnSpPr>
          <p:cNvPr id="53" name="Connector 52"/>
          <p:cNvCxnSpPr/>
          <p:nvPr/>
        </p:nvCxnSpPr>
        <p:spPr>
          <a:xfrm>
            <a:off x="3840479" y="3193068"/>
            <a:ext cx="864566" cy="0"/>
          </a:xfrm>
          <a:prstGeom prst="line">
            <a:avLst/>
          </a:prstGeom>
          <a:ln w="28575">
            <a:solidFill>
              <a:srgbClr val="BF9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989298" y="2626140"/>
            <a:ext cx="5669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σ</a:t>
            </a:r>
          </a:p>
        </p:txBody>
      </p:sp>
      <p:cxnSp>
        <p:nvCxnSpPr>
          <p:cNvPr id="55" name="Connector 54"/>
          <p:cNvCxnSpPr/>
          <p:nvPr/>
        </p:nvCxnSpPr>
        <p:spPr>
          <a:xfrm>
            <a:off x="1051560" y="4736592"/>
            <a:ext cx="2788919" cy="0"/>
          </a:xfrm>
          <a:prstGeom prst="line">
            <a:avLst/>
          </a:prstGeom>
          <a:ln w="28575">
            <a:solidFill>
              <a:srgbClr val="00A8A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51560" y="4480560"/>
            <a:ext cx="0" cy="347472"/>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171700" y="4809744"/>
            <a:ext cx="548640"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μ</a:t>
            </a:r>
          </a:p>
        </p:txBody>
      </p:sp>
      <p:sp>
        <p:nvSpPr>
          <p:cNvPr id="58" name="TextBox 57"/>
          <p:cNvSpPr txBox="1"/>
          <p:nvPr/>
        </p:nvSpPr>
        <p:spPr>
          <a:xfrm>
            <a:off x="548639" y="4791456"/>
            <a:ext cx="45720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0</a:t>
            </a:r>
          </a:p>
        </p:txBody>
      </p:sp>
      <p:sp>
        <p:nvSpPr>
          <p:cNvPr id="59" name="Rounded Rectangle 58"/>
          <p:cNvSpPr/>
          <p:nvPr/>
        </p:nvSpPr>
        <p:spPr>
          <a:xfrm>
            <a:off x="7406640" y="1737360"/>
            <a:ext cx="4297680" cy="114300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571231" y="1883664"/>
            <a:ext cx="3968496"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a　高さ</a:t>
            </a:r>
          </a:p>
        </p:txBody>
      </p:sp>
      <p:sp>
        <p:nvSpPr>
          <p:cNvPr id="61" name="TextBox 60"/>
          <p:cNvSpPr txBox="1"/>
          <p:nvPr/>
        </p:nvSpPr>
        <p:spPr>
          <a:xfrm>
            <a:off x="7571231" y="2395728"/>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反射波なら その大きさ</a:t>
            </a:r>
          </a:p>
        </p:txBody>
      </p:sp>
      <p:sp>
        <p:nvSpPr>
          <p:cNvPr id="62" name="Rounded Rectangle 61"/>
          <p:cNvSpPr/>
          <p:nvPr/>
        </p:nvSpPr>
        <p:spPr>
          <a:xfrm>
            <a:off x="7406640" y="3063239"/>
            <a:ext cx="4297680" cy="114300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571231" y="3209544"/>
            <a:ext cx="3968496"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μ　位置</a:t>
            </a:r>
          </a:p>
        </p:txBody>
      </p:sp>
      <p:sp>
        <p:nvSpPr>
          <p:cNvPr id="64" name="TextBox 63"/>
          <p:cNvSpPr txBox="1"/>
          <p:nvPr/>
        </p:nvSpPr>
        <p:spPr>
          <a:xfrm>
            <a:off x="7571231" y="3721607"/>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反射波が 戻った時刻</a:t>
            </a:r>
          </a:p>
        </p:txBody>
      </p:sp>
      <p:sp>
        <p:nvSpPr>
          <p:cNvPr id="65" name="Rounded Rectangle 64"/>
          <p:cNvSpPr/>
          <p:nvPr/>
        </p:nvSpPr>
        <p:spPr>
          <a:xfrm>
            <a:off x="7406640" y="4389120"/>
            <a:ext cx="4297680" cy="114300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571231" y="4535424"/>
            <a:ext cx="3968496" cy="467563"/>
          </a:xfrm>
          <a:prstGeom prst="rect">
            <a:avLst/>
          </a:prstGeom>
          <a:noFill/>
        </p:spPr>
        <p:txBody>
          <a:bodyPr wrap="square" lIns="0" tIns="0" rIns="0" bIns="0" anchor="t">
            <a:spAutoFit/>
          </a:bodyPr>
          <a:lstStyle/>
          <a:p>
            <a:pPr algn="l">
              <a:spcAft>
                <a:spcPts val="0"/>
              </a:spcAft>
            </a:pPr>
            <a:r>
              <a:rPr sz="2600" b="1" dirty="0">
                <a:solidFill>
                  <a:srgbClr val="BF9000"/>
                </a:solidFill>
                <a:latin typeface="Meiryo"/>
                <a:ea typeface="Meiryo"/>
                <a:cs typeface="Meiryo"/>
              </a:rPr>
              <a:t>σ　幅</a:t>
            </a:r>
          </a:p>
        </p:txBody>
      </p:sp>
      <p:sp>
        <p:nvSpPr>
          <p:cNvPr id="67" name="TextBox 66"/>
          <p:cNvSpPr txBox="1"/>
          <p:nvPr/>
        </p:nvSpPr>
        <p:spPr>
          <a:xfrm>
            <a:off x="7571231" y="5047488"/>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波が続く長さ</a:t>
            </a:r>
          </a:p>
        </p:txBody>
      </p:sp>
      <p:sp>
        <p:nvSpPr>
          <p:cNvPr id="68" name="Rounded Rectangle 67"/>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85800" y="5907024"/>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成分波 1 本は この 3 つの数字だけで決まる</a:t>
            </a:r>
          </a:p>
        </p:txBody>
      </p:sp>
    </p:spTree>
    <p:extLst>
      <p:ext uri="{BB962C8B-B14F-4D97-AF65-F5344CB8AC3E}">
        <p14:creationId xmlns:p14="http://schemas.microsoft.com/office/powerpoint/2010/main" val="23224547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p:cNvSpPr txBox="1"/>
          <p:nvPr/>
        </p:nvSpPr>
        <p:spPr>
          <a:xfrm>
            <a:off x="548640" y="1737360"/>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p:cNvSpPr/>
          <p:nvPr/>
        </p:nvSpPr>
        <p:spPr>
          <a:xfrm>
            <a:off x="777240" y="2212848"/>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77724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p:cNvSpPr txBox="1"/>
          <p:nvPr/>
        </p:nvSpPr>
        <p:spPr>
          <a:xfrm>
            <a:off x="4389120" y="1737360"/>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p:cNvSpPr/>
          <p:nvPr/>
        </p:nvSpPr>
        <p:spPr>
          <a:xfrm>
            <a:off x="4617720" y="2212848"/>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461772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8056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p:cNvSpPr txBox="1"/>
          <p:nvPr/>
        </p:nvSpPr>
        <p:spPr>
          <a:xfrm>
            <a:off x="8229600" y="1737360"/>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p:cNvSpPr/>
          <p:nvPr/>
        </p:nvSpPr>
        <p:spPr>
          <a:xfrm>
            <a:off x="8458200" y="2212848"/>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845820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2104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対称形に歪みを</a:t>
            </a:r>
          </a:p>
          <a:p>
            <a:pPr algn="ctr">
              <a:spcAft>
                <a:spcPts val="500"/>
              </a:spcAft>
            </a:pPr>
            <a:r>
              <a:rPr sz="2200" b="0">
                <a:solidFill>
                  <a:srgbClr val="262626"/>
                </a:solidFill>
                <a:latin typeface="Meiryo"/>
                <a:ea typeface="Meiryo"/>
                <a:cs typeface="Meiryo"/>
              </a:rPr>
              <a:t>1つ足しただけ</a:t>
            </a:r>
          </a:p>
          <a:p>
            <a:pPr algn="ctr">
              <a:spcAft>
                <a:spcPts val="500"/>
              </a:spcAft>
            </a:pPr>
            <a:r>
              <a:rPr sz="2200" b="0">
                <a:solidFill>
                  <a:srgbClr val="262626"/>
                </a:solidFill>
                <a:latin typeface="Meiryo"/>
                <a:ea typeface="Meiryo"/>
                <a:cs typeface="Meiryo"/>
              </a:rPr>
              <a:t>意味が保たれる</a:t>
            </a:r>
          </a:p>
        </p:txBody>
      </p:sp>
      <p:sp>
        <p:nvSpPr>
          <p:cNvPr id="27" name="Rounded Rectangle 26"/>
          <p:cNvSpPr/>
          <p:nvPr/>
        </p:nvSpPr>
        <p:spPr>
          <a:xfrm>
            <a:off x="411480" y="5074920"/>
            <a:ext cx="11356848" cy="118872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4360" y="5257800"/>
            <a:ext cx="10991088" cy="1030782"/>
          </a:xfrm>
          <a:prstGeom prst="rect">
            <a:avLst/>
          </a:prstGeom>
          <a:noFill/>
        </p:spPr>
        <p:txBody>
          <a:bodyPr wrap="square" lIns="0" tIns="0" rIns="0" bIns="0" anchor="t">
            <a:spAutoFit/>
          </a:bodyPr>
          <a:lstStyle/>
          <a:p>
            <a:pPr algn="ctr">
              <a:spcAft>
                <a:spcPts val="400"/>
              </a:spcAft>
            </a:pPr>
            <a:r>
              <a:rPr sz="2500" b="1" dirty="0">
                <a:solidFill>
                  <a:srgbClr val="262626"/>
                </a:solidFill>
                <a:latin typeface="Meiryo"/>
                <a:ea typeface="Meiryo"/>
                <a:cs typeface="Meiryo"/>
              </a:rPr>
              <a:t>7,805 </a:t>
            </a:r>
            <a:r>
              <a:rPr sz="2500" b="1" dirty="0" err="1">
                <a:solidFill>
                  <a:srgbClr val="262626"/>
                </a:solidFill>
                <a:latin typeface="Meiryo"/>
                <a:ea typeface="Meiryo"/>
                <a:cs typeface="Meiryo"/>
              </a:rPr>
              <a:t>拍で総当たりしても正解の形は決まらない</a:t>
            </a:r>
            <a:endParaRPr sz="2500" b="1" dirty="0">
              <a:solidFill>
                <a:srgbClr val="262626"/>
              </a:solidFill>
              <a:latin typeface="Meiryo"/>
              <a:ea typeface="Meiryo"/>
              <a:cs typeface="Meiryo"/>
            </a:endParaRPr>
          </a:p>
          <a:p>
            <a:pPr algn="ctr">
              <a:spcAft>
                <a:spcPts val="400"/>
              </a:spcAft>
            </a:pPr>
            <a:r>
              <a:rPr sz="2500" b="1" dirty="0" err="1">
                <a:solidFill>
                  <a:srgbClr val="262626"/>
                </a:solidFill>
                <a:latin typeface="Meiryo"/>
                <a:ea typeface="Meiryo"/>
                <a:cs typeface="Meiryo"/>
              </a:rPr>
              <a:t>最頻の</a:t>
            </a:r>
            <a:r>
              <a:rPr sz="2500" b="1" dirty="0">
                <a:solidFill>
                  <a:srgbClr val="262626"/>
                </a:solidFill>
                <a:latin typeface="Meiryo"/>
                <a:ea typeface="Meiryo"/>
                <a:cs typeface="Meiryo"/>
              </a:rPr>
              <a:t> Gamma 3 </a:t>
            </a:r>
            <a:r>
              <a:rPr sz="2500" b="1" dirty="0" err="1">
                <a:solidFill>
                  <a:srgbClr val="262626"/>
                </a:solidFill>
                <a:latin typeface="Meiryo"/>
                <a:ea typeface="Meiryo"/>
                <a:cs typeface="Meiryo"/>
              </a:rPr>
              <a:t>個でも</a:t>
            </a:r>
            <a:r>
              <a:rPr sz="2500" b="1" dirty="0">
                <a:solidFill>
                  <a:srgbClr val="262626"/>
                </a:solidFill>
                <a:latin typeface="Meiryo"/>
                <a:ea typeface="Meiryo"/>
                <a:cs typeface="Meiryo"/>
              </a:rPr>
              <a:t> 28.1% </a:t>
            </a:r>
            <a:r>
              <a:rPr sz="2500" b="1" dirty="0" err="1">
                <a:solidFill>
                  <a:srgbClr val="262626"/>
                </a:solidFill>
                <a:latin typeface="Meiryo"/>
                <a:ea typeface="Meiryo"/>
                <a:cs typeface="Meiryo"/>
              </a:rPr>
              <a:t>どまり（Tigges</a:t>
            </a:r>
            <a:r>
              <a:rPr sz="2500" b="1" dirty="0">
                <a:solidFill>
                  <a:srgbClr val="262626"/>
                </a:solidFill>
                <a:latin typeface="Meiryo"/>
                <a:ea typeface="Meiryo"/>
                <a:cs typeface="Meiryo"/>
              </a:rPr>
              <a:t> 2017）</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a:extLst>
              <a:ext uri="{FF2B5EF4-FFF2-40B4-BE49-F238E27FC236}">
                <a16:creationId xmlns:a16="http://schemas.microsoft.com/office/drawing/2014/main" id="{3833998A-457E-9517-AC51-7392B3AB9F9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6FD1F6AC-8896-00EB-53CF-2549B9635C1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0FE4E3-5BF5-4B02-139A-F3CEEC8A990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4D544DA-5DD1-5BFB-870D-BCC95FE8A73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3496B422-F550-0E29-8A22-385092E09242}"/>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48/72</a:t>
            </a:r>
          </a:p>
        </p:txBody>
      </p:sp>
    </p:spTree>
    <p:extLst>
      <p:ext uri="{BB962C8B-B14F-4D97-AF65-F5344CB8AC3E}">
        <p14:creationId xmlns:p14="http://schemas.microsoft.com/office/powerpoint/2010/main" val="1564961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0" name="TextBox 29"/>
          <p:cNvSpPr txBox="1"/>
          <p:nvPr/>
        </p:nvSpPr>
        <p:spPr>
          <a:xfrm>
            <a:off x="502920" y="1691640"/>
            <a:ext cx="11201400" cy="411480"/>
          </a:xfrm>
          <a:prstGeom prst="rect">
            <a:avLst/>
          </a:prstGeom>
          <a:noFill/>
        </p:spPr>
        <p:txBody>
          <a:bodyPr wrap="square" lIns="0" tIns="0" rIns="0" bIns="0" anchor="t">
            <a:spAutoFit/>
          </a:bodyPr>
          <a:lstStyle/>
          <a:p>
            <a:pPr algn="l"/>
            <a:r>
              <a:rPr sz="2400" b="1">
                <a:solidFill>
                  <a:srgbClr val="808080"/>
                </a:solidFill>
                <a:latin typeface="Meiryo"/>
                <a:ea typeface="Meiryo"/>
                <a:cs typeface="Meiryo"/>
              </a:rPr>
              <a:t>カーネル ＝ 当てはめに使う成分波 1 本 1 本</a:t>
            </a:r>
          </a:p>
        </p:txBody>
      </p:sp>
      <p:sp>
        <p:nvSpPr>
          <p:cNvPr id="31" name="Rounded Rectangle 30"/>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p:cNvSpPr txBox="1"/>
          <p:nvPr/>
        </p:nvSpPr>
        <p:spPr>
          <a:xfrm>
            <a:off x="612648"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前進波 ＋ 反射波</a:t>
            </a:r>
          </a:p>
          <a:p>
            <a:pPr algn="ctr">
              <a:spcAft>
                <a:spcPts val="400"/>
              </a:spcAft>
            </a:pPr>
            <a:r>
              <a:rPr sz="2200" b="0">
                <a:solidFill>
                  <a:srgbClr val="262626"/>
                </a:solidFill>
                <a:latin typeface="Meiryo"/>
                <a:ea typeface="Meiryo"/>
                <a:cs typeface="Meiryo"/>
              </a:rPr>
              <a:t>解釈がはっきりする</a:t>
            </a:r>
          </a:p>
          <a:p>
            <a:pPr algn="ctr">
              <a:spcAft>
                <a:spcPts val="400"/>
              </a:spcAft>
            </a:pPr>
            <a:r>
              <a:rPr sz="2200" b="0">
                <a:solidFill>
                  <a:srgbClr val="262626"/>
                </a:solidFill>
                <a:latin typeface="Meiryo"/>
                <a:ea typeface="Meiryo"/>
                <a:cs typeface="Meiryo"/>
              </a:rPr>
              <a:t>ノイズに強い</a:t>
            </a:r>
          </a:p>
        </p:txBody>
      </p:sp>
      <p:sp>
        <p:nvSpPr>
          <p:cNvPr id="34" name="TextBox 33"/>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p:cNvSpPr txBox="1"/>
          <p:nvPr/>
        </p:nvSpPr>
        <p:spPr>
          <a:xfrm>
            <a:off x="4416552"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反射が複数回戻ると</a:t>
            </a:r>
          </a:p>
          <a:p>
            <a:pPr algn="ctr">
              <a:spcAft>
                <a:spcPts val="400"/>
              </a:spcAft>
            </a:pPr>
            <a:r>
              <a:rPr sz="2200" b="0">
                <a:solidFill>
                  <a:srgbClr val="262626"/>
                </a:solidFill>
                <a:latin typeface="Meiryo"/>
                <a:ea typeface="Meiryo"/>
                <a:cs typeface="Meiryo"/>
              </a:rPr>
              <a:t>みなす</a:t>
            </a:r>
          </a:p>
          <a:p>
            <a:pPr algn="ctr">
              <a:spcAft>
                <a:spcPts val="400"/>
              </a:spcAft>
            </a:pPr>
            <a:r>
              <a:rPr sz="2200" b="0">
                <a:solidFill>
                  <a:srgbClr val="262626"/>
                </a:solidFill>
                <a:latin typeface="Meiryo"/>
                <a:ea typeface="Meiryo"/>
                <a:cs typeface="Meiryo"/>
              </a:rPr>
              <a:t>当てはまりは良い</a:t>
            </a:r>
          </a:p>
        </p:txBody>
      </p:sp>
      <p:sp>
        <p:nvSpPr>
          <p:cNvPr id="38" name="TextBox 37"/>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47888" y="2423160"/>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もっと多い</a:t>
            </a:r>
          </a:p>
        </p:txBody>
      </p:sp>
      <p:sp>
        <p:nvSpPr>
          <p:cNvPr id="41" name="TextBox 40"/>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85800" y="5248656"/>
            <a:ext cx="10835640" cy="73152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本数を増やせば残差は小さくなるが、解が一意でなくなる</a:t>
            </a:r>
          </a:p>
          <a:p>
            <a:pPr algn="ctr">
              <a:spcAft>
                <a:spcPts val="300"/>
              </a:spcAft>
            </a:pPr>
            <a:r>
              <a:rPr sz="2400" b="1">
                <a:solidFill>
                  <a:srgbClr val="262626"/>
                </a:solidFill>
                <a:latin typeface="Meiryo"/>
                <a:ea typeface="Meiryo"/>
                <a:cs typeface="Meiryo"/>
              </a:rPr>
              <a:t>カーネル 2 本がもっとも頑健という報告が複数ある</a:t>
            </a:r>
          </a:p>
        </p:txBody>
      </p:sp>
      <p:sp>
        <p:nvSpPr>
          <p:cNvPr id="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C9E0CD2C-19B9-290D-A5DD-CDE25A0C83F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0D8DDD64-B24A-6EB3-6744-6744F8A91EB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8E90A1E-C929-9B79-CB1B-5077C642DC0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FB52B431-A852-C6D2-4A6A-A982C5CDC54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9CBA59A6-0DF5-438F-7823-2883C905A9A4}"/>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49/72</a:t>
            </a:r>
          </a:p>
        </p:txBody>
      </p:sp>
    </p:spTree>
    <p:extLst>
      <p:ext uri="{BB962C8B-B14F-4D97-AF65-F5344CB8AC3E}">
        <p14:creationId xmlns:p14="http://schemas.microsoft.com/office/powerpoint/2010/main" val="30374790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5.3  当てはめの手順</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42. Couceiro 2015　／　43. Tigges 2017</a:t>
            </a:r>
          </a:p>
        </p:txBody>
      </p:sp>
      <p:sp>
        <p:nvSpPr>
          <p:cNvPr id="18" name="Rounded Rectangle 17"/>
          <p:cNvSpPr/>
          <p:nvPr/>
        </p:nvSpPr>
        <p:spPr>
          <a:xfrm>
            <a:off x="411480" y="1783080"/>
            <a:ext cx="2761488" cy="32461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1938528"/>
            <a:ext cx="2487168" cy="597121"/>
          </a:xfrm>
          <a:prstGeom prst="rect">
            <a:avLst/>
          </a:prstGeom>
          <a:noFill/>
        </p:spPr>
        <p:txBody>
          <a:bodyPr wrap="square" lIns="0" tIns="0" rIns="0" bIns="0" anchor="t">
            <a:spAutoFit/>
          </a:bodyPr>
          <a:lstStyle/>
          <a:p>
            <a:pPr algn="ctr"/>
            <a:r>
              <a:rPr sz="2800" b="1">
                <a:solidFill>
                  <a:srgbClr val="0072B2"/>
                </a:solidFill>
                <a:latin typeface="Meiryo"/>
                <a:ea typeface="Meiryo"/>
                <a:cs typeface="Meiryo"/>
              </a:rPr>
              <a:t>①</a:t>
            </a:r>
          </a:p>
        </p:txBody>
      </p:sp>
      <p:sp>
        <p:nvSpPr>
          <p:cNvPr id="20" name="TextBox 19"/>
          <p:cNvSpPr txBox="1"/>
          <p:nvPr/>
        </p:nvSpPr>
        <p:spPr>
          <a:xfrm>
            <a:off x="548640" y="2468880"/>
            <a:ext cx="2487168" cy="52303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波を切り出す</a:t>
            </a:r>
          </a:p>
        </p:txBody>
      </p:sp>
      <p:sp>
        <p:nvSpPr>
          <p:cNvPr id="21" name="TextBox 20"/>
          <p:cNvSpPr txBox="1"/>
          <p:nvPr/>
        </p:nvSpPr>
        <p:spPr>
          <a:xfrm>
            <a:off x="502920"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一拍ごとに</a:t>
            </a:r>
          </a:p>
          <a:p>
            <a:pPr algn="ctr">
              <a:spcAft>
                <a:spcPts val="600"/>
              </a:spcAft>
            </a:pPr>
            <a:r>
              <a:rPr sz="2200" b="0">
                <a:solidFill>
                  <a:srgbClr val="262626"/>
                </a:solidFill>
                <a:latin typeface="Meiryo"/>
                <a:ea typeface="Meiryo"/>
                <a:cs typeface="Meiryo"/>
              </a:rPr>
              <a:t>取り出して</a:t>
            </a:r>
          </a:p>
          <a:p>
            <a:pPr algn="ctr">
              <a:spcAft>
                <a:spcPts val="600"/>
              </a:spcAft>
            </a:pPr>
            <a:r>
              <a:rPr sz="2200" b="0">
                <a:solidFill>
                  <a:srgbClr val="262626"/>
                </a:solidFill>
                <a:latin typeface="Meiryo"/>
                <a:ea typeface="Meiryo"/>
                <a:cs typeface="Meiryo"/>
              </a:rPr>
              <a:t>正規化する</a:t>
            </a:r>
          </a:p>
        </p:txBody>
      </p:sp>
      <p:sp>
        <p:nvSpPr>
          <p:cNvPr id="22" name="Right Arrow 21"/>
          <p:cNvSpPr/>
          <p:nvPr/>
        </p:nvSpPr>
        <p:spPr>
          <a:xfrm>
            <a:off x="3209544"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3300984" y="1783080"/>
            <a:ext cx="2761488" cy="32461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438144" y="1938528"/>
            <a:ext cx="2487168" cy="597121"/>
          </a:xfrm>
          <a:prstGeom prst="rect">
            <a:avLst/>
          </a:prstGeom>
          <a:noFill/>
        </p:spPr>
        <p:txBody>
          <a:bodyPr wrap="square" lIns="0" tIns="0" rIns="0" bIns="0" anchor="t">
            <a:spAutoFit/>
          </a:bodyPr>
          <a:lstStyle/>
          <a:p>
            <a:pPr algn="ctr"/>
            <a:r>
              <a:rPr sz="2800" b="1">
                <a:solidFill>
                  <a:srgbClr val="00A8AA"/>
                </a:solidFill>
                <a:latin typeface="Meiryo"/>
                <a:ea typeface="Meiryo"/>
                <a:cs typeface="Meiryo"/>
              </a:rPr>
              <a:t>②</a:t>
            </a:r>
          </a:p>
        </p:txBody>
      </p:sp>
      <p:sp>
        <p:nvSpPr>
          <p:cNvPr id="25" name="TextBox 24"/>
          <p:cNvSpPr txBox="1"/>
          <p:nvPr/>
        </p:nvSpPr>
        <p:spPr>
          <a:xfrm>
            <a:off x="3438144" y="2468880"/>
            <a:ext cx="2487168" cy="52303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成分波の形を決める</a:t>
            </a:r>
          </a:p>
        </p:txBody>
      </p:sp>
      <p:sp>
        <p:nvSpPr>
          <p:cNvPr id="26" name="TextBox 25"/>
          <p:cNvSpPr txBox="1"/>
          <p:nvPr/>
        </p:nvSpPr>
        <p:spPr>
          <a:xfrm>
            <a:off x="3392424"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ガウス関数など</a:t>
            </a:r>
          </a:p>
          <a:p>
            <a:pPr algn="ctr">
              <a:spcAft>
                <a:spcPts val="600"/>
              </a:spcAft>
            </a:pPr>
            <a:r>
              <a:rPr sz="2200" b="0">
                <a:solidFill>
                  <a:srgbClr val="262626"/>
                </a:solidFill>
                <a:latin typeface="Meiryo"/>
                <a:ea typeface="Meiryo"/>
                <a:cs typeface="Meiryo"/>
              </a:rPr>
              <a:t>基底関数の</a:t>
            </a:r>
          </a:p>
          <a:p>
            <a:pPr algn="ctr">
              <a:spcAft>
                <a:spcPts val="600"/>
              </a:spcAft>
            </a:pPr>
            <a:r>
              <a:rPr sz="2200" b="0">
                <a:solidFill>
                  <a:srgbClr val="262626"/>
                </a:solidFill>
                <a:latin typeface="Meiryo"/>
                <a:ea typeface="Meiryo"/>
                <a:cs typeface="Meiryo"/>
              </a:rPr>
              <a:t>種類と個数</a:t>
            </a:r>
          </a:p>
        </p:txBody>
      </p:sp>
      <p:sp>
        <p:nvSpPr>
          <p:cNvPr id="27" name="Right Arrow 26"/>
          <p:cNvSpPr/>
          <p:nvPr/>
        </p:nvSpPr>
        <p:spPr>
          <a:xfrm>
            <a:off x="6099048"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190488" y="1783080"/>
            <a:ext cx="2761488" cy="32461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27648" y="1938528"/>
            <a:ext cx="2487168" cy="597121"/>
          </a:xfrm>
          <a:prstGeom prst="rect">
            <a:avLst/>
          </a:prstGeom>
          <a:noFill/>
        </p:spPr>
        <p:txBody>
          <a:bodyPr wrap="square" lIns="0" tIns="0" rIns="0" bIns="0" anchor="t">
            <a:spAutoFit/>
          </a:bodyPr>
          <a:lstStyle/>
          <a:p>
            <a:pPr algn="ctr"/>
            <a:r>
              <a:rPr sz="2800" b="1">
                <a:solidFill>
                  <a:srgbClr val="BF9000"/>
                </a:solidFill>
                <a:latin typeface="Meiryo"/>
                <a:ea typeface="Meiryo"/>
                <a:cs typeface="Meiryo"/>
              </a:rPr>
              <a:t>③</a:t>
            </a:r>
          </a:p>
        </p:txBody>
      </p:sp>
      <p:sp>
        <p:nvSpPr>
          <p:cNvPr id="30" name="TextBox 29"/>
          <p:cNvSpPr txBox="1"/>
          <p:nvPr/>
        </p:nvSpPr>
        <p:spPr>
          <a:xfrm>
            <a:off x="6327648" y="2468880"/>
            <a:ext cx="2487168" cy="52303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当てはめる</a:t>
            </a:r>
          </a:p>
        </p:txBody>
      </p:sp>
      <p:sp>
        <p:nvSpPr>
          <p:cNvPr id="31" name="TextBox 30"/>
          <p:cNvSpPr txBox="1"/>
          <p:nvPr/>
        </p:nvSpPr>
        <p:spPr>
          <a:xfrm>
            <a:off x="6281928"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最小二乗などで</a:t>
            </a:r>
          </a:p>
          <a:p>
            <a:pPr algn="ctr">
              <a:spcAft>
                <a:spcPts val="600"/>
              </a:spcAft>
            </a:pPr>
            <a:r>
              <a:rPr sz="2200" b="0">
                <a:solidFill>
                  <a:srgbClr val="262626"/>
                </a:solidFill>
                <a:latin typeface="Meiryo"/>
                <a:ea typeface="Meiryo"/>
                <a:cs typeface="Meiryo"/>
              </a:rPr>
              <a:t>成分波の位置・高さ</a:t>
            </a:r>
          </a:p>
          <a:p>
            <a:pPr algn="ctr">
              <a:spcAft>
                <a:spcPts val="600"/>
              </a:spcAft>
            </a:pPr>
            <a:r>
              <a:rPr sz="2200" b="0">
                <a:solidFill>
                  <a:srgbClr val="262626"/>
                </a:solidFill>
                <a:latin typeface="Meiryo"/>
                <a:ea typeface="Meiryo"/>
                <a:cs typeface="Meiryo"/>
              </a:rPr>
              <a:t>幅を推定する</a:t>
            </a:r>
          </a:p>
        </p:txBody>
      </p:sp>
      <p:sp>
        <p:nvSpPr>
          <p:cNvPr id="32" name="Right Arrow 31"/>
          <p:cNvSpPr/>
          <p:nvPr/>
        </p:nvSpPr>
        <p:spPr>
          <a:xfrm>
            <a:off x="8988552"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9079992" y="1783080"/>
            <a:ext cx="2761488" cy="32461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217152" y="1938528"/>
            <a:ext cx="2487168" cy="597121"/>
          </a:xfrm>
          <a:prstGeom prst="rect">
            <a:avLst/>
          </a:prstGeom>
          <a:noFill/>
        </p:spPr>
        <p:txBody>
          <a:bodyPr wrap="square" lIns="0" tIns="0" rIns="0" bIns="0" anchor="t">
            <a:spAutoFit/>
          </a:bodyPr>
          <a:lstStyle/>
          <a:p>
            <a:pPr algn="ctr"/>
            <a:r>
              <a:rPr sz="2800" b="1">
                <a:solidFill>
                  <a:srgbClr val="D55E00"/>
                </a:solidFill>
                <a:latin typeface="Meiryo"/>
                <a:ea typeface="Meiryo"/>
                <a:cs typeface="Meiryo"/>
              </a:rPr>
              <a:t>④</a:t>
            </a:r>
          </a:p>
        </p:txBody>
      </p:sp>
      <p:sp>
        <p:nvSpPr>
          <p:cNvPr id="35" name="TextBox 34"/>
          <p:cNvSpPr txBox="1"/>
          <p:nvPr/>
        </p:nvSpPr>
        <p:spPr>
          <a:xfrm>
            <a:off x="9217152" y="2468880"/>
            <a:ext cx="2487168" cy="52303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指標を作る</a:t>
            </a:r>
          </a:p>
        </p:txBody>
      </p:sp>
      <p:sp>
        <p:nvSpPr>
          <p:cNvPr id="36" name="TextBox 35"/>
          <p:cNvSpPr txBox="1"/>
          <p:nvPr/>
        </p:nvSpPr>
        <p:spPr>
          <a:xfrm>
            <a:off x="9171432"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成分波どうしの</a:t>
            </a:r>
          </a:p>
          <a:p>
            <a:pPr algn="ctr">
              <a:spcAft>
                <a:spcPts val="600"/>
              </a:spcAft>
            </a:pPr>
            <a:r>
              <a:rPr sz="2200" b="0">
                <a:solidFill>
                  <a:srgbClr val="262626"/>
                </a:solidFill>
                <a:latin typeface="Meiryo"/>
                <a:ea typeface="Meiryo"/>
                <a:cs typeface="Meiryo"/>
              </a:rPr>
              <a:t>時間差と振幅比が</a:t>
            </a:r>
          </a:p>
          <a:p>
            <a:pPr algn="ctr">
              <a:spcAft>
                <a:spcPts val="600"/>
              </a:spcAft>
            </a:pPr>
            <a:r>
              <a:rPr sz="2200" b="0">
                <a:solidFill>
                  <a:srgbClr val="262626"/>
                </a:solidFill>
                <a:latin typeface="Meiryo"/>
                <a:ea typeface="Meiryo"/>
                <a:cs typeface="Meiryo"/>
              </a:rPr>
              <a:t>SI・RI になる</a:t>
            </a:r>
          </a:p>
        </p:txBody>
      </p:sp>
      <p:sp>
        <p:nvSpPr>
          <p:cNvPr id="37" name="Rounded Rectangle 36"/>
          <p:cNvSpPr/>
          <p:nvPr/>
        </p:nvSpPr>
        <p:spPr>
          <a:xfrm>
            <a:off x="411480" y="5257800"/>
            <a:ext cx="11356848" cy="10058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4360" y="5440680"/>
            <a:ext cx="10991088" cy="1030782"/>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むずかしいのは ② ： 「どの形の成分波を何個使うか」が決まっていない</a:t>
            </a:r>
          </a:p>
          <a:p>
            <a:pPr algn="ctr">
              <a:spcAft>
                <a:spcPts val="400"/>
              </a:spcAft>
            </a:pPr>
            <a:r>
              <a:rPr sz="2500" b="1">
                <a:solidFill>
                  <a:srgbClr val="262626"/>
                </a:solidFill>
                <a:latin typeface="Meiryo"/>
                <a:ea typeface="Meiryo"/>
                <a:cs typeface="Meiryo"/>
              </a:rPr>
              <a:t>同じ波形でも、選び方しだいで答えが変わる</a:t>
            </a:r>
          </a:p>
        </p:txBody>
      </p:sp>
      <p:sp>
        <p:nvSpPr>
          <p:cNvPr id="3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50/72</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30" name="Rounded Rectangle 29"/>
          <p:cNvSpPr/>
          <p:nvPr/>
        </p:nvSpPr>
        <p:spPr>
          <a:xfrm>
            <a:off x="502920" y="1737360"/>
            <a:ext cx="3529584" cy="24231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12648" y="1920240"/>
            <a:ext cx="3310128"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残差を測る</a:t>
            </a:r>
          </a:p>
        </p:txBody>
      </p:sp>
      <p:sp>
        <p:nvSpPr>
          <p:cNvPr id="32" name="TextBox 31"/>
          <p:cNvSpPr txBox="1"/>
          <p:nvPr/>
        </p:nvSpPr>
        <p:spPr>
          <a:xfrm>
            <a:off x="612648"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実測 と モデルの差を</a:t>
            </a:r>
          </a:p>
          <a:p>
            <a:pPr algn="ctr">
              <a:spcAft>
                <a:spcPts val="400"/>
              </a:spcAft>
            </a:pPr>
            <a:r>
              <a:rPr sz="2200" b="0">
                <a:solidFill>
                  <a:srgbClr val="262626"/>
                </a:solidFill>
                <a:latin typeface="Meiryo"/>
                <a:ea typeface="Meiryo"/>
                <a:cs typeface="Meiryo"/>
              </a:rPr>
              <a:t>二乗して足し合わせる</a:t>
            </a:r>
          </a:p>
          <a:p>
            <a:pPr algn="ctr">
              <a:spcAft>
                <a:spcPts val="400"/>
              </a:spcAft>
            </a:pPr>
            <a:r>
              <a:rPr sz="2200" b="0">
                <a:solidFill>
                  <a:srgbClr val="262626"/>
                </a:solidFill>
                <a:latin typeface="Meiryo"/>
                <a:ea typeface="Meiryo"/>
                <a:cs typeface="Meiryo"/>
              </a:rPr>
              <a:t>（残差平方和）</a:t>
            </a:r>
          </a:p>
        </p:txBody>
      </p:sp>
      <p:sp>
        <p:nvSpPr>
          <p:cNvPr id="33" name="Right Arrow 32"/>
          <p:cNvSpPr/>
          <p:nvPr/>
        </p:nvSpPr>
        <p:spPr>
          <a:xfrm>
            <a:off x="4078224"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4306824" y="1737360"/>
            <a:ext cx="3529584" cy="24231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416552" y="1920240"/>
            <a:ext cx="3310128"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少しずつ動かす</a:t>
            </a:r>
          </a:p>
        </p:txBody>
      </p:sp>
      <p:sp>
        <p:nvSpPr>
          <p:cNvPr id="36" name="TextBox 35"/>
          <p:cNvSpPr txBox="1"/>
          <p:nvPr/>
        </p:nvSpPr>
        <p:spPr>
          <a:xfrm>
            <a:off x="4416552"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初期値から反復計算で</a:t>
            </a:r>
          </a:p>
          <a:p>
            <a:pPr algn="ctr">
              <a:spcAft>
                <a:spcPts val="400"/>
              </a:spcAft>
            </a:pPr>
            <a:r>
              <a:rPr sz="2200" b="0">
                <a:solidFill>
                  <a:srgbClr val="262626"/>
                </a:solidFill>
                <a:latin typeface="Meiryo"/>
                <a:ea typeface="Meiryo"/>
                <a:cs typeface="Meiryo"/>
              </a:rPr>
              <a:t>残差が最小になる</a:t>
            </a:r>
          </a:p>
          <a:p>
            <a:pPr algn="ctr">
              <a:spcAft>
                <a:spcPts val="400"/>
              </a:spcAft>
            </a:pPr>
            <a:r>
              <a:rPr sz="2200" b="0">
                <a:solidFill>
                  <a:srgbClr val="262626"/>
                </a:solidFill>
                <a:latin typeface="Meiryo"/>
                <a:ea typeface="Meiryo"/>
                <a:cs typeface="Meiryo"/>
              </a:rPr>
              <a:t>パラメータを探す</a:t>
            </a:r>
          </a:p>
        </p:txBody>
      </p:sp>
      <p:sp>
        <p:nvSpPr>
          <p:cNvPr id="37" name="Right Arrow 36"/>
          <p:cNvSpPr/>
          <p:nvPr/>
        </p:nvSpPr>
        <p:spPr>
          <a:xfrm>
            <a:off x="7882128"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8110728" y="1737360"/>
            <a:ext cx="3529584" cy="24231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0456" y="1920240"/>
            <a:ext cx="3310128" cy="45720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当てはまりを見る</a:t>
            </a:r>
          </a:p>
        </p:txBody>
      </p:sp>
      <p:sp>
        <p:nvSpPr>
          <p:cNvPr id="40" name="TextBox 39"/>
          <p:cNvSpPr txBox="1"/>
          <p:nvPr/>
        </p:nvSpPr>
        <p:spPr>
          <a:xfrm>
            <a:off x="8220456"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R² や AICc で</a:t>
            </a:r>
          </a:p>
          <a:p>
            <a:pPr algn="ctr">
              <a:spcAft>
                <a:spcPts val="400"/>
              </a:spcAft>
            </a:pPr>
            <a:r>
              <a:rPr sz="2200" b="0">
                <a:solidFill>
                  <a:srgbClr val="262626"/>
                </a:solidFill>
                <a:latin typeface="Meiryo"/>
                <a:ea typeface="Meiryo"/>
                <a:cs typeface="Meiryo"/>
              </a:rPr>
              <a:t>当てはまりと</a:t>
            </a:r>
          </a:p>
          <a:p>
            <a:pPr algn="ctr">
              <a:spcAft>
                <a:spcPts val="400"/>
              </a:spcAft>
            </a:pPr>
            <a:r>
              <a:rPr sz="2200" b="0">
                <a:solidFill>
                  <a:srgbClr val="262626"/>
                </a:solidFill>
                <a:latin typeface="Meiryo"/>
                <a:ea typeface="Meiryo"/>
                <a:cs typeface="Meiryo"/>
              </a:rPr>
              <a:t>パラメータ数を比べる</a:t>
            </a:r>
          </a:p>
        </p:txBody>
      </p:sp>
      <p:sp>
        <p:nvSpPr>
          <p:cNvPr id="41" name="Rounded Rectangle 40"/>
          <p:cNvSpPr/>
          <p:nvPr/>
        </p:nvSpPr>
        <p:spPr>
          <a:xfrm>
            <a:off x="502920" y="4407408"/>
            <a:ext cx="11201400" cy="17373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5800" y="4590288"/>
            <a:ext cx="10835640" cy="1371600"/>
          </a:xfrm>
          <a:prstGeom prst="rect">
            <a:avLst/>
          </a:prstGeom>
          <a:noFill/>
        </p:spPr>
        <p:txBody>
          <a:bodyPr wrap="square" lIns="0" tIns="0" rIns="0" bIns="0" anchor="t">
            <a:spAutoFit/>
          </a:bodyPr>
          <a:lstStyle/>
          <a:p>
            <a:pPr algn="l">
              <a:spcAft>
                <a:spcPts val="600"/>
              </a:spcAft>
            </a:pPr>
            <a:r>
              <a:rPr sz="2500" b="1">
                <a:solidFill>
                  <a:srgbClr val="C00000"/>
                </a:solidFill>
                <a:latin typeface="Meiryo"/>
                <a:ea typeface="Meiryo"/>
                <a:cs typeface="Meiryo"/>
              </a:rPr>
              <a:t>落とし穴：初期値で答えが変わる</a:t>
            </a:r>
          </a:p>
          <a:p>
            <a:pPr algn="l">
              <a:spcAft>
                <a:spcPts val="600"/>
              </a:spcAft>
            </a:pPr>
            <a:r>
              <a:rPr sz="2300" b="0">
                <a:solidFill>
                  <a:srgbClr val="262626"/>
                </a:solidFill>
                <a:latin typeface="Meiryo"/>
                <a:ea typeface="Meiryo"/>
                <a:cs typeface="Meiryo"/>
              </a:rPr>
              <a:t>反復計算は初期値の近くの谷にはまる（局所解）</a:t>
            </a:r>
          </a:p>
          <a:p>
            <a:pPr algn="l">
              <a:spcAft>
                <a:spcPts val="600"/>
              </a:spcAft>
            </a:pPr>
            <a:r>
              <a:rPr sz="2300" b="0">
                <a:solidFill>
                  <a:srgbClr val="262626"/>
                </a:solidFill>
                <a:latin typeface="Meiryo"/>
                <a:ea typeface="Meiryo"/>
                <a:cs typeface="Meiryo"/>
              </a:rPr>
              <a:t>同じ波形・同じモデルでも、初期値しだいで別の値が出ることがある</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51/72</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52/72</a:t>
            </a:r>
          </a:p>
        </p:txBody>
      </p:sp>
      <p:sp>
        <p:nvSpPr>
          <p:cNvPr id="44" name="Rounded Rectangle 43"/>
          <p:cNvSpPr/>
          <p:nvPr/>
        </p:nvSpPr>
        <p:spPr>
          <a:xfrm>
            <a:off x="502920"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3364992"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227064" y="2187303"/>
            <a:ext cx="26151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9089136" y="2187303"/>
            <a:ext cx="2615184" cy="30175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ight Arrow 47"/>
          <p:cNvSpPr/>
          <p:nvPr/>
        </p:nvSpPr>
        <p:spPr>
          <a:xfrm>
            <a:off x="3159252"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ight Arrow 48"/>
          <p:cNvSpPr/>
          <p:nvPr/>
        </p:nvSpPr>
        <p:spPr>
          <a:xfrm>
            <a:off x="6021324"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ight Arrow 49"/>
          <p:cNvSpPr/>
          <p:nvPr/>
        </p:nvSpPr>
        <p:spPr>
          <a:xfrm>
            <a:off x="8883396"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12648"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①</a:t>
            </a:r>
          </a:p>
        </p:txBody>
      </p:sp>
      <p:sp>
        <p:nvSpPr>
          <p:cNvPr id="52" name="TextBox 51"/>
          <p:cNvSpPr txBox="1"/>
          <p:nvPr/>
        </p:nvSpPr>
        <p:spPr>
          <a:xfrm>
            <a:off x="612648"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モデルを</a:t>
            </a:r>
          </a:p>
          <a:p>
            <a:pPr algn="ctr">
              <a:spcAft>
                <a:spcPts val="0"/>
              </a:spcAft>
            </a:pPr>
            <a:r>
              <a:rPr sz="2400" b="1" dirty="0">
                <a:solidFill>
                  <a:srgbClr val="262626"/>
                </a:solidFill>
                <a:latin typeface="Meiryo"/>
                <a:ea typeface="Meiryo"/>
                <a:cs typeface="Meiryo"/>
              </a:rPr>
              <a:t>決める</a:t>
            </a:r>
          </a:p>
        </p:txBody>
      </p:sp>
      <p:sp>
        <p:nvSpPr>
          <p:cNvPr id="53" name="TextBox 52"/>
          <p:cNvSpPr txBox="1"/>
          <p:nvPr/>
        </p:nvSpPr>
        <p:spPr>
          <a:xfrm>
            <a:off x="612648"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基底関数の</a:t>
            </a:r>
          </a:p>
          <a:p>
            <a:pPr algn="ctr">
              <a:spcAft>
                <a:spcPts val="0"/>
              </a:spcAft>
            </a:pPr>
            <a:r>
              <a:rPr sz="2200" b="0" dirty="0">
                <a:solidFill>
                  <a:srgbClr val="595959"/>
                </a:solidFill>
                <a:latin typeface="Meiryo"/>
                <a:ea typeface="Meiryo"/>
                <a:cs typeface="Meiryo"/>
              </a:rPr>
              <a:t>種類と本数</a:t>
            </a:r>
          </a:p>
          <a:p>
            <a:pPr algn="ctr">
              <a:spcAft>
                <a:spcPts val="0"/>
              </a:spcAft>
            </a:pPr>
            <a:r>
              <a:rPr sz="2200" b="0" dirty="0">
                <a:solidFill>
                  <a:srgbClr val="595959"/>
                </a:solidFill>
                <a:latin typeface="Meiryo"/>
                <a:ea typeface="Meiryo"/>
                <a:cs typeface="Meiryo"/>
              </a:rPr>
              <a:t>（設計値）</a:t>
            </a:r>
          </a:p>
        </p:txBody>
      </p:sp>
      <p:sp>
        <p:nvSpPr>
          <p:cNvPr id="54" name="TextBox 53"/>
          <p:cNvSpPr txBox="1"/>
          <p:nvPr/>
        </p:nvSpPr>
        <p:spPr>
          <a:xfrm>
            <a:off x="3474720"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②</a:t>
            </a:r>
          </a:p>
        </p:txBody>
      </p:sp>
      <p:sp>
        <p:nvSpPr>
          <p:cNvPr id="55" name="TextBox 54"/>
          <p:cNvSpPr txBox="1"/>
          <p:nvPr/>
        </p:nvSpPr>
        <p:spPr>
          <a:xfrm>
            <a:off x="3474720"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初期値と</a:t>
            </a:r>
          </a:p>
          <a:p>
            <a:pPr algn="ctr">
              <a:spcAft>
                <a:spcPts val="0"/>
              </a:spcAft>
            </a:pPr>
            <a:r>
              <a:rPr sz="2400" b="1" dirty="0">
                <a:solidFill>
                  <a:srgbClr val="262626"/>
                </a:solidFill>
                <a:latin typeface="Meiryo"/>
                <a:ea typeface="Meiryo"/>
                <a:cs typeface="Meiryo"/>
              </a:rPr>
              <a:t>境界を置く</a:t>
            </a:r>
          </a:p>
        </p:txBody>
      </p:sp>
      <p:sp>
        <p:nvSpPr>
          <p:cNvPr id="56" name="TextBox 55"/>
          <p:cNvSpPr txBox="1"/>
          <p:nvPr/>
        </p:nvSpPr>
        <p:spPr>
          <a:xfrm>
            <a:off x="3474720"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どこから探すか</a:t>
            </a:r>
          </a:p>
          <a:p>
            <a:pPr algn="ctr">
              <a:spcAft>
                <a:spcPts val="0"/>
              </a:spcAft>
            </a:pPr>
            <a:r>
              <a:rPr sz="2200" b="0" dirty="0">
                <a:solidFill>
                  <a:srgbClr val="595959"/>
                </a:solidFill>
                <a:latin typeface="Meiryo"/>
                <a:ea typeface="Meiryo"/>
                <a:cs typeface="Meiryo"/>
              </a:rPr>
              <a:t>どこまで許すか</a:t>
            </a:r>
          </a:p>
          <a:p>
            <a:pPr algn="ctr">
              <a:spcAft>
                <a:spcPts val="0"/>
              </a:spcAft>
            </a:pPr>
            <a:r>
              <a:rPr sz="2200" b="0" dirty="0">
                <a:solidFill>
                  <a:srgbClr val="595959"/>
                </a:solidFill>
                <a:latin typeface="Meiryo"/>
                <a:ea typeface="Meiryo"/>
                <a:cs typeface="Meiryo"/>
              </a:rPr>
              <a:t>（設計値）</a:t>
            </a:r>
          </a:p>
        </p:txBody>
      </p:sp>
      <p:sp>
        <p:nvSpPr>
          <p:cNvPr id="57" name="TextBox 56"/>
          <p:cNvSpPr txBox="1"/>
          <p:nvPr/>
        </p:nvSpPr>
        <p:spPr>
          <a:xfrm>
            <a:off x="6336792" y="2333607"/>
            <a:ext cx="2395728"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③</a:t>
            </a:r>
          </a:p>
        </p:txBody>
      </p:sp>
      <p:sp>
        <p:nvSpPr>
          <p:cNvPr id="58" name="TextBox 57"/>
          <p:cNvSpPr txBox="1"/>
          <p:nvPr/>
        </p:nvSpPr>
        <p:spPr>
          <a:xfrm>
            <a:off x="6336792" y="2900534"/>
            <a:ext cx="2395728" cy="738664"/>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実波形と誤差</a:t>
            </a:r>
            <a:r>
              <a:rPr sz="2400" b="1" dirty="0" err="1">
                <a:solidFill>
                  <a:srgbClr val="262626"/>
                </a:solidFill>
                <a:latin typeface="Meiryo"/>
                <a:ea typeface="Meiryo"/>
                <a:cs typeface="Meiryo"/>
              </a:rPr>
              <a:t>を</a:t>
            </a:r>
            <a:endParaRPr sz="2400" b="1" dirty="0">
              <a:solidFill>
                <a:srgbClr val="262626"/>
              </a:solidFill>
              <a:latin typeface="Meiryo"/>
              <a:ea typeface="Meiryo"/>
              <a:cs typeface="Meiryo"/>
            </a:endParaRPr>
          </a:p>
          <a:p>
            <a:pPr algn="ctr">
              <a:spcAft>
                <a:spcPts val="0"/>
              </a:spcAft>
            </a:pPr>
            <a:r>
              <a:rPr sz="2400" b="1" dirty="0">
                <a:solidFill>
                  <a:srgbClr val="262626"/>
                </a:solidFill>
                <a:latin typeface="Meiryo"/>
                <a:ea typeface="Meiryo"/>
                <a:cs typeface="Meiryo"/>
              </a:rPr>
              <a:t>最小にする</a:t>
            </a:r>
          </a:p>
        </p:txBody>
      </p:sp>
      <p:sp>
        <p:nvSpPr>
          <p:cNvPr id="59" name="TextBox 58"/>
          <p:cNvSpPr txBox="1"/>
          <p:nvPr/>
        </p:nvSpPr>
        <p:spPr>
          <a:xfrm>
            <a:off x="6336792" y="3878943"/>
            <a:ext cx="2395728" cy="1015663"/>
          </a:xfrm>
          <a:prstGeom prst="rect">
            <a:avLst/>
          </a:prstGeom>
          <a:noFill/>
        </p:spPr>
        <p:txBody>
          <a:bodyPr wrap="square" lIns="0" tIns="0" rIns="0" bIns="0" anchor="t">
            <a:spAutoFit/>
          </a:bodyPr>
          <a:lstStyle/>
          <a:p>
            <a:pPr algn="ctr">
              <a:spcAft>
                <a:spcPts val="0"/>
              </a:spcAft>
            </a:pPr>
            <a:r>
              <a:rPr lang="ja-JP" altLang="en-US" sz="2200" b="0">
                <a:solidFill>
                  <a:srgbClr val="595959"/>
                </a:solidFill>
                <a:latin typeface="Meiryo"/>
                <a:ea typeface="Meiryo"/>
                <a:cs typeface="Meiryo"/>
              </a:rPr>
              <a:t>各パラメータが　最適化されるよう反復計算</a:t>
            </a:r>
            <a:endParaRPr sz="2200" b="0" dirty="0">
              <a:solidFill>
                <a:srgbClr val="595959"/>
              </a:solidFill>
              <a:latin typeface="Meiryo"/>
              <a:ea typeface="Meiryo"/>
              <a:cs typeface="Meiryo"/>
            </a:endParaRPr>
          </a:p>
        </p:txBody>
      </p:sp>
      <p:sp>
        <p:nvSpPr>
          <p:cNvPr id="60" name="TextBox 59"/>
          <p:cNvSpPr txBox="1"/>
          <p:nvPr/>
        </p:nvSpPr>
        <p:spPr>
          <a:xfrm>
            <a:off x="9198863" y="2333607"/>
            <a:ext cx="23957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④</a:t>
            </a:r>
          </a:p>
        </p:txBody>
      </p:sp>
      <p:sp>
        <p:nvSpPr>
          <p:cNvPr id="61" name="TextBox 60"/>
          <p:cNvSpPr txBox="1"/>
          <p:nvPr/>
        </p:nvSpPr>
        <p:spPr>
          <a:xfrm>
            <a:off x="9198863"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出た値を</a:t>
            </a:r>
          </a:p>
          <a:p>
            <a:pPr algn="ctr">
              <a:spcAft>
                <a:spcPts val="0"/>
              </a:spcAft>
            </a:pPr>
            <a:r>
              <a:rPr sz="2400" b="1" dirty="0">
                <a:solidFill>
                  <a:srgbClr val="262626"/>
                </a:solidFill>
                <a:latin typeface="Meiryo"/>
                <a:ea typeface="Meiryo"/>
                <a:cs typeface="Meiryo"/>
              </a:rPr>
              <a:t>検算する</a:t>
            </a:r>
          </a:p>
        </p:txBody>
      </p:sp>
      <p:sp>
        <p:nvSpPr>
          <p:cNvPr id="62" name="TextBox 61"/>
          <p:cNvSpPr txBox="1"/>
          <p:nvPr/>
        </p:nvSpPr>
        <p:spPr>
          <a:xfrm>
            <a:off x="9198863"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境界・再現性</a:t>
            </a:r>
          </a:p>
          <a:p>
            <a:pPr algn="ctr">
              <a:spcAft>
                <a:spcPts val="0"/>
              </a:spcAft>
            </a:pPr>
            <a:r>
              <a:rPr sz="2200" b="0" dirty="0">
                <a:solidFill>
                  <a:srgbClr val="595959"/>
                </a:solidFill>
                <a:latin typeface="Meiryo"/>
                <a:ea typeface="Meiryo"/>
                <a:cs typeface="Meiryo"/>
              </a:rPr>
              <a:t>残差の谷の幅</a:t>
            </a:r>
          </a:p>
          <a:p>
            <a:pPr algn="ctr">
              <a:spcAft>
                <a:spcPts val="0"/>
              </a:spcAft>
            </a:pPr>
            <a:r>
              <a:rPr sz="2200" b="0" dirty="0">
                <a:solidFill>
                  <a:srgbClr val="595959"/>
                </a:solidFill>
                <a:latin typeface="Meiryo"/>
                <a:ea typeface="Meiryo"/>
                <a:cs typeface="Meiryo"/>
              </a:rPr>
              <a:t>を確かめる</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初期値の決め方</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45. Couceiro 2012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53/72</a:t>
            </a:r>
          </a:p>
        </p:txBody>
      </p:sp>
      <p:sp>
        <p:nvSpPr>
          <p:cNvPr id="44" name="Rounded Rectangle 43"/>
          <p:cNvSpPr/>
          <p:nvPr/>
        </p:nvSpPr>
        <p:spPr>
          <a:xfrm>
            <a:off x="502920" y="2013126"/>
            <a:ext cx="3529584" cy="2651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4306824" y="2013126"/>
            <a:ext cx="3529584" cy="26517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8110727" y="2013126"/>
            <a:ext cx="3529584" cy="26517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12648" y="2177718"/>
            <a:ext cx="3310128" cy="369332"/>
          </a:xfrm>
          <a:prstGeom prst="rect">
            <a:avLst/>
          </a:prstGeom>
          <a:noFill/>
        </p:spPr>
        <p:txBody>
          <a:bodyPr wrap="square" lIns="0" tIns="0" rIns="0" bIns="0" anchor="t">
            <a:spAutoFit/>
          </a:bodyPr>
          <a:lstStyle/>
          <a:p>
            <a:pPr algn="ctr">
              <a:spcAft>
                <a:spcPts val="0"/>
              </a:spcAft>
            </a:pPr>
            <a:r>
              <a:rPr sz="2400" b="1" dirty="0">
                <a:solidFill>
                  <a:srgbClr val="0072B2"/>
                </a:solidFill>
                <a:latin typeface="Meiryo"/>
                <a:ea typeface="Meiryo"/>
                <a:cs typeface="Meiryo"/>
              </a:rPr>
              <a:t>ランドマーク方式</a:t>
            </a:r>
          </a:p>
        </p:txBody>
      </p:sp>
      <p:sp>
        <p:nvSpPr>
          <p:cNvPr id="48" name="TextBox 47"/>
          <p:cNvSpPr txBox="1"/>
          <p:nvPr/>
        </p:nvSpPr>
        <p:spPr>
          <a:xfrm>
            <a:off x="612648" y="2726358"/>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微分でピークや</a:t>
            </a:r>
          </a:p>
          <a:p>
            <a:pPr algn="l">
              <a:spcAft>
                <a:spcPts val="0"/>
              </a:spcAft>
            </a:pPr>
            <a:r>
              <a:rPr sz="2200" b="0" dirty="0">
                <a:solidFill>
                  <a:srgbClr val="262626"/>
                </a:solidFill>
                <a:latin typeface="Meiryo"/>
                <a:ea typeface="Meiryo"/>
                <a:cs typeface="Meiryo"/>
              </a:rPr>
              <a:t>変曲点を探し</a:t>
            </a:r>
          </a:p>
          <a:p>
            <a:pPr algn="l">
              <a:spcAft>
                <a:spcPts val="0"/>
              </a:spcAft>
            </a:pPr>
            <a:r>
              <a:rPr sz="2200" b="0" dirty="0">
                <a:solidFill>
                  <a:srgbClr val="262626"/>
                </a:solidFill>
                <a:latin typeface="Meiryo"/>
                <a:ea typeface="Meiryo"/>
                <a:cs typeface="Meiryo"/>
              </a:rPr>
              <a:t>その時刻を使う</a:t>
            </a:r>
          </a:p>
        </p:txBody>
      </p:sp>
      <p:sp>
        <p:nvSpPr>
          <p:cNvPr id="49" name="TextBox 48"/>
          <p:cNvSpPr txBox="1"/>
          <p:nvPr/>
        </p:nvSpPr>
        <p:spPr>
          <a:xfrm>
            <a:off x="612648" y="4024805"/>
            <a:ext cx="3310128"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目印が弱いと不安定</a:t>
            </a:r>
          </a:p>
        </p:txBody>
      </p:sp>
      <p:sp>
        <p:nvSpPr>
          <p:cNvPr id="50" name="TextBox 49"/>
          <p:cNvSpPr txBox="1"/>
          <p:nvPr/>
        </p:nvSpPr>
        <p:spPr>
          <a:xfrm>
            <a:off x="4416552" y="2177718"/>
            <a:ext cx="3310128" cy="369332"/>
          </a:xfrm>
          <a:prstGeom prst="rect">
            <a:avLst/>
          </a:prstGeom>
          <a:noFill/>
        </p:spPr>
        <p:txBody>
          <a:bodyPr wrap="square" lIns="0" tIns="0" rIns="0" bIns="0" anchor="t">
            <a:spAutoFit/>
          </a:bodyPr>
          <a:lstStyle/>
          <a:p>
            <a:pPr algn="ctr">
              <a:spcAft>
                <a:spcPts val="0"/>
              </a:spcAft>
            </a:pPr>
            <a:r>
              <a:rPr sz="2400" b="1" dirty="0">
                <a:solidFill>
                  <a:srgbClr val="00A8AA"/>
                </a:solidFill>
                <a:latin typeface="Meiryo"/>
                <a:ea typeface="Meiryo"/>
                <a:cs typeface="Meiryo"/>
              </a:rPr>
              <a:t>前の拍を引き継ぐ</a:t>
            </a:r>
          </a:p>
        </p:txBody>
      </p:sp>
      <p:sp>
        <p:nvSpPr>
          <p:cNvPr id="51" name="TextBox 50"/>
          <p:cNvSpPr txBox="1"/>
          <p:nvPr/>
        </p:nvSpPr>
        <p:spPr>
          <a:xfrm>
            <a:off x="4416552" y="2726358"/>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直前の拍で得た解を</a:t>
            </a:r>
          </a:p>
          <a:p>
            <a:pPr algn="l">
              <a:spcAft>
                <a:spcPts val="0"/>
              </a:spcAft>
            </a:pPr>
            <a:r>
              <a:rPr sz="2200" b="0" dirty="0">
                <a:solidFill>
                  <a:srgbClr val="262626"/>
                </a:solidFill>
                <a:latin typeface="Meiryo"/>
                <a:ea typeface="Meiryo"/>
                <a:cs typeface="Meiryo"/>
              </a:rPr>
              <a:t>次の拍の</a:t>
            </a:r>
          </a:p>
          <a:p>
            <a:pPr algn="l">
              <a:spcAft>
                <a:spcPts val="0"/>
              </a:spcAft>
            </a:pPr>
            <a:r>
              <a:rPr sz="2200" b="0" dirty="0">
                <a:solidFill>
                  <a:srgbClr val="262626"/>
                </a:solidFill>
                <a:latin typeface="Meiryo"/>
                <a:ea typeface="Meiryo"/>
                <a:cs typeface="Meiryo"/>
              </a:rPr>
              <a:t>初期値にする</a:t>
            </a:r>
          </a:p>
        </p:txBody>
      </p:sp>
      <p:sp>
        <p:nvSpPr>
          <p:cNvPr id="52" name="TextBox 51"/>
          <p:cNvSpPr txBox="1"/>
          <p:nvPr/>
        </p:nvSpPr>
        <p:spPr>
          <a:xfrm>
            <a:off x="4416552" y="4024805"/>
            <a:ext cx="3310128" cy="395630"/>
          </a:xfrm>
          <a:prstGeom prst="rect">
            <a:avLst/>
          </a:prstGeom>
          <a:noFill/>
        </p:spPr>
        <p:txBody>
          <a:bodyPr wrap="square" lIns="0" tIns="0" rIns="0" bIns="0" anchor="t">
            <a:spAutoFit/>
          </a:bodyPr>
          <a:lstStyle/>
          <a:p>
            <a:pPr algn="l">
              <a:spcAft>
                <a:spcPts val="0"/>
              </a:spcAft>
            </a:pPr>
            <a:r>
              <a:rPr sz="2200" b="1" dirty="0">
                <a:solidFill>
                  <a:srgbClr val="00A8AA"/>
                </a:solidFill>
                <a:latin typeface="Meiryo"/>
                <a:ea typeface="Meiryo"/>
                <a:cs typeface="Meiryo"/>
              </a:rPr>
              <a:t>目印に依存しない</a:t>
            </a:r>
          </a:p>
        </p:txBody>
      </p:sp>
      <p:sp>
        <p:nvSpPr>
          <p:cNvPr id="53" name="TextBox 52"/>
          <p:cNvSpPr txBox="1"/>
          <p:nvPr/>
        </p:nvSpPr>
        <p:spPr>
          <a:xfrm>
            <a:off x="8220455" y="2177718"/>
            <a:ext cx="3310128" cy="369332"/>
          </a:xfrm>
          <a:prstGeom prst="rect">
            <a:avLst/>
          </a:prstGeom>
          <a:noFill/>
        </p:spPr>
        <p:txBody>
          <a:bodyPr wrap="square" lIns="0" tIns="0" rIns="0" bIns="0" anchor="t">
            <a:spAutoFit/>
          </a:bodyPr>
          <a:lstStyle/>
          <a:p>
            <a:pPr algn="ctr">
              <a:spcAft>
                <a:spcPts val="0"/>
              </a:spcAft>
            </a:pPr>
            <a:r>
              <a:rPr sz="2400" b="1" dirty="0">
                <a:solidFill>
                  <a:srgbClr val="BF9000"/>
                </a:solidFill>
                <a:latin typeface="Meiryo"/>
                <a:ea typeface="Meiryo"/>
                <a:cs typeface="Meiryo"/>
              </a:rPr>
              <a:t>多点スタート</a:t>
            </a:r>
          </a:p>
        </p:txBody>
      </p:sp>
      <p:sp>
        <p:nvSpPr>
          <p:cNvPr id="54" name="TextBox 53"/>
          <p:cNvSpPr txBox="1"/>
          <p:nvPr/>
        </p:nvSpPr>
        <p:spPr>
          <a:xfrm>
            <a:off x="8220455" y="2726358"/>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多数の初期値から</a:t>
            </a:r>
          </a:p>
          <a:p>
            <a:pPr algn="l">
              <a:spcAft>
                <a:spcPts val="0"/>
              </a:spcAft>
            </a:pPr>
            <a:r>
              <a:rPr sz="2200" b="0" dirty="0">
                <a:solidFill>
                  <a:srgbClr val="262626"/>
                </a:solidFill>
                <a:latin typeface="Meiryo"/>
                <a:ea typeface="Meiryo"/>
                <a:cs typeface="Meiryo"/>
              </a:rPr>
              <a:t>当てはめて</a:t>
            </a:r>
          </a:p>
          <a:p>
            <a:pPr algn="l">
              <a:spcAft>
                <a:spcPts val="0"/>
              </a:spcAft>
            </a:pPr>
            <a:r>
              <a:rPr sz="2200" b="0" dirty="0">
                <a:solidFill>
                  <a:srgbClr val="262626"/>
                </a:solidFill>
                <a:latin typeface="Meiryo"/>
                <a:ea typeface="Meiryo"/>
                <a:cs typeface="Meiryo"/>
              </a:rPr>
              <a:t>最良を選ぶ</a:t>
            </a:r>
          </a:p>
        </p:txBody>
      </p:sp>
      <p:sp>
        <p:nvSpPr>
          <p:cNvPr id="55" name="TextBox 54"/>
          <p:cNvSpPr txBox="1"/>
          <p:nvPr/>
        </p:nvSpPr>
        <p:spPr>
          <a:xfrm>
            <a:off x="8220455" y="4024805"/>
            <a:ext cx="3310128"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初期値依存を回避</a:t>
            </a:r>
          </a:p>
        </p:txBody>
      </p:sp>
      <p:sp>
        <p:nvSpPr>
          <p:cNvPr id="56" name="Rounded Rectangle 55"/>
          <p:cNvSpPr/>
          <p:nvPr/>
        </p:nvSpPr>
        <p:spPr>
          <a:xfrm>
            <a:off x="502920" y="4939206"/>
            <a:ext cx="11201400" cy="1055189"/>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685800" y="5140374"/>
            <a:ext cx="10835640" cy="738664"/>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初期値と同じくらい効くのが 境界条件</a:t>
            </a:r>
          </a:p>
          <a:p>
            <a:pPr algn="ctr">
              <a:spcAft>
                <a:spcPts val="0"/>
              </a:spcAft>
            </a:pPr>
            <a:r>
              <a:rPr lang="ja-JP" altLang="en-US" sz="2300" b="0">
                <a:solidFill>
                  <a:srgbClr val="262626"/>
                </a:solidFill>
                <a:latin typeface="Meiryo"/>
                <a:ea typeface="Meiryo"/>
                <a:cs typeface="Meiryo"/>
              </a:rPr>
              <a:t>高さ</a:t>
            </a:r>
            <a:r>
              <a:rPr lang="en-US" altLang="ja-JP" sz="2300" b="0" dirty="0">
                <a:solidFill>
                  <a:srgbClr val="262626"/>
                </a:solidFill>
                <a:latin typeface="Meiryo"/>
                <a:ea typeface="Meiryo"/>
                <a:cs typeface="Meiryo"/>
              </a:rPr>
              <a:t> </a:t>
            </a:r>
            <a:r>
              <a:rPr sz="2300" b="0" dirty="0">
                <a:solidFill>
                  <a:srgbClr val="262626"/>
                </a:solidFill>
                <a:latin typeface="Meiryo"/>
                <a:ea typeface="Meiryo"/>
                <a:cs typeface="Meiryo"/>
              </a:rPr>
              <a:t>a &gt; 0　／　</a:t>
            </a:r>
            <a:r>
              <a:rPr lang="ja-JP" altLang="en-US" sz="2300" b="0">
                <a:solidFill>
                  <a:srgbClr val="262626"/>
                </a:solidFill>
                <a:latin typeface="Meiryo"/>
                <a:ea typeface="Meiryo"/>
                <a:cs typeface="Meiryo"/>
              </a:rPr>
              <a:t>位置</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μ</a:t>
            </a:r>
            <a:r>
              <a:rPr sz="2300" b="0" dirty="0">
                <a:solidFill>
                  <a:srgbClr val="262626"/>
                </a:solidFill>
                <a:latin typeface="Meiryo"/>
                <a:ea typeface="Meiryo"/>
                <a:cs typeface="Meiryo"/>
              </a:rPr>
              <a:t>₁ &lt; μ₂ &lt; …（順序を固定）　／　</a:t>
            </a:r>
            <a:r>
              <a:rPr lang="ja-JP" altLang="en-US" sz="2300" b="0">
                <a:solidFill>
                  <a:srgbClr val="262626"/>
                </a:solidFill>
                <a:latin typeface="Meiryo"/>
                <a:ea typeface="Meiryo"/>
                <a:cs typeface="Meiryo"/>
              </a:rPr>
              <a:t>幅</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σ</a:t>
            </a:r>
            <a:r>
              <a:rPr sz="2300" b="0" dirty="0">
                <a:solidFill>
                  <a:srgbClr val="262626"/>
                </a:solidFill>
                <a:latin typeface="Meiryo"/>
                <a:ea typeface="Meiryo"/>
                <a:cs typeface="Meiryo"/>
              </a:rPr>
              <a:t> </a:t>
            </a:r>
            <a:r>
              <a:rPr sz="2300" b="0" dirty="0" err="1">
                <a:solidFill>
                  <a:srgbClr val="262626"/>
                </a:solidFill>
                <a:latin typeface="Meiryo"/>
                <a:ea typeface="Meiryo"/>
                <a:cs typeface="Meiryo"/>
              </a:rPr>
              <a:t>の上下限</a:t>
            </a:r>
            <a:endParaRPr sz="2300" b="0" dirty="0">
              <a:solidFill>
                <a:srgbClr val="262626"/>
              </a:solidFill>
              <a:latin typeface="Meiryo"/>
              <a:ea typeface="Meiryo"/>
              <a:cs typeface="Meiryo"/>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初期値の決め方</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53/72</a:t>
            </a:r>
          </a:p>
        </p:txBody>
      </p:sp>
      <p:sp>
        <p:nvSpPr>
          <p:cNvPr id="44" name="Rounded Rectangle 43"/>
          <p:cNvSpPr/>
          <p:nvPr/>
        </p:nvSpPr>
        <p:spPr>
          <a:xfrm>
            <a:off x="502920" y="1737360"/>
            <a:ext cx="3529584" cy="3794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4306824" y="1737360"/>
            <a:ext cx="3529584" cy="3794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8110727" y="1737360"/>
            <a:ext cx="3529584" cy="3794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49224" y="188366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a　ランドマーク方式</a:t>
            </a:r>
          </a:p>
        </p:txBody>
      </p:sp>
      <p:sp>
        <p:nvSpPr>
          <p:cNvPr id="3" name="Freeform 2"/>
          <p:cNvSpPr/>
          <p:nvPr/>
        </p:nvSpPr>
        <p:spPr>
          <a:xfrm>
            <a:off x="777240" y="2427601"/>
            <a:ext cx="2969020" cy="981938"/>
          </a:xfrm>
          <a:custGeom>
            <a:avLst/>
            <a:gdLst/>
            <a:ahLst/>
            <a:cxnLst/>
            <a:rect l="l" t="t" r="r" b="b"/>
            <a:pathLst>
              <a:path w="2969020" h="981938">
                <a:moveTo>
                  <a:pt x="0" y="955016"/>
                </a:moveTo>
                <a:lnTo>
                  <a:pt x="11923" y="949848"/>
                </a:lnTo>
                <a:lnTo>
                  <a:pt x="23847" y="943856"/>
                </a:lnTo>
                <a:lnTo>
                  <a:pt x="35771" y="936946"/>
                </a:lnTo>
                <a:lnTo>
                  <a:pt x="47695" y="929017"/>
                </a:lnTo>
                <a:lnTo>
                  <a:pt x="59618" y="919966"/>
                </a:lnTo>
                <a:lnTo>
                  <a:pt x="71542" y="909687"/>
                </a:lnTo>
                <a:lnTo>
                  <a:pt x="83466" y="898076"/>
                </a:lnTo>
                <a:lnTo>
                  <a:pt x="95390" y="885029"/>
                </a:lnTo>
                <a:lnTo>
                  <a:pt x="107313" y="870447"/>
                </a:lnTo>
                <a:lnTo>
                  <a:pt x="119237" y="854237"/>
                </a:lnTo>
                <a:lnTo>
                  <a:pt x="131161" y="836317"/>
                </a:lnTo>
                <a:lnTo>
                  <a:pt x="143085" y="816614"/>
                </a:lnTo>
                <a:lnTo>
                  <a:pt x="155009" y="795073"/>
                </a:lnTo>
                <a:lnTo>
                  <a:pt x="166932" y="771658"/>
                </a:lnTo>
                <a:lnTo>
                  <a:pt x="178856" y="746350"/>
                </a:lnTo>
                <a:lnTo>
                  <a:pt x="190780" y="719159"/>
                </a:lnTo>
                <a:lnTo>
                  <a:pt x="202704" y="690120"/>
                </a:lnTo>
                <a:lnTo>
                  <a:pt x="214627" y="659298"/>
                </a:lnTo>
                <a:lnTo>
                  <a:pt x="226551" y="626787"/>
                </a:lnTo>
                <a:lnTo>
                  <a:pt x="238475" y="592717"/>
                </a:lnTo>
                <a:lnTo>
                  <a:pt x="250399" y="557248"/>
                </a:lnTo>
                <a:lnTo>
                  <a:pt x="262323" y="520578"/>
                </a:lnTo>
                <a:lnTo>
                  <a:pt x="274246" y="482934"/>
                </a:lnTo>
                <a:lnTo>
                  <a:pt x="286170" y="444575"/>
                </a:lnTo>
                <a:lnTo>
                  <a:pt x="298094" y="405791"/>
                </a:lnTo>
                <a:lnTo>
                  <a:pt x="310018" y="366895"/>
                </a:lnTo>
                <a:lnTo>
                  <a:pt x="321941" y="328225"/>
                </a:lnTo>
                <a:lnTo>
                  <a:pt x="333865" y="290133"/>
                </a:lnTo>
                <a:lnTo>
                  <a:pt x="345789" y="252982"/>
                </a:lnTo>
                <a:lnTo>
                  <a:pt x="357713" y="217143"/>
                </a:lnTo>
                <a:lnTo>
                  <a:pt x="369637" y="182983"/>
                </a:lnTo>
                <a:lnTo>
                  <a:pt x="381560" y="150861"/>
                </a:lnTo>
                <a:lnTo>
                  <a:pt x="393484" y="121122"/>
                </a:lnTo>
                <a:lnTo>
                  <a:pt x="405408" y="94086"/>
                </a:lnTo>
                <a:lnTo>
                  <a:pt x="417332" y="70046"/>
                </a:lnTo>
                <a:lnTo>
                  <a:pt x="429255" y="49259"/>
                </a:lnTo>
                <a:lnTo>
                  <a:pt x="441179" y="31942"/>
                </a:lnTo>
                <a:lnTo>
                  <a:pt x="453103" y="18263"/>
                </a:lnTo>
                <a:lnTo>
                  <a:pt x="465027" y="8344"/>
                </a:lnTo>
                <a:lnTo>
                  <a:pt x="476951" y="2251"/>
                </a:lnTo>
                <a:lnTo>
                  <a:pt x="488874" y="0"/>
                </a:lnTo>
                <a:lnTo>
                  <a:pt x="500798" y="1548"/>
                </a:lnTo>
                <a:lnTo>
                  <a:pt x="512722" y="6802"/>
                </a:lnTo>
                <a:lnTo>
                  <a:pt x="524646" y="15614"/>
                </a:lnTo>
                <a:lnTo>
                  <a:pt x="536569" y="27789"/>
                </a:lnTo>
                <a:lnTo>
                  <a:pt x="548493" y="43089"/>
                </a:lnTo>
                <a:lnTo>
                  <a:pt x="560417" y="61235"/>
                </a:lnTo>
                <a:lnTo>
                  <a:pt x="572341" y="81916"/>
                </a:lnTo>
                <a:lnTo>
                  <a:pt x="584265" y="104792"/>
                </a:lnTo>
                <a:lnTo>
                  <a:pt x="596188" y="129508"/>
                </a:lnTo>
                <a:lnTo>
                  <a:pt x="608112" y="155692"/>
                </a:lnTo>
                <a:lnTo>
                  <a:pt x="620036" y="182971"/>
                </a:lnTo>
                <a:lnTo>
                  <a:pt x="631960" y="210971"/>
                </a:lnTo>
                <a:lnTo>
                  <a:pt x="643883" y="239329"/>
                </a:lnTo>
                <a:lnTo>
                  <a:pt x="655807" y="267697"/>
                </a:lnTo>
                <a:lnTo>
                  <a:pt x="667731" y="295748"/>
                </a:lnTo>
                <a:lnTo>
                  <a:pt x="679655" y="323179"/>
                </a:lnTo>
                <a:lnTo>
                  <a:pt x="691579" y="349720"/>
                </a:lnTo>
                <a:lnTo>
                  <a:pt x="703502" y="375132"/>
                </a:lnTo>
                <a:lnTo>
                  <a:pt x="715426" y="399213"/>
                </a:lnTo>
                <a:lnTo>
                  <a:pt x="727350" y="421796"/>
                </a:lnTo>
                <a:lnTo>
                  <a:pt x="739274" y="442753"/>
                </a:lnTo>
                <a:lnTo>
                  <a:pt x="751197" y="461993"/>
                </a:lnTo>
                <a:lnTo>
                  <a:pt x="763121" y="479462"/>
                </a:lnTo>
                <a:lnTo>
                  <a:pt x="775045" y="495137"/>
                </a:lnTo>
                <a:lnTo>
                  <a:pt x="786969" y="509032"/>
                </a:lnTo>
                <a:lnTo>
                  <a:pt x="798892" y="521186"/>
                </a:lnTo>
                <a:lnTo>
                  <a:pt x="810816" y="531666"/>
                </a:lnTo>
                <a:lnTo>
                  <a:pt x="822740" y="540562"/>
                </a:lnTo>
                <a:lnTo>
                  <a:pt x="834664" y="547983"/>
                </a:lnTo>
                <a:lnTo>
                  <a:pt x="846588" y="554054"/>
                </a:lnTo>
                <a:lnTo>
                  <a:pt x="858511" y="558912"/>
                </a:lnTo>
                <a:lnTo>
                  <a:pt x="870435" y="562702"/>
                </a:lnTo>
                <a:lnTo>
                  <a:pt x="882359" y="565576"/>
                </a:lnTo>
                <a:lnTo>
                  <a:pt x="894283" y="567686"/>
                </a:lnTo>
                <a:lnTo>
                  <a:pt x="906206" y="569187"/>
                </a:lnTo>
                <a:lnTo>
                  <a:pt x="918130" y="570228"/>
                </a:lnTo>
                <a:lnTo>
                  <a:pt x="930054" y="570954"/>
                </a:lnTo>
                <a:lnTo>
                  <a:pt x="941978" y="571504"/>
                </a:lnTo>
                <a:lnTo>
                  <a:pt x="953902" y="572007"/>
                </a:lnTo>
                <a:lnTo>
                  <a:pt x="965825" y="572583"/>
                </a:lnTo>
                <a:lnTo>
                  <a:pt x="977749" y="573341"/>
                </a:lnTo>
                <a:lnTo>
                  <a:pt x="989673" y="574378"/>
                </a:lnTo>
                <a:lnTo>
                  <a:pt x="1001597" y="575782"/>
                </a:lnTo>
                <a:lnTo>
                  <a:pt x="1013520" y="577624"/>
                </a:lnTo>
                <a:lnTo>
                  <a:pt x="1025444" y="579968"/>
                </a:lnTo>
                <a:lnTo>
                  <a:pt x="1037368" y="582862"/>
                </a:lnTo>
                <a:lnTo>
                  <a:pt x="1049292" y="586344"/>
                </a:lnTo>
                <a:lnTo>
                  <a:pt x="1061216" y="590442"/>
                </a:lnTo>
                <a:lnTo>
                  <a:pt x="1073139" y="595171"/>
                </a:lnTo>
                <a:lnTo>
                  <a:pt x="1085063" y="600539"/>
                </a:lnTo>
                <a:lnTo>
                  <a:pt x="1096987" y="606540"/>
                </a:lnTo>
                <a:lnTo>
                  <a:pt x="1108911" y="613166"/>
                </a:lnTo>
                <a:lnTo>
                  <a:pt x="1120834" y="620394"/>
                </a:lnTo>
                <a:lnTo>
                  <a:pt x="1132758" y="628201"/>
                </a:lnTo>
                <a:lnTo>
                  <a:pt x="1144682" y="636552"/>
                </a:lnTo>
                <a:lnTo>
                  <a:pt x="1156606" y="645410"/>
                </a:lnTo>
                <a:lnTo>
                  <a:pt x="1168530" y="654734"/>
                </a:lnTo>
                <a:lnTo>
                  <a:pt x="1180453" y="664478"/>
                </a:lnTo>
                <a:lnTo>
                  <a:pt x="1192377" y="674592"/>
                </a:lnTo>
                <a:lnTo>
                  <a:pt x="1204301" y="685026"/>
                </a:lnTo>
                <a:lnTo>
                  <a:pt x="1216225" y="695729"/>
                </a:lnTo>
                <a:lnTo>
                  <a:pt x="1228148" y="706646"/>
                </a:lnTo>
                <a:lnTo>
                  <a:pt x="1240072" y="717725"/>
                </a:lnTo>
                <a:lnTo>
                  <a:pt x="1251996" y="728913"/>
                </a:lnTo>
                <a:lnTo>
                  <a:pt x="1263920" y="740159"/>
                </a:lnTo>
                <a:lnTo>
                  <a:pt x="1275844" y="751414"/>
                </a:lnTo>
                <a:lnTo>
                  <a:pt x="1287767" y="762628"/>
                </a:lnTo>
                <a:lnTo>
                  <a:pt x="1299691" y="773756"/>
                </a:lnTo>
                <a:lnTo>
                  <a:pt x="1311615" y="784755"/>
                </a:lnTo>
                <a:lnTo>
                  <a:pt x="1323539" y="795585"/>
                </a:lnTo>
                <a:lnTo>
                  <a:pt x="1335462" y="806210"/>
                </a:lnTo>
                <a:lnTo>
                  <a:pt x="1347386" y="816594"/>
                </a:lnTo>
                <a:lnTo>
                  <a:pt x="1359310" y="826709"/>
                </a:lnTo>
                <a:lnTo>
                  <a:pt x="1371234" y="836526"/>
                </a:lnTo>
                <a:lnTo>
                  <a:pt x="1383158" y="846024"/>
                </a:lnTo>
                <a:lnTo>
                  <a:pt x="1395081" y="855183"/>
                </a:lnTo>
                <a:lnTo>
                  <a:pt x="1407005" y="863986"/>
                </a:lnTo>
                <a:lnTo>
                  <a:pt x="1418929" y="872420"/>
                </a:lnTo>
                <a:lnTo>
                  <a:pt x="1430853" y="880476"/>
                </a:lnTo>
                <a:lnTo>
                  <a:pt x="1442776" y="888147"/>
                </a:lnTo>
                <a:lnTo>
                  <a:pt x="1454700" y="895430"/>
                </a:lnTo>
                <a:lnTo>
                  <a:pt x="1466624" y="902324"/>
                </a:lnTo>
                <a:lnTo>
                  <a:pt x="1478548" y="908830"/>
                </a:lnTo>
                <a:lnTo>
                  <a:pt x="1490472" y="914954"/>
                </a:lnTo>
                <a:lnTo>
                  <a:pt x="1502395" y="920700"/>
                </a:lnTo>
                <a:lnTo>
                  <a:pt x="1514319" y="926077"/>
                </a:lnTo>
                <a:lnTo>
                  <a:pt x="1526243" y="931095"/>
                </a:lnTo>
                <a:lnTo>
                  <a:pt x="1538167" y="935764"/>
                </a:lnTo>
                <a:lnTo>
                  <a:pt x="1550090" y="940097"/>
                </a:lnTo>
                <a:lnTo>
                  <a:pt x="1562014" y="944108"/>
                </a:lnTo>
                <a:lnTo>
                  <a:pt x="1573938" y="947810"/>
                </a:lnTo>
                <a:lnTo>
                  <a:pt x="1585862" y="951217"/>
                </a:lnTo>
                <a:lnTo>
                  <a:pt x="1597785" y="954346"/>
                </a:lnTo>
                <a:lnTo>
                  <a:pt x="1609709" y="957211"/>
                </a:lnTo>
                <a:lnTo>
                  <a:pt x="1621633" y="959827"/>
                </a:lnTo>
                <a:lnTo>
                  <a:pt x="1633557" y="962210"/>
                </a:lnTo>
                <a:lnTo>
                  <a:pt x="1645481" y="964376"/>
                </a:lnTo>
                <a:lnTo>
                  <a:pt x="1657404" y="966338"/>
                </a:lnTo>
                <a:lnTo>
                  <a:pt x="1669328" y="968111"/>
                </a:lnTo>
                <a:lnTo>
                  <a:pt x="1681252" y="969711"/>
                </a:lnTo>
                <a:lnTo>
                  <a:pt x="1693176" y="971149"/>
                </a:lnTo>
                <a:lnTo>
                  <a:pt x="1705099" y="972439"/>
                </a:lnTo>
                <a:lnTo>
                  <a:pt x="1717023" y="973593"/>
                </a:lnTo>
                <a:lnTo>
                  <a:pt x="1728947" y="974623"/>
                </a:lnTo>
                <a:lnTo>
                  <a:pt x="1740871" y="975540"/>
                </a:lnTo>
                <a:lnTo>
                  <a:pt x="1752795" y="976355"/>
                </a:lnTo>
                <a:lnTo>
                  <a:pt x="1764718" y="977077"/>
                </a:lnTo>
                <a:lnTo>
                  <a:pt x="1776642" y="977714"/>
                </a:lnTo>
                <a:lnTo>
                  <a:pt x="1788566" y="978277"/>
                </a:lnTo>
                <a:lnTo>
                  <a:pt x="1800490" y="978771"/>
                </a:lnTo>
                <a:lnTo>
                  <a:pt x="1812413" y="979205"/>
                </a:lnTo>
                <a:lnTo>
                  <a:pt x="1824337" y="979584"/>
                </a:lnTo>
                <a:lnTo>
                  <a:pt x="1836261" y="979916"/>
                </a:lnTo>
                <a:lnTo>
                  <a:pt x="1848185" y="980204"/>
                </a:lnTo>
                <a:lnTo>
                  <a:pt x="1860109" y="980455"/>
                </a:lnTo>
                <a:lnTo>
                  <a:pt x="1872032" y="980672"/>
                </a:lnTo>
                <a:lnTo>
                  <a:pt x="1883956" y="980860"/>
                </a:lnTo>
                <a:lnTo>
                  <a:pt x="1895880" y="981022"/>
                </a:lnTo>
                <a:lnTo>
                  <a:pt x="1907804" y="981161"/>
                </a:lnTo>
                <a:lnTo>
                  <a:pt x="1919727" y="981281"/>
                </a:lnTo>
                <a:lnTo>
                  <a:pt x="1931651" y="981383"/>
                </a:lnTo>
                <a:lnTo>
                  <a:pt x="1943575" y="981471"/>
                </a:lnTo>
                <a:lnTo>
                  <a:pt x="1955499" y="981545"/>
                </a:lnTo>
                <a:lnTo>
                  <a:pt x="1967423" y="981609"/>
                </a:lnTo>
                <a:lnTo>
                  <a:pt x="1979346" y="981663"/>
                </a:lnTo>
                <a:lnTo>
                  <a:pt x="1991270" y="981708"/>
                </a:lnTo>
                <a:lnTo>
                  <a:pt x="2003194" y="981747"/>
                </a:lnTo>
                <a:lnTo>
                  <a:pt x="2015118" y="981779"/>
                </a:lnTo>
                <a:lnTo>
                  <a:pt x="2027041" y="981806"/>
                </a:lnTo>
                <a:lnTo>
                  <a:pt x="2038965" y="981829"/>
                </a:lnTo>
                <a:lnTo>
                  <a:pt x="2050889" y="981848"/>
                </a:lnTo>
                <a:lnTo>
                  <a:pt x="2062813" y="981864"/>
                </a:lnTo>
                <a:lnTo>
                  <a:pt x="2074737" y="981877"/>
                </a:lnTo>
                <a:lnTo>
                  <a:pt x="2086660" y="981888"/>
                </a:lnTo>
                <a:lnTo>
                  <a:pt x="2098584" y="981897"/>
                </a:lnTo>
                <a:lnTo>
                  <a:pt x="2110508" y="981905"/>
                </a:lnTo>
                <a:lnTo>
                  <a:pt x="2122432" y="981911"/>
                </a:lnTo>
                <a:lnTo>
                  <a:pt x="2134355" y="981916"/>
                </a:lnTo>
                <a:lnTo>
                  <a:pt x="2146279" y="981920"/>
                </a:lnTo>
                <a:lnTo>
                  <a:pt x="2158203" y="981924"/>
                </a:lnTo>
                <a:lnTo>
                  <a:pt x="2170127" y="981926"/>
                </a:lnTo>
                <a:lnTo>
                  <a:pt x="2182051" y="981929"/>
                </a:lnTo>
                <a:lnTo>
                  <a:pt x="2193974" y="981931"/>
                </a:lnTo>
                <a:lnTo>
                  <a:pt x="2205898" y="981932"/>
                </a:lnTo>
                <a:lnTo>
                  <a:pt x="2217822" y="981933"/>
                </a:lnTo>
                <a:lnTo>
                  <a:pt x="2229746" y="981934"/>
                </a:lnTo>
                <a:lnTo>
                  <a:pt x="2241669" y="981935"/>
                </a:lnTo>
                <a:lnTo>
                  <a:pt x="2253593" y="981936"/>
                </a:lnTo>
                <a:lnTo>
                  <a:pt x="2265517" y="981936"/>
                </a:lnTo>
                <a:lnTo>
                  <a:pt x="2277441" y="981937"/>
                </a:lnTo>
                <a:lnTo>
                  <a:pt x="2289364" y="981937"/>
                </a:lnTo>
                <a:lnTo>
                  <a:pt x="2301288" y="981937"/>
                </a:lnTo>
                <a:lnTo>
                  <a:pt x="2313212" y="981937"/>
                </a:lnTo>
                <a:lnTo>
                  <a:pt x="2325136" y="981938"/>
                </a:lnTo>
                <a:lnTo>
                  <a:pt x="2337060" y="981938"/>
                </a:lnTo>
                <a:lnTo>
                  <a:pt x="2348983" y="981938"/>
                </a:lnTo>
                <a:lnTo>
                  <a:pt x="2360907" y="981938"/>
                </a:lnTo>
                <a:lnTo>
                  <a:pt x="2372831" y="981938"/>
                </a:lnTo>
                <a:lnTo>
                  <a:pt x="2384755" y="981938"/>
                </a:lnTo>
                <a:lnTo>
                  <a:pt x="2396678" y="981938"/>
                </a:lnTo>
                <a:lnTo>
                  <a:pt x="2408602" y="981938"/>
                </a:lnTo>
                <a:lnTo>
                  <a:pt x="2420526" y="981938"/>
                </a:lnTo>
                <a:lnTo>
                  <a:pt x="2432450" y="981938"/>
                </a:lnTo>
                <a:lnTo>
                  <a:pt x="2444374" y="981938"/>
                </a:lnTo>
                <a:lnTo>
                  <a:pt x="2456297" y="981938"/>
                </a:lnTo>
                <a:lnTo>
                  <a:pt x="2468221" y="981938"/>
                </a:lnTo>
                <a:lnTo>
                  <a:pt x="2480145" y="981938"/>
                </a:lnTo>
                <a:lnTo>
                  <a:pt x="2492069" y="981938"/>
                </a:lnTo>
                <a:lnTo>
                  <a:pt x="2503992" y="981938"/>
                </a:lnTo>
                <a:lnTo>
                  <a:pt x="2515916" y="981938"/>
                </a:lnTo>
                <a:lnTo>
                  <a:pt x="2527840" y="981938"/>
                </a:lnTo>
                <a:lnTo>
                  <a:pt x="2539764" y="981938"/>
                </a:lnTo>
                <a:lnTo>
                  <a:pt x="2551688" y="981938"/>
                </a:lnTo>
                <a:lnTo>
                  <a:pt x="2563611" y="981938"/>
                </a:lnTo>
                <a:lnTo>
                  <a:pt x="2575535" y="981938"/>
                </a:lnTo>
                <a:lnTo>
                  <a:pt x="2587459" y="981938"/>
                </a:lnTo>
                <a:lnTo>
                  <a:pt x="2599383" y="981938"/>
                </a:lnTo>
                <a:lnTo>
                  <a:pt x="2611306" y="981938"/>
                </a:lnTo>
                <a:lnTo>
                  <a:pt x="2623230" y="981938"/>
                </a:lnTo>
                <a:lnTo>
                  <a:pt x="2635154" y="981938"/>
                </a:lnTo>
                <a:lnTo>
                  <a:pt x="2647078" y="981938"/>
                </a:lnTo>
                <a:lnTo>
                  <a:pt x="2659002" y="981938"/>
                </a:lnTo>
                <a:lnTo>
                  <a:pt x="2670925" y="981938"/>
                </a:lnTo>
                <a:lnTo>
                  <a:pt x="2682849" y="981938"/>
                </a:lnTo>
                <a:lnTo>
                  <a:pt x="2694773" y="981938"/>
                </a:lnTo>
                <a:lnTo>
                  <a:pt x="2706697" y="981938"/>
                </a:lnTo>
                <a:lnTo>
                  <a:pt x="2718620" y="981938"/>
                </a:lnTo>
                <a:lnTo>
                  <a:pt x="2730544" y="981938"/>
                </a:lnTo>
                <a:lnTo>
                  <a:pt x="2742468" y="981938"/>
                </a:lnTo>
                <a:lnTo>
                  <a:pt x="2754392" y="981938"/>
                </a:lnTo>
                <a:lnTo>
                  <a:pt x="2766316" y="981938"/>
                </a:lnTo>
                <a:lnTo>
                  <a:pt x="2778239" y="981938"/>
                </a:lnTo>
                <a:lnTo>
                  <a:pt x="2790163" y="981938"/>
                </a:lnTo>
                <a:lnTo>
                  <a:pt x="2802087" y="981938"/>
                </a:lnTo>
                <a:lnTo>
                  <a:pt x="2814011" y="981938"/>
                </a:lnTo>
                <a:lnTo>
                  <a:pt x="2825934" y="981938"/>
                </a:lnTo>
                <a:lnTo>
                  <a:pt x="2837858" y="981938"/>
                </a:lnTo>
                <a:lnTo>
                  <a:pt x="2849782" y="981938"/>
                </a:lnTo>
                <a:lnTo>
                  <a:pt x="2861706" y="981938"/>
                </a:lnTo>
                <a:lnTo>
                  <a:pt x="2873630" y="981938"/>
                </a:lnTo>
                <a:lnTo>
                  <a:pt x="2885553" y="981938"/>
                </a:lnTo>
                <a:lnTo>
                  <a:pt x="2897477" y="981938"/>
                </a:lnTo>
                <a:lnTo>
                  <a:pt x="2909401" y="981938"/>
                </a:lnTo>
                <a:lnTo>
                  <a:pt x="2921325" y="981938"/>
                </a:lnTo>
                <a:lnTo>
                  <a:pt x="2933248" y="981938"/>
                </a:lnTo>
                <a:lnTo>
                  <a:pt x="2945172" y="981938"/>
                </a:lnTo>
                <a:lnTo>
                  <a:pt x="2957096" y="981938"/>
                </a:lnTo>
                <a:lnTo>
                  <a:pt x="2969020" y="981938"/>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777240" y="3988849"/>
            <a:ext cx="2969020" cy="679269"/>
          </a:xfrm>
          <a:custGeom>
            <a:avLst/>
            <a:gdLst/>
            <a:ahLst/>
            <a:cxnLst/>
            <a:rect l="l" t="t" r="r" b="b"/>
            <a:pathLst>
              <a:path w="2969020" h="679269">
                <a:moveTo>
                  <a:pt x="0" y="175256"/>
                </a:moveTo>
                <a:lnTo>
                  <a:pt x="11923" y="147944"/>
                </a:lnTo>
                <a:lnTo>
                  <a:pt x="23847" y="114810"/>
                </a:lnTo>
                <a:lnTo>
                  <a:pt x="35771" y="102942"/>
                </a:lnTo>
                <a:lnTo>
                  <a:pt x="47695" y="90701"/>
                </a:lnTo>
                <a:lnTo>
                  <a:pt x="59618" y="78254"/>
                </a:lnTo>
                <a:lnTo>
                  <a:pt x="71542" y="65801"/>
                </a:lnTo>
                <a:lnTo>
                  <a:pt x="83466" y="53578"/>
                </a:lnTo>
                <a:lnTo>
                  <a:pt x="95390" y="41851"/>
                </a:lnTo>
                <a:lnTo>
                  <a:pt x="107313" y="30918"/>
                </a:lnTo>
                <a:lnTo>
                  <a:pt x="119237" y="21100"/>
                </a:lnTo>
                <a:lnTo>
                  <a:pt x="131161" y="12740"/>
                </a:lnTo>
                <a:lnTo>
                  <a:pt x="143085" y="6196"/>
                </a:lnTo>
                <a:lnTo>
                  <a:pt x="155009" y="1830"/>
                </a:lnTo>
                <a:lnTo>
                  <a:pt x="166932" y="0"/>
                </a:lnTo>
                <a:lnTo>
                  <a:pt x="178856" y="1049"/>
                </a:lnTo>
                <a:lnTo>
                  <a:pt x="190780" y="5294"/>
                </a:lnTo>
                <a:lnTo>
                  <a:pt x="202704" y="13014"/>
                </a:lnTo>
                <a:lnTo>
                  <a:pt x="214627" y="24438"/>
                </a:lnTo>
                <a:lnTo>
                  <a:pt x="226551" y="39730"/>
                </a:lnTo>
                <a:lnTo>
                  <a:pt x="238475" y="58983"/>
                </a:lnTo>
                <a:lnTo>
                  <a:pt x="250399" y="82205"/>
                </a:lnTo>
                <a:lnTo>
                  <a:pt x="262323" y="109311"/>
                </a:lnTo>
                <a:lnTo>
                  <a:pt x="274246" y="140121"/>
                </a:lnTo>
                <a:lnTo>
                  <a:pt x="286170" y="174352"/>
                </a:lnTo>
                <a:lnTo>
                  <a:pt x="298094" y="211619"/>
                </a:lnTo>
                <a:lnTo>
                  <a:pt x="310018" y="251440"/>
                </a:lnTo>
                <a:lnTo>
                  <a:pt x="321941" y="293238"/>
                </a:lnTo>
                <a:lnTo>
                  <a:pt x="333865" y="336357"/>
                </a:lnTo>
                <a:lnTo>
                  <a:pt x="345789" y="380069"/>
                </a:lnTo>
                <a:lnTo>
                  <a:pt x="357713" y="423592"/>
                </a:lnTo>
                <a:lnTo>
                  <a:pt x="369637" y="466111"/>
                </a:lnTo>
                <a:lnTo>
                  <a:pt x="381560" y="506794"/>
                </a:lnTo>
                <a:lnTo>
                  <a:pt x="393484" y="544820"/>
                </a:lnTo>
                <a:lnTo>
                  <a:pt x="405408" y="579395"/>
                </a:lnTo>
                <a:lnTo>
                  <a:pt x="417332" y="609781"/>
                </a:lnTo>
                <a:lnTo>
                  <a:pt x="429255" y="635312"/>
                </a:lnTo>
                <a:lnTo>
                  <a:pt x="441179" y="655419"/>
                </a:lnTo>
                <a:lnTo>
                  <a:pt x="453103" y="669645"/>
                </a:lnTo>
                <a:lnTo>
                  <a:pt x="465027" y="677659"/>
                </a:lnTo>
                <a:lnTo>
                  <a:pt x="476951" y="679269"/>
                </a:lnTo>
                <a:lnTo>
                  <a:pt x="488874" y="674423"/>
                </a:lnTo>
                <a:lnTo>
                  <a:pt x="500798" y="663220"/>
                </a:lnTo>
                <a:lnTo>
                  <a:pt x="512722" y="645899"/>
                </a:lnTo>
                <a:lnTo>
                  <a:pt x="524646" y="622837"/>
                </a:lnTo>
                <a:lnTo>
                  <a:pt x="536569" y="594535"/>
                </a:lnTo>
                <a:lnTo>
                  <a:pt x="548493" y="561608"/>
                </a:lnTo>
                <a:lnTo>
                  <a:pt x="560417" y="524760"/>
                </a:lnTo>
                <a:lnTo>
                  <a:pt x="572341" y="484772"/>
                </a:lnTo>
                <a:lnTo>
                  <a:pt x="584265" y="442472"/>
                </a:lnTo>
                <a:lnTo>
                  <a:pt x="596188" y="398717"/>
                </a:lnTo>
                <a:lnTo>
                  <a:pt x="608112" y="354367"/>
                </a:lnTo>
                <a:lnTo>
                  <a:pt x="620036" y="310267"/>
                </a:lnTo>
                <a:lnTo>
                  <a:pt x="631960" y="267220"/>
                </a:lnTo>
                <a:lnTo>
                  <a:pt x="643883" y="225971"/>
                </a:lnTo>
                <a:lnTo>
                  <a:pt x="655807" y="187192"/>
                </a:lnTo>
                <a:lnTo>
                  <a:pt x="667731" y="151467"/>
                </a:lnTo>
                <a:lnTo>
                  <a:pt x="679655" y="119282"/>
                </a:lnTo>
                <a:lnTo>
                  <a:pt x="691579" y="91019"/>
                </a:lnTo>
                <a:lnTo>
                  <a:pt x="703502" y="66953"/>
                </a:lnTo>
                <a:lnTo>
                  <a:pt x="715426" y="47253"/>
                </a:lnTo>
                <a:lnTo>
                  <a:pt x="727350" y="31982"/>
                </a:lnTo>
                <a:lnTo>
                  <a:pt x="739274" y="21107"/>
                </a:lnTo>
                <a:lnTo>
                  <a:pt x="751197" y="14505"/>
                </a:lnTo>
                <a:lnTo>
                  <a:pt x="763121" y="11975"/>
                </a:lnTo>
                <a:lnTo>
                  <a:pt x="775045" y="13247"/>
                </a:lnTo>
                <a:lnTo>
                  <a:pt x="786969" y="17995"/>
                </a:lnTo>
                <a:lnTo>
                  <a:pt x="798892" y="25851"/>
                </a:lnTo>
                <a:lnTo>
                  <a:pt x="810816" y="36417"/>
                </a:lnTo>
                <a:lnTo>
                  <a:pt x="822740" y="49276"/>
                </a:lnTo>
                <a:lnTo>
                  <a:pt x="834664" y="64006"/>
                </a:lnTo>
                <a:lnTo>
                  <a:pt x="846588" y="80184"/>
                </a:lnTo>
                <a:lnTo>
                  <a:pt x="858511" y="97405"/>
                </a:lnTo>
                <a:lnTo>
                  <a:pt x="870435" y="115279"/>
                </a:lnTo>
                <a:lnTo>
                  <a:pt x="882359" y="133447"/>
                </a:lnTo>
                <a:lnTo>
                  <a:pt x="894283" y="151575"/>
                </a:lnTo>
                <a:lnTo>
                  <a:pt x="906206" y="169369"/>
                </a:lnTo>
                <a:lnTo>
                  <a:pt x="918130" y="186568"/>
                </a:lnTo>
                <a:lnTo>
                  <a:pt x="930054" y="202948"/>
                </a:lnTo>
                <a:lnTo>
                  <a:pt x="941978" y="218325"/>
                </a:lnTo>
                <a:lnTo>
                  <a:pt x="953902" y="232548"/>
                </a:lnTo>
                <a:lnTo>
                  <a:pt x="965825" y="245501"/>
                </a:lnTo>
                <a:lnTo>
                  <a:pt x="977749" y="257102"/>
                </a:lnTo>
                <a:lnTo>
                  <a:pt x="989673" y="267298"/>
                </a:lnTo>
                <a:lnTo>
                  <a:pt x="1001597" y="276062"/>
                </a:lnTo>
                <a:lnTo>
                  <a:pt x="1013520" y="283391"/>
                </a:lnTo>
                <a:lnTo>
                  <a:pt x="1025444" y="289305"/>
                </a:lnTo>
                <a:lnTo>
                  <a:pt x="1037368" y="293840"/>
                </a:lnTo>
                <a:lnTo>
                  <a:pt x="1049292" y="297048"/>
                </a:lnTo>
                <a:lnTo>
                  <a:pt x="1061216" y="298994"/>
                </a:lnTo>
                <a:lnTo>
                  <a:pt x="1073139" y="299753"/>
                </a:lnTo>
                <a:lnTo>
                  <a:pt x="1085063" y="299409"/>
                </a:lnTo>
                <a:lnTo>
                  <a:pt x="1096987" y="298051"/>
                </a:lnTo>
                <a:lnTo>
                  <a:pt x="1108911" y="295773"/>
                </a:lnTo>
                <a:lnTo>
                  <a:pt x="1120834" y="292671"/>
                </a:lnTo>
                <a:lnTo>
                  <a:pt x="1132758" y="288844"/>
                </a:lnTo>
                <a:lnTo>
                  <a:pt x="1144682" y="284390"/>
                </a:lnTo>
                <a:lnTo>
                  <a:pt x="1156606" y="279404"/>
                </a:lnTo>
                <a:lnTo>
                  <a:pt x="1168530" y="273984"/>
                </a:lnTo>
                <a:lnTo>
                  <a:pt x="1180453" y="268221"/>
                </a:lnTo>
                <a:lnTo>
                  <a:pt x="1192377" y="262204"/>
                </a:lnTo>
                <a:lnTo>
                  <a:pt x="1204301" y="256019"/>
                </a:lnTo>
                <a:lnTo>
                  <a:pt x="1216225" y="249745"/>
                </a:lnTo>
                <a:lnTo>
                  <a:pt x="1228148" y="243458"/>
                </a:lnTo>
                <a:lnTo>
                  <a:pt x="1240072" y="237228"/>
                </a:lnTo>
                <a:lnTo>
                  <a:pt x="1251996" y="231118"/>
                </a:lnTo>
                <a:lnTo>
                  <a:pt x="1263920" y="225187"/>
                </a:lnTo>
                <a:lnTo>
                  <a:pt x="1275844" y="219485"/>
                </a:lnTo>
                <a:lnTo>
                  <a:pt x="1287767" y="214059"/>
                </a:lnTo>
                <a:lnTo>
                  <a:pt x="1299691" y="208947"/>
                </a:lnTo>
                <a:lnTo>
                  <a:pt x="1311615" y="204181"/>
                </a:lnTo>
                <a:lnTo>
                  <a:pt x="1323539" y="199788"/>
                </a:lnTo>
                <a:lnTo>
                  <a:pt x="1335462" y="195788"/>
                </a:lnTo>
                <a:lnTo>
                  <a:pt x="1347386" y="192196"/>
                </a:lnTo>
                <a:lnTo>
                  <a:pt x="1359310" y="189018"/>
                </a:lnTo>
                <a:lnTo>
                  <a:pt x="1371234" y="186260"/>
                </a:lnTo>
                <a:lnTo>
                  <a:pt x="1383158" y="183918"/>
                </a:lnTo>
                <a:lnTo>
                  <a:pt x="1395081" y="181987"/>
                </a:lnTo>
                <a:lnTo>
                  <a:pt x="1407005" y="180456"/>
                </a:lnTo>
                <a:lnTo>
                  <a:pt x="1418929" y="179311"/>
                </a:lnTo>
                <a:lnTo>
                  <a:pt x="1430853" y="178535"/>
                </a:lnTo>
                <a:lnTo>
                  <a:pt x="1442776" y="178106"/>
                </a:lnTo>
                <a:lnTo>
                  <a:pt x="1454700" y="178004"/>
                </a:lnTo>
                <a:lnTo>
                  <a:pt x="1466624" y="178203"/>
                </a:lnTo>
                <a:lnTo>
                  <a:pt x="1478548" y="178678"/>
                </a:lnTo>
                <a:lnTo>
                  <a:pt x="1490472" y="179402"/>
                </a:lnTo>
                <a:lnTo>
                  <a:pt x="1502395" y="180349"/>
                </a:lnTo>
                <a:lnTo>
                  <a:pt x="1514319" y="181492"/>
                </a:lnTo>
                <a:lnTo>
                  <a:pt x="1526243" y="182804"/>
                </a:lnTo>
                <a:lnTo>
                  <a:pt x="1538167" y="184258"/>
                </a:lnTo>
                <a:lnTo>
                  <a:pt x="1550090" y="185830"/>
                </a:lnTo>
                <a:lnTo>
                  <a:pt x="1562014" y="187494"/>
                </a:lnTo>
                <a:lnTo>
                  <a:pt x="1573938" y="189229"/>
                </a:lnTo>
                <a:lnTo>
                  <a:pt x="1585862" y="191013"/>
                </a:lnTo>
                <a:lnTo>
                  <a:pt x="1597785" y="192826"/>
                </a:lnTo>
                <a:lnTo>
                  <a:pt x="1609709" y="194650"/>
                </a:lnTo>
                <a:lnTo>
                  <a:pt x="1621633" y="196468"/>
                </a:lnTo>
                <a:lnTo>
                  <a:pt x="1633557" y="198266"/>
                </a:lnTo>
                <a:lnTo>
                  <a:pt x="1645481" y="200031"/>
                </a:lnTo>
                <a:lnTo>
                  <a:pt x="1657404" y="201752"/>
                </a:lnTo>
                <a:lnTo>
                  <a:pt x="1669328" y="203419"/>
                </a:lnTo>
                <a:lnTo>
                  <a:pt x="1681252" y="205026"/>
                </a:lnTo>
                <a:lnTo>
                  <a:pt x="1693176" y="206564"/>
                </a:lnTo>
                <a:lnTo>
                  <a:pt x="1705099" y="208030"/>
                </a:lnTo>
                <a:lnTo>
                  <a:pt x="1717023" y="209421"/>
                </a:lnTo>
                <a:lnTo>
                  <a:pt x="1728947" y="210733"/>
                </a:lnTo>
                <a:lnTo>
                  <a:pt x="1740871" y="211965"/>
                </a:lnTo>
                <a:lnTo>
                  <a:pt x="1752795" y="213118"/>
                </a:lnTo>
                <a:lnTo>
                  <a:pt x="1764718" y="214192"/>
                </a:lnTo>
                <a:lnTo>
                  <a:pt x="1776642" y="215188"/>
                </a:lnTo>
                <a:lnTo>
                  <a:pt x="1788566" y="216108"/>
                </a:lnTo>
                <a:lnTo>
                  <a:pt x="1800490" y="216955"/>
                </a:lnTo>
                <a:lnTo>
                  <a:pt x="1812413" y="217732"/>
                </a:lnTo>
                <a:lnTo>
                  <a:pt x="1824337" y="218441"/>
                </a:lnTo>
                <a:lnTo>
                  <a:pt x="1836261" y="219087"/>
                </a:lnTo>
                <a:lnTo>
                  <a:pt x="1848185" y="219672"/>
                </a:lnTo>
                <a:lnTo>
                  <a:pt x="1860109" y="220202"/>
                </a:lnTo>
                <a:lnTo>
                  <a:pt x="1872032" y="220679"/>
                </a:lnTo>
                <a:lnTo>
                  <a:pt x="1883956" y="221107"/>
                </a:lnTo>
                <a:lnTo>
                  <a:pt x="1895880" y="221491"/>
                </a:lnTo>
                <a:lnTo>
                  <a:pt x="1907804" y="221833"/>
                </a:lnTo>
                <a:lnTo>
                  <a:pt x="1919727" y="222137"/>
                </a:lnTo>
                <a:lnTo>
                  <a:pt x="1931651" y="222407"/>
                </a:lnTo>
                <a:lnTo>
                  <a:pt x="1943575" y="222645"/>
                </a:lnTo>
                <a:lnTo>
                  <a:pt x="1955499" y="222855"/>
                </a:lnTo>
                <a:lnTo>
                  <a:pt x="1967423" y="223039"/>
                </a:lnTo>
                <a:lnTo>
                  <a:pt x="1979346" y="223201"/>
                </a:lnTo>
                <a:lnTo>
                  <a:pt x="1991270" y="223342"/>
                </a:lnTo>
                <a:lnTo>
                  <a:pt x="2003194" y="223465"/>
                </a:lnTo>
                <a:lnTo>
                  <a:pt x="2015118" y="223571"/>
                </a:lnTo>
                <a:lnTo>
                  <a:pt x="2027041" y="223663"/>
                </a:lnTo>
                <a:lnTo>
                  <a:pt x="2038965" y="223743"/>
                </a:lnTo>
                <a:lnTo>
                  <a:pt x="2050889" y="223812"/>
                </a:lnTo>
                <a:lnTo>
                  <a:pt x="2062813" y="223870"/>
                </a:lnTo>
                <a:lnTo>
                  <a:pt x="2074737" y="223921"/>
                </a:lnTo>
                <a:lnTo>
                  <a:pt x="2086660" y="223964"/>
                </a:lnTo>
                <a:lnTo>
                  <a:pt x="2098584" y="224000"/>
                </a:lnTo>
                <a:lnTo>
                  <a:pt x="2110508" y="224031"/>
                </a:lnTo>
                <a:lnTo>
                  <a:pt x="2122432" y="224058"/>
                </a:lnTo>
                <a:lnTo>
                  <a:pt x="2134355" y="224080"/>
                </a:lnTo>
                <a:lnTo>
                  <a:pt x="2146279" y="224099"/>
                </a:lnTo>
                <a:lnTo>
                  <a:pt x="2158203" y="224114"/>
                </a:lnTo>
                <a:lnTo>
                  <a:pt x="2170127" y="224127"/>
                </a:lnTo>
                <a:lnTo>
                  <a:pt x="2182051" y="224138"/>
                </a:lnTo>
                <a:lnTo>
                  <a:pt x="2193974" y="224148"/>
                </a:lnTo>
                <a:lnTo>
                  <a:pt x="2205898" y="224155"/>
                </a:lnTo>
                <a:lnTo>
                  <a:pt x="2217822" y="224161"/>
                </a:lnTo>
                <a:lnTo>
                  <a:pt x="2229746" y="224167"/>
                </a:lnTo>
                <a:lnTo>
                  <a:pt x="2241669" y="224171"/>
                </a:lnTo>
                <a:lnTo>
                  <a:pt x="2253593" y="224174"/>
                </a:lnTo>
                <a:lnTo>
                  <a:pt x="2265517" y="224177"/>
                </a:lnTo>
                <a:lnTo>
                  <a:pt x="2277441" y="224180"/>
                </a:lnTo>
                <a:lnTo>
                  <a:pt x="2289364" y="224182"/>
                </a:lnTo>
                <a:lnTo>
                  <a:pt x="2301288" y="224183"/>
                </a:lnTo>
                <a:lnTo>
                  <a:pt x="2313212" y="224184"/>
                </a:lnTo>
                <a:lnTo>
                  <a:pt x="2325136" y="224185"/>
                </a:lnTo>
                <a:lnTo>
                  <a:pt x="2337060" y="224186"/>
                </a:lnTo>
                <a:lnTo>
                  <a:pt x="2348983" y="224187"/>
                </a:lnTo>
                <a:lnTo>
                  <a:pt x="2360907" y="224188"/>
                </a:lnTo>
                <a:lnTo>
                  <a:pt x="2372831" y="224188"/>
                </a:lnTo>
                <a:lnTo>
                  <a:pt x="2384755" y="224188"/>
                </a:lnTo>
                <a:lnTo>
                  <a:pt x="2396678" y="224189"/>
                </a:lnTo>
                <a:lnTo>
                  <a:pt x="2408602" y="224189"/>
                </a:lnTo>
                <a:lnTo>
                  <a:pt x="2420526" y="224189"/>
                </a:lnTo>
                <a:lnTo>
                  <a:pt x="2432450" y="224189"/>
                </a:lnTo>
                <a:lnTo>
                  <a:pt x="2444374" y="224189"/>
                </a:lnTo>
                <a:lnTo>
                  <a:pt x="2456297" y="224189"/>
                </a:lnTo>
                <a:lnTo>
                  <a:pt x="2468221" y="224189"/>
                </a:lnTo>
                <a:lnTo>
                  <a:pt x="2480145" y="224189"/>
                </a:lnTo>
                <a:lnTo>
                  <a:pt x="2492069" y="224189"/>
                </a:lnTo>
                <a:lnTo>
                  <a:pt x="2503992" y="224189"/>
                </a:lnTo>
                <a:lnTo>
                  <a:pt x="2515916" y="224190"/>
                </a:lnTo>
                <a:lnTo>
                  <a:pt x="2527840" y="224190"/>
                </a:lnTo>
                <a:lnTo>
                  <a:pt x="2539764" y="224190"/>
                </a:lnTo>
                <a:lnTo>
                  <a:pt x="2551688" y="224190"/>
                </a:lnTo>
                <a:lnTo>
                  <a:pt x="2563611" y="224190"/>
                </a:lnTo>
                <a:lnTo>
                  <a:pt x="2575535" y="224190"/>
                </a:lnTo>
                <a:lnTo>
                  <a:pt x="2587459" y="224190"/>
                </a:lnTo>
                <a:lnTo>
                  <a:pt x="2599383" y="224190"/>
                </a:lnTo>
                <a:lnTo>
                  <a:pt x="2611306" y="224190"/>
                </a:lnTo>
                <a:lnTo>
                  <a:pt x="2623230" y="224190"/>
                </a:lnTo>
                <a:lnTo>
                  <a:pt x="2635154" y="224190"/>
                </a:lnTo>
                <a:lnTo>
                  <a:pt x="2647078" y="224190"/>
                </a:lnTo>
                <a:lnTo>
                  <a:pt x="2659002" y="224190"/>
                </a:lnTo>
                <a:lnTo>
                  <a:pt x="2670925" y="224190"/>
                </a:lnTo>
                <a:lnTo>
                  <a:pt x="2682849" y="224190"/>
                </a:lnTo>
                <a:lnTo>
                  <a:pt x="2694773" y="224190"/>
                </a:lnTo>
                <a:lnTo>
                  <a:pt x="2706697" y="224190"/>
                </a:lnTo>
                <a:lnTo>
                  <a:pt x="2718620" y="224190"/>
                </a:lnTo>
                <a:lnTo>
                  <a:pt x="2730544" y="224190"/>
                </a:lnTo>
                <a:lnTo>
                  <a:pt x="2742468" y="224190"/>
                </a:lnTo>
                <a:lnTo>
                  <a:pt x="2754392" y="224190"/>
                </a:lnTo>
                <a:lnTo>
                  <a:pt x="2766316" y="224190"/>
                </a:lnTo>
                <a:lnTo>
                  <a:pt x="2778239" y="224190"/>
                </a:lnTo>
                <a:lnTo>
                  <a:pt x="2790163" y="224190"/>
                </a:lnTo>
                <a:lnTo>
                  <a:pt x="2802087" y="224190"/>
                </a:lnTo>
                <a:lnTo>
                  <a:pt x="2814011" y="224190"/>
                </a:lnTo>
                <a:lnTo>
                  <a:pt x="2825934" y="224190"/>
                </a:lnTo>
                <a:lnTo>
                  <a:pt x="2837858" y="224190"/>
                </a:lnTo>
                <a:lnTo>
                  <a:pt x="2849782" y="224190"/>
                </a:lnTo>
                <a:lnTo>
                  <a:pt x="2861706" y="224190"/>
                </a:lnTo>
                <a:lnTo>
                  <a:pt x="2873630" y="224190"/>
                </a:lnTo>
                <a:lnTo>
                  <a:pt x="2885553" y="224190"/>
                </a:lnTo>
                <a:lnTo>
                  <a:pt x="2897477" y="224190"/>
                </a:lnTo>
                <a:lnTo>
                  <a:pt x="2909401" y="224190"/>
                </a:lnTo>
                <a:lnTo>
                  <a:pt x="2921325" y="224190"/>
                </a:lnTo>
                <a:lnTo>
                  <a:pt x="2933248" y="224190"/>
                </a:lnTo>
                <a:lnTo>
                  <a:pt x="2945172" y="224190"/>
                </a:lnTo>
                <a:lnTo>
                  <a:pt x="2957096" y="224190"/>
                </a:lnTo>
                <a:lnTo>
                  <a:pt x="2969020" y="224190"/>
                </a:lnTo>
              </a:path>
            </a:pathLst>
          </a:cu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1266114" y="235915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66114" y="397763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197534" y="2359021"/>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1" name="Connector 50"/>
          <p:cNvCxnSpPr/>
          <p:nvPr/>
        </p:nvCxnSpPr>
        <p:spPr>
          <a:xfrm>
            <a:off x="1540361" y="235915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540361" y="397763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1471781" y="283848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9224" y="3538728"/>
            <a:ext cx="3236976" cy="395630"/>
          </a:xfrm>
          <a:prstGeom prst="rect">
            <a:avLst/>
          </a:prstGeom>
          <a:noFill/>
        </p:spPr>
        <p:txBody>
          <a:bodyPr wrap="square" lIns="0" tIns="0" rIns="0" bIns="0" anchor="t">
            <a:spAutoFit/>
          </a:bodyPr>
          <a:lstStyle/>
          <a:p>
            <a:pPr algn="l">
              <a:spcAft>
                <a:spcPts val="0"/>
              </a:spcAft>
            </a:pPr>
            <a:r>
              <a:rPr sz="2200" b="0" dirty="0">
                <a:solidFill>
                  <a:srgbClr val="00A8AA"/>
                </a:solidFill>
                <a:latin typeface="Meiryo"/>
                <a:ea typeface="Meiryo"/>
                <a:cs typeface="Meiryo"/>
              </a:rPr>
              <a:t>2次微分</a:t>
            </a:r>
          </a:p>
        </p:txBody>
      </p:sp>
      <p:sp>
        <p:nvSpPr>
          <p:cNvPr id="55" name="TextBox 54"/>
          <p:cNvSpPr txBox="1"/>
          <p:nvPr/>
        </p:nvSpPr>
        <p:spPr>
          <a:xfrm>
            <a:off x="649224" y="489204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微分で見つけた時刻</a:t>
            </a:r>
          </a:p>
        </p:txBody>
      </p:sp>
      <p:sp>
        <p:nvSpPr>
          <p:cNvPr id="56" name="TextBox 55"/>
          <p:cNvSpPr txBox="1"/>
          <p:nvPr/>
        </p:nvSpPr>
        <p:spPr>
          <a:xfrm>
            <a:off x="4453128" y="188366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b　前の拍を引き継ぐ</a:t>
            </a:r>
          </a:p>
        </p:txBody>
      </p:sp>
      <p:sp>
        <p:nvSpPr>
          <p:cNvPr id="5" name="Freeform 4"/>
          <p:cNvSpPr/>
          <p:nvPr/>
        </p:nvSpPr>
        <p:spPr>
          <a:xfrm>
            <a:off x="4526280" y="2603013"/>
            <a:ext cx="3084490" cy="1268337"/>
          </a:xfrm>
          <a:custGeom>
            <a:avLst/>
            <a:gdLst/>
            <a:ahLst/>
            <a:cxnLst/>
            <a:rect l="l" t="t" r="r" b="b"/>
            <a:pathLst>
              <a:path w="3084490" h="1268337">
                <a:moveTo>
                  <a:pt x="0" y="1233563"/>
                </a:moveTo>
                <a:lnTo>
                  <a:pt x="6181" y="1226887"/>
                </a:lnTo>
                <a:lnTo>
                  <a:pt x="12362" y="1219148"/>
                </a:lnTo>
                <a:lnTo>
                  <a:pt x="18544" y="1210222"/>
                </a:lnTo>
                <a:lnTo>
                  <a:pt x="24725" y="1199980"/>
                </a:lnTo>
                <a:lnTo>
                  <a:pt x="30906" y="1188289"/>
                </a:lnTo>
                <a:lnTo>
                  <a:pt x="37088" y="1175013"/>
                </a:lnTo>
                <a:lnTo>
                  <a:pt x="43269" y="1160015"/>
                </a:lnTo>
                <a:lnTo>
                  <a:pt x="49450" y="1143163"/>
                </a:lnTo>
                <a:lnTo>
                  <a:pt x="55632" y="1124328"/>
                </a:lnTo>
                <a:lnTo>
                  <a:pt x="61813" y="1103391"/>
                </a:lnTo>
                <a:lnTo>
                  <a:pt x="67994" y="1080243"/>
                </a:lnTo>
                <a:lnTo>
                  <a:pt x="74176" y="1054794"/>
                </a:lnTo>
                <a:lnTo>
                  <a:pt x="80357" y="1026970"/>
                </a:lnTo>
                <a:lnTo>
                  <a:pt x="86538" y="996725"/>
                </a:lnTo>
                <a:lnTo>
                  <a:pt x="92720" y="964036"/>
                </a:lnTo>
                <a:lnTo>
                  <a:pt x="98901" y="928915"/>
                </a:lnTo>
                <a:lnTo>
                  <a:pt x="105082" y="891406"/>
                </a:lnTo>
                <a:lnTo>
                  <a:pt x="111264" y="851593"/>
                </a:lnTo>
                <a:lnTo>
                  <a:pt x="117445" y="809600"/>
                </a:lnTo>
                <a:lnTo>
                  <a:pt x="123626" y="765593"/>
                </a:lnTo>
                <a:lnTo>
                  <a:pt x="129808" y="719780"/>
                </a:lnTo>
                <a:lnTo>
                  <a:pt x="135989" y="672414"/>
                </a:lnTo>
                <a:lnTo>
                  <a:pt x="142170" y="623790"/>
                </a:lnTo>
                <a:lnTo>
                  <a:pt x="148352" y="574243"/>
                </a:lnTo>
                <a:lnTo>
                  <a:pt x="154533" y="524147"/>
                </a:lnTo>
                <a:lnTo>
                  <a:pt x="160714" y="473907"/>
                </a:lnTo>
                <a:lnTo>
                  <a:pt x="166896" y="423958"/>
                </a:lnTo>
                <a:lnTo>
                  <a:pt x="173077" y="374755"/>
                </a:lnTo>
                <a:lnTo>
                  <a:pt x="179258" y="326769"/>
                </a:lnTo>
                <a:lnTo>
                  <a:pt x="185440" y="280477"/>
                </a:lnTo>
                <a:lnTo>
                  <a:pt x="191621" y="236353"/>
                </a:lnTo>
                <a:lnTo>
                  <a:pt x="197803" y="194863"/>
                </a:lnTo>
                <a:lnTo>
                  <a:pt x="203984" y="156449"/>
                </a:lnTo>
                <a:lnTo>
                  <a:pt x="210165" y="121528"/>
                </a:lnTo>
                <a:lnTo>
                  <a:pt x="216347" y="90477"/>
                </a:lnTo>
                <a:lnTo>
                  <a:pt x="222528" y="63627"/>
                </a:lnTo>
                <a:lnTo>
                  <a:pt x="228709" y="41259"/>
                </a:lnTo>
                <a:lnTo>
                  <a:pt x="234891" y="23590"/>
                </a:lnTo>
                <a:lnTo>
                  <a:pt x="241072" y="10778"/>
                </a:lnTo>
                <a:lnTo>
                  <a:pt x="247253" y="2908"/>
                </a:lnTo>
                <a:lnTo>
                  <a:pt x="253435" y="0"/>
                </a:lnTo>
                <a:lnTo>
                  <a:pt x="259616" y="2000"/>
                </a:lnTo>
                <a:lnTo>
                  <a:pt x="265797" y="8786"/>
                </a:lnTo>
                <a:lnTo>
                  <a:pt x="271979" y="20168"/>
                </a:lnTo>
                <a:lnTo>
                  <a:pt x="278160" y="35895"/>
                </a:lnTo>
                <a:lnTo>
                  <a:pt x="284341" y="55658"/>
                </a:lnTo>
                <a:lnTo>
                  <a:pt x="290523" y="79096"/>
                </a:lnTo>
                <a:lnTo>
                  <a:pt x="296704" y="105808"/>
                </a:lnTo>
                <a:lnTo>
                  <a:pt x="302885" y="135357"/>
                </a:lnTo>
                <a:lnTo>
                  <a:pt x="309067" y="167281"/>
                </a:lnTo>
                <a:lnTo>
                  <a:pt x="315248" y="201103"/>
                </a:lnTo>
                <a:lnTo>
                  <a:pt x="321429" y="236338"/>
                </a:lnTo>
                <a:lnTo>
                  <a:pt x="327611" y="272505"/>
                </a:lnTo>
                <a:lnTo>
                  <a:pt x="333792" y="309134"/>
                </a:lnTo>
                <a:lnTo>
                  <a:pt x="339973" y="345776"/>
                </a:lnTo>
                <a:lnTo>
                  <a:pt x="346155" y="382008"/>
                </a:lnTo>
                <a:lnTo>
                  <a:pt x="352336" y="417440"/>
                </a:lnTo>
                <a:lnTo>
                  <a:pt x="358517" y="451722"/>
                </a:lnTo>
                <a:lnTo>
                  <a:pt x="364699" y="484546"/>
                </a:lnTo>
                <a:lnTo>
                  <a:pt x="370880" y="515650"/>
                </a:lnTo>
                <a:lnTo>
                  <a:pt x="377061" y="544820"/>
                </a:lnTo>
                <a:lnTo>
                  <a:pt x="383243" y="571890"/>
                </a:lnTo>
                <a:lnTo>
                  <a:pt x="389424" y="596742"/>
                </a:lnTo>
                <a:lnTo>
                  <a:pt x="395606" y="619305"/>
                </a:lnTo>
                <a:lnTo>
                  <a:pt x="401787" y="639553"/>
                </a:lnTo>
                <a:lnTo>
                  <a:pt x="407968" y="657500"/>
                </a:lnTo>
                <a:lnTo>
                  <a:pt x="414150" y="673199"/>
                </a:lnTo>
                <a:lnTo>
                  <a:pt x="420331" y="686735"/>
                </a:lnTo>
                <a:lnTo>
                  <a:pt x="426512" y="698226"/>
                </a:lnTo>
                <a:lnTo>
                  <a:pt x="432694" y="707812"/>
                </a:lnTo>
                <a:lnTo>
                  <a:pt x="438875" y="715654"/>
                </a:lnTo>
                <a:lnTo>
                  <a:pt x="445056" y="721928"/>
                </a:lnTo>
                <a:lnTo>
                  <a:pt x="451238" y="726824"/>
                </a:lnTo>
                <a:lnTo>
                  <a:pt x="457419" y="730536"/>
                </a:lnTo>
                <a:lnTo>
                  <a:pt x="463600" y="733262"/>
                </a:lnTo>
                <a:lnTo>
                  <a:pt x="469782" y="735200"/>
                </a:lnTo>
                <a:lnTo>
                  <a:pt x="475963" y="736545"/>
                </a:lnTo>
                <a:lnTo>
                  <a:pt x="482144" y="737483"/>
                </a:lnTo>
                <a:lnTo>
                  <a:pt x="488326" y="738193"/>
                </a:lnTo>
                <a:lnTo>
                  <a:pt x="494507" y="738843"/>
                </a:lnTo>
                <a:lnTo>
                  <a:pt x="500688" y="739587"/>
                </a:lnTo>
                <a:lnTo>
                  <a:pt x="506870" y="740566"/>
                </a:lnTo>
                <a:lnTo>
                  <a:pt x="513051" y="741906"/>
                </a:lnTo>
                <a:lnTo>
                  <a:pt x="519232" y="743719"/>
                </a:lnTo>
                <a:lnTo>
                  <a:pt x="525414" y="746098"/>
                </a:lnTo>
                <a:lnTo>
                  <a:pt x="531595" y="749125"/>
                </a:lnTo>
                <a:lnTo>
                  <a:pt x="537776" y="752863"/>
                </a:lnTo>
                <a:lnTo>
                  <a:pt x="543958" y="757361"/>
                </a:lnTo>
                <a:lnTo>
                  <a:pt x="550139" y="762655"/>
                </a:lnTo>
                <a:lnTo>
                  <a:pt x="556320" y="768763"/>
                </a:lnTo>
                <a:lnTo>
                  <a:pt x="562502" y="775696"/>
                </a:lnTo>
                <a:lnTo>
                  <a:pt x="568683" y="783449"/>
                </a:lnTo>
                <a:lnTo>
                  <a:pt x="574864" y="792006"/>
                </a:lnTo>
                <a:lnTo>
                  <a:pt x="581046" y="801343"/>
                </a:lnTo>
                <a:lnTo>
                  <a:pt x="587227" y="811426"/>
                </a:lnTo>
                <a:lnTo>
                  <a:pt x="593409" y="822213"/>
                </a:lnTo>
                <a:lnTo>
                  <a:pt x="599590" y="833656"/>
                </a:lnTo>
                <a:lnTo>
                  <a:pt x="605771" y="845699"/>
                </a:lnTo>
                <a:lnTo>
                  <a:pt x="611953" y="858284"/>
                </a:lnTo>
                <a:lnTo>
                  <a:pt x="618134" y="871349"/>
                </a:lnTo>
                <a:lnTo>
                  <a:pt x="624315" y="884826"/>
                </a:lnTo>
                <a:lnTo>
                  <a:pt x="630497" y="898650"/>
                </a:lnTo>
                <a:lnTo>
                  <a:pt x="636678" y="912751"/>
                </a:lnTo>
                <a:lnTo>
                  <a:pt x="642859" y="927061"/>
                </a:lnTo>
                <a:lnTo>
                  <a:pt x="649041" y="941513"/>
                </a:lnTo>
                <a:lnTo>
                  <a:pt x="655222" y="956040"/>
                </a:lnTo>
                <a:lnTo>
                  <a:pt x="661403" y="970576"/>
                </a:lnTo>
                <a:lnTo>
                  <a:pt x="667585" y="985061"/>
                </a:lnTo>
                <a:lnTo>
                  <a:pt x="673766" y="999435"/>
                </a:lnTo>
                <a:lnTo>
                  <a:pt x="679947" y="1013642"/>
                </a:lnTo>
                <a:lnTo>
                  <a:pt x="686129" y="1027632"/>
                </a:lnTo>
                <a:lnTo>
                  <a:pt x="692310" y="1041354"/>
                </a:lnTo>
                <a:lnTo>
                  <a:pt x="698491" y="1054768"/>
                </a:lnTo>
                <a:lnTo>
                  <a:pt x="704673" y="1067832"/>
                </a:lnTo>
                <a:lnTo>
                  <a:pt x="710854" y="1080514"/>
                </a:lnTo>
                <a:lnTo>
                  <a:pt x="717035" y="1092782"/>
                </a:lnTo>
                <a:lnTo>
                  <a:pt x="723217" y="1104612"/>
                </a:lnTo>
                <a:lnTo>
                  <a:pt x="729398" y="1115982"/>
                </a:lnTo>
                <a:lnTo>
                  <a:pt x="735579" y="1126876"/>
                </a:lnTo>
                <a:lnTo>
                  <a:pt x="741761" y="1137281"/>
                </a:lnTo>
                <a:lnTo>
                  <a:pt x="747942" y="1147190"/>
                </a:lnTo>
                <a:lnTo>
                  <a:pt x="754123" y="1156597"/>
                </a:lnTo>
                <a:lnTo>
                  <a:pt x="760305" y="1165502"/>
                </a:lnTo>
                <a:lnTo>
                  <a:pt x="766486" y="1173906"/>
                </a:lnTo>
                <a:lnTo>
                  <a:pt x="772668" y="1181816"/>
                </a:lnTo>
                <a:lnTo>
                  <a:pt x="778849" y="1189238"/>
                </a:lnTo>
                <a:lnTo>
                  <a:pt x="785030" y="1196183"/>
                </a:lnTo>
                <a:lnTo>
                  <a:pt x="791212" y="1202665"/>
                </a:lnTo>
                <a:lnTo>
                  <a:pt x="797393" y="1208696"/>
                </a:lnTo>
                <a:lnTo>
                  <a:pt x="803574" y="1214293"/>
                </a:lnTo>
                <a:lnTo>
                  <a:pt x="809756" y="1219473"/>
                </a:lnTo>
                <a:lnTo>
                  <a:pt x="815937" y="1224255"/>
                </a:lnTo>
                <a:lnTo>
                  <a:pt x="822118" y="1228656"/>
                </a:lnTo>
                <a:lnTo>
                  <a:pt x="828300" y="1232697"/>
                </a:lnTo>
                <a:lnTo>
                  <a:pt x="834481" y="1236397"/>
                </a:lnTo>
                <a:lnTo>
                  <a:pt x="840662" y="1239777"/>
                </a:lnTo>
                <a:lnTo>
                  <a:pt x="846844" y="1242855"/>
                </a:lnTo>
                <a:lnTo>
                  <a:pt x="853025" y="1245652"/>
                </a:lnTo>
                <a:lnTo>
                  <a:pt x="859206" y="1248187"/>
                </a:lnTo>
                <a:lnTo>
                  <a:pt x="865388" y="1250478"/>
                </a:lnTo>
                <a:lnTo>
                  <a:pt x="871569" y="1252543"/>
                </a:lnTo>
                <a:lnTo>
                  <a:pt x="877750" y="1254401"/>
                </a:lnTo>
                <a:lnTo>
                  <a:pt x="883932" y="1256067"/>
                </a:lnTo>
                <a:lnTo>
                  <a:pt x="890113" y="1257558"/>
                </a:lnTo>
                <a:lnTo>
                  <a:pt x="896294" y="1258889"/>
                </a:lnTo>
                <a:lnTo>
                  <a:pt x="902476" y="1260074"/>
                </a:lnTo>
                <a:lnTo>
                  <a:pt x="908657" y="1261126"/>
                </a:lnTo>
                <a:lnTo>
                  <a:pt x="914838" y="1262058"/>
                </a:lnTo>
                <a:lnTo>
                  <a:pt x="921020" y="1262882"/>
                </a:lnTo>
                <a:lnTo>
                  <a:pt x="927201" y="1263608"/>
                </a:lnTo>
                <a:lnTo>
                  <a:pt x="933382" y="1264246"/>
                </a:lnTo>
                <a:lnTo>
                  <a:pt x="939564" y="1264807"/>
                </a:lnTo>
                <a:lnTo>
                  <a:pt x="945745" y="1265297"/>
                </a:lnTo>
                <a:lnTo>
                  <a:pt x="951926" y="1265725"/>
                </a:lnTo>
                <a:lnTo>
                  <a:pt x="958108" y="1266097"/>
                </a:lnTo>
                <a:lnTo>
                  <a:pt x="964289" y="1266421"/>
                </a:lnTo>
                <a:lnTo>
                  <a:pt x="970471" y="1266702"/>
                </a:lnTo>
                <a:lnTo>
                  <a:pt x="976652" y="1266944"/>
                </a:lnTo>
                <a:lnTo>
                  <a:pt x="982833" y="1267154"/>
                </a:lnTo>
                <a:lnTo>
                  <a:pt x="989015" y="1267334"/>
                </a:lnTo>
                <a:lnTo>
                  <a:pt x="995196" y="1267488"/>
                </a:lnTo>
                <a:lnTo>
                  <a:pt x="1001377" y="1267620"/>
                </a:lnTo>
                <a:lnTo>
                  <a:pt x="1007559" y="1267734"/>
                </a:lnTo>
                <a:lnTo>
                  <a:pt x="1013740" y="1267830"/>
                </a:lnTo>
                <a:lnTo>
                  <a:pt x="1019921" y="1267912"/>
                </a:lnTo>
                <a:lnTo>
                  <a:pt x="1026103" y="1267981"/>
                </a:lnTo>
                <a:lnTo>
                  <a:pt x="1032284" y="1268040"/>
                </a:lnTo>
                <a:lnTo>
                  <a:pt x="1038465" y="1268090"/>
                </a:lnTo>
                <a:lnTo>
                  <a:pt x="1044647" y="1268131"/>
                </a:lnTo>
                <a:lnTo>
                  <a:pt x="1050828" y="1268167"/>
                </a:lnTo>
                <a:lnTo>
                  <a:pt x="1057009" y="1268196"/>
                </a:lnTo>
                <a:lnTo>
                  <a:pt x="1063191" y="1268221"/>
                </a:lnTo>
                <a:lnTo>
                  <a:pt x="1069372" y="1268241"/>
                </a:lnTo>
                <a:lnTo>
                  <a:pt x="1075553" y="1268258"/>
                </a:lnTo>
                <a:lnTo>
                  <a:pt x="1081735" y="1268272"/>
                </a:lnTo>
                <a:lnTo>
                  <a:pt x="1087916" y="1268284"/>
                </a:lnTo>
                <a:lnTo>
                  <a:pt x="1094097" y="1268294"/>
                </a:lnTo>
                <a:lnTo>
                  <a:pt x="1100279" y="1268302"/>
                </a:lnTo>
                <a:lnTo>
                  <a:pt x="1106460" y="1268309"/>
                </a:lnTo>
                <a:lnTo>
                  <a:pt x="1112641" y="1268314"/>
                </a:lnTo>
                <a:lnTo>
                  <a:pt x="1118823" y="1268318"/>
                </a:lnTo>
                <a:lnTo>
                  <a:pt x="1125004" y="1268322"/>
                </a:lnTo>
                <a:lnTo>
                  <a:pt x="1131185" y="1268325"/>
                </a:lnTo>
                <a:lnTo>
                  <a:pt x="1137367" y="1268327"/>
                </a:lnTo>
                <a:lnTo>
                  <a:pt x="1143548" y="1268329"/>
                </a:lnTo>
                <a:lnTo>
                  <a:pt x="1149729" y="1268331"/>
                </a:lnTo>
                <a:lnTo>
                  <a:pt x="1155911" y="1268332"/>
                </a:lnTo>
                <a:lnTo>
                  <a:pt x="1162092" y="1268333"/>
                </a:lnTo>
                <a:lnTo>
                  <a:pt x="1168274" y="1268334"/>
                </a:lnTo>
                <a:lnTo>
                  <a:pt x="1174455" y="1268335"/>
                </a:lnTo>
                <a:lnTo>
                  <a:pt x="1180636" y="1268335"/>
                </a:lnTo>
                <a:lnTo>
                  <a:pt x="1186818" y="1268336"/>
                </a:lnTo>
                <a:lnTo>
                  <a:pt x="1192999" y="1268336"/>
                </a:lnTo>
                <a:lnTo>
                  <a:pt x="1199180" y="1268336"/>
                </a:lnTo>
                <a:lnTo>
                  <a:pt x="1205362" y="1268336"/>
                </a:lnTo>
                <a:lnTo>
                  <a:pt x="1211543" y="1268337"/>
                </a:lnTo>
                <a:lnTo>
                  <a:pt x="1217724" y="1268337"/>
                </a:lnTo>
                <a:lnTo>
                  <a:pt x="1223906" y="1268337"/>
                </a:lnTo>
                <a:lnTo>
                  <a:pt x="1230087" y="1268337"/>
                </a:lnTo>
                <a:lnTo>
                  <a:pt x="1236268" y="1268337"/>
                </a:lnTo>
                <a:lnTo>
                  <a:pt x="1242450" y="1268337"/>
                </a:lnTo>
                <a:lnTo>
                  <a:pt x="1248631" y="1268337"/>
                </a:lnTo>
                <a:lnTo>
                  <a:pt x="1254812" y="1268337"/>
                </a:lnTo>
                <a:lnTo>
                  <a:pt x="1260994" y="1268337"/>
                </a:lnTo>
                <a:lnTo>
                  <a:pt x="1267175" y="1268337"/>
                </a:lnTo>
                <a:lnTo>
                  <a:pt x="1273356" y="1268337"/>
                </a:lnTo>
                <a:lnTo>
                  <a:pt x="1279538" y="1268337"/>
                </a:lnTo>
                <a:lnTo>
                  <a:pt x="1285719" y="1268337"/>
                </a:lnTo>
                <a:lnTo>
                  <a:pt x="1291900" y="1268337"/>
                </a:lnTo>
                <a:lnTo>
                  <a:pt x="1298082" y="1268337"/>
                </a:lnTo>
                <a:lnTo>
                  <a:pt x="1304263" y="1268337"/>
                </a:lnTo>
                <a:lnTo>
                  <a:pt x="1310444" y="1268337"/>
                </a:lnTo>
                <a:lnTo>
                  <a:pt x="1316626" y="1268337"/>
                </a:lnTo>
                <a:lnTo>
                  <a:pt x="1322807" y="1268337"/>
                </a:lnTo>
                <a:lnTo>
                  <a:pt x="1328988" y="1268337"/>
                </a:lnTo>
                <a:lnTo>
                  <a:pt x="1335170" y="1268337"/>
                </a:lnTo>
                <a:lnTo>
                  <a:pt x="1341351" y="1268337"/>
                </a:lnTo>
                <a:lnTo>
                  <a:pt x="1347532" y="1268337"/>
                </a:lnTo>
                <a:lnTo>
                  <a:pt x="1353714" y="1268337"/>
                </a:lnTo>
                <a:lnTo>
                  <a:pt x="1359895" y="1268337"/>
                </a:lnTo>
                <a:lnTo>
                  <a:pt x="1366077" y="1268337"/>
                </a:lnTo>
                <a:lnTo>
                  <a:pt x="1372258" y="1268337"/>
                </a:lnTo>
                <a:lnTo>
                  <a:pt x="1378439" y="1268337"/>
                </a:lnTo>
                <a:lnTo>
                  <a:pt x="1384621" y="1268337"/>
                </a:lnTo>
                <a:lnTo>
                  <a:pt x="1390802" y="1268337"/>
                </a:lnTo>
                <a:lnTo>
                  <a:pt x="1396983" y="1268337"/>
                </a:lnTo>
                <a:lnTo>
                  <a:pt x="1403165" y="1268337"/>
                </a:lnTo>
                <a:lnTo>
                  <a:pt x="1409346" y="1268337"/>
                </a:lnTo>
                <a:lnTo>
                  <a:pt x="1415527" y="1268337"/>
                </a:lnTo>
                <a:lnTo>
                  <a:pt x="1421709" y="1268337"/>
                </a:lnTo>
                <a:lnTo>
                  <a:pt x="1427890" y="1268337"/>
                </a:lnTo>
                <a:lnTo>
                  <a:pt x="1434071" y="1268337"/>
                </a:lnTo>
                <a:lnTo>
                  <a:pt x="1440253" y="1268337"/>
                </a:lnTo>
                <a:lnTo>
                  <a:pt x="1446434" y="1268337"/>
                </a:lnTo>
                <a:lnTo>
                  <a:pt x="1452615" y="1268337"/>
                </a:lnTo>
                <a:lnTo>
                  <a:pt x="1458797" y="1268337"/>
                </a:lnTo>
                <a:lnTo>
                  <a:pt x="1464978" y="1268337"/>
                </a:lnTo>
                <a:lnTo>
                  <a:pt x="1471159" y="1268337"/>
                </a:lnTo>
                <a:lnTo>
                  <a:pt x="1477341" y="1268337"/>
                </a:lnTo>
                <a:lnTo>
                  <a:pt x="1483522" y="1268337"/>
                </a:lnTo>
                <a:lnTo>
                  <a:pt x="1489703" y="1268337"/>
                </a:lnTo>
                <a:lnTo>
                  <a:pt x="1495885" y="1268337"/>
                </a:lnTo>
                <a:lnTo>
                  <a:pt x="1502066" y="1268337"/>
                </a:lnTo>
                <a:lnTo>
                  <a:pt x="1508247" y="1268337"/>
                </a:lnTo>
                <a:lnTo>
                  <a:pt x="1514429" y="1268337"/>
                </a:lnTo>
                <a:lnTo>
                  <a:pt x="1520610" y="1268337"/>
                </a:lnTo>
                <a:lnTo>
                  <a:pt x="1526791" y="1268337"/>
                </a:lnTo>
                <a:lnTo>
                  <a:pt x="1532973" y="1268337"/>
                </a:lnTo>
                <a:lnTo>
                  <a:pt x="1539154" y="1268337"/>
                </a:lnTo>
                <a:lnTo>
                  <a:pt x="1545336" y="1235997"/>
                </a:lnTo>
                <a:lnTo>
                  <a:pt x="1551517" y="1229788"/>
                </a:lnTo>
                <a:lnTo>
                  <a:pt x="1557698" y="1222591"/>
                </a:lnTo>
                <a:lnTo>
                  <a:pt x="1563880" y="1214290"/>
                </a:lnTo>
                <a:lnTo>
                  <a:pt x="1570061" y="1204765"/>
                </a:lnTo>
                <a:lnTo>
                  <a:pt x="1576242" y="1193893"/>
                </a:lnTo>
                <a:lnTo>
                  <a:pt x="1582424" y="1181546"/>
                </a:lnTo>
                <a:lnTo>
                  <a:pt x="1588605" y="1167598"/>
                </a:lnTo>
                <a:lnTo>
                  <a:pt x="1594786" y="1151925"/>
                </a:lnTo>
                <a:lnTo>
                  <a:pt x="1600968" y="1134409"/>
                </a:lnTo>
                <a:lnTo>
                  <a:pt x="1607149" y="1114937"/>
                </a:lnTo>
                <a:lnTo>
                  <a:pt x="1613330" y="1093410"/>
                </a:lnTo>
                <a:lnTo>
                  <a:pt x="1619512" y="1069742"/>
                </a:lnTo>
                <a:lnTo>
                  <a:pt x="1625693" y="1043866"/>
                </a:lnTo>
                <a:lnTo>
                  <a:pt x="1631874" y="1015738"/>
                </a:lnTo>
                <a:lnTo>
                  <a:pt x="1638056" y="985337"/>
                </a:lnTo>
                <a:lnTo>
                  <a:pt x="1644237" y="952674"/>
                </a:lnTo>
                <a:lnTo>
                  <a:pt x="1650418" y="917791"/>
                </a:lnTo>
                <a:lnTo>
                  <a:pt x="1656600" y="880765"/>
                </a:lnTo>
                <a:lnTo>
                  <a:pt x="1662781" y="841712"/>
                </a:lnTo>
                <a:lnTo>
                  <a:pt x="1668962" y="800785"/>
                </a:lnTo>
                <a:lnTo>
                  <a:pt x="1675144" y="758179"/>
                </a:lnTo>
                <a:lnTo>
                  <a:pt x="1681325" y="714128"/>
                </a:lnTo>
                <a:lnTo>
                  <a:pt x="1687506" y="668908"/>
                </a:lnTo>
                <a:lnTo>
                  <a:pt x="1693688" y="622830"/>
                </a:lnTo>
                <a:lnTo>
                  <a:pt x="1699869" y="576240"/>
                </a:lnTo>
                <a:lnTo>
                  <a:pt x="1706050" y="529517"/>
                </a:lnTo>
                <a:lnTo>
                  <a:pt x="1712232" y="483064"/>
                </a:lnTo>
                <a:lnTo>
                  <a:pt x="1718413" y="437306"/>
                </a:lnTo>
                <a:lnTo>
                  <a:pt x="1724594" y="392679"/>
                </a:lnTo>
                <a:lnTo>
                  <a:pt x="1730776" y="349627"/>
                </a:lnTo>
                <a:lnTo>
                  <a:pt x="1736957" y="308592"/>
                </a:lnTo>
                <a:lnTo>
                  <a:pt x="1743139" y="270006"/>
                </a:lnTo>
                <a:lnTo>
                  <a:pt x="1749320" y="234281"/>
                </a:lnTo>
                <a:lnTo>
                  <a:pt x="1755501" y="201805"/>
                </a:lnTo>
                <a:lnTo>
                  <a:pt x="1761683" y="172927"/>
                </a:lnTo>
                <a:lnTo>
                  <a:pt x="1767864" y="147957"/>
                </a:lnTo>
                <a:lnTo>
                  <a:pt x="1774045" y="127154"/>
                </a:lnTo>
                <a:lnTo>
                  <a:pt x="1780227" y="110722"/>
                </a:lnTo>
                <a:lnTo>
                  <a:pt x="1786408" y="98807"/>
                </a:lnTo>
                <a:lnTo>
                  <a:pt x="1792589" y="91488"/>
                </a:lnTo>
                <a:lnTo>
                  <a:pt x="1798771" y="88784"/>
                </a:lnTo>
                <a:lnTo>
                  <a:pt x="1804952" y="90644"/>
                </a:lnTo>
                <a:lnTo>
                  <a:pt x="1811133" y="96954"/>
                </a:lnTo>
                <a:lnTo>
                  <a:pt x="1817315" y="107540"/>
                </a:lnTo>
                <a:lnTo>
                  <a:pt x="1823496" y="122166"/>
                </a:lnTo>
                <a:lnTo>
                  <a:pt x="1829677" y="140545"/>
                </a:lnTo>
                <a:lnTo>
                  <a:pt x="1835859" y="162343"/>
                </a:lnTo>
                <a:lnTo>
                  <a:pt x="1842040" y="187185"/>
                </a:lnTo>
                <a:lnTo>
                  <a:pt x="1848221" y="214666"/>
                </a:lnTo>
                <a:lnTo>
                  <a:pt x="1854403" y="244355"/>
                </a:lnTo>
                <a:lnTo>
                  <a:pt x="1860584" y="275809"/>
                </a:lnTo>
                <a:lnTo>
                  <a:pt x="1866765" y="308578"/>
                </a:lnTo>
                <a:lnTo>
                  <a:pt x="1872947" y="342213"/>
                </a:lnTo>
                <a:lnTo>
                  <a:pt x="1879128" y="376278"/>
                </a:lnTo>
                <a:lnTo>
                  <a:pt x="1885309" y="410356"/>
                </a:lnTo>
                <a:lnTo>
                  <a:pt x="1891491" y="444051"/>
                </a:lnTo>
                <a:lnTo>
                  <a:pt x="1897672" y="477003"/>
                </a:lnTo>
                <a:lnTo>
                  <a:pt x="1903853" y="508885"/>
                </a:lnTo>
                <a:lnTo>
                  <a:pt x="1910035" y="539411"/>
                </a:lnTo>
                <a:lnTo>
                  <a:pt x="1916216" y="568338"/>
                </a:lnTo>
                <a:lnTo>
                  <a:pt x="1922397" y="595466"/>
                </a:lnTo>
                <a:lnTo>
                  <a:pt x="1928579" y="620641"/>
                </a:lnTo>
                <a:lnTo>
                  <a:pt x="1934760" y="643754"/>
                </a:lnTo>
                <a:lnTo>
                  <a:pt x="1940942" y="664737"/>
                </a:lnTo>
                <a:lnTo>
                  <a:pt x="1947123" y="683568"/>
                </a:lnTo>
                <a:lnTo>
                  <a:pt x="1953304" y="700259"/>
                </a:lnTo>
                <a:lnTo>
                  <a:pt x="1959486" y="714858"/>
                </a:lnTo>
                <a:lnTo>
                  <a:pt x="1965667" y="727447"/>
                </a:lnTo>
                <a:lnTo>
                  <a:pt x="1971848" y="738134"/>
                </a:lnTo>
                <a:lnTo>
                  <a:pt x="1978030" y="747049"/>
                </a:lnTo>
                <a:lnTo>
                  <a:pt x="1984211" y="754341"/>
                </a:lnTo>
                <a:lnTo>
                  <a:pt x="1990392" y="760177"/>
                </a:lnTo>
                <a:lnTo>
                  <a:pt x="1996574" y="764730"/>
                </a:lnTo>
                <a:lnTo>
                  <a:pt x="2002755" y="768182"/>
                </a:lnTo>
                <a:lnTo>
                  <a:pt x="2008936" y="770717"/>
                </a:lnTo>
                <a:lnTo>
                  <a:pt x="2015118" y="772520"/>
                </a:lnTo>
                <a:lnTo>
                  <a:pt x="2021299" y="773770"/>
                </a:lnTo>
                <a:lnTo>
                  <a:pt x="2027480" y="774643"/>
                </a:lnTo>
                <a:lnTo>
                  <a:pt x="2033662" y="775303"/>
                </a:lnTo>
                <a:lnTo>
                  <a:pt x="2039843" y="775907"/>
                </a:lnTo>
                <a:lnTo>
                  <a:pt x="2046024" y="776599"/>
                </a:lnTo>
                <a:lnTo>
                  <a:pt x="2052206" y="777510"/>
                </a:lnTo>
                <a:lnTo>
                  <a:pt x="2058387" y="778756"/>
                </a:lnTo>
                <a:lnTo>
                  <a:pt x="2064568" y="780442"/>
                </a:lnTo>
                <a:lnTo>
                  <a:pt x="2070750" y="782655"/>
                </a:lnTo>
                <a:lnTo>
                  <a:pt x="2076931" y="785470"/>
                </a:lnTo>
                <a:lnTo>
                  <a:pt x="2083112" y="788947"/>
                </a:lnTo>
                <a:lnTo>
                  <a:pt x="2089294" y="793130"/>
                </a:lnTo>
                <a:lnTo>
                  <a:pt x="2095475" y="798052"/>
                </a:lnTo>
                <a:lnTo>
                  <a:pt x="2101656" y="803734"/>
                </a:lnTo>
                <a:lnTo>
                  <a:pt x="2107838" y="810181"/>
                </a:lnTo>
                <a:lnTo>
                  <a:pt x="2114019" y="817391"/>
                </a:lnTo>
                <a:lnTo>
                  <a:pt x="2120200" y="825349"/>
                </a:lnTo>
                <a:lnTo>
                  <a:pt x="2126382" y="834033"/>
                </a:lnTo>
                <a:lnTo>
                  <a:pt x="2132563" y="843410"/>
                </a:lnTo>
                <a:lnTo>
                  <a:pt x="2138745" y="853442"/>
                </a:lnTo>
                <a:lnTo>
                  <a:pt x="2144926" y="864083"/>
                </a:lnTo>
                <a:lnTo>
                  <a:pt x="2151107" y="875284"/>
                </a:lnTo>
                <a:lnTo>
                  <a:pt x="2157289" y="886988"/>
                </a:lnTo>
                <a:lnTo>
                  <a:pt x="2163470" y="899138"/>
                </a:lnTo>
                <a:lnTo>
                  <a:pt x="2169651" y="911672"/>
                </a:lnTo>
                <a:lnTo>
                  <a:pt x="2175833" y="924528"/>
                </a:lnTo>
                <a:lnTo>
                  <a:pt x="2182014" y="937642"/>
                </a:lnTo>
                <a:lnTo>
                  <a:pt x="2188195" y="950951"/>
                </a:lnTo>
                <a:lnTo>
                  <a:pt x="2194377" y="964391"/>
                </a:lnTo>
                <a:lnTo>
                  <a:pt x="2200558" y="977900"/>
                </a:lnTo>
                <a:lnTo>
                  <a:pt x="2206739" y="991420"/>
                </a:lnTo>
                <a:lnTo>
                  <a:pt x="2212921" y="1004890"/>
                </a:lnTo>
                <a:lnTo>
                  <a:pt x="2219102" y="1018258"/>
                </a:lnTo>
                <a:lnTo>
                  <a:pt x="2225283" y="1031471"/>
                </a:lnTo>
                <a:lnTo>
                  <a:pt x="2231465" y="1044481"/>
                </a:lnTo>
                <a:lnTo>
                  <a:pt x="2237646" y="1057243"/>
                </a:lnTo>
                <a:lnTo>
                  <a:pt x="2243827" y="1069718"/>
                </a:lnTo>
                <a:lnTo>
                  <a:pt x="2250009" y="1081868"/>
                </a:lnTo>
                <a:lnTo>
                  <a:pt x="2256190" y="1093661"/>
                </a:lnTo>
                <a:lnTo>
                  <a:pt x="2262371" y="1105071"/>
                </a:lnTo>
                <a:lnTo>
                  <a:pt x="2268553" y="1116072"/>
                </a:lnTo>
                <a:lnTo>
                  <a:pt x="2274734" y="1126647"/>
                </a:lnTo>
                <a:lnTo>
                  <a:pt x="2280915" y="1136778"/>
                </a:lnTo>
                <a:lnTo>
                  <a:pt x="2287097" y="1146455"/>
                </a:lnTo>
                <a:lnTo>
                  <a:pt x="2293278" y="1155670"/>
                </a:lnTo>
                <a:lnTo>
                  <a:pt x="2299459" y="1164419"/>
                </a:lnTo>
                <a:lnTo>
                  <a:pt x="2305641" y="1172700"/>
                </a:lnTo>
                <a:lnTo>
                  <a:pt x="2311822" y="1180517"/>
                </a:lnTo>
                <a:lnTo>
                  <a:pt x="2318004" y="1187872"/>
                </a:lnTo>
                <a:lnTo>
                  <a:pt x="2324185" y="1194775"/>
                </a:lnTo>
                <a:lnTo>
                  <a:pt x="2330366" y="1201234"/>
                </a:lnTo>
                <a:lnTo>
                  <a:pt x="2336548" y="1207262"/>
                </a:lnTo>
                <a:lnTo>
                  <a:pt x="2342729" y="1212871"/>
                </a:lnTo>
                <a:lnTo>
                  <a:pt x="2348910" y="1218076"/>
                </a:lnTo>
                <a:lnTo>
                  <a:pt x="2355092" y="1222894"/>
                </a:lnTo>
                <a:lnTo>
                  <a:pt x="2361273" y="1227340"/>
                </a:lnTo>
                <a:lnTo>
                  <a:pt x="2367454" y="1231434"/>
                </a:lnTo>
                <a:lnTo>
                  <a:pt x="2373636" y="1235192"/>
                </a:lnTo>
                <a:lnTo>
                  <a:pt x="2379817" y="1238633"/>
                </a:lnTo>
                <a:lnTo>
                  <a:pt x="2385998" y="1241776"/>
                </a:lnTo>
                <a:lnTo>
                  <a:pt x="2392180" y="1244639"/>
                </a:lnTo>
                <a:lnTo>
                  <a:pt x="2398361" y="1247240"/>
                </a:lnTo>
                <a:lnTo>
                  <a:pt x="2404542" y="1249597"/>
                </a:lnTo>
                <a:lnTo>
                  <a:pt x="2410724" y="1251728"/>
                </a:lnTo>
                <a:lnTo>
                  <a:pt x="2416905" y="1253649"/>
                </a:lnTo>
                <a:lnTo>
                  <a:pt x="2423086" y="1255376"/>
                </a:lnTo>
                <a:lnTo>
                  <a:pt x="2429268" y="1256926"/>
                </a:lnTo>
                <a:lnTo>
                  <a:pt x="2435449" y="1258313"/>
                </a:lnTo>
                <a:lnTo>
                  <a:pt x="2441630" y="1259550"/>
                </a:lnTo>
                <a:lnTo>
                  <a:pt x="2447812" y="1260652"/>
                </a:lnTo>
                <a:lnTo>
                  <a:pt x="2453993" y="1261631"/>
                </a:lnTo>
                <a:lnTo>
                  <a:pt x="2460174" y="1262497"/>
                </a:lnTo>
                <a:lnTo>
                  <a:pt x="2466356" y="1263263"/>
                </a:lnTo>
                <a:lnTo>
                  <a:pt x="2472537" y="1263939"/>
                </a:lnTo>
                <a:lnTo>
                  <a:pt x="2478718" y="1264533"/>
                </a:lnTo>
                <a:lnTo>
                  <a:pt x="2484900" y="1265054"/>
                </a:lnTo>
                <a:lnTo>
                  <a:pt x="2491081" y="1265510"/>
                </a:lnTo>
                <a:lnTo>
                  <a:pt x="2497262" y="1265908"/>
                </a:lnTo>
                <a:lnTo>
                  <a:pt x="2503444" y="1266254"/>
                </a:lnTo>
                <a:lnTo>
                  <a:pt x="2509625" y="1266555"/>
                </a:lnTo>
                <a:lnTo>
                  <a:pt x="2515807" y="1266816"/>
                </a:lnTo>
                <a:lnTo>
                  <a:pt x="2521988" y="1267042"/>
                </a:lnTo>
                <a:lnTo>
                  <a:pt x="2528169" y="1267236"/>
                </a:lnTo>
                <a:lnTo>
                  <a:pt x="2534351" y="1267404"/>
                </a:lnTo>
                <a:lnTo>
                  <a:pt x="2540532" y="1267548"/>
                </a:lnTo>
                <a:lnTo>
                  <a:pt x="2546713" y="1267671"/>
                </a:lnTo>
                <a:lnTo>
                  <a:pt x="2552895" y="1267776"/>
                </a:lnTo>
                <a:lnTo>
                  <a:pt x="2559076" y="1267865"/>
                </a:lnTo>
                <a:lnTo>
                  <a:pt x="2565257" y="1267942"/>
                </a:lnTo>
                <a:lnTo>
                  <a:pt x="2571439" y="1268006"/>
                </a:lnTo>
                <a:lnTo>
                  <a:pt x="2577620" y="1268061"/>
                </a:lnTo>
                <a:lnTo>
                  <a:pt x="2583801" y="1268107"/>
                </a:lnTo>
                <a:lnTo>
                  <a:pt x="2589983" y="1268146"/>
                </a:lnTo>
                <a:lnTo>
                  <a:pt x="2596164" y="1268179"/>
                </a:lnTo>
                <a:lnTo>
                  <a:pt x="2602345" y="1268206"/>
                </a:lnTo>
                <a:lnTo>
                  <a:pt x="2608527" y="1268229"/>
                </a:lnTo>
                <a:lnTo>
                  <a:pt x="2614708" y="1268248"/>
                </a:lnTo>
                <a:lnTo>
                  <a:pt x="2620889" y="1268264"/>
                </a:lnTo>
                <a:lnTo>
                  <a:pt x="2627071" y="1268277"/>
                </a:lnTo>
                <a:lnTo>
                  <a:pt x="2633252" y="1268288"/>
                </a:lnTo>
                <a:lnTo>
                  <a:pt x="2639433" y="1268297"/>
                </a:lnTo>
                <a:lnTo>
                  <a:pt x="2645615" y="1268304"/>
                </a:lnTo>
                <a:lnTo>
                  <a:pt x="2651796" y="1268311"/>
                </a:lnTo>
                <a:lnTo>
                  <a:pt x="2657977" y="1268316"/>
                </a:lnTo>
                <a:lnTo>
                  <a:pt x="2664159" y="1268320"/>
                </a:lnTo>
                <a:lnTo>
                  <a:pt x="2670340" y="1268323"/>
                </a:lnTo>
                <a:lnTo>
                  <a:pt x="2676521" y="1268326"/>
                </a:lnTo>
                <a:lnTo>
                  <a:pt x="2682703" y="1268328"/>
                </a:lnTo>
                <a:lnTo>
                  <a:pt x="2688884" y="1268330"/>
                </a:lnTo>
                <a:lnTo>
                  <a:pt x="2695065" y="1268331"/>
                </a:lnTo>
                <a:lnTo>
                  <a:pt x="2701247" y="1268333"/>
                </a:lnTo>
                <a:lnTo>
                  <a:pt x="2707428" y="1268334"/>
                </a:lnTo>
                <a:lnTo>
                  <a:pt x="2713610" y="1268334"/>
                </a:lnTo>
                <a:lnTo>
                  <a:pt x="2719791" y="1268335"/>
                </a:lnTo>
                <a:lnTo>
                  <a:pt x="2725972" y="1268335"/>
                </a:lnTo>
                <a:lnTo>
                  <a:pt x="2732154" y="1268336"/>
                </a:lnTo>
                <a:lnTo>
                  <a:pt x="2738335" y="1268336"/>
                </a:lnTo>
                <a:lnTo>
                  <a:pt x="2744516" y="1268336"/>
                </a:lnTo>
                <a:lnTo>
                  <a:pt x="2750698" y="1268337"/>
                </a:lnTo>
                <a:lnTo>
                  <a:pt x="2756879" y="1268337"/>
                </a:lnTo>
                <a:lnTo>
                  <a:pt x="2763060" y="1268337"/>
                </a:lnTo>
                <a:lnTo>
                  <a:pt x="2769242" y="1268337"/>
                </a:lnTo>
                <a:lnTo>
                  <a:pt x="2775423" y="1268337"/>
                </a:lnTo>
                <a:lnTo>
                  <a:pt x="2781604" y="1268337"/>
                </a:lnTo>
                <a:lnTo>
                  <a:pt x="2787786" y="1268337"/>
                </a:lnTo>
                <a:lnTo>
                  <a:pt x="2793967" y="1268337"/>
                </a:lnTo>
                <a:lnTo>
                  <a:pt x="2800148" y="1268337"/>
                </a:lnTo>
                <a:lnTo>
                  <a:pt x="2806330" y="1268337"/>
                </a:lnTo>
                <a:lnTo>
                  <a:pt x="2812511" y="1268337"/>
                </a:lnTo>
                <a:lnTo>
                  <a:pt x="2818692" y="1268337"/>
                </a:lnTo>
                <a:lnTo>
                  <a:pt x="2824874" y="1268337"/>
                </a:lnTo>
                <a:lnTo>
                  <a:pt x="2831055" y="1268337"/>
                </a:lnTo>
                <a:lnTo>
                  <a:pt x="2837236" y="1268337"/>
                </a:lnTo>
                <a:lnTo>
                  <a:pt x="2843418" y="1268337"/>
                </a:lnTo>
                <a:lnTo>
                  <a:pt x="2849599" y="1268337"/>
                </a:lnTo>
                <a:lnTo>
                  <a:pt x="2855780" y="1268337"/>
                </a:lnTo>
                <a:lnTo>
                  <a:pt x="2861962" y="1268337"/>
                </a:lnTo>
                <a:lnTo>
                  <a:pt x="2868143" y="1268337"/>
                </a:lnTo>
                <a:lnTo>
                  <a:pt x="2874324" y="1268337"/>
                </a:lnTo>
                <a:lnTo>
                  <a:pt x="2880506" y="1268337"/>
                </a:lnTo>
                <a:lnTo>
                  <a:pt x="2886687" y="1268337"/>
                </a:lnTo>
                <a:lnTo>
                  <a:pt x="2892868" y="1268337"/>
                </a:lnTo>
                <a:lnTo>
                  <a:pt x="2899050" y="1268337"/>
                </a:lnTo>
                <a:lnTo>
                  <a:pt x="2905231" y="1268337"/>
                </a:lnTo>
                <a:lnTo>
                  <a:pt x="2911413" y="1268337"/>
                </a:lnTo>
                <a:lnTo>
                  <a:pt x="2917594" y="1268337"/>
                </a:lnTo>
                <a:lnTo>
                  <a:pt x="2923775" y="1268337"/>
                </a:lnTo>
                <a:lnTo>
                  <a:pt x="2929957" y="1268337"/>
                </a:lnTo>
                <a:lnTo>
                  <a:pt x="2936138" y="1268337"/>
                </a:lnTo>
                <a:lnTo>
                  <a:pt x="2942319" y="1268337"/>
                </a:lnTo>
                <a:lnTo>
                  <a:pt x="2948501" y="1268337"/>
                </a:lnTo>
                <a:lnTo>
                  <a:pt x="2954682" y="1268337"/>
                </a:lnTo>
                <a:lnTo>
                  <a:pt x="2960863" y="1268337"/>
                </a:lnTo>
                <a:lnTo>
                  <a:pt x="2967045" y="1268337"/>
                </a:lnTo>
                <a:lnTo>
                  <a:pt x="2973226" y="1268337"/>
                </a:lnTo>
                <a:lnTo>
                  <a:pt x="2979407" y="1268337"/>
                </a:lnTo>
                <a:lnTo>
                  <a:pt x="2985589" y="1268337"/>
                </a:lnTo>
                <a:lnTo>
                  <a:pt x="2991770" y="1268337"/>
                </a:lnTo>
                <a:lnTo>
                  <a:pt x="2997951" y="1268337"/>
                </a:lnTo>
                <a:lnTo>
                  <a:pt x="3004133" y="1268337"/>
                </a:lnTo>
                <a:lnTo>
                  <a:pt x="3010314" y="1268337"/>
                </a:lnTo>
                <a:lnTo>
                  <a:pt x="3016495" y="1268337"/>
                </a:lnTo>
                <a:lnTo>
                  <a:pt x="3022677" y="1268337"/>
                </a:lnTo>
                <a:lnTo>
                  <a:pt x="3028858" y="1268337"/>
                </a:lnTo>
                <a:lnTo>
                  <a:pt x="3035039" y="1268337"/>
                </a:lnTo>
                <a:lnTo>
                  <a:pt x="3041221" y="1268337"/>
                </a:lnTo>
                <a:lnTo>
                  <a:pt x="3047402" y="1268337"/>
                </a:lnTo>
                <a:lnTo>
                  <a:pt x="3053583" y="1268337"/>
                </a:lnTo>
                <a:lnTo>
                  <a:pt x="3059765" y="1268337"/>
                </a:lnTo>
                <a:lnTo>
                  <a:pt x="3065946" y="1268337"/>
                </a:lnTo>
                <a:lnTo>
                  <a:pt x="3072127" y="1268337"/>
                </a:lnTo>
                <a:lnTo>
                  <a:pt x="3078309" y="1268337"/>
                </a:lnTo>
                <a:lnTo>
                  <a:pt x="308449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071616" y="2514600"/>
            <a:ext cx="0" cy="141732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4711135" y="253443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6256471" y="2623217"/>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0" name="Connector 59"/>
          <p:cNvCxnSpPr/>
          <p:nvPr/>
        </p:nvCxnSpPr>
        <p:spPr>
          <a:xfrm>
            <a:off x="4779715" y="2401845"/>
            <a:ext cx="1499616" cy="88784"/>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4853306" y="315373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6398642" y="3199170"/>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3" name="Connector 62"/>
          <p:cNvCxnSpPr/>
          <p:nvPr/>
        </p:nvCxnSpPr>
        <p:spPr>
          <a:xfrm>
            <a:off x="4921886" y="3021150"/>
            <a:ext cx="1499616" cy="45432"/>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526280" y="400507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前の拍</a:t>
            </a:r>
          </a:p>
        </p:txBody>
      </p:sp>
      <p:sp>
        <p:nvSpPr>
          <p:cNvPr id="65" name="TextBox 64"/>
          <p:cNvSpPr txBox="1"/>
          <p:nvPr/>
        </p:nvSpPr>
        <p:spPr>
          <a:xfrm>
            <a:off x="6089904" y="400507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この拍</a:t>
            </a:r>
          </a:p>
        </p:txBody>
      </p:sp>
      <p:sp>
        <p:nvSpPr>
          <p:cNvPr id="66" name="TextBox 65"/>
          <p:cNvSpPr txBox="1"/>
          <p:nvPr/>
        </p:nvSpPr>
        <p:spPr>
          <a:xfrm>
            <a:off x="4453128" y="489204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直前の解を出発点に</a:t>
            </a:r>
          </a:p>
        </p:txBody>
      </p:sp>
      <p:sp>
        <p:nvSpPr>
          <p:cNvPr id="67" name="TextBox 66"/>
          <p:cNvSpPr txBox="1"/>
          <p:nvPr/>
        </p:nvSpPr>
        <p:spPr>
          <a:xfrm>
            <a:off x="8257031" y="188366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c　多点スタート</a:t>
            </a:r>
          </a:p>
        </p:txBody>
      </p:sp>
      <p:sp>
        <p:nvSpPr>
          <p:cNvPr id="6" name="Freeform 5"/>
          <p:cNvSpPr/>
          <p:nvPr/>
        </p:nvSpPr>
        <p:spPr>
          <a:xfrm>
            <a:off x="8385048" y="2603013"/>
            <a:ext cx="2969020" cy="1268337"/>
          </a:xfrm>
          <a:custGeom>
            <a:avLst/>
            <a:gdLst/>
            <a:ahLst/>
            <a:cxnLst/>
            <a:rect l="l" t="t" r="r" b="b"/>
            <a:pathLst>
              <a:path w="2969020" h="1268337">
                <a:moveTo>
                  <a:pt x="0" y="1233563"/>
                </a:moveTo>
                <a:lnTo>
                  <a:pt x="11923" y="1226887"/>
                </a:lnTo>
                <a:lnTo>
                  <a:pt x="23847" y="1219148"/>
                </a:lnTo>
                <a:lnTo>
                  <a:pt x="35771" y="1210222"/>
                </a:lnTo>
                <a:lnTo>
                  <a:pt x="47695" y="1199980"/>
                </a:lnTo>
                <a:lnTo>
                  <a:pt x="59618" y="1188289"/>
                </a:lnTo>
                <a:lnTo>
                  <a:pt x="71542" y="1175013"/>
                </a:lnTo>
                <a:lnTo>
                  <a:pt x="83466" y="1160015"/>
                </a:lnTo>
                <a:lnTo>
                  <a:pt x="95390" y="1143163"/>
                </a:lnTo>
                <a:lnTo>
                  <a:pt x="107313" y="1124328"/>
                </a:lnTo>
                <a:lnTo>
                  <a:pt x="119237" y="1103391"/>
                </a:lnTo>
                <a:lnTo>
                  <a:pt x="131161" y="1080243"/>
                </a:lnTo>
                <a:lnTo>
                  <a:pt x="143085" y="1054794"/>
                </a:lnTo>
                <a:lnTo>
                  <a:pt x="155009" y="1026970"/>
                </a:lnTo>
                <a:lnTo>
                  <a:pt x="166932" y="996725"/>
                </a:lnTo>
                <a:lnTo>
                  <a:pt x="178856" y="964036"/>
                </a:lnTo>
                <a:lnTo>
                  <a:pt x="190780" y="928915"/>
                </a:lnTo>
                <a:lnTo>
                  <a:pt x="202704" y="891406"/>
                </a:lnTo>
                <a:lnTo>
                  <a:pt x="214627" y="851593"/>
                </a:lnTo>
                <a:lnTo>
                  <a:pt x="226551" y="809600"/>
                </a:lnTo>
                <a:lnTo>
                  <a:pt x="238475" y="765593"/>
                </a:lnTo>
                <a:lnTo>
                  <a:pt x="250399" y="719780"/>
                </a:lnTo>
                <a:lnTo>
                  <a:pt x="262323" y="672414"/>
                </a:lnTo>
                <a:lnTo>
                  <a:pt x="274246" y="623790"/>
                </a:lnTo>
                <a:lnTo>
                  <a:pt x="286170" y="574243"/>
                </a:lnTo>
                <a:lnTo>
                  <a:pt x="298094" y="524147"/>
                </a:lnTo>
                <a:lnTo>
                  <a:pt x="310018" y="473907"/>
                </a:lnTo>
                <a:lnTo>
                  <a:pt x="321941" y="423958"/>
                </a:lnTo>
                <a:lnTo>
                  <a:pt x="333865" y="374755"/>
                </a:lnTo>
                <a:lnTo>
                  <a:pt x="345789" y="326769"/>
                </a:lnTo>
                <a:lnTo>
                  <a:pt x="357713" y="280477"/>
                </a:lnTo>
                <a:lnTo>
                  <a:pt x="369637" y="236353"/>
                </a:lnTo>
                <a:lnTo>
                  <a:pt x="381560" y="194863"/>
                </a:lnTo>
                <a:lnTo>
                  <a:pt x="393484" y="156449"/>
                </a:lnTo>
                <a:lnTo>
                  <a:pt x="405408" y="121528"/>
                </a:lnTo>
                <a:lnTo>
                  <a:pt x="417332" y="90477"/>
                </a:lnTo>
                <a:lnTo>
                  <a:pt x="429255" y="63627"/>
                </a:lnTo>
                <a:lnTo>
                  <a:pt x="441179" y="41259"/>
                </a:lnTo>
                <a:lnTo>
                  <a:pt x="453103" y="23590"/>
                </a:lnTo>
                <a:lnTo>
                  <a:pt x="465027" y="10778"/>
                </a:lnTo>
                <a:lnTo>
                  <a:pt x="476951" y="2908"/>
                </a:lnTo>
                <a:lnTo>
                  <a:pt x="488874" y="0"/>
                </a:lnTo>
                <a:lnTo>
                  <a:pt x="500798" y="2000"/>
                </a:lnTo>
                <a:lnTo>
                  <a:pt x="512722" y="8786"/>
                </a:lnTo>
                <a:lnTo>
                  <a:pt x="524646" y="20168"/>
                </a:lnTo>
                <a:lnTo>
                  <a:pt x="536569" y="35895"/>
                </a:lnTo>
                <a:lnTo>
                  <a:pt x="548493" y="55658"/>
                </a:lnTo>
                <a:lnTo>
                  <a:pt x="560417" y="79096"/>
                </a:lnTo>
                <a:lnTo>
                  <a:pt x="572341" y="105808"/>
                </a:lnTo>
                <a:lnTo>
                  <a:pt x="584265" y="135357"/>
                </a:lnTo>
                <a:lnTo>
                  <a:pt x="596188" y="167281"/>
                </a:lnTo>
                <a:lnTo>
                  <a:pt x="608112" y="201103"/>
                </a:lnTo>
                <a:lnTo>
                  <a:pt x="620036" y="236338"/>
                </a:lnTo>
                <a:lnTo>
                  <a:pt x="631960" y="272505"/>
                </a:lnTo>
                <a:lnTo>
                  <a:pt x="643883" y="309134"/>
                </a:lnTo>
                <a:lnTo>
                  <a:pt x="655807" y="345776"/>
                </a:lnTo>
                <a:lnTo>
                  <a:pt x="667731" y="382008"/>
                </a:lnTo>
                <a:lnTo>
                  <a:pt x="679655" y="417440"/>
                </a:lnTo>
                <a:lnTo>
                  <a:pt x="691579" y="451722"/>
                </a:lnTo>
                <a:lnTo>
                  <a:pt x="703502" y="484546"/>
                </a:lnTo>
                <a:lnTo>
                  <a:pt x="715426" y="515650"/>
                </a:lnTo>
                <a:lnTo>
                  <a:pt x="727350" y="544820"/>
                </a:lnTo>
                <a:lnTo>
                  <a:pt x="739274" y="571890"/>
                </a:lnTo>
                <a:lnTo>
                  <a:pt x="751197" y="596742"/>
                </a:lnTo>
                <a:lnTo>
                  <a:pt x="763121" y="619305"/>
                </a:lnTo>
                <a:lnTo>
                  <a:pt x="775045" y="639553"/>
                </a:lnTo>
                <a:lnTo>
                  <a:pt x="786969" y="657500"/>
                </a:lnTo>
                <a:lnTo>
                  <a:pt x="798892" y="673199"/>
                </a:lnTo>
                <a:lnTo>
                  <a:pt x="810816" y="686735"/>
                </a:lnTo>
                <a:lnTo>
                  <a:pt x="822740" y="698226"/>
                </a:lnTo>
                <a:lnTo>
                  <a:pt x="834664" y="707812"/>
                </a:lnTo>
                <a:lnTo>
                  <a:pt x="846588" y="715654"/>
                </a:lnTo>
                <a:lnTo>
                  <a:pt x="858511" y="721928"/>
                </a:lnTo>
                <a:lnTo>
                  <a:pt x="870435" y="726824"/>
                </a:lnTo>
                <a:lnTo>
                  <a:pt x="882359" y="730536"/>
                </a:lnTo>
                <a:lnTo>
                  <a:pt x="894283" y="733262"/>
                </a:lnTo>
                <a:lnTo>
                  <a:pt x="906206" y="735200"/>
                </a:lnTo>
                <a:lnTo>
                  <a:pt x="918130" y="736545"/>
                </a:lnTo>
                <a:lnTo>
                  <a:pt x="930054" y="737483"/>
                </a:lnTo>
                <a:lnTo>
                  <a:pt x="941978" y="738193"/>
                </a:lnTo>
                <a:lnTo>
                  <a:pt x="953902" y="738843"/>
                </a:lnTo>
                <a:lnTo>
                  <a:pt x="965825" y="739587"/>
                </a:lnTo>
                <a:lnTo>
                  <a:pt x="977749" y="740566"/>
                </a:lnTo>
                <a:lnTo>
                  <a:pt x="989673" y="741906"/>
                </a:lnTo>
                <a:lnTo>
                  <a:pt x="1001597" y="743719"/>
                </a:lnTo>
                <a:lnTo>
                  <a:pt x="1013520" y="746098"/>
                </a:lnTo>
                <a:lnTo>
                  <a:pt x="1025444" y="749125"/>
                </a:lnTo>
                <a:lnTo>
                  <a:pt x="1037368" y="752863"/>
                </a:lnTo>
                <a:lnTo>
                  <a:pt x="1049292" y="757361"/>
                </a:lnTo>
                <a:lnTo>
                  <a:pt x="1061216" y="762655"/>
                </a:lnTo>
                <a:lnTo>
                  <a:pt x="1073139" y="768763"/>
                </a:lnTo>
                <a:lnTo>
                  <a:pt x="1085063" y="775696"/>
                </a:lnTo>
                <a:lnTo>
                  <a:pt x="1096987" y="783449"/>
                </a:lnTo>
                <a:lnTo>
                  <a:pt x="1108911" y="792006"/>
                </a:lnTo>
                <a:lnTo>
                  <a:pt x="1120834" y="801343"/>
                </a:lnTo>
                <a:lnTo>
                  <a:pt x="1132758" y="811426"/>
                </a:lnTo>
                <a:lnTo>
                  <a:pt x="1144682" y="822213"/>
                </a:lnTo>
                <a:lnTo>
                  <a:pt x="1156606" y="833656"/>
                </a:lnTo>
                <a:lnTo>
                  <a:pt x="1168530" y="845699"/>
                </a:lnTo>
                <a:lnTo>
                  <a:pt x="1180453" y="858284"/>
                </a:lnTo>
                <a:lnTo>
                  <a:pt x="1192377" y="871349"/>
                </a:lnTo>
                <a:lnTo>
                  <a:pt x="1204301" y="884826"/>
                </a:lnTo>
                <a:lnTo>
                  <a:pt x="1216225" y="898650"/>
                </a:lnTo>
                <a:lnTo>
                  <a:pt x="1228148" y="912751"/>
                </a:lnTo>
                <a:lnTo>
                  <a:pt x="1240072" y="927061"/>
                </a:lnTo>
                <a:lnTo>
                  <a:pt x="1251996" y="941513"/>
                </a:lnTo>
                <a:lnTo>
                  <a:pt x="1263920" y="956040"/>
                </a:lnTo>
                <a:lnTo>
                  <a:pt x="1275844" y="970576"/>
                </a:lnTo>
                <a:lnTo>
                  <a:pt x="1287767" y="985061"/>
                </a:lnTo>
                <a:lnTo>
                  <a:pt x="1299691" y="999435"/>
                </a:lnTo>
                <a:lnTo>
                  <a:pt x="1311615" y="1013642"/>
                </a:lnTo>
                <a:lnTo>
                  <a:pt x="1323539" y="1027632"/>
                </a:lnTo>
                <a:lnTo>
                  <a:pt x="1335462" y="1041354"/>
                </a:lnTo>
                <a:lnTo>
                  <a:pt x="1347386" y="1054768"/>
                </a:lnTo>
                <a:lnTo>
                  <a:pt x="1359310" y="1067832"/>
                </a:lnTo>
                <a:lnTo>
                  <a:pt x="1371234" y="1080514"/>
                </a:lnTo>
                <a:lnTo>
                  <a:pt x="1383158" y="1092782"/>
                </a:lnTo>
                <a:lnTo>
                  <a:pt x="1395081" y="1104612"/>
                </a:lnTo>
                <a:lnTo>
                  <a:pt x="1407005" y="1115982"/>
                </a:lnTo>
                <a:lnTo>
                  <a:pt x="1418929" y="1126876"/>
                </a:lnTo>
                <a:lnTo>
                  <a:pt x="1430853" y="1137281"/>
                </a:lnTo>
                <a:lnTo>
                  <a:pt x="1442776" y="1147190"/>
                </a:lnTo>
                <a:lnTo>
                  <a:pt x="1454700" y="1156597"/>
                </a:lnTo>
                <a:lnTo>
                  <a:pt x="1466624" y="1165502"/>
                </a:lnTo>
                <a:lnTo>
                  <a:pt x="1478548" y="1173906"/>
                </a:lnTo>
                <a:lnTo>
                  <a:pt x="1490472" y="1181816"/>
                </a:lnTo>
                <a:lnTo>
                  <a:pt x="1502395" y="1189238"/>
                </a:lnTo>
                <a:lnTo>
                  <a:pt x="1514319" y="1196183"/>
                </a:lnTo>
                <a:lnTo>
                  <a:pt x="1526243" y="1202665"/>
                </a:lnTo>
                <a:lnTo>
                  <a:pt x="1538167" y="1208696"/>
                </a:lnTo>
                <a:lnTo>
                  <a:pt x="1550090" y="1214293"/>
                </a:lnTo>
                <a:lnTo>
                  <a:pt x="1562014" y="1219473"/>
                </a:lnTo>
                <a:lnTo>
                  <a:pt x="1573938" y="1224255"/>
                </a:lnTo>
                <a:lnTo>
                  <a:pt x="1585862" y="1228656"/>
                </a:lnTo>
                <a:lnTo>
                  <a:pt x="1597785" y="1232697"/>
                </a:lnTo>
                <a:lnTo>
                  <a:pt x="1609709" y="1236397"/>
                </a:lnTo>
                <a:lnTo>
                  <a:pt x="1621633" y="1239777"/>
                </a:lnTo>
                <a:lnTo>
                  <a:pt x="1633557" y="1242855"/>
                </a:lnTo>
                <a:lnTo>
                  <a:pt x="1645481" y="1245652"/>
                </a:lnTo>
                <a:lnTo>
                  <a:pt x="1657404" y="1248187"/>
                </a:lnTo>
                <a:lnTo>
                  <a:pt x="1669328" y="1250478"/>
                </a:lnTo>
                <a:lnTo>
                  <a:pt x="1681252" y="1252543"/>
                </a:lnTo>
                <a:lnTo>
                  <a:pt x="1693176" y="1254401"/>
                </a:lnTo>
                <a:lnTo>
                  <a:pt x="1705099" y="1256067"/>
                </a:lnTo>
                <a:lnTo>
                  <a:pt x="1717023" y="1257558"/>
                </a:lnTo>
                <a:lnTo>
                  <a:pt x="1728947" y="1258889"/>
                </a:lnTo>
                <a:lnTo>
                  <a:pt x="1740871" y="1260074"/>
                </a:lnTo>
                <a:lnTo>
                  <a:pt x="1752795" y="1261126"/>
                </a:lnTo>
                <a:lnTo>
                  <a:pt x="1764718" y="1262058"/>
                </a:lnTo>
                <a:lnTo>
                  <a:pt x="1776642" y="1262882"/>
                </a:lnTo>
                <a:lnTo>
                  <a:pt x="1788566" y="1263608"/>
                </a:lnTo>
                <a:lnTo>
                  <a:pt x="1800490" y="1264246"/>
                </a:lnTo>
                <a:lnTo>
                  <a:pt x="1812413" y="1264807"/>
                </a:lnTo>
                <a:lnTo>
                  <a:pt x="1824337" y="1265297"/>
                </a:lnTo>
                <a:lnTo>
                  <a:pt x="1836261" y="1265725"/>
                </a:lnTo>
                <a:lnTo>
                  <a:pt x="1848185" y="1266097"/>
                </a:lnTo>
                <a:lnTo>
                  <a:pt x="1860109" y="1266421"/>
                </a:lnTo>
                <a:lnTo>
                  <a:pt x="1872032" y="1266702"/>
                </a:lnTo>
                <a:lnTo>
                  <a:pt x="1883956" y="1266944"/>
                </a:lnTo>
                <a:lnTo>
                  <a:pt x="1895880" y="1267154"/>
                </a:lnTo>
                <a:lnTo>
                  <a:pt x="1907804" y="1267334"/>
                </a:lnTo>
                <a:lnTo>
                  <a:pt x="1919727" y="1267488"/>
                </a:lnTo>
                <a:lnTo>
                  <a:pt x="1931651" y="1267620"/>
                </a:lnTo>
                <a:lnTo>
                  <a:pt x="1943575" y="1267734"/>
                </a:lnTo>
                <a:lnTo>
                  <a:pt x="1955499" y="1267830"/>
                </a:lnTo>
                <a:lnTo>
                  <a:pt x="1967423" y="1267912"/>
                </a:lnTo>
                <a:lnTo>
                  <a:pt x="1979346" y="1267981"/>
                </a:lnTo>
                <a:lnTo>
                  <a:pt x="1991270" y="1268040"/>
                </a:lnTo>
                <a:lnTo>
                  <a:pt x="2003194" y="1268090"/>
                </a:lnTo>
                <a:lnTo>
                  <a:pt x="2015118" y="1268131"/>
                </a:lnTo>
                <a:lnTo>
                  <a:pt x="2027041" y="1268167"/>
                </a:lnTo>
                <a:lnTo>
                  <a:pt x="2038965" y="1268196"/>
                </a:lnTo>
                <a:lnTo>
                  <a:pt x="2050889" y="1268221"/>
                </a:lnTo>
                <a:lnTo>
                  <a:pt x="2062813" y="1268241"/>
                </a:lnTo>
                <a:lnTo>
                  <a:pt x="2074737" y="1268258"/>
                </a:lnTo>
                <a:lnTo>
                  <a:pt x="2086660" y="1268272"/>
                </a:lnTo>
                <a:lnTo>
                  <a:pt x="2098584" y="1268284"/>
                </a:lnTo>
                <a:lnTo>
                  <a:pt x="2110508" y="1268294"/>
                </a:lnTo>
                <a:lnTo>
                  <a:pt x="2122432" y="1268302"/>
                </a:lnTo>
                <a:lnTo>
                  <a:pt x="2134355" y="1268309"/>
                </a:lnTo>
                <a:lnTo>
                  <a:pt x="2146279" y="1268314"/>
                </a:lnTo>
                <a:lnTo>
                  <a:pt x="2158203" y="1268318"/>
                </a:lnTo>
                <a:lnTo>
                  <a:pt x="2170127" y="1268322"/>
                </a:lnTo>
                <a:lnTo>
                  <a:pt x="2182051" y="1268325"/>
                </a:lnTo>
                <a:lnTo>
                  <a:pt x="2193974" y="1268327"/>
                </a:lnTo>
                <a:lnTo>
                  <a:pt x="2205898" y="1268329"/>
                </a:lnTo>
                <a:lnTo>
                  <a:pt x="2217822" y="1268331"/>
                </a:lnTo>
                <a:lnTo>
                  <a:pt x="2229746" y="1268332"/>
                </a:lnTo>
                <a:lnTo>
                  <a:pt x="2241669" y="1268333"/>
                </a:lnTo>
                <a:lnTo>
                  <a:pt x="2253593" y="1268334"/>
                </a:lnTo>
                <a:lnTo>
                  <a:pt x="2265517" y="1268335"/>
                </a:lnTo>
                <a:lnTo>
                  <a:pt x="2277441" y="1268335"/>
                </a:lnTo>
                <a:lnTo>
                  <a:pt x="2289364" y="1268336"/>
                </a:lnTo>
                <a:lnTo>
                  <a:pt x="2301288" y="1268336"/>
                </a:lnTo>
                <a:lnTo>
                  <a:pt x="2313212" y="1268336"/>
                </a:lnTo>
                <a:lnTo>
                  <a:pt x="2325136" y="1268336"/>
                </a:lnTo>
                <a:lnTo>
                  <a:pt x="2337060" y="1268337"/>
                </a:lnTo>
                <a:lnTo>
                  <a:pt x="2348983" y="1268337"/>
                </a:lnTo>
                <a:lnTo>
                  <a:pt x="2360907" y="1268337"/>
                </a:lnTo>
                <a:lnTo>
                  <a:pt x="2372831" y="1268337"/>
                </a:lnTo>
                <a:lnTo>
                  <a:pt x="2384755" y="1268337"/>
                </a:lnTo>
                <a:lnTo>
                  <a:pt x="2396678" y="1268337"/>
                </a:lnTo>
                <a:lnTo>
                  <a:pt x="2408602" y="1268337"/>
                </a:lnTo>
                <a:lnTo>
                  <a:pt x="2420526" y="1268337"/>
                </a:lnTo>
                <a:lnTo>
                  <a:pt x="2432450" y="1268337"/>
                </a:lnTo>
                <a:lnTo>
                  <a:pt x="2444374" y="1268337"/>
                </a:lnTo>
                <a:lnTo>
                  <a:pt x="2456297" y="1268337"/>
                </a:lnTo>
                <a:lnTo>
                  <a:pt x="2468221" y="1268337"/>
                </a:lnTo>
                <a:lnTo>
                  <a:pt x="2480145" y="1268337"/>
                </a:lnTo>
                <a:lnTo>
                  <a:pt x="2492069" y="1268337"/>
                </a:lnTo>
                <a:lnTo>
                  <a:pt x="2503992" y="1268337"/>
                </a:lnTo>
                <a:lnTo>
                  <a:pt x="2515916" y="1268337"/>
                </a:lnTo>
                <a:lnTo>
                  <a:pt x="2527840" y="1268337"/>
                </a:lnTo>
                <a:lnTo>
                  <a:pt x="2539764" y="1268337"/>
                </a:lnTo>
                <a:lnTo>
                  <a:pt x="2551688" y="1268337"/>
                </a:lnTo>
                <a:lnTo>
                  <a:pt x="2563611" y="1268337"/>
                </a:lnTo>
                <a:lnTo>
                  <a:pt x="2575535" y="1268337"/>
                </a:lnTo>
                <a:lnTo>
                  <a:pt x="2587459" y="1268337"/>
                </a:lnTo>
                <a:lnTo>
                  <a:pt x="2599383" y="1268337"/>
                </a:lnTo>
                <a:lnTo>
                  <a:pt x="2611306" y="1268337"/>
                </a:lnTo>
                <a:lnTo>
                  <a:pt x="2623230" y="1268337"/>
                </a:lnTo>
                <a:lnTo>
                  <a:pt x="2635154" y="1268337"/>
                </a:lnTo>
                <a:lnTo>
                  <a:pt x="2647078" y="1268337"/>
                </a:lnTo>
                <a:lnTo>
                  <a:pt x="2659002" y="1268337"/>
                </a:lnTo>
                <a:lnTo>
                  <a:pt x="2670925" y="1268337"/>
                </a:lnTo>
                <a:lnTo>
                  <a:pt x="2682849" y="1268337"/>
                </a:lnTo>
                <a:lnTo>
                  <a:pt x="2694773" y="1268337"/>
                </a:lnTo>
                <a:lnTo>
                  <a:pt x="2706697" y="1268337"/>
                </a:lnTo>
                <a:lnTo>
                  <a:pt x="2718620" y="1268337"/>
                </a:lnTo>
                <a:lnTo>
                  <a:pt x="2730544" y="1268337"/>
                </a:lnTo>
                <a:lnTo>
                  <a:pt x="2742468" y="1268337"/>
                </a:lnTo>
                <a:lnTo>
                  <a:pt x="2754392" y="1268337"/>
                </a:lnTo>
                <a:lnTo>
                  <a:pt x="2766316" y="1268337"/>
                </a:lnTo>
                <a:lnTo>
                  <a:pt x="2778239" y="1268337"/>
                </a:lnTo>
                <a:lnTo>
                  <a:pt x="2790163" y="1268337"/>
                </a:lnTo>
                <a:lnTo>
                  <a:pt x="2802087" y="1268337"/>
                </a:lnTo>
                <a:lnTo>
                  <a:pt x="2814011" y="1268337"/>
                </a:lnTo>
                <a:lnTo>
                  <a:pt x="2825934" y="1268337"/>
                </a:lnTo>
                <a:lnTo>
                  <a:pt x="2837858" y="1268337"/>
                </a:lnTo>
                <a:lnTo>
                  <a:pt x="2849782" y="1268337"/>
                </a:lnTo>
                <a:lnTo>
                  <a:pt x="2861706" y="1268337"/>
                </a:lnTo>
                <a:lnTo>
                  <a:pt x="2873630" y="1268337"/>
                </a:lnTo>
                <a:lnTo>
                  <a:pt x="2885553" y="1268337"/>
                </a:lnTo>
                <a:lnTo>
                  <a:pt x="2897477" y="1268337"/>
                </a:lnTo>
                <a:lnTo>
                  <a:pt x="2909401" y="1268337"/>
                </a:lnTo>
                <a:lnTo>
                  <a:pt x="2921325" y="1268337"/>
                </a:lnTo>
                <a:lnTo>
                  <a:pt x="2933248" y="1268337"/>
                </a:lnTo>
                <a:lnTo>
                  <a:pt x="2945172" y="1268337"/>
                </a:lnTo>
                <a:lnTo>
                  <a:pt x="2957096" y="1268337"/>
                </a:lnTo>
                <a:lnTo>
                  <a:pt x="296902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004084" y="3803199"/>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10624120" y="3821057"/>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10349874" y="382085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9085953" y="314946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9252886" y="3289266"/>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10576425" y="382105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8585155" y="3272501"/>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10457188" y="382102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10397569" y="382096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9646371" y="356636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9264810" y="329020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9205191" y="3279545"/>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8805342" y="253443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9079589" y="315373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8257031" y="4114800"/>
            <a:ext cx="3236976"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青＝ばらまいた出発点</a:t>
            </a:r>
          </a:p>
        </p:txBody>
      </p:sp>
      <p:sp>
        <p:nvSpPr>
          <p:cNvPr id="83" name="TextBox 82"/>
          <p:cNvSpPr txBox="1"/>
          <p:nvPr/>
        </p:nvSpPr>
        <p:spPr>
          <a:xfrm>
            <a:off x="8257031" y="489204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最も残差の小さい解</a:t>
            </a:r>
          </a:p>
        </p:txBody>
      </p:sp>
      <p:sp>
        <p:nvSpPr>
          <p:cNvPr id="84" name="Rounded Rectangle 83"/>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685800" y="5907024"/>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いずれも 出発点を決めているだけ ― 答えそのものではない</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当てはめの選び方</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
        <p:nvSpPr>
          <p:cNvPr id="44" name="Rounded Rectangle 43"/>
          <p:cNvSpPr/>
          <p:nvPr/>
        </p:nvSpPr>
        <p:spPr>
          <a:xfrm>
            <a:off x="502920" y="1737360"/>
            <a:ext cx="5532120" cy="260604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6153912" y="1737360"/>
            <a:ext cx="5532120" cy="260604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85800" y="1901952"/>
            <a:ext cx="5166359"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何を最小にするか</a:t>
            </a:r>
          </a:p>
        </p:txBody>
      </p:sp>
      <p:sp>
        <p:nvSpPr>
          <p:cNvPr id="47" name="TextBox 46"/>
          <p:cNvSpPr txBox="1"/>
          <p:nvPr/>
        </p:nvSpPr>
        <p:spPr>
          <a:xfrm>
            <a:off x="685800" y="2468880"/>
            <a:ext cx="5166359" cy="1582521"/>
          </a:xfrm>
          <a:prstGeom prst="rect">
            <a:avLst/>
          </a:prstGeom>
          <a:noFill/>
        </p:spPr>
        <p:txBody>
          <a:bodyPr wrap="square" lIns="0" tIns="0" rIns="0" bIns="0" anchor="t">
            <a:spAutoFit/>
          </a:bodyPr>
          <a:lstStyle/>
          <a:p>
            <a:pPr algn="l">
              <a:spcAft>
                <a:spcPts val="0"/>
              </a:spcAft>
            </a:pPr>
            <a:r>
              <a:rPr sz="2200" b="1" dirty="0">
                <a:solidFill>
                  <a:srgbClr val="262626"/>
                </a:solidFill>
                <a:latin typeface="Meiryo"/>
                <a:ea typeface="Meiryo"/>
                <a:cs typeface="Meiryo"/>
              </a:rPr>
              <a:t>残差平方和 RSS ← 標準</a:t>
            </a:r>
          </a:p>
          <a:p>
            <a:pPr algn="l">
              <a:spcAft>
                <a:spcPts val="0"/>
              </a:spcAft>
            </a:pPr>
            <a:r>
              <a:rPr sz="2200" b="0" dirty="0">
                <a:solidFill>
                  <a:srgbClr val="262626"/>
                </a:solidFill>
                <a:latin typeface="Meiryo"/>
                <a:ea typeface="Meiryo"/>
                <a:cs typeface="Meiryo"/>
              </a:rPr>
              <a:t>重み付き最小二乗 WLS</a:t>
            </a:r>
          </a:p>
          <a:p>
            <a:pPr algn="l">
              <a:spcAft>
                <a:spcPts val="0"/>
              </a:spcAft>
            </a:pPr>
            <a:r>
              <a:rPr sz="2200" b="0" dirty="0">
                <a:solidFill>
                  <a:srgbClr val="262626"/>
                </a:solidFill>
                <a:latin typeface="Meiryo"/>
                <a:ea typeface="Meiryo"/>
                <a:cs typeface="Meiryo"/>
              </a:rPr>
              <a:t>ロバスト損失</a:t>
            </a:r>
          </a:p>
          <a:p>
            <a:pPr algn="l">
              <a:spcAft>
                <a:spcPts val="0"/>
              </a:spcAft>
            </a:pPr>
            <a:r>
              <a:rPr sz="2200" b="0" dirty="0">
                <a:solidFill>
                  <a:srgbClr val="262626"/>
                </a:solidFill>
                <a:latin typeface="Meiryo"/>
                <a:ea typeface="Meiryo"/>
                <a:cs typeface="Meiryo"/>
              </a:rPr>
              <a:t>ベイズ・正則化</a:t>
            </a:r>
          </a:p>
        </p:txBody>
      </p:sp>
      <p:sp>
        <p:nvSpPr>
          <p:cNvPr id="48" name="TextBox 47"/>
          <p:cNvSpPr txBox="1"/>
          <p:nvPr/>
        </p:nvSpPr>
        <p:spPr>
          <a:xfrm>
            <a:off x="6336792" y="1901952"/>
            <a:ext cx="5166359" cy="431596"/>
          </a:xfrm>
          <a:prstGeom prst="rect">
            <a:avLst/>
          </a:prstGeom>
          <a:noFill/>
        </p:spPr>
        <p:txBody>
          <a:bodyPr wrap="square" lIns="0" tIns="0" rIns="0" bIns="0" anchor="t">
            <a:spAutoFit/>
          </a:bodyPr>
          <a:lstStyle/>
          <a:p>
            <a:pPr algn="l">
              <a:spcAft>
                <a:spcPts val="0"/>
              </a:spcAft>
            </a:pPr>
            <a:r>
              <a:rPr sz="2400" b="1" dirty="0">
                <a:solidFill>
                  <a:srgbClr val="00A8AA"/>
                </a:solidFill>
                <a:latin typeface="Meiryo"/>
                <a:ea typeface="Meiryo"/>
                <a:cs typeface="Meiryo"/>
              </a:rPr>
              <a:t>どう最小値を探すか</a:t>
            </a:r>
          </a:p>
        </p:txBody>
      </p:sp>
      <p:sp>
        <p:nvSpPr>
          <p:cNvPr id="49" name="TextBox 48"/>
          <p:cNvSpPr txBox="1"/>
          <p:nvPr/>
        </p:nvSpPr>
        <p:spPr>
          <a:xfrm>
            <a:off x="6336792" y="2468880"/>
            <a:ext cx="5166359" cy="1582521"/>
          </a:xfrm>
          <a:prstGeom prst="rect">
            <a:avLst/>
          </a:prstGeom>
          <a:noFill/>
        </p:spPr>
        <p:txBody>
          <a:bodyPr wrap="square" lIns="0" tIns="0" rIns="0" bIns="0" anchor="t">
            <a:spAutoFit/>
          </a:bodyPr>
          <a:lstStyle/>
          <a:p>
            <a:pPr algn="l">
              <a:spcAft>
                <a:spcPts val="0"/>
              </a:spcAft>
            </a:pPr>
            <a:r>
              <a:rPr sz="2200" b="1" dirty="0">
                <a:solidFill>
                  <a:srgbClr val="262626"/>
                </a:solidFill>
                <a:latin typeface="Meiryo"/>
                <a:ea typeface="Meiryo"/>
                <a:cs typeface="Meiryo"/>
              </a:rPr>
              <a:t>Levenberg–Marquardt 法 ← 標準</a:t>
            </a:r>
          </a:p>
          <a:p>
            <a:pPr algn="l">
              <a:spcAft>
                <a:spcPts val="0"/>
              </a:spcAft>
            </a:pPr>
            <a:r>
              <a:rPr sz="2200" b="0" dirty="0">
                <a:solidFill>
                  <a:srgbClr val="262626"/>
                </a:solidFill>
                <a:latin typeface="Meiryo"/>
                <a:ea typeface="Meiryo"/>
                <a:cs typeface="Meiryo"/>
              </a:rPr>
              <a:t>大域最適化（粒子群 ほか）</a:t>
            </a:r>
          </a:p>
          <a:p>
            <a:pPr algn="l">
              <a:spcAft>
                <a:spcPts val="0"/>
              </a:spcAft>
            </a:pPr>
            <a:r>
              <a:rPr sz="2200" b="0" dirty="0">
                <a:solidFill>
                  <a:srgbClr val="262626"/>
                </a:solidFill>
                <a:latin typeface="Meiryo"/>
                <a:ea typeface="Meiryo"/>
                <a:cs typeface="Meiryo"/>
              </a:rPr>
              <a:t>変数分離 VARPRO</a:t>
            </a:r>
          </a:p>
          <a:p>
            <a:pPr algn="l">
              <a:spcAft>
                <a:spcPts val="0"/>
              </a:spcAft>
            </a:pPr>
            <a:r>
              <a:rPr sz="2200" b="0" dirty="0">
                <a:solidFill>
                  <a:srgbClr val="262626"/>
                </a:solidFill>
                <a:latin typeface="Meiryo"/>
                <a:ea typeface="Meiryo"/>
                <a:cs typeface="Meiryo"/>
              </a:rPr>
              <a:t>逐次剥ぎ取り</a:t>
            </a:r>
          </a:p>
        </p:txBody>
      </p:sp>
      <p:sp>
        <p:nvSpPr>
          <p:cNvPr id="50" name="Rounded Rectangle 49"/>
          <p:cNvSpPr/>
          <p:nvPr/>
        </p:nvSpPr>
        <p:spPr>
          <a:xfrm>
            <a:off x="502920" y="4617720"/>
            <a:ext cx="11201400" cy="155448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85800" y="4828032"/>
            <a:ext cx="10835640" cy="1276807"/>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目的関数は ほぼ全文献が 残差平方和</a:t>
            </a:r>
          </a:p>
          <a:p>
            <a:pPr algn="ctr">
              <a:spcAft>
                <a:spcPts val="0"/>
              </a:spcAft>
            </a:pPr>
            <a:r>
              <a:rPr sz="2300" b="0" dirty="0">
                <a:solidFill>
                  <a:srgbClr val="262626"/>
                </a:solidFill>
                <a:latin typeface="Meiryo"/>
                <a:ea typeface="Meiryo"/>
                <a:cs typeface="Meiryo"/>
              </a:rPr>
              <a:t>論文ごとに違うのは 重み付けと 探索アルゴリズム</a:t>
            </a:r>
          </a:p>
          <a:p>
            <a:pPr algn="ctr">
              <a:spcAft>
                <a:spcPts val="0"/>
              </a:spcAft>
            </a:pPr>
            <a:r>
              <a:rPr sz="2300" b="0" dirty="0">
                <a:solidFill>
                  <a:srgbClr val="595959"/>
                </a:solidFill>
                <a:latin typeface="Meiryo"/>
                <a:ea typeface="Meiryo"/>
                <a:cs typeface="Meiryo"/>
              </a:rPr>
              <a:t>残差平方和 ＝ ノイズが独立・正規なら 最尤推定と一致する</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当てはめの選び方</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
        <p:nvSpPr>
          <p:cNvPr id="44" name="Rounded Rectangle 43"/>
          <p:cNvSpPr/>
          <p:nvPr/>
        </p:nvSpPr>
        <p:spPr>
          <a:xfrm>
            <a:off x="502920" y="1691640"/>
            <a:ext cx="5532120" cy="731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1837943"/>
            <a:ext cx="5166360" cy="431596"/>
          </a:xfrm>
          <a:prstGeom prst="rect">
            <a:avLst/>
          </a:prstGeom>
          <a:noFill/>
        </p:spPr>
        <p:txBody>
          <a:bodyPr wrap="square" lIns="0" tIns="0" rIns="0" bIns="0" anchor="t">
            <a:spAutoFit/>
          </a:bodyPr>
          <a:lstStyle/>
          <a:p>
            <a:pPr algn="ctr">
              <a:spcAft>
                <a:spcPts val="0"/>
              </a:spcAft>
            </a:pPr>
            <a:r>
              <a:rPr sz="2400" b="1" dirty="0">
                <a:solidFill>
                  <a:srgbClr val="0072B2"/>
                </a:solidFill>
                <a:latin typeface="Meiryo"/>
                <a:ea typeface="Meiryo"/>
                <a:cs typeface="Meiryo"/>
              </a:rPr>
              <a:t>目的関数 ＝ 地形の形を決める</a:t>
            </a:r>
          </a:p>
        </p:txBody>
      </p:sp>
      <p:sp>
        <p:nvSpPr>
          <p:cNvPr id="46" name="Rounded Rectangle 45"/>
          <p:cNvSpPr/>
          <p:nvPr/>
        </p:nvSpPr>
        <p:spPr>
          <a:xfrm>
            <a:off x="6153912" y="1691640"/>
            <a:ext cx="5532120" cy="731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336792" y="1837943"/>
            <a:ext cx="5166360" cy="431596"/>
          </a:xfrm>
          <a:prstGeom prst="rect">
            <a:avLst/>
          </a:prstGeom>
          <a:noFill/>
        </p:spPr>
        <p:txBody>
          <a:bodyPr wrap="square" lIns="0" tIns="0" rIns="0" bIns="0" anchor="t">
            <a:spAutoFit/>
          </a:bodyPr>
          <a:lstStyle/>
          <a:p>
            <a:pPr algn="ctr">
              <a:spcAft>
                <a:spcPts val="0"/>
              </a:spcAft>
            </a:pPr>
            <a:r>
              <a:rPr sz="2400" b="1" dirty="0">
                <a:solidFill>
                  <a:srgbClr val="00A8AA"/>
                </a:solidFill>
                <a:latin typeface="Meiryo"/>
                <a:ea typeface="Meiryo"/>
                <a:cs typeface="Meiryo"/>
              </a:rPr>
              <a:t>探索法 ＝ 地形の下り方を決める</a:t>
            </a:r>
          </a:p>
        </p:txBody>
      </p:sp>
      <p:sp>
        <p:nvSpPr>
          <p:cNvPr id="3" name="Freeform 2"/>
          <p:cNvSpPr/>
          <p:nvPr/>
        </p:nvSpPr>
        <p:spPr>
          <a:xfrm>
            <a:off x="1188720" y="3109089"/>
            <a:ext cx="10149840" cy="1997835"/>
          </a:xfrm>
          <a:custGeom>
            <a:avLst/>
            <a:gdLst/>
            <a:ahLst/>
            <a:cxnLst/>
            <a:rect l="l" t="t" r="r" b="b"/>
            <a:pathLst>
              <a:path w="10149840" h="1997835">
                <a:moveTo>
                  <a:pt x="0" y="0"/>
                </a:moveTo>
                <a:lnTo>
                  <a:pt x="50749" y="45"/>
                </a:lnTo>
                <a:lnTo>
                  <a:pt x="101498" y="105"/>
                </a:lnTo>
                <a:lnTo>
                  <a:pt x="152247" y="183"/>
                </a:lnTo>
                <a:lnTo>
                  <a:pt x="202996" y="284"/>
                </a:lnTo>
                <a:lnTo>
                  <a:pt x="253746" y="417"/>
                </a:lnTo>
                <a:lnTo>
                  <a:pt x="304495" y="588"/>
                </a:lnTo>
                <a:lnTo>
                  <a:pt x="355244" y="808"/>
                </a:lnTo>
                <a:lnTo>
                  <a:pt x="405993" y="1089"/>
                </a:lnTo>
                <a:lnTo>
                  <a:pt x="456742" y="1448"/>
                </a:lnTo>
                <a:lnTo>
                  <a:pt x="507492" y="1900"/>
                </a:lnTo>
                <a:lnTo>
                  <a:pt x="558241" y="2471"/>
                </a:lnTo>
                <a:lnTo>
                  <a:pt x="608990" y="3184"/>
                </a:lnTo>
                <a:lnTo>
                  <a:pt x="659739" y="4072"/>
                </a:lnTo>
                <a:lnTo>
                  <a:pt x="710488" y="5172"/>
                </a:lnTo>
                <a:lnTo>
                  <a:pt x="761237" y="6527"/>
                </a:lnTo>
                <a:lnTo>
                  <a:pt x="811987" y="8185"/>
                </a:lnTo>
                <a:lnTo>
                  <a:pt x="862736" y="10205"/>
                </a:lnTo>
                <a:lnTo>
                  <a:pt x="913485" y="12652"/>
                </a:lnTo>
                <a:lnTo>
                  <a:pt x="964234" y="15600"/>
                </a:lnTo>
                <a:lnTo>
                  <a:pt x="1014984" y="19130"/>
                </a:lnTo>
                <a:lnTo>
                  <a:pt x="1065733" y="23336"/>
                </a:lnTo>
                <a:lnTo>
                  <a:pt x="1116482" y="28317"/>
                </a:lnTo>
                <a:lnTo>
                  <a:pt x="1167231" y="34184"/>
                </a:lnTo>
                <a:lnTo>
                  <a:pt x="1217980" y="41054"/>
                </a:lnTo>
                <a:lnTo>
                  <a:pt x="1268730" y="49053"/>
                </a:lnTo>
                <a:lnTo>
                  <a:pt x="1319479" y="58312"/>
                </a:lnTo>
                <a:lnTo>
                  <a:pt x="1370228" y="68969"/>
                </a:lnTo>
                <a:lnTo>
                  <a:pt x="1420977" y="81161"/>
                </a:lnTo>
                <a:lnTo>
                  <a:pt x="1471726" y="95028"/>
                </a:lnTo>
                <a:lnTo>
                  <a:pt x="1522476" y="110704"/>
                </a:lnTo>
                <a:lnTo>
                  <a:pt x="1573225" y="128319"/>
                </a:lnTo>
                <a:lnTo>
                  <a:pt x="1623974" y="147992"/>
                </a:lnTo>
                <a:lnTo>
                  <a:pt x="1674723" y="169825"/>
                </a:lnTo>
                <a:lnTo>
                  <a:pt x="1725472" y="193904"/>
                </a:lnTo>
                <a:lnTo>
                  <a:pt x="1776221" y="220289"/>
                </a:lnTo>
                <a:lnTo>
                  <a:pt x="1826971" y="249014"/>
                </a:lnTo>
                <a:lnTo>
                  <a:pt x="1877720" y="280078"/>
                </a:lnTo>
                <a:lnTo>
                  <a:pt x="1928469" y="313443"/>
                </a:lnTo>
                <a:lnTo>
                  <a:pt x="1979218" y="349030"/>
                </a:lnTo>
                <a:lnTo>
                  <a:pt x="2029968" y="386718"/>
                </a:lnTo>
                <a:lnTo>
                  <a:pt x="2080717" y="426335"/>
                </a:lnTo>
                <a:lnTo>
                  <a:pt x="2131466" y="467665"/>
                </a:lnTo>
                <a:lnTo>
                  <a:pt x="2182215" y="510442"/>
                </a:lnTo>
                <a:lnTo>
                  <a:pt x="2232964" y="554350"/>
                </a:lnTo>
                <a:lnTo>
                  <a:pt x="2283714" y="599031"/>
                </a:lnTo>
                <a:lnTo>
                  <a:pt x="2334463" y="644084"/>
                </a:lnTo>
                <a:lnTo>
                  <a:pt x="2385212" y="689070"/>
                </a:lnTo>
                <a:lnTo>
                  <a:pt x="2435961" y="733519"/>
                </a:lnTo>
                <a:lnTo>
                  <a:pt x="2486710" y="776940"/>
                </a:lnTo>
                <a:lnTo>
                  <a:pt x="2537460" y="818826"/>
                </a:lnTo>
                <a:lnTo>
                  <a:pt x="2588209" y="858665"/>
                </a:lnTo>
                <a:lnTo>
                  <a:pt x="2638958" y="895951"/>
                </a:lnTo>
                <a:lnTo>
                  <a:pt x="2689707" y="930192"/>
                </a:lnTo>
                <a:lnTo>
                  <a:pt x="2740456" y="960924"/>
                </a:lnTo>
                <a:lnTo>
                  <a:pt x="2791206" y="987720"/>
                </a:lnTo>
                <a:lnTo>
                  <a:pt x="2841955" y="1010198"/>
                </a:lnTo>
                <a:lnTo>
                  <a:pt x="2892704" y="1028035"/>
                </a:lnTo>
                <a:lnTo>
                  <a:pt x="2943453" y="1040967"/>
                </a:lnTo>
                <a:lnTo>
                  <a:pt x="2994202" y="1048805"/>
                </a:lnTo>
                <a:lnTo>
                  <a:pt x="3044952" y="1051431"/>
                </a:lnTo>
                <a:lnTo>
                  <a:pt x="3095701" y="1048805"/>
                </a:lnTo>
                <a:lnTo>
                  <a:pt x="3146450" y="1040967"/>
                </a:lnTo>
                <a:lnTo>
                  <a:pt x="3197199" y="1028035"/>
                </a:lnTo>
                <a:lnTo>
                  <a:pt x="3247948" y="1010198"/>
                </a:lnTo>
                <a:lnTo>
                  <a:pt x="3298698" y="987720"/>
                </a:lnTo>
                <a:lnTo>
                  <a:pt x="3349447" y="960924"/>
                </a:lnTo>
                <a:lnTo>
                  <a:pt x="3400196" y="930192"/>
                </a:lnTo>
                <a:lnTo>
                  <a:pt x="3450945" y="895951"/>
                </a:lnTo>
                <a:lnTo>
                  <a:pt x="3501694" y="858665"/>
                </a:lnTo>
                <a:lnTo>
                  <a:pt x="3552444" y="818826"/>
                </a:lnTo>
                <a:lnTo>
                  <a:pt x="3603193" y="776940"/>
                </a:lnTo>
                <a:lnTo>
                  <a:pt x="3653942" y="733519"/>
                </a:lnTo>
                <a:lnTo>
                  <a:pt x="3704691" y="689070"/>
                </a:lnTo>
                <a:lnTo>
                  <a:pt x="3755440" y="644084"/>
                </a:lnTo>
                <a:lnTo>
                  <a:pt x="3806189" y="599031"/>
                </a:lnTo>
                <a:lnTo>
                  <a:pt x="3856939" y="554350"/>
                </a:lnTo>
                <a:lnTo>
                  <a:pt x="3907688" y="510442"/>
                </a:lnTo>
                <a:lnTo>
                  <a:pt x="3958437" y="467666"/>
                </a:lnTo>
                <a:lnTo>
                  <a:pt x="4009186" y="426336"/>
                </a:lnTo>
                <a:lnTo>
                  <a:pt x="4059936" y="386718"/>
                </a:lnTo>
                <a:lnTo>
                  <a:pt x="4110685" y="349031"/>
                </a:lnTo>
                <a:lnTo>
                  <a:pt x="4161434" y="313444"/>
                </a:lnTo>
                <a:lnTo>
                  <a:pt x="4212183" y="280080"/>
                </a:lnTo>
                <a:lnTo>
                  <a:pt x="4262932" y="249017"/>
                </a:lnTo>
                <a:lnTo>
                  <a:pt x="4313681" y="220294"/>
                </a:lnTo>
                <a:lnTo>
                  <a:pt x="4364431" y="193910"/>
                </a:lnTo>
                <a:lnTo>
                  <a:pt x="4415180" y="169834"/>
                </a:lnTo>
                <a:lnTo>
                  <a:pt x="4465929" y="148006"/>
                </a:lnTo>
                <a:lnTo>
                  <a:pt x="4516678" y="128340"/>
                </a:lnTo>
                <a:lnTo>
                  <a:pt x="4567428" y="110734"/>
                </a:lnTo>
                <a:lnTo>
                  <a:pt x="4618177" y="95071"/>
                </a:lnTo>
                <a:lnTo>
                  <a:pt x="4668926" y="81223"/>
                </a:lnTo>
                <a:lnTo>
                  <a:pt x="4719675" y="69057"/>
                </a:lnTo>
                <a:lnTo>
                  <a:pt x="4770424" y="58437"/>
                </a:lnTo>
                <a:lnTo>
                  <a:pt x="4821174" y="49229"/>
                </a:lnTo>
                <a:lnTo>
                  <a:pt x="4871923" y="41300"/>
                </a:lnTo>
                <a:lnTo>
                  <a:pt x="4922672" y="34527"/>
                </a:lnTo>
                <a:lnTo>
                  <a:pt x="4973421" y="28791"/>
                </a:lnTo>
                <a:lnTo>
                  <a:pt x="5024170" y="23988"/>
                </a:lnTo>
                <a:lnTo>
                  <a:pt x="5074920" y="20021"/>
                </a:lnTo>
                <a:lnTo>
                  <a:pt x="5125669" y="16808"/>
                </a:lnTo>
                <a:lnTo>
                  <a:pt x="5176418" y="14283"/>
                </a:lnTo>
                <a:lnTo>
                  <a:pt x="5227167" y="12391"/>
                </a:lnTo>
                <a:lnTo>
                  <a:pt x="5277916" y="11098"/>
                </a:lnTo>
                <a:lnTo>
                  <a:pt x="5328666" y="10384"/>
                </a:lnTo>
                <a:lnTo>
                  <a:pt x="5379415" y="10248"/>
                </a:lnTo>
                <a:lnTo>
                  <a:pt x="5430164" y="10712"/>
                </a:lnTo>
                <a:lnTo>
                  <a:pt x="5480913" y="11816"/>
                </a:lnTo>
                <a:lnTo>
                  <a:pt x="5531662" y="13622"/>
                </a:lnTo>
                <a:lnTo>
                  <a:pt x="5582412" y="16220"/>
                </a:lnTo>
                <a:lnTo>
                  <a:pt x="5633161" y="19721"/>
                </a:lnTo>
                <a:lnTo>
                  <a:pt x="5683910" y="24265"/>
                </a:lnTo>
                <a:lnTo>
                  <a:pt x="5734659" y="30020"/>
                </a:lnTo>
                <a:lnTo>
                  <a:pt x="5785408" y="37182"/>
                </a:lnTo>
                <a:lnTo>
                  <a:pt x="5836157" y="45976"/>
                </a:lnTo>
                <a:lnTo>
                  <a:pt x="5886907" y="56657"/>
                </a:lnTo>
                <a:lnTo>
                  <a:pt x="5937656" y="69505"/>
                </a:lnTo>
                <a:lnTo>
                  <a:pt x="5988405" y="84828"/>
                </a:lnTo>
                <a:lnTo>
                  <a:pt x="6039154" y="102953"/>
                </a:lnTo>
                <a:lnTo>
                  <a:pt x="6089903" y="124227"/>
                </a:lnTo>
                <a:lnTo>
                  <a:pt x="6140653" y="149005"/>
                </a:lnTo>
                <a:lnTo>
                  <a:pt x="6191402" y="177647"/>
                </a:lnTo>
                <a:lnTo>
                  <a:pt x="6242151" y="210506"/>
                </a:lnTo>
                <a:lnTo>
                  <a:pt x="6292900" y="247917"/>
                </a:lnTo>
                <a:lnTo>
                  <a:pt x="6343650" y="290185"/>
                </a:lnTo>
                <a:lnTo>
                  <a:pt x="6394399" y="337573"/>
                </a:lnTo>
                <a:lnTo>
                  <a:pt x="6445148" y="390283"/>
                </a:lnTo>
                <a:lnTo>
                  <a:pt x="6495897" y="448447"/>
                </a:lnTo>
                <a:lnTo>
                  <a:pt x="6546646" y="512107"/>
                </a:lnTo>
                <a:lnTo>
                  <a:pt x="6597396" y="581204"/>
                </a:lnTo>
                <a:lnTo>
                  <a:pt x="6648145" y="655563"/>
                </a:lnTo>
                <a:lnTo>
                  <a:pt x="6698894" y="734883"/>
                </a:lnTo>
                <a:lnTo>
                  <a:pt x="6749643" y="818729"/>
                </a:lnTo>
                <a:lnTo>
                  <a:pt x="6800392" y="906525"/>
                </a:lnTo>
                <a:lnTo>
                  <a:pt x="6851142" y="997558"/>
                </a:lnTo>
                <a:lnTo>
                  <a:pt x="6901891" y="1090975"/>
                </a:lnTo>
                <a:lnTo>
                  <a:pt x="6952640" y="1185797"/>
                </a:lnTo>
                <a:lnTo>
                  <a:pt x="7003389" y="1280926"/>
                </a:lnTo>
                <a:lnTo>
                  <a:pt x="7054138" y="1375171"/>
                </a:lnTo>
                <a:lnTo>
                  <a:pt x="7104888" y="1467263"/>
                </a:lnTo>
                <a:lnTo>
                  <a:pt x="7155637" y="1555887"/>
                </a:lnTo>
                <a:lnTo>
                  <a:pt x="7206386" y="1639709"/>
                </a:lnTo>
                <a:lnTo>
                  <a:pt x="7257135" y="1717412"/>
                </a:lnTo>
                <a:lnTo>
                  <a:pt x="7307884" y="1787727"/>
                </a:lnTo>
                <a:lnTo>
                  <a:pt x="7358634" y="1849468"/>
                </a:lnTo>
                <a:lnTo>
                  <a:pt x="7409383" y="1901566"/>
                </a:lnTo>
                <a:lnTo>
                  <a:pt x="7460132" y="1943099"/>
                </a:lnTo>
                <a:lnTo>
                  <a:pt x="7510881" y="1973320"/>
                </a:lnTo>
                <a:lnTo>
                  <a:pt x="7561630" y="1991677"/>
                </a:lnTo>
                <a:lnTo>
                  <a:pt x="7612380" y="1997835"/>
                </a:lnTo>
                <a:lnTo>
                  <a:pt x="7663129" y="1991677"/>
                </a:lnTo>
                <a:lnTo>
                  <a:pt x="7713878" y="1973320"/>
                </a:lnTo>
                <a:lnTo>
                  <a:pt x="7764627" y="1943099"/>
                </a:lnTo>
                <a:lnTo>
                  <a:pt x="7815376" y="1901566"/>
                </a:lnTo>
                <a:lnTo>
                  <a:pt x="7866126" y="1849468"/>
                </a:lnTo>
                <a:lnTo>
                  <a:pt x="7916875" y="1787727"/>
                </a:lnTo>
                <a:lnTo>
                  <a:pt x="7967624" y="1717412"/>
                </a:lnTo>
                <a:lnTo>
                  <a:pt x="8018373" y="1639709"/>
                </a:lnTo>
                <a:lnTo>
                  <a:pt x="8069122" y="1555886"/>
                </a:lnTo>
                <a:lnTo>
                  <a:pt x="8119872" y="1467263"/>
                </a:lnTo>
                <a:lnTo>
                  <a:pt x="8170621" y="1375170"/>
                </a:lnTo>
                <a:lnTo>
                  <a:pt x="8221370" y="1280926"/>
                </a:lnTo>
                <a:lnTo>
                  <a:pt x="8272119" y="1185796"/>
                </a:lnTo>
                <a:lnTo>
                  <a:pt x="8322868" y="1090975"/>
                </a:lnTo>
                <a:lnTo>
                  <a:pt x="8373618" y="997557"/>
                </a:lnTo>
                <a:lnTo>
                  <a:pt x="8424367" y="906524"/>
                </a:lnTo>
                <a:lnTo>
                  <a:pt x="8475116" y="818727"/>
                </a:lnTo>
                <a:lnTo>
                  <a:pt x="8525865" y="734880"/>
                </a:lnTo>
                <a:lnTo>
                  <a:pt x="8576614" y="655559"/>
                </a:lnTo>
                <a:lnTo>
                  <a:pt x="8627364" y="581199"/>
                </a:lnTo>
                <a:lnTo>
                  <a:pt x="8678113" y="512100"/>
                </a:lnTo>
                <a:lnTo>
                  <a:pt x="8728862" y="448437"/>
                </a:lnTo>
                <a:lnTo>
                  <a:pt x="8779611" y="390269"/>
                </a:lnTo>
                <a:lnTo>
                  <a:pt x="8830360" y="337553"/>
                </a:lnTo>
                <a:lnTo>
                  <a:pt x="8881110" y="290158"/>
                </a:lnTo>
                <a:lnTo>
                  <a:pt x="8931859" y="247879"/>
                </a:lnTo>
                <a:lnTo>
                  <a:pt x="8982608" y="210454"/>
                </a:lnTo>
                <a:lnTo>
                  <a:pt x="9033357" y="177577"/>
                </a:lnTo>
                <a:lnTo>
                  <a:pt x="9084106" y="148909"/>
                </a:lnTo>
                <a:lnTo>
                  <a:pt x="9134856" y="124097"/>
                </a:lnTo>
                <a:lnTo>
                  <a:pt x="9185605" y="102778"/>
                </a:lnTo>
                <a:lnTo>
                  <a:pt x="9236354" y="84594"/>
                </a:lnTo>
                <a:lnTo>
                  <a:pt x="9287103" y="69193"/>
                </a:lnTo>
                <a:lnTo>
                  <a:pt x="9337852" y="56243"/>
                </a:lnTo>
                <a:lnTo>
                  <a:pt x="9388602" y="45430"/>
                </a:lnTo>
                <a:lnTo>
                  <a:pt x="9439351" y="36464"/>
                </a:lnTo>
                <a:lnTo>
                  <a:pt x="9490100" y="29082"/>
                </a:lnTo>
                <a:lnTo>
                  <a:pt x="9540849" y="23046"/>
                </a:lnTo>
                <a:lnTo>
                  <a:pt x="9591598" y="18144"/>
                </a:lnTo>
                <a:lnTo>
                  <a:pt x="9642348" y="14190"/>
                </a:lnTo>
                <a:lnTo>
                  <a:pt x="9693097" y="11022"/>
                </a:lnTo>
                <a:lnTo>
                  <a:pt x="9743846" y="8502"/>
                </a:lnTo>
                <a:lnTo>
                  <a:pt x="9794595" y="6510"/>
                </a:lnTo>
                <a:lnTo>
                  <a:pt x="9845344" y="4947"/>
                </a:lnTo>
                <a:lnTo>
                  <a:pt x="9896094" y="3727"/>
                </a:lnTo>
                <a:lnTo>
                  <a:pt x="9946843" y="2783"/>
                </a:lnTo>
                <a:lnTo>
                  <a:pt x="9997592" y="2056"/>
                </a:lnTo>
                <a:lnTo>
                  <a:pt x="10048341" y="1501"/>
                </a:lnTo>
                <a:lnTo>
                  <a:pt x="10099090" y="1079"/>
                </a:lnTo>
                <a:lnTo>
                  <a:pt x="10149840" y="761"/>
                </a:lnTo>
              </a:path>
            </a:pathLst>
          </a:custGeom>
          <a:noFill/>
          <a:ln w="381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0352" y="3035808"/>
            <a:ext cx="640080" cy="395630"/>
          </a:xfrm>
          <a:prstGeom prst="rect">
            <a:avLst/>
          </a:prstGeom>
          <a:noFill/>
        </p:spPr>
        <p:txBody>
          <a:bodyPr wrap="square" lIns="0" tIns="0" rIns="0" bIns="0" anchor="t">
            <a:spAutoFit/>
          </a:bodyPr>
          <a:lstStyle/>
          <a:p>
            <a:pPr algn="l">
              <a:spcAft>
                <a:spcPts val="0"/>
              </a:spcAft>
            </a:pPr>
            <a:r>
              <a:rPr sz="2200" b="1" dirty="0">
                <a:solidFill>
                  <a:srgbClr val="595959"/>
                </a:solidFill>
                <a:latin typeface="Meiryo"/>
                <a:ea typeface="Meiryo"/>
                <a:cs typeface="Meiryo"/>
              </a:rPr>
              <a:t>残差</a:t>
            </a:r>
          </a:p>
        </p:txBody>
      </p:sp>
      <p:cxnSp>
        <p:nvCxnSpPr>
          <p:cNvPr id="49" name="Connector 48"/>
          <p:cNvCxnSpPr/>
          <p:nvPr/>
        </p:nvCxnSpPr>
        <p:spPr>
          <a:xfrm>
            <a:off x="2103120" y="2999232"/>
            <a:ext cx="1938528" cy="987552"/>
          </a:xfrm>
          <a:prstGeom prst="line">
            <a:avLst/>
          </a:prstGeom>
          <a:ln w="317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015984" y="2999232"/>
            <a:ext cx="1865376" cy="1938528"/>
          </a:xfrm>
          <a:prstGeom prst="line">
            <a:avLst/>
          </a:prstGeom>
          <a:ln w="317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188720" y="2560320"/>
            <a:ext cx="1828800" cy="395630"/>
          </a:xfrm>
          <a:prstGeom prst="rect">
            <a:avLst/>
          </a:prstGeom>
          <a:noFill/>
        </p:spPr>
        <p:txBody>
          <a:bodyPr wrap="square" lIns="0" tIns="0" rIns="0" bIns="0" anchor="t">
            <a:spAutoFit/>
          </a:bodyPr>
          <a:lstStyle/>
          <a:p>
            <a:pPr algn="ctr">
              <a:spcAft>
                <a:spcPts val="0"/>
              </a:spcAft>
            </a:pPr>
            <a:r>
              <a:rPr sz="2200" b="1" dirty="0">
                <a:solidFill>
                  <a:srgbClr val="C00000"/>
                </a:solidFill>
                <a:latin typeface="Meiryo"/>
                <a:ea typeface="Meiryo"/>
                <a:cs typeface="Meiryo"/>
              </a:rPr>
              <a:t>初期値 ①</a:t>
            </a:r>
          </a:p>
        </p:txBody>
      </p:sp>
      <p:sp>
        <p:nvSpPr>
          <p:cNvPr id="52" name="TextBox 51"/>
          <p:cNvSpPr txBox="1"/>
          <p:nvPr/>
        </p:nvSpPr>
        <p:spPr>
          <a:xfrm>
            <a:off x="9857232" y="2560320"/>
            <a:ext cx="1828800" cy="395630"/>
          </a:xfrm>
          <a:prstGeom prst="rect">
            <a:avLst/>
          </a:prstGeom>
          <a:noFill/>
        </p:spPr>
        <p:txBody>
          <a:bodyPr wrap="square" lIns="0" tIns="0" rIns="0" bIns="0" anchor="t">
            <a:spAutoFit/>
          </a:bodyPr>
          <a:lstStyle/>
          <a:p>
            <a:pPr algn="ctr">
              <a:spcAft>
                <a:spcPts val="0"/>
              </a:spcAft>
            </a:pPr>
            <a:r>
              <a:rPr sz="2200" b="1" dirty="0">
                <a:solidFill>
                  <a:srgbClr val="0072B2"/>
                </a:solidFill>
                <a:latin typeface="Meiryo"/>
                <a:ea typeface="Meiryo"/>
                <a:cs typeface="Meiryo"/>
              </a:rPr>
              <a:t>初期値 ②</a:t>
            </a:r>
          </a:p>
        </p:txBody>
      </p:sp>
      <p:sp>
        <p:nvSpPr>
          <p:cNvPr id="53" name="TextBox 52"/>
          <p:cNvSpPr txBox="1"/>
          <p:nvPr/>
        </p:nvSpPr>
        <p:spPr>
          <a:xfrm>
            <a:off x="2404872" y="5349240"/>
            <a:ext cx="3657600" cy="395630"/>
          </a:xfrm>
          <a:prstGeom prst="rect">
            <a:avLst/>
          </a:prstGeom>
          <a:noFill/>
        </p:spPr>
        <p:txBody>
          <a:bodyPr wrap="square" lIns="0" tIns="0" rIns="0" bIns="0" anchor="t">
            <a:spAutoFit/>
          </a:bodyPr>
          <a:lstStyle/>
          <a:p>
            <a:pPr algn="ctr">
              <a:spcAft>
                <a:spcPts val="0"/>
              </a:spcAft>
            </a:pPr>
            <a:r>
              <a:rPr sz="2200" b="1" dirty="0">
                <a:solidFill>
                  <a:srgbClr val="C00000"/>
                </a:solidFill>
                <a:latin typeface="Meiryo"/>
                <a:ea typeface="Meiryo"/>
                <a:cs typeface="Meiryo"/>
              </a:rPr>
              <a:t>局所解 ― ここで止まる</a:t>
            </a:r>
          </a:p>
        </p:txBody>
      </p:sp>
      <p:sp>
        <p:nvSpPr>
          <p:cNvPr id="54" name="TextBox 53"/>
          <p:cNvSpPr txBox="1"/>
          <p:nvPr/>
        </p:nvSpPr>
        <p:spPr>
          <a:xfrm>
            <a:off x="6976872" y="5349240"/>
            <a:ext cx="3657600" cy="395630"/>
          </a:xfrm>
          <a:prstGeom prst="rect">
            <a:avLst/>
          </a:prstGeom>
          <a:noFill/>
        </p:spPr>
        <p:txBody>
          <a:bodyPr wrap="square" lIns="0" tIns="0" rIns="0" bIns="0" anchor="t">
            <a:spAutoFit/>
          </a:bodyPr>
          <a:lstStyle/>
          <a:p>
            <a:pPr algn="ctr">
              <a:spcAft>
                <a:spcPts val="0"/>
              </a:spcAft>
            </a:pPr>
            <a:r>
              <a:rPr sz="2200" b="1" dirty="0">
                <a:solidFill>
                  <a:srgbClr val="0072B2"/>
                </a:solidFill>
                <a:latin typeface="Meiryo"/>
                <a:ea typeface="Meiryo"/>
                <a:cs typeface="Meiryo"/>
              </a:rPr>
              <a:t>大域解 ― 残差が最小</a:t>
            </a:r>
          </a:p>
        </p:txBody>
      </p:sp>
      <p:sp>
        <p:nvSpPr>
          <p:cNvPr id="55" name="TextBox 54"/>
          <p:cNvSpPr txBox="1"/>
          <p:nvPr/>
        </p:nvSpPr>
        <p:spPr>
          <a:xfrm>
            <a:off x="685800" y="594360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同じ地形でも 初期値が違えば 別の谷に落ちる</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当てはめの選び方</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
        <p:nvSpPr>
          <p:cNvPr id="44" name="Rounded Rectangle 43"/>
          <p:cNvSpPr/>
          <p:nvPr/>
        </p:nvSpPr>
        <p:spPr>
          <a:xfrm>
            <a:off x="502920" y="1737360"/>
            <a:ext cx="5532120" cy="3794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5800" y="1883664"/>
            <a:ext cx="516636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目的関数の標準</a:t>
            </a:r>
          </a:p>
        </p:txBody>
      </p:sp>
      <p:sp>
        <p:nvSpPr>
          <p:cNvPr id="46" name="TextBox 45"/>
          <p:cNvSpPr txBox="1"/>
          <p:nvPr/>
        </p:nvSpPr>
        <p:spPr>
          <a:xfrm>
            <a:off x="685800"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残差平方和</a:t>
            </a:r>
          </a:p>
        </p:txBody>
      </p:sp>
      <p:cxnSp>
        <p:nvCxnSpPr>
          <p:cNvPr id="47" name="Connector 46"/>
          <p:cNvCxnSpPr/>
          <p:nvPr/>
        </p:nvCxnSpPr>
        <p:spPr>
          <a:xfrm flipV="1">
            <a:off x="936711" y="4003438"/>
            <a:ext cx="0" cy="2527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75918" y="3724096"/>
            <a:ext cx="0" cy="112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415125" y="3209190"/>
            <a:ext cx="0" cy="20880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654332" y="3035574"/>
            <a:ext cx="0" cy="15783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893539" y="3149679"/>
            <a:ext cx="0" cy="2711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2132746" y="3307731"/>
            <a:ext cx="0" cy="47940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2371953" y="3594282"/>
            <a:ext cx="0" cy="1860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611160" y="3852060"/>
            <a:ext cx="0" cy="4347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850367" y="4022951"/>
            <a:ext cx="0" cy="10509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089574" y="4225195"/>
            <a:ext cx="0" cy="43472"/>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328781" y="4277185"/>
            <a:ext cx="0" cy="599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67988" y="4364442"/>
            <a:ext cx="0" cy="807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807195" y="4370423"/>
            <a:ext cx="0" cy="296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046402" y="4365397"/>
            <a:ext cx="0" cy="1041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85609" y="4376360"/>
            <a:ext cx="0" cy="236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524816" y="4376463"/>
            <a:ext cx="0" cy="2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764024" y="4349802"/>
            <a:ext cx="0" cy="266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003231" y="4370631"/>
            <a:ext cx="0" cy="585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242438" y="4355724"/>
            <a:ext cx="0" cy="2075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481645" y="4366418"/>
            <a:ext cx="0" cy="10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sp>
        <p:nvSpPr>
          <p:cNvPr id="3" name="Freeform 2"/>
          <p:cNvSpPr/>
          <p:nvPr/>
        </p:nvSpPr>
        <p:spPr>
          <a:xfrm>
            <a:off x="777240" y="3002890"/>
            <a:ext cx="4963546" cy="1408544"/>
          </a:xfrm>
          <a:custGeom>
            <a:avLst/>
            <a:gdLst/>
            <a:ahLst/>
            <a:cxnLst/>
            <a:rect l="l" t="t" r="r" b="b"/>
            <a:pathLst>
              <a:path w="4963546" h="1408544">
                <a:moveTo>
                  <a:pt x="0" y="1302885"/>
                </a:moveTo>
                <a:lnTo>
                  <a:pt x="19933" y="1370850"/>
                </a:lnTo>
                <a:lnTo>
                  <a:pt x="39867" y="1313930"/>
                </a:lnTo>
                <a:lnTo>
                  <a:pt x="59801" y="1320459"/>
                </a:lnTo>
                <a:lnTo>
                  <a:pt x="79735" y="1307578"/>
                </a:lnTo>
                <a:lnTo>
                  <a:pt x="99669" y="1291147"/>
                </a:lnTo>
                <a:lnTo>
                  <a:pt x="119603" y="1306383"/>
                </a:lnTo>
                <a:lnTo>
                  <a:pt x="139537" y="1261049"/>
                </a:lnTo>
                <a:lnTo>
                  <a:pt x="159471" y="1253302"/>
                </a:lnTo>
                <a:lnTo>
                  <a:pt x="179405" y="1164615"/>
                </a:lnTo>
                <a:lnTo>
                  <a:pt x="199339" y="1192755"/>
                </a:lnTo>
                <a:lnTo>
                  <a:pt x="219273" y="1177350"/>
                </a:lnTo>
                <a:lnTo>
                  <a:pt x="239207" y="1148852"/>
                </a:lnTo>
                <a:lnTo>
                  <a:pt x="259140" y="1125293"/>
                </a:lnTo>
                <a:lnTo>
                  <a:pt x="279074" y="1099138"/>
                </a:lnTo>
                <a:lnTo>
                  <a:pt x="299008" y="1053173"/>
                </a:lnTo>
                <a:lnTo>
                  <a:pt x="318942" y="1001188"/>
                </a:lnTo>
                <a:lnTo>
                  <a:pt x="338876" y="972683"/>
                </a:lnTo>
                <a:lnTo>
                  <a:pt x="358810" y="910371"/>
                </a:lnTo>
                <a:lnTo>
                  <a:pt x="378744" y="884193"/>
                </a:lnTo>
                <a:lnTo>
                  <a:pt x="398678" y="833269"/>
                </a:lnTo>
                <a:lnTo>
                  <a:pt x="418612" y="759196"/>
                </a:lnTo>
                <a:lnTo>
                  <a:pt x="438546" y="724685"/>
                </a:lnTo>
                <a:lnTo>
                  <a:pt x="458480" y="689633"/>
                </a:lnTo>
                <a:lnTo>
                  <a:pt x="478414" y="631152"/>
                </a:lnTo>
                <a:lnTo>
                  <a:pt x="498348" y="565527"/>
                </a:lnTo>
                <a:lnTo>
                  <a:pt x="518281" y="488777"/>
                </a:lnTo>
                <a:lnTo>
                  <a:pt x="538215" y="471171"/>
                </a:lnTo>
                <a:lnTo>
                  <a:pt x="558149" y="417903"/>
                </a:lnTo>
                <a:lnTo>
                  <a:pt x="578083" y="346004"/>
                </a:lnTo>
                <a:lnTo>
                  <a:pt x="598017" y="327161"/>
                </a:lnTo>
                <a:lnTo>
                  <a:pt x="617951" y="270053"/>
                </a:lnTo>
                <a:lnTo>
                  <a:pt x="637885" y="206300"/>
                </a:lnTo>
                <a:lnTo>
                  <a:pt x="657819" y="169985"/>
                </a:lnTo>
                <a:lnTo>
                  <a:pt x="677753" y="140471"/>
                </a:lnTo>
                <a:lnTo>
                  <a:pt x="697687" y="97666"/>
                </a:lnTo>
                <a:lnTo>
                  <a:pt x="717621" y="126012"/>
                </a:lnTo>
                <a:lnTo>
                  <a:pt x="737555" y="39067"/>
                </a:lnTo>
                <a:lnTo>
                  <a:pt x="757488" y="52472"/>
                </a:lnTo>
                <a:lnTo>
                  <a:pt x="777422" y="50300"/>
                </a:lnTo>
                <a:lnTo>
                  <a:pt x="797356" y="10056"/>
                </a:lnTo>
                <a:lnTo>
                  <a:pt x="817290" y="0"/>
                </a:lnTo>
                <a:lnTo>
                  <a:pt x="837224" y="20869"/>
                </a:lnTo>
                <a:lnTo>
                  <a:pt x="857158" y="38481"/>
                </a:lnTo>
                <a:lnTo>
                  <a:pt x="877092" y="32684"/>
                </a:lnTo>
                <a:lnTo>
                  <a:pt x="897026" y="50863"/>
                </a:lnTo>
                <a:lnTo>
                  <a:pt x="916960" y="48250"/>
                </a:lnTo>
                <a:lnTo>
                  <a:pt x="936894" y="84180"/>
                </a:lnTo>
                <a:lnTo>
                  <a:pt x="956828" y="121917"/>
                </a:lnTo>
                <a:lnTo>
                  <a:pt x="976762" y="138649"/>
                </a:lnTo>
                <a:lnTo>
                  <a:pt x="996696" y="194463"/>
                </a:lnTo>
                <a:lnTo>
                  <a:pt x="1016629" y="242561"/>
                </a:lnTo>
                <a:lnTo>
                  <a:pt x="1036563" y="255721"/>
                </a:lnTo>
                <a:lnTo>
                  <a:pt x="1056497" y="294588"/>
                </a:lnTo>
                <a:lnTo>
                  <a:pt x="1076431" y="346960"/>
                </a:lnTo>
                <a:lnTo>
                  <a:pt x="1096365" y="395596"/>
                </a:lnTo>
                <a:lnTo>
                  <a:pt x="1116299" y="417966"/>
                </a:lnTo>
                <a:lnTo>
                  <a:pt x="1136233" y="500529"/>
                </a:lnTo>
                <a:lnTo>
                  <a:pt x="1156167" y="485301"/>
                </a:lnTo>
                <a:lnTo>
                  <a:pt x="1176101" y="523801"/>
                </a:lnTo>
                <a:lnTo>
                  <a:pt x="1196035" y="592026"/>
                </a:lnTo>
                <a:lnTo>
                  <a:pt x="1215969" y="595562"/>
                </a:lnTo>
                <a:lnTo>
                  <a:pt x="1235903" y="641395"/>
                </a:lnTo>
                <a:lnTo>
                  <a:pt x="1255836" y="639949"/>
                </a:lnTo>
                <a:lnTo>
                  <a:pt x="1275770" y="709808"/>
                </a:lnTo>
                <a:lnTo>
                  <a:pt x="1295704" y="713252"/>
                </a:lnTo>
                <a:lnTo>
                  <a:pt x="1315638" y="705980"/>
                </a:lnTo>
                <a:lnTo>
                  <a:pt x="1335572" y="715536"/>
                </a:lnTo>
                <a:lnTo>
                  <a:pt x="1355506" y="784250"/>
                </a:lnTo>
                <a:lnTo>
                  <a:pt x="1375440" y="769457"/>
                </a:lnTo>
                <a:lnTo>
                  <a:pt x="1395374" y="766249"/>
                </a:lnTo>
                <a:lnTo>
                  <a:pt x="1415308" y="789991"/>
                </a:lnTo>
                <a:lnTo>
                  <a:pt x="1435242" y="760771"/>
                </a:lnTo>
                <a:lnTo>
                  <a:pt x="1455176" y="811500"/>
                </a:lnTo>
                <a:lnTo>
                  <a:pt x="1475110" y="790220"/>
                </a:lnTo>
                <a:lnTo>
                  <a:pt x="1495044" y="816080"/>
                </a:lnTo>
                <a:lnTo>
                  <a:pt x="1514977" y="778044"/>
                </a:lnTo>
                <a:lnTo>
                  <a:pt x="1534911" y="802823"/>
                </a:lnTo>
                <a:lnTo>
                  <a:pt x="1554845" y="809561"/>
                </a:lnTo>
                <a:lnTo>
                  <a:pt x="1574779" y="832324"/>
                </a:lnTo>
                <a:lnTo>
                  <a:pt x="1594713" y="777446"/>
                </a:lnTo>
                <a:lnTo>
                  <a:pt x="1614647" y="793431"/>
                </a:lnTo>
                <a:lnTo>
                  <a:pt x="1634581" y="794470"/>
                </a:lnTo>
                <a:lnTo>
                  <a:pt x="1654515" y="789627"/>
                </a:lnTo>
                <a:lnTo>
                  <a:pt x="1674449" y="804465"/>
                </a:lnTo>
                <a:lnTo>
                  <a:pt x="1694383" y="823178"/>
                </a:lnTo>
                <a:lnTo>
                  <a:pt x="1714317" y="829060"/>
                </a:lnTo>
                <a:lnTo>
                  <a:pt x="1734251" y="833074"/>
                </a:lnTo>
                <a:lnTo>
                  <a:pt x="1754184" y="802430"/>
                </a:lnTo>
                <a:lnTo>
                  <a:pt x="1774118" y="854381"/>
                </a:lnTo>
                <a:lnTo>
                  <a:pt x="1794052" y="846818"/>
                </a:lnTo>
                <a:lnTo>
                  <a:pt x="1813986" y="849767"/>
                </a:lnTo>
                <a:lnTo>
                  <a:pt x="1833920" y="849170"/>
                </a:lnTo>
                <a:lnTo>
                  <a:pt x="1853854" y="852627"/>
                </a:lnTo>
                <a:lnTo>
                  <a:pt x="1873788" y="892477"/>
                </a:lnTo>
                <a:lnTo>
                  <a:pt x="1893722" y="911167"/>
                </a:lnTo>
                <a:lnTo>
                  <a:pt x="1913656" y="894545"/>
                </a:lnTo>
                <a:lnTo>
                  <a:pt x="1933590" y="886925"/>
                </a:lnTo>
                <a:lnTo>
                  <a:pt x="1953524" y="907321"/>
                </a:lnTo>
                <a:lnTo>
                  <a:pt x="1973458" y="929687"/>
                </a:lnTo>
                <a:lnTo>
                  <a:pt x="1993392" y="952427"/>
                </a:lnTo>
                <a:lnTo>
                  <a:pt x="2013325" y="956924"/>
                </a:lnTo>
                <a:lnTo>
                  <a:pt x="2033259" y="980540"/>
                </a:lnTo>
                <a:lnTo>
                  <a:pt x="2053193" y="978349"/>
                </a:lnTo>
                <a:lnTo>
                  <a:pt x="2073127" y="1020061"/>
                </a:lnTo>
                <a:lnTo>
                  <a:pt x="2093061" y="1020402"/>
                </a:lnTo>
                <a:lnTo>
                  <a:pt x="2112995" y="1040008"/>
                </a:lnTo>
                <a:lnTo>
                  <a:pt x="2132929" y="1044927"/>
                </a:lnTo>
                <a:lnTo>
                  <a:pt x="2152863" y="1065693"/>
                </a:lnTo>
                <a:lnTo>
                  <a:pt x="2172797" y="1043120"/>
                </a:lnTo>
                <a:lnTo>
                  <a:pt x="2192731" y="1075564"/>
                </a:lnTo>
                <a:lnTo>
                  <a:pt x="2212665" y="1090619"/>
                </a:lnTo>
                <a:lnTo>
                  <a:pt x="2232599" y="1163159"/>
                </a:lnTo>
                <a:lnTo>
                  <a:pt x="2252532" y="1149790"/>
                </a:lnTo>
                <a:lnTo>
                  <a:pt x="2272466" y="1168206"/>
                </a:lnTo>
                <a:lnTo>
                  <a:pt x="2292400" y="1163169"/>
                </a:lnTo>
                <a:lnTo>
                  <a:pt x="2312334" y="1222305"/>
                </a:lnTo>
                <a:lnTo>
                  <a:pt x="2332268" y="1178559"/>
                </a:lnTo>
                <a:lnTo>
                  <a:pt x="2352202" y="1192528"/>
                </a:lnTo>
                <a:lnTo>
                  <a:pt x="2372136" y="1242951"/>
                </a:lnTo>
                <a:lnTo>
                  <a:pt x="2392070" y="1248838"/>
                </a:lnTo>
                <a:lnTo>
                  <a:pt x="2412004" y="1256580"/>
                </a:lnTo>
                <a:lnTo>
                  <a:pt x="2431938" y="1252880"/>
                </a:lnTo>
                <a:lnTo>
                  <a:pt x="2451872" y="1252674"/>
                </a:lnTo>
                <a:lnTo>
                  <a:pt x="2471806" y="1238703"/>
                </a:lnTo>
                <a:lnTo>
                  <a:pt x="2491740" y="1283898"/>
                </a:lnTo>
                <a:lnTo>
                  <a:pt x="2511673" y="1276097"/>
                </a:lnTo>
                <a:lnTo>
                  <a:pt x="2531607" y="1293561"/>
                </a:lnTo>
                <a:lnTo>
                  <a:pt x="2551541" y="1274295"/>
                </a:lnTo>
                <a:lnTo>
                  <a:pt x="2571475" y="1297408"/>
                </a:lnTo>
                <a:lnTo>
                  <a:pt x="2591409" y="1293180"/>
                </a:lnTo>
                <a:lnTo>
                  <a:pt x="2611343" y="1338729"/>
                </a:lnTo>
                <a:lnTo>
                  <a:pt x="2631277" y="1329391"/>
                </a:lnTo>
                <a:lnTo>
                  <a:pt x="2651211" y="1344277"/>
                </a:lnTo>
                <a:lnTo>
                  <a:pt x="2671145" y="1310716"/>
                </a:lnTo>
                <a:lnTo>
                  <a:pt x="2691079" y="1328540"/>
                </a:lnTo>
                <a:lnTo>
                  <a:pt x="2711013" y="1347907"/>
                </a:lnTo>
                <a:lnTo>
                  <a:pt x="2730947" y="1353621"/>
                </a:lnTo>
                <a:lnTo>
                  <a:pt x="2750880" y="1341306"/>
                </a:lnTo>
                <a:lnTo>
                  <a:pt x="2770814" y="1363417"/>
                </a:lnTo>
                <a:lnTo>
                  <a:pt x="2790748" y="1369622"/>
                </a:lnTo>
                <a:lnTo>
                  <a:pt x="2810682" y="1348763"/>
                </a:lnTo>
                <a:lnTo>
                  <a:pt x="2830616" y="1318363"/>
                </a:lnTo>
                <a:lnTo>
                  <a:pt x="2850550" y="1364437"/>
                </a:lnTo>
                <a:lnTo>
                  <a:pt x="2870484" y="1371101"/>
                </a:lnTo>
                <a:lnTo>
                  <a:pt x="2890418" y="1382587"/>
                </a:lnTo>
                <a:lnTo>
                  <a:pt x="2910352" y="1386538"/>
                </a:lnTo>
                <a:lnTo>
                  <a:pt x="2930286" y="1357265"/>
                </a:lnTo>
                <a:lnTo>
                  <a:pt x="2950220" y="1352941"/>
                </a:lnTo>
                <a:lnTo>
                  <a:pt x="2970154" y="1367582"/>
                </a:lnTo>
                <a:lnTo>
                  <a:pt x="2990088" y="1363076"/>
                </a:lnTo>
                <a:lnTo>
                  <a:pt x="3010021" y="1367303"/>
                </a:lnTo>
                <a:lnTo>
                  <a:pt x="3029955" y="1367533"/>
                </a:lnTo>
                <a:lnTo>
                  <a:pt x="3049889" y="1395272"/>
                </a:lnTo>
                <a:lnTo>
                  <a:pt x="3069823" y="1378274"/>
                </a:lnTo>
                <a:lnTo>
                  <a:pt x="3089757" y="1369364"/>
                </a:lnTo>
                <a:lnTo>
                  <a:pt x="3109691" y="1384335"/>
                </a:lnTo>
                <a:lnTo>
                  <a:pt x="3129625" y="1379623"/>
                </a:lnTo>
                <a:lnTo>
                  <a:pt x="3149559" y="1385485"/>
                </a:lnTo>
                <a:lnTo>
                  <a:pt x="3169493" y="1377771"/>
                </a:lnTo>
                <a:lnTo>
                  <a:pt x="3189427" y="1358569"/>
                </a:lnTo>
                <a:lnTo>
                  <a:pt x="3209361" y="1379325"/>
                </a:lnTo>
                <a:lnTo>
                  <a:pt x="3229295" y="1375337"/>
                </a:lnTo>
                <a:lnTo>
                  <a:pt x="3249228" y="1359642"/>
                </a:lnTo>
                <a:lnTo>
                  <a:pt x="3269162" y="1362507"/>
                </a:lnTo>
                <a:lnTo>
                  <a:pt x="3289096" y="1345425"/>
                </a:lnTo>
                <a:lnTo>
                  <a:pt x="3309030" y="1407380"/>
                </a:lnTo>
                <a:lnTo>
                  <a:pt x="3328964" y="1359266"/>
                </a:lnTo>
                <a:lnTo>
                  <a:pt x="3348898" y="1381209"/>
                </a:lnTo>
                <a:lnTo>
                  <a:pt x="3368832" y="1371169"/>
                </a:lnTo>
                <a:lnTo>
                  <a:pt x="3388766" y="1359715"/>
                </a:lnTo>
                <a:lnTo>
                  <a:pt x="3408700" y="1355733"/>
                </a:lnTo>
                <a:lnTo>
                  <a:pt x="3428634" y="1356477"/>
                </a:lnTo>
                <a:lnTo>
                  <a:pt x="3448568" y="1370953"/>
                </a:lnTo>
                <a:lnTo>
                  <a:pt x="3468502" y="1347196"/>
                </a:lnTo>
                <a:lnTo>
                  <a:pt x="3488436" y="1378147"/>
                </a:lnTo>
                <a:lnTo>
                  <a:pt x="3508369" y="1375839"/>
                </a:lnTo>
                <a:lnTo>
                  <a:pt x="3528303" y="1360479"/>
                </a:lnTo>
                <a:lnTo>
                  <a:pt x="3548237" y="1382566"/>
                </a:lnTo>
                <a:lnTo>
                  <a:pt x="3568171" y="1338239"/>
                </a:lnTo>
                <a:lnTo>
                  <a:pt x="3588105" y="1356907"/>
                </a:lnTo>
                <a:lnTo>
                  <a:pt x="3608039" y="1338010"/>
                </a:lnTo>
                <a:lnTo>
                  <a:pt x="3627973" y="1374010"/>
                </a:lnTo>
                <a:lnTo>
                  <a:pt x="3647907" y="1379840"/>
                </a:lnTo>
                <a:lnTo>
                  <a:pt x="3667841" y="1370850"/>
                </a:lnTo>
                <a:lnTo>
                  <a:pt x="3687775" y="1361576"/>
                </a:lnTo>
                <a:lnTo>
                  <a:pt x="3707709" y="1383187"/>
                </a:lnTo>
                <a:lnTo>
                  <a:pt x="3727643" y="1367380"/>
                </a:lnTo>
                <a:lnTo>
                  <a:pt x="3747576" y="1373862"/>
                </a:lnTo>
                <a:lnTo>
                  <a:pt x="3767510" y="1347179"/>
                </a:lnTo>
                <a:lnTo>
                  <a:pt x="3787444" y="1384421"/>
                </a:lnTo>
                <a:lnTo>
                  <a:pt x="3807378" y="1356489"/>
                </a:lnTo>
                <a:lnTo>
                  <a:pt x="3827312" y="1384114"/>
                </a:lnTo>
                <a:lnTo>
                  <a:pt x="3847246" y="1389292"/>
                </a:lnTo>
                <a:lnTo>
                  <a:pt x="3867180" y="1385201"/>
                </a:lnTo>
                <a:lnTo>
                  <a:pt x="3887114" y="1393045"/>
                </a:lnTo>
                <a:lnTo>
                  <a:pt x="3907048" y="1371199"/>
                </a:lnTo>
                <a:lnTo>
                  <a:pt x="3926982" y="1356734"/>
                </a:lnTo>
                <a:lnTo>
                  <a:pt x="3946916" y="1370905"/>
                </a:lnTo>
                <a:lnTo>
                  <a:pt x="3966850" y="1363386"/>
                </a:lnTo>
                <a:lnTo>
                  <a:pt x="3986784" y="1346912"/>
                </a:lnTo>
                <a:lnTo>
                  <a:pt x="4006717" y="1369177"/>
                </a:lnTo>
                <a:lnTo>
                  <a:pt x="4026651" y="1370401"/>
                </a:lnTo>
                <a:lnTo>
                  <a:pt x="4046585" y="1378087"/>
                </a:lnTo>
                <a:lnTo>
                  <a:pt x="4066519" y="1399879"/>
                </a:lnTo>
                <a:lnTo>
                  <a:pt x="4086453" y="1361173"/>
                </a:lnTo>
                <a:lnTo>
                  <a:pt x="4106387" y="1402302"/>
                </a:lnTo>
                <a:lnTo>
                  <a:pt x="4126321" y="1362923"/>
                </a:lnTo>
                <a:lnTo>
                  <a:pt x="4146255" y="1373825"/>
                </a:lnTo>
                <a:lnTo>
                  <a:pt x="4166189" y="1355173"/>
                </a:lnTo>
                <a:lnTo>
                  <a:pt x="4186123" y="1374699"/>
                </a:lnTo>
                <a:lnTo>
                  <a:pt x="4206057" y="1387047"/>
                </a:lnTo>
                <a:lnTo>
                  <a:pt x="4225991" y="1367741"/>
                </a:lnTo>
                <a:lnTo>
                  <a:pt x="4245924" y="1382749"/>
                </a:lnTo>
                <a:lnTo>
                  <a:pt x="4265858" y="1376549"/>
                </a:lnTo>
                <a:lnTo>
                  <a:pt x="4285792" y="1372907"/>
                </a:lnTo>
                <a:lnTo>
                  <a:pt x="4305726" y="1375791"/>
                </a:lnTo>
                <a:lnTo>
                  <a:pt x="4325660" y="1376678"/>
                </a:lnTo>
                <a:lnTo>
                  <a:pt x="4345594" y="1387198"/>
                </a:lnTo>
                <a:lnTo>
                  <a:pt x="4365528" y="1376683"/>
                </a:lnTo>
                <a:lnTo>
                  <a:pt x="4385462" y="1408544"/>
                </a:lnTo>
                <a:lnTo>
                  <a:pt x="4405396" y="1376163"/>
                </a:lnTo>
                <a:lnTo>
                  <a:pt x="4425330" y="1393174"/>
                </a:lnTo>
                <a:lnTo>
                  <a:pt x="4445264" y="1355280"/>
                </a:lnTo>
                <a:lnTo>
                  <a:pt x="4465198" y="1352834"/>
                </a:lnTo>
                <a:lnTo>
                  <a:pt x="4485132" y="1405482"/>
                </a:lnTo>
                <a:lnTo>
                  <a:pt x="4505065" y="1371223"/>
                </a:lnTo>
                <a:lnTo>
                  <a:pt x="4524999" y="1375657"/>
                </a:lnTo>
                <a:lnTo>
                  <a:pt x="4544933" y="1390701"/>
                </a:lnTo>
                <a:lnTo>
                  <a:pt x="4564867" y="1364901"/>
                </a:lnTo>
                <a:lnTo>
                  <a:pt x="4584801" y="1381138"/>
                </a:lnTo>
                <a:lnTo>
                  <a:pt x="4604735" y="1402484"/>
                </a:lnTo>
                <a:lnTo>
                  <a:pt x="4624669" y="1377950"/>
                </a:lnTo>
                <a:lnTo>
                  <a:pt x="4644603" y="1376015"/>
                </a:lnTo>
                <a:lnTo>
                  <a:pt x="4664537" y="1371852"/>
                </a:lnTo>
                <a:lnTo>
                  <a:pt x="4684471" y="1393717"/>
                </a:lnTo>
                <a:lnTo>
                  <a:pt x="4704405" y="1363528"/>
                </a:lnTo>
                <a:lnTo>
                  <a:pt x="4724339" y="1361570"/>
                </a:lnTo>
                <a:lnTo>
                  <a:pt x="4744272" y="1392321"/>
                </a:lnTo>
                <a:lnTo>
                  <a:pt x="4764206" y="1384361"/>
                </a:lnTo>
                <a:lnTo>
                  <a:pt x="4784140" y="1374905"/>
                </a:lnTo>
                <a:lnTo>
                  <a:pt x="4804074" y="1382842"/>
                </a:lnTo>
                <a:lnTo>
                  <a:pt x="4824008" y="1345089"/>
                </a:lnTo>
                <a:lnTo>
                  <a:pt x="4843942" y="1370185"/>
                </a:lnTo>
                <a:lnTo>
                  <a:pt x="4863876" y="1390110"/>
                </a:lnTo>
                <a:lnTo>
                  <a:pt x="4883810" y="1386474"/>
                </a:lnTo>
                <a:lnTo>
                  <a:pt x="4903744" y="1374531"/>
                </a:lnTo>
                <a:lnTo>
                  <a:pt x="4923678" y="1336065"/>
                </a:lnTo>
                <a:lnTo>
                  <a:pt x="4943612" y="1376505"/>
                </a:lnTo>
                <a:lnTo>
                  <a:pt x="4963546" y="1371508"/>
                </a:lnTo>
              </a:path>
            </a:pathLst>
          </a:custGeom>
          <a:noFill/>
          <a:ln w="254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777240" y="3140742"/>
            <a:ext cx="4963546" cy="1235739"/>
          </a:xfrm>
          <a:custGeom>
            <a:avLst/>
            <a:gdLst/>
            <a:ahLst/>
            <a:cxnLst/>
            <a:rect l="l" t="t" r="r" b="b"/>
            <a:pathLst>
              <a:path w="4963546" h="1235739">
                <a:moveTo>
                  <a:pt x="0" y="1002450"/>
                </a:moveTo>
                <a:lnTo>
                  <a:pt x="19933" y="987302"/>
                </a:lnTo>
                <a:lnTo>
                  <a:pt x="39867" y="971490"/>
                </a:lnTo>
                <a:lnTo>
                  <a:pt x="59801" y="955012"/>
                </a:lnTo>
                <a:lnTo>
                  <a:pt x="79735" y="937867"/>
                </a:lnTo>
                <a:lnTo>
                  <a:pt x="99669" y="920057"/>
                </a:lnTo>
                <a:lnTo>
                  <a:pt x="119603" y="901586"/>
                </a:lnTo>
                <a:lnTo>
                  <a:pt x="139537" y="882463"/>
                </a:lnTo>
                <a:lnTo>
                  <a:pt x="159471" y="862696"/>
                </a:lnTo>
                <a:lnTo>
                  <a:pt x="179405" y="842300"/>
                </a:lnTo>
                <a:lnTo>
                  <a:pt x="199339" y="821291"/>
                </a:lnTo>
                <a:lnTo>
                  <a:pt x="219273" y="799687"/>
                </a:lnTo>
                <a:lnTo>
                  <a:pt x="239207" y="777512"/>
                </a:lnTo>
                <a:lnTo>
                  <a:pt x="259140" y="754792"/>
                </a:lnTo>
                <a:lnTo>
                  <a:pt x="279074" y="731555"/>
                </a:lnTo>
                <a:lnTo>
                  <a:pt x="299008" y="707835"/>
                </a:lnTo>
                <a:lnTo>
                  <a:pt x="318942" y="683667"/>
                </a:lnTo>
                <a:lnTo>
                  <a:pt x="338876" y="659091"/>
                </a:lnTo>
                <a:lnTo>
                  <a:pt x="358810" y="634149"/>
                </a:lnTo>
                <a:lnTo>
                  <a:pt x="378744" y="608887"/>
                </a:lnTo>
                <a:lnTo>
                  <a:pt x="398678" y="583354"/>
                </a:lnTo>
                <a:lnTo>
                  <a:pt x="418612" y="557602"/>
                </a:lnTo>
                <a:lnTo>
                  <a:pt x="438546" y="531686"/>
                </a:lnTo>
                <a:lnTo>
                  <a:pt x="458480" y="505663"/>
                </a:lnTo>
                <a:lnTo>
                  <a:pt x="478414" y="479594"/>
                </a:lnTo>
                <a:lnTo>
                  <a:pt x="498348" y="453540"/>
                </a:lnTo>
                <a:lnTo>
                  <a:pt x="518281" y="427567"/>
                </a:lnTo>
                <a:lnTo>
                  <a:pt x="538215" y="401742"/>
                </a:lnTo>
                <a:lnTo>
                  <a:pt x="558149" y="376132"/>
                </a:lnTo>
                <a:lnTo>
                  <a:pt x="578083" y="350806"/>
                </a:lnTo>
                <a:lnTo>
                  <a:pt x="598017" y="325836"/>
                </a:lnTo>
                <a:lnTo>
                  <a:pt x="617951" y="301293"/>
                </a:lnTo>
                <a:lnTo>
                  <a:pt x="637885" y="277248"/>
                </a:lnTo>
                <a:lnTo>
                  <a:pt x="657819" y="253773"/>
                </a:lnTo>
                <a:lnTo>
                  <a:pt x="677753" y="230939"/>
                </a:lnTo>
                <a:lnTo>
                  <a:pt x="697687" y="208817"/>
                </a:lnTo>
                <a:lnTo>
                  <a:pt x="717621" y="187478"/>
                </a:lnTo>
                <a:lnTo>
                  <a:pt x="737555" y="166989"/>
                </a:lnTo>
                <a:lnTo>
                  <a:pt x="757488" y="147417"/>
                </a:lnTo>
                <a:lnTo>
                  <a:pt x="777422" y="128826"/>
                </a:lnTo>
                <a:lnTo>
                  <a:pt x="797356" y="111279"/>
                </a:lnTo>
                <a:lnTo>
                  <a:pt x="817290" y="94835"/>
                </a:lnTo>
                <a:lnTo>
                  <a:pt x="837224" y="79550"/>
                </a:lnTo>
                <a:lnTo>
                  <a:pt x="857158" y="65478"/>
                </a:lnTo>
                <a:lnTo>
                  <a:pt x="877092" y="52666"/>
                </a:lnTo>
                <a:lnTo>
                  <a:pt x="897026" y="41159"/>
                </a:lnTo>
                <a:lnTo>
                  <a:pt x="916960" y="31000"/>
                </a:lnTo>
                <a:lnTo>
                  <a:pt x="936894" y="22223"/>
                </a:lnTo>
                <a:lnTo>
                  <a:pt x="956828" y="14860"/>
                </a:lnTo>
                <a:lnTo>
                  <a:pt x="976762" y="8937"/>
                </a:lnTo>
                <a:lnTo>
                  <a:pt x="996696" y="4476"/>
                </a:lnTo>
                <a:lnTo>
                  <a:pt x="1016629" y="1494"/>
                </a:lnTo>
                <a:lnTo>
                  <a:pt x="1036563" y="0"/>
                </a:lnTo>
                <a:lnTo>
                  <a:pt x="1056497" y="0"/>
                </a:lnTo>
                <a:lnTo>
                  <a:pt x="1076431" y="1494"/>
                </a:lnTo>
                <a:lnTo>
                  <a:pt x="1096365" y="4476"/>
                </a:lnTo>
                <a:lnTo>
                  <a:pt x="1116299" y="8937"/>
                </a:lnTo>
                <a:lnTo>
                  <a:pt x="1136233" y="14860"/>
                </a:lnTo>
                <a:lnTo>
                  <a:pt x="1156167" y="22223"/>
                </a:lnTo>
                <a:lnTo>
                  <a:pt x="1176101" y="31000"/>
                </a:lnTo>
                <a:lnTo>
                  <a:pt x="1196035" y="41159"/>
                </a:lnTo>
                <a:lnTo>
                  <a:pt x="1215969" y="52666"/>
                </a:lnTo>
                <a:lnTo>
                  <a:pt x="1235903" y="65478"/>
                </a:lnTo>
                <a:lnTo>
                  <a:pt x="1255836" y="79550"/>
                </a:lnTo>
                <a:lnTo>
                  <a:pt x="1275770" y="94835"/>
                </a:lnTo>
                <a:lnTo>
                  <a:pt x="1295704" y="111279"/>
                </a:lnTo>
                <a:lnTo>
                  <a:pt x="1315638" y="128826"/>
                </a:lnTo>
                <a:lnTo>
                  <a:pt x="1335572" y="147417"/>
                </a:lnTo>
                <a:lnTo>
                  <a:pt x="1355506" y="166989"/>
                </a:lnTo>
                <a:lnTo>
                  <a:pt x="1375440" y="187478"/>
                </a:lnTo>
                <a:lnTo>
                  <a:pt x="1395374" y="208817"/>
                </a:lnTo>
                <a:lnTo>
                  <a:pt x="1415308" y="230939"/>
                </a:lnTo>
                <a:lnTo>
                  <a:pt x="1435242" y="253773"/>
                </a:lnTo>
                <a:lnTo>
                  <a:pt x="1455176" y="277248"/>
                </a:lnTo>
                <a:lnTo>
                  <a:pt x="1475110" y="301293"/>
                </a:lnTo>
                <a:lnTo>
                  <a:pt x="1495044" y="325836"/>
                </a:lnTo>
                <a:lnTo>
                  <a:pt x="1514977" y="350806"/>
                </a:lnTo>
                <a:lnTo>
                  <a:pt x="1534911" y="376132"/>
                </a:lnTo>
                <a:lnTo>
                  <a:pt x="1554845" y="401742"/>
                </a:lnTo>
                <a:lnTo>
                  <a:pt x="1574779" y="427567"/>
                </a:lnTo>
                <a:lnTo>
                  <a:pt x="1594713" y="453540"/>
                </a:lnTo>
                <a:lnTo>
                  <a:pt x="1614647" y="479594"/>
                </a:lnTo>
                <a:lnTo>
                  <a:pt x="1634581" y="505663"/>
                </a:lnTo>
                <a:lnTo>
                  <a:pt x="1654515" y="531686"/>
                </a:lnTo>
                <a:lnTo>
                  <a:pt x="1674449" y="557602"/>
                </a:lnTo>
                <a:lnTo>
                  <a:pt x="1694383" y="583354"/>
                </a:lnTo>
                <a:lnTo>
                  <a:pt x="1714317" y="608887"/>
                </a:lnTo>
                <a:lnTo>
                  <a:pt x="1734251" y="634149"/>
                </a:lnTo>
                <a:lnTo>
                  <a:pt x="1754184" y="659091"/>
                </a:lnTo>
                <a:lnTo>
                  <a:pt x="1774118" y="683667"/>
                </a:lnTo>
                <a:lnTo>
                  <a:pt x="1794052" y="707835"/>
                </a:lnTo>
                <a:lnTo>
                  <a:pt x="1813986" y="731555"/>
                </a:lnTo>
                <a:lnTo>
                  <a:pt x="1833920" y="754792"/>
                </a:lnTo>
                <a:lnTo>
                  <a:pt x="1853854" y="777512"/>
                </a:lnTo>
                <a:lnTo>
                  <a:pt x="1873788" y="799687"/>
                </a:lnTo>
                <a:lnTo>
                  <a:pt x="1893722" y="821291"/>
                </a:lnTo>
                <a:lnTo>
                  <a:pt x="1913656" y="842300"/>
                </a:lnTo>
                <a:lnTo>
                  <a:pt x="1933590" y="862696"/>
                </a:lnTo>
                <a:lnTo>
                  <a:pt x="1953524" y="882463"/>
                </a:lnTo>
                <a:lnTo>
                  <a:pt x="1973458" y="901586"/>
                </a:lnTo>
                <a:lnTo>
                  <a:pt x="1993392" y="920057"/>
                </a:lnTo>
                <a:lnTo>
                  <a:pt x="2013325" y="937867"/>
                </a:lnTo>
                <a:lnTo>
                  <a:pt x="2033259" y="955012"/>
                </a:lnTo>
                <a:lnTo>
                  <a:pt x="2053193" y="971490"/>
                </a:lnTo>
                <a:lnTo>
                  <a:pt x="2073127" y="987302"/>
                </a:lnTo>
                <a:lnTo>
                  <a:pt x="2093061" y="1002450"/>
                </a:lnTo>
                <a:lnTo>
                  <a:pt x="2112995" y="1016939"/>
                </a:lnTo>
                <a:lnTo>
                  <a:pt x="2132929" y="1030777"/>
                </a:lnTo>
                <a:lnTo>
                  <a:pt x="2152863" y="1043971"/>
                </a:lnTo>
                <a:lnTo>
                  <a:pt x="2172797" y="1056533"/>
                </a:lnTo>
                <a:lnTo>
                  <a:pt x="2192731" y="1068475"/>
                </a:lnTo>
                <a:lnTo>
                  <a:pt x="2212665" y="1079810"/>
                </a:lnTo>
                <a:lnTo>
                  <a:pt x="2232599" y="1090552"/>
                </a:lnTo>
                <a:lnTo>
                  <a:pt x="2252532" y="1100718"/>
                </a:lnTo>
                <a:lnTo>
                  <a:pt x="2272466" y="1110323"/>
                </a:lnTo>
                <a:lnTo>
                  <a:pt x="2292400" y="1119387"/>
                </a:lnTo>
                <a:lnTo>
                  <a:pt x="2312334" y="1127925"/>
                </a:lnTo>
                <a:lnTo>
                  <a:pt x="2332268" y="1135958"/>
                </a:lnTo>
                <a:lnTo>
                  <a:pt x="2352202" y="1143504"/>
                </a:lnTo>
                <a:lnTo>
                  <a:pt x="2372136" y="1150583"/>
                </a:lnTo>
                <a:lnTo>
                  <a:pt x="2392070" y="1157213"/>
                </a:lnTo>
                <a:lnTo>
                  <a:pt x="2412004" y="1163415"/>
                </a:lnTo>
                <a:lnTo>
                  <a:pt x="2431938" y="1169207"/>
                </a:lnTo>
                <a:lnTo>
                  <a:pt x="2451872" y="1174610"/>
                </a:lnTo>
                <a:lnTo>
                  <a:pt x="2471806" y="1179641"/>
                </a:lnTo>
                <a:lnTo>
                  <a:pt x="2491740" y="1184321"/>
                </a:lnTo>
                <a:lnTo>
                  <a:pt x="2511673" y="1188668"/>
                </a:lnTo>
                <a:lnTo>
                  <a:pt x="2531607" y="1192699"/>
                </a:lnTo>
                <a:lnTo>
                  <a:pt x="2551541" y="1196432"/>
                </a:lnTo>
                <a:lnTo>
                  <a:pt x="2571475" y="1199885"/>
                </a:lnTo>
                <a:lnTo>
                  <a:pt x="2591409" y="1203074"/>
                </a:lnTo>
                <a:lnTo>
                  <a:pt x="2611343" y="1206016"/>
                </a:lnTo>
                <a:lnTo>
                  <a:pt x="2631277" y="1208725"/>
                </a:lnTo>
                <a:lnTo>
                  <a:pt x="2651211" y="1211217"/>
                </a:lnTo>
                <a:lnTo>
                  <a:pt x="2671145" y="1213506"/>
                </a:lnTo>
                <a:lnTo>
                  <a:pt x="2691079" y="1215606"/>
                </a:lnTo>
                <a:lnTo>
                  <a:pt x="2711013" y="1217530"/>
                </a:lnTo>
                <a:lnTo>
                  <a:pt x="2730947" y="1219289"/>
                </a:lnTo>
                <a:lnTo>
                  <a:pt x="2750880" y="1220897"/>
                </a:lnTo>
                <a:lnTo>
                  <a:pt x="2770814" y="1222364"/>
                </a:lnTo>
                <a:lnTo>
                  <a:pt x="2790748" y="1223700"/>
                </a:lnTo>
                <a:lnTo>
                  <a:pt x="2810682" y="1224916"/>
                </a:lnTo>
                <a:lnTo>
                  <a:pt x="2830616" y="1226021"/>
                </a:lnTo>
                <a:lnTo>
                  <a:pt x="2850550" y="1227023"/>
                </a:lnTo>
                <a:lnTo>
                  <a:pt x="2870484" y="1227932"/>
                </a:lnTo>
                <a:lnTo>
                  <a:pt x="2890418" y="1228754"/>
                </a:lnTo>
                <a:lnTo>
                  <a:pt x="2910352" y="1229498"/>
                </a:lnTo>
                <a:lnTo>
                  <a:pt x="2930286" y="1230169"/>
                </a:lnTo>
                <a:lnTo>
                  <a:pt x="2950220" y="1230774"/>
                </a:lnTo>
                <a:lnTo>
                  <a:pt x="2970154" y="1231318"/>
                </a:lnTo>
                <a:lnTo>
                  <a:pt x="2990088" y="1231808"/>
                </a:lnTo>
                <a:lnTo>
                  <a:pt x="3010021" y="1232247"/>
                </a:lnTo>
                <a:lnTo>
                  <a:pt x="3029955" y="1232641"/>
                </a:lnTo>
                <a:lnTo>
                  <a:pt x="3049889" y="1232994"/>
                </a:lnTo>
                <a:lnTo>
                  <a:pt x="3069823" y="1233310"/>
                </a:lnTo>
                <a:lnTo>
                  <a:pt x="3089757" y="1233592"/>
                </a:lnTo>
                <a:lnTo>
                  <a:pt x="3109691" y="1233844"/>
                </a:lnTo>
                <a:lnTo>
                  <a:pt x="3129625" y="1234068"/>
                </a:lnTo>
                <a:lnTo>
                  <a:pt x="3149559" y="1234267"/>
                </a:lnTo>
                <a:lnTo>
                  <a:pt x="3169493" y="1234444"/>
                </a:lnTo>
                <a:lnTo>
                  <a:pt x="3189427" y="1234602"/>
                </a:lnTo>
                <a:lnTo>
                  <a:pt x="3209361" y="1234741"/>
                </a:lnTo>
                <a:lnTo>
                  <a:pt x="3229295" y="1234864"/>
                </a:lnTo>
                <a:lnTo>
                  <a:pt x="3249228" y="1234973"/>
                </a:lnTo>
                <a:lnTo>
                  <a:pt x="3269162" y="1235070"/>
                </a:lnTo>
                <a:lnTo>
                  <a:pt x="3289096" y="1235155"/>
                </a:lnTo>
                <a:lnTo>
                  <a:pt x="3309030" y="1235229"/>
                </a:lnTo>
                <a:lnTo>
                  <a:pt x="3328964" y="1235295"/>
                </a:lnTo>
                <a:lnTo>
                  <a:pt x="3348898" y="1235353"/>
                </a:lnTo>
                <a:lnTo>
                  <a:pt x="3368832" y="1235403"/>
                </a:lnTo>
                <a:lnTo>
                  <a:pt x="3388766" y="1235448"/>
                </a:lnTo>
                <a:lnTo>
                  <a:pt x="3408700" y="1235487"/>
                </a:lnTo>
                <a:lnTo>
                  <a:pt x="3428634" y="1235520"/>
                </a:lnTo>
                <a:lnTo>
                  <a:pt x="3448568" y="1235550"/>
                </a:lnTo>
                <a:lnTo>
                  <a:pt x="3468502" y="1235576"/>
                </a:lnTo>
                <a:lnTo>
                  <a:pt x="3488436" y="1235598"/>
                </a:lnTo>
                <a:lnTo>
                  <a:pt x="3508369" y="1235618"/>
                </a:lnTo>
                <a:lnTo>
                  <a:pt x="3528303" y="1235635"/>
                </a:lnTo>
                <a:lnTo>
                  <a:pt x="3548237" y="1235649"/>
                </a:lnTo>
                <a:lnTo>
                  <a:pt x="3568171" y="1235662"/>
                </a:lnTo>
                <a:lnTo>
                  <a:pt x="3588105" y="1235673"/>
                </a:lnTo>
                <a:lnTo>
                  <a:pt x="3608039" y="1235683"/>
                </a:lnTo>
                <a:lnTo>
                  <a:pt x="3627973" y="1235691"/>
                </a:lnTo>
                <a:lnTo>
                  <a:pt x="3647907" y="1235698"/>
                </a:lnTo>
                <a:lnTo>
                  <a:pt x="3667841" y="1235704"/>
                </a:lnTo>
                <a:lnTo>
                  <a:pt x="3687775" y="1235709"/>
                </a:lnTo>
                <a:lnTo>
                  <a:pt x="3707709" y="1235714"/>
                </a:lnTo>
                <a:lnTo>
                  <a:pt x="3727643" y="1235718"/>
                </a:lnTo>
                <a:lnTo>
                  <a:pt x="3747576" y="1235721"/>
                </a:lnTo>
                <a:lnTo>
                  <a:pt x="3767510" y="1235724"/>
                </a:lnTo>
                <a:lnTo>
                  <a:pt x="3787444" y="1235726"/>
                </a:lnTo>
                <a:lnTo>
                  <a:pt x="3807378" y="1235728"/>
                </a:lnTo>
                <a:lnTo>
                  <a:pt x="3827312" y="1235730"/>
                </a:lnTo>
                <a:lnTo>
                  <a:pt x="3847246" y="1235731"/>
                </a:lnTo>
                <a:lnTo>
                  <a:pt x="3867180" y="1235733"/>
                </a:lnTo>
                <a:lnTo>
                  <a:pt x="3887114" y="1235734"/>
                </a:lnTo>
                <a:lnTo>
                  <a:pt x="3907048" y="1235735"/>
                </a:lnTo>
                <a:lnTo>
                  <a:pt x="3926982" y="1235735"/>
                </a:lnTo>
                <a:lnTo>
                  <a:pt x="3946916" y="1235736"/>
                </a:lnTo>
                <a:lnTo>
                  <a:pt x="3966850" y="1235737"/>
                </a:lnTo>
                <a:lnTo>
                  <a:pt x="3986784" y="1235737"/>
                </a:lnTo>
                <a:lnTo>
                  <a:pt x="4006717" y="1235737"/>
                </a:lnTo>
                <a:lnTo>
                  <a:pt x="4026651" y="1235738"/>
                </a:lnTo>
                <a:lnTo>
                  <a:pt x="4046585" y="1235738"/>
                </a:lnTo>
                <a:lnTo>
                  <a:pt x="4066519" y="1235738"/>
                </a:lnTo>
                <a:lnTo>
                  <a:pt x="4086453" y="1235738"/>
                </a:lnTo>
                <a:lnTo>
                  <a:pt x="4106387" y="1235739"/>
                </a:lnTo>
                <a:lnTo>
                  <a:pt x="4126321" y="1235739"/>
                </a:lnTo>
                <a:lnTo>
                  <a:pt x="4146255" y="1235739"/>
                </a:lnTo>
                <a:lnTo>
                  <a:pt x="4166189" y="1235739"/>
                </a:lnTo>
                <a:lnTo>
                  <a:pt x="4186123" y="1235739"/>
                </a:lnTo>
                <a:lnTo>
                  <a:pt x="4206057" y="1235739"/>
                </a:lnTo>
                <a:lnTo>
                  <a:pt x="4225991" y="1235739"/>
                </a:lnTo>
                <a:lnTo>
                  <a:pt x="4245924" y="1235739"/>
                </a:lnTo>
                <a:lnTo>
                  <a:pt x="4265858" y="1235739"/>
                </a:lnTo>
                <a:lnTo>
                  <a:pt x="4285792" y="1235739"/>
                </a:lnTo>
                <a:lnTo>
                  <a:pt x="4305726" y="1235739"/>
                </a:lnTo>
                <a:lnTo>
                  <a:pt x="4325660" y="1235739"/>
                </a:lnTo>
                <a:lnTo>
                  <a:pt x="4345594" y="1235739"/>
                </a:lnTo>
                <a:lnTo>
                  <a:pt x="4365528" y="1235739"/>
                </a:lnTo>
                <a:lnTo>
                  <a:pt x="4385462" y="1235739"/>
                </a:lnTo>
                <a:lnTo>
                  <a:pt x="4405396" y="1235739"/>
                </a:lnTo>
                <a:lnTo>
                  <a:pt x="4425330" y="1235739"/>
                </a:lnTo>
                <a:lnTo>
                  <a:pt x="4445264" y="1235739"/>
                </a:lnTo>
                <a:lnTo>
                  <a:pt x="4465198" y="1235739"/>
                </a:lnTo>
                <a:lnTo>
                  <a:pt x="4485132" y="1235739"/>
                </a:lnTo>
                <a:lnTo>
                  <a:pt x="4505065" y="1235739"/>
                </a:lnTo>
                <a:lnTo>
                  <a:pt x="4524999" y="1235739"/>
                </a:lnTo>
                <a:lnTo>
                  <a:pt x="4544933" y="1235739"/>
                </a:lnTo>
                <a:lnTo>
                  <a:pt x="4564867" y="1235739"/>
                </a:lnTo>
                <a:lnTo>
                  <a:pt x="4584801" y="1235739"/>
                </a:lnTo>
                <a:lnTo>
                  <a:pt x="4604735" y="1235739"/>
                </a:lnTo>
                <a:lnTo>
                  <a:pt x="4624669" y="1235739"/>
                </a:lnTo>
                <a:lnTo>
                  <a:pt x="4644603" y="1235739"/>
                </a:lnTo>
                <a:lnTo>
                  <a:pt x="4664537" y="1235739"/>
                </a:lnTo>
                <a:lnTo>
                  <a:pt x="4684471" y="1235739"/>
                </a:lnTo>
                <a:lnTo>
                  <a:pt x="4704405" y="1235739"/>
                </a:lnTo>
                <a:lnTo>
                  <a:pt x="4724339" y="1235739"/>
                </a:lnTo>
                <a:lnTo>
                  <a:pt x="4744272" y="1235739"/>
                </a:lnTo>
                <a:lnTo>
                  <a:pt x="4764206" y="1235739"/>
                </a:lnTo>
                <a:lnTo>
                  <a:pt x="4784140" y="1235739"/>
                </a:lnTo>
                <a:lnTo>
                  <a:pt x="4804074" y="1235739"/>
                </a:lnTo>
                <a:lnTo>
                  <a:pt x="4824008" y="1235739"/>
                </a:lnTo>
                <a:lnTo>
                  <a:pt x="4843942" y="1235739"/>
                </a:lnTo>
                <a:lnTo>
                  <a:pt x="4863876" y="1235739"/>
                </a:lnTo>
                <a:lnTo>
                  <a:pt x="4883810" y="1235739"/>
                </a:lnTo>
                <a:lnTo>
                  <a:pt x="4903744" y="1235739"/>
                </a:lnTo>
                <a:lnTo>
                  <a:pt x="4923678" y="1235739"/>
                </a:lnTo>
                <a:lnTo>
                  <a:pt x="4943612" y="1235739"/>
                </a:lnTo>
                <a:lnTo>
                  <a:pt x="4963546" y="1235739"/>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5800" y="4617720"/>
            <a:ext cx="516636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縦の差を 二乗して 全時点で足す</a:t>
            </a:r>
          </a:p>
        </p:txBody>
      </p:sp>
      <p:sp>
        <p:nvSpPr>
          <p:cNvPr id="68" name="TextBox 67"/>
          <p:cNvSpPr txBox="1"/>
          <p:nvPr/>
        </p:nvSpPr>
        <p:spPr>
          <a:xfrm>
            <a:off x="685800" y="5029200"/>
            <a:ext cx="5166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ノイズが正規なら 最尤推定と一致</a:t>
            </a:r>
          </a:p>
        </p:txBody>
      </p:sp>
      <p:sp>
        <p:nvSpPr>
          <p:cNvPr id="69" name="Rounded Rectangle 68"/>
          <p:cNvSpPr/>
          <p:nvPr/>
        </p:nvSpPr>
        <p:spPr>
          <a:xfrm>
            <a:off x="6153912" y="1737360"/>
            <a:ext cx="5532120" cy="37947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6336792" y="1883664"/>
            <a:ext cx="5166360" cy="431596"/>
          </a:xfrm>
          <a:prstGeom prst="rect">
            <a:avLst/>
          </a:prstGeom>
          <a:noFill/>
        </p:spPr>
        <p:txBody>
          <a:bodyPr wrap="square" lIns="0" tIns="0" rIns="0" bIns="0" anchor="t">
            <a:spAutoFit/>
          </a:bodyPr>
          <a:lstStyle/>
          <a:p>
            <a:pPr algn="l">
              <a:spcAft>
                <a:spcPts val="0"/>
              </a:spcAft>
            </a:pPr>
            <a:r>
              <a:rPr sz="2400" b="1" dirty="0">
                <a:solidFill>
                  <a:srgbClr val="00A8AA"/>
                </a:solidFill>
                <a:latin typeface="Meiryo"/>
                <a:ea typeface="Meiryo"/>
                <a:cs typeface="Meiryo"/>
              </a:rPr>
              <a:t>探索法の標準</a:t>
            </a:r>
          </a:p>
        </p:txBody>
      </p:sp>
      <p:sp>
        <p:nvSpPr>
          <p:cNvPr id="71" name="TextBox 70"/>
          <p:cNvSpPr txBox="1"/>
          <p:nvPr/>
        </p:nvSpPr>
        <p:spPr>
          <a:xfrm>
            <a:off x="6336792"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Levenberg–Marquardt 法</a:t>
            </a:r>
          </a:p>
        </p:txBody>
      </p:sp>
      <p:sp>
        <p:nvSpPr>
          <p:cNvPr id="5" name="Freeform 4"/>
          <p:cNvSpPr/>
          <p:nvPr/>
        </p:nvSpPr>
        <p:spPr>
          <a:xfrm>
            <a:off x="6355080"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6355080" y="3251507"/>
            <a:ext cx="1457187" cy="743231"/>
          </a:xfrm>
          <a:custGeom>
            <a:avLst/>
            <a:gdLst/>
            <a:ahLst/>
            <a:cxnLst/>
            <a:rect l="l" t="t" r="r" b="b"/>
            <a:pathLst>
              <a:path w="1457187" h="743231">
                <a:moveTo>
                  <a:pt x="0" y="663164"/>
                </a:moveTo>
                <a:lnTo>
                  <a:pt x="5852" y="655375"/>
                </a:lnTo>
                <a:lnTo>
                  <a:pt x="11704" y="647018"/>
                </a:lnTo>
                <a:lnTo>
                  <a:pt x="17556" y="638074"/>
                </a:lnTo>
                <a:lnTo>
                  <a:pt x="23408" y="628526"/>
                </a:lnTo>
                <a:lnTo>
                  <a:pt x="29260" y="618357"/>
                </a:lnTo>
                <a:lnTo>
                  <a:pt x="35112" y="607555"/>
                </a:lnTo>
                <a:lnTo>
                  <a:pt x="40965" y="596110"/>
                </a:lnTo>
                <a:lnTo>
                  <a:pt x="46817" y="584014"/>
                </a:lnTo>
                <a:lnTo>
                  <a:pt x="52669" y="571264"/>
                </a:lnTo>
                <a:lnTo>
                  <a:pt x="58521" y="557859"/>
                </a:lnTo>
                <a:lnTo>
                  <a:pt x="64373" y="543803"/>
                </a:lnTo>
                <a:lnTo>
                  <a:pt x="70225" y="529105"/>
                </a:lnTo>
                <a:lnTo>
                  <a:pt x="76078" y="513778"/>
                </a:lnTo>
                <a:lnTo>
                  <a:pt x="81930" y="497839"/>
                </a:lnTo>
                <a:lnTo>
                  <a:pt x="87782" y="481310"/>
                </a:lnTo>
                <a:lnTo>
                  <a:pt x="93634" y="464219"/>
                </a:lnTo>
                <a:lnTo>
                  <a:pt x="99486" y="446600"/>
                </a:lnTo>
                <a:lnTo>
                  <a:pt x="105338" y="428491"/>
                </a:lnTo>
                <a:lnTo>
                  <a:pt x="111191" y="409935"/>
                </a:lnTo>
                <a:lnTo>
                  <a:pt x="117043" y="390981"/>
                </a:lnTo>
                <a:lnTo>
                  <a:pt x="122895" y="371685"/>
                </a:lnTo>
                <a:lnTo>
                  <a:pt x="128747" y="352104"/>
                </a:lnTo>
                <a:lnTo>
                  <a:pt x="134599" y="332305"/>
                </a:lnTo>
                <a:lnTo>
                  <a:pt x="140451" y="312354"/>
                </a:lnTo>
                <a:lnTo>
                  <a:pt x="146304" y="292327"/>
                </a:lnTo>
                <a:lnTo>
                  <a:pt x="152156" y="272300"/>
                </a:lnTo>
                <a:lnTo>
                  <a:pt x="158008" y="252355"/>
                </a:lnTo>
                <a:lnTo>
                  <a:pt x="163860" y="232574"/>
                </a:lnTo>
                <a:lnTo>
                  <a:pt x="169712" y="213044"/>
                </a:lnTo>
                <a:lnTo>
                  <a:pt x="175564" y="193854"/>
                </a:lnTo>
                <a:lnTo>
                  <a:pt x="181416" y="175093"/>
                </a:lnTo>
                <a:lnTo>
                  <a:pt x="187269" y="156850"/>
                </a:lnTo>
                <a:lnTo>
                  <a:pt x="193121" y="139216"/>
                </a:lnTo>
                <a:lnTo>
                  <a:pt x="198973" y="122279"/>
                </a:lnTo>
                <a:lnTo>
                  <a:pt x="204825" y="106127"/>
                </a:lnTo>
                <a:lnTo>
                  <a:pt x="210677" y="90845"/>
                </a:lnTo>
                <a:lnTo>
                  <a:pt x="216529" y="76514"/>
                </a:lnTo>
                <a:lnTo>
                  <a:pt x="222382" y="63214"/>
                </a:lnTo>
                <a:lnTo>
                  <a:pt x="228234" y="51017"/>
                </a:lnTo>
                <a:lnTo>
                  <a:pt x="234086" y="39991"/>
                </a:lnTo>
                <a:lnTo>
                  <a:pt x="239938" y="30200"/>
                </a:lnTo>
                <a:lnTo>
                  <a:pt x="245790" y="21699"/>
                </a:lnTo>
                <a:lnTo>
                  <a:pt x="251642" y="14537"/>
                </a:lnTo>
                <a:lnTo>
                  <a:pt x="257495" y="8757"/>
                </a:lnTo>
                <a:lnTo>
                  <a:pt x="263347" y="4391"/>
                </a:lnTo>
                <a:lnTo>
                  <a:pt x="269199" y="1467"/>
                </a:lnTo>
                <a:lnTo>
                  <a:pt x="275051" y="0"/>
                </a:lnTo>
                <a:lnTo>
                  <a:pt x="280903" y="0"/>
                </a:lnTo>
                <a:lnTo>
                  <a:pt x="286755" y="1467"/>
                </a:lnTo>
                <a:lnTo>
                  <a:pt x="292608" y="4391"/>
                </a:lnTo>
                <a:lnTo>
                  <a:pt x="298460" y="8757"/>
                </a:lnTo>
                <a:lnTo>
                  <a:pt x="304312" y="14537"/>
                </a:lnTo>
                <a:lnTo>
                  <a:pt x="310164" y="21699"/>
                </a:lnTo>
                <a:lnTo>
                  <a:pt x="316016" y="30200"/>
                </a:lnTo>
                <a:lnTo>
                  <a:pt x="321868" y="39991"/>
                </a:lnTo>
                <a:lnTo>
                  <a:pt x="327720" y="51017"/>
                </a:lnTo>
                <a:lnTo>
                  <a:pt x="333573" y="63214"/>
                </a:lnTo>
                <a:lnTo>
                  <a:pt x="339425" y="76514"/>
                </a:lnTo>
                <a:lnTo>
                  <a:pt x="345277" y="90845"/>
                </a:lnTo>
                <a:lnTo>
                  <a:pt x="351129" y="106127"/>
                </a:lnTo>
                <a:lnTo>
                  <a:pt x="356981" y="122279"/>
                </a:lnTo>
                <a:lnTo>
                  <a:pt x="362833" y="139216"/>
                </a:lnTo>
                <a:lnTo>
                  <a:pt x="368686" y="156850"/>
                </a:lnTo>
                <a:lnTo>
                  <a:pt x="374538" y="175093"/>
                </a:lnTo>
                <a:lnTo>
                  <a:pt x="380390" y="193854"/>
                </a:lnTo>
                <a:lnTo>
                  <a:pt x="386242" y="213044"/>
                </a:lnTo>
                <a:lnTo>
                  <a:pt x="392094" y="232574"/>
                </a:lnTo>
                <a:lnTo>
                  <a:pt x="397946" y="252355"/>
                </a:lnTo>
                <a:lnTo>
                  <a:pt x="403799" y="272300"/>
                </a:lnTo>
                <a:lnTo>
                  <a:pt x="409651" y="292327"/>
                </a:lnTo>
                <a:lnTo>
                  <a:pt x="415503" y="312354"/>
                </a:lnTo>
                <a:lnTo>
                  <a:pt x="421355" y="332305"/>
                </a:lnTo>
                <a:lnTo>
                  <a:pt x="427207" y="352104"/>
                </a:lnTo>
                <a:lnTo>
                  <a:pt x="433059" y="371685"/>
                </a:lnTo>
                <a:lnTo>
                  <a:pt x="438912" y="390981"/>
                </a:lnTo>
                <a:lnTo>
                  <a:pt x="444764" y="409935"/>
                </a:lnTo>
                <a:lnTo>
                  <a:pt x="450616" y="428491"/>
                </a:lnTo>
                <a:lnTo>
                  <a:pt x="456468" y="446600"/>
                </a:lnTo>
                <a:lnTo>
                  <a:pt x="462320" y="464219"/>
                </a:lnTo>
                <a:lnTo>
                  <a:pt x="468172" y="481310"/>
                </a:lnTo>
                <a:lnTo>
                  <a:pt x="474024" y="497839"/>
                </a:lnTo>
                <a:lnTo>
                  <a:pt x="479877" y="513778"/>
                </a:lnTo>
                <a:lnTo>
                  <a:pt x="485729" y="529105"/>
                </a:lnTo>
                <a:lnTo>
                  <a:pt x="491581" y="543803"/>
                </a:lnTo>
                <a:lnTo>
                  <a:pt x="497433" y="557859"/>
                </a:lnTo>
                <a:lnTo>
                  <a:pt x="503285" y="571264"/>
                </a:lnTo>
                <a:lnTo>
                  <a:pt x="509137" y="584014"/>
                </a:lnTo>
                <a:lnTo>
                  <a:pt x="514990" y="596110"/>
                </a:lnTo>
                <a:lnTo>
                  <a:pt x="520842" y="607555"/>
                </a:lnTo>
                <a:lnTo>
                  <a:pt x="526694" y="618357"/>
                </a:lnTo>
                <a:lnTo>
                  <a:pt x="532546" y="628526"/>
                </a:lnTo>
                <a:lnTo>
                  <a:pt x="538398" y="638074"/>
                </a:lnTo>
                <a:lnTo>
                  <a:pt x="544250" y="647018"/>
                </a:lnTo>
                <a:lnTo>
                  <a:pt x="550103" y="655375"/>
                </a:lnTo>
                <a:lnTo>
                  <a:pt x="555955" y="663164"/>
                </a:lnTo>
                <a:lnTo>
                  <a:pt x="561807" y="670407"/>
                </a:lnTo>
                <a:lnTo>
                  <a:pt x="567659" y="677125"/>
                </a:lnTo>
                <a:lnTo>
                  <a:pt x="573511" y="683342"/>
                </a:lnTo>
                <a:lnTo>
                  <a:pt x="579363" y="689082"/>
                </a:lnTo>
                <a:lnTo>
                  <a:pt x="585216" y="694367"/>
                </a:lnTo>
                <a:lnTo>
                  <a:pt x="591068" y="699224"/>
                </a:lnTo>
                <a:lnTo>
                  <a:pt x="596920" y="703677"/>
                </a:lnTo>
                <a:lnTo>
                  <a:pt x="602772" y="707749"/>
                </a:lnTo>
                <a:lnTo>
                  <a:pt x="608624" y="711464"/>
                </a:lnTo>
                <a:lnTo>
                  <a:pt x="614476" y="714847"/>
                </a:lnTo>
                <a:lnTo>
                  <a:pt x="620328" y="717920"/>
                </a:lnTo>
                <a:lnTo>
                  <a:pt x="626181" y="720704"/>
                </a:lnTo>
                <a:lnTo>
                  <a:pt x="632033" y="723222"/>
                </a:lnTo>
                <a:lnTo>
                  <a:pt x="637885" y="725493"/>
                </a:lnTo>
                <a:lnTo>
                  <a:pt x="643737" y="727538"/>
                </a:lnTo>
                <a:lnTo>
                  <a:pt x="649589" y="729374"/>
                </a:lnTo>
                <a:lnTo>
                  <a:pt x="655441" y="731020"/>
                </a:lnTo>
                <a:lnTo>
                  <a:pt x="661294" y="732491"/>
                </a:lnTo>
                <a:lnTo>
                  <a:pt x="667146" y="733804"/>
                </a:lnTo>
                <a:lnTo>
                  <a:pt x="672998" y="734972"/>
                </a:lnTo>
                <a:lnTo>
                  <a:pt x="678850" y="736010"/>
                </a:lnTo>
                <a:lnTo>
                  <a:pt x="684702" y="736930"/>
                </a:lnTo>
                <a:lnTo>
                  <a:pt x="690554" y="737744"/>
                </a:lnTo>
                <a:lnTo>
                  <a:pt x="696407" y="738462"/>
                </a:lnTo>
                <a:lnTo>
                  <a:pt x="702259" y="739094"/>
                </a:lnTo>
                <a:lnTo>
                  <a:pt x="708111" y="739650"/>
                </a:lnTo>
                <a:lnTo>
                  <a:pt x="713963" y="740137"/>
                </a:lnTo>
                <a:lnTo>
                  <a:pt x="719815" y="740563"/>
                </a:lnTo>
                <a:lnTo>
                  <a:pt x="725667" y="740935"/>
                </a:lnTo>
                <a:lnTo>
                  <a:pt x="731520" y="741259"/>
                </a:lnTo>
                <a:lnTo>
                  <a:pt x="737372" y="741540"/>
                </a:lnTo>
                <a:lnTo>
                  <a:pt x="743224" y="741785"/>
                </a:lnTo>
                <a:lnTo>
                  <a:pt x="749076" y="741996"/>
                </a:lnTo>
                <a:lnTo>
                  <a:pt x="754928" y="742179"/>
                </a:lnTo>
                <a:lnTo>
                  <a:pt x="760780" y="742336"/>
                </a:lnTo>
                <a:lnTo>
                  <a:pt x="766632" y="742471"/>
                </a:lnTo>
                <a:lnTo>
                  <a:pt x="772485" y="742588"/>
                </a:lnTo>
                <a:lnTo>
                  <a:pt x="778337" y="742687"/>
                </a:lnTo>
                <a:lnTo>
                  <a:pt x="784189" y="742772"/>
                </a:lnTo>
                <a:lnTo>
                  <a:pt x="790041" y="742844"/>
                </a:lnTo>
                <a:lnTo>
                  <a:pt x="795893" y="742906"/>
                </a:lnTo>
                <a:lnTo>
                  <a:pt x="801745" y="742959"/>
                </a:lnTo>
                <a:lnTo>
                  <a:pt x="807598" y="743003"/>
                </a:lnTo>
                <a:lnTo>
                  <a:pt x="813450" y="743040"/>
                </a:lnTo>
                <a:lnTo>
                  <a:pt x="819302" y="743072"/>
                </a:lnTo>
                <a:lnTo>
                  <a:pt x="825154" y="743099"/>
                </a:lnTo>
                <a:lnTo>
                  <a:pt x="831006" y="743121"/>
                </a:lnTo>
                <a:lnTo>
                  <a:pt x="836858" y="743140"/>
                </a:lnTo>
                <a:lnTo>
                  <a:pt x="842711" y="743156"/>
                </a:lnTo>
                <a:lnTo>
                  <a:pt x="848563" y="743169"/>
                </a:lnTo>
                <a:lnTo>
                  <a:pt x="854415" y="743180"/>
                </a:lnTo>
                <a:lnTo>
                  <a:pt x="860267" y="743189"/>
                </a:lnTo>
                <a:lnTo>
                  <a:pt x="866119" y="743196"/>
                </a:lnTo>
                <a:lnTo>
                  <a:pt x="871971" y="743203"/>
                </a:lnTo>
                <a:lnTo>
                  <a:pt x="877824" y="743208"/>
                </a:lnTo>
                <a:lnTo>
                  <a:pt x="883676" y="743212"/>
                </a:lnTo>
                <a:lnTo>
                  <a:pt x="889528" y="743216"/>
                </a:lnTo>
                <a:lnTo>
                  <a:pt x="895380" y="743219"/>
                </a:lnTo>
                <a:lnTo>
                  <a:pt x="901232" y="743221"/>
                </a:lnTo>
                <a:lnTo>
                  <a:pt x="907084" y="743223"/>
                </a:lnTo>
                <a:lnTo>
                  <a:pt x="912936" y="743224"/>
                </a:lnTo>
                <a:lnTo>
                  <a:pt x="918789" y="743226"/>
                </a:lnTo>
                <a:lnTo>
                  <a:pt x="924641" y="743227"/>
                </a:lnTo>
                <a:lnTo>
                  <a:pt x="930493" y="743228"/>
                </a:lnTo>
                <a:lnTo>
                  <a:pt x="936345" y="743228"/>
                </a:lnTo>
                <a:lnTo>
                  <a:pt x="942197" y="743229"/>
                </a:lnTo>
                <a:lnTo>
                  <a:pt x="948049" y="743229"/>
                </a:lnTo>
                <a:lnTo>
                  <a:pt x="953902" y="743230"/>
                </a:lnTo>
                <a:lnTo>
                  <a:pt x="959754" y="743230"/>
                </a:lnTo>
                <a:lnTo>
                  <a:pt x="965606" y="743230"/>
                </a:lnTo>
                <a:lnTo>
                  <a:pt x="971458" y="743230"/>
                </a:lnTo>
                <a:lnTo>
                  <a:pt x="977310" y="743230"/>
                </a:lnTo>
                <a:lnTo>
                  <a:pt x="983162" y="743231"/>
                </a:lnTo>
                <a:lnTo>
                  <a:pt x="989015" y="743231"/>
                </a:lnTo>
                <a:lnTo>
                  <a:pt x="994867" y="743231"/>
                </a:lnTo>
                <a:lnTo>
                  <a:pt x="1000719" y="743231"/>
                </a:lnTo>
                <a:lnTo>
                  <a:pt x="1006571" y="743231"/>
                </a:lnTo>
                <a:lnTo>
                  <a:pt x="1012423" y="743231"/>
                </a:lnTo>
                <a:lnTo>
                  <a:pt x="1018275" y="743231"/>
                </a:lnTo>
                <a:lnTo>
                  <a:pt x="1024128" y="743231"/>
                </a:lnTo>
                <a:lnTo>
                  <a:pt x="1029980" y="743231"/>
                </a:lnTo>
                <a:lnTo>
                  <a:pt x="1035832" y="743231"/>
                </a:lnTo>
                <a:lnTo>
                  <a:pt x="1041684" y="743231"/>
                </a:lnTo>
                <a:lnTo>
                  <a:pt x="1047536" y="743231"/>
                </a:lnTo>
                <a:lnTo>
                  <a:pt x="1053388" y="743231"/>
                </a:lnTo>
                <a:lnTo>
                  <a:pt x="1059240" y="743231"/>
                </a:lnTo>
                <a:lnTo>
                  <a:pt x="1065093" y="743231"/>
                </a:lnTo>
                <a:lnTo>
                  <a:pt x="1070945" y="743231"/>
                </a:lnTo>
                <a:lnTo>
                  <a:pt x="1076797" y="743231"/>
                </a:lnTo>
                <a:lnTo>
                  <a:pt x="1082649" y="743231"/>
                </a:lnTo>
                <a:lnTo>
                  <a:pt x="1088501" y="743231"/>
                </a:lnTo>
                <a:lnTo>
                  <a:pt x="1094353" y="743231"/>
                </a:lnTo>
                <a:lnTo>
                  <a:pt x="1100206" y="743231"/>
                </a:lnTo>
                <a:lnTo>
                  <a:pt x="1106058" y="743231"/>
                </a:lnTo>
                <a:lnTo>
                  <a:pt x="1111910" y="743231"/>
                </a:lnTo>
                <a:lnTo>
                  <a:pt x="1117762" y="743231"/>
                </a:lnTo>
                <a:lnTo>
                  <a:pt x="1123614" y="743231"/>
                </a:lnTo>
                <a:lnTo>
                  <a:pt x="1129466" y="743231"/>
                </a:lnTo>
                <a:lnTo>
                  <a:pt x="1135319" y="743231"/>
                </a:lnTo>
                <a:lnTo>
                  <a:pt x="1141171" y="743231"/>
                </a:lnTo>
                <a:lnTo>
                  <a:pt x="1147023" y="743231"/>
                </a:lnTo>
                <a:lnTo>
                  <a:pt x="1152875" y="743231"/>
                </a:lnTo>
                <a:lnTo>
                  <a:pt x="1158727" y="743231"/>
                </a:lnTo>
                <a:lnTo>
                  <a:pt x="1164579" y="743231"/>
                </a:lnTo>
                <a:lnTo>
                  <a:pt x="1170432" y="743231"/>
                </a:lnTo>
                <a:lnTo>
                  <a:pt x="1176284" y="743231"/>
                </a:lnTo>
                <a:lnTo>
                  <a:pt x="1182136" y="743231"/>
                </a:lnTo>
                <a:lnTo>
                  <a:pt x="1187988" y="743231"/>
                </a:lnTo>
                <a:lnTo>
                  <a:pt x="1193840" y="743231"/>
                </a:lnTo>
                <a:lnTo>
                  <a:pt x="1199692" y="743231"/>
                </a:lnTo>
                <a:lnTo>
                  <a:pt x="1205544" y="743231"/>
                </a:lnTo>
                <a:lnTo>
                  <a:pt x="1211397" y="743231"/>
                </a:lnTo>
                <a:lnTo>
                  <a:pt x="1217249" y="743231"/>
                </a:lnTo>
                <a:lnTo>
                  <a:pt x="1223101" y="743231"/>
                </a:lnTo>
                <a:lnTo>
                  <a:pt x="1228953" y="743231"/>
                </a:lnTo>
                <a:lnTo>
                  <a:pt x="1234805" y="743231"/>
                </a:lnTo>
                <a:lnTo>
                  <a:pt x="1240657" y="743231"/>
                </a:lnTo>
                <a:lnTo>
                  <a:pt x="1246510" y="743231"/>
                </a:lnTo>
                <a:lnTo>
                  <a:pt x="1252362" y="743231"/>
                </a:lnTo>
                <a:lnTo>
                  <a:pt x="1258214" y="743231"/>
                </a:lnTo>
                <a:lnTo>
                  <a:pt x="1264066" y="743231"/>
                </a:lnTo>
                <a:lnTo>
                  <a:pt x="1269918" y="743231"/>
                </a:lnTo>
                <a:lnTo>
                  <a:pt x="1275770" y="743231"/>
                </a:lnTo>
                <a:lnTo>
                  <a:pt x="1281623" y="743231"/>
                </a:lnTo>
                <a:lnTo>
                  <a:pt x="1287475" y="743231"/>
                </a:lnTo>
                <a:lnTo>
                  <a:pt x="1293327" y="743231"/>
                </a:lnTo>
                <a:lnTo>
                  <a:pt x="1299179" y="743231"/>
                </a:lnTo>
                <a:lnTo>
                  <a:pt x="1305031" y="743231"/>
                </a:lnTo>
                <a:lnTo>
                  <a:pt x="1310883" y="743231"/>
                </a:lnTo>
                <a:lnTo>
                  <a:pt x="1316736" y="743231"/>
                </a:lnTo>
                <a:lnTo>
                  <a:pt x="1322588" y="743231"/>
                </a:lnTo>
                <a:lnTo>
                  <a:pt x="1328440" y="743231"/>
                </a:lnTo>
                <a:lnTo>
                  <a:pt x="1334292" y="743231"/>
                </a:lnTo>
                <a:lnTo>
                  <a:pt x="1340144" y="743231"/>
                </a:lnTo>
                <a:lnTo>
                  <a:pt x="1345996" y="743231"/>
                </a:lnTo>
                <a:lnTo>
                  <a:pt x="1351848" y="743231"/>
                </a:lnTo>
                <a:lnTo>
                  <a:pt x="1357701" y="743231"/>
                </a:lnTo>
                <a:lnTo>
                  <a:pt x="1363553" y="743231"/>
                </a:lnTo>
                <a:lnTo>
                  <a:pt x="1369405" y="743231"/>
                </a:lnTo>
                <a:lnTo>
                  <a:pt x="1375257" y="743231"/>
                </a:lnTo>
                <a:lnTo>
                  <a:pt x="1381109" y="743231"/>
                </a:lnTo>
                <a:lnTo>
                  <a:pt x="1386961" y="743231"/>
                </a:lnTo>
                <a:lnTo>
                  <a:pt x="1392814" y="743231"/>
                </a:lnTo>
                <a:lnTo>
                  <a:pt x="1398666" y="743231"/>
                </a:lnTo>
                <a:lnTo>
                  <a:pt x="1404518" y="743231"/>
                </a:lnTo>
                <a:lnTo>
                  <a:pt x="1410370" y="743231"/>
                </a:lnTo>
                <a:lnTo>
                  <a:pt x="1416222" y="743231"/>
                </a:lnTo>
                <a:lnTo>
                  <a:pt x="1422074" y="743231"/>
                </a:lnTo>
                <a:lnTo>
                  <a:pt x="1427927" y="743231"/>
                </a:lnTo>
                <a:lnTo>
                  <a:pt x="1433779" y="743231"/>
                </a:lnTo>
                <a:lnTo>
                  <a:pt x="1439631" y="743231"/>
                </a:lnTo>
                <a:lnTo>
                  <a:pt x="1445483" y="743231"/>
                </a:lnTo>
                <a:lnTo>
                  <a:pt x="1451335" y="743231"/>
                </a:lnTo>
                <a:lnTo>
                  <a:pt x="1457187" y="743231"/>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6355080" y="3715958"/>
            <a:ext cx="1457187" cy="278780"/>
          </a:xfrm>
          <a:custGeom>
            <a:avLst/>
            <a:gdLst/>
            <a:ahLst/>
            <a:cxnLst/>
            <a:rect l="l" t="t" r="r" b="b"/>
            <a:pathLst>
              <a:path w="1457187" h="278780">
                <a:moveTo>
                  <a:pt x="0" y="277702"/>
                </a:moveTo>
                <a:lnTo>
                  <a:pt x="5852" y="277531"/>
                </a:lnTo>
                <a:lnTo>
                  <a:pt x="11704" y="277336"/>
                </a:lnTo>
                <a:lnTo>
                  <a:pt x="17556" y="277114"/>
                </a:lnTo>
                <a:lnTo>
                  <a:pt x="23408" y="276861"/>
                </a:lnTo>
                <a:lnTo>
                  <a:pt x="29260" y="276575"/>
                </a:lnTo>
                <a:lnTo>
                  <a:pt x="35112" y="276250"/>
                </a:lnTo>
                <a:lnTo>
                  <a:pt x="40965" y="275884"/>
                </a:lnTo>
                <a:lnTo>
                  <a:pt x="46817" y="275470"/>
                </a:lnTo>
                <a:lnTo>
                  <a:pt x="52669" y="275006"/>
                </a:lnTo>
                <a:lnTo>
                  <a:pt x="58521" y="274484"/>
                </a:lnTo>
                <a:lnTo>
                  <a:pt x="64373" y="273901"/>
                </a:lnTo>
                <a:lnTo>
                  <a:pt x="70225" y="273249"/>
                </a:lnTo>
                <a:lnTo>
                  <a:pt x="76078" y="272522"/>
                </a:lnTo>
                <a:lnTo>
                  <a:pt x="81930" y="271714"/>
                </a:lnTo>
                <a:lnTo>
                  <a:pt x="87782" y="270817"/>
                </a:lnTo>
                <a:lnTo>
                  <a:pt x="93634" y="269823"/>
                </a:lnTo>
                <a:lnTo>
                  <a:pt x="99486" y="268726"/>
                </a:lnTo>
                <a:lnTo>
                  <a:pt x="105338" y="267517"/>
                </a:lnTo>
                <a:lnTo>
                  <a:pt x="111191" y="266187"/>
                </a:lnTo>
                <a:lnTo>
                  <a:pt x="117043" y="264728"/>
                </a:lnTo>
                <a:lnTo>
                  <a:pt x="122895" y="263131"/>
                </a:lnTo>
                <a:lnTo>
                  <a:pt x="128747" y="261386"/>
                </a:lnTo>
                <a:lnTo>
                  <a:pt x="134599" y="259486"/>
                </a:lnTo>
                <a:lnTo>
                  <a:pt x="140451" y="257420"/>
                </a:lnTo>
                <a:lnTo>
                  <a:pt x="146304" y="255179"/>
                </a:lnTo>
                <a:lnTo>
                  <a:pt x="152156" y="252755"/>
                </a:lnTo>
                <a:lnTo>
                  <a:pt x="158008" y="250138"/>
                </a:lnTo>
                <a:lnTo>
                  <a:pt x="163860" y="247321"/>
                </a:lnTo>
                <a:lnTo>
                  <a:pt x="169712" y="244294"/>
                </a:lnTo>
                <a:lnTo>
                  <a:pt x="175564" y="241051"/>
                </a:lnTo>
                <a:lnTo>
                  <a:pt x="181416" y="237585"/>
                </a:lnTo>
                <a:lnTo>
                  <a:pt x="187269" y="233888"/>
                </a:lnTo>
                <a:lnTo>
                  <a:pt x="193121" y="229957"/>
                </a:lnTo>
                <a:lnTo>
                  <a:pt x="198973" y="225786"/>
                </a:lnTo>
                <a:lnTo>
                  <a:pt x="204825" y="221372"/>
                </a:lnTo>
                <a:lnTo>
                  <a:pt x="210677" y="216714"/>
                </a:lnTo>
                <a:lnTo>
                  <a:pt x="216529" y="211810"/>
                </a:lnTo>
                <a:lnTo>
                  <a:pt x="222382" y="206660"/>
                </a:lnTo>
                <a:lnTo>
                  <a:pt x="228234" y="201269"/>
                </a:lnTo>
                <a:lnTo>
                  <a:pt x="234086" y="195638"/>
                </a:lnTo>
                <a:lnTo>
                  <a:pt x="239938" y="189775"/>
                </a:lnTo>
                <a:lnTo>
                  <a:pt x="245790" y="183686"/>
                </a:lnTo>
                <a:lnTo>
                  <a:pt x="251642" y="177381"/>
                </a:lnTo>
                <a:lnTo>
                  <a:pt x="257495" y="170871"/>
                </a:lnTo>
                <a:lnTo>
                  <a:pt x="263347" y="164170"/>
                </a:lnTo>
                <a:lnTo>
                  <a:pt x="269199" y="157293"/>
                </a:lnTo>
                <a:lnTo>
                  <a:pt x="275051" y="150258"/>
                </a:lnTo>
                <a:lnTo>
                  <a:pt x="280903" y="143083"/>
                </a:lnTo>
                <a:lnTo>
                  <a:pt x="286755" y="135791"/>
                </a:lnTo>
                <a:lnTo>
                  <a:pt x="292608" y="128404"/>
                </a:lnTo>
                <a:lnTo>
                  <a:pt x="298460" y="120947"/>
                </a:lnTo>
                <a:lnTo>
                  <a:pt x="304312" y="113448"/>
                </a:lnTo>
                <a:lnTo>
                  <a:pt x="310164" y="105934"/>
                </a:lnTo>
                <a:lnTo>
                  <a:pt x="316016" y="98435"/>
                </a:lnTo>
                <a:lnTo>
                  <a:pt x="321868" y="90983"/>
                </a:lnTo>
                <a:lnTo>
                  <a:pt x="327720" y="83608"/>
                </a:lnTo>
                <a:lnTo>
                  <a:pt x="333573" y="76344"/>
                </a:lnTo>
                <a:lnTo>
                  <a:pt x="339425" y="69224"/>
                </a:lnTo>
                <a:lnTo>
                  <a:pt x="345277" y="62281"/>
                </a:lnTo>
                <a:lnTo>
                  <a:pt x="351129" y="55550"/>
                </a:lnTo>
                <a:lnTo>
                  <a:pt x="356981" y="49064"/>
                </a:lnTo>
                <a:lnTo>
                  <a:pt x="362833" y="42856"/>
                </a:lnTo>
                <a:lnTo>
                  <a:pt x="368686" y="36958"/>
                </a:lnTo>
                <a:lnTo>
                  <a:pt x="374538" y="31402"/>
                </a:lnTo>
                <a:lnTo>
                  <a:pt x="380390" y="26217"/>
                </a:lnTo>
                <a:lnTo>
                  <a:pt x="386242" y="21433"/>
                </a:lnTo>
                <a:lnTo>
                  <a:pt x="392094" y="17076"/>
                </a:lnTo>
                <a:lnTo>
                  <a:pt x="397946" y="13170"/>
                </a:lnTo>
                <a:lnTo>
                  <a:pt x="403799" y="9738"/>
                </a:lnTo>
                <a:lnTo>
                  <a:pt x="409651" y="6799"/>
                </a:lnTo>
                <a:lnTo>
                  <a:pt x="415503" y="4370"/>
                </a:lnTo>
                <a:lnTo>
                  <a:pt x="421355" y="2467"/>
                </a:lnTo>
                <a:lnTo>
                  <a:pt x="427207" y="1099"/>
                </a:lnTo>
                <a:lnTo>
                  <a:pt x="433059" y="275"/>
                </a:lnTo>
                <a:lnTo>
                  <a:pt x="438912" y="0"/>
                </a:lnTo>
                <a:lnTo>
                  <a:pt x="444764" y="275"/>
                </a:lnTo>
                <a:lnTo>
                  <a:pt x="450616" y="1099"/>
                </a:lnTo>
                <a:lnTo>
                  <a:pt x="456468" y="2467"/>
                </a:lnTo>
                <a:lnTo>
                  <a:pt x="462320" y="4370"/>
                </a:lnTo>
                <a:lnTo>
                  <a:pt x="468172" y="6799"/>
                </a:lnTo>
                <a:lnTo>
                  <a:pt x="474024" y="9738"/>
                </a:lnTo>
                <a:lnTo>
                  <a:pt x="479877" y="13170"/>
                </a:lnTo>
                <a:lnTo>
                  <a:pt x="485729" y="17076"/>
                </a:lnTo>
                <a:lnTo>
                  <a:pt x="491581" y="21433"/>
                </a:lnTo>
                <a:lnTo>
                  <a:pt x="497433" y="26217"/>
                </a:lnTo>
                <a:lnTo>
                  <a:pt x="503285" y="31402"/>
                </a:lnTo>
                <a:lnTo>
                  <a:pt x="509137" y="36958"/>
                </a:lnTo>
                <a:lnTo>
                  <a:pt x="514990" y="42856"/>
                </a:lnTo>
                <a:lnTo>
                  <a:pt x="520842" y="49064"/>
                </a:lnTo>
                <a:lnTo>
                  <a:pt x="526694" y="55550"/>
                </a:lnTo>
                <a:lnTo>
                  <a:pt x="532546" y="62281"/>
                </a:lnTo>
                <a:lnTo>
                  <a:pt x="538398" y="69224"/>
                </a:lnTo>
                <a:lnTo>
                  <a:pt x="544250" y="76344"/>
                </a:lnTo>
                <a:lnTo>
                  <a:pt x="550103" y="83608"/>
                </a:lnTo>
                <a:lnTo>
                  <a:pt x="555955" y="90983"/>
                </a:lnTo>
                <a:lnTo>
                  <a:pt x="561807" y="98435"/>
                </a:lnTo>
                <a:lnTo>
                  <a:pt x="567659" y="105934"/>
                </a:lnTo>
                <a:lnTo>
                  <a:pt x="573511" y="113448"/>
                </a:lnTo>
                <a:lnTo>
                  <a:pt x="579363" y="120947"/>
                </a:lnTo>
                <a:lnTo>
                  <a:pt x="585216" y="128404"/>
                </a:lnTo>
                <a:lnTo>
                  <a:pt x="591068" y="135791"/>
                </a:lnTo>
                <a:lnTo>
                  <a:pt x="596920" y="143083"/>
                </a:lnTo>
                <a:lnTo>
                  <a:pt x="602772" y="150258"/>
                </a:lnTo>
                <a:lnTo>
                  <a:pt x="608624" y="157293"/>
                </a:lnTo>
                <a:lnTo>
                  <a:pt x="614476" y="164170"/>
                </a:lnTo>
                <a:lnTo>
                  <a:pt x="620328" y="170871"/>
                </a:lnTo>
                <a:lnTo>
                  <a:pt x="626181" y="177381"/>
                </a:lnTo>
                <a:lnTo>
                  <a:pt x="632033" y="183686"/>
                </a:lnTo>
                <a:lnTo>
                  <a:pt x="637885" y="189775"/>
                </a:lnTo>
                <a:lnTo>
                  <a:pt x="643737" y="195638"/>
                </a:lnTo>
                <a:lnTo>
                  <a:pt x="649589" y="201269"/>
                </a:lnTo>
                <a:lnTo>
                  <a:pt x="655441" y="206660"/>
                </a:lnTo>
                <a:lnTo>
                  <a:pt x="661294" y="211810"/>
                </a:lnTo>
                <a:lnTo>
                  <a:pt x="667146" y="216714"/>
                </a:lnTo>
                <a:lnTo>
                  <a:pt x="672998" y="221372"/>
                </a:lnTo>
                <a:lnTo>
                  <a:pt x="678850" y="225786"/>
                </a:lnTo>
                <a:lnTo>
                  <a:pt x="684702" y="229957"/>
                </a:lnTo>
                <a:lnTo>
                  <a:pt x="690554" y="233888"/>
                </a:lnTo>
                <a:lnTo>
                  <a:pt x="696407" y="237585"/>
                </a:lnTo>
                <a:lnTo>
                  <a:pt x="702259" y="241051"/>
                </a:lnTo>
                <a:lnTo>
                  <a:pt x="708111" y="244294"/>
                </a:lnTo>
                <a:lnTo>
                  <a:pt x="713963" y="247321"/>
                </a:lnTo>
                <a:lnTo>
                  <a:pt x="719815" y="250138"/>
                </a:lnTo>
                <a:lnTo>
                  <a:pt x="725667" y="252755"/>
                </a:lnTo>
                <a:lnTo>
                  <a:pt x="731520" y="255179"/>
                </a:lnTo>
                <a:lnTo>
                  <a:pt x="737372" y="257420"/>
                </a:lnTo>
                <a:lnTo>
                  <a:pt x="743224" y="259486"/>
                </a:lnTo>
                <a:lnTo>
                  <a:pt x="749076" y="261386"/>
                </a:lnTo>
                <a:lnTo>
                  <a:pt x="754928" y="263131"/>
                </a:lnTo>
                <a:lnTo>
                  <a:pt x="760780" y="264728"/>
                </a:lnTo>
                <a:lnTo>
                  <a:pt x="766632" y="266187"/>
                </a:lnTo>
                <a:lnTo>
                  <a:pt x="772485" y="267517"/>
                </a:lnTo>
                <a:lnTo>
                  <a:pt x="778337" y="268726"/>
                </a:lnTo>
                <a:lnTo>
                  <a:pt x="784189" y="269823"/>
                </a:lnTo>
                <a:lnTo>
                  <a:pt x="790041" y="270817"/>
                </a:lnTo>
                <a:lnTo>
                  <a:pt x="795893" y="271714"/>
                </a:lnTo>
                <a:lnTo>
                  <a:pt x="801745" y="272522"/>
                </a:lnTo>
                <a:lnTo>
                  <a:pt x="807598" y="273249"/>
                </a:lnTo>
                <a:lnTo>
                  <a:pt x="813450" y="273901"/>
                </a:lnTo>
                <a:lnTo>
                  <a:pt x="819302" y="274484"/>
                </a:lnTo>
                <a:lnTo>
                  <a:pt x="825154" y="275006"/>
                </a:lnTo>
                <a:lnTo>
                  <a:pt x="831006" y="275470"/>
                </a:lnTo>
                <a:lnTo>
                  <a:pt x="836858" y="275884"/>
                </a:lnTo>
                <a:lnTo>
                  <a:pt x="842711" y="276250"/>
                </a:lnTo>
                <a:lnTo>
                  <a:pt x="848563" y="276575"/>
                </a:lnTo>
                <a:lnTo>
                  <a:pt x="854415" y="276861"/>
                </a:lnTo>
                <a:lnTo>
                  <a:pt x="860267" y="277114"/>
                </a:lnTo>
                <a:lnTo>
                  <a:pt x="866119" y="277336"/>
                </a:lnTo>
                <a:lnTo>
                  <a:pt x="871971" y="277531"/>
                </a:lnTo>
                <a:lnTo>
                  <a:pt x="877824" y="277702"/>
                </a:lnTo>
                <a:lnTo>
                  <a:pt x="883676" y="277852"/>
                </a:lnTo>
                <a:lnTo>
                  <a:pt x="889528" y="277982"/>
                </a:lnTo>
                <a:lnTo>
                  <a:pt x="895380" y="278095"/>
                </a:lnTo>
                <a:lnTo>
                  <a:pt x="901232" y="278194"/>
                </a:lnTo>
                <a:lnTo>
                  <a:pt x="907084" y="278279"/>
                </a:lnTo>
                <a:lnTo>
                  <a:pt x="912936" y="278352"/>
                </a:lnTo>
                <a:lnTo>
                  <a:pt x="918789" y="278416"/>
                </a:lnTo>
                <a:lnTo>
                  <a:pt x="924641" y="278471"/>
                </a:lnTo>
                <a:lnTo>
                  <a:pt x="930493" y="278518"/>
                </a:lnTo>
                <a:lnTo>
                  <a:pt x="936345" y="278558"/>
                </a:lnTo>
                <a:lnTo>
                  <a:pt x="942197" y="278593"/>
                </a:lnTo>
                <a:lnTo>
                  <a:pt x="948049" y="278622"/>
                </a:lnTo>
                <a:lnTo>
                  <a:pt x="953902" y="278647"/>
                </a:lnTo>
                <a:lnTo>
                  <a:pt x="959754" y="278668"/>
                </a:lnTo>
                <a:lnTo>
                  <a:pt x="965606" y="278687"/>
                </a:lnTo>
                <a:lnTo>
                  <a:pt x="971458" y="278702"/>
                </a:lnTo>
                <a:lnTo>
                  <a:pt x="977310" y="278715"/>
                </a:lnTo>
                <a:lnTo>
                  <a:pt x="983162" y="278726"/>
                </a:lnTo>
                <a:lnTo>
                  <a:pt x="989015" y="278735"/>
                </a:lnTo>
                <a:lnTo>
                  <a:pt x="994867" y="278743"/>
                </a:lnTo>
                <a:lnTo>
                  <a:pt x="1000719" y="278749"/>
                </a:lnTo>
                <a:lnTo>
                  <a:pt x="1006571" y="278754"/>
                </a:lnTo>
                <a:lnTo>
                  <a:pt x="1012423" y="278759"/>
                </a:lnTo>
                <a:lnTo>
                  <a:pt x="1018275" y="278763"/>
                </a:lnTo>
                <a:lnTo>
                  <a:pt x="1024128" y="278766"/>
                </a:lnTo>
                <a:lnTo>
                  <a:pt x="1029980" y="278768"/>
                </a:lnTo>
                <a:lnTo>
                  <a:pt x="1035832" y="278770"/>
                </a:lnTo>
                <a:lnTo>
                  <a:pt x="1041684" y="278772"/>
                </a:lnTo>
                <a:lnTo>
                  <a:pt x="1047536" y="278774"/>
                </a:lnTo>
                <a:lnTo>
                  <a:pt x="1053388" y="278775"/>
                </a:lnTo>
                <a:lnTo>
                  <a:pt x="1059240" y="278776"/>
                </a:lnTo>
                <a:lnTo>
                  <a:pt x="1065093" y="278777"/>
                </a:lnTo>
                <a:lnTo>
                  <a:pt x="1070945" y="278777"/>
                </a:lnTo>
                <a:lnTo>
                  <a:pt x="1076797" y="278778"/>
                </a:lnTo>
                <a:lnTo>
                  <a:pt x="1082649" y="278778"/>
                </a:lnTo>
                <a:lnTo>
                  <a:pt x="1088501" y="278779"/>
                </a:lnTo>
                <a:lnTo>
                  <a:pt x="1094353" y="278779"/>
                </a:lnTo>
                <a:lnTo>
                  <a:pt x="1100206" y="278779"/>
                </a:lnTo>
                <a:lnTo>
                  <a:pt x="1106058" y="278779"/>
                </a:lnTo>
                <a:lnTo>
                  <a:pt x="1111910" y="278779"/>
                </a:lnTo>
                <a:lnTo>
                  <a:pt x="1117762" y="278780"/>
                </a:lnTo>
                <a:lnTo>
                  <a:pt x="1123614" y="278780"/>
                </a:lnTo>
                <a:lnTo>
                  <a:pt x="1129466" y="278780"/>
                </a:lnTo>
                <a:lnTo>
                  <a:pt x="1135319" y="278780"/>
                </a:lnTo>
                <a:lnTo>
                  <a:pt x="1141171" y="278780"/>
                </a:lnTo>
                <a:lnTo>
                  <a:pt x="1147023" y="278780"/>
                </a:lnTo>
                <a:lnTo>
                  <a:pt x="1152875" y="278780"/>
                </a:lnTo>
                <a:lnTo>
                  <a:pt x="1158727" y="278780"/>
                </a:lnTo>
                <a:lnTo>
                  <a:pt x="1164579" y="278780"/>
                </a:lnTo>
                <a:lnTo>
                  <a:pt x="1170432" y="278780"/>
                </a:lnTo>
                <a:lnTo>
                  <a:pt x="1176284" y="278780"/>
                </a:lnTo>
                <a:lnTo>
                  <a:pt x="1182136" y="278780"/>
                </a:lnTo>
                <a:lnTo>
                  <a:pt x="1187988" y="278780"/>
                </a:lnTo>
                <a:lnTo>
                  <a:pt x="1193840" y="278780"/>
                </a:lnTo>
                <a:lnTo>
                  <a:pt x="1199692" y="278780"/>
                </a:lnTo>
                <a:lnTo>
                  <a:pt x="1205544" y="278780"/>
                </a:lnTo>
                <a:lnTo>
                  <a:pt x="1211397" y="278780"/>
                </a:lnTo>
                <a:lnTo>
                  <a:pt x="1217249" y="278780"/>
                </a:lnTo>
                <a:lnTo>
                  <a:pt x="1223101" y="278780"/>
                </a:lnTo>
                <a:lnTo>
                  <a:pt x="1228953" y="278780"/>
                </a:lnTo>
                <a:lnTo>
                  <a:pt x="1234805" y="278780"/>
                </a:lnTo>
                <a:lnTo>
                  <a:pt x="1240657" y="278780"/>
                </a:lnTo>
                <a:lnTo>
                  <a:pt x="1246510" y="278780"/>
                </a:lnTo>
                <a:lnTo>
                  <a:pt x="1252362" y="278780"/>
                </a:lnTo>
                <a:lnTo>
                  <a:pt x="1258214" y="278780"/>
                </a:lnTo>
                <a:lnTo>
                  <a:pt x="1264066" y="278780"/>
                </a:lnTo>
                <a:lnTo>
                  <a:pt x="1269918" y="278780"/>
                </a:lnTo>
                <a:lnTo>
                  <a:pt x="1275770" y="278780"/>
                </a:lnTo>
                <a:lnTo>
                  <a:pt x="1281623" y="278780"/>
                </a:lnTo>
                <a:lnTo>
                  <a:pt x="1287475" y="278780"/>
                </a:lnTo>
                <a:lnTo>
                  <a:pt x="1293327" y="278780"/>
                </a:lnTo>
                <a:lnTo>
                  <a:pt x="1299179" y="278780"/>
                </a:lnTo>
                <a:lnTo>
                  <a:pt x="1305031" y="278780"/>
                </a:lnTo>
                <a:lnTo>
                  <a:pt x="1310883" y="278780"/>
                </a:lnTo>
                <a:lnTo>
                  <a:pt x="1316736" y="278780"/>
                </a:lnTo>
                <a:lnTo>
                  <a:pt x="1322588" y="278780"/>
                </a:lnTo>
                <a:lnTo>
                  <a:pt x="1328440" y="278780"/>
                </a:lnTo>
                <a:lnTo>
                  <a:pt x="1334292" y="278780"/>
                </a:lnTo>
                <a:lnTo>
                  <a:pt x="1340144" y="278780"/>
                </a:lnTo>
                <a:lnTo>
                  <a:pt x="1345996" y="278780"/>
                </a:lnTo>
                <a:lnTo>
                  <a:pt x="1351848" y="278780"/>
                </a:lnTo>
                <a:lnTo>
                  <a:pt x="1357701" y="278780"/>
                </a:lnTo>
                <a:lnTo>
                  <a:pt x="1363553" y="278780"/>
                </a:lnTo>
                <a:lnTo>
                  <a:pt x="1369405" y="278780"/>
                </a:lnTo>
                <a:lnTo>
                  <a:pt x="1375257" y="278780"/>
                </a:lnTo>
                <a:lnTo>
                  <a:pt x="1381109" y="278780"/>
                </a:lnTo>
                <a:lnTo>
                  <a:pt x="1386961" y="278780"/>
                </a:lnTo>
                <a:lnTo>
                  <a:pt x="1392814" y="278780"/>
                </a:lnTo>
                <a:lnTo>
                  <a:pt x="1398666" y="278780"/>
                </a:lnTo>
                <a:lnTo>
                  <a:pt x="1404518" y="278780"/>
                </a:lnTo>
                <a:lnTo>
                  <a:pt x="1410370" y="278780"/>
                </a:lnTo>
                <a:lnTo>
                  <a:pt x="1416222" y="278780"/>
                </a:lnTo>
                <a:lnTo>
                  <a:pt x="1422074" y="278780"/>
                </a:lnTo>
                <a:lnTo>
                  <a:pt x="1427927" y="278780"/>
                </a:lnTo>
                <a:lnTo>
                  <a:pt x="1433779" y="278780"/>
                </a:lnTo>
                <a:lnTo>
                  <a:pt x="1439631" y="278780"/>
                </a:lnTo>
                <a:lnTo>
                  <a:pt x="1445483" y="278780"/>
                </a:lnTo>
                <a:lnTo>
                  <a:pt x="1451335" y="278780"/>
                </a:lnTo>
                <a:lnTo>
                  <a:pt x="1457187" y="278780"/>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55080"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0</a:t>
            </a:r>
          </a:p>
        </p:txBody>
      </p:sp>
      <p:sp>
        <p:nvSpPr>
          <p:cNvPr id="73" name="TextBox 72"/>
          <p:cNvSpPr txBox="1"/>
          <p:nvPr/>
        </p:nvSpPr>
        <p:spPr>
          <a:xfrm>
            <a:off x="6355080"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10.9%</a:t>
            </a:r>
          </a:p>
        </p:txBody>
      </p:sp>
      <p:cxnSp>
        <p:nvCxnSpPr>
          <p:cNvPr id="74" name="Connector 73"/>
          <p:cNvCxnSpPr/>
          <p:nvPr/>
        </p:nvCxnSpPr>
        <p:spPr>
          <a:xfrm>
            <a:off x="7872983" y="3474720"/>
            <a:ext cx="182881"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reeform 7"/>
          <p:cNvSpPr/>
          <p:nvPr/>
        </p:nvSpPr>
        <p:spPr>
          <a:xfrm>
            <a:off x="8110728"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8110728" y="3158499"/>
            <a:ext cx="1457187" cy="836239"/>
          </a:xfrm>
          <a:custGeom>
            <a:avLst/>
            <a:gdLst/>
            <a:ahLst/>
            <a:cxnLst/>
            <a:rect l="l" t="t" r="r" b="b"/>
            <a:pathLst>
              <a:path w="1457187" h="836239">
                <a:moveTo>
                  <a:pt x="0" y="788225"/>
                </a:moveTo>
                <a:lnTo>
                  <a:pt x="5852" y="780596"/>
                </a:lnTo>
                <a:lnTo>
                  <a:pt x="11704" y="772007"/>
                </a:lnTo>
                <a:lnTo>
                  <a:pt x="17556" y="762380"/>
                </a:lnTo>
                <a:lnTo>
                  <a:pt x="23408" y="751642"/>
                </a:lnTo>
                <a:lnTo>
                  <a:pt x="29260" y="739720"/>
                </a:lnTo>
                <a:lnTo>
                  <a:pt x="35112" y="726548"/>
                </a:lnTo>
                <a:lnTo>
                  <a:pt x="40965" y="712064"/>
                </a:lnTo>
                <a:lnTo>
                  <a:pt x="46817" y="696216"/>
                </a:lnTo>
                <a:lnTo>
                  <a:pt x="52669" y="678961"/>
                </a:lnTo>
                <a:lnTo>
                  <a:pt x="58521" y="660268"/>
                </a:lnTo>
                <a:lnTo>
                  <a:pt x="64373" y="640120"/>
                </a:lnTo>
                <a:lnTo>
                  <a:pt x="70225" y="618519"/>
                </a:lnTo>
                <a:lnTo>
                  <a:pt x="76078" y="595480"/>
                </a:lnTo>
                <a:lnTo>
                  <a:pt x="81930" y="571041"/>
                </a:lnTo>
                <a:lnTo>
                  <a:pt x="87782" y="545260"/>
                </a:lnTo>
                <a:lnTo>
                  <a:pt x="93634" y="518218"/>
                </a:lnTo>
                <a:lnTo>
                  <a:pt x="99486" y="490017"/>
                </a:lnTo>
                <a:lnTo>
                  <a:pt x="105338" y="460786"/>
                </a:lnTo>
                <a:lnTo>
                  <a:pt x="111191" y="430674"/>
                </a:lnTo>
                <a:lnTo>
                  <a:pt x="117043" y="399854"/>
                </a:lnTo>
                <a:lnTo>
                  <a:pt x="122895" y="368524"/>
                </a:lnTo>
                <a:lnTo>
                  <a:pt x="128747" y="336898"/>
                </a:lnTo>
                <a:lnTo>
                  <a:pt x="134599" y="305212"/>
                </a:lnTo>
                <a:lnTo>
                  <a:pt x="140451" y="273717"/>
                </a:lnTo>
                <a:lnTo>
                  <a:pt x="146304" y="242677"/>
                </a:lnTo>
                <a:lnTo>
                  <a:pt x="152156" y="212366"/>
                </a:lnTo>
                <a:lnTo>
                  <a:pt x="158008" y="183064"/>
                </a:lnTo>
                <a:lnTo>
                  <a:pt x="163860" y="155052"/>
                </a:lnTo>
                <a:lnTo>
                  <a:pt x="169712" y="128608"/>
                </a:lnTo>
                <a:lnTo>
                  <a:pt x="175564" y="104003"/>
                </a:lnTo>
                <a:lnTo>
                  <a:pt x="181416" y="81497"/>
                </a:lnTo>
                <a:lnTo>
                  <a:pt x="187269" y="61332"/>
                </a:lnTo>
                <a:lnTo>
                  <a:pt x="193121" y="43730"/>
                </a:lnTo>
                <a:lnTo>
                  <a:pt x="198973" y="28888"/>
                </a:lnTo>
                <a:lnTo>
                  <a:pt x="204825" y="16974"/>
                </a:lnTo>
                <a:lnTo>
                  <a:pt x="210677" y="8126"/>
                </a:lnTo>
                <a:lnTo>
                  <a:pt x="216529" y="2446"/>
                </a:lnTo>
                <a:lnTo>
                  <a:pt x="222382" y="0"/>
                </a:lnTo>
                <a:lnTo>
                  <a:pt x="228234" y="816"/>
                </a:lnTo>
                <a:lnTo>
                  <a:pt x="234086" y="4885"/>
                </a:lnTo>
                <a:lnTo>
                  <a:pt x="239938" y="12160"/>
                </a:lnTo>
                <a:lnTo>
                  <a:pt x="245790" y="22556"/>
                </a:lnTo>
                <a:lnTo>
                  <a:pt x="251642" y="35953"/>
                </a:lnTo>
                <a:lnTo>
                  <a:pt x="257495" y="52198"/>
                </a:lnTo>
                <a:lnTo>
                  <a:pt x="263347" y="71108"/>
                </a:lnTo>
                <a:lnTo>
                  <a:pt x="269199" y="92472"/>
                </a:lnTo>
                <a:lnTo>
                  <a:pt x="275051" y="116059"/>
                </a:lnTo>
                <a:lnTo>
                  <a:pt x="280903" y="141617"/>
                </a:lnTo>
                <a:lnTo>
                  <a:pt x="286755" y="168879"/>
                </a:lnTo>
                <a:lnTo>
                  <a:pt x="292608" y="197572"/>
                </a:lnTo>
                <a:lnTo>
                  <a:pt x="298460" y="227413"/>
                </a:lnTo>
                <a:lnTo>
                  <a:pt x="304312" y="258123"/>
                </a:lnTo>
                <a:lnTo>
                  <a:pt x="310164" y="289424"/>
                </a:lnTo>
                <a:lnTo>
                  <a:pt x="316016" y="321047"/>
                </a:lnTo>
                <a:lnTo>
                  <a:pt x="321868" y="352733"/>
                </a:lnTo>
                <a:lnTo>
                  <a:pt x="327720" y="384240"/>
                </a:lnTo>
                <a:lnTo>
                  <a:pt x="333573" y="415341"/>
                </a:lnTo>
                <a:lnTo>
                  <a:pt x="339425" y="445830"/>
                </a:lnTo>
                <a:lnTo>
                  <a:pt x="345277" y="475522"/>
                </a:lnTo>
                <a:lnTo>
                  <a:pt x="351129" y="504255"/>
                </a:lnTo>
                <a:lnTo>
                  <a:pt x="356981" y="531891"/>
                </a:lnTo>
                <a:lnTo>
                  <a:pt x="362833" y="558314"/>
                </a:lnTo>
                <a:lnTo>
                  <a:pt x="368686" y="583432"/>
                </a:lnTo>
                <a:lnTo>
                  <a:pt x="374538" y="607177"/>
                </a:lnTo>
                <a:lnTo>
                  <a:pt x="380390" y="629501"/>
                </a:lnTo>
                <a:lnTo>
                  <a:pt x="386242" y="650376"/>
                </a:lnTo>
                <a:lnTo>
                  <a:pt x="392094" y="669795"/>
                </a:lnTo>
                <a:lnTo>
                  <a:pt x="397946" y="687767"/>
                </a:lnTo>
                <a:lnTo>
                  <a:pt x="403799" y="704314"/>
                </a:lnTo>
                <a:lnTo>
                  <a:pt x="409651" y="719474"/>
                </a:lnTo>
                <a:lnTo>
                  <a:pt x="415503" y="733295"/>
                </a:lnTo>
                <a:lnTo>
                  <a:pt x="421355" y="745833"/>
                </a:lnTo>
                <a:lnTo>
                  <a:pt x="427207" y="757155"/>
                </a:lnTo>
                <a:lnTo>
                  <a:pt x="433059" y="767328"/>
                </a:lnTo>
                <a:lnTo>
                  <a:pt x="438912" y="776426"/>
                </a:lnTo>
                <a:lnTo>
                  <a:pt x="444764" y="784526"/>
                </a:lnTo>
                <a:lnTo>
                  <a:pt x="450616" y="791703"/>
                </a:lnTo>
                <a:lnTo>
                  <a:pt x="456468" y="798034"/>
                </a:lnTo>
                <a:lnTo>
                  <a:pt x="462320" y="803592"/>
                </a:lnTo>
                <a:lnTo>
                  <a:pt x="468172" y="808451"/>
                </a:lnTo>
                <a:lnTo>
                  <a:pt x="474024" y="812678"/>
                </a:lnTo>
                <a:lnTo>
                  <a:pt x="479877" y="816341"/>
                </a:lnTo>
                <a:lnTo>
                  <a:pt x="485729" y="819499"/>
                </a:lnTo>
                <a:lnTo>
                  <a:pt x="491581" y="822211"/>
                </a:lnTo>
                <a:lnTo>
                  <a:pt x="497433" y="824530"/>
                </a:lnTo>
                <a:lnTo>
                  <a:pt x="503285" y="826503"/>
                </a:lnTo>
                <a:lnTo>
                  <a:pt x="509137" y="828176"/>
                </a:lnTo>
                <a:lnTo>
                  <a:pt x="514990" y="829587"/>
                </a:lnTo>
                <a:lnTo>
                  <a:pt x="520842" y="830773"/>
                </a:lnTo>
                <a:lnTo>
                  <a:pt x="526694" y="831764"/>
                </a:lnTo>
                <a:lnTo>
                  <a:pt x="532546" y="832590"/>
                </a:lnTo>
                <a:lnTo>
                  <a:pt x="538398" y="833276"/>
                </a:lnTo>
                <a:lnTo>
                  <a:pt x="544250" y="833842"/>
                </a:lnTo>
                <a:lnTo>
                  <a:pt x="550103" y="834307"/>
                </a:lnTo>
                <a:lnTo>
                  <a:pt x="555955" y="834688"/>
                </a:lnTo>
                <a:lnTo>
                  <a:pt x="561807" y="834999"/>
                </a:lnTo>
                <a:lnTo>
                  <a:pt x="567659" y="835251"/>
                </a:lnTo>
                <a:lnTo>
                  <a:pt x="573511" y="835455"/>
                </a:lnTo>
                <a:lnTo>
                  <a:pt x="579363" y="835620"/>
                </a:lnTo>
                <a:lnTo>
                  <a:pt x="585216" y="835751"/>
                </a:lnTo>
                <a:lnTo>
                  <a:pt x="591068" y="835857"/>
                </a:lnTo>
                <a:lnTo>
                  <a:pt x="596920" y="835940"/>
                </a:lnTo>
                <a:lnTo>
                  <a:pt x="602772" y="836007"/>
                </a:lnTo>
                <a:lnTo>
                  <a:pt x="608624" y="836059"/>
                </a:lnTo>
                <a:lnTo>
                  <a:pt x="614476" y="836100"/>
                </a:lnTo>
                <a:lnTo>
                  <a:pt x="620328" y="836132"/>
                </a:lnTo>
                <a:lnTo>
                  <a:pt x="626181" y="836157"/>
                </a:lnTo>
                <a:lnTo>
                  <a:pt x="632033" y="836177"/>
                </a:lnTo>
                <a:lnTo>
                  <a:pt x="637885" y="836192"/>
                </a:lnTo>
                <a:lnTo>
                  <a:pt x="643737" y="836203"/>
                </a:lnTo>
                <a:lnTo>
                  <a:pt x="649589" y="836212"/>
                </a:lnTo>
                <a:lnTo>
                  <a:pt x="655441" y="836219"/>
                </a:lnTo>
                <a:lnTo>
                  <a:pt x="661294" y="836224"/>
                </a:lnTo>
                <a:lnTo>
                  <a:pt x="667146" y="836228"/>
                </a:lnTo>
                <a:lnTo>
                  <a:pt x="672998" y="836231"/>
                </a:lnTo>
                <a:lnTo>
                  <a:pt x="678850" y="836233"/>
                </a:lnTo>
                <a:lnTo>
                  <a:pt x="684702" y="836234"/>
                </a:lnTo>
                <a:lnTo>
                  <a:pt x="690554" y="836236"/>
                </a:lnTo>
                <a:lnTo>
                  <a:pt x="696407" y="836237"/>
                </a:lnTo>
                <a:lnTo>
                  <a:pt x="702259" y="836237"/>
                </a:lnTo>
                <a:lnTo>
                  <a:pt x="708111" y="836238"/>
                </a:lnTo>
                <a:lnTo>
                  <a:pt x="713963" y="836238"/>
                </a:lnTo>
                <a:lnTo>
                  <a:pt x="719815" y="836238"/>
                </a:lnTo>
                <a:lnTo>
                  <a:pt x="725667" y="836239"/>
                </a:lnTo>
                <a:lnTo>
                  <a:pt x="731520" y="836239"/>
                </a:lnTo>
                <a:lnTo>
                  <a:pt x="737372" y="836239"/>
                </a:lnTo>
                <a:lnTo>
                  <a:pt x="743224" y="836239"/>
                </a:lnTo>
                <a:lnTo>
                  <a:pt x="749076" y="836239"/>
                </a:lnTo>
                <a:lnTo>
                  <a:pt x="754928" y="836239"/>
                </a:lnTo>
                <a:lnTo>
                  <a:pt x="760780" y="836239"/>
                </a:lnTo>
                <a:lnTo>
                  <a:pt x="766632" y="836239"/>
                </a:lnTo>
                <a:lnTo>
                  <a:pt x="772485" y="836239"/>
                </a:lnTo>
                <a:lnTo>
                  <a:pt x="778337" y="836239"/>
                </a:lnTo>
                <a:lnTo>
                  <a:pt x="784189" y="836239"/>
                </a:lnTo>
                <a:lnTo>
                  <a:pt x="790041" y="836239"/>
                </a:lnTo>
                <a:lnTo>
                  <a:pt x="795893" y="836239"/>
                </a:lnTo>
                <a:lnTo>
                  <a:pt x="801745" y="836239"/>
                </a:lnTo>
                <a:lnTo>
                  <a:pt x="807598" y="836239"/>
                </a:lnTo>
                <a:lnTo>
                  <a:pt x="813450" y="836239"/>
                </a:lnTo>
                <a:lnTo>
                  <a:pt x="819302" y="836239"/>
                </a:lnTo>
                <a:lnTo>
                  <a:pt x="825154" y="836239"/>
                </a:lnTo>
                <a:lnTo>
                  <a:pt x="831006" y="836239"/>
                </a:lnTo>
                <a:lnTo>
                  <a:pt x="836858" y="836239"/>
                </a:lnTo>
                <a:lnTo>
                  <a:pt x="842711" y="836239"/>
                </a:lnTo>
                <a:lnTo>
                  <a:pt x="848563" y="836239"/>
                </a:lnTo>
                <a:lnTo>
                  <a:pt x="854415" y="836239"/>
                </a:lnTo>
                <a:lnTo>
                  <a:pt x="860267" y="836239"/>
                </a:lnTo>
                <a:lnTo>
                  <a:pt x="866119" y="836239"/>
                </a:lnTo>
                <a:lnTo>
                  <a:pt x="871971" y="836239"/>
                </a:lnTo>
                <a:lnTo>
                  <a:pt x="877824" y="836239"/>
                </a:lnTo>
                <a:lnTo>
                  <a:pt x="883676" y="836239"/>
                </a:lnTo>
                <a:lnTo>
                  <a:pt x="889528" y="836239"/>
                </a:lnTo>
                <a:lnTo>
                  <a:pt x="895380" y="836239"/>
                </a:lnTo>
                <a:lnTo>
                  <a:pt x="901232" y="836239"/>
                </a:lnTo>
                <a:lnTo>
                  <a:pt x="907084" y="836239"/>
                </a:lnTo>
                <a:lnTo>
                  <a:pt x="912936" y="836239"/>
                </a:lnTo>
                <a:lnTo>
                  <a:pt x="918789" y="836239"/>
                </a:lnTo>
                <a:lnTo>
                  <a:pt x="924641" y="836239"/>
                </a:lnTo>
                <a:lnTo>
                  <a:pt x="930493" y="836239"/>
                </a:lnTo>
                <a:lnTo>
                  <a:pt x="936345" y="836239"/>
                </a:lnTo>
                <a:lnTo>
                  <a:pt x="942197" y="836239"/>
                </a:lnTo>
                <a:lnTo>
                  <a:pt x="948049" y="836239"/>
                </a:lnTo>
                <a:lnTo>
                  <a:pt x="953902" y="836239"/>
                </a:lnTo>
                <a:lnTo>
                  <a:pt x="959754" y="836239"/>
                </a:lnTo>
                <a:lnTo>
                  <a:pt x="965606" y="836239"/>
                </a:lnTo>
                <a:lnTo>
                  <a:pt x="971458" y="836239"/>
                </a:lnTo>
                <a:lnTo>
                  <a:pt x="977310" y="836239"/>
                </a:lnTo>
                <a:lnTo>
                  <a:pt x="983162" y="836239"/>
                </a:lnTo>
                <a:lnTo>
                  <a:pt x="989015" y="836239"/>
                </a:lnTo>
                <a:lnTo>
                  <a:pt x="994867" y="836239"/>
                </a:lnTo>
                <a:lnTo>
                  <a:pt x="1000719" y="836239"/>
                </a:lnTo>
                <a:lnTo>
                  <a:pt x="1006571" y="836239"/>
                </a:lnTo>
                <a:lnTo>
                  <a:pt x="1012423" y="836239"/>
                </a:lnTo>
                <a:lnTo>
                  <a:pt x="1018275" y="836239"/>
                </a:lnTo>
                <a:lnTo>
                  <a:pt x="1024128" y="836239"/>
                </a:lnTo>
                <a:lnTo>
                  <a:pt x="1029980" y="836239"/>
                </a:lnTo>
                <a:lnTo>
                  <a:pt x="1035832" y="836239"/>
                </a:lnTo>
                <a:lnTo>
                  <a:pt x="1041684" y="836239"/>
                </a:lnTo>
                <a:lnTo>
                  <a:pt x="1047536" y="836239"/>
                </a:lnTo>
                <a:lnTo>
                  <a:pt x="1053388" y="836239"/>
                </a:lnTo>
                <a:lnTo>
                  <a:pt x="1059240" y="836239"/>
                </a:lnTo>
                <a:lnTo>
                  <a:pt x="1065093" y="836239"/>
                </a:lnTo>
                <a:lnTo>
                  <a:pt x="1070945" y="836239"/>
                </a:lnTo>
                <a:lnTo>
                  <a:pt x="1076797" y="836239"/>
                </a:lnTo>
                <a:lnTo>
                  <a:pt x="1082649" y="836239"/>
                </a:lnTo>
                <a:lnTo>
                  <a:pt x="1088501" y="836239"/>
                </a:lnTo>
                <a:lnTo>
                  <a:pt x="1094353" y="836239"/>
                </a:lnTo>
                <a:lnTo>
                  <a:pt x="1100206" y="836239"/>
                </a:lnTo>
                <a:lnTo>
                  <a:pt x="1106058" y="836239"/>
                </a:lnTo>
                <a:lnTo>
                  <a:pt x="1111910" y="836239"/>
                </a:lnTo>
                <a:lnTo>
                  <a:pt x="1117762" y="836239"/>
                </a:lnTo>
                <a:lnTo>
                  <a:pt x="1123614" y="836239"/>
                </a:lnTo>
                <a:lnTo>
                  <a:pt x="1129466" y="836239"/>
                </a:lnTo>
                <a:lnTo>
                  <a:pt x="1135319" y="836239"/>
                </a:lnTo>
                <a:lnTo>
                  <a:pt x="1141171" y="836239"/>
                </a:lnTo>
                <a:lnTo>
                  <a:pt x="1147023" y="836239"/>
                </a:lnTo>
                <a:lnTo>
                  <a:pt x="1152875" y="836239"/>
                </a:lnTo>
                <a:lnTo>
                  <a:pt x="1158727" y="836239"/>
                </a:lnTo>
                <a:lnTo>
                  <a:pt x="1164579" y="836239"/>
                </a:lnTo>
                <a:lnTo>
                  <a:pt x="1170432" y="836239"/>
                </a:lnTo>
                <a:lnTo>
                  <a:pt x="1176284" y="836239"/>
                </a:lnTo>
                <a:lnTo>
                  <a:pt x="1182136" y="836239"/>
                </a:lnTo>
                <a:lnTo>
                  <a:pt x="1187988" y="836239"/>
                </a:lnTo>
                <a:lnTo>
                  <a:pt x="1193840" y="836239"/>
                </a:lnTo>
                <a:lnTo>
                  <a:pt x="1199692" y="836239"/>
                </a:lnTo>
                <a:lnTo>
                  <a:pt x="1205544" y="836239"/>
                </a:lnTo>
                <a:lnTo>
                  <a:pt x="1211397" y="836239"/>
                </a:lnTo>
                <a:lnTo>
                  <a:pt x="1217249" y="836239"/>
                </a:lnTo>
                <a:lnTo>
                  <a:pt x="1223101" y="836239"/>
                </a:lnTo>
                <a:lnTo>
                  <a:pt x="1228953" y="836239"/>
                </a:lnTo>
                <a:lnTo>
                  <a:pt x="1234805" y="836239"/>
                </a:lnTo>
                <a:lnTo>
                  <a:pt x="1240657" y="836239"/>
                </a:lnTo>
                <a:lnTo>
                  <a:pt x="1246510" y="836239"/>
                </a:lnTo>
                <a:lnTo>
                  <a:pt x="1252362" y="836239"/>
                </a:lnTo>
                <a:lnTo>
                  <a:pt x="1258214" y="836239"/>
                </a:lnTo>
                <a:lnTo>
                  <a:pt x="1264066" y="836239"/>
                </a:lnTo>
                <a:lnTo>
                  <a:pt x="1269918" y="836239"/>
                </a:lnTo>
                <a:lnTo>
                  <a:pt x="1275770" y="836239"/>
                </a:lnTo>
                <a:lnTo>
                  <a:pt x="1281623" y="836239"/>
                </a:lnTo>
                <a:lnTo>
                  <a:pt x="1287475" y="836239"/>
                </a:lnTo>
                <a:lnTo>
                  <a:pt x="1293327" y="836239"/>
                </a:lnTo>
                <a:lnTo>
                  <a:pt x="1299179" y="836239"/>
                </a:lnTo>
                <a:lnTo>
                  <a:pt x="1305031" y="836239"/>
                </a:lnTo>
                <a:lnTo>
                  <a:pt x="1310883" y="836239"/>
                </a:lnTo>
                <a:lnTo>
                  <a:pt x="1316736" y="836239"/>
                </a:lnTo>
                <a:lnTo>
                  <a:pt x="1322588" y="836239"/>
                </a:lnTo>
                <a:lnTo>
                  <a:pt x="1328440" y="836239"/>
                </a:lnTo>
                <a:lnTo>
                  <a:pt x="1334292" y="836239"/>
                </a:lnTo>
                <a:lnTo>
                  <a:pt x="1340144" y="836239"/>
                </a:lnTo>
                <a:lnTo>
                  <a:pt x="1345996" y="836239"/>
                </a:lnTo>
                <a:lnTo>
                  <a:pt x="1351848" y="836239"/>
                </a:lnTo>
                <a:lnTo>
                  <a:pt x="1357701" y="836239"/>
                </a:lnTo>
                <a:lnTo>
                  <a:pt x="1363553" y="836239"/>
                </a:lnTo>
                <a:lnTo>
                  <a:pt x="1369405" y="836239"/>
                </a:lnTo>
                <a:lnTo>
                  <a:pt x="1375257" y="836239"/>
                </a:lnTo>
                <a:lnTo>
                  <a:pt x="1381109" y="836239"/>
                </a:lnTo>
                <a:lnTo>
                  <a:pt x="1386961" y="836239"/>
                </a:lnTo>
                <a:lnTo>
                  <a:pt x="1392814" y="836239"/>
                </a:lnTo>
                <a:lnTo>
                  <a:pt x="1398666" y="836239"/>
                </a:lnTo>
                <a:lnTo>
                  <a:pt x="1404518" y="836239"/>
                </a:lnTo>
                <a:lnTo>
                  <a:pt x="1410370" y="836239"/>
                </a:lnTo>
                <a:lnTo>
                  <a:pt x="1416222" y="836239"/>
                </a:lnTo>
                <a:lnTo>
                  <a:pt x="1422074" y="836239"/>
                </a:lnTo>
                <a:lnTo>
                  <a:pt x="1427927" y="836239"/>
                </a:lnTo>
                <a:lnTo>
                  <a:pt x="1433779" y="836239"/>
                </a:lnTo>
                <a:lnTo>
                  <a:pt x="1439631" y="836239"/>
                </a:lnTo>
                <a:lnTo>
                  <a:pt x="1445483" y="836239"/>
                </a:lnTo>
                <a:lnTo>
                  <a:pt x="1451335" y="836239"/>
                </a:lnTo>
                <a:lnTo>
                  <a:pt x="1457187" y="836239"/>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8110728" y="3669494"/>
            <a:ext cx="1457187" cy="325244"/>
          </a:xfrm>
          <a:custGeom>
            <a:avLst/>
            <a:gdLst/>
            <a:ahLst/>
            <a:cxnLst/>
            <a:rect l="l" t="t" r="r" b="b"/>
            <a:pathLst>
              <a:path w="1457187" h="325244">
                <a:moveTo>
                  <a:pt x="0" y="324425"/>
                </a:moveTo>
                <a:lnTo>
                  <a:pt x="5852" y="324317"/>
                </a:lnTo>
                <a:lnTo>
                  <a:pt x="11704" y="324196"/>
                </a:lnTo>
                <a:lnTo>
                  <a:pt x="17556" y="324060"/>
                </a:lnTo>
                <a:lnTo>
                  <a:pt x="23408" y="323909"/>
                </a:lnTo>
                <a:lnTo>
                  <a:pt x="29260" y="323741"/>
                </a:lnTo>
                <a:lnTo>
                  <a:pt x="35112" y="323553"/>
                </a:lnTo>
                <a:lnTo>
                  <a:pt x="40965" y="323345"/>
                </a:lnTo>
                <a:lnTo>
                  <a:pt x="46817" y="323113"/>
                </a:lnTo>
                <a:lnTo>
                  <a:pt x="52669" y="322857"/>
                </a:lnTo>
                <a:lnTo>
                  <a:pt x="58521" y="322573"/>
                </a:lnTo>
                <a:lnTo>
                  <a:pt x="64373" y="322260"/>
                </a:lnTo>
                <a:lnTo>
                  <a:pt x="70225" y="321914"/>
                </a:lnTo>
                <a:lnTo>
                  <a:pt x="76078" y="321532"/>
                </a:lnTo>
                <a:lnTo>
                  <a:pt x="81930" y="321112"/>
                </a:lnTo>
                <a:lnTo>
                  <a:pt x="87782" y="320651"/>
                </a:lnTo>
                <a:lnTo>
                  <a:pt x="93634" y="320145"/>
                </a:lnTo>
                <a:lnTo>
                  <a:pt x="99486" y="319590"/>
                </a:lnTo>
                <a:lnTo>
                  <a:pt x="105338" y="318984"/>
                </a:lnTo>
                <a:lnTo>
                  <a:pt x="111191" y="318321"/>
                </a:lnTo>
                <a:lnTo>
                  <a:pt x="117043" y="317598"/>
                </a:lnTo>
                <a:lnTo>
                  <a:pt x="122895" y="316810"/>
                </a:lnTo>
                <a:lnTo>
                  <a:pt x="128747" y="315953"/>
                </a:lnTo>
                <a:lnTo>
                  <a:pt x="134599" y="315023"/>
                </a:lnTo>
                <a:lnTo>
                  <a:pt x="140451" y="314014"/>
                </a:lnTo>
                <a:lnTo>
                  <a:pt x="146304" y="312921"/>
                </a:lnTo>
                <a:lnTo>
                  <a:pt x="152156" y="311740"/>
                </a:lnTo>
                <a:lnTo>
                  <a:pt x="158008" y="310464"/>
                </a:lnTo>
                <a:lnTo>
                  <a:pt x="163860" y="309089"/>
                </a:lnTo>
                <a:lnTo>
                  <a:pt x="169712" y="307609"/>
                </a:lnTo>
                <a:lnTo>
                  <a:pt x="175564" y="306019"/>
                </a:lnTo>
                <a:lnTo>
                  <a:pt x="181416" y="304312"/>
                </a:lnTo>
                <a:lnTo>
                  <a:pt x="187269" y="302483"/>
                </a:lnTo>
                <a:lnTo>
                  <a:pt x="193121" y="300527"/>
                </a:lnTo>
                <a:lnTo>
                  <a:pt x="198973" y="298437"/>
                </a:lnTo>
                <a:lnTo>
                  <a:pt x="204825" y="296208"/>
                </a:lnTo>
                <a:lnTo>
                  <a:pt x="210677" y="293835"/>
                </a:lnTo>
                <a:lnTo>
                  <a:pt x="216529" y="291312"/>
                </a:lnTo>
                <a:lnTo>
                  <a:pt x="222382" y="288633"/>
                </a:lnTo>
                <a:lnTo>
                  <a:pt x="228234" y="285795"/>
                </a:lnTo>
                <a:lnTo>
                  <a:pt x="234086" y="282792"/>
                </a:lnTo>
                <a:lnTo>
                  <a:pt x="239938" y="279619"/>
                </a:lnTo>
                <a:lnTo>
                  <a:pt x="245790" y="276273"/>
                </a:lnTo>
                <a:lnTo>
                  <a:pt x="251642" y="272750"/>
                </a:lnTo>
                <a:lnTo>
                  <a:pt x="257495" y="269046"/>
                </a:lnTo>
                <a:lnTo>
                  <a:pt x="263347" y="265160"/>
                </a:lnTo>
                <a:lnTo>
                  <a:pt x="269199" y="261087"/>
                </a:lnTo>
                <a:lnTo>
                  <a:pt x="275051" y="256828"/>
                </a:lnTo>
                <a:lnTo>
                  <a:pt x="280903" y="252380"/>
                </a:lnTo>
                <a:lnTo>
                  <a:pt x="286755" y="247744"/>
                </a:lnTo>
                <a:lnTo>
                  <a:pt x="292608" y="242920"/>
                </a:lnTo>
                <a:lnTo>
                  <a:pt x="298460" y="237909"/>
                </a:lnTo>
                <a:lnTo>
                  <a:pt x="304312" y="232714"/>
                </a:lnTo>
                <a:lnTo>
                  <a:pt x="310164" y="227337"/>
                </a:lnTo>
                <a:lnTo>
                  <a:pt x="316016" y="221781"/>
                </a:lnTo>
                <a:lnTo>
                  <a:pt x="321868" y="216052"/>
                </a:lnTo>
                <a:lnTo>
                  <a:pt x="327720" y="210156"/>
                </a:lnTo>
                <a:lnTo>
                  <a:pt x="333573" y="204098"/>
                </a:lnTo>
                <a:lnTo>
                  <a:pt x="339425" y="197888"/>
                </a:lnTo>
                <a:lnTo>
                  <a:pt x="345277" y="191532"/>
                </a:lnTo>
                <a:lnTo>
                  <a:pt x="351129" y="185042"/>
                </a:lnTo>
                <a:lnTo>
                  <a:pt x="356981" y="178427"/>
                </a:lnTo>
                <a:lnTo>
                  <a:pt x="362833" y="171700"/>
                </a:lnTo>
                <a:lnTo>
                  <a:pt x="368686" y="164873"/>
                </a:lnTo>
                <a:lnTo>
                  <a:pt x="374538" y="157960"/>
                </a:lnTo>
                <a:lnTo>
                  <a:pt x="380390" y="150975"/>
                </a:lnTo>
                <a:lnTo>
                  <a:pt x="386242" y="143934"/>
                </a:lnTo>
                <a:lnTo>
                  <a:pt x="392094" y="136854"/>
                </a:lnTo>
                <a:lnTo>
                  <a:pt x="397946" y="129751"/>
                </a:lnTo>
                <a:lnTo>
                  <a:pt x="403799" y="122643"/>
                </a:lnTo>
                <a:lnTo>
                  <a:pt x="409651" y="115550"/>
                </a:lnTo>
                <a:lnTo>
                  <a:pt x="415503" y="108490"/>
                </a:lnTo>
                <a:lnTo>
                  <a:pt x="421355" y="101483"/>
                </a:lnTo>
                <a:lnTo>
                  <a:pt x="427207" y="94549"/>
                </a:lnTo>
                <a:lnTo>
                  <a:pt x="433059" y="87709"/>
                </a:lnTo>
                <a:lnTo>
                  <a:pt x="438912" y="80984"/>
                </a:lnTo>
                <a:lnTo>
                  <a:pt x="444764" y="74394"/>
                </a:lnTo>
                <a:lnTo>
                  <a:pt x="450616" y="67960"/>
                </a:lnTo>
                <a:lnTo>
                  <a:pt x="456468" y="61705"/>
                </a:lnTo>
                <a:lnTo>
                  <a:pt x="462320" y="55647"/>
                </a:lnTo>
                <a:lnTo>
                  <a:pt x="468172" y="49808"/>
                </a:lnTo>
                <a:lnTo>
                  <a:pt x="474024" y="44208"/>
                </a:lnTo>
                <a:lnTo>
                  <a:pt x="479877" y="38866"/>
                </a:lnTo>
                <a:lnTo>
                  <a:pt x="485729" y="33801"/>
                </a:lnTo>
                <a:lnTo>
                  <a:pt x="491581" y="29032"/>
                </a:lnTo>
                <a:lnTo>
                  <a:pt x="497433" y="24575"/>
                </a:lnTo>
                <a:lnTo>
                  <a:pt x="503285" y="20447"/>
                </a:lnTo>
                <a:lnTo>
                  <a:pt x="509137" y="16664"/>
                </a:lnTo>
                <a:lnTo>
                  <a:pt x="514990" y="13239"/>
                </a:lnTo>
                <a:lnTo>
                  <a:pt x="520842" y="10185"/>
                </a:lnTo>
                <a:lnTo>
                  <a:pt x="526694" y="7514"/>
                </a:lnTo>
                <a:lnTo>
                  <a:pt x="532546" y="5237"/>
                </a:lnTo>
                <a:lnTo>
                  <a:pt x="538398" y="3362"/>
                </a:lnTo>
                <a:lnTo>
                  <a:pt x="544250" y="1895"/>
                </a:lnTo>
                <a:lnTo>
                  <a:pt x="550103" y="844"/>
                </a:lnTo>
                <a:lnTo>
                  <a:pt x="555955" y="211"/>
                </a:lnTo>
                <a:lnTo>
                  <a:pt x="561807" y="0"/>
                </a:lnTo>
                <a:lnTo>
                  <a:pt x="567659" y="211"/>
                </a:lnTo>
                <a:lnTo>
                  <a:pt x="573511" y="844"/>
                </a:lnTo>
                <a:lnTo>
                  <a:pt x="579363" y="1895"/>
                </a:lnTo>
                <a:lnTo>
                  <a:pt x="585216" y="3362"/>
                </a:lnTo>
                <a:lnTo>
                  <a:pt x="591068" y="5237"/>
                </a:lnTo>
                <a:lnTo>
                  <a:pt x="596920" y="7514"/>
                </a:lnTo>
                <a:lnTo>
                  <a:pt x="602772" y="10185"/>
                </a:lnTo>
                <a:lnTo>
                  <a:pt x="608624" y="13239"/>
                </a:lnTo>
                <a:lnTo>
                  <a:pt x="614476" y="16664"/>
                </a:lnTo>
                <a:lnTo>
                  <a:pt x="620328" y="20447"/>
                </a:lnTo>
                <a:lnTo>
                  <a:pt x="626181" y="24575"/>
                </a:lnTo>
                <a:lnTo>
                  <a:pt x="632033" y="29032"/>
                </a:lnTo>
                <a:lnTo>
                  <a:pt x="637885" y="33801"/>
                </a:lnTo>
                <a:lnTo>
                  <a:pt x="643737" y="38866"/>
                </a:lnTo>
                <a:lnTo>
                  <a:pt x="649589" y="44208"/>
                </a:lnTo>
                <a:lnTo>
                  <a:pt x="655441" y="49808"/>
                </a:lnTo>
                <a:lnTo>
                  <a:pt x="661294" y="55647"/>
                </a:lnTo>
                <a:lnTo>
                  <a:pt x="667146" y="61705"/>
                </a:lnTo>
                <a:lnTo>
                  <a:pt x="672998" y="67960"/>
                </a:lnTo>
                <a:lnTo>
                  <a:pt x="678850" y="74394"/>
                </a:lnTo>
                <a:lnTo>
                  <a:pt x="684702" y="80984"/>
                </a:lnTo>
                <a:lnTo>
                  <a:pt x="690554" y="87709"/>
                </a:lnTo>
                <a:lnTo>
                  <a:pt x="696407" y="94549"/>
                </a:lnTo>
                <a:lnTo>
                  <a:pt x="702259" y="101483"/>
                </a:lnTo>
                <a:lnTo>
                  <a:pt x="708111" y="108490"/>
                </a:lnTo>
                <a:lnTo>
                  <a:pt x="713963" y="115550"/>
                </a:lnTo>
                <a:lnTo>
                  <a:pt x="719815" y="122643"/>
                </a:lnTo>
                <a:lnTo>
                  <a:pt x="725667" y="129751"/>
                </a:lnTo>
                <a:lnTo>
                  <a:pt x="731520" y="136854"/>
                </a:lnTo>
                <a:lnTo>
                  <a:pt x="737372" y="143934"/>
                </a:lnTo>
                <a:lnTo>
                  <a:pt x="743224" y="150975"/>
                </a:lnTo>
                <a:lnTo>
                  <a:pt x="749076" y="157960"/>
                </a:lnTo>
                <a:lnTo>
                  <a:pt x="754928" y="164873"/>
                </a:lnTo>
                <a:lnTo>
                  <a:pt x="760780" y="171700"/>
                </a:lnTo>
                <a:lnTo>
                  <a:pt x="766632" y="178427"/>
                </a:lnTo>
                <a:lnTo>
                  <a:pt x="772485" y="185042"/>
                </a:lnTo>
                <a:lnTo>
                  <a:pt x="778337" y="191532"/>
                </a:lnTo>
                <a:lnTo>
                  <a:pt x="784189" y="197888"/>
                </a:lnTo>
                <a:lnTo>
                  <a:pt x="790041" y="204098"/>
                </a:lnTo>
                <a:lnTo>
                  <a:pt x="795893" y="210156"/>
                </a:lnTo>
                <a:lnTo>
                  <a:pt x="801745" y="216052"/>
                </a:lnTo>
                <a:lnTo>
                  <a:pt x="807598" y="221781"/>
                </a:lnTo>
                <a:lnTo>
                  <a:pt x="813450" y="227337"/>
                </a:lnTo>
                <a:lnTo>
                  <a:pt x="819302" y="232714"/>
                </a:lnTo>
                <a:lnTo>
                  <a:pt x="825154" y="237909"/>
                </a:lnTo>
                <a:lnTo>
                  <a:pt x="831006" y="242920"/>
                </a:lnTo>
                <a:lnTo>
                  <a:pt x="836858" y="247744"/>
                </a:lnTo>
                <a:lnTo>
                  <a:pt x="842711" y="252380"/>
                </a:lnTo>
                <a:lnTo>
                  <a:pt x="848563" y="256828"/>
                </a:lnTo>
                <a:lnTo>
                  <a:pt x="854415" y="261087"/>
                </a:lnTo>
                <a:lnTo>
                  <a:pt x="860267" y="265160"/>
                </a:lnTo>
                <a:lnTo>
                  <a:pt x="866119" y="269046"/>
                </a:lnTo>
                <a:lnTo>
                  <a:pt x="871971" y="272750"/>
                </a:lnTo>
                <a:lnTo>
                  <a:pt x="877824" y="276273"/>
                </a:lnTo>
                <a:lnTo>
                  <a:pt x="883676" y="279619"/>
                </a:lnTo>
                <a:lnTo>
                  <a:pt x="889528" y="282792"/>
                </a:lnTo>
                <a:lnTo>
                  <a:pt x="895380" y="285795"/>
                </a:lnTo>
                <a:lnTo>
                  <a:pt x="901232" y="288633"/>
                </a:lnTo>
                <a:lnTo>
                  <a:pt x="907084" y="291312"/>
                </a:lnTo>
                <a:lnTo>
                  <a:pt x="912936" y="293835"/>
                </a:lnTo>
                <a:lnTo>
                  <a:pt x="918789" y="296208"/>
                </a:lnTo>
                <a:lnTo>
                  <a:pt x="924641" y="298437"/>
                </a:lnTo>
                <a:lnTo>
                  <a:pt x="930493" y="300527"/>
                </a:lnTo>
                <a:lnTo>
                  <a:pt x="936345" y="302483"/>
                </a:lnTo>
                <a:lnTo>
                  <a:pt x="942197" y="304312"/>
                </a:lnTo>
                <a:lnTo>
                  <a:pt x="948049" y="306019"/>
                </a:lnTo>
                <a:lnTo>
                  <a:pt x="953902" y="307609"/>
                </a:lnTo>
                <a:lnTo>
                  <a:pt x="959754" y="309089"/>
                </a:lnTo>
                <a:lnTo>
                  <a:pt x="965606" y="310464"/>
                </a:lnTo>
                <a:lnTo>
                  <a:pt x="971458" y="311740"/>
                </a:lnTo>
                <a:lnTo>
                  <a:pt x="977310" y="312921"/>
                </a:lnTo>
                <a:lnTo>
                  <a:pt x="983162" y="314014"/>
                </a:lnTo>
                <a:lnTo>
                  <a:pt x="989015" y="315023"/>
                </a:lnTo>
                <a:lnTo>
                  <a:pt x="994867" y="315953"/>
                </a:lnTo>
                <a:lnTo>
                  <a:pt x="1000719" y="316810"/>
                </a:lnTo>
                <a:lnTo>
                  <a:pt x="1006571" y="317598"/>
                </a:lnTo>
                <a:lnTo>
                  <a:pt x="1012423" y="318321"/>
                </a:lnTo>
                <a:lnTo>
                  <a:pt x="1018275" y="318984"/>
                </a:lnTo>
                <a:lnTo>
                  <a:pt x="1024128" y="319590"/>
                </a:lnTo>
                <a:lnTo>
                  <a:pt x="1029980" y="320145"/>
                </a:lnTo>
                <a:lnTo>
                  <a:pt x="1035832" y="320651"/>
                </a:lnTo>
                <a:lnTo>
                  <a:pt x="1041684" y="321112"/>
                </a:lnTo>
                <a:lnTo>
                  <a:pt x="1047536" y="321532"/>
                </a:lnTo>
                <a:lnTo>
                  <a:pt x="1053388" y="321914"/>
                </a:lnTo>
                <a:lnTo>
                  <a:pt x="1059240" y="322260"/>
                </a:lnTo>
                <a:lnTo>
                  <a:pt x="1065093" y="322573"/>
                </a:lnTo>
                <a:lnTo>
                  <a:pt x="1070945" y="322857"/>
                </a:lnTo>
                <a:lnTo>
                  <a:pt x="1076797" y="323113"/>
                </a:lnTo>
                <a:lnTo>
                  <a:pt x="1082649" y="323345"/>
                </a:lnTo>
                <a:lnTo>
                  <a:pt x="1088501" y="323553"/>
                </a:lnTo>
                <a:lnTo>
                  <a:pt x="1094353" y="323741"/>
                </a:lnTo>
                <a:lnTo>
                  <a:pt x="1100206" y="323909"/>
                </a:lnTo>
                <a:lnTo>
                  <a:pt x="1106058" y="324060"/>
                </a:lnTo>
                <a:lnTo>
                  <a:pt x="1111910" y="324196"/>
                </a:lnTo>
                <a:lnTo>
                  <a:pt x="1117762" y="324317"/>
                </a:lnTo>
                <a:lnTo>
                  <a:pt x="1123614" y="324425"/>
                </a:lnTo>
                <a:lnTo>
                  <a:pt x="1129466" y="324521"/>
                </a:lnTo>
                <a:lnTo>
                  <a:pt x="1135319" y="324607"/>
                </a:lnTo>
                <a:lnTo>
                  <a:pt x="1141171" y="324684"/>
                </a:lnTo>
                <a:lnTo>
                  <a:pt x="1147023" y="324752"/>
                </a:lnTo>
                <a:lnTo>
                  <a:pt x="1152875" y="324812"/>
                </a:lnTo>
                <a:lnTo>
                  <a:pt x="1158727" y="324865"/>
                </a:lnTo>
                <a:lnTo>
                  <a:pt x="1164579" y="324912"/>
                </a:lnTo>
                <a:lnTo>
                  <a:pt x="1170432" y="324954"/>
                </a:lnTo>
                <a:lnTo>
                  <a:pt x="1176284" y="324991"/>
                </a:lnTo>
                <a:lnTo>
                  <a:pt x="1182136" y="325023"/>
                </a:lnTo>
                <a:lnTo>
                  <a:pt x="1187988" y="325052"/>
                </a:lnTo>
                <a:lnTo>
                  <a:pt x="1193840" y="325077"/>
                </a:lnTo>
                <a:lnTo>
                  <a:pt x="1199692" y="325099"/>
                </a:lnTo>
                <a:lnTo>
                  <a:pt x="1205544" y="325118"/>
                </a:lnTo>
                <a:lnTo>
                  <a:pt x="1211397" y="325135"/>
                </a:lnTo>
                <a:lnTo>
                  <a:pt x="1217249" y="325150"/>
                </a:lnTo>
                <a:lnTo>
                  <a:pt x="1223101" y="325162"/>
                </a:lnTo>
                <a:lnTo>
                  <a:pt x="1228953" y="325174"/>
                </a:lnTo>
                <a:lnTo>
                  <a:pt x="1234805" y="325183"/>
                </a:lnTo>
                <a:lnTo>
                  <a:pt x="1240657" y="325192"/>
                </a:lnTo>
                <a:lnTo>
                  <a:pt x="1246510" y="325199"/>
                </a:lnTo>
                <a:lnTo>
                  <a:pt x="1252362" y="325206"/>
                </a:lnTo>
                <a:lnTo>
                  <a:pt x="1258214" y="325211"/>
                </a:lnTo>
                <a:lnTo>
                  <a:pt x="1264066" y="325216"/>
                </a:lnTo>
                <a:lnTo>
                  <a:pt x="1269918" y="325220"/>
                </a:lnTo>
                <a:lnTo>
                  <a:pt x="1275770" y="325223"/>
                </a:lnTo>
                <a:lnTo>
                  <a:pt x="1281623" y="325226"/>
                </a:lnTo>
                <a:lnTo>
                  <a:pt x="1287475" y="325229"/>
                </a:lnTo>
                <a:lnTo>
                  <a:pt x="1293327" y="325231"/>
                </a:lnTo>
                <a:lnTo>
                  <a:pt x="1299179" y="325233"/>
                </a:lnTo>
                <a:lnTo>
                  <a:pt x="1305031" y="325235"/>
                </a:lnTo>
                <a:lnTo>
                  <a:pt x="1310883" y="325236"/>
                </a:lnTo>
                <a:lnTo>
                  <a:pt x="1316736" y="325237"/>
                </a:lnTo>
                <a:lnTo>
                  <a:pt x="1322588" y="325238"/>
                </a:lnTo>
                <a:lnTo>
                  <a:pt x="1328440" y="325239"/>
                </a:lnTo>
                <a:lnTo>
                  <a:pt x="1334292" y="325240"/>
                </a:lnTo>
                <a:lnTo>
                  <a:pt x="1340144" y="325241"/>
                </a:lnTo>
                <a:lnTo>
                  <a:pt x="1345996" y="325241"/>
                </a:lnTo>
                <a:lnTo>
                  <a:pt x="1351848" y="325242"/>
                </a:lnTo>
                <a:lnTo>
                  <a:pt x="1357701" y="325242"/>
                </a:lnTo>
                <a:lnTo>
                  <a:pt x="1363553" y="325242"/>
                </a:lnTo>
                <a:lnTo>
                  <a:pt x="1369405" y="325243"/>
                </a:lnTo>
                <a:lnTo>
                  <a:pt x="1375257" y="325243"/>
                </a:lnTo>
                <a:lnTo>
                  <a:pt x="1381109" y="325243"/>
                </a:lnTo>
                <a:lnTo>
                  <a:pt x="1386961" y="325243"/>
                </a:lnTo>
                <a:lnTo>
                  <a:pt x="1392814" y="325243"/>
                </a:lnTo>
                <a:lnTo>
                  <a:pt x="1398666" y="325243"/>
                </a:lnTo>
                <a:lnTo>
                  <a:pt x="1404518" y="325244"/>
                </a:lnTo>
                <a:lnTo>
                  <a:pt x="1410370" y="325244"/>
                </a:lnTo>
                <a:lnTo>
                  <a:pt x="1416222" y="325244"/>
                </a:lnTo>
                <a:lnTo>
                  <a:pt x="1422074" y="325244"/>
                </a:lnTo>
                <a:lnTo>
                  <a:pt x="1427927" y="325244"/>
                </a:lnTo>
                <a:lnTo>
                  <a:pt x="1433779" y="325244"/>
                </a:lnTo>
                <a:lnTo>
                  <a:pt x="1439631" y="325244"/>
                </a:lnTo>
                <a:lnTo>
                  <a:pt x="1445483" y="325244"/>
                </a:lnTo>
                <a:lnTo>
                  <a:pt x="1451335" y="325244"/>
                </a:lnTo>
                <a:lnTo>
                  <a:pt x="1457187" y="325244"/>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110728"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2</a:t>
            </a:r>
          </a:p>
        </p:txBody>
      </p:sp>
      <p:sp>
        <p:nvSpPr>
          <p:cNvPr id="76" name="TextBox 75"/>
          <p:cNvSpPr txBox="1"/>
          <p:nvPr/>
        </p:nvSpPr>
        <p:spPr>
          <a:xfrm>
            <a:off x="8110728"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6.8%</a:t>
            </a:r>
          </a:p>
        </p:txBody>
      </p:sp>
      <p:cxnSp>
        <p:nvCxnSpPr>
          <p:cNvPr id="77" name="Connector 76"/>
          <p:cNvCxnSpPr/>
          <p:nvPr/>
        </p:nvCxnSpPr>
        <p:spPr>
          <a:xfrm>
            <a:off x="9628632" y="3474720"/>
            <a:ext cx="1828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9866376"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5"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9866376" y="3065470"/>
            <a:ext cx="1457187" cy="929268"/>
          </a:xfrm>
          <a:custGeom>
            <a:avLst/>
            <a:gdLst/>
            <a:ahLst/>
            <a:cxnLst/>
            <a:rect l="l" t="t" r="r" b="b"/>
            <a:pathLst>
              <a:path w="1457187" h="929268">
                <a:moveTo>
                  <a:pt x="0" y="902723"/>
                </a:moveTo>
                <a:lnTo>
                  <a:pt x="5852" y="897629"/>
                </a:lnTo>
                <a:lnTo>
                  <a:pt x="11704" y="891724"/>
                </a:lnTo>
                <a:lnTo>
                  <a:pt x="17556" y="884915"/>
                </a:lnTo>
                <a:lnTo>
                  <a:pt x="23408" y="877104"/>
                </a:lnTo>
                <a:lnTo>
                  <a:pt x="29260" y="868189"/>
                </a:lnTo>
                <a:lnTo>
                  <a:pt x="35112" y="858067"/>
                </a:lnTo>
                <a:lnTo>
                  <a:pt x="40965" y="846636"/>
                </a:lnTo>
                <a:lnTo>
                  <a:pt x="46817" y="833795"/>
                </a:lnTo>
                <a:lnTo>
                  <a:pt x="52669" y="819448"/>
                </a:lnTo>
                <a:lnTo>
                  <a:pt x="58521" y="803505"/>
                </a:lnTo>
                <a:lnTo>
                  <a:pt x="64373" y="785887"/>
                </a:lnTo>
                <a:lnTo>
                  <a:pt x="70225" y="766525"/>
                </a:lnTo>
                <a:lnTo>
                  <a:pt x="76078" y="745367"/>
                </a:lnTo>
                <a:lnTo>
                  <a:pt x="81930" y="722381"/>
                </a:lnTo>
                <a:lnTo>
                  <a:pt x="87782" y="697553"/>
                </a:lnTo>
                <a:lnTo>
                  <a:pt x="93634" y="670897"/>
                </a:lnTo>
                <a:lnTo>
                  <a:pt x="99486" y="642452"/>
                </a:lnTo>
                <a:lnTo>
                  <a:pt x="105338" y="612287"/>
                </a:lnTo>
                <a:lnTo>
                  <a:pt x="111191" y="580503"/>
                </a:lnTo>
                <a:lnTo>
                  <a:pt x="117043" y="547234"/>
                </a:lnTo>
                <a:lnTo>
                  <a:pt x="122895" y="512648"/>
                </a:lnTo>
                <a:lnTo>
                  <a:pt x="128747" y="476945"/>
                </a:lnTo>
                <a:lnTo>
                  <a:pt x="134599" y="440360"/>
                </a:lnTo>
                <a:lnTo>
                  <a:pt x="140451" y="403159"/>
                </a:lnTo>
                <a:lnTo>
                  <a:pt x="146304" y="365638"/>
                </a:lnTo>
                <a:lnTo>
                  <a:pt x="152156" y="328120"/>
                </a:lnTo>
                <a:lnTo>
                  <a:pt x="158008" y="290947"/>
                </a:lnTo>
                <a:lnTo>
                  <a:pt x="163860" y="254481"/>
                </a:lnTo>
                <a:lnTo>
                  <a:pt x="169712" y="219095"/>
                </a:lnTo>
                <a:lnTo>
                  <a:pt x="175564" y="185168"/>
                </a:lnTo>
                <a:lnTo>
                  <a:pt x="181416" y="153078"/>
                </a:lnTo>
                <a:lnTo>
                  <a:pt x="187269" y="123194"/>
                </a:lnTo>
                <a:lnTo>
                  <a:pt x="193121" y="95872"/>
                </a:lnTo>
                <a:lnTo>
                  <a:pt x="198973" y="71445"/>
                </a:lnTo>
                <a:lnTo>
                  <a:pt x="204825" y="50218"/>
                </a:lnTo>
                <a:lnTo>
                  <a:pt x="210677" y="32460"/>
                </a:lnTo>
                <a:lnTo>
                  <a:pt x="216529" y="18400"/>
                </a:lnTo>
                <a:lnTo>
                  <a:pt x="222382" y="8223"/>
                </a:lnTo>
                <a:lnTo>
                  <a:pt x="228234" y="2062"/>
                </a:lnTo>
                <a:lnTo>
                  <a:pt x="234086" y="0"/>
                </a:lnTo>
                <a:lnTo>
                  <a:pt x="239938" y="2062"/>
                </a:lnTo>
                <a:lnTo>
                  <a:pt x="245790" y="8223"/>
                </a:lnTo>
                <a:lnTo>
                  <a:pt x="251642" y="18400"/>
                </a:lnTo>
                <a:lnTo>
                  <a:pt x="257495" y="32460"/>
                </a:lnTo>
                <a:lnTo>
                  <a:pt x="263347" y="50218"/>
                </a:lnTo>
                <a:lnTo>
                  <a:pt x="269199" y="71445"/>
                </a:lnTo>
                <a:lnTo>
                  <a:pt x="275051" y="95872"/>
                </a:lnTo>
                <a:lnTo>
                  <a:pt x="280903" y="123194"/>
                </a:lnTo>
                <a:lnTo>
                  <a:pt x="286755" y="153078"/>
                </a:lnTo>
                <a:lnTo>
                  <a:pt x="292608" y="185168"/>
                </a:lnTo>
                <a:lnTo>
                  <a:pt x="298460" y="219095"/>
                </a:lnTo>
                <a:lnTo>
                  <a:pt x="304312" y="254481"/>
                </a:lnTo>
                <a:lnTo>
                  <a:pt x="310164" y="290947"/>
                </a:lnTo>
                <a:lnTo>
                  <a:pt x="316016" y="328120"/>
                </a:lnTo>
                <a:lnTo>
                  <a:pt x="321868" y="365638"/>
                </a:lnTo>
                <a:lnTo>
                  <a:pt x="327720" y="403159"/>
                </a:lnTo>
                <a:lnTo>
                  <a:pt x="333573" y="440360"/>
                </a:lnTo>
                <a:lnTo>
                  <a:pt x="339425" y="476945"/>
                </a:lnTo>
                <a:lnTo>
                  <a:pt x="345277" y="512648"/>
                </a:lnTo>
                <a:lnTo>
                  <a:pt x="351129" y="547234"/>
                </a:lnTo>
                <a:lnTo>
                  <a:pt x="356981" y="580503"/>
                </a:lnTo>
                <a:lnTo>
                  <a:pt x="362833" y="612287"/>
                </a:lnTo>
                <a:lnTo>
                  <a:pt x="368686" y="642452"/>
                </a:lnTo>
                <a:lnTo>
                  <a:pt x="374538" y="670897"/>
                </a:lnTo>
                <a:lnTo>
                  <a:pt x="380390" y="697553"/>
                </a:lnTo>
                <a:lnTo>
                  <a:pt x="386242" y="722381"/>
                </a:lnTo>
                <a:lnTo>
                  <a:pt x="392094" y="745367"/>
                </a:lnTo>
                <a:lnTo>
                  <a:pt x="397946" y="766525"/>
                </a:lnTo>
                <a:lnTo>
                  <a:pt x="403799" y="785887"/>
                </a:lnTo>
                <a:lnTo>
                  <a:pt x="409651" y="803505"/>
                </a:lnTo>
                <a:lnTo>
                  <a:pt x="415503" y="819448"/>
                </a:lnTo>
                <a:lnTo>
                  <a:pt x="421355" y="833795"/>
                </a:lnTo>
                <a:lnTo>
                  <a:pt x="427207" y="846636"/>
                </a:lnTo>
                <a:lnTo>
                  <a:pt x="433059" y="858067"/>
                </a:lnTo>
                <a:lnTo>
                  <a:pt x="438912" y="868189"/>
                </a:lnTo>
                <a:lnTo>
                  <a:pt x="444764" y="877104"/>
                </a:lnTo>
                <a:lnTo>
                  <a:pt x="450616" y="884915"/>
                </a:lnTo>
                <a:lnTo>
                  <a:pt x="456468" y="891724"/>
                </a:lnTo>
                <a:lnTo>
                  <a:pt x="462320" y="897629"/>
                </a:lnTo>
                <a:lnTo>
                  <a:pt x="468172" y="902723"/>
                </a:lnTo>
                <a:lnTo>
                  <a:pt x="474024" y="907096"/>
                </a:lnTo>
                <a:lnTo>
                  <a:pt x="479877" y="910830"/>
                </a:lnTo>
                <a:lnTo>
                  <a:pt x="485729" y="914004"/>
                </a:lnTo>
                <a:lnTo>
                  <a:pt x="491581" y="916687"/>
                </a:lnTo>
                <a:lnTo>
                  <a:pt x="497433" y="918945"/>
                </a:lnTo>
                <a:lnTo>
                  <a:pt x="503285" y="920835"/>
                </a:lnTo>
                <a:lnTo>
                  <a:pt x="509137" y="922409"/>
                </a:lnTo>
                <a:lnTo>
                  <a:pt x="514990" y="923715"/>
                </a:lnTo>
                <a:lnTo>
                  <a:pt x="520842" y="924792"/>
                </a:lnTo>
                <a:lnTo>
                  <a:pt x="526694" y="925676"/>
                </a:lnTo>
                <a:lnTo>
                  <a:pt x="532546" y="926398"/>
                </a:lnTo>
                <a:lnTo>
                  <a:pt x="538398" y="926985"/>
                </a:lnTo>
                <a:lnTo>
                  <a:pt x="544250" y="927460"/>
                </a:lnTo>
                <a:lnTo>
                  <a:pt x="550103" y="927843"/>
                </a:lnTo>
                <a:lnTo>
                  <a:pt x="555955" y="928149"/>
                </a:lnTo>
                <a:lnTo>
                  <a:pt x="561807" y="928394"/>
                </a:lnTo>
                <a:lnTo>
                  <a:pt x="567659" y="928588"/>
                </a:lnTo>
                <a:lnTo>
                  <a:pt x="573511" y="928741"/>
                </a:lnTo>
                <a:lnTo>
                  <a:pt x="579363" y="928862"/>
                </a:lnTo>
                <a:lnTo>
                  <a:pt x="585216" y="928956"/>
                </a:lnTo>
                <a:lnTo>
                  <a:pt x="591068" y="929030"/>
                </a:lnTo>
                <a:lnTo>
                  <a:pt x="596920" y="929087"/>
                </a:lnTo>
                <a:lnTo>
                  <a:pt x="602772" y="929131"/>
                </a:lnTo>
                <a:lnTo>
                  <a:pt x="608624" y="929164"/>
                </a:lnTo>
                <a:lnTo>
                  <a:pt x="614476" y="929190"/>
                </a:lnTo>
                <a:lnTo>
                  <a:pt x="620328" y="929210"/>
                </a:lnTo>
                <a:lnTo>
                  <a:pt x="626181" y="929225"/>
                </a:lnTo>
                <a:lnTo>
                  <a:pt x="632033" y="929236"/>
                </a:lnTo>
                <a:lnTo>
                  <a:pt x="637885" y="929244"/>
                </a:lnTo>
                <a:lnTo>
                  <a:pt x="643737" y="929251"/>
                </a:lnTo>
                <a:lnTo>
                  <a:pt x="649589" y="929255"/>
                </a:lnTo>
                <a:lnTo>
                  <a:pt x="655441" y="929259"/>
                </a:lnTo>
                <a:lnTo>
                  <a:pt x="661294" y="929261"/>
                </a:lnTo>
                <a:lnTo>
                  <a:pt x="667146" y="929263"/>
                </a:lnTo>
                <a:lnTo>
                  <a:pt x="672998" y="929265"/>
                </a:lnTo>
                <a:lnTo>
                  <a:pt x="678850" y="929266"/>
                </a:lnTo>
                <a:lnTo>
                  <a:pt x="684702" y="929266"/>
                </a:lnTo>
                <a:lnTo>
                  <a:pt x="690554" y="929267"/>
                </a:lnTo>
                <a:lnTo>
                  <a:pt x="696407" y="929267"/>
                </a:lnTo>
                <a:lnTo>
                  <a:pt x="702259" y="929267"/>
                </a:lnTo>
                <a:lnTo>
                  <a:pt x="708111" y="929268"/>
                </a:lnTo>
                <a:lnTo>
                  <a:pt x="713963" y="929268"/>
                </a:lnTo>
                <a:lnTo>
                  <a:pt x="719815" y="929268"/>
                </a:lnTo>
                <a:lnTo>
                  <a:pt x="725667" y="929268"/>
                </a:lnTo>
                <a:lnTo>
                  <a:pt x="731520" y="929268"/>
                </a:lnTo>
                <a:lnTo>
                  <a:pt x="737372" y="929268"/>
                </a:lnTo>
                <a:lnTo>
                  <a:pt x="743224" y="929268"/>
                </a:lnTo>
                <a:lnTo>
                  <a:pt x="749076" y="929268"/>
                </a:lnTo>
                <a:lnTo>
                  <a:pt x="754928" y="929268"/>
                </a:lnTo>
                <a:lnTo>
                  <a:pt x="760780" y="929268"/>
                </a:lnTo>
                <a:lnTo>
                  <a:pt x="766632" y="929268"/>
                </a:lnTo>
                <a:lnTo>
                  <a:pt x="772485" y="929268"/>
                </a:lnTo>
                <a:lnTo>
                  <a:pt x="778337" y="929268"/>
                </a:lnTo>
                <a:lnTo>
                  <a:pt x="784189" y="929268"/>
                </a:lnTo>
                <a:lnTo>
                  <a:pt x="790041" y="929268"/>
                </a:lnTo>
                <a:lnTo>
                  <a:pt x="795893" y="929268"/>
                </a:lnTo>
                <a:lnTo>
                  <a:pt x="801745" y="929268"/>
                </a:lnTo>
                <a:lnTo>
                  <a:pt x="807598" y="929268"/>
                </a:lnTo>
                <a:lnTo>
                  <a:pt x="813450" y="929268"/>
                </a:lnTo>
                <a:lnTo>
                  <a:pt x="819302" y="929268"/>
                </a:lnTo>
                <a:lnTo>
                  <a:pt x="825154" y="929268"/>
                </a:lnTo>
                <a:lnTo>
                  <a:pt x="831006" y="929268"/>
                </a:lnTo>
                <a:lnTo>
                  <a:pt x="836858" y="929268"/>
                </a:lnTo>
                <a:lnTo>
                  <a:pt x="842711" y="929268"/>
                </a:lnTo>
                <a:lnTo>
                  <a:pt x="848563" y="929268"/>
                </a:lnTo>
                <a:lnTo>
                  <a:pt x="854415" y="929268"/>
                </a:lnTo>
                <a:lnTo>
                  <a:pt x="860267" y="929268"/>
                </a:lnTo>
                <a:lnTo>
                  <a:pt x="866119" y="929268"/>
                </a:lnTo>
                <a:lnTo>
                  <a:pt x="871971" y="929268"/>
                </a:lnTo>
                <a:lnTo>
                  <a:pt x="877824" y="929268"/>
                </a:lnTo>
                <a:lnTo>
                  <a:pt x="883676" y="929268"/>
                </a:lnTo>
                <a:lnTo>
                  <a:pt x="889528" y="929268"/>
                </a:lnTo>
                <a:lnTo>
                  <a:pt x="895380" y="929268"/>
                </a:lnTo>
                <a:lnTo>
                  <a:pt x="901232" y="929268"/>
                </a:lnTo>
                <a:lnTo>
                  <a:pt x="907084" y="929268"/>
                </a:lnTo>
                <a:lnTo>
                  <a:pt x="912936" y="929268"/>
                </a:lnTo>
                <a:lnTo>
                  <a:pt x="918789" y="929268"/>
                </a:lnTo>
                <a:lnTo>
                  <a:pt x="924641" y="929268"/>
                </a:lnTo>
                <a:lnTo>
                  <a:pt x="930493" y="929268"/>
                </a:lnTo>
                <a:lnTo>
                  <a:pt x="936345" y="929268"/>
                </a:lnTo>
                <a:lnTo>
                  <a:pt x="942197" y="929268"/>
                </a:lnTo>
                <a:lnTo>
                  <a:pt x="948049" y="929268"/>
                </a:lnTo>
                <a:lnTo>
                  <a:pt x="953902" y="929268"/>
                </a:lnTo>
                <a:lnTo>
                  <a:pt x="959754" y="929268"/>
                </a:lnTo>
                <a:lnTo>
                  <a:pt x="965606" y="929268"/>
                </a:lnTo>
                <a:lnTo>
                  <a:pt x="971458" y="929268"/>
                </a:lnTo>
                <a:lnTo>
                  <a:pt x="977310" y="929268"/>
                </a:lnTo>
                <a:lnTo>
                  <a:pt x="983162" y="929268"/>
                </a:lnTo>
                <a:lnTo>
                  <a:pt x="989015" y="929268"/>
                </a:lnTo>
                <a:lnTo>
                  <a:pt x="994867" y="929268"/>
                </a:lnTo>
                <a:lnTo>
                  <a:pt x="1000719" y="929268"/>
                </a:lnTo>
                <a:lnTo>
                  <a:pt x="1006571" y="929268"/>
                </a:lnTo>
                <a:lnTo>
                  <a:pt x="1012423" y="929268"/>
                </a:lnTo>
                <a:lnTo>
                  <a:pt x="1018275" y="929268"/>
                </a:lnTo>
                <a:lnTo>
                  <a:pt x="1024128" y="929268"/>
                </a:lnTo>
                <a:lnTo>
                  <a:pt x="1029980" y="929268"/>
                </a:lnTo>
                <a:lnTo>
                  <a:pt x="1035832" y="929268"/>
                </a:lnTo>
                <a:lnTo>
                  <a:pt x="1041684" y="929268"/>
                </a:lnTo>
                <a:lnTo>
                  <a:pt x="1047536" y="929268"/>
                </a:lnTo>
                <a:lnTo>
                  <a:pt x="1053388" y="929268"/>
                </a:lnTo>
                <a:lnTo>
                  <a:pt x="1059240" y="929268"/>
                </a:lnTo>
                <a:lnTo>
                  <a:pt x="1065093" y="929268"/>
                </a:lnTo>
                <a:lnTo>
                  <a:pt x="1070945" y="929268"/>
                </a:lnTo>
                <a:lnTo>
                  <a:pt x="1076797" y="929268"/>
                </a:lnTo>
                <a:lnTo>
                  <a:pt x="1082649" y="929268"/>
                </a:lnTo>
                <a:lnTo>
                  <a:pt x="1088501" y="929268"/>
                </a:lnTo>
                <a:lnTo>
                  <a:pt x="1094353" y="929268"/>
                </a:lnTo>
                <a:lnTo>
                  <a:pt x="1100206" y="929268"/>
                </a:lnTo>
                <a:lnTo>
                  <a:pt x="1106058" y="929268"/>
                </a:lnTo>
                <a:lnTo>
                  <a:pt x="1111910" y="929268"/>
                </a:lnTo>
                <a:lnTo>
                  <a:pt x="1117762" y="929268"/>
                </a:lnTo>
                <a:lnTo>
                  <a:pt x="1123614" y="929268"/>
                </a:lnTo>
                <a:lnTo>
                  <a:pt x="1129466" y="929268"/>
                </a:lnTo>
                <a:lnTo>
                  <a:pt x="1135319" y="929268"/>
                </a:lnTo>
                <a:lnTo>
                  <a:pt x="1141171" y="929268"/>
                </a:lnTo>
                <a:lnTo>
                  <a:pt x="1147023" y="929268"/>
                </a:lnTo>
                <a:lnTo>
                  <a:pt x="1152875" y="929268"/>
                </a:lnTo>
                <a:lnTo>
                  <a:pt x="1158727" y="929268"/>
                </a:lnTo>
                <a:lnTo>
                  <a:pt x="1164579" y="929268"/>
                </a:lnTo>
                <a:lnTo>
                  <a:pt x="1170432" y="929268"/>
                </a:lnTo>
                <a:lnTo>
                  <a:pt x="1176284" y="929268"/>
                </a:lnTo>
                <a:lnTo>
                  <a:pt x="1182136" y="929268"/>
                </a:lnTo>
                <a:lnTo>
                  <a:pt x="1187988" y="929268"/>
                </a:lnTo>
                <a:lnTo>
                  <a:pt x="1193840" y="929268"/>
                </a:lnTo>
                <a:lnTo>
                  <a:pt x="1199692" y="929268"/>
                </a:lnTo>
                <a:lnTo>
                  <a:pt x="1205544" y="929268"/>
                </a:lnTo>
                <a:lnTo>
                  <a:pt x="1211397" y="929268"/>
                </a:lnTo>
                <a:lnTo>
                  <a:pt x="1217249" y="929268"/>
                </a:lnTo>
                <a:lnTo>
                  <a:pt x="1223101" y="929268"/>
                </a:lnTo>
                <a:lnTo>
                  <a:pt x="1228953" y="929268"/>
                </a:lnTo>
                <a:lnTo>
                  <a:pt x="1234805" y="929268"/>
                </a:lnTo>
                <a:lnTo>
                  <a:pt x="1240657" y="929268"/>
                </a:lnTo>
                <a:lnTo>
                  <a:pt x="1246510" y="929268"/>
                </a:lnTo>
                <a:lnTo>
                  <a:pt x="1252362" y="929268"/>
                </a:lnTo>
                <a:lnTo>
                  <a:pt x="1258214" y="929268"/>
                </a:lnTo>
                <a:lnTo>
                  <a:pt x="1264066" y="929268"/>
                </a:lnTo>
                <a:lnTo>
                  <a:pt x="1269918" y="929268"/>
                </a:lnTo>
                <a:lnTo>
                  <a:pt x="1275770" y="929268"/>
                </a:lnTo>
                <a:lnTo>
                  <a:pt x="1281623" y="929268"/>
                </a:lnTo>
                <a:lnTo>
                  <a:pt x="1287475" y="929268"/>
                </a:lnTo>
                <a:lnTo>
                  <a:pt x="1293327" y="929268"/>
                </a:lnTo>
                <a:lnTo>
                  <a:pt x="1299179" y="929268"/>
                </a:lnTo>
                <a:lnTo>
                  <a:pt x="1305031" y="929268"/>
                </a:lnTo>
                <a:lnTo>
                  <a:pt x="1310883" y="929268"/>
                </a:lnTo>
                <a:lnTo>
                  <a:pt x="1316735" y="929268"/>
                </a:lnTo>
                <a:lnTo>
                  <a:pt x="1322588" y="929268"/>
                </a:lnTo>
                <a:lnTo>
                  <a:pt x="1328440" y="929268"/>
                </a:lnTo>
                <a:lnTo>
                  <a:pt x="1334292" y="929268"/>
                </a:lnTo>
                <a:lnTo>
                  <a:pt x="1340144" y="929268"/>
                </a:lnTo>
                <a:lnTo>
                  <a:pt x="1345996" y="929268"/>
                </a:lnTo>
                <a:lnTo>
                  <a:pt x="1351848" y="929268"/>
                </a:lnTo>
                <a:lnTo>
                  <a:pt x="1357701" y="929268"/>
                </a:lnTo>
                <a:lnTo>
                  <a:pt x="1363553" y="929268"/>
                </a:lnTo>
                <a:lnTo>
                  <a:pt x="1369405" y="929268"/>
                </a:lnTo>
                <a:lnTo>
                  <a:pt x="1375257" y="929268"/>
                </a:lnTo>
                <a:lnTo>
                  <a:pt x="1381109" y="929268"/>
                </a:lnTo>
                <a:lnTo>
                  <a:pt x="1386961" y="929268"/>
                </a:lnTo>
                <a:lnTo>
                  <a:pt x="1392814" y="929268"/>
                </a:lnTo>
                <a:lnTo>
                  <a:pt x="1398666" y="929268"/>
                </a:lnTo>
                <a:lnTo>
                  <a:pt x="1404518" y="929268"/>
                </a:lnTo>
                <a:lnTo>
                  <a:pt x="1410370" y="929268"/>
                </a:lnTo>
                <a:lnTo>
                  <a:pt x="1416222" y="929268"/>
                </a:lnTo>
                <a:lnTo>
                  <a:pt x="1422074" y="929268"/>
                </a:lnTo>
                <a:lnTo>
                  <a:pt x="1427927" y="929268"/>
                </a:lnTo>
                <a:lnTo>
                  <a:pt x="1433779" y="929268"/>
                </a:lnTo>
                <a:lnTo>
                  <a:pt x="1439631" y="929268"/>
                </a:lnTo>
                <a:lnTo>
                  <a:pt x="1445483" y="929268"/>
                </a:lnTo>
                <a:lnTo>
                  <a:pt x="1451335" y="929268"/>
                </a:lnTo>
                <a:lnTo>
                  <a:pt x="1457187" y="929268"/>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9866376" y="3604445"/>
            <a:ext cx="1457187" cy="390293"/>
          </a:xfrm>
          <a:custGeom>
            <a:avLst/>
            <a:gdLst/>
            <a:ahLst/>
            <a:cxnLst/>
            <a:rect l="l" t="t" r="r" b="b"/>
            <a:pathLst>
              <a:path w="1457187" h="390293">
                <a:moveTo>
                  <a:pt x="0" y="390136"/>
                </a:moveTo>
                <a:lnTo>
                  <a:pt x="5852" y="390104"/>
                </a:lnTo>
                <a:lnTo>
                  <a:pt x="11704" y="390066"/>
                </a:lnTo>
                <a:lnTo>
                  <a:pt x="17556" y="390022"/>
                </a:lnTo>
                <a:lnTo>
                  <a:pt x="23408" y="389970"/>
                </a:lnTo>
                <a:lnTo>
                  <a:pt x="29260" y="389909"/>
                </a:lnTo>
                <a:lnTo>
                  <a:pt x="35112" y="389836"/>
                </a:lnTo>
                <a:lnTo>
                  <a:pt x="40965" y="389752"/>
                </a:lnTo>
                <a:lnTo>
                  <a:pt x="46817" y="389653"/>
                </a:lnTo>
                <a:lnTo>
                  <a:pt x="52669" y="389538"/>
                </a:lnTo>
                <a:lnTo>
                  <a:pt x="58521" y="389404"/>
                </a:lnTo>
                <a:lnTo>
                  <a:pt x="64373" y="389248"/>
                </a:lnTo>
                <a:lnTo>
                  <a:pt x="70225" y="389068"/>
                </a:lnTo>
                <a:lnTo>
                  <a:pt x="76078" y="388860"/>
                </a:lnTo>
                <a:lnTo>
                  <a:pt x="81930" y="388621"/>
                </a:lnTo>
                <a:lnTo>
                  <a:pt x="87782" y="388345"/>
                </a:lnTo>
                <a:lnTo>
                  <a:pt x="93634" y="388029"/>
                </a:lnTo>
                <a:lnTo>
                  <a:pt x="99486" y="387668"/>
                </a:lnTo>
                <a:lnTo>
                  <a:pt x="105338" y="387255"/>
                </a:lnTo>
                <a:lnTo>
                  <a:pt x="111191" y="386785"/>
                </a:lnTo>
                <a:lnTo>
                  <a:pt x="117043" y="386251"/>
                </a:lnTo>
                <a:lnTo>
                  <a:pt x="122895" y="385645"/>
                </a:lnTo>
                <a:lnTo>
                  <a:pt x="128747" y="384961"/>
                </a:lnTo>
                <a:lnTo>
                  <a:pt x="134599" y="384189"/>
                </a:lnTo>
                <a:lnTo>
                  <a:pt x="140451" y="383320"/>
                </a:lnTo>
                <a:lnTo>
                  <a:pt x="146304" y="382345"/>
                </a:lnTo>
                <a:lnTo>
                  <a:pt x="152156" y="381253"/>
                </a:lnTo>
                <a:lnTo>
                  <a:pt x="158008" y="380034"/>
                </a:lnTo>
                <a:lnTo>
                  <a:pt x="163860" y="378675"/>
                </a:lnTo>
                <a:lnTo>
                  <a:pt x="169712" y="377164"/>
                </a:lnTo>
                <a:lnTo>
                  <a:pt x="175564" y="375490"/>
                </a:lnTo>
                <a:lnTo>
                  <a:pt x="181416" y="373637"/>
                </a:lnTo>
                <a:lnTo>
                  <a:pt x="187269" y="371594"/>
                </a:lnTo>
                <a:lnTo>
                  <a:pt x="193121" y="369344"/>
                </a:lnTo>
                <a:lnTo>
                  <a:pt x="198973" y="366876"/>
                </a:lnTo>
                <a:lnTo>
                  <a:pt x="204825" y="364172"/>
                </a:lnTo>
                <a:lnTo>
                  <a:pt x="210677" y="361220"/>
                </a:lnTo>
                <a:lnTo>
                  <a:pt x="216529" y="358004"/>
                </a:lnTo>
                <a:lnTo>
                  <a:pt x="222382" y="354509"/>
                </a:lnTo>
                <a:lnTo>
                  <a:pt x="228234" y="350722"/>
                </a:lnTo>
                <a:lnTo>
                  <a:pt x="234086" y="346629"/>
                </a:lnTo>
                <a:lnTo>
                  <a:pt x="239938" y="342217"/>
                </a:lnTo>
                <a:lnTo>
                  <a:pt x="245790" y="337473"/>
                </a:lnTo>
                <a:lnTo>
                  <a:pt x="251642" y="332386"/>
                </a:lnTo>
                <a:lnTo>
                  <a:pt x="257495" y="326947"/>
                </a:lnTo>
                <a:lnTo>
                  <a:pt x="263347" y="321146"/>
                </a:lnTo>
                <a:lnTo>
                  <a:pt x="269199" y="314978"/>
                </a:lnTo>
                <a:lnTo>
                  <a:pt x="275051" y="308436"/>
                </a:lnTo>
                <a:lnTo>
                  <a:pt x="280903" y="301519"/>
                </a:lnTo>
                <a:lnTo>
                  <a:pt x="286755" y="294225"/>
                </a:lnTo>
                <a:lnTo>
                  <a:pt x="292608" y="286556"/>
                </a:lnTo>
                <a:lnTo>
                  <a:pt x="298460" y="278518"/>
                </a:lnTo>
                <a:lnTo>
                  <a:pt x="304312" y="270116"/>
                </a:lnTo>
                <a:lnTo>
                  <a:pt x="310164" y="261363"/>
                </a:lnTo>
                <a:lnTo>
                  <a:pt x="316016" y="252271"/>
                </a:lnTo>
                <a:lnTo>
                  <a:pt x="321868" y="242857"/>
                </a:lnTo>
                <a:lnTo>
                  <a:pt x="327720" y="233141"/>
                </a:lnTo>
                <a:lnTo>
                  <a:pt x="333573" y="223146"/>
                </a:lnTo>
                <a:lnTo>
                  <a:pt x="339425" y="212901"/>
                </a:lnTo>
                <a:lnTo>
                  <a:pt x="345277" y="202434"/>
                </a:lnTo>
                <a:lnTo>
                  <a:pt x="351129" y="191780"/>
                </a:lnTo>
                <a:lnTo>
                  <a:pt x="356981" y="180974"/>
                </a:lnTo>
                <a:lnTo>
                  <a:pt x="362833" y="170058"/>
                </a:lnTo>
                <a:lnTo>
                  <a:pt x="368686" y="159073"/>
                </a:lnTo>
                <a:lnTo>
                  <a:pt x="374538" y="148064"/>
                </a:lnTo>
                <a:lnTo>
                  <a:pt x="380390" y="137080"/>
                </a:lnTo>
                <a:lnTo>
                  <a:pt x="386242" y="126170"/>
                </a:lnTo>
                <a:lnTo>
                  <a:pt x="392094" y="115385"/>
                </a:lnTo>
                <a:lnTo>
                  <a:pt x="397946" y="104778"/>
                </a:lnTo>
                <a:lnTo>
                  <a:pt x="403799" y="94402"/>
                </a:lnTo>
                <a:lnTo>
                  <a:pt x="409651" y="84312"/>
                </a:lnTo>
                <a:lnTo>
                  <a:pt x="415503" y="74562"/>
                </a:lnTo>
                <a:lnTo>
                  <a:pt x="421355" y="65205"/>
                </a:lnTo>
                <a:lnTo>
                  <a:pt x="427207" y="56294"/>
                </a:lnTo>
                <a:lnTo>
                  <a:pt x="433059" y="47881"/>
                </a:lnTo>
                <a:lnTo>
                  <a:pt x="438912" y="40014"/>
                </a:lnTo>
                <a:lnTo>
                  <a:pt x="444764" y="32741"/>
                </a:lnTo>
                <a:lnTo>
                  <a:pt x="450616" y="26105"/>
                </a:lnTo>
                <a:lnTo>
                  <a:pt x="456468" y="20148"/>
                </a:lnTo>
                <a:lnTo>
                  <a:pt x="462320" y="14906"/>
                </a:lnTo>
                <a:lnTo>
                  <a:pt x="468172" y="10413"/>
                </a:lnTo>
                <a:lnTo>
                  <a:pt x="474024" y="6697"/>
                </a:lnTo>
                <a:lnTo>
                  <a:pt x="479877" y="3781"/>
                </a:lnTo>
                <a:lnTo>
                  <a:pt x="485729" y="1685"/>
                </a:lnTo>
                <a:lnTo>
                  <a:pt x="491581" y="422"/>
                </a:lnTo>
                <a:lnTo>
                  <a:pt x="497433" y="0"/>
                </a:lnTo>
                <a:lnTo>
                  <a:pt x="503285" y="422"/>
                </a:lnTo>
                <a:lnTo>
                  <a:pt x="509137" y="1685"/>
                </a:lnTo>
                <a:lnTo>
                  <a:pt x="514990" y="3781"/>
                </a:lnTo>
                <a:lnTo>
                  <a:pt x="520842" y="6697"/>
                </a:lnTo>
                <a:lnTo>
                  <a:pt x="526694" y="10413"/>
                </a:lnTo>
                <a:lnTo>
                  <a:pt x="532546" y="14906"/>
                </a:lnTo>
                <a:lnTo>
                  <a:pt x="538398" y="20148"/>
                </a:lnTo>
                <a:lnTo>
                  <a:pt x="544250" y="26105"/>
                </a:lnTo>
                <a:lnTo>
                  <a:pt x="550103" y="32741"/>
                </a:lnTo>
                <a:lnTo>
                  <a:pt x="555955" y="40014"/>
                </a:lnTo>
                <a:lnTo>
                  <a:pt x="561807" y="47881"/>
                </a:lnTo>
                <a:lnTo>
                  <a:pt x="567659" y="56294"/>
                </a:lnTo>
                <a:lnTo>
                  <a:pt x="573511" y="65205"/>
                </a:lnTo>
                <a:lnTo>
                  <a:pt x="579363" y="74562"/>
                </a:lnTo>
                <a:lnTo>
                  <a:pt x="585216" y="84312"/>
                </a:lnTo>
                <a:lnTo>
                  <a:pt x="591068" y="94402"/>
                </a:lnTo>
                <a:lnTo>
                  <a:pt x="596920" y="104778"/>
                </a:lnTo>
                <a:lnTo>
                  <a:pt x="602772" y="115385"/>
                </a:lnTo>
                <a:lnTo>
                  <a:pt x="608624" y="126170"/>
                </a:lnTo>
                <a:lnTo>
                  <a:pt x="614476" y="137080"/>
                </a:lnTo>
                <a:lnTo>
                  <a:pt x="620328" y="148064"/>
                </a:lnTo>
                <a:lnTo>
                  <a:pt x="626181" y="159073"/>
                </a:lnTo>
                <a:lnTo>
                  <a:pt x="632033" y="170058"/>
                </a:lnTo>
                <a:lnTo>
                  <a:pt x="637885" y="180974"/>
                </a:lnTo>
                <a:lnTo>
                  <a:pt x="643737" y="191780"/>
                </a:lnTo>
                <a:lnTo>
                  <a:pt x="649589" y="202434"/>
                </a:lnTo>
                <a:lnTo>
                  <a:pt x="655441" y="212901"/>
                </a:lnTo>
                <a:lnTo>
                  <a:pt x="661294" y="223146"/>
                </a:lnTo>
                <a:lnTo>
                  <a:pt x="667146" y="233141"/>
                </a:lnTo>
                <a:lnTo>
                  <a:pt x="672998" y="242857"/>
                </a:lnTo>
                <a:lnTo>
                  <a:pt x="678850" y="252271"/>
                </a:lnTo>
                <a:lnTo>
                  <a:pt x="684702" y="261363"/>
                </a:lnTo>
                <a:lnTo>
                  <a:pt x="690554" y="270116"/>
                </a:lnTo>
                <a:lnTo>
                  <a:pt x="696407" y="278518"/>
                </a:lnTo>
                <a:lnTo>
                  <a:pt x="702259" y="286556"/>
                </a:lnTo>
                <a:lnTo>
                  <a:pt x="708111" y="294225"/>
                </a:lnTo>
                <a:lnTo>
                  <a:pt x="713963" y="301519"/>
                </a:lnTo>
                <a:lnTo>
                  <a:pt x="719815" y="308436"/>
                </a:lnTo>
                <a:lnTo>
                  <a:pt x="725667" y="314978"/>
                </a:lnTo>
                <a:lnTo>
                  <a:pt x="731520" y="321146"/>
                </a:lnTo>
                <a:lnTo>
                  <a:pt x="737372" y="326947"/>
                </a:lnTo>
                <a:lnTo>
                  <a:pt x="743224" y="332386"/>
                </a:lnTo>
                <a:lnTo>
                  <a:pt x="749076" y="337473"/>
                </a:lnTo>
                <a:lnTo>
                  <a:pt x="754928" y="342217"/>
                </a:lnTo>
                <a:lnTo>
                  <a:pt x="760780" y="346629"/>
                </a:lnTo>
                <a:lnTo>
                  <a:pt x="766632" y="350722"/>
                </a:lnTo>
                <a:lnTo>
                  <a:pt x="772485" y="354509"/>
                </a:lnTo>
                <a:lnTo>
                  <a:pt x="778337" y="358004"/>
                </a:lnTo>
                <a:lnTo>
                  <a:pt x="784189" y="361220"/>
                </a:lnTo>
                <a:lnTo>
                  <a:pt x="790041" y="364172"/>
                </a:lnTo>
                <a:lnTo>
                  <a:pt x="795893" y="366876"/>
                </a:lnTo>
                <a:lnTo>
                  <a:pt x="801745" y="369344"/>
                </a:lnTo>
                <a:lnTo>
                  <a:pt x="807598" y="371594"/>
                </a:lnTo>
                <a:lnTo>
                  <a:pt x="813450" y="373637"/>
                </a:lnTo>
                <a:lnTo>
                  <a:pt x="819302" y="375490"/>
                </a:lnTo>
                <a:lnTo>
                  <a:pt x="825154" y="377164"/>
                </a:lnTo>
                <a:lnTo>
                  <a:pt x="831006" y="378675"/>
                </a:lnTo>
                <a:lnTo>
                  <a:pt x="836858" y="380034"/>
                </a:lnTo>
                <a:lnTo>
                  <a:pt x="842711" y="381253"/>
                </a:lnTo>
                <a:lnTo>
                  <a:pt x="848563" y="382345"/>
                </a:lnTo>
                <a:lnTo>
                  <a:pt x="854415" y="383320"/>
                </a:lnTo>
                <a:lnTo>
                  <a:pt x="860267" y="384189"/>
                </a:lnTo>
                <a:lnTo>
                  <a:pt x="866119" y="384961"/>
                </a:lnTo>
                <a:lnTo>
                  <a:pt x="871971" y="385645"/>
                </a:lnTo>
                <a:lnTo>
                  <a:pt x="877824" y="386251"/>
                </a:lnTo>
                <a:lnTo>
                  <a:pt x="883676" y="386785"/>
                </a:lnTo>
                <a:lnTo>
                  <a:pt x="889528" y="387255"/>
                </a:lnTo>
                <a:lnTo>
                  <a:pt x="895380" y="387668"/>
                </a:lnTo>
                <a:lnTo>
                  <a:pt x="901232" y="388029"/>
                </a:lnTo>
                <a:lnTo>
                  <a:pt x="907084" y="388345"/>
                </a:lnTo>
                <a:lnTo>
                  <a:pt x="912936" y="388621"/>
                </a:lnTo>
                <a:lnTo>
                  <a:pt x="918789" y="388860"/>
                </a:lnTo>
                <a:lnTo>
                  <a:pt x="924641" y="389068"/>
                </a:lnTo>
                <a:lnTo>
                  <a:pt x="930493" y="389248"/>
                </a:lnTo>
                <a:lnTo>
                  <a:pt x="936345" y="389404"/>
                </a:lnTo>
                <a:lnTo>
                  <a:pt x="942197" y="389538"/>
                </a:lnTo>
                <a:lnTo>
                  <a:pt x="948049" y="389653"/>
                </a:lnTo>
                <a:lnTo>
                  <a:pt x="953902" y="389752"/>
                </a:lnTo>
                <a:lnTo>
                  <a:pt x="959754" y="389836"/>
                </a:lnTo>
                <a:lnTo>
                  <a:pt x="965606" y="389909"/>
                </a:lnTo>
                <a:lnTo>
                  <a:pt x="971458" y="389970"/>
                </a:lnTo>
                <a:lnTo>
                  <a:pt x="977310" y="390022"/>
                </a:lnTo>
                <a:lnTo>
                  <a:pt x="983162" y="390066"/>
                </a:lnTo>
                <a:lnTo>
                  <a:pt x="989015" y="390104"/>
                </a:lnTo>
                <a:lnTo>
                  <a:pt x="994867" y="390136"/>
                </a:lnTo>
                <a:lnTo>
                  <a:pt x="1000719" y="390162"/>
                </a:lnTo>
                <a:lnTo>
                  <a:pt x="1006571" y="390184"/>
                </a:lnTo>
                <a:lnTo>
                  <a:pt x="1012423" y="390203"/>
                </a:lnTo>
                <a:lnTo>
                  <a:pt x="1018275" y="390219"/>
                </a:lnTo>
                <a:lnTo>
                  <a:pt x="1024128" y="390232"/>
                </a:lnTo>
                <a:lnTo>
                  <a:pt x="1029980" y="390243"/>
                </a:lnTo>
                <a:lnTo>
                  <a:pt x="1035832" y="390252"/>
                </a:lnTo>
                <a:lnTo>
                  <a:pt x="1041684" y="390259"/>
                </a:lnTo>
                <a:lnTo>
                  <a:pt x="1047536" y="390265"/>
                </a:lnTo>
                <a:lnTo>
                  <a:pt x="1053388" y="390271"/>
                </a:lnTo>
                <a:lnTo>
                  <a:pt x="1059240" y="390275"/>
                </a:lnTo>
                <a:lnTo>
                  <a:pt x="1065093" y="390278"/>
                </a:lnTo>
                <a:lnTo>
                  <a:pt x="1070945" y="390281"/>
                </a:lnTo>
                <a:lnTo>
                  <a:pt x="1076797" y="390283"/>
                </a:lnTo>
                <a:lnTo>
                  <a:pt x="1082649" y="390285"/>
                </a:lnTo>
                <a:lnTo>
                  <a:pt x="1088501" y="390287"/>
                </a:lnTo>
                <a:lnTo>
                  <a:pt x="1094353" y="390288"/>
                </a:lnTo>
                <a:lnTo>
                  <a:pt x="1100206" y="390289"/>
                </a:lnTo>
                <a:lnTo>
                  <a:pt x="1106058" y="390290"/>
                </a:lnTo>
                <a:lnTo>
                  <a:pt x="1111910" y="390290"/>
                </a:lnTo>
                <a:lnTo>
                  <a:pt x="1117762" y="390291"/>
                </a:lnTo>
                <a:lnTo>
                  <a:pt x="1123614" y="390291"/>
                </a:lnTo>
                <a:lnTo>
                  <a:pt x="1129466" y="390292"/>
                </a:lnTo>
                <a:lnTo>
                  <a:pt x="1135319" y="390292"/>
                </a:lnTo>
                <a:lnTo>
                  <a:pt x="1141171" y="390292"/>
                </a:lnTo>
                <a:lnTo>
                  <a:pt x="1147023" y="390292"/>
                </a:lnTo>
                <a:lnTo>
                  <a:pt x="1152875" y="390293"/>
                </a:lnTo>
                <a:lnTo>
                  <a:pt x="1158727" y="390293"/>
                </a:lnTo>
                <a:lnTo>
                  <a:pt x="1164579" y="390293"/>
                </a:lnTo>
                <a:lnTo>
                  <a:pt x="1170432" y="390293"/>
                </a:lnTo>
                <a:lnTo>
                  <a:pt x="1176284" y="390293"/>
                </a:lnTo>
                <a:lnTo>
                  <a:pt x="1182136" y="390293"/>
                </a:lnTo>
                <a:lnTo>
                  <a:pt x="1187988" y="390293"/>
                </a:lnTo>
                <a:lnTo>
                  <a:pt x="1193840" y="390293"/>
                </a:lnTo>
                <a:lnTo>
                  <a:pt x="1199692" y="390293"/>
                </a:lnTo>
                <a:lnTo>
                  <a:pt x="1205544" y="390293"/>
                </a:lnTo>
                <a:lnTo>
                  <a:pt x="1211397" y="390293"/>
                </a:lnTo>
                <a:lnTo>
                  <a:pt x="1217249" y="390293"/>
                </a:lnTo>
                <a:lnTo>
                  <a:pt x="1223101" y="390293"/>
                </a:lnTo>
                <a:lnTo>
                  <a:pt x="1228953" y="390293"/>
                </a:lnTo>
                <a:lnTo>
                  <a:pt x="1234805" y="390293"/>
                </a:lnTo>
                <a:lnTo>
                  <a:pt x="1240657" y="390293"/>
                </a:lnTo>
                <a:lnTo>
                  <a:pt x="1246510" y="390293"/>
                </a:lnTo>
                <a:lnTo>
                  <a:pt x="1252362" y="390293"/>
                </a:lnTo>
                <a:lnTo>
                  <a:pt x="1258214" y="390293"/>
                </a:lnTo>
                <a:lnTo>
                  <a:pt x="1264066" y="390293"/>
                </a:lnTo>
                <a:lnTo>
                  <a:pt x="1269918" y="390293"/>
                </a:lnTo>
                <a:lnTo>
                  <a:pt x="1275770" y="390293"/>
                </a:lnTo>
                <a:lnTo>
                  <a:pt x="1281623" y="390293"/>
                </a:lnTo>
                <a:lnTo>
                  <a:pt x="1287475" y="390293"/>
                </a:lnTo>
                <a:lnTo>
                  <a:pt x="1293327" y="390293"/>
                </a:lnTo>
                <a:lnTo>
                  <a:pt x="1299179" y="390293"/>
                </a:lnTo>
                <a:lnTo>
                  <a:pt x="1305031" y="390293"/>
                </a:lnTo>
                <a:lnTo>
                  <a:pt x="1310883" y="390293"/>
                </a:lnTo>
                <a:lnTo>
                  <a:pt x="1316735" y="390293"/>
                </a:lnTo>
                <a:lnTo>
                  <a:pt x="1322588" y="390293"/>
                </a:lnTo>
                <a:lnTo>
                  <a:pt x="1328440" y="390293"/>
                </a:lnTo>
                <a:lnTo>
                  <a:pt x="1334292" y="390293"/>
                </a:lnTo>
                <a:lnTo>
                  <a:pt x="1340144" y="390293"/>
                </a:lnTo>
                <a:lnTo>
                  <a:pt x="1345996" y="390293"/>
                </a:lnTo>
                <a:lnTo>
                  <a:pt x="1351848" y="390293"/>
                </a:lnTo>
                <a:lnTo>
                  <a:pt x="1357701" y="390293"/>
                </a:lnTo>
                <a:lnTo>
                  <a:pt x="1363553" y="390293"/>
                </a:lnTo>
                <a:lnTo>
                  <a:pt x="1369405" y="390293"/>
                </a:lnTo>
                <a:lnTo>
                  <a:pt x="1375257" y="390293"/>
                </a:lnTo>
                <a:lnTo>
                  <a:pt x="1381109" y="390293"/>
                </a:lnTo>
                <a:lnTo>
                  <a:pt x="1386961" y="390293"/>
                </a:lnTo>
                <a:lnTo>
                  <a:pt x="1392814" y="390293"/>
                </a:lnTo>
                <a:lnTo>
                  <a:pt x="1398666" y="390293"/>
                </a:lnTo>
                <a:lnTo>
                  <a:pt x="1404518" y="390293"/>
                </a:lnTo>
                <a:lnTo>
                  <a:pt x="1410370" y="390293"/>
                </a:lnTo>
                <a:lnTo>
                  <a:pt x="1416222" y="390293"/>
                </a:lnTo>
                <a:lnTo>
                  <a:pt x="1422074" y="390293"/>
                </a:lnTo>
                <a:lnTo>
                  <a:pt x="1427927" y="390293"/>
                </a:lnTo>
                <a:lnTo>
                  <a:pt x="1433779" y="390293"/>
                </a:lnTo>
                <a:lnTo>
                  <a:pt x="1439631" y="390293"/>
                </a:lnTo>
                <a:lnTo>
                  <a:pt x="1445483" y="390293"/>
                </a:lnTo>
                <a:lnTo>
                  <a:pt x="1451335" y="390293"/>
                </a:lnTo>
                <a:lnTo>
                  <a:pt x="1457187" y="390293"/>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866376"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収束</a:t>
            </a:r>
          </a:p>
        </p:txBody>
      </p:sp>
      <p:sp>
        <p:nvSpPr>
          <p:cNvPr id="79" name="TextBox 78"/>
          <p:cNvSpPr txBox="1"/>
          <p:nvPr/>
        </p:nvSpPr>
        <p:spPr>
          <a:xfrm>
            <a:off x="9866376"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1.2%</a:t>
            </a:r>
          </a:p>
        </p:txBody>
      </p:sp>
      <p:sp>
        <p:nvSpPr>
          <p:cNvPr id="80" name="TextBox 79"/>
          <p:cNvSpPr txBox="1"/>
          <p:nvPr/>
        </p:nvSpPr>
        <p:spPr>
          <a:xfrm>
            <a:off x="6336792" y="5029200"/>
            <a:ext cx="5166360" cy="395630"/>
          </a:xfrm>
          <a:prstGeom prst="rect">
            <a:avLst/>
          </a:prstGeom>
          <a:noFill/>
        </p:spPr>
        <p:txBody>
          <a:bodyPr wrap="square" lIns="0" tIns="0" rIns="0" bIns="0" anchor="t">
            <a:spAutoFit/>
          </a:bodyPr>
          <a:lstStyle/>
          <a:p>
            <a:pPr algn="l">
              <a:spcAft>
                <a:spcPts val="0"/>
              </a:spcAft>
            </a:pPr>
            <a:r>
              <a:rPr sz="2200" b="1" dirty="0">
                <a:solidFill>
                  <a:srgbClr val="00A8AA"/>
                </a:solidFill>
                <a:latin typeface="Meiryo"/>
                <a:ea typeface="Meiryo"/>
                <a:cs typeface="Meiryo"/>
              </a:rPr>
              <a:t>6 つの数字を 少しずつ動かす</a:t>
            </a:r>
          </a:p>
        </p:txBody>
      </p:sp>
      <p:sp>
        <p:nvSpPr>
          <p:cNvPr id="81" name="Rounded Rectangle 80"/>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685800" y="5907024"/>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残差が減らなくなったら終了 ― 減らないことは 正しいことではない</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55/72</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張り付き ＝ モデルが窮屈な証拠</a:t>
            </a: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5.4  得られる指標</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　／　42. Couceiro 2015　／　45. Couceiro 2012</a:t>
            </a:r>
          </a:p>
        </p:txBody>
      </p:sp>
      <p:sp>
        <p:nvSpPr>
          <p:cNvPr id="3" name="Freeform 2"/>
          <p:cNvSpPr/>
          <p:nvPr/>
        </p:nvSpPr>
        <p:spPr>
          <a:xfrm>
            <a:off x="1077282" y="251230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1077282" y="326649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1077282" y="392736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47130" y="2555760"/>
            <a:ext cx="0" cy="1371600"/>
          </a:xfrm>
          <a:prstGeom prst="line">
            <a:avLst/>
          </a:prstGeom>
          <a:ln w="15875">
            <a:solidFill>
              <a:srgbClr val="0072B2"/>
            </a:solidFill>
            <a:prstDash val="sys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747330" y="3067824"/>
            <a:ext cx="0" cy="859536"/>
          </a:xfrm>
          <a:prstGeom prst="line">
            <a:avLst/>
          </a:prstGeom>
          <a:ln w="15875">
            <a:solidFill>
              <a:srgbClr val="D55E00"/>
            </a:solidFill>
            <a:prstDash val="sys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945962" y="4000512"/>
            <a:ext cx="1828800" cy="384048"/>
          </a:xfrm>
          <a:prstGeom prst="rect">
            <a:avLst/>
          </a:prstGeom>
          <a:noFill/>
        </p:spPr>
        <p:txBody>
          <a:bodyPr wrap="square" lIns="0" tIns="0" rIns="0" bIns="0" anchor="t">
            <a:spAutoFit/>
          </a:bodyPr>
          <a:lstStyle/>
          <a:p>
            <a:pPr algn="l"/>
            <a:r>
              <a:rPr sz="2300" b="1">
                <a:solidFill>
                  <a:srgbClr val="0072B2"/>
                </a:solidFill>
                <a:latin typeface="Meiryo"/>
                <a:ea typeface="Meiryo"/>
                <a:cs typeface="Meiryo"/>
              </a:rPr>
              <a:t>μ₁</a:t>
            </a:r>
          </a:p>
        </p:txBody>
      </p:sp>
      <p:sp>
        <p:nvSpPr>
          <p:cNvPr id="35" name="TextBox 34"/>
          <p:cNvSpPr txBox="1"/>
          <p:nvPr/>
        </p:nvSpPr>
        <p:spPr>
          <a:xfrm>
            <a:off x="3546162" y="4000512"/>
            <a:ext cx="1828800" cy="384048"/>
          </a:xfrm>
          <a:prstGeom prst="rect">
            <a:avLst/>
          </a:prstGeom>
          <a:noFill/>
        </p:spPr>
        <p:txBody>
          <a:bodyPr wrap="square" lIns="0" tIns="0" rIns="0" bIns="0" anchor="t">
            <a:spAutoFit/>
          </a:bodyPr>
          <a:lstStyle/>
          <a:p>
            <a:pPr algn="l"/>
            <a:r>
              <a:rPr sz="2300" b="1">
                <a:solidFill>
                  <a:srgbClr val="D55E00"/>
                </a:solidFill>
                <a:latin typeface="Meiryo"/>
                <a:ea typeface="Meiryo"/>
                <a:cs typeface="Meiryo"/>
              </a:rPr>
              <a:t>μ₂</a:t>
            </a:r>
          </a:p>
        </p:txBody>
      </p:sp>
      <p:sp>
        <p:nvSpPr>
          <p:cNvPr id="36" name="TextBox 35"/>
          <p:cNvSpPr txBox="1"/>
          <p:nvPr/>
        </p:nvSpPr>
        <p:spPr>
          <a:xfrm>
            <a:off x="1077282" y="4503432"/>
            <a:ext cx="4937760" cy="384048"/>
          </a:xfrm>
          <a:prstGeom prst="rect">
            <a:avLst/>
          </a:prstGeom>
          <a:noFill/>
        </p:spPr>
        <p:txBody>
          <a:bodyPr wrap="square" lIns="0" tIns="0" rIns="0" bIns="0" anchor="t">
            <a:spAutoFit/>
          </a:bodyPr>
          <a:lstStyle/>
          <a:p>
            <a:pPr algn="l"/>
            <a:r>
              <a:rPr sz="2200" b="0">
                <a:solidFill>
                  <a:srgbClr val="0072B2"/>
                </a:solidFill>
                <a:latin typeface="Meiryo"/>
                <a:ea typeface="Meiryo"/>
                <a:cs typeface="Meiryo"/>
              </a:rPr>
              <a:t>a₁ ＝ 第1成分波の高さ</a:t>
            </a:r>
          </a:p>
        </p:txBody>
      </p:sp>
      <p:sp>
        <p:nvSpPr>
          <p:cNvPr id="37" name="TextBox 36"/>
          <p:cNvSpPr txBox="1"/>
          <p:nvPr/>
        </p:nvSpPr>
        <p:spPr>
          <a:xfrm>
            <a:off x="1077282" y="4960632"/>
            <a:ext cx="4937760" cy="384048"/>
          </a:xfrm>
          <a:prstGeom prst="rect">
            <a:avLst/>
          </a:prstGeom>
          <a:noFill/>
        </p:spPr>
        <p:txBody>
          <a:bodyPr wrap="square" lIns="0" tIns="0" rIns="0" bIns="0" anchor="t">
            <a:spAutoFit/>
          </a:bodyPr>
          <a:lstStyle/>
          <a:p>
            <a:pPr algn="l"/>
            <a:r>
              <a:rPr sz="2200" b="0">
                <a:solidFill>
                  <a:srgbClr val="D55E00"/>
                </a:solidFill>
                <a:latin typeface="Meiryo"/>
                <a:ea typeface="Meiryo"/>
                <a:cs typeface="Meiryo"/>
              </a:rPr>
              <a:t>a₂ ＝ 第2成分波の高さ</a:t>
            </a:r>
          </a:p>
        </p:txBody>
      </p:sp>
      <p:sp>
        <p:nvSpPr>
          <p:cNvPr id="38" name="Rounded Rectangle 37"/>
          <p:cNvSpPr/>
          <p:nvPr/>
        </p:nvSpPr>
        <p:spPr>
          <a:xfrm>
            <a:off x="6655122" y="2751793"/>
            <a:ext cx="4728039"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838002" y="2861521"/>
            <a:ext cx="4420524"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T1_2 ＝ μ₂ − μ₁</a:t>
            </a:r>
          </a:p>
        </p:txBody>
      </p:sp>
      <p:sp>
        <p:nvSpPr>
          <p:cNvPr id="40" name="TextBox 39"/>
          <p:cNvSpPr txBox="1"/>
          <p:nvPr/>
        </p:nvSpPr>
        <p:spPr>
          <a:xfrm>
            <a:off x="6838002" y="3318721"/>
            <a:ext cx="4420524"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時間差 → SI ＝ 身長 ÷ T1_2</a:t>
            </a:r>
          </a:p>
        </p:txBody>
      </p:sp>
      <p:sp>
        <p:nvSpPr>
          <p:cNvPr id="41" name="Rounded Rectangle 40"/>
          <p:cNvSpPr/>
          <p:nvPr/>
        </p:nvSpPr>
        <p:spPr>
          <a:xfrm>
            <a:off x="6655122" y="3940513"/>
            <a:ext cx="4728039" cy="1078992"/>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38002" y="4050241"/>
            <a:ext cx="4420524" cy="384048"/>
          </a:xfrm>
          <a:prstGeom prst="rect">
            <a:avLst/>
          </a:prstGeom>
          <a:noFill/>
        </p:spPr>
        <p:txBody>
          <a:bodyPr wrap="square" lIns="0" tIns="0" rIns="0" bIns="0" anchor="t">
            <a:spAutoFit/>
          </a:bodyPr>
          <a:lstStyle/>
          <a:p>
            <a:pPr algn="l"/>
            <a:r>
              <a:rPr sz="2400" b="1">
                <a:solidFill>
                  <a:srgbClr val="D55E00"/>
                </a:solidFill>
                <a:latin typeface="Meiryo"/>
                <a:ea typeface="Meiryo"/>
                <a:cs typeface="Meiryo"/>
              </a:rPr>
              <a:t>R1_2 ＝ a₂ ／ a₁</a:t>
            </a:r>
          </a:p>
        </p:txBody>
      </p:sp>
      <p:sp>
        <p:nvSpPr>
          <p:cNvPr id="43" name="TextBox 42"/>
          <p:cNvSpPr txBox="1"/>
          <p:nvPr/>
        </p:nvSpPr>
        <p:spPr>
          <a:xfrm>
            <a:off x="6838002" y="4507441"/>
            <a:ext cx="4420524"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振幅比 → RI に相当</a:t>
            </a:r>
          </a:p>
        </p:txBody>
      </p:sp>
      <p:sp>
        <p:nvSpPr>
          <p:cNvPr id="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56/72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p:cNvSpPr txBox="1"/>
          <p:nvPr/>
        </p:nvSpPr>
        <p:spPr>
          <a:xfrm>
            <a:off x="5989320" y="1645920"/>
            <a:ext cx="57607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p:cNvSpPr txBox="1"/>
          <p:nvPr/>
        </p:nvSpPr>
        <p:spPr>
          <a:xfrm>
            <a:off x="5989320" y="20482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ガウス当てはめで RI を算出</a:t>
            </a:r>
          </a:p>
        </p:txBody>
      </p:sp>
      <p:sp>
        <p:nvSpPr>
          <p:cNvPr id="24" name="TextBox 23"/>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p:cNvSpPr txBox="1"/>
          <p:nvPr/>
        </p:nvSpPr>
        <p:spPr>
          <a:xfrm>
            <a:off x="5989320" y="2505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Rayleigh 2 波合成で SI と RI</a:t>
            </a:r>
          </a:p>
        </p:txBody>
      </p:sp>
      <p:sp>
        <p:nvSpPr>
          <p:cNvPr id="26" name="Rounded Rectangle 25"/>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p:cNvSpPr txBox="1"/>
          <p:nvPr/>
        </p:nvSpPr>
        <p:spPr>
          <a:xfrm>
            <a:off x="5989320" y="2962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p:cNvSpPr txBox="1"/>
          <p:nvPr/>
        </p:nvSpPr>
        <p:spPr>
          <a:xfrm>
            <a:off x="5989320" y="3419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p:cNvSpPr txBox="1"/>
          <p:nvPr/>
        </p:nvSpPr>
        <p:spPr>
          <a:xfrm>
            <a:off x="5989320" y="38770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最良モデルは決まらない（28.1%）</a:t>
            </a:r>
          </a:p>
        </p:txBody>
      </p:sp>
      <p:sp>
        <p:nvSpPr>
          <p:cNvPr id="35" name="TextBox 34"/>
          <p:cNvSpPr txBox="1"/>
          <p:nvPr/>
        </p:nvSpPr>
        <p:spPr>
          <a:xfrm>
            <a:off x="2697480" y="4334256"/>
            <a:ext cx="320040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p:cNvSpPr txBox="1"/>
          <p:nvPr/>
        </p:nvSpPr>
        <p:spPr>
          <a:xfrm>
            <a:off x="5989320" y="4334256"/>
            <a:ext cx="5806440" cy="384048"/>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p:cNvSpPr txBox="1"/>
          <p:nvPr/>
        </p:nvSpPr>
        <p:spPr>
          <a:xfrm>
            <a:off x="5989320" y="4791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p:cNvSpPr txBox="1"/>
          <p:nvPr/>
        </p:nvSpPr>
        <p:spPr>
          <a:xfrm>
            <a:off x="5989320" y="5248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p:cNvSpPr txBox="1"/>
          <p:nvPr/>
        </p:nvSpPr>
        <p:spPr>
          <a:xfrm>
            <a:off x="5989320" y="5705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57/72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8D024030-F825-9156-0C2F-4D3461DC54D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F9EA37DB-21A5-489D-2382-FCBD11B69FE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5B42248D-5F44-F1EF-80A9-21688DF178A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5F3F024-D112-8729-AC6A-B6E29592D6E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81FE121-EBD9-87C0-4578-06374324F521}"/>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835861" cy="276999"/>
          </a:xfrm>
          <a:prstGeom prst="rect">
            <a:avLst/>
          </a:prstGeom>
          <a:noFill/>
        </p:spPr>
        <p:txBody>
          <a:bodyPr wrap="square">
            <a:spAutoFit/>
          </a:bodyPr>
          <a:lstStyle/>
          <a:p>
            <a:pPr algn="r"/>
            <a:r>
              <a:rPr sz="1200">
                <a:solidFill>
                  <a:srgbClr val="808080"/>
                </a:solidFill>
                <a:latin typeface="Meiryo"/>
                <a:ea typeface="Meiryo"/>
                <a:cs typeface="Meiryo"/>
              </a:rPr>
              <a:t>57/72</a:t>
            </a:r>
          </a:p>
        </p:txBody>
      </p:sp>
    </p:spTree>
    <p:extLst>
      <p:ext uri="{BB962C8B-B14F-4D97-AF65-F5344CB8AC3E}">
        <p14:creationId xmlns:p14="http://schemas.microsoft.com/office/powerpoint/2010/main" val="13267009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Rubins 2008</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① 「点を探す」から「山を当てはめる」へ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 40 名。指と耳の PPG を同時記録</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収縮期波と拡張期波を、それぞれ 2 つの</a:t>
            </a:r>
          </a:p>
          <a:p>
            <a:pPr algn="l">
              <a:spcAft>
                <a:spcPts val="200"/>
              </a:spcAft>
            </a:pPr>
            <a:r>
              <a:rPr sz="2200" b="0">
                <a:solidFill>
                  <a:srgbClr val="262626"/>
                </a:solidFill>
                <a:latin typeface="Meiryo"/>
                <a:ea typeface="Meiryo"/>
                <a:cs typeface="Meiryo"/>
              </a:rPr>
              <a:t>ガウス関数の和で当てはめ、RI と AI を算出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従来の微分法と同等に波形解析ができた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ガウス分解から RI を出す発想は 2008 年に既出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58/72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Goswami 2010</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② Rayleigh 2 波合成モデルで SI と RI を同時に導出</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Rayleigh 関数による 2 波合成（TPS）モデル</a:t>
            </a:r>
          </a:p>
          <a:p>
            <a:pPr algn="l">
              <a:spcAft>
                <a:spcPts val="200"/>
              </a:spcAft>
            </a:pPr>
            <a:r>
              <a:rPr sz="2200" b="0">
                <a:solidFill>
                  <a:srgbClr val="262626"/>
                </a:solidFill>
                <a:latin typeface="Meiryo"/>
                <a:ea typeface="Meiryo"/>
                <a:cs typeface="Meiryo"/>
              </a:rPr>
              <a:t>RI・SI・脈波伝播速度・立ち上がり遅延を導出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従来のランドマーク法・微分法とよく一致した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分解した反射波の時刻から SI を出すのも既出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59/72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2012</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③ 多ガウス分解から左室駆出時間 LVET を取り出す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心エコーによる参照値が得られた被験者（人数は抄録に記載なし）</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収縮期相・拡張期相をガウス関数でモデル化し、</a:t>
            </a:r>
          </a:p>
          <a:p>
            <a:pPr algn="l">
              <a:spcAft>
                <a:spcPts val="200"/>
              </a:spcAft>
            </a:pPr>
            <a:r>
              <a:rPr sz="2200" b="0">
                <a:solidFill>
                  <a:srgbClr val="262626"/>
                </a:solidFill>
                <a:latin typeface="Meiryo"/>
                <a:ea typeface="Meiryo"/>
                <a:cs typeface="Meiryo"/>
              </a:rPr>
              <a:t>3 次微分から駆出の開始・終了を決めて LVET を推定</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目視では取り出せない生理的イベントが出てくる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60/72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2015</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④ 5ガウス分解から血圧・血管抵抗まで対比した到達点</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の検証は健常＋心血管疾患 68 名</a:t>
            </a:r>
          </a:p>
          <a:p>
            <a:pPr algn="l">
              <a:spcAft>
                <a:spcPts val="200"/>
              </a:spcAft>
            </a:pPr>
            <a:r>
              <a:rPr sz="2200" b="0">
                <a:solidFill>
                  <a:srgbClr val="262626"/>
                </a:solidFill>
                <a:latin typeface="Meiryo"/>
                <a:ea typeface="Meiryo"/>
                <a:cs typeface="Meiryo"/>
              </a:rPr>
              <a:t>血圧・血管抵抗の対比は血行動態不安定な 43 名</a:t>
            </a: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5 つのガウス関数で分解し、SI・RI に加えて</a:t>
            </a:r>
          </a:p>
          <a:p>
            <a:pPr algn="l">
              <a:spcAft>
                <a:spcPts val="200"/>
              </a:spcAft>
            </a:pPr>
            <a:r>
              <a:rPr sz="2200" b="0">
                <a:solidFill>
                  <a:srgbClr val="262626"/>
                </a:solidFill>
                <a:latin typeface="Meiryo"/>
                <a:ea typeface="Meiryo"/>
                <a:cs typeface="Meiryo"/>
              </a:rPr>
              <a:t>T1_2（時間差）・R1_2（振幅比）など 6 個を算出</a:t>
            </a: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絶対誤差 15.41 ± 13.66 ms（ρ=0.78）</a:t>
            </a:r>
          </a:p>
          <a:p>
            <a:pPr algn="l">
              <a:spcAft>
                <a:spcPts val="200"/>
              </a:spcAft>
            </a:pPr>
            <a:r>
              <a:rPr sz="2200" b="0">
                <a:solidFill>
                  <a:srgbClr val="262626"/>
                </a:solidFill>
                <a:latin typeface="Meiryo"/>
                <a:ea typeface="Meiryo"/>
                <a:cs typeface="Meiryo"/>
              </a:rPr>
              <a:t>R1_2 は全参照値と低相関。最高でも ρ=0.45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振幅比は当てにならない。時間側でも ρ=0.45</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61/72</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Tigges 2017</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⑤ モデル選択は決着していない ― 逆問題が一意に解けない</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4 種類の基底関数とモデル次数を総当たりし、</a:t>
            </a:r>
          </a:p>
          <a:p>
            <a:pPr algn="l">
              <a:spcAft>
                <a:spcPts val="200"/>
              </a:spcAft>
            </a:pPr>
            <a:r>
              <a:rPr sz="2200" b="0">
                <a:solidFill>
                  <a:srgbClr val="262626"/>
                </a:solidFill>
                <a:latin typeface="Meiryo"/>
                <a:ea typeface="Meiryo"/>
                <a:cs typeface="Meiryo"/>
              </a:rPr>
              <a:t>補正赤池情報量規準（AICc）で最良モデルを選択</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「どの山を何個使うか」はデータからは決まらない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62/72</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Fleischhauer</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⑥ Gamma ＋ Gaussian、カーネル 2 個が最も頑健</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複雑にするほど良いわけではない ― 2 個で十分</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63/72</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Basso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⑦ 非対称な山で初期値依存を減らす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非対称分解モデル（skewed-Gaussian）を提案</a:t>
            </a:r>
          </a:p>
          <a:p>
            <a:pPr algn="l">
              <a:spcAft>
                <a:spcPts val="200"/>
              </a:spcAft>
            </a:pPr>
            <a:r>
              <a:rPr sz="2200" b="0">
                <a:solidFill>
                  <a:srgbClr val="262626"/>
                </a:solidFill>
                <a:latin typeface="Meiryo"/>
                <a:ea typeface="Meiryo"/>
                <a:cs typeface="Meiryo"/>
              </a:rPr>
              <a:t>参照モデルは Gamma-Gaussian モデル</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裏を返せば、従来モデルは初期値で答えが動いていた</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64/72</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Baruch 2014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46. Baruch 2014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808080"/>
                </a:solidFill>
                <a:latin typeface="Meiryo"/>
                <a:ea typeface="Meiryo"/>
                <a:cs typeface="Meiryo"/>
              </a:rPr>
              <a:t>⑧ 分解由来の指標は中心動脈圧の推定に使われている</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心臓カテーテル検査を受ける患者 63 名（平均 62.7 歳）</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CareTaker の非侵襲的動脈脈波を PDA で分解し、</a:t>
            </a:r>
          </a:p>
          <a:p>
            <a:pPr algn="l">
              <a:spcAft>
                <a:spcPts val="200"/>
              </a:spcAft>
            </a:pPr>
            <a:r>
              <a:rPr sz="2200" b="0">
                <a:solidFill>
                  <a:srgbClr val="262626"/>
                </a:solidFill>
                <a:latin typeface="Meiryo"/>
                <a:ea typeface="Meiryo"/>
                <a:cs typeface="Meiryo"/>
              </a:rPr>
              <a:t>振幅比 P2P1 と時間差 T13 を抽出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P2P1 と収縮期圧、T13 と脈圧に有意な相関</a:t>
            </a:r>
          </a:p>
          <a:p>
            <a:pPr algn="l">
              <a:spcAft>
                <a:spcPts val="200"/>
              </a:spcAft>
            </a:pPr>
            <a:r>
              <a:rPr sz="2200" b="0">
                <a:solidFill>
                  <a:srgbClr val="262626"/>
                </a:solidFill>
                <a:latin typeface="Meiryo"/>
                <a:ea typeface="Meiryo"/>
                <a:cs typeface="Meiryo"/>
              </a:rPr>
              <a:t>（収縮期 R²=0.92、拡張期 R²=0.78、p&lt;0.0001）</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応用範囲の拡張という切り口では新規性は乏しい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65/72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Pal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34. Pal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BF9000"/>
                </a:solidFill>
                <a:latin typeface="Meiryo"/>
                <a:ea typeface="Meiryo"/>
                <a:cs typeface="Meiryo"/>
              </a:rPr>
              <a:t>⑨ DN-less 信号でも切痕を拾う ― IEM 法（用語の出典）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周術期データセット MLORD の 17,327 例</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反復包絡平均（IEM）法による重複切痕の自動検出</a:t>
            </a:r>
          </a:p>
          <a:p>
            <a:pPr algn="l">
              <a:spcAft>
                <a:spcPts val="200"/>
              </a:spcAft>
            </a:pPr>
            <a:r>
              <a:rPr sz="2200" b="0">
                <a:solidFill>
                  <a:srgbClr val="262626"/>
                </a:solidFill>
                <a:latin typeface="Meiryo"/>
                <a:ea typeface="Meiryo"/>
                <a:cs typeface="Meiryo"/>
              </a:rPr>
              <a:t>参照基準は熟練研究者による手動マーキング</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DN 検出平均誤差 IEM 0.0046 秒（SD 0.0029）</a:t>
            </a:r>
          </a:p>
          <a:p>
            <a:pPr algn="l">
              <a:spcAft>
                <a:spcPts val="200"/>
              </a:spcAft>
            </a:pPr>
            <a:r>
              <a:rPr sz="2200" b="0">
                <a:solidFill>
                  <a:srgbClr val="262626"/>
                </a:solidFill>
                <a:latin typeface="Meiryo"/>
                <a:ea typeface="Meiryo"/>
                <a:cs typeface="Meiryo"/>
              </a:rPr>
              <a:t>従来の二次微分法は 0.0968 秒（SD 0.0909）</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「DN-less signals」という語はこの論文に由来する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66/72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5.6  PDA の限界</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94360" y="5779008"/>
            <a:ext cx="11000232" cy="1004620"/>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67/72</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69/72</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70/72</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34. Pal R, et al. An algorithm to detect dicrotic notch in arterial blood pressure and photoplethysmography waveforms using the iterative envelope mean method. Comput Methods Programs Biomed 2024;254:108283.</a:t>
            </a:r>
          </a:p>
          <a:p>
            <a:pPr algn="l">
              <a:lnSpc>
                <a:spcPct val="115000"/>
              </a:lnSpc>
              <a:spcAft>
                <a:spcPts val="700"/>
              </a:spcAft>
            </a:pPr>
            <a:r>
              <a:rPr sz="1050" b="0">
                <a:solidFill>
                  <a:srgbClr val="262626"/>
                </a:solidFill>
                <a:latin typeface="Meiryo"/>
                <a:ea typeface="Meiryo"/>
                <a:cs typeface="Meiryo"/>
              </a:rPr>
              <a:t>35. Fleischhauer V, et al. Pulse decomposition analysis in photoplethysmography imaging. Physiol Meas 2020;41:095009.</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37.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38.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39.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40.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41. Goswami D, et al. A new two-pulse synthesis model for digital volume pulse signal analysis. Cardiovasc Eng 2010;10:109–17.</a:t>
            </a:r>
          </a:p>
          <a:p>
            <a:pPr algn="l">
              <a:lnSpc>
                <a:spcPct val="115000"/>
              </a:lnSpc>
              <a:spcAft>
                <a:spcPts val="700"/>
              </a:spcAft>
            </a:pPr>
            <a:r>
              <a:rPr sz="1050" b="0">
                <a:solidFill>
                  <a:srgbClr val="262626"/>
                </a:solidFill>
                <a:latin typeface="Meiryo"/>
                <a:ea typeface="Meiryo"/>
                <a:cs typeface="Meiryo"/>
              </a:rPr>
              <a:t>42. Couceiro R, et al. Assessment of cardiovascular function from multi-Gaussian fitting of a finger photoplethysmogram. Physiol Meas 2015;36:1801–25.</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71/72</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72/72</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24716</TotalTime>
  <Words>29134</Words>
  <Application>Microsoft Macintosh PowerPoint</Application>
  <PresentationFormat>ワイド画面</PresentationFormat>
  <Paragraphs>4412</Paragraphs>
  <Slides>106</Slides>
  <Notes>97</Notes>
  <HiddenSlides>4</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106</vt:i4>
      </vt:variant>
    </vt:vector>
  </HeadingPairs>
  <TitlesOfParts>
    <vt:vector size="112" baseType="lpstr">
      <vt:lpstr>メイリオ</vt:lpstr>
      <vt:lpstr>メイリオ</vt:lpstr>
      <vt:lpstr>游ゴシック</vt:lpstr>
      <vt:lpstr>Arial</vt:lpstr>
      <vt:lpstr>Calibri</vt:lpstr>
      <vt:lpstr>Office テーマ</vt:lpstr>
      <vt:lpstr>光電式容積脈波記録法：PhotoPlethysmoGraphy（ PPG ） 波形解析について</vt:lpstr>
      <vt:lpstr>用語の整理</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自動解析の壁</vt:lpstr>
      <vt:lpstr>4.2  極端な動脈硬化</vt:lpstr>
      <vt:lpstr>4.3  DN-less 信号対策</vt:lpstr>
      <vt:lpstr>4.3  DN-less 信号対策</vt:lpstr>
      <vt:lpstr>5. PDA（波形分解）</vt:lpstr>
      <vt:lpstr>5.1  PDA とは</vt:lpstr>
      <vt:lpstr>5.2  合成波と成分波</vt:lpstr>
      <vt:lpstr>5.2  合成波と成分波</vt:lpstr>
      <vt:lpstr>5.2  基底関数とは</vt:lpstr>
      <vt:lpstr>5.2  基底関数とは</vt:lpstr>
      <vt:lpstr>5.2  基底関数の形</vt:lpstr>
      <vt:lpstr>5.2  基底関数の形</vt:lpstr>
      <vt:lpstr>5.2  カーネル数</vt:lpstr>
      <vt:lpstr>5.2  カーネル数</vt:lpstr>
      <vt:lpstr>5.3  当てはめの手順</vt:lpstr>
      <vt:lpstr>5.3  どうやって推測するのか</vt:lpstr>
      <vt:lpstr>5.3  どうやって推測するのか</vt:lpstr>
      <vt:lpstr>5.3  初期値の決め方</vt:lpstr>
      <vt:lpstr>5.3  当てはめの選び方</vt:lpstr>
      <vt:lpstr>5.3  当てはめの選び方</vt:lpstr>
      <vt:lpstr>5.3  収束の検算</vt:lpstr>
      <vt:lpstr>5.4  得られる指標</vt:lpstr>
      <vt:lpstr>5.5  重要文献の全体像</vt:lpstr>
      <vt:lpstr>5.5  重要文献の全体像</vt:lpstr>
      <vt:lpstr>5.5  Rubins 2008</vt:lpstr>
      <vt:lpstr>5.5  Goswami 2010</vt:lpstr>
      <vt:lpstr>5.5  Couceiro 2012</vt:lpstr>
      <vt:lpstr>5.5  Couceiro 2015</vt:lpstr>
      <vt:lpstr>5.5  Tigges 2017</vt:lpstr>
      <vt:lpstr>5.5  Fleischhauer</vt:lpstr>
      <vt:lpstr>5.5  Basso 2024</vt:lpstr>
      <vt:lpstr>5.5  Baruch 2014</vt:lpstr>
      <vt:lpstr>5.5  Pal 2024</vt:lpstr>
      <vt:lpstr>5.6  PDA の限界</vt:lpstr>
      <vt:lpstr>参考文献</vt:lpstr>
      <vt:lpstr>参考文献（2）</vt:lpstr>
      <vt:lpstr>参考文献（3）</vt:lpstr>
      <vt:lpstr>参考文献（4）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72</cp:revision>
  <dcterms:created xsi:type="dcterms:W3CDTF">2025-01-05T04:32:32Z</dcterms:created>
  <dcterms:modified xsi:type="dcterms:W3CDTF">2026-08-15T14:56:18Z</dcterms:modified>
</cp:coreProperties>
</file>