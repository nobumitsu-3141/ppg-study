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本講演の主張は一つ。SpO₂ モニタが表示している脈波（PPG）は、血管の状態を映す情報を持っているが、その情報を取り出す SI・RI という指標は 「反射波（拡張期ピーク）を同定できる」ことを暗黙の前提にしている。そして周術期でいちばん評価したい患者ほど、その前提が壊れる。本講演では、ランドマークを『探す』のをやめ、波形を『前進波＋反射波の重ね合わせ』としてモデル化して当てはめる（多ガウス分解）という数学的推定を提案し、それが循環動態把握に何をもたらすかを述べる。本資料は研究・教育目的の整理であり、臨床判断を指示するもの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麻酔中に我々が数字で見ているのは血圧・心拍数・SpO₂ という『結果』であり、その結果を作っている三つの入力（前負荷・心収縮力・血管トーヌス）は直接には見えない。前負荷は呼吸性変動（ΔPOP/PPV）で、心収縮力は心エコーで、ある程度は覗ける。しかし血管トーヌスだけは、観血的動脈圧ラインや肺動脈カテーテルを入れない限り連続的に見る手段がない。低血圧に対して昇圧薬を使うか輸液を足すかという判断は、まさにこの見えない軸の上で行われている。本講演は、この見えない軸を SpO₂ センサだけで推定できないかという問いから始まる。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PPG は指先に光を当て、拍動に伴う血液量（容積）の変化を光の強さの変化としてとらえた信号である。拍動しない成分が DC、拍動する成分が AC で、灌流指数 PI は AC/DC。決定的に重要なのは、PPG が『圧』ではなく『容積』の信号だという点である。局所の容積変化はおおむね〈局所コンプライアンス × 局所脈圧〉で決まるため、PPG 振幅は中心大動脈圧の絶対値ではなく測定部位の性質に強く依存する。さらに臨床モニタは AGC（自動ゲイン制御）で波形の高さを勝手に正規化するので、振幅の絶対値と拍間の振幅変化は壊れている。一方、同一波形内の振幅比とタイミング（時間）の情報は AGC の後も保たれる。だから指標設計では、振幅よりタイミング／形状を優先するのが安全である。なお加速度脈波の形態に対する主要な脅威は AGC ではなく帯域制限である。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動脈波形は、左室駆出で生じて末梢へ進む前進波と、血管分岐・末梢抵抗・インピーダンス不整合の点で反射して中枢へ戻る反射波の合成として理解される。指先で記録される波形では、収縮期ピーク P1 が主に前進波を、その後に続く拡張期側のピーク P2（および重複切痕）が主に反射波の帰還を映す。古典的教科書は重複切痕を大動脈弁閉鎖に帰属させるが、大動脈で直接記録される鋭い incisura は末梢へ向かうほど鋭さを失い、複数の反射波の合成である dicrotic notch へと変質する。数値モデル研究では、フェニレフリンで末梢血管抵抗のみを変えると重複切痕が変化することが実測されている（Politi 2016）。要するに『波形から血管を読む』試みの核心は、反射波の大きさ（高さ）とタイミング（時相）を読むことに帰着する。SI・RI・重複切痕は、いずれもこの反射波の別々の側面を数値化したものであ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時相（早い／遅い）を最も強く動かすのは血管壁スティフネスである。壁が硬いと伝播が速まり反射波が早く帰るので、ΔT が短くなる。この伝播の速さを定量化した指標が PWV だが、PWV はスティフネスという因子そのものではなくその結果を測る指標であることに注意する。高さ（反射波・切痕の上下）を主に動かすのは全身血管抵抗・血管トーヌスである。Awad 2007 では、指 PPG の振幅と熱希釈 SVR の相関は弱く（r = −0.15）、切痕を含む『幅』の相関の方が良好であった（r = 0.56、14 例）。つまり振幅単独では鈍感で、切痕の位置・幅と組み合わせて初めて意味を持つ。この二軸の対応づけが、次章で SI と RI を読み分ける見取り図になる。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SI（stiffness index：スティフネス指数）は、指尖容積脈波（DVP）の収縮期ピーク P1 と拡張期側ピーク P2 の時間差 ΔT を用い、SI ＝ 被験者身長 ÷ ΔT で定義される。単位は m/s。考え方は単純で、反射波は体幹をいったん下って戻ってくるので、その往復距離はおおむね身長に比例する。往復距離を往復時間で割れば速さになる。つまり SI は『反射波の平均的な伝播速度』の代理量であり、頸動脈-大腿動脈脈波伝播速度（cf-PWV）と相関し、加齢に伴う大動脈スティフネス増加を反映する。身長を使うのは、身長が体幹の長さの代理になるからであって、身長そのものに生理学的意味があるわけ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RI（reflection index：反射指数）は、DVP の反射（拡張期）ピーク高 P2 を収縮期ピーク高 P1 で除した比である。圧反射波の指標であると同時に小血管トーヌス（small vessel tone）を反映する。Chowienczyk らの原典では、内皮依存性の β₂ 刺激（アルブテロール）による血管拡張で反射波が減弱し、その反応が 2 型糖尿病では鈍化することが示された。硝酸薬でも反射波が減じ、変曲点の位置が下がる。『変曲点の位置＝末梢トーヌス』という発想の直接の起点がこの研究である。なお RI は同一波形内の振幅比なので、AGC で全体が拡大縮小されても値は保たれる。ただし後述のとおり心拍数の交絡は受ける。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と RI は同じ拡張期ピーク P2 から作られるが、測っている軸が違う。SI は P1 から P2 までの時間を使うので大動脈側の硬さを、RI は P2 の高さを使うので末梢小血管のトーヌスを反映する。実務上は『時間指標の SI』と『振幅比の RI』という区別が重要で、臨床モニタの AGC・心拍数変動に対する頑健性が両者で異なる（第3章）。そして本講演の主題は最下段にある。どちらの指標も、拡張期ピーク P2 ＝ 反射波を同定できることを暗黙の前提にしている。この前提が崩れると、二つの指標は同時に、そして静かに壊れる。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Millasseau らは、指尖容積脈波から得た SI が cf-PWV と r = 0.65 で相関し、被験者内の変動係数が 9.6% であることを報告している。この二つの数値は意味を分けて読む必要がある。r = 0.65 という相関は、集団のなかで個人を序列づけるには不十分である。一方、被験者内変動係数 9.6% は、同一人物の変化を追跡するには十分に小さい。したがって『術前値でリスク層別化する』使い方は r = 0.65 の壁に当たるが、『同一患者の術中変化 Δ を追う』使い方であれば変動係数 9.6% で足りる。これは本プロジェクト全体の設計原則である Δ 追跡を、周術期の文脈で独立に支持する数値である。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Chowienczyk らは、内皮依存性の β₂ 刺激による血管拡張で反射波が減弱すること、そしてその反応が 2 型糖尿病患者では鈍化することを示した。硝酸薬投与でも反射波が減じて変曲点の位置が下がる。Takazawa らは加速度脈波（SDPPG）の d/a 比が血管作動薬に鋭敏に反応することを示した。アンジオテンシン投与で d/a が低下し、ニトログリセリンで上昇する。つまり反射波由来の指標は、血管作動薬に対する感度そのものは持っている。問題は感度ではなく、後述する『そもそも反射波を同定できるか』の方にある。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Chen らは UK Biobank の参加者 127,045 名（40〜69 歳）を追跡中央値 11.7 年で観察し、PPG 由来の動脈スティフネス指数 ASI と主要心血管イベント MACE の関連を検討した。非高齢者（40〜64 歳、102,687 名）では未調整ハザード比 1.314（95%CI 1.280-1.350）、共変量調整後は 1.06〜1.13 に減衰するが有意性は保持された。高齢者（65〜69 歳、24,358 名）では未調整 1.066（95%CI 1.026-1.107）で、調整後は有意性が消失した。原著の結論は『ASI は 65 歳未満における一次予防に用いるべき』である。しばしば引用される『ハザード比 1.31』は非高齢者群における未調整（粗）モデルの値であり、集団全体の値でも調整後の値でもない。この限定を必ず付して引用すること。この研究の意味は二重である。SpO₂ センサだけで取れる指標が 10 万人規模で心血管イベントを予測しうること。そして、その予測力が最も血管の硬い集団で消えること。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血管スティフネスを評価する手段は取得の容易さで並べられるが、エビデンスの強さで並べると順序がほぼ逆になる。SDPPG 指標と PPG 由来 SI/ASI は SpO₂ センサだけで取れるが周術期の前向き検証がほぼない。baPWV は専用機が要るが術後アウトカムの予測研究がある。cfPWV は手技を要し術中は不可能だが、導入時低血圧の予測研究がある（ただし反証もある）。この非対称が意味することは明快である。離島の一人麻酔科でも取れる指標ほど検証が乏しく、確かなエビデンスがある指標ほどその現場では取れない。本プロジェクトはこの空隙を埋めようとするものであり、同時に、現時点でその空隙が埋まっていないことを正直に認識しておく必要があ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SI・RI は本来、安静時の被験者で大動脈スティフネスや反射（小血管トーヌス）という半ば慢性的な血管特性を評価する指標として検証された。1 拍ごとの急性の全身血管抵抗変動・前負荷変動をリアルタイムに追う指標としては未検証である。術中の急性トーヌス変化には、切痕の位置・幅や加速度脈波の d/a のほうが対応しやすい。定量化を『反射・スティフネス軸』と『急性トーヌス軸』に分けておくと、この時間スケールの取り違えを避けられる。また心拍数の交絡は指標依存である。系統的レビューによれば、反射指数 RI は心拍数と相当程度に関連するが、スティフネス指数 SI の関連は乏しく、加速度脈波指標については結論が出ていない。周術期のように心拍数が大きく動く状況では、振幅比の RI よりも時間指標の SI のほうが交絡を受けにくいと考えられる。なお『心拍数が上がると反射波が高くなる』という記述はヒト実測では支持されていない。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ここからが本講演の中心である。SI も RI も、拡張期ピーク P2 という一点を波形上で決めることから始まる。P2 が決まらなければ ΔT も P2/P1 も計算できない。つまり SI・RI の信頼性の問題は、統計や校正の問題である前に、『波形上のどこを P2 と呼ぶか』という同定の問題である。そしてこの同定は、周術期でいちばん評価したい患者ほど難しくなる。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ここに、この研究領域が抱える中心的なパラドクスがある。生理学的には次の連鎖が働く。スティフネス上昇 → 反射波の早期帰還（PWV 上昇として測定される）→ 収縮期への融合 → 一峰性化 → 重複切痕・拡張期ピークの減弱・消失。つまり、切痕や P2 を評価したい当の集団（高齢・高スティフネス）で、それらは最も見えにくくなる。Dawber らは 1973 年の Framingham で、動脈脈波を切痕の見え方で 4 クラスに分類している。Class 1 が明瞭な切痕、Class 4 が切痕の痕跡なしで、健常若年は Class 1、加齢・スティフネス上昇に伴い Class 4 へ移行する。この構造は UK Biobank の ASI が高齢者で予測力を失うことと同型であり、加速度脈波の f 点（拡張期ピークに対応する点）が高スティフネス例で検出できないことともつながる。指標が最も必要な集団で、指標が働かなくなる。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ここで、より根本的な問題を一つ挟んでおく。我々は「第2ピーク＝末梢からの反射波」と当然のように呼んでいるが、この物理的な帰属自体が数値モデルからは支持されていない。Epstein らは、手の主要動脈を含む 75 本の動脈網を表現した非線形 1 次元の脈波伝播モデルで、動脈壁スティフネス・末梢抵抗・末梢コンプライアンス・末梢反射を個別に変化させ、模擬した指尖の面積波形からスティフネス指数 SI を算出した。結論は二つある。第一に、大動脈脈波伝播速度は大動脈スティフネスに支配されるが、SI は全ての導管血管のスティフネスに支配される。したがって SI は大動脈 PWV の直接の代用ではない。第二に、そしてこちらが重要だが、指尖容積脈波の第 2 ピークは末梢反射ではなく、75 本の動脈区間の内部で生じるインピーダンス不整合が主因である。上肢の末梢反射はむしろ第 1 ピークの到達時刻を遅らせる方向に働く。この指摘は本講演の手法にそのまま効く。波形をどれだけ上手く分解できても、二番目の山に「末梢反射波」というラベルを貼ってよいかは数学の外側の問題であり、この帰属が誤っていれば、そこから作った SI・RI の生理学的意味は変わってしまう。だからこそ、生成条件が既知の仮想被験者による検証を先に置く必要がある。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拡張期ピークの同定が破綻する条件は四つに整理できる。第一に一峰性化。高齢・高スティフネス例で反射波が収縮期に融合し、山がひとつになる。第二に shoulder 化。ピークが肩（変曲点）になり、局所最大そのものが消失する。Suboh らは四次微分までを用いた特徴点検出を検討したうえで、加齢に伴い拡張期ピークが shoulder 化して同定が困難になることを明記している。局所最大が存在しなければ、微分の極値も定義できない。第三に頻脈。心拍数が上がると拡張期が短縮し、切痕・拡張期ピークを含む拡張期部分が圧縮・切り詰められる。第四に信号側の劣化。臨床モニタの帯域制限、AGC、体動・末梢冷感・プローブ装着条件。とくに加速度脈波の形態に対する主要な脅威は AGC ではなく帯域制限である点は実装上きわめて重要である。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これまでの方法は、いずれも波形上の『点』を探すという発想に立っている。目視は Murray と Foster（1996）以来の伝統があり、振幅と重複切痕の位置がカテコラミン刺激の鋭敏な指標になりうると指摘された。しかし重複切痕はしばしば独立した切痕ではなく単なる変曲点としてしか現れず、末梢ほど不明瞭で、過減衰でも消える。トレンド（経時変化の向き）の読み取りには妥当だが、絶対的な定量評価には向かない。二次微分（加速度脈波）は、生波形で見えない変曲点を顕在化させる強力な手段である。しかしこれも原理的な限界を共有する。局所最大が存在しなければ二次微分の谷も定義できない。四次微分まで用いても、shoulder 化した拡張期ピークは同定できない。つまり『点を探す』という発想そのものが、高スティフネス例で行き止まりになる。だから発想を変える必要がある。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想の転換はここにある。これまでは、観測された波形の上で『拡張期ピークという点はどこか』を探していた。これからは、『前進波と反射波を足すとこの波形になるはずだ』というモデルを立て、そのモデルが観測波形にいちばんよく合うようにパラメータを調整する。この違いは決定的である。点を探す方法は、点が見えなくなった瞬間に答えを返せない。モデルを当てはめる方法は、山が融合して見えなくなっても、『二つの山の重ね合わせとして最もよく説明できる組み合わせ』を返すことができる。もちろんそれが正しい保証はない。だからこそ後半で制約と検証を扱う。</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学では、原因から結果を計算することを順問題、結果から原因を割り出すことを逆問題という。今回の順問題はやさしい。前進波と反射波の形が分かっていれば、足すだけで観測波形が得られる。難しいのは逆問題である。観測波形という『合計』だけを見て、その内訳である前進波と反射波を割り出さなければならない。料理にたとえれば、出来上がったスープを味わって材料と分量を当てるようなものである。合計が同じになる内訳は原理的に複数ありうるので、逆問題は一般に一意に解けない。この『一意に解けない』という性質を不良設定（ill-posed）といい、後のスライドで扱う中心的な難所にな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部品として使うのはガウス関数、いわゆる『釣鐘型の山』である。式は g(t) ＝ a × exp( −(t − μ)² ÷ (2σ²) ) と書く。難しく見えるが、つまみは三つしかない。a は山の高さ。大きくすると山が高くなる。μ（ミュー）は山の位置。大きくすると山が右へずれる。σ（シグマ）は山の幅。大きくすると山がなだらかに広がる。exp は指数関数で、(t − μ)² すなわち中心からの距離の二乗が大きいほど急速にゼロへ近づくことを表す。これが『中心が高く、離れるほど低い』釣鐘の形を作る。なぜ山の形を使うのか。前進波も反射波も、『ある時刻に立ち上がってピークを作り、また下がる』一つの塊だからである。PPG をガウス関数の和で表す発想は Rubins（2008）に遡る。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山を複数足し合わせると PPG の一拍分の形になる。y(t) ＝ g₁(t) ＋ g₂(t) ＋ g₃(t) …。生理学的な読み替えは次のとおり。g₁ が前進波、すなわち左室駆出そのものに対応する最初の山。g₂ が第一の反射波、すなわち拡張期ピークを作る山。g₃ 以降が後続の反射・拡張期の緩やかな成分である。何個の山を使うかは研究によって異なる。Rubins（2008）は収縮期波と拡張期波をそれぞれ二つのガウス関数の和で表した。Couceiro ら（2015）は五つのガウス関数で PPG 一拍を分解している。重要なのは個数そのものではなく、『第一の山＝前進波、第二の山＝第一反射波』という対応を固定して運用することである。この対応が固定されて初めて、モデルのパラメータから SI・RI を再定義できる。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では、当てはめの良し悪しをどう測るか。各時刻で『実測値 − モデル値』の差（残差）を計算し、それを二乗して全時刻で足し合わせる。これを残差二乗和 SSE（sum of squared errors）という。二乗するのは二つの理由がある。プラスの誤差とマイナスの誤差が打ち消し合わないようにするため、そして大きな外れをより強く罰するためである。SSE が小さいほど、モデルは観測波形をよく説明している。したがって我々の仕事は『SSE を最小にするパラメータの組を探す』という一つの問題に還元される。これが最小二乗法である。パラメータは一つの山につき三つ（a, μ, σ）なので、山が三つなら九つ、五つなら十五個になる。この十五次元の空間から、SSE を最小にする一点を探すことになる。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SSE を最小にするパラメータは、式を解いて一発で求まるものではない。パラメータを少しずつ動かしながら SSE が小さくなる方向へ進む、という反復計算で探す。イメージは、霧の中で山を下るのに似ている。足元の傾きだけを頼りに、下り坂の方向へ一歩進む。これを繰り返すと谷底に着く。この考え方を勾配降下といい、曲線当てはめでは Levenberg–Marquardt 法という改良版がよく使われる。問題は、着いた谷底が本当にいちばん深い谷とは限らないことである。手前の浅いくぼみに落ちて止まってしまうことがあり、これを局所解という。どの谷に落ちるかは、どこから歩き始めたか（初期値）で決まる。Basso ら（2024）は MIMIC-III の 8,000 拍を用い、初期値をランダムに与えたときのモデルの感度と頑健性を定量的に比較している。初期値依存性は理論上の心配ではなく、実測データで確認された実務上の問題である。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逆問題の本質的な難所がこれである。違う山の組み合わせでも、足し合わせた結果がほとんど同じ形になることがある。たとえば『高くて細い反射波』と『やや低くて広い反射波を少し早めに置いたもの』は、合計するとほぼ見分けがつかない。このとき SSE はどちらもほぼ同じ値を取るので、数学的にはどちらも『正解』である。しかし臨床的な意味はまったく違う。RI は前者で高く、後者で低く出る。この状態を不良設定（ill-posed）といい、『解が存在する』『解が一意である』『解がデータの微小な変化に対して安定である』という三条件のうち、後の二つが満たされない。Basso ら（2024）は、初期値をランダムに変えたときに従来モデルの推定値がどれだけ揺れるかを示し、非対称な skewed-Gaussian モデルのほうが揺れが小さいことを報告している。モデルの選択そのものが、一意性の問題への対処になりうるということである。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意でない問題を解けるようにするには、探索の範囲を狭めるしかない。狭める根拠は数学ではなく生理学から取る。これが本手法の中心的な設計である。第一に順序の制約。前進波は反射波より必ず先に来るので μ₁ &lt; μ₂ &lt; μ₃ を課す。第二に時間窓の制約。反射波の往復時間 ΔT ＝ μ₂ − μ₁ は生理的にありうる範囲に限る。この範囲は身長と、想定される脈波伝播速度の範囲から決まる。第三に符号の制約。振幅 a と幅 σ は必ず正である。第四に初期値の制約。ランダムな初期値ではなく、加速度脈波（SDPPG）の a〜e 波の時刻を初期値として与える。加速度脈波の横軸（ランドマークの時刻）は、AGC で振幅が壊れていても保存される。微分は時間軸を変えないからである。つまり、従来法である微分は捨てるのではなく、当てはめの出発点として使う。『微分で当たりをつけ、当てはめで仕上げる』という二段構えにな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当てはめができたとして、その分解が正しいかをどう確かめるか。実測の PPG には『正解』が付いていないので、三段構えで詰める。第一段は in silico、すなわち計算機シミュレーションである。Charlton ら（2019）の公開データベースは、25〜75 歳の心血管特性を文献レビューで同定し、それを入力として 4,374 名の仮想被験者の脈波を生成したものである。圧・流速・内腔断面積・光電容積脈波が主要な測定部位で同時に出力され、各波形を生成した心血管特性が既知である。圧と流量が両方あるので、古典的な波分離によって前進波・反射波の参照値を計算できる。つまり『答え合わせのできる波形』が数千例分ある。第二段は VitalDB などの公開周術期データセットで、実患者の高分解能波形に対して検出成功率と再現性を評価する。第三段が実機で、Vital Recorder 経由で AGC と帯域制限を受けた臨床モニタ波形に適用する。重要なのは、年齢層別の検出成功率を事前登録し、検出できなかった症例の扱いを先に決めておくことである。これを怠ると、検出できた症例だけを解析する選択バイアスが必ず入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モデルが当てはまれば、SI と RI は波形上の点ではなくモデルのパラメータから定義できる。SI は身長を μ₂ − μ₁ で割ったもの、RI は a₂ を a₁ で割ったものになる。この再定義の意味は大きい。従来の SI・RI は、拡張期ピークという局所最大が波形上に存在することを要求していた。モデルのパラメータは、山が融合して局所最大が消えていても存在する。つまり、一峰性化した高スティフネス例でも値が出る。これが第 4 章で述べたパラドクス（評価したい集団で指標が壊れる）への直接の回答である。ただし『値が出る』ことと『値が正しい』ことは別である。融合が進むほど分解の不確実性は大きくなるので、推定値と同時に信頼区間あるいは当てはまりの良さを必ず併記して運用する必要がある。なお Couceiro ら（2015）は同じ趣旨の時間パラメータを T1_2、振幅パラメータを R1_2 と呼んでいる。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ここは本講演でいちばん正直に述べるべきところである。「点を探すのをやめ、波を当てはめる」という発想の転換も、そこから SI・RI を作り直すことも、血圧・血管抵抗と対比することも、すべて既に行われている。Rubins（2008）は指と耳の PPG を収縮期波・拡張期波に分け、それぞれを 2 つのガウス関数の和で当てはめ、直達波と 3 つの反射波の時刻から反射指数 RI とオーグメンテーション指数 AI を算出し、微分法と比較した。健常者 40 名。分解由来の RI はここが最初期である。Goswami ら（2010）は Rayleigh 関数による 2 波合成モデルから、反射指数 RI・スティフネス指数 SI・脈波伝播速度を明示的に導出し、健常者と治療中高血圧者の 113 信号で従来法と比較した。分解由来の SI もここで揃っている。Couceiro ら（2015）は 5 ガウス分解から SI・RI に加えて時間差 T1_2 と振幅比 R1_2 を算出し、循環動態が不安定な 43 名で血圧と総末梢血管抵抗係数に対比した。さらに Grabovskis ら（2015）はカフ圧で局所血管抵抗を段階的に上げ、分解由来の遅延と振幅比が応答することを示し、Wang ら（2018）は運動負荷で、Park ら（2022）は血管年齢で同様の解析を行い、Baruch らの Pulse Decomposition Analysis は中心動脈圧との対比を経て製品化されている。つまり、本講演の第 5 章で述べた手法は新しい提案ではない。この事実を伏せて話を進めるのは誠実ではないので、ここで明示する。詳細は本リポジトリの先行技術調査文書に PICO 形式で一覧化してある。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この方向にはすでに先行研究がある。Couceiro ら（2015）は五つのガウス関数で指尖 PPG を分解し、健常者と心血管疾患患者 68 名で、心エコーによる左室駆出時間 LVET と比較した。最良の推定値は絶対誤差 15.41 ± 13.66 ms、相関 ρ = 0.78 であった。さらに循環動態が不安定な 43 名で、分解から得たパラメータと血圧・総末梢血管抵抗係数 TPRI との関連を検討している。ここが本講演にとって決定的に重要である。最も高い相関を示したのは T1_2、すなわち前進波と第一反射波の時間差であり、TPRI との相関は ρ = 0.45 であった。一方、振幅比である R1_2（前進波と第一反射波の振幅の比）は、すべての参照値に対して低い相関しか示さなかった。つまり、分解で得られる時間パラメータのほうが振幅パラメータより有望である。これは本プロジェクトの設計原則『タイミング／形状の情報を振幅より優先する』と一致する。AGC の議論から導かれた原則と、独立した実測研究の結果が同じ方向を指している。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ガウス分解とは別の、より古典的な道も押さえておく。波分離（wave separation）は、圧と流量の両方を測れば前進波と反射波を厳密に分けられる、という循環生理学の標準的手法である。しかし流量の測定は臨床では容易でない。Westerhof ら（2006）は、大動脈流量波形は個人差が比較的小さいことに着目し、実測流量の代わりに三角形で近似した流量波形を使うことを提案した。三角形の底辺は圧の立ち上がりから重複切痕まで、頂点は駆出時間の 30% あるいは圧の変曲点に置く。Kips ら（2009）は Asklepios 研究の 2,500 名超でこの近似を検証した。三角近似による反射量の一致は R² ＝ 0.55 にとどまり、より生理的な流量波形を用いると R² ＝ 0.74 に改善した。大動脈伝播時間の推定は R² &lt; 0.29 と不良であった。しかも我々が扱うのは圧ではなく容積信号の PPG なので、仮定はさらに一段増える。したがってこの道は、主軸ではなく、ガウス分解の結果を突き合わせるための独立した参照として位置づけるのが妥当である。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章を閉じるにあたって、限界を率直に述べておく。当てはまりが良いことは、正しいことの証明ではない。十分な数のガウス関数を使えば、どんな滑らかな曲線でもほぼ完全に再現できる。しかし『よく再現できた』ことと『二番目の山が本当に末梢からの反射波である』ことは別問題である。この対応づけは数学の外側にあり、生理学的な検証でしか埋められない。検証の道具は三つある。第一に薬理学的介入。血管拡張薬・昇圧薬を投与したときに、推定された反射波が既知の方向へ動くかを見る。第二に in silico の正解との照合。生成条件が既知の仮想被験者で真値と比較する。第三に独立指標との突き合わせ。cf-PWV や観血的動脈圧由来の指標と収束的妥当性を確認する。これらを通らないかぎり、この手法は仮説にとどまる。本講演はその仮説を、反証可能な形で提示するところまでを目的としている。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この研究に何が残っているのか。新規性は指標の定義ではなく、検証の条件の側にしかない。第一に、周術期・全身麻酔下という設定である。先行研究の対象は健常者・傾斜台・カフ圧迫・運動負荷・高血圧外来・血管年齢コホートであり、麻酔導入時や昇圧薬投与時に分解由来指標が観血血圧と較正済み全身血管抵抗の変化を追随するかは未検証である。PubMed で分解手法と麻酔・周術期を掛け合わせて検索しても該当は 3 件のみで、分解由来の SI・RI を全身血管抵抗と対比した研究は 1 件も無かった。第二に、退化した波形における救済という仮説そのものである。一峰性化・shoulder 化してランドマーク法が破綻する拍において、モデル法が値を返し、かつその値が血管抵抗と関連するかを主要評価項目として事前規定した研究は見当たらない。年齢層・スティフネス層別の検出成功率を主要アウトカムに置き、pyPPG などのランドマーク法と同一の拍で直接対決させる設計にすれば、第 4 章で述べた第 2 ピークの帰属問題にも同時に答えられる。第三に、AGC と帯域制限のある実機モニタ波形での成立性。先行研究はすべて研究用 PPG か観血動脈圧を使っており、臨床パルスオキシメータの表示波形で分解が安定に解けるかは誰も確認していない。これは構想全体の必要条件であり、否定されれば構想は成立しない。第四に、絶対値の相関ではなく変化の追随性としての評価。先行研究はプールした相関係数を報告しているが、昇圧薬で血管抵抗を動かしたときの変化方向の一致率という評価軸は未実施である。第五に、拍ごとの識別可能性を出力として報告すること。推定値と一緒に不確かさを出し、識別不能な拍を事前規定で除外する運用は標準になっていない。そして重要な但し書きとして、Couceiro の成績を踏まえれば事前確率は低めに見積もるべきであり、陰性結果でも情報価値が出るように設計しておく必要がある。</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臨床運用の第一原則は、絶対値を信じないことである。多くの既存指標は、波形の特徴量を血圧や全身血管抵抗の絶対値に対応づけようとして、機器ごと・個人ごとのばらつきに阻まれてきた。本アプローチは方針を変え、麻酔導入前のベースラインからの相対変化 Δ を追跡することを核心に置く。利点は三つある。個人内の変化だけを見るため絶対値の校正が要らない。平均動脈圧の推定式のような機器固有の変換式に縛られない。そして、手術中に問題になるのは『導入前と比べて今どう変わったか』であり、臨床的関心と一致する。数値的な根拠は Millasseau の被験者内変動係数 9.6% である。個人間の序列づけには足りない精度でも、個人内の変化追跡には十分に小さい。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推定された二つのパラメータを、二軸のマップとして読む。横軸は時間の軸で、前進波と反射波の時間差 ΔT。ΔT が短くなるのは反射波が早く戻ってくること、すなわち大動脈側が硬くなる方向である。縦軸は高さの軸で、反射波と前進波の振幅比 RI。RI が下がるのは反射が小さくなること、すなわち末梢が拡張する方向である。血管拡張薬で RI が低下することは Chowienczyk らの原典で示されている。この二軸を分けて見ることの臨床的な意味は、『いま起きているのは末梢の拡張か、それとも血管が硬いこと自体か』を分離できる点にある。麻酔導入時の低血圧に対して、末梢が開いているなら昇圧薬、もともと硬い血管に前負荷低下が重なっているなら輸液、という判断の材料になりうる。ただしこれは解釈の枠組みであって、検証された臨床アルゴリズムではない。とくに『局所の指トーヌスを見ているのか全身の血管抵抗を見ているのか』は未解決であり、上肢神経ブロック下で麻酔側と対照側を比較する観察研究が進行中である。</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想定する使いどころを三つ挙げる。いずれも現時点では仮説である。第一に麻酔導入時低血圧。導入前のベースラインからの Δ を見ることで、血圧が下がる前に血管側の変化を捉えられる可能性がある。Tusman ら（2019）は心臓外科 15 例で、PPG 振幅と重複切痕の位置から血管トーヌスを6 クラスに分類し、収縮期血圧・全身血管抵抗・血管コンプライアンスとよく相関し、低血圧・高血圧エピソードを高い精度で検出したと報告している。第二に昇圧薬への血管反応。Coutrot ら（2019）は麻酔導入時 61 例で、相対的重複切痕高比 Dicpleth と灌流指数 PI の変動が、術中低血圧の検出および昇圧薬ボーラスへの血管反応の追跡に有用であることを示した（proof-of-concept 研究）。第三に脊椎麻酔後の低血圧。ただしこの領域の予測研究は帝王切開という単一設定に集中しており、一般化は未確立である。重要なのは、これらがいずれも『反射波に由来する形態指標が臨床事象と結びつく』ことを示唆する段階にとどまり、SI・RI そのものの周術期検証ではないという点である。</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反射波の情報が取れると、既存モニタの弱点にも接続する。モニタが表示する PWTT の正体は脈波到達時間 PAT であり、心臓側の前駆出期 PEP と血管側の血管内伝播時間 VTT の和である。esCCO の較正係数 K には血管の情報が入っていないため、後負荷が上昇した場面で一回拍出量を系統的に過大評価する。Yamada ら（2012）の多施設検証では、esCCO の誤差が全身血管抵抗とr = 0.37（P &lt; 0.0001）で相関することが示されている。一般に報告される一致性の水準は、安定期の全身麻酔下で熱希釈法との相関 r ≈ 0.84、バイアス約 1.6 L/min、誤差率およそ 47% であり、Critchley 基準の ±30% を大きく超える。絶対値の心拍出量計としては使えない。本プロジェクトの別稿は、この較正係数 K を加速度脈波の形態指標で動的に補正するという作業仮説を提示している。反射波を安定に推定できることは、その入力になりうる。ただしこの補正提案自体が未検証の仮説であることを繰り返し強調しておく。</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限界を率直に列挙する。第一に、PPG は容積信号であり圧ではない。振幅・PI は中心インピーダンスよりも局所のコンプライアンス・血管運動トーヌス・灌流圧に支配される。第二に、指で記録される切痕位置が測定部位の局所トーヌスを映すのか全身血管抵抗を映すのかは未解決であり、上肢神経ブロック下で麻酔側と対照側を比較する観察研究が進行中である。第三に、臨床モニタの AGC と帯域制限。AGC は振幅の絶対値と拍間の振幅変化を壊し、加速度脈波の形態には帯域制限が効く。この区別は実装上きわめて重要である。第四に、加齢交絡。スティフネス上昇は急性の血行動態変化とは独立に切痕を減弱させるため、『いまの血管収縮』か『もとの硬い血管』かの切り分けを要する。第五に、SI・RI は 1 拍ごとの急性変動では未検証である。第六に、第 5 章の推定手法そのものが未検証の提案である。したがって現時点で臨床判断の根拠にしてはならない。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まとめ。第一に、SI は反射波の時間、RI は反射波の高さを測る指標であり、それぞれ大動脈のスティフネスと末梢の小血管トーヌスに対応する。第二に、どちらも拡張期ピーク（反射波）を同定できることを前提にしており、高スティフネス例ではその前提が崩れる。周術期でいちばん評価したい集団で指標が壊れる。第三に、そこで発想を『点を探す』から『波を当てはめる』へ変える。PPG 一拍を複数のガウス関数の和としてモデル化し、残差二乗和を最小にするパラメータを反復計算で求める。第四に、逆問題は一意に解けないので、順序・時間窓・符号の制約と、加速度脈波から与える初期値で探索空間を狭める。検証は仮想被験者・公開データ・実機の三段で行い、検出成功率を事前登録する。第五に、得られた時間パラメータと振幅パラメータを二軸で読むことで、『末梢が開いたのか、血管が硬いのか』を分けて見られる可能性がある。ただし全体が仮説段階であることを最後にもう一度強調しておく。</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本スライドの主張はすべてこれらの一次文献、または本リポジトリの既存レビューに由来する。第 5 章の推定手法は、これら先行研究の手法を組み合わせた提案であり、本プロジェクトとしての臨床検証は未了である。</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本スライドの主張はすべてこれらの一次文献、または本リポジトリの既存レビューに由来する。第 5 章の推定手法は、これら先行研究の手法を組み合わせた提案であり、本プロジェクトとしての臨床検証は未了である。</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本スライドの主張はすべてこれらの一次文献、または本リポジトリの既存レビューに由来する。第 5 章の推定手法は、これら先行研究の手法を組み合わせた提案であり、本プロジェクトとしての臨床検証は未了である。</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本スライドの主張はすべてこれらの一次文献、または本リポジトリの既存レビューに由来する。第 5 章の推定手法は、これら先行研究の手法を組み合わせた提案であり、本プロジェクトとしての臨床検証は未了である。</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本スライドの主張はすべてこれらの一次文献、または本リポジトリの既存レビューに由来する。第 5 章の推定手法は、これら先行研究の手法を組み合わせた提案であり、本プロジェクトとしての臨床検証は未了である。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PPG波形で血管を診る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920240"/>
            <a:ext cx="11247120" cy="2194560"/>
          </a:xfrm>
          <a:prstGeom prst="rect">
            <a:avLst/>
          </a:prstGeom>
          <a:noFill/>
        </p:spPr>
        <p:txBody>
          <a:bodyPr wrap="square" lIns="18288" rIns="18288" tIns="0" bIns="0" anchor="t">
            <a:noAutofit/>
          </a:bodyPr>
          <a:lstStyle/>
          <a:p>
            <a:pPr algn="l">
              <a:lnSpc>
                <a:spcPct val="100000"/>
              </a:lnSpc>
              <a:spcBef>
                <a:spcPts val="0"/>
              </a:spcBef>
              <a:spcAft>
                <a:spcPts val="1600"/>
              </a:spcAft>
            </a:pPr>
            <a:r>
              <a:rPr sz="3000" b="1" i="0">
                <a:solidFill>
                  <a:srgbClr val="222222"/>
                </a:solidFill>
                <a:latin typeface="メイリオ"/>
                <a:ea typeface="メイリオ"/>
                <a:cs typeface="メイリオ"/>
              </a:rPr>
              <a:t>麻酔中の循環動態モニターとしての SI・RI</a:t>
            </a:r>
          </a:p>
          <a:p>
            <a:pPr algn="l">
              <a:lnSpc>
                <a:spcPct val="100000"/>
              </a:lnSpc>
              <a:spcBef>
                <a:spcPts val="0"/>
              </a:spcBef>
              <a:spcAft>
                <a:spcPts val="1600"/>
              </a:spcAft>
            </a:pPr>
            <a:r>
              <a:rPr sz="2600" b="0" i="0">
                <a:solidFill>
                  <a:srgbClr val="5A5A5A"/>
                </a:solidFill>
                <a:latin typeface="メイリオ"/>
                <a:ea typeface="メイリオ"/>
                <a:cs typeface="メイリオ"/>
              </a:rPr>
              <a:t>― 反射波の同定という壁を、数学で越える ―</a:t>
            </a:r>
          </a:p>
          <a:p>
            <a:pPr algn="l">
              <a:lnSpc>
                <a:spcPct val="100000"/>
              </a:lnSpc>
              <a:spcBef>
                <a:spcPts val="0"/>
              </a:spcBef>
              <a:spcAft>
                <a:spcPts val="1600"/>
              </a:spcAft>
            </a:pPr>
          </a:p>
          <a:p>
            <a:pPr algn="l">
              <a:lnSpc>
                <a:spcPct val="100000"/>
              </a:lnSpc>
              <a:spcBef>
                <a:spcPts val="0"/>
              </a:spcBef>
              <a:spcAft>
                <a:spcPts val="1600"/>
              </a:spcAft>
            </a:pPr>
            <a:r>
              <a:rPr sz="2400" b="0" i="0">
                <a:solidFill>
                  <a:srgbClr val="0072B2"/>
                </a:solidFill>
                <a:latin typeface="メイリオ"/>
                <a:ea typeface="メイリオ"/>
                <a:cs typeface="メイリオ"/>
              </a:rPr>
              <a:t>SpO</a:t>
            </a:r>
            <a:r>
              <a:rPr sz="2400" b="0" i="0" baseline="-25000">
                <a:solidFill>
                  <a:srgbClr val="0072B2"/>
                </a:solidFill>
                <a:latin typeface="メイリオ"/>
                <a:ea typeface="メイリオ"/>
                <a:cs typeface="メイリオ"/>
              </a:rPr>
              <a:t>2</a:t>
            </a:r>
            <a:r>
              <a:rPr sz="2400" b="0" i="0">
                <a:solidFill>
                  <a:srgbClr val="0072B2"/>
                </a:solidFill>
                <a:latin typeface="メイリオ"/>
                <a:ea typeface="メイリオ"/>
                <a:cs typeface="メイリオ"/>
              </a:rPr>
              <a:t> モニタの脈波だけで、血管の状態を追えるか</a:t>
            </a:r>
          </a:p>
        </p:txBody>
      </p:sp>
      <p:sp>
        <p:nvSpPr>
          <p:cNvPr id="5" name="Freeform 4"/>
          <p:cNvSpPr/>
          <p:nvPr/>
        </p:nvSpPr>
        <p:spPr>
          <a:xfrm>
            <a:off x="822960" y="3978209"/>
            <a:ext cx="6035040" cy="1811242"/>
          </a:xfrm>
          <a:custGeom>
            <a:avLst/>
            <a:gdLst/>
            <a:ahLst/>
            <a:cxnLst/>
            <a:rect l="l" t="t" r="r" b="b"/>
            <a:pathLst>
              <a:path w="6035040" h="1811242">
                <a:moveTo>
                  <a:pt x="0" y="1798122"/>
                </a:moveTo>
                <a:lnTo>
                  <a:pt x="35500" y="1790090"/>
                </a:lnTo>
                <a:lnTo>
                  <a:pt x="71000" y="1780254"/>
                </a:lnTo>
                <a:lnTo>
                  <a:pt x="106500" y="1768305"/>
                </a:lnTo>
                <a:lnTo>
                  <a:pt x="142000" y="1753905"/>
                </a:lnTo>
                <a:lnTo>
                  <a:pt x="177501" y="1736691"/>
                </a:lnTo>
                <a:lnTo>
                  <a:pt x="213001" y="1716283"/>
                </a:lnTo>
                <a:lnTo>
                  <a:pt x="248501" y="1692286"/>
                </a:lnTo>
                <a:lnTo>
                  <a:pt x="284001" y="1664305"/>
                </a:lnTo>
                <a:lnTo>
                  <a:pt x="319502" y="1631951"/>
                </a:lnTo>
                <a:lnTo>
                  <a:pt x="355002" y="1594861"/>
                </a:lnTo>
                <a:lnTo>
                  <a:pt x="390502" y="1552709"/>
                </a:lnTo>
                <a:lnTo>
                  <a:pt x="426002" y="1505227"/>
                </a:lnTo>
                <a:lnTo>
                  <a:pt x="461503" y="1452217"/>
                </a:lnTo>
                <a:lnTo>
                  <a:pt x="497003" y="1393577"/>
                </a:lnTo>
                <a:lnTo>
                  <a:pt x="532503" y="1329314"/>
                </a:lnTo>
                <a:lnTo>
                  <a:pt x="568003" y="1259561"/>
                </a:lnTo>
                <a:lnTo>
                  <a:pt x="603504" y="1184593"/>
                </a:lnTo>
                <a:lnTo>
                  <a:pt x="639004" y="1104838"/>
                </a:lnTo>
                <a:lnTo>
                  <a:pt x="674504" y="1020883"/>
                </a:lnTo>
                <a:lnTo>
                  <a:pt x="710004" y="933476"/>
                </a:lnTo>
                <a:lnTo>
                  <a:pt x="745504" y="843520"/>
                </a:lnTo>
                <a:lnTo>
                  <a:pt x="781005" y="752066"/>
                </a:lnTo>
                <a:lnTo>
                  <a:pt x="816505" y="660293"/>
                </a:lnTo>
                <a:lnTo>
                  <a:pt x="852005" y="569484"/>
                </a:lnTo>
                <a:lnTo>
                  <a:pt x="887505" y="480999"/>
                </a:lnTo>
                <a:lnTo>
                  <a:pt x="923006" y="396237"/>
                </a:lnTo>
                <a:lnTo>
                  <a:pt x="958506" y="316601"/>
                </a:lnTo>
                <a:lnTo>
                  <a:pt x="994006" y="243451"/>
                </a:lnTo>
                <a:lnTo>
                  <a:pt x="1029506" y="178065"/>
                </a:lnTo>
                <a:lnTo>
                  <a:pt x="1065007" y="121595"/>
                </a:lnTo>
                <a:lnTo>
                  <a:pt x="1100507" y="75029"/>
                </a:lnTo>
                <a:lnTo>
                  <a:pt x="1136007" y="39154"/>
                </a:lnTo>
                <a:lnTo>
                  <a:pt x="1171507" y="14530"/>
                </a:lnTo>
                <a:lnTo>
                  <a:pt x="1207008" y="1463"/>
                </a:lnTo>
                <a:lnTo>
                  <a:pt x="1242508" y="0"/>
                </a:lnTo>
                <a:lnTo>
                  <a:pt x="1278008" y="9918"/>
                </a:lnTo>
                <a:lnTo>
                  <a:pt x="1313508" y="30732"/>
                </a:lnTo>
                <a:lnTo>
                  <a:pt x="1349008" y="61714"/>
                </a:lnTo>
                <a:lnTo>
                  <a:pt x="1384509" y="101911"/>
                </a:lnTo>
                <a:lnTo>
                  <a:pt x="1420009" y="150181"/>
                </a:lnTo>
                <a:lnTo>
                  <a:pt x="1455509" y="205226"/>
                </a:lnTo>
                <a:lnTo>
                  <a:pt x="1491009" y="265638"/>
                </a:lnTo>
                <a:lnTo>
                  <a:pt x="1526510" y="329940"/>
                </a:lnTo>
                <a:lnTo>
                  <a:pt x="1562010" y="396634"/>
                </a:lnTo>
                <a:lnTo>
                  <a:pt x="1597510" y="464243"/>
                </a:lnTo>
                <a:lnTo>
                  <a:pt x="1633010" y="531354"/>
                </a:lnTo>
                <a:lnTo>
                  <a:pt x="1668511" y="596654"/>
                </a:lnTo>
                <a:lnTo>
                  <a:pt x="1704011" y="658960"/>
                </a:lnTo>
                <a:lnTo>
                  <a:pt x="1739511" y="717248"/>
                </a:lnTo>
                <a:lnTo>
                  <a:pt x="1775011" y="770666"/>
                </a:lnTo>
                <a:lnTo>
                  <a:pt x="1810512" y="818553"/>
                </a:lnTo>
                <a:lnTo>
                  <a:pt x="1846012" y="860436"/>
                </a:lnTo>
                <a:lnTo>
                  <a:pt x="1881512" y="896033"/>
                </a:lnTo>
                <a:lnTo>
                  <a:pt x="1917012" y="925241"/>
                </a:lnTo>
                <a:lnTo>
                  <a:pt x="1952512" y="948131"/>
                </a:lnTo>
                <a:lnTo>
                  <a:pt x="1988013" y="964924"/>
                </a:lnTo>
                <a:lnTo>
                  <a:pt x="2023513" y="975975"/>
                </a:lnTo>
                <a:lnTo>
                  <a:pt x="2059013" y="981752"/>
                </a:lnTo>
                <a:lnTo>
                  <a:pt x="2094513" y="982814"/>
                </a:lnTo>
                <a:lnTo>
                  <a:pt x="2130014" y="979787"/>
                </a:lnTo>
                <a:lnTo>
                  <a:pt x="2165514" y="973340"/>
                </a:lnTo>
                <a:lnTo>
                  <a:pt x="2201014" y="964172"/>
                </a:lnTo>
                <a:lnTo>
                  <a:pt x="2236514" y="952982"/>
                </a:lnTo>
                <a:lnTo>
                  <a:pt x="2272015" y="940461"/>
                </a:lnTo>
                <a:lnTo>
                  <a:pt x="2307515" y="927271"/>
                </a:lnTo>
                <a:lnTo>
                  <a:pt x="2343015" y="914035"/>
                </a:lnTo>
                <a:lnTo>
                  <a:pt x="2378515" y="901326"/>
                </a:lnTo>
                <a:lnTo>
                  <a:pt x="2414016" y="889657"/>
                </a:lnTo>
                <a:lnTo>
                  <a:pt x="2449516" y="879477"/>
                </a:lnTo>
                <a:lnTo>
                  <a:pt x="2485016" y="871169"/>
                </a:lnTo>
                <a:lnTo>
                  <a:pt x="2520516" y="865040"/>
                </a:lnTo>
                <a:lnTo>
                  <a:pt x="2556016" y="861331"/>
                </a:lnTo>
                <a:lnTo>
                  <a:pt x="2591517" y="860209"/>
                </a:lnTo>
                <a:lnTo>
                  <a:pt x="2627017" y="861777"/>
                </a:lnTo>
                <a:lnTo>
                  <a:pt x="2662517" y="866069"/>
                </a:lnTo>
                <a:lnTo>
                  <a:pt x="2698017" y="873065"/>
                </a:lnTo>
                <a:lnTo>
                  <a:pt x="2733518" y="882686"/>
                </a:lnTo>
                <a:lnTo>
                  <a:pt x="2769018" y="894807"/>
                </a:lnTo>
                <a:lnTo>
                  <a:pt x="2804518" y="909261"/>
                </a:lnTo>
                <a:lnTo>
                  <a:pt x="2840018" y="925846"/>
                </a:lnTo>
                <a:lnTo>
                  <a:pt x="2875519" y="944333"/>
                </a:lnTo>
                <a:lnTo>
                  <a:pt x="2911019" y="964468"/>
                </a:lnTo>
                <a:lnTo>
                  <a:pt x="2946519" y="985988"/>
                </a:lnTo>
                <a:lnTo>
                  <a:pt x="2982019" y="1008620"/>
                </a:lnTo>
                <a:lnTo>
                  <a:pt x="3017520" y="1032087"/>
                </a:lnTo>
                <a:lnTo>
                  <a:pt x="3053020" y="1056121"/>
                </a:lnTo>
                <a:lnTo>
                  <a:pt x="3088520" y="1080461"/>
                </a:lnTo>
                <a:lnTo>
                  <a:pt x="3124020" y="1104860"/>
                </a:lnTo>
                <a:lnTo>
                  <a:pt x="3159520" y="1129090"/>
                </a:lnTo>
                <a:lnTo>
                  <a:pt x="3195021" y="1152944"/>
                </a:lnTo>
                <a:lnTo>
                  <a:pt x="3230521" y="1176239"/>
                </a:lnTo>
                <a:lnTo>
                  <a:pt x="3266021" y="1198816"/>
                </a:lnTo>
                <a:lnTo>
                  <a:pt x="3301521" y="1220543"/>
                </a:lnTo>
                <a:lnTo>
                  <a:pt x="3337022" y="1241314"/>
                </a:lnTo>
                <a:lnTo>
                  <a:pt x="3372522" y="1261052"/>
                </a:lnTo>
                <a:lnTo>
                  <a:pt x="3408022" y="1279702"/>
                </a:lnTo>
                <a:lnTo>
                  <a:pt x="3443522" y="1297235"/>
                </a:lnTo>
                <a:lnTo>
                  <a:pt x="3479023" y="1313644"/>
                </a:lnTo>
                <a:lnTo>
                  <a:pt x="3514523" y="1328942"/>
                </a:lnTo>
                <a:lnTo>
                  <a:pt x="3550023" y="1343160"/>
                </a:lnTo>
                <a:lnTo>
                  <a:pt x="3585523" y="1356345"/>
                </a:lnTo>
                <a:lnTo>
                  <a:pt x="3621023" y="1368556"/>
                </a:lnTo>
                <a:lnTo>
                  <a:pt x="3656524" y="1379862"/>
                </a:lnTo>
                <a:lnTo>
                  <a:pt x="3692024" y="1390342"/>
                </a:lnTo>
                <a:lnTo>
                  <a:pt x="3727524" y="1400079"/>
                </a:lnTo>
                <a:lnTo>
                  <a:pt x="3763024" y="1409158"/>
                </a:lnTo>
                <a:lnTo>
                  <a:pt x="3798525" y="1417668"/>
                </a:lnTo>
                <a:lnTo>
                  <a:pt x="3834025" y="1425695"/>
                </a:lnTo>
                <a:lnTo>
                  <a:pt x="3869525" y="1433323"/>
                </a:lnTo>
                <a:lnTo>
                  <a:pt x="3905025" y="1440633"/>
                </a:lnTo>
                <a:lnTo>
                  <a:pt x="3940526" y="1447701"/>
                </a:lnTo>
                <a:lnTo>
                  <a:pt x="3976026" y="1454598"/>
                </a:lnTo>
                <a:lnTo>
                  <a:pt x="4011526" y="1461386"/>
                </a:lnTo>
                <a:lnTo>
                  <a:pt x="4047026" y="1468124"/>
                </a:lnTo>
                <a:lnTo>
                  <a:pt x="4082527" y="1474860"/>
                </a:lnTo>
                <a:lnTo>
                  <a:pt x="4118027" y="1481639"/>
                </a:lnTo>
                <a:lnTo>
                  <a:pt x="4153527" y="1488494"/>
                </a:lnTo>
                <a:lnTo>
                  <a:pt x="4189027" y="1495455"/>
                </a:lnTo>
                <a:lnTo>
                  <a:pt x="4224528" y="1502544"/>
                </a:lnTo>
                <a:lnTo>
                  <a:pt x="4260028" y="1509777"/>
                </a:lnTo>
                <a:lnTo>
                  <a:pt x="4295528" y="1517162"/>
                </a:lnTo>
                <a:lnTo>
                  <a:pt x="4331028" y="1524705"/>
                </a:lnTo>
                <a:lnTo>
                  <a:pt x="4366528" y="1532406"/>
                </a:lnTo>
                <a:lnTo>
                  <a:pt x="4402029" y="1540258"/>
                </a:lnTo>
                <a:lnTo>
                  <a:pt x="4437529" y="1548254"/>
                </a:lnTo>
                <a:lnTo>
                  <a:pt x="4473029" y="1556381"/>
                </a:lnTo>
                <a:lnTo>
                  <a:pt x="4508529" y="1564625"/>
                </a:lnTo>
                <a:lnTo>
                  <a:pt x="4544030" y="1572969"/>
                </a:lnTo>
                <a:lnTo>
                  <a:pt x="4579530" y="1581394"/>
                </a:lnTo>
                <a:lnTo>
                  <a:pt x="4615030" y="1589880"/>
                </a:lnTo>
                <a:lnTo>
                  <a:pt x="4650530" y="1598405"/>
                </a:lnTo>
                <a:lnTo>
                  <a:pt x="4686031" y="1606948"/>
                </a:lnTo>
                <a:lnTo>
                  <a:pt x="4721531" y="1615486"/>
                </a:lnTo>
                <a:lnTo>
                  <a:pt x="4757031" y="1623998"/>
                </a:lnTo>
                <a:lnTo>
                  <a:pt x="4792531" y="1632462"/>
                </a:lnTo>
                <a:lnTo>
                  <a:pt x="4828032" y="1640857"/>
                </a:lnTo>
                <a:lnTo>
                  <a:pt x="4863532" y="1649162"/>
                </a:lnTo>
                <a:lnTo>
                  <a:pt x="4899032" y="1657358"/>
                </a:lnTo>
                <a:lnTo>
                  <a:pt x="4934532" y="1665426"/>
                </a:lnTo>
                <a:lnTo>
                  <a:pt x="4970032" y="1673349"/>
                </a:lnTo>
                <a:lnTo>
                  <a:pt x="5005533" y="1681111"/>
                </a:lnTo>
                <a:lnTo>
                  <a:pt x="5041033" y="1688697"/>
                </a:lnTo>
                <a:lnTo>
                  <a:pt x="5076533" y="1696094"/>
                </a:lnTo>
                <a:lnTo>
                  <a:pt x="5112033" y="1703291"/>
                </a:lnTo>
                <a:lnTo>
                  <a:pt x="5147534" y="1710276"/>
                </a:lnTo>
                <a:lnTo>
                  <a:pt x="5183034" y="1717042"/>
                </a:lnTo>
                <a:lnTo>
                  <a:pt x="5218534" y="1723580"/>
                </a:lnTo>
                <a:lnTo>
                  <a:pt x="5254034" y="1729885"/>
                </a:lnTo>
                <a:lnTo>
                  <a:pt x="5289535" y="1735952"/>
                </a:lnTo>
                <a:lnTo>
                  <a:pt x="5325035" y="1741778"/>
                </a:lnTo>
                <a:lnTo>
                  <a:pt x="5360535" y="1747360"/>
                </a:lnTo>
                <a:lnTo>
                  <a:pt x="5396035" y="1752698"/>
                </a:lnTo>
                <a:lnTo>
                  <a:pt x="5431536" y="1757792"/>
                </a:lnTo>
                <a:lnTo>
                  <a:pt x="5467036" y="1762643"/>
                </a:lnTo>
                <a:lnTo>
                  <a:pt x="5502536" y="1767254"/>
                </a:lnTo>
                <a:lnTo>
                  <a:pt x="5538036" y="1771628"/>
                </a:lnTo>
                <a:lnTo>
                  <a:pt x="5573536" y="1775769"/>
                </a:lnTo>
                <a:lnTo>
                  <a:pt x="5609037" y="1779681"/>
                </a:lnTo>
                <a:lnTo>
                  <a:pt x="5644537" y="1783371"/>
                </a:lnTo>
                <a:lnTo>
                  <a:pt x="5680037" y="1786844"/>
                </a:lnTo>
                <a:lnTo>
                  <a:pt x="5715537" y="1790107"/>
                </a:lnTo>
                <a:lnTo>
                  <a:pt x="5751038" y="1793167"/>
                </a:lnTo>
                <a:lnTo>
                  <a:pt x="5786538" y="1796031"/>
                </a:lnTo>
                <a:lnTo>
                  <a:pt x="5822038" y="1798706"/>
                </a:lnTo>
                <a:lnTo>
                  <a:pt x="5857538" y="1801200"/>
                </a:lnTo>
                <a:lnTo>
                  <a:pt x="5893039" y="1803522"/>
                </a:lnTo>
                <a:lnTo>
                  <a:pt x="5928539" y="1805679"/>
                </a:lnTo>
                <a:lnTo>
                  <a:pt x="5964039" y="1807680"/>
                </a:lnTo>
                <a:lnTo>
                  <a:pt x="5999539" y="1809531"/>
                </a:lnTo>
                <a:lnTo>
                  <a:pt x="6035040" y="1811242"/>
                </a:lnTo>
              </a:path>
            </a:pathLst>
          </a:custGeom>
          <a:noFill/>
          <a:ln w="381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822960" y="4026783"/>
            <a:ext cx="6035040" cy="1779657"/>
          </a:xfrm>
          <a:custGeom>
            <a:avLst/>
            <a:gdLst/>
            <a:ahLst/>
            <a:cxnLst/>
            <a:rect l="l" t="t" r="r" b="b"/>
            <a:pathLst>
              <a:path w="6035040" h="1779657">
                <a:moveTo>
                  <a:pt x="0" y="1749616"/>
                </a:moveTo>
                <a:lnTo>
                  <a:pt x="35500" y="1741599"/>
                </a:lnTo>
                <a:lnTo>
                  <a:pt x="71000" y="1731781"/>
                </a:lnTo>
                <a:lnTo>
                  <a:pt x="106500" y="1719854"/>
                </a:lnTo>
                <a:lnTo>
                  <a:pt x="142000" y="1705481"/>
                </a:lnTo>
                <a:lnTo>
                  <a:pt x="177501" y="1688302"/>
                </a:lnTo>
                <a:lnTo>
                  <a:pt x="213001" y="1667935"/>
                </a:lnTo>
                <a:lnTo>
                  <a:pt x="248501" y="1643989"/>
                </a:lnTo>
                <a:lnTo>
                  <a:pt x="284001" y="1616071"/>
                </a:lnTo>
                <a:lnTo>
                  <a:pt x="319502" y="1583794"/>
                </a:lnTo>
                <a:lnTo>
                  <a:pt x="355002" y="1546800"/>
                </a:lnTo>
                <a:lnTo>
                  <a:pt x="390502" y="1504767"/>
                </a:lnTo>
                <a:lnTo>
                  <a:pt x="426002" y="1457429"/>
                </a:lnTo>
                <a:lnTo>
                  <a:pt x="461503" y="1404598"/>
                </a:lnTo>
                <a:lnTo>
                  <a:pt x="497003" y="1346176"/>
                </a:lnTo>
                <a:lnTo>
                  <a:pt x="532503" y="1282180"/>
                </a:lnTo>
                <a:lnTo>
                  <a:pt x="568003" y="1212753"/>
                </a:lnTo>
                <a:lnTo>
                  <a:pt x="603504" y="1138183"/>
                </a:lnTo>
                <a:lnTo>
                  <a:pt x="639004" y="1058912"/>
                </a:lnTo>
                <a:lnTo>
                  <a:pt x="674504" y="975543"/>
                </a:lnTo>
                <a:lnTo>
                  <a:pt x="710004" y="888844"/>
                </a:lnTo>
                <a:lnTo>
                  <a:pt x="745504" y="799741"/>
                </a:lnTo>
                <a:lnTo>
                  <a:pt x="781005" y="709311"/>
                </a:lnTo>
                <a:lnTo>
                  <a:pt x="816505" y="618762"/>
                </a:lnTo>
                <a:lnTo>
                  <a:pt x="852005" y="529413"/>
                </a:lnTo>
                <a:lnTo>
                  <a:pt x="887505" y="442663"/>
                </a:lnTo>
                <a:lnTo>
                  <a:pt x="923006" y="359954"/>
                </a:lnTo>
                <a:lnTo>
                  <a:pt x="958506" y="282736"/>
                </a:lnTo>
                <a:lnTo>
                  <a:pt x="994006" y="212425"/>
                </a:lnTo>
                <a:lnTo>
                  <a:pt x="1029506" y="150358"/>
                </a:lnTo>
                <a:lnTo>
                  <a:pt x="1065007" y="97751"/>
                </a:lnTo>
                <a:lnTo>
                  <a:pt x="1100507" y="55664"/>
                </a:lnTo>
                <a:lnTo>
                  <a:pt x="1136007" y="24958"/>
                </a:lnTo>
                <a:lnTo>
                  <a:pt x="1171507" y="6272"/>
                </a:lnTo>
                <a:lnTo>
                  <a:pt x="1207008" y="0"/>
                </a:lnTo>
                <a:lnTo>
                  <a:pt x="1242508" y="6272"/>
                </a:lnTo>
                <a:lnTo>
                  <a:pt x="1278008" y="24958"/>
                </a:lnTo>
                <a:lnTo>
                  <a:pt x="1313508" y="55664"/>
                </a:lnTo>
                <a:lnTo>
                  <a:pt x="1349008" y="97751"/>
                </a:lnTo>
                <a:lnTo>
                  <a:pt x="1384509" y="150358"/>
                </a:lnTo>
                <a:lnTo>
                  <a:pt x="1420009" y="212425"/>
                </a:lnTo>
                <a:lnTo>
                  <a:pt x="1455509" y="282736"/>
                </a:lnTo>
                <a:lnTo>
                  <a:pt x="1491009" y="359954"/>
                </a:lnTo>
                <a:lnTo>
                  <a:pt x="1526510" y="442663"/>
                </a:lnTo>
                <a:lnTo>
                  <a:pt x="1562010" y="529413"/>
                </a:lnTo>
                <a:lnTo>
                  <a:pt x="1597510" y="618762"/>
                </a:lnTo>
                <a:lnTo>
                  <a:pt x="1633010" y="709311"/>
                </a:lnTo>
                <a:lnTo>
                  <a:pt x="1668511" y="799741"/>
                </a:lnTo>
                <a:lnTo>
                  <a:pt x="1704011" y="888844"/>
                </a:lnTo>
                <a:lnTo>
                  <a:pt x="1739511" y="975543"/>
                </a:lnTo>
                <a:lnTo>
                  <a:pt x="1775011" y="1058912"/>
                </a:lnTo>
                <a:lnTo>
                  <a:pt x="1810512" y="1138183"/>
                </a:lnTo>
                <a:lnTo>
                  <a:pt x="1846012" y="1212753"/>
                </a:lnTo>
                <a:lnTo>
                  <a:pt x="1881512" y="1282180"/>
                </a:lnTo>
                <a:lnTo>
                  <a:pt x="1917012" y="1346176"/>
                </a:lnTo>
                <a:lnTo>
                  <a:pt x="1952512" y="1404598"/>
                </a:lnTo>
                <a:lnTo>
                  <a:pt x="1988013" y="1457429"/>
                </a:lnTo>
                <a:lnTo>
                  <a:pt x="2023513" y="1504767"/>
                </a:lnTo>
                <a:lnTo>
                  <a:pt x="2059013" y="1546800"/>
                </a:lnTo>
                <a:lnTo>
                  <a:pt x="2094513" y="1583794"/>
                </a:lnTo>
                <a:lnTo>
                  <a:pt x="2130014" y="1616071"/>
                </a:lnTo>
                <a:lnTo>
                  <a:pt x="2165514" y="1643989"/>
                </a:lnTo>
                <a:lnTo>
                  <a:pt x="2201014" y="1667935"/>
                </a:lnTo>
                <a:lnTo>
                  <a:pt x="2236514" y="1688302"/>
                </a:lnTo>
                <a:lnTo>
                  <a:pt x="2272015" y="1705481"/>
                </a:lnTo>
                <a:lnTo>
                  <a:pt x="2307515" y="1719854"/>
                </a:lnTo>
                <a:lnTo>
                  <a:pt x="2343015" y="1731781"/>
                </a:lnTo>
                <a:lnTo>
                  <a:pt x="2378515" y="1741599"/>
                </a:lnTo>
                <a:lnTo>
                  <a:pt x="2414016" y="1749616"/>
                </a:lnTo>
                <a:lnTo>
                  <a:pt x="2449516" y="1756111"/>
                </a:lnTo>
                <a:lnTo>
                  <a:pt x="2485016" y="1761332"/>
                </a:lnTo>
                <a:lnTo>
                  <a:pt x="2520516" y="1765496"/>
                </a:lnTo>
                <a:lnTo>
                  <a:pt x="2556016" y="1768790"/>
                </a:lnTo>
                <a:lnTo>
                  <a:pt x="2591517" y="1771377"/>
                </a:lnTo>
                <a:lnTo>
                  <a:pt x="2627017" y="1773392"/>
                </a:lnTo>
                <a:lnTo>
                  <a:pt x="2662517" y="1774950"/>
                </a:lnTo>
                <a:lnTo>
                  <a:pt x="2698017" y="1776146"/>
                </a:lnTo>
                <a:lnTo>
                  <a:pt x="2733518" y="1777056"/>
                </a:lnTo>
                <a:lnTo>
                  <a:pt x="2769018" y="1777744"/>
                </a:lnTo>
                <a:lnTo>
                  <a:pt x="2804518" y="1778260"/>
                </a:lnTo>
                <a:lnTo>
                  <a:pt x="2840018" y="1778643"/>
                </a:lnTo>
                <a:lnTo>
                  <a:pt x="2875519" y="1778927"/>
                </a:lnTo>
                <a:lnTo>
                  <a:pt x="2911019" y="1779135"/>
                </a:lnTo>
                <a:lnTo>
                  <a:pt x="2946519" y="1779286"/>
                </a:lnTo>
                <a:lnTo>
                  <a:pt x="2982019" y="1779395"/>
                </a:lnTo>
                <a:lnTo>
                  <a:pt x="3017520" y="1779474"/>
                </a:lnTo>
                <a:lnTo>
                  <a:pt x="3053020" y="1779529"/>
                </a:lnTo>
                <a:lnTo>
                  <a:pt x="3088520" y="1779569"/>
                </a:lnTo>
                <a:lnTo>
                  <a:pt x="3124020" y="1779596"/>
                </a:lnTo>
                <a:lnTo>
                  <a:pt x="3159520" y="1779616"/>
                </a:lnTo>
                <a:lnTo>
                  <a:pt x="3195021" y="1779629"/>
                </a:lnTo>
                <a:lnTo>
                  <a:pt x="3230521" y="1779638"/>
                </a:lnTo>
                <a:lnTo>
                  <a:pt x="3266021" y="1779644"/>
                </a:lnTo>
                <a:lnTo>
                  <a:pt x="3301521" y="1779648"/>
                </a:lnTo>
                <a:lnTo>
                  <a:pt x="3337022" y="1779651"/>
                </a:lnTo>
                <a:lnTo>
                  <a:pt x="3372522" y="1779653"/>
                </a:lnTo>
                <a:lnTo>
                  <a:pt x="3408022" y="1779654"/>
                </a:lnTo>
                <a:lnTo>
                  <a:pt x="3443522" y="1779655"/>
                </a:lnTo>
                <a:lnTo>
                  <a:pt x="3479023" y="1779656"/>
                </a:lnTo>
                <a:lnTo>
                  <a:pt x="3514523" y="1779656"/>
                </a:lnTo>
                <a:lnTo>
                  <a:pt x="3550023" y="1779656"/>
                </a:lnTo>
                <a:lnTo>
                  <a:pt x="3585523" y="1779656"/>
                </a:lnTo>
                <a:lnTo>
                  <a:pt x="3621023" y="1779656"/>
                </a:lnTo>
                <a:lnTo>
                  <a:pt x="3656524" y="1779656"/>
                </a:lnTo>
                <a:lnTo>
                  <a:pt x="3692024" y="1779656"/>
                </a:lnTo>
                <a:lnTo>
                  <a:pt x="3727524" y="1779656"/>
                </a:lnTo>
                <a:lnTo>
                  <a:pt x="3763024" y="1779656"/>
                </a:lnTo>
                <a:lnTo>
                  <a:pt x="3798525" y="1779656"/>
                </a:lnTo>
                <a:lnTo>
                  <a:pt x="3834025" y="1779656"/>
                </a:lnTo>
                <a:lnTo>
                  <a:pt x="3869525" y="1779656"/>
                </a:lnTo>
                <a:lnTo>
                  <a:pt x="3905025" y="1779656"/>
                </a:lnTo>
                <a:lnTo>
                  <a:pt x="3940526" y="1779656"/>
                </a:lnTo>
                <a:lnTo>
                  <a:pt x="3976026" y="1779656"/>
                </a:lnTo>
                <a:lnTo>
                  <a:pt x="4011526" y="1779656"/>
                </a:lnTo>
                <a:lnTo>
                  <a:pt x="4047026" y="1779656"/>
                </a:lnTo>
                <a:lnTo>
                  <a:pt x="4082527" y="1779656"/>
                </a:lnTo>
                <a:lnTo>
                  <a:pt x="4118027" y="1779656"/>
                </a:lnTo>
                <a:lnTo>
                  <a:pt x="4153527" y="1779656"/>
                </a:lnTo>
                <a:lnTo>
                  <a:pt x="4189027" y="1779656"/>
                </a:lnTo>
                <a:lnTo>
                  <a:pt x="4224528" y="1779656"/>
                </a:lnTo>
                <a:lnTo>
                  <a:pt x="4260028" y="1779656"/>
                </a:lnTo>
                <a:lnTo>
                  <a:pt x="4295528" y="1779656"/>
                </a:lnTo>
                <a:lnTo>
                  <a:pt x="4331028" y="1779656"/>
                </a:lnTo>
                <a:lnTo>
                  <a:pt x="4366528" y="1779656"/>
                </a:lnTo>
                <a:lnTo>
                  <a:pt x="4402029" y="1779656"/>
                </a:lnTo>
                <a:lnTo>
                  <a:pt x="4437529" y="1779656"/>
                </a:lnTo>
                <a:lnTo>
                  <a:pt x="4473029" y="1779656"/>
                </a:lnTo>
                <a:lnTo>
                  <a:pt x="4508529" y="1779656"/>
                </a:lnTo>
                <a:lnTo>
                  <a:pt x="4544030" y="1779656"/>
                </a:lnTo>
                <a:lnTo>
                  <a:pt x="4579530" y="1779656"/>
                </a:lnTo>
                <a:lnTo>
                  <a:pt x="4615030" y="1779656"/>
                </a:lnTo>
                <a:lnTo>
                  <a:pt x="4650530" y="1779656"/>
                </a:lnTo>
                <a:lnTo>
                  <a:pt x="4686031" y="1779656"/>
                </a:lnTo>
                <a:lnTo>
                  <a:pt x="4721531" y="1779656"/>
                </a:lnTo>
                <a:lnTo>
                  <a:pt x="4757031" y="1779656"/>
                </a:lnTo>
                <a:lnTo>
                  <a:pt x="4792531" y="1779657"/>
                </a:lnTo>
                <a:lnTo>
                  <a:pt x="4828032" y="1779657"/>
                </a:lnTo>
                <a:lnTo>
                  <a:pt x="4863532" y="1779657"/>
                </a:lnTo>
                <a:lnTo>
                  <a:pt x="4899032" y="1779657"/>
                </a:lnTo>
                <a:lnTo>
                  <a:pt x="4934532" y="1779657"/>
                </a:lnTo>
                <a:lnTo>
                  <a:pt x="4970032" y="1779657"/>
                </a:lnTo>
                <a:lnTo>
                  <a:pt x="5005533" y="1779657"/>
                </a:lnTo>
                <a:lnTo>
                  <a:pt x="5041033" y="1779657"/>
                </a:lnTo>
                <a:lnTo>
                  <a:pt x="5076533" y="1779657"/>
                </a:lnTo>
                <a:lnTo>
                  <a:pt x="5112033" y="1779657"/>
                </a:lnTo>
                <a:lnTo>
                  <a:pt x="5147534" y="1779657"/>
                </a:lnTo>
                <a:lnTo>
                  <a:pt x="5183034" y="1779657"/>
                </a:lnTo>
                <a:lnTo>
                  <a:pt x="5218534" y="1779657"/>
                </a:lnTo>
                <a:lnTo>
                  <a:pt x="5254034" y="1779657"/>
                </a:lnTo>
                <a:lnTo>
                  <a:pt x="5289535" y="1779657"/>
                </a:lnTo>
                <a:lnTo>
                  <a:pt x="5325035" y="1779657"/>
                </a:lnTo>
                <a:lnTo>
                  <a:pt x="5360535" y="1779657"/>
                </a:lnTo>
                <a:lnTo>
                  <a:pt x="5396035" y="1779657"/>
                </a:lnTo>
                <a:lnTo>
                  <a:pt x="5431536" y="1779657"/>
                </a:lnTo>
                <a:lnTo>
                  <a:pt x="5467036" y="1779657"/>
                </a:lnTo>
                <a:lnTo>
                  <a:pt x="5502536" y="1779657"/>
                </a:lnTo>
                <a:lnTo>
                  <a:pt x="5538036" y="1779657"/>
                </a:lnTo>
                <a:lnTo>
                  <a:pt x="5573536" y="1779657"/>
                </a:lnTo>
                <a:lnTo>
                  <a:pt x="5609037" y="1779657"/>
                </a:lnTo>
                <a:lnTo>
                  <a:pt x="5644537" y="1779657"/>
                </a:lnTo>
                <a:lnTo>
                  <a:pt x="5680037" y="1779657"/>
                </a:lnTo>
                <a:lnTo>
                  <a:pt x="5715537" y="1779657"/>
                </a:lnTo>
                <a:lnTo>
                  <a:pt x="5751038" y="1779657"/>
                </a:lnTo>
                <a:lnTo>
                  <a:pt x="5786538" y="1779657"/>
                </a:lnTo>
                <a:lnTo>
                  <a:pt x="5822038" y="1779657"/>
                </a:lnTo>
                <a:lnTo>
                  <a:pt x="5857538" y="1779657"/>
                </a:lnTo>
                <a:lnTo>
                  <a:pt x="5893039" y="1779657"/>
                </a:lnTo>
                <a:lnTo>
                  <a:pt x="5928539" y="1779657"/>
                </a:lnTo>
                <a:lnTo>
                  <a:pt x="5964039" y="1779657"/>
                </a:lnTo>
                <a:lnTo>
                  <a:pt x="5999539" y="1779657"/>
                </a:lnTo>
                <a:lnTo>
                  <a:pt x="6035040" y="1779657"/>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822960" y="4846250"/>
            <a:ext cx="6035040" cy="960122"/>
          </a:xfrm>
          <a:custGeom>
            <a:avLst/>
            <a:gdLst/>
            <a:ahLst/>
            <a:cxnLst/>
            <a:rect l="l" t="t" r="r" b="b"/>
            <a:pathLst>
              <a:path w="6035040" h="960122">
                <a:moveTo>
                  <a:pt x="0" y="960122"/>
                </a:moveTo>
                <a:lnTo>
                  <a:pt x="35500" y="960107"/>
                </a:lnTo>
                <a:lnTo>
                  <a:pt x="71000" y="960089"/>
                </a:lnTo>
                <a:lnTo>
                  <a:pt x="106500" y="960066"/>
                </a:lnTo>
                <a:lnTo>
                  <a:pt x="142000" y="960039"/>
                </a:lnTo>
                <a:lnTo>
                  <a:pt x="177501" y="960005"/>
                </a:lnTo>
                <a:lnTo>
                  <a:pt x="213001" y="959964"/>
                </a:lnTo>
                <a:lnTo>
                  <a:pt x="248501" y="959913"/>
                </a:lnTo>
                <a:lnTo>
                  <a:pt x="284001" y="959850"/>
                </a:lnTo>
                <a:lnTo>
                  <a:pt x="319502" y="959772"/>
                </a:lnTo>
                <a:lnTo>
                  <a:pt x="355002" y="959676"/>
                </a:lnTo>
                <a:lnTo>
                  <a:pt x="390502" y="959558"/>
                </a:lnTo>
                <a:lnTo>
                  <a:pt x="426002" y="959413"/>
                </a:lnTo>
                <a:lnTo>
                  <a:pt x="461503" y="959235"/>
                </a:lnTo>
                <a:lnTo>
                  <a:pt x="497003" y="959017"/>
                </a:lnTo>
                <a:lnTo>
                  <a:pt x="532503" y="958749"/>
                </a:lnTo>
                <a:lnTo>
                  <a:pt x="568003" y="958423"/>
                </a:lnTo>
                <a:lnTo>
                  <a:pt x="603504" y="958025"/>
                </a:lnTo>
                <a:lnTo>
                  <a:pt x="639004" y="957542"/>
                </a:lnTo>
                <a:lnTo>
                  <a:pt x="674504" y="956956"/>
                </a:lnTo>
                <a:lnTo>
                  <a:pt x="710004" y="956248"/>
                </a:lnTo>
                <a:lnTo>
                  <a:pt x="745504" y="955395"/>
                </a:lnTo>
                <a:lnTo>
                  <a:pt x="781005" y="954371"/>
                </a:lnTo>
                <a:lnTo>
                  <a:pt x="816505" y="953146"/>
                </a:lnTo>
                <a:lnTo>
                  <a:pt x="852005" y="951686"/>
                </a:lnTo>
                <a:lnTo>
                  <a:pt x="887505" y="949952"/>
                </a:lnTo>
                <a:lnTo>
                  <a:pt x="923006" y="947899"/>
                </a:lnTo>
                <a:lnTo>
                  <a:pt x="958506" y="945481"/>
                </a:lnTo>
                <a:lnTo>
                  <a:pt x="994006" y="942642"/>
                </a:lnTo>
                <a:lnTo>
                  <a:pt x="1029506" y="939323"/>
                </a:lnTo>
                <a:lnTo>
                  <a:pt x="1065007" y="935459"/>
                </a:lnTo>
                <a:lnTo>
                  <a:pt x="1100507" y="930981"/>
                </a:lnTo>
                <a:lnTo>
                  <a:pt x="1136007" y="925812"/>
                </a:lnTo>
                <a:lnTo>
                  <a:pt x="1171507" y="919873"/>
                </a:lnTo>
                <a:lnTo>
                  <a:pt x="1207008" y="913079"/>
                </a:lnTo>
                <a:lnTo>
                  <a:pt x="1242508" y="905343"/>
                </a:lnTo>
                <a:lnTo>
                  <a:pt x="1278008" y="896575"/>
                </a:lnTo>
                <a:lnTo>
                  <a:pt x="1313508" y="886684"/>
                </a:lnTo>
                <a:lnTo>
                  <a:pt x="1349008" y="875578"/>
                </a:lnTo>
                <a:lnTo>
                  <a:pt x="1384509" y="863169"/>
                </a:lnTo>
                <a:lnTo>
                  <a:pt x="1420009" y="849372"/>
                </a:lnTo>
                <a:lnTo>
                  <a:pt x="1455509" y="834106"/>
                </a:lnTo>
                <a:lnTo>
                  <a:pt x="1491009" y="817299"/>
                </a:lnTo>
                <a:lnTo>
                  <a:pt x="1526510" y="798892"/>
                </a:lnTo>
                <a:lnTo>
                  <a:pt x="1562010" y="778836"/>
                </a:lnTo>
                <a:lnTo>
                  <a:pt x="1597510" y="757096"/>
                </a:lnTo>
                <a:lnTo>
                  <a:pt x="1633010" y="733659"/>
                </a:lnTo>
                <a:lnTo>
                  <a:pt x="1668511" y="708529"/>
                </a:lnTo>
                <a:lnTo>
                  <a:pt x="1704011" y="681732"/>
                </a:lnTo>
                <a:lnTo>
                  <a:pt x="1739511" y="653320"/>
                </a:lnTo>
                <a:lnTo>
                  <a:pt x="1775011" y="623370"/>
                </a:lnTo>
                <a:lnTo>
                  <a:pt x="1810512" y="591986"/>
                </a:lnTo>
                <a:lnTo>
                  <a:pt x="1846012" y="559299"/>
                </a:lnTo>
                <a:lnTo>
                  <a:pt x="1881512" y="525468"/>
                </a:lnTo>
                <a:lnTo>
                  <a:pt x="1917012" y="490680"/>
                </a:lnTo>
                <a:lnTo>
                  <a:pt x="1952512" y="455149"/>
                </a:lnTo>
                <a:lnTo>
                  <a:pt x="1988013" y="419110"/>
                </a:lnTo>
                <a:lnTo>
                  <a:pt x="2023513" y="382823"/>
                </a:lnTo>
                <a:lnTo>
                  <a:pt x="2059013" y="346567"/>
                </a:lnTo>
                <a:lnTo>
                  <a:pt x="2094513" y="310635"/>
                </a:lnTo>
                <a:lnTo>
                  <a:pt x="2130014" y="275332"/>
                </a:lnTo>
                <a:lnTo>
                  <a:pt x="2165514" y="240967"/>
                </a:lnTo>
                <a:lnTo>
                  <a:pt x="2201014" y="207852"/>
                </a:lnTo>
                <a:lnTo>
                  <a:pt x="2236514" y="176296"/>
                </a:lnTo>
                <a:lnTo>
                  <a:pt x="2272015" y="146596"/>
                </a:lnTo>
                <a:lnTo>
                  <a:pt x="2307515" y="119033"/>
                </a:lnTo>
                <a:lnTo>
                  <a:pt x="2343015" y="93870"/>
                </a:lnTo>
                <a:lnTo>
                  <a:pt x="2378515" y="71343"/>
                </a:lnTo>
                <a:lnTo>
                  <a:pt x="2414016" y="51656"/>
                </a:lnTo>
                <a:lnTo>
                  <a:pt x="2449516" y="34981"/>
                </a:lnTo>
                <a:lnTo>
                  <a:pt x="2485016" y="21452"/>
                </a:lnTo>
                <a:lnTo>
                  <a:pt x="2520516" y="11160"/>
                </a:lnTo>
                <a:lnTo>
                  <a:pt x="2556016" y="4156"/>
                </a:lnTo>
                <a:lnTo>
                  <a:pt x="2591517" y="448"/>
                </a:lnTo>
                <a:lnTo>
                  <a:pt x="2627017" y="0"/>
                </a:lnTo>
                <a:lnTo>
                  <a:pt x="2662517" y="2735"/>
                </a:lnTo>
                <a:lnTo>
                  <a:pt x="2698017" y="8534"/>
                </a:lnTo>
                <a:lnTo>
                  <a:pt x="2733518" y="17245"/>
                </a:lnTo>
                <a:lnTo>
                  <a:pt x="2769018" y="28679"/>
                </a:lnTo>
                <a:lnTo>
                  <a:pt x="2804518" y="42617"/>
                </a:lnTo>
                <a:lnTo>
                  <a:pt x="2840018" y="58818"/>
                </a:lnTo>
                <a:lnTo>
                  <a:pt x="2875519" y="77021"/>
                </a:lnTo>
                <a:lnTo>
                  <a:pt x="2911019" y="96949"/>
                </a:lnTo>
                <a:lnTo>
                  <a:pt x="2946519" y="118318"/>
                </a:lnTo>
                <a:lnTo>
                  <a:pt x="2982019" y="140840"/>
                </a:lnTo>
                <a:lnTo>
                  <a:pt x="3017520" y="164229"/>
                </a:lnTo>
                <a:lnTo>
                  <a:pt x="3053020" y="188207"/>
                </a:lnTo>
                <a:lnTo>
                  <a:pt x="3088520" y="212508"/>
                </a:lnTo>
                <a:lnTo>
                  <a:pt x="3124020" y="236879"/>
                </a:lnTo>
                <a:lnTo>
                  <a:pt x="3159520" y="261090"/>
                </a:lnTo>
                <a:lnTo>
                  <a:pt x="3195021" y="284931"/>
                </a:lnTo>
                <a:lnTo>
                  <a:pt x="3230521" y="308217"/>
                </a:lnTo>
                <a:lnTo>
                  <a:pt x="3266021" y="330787"/>
                </a:lnTo>
                <a:lnTo>
                  <a:pt x="3301521" y="352510"/>
                </a:lnTo>
                <a:lnTo>
                  <a:pt x="3337022" y="373279"/>
                </a:lnTo>
                <a:lnTo>
                  <a:pt x="3372522" y="393015"/>
                </a:lnTo>
                <a:lnTo>
                  <a:pt x="3408022" y="411664"/>
                </a:lnTo>
                <a:lnTo>
                  <a:pt x="3443522" y="429196"/>
                </a:lnTo>
                <a:lnTo>
                  <a:pt x="3479023" y="445604"/>
                </a:lnTo>
                <a:lnTo>
                  <a:pt x="3514523" y="460902"/>
                </a:lnTo>
                <a:lnTo>
                  <a:pt x="3550023" y="475120"/>
                </a:lnTo>
                <a:lnTo>
                  <a:pt x="3585523" y="488304"/>
                </a:lnTo>
                <a:lnTo>
                  <a:pt x="3621023" y="500515"/>
                </a:lnTo>
                <a:lnTo>
                  <a:pt x="3656524" y="511821"/>
                </a:lnTo>
                <a:lnTo>
                  <a:pt x="3692024" y="522301"/>
                </a:lnTo>
                <a:lnTo>
                  <a:pt x="3727524" y="532038"/>
                </a:lnTo>
                <a:lnTo>
                  <a:pt x="3763024" y="541117"/>
                </a:lnTo>
                <a:lnTo>
                  <a:pt x="3798525" y="549627"/>
                </a:lnTo>
                <a:lnTo>
                  <a:pt x="3834025" y="557654"/>
                </a:lnTo>
                <a:lnTo>
                  <a:pt x="3869525" y="565282"/>
                </a:lnTo>
                <a:lnTo>
                  <a:pt x="3905025" y="572592"/>
                </a:lnTo>
                <a:lnTo>
                  <a:pt x="3940526" y="579660"/>
                </a:lnTo>
                <a:lnTo>
                  <a:pt x="3976026" y="586557"/>
                </a:lnTo>
                <a:lnTo>
                  <a:pt x="4011526" y="593345"/>
                </a:lnTo>
                <a:lnTo>
                  <a:pt x="4047026" y="600083"/>
                </a:lnTo>
                <a:lnTo>
                  <a:pt x="4082527" y="606819"/>
                </a:lnTo>
                <a:lnTo>
                  <a:pt x="4118027" y="613598"/>
                </a:lnTo>
                <a:lnTo>
                  <a:pt x="4153527" y="620453"/>
                </a:lnTo>
                <a:lnTo>
                  <a:pt x="4189027" y="627414"/>
                </a:lnTo>
                <a:lnTo>
                  <a:pt x="4224528" y="634503"/>
                </a:lnTo>
                <a:lnTo>
                  <a:pt x="4260028" y="641736"/>
                </a:lnTo>
                <a:lnTo>
                  <a:pt x="4295528" y="649121"/>
                </a:lnTo>
                <a:lnTo>
                  <a:pt x="4331028" y="656664"/>
                </a:lnTo>
                <a:lnTo>
                  <a:pt x="4366528" y="664365"/>
                </a:lnTo>
                <a:lnTo>
                  <a:pt x="4402029" y="672217"/>
                </a:lnTo>
                <a:lnTo>
                  <a:pt x="4437529" y="680213"/>
                </a:lnTo>
                <a:lnTo>
                  <a:pt x="4473029" y="688340"/>
                </a:lnTo>
                <a:lnTo>
                  <a:pt x="4508529" y="696584"/>
                </a:lnTo>
                <a:lnTo>
                  <a:pt x="4544030" y="704928"/>
                </a:lnTo>
                <a:lnTo>
                  <a:pt x="4579530" y="713353"/>
                </a:lnTo>
                <a:lnTo>
                  <a:pt x="4615030" y="721839"/>
                </a:lnTo>
                <a:lnTo>
                  <a:pt x="4650530" y="730364"/>
                </a:lnTo>
                <a:lnTo>
                  <a:pt x="4686031" y="738907"/>
                </a:lnTo>
                <a:lnTo>
                  <a:pt x="4721531" y="747445"/>
                </a:lnTo>
                <a:lnTo>
                  <a:pt x="4757031" y="755957"/>
                </a:lnTo>
                <a:lnTo>
                  <a:pt x="4792531" y="764421"/>
                </a:lnTo>
                <a:lnTo>
                  <a:pt x="4828032" y="772816"/>
                </a:lnTo>
                <a:lnTo>
                  <a:pt x="4863532" y="781121"/>
                </a:lnTo>
                <a:lnTo>
                  <a:pt x="4899032" y="789317"/>
                </a:lnTo>
                <a:lnTo>
                  <a:pt x="4934532" y="797385"/>
                </a:lnTo>
                <a:lnTo>
                  <a:pt x="4970032" y="805308"/>
                </a:lnTo>
                <a:lnTo>
                  <a:pt x="5005533" y="813070"/>
                </a:lnTo>
                <a:lnTo>
                  <a:pt x="5041033" y="820656"/>
                </a:lnTo>
                <a:lnTo>
                  <a:pt x="5076533" y="828053"/>
                </a:lnTo>
                <a:lnTo>
                  <a:pt x="5112033" y="835250"/>
                </a:lnTo>
                <a:lnTo>
                  <a:pt x="5147534" y="842235"/>
                </a:lnTo>
                <a:lnTo>
                  <a:pt x="5183034" y="849001"/>
                </a:lnTo>
                <a:lnTo>
                  <a:pt x="5218534" y="855539"/>
                </a:lnTo>
                <a:lnTo>
                  <a:pt x="5254034" y="861844"/>
                </a:lnTo>
                <a:lnTo>
                  <a:pt x="5289535" y="867911"/>
                </a:lnTo>
                <a:lnTo>
                  <a:pt x="5325035" y="873737"/>
                </a:lnTo>
                <a:lnTo>
                  <a:pt x="5360535" y="879319"/>
                </a:lnTo>
                <a:lnTo>
                  <a:pt x="5396035" y="884657"/>
                </a:lnTo>
                <a:lnTo>
                  <a:pt x="5431536" y="889751"/>
                </a:lnTo>
                <a:lnTo>
                  <a:pt x="5467036" y="894602"/>
                </a:lnTo>
                <a:lnTo>
                  <a:pt x="5502536" y="899213"/>
                </a:lnTo>
                <a:lnTo>
                  <a:pt x="5538036" y="903587"/>
                </a:lnTo>
                <a:lnTo>
                  <a:pt x="5573536" y="907728"/>
                </a:lnTo>
                <a:lnTo>
                  <a:pt x="5609037" y="911640"/>
                </a:lnTo>
                <a:lnTo>
                  <a:pt x="5644537" y="915330"/>
                </a:lnTo>
                <a:lnTo>
                  <a:pt x="5680037" y="918803"/>
                </a:lnTo>
                <a:lnTo>
                  <a:pt x="5715537" y="922066"/>
                </a:lnTo>
                <a:lnTo>
                  <a:pt x="5751038" y="925126"/>
                </a:lnTo>
                <a:lnTo>
                  <a:pt x="5786538" y="927990"/>
                </a:lnTo>
                <a:lnTo>
                  <a:pt x="5822038" y="930665"/>
                </a:lnTo>
                <a:lnTo>
                  <a:pt x="5857538" y="933159"/>
                </a:lnTo>
                <a:lnTo>
                  <a:pt x="5893039" y="935481"/>
                </a:lnTo>
                <a:lnTo>
                  <a:pt x="5928539" y="937638"/>
                </a:lnTo>
                <a:lnTo>
                  <a:pt x="5964039" y="939639"/>
                </a:lnTo>
                <a:lnTo>
                  <a:pt x="5999539" y="941490"/>
                </a:lnTo>
                <a:lnTo>
                  <a:pt x="6035040" y="943201"/>
                </a:lnTo>
              </a:path>
            </a:pathLst>
          </a:custGeom>
          <a:noFill/>
          <a:ln w="2540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822960" y="5806440"/>
            <a:ext cx="603504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5861303"/>
            <a:ext cx="6035040" cy="365760"/>
          </a:xfrm>
          <a:prstGeom prst="rect">
            <a:avLst/>
          </a:prstGeom>
          <a:noFill/>
        </p:spPr>
        <p:txBody>
          <a:bodyPr wrap="square" lIns="18288" rIns="18288" tIns="0" bIns="0" anchor="t">
            <a:noAutofit/>
          </a:bodyPr>
          <a:lstStyle/>
          <a:p>
            <a:pPr algn="l">
              <a:lnSpc>
                <a:spcPct val="100000"/>
              </a:lnSpc>
              <a:spcBef>
                <a:spcPts val="0"/>
              </a:spcBef>
              <a:spcAft>
                <a:spcPts val="0"/>
              </a:spcAft>
            </a:pPr>
            <a:r>
              <a:rPr sz="2200" b="0" i="0">
                <a:solidFill>
                  <a:srgbClr val="5A5A5A"/>
                </a:solidFill>
                <a:latin typeface="メイリオ"/>
                <a:ea typeface="メイリオ"/>
                <a:cs typeface="メイリオ"/>
              </a:rPr>
              <a:t>前進波（青）＋反射波（朱）の模式図</a:t>
            </a:r>
          </a:p>
        </p:txBody>
      </p:sp>
      <p:sp>
        <p:nvSpPr>
          <p:cNvPr id="10" name="Rounded Rectangle 9"/>
          <p:cNvSpPr/>
          <p:nvPr/>
        </p:nvSpPr>
        <p:spPr>
          <a:xfrm>
            <a:off x="7406640" y="4160520"/>
            <a:ext cx="4114800" cy="146304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00A8AA"/>
                </a:solidFill>
                <a:latin typeface="メイリオ"/>
                <a:ea typeface="メイリオ"/>
                <a:cs typeface="メイリオ"/>
              </a:rPr>
              <a:t>反射波を</a:t>
            </a:r>
          </a:p>
          <a:p>
            <a:pPr algn="ctr">
              <a:lnSpc>
                <a:spcPct val="100000"/>
              </a:lnSpc>
              <a:spcBef>
                <a:spcPts val="0"/>
              </a:spcBef>
              <a:spcAft>
                <a:spcPts val="400"/>
              </a:spcAft>
            </a:pPr>
            <a:r>
              <a:rPr sz="2600" b="1" i="0">
                <a:solidFill>
                  <a:srgbClr val="00A8AA"/>
                </a:solidFill>
                <a:latin typeface="メイリオ"/>
                <a:ea typeface="メイリオ"/>
                <a:cs typeface="メイリオ"/>
              </a:rPr>
              <a:t>数学で取り出す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術中に見えないもの</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§1・§3（SpO</a:t>
            </a:r>
            <a:r>
              <a:rPr sz="1600" b="0" i="0" baseline="-25000">
                <a:solidFill>
                  <a:srgbClr val="5A5A5A"/>
                </a:solidFill>
                <a:latin typeface="メイリオ"/>
                <a:ea typeface="メイリオ"/>
                <a:cs typeface="メイリオ"/>
              </a:rPr>
              <a:t>2</a:t>
            </a:r>
            <a:r>
              <a:rPr sz="1600" b="0" i="0">
                <a:solidFill>
                  <a:srgbClr val="5A5A5A"/>
                </a:solidFill>
                <a:latin typeface="メイリオ"/>
                <a:ea typeface="メイリオ"/>
                <a:cs typeface="メイリオ"/>
              </a:rPr>
              <a:t>/PPG 波形解析の流れ）</a:t>
            </a:r>
          </a:p>
        </p:txBody>
      </p:sp>
      <p:sp>
        <p:nvSpPr>
          <p:cNvPr id="12" name="Rounded Rectangle 11"/>
          <p:cNvSpPr/>
          <p:nvPr/>
        </p:nvSpPr>
        <p:spPr>
          <a:xfrm>
            <a:off x="548640" y="1874519"/>
            <a:ext cx="3108960" cy="105156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前負荷</a:t>
            </a:r>
          </a:p>
        </p:txBody>
      </p:sp>
      <p:sp>
        <p:nvSpPr>
          <p:cNvPr id="13" name="Rounded Rectangle 12"/>
          <p:cNvSpPr/>
          <p:nvPr/>
        </p:nvSpPr>
        <p:spPr>
          <a:xfrm>
            <a:off x="3977639" y="1874519"/>
            <a:ext cx="3108960" cy="105156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心収縮力</a:t>
            </a:r>
          </a:p>
        </p:txBody>
      </p:sp>
      <p:sp>
        <p:nvSpPr>
          <p:cNvPr id="14" name="Rounded Rectangle 13"/>
          <p:cNvSpPr/>
          <p:nvPr/>
        </p:nvSpPr>
        <p:spPr>
          <a:xfrm>
            <a:off x="7406640" y="1874519"/>
            <a:ext cx="3108960" cy="105156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血管トーヌス</a:t>
            </a:r>
          </a:p>
        </p:txBody>
      </p:sp>
      <p:cxnSp>
        <p:nvCxnSpPr>
          <p:cNvPr id="15" name="Connector 14"/>
          <p:cNvCxnSpPr/>
          <p:nvPr/>
        </p:nvCxnSpPr>
        <p:spPr>
          <a:xfrm>
            <a:off x="2103120" y="3017520"/>
            <a:ext cx="0" cy="59436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532120" y="3017520"/>
            <a:ext cx="0" cy="59436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961120" y="3017520"/>
            <a:ext cx="0" cy="59436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377440" y="3703320"/>
            <a:ext cx="6309360" cy="91440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見えるのは合計 ―― 血圧・心拍数</a:t>
            </a:r>
          </a:p>
        </p:txBody>
      </p:sp>
      <p:sp>
        <p:nvSpPr>
          <p:cNvPr id="19" name="TextBox 18"/>
          <p:cNvSpPr txBox="1"/>
          <p:nvPr/>
        </p:nvSpPr>
        <p:spPr>
          <a:xfrm>
            <a:off x="548640" y="4892040"/>
            <a:ext cx="10058400" cy="1005840"/>
          </a:xfrm>
          <a:prstGeom prst="rect">
            <a:avLst/>
          </a:prstGeom>
          <a:noFill/>
        </p:spPr>
        <p:txBody>
          <a:bodyPr wrap="square" lIns="18288" rIns="18288" tIns="0" bIns="0" anchor="t">
            <a:noAutofit/>
          </a:bodyPr>
          <a:lstStyle/>
          <a:p>
            <a:pPr algn="l">
              <a:lnSpc>
                <a:spcPct val="100000"/>
              </a:lnSpc>
              <a:spcBef>
                <a:spcPts val="0"/>
              </a:spcBef>
              <a:spcAft>
                <a:spcPts val="800"/>
              </a:spcAft>
            </a:pPr>
            <a:r>
              <a:rPr sz="2400" b="0" i="0">
                <a:solidFill>
                  <a:srgbClr val="222222"/>
                </a:solidFill>
                <a:latin typeface="メイリオ"/>
                <a:ea typeface="メイリオ"/>
                <a:cs typeface="メイリオ"/>
              </a:rPr>
              <a:t>前負荷は呼吸性変動で、収縮力は心エコーで、ある程度は覗ける</a:t>
            </a:r>
          </a:p>
          <a:p>
            <a:pPr algn="l">
              <a:lnSpc>
                <a:spcPct val="100000"/>
              </a:lnSpc>
              <a:spcBef>
                <a:spcPts val="0"/>
              </a:spcBef>
              <a:spcAft>
                <a:spcPts val="800"/>
              </a:spcAft>
            </a:pPr>
            <a:r>
              <a:rPr sz="2600" b="1" i="0">
                <a:solidFill>
                  <a:srgbClr val="D55E00"/>
                </a:solidFill>
                <a:latin typeface="メイリオ"/>
                <a:ea typeface="メイリオ"/>
                <a:cs typeface="メイリオ"/>
              </a:rPr>
              <a:t>血管トーヌスだけが、連続的に見る手段を持たない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PPGは容積の信号</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Allen J. Physiol Meas 2007;28:R1-39（PMID 17322588）</a:t>
            </a:r>
          </a:p>
        </p:txBody>
      </p:sp>
      <p:sp>
        <p:nvSpPr>
          <p:cNvPr id="12" name="Rounded Rectangle 11"/>
          <p:cNvSpPr/>
          <p:nvPr/>
        </p:nvSpPr>
        <p:spPr>
          <a:xfrm>
            <a:off x="548640" y="1828800"/>
            <a:ext cx="5029200" cy="91440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222222"/>
                </a:solidFill>
                <a:latin typeface="メイリオ"/>
                <a:ea typeface="メイリオ"/>
                <a:cs typeface="メイリオ"/>
              </a:rPr>
              <a:t>PI ＝ AC ÷ DC</a:t>
            </a:r>
          </a:p>
        </p:txBody>
      </p:sp>
      <p:sp>
        <p:nvSpPr>
          <p:cNvPr id="13" name="TextBox 12"/>
          <p:cNvSpPr txBox="1"/>
          <p:nvPr/>
        </p:nvSpPr>
        <p:spPr>
          <a:xfrm>
            <a:off x="548640" y="2971800"/>
            <a:ext cx="5120640" cy="1234440"/>
          </a:xfrm>
          <a:prstGeom prst="rect">
            <a:avLst/>
          </a:prstGeom>
          <a:noFill/>
        </p:spPr>
        <p:txBody>
          <a:bodyPr wrap="square" lIns="18288" rIns="18288" tIns="0" bIns="0" anchor="t">
            <a:noAutofit/>
          </a:bodyPr>
          <a:lstStyle/>
          <a:p>
            <a:pPr algn="l">
              <a:lnSpc>
                <a:spcPct val="100000"/>
              </a:lnSpc>
              <a:spcBef>
                <a:spcPts val="0"/>
              </a:spcBef>
              <a:spcAft>
                <a:spcPts val="1000"/>
              </a:spcAft>
            </a:pPr>
            <a:r>
              <a:rPr sz="2400" b="0" i="0">
                <a:solidFill>
                  <a:srgbClr val="222222"/>
                </a:solidFill>
                <a:latin typeface="メイリオ"/>
                <a:ea typeface="メイリオ"/>
                <a:cs typeface="メイリオ"/>
              </a:rPr>
              <a:t>AC：拍動する成分（＝脈波）</a:t>
            </a:r>
          </a:p>
          <a:p>
            <a:pPr algn="l">
              <a:lnSpc>
                <a:spcPct val="100000"/>
              </a:lnSpc>
              <a:spcBef>
                <a:spcPts val="0"/>
              </a:spcBef>
              <a:spcAft>
                <a:spcPts val="1000"/>
              </a:spcAft>
            </a:pPr>
            <a:r>
              <a:rPr sz="2400" b="0" i="0">
                <a:solidFill>
                  <a:srgbClr val="222222"/>
                </a:solidFill>
                <a:latin typeface="メイリオ"/>
                <a:ea typeface="メイリオ"/>
                <a:cs typeface="メイリオ"/>
              </a:rPr>
              <a:t>DC：拍動しない土台の成分</a:t>
            </a:r>
          </a:p>
        </p:txBody>
      </p:sp>
      <p:sp>
        <p:nvSpPr>
          <p:cNvPr id="14" name="Freeform 13"/>
          <p:cNvSpPr/>
          <p:nvPr/>
        </p:nvSpPr>
        <p:spPr>
          <a:xfrm>
            <a:off x="6035040" y="1874904"/>
            <a:ext cx="4754880" cy="1222589"/>
          </a:xfrm>
          <a:custGeom>
            <a:avLst/>
            <a:gdLst/>
            <a:ahLst/>
            <a:cxnLst/>
            <a:rect l="l" t="t" r="r" b="b"/>
            <a:pathLst>
              <a:path w="4754880" h="1222589">
                <a:moveTo>
                  <a:pt x="0" y="1213732"/>
                </a:moveTo>
                <a:lnTo>
                  <a:pt x="27969" y="1208311"/>
                </a:lnTo>
                <a:lnTo>
                  <a:pt x="55939" y="1201671"/>
                </a:lnTo>
                <a:lnTo>
                  <a:pt x="83909" y="1193606"/>
                </a:lnTo>
                <a:lnTo>
                  <a:pt x="111879" y="1183886"/>
                </a:lnTo>
                <a:lnTo>
                  <a:pt x="139849" y="1172267"/>
                </a:lnTo>
                <a:lnTo>
                  <a:pt x="167819" y="1158491"/>
                </a:lnTo>
                <a:lnTo>
                  <a:pt x="195789" y="1142293"/>
                </a:lnTo>
                <a:lnTo>
                  <a:pt x="223759" y="1123406"/>
                </a:lnTo>
                <a:lnTo>
                  <a:pt x="251728" y="1101567"/>
                </a:lnTo>
                <a:lnTo>
                  <a:pt x="279698" y="1076531"/>
                </a:lnTo>
                <a:lnTo>
                  <a:pt x="307668" y="1048079"/>
                </a:lnTo>
                <a:lnTo>
                  <a:pt x="335638" y="1016028"/>
                </a:lnTo>
                <a:lnTo>
                  <a:pt x="363608" y="980247"/>
                </a:lnTo>
                <a:lnTo>
                  <a:pt x="391578" y="940665"/>
                </a:lnTo>
                <a:lnTo>
                  <a:pt x="419548" y="897287"/>
                </a:lnTo>
                <a:lnTo>
                  <a:pt x="447518" y="850203"/>
                </a:lnTo>
                <a:lnTo>
                  <a:pt x="475487" y="799600"/>
                </a:lnTo>
                <a:lnTo>
                  <a:pt x="503457" y="745766"/>
                </a:lnTo>
                <a:lnTo>
                  <a:pt x="531427" y="689096"/>
                </a:lnTo>
                <a:lnTo>
                  <a:pt x="559397" y="630096"/>
                </a:lnTo>
                <a:lnTo>
                  <a:pt x="587367" y="569376"/>
                </a:lnTo>
                <a:lnTo>
                  <a:pt x="615337" y="507645"/>
                </a:lnTo>
                <a:lnTo>
                  <a:pt x="643307" y="445698"/>
                </a:lnTo>
                <a:lnTo>
                  <a:pt x="671277" y="384402"/>
                </a:lnTo>
                <a:lnTo>
                  <a:pt x="699247" y="324674"/>
                </a:lnTo>
                <a:lnTo>
                  <a:pt x="727216" y="267460"/>
                </a:lnTo>
                <a:lnTo>
                  <a:pt x="755186" y="213706"/>
                </a:lnTo>
                <a:lnTo>
                  <a:pt x="783156" y="164329"/>
                </a:lnTo>
                <a:lnTo>
                  <a:pt x="811126" y="120194"/>
                </a:lnTo>
                <a:lnTo>
                  <a:pt x="839096" y="82077"/>
                </a:lnTo>
                <a:lnTo>
                  <a:pt x="867066" y="50644"/>
                </a:lnTo>
                <a:lnTo>
                  <a:pt x="895036" y="26429"/>
                </a:lnTo>
                <a:lnTo>
                  <a:pt x="923006" y="9807"/>
                </a:lnTo>
                <a:lnTo>
                  <a:pt x="950976" y="988"/>
                </a:lnTo>
                <a:lnTo>
                  <a:pt x="978945" y="0"/>
                </a:lnTo>
                <a:lnTo>
                  <a:pt x="1006915" y="6694"/>
                </a:lnTo>
                <a:lnTo>
                  <a:pt x="1034885" y="20744"/>
                </a:lnTo>
                <a:lnTo>
                  <a:pt x="1062855" y="41657"/>
                </a:lnTo>
                <a:lnTo>
                  <a:pt x="1090825" y="68790"/>
                </a:lnTo>
                <a:lnTo>
                  <a:pt x="1118795" y="101372"/>
                </a:lnTo>
                <a:lnTo>
                  <a:pt x="1146765" y="138527"/>
                </a:lnTo>
                <a:lnTo>
                  <a:pt x="1174735" y="179305"/>
                </a:lnTo>
                <a:lnTo>
                  <a:pt x="1202704" y="222709"/>
                </a:lnTo>
                <a:lnTo>
                  <a:pt x="1230674" y="267728"/>
                </a:lnTo>
                <a:lnTo>
                  <a:pt x="1258644" y="313364"/>
                </a:lnTo>
                <a:lnTo>
                  <a:pt x="1286614" y="358664"/>
                </a:lnTo>
                <a:lnTo>
                  <a:pt x="1314584" y="402741"/>
                </a:lnTo>
                <a:lnTo>
                  <a:pt x="1342554" y="444798"/>
                </a:lnTo>
                <a:lnTo>
                  <a:pt x="1370524" y="484142"/>
                </a:lnTo>
                <a:lnTo>
                  <a:pt x="1398494" y="520200"/>
                </a:lnTo>
                <a:lnTo>
                  <a:pt x="1426464" y="552523"/>
                </a:lnTo>
                <a:lnTo>
                  <a:pt x="1454433" y="580794"/>
                </a:lnTo>
                <a:lnTo>
                  <a:pt x="1482403" y="604822"/>
                </a:lnTo>
                <a:lnTo>
                  <a:pt x="1510373" y="624538"/>
                </a:lnTo>
                <a:lnTo>
                  <a:pt x="1538343" y="639988"/>
                </a:lnTo>
                <a:lnTo>
                  <a:pt x="1566313" y="651323"/>
                </a:lnTo>
                <a:lnTo>
                  <a:pt x="1594283" y="658783"/>
                </a:lnTo>
                <a:lnTo>
                  <a:pt x="1622253" y="662683"/>
                </a:lnTo>
                <a:lnTo>
                  <a:pt x="1650223" y="663400"/>
                </a:lnTo>
                <a:lnTo>
                  <a:pt x="1678192" y="661356"/>
                </a:lnTo>
                <a:lnTo>
                  <a:pt x="1706162" y="657005"/>
                </a:lnTo>
                <a:lnTo>
                  <a:pt x="1734132" y="650816"/>
                </a:lnTo>
                <a:lnTo>
                  <a:pt x="1762102" y="643263"/>
                </a:lnTo>
                <a:lnTo>
                  <a:pt x="1790072" y="634811"/>
                </a:lnTo>
                <a:lnTo>
                  <a:pt x="1818042" y="625908"/>
                </a:lnTo>
                <a:lnTo>
                  <a:pt x="1846012" y="616974"/>
                </a:lnTo>
                <a:lnTo>
                  <a:pt x="1873982" y="608395"/>
                </a:lnTo>
                <a:lnTo>
                  <a:pt x="1901952" y="600518"/>
                </a:lnTo>
                <a:lnTo>
                  <a:pt x="1929921" y="593647"/>
                </a:lnTo>
                <a:lnTo>
                  <a:pt x="1957891" y="588039"/>
                </a:lnTo>
                <a:lnTo>
                  <a:pt x="1985861" y="583902"/>
                </a:lnTo>
                <a:lnTo>
                  <a:pt x="2013831" y="581398"/>
                </a:lnTo>
                <a:lnTo>
                  <a:pt x="2041801" y="580641"/>
                </a:lnTo>
                <a:lnTo>
                  <a:pt x="2069771" y="581699"/>
                </a:lnTo>
                <a:lnTo>
                  <a:pt x="2097741" y="584597"/>
                </a:lnTo>
                <a:lnTo>
                  <a:pt x="2125711" y="589319"/>
                </a:lnTo>
                <a:lnTo>
                  <a:pt x="2153680" y="595813"/>
                </a:lnTo>
                <a:lnTo>
                  <a:pt x="2181650" y="603995"/>
                </a:lnTo>
                <a:lnTo>
                  <a:pt x="2209620" y="613751"/>
                </a:lnTo>
                <a:lnTo>
                  <a:pt x="2237590" y="624946"/>
                </a:lnTo>
                <a:lnTo>
                  <a:pt x="2265560" y="637424"/>
                </a:lnTo>
                <a:lnTo>
                  <a:pt x="2293530" y="651016"/>
                </a:lnTo>
                <a:lnTo>
                  <a:pt x="2321500" y="665542"/>
                </a:lnTo>
                <a:lnTo>
                  <a:pt x="2349470" y="680818"/>
                </a:lnTo>
                <a:lnTo>
                  <a:pt x="2377440" y="696659"/>
                </a:lnTo>
                <a:lnTo>
                  <a:pt x="2405409" y="712882"/>
                </a:lnTo>
                <a:lnTo>
                  <a:pt x="2433379" y="729311"/>
                </a:lnTo>
                <a:lnTo>
                  <a:pt x="2461349" y="745780"/>
                </a:lnTo>
                <a:lnTo>
                  <a:pt x="2489319" y="762136"/>
                </a:lnTo>
                <a:lnTo>
                  <a:pt x="2517289" y="778237"/>
                </a:lnTo>
                <a:lnTo>
                  <a:pt x="2545259" y="793961"/>
                </a:lnTo>
                <a:lnTo>
                  <a:pt x="2573229" y="809200"/>
                </a:lnTo>
                <a:lnTo>
                  <a:pt x="2601199" y="823866"/>
                </a:lnTo>
                <a:lnTo>
                  <a:pt x="2629168" y="837887"/>
                </a:lnTo>
                <a:lnTo>
                  <a:pt x="2657138" y="851210"/>
                </a:lnTo>
                <a:lnTo>
                  <a:pt x="2685108" y="863799"/>
                </a:lnTo>
                <a:lnTo>
                  <a:pt x="2713078" y="875634"/>
                </a:lnTo>
                <a:lnTo>
                  <a:pt x="2741048" y="886710"/>
                </a:lnTo>
                <a:lnTo>
                  <a:pt x="2769018" y="897036"/>
                </a:lnTo>
                <a:lnTo>
                  <a:pt x="2796988" y="906633"/>
                </a:lnTo>
                <a:lnTo>
                  <a:pt x="2824958" y="915533"/>
                </a:lnTo>
                <a:lnTo>
                  <a:pt x="2852927" y="923775"/>
                </a:lnTo>
                <a:lnTo>
                  <a:pt x="2880897" y="931407"/>
                </a:lnTo>
                <a:lnTo>
                  <a:pt x="2908867" y="938481"/>
                </a:lnTo>
                <a:lnTo>
                  <a:pt x="2936837" y="945053"/>
                </a:lnTo>
                <a:lnTo>
                  <a:pt x="2964807" y="951182"/>
                </a:lnTo>
                <a:lnTo>
                  <a:pt x="2992777" y="956926"/>
                </a:lnTo>
                <a:lnTo>
                  <a:pt x="3020747" y="962344"/>
                </a:lnTo>
                <a:lnTo>
                  <a:pt x="3048717" y="967493"/>
                </a:lnTo>
                <a:lnTo>
                  <a:pt x="3076687" y="972427"/>
                </a:lnTo>
                <a:lnTo>
                  <a:pt x="3104656" y="977198"/>
                </a:lnTo>
                <a:lnTo>
                  <a:pt x="3132626" y="981853"/>
                </a:lnTo>
                <a:lnTo>
                  <a:pt x="3160596" y="986436"/>
                </a:lnTo>
                <a:lnTo>
                  <a:pt x="3188566" y="990984"/>
                </a:lnTo>
                <a:lnTo>
                  <a:pt x="3216536" y="995531"/>
                </a:lnTo>
                <a:lnTo>
                  <a:pt x="3244506" y="1000106"/>
                </a:lnTo>
                <a:lnTo>
                  <a:pt x="3272476" y="1004733"/>
                </a:lnTo>
                <a:lnTo>
                  <a:pt x="3300446" y="1009432"/>
                </a:lnTo>
                <a:lnTo>
                  <a:pt x="3328415" y="1014217"/>
                </a:lnTo>
                <a:lnTo>
                  <a:pt x="3356385" y="1019099"/>
                </a:lnTo>
                <a:lnTo>
                  <a:pt x="3384355" y="1024085"/>
                </a:lnTo>
                <a:lnTo>
                  <a:pt x="3412325" y="1029176"/>
                </a:lnTo>
                <a:lnTo>
                  <a:pt x="3440295" y="1034374"/>
                </a:lnTo>
                <a:lnTo>
                  <a:pt x="3468265" y="1039674"/>
                </a:lnTo>
                <a:lnTo>
                  <a:pt x="3496235" y="1045071"/>
                </a:lnTo>
                <a:lnTo>
                  <a:pt x="3524205" y="1050557"/>
                </a:lnTo>
                <a:lnTo>
                  <a:pt x="3552175" y="1056122"/>
                </a:lnTo>
                <a:lnTo>
                  <a:pt x="3580144" y="1061754"/>
                </a:lnTo>
                <a:lnTo>
                  <a:pt x="3608114" y="1067441"/>
                </a:lnTo>
                <a:lnTo>
                  <a:pt x="3636084" y="1073169"/>
                </a:lnTo>
                <a:lnTo>
                  <a:pt x="3664054" y="1078923"/>
                </a:lnTo>
                <a:lnTo>
                  <a:pt x="3692024" y="1084690"/>
                </a:lnTo>
                <a:lnTo>
                  <a:pt x="3719994" y="1090453"/>
                </a:lnTo>
                <a:lnTo>
                  <a:pt x="3747964" y="1096199"/>
                </a:lnTo>
                <a:lnTo>
                  <a:pt x="3775934" y="1101912"/>
                </a:lnTo>
                <a:lnTo>
                  <a:pt x="3803904" y="1107578"/>
                </a:lnTo>
                <a:lnTo>
                  <a:pt x="3831873" y="1113184"/>
                </a:lnTo>
                <a:lnTo>
                  <a:pt x="3859843" y="1118716"/>
                </a:lnTo>
                <a:lnTo>
                  <a:pt x="3887813" y="1124162"/>
                </a:lnTo>
                <a:lnTo>
                  <a:pt x="3915783" y="1129510"/>
                </a:lnTo>
                <a:lnTo>
                  <a:pt x="3943753" y="1134750"/>
                </a:lnTo>
                <a:lnTo>
                  <a:pt x="3971723" y="1139870"/>
                </a:lnTo>
                <a:lnTo>
                  <a:pt x="3999693" y="1144863"/>
                </a:lnTo>
                <a:lnTo>
                  <a:pt x="4027663" y="1149721"/>
                </a:lnTo>
                <a:lnTo>
                  <a:pt x="4055632" y="1154436"/>
                </a:lnTo>
                <a:lnTo>
                  <a:pt x="4083602" y="1159003"/>
                </a:lnTo>
                <a:lnTo>
                  <a:pt x="4111572" y="1163417"/>
                </a:lnTo>
                <a:lnTo>
                  <a:pt x="4139542" y="1167672"/>
                </a:lnTo>
                <a:lnTo>
                  <a:pt x="4167512" y="1171768"/>
                </a:lnTo>
                <a:lnTo>
                  <a:pt x="4195482" y="1175700"/>
                </a:lnTo>
                <a:lnTo>
                  <a:pt x="4223452" y="1179468"/>
                </a:lnTo>
                <a:lnTo>
                  <a:pt x="4251422" y="1183071"/>
                </a:lnTo>
                <a:lnTo>
                  <a:pt x="4279392" y="1186509"/>
                </a:lnTo>
                <a:lnTo>
                  <a:pt x="4307361" y="1189784"/>
                </a:lnTo>
                <a:lnTo>
                  <a:pt x="4335331" y="1192896"/>
                </a:lnTo>
                <a:lnTo>
                  <a:pt x="4363301" y="1195849"/>
                </a:lnTo>
                <a:lnTo>
                  <a:pt x="4391271" y="1198644"/>
                </a:lnTo>
                <a:lnTo>
                  <a:pt x="4419241" y="1201285"/>
                </a:lnTo>
                <a:lnTo>
                  <a:pt x="4447211" y="1203776"/>
                </a:lnTo>
                <a:lnTo>
                  <a:pt x="4475181" y="1206120"/>
                </a:lnTo>
                <a:lnTo>
                  <a:pt x="4503151" y="1208322"/>
                </a:lnTo>
                <a:lnTo>
                  <a:pt x="4531120" y="1210388"/>
                </a:lnTo>
                <a:lnTo>
                  <a:pt x="4559090" y="1212321"/>
                </a:lnTo>
                <a:lnTo>
                  <a:pt x="4587060" y="1214126"/>
                </a:lnTo>
                <a:lnTo>
                  <a:pt x="4615030" y="1215810"/>
                </a:lnTo>
                <a:lnTo>
                  <a:pt x="4643000" y="1217377"/>
                </a:lnTo>
                <a:lnTo>
                  <a:pt x="4670970" y="1218833"/>
                </a:lnTo>
                <a:lnTo>
                  <a:pt x="4698940" y="1220184"/>
                </a:lnTo>
                <a:lnTo>
                  <a:pt x="4726910" y="1221434"/>
                </a:lnTo>
                <a:lnTo>
                  <a:pt x="4754880" y="1222589"/>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035040" y="3108960"/>
            <a:ext cx="475488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35040" y="3246120"/>
            <a:ext cx="4754880" cy="502920"/>
          </a:xfrm>
          <a:prstGeom prst="roundRect">
            <a:avLst>
              <a:gd name="adj" fmla="val 8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5A5A5A"/>
                </a:solidFill>
                <a:latin typeface="メイリオ"/>
                <a:ea typeface="メイリオ"/>
                <a:cs typeface="メイリオ"/>
              </a:rPr>
              <a:t>DC 成分（拍動しない土台）</a:t>
            </a:r>
          </a:p>
        </p:txBody>
      </p:sp>
      <p:sp>
        <p:nvSpPr>
          <p:cNvPr id="17" name="TextBox 16"/>
          <p:cNvSpPr txBox="1"/>
          <p:nvPr/>
        </p:nvSpPr>
        <p:spPr>
          <a:xfrm>
            <a:off x="548640" y="4480560"/>
            <a:ext cx="10881360" cy="1554480"/>
          </a:xfrm>
          <a:prstGeom prst="rect">
            <a:avLst/>
          </a:prstGeom>
          <a:noFill/>
        </p:spPr>
        <p:txBody>
          <a:bodyPr wrap="square" lIns="18288" rIns="18288" tIns="0" bIns="0" anchor="t">
            <a:noAutofit/>
          </a:bodyPr>
          <a:lstStyle/>
          <a:p>
            <a:pPr algn="l">
              <a:lnSpc>
                <a:spcPct val="100000"/>
              </a:lnSpc>
              <a:spcBef>
                <a:spcPts val="0"/>
              </a:spcBef>
              <a:spcAft>
                <a:spcPts val="800"/>
              </a:spcAft>
            </a:pPr>
            <a:r>
              <a:rPr sz="2400" b="0" i="0">
                <a:solidFill>
                  <a:srgbClr val="222222"/>
                </a:solidFill>
                <a:latin typeface="メイリオ"/>
                <a:ea typeface="メイリオ"/>
                <a:cs typeface="メイリオ"/>
              </a:rPr>
              <a:t>圧ではなく容積の信号 ―― 中心大動脈圧は映らない</a:t>
            </a:r>
          </a:p>
          <a:p>
            <a:pPr algn="l">
              <a:lnSpc>
                <a:spcPct val="100000"/>
              </a:lnSpc>
              <a:spcBef>
                <a:spcPts val="0"/>
              </a:spcBef>
              <a:spcAft>
                <a:spcPts val="800"/>
              </a:spcAft>
            </a:pPr>
            <a:r>
              <a:rPr sz="2400" b="1" i="0">
                <a:solidFill>
                  <a:srgbClr val="D55E00"/>
                </a:solidFill>
                <a:latin typeface="メイリオ"/>
                <a:ea typeface="メイリオ"/>
                <a:cs typeface="メイリオ"/>
              </a:rPr>
              <a:t>AGC が壊すのは振幅の絶対値、残るのは時間と比</a:t>
            </a:r>
          </a:p>
          <a:p>
            <a:pPr algn="l">
              <a:lnSpc>
                <a:spcPct val="100000"/>
              </a:lnSpc>
              <a:spcBef>
                <a:spcPts val="0"/>
              </a:spcBef>
              <a:spcAft>
                <a:spcPts val="800"/>
              </a:spcAft>
            </a:pPr>
            <a:r>
              <a:rPr sz="2400" b="1" i="0">
                <a:solidFill>
                  <a:srgbClr val="0072B2"/>
                </a:solidFill>
                <a:latin typeface="メイリオ"/>
                <a:ea typeface="メイリオ"/>
                <a:cs typeface="メイリオ"/>
              </a:rPr>
              <a:t>だから指標は、振幅よりタイミングを優先する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前進波と反射波</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§2 ／ Charlton PH, et al. Am J Physiol 2022;322:H493</a:t>
            </a:r>
          </a:p>
        </p:txBody>
      </p:sp>
      <p:sp>
        <p:nvSpPr>
          <p:cNvPr id="12" name="Freeform 11"/>
          <p:cNvSpPr/>
          <p:nvPr/>
        </p:nvSpPr>
        <p:spPr>
          <a:xfrm>
            <a:off x="685800" y="2396397"/>
            <a:ext cx="5760720" cy="2128209"/>
          </a:xfrm>
          <a:custGeom>
            <a:avLst/>
            <a:gdLst/>
            <a:ahLst/>
            <a:cxnLst/>
            <a:rect l="l" t="t" r="r" b="b"/>
            <a:pathLst>
              <a:path w="5760720" h="2128209">
                <a:moveTo>
                  <a:pt x="0" y="2112793"/>
                </a:moveTo>
                <a:lnTo>
                  <a:pt x="33886" y="2103355"/>
                </a:lnTo>
                <a:lnTo>
                  <a:pt x="67773" y="2091798"/>
                </a:lnTo>
                <a:lnTo>
                  <a:pt x="101659" y="2077758"/>
                </a:lnTo>
                <a:lnTo>
                  <a:pt x="135546" y="2060838"/>
                </a:lnTo>
                <a:lnTo>
                  <a:pt x="169432" y="2040612"/>
                </a:lnTo>
                <a:lnTo>
                  <a:pt x="203319" y="2016633"/>
                </a:lnTo>
                <a:lnTo>
                  <a:pt x="237206" y="1988436"/>
                </a:lnTo>
                <a:lnTo>
                  <a:pt x="271092" y="1955558"/>
                </a:lnTo>
                <a:lnTo>
                  <a:pt x="304979" y="1917542"/>
                </a:lnTo>
                <a:lnTo>
                  <a:pt x="338865" y="1873961"/>
                </a:lnTo>
                <a:lnTo>
                  <a:pt x="372752" y="1824433"/>
                </a:lnTo>
                <a:lnTo>
                  <a:pt x="406639" y="1768641"/>
                </a:lnTo>
                <a:lnTo>
                  <a:pt x="440525" y="1706355"/>
                </a:lnTo>
                <a:lnTo>
                  <a:pt x="474412" y="1637453"/>
                </a:lnTo>
                <a:lnTo>
                  <a:pt x="508298" y="1561943"/>
                </a:lnTo>
                <a:lnTo>
                  <a:pt x="542185" y="1479983"/>
                </a:lnTo>
                <a:lnTo>
                  <a:pt x="576072" y="1391896"/>
                </a:lnTo>
                <a:lnTo>
                  <a:pt x="609958" y="1298184"/>
                </a:lnTo>
                <a:lnTo>
                  <a:pt x="643845" y="1199537"/>
                </a:lnTo>
                <a:lnTo>
                  <a:pt x="677731" y="1096834"/>
                </a:lnTo>
                <a:lnTo>
                  <a:pt x="711618" y="991136"/>
                </a:lnTo>
                <a:lnTo>
                  <a:pt x="745504" y="883678"/>
                </a:lnTo>
                <a:lnTo>
                  <a:pt x="779391" y="775844"/>
                </a:lnTo>
                <a:lnTo>
                  <a:pt x="813278" y="669143"/>
                </a:lnTo>
                <a:lnTo>
                  <a:pt x="847164" y="565173"/>
                </a:lnTo>
                <a:lnTo>
                  <a:pt x="881051" y="465579"/>
                </a:lnTo>
                <a:lnTo>
                  <a:pt x="914937" y="372006"/>
                </a:lnTo>
                <a:lnTo>
                  <a:pt x="948824" y="286055"/>
                </a:lnTo>
                <a:lnTo>
                  <a:pt x="982711" y="209226"/>
                </a:lnTo>
                <a:lnTo>
                  <a:pt x="1016597" y="142874"/>
                </a:lnTo>
                <a:lnTo>
                  <a:pt x="1050484" y="88159"/>
                </a:lnTo>
                <a:lnTo>
                  <a:pt x="1084370" y="46006"/>
                </a:lnTo>
                <a:lnTo>
                  <a:pt x="1118257" y="17072"/>
                </a:lnTo>
                <a:lnTo>
                  <a:pt x="1152143" y="1719"/>
                </a:lnTo>
                <a:lnTo>
                  <a:pt x="1186030" y="0"/>
                </a:lnTo>
                <a:lnTo>
                  <a:pt x="1219917" y="11653"/>
                </a:lnTo>
                <a:lnTo>
                  <a:pt x="1253803" y="36110"/>
                </a:lnTo>
                <a:lnTo>
                  <a:pt x="1287690" y="72514"/>
                </a:lnTo>
                <a:lnTo>
                  <a:pt x="1321576" y="119746"/>
                </a:lnTo>
                <a:lnTo>
                  <a:pt x="1355463" y="176462"/>
                </a:lnTo>
                <a:lnTo>
                  <a:pt x="1389350" y="241140"/>
                </a:lnTo>
                <a:lnTo>
                  <a:pt x="1423236" y="312124"/>
                </a:lnTo>
                <a:lnTo>
                  <a:pt x="1457123" y="387679"/>
                </a:lnTo>
                <a:lnTo>
                  <a:pt x="1491009" y="466044"/>
                </a:lnTo>
                <a:lnTo>
                  <a:pt x="1524896" y="545485"/>
                </a:lnTo>
                <a:lnTo>
                  <a:pt x="1558783" y="624341"/>
                </a:lnTo>
                <a:lnTo>
                  <a:pt x="1592669" y="701068"/>
                </a:lnTo>
                <a:lnTo>
                  <a:pt x="1626556" y="774278"/>
                </a:lnTo>
                <a:lnTo>
                  <a:pt x="1660442" y="842766"/>
                </a:lnTo>
                <a:lnTo>
                  <a:pt x="1694329" y="905533"/>
                </a:lnTo>
                <a:lnTo>
                  <a:pt x="1728215" y="961800"/>
                </a:lnTo>
                <a:lnTo>
                  <a:pt x="1762102" y="1011012"/>
                </a:lnTo>
                <a:lnTo>
                  <a:pt x="1795989" y="1052838"/>
                </a:lnTo>
                <a:lnTo>
                  <a:pt x="1829875" y="1087158"/>
                </a:lnTo>
                <a:lnTo>
                  <a:pt x="1863762" y="1114054"/>
                </a:lnTo>
                <a:lnTo>
                  <a:pt x="1897648" y="1133785"/>
                </a:lnTo>
                <a:lnTo>
                  <a:pt x="1931535" y="1146770"/>
                </a:lnTo>
                <a:lnTo>
                  <a:pt x="1965422" y="1153559"/>
                </a:lnTo>
                <a:lnTo>
                  <a:pt x="1999308" y="1154807"/>
                </a:lnTo>
                <a:lnTo>
                  <a:pt x="2033195" y="1151249"/>
                </a:lnTo>
                <a:lnTo>
                  <a:pt x="2067081" y="1143675"/>
                </a:lnTo>
                <a:lnTo>
                  <a:pt x="2100968" y="1132902"/>
                </a:lnTo>
                <a:lnTo>
                  <a:pt x="2134855" y="1119754"/>
                </a:lnTo>
                <a:lnTo>
                  <a:pt x="2168741" y="1105041"/>
                </a:lnTo>
                <a:lnTo>
                  <a:pt x="2202628" y="1089543"/>
                </a:lnTo>
                <a:lnTo>
                  <a:pt x="2236514" y="1073991"/>
                </a:lnTo>
                <a:lnTo>
                  <a:pt x="2270401" y="1059057"/>
                </a:lnTo>
                <a:lnTo>
                  <a:pt x="2304288" y="1045346"/>
                </a:lnTo>
                <a:lnTo>
                  <a:pt x="2338174" y="1033386"/>
                </a:lnTo>
                <a:lnTo>
                  <a:pt x="2372061" y="1023623"/>
                </a:lnTo>
                <a:lnTo>
                  <a:pt x="2405947" y="1016422"/>
                </a:lnTo>
                <a:lnTo>
                  <a:pt x="2439834" y="1012064"/>
                </a:lnTo>
                <a:lnTo>
                  <a:pt x="2473720" y="1010746"/>
                </a:lnTo>
                <a:lnTo>
                  <a:pt x="2507607" y="1012587"/>
                </a:lnTo>
                <a:lnTo>
                  <a:pt x="2541494" y="1017631"/>
                </a:lnTo>
                <a:lnTo>
                  <a:pt x="2575380" y="1025851"/>
                </a:lnTo>
                <a:lnTo>
                  <a:pt x="2609267" y="1037155"/>
                </a:lnTo>
                <a:lnTo>
                  <a:pt x="2643153" y="1051398"/>
                </a:lnTo>
                <a:lnTo>
                  <a:pt x="2677040" y="1068381"/>
                </a:lnTo>
                <a:lnTo>
                  <a:pt x="2710927" y="1087869"/>
                </a:lnTo>
                <a:lnTo>
                  <a:pt x="2744813" y="1109591"/>
                </a:lnTo>
                <a:lnTo>
                  <a:pt x="2778700" y="1133250"/>
                </a:lnTo>
                <a:lnTo>
                  <a:pt x="2812586" y="1158536"/>
                </a:lnTo>
                <a:lnTo>
                  <a:pt x="2846473" y="1185128"/>
                </a:lnTo>
                <a:lnTo>
                  <a:pt x="2880360" y="1212702"/>
                </a:lnTo>
                <a:lnTo>
                  <a:pt x="2914246" y="1240942"/>
                </a:lnTo>
                <a:lnTo>
                  <a:pt x="2948133" y="1269541"/>
                </a:lnTo>
                <a:lnTo>
                  <a:pt x="2982019" y="1298210"/>
                </a:lnTo>
                <a:lnTo>
                  <a:pt x="3015906" y="1326681"/>
                </a:lnTo>
                <a:lnTo>
                  <a:pt x="3049792" y="1354709"/>
                </a:lnTo>
                <a:lnTo>
                  <a:pt x="3083679" y="1382080"/>
                </a:lnTo>
                <a:lnTo>
                  <a:pt x="3117566" y="1408608"/>
                </a:lnTo>
                <a:lnTo>
                  <a:pt x="3151452" y="1434137"/>
                </a:lnTo>
                <a:lnTo>
                  <a:pt x="3185339" y="1458544"/>
                </a:lnTo>
                <a:lnTo>
                  <a:pt x="3219225" y="1481736"/>
                </a:lnTo>
                <a:lnTo>
                  <a:pt x="3253112" y="1503650"/>
                </a:lnTo>
                <a:lnTo>
                  <a:pt x="3286999" y="1524251"/>
                </a:lnTo>
                <a:lnTo>
                  <a:pt x="3320885" y="1543532"/>
                </a:lnTo>
                <a:lnTo>
                  <a:pt x="3354772" y="1561507"/>
                </a:lnTo>
                <a:lnTo>
                  <a:pt x="3388658" y="1578213"/>
                </a:lnTo>
                <a:lnTo>
                  <a:pt x="3422545" y="1593705"/>
                </a:lnTo>
                <a:lnTo>
                  <a:pt x="3456431" y="1608053"/>
                </a:lnTo>
                <a:lnTo>
                  <a:pt x="3490318" y="1621338"/>
                </a:lnTo>
                <a:lnTo>
                  <a:pt x="3524205" y="1633652"/>
                </a:lnTo>
                <a:lnTo>
                  <a:pt x="3558091" y="1645092"/>
                </a:lnTo>
                <a:lnTo>
                  <a:pt x="3591978" y="1655761"/>
                </a:lnTo>
                <a:lnTo>
                  <a:pt x="3625864" y="1665760"/>
                </a:lnTo>
                <a:lnTo>
                  <a:pt x="3659751" y="1675191"/>
                </a:lnTo>
                <a:lnTo>
                  <a:pt x="3693638" y="1684154"/>
                </a:lnTo>
                <a:lnTo>
                  <a:pt x="3727524" y="1692744"/>
                </a:lnTo>
                <a:lnTo>
                  <a:pt x="3761411" y="1701049"/>
                </a:lnTo>
                <a:lnTo>
                  <a:pt x="3795297" y="1709152"/>
                </a:lnTo>
                <a:lnTo>
                  <a:pt x="3829184" y="1717129"/>
                </a:lnTo>
                <a:lnTo>
                  <a:pt x="3863071" y="1725045"/>
                </a:lnTo>
                <a:lnTo>
                  <a:pt x="3896957" y="1732961"/>
                </a:lnTo>
                <a:lnTo>
                  <a:pt x="3930844" y="1740925"/>
                </a:lnTo>
                <a:lnTo>
                  <a:pt x="3964730" y="1748980"/>
                </a:lnTo>
                <a:lnTo>
                  <a:pt x="3998617" y="1757160"/>
                </a:lnTo>
                <a:lnTo>
                  <a:pt x="4032503" y="1765489"/>
                </a:lnTo>
                <a:lnTo>
                  <a:pt x="4066390" y="1773987"/>
                </a:lnTo>
                <a:lnTo>
                  <a:pt x="4100277" y="1782665"/>
                </a:lnTo>
                <a:lnTo>
                  <a:pt x="4134163" y="1791529"/>
                </a:lnTo>
                <a:lnTo>
                  <a:pt x="4168050" y="1800576"/>
                </a:lnTo>
                <a:lnTo>
                  <a:pt x="4201936" y="1809803"/>
                </a:lnTo>
                <a:lnTo>
                  <a:pt x="4235823" y="1819198"/>
                </a:lnTo>
                <a:lnTo>
                  <a:pt x="4269710" y="1828747"/>
                </a:lnTo>
                <a:lnTo>
                  <a:pt x="4303596" y="1838434"/>
                </a:lnTo>
                <a:lnTo>
                  <a:pt x="4337483" y="1848238"/>
                </a:lnTo>
                <a:lnTo>
                  <a:pt x="4371369" y="1858138"/>
                </a:lnTo>
                <a:lnTo>
                  <a:pt x="4405256" y="1868108"/>
                </a:lnTo>
                <a:lnTo>
                  <a:pt x="4439143" y="1878125"/>
                </a:lnTo>
                <a:lnTo>
                  <a:pt x="4473029" y="1888163"/>
                </a:lnTo>
                <a:lnTo>
                  <a:pt x="4506916" y="1898196"/>
                </a:lnTo>
                <a:lnTo>
                  <a:pt x="4540802" y="1908198"/>
                </a:lnTo>
                <a:lnTo>
                  <a:pt x="4574689" y="1918143"/>
                </a:lnTo>
                <a:lnTo>
                  <a:pt x="4608576" y="1928007"/>
                </a:lnTo>
                <a:lnTo>
                  <a:pt x="4642462" y="1937765"/>
                </a:lnTo>
                <a:lnTo>
                  <a:pt x="4676349" y="1947395"/>
                </a:lnTo>
                <a:lnTo>
                  <a:pt x="4710235" y="1956875"/>
                </a:lnTo>
                <a:lnTo>
                  <a:pt x="4744122" y="1966184"/>
                </a:lnTo>
                <a:lnTo>
                  <a:pt x="4778008" y="1975305"/>
                </a:lnTo>
                <a:lnTo>
                  <a:pt x="4811895" y="1984218"/>
                </a:lnTo>
                <a:lnTo>
                  <a:pt x="4845782" y="1992910"/>
                </a:lnTo>
                <a:lnTo>
                  <a:pt x="4879668" y="2001366"/>
                </a:lnTo>
                <a:lnTo>
                  <a:pt x="4913555" y="2009574"/>
                </a:lnTo>
                <a:lnTo>
                  <a:pt x="4947441" y="2017524"/>
                </a:lnTo>
                <a:lnTo>
                  <a:pt x="4981328" y="2025206"/>
                </a:lnTo>
                <a:lnTo>
                  <a:pt x="5015215" y="2032615"/>
                </a:lnTo>
                <a:lnTo>
                  <a:pt x="5049101" y="2039743"/>
                </a:lnTo>
                <a:lnTo>
                  <a:pt x="5082988" y="2046588"/>
                </a:lnTo>
                <a:lnTo>
                  <a:pt x="5116874" y="2053147"/>
                </a:lnTo>
                <a:lnTo>
                  <a:pt x="5150761" y="2059419"/>
                </a:lnTo>
                <a:lnTo>
                  <a:pt x="5184648" y="2065405"/>
                </a:lnTo>
                <a:lnTo>
                  <a:pt x="5218534" y="2071105"/>
                </a:lnTo>
                <a:lnTo>
                  <a:pt x="5252421" y="2076523"/>
                </a:lnTo>
                <a:lnTo>
                  <a:pt x="5286307" y="2081662"/>
                </a:lnTo>
                <a:lnTo>
                  <a:pt x="5320194" y="2086528"/>
                </a:lnTo>
                <a:lnTo>
                  <a:pt x="5354080" y="2091125"/>
                </a:lnTo>
                <a:lnTo>
                  <a:pt x="5387967" y="2095461"/>
                </a:lnTo>
                <a:lnTo>
                  <a:pt x="5421854" y="2099542"/>
                </a:lnTo>
                <a:lnTo>
                  <a:pt x="5455740" y="2103376"/>
                </a:lnTo>
                <a:lnTo>
                  <a:pt x="5489627" y="2106971"/>
                </a:lnTo>
                <a:lnTo>
                  <a:pt x="5523513" y="2110336"/>
                </a:lnTo>
                <a:lnTo>
                  <a:pt x="5557400" y="2113479"/>
                </a:lnTo>
                <a:lnTo>
                  <a:pt x="5591287" y="2116410"/>
                </a:lnTo>
                <a:lnTo>
                  <a:pt x="5625173" y="2119138"/>
                </a:lnTo>
                <a:lnTo>
                  <a:pt x="5659060" y="2121673"/>
                </a:lnTo>
                <a:lnTo>
                  <a:pt x="5692946" y="2124023"/>
                </a:lnTo>
                <a:lnTo>
                  <a:pt x="5726833" y="2126199"/>
                </a:lnTo>
                <a:lnTo>
                  <a:pt x="5760720" y="2128209"/>
                </a:lnTo>
              </a:path>
            </a:pathLst>
          </a:custGeom>
          <a:noFill/>
          <a:ln w="381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85800" y="2453471"/>
            <a:ext cx="5760720" cy="2091097"/>
          </a:xfrm>
          <a:custGeom>
            <a:avLst/>
            <a:gdLst/>
            <a:ahLst/>
            <a:cxnLst/>
            <a:rect l="l" t="t" r="r" b="b"/>
            <a:pathLst>
              <a:path w="5760720" h="2091097">
                <a:moveTo>
                  <a:pt x="0" y="2055799"/>
                </a:moveTo>
                <a:lnTo>
                  <a:pt x="33886" y="2046378"/>
                </a:lnTo>
                <a:lnTo>
                  <a:pt x="67773" y="2034842"/>
                </a:lnTo>
                <a:lnTo>
                  <a:pt x="101659" y="2020828"/>
                </a:lnTo>
                <a:lnTo>
                  <a:pt x="135546" y="2003940"/>
                </a:lnTo>
                <a:lnTo>
                  <a:pt x="169432" y="1983754"/>
                </a:lnTo>
                <a:lnTo>
                  <a:pt x="203319" y="1959824"/>
                </a:lnTo>
                <a:lnTo>
                  <a:pt x="237206" y="1931688"/>
                </a:lnTo>
                <a:lnTo>
                  <a:pt x="271092" y="1898883"/>
                </a:lnTo>
                <a:lnTo>
                  <a:pt x="304979" y="1860959"/>
                </a:lnTo>
                <a:lnTo>
                  <a:pt x="338865" y="1817490"/>
                </a:lnTo>
                <a:lnTo>
                  <a:pt x="372752" y="1768101"/>
                </a:lnTo>
                <a:lnTo>
                  <a:pt x="406639" y="1712480"/>
                </a:lnTo>
                <a:lnTo>
                  <a:pt x="440525" y="1650403"/>
                </a:lnTo>
                <a:lnTo>
                  <a:pt x="474412" y="1581757"/>
                </a:lnTo>
                <a:lnTo>
                  <a:pt x="508298" y="1506562"/>
                </a:lnTo>
                <a:lnTo>
                  <a:pt x="542185" y="1424985"/>
                </a:lnTo>
                <a:lnTo>
                  <a:pt x="576072" y="1337365"/>
                </a:lnTo>
                <a:lnTo>
                  <a:pt x="609958" y="1244222"/>
                </a:lnTo>
                <a:lnTo>
                  <a:pt x="643845" y="1146263"/>
                </a:lnTo>
                <a:lnTo>
                  <a:pt x="677731" y="1044392"/>
                </a:lnTo>
                <a:lnTo>
                  <a:pt x="711618" y="939696"/>
                </a:lnTo>
                <a:lnTo>
                  <a:pt x="745504" y="833440"/>
                </a:lnTo>
                <a:lnTo>
                  <a:pt x="779391" y="727046"/>
                </a:lnTo>
                <a:lnTo>
                  <a:pt x="813278" y="622061"/>
                </a:lnTo>
                <a:lnTo>
                  <a:pt x="847164" y="520129"/>
                </a:lnTo>
                <a:lnTo>
                  <a:pt x="881051" y="422946"/>
                </a:lnTo>
                <a:lnTo>
                  <a:pt x="914937" y="332215"/>
                </a:lnTo>
                <a:lnTo>
                  <a:pt x="948824" y="249599"/>
                </a:lnTo>
                <a:lnTo>
                  <a:pt x="982711" y="176670"/>
                </a:lnTo>
                <a:lnTo>
                  <a:pt x="1016597" y="114858"/>
                </a:lnTo>
                <a:lnTo>
                  <a:pt x="1050484" y="65405"/>
                </a:lnTo>
                <a:lnTo>
                  <a:pt x="1084370" y="29326"/>
                </a:lnTo>
                <a:lnTo>
                  <a:pt x="1118257" y="7370"/>
                </a:lnTo>
                <a:lnTo>
                  <a:pt x="1152143" y="0"/>
                </a:lnTo>
                <a:lnTo>
                  <a:pt x="1186030" y="7370"/>
                </a:lnTo>
                <a:lnTo>
                  <a:pt x="1219917" y="29326"/>
                </a:lnTo>
                <a:lnTo>
                  <a:pt x="1253803" y="65405"/>
                </a:lnTo>
                <a:lnTo>
                  <a:pt x="1287690" y="114858"/>
                </a:lnTo>
                <a:lnTo>
                  <a:pt x="1321576" y="176670"/>
                </a:lnTo>
                <a:lnTo>
                  <a:pt x="1355463" y="249599"/>
                </a:lnTo>
                <a:lnTo>
                  <a:pt x="1389350" y="332215"/>
                </a:lnTo>
                <a:lnTo>
                  <a:pt x="1423236" y="422946"/>
                </a:lnTo>
                <a:lnTo>
                  <a:pt x="1457123" y="520129"/>
                </a:lnTo>
                <a:lnTo>
                  <a:pt x="1491009" y="622061"/>
                </a:lnTo>
                <a:lnTo>
                  <a:pt x="1524896" y="727046"/>
                </a:lnTo>
                <a:lnTo>
                  <a:pt x="1558783" y="833440"/>
                </a:lnTo>
                <a:lnTo>
                  <a:pt x="1592669" y="939696"/>
                </a:lnTo>
                <a:lnTo>
                  <a:pt x="1626556" y="1044392"/>
                </a:lnTo>
                <a:lnTo>
                  <a:pt x="1660442" y="1146263"/>
                </a:lnTo>
                <a:lnTo>
                  <a:pt x="1694329" y="1244222"/>
                </a:lnTo>
                <a:lnTo>
                  <a:pt x="1728215" y="1337365"/>
                </a:lnTo>
                <a:lnTo>
                  <a:pt x="1762102" y="1424985"/>
                </a:lnTo>
                <a:lnTo>
                  <a:pt x="1795989" y="1506562"/>
                </a:lnTo>
                <a:lnTo>
                  <a:pt x="1829875" y="1581757"/>
                </a:lnTo>
                <a:lnTo>
                  <a:pt x="1863762" y="1650403"/>
                </a:lnTo>
                <a:lnTo>
                  <a:pt x="1897648" y="1712480"/>
                </a:lnTo>
                <a:lnTo>
                  <a:pt x="1931535" y="1768101"/>
                </a:lnTo>
                <a:lnTo>
                  <a:pt x="1965422" y="1817490"/>
                </a:lnTo>
                <a:lnTo>
                  <a:pt x="1999308" y="1860959"/>
                </a:lnTo>
                <a:lnTo>
                  <a:pt x="2033195" y="1898883"/>
                </a:lnTo>
                <a:lnTo>
                  <a:pt x="2067081" y="1931688"/>
                </a:lnTo>
                <a:lnTo>
                  <a:pt x="2100968" y="1959824"/>
                </a:lnTo>
                <a:lnTo>
                  <a:pt x="2134855" y="1983754"/>
                </a:lnTo>
                <a:lnTo>
                  <a:pt x="2168741" y="2003940"/>
                </a:lnTo>
                <a:lnTo>
                  <a:pt x="2202628" y="2020828"/>
                </a:lnTo>
                <a:lnTo>
                  <a:pt x="2236514" y="2034842"/>
                </a:lnTo>
                <a:lnTo>
                  <a:pt x="2270401" y="2046378"/>
                </a:lnTo>
                <a:lnTo>
                  <a:pt x="2304288" y="2055799"/>
                </a:lnTo>
                <a:lnTo>
                  <a:pt x="2338174" y="2063431"/>
                </a:lnTo>
                <a:lnTo>
                  <a:pt x="2372061" y="2069565"/>
                </a:lnTo>
                <a:lnTo>
                  <a:pt x="2405947" y="2074458"/>
                </a:lnTo>
                <a:lnTo>
                  <a:pt x="2439834" y="2078329"/>
                </a:lnTo>
                <a:lnTo>
                  <a:pt x="2473720" y="2081368"/>
                </a:lnTo>
                <a:lnTo>
                  <a:pt x="2507607" y="2083736"/>
                </a:lnTo>
                <a:lnTo>
                  <a:pt x="2541494" y="2085567"/>
                </a:lnTo>
                <a:lnTo>
                  <a:pt x="2575380" y="2086971"/>
                </a:lnTo>
                <a:lnTo>
                  <a:pt x="2609267" y="2088041"/>
                </a:lnTo>
                <a:lnTo>
                  <a:pt x="2643153" y="2088849"/>
                </a:lnTo>
                <a:lnTo>
                  <a:pt x="2677040" y="2089455"/>
                </a:lnTo>
                <a:lnTo>
                  <a:pt x="2710927" y="2089906"/>
                </a:lnTo>
                <a:lnTo>
                  <a:pt x="2744813" y="2090239"/>
                </a:lnTo>
                <a:lnTo>
                  <a:pt x="2778700" y="2090484"/>
                </a:lnTo>
                <a:lnTo>
                  <a:pt x="2812586" y="2090661"/>
                </a:lnTo>
                <a:lnTo>
                  <a:pt x="2846473" y="2090790"/>
                </a:lnTo>
                <a:lnTo>
                  <a:pt x="2880360" y="2090882"/>
                </a:lnTo>
                <a:lnTo>
                  <a:pt x="2914246" y="2090947"/>
                </a:lnTo>
                <a:lnTo>
                  <a:pt x="2948133" y="2090993"/>
                </a:lnTo>
                <a:lnTo>
                  <a:pt x="2982019" y="2091026"/>
                </a:lnTo>
                <a:lnTo>
                  <a:pt x="3015906" y="2091048"/>
                </a:lnTo>
                <a:lnTo>
                  <a:pt x="3049792" y="2091064"/>
                </a:lnTo>
                <a:lnTo>
                  <a:pt x="3083679" y="2091075"/>
                </a:lnTo>
                <a:lnTo>
                  <a:pt x="3117566" y="2091082"/>
                </a:lnTo>
                <a:lnTo>
                  <a:pt x="3151452" y="2091087"/>
                </a:lnTo>
                <a:lnTo>
                  <a:pt x="3185339" y="2091090"/>
                </a:lnTo>
                <a:lnTo>
                  <a:pt x="3219225" y="2091092"/>
                </a:lnTo>
                <a:lnTo>
                  <a:pt x="3253112" y="2091094"/>
                </a:lnTo>
                <a:lnTo>
                  <a:pt x="3286999" y="2091095"/>
                </a:lnTo>
                <a:lnTo>
                  <a:pt x="3320885" y="2091095"/>
                </a:lnTo>
                <a:lnTo>
                  <a:pt x="3354772" y="2091096"/>
                </a:lnTo>
                <a:lnTo>
                  <a:pt x="3388658" y="2091096"/>
                </a:lnTo>
                <a:lnTo>
                  <a:pt x="3422545" y="2091096"/>
                </a:lnTo>
                <a:lnTo>
                  <a:pt x="3456431" y="2091096"/>
                </a:lnTo>
                <a:lnTo>
                  <a:pt x="3490318" y="2091096"/>
                </a:lnTo>
                <a:lnTo>
                  <a:pt x="3524205" y="2091096"/>
                </a:lnTo>
                <a:lnTo>
                  <a:pt x="3558091" y="2091096"/>
                </a:lnTo>
                <a:lnTo>
                  <a:pt x="3591978" y="2091096"/>
                </a:lnTo>
                <a:lnTo>
                  <a:pt x="3625864" y="2091096"/>
                </a:lnTo>
                <a:lnTo>
                  <a:pt x="3659751" y="2091096"/>
                </a:lnTo>
                <a:lnTo>
                  <a:pt x="3693638" y="2091096"/>
                </a:lnTo>
                <a:lnTo>
                  <a:pt x="3727524" y="2091096"/>
                </a:lnTo>
                <a:lnTo>
                  <a:pt x="3761411" y="2091096"/>
                </a:lnTo>
                <a:lnTo>
                  <a:pt x="3795297" y="2091096"/>
                </a:lnTo>
                <a:lnTo>
                  <a:pt x="3829184" y="2091096"/>
                </a:lnTo>
                <a:lnTo>
                  <a:pt x="3863071" y="2091096"/>
                </a:lnTo>
                <a:lnTo>
                  <a:pt x="3896957" y="2091096"/>
                </a:lnTo>
                <a:lnTo>
                  <a:pt x="3930844" y="2091096"/>
                </a:lnTo>
                <a:lnTo>
                  <a:pt x="3964730" y="2091096"/>
                </a:lnTo>
                <a:lnTo>
                  <a:pt x="3998617" y="2091096"/>
                </a:lnTo>
                <a:lnTo>
                  <a:pt x="4032503" y="2091096"/>
                </a:lnTo>
                <a:lnTo>
                  <a:pt x="4066390" y="2091096"/>
                </a:lnTo>
                <a:lnTo>
                  <a:pt x="4100277" y="2091096"/>
                </a:lnTo>
                <a:lnTo>
                  <a:pt x="4134163" y="2091096"/>
                </a:lnTo>
                <a:lnTo>
                  <a:pt x="4168050" y="2091096"/>
                </a:lnTo>
                <a:lnTo>
                  <a:pt x="4201936" y="2091096"/>
                </a:lnTo>
                <a:lnTo>
                  <a:pt x="4235823" y="2091096"/>
                </a:lnTo>
                <a:lnTo>
                  <a:pt x="4269710" y="2091096"/>
                </a:lnTo>
                <a:lnTo>
                  <a:pt x="4303596" y="2091096"/>
                </a:lnTo>
                <a:lnTo>
                  <a:pt x="4337483" y="2091096"/>
                </a:lnTo>
                <a:lnTo>
                  <a:pt x="4371369" y="2091096"/>
                </a:lnTo>
                <a:lnTo>
                  <a:pt x="4405256" y="2091096"/>
                </a:lnTo>
                <a:lnTo>
                  <a:pt x="4439143" y="2091096"/>
                </a:lnTo>
                <a:lnTo>
                  <a:pt x="4473029" y="2091096"/>
                </a:lnTo>
                <a:lnTo>
                  <a:pt x="4506916" y="2091096"/>
                </a:lnTo>
                <a:lnTo>
                  <a:pt x="4540802" y="2091097"/>
                </a:lnTo>
                <a:lnTo>
                  <a:pt x="4574689" y="2091097"/>
                </a:lnTo>
                <a:lnTo>
                  <a:pt x="4608576" y="2091097"/>
                </a:lnTo>
                <a:lnTo>
                  <a:pt x="4642462" y="2091097"/>
                </a:lnTo>
                <a:lnTo>
                  <a:pt x="4676349" y="2091097"/>
                </a:lnTo>
                <a:lnTo>
                  <a:pt x="4710235" y="2091097"/>
                </a:lnTo>
                <a:lnTo>
                  <a:pt x="4744122" y="2091097"/>
                </a:lnTo>
                <a:lnTo>
                  <a:pt x="4778008" y="2091097"/>
                </a:lnTo>
                <a:lnTo>
                  <a:pt x="4811895" y="2091097"/>
                </a:lnTo>
                <a:lnTo>
                  <a:pt x="4845782" y="2091097"/>
                </a:lnTo>
                <a:lnTo>
                  <a:pt x="4879668" y="2091097"/>
                </a:lnTo>
                <a:lnTo>
                  <a:pt x="4913555" y="2091097"/>
                </a:lnTo>
                <a:lnTo>
                  <a:pt x="4947441" y="2091097"/>
                </a:lnTo>
                <a:lnTo>
                  <a:pt x="4981328" y="2091097"/>
                </a:lnTo>
                <a:lnTo>
                  <a:pt x="5015215" y="2091097"/>
                </a:lnTo>
                <a:lnTo>
                  <a:pt x="5049101" y="2091097"/>
                </a:lnTo>
                <a:lnTo>
                  <a:pt x="5082988" y="2091097"/>
                </a:lnTo>
                <a:lnTo>
                  <a:pt x="5116874" y="2091097"/>
                </a:lnTo>
                <a:lnTo>
                  <a:pt x="5150761" y="2091097"/>
                </a:lnTo>
                <a:lnTo>
                  <a:pt x="5184648" y="2091097"/>
                </a:lnTo>
                <a:lnTo>
                  <a:pt x="5218534" y="2091097"/>
                </a:lnTo>
                <a:lnTo>
                  <a:pt x="5252421" y="2091097"/>
                </a:lnTo>
                <a:lnTo>
                  <a:pt x="5286307" y="2091097"/>
                </a:lnTo>
                <a:lnTo>
                  <a:pt x="5320194" y="2091097"/>
                </a:lnTo>
                <a:lnTo>
                  <a:pt x="5354080" y="2091097"/>
                </a:lnTo>
                <a:lnTo>
                  <a:pt x="5387967" y="2091097"/>
                </a:lnTo>
                <a:lnTo>
                  <a:pt x="5421854" y="2091097"/>
                </a:lnTo>
                <a:lnTo>
                  <a:pt x="5455740" y="2091097"/>
                </a:lnTo>
                <a:lnTo>
                  <a:pt x="5489627" y="2091097"/>
                </a:lnTo>
                <a:lnTo>
                  <a:pt x="5523513" y="2091097"/>
                </a:lnTo>
                <a:lnTo>
                  <a:pt x="5557400" y="2091097"/>
                </a:lnTo>
                <a:lnTo>
                  <a:pt x="5591287" y="2091097"/>
                </a:lnTo>
                <a:lnTo>
                  <a:pt x="5625173" y="2091097"/>
                </a:lnTo>
                <a:lnTo>
                  <a:pt x="5659060" y="2091097"/>
                </a:lnTo>
                <a:lnTo>
                  <a:pt x="5692946" y="2091097"/>
                </a:lnTo>
                <a:lnTo>
                  <a:pt x="5726833" y="2091097"/>
                </a:lnTo>
                <a:lnTo>
                  <a:pt x="5760720" y="2091097"/>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85800" y="3416345"/>
            <a:ext cx="5760720" cy="1128143"/>
          </a:xfrm>
          <a:custGeom>
            <a:avLst/>
            <a:gdLst/>
            <a:ahLst/>
            <a:cxnLst/>
            <a:rect l="l" t="t" r="r" b="b"/>
            <a:pathLst>
              <a:path w="5760720" h="1128143">
                <a:moveTo>
                  <a:pt x="0" y="1128143"/>
                </a:moveTo>
                <a:lnTo>
                  <a:pt x="33886" y="1128125"/>
                </a:lnTo>
                <a:lnTo>
                  <a:pt x="67773" y="1128104"/>
                </a:lnTo>
                <a:lnTo>
                  <a:pt x="101659" y="1128078"/>
                </a:lnTo>
                <a:lnTo>
                  <a:pt x="135546" y="1128046"/>
                </a:lnTo>
                <a:lnTo>
                  <a:pt x="169432" y="1128006"/>
                </a:lnTo>
                <a:lnTo>
                  <a:pt x="203319" y="1127957"/>
                </a:lnTo>
                <a:lnTo>
                  <a:pt x="237206" y="1127897"/>
                </a:lnTo>
                <a:lnTo>
                  <a:pt x="271092" y="1127823"/>
                </a:lnTo>
                <a:lnTo>
                  <a:pt x="304979" y="1127732"/>
                </a:lnTo>
                <a:lnTo>
                  <a:pt x="338865" y="1127619"/>
                </a:lnTo>
                <a:lnTo>
                  <a:pt x="372752" y="1127481"/>
                </a:lnTo>
                <a:lnTo>
                  <a:pt x="406639" y="1127310"/>
                </a:lnTo>
                <a:lnTo>
                  <a:pt x="440525" y="1127101"/>
                </a:lnTo>
                <a:lnTo>
                  <a:pt x="474412" y="1126844"/>
                </a:lnTo>
                <a:lnTo>
                  <a:pt x="508298" y="1126530"/>
                </a:lnTo>
                <a:lnTo>
                  <a:pt x="542185" y="1126147"/>
                </a:lnTo>
                <a:lnTo>
                  <a:pt x="576072" y="1125679"/>
                </a:lnTo>
                <a:lnTo>
                  <a:pt x="609958" y="1125111"/>
                </a:lnTo>
                <a:lnTo>
                  <a:pt x="643845" y="1124423"/>
                </a:lnTo>
                <a:lnTo>
                  <a:pt x="677731" y="1123591"/>
                </a:lnTo>
                <a:lnTo>
                  <a:pt x="711618" y="1122589"/>
                </a:lnTo>
                <a:lnTo>
                  <a:pt x="745504" y="1121386"/>
                </a:lnTo>
                <a:lnTo>
                  <a:pt x="779391" y="1119947"/>
                </a:lnTo>
                <a:lnTo>
                  <a:pt x="813278" y="1118231"/>
                </a:lnTo>
                <a:lnTo>
                  <a:pt x="847164" y="1116193"/>
                </a:lnTo>
                <a:lnTo>
                  <a:pt x="881051" y="1113782"/>
                </a:lnTo>
                <a:lnTo>
                  <a:pt x="914937" y="1110940"/>
                </a:lnTo>
                <a:lnTo>
                  <a:pt x="948824" y="1107604"/>
                </a:lnTo>
                <a:lnTo>
                  <a:pt x="982711" y="1103704"/>
                </a:lnTo>
                <a:lnTo>
                  <a:pt x="1016597" y="1099164"/>
                </a:lnTo>
                <a:lnTo>
                  <a:pt x="1050484" y="1093902"/>
                </a:lnTo>
                <a:lnTo>
                  <a:pt x="1084370" y="1087829"/>
                </a:lnTo>
                <a:lnTo>
                  <a:pt x="1118257" y="1080850"/>
                </a:lnTo>
                <a:lnTo>
                  <a:pt x="1152143" y="1072868"/>
                </a:lnTo>
                <a:lnTo>
                  <a:pt x="1186030" y="1063778"/>
                </a:lnTo>
                <a:lnTo>
                  <a:pt x="1219917" y="1053476"/>
                </a:lnTo>
                <a:lnTo>
                  <a:pt x="1253803" y="1041853"/>
                </a:lnTo>
                <a:lnTo>
                  <a:pt x="1287690" y="1028804"/>
                </a:lnTo>
                <a:lnTo>
                  <a:pt x="1321576" y="1014224"/>
                </a:lnTo>
                <a:lnTo>
                  <a:pt x="1355463" y="998012"/>
                </a:lnTo>
                <a:lnTo>
                  <a:pt x="1389350" y="980074"/>
                </a:lnTo>
                <a:lnTo>
                  <a:pt x="1423236" y="960327"/>
                </a:lnTo>
                <a:lnTo>
                  <a:pt x="1457123" y="938698"/>
                </a:lnTo>
                <a:lnTo>
                  <a:pt x="1491009" y="915132"/>
                </a:lnTo>
                <a:lnTo>
                  <a:pt x="1524896" y="889588"/>
                </a:lnTo>
                <a:lnTo>
                  <a:pt x="1558783" y="862049"/>
                </a:lnTo>
                <a:lnTo>
                  <a:pt x="1592669" y="832521"/>
                </a:lnTo>
                <a:lnTo>
                  <a:pt x="1626556" y="801035"/>
                </a:lnTo>
                <a:lnTo>
                  <a:pt x="1660442" y="767651"/>
                </a:lnTo>
                <a:lnTo>
                  <a:pt x="1694329" y="732460"/>
                </a:lnTo>
                <a:lnTo>
                  <a:pt x="1728215" y="695583"/>
                </a:lnTo>
                <a:lnTo>
                  <a:pt x="1762102" y="657176"/>
                </a:lnTo>
                <a:lnTo>
                  <a:pt x="1795989" y="617425"/>
                </a:lnTo>
                <a:lnTo>
                  <a:pt x="1829875" y="576549"/>
                </a:lnTo>
                <a:lnTo>
                  <a:pt x="1863762" y="534800"/>
                </a:lnTo>
                <a:lnTo>
                  <a:pt x="1897648" y="492454"/>
                </a:lnTo>
                <a:lnTo>
                  <a:pt x="1931535" y="449817"/>
                </a:lnTo>
                <a:lnTo>
                  <a:pt x="1965422" y="407217"/>
                </a:lnTo>
                <a:lnTo>
                  <a:pt x="1999308" y="364996"/>
                </a:lnTo>
                <a:lnTo>
                  <a:pt x="2033195" y="323514"/>
                </a:lnTo>
                <a:lnTo>
                  <a:pt x="2067081" y="283136"/>
                </a:lnTo>
                <a:lnTo>
                  <a:pt x="2100968" y="244226"/>
                </a:lnTo>
                <a:lnTo>
                  <a:pt x="2134855" y="207148"/>
                </a:lnTo>
                <a:lnTo>
                  <a:pt x="2168741" y="172250"/>
                </a:lnTo>
                <a:lnTo>
                  <a:pt x="2202628" y="139864"/>
                </a:lnTo>
                <a:lnTo>
                  <a:pt x="2236514" y="110297"/>
                </a:lnTo>
                <a:lnTo>
                  <a:pt x="2270401" y="83827"/>
                </a:lnTo>
                <a:lnTo>
                  <a:pt x="2304288" y="60696"/>
                </a:lnTo>
                <a:lnTo>
                  <a:pt x="2338174" y="41103"/>
                </a:lnTo>
                <a:lnTo>
                  <a:pt x="2372061" y="25206"/>
                </a:lnTo>
                <a:lnTo>
                  <a:pt x="2405947" y="13113"/>
                </a:lnTo>
                <a:lnTo>
                  <a:pt x="2439834" y="4883"/>
                </a:lnTo>
                <a:lnTo>
                  <a:pt x="2473720" y="526"/>
                </a:lnTo>
                <a:lnTo>
                  <a:pt x="2507607" y="0"/>
                </a:lnTo>
                <a:lnTo>
                  <a:pt x="2541494" y="3213"/>
                </a:lnTo>
                <a:lnTo>
                  <a:pt x="2575380" y="10028"/>
                </a:lnTo>
                <a:lnTo>
                  <a:pt x="2609267" y="20263"/>
                </a:lnTo>
                <a:lnTo>
                  <a:pt x="2643153" y="33697"/>
                </a:lnTo>
                <a:lnTo>
                  <a:pt x="2677040" y="50075"/>
                </a:lnTo>
                <a:lnTo>
                  <a:pt x="2710927" y="69112"/>
                </a:lnTo>
                <a:lnTo>
                  <a:pt x="2744813" y="90500"/>
                </a:lnTo>
                <a:lnTo>
                  <a:pt x="2778700" y="113915"/>
                </a:lnTo>
                <a:lnTo>
                  <a:pt x="2812586" y="139023"/>
                </a:lnTo>
                <a:lnTo>
                  <a:pt x="2846473" y="165486"/>
                </a:lnTo>
                <a:lnTo>
                  <a:pt x="2880360" y="192969"/>
                </a:lnTo>
                <a:lnTo>
                  <a:pt x="2914246" y="221143"/>
                </a:lnTo>
                <a:lnTo>
                  <a:pt x="2948133" y="249696"/>
                </a:lnTo>
                <a:lnTo>
                  <a:pt x="2982019" y="278333"/>
                </a:lnTo>
                <a:lnTo>
                  <a:pt x="3015906" y="306781"/>
                </a:lnTo>
                <a:lnTo>
                  <a:pt x="3049792" y="334794"/>
                </a:lnTo>
                <a:lnTo>
                  <a:pt x="3083679" y="362154"/>
                </a:lnTo>
                <a:lnTo>
                  <a:pt x="3117566" y="388675"/>
                </a:lnTo>
                <a:lnTo>
                  <a:pt x="3151452" y="414199"/>
                </a:lnTo>
                <a:lnTo>
                  <a:pt x="3185339" y="438602"/>
                </a:lnTo>
                <a:lnTo>
                  <a:pt x="3219225" y="461792"/>
                </a:lnTo>
                <a:lnTo>
                  <a:pt x="3253112" y="483705"/>
                </a:lnTo>
                <a:lnTo>
                  <a:pt x="3286999" y="504305"/>
                </a:lnTo>
                <a:lnTo>
                  <a:pt x="3320885" y="523585"/>
                </a:lnTo>
                <a:lnTo>
                  <a:pt x="3354772" y="541560"/>
                </a:lnTo>
                <a:lnTo>
                  <a:pt x="3388658" y="558266"/>
                </a:lnTo>
                <a:lnTo>
                  <a:pt x="3422545" y="573757"/>
                </a:lnTo>
                <a:lnTo>
                  <a:pt x="3456431" y="588105"/>
                </a:lnTo>
                <a:lnTo>
                  <a:pt x="3490318" y="601390"/>
                </a:lnTo>
                <a:lnTo>
                  <a:pt x="3524205" y="613704"/>
                </a:lnTo>
                <a:lnTo>
                  <a:pt x="3558091" y="625144"/>
                </a:lnTo>
                <a:lnTo>
                  <a:pt x="3591978" y="635813"/>
                </a:lnTo>
                <a:lnTo>
                  <a:pt x="3625864" y="645812"/>
                </a:lnTo>
                <a:lnTo>
                  <a:pt x="3659751" y="655243"/>
                </a:lnTo>
                <a:lnTo>
                  <a:pt x="3693638" y="664206"/>
                </a:lnTo>
                <a:lnTo>
                  <a:pt x="3727524" y="672796"/>
                </a:lnTo>
                <a:lnTo>
                  <a:pt x="3761411" y="681101"/>
                </a:lnTo>
                <a:lnTo>
                  <a:pt x="3795297" y="689204"/>
                </a:lnTo>
                <a:lnTo>
                  <a:pt x="3829184" y="697181"/>
                </a:lnTo>
                <a:lnTo>
                  <a:pt x="3863071" y="705097"/>
                </a:lnTo>
                <a:lnTo>
                  <a:pt x="3896957" y="713013"/>
                </a:lnTo>
                <a:lnTo>
                  <a:pt x="3930844" y="720977"/>
                </a:lnTo>
                <a:lnTo>
                  <a:pt x="3964730" y="729032"/>
                </a:lnTo>
                <a:lnTo>
                  <a:pt x="3998617" y="737212"/>
                </a:lnTo>
                <a:lnTo>
                  <a:pt x="4032503" y="745541"/>
                </a:lnTo>
                <a:lnTo>
                  <a:pt x="4066390" y="754039"/>
                </a:lnTo>
                <a:lnTo>
                  <a:pt x="4100277" y="762717"/>
                </a:lnTo>
                <a:lnTo>
                  <a:pt x="4134163" y="771581"/>
                </a:lnTo>
                <a:lnTo>
                  <a:pt x="4168050" y="780628"/>
                </a:lnTo>
                <a:lnTo>
                  <a:pt x="4201936" y="789855"/>
                </a:lnTo>
                <a:lnTo>
                  <a:pt x="4235823" y="799250"/>
                </a:lnTo>
                <a:lnTo>
                  <a:pt x="4269710" y="808799"/>
                </a:lnTo>
                <a:lnTo>
                  <a:pt x="4303596" y="818486"/>
                </a:lnTo>
                <a:lnTo>
                  <a:pt x="4337483" y="828290"/>
                </a:lnTo>
                <a:lnTo>
                  <a:pt x="4371369" y="838190"/>
                </a:lnTo>
                <a:lnTo>
                  <a:pt x="4405256" y="848160"/>
                </a:lnTo>
                <a:lnTo>
                  <a:pt x="4439143" y="858177"/>
                </a:lnTo>
                <a:lnTo>
                  <a:pt x="4473029" y="868215"/>
                </a:lnTo>
                <a:lnTo>
                  <a:pt x="4506916" y="878248"/>
                </a:lnTo>
                <a:lnTo>
                  <a:pt x="4540802" y="888250"/>
                </a:lnTo>
                <a:lnTo>
                  <a:pt x="4574689" y="898195"/>
                </a:lnTo>
                <a:lnTo>
                  <a:pt x="4608576" y="908059"/>
                </a:lnTo>
                <a:lnTo>
                  <a:pt x="4642462" y="917817"/>
                </a:lnTo>
                <a:lnTo>
                  <a:pt x="4676349" y="927447"/>
                </a:lnTo>
                <a:lnTo>
                  <a:pt x="4710235" y="936927"/>
                </a:lnTo>
                <a:lnTo>
                  <a:pt x="4744122" y="946236"/>
                </a:lnTo>
                <a:lnTo>
                  <a:pt x="4778008" y="955357"/>
                </a:lnTo>
                <a:lnTo>
                  <a:pt x="4811895" y="964270"/>
                </a:lnTo>
                <a:lnTo>
                  <a:pt x="4845782" y="972962"/>
                </a:lnTo>
                <a:lnTo>
                  <a:pt x="4879668" y="981418"/>
                </a:lnTo>
                <a:lnTo>
                  <a:pt x="4913555" y="989626"/>
                </a:lnTo>
                <a:lnTo>
                  <a:pt x="4947441" y="997576"/>
                </a:lnTo>
                <a:lnTo>
                  <a:pt x="4981328" y="1005258"/>
                </a:lnTo>
                <a:lnTo>
                  <a:pt x="5015215" y="1012667"/>
                </a:lnTo>
                <a:lnTo>
                  <a:pt x="5049101" y="1019795"/>
                </a:lnTo>
                <a:lnTo>
                  <a:pt x="5082988" y="1026640"/>
                </a:lnTo>
                <a:lnTo>
                  <a:pt x="5116874" y="1033199"/>
                </a:lnTo>
                <a:lnTo>
                  <a:pt x="5150761" y="1039471"/>
                </a:lnTo>
                <a:lnTo>
                  <a:pt x="5184648" y="1045457"/>
                </a:lnTo>
                <a:lnTo>
                  <a:pt x="5218534" y="1051157"/>
                </a:lnTo>
                <a:lnTo>
                  <a:pt x="5252421" y="1056575"/>
                </a:lnTo>
                <a:lnTo>
                  <a:pt x="5286307" y="1061714"/>
                </a:lnTo>
                <a:lnTo>
                  <a:pt x="5320194" y="1066580"/>
                </a:lnTo>
                <a:lnTo>
                  <a:pt x="5354080" y="1071177"/>
                </a:lnTo>
                <a:lnTo>
                  <a:pt x="5387967" y="1075513"/>
                </a:lnTo>
                <a:lnTo>
                  <a:pt x="5421854" y="1079594"/>
                </a:lnTo>
                <a:lnTo>
                  <a:pt x="5455740" y="1083428"/>
                </a:lnTo>
                <a:lnTo>
                  <a:pt x="5489627" y="1087023"/>
                </a:lnTo>
                <a:lnTo>
                  <a:pt x="5523513" y="1090388"/>
                </a:lnTo>
                <a:lnTo>
                  <a:pt x="5557400" y="1093531"/>
                </a:lnTo>
                <a:lnTo>
                  <a:pt x="5591287" y="1096462"/>
                </a:lnTo>
                <a:lnTo>
                  <a:pt x="5625173" y="1099190"/>
                </a:lnTo>
                <a:lnTo>
                  <a:pt x="5659060" y="1101725"/>
                </a:lnTo>
                <a:lnTo>
                  <a:pt x="5692946" y="1104075"/>
                </a:lnTo>
                <a:lnTo>
                  <a:pt x="5726833" y="1106251"/>
                </a:lnTo>
                <a:lnTo>
                  <a:pt x="5760720" y="1108261"/>
                </a:lnTo>
              </a:path>
            </a:pathLst>
          </a:custGeom>
          <a:noFill/>
          <a:ln w="2540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85800" y="4544568"/>
            <a:ext cx="576072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55226" y="2139696"/>
            <a:ext cx="0" cy="146121"/>
          </a:xfrm>
          <a:prstGeom prst="line">
            <a:avLst/>
          </a:prstGeom>
          <a:ln w="15875">
            <a:solidFill>
              <a:srgbClr val="0072B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62909" y="2139696"/>
            <a:ext cx="0" cy="1157760"/>
          </a:xfrm>
          <a:prstGeom prst="line">
            <a:avLst/>
          </a:prstGeom>
          <a:ln w="15875">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855226" y="2194560"/>
            <a:ext cx="1307683" cy="0"/>
          </a:xfrm>
          <a:prstGeom prst="line">
            <a:avLst/>
          </a:prstGeom>
          <a:ln w="25400">
            <a:solidFill>
              <a:srgbClr val="0072B2"/>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352306" y="1737360"/>
            <a:ext cx="1005840" cy="365760"/>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0072B2"/>
                </a:solidFill>
                <a:latin typeface="メイリオ"/>
                <a:ea typeface="メイリオ"/>
                <a:cs typeface="メイリオ"/>
              </a:rPr>
              <a:t>P</a:t>
            </a:r>
            <a:r>
              <a:rPr sz="2200" b="1" i="0" baseline="-25000">
                <a:solidFill>
                  <a:srgbClr val="0072B2"/>
                </a:solidFill>
                <a:latin typeface="メイリオ"/>
                <a:ea typeface="メイリオ"/>
                <a:cs typeface="メイリオ"/>
              </a:rPr>
              <a:t>1</a:t>
            </a:r>
          </a:p>
        </p:txBody>
      </p:sp>
      <p:sp>
        <p:nvSpPr>
          <p:cNvPr id="20" name="TextBox 19"/>
          <p:cNvSpPr txBox="1"/>
          <p:nvPr/>
        </p:nvSpPr>
        <p:spPr>
          <a:xfrm>
            <a:off x="3208629" y="1737360"/>
            <a:ext cx="1005840" cy="365760"/>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D55E00"/>
                </a:solidFill>
                <a:latin typeface="メイリオ"/>
                <a:ea typeface="メイリオ"/>
                <a:cs typeface="メイリオ"/>
              </a:rPr>
              <a:t>P</a:t>
            </a:r>
            <a:r>
              <a:rPr sz="2200" b="1" i="0" baseline="-25000">
                <a:solidFill>
                  <a:srgbClr val="D55E00"/>
                </a:solidFill>
                <a:latin typeface="メイリオ"/>
                <a:ea typeface="メイリオ"/>
                <a:cs typeface="メイリオ"/>
              </a:rPr>
              <a:t>2</a:t>
            </a:r>
          </a:p>
        </p:txBody>
      </p:sp>
      <p:sp>
        <p:nvSpPr>
          <p:cNvPr id="21" name="TextBox 20"/>
          <p:cNvSpPr txBox="1"/>
          <p:nvPr/>
        </p:nvSpPr>
        <p:spPr>
          <a:xfrm>
            <a:off x="2051867" y="2350008"/>
            <a:ext cx="1097280" cy="365760"/>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0072B2"/>
                </a:solidFill>
                <a:latin typeface="メイリオ"/>
                <a:ea typeface="メイリオ"/>
                <a:cs typeface="メイリオ"/>
              </a:rPr>
              <a:t>ΔT</a:t>
            </a:r>
          </a:p>
        </p:txBody>
      </p:sp>
      <p:sp>
        <p:nvSpPr>
          <p:cNvPr id="22" name="TextBox 21"/>
          <p:cNvSpPr txBox="1"/>
          <p:nvPr/>
        </p:nvSpPr>
        <p:spPr>
          <a:xfrm>
            <a:off x="6858000" y="2103120"/>
            <a:ext cx="4754880" cy="2468880"/>
          </a:xfrm>
          <a:prstGeom prst="rect">
            <a:avLst/>
          </a:prstGeom>
          <a:noFill/>
        </p:spPr>
        <p:txBody>
          <a:bodyPr wrap="square" lIns="18288" rIns="18288" tIns="0" bIns="0" anchor="t">
            <a:noAutofit/>
          </a:bodyPr>
          <a:lstStyle/>
          <a:p>
            <a:pPr algn="l">
              <a:lnSpc>
                <a:spcPct val="100000"/>
              </a:lnSpc>
              <a:spcBef>
                <a:spcPts val="0"/>
              </a:spcBef>
              <a:spcAft>
                <a:spcPts val="800"/>
              </a:spcAft>
            </a:pPr>
            <a:r>
              <a:rPr sz="2600" b="1" i="0">
                <a:solidFill>
                  <a:srgbClr val="0072B2"/>
                </a:solidFill>
                <a:latin typeface="メイリオ"/>
                <a:ea typeface="メイリオ"/>
                <a:cs typeface="メイリオ"/>
              </a:rPr>
              <a:t>前進波（青）</a:t>
            </a:r>
          </a:p>
          <a:p>
            <a:pPr algn="l">
              <a:lnSpc>
                <a:spcPct val="100000"/>
              </a:lnSpc>
              <a:spcBef>
                <a:spcPts val="0"/>
              </a:spcBef>
              <a:spcAft>
                <a:spcPts val="800"/>
              </a:spcAft>
            </a:pPr>
            <a:r>
              <a:rPr sz="2400" b="0" i="0">
                <a:solidFill>
                  <a:srgbClr val="222222"/>
                </a:solidFill>
                <a:latin typeface="メイリオ"/>
                <a:ea typeface="メイリオ"/>
                <a:cs typeface="メイリオ"/>
              </a:rPr>
              <a:t>左室駆出で末梢へ進む波</a:t>
            </a:r>
          </a:p>
          <a:p>
            <a:pPr algn="l">
              <a:lnSpc>
                <a:spcPct val="100000"/>
              </a:lnSpc>
              <a:spcBef>
                <a:spcPts val="0"/>
              </a:spcBef>
              <a:spcAft>
                <a:spcPts val="800"/>
              </a:spcAft>
            </a:pPr>
          </a:p>
          <a:p>
            <a:pPr algn="l">
              <a:lnSpc>
                <a:spcPct val="100000"/>
              </a:lnSpc>
              <a:spcBef>
                <a:spcPts val="0"/>
              </a:spcBef>
              <a:spcAft>
                <a:spcPts val="800"/>
              </a:spcAft>
            </a:pPr>
            <a:r>
              <a:rPr sz="2600" b="1" i="0">
                <a:solidFill>
                  <a:srgbClr val="D55E00"/>
                </a:solidFill>
                <a:latin typeface="メイリオ"/>
                <a:ea typeface="メイリオ"/>
                <a:cs typeface="メイリオ"/>
              </a:rPr>
              <a:t>反射波（朱）</a:t>
            </a:r>
          </a:p>
          <a:p>
            <a:pPr algn="l">
              <a:lnSpc>
                <a:spcPct val="100000"/>
              </a:lnSpc>
              <a:spcBef>
                <a:spcPts val="0"/>
              </a:spcBef>
              <a:spcAft>
                <a:spcPts val="800"/>
              </a:spcAft>
            </a:pPr>
            <a:r>
              <a:rPr sz="2400" b="0" i="0">
                <a:solidFill>
                  <a:srgbClr val="222222"/>
                </a:solidFill>
                <a:latin typeface="メイリオ"/>
                <a:ea typeface="メイリオ"/>
                <a:cs typeface="メイリオ"/>
              </a:rPr>
              <a:t>末梢で跳ね返って戻る波</a:t>
            </a:r>
          </a:p>
        </p:txBody>
      </p:sp>
      <p:sp>
        <p:nvSpPr>
          <p:cNvPr id="23" name="Rounded Rectangle 22"/>
          <p:cNvSpPr/>
          <p:nvPr/>
        </p:nvSpPr>
        <p:spPr>
          <a:xfrm>
            <a:off x="685800" y="4800600"/>
            <a:ext cx="10789920" cy="960120"/>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血管を読むとは、反射波の「高さ」と「時刻」を読むこと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反射波が語る二軸</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4</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§3（因子ごとの波形変化と検証強度）</a:t>
            </a:r>
          </a:p>
        </p:txBody>
      </p:sp>
      <p:sp>
        <p:nvSpPr>
          <p:cNvPr id="12" name="Rounded Rectangle 11"/>
          <p:cNvSpPr/>
          <p:nvPr/>
        </p:nvSpPr>
        <p:spPr>
          <a:xfrm>
            <a:off x="640080" y="1874519"/>
            <a:ext cx="5212080" cy="1874519"/>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0072B2"/>
                </a:solidFill>
                <a:latin typeface="メイリオ"/>
                <a:ea typeface="メイリオ"/>
                <a:cs typeface="メイリオ"/>
              </a:rPr>
              <a:t>時間の軸 ―― いつ戻るか</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早く戻る ＝ 血管壁が硬い</a:t>
            </a:r>
          </a:p>
          <a:p>
            <a:pPr algn="l">
              <a:lnSpc>
                <a:spcPct val="100000"/>
              </a:lnSpc>
              <a:spcBef>
                <a:spcPts val="0"/>
              </a:spcBef>
              <a:spcAft>
                <a:spcPts val="800"/>
              </a:spcAft>
            </a:pPr>
            <a:r>
              <a:rPr sz="2200" b="0" i="0">
                <a:solidFill>
                  <a:srgbClr val="5A5A5A"/>
                </a:solidFill>
                <a:latin typeface="メイリオ"/>
                <a:ea typeface="メイリオ"/>
                <a:cs typeface="メイリオ"/>
              </a:rPr>
              <a:t>PWV はその結果を測る指標</a:t>
            </a:r>
          </a:p>
        </p:txBody>
      </p:sp>
      <p:sp>
        <p:nvSpPr>
          <p:cNvPr id="13" name="Rounded Rectangle 12"/>
          <p:cNvSpPr/>
          <p:nvPr/>
        </p:nvSpPr>
        <p:spPr>
          <a:xfrm>
            <a:off x="6309360" y="1874519"/>
            <a:ext cx="5212080" cy="1874519"/>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D55E00"/>
                </a:solidFill>
                <a:latin typeface="メイリオ"/>
                <a:ea typeface="メイリオ"/>
                <a:cs typeface="メイリオ"/>
              </a:rPr>
              <a:t>高さの軸 ―― どれだけ戻るか</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高く戻る ＝ 末梢が締まっている</a:t>
            </a:r>
          </a:p>
          <a:p>
            <a:pPr algn="l">
              <a:lnSpc>
                <a:spcPct val="100000"/>
              </a:lnSpc>
              <a:spcBef>
                <a:spcPts val="0"/>
              </a:spcBef>
              <a:spcAft>
                <a:spcPts val="800"/>
              </a:spcAft>
            </a:pPr>
            <a:r>
              <a:rPr sz="2200" b="0" i="0">
                <a:solidFill>
                  <a:srgbClr val="5A5A5A"/>
                </a:solidFill>
                <a:latin typeface="メイリオ"/>
                <a:ea typeface="メイリオ"/>
                <a:cs typeface="メイリオ"/>
              </a:rPr>
              <a:t>振幅単独では鈍感（r = −0.15）</a:t>
            </a:r>
          </a:p>
        </p:txBody>
      </p:sp>
      <p:sp>
        <p:nvSpPr>
          <p:cNvPr id="14" name="TextBox 13"/>
          <p:cNvSpPr txBox="1"/>
          <p:nvPr/>
        </p:nvSpPr>
        <p:spPr>
          <a:xfrm>
            <a:off x="640080" y="4069080"/>
            <a:ext cx="10881360" cy="1737360"/>
          </a:xfrm>
          <a:prstGeom prst="rect">
            <a:avLst/>
          </a:prstGeom>
          <a:noFill/>
        </p:spPr>
        <p:txBody>
          <a:bodyPr wrap="square" lIns="18288" rIns="18288" tIns="0" bIns="0" anchor="t">
            <a:noAutofit/>
          </a:bodyPr>
          <a:lstStyle/>
          <a:p>
            <a:pPr algn="l">
              <a:lnSpc>
                <a:spcPct val="100000"/>
              </a:lnSpc>
              <a:spcBef>
                <a:spcPts val="0"/>
              </a:spcBef>
              <a:spcAft>
                <a:spcPts val="600"/>
              </a:spcAft>
            </a:pPr>
            <a:r>
              <a:rPr sz="2600" b="1" i="0">
                <a:solidFill>
                  <a:srgbClr val="222222"/>
                </a:solidFill>
                <a:latin typeface="メイリオ"/>
                <a:ea typeface="メイリオ"/>
                <a:cs typeface="メイリオ"/>
              </a:rPr>
              <a:t>この二軸を測る指標が、次章の SI と RI である</a:t>
            </a:r>
          </a:p>
          <a:p>
            <a:pPr algn="l">
              <a:lnSpc>
                <a:spcPct val="100000"/>
              </a:lnSpc>
              <a:spcBef>
                <a:spcPts val="0"/>
              </a:spcBef>
              <a:spcAft>
                <a:spcPts val="600"/>
              </a:spcAft>
            </a:pPr>
          </a:p>
          <a:p>
            <a:pPr algn="l">
              <a:lnSpc>
                <a:spcPct val="100000"/>
              </a:lnSpc>
              <a:spcBef>
                <a:spcPts val="0"/>
              </a:spcBef>
              <a:spcAft>
                <a:spcPts val="600"/>
              </a:spcAft>
            </a:pPr>
            <a:r>
              <a:rPr sz="2400" b="0" i="0">
                <a:solidFill>
                  <a:srgbClr val="5A5A5A"/>
                </a:solidFill>
                <a:latin typeface="メイリオ"/>
                <a:ea typeface="メイリオ"/>
                <a:cs typeface="メイリオ"/>
              </a:rPr>
              <a:t>Awad 2007：指 PPG 振幅と熱希釈 SVR は弱相関 r = −0.15</a:t>
            </a:r>
          </a:p>
          <a:p>
            <a:pPr algn="l">
              <a:lnSpc>
                <a:spcPct val="100000"/>
              </a:lnSpc>
              <a:spcBef>
                <a:spcPts val="0"/>
              </a:spcBef>
              <a:spcAft>
                <a:spcPts val="600"/>
              </a:spcAft>
            </a:pPr>
            <a:r>
              <a:rPr sz="2400" b="0" i="0">
                <a:solidFill>
                  <a:srgbClr val="5A5A5A"/>
                </a:solidFill>
                <a:latin typeface="メイリオ"/>
                <a:ea typeface="メイリオ"/>
                <a:cs typeface="メイリオ"/>
              </a:rPr>
              <a:t>一方、切痕を含む「幅」は r = 0.56 と良好（14 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SI ― 時間の指標</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5</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Millasseau SC, et al. Clin Sci 2002;103:371-7（PMID 12241535）</a:t>
            </a:r>
          </a:p>
        </p:txBody>
      </p:sp>
      <p:sp>
        <p:nvSpPr>
          <p:cNvPr id="12" name="Rounded Rectangle 11"/>
          <p:cNvSpPr/>
          <p:nvPr/>
        </p:nvSpPr>
        <p:spPr>
          <a:xfrm>
            <a:off x="640080" y="1783080"/>
            <a:ext cx="10881360" cy="91440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3200" b="1" i="0">
                <a:solidFill>
                  <a:srgbClr val="222222"/>
                </a:solidFill>
                <a:latin typeface="メイリオ"/>
                <a:ea typeface="メイリオ"/>
                <a:cs typeface="メイリオ"/>
              </a:rPr>
              <a:t>SI ＝ 身長 ÷ ΔT　［m/s］</a:t>
            </a:r>
          </a:p>
        </p:txBody>
      </p:sp>
      <p:sp>
        <p:nvSpPr>
          <p:cNvPr id="13" name="Freeform 12"/>
          <p:cNvSpPr/>
          <p:nvPr/>
        </p:nvSpPr>
        <p:spPr>
          <a:xfrm>
            <a:off x="685800" y="3063809"/>
            <a:ext cx="5486400" cy="1811242"/>
          </a:xfrm>
          <a:custGeom>
            <a:avLst/>
            <a:gdLst/>
            <a:ahLst/>
            <a:cxnLst/>
            <a:rect l="l" t="t" r="r" b="b"/>
            <a:pathLst>
              <a:path w="5486400" h="1811242">
                <a:moveTo>
                  <a:pt x="0" y="1798122"/>
                </a:moveTo>
                <a:lnTo>
                  <a:pt x="32272" y="1790090"/>
                </a:lnTo>
                <a:lnTo>
                  <a:pt x="64545" y="1780254"/>
                </a:lnTo>
                <a:lnTo>
                  <a:pt x="96818" y="1768305"/>
                </a:lnTo>
                <a:lnTo>
                  <a:pt x="129091" y="1753905"/>
                </a:lnTo>
                <a:lnTo>
                  <a:pt x="161364" y="1736691"/>
                </a:lnTo>
                <a:lnTo>
                  <a:pt x="193637" y="1716283"/>
                </a:lnTo>
                <a:lnTo>
                  <a:pt x="225910" y="1692286"/>
                </a:lnTo>
                <a:lnTo>
                  <a:pt x="258183" y="1664305"/>
                </a:lnTo>
                <a:lnTo>
                  <a:pt x="290456" y="1631951"/>
                </a:lnTo>
                <a:lnTo>
                  <a:pt x="322729" y="1594861"/>
                </a:lnTo>
                <a:lnTo>
                  <a:pt x="355002" y="1552709"/>
                </a:lnTo>
                <a:lnTo>
                  <a:pt x="387275" y="1505227"/>
                </a:lnTo>
                <a:lnTo>
                  <a:pt x="419548" y="1452217"/>
                </a:lnTo>
                <a:lnTo>
                  <a:pt x="451821" y="1393577"/>
                </a:lnTo>
                <a:lnTo>
                  <a:pt x="484094" y="1329314"/>
                </a:lnTo>
                <a:lnTo>
                  <a:pt x="516367" y="1259561"/>
                </a:lnTo>
                <a:lnTo>
                  <a:pt x="548640" y="1184593"/>
                </a:lnTo>
                <a:lnTo>
                  <a:pt x="580912" y="1104838"/>
                </a:lnTo>
                <a:lnTo>
                  <a:pt x="613185" y="1020883"/>
                </a:lnTo>
                <a:lnTo>
                  <a:pt x="645458" y="933476"/>
                </a:lnTo>
                <a:lnTo>
                  <a:pt x="677731" y="843520"/>
                </a:lnTo>
                <a:lnTo>
                  <a:pt x="710004" y="752066"/>
                </a:lnTo>
                <a:lnTo>
                  <a:pt x="742277" y="660293"/>
                </a:lnTo>
                <a:lnTo>
                  <a:pt x="774550" y="569484"/>
                </a:lnTo>
                <a:lnTo>
                  <a:pt x="806823" y="480999"/>
                </a:lnTo>
                <a:lnTo>
                  <a:pt x="839096" y="396237"/>
                </a:lnTo>
                <a:lnTo>
                  <a:pt x="871369" y="316601"/>
                </a:lnTo>
                <a:lnTo>
                  <a:pt x="903642" y="243451"/>
                </a:lnTo>
                <a:lnTo>
                  <a:pt x="935915" y="178065"/>
                </a:lnTo>
                <a:lnTo>
                  <a:pt x="968188" y="121595"/>
                </a:lnTo>
                <a:lnTo>
                  <a:pt x="1000461" y="75029"/>
                </a:lnTo>
                <a:lnTo>
                  <a:pt x="1032734" y="39154"/>
                </a:lnTo>
                <a:lnTo>
                  <a:pt x="1065007" y="14530"/>
                </a:lnTo>
                <a:lnTo>
                  <a:pt x="1097280" y="1463"/>
                </a:lnTo>
                <a:lnTo>
                  <a:pt x="1129552" y="0"/>
                </a:lnTo>
                <a:lnTo>
                  <a:pt x="1161825" y="9918"/>
                </a:lnTo>
                <a:lnTo>
                  <a:pt x="1194098" y="30732"/>
                </a:lnTo>
                <a:lnTo>
                  <a:pt x="1226371" y="61714"/>
                </a:lnTo>
                <a:lnTo>
                  <a:pt x="1258644" y="101911"/>
                </a:lnTo>
                <a:lnTo>
                  <a:pt x="1290917" y="150181"/>
                </a:lnTo>
                <a:lnTo>
                  <a:pt x="1323190" y="205226"/>
                </a:lnTo>
                <a:lnTo>
                  <a:pt x="1355463" y="265638"/>
                </a:lnTo>
                <a:lnTo>
                  <a:pt x="1387736" y="329940"/>
                </a:lnTo>
                <a:lnTo>
                  <a:pt x="1420009" y="396634"/>
                </a:lnTo>
                <a:lnTo>
                  <a:pt x="1452282" y="464243"/>
                </a:lnTo>
                <a:lnTo>
                  <a:pt x="1484555" y="531354"/>
                </a:lnTo>
                <a:lnTo>
                  <a:pt x="1516828" y="596654"/>
                </a:lnTo>
                <a:lnTo>
                  <a:pt x="1549101" y="658960"/>
                </a:lnTo>
                <a:lnTo>
                  <a:pt x="1581374" y="717248"/>
                </a:lnTo>
                <a:lnTo>
                  <a:pt x="1613647" y="770666"/>
                </a:lnTo>
                <a:lnTo>
                  <a:pt x="1645920" y="818553"/>
                </a:lnTo>
                <a:lnTo>
                  <a:pt x="1678192" y="860436"/>
                </a:lnTo>
                <a:lnTo>
                  <a:pt x="1710465" y="896033"/>
                </a:lnTo>
                <a:lnTo>
                  <a:pt x="1742738" y="925241"/>
                </a:lnTo>
                <a:lnTo>
                  <a:pt x="1775011" y="948131"/>
                </a:lnTo>
                <a:lnTo>
                  <a:pt x="1807284" y="964924"/>
                </a:lnTo>
                <a:lnTo>
                  <a:pt x="1839557" y="975975"/>
                </a:lnTo>
                <a:lnTo>
                  <a:pt x="1871830" y="981752"/>
                </a:lnTo>
                <a:lnTo>
                  <a:pt x="1904103" y="982814"/>
                </a:lnTo>
                <a:lnTo>
                  <a:pt x="1936376" y="979787"/>
                </a:lnTo>
                <a:lnTo>
                  <a:pt x="1968649" y="973340"/>
                </a:lnTo>
                <a:lnTo>
                  <a:pt x="2000922" y="964172"/>
                </a:lnTo>
                <a:lnTo>
                  <a:pt x="2033195" y="952982"/>
                </a:lnTo>
                <a:lnTo>
                  <a:pt x="2065468" y="940461"/>
                </a:lnTo>
                <a:lnTo>
                  <a:pt x="2097741" y="927271"/>
                </a:lnTo>
                <a:lnTo>
                  <a:pt x="2130014" y="914035"/>
                </a:lnTo>
                <a:lnTo>
                  <a:pt x="2162287" y="901326"/>
                </a:lnTo>
                <a:lnTo>
                  <a:pt x="2194560" y="889657"/>
                </a:lnTo>
                <a:lnTo>
                  <a:pt x="2226832" y="879477"/>
                </a:lnTo>
                <a:lnTo>
                  <a:pt x="2259105" y="871169"/>
                </a:lnTo>
                <a:lnTo>
                  <a:pt x="2291378" y="865040"/>
                </a:lnTo>
                <a:lnTo>
                  <a:pt x="2323651" y="861331"/>
                </a:lnTo>
                <a:lnTo>
                  <a:pt x="2355924" y="860209"/>
                </a:lnTo>
                <a:lnTo>
                  <a:pt x="2388197" y="861777"/>
                </a:lnTo>
                <a:lnTo>
                  <a:pt x="2420470" y="866069"/>
                </a:lnTo>
                <a:lnTo>
                  <a:pt x="2452743" y="873065"/>
                </a:lnTo>
                <a:lnTo>
                  <a:pt x="2485016" y="882686"/>
                </a:lnTo>
                <a:lnTo>
                  <a:pt x="2517289" y="894807"/>
                </a:lnTo>
                <a:lnTo>
                  <a:pt x="2549562" y="909261"/>
                </a:lnTo>
                <a:lnTo>
                  <a:pt x="2581835" y="925846"/>
                </a:lnTo>
                <a:lnTo>
                  <a:pt x="2614108" y="944333"/>
                </a:lnTo>
                <a:lnTo>
                  <a:pt x="2646381" y="964468"/>
                </a:lnTo>
                <a:lnTo>
                  <a:pt x="2678654" y="985988"/>
                </a:lnTo>
                <a:lnTo>
                  <a:pt x="2710927" y="1008620"/>
                </a:lnTo>
                <a:lnTo>
                  <a:pt x="2743200" y="1032087"/>
                </a:lnTo>
                <a:lnTo>
                  <a:pt x="2775472" y="1056121"/>
                </a:lnTo>
                <a:lnTo>
                  <a:pt x="2807745" y="1080461"/>
                </a:lnTo>
                <a:lnTo>
                  <a:pt x="2840018" y="1104860"/>
                </a:lnTo>
                <a:lnTo>
                  <a:pt x="2872291" y="1129090"/>
                </a:lnTo>
                <a:lnTo>
                  <a:pt x="2904564" y="1152944"/>
                </a:lnTo>
                <a:lnTo>
                  <a:pt x="2936837" y="1176239"/>
                </a:lnTo>
                <a:lnTo>
                  <a:pt x="2969110" y="1198816"/>
                </a:lnTo>
                <a:lnTo>
                  <a:pt x="3001383" y="1220543"/>
                </a:lnTo>
                <a:lnTo>
                  <a:pt x="3033656" y="1241314"/>
                </a:lnTo>
                <a:lnTo>
                  <a:pt x="3065929" y="1261052"/>
                </a:lnTo>
                <a:lnTo>
                  <a:pt x="3098202" y="1279702"/>
                </a:lnTo>
                <a:lnTo>
                  <a:pt x="3130475" y="1297235"/>
                </a:lnTo>
                <a:lnTo>
                  <a:pt x="3162748" y="1313644"/>
                </a:lnTo>
                <a:lnTo>
                  <a:pt x="3195021" y="1328942"/>
                </a:lnTo>
                <a:lnTo>
                  <a:pt x="3227294" y="1343160"/>
                </a:lnTo>
                <a:lnTo>
                  <a:pt x="3259567" y="1356345"/>
                </a:lnTo>
                <a:lnTo>
                  <a:pt x="3291839" y="1368556"/>
                </a:lnTo>
                <a:lnTo>
                  <a:pt x="3324112" y="1379862"/>
                </a:lnTo>
                <a:lnTo>
                  <a:pt x="3356385" y="1390342"/>
                </a:lnTo>
                <a:lnTo>
                  <a:pt x="3388658" y="1400079"/>
                </a:lnTo>
                <a:lnTo>
                  <a:pt x="3420931" y="1409158"/>
                </a:lnTo>
                <a:lnTo>
                  <a:pt x="3453204" y="1417668"/>
                </a:lnTo>
                <a:lnTo>
                  <a:pt x="3485477" y="1425695"/>
                </a:lnTo>
                <a:lnTo>
                  <a:pt x="3517750" y="1433323"/>
                </a:lnTo>
                <a:lnTo>
                  <a:pt x="3550023" y="1440633"/>
                </a:lnTo>
                <a:lnTo>
                  <a:pt x="3582296" y="1447701"/>
                </a:lnTo>
                <a:lnTo>
                  <a:pt x="3614569" y="1454598"/>
                </a:lnTo>
                <a:lnTo>
                  <a:pt x="3646842" y="1461386"/>
                </a:lnTo>
                <a:lnTo>
                  <a:pt x="3679115" y="1468124"/>
                </a:lnTo>
                <a:lnTo>
                  <a:pt x="3711388" y="1474860"/>
                </a:lnTo>
                <a:lnTo>
                  <a:pt x="3743661" y="1481639"/>
                </a:lnTo>
                <a:lnTo>
                  <a:pt x="3775934" y="1488494"/>
                </a:lnTo>
                <a:lnTo>
                  <a:pt x="3808207" y="1495455"/>
                </a:lnTo>
                <a:lnTo>
                  <a:pt x="3840479" y="1502544"/>
                </a:lnTo>
                <a:lnTo>
                  <a:pt x="3872752" y="1509777"/>
                </a:lnTo>
                <a:lnTo>
                  <a:pt x="3905025" y="1517162"/>
                </a:lnTo>
                <a:lnTo>
                  <a:pt x="3937298" y="1524705"/>
                </a:lnTo>
                <a:lnTo>
                  <a:pt x="3969571" y="1532406"/>
                </a:lnTo>
                <a:lnTo>
                  <a:pt x="4001844" y="1540258"/>
                </a:lnTo>
                <a:lnTo>
                  <a:pt x="4034117" y="1548254"/>
                </a:lnTo>
                <a:lnTo>
                  <a:pt x="4066390" y="1556381"/>
                </a:lnTo>
                <a:lnTo>
                  <a:pt x="4098663" y="1564625"/>
                </a:lnTo>
                <a:lnTo>
                  <a:pt x="4130936" y="1572969"/>
                </a:lnTo>
                <a:lnTo>
                  <a:pt x="4163209" y="1581394"/>
                </a:lnTo>
                <a:lnTo>
                  <a:pt x="4195482" y="1589880"/>
                </a:lnTo>
                <a:lnTo>
                  <a:pt x="4227755" y="1598405"/>
                </a:lnTo>
                <a:lnTo>
                  <a:pt x="4260028" y="1606948"/>
                </a:lnTo>
                <a:lnTo>
                  <a:pt x="4292301" y="1615486"/>
                </a:lnTo>
                <a:lnTo>
                  <a:pt x="4324574" y="1623998"/>
                </a:lnTo>
                <a:lnTo>
                  <a:pt x="4356847" y="1632462"/>
                </a:lnTo>
                <a:lnTo>
                  <a:pt x="4389120" y="1640857"/>
                </a:lnTo>
                <a:lnTo>
                  <a:pt x="4421392" y="1649162"/>
                </a:lnTo>
                <a:lnTo>
                  <a:pt x="4453665" y="1657358"/>
                </a:lnTo>
                <a:lnTo>
                  <a:pt x="4485938" y="1665426"/>
                </a:lnTo>
                <a:lnTo>
                  <a:pt x="4518211" y="1673349"/>
                </a:lnTo>
                <a:lnTo>
                  <a:pt x="4550484" y="1681111"/>
                </a:lnTo>
                <a:lnTo>
                  <a:pt x="4582757" y="1688697"/>
                </a:lnTo>
                <a:lnTo>
                  <a:pt x="4615030" y="1696094"/>
                </a:lnTo>
                <a:lnTo>
                  <a:pt x="4647303" y="1703291"/>
                </a:lnTo>
                <a:lnTo>
                  <a:pt x="4679576" y="1710276"/>
                </a:lnTo>
                <a:lnTo>
                  <a:pt x="4711849" y="1717042"/>
                </a:lnTo>
                <a:lnTo>
                  <a:pt x="4744122" y="1723580"/>
                </a:lnTo>
                <a:lnTo>
                  <a:pt x="4776395" y="1729885"/>
                </a:lnTo>
                <a:lnTo>
                  <a:pt x="4808668" y="1735952"/>
                </a:lnTo>
                <a:lnTo>
                  <a:pt x="4840941" y="1741778"/>
                </a:lnTo>
                <a:lnTo>
                  <a:pt x="4873214" y="1747360"/>
                </a:lnTo>
                <a:lnTo>
                  <a:pt x="4905487" y="1752698"/>
                </a:lnTo>
                <a:lnTo>
                  <a:pt x="4937760" y="1757792"/>
                </a:lnTo>
                <a:lnTo>
                  <a:pt x="4970032" y="1762643"/>
                </a:lnTo>
                <a:lnTo>
                  <a:pt x="5002305" y="1767254"/>
                </a:lnTo>
                <a:lnTo>
                  <a:pt x="5034578" y="1771628"/>
                </a:lnTo>
                <a:lnTo>
                  <a:pt x="5066851" y="1775769"/>
                </a:lnTo>
                <a:lnTo>
                  <a:pt x="5099124" y="1779681"/>
                </a:lnTo>
                <a:lnTo>
                  <a:pt x="5131397" y="1783371"/>
                </a:lnTo>
                <a:lnTo>
                  <a:pt x="5163670" y="1786844"/>
                </a:lnTo>
                <a:lnTo>
                  <a:pt x="5195943" y="1790107"/>
                </a:lnTo>
                <a:lnTo>
                  <a:pt x="5228216" y="1793167"/>
                </a:lnTo>
                <a:lnTo>
                  <a:pt x="5260489" y="1796031"/>
                </a:lnTo>
                <a:lnTo>
                  <a:pt x="5292762" y="1798706"/>
                </a:lnTo>
                <a:lnTo>
                  <a:pt x="5325035" y="1801200"/>
                </a:lnTo>
                <a:lnTo>
                  <a:pt x="5357308" y="1803522"/>
                </a:lnTo>
                <a:lnTo>
                  <a:pt x="5389581" y="1805679"/>
                </a:lnTo>
                <a:lnTo>
                  <a:pt x="5421854" y="1807680"/>
                </a:lnTo>
                <a:lnTo>
                  <a:pt x="5454127" y="1809531"/>
                </a:lnTo>
                <a:lnTo>
                  <a:pt x="5486400" y="1811242"/>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85800" y="4892040"/>
            <a:ext cx="548640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799539" y="2788920"/>
            <a:ext cx="0" cy="182724"/>
          </a:xfrm>
          <a:prstGeom prst="line">
            <a:avLst/>
          </a:prstGeom>
          <a:ln w="15875">
            <a:solidFill>
              <a:srgbClr val="0072B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44952" y="2788920"/>
            <a:ext cx="0" cy="1043693"/>
          </a:xfrm>
          <a:prstGeom prst="line">
            <a:avLst/>
          </a:prstGeom>
          <a:ln w="15875">
            <a:solidFill>
              <a:srgbClr val="0072B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799539" y="2843784"/>
            <a:ext cx="1245413" cy="0"/>
          </a:xfrm>
          <a:prstGeom prst="line">
            <a:avLst/>
          </a:prstGeom>
          <a:ln w="28575">
            <a:solidFill>
              <a:srgbClr val="0072B2"/>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782165" y="3017520"/>
            <a:ext cx="1280160" cy="365760"/>
          </a:xfrm>
          <a:prstGeom prst="rect">
            <a:avLst/>
          </a:prstGeom>
          <a:noFill/>
        </p:spPr>
        <p:txBody>
          <a:bodyPr wrap="square" lIns="18288" rIns="18288" tIns="0" bIns="0" anchor="t">
            <a:noAutofit/>
          </a:bodyPr>
          <a:lstStyle/>
          <a:p>
            <a:pPr algn="ctr">
              <a:lnSpc>
                <a:spcPct val="100000"/>
              </a:lnSpc>
              <a:spcBef>
                <a:spcPts val="0"/>
              </a:spcBef>
              <a:spcAft>
                <a:spcPts val="0"/>
              </a:spcAft>
            </a:pPr>
            <a:r>
              <a:rPr sz="2400" b="1" i="0">
                <a:solidFill>
                  <a:srgbClr val="0072B2"/>
                </a:solidFill>
                <a:latin typeface="メイリオ"/>
                <a:ea typeface="メイリオ"/>
                <a:cs typeface="メイリオ"/>
              </a:rPr>
              <a:t>ΔT</a:t>
            </a:r>
          </a:p>
        </p:txBody>
      </p:sp>
      <p:sp>
        <p:nvSpPr>
          <p:cNvPr id="19" name="TextBox 18"/>
          <p:cNvSpPr txBox="1"/>
          <p:nvPr/>
        </p:nvSpPr>
        <p:spPr>
          <a:xfrm>
            <a:off x="6537960" y="3063240"/>
            <a:ext cx="4937760" cy="2103120"/>
          </a:xfrm>
          <a:prstGeom prst="rect">
            <a:avLst/>
          </a:prstGeom>
          <a:noFill/>
        </p:spPr>
        <p:txBody>
          <a:bodyPr wrap="square" lIns="18288" rIns="18288" tIns="0" bIns="0" anchor="t">
            <a:noAutofit/>
          </a:bodyPr>
          <a:lstStyle/>
          <a:p>
            <a:pPr algn="l">
              <a:lnSpc>
                <a:spcPct val="100000"/>
              </a:lnSpc>
              <a:spcBef>
                <a:spcPts val="0"/>
              </a:spcBef>
              <a:spcAft>
                <a:spcPts val="1000"/>
              </a:spcAft>
            </a:pPr>
            <a:r>
              <a:rPr sz="2600" b="1" i="0">
                <a:solidFill>
                  <a:srgbClr val="0072B2"/>
                </a:solidFill>
                <a:latin typeface="メイリオ"/>
                <a:ea typeface="メイリオ"/>
                <a:cs typeface="メイリオ"/>
              </a:rPr>
              <a:t>ΔT ＝ 反射波の往復時間</a:t>
            </a:r>
          </a:p>
          <a:p>
            <a:pPr algn="l">
              <a:lnSpc>
                <a:spcPct val="100000"/>
              </a:lnSpc>
              <a:spcBef>
                <a:spcPts val="0"/>
              </a:spcBef>
              <a:spcAft>
                <a:spcPts val="1000"/>
              </a:spcAft>
            </a:pPr>
            <a:r>
              <a:rPr sz="2400" b="0" i="0">
                <a:solidFill>
                  <a:srgbClr val="222222"/>
                </a:solidFill>
                <a:latin typeface="メイリオ"/>
                <a:ea typeface="メイリオ"/>
                <a:cs typeface="メイリオ"/>
              </a:rPr>
              <a:t>往復距離 ≒ 身長に比例</a:t>
            </a:r>
          </a:p>
          <a:p>
            <a:pPr algn="l">
              <a:lnSpc>
                <a:spcPct val="100000"/>
              </a:lnSpc>
              <a:spcBef>
                <a:spcPts val="0"/>
              </a:spcBef>
              <a:spcAft>
                <a:spcPts val="1000"/>
              </a:spcAft>
            </a:pPr>
            <a:r>
              <a:rPr sz="2400" b="0" i="0">
                <a:solidFill>
                  <a:srgbClr val="222222"/>
                </a:solidFill>
                <a:latin typeface="メイリオ"/>
                <a:ea typeface="メイリオ"/>
                <a:cs typeface="メイリオ"/>
              </a:rPr>
              <a:t>距離 ÷ 時間 ＝ 速さ</a:t>
            </a:r>
          </a:p>
          <a:p>
            <a:pPr algn="l">
              <a:lnSpc>
                <a:spcPct val="100000"/>
              </a:lnSpc>
              <a:spcBef>
                <a:spcPts val="0"/>
              </a:spcBef>
              <a:spcAft>
                <a:spcPts val="1000"/>
              </a:spcAft>
            </a:pPr>
            <a:r>
              <a:rPr sz="2400" b="0" i="0">
                <a:solidFill>
                  <a:srgbClr val="222222"/>
                </a:solidFill>
                <a:latin typeface="メイリオ"/>
                <a:ea typeface="メイリオ"/>
                <a:cs typeface="メイリオ"/>
              </a:rPr>
              <a:t>硬いほど速く戻る → SI 高値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RI ― 高さの指標</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6</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Chowienczyk PJ, et al. J Am Coll Cardiol 1999;34:2007-14（PMID 10588217）</a:t>
            </a:r>
          </a:p>
        </p:txBody>
      </p:sp>
      <p:sp>
        <p:nvSpPr>
          <p:cNvPr id="12" name="Rounded Rectangle 11"/>
          <p:cNvSpPr/>
          <p:nvPr/>
        </p:nvSpPr>
        <p:spPr>
          <a:xfrm>
            <a:off x="640080" y="1783080"/>
            <a:ext cx="10881360" cy="9144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3200" b="1" i="0">
                <a:solidFill>
                  <a:srgbClr val="222222"/>
                </a:solidFill>
                <a:latin typeface="メイリオ"/>
                <a:ea typeface="メイリオ"/>
                <a:cs typeface="メイリオ"/>
              </a:rPr>
              <a:t>RI ＝ P</a:t>
            </a:r>
            <a:r>
              <a:rPr sz="3200" b="1" i="0" baseline="-25000">
                <a:solidFill>
                  <a:srgbClr val="222222"/>
                </a:solidFill>
                <a:latin typeface="メイリオ"/>
                <a:ea typeface="メイリオ"/>
                <a:cs typeface="メイリオ"/>
              </a:rPr>
              <a:t>2</a:t>
            </a:r>
            <a:r>
              <a:rPr sz="3200" b="1" i="0">
                <a:solidFill>
                  <a:srgbClr val="222222"/>
                </a:solidFill>
                <a:latin typeface="メイリオ"/>
                <a:ea typeface="メイリオ"/>
                <a:cs typeface="メイリオ"/>
              </a:rPr>
              <a:t> ÷ P</a:t>
            </a:r>
            <a:r>
              <a:rPr sz="3200" b="1" i="0" baseline="-25000">
                <a:solidFill>
                  <a:srgbClr val="222222"/>
                </a:solidFill>
                <a:latin typeface="メイリオ"/>
                <a:ea typeface="メイリオ"/>
                <a:cs typeface="メイリオ"/>
              </a:rPr>
              <a:t>1</a:t>
            </a:r>
            <a:r>
              <a:rPr sz="3200" b="1" i="0">
                <a:solidFill>
                  <a:srgbClr val="222222"/>
                </a:solidFill>
                <a:latin typeface="メイリオ"/>
                <a:ea typeface="メイリオ"/>
                <a:cs typeface="メイリオ"/>
              </a:rPr>
              <a:t> × 100　［%］</a:t>
            </a:r>
          </a:p>
        </p:txBody>
      </p:sp>
      <p:sp>
        <p:nvSpPr>
          <p:cNvPr id="13" name="Freeform 12"/>
          <p:cNvSpPr/>
          <p:nvPr/>
        </p:nvSpPr>
        <p:spPr>
          <a:xfrm>
            <a:off x="685800" y="3063809"/>
            <a:ext cx="5486400" cy="1811242"/>
          </a:xfrm>
          <a:custGeom>
            <a:avLst/>
            <a:gdLst/>
            <a:ahLst/>
            <a:cxnLst/>
            <a:rect l="l" t="t" r="r" b="b"/>
            <a:pathLst>
              <a:path w="5486400" h="1811242">
                <a:moveTo>
                  <a:pt x="0" y="1798122"/>
                </a:moveTo>
                <a:lnTo>
                  <a:pt x="32272" y="1790090"/>
                </a:lnTo>
                <a:lnTo>
                  <a:pt x="64545" y="1780254"/>
                </a:lnTo>
                <a:lnTo>
                  <a:pt x="96818" y="1768305"/>
                </a:lnTo>
                <a:lnTo>
                  <a:pt x="129091" y="1753905"/>
                </a:lnTo>
                <a:lnTo>
                  <a:pt x="161364" y="1736691"/>
                </a:lnTo>
                <a:lnTo>
                  <a:pt x="193637" y="1716283"/>
                </a:lnTo>
                <a:lnTo>
                  <a:pt x="225910" y="1692286"/>
                </a:lnTo>
                <a:lnTo>
                  <a:pt x="258183" y="1664305"/>
                </a:lnTo>
                <a:lnTo>
                  <a:pt x="290456" y="1631951"/>
                </a:lnTo>
                <a:lnTo>
                  <a:pt x="322729" y="1594861"/>
                </a:lnTo>
                <a:lnTo>
                  <a:pt x="355002" y="1552709"/>
                </a:lnTo>
                <a:lnTo>
                  <a:pt x="387275" y="1505227"/>
                </a:lnTo>
                <a:lnTo>
                  <a:pt x="419548" y="1452217"/>
                </a:lnTo>
                <a:lnTo>
                  <a:pt x="451821" y="1393577"/>
                </a:lnTo>
                <a:lnTo>
                  <a:pt x="484094" y="1329314"/>
                </a:lnTo>
                <a:lnTo>
                  <a:pt x="516367" y="1259561"/>
                </a:lnTo>
                <a:lnTo>
                  <a:pt x="548640" y="1184593"/>
                </a:lnTo>
                <a:lnTo>
                  <a:pt x="580912" y="1104838"/>
                </a:lnTo>
                <a:lnTo>
                  <a:pt x="613185" y="1020883"/>
                </a:lnTo>
                <a:lnTo>
                  <a:pt x="645458" y="933476"/>
                </a:lnTo>
                <a:lnTo>
                  <a:pt x="677731" y="843520"/>
                </a:lnTo>
                <a:lnTo>
                  <a:pt x="710004" y="752066"/>
                </a:lnTo>
                <a:lnTo>
                  <a:pt x="742277" y="660293"/>
                </a:lnTo>
                <a:lnTo>
                  <a:pt x="774550" y="569484"/>
                </a:lnTo>
                <a:lnTo>
                  <a:pt x="806823" y="480999"/>
                </a:lnTo>
                <a:lnTo>
                  <a:pt x="839096" y="396237"/>
                </a:lnTo>
                <a:lnTo>
                  <a:pt x="871369" y="316601"/>
                </a:lnTo>
                <a:lnTo>
                  <a:pt x="903642" y="243451"/>
                </a:lnTo>
                <a:lnTo>
                  <a:pt x="935915" y="178065"/>
                </a:lnTo>
                <a:lnTo>
                  <a:pt x="968188" y="121595"/>
                </a:lnTo>
                <a:lnTo>
                  <a:pt x="1000461" y="75029"/>
                </a:lnTo>
                <a:lnTo>
                  <a:pt x="1032734" y="39154"/>
                </a:lnTo>
                <a:lnTo>
                  <a:pt x="1065007" y="14530"/>
                </a:lnTo>
                <a:lnTo>
                  <a:pt x="1097280" y="1463"/>
                </a:lnTo>
                <a:lnTo>
                  <a:pt x="1129552" y="0"/>
                </a:lnTo>
                <a:lnTo>
                  <a:pt x="1161825" y="9918"/>
                </a:lnTo>
                <a:lnTo>
                  <a:pt x="1194098" y="30732"/>
                </a:lnTo>
                <a:lnTo>
                  <a:pt x="1226371" y="61714"/>
                </a:lnTo>
                <a:lnTo>
                  <a:pt x="1258644" y="101911"/>
                </a:lnTo>
                <a:lnTo>
                  <a:pt x="1290917" y="150181"/>
                </a:lnTo>
                <a:lnTo>
                  <a:pt x="1323190" y="205226"/>
                </a:lnTo>
                <a:lnTo>
                  <a:pt x="1355463" y="265638"/>
                </a:lnTo>
                <a:lnTo>
                  <a:pt x="1387736" y="329940"/>
                </a:lnTo>
                <a:lnTo>
                  <a:pt x="1420009" y="396634"/>
                </a:lnTo>
                <a:lnTo>
                  <a:pt x="1452282" y="464243"/>
                </a:lnTo>
                <a:lnTo>
                  <a:pt x="1484555" y="531354"/>
                </a:lnTo>
                <a:lnTo>
                  <a:pt x="1516828" y="596654"/>
                </a:lnTo>
                <a:lnTo>
                  <a:pt x="1549101" y="658960"/>
                </a:lnTo>
                <a:lnTo>
                  <a:pt x="1581374" y="717248"/>
                </a:lnTo>
                <a:lnTo>
                  <a:pt x="1613647" y="770666"/>
                </a:lnTo>
                <a:lnTo>
                  <a:pt x="1645920" y="818553"/>
                </a:lnTo>
                <a:lnTo>
                  <a:pt x="1678192" y="860436"/>
                </a:lnTo>
                <a:lnTo>
                  <a:pt x="1710465" y="896033"/>
                </a:lnTo>
                <a:lnTo>
                  <a:pt x="1742738" y="925241"/>
                </a:lnTo>
                <a:lnTo>
                  <a:pt x="1775011" y="948131"/>
                </a:lnTo>
                <a:lnTo>
                  <a:pt x="1807284" y="964924"/>
                </a:lnTo>
                <a:lnTo>
                  <a:pt x="1839557" y="975975"/>
                </a:lnTo>
                <a:lnTo>
                  <a:pt x="1871830" y="981752"/>
                </a:lnTo>
                <a:lnTo>
                  <a:pt x="1904103" y="982814"/>
                </a:lnTo>
                <a:lnTo>
                  <a:pt x="1936376" y="979787"/>
                </a:lnTo>
                <a:lnTo>
                  <a:pt x="1968649" y="973340"/>
                </a:lnTo>
                <a:lnTo>
                  <a:pt x="2000922" y="964172"/>
                </a:lnTo>
                <a:lnTo>
                  <a:pt x="2033195" y="952982"/>
                </a:lnTo>
                <a:lnTo>
                  <a:pt x="2065468" y="940461"/>
                </a:lnTo>
                <a:lnTo>
                  <a:pt x="2097741" y="927271"/>
                </a:lnTo>
                <a:lnTo>
                  <a:pt x="2130014" y="914035"/>
                </a:lnTo>
                <a:lnTo>
                  <a:pt x="2162287" y="901326"/>
                </a:lnTo>
                <a:lnTo>
                  <a:pt x="2194560" y="889657"/>
                </a:lnTo>
                <a:lnTo>
                  <a:pt x="2226832" y="879477"/>
                </a:lnTo>
                <a:lnTo>
                  <a:pt x="2259105" y="871169"/>
                </a:lnTo>
                <a:lnTo>
                  <a:pt x="2291378" y="865040"/>
                </a:lnTo>
                <a:lnTo>
                  <a:pt x="2323651" y="861331"/>
                </a:lnTo>
                <a:lnTo>
                  <a:pt x="2355924" y="860209"/>
                </a:lnTo>
                <a:lnTo>
                  <a:pt x="2388197" y="861777"/>
                </a:lnTo>
                <a:lnTo>
                  <a:pt x="2420470" y="866069"/>
                </a:lnTo>
                <a:lnTo>
                  <a:pt x="2452743" y="873065"/>
                </a:lnTo>
                <a:lnTo>
                  <a:pt x="2485016" y="882686"/>
                </a:lnTo>
                <a:lnTo>
                  <a:pt x="2517289" y="894807"/>
                </a:lnTo>
                <a:lnTo>
                  <a:pt x="2549562" y="909261"/>
                </a:lnTo>
                <a:lnTo>
                  <a:pt x="2581835" y="925846"/>
                </a:lnTo>
                <a:lnTo>
                  <a:pt x="2614108" y="944333"/>
                </a:lnTo>
                <a:lnTo>
                  <a:pt x="2646381" y="964468"/>
                </a:lnTo>
                <a:lnTo>
                  <a:pt x="2678654" y="985988"/>
                </a:lnTo>
                <a:lnTo>
                  <a:pt x="2710927" y="1008620"/>
                </a:lnTo>
                <a:lnTo>
                  <a:pt x="2743200" y="1032087"/>
                </a:lnTo>
                <a:lnTo>
                  <a:pt x="2775472" y="1056121"/>
                </a:lnTo>
                <a:lnTo>
                  <a:pt x="2807745" y="1080461"/>
                </a:lnTo>
                <a:lnTo>
                  <a:pt x="2840018" y="1104860"/>
                </a:lnTo>
                <a:lnTo>
                  <a:pt x="2872291" y="1129090"/>
                </a:lnTo>
                <a:lnTo>
                  <a:pt x="2904564" y="1152944"/>
                </a:lnTo>
                <a:lnTo>
                  <a:pt x="2936837" y="1176239"/>
                </a:lnTo>
                <a:lnTo>
                  <a:pt x="2969110" y="1198816"/>
                </a:lnTo>
                <a:lnTo>
                  <a:pt x="3001383" y="1220543"/>
                </a:lnTo>
                <a:lnTo>
                  <a:pt x="3033656" y="1241314"/>
                </a:lnTo>
                <a:lnTo>
                  <a:pt x="3065929" y="1261052"/>
                </a:lnTo>
                <a:lnTo>
                  <a:pt x="3098202" y="1279702"/>
                </a:lnTo>
                <a:lnTo>
                  <a:pt x="3130475" y="1297235"/>
                </a:lnTo>
                <a:lnTo>
                  <a:pt x="3162748" y="1313644"/>
                </a:lnTo>
                <a:lnTo>
                  <a:pt x="3195021" y="1328942"/>
                </a:lnTo>
                <a:lnTo>
                  <a:pt x="3227294" y="1343160"/>
                </a:lnTo>
                <a:lnTo>
                  <a:pt x="3259567" y="1356345"/>
                </a:lnTo>
                <a:lnTo>
                  <a:pt x="3291839" y="1368556"/>
                </a:lnTo>
                <a:lnTo>
                  <a:pt x="3324112" y="1379862"/>
                </a:lnTo>
                <a:lnTo>
                  <a:pt x="3356385" y="1390342"/>
                </a:lnTo>
                <a:lnTo>
                  <a:pt x="3388658" y="1400079"/>
                </a:lnTo>
                <a:lnTo>
                  <a:pt x="3420931" y="1409158"/>
                </a:lnTo>
                <a:lnTo>
                  <a:pt x="3453204" y="1417668"/>
                </a:lnTo>
                <a:lnTo>
                  <a:pt x="3485477" y="1425695"/>
                </a:lnTo>
                <a:lnTo>
                  <a:pt x="3517750" y="1433323"/>
                </a:lnTo>
                <a:lnTo>
                  <a:pt x="3550023" y="1440633"/>
                </a:lnTo>
                <a:lnTo>
                  <a:pt x="3582296" y="1447701"/>
                </a:lnTo>
                <a:lnTo>
                  <a:pt x="3614569" y="1454598"/>
                </a:lnTo>
                <a:lnTo>
                  <a:pt x="3646842" y="1461386"/>
                </a:lnTo>
                <a:lnTo>
                  <a:pt x="3679115" y="1468124"/>
                </a:lnTo>
                <a:lnTo>
                  <a:pt x="3711388" y="1474860"/>
                </a:lnTo>
                <a:lnTo>
                  <a:pt x="3743661" y="1481639"/>
                </a:lnTo>
                <a:lnTo>
                  <a:pt x="3775934" y="1488494"/>
                </a:lnTo>
                <a:lnTo>
                  <a:pt x="3808207" y="1495455"/>
                </a:lnTo>
                <a:lnTo>
                  <a:pt x="3840479" y="1502544"/>
                </a:lnTo>
                <a:lnTo>
                  <a:pt x="3872752" y="1509777"/>
                </a:lnTo>
                <a:lnTo>
                  <a:pt x="3905025" y="1517162"/>
                </a:lnTo>
                <a:lnTo>
                  <a:pt x="3937298" y="1524705"/>
                </a:lnTo>
                <a:lnTo>
                  <a:pt x="3969571" y="1532406"/>
                </a:lnTo>
                <a:lnTo>
                  <a:pt x="4001844" y="1540258"/>
                </a:lnTo>
                <a:lnTo>
                  <a:pt x="4034117" y="1548254"/>
                </a:lnTo>
                <a:lnTo>
                  <a:pt x="4066390" y="1556381"/>
                </a:lnTo>
                <a:lnTo>
                  <a:pt x="4098663" y="1564625"/>
                </a:lnTo>
                <a:lnTo>
                  <a:pt x="4130936" y="1572969"/>
                </a:lnTo>
                <a:lnTo>
                  <a:pt x="4163209" y="1581394"/>
                </a:lnTo>
                <a:lnTo>
                  <a:pt x="4195482" y="1589880"/>
                </a:lnTo>
                <a:lnTo>
                  <a:pt x="4227755" y="1598405"/>
                </a:lnTo>
                <a:lnTo>
                  <a:pt x="4260028" y="1606948"/>
                </a:lnTo>
                <a:lnTo>
                  <a:pt x="4292301" y="1615486"/>
                </a:lnTo>
                <a:lnTo>
                  <a:pt x="4324574" y="1623998"/>
                </a:lnTo>
                <a:lnTo>
                  <a:pt x="4356847" y="1632462"/>
                </a:lnTo>
                <a:lnTo>
                  <a:pt x="4389120" y="1640857"/>
                </a:lnTo>
                <a:lnTo>
                  <a:pt x="4421392" y="1649162"/>
                </a:lnTo>
                <a:lnTo>
                  <a:pt x="4453665" y="1657358"/>
                </a:lnTo>
                <a:lnTo>
                  <a:pt x="4485938" y="1665426"/>
                </a:lnTo>
                <a:lnTo>
                  <a:pt x="4518211" y="1673349"/>
                </a:lnTo>
                <a:lnTo>
                  <a:pt x="4550484" y="1681111"/>
                </a:lnTo>
                <a:lnTo>
                  <a:pt x="4582757" y="1688697"/>
                </a:lnTo>
                <a:lnTo>
                  <a:pt x="4615030" y="1696094"/>
                </a:lnTo>
                <a:lnTo>
                  <a:pt x="4647303" y="1703291"/>
                </a:lnTo>
                <a:lnTo>
                  <a:pt x="4679576" y="1710276"/>
                </a:lnTo>
                <a:lnTo>
                  <a:pt x="4711849" y="1717042"/>
                </a:lnTo>
                <a:lnTo>
                  <a:pt x="4744122" y="1723580"/>
                </a:lnTo>
                <a:lnTo>
                  <a:pt x="4776395" y="1729885"/>
                </a:lnTo>
                <a:lnTo>
                  <a:pt x="4808668" y="1735952"/>
                </a:lnTo>
                <a:lnTo>
                  <a:pt x="4840941" y="1741778"/>
                </a:lnTo>
                <a:lnTo>
                  <a:pt x="4873214" y="1747360"/>
                </a:lnTo>
                <a:lnTo>
                  <a:pt x="4905487" y="1752698"/>
                </a:lnTo>
                <a:lnTo>
                  <a:pt x="4937760" y="1757792"/>
                </a:lnTo>
                <a:lnTo>
                  <a:pt x="4970032" y="1762643"/>
                </a:lnTo>
                <a:lnTo>
                  <a:pt x="5002305" y="1767254"/>
                </a:lnTo>
                <a:lnTo>
                  <a:pt x="5034578" y="1771628"/>
                </a:lnTo>
                <a:lnTo>
                  <a:pt x="5066851" y="1775769"/>
                </a:lnTo>
                <a:lnTo>
                  <a:pt x="5099124" y="1779681"/>
                </a:lnTo>
                <a:lnTo>
                  <a:pt x="5131397" y="1783371"/>
                </a:lnTo>
                <a:lnTo>
                  <a:pt x="5163670" y="1786844"/>
                </a:lnTo>
                <a:lnTo>
                  <a:pt x="5195943" y="1790107"/>
                </a:lnTo>
                <a:lnTo>
                  <a:pt x="5228216" y="1793167"/>
                </a:lnTo>
                <a:lnTo>
                  <a:pt x="5260489" y="1796031"/>
                </a:lnTo>
                <a:lnTo>
                  <a:pt x="5292762" y="1798706"/>
                </a:lnTo>
                <a:lnTo>
                  <a:pt x="5325035" y="1801200"/>
                </a:lnTo>
                <a:lnTo>
                  <a:pt x="5357308" y="1803522"/>
                </a:lnTo>
                <a:lnTo>
                  <a:pt x="5389581" y="1805679"/>
                </a:lnTo>
                <a:lnTo>
                  <a:pt x="5421854" y="1807680"/>
                </a:lnTo>
                <a:lnTo>
                  <a:pt x="5454127" y="1809531"/>
                </a:lnTo>
                <a:lnTo>
                  <a:pt x="5486400" y="1811242"/>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85800" y="4892040"/>
            <a:ext cx="548640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99539" y="3063084"/>
            <a:ext cx="0" cy="1828956"/>
          </a:xfrm>
          <a:prstGeom prst="line">
            <a:avLst/>
          </a:prstGeom>
          <a:ln w="28575">
            <a:solidFill>
              <a:srgbClr val="D55E0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044952" y="3924053"/>
            <a:ext cx="0" cy="967987"/>
          </a:xfrm>
          <a:prstGeom prst="line">
            <a:avLst/>
          </a:prstGeom>
          <a:ln w="28575">
            <a:solidFill>
              <a:srgbClr val="D55E0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32611" y="4928616"/>
            <a:ext cx="1097280" cy="365760"/>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D55E00"/>
                </a:solidFill>
                <a:latin typeface="メイリオ"/>
                <a:ea typeface="メイリオ"/>
                <a:cs typeface="メイリオ"/>
              </a:rPr>
              <a:t>P</a:t>
            </a:r>
            <a:r>
              <a:rPr sz="2200" b="1" i="0" baseline="-25000">
                <a:solidFill>
                  <a:srgbClr val="D55E00"/>
                </a:solidFill>
                <a:latin typeface="メイリオ"/>
                <a:ea typeface="メイリオ"/>
                <a:cs typeface="メイリオ"/>
              </a:rPr>
              <a:t>1</a:t>
            </a:r>
          </a:p>
        </p:txBody>
      </p:sp>
      <p:sp>
        <p:nvSpPr>
          <p:cNvPr id="18" name="TextBox 17"/>
          <p:cNvSpPr txBox="1"/>
          <p:nvPr/>
        </p:nvSpPr>
        <p:spPr>
          <a:xfrm>
            <a:off x="2999232" y="4928616"/>
            <a:ext cx="1097280" cy="365760"/>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D55E00"/>
                </a:solidFill>
                <a:latin typeface="メイリオ"/>
                <a:ea typeface="メイリオ"/>
                <a:cs typeface="メイリオ"/>
              </a:rPr>
              <a:t>P</a:t>
            </a:r>
            <a:r>
              <a:rPr sz="2200" b="1" i="0" baseline="-25000">
                <a:solidFill>
                  <a:srgbClr val="D55E00"/>
                </a:solidFill>
                <a:latin typeface="メイリオ"/>
                <a:ea typeface="メイリオ"/>
                <a:cs typeface="メイリオ"/>
              </a:rPr>
              <a:t>2</a:t>
            </a:r>
          </a:p>
        </p:txBody>
      </p:sp>
      <p:sp>
        <p:nvSpPr>
          <p:cNvPr id="19" name="TextBox 18"/>
          <p:cNvSpPr txBox="1"/>
          <p:nvPr/>
        </p:nvSpPr>
        <p:spPr>
          <a:xfrm>
            <a:off x="6537960" y="3063240"/>
            <a:ext cx="4937760" cy="2103120"/>
          </a:xfrm>
          <a:prstGeom prst="rect">
            <a:avLst/>
          </a:prstGeom>
          <a:noFill/>
        </p:spPr>
        <p:txBody>
          <a:bodyPr wrap="square" lIns="18288" rIns="18288" tIns="0" bIns="0" anchor="t">
            <a:noAutofit/>
          </a:bodyPr>
          <a:lstStyle/>
          <a:p>
            <a:pPr algn="l">
              <a:lnSpc>
                <a:spcPct val="100000"/>
              </a:lnSpc>
              <a:spcBef>
                <a:spcPts val="0"/>
              </a:spcBef>
              <a:spcAft>
                <a:spcPts val="1000"/>
              </a:spcAft>
            </a:pPr>
            <a:r>
              <a:rPr sz="2600" b="1" i="0">
                <a:solidFill>
                  <a:srgbClr val="D55E00"/>
                </a:solidFill>
                <a:latin typeface="メイリオ"/>
                <a:ea typeface="メイリオ"/>
                <a:cs typeface="メイリオ"/>
              </a:rPr>
              <a:t>反射がどれだけ大きいか</a:t>
            </a:r>
          </a:p>
          <a:p>
            <a:pPr algn="l">
              <a:lnSpc>
                <a:spcPct val="100000"/>
              </a:lnSpc>
              <a:spcBef>
                <a:spcPts val="0"/>
              </a:spcBef>
              <a:spcAft>
                <a:spcPts val="1000"/>
              </a:spcAft>
            </a:pPr>
            <a:r>
              <a:rPr sz="2400" b="0" i="0">
                <a:solidFill>
                  <a:srgbClr val="222222"/>
                </a:solidFill>
                <a:latin typeface="メイリオ"/>
                <a:ea typeface="メイリオ"/>
                <a:cs typeface="メイリオ"/>
              </a:rPr>
              <a:t>末梢の小血管トーヌスを反映</a:t>
            </a:r>
          </a:p>
          <a:p>
            <a:pPr algn="l">
              <a:lnSpc>
                <a:spcPct val="100000"/>
              </a:lnSpc>
              <a:spcBef>
                <a:spcPts val="0"/>
              </a:spcBef>
              <a:spcAft>
                <a:spcPts val="1000"/>
              </a:spcAft>
            </a:pPr>
            <a:r>
              <a:rPr sz="2400" b="0" i="0">
                <a:solidFill>
                  <a:srgbClr val="222222"/>
                </a:solidFill>
                <a:latin typeface="メイリオ"/>
                <a:ea typeface="メイリオ"/>
                <a:cs typeface="メイリオ"/>
              </a:rPr>
              <a:t>血管拡張薬で RI は低下する</a:t>
            </a:r>
          </a:p>
          <a:p>
            <a:pPr algn="l">
              <a:lnSpc>
                <a:spcPct val="100000"/>
              </a:lnSpc>
              <a:spcBef>
                <a:spcPts val="0"/>
              </a:spcBef>
              <a:spcAft>
                <a:spcPts val="1000"/>
              </a:spcAft>
            </a:pPr>
            <a:r>
              <a:rPr sz="2400" b="0" i="0">
                <a:solidFill>
                  <a:srgbClr val="222222"/>
                </a:solidFill>
                <a:latin typeface="メイリオ"/>
                <a:ea typeface="メイリオ"/>
                <a:cs typeface="メイリオ"/>
              </a:rPr>
              <a:t>同一波形内の比 → AGC に強い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SIとRIの分担</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7</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§5 ／ Millasseau 2002・Chowienczyk 1999</a:t>
            </a:r>
          </a:p>
        </p:txBody>
      </p:sp>
      <p:sp>
        <p:nvSpPr>
          <p:cNvPr id="12" name="Rounded Rectangle 11"/>
          <p:cNvSpPr/>
          <p:nvPr/>
        </p:nvSpPr>
        <p:spPr>
          <a:xfrm>
            <a:off x="640080" y="1783080"/>
            <a:ext cx="5303520" cy="251460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800" b="1" i="0">
                <a:solidFill>
                  <a:srgbClr val="0072B2"/>
                </a:solidFill>
                <a:latin typeface="メイリオ"/>
                <a:ea typeface="メイリオ"/>
                <a:cs typeface="メイリオ"/>
              </a:rPr>
              <a:t>SI（時間の軸）</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身長 ÷ ΔT</a:t>
            </a:r>
          </a:p>
          <a:p>
            <a:pPr algn="l">
              <a:lnSpc>
                <a:spcPct val="100000"/>
              </a:lnSpc>
              <a:spcBef>
                <a:spcPts val="0"/>
              </a:spcBef>
              <a:spcAft>
                <a:spcPts val="800"/>
              </a:spcAft>
            </a:pPr>
            <a:r>
              <a:rPr sz="2400" b="0" i="0">
                <a:solidFill>
                  <a:srgbClr val="222222"/>
                </a:solidFill>
                <a:latin typeface="メイリオ"/>
                <a:ea typeface="メイリオ"/>
                <a:cs typeface="メイリオ"/>
              </a:rPr>
              <a:t>大動脈のスティフネス</a:t>
            </a:r>
          </a:p>
          <a:p>
            <a:pPr algn="l">
              <a:lnSpc>
                <a:spcPct val="100000"/>
              </a:lnSpc>
              <a:spcBef>
                <a:spcPts val="0"/>
              </a:spcBef>
              <a:spcAft>
                <a:spcPts val="800"/>
              </a:spcAft>
            </a:pPr>
            <a:r>
              <a:rPr sz="2400" b="0" i="0">
                <a:solidFill>
                  <a:srgbClr val="222222"/>
                </a:solidFill>
                <a:latin typeface="メイリオ"/>
                <a:ea typeface="メイリオ"/>
                <a:cs typeface="メイリオ"/>
              </a:rPr>
              <a:t>心拍数の交絡を受けにくい</a:t>
            </a:r>
          </a:p>
        </p:txBody>
      </p:sp>
      <p:sp>
        <p:nvSpPr>
          <p:cNvPr id="13" name="Rounded Rectangle 12"/>
          <p:cNvSpPr/>
          <p:nvPr/>
        </p:nvSpPr>
        <p:spPr>
          <a:xfrm>
            <a:off x="6217920" y="1783080"/>
            <a:ext cx="5303520" cy="25146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800" b="1" i="0">
                <a:solidFill>
                  <a:srgbClr val="D55E00"/>
                </a:solidFill>
                <a:latin typeface="メイリオ"/>
                <a:ea typeface="メイリオ"/>
                <a:cs typeface="メイリオ"/>
              </a:rPr>
              <a:t>RI（高さの軸）</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P</a:t>
            </a:r>
            <a:r>
              <a:rPr sz="2400" b="0" i="0" baseline="-25000">
                <a:solidFill>
                  <a:srgbClr val="222222"/>
                </a:solidFill>
                <a:latin typeface="メイリオ"/>
                <a:ea typeface="メイリオ"/>
                <a:cs typeface="メイリオ"/>
              </a:rPr>
              <a:t>2</a:t>
            </a:r>
            <a:r>
              <a:rPr sz="2400" b="0" i="0">
                <a:solidFill>
                  <a:srgbClr val="222222"/>
                </a:solidFill>
                <a:latin typeface="メイリオ"/>
                <a:ea typeface="メイリオ"/>
                <a:cs typeface="メイリオ"/>
              </a:rPr>
              <a:t> ÷ P</a:t>
            </a:r>
            <a:r>
              <a:rPr sz="2400" b="0" i="0" baseline="-25000">
                <a:solidFill>
                  <a:srgbClr val="222222"/>
                </a:solidFill>
                <a:latin typeface="メイリオ"/>
                <a:ea typeface="メイリオ"/>
                <a:cs typeface="メイリオ"/>
              </a:rPr>
              <a:t>1</a:t>
            </a:r>
          </a:p>
          <a:p>
            <a:pPr algn="l">
              <a:lnSpc>
                <a:spcPct val="100000"/>
              </a:lnSpc>
              <a:spcBef>
                <a:spcPts val="0"/>
              </a:spcBef>
              <a:spcAft>
                <a:spcPts val="800"/>
              </a:spcAft>
            </a:pPr>
            <a:r>
              <a:rPr sz="2400" b="0" i="0">
                <a:solidFill>
                  <a:srgbClr val="222222"/>
                </a:solidFill>
                <a:latin typeface="メイリオ"/>
                <a:ea typeface="メイリオ"/>
                <a:cs typeface="メイリオ"/>
              </a:rPr>
              <a:t>末梢小血管のトーヌス</a:t>
            </a:r>
          </a:p>
          <a:p>
            <a:pPr algn="l">
              <a:lnSpc>
                <a:spcPct val="100000"/>
              </a:lnSpc>
              <a:spcBef>
                <a:spcPts val="0"/>
              </a:spcBef>
              <a:spcAft>
                <a:spcPts val="800"/>
              </a:spcAft>
            </a:pPr>
            <a:r>
              <a:rPr sz="2400" b="0" i="0">
                <a:solidFill>
                  <a:srgbClr val="222222"/>
                </a:solidFill>
                <a:latin typeface="メイリオ"/>
                <a:ea typeface="メイリオ"/>
                <a:cs typeface="メイリオ"/>
              </a:rPr>
              <a:t>心拍数の交絡を受けやすい</a:t>
            </a:r>
          </a:p>
        </p:txBody>
      </p:sp>
      <p:sp>
        <p:nvSpPr>
          <p:cNvPr id="14" name="Rounded Rectangle 13"/>
          <p:cNvSpPr/>
          <p:nvPr/>
        </p:nvSpPr>
        <p:spPr>
          <a:xfrm>
            <a:off x="640080" y="4617720"/>
            <a:ext cx="10881360" cy="114300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C00000"/>
                </a:solidFill>
                <a:latin typeface="メイリオ"/>
                <a:ea typeface="メイリオ"/>
                <a:cs typeface="メイリオ"/>
              </a:rPr>
              <a:t>共通の前提 ―― 拡張期ピーク P</a:t>
            </a:r>
            <a:r>
              <a:rPr sz="2800" b="1" i="0" baseline="-25000">
                <a:solidFill>
                  <a:srgbClr val="C00000"/>
                </a:solidFill>
                <a:latin typeface="メイリオ"/>
                <a:ea typeface="メイリオ"/>
                <a:cs typeface="メイリオ"/>
              </a:rPr>
              <a:t>2</a:t>
            </a:r>
            <a:r>
              <a:rPr sz="2800" b="1" i="0">
                <a:solidFill>
                  <a:srgbClr val="C00000"/>
                </a:solidFill>
                <a:latin typeface="メイリオ"/>
                <a:ea typeface="メイリオ"/>
                <a:cs typeface="メイリオ"/>
              </a:rPr>
              <a:t> が同定できること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SIはPWVと合うか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8</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Millasseau SC, et al. Clin Sci 2002;103:371-7（PMID 12241535）</a:t>
            </a:r>
          </a:p>
        </p:txBody>
      </p:sp>
      <p:sp>
        <p:nvSpPr>
          <p:cNvPr id="12" name="Rounded Rectangle 11"/>
          <p:cNvSpPr/>
          <p:nvPr/>
        </p:nvSpPr>
        <p:spPr>
          <a:xfrm>
            <a:off x="640080" y="1828800"/>
            <a:ext cx="5303520" cy="173736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600" b="1" i="0">
                <a:solidFill>
                  <a:srgbClr val="222222"/>
                </a:solidFill>
                <a:latin typeface="メイリオ"/>
                <a:ea typeface="メイリオ"/>
                <a:cs typeface="メイリオ"/>
              </a:rPr>
              <a:t>cf-PWV との相関</a:t>
            </a:r>
          </a:p>
          <a:p>
            <a:pPr algn="ctr">
              <a:lnSpc>
                <a:spcPct val="100000"/>
              </a:lnSpc>
              <a:spcBef>
                <a:spcPts val="0"/>
              </a:spcBef>
              <a:spcAft>
                <a:spcPts val="600"/>
              </a:spcAft>
            </a:pPr>
          </a:p>
          <a:p>
            <a:pPr algn="ctr">
              <a:lnSpc>
                <a:spcPct val="100000"/>
              </a:lnSpc>
              <a:spcBef>
                <a:spcPts val="0"/>
              </a:spcBef>
              <a:spcAft>
                <a:spcPts val="600"/>
              </a:spcAft>
            </a:pPr>
            <a:r>
              <a:rPr sz="3400" b="1" i="0">
                <a:solidFill>
                  <a:srgbClr val="D55E00"/>
                </a:solidFill>
                <a:latin typeface="メイリオ"/>
                <a:ea typeface="メイリオ"/>
                <a:cs typeface="メイリオ"/>
              </a:rPr>
              <a:t>r ＝ 0.65</a:t>
            </a:r>
          </a:p>
        </p:txBody>
      </p:sp>
      <p:sp>
        <p:nvSpPr>
          <p:cNvPr id="13" name="Rounded Rectangle 12"/>
          <p:cNvSpPr/>
          <p:nvPr/>
        </p:nvSpPr>
        <p:spPr>
          <a:xfrm>
            <a:off x="6217920" y="1828800"/>
            <a:ext cx="5303520" cy="173736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600" b="1" i="0">
                <a:solidFill>
                  <a:srgbClr val="222222"/>
                </a:solidFill>
                <a:latin typeface="メイリオ"/>
                <a:ea typeface="メイリオ"/>
                <a:cs typeface="メイリオ"/>
              </a:rPr>
              <a:t>被験者内 変動係数</a:t>
            </a:r>
          </a:p>
          <a:p>
            <a:pPr algn="ctr">
              <a:lnSpc>
                <a:spcPct val="100000"/>
              </a:lnSpc>
              <a:spcBef>
                <a:spcPts val="0"/>
              </a:spcBef>
              <a:spcAft>
                <a:spcPts val="600"/>
              </a:spcAft>
            </a:pPr>
          </a:p>
          <a:p>
            <a:pPr algn="ctr">
              <a:lnSpc>
                <a:spcPct val="100000"/>
              </a:lnSpc>
              <a:spcBef>
                <a:spcPts val="0"/>
              </a:spcBef>
              <a:spcAft>
                <a:spcPts val="600"/>
              </a:spcAft>
            </a:pPr>
            <a:r>
              <a:rPr sz="3400" b="1" i="0">
                <a:solidFill>
                  <a:srgbClr val="0072B2"/>
                </a:solidFill>
                <a:latin typeface="メイリオ"/>
                <a:ea typeface="メイリオ"/>
                <a:cs typeface="メイリオ"/>
              </a:rPr>
              <a:t>CV ＝ 9.6 %</a:t>
            </a:r>
          </a:p>
        </p:txBody>
      </p:sp>
      <p:sp>
        <p:nvSpPr>
          <p:cNvPr id="14" name="TextBox 13"/>
          <p:cNvSpPr txBox="1"/>
          <p:nvPr/>
        </p:nvSpPr>
        <p:spPr>
          <a:xfrm>
            <a:off x="640080" y="3794760"/>
            <a:ext cx="10881360" cy="2011680"/>
          </a:xfrm>
          <a:prstGeom prst="rect">
            <a:avLst/>
          </a:prstGeom>
          <a:noFill/>
        </p:spPr>
        <p:txBody>
          <a:bodyPr wrap="square" lIns="18288" rIns="18288" tIns="0" bIns="0" anchor="t">
            <a:noAutofit/>
          </a:bodyPr>
          <a:lstStyle/>
          <a:p>
            <a:pPr algn="l">
              <a:lnSpc>
                <a:spcPct val="100000"/>
              </a:lnSpc>
              <a:spcBef>
                <a:spcPts val="0"/>
              </a:spcBef>
              <a:spcAft>
                <a:spcPts val="1000"/>
              </a:spcAft>
            </a:pPr>
            <a:r>
              <a:rPr sz="2600" b="1" i="0">
                <a:solidFill>
                  <a:srgbClr val="D55E00"/>
                </a:solidFill>
                <a:latin typeface="メイリオ"/>
                <a:ea typeface="メイリオ"/>
                <a:cs typeface="メイリオ"/>
              </a:rPr>
              <a:t>集団のなかで個人を序列づけるには足りない</a:t>
            </a:r>
          </a:p>
          <a:p>
            <a:pPr algn="l">
              <a:lnSpc>
                <a:spcPct val="100000"/>
              </a:lnSpc>
              <a:spcBef>
                <a:spcPts val="0"/>
              </a:spcBef>
              <a:spcAft>
                <a:spcPts val="1000"/>
              </a:spcAft>
            </a:pPr>
            <a:r>
              <a:rPr sz="2600" b="1" i="0">
                <a:solidFill>
                  <a:srgbClr val="0072B2"/>
                </a:solidFill>
                <a:latin typeface="メイリオ"/>
                <a:ea typeface="メイリオ"/>
                <a:cs typeface="メイリオ"/>
              </a:rPr>
              <a:t>同一人物の変化を追うには十分に小さい</a:t>
            </a:r>
          </a:p>
          <a:p>
            <a:pPr algn="l">
              <a:lnSpc>
                <a:spcPct val="100000"/>
              </a:lnSpc>
              <a:spcBef>
                <a:spcPts val="0"/>
              </a:spcBef>
              <a:spcAft>
                <a:spcPts val="1000"/>
              </a:spcAft>
            </a:pPr>
          </a:p>
          <a:p>
            <a:pPr algn="l">
              <a:lnSpc>
                <a:spcPct val="100000"/>
              </a:lnSpc>
              <a:spcBef>
                <a:spcPts val="0"/>
              </a:spcBef>
              <a:spcAft>
                <a:spcPts val="1000"/>
              </a:spcAft>
            </a:pPr>
            <a:r>
              <a:rPr sz="2600" b="1" i="0">
                <a:solidFill>
                  <a:srgbClr val="222222"/>
                </a:solidFill>
                <a:latin typeface="メイリオ"/>
                <a:ea typeface="メイリオ"/>
                <a:cs typeface="メイリオ"/>
              </a:rPr>
              <a:t>→ 絶対値の校正ではなく、ベースラインからの Δ 追跡へ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RIは薬に反応する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9</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Chowienczyk 1999（PMID 10588217）／ Takazawa K, et al. Hypertension 1998;32:365-70（PMID 9719069）</a:t>
            </a:r>
          </a:p>
        </p:txBody>
      </p:sp>
      <p:sp>
        <p:nvSpPr>
          <p:cNvPr id="12" name="Rounded Rectangle 11"/>
          <p:cNvSpPr/>
          <p:nvPr/>
        </p:nvSpPr>
        <p:spPr>
          <a:xfrm>
            <a:off x="640080" y="1828800"/>
            <a:ext cx="5303520" cy="22860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D55E00"/>
                </a:solidFill>
                <a:latin typeface="メイリオ"/>
                <a:ea typeface="メイリオ"/>
                <a:cs typeface="メイリオ"/>
              </a:rPr>
              <a:t>RI（原波形）</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β</a:t>
            </a:r>
            <a:r>
              <a:rPr sz="2400" b="0" i="0" baseline="-25000">
                <a:solidFill>
                  <a:srgbClr val="222222"/>
                </a:solidFill>
                <a:latin typeface="メイリオ"/>
                <a:ea typeface="メイリオ"/>
                <a:cs typeface="メイリオ"/>
              </a:rPr>
              <a:t>2</a:t>
            </a:r>
            <a:r>
              <a:rPr sz="2400" b="0" i="0">
                <a:solidFill>
                  <a:srgbClr val="222222"/>
                </a:solidFill>
                <a:latin typeface="メイリオ"/>
                <a:ea typeface="メイリオ"/>
                <a:cs typeface="メイリオ"/>
              </a:rPr>
              <a:t> 刺激で反射波が減弱</a:t>
            </a:r>
          </a:p>
          <a:p>
            <a:pPr algn="l">
              <a:lnSpc>
                <a:spcPct val="100000"/>
              </a:lnSpc>
              <a:spcBef>
                <a:spcPts val="0"/>
              </a:spcBef>
              <a:spcAft>
                <a:spcPts val="800"/>
              </a:spcAft>
            </a:pPr>
            <a:r>
              <a:rPr sz="2400" b="0" i="0">
                <a:solidFill>
                  <a:srgbClr val="222222"/>
                </a:solidFill>
                <a:latin typeface="メイリオ"/>
                <a:ea typeface="メイリオ"/>
                <a:cs typeface="メイリオ"/>
              </a:rPr>
              <a:t>硝酸薬で変曲点が下がる</a:t>
            </a:r>
          </a:p>
          <a:p>
            <a:pPr algn="l">
              <a:lnSpc>
                <a:spcPct val="100000"/>
              </a:lnSpc>
              <a:spcBef>
                <a:spcPts val="0"/>
              </a:spcBef>
              <a:spcAft>
                <a:spcPts val="800"/>
              </a:spcAft>
            </a:pPr>
            <a:r>
              <a:rPr sz="2400" b="0" i="0">
                <a:solidFill>
                  <a:srgbClr val="222222"/>
                </a:solidFill>
                <a:latin typeface="メイリオ"/>
                <a:ea typeface="メイリオ"/>
                <a:cs typeface="メイリオ"/>
              </a:rPr>
              <a:t>2 型糖尿病では反応が鈍化</a:t>
            </a:r>
          </a:p>
        </p:txBody>
      </p:sp>
      <p:sp>
        <p:nvSpPr>
          <p:cNvPr id="13" name="Rounded Rectangle 12"/>
          <p:cNvSpPr/>
          <p:nvPr/>
        </p:nvSpPr>
        <p:spPr>
          <a:xfrm>
            <a:off x="6217920" y="1828800"/>
            <a:ext cx="5303520" cy="228600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00A8AA"/>
                </a:solidFill>
                <a:latin typeface="メイリオ"/>
                <a:ea typeface="メイリオ"/>
                <a:cs typeface="メイリオ"/>
              </a:rPr>
              <a:t>d/a 比（加速度脈波）</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アンジオテンシンで低下</a:t>
            </a:r>
          </a:p>
          <a:p>
            <a:pPr algn="l">
              <a:lnSpc>
                <a:spcPct val="100000"/>
              </a:lnSpc>
              <a:spcBef>
                <a:spcPts val="0"/>
              </a:spcBef>
              <a:spcAft>
                <a:spcPts val="800"/>
              </a:spcAft>
            </a:pPr>
            <a:r>
              <a:rPr sz="2400" b="0" i="0">
                <a:solidFill>
                  <a:srgbClr val="222222"/>
                </a:solidFill>
                <a:latin typeface="メイリオ"/>
                <a:ea typeface="メイリオ"/>
                <a:cs typeface="メイリオ"/>
              </a:rPr>
              <a:t>ニトログリセリンで上昇</a:t>
            </a:r>
          </a:p>
          <a:p>
            <a:pPr algn="l">
              <a:lnSpc>
                <a:spcPct val="100000"/>
              </a:lnSpc>
              <a:spcBef>
                <a:spcPts val="0"/>
              </a:spcBef>
              <a:spcAft>
                <a:spcPts val="800"/>
              </a:spcAft>
            </a:pPr>
            <a:r>
              <a:rPr sz="2400" b="0" i="0">
                <a:solidFill>
                  <a:srgbClr val="222222"/>
                </a:solidFill>
                <a:latin typeface="メイリオ"/>
                <a:ea typeface="メイリオ"/>
                <a:cs typeface="メイリオ"/>
              </a:rPr>
              <a:t>切痕が乏しい波形でも取れる</a:t>
            </a:r>
          </a:p>
        </p:txBody>
      </p:sp>
      <p:sp>
        <p:nvSpPr>
          <p:cNvPr id="14" name="Rounded Rectangle 13"/>
          <p:cNvSpPr/>
          <p:nvPr/>
        </p:nvSpPr>
        <p:spPr>
          <a:xfrm>
            <a:off x="640080" y="4434840"/>
            <a:ext cx="10881360" cy="1051560"/>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血管作動薬への感度はある ―― 問題は感度ではない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12.7万人の成績</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10</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Chen H, et al. J Clin Hypertens 2025;27:e70058（PMID 40346852）</a:t>
            </a:r>
          </a:p>
        </p:txBody>
      </p:sp>
      <p:sp>
        <p:nvSpPr>
          <p:cNvPr id="12" name="Rounded Rectangle 11"/>
          <p:cNvSpPr/>
          <p:nvPr/>
        </p:nvSpPr>
        <p:spPr>
          <a:xfrm>
            <a:off x="640080" y="1828800"/>
            <a:ext cx="5303520" cy="196596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0072B2"/>
                </a:solidFill>
                <a:latin typeface="メイリオ"/>
                <a:ea typeface="メイリオ"/>
                <a:cs typeface="メイリオ"/>
              </a:rPr>
              <a:t>非高齢者 40〜64 歳</a:t>
            </a:r>
          </a:p>
          <a:p>
            <a:pPr algn="l">
              <a:lnSpc>
                <a:spcPct val="100000"/>
              </a:lnSpc>
              <a:spcBef>
                <a:spcPts val="0"/>
              </a:spcBef>
              <a:spcAft>
                <a:spcPts val="800"/>
              </a:spcAft>
            </a:pPr>
          </a:p>
          <a:p>
            <a:pPr algn="l">
              <a:lnSpc>
                <a:spcPct val="100000"/>
              </a:lnSpc>
              <a:spcBef>
                <a:spcPts val="0"/>
              </a:spcBef>
              <a:spcAft>
                <a:spcPts val="800"/>
              </a:spcAft>
            </a:pPr>
            <a:r>
              <a:rPr sz="2600" b="1" i="0">
                <a:solidFill>
                  <a:srgbClr val="222222"/>
                </a:solidFill>
                <a:latin typeface="メイリオ"/>
                <a:ea typeface="メイリオ"/>
                <a:cs typeface="メイリオ"/>
              </a:rPr>
              <a:t>未調整 HR 1.314</a:t>
            </a:r>
          </a:p>
          <a:p>
            <a:pPr algn="l">
              <a:lnSpc>
                <a:spcPct val="100000"/>
              </a:lnSpc>
              <a:spcBef>
                <a:spcPts val="0"/>
              </a:spcBef>
              <a:spcAft>
                <a:spcPts val="800"/>
              </a:spcAft>
            </a:pPr>
            <a:r>
              <a:rPr sz="2400" b="0" i="0">
                <a:solidFill>
                  <a:srgbClr val="222222"/>
                </a:solidFill>
                <a:latin typeface="メイリオ"/>
                <a:ea typeface="メイリオ"/>
                <a:cs typeface="メイリオ"/>
              </a:rPr>
              <a:t>調整後 1.06〜1.13（有意）</a:t>
            </a:r>
          </a:p>
        </p:txBody>
      </p:sp>
      <p:sp>
        <p:nvSpPr>
          <p:cNvPr id="13" name="Rounded Rectangle 12"/>
          <p:cNvSpPr/>
          <p:nvPr/>
        </p:nvSpPr>
        <p:spPr>
          <a:xfrm>
            <a:off x="6217920" y="1828800"/>
            <a:ext cx="5303520" cy="196596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C00000"/>
                </a:solidFill>
                <a:latin typeface="メイリオ"/>
                <a:ea typeface="メイリオ"/>
                <a:cs typeface="メイリオ"/>
              </a:rPr>
              <a:t>高齢者 65〜69 歳</a:t>
            </a:r>
          </a:p>
          <a:p>
            <a:pPr algn="l">
              <a:lnSpc>
                <a:spcPct val="100000"/>
              </a:lnSpc>
              <a:spcBef>
                <a:spcPts val="0"/>
              </a:spcBef>
              <a:spcAft>
                <a:spcPts val="800"/>
              </a:spcAft>
            </a:pPr>
          </a:p>
          <a:p>
            <a:pPr algn="l">
              <a:lnSpc>
                <a:spcPct val="100000"/>
              </a:lnSpc>
              <a:spcBef>
                <a:spcPts val="0"/>
              </a:spcBef>
              <a:spcAft>
                <a:spcPts val="800"/>
              </a:spcAft>
            </a:pPr>
            <a:r>
              <a:rPr sz="2600" b="1" i="0">
                <a:solidFill>
                  <a:srgbClr val="222222"/>
                </a:solidFill>
                <a:latin typeface="メイリオ"/>
                <a:ea typeface="メイリオ"/>
                <a:cs typeface="メイリオ"/>
              </a:rPr>
              <a:t>未調整 HR 1.066</a:t>
            </a:r>
          </a:p>
          <a:p>
            <a:pPr algn="l">
              <a:lnSpc>
                <a:spcPct val="100000"/>
              </a:lnSpc>
              <a:spcBef>
                <a:spcPts val="0"/>
              </a:spcBef>
              <a:spcAft>
                <a:spcPts val="800"/>
              </a:spcAft>
            </a:pPr>
            <a:r>
              <a:rPr sz="2400" b="0" i="0">
                <a:solidFill>
                  <a:srgbClr val="222222"/>
                </a:solidFill>
                <a:latin typeface="メイリオ"/>
                <a:ea typeface="メイリオ"/>
                <a:cs typeface="メイリオ"/>
              </a:rPr>
              <a:t>調整後は有意性が消失</a:t>
            </a:r>
          </a:p>
        </p:txBody>
      </p:sp>
      <p:sp>
        <p:nvSpPr>
          <p:cNvPr id="14" name="TextBox 13"/>
          <p:cNvSpPr txBox="1"/>
          <p:nvPr/>
        </p:nvSpPr>
        <p:spPr>
          <a:xfrm>
            <a:off x="640080" y="4069080"/>
            <a:ext cx="10881360" cy="1737360"/>
          </a:xfrm>
          <a:prstGeom prst="rect">
            <a:avLst/>
          </a:prstGeom>
          <a:noFill/>
        </p:spPr>
        <p:txBody>
          <a:bodyPr wrap="square" lIns="18288" rIns="18288" tIns="0" bIns="0" anchor="t">
            <a:noAutofit/>
          </a:bodyPr>
          <a:lstStyle/>
          <a:p>
            <a:pPr algn="l">
              <a:lnSpc>
                <a:spcPct val="100000"/>
              </a:lnSpc>
              <a:spcBef>
                <a:spcPts val="0"/>
              </a:spcBef>
              <a:spcAft>
                <a:spcPts val="1000"/>
              </a:spcAft>
            </a:pPr>
            <a:r>
              <a:rPr sz="2600" b="1" i="0">
                <a:solidFill>
                  <a:srgbClr val="222222"/>
                </a:solidFill>
                <a:latin typeface="メイリオ"/>
                <a:ea typeface="メイリオ"/>
                <a:cs typeface="メイリオ"/>
              </a:rPr>
              <a:t>SpO</a:t>
            </a:r>
            <a:r>
              <a:rPr sz="2600" b="1" i="0" baseline="-25000">
                <a:solidFill>
                  <a:srgbClr val="222222"/>
                </a:solidFill>
                <a:latin typeface="メイリオ"/>
                <a:ea typeface="メイリオ"/>
                <a:cs typeface="メイリオ"/>
              </a:rPr>
              <a:t>2</a:t>
            </a:r>
            <a:r>
              <a:rPr sz="2600" b="1" i="0">
                <a:solidFill>
                  <a:srgbClr val="222222"/>
                </a:solidFill>
                <a:latin typeface="メイリオ"/>
                <a:ea typeface="メイリオ"/>
                <a:cs typeface="メイリオ"/>
              </a:rPr>
              <a:t> センサだけの指標が 12.7 万人で心血管イベントを予測</a:t>
            </a:r>
          </a:p>
          <a:p>
            <a:pPr algn="l">
              <a:lnSpc>
                <a:spcPct val="100000"/>
              </a:lnSpc>
              <a:spcBef>
                <a:spcPts val="0"/>
              </a:spcBef>
              <a:spcAft>
                <a:spcPts val="1000"/>
              </a:spcAft>
            </a:pPr>
            <a:r>
              <a:rPr sz="2600" b="1" i="0">
                <a:solidFill>
                  <a:srgbClr val="C00000"/>
                </a:solidFill>
                <a:latin typeface="メイリオ"/>
                <a:ea typeface="メイリオ"/>
                <a:cs typeface="メイリオ"/>
              </a:rPr>
              <a:t>しかし最も血管が硬い集団では、その力が消える</a:t>
            </a:r>
          </a:p>
          <a:p>
            <a:pPr algn="l">
              <a:lnSpc>
                <a:spcPct val="100000"/>
              </a:lnSpc>
              <a:spcBef>
                <a:spcPts val="0"/>
              </a:spcBef>
              <a:spcAft>
                <a:spcPts val="1000"/>
              </a:spcAft>
            </a:pPr>
            <a:r>
              <a:rPr sz="2400" b="0" i="0">
                <a:solidFill>
                  <a:srgbClr val="5A5A5A"/>
                </a:solidFill>
                <a:latin typeface="メイリオ"/>
                <a:ea typeface="メイリオ"/>
                <a:cs typeface="メイリオ"/>
              </a:rPr>
              <a:t>引用注意：「1.31」は非高齢・未調整の値である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取れる指標ほど根拠薄</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11</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本リポジトリ「周術期アウトカムと血管スティフネス」§1</a:t>
            </a:r>
          </a:p>
        </p:txBody>
      </p:sp>
      <p:sp>
        <p:nvSpPr>
          <p:cNvPr id="12" name="Rounded Rectangle 11"/>
          <p:cNvSpPr/>
          <p:nvPr/>
        </p:nvSpPr>
        <p:spPr>
          <a:xfrm>
            <a:off x="640080" y="1874519"/>
            <a:ext cx="3017520" cy="566928"/>
          </a:xfrm>
          <a:prstGeom prst="roundRect">
            <a:avLst>
              <a:gd name="adj" fmla="val 8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222222"/>
                </a:solidFill>
                <a:latin typeface="メイリオ"/>
                <a:ea typeface="メイリオ"/>
                <a:cs typeface="メイリオ"/>
              </a:rPr>
              <a:t>指標</a:t>
            </a:r>
          </a:p>
        </p:txBody>
      </p:sp>
      <p:sp>
        <p:nvSpPr>
          <p:cNvPr id="13" name="Rounded Rectangle 12"/>
          <p:cNvSpPr/>
          <p:nvPr/>
        </p:nvSpPr>
        <p:spPr>
          <a:xfrm>
            <a:off x="3794760" y="1874519"/>
            <a:ext cx="3200400" cy="566928"/>
          </a:xfrm>
          <a:prstGeom prst="roundRect">
            <a:avLst>
              <a:gd name="adj" fmla="val 8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222222"/>
                </a:solidFill>
                <a:latin typeface="メイリオ"/>
                <a:ea typeface="メイリオ"/>
                <a:cs typeface="メイリオ"/>
              </a:rPr>
              <a:t>周術期の取得</a:t>
            </a:r>
          </a:p>
        </p:txBody>
      </p:sp>
      <p:sp>
        <p:nvSpPr>
          <p:cNvPr id="14" name="Rounded Rectangle 13"/>
          <p:cNvSpPr/>
          <p:nvPr/>
        </p:nvSpPr>
        <p:spPr>
          <a:xfrm>
            <a:off x="7132320" y="1874519"/>
            <a:ext cx="4389120" cy="566928"/>
          </a:xfrm>
          <a:prstGeom prst="roundRect">
            <a:avLst>
              <a:gd name="adj" fmla="val 8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222222"/>
                </a:solidFill>
                <a:latin typeface="メイリオ"/>
                <a:ea typeface="メイリオ"/>
                <a:cs typeface="メイリオ"/>
              </a:rPr>
              <a:t>アウトカム根拠</a:t>
            </a:r>
          </a:p>
        </p:txBody>
      </p:sp>
      <p:sp>
        <p:nvSpPr>
          <p:cNvPr id="15" name="Rounded Rectangle 14"/>
          <p:cNvSpPr/>
          <p:nvPr/>
        </p:nvSpPr>
        <p:spPr>
          <a:xfrm>
            <a:off x="640080" y="2560320"/>
            <a:ext cx="3017520" cy="658368"/>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D55E00"/>
                </a:solidFill>
                <a:latin typeface="メイリオ"/>
                <a:ea typeface="メイリオ"/>
                <a:cs typeface="メイリオ"/>
              </a:rPr>
              <a:t>SDPPG・PPG-SI</a:t>
            </a:r>
          </a:p>
        </p:txBody>
      </p:sp>
      <p:sp>
        <p:nvSpPr>
          <p:cNvPr id="16" name="Rounded Rectangle 15"/>
          <p:cNvSpPr/>
          <p:nvPr/>
        </p:nvSpPr>
        <p:spPr>
          <a:xfrm>
            <a:off x="3794760" y="2560320"/>
            <a:ext cx="3200400" cy="658368"/>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 取得容易</a:t>
            </a:r>
          </a:p>
        </p:txBody>
      </p:sp>
      <p:sp>
        <p:nvSpPr>
          <p:cNvPr id="17" name="Rounded Rectangle 16"/>
          <p:cNvSpPr/>
          <p:nvPr/>
        </p:nvSpPr>
        <p:spPr>
          <a:xfrm>
            <a:off x="7132320" y="2560320"/>
            <a:ext cx="4389120" cy="658368"/>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 周術期検証なし</a:t>
            </a:r>
          </a:p>
        </p:txBody>
      </p:sp>
      <p:sp>
        <p:nvSpPr>
          <p:cNvPr id="18" name="Rounded Rectangle 17"/>
          <p:cNvSpPr/>
          <p:nvPr/>
        </p:nvSpPr>
        <p:spPr>
          <a:xfrm>
            <a:off x="640080" y="3346703"/>
            <a:ext cx="3017520" cy="658368"/>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5A5A5A"/>
                </a:solidFill>
                <a:latin typeface="メイリオ"/>
                <a:ea typeface="メイリオ"/>
                <a:cs typeface="メイリオ"/>
              </a:rPr>
              <a:t>baPWV</a:t>
            </a:r>
          </a:p>
        </p:txBody>
      </p:sp>
      <p:sp>
        <p:nvSpPr>
          <p:cNvPr id="19" name="Rounded Rectangle 18"/>
          <p:cNvSpPr/>
          <p:nvPr/>
        </p:nvSpPr>
        <p:spPr>
          <a:xfrm>
            <a:off x="3794760" y="3346703"/>
            <a:ext cx="3200400" cy="658368"/>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 術前外来のみ</a:t>
            </a:r>
          </a:p>
        </p:txBody>
      </p:sp>
      <p:sp>
        <p:nvSpPr>
          <p:cNvPr id="20" name="Rounded Rectangle 19"/>
          <p:cNvSpPr/>
          <p:nvPr/>
        </p:nvSpPr>
        <p:spPr>
          <a:xfrm>
            <a:off x="7132320" y="3346703"/>
            <a:ext cx="4389120" cy="658368"/>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 術後予測研究あり</a:t>
            </a:r>
          </a:p>
        </p:txBody>
      </p:sp>
      <p:sp>
        <p:nvSpPr>
          <p:cNvPr id="21" name="Rounded Rectangle 20"/>
          <p:cNvSpPr/>
          <p:nvPr/>
        </p:nvSpPr>
        <p:spPr>
          <a:xfrm>
            <a:off x="640080" y="4133087"/>
            <a:ext cx="3017520" cy="658368"/>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5A5A5A"/>
                </a:solidFill>
                <a:latin typeface="メイリオ"/>
                <a:ea typeface="メイリオ"/>
                <a:cs typeface="メイリオ"/>
              </a:rPr>
              <a:t>cfPWV</a:t>
            </a:r>
          </a:p>
        </p:txBody>
      </p:sp>
      <p:sp>
        <p:nvSpPr>
          <p:cNvPr id="22" name="Rounded Rectangle 21"/>
          <p:cNvSpPr/>
          <p:nvPr/>
        </p:nvSpPr>
        <p:spPr>
          <a:xfrm>
            <a:off x="3794760" y="4133087"/>
            <a:ext cx="3200400" cy="658368"/>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 術中は不可</a:t>
            </a:r>
          </a:p>
        </p:txBody>
      </p:sp>
      <p:sp>
        <p:nvSpPr>
          <p:cNvPr id="23" name="Rounded Rectangle 22"/>
          <p:cNvSpPr/>
          <p:nvPr/>
        </p:nvSpPr>
        <p:spPr>
          <a:xfrm>
            <a:off x="7132320" y="4133087"/>
            <a:ext cx="4389120" cy="658368"/>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 導入時低血圧の研究</a:t>
            </a:r>
          </a:p>
        </p:txBody>
      </p:sp>
      <p:sp>
        <p:nvSpPr>
          <p:cNvPr id="24" name="Rounded Rectangle 23"/>
          <p:cNvSpPr/>
          <p:nvPr/>
        </p:nvSpPr>
        <p:spPr>
          <a:xfrm>
            <a:off x="640080" y="4983480"/>
            <a:ext cx="10881360" cy="868680"/>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手元で取れる指標ほど、周術期の裏づけがない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時間スケールの不一致</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12</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§5 ／ Md Lazin Md Lazim MR, et al. IJERPH 2020;17:2591（PMID 32290168）</a:t>
            </a:r>
          </a:p>
        </p:txBody>
      </p:sp>
      <p:sp>
        <p:nvSpPr>
          <p:cNvPr id="12" name="Rounded Rectangle 11"/>
          <p:cNvSpPr/>
          <p:nvPr/>
        </p:nvSpPr>
        <p:spPr>
          <a:xfrm>
            <a:off x="640080" y="1828800"/>
            <a:ext cx="10881360" cy="105156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C00000"/>
                </a:solidFill>
                <a:latin typeface="メイリオ"/>
                <a:ea typeface="メイリオ"/>
                <a:cs typeface="メイリオ"/>
              </a:rPr>
              <a:t>SI・RI は「安静時の血管特性」の指標として検証された</a:t>
            </a:r>
          </a:p>
        </p:txBody>
      </p:sp>
      <p:sp>
        <p:nvSpPr>
          <p:cNvPr id="13" name="TextBox 12"/>
          <p:cNvSpPr txBox="1"/>
          <p:nvPr/>
        </p:nvSpPr>
        <p:spPr>
          <a:xfrm>
            <a:off x="640080" y="3063240"/>
            <a:ext cx="10881360" cy="1234440"/>
          </a:xfrm>
          <a:prstGeom prst="rect">
            <a:avLst/>
          </a:prstGeom>
          <a:noFill/>
        </p:spPr>
        <p:txBody>
          <a:bodyPr wrap="square" lIns="18288" rIns="18288" tIns="0" bIns="0" anchor="t">
            <a:noAutofit/>
          </a:bodyPr>
          <a:lstStyle/>
          <a:p>
            <a:pPr algn="l">
              <a:lnSpc>
                <a:spcPct val="100000"/>
              </a:lnSpc>
              <a:spcBef>
                <a:spcPts val="0"/>
              </a:spcBef>
              <a:spcAft>
                <a:spcPts val="1000"/>
              </a:spcAft>
            </a:pPr>
            <a:r>
              <a:rPr sz="2600" b="1" i="0">
                <a:solidFill>
                  <a:srgbClr val="222222"/>
                </a:solidFill>
                <a:latin typeface="メイリオ"/>
                <a:ea typeface="メイリオ"/>
                <a:cs typeface="メイリオ"/>
              </a:rPr>
              <a:t>1 拍ごとの急性変動を追う指標としては未検証</a:t>
            </a:r>
          </a:p>
          <a:p>
            <a:pPr algn="l">
              <a:lnSpc>
                <a:spcPct val="100000"/>
              </a:lnSpc>
              <a:spcBef>
                <a:spcPts val="0"/>
              </a:spcBef>
              <a:spcAft>
                <a:spcPts val="1000"/>
              </a:spcAft>
            </a:pPr>
            <a:r>
              <a:rPr sz="2400" b="0" i="0">
                <a:solidFill>
                  <a:srgbClr val="222222"/>
                </a:solidFill>
                <a:latin typeface="メイリオ"/>
                <a:ea typeface="メイリオ"/>
                <a:cs typeface="メイリオ"/>
              </a:rPr>
              <a:t>術中の急性トーヌスには切痕の位置・幅や d/a が対応しやすい</a:t>
            </a:r>
          </a:p>
        </p:txBody>
      </p:sp>
      <p:sp>
        <p:nvSpPr>
          <p:cNvPr id="14" name="Rounded Rectangle 13"/>
          <p:cNvSpPr/>
          <p:nvPr/>
        </p:nvSpPr>
        <p:spPr>
          <a:xfrm>
            <a:off x="640080" y="4434840"/>
            <a:ext cx="5303520" cy="132588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400" b="1" i="0">
                <a:solidFill>
                  <a:srgbClr val="D55E00"/>
                </a:solidFill>
                <a:latin typeface="メイリオ"/>
                <a:ea typeface="メイリオ"/>
                <a:cs typeface="メイリオ"/>
              </a:rPr>
              <a:t>RI は心拍数と関連する</a:t>
            </a:r>
          </a:p>
          <a:p>
            <a:pPr algn="l">
              <a:lnSpc>
                <a:spcPct val="100000"/>
              </a:lnSpc>
              <a:spcBef>
                <a:spcPts val="0"/>
              </a:spcBef>
              <a:spcAft>
                <a:spcPts val="800"/>
              </a:spcAft>
            </a:pPr>
            <a:r>
              <a:rPr sz="2400" b="0" i="0">
                <a:solidFill>
                  <a:srgbClr val="222222"/>
                </a:solidFill>
                <a:latin typeface="メイリオ"/>
                <a:ea typeface="メイリオ"/>
                <a:cs typeface="メイリオ"/>
              </a:rPr>
              <a:t>頻脈の術中は不利</a:t>
            </a:r>
          </a:p>
        </p:txBody>
      </p:sp>
      <p:sp>
        <p:nvSpPr>
          <p:cNvPr id="15" name="Rounded Rectangle 14"/>
          <p:cNvSpPr/>
          <p:nvPr/>
        </p:nvSpPr>
        <p:spPr>
          <a:xfrm>
            <a:off x="6217920" y="4434840"/>
            <a:ext cx="5303520" cy="132588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400" b="1" i="0">
                <a:solidFill>
                  <a:srgbClr val="0072B2"/>
                </a:solidFill>
                <a:latin typeface="メイリオ"/>
                <a:ea typeface="メイリオ"/>
                <a:cs typeface="メイリオ"/>
              </a:rPr>
              <a:t>SI の関連は乏しい</a:t>
            </a:r>
          </a:p>
          <a:p>
            <a:pPr algn="l">
              <a:lnSpc>
                <a:spcPct val="100000"/>
              </a:lnSpc>
              <a:spcBef>
                <a:spcPts val="0"/>
              </a:spcBef>
              <a:spcAft>
                <a:spcPts val="800"/>
              </a:spcAft>
            </a:pPr>
            <a:r>
              <a:rPr sz="2400" b="0" i="0">
                <a:solidFill>
                  <a:srgbClr val="222222"/>
                </a:solidFill>
                <a:latin typeface="メイリオ"/>
                <a:ea typeface="メイリオ"/>
                <a:cs typeface="メイリオ"/>
              </a:rPr>
              <a:t>時間指標のほうが頑健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壁は反射波の同定</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13</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§6・§7</a:t>
            </a:r>
          </a:p>
        </p:txBody>
      </p:sp>
      <p:sp>
        <p:nvSpPr>
          <p:cNvPr id="12" name="Rounded Rectangle 11"/>
          <p:cNvSpPr/>
          <p:nvPr/>
        </p:nvSpPr>
        <p:spPr>
          <a:xfrm>
            <a:off x="640080" y="1828800"/>
            <a:ext cx="10881360" cy="105156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3000" b="1" i="0">
                <a:solidFill>
                  <a:srgbClr val="C00000"/>
                </a:solidFill>
                <a:latin typeface="メイリオ"/>
                <a:ea typeface="メイリオ"/>
                <a:cs typeface="メイリオ"/>
              </a:rPr>
              <a:t>P</a:t>
            </a:r>
            <a:r>
              <a:rPr sz="3000" b="1" i="0" baseline="-25000">
                <a:solidFill>
                  <a:srgbClr val="C00000"/>
                </a:solidFill>
                <a:latin typeface="メイリオ"/>
                <a:ea typeface="メイリオ"/>
                <a:cs typeface="メイリオ"/>
              </a:rPr>
              <a:t>2</a:t>
            </a:r>
            <a:r>
              <a:rPr sz="3000" b="1" i="0">
                <a:solidFill>
                  <a:srgbClr val="C00000"/>
                </a:solidFill>
                <a:latin typeface="メイリオ"/>
                <a:ea typeface="メイリオ"/>
                <a:cs typeface="メイリオ"/>
              </a:rPr>
              <a:t> が取れなければ、SI も RI も存在しない</a:t>
            </a:r>
          </a:p>
        </p:txBody>
      </p:sp>
      <p:sp>
        <p:nvSpPr>
          <p:cNvPr id="13" name="Freeform 12"/>
          <p:cNvSpPr/>
          <p:nvPr/>
        </p:nvSpPr>
        <p:spPr>
          <a:xfrm>
            <a:off x="1463040" y="3566318"/>
            <a:ext cx="4937760" cy="1680578"/>
          </a:xfrm>
          <a:custGeom>
            <a:avLst/>
            <a:gdLst/>
            <a:ahLst/>
            <a:cxnLst/>
            <a:rect l="l" t="t" r="r" b="b"/>
            <a:pathLst>
              <a:path w="4937760" h="1680578">
                <a:moveTo>
                  <a:pt x="0" y="1640177"/>
                </a:moveTo>
                <a:lnTo>
                  <a:pt x="29045" y="1630124"/>
                </a:lnTo>
                <a:lnTo>
                  <a:pt x="58091" y="1618445"/>
                </a:lnTo>
                <a:lnTo>
                  <a:pt x="87136" y="1604954"/>
                </a:lnTo>
                <a:lnTo>
                  <a:pt x="116182" y="1589457"/>
                </a:lnTo>
                <a:lnTo>
                  <a:pt x="145228" y="1571759"/>
                </a:lnTo>
                <a:lnTo>
                  <a:pt x="174273" y="1551661"/>
                </a:lnTo>
                <a:lnTo>
                  <a:pt x="203319" y="1528973"/>
                </a:lnTo>
                <a:lnTo>
                  <a:pt x="232365" y="1503510"/>
                </a:lnTo>
                <a:lnTo>
                  <a:pt x="261410" y="1475102"/>
                </a:lnTo>
                <a:lnTo>
                  <a:pt x="290456" y="1443600"/>
                </a:lnTo>
                <a:lnTo>
                  <a:pt x="319502" y="1408878"/>
                </a:lnTo>
                <a:lnTo>
                  <a:pt x="348547" y="1370842"/>
                </a:lnTo>
                <a:lnTo>
                  <a:pt x="377593" y="1329435"/>
                </a:lnTo>
                <a:lnTo>
                  <a:pt x="406639" y="1284644"/>
                </a:lnTo>
                <a:lnTo>
                  <a:pt x="435684" y="1236501"/>
                </a:lnTo>
                <a:lnTo>
                  <a:pt x="464730" y="1185095"/>
                </a:lnTo>
                <a:lnTo>
                  <a:pt x="493776" y="1130568"/>
                </a:lnTo>
                <a:lnTo>
                  <a:pt x="522821" y="1073124"/>
                </a:lnTo>
                <a:lnTo>
                  <a:pt x="551867" y="1013024"/>
                </a:lnTo>
                <a:lnTo>
                  <a:pt x="580912" y="950595"/>
                </a:lnTo>
                <a:lnTo>
                  <a:pt x="609958" y="886219"/>
                </a:lnTo>
                <a:lnTo>
                  <a:pt x="639004" y="820337"/>
                </a:lnTo>
                <a:lnTo>
                  <a:pt x="668049" y="753439"/>
                </a:lnTo>
                <a:lnTo>
                  <a:pt x="697095" y="686062"/>
                </a:lnTo>
                <a:lnTo>
                  <a:pt x="726141" y="618779"/>
                </a:lnTo>
                <a:lnTo>
                  <a:pt x="755186" y="552191"/>
                </a:lnTo>
                <a:lnTo>
                  <a:pt x="784232" y="486918"/>
                </a:lnTo>
                <a:lnTo>
                  <a:pt x="813278" y="423582"/>
                </a:lnTo>
                <a:lnTo>
                  <a:pt x="842323" y="362803"/>
                </a:lnTo>
                <a:lnTo>
                  <a:pt x="871369" y="305179"/>
                </a:lnTo>
                <a:lnTo>
                  <a:pt x="900415" y="251282"/>
                </a:lnTo>
                <a:lnTo>
                  <a:pt x="929460" y="201638"/>
                </a:lnTo>
                <a:lnTo>
                  <a:pt x="958506" y="156722"/>
                </a:lnTo>
                <a:lnTo>
                  <a:pt x="987552" y="116949"/>
                </a:lnTo>
                <a:lnTo>
                  <a:pt x="1016597" y="82660"/>
                </a:lnTo>
                <a:lnTo>
                  <a:pt x="1045643" y="54124"/>
                </a:lnTo>
                <a:lnTo>
                  <a:pt x="1074688" y="31527"/>
                </a:lnTo>
                <a:lnTo>
                  <a:pt x="1103734" y="14973"/>
                </a:lnTo>
                <a:lnTo>
                  <a:pt x="1132780" y="4484"/>
                </a:lnTo>
                <a:lnTo>
                  <a:pt x="1161825" y="0"/>
                </a:lnTo>
                <a:lnTo>
                  <a:pt x="1190871" y="1386"/>
                </a:lnTo>
                <a:lnTo>
                  <a:pt x="1219917" y="8434"/>
                </a:lnTo>
                <a:lnTo>
                  <a:pt x="1248962" y="20874"/>
                </a:lnTo>
                <a:lnTo>
                  <a:pt x="1278008" y="38378"/>
                </a:lnTo>
                <a:lnTo>
                  <a:pt x="1307054" y="60574"/>
                </a:lnTo>
                <a:lnTo>
                  <a:pt x="1336099" y="87052"/>
                </a:lnTo>
                <a:lnTo>
                  <a:pt x="1365145" y="117377"/>
                </a:lnTo>
                <a:lnTo>
                  <a:pt x="1394191" y="151096"/>
                </a:lnTo>
                <a:lnTo>
                  <a:pt x="1423236" y="187751"/>
                </a:lnTo>
                <a:lnTo>
                  <a:pt x="1452282" y="226883"/>
                </a:lnTo>
                <a:lnTo>
                  <a:pt x="1481328" y="268048"/>
                </a:lnTo>
                <a:lnTo>
                  <a:pt x="1510373" y="310816"/>
                </a:lnTo>
                <a:lnTo>
                  <a:pt x="1539419" y="354779"/>
                </a:lnTo>
                <a:lnTo>
                  <a:pt x="1568464" y="399558"/>
                </a:lnTo>
                <a:lnTo>
                  <a:pt x="1597510" y="444806"/>
                </a:lnTo>
                <a:lnTo>
                  <a:pt x="1626556" y="490206"/>
                </a:lnTo>
                <a:lnTo>
                  <a:pt x="1655601" y="535476"/>
                </a:lnTo>
                <a:lnTo>
                  <a:pt x="1684647" y="580367"/>
                </a:lnTo>
                <a:lnTo>
                  <a:pt x="1713693" y="624665"/>
                </a:lnTo>
                <a:lnTo>
                  <a:pt x="1742738" y="668183"/>
                </a:lnTo>
                <a:lnTo>
                  <a:pt x="1771784" y="710767"/>
                </a:lnTo>
                <a:lnTo>
                  <a:pt x="1800830" y="752287"/>
                </a:lnTo>
                <a:lnTo>
                  <a:pt x="1829875" y="792638"/>
                </a:lnTo>
                <a:lnTo>
                  <a:pt x="1858921" y="831734"/>
                </a:lnTo>
                <a:lnTo>
                  <a:pt x="1887967" y="869509"/>
                </a:lnTo>
                <a:lnTo>
                  <a:pt x="1917012" y="905912"/>
                </a:lnTo>
                <a:lnTo>
                  <a:pt x="1946058" y="940904"/>
                </a:lnTo>
                <a:lnTo>
                  <a:pt x="1975104" y="974460"/>
                </a:lnTo>
                <a:lnTo>
                  <a:pt x="2004149" y="1006561"/>
                </a:lnTo>
                <a:lnTo>
                  <a:pt x="2033195" y="1037198"/>
                </a:lnTo>
                <a:lnTo>
                  <a:pt x="2062240" y="1066367"/>
                </a:lnTo>
                <a:lnTo>
                  <a:pt x="2091286" y="1094073"/>
                </a:lnTo>
                <a:lnTo>
                  <a:pt x="2120332" y="1120323"/>
                </a:lnTo>
                <a:lnTo>
                  <a:pt x="2149377" y="1145132"/>
                </a:lnTo>
                <a:lnTo>
                  <a:pt x="2178423" y="1168516"/>
                </a:lnTo>
                <a:lnTo>
                  <a:pt x="2207469" y="1190499"/>
                </a:lnTo>
                <a:lnTo>
                  <a:pt x="2236514" y="1211109"/>
                </a:lnTo>
                <a:lnTo>
                  <a:pt x="2265560" y="1230377"/>
                </a:lnTo>
                <a:lnTo>
                  <a:pt x="2294606" y="1248340"/>
                </a:lnTo>
                <a:lnTo>
                  <a:pt x="2323651" y="1265041"/>
                </a:lnTo>
                <a:lnTo>
                  <a:pt x="2352697" y="1280523"/>
                </a:lnTo>
                <a:lnTo>
                  <a:pt x="2381743" y="1294838"/>
                </a:lnTo>
                <a:lnTo>
                  <a:pt x="2410788" y="1308038"/>
                </a:lnTo>
                <a:lnTo>
                  <a:pt x="2439834" y="1320182"/>
                </a:lnTo>
                <a:lnTo>
                  <a:pt x="2468880" y="1331330"/>
                </a:lnTo>
                <a:lnTo>
                  <a:pt x="2497925" y="1341544"/>
                </a:lnTo>
                <a:lnTo>
                  <a:pt x="2526971" y="1350891"/>
                </a:lnTo>
                <a:lnTo>
                  <a:pt x="2556016" y="1359435"/>
                </a:lnTo>
                <a:lnTo>
                  <a:pt x="2585062" y="1367246"/>
                </a:lnTo>
                <a:lnTo>
                  <a:pt x="2614108" y="1374390"/>
                </a:lnTo>
                <a:lnTo>
                  <a:pt x="2643153" y="1380934"/>
                </a:lnTo>
                <a:lnTo>
                  <a:pt x="2672199" y="1386944"/>
                </a:lnTo>
                <a:lnTo>
                  <a:pt x="2701245" y="1392485"/>
                </a:lnTo>
                <a:lnTo>
                  <a:pt x="2730290" y="1397617"/>
                </a:lnTo>
                <a:lnTo>
                  <a:pt x="2759336" y="1402402"/>
                </a:lnTo>
                <a:lnTo>
                  <a:pt x="2788382" y="1406894"/>
                </a:lnTo>
                <a:lnTo>
                  <a:pt x="2817427" y="1411148"/>
                </a:lnTo>
                <a:lnTo>
                  <a:pt x="2846473" y="1415212"/>
                </a:lnTo>
                <a:lnTo>
                  <a:pt x="2875519" y="1419132"/>
                </a:lnTo>
                <a:lnTo>
                  <a:pt x="2904564" y="1422949"/>
                </a:lnTo>
                <a:lnTo>
                  <a:pt x="2933610" y="1426702"/>
                </a:lnTo>
                <a:lnTo>
                  <a:pt x="2962656" y="1430423"/>
                </a:lnTo>
                <a:lnTo>
                  <a:pt x="2991701" y="1434142"/>
                </a:lnTo>
                <a:lnTo>
                  <a:pt x="3020747" y="1437885"/>
                </a:lnTo>
                <a:lnTo>
                  <a:pt x="3049792" y="1441673"/>
                </a:lnTo>
                <a:lnTo>
                  <a:pt x="3078838" y="1445525"/>
                </a:lnTo>
                <a:lnTo>
                  <a:pt x="3107884" y="1449455"/>
                </a:lnTo>
                <a:lnTo>
                  <a:pt x="3136929" y="1453475"/>
                </a:lnTo>
                <a:lnTo>
                  <a:pt x="3165975" y="1457593"/>
                </a:lnTo>
                <a:lnTo>
                  <a:pt x="3195021" y="1461815"/>
                </a:lnTo>
                <a:lnTo>
                  <a:pt x="3224066" y="1466144"/>
                </a:lnTo>
                <a:lnTo>
                  <a:pt x="3253112" y="1470581"/>
                </a:lnTo>
                <a:lnTo>
                  <a:pt x="3282158" y="1475125"/>
                </a:lnTo>
                <a:lnTo>
                  <a:pt x="3311203" y="1479773"/>
                </a:lnTo>
                <a:lnTo>
                  <a:pt x="3340249" y="1484520"/>
                </a:lnTo>
                <a:lnTo>
                  <a:pt x="3369295" y="1489360"/>
                </a:lnTo>
                <a:lnTo>
                  <a:pt x="3398340" y="1494285"/>
                </a:lnTo>
                <a:lnTo>
                  <a:pt x="3427386" y="1499288"/>
                </a:lnTo>
                <a:lnTo>
                  <a:pt x="3456432" y="1504360"/>
                </a:lnTo>
                <a:lnTo>
                  <a:pt x="3485477" y="1509490"/>
                </a:lnTo>
                <a:lnTo>
                  <a:pt x="3514523" y="1514669"/>
                </a:lnTo>
                <a:lnTo>
                  <a:pt x="3543568" y="1519886"/>
                </a:lnTo>
                <a:lnTo>
                  <a:pt x="3572614" y="1525130"/>
                </a:lnTo>
                <a:lnTo>
                  <a:pt x="3601660" y="1530390"/>
                </a:lnTo>
                <a:lnTo>
                  <a:pt x="3630705" y="1535655"/>
                </a:lnTo>
                <a:lnTo>
                  <a:pt x="3659751" y="1540915"/>
                </a:lnTo>
                <a:lnTo>
                  <a:pt x="3688797" y="1546159"/>
                </a:lnTo>
                <a:lnTo>
                  <a:pt x="3717842" y="1551377"/>
                </a:lnTo>
                <a:lnTo>
                  <a:pt x="3746888" y="1556558"/>
                </a:lnTo>
                <a:lnTo>
                  <a:pt x="3775934" y="1561692"/>
                </a:lnTo>
                <a:lnTo>
                  <a:pt x="3804979" y="1566772"/>
                </a:lnTo>
                <a:lnTo>
                  <a:pt x="3834025" y="1571786"/>
                </a:lnTo>
                <a:lnTo>
                  <a:pt x="3863071" y="1576729"/>
                </a:lnTo>
                <a:lnTo>
                  <a:pt x="3892116" y="1581590"/>
                </a:lnTo>
                <a:lnTo>
                  <a:pt x="3921162" y="1586365"/>
                </a:lnTo>
                <a:lnTo>
                  <a:pt x="3950208" y="1591045"/>
                </a:lnTo>
                <a:lnTo>
                  <a:pt x="3979253" y="1595625"/>
                </a:lnTo>
                <a:lnTo>
                  <a:pt x="4008299" y="1600099"/>
                </a:lnTo>
                <a:lnTo>
                  <a:pt x="4037344" y="1604463"/>
                </a:lnTo>
                <a:lnTo>
                  <a:pt x="4066390" y="1608711"/>
                </a:lnTo>
                <a:lnTo>
                  <a:pt x="4095436" y="1612842"/>
                </a:lnTo>
                <a:lnTo>
                  <a:pt x="4124481" y="1616850"/>
                </a:lnTo>
                <a:lnTo>
                  <a:pt x="4153527" y="1620734"/>
                </a:lnTo>
                <a:lnTo>
                  <a:pt x="4182573" y="1624491"/>
                </a:lnTo>
                <a:lnTo>
                  <a:pt x="4211618" y="1628121"/>
                </a:lnTo>
                <a:lnTo>
                  <a:pt x="4240664" y="1631621"/>
                </a:lnTo>
                <a:lnTo>
                  <a:pt x="4269710" y="1634993"/>
                </a:lnTo>
                <a:lnTo>
                  <a:pt x="4298755" y="1638234"/>
                </a:lnTo>
                <a:lnTo>
                  <a:pt x="4327801" y="1641346"/>
                </a:lnTo>
                <a:lnTo>
                  <a:pt x="4356847" y="1644329"/>
                </a:lnTo>
                <a:lnTo>
                  <a:pt x="4385892" y="1647185"/>
                </a:lnTo>
                <a:lnTo>
                  <a:pt x="4414938" y="1649915"/>
                </a:lnTo>
                <a:lnTo>
                  <a:pt x="4443984" y="1652521"/>
                </a:lnTo>
                <a:lnTo>
                  <a:pt x="4473029" y="1655005"/>
                </a:lnTo>
                <a:lnTo>
                  <a:pt x="4502075" y="1657369"/>
                </a:lnTo>
                <a:lnTo>
                  <a:pt x="4531120" y="1659615"/>
                </a:lnTo>
                <a:lnTo>
                  <a:pt x="4560166" y="1661748"/>
                </a:lnTo>
                <a:lnTo>
                  <a:pt x="4589212" y="1663769"/>
                </a:lnTo>
                <a:lnTo>
                  <a:pt x="4618257" y="1665682"/>
                </a:lnTo>
                <a:lnTo>
                  <a:pt x="4647303" y="1667490"/>
                </a:lnTo>
                <a:lnTo>
                  <a:pt x="4676349" y="1669196"/>
                </a:lnTo>
                <a:lnTo>
                  <a:pt x="4705394" y="1670804"/>
                </a:lnTo>
                <a:lnTo>
                  <a:pt x="4734440" y="1672318"/>
                </a:lnTo>
                <a:lnTo>
                  <a:pt x="4763486" y="1673742"/>
                </a:lnTo>
                <a:lnTo>
                  <a:pt x="4792531" y="1675078"/>
                </a:lnTo>
                <a:lnTo>
                  <a:pt x="4821577" y="1676330"/>
                </a:lnTo>
                <a:lnTo>
                  <a:pt x="4850623" y="1677503"/>
                </a:lnTo>
                <a:lnTo>
                  <a:pt x="4879668" y="1678599"/>
                </a:lnTo>
                <a:lnTo>
                  <a:pt x="4908714" y="1679623"/>
                </a:lnTo>
                <a:lnTo>
                  <a:pt x="4937760" y="1680578"/>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463040" y="5257800"/>
            <a:ext cx="493776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833164" y="3639312"/>
            <a:ext cx="0" cy="1106527"/>
          </a:xfrm>
          <a:prstGeom prst="line">
            <a:avLst/>
          </a:prstGeom>
          <a:ln w="28575">
            <a:solidFill>
              <a:srgbClr val="C0000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421684" y="3163824"/>
            <a:ext cx="822960" cy="402336"/>
          </a:xfrm>
          <a:prstGeom prst="rect">
            <a:avLst/>
          </a:prstGeom>
          <a:noFill/>
        </p:spPr>
        <p:txBody>
          <a:bodyPr wrap="square" lIns="18288" rIns="18288" tIns="0" bIns="0" anchor="t">
            <a:noAutofit/>
          </a:bodyPr>
          <a:lstStyle/>
          <a:p>
            <a:pPr algn="ctr">
              <a:lnSpc>
                <a:spcPct val="100000"/>
              </a:lnSpc>
              <a:spcBef>
                <a:spcPts val="0"/>
              </a:spcBef>
              <a:spcAft>
                <a:spcPts val="0"/>
              </a:spcAft>
            </a:pPr>
            <a:r>
              <a:rPr sz="2800" b="1" i="0">
                <a:solidFill>
                  <a:srgbClr val="C00000"/>
                </a:solidFill>
                <a:latin typeface="メイリオ"/>
                <a:ea typeface="メイリオ"/>
                <a:cs typeface="メイリオ"/>
              </a:rPr>
              <a:t>？</a:t>
            </a:r>
          </a:p>
        </p:txBody>
      </p:sp>
      <p:sp>
        <p:nvSpPr>
          <p:cNvPr id="17" name="TextBox 16"/>
          <p:cNvSpPr txBox="1"/>
          <p:nvPr/>
        </p:nvSpPr>
        <p:spPr>
          <a:xfrm>
            <a:off x="6949440" y="3657600"/>
            <a:ext cx="4572000" cy="2011680"/>
          </a:xfrm>
          <a:prstGeom prst="rect">
            <a:avLst/>
          </a:prstGeom>
          <a:noFill/>
        </p:spPr>
        <p:txBody>
          <a:bodyPr wrap="square" lIns="18288" rIns="18288" tIns="0" bIns="0" anchor="t">
            <a:noAutofit/>
          </a:bodyPr>
          <a:lstStyle/>
          <a:p>
            <a:pPr algn="l">
              <a:lnSpc>
                <a:spcPct val="100000"/>
              </a:lnSpc>
              <a:spcBef>
                <a:spcPts val="0"/>
              </a:spcBef>
              <a:spcAft>
                <a:spcPts val="1000"/>
              </a:spcAft>
            </a:pPr>
            <a:r>
              <a:rPr sz="2600" b="1" i="0">
                <a:solidFill>
                  <a:srgbClr val="C00000"/>
                </a:solidFill>
                <a:latin typeface="メイリオ"/>
                <a:ea typeface="メイリオ"/>
                <a:cs typeface="メイリオ"/>
              </a:rPr>
              <a:t>拡張期ピークはどこか</a:t>
            </a:r>
          </a:p>
          <a:p>
            <a:pPr algn="l">
              <a:lnSpc>
                <a:spcPct val="100000"/>
              </a:lnSpc>
              <a:spcBef>
                <a:spcPts val="0"/>
              </a:spcBef>
              <a:spcAft>
                <a:spcPts val="1000"/>
              </a:spcAft>
            </a:pPr>
            <a:r>
              <a:rPr sz="2400" b="0" i="0">
                <a:solidFill>
                  <a:srgbClr val="222222"/>
                </a:solidFill>
                <a:latin typeface="メイリオ"/>
                <a:ea typeface="メイリオ"/>
                <a:cs typeface="メイリオ"/>
              </a:rPr>
              <a:t>局所最大が無い波形では</a:t>
            </a:r>
          </a:p>
          <a:p>
            <a:pPr algn="l">
              <a:lnSpc>
                <a:spcPct val="100000"/>
              </a:lnSpc>
              <a:spcBef>
                <a:spcPts val="0"/>
              </a:spcBef>
              <a:spcAft>
                <a:spcPts val="1000"/>
              </a:spcAft>
            </a:pPr>
            <a:r>
              <a:rPr sz="2400" b="0" i="0">
                <a:solidFill>
                  <a:srgbClr val="222222"/>
                </a:solidFill>
                <a:latin typeface="メイリオ"/>
                <a:ea typeface="メイリオ"/>
                <a:cs typeface="メイリオ"/>
              </a:rPr>
              <a:t>探すこと自体が成立しない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硬いほど消える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14</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§6 ／ Millasseau 2002・Dawber 1973（PMID 4699520）</a:t>
            </a:r>
          </a:p>
        </p:txBody>
      </p:sp>
      <p:sp>
        <p:nvSpPr>
          <p:cNvPr id="12" name="Rounded Rectangle 11"/>
          <p:cNvSpPr/>
          <p:nvPr/>
        </p:nvSpPr>
        <p:spPr>
          <a:xfrm>
            <a:off x="658368" y="1874519"/>
            <a:ext cx="1664208" cy="123444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200"/>
              </a:spcAft>
            </a:pPr>
            <a:r>
              <a:rPr sz="2200" b="1" i="0">
                <a:solidFill>
                  <a:srgbClr val="222222"/>
                </a:solidFill>
                <a:latin typeface="メイリオ"/>
                <a:ea typeface="メイリオ"/>
                <a:cs typeface="メイリオ"/>
              </a:rPr>
              <a:t>壁が硬い</a:t>
            </a:r>
          </a:p>
        </p:txBody>
      </p:sp>
      <p:cxnSp>
        <p:nvCxnSpPr>
          <p:cNvPr id="13" name="Connector 12"/>
          <p:cNvCxnSpPr/>
          <p:nvPr/>
        </p:nvCxnSpPr>
        <p:spPr>
          <a:xfrm>
            <a:off x="2340864" y="2487168"/>
            <a:ext cx="146304" cy="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05456" y="1874519"/>
            <a:ext cx="1664208" cy="123444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200"/>
              </a:spcAft>
            </a:pPr>
            <a:r>
              <a:rPr sz="2200" b="1" i="0">
                <a:solidFill>
                  <a:srgbClr val="222222"/>
                </a:solidFill>
                <a:latin typeface="メイリオ"/>
                <a:ea typeface="メイリオ"/>
                <a:cs typeface="メイリオ"/>
              </a:rPr>
              <a:t>PWV 上昇</a:t>
            </a:r>
          </a:p>
        </p:txBody>
      </p:sp>
      <p:cxnSp>
        <p:nvCxnSpPr>
          <p:cNvPr id="15" name="Connector 14"/>
          <p:cNvCxnSpPr/>
          <p:nvPr/>
        </p:nvCxnSpPr>
        <p:spPr>
          <a:xfrm>
            <a:off x="4187952" y="2487168"/>
            <a:ext cx="146304" cy="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52544" y="1874519"/>
            <a:ext cx="1664208" cy="123444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200"/>
              </a:spcAft>
            </a:pPr>
            <a:r>
              <a:rPr sz="2200" b="1" i="0">
                <a:solidFill>
                  <a:srgbClr val="222222"/>
                </a:solidFill>
                <a:latin typeface="メイリオ"/>
                <a:ea typeface="メイリオ"/>
                <a:cs typeface="メイリオ"/>
              </a:rPr>
              <a:t>反射波が</a:t>
            </a:r>
          </a:p>
          <a:p>
            <a:pPr algn="ctr">
              <a:lnSpc>
                <a:spcPct val="100000"/>
              </a:lnSpc>
              <a:spcBef>
                <a:spcPts val="0"/>
              </a:spcBef>
              <a:spcAft>
                <a:spcPts val="200"/>
              </a:spcAft>
            </a:pPr>
            <a:r>
              <a:rPr sz="2200" b="1" i="0">
                <a:solidFill>
                  <a:srgbClr val="222222"/>
                </a:solidFill>
                <a:latin typeface="メイリオ"/>
                <a:ea typeface="メイリオ"/>
                <a:cs typeface="メイリオ"/>
              </a:rPr>
              <a:t>早く戻る</a:t>
            </a:r>
          </a:p>
        </p:txBody>
      </p:sp>
      <p:cxnSp>
        <p:nvCxnSpPr>
          <p:cNvPr id="17" name="Connector 16"/>
          <p:cNvCxnSpPr/>
          <p:nvPr/>
        </p:nvCxnSpPr>
        <p:spPr>
          <a:xfrm>
            <a:off x="6035040" y="2487168"/>
            <a:ext cx="146304" cy="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99632" y="1874519"/>
            <a:ext cx="1664208" cy="123444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200"/>
              </a:spcAft>
            </a:pPr>
            <a:r>
              <a:rPr sz="2200" b="1" i="0">
                <a:solidFill>
                  <a:srgbClr val="222222"/>
                </a:solidFill>
                <a:latin typeface="メイリオ"/>
                <a:ea typeface="メイリオ"/>
                <a:cs typeface="メイリオ"/>
              </a:rPr>
              <a:t>収縮期に</a:t>
            </a:r>
          </a:p>
          <a:p>
            <a:pPr algn="ctr">
              <a:lnSpc>
                <a:spcPct val="100000"/>
              </a:lnSpc>
              <a:spcBef>
                <a:spcPts val="0"/>
              </a:spcBef>
              <a:spcAft>
                <a:spcPts val="200"/>
              </a:spcAft>
            </a:pPr>
            <a:r>
              <a:rPr sz="2200" b="1" i="0">
                <a:solidFill>
                  <a:srgbClr val="222222"/>
                </a:solidFill>
                <a:latin typeface="メイリオ"/>
                <a:ea typeface="メイリオ"/>
                <a:cs typeface="メイリオ"/>
              </a:rPr>
              <a:t>融合する</a:t>
            </a:r>
          </a:p>
        </p:txBody>
      </p:sp>
      <p:cxnSp>
        <p:nvCxnSpPr>
          <p:cNvPr id="19" name="Connector 18"/>
          <p:cNvCxnSpPr/>
          <p:nvPr/>
        </p:nvCxnSpPr>
        <p:spPr>
          <a:xfrm>
            <a:off x="7882127" y="2487168"/>
            <a:ext cx="146305" cy="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46720" y="1874519"/>
            <a:ext cx="1664208" cy="123444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200"/>
              </a:spcAft>
            </a:pPr>
            <a:r>
              <a:rPr sz="2200" b="1" i="0">
                <a:solidFill>
                  <a:srgbClr val="222222"/>
                </a:solidFill>
                <a:latin typeface="メイリオ"/>
                <a:ea typeface="メイリオ"/>
                <a:cs typeface="メイリオ"/>
              </a:rPr>
              <a:t>一峰性化</a:t>
            </a:r>
          </a:p>
        </p:txBody>
      </p:sp>
      <p:cxnSp>
        <p:nvCxnSpPr>
          <p:cNvPr id="21" name="Connector 20"/>
          <p:cNvCxnSpPr/>
          <p:nvPr/>
        </p:nvCxnSpPr>
        <p:spPr>
          <a:xfrm>
            <a:off x="9729216" y="2487168"/>
            <a:ext cx="146304" cy="0"/>
          </a:xfrm>
          <a:prstGeom prst="line">
            <a:avLst/>
          </a:prstGeom>
          <a:ln w="25400">
            <a:solidFill>
              <a:srgbClr val="8A8A8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93808" y="1874519"/>
            <a:ext cx="1664208" cy="123444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200"/>
              </a:spcAft>
            </a:pPr>
            <a:r>
              <a:rPr sz="2200" b="1" i="0">
                <a:solidFill>
                  <a:srgbClr val="222222"/>
                </a:solidFill>
                <a:latin typeface="メイリオ"/>
                <a:ea typeface="メイリオ"/>
                <a:cs typeface="メイリオ"/>
              </a:rPr>
              <a:t>P</a:t>
            </a:r>
            <a:r>
              <a:rPr sz="2200" b="1" i="0" baseline="-25000">
                <a:solidFill>
                  <a:srgbClr val="222222"/>
                </a:solidFill>
                <a:latin typeface="メイリオ"/>
                <a:ea typeface="メイリオ"/>
                <a:cs typeface="メイリオ"/>
              </a:rPr>
              <a:t>2</a:t>
            </a:r>
            <a:r>
              <a:rPr sz="2200" b="1" i="0">
                <a:solidFill>
                  <a:srgbClr val="222222"/>
                </a:solidFill>
                <a:latin typeface="メイリオ"/>
                <a:ea typeface="メイリオ"/>
                <a:cs typeface="メイリオ"/>
              </a:rPr>
              <a:t> 消失</a:t>
            </a:r>
          </a:p>
        </p:txBody>
      </p:sp>
      <p:sp>
        <p:nvSpPr>
          <p:cNvPr id="23" name="Freeform 22"/>
          <p:cNvSpPr/>
          <p:nvPr/>
        </p:nvSpPr>
        <p:spPr>
          <a:xfrm>
            <a:off x="1097280" y="3520938"/>
            <a:ext cx="4297680" cy="1584837"/>
          </a:xfrm>
          <a:custGeom>
            <a:avLst/>
            <a:gdLst/>
            <a:ahLst/>
            <a:cxnLst/>
            <a:rect l="l" t="t" r="r" b="b"/>
            <a:pathLst>
              <a:path w="4297680" h="1584837">
                <a:moveTo>
                  <a:pt x="0" y="1573357"/>
                </a:moveTo>
                <a:lnTo>
                  <a:pt x="25280" y="1566329"/>
                </a:lnTo>
                <a:lnTo>
                  <a:pt x="50560" y="1557722"/>
                </a:lnTo>
                <a:lnTo>
                  <a:pt x="75841" y="1547266"/>
                </a:lnTo>
                <a:lnTo>
                  <a:pt x="101121" y="1534666"/>
                </a:lnTo>
                <a:lnTo>
                  <a:pt x="126402" y="1519605"/>
                </a:lnTo>
                <a:lnTo>
                  <a:pt x="151682" y="1501748"/>
                </a:lnTo>
                <a:lnTo>
                  <a:pt x="176963" y="1480750"/>
                </a:lnTo>
                <a:lnTo>
                  <a:pt x="202243" y="1456266"/>
                </a:lnTo>
                <a:lnTo>
                  <a:pt x="227524" y="1427957"/>
                </a:lnTo>
                <a:lnTo>
                  <a:pt x="252804" y="1395503"/>
                </a:lnTo>
                <a:lnTo>
                  <a:pt x="278085" y="1358621"/>
                </a:lnTo>
                <a:lnTo>
                  <a:pt x="303365" y="1317073"/>
                </a:lnTo>
                <a:lnTo>
                  <a:pt x="328646" y="1270690"/>
                </a:lnTo>
                <a:lnTo>
                  <a:pt x="353926" y="1219380"/>
                </a:lnTo>
                <a:lnTo>
                  <a:pt x="379207" y="1163149"/>
                </a:lnTo>
                <a:lnTo>
                  <a:pt x="404487" y="1102115"/>
                </a:lnTo>
                <a:lnTo>
                  <a:pt x="429768" y="1036518"/>
                </a:lnTo>
                <a:lnTo>
                  <a:pt x="455048" y="966733"/>
                </a:lnTo>
                <a:lnTo>
                  <a:pt x="480328" y="893273"/>
                </a:lnTo>
                <a:lnTo>
                  <a:pt x="505609" y="816791"/>
                </a:lnTo>
                <a:lnTo>
                  <a:pt x="530889" y="738080"/>
                </a:lnTo>
                <a:lnTo>
                  <a:pt x="556170" y="658058"/>
                </a:lnTo>
                <a:lnTo>
                  <a:pt x="581450" y="577756"/>
                </a:lnTo>
                <a:lnTo>
                  <a:pt x="606731" y="498298"/>
                </a:lnTo>
                <a:lnTo>
                  <a:pt x="632011" y="420874"/>
                </a:lnTo>
                <a:lnTo>
                  <a:pt x="657292" y="346708"/>
                </a:lnTo>
                <a:lnTo>
                  <a:pt x="682572" y="277026"/>
                </a:lnTo>
                <a:lnTo>
                  <a:pt x="707853" y="213020"/>
                </a:lnTo>
                <a:lnTo>
                  <a:pt x="733133" y="155807"/>
                </a:lnTo>
                <a:lnTo>
                  <a:pt x="758414" y="106395"/>
                </a:lnTo>
                <a:lnTo>
                  <a:pt x="783694" y="65650"/>
                </a:lnTo>
                <a:lnTo>
                  <a:pt x="808975" y="34260"/>
                </a:lnTo>
                <a:lnTo>
                  <a:pt x="834255" y="12713"/>
                </a:lnTo>
                <a:lnTo>
                  <a:pt x="859536" y="1280"/>
                </a:lnTo>
                <a:lnTo>
                  <a:pt x="884816" y="0"/>
                </a:lnTo>
                <a:lnTo>
                  <a:pt x="910096" y="8678"/>
                </a:lnTo>
                <a:lnTo>
                  <a:pt x="935377" y="26890"/>
                </a:lnTo>
                <a:lnTo>
                  <a:pt x="960657" y="54000"/>
                </a:lnTo>
                <a:lnTo>
                  <a:pt x="985938" y="89172"/>
                </a:lnTo>
                <a:lnTo>
                  <a:pt x="1011218" y="131408"/>
                </a:lnTo>
                <a:lnTo>
                  <a:pt x="1036499" y="179573"/>
                </a:lnTo>
                <a:lnTo>
                  <a:pt x="1061779" y="232433"/>
                </a:lnTo>
                <a:lnTo>
                  <a:pt x="1087060" y="288697"/>
                </a:lnTo>
                <a:lnTo>
                  <a:pt x="1112340" y="347054"/>
                </a:lnTo>
                <a:lnTo>
                  <a:pt x="1137621" y="406212"/>
                </a:lnTo>
                <a:lnTo>
                  <a:pt x="1162901" y="464935"/>
                </a:lnTo>
                <a:lnTo>
                  <a:pt x="1188182" y="522072"/>
                </a:lnTo>
                <a:lnTo>
                  <a:pt x="1213462" y="576590"/>
                </a:lnTo>
                <a:lnTo>
                  <a:pt x="1238743" y="627591"/>
                </a:lnTo>
                <a:lnTo>
                  <a:pt x="1264023" y="674333"/>
                </a:lnTo>
                <a:lnTo>
                  <a:pt x="1289304" y="716234"/>
                </a:lnTo>
                <a:lnTo>
                  <a:pt x="1314584" y="752882"/>
                </a:lnTo>
                <a:lnTo>
                  <a:pt x="1339864" y="784028"/>
                </a:lnTo>
                <a:lnTo>
                  <a:pt x="1365145" y="809586"/>
                </a:lnTo>
                <a:lnTo>
                  <a:pt x="1390425" y="829614"/>
                </a:lnTo>
                <a:lnTo>
                  <a:pt x="1415706" y="844308"/>
                </a:lnTo>
                <a:lnTo>
                  <a:pt x="1440986" y="853978"/>
                </a:lnTo>
                <a:lnTo>
                  <a:pt x="1466267" y="859033"/>
                </a:lnTo>
                <a:lnTo>
                  <a:pt x="1491547" y="859962"/>
                </a:lnTo>
                <a:lnTo>
                  <a:pt x="1516828" y="857313"/>
                </a:lnTo>
                <a:lnTo>
                  <a:pt x="1542108" y="851673"/>
                </a:lnTo>
                <a:lnTo>
                  <a:pt x="1567389" y="843650"/>
                </a:lnTo>
                <a:lnTo>
                  <a:pt x="1592669" y="833859"/>
                </a:lnTo>
                <a:lnTo>
                  <a:pt x="1617950" y="822903"/>
                </a:lnTo>
                <a:lnTo>
                  <a:pt x="1643230" y="811362"/>
                </a:lnTo>
                <a:lnTo>
                  <a:pt x="1668511" y="799781"/>
                </a:lnTo>
                <a:lnTo>
                  <a:pt x="1693791" y="788660"/>
                </a:lnTo>
                <a:lnTo>
                  <a:pt x="1719072" y="778449"/>
                </a:lnTo>
                <a:lnTo>
                  <a:pt x="1744352" y="769543"/>
                </a:lnTo>
                <a:lnTo>
                  <a:pt x="1769632" y="762272"/>
                </a:lnTo>
                <a:lnTo>
                  <a:pt x="1794913" y="756910"/>
                </a:lnTo>
                <a:lnTo>
                  <a:pt x="1820193" y="753664"/>
                </a:lnTo>
                <a:lnTo>
                  <a:pt x="1845474" y="752683"/>
                </a:lnTo>
                <a:lnTo>
                  <a:pt x="1870754" y="754054"/>
                </a:lnTo>
                <a:lnTo>
                  <a:pt x="1896035" y="757811"/>
                </a:lnTo>
                <a:lnTo>
                  <a:pt x="1921315" y="763932"/>
                </a:lnTo>
                <a:lnTo>
                  <a:pt x="1946596" y="772350"/>
                </a:lnTo>
                <a:lnTo>
                  <a:pt x="1971876" y="782956"/>
                </a:lnTo>
                <a:lnTo>
                  <a:pt x="1997157" y="795603"/>
                </a:lnTo>
                <a:lnTo>
                  <a:pt x="2022437" y="810115"/>
                </a:lnTo>
                <a:lnTo>
                  <a:pt x="2047718" y="826291"/>
                </a:lnTo>
                <a:lnTo>
                  <a:pt x="2072998" y="843910"/>
                </a:lnTo>
                <a:lnTo>
                  <a:pt x="2098279" y="862740"/>
                </a:lnTo>
                <a:lnTo>
                  <a:pt x="2123559" y="882542"/>
                </a:lnTo>
                <a:lnTo>
                  <a:pt x="2148840" y="903076"/>
                </a:lnTo>
                <a:lnTo>
                  <a:pt x="2174120" y="924106"/>
                </a:lnTo>
                <a:lnTo>
                  <a:pt x="2199400" y="945403"/>
                </a:lnTo>
                <a:lnTo>
                  <a:pt x="2224681" y="966752"/>
                </a:lnTo>
                <a:lnTo>
                  <a:pt x="2249961" y="987954"/>
                </a:lnTo>
                <a:lnTo>
                  <a:pt x="2275242" y="1008826"/>
                </a:lnTo>
                <a:lnTo>
                  <a:pt x="2300522" y="1029209"/>
                </a:lnTo>
                <a:lnTo>
                  <a:pt x="2325803" y="1048964"/>
                </a:lnTo>
                <a:lnTo>
                  <a:pt x="2351083" y="1067975"/>
                </a:lnTo>
                <a:lnTo>
                  <a:pt x="2376364" y="1086150"/>
                </a:lnTo>
                <a:lnTo>
                  <a:pt x="2401644" y="1103420"/>
                </a:lnTo>
                <a:lnTo>
                  <a:pt x="2426925" y="1119739"/>
                </a:lnTo>
                <a:lnTo>
                  <a:pt x="2452205" y="1135081"/>
                </a:lnTo>
                <a:lnTo>
                  <a:pt x="2477486" y="1149439"/>
                </a:lnTo>
                <a:lnTo>
                  <a:pt x="2502766" y="1162824"/>
                </a:lnTo>
                <a:lnTo>
                  <a:pt x="2528047" y="1175265"/>
                </a:lnTo>
                <a:lnTo>
                  <a:pt x="2553327" y="1186802"/>
                </a:lnTo>
                <a:lnTo>
                  <a:pt x="2578607" y="1197486"/>
                </a:lnTo>
                <a:lnTo>
                  <a:pt x="2603888" y="1207379"/>
                </a:lnTo>
                <a:lnTo>
                  <a:pt x="2629168" y="1216549"/>
                </a:lnTo>
                <a:lnTo>
                  <a:pt x="2654449" y="1225069"/>
                </a:lnTo>
                <a:lnTo>
                  <a:pt x="2679729" y="1233013"/>
                </a:lnTo>
                <a:lnTo>
                  <a:pt x="2705010" y="1240459"/>
                </a:lnTo>
                <a:lnTo>
                  <a:pt x="2730290" y="1247483"/>
                </a:lnTo>
                <a:lnTo>
                  <a:pt x="2755571" y="1254157"/>
                </a:lnTo>
                <a:lnTo>
                  <a:pt x="2780851" y="1260554"/>
                </a:lnTo>
                <a:lnTo>
                  <a:pt x="2806132" y="1266738"/>
                </a:lnTo>
                <a:lnTo>
                  <a:pt x="2831412" y="1272773"/>
                </a:lnTo>
                <a:lnTo>
                  <a:pt x="2856693" y="1278713"/>
                </a:lnTo>
                <a:lnTo>
                  <a:pt x="2881973" y="1284608"/>
                </a:lnTo>
                <a:lnTo>
                  <a:pt x="2907254" y="1290503"/>
                </a:lnTo>
                <a:lnTo>
                  <a:pt x="2932534" y="1296434"/>
                </a:lnTo>
                <a:lnTo>
                  <a:pt x="2957815" y="1302432"/>
                </a:lnTo>
                <a:lnTo>
                  <a:pt x="2983095" y="1308523"/>
                </a:lnTo>
                <a:lnTo>
                  <a:pt x="3008376" y="1314726"/>
                </a:lnTo>
                <a:lnTo>
                  <a:pt x="3033656" y="1321054"/>
                </a:lnTo>
                <a:lnTo>
                  <a:pt x="3058936" y="1327517"/>
                </a:lnTo>
                <a:lnTo>
                  <a:pt x="3084217" y="1334117"/>
                </a:lnTo>
                <a:lnTo>
                  <a:pt x="3109497" y="1340855"/>
                </a:lnTo>
                <a:lnTo>
                  <a:pt x="3134778" y="1347725"/>
                </a:lnTo>
                <a:lnTo>
                  <a:pt x="3160058" y="1354722"/>
                </a:lnTo>
                <a:lnTo>
                  <a:pt x="3185339" y="1361833"/>
                </a:lnTo>
                <a:lnTo>
                  <a:pt x="3210619" y="1369047"/>
                </a:lnTo>
                <a:lnTo>
                  <a:pt x="3235900" y="1376348"/>
                </a:lnTo>
                <a:lnTo>
                  <a:pt x="3261180" y="1383720"/>
                </a:lnTo>
                <a:lnTo>
                  <a:pt x="3286461" y="1391144"/>
                </a:lnTo>
                <a:lnTo>
                  <a:pt x="3311741" y="1398604"/>
                </a:lnTo>
                <a:lnTo>
                  <a:pt x="3337022" y="1406079"/>
                </a:lnTo>
                <a:lnTo>
                  <a:pt x="3362302" y="1413550"/>
                </a:lnTo>
                <a:lnTo>
                  <a:pt x="3387583" y="1420998"/>
                </a:lnTo>
                <a:lnTo>
                  <a:pt x="3412863" y="1428404"/>
                </a:lnTo>
                <a:lnTo>
                  <a:pt x="3438144" y="1435750"/>
                </a:lnTo>
                <a:lnTo>
                  <a:pt x="3463424" y="1443017"/>
                </a:lnTo>
                <a:lnTo>
                  <a:pt x="3488704" y="1450188"/>
                </a:lnTo>
                <a:lnTo>
                  <a:pt x="3513985" y="1457247"/>
                </a:lnTo>
                <a:lnTo>
                  <a:pt x="3539265" y="1464180"/>
                </a:lnTo>
                <a:lnTo>
                  <a:pt x="3564546" y="1470972"/>
                </a:lnTo>
                <a:lnTo>
                  <a:pt x="3589826" y="1477609"/>
                </a:lnTo>
                <a:lnTo>
                  <a:pt x="3615107" y="1484082"/>
                </a:lnTo>
                <a:lnTo>
                  <a:pt x="3640387" y="1490379"/>
                </a:lnTo>
                <a:lnTo>
                  <a:pt x="3665668" y="1496491"/>
                </a:lnTo>
                <a:lnTo>
                  <a:pt x="3690948" y="1502411"/>
                </a:lnTo>
                <a:lnTo>
                  <a:pt x="3716229" y="1508132"/>
                </a:lnTo>
                <a:lnTo>
                  <a:pt x="3741509" y="1513649"/>
                </a:lnTo>
                <a:lnTo>
                  <a:pt x="3766790" y="1518958"/>
                </a:lnTo>
                <a:lnTo>
                  <a:pt x="3792070" y="1524055"/>
                </a:lnTo>
                <a:lnTo>
                  <a:pt x="3817351" y="1528940"/>
                </a:lnTo>
                <a:lnTo>
                  <a:pt x="3842631" y="1533610"/>
                </a:lnTo>
                <a:lnTo>
                  <a:pt x="3867912" y="1538067"/>
                </a:lnTo>
                <a:lnTo>
                  <a:pt x="3893192" y="1542312"/>
                </a:lnTo>
                <a:lnTo>
                  <a:pt x="3918472" y="1546347"/>
                </a:lnTo>
                <a:lnTo>
                  <a:pt x="3943753" y="1550174"/>
                </a:lnTo>
                <a:lnTo>
                  <a:pt x="3969033" y="1553797"/>
                </a:lnTo>
                <a:lnTo>
                  <a:pt x="3994314" y="1557221"/>
                </a:lnTo>
                <a:lnTo>
                  <a:pt x="4019594" y="1560450"/>
                </a:lnTo>
                <a:lnTo>
                  <a:pt x="4044875" y="1563489"/>
                </a:lnTo>
                <a:lnTo>
                  <a:pt x="4070155" y="1566344"/>
                </a:lnTo>
                <a:lnTo>
                  <a:pt x="4095436" y="1569021"/>
                </a:lnTo>
                <a:lnTo>
                  <a:pt x="4120716" y="1571527"/>
                </a:lnTo>
                <a:lnTo>
                  <a:pt x="4145997" y="1573867"/>
                </a:lnTo>
                <a:lnTo>
                  <a:pt x="4171277" y="1576050"/>
                </a:lnTo>
                <a:lnTo>
                  <a:pt x="4196558" y="1578082"/>
                </a:lnTo>
                <a:lnTo>
                  <a:pt x="4221838" y="1579969"/>
                </a:lnTo>
                <a:lnTo>
                  <a:pt x="4247119" y="1581719"/>
                </a:lnTo>
                <a:lnTo>
                  <a:pt x="4272399" y="1583340"/>
                </a:lnTo>
                <a:lnTo>
                  <a:pt x="4297680" y="1584837"/>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097280" y="5120640"/>
            <a:ext cx="429768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7280" y="5175503"/>
            <a:ext cx="429768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222222"/>
                </a:solidFill>
                <a:latin typeface="メイリオ"/>
                <a:ea typeface="メイリオ"/>
                <a:cs typeface="メイリオ"/>
              </a:rPr>
              <a:t>しなやかな血管：P</a:t>
            </a:r>
            <a:r>
              <a:rPr sz="2200" b="1" i="0" baseline="-25000">
                <a:solidFill>
                  <a:srgbClr val="222222"/>
                </a:solidFill>
                <a:latin typeface="メイリオ"/>
                <a:ea typeface="メイリオ"/>
                <a:cs typeface="メイリオ"/>
              </a:rPr>
              <a:t>2</a:t>
            </a:r>
            <a:r>
              <a:rPr sz="2200" b="1" i="0">
                <a:solidFill>
                  <a:srgbClr val="222222"/>
                </a:solidFill>
                <a:latin typeface="メイリオ"/>
                <a:ea typeface="メイリオ"/>
                <a:cs typeface="メイリオ"/>
              </a:rPr>
              <a:t> が見える</a:t>
            </a:r>
          </a:p>
        </p:txBody>
      </p:sp>
      <p:sp>
        <p:nvSpPr>
          <p:cNvPr id="26" name="Freeform 25"/>
          <p:cNvSpPr/>
          <p:nvPr/>
        </p:nvSpPr>
        <p:spPr>
          <a:xfrm>
            <a:off x="6675120" y="3520589"/>
            <a:ext cx="4297680" cy="1589736"/>
          </a:xfrm>
          <a:custGeom>
            <a:avLst/>
            <a:gdLst/>
            <a:ahLst/>
            <a:cxnLst/>
            <a:rect l="l" t="t" r="r" b="b"/>
            <a:pathLst>
              <a:path w="4297680" h="1589736">
                <a:moveTo>
                  <a:pt x="0" y="1551519"/>
                </a:moveTo>
                <a:lnTo>
                  <a:pt x="25280" y="1542009"/>
                </a:lnTo>
                <a:lnTo>
                  <a:pt x="50560" y="1530962"/>
                </a:lnTo>
                <a:lnTo>
                  <a:pt x="75841" y="1518200"/>
                </a:lnTo>
                <a:lnTo>
                  <a:pt x="101121" y="1503541"/>
                </a:lnTo>
                <a:lnTo>
                  <a:pt x="126402" y="1486799"/>
                </a:lnTo>
                <a:lnTo>
                  <a:pt x="151682" y="1467788"/>
                </a:lnTo>
                <a:lnTo>
                  <a:pt x="176963" y="1446326"/>
                </a:lnTo>
                <a:lnTo>
                  <a:pt x="202243" y="1422239"/>
                </a:lnTo>
                <a:lnTo>
                  <a:pt x="227524" y="1395367"/>
                </a:lnTo>
                <a:lnTo>
                  <a:pt x="252804" y="1365568"/>
                </a:lnTo>
                <a:lnTo>
                  <a:pt x="278085" y="1332723"/>
                </a:lnTo>
                <a:lnTo>
                  <a:pt x="303365" y="1296743"/>
                </a:lnTo>
                <a:lnTo>
                  <a:pt x="328646" y="1257574"/>
                </a:lnTo>
                <a:lnTo>
                  <a:pt x="353926" y="1215204"/>
                </a:lnTo>
                <a:lnTo>
                  <a:pt x="379207" y="1169664"/>
                </a:lnTo>
                <a:lnTo>
                  <a:pt x="404487" y="1121036"/>
                </a:lnTo>
                <a:lnTo>
                  <a:pt x="429768" y="1069457"/>
                </a:lnTo>
                <a:lnTo>
                  <a:pt x="455048" y="1015117"/>
                </a:lnTo>
                <a:lnTo>
                  <a:pt x="480328" y="958267"/>
                </a:lnTo>
                <a:lnTo>
                  <a:pt x="505609" y="899212"/>
                </a:lnTo>
                <a:lnTo>
                  <a:pt x="530889" y="838316"/>
                </a:lnTo>
                <a:lnTo>
                  <a:pt x="556170" y="775995"/>
                </a:lnTo>
                <a:lnTo>
                  <a:pt x="581450" y="712713"/>
                </a:lnTo>
                <a:lnTo>
                  <a:pt x="606731" y="648978"/>
                </a:lnTo>
                <a:lnTo>
                  <a:pt x="632011" y="585332"/>
                </a:lnTo>
                <a:lnTo>
                  <a:pt x="657292" y="522344"/>
                </a:lnTo>
                <a:lnTo>
                  <a:pt x="682572" y="460598"/>
                </a:lnTo>
                <a:lnTo>
                  <a:pt x="707853" y="400686"/>
                </a:lnTo>
                <a:lnTo>
                  <a:pt x="733133" y="343192"/>
                </a:lnTo>
                <a:lnTo>
                  <a:pt x="758414" y="288683"/>
                </a:lnTo>
                <a:lnTo>
                  <a:pt x="783694" y="237699"/>
                </a:lnTo>
                <a:lnTo>
                  <a:pt x="808975" y="190739"/>
                </a:lnTo>
                <a:lnTo>
                  <a:pt x="834255" y="148251"/>
                </a:lnTo>
                <a:lnTo>
                  <a:pt x="859536" y="110628"/>
                </a:lnTo>
                <a:lnTo>
                  <a:pt x="884816" y="78193"/>
                </a:lnTo>
                <a:lnTo>
                  <a:pt x="910096" y="51199"/>
                </a:lnTo>
                <a:lnTo>
                  <a:pt x="935377" y="29823"/>
                </a:lnTo>
                <a:lnTo>
                  <a:pt x="960657" y="14164"/>
                </a:lnTo>
                <a:lnTo>
                  <a:pt x="985938" y="4242"/>
                </a:lnTo>
                <a:lnTo>
                  <a:pt x="1011218" y="0"/>
                </a:lnTo>
                <a:lnTo>
                  <a:pt x="1036499" y="1311"/>
                </a:lnTo>
                <a:lnTo>
                  <a:pt x="1061779" y="7979"/>
                </a:lnTo>
                <a:lnTo>
                  <a:pt x="1087060" y="19746"/>
                </a:lnTo>
                <a:lnTo>
                  <a:pt x="1112340" y="36304"/>
                </a:lnTo>
                <a:lnTo>
                  <a:pt x="1137621" y="57300"/>
                </a:lnTo>
                <a:lnTo>
                  <a:pt x="1162901" y="82347"/>
                </a:lnTo>
                <a:lnTo>
                  <a:pt x="1188182" y="111033"/>
                </a:lnTo>
                <a:lnTo>
                  <a:pt x="1213462" y="142929"/>
                </a:lnTo>
                <a:lnTo>
                  <a:pt x="1238743" y="177602"/>
                </a:lnTo>
                <a:lnTo>
                  <a:pt x="1264023" y="214620"/>
                </a:lnTo>
                <a:lnTo>
                  <a:pt x="1289303" y="253560"/>
                </a:lnTo>
                <a:lnTo>
                  <a:pt x="1314584" y="294015"/>
                </a:lnTo>
                <a:lnTo>
                  <a:pt x="1339864" y="335602"/>
                </a:lnTo>
                <a:lnTo>
                  <a:pt x="1365145" y="377961"/>
                </a:lnTo>
                <a:lnTo>
                  <a:pt x="1390425" y="420763"/>
                </a:lnTo>
                <a:lnTo>
                  <a:pt x="1415706" y="463709"/>
                </a:lnTo>
                <a:lnTo>
                  <a:pt x="1440986" y="506532"/>
                </a:lnTo>
                <a:lnTo>
                  <a:pt x="1466267" y="548997"/>
                </a:lnTo>
                <a:lnTo>
                  <a:pt x="1491547" y="590899"/>
                </a:lnTo>
                <a:lnTo>
                  <a:pt x="1516828" y="632066"/>
                </a:lnTo>
                <a:lnTo>
                  <a:pt x="1542108" y="672348"/>
                </a:lnTo>
                <a:lnTo>
                  <a:pt x="1567389" y="711623"/>
                </a:lnTo>
                <a:lnTo>
                  <a:pt x="1592669" y="749793"/>
                </a:lnTo>
                <a:lnTo>
                  <a:pt x="1617950" y="786776"/>
                </a:lnTo>
                <a:lnTo>
                  <a:pt x="1643230" y="822509"/>
                </a:lnTo>
                <a:lnTo>
                  <a:pt x="1668511" y="856944"/>
                </a:lnTo>
                <a:lnTo>
                  <a:pt x="1693791" y="890045"/>
                </a:lnTo>
                <a:lnTo>
                  <a:pt x="1719072" y="921787"/>
                </a:lnTo>
                <a:lnTo>
                  <a:pt x="1744352" y="952153"/>
                </a:lnTo>
                <a:lnTo>
                  <a:pt x="1769632" y="981133"/>
                </a:lnTo>
                <a:lnTo>
                  <a:pt x="1794913" y="1008726"/>
                </a:lnTo>
                <a:lnTo>
                  <a:pt x="1820193" y="1034935"/>
                </a:lnTo>
                <a:lnTo>
                  <a:pt x="1845474" y="1059766"/>
                </a:lnTo>
                <a:lnTo>
                  <a:pt x="1870754" y="1083233"/>
                </a:lnTo>
                <a:lnTo>
                  <a:pt x="1896035" y="1105353"/>
                </a:lnTo>
                <a:lnTo>
                  <a:pt x="1921315" y="1126148"/>
                </a:lnTo>
                <a:lnTo>
                  <a:pt x="1946596" y="1145644"/>
                </a:lnTo>
                <a:lnTo>
                  <a:pt x="1971876" y="1163870"/>
                </a:lnTo>
                <a:lnTo>
                  <a:pt x="1997157" y="1180863"/>
                </a:lnTo>
                <a:lnTo>
                  <a:pt x="2022437" y="1196660"/>
                </a:lnTo>
                <a:lnTo>
                  <a:pt x="2047718" y="1211306"/>
                </a:lnTo>
                <a:lnTo>
                  <a:pt x="2072998" y="1224847"/>
                </a:lnTo>
                <a:lnTo>
                  <a:pt x="2098279" y="1237334"/>
                </a:lnTo>
                <a:lnTo>
                  <a:pt x="2123559" y="1248821"/>
                </a:lnTo>
                <a:lnTo>
                  <a:pt x="2148840" y="1259366"/>
                </a:lnTo>
                <a:lnTo>
                  <a:pt x="2174120" y="1269029"/>
                </a:lnTo>
                <a:lnTo>
                  <a:pt x="2199400" y="1277870"/>
                </a:lnTo>
                <a:lnTo>
                  <a:pt x="2224681" y="1285953"/>
                </a:lnTo>
                <a:lnTo>
                  <a:pt x="2249961" y="1293341"/>
                </a:lnTo>
                <a:lnTo>
                  <a:pt x="2275242" y="1300099"/>
                </a:lnTo>
                <a:lnTo>
                  <a:pt x="2300522" y="1306289"/>
                </a:lnTo>
                <a:lnTo>
                  <a:pt x="2325803" y="1311975"/>
                </a:lnTo>
                <a:lnTo>
                  <a:pt x="2351083" y="1317216"/>
                </a:lnTo>
                <a:lnTo>
                  <a:pt x="2376364" y="1322071"/>
                </a:lnTo>
                <a:lnTo>
                  <a:pt x="2401644" y="1326597"/>
                </a:lnTo>
                <a:lnTo>
                  <a:pt x="2426925" y="1330846"/>
                </a:lnTo>
                <a:lnTo>
                  <a:pt x="2452205" y="1334870"/>
                </a:lnTo>
                <a:lnTo>
                  <a:pt x="2477486" y="1338714"/>
                </a:lnTo>
                <a:lnTo>
                  <a:pt x="2502766" y="1342422"/>
                </a:lnTo>
                <a:lnTo>
                  <a:pt x="2528047" y="1346033"/>
                </a:lnTo>
                <a:lnTo>
                  <a:pt x="2553327" y="1349583"/>
                </a:lnTo>
                <a:lnTo>
                  <a:pt x="2578608" y="1353103"/>
                </a:lnTo>
                <a:lnTo>
                  <a:pt x="2603888" y="1356621"/>
                </a:lnTo>
                <a:lnTo>
                  <a:pt x="2629168" y="1360162"/>
                </a:lnTo>
                <a:lnTo>
                  <a:pt x="2654449" y="1363745"/>
                </a:lnTo>
                <a:lnTo>
                  <a:pt x="2679729" y="1367389"/>
                </a:lnTo>
                <a:lnTo>
                  <a:pt x="2705010" y="1371106"/>
                </a:lnTo>
                <a:lnTo>
                  <a:pt x="2730290" y="1374909"/>
                </a:lnTo>
                <a:lnTo>
                  <a:pt x="2755571" y="1378805"/>
                </a:lnTo>
                <a:lnTo>
                  <a:pt x="2780851" y="1382798"/>
                </a:lnTo>
                <a:lnTo>
                  <a:pt x="2806132" y="1386894"/>
                </a:lnTo>
                <a:lnTo>
                  <a:pt x="2831412" y="1391091"/>
                </a:lnTo>
                <a:lnTo>
                  <a:pt x="2856693" y="1395389"/>
                </a:lnTo>
                <a:lnTo>
                  <a:pt x="2881973" y="1399786"/>
                </a:lnTo>
                <a:lnTo>
                  <a:pt x="2907254" y="1404276"/>
                </a:lnTo>
                <a:lnTo>
                  <a:pt x="2932534" y="1408854"/>
                </a:lnTo>
                <a:lnTo>
                  <a:pt x="2957815" y="1413513"/>
                </a:lnTo>
                <a:lnTo>
                  <a:pt x="2983095" y="1418246"/>
                </a:lnTo>
                <a:lnTo>
                  <a:pt x="3008376" y="1423043"/>
                </a:lnTo>
                <a:lnTo>
                  <a:pt x="3033656" y="1427896"/>
                </a:lnTo>
                <a:lnTo>
                  <a:pt x="3058936" y="1432795"/>
                </a:lnTo>
                <a:lnTo>
                  <a:pt x="3084217" y="1437730"/>
                </a:lnTo>
                <a:lnTo>
                  <a:pt x="3109497" y="1442691"/>
                </a:lnTo>
                <a:lnTo>
                  <a:pt x="3134778" y="1447666"/>
                </a:lnTo>
                <a:lnTo>
                  <a:pt x="3160058" y="1452647"/>
                </a:lnTo>
                <a:lnTo>
                  <a:pt x="3185339" y="1457623"/>
                </a:lnTo>
                <a:lnTo>
                  <a:pt x="3210619" y="1462584"/>
                </a:lnTo>
                <a:lnTo>
                  <a:pt x="3235900" y="1467519"/>
                </a:lnTo>
                <a:lnTo>
                  <a:pt x="3261180" y="1472420"/>
                </a:lnTo>
                <a:lnTo>
                  <a:pt x="3286461" y="1477277"/>
                </a:lnTo>
                <a:lnTo>
                  <a:pt x="3311741" y="1482082"/>
                </a:lnTo>
                <a:lnTo>
                  <a:pt x="3337022" y="1486825"/>
                </a:lnTo>
                <a:lnTo>
                  <a:pt x="3362302" y="1491500"/>
                </a:lnTo>
                <a:lnTo>
                  <a:pt x="3387583" y="1496100"/>
                </a:lnTo>
                <a:lnTo>
                  <a:pt x="3412863" y="1500616"/>
                </a:lnTo>
                <a:lnTo>
                  <a:pt x="3438144" y="1505043"/>
                </a:lnTo>
                <a:lnTo>
                  <a:pt x="3463424" y="1509375"/>
                </a:lnTo>
                <a:lnTo>
                  <a:pt x="3488704" y="1513608"/>
                </a:lnTo>
                <a:lnTo>
                  <a:pt x="3513985" y="1517735"/>
                </a:lnTo>
                <a:lnTo>
                  <a:pt x="3539265" y="1521755"/>
                </a:lnTo>
                <a:lnTo>
                  <a:pt x="3564546" y="1525661"/>
                </a:lnTo>
                <a:lnTo>
                  <a:pt x="3589826" y="1529453"/>
                </a:lnTo>
                <a:lnTo>
                  <a:pt x="3615107" y="1533127"/>
                </a:lnTo>
                <a:lnTo>
                  <a:pt x="3640387" y="1536681"/>
                </a:lnTo>
                <a:lnTo>
                  <a:pt x="3665668" y="1540115"/>
                </a:lnTo>
                <a:lnTo>
                  <a:pt x="3690948" y="1543426"/>
                </a:lnTo>
                <a:lnTo>
                  <a:pt x="3716229" y="1546615"/>
                </a:lnTo>
                <a:lnTo>
                  <a:pt x="3741509" y="1549681"/>
                </a:lnTo>
                <a:lnTo>
                  <a:pt x="3766790" y="1552625"/>
                </a:lnTo>
                <a:lnTo>
                  <a:pt x="3792070" y="1555447"/>
                </a:lnTo>
                <a:lnTo>
                  <a:pt x="3817351" y="1558149"/>
                </a:lnTo>
                <a:lnTo>
                  <a:pt x="3842631" y="1560731"/>
                </a:lnTo>
                <a:lnTo>
                  <a:pt x="3867912" y="1563196"/>
                </a:lnTo>
                <a:lnTo>
                  <a:pt x="3893192" y="1565546"/>
                </a:lnTo>
                <a:lnTo>
                  <a:pt x="3918472" y="1567782"/>
                </a:lnTo>
                <a:lnTo>
                  <a:pt x="3943753" y="1569907"/>
                </a:lnTo>
                <a:lnTo>
                  <a:pt x="3969033" y="1571924"/>
                </a:lnTo>
                <a:lnTo>
                  <a:pt x="3994314" y="1573836"/>
                </a:lnTo>
                <a:lnTo>
                  <a:pt x="4019594" y="1575645"/>
                </a:lnTo>
                <a:lnTo>
                  <a:pt x="4044875" y="1577355"/>
                </a:lnTo>
                <a:lnTo>
                  <a:pt x="4070155" y="1578970"/>
                </a:lnTo>
                <a:lnTo>
                  <a:pt x="4095436" y="1580491"/>
                </a:lnTo>
                <a:lnTo>
                  <a:pt x="4120716" y="1581923"/>
                </a:lnTo>
                <a:lnTo>
                  <a:pt x="4145997" y="1583269"/>
                </a:lnTo>
                <a:lnTo>
                  <a:pt x="4171277" y="1584533"/>
                </a:lnTo>
                <a:lnTo>
                  <a:pt x="4196558" y="1585718"/>
                </a:lnTo>
                <a:lnTo>
                  <a:pt x="4221838" y="1586827"/>
                </a:lnTo>
                <a:lnTo>
                  <a:pt x="4247119" y="1587865"/>
                </a:lnTo>
                <a:lnTo>
                  <a:pt x="4272399" y="1588833"/>
                </a:lnTo>
                <a:lnTo>
                  <a:pt x="4297680" y="1589736"/>
                </a:lnTo>
              </a:path>
            </a:pathLst>
          </a:custGeom>
          <a:noFill/>
          <a:ln w="3302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675120" y="5120640"/>
            <a:ext cx="429768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675120" y="5175503"/>
            <a:ext cx="448056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C00000"/>
                </a:solidFill>
                <a:latin typeface="メイリオ"/>
                <a:ea typeface="メイリオ"/>
                <a:cs typeface="メイリオ"/>
              </a:rPr>
              <a:t>硬い血管：山がひとつに融合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第2ピークの正体</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15</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Epstein S, et al. Annu Int Conf IEEE EMBC 2014;2014:1969-72（PMID 25570367）</a:t>
            </a:r>
          </a:p>
        </p:txBody>
      </p:sp>
      <p:sp>
        <p:nvSpPr>
          <p:cNvPr id="12" name="Rounded Rectangle 11"/>
          <p:cNvSpPr/>
          <p:nvPr/>
        </p:nvSpPr>
        <p:spPr>
          <a:xfrm>
            <a:off x="640080" y="1828800"/>
            <a:ext cx="10881360" cy="100584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75 本の動脈網の数値モデルで検証（Epstein 2014）</a:t>
            </a:r>
          </a:p>
        </p:txBody>
      </p:sp>
      <p:sp>
        <p:nvSpPr>
          <p:cNvPr id="13" name="Rounded Rectangle 12"/>
          <p:cNvSpPr/>
          <p:nvPr/>
        </p:nvSpPr>
        <p:spPr>
          <a:xfrm>
            <a:off x="640080" y="3017520"/>
            <a:ext cx="5303520" cy="173736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400" b="1" i="0">
                <a:solidFill>
                  <a:srgbClr val="0072B2"/>
                </a:solidFill>
                <a:latin typeface="メイリオ"/>
                <a:ea typeface="メイリオ"/>
                <a:cs typeface="メイリオ"/>
              </a:rPr>
              <a:t>SI は PWV の代用ではない</a:t>
            </a:r>
          </a:p>
          <a:p>
            <a:pPr algn="l">
              <a:lnSpc>
                <a:spcPct val="100000"/>
              </a:lnSpc>
              <a:spcBef>
                <a:spcPts val="0"/>
              </a:spcBef>
              <a:spcAft>
                <a:spcPts val="600"/>
              </a:spcAft>
            </a:pPr>
          </a:p>
          <a:p>
            <a:pPr algn="l">
              <a:lnSpc>
                <a:spcPct val="100000"/>
              </a:lnSpc>
              <a:spcBef>
                <a:spcPts val="0"/>
              </a:spcBef>
              <a:spcAft>
                <a:spcPts val="600"/>
              </a:spcAft>
            </a:pPr>
            <a:r>
              <a:rPr sz="2200" b="0" i="0">
                <a:solidFill>
                  <a:srgbClr val="222222"/>
                </a:solidFill>
                <a:latin typeface="メイリオ"/>
                <a:ea typeface="メイリオ"/>
                <a:cs typeface="メイリオ"/>
              </a:rPr>
              <a:t>PWV は大動脈の硬さ</a:t>
            </a:r>
          </a:p>
          <a:p>
            <a:pPr algn="l">
              <a:lnSpc>
                <a:spcPct val="100000"/>
              </a:lnSpc>
              <a:spcBef>
                <a:spcPts val="0"/>
              </a:spcBef>
              <a:spcAft>
                <a:spcPts val="600"/>
              </a:spcAft>
            </a:pPr>
            <a:r>
              <a:rPr sz="2200" b="0" i="0">
                <a:solidFill>
                  <a:srgbClr val="222222"/>
                </a:solidFill>
                <a:latin typeface="メイリオ"/>
                <a:ea typeface="メイリオ"/>
                <a:cs typeface="メイリオ"/>
              </a:rPr>
              <a:t>SI は導管血管全体の硬さ</a:t>
            </a:r>
          </a:p>
        </p:txBody>
      </p:sp>
      <p:sp>
        <p:nvSpPr>
          <p:cNvPr id="14" name="Rounded Rectangle 13"/>
          <p:cNvSpPr/>
          <p:nvPr/>
        </p:nvSpPr>
        <p:spPr>
          <a:xfrm>
            <a:off x="6217920" y="3017520"/>
            <a:ext cx="5303520" cy="173736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400" b="1" i="0">
                <a:solidFill>
                  <a:srgbClr val="D55E00"/>
                </a:solidFill>
                <a:latin typeface="メイリオ"/>
                <a:ea typeface="メイリオ"/>
                <a:cs typeface="メイリオ"/>
              </a:rPr>
              <a:t>第2ピークの主因</a:t>
            </a:r>
          </a:p>
          <a:p>
            <a:pPr algn="l">
              <a:lnSpc>
                <a:spcPct val="100000"/>
              </a:lnSpc>
              <a:spcBef>
                <a:spcPts val="0"/>
              </a:spcBef>
              <a:spcAft>
                <a:spcPts val="600"/>
              </a:spcAft>
            </a:pPr>
          </a:p>
          <a:p>
            <a:pPr algn="l">
              <a:lnSpc>
                <a:spcPct val="100000"/>
              </a:lnSpc>
              <a:spcBef>
                <a:spcPts val="0"/>
              </a:spcBef>
              <a:spcAft>
                <a:spcPts val="600"/>
              </a:spcAft>
            </a:pPr>
            <a:r>
              <a:rPr sz="2200" b="0" i="0">
                <a:solidFill>
                  <a:srgbClr val="222222"/>
                </a:solidFill>
                <a:latin typeface="メイリオ"/>
                <a:ea typeface="メイリオ"/>
                <a:cs typeface="メイリオ"/>
              </a:rPr>
              <a:t>末梢反射ではなく</a:t>
            </a:r>
          </a:p>
          <a:p>
            <a:pPr algn="l">
              <a:lnSpc>
                <a:spcPct val="100000"/>
              </a:lnSpc>
              <a:spcBef>
                <a:spcPts val="0"/>
              </a:spcBef>
              <a:spcAft>
                <a:spcPts val="600"/>
              </a:spcAft>
            </a:pPr>
            <a:r>
              <a:rPr sz="2200" b="0" i="0">
                <a:solidFill>
                  <a:srgbClr val="222222"/>
                </a:solidFill>
                <a:latin typeface="メイリオ"/>
                <a:ea typeface="メイリオ"/>
                <a:cs typeface="メイリオ"/>
              </a:rPr>
              <a:t>動脈網内部のインピーダンス不整合</a:t>
            </a:r>
          </a:p>
        </p:txBody>
      </p:sp>
      <p:sp>
        <p:nvSpPr>
          <p:cNvPr id="15" name="Rounded Rectangle 14"/>
          <p:cNvSpPr/>
          <p:nvPr/>
        </p:nvSpPr>
        <p:spPr>
          <a:xfrm>
            <a:off x="640080" y="4937760"/>
            <a:ext cx="10881360" cy="86868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C00000"/>
                </a:solidFill>
                <a:latin typeface="メイリオ"/>
                <a:ea typeface="メイリオ"/>
                <a:cs typeface="メイリオ"/>
              </a:rPr>
              <a:t>「2番目の山＝末梢反射波」は自明ではない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同定が壊れる四条件</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16</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§7 ／ Suboh MZ, et al. Front Public Health 2022;10:920946（PMID 35844894）</a:t>
            </a:r>
          </a:p>
        </p:txBody>
      </p:sp>
      <p:sp>
        <p:nvSpPr>
          <p:cNvPr id="12" name="Rounded Rectangle 11"/>
          <p:cNvSpPr/>
          <p:nvPr/>
        </p:nvSpPr>
        <p:spPr>
          <a:xfrm>
            <a:off x="640080" y="1847088"/>
            <a:ext cx="5303520" cy="13716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D55E00"/>
                </a:solidFill>
                <a:latin typeface="メイリオ"/>
                <a:ea typeface="メイリオ"/>
                <a:cs typeface="メイリオ"/>
              </a:rPr>
              <a:t>① 一峰性化</a:t>
            </a:r>
          </a:p>
          <a:p>
            <a:pPr algn="l">
              <a:lnSpc>
                <a:spcPct val="100000"/>
              </a:lnSpc>
              <a:spcBef>
                <a:spcPts val="0"/>
              </a:spcBef>
              <a:spcAft>
                <a:spcPts val="600"/>
              </a:spcAft>
            </a:pPr>
          </a:p>
          <a:p>
            <a:pPr algn="l">
              <a:lnSpc>
                <a:spcPct val="100000"/>
              </a:lnSpc>
              <a:spcBef>
                <a:spcPts val="0"/>
              </a:spcBef>
              <a:spcAft>
                <a:spcPts val="600"/>
              </a:spcAft>
            </a:pPr>
            <a:r>
              <a:rPr sz="2400" b="0" i="0">
                <a:solidFill>
                  <a:srgbClr val="222222"/>
                </a:solidFill>
                <a:latin typeface="メイリオ"/>
                <a:ea typeface="メイリオ"/>
                <a:cs typeface="メイリオ"/>
              </a:rPr>
              <a:t>高齢・高スティフネスで山が融合</a:t>
            </a:r>
          </a:p>
        </p:txBody>
      </p:sp>
      <p:sp>
        <p:nvSpPr>
          <p:cNvPr id="13" name="Rounded Rectangle 12"/>
          <p:cNvSpPr/>
          <p:nvPr/>
        </p:nvSpPr>
        <p:spPr>
          <a:xfrm>
            <a:off x="6217920" y="1847088"/>
            <a:ext cx="5303520" cy="13716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D55E00"/>
                </a:solidFill>
                <a:latin typeface="メイリオ"/>
                <a:ea typeface="メイリオ"/>
                <a:cs typeface="メイリオ"/>
              </a:rPr>
              <a:t>② shoulder 化</a:t>
            </a:r>
          </a:p>
          <a:p>
            <a:pPr algn="l">
              <a:lnSpc>
                <a:spcPct val="100000"/>
              </a:lnSpc>
              <a:spcBef>
                <a:spcPts val="0"/>
              </a:spcBef>
              <a:spcAft>
                <a:spcPts val="600"/>
              </a:spcAft>
            </a:pPr>
          </a:p>
          <a:p>
            <a:pPr algn="l">
              <a:lnSpc>
                <a:spcPct val="100000"/>
              </a:lnSpc>
              <a:spcBef>
                <a:spcPts val="0"/>
              </a:spcBef>
              <a:spcAft>
                <a:spcPts val="600"/>
              </a:spcAft>
            </a:pPr>
            <a:r>
              <a:rPr sz="2400" b="0" i="0">
                <a:solidFill>
                  <a:srgbClr val="222222"/>
                </a:solidFill>
                <a:latin typeface="メイリオ"/>
                <a:ea typeface="メイリオ"/>
                <a:cs typeface="メイリオ"/>
              </a:rPr>
              <a:t>肩になり局所最大が消える</a:t>
            </a:r>
          </a:p>
        </p:txBody>
      </p:sp>
      <p:sp>
        <p:nvSpPr>
          <p:cNvPr id="14" name="Rounded Rectangle 13"/>
          <p:cNvSpPr/>
          <p:nvPr/>
        </p:nvSpPr>
        <p:spPr>
          <a:xfrm>
            <a:off x="640080" y="3419856"/>
            <a:ext cx="5303520" cy="137160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0072B2"/>
                </a:solidFill>
                <a:latin typeface="メイリオ"/>
                <a:ea typeface="メイリオ"/>
                <a:cs typeface="メイリオ"/>
              </a:rPr>
              <a:t>③ 頻脈</a:t>
            </a:r>
          </a:p>
          <a:p>
            <a:pPr algn="l">
              <a:lnSpc>
                <a:spcPct val="100000"/>
              </a:lnSpc>
              <a:spcBef>
                <a:spcPts val="0"/>
              </a:spcBef>
              <a:spcAft>
                <a:spcPts val="600"/>
              </a:spcAft>
            </a:pPr>
          </a:p>
          <a:p>
            <a:pPr algn="l">
              <a:lnSpc>
                <a:spcPct val="100000"/>
              </a:lnSpc>
              <a:spcBef>
                <a:spcPts val="0"/>
              </a:spcBef>
              <a:spcAft>
                <a:spcPts val="600"/>
              </a:spcAft>
            </a:pPr>
            <a:r>
              <a:rPr sz="2400" b="0" i="0">
                <a:solidFill>
                  <a:srgbClr val="222222"/>
                </a:solidFill>
                <a:latin typeface="メイリオ"/>
                <a:ea typeface="メイリオ"/>
                <a:cs typeface="メイリオ"/>
              </a:rPr>
              <a:t>拡張期が短縮し切り詰められる</a:t>
            </a:r>
          </a:p>
        </p:txBody>
      </p:sp>
      <p:sp>
        <p:nvSpPr>
          <p:cNvPr id="15" name="Rounded Rectangle 14"/>
          <p:cNvSpPr/>
          <p:nvPr/>
        </p:nvSpPr>
        <p:spPr>
          <a:xfrm>
            <a:off x="6217920" y="3419856"/>
            <a:ext cx="5303520" cy="137160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C00000"/>
                </a:solidFill>
                <a:latin typeface="メイリオ"/>
                <a:ea typeface="メイリオ"/>
                <a:cs typeface="メイリオ"/>
              </a:rPr>
              <a:t>④ 信号の劣化</a:t>
            </a:r>
          </a:p>
          <a:p>
            <a:pPr algn="l">
              <a:lnSpc>
                <a:spcPct val="100000"/>
              </a:lnSpc>
              <a:spcBef>
                <a:spcPts val="0"/>
              </a:spcBef>
              <a:spcAft>
                <a:spcPts val="600"/>
              </a:spcAft>
            </a:pPr>
          </a:p>
          <a:p>
            <a:pPr algn="l">
              <a:lnSpc>
                <a:spcPct val="100000"/>
              </a:lnSpc>
              <a:spcBef>
                <a:spcPts val="0"/>
              </a:spcBef>
              <a:spcAft>
                <a:spcPts val="600"/>
              </a:spcAft>
            </a:pPr>
            <a:r>
              <a:rPr sz="2400" b="0" i="0">
                <a:solidFill>
                  <a:srgbClr val="222222"/>
                </a:solidFill>
                <a:latin typeface="メイリオ"/>
                <a:ea typeface="メイリオ"/>
                <a:cs typeface="メイリオ"/>
              </a:rPr>
              <a:t>帯域制限・AGC・体動・末梢冷感</a:t>
            </a:r>
          </a:p>
        </p:txBody>
      </p:sp>
      <p:sp>
        <p:nvSpPr>
          <p:cNvPr id="16" name="Rounded Rectangle 15"/>
          <p:cNvSpPr/>
          <p:nvPr/>
        </p:nvSpPr>
        <p:spPr>
          <a:xfrm>
            <a:off x="640080" y="5029200"/>
            <a:ext cx="10881360" cy="777240"/>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評価したい患者ほど、これらが重なって起きる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点を探す方法の限界</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17</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§4・§6 ／ Murray &amp; Foster 1996（PMID 8934343）・Takazawa 1998</a:t>
            </a:r>
          </a:p>
        </p:txBody>
      </p:sp>
      <p:sp>
        <p:nvSpPr>
          <p:cNvPr id="12" name="Rounded Rectangle 11"/>
          <p:cNvSpPr/>
          <p:nvPr/>
        </p:nvSpPr>
        <p:spPr>
          <a:xfrm>
            <a:off x="640080" y="1828800"/>
            <a:ext cx="5303520" cy="214884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222222"/>
                </a:solidFill>
                <a:latin typeface="メイリオ"/>
                <a:ea typeface="メイリオ"/>
                <a:cs typeface="メイリオ"/>
              </a:rPr>
              <a:t>目視で探す</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トレンドの向きは読める</a:t>
            </a:r>
          </a:p>
          <a:p>
            <a:pPr algn="l">
              <a:lnSpc>
                <a:spcPct val="100000"/>
              </a:lnSpc>
              <a:spcBef>
                <a:spcPts val="0"/>
              </a:spcBef>
              <a:spcAft>
                <a:spcPts val="800"/>
              </a:spcAft>
            </a:pPr>
            <a:r>
              <a:rPr sz="2400" b="0" i="0">
                <a:solidFill>
                  <a:srgbClr val="222222"/>
                </a:solidFill>
                <a:latin typeface="メイリオ"/>
                <a:ea typeface="メイリオ"/>
                <a:cs typeface="メイリオ"/>
              </a:rPr>
              <a:t>絶対評価には向かない</a:t>
            </a:r>
          </a:p>
          <a:p>
            <a:pPr algn="l">
              <a:lnSpc>
                <a:spcPct val="100000"/>
              </a:lnSpc>
              <a:spcBef>
                <a:spcPts val="0"/>
              </a:spcBef>
              <a:spcAft>
                <a:spcPts val="800"/>
              </a:spcAft>
            </a:pPr>
            <a:r>
              <a:rPr sz="2400" b="0" i="0">
                <a:solidFill>
                  <a:srgbClr val="222222"/>
                </a:solidFill>
                <a:latin typeface="メイリオ"/>
                <a:ea typeface="メイリオ"/>
                <a:cs typeface="メイリオ"/>
              </a:rPr>
              <a:t>過減衰でも切痕は消える</a:t>
            </a:r>
          </a:p>
        </p:txBody>
      </p:sp>
      <p:sp>
        <p:nvSpPr>
          <p:cNvPr id="13" name="Rounded Rectangle 12"/>
          <p:cNvSpPr/>
          <p:nvPr/>
        </p:nvSpPr>
        <p:spPr>
          <a:xfrm>
            <a:off x="6217920" y="1828800"/>
            <a:ext cx="5303520" cy="214884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00A8AA"/>
                </a:solidFill>
                <a:latin typeface="メイリオ"/>
                <a:ea typeface="メイリオ"/>
                <a:cs typeface="メイリオ"/>
              </a:rPr>
              <a:t>微分で探す</a:t>
            </a:r>
          </a:p>
          <a:p>
            <a:pPr algn="l">
              <a:lnSpc>
                <a:spcPct val="100000"/>
              </a:lnSpc>
              <a:spcBef>
                <a:spcPts val="0"/>
              </a:spcBef>
              <a:spcAft>
                <a:spcPts val="800"/>
              </a:spcAft>
            </a:pPr>
          </a:p>
          <a:p>
            <a:pPr algn="l">
              <a:lnSpc>
                <a:spcPct val="100000"/>
              </a:lnSpc>
              <a:spcBef>
                <a:spcPts val="0"/>
              </a:spcBef>
              <a:spcAft>
                <a:spcPts val="800"/>
              </a:spcAft>
            </a:pPr>
            <a:r>
              <a:rPr sz="2400" b="0" i="0">
                <a:solidFill>
                  <a:srgbClr val="222222"/>
                </a:solidFill>
                <a:latin typeface="メイリオ"/>
                <a:ea typeface="メイリオ"/>
                <a:cs typeface="メイリオ"/>
              </a:rPr>
              <a:t>隠れた変曲点を顕在化できる</a:t>
            </a:r>
          </a:p>
          <a:p>
            <a:pPr algn="l">
              <a:lnSpc>
                <a:spcPct val="100000"/>
              </a:lnSpc>
              <a:spcBef>
                <a:spcPts val="0"/>
              </a:spcBef>
              <a:spcAft>
                <a:spcPts val="800"/>
              </a:spcAft>
            </a:pPr>
            <a:r>
              <a:rPr sz="2400" b="0" i="0">
                <a:solidFill>
                  <a:srgbClr val="222222"/>
                </a:solidFill>
                <a:latin typeface="メイリオ"/>
                <a:ea typeface="メイリオ"/>
                <a:cs typeface="メイリオ"/>
              </a:rPr>
              <a:t>四次微分まで検討されている</a:t>
            </a:r>
          </a:p>
          <a:p>
            <a:pPr algn="l">
              <a:lnSpc>
                <a:spcPct val="100000"/>
              </a:lnSpc>
              <a:spcBef>
                <a:spcPts val="0"/>
              </a:spcBef>
              <a:spcAft>
                <a:spcPts val="800"/>
              </a:spcAft>
            </a:pPr>
            <a:r>
              <a:rPr sz="2400" b="0" i="0">
                <a:solidFill>
                  <a:srgbClr val="222222"/>
                </a:solidFill>
                <a:latin typeface="メイリオ"/>
                <a:ea typeface="メイリオ"/>
                <a:cs typeface="メイリオ"/>
              </a:rPr>
              <a:t>しかし極大が消えれば谷も消える</a:t>
            </a:r>
          </a:p>
        </p:txBody>
      </p:sp>
      <p:sp>
        <p:nvSpPr>
          <p:cNvPr id="14" name="Rounded Rectangle 13"/>
          <p:cNvSpPr/>
          <p:nvPr/>
        </p:nvSpPr>
        <p:spPr>
          <a:xfrm>
            <a:off x="640080" y="4297680"/>
            <a:ext cx="10881360" cy="141732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C00000"/>
                </a:solidFill>
                <a:latin typeface="メイリオ"/>
                <a:ea typeface="メイリオ"/>
                <a:cs typeface="メイリオ"/>
              </a:rPr>
              <a:t>「点を探す」方法は、同じ壁で同時に止まる</a:t>
            </a:r>
          </a:p>
          <a:p>
            <a:pPr algn="ctr">
              <a:lnSpc>
                <a:spcPct val="100000"/>
              </a:lnSpc>
              <a:spcBef>
                <a:spcPts val="0"/>
              </a:spcBef>
              <a:spcAft>
                <a:spcPts val="400"/>
              </a:spcAft>
            </a:pPr>
            <a:r>
              <a:rPr sz="2600" b="1" i="0">
                <a:solidFill>
                  <a:srgbClr val="222222"/>
                </a:solidFill>
                <a:latin typeface="メイリオ"/>
                <a:ea typeface="メイリオ"/>
                <a:cs typeface="メイリオ"/>
              </a:rPr>
              <a:t>→ 探すのではなく、波を当てはめる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点から波へ</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18</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手法自体は既報（Rubins 2008・Goswami 2010・Couceiro 2015）。未検証なのは周術期での成立性</a:t>
            </a:r>
          </a:p>
        </p:txBody>
      </p:sp>
      <p:sp>
        <p:nvSpPr>
          <p:cNvPr id="12" name="Rounded Rectangle 11"/>
          <p:cNvSpPr/>
          <p:nvPr/>
        </p:nvSpPr>
        <p:spPr>
          <a:xfrm>
            <a:off x="640080" y="1847088"/>
            <a:ext cx="5303520" cy="141732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222222"/>
                </a:solidFill>
                <a:latin typeface="メイリオ"/>
                <a:ea typeface="メイリオ"/>
                <a:cs typeface="メイリオ"/>
              </a:rPr>
              <a:t>これまで：点を探す</a:t>
            </a:r>
          </a:p>
          <a:p>
            <a:pPr algn="l">
              <a:lnSpc>
                <a:spcPct val="100000"/>
              </a:lnSpc>
              <a:spcBef>
                <a:spcPts val="0"/>
              </a:spcBef>
              <a:spcAft>
                <a:spcPts val="800"/>
              </a:spcAft>
            </a:pPr>
            <a:r>
              <a:rPr sz="2400" b="0" i="0">
                <a:solidFill>
                  <a:srgbClr val="222222"/>
                </a:solidFill>
                <a:latin typeface="メイリオ"/>
                <a:ea typeface="メイリオ"/>
                <a:cs typeface="メイリオ"/>
              </a:rPr>
              <a:t>波形の上で P</a:t>
            </a:r>
            <a:r>
              <a:rPr sz="2400" b="0" i="0" baseline="-25000">
                <a:solidFill>
                  <a:srgbClr val="222222"/>
                </a:solidFill>
                <a:latin typeface="メイリオ"/>
                <a:ea typeface="メイリオ"/>
                <a:cs typeface="メイリオ"/>
              </a:rPr>
              <a:t>2</a:t>
            </a:r>
            <a:r>
              <a:rPr sz="2400" b="0" i="0">
                <a:solidFill>
                  <a:srgbClr val="222222"/>
                </a:solidFill>
                <a:latin typeface="メイリオ"/>
                <a:ea typeface="メイリオ"/>
                <a:cs typeface="メイリオ"/>
              </a:rPr>
              <a:t> の位置を決める</a:t>
            </a:r>
          </a:p>
        </p:txBody>
      </p:sp>
      <p:sp>
        <p:nvSpPr>
          <p:cNvPr id="13" name="Rounded Rectangle 12"/>
          <p:cNvSpPr/>
          <p:nvPr/>
        </p:nvSpPr>
        <p:spPr>
          <a:xfrm>
            <a:off x="6217920" y="1847088"/>
            <a:ext cx="5303520" cy="141732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00A8AA"/>
                </a:solidFill>
                <a:latin typeface="メイリオ"/>
                <a:ea typeface="メイリオ"/>
                <a:cs typeface="メイリオ"/>
              </a:rPr>
              <a:t>これから：波を当てはめる</a:t>
            </a:r>
          </a:p>
          <a:p>
            <a:pPr algn="l">
              <a:lnSpc>
                <a:spcPct val="100000"/>
              </a:lnSpc>
              <a:spcBef>
                <a:spcPts val="0"/>
              </a:spcBef>
              <a:spcAft>
                <a:spcPts val="800"/>
              </a:spcAft>
            </a:pPr>
            <a:r>
              <a:rPr sz="2400" b="0" i="0">
                <a:solidFill>
                  <a:srgbClr val="222222"/>
                </a:solidFill>
                <a:latin typeface="メイリオ"/>
                <a:ea typeface="メイリオ"/>
                <a:cs typeface="メイリオ"/>
              </a:rPr>
              <a:t>前進波＋反射波のモデルを当てる</a:t>
            </a:r>
          </a:p>
        </p:txBody>
      </p:sp>
      <p:sp>
        <p:nvSpPr>
          <p:cNvPr id="14" name="Freeform 13"/>
          <p:cNvSpPr/>
          <p:nvPr/>
        </p:nvSpPr>
        <p:spPr>
          <a:xfrm>
            <a:off x="1188720" y="3401686"/>
            <a:ext cx="4206239" cy="1253620"/>
          </a:xfrm>
          <a:custGeom>
            <a:avLst/>
            <a:gdLst/>
            <a:ahLst/>
            <a:cxnLst/>
            <a:rect l="l" t="t" r="r" b="b"/>
            <a:pathLst>
              <a:path w="4206239" h="1253620">
                <a:moveTo>
                  <a:pt x="0" y="1223483"/>
                </a:moveTo>
                <a:lnTo>
                  <a:pt x="24742" y="1215984"/>
                </a:lnTo>
                <a:lnTo>
                  <a:pt x="49485" y="1207272"/>
                </a:lnTo>
                <a:lnTo>
                  <a:pt x="74227" y="1197209"/>
                </a:lnTo>
                <a:lnTo>
                  <a:pt x="98970" y="1185649"/>
                </a:lnTo>
                <a:lnTo>
                  <a:pt x="123712" y="1172447"/>
                </a:lnTo>
                <a:lnTo>
                  <a:pt x="148455" y="1157455"/>
                </a:lnTo>
                <a:lnTo>
                  <a:pt x="173198" y="1140531"/>
                </a:lnTo>
                <a:lnTo>
                  <a:pt x="197940" y="1121537"/>
                </a:lnTo>
                <a:lnTo>
                  <a:pt x="222683" y="1100346"/>
                </a:lnTo>
                <a:lnTo>
                  <a:pt x="247425" y="1076847"/>
                </a:lnTo>
                <a:lnTo>
                  <a:pt x="272168" y="1050946"/>
                </a:lnTo>
                <a:lnTo>
                  <a:pt x="296911" y="1022574"/>
                </a:lnTo>
                <a:lnTo>
                  <a:pt x="321653" y="991686"/>
                </a:lnTo>
                <a:lnTo>
                  <a:pt x="346396" y="958274"/>
                </a:lnTo>
                <a:lnTo>
                  <a:pt x="371138" y="922363"/>
                </a:lnTo>
                <a:lnTo>
                  <a:pt x="395881" y="884017"/>
                </a:lnTo>
                <a:lnTo>
                  <a:pt x="420624" y="843343"/>
                </a:lnTo>
                <a:lnTo>
                  <a:pt x="445366" y="800492"/>
                </a:lnTo>
                <a:lnTo>
                  <a:pt x="470109" y="755661"/>
                </a:lnTo>
                <a:lnTo>
                  <a:pt x="494851" y="709092"/>
                </a:lnTo>
                <a:lnTo>
                  <a:pt x="519594" y="661071"/>
                </a:lnTo>
                <a:lnTo>
                  <a:pt x="544336" y="611927"/>
                </a:lnTo>
                <a:lnTo>
                  <a:pt x="569079" y="562024"/>
                </a:lnTo>
                <a:lnTo>
                  <a:pt x="593822" y="511765"/>
                </a:lnTo>
                <a:lnTo>
                  <a:pt x="618564" y="461575"/>
                </a:lnTo>
                <a:lnTo>
                  <a:pt x="643307" y="411905"/>
                </a:lnTo>
                <a:lnTo>
                  <a:pt x="668049" y="363214"/>
                </a:lnTo>
                <a:lnTo>
                  <a:pt x="692792" y="315969"/>
                </a:lnTo>
                <a:lnTo>
                  <a:pt x="717535" y="270631"/>
                </a:lnTo>
                <a:lnTo>
                  <a:pt x="742277" y="227647"/>
                </a:lnTo>
                <a:lnTo>
                  <a:pt x="767020" y="187442"/>
                </a:lnTo>
                <a:lnTo>
                  <a:pt x="791762" y="150410"/>
                </a:lnTo>
                <a:lnTo>
                  <a:pt x="816505" y="116906"/>
                </a:lnTo>
                <a:lnTo>
                  <a:pt x="841247" y="87237"/>
                </a:lnTo>
                <a:lnTo>
                  <a:pt x="865990" y="61660"/>
                </a:lnTo>
                <a:lnTo>
                  <a:pt x="890733" y="40373"/>
                </a:lnTo>
                <a:lnTo>
                  <a:pt x="915475" y="23517"/>
                </a:lnTo>
                <a:lnTo>
                  <a:pt x="940218" y="11169"/>
                </a:lnTo>
                <a:lnTo>
                  <a:pt x="964960" y="3344"/>
                </a:lnTo>
                <a:lnTo>
                  <a:pt x="989703" y="0"/>
                </a:lnTo>
                <a:lnTo>
                  <a:pt x="1014446" y="1034"/>
                </a:lnTo>
                <a:lnTo>
                  <a:pt x="1039188" y="6291"/>
                </a:lnTo>
                <a:lnTo>
                  <a:pt x="1063931" y="15570"/>
                </a:lnTo>
                <a:lnTo>
                  <a:pt x="1088673" y="28628"/>
                </a:lnTo>
                <a:lnTo>
                  <a:pt x="1113416" y="45185"/>
                </a:lnTo>
                <a:lnTo>
                  <a:pt x="1138159" y="64936"/>
                </a:lnTo>
                <a:lnTo>
                  <a:pt x="1162901" y="87557"/>
                </a:lnTo>
                <a:lnTo>
                  <a:pt x="1187644" y="112709"/>
                </a:lnTo>
                <a:lnTo>
                  <a:pt x="1212386" y="140051"/>
                </a:lnTo>
                <a:lnTo>
                  <a:pt x="1237129" y="169243"/>
                </a:lnTo>
                <a:lnTo>
                  <a:pt x="1261871" y="199949"/>
                </a:lnTo>
                <a:lnTo>
                  <a:pt x="1286614" y="231851"/>
                </a:lnTo>
                <a:lnTo>
                  <a:pt x="1311357" y="264646"/>
                </a:lnTo>
                <a:lnTo>
                  <a:pt x="1336099" y="298049"/>
                </a:lnTo>
                <a:lnTo>
                  <a:pt x="1360842" y="331801"/>
                </a:lnTo>
                <a:lnTo>
                  <a:pt x="1385584" y="365667"/>
                </a:lnTo>
                <a:lnTo>
                  <a:pt x="1410327" y="399436"/>
                </a:lnTo>
                <a:lnTo>
                  <a:pt x="1435070" y="432922"/>
                </a:lnTo>
                <a:lnTo>
                  <a:pt x="1459812" y="465966"/>
                </a:lnTo>
                <a:lnTo>
                  <a:pt x="1484555" y="498428"/>
                </a:lnTo>
                <a:lnTo>
                  <a:pt x="1509297" y="530194"/>
                </a:lnTo>
                <a:lnTo>
                  <a:pt x="1534040" y="561165"/>
                </a:lnTo>
                <a:lnTo>
                  <a:pt x="1558783" y="591265"/>
                </a:lnTo>
                <a:lnTo>
                  <a:pt x="1583525" y="620428"/>
                </a:lnTo>
                <a:lnTo>
                  <a:pt x="1608268" y="648606"/>
                </a:lnTo>
                <a:lnTo>
                  <a:pt x="1633010" y="675761"/>
                </a:lnTo>
                <a:lnTo>
                  <a:pt x="1657753" y="701863"/>
                </a:lnTo>
                <a:lnTo>
                  <a:pt x="1682495" y="726894"/>
                </a:lnTo>
                <a:lnTo>
                  <a:pt x="1707238" y="750840"/>
                </a:lnTo>
                <a:lnTo>
                  <a:pt x="1731981" y="773693"/>
                </a:lnTo>
                <a:lnTo>
                  <a:pt x="1756723" y="795452"/>
                </a:lnTo>
                <a:lnTo>
                  <a:pt x="1781466" y="816119"/>
                </a:lnTo>
                <a:lnTo>
                  <a:pt x="1806208" y="835700"/>
                </a:lnTo>
                <a:lnTo>
                  <a:pt x="1830951" y="854206"/>
                </a:lnTo>
                <a:lnTo>
                  <a:pt x="1855694" y="871649"/>
                </a:lnTo>
                <a:lnTo>
                  <a:pt x="1880436" y="888048"/>
                </a:lnTo>
                <a:lnTo>
                  <a:pt x="1905179" y="903421"/>
                </a:lnTo>
                <a:lnTo>
                  <a:pt x="1929921" y="917794"/>
                </a:lnTo>
                <a:lnTo>
                  <a:pt x="1954664" y="931194"/>
                </a:lnTo>
                <a:lnTo>
                  <a:pt x="1979407" y="943652"/>
                </a:lnTo>
                <a:lnTo>
                  <a:pt x="2004149" y="955201"/>
                </a:lnTo>
                <a:lnTo>
                  <a:pt x="2028892" y="965879"/>
                </a:lnTo>
                <a:lnTo>
                  <a:pt x="2053634" y="975726"/>
                </a:lnTo>
                <a:lnTo>
                  <a:pt x="2078377" y="984784"/>
                </a:lnTo>
                <a:lnTo>
                  <a:pt x="2103119" y="993100"/>
                </a:lnTo>
                <a:lnTo>
                  <a:pt x="2127862" y="1000719"/>
                </a:lnTo>
                <a:lnTo>
                  <a:pt x="2152605" y="1007691"/>
                </a:lnTo>
                <a:lnTo>
                  <a:pt x="2177347" y="1014065"/>
                </a:lnTo>
                <a:lnTo>
                  <a:pt x="2202090" y="1019891"/>
                </a:lnTo>
                <a:lnTo>
                  <a:pt x="2226832" y="1025220"/>
                </a:lnTo>
                <a:lnTo>
                  <a:pt x="2251575" y="1030102"/>
                </a:lnTo>
                <a:lnTo>
                  <a:pt x="2276318" y="1034585"/>
                </a:lnTo>
                <a:lnTo>
                  <a:pt x="2301060" y="1038718"/>
                </a:lnTo>
                <a:lnTo>
                  <a:pt x="2325803" y="1042547"/>
                </a:lnTo>
                <a:lnTo>
                  <a:pt x="2350545" y="1046116"/>
                </a:lnTo>
                <a:lnTo>
                  <a:pt x="2375288" y="1049467"/>
                </a:lnTo>
                <a:lnTo>
                  <a:pt x="2400031" y="1052640"/>
                </a:lnTo>
                <a:lnTo>
                  <a:pt x="2424773" y="1055671"/>
                </a:lnTo>
                <a:lnTo>
                  <a:pt x="2449516" y="1058595"/>
                </a:lnTo>
                <a:lnTo>
                  <a:pt x="2474258" y="1061443"/>
                </a:lnTo>
                <a:lnTo>
                  <a:pt x="2499001" y="1064242"/>
                </a:lnTo>
                <a:lnTo>
                  <a:pt x="2523743" y="1067018"/>
                </a:lnTo>
                <a:lnTo>
                  <a:pt x="2548486" y="1069792"/>
                </a:lnTo>
                <a:lnTo>
                  <a:pt x="2573229" y="1072584"/>
                </a:lnTo>
                <a:lnTo>
                  <a:pt x="2597971" y="1075410"/>
                </a:lnTo>
                <a:lnTo>
                  <a:pt x="2622714" y="1078283"/>
                </a:lnTo>
                <a:lnTo>
                  <a:pt x="2647456" y="1081215"/>
                </a:lnTo>
                <a:lnTo>
                  <a:pt x="2672199" y="1084213"/>
                </a:lnTo>
                <a:lnTo>
                  <a:pt x="2696942" y="1087285"/>
                </a:lnTo>
                <a:lnTo>
                  <a:pt x="2721684" y="1090435"/>
                </a:lnTo>
                <a:lnTo>
                  <a:pt x="2746427" y="1093664"/>
                </a:lnTo>
                <a:lnTo>
                  <a:pt x="2771169" y="1096974"/>
                </a:lnTo>
                <a:lnTo>
                  <a:pt x="2795912" y="1100363"/>
                </a:lnTo>
                <a:lnTo>
                  <a:pt x="2820655" y="1103830"/>
                </a:lnTo>
                <a:lnTo>
                  <a:pt x="2845397" y="1107371"/>
                </a:lnTo>
                <a:lnTo>
                  <a:pt x="2870140" y="1110981"/>
                </a:lnTo>
                <a:lnTo>
                  <a:pt x="2894882" y="1114656"/>
                </a:lnTo>
                <a:lnTo>
                  <a:pt x="2919625" y="1118388"/>
                </a:lnTo>
                <a:lnTo>
                  <a:pt x="2944367" y="1122171"/>
                </a:lnTo>
                <a:lnTo>
                  <a:pt x="2969110" y="1125998"/>
                </a:lnTo>
                <a:lnTo>
                  <a:pt x="2993853" y="1129861"/>
                </a:lnTo>
                <a:lnTo>
                  <a:pt x="3018595" y="1133752"/>
                </a:lnTo>
                <a:lnTo>
                  <a:pt x="3043338" y="1137664"/>
                </a:lnTo>
                <a:lnTo>
                  <a:pt x="3068080" y="1141588"/>
                </a:lnTo>
                <a:lnTo>
                  <a:pt x="3092823" y="1145516"/>
                </a:lnTo>
                <a:lnTo>
                  <a:pt x="3117566" y="1149439"/>
                </a:lnTo>
                <a:lnTo>
                  <a:pt x="3142308" y="1153351"/>
                </a:lnTo>
                <a:lnTo>
                  <a:pt x="3167051" y="1157243"/>
                </a:lnTo>
                <a:lnTo>
                  <a:pt x="3191793" y="1161108"/>
                </a:lnTo>
                <a:lnTo>
                  <a:pt x="3216536" y="1164938"/>
                </a:lnTo>
                <a:lnTo>
                  <a:pt x="3241279" y="1168727"/>
                </a:lnTo>
                <a:lnTo>
                  <a:pt x="3266021" y="1172467"/>
                </a:lnTo>
                <a:lnTo>
                  <a:pt x="3290764" y="1176154"/>
                </a:lnTo>
                <a:lnTo>
                  <a:pt x="3315506" y="1179781"/>
                </a:lnTo>
                <a:lnTo>
                  <a:pt x="3340249" y="1183342"/>
                </a:lnTo>
                <a:lnTo>
                  <a:pt x="3364992" y="1186833"/>
                </a:lnTo>
                <a:lnTo>
                  <a:pt x="3389734" y="1190250"/>
                </a:lnTo>
                <a:lnTo>
                  <a:pt x="3414477" y="1193587"/>
                </a:lnTo>
                <a:lnTo>
                  <a:pt x="3439219" y="1196842"/>
                </a:lnTo>
                <a:lnTo>
                  <a:pt x="3463962" y="1200012"/>
                </a:lnTo>
                <a:lnTo>
                  <a:pt x="3488704" y="1203092"/>
                </a:lnTo>
                <a:lnTo>
                  <a:pt x="3513447" y="1206082"/>
                </a:lnTo>
                <a:lnTo>
                  <a:pt x="3538190" y="1208980"/>
                </a:lnTo>
                <a:lnTo>
                  <a:pt x="3562932" y="1211782"/>
                </a:lnTo>
                <a:lnTo>
                  <a:pt x="3587675" y="1214490"/>
                </a:lnTo>
                <a:lnTo>
                  <a:pt x="3612417" y="1217101"/>
                </a:lnTo>
                <a:lnTo>
                  <a:pt x="3637160" y="1219616"/>
                </a:lnTo>
                <a:lnTo>
                  <a:pt x="3661903" y="1222034"/>
                </a:lnTo>
                <a:lnTo>
                  <a:pt x="3686645" y="1224355"/>
                </a:lnTo>
                <a:lnTo>
                  <a:pt x="3711388" y="1226581"/>
                </a:lnTo>
                <a:lnTo>
                  <a:pt x="3736130" y="1228711"/>
                </a:lnTo>
                <a:lnTo>
                  <a:pt x="3760873" y="1230747"/>
                </a:lnTo>
                <a:lnTo>
                  <a:pt x="3785616" y="1232691"/>
                </a:lnTo>
                <a:lnTo>
                  <a:pt x="3810358" y="1234544"/>
                </a:lnTo>
                <a:lnTo>
                  <a:pt x="3835101" y="1236307"/>
                </a:lnTo>
                <a:lnTo>
                  <a:pt x="3859843" y="1237983"/>
                </a:lnTo>
                <a:lnTo>
                  <a:pt x="3884586" y="1239574"/>
                </a:lnTo>
                <a:lnTo>
                  <a:pt x="3909328" y="1241081"/>
                </a:lnTo>
                <a:lnTo>
                  <a:pt x="3934071" y="1242508"/>
                </a:lnTo>
                <a:lnTo>
                  <a:pt x="3958814" y="1243857"/>
                </a:lnTo>
                <a:lnTo>
                  <a:pt x="3983556" y="1245130"/>
                </a:lnTo>
                <a:lnTo>
                  <a:pt x="4008299" y="1246329"/>
                </a:lnTo>
                <a:lnTo>
                  <a:pt x="4033041" y="1247459"/>
                </a:lnTo>
                <a:lnTo>
                  <a:pt x="4057784" y="1248520"/>
                </a:lnTo>
                <a:lnTo>
                  <a:pt x="4082527" y="1249517"/>
                </a:lnTo>
                <a:lnTo>
                  <a:pt x="4107269" y="1250451"/>
                </a:lnTo>
                <a:lnTo>
                  <a:pt x="4132012" y="1251326"/>
                </a:lnTo>
                <a:lnTo>
                  <a:pt x="4156754" y="1252144"/>
                </a:lnTo>
                <a:lnTo>
                  <a:pt x="4181497" y="1252908"/>
                </a:lnTo>
                <a:lnTo>
                  <a:pt x="4206239" y="1253620"/>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188720" y="4663440"/>
            <a:ext cx="4206239"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6766560" y="3401686"/>
            <a:ext cx="4206240" cy="1253620"/>
          </a:xfrm>
          <a:custGeom>
            <a:avLst/>
            <a:gdLst/>
            <a:ahLst/>
            <a:cxnLst/>
            <a:rect l="l" t="t" r="r" b="b"/>
            <a:pathLst>
              <a:path w="4206240" h="1253620">
                <a:moveTo>
                  <a:pt x="0" y="1223483"/>
                </a:moveTo>
                <a:lnTo>
                  <a:pt x="24742" y="1215984"/>
                </a:lnTo>
                <a:lnTo>
                  <a:pt x="49485" y="1207272"/>
                </a:lnTo>
                <a:lnTo>
                  <a:pt x="74227" y="1197209"/>
                </a:lnTo>
                <a:lnTo>
                  <a:pt x="98970" y="1185649"/>
                </a:lnTo>
                <a:lnTo>
                  <a:pt x="123712" y="1172447"/>
                </a:lnTo>
                <a:lnTo>
                  <a:pt x="148455" y="1157455"/>
                </a:lnTo>
                <a:lnTo>
                  <a:pt x="173198" y="1140531"/>
                </a:lnTo>
                <a:lnTo>
                  <a:pt x="197940" y="1121537"/>
                </a:lnTo>
                <a:lnTo>
                  <a:pt x="222683" y="1100346"/>
                </a:lnTo>
                <a:lnTo>
                  <a:pt x="247425" y="1076847"/>
                </a:lnTo>
                <a:lnTo>
                  <a:pt x="272168" y="1050946"/>
                </a:lnTo>
                <a:lnTo>
                  <a:pt x="296911" y="1022574"/>
                </a:lnTo>
                <a:lnTo>
                  <a:pt x="321653" y="991686"/>
                </a:lnTo>
                <a:lnTo>
                  <a:pt x="346396" y="958274"/>
                </a:lnTo>
                <a:lnTo>
                  <a:pt x="371138" y="922363"/>
                </a:lnTo>
                <a:lnTo>
                  <a:pt x="395881" y="884017"/>
                </a:lnTo>
                <a:lnTo>
                  <a:pt x="420624" y="843343"/>
                </a:lnTo>
                <a:lnTo>
                  <a:pt x="445366" y="800492"/>
                </a:lnTo>
                <a:lnTo>
                  <a:pt x="470109" y="755661"/>
                </a:lnTo>
                <a:lnTo>
                  <a:pt x="494851" y="709092"/>
                </a:lnTo>
                <a:lnTo>
                  <a:pt x="519594" y="661071"/>
                </a:lnTo>
                <a:lnTo>
                  <a:pt x="544336" y="611927"/>
                </a:lnTo>
                <a:lnTo>
                  <a:pt x="569079" y="562024"/>
                </a:lnTo>
                <a:lnTo>
                  <a:pt x="593822" y="511765"/>
                </a:lnTo>
                <a:lnTo>
                  <a:pt x="618564" y="461575"/>
                </a:lnTo>
                <a:lnTo>
                  <a:pt x="643307" y="411905"/>
                </a:lnTo>
                <a:lnTo>
                  <a:pt x="668049" y="363214"/>
                </a:lnTo>
                <a:lnTo>
                  <a:pt x="692792" y="315969"/>
                </a:lnTo>
                <a:lnTo>
                  <a:pt x="717535" y="270631"/>
                </a:lnTo>
                <a:lnTo>
                  <a:pt x="742277" y="227647"/>
                </a:lnTo>
                <a:lnTo>
                  <a:pt x="767020" y="187442"/>
                </a:lnTo>
                <a:lnTo>
                  <a:pt x="791762" y="150410"/>
                </a:lnTo>
                <a:lnTo>
                  <a:pt x="816505" y="116906"/>
                </a:lnTo>
                <a:lnTo>
                  <a:pt x="841248" y="87237"/>
                </a:lnTo>
                <a:lnTo>
                  <a:pt x="865990" y="61660"/>
                </a:lnTo>
                <a:lnTo>
                  <a:pt x="890733" y="40373"/>
                </a:lnTo>
                <a:lnTo>
                  <a:pt x="915475" y="23517"/>
                </a:lnTo>
                <a:lnTo>
                  <a:pt x="940218" y="11169"/>
                </a:lnTo>
                <a:lnTo>
                  <a:pt x="964960" y="3344"/>
                </a:lnTo>
                <a:lnTo>
                  <a:pt x="989703" y="0"/>
                </a:lnTo>
                <a:lnTo>
                  <a:pt x="1014446" y="1034"/>
                </a:lnTo>
                <a:lnTo>
                  <a:pt x="1039188" y="6291"/>
                </a:lnTo>
                <a:lnTo>
                  <a:pt x="1063931" y="15570"/>
                </a:lnTo>
                <a:lnTo>
                  <a:pt x="1088673" y="28628"/>
                </a:lnTo>
                <a:lnTo>
                  <a:pt x="1113416" y="45185"/>
                </a:lnTo>
                <a:lnTo>
                  <a:pt x="1138159" y="64936"/>
                </a:lnTo>
                <a:lnTo>
                  <a:pt x="1162901" y="87557"/>
                </a:lnTo>
                <a:lnTo>
                  <a:pt x="1187644" y="112709"/>
                </a:lnTo>
                <a:lnTo>
                  <a:pt x="1212386" y="140051"/>
                </a:lnTo>
                <a:lnTo>
                  <a:pt x="1237129" y="169243"/>
                </a:lnTo>
                <a:lnTo>
                  <a:pt x="1261872" y="199949"/>
                </a:lnTo>
                <a:lnTo>
                  <a:pt x="1286614" y="231851"/>
                </a:lnTo>
                <a:lnTo>
                  <a:pt x="1311357" y="264646"/>
                </a:lnTo>
                <a:lnTo>
                  <a:pt x="1336099" y="298049"/>
                </a:lnTo>
                <a:lnTo>
                  <a:pt x="1360842" y="331801"/>
                </a:lnTo>
                <a:lnTo>
                  <a:pt x="1385584" y="365667"/>
                </a:lnTo>
                <a:lnTo>
                  <a:pt x="1410327" y="399436"/>
                </a:lnTo>
                <a:lnTo>
                  <a:pt x="1435070" y="432922"/>
                </a:lnTo>
                <a:lnTo>
                  <a:pt x="1459812" y="465966"/>
                </a:lnTo>
                <a:lnTo>
                  <a:pt x="1484555" y="498428"/>
                </a:lnTo>
                <a:lnTo>
                  <a:pt x="1509297" y="530194"/>
                </a:lnTo>
                <a:lnTo>
                  <a:pt x="1534040" y="561165"/>
                </a:lnTo>
                <a:lnTo>
                  <a:pt x="1558783" y="591265"/>
                </a:lnTo>
                <a:lnTo>
                  <a:pt x="1583525" y="620428"/>
                </a:lnTo>
                <a:lnTo>
                  <a:pt x="1608268" y="648606"/>
                </a:lnTo>
                <a:lnTo>
                  <a:pt x="1633010" y="675761"/>
                </a:lnTo>
                <a:lnTo>
                  <a:pt x="1657753" y="701863"/>
                </a:lnTo>
                <a:lnTo>
                  <a:pt x="1682496" y="726894"/>
                </a:lnTo>
                <a:lnTo>
                  <a:pt x="1707238" y="750840"/>
                </a:lnTo>
                <a:lnTo>
                  <a:pt x="1731981" y="773693"/>
                </a:lnTo>
                <a:lnTo>
                  <a:pt x="1756723" y="795452"/>
                </a:lnTo>
                <a:lnTo>
                  <a:pt x="1781466" y="816119"/>
                </a:lnTo>
                <a:lnTo>
                  <a:pt x="1806208" y="835700"/>
                </a:lnTo>
                <a:lnTo>
                  <a:pt x="1830951" y="854206"/>
                </a:lnTo>
                <a:lnTo>
                  <a:pt x="1855694" y="871649"/>
                </a:lnTo>
                <a:lnTo>
                  <a:pt x="1880436" y="888048"/>
                </a:lnTo>
                <a:lnTo>
                  <a:pt x="1905179" y="903421"/>
                </a:lnTo>
                <a:lnTo>
                  <a:pt x="1929921" y="917794"/>
                </a:lnTo>
                <a:lnTo>
                  <a:pt x="1954664" y="931194"/>
                </a:lnTo>
                <a:lnTo>
                  <a:pt x="1979407" y="943652"/>
                </a:lnTo>
                <a:lnTo>
                  <a:pt x="2004149" y="955201"/>
                </a:lnTo>
                <a:lnTo>
                  <a:pt x="2028892" y="965879"/>
                </a:lnTo>
                <a:lnTo>
                  <a:pt x="2053634" y="975726"/>
                </a:lnTo>
                <a:lnTo>
                  <a:pt x="2078377" y="984784"/>
                </a:lnTo>
                <a:lnTo>
                  <a:pt x="2103120" y="993100"/>
                </a:lnTo>
                <a:lnTo>
                  <a:pt x="2127862" y="1000719"/>
                </a:lnTo>
                <a:lnTo>
                  <a:pt x="2152605" y="1007691"/>
                </a:lnTo>
                <a:lnTo>
                  <a:pt x="2177347" y="1014065"/>
                </a:lnTo>
                <a:lnTo>
                  <a:pt x="2202090" y="1019891"/>
                </a:lnTo>
                <a:lnTo>
                  <a:pt x="2226832" y="1025220"/>
                </a:lnTo>
                <a:lnTo>
                  <a:pt x="2251575" y="1030102"/>
                </a:lnTo>
                <a:lnTo>
                  <a:pt x="2276318" y="1034585"/>
                </a:lnTo>
                <a:lnTo>
                  <a:pt x="2301060" y="1038718"/>
                </a:lnTo>
                <a:lnTo>
                  <a:pt x="2325803" y="1042547"/>
                </a:lnTo>
                <a:lnTo>
                  <a:pt x="2350545" y="1046116"/>
                </a:lnTo>
                <a:lnTo>
                  <a:pt x="2375288" y="1049467"/>
                </a:lnTo>
                <a:lnTo>
                  <a:pt x="2400031" y="1052640"/>
                </a:lnTo>
                <a:lnTo>
                  <a:pt x="2424773" y="1055671"/>
                </a:lnTo>
                <a:lnTo>
                  <a:pt x="2449516" y="1058595"/>
                </a:lnTo>
                <a:lnTo>
                  <a:pt x="2474258" y="1061443"/>
                </a:lnTo>
                <a:lnTo>
                  <a:pt x="2499001" y="1064242"/>
                </a:lnTo>
                <a:lnTo>
                  <a:pt x="2523744" y="1067018"/>
                </a:lnTo>
                <a:lnTo>
                  <a:pt x="2548486" y="1069792"/>
                </a:lnTo>
                <a:lnTo>
                  <a:pt x="2573229" y="1072584"/>
                </a:lnTo>
                <a:lnTo>
                  <a:pt x="2597971" y="1075410"/>
                </a:lnTo>
                <a:lnTo>
                  <a:pt x="2622714" y="1078283"/>
                </a:lnTo>
                <a:lnTo>
                  <a:pt x="2647456" y="1081215"/>
                </a:lnTo>
                <a:lnTo>
                  <a:pt x="2672199" y="1084213"/>
                </a:lnTo>
                <a:lnTo>
                  <a:pt x="2696942" y="1087285"/>
                </a:lnTo>
                <a:lnTo>
                  <a:pt x="2721684" y="1090435"/>
                </a:lnTo>
                <a:lnTo>
                  <a:pt x="2746427" y="1093664"/>
                </a:lnTo>
                <a:lnTo>
                  <a:pt x="2771169" y="1096974"/>
                </a:lnTo>
                <a:lnTo>
                  <a:pt x="2795912" y="1100363"/>
                </a:lnTo>
                <a:lnTo>
                  <a:pt x="2820655" y="1103830"/>
                </a:lnTo>
                <a:lnTo>
                  <a:pt x="2845397" y="1107371"/>
                </a:lnTo>
                <a:lnTo>
                  <a:pt x="2870140" y="1110981"/>
                </a:lnTo>
                <a:lnTo>
                  <a:pt x="2894882" y="1114656"/>
                </a:lnTo>
                <a:lnTo>
                  <a:pt x="2919625" y="1118388"/>
                </a:lnTo>
                <a:lnTo>
                  <a:pt x="2944368" y="1122171"/>
                </a:lnTo>
                <a:lnTo>
                  <a:pt x="2969110" y="1125998"/>
                </a:lnTo>
                <a:lnTo>
                  <a:pt x="2993853" y="1129861"/>
                </a:lnTo>
                <a:lnTo>
                  <a:pt x="3018595" y="1133752"/>
                </a:lnTo>
                <a:lnTo>
                  <a:pt x="3043338" y="1137664"/>
                </a:lnTo>
                <a:lnTo>
                  <a:pt x="3068080" y="1141588"/>
                </a:lnTo>
                <a:lnTo>
                  <a:pt x="3092823" y="1145516"/>
                </a:lnTo>
                <a:lnTo>
                  <a:pt x="3117566" y="1149439"/>
                </a:lnTo>
                <a:lnTo>
                  <a:pt x="3142308" y="1153351"/>
                </a:lnTo>
                <a:lnTo>
                  <a:pt x="3167051" y="1157243"/>
                </a:lnTo>
                <a:lnTo>
                  <a:pt x="3191793" y="1161108"/>
                </a:lnTo>
                <a:lnTo>
                  <a:pt x="3216536" y="1164938"/>
                </a:lnTo>
                <a:lnTo>
                  <a:pt x="3241279" y="1168727"/>
                </a:lnTo>
                <a:lnTo>
                  <a:pt x="3266021" y="1172467"/>
                </a:lnTo>
                <a:lnTo>
                  <a:pt x="3290764" y="1176154"/>
                </a:lnTo>
                <a:lnTo>
                  <a:pt x="3315506" y="1179781"/>
                </a:lnTo>
                <a:lnTo>
                  <a:pt x="3340249" y="1183342"/>
                </a:lnTo>
                <a:lnTo>
                  <a:pt x="3364992" y="1186833"/>
                </a:lnTo>
                <a:lnTo>
                  <a:pt x="3389734" y="1190250"/>
                </a:lnTo>
                <a:lnTo>
                  <a:pt x="3414477" y="1193587"/>
                </a:lnTo>
                <a:lnTo>
                  <a:pt x="3439219" y="1196842"/>
                </a:lnTo>
                <a:lnTo>
                  <a:pt x="3463962" y="1200012"/>
                </a:lnTo>
                <a:lnTo>
                  <a:pt x="3488704" y="1203092"/>
                </a:lnTo>
                <a:lnTo>
                  <a:pt x="3513447" y="1206082"/>
                </a:lnTo>
                <a:lnTo>
                  <a:pt x="3538190" y="1208980"/>
                </a:lnTo>
                <a:lnTo>
                  <a:pt x="3562932" y="1211782"/>
                </a:lnTo>
                <a:lnTo>
                  <a:pt x="3587675" y="1214490"/>
                </a:lnTo>
                <a:lnTo>
                  <a:pt x="3612417" y="1217101"/>
                </a:lnTo>
                <a:lnTo>
                  <a:pt x="3637160" y="1219616"/>
                </a:lnTo>
                <a:lnTo>
                  <a:pt x="3661903" y="1222034"/>
                </a:lnTo>
                <a:lnTo>
                  <a:pt x="3686645" y="1224355"/>
                </a:lnTo>
                <a:lnTo>
                  <a:pt x="3711388" y="1226581"/>
                </a:lnTo>
                <a:lnTo>
                  <a:pt x="3736130" y="1228711"/>
                </a:lnTo>
                <a:lnTo>
                  <a:pt x="3760873" y="1230747"/>
                </a:lnTo>
                <a:lnTo>
                  <a:pt x="3785616" y="1232691"/>
                </a:lnTo>
                <a:lnTo>
                  <a:pt x="3810358" y="1234544"/>
                </a:lnTo>
                <a:lnTo>
                  <a:pt x="3835101" y="1236307"/>
                </a:lnTo>
                <a:lnTo>
                  <a:pt x="3859843" y="1237983"/>
                </a:lnTo>
                <a:lnTo>
                  <a:pt x="3884586" y="1239574"/>
                </a:lnTo>
                <a:lnTo>
                  <a:pt x="3909328" y="1241081"/>
                </a:lnTo>
                <a:lnTo>
                  <a:pt x="3934071" y="1242508"/>
                </a:lnTo>
                <a:lnTo>
                  <a:pt x="3958814" y="1243857"/>
                </a:lnTo>
                <a:lnTo>
                  <a:pt x="3983556" y="1245130"/>
                </a:lnTo>
                <a:lnTo>
                  <a:pt x="4008299" y="1246329"/>
                </a:lnTo>
                <a:lnTo>
                  <a:pt x="4033041" y="1247459"/>
                </a:lnTo>
                <a:lnTo>
                  <a:pt x="4057784" y="1248520"/>
                </a:lnTo>
                <a:lnTo>
                  <a:pt x="4082527" y="1249517"/>
                </a:lnTo>
                <a:lnTo>
                  <a:pt x="4107269" y="1250451"/>
                </a:lnTo>
                <a:lnTo>
                  <a:pt x="4132012" y="1251326"/>
                </a:lnTo>
                <a:lnTo>
                  <a:pt x="4156754" y="1252144"/>
                </a:lnTo>
                <a:lnTo>
                  <a:pt x="4181497" y="1252908"/>
                </a:lnTo>
                <a:lnTo>
                  <a:pt x="4206240" y="1253620"/>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6766560" y="3791530"/>
            <a:ext cx="4206240" cy="871910"/>
          </a:xfrm>
          <a:custGeom>
            <a:avLst/>
            <a:gdLst/>
            <a:ahLst/>
            <a:cxnLst/>
            <a:rect l="l" t="t" r="r" b="b"/>
            <a:pathLst>
              <a:path w="4206240" h="871910">
                <a:moveTo>
                  <a:pt x="0" y="839070"/>
                </a:moveTo>
                <a:lnTo>
                  <a:pt x="24742" y="832549"/>
                </a:lnTo>
                <a:lnTo>
                  <a:pt x="49485" y="824975"/>
                </a:lnTo>
                <a:lnTo>
                  <a:pt x="74227" y="816230"/>
                </a:lnTo>
                <a:lnTo>
                  <a:pt x="98970" y="806196"/>
                </a:lnTo>
                <a:lnTo>
                  <a:pt x="123712" y="794751"/>
                </a:lnTo>
                <a:lnTo>
                  <a:pt x="148455" y="781778"/>
                </a:lnTo>
                <a:lnTo>
                  <a:pt x="173198" y="767163"/>
                </a:lnTo>
                <a:lnTo>
                  <a:pt x="197940" y="750804"/>
                </a:lnTo>
                <a:lnTo>
                  <a:pt x="222683" y="732609"/>
                </a:lnTo>
                <a:lnTo>
                  <a:pt x="247425" y="712503"/>
                </a:lnTo>
                <a:lnTo>
                  <a:pt x="272168" y="690431"/>
                </a:lnTo>
                <a:lnTo>
                  <a:pt x="296911" y="666363"/>
                </a:lnTo>
                <a:lnTo>
                  <a:pt x="321653" y="640298"/>
                </a:lnTo>
                <a:lnTo>
                  <a:pt x="346396" y="612268"/>
                </a:lnTo>
                <a:lnTo>
                  <a:pt x="371138" y="582339"/>
                </a:lnTo>
                <a:lnTo>
                  <a:pt x="395881" y="550618"/>
                </a:lnTo>
                <a:lnTo>
                  <a:pt x="420624" y="517251"/>
                </a:lnTo>
                <a:lnTo>
                  <a:pt x="445366" y="482429"/>
                </a:lnTo>
                <a:lnTo>
                  <a:pt x="470109" y="446384"/>
                </a:lnTo>
                <a:lnTo>
                  <a:pt x="494851" y="409389"/>
                </a:lnTo>
                <a:lnTo>
                  <a:pt x="519594" y="371758"/>
                </a:lnTo>
                <a:lnTo>
                  <a:pt x="544336" y="333841"/>
                </a:lnTo>
                <a:lnTo>
                  <a:pt x="569079" y="296022"/>
                </a:lnTo>
                <a:lnTo>
                  <a:pt x="593822" y="258707"/>
                </a:lnTo>
                <a:lnTo>
                  <a:pt x="618564" y="222326"/>
                </a:lnTo>
                <a:lnTo>
                  <a:pt x="643307" y="187319"/>
                </a:lnTo>
                <a:lnTo>
                  <a:pt x="668049" y="154129"/>
                </a:lnTo>
                <a:lnTo>
                  <a:pt x="692792" y="123192"/>
                </a:lnTo>
                <a:lnTo>
                  <a:pt x="717535" y="94930"/>
                </a:lnTo>
                <a:lnTo>
                  <a:pt x="742277" y="69741"/>
                </a:lnTo>
                <a:lnTo>
                  <a:pt x="767020" y="47985"/>
                </a:lnTo>
                <a:lnTo>
                  <a:pt x="791762" y="29984"/>
                </a:lnTo>
                <a:lnTo>
                  <a:pt x="816505" y="16005"/>
                </a:lnTo>
                <a:lnTo>
                  <a:pt x="841248" y="6260"/>
                </a:lnTo>
                <a:lnTo>
                  <a:pt x="865990" y="897"/>
                </a:lnTo>
                <a:lnTo>
                  <a:pt x="890733" y="0"/>
                </a:lnTo>
                <a:lnTo>
                  <a:pt x="915475" y="3583"/>
                </a:lnTo>
                <a:lnTo>
                  <a:pt x="940218" y="11589"/>
                </a:lnTo>
                <a:lnTo>
                  <a:pt x="964960" y="23896"/>
                </a:lnTo>
                <a:lnTo>
                  <a:pt x="989703" y="40318"/>
                </a:lnTo>
                <a:lnTo>
                  <a:pt x="1014446" y="60608"/>
                </a:lnTo>
                <a:lnTo>
                  <a:pt x="1039188" y="84465"/>
                </a:lnTo>
                <a:lnTo>
                  <a:pt x="1063931" y="111543"/>
                </a:lnTo>
                <a:lnTo>
                  <a:pt x="1088673" y="141460"/>
                </a:lnTo>
                <a:lnTo>
                  <a:pt x="1113416" y="173800"/>
                </a:lnTo>
                <a:lnTo>
                  <a:pt x="1138159" y="208134"/>
                </a:lnTo>
                <a:lnTo>
                  <a:pt x="1162901" y="244018"/>
                </a:lnTo>
                <a:lnTo>
                  <a:pt x="1187644" y="281012"/>
                </a:lnTo>
                <a:lnTo>
                  <a:pt x="1212386" y="318680"/>
                </a:lnTo>
                <a:lnTo>
                  <a:pt x="1237129" y="356605"/>
                </a:lnTo>
                <a:lnTo>
                  <a:pt x="1261872" y="394394"/>
                </a:lnTo>
                <a:lnTo>
                  <a:pt x="1286614" y="431683"/>
                </a:lnTo>
                <a:lnTo>
                  <a:pt x="1311357" y="468144"/>
                </a:lnTo>
                <a:lnTo>
                  <a:pt x="1336099" y="503485"/>
                </a:lnTo>
                <a:lnTo>
                  <a:pt x="1360842" y="537459"/>
                </a:lnTo>
                <a:lnTo>
                  <a:pt x="1385584" y="569858"/>
                </a:lnTo>
                <a:lnTo>
                  <a:pt x="1410327" y="600519"/>
                </a:lnTo>
                <a:lnTo>
                  <a:pt x="1435070" y="629319"/>
                </a:lnTo>
                <a:lnTo>
                  <a:pt x="1459812" y="656176"/>
                </a:lnTo>
                <a:lnTo>
                  <a:pt x="1484555" y="681044"/>
                </a:lnTo>
                <a:lnTo>
                  <a:pt x="1509297" y="703912"/>
                </a:lnTo>
                <a:lnTo>
                  <a:pt x="1534040" y="724800"/>
                </a:lnTo>
                <a:lnTo>
                  <a:pt x="1558783" y="743751"/>
                </a:lnTo>
                <a:lnTo>
                  <a:pt x="1583525" y="760835"/>
                </a:lnTo>
                <a:lnTo>
                  <a:pt x="1608268" y="776135"/>
                </a:lnTo>
                <a:lnTo>
                  <a:pt x="1633010" y="789751"/>
                </a:lnTo>
                <a:lnTo>
                  <a:pt x="1657753" y="801794"/>
                </a:lnTo>
                <a:lnTo>
                  <a:pt x="1682496" y="812378"/>
                </a:lnTo>
                <a:lnTo>
                  <a:pt x="1707238" y="821624"/>
                </a:lnTo>
                <a:lnTo>
                  <a:pt x="1731981" y="829652"/>
                </a:lnTo>
                <a:lnTo>
                  <a:pt x="1756723" y="836581"/>
                </a:lnTo>
                <a:lnTo>
                  <a:pt x="1781466" y="842525"/>
                </a:lnTo>
                <a:lnTo>
                  <a:pt x="1806208" y="847595"/>
                </a:lnTo>
                <a:lnTo>
                  <a:pt x="1830951" y="851893"/>
                </a:lnTo>
                <a:lnTo>
                  <a:pt x="1855694" y="855516"/>
                </a:lnTo>
                <a:lnTo>
                  <a:pt x="1880436" y="858552"/>
                </a:lnTo>
                <a:lnTo>
                  <a:pt x="1905179" y="861082"/>
                </a:lnTo>
                <a:lnTo>
                  <a:pt x="1929921" y="863177"/>
                </a:lnTo>
                <a:lnTo>
                  <a:pt x="1954664" y="864903"/>
                </a:lnTo>
                <a:lnTo>
                  <a:pt x="1979407" y="866317"/>
                </a:lnTo>
                <a:lnTo>
                  <a:pt x="2004149" y="867469"/>
                </a:lnTo>
                <a:lnTo>
                  <a:pt x="2028892" y="868401"/>
                </a:lnTo>
                <a:lnTo>
                  <a:pt x="2053634" y="869152"/>
                </a:lnTo>
                <a:lnTo>
                  <a:pt x="2078377" y="869753"/>
                </a:lnTo>
                <a:lnTo>
                  <a:pt x="2103120" y="870232"/>
                </a:lnTo>
                <a:lnTo>
                  <a:pt x="2127862" y="870611"/>
                </a:lnTo>
                <a:lnTo>
                  <a:pt x="2152605" y="870910"/>
                </a:lnTo>
                <a:lnTo>
                  <a:pt x="2177347" y="871144"/>
                </a:lnTo>
                <a:lnTo>
                  <a:pt x="2202090" y="871326"/>
                </a:lnTo>
                <a:lnTo>
                  <a:pt x="2226832" y="871467"/>
                </a:lnTo>
                <a:lnTo>
                  <a:pt x="2251575" y="871576"/>
                </a:lnTo>
                <a:lnTo>
                  <a:pt x="2276318" y="871659"/>
                </a:lnTo>
                <a:lnTo>
                  <a:pt x="2301060" y="871723"/>
                </a:lnTo>
                <a:lnTo>
                  <a:pt x="2325803" y="871771"/>
                </a:lnTo>
                <a:lnTo>
                  <a:pt x="2350545" y="871807"/>
                </a:lnTo>
                <a:lnTo>
                  <a:pt x="2375288" y="871834"/>
                </a:lnTo>
                <a:lnTo>
                  <a:pt x="2400031" y="871854"/>
                </a:lnTo>
                <a:lnTo>
                  <a:pt x="2424773" y="871869"/>
                </a:lnTo>
                <a:lnTo>
                  <a:pt x="2449516" y="871880"/>
                </a:lnTo>
                <a:lnTo>
                  <a:pt x="2474258" y="871889"/>
                </a:lnTo>
                <a:lnTo>
                  <a:pt x="2499001" y="871895"/>
                </a:lnTo>
                <a:lnTo>
                  <a:pt x="2523744" y="871899"/>
                </a:lnTo>
                <a:lnTo>
                  <a:pt x="2548486" y="871902"/>
                </a:lnTo>
                <a:lnTo>
                  <a:pt x="2573229" y="871904"/>
                </a:lnTo>
                <a:lnTo>
                  <a:pt x="2597971" y="871906"/>
                </a:lnTo>
                <a:lnTo>
                  <a:pt x="2622714" y="871907"/>
                </a:lnTo>
                <a:lnTo>
                  <a:pt x="2647456" y="871908"/>
                </a:lnTo>
                <a:lnTo>
                  <a:pt x="2672199" y="871908"/>
                </a:lnTo>
                <a:lnTo>
                  <a:pt x="2696942" y="871909"/>
                </a:lnTo>
                <a:lnTo>
                  <a:pt x="2721684" y="871909"/>
                </a:lnTo>
                <a:lnTo>
                  <a:pt x="2746427" y="871909"/>
                </a:lnTo>
                <a:lnTo>
                  <a:pt x="2771169" y="871909"/>
                </a:lnTo>
                <a:lnTo>
                  <a:pt x="2795912" y="871909"/>
                </a:lnTo>
                <a:lnTo>
                  <a:pt x="2820655" y="871909"/>
                </a:lnTo>
                <a:lnTo>
                  <a:pt x="2845397" y="871909"/>
                </a:lnTo>
                <a:lnTo>
                  <a:pt x="2870140" y="871909"/>
                </a:lnTo>
                <a:lnTo>
                  <a:pt x="2894882" y="871909"/>
                </a:lnTo>
                <a:lnTo>
                  <a:pt x="2919625" y="871909"/>
                </a:lnTo>
                <a:lnTo>
                  <a:pt x="2944368" y="871909"/>
                </a:lnTo>
                <a:lnTo>
                  <a:pt x="2969110" y="871909"/>
                </a:lnTo>
                <a:lnTo>
                  <a:pt x="2993853" y="871909"/>
                </a:lnTo>
                <a:lnTo>
                  <a:pt x="3018595" y="871909"/>
                </a:lnTo>
                <a:lnTo>
                  <a:pt x="3043338" y="871909"/>
                </a:lnTo>
                <a:lnTo>
                  <a:pt x="3068080" y="871909"/>
                </a:lnTo>
                <a:lnTo>
                  <a:pt x="3092823" y="871909"/>
                </a:lnTo>
                <a:lnTo>
                  <a:pt x="3117566" y="871909"/>
                </a:lnTo>
                <a:lnTo>
                  <a:pt x="3142308" y="871909"/>
                </a:lnTo>
                <a:lnTo>
                  <a:pt x="3167051" y="871909"/>
                </a:lnTo>
                <a:lnTo>
                  <a:pt x="3191793" y="871909"/>
                </a:lnTo>
                <a:lnTo>
                  <a:pt x="3216536" y="871909"/>
                </a:lnTo>
                <a:lnTo>
                  <a:pt x="3241279" y="871909"/>
                </a:lnTo>
                <a:lnTo>
                  <a:pt x="3266021" y="871909"/>
                </a:lnTo>
                <a:lnTo>
                  <a:pt x="3290764" y="871909"/>
                </a:lnTo>
                <a:lnTo>
                  <a:pt x="3315506" y="871909"/>
                </a:lnTo>
                <a:lnTo>
                  <a:pt x="3340249" y="871909"/>
                </a:lnTo>
                <a:lnTo>
                  <a:pt x="3364992" y="871909"/>
                </a:lnTo>
                <a:lnTo>
                  <a:pt x="3389734" y="871909"/>
                </a:lnTo>
                <a:lnTo>
                  <a:pt x="3414477" y="871909"/>
                </a:lnTo>
                <a:lnTo>
                  <a:pt x="3439219" y="871909"/>
                </a:lnTo>
                <a:lnTo>
                  <a:pt x="3463962" y="871909"/>
                </a:lnTo>
                <a:lnTo>
                  <a:pt x="3488704" y="871909"/>
                </a:lnTo>
                <a:lnTo>
                  <a:pt x="3513447" y="871909"/>
                </a:lnTo>
                <a:lnTo>
                  <a:pt x="3538190" y="871909"/>
                </a:lnTo>
                <a:lnTo>
                  <a:pt x="3562932" y="871909"/>
                </a:lnTo>
                <a:lnTo>
                  <a:pt x="3587675" y="871909"/>
                </a:lnTo>
                <a:lnTo>
                  <a:pt x="3612417" y="871909"/>
                </a:lnTo>
                <a:lnTo>
                  <a:pt x="3637160" y="871909"/>
                </a:lnTo>
                <a:lnTo>
                  <a:pt x="3661903" y="871909"/>
                </a:lnTo>
                <a:lnTo>
                  <a:pt x="3686645" y="871909"/>
                </a:lnTo>
                <a:lnTo>
                  <a:pt x="3711388" y="871909"/>
                </a:lnTo>
                <a:lnTo>
                  <a:pt x="3736130" y="871909"/>
                </a:lnTo>
                <a:lnTo>
                  <a:pt x="3760873" y="871909"/>
                </a:lnTo>
                <a:lnTo>
                  <a:pt x="3785616" y="871910"/>
                </a:lnTo>
                <a:lnTo>
                  <a:pt x="3810358" y="871910"/>
                </a:lnTo>
                <a:lnTo>
                  <a:pt x="3835101" y="871910"/>
                </a:lnTo>
                <a:lnTo>
                  <a:pt x="3859843" y="871910"/>
                </a:lnTo>
                <a:lnTo>
                  <a:pt x="3884586" y="871910"/>
                </a:lnTo>
                <a:lnTo>
                  <a:pt x="3909328" y="871910"/>
                </a:lnTo>
                <a:lnTo>
                  <a:pt x="3934071" y="871910"/>
                </a:lnTo>
                <a:lnTo>
                  <a:pt x="3958814" y="871910"/>
                </a:lnTo>
                <a:lnTo>
                  <a:pt x="3983556" y="871910"/>
                </a:lnTo>
                <a:lnTo>
                  <a:pt x="4008299" y="871910"/>
                </a:lnTo>
                <a:lnTo>
                  <a:pt x="4033041" y="871910"/>
                </a:lnTo>
                <a:lnTo>
                  <a:pt x="4057784" y="871910"/>
                </a:lnTo>
                <a:lnTo>
                  <a:pt x="4082527" y="871910"/>
                </a:lnTo>
                <a:lnTo>
                  <a:pt x="4107269" y="871910"/>
                </a:lnTo>
                <a:lnTo>
                  <a:pt x="4132012" y="871910"/>
                </a:lnTo>
                <a:lnTo>
                  <a:pt x="4156754" y="871910"/>
                </a:lnTo>
                <a:lnTo>
                  <a:pt x="4181497" y="871910"/>
                </a:lnTo>
                <a:lnTo>
                  <a:pt x="4206240" y="871910"/>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766560" y="4140254"/>
            <a:ext cx="4206240" cy="523185"/>
          </a:xfrm>
          <a:custGeom>
            <a:avLst/>
            <a:gdLst/>
            <a:ahLst/>
            <a:cxnLst/>
            <a:rect l="l" t="t" r="r" b="b"/>
            <a:pathLst>
              <a:path w="4206240" h="523185">
                <a:moveTo>
                  <a:pt x="0" y="518901"/>
                </a:moveTo>
                <a:lnTo>
                  <a:pt x="24742" y="518052"/>
                </a:lnTo>
                <a:lnTo>
                  <a:pt x="49485" y="517057"/>
                </a:lnTo>
                <a:lnTo>
                  <a:pt x="74227" y="515895"/>
                </a:lnTo>
                <a:lnTo>
                  <a:pt x="98970" y="514542"/>
                </a:lnTo>
                <a:lnTo>
                  <a:pt x="123712" y="512973"/>
                </a:lnTo>
                <a:lnTo>
                  <a:pt x="148455" y="511161"/>
                </a:lnTo>
                <a:lnTo>
                  <a:pt x="173198" y="509077"/>
                </a:lnTo>
                <a:lnTo>
                  <a:pt x="197940" y="506688"/>
                </a:lnTo>
                <a:lnTo>
                  <a:pt x="222683" y="503962"/>
                </a:lnTo>
                <a:lnTo>
                  <a:pt x="247425" y="500863"/>
                </a:lnTo>
                <a:lnTo>
                  <a:pt x="272168" y="497353"/>
                </a:lnTo>
                <a:lnTo>
                  <a:pt x="296911" y="493395"/>
                </a:lnTo>
                <a:lnTo>
                  <a:pt x="321653" y="488949"/>
                </a:lnTo>
                <a:lnTo>
                  <a:pt x="346396" y="483975"/>
                </a:lnTo>
                <a:lnTo>
                  <a:pt x="371138" y="478435"/>
                </a:lnTo>
                <a:lnTo>
                  <a:pt x="395881" y="472287"/>
                </a:lnTo>
                <a:lnTo>
                  <a:pt x="420624" y="465495"/>
                </a:lnTo>
                <a:lnTo>
                  <a:pt x="445366" y="458023"/>
                </a:lnTo>
                <a:lnTo>
                  <a:pt x="470109" y="449836"/>
                </a:lnTo>
                <a:lnTo>
                  <a:pt x="494851" y="440907"/>
                </a:lnTo>
                <a:lnTo>
                  <a:pt x="519594" y="431210"/>
                </a:lnTo>
                <a:lnTo>
                  <a:pt x="544336" y="420724"/>
                </a:lnTo>
                <a:lnTo>
                  <a:pt x="569079" y="409438"/>
                </a:lnTo>
                <a:lnTo>
                  <a:pt x="593822" y="397344"/>
                </a:lnTo>
                <a:lnTo>
                  <a:pt x="618564" y="384446"/>
                </a:lnTo>
                <a:lnTo>
                  <a:pt x="643307" y="370754"/>
                </a:lnTo>
                <a:lnTo>
                  <a:pt x="668049" y="356289"/>
                </a:lnTo>
                <a:lnTo>
                  <a:pt x="692792" y="341083"/>
                </a:lnTo>
                <a:lnTo>
                  <a:pt x="717535" y="325177"/>
                </a:lnTo>
                <a:lnTo>
                  <a:pt x="742277" y="308626"/>
                </a:lnTo>
                <a:lnTo>
                  <a:pt x="767020" y="291495"/>
                </a:lnTo>
                <a:lnTo>
                  <a:pt x="791762" y="273860"/>
                </a:lnTo>
                <a:lnTo>
                  <a:pt x="816505" y="255810"/>
                </a:lnTo>
                <a:lnTo>
                  <a:pt x="841248" y="237443"/>
                </a:lnTo>
                <a:lnTo>
                  <a:pt x="865990" y="218869"/>
                </a:lnTo>
                <a:lnTo>
                  <a:pt x="890733" y="200208"/>
                </a:lnTo>
                <a:lnTo>
                  <a:pt x="915475" y="181586"/>
                </a:lnTo>
                <a:lnTo>
                  <a:pt x="940218" y="163139"/>
                </a:lnTo>
                <a:lnTo>
                  <a:pt x="964960" y="145006"/>
                </a:lnTo>
                <a:lnTo>
                  <a:pt x="989703" y="127333"/>
                </a:lnTo>
                <a:lnTo>
                  <a:pt x="1014446" y="110264"/>
                </a:lnTo>
                <a:lnTo>
                  <a:pt x="1039188" y="93948"/>
                </a:lnTo>
                <a:lnTo>
                  <a:pt x="1063931" y="78527"/>
                </a:lnTo>
                <a:lnTo>
                  <a:pt x="1088673" y="64145"/>
                </a:lnTo>
                <a:lnTo>
                  <a:pt x="1113416" y="50933"/>
                </a:lnTo>
                <a:lnTo>
                  <a:pt x="1138159" y="39020"/>
                </a:lnTo>
                <a:lnTo>
                  <a:pt x="1162901" y="28521"/>
                </a:lnTo>
                <a:lnTo>
                  <a:pt x="1187644" y="19540"/>
                </a:lnTo>
                <a:lnTo>
                  <a:pt x="1212386" y="12167"/>
                </a:lnTo>
                <a:lnTo>
                  <a:pt x="1237129" y="6477"/>
                </a:lnTo>
                <a:lnTo>
                  <a:pt x="1261872" y="2529"/>
                </a:lnTo>
                <a:lnTo>
                  <a:pt x="1286614" y="362"/>
                </a:lnTo>
                <a:lnTo>
                  <a:pt x="1311357" y="0"/>
                </a:lnTo>
                <a:lnTo>
                  <a:pt x="1336099" y="1447"/>
                </a:lnTo>
                <a:lnTo>
                  <a:pt x="1360842" y="4686"/>
                </a:lnTo>
                <a:lnTo>
                  <a:pt x="1385584" y="9685"/>
                </a:lnTo>
                <a:lnTo>
                  <a:pt x="1410327" y="16393"/>
                </a:lnTo>
                <a:lnTo>
                  <a:pt x="1435070" y="24741"/>
                </a:lnTo>
                <a:lnTo>
                  <a:pt x="1459812" y="34645"/>
                </a:lnTo>
                <a:lnTo>
                  <a:pt x="1484555" y="46005"/>
                </a:lnTo>
                <a:lnTo>
                  <a:pt x="1509297" y="58712"/>
                </a:lnTo>
                <a:lnTo>
                  <a:pt x="1534040" y="72642"/>
                </a:lnTo>
                <a:lnTo>
                  <a:pt x="1558783" y="87664"/>
                </a:lnTo>
                <a:lnTo>
                  <a:pt x="1583525" y="103639"/>
                </a:lnTo>
                <a:lnTo>
                  <a:pt x="1608268" y="120424"/>
                </a:lnTo>
                <a:lnTo>
                  <a:pt x="1633010" y="137874"/>
                </a:lnTo>
                <a:lnTo>
                  <a:pt x="1657753" y="155840"/>
                </a:lnTo>
                <a:lnTo>
                  <a:pt x="1682496" y="174179"/>
                </a:lnTo>
                <a:lnTo>
                  <a:pt x="1707238" y="192747"/>
                </a:lnTo>
                <a:lnTo>
                  <a:pt x="1731981" y="211408"/>
                </a:lnTo>
                <a:lnTo>
                  <a:pt x="1756723" y="230032"/>
                </a:lnTo>
                <a:lnTo>
                  <a:pt x="1781466" y="248495"/>
                </a:lnTo>
                <a:lnTo>
                  <a:pt x="1806208" y="266685"/>
                </a:lnTo>
                <a:lnTo>
                  <a:pt x="1830951" y="284497"/>
                </a:lnTo>
                <a:lnTo>
                  <a:pt x="1855694" y="301839"/>
                </a:lnTo>
                <a:lnTo>
                  <a:pt x="1880436" y="318631"/>
                </a:lnTo>
                <a:lnTo>
                  <a:pt x="1905179" y="334802"/>
                </a:lnTo>
                <a:lnTo>
                  <a:pt x="1929921" y="350293"/>
                </a:lnTo>
                <a:lnTo>
                  <a:pt x="1954664" y="365059"/>
                </a:lnTo>
                <a:lnTo>
                  <a:pt x="1979407" y="379063"/>
                </a:lnTo>
                <a:lnTo>
                  <a:pt x="2004149" y="392281"/>
                </a:lnTo>
                <a:lnTo>
                  <a:pt x="2028892" y="404697"/>
                </a:lnTo>
                <a:lnTo>
                  <a:pt x="2053634" y="416306"/>
                </a:lnTo>
                <a:lnTo>
                  <a:pt x="2078377" y="427111"/>
                </a:lnTo>
                <a:lnTo>
                  <a:pt x="2103120" y="437122"/>
                </a:lnTo>
                <a:lnTo>
                  <a:pt x="2127862" y="446355"/>
                </a:lnTo>
                <a:lnTo>
                  <a:pt x="2152605" y="454836"/>
                </a:lnTo>
                <a:lnTo>
                  <a:pt x="2177347" y="462590"/>
                </a:lnTo>
                <a:lnTo>
                  <a:pt x="2202090" y="469650"/>
                </a:lnTo>
                <a:lnTo>
                  <a:pt x="2226832" y="476051"/>
                </a:lnTo>
                <a:lnTo>
                  <a:pt x="2251575" y="481829"/>
                </a:lnTo>
                <a:lnTo>
                  <a:pt x="2276318" y="487025"/>
                </a:lnTo>
                <a:lnTo>
                  <a:pt x="2301060" y="491677"/>
                </a:lnTo>
                <a:lnTo>
                  <a:pt x="2325803" y="495826"/>
                </a:lnTo>
                <a:lnTo>
                  <a:pt x="2350545" y="499510"/>
                </a:lnTo>
                <a:lnTo>
                  <a:pt x="2375288" y="502769"/>
                </a:lnTo>
                <a:lnTo>
                  <a:pt x="2400031" y="505640"/>
                </a:lnTo>
                <a:lnTo>
                  <a:pt x="2424773" y="508160"/>
                </a:lnTo>
                <a:lnTo>
                  <a:pt x="2449516" y="510362"/>
                </a:lnTo>
                <a:lnTo>
                  <a:pt x="2474258" y="512279"/>
                </a:lnTo>
                <a:lnTo>
                  <a:pt x="2499001" y="513942"/>
                </a:lnTo>
                <a:lnTo>
                  <a:pt x="2523744" y="515378"/>
                </a:lnTo>
                <a:lnTo>
                  <a:pt x="2548486" y="516614"/>
                </a:lnTo>
                <a:lnTo>
                  <a:pt x="2573229" y="517673"/>
                </a:lnTo>
                <a:lnTo>
                  <a:pt x="2597971" y="518578"/>
                </a:lnTo>
                <a:lnTo>
                  <a:pt x="2622714" y="519347"/>
                </a:lnTo>
                <a:lnTo>
                  <a:pt x="2647456" y="519999"/>
                </a:lnTo>
                <a:lnTo>
                  <a:pt x="2672199" y="520549"/>
                </a:lnTo>
                <a:lnTo>
                  <a:pt x="2696942" y="521012"/>
                </a:lnTo>
                <a:lnTo>
                  <a:pt x="2721684" y="521400"/>
                </a:lnTo>
                <a:lnTo>
                  <a:pt x="2746427" y="521724"/>
                </a:lnTo>
                <a:lnTo>
                  <a:pt x="2771169" y="521993"/>
                </a:lnTo>
                <a:lnTo>
                  <a:pt x="2795912" y="522216"/>
                </a:lnTo>
                <a:lnTo>
                  <a:pt x="2820655" y="522400"/>
                </a:lnTo>
                <a:lnTo>
                  <a:pt x="2845397" y="522551"/>
                </a:lnTo>
                <a:lnTo>
                  <a:pt x="2870140" y="522675"/>
                </a:lnTo>
                <a:lnTo>
                  <a:pt x="2894882" y="522776"/>
                </a:lnTo>
                <a:lnTo>
                  <a:pt x="2919625" y="522858"/>
                </a:lnTo>
                <a:lnTo>
                  <a:pt x="2944368" y="522925"/>
                </a:lnTo>
                <a:lnTo>
                  <a:pt x="2969110" y="522979"/>
                </a:lnTo>
                <a:lnTo>
                  <a:pt x="2993853" y="523022"/>
                </a:lnTo>
                <a:lnTo>
                  <a:pt x="3018595" y="523057"/>
                </a:lnTo>
                <a:lnTo>
                  <a:pt x="3043338" y="523084"/>
                </a:lnTo>
                <a:lnTo>
                  <a:pt x="3068080" y="523106"/>
                </a:lnTo>
                <a:lnTo>
                  <a:pt x="3092823" y="523124"/>
                </a:lnTo>
                <a:lnTo>
                  <a:pt x="3117566" y="523137"/>
                </a:lnTo>
                <a:lnTo>
                  <a:pt x="3142308" y="523148"/>
                </a:lnTo>
                <a:lnTo>
                  <a:pt x="3167051" y="523157"/>
                </a:lnTo>
                <a:lnTo>
                  <a:pt x="3191793" y="523163"/>
                </a:lnTo>
                <a:lnTo>
                  <a:pt x="3216536" y="523169"/>
                </a:lnTo>
                <a:lnTo>
                  <a:pt x="3241279" y="523173"/>
                </a:lnTo>
                <a:lnTo>
                  <a:pt x="3266021" y="523176"/>
                </a:lnTo>
                <a:lnTo>
                  <a:pt x="3290764" y="523178"/>
                </a:lnTo>
                <a:lnTo>
                  <a:pt x="3315506" y="523180"/>
                </a:lnTo>
                <a:lnTo>
                  <a:pt x="3340249" y="523181"/>
                </a:lnTo>
                <a:lnTo>
                  <a:pt x="3364992" y="523182"/>
                </a:lnTo>
                <a:lnTo>
                  <a:pt x="3389734" y="523183"/>
                </a:lnTo>
                <a:lnTo>
                  <a:pt x="3414477" y="523184"/>
                </a:lnTo>
                <a:lnTo>
                  <a:pt x="3439219" y="523184"/>
                </a:lnTo>
                <a:lnTo>
                  <a:pt x="3463962" y="523185"/>
                </a:lnTo>
                <a:lnTo>
                  <a:pt x="3488704" y="523185"/>
                </a:lnTo>
                <a:lnTo>
                  <a:pt x="3513447" y="523185"/>
                </a:lnTo>
                <a:lnTo>
                  <a:pt x="3538190" y="523185"/>
                </a:lnTo>
                <a:lnTo>
                  <a:pt x="3562932" y="523185"/>
                </a:lnTo>
                <a:lnTo>
                  <a:pt x="3587675" y="523185"/>
                </a:lnTo>
                <a:lnTo>
                  <a:pt x="3612417" y="523185"/>
                </a:lnTo>
                <a:lnTo>
                  <a:pt x="3637160" y="523185"/>
                </a:lnTo>
                <a:lnTo>
                  <a:pt x="3661903" y="523185"/>
                </a:lnTo>
                <a:lnTo>
                  <a:pt x="3686645" y="523185"/>
                </a:lnTo>
                <a:lnTo>
                  <a:pt x="3711388" y="523185"/>
                </a:lnTo>
                <a:lnTo>
                  <a:pt x="3736130" y="523185"/>
                </a:lnTo>
                <a:lnTo>
                  <a:pt x="3760873" y="523185"/>
                </a:lnTo>
                <a:lnTo>
                  <a:pt x="3785616" y="523185"/>
                </a:lnTo>
                <a:lnTo>
                  <a:pt x="3810358" y="523185"/>
                </a:lnTo>
                <a:lnTo>
                  <a:pt x="3835101" y="523185"/>
                </a:lnTo>
                <a:lnTo>
                  <a:pt x="3859843" y="523185"/>
                </a:lnTo>
                <a:lnTo>
                  <a:pt x="3884586" y="523185"/>
                </a:lnTo>
                <a:lnTo>
                  <a:pt x="3909328" y="523185"/>
                </a:lnTo>
                <a:lnTo>
                  <a:pt x="3934071" y="523185"/>
                </a:lnTo>
                <a:lnTo>
                  <a:pt x="3958814" y="523185"/>
                </a:lnTo>
                <a:lnTo>
                  <a:pt x="3983556" y="523185"/>
                </a:lnTo>
                <a:lnTo>
                  <a:pt x="4008299" y="523185"/>
                </a:lnTo>
                <a:lnTo>
                  <a:pt x="4033041" y="523185"/>
                </a:lnTo>
                <a:lnTo>
                  <a:pt x="4057784" y="523185"/>
                </a:lnTo>
                <a:lnTo>
                  <a:pt x="4082527" y="523185"/>
                </a:lnTo>
                <a:lnTo>
                  <a:pt x="4107269" y="523185"/>
                </a:lnTo>
                <a:lnTo>
                  <a:pt x="4132012" y="523185"/>
                </a:lnTo>
                <a:lnTo>
                  <a:pt x="4156754" y="523185"/>
                </a:lnTo>
                <a:lnTo>
                  <a:pt x="4181497" y="523185"/>
                </a:lnTo>
                <a:lnTo>
                  <a:pt x="4206240" y="523185"/>
                </a:lnTo>
              </a:path>
            </a:pathLst>
          </a:custGeom>
          <a:noFill/>
          <a:ln w="2540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6766560" y="4663440"/>
            <a:ext cx="420624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4736592"/>
            <a:ext cx="5303520" cy="329184"/>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C00000"/>
                </a:solidFill>
                <a:latin typeface="メイリオ"/>
                <a:ea typeface="メイリオ"/>
                <a:cs typeface="メイリオ"/>
              </a:rPr>
              <a:t>点が見つからない</a:t>
            </a:r>
          </a:p>
        </p:txBody>
      </p:sp>
      <p:sp>
        <p:nvSpPr>
          <p:cNvPr id="21" name="TextBox 20"/>
          <p:cNvSpPr txBox="1"/>
          <p:nvPr/>
        </p:nvSpPr>
        <p:spPr>
          <a:xfrm>
            <a:off x="6217920" y="4736592"/>
            <a:ext cx="5303520" cy="329184"/>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00A8AA"/>
                </a:solidFill>
                <a:latin typeface="メイリオ"/>
                <a:ea typeface="メイリオ"/>
                <a:cs typeface="メイリオ"/>
              </a:rPr>
              <a:t>山として推定できる</a:t>
            </a:r>
          </a:p>
        </p:txBody>
      </p:sp>
      <p:sp>
        <p:nvSpPr>
          <p:cNvPr id="22" name="Rounded Rectangle 21"/>
          <p:cNvSpPr/>
          <p:nvPr/>
        </p:nvSpPr>
        <p:spPr>
          <a:xfrm>
            <a:off x="640080" y="5212080"/>
            <a:ext cx="10881360" cy="749808"/>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222222"/>
                </a:solidFill>
                <a:latin typeface="メイリオ"/>
                <a:ea typeface="メイリオ"/>
                <a:cs typeface="メイリオ"/>
              </a:rPr>
              <a:t>見えない波を、見える波形から逆算する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順問題と逆問題</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19</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提案手法（数学的な位置づけの説明）</a:t>
            </a:r>
          </a:p>
        </p:txBody>
      </p:sp>
      <p:sp>
        <p:nvSpPr>
          <p:cNvPr id="12" name="Rounded Rectangle 11"/>
          <p:cNvSpPr/>
          <p:nvPr/>
        </p:nvSpPr>
        <p:spPr>
          <a:xfrm>
            <a:off x="640080" y="1874519"/>
            <a:ext cx="10881360" cy="137160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0072B2"/>
                </a:solidFill>
                <a:latin typeface="メイリオ"/>
                <a:ea typeface="メイリオ"/>
                <a:cs typeface="メイリオ"/>
              </a:rPr>
              <a:t>順問題（やさしい）</a:t>
            </a:r>
          </a:p>
          <a:p>
            <a:pPr algn="l">
              <a:lnSpc>
                <a:spcPct val="100000"/>
              </a:lnSpc>
              <a:spcBef>
                <a:spcPts val="0"/>
              </a:spcBef>
              <a:spcAft>
                <a:spcPts val="800"/>
              </a:spcAft>
            </a:pPr>
            <a:r>
              <a:rPr sz="2600" b="1" i="0">
                <a:solidFill>
                  <a:srgbClr val="222222"/>
                </a:solidFill>
                <a:latin typeface="メイリオ"/>
                <a:ea typeface="メイリオ"/>
                <a:cs typeface="メイリオ"/>
              </a:rPr>
              <a:t>前進波 ＋ 反射波 → 観測波形　　足すだけ</a:t>
            </a:r>
          </a:p>
        </p:txBody>
      </p:sp>
      <p:sp>
        <p:nvSpPr>
          <p:cNvPr id="13" name="Rounded Rectangle 12"/>
          <p:cNvSpPr/>
          <p:nvPr/>
        </p:nvSpPr>
        <p:spPr>
          <a:xfrm>
            <a:off x="640080" y="3429000"/>
            <a:ext cx="10881360" cy="13716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800"/>
              </a:spcAft>
            </a:pPr>
            <a:r>
              <a:rPr sz="2600" b="1" i="0">
                <a:solidFill>
                  <a:srgbClr val="D55E00"/>
                </a:solidFill>
                <a:latin typeface="メイリオ"/>
                <a:ea typeface="メイリオ"/>
                <a:cs typeface="メイリオ"/>
              </a:rPr>
              <a:t>逆問題（むずかしい）</a:t>
            </a:r>
          </a:p>
          <a:p>
            <a:pPr algn="l">
              <a:lnSpc>
                <a:spcPct val="100000"/>
              </a:lnSpc>
              <a:spcBef>
                <a:spcPts val="0"/>
              </a:spcBef>
              <a:spcAft>
                <a:spcPts val="800"/>
              </a:spcAft>
            </a:pPr>
            <a:r>
              <a:rPr sz="2600" b="1" i="0">
                <a:solidFill>
                  <a:srgbClr val="222222"/>
                </a:solidFill>
                <a:latin typeface="メイリオ"/>
                <a:ea typeface="メイリオ"/>
                <a:cs typeface="メイリオ"/>
              </a:rPr>
              <a:t>観測波形 → 前進波 ＋ 反射波　　内訳を当てる</a:t>
            </a:r>
          </a:p>
        </p:txBody>
      </p:sp>
      <p:sp>
        <p:nvSpPr>
          <p:cNvPr id="14" name="TextBox 13"/>
          <p:cNvSpPr txBox="1"/>
          <p:nvPr/>
        </p:nvSpPr>
        <p:spPr>
          <a:xfrm>
            <a:off x="640080" y="4983480"/>
            <a:ext cx="10881360" cy="822960"/>
          </a:xfrm>
          <a:prstGeom prst="rect">
            <a:avLst/>
          </a:prstGeom>
          <a:noFill/>
        </p:spPr>
        <p:txBody>
          <a:bodyPr wrap="square" lIns="18288" rIns="18288" tIns="0" bIns="0" anchor="t">
            <a:noAutofit/>
          </a:bodyPr>
          <a:lstStyle/>
          <a:p>
            <a:pPr algn="l">
              <a:lnSpc>
                <a:spcPct val="100000"/>
              </a:lnSpc>
              <a:spcBef>
                <a:spcPts val="0"/>
              </a:spcBef>
              <a:spcAft>
                <a:spcPts val="0"/>
              </a:spcAft>
            </a:pPr>
            <a:r>
              <a:rPr sz="2600" b="1" i="0">
                <a:solidFill>
                  <a:srgbClr val="222222"/>
                </a:solidFill>
                <a:latin typeface="メイリオ"/>
                <a:ea typeface="メイリオ"/>
                <a:cs typeface="メイリオ"/>
              </a:rPr>
              <a:t>スープを味わって材料と分量を当てるのに似ている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山ひとつの式</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20</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Gaussian（ガウス関数）。PPG 分解に用いた最初期の報告は Rubins U. Med Biol Eng Comput 2008;46:1271-6（PMID 18855034）</a:t>
            </a:r>
          </a:p>
        </p:txBody>
      </p:sp>
      <p:sp>
        <p:nvSpPr>
          <p:cNvPr id="12" name="Rounded Rectangle 11"/>
          <p:cNvSpPr/>
          <p:nvPr/>
        </p:nvSpPr>
        <p:spPr>
          <a:xfrm>
            <a:off x="640080" y="1783080"/>
            <a:ext cx="10881360" cy="96012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3000" b="1" i="0">
                <a:solidFill>
                  <a:srgbClr val="222222"/>
                </a:solidFill>
                <a:latin typeface="メイリオ"/>
                <a:ea typeface="メイリオ"/>
                <a:cs typeface="メイリオ"/>
              </a:rPr>
              <a:t>g(t) ＝ a × exp( −(t − μ)² ÷ 2σ² )</a:t>
            </a:r>
          </a:p>
        </p:txBody>
      </p:sp>
      <p:sp>
        <p:nvSpPr>
          <p:cNvPr id="13" name="Rounded Rectangle 12"/>
          <p:cNvSpPr/>
          <p:nvPr/>
        </p:nvSpPr>
        <p:spPr>
          <a:xfrm>
            <a:off x="640080" y="2926080"/>
            <a:ext cx="3429000" cy="1234440"/>
          </a:xfrm>
          <a:prstGeom prst="roundRect">
            <a:avLst>
              <a:gd name="adj" fmla="val 8000"/>
            </a:avLst>
          </a:prstGeom>
          <a:noFill/>
          <a:ln w="2540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600" b="1" i="0">
                <a:solidFill>
                  <a:srgbClr val="D55E00"/>
                </a:solidFill>
                <a:latin typeface="メイリオ"/>
                <a:ea typeface="メイリオ"/>
                <a:cs typeface="メイリオ"/>
              </a:rPr>
              <a:t>a：高さ</a:t>
            </a:r>
          </a:p>
          <a:p>
            <a:pPr algn="ctr">
              <a:lnSpc>
                <a:spcPct val="100000"/>
              </a:lnSpc>
              <a:spcBef>
                <a:spcPts val="0"/>
              </a:spcBef>
              <a:spcAft>
                <a:spcPts val="600"/>
              </a:spcAft>
            </a:pPr>
            <a:r>
              <a:rPr sz="2200" b="0" i="0">
                <a:solidFill>
                  <a:srgbClr val="222222"/>
                </a:solidFill>
                <a:latin typeface="メイリオ"/>
                <a:ea typeface="メイリオ"/>
                <a:cs typeface="メイリオ"/>
              </a:rPr>
              <a:t>山の高さを決める</a:t>
            </a:r>
          </a:p>
        </p:txBody>
      </p:sp>
      <p:sp>
        <p:nvSpPr>
          <p:cNvPr id="14" name="Rounded Rectangle 13"/>
          <p:cNvSpPr/>
          <p:nvPr/>
        </p:nvSpPr>
        <p:spPr>
          <a:xfrm>
            <a:off x="4343400" y="2926080"/>
            <a:ext cx="3429000" cy="1234440"/>
          </a:xfrm>
          <a:prstGeom prst="roundRect">
            <a:avLst>
              <a:gd name="adj" fmla="val 8000"/>
            </a:avLst>
          </a:prstGeom>
          <a:no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600" b="1" i="0">
                <a:solidFill>
                  <a:srgbClr val="0072B2"/>
                </a:solidFill>
                <a:latin typeface="メイリオ"/>
                <a:ea typeface="メイリオ"/>
                <a:cs typeface="メイリオ"/>
              </a:rPr>
              <a:t>μ：位置</a:t>
            </a:r>
          </a:p>
          <a:p>
            <a:pPr algn="ctr">
              <a:lnSpc>
                <a:spcPct val="100000"/>
              </a:lnSpc>
              <a:spcBef>
                <a:spcPts val="0"/>
              </a:spcBef>
              <a:spcAft>
                <a:spcPts val="600"/>
              </a:spcAft>
            </a:pPr>
            <a:r>
              <a:rPr sz="2200" b="0" i="0">
                <a:solidFill>
                  <a:srgbClr val="222222"/>
                </a:solidFill>
                <a:latin typeface="メイリオ"/>
                <a:ea typeface="メイリオ"/>
                <a:cs typeface="メイリオ"/>
              </a:rPr>
              <a:t>山の時刻を決める</a:t>
            </a:r>
          </a:p>
        </p:txBody>
      </p:sp>
      <p:sp>
        <p:nvSpPr>
          <p:cNvPr id="15" name="Rounded Rectangle 14"/>
          <p:cNvSpPr/>
          <p:nvPr/>
        </p:nvSpPr>
        <p:spPr>
          <a:xfrm>
            <a:off x="8046719" y="2926080"/>
            <a:ext cx="3429000" cy="1234440"/>
          </a:xfrm>
          <a:prstGeom prst="roundRect">
            <a:avLst>
              <a:gd name="adj" fmla="val 8000"/>
            </a:avLst>
          </a:prstGeom>
          <a:noFill/>
          <a:ln w="2540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600" b="1" i="0">
                <a:solidFill>
                  <a:srgbClr val="00A8AA"/>
                </a:solidFill>
                <a:latin typeface="メイリオ"/>
                <a:ea typeface="メイリオ"/>
                <a:cs typeface="メイリオ"/>
              </a:rPr>
              <a:t>σ：幅</a:t>
            </a:r>
          </a:p>
          <a:p>
            <a:pPr algn="ctr">
              <a:lnSpc>
                <a:spcPct val="100000"/>
              </a:lnSpc>
              <a:spcBef>
                <a:spcPts val="0"/>
              </a:spcBef>
              <a:spcAft>
                <a:spcPts val="600"/>
              </a:spcAft>
            </a:pPr>
            <a:r>
              <a:rPr sz="2200" b="0" i="0">
                <a:solidFill>
                  <a:srgbClr val="222222"/>
                </a:solidFill>
                <a:latin typeface="メイリオ"/>
                <a:ea typeface="メイリオ"/>
                <a:cs typeface="メイリオ"/>
              </a:rPr>
              <a:t>山の広がりを決める</a:t>
            </a:r>
          </a:p>
        </p:txBody>
      </p:sp>
      <p:sp>
        <p:nvSpPr>
          <p:cNvPr id="16" name="Freeform 15"/>
          <p:cNvSpPr/>
          <p:nvPr/>
        </p:nvSpPr>
        <p:spPr>
          <a:xfrm>
            <a:off x="1188720" y="4871255"/>
            <a:ext cx="9692640" cy="798024"/>
          </a:xfrm>
          <a:custGeom>
            <a:avLst/>
            <a:gdLst/>
            <a:ahLst/>
            <a:cxnLst/>
            <a:rect l="l" t="t" r="r" b="b"/>
            <a:pathLst>
              <a:path w="9692640" h="798024">
                <a:moveTo>
                  <a:pt x="0" y="798023"/>
                </a:moveTo>
                <a:lnTo>
                  <a:pt x="57015" y="798021"/>
                </a:lnTo>
                <a:lnTo>
                  <a:pt x="114031" y="798019"/>
                </a:lnTo>
                <a:lnTo>
                  <a:pt x="171046" y="798015"/>
                </a:lnTo>
                <a:lnTo>
                  <a:pt x="228062" y="798009"/>
                </a:lnTo>
                <a:lnTo>
                  <a:pt x="285077" y="798000"/>
                </a:lnTo>
                <a:lnTo>
                  <a:pt x="342093" y="797984"/>
                </a:lnTo>
                <a:lnTo>
                  <a:pt x="399108" y="797960"/>
                </a:lnTo>
                <a:lnTo>
                  <a:pt x="456124" y="797923"/>
                </a:lnTo>
                <a:lnTo>
                  <a:pt x="513139" y="797865"/>
                </a:lnTo>
                <a:lnTo>
                  <a:pt x="570155" y="797779"/>
                </a:lnTo>
                <a:lnTo>
                  <a:pt x="627170" y="797649"/>
                </a:lnTo>
                <a:lnTo>
                  <a:pt x="684186" y="797456"/>
                </a:lnTo>
                <a:lnTo>
                  <a:pt x="741201" y="797176"/>
                </a:lnTo>
                <a:lnTo>
                  <a:pt x="798217" y="796771"/>
                </a:lnTo>
                <a:lnTo>
                  <a:pt x="855232" y="796194"/>
                </a:lnTo>
                <a:lnTo>
                  <a:pt x="912248" y="795381"/>
                </a:lnTo>
                <a:lnTo>
                  <a:pt x="969264" y="794252"/>
                </a:lnTo>
                <a:lnTo>
                  <a:pt x="1026279" y="792702"/>
                </a:lnTo>
                <a:lnTo>
                  <a:pt x="1083295" y="790599"/>
                </a:lnTo>
                <a:lnTo>
                  <a:pt x="1140310" y="787785"/>
                </a:lnTo>
                <a:lnTo>
                  <a:pt x="1197326" y="784063"/>
                </a:lnTo>
                <a:lnTo>
                  <a:pt x="1254341" y="779206"/>
                </a:lnTo>
                <a:lnTo>
                  <a:pt x="1311357" y="772948"/>
                </a:lnTo>
                <a:lnTo>
                  <a:pt x="1368372" y="764988"/>
                </a:lnTo>
                <a:lnTo>
                  <a:pt x="1425388" y="754997"/>
                </a:lnTo>
                <a:lnTo>
                  <a:pt x="1482403" y="742621"/>
                </a:lnTo>
                <a:lnTo>
                  <a:pt x="1539419" y="727498"/>
                </a:lnTo>
                <a:lnTo>
                  <a:pt x="1596434" y="709267"/>
                </a:lnTo>
                <a:lnTo>
                  <a:pt x="1653450" y="687594"/>
                </a:lnTo>
                <a:lnTo>
                  <a:pt x="1710465" y="662191"/>
                </a:lnTo>
                <a:lnTo>
                  <a:pt x="1767481" y="632845"/>
                </a:lnTo>
                <a:lnTo>
                  <a:pt x="1824496" y="599444"/>
                </a:lnTo>
                <a:lnTo>
                  <a:pt x="1881512" y="562004"/>
                </a:lnTo>
                <a:lnTo>
                  <a:pt x="1938528" y="520696"/>
                </a:lnTo>
                <a:lnTo>
                  <a:pt x="1995543" y="475864"/>
                </a:lnTo>
                <a:lnTo>
                  <a:pt x="2052559" y="428041"/>
                </a:lnTo>
                <a:lnTo>
                  <a:pt x="2109574" y="377952"/>
                </a:lnTo>
                <a:lnTo>
                  <a:pt x="2166590" y="326506"/>
                </a:lnTo>
                <a:lnTo>
                  <a:pt x="2223605" y="274779"/>
                </a:lnTo>
                <a:lnTo>
                  <a:pt x="2280621" y="223981"/>
                </a:lnTo>
                <a:lnTo>
                  <a:pt x="2337636" y="175415"/>
                </a:lnTo>
                <a:lnTo>
                  <a:pt x="2394652" y="130420"/>
                </a:lnTo>
                <a:lnTo>
                  <a:pt x="2451667" y="90315"/>
                </a:lnTo>
                <a:lnTo>
                  <a:pt x="2508683" y="56334"/>
                </a:lnTo>
                <a:lnTo>
                  <a:pt x="2565698" y="29562"/>
                </a:lnTo>
                <a:lnTo>
                  <a:pt x="2622714" y="10879"/>
                </a:lnTo>
                <a:lnTo>
                  <a:pt x="2679729" y="912"/>
                </a:lnTo>
                <a:lnTo>
                  <a:pt x="2736745" y="0"/>
                </a:lnTo>
                <a:lnTo>
                  <a:pt x="2793760" y="8173"/>
                </a:lnTo>
                <a:lnTo>
                  <a:pt x="2850776" y="25154"/>
                </a:lnTo>
                <a:lnTo>
                  <a:pt x="2907791" y="50372"/>
                </a:lnTo>
                <a:lnTo>
                  <a:pt x="2964807" y="82992"/>
                </a:lnTo>
                <a:lnTo>
                  <a:pt x="3021823" y="121967"/>
                </a:lnTo>
                <a:lnTo>
                  <a:pt x="3078838" y="166087"/>
                </a:lnTo>
                <a:lnTo>
                  <a:pt x="3135854" y="214047"/>
                </a:lnTo>
                <a:lnTo>
                  <a:pt x="3192869" y="264504"/>
                </a:lnTo>
                <a:lnTo>
                  <a:pt x="3249885" y="316146"/>
                </a:lnTo>
                <a:lnTo>
                  <a:pt x="3306900" y="367739"/>
                </a:lnTo>
                <a:lnTo>
                  <a:pt x="3363916" y="418178"/>
                </a:lnTo>
                <a:lnTo>
                  <a:pt x="3420931" y="466518"/>
                </a:lnTo>
                <a:lnTo>
                  <a:pt x="3477947" y="511997"/>
                </a:lnTo>
                <a:lnTo>
                  <a:pt x="3534962" y="554044"/>
                </a:lnTo>
                <a:lnTo>
                  <a:pt x="3591978" y="592276"/>
                </a:lnTo>
                <a:lnTo>
                  <a:pt x="3648993" y="626491"/>
                </a:lnTo>
                <a:lnTo>
                  <a:pt x="3706009" y="656643"/>
                </a:lnTo>
                <a:lnTo>
                  <a:pt x="3763024" y="682820"/>
                </a:lnTo>
                <a:lnTo>
                  <a:pt x="3820040" y="705218"/>
                </a:lnTo>
                <a:lnTo>
                  <a:pt x="3877056" y="724111"/>
                </a:lnTo>
                <a:lnTo>
                  <a:pt x="3934071" y="739828"/>
                </a:lnTo>
                <a:lnTo>
                  <a:pt x="3991087" y="752724"/>
                </a:lnTo>
                <a:lnTo>
                  <a:pt x="4048102" y="763164"/>
                </a:lnTo>
                <a:lnTo>
                  <a:pt x="4105118" y="771502"/>
                </a:lnTo>
                <a:lnTo>
                  <a:pt x="4162133" y="778076"/>
                </a:lnTo>
                <a:lnTo>
                  <a:pt x="4219149" y="783191"/>
                </a:lnTo>
                <a:lnTo>
                  <a:pt x="4276164" y="787120"/>
                </a:lnTo>
                <a:lnTo>
                  <a:pt x="4333180" y="790099"/>
                </a:lnTo>
                <a:lnTo>
                  <a:pt x="4390195" y="792330"/>
                </a:lnTo>
                <a:lnTo>
                  <a:pt x="4447211" y="793980"/>
                </a:lnTo>
                <a:lnTo>
                  <a:pt x="4504226" y="795184"/>
                </a:lnTo>
                <a:lnTo>
                  <a:pt x="4561242" y="796052"/>
                </a:lnTo>
                <a:lnTo>
                  <a:pt x="4618257" y="796671"/>
                </a:lnTo>
                <a:lnTo>
                  <a:pt x="4675273" y="797106"/>
                </a:lnTo>
                <a:lnTo>
                  <a:pt x="4732288" y="797408"/>
                </a:lnTo>
                <a:lnTo>
                  <a:pt x="4789304" y="797616"/>
                </a:lnTo>
                <a:lnTo>
                  <a:pt x="4846320" y="797757"/>
                </a:lnTo>
                <a:lnTo>
                  <a:pt x="4903335" y="797851"/>
                </a:lnTo>
                <a:lnTo>
                  <a:pt x="4960351" y="797913"/>
                </a:lnTo>
                <a:lnTo>
                  <a:pt x="5017366" y="797954"/>
                </a:lnTo>
                <a:lnTo>
                  <a:pt x="5074382" y="797980"/>
                </a:lnTo>
                <a:lnTo>
                  <a:pt x="5131397" y="797997"/>
                </a:lnTo>
                <a:lnTo>
                  <a:pt x="5188413" y="798008"/>
                </a:lnTo>
                <a:lnTo>
                  <a:pt x="5245428" y="798014"/>
                </a:lnTo>
                <a:lnTo>
                  <a:pt x="5302444" y="798018"/>
                </a:lnTo>
                <a:lnTo>
                  <a:pt x="5359459" y="798021"/>
                </a:lnTo>
                <a:lnTo>
                  <a:pt x="5416475" y="798022"/>
                </a:lnTo>
                <a:lnTo>
                  <a:pt x="5473490" y="798023"/>
                </a:lnTo>
                <a:lnTo>
                  <a:pt x="5530506" y="798024"/>
                </a:lnTo>
                <a:lnTo>
                  <a:pt x="5587521" y="798024"/>
                </a:lnTo>
                <a:lnTo>
                  <a:pt x="5644537" y="798024"/>
                </a:lnTo>
                <a:lnTo>
                  <a:pt x="5701552" y="798024"/>
                </a:lnTo>
                <a:lnTo>
                  <a:pt x="5758568" y="798024"/>
                </a:lnTo>
                <a:lnTo>
                  <a:pt x="5815583" y="798024"/>
                </a:lnTo>
                <a:lnTo>
                  <a:pt x="5872599" y="798024"/>
                </a:lnTo>
                <a:lnTo>
                  <a:pt x="5929615" y="798024"/>
                </a:lnTo>
                <a:lnTo>
                  <a:pt x="5986630" y="798024"/>
                </a:lnTo>
                <a:lnTo>
                  <a:pt x="6043646" y="798024"/>
                </a:lnTo>
                <a:lnTo>
                  <a:pt x="6100661" y="798024"/>
                </a:lnTo>
                <a:lnTo>
                  <a:pt x="6157677" y="798024"/>
                </a:lnTo>
                <a:lnTo>
                  <a:pt x="6214692" y="798024"/>
                </a:lnTo>
                <a:lnTo>
                  <a:pt x="6271708" y="798024"/>
                </a:lnTo>
                <a:lnTo>
                  <a:pt x="6328723" y="798024"/>
                </a:lnTo>
                <a:lnTo>
                  <a:pt x="6385739" y="798024"/>
                </a:lnTo>
                <a:lnTo>
                  <a:pt x="6442754" y="798024"/>
                </a:lnTo>
                <a:lnTo>
                  <a:pt x="6499770" y="798024"/>
                </a:lnTo>
                <a:lnTo>
                  <a:pt x="6556785" y="798024"/>
                </a:lnTo>
                <a:lnTo>
                  <a:pt x="6613801" y="798024"/>
                </a:lnTo>
                <a:lnTo>
                  <a:pt x="6670816" y="798024"/>
                </a:lnTo>
                <a:lnTo>
                  <a:pt x="6727832" y="798024"/>
                </a:lnTo>
                <a:lnTo>
                  <a:pt x="6784847" y="798024"/>
                </a:lnTo>
                <a:lnTo>
                  <a:pt x="6841863" y="798024"/>
                </a:lnTo>
                <a:lnTo>
                  <a:pt x="6898879" y="798024"/>
                </a:lnTo>
                <a:lnTo>
                  <a:pt x="6955894" y="798024"/>
                </a:lnTo>
                <a:lnTo>
                  <a:pt x="7012910" y="798024"/>
                </a:lnTo>
                <a:lnTo>
                  <a:pt x="7069925" y="798024"/>
                </a:lnTo>
                <a:lnTo>
                  <a:pt x="7126941" y="798024"/>
                </a:lnTo>
                <a:lnTo>
                  <a:pt x="7183956" y="798024"/>
                </a:lnTo>
                <a:lnTo>
                  <a:pt x="7240972" y="798024"/>
                </a:lnTo>
                <a:lnTo>
                  <a:pt x="7297987" y="798024"/>
                </a:lnTo>
                <a:lnTo>
                  <a:pt x="7355003" y="798024"/>
                </a:lnTo>
                <a:lnTo>
                  <a:pt x="7412018" y="798024"/>
                </a:lnTo>
                <a:lnTo>
                  <a:pt x="7469034" y="798024"/>
                </a:lnTo>
                <a:lnTo>
                  <a:pt x="7526049" y="798024"/>
                </a:lnTo>
                <a:lnTo>
                  <a:pt x="7583065" y="798024"/>
                </a:lnTo>
                <a:lnTo>
                  <a:pt x="7640080" y="798024"/>
                </a:lnTo>
                <a:lnTo>
                  <a:pt x="7697096" y="798024"/>
                </a:lnTo>
                <a:lnTo>
                  <a:pt x="7754112" y="798024"/>
                </a:lnTo>
                <a:lnTo>
                  <a:pt x="7811127" y="798024"/>
                </a:lnTo>
                <a:lnTo>
                  <a:pt x="7868143" y="798024"/>
                </a:lnTo>
                <a:lnTo>
                  <a:pt x="7925158" y="798024"/>
                </a:lnTo>
                <a:lnTo>
                  <a:pt x="7982174" y="798024"/>
                </a:lnTo>
                <a:lnTo>
                  <a:pt x="8039189" y="798024"/>
                </a:lnTo>
                <a:lnTo>
                  <a:pt x="8096205" y="798024"/>
                </a:lnTo>
                <a:lnTo>
                  <a:pt x="8153220" y="798024"/>
                </a:lnTo>
                <a:lnTo>
                  <a:pt x="8210236" y="798024"/>
                </a:lnTo>
                <a:lnTo>
                  <a:pt x="8267251" y="798024"/>
                </a:lnTo>
                <a:lnTo>
                  <a:pt x="8324267" y="798024"/>
                </a:lnTo>
                <a:lnTo>
                  <a:pt x="8381282" y="798024"/>
                </a:lnTo>
                <a:lnTo>
                  <a:pt x="8438298" y="798024"/>
                </a:lnTo>
                <a:lnTo>
                  <a:pt x="8495313" y="798024"/>
                </a:lnTo>
                <a:lnTo>
                  <a:pt x="8552329" y="798024"/>
                </a:lnTo>
                <a:lnTo>
                  <a:pt x="8609344" y="798024"/>
                </a:lnTo>
                <a:lnTo>
                  <a:pt x="8666360" y="798024"/>
                </a:lnTo>
                <a:lnTo>
                  <a:pt x="8723376" y="798024"/>
                </a:lnTo>
                <a:lnTo>
                  <a:pt x="8780391" y="798024"/>
                </a:lnTo>
                <a:lnTo>
                  <a:pt x="8837407" y="798024"/>
                </a:lnTo>
                <a:lnTo>
                  <a:pt x="8894422" y="798024"/>
                </a:lnTo>
                <a:lnTo>
                  <a:pt x="8951438" y="798024"/>
                </a:lnTo>
                <a:lnTo>
                  <a:pt x="9008453" y="798024"/>
                </a:lnTo>
                <a:lnTo>
                  <a:pt x="9065469" y="798024"/>
                </a:lnTo>
                <a:lnTo>
                  <a:pt x="9122484" y="798024"/>
                </a:lnTo>
                <a:lnTo>
                  <a:pt x="9179500" y="798024"/>
                </a:lnTo>
                <a:lnTo>
                  <a:pt x="9236515" y="798024"/>
                </a:lnTo>
                <a:lnTo>
                  <a:pt x="9293531" y="798024"/>
                </a:lnTo>
                <a:lnTo>
                  <a:pt x="9350546" y="798024"/>
                </a:lnTo>
                <a:lnTo>
                  <a:pt x="9407562" y="798024"/>
                </a:lnTo>
                <a:lnTo>
                  <a:pt x="9464577" y="798024"/>
                </a:lnTo>
                <a:lnTo>
                  <a:pt x="9521593" y="798024"/>
                </a:lnTo>
                <a:lnTo>
                  <a:pt x="9578608" y="798024"/>
                </a:lnTo>
                <a:lnTo>
                  <a:pt x="9635624" y="798024"/>
                </a:lnTo>
                <a:lnTo>
                  <a:pt x="9692640" y="798024"/>
                </a:lnTo>
              </a:path>
            </a:pathLst>
          </a:custGeom>
          <a:noFill/>
          <a:ln w="3302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188720" y="4435969"/>
            <a:ext cx="9692640" cy="1233310"/>
          </a:xfrm>
          <a:custGeom>
            <a:avLst/>
            <a:gdLst/>
            <a:ahLst/>
            <a:cxnLst/>
            <a:rect l="l" t="t" r="r" b="b"/>
            <a:pathLst>
              <a:path w="9692640" h="1233310">
                <a:moveTo>
                  <a:pt x="0" y="1233308"/>
                </a:moveTo>
                <a:lnTo>
                  <a:pt x="57015" y="1233306"/>
                </a:lnTo>
                <a:lnTo>
                  <a:pt x="114031" y="1233302"/>
                </a:lnTo>
                <a:lnTo>
                  <a:pt x="171046" y="1233296"/>
                </a:lnTo>
                <a:lnTo>
                  <a:pt x="228062" y="1233287"/>
                </a:lnTo>
                <a:lnTo>
                  <a:pt x="285077" y="1233272"/>
                </a:lnTo>
                <a:lnTo>
                  <a:pt x="342093" y="1233248"/>
                </a:lnTo>
                <a:lnTo>
                  <a:pt x="399108" y="1233211"/>
                </a:lnTo>
                <a:lnTo>
                  <a:pt x="456124" y="1233153"/>
                </a:lnTo>
                <a:lnTo>
                  <a:pt x="513139" y="1233065"/>
                </a:lnTo>
                <a:lnTo>
                  <a:pt x="570155" y="1232930"/>
                </a:lnTo>
                <a:lnTo>
                  <a:pt x="627170" y="1232730"/>
                </a:lnTo>
                <a:lnTo>
                  <a:pt x="684186" y="1232432"/>
                </a:lnTo>
                <a:lnTo>
                  <a:pt x="741201" y="1231999"/>
                </a:lnTo>
                <a:lnTo>
                  <a:pt x="798217" y="1231373"/>
                </a:lnTo>
                <a:lnTo>
                  <a:pt x="855232" y="1230481"/>
                </a:lnTo>
                <a:lnTo>
                  <a:pt x="912248" y="1229226"/>
                </a:lnTo>
                <a:lnTo>
                  <a:pt x="969264" y="1227481"/>
                </a:lnTo>
                <a:lnTo>
                  <a:pt x="1026279" y="1225084"/>
                </a:lnTo>
                <a:lnTo>
                  <a:pt x="1083295" y="1221835"/>
                </a:lnTo>
                <a:lnTo>
                  <a:pt x="1140310" y="1217485"/>
                </a:lnTo>
                <a:lnTo>
                  <a:pt x="1197326" y="1211734"/>
                </a:lnTo>
                <a:lnTo>
                  <a:pt x="1254341" y="1204228"/>
                </a:lnTo>
                <a:lnTo>
                  <a:pt x="1311357" y="1194556"/>
                </a:lnTo>
                <a:lnTo>
                  <a:pt x="1368372" y="1182255"/>
                </a:lnTo>
                <a:lnTo>
                  <a:pt x="1425388" y="1166814"/>
                </a:lnTo>
                <a:lnTo>
                  <a:pt x="1482403" y="1147688"/>
                </a:lnTo>
                <a:lnTo>
                  <a:pt x="1539419" y="1124315"/>
                </a:lnTo>
                <a:lnTo>
                  <a:pt x="1596434" y="1096140"/>
                </a:lnTo>
                <a:lnTo>
                  <a:pt x="1653450" y="1062645"/>
                </a:lnTo>
                <a:lnTo>
                  <a:pt x="1710465" y="1023386"/>
                </a:lnTo>
                <a:lnTo>
                  <a:pt x="1767481" y="978034"/>
                </a:lnTo>
                <a:lnTo>
                  <a:pt x="1824496" y="926414"/>
                </a:lnTo>
                <a:lnTo>
                  <a:pt x="1881512" y="868552"/>
                </a:lnTo>
                <a:lnTo>
                  <a:pt x="1938528" y="804712"/>
                </a:lnTo>
                <a:lnTo>
                  <a:pt x="1995543" y="735426"/>
                </a:lnTo>
                <a:lnTo>
                  <a:pt x="2052559" y="661518"/>
                </a:lnTo>
                <a:lnTo>
                  <a:pt x="2109574" y="584107"/>
                </a:lnTo>
                <a:lnTo>
                  <a:pt x="2166590" y="504599"/>
                </a:lnTo>
                <a:lnTo>
                  <a:pt x="2223605" y="424658"/>
                </a:lnTo>
                <a:lnTo>
                  <a:pt x="2280621" y="346153"/>
                </a:lnTo>
                <a:lnTo>
                  <a:pt x="2337636" y="271096"/>
                </a:lnTo>
                <a:lnTo>
                  <a:pt x="2394652" y="201558"/>
                </a:lnTo>
                <a:lnTo>
                  <a:pt x="2451667" y="139578"/>
                </a:lnTo>
                <a:lnTo>
                  <a:pt x="2508683" y="87062"/>
                </a:lnTo>
                <a:lnTo>
                  <a:pt x="2565698" y="45687"/>
                </a:lnTo>
                <a:lnTo>
                  <a:pt x="2622714" y="16813"/>
                </a:lnTo>
                <a:lnTo>
                  <a:pt x="2679729" y="1410"/>
                </a:lnTo>
                <a:lnTo>
                  <a:pt x="2736745" y="0"/>
                </a:lnTo>
                <a:lnTo>
                  <a:pt x="2793760" y="12631"/>
                </a:lnTo>
                <a:lnTo>
                  <a:pt x="2850776" y="38875"/>
                </a:lnTo>
                <a:lnTo>
                  <a:pt x="2907791" y="77847"/>
                </a:lnTo>
                <a:lnTo>
                  <a:pt x="2964807" y="128260"/>
                </a:lnTo>
                <a:lnTo>
                  <a:pt x="3021823" y="188494"/>
                </a:lnTo>
                <a:lnTo>
                  <a:pt x="3078838" y="256680"/>
                </a:lnTo>
                <a:lnTo>
                  <a:pt x="3135854" y="330799"/>
                </a:lnTo>
                <a:lnTo>
                  <a:pt x="3192869" y="408779"/>
                </a:lnTo>
                <a:lnTo>
                  <a:pt x="3249885" y="488589"/>
                </a:lnTo>
                <a:lnTo>
                  <a:pt x="3306900" y="568323"/>
                </a:lnTo>
                <a:lnTo>
                  <a:pt x="3363916" y="646275"/>
                </a:lnTo>
                <a:lnTo>
                  <a:pt x="3420931" y="720982"/>
                </a:lnTo>
                <a:lnTo>
                  <a:pt x="3477947" y="791268"/>
                </a:lnTo>
                <a:lnTo>
                  <a:pt x="3534962" y="856249"/>
                </a:lnTo>
                <a:lnTo>
                  <a:pt x="3591978" y="915336"/>
                </a:lnTo>
                <a:lnTo>
                  <a:pt x="3648993" y="968213"/>
                </a:lnTo>
                <a:lnTo>
                  <a:pt x="3706009" y="1014811"/>
                </a:lnTo>
                <a:lnTo>
                  <a:pt x="3763024" y="1055267"/>
                </a:lnTo>
                <a:lnTo>
                  <a:pt x="3820040" y="1089882"/>
                </a:lnTo>
                <a:lnTo>
                  <a:pt x="3877056" y="1119081"/>
                </a:lnTo>
                <a:lnTo>
                  <a:pt x="3934071" y="1143371"/>
                </a:lnTo>
                <a:lnTo>
                  <a:pt x="3991087" y="1163301"/>
                </a:lnTo>
                <a:lnTo>
                  <a:pt x="4048102" y="1179435"/>
                </a:lnTo>
                <a:lnTo>
                  <a:pt x="4105118" y="1192322"/>
                </a:lnTo>
                <a:lnTo>
                  <a:pt x="4162133" y="1202481"/>
                </a:lnTo>
                <a:lnTo>
                  <a:pt x="4219149" y="1210386"/>
                </a:lnTo>
                <a:lnTo>
                  <a:pt x="4276164" y="1216458"/>
                </a:lnTo>
                <a:lnTo>
                  <a:pt x="4333180" y="1221062"/>
                </a:lnTo>
                <a:lnTo>
                  <a:pt x="4390195" y="1224510"/>
                </a:lnTo>
                <a:lnTo>
                  <a:pt x="4447211" y="1227059"/>
                </a:lnTo>
                <a:lnTo>
                  <a:pt x="4504226" y="1228921"/>
                </a:lnTo>
                <a:lnTo>
                  <a:pt x="4561242" y="1230263"/>
                </a:lnTo>
                <a:lnTo>
                  <a:pt x="4618257" y="1231219"/>
                </a:lnTo>
                <a:lnTo>
                  <a:pt x="4675273" y="1231891"/>
                </a:lnTo>
                <a:lnTo>
                  <a:pt x="4732288" y="1232358"/>
                </a:lnTo>
                <a:lnTo>
                  <a:pt x="4789304" y="1232679"/>
                </a:lnTo>
                <a:lnTo>
                  <a:pt x="4846320" y="1232896"/>
                </a:lnTo>
                <a:lnTo>
                  <a:pt x="4903335" y="1233042"/>
                </a:lnTo>
                <a:lnTo>
                  <a:pt x="4960351" y="1233138"/>
                </a:lnTo>
                <a:lnTo>
                  <a:pt x="5017366" y="1233202"/>
                </a:lnTo>
                <a:lnTo>
                  <a:pt x="5074382" y="1233242"/>
                </a:lnTo>
                <a:lnTo>
                  <a:pt x="5131397" y="1233268"/>
                </a:lnTo>
                <a:lnTo>
                  <a:pt x="5188413" y="1233285"/>
                </a:lnTo>
                <a:lnTo>
                  <a:pt x="5245428" y="1233295"/>
                </a:lnTo>
                <a:lnTo>
                  <a:pt x="5302444" y="1233301"/>
                </a:lnTo>
                <a:lnTo>
                  <a:pt x="5359459" y="1233305"/>
                </a:lnTo>
                <a:lnTo>
                  <a:pt x="5416475" y="1233307"/>
                </a:lnTo>
                <a:lnTo>
                  <a:pt x="5473490" y="1233309"/>
                </a:lnTo>
                <a:lnTo>
                  <a:pt x="5530506" y="1233309"/>
                </a:lnTo>
                <a:lnTo>
                  <a:pt x="5587521" y="1233310"/>
                </a:lnTo>
                <a:lnTo>
                  <a:pt x="5644537" y="1233310"/>
                </a:lnTo>
                <a:lnTo>
                  <a:pt x="5701552" y="1233310"/>
                </a:lnTo>
                <a:lnTo>
                  <a:pt x="5758568" y="1233310"/>
                </a:lnTo>
                <a:lnTo>
                  <a:pt x="5815583" y="1233310"/>
                </a:lnTo>
                <a:lnTo>
                  <a:pt x="5872599" y="1233310"/>
                </a:lnTo>
                <a:lnTo>
                  <a:pt x="5929615" y="1233310"/>
                </a:lnTo>
                <a:lnTo>
                  <a:pt x="5986630" y="1233310"/>
                </a:lnTo>
                <a:lnTo>
                  <a:pt x="6043646" y="1233310"/>
                </a:lnTo>
                <a:lnTo>
                  <a:pt x="6100661" y="1233310"/>
                </a:lnTo>
                <a:lnTo>
                  <a:pt x="6157677" y="1233310"/>
                </a:lnTo>
                <a:lnTo>
                  <a:pt x="6214692" y="1233310"/>
                </a:lnTo>
                <a:lnTo>
                  <a:pt x="6271708" y="1233310"/>
                </a:lnTo>
                <a:lnTo>
                  <a:pt x="6328723" y="1233310"/>
                </a:lnTo>
                <a:lnTo>
                  <a:pt x="6385739" y="1233310"/>
                </a:lnTo>
                <a:lnTo>
                  <a:pt x="6442754" y="1233310"/>
                </a:lnTo>
                <a:lnTo>
                  <a:pt x="6499770" y="1233310"/>
                </a:lnTo>
                <a:lnTo>
                  <a:pt x="6556785" y="1233310"/>
                </a:lnTo>
                <a:lnTo>
                  <a:pt x="6613801" y="1233310"/>
                </a:lnTo>
                <a:lnTo>
                  <a:pt x="6670816" y="1233310"/>
                </a:lnTo>
                <a:lnTo>
                  <a:pt x="6727832" y="1233310"/>
                </a:lnTo>
                <a:lnTo>
                  <a:pt x="6784847" y="1233310"/>
                </a:lnTo>
                <a:lnTo>
                  <a:pt x="6841863" y="1233310"/>
                </a:lnTo>
                <a:lnTo>
                  <a:pt x="6898879" y="1233310"/>
                </a:lnTo>
                <a:lnTo>
                  <a:pt x="6955894" y="1233310"/>
                </a:lnTo>
                <a:lnTo>
                  <a:pt x="7012910" y="1233310"/>
                </a:lnTo>
                <a:lnTo>
                  <a:pt x="7069925" y="1233310"/>
                </a:lnTo>
                <a:lnTo>
                  <a:pt x="7126941" y="1233310"/>
                </a:lnTo>
                <a:lnTo>
                  <a:pt x="7183956" y="1233310"/>
                </a:lnTo>
                <a:lnTo>
                  <a:pt x="7240972" y="1233310"/>
                </a:lnTo>
                <a:lnTo>
                  <a:pt x="7297987" y="1233310"/>
                </a:lnTo>
                <a:lnTo>
                  <a:pt x="7355003" y="1233310"/>
                </a:lnTo>
                <a:lnTo>
                  <a:pt x="7412018" y="1233310"/>
                </a:lnTo>
                <a:lnTo>
                  <a:pt x="7469034" y="1233310"/>
                </a:lnTo>
                <a:lnTo>
                  <a:pt x="7526049" y="1233310"/>
                </a:lnTo>
                <a:lnTo>
                  <a:pt x="7583065" y="1233310"/>
                </a:lnTo>
                <a:lnTo>
                  <a:pt x="7640080" y="1233310"/>
                </a:lnTo>
                <a:lnTo>
                  <a:pt x="7697096" y="1233310"/>
                </a:lnTo>
                <a:lnTo>
                  <a:pt x="7754112" y="1233310"/>
                </a:lnTo>
                <a:lnTo>
                  <a:pt x="7811127" y="1233310"/>
                </a:lnTo>
                <a:lnTo>
                  <a:pt x="7868143" y="1233310"/>
                </a:lnTo>
                <a:lnTo>
                  <a:pt x="7925158" y="1233310"/>
                </a:lnTo>
                <a:lnTo>
                  <a:pt x="7982174" y="1233310"/>
                </a:lnTo>
                <a:lnTo>
                  <a:pt x="8039189" y="1233310"/>
                </a:lnTo>
                <a:lnTo>
                  <a:pt x="8096205" y="1233310"/>
                </a:lnTo>
                <a:lnTo>
                  <a:pt x="8153220" y="1233310"/>
                </a:lnTo>
                <a:lnTo>
                  <a:pt x="8210236" y="1233310"/>
                </a:lnTo>
                <a:lnTo>
                  <a:pt x="8267251" y="1233310"/>
                </a:lnTo>
                <a:lnTo>
                  <a:pt x="8324267" y="1233310"/>
                </a:lnTo>
                <a:lnTo>
                  <a:pt x="8381282" y="1233310"/>
                </a:lnTo>
                <a:lnTo>
                  <a:pt x="8438298" y="1233310"/>
                </a:lnTo>
                <a:lnTo>
                  <a:pt x="8495313" y="1233310"/>
                </a:lnTo>
                <a:lnTo>
                  <a:pt x="8552329" y="1233310"/>
                </a:lnTo>
                <a:lnTo>
                  <a:pt x="8609344" y="1233310"/>
                </a:lnTo>
                <a:lnTo>
                  <a:pt x="8666360" y="1233310"/>
                </a:lnTo>
                <a:lnTo>
                  <a:pt x="8723376" y="1233310"/>
                </a:lnTo>
                <a:lnTo>
                  <a:pt x="8780391" y="1233310"/>
                </a:lnTo>
                <a:lnTo>
                  <a:pt x="8837407" y="1233310"/>
                </a:lnTo>
                <a:lnTo>
                  <a:pt x="8894422" y="1233310"/>
                </a:lnTo>
                <a:lnTo>
                  <a:pt x="8951438" y="1233310"/>
                </a:lnTo>
                <a:lnTo>
                  <a:pt x="9008453" y="1233310"/>
                </a:lnTo>
                <a:lnTo>
                  <a:pt x="9065469" y="1233310"/>
                </a:lnTo>
                <a:lnTo>
                  <a:pt x="9122484" y="1233310"/>
                </a:lnTo>
                <a:lnTo>
                  <a:pt x="9179500" y="1233310"/>
                </a:lnTo>
                <a:lnTo>
                  <a:pt x="9236515" y="1233310"/>
                </a:lnTo>
                <a:lnTo>
                  <a:pt x="9293531" y="1233310"/>
                </a:lnTo>
                <a:lnTo>
                  <a:pt x="9350546" y="1233310"/>
                </a:lnTo>
                <a:lnTo>
                  <a:pt x="9407562" y="1233310"/>
                </a:lnTo>
                <a:lnTo>
                  <a:pt x="9464577" y="1233310"/>
                </a:lnTo>
                <a:lnTo>
                  <a:pt x="9521593" y="1233310"/>
                </a:lnTo>
                <a:lnTo>
                  <a:pt x="9578608" y="1233310"/>
                </a:lnTo>
                <a:lnTo>
                  <a:pt x="9635624" y="1233310"/>
                </a:lnTo>
                <a:lnTo>
                  <a:pt x="9692640" y="1233310"/>
                </a:lnTo>
              </a:path>
            </a:pathLst>
          </a:custGeom>
          <a:noFill/>
          <a:ln w="2794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188720" y="4871255"/>
            <a:ext cx="9692640" cy="798024"/>
          </a:xfrm>
          <a:custGeom>
            <a:avLst/>
            <a:gdLst/>
            <a:ahLst/>
            <a:cxnLst/>
            <a:rect l="l" t="t" r="r" b="b"/>
            <a:pathLst>
              <a:path w="9692640" h="798024">
                <a:moveTo>
                  <a:pt x="0" y="798024"/>
                </a:moveTo>
                <a:lnTo>
                  <a:pt x="57015" y="798024"/>
                </a:lnTo>
                <a:lnTo>
                  <a:pt x="114031" y="798024"/>
                </a:lnTo>
                <a:lnTo>
                  <a:pt x="171046" y="798024"/>
                </a:lnTo>
                <a:lnTo>
                  <a:pt x="228062" y="798024"/>
                </a:lnTo>
                <a:lnTo>
                  <a:pt x="285077" y="798024"/>
                </a:lnTo>
                <a:lnTo>
                  <a:pt x="342093" y="798024"/>
                </a:lnTo>
                <a:lnTo>
                  <a:pt x="399108" y="798024"/>
                </a:lnTo>
                <a:lnTo>
                  <a:pt x="456124" y="798024"/>
                </a:lnTo>
                <a:lnTo>
                  <a:pt x="513139" y="798024"/>
                </a:lnTo>
                <a:lnTo>
                  <a:pt x="570155" y="798024"/>
                </a:lnTo>
                <a:lnTo>
                  <a:pt x="627170" y="798024"/>
                </a:lnTo>
                <a:lnTo>
                  <a:pt x="684186" y="798024"/>
                </a:lnTo>
                <a:lnTo>
                  <a:pt x="741201" y="798024"/>
                </a:lnTo>
                <a:lnTo>
                  <a:pt x="798217" y="798024"/>
                </a:lnTo>
                <a:lnTo>
                  <a:pt x="855232" y="798024"/>
                </a:lnTo>
                <a:lnTo>
                  <a:pt x="912248" y="798024"/>
                </a:lnTo>
                <a:lnTo>
                  <a:pt x="969264" y="798024"/>
                </a:lnTo>
                <a:lnTo>
                  <a:pt x="1026279" y="798024"/>
                </a:lnTo>
                <a:lnTo>
                  <a:pt x="1083295" y="798024"/>
                </a:lnTo>
                <a:lnTo>
                  <a:pt x="1140310" y="798024"/>
                </a:lnTo>
                <a:lnTo>
                  <a:pt x="1197326" y="798024"/>
                </a:lnTo>
                <a:lnTo>
                  <a:pt x="1254341" y="798024"/>
                </a:lnTo>
                <a:lnTo>
                  <a:pt x="1311357" y="798024"/>
                </a:lnTo>
                <a:lnTo>
                  <a:pt x="1368372" y="798024"/>
                </a:lnTo>
                <a:lnTo>
                  <a:pt x="1425388" y="798024"/>
                </a:lnTo>
                <a:lnTo>
                  <a:pt x="1482403" y="798024"/>
                </a:lnTo>
                <a:lnTo>
                  <a:pt x="1539419" y="798024"/>
                </a:lnTo>
                <a:lnTo>
                  <a:pt x="1596434" y="798024"/>
                </a:lnTo>
                <a:lnTo>
                  <a:pt x="1653450" y="798024"/>
                </a:lnTo>
                <a:lnTo>
                  <a:pt x="1710465" y="798024"/>
                </a:lnTo>
                <a:lnTo>
                  <a:pt x="1767481" y="798024"/>
                </a:lnTo>
                <a:lnTo>
                  <a:pt x="1824496" y="798024"/>
                </a:lnTo>
                <a:lnTo>
                  <a:pt x="1881512" y="798024"/>
                </a:lnTo>
                <a:lnTo>
                  <a:pt x="1938528" y="798024"/>
                </a:lnTo>
                <a:lnTo>
                  <a:pt x="1995543" y="798024"/>
                </a:lnTo>
                <a:lnTo>
                  <a:pt x="2052559" y="798024"/>
                </a:lnTo>
                <a:lnTo>
                  <a:pt x="2109574" y="798024"/>
                </a:lnTo>
                <a:lnTo>
                  <a:pt x="2166590" y="798024"/>
                </a:lnTo>
                <a:lnTo>
                  <a:pt x="2223605" y="798024"/>
                </a:lnTo>
                <a:lnTo>
                  <a:pt x="2280621" y="798024"/>
                </a:lnTo>
                <a:lnTo>
                  <a:pt x="2337636" y="798024"/>
                </a:lnTo>
                <a:lnTo>
                  <a:pt x="2394652" y="798024"/>
                </a:lnTo>
                <a:lnTo>
                  <a:pt x="2451667" y="798024"/>
                </a:lnTo>
                <a:lnTo>
                  <a:pt x="2508683" y="798024"/>
                </a:lnTo>
                <a:lnTo>
                  <a:pt x="2565698" y="798024"/>
                </a:lnTo>
                <a:lnTo>
                  <a:pt x="2622714" y="798024"/>
                </a:lnTo>
                <a:lnTo>
                  <a:pt x="2679729" y="798024"/>
                </a:lnTo>
                <a:lnTo>
                  <a:pt x="2736745" y="798024"/>
                </a:lnTo>
                <a:lnTo>
                  <a:pt x="2793760" y="798024"/>
                </a:lnTo>
                <a:lnTo>
                  <a:pt x="2850776" y="798024"/>
                </a:lnTo>
                <a:lnTo>
                  <a:pt x="2907791" y="798024"/>
                </a:lnTo>
                <a:lnTo>
                  <a:pt x="2964807" y="798024"/>
                </a:lnTo>
                <a:lnTo>
                  <a:pt x="3021823" y="798024"/>
                </a:lnTo>
                <a:lnTo>
                  <a:pt x="3078838" y="798024"/>
                </a:lnTo>
                <a:lnTo>
                  <a:pt x="3135854" y="798024"/>
                </a:lnTo>
                <a:lnTo>
                  <a:pt x="3192869" y="798024"/>
                </a:lnTo>
                <a:lnTo>
                  <a:pt x="3249885" y="798023"/>
                </a:lnTo>
                <a:lnTo>
                  <a:pt x="3306900" y="798022"/>
                </a:lnTo>
                <a:lnTo>
                  <a:pt x="3363916" y="798021"/>
                </a:lnTo>
                <a:lnTo>
                  <a:pt x="3420931" y="798018"/>
                </a:lnTo>
                <a:lnTo>
                  <a:pt x="3477947" y="798014"/>
                </a:lnTo>
                <a:lnTo>
                  <a:pt x="3534962" y="798008"/>
                </a:lnTo>
                <a:lnTo>
                  <a:pt x="3591978" y="797997"/>
                </a:lnTo>
                <a:lnTo>
                  <a:pt x="3648993" y="797980"/>
                </a:lnTo>
                <a:lnTo>
                  <a:pt x="3706009" y="797954"/>
                </a:lnTo>
                <a:lnTo>
                  <a:pt x="3763024" y="797913"/>
                </a:lnTo>
                <a:lnTo>
                  <a:pt x="3820040" y="797851"/>
                </a:lnTo>
                <a:lnTo>
                  <a:pt x="3877056" y="797757"/>
                </a:lnTo>
                <a:lnTo>
                  <a:pt x="3934071" y="797616"/>
                </a:lnTo>
                <a:lnTo>
                  <a:pt x="3991087" y="797408"/>
                </a:lnTo>
                <a:lnTo>
                  <a:pt x="4048102" y="797106"/>
                </a:lnTo>
                <a:lnTo>
                  <a:pt x="4105118" y="796671"/>
                </a:lnTo>
                <a:lnTo>
                  <a:pt x="4162133" y="796052"/>
                </a:lnTo>
                <a:lnTo>
                  <a:pt x="4219149" y="795184"/>
                </a:lnTo>
                <a:lnTo>
                  <a:pt x="4276164" y="793980"/>
                </a:lnTo>
                <a:lnTo>
                  <a:pt x="4333180" y="792330"/>
                </a:lnTo>
                <a:lnTo>
                  <a:pt x="4390195" y="790099"/>
                </a:lnTo>
                <a:lnTo>
                  <a:pt x="4447211" y="787120"/>
                </a:lnTo>
                <a:lnTo>
                  <a:pt x="4504226" y="783191"/>
                </a:lnTo>
                <a:lnTo>
                  <a:pt x="4561242" y="778076"/>
                </a:lnTo>
                <a:lnTo>
                  <a:pt x="4618257" y="771502"/>
                </a:lnTo>
                <a:lnTo>
                  <a:pt x="4675273" y="763164"/>
                </a:lnTo>
                <a:lnTo>
                  <a:pt x="4732288" y="752724"/>
                </a:lnTo>
                <a:lnTo>
                  <a:pt x="4789304" y="739828"/>
                </a:lnTo>
                <a:lnTo>
                  <a:pt x="4846320" y="724111"/>
                </a:lnTo>
                <a:lnTo>
                  <a:pt x="4903335" y="705218"/>
                </a:lnTo>
                <a:lnTo>
                  <a:pt x="4960351" y="682820"/>
                </a:lnTo>
                <a:lnTo>
                  <a:pt x="5017366" y="656643"/>
                </a:lnTo>
                <a:lnTo>
                  <a:pt x="5074382" y="626491"/>
                </a:lnTo>
                <a:lnTo>
                  <a:pt x="5131397" y="592276"/>
                </a:lnTo>
                <a:lnTo>
                  <a:pt x="5188413" y="554044"/>
                </a:lnTo>
                <a:lnTo>
                  <a:pt x="5245428" y="511997"/>
                </a:lnTo>
                <a:lnTo>
                  <a:pt x="5302444" y="466518"/>
                </a:lnTo>
                <a:lnTo>
                  <a:pt x="5359459" y="418178"/>
                </a:lnTo>
                <a:lnTo>
                  <a:pt x="5416475" y="367739"/>
                </a:lnTo>
                <a:lnTo>
                  <a:pt x="5473490" y="316146"/>
                </a:lnTo>
                <a:lnTo>
                  <a:pt x="5530506" y="264504"/>
                </a:lnTo>
                <a:lnTo>
                  <a:pt x="5587521" y="214047"/>
                </a:lnTo>
                <a:lnTo>
                  <a:pt x="5644537" y="166087"/>
                </a:lnTo>
                <a:lnTo>
                  <a:pt x="5701552" y="121967"/>
                </a:lnTo>
                <a:lnTo>
                  <a:pt x="5758568" y="82992"/>
                </a:lnTo>
                <a:lnTo>
                  <a:pt x="5815583" y="50372"/>
                </a:lnTo>
                <a:lnTo>
                  <a:pt x="5872599" y="25154"/>
                </a:lnTo>
                <a:lnTo>
                  <a:pt x="5929615" y="8173"/>
                </a:lnTo>
                <a:lnTo>
                  <a:pt x="5986630" y="0"/>
                </a:lnTo>
                <a:lnTo>
                  <a:pt x="6043646" y="912"/>
                </a:lnTo>
                <a:lnTo>
                  <a:pt x="6100661" y="10879"/>
                </a:lnTo>
                <a:lnTo>
                  <a:pt x="6157677" y="29562"/>
                </a:lnTo>
                <a:lnTo>
                  <a:pt x="6214692" y="56334"/>
                </a:lnTo>
                <a:lnTo>
                  <a:pt x="6271708" y="90315"/>
                </a:lnTo>
                <a:lnTo>
                  <a:pt x="6328723" y="130420"/>
                </a:lnTo>
                <a:lnTo>
                  <a:pt x="6385739" y="175415"/>
                </a:lnTo>
                <a:lnTo>
                  <a:pt x="6442754" y="223981"/>
                </a:lnTo>
                <a:lnTo>
                  <a:pt x="6499770" y="274779"/>
                </a:lnTo>
                <a:lnTo>
                  <a:pt x="6556785" y="326506"/>
                </a:lnTo>
                <a:lnTo>
                  <a:pt x="6613801" y="377952"/>
                </a:lnTo>
                <a:lnTo>
                  <a:pt x="6670816" y="428041"/>
                </a:lnTo>
                <a:lnTo>
                  <a:pt x="6727832" y="475864"/>
                </a:lnTo>
                <a:lnTo>
                  <a:pt x="6784847" y="520696"/>
                </a:lnTo>
                <a:lnTo>
                  <a:pt x="6841863" y="562004"/>
                </a:lnTo>
                <a:lnTo>
                  <a:pt x="6898879" y="599444"/>
                </a:lnTo>
                <a:lnTo>
                  <a:pt x="6955894" y="632845"/>
                </a:lnTo>
                <a:lnTo>
                  <a:pt x="7012910" y="662191"/>
                </a:lnTo>
                <a:lnTo>
                  <a:pt x="7069925" y="687594"/>
                </a:lnTo>
                <a:lnTo>
                  <a:pt x="7126941" y="709267"/>
                </a:lnTo>
                <a:lnTo>
                  <a:pt x="7183956" y="727498"/>
                </a:lnTo>
                <a:lnTo>
                  <a:pt x="7240972" y="742621"/>
                </a:lnTo>
                <a:lnTo>
                  <a:pt x="7297987" y="754997"/>
                </a:lnTo>
                <a:lnTo>
                  <a:pt x="7355003" y="764988"/>
                </a:lnTo>
                <a:lnTo>
                  <a:pt x="7412018" y="772948"/>
                </a:lnTo>
                <a:lnTo>
                  <a:pt x="7469034" y="779206"/>
                </a:lnTo>
                <a:lnTo>
                  <a:pt x="7526049" y="784063"/>
                </a:lnTo>
                <a:lnTo>
                  <a:pt x="7583065" y="787785"/>
                </a:lnTo>
                <a:lnTo>
                  <a:pt x="7640080" y="790599"/>
                </a:lnTo>
                <a:lnTo>
                  <a:pt x="7697096" y="792702"/>
                </a:lnTo>
                <a:lnTo>
                  <a:pt x="7754112" y="794252"/>
                </a:lnTo>
                <a:lnTo>
                  <a:pt x="7811127" y="795381"/>
                </a:lnTo>
                <a:lnTo>
                  <a:pt x="7868143" y="796194"/>
                </a:lnTo>
                <a:lnTo>
                  <a:pt x="7925158" y="796771"/>
                </a:lnTo>
                <a:lnTo>
                  <a:pt x="7982174" y="797176"/>
                </a:lnTo>
                <a:lnTo>
                  <a:pt x="8039189" y="797456"/>
                </a:lnTo>
                <a:lnTo>
                  <a:pt x="8096205" y="797649"/>
                </a:lnTo>
                <a:lnTo>
                  <a:pt x="8153220" y="797779"/>
                </a:lnTo>
                <a:lnTo>
                  <a:pt x="8210236" y="797865"/>
                </a:lnTo>
                <a:lnTo>
                  <a:pt x="8267251" y="797923"/>
                </a:lnTo>
                <a:lnTo>
                  <a:pt x="8324267" y="797960"/>
                </a:lnTo>
                <a:lnTo>
                  <a:pt x="8381282" y="797984"/>
                </a:lnTo>
                <a:lnTo>
                  <a:pt x="8438298" y="798000"/>
                </a:lnTo>
                <a:lnTo>
                  <a:pt x="8495313" y="798009"/>
                </a:lnTo>
                <a:lnTo>
                  <a:pt x="8552329" y="798015"/>
                </a:lnTo>
                <a:lnTo>
                  <a:pt x="8609344" y="798019"/>
                </a:lnTo>
                <a:lnTo>
                  <a:pt x="8666360" y="798021"/>
                </a:lnTo>
                <a:lnTo>
                  <a:pt x="8723376" y="798023"/>
                </a:lnTo>
                <a:lnTo>
                  <a:pt x="8780391" y="798023"/>
                </a:lnTo>
                <a:lnTo>
                  <a:pt x="8837407" y="798024"/>
                </a:lnTo>
                <a:lnTo>
                  <a:pt x="8894422" y="798024"/>
                </a:lnTo>
                <a:lnTo>
                  <a:pt x="8951438" y="798024"/>
                </a:lnTo>
                <a:lnTo>
                  <a:pt x="9008453" y="798024"/>
                </a:lnTo>
                <a:lnTo>
                  <a:pt x="9065469" y="798024"/>
                </a:lnTo>
                <a:lnTo>
                  <a:pt x="9122484" y="798024"/>
                </a:lnTo>
                <a:lnTo>
                  <a:pt x="9179500" y="798024"/>
                </a:lnTo>
                <a:lnTo>
                  <a:pt x="9236515" y="798024"/>
                </a:lnTo>
                <a:lnTo>
                  <a:pt x="9293531" y="798024"/>
                </a:lnTo>
                <a:lnTo>
                  <a:pt x="9350546" y="798024"/>
                </a:lnTo>
                <a:lnTo>
                  <a:pt x="9407562" y="798024"/>
                </a:lnTo>
                <a:lnTo>
                  <a:pt x="9464577" y="798024"/>
                </a:lnTo>
                <a:lnTo>
                  <a:pt x="9521593" y="798024"/>
                </a:lnTo>
                <a:lnTo>
                  <a:pt x="9578608" y="798024"/>
                </a:lnTo>
                <a:lnTo>
                  <a:pt x="9635624" y="798024"/>
                </a:lnTo>
                <a:lnTo>
                  <a:pt x="9692640" y="798024"/>
                </a:lnTo>
              </a:path>
            </a:pathLst>
          </a:custGeom>
          <a:noFill/>
          <a:ln w="2794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188720" y="4870666"/>
            <a:ext cx="9692640" cy="798613"/>
          </a:xfrm>
          <a:custGeom>
            <a:avLst/>
            <a:gdLst/>
            <a:ahLst/>
            <a:cxnLst/>
            <a:rect l="l" t="t" r="r" b="b"/>
            <a:pathLst>
              <a:path w="9692640" h="798613">
                <a:moveTo>
                  <a:pt x="0" y="733622"/>
                </a:moveTo>
                <a:lnTo>
                  <a:pt x="57015" y="726477"/>
                </a:lnTo>
                <a:lnTo>
                  <a:pt x="114031" y="718724"/>
                </a:lnTo>
                <a:lnTo>
                  <a:pt x="171046" y="710333"/>
                </a:lnTo>
                <a:lnTo>
                  <a:pt x="228062" y="701276"/>
                </a:lnTo>
                <a:lnTo>
                  <a:pt x="285077" y="691528"/>
                </a:lnTo>
                <a:lnTo>
                  <a:pt x="342093" y="681064"/>
                </a:lnTo>
                <a:lnTo>
                  <a:pt x="399108" y="669862"/>
                </a:lnTo>
                <a:lnTo>
                  <a:pt x="456124" y="657906"/>
                </a:lnTo>
                <a:lnTo>
                  <a:pt x="513139" y="645179"/>
                </a:lnTo>
                <a:lnTo>
                  <a:pt x="570155" y="631672"/>
                </a:lnTo>
                <a:lnTo>
                  <a:pt x="627170" y="617377"/>
                </a:lnTo>
                <a:lnTo>
                  <a:pt x="684186" y="602293"/>
                </a:lnTo>
                <a:lnTo>
                  <a:pt x="741201" y="586424"/>
                </a:lnTo>
                <a:lnTo>
                  <a:pt x="798217" y="569780"/>
                </a:lnTo>
                <a:lnTo>
                  <a:pt x="855232" y="552376"/>
                </a:lnTo>
                <a:lnTo>
                  <a:pt x="912248" y="534235"/>
                </a:lnTo>
                <a:lnTo>
                  <a:pt x="969264" y="515385"/>
                </a:lnTo>
                <a:lnTo>
                  <a:pt x="1026279" y="495862"/>
                </a:lnTo>
                <a:lnTo>
                  <a:pt x="1083295" y="475710"/>
                </a:lnTo>
                <a:lnTo>
                  <a:pt x="1140310" y="454977"/>
                </a:lnTo>
                <a:lnTo>
                  <a:pt x="1197326" y="433723"/>
                </a:lnTo>
                <a:lnTo>
                  <a:pt x="1254341" y="412011"/>
                </a:lnTo>
                <a:lnTo>
                  <a:pt x="1311357" y="389914"/>
                </a:lnTo>
                <a:lnTo>
                  <a:pt x="1368372" y="367509"/>
                </a:lnTo>
                <a:lnTo>
                  <a:pt x="1425388" y="344881"/>
                </a:lnTo>
                <a:lnTo>
                  <a:pt x="1482403" y="322123"/>
                </a:lnTo>
                <a:lnTo>
                  <a:pt x="1539419" y="299330"/>
                </a:lnTo>
                <a:lnTo>
                  <a:pt x="1596434" y="276603"/>
                </a:lnTo>
                <a:lnTo>
                  <a:pt x="1653450" y="254050"/>
                </a:lnTo>
                <a:lnTo>
                  <a:pt x="1710465" y="231779"/>
                </a:lnTo>
                <a:lnTo>
                  <a:pt x="1767481" y="209902"/>
                </a:lnTo>
                <a:lnTo>
                  <a:pt x="1824496" y="188533"/>
                </a:lnTo>
                <a:lnTo>
                  <a:pt x="1881512" y="167788"/>
                </a:lnTo>
                <a:lnTo>
                  <a:pt x="1938528" y="147779"/>
                </a:lnTo>
                <a:lnTo>
                  <a:pt x="1995543" y="128622"/>
                </a:lnTo>
                <a:lnTo>
                  <a:pt x="2052559" y="110426"/>
                </a:lnTo>
                <a:lnTo>
                  <a:pt x="2109574" y="93300"/>
                </a:lnTo>
                <a:lnTo>
                  <a:pt x="2166590" y="77347"/>
                </a:lnTo>
                <a:lnTo>
                  <a:pt x="2223605" y="62664"/>
                </a:lnTo>
                <a:lnTo>
                  <a:pt x="2280621" y="49344"/>
                </a:lnTo>
                <a:lnTo>
                  <a:pt x="2337636" y="37470"/>
                </a:lnTo>
                <a:lnTo>
                  <a:pt x="2394652" y="27118"/>
                </a:lnTo>
                <a:lnTo>
                  <a:pt x="2451667" y="18355"/>
                </a:lnTo>
                <a:lnTo>
                  <a:pt x="2508683" y="11239"/>
                </a:lnTo>
                <a:lnTo>
                  <a:pt x="2565698" y="5815"/>
                </a:lnTo>
                <a:lnTo>
                  <a:pt x="2622714" y="2119"/>
                </a:lnTo>
                <a:lnTo>
                  <a:pt x="2679729" y="177"/>
                </a:lnTo>
                <a:lnTo>
                  <a:pt x="2736745" y="0"/>
                </a:lnTo>
                <a:lnTo>
                  <a:pt x="2793760" y="1590"/>
                </a:lnTo>
                <a:lnTo>
                  <a:pt x="2850776" y="4936"/>
                </a:lnTo>
                <a:lnTo>
                  <a:pt x="2907791" y="10017"/>
                </a:lnTo>
                <a:lnTo>
                  <a:pt x="2964807" y="16799"/>
                </a:lnTo>
                <a:lnTo>
                  <a:pt x="3021823" y="25236"/>
                </a:lnTo>
                <a:lnTo>
                  <a:pt x="3078838" y="35275"/>
                </a:lnTo>
                <a:lnTo>
                  <a:pt x="3135854" y="46851"/>
                </a:lnTo>
                <a:lnTo>
                  <a:pt x="3192869" y="59888"/>
                </a:lnTo>
                <a:lnTo>
                  <a:pt x="3249885" y="74306"/>
                </a:lnTo>
                <a:lnTo>
                  <a:pt x="3306900" y="90012"/>
                </a:lnTo>
                <a:lnTo>
                  <a:pt x="3363916" y="106912"/>
                </a:lnTo>
                <a:lnTo>
                  <a:pt x="3420931" y="124902"/>
                </a:lnTo>
                <a:lnTo>
                  <a:pt x="3477947" y="143876"/>
                </a:lnTo>
                <a:lnTo>
                  <a:pt x="3534962" y="163723"/>
                </a:lnTo>
                <a:lnTo>
                  <a:pt x="3591978" y="184331"/>
                </a:lnTo>
                <a:lnTo>
                  <a:pt x="3648993" y="205584"/>
                </a:lnTo>
                <a:lnTo>
                  <a:pt x="3706009" y="227368"/>
                </a:lnTo>
                <a:lnTo>
                  <a:pt x="3763024" y="249570"/>
                </a:lnTo>
                <a:lnTo>
                  <a:pt x="3820040" y="272075"/>
                </a:lnTo>
                <a:lnTo>
                  <a:pt x="3877056" y="294776"/>
                </a:lnTo>
                <a:lnTo>
                  <a:pt x="3934071" y="317564"/>
                </a:lnTo>
                <a:lnTo>
                  <a:pt x="3991087" y="340337"/>
                </a:lnTo>
                <a:lnTo>
                  <a:pt x="4048102" y="362998"/>
                </a:lnTo>
                <a:lnTo>
                  <a:pt x="4105118" y="385455"/>
                </a:lnTo>
                <a:lnTo>
                  <a:pt x="4162133" y="407620"/>
                </a:lnTo>
                <a:lnTo>
                  <a:pt x="4219149" y="429415"/>
                </a:lnTo>
                <a:lnTo>
                  <a:pt x="4276164" y="450766"/>
                </a:lnTo>
                <a:lnTo>
                  <a:pt x="4333180" y="471608"/>
                </a:lnTo>
                <a:lnTo>
                  <a:pt x="4390195" y="491880"/>
                </a:lnTo>
                <a:lnTo>
                  <a:pt x="4447211" y="511533"/>
                </a:lnTo>
                <a:lnTo>
                  <a:pt x="4504226" y="530520"/>
                </a:lnTo>
                <a:lnTo>
                  <a:pt x="4561242" y="548806"/>
                </a:lnTo>
                <a:lnTo>
                  <a:pt x="4618257" y="566359"/>
                </a:lnTo>
                <a:lnTo>
                  <a:pt x="4675273" y="583157"/>
                </a:lnTo>
                <a:lnTo>
                  <a:pt x="4732288" y="599182"/>
                </a:lnTo>
                <a:lnTo>
                  <a:pt x="4789304" y="614423"/>
                </a:lnTo>
                <a:lnTo>
                  <a:pt x="4846320" y="628876"/>
                </a:lnTo>
                <a:lnTo>
                  <a:pt x="4903335" y="642541"/>
                </a:lnTo>
                <a:lnTo>
                  <a:pt x="4960351" y="655423"/>
                </a:lnTo>
                <a:lnTo>
                  <a:pt x="5017366" y="667532"/>
                </a:lnTo>
                <a:lnTo>
                  <a:pt x="5074382" y="678883"/>
                </a:lnTo>
                <a:lnTo>
                  <a:pt x="5131397" y="689493"/>
                </a:lnTo>
                <a:lnTo>
                  <a:pt x="5188413" y="699382"/>
                </a:lnTo>
                <a:lnTo>
                  <a:pt x="5245428" y="708575"/>
                </a:lnTo>
                <a:lnTo>
                  <a:pt x="5302444" y="717097"/>
                </a:lnTo>
                <a:lnTo>
                  <a:pt x="5359459" y="724976"/>
                </a:lnTo>
                <a:lnTo>
                  <a:pt x="5416475" y="732240"/>
                </a:lnTo>
                <a:lnTo>
                  <a:pt x="5473490" y="738920"/>
                </a:lnTo>
                <a:lnTo>
                  <a:pt x="5530506" y="745047"/>
                </a:lnTo>
                <a:lnTo>
                  <a:pt x="5587521" y="750651"/>
                </a:lnTo>
                <a:lnTo>
                  <a:pt x="5644537" y="755764"/>
                </a:lnTo>
                <a:lnTo>
                  <a:pt x="5701552" y="760416"/>
                </a:lnTo>
                <a:lnTo>
                  <a:pt x="5758568" y="764639"/>
                </a:lnTo>
                <a:lnTo>
                  <a:pt x="5815583" y="768461"/>
                </a:lnTo>
                <a:lnTo>
                  <a:pt x="5872599" y="771913"/>
                </a:lnTo>
                <a:lnTo>
                  <a:pt x="5929615" y="775022"/>
                </a:lnTo>
                <a:lnTo>
                  <a:pt x="5986630" y="777815"/>
                </a:lnTo>
                <a:lnTo>
                  <a:pt x="6043646" y="780318"/>
                </a:lnTo>
                <a:lnTo>
                  <a:pt x="6100661" y="782555"/>
                </a:lnTo>
                <a:lnTo>
                  <a:pt x="6157677" y="784550"/>
                </a:lnTo>
                <a:lnTo>
                  <a:pt x="6214692" y="786325"/>
                </a:lnTo>
                <a:lnTo>
                  <a:pt x="6271708" y="787899"/>
                </a:lnTo>
                <a:lnTo>
                  <a:pt x="6328723" y="789292"/>
                </a:lnTo>
                <a:lnTo>
                  <a:pt x="6385739" y="790522"/>
                </a:lnTo>
                <a:lnTo>
                  <a:pt x="6442754" y="791605"/>
                </a:lnTo>
                <a:lnTo>
                  <a:pt x="6499770" y="792557"/>
                </a:lnTo>
                <a:lnTo>
                  <a:pt x="6556785" y="793391"/>
                </a:lnTo>
                <a:lnTo>
                  <a:pt x="6613801" y="794120"/>
                </a:lnTo>
                <a:lnTo>
                  <a:pt x="6670816" y="794756"/>
                </a:lnTo>
                <a:lnTo>
                  <a:pt x="6727832" y="795309"/>
                </a:lnTo>
                <a:lnTo>
                  <a:pt x="6784847" y="795789"/>
                </a:lnTo>
                <a:lnTo>
                  <a:pt x="6841863" y="796205"/>
                </a:lnTo>
                <a:lnTo>
                  <a:pt x="6898879" y="796564"/>
                </a:lnTo>
                <a:lnTo>
                  <a:pt x="6955894" y="796873"/>
                </a:lnTo>
                <a:lnTo>
                  <a:pt x="7012910" y="797139"/>
                </a:lnTo>
                <a:lnTo>
                  <a:pt x="7069925" y="797367"/>
                </a:lnTo>
                <a:lnTo>
                  <a:pt x="7126941" y="797563"/>
                </a:lnTo>
                <a:lnTo>
                  <a:pt x="7183956" y="797729"/>
                </a:lnTo>
                <a:lnTo>
                  <a:pt x="7240972" y="797871"/>
                </a:lnTo>
                <a:lnTo>
                  <a:pt x="7297987" y="797991"/>
                </a:lnTo>
                <a:lnTo>
                  <a:pt x="7355003" y="798093"/>
                </a:lnTo>
                <a:lnTo>
                  <a:pt x="7412018" y="798180"/>
                </a:lnTo>
                <a:lnTo>
                  <a:pt x="7469034" y="798252"/>
                </a:lnTo>
                <a:lnTo>
                  <a:pt x="7526049" y="798314"/>
                </a:lnTo>
                <a:lnTo>
                  <a:pt x="7583065" y="798365"/>
                </a:lnTo>
                <a:lnTo>
                  <a:pt x="7640080" y="798408"/>
                </a:lnTo>
                <a:lnTo>
                  <a:pt x="7697096" y="798444"/>
                </a:lnTo>
                <a:lnTo>
                  <a:pt x="7754112" y="798474"/>
                </a:lnTo>
                <a:lnTo>
                  <a:pt x="7811127" y="798499"/>
                </a:lnTo>
                <a:lnTo>
                  <a:pt x="7868143" y="798520"/>
                </a:lnTo>
                <a:lnTo>
                  <a:pt x="7925158" y="798537"/>
                </a:lnTo>
                <a:lnTo>
                  <a:pt x="7982174" y="798551"/>
                </a:lnTo>
                <a:lnTo>
                  <a:pt x="8039189" y="798563"/>
                </a:lnTo>
                <a:lnTo>
                  <a:pt x="8096205" y="798572"/>
                </a:lnTo>
                <a:lnTo>
                  <a:pt x="8153220" y="798580"/>
                </a:lnTo>
                <a:lnTo>
                  <a:pt x="8210236" y="798586"/>
                </a:lnTo>
                <a:lnTo>
                  <a:pt x="8267251" y="798592"/>
                </a:lnTo>
                <a:lnTo>
                  <a:pt x="8324267" y="798596"/>
                </a:lnTo>
                <a:lnTo>
                  <a:pt x="8381282" y="798599"/>
                </a:lnTo>
                <a:lnTo>
                  <a:pt x="8438298" y="798602"/>
                </a:lnTo>
                <a:lnTo>
                  <a:pt x="8495313" y="798604"/>
                </a:lnTo>
                <a:lnTo>
                  <a:pt x="8552329" y="798606"/>
                </a:lnTo>
                <a:lnTo>
                  <a:pt x="8609344" y="798608"/>
                </a:lnTo>
                <a:lnTo>
                  <a:pt x="8666360" y="798609"/>
                </a:lnTo>
                <a:lnTo>
                  <a:pt x="8723376" y="798610"/>
                </a:lnTo>
                <a:lnTo>
                  <a:pt x="8780391" y="798611"/>
                </a:lnTo>
                <a:lnTo>
                  <a:pt x="8837407" y="798611"/>
                </a:lnTo>
                <a:lnTo>
                  <a:pt x="8894422" y="798612"/>
                </a:lnTo>
                <a:lnTo>
                  <a:pt x="8951438" y="798612"/>
                </a:lnTo>
                <a:lnTo>
                  <a:pt x="9008453" y="798612"/>
                </a:lnTo>
                <a:lnTo>
                  <a:pt x="9065469" y="798613"/>
                </a:lnTo>
                <a:lnTo>
                  <a:pt x="9122484" y="798613"/>
                </a:lnTo>
                <a:lnTo>
                  <a:pt x="9179500" y="798613"/>
                </a:lnTo>
                <a:lnTo>
                  <a:pt x="9236515" y="798613"/>
                </a:lnTo>
                <a:lnTo>
                  <a:pt x="9293531" y="798613"/>
                </a:lnTo>
                <a:lnTo>
                  <a:pt x="9350546" y="798613"/>
                </a:lnTo>
                <a:lnTo>
                  <a:pt x="9407562" y="798613"/>
                </a:lnTo>
                <a:lnTo>
                  <a:pt x="9464577" y="798613"/>
                </a:lnTo>
                <a:lnTo>
                  <a:pt x="9521593" y="798613"/>
                </a:lnTo>
                <a:lnTo>
                  <a:pt x="9578608" y="798613"/>
                </a:lnTo>
                <a:lnTo>
                  <a:pt x="9635624" y="798613"/>
                </a:lnTo>
                <a:lnTo>
                  <a:pt x="9692640" y="798613"/>
                </a:lnTo>
              </a:path>
            </a:pathLst>
          </a:custGeom>
          <a:noFill/>
          <a:ln w="27940">
            <a:solidFill>
              <a:srgbClr val="00A8A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188720" y="5669279"/>
            <a:ext cx="969264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山を足すと波になる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21</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Rubins 2008（PMID 18855034）／ Couceiro R, et al. Physiol Meas 2015;36:1801-25（PMID 26235798）</a:t>
            </a:r>
          </a:p>
        </p:txBody>
      </p:sp>
      <p:sp>
        <p:nvSpPr>
          <p:cNvPr id="12" name="Freeform 11"/>
          <p:cNvSpPr/>
          <p:nvPr/>
        </p:nvSpPr>
        <p:spPr>
          <a:xfrm>
            <a:off x="822960" y="1920980"/>
            <a:ext cx="6583680" cy="2354615"/>
          </a:xfrm>
          <a:custGeom>
            <a:avLst/>
            <a:gdLst/>
            <a:ahLst/>
            <a:cxnLst/>
            <a:rect l="l" t="t" r="r" b="b"/>
            <a:pathLst>
              <a:path w="6583680" h="2354615">
                <a:moveTo>
                  <a:pt x="0" y="2337559"/>
                </a:moveTo>
                <a:lnTo>
                  <a:pt x="38727" y="2327117"/>
                </a:lnTo>
                <a:lnTo>
                  <a:pt x="77455" y="2314330"/>
                </a:lnTo>
                <a:lnTo>
                  <a:pt x="116182" y="2298796"/>
                </a:lnTo>
                <a:lnTo>
                  <a:pt x="154910" y="2280076"/>
                </a:lnTo>
                <a:lnTo>
                  <a:pt x="193637" y="2257699"/>
                </a:lnTo>
                <a:lnTo>
                  <a:pt x="232365" y="2231168"/>
                </a:lnTo>
                <a:lnTo>
                  <a:pt x="271092" y="2199972"/>
                </a:lnTo>
                <a:lnTo>
                  <a:pt x="309820" y="2163596"/>
                </a:lnTo>
                <a:lnTo>
                  <a:pt x="348547" y="2121536"/>
                </a:lnTo>
                <a:lnTo>
                  <a:pt x="387275" y="2073319"/>
                </a:lnTo>
                <a:lnTo>
                  <a:pt x="426002" y="2018522"/>
                </a:lnTo>
                <a:lnTo>
                  <a:pt x="464730" y="1956795"/>
                </a:lnTo>
                <a:lnTo>
                  <a:pt x="503457" y="1887882"/>
                </a:lnTo>
                <a:lnTo>
                  <a:pt x="542185" y="1811650"/>
                </a:lnTo>
                <a:lnTo>
                  <a:pt x="580912" y="1728108"/>
                </a:lnTo>
                <a:lnTo>
                  <a:pt x="619640" y="1637429"/>
                </a:lnTo>
                <a:lnTo>
                  <a:pt x="658368" y="1539970"/>
                </a:lnTo>
                <a:lnTo>
                  <a:pt x="697095" y="1436289"/>
                </a:lnTo>
                <a:lnTo>
                  <a:pt x="735823" y="1327148"/>
                </a:lnTo>
                <a:lnTo>
                  <a:pt x="774550" y="1213519"/>
                </a:lnTo>
                <a:lnTo>
                  <a:pt x="813278" y="1096576"/>
                </a:lnTo>
                <a:lnTo>
                  <a:pt x="852005" y="977686"/>
                </a:lnTo>
                <a:lnTo>
                  <a:pt x="890733" y="858381"/>
                </a:lnTo>
                <a:lnTo>
                  <a:pt x="929460" y="740329"/>
                </a:lnTo>
                <a:lnTo>
                  <a:pt x="968188" y="625298"/>
                </a:lnTo>
                <a:lnTo>
                  <a:pt x="1006915" y="515109"/>
                </a:lnTo>
                <a:lnTo>
                  <a:pt x="1045643" y="411582"/>
                </a:lnTo>
                <a:lnTo>
                  <a:pt x="1084370" y="316486"/>
                </a:lnTo>
                <a:lnTo>
                  <a:pt x="1123098" y="231484"/>
                </a:lnTo>
                <a:lnTo>
                  <a:pt x="1161825" y="158073"/>
                </a:lnTo>
                <a:lnTo>
                  <a:pt x="1200553" y="97537"/>
                </a:lnTo>
                <a:lnTo>
                  <a:pt x="1239280" y="50900"/>
                </a:lnTo>
                <a:lnTo>
                  <a:pt x="1278008" y="18888"/>
                </a:lnTo>
                <a:lnTo>
                  <a:pt x="1316736" y="1902"/>
                </a:lnTo>
                <a:lnTo>
                  <a:pt x="1355463" y="0"/>
                </a:lnTo>
                <a:lnTo>
                  <a:pt x="1394191" y="12893"/>
                </a:lnTo>
                <a:lnTo>
                  <a:pt x="1432918" y="39952"/>
                </a:lnTo>
                <a:lnTo>
                  <a:pt x="1471646" y="80228"/>
                </a:lnTo>
                <a:lnTo>
                  <a:pt x="1510373" y="132485"/>
                </a:lnTo>
                <a:lnTo>
                  <a:pt x="1549101" y="195235"/>
                </a:lnTo>
                <a:lnTo>
                  <a:pt x="1587828" y="266794"/>
                </a:lnTo>
                <a:lnTo>
                  <a:pt x="1626556" y="345329"/>
                </a:lnTo>
                <a:lnTo>
                  <a:pt x="1665283" y="428921"/>
                </a:lnTo>
                <a:lnTo>
                  <a:pt x="1704011" y="515623"/>
                </a:lnTo>
                <a:lnTo>
                  <a:pt x="1742738" y="603516"/>
                </a:lnTo>
                <a:lnTo>
                  <a:pt x="1781466" y="690760"/>
                </a:lnTo>
                <a:lnTo>
                  <a:pt x="1820193" y="775650"/>
                </a:lnTo>
                <a:lnTo>
                  <a:pt x="1858921" y="856648"/>
                </a:lnTo>
                <a:lnTo>
                  <a:pt x="1897648" y="932422"/>
                </a:lnTo>
                <a:lnTo>
                  <a:pt x="1936376" y="1001866"/>
                </a:lnTo>
                <a:lnTo>
                  <a:pt x="1975104" y="1064119"/>
                </a:lnTo>
                <a:lnTo>
                  <a:pt x="2013831" y="1118567"/>
                </a:lnTo>
                <a:lnTo>
                  <a:pt x="2052559" y="1164842"/>
                </a:lnTo>
                <a:lnTo>
                  <a:pt x="2091286" y="1202814"/>
                </a:lnTo>
                <a:lnTo>
                  <a:pt x="2130014" y="1232570"/>
                </a:lnTo>
                <a:lnTo>
                  <a:pt x="2168741" y="1254401"/>
                </a:lnTo>
                <a:lnTo>
                  <a:pt x="2207469" y="1268767"/>
                </a:lnTo>
                <a:lnTo>
                  <a:pt x="2246196" y="1276278"/>
                </a:lnTo>
                <a:lnTo>
                  <a:pt x="2284924" y="1277658"/>
                </a:lnTo>
                <a:lnTo>
                  <a:pt x="2323651" y="1273722"/>
                </a:lnTo>
                <a:lnTo>
                  <a:pt x="2362379" y="1265342"/>
                </a:lnTo>
                <a:lnTo>
                  <a:pt x="2401106" y="1253423"/>
                </a:lnTo>
                <a:lnTo>
                  <a:pt x="2439834" y="1238877"/>
                </a:lnTo>
                <a:lnTo>
                  <a:pt x="2478561" y="1222599"/>
                </a:lnTo>
                <a:lnTo>
                  <a:pt x="2517289" y="1205452"/>
                </a:lnTo>
                <a:lnTo>
                  <a:pt x="2556016" y="1188246"/>
                </a:lnTo>
                <a:lnTo>
                  <a:pt x="2594744" y="1171723"/>
                </a:lnTo>
                <a:lnTo>
                  <a:pt x="2633472" y="1156554"/>
                </a:lnTo>
                <a:lnTo>
                  <a:pt x="2672199" y="1143320"/>
                </a:lnTo>
                <a:lnTo>
                  <a:pt x="2710927" y="1132519"/>
                </a:lnTo>
                <a:lnTo>
                  <a:pt x="2749654" y="1124552"/>
                </a:lnTo>
                <a:lnTo>
                  <a:pt x="2788382" y="1119730"/>
                </a:lnTo>
                <a:lnTo>
                  <a:pt x="2827109" y="1118272"/>
                </a:lnTo>
                <a:lnTo>
                  <a:pt x="2865837" y="1120310"/>
                </a:lnTo>
                <a:lnTo>
                  <a:pt x="2904564" y="1125890"/>
                </a:lnTo>
                <a:lnTo>
                  <a:pt x="2943292" y="1134984"/>
                </a:lnTo>
                <a:lnTo>
                  <a:pt x="2982019" y="1147491"/>
                </a:lnTo>
                <a:lnTo>
                  <a:pt x="3020747" y="1163249"/>
                </a:lnTo>
                <a:lnTo>
                  <a:pt x="3059474" y="1182039"/>
                </a:lnTo>
                <a:lnTo>
                  <a:pt x="3098202" y="1203600"/>
                </a:lnTo>
                <a:lnTo>
                  <a:pt x="3136929" y="1227632"/>
                </a:lnTo>
                <a:lnTo>
                  <a:pt x="3175657" y="1253809"/>
                </a:lnTo>
                <a:lnTo>
                  <a:pt x="3214384" y="1281785"/>
                </a:lnTo>
                <a:lnTo>
                  <a:pt x="3253112" y="1311205"/>
                </a:lnTo>
                <a:lnTo>
                  <a:pt x="3291840" y="1341713"/>
                </a:lnTo>
                <a:lnTo>
                  <a:pt x="3330567" y="1372957"/>
                </a:lnTo>
                <a:lnTo>
                  <a:pt x="3369295" y="1404599"/>
                </a:lnTo>
                <a:lnTo>
                  <a:pt x="3408022" y="1436318"/>
                </a:lnTo>
                <a:lnTo>
                  <a:pt x="3446750" y="1467817"/>
                </a:lnTo>
                <a:lnTo>
                  <a:pt x="3485477" y="1498828"/>
                </a:lnTo>
                <a:lnTo>
                  <a:pt x="3524205" y="1529111"/>
                </a:lnTo>
                <a:lnTo>
                  <a:pt x="3562932" y="1558460"/>
                </a:lnTo>
                <a:lnTo>
                  <a:pt x="3601660" y="1586705"/>
                </a:lnTo>
                <a:lnTo>
                  <a:pt x="3640387" y="1613708"/>
                </a:lnTo>
                <a:lnTo>
                  <a:pt x="3679115" y="1639368"/>
                </a:lnTo>
                <a:lnTo>
                  <a:pt x="3717842" y="1663613"/>
                </a:lnTo>
                <a:lnTo>
                  <a:pt x="3756570" y="1686406"/>
                </a:lnTo>
                <a:lnTo>
                  <a:pt x="3795297" y="1707738"/>
                </a:lnTo>
                <a:lnTo>
                  <a:pt x="3834025" y="1727625"/>
                </a:lnTo>
                <a:lnTo>
                  <a:pt x="3872752" y="1746108"/>
                </a:lnTo>
                <a:lnTo>
                  <a:pt x="3911480" y="1763249"/>
                </a:lnTo>
                <a:lnTo>
                  <a:pt x="3950208" y="1779122"/>
                </a:lnTo>
                <a:lnTo>
                  <a:pt x="3988935" y="1793821"/>
                </a:lnTo>
                <a:lnTo>
                  <a:pt x="4027663" y="1807445"/>
                </a:lnTo>
                <a:lnTo>
                  <a:pt x="4066390" y="1820102"/>
                </a:lnTo>
                <a:lnTo>
                  <a:pt x="4105118" y="1831906"/>
                </a:lnTo>
                <a:lnTo>
                  <a:pt x="4143845" y="1842968"/>
                </a:lnTo>
                <a:lnTo>
                  <a:pt x="4182573" y="1853403"/>
                </a:lnTo>
                <a:lnTo>
                  <a:pt x="4221300" y="1863320"/>
                </a:lnTo>
                <a:lnTo>
                  <a:pt x="4260028" y="1872823"/>
                </a:lnTo>
                <a:lnTo>
                  <a:pt x="4298755" y="1882012"/>
                </a:lnTo>
                <a:lnTo>
                  <a:pt x="4337483" y="1890977"/>
                </a:lnTo>
                <a:lnTo>
                  <a:pt x="4376210" y="1899802"/>
                </a:lnTo>
                <a:lnTo>
                  <a:pt x="4414938" y="1908561"/>
                </a:lnTo>
                <a:lnTo>
                  <a:pt x="4453665" y="1917318"/>
                </a:lnTo>
                <a:lnTo>
                  <a:pt x="4492393" y="1926130"/>
                </a:lnTo>
                <a:lnTo>
                  <a:pt x="4531120" y="1935042"/>
                </a:lnTo>
                <a:lnTo>
                  <a:pt x="4569848" y="1944092"/>
                </a:lnTo>
                <a:lnTo>
                  <a:pt x="4608576" y="1953308"/>
                </a:lnTo>
                <a:lnTo>
                  <a:pt x="4647303" y="1962710"/>
                </a:lnTo>
                <a:lnTo>
                  <a:pt x="4686031" y="1972311"/>
                </a:lnTo>
                <a:lnTo>
                  <a:pt x="4724758" y="1982117"/>
                </a:lnTo>
                <a:lnTo>
                  <a:pt x="4763486" y="1992127"/>
                </a:lnTo>
                <a:lnTo>
                  <a:pt x="4802213" y="2002335"/>
                </a:lnTo>
                <a:lnTo>
                  <a:pt x="4840941" y="2012730"/>
                </a:lnTo>
                <a:lnTo>
                  <a:pt x="4879668" y="2023295"/>
                </a:lnTo>
                <a:lnTo>
                  <a:pt x="4918396" y="2034013"/>
                </a:lnTo>
                <a:lnTo>
                  <a:pt x="4957123" y="2044860"/>
                </a:lnTo>
                <a:lnTo>
                  <a:pt x="4995851" y="2055812"/>
                </a:lnTo>
                <a:lnTo>
                  <a:pt x="5034578" y="2066843"/>
                </a:lnTo>
                <a:lnTo>
                  <a:pt x="5073306" y="2077926"/>
                </a:lnTo>
                <a:lnTo>
                  <a:pt x="5112033" y="2089032"/>
                </a:lnTo>
                <a:lnTo>
                  <a:pt x="5150761" y="2100132"/>
                </a:lnTo>
                <a:lnTo>
                  <a:pt x="5189488" y="2111198"/>
                </a:lnTo>
                <a:lnTo>
                  <a:pt x="5228216" y="2122201"/>
                </a:lnTo>
                <a:lnTo>
                  <a:pt x="5266944" y="2133114"/>
                </a:lnTo>
                <a:lnTo>
                  <a:pt x="5305671" y="2143911"/>
                </a:lnTo>
                <a:lnTo>
                  <a:pt x="5344399" y="2154565"/>
                </a:lnTo>
                <a:lnTo>
                  <a:pt x="5383126" y="2165053"/>
                </a:lnTo>
                <a:lnTo>
                  <a:pt x="5421854" y="2175353"/>
                </a:lnTo>
                <a:lnTo>
                  <a:pt x="5460581" y="2185444"/>
                </a:lnTo>
                <a:lnTo>
                  <a:pt x="5499309" y="2195306"/>
                </a:lnTo>
                <a:lnTo>
                  <a:pt x="5538036" y="2204922"/>
                </a:lnTo>
                <a:lnTo>
                  <a:pt x="5576764" y="2214278"/>
                </a:lnTo>
                <a:lnTo>
                  <a:pt x="5615491" y="2223359"/>
                </a:lnTo>
                <a:lnTo>
                  <a:pt x="5654219" y="2232154"/>
                </a:lnTo>
                <a:lnTo>
                  <a:pt x="5692946" y="2240654"/>
                </a:lnTo>
                <a:lnTo>
                  <a:pt x="5731674" y="2248851"/>
                </a:lnTo>
                <a:lnTo>
                  <a:pt x="5770401" y="2256737"/>
                </a:lnTo>
                <a:lnTo>
                  <a:pt x="5809129" y="2264311"/>
                </a:lnTo>
                <a:lnTo>
                  <a:pt x="5847856" y="2271568"/>
                </a:lnTo>
                <a:lnTo>
                  <a:pt x="5886584" y="2278507"/>
                </a:lnTo>
                <a:lnTo>
                  <a:pt x="5925312" y="2285129"/>
                </a:lnTo>
                <a:lnTo>
                  <a:pt x="5964039" y="2291436"/>
                </a:lnTo>
                <a:lnTo>
                  <a:pt x="6002767" y="2297430"/>
                </a:lnTo>
                <a:lnTo>
                  <a:pt x="6041494" y="2303116"/>
                </a:lnTo>
                <a:lnTo>
                  <a:pt x="6080222" y="2308499"/>
                </a:lnTo>
                <a:lnTo>
                  <a:pt x="6118949" y="2313586"/>
                </a:lnTo>
                <a:lnTo>
                  <a:pt x="6157677" y="2318383"/>
                </a:lnTo>
                <a:lnTo>
                  <a:pt x="6196404" y="2322898"/>
                </a:lnTo>
                <a:lnTo>
                  <a:pt x="6235132" y="2327139"/>
                </a:lnTo>
                <a:lnTo>
                  <a:pt x="6273859" y="2331117"/>
                </a:lnTo>
                <a:lnTo>
                  <a:pt x="6312587" y="2334840"/>
                </a:lnTo>
                <a:lnTo>
                  <a:pt x="6351314" y="2338317"/>
                </a:lnTo>
                <a:lnTo>
                  <a:pt x="6390042" y="2341560"/>
                </a:lnTo>
                <a:lnTo>
                  <a:pt x="6428769" y="2344579"/>
                </a:lnTo>
                <a:lnTo>
                  <a:pt x="6467497" y="2347383"/>
                </a:lnTo>
                <a:lnTo>
                  <a:pt x="6506224" y="2349983"/>
                </a:lnTo>
                <a:lnTo>
                  <a:pt x="6544952" y="2352391"/>
                </a:lnTo>
                <a:lnTo>
                  <a:pt x="6583680" y="2354615"/>
                </a:lnTo>
              </a:path>
            </a:pathLst>
          </a:custGeom>
          <a:noFill/>
          <a:ln w="381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822960" y="1984126"/>
            <a:ext cx="6583680" cy="2313554"/>
          </a:xfrm>
          <a:custGeom>
            <a:avLst/>
            <a:gdLst/>
            <a:ahLst/>
            <a:cxnLst/>
            <a:rect l="l" t="t" r="r" b="b"/>
            <a:pathLst>
              <a:path w="6583680" h="2313554">
                <a:moveTo>
                  <a:pt x="0" y="2274501"/>
                </a:moveTo>
                <a:lnTo>
                  <a:pt x="38727" y="2264078"/>
                </a:lnTo>
                <a:lnTo>
                  <a:pt x="77455" y="2251315"/>
                </a:lnTo>
                <a:lnTo>
                  <a:pt x="116182" y="2235810"/>
                </a:lnTo>
                <a:lnTo>
                  <a:pt x="154910" y="2217125"/>
                </a:lnTo>
                <a:lnTo>
                  <a:pt x="193637" y="2194792"/>
                </a:lnTo>
                <a:lnTo>
                  <a:pt x="232365" y="2168315"/>
                </a:lnTo>
                <a:lnTo>
                  <a:pt x="271092" y="2137186"/>
                </a:lnTo>
                <a:lnTo>
                  <a:pt x="309820" y="2100892"/>
                </a:lnTo>
                <a:lnTo>
                  <a:pt x="348547" y="2058933"/>
                </a:lnTo>
                <a:lnTo>
                  <a:pt x="387275" y="2010840"/>
                </a:lnTo>
                <a:lnTo>
                  <a:pt x="426002" y="1956197"/>
                </a:lnTo>
                <a:lnTo>
                  <a:pt x="464730" y="1894658"/>
                </a:lnTo>
                <a:lnTo>
                  <a:pt x="503457" y="1825977"/>
                </a:lnTo>
                <a:lnTo>
                  <a:pt x="542185" y="1750029"/>
                </a:lnTo>
                <a:lnTo>
                  <a:pt x="580912" y="1666834"/>
                </a:lnTo>
                <a:lnTo>
                  <a:pt x="619640" y="1576579"/>
                </a:lnTo>
                <a:lnTo>
                  <a:pt x="658368" y="1479638"/>
                </a:lnTo>
                <a:lnTo>
                  <a:pt x="697095" y="1376586"/>
                </a:lnTo>
                <a:lnTo>
                  <a:pt x="735823" y="1268206"/>
                </a:lnTo>
                <a:lnTo>
                  <a:pt x="774550" y="1155497"/>
                </a:lnTo>
                <a:lnTo>
                  <a:pt x="813278" y="1039663"/>
                </a:lnTo>
                <a:lnTo>
                  <a:pt x="852005" y="922104"/>
                </a:lnTo>
                <a:lnTo>
                  <a:pt x="890733" y="804391"/>
                </a:lnTo>
                <a:lnTo>
                  <a:pt x="929460" y="688237"/>
                </a:lnTo>
                <a:lnTo>
                  <a:pt x="968188" y="575462"/>
                </a:lnTo>
                <a:lnTo>
                  <a:pt x="1006915" y="467940"/>
                </a:lnTo>
                <a:lnTo>
                  <a:pt x="1045643" y="367557"/>
                </a:lnTo>
                <a:lnTo>
                  <a:pt x="1084370" y="276152"/>
                </a:lnTo>
                <a:lnTo>
                  <a:pt x="1123098" y="195465"/>
                </a:lnTo>
                <a:lnTo>
                  <a:pt x="1161825" y="127077"/>
                </a:lnTo>
                <a:lnTo>
                  <a:pt x="1200553" y="72363"/>
                </a:lnTo>
                <a:lnTo>
                  <a:pt x="1239280" y="32445"/>
                </a:lnTo>
                <a:lnTo>
                  <a:pt x="1278008" y="8154"/>
                </a:lnTo>
                <a:lnTo>
                  <a:pt x="1316736" y="0"/>
                </a:lnTo>
                <a:lnTo>
                  <a:pt x="1355463" y="8154"/>
                </a:lnTo>
                <a:lnTo>
                  <a:pt x="1394191" y="32445"/>
                </a:lnTo>
                <a:lnTo>
                  <a:pt x="1432918" y="72363"/>
                </a:lnTo>
                <a:lnTo>
                  <a:pt x="1471646" y="127077"/>
                </a:lnTo>
                <a:lnTo>
                  <a:pt x="1510373" y="195465"/>
                </a:lnTo>
                <a:lnTo>
                  <a:pt x="1549101" y="276152"/>
                </a:lnTo>
                <a:lnTo>
                  <a:pt x="1587828" y="367557"/>
                </a:lnTo>
                <a:lnTo>
                  <a:pt x="1626556" y="467940"/>
                </a:lnTo>
                <a:lnTo>
                  <a:pt x="1665283" y="575462"/>
                </a:lnTo>
                <a:lnTo>
                  <a:pt x="1704011" y="688237"/>
                </a:lnTo>
                <a:lnTo>
                  <a:pt x="1742738" y="804391"/>
                </a:lnTo>
                <a:lnTo>
                  <a:pt x="1781466" y="922104"/>
                </a:lnTo>
                <a:lnTo>
                  <a:pt x="1820193" y="1039663"/>
                </a:lnTo>
                <a:lnTo>
                  <a:pt x="1858921" y="1155497"/>
                </a:lnTo>
                <a:lnTo>
                  <a:pt x="1897648" y="1268206"/>
                </a:lnTo>
                <a:lnTo>
                  <a:pt x="1936376" y="1376586"/>
                </a:lnTo>
                <a:lnTo>
                  <a:pt x="1975104" y="1479638"/>
                </a:lnTo>
                <a:lnTo>
                  <a:pt x="2013831" y="1576579"/>
                </a:lnTo>
                <a:lnTo>
                  <a:pt x="2052559" y="1666834"/>
                </a:lnTo>
                <a:lnTo>
                  <a:pt x="2091286" y="1750029"/>
                </a:lnTo>
                <a:lnTo>
                  <a:pt x="2130014" y="1825977"/>
                </a:lnTo>
                <a:lnTo>
                  <a:pt x="2168741" y="1894658"/>
                </a:lnTo>
                <a:lnTo>
                  <a:pt x="2207469" y="1956197"/>
                </a:lnTo>
                <a:lnTo>
                  <a:pt x="2246196" y="2010840"/>
                </a:lnTo>
                <a:lnTo>
                  <a:pt x="2284924" y="2058933"/>
                </a:lnTo>
                <a:lnTo>
                  <a:pt x="2323651" y="2100892"/>
                </a:lnTo>
                <a:lnTo>
                  <a:pt x="2362379" y="2137186"/>
                </a:lnTo>
                <a:lnTo>
                  <a:pt x="2401106" y="2168315"/>
                </a:lnTo>
                <a:lnTo>
                  <a:pt x="2439834" y="2194792"/>
                </a:lnTo>
                <a:lnTo>
                  <a:pt x="2478561" y="2217125"/>
                </a:lnTo>
                <a:lnTo>
                  <a:pt x="2517289" y="2235810"/>
                </a:lnTo>
                <a:lnTo>
                  <a:pt x="2556016" y="2251315"/>
                </a:lnTo>
                <a:lnTo>
                  <a:pt x="2594744" y="2264078"/>
                </a:lnTo>
                <a:lnTo>
                  <a:pt x="2633472" y="2274501"/>
                </a:lnTo>
                <a:lnTo>
                  <a:pt x="2672199" y="2282945"/>
                </a:lnTo>
                <a:lnTo>
                  <a:pt x="2710927" y="2289732"/>
                </a:lnTo>
                <a:lnTo>
                  <a:pt x="2749654" y="2295144"/>
                </a:lnTo>
                <a:lnTo>
                  <a:pt x="2788382" y="2299427"/>
                </a:lnTo>
                <a:lnTo>
                  <a:pt x="2827109" y="2302790"/>
                </a:lnTo>
                <a:lnTo>
                  <a:pt x="2865837" y="2305410"/>
                </a:lnTo>
                <a:lnTo>
                  <a:pt x="2904564" y="2307436"/>
                </a:lnTo>
                <a:lnTo>
                  <a:pt x="2943292" y="2308990"/>
                </a:lnTo>
                <a:lnTo>
                  <a:pt x="2982019" y="2310173"/>
                </a:lnTo>
                <a:lnTo>
                  <a:pt x="3020747" y="2311067"/>
                </a:lnTo>
                <a:lnTo>
                  <a:pt x="3059474" y="2311738"/>
                </a:lnTo>
                <a:lnTo>
                  <a:pt x="3098202" y="2312237"/>
                </a:lnTo>
                <a:lnTo>
                  <a:pt x="3136929" y="2312605"/>
                </a:lnTo>
                <a:lnTo>
                  <a:pt x="3175657" y="2312875"/>
                </a:lnTo>
                <a:lnTo>
                  <a:pt x="3214384" y="2313072"/>
                </a:lnTo>
                <a:lnTo>
                  <a:pt x="3253112" y="2313214"/>
                </a:lnTo>
                <a:lnTo>
                  <a:pt x="3291840" y="2313316"/>
                </a:lnTo>
                <a:lnTo>
                  <a:pt x="3330567" y="2313388"/>
                </a:lnTo>
                <a:lnTo>
                  <a:pt x="3369295" y="2313439"/>
                </a:lnTo>
                <a:lnTo>
                  <a:pt x="3408022" y="2313475"/>
                </a:lnTo>
                <a:lnTo>
                  <a:pt x="3446750" y="2313500"/>
                </a:lnTo>
                <a:lnTo>
                  <a:pt x="3485477" y="2313518"/>
                </a:lnTo>
                <a:lnTo>
                  <a:pt x="3524205" y="2313529"/>
                </a:lnTo>
                <a:lnTo>
                  <a:pt x="3562932" y="2313537"/>
                </a:lnTo>
                <a:lnTo>
                  <a:pt x="3601660" y="2313543"/>
                </a:lnTo>
                <a:lnTo>
                  <a:pt x="3640387" y="2313547"/>
                </a:lnTo>
                <a:lnTo>
                  <a:pt x="3679115" y="2313549"/>
                </a:lnTo>
                <a:lnTo>
                  <a:pt x="3717842" y="2313551"/>
                </a:lnTo>
                <a:lnTo>
                  <a:pt x="3756570" y="2313552"/>
                </a:lnTo>
                <a:lnTo>
                  <a:pt x="3795297" y="2313552"/>
                </a:lnTo>
                <a:lnTo>
                  <a:pt x="3834025" y="2313553"/>
                </a:lnTo>
                <a:lnTo>
                  <a:pt x="3872752" y="2313553"/>
                </a:lnTo>
                <a:lnTo>
                  <a:pt x="3911480" y="2313553"/>
                </a:lnTo>
                <a:lnTo>
                  <a:pt x="3950208" y="2313553"/>
                </a:lnTo>
                <a:lnTo>
                  <a:pt x="3988935" y="2313553"/>
                </a:lnTo>
                <a:lnTo>
                  <a:pt x="4027663" y="2313553"/>
                </a:lnTo>
                <a:lnTo>
                  <a:pt x="4066390" y="2313553"/>
                </a:lnTo>
                <a:lnTo>
                  <a:pt x="4105118" y="2313553"/>
                </a:lnTo>
                <a:lnTo>
                  <a:pt x="4143845" y="2313553"/>
                </a:lnTo>
                <a:lnTo>
                  <a:pt x="4182573" y="2313553"/>
                </a:lnTo>
                <a:lnTo>
                  <a:pt x="4221300" y="2313553"/>
                </a:lnTo>
                <a:lnTo>
                  <a:pt x="4260028" y="2313553"/>
                </a:lnTo>
                <a:lnTo>
                  <a:pt x="4298755" y="2313553"/>
                </a:lnTo>
                <a:lnTo>
                  <a:pt x="4337483" y="2313553"/>
                </a:lnTo>
                <a:lnTo>
                  <a:pt x="4376210" y="2313553"/>
                </a:lnTo>
                <a:lnTo>
                  <a:pt x="4414938" y="2313553"/>
                </a:lnTo>
                <a:lnTo>
                  <a:pt x="4453665" y="2313553"/>
                </a:lnTo>
                <a:lnTo>
                  <a:pt x="4492393" y="2313553"/>
                </a:lnTo>
                <a:lnTo>
                  <a:pt x="4531120" y="2313553"/>
                </a:lnTo>
                <a:lnTo>
                  <a:pt x="4569848" y="2313553"/>
                </a:lnTo>
                <a:lnTo>
                  <a:pt x="4608576" y="2313553"/>
                </a:lnTo>
                <a:lnTo>
                  <a:pt x="4647303" y="2313553"/>
                </a:lnTo>
                <a:lnTo>
                  <a:pt x="4686031" y="2313553"/>
                </a:lnTo>
                <a:lnTo>
                  <a:pt x="4724758" y="2313553"/>
                </a:lnTo>
                <a:lnTo>
                  <a:pt x="4763486" y="2313553"/>
                </a:lnTo>
                <a:lnTo>
                  <a:pt x="4802213" y="2313553"/>
                </a:lnTo>
                <a:lnTo>
                  <a:pt x="4840941" y="2313553"/>
                </a:lnTo>
                <a:lnTo>
                  <a:pt x="4879668" y="2313553"/>
                </a:lnTo>
                <a:lnTo>
                  <a:pt x="4918396" y="2313553"/>
                </a:lnTo>
                <a:lnTo>
                  <a:pt x="4957123" y="2313553"/>
                </a:lnTo>
                <a:lnTo>
                  <a:pt x="4995851" y="2313553"/>
                </a:lnTo>
                <a:lnTo>
                  <a:pt x="5034578" y="2313553"/>
                </a:lnTo>
                <a:lnTo>
                  <a:pt x="5073306" y="2313553"/>
                </a:lnTo>
                <a:lnTo>
                  <a:pt x="5112033" y="2313553"/>
                </a:lnTo>
                <a:lnTo>
                  <a:pt x="5150761" y="2313553"/>
                </a:lnTo>
                <a:lnTo>
                  <a:pt x="5189488" y="2313553"/>
                </a:lnTo>
                <a:lnTo>
                  <a:pt x="5228216" y="2313553"/>
                </a:lnTo>
                <a:lnTo>
                  <a:pt x="5266944" y="2313554"/>
                </a:lnTo>
                <a:lnTo>
                  <a:pt x="5305671" y="2313554"/>
                </a:lnTo>
                <a:lnTo>
                  <a:pt x="5344399" y="2313554"/>
                </a:lnTo>
                <a:lnTo>
                  <a:pt x="5383126" y="2313554"/>
                </a:lnTo>
                <a:lnTo>
                  <a:pt x="5421854" y="2313554"/>
                </a:lnTo>
                <a:lnTo>
                  <a:pt x="5460581" y="2313554"/>
                </a:lnTo>
                <a:lnTo>
                  <a:pt x="5499309" y="2313554"/>
                </a:lnTo>
                <a:lnTo>
                  <a:pt x="5538036" y="2313554"/>
                </a:lnTo>
                <a:lnTo>
                  <a:pt x="5576764" y="2313554"/>
                </a:lnTo>
                <a:lnTo>
                  <a:pt x="5615491" y="2313554"/>
                </a:lnTo>
                <a:lnTo>
                  <a:pt x="5654219" y="2313554"/>
                </a:lnTo>
                <a:lnTo>
                  <a:pt x="5692946" y="2313554"/>
                </a:lnTo>
                <a:lnTo>
                  <a:pt x="5731674" y="2313554"/>
                </a:lnTo>
                <a:lnTo>
                  <a:pt x="5770401" y="2313554"/>
                </a:lnTo>
                <a:lnTo>
                  <a:pt x="5809129" y="2313554"/>
                </a:lnTo>
                <a:lnTo>
                  <a:pt x="5847856" y="2313554"/>
                </a:lnTo>
                <a:lnTo>
                  <a:pt x="5886584" y="2313554"/>
                </a:lnTo>
                <a:lnTo>
                  <a:pt x="5925312" y="2313554"/>
                </a:lnTo>
                <a:lnTo>
                  <a:pt x="5964039" y="2313554"/>
                </a:lnTo>
                <a:lnTo>
                  <a:pt x="6002767" y="2313554"/>
                </a:lnTo>
                <a:lnTo>
                  <a:pt x="6041494" y="2313554"/>
                </a:lnTo>
                <a:lnTo>
                  <a:pt x="6080222" y="2313554"/>
                </a:lnTo>
                <a:lnTo>
                  <a:pt x="6118949" y="2313554"/>
                </a:lnTo>
                <a:lnTo>
                  <a:pt x="6157677" y="2313554"/>
                </a:lnTo>
                <a:lnTo>
                  <a:pt x="6196404" y="2313554"/>
                </a:lnTo>
                <a:lnTo>
                  <a:pt x="6235132" y="2313554"/>
                </a:lnTo>
                <a:lnTo>
                  <a:pt x="6273859" y="2313554"/>
                </a:lnTo>
                <a:lnTo>
                  <a:pt x="6312587" y="2313554"/>
                </a:lnTo>
                <a:lnTo>
                  <a:pt x="6351314" y="2313554"/>
                </a:lnTo>
                <a:lnTo>
                  <a:pt x="6390042" y="2313554"/>
                </a:lnTo>
                <a:lnTo>
                  <a:pt x="6428769" y="2313554"/>
                </a:lnTo>
                <a:lnTo>
                  <a:pt x="6467497" y="2313554"/>
                </a:lnTo>
                <a:lnTo>
                  <a:pt x="6506224" y="2313554"/>
                </a:lnTo>
                <a:lnTo>
                  <a:pt x="6544952" y="2313554"/>
                </a:lnTo>
                <a:lnTo>
                  <a:pt x="6583680" y="2313554"/>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822960" y="3233809"/>
            <a:ext cx="6583680" cy="1063870"/>
          </a:xfrm>
          <a:custGeom>
            <a:avLst/>
            <a:gdLst/>
            <a:ahLst/>
            <a:cxnLst/>
            <a:rect l="l" t="t" r="r" b="b"/>
            <a:pathLst>
              <a:path w="6583680" h="1063870">
                <a:moveTo>
                  <a:pt x="0" y="1063851"/>
                </a:moveTo>
                <a:lnTo>
                  <a:pt x="38727" y="1063844"/>
                </a:lnTo>
                <a:lnTo>
                  <a:pt x="77455" y="1063834"/>
                </a:lnTo>
                <a:lnTo>
                  <a:pt x="116182" y="1063822"/>
                </a:lnTo>
                <a:lnTo>
                  <a:pt x="154910" y="1063805"/>
                </a:lnTo>
                <a:lnTo>
                  <a:pt x="193637" y="1063784"/>
                </a:lnTo>
                <a:lnTo>
                  <a:pt x="232365" y="1063756"/>
                </a:lnTo>
                <a:lnTo>
                  <a:pt x="271092" y="1063719"/>
                </a:lnTo>
                <a:lnTo>
                  <a:pt x="309820" y="1063672"/>
                </a:lnTo>
                <a:lnTo>
                  <a:pt x="348547" y="1063610"/>
                </a:lnTo>
                <a:lnTo>
                  <a:pt x="387275" y="1063532"/>
                </a:lnTo>
                <a:lnTo>
                  <a:pt x="426002" y="1063431"/>
                </a:lnTo>
                <a:lnTo>
                  <a:pt x="464730" y="1063303"/>
                </a:lnTo>
                <a:lnTo>
                  <a:pt x="503457" y="1063140"/>
                </a:lnTo>
                <a:lnTo>
                  <a:pt x="542185" y="1062936"/>
                </a:lnTo>
                <a:lnTo>
                  <a:pt x="580912" y="1062678"/>
                </a:lnTo>
                <a:lnTo>
                  <a:pt x="619640" y="1062357"/>
                </a:lnTo>
                <a:lnTo>
                  <a:pt x="658368" y="1061957"/>
                </a:lnTo>
                <a:lnTo>
                  <a:pt x="697095" y="1061461"/>
                </a:lnTo>
                <a:lnTo>
                  <a:pt x="735823" y="1060850"/>
                </a:lnTo>
                <a:lnTo>
                  <a:pt x="774550" y="1060101"/>
                </a:lnTo>
                <a:lnTo>
                  <a:pt x="813278" y="1059185"/>
                </a:lnTo>
                <a:lnTo>
                  <a:pt x="852005" y="1058072"/>
                </a:lnTo>
                <a:lnTo>
                  <a:pt x="890733" y="1056725"/>
                </a:lnTo>
                <a:lnTo>
                  <a:pt x="929460" y="1055103"/>
                </a:lnTo>
                <a:lnTo>
                  <a:pt x="968188" y="1053158"/>
                </a:lnTo>
                <a:lnTo>
                  <a:pt x="1006915" y="1050837"/>
                </a:lnTo>
                <a:lnTo>
                  <a:pt x="1045643" y="1048081"/>
                </a:lnTo>
                <a:lnTo>
                  <a:pt x="1084370" y="1044824"/>
                </a:lnTo>
                <a:lnTo>
                  <a:pt x="1123098" y="1040994"/>
                </a:lnTo>
                <a:lnTo>
                  <a:pt x="1161825" y="1036510"/>
                </a:lnTo>
                <a:lnTo>
                  <a:pt x="1200553" y="1031286"/>
                </a:lnTo>
                <a:lnTo>
                  <a:pt x="1239280" y="1025231"/>
                </a:lnTo>
                <a:lnTo>
                  <a:pt x="1278008" y="1018246"/>
                </a:lnTo>
                <a:lnTo>
                  <a:pt x="1316736" y="1010227"/>
                </a:lnTo>
                <a:lnTo>
                  <a:pt x="1355463" y="1001068"/>
                </a:lnTo>
                <a:lnTo>
                  <a:pt x="1394191" y="990659"/>
                </a:lnTo>
                <a:lnTo>
                  <a:pt x="1432918" y="978889"/>
                </a:lnTo>
                <a:lnTo>
                  <a:pt x="1471646" y="965646"/>
                </a:lnTo>
                <a:lnTo>
                  <a:pt x="1510373" y="950824"/>
                </a:lnTo>
                <a:lnTo>
                  <a:pt x="1549101" y="934320"/>
                </a:lnTo>
                <a:lnTo>
                  <a:pt x="1587828" y="916040"/>
                </a:lnTo>
                <a:lnTo>
                  <a:pt x="1626556" y="895898"/>
                </a:lnTo>
                <a:lnTo>
                  <a:pt x="1665283" y="873827"/>
                </a:lnTo>
                <a:lnTo>
                  <a:pt x="1704011" y="849771"/>
                </a:lnTo>
                <a:lnTo>
                  <a:pt x="1742738" y="823699"/>
                </a:lnTo>
                <a:lnTo>
                  <a:pt x="1781466" y="795600"/>
                </a:lnTo>
                <a:lnTo>
                  <a:pt x="1820193" y="765492"/>
                </a:lnTo>
                <a:lnTo>
                  <a:pt x="1858921" y="733419"/>
                </a:lnTo>
                <a:lnTo>
                  <a:pt x="1897648" y="699458"/>
                </a:lnTo>
                <a:lnTo>
                  <a:pt x="1936376" y="663720"/>
                </a:lnTo>
                <a:lnTo>
                  <a:pt x="1975104" y="626351"/>
                </a:lnTo>
                <a:lnTo>
                  <a:pt x="2013831" y="587530"/>
                </a:lnTo>
                <a:lnTo>
                  <a:pt x="2052559" y="547476"/>
                </a:lnTo>
                <a:lnTo>
                  <a:pt x="2091286" y="506441"/>
                </a:lnTo>
                <a:lnTo>
                  <a:pt x="2130014" y="464709"/>
                </a:lnTo>
                <a:lnTo>
                  <a:pt x="2168741" y="422598"/>
                </a:lnTo>
                <a:lnTo>
                  <a:pt x="2207469" y="380454"/>
                </a:lnTo>
                <a:lnTo>
                  <a:pt x="2246196" y="338644"/>
                </a:lnTo>
                <a:lnTo>
                  <a:pt x="2284924" y="297558"/>
                </a:lnTo>
                <a:lnTo>
                  <a:pt x="2323651" y="257595"/>
                </a:lnTo>
                <a:lnTo>
                  <a:pt x="2362379" y="219164"/>
                </a:lnTo>
                <a:lnTo>
                  <a:pt x="2401106" y="182674"/>
                </a:lnTo>
                <a:lnTo>
                  <a:pt x="2439834" y="148527"/>
                </a:lnTo>
                <a:lnTo>
                  <a:pt x="2478561" y="117109"/>
                </a:lnTo>
                <a:lnTo>
                  <a:pt x="2517289" y="88787"/>
                </a:lnTo>
                <a:lnTo>
                  <a:pt x="2556016" y="63898"/>
                </a:lnTo>
                <a:lnTo>
                  <a:pt x="2594744" y="42746"/>
                </a:lnTo>
                <a:lnTo>
                  <a:pt x="2633472" y="25592"/>
                </a:lnTo>
                <a:lnTo>
                  <a:pt x="2672199" y="12649"/>
                </a:lnTo>
                <a:lnTo>
                  <a:pt x="2710927" y="4082"/>
                </a:lnTo>
                <a:lnTo>
                  <a:pt x="2749654" y="0"/>
                </a:lnTo>
                <a:lnTo>
                  <a:pt x="2788382" y="454"/>
                </a:lnTo>
                <a:lnTo>
                  <a:pt x="2827109" y="5439"/>
                </a:lnTo>
                <a:lnTo>
                  <a:pt x="2865837" y="14892"/>
                </a:lnTo>
                <a:lnTo>
                  <a:pt x="2904564" y="28692"/>
                </a:lnTo>
                <a:lnTo>
                  <a:pt x="2943292" y="46665"/>
                </a:lnTo>
                <a:lnTo>
                  <a:pt x="2982019" y="68586"/>
                </a:lnTo>
                <a:lnTo>
                  <a:pt x="3020747" y="94187"/>
                </a:lnTo>
                <a:lnTo>
                  <a:pt x="3059474" y="123156"/>
                </a:lnTo>
                <a:lnTo>
                  <a:pt x="3098202" y="155150"/>
                </a:lnTo>
                <a:lnTo>
                  <a:pt x="3136929" y="189798"/>
                </a:lnTo>
                <a:lnTo>
                  <a:pt x="3175657" y="226708"/>
                </a:lnTo>
                <a:lnTo>
                  <a:pt x="3214384" y="265478"/>
                </a:lnTo>
                <a:lnTo>
                  <a:pt x="3253112" y="305698"/>
                </a:lnTo>
                <a:lnTo>
                  <a:pt x="3291840" y="346961"/>
                </a:lnTo>
                <a:lnTo>
                  <a:pt x="3330567" y="388868"/>
                </a:lnTo>
                <a:lnTo>
                  <a:pt x="3369295" y="431035"/>
                </a:lnTo>
                <a:lnTo>
                  <a:pt x="3408022" y="473096"/>
                </a:lnTo>
                <a:lnTo>
                  <a:pt x="3446750" y="514713"/>
                </a:lnTo>
                <a:lnTo>
                  <a:pt x="3485477" y="555574"/>
                </a:lnTo>
                <a:lnTo>
                  <a:pt x="3524205" y="595401"/>
                </a:lnTo>
                <a:lnTo>
                  <a:pt x="3562932" y="633947"/>
                </a:lnTo>
                <a:lnTo>
                  <a:pt x="3601660" y="671003"/>
                </a:lnTo>
                <a:lnTo>
                  <a:pt x="3640387" y="706396"/>
                </a:lnTo>
                <a:lnTo>
                  <a:pt x="3679115" y="739987"/>
                </a:lnTo>
                <a:lnTo>
                  <a:pt x="3717842" y="771673"/>
                </a:lnTo>
                <a:lnTo>
                  <a:pt x="3756570" y="801382"/>
                </a:lnTo>
                <a:lnTo>
                  <a:pt x="3795297" y="829076"/>
                </a:lnTo>
                <a:lnTo>
                  <a:pt x="3834025" y="854743"/>
                </a:lnTo>
                <a:lnTo>
                  <a:pt x="3872752" y="878398"/>
                </a:lnTo>
                <a:lnTo>
                  <a:pt x="3911480" y="900079"/>
                </a:lnTo>
                <a:lnTo>
                  <a:pt x="3950208" y="919842"/>
                </a:lnTo>
                <a:lnTo>
                  <a:pt x="3988935" y="937760"/>
                </a:lnTo>
                <a:lnTo>
                  <a:pt x="4027663" y="953920"/>
                </a:lnTo>
                <a:lnTo>
                  <a:pt x="4066390" y="968418"/>
                </a:lnTo>
                <a:lnTo>
                  <a:pt x="4105118" y="981357"/>
                </a:lnTo>
                <a:lnTo>
                  <a:pt x="4143845" y="992846"/>
                </a:lnTo>
                <a:lnTo>
                  <a:pt x="4182573" y="1002997"/>
                </a:lnTo>
                <a:lnTo>
                  <a:pt x="4221300" y="1011919"/>
                </a:lnTo>
                <a:lnTo>
                  <a:pt x="4260028" y="1019722"/>
                </a:lnTo>
                <a:lnTo>
                  <a:pt x="4298755" y="1026513"/>
                </a:lnTo>
                <a:lnTo>
                  <a:pt x="4337483" y="1032394"/>
                </a:lnTo>
                <a:lnTo>
                  <a:pt x="4376210" y="1037463"/>
                </a:lnTo>
                <a:lnTo>
                  <a:pt x="4414938" y="1041810"/>
                </a:lnTo>
                <a:lnTo>
                  <a:pt x="4453665" y="1045519"/>
                </a:lnTo>
                <a:lnTo>
                  <a:pt x="4492393" y="1048670"/>
                </a:lnTo>
                <a:lnTo>
                  <a:pt x="4531120" y="1051334"/>
                </a:lnTo>
                <a:lnTo>
                  <a:pt x="4569848" y="1053575"/>
                </a:lnTo>
                <a:lnTo>
                  <a:pt x="4608576" y="1055451"/>
                </a:lnTo>
                <a:lnTo>
                  <a:pt x="4647303" y="1057015"/>
                </a:lnTo>
                <a:lnTo>
                  <a:pt x="4686031" y="1058312"/>
                </a:lnTo>
                <a:lnTo>
                  <a:pt x="4724758" y="1059383"/>
                </a:lnTo>
                <a:lnTo>
                  <a:pt x="4763486" y="1060263"/>
                </a:lnTo>
                <a:lnTo>
                  <a:pt x="4802213" y="1060983"/>
                </a:lnTo>
                <a:lnTo>
                  <a:pt x="4840941" y="1061569"/>
                </a:lnTo>
                <a:lnTo>
                  <a:pt x="4879668" y="1062044"/>
                </a:lnTo>
                <a:lnTo>
                  <a:pt x="4918396" y="1062427"/>
                </a:lnTo>
                <a:lnTo>
                  <a:pt x="4957123" y="1062735"/>
                </a:lnTo>
                <a:lnTo>
                  <a:pt x="4995851" y="1062980"/>
                </a:lnTo>
                <a:lnTo>
                  <a:pt x="5034578" y="1063176"/>
                </a:lnTo>
                <a:lnTo>
                  <a:pt x="5073306" y="1063331"/>
                </a:lnTo>
                <a:lnTo>
                  <a:pt x="5112033" y="1063453"/>
                </a:lnTo>
                <a:lnTo>
                  <a:pt x="5150761" y="1063549"/>
                </a:lnTo>
                <a:lnTo>
                  <a:pt x="5189488" y="1063624"/>
                </a:lnTo>
                <a:lnTo>
                  <a:pt x="5228216" y="1063682"/>
                </a:lnTo>
                <a:lnTo>
                  <a:pt x="5266944" y="1063727"/>
                </a:lnTo>
                <a:lnTo>
                  <a:pt x="5305671" y="1063762"/>
                </a:lnTo>
                <a:lnTo>
                  <a:pt x="5344399" y="1063789"/>
                </a:lnTo>
                <a:lnTo>
                  <a:pt x="5383126" y="1063809"/>
                </a:lnTo>
                <a:lnTo>
                  <a:pt x="5421854" y="1063825"/>
                </a:lnTo>
                <a:lnTo>
                  <a:pt x="5460581" y="1063836"/>
                </a:lnTo>
                <a:lnTo>
                  <a:pt x="5499309" y="1063845"/>
                </a:lnTo>
                <a:lnTo>
                  <a:pt x="5538036" y="1063852"/>
                </a:lnTo>
                <a:lnTo>
                  <a:pt x="5576764" y="1063857"/>
                </a:lnTo>
                <a:lnTo>
                  <a:pt x="5615491" y="1063860"/>
                </a:lnTo>
                <a:lnTo>
                  <a:pt x="5654219" y="1063863"/>
                </a:lnTo>
                <a:lnTo>
                  <a:pt x="5692946" y="1063865"/>
                </a:lnTo>
                <a:lnTo>
                  <a:pt x="5731674" y="1063867"/>
                </a:lnTo>
                <a:lnTo>
                  <a:pt x="5770401" y="1063868"/>
                </a:lnTo>
                <a:lnTo>
                  <a:pt x="5809129" y="1063869"/>
                </a:lnTo>
                <a:lnTo>
                  <a:pt x="5847856" y="1063869"/>
                </a:lnTo>
                <a:lnTo>
                  <a:pt x="5886584" y="1063869"/>
                </a:lnTo>
                <a:lnTo>
                  <a:pt x="5925312" y="1063870"/>
                </a:lnTo>
                <a:lnTo>
                  <a:pt x="5964039" y="1063870"/>
                </a:lnTo>
                <a:lnTo>
                  <a:pt x="6002767" y="1063870"/>
                </a:lnTo>
                <a:lnTo>
                  <a:pt x="6041494" y="1063870"/>
                </a:lnTo>
                <a:lnTo>
                  <a:pt x="6080222" y="1063870"/>
                </a:lnTo>
                <a:lnTo>
                  <a:pt x="6118949" y="1063870"/>
                </a:lnTo>
                <a:lnTo>
                  <a:pt x="6157677" y="1063870"/>
                </a:lnTo>
                <a:lnTo>
                  <a:pt x="6196404" y="1063870"/>
                </a:lnTo>
                <a:lnTo>
                  <a:pt x="6235132" y="1063870"/>
                </a:lnTo>
                <a:lnTo>
                  <a:pt x="6273859" y="1063870"/>
                </a:lnTo>
                <a:lnTo>
                  <a:pt x="6312587" y="1063870"/>
                </a:lnTo>
                <a:lnTo>
                  <a:pt x="6351314" y="1063870"/>
                </a:lnTo>
                <a:lnTo>
                  <a:pt x="6390042" y="1063870"/>
                </a:lnTo>
                <a:lnTo>
                  <a:pt x="6428769" y="1063870"/>
                </a:lnTo>
                <a:lnTo>
                  <a:pt x="6467497" y="1063870"/>
                </a:lnTo>
                <a:lnTo>
                  <a:pt x="6506224" y="1063870"/>
                </a:lnTo>
                <a:lnTo>
                  <a:pt x="6544952" y="1063870"/>
                </a:lnTo>
                <a:lnTo>
                  <a:pt x="6583680" y="1063870"/>
                </a:lnTo>
              </a:path>
            </a:pathLst>
          </a:custGeom>
          <a:noFill/>
          <a:ln w="2540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822960" y="3834972"/>
            <a:ext cx="6583680" cy="462639"/>
          </a:xfrm>
          <a:custGeom>
            <a:avLst/>
            <a:gdLst/>
            <a:ahLst/>
            <a:cxnLst/>
            <a:rect l="l" t="t" r="r" b="b"/>
            <a:pathLst>
              <a:path w="6583680" h="462639">
                <a:moveTo>
                  <a:pt x="0" y="462639"/>
                </a:moveTo>
                <a:lnTo>
                  <a:pt x="38727" y="462627"/>
                </a:lnTo>
                <a:lnTo>
                  <a:pt x="77455" y="462613"/>
                </a:lnTo>
                <a:lnTo>
                  <a:pt x="116182" y="462596"/>
                </a:lnTo>
                <a:lnTo>
                  <a:pt x="154910" y="462577"/>
                </a:lnTo>
                <a:lnTo>
                  <a:pt x="193637" y="462555"/>
                </a:lnTo>
                <a:lnTo>
                  <a:pt x="232365" y="462529"/>
                </a:lnTo>
                <a:lnTo>
                  <a:pt x="271092" y="462499"/>
                </a:lnTo>
                <a:lnTo>
                  <a:pt x="309820" y="462464"/>
                </a:lnTo>
                <a:lnTo>
                  <a:pt x="348547" y="462425"/>
                </a:lnTo>
                <a:lnTo>
                  <a:pt x="387275" y="462379"/>
                </a:lnTo>
                <a:lnTo>
                  <a:pt x="426002" y="462326"/>
                </a:lnTo>
                <a:lnTo>
                  <a:pt x="464730" y="462266"/>
                </a:lnTo>
                <a:lnTo>
                  <a:pt x="503457" y="462197"/>
                </a:lnTo>
                <a:lnTo>
                  <a:pt x="542185" y="462118"/>
                </a:lnTo>
                <a:lnTo>
                  <a:pt x="580912" y="462027"/>
                </a:lnTo>
                <a:lnTo>
                  <a:pt x="619640" y="461924"/>
                </a:lnTo>
                <a:lnTo>
                  <a:pt x="658368" y="461807"/>
                </a:lnTo>
                <a:lnTo>
                  <a:pt x="697095" y="461674"/>
                </a:lnTo>
                <a:lnTo>
                  <a:pt x="735823" y="461523"/>
                </a:lnTo>
                <a:lnTo>
                  <a:pt x="774550" y="461353"/>
                </a:lnTo>
                <a:lnTo>
                  <a:pt x="813278" y="461160"/>
                </a:lnTo>
                <a:lnTo>
                  <a:pt x="852005" y="460942"/>
                </a:lnTo>
                <a:lnTo>
                  <a:pt x="890733" y="460697"/>
                </a:lnTo>
                <a:lnTo>
                  <a:pt x="929460" y="460421"/>
                </a:lnTo>
                <a:lnTo>
                  <a:pt x="968188" y="460111"/>
                </a:lnTo>
                <a:lnTo>
                  <a:pt x="1006915" y="459764"/>
                </a:lnTo>
                <a:lnTo>
                  <a:pt x="1045643" y="459375"/>
                </a:lnTo>
                <a:lnTo>
                  <a:pt x="1084370" y="458941"/>
                </a:lnTo>
                <a:lnTo>
                  <a:pt x="1123098" y="458458"/>
                </a:lnTo>
                <a:lnTo>
                  <a:pt x="1161825" y="457919"/>
                </a:lnTo>
                <a:lnTo>
                  <a:pt x="1200553" y="457320"/>
                </a:lnTo>
                <a:lnTo>
                  <a:pt x="1239280" y="456656"/>
                </a:lnTo>
                <a:lnTo>
                  <a:pt x="1278008" y="455920"/>
                </a:lnTo>
                <a:lnTo>
                  <a:pt x="1316736" y="455107"/>
                </a:lnTo>
                <a:lnTo>
                  <a:pt x="1355463" y="454209"/>
                </a:lnTo>
                <a:lnTo>
                  <a:pt x="1394191" y="453220"/>
                </a:lnTo>
                <a:lnTo>
                  <a:pt x="1432918" y="452132"/>
                </a:lnTo>
                <a:lnTo>
                  <a:pt x="1471646" y="450937"/>
                </a:lnTo>
                <a:lnTo>
                  <a:pt x="1510373" y="449628"/>
                </a:lnTo>
                <a:lnTo>
                  <a:pt x="1549101" y="448195"/>
                </a:lnTo>
                <a:lnTo>
                  <a:pt x="1587828" y="446629"/>
                </a:lnTo>
                <a:lnTo>
                  <a:pt x="1626556" y="444923"/>
                </a:lnTo>
                <a:lnTo>
                  <a:pt x="1665283" y="443065"/>
                </a:lnTo>
                <a:lnTo>
                  <a:pt x="1704011" y="441047"/>
                </a:lnTo>
                <a:lnTo>
                  <a:pt x="1742738" y="438858"/>
                </a:lnTo>
                <a:lnTo>
                  <a:pt x="1781466" y="436488"/>
                </a:lnTo>
                <a:lnTo>
                  <a:pt x="1820193" y="433927"/>
                </a:lnTo>
                <a:lnTo>
                  <a:pt x="1858921" y="431164"/>
                </a:lnTo>
                <a:lnTo>
                  <a:pt x="1897648" y="428190"/>
                </a:lnTo>
                <a:lnTo>
                  <a:pt x="1936376" y="424992"/>
                </a:lnTo>
                <a:lnTo>
                  <a:pt x="1975104" y="421563"/>
                </a:lnTo>
                <a:lnTo>
                  <a:pt x="2013831" y="417890"/>
                </a:lnTo>
                <a:lnTo>
                  <a:pt x="2052559" y="413964"/>
                </a:lnTo>
                <a:lnTo>
                  <a:pt x="2091286" y="409776"/>
                </a:lnTo>
                <a:lnTo>
                  <a:pt x="2130014" y="405316"/>
                </a:lnTo>
                <a:lnTo>
                  <a:pt x="2168741" y="400576"/>
                </a:lnTo>
                <a:lnTo>
                  <a:pt x="2207469" y="395548"/>
                </a:lnTo>
                <a:lnTo>
                  <a:pt x="2246196" y="390225"/>
                </a:lnTo>
                <a:lnTo>
                  <a:pt x="2284924" y="384600"/>
                </a:lnTo>
                <a:lnTo>
                  <a:pt x="2323651" y="378668"/>
                </a:lnTo>
                <a:lnTo>
                  <a:pt x="2362379" y="372424"/>
                </a:lnTo>
                <a:lnTo>
                  <a:pt x="2401106" y="365866"/>
                </a:lnTo>
                <a:lnTo>
                  <a:pt x="2439834" y="358990"/>
                </a:lnTo>
                <a:lnTo>
                  <a:pt x="2478561" y="351797"/>
                </a:lnTo>
                <a:lnTo>
                  <a:pt x="2517289" y="344288"/>
                </a:lnTo>
                <a:lnTo>
                  <a:pt x="2556016" y="336464"/>
                </a:lnTo>
                <a:lnTo>
                  <a:pt x="2594744" y="328331"/>
                </a:lnTo>
                <a:lnTo>
                  <a:pt x="2633472" y="319893"/>
                </a:lnTo>
                <a:lnTo>
                  <a:pt x="2672199" y="311159"/>
                </a:lnTo>
                <a:lnTo>
                  <a:pt x="2710927" y="302137"/>
                </a:lnTo>
                <a:lnTo>
                  <a:pt x="2749654" y="292840"/>
                </a:lnTo>
                <a:lnTo>
                  <a:pt x="2788382" y="283281"/>
                </a:lnTo>
                <a:lnTo>
                  <a:pt x="2827109" y="273475"/>
                </a:lnTo>
                <a:lnTo>
                  <a:pt x="2865837" y="263440"/>
                </a:lnTo>
                <a:lnTo>
                  <a:pt x="2904564" y="253195"/>
                </a:lnTo>
                <a:lnTo>
                  <a:pt x="2943292" y="242762"/>
                </a:lnTo>
                <a:lnTo>
                  <a:pt x="2982019" y="232164"/>
                </a:lnTo>
                <a:lnTo>
                  <a:pt x="3020747" y="221427"/>
                </a:lnTo>
                <a:lnTo>
                  <a:pt x="3059474" y="210578"/>
                </a:lnTo>
                <a:lnTo>
                  <a:pt x="3098202" y="199646"/>
                </a:lnTo>
                <a:lnTo>
                  <a:pt x="3136929" y="188662"/>
                </a:lnTo>
                <a:lnTo>
                  <a:pt x="3175657" y="177657"/>
                </a:lnTo>
                <a:lnTo>
                  <a:pt x="3214384" y="166667"/>
                </a:lnTo>
                <a:lnTo>
                  <a:pt x="3253112" y="155725"/>
                </a:lnTo>
                <a:lnTo>
                  <a:pt x="3291840" y="144868"/>
                </a:lnTo>
                <a:lnTo>
                  <a:pt x="3330567" y="134133"/>
                </a:lnTo>
                <a:lnTo>
                  <a:pt x="3369295" y="123557"/>
                </a:lnTo>
                <a:lnTo>
                  <a:pt x="3408022" y="113178"/>
                </a:lnTo>
                <a:lnTo>
                  <a:pt x="3446750" y="103036"/>
                </a:lnTo>
                <a:lnTo>
                  <a:pt x="3485477" y="93168"/>
                </a:lnTo>
                <a:lnTo>
                  <a:pt x="3524205" y="83613"/>
                </a:lnTo>
                <a:lnTo>
                  <a:pt x="3562932" y="74408"/>
                </a:lnTo>
                <a:lnTo>
                  <a:pt x="3601660" y="65591"/>
                </a:lnTo>
                <a:lnTo>
                  <a:pt x="3640387" y="57198"/>
                </a:lnTo>
                <a:lnTo>
                  <a:pt x="3679115" y="49263"/>
                </a:lnTo>
                <a:lnTo>
                  <a:pt x="3717842" y="41822"/>
                </a:lnTo>
                <a:lnTo>
                  <a:pt x="3756570" y="34904"/>
                </a:lnTo>
                <a:lnTo>
                  <a:pt x="3795297" y="28542"/>
                </a:lnTo>
                <a:lnTo>
                  <a:pt x="3834025" y="22761"/>
                </a:lnTo>
                <a:lnTo>
                  <a:pt x="3872752" y="17589"/>
                </a:lnTo>
                <a:lnTo>
                  <a:pt x="3911480" y="13048"/>
                </a:lnTo>
                <a:lnTo>
                  <a:pt x="3950208" y="9159"/>
                </a:lnTo>
                <a:lnTo>
                  <a:pt x="3988935" y="5939"/>
                </a:lnTo>
                <a:lnTo>
                  <a:pt x="4027663" y="3403"/>
                </a:lnTo>
                <a:lnTo>
                  <a:pt x="4066390" y="1563"/>
                </a:lnTo>
                <a:lnTo>
                  <a:pt x="4105118" y="427"/>
                </a:lnTo>
                <a:lnTo>
                  <a:pt x="4143845" y="0"/>
                </a:lnTo>
                <a:lnTo>
                  <a:pt x="4182573" y="285"/>
                </a:lnTo>
                <a:lnTo>
                  <a:pt x="4221300" y="1279"/>
                </a:lnTo>
                <a:lnTo>
                  <a:pt x="4260028" y="2979"/>
                </a:lnTo>
                <a:lnTo>
                  <a:pt x="4298755" y="5377"/>
                </a:lnTo>
                <a:lnTo>
                  <a:pt x="4337483" y="8461"/>
                </a:lnTo>
                <a:lnTo>
                  <a:pt x="4376210" y="12218"/>
                </a:lnTo>
                <a:lnTo>
                  <a:pt x="4414938" y="16630"/>
                </a:lnTo>
                <a:lnTo>
                  <a:pt x="4453665" y="21678"/>
                </a:lnTo>
                <a:lnTo>
                  <a:pt x="4492393" y="27338"/>
                </a:lnTo>
                <a:lnTo>
                  <a:pt x="4531120" y="33587"/>
                </a:lnTo>
                <a:lnTo>
                  <a:pt x="4569848" y="40395"/>
                </a:lnTo>
                <a:lnTo>
                  <a:pt x="4608576" y="47735"/>
                </a:lnTo>
                <a:lnTo>
                  <a:pt x="4647303" y="55573"/>
                </a:lnTo>
                <a:lnTo>
                  <a:pt x="4686031" y="63877"/>
                </a:lnTo>
                <a:lnTo>
                  <a:pt x="4724758" y="72612"/>
                </a:lnTo>
                <a:lnTo>
                  <a:pt x="4763486" y="81742"/>
                </a:lnTo>
                <a:lnTo>
                  <a:pt x="4802213" y="91231"/>
                </a:lnTo>
                <a:lnTo>
                  <a:pt x="4840941" y="101039"/>
                </a:lnTo>
                <a:lnTo>
                  <a:pt x="4879668" y="111130"/>
                </a:lnTo>
                <a:lnTo>
                  <a:pt x="4918396" y="121464"/>
                </a:lnTo>
                <a:lnTo>
                  <a:pt x="4957123" y="132004"/>
                </a:lnTo>
                <a:lnTo>
                  <a:pt x="4995851" y="142710"/>
                </a:lnTo>
                <a:lnTo>
                  <a:pt x="5034578" y="153546"/>
                </a:lnTo>
                <a:lnTo>
                  <a:pt x="5073306" y="164473"/>
                </a:lnTo>
                <a:lnTo>
                  <a:pt x="5112033" y="175457"/>
                </a:lnTo>
                <a:lnTo>
                  <a:pt x="5150761" y="186461"/>
                </a:lnTo>
                <a:lnTo>
                  <a:pt x="5189488" y="197452"/>
                </a:lnTo>
                <a:lnTo>
                  <a:pt x="5228216" y="208397"/>
                </a:lnTo>
                <a:lnTo>
                  <a:pt x="5266944" y="219265"/>
                </a:lnTo>
                <a:lnTo>
                  <a:pt x="5305671" y="230027"/>
                </a:lnTo>
                <a:lnTo>
                  <a:pt x="5344399" y="240655"/>
                </a:lnTo>
                <a:lnTo>
                  <a:pt x="5383126" y="251123"/>
                </a:lnTo>
                <a:lnTo>
                  <a:pt x="5421854" y="261407"/>
                </a:lnTo>
                <a:lnTo>
                  <a:pt x="5460581" y="271486"/>
                </a:lnTo>
                <a:lnTo>
                  <a:pt x="5499309" y="281339"/>
                </a:lnTo>
                <a:lnTo>
                  <a:pt x="5538036" y="290949"/>
                </a:lnTo>
                <a:lnTo>
                  <a:pt x="5576764" y="300299"/>
                </a:lnTo>
                <a:lnTo>
                  <a:pt x="5615491" y="309377"/>
                </a:lnTo>
                <a:lnTo>
                  <a:pt x="5654219" y="318170"/>
                </a:lnTo>
                <a:lnTo>
                  <a:pt x="5692946" y="326667"/>
                </a:lnTo>
                <a:lnTo>
                  <a:pt x="5731674" y="334862"/>
                </a:lnTo>
                <a:lnTo>
                  <a:pt x="5770401" y="342748"/>
                </a:lnTo>
                <a:lnTo>
                  <a:pt x="5809129" y="350321"/>
                </a:lnTo>
                <a:lnTo>
                  <a:pt x="5847856" y="357577"/>
                </a:lnTo>
                <a:lnTo>
                  <a:pt x="5886584" y="364516"/>
                </a:lnTo>
                <a:lnTo>
                  <a:pt x="5925312" y="371138"/>
                </a:lnTo>
                <a:lnTo>
                  <a:pt x="5964039" y="377444"/>
                </a:lnTo>
                <a:lnTo>
                  <a:pt x="6002767" y="383438"/>
                </a:lnTo>
                <a:lnTo>
                  <a:pt x="6041494" y="389124"/>
                </a:lnTo>
                <a:lnTo>
                  <a:pt x="6080222" y="394507"/>
                </a:lnTo>
                <a:lnTo>
                  <a:pt x="6118949" y="399594"/>
                </a:lnTo>
                <a:lnTo>
                  <a:pt x="6157677" y="404391"/>
                </a:lnTo>
                <a:lnTo>
                  <a:pt x="6196404" y="408906"/>
                </a:lnTo>
                <a:lnTo>
                  <a:pt x="6235132" y="413147"/>
                </a:lnTo>
                <a:lnTo>
                  <a:pt x="6273859" y="417125"/>
                </a:lnTo>
                <a:lnTo>
                  <a:pt x="6312587" y="420848"/>
                </a:lnTo>
                <a:lnTo>
                  <a:pt x="6351314" y="424325"/>
                </a:lnTo>
                <a:lnTo>
                  <a:pt x="6390042" y="427568"/>
                </a:lnTo>
                <a:lnTo>
                  <a:pt x="6428769" y="430587"/>
                </a:lnTo>
                <a:lnTo>
                  <a:pt x="6467497" y="433391"/>
                </a:lnTo>
                <a:lnTo>
                  <a:pt x="6506224" y="435991"/>
                </a:lnTo>
                <a:lnTo>
                  <a:pt x="6544952" y="438399"/>
                </a:lnTo>
                <a:lnTo>
                  <a:pt x="6583680" y="440623"/>
                </a:lnTo>
              </a:path>
            </a:pathLst>
          </a:custGeom>
          <a:noFill/>
          <a:ln w="25400">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22960" y="4297680"/>
            <a:ext cx="658368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0" y="1965960"/>
            <a:ext cx="3749039" cy="2377440"/>
          </a:xfrm>
          <a:prstGeom prst="rect">
            <a:avLst/>
          </a:prstGeom>
          <a:noFill/>
        </p:spPr>
        <p:txBody>
          <a:bodyPr wrap="square" lIns="18288" rIns="18288" tIns="0" bIns="0" anchor="t">
            <a:noAutofit/>
          </a:bodyPr>
          <a:lstStyle/>
          <a:p>
            <a:pPr algn="l">
              <a:lnSpc>
                <a:spcPct val="100000"/>
              </a:lnSpc>
              <a:spcBef>
                <a:spcPts val="0"/>
              </a:spcBef>
              <a:spcAft>
                <a:spcPts val="1400"/>
              </a:spcAft>
            </a:pPr>
            <a:r>
              <a:rPr sz="2600" b="1" i="0">
                <a:solidFill>
                  <a:srgbClr val="0072B2"/>
                </a:solidFill>
                <a:latin typeface="メイリオ"/>
                <a:ea typeface="メイリオ"/>
                <a:cs typeface="メイリオ"/>
              </a:rPr>
              <a:t>g</a:t>
            </a:r>
            <a:r>
              <a:rPr sz="2600" b="1" i="0" baseline="-25000">
                <a:solidFill>
                  <a:srgbClr val="0072B2"/>
                </a:solidFill>
                <a:latin typeface="メイリオ"/>
                <a:ea typeface="メイリオ"/>
                <a:cs typeface="メイリオ"/>
              </a:rPr>
              <a:t>1</a:t>
            </a:r>
            <a:r>
              <a:rPr sz="2600" b="1" i="0">
                <a:solidFill>
                  <a:srgbClr val="0072B2"/>
                </a:solidFill>
                <a:latin typeface="メイリオ"/>
                <a:ea typeface="メイリオ"/>
                <a:cs typeface="メイリオ"/>
              </a:rPr>
              <a:t> ＝ 前進波</a:t>
            </a:r>
          </a:p>
          <a:p>
            <a:pPr algn="l">
              <a:lnSpc>
                <a:spcPct val="100000"/>
              </a:lnSpc>
              <a:spcBef>
                <a:spcPts val="0"/>
              </a:spcBef>
              <a:spcAft>
                <a:spcPts val="1400"/>
              </a:spcAft>
            </a:pPr>
            <a:r>
              <a:rPr sz="2600" b="1" i="0">
                <a:solidFill>
                  <a:srgbClr val="D55E00"/>
                </a:solidFill>
                <a:latin typeface="メイリオ"/>
                <a:ea typeface="メイリオ"/>
                <a:cs typeface="メイリオ"/>
              </a:rPr>
              <a:t>g</a:t>
            </a:r>
            <a:r>
              <a:rPr sz="2600" b="1" i="0" baseline="-25000">
                <a:solidFill>
                  <a:srgbClr val="D55E00"/>
                </a:solidFill>
                <a:latin typeface="メイリオ"/>
                <a:ea typeface="メイリオ"/>
                <a:cs typeface="メイリオ"/>
              </a:rPr>
              <a:t>2</a:t>
            </a:r>
            <a:r>
              <a:rPr sz="2600" b="1" i="0">
                <a:solidFill>
                  <a:srgbClr val="D55E00"/>
                </a:solidFill>
                <a:latin typeface="メイリオ"/>
                <a:ea typeface="メイリオ"/>
                <a:cs typeface="メイリオ"/>
              </a:rPr>
              <a:t> ＝ 第一反射波</a:t>
            </a:r>
          </a:p>
          <a:p>
            <a:pPr algn="l">
              <a:lnSpc>
                <a:spcPct val="100000"/>
              </a:lnSpc>
              <a:spcBef>
                <a:spcPts val="0"/>
              </a:spcBef>
              <a:spcAft>
                <a:spcPts val="1400"/>
              </a:spcAft>
            </a:pPr>
            <a:r>
              <a:rPr sz="2600" b="1" i="0">
                <a:solidFill>
                  <a:srgbClr val="9A9A9A"/>
                </a:solidFill>
                <a:latin typeface="メイリオ"/>
                <a:ea typeface="メイリオ"/>
                <a:cs typeface="メイリオ"/>
              </a:rPr>
              <a:t>g</a:t>
            </a:r>
            <a:r>
              <a:rPr sz="2600" b="1" i="0" baseline="-25000">
                <a:solidFill>
                  <a:srgbClr val="9A9A9A"/>
                </a:solidFill>
                <a:latin typeface="メイリオ"/>
                <a:ea typeface="メイリオ"/>
                <a:cs typeface="メイリオ"/>
              </a:rPr>
              <a:t>3</a:t>
            </a:r>
            <a:r>
              <a:rPr sz="2600" b="1" i="0">
                <a:solidFill>
                  <a:srgbClr val="9A9A9A"/>
                </a:solidFill>
                <a:latin typeface="メイリオ"/>
                <a:ea typeface="メイリオ"/>
                <a:cs typeface="メイリオ"/>
              </a:rPr>
              <a:t> ＝ 後続成分</a:t>
            </a:r>
          </a:p>
        </p:txBody>
      </p:sp>
      <p:sp>
        <p:nvSpPr>
          <p:cNvPr id="18" name="Rounded Rectangle 17"/>
          <p:cNvSpPr/>
          <p:nvPr/>
        </p:nvSpPr>
        <p:spPr>
          <a:xfrm>
            <a:off x="822960" y="4617720"/>
            <a:ext cx="10698480" cy="109728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3000" b="1" i="0">
                <a:solidFill>
                  <a:srgbClr val="222222"/>
                </a:solidFill>
                <a:latin typeface="メイリオ"/>
                <a:ea typeface="メイリオ"/>
                <a:cs typeface="メイリオ"/>
              </a:rPr>
              <a:t>y(t) ＝ g</a:t>
            </a:r>
            <a:r>
              <a:rPr sz="3000" b="1" i="0" baseline="-25000">
                <a:solidFill>
                  <a:srgbClr val="222222"/>
                </a:solidFill>
                <a:latin typeface="メイリオ"/>
                <a:ea typeface="メイリオ"/>
                <a:cs typeface="メイリオ"/>
              </a:rPr>
              <a:t>1</a:t>
            </a:r>
            <a:r>
              <a:rPr sz="3000" b="1" i="0">
                <a:solidFill>
                  <a:srgbClr val="222222"/>
                </a:solidFill>
                <a:latin typeface="メイリオ"/>
                <a:ea typeface="メイリオ"/>
                <a:cs typeface="メイリオ"/>
              </a:rPr>
              <a:t>(t) ＋ g</a:t>
            </a:r>
            <a:r>
              <a:rPr sz="3000" b="1" i="0" baseline="-25000">
                <a:solidFill>
                  <a:srgbClr val="222222"/>
                </a:solidFill>
                <a:latin typeface="メイリオ"/>
                <a:ea typeface="メイリオ"/>
                <a:cs typeface="メイリオ"/>
              </a:rPr>
              <a:t>2</a:t>
            </a:r>
            <a:r>
              <a:rPr sz="3000" b="1" i="0">
                <a:solidFill>
                  <a:srgbClr val="222222"/>
                </a:solidFill>
                <a:latin typeface="メイリオ"/>
                <a:ea typeface="メイリオ"/>
                <a:cs typeface="メイリオ"/>
              </a:rPr>
              <a:t>(t) ＋ g</a:t>
            </a:r>
            <a:r>
              <a:rPr sz="3000" b="1" i="0" baseline="-25000">
                <a:solidFill>
                  <a:srgbClr val="222222"/>
                </a:solidFill>
                <a:latin typeface="メイリオ"/>
                <a:ea typeface="メイリオ"/>
                <a:cs typeface="メイリオ"/>
              </a:rPr>
              <a:t>3</a:t>
            </a:r>
            <a:r>
              <a:rPr sz="3000" b="1" i="0">
                <a:solidFill>
                  <a:srgbClr val="222222"/>
                </a:solidFill>
                <a:latin typeface="メイリオ"/>
                <a:ea typeface="メイリオ"/>
                <a:cs typeface="メイリオ"/>
              </a:rPr>
              <a:t>(t)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良し悪しの測り方</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22</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最小二乗法（least squares）。PPG 分解での実装例は Couceiro 2015（PMID 26235798）</a:t>
            </a:r>
          </a:p>
        </p:txBody>
      </p:sp>
      <p:sp>
        <p:nvSpPr>
          <p:cNvPr id="12" name="Freeform 11"/>
          <p:cNvSpPr/>
          <p:nvPr/>
        </p:nvSpPr>
        <p:spPr>
          <a:xfrm>
            <a:off x="822960" y="1966671"/>
            <a:ext cx="6583680" cy="2264053"/>
          </a:xfrm>
          <a:custGeom>
            <a:avLst/>
            <a:gdLst/>
            <a:ahLst/>
            <a:cxnLst/>
            <a:rect l="l" t="t" r="r" b="b"/>
            <a:pathLst>
              <a:path w="6583680" h="2264053">
                <a:moveTo>
                  <a:pt x="0" y="2247653"/>
                </a:moveTo>
                <a:lnTo>
                  <a:pt x="38727" y="2237613"/>
                </a:lnTo>
                <a:lnTo>
                  <a:pt x="77455" y="2225318"/>
                </a:lnTo>
                <a:lnTo>
                  <a:pt x="116182" y="2210381"/>
                </a:lnTo>
                <a:lnTo>
                  <a:pt x="154910" y="2192381"/>
                </a:lnTo>
                <a:lnTo>
                  <a:pt x="193637" y="2170865"/>
                </a:lnTo>
                <a:lnTo>
                  <a:pt x="232365" y="2145355"/>
                </a:lnTo>
                <a:lnTo>
                  <a:pt x="271092" y="2115358"/>
                </a:lnTo>
                <a:lnTo>
                  <a:pt x="309820" y="2080381"/>
                </a:lnTo>
                <a:lnTo>
                  <a:pt x="348547" y="2039939"/>
                </a:lnTo>
                <a:lnTo>
                  <a:pt x="387275" y="1993576"/>
                </a:lnTo>
                <a:lnTo>
                  <a:pt x="426002" y="1940887"/>
                </a:lnTo>
                <a:lnTo>
                  <a:pt x="464730" y="1881534"/>
                </a:lnTo>
                <a:lnTo>
                  <a:pt x="503457" y="1815272"/>
                </a:lnTo>
                <a:lnTo>
                  <a:pt x="542185" y="1741972"/>
                </a:lnTo>
                <a:lnTo>
                  <a:pt x="580912" y="1661643"/>
                </a:lnTo>
                <a:lnTo>
                  <a:pt x="619640" y="1574451"/>
                </a:lnTo>
                <a:lnTo>
                  <a:pt x="658368" y="1480741"/>
                </a:lnTo>
                <a:lnTo>
                  <a:pt x="697095" y="1381048"/>
                </a:lnTo>
                <a:lnTo>
                  <a:pt x="735823" y="1276104"/>
                </a:lnTo>
                <a:lnTo>
                  <a:pt x="774550" y="1166845"/>
                </a:lnTo>
                <a:lnTo>
                  <a:pt x="813278" y="1054401"/>
                </a:lnTo>
                <a:lnTo>
                  <a:pt x="852005" y="940083"/>
                </a:lnTo>
                <a:lnTo>
                  <a:pt x="890733" y="825366"/>
                </a:lnTo>
                <a:lnTo>
                  <a:pt x="929460" y="711855"/>
                </a:lnTo>
                <a:lnTo>
                  <a:pt x="968188" y="601249"/>
                </a:lnTo>
                <a:lnTo>
                  <a:pt x="1006915" y="495297"/>
                </a:lnTo>
                <a:lnTo>
                  <a:pt x="1045643" y="395752"/>
                </a:lnTo>
                <a:lnTo>
                  <a:pt x="1084370" y="304314"/>
                </a:lnTo>
                <a:lnTo>
                  <a:pt x="1123098" y="222582"/>
                </a:lnTo>
                <a:lnTo>
                  <a:pt x="1161825" y="151994"/>
                </a:lnTo>
                <a:lnTo>
                  <a:pt x="1200553" y="93786"/>
                </a:lnTo>
                <a:lnTo>
                  <a:pt x="1239280" y="48943"/>
                </a:lnTo>
                <a:lnTo>
                  <a:pt x="1278008" y="18162"/>
                </a:lnTo>
                <a:lnTo>
                  <a:pt x="1316736" y="1830"/>
                </a:lnTo>
                <a:lnTo>
                  <a:pt x="1355463" y="0"/>
                </a:lnTo>
                <a:lnTo>
                  <a:pt x="1394191" y="12397"/>
                </a:lnTo>
                <a:lnTo>
                  <a:pt x="1432918" y="38415"/>
                </a:lnTo>
                <a:lnTo>
                  <a:pt x="1471646" y="77143"/>
                </a:lnTo>
                <a:lnTo>
                  <a:pt x="1510373" y="127390"/>
                </a:lnTo>
                <a:lnTo>
                  <a:pt x="1549101" y="187727"/>
                </a:lnTo>
                <a:lnTo>
                  <a:pt x="1587828" y="256533"/>
                </a:lnTo>
                <a:lnTo>
                  <a:pt x="1626556" y="332047"/>
                </a:lnTo>
                <a:lnTo>
                  <a:pt x="1665283" y="412425"/>
                </a:lnTo>
                <a:lnTo>
                  <a:pt x="1704011" y="495792"/>
                </a:lnTo>
                <a:lnTo>
                  <a:pt x="1742738" y="580304"/>
                </a:lnTo>
                <a:lnTo>
                  <a:pt x="1781466" y="664193"/>
                </a:lnTo>
                <a:lnTo>
                  <a:pt x="1820193" y="745818"/>
                </a:lnTo>
                <a:lnTo>
                  <a:pt x="1858921" y="823700"/>
                </a:lnTo>
                <a:lnTo>
                  <a:pt x="1897648" y="896560"/>
                </a:lnTo>
                <a:lnTo>
                  <a:pt x="1936376" y="963333"/>
                </a:lnTo>
                <a:lnTo>
                  <a:pt x="1975104" y="1023192"/>
                </a:lnTo>
                <a:lnTo>
                  <a:pt x="2013831" y="1075546"/>
                </a:lnTo>
                <a:lnTo>
                  <a:pt x="2052559" y="1120041"/>
                </a:lnTo>
                <a:lnTo>
                  <a:pt x="2091286" y="1156552"/>
                </a:lnTo>
                <a:lnTo>
                  <a:pt x="2130014" y="1185164"/>
                </a:lnTo>
                <a:lnTo>
                  <a:pt x="2168741" y="1206155"/>
                </a:lnTo>
                <a:lnTo>
                  <a:pt x="2207469" y="1219969"/>
                </a:lnTo>
                <a:lnTo>
                  <a:pt x="2246196" y="1227191"/>
                </a:lnTo>
                <a:lnTo>
                  <a:pt x="2284924" y="1228518"/>
                </a:lnTo>
                <a:lnTo>
                  <a:pt x="2323651" y="1224734"/>
                </a:lnTo>
                <a:lnTo>
                  <a:pt x="2362379" y="1216676"/>
                </a:lnTo>
                <a:lnTo>
                  <a:pt x="2401106" y="1205215"/>
                </a:lnTo>
                <a:lnTo>
                  <a:pt x="2439834" y="1191228"/>
                </a:lnTo>
                <a:lnTo>
                  <a:pt x="2478561" y="1175577"/>
                </a:lnTo>
                <a:lnTo>
                  <a:pt x="2517289" y="1159089"/>
                </a:lnTo>
                <a:lnTo>
                  <a:pt x="2556016" y="1142544"/>
                </a:lnTo>
                <a:lnTo>
                  <a:pt x="2594744" y="1126658"/>
                </a:lnTo>
                <a:lnTo>
                  <a:pt x="2633472" y="1112071"/>
                </a:lnTo>
                <a:lnTo>
                  <a:pt x="2672199" y="1099347"/>
                </a:lnTo>
                <a:lnTo>
                  <a:pt x="2710927" y="1088961"/>
                </a:lnTo>
                <a:lnTo>
                  <a:pt x="2749654" y="1081301"/>
                </a:lnTo>
                <a:lnTo>
                  <a:pt x="2788382" y="1076664"/>
                </a:lnTo>
                <a:lnTo>
                  <a:pt x="2827109" y="1075262"/>
                </a:lnTo>
                <a:lnTo>
                  <a:pt x="2865837" y="1077221"/>
                </a:lnTo>
                <a:lnTo>
                  <a:pt x="2904564" y="1082587"/>
                </a:lnTo>
                <a:lnTo>
                  <a:pt x="2943292" y="1091331"/>
                </a:lnTo>
                <a:lnTo>
                  <a:pt x="2982019" y="1103357"/>
                </a:lnTo>
                <a:lnTo>
                  <a:pt x="3020747" y="1118509"/>
                </a:lnTo>
                <a:lnTo>
                  <a:pt x="3059474" y="1136577"/>
                </a:lnTo>
                <a:lnTo>
                  <a:pt x="3098202" y="1157308"/>
                </a:lnTo>
                <a:lnTo>
                  <a:pt x="3136929" y="1180416"/>
                </a:lnTo>
                <a:lnTo>
                  <a:pt x="3175657" y="1205586"/>
                </a:lnTo>
                <a:lnTo>
                  <a:pt x="3214384" y="1232486"/>
                </a:lnTo>
                <a:lnTo>
                  <a:pt x="3253112" y="1260775"/>
                </a:lnTo>
                <a:lnTo>
                  <a:pt x="3291840" y="1290109"/>
                </a:lnTo>
                <a:lnTo>
                  <a:pt x="3330567" y="1320152"/>
                </a:lnTo>
                <a:lnTo>
                  <a:pt x="3369295" y="1350576"/>
                </a:lnTo>
                <a:lnTo>
                  <a:pt x="3408022" y="1381075"/>
                </a:lnTo>
                <a:lnTo>
                  <a:pt x="3446750" y="1411363"/>
                </a:lnTo>
                <a:lnTo>
                  <a:pt x="3485477" y="1441181"/>
                </a:lnTo>
                <a:lnTo>
                  <a:pt x="3524205" y="1470299"/>
                </a:lnTo>
                <a:lnTo>
                  <a:pt x="3562932" y="1498520"/>
                </a:lnTo>
                <a:lnTo>
                  <a:pt x="3601660" y="1525679"/>
                </a:lnTo>
                <a:lnTo>
                  <a:pt x="3640387" y="1551643"/>
                </a:lnTo>
                <a:lnTo>
                  <a:pt x="3679115" y="1576315"/>
                </a:lnTo>
                <a:lnTo>
                  <a:pt x="3717842" y="1599628"/>
                </a:lnTo>
                <a:lnTo>
                  <a:pt x="3756570" y="1621545"/>
                </a:lnTo>
                <a:lnTo>
                  <a:pt x="3795297" y="1642056"/>
                </a:lnTo>
                <a:lnTo>
                  <a:pt x="3834025" y="1661178"/>
                </a:lnTo>
                <a:lnTo>
                  <a:pt x="3872752" y="1678951"/>
                </a:lnTo>
                <a:lnTo>
                  <a:pt x="3911480" y="1695432"/>
                </a:lnTo>
                <a:lnTo>
                  <a:pt x="3950208" y="1710695"/>
                </a:lnTo>
                <a:lnTo>
                  <a:pt x="3988935" y="1724828"/>
                </a:lnTo>
                <a:lnTo>
                  <a:pt x="4027663" y="1737928"/>
                </a:lnTo>
                <a:lnTo>
                  <a:pt x="4066390" y="1750099"/>
                </a:lnTo>
                <a:lnTo>
                  <a:pt x="4105118" y="1761448"/>
                </a:lnTo>
                <a:lnTo>
                  <a:pt x="4143845" y="1772085"/>
                </a:lnTo>
                <a:lnTo>
                  <a:pt x="4182573" y="1782119"/>
                </a:lnTo>
                <a:lnTo>
                  <a:pt x="4221300" y="1791654"/>
                </a:lnTo>
                <a:lnTo>
                  <a:pt x="4260028" y="1800792"/>
                </a:lnTo>
                <a:lnTo>
                  <a:pt x="4298755" y="1809627"/>
                </a:lnTo>
                <a:lnTo>
                  <a:pt x="4337483" y="1818248"/>
                </a:lnTo>
                <a:lnTo>
                  <a:pt x="4376210" y="1826733"/>
                </a:lnTo>
                <a:lnTo>
                  <a:pt x="4414938" y="1835155"/>
                </a:lnTo>
                <a:lnTo>
                  <a:pt x="4453665" y="1843576"/>
                </a:lnTo>
                <a:lnTo>
                  <a:pt x="4492393" y="1852049"/>
                </a:lnTo>
                <a:lnTo>
                  <a:pt x="4531120" y="1860618"/>
                </a:lnTo>
                <a:lnTo>
                  <a:pt x="4569848" y="1869320"/>
                </a:lnTo>
                <a:lnTo>
                  <a:pt x="4608576" y="1878181"/>
                </a:lnTo>
                <a:lnTo>
                  <a:pt x="4647303" y="1887221"/>
                </a:lnTo>
                <a:lnTo>
                  <a:pt x="4686031" y="1896453"/>
                </a:lnTo>
                <a:lnTo>
                  <a:pt x="4724758" y="1905882"/>
                </a:lnTo>
                <a:lnTo>
                  <a:pt x="4763486" y="1915507"/>
                </a:lnTo>
                <a:lnTo>
                  <a:pt x="4802213" y="1925323"/>
                </a:lnTo>
                <a:lnTo>
                  <a:pt x="4840941" y="1935317"/>
                </a:lnTo>
                <a:lnTo>
                  <a:pt x="4879668" y="1945477"/>
                </a:lnTo>
                <a:lnTo>
                  <a:pt x="4918396" y="1955782"/>
                </a:lnTo>
                <a:lnTo>
                  <a:pt x="4957123" y="1966212"/>
                </a:lnTo>
                <a:lnTo>
                  <a:pt x="4995851" y="1976743"/>
                </a:lnTo>
                <a:lnTo>
                  <a:pt x="5034578" y="1987350"/>
                </a:lnTo>
                <a:lnTo>
                  <a:pt x="5073306" y="1998006"/>
                </a:lnTo>
                <a:lnTo>
                  <a:pt x="5112033" y="2008685"/>
                </a:lnTo>
                <a:lnTo>
                  <a:pt x="5150761" y="2019358"/>
                </a:lnTo>
                <a:lnTo>
                  <a:pt x="5189488" y="2029998"/>
                </a:lnTo>
                <a:lnTo>
                  <a:pt x="5228216" y="2040578"/>
                </a:lnTo>
                <a:lnTo>
                  <a:pt x="5266944" y="2051072"/>
                </a:lnTo>
                <a:lnTo>
                  <a:pt x="5305671" y="2061453"/>
                </a:lnTo>
                <a:lnTo>
                  <a:pt x="5344399" y="2071698"/>
                </a:lnTo>
                <a:lnTo>
                  <a:pt x="5383126" y="2081783"/>
                </a:lnTo>
                <a:lnTo>
                  <a:pt x="5421854" y="2091686"/>
                </a:lnTo>
                <a:lnTo>
                  <a:pt x="5460581" y="2101389"/>
                </a:lnTo>
                <a:lnTo>
                  <a:pt x="5499309" y="2110871"/>
                </a:lnTo>
                <a:lnTo>
                  <a:pt x="5538036" y="2120118"/>
                </a:lnTo>
                <a:lnTo>
                  <a:pt x="5576764" y="2129114"/>
                </a:lnTo>
                <a:lnTo>
                  <a:pt x="5615491" y="2137846"/>
                </a:lnTo>
                <a:lnTo>
                  <a:pt x="5654219" y="2146303"/>
                </a:lnTo>
                <a:lnTo>
                  <a:pt x="5692946" y="2154476"/>
                </a:lnTo>
                <a:lnTo>
                  <a:pt x="5731674" y="2162357"/>
                </a:lnTo>
                <a:lnTo>
                  <a:pt x="5770401" y="2169940"/>
                </a:lnTo>
                <a:lnTo>
                  <a:pt x="5809129" y="2177222"/>
                </a:lnTo>
                <a:lnTo>
                  <a:pt x="5847856" y="2184200"/>
                </a:lnTo>
                <a:lnTo>
                  <a:pt x="5886584" y="2190872"/>
                </a:lnTo>
                <a:lnTo>
                  <a:pt x="5925312" y="2197240"/>
                </a:lnTo>
                <a:lnTo>
                  <a:pt x="5964039" y="2203304"/>
                </a:lnTo>
                <a:lnTo>
                  <a:pt x="6002767" y="2209068"/>
                </a:lnTo>
                <a:lnTo>
                  <a:pt x="6041494" y="2214535"/>
                </a:lnTo>
                <a:lnTo>
                  <a:pt x="6080222" y="2219711"/>
                </a:lnTo>
                <a:lnTo>
                  <a:pt x="6118949" y="2224602"/>
                </a:lnTo>
                <a:lnTo>
                  <a:pt x="6157677" y="2229215"/>
                </a:lnTo>
                <a:lnTo>
                  <a:pt x="6196404" y="2233556"/>
                </a:lnTo>
                <a:lnTo>
                  <a:pt x="6235132" y="2237635"/>
                </a:lnTo>
                <a:lnTo>
                  <a:pt x="6273859" y="2241459"/>
                </a:lnTo>
                <a:lnTo>
                  <a:pt x="6312587" y="2245039"/>
                </a:lnTo>
                <a:lnTo>
                  <a:pt x="6351314" y="2248383"/>
                </a:lnTo>
                <a:lnTo>
                  <a:pt x="6390042" y="2251501"/>
                </a:lnTo>
                <a:lnTo>
                  <a:pt x="6428769" y="2254403"/>
                </a:lnTo>
                <a:lnTo>
                  <a:pt x="6467497" y="2257099"/>
                </a:lnTo>
                <a:lnTo>
                  <a:pt x="6506224" y="2259600"/>
                </a:lnTo>
                <a:lnTo>
                  <a:pt x="6544952" y="2261915"/>
                </a:lnTo>
                <a:lnTo>
                  <a:pt x="6583680" y="2264053"/>
                </a:lnTo>
              </a:path>
            </a:pathLst>
          </a:custGeom>
          <a:noFill/>
          <a:ln w="3556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822960" y="1967415"/>
            <a:ext cx="6583680" cy="2263308"/>
          </a:xfrm>
          <a:custGeom>
            <a:avLst/>
            <a:gdLst/>
            <a:ahLst/>
            <a:cxnLst/>
            <a:rect l="l" t="t" r="r" b="b"/>
            <a:pathLst>
              <a:path w="6583680" h="2263308">
                <a:moveTo>
                  <a:pt x="0" y="2246837"/>
                </a:moveTo>
                <a:lnTo>
                  <a:pt x="38727" y="2236779"/>
                </a:lnTo>
                <a:lnTo>
                  <a:pt x="77455" y="2224462"/>
                </a:lnTo>
                <a:lnTo>
                  <a:pt x="116182" y="2209499"/>
                </a:lnTo>
                <a:lnTo>
                  <a:pt x="154910" y="2191467"/>
                </a:lnTo>
                <a:lnTo>
                  <a:pt x="193637" y="2169912"/>
                </a:lnTo>
                <a:lnTo>
                  <a:pt x="232365" y="2144356"/>
                </a:lnTo>
                <a:lnTo>
                  <a:pt x="271092" y="2114306"/>
                </a:lnTo>
                <a:lnTo>
                  <a:pt x="309820" y="2079264"/>
                </a:lnTo>
                <a:lnTo>
                  <a:pt x="348547" y="2038747"/>
                </a:lnTo>
                <a:lnTo>
                  <a:pt x="387275" y="1992296"/>
                </a:lnTo>
                <a:lnTo>
                  <a:pt x="426002" y="1939506"/>
                </a:lnTo>
                <a:lnTo>
                  <a:pt x="464730" y="1880036"/>
                </a:lnTo>
                <a:lnTo>
                  <a:pt x="503457" y="1813641"/>
                </a:lnTo>
                <a:lnTo>
                  <a:pt x="542185" y="1740190"/>
                </a:lnTo>
                <a:lnTo>
                  <a:pt x="580912" y="1659692"/>
                </a:lnTo>
                <a:lnTo>
                  <a:pt x="619640" y="1572313"/>
                </a:lnTo>
                <a:lnTo>
                  <a:pt x="658368" y="1478397"/>
                </a:lnTo>
                <a:lnTo>
                  <a:pt x="697095" y="1378481"/>
                </a:lnTo>
                <a:lnTo>
                  <a:pt x="735823" y="1273298"/>
                </a:lnTo>
                <a:lnTo>
                  <a:pt x="774550" y="1163787"/>
                </a:lnTo>
                <a:lnTo>
                  <a:pt x="813278" y="1051081"/>
                </a:lnTo>
                <a:lnTo>
                  <a:pt x="852005" y="936500"/>
                </a:lnTo>
                <a:lnTo>
                  <a:pt x="890733" y="821525"/>
                </a:lnTo>
                <a:lnTo>
                  <a:pt x="929460" y="707769"/>
                </a:lnTo>
                <a:lnTo>
                  <a:pt x="968188" y="596946"/>
                </a:lnTo>
                <a:lnTo>
                  <a:pt x="1006915" y="490820"/>
                </a:lnTo>
                <a:lnTo>
                  <a:pt x="1045643" y="391161"/>
                </a:lnTo>
                <a:lnTo>
                  <a:pt x="1084370" y="299691"/>
                </a:lnTo>
                <a:lnTo>
                  <a:pt x="1123098" y="218034"/>
                </a:lnTo>
                <a:lnTo>
                  <a:pt x="1161825" y="147657"/>
                </a:lnTo>
                <a:lnTo>
                  <a:pt x="1200553" y="89828"/>
                </a:lnTo>
                <a:lnTo>
                  <a:pt x="1239280" y="45567"/>
                </a:lnTo>
                <a:lnTo>
                  <a:pt x="1278008" y="15611"/>
                </a:lnTo>
                <a:lnTo>
                  <a:pt x="1316736" y="388"/>
                </a:lnTo>
                <a:lnTo>
                  <a:pt x="1355463" y="0"/>
                </a:lnTo>
                <a:lnTo>
                  <a:pt x="1394191" y="14215"/>
                </a:lnTo>
                <a:lnTo>
                  <a:pt x="1432918" y="42478"/>
                </a:lnTo>
                <a:lnTo>
                  <a:pt x="1471646" y="83924"/>
                </a:lnTo>
                <a:lnTo>
                  <a:pt x="1510373" y="137413"/>
                </a:lnTo>
                <a:lnTo>
                  <a:pt x="1549101" y="201560"/>
                </a:lnTo>
                <a:lnTo>
                  <a:pt x="1587828" y="274788"/>
                </a:lnTo>
                <a:lnTo>
                  <a:pt x="1626556" y="355370"/>
                </a:lnTo>
                <a:lnTo>
                  <a:pt x="1665283" y="441493"/>
                </a:lnTo>
                <a:lnTo>
                  <a:pt x="1704011" y="531303"/>
                </a:lnTo>
                <a:lnTo>
                  <a:pt x="1742738" y="622965"/>
                </a:lnTo>
                <a:lnTo>
                  <a:pt x="1781466" y="714709"/>
                </a:lnTo>
                <a:lnTo>
                  <a:pt x="1820193" y="804878"/>
                </a:lnTo>
                <a:lnTo>
                  <a:pt x="1858921" y="891960"/>
                </a:lnTo>
                <a:lnTo>
                  <a:pt x="1897648" y="974626"/>
                </a:lnTo>
                <a:lnTo>
                  <a:pt x="1936376" y="1051746"/>
                </a:lnTo>
                <a:lnTo>
                  <a:pt x="1975104" y="1122404"/>
                </a:lnTo>
                <a:lnTo>
                  <a:pt x="2013831" y="1185905"/>
                </a:lnTo>
                <a:lnTo>
                  <a:pt x="2052559" y="1241773"/>
                </a:lnTo>
                <a:lnTo>
                  <a:pt x="2091286" y="1289742"/>
                </a:lnTo>
                <a:lnTo>
                  <a:pt x="2130014" y="1329739"/>
                </a:lnTo>
                <a:lnTo>
                  <a:pt x="2168741" y="1361870"/>
                </a:lnTo>
                <a:lnTo>
                  <a:pt x="2207469" y="1386398"/>
                </a:lnTo>
                <a:lnTo>
                  <a:pt x="2246196" y="1403716"/>
                </a:lnTo>
                <a:lnTo>
                  <a:pt x="2284924" y="1414324"/>
                </a:lnTo>
                <a:lnTo>
                  <a:pt x="2323651" y="1418808"/>
                </a:lnTo>
                <a:lnTo>
                  <a:pt x="2362379" y="1417810"/>
                </a:lnTo>
                <a:lnTo>
                  <a:pt x="2401106" y="1412016"/>
                </a:lnTo>
                <a:lnTo>
                  <a:pt x="2439834" y="1402126"/>
                </a:lnTo>
                <a:lnTo>
                  <a:pt x="2478561" y="1388845"/>
                </a:lnTo>
                <a:lnTo>
                  <a:pt x="2517289" y="1372864"/>
                </a:lnTo>
                <a:lnTo>
                  <a:pt x="2556016" y="1354852"/>
                </a:lnTo>
                <a:lnTo>
                  <a:pt x="2594744" y="1335441"/>
                </a:lnTo>
                <a:lnTo>
                  <a:pt x="2633472" y="1315223"/>
                </a:lnTo>
                <a:lnTo>
                  <a:pt x="2672199" y="1294744"/>
                </a:lnTo>
                <a:lnTo>
                  <a:pt x="2710927" y="1274500"/>
                </a:lnTo>
                <a:lnTo>
                  <a:pt x="2749654" y="1254934"/>
                </a:lnTo>
                <a:lnTo>
                  <a:pt x="2788382" y="1236440"/>
                </a:lnTo>
                <a:lnTo>
                  <a:pt x="2827109" y="1219354"/>
                </a:lnTo>
                <a:lnTo>
                  <a:pt x="2865837" y="1203967"/>
                </a:lnTo>
                <a:lnTo>
                  <a:pt x="2904564" y="1190515"/>
                </a:lnTo>
                <a:lnTo>
                  <a:pt x="2943292" y="1179191"/>
                </a:lnTo>
                <a:lnTo>
                  <a:pt x="2982019" y="1170138"/>
                </a:lnTo>
                <a:lnTo>
                  <a:pt x="3020747" y="1163461"/>
                </a:lnTo>
                <a:lnTo>
                  <a:pt x="3059474" y="1159222"/>
                </a:lnTo>
                <a:lnTo>
                  <a:pt x="3098202" y="1157448"/>
                </a:lnTo>
                <a:lnTo>
                  <a:pt x="3136929" y="1158131"/>
                </a:lnTo>
                <a:lnTo>
                  <a:pt x="3175657" y="1161231"/>
                </a:lnTo>
                <a:lnTo>
                  <a:pt x="3214384" y="1166682"/>
                </a:lnTo>
                <a:lnTo>
                  <a:pt x="3253112" y="1174393"/>
                </a:lnTo>
                <a:lnTo>
                  <a:pt x="3291840" y="1184251"/>
                </a:lnTo>
                <a:lnTo>
                  <a:pt x="3330567" y="1196125"/>
                </a:lnTo>
                <a:lnTo>
                  <a:pt x="3369295" y="1209868"/>
                </a:lnTo>
                <a:lnTo>
                  <a:pt x="3408022" y="1225322"/>
                </a:lnTo>
                <a:lnTo>
                  <a:pt x="3446750" y="1242319"/>
                </a:lnTo>
                <a:lnTo>
                  <a:pt x="3485477" y="1260687"/>
                </a:lnTo>
                <a:lnTo>
                  <a:pt x="3524205" y="1280247"/>
                </a:lnTo>
                <a:lnTo>
                  <a:pt x="3562932" y="1300825"/>
                </a:lnTo>
                <a:lnTo>
                  <a:pt x="3601660" y="1322244"/>
                </a:lnTo>
                <a:lnTo>
                  <a:pt x="3640387" y="1344335"/>
                </a:lnTo>
                <a:lnTo>
                  <a:pt x="3679115" y="1366934"/>
                </a:lnTo>
                <a:lnTo>
                  <a:pt x="3717842" y="1389886"/>
                </a:lnTo>
                <a:lnTo>
                  <a:pt x="3756570" y="1413045"/>
                </a:lnTo>
                <a:lnTo>
                  <a:pt x="3795297" y="1436278"/>
                </a:lnTo>
                <a:lnTo>
                  <a:pt x="3834025" y="1459462"/>
                </a:lnTo>
                <a:lnTo>
                  <a:pt x="3872752" y="1482489"/>
                </a:lnTo>
                <a:lnTo>
                  <a:pt x="3911480" y="1505263"/>
                </a:lnTo>
                <a:lnTo>
                  <a:pt x="3950208" y="1527703"/>
                </a:lnTo>
                <a:lnTo>
                  <a:pt x="3988935" y="1549741"/>
                </a:lnTo>
                <a:lnTo>
                  <a:pt x="4027663" y="1571320"/>
                </a:lnTo>
                <a:lnTo>
                  <a:pt x="4066390" y="1592398"/>
                </a:lnTo>
                <a:lnTo>
                  <a:pt x="4105118" y="1612946"/>
                </a:lnTo>
                <a:lnTo>
                  <a:pt x="4143845" y="1632942"/>
                </a:lnTo>
                <a:lnTo>
                  <a:pt x="4182573" y="1652378"/>
                </a:lnTo>
                <a:lnTo>
                  <a:pt x="4221300" y="1671253"/>
                </a:lnTo>
                <a:lnTo>
                  <a:pt x="4260028" y="1689576"/>
                </a:lnTo>
                <a:lnTo>
                  <a:pt x="4298755" y="1707359"/>
                </a:lnTo>
                <a:lnTo>
                  <a:pt x="4337483" y="1724623"/>
                </a:lnTo>
                <a:lnTo>
                  <a:pt x="4376210" y="1741391"/>
                </a:lnTo>
                <a:lnTo>
                  <a:pt x="4414938" y="1757693"/>
                </a:lnTo>
                <a:lnTo>
                  <a:pt x="4453665" y="1773556"/>
                </a:lnTo>
                <a:lnTo>
                  <a:pt x="4492393" y="1789013"/>
                </a:lnTo>
                <a:lnTo>
                  <a:pt x="4531120" y="1804095"/>
                </a:lnTo>
                <a:lnTo>
                  <a:pt x="4569848" y="1818832"/>
                </a:lnTo>
                <a:lnTo>
                  <a:pt x="4608576" y="1833255"/>
                </a:lnTo>
                <a:lnTo>
                  <a:pt x="4647303" y="1847392"/>
                </a:lnTo>
                <a:lnTo>
                  <a:pt x="4686031" y="1861268"/>
                </a:lnTo>
                <a:lnTo>
                  <a:pt x="4724758" y="1874907"/>
                </a:lnTo>
                <a:lnTo>
                  <a:pt x="4763486" y="1888331"/>
                </a:lnTo>
                <a:lnTo>
                  <a:pt x="4802213" y="1901555"/>
                </a:lnTo>
                <a:lnTo>
                  <a:pt x="4840941" y="1914594"/>
                </a:lnTo>
                <a:lnTo>
                  <a:pt x="4879668" y="1927460"/>
                </a:lnTo>
                <a:lnTo>
                  <a:pt x="4918396" y="1940160"/>
                </a:lnTo>
                <a:lnTo>
                  <a:pt x="4957123" y="1952700"/>
                </a:lnTo>
                <a:lnTo>
                  <a:pt x="4995851" y="1965082"/>
                </a:lnTo>
                <a:lnTo>
                  <a:pt x="5034578" y="1977305"/>
                </a:lnTo>
                <a:lnTo>
                  <a:pt x="5073306" y="1989367"/>
                </a:lnTo>
                <a:lnTo>
                  <a:pt x="5112033" y="2001262"/>
                </a:lnTo>
                <a:lnTo>
                  <a:pt x="5150761" y="2012984"/>
                </a:lnTo>
                <a:lnTo>
                  <a:pt x="5189488" y="2024525"/>
                </a:lnTo>
                <a:lnTo>
                  <a:pt x="5228216" y="2035876"/>
                </a:lnTo>
                <a:lnTo>
                  <a:pt x="5266944" y="2047025"/>
                </a:lnTo>
                <a:lnTo>
                  <a:pt x="5305671" y="2057964"/>
                </a:lnTo>
                <a:lnTo>
                  <a:pt x="5344399" y="2068679"/>
                </a:lnTo>
                <a:lnTo>
                  <a:pt x="5383126" y="2079161"/>
                </a:lnTo>
                <a:lnTo>
                  <a:pt x="5421854" y="2089397"/>
                </a:lnTo>
                <a:lnTo>
                  <a:pt x="5460581" y="2099377"/>
                </a:lnTo>
                <a:lnTo>
                  <a:pt x="5499309" y="2109091"/>
                </a:lnTo>
                <a:lnTo>
                  <a:pt x="5538036" y="2118530"/>
                </a:lnTo>
                <a:lnTo>
                  <a:pt x="5576764" y="2127684"/>
                </a:lnTo>
                <a:lnTo>
                  <a:pt x="5615491" y="2136547"/>
                </a:lnTo>
                <a:lnTo>
                  <a:pt x="5654219" y="2145111"/>
                </a:lnTo>
                <a:lnTo>
                  <a:pt x="5692946" y="2153372"/>
                </a:lnTo>
                <a:lnTo>
                  <a:pt x="5731674" y="2161325"/>
                </a:lnTo>
                <a:lnTo>
                  <a:pt x="5770401" y="2168966"/>
                </a:lnTo>
                <a:lnTo>
                  <a:pt x="5809129" y="2176295"/>
                </a:lnTo>
                <a:lnTo>
                  <a:pt x="5847856" y="2183311"/>
                </a:lnTo>
                <a:lnTo>
                  <a:pt x="5886584" y="2190013"/>
                </a:lnTo>
                <a:lnTo>
                  <a:pt x="5925312" y="2196405"/>
                </a:lnTo>
                <a:lnTo>
                  <a:pt x="5964039" y="2202489"/>
                </a:lnTo>
                <a:lnTo>
                  <a:pt x="6002767" y="2208268"/>
                </a:lnTo>
                <a:lnTo>
                  <a:pt x="6041494" y="2213748"/>
                </a:lnTo>
                <a:lnTo>
                  <a:pt x="6080222" y="2218933"/>
                </a:lnTo>
                <a:lnTo>
                  <a:pt x="6118949" y="2223832"/>
                </a:lnTo>
                <a:lnTo>
                  <a:pt x="6157677" y="2228450"/>
                </a:lnTo>
                <a:lnTo>
                  <a:pt x="6196404" y="2232796"/>
                </a:lnTo>
                <a:lnTo>
                  <a:pt x="6235132" y="2236879"/>
                </a:lnTo>
                <a:lnTo>
                  <a:pt x="6273859" y="2240706"/>
                </a:lnTo>
                <a:lnTo>
                  <a:pt x="6312587" y="2244288"/>
                </a:lnTo>
                <a:lnTo>
                  <a:pt x="6351314" y="2247633"/>
                </a:lnTo>
                <a:lnTo>
                  <a:pt x="6390042" y="2250753"/>
                </a:lnTo>
                <a:lnTo>
                  <a:pt x="6428769" y="2253656"/>
                </a:lnTo>
                <a:lnTo>
                  <a:pt x="6467497" y="2256353"/>
                </a:lnTo>
                <a:lnTo>
                  <a:pt x="6506224" y="2258854"/>
                </a:lnTo>
                <a:lnTo>
                  <a:pt x="6544952" y="2261169"/>
                </a:lnTo>
                <a:lnTo>
                  <a:pt x="6583680" y="2263308"/>
                </a:lnTo>
              </a:path>
            </a:pathLst>
          </a:custGeom>
          <a:noFill/>
          <a:ln w="30480">
            <a:solidFill>
              <a:srgbClr val="00A8A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822960" y="4251960"/>
            <a:ext cx="658368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798064" y="2989863"/>
            <a:ext cx="0" cy="99956"/>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324758" y="3132405"/>
            <a:ext cx="0" cy="214547"/>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851452" y="3088568"/>
            <a:ext cx="0" cy="412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378147" y="3264051"/>
            <a:ext cx="0" cy="195576"/>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904841" y="3568097"/>
            <a:ext cx="0" cy="153305"/>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0" y="2011680"/>
            <a:ext cx="3749039" cy="2194560"/>
          </a:xfrm>
          <a:prstGeom prst="rect">
            <a:avLst/>
          </a:prstGeom>
          <a:noFill/>
        </p:spPr>
        <p:txBody>
          <a:bodyPr wrap="square" lIns="18288" rIns="18288" tIns="0" bIns="0" anchor="t">
            <a:noAutofit/>
          </a:bodyPr>
          <a:lstStyle/>
          <a:p>
            <a:pPr algn="l">
              <a:lnSpc>
                <a:spcPct val="100000"/>
              </a:lnSpc>
              <a:spcBef>
                <a:spcPts val="0"/>
              </a:spcBef>
              <a:spcAft>
                <a:spcPts val="1400"/>
              </a:spcAft>
            </a:pPr>
            <a:r>
              <a:rPr sz="2400" b="1" i="0">
                <a:solidFill>
                  <a:srgbClr val="3A3A3A"/>
                </a:solidFill>
                <a:latin typeface="メイリオ"/>
                <a:ea typeface="メイリオ"/>
                <a:cs typeface="メイリオ"/>
              </a:rPr>
              <a:t>実測（黒）</a:t>
            </a:r>
          </a:p>
          <a:p>
            <a:pPr algn="l">
              <a:lnSpc>
                <a:spcPct val="100000"/>
              </a:lnSpc>
              <a:spcBef>
                <a:spcPts val="0"/>
              </a:spcBef>
              <a:spcAft>
                <a:spcPts val="1400"/>
              </a:spcAft>
            </a:pPr>
            <a:r>
              <a:rPr sz="2400" b="1" i="0">
                <a:solidFill>
                  <a:srgbClr val="00A8AA"/>
                </a:solidFill>
                <a:latin typeface="メイリオ"/>
                <a:ea typeface="メイリオ"/>
                <a:cs typeface="メイリオ"/>
              </a:rPr>
              <a:t>モデル（緑）</a:t>
            </a:r>
          </a:p>
          <a:p>
            <a:pPr algn="l">
              <a:lnSpc>
                <a:spcPct val="100000"/>
              </a:lnSpc>
              <a:spcBef>
                <a:spcPts val="0"/>
              </a:spcBef>
              <a:spcAft>
                <a:spcPts val="1400"/>
              </a:spcAft>
            </a:pPr>
            <a:r>
              <a:rPr sz="2400" b="1" i="0">
                <a:solidFill>
                  <a:srgbClr val="C00000"/>
                </a:solidFill>
                <a:latin typeface="メイリオ"/>
                <a:ea typeface="メイリオ"/>
                <a:cs typeface="メイリオ"/>
              </a:rPr>
              <a:t>差（赤）を小さくしたい</a:t>
            </a:r>
          </a:p>
        </p:txBody>
      </p:sp>
      <p:sp>
        <p:nvSpPr>
          <p:cNvPr id="21" name="Rounded Rectangle 20"/>
          <p:cNvSpPr/>
          <p:nvPr/>
        </p:nvSpPr>
        <p:spPr>
          <a:xfrm>
            <a:off x="822960" y="4572000"/>
            <a:ext cx="10698480" cy="114300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222222"/>
                </a:solidFill>
                <a:latin typeface="メイリオ"/>
                <a:ea typeface="メイリオ"/>
                <a:cs typeface="メイリオ"/>
              </a:rPr>
              <a:t>SSE ＝ Σ（実測 − モデル）²　を最小にする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谷を下って探す</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23</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反復最適化（Levenberg–Marquardt 等）。初期値依存性の定量的検討は Basso G, et al. Physiol Meas 2024;45(11)（PMID 39577084）</a:t>
            </a:r>
          </a:p>
        </p:txBody>
      </p:sp>
      <p:sp>
        <p:nvSpPr>
          <p:cNvPr id="12" name="Freeform 11"/>
          <p:cNvSpPr/>
          <p:nvPr/>
        </p:nvSpPr>
        <p:spPr>
          <a:xfrm>
            <a:off x="1005840" y="2067335"/>
            <a:ext cx="5943600" cy="1679433"/>
          </a:xfrm>
          <a:custGeom>
            <a:avLst/>
            <a:gdLst/>
            <a:ahLst/>
            <a:cxnLst/>
            <a:rect l="l" t="t" r="r" b="b"/>
            <a:pathLst>
              <a:path w="5943600" h="1679433">
                <a:moveTo>
                  <a:pt x="0" y="0"/>
                </a:moveTo>
                <a:lnTo>
                  <a:pt x="29718" y="5224"/>
                </a:lnTo>
                <a:lnTo>
                  <a:pt x="59436" y="11009"/>
                </a:lnTo>
                <a:lnTo>
                  <a:pt x="89154" y="17397"/>
                </a:lnTo>
                <a:lnTo>
                  <a:pt x="118872" y="24430"/>
                </a:lnTo>
                <a:lnTo>
                  <a:pt x="148590" y="32150"/>
                </a:lnTo>
                <a:lnTo>
                  <a:pt x="178308" y="40599"/>
                </a:lnTo>
                <a:lnTo>
                  <a:pt x="208026" y="49819"/>
                </a:lnTo>
                <a:lnTo>
                  <a:pt x="237744" y="59849"/>
                </a:lnTo>
                <a:lnTo>
                  <a:pt x="267462" y="70727"/>
                </a:lnTo>
                <a:lnTo>
                  <a:pt x="297180" y="82488"/>
                </a:lnTo>
                <a:lnTo>
                  <a:pt x="326898" y="95165"/>
                </a:lnTo>
                <a:lnTo>
                  <a:pt x="356616" y="108787"/>
                </a:lnTo>
                <a:lnTo>
                  <a:pt x="386334" y="123376"/>
                </a:lnTo>
                <a:lnTo>
                  <a:pt x="416052" y="138953"/>
                </a:lnTo>
                <a:lnTo>
                  <a:pt x="445770" y="155529"/>
                </a:lnTo>
                <a:lnTo>
                  <a:pt x="475488" y="173110"/>
                </a:lnTo>
                <a:lnTo>
                  <a:pt x="505206" y="191697"/>
                </a:lnTo>
                <a:lnTo>
                  <a:pt x="534924" y="211279"/>
                </a:lnTo>
                <a:lnTo>
                  <a:pt x="564642" y="231839"/>
                </a:lnTo>
                <a:lnTo>
                  <a:pt x="594360" y="253350"/>
                </a:lnTo>
                <a:lnTo>
                  <a:pt x="624078" y="275776"/>
                </a:lnTo>
                <a:lnTo>
                  <a:pt x="653796" y="299070"/>
                </a:lnTo>
                <a:lnTo>
                  <a:pt x="683514" y="323176"/>
                </a:lnTo>
                <a:lnTo>
                  <a:pt x="713232" y="348028"/>
                </a:lnTo>
                <a:lnTo>
                  <a:pt x="742950" y="373548"/>
                </a:lnTo>
                <a:lnTo>
                  <a:pt x="772668" y="399648"/>
                </a:lnTo>
                <a:lnTo>
                  <a:pt x="802386" y="426230"/>
                </a:lnTo>
                <a:lnTo>
                  <a:pt x="832104" y="453187"/>
                </a:lnTo>
                <a:lnTo>
                  <a:pt x="861822" y="480403"/>
                </a:lnTo>
                <a:lnTo>
                  <a:pt x="891540" y="507751"/>
                </a:lnTo>
                <a:lnTo>
                  <a:pt x="921258" y="535098"/>
                </a:lnTo>
                <a:lnTo>
                  <a:pt x="950976" y="562306"/>
                </a:lnTo>
                <a:lnTo>
                  <a:pt x="980694" y="589227"/>
                </a:lnTo>
                <a:lnTo>
                  <a:pt x="1010412" y="615712"/>
                </a:lnTo>
                <a:lnTo>
                  <a:pt x="1040129" y="641607"/>
                </a:lnTo>
                <a:lnTo>
                  <a:pt x="1069848" y="666757"/>
                </a:lnTo>
                <a:lnTo>
                  <a:pt x="1099566" y="691008"/>
                </a:lnTo>
                <a:lnTo>
                  <a:pt x="1129284" y="714204"/>
                </a:lnTo>
                <a:lnTo>
                  <a:pt x="1159002" y="736196"/>
                </a:lnTo>
                <a:lnTo>
                  <a:pt x="1188720" y="756835"/>
                </a:lnTo>
                <a:lnTo>
                  <a:pt x="1218438" y="775984"/>
                </a:lnTo>
                <a:lnTo>
                  <a:pt x="1248156" y="793508"/>
                </a:lnTo>
                <a:lnTo>
                  <a:pt x="1277874" y="809285"/>
                </a:lnTo>
                <a:lnTo>
                  <a:pt x="1307592" y="823203"/>
                </a:lnTo>
                <a:lnTo>
                  <a:pt x="1337310" y="835161"/>
                </a:lnTo>
                <a:lnTo>
                  <a:pt x="1367028" y="845073"/>
                </a:lnTo>
                <a:lnTo>
                  <a:pt x="1396746" y="852866"/>
                </a:lnTo>
                <a:lnTo>
                  <a:pt x="1426464" y="858484"/>
                </a:lnTo>
                <a:lnTo>
                  <a:pt x="1456182" y="861885"/>
                </a:lnTo>
                <a:lnTo>
                  <a:pt x="1485900" y="863046"/>
                </a:lnTo>
                <a:lnTo>
                  <a:pt x="1515618" y="861958"/>
                </a:lnTo>
                <a:lnTo>
                  <a:pt x="1545336" y="858632"/>
                </a:lnTo>
                <a:lnTo>
                  <a:pt x="1575054" y="853094"/>
                </a:lnTo>
                <a:lnTo>
                  <a:pt x="1604772" y="845388"/>
                </a:lnTo>
                <a:lnTo>
                  <a:pt x="1634490" y="835572"/>
                </a:lnTo>
                <a:lnTo>
                  <a:pt x="1664208" y="823723"/>
                </a:lnTo>
                <a:lnTo>
                  <a:pt x="1693925" y="809930"/>
                </a:lnTo>
                <a:lnTo>
                  <a:pt x="1723644" y="794297"/>
                </a:lnTo>
                <a:lnTo>
                  <a:pt x="1753362" y="776940"/>
                </a:lnTo>
                <a:lnTo>
                  <a:pt x="1783080" y="757985"/>
                </a:lnTo>
                <a:lnTo>
                  <a:pt x="1812798" y="737571"/>
                </a:lnTo>
                <a:lnTo>
                  <a:pt x="1842516" y="715843"/>
                </a:lnTo>
                <a:lnTo>
                  <a:pt x="1872234" y="692953"/>
                </a:lnTo>
                <a:lnTo>
                  <a:pt x="1901952" y="669059"/>
                </a:lnTo>
                <a:lnTo>
                  <a:pt x="1931670" y="644323"/>
                </a:lnTo>
                <a:lnTo>
                  <a:pt x="1961388" y="618909"/>
                </a:lnTo>
                <a:lnTo>
                  <a:pt x="1991106" y="592982"/>
                </a:lnTo>
                <a:lnTo>
                  <a:pt x="2020824" y="566706"/>
                </a:lnTo>
                <a:lnTo>
                  <a:pt x="2050542" y="540243"/>
                </a:lnTo>
                <a:lnTo>
                  <a:pt x="2080260" y="513753"/>
                </a:lnTo>
                <a:lnTo>
                  <a:pt x="2109978" y="487390"/>
                </a:lnTo>
                <a:lnTo>
                  <a:pt x="2139696" y="461304"/>
                </a:lnTo>
                <a:lnTo>
                  <a:pt x="2169414" y="435640"/>
                </a:lnTo>
                <a:lnTo>
                  <a:pt x="2199132" y="410533"/>
                </a:lnTo>
                <a:lnTo>
                  <a:pt x="2228850" y="386115"/>
                </a:lnTo>
                <a:lnTo>
                  <a:pt x="2258568" y="362506"/>
                </a:lnTo>
                <a:lnTo>
                  <a:pt x="2288286" y="339821"/>
                </a:lnTo>
                <a:lnTo>
                  <a:pt x="2318004" y="318167"/>
                </a:lnTo>
                <a:lnTo>
                  <a:pt x="2347722" y="297640"/>
                </a:lnTo>
                <a:lnTo>
                  <a:pt x="2377440" y="278331"/>
                </a:lnTo>
                <a:lnTo>
                  <a:pt x="2407158" y="260322"/>
                </a:lnTo>
                <a:lnTo>
                  <a:pt x="2436876" y="243689"/>
                </a:lnTo>
                <a:lnTo>
                  <a:pt x="2466594" y="228498"/>
                </a:lnTo>
                <a:lnTo>
                  <a:pt x="2496312" y="214812"/>
                </a:lnTo>
                <a:lnTo>
                  <a:pt x="2526030" y="202685"/>
                </a:lnTo>
                <a:lnTo>
                  <a:pt x="2555748" y="192167"/>
                </a:lnTo>
                <a:lnTo>
                  <a:pt x="2585466" y="183304"/>
                </a:lnTo>
                <a:lnTo>
                  <a:pt x="2615184" y="176135"/>
                </a:lnTo>
                <a:lnTo>
                  <a:pt x="2644902" y="170696"/>
                </a:lnTo>
                <a:lnTo>
                  <a:pt x="2674620" y="167021"/>
                </a:lnTo>
                <a:lnTo>
                  <a:pt x="2704338" y="165140"/>
                </a:lnTo>
                <a:lnTo>
                  <a:pt x="2734056" y="165079"/>
                </a:lnTo>
                <a:lnTo>
                  <a:pt x="2763774" y="166864"/>
                </a:lnTo>
                <a:lnTo>
                  <a:pt x="2793491" y="170516"/>
                </a:lnTo>
                <a:lnTo>
                  <a:pt x="2823210" y="176057"/>
                </a:lnTo>
                <a:lnTo>
                  <a:pt x="2852928" y="183505"/>
                </a:lnTo>
                <a:lnTo>
                  <a:pt x="2882645" y="192875"/>
                </a:lnTo>
                <a:lnTo>
                  <a:pt x="2912364" y="204182"/>
                </a:lnTo>
                <a:lnTo>
                  <a:pt x="2942082" y="217438"/>
                </a:lnTo>
                <a:lnTo>
                  <a:pt x="2971799" y="232651"/>
                </a:lnTo>
                <a:lnTo>
                  <a:pt x="3001518" y="249826"/>
                </a:lnTo>
                <a:lnTo>
                  <a:pt x="3031236" y="268965"/>
                </a:lnTo>
                <a:lnTo>
                  <a:pt x="3060954" y="290064"/>
                </a:lnTo>
                <a:lnTo>
                  <a:pt x="3090672" y="313115"/>
                </a:lnTo>
                <a:lnTo>
                  <a:pt x="3120390" y="338105"/>
                </a:lnTo>
                <a:lnTo>
                  <a:pt x="3150108" y="365013"/>
                </a:lnTo>
                <a:lnTo>
                  <a:pt x="3179826" y="393812"/>
                </a:lnTo>
                <a:lnTo>
                  <a:pt x="3209544" y="424465"/>
                </a:lnTo>
                <a:lnTo>
                  <a:pt x="3239262" y="456930"/>
                </a:lnTo>
                <a:lnTo>
                  <a:pt x="3268980" y="491151"/>
                </a:lnTo>
                <a:lnTo>
                  <a:pt x="3298698" y="527066"/>
                </a:lnTo>
                <a:lnTo>
                  <a:pt x="3328416" y="564601"/>
                </a:lnTo>
                <a:lnTo>
                  <a:pt x="3358133" y="603669"/>
                </a:lnTo>
                <a:lnTo>
                  <a:pt x="3387852" y="644174"/>
                </a:lnTo>
                <a:lnTo>
                  <a:pt x="3417570" y="686008"/>
                </a:lnTo>
                <a:lnTo>
                  <a:pt x="3447287" y="729050"/>
                </a:lnTo>
                <a:lnTo>
                  <a:pt x="3477006" y="773166"/>
                </a:lnTo>
                <a:lnTo>
                  <a:pt x="3506724" y="818212"/>
                </a:lnTo>
                <a:lnTo>
                  <a:pt x="3536441" y="864032"/>
                </a:lnTo>
                <a:lnTo>
                  <a:pt x="3566160" y="910457"/>
                </a:lnTo>
                <a:lnTo>
                  <a:pt x="3595878" y="957310"/>
                </a:lnTo>
                <a:lnTo>
                  <a:pt x="3625596" y="1004401"/>
                </a:lnTo>
                <a:lnTo>
                  <a:pt x="3655314" y="1051532"/>
                </a:lnTo>
                <a:lnTo>
                  <a:pt x="3685032" y="1098499"/>
                </a:lnTo>
                <a:lnTo>
                  <a:pt x="3714750" y="1145088"/>
                </a:lnTo>
                <a:lnTo>
                  <a:pt x="3744468" y="1191080"/>
                </a:lnTo>
                <a:lnTo>
                  <a:pt x="3774186" y="1236255"/>
                </a:lnTo>
                <a:lnTo>
                  <a:pt x="3803904" y="1280387"/>
                </a:lnTo>
                <a:lnTo>
                  <a:pt x="3833622" y="1323250"/>
                </a:lnTo>
                <a:lnTo>
                  <a:pt x="3863340" y="1364621"/>
                </a:lnTo>
                <a:lnTo>
                  <a:pt x="3893058" y="1404278"/>
                </a:lnTo>
                <a:lnTo>
                  <a:pt x="3922776" y="1442003"/>
                </a:lnTo>
                <a:lnTo>
                  <a:pt x="3952493" y="1477587"/>
                </a:lnTo>
                <a:lnTo>
                  <a:pt x="3982212" y="1510827"/>
                </a:lnTo>
                <a:lnTo>
                  <a:pt x="4011930" y="1541533"/>
                </a:lnTo>
                <a:lnTo>
                  <a:pt x="4041648" y="1569524"/>
                </a:lnTo>
                <a:lnTo>
                  <a:pt x="4071366" y="1594635"/>
                </a:lnTo>
                <a:lnTo>
                  <a:pt x="4101083" y="1616717"/>
                </a:lnTo>
                <a:lnTo>
                  <a:pt x="4130802" y="1635635"/>
                </a:lnTo>
                <a:lnTo>
                  <a:pt x="4160520" y="1651274"/>
                </a:lnTo>
                <a:lnTo>
                  <a:pt x="4190237" y="1663538"/>
                </a:lnTo>
                <a:lnTo>
                  <a:pt x="4219956" y="1672352"/>
                </a:lnTo>
                <a:lnTo>
                  <a:pt x="4249674" y="1677662"/>
                </a:lnTo>
                <a:lnTo>
                  <a:pt x="4279391" y="1679433"/>
                </a:lnTo>
                <a:lnTo>
                  <a:pt x="4309110" y="1677655"/>
                </a:lnTo>
                <a:lnTo>
                  <a:pt x="4338828" y="1672339"/>
                </a:lnTo>
                <a:lnTo>
                  <a:pt x="4368546" y="1663517"/>
                </a:lnTo>
                <a:lnTo>
                  <a:pt x="4398264" y="1651243"/>
                </a:lnTo>
                <a:lnTo>
                  <a:pt x="4427982" y="1635594"/>
                </a:lnTo>
                <a:lnTo>
                  <a:pt x="4457700" y="1616664"/>
                </a:lnTo>
                <a:lnTo>
                  <a:pt x="4487418" y="1594568"/>
                </a:lnTo>
                <a:lnTo>
                  <a:pt x="4517136" y="1569439"/>
                </a:lnTo>
                <a:lnTo>
                  <a:pt x="4546854" y="1541426"/>
                </a:lnTo>
                <a:lnTo>
                  <a:pt x="4576572" y="1510695"/>
                </a:lnTo>
                <a:lnTo>
                  <a:pt x="4606290" y="1477423"/>
                </a:lnTo>
                <a:lnTo>
                  <a:pt x="4636008" y="1441802"/>
                </a:lnTo>
                <a:lnTo>
                  <a:pt x="4665726" y="1404031"/>
                </a:lnTo>
                <a:lnTo>
                  <a:pt x="4695443" y="1364319"/>
                </a:lnTo>
                <a:lnTo>
                  <a:pt x="4725162" y="1322881"/>
                </a:lnTo>
                <a:lnTo>
                  <a:pt x="4754880" y="1279938"/>
                </a:lnTo>
                <a:lnTo>
                  <a:pt x="4784598" y="1235710"/>
                </a:lnTo>
                <a:lnTo>
                  <a:pt x="4814316" y="1190420"/>
                </a:lnTo>
                <a:lnTo>
                  <a:pt x="4844033" y="1144290"/>
                </a:lnTo>
                <a:lnTo>
                  <a:pt x="4873752" y="1097538"/>
                </a:lnTo>
                <a:lnTo>
                  <a:pt x="4903470" y="1050378"/>
                </a:lnTo>
                <a:lnTo>
                  <a:pt x="4933187" y="1003016"/>
                </a:lnTo>
                <a:lnTo>
                  <a:pt x="4962906" y="955655"/>
                </a:lnTo>
                <a:lnTo>
                  <a:pt x="4992624" y="908483"/>
                </a:lnTo>
                <a:lnTo>
                  <a:pt x="5022341" y="861683"/>
                </a:lnTo>
                <a:lnTo>
                  <a:pt x="5052060" y="815425"/>
                </a:lnTo>
                <a:lnTo>
                  <a:pt x="5081778" y="769866"/>
                </a:lnTo>
                <a:lnTo>
                  <a:pt x="5111496" y="725153"/>
                </a:lnTo>
                <a:lnTo>
                  <a:pt x="5141214" y="681418"/>
                </a:lnTo>
                <a:lnTo>
                  <a:pt x="5170932" y="638781"/>
                </a:lnTo>
                <a:lnTo>
                  <a:pt x="5200650" y="597348"/>
                </a:lnTo>
                <a:lnTo>
                  <a:pt x="5230368" y="557210"/>
                </a:lnTo>
                <a:lnTo>
                  <a:pt x="5260086" y="518447"/>
                </a:lnTo>
                <a:lnTo>
                  <a:pt x="5289804" y="481125"/>
                </a:lnTo>
                <a:lnTo>
                  <a:pt x="5319522" y="445296"/>
                </a:lnTo>
                <a:lnTo>
                  <a:pt x="5349240" y="410999"/>
                </a:lnTo>
                <a:lnTo>
                  <a:pt x="5378958" y="378264"/>
                </a:lnTo>
                <a:lnTo>
                  <a:pt x="5408676" y="347107"/>
                </a:lnTo>
                <a:lnTo>
                  <a:pt x="5438393" y="317533"/>
                </a:lnTo>
                <a:lnTo>
                  <a:pt x="5468112" y="289541"/>
                </a:lnTo>
                <a:lnTo>
                  <a:pt x="5497830" y="263115"/>
                </a:lnTo>
                <a:lnTo>
                  <a:pt x="5527548" y="238237"/>
                </a:lnTo>
                <a:lnTo>
                  <a:pt x="5557266" y="214876"/>
                </a:lnTo>
                <a:lnTo>
                  <a:pt x="5586983" y="192998"/>
                </a:lnTo>
                <a:lnTo>
                  <a:pt x="5616702" y="172561"/>
                </a:lnTo>
                <a:lnTo>
                  <a:pt x="5646420" y="153520"/>
                </a:lnTo>
                <a:lnTo>
                  <a:pt x="5676137" y="135825"/>
                </a:lnTo>
                <a:lnTo>
                  <a:pt x="5705856" y="119421"/>
                </a:lnTo>
                <a:lnTo>
                  <a:pt x="5735574" y="104254"/>
                </a:lnTo>
                <a:lnTo>
                  <a:pt x="5765291" y="90263"/>
                </a:lnTo>
                <a:lnTo>
                  <a:pt x="5795010" y="77391"/>
                </a:lnTo>
                <a:lnTo>
                  <a:pt x="5824728" y="65577"/>
                </a:lnTo>
                <a:lnTo>
                  <a:pt x="5854446" y="54760"/>
                </a:lnTo>
                <a:lnTo>
                  <a:pt x="5884164" y="44880"/>
                </a:lnTo>
                <a:lnTo>
                  <a:pt x="5913882" y="35877"/>
                </a:lnTo>
                <a:lnTo>
                  <a:pt x="5943600" y="27694"/>
                </a:lnTo>
              </a:path>
            </a:pathLst>
          </a:custGeom>
          <a:noFill/>
          <a:ln w="3048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05840" y="4069080"/>
            <a:ext cx="594360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299716" y="2564621"/>
            <a:ext cx="365760" cy="3657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p>
        </p:txBody>
      </p:sp>
      <p:sp>
        <p:nvSpPr>
          <p:cNvPr id="15" name="Rounded Rectangle 14"/>
          <p:cNvSpPr/>
          <p:nvPr/>
        </p:nvSpPr>
        <p:spPr>
          <a:xfrm>
            <a:off x="5093207" y="3381008"/>
            <a:ext cx="365760" cy="365760"/>
          </a:xfrm>
          <a:prstGeom prst="roundRect">
            <a:avLst>
              <a:gd name="adj" fmla="val 50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p>
        </p:txBody>
      </p:sp>
      <p:sp>
        <p:nvSpPr>
          <p:cNvPr id="16" name="TextBox 15"/>
          <p:cNvSpPr txBox="1"/>
          <p:nvPr/>
        </p:nvSpPr>
        <p:spPr>
          <a:xfrm>
            <a:off x="1577340" y="4123944"/>
            <a:ext cx="1828800" cy="365760"/>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C00000"/>
                </a:solidFill>
                <a:latin typeface="メイリオ"/>
                <a:ea typeface="メイリオ"/>
                <a:cs typeface="メイリオ"/>
              </a:rPr>
              <a:t>局所解</a:t>
            </a:r>
          </a:p>
        </p:txBody>
      </p:sp>
      <p:sp>
        <p:nvSpPr>
          <p:cNvPr id="17" name="TextBox 16"/>
          <p:cNvSpPr txBox="1"/>
          <p:nvPr/>
        </p:nvSpPr>
        <p:spPr>
          <a:xfrm>
            <a:off x="4279392" y="4123944"/>
            <a:ext cx="2011680" cy="365760"/>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00A8AA"/>
                </a:solidFill>
                <a:latin typeface="メイリオ"/>
                <a:ea typeface="メイリオ"/>
                <a:cs typeface="メイリオ"/>
              </a:rPr>
              <a:t>真の最小</a:t>
            </a:r>
          </a:p>
        </p:txBody>
      </p:sp>
      <p:sp>
        <p:nvSpPr>
          <p:cNvPr id="18" name="TextBox 17"/>
          <p:cNvSpPr txBox="1"/>
          <p:nvPr/>
        </p:nvSpPr>
        <p:spPr>
          <a:xfrm>
            <a:off x="1005840" y="4517136"/>
            <a:ext cx="6035040" cy="320040"/>
          </a:xfrm>
          <a:prstGeom prst="rect">
            <a:avLst/>
          </a:prstGeom>
          <a:noFill/>
        </p:spPr>
        <p:txBody>
          <a:bodyPr wrap="square" lIns="18288" rIns="18288" tIns="0" bIns="0" anchor="t">
            <a:noAutofit/>
          </a:bodyPr>
          <a:lstStyle/>
          <a:p>
            <a:pPr algn="l">
              <a:lnSpc>
                <a:spcPct val="100000"/>
              </a:lnSpc>
              <a:spcBef>
                <a:spcPts val="0"/>
              </a:spcBef>
              <a:spcAft>
                <a:spcPts val="0"/>
              </a:spcAft>
            </a:pPr>
            <a:r>
              <a:rPr sz="2200" b="0" i="0">
                <a:solidFill>
                  <a:srgbClr val="5A5A5A"/>
                </a:solidFill>
                <a:latin typeface="メイリオ"/>
                <a:ea typeface="メイリオ"/>
                <a:cs typeface="メイリオ"/>
              </a:rPr>
              <a:t>縦軸 SSE ・ 横軸 パラメータ（模式図）</a:t>
            </a:r>
          </a:p>
        </p:txBody>
      </p:sp>
      <p:sp>
        <p:nvSpPr>
          <p:cNvPr id="19" name="TextBox 18"/>
          <p:cNvSpPr txBox="1"/>
          <p:nvPr/>
        </p:nvSpPr>
        <p:spPr>
          <a:xfrm>
            <a:off x="7406640" y="1965960"/>
            <a:ext cx="4206240" cy="2377440"/>
          </a:xfrm>
          <a:prstGeom prst="rect">
            <a:avLst/>
          </a:prstGeom>
          <a:noFill/>
        </p:spPr>
        <p:txBody>
          <a:bodyPr wrap="square" lIns="18288" rIns="18288" tIns="0" bIns="0" anchor="t">
            <a:noAutofit/>
          </a:bodyPr>
          <a:lstStyle/>
          <a:p>
            <a:pPr algn="l">
              <a:lnSpc>
                <a:spcPct val="100000"/>
              </a:lnSpc>
              <a:spcBef>
                <a:spcPts val="0"/>
              </a:spcBef>
              <a:spcAft>
                <a:spcPts val="1000"/>
              </a:spcAft>
            </a:pPr>
            <a:r>
              <a:rPr sz="2600" b="1" i="0">
                <a:solidFill>
                  <a:srgbClr val="222222"/>
                </a:solidFill>
                <a:latin typeface="メイリオ"/>
                <a:ea typeface="メイリオ"/>
                <a:cs typeface="メイリオ"/>
              </a:rPr>
              <a:t>傾きを頼りに下る</a:t>
            </a:r>
          </a:p>
          <a:p>
            <a:pPr algn="l">
              <a:lnSpc>
                <a:spcPct val="100000"/>
              </a:lnSpc>
              <a:spcBef>
                <a:spcPts val="0"/>
              </a:spcBef>
              <a:spcAft>
                <a:spcPts val="1000"/>
              </a:spcAft>
            </a:pPr>
            <a:r>
              <a:rPr sz="2200" b="0" i="0">
                <a:solidFill>
                  <a:srgbClr val="222222"/>
                </a:solidFill>
                <a:latin typeface="メイリオ"/>
                <a:ea typeface="メイリオ"/>
                <a:cs typeface="メイリオ"/>
              </a:rPr>
              <a:t>Levenberg–Marquardt 法</a:t>
            </a:r>
          </a:p>
          <a:p>
            <a:pPr algn="l">
              <a:lnSpc>
                <a:spcPct val="100000"/>
              </a:lnSpc>
              <a:spcBef>
                <a:spcPts val="0"/>
              </a:spcBef>
              <a:spcAft>
                <a:spcPts val="1000"/>
              </a:spcAft>
            </a:pPr>
          </a:p>
          <a:p>
            <a:pPr algn="l">
              <a:lnSpc>
                <a:spcPct val="100000"/>
              </a:lnSpc>
              <a:spcBef>
                <a:spcPts val="0"/>
              </a:spcBef>
              <a:spcAft>
                <a:spcPts val="1000"/>
              </a:spcAft>
            </a:pPr>
            <a:r>
              <a:rPr sz="2400" b="1" i="0">
                <a:solidFill>
                  <a:srgbClr val="C00000"/>
                </a:solidFill>
                <a:latin typeface="メイリオ"/>
                <a:ea typeface="メイリオ"/>
                <a:cs typeface="メイリオ"/>
              </a:rPr>
              <a:t>浅い谷で止まる危険</a:t>
            </a:r>
          </a:p>
        </p:txBody>
      </p:sp>
      <p:sp>
        <p:nvSpPr>
          <p:cNvPr id="20" name="Rounded Rectangle 19"/>
          <p:cNvSpPr/>
          <p:nvPr/>
        </p:nvSpPr>
        <p:spPr>
          <a:xfrm>
            <a:off x="1005840" y="5074920"/>
            <a:ext cx="10515600" cy="82296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C00000"/>
                </a:solidFill>
                <a:latin typeface="メイリオ"/>
                <a:ea typeface="メイリオ"/>
                <a:cs typeface="メイリオ"/>
              </a:rPr>
              <a:t>どこから歩き始めるか（初期値）で答えが変わる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答えが一意でない</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24</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不良設定（ill-posed）問題。PPG 分解での実証は Basso G, et al. Physiol Meas 2024（PMID 39577084）</a:t>
            </a:r>
          </a:p>
        </p:txBody>
      </p:sp>
      <p:sp>
        <p:nvSpPr>
          <p:cNvPr id="12" name="Freeform 11"/>
          <p:cNvSpPr/>
          <p:nvPr/>
        </p:nvSpPr>
        <p:spPr>
          <a:xfrm>
            <a:off x="822960" y="1920866"/>
            <a:ext cx="4846320" cy="1992367"/>
          </a:xfrm>
          <a:custGeom>
            <a:avLst/>
            <a:gdLst/>
            <a:ahLst/>
            <a:cxnLst/>
            <a:rect l="l" t="t" r="r" b="b"/>
            <a:pathLst>
              <a:path w="4846320" h="1992367">
                <a:moveTo>
                  <a:pt x="0" y="1977934"/>
                </a:moveTo>
                <a:lnTo>
                  <a:pt x="28507" y="1969099"/>
                </a:lnTo>
                <a:lnTo>
                  <a:pt x="57015" y="1958279"/>
                </a:lnTo>
                <a:lnTo>
                  <a:pt x="85523" y="1945135"/>
                </a:lnTo>
                <a:lnTo>
                  <a:pt x="114031" y="1929295"/>
                </a:lnTo>
                <a:lnTo>
                  <a:pt x="142538" y="1910361"/>
                </a:lnTo>
                <a:lnTo>
                  <a:pt x="171046" y="1887912"/>
                </a:lnTo>
                <a:lnTo>
                  <a:pt x="199554" y="1861515"/>
                </a:lnTo>
                <a:lnTo>
                  <a:pt x="228062" y="1830735"/>
                </a:lnTo>
                <a:lnTo>
                  <a:pt x="256569" y="1795146"/>
                </a:lnTo>
                <a:lnTo>
                  <a:pt x="285077" y="1754347"/>
                </a:lnTo>
                <a:lnTo>
                  <a:pt x="313585" y="1707980"/>
                </a:lnTo>
                <a:lnTo>
                  <a:pt x="342093" y="1655750"/>
                </a:lnTo>
                <a:lnTo>
                  <a:pt x="370600" y="1597439"/>
                </a:lnTo>
                <a:lnTo>
                  <a:pt x="399108" y="1532935"/>
                </a:lnTo>
                <a:lnTo>
                  <a:pt x="427616" y="1462245"/>
                </a:lnTo>
                <a:lnTo>
                  <a:pt x="456124" y="1385517"/>
                </a:lnTo>
                <a:lnTo>
                  <a:pt x="484632" y="1303052"/>
                </a:lnTo>
                <a:lnTo>
                  <a:pt x="513139" y="1215322"/>
                </a:lnTo>
                <a:lnTo>
                  <a:pt x="541647" y="1122972"/>
                </a:lnTo>
                <a:lnTo>
                  <a:pt x="570155" y="1026824"/>
                </a:lnTo>
                <a:lnTo>
                  <a:pt x="598663" y="927872"/>
                </a:lnTo>
                <a:lnTo>
                  <a:pt x="627170" y="827273"/>
                </a:lnTo>
                <a:lnTo>
                  <a:pt x="655678" y="726322"/>
                </a:lnTo>
                <a:lnTo>
                  <a:pt x="684186" y="626432"/>
                </a:lnTo>
                <a:lnTo>
                  <a:pt x="712694" y="529099"/>
                </a:lnTo>
                <a:lnTo>
                  <a:pt x="741201" y="435861"/>
                </a:lnTo>
                <a:lnTo>
                  <a:pt x="769709" y="348261"/>
                </a:lnTo>
                <a:lnTo>
                  <a:pt x="798217" y="267796"/>
                </a:lnTo>
                <a:lnTo>
                  <a:pt x="826725" y="195871"/>
                </a:lnTo>
                <a:lnTo>
                  <a:pt x="855232" y="133754"/>
                </a:lnTo>
                <a:lnTo>
                  <a:pt x="883740" y="82532"/>
                </a:lnTo>
                <a:lnTo>
                  <a:pt x="912248" y="43069"/>
                </a:lnTo>
                <a:lnTo>
                  <a:pt x="940756" y="15982"/>
                </a:lnTo>
                <a:lnTo>
                  <a:pt x="969264" y="1610"/>
                </a:lnTo>
                <a:lnTo>
                  <a:pt x="997771" y="0"/>
                </a:lnTo>
                <a:lnTo>
                  <a:pt x="1026279" y="10909"/>
                </a:lnTo>
                <a:lnTo>
                  <a:pt x="1054787" y="33805"/>
                </a:lnTo>
                <a:lnTo>
                  <a:pt x="1083295" y="67885"/>
                </a:lnTo>
                <a:lnTo>
                  <a:pt x="1111802" y="112103"/>
                </a:lnTo>
                <a:lnTo>
                  <a:pt x="1140310" y="165199"/>
                </a:lnTo>
                <a:lnTo>
                  <a:pt x="1168818" y="225749"/>
                </a:lnTo>
                <a:lnTo>
                  <a:pt x="1197326" y="292201"/>
                </a:lnTo>
                <a:lnTo>
                  <a:pt x="1225833" y="362933"/>
                </a:lnTo>
                <a:lnTo>
                  <a:pt x="1254341" y="436297"/>
                </a:lnTo>
                <a:lnTo>
                  <a:pt x="1282849" y="510667"/>
                </a:lnTo>
                <a:lnTo>
                  <a:pt x="1311357" y="584490"/>
                </a:lnTo>
                <a:lnTo>
                  <a:pt x="1339864" y="656319"/>
                </a:lnTo>
                <a:lnTo>
                  <a:pt x="1368372" y="724856"/>
                </a:lnTo>
                <a:lnTo>
                  <a:pt x="1396880" y="788972"/>
                </a:lnTo>
                <a:lnTo>
                  <a:pt x="1425388" y="847733"/>
                </a:lnTo>
                <a:lnTo>
                  <a:pt x="1453896" y="900409"/>
                </a:lnTo>
                <a:lnTo>
                  <a:pt x="1482403" y="946480"/>
                </a:lnTo>
                <a:lnTo>
                  <a:pt x="1510911" y="985636"/>
                </a:lnTo>
                <a:lnTo>
                  <a:pt x="1539419" y="1017765"/>
                </a:lnTo>
                <a:lnTo>
                  <a:pt x="1567927" y="1042944"/>
                </a:lnTo>
                <a:lnTo>
                  <a:pt x="1596434" y="1061416"/>
                </a:lnTo>
                <a:lnTo>
                  <a:pt x="1624942" y="1073572"/>
                </a:lnTo>
                <a:lnTo>
                  <a:pt x="1653450" y="1079927"/>
                </a:lnTo>
                <a:lnTo>
                  <a:pt x="1681958" y="1081096"/>
                </a:lnTo>
                <a:lnTo>
                  <a:pt x="1710465" y="1077765"/>
                </a:lnTo>
                <a:lnTo>
                  <a:pt x="1738973" y="1070674"/>
                </a:lnTo>
                <a:lnTo>
                  <a:pt x="1767481" y="1060589"/>
                </a:lnTo>
                <a:lnTo>
                  <a:pt x="1795989" y="1048280"/>
                </a:lnTo>
                <a:lnTo>
                  <a:pt x="1824496" y="1034507"/>
                </a:lnTo>
                <a:lnTo>
                  <a:pt x="1853004" y="1019998"/>
                </a:lnTo>
                <a:lnTo>
                  <a:pt x="1881512" y="1005439"/>
                </a:lnTo>
                <a:lnTo>
                  <a:pt x="1910020" y="991458"/>
                </a:lnTo>
                <a:lnTo>
                  <a:pt x="1938528" y="978622"/>
                </a:lnTo>
                <a:lnTo>
                  <a:pt x="1967035" y="967425"/>
                </a:lnTo>
                <a:lnTo>
                  <a:pt x="1995543" y="958285"/>
                </a:lnTo>
                <a:lnTo>
                  <a:pt x="2024051" y="951544"/>
                </a:lnTo>
                <a:lnTo>
                  <a:pt x="2052559" y="947464"/>
                </a:lnTo>
                <a:lnTo>
                  <a:pt x="2081066" y="946230"/>
                </a:lnTo>
                <a:lnTo>
                  <a:pt x="2109574" y="947954"/>
                </a:lnTo>
                <a:lnTo>
                  <a:pt x="2138082" y="952676"/>
                </a:lnTo>
                <a:lnTo>
                  <a:pt x="2166590" y="960371"/>
                </a:lnTo>
                <a:lnTo>
                  <a:pt x="2195097" y="970954"/>
                </a:lnTo>
                <a:lnTo>
                  <a:pt x="2223605" y="984287"/>
                </a:lnTo>
                <a:lnTo>
                  <a:pt x="2252113" y="1000187"/>
                </a:lnTo>
                <a:lnTo>
                  <a:pt x="2280621" y="1018431"/>
                </a:lnTo>
                <a:lnTo>
                  <a:pt x="2309128" y="1038766"/>
                </a:lnTo>
                <a:lnTo>
                  <a:pt x="2337636" y="1060915"/>
                </a:lnTo>
                <a:lnTo>
                  <a:pt x="2366144" y="1084587"/>
                </a:lnTo>
                <a:lnTo>
                  <a:pt x="2394652" y="1109481"/>
                </a:lnTo>
                <a:lnTo>
                  <a:pt x="2423160" y="1135296"/>
                </a:lnTo>
                <a:lnTo>
                  <a:pt x="2451667" y="1161733"/>
                </a:lnTo>
                <a:lnTo>
                  <a:pt x="2480175" y="1188507"/>
                </a:lnTo>
                <a:lnTo>
                  <a:pt x="2508683" y="1215346"/>
                </a:lnTo>
                <a:lnTo>
                  <a:pt x="2537191" y="1241999"/>
                </a:lnTo>
                <a:lnTo>
                  <a:pt x="2565698" y="1268239"/>
                </a:lnTo>
                <a:lnTo>
                  <a:pt x="2594206" y="1293863"/>
                </a:lnTo>
                <a:lnTo>
                  <a:pt x="2622714" y="1318697"/>
                </a:lnTo>
                <a:lnTo>
                  <a:pt x="2651222" y="1342597"/>
                </a:lnTo>
                <a:lnTo>
                  <a:pt x="2679729" y="1365446"/>
                </a:lnTo>
                <a:lnTo>
                  <a:pt x="2708237" y="1387157"/>
                </a:lnTo>
                <a:lnTo>
                  <a:pt x="2736745" y="1407672"/>
                </a:lnTo>
                <a:lnTo>
                  <a:pt x="2765253" y="1426959"/>
                </a:lnTo>
                <a:lnTo>
                  <a:pt x="2793760" y="1445009"/>
                </a:lnTo>
                <a:lnTo>
                  <a:pt x="2822268" y="1461837"/>
                </a:lnTo>
                <a:lnTo>
                  <a:pt x="2850776" y="1477476"/>
                </a:lnTo>
                <a:lnTo>
                  <a:pt x="2879284" y="1491980"/>
                </a:lnTo>
                <a:lnTo>
                  <a:pt x="2907792" y="1505411"/>
                </a:lnTo>
                <a:lnTo>
                  <a:pt x="2936299" y="1517849"/>
                </a:lnTo>
                <a:lnTo>
                  <a:pt x="2964807" y="1529377"/>
                </a:lnTo>
                <a:lnTo>
                  <a:pt x="2993315" y="1540087"/>
                </a:lnTo>
                <a:lnTo>
                  <a:pt x="3021823" y="1550074"/>
                </a:lnTo>
                <a:lnTo>
                  <a:pt x="3050330" y="1559435"/>
                </a:lnTo>
                <a:lnTo>
                  <a:pt x="3078838" y="1568264"/>
                </a:lnTo>
                <a:lnTo>
                  <a:pt x="3107346" y="1576655"/>
                </a:lnTo>
                <a:lnTo>
                  <a:pt x="3135854" y="1584696"/>
                </a:lnTo>
                <a:lnTo>
                  <a:pt x="3164361" y="1592471"/>
                </a:lnTo>
                <a:lnTo>
                  <a:pt x="3192869" y="1600057"/>
                </a:lnTo>
                <a:lnTo>
                  <a:pt x="3221377" y="1607525"/>
                </a:lnTo>
                <a:lnTo>
                  <a:pt x="3249885" y="1614936"/>
                </a:lnTo>
                <a:lnTo>
                  <a:pt x="3278392" y="1622346"/>
                </a:lnTo>
                <a:lnTo>
                  <a:pt x="3306900" y="1629802"/>
                </a:lnTo>
                <a:lnTo>
                  <a:pt x="3335408" y="1637343"/>
                </a:lnTo>
                <a:lnTo>
                  <a:pt x="3363916" y="1645001"/>
                </a:lnTo>
                <a:lnTo>
                  <a:pt x="3392423" y="1652799"/>
                </a:lnTo>
                <a:lnTo>
                  <a:pt x="3420931" y="1660754"/>
                </a:lnTo>
                <a:lnTo>
                  <a:pt x="3449439" y="1668879"/>
                </a:lnTo>
                <a:lnTo>
                  <a:pt x="3477947" y="1677176"/>
                </a:lnTo>
                <a:lnTo>
                  <a:pt x="3506455" y="1685646"/>
                </a:lnTo>
                <a:lnTo>
                  <a:pt x="3534962" y="1694284"/>
                </a:lnTo>
                <a:lnTo>
                  <a:pt x="3563470" y="1703079"/>
                </a:lnTo>
                <a:lnTo>
                  <a:pt x="3591978" y="1712019"/>
                </a:lnTo>
                <a:lnTo>
                  <a:pt x="3620486" y="1721088"/>
                </a:lnTo>
                <a:lnTo>
                  <a:pt x="3648993" y="1730266"/>
                </a:lnTo>
                <a:lnTo>
                  <a:pt x="3677501" y="1739533"/>
                </a:lnTo>
                <a:lnTo>
                  <a:pt x="3706009" y="1748867"/>
                </a:lnTo>
                <a:lnTo>
                  <a:pt x="3734517" y="1758245"/>
                </a:lnTo>
                <a:lnTo>
                  <a:pt x="3763024" y="1767642"/>
                </a:lnTo>
                <a:lnTo>
                  <a:pt x="3791532" y="1777035"/>
                </a:lnTo>
                <a:lnTo>
                  <a:pt x="3820040" y="1786398"/>
                </a:lnTo>
                <a:lnTo>
                  <a:pt x="3848548" y="1795709"/>
                </a:lnTo>
                <a:lnTo>
                  <a:pt x="3877056" y="1804943"/>
                </a:lnTo>
                <a:lnTo>
                  <a:pt x="3905563" y="1814078"/>
                </a:lnTo>
                <a:lnTo>
                  <a:pt x="3934071" y="1823093"/>
                </a:lnTo>
                <a:lnTo>
                  <a:pt x="3962579" y="1831968"/>
                </a:lnTo>
                <a:lnTo>
                  <a:pt x="3991087" y="1840683"/>
                </a:lnTo>
                <a:lnTo>
                  <a:pt x="4019594" y="1849222"/>
                </a:lnTo>
                <a:lnTo>
                  <a:pt x="4048102" y="1857566"/>
                </a:lnTo>
                <a:lnTo>
                  <a:pt x="4076610" y="1865703"/>
                </a:lnTo>
                <a:lnTo>
                  <a:pt x="4105118" y="1873620"/>
                </a:lnTo>
                <a:lnTo>
                  <a:pt x="4133625" y="1881304"/>
                </a:lnTo>
                <a:lnTo>
                  <a:pt x="4162133" y="1888746"/>
                </a:lnTo>
                <a:lnTo>
                  <a:pt x="4190641" y="1895938"/>
                </a:lnTo>
                <a:lnTo>
                  <a:pt x="4219149" y="1902874"/>
                </a:lnTo>
                <a:lnTo>
                  <a:pt x="4247656" y="1909547"/>
                </a:lnTo>
                <a:lnTo>
                  <a:pt x="4276164" y="1915955"/>
                </a:lnTo>
                <a:lnTo>
                  <a:pt x="4304672" y="1922096"/>
                </a:lnTo>
                <a:lnTo>
                  <a:pt x="4333180" y="1927967"/>
                </a:lnTo>
                <a:lnTo>
                  <a:pt x="4361688" y="1933571"/>
                </a:lnTo>
                <a:lnTo>
                  <a:pt x="4390195" y="1938907"/>
                </a:lnTo>
                <a:lnTo>
                  <a:pt x="4418703" y="1943979"/>
                </a:lnTo>
                <a:lnTo>
                  <a:pt x="4447211" y="1948791"/>
                </a:lnTo>
                <a:lnTo>
                  <a:pt x="4475719" y="1953346"/>
                </a:lnTo>
                <a:lnTo>
                  <a:pt x="4504226" y="1957650"/>
                </a:lnTo>
                <a:lnTo>
                  <a:pt x="4532734" y="1961708"/>
                </a:lnTo>
                <a:lnTo>
                  <a:pt x="4561242" y="1965529"/>
                </a:lnTo>
                <a:lnTo>
                  <a:pt x="4589750" y="1969118"/>
                </a:lnTo>
                <a:lnTo>
                  <a:pt x="4618257" y="1972484"/>
                </a:lnTo>
                <a:lnTo>
                  <a:pt x="4646765" y="1975634"/>
                </a:lnTo>
                <a:lnTo>
                  <a:pt x="4675273" y="1978576"/>
                </a:lnTo>
                <a:lnTo>
                  <a:pt x="4703781" y="1981320"/>
                </a:lnTo>
                <a:lnTo>
                  <a:pt x="4732288" y="1983874"/>
                </a:lnTo>
                <a:lnTo>
                  <a:pt x="4760796" y="1986247"/>
                </a:lnTo>
                <a:lnTo>
                  <a:pt x="4789304" y="1988448"/>
                </a:lnTo>
                <a:lnTo>
                  <a:pt x="4817812" y="1990484"/>
                </a:lnTo>
                <a:lnTo>
                  <a:pt x="4846320" y="1992367"/>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822960" y="3031721"/>
            <a:ext cx="4846320" cy="900198"/>
          </a:xfrm>
          <a:custGeom>
            <a:avLst/>
            <a:gdLst/>
            <a:ahLst/>
            <a:cxnLst/>
            <a:rect l="l" t="t" r="r" b="b"/>
            <a:pathLst>
              <a:path w="4846320" h="900198">
                <a:moveTo>
                  <a:pt x="0" y="900182"/>
                </a:moveTo>
                <a:lnTo>
                  <a:pt x="28507" y="900176"/>
                </a:lnTo>
                <a:lnTo>
                  <a:pt x="57015" y="900168"/>
                </a:lnTo>
                <a:lnTo>
                  <a:pt x="85523" y="900157"/>
                </a:lnTo>
                <a:lnTo>
                  <a:pt x="114031" y="900143"/>
                </a:lnTo>
                <a:lnTo>
                  <a:pt x="142538" y="900125"/>
                </a:lnTo>
                <a:lnTo>
                  <a:pt x="171046" y="900101"/>
                </a:lnTo>
                <a:lnTo>
                  <a:pt x="199554" y="900070"/>
                </a:lnTo>
                <a:lnTo>
                  <a:pt x="228062" y="900030"/>
                </a:lnTo>
                <a:lnTo>
                  <a:pt x="256569" y="899978"/>
                </a:lnTo>
                <a:lnTo>
                  <a:pt x="285077" y="899912"/>
                </a:lnTo>
                <a:lnTo>
                  <a:pt x="313585" y="899827"/>
                </a:lnTo>
                <a:lnTo>
                  <a:pt x="342093" y="899718"/>
                </a:lnTo>
                <a:lnTo>
                  <a:pt x="370600" y="899581"/>
                </a:lnTo>
                <a:lnTo>
                  <a:pt x="399108" y="899407"/>
                </a:lnTo>
                <a:lnTo>
                  <a:pt x="427616" y="899190"/>
                </a:lnTo>
                <a:lnTo>
                  <a:pt x="456124" y="898918"/>
                </a:lnTo>
                <a:lnTo>
                  <a:pt x="484632" y="898579"/>
                </a:lnTo>
                <a:lnTo>
                  <a:pt x="513139" y="898160"/>
                </a:lnTo>
                <a:lnTo>
                  <a:pt x="541647" y="897643"/>
                </a:lnTo>
                <a:lnTo>
                  <a:pt x="570155" y="897009"/>
                </a:lnTo>
                <a:lnTo>
                  <a:pt x="598663" y="896234"/>
                </a:lnTo>
                <a:lnTo>
                  <a:pt x="627170" y="895292"/>
                </a:lnTo>
                <a:lnTo>
                  <a:pt x="655678" y="894152"/>
                </a:lnTo>
                <a:lnTo>
                  <a:pt x="684186" y="892780"/>
                </a:lnTo>
                <a:lnTo>
                  <a:pt x="712694" y="891134"/>
                </a:lnTo>
                <a:lnTo>
                  <a:pt x="741201" y="889170"/>
                </a:lnTo>
                <a:lnTo>
                  <a:pt x="769709" y="886838"/>
                </a:lnTo>
                <a:lnTo>
                  <a:pt x="798217" y="884083"/>
                </a:lnTo>
                <a:lnTo>
                  <a:pt x="826725" y="880841"/>
                </a:lnTo>
                <a:lnTo>
                  <a:pt x="855232" y="877047"/>
                </a:lnTo>
                <a:lnTo>
                  <a:pt x="883740" y="872627"/>
                </a:lnTo>
                <a:lnTo>
                  <a:pt x="912248" y="867503"/>
                </a:lnTo>
                <a:lnTo>
                  <a:pt x="940756" y="861593"/>
                </a:lnTo>
                <a:lnTo>
                  <a:pt x="969264" y="854808"/>
                </a:lnTo>
                <a:lnTo>
                  <a:pt x="997771" y="847058"/>
                </a:lnTo>
                <a:lnTo>
                  <a:pt x="1026279" y="838251"/>
                </a:lnTo>
                <a:lnTo>
                  <a:pt x="1054787" y="828291"/>
                </a:lnTo>
                <a:lnTo>
                  <a:pt x="1083295" y="817086"/>
                </a:lnTo>
                <a:lnTo>
                  <a:pt x="1111802" y="804544"/>
                </a:lnTo>
                <a:lnTo>
                  <a:pt x="1140310" y="790579"/>
                </a:lnTo>
                <a:lnTo>
                  <a:pt x="1168818" y="775111"/>
                </a:lnTo>
                <a:lnTo>
                  <a:pt x="1197326" y="758068"/>
                </a:lnTo>
                <a:lnTo>
                  <a:pt x="1225833" y="739392"/>
                </a:lnTo>
                <a:lnTo>
                  <a:pt x="1254341" y="719038"/>
                </a:lnTo>
                <a:lnTo>
                  <a:pt x="1282849" y="696977"/>
                </a:lnTo>
                <a:lnTo>
                  <a:pt x="1311357" y="673201"/>
                </a:lnTo>
                <a:lnTo>
                  <a:pt x="1339864" y="647724"/>
                </a:lnTo>
                <a:lnTo>
                  <a:pt x="1368372" y="620585"/>
                </a:lnTo>
                <a:lnTo>
                  <a:pt x="1396880" y="591849"/>
                </a:lnTo>
                <a:lnTo>
                  <a:pt x="1425388" y="561610"/>
                </a:lnTo>
                <a:lnTo>
                  <a:pt x="1453896" y="529989"/>
                </a:lnTo>
                <a:lnTo>
                  <a:pt x="1482403" y="497141"/>
                </a:lnTo>
                <a:lnTo>
                  <a:pt x="1510911" y="463250"/>
                </a:lnTo>
                <a:lnTo>
                  <a:pt x="1539419" y="428527"/>
                </a:lnTo>
                <a:lnTo>
                  <a:pt x="1567927" y="393216"/>
                </a:lnTo>
                <a:lnTo>
                  <a:pt x="1596434" y="357584"/>
                </a:lnTo>
                <a:lnTo>
                  <a:pt x="1624942" y="321923"/>
                </a:lnTo>
                <a:lnTo>
                  <a:pt x="1653450" y="286546"/>
                </a:lnTo>
                <a:lnTo>
                  <a:pt x="1681958" y="251780"/>
                </a:lnTo>
                <a:lnTo>
                  <a:pt x="1710465" y="217965"/>
                </a:lnTo>
                <a:lnTo>
                  <a:pt x="1738973" y="185447"/>
                </a:lnTo>
                <a:lnTo>
                  <a:pt x="1767481" y="154571"/>
                </a:lnTo>
                <a:lnTo>
                  <a:pt x="1795989" y="125677"/>
                </a:lnTo>
                <a:lnTo>
                  <a:pt x="1824496" y="99092"/>
                </a:lnTo>
                <a:lnTo>
                  <a:pt x="1853004" y="75128"/>
                </a:lnTo>
                <a:lnTo>
                  <a:pt x="1881512" y="54068"/>
                </a:lnTo>
                <a:lnTo>
                  <a:pt x="1910020" y="36170"/>
                </a:lnTo>
                <a:lnTo>
                  <a:pt x="1938528" y="21655"/>
                </a:lnTo>
                <a:lnTo>
                  <a:pt x="1967035" y="10703"/>
                </a:lnTo>
                <a:lnTo>
                  <a:pt x="1995543" y="3454"/>
                </a:lnTo>
                <a:lnTo>
                  <a:pt x="2024051" y="0"/>
                </a:lnTo>
                <a:lnTo>
                  <a:pt x="2052559" y="384"/>
                </a:lnTo>
                <a:lnTo>
                  <a:pt x="2081066" y="4603"/>
                </a:lnTo>
                <a:lnTo>
                  <a:pt x="2109574" y="12601"/>
                </a:lnTo>
                <a:lnTo>
                  <a:pt x="2138082" y="24278"/>
                </a:lnTo>
                <a:lnTo>
                  <a:pt x="2166590" y="39486"/>
                </a:lnTo>
                <a:lnTo>
                  <a:pt x="2195097" y="58035"/>
                </a:lnTo>
                <a:lnTo>
                  <a:pt x="2223605" y="79697"/>
                </a:lnTo>
                <a:lnTo>
                  <a:pt x="2252113" y="104209"/>
                </a:lnTo>
                <a:lnTo>
                  <a:pt x="2280621" y="131281"/>
                </a:lnTo>
                <a:lnTo>
                  <a:pt x="2309128" y="160598"/>
                </a:lnTo>
                <a:lnTo>
                  <a:pt x="2337636" y="191830"/>
                </a:lnTo>
                <a:lnTo>
                  <a:pt x="2366144" y="224636"/>
                </a:lnTo>
                <a:lnTo>
                  <a:pt x="2394652" y="258668"/>
                </a:lnTo>
                <a:lnTo>
                  <a:pt x="2423160" y="293583"/>
                </a:lnTo>
                <a:lnTo>
                  <a:pt x="2451667" y="329043"/>
                </a:lnTo>
                <a:lnTo>
                  <a:pt x="2480175" y="364722"/>
                </a:lnTo>
                <a:lnTo>
                  <a:pt x="2508683" y="400313"/>
                </a:lnTo>
                <a:lnTo>
                  <a:pt x="2537191" y="435527"/>
                </a:lnTo>
                <a:lnTo>
                  <a:pt x="2565698" y="470102"/>
                </a:lnTo>
                <a:lnTo>
                  <a:pt x="2594206" y="503801"/>
                </a:lnTo>
                <a:lnTo>
                  <a:pt x="2622714" y="536417"/>
                </a:lnTo>
                <a:lnTo>
                  <a:pt x="2651222" y="567772"/>
                </a:lnTo>
                <a:lnTo>
                  <a:pt x="2679729" y="597720"/>
                </a:lnTo>
                <a:lnTo>
                  <a:pt x="2708237" y="626143"/>
                </a:lnTo>
                <a:lnTo>
                  <a:pt x="2736745" y="652954"/>
                </a:lnTo>
                <a:lnTo>
                  <a:pt x="2765253" y="678093"/>
                </a:lnTo>
                <a:lnTo>
                  <a:pt x="2793760" y="701526"/>
                </a:lnTo>
                <a:lnTo>
                  <a:pt x="2822268" y="723244"/>
                </a:lnTo>
                <a:lnTo>
                  <a:pt x="2850776" y="743260"/>
                </a:lnTo>
                <a:lnTo>
                  <a:pt x="2879284" y="761606"/>
                </a:lnTo>
                <a:lnTo>
                  <a:pt x="2907792" y="778328"/>
                </a:lnTo>
                <a:lnTo>
                  <a:pt x="2936299" y="793490"/>
                </a:lnTo>
                <a:lnTo>
                  <a:pt x="2964807" y="807164"/>
                </a:lnTo>
                <a:lnTo>
                  <a:pt x="2993315" y="819431"/>
                </a:lnTo>
                <a:lnTo>
                  <a:pt x="3021823" y="830379"/>
                </a:lnTo>
                <a:lnTo>
                  <a:pt x="3050330" y="840101"/>
                </a:lnTo>
                <a:lnTo>
                  <a:pt x="3078838" y="848690"/>
                </a:lnTo>
                <a:lnTo>
                  <a:pt x="3107346" y="856239"/>
                </a:lnTo>
                <a:lnTo>
                  <a:pt x="3135854" y="862842"/>
                </a:lnTo>
                <a:lnTo>
                  <a:pt x="3164361" y="868588"/>
                </a:lnTo>
                <a:lnTo>
                  <a:pt x="3192869" y="873565"/>
                </a:lnTo>
                <a:lnTo>
                  <a:pt x="3221377" y="877854"/>
                </a:lnTo>
                <a:lnTo>
                  <a:pt x="3249885" y="881532"/>
                </a:lnTo>
                <a:lnTo>
                  <a:pt x="3278392" y="884671"/>
                </a:lnTo>
                <a:lnTo>
                  <a:pt x="3306900" y="887337"/>
                </a:lnTo>
                <a:lnTo>
                  <a:pt x="3335408" y="889591"/>
                </a:lnTo>
                <a:lnTo>
                  <a:pt x="3363916" y="891487"/>
                </a:lnTo>
                <a:lnTo>
                  <a:pt x="3392423" y="893075"/>
                </a:lnTo>
                <a:lnTo>
                  <a:pt x="3420931" y="894398"/>
                </a:lnTo>
                <a:lnTo>
                  <a:pt x="3449439" y="895495"/>
                </a:lnTo>
                <a:lnTo>
                  <a:pt x="3477947" y="896402"/>
                </a:lnTo>
                <a:lnTo>
                  <a:pt x="3506455" y="897146"/>
                </a:lnTo>
                <a:lnTo>
                  <a:pt x="3534962" y="897755"/>
                </a:lnTo>
                <a:lnTo>
                  <a:pt x="3563470" y="898251"/>
                </a:lnTo>
                <a:lnTo>
                  <a:pt x="3591978" y="898653"/>
                </a:lnTo>
                <a:lnTo>
                  <a:pt x="3620486" y="898977"/>
                </a:lnTo>
                <a:lnTo>
                  <a:pt x="3648993" y="899237"/>
                </a:lnTo>
                <a:lnTo>
                  <a:pt x="3677501" y="899445"/>
                </a:lnTo>
                <a:lnTo>
                  <a:pt x="3706009" y="899611"/>
                </a:lnTo>
                <a:lnTo>
                  <a:pt x="3734517" y="899742"/>
                </a:lnTo>
                <a:lnTo>
                  <a:pt x="3763024" y="899845"/>
                </a:lnTo>
                <a:lnTo>
                  <a:pt x="3791532" y="899927"/>
                </a:lnTo>
                <a:lnTo>
                  <a:pt x="3820040" y="899990"/>
                </a:lnTo>
                <a:lnTo>
                  <a:pt x="3848548" y="900039"/>
                </a:lnTo>
                <a:lnTo>
                  <a:pt x="3877056" y="900077"/>
                </a:lnTo>
                <a:lnTo>
                  <a:pt x="3905563" y="900107"/>
                </a:lnTo>
                <a:lnTo>
                  <a:pt x="3934071" y="900129"/>
                </a:lnTo>
                <a:lnTo>
                  <a:pt x="3962579" y="900147"/>
                </a:lnTo>
                <a:lnTo>
                  <a:pt x="3991087" y="900160"/>
                </a:lnTo>
                <a:lnTo>
                  <a:pt x="4019594" y="900170"/>
                </a:lnTo>
                <a:lnTo>
                  <a:pt x="4048102" y="900177"/>
                </a:lnTo>
                <a:lnTo>
                  <a:pt x="4076610" y="900183"/>
                </a:lnTo>
                <a:lnTo>
                  <a:pt x="4105118" y="900187"/>
                </a:lnTo>
                <a:lnTo>
                  <a:pt x="4133625" y="900190"/>
                </a:lnTo>
                <a:lnTo>
                  <a:pt x="4162133" y="900192"/>
                </a:lnTo>
                <a:lnTo>
                  <a:pt x="4190641" y="900194"/>
                </a:lnTo>
                <a:lnTo>
                  <a:pt x="4219149" y="900195"/>
                </a:lnTo>
                <a:lnTo>
                  <a:pt x="4247656" y="900196"/>
                </a:lnTo>
                <a:lnTo>
                  <a:pt x="4276164" y="900197"/>
                </a:lnTo>
                <a:lnTo>
                  <a:pt x="4304672" y="900197"/>
                </a:lnTo>
                <a:lnTo>
                  <a:pt x="4333180" y="900198"/>
                </a:lnTo>
                <a:lnTo>
                  <a:pt x="4361688" y="900198"/>
                </a:lnTo>
                <a:lnTo>
                  <a:pt x="4390195" y="900198"/>
                </a:lnTo>
                <a:lnTo>
                  <a:pt x="4418703" y="900198"/>
                </a:lnTo>
                <a:lnTo>
                  <a:pt x="4447211" y="900198"/>
                </a:lnTo>
                <a:lnTo>
                  <a:pt x="4475719" y="900198"/>
                </a:lnTo>
                <a:lnTo>
                  <a:pt x="4504226" y="900198"/>
                </a:lnTo>
                <a:lnTo>
                  <a:pt x="4532734" y="900198"/>
                </a:lnTo>
                <a:lnTo>
                  <a:pt x="4561242" y="900198"/>
                </a:lnTo>
                <a:lnTo>
                  <a:pt x="4589750" y="900198"/>
                </a:lnTo>
                <a:lnTo>
                  <a:pt x="4618257" y="900198"/>
                </a:lnTo>
                <a:lnTo>
                  <a:pt x="4646765" y="900198"/>
                </a:lnTo>
                <a:lnTo>
                  <a:pt x="4675273" y="900198"/>
                </a:lnTo>
                <a:lnTo>
                  <a:pt x="4703781" y="900198"/>
                </a:lnTo>
                <a:lnTo>
                  <a:pt x="4732288" y="900198"/>
                </a:lnTo>
                <a:lnTo>
                  <a:pt x="4760796" y="900198"/>
                </a:lnTo>
                <a:lnTo>
                  <a:pt x="4789304" y="900198"/>
                </a:lnTo>
                <a:lnTo>
                  <a:pt x="4817812" y="900198"/>
                </a:lnTo>
                <a:lnTo>
                  <a:pt x="4846320" y="900198"/>
                </a:lnTo>
              </a:path>
            </a:pathLst>
          </a:custGeom>
          <a:noFill/>
          <a:ln w="2540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822960" y="3931920"/>
            <a:ext cx="484632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3986784"/>
            <a:ext cx="484632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D55E00"/>
                </a:solidFill>
                <a:latin typeface="メイリオ"/>
                <a:ea typeface="メイリオ"/>
                <a:cs typeface="メイリオ"/>
              </a:rPr>
              <a:t>分解 A：高くて細い反射波</a:t>
            </a:r>
          </a:p>
        </p:txBody>
      </p:sp>
      <p:sp>
        <p:nvSpPr>
          <p:cNvPr id="16" name="Freeform 15"/>
          <p:cNvSpPr/>
          <p:nvPr/>
        </p:nvSpPr>
        <p:spPr>
          <a:xfrm>
            <a:off x="6492240" y="1920398"/>
            <a:ext cx="4846319" cy="1986732"/>
          </a:xfrm>
          <a:custGeom>
            <a:avLst/>
            <a:gdLst/>
            <a:ahLst/>
            <a:cxnLst/>
            <a:rect l="l" t="t" r="r" b="b"/>
            <a:pathLst>
              <a:path w="4846319" h="1986732">
                <a:moveTo>
                  <a:pt x="0" y="1978597"/>
                </a:moveTo>
                <a:lnTo>
                  <a:pt x="28507" y="1969953"/>
                </a:lnTo>
                <a:lnTo>
                  <a:pt x="57015" y="1959387"/>
                </a:lnTo>
                <a:lnTo>
                  <a:pt x="85523" y="1946570"/>
                </a:lnTo>
                <a:lnTo>
                  <a:pt x="114031" y="1931145"/>
                </a:lnTo>
                <a:lnTo>
                  <a:pt x="142538" y="1912727"/>
                </a:lnTo>
                <a:lnTo>
                  <a:pt x="171046" y="1890910"/>
                </a:lnTo>
                <a:lnTo>
                  <a:pt x="199554" y="1865276"/>
                </a:lnTo>
                <a:lnTo>
                  <a:pt x="228062" y="1835401"/>
                </a:lnTo>
                <a:lnTo>
                  <a:pt x="256569" y="1800871"/>
                </a:lnTo>
                <a:lnTo>
                  <a:pt x="285077" y="1761296"/>
                </a:lnTo>
                <a:lnTo>
                  <a:pt x="313585" y="1716323"/>
                </a:lnTo>
                <a:lnTo>
                  <a:pt x="342093" y="1665657"/>
                </a:lnTo>
                <a:lnTo>
                  <a:pt x="370600" y="1609078"/>
                </a:lnTo>
                <a:lnTo>
                  <a:pt x="399108" y="1546463"/>
                </a:lnTo>
                <a:lnTo>
                  <a:pt x="427616" y="1477800"/>
                </a:lnTo>
                <a:lnTo>
                  <a:pt x="456124" y="1403210"/>
                </a:lnTo>
                <a:lnTo>
                  <a:pt x="484632" y="1322961"/>
                </a:lnTo>
                <a:lnTo>
                  <a:pt x="513139" y="1237479"/>
                </a:lnTo>
                <a:lnTo>
                  <a:pt x="541647" y="1147355"/>
                </a:lnTo>
                <a:lnTo>
                  <a:pt x="570155" y="1053350"/>
                </a:lnTo>
                <a:lnTo>
                  <a:pt x="598663" y="956386"/>
                </a:lnTo>
                <a:lnTo>
                  <a:pt x="627170" y="857541"/>
                </a:lnTo>
                <a:lnTo>
                  <a:pt x="655678" y="758031"/>
                </a:lnTo>
                <a:lnTo>
                  <a:pt x="684186" y="659181"/>
                </a:lnTo>
                <a:lnTo>
                  <a:pt x="712694" y="562404"/>
                </a:lnTo>
                <a:lnTo>
                  <a:pt x="741201" y="469156"/>
                </a:lnTo>
                <a:lnTo>
                  <a:pt x="769709" y="380904"/>
                </a:lnTo>
                <a:lnTo>
                  <a:pt x="798217" y="299079"/>
                </a:lnTo>
                <a:lnTo>
                  <a:pt x="826725" y="225034"/>
                </a:lnTo>
                <a:lnTo>
                  <a:pt x="855232" y="160002"/>
                </a:lnTo>
                <a:lnTo>
                  <a:pt x="883740" y="105052"/>
                </a:lnTo>
                <a:lnTo>
                  <a:pt x="912248" y="61058"/>
                </a:lnTo>
                <a:lnTo>
                  <a:pt x="940756" y="28665"/>
                </a:lnTo>
                <a:lnTo>
                  <a:pt x="969264" y="8268"/>
                </a:lnTo>
                <a:lnTo>
                  <a:pt x="997771" y="0"/>
                </a:lnTo>
                <a:lnTo>
                  <a:pt x="1026279" y="3726"/>
                </a:lnTo>
                <a:lnTo>
                  <a:pt x="1054787" y="19049"/>
                </a:lnTo>
                <a:lnTo>
                  <a:pt x="1083295" y="45323"/>
                </a:lnTo>
                <a:lnTo>
                  <a:pt x="1111802" y="81679"/>
                </a:lnTo>
                <a:lnTo>
                  <a:pt x="1140310" y="127053"/>
                </a:lnTo>
                <a:lnTo>
                  <a:pt x="1168818" y="180226"/>
                </a:lnTo>
                <a:lnTo>
                  <a:pt x="1197326" y="239860"/>
                </a:lnTo>
                <a:lnTo>
                  <a:pt x="1225833" y="304548"/>
                </a:lnTo>
                <a:lnTo>
                  <a:pt x="1254341" y="372852"/>
                </a:lnTo>
                <a:lnTo>
                  <a:pt x="1282849" y="443350"/>
                </a:lnTo>
                <a:lnTo>
                  <a:pt x="1311357" y="514675"/>
                </a:lnTo>
                <a:lnTo>
                  <a:pt x="1339864" y="585547"/>
                </a:lnTo>
                <a:lnTo>
                  <a:pt x="1368372" y="654809"/>
                </a:lnTo>
                <a:lnTo>
                  <a:pt x="1396880" y="721444"/>
                </a:lnTo>
                <a:lnTo>
                  <a:pt x="1425388" y="784596"/>
                </a:lnTo>
                <a:lnTo>
                  <a:pt x="1453896" y="843579"/>
                </a:lnTo>
                <a:lnTo>
                  <a:pt x="1482403" y="897877"/>
                </a:lnTo>
                <a:lnTo>
                  <a:pt x="1510911" y="947145"/>
                </a:lnTo>
                <a:lnTo>
                  <a:pt x="1539419" y="991199"/>
                </a:lnTo>
                <a:lnTo>
                  <a:pt x="1567927" y="1030002"/>
                </a:lnTo>
                <a:lnTo>
                  <a:pt x="1596434" y="1063649"/>
                </a:lnTo>
                <a:lnTo>
                  <a:pt x="1624942" y="1092348"/>
                </a:lnTo>
                <a:lnTo>
                  <a:pt x="1653450" y="1116399"/>
                </a:lnTo>
                <a:lnTo>
                  <a:pt x="1681958" y="1136175"/>
                </a:lnTo>
                <a:lnTo>
                  <a:pt x="1710465" y="1152102"/>
                </a:lnTo>
                <a:lnTo>
                  <a:pt x="1738973" y="1164638"/>
                </a:lnTo>
                <a:lnTo>
                  <a:pt x="1767481" y="1174256"/>
                </a:lnTo>
                <a:lnTo>
                  <a:pt x="1795989" y="1181433"/>
                </a:lnTo>
                <a:lnTo>
                  <a:pt x="1824496" y="1186630"/>
                </a:lnTo>
                <a:lnTo>
                  <a:pt x="1853004" y="1190288"/>
                </a:lnTo>
                <a:lnTo>
                  <a:pt x="1881512" y="1192815"/>
                </a:lnTo>
                <a:lnTo>
                  <a:pt x="1910020" y="1194584"/>
                </a:lnTo>
                <a:lnTo>
                  <a:pt x="1938527" y="1195923"/>
                </a:lnTo>
                <a:lnTo>
                  <a:pt x="1967035" y="1197122"/>
                </a:lnTo>
                <a:lnTo>
                  <a:pt x="1995543" y="1198423"/>
                </a:lnTo>
                <a:lnTo>
                  <a:pt x="2024051" y="1200028"/>
                </a:lnTo>
                <a:lnTo>
                  <a:pt x="2052559" y="1202097"/>
                </a:lnTo>
                <a:lnTo>
                  <a:pt x="2081066" y="1204750"/>
                </a:lnTo>
                <a:lnTo>
                  <a:pt x="2109574" y="1208075"/>
                </a:lnTo>
                <a:lnTo>
                  <a:pt x="2138082" y="1212126"/>
                </a:lnTo>
                <a:lnTo>
                  <a:pt x="2166590" y="1216928"/>
                </a:lnTo>
                <a:lnTo>
                  <a:pt x="2195097" y="1222484"/>
                </a:lnTo>
                <a:lnTo>
                  <a:pt x="2223605" y="1228776"/>
                </a:lnTo>
                <a:lnTo>
                  <a:pt x="2252113" y="1235768"/>
                </a:lnTo>
                <a:lnTo>
                  <a:pt x="2280621" y="1243410"/>
                </a:lnTo>
                <a:lnTo>
                  <a:pt x="2309128" y="1251642"/>
                </a:lnTo>
                <a:lnTo>
                  <a:pt x="2337636" y="1260397"/>
                </a:lnTo>
                <a:lnTo>
                  <a:pt x="2366144" y="1269603"/>
                </a:lnTo>
                <a:lnTo>
                  <a:pt x="2394652" y="1279183"/>
                </a:lnTo>
                <a:lnTo>
                  <a:pt x="2423160" y="1289062"/>
                </a:lnTo>
                <a:lnTo>
                  <a:pt x="2451667" y="1299164"/>
                </a:lnTo>
                <a:lnTo>
                  <a:pt x="2480175" y="1309418"/>
                </a:lnTo>
                <a:lnTo>
                  <a:pt x="2508683" y="1319755"/>
                </a:lnTo>
                <a:lnTo>
                  <a:pt x="2537191" y="1330112"/>
                </a:lnTo>
                <a:lnTo>
                  <a:pt x="2565698" y="1340432"/>
                </a:lnTo>
                <a:lnTo>
                  <a:pt x="2594206" y="1350664"/>
                </a:lnTo>
                <a:lnTo>
                  <a:pt x="2622714" y="1360764"/>
                </a:lnTo>
                <a:lnTo>
                  <a:pt x="2651222" y="1370697"/>
                </a:lnTo>
                <a:lnTo>
                  <a:pt x="2679729" y="1380433"/>
                </a:lnTo>
                <a:lnTo>
                  <a:pt x="2708237" y="1389951"/>
                </a:lnTo>
                <a:lnTo>
                  <a:pt x="2736745" y="1399237"/>
                </a:lnTo>
                <a:lnTo>
                  <a:pt x="2765253" y="1408285"/>
                </a:lnTo>
                <a:lnTo>
                  <a:pt x="2793760" y="1417092"/>
                </a:lnTo>
                <a:lnTo>
                  <a:pt x="2822268" y="1425666"/>
                </a:lnTo>
                <a:lnTo>
                  <a:pt x="2850776" y="1434018"/>
                </a:lnTo>
                <a:lnTo>
                  <a:pt x="2879284" y="1442163"/>
                </a:lnTo>
                <a:lnTo>
                  <a:pt x="2907792" y="1450122"/>
                </a:lnTo>
                <a:lnTo>
                  <a:pt x="2936299" y="1457920"/>
                </a:lnTo>
                <a:lnTo>
                  <a:pt x="2964807" y="1465583"/>
                </a:lnTo>
                <a:lnTo>
                  <a:pt x="2993315" y="1473141"/>
                </a:lnTo>
                <a:lnTo>
                  <a:pt x="3021823" y="1480625"/>
                </a:lnTo>
                <a:lnTo>
                  <a:pt x="3050330" y="1488067"/>
                </a:lnTo>
                <a:lnTo>
                  <a:pt x="3078838" y="1495497"/>
                </a:lnTo>
                <a:lnTo>
                  <a:pt x="3107346" y="1502948"/>
                </a:lnTo>
                <a:lnTo>
                  <a:pt x="3135854" y="1510450"/>
                </a:lnTo>
                <a:lnTo>
                  <a:pt x="3164361" y="1518032"/>
                </a:lnTo>
                <a:lnTo>
                  <a:pt x="3192869" y="1525721"/>
                </a:lnTo>
                <a:lnTo>
                  <a:pt x="3221377" y="1533541"/>
                </a:lnTo>
                <a:lnTo>
                  <a:pt x="3249885" y="1541514"/>
                </a:lnTo>
                <a:lnTo>
                  <a:pt x="3278392" y="1549658"/>
                </a:lnTo>
                <a:lnTo>
                  <a:pt x="3306900" y="1557990"/>
                </a:lnTo>
                <a:lnTo>
                  <a:pt x="3335408" y="1566522"/>
                </a:lnTo>
                <a:lnTo>
                  <a:pt x="3363916" y="1575262"/>
                </a:lnTo>
                <a:lnTo>
                  <a:pt x="3392423" y="1584217"/>
                </a:lnTo>
                <a:lnTo>
                  <a:pt x="3420931" y="1593387"/>
                </a:lnTo>
                <a:lnTo>
                  <a:pt x="3449439" y="1602771"/>
                </a:lnTo>
                <a:lnTo>
                  <a:pt x="3477947" y="1612365"/>
                </a:lnTo>
                <a:lnTo>
                  <a:pt x="3506455" y="1622162"/>
                </a:lnTo>
                <a:lnTo>
                  <a:pt x="3534962" y="1632149"/>
                </a:lnTo>
                <a:lnTo>
                  <a:pt x="3563470" y="1642315"/>
                </a:lnTo>
                <a:lnTo>
                  <a:pt x="3591978" y="1652642"/>
                </a:lnTo>
                <a:lnTo>
                  <a:pt x="3620486" y="1663114"/>
                </a:lnTo>
                <a:lnTo>
                  <a:pt x="3648993" y="1673710"/>
                </a:lnTo>
                <a:lnTo>
                  <a:pt x="3677501" y="1684409"/>
                </a:lnTo>
                <a:lnTo>
                  <a:pt x="3706009" y="1695188"/>
                </a:lnTo>
                <a:lnTo>
                  <a:pt x="3734517" y="1706023"/>
                </a:lnTo>
                <a:lnTo>
                  <a:pt x="3763024" y="1716889"/>
                </a:lnTo>
                <a:lnTo>
                  <a:pt x="3791532" y="1727763"/>
                </a:lnTo>
                <a:lnTo>
                  <a:pt x="3820040" y="1738617"/>
                </a:lnTo>
                <a:lnTo>
                  <a:pt x="3848548" y="1749428"/>
                </a:lnTo>
                <a:lnTo>
                  <a:pt x="3877056" y="1760170"/>
                </a:lnTo>
                <a:lnTo>
                  <a:pt x="3905563" y="1770820"/>
                </a:lnTo>
                <a:lnTo>
                  <a:pt x="3934071" y="1781352"/>
                </a:lnTo>
                <a:lnTo>
                  <a:pt x="3962579" y="1791746"/>
                </a:lnTo>
                <a:lnTo>
                  <a:pt x="3991087" y="1801978"/>
                </a:lnTo>
                <a:lnTo>
                  <a:pt x="4019594" y="1812030"/>
                </a:lnTo>
                <a:lnTo>
                  <a:pt x="4048102" y="1821881"/>
                </a:lnTo>
                <a:lnTo>
                  <a:pt x="4076610" y="1831515"/>
                </a:lnTo>
                <a:lnTo>
                  <a:pt x="4105118" y="1840915"/>
                </a:lnTo>
                <a:lnTo>
                  <a:pt x="4133625" y="1850067"/>
                </a:lnTo>
                <a:lnTo>
                  <a:pt x="4162133" y="1858959"/>
                </a:lnTo>
                <a:lnTo>
                  <a:pt x="4190641" y="1867578"/>
                </a:lnTo>
                <a:lnTo>
                  <a:pt x="4219149" y="1875916"/>
                </a:lnTo>
                <a:lnTo>
                  <a:pt x="4247656" y="1883964"/>
                </a:lnTo>
                <a:lnTo>
                  <a:pt x="4276164" y="1891717"/>
                </a:lnTo>
                <a:lnTo>
                  <a:pt x="4304672" y="1899170"/>
                </a:lnTo>
                <a:lnTo>
                  <a:pt x="4333180" y="1906320"/>
                </a:lnTo>
                <a:lnTo>
                  <a:pt x="4361688" y="1913165"/>
                </a:lnTo>
                <a:lnTo>
                  <a:pt x="4390195" y="1919705"/>
                </a:lnTo>
                <a:lnTo>
                  <a:pt x="4418703" y="1925941"/>
                </a:lnTo>
                <a:lnTo>
                  <a:pt x="4447211" y="1931875"/>
                </a:lnTo>
                <a:lnTo>
                  <a:pt x="4475719" y="1937512"/>
                </a:lnTo>
                <a:lnTo>
                  <a:pt x="4504226" y="1942855"/>
                </a:lnTo>
                <a:lnTo>
                  <a:pt x="4532734" y="1947909"/>
                </a:lnTo>
                <a:lnTo>
                  <a:pt x="4561242" y="1952682"/>
                </a:lnTo>
                <a:lnTo>
                  <a:pt x="4589750" y="1957180"/>
                </a:lnTo>
                <a:lnTo>
                  <a:pt x="4618257" y="1961412"/>
                </a:lnTo>
                <a:lnTo>
                  <a:pt x="4646765" y="1965384"/>
                </a:lnTo>
                <a:lnTo>
                  <a:pt x="4675273" y="1969107"/>
                </a:lnTo>
                <a:lnTo>
                  <a:pt x="4703781" y="1972590"/>
                </a:lnTo>
                <a:lnTo>
                  <a:pt x="4732288" y="1975841"/>
                </a:lnTo>
                <a:lnTo>
                  <a:pt x="4760796" y="1978871"/>
                </a:lnTo>
                <a:lnTo>
                  <a:pt x="4789304" y="1981690"/>
                </a:lnTo>
                <a:lnTo>
                  <a:pt x="4817812" y="1984307"/>
                </a:lnTo>
                <a:lnTo>
                  <a:pt x="4846319" y="1986732"/>
                </a:lnTo>
              </a:path>
            </a:pathLst>
          </a:custGeom>
          <a:noFill/>
          <a:ln w="330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6492240" y="3269552"/>
            <a:ext cx="4846319" cy="662367"/>
          </a:xfrm>
          <a:custGeom>
            <a:avLst/>
            <a:gdLst/>
            <a:ahLst/>
            <a:cxnLst/>
            <a:rect l="l" t="t" r="r" b="b"/>
            <a:pathLst>
              <a:path w="4846319" h="662367">
                <a:moveTo>
                  <a:pt x="0" y="660551"/>
                </a:moveTo>
                <a:lnTo>
                  <a:pt x="28507" y="660205"/>
                </a:lnTo>
                <a:lnTo>
                  <a:pt x="57015" y="659799"/>
                </a:lnTo>
                <a:lnTo>
                  <a:pt x="85523" y="659326"/>
                </a:lnTo>
                <a:lnTo>
                  <a:pt x="114031" y="658775"/>
                </a:lnTo>
                <a:lnTo>
                  <a:pt x="142538" y="658135"/>
                </a:lnTo>
                <a:lnTo>
                  <a:pt x="171046" y="657394"/>
                </a:lnTo>
                <a:lnTo>
                  <a:pt x="199554" y="656539"/>
                </a:lnTo>
                <a:lnTo>
                  <a:pt x="228062" y="655555"/>
                </a:lnTo>
                <a:lnTo>
                  <a:pt x="256569" y="654425"/>
                </a:lnTo>
                <a:lnTo>
                  <a:pt x="285077" y="653132"/>
                </a:lnTo>
                <a:lnTo>
                  <a:pt x="313585" y="651656"/>
                </a:lnTo>
                <a:lnTo>
                  <a:pt x="342093" y="649977"/>
                </a:lnTo>
                <a:lnTo>
                  <a:pt x="370600" y="648073"/>
                </a:lnTo>
                <a:lnTo>
                  <a:pt x="399108" y="645918"/>
                </a:lnTo>
                <a:lnTo>
                  <a:pt x="427616" y="643489"/>
                </a:lnTo>
                <a:lnTo>
                  <a:pt x="456124" y="640757"/>
                </a:lnTo>
                <a:lnTo>
                  <a:pt x="484632" y="637695"/>
                </a:lnTo>
                <a:lnTo>
                  <a:pt x="513139" y="634273"/>
                </a:lnTo>
                <a:lnTo>
                  <a:pt x="541647" y="630459"/>
                </a:lnTo>
                <a:lnTo>
                  <a:pt x="570155" y="626222"/>
                </a:lnTo>
                <a:lnTo>
                  <a:pt x="598663" y="621530"/>
                </a:lnTo>
                <a:lnTo>
                  <a:pt x="627170" y="616349"/>
                </a:lnTo>
                <a:lnTo>
                  <a:pt x="655678" y="610647"/>
                </a:lnTo>
                <a:lnTo>
                  <a:pt x="684186" y="604389"/>
                </a:lnTo>
                <a:lnTo>
                  <a:pt x="712694" y="597545"/>
                </a:lnTo>
                <a:lnTo>
                  <a:pt x="741201" y="590081"/>
                </a:lnTo>
                <a:lnTo>
                  <a:pt x="769709" y="581969"/>
                </a:lnTo>
                <a:lnTo>
                  <a:pt x="798217" y="573181"/>
                </a:lnTo>
                <a:lnTo>
                  <a:pt x="826725" y="563690"/>
                </a:lnTo>
                <a:lnTo>
                  <a:pt x="855232" y="553475"/>
                </a:lnTo>
                <a:lnTo>
                  <a:pt x="883740" y="542516"/>
                </a:lnTo>
                <a:lnTo>
                  <a:pt x="912248" y="530799"/>
                </a:lnTo>
                <a:lnTo>
                  <a:pt x="940756" y="518313"/>
                </a:lnTo>
                <a:lnTo>
                  <a:pt x="969264" y="505055"/>
                </a:lnTo>
                <a:lnTo>
                  <a:pt x="997771" y="491026"/>
                </a:lnTo>
                <a:lnTo>
                  <a:pt x="1026279" y="476234"/>
                </a:lnTo>
                <a:lnTo>
                  <a:pt x="1054787" y="460692"/>
                </a:lnTo>
                <a:lnTo>
                  <a:pt x="1083295" y="444424"/>
                </a:lnTo>
                <a:lnTo>
                  <a:pt x="1111802" y="427459"/>
                </a:lnTo>
                <a:lnTo>
                  <a:pt x="1140310" y="409835"/>
                </a:lnTo>
                <a:lnTo>
                  <a:pt x="1168818" y="391598"/>
                </a:lnTo>
                <a:lnTo>
                  <a:pt x="1197326" y="372803"/>
                </a:lnTo>
                <a:lnTo>
                  <a:pt x="1225833" y="353512"/>
                </a:lnTo>
                <a:lnTo>
                  <a:pt x="1254341" y="333797"/>
                </a:lnTo>
                <a:lnTo>
                  <a:pt x="1282849" y="313737"/>
                </a:lnTo>
                <a:lnTo>
                  <a:pt x="1311357" y="293418"/>
                </a:lnTo>
                <a:lnTo>
                  <a:pt x="1339864" y="272936"/>
                </a:lnTo>
                <a:lnTo>
                  <a:pt x="1368372" y="252391"/>
                </a:lnTo>
                <a:lnTo>
                  <a:pt x="1396880" y="231889"/>
                </a:lnTo>
                <a:lnTo>
                  <a:pt x="1425388" y="211544"/>
                </a:lnTo>
                <a:lnTo>
                  <a:pt x="1453896" y="191470"/>
                </a:lnTo>
                <a:lnTo>
                  <a:pt x="1482403" y="171788"/>
                </a:lnTo>
                <a:lnTo>
                  <a:pt x="1510911" y="152619"/>
                </a:lnTo>
                <a:lnTo>
                  <a:pt x="1539419" y="134085"/>
                </a:lnTo>
                <a:lnTo>
                  <a:pt x="1567927" y="116308"/>
                </a:lnTo>
                <a:lnTo>
                  <a:pt x="1596434" y="99407"/>
                </a:lnTo>
                <a:lnTo>
                  <a:pt x="1624942" y="83499"/>
                </a:lnTo>
                <a:lnTo>
                  <a:pt x="1653450" y="68698"/>
                </a:lnTo>
                <a:lnTo>
                  <a:pt x="1681958" y="55109"/>
                </a:lnTo>
                <a:lnTo>
                  <a:pt x="1710465" y="42832"/>
                </a:lnTo>
                <a:lnTo>
                  <a:pt x="1738973" y="31958"/>
                </a:lnTo>
                <a:lnTo>
                  <a:pt x="1767481" y="22569"/>
                </a:lnTo>
                <a:lnTo>
                  <a:pt x="1795989" y="14738"/>
                </a:lnTo>
                <a:lnTo>
                  <a:pt x="1824496" y="8524"/>
                </a:lnTo>
                <a:lnTo>
                  <a:pt x="1853004" y="3974"/>
                </a:lnTo>
                <a:lnTo>
                  <a:pt x="1881512" y="1126"/>
                </a:lnTo>
                <a:lnTo>
                  <a:pt x="1910020" y="0"/>
                </a:lnTo>
                <a:lnTo>
                  <a:pt x="1938527" y="607"/>
                </a:lnTo>
                <a:lnTo>
                  <a:pt x="1967035" y="2940"/>
                </a:lnTo>
                <a:lnTo>
                  <a:pt x="1995543" y="6982"/>
                </a:lnTo>
                <a:lnTo>
                  <a:pt x="2024051" y="12701"/>
                </a:lnTo>
                <a:lnTo>
                  <a:pt x="2052559" y="20054"/>
                </a:lnTo>
                <a:lnTo>
                  <a:pt x="2081066" y="28982"/>
                </a:lnTo>
                <a:lnTo>
                  <a:pt x="2109574" y="39418"/>
                </a:lnTo>
                <a:lnTo>
                  <a:pt x="2138082" y="51283"/>
                </a:lnTo>
                <a:lnTo>
                  <a:pt x="2166590" y="64489"/>
                </a:lnTo>
                <a:lnTo>
                  <a:pt x="2195097" y="78938"/>
                </a:lnTo>
                <a:lnTo>
                  <a:pt x="2223605" y="94525"/>
                </a:lnTo>
                <a:lnTo>
                  <a:pt x="2252113" y="111140"/>
                </a:lnTo>
                <a:lnTo>
                  <a:pt x="2280621" y="128667"/>
                </a:lnTo>
                <a:lnTo>
                  <a:pt x="2309128" y="146987"/>
                </a:lnTo>
                <a:lnTo>
                  <a:pt x="2337636" y="165978"/>
                </a:lnTo>
                <a:lnTo>
                  <a:pt x="2366144" y="185519"/>
                </a:lnTo>
                <a:lnTo>
                  <a:pt x="2394652" y="205488"/>
                </a:lnTo>
                <a:lnTo>
                  <a:pt x="2423160" y="225764"/>
                </a:lnTo>
                <a:lnTo>
                  <a:pt x="2451667" y="246231"/>
                </a:lnTo>
                <a:lnTo>
                  <a:pt x="2480175" y="266774"/>
                </a:lnTo>
                <a:lnTo>
                  <a:pt x="2508683" y="287286"/>
                </a:lnTo>
                <a:lnTo>
                  <a:pt x="2537191" y="307664"/>
                </a:lnTo>
                <a:lnTo>
                  <a:pt x="2565698" y="327811"/>
                </a:lnTo>
                <a:lnTo>
                  <a:pt x="2594206" y="347639"/>
                </a:lnTo>
                <a:lnTo>
                  <a:pt x="2622714" y="367064"/>
                </a:lnTo>
                <a:lnTo>
                  <a:pt x="2651222" y="386015"/>
                </a:lnTo>
                <a:lnTo>
                  <a:pt x="2679729" y="404426"/>
                </a:lnTo>
                <a:lnTo>
                  <a:pt x="2708237" y="422239"/>
                </a:lnTo>
                <a:lnTo>
                  <a:pt x="2736745" y="439406"/>
                </a:lnTo>
                <a:lnTo>
                  <a:pt x="2765253" y="455887"/>
                </a:lnTo>
                <a:lnTo>
                  <a:pt x="2793760" y="471649"/>
                </a:lnTo>
                <a:lnTo>
                  <a:pt x="2822268" y="486668"/>
                </a:lnTo>
                <a:lnTo>
                  <a:pt x="2850776" y="500927"/>
                </a:lnTo>
                <a:lnTo>
                  <a:pt x="2879284" y="514417"/>
                </a:lnTo>
                <a:lnTo>
                  <a:pt x="2907792" y="527134"/>
                </a:lnTo>
                <a:lnTo>
                  <a:pt x="2936299" y="539081"/>
                </a:lnTo>
                <a:lnTo>
                  <a:pt x="2964807" y="550266"/>
                </a:lnTo>
                <a:lnTo>
                  <a:pt x="2993315" y="560703"/>
                </a:lnTo>
                <a:lnTo>
                  <a:pt x="3021823" y="570408"/>
                </a:lnTo>
                <a:lnTo>
                  <a:pt x="3050330" y="579405"/>
                </a:lnTo>
                <a:lnTo>
                  <a:pt x="3078838" y="587717"/>
                </a:lnTo>
                <a:lnTo>
                  <a:pt x="3107346" y="595372"/>
                </a:lnTo>
                <a:lnTo>
                  <a:pt x="3135854" y="602399"/>
                </a:lnTo>
                <a:lnTo>
                  <a:pt x="3164361" y="608829"/>
                </a:lnTo>
                <a:lnTo>
                  <a:pt x="3192869" y="614695"/>
                </a:lnTo>
                <a:lnTo>
                  <a:pt x="3221377" y="620029"/>
                </a:lnTo>
                <a:lnTo>
                  <a:pt x="3249885" y="624864"/>
                </a:lnTo>
                <a:lnTo>
                  <a:pt x="3278392" y="629234"/>
                </a:lnTo>
                <a:lnTo>
                  <a:pt x="3306900" y="633171"/>
                </a:lnTo>
                <a:lnTo>
                  <a:pt x="3335408" y="636708"/>
                </a:lnTo>
                <a:lnTo>
                  <a:pt x="3363916" y="639875"/>
                </a:lnTo>
                <a:lnTo>
                  <a:pt x="3392423" y="642703"/>
                </a:lnTo>
                <a:lnTo>
                  <a:pt x="3420931" y="645220"/>
                </a:lnTo>
                <a:lnTo>
                  <a:pt x="3449439" y="647454"/>
                </a:lnTo>
                <a:lnTo>
                  <a:pt x="3477947" y="649431"/>
                </a:lnTo>
                <a:lnTo>
                  <a:pt x="3506455" y="651175"/>
                </a:lnTo>
                <a:lnTo>
                  <a:pt x="3534962" y="652709"/>
                </a:lnTo>
                <a:lnTo>
                  <a:pt x="3563470" y="654055"/>
                </a:lnTo>
                <a:lnTo>
                  <a:pt x="3591978" y="655232"/>
                </a:lnTo>
                <a:lnTo>
                  <a:pt x="3620486" y="656258"/>
                </a:lnTo>
                <a:lnTo>
                  <a:pt x="3648993" y="657151"/>
                </a:lnTo>
                <a:lnTo>
                  <a:pt x="3677501" y="657924"/>
                </a:lnTo>
                <a:lnTo>
                  <a:pt x="3706009" y="658593"/>
                </a:lnTo>
                <a:lnTo>
                  <a:pt x="3734517" y="659170"/>
                </a:lnTo>
                <a:lnTo>
                  <a:pt x="3763024" y="659665"/>
                </a:lnTo>
                <a:lnTo>
                  <a:pt x="3791532" y="660090"/>
                </a:lnTo>
                <a:lnTo>
                  <a:pt x="3820040" y="660453"/>
                </a:lnTo>
                <a:lnTo>
                  <a:pt x="3848548" y="660762"/>
                </a:lnTo>
                <a:lnTo>
                  <a:pt x="3877056" y="661025"/>
                </a:lnTo>
                <a:lnTo>
                  <a:pt x="3905563" y="661248"/>
                </a:lnTo>
                <a:lnTo>
                  <a:pt x="3934071" y="661436"/>
                </a:lnTo>
                <a:lnTo>
                  <a:pt x="3962579" y="661595"/>
                </a:lnTo>
                <a:lnTo>
                  <a:pt x="3991087" y="661728"/>
                </a:lnTo>
                <a:lnTo>
                  <a:pt x="4019594" y="661840"/>
                </a:lnTo>
                <a:lnTo>
                  <a:pt x="4048102" y="661933"/>
                </a:lnTo>
                <a:lnTo>
                  <a:pt x="4076610" y="662011"/>
                </a:lnTo>
                <a:lnTo>
                  <a:pt x="4105118" y="662075"/>
                </a:lnTo>
                <a:lnTo>
                  <a:pt x="4133625" y="662129"/>
                </a:lnTo>
                <a:lnTo>
                  <a:pt x="4162133" y="662173"/>
                </a:lnTo>
                <a:lnTo>
                  <a:pt x="4190641" y="662210"/>
                </a:lnTo>
                <a:lnTo>
                  <a:pt x="4219149" y="662239"/>
                </a:lnTo>
                <a:lnTo>
                  <a:pt x="4247656" y="662264"/>
                </a:lnTo>
                <a:lnTo>
                  <a:pt x="4276164" y="662284"/>
                </a:lnTo>
                <a:lnTo>
                  <a:pt x="4304672" y="662300"/>
                </a:lnTo>
                <a:lnTo>
                  <a:pt x="4333180" y="662314"/>
                </a:lnTo>
                <a:lnTo>
                  <a:pt x="4361688" y="662324"/>
                </a:lnTo>
                <a:lnTo>
                  <a:pt x="4390195" y="662333"/>
                </a:lnTo>
                <a:lnTo>
                  <a:pt x="4418703" y="662340"/>
                </a:lnTo>
                <a:lnTo>
                  <a:pt x="4447211" y="662346"/>
                </a:lnTo>
                <a:lnTo>
                  <a:pt x="4475719" y="662350"/>
                </a:lnTo>
                <a:lnTo>
                  <a:pt x="4504226" y="662354"/>
                </a:lnTo>
                <a:lnTo>
                  <a:pt x="4532734" y="662357"/>
                </a:lnTo>
                <a:lnTo>
                  <a:pt x="4561242" y="662359"/>
                </a:lnTo>
                <a:lnTo>
                  <a:pt x="4589750" y="662361"/>
                </a:lnTo>
                <a:lnTo>
                  <a:pt x="4618257" y="662362"/>
                </a:lnTo>
                <a:lnTo>
                  <a:pt x="4646765" y="662364"/>
                </a:lnTo>
                <a:lnTo>
                  <a:pt x="4675273" y="662364"/>
                </a:lnTo>
                <a:lnTo>
                  <a:pt x="4703781" y="662365"/>
                </a:lnTo>
                <a:lnTo>
                  <a:pt x="4732288" y="662366"/>
                </a:lnTo>
                <a:lnTo>
                  <a:pt x="4760796" y="662366"/>
                </a:lnTo>
                <a:lnTo>
                  <a:pt x="4789304" y="662366"/>
                </a:lnTo>
                <a:lnTo>
                  <a:pt x="4817812" y="662367"/>
                </a:lnTo>
                <a:lnTo>
                  <a:pt x="4846319" y="662367"/>
                </a:lnTo>
              </a:path>
            </a:pathLst>
          </a:custGeom>
          <a:noFill/>
          <a:ln w="25400">
            <a:solidFill>
              <a:srgbClr val="00A8A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6492240" y="3931920"/>
            <a:ext cx="4846319"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240" y="3986784"/>
            <a:ext cx="493776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00A8AA"/>
                </a:solidFill>
                <a:latin typeface="メイリオ"/>
                <a:ea typeface="メイリオ"/>
                <a:cs typeface="メイリオ"/>
              </a:rPr>
              <a:t>分解 B：低くて広い反射波</a:t>
            </a:r>
          </a:p>
        </p:txBody>
      </p:sp>
      <p:sp>
        <p:nvSpPr>
          <p:cNvPr id="20" name="Rounded Rectangle 19"/>
          <p:cNvSpPr/>
          <p:nvPr/>
        </p:nvSpPr>
        <p:spPr>
          <a:xfrm>
            <a:off x="822960" y="4572000"/>
            <a:ext cx="10607040" cy="114300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C00000"/>
                </a:solidFill>
                <a:latin typeface="メイリオ"/>
                <a:ea typeface="メイリオ"/>
                <a:cs typeface="メイリオ"/>
              </a:rPr>
              <a:t>合計は同じでも、RI の値は変わる</a:t>
            </a:r>
          </a:p>
          <a:p>
            <a:pPr algn="ctr">
              <a:lnSpc>
                <a:spcPct val="100000"/>
              </a:lnSpc>
              <a:spcBef>
                <a:spcPts val="0"/>
              </a:spcBef>
              <a:spcAft>
                <a:spcPts val="400"/>
              </a:spcAft>
            </a:pPr>
            <a:r>
              <a:rPr sz="2400" b="1" i="0">
                <a:solidFill>
                  <a:srgbClr val="222222"/>
                </a:solidFill>
                <a:latin typeface="メイリオ"/>
                <a:ea typeface="メイリオ"/>
                <a:cs typeface="メイリオ"/>
              </a:rPr>
              <a:t>＝ 数学だけでは答えが決まらない（不良設定）</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生理学で縛る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25</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提案手法。初期値は加速度脈波（SDPPG）のランドマークから与える</a:t>
            </a:r>
          </a:p>
        </p:txBody>
      </p:sp>
      <p:sp>
        <p:nvSpPr>
          <p:cNvPr id="12" name="Rounded Rectangle 11"/>
          <p:cNvSpPr/>
          <p:nvPr/>
        </p:nvSpPr>
        <p:spPr>
          <a:xfrm>
            <a:off x="640080" y="1783080"/>
            <a:ext cx="2148840" cy="804672"/>
          </a:xfrm>
          <a:prstGeom prst="roundRect">
            <a:avLst>
              <a:gd name="adj" fmla="val 8000"/>
            </a:avLst>
          </a:prstGeom>
          <a:no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0072B2"/>
                </a:solidFill>
                <a:latin typeface="メイリオ"/>
                <a:ea typeface="メイリオ"/>
                <a:cs typeface="メイリオ"/>
              </a:rPr>
              <a:t>順序</a:t>
            </a:r>
          </a:p>
        </p:txBody>
      </p:sp>
      <p:sp>
        <p:nvSpPr>
          <p:cNvPr id="13" name="Rounded Rectangle 12"/>
          <p:cNvSpPr/>
          <p:nvPr/>
        </p:nvSpPr>
        <p:spPr>
          <a:xfrm>
            <a:off x="2926080" y="1783080"/>
            <a:ext cx="3383280" cy="804672"/>
          </a:xfrm>
          <a:prstGeom prst="roundRect">
            <a:avLst>
              <a:gd name="adj" fmla="val 8000"/>
            </a:avLst>
          </a:prstGeom>
          <a:no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222222"/>
                </a:solidFill>
                <a:latin typeface="メイリオ"/>
                <a:ea typeface="メイリオ"/>
                <a:cs typeface="メイリオ"/>
              </a:rPr>
              <a:t>μ</a:t>
            </a:r>
            <a:r>
              <a:rPr sz="2400" b="1" i="0" baseline="-25000">
                <a:solidFill>
                  <a:srgbClr val="222222"/>
                </a:solidFill>
                <a:latin typeface="メイリオ"/>
                <a:ea typeface="メイリオ"/>
                <a:cs typeface="メイリオ"/>
              </a:rPr>
              <a:t>1</a:t>
            </a:r>
            <a:r>
              <a:rPr sz="2400" b="1" i="0">
                <a:solidFill>
                  <a:srgbClr val="222222"/>
                </a:solidFill>
                <a:latin typeface="メイリオ"/>
                <a:ea typeface="メイリオ"/>
                <a:cs typeface="メイリオ"/>
              </a:rPr>
              <a:t> &lt; μ</a:t>
            </a:r>
            <a:r>
              <a:rPr sz="2400" b="1" i="0" baseline="-25000">
                <a:solidFill>
                  <a:srgbClr val="222222"/>
                </a:solidFill>
                <a:latin typeface="メイリオ"/>
                <a:ea typeface="メイリオ"/>
                <a:cs typeface="メイリオ"/>
              </a:rPr>
              <a:t>2</a:t>
            </a:r>
            <a:r>
              <a:rPr sz="2400" b="1" i="0">
                <a:solidFill>
                  <a:srgbClr val="222222"/>
                </a:solidFill>
                <a:latin typeface="メイリオ"/>
                <a:ea typeface="メイリオ"/>
                <a:cs typeface="メイリオ"/>
              </a:rPr>
              <a:t> &lt; μ</a:t>
            </a:r>
            <a:r>
              <a:rPr sz="2400" b="1" i="0" baseline="-25000">
                <a:solidFill>
                  <a:srgbClr val="222222"/>
                </a:solidFill>
                <a:latin typeface="メイリオ"/>
                <a:ea typeface="メイリオ"/>
                <a:cs typeface="メイリオ"/>
              </a:rPr>
              <a:t>3</a:t>
            </a:r>
          </a:p>
        </p:txBody>
      </p:sp>
      <p:sp>
        <p:nvSpPr>
          <p:cNvPr id="14" name="Rounded Rectangle 13"/>
          <p:cNvSpPr/>
          <p:nvPr/>
        </p:nvSpPr>
        <p:spPr>
          <a:xfrm>
            <a:off x="6446520" y="1783080"/>
            <a:ext cx="5074920" cy="804672"/>
          </a:xfrm>
          <a:prstGeom prst="roundRect">
            <a:avLst>
              <a:gd name="adj" fmla="val 8000"/>
            </a:avLst>
          </a:prstGeom>
          <a:no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前進波が先、反射波が後</a:t>
            </a:r>
          </a:p>
        </p:txBody>
      </p:sp>
      <p:sp>
        <p:nvSpPr>
          <p:cNvPr id="15" name="Rounded Rectangle 14"/>
          <p:cNvSpPr/>
          <p:nvPr/>
        </p:nvSpPr>
        <p:spPr>
          <a:xfrm>
            <a:off x="640080" y="2715768"/>
            <a:ext cx="2148840" cy="804672"/>
          </a:xfrm>
          <a:prstGeom prst="roundRect">
            <a:avLst>
              <a:gd name="adj" fmla="val 8000"/>
            </a:avLst>
          </a:prstGeom>
          <a:no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0072B2"/>
                </a:solidFill>
                <a:latin typeface="メイリオ"/>
                <a:ea typeface="メイリオ"/>
                <a:cs typeface="メイリオ"/>
              </a:rPr>
              <a:t>時間窓</a:t>
            </a:r>
          </a:p>
        </p:txBody>
      </p:sp>
      <p:sp>
        <p:nvSpPr>
          <p:cNvPr id="16" name="Rounded Rectangle 15"/>
          <p:cNvSpPr/>
          <p:nvPr/>
        </p:nvSpPr>
        <p:spPr>
          <a:xfrm>
            <a:off x="2926080" y="2715768"/>
            <a:ext cx="3383280" cy="804672"/>
          </a:xfrm>
          <a:prstGeom prst="roundRect">
            <a:avLst>
              <a:gd name="adj" fmla="val 8000"/>
            </a:avLst>
          </a:prstGeom>
          <a:no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222222"/>
                </a:solidFill>
                <a:latin typeface="メイリオ"/>
                <a:ea typeface="メイリオ"/>
                <a:cs typeface="メイリオ"/>
              </a:rPr>
              <a:t>ΔT は生理的範囲</a:t>
            </a:r>
          </a:p>
        </p:txBody>
      </p:sp>
      <p:sp>
        <p:nvSpPr>
          <p:cNvPr id="17" name="Rounded Rectangle 16"/>
          <p:cNvSpPr/>
          <p:nvPr/>
        </p:nvSpPr>
        <p:spPr>
          <a:xfrm>
            <a:off x="6446520" y="2715768"/>
            <a:ext cx="5074920" cy="804672"/>
          </a:xfrm>
          <a:prstGeom prst="roundRect">
            <a:avLst>
              <a:gd name="adj" fmla="val 8000"/>
            </a:avLst>
          </a:prstGeom>
          <a:no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身長と伝播速度から決まる</a:t>
            </a:r>
          </a:p>
        </p:txBody>
      </p:sp>
      <p:sp>
        <p:nvSpPr>
          <p:cNvPr id="18" name="Rounded Rectangle 17"/>
          <p:cNvSpPr/>
          <p:nvPr/>
        </p:nvSpPr>
        <p:spPr>
          <a:xfrm>
            <a:off x="640080" y="3648456"/>
            <a:ext cx="2148840" cy="804672"/>
          </a:xfrm>
          <a:prstGeom prst="roundRect">
            <a:avLst>
              <a:gd name="adj" fmla="val 8000"/>
            </a:avLst>
          </a:prstGeom>
          <a:noFill/>
          <a:ln w="2540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00A8AA"/>
                </a:solidFill>
                <a:latin typeface="メイリオ"/>
                <a:ea typeface="メイリオ"/>
                <a:cs typeface="メイリオ"/>
              </a:rPr>
              <a:t>符号</a:t>
            </a:r>
          </a:p>
        </p:txBody>
      </p:sp>
      <p:sp>
        <p:nvSpPr>
          <p:cNvPr id="19" name="Rounded Rectangle 18"/>
          <p:cNvSpPr/>
          <p:nvPr/>
        </p:nvSpPr>
        <p:spPr>
          <a:xfrm>
            <a:off x="2926080" y="3648456"/>
            <a:ext cx="3383280" cy="804672"/>
          </a:xfrm>
          <a:prstGeom prst="roundRect">
            <a:avLst>
              <a:gd name="adj" fmla="val 8000"/>
            </a:avLst>
          </a:prstGeom>
          <a:noFill/>
          <a:ln w="1905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222222"/>
                </a:solidFill>
                <a:latin typeface="メイリオ"/>
                <a:ea typeface="メイリオ"/>
                <a:cs typeface="メイリオ"/>
              </a:rPr>
              <a:t>a &gt; 0、σ &gt; 0</a:t>
            </a:r>
          </a:p>
        </p:txBody>
      </p:sp>
      <p:sp>
        <p:nvSpPr>
          <p:cNvPr id="20" name="Rounded Rectangle 19"/>
          <p:cNvSpPr/>
          <p:nvPr/>
        </p:nvSpPr>
        <p:spPr>
          <a:xfrm>
            <a:off x="6446520" y="3648456"/>
            <a:ext cx="5074920" cy="804672"/>
          </a:xfrm>
          <a:prstGeom prst="roundRect">
            <a:avLst>
              <a:gd name="adj" fmla="val 8000"/>
            </a:avLst>
          </a:prstGeom>
          <a:noFill/>
          <a:ln w="1905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高さも幅も負にならない</a:t>
            </a:r>
          </a:p>
        </p:txBody>
      </p:sp>
      <p:sp>
        <p:nvSpPr>
          <p:cNvPr id="21" name="Rounded Rectangle 20"/>
          <p:cNvSpPr/>
          <p:nvPr/>
        </p:nvSpPr>
        <p:spPr>
          <a:xfrm>
            <a:off x="640080" y="4581144"/>
            <a:ext cx="2148840" cy="804672"/>
          </a:xfrm>
          <a:prstGeom prst="roundRect">
            <a:avLst>
              <a:gd name="adj" fmla="val 8000"/>
            </a:avLst>
          </a:prstGeom>
          <a:noFill/>
          <a:ln w="2540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00A8AA"/>
                </a:solidFill>
                <a:latin typeface="メイリオ"/>
                <a:ea typeface="メイリオ"/>
                <a:cs typeface="メイリオ"/>
              </a:rPr>
              <a:t>初期値</a:t>
            </a:r>
          </a:p>
        </p:txBody>
      </p:sp>
      <p:sp>
        <p:nvSpPr>
          <p:cNvPr id="22" name="Rounded Rectangle 21"/>
          <p:cNvSpPr/>
          <p:nvPr/>
        </p:nvSpPr>
        <p:spPr>
          <a:xfrm>
            <a:off x="2926080" y="4581144"/>
            <a:ext cx="3383280" cy="804672"/>
          </a:xfrm>
          <a:prstGeom prst="roundRect">
            <a:avLst>
              <a:gd name="adj" fmla="val 8000"/>
            </a:avLst>
          </a:prstGeom>
          <a:noFill/>
          <a:ln w="1905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222222"/>
                </a:solidFill>
                <a:latin typeface="メイリオ"/>
                <a:ea typeface="メイリオ"/>
                <a:cs typeface="メイリオ"/>
              </a:rPr>
              <a:t>SDPPG の a〜e 波</a:t>
            </a:r>
          </a:p>
        </p:txBody>
      </p:sp>
      <p:sp>
        <p:nvSpPr>
          <p:cNvPr id="23" name="Rounded Rectangle 22"/>
          <p:cNvSpPr/>
          <p:nvPr/>
        </p:nvSpPr>
        <p:spPr>
          <a:xfrm>
            <a:off x="6446520" y="4581144"/>
            <a:ext cx="5074920" cy="804672"/>
          </a:xfrm>
          <a:prstGeom prst="roundRect">
            <a:avLst>
              <a:gd name="adj" fmla="val 8000"/>
            </a:avLst>
          </a:prstGeom>
          <a:noFill/>
          <a:ln w="1905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微分で当たりをつける</a:t>
            </a:r>
          </a:p>
        </p:txBody>
      </p:sp>
      <p:sp>
        <p:nvSpPr>
          <p:cNvPr id="24" name="TextBox 23"/>
          <p:cNvSpPr txBox="1"/>
          <p:nvPr/>
        </p:nvSpPr>
        <p:spPr>
          <a:xfrm>
            <a:off x="640080" y="5577840"/>
            <a:ext cx="10881360" cy="411480"/>
          </a:xfrm>
          <a:prstGeom prst="rect">
            <a:avLst/>
          </a:prstGeom>
          <a:noFill/>
        </p:spPr>
        <p:txBody>
          <a:bodyPr wrap="square" lIns="18288" rIns="18288" tIns="0" bIns="0" anchor="t">
            <a:noAutofit/>
          </a:bodyPr>
          <a:lstStyle/>
          <a:p>
            <a:pPr algn="l">
              <a:lnSpc>
                <a:spcPct val="100000"/>
              </a:lnSpc>
              <a:spcBef>
                <a:spcPts val="0"/>
              </a:spcBef>
              <a:spcAft>
                <a:spcPts val="0"/>
              </a:spcAft>
            </a:pPr>
            <a:r>
              <a:rPr sz="2400" b="1" i="0">
                <a:solidFill>
                  <a:srgbClr val="00A8AA"/>
                </a:solidFill>
                <a:latin typeface="メイリオ"/>
                <a:ea typeface="メイリオ"/>
                <a:cs typeface="メイリオ"/>
              </a:rPr>
              <a:t>微分で当たりをつけ、当てはめで仕上げる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正解つきで検証</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26</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Charlton PH, et al. Am J Physiol Heart Circ Physiol 2019;317:H1062-85（PMID 31442381）／ Lee HC, et al. Sci Data 2022（PMID 35676300）</a:t>
            </a:r>
          </a:p>
        </p:txBody>
      </p:sp>
      <p:sp>
        <p:nvSpPr>
          <p:cNvPr id="12" name="Rounded Rectangle 11"/>
          <p:cNvSpPr/>
          <p:nvPr/>
        </p:nvSpPr>
        <p:spPr>
          <a:xfrm>
            <a:off x="640080" y="1874519"/>
            <a:ext cx="3429000" cy="228600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800"/>
              </a:spcAft>
            </a:pPr>
            <a:r>
              <a:rPr sz="2600" b="1" i="0">
                <a:solidFill>
                  <a:srgbClr val="00A8AA"/>
                </a:solidFill>
                <a:latin typeface="メイリオ"/>
                <a:ea typeface="メイリオ"/>
                <a:cs typeface="メイリオ"/>
              </a:rPr>
              <a:t>① 計算機</a:t>
            </a:r>
          </a:p>
          <a:p>
            <a:pPr algn="ctr">
              <a:lnSpc>
                <a:spcPct val="100000"/>
              </a:lnSpc>
              <a:spcBef>
                <a:spcPts val="0"/>
              </a:spcBef>
              <a:spcAft>
                <a:spcPts val="800"/>
              </a:spcAft>
            </a:pPr>
          </a:p>
          <a:p>
            <a:pPr algn="ctr">
              <a:lnSpc>
                <a:spcPct val="100000"/>
              </a:lnSpc>
              <a:spcBef>
                <a:spcPts val="0"/>
              </a:spcBef>
              <a:spcAft>
                <a:spcPts val="800"/>
              </a:spcAft>
            </a:pPr>
            <a:r>
              <a:rPr sz="2200" b="0" i="0">
                <a:solidFill>
                  <a:srgbClr val="222222"/>
                </a:solidFill>
                <a:latin typeface="メイリオ"/>
                <a:ea typeface="メイリオ"/>
                <a:cs typeface="メイリオ"/>
              </a:rPr>
              <a:t>仮想被験者 4,374 名</a:t>
            </a:r>
          </a:p>
          <a:p>
            <a:pPr algn="ctr">
              <a:lnSpc>
                <a:spcPct val="100000"/>
              </a:lnSpc>
              <a:spcBef>
                <a:spcPts val="0"/>
              </a:spcBef>
              <a:spcAft>
                <a:spcPts val="800"/>
              </a:spcAft>
            </a:pPr>
            <a:r>
              <a:rPr sz="2200" b="0" i="0">
                <a:solidFill>
                  <a:srgbClr val="222222"/>
                </a:solidFill>
                <a:latin typeface="メイリオ"/>
                <a:ea typeface="メイリオ"/>
                <a:cs typeface="メイリオ"/>
              </a:rPr>
              <a:t>圧・流量・PPG が既知</a:t>
            </a:r>
          </a:p>
        </p:txBody>
      </p:sp>
      <p:sp>
        <p:nvSpPr>
          <p:cNvPr id="13" name="Rounded Rectangle 12"/>
          <p:cNvSpPr/>
          <p:nvPr/>
        </p:nvSpPr>
        <p:spPr>
          <a:xfrm>
            <a:off x="4343400" y="1874519"/>
            <a:ext cx="3429000" cy="228600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800"/>
              </a:spcAft>
            </a:pPr>
            <a:r>
              <a:rPr sz="2600" b="1" i="0">
                <a:solidFill>
                  <a:srgbClr val="0072B2"/>
                </a:solidFill>
                <a:latin typeface="メイリオ"/>
                <a:ea typeface="メイリオ"/>
                <a:cs typeface="メイリオ"/>
              </a:rPr>
              <a:t>② 公開データ</a:t>
            </a:r>
          </a:p>
          <a:p>
            <a:pPr algn="ctr">
              <a:lnSpc>
                <a:spcPct val="100000"/>
              </a:lnSpc>
              <a:spcBef>
                <a:spcPts val="0"/>
              </a:spcBef>
              <a:spcAft>
                <a:spcPts val="800"/>
              </a:spcAft>
            </a:pPr>
          </a:p>
          <a:p>
            <a:pPr algn="ctr">
              <a:lnSpc>
                <a:spcPct val="100000"/>
              </a:lnSpc>
              <a:spcBef>
                <a:spcPts val="0"/>
              </a:spcBef>
              <a:spcAft>
                <a:spcPts val="800"/>
              </a:spcAft>
            </a:pPr>
            <a:r>
              <a:rPr sz="2200" b="0" i="0">
                <a:solidFill>
                  <a:srgbClr val="222222"/>
                </a:solidFill>
                <a:latin typeface="メイリオ"/>
                <a:ea typeface="メイリオ"/>
                <a:cs typeface="メイリオ"/>
              </a:rPr>
              <a:t>VitalDB の周術期波形</a:t>
            </a:r>
          </a:p>
          <a:p>
            <a:pPr algn="ctr">
              <a:lnSpc>
                <a:spcPct val="100000"/>
              </a:lnSpc>
              <a:spcBef>
                <a:spcPts val="0"/>
              </a:spcBef>
              <a:spcAft>
                <a:spcPts val="800"/>
              </a:spcAft>
            </a:pPr>
            <a:r>
              <a:rPr sz="2200" b="0" i="0">
                <a:solidFill>
                  <a:srgbClr val="222222"/>
                </a:solidFill>
                <a:latin typeface="メイリオ"/>
                <a:ea typeface="メイリオ"/>
                <a:cs typeface="メイリオ"/>
              </a:rPr>
              <a:t>検出成功率と再現性</a:t>
            </a:r>
          </a:p>
        </p:txBody>
      </p:sp>
      <p:sp>
        <p:nvSpPr>
          <p:cNvPr id="14" name="Rounded Rectangle 13"/>
          <p:cNvSpPr/>
          <p:nvPr/>
        </p:nvSpPr>
        <p:spPr>
          <a:xfrm>
            <a:off x="8046719" y="1874519"/>
            <a:ext cx="3429000" cy="22860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800"/>
              </a:spcAft>
            </a:pPr>
            <a:r>
              <a:rPr sz="2600" b="1" i="0">
                <a:solidFill>
                  <a:srgbClr val="D55E00"/>
                </a:solidFill>
                <a:latin typeface="メイリオ"/>
                <a:ea typeface="メイリオ"/>
                <a:cs typeface="メイリオ"/>
              </a:rPr>
              <a:t>③ 実機</a:t>
            </a:r>
          </a:p>
          <a:p>
            <a:pPr algn="ctr">
              <a:lnSpc>
                <a:spcPct val="100000"/>
              </a:lnSpc>
              <a:spcBef>
                <a:spcPts val="0"/>
              </a:spcBef>
              <a:spcAft>
                <a:spcPts val="800"/>
              </a:spcAft>
            </a:pPr>
          </a:p>
          <a:p>
            <a:pPr algn="ctr">
              <a:lnSpc>
                <a:spcPct val="100000"/>
              </a:lnSpc>
              <a:spcBef>
                <a:spcPts val="0"/>
              </a:spcBef>
              <a:spcAft>
                <a:spcPts val="800"/>
              </a:spcAft>
            </a:pPr>
            <a:r>
              <a:rPr sz="2200" b="0" i="0">
                <a:solidFill>
                  <a:srgbClr val="222222"/>
                </a:solidFill>
                <a:latin typeface="メイリオ"/>
                <a:ea typeface="メイリオ"/>
                <a:cs typeface="メイリオ"/>
              </a:rPr>
              <a:t>Vital Recorder</a:t>
            </a:r>
          </a:p>
          <a:p>
            <a:pPr algn="ctr">
              <a:lnSpc>
                <a:spcPct val="100000"/>
              </a:lnSpc>
              <a:spcBef>
                <a:spcPts val="0"/>
              </a:spcBef>
              <a:spcAft>
                <a:spcPts val="800"/>
              </a:spcAft>
            </a:pPr>
            <a:r>
              <a:rPr sz="2200" b="0" i="0">
                <a:solidFill>
                  <a:srgbClr val="222222"/>
                </a:solidFill>
                <a:latin typeface="メイリオ"/>
                <a:ea typeface="メイリオ"/>
                <a:cs typeface="メイリオ"/>
              </a:rPr>
              <a:t>AGC・帯域制限の下で</a:t>
            </a:r>
          </a:p>
        </p:txBody>
      </p:sp>
      <p:sp>
        <p:nvSpPr>
          <p:cNvPr id="15" name="Rounded Rectangle 14"/>
          <p:cNvSpPr/>
          <p:nvPr/>
        </p:nvSpPr>
        <p:spPr>
          <a:xfrm>
            <a:off x="640080" y="4434840"/>
            <a:ext cx="10881360" cy="128016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C00000"/>
                </a:solidFill>
                <a:latin typeface="メイリオ"/>
                <a:ea typeface="メイリオ"/>
                <a:cs typeface="メイリオ"/>
              </a:rPr>
              <a:t>年齢層別の検出成功率を事前登録する</a:t>
            </a:r>
          </a:p>
          <a:p>
            <a:pPr algn="ctr">
              <a:lnSpc>
                <a:spcPct val="100000"/>
              </a:lnSpc>
              <a:spcBef>
                <a:spcPts val="0"/>
              </a:spcBef>
              <a:spcAft>
                <a:spcPts val="400"/>
              </a:spcAft>
            </a:pPr>
            <a:r>
              <a:rPr sz="2400" b="1" i="0">
                <a:solidFill>
                  <a:srgbClr val="222222"/>
                </a:solidFill>
                <a:latin typeface="メイリオ"/>
                <a:ea typeface="メイリオ"/>
                <a:cs typeface="メイリオ"/>
              </a:rPr>
              <a:t>検出できなかった症例を除くと選択バイアスが必ず入る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SI・RIを再定義</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27</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この再定義は既報。Rubins 2008 が RI を、Goswami 2010 が SI・RI を分解から導出している</a:t>
            </a:r>
          </a:p>
        </p:txBody>
      </p:sp>
      <p:sp>
        <p:nvSpPr>
          <p:cNvPr id="12" name="Rounded Rectangle 11"/>
          <p:cNvSpPr/>
          <p:nvPr/>
        </p:nvSpPr>
        <p:spPr>
          <a:xfrm>
            <a:off x="640080" y="1874519"/>
            <a:ext cx="5303520" cy="137160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222222"/>
                </a:solidFill>
                <a:latin typeface="メイリオ"/>
                <a:ea typeface="メイリオ"/>
                <a:cs typeface="メイリオ"/>
              </a:rPr>
              <a:t>SI ＝ 身長 ÷ (μ</a:t>
            </a:r>
            <a:r>
              <a:rPr sz="2800" b="1" i="0" baseline="-25000">
                <a:solidFill>
                  <a:srgbClr val="222222"/>
                </a:solidFill>
                <a:latin typeface="メイリオ"/>
                <a:ea typeface="メイリオ"/>
                <a:cs typeface="メイリオ"/>
              </a:rPr>
              <a:t>2</a:t>
            </a:r>
            <a:r>
              <a:rPr sz="2800" b="1" i="0">
                <a:solidFill>
                  <a:srgbClr val="222222"/>
                </a:solidFill>
                <a:latin typeface="メイリオ"/>
                <a:ea typeface="メイリオ"/>
                <a:cs typeface="メイリオ"/>
              </a:rPr>
              <a:t> − μ</a:t>
            </a:r>
            <a:r>
              <a:rPr sz="2800" b="1" i="0" baseline="-25000">
                <a:solidFill>
                  <a:srgbClr val="222222"/>
                </a:solidFill>
                <a:latin typeface="メイリオ"/>
                <a:ea typeface="メイリオ"/>
                <a:cs typeface="メイリオ"/>
              </a:rPr>
              <a:t>1</a:t>
            </a:r>
            <a:r>
              <a:rPr sz="2800" b="1" i="0">
                <a:solidFill>
                  <a:srgbClr val="222222"/>
                </a:solidFill>
                <a:latin typeface="メイリオ"/>
                <a:ea typeface="メイリオ"/>
                <a:cs typeface="メイリオ"/>
              </a:rPr>
              <a:t>)</a:t>
            </a:r>
          </a:p>
        </p:txBody>
      </p:sp>
      <p:sp>
        <p:nvSpPr>
          <p:cNvPr id="13" name="Rounded Rectangle 12"/>
          <p:cNvSpPr/>
          <p:nvPr/>
        </p:nvSpPr>
        <p:spPr>
          <a:xfrm>
            <a:off x="6217920" y="1874519"/>
            <a:ext cx="5303520" cy="137160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222222"/>
                </a:solidFill>
                <a:latin typeface="メイリオ"/>
                <a:ea typeface="メイリオ"/>
                <a:cs typeface="メイリオ"/>
              </a:rPr>
              <a:t>RI ＝ a</a:t>
            </a:r>
            <a:r>
              <a:rPr sz="2800" b="1" i="0" baseline="-25000">
                <a:solidFill>
                  <a:srgbClr val="222222"/>
                </a:solidFill>
                <a:latin typeface="メイリオ"/>
                <a:ea typeface="メイリオ"/>
                <a:cs typeface="メイリオ"/>
              </a:rPr>
              <a:t>2</a:t>
            </a:r>
            <a:r>
              <a:rPr sz="2800" b="1" i="0">
                <a:solidFill>
                  <a:srgbClr val="222222"/>
                </a:solidFill>
                <a:latin typeface="メイリオ"/>
                <a:ea typeface="メイリオ"/>
                <a:cs typeface="メイリオ"/>
              </a:rPr>
              <a:t> ÷ a</a:t>
            </a:r>
            <a:r>
              <a:rPr sz="2800" b="1" i="0" baseline="-25000">
                <a:solidFill>
                  <a:srgbClr val="222222"/>
                </a:solidFill>
                <a:latin typeface="メイリオ"/>
                <a:ea typeface="メイリオ"/>
                <a:cs typeface="メイリオ"/>
              </a:rPr>
              <a:t>1</a:t>
            </a:r>
          </a:p>
        </p:txBody>
      </p:sp>
      <p:sp>
        <p:nvSpPr>
          <p:cNvPr id="14" name="TextBox 13"/>
          <p:cNvSpPr txBox="1"/>
          <p:nvPr/>
        </p:nvSpPr>
        <p:spPr>
          <a:xfrm>
            <a:off x="640080" y="3520440"/>
            <a:ext cx="10881360" cy="1371600"/>
          </a:xfrm>
          <a:prstGeom prst="rect">
            <a:avLst/>
          </a:prstGeom>
          <a:noFill/>
        </p:spPr>
        <p:txBody>
          <a:bodyPr wrap="square" lIns="18288" rIns="18288" tIns="0" bIns="0" anchor="t">
            <a:noAutofit/>
          </a:bodyPr>
          <a:lstStyle/>
          <a:p>
            <a:pPr algn="l">
              <a:lnSpc>
                <a:spcPct val="100000"/>
              </a:lnSpc>
              <a:spcBef>
                <a:spcPts val="0"/>
              </a:spcBef>
              <a:spcAft>
                <a:spcPts val="1200"/>
              </a:spcAft>
            </a:pPr>
            <a:r>
              <a:rPr sz="2600" b="1" i="0">
                <a:solidFill>
                  <a:srgbClr val="00A8AA"/>
                </a:solidFill>
                <a:latin typeface="メイリオ"/>
                <a:ea typeface="メイリオ"/>
                <a:cs typeface="メイリオ"/>
              </a:rPr>
              <a:t>波形に山が見えなくても、モデルの山は存在する</a:t>
            </a:r>
          </a:p>
          <a:p>
            <a:pPr algn="l">
              <a:lnSpc>
                <a:spcPct val="100000"/>
              </a:lnSpc>
              <a:spcBef>
                <a:spcPts val="0"/>
              </a:spcBef>
              <a:spcAft>
                <a:spcPts val="1200"/>
              </a:spcAft>
            </a:pPr>
            <a:r>
              <a:rPr sz="2600" b="1" i="0">
                <a:solidFill>
                  <a:srgbClr val="222222"/>
                </a:solidFill>
                <a:latin typeface="メイリオ"/>
                <a:ea typeface="メイリオ"/>
                <a:cs typeface="メイリオ"/>
              </a:rPr>
              <a:t>→ 一峰性化した高スティフネス例でも値が出る</a:t>
            </a:r>
          </a:p>
        </p:txBody>
      </p:sp>
      <p:sp>
        <p:nvSpPr>
          <p:cNvPr id="15" name="Rounded Rectangle 14"/>
          <p:cNvSpPr/>
          <p:nvPr/>
        </p:nvSpPr>
        <p:spPr>
          <a:xfrm>
            <a:off x="640080" y="4937760"/>
            <a:ext cx="10881360" cy="82296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C00000"/>
                </a:solidFill>
                <a:latin typeface="メイリオ"/>
                <a:ea typeface="メイリオ"/>
                <a:cs typeface="メイリオ"/>
              </a:rPr>
              <a:t>この再定義自体は、既に提案されている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既に試されている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28</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本リポジトリ「反射波の数学的分離から SI・RI を再計算する ― 先行技術調査」</a:t>
            </a:r>
          </a:p>
        </p:txBody>
      </p:sp>
      <p:sp>
        <p:nvSpPr>
          <p:cNvPr id="12" name="Rounded Rectangle 11"/>
          <p:cNvSpPr/>
          <p:nvPr/>
        </p:nvSpPr>
        <p:spPr>
          <a:xfrm>
            <a:off x="640080" y="1847088"/>
            <a:ext cx="1600200" cy="713232"/>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D55E00"/>
                </a:solidFill>
                <a:latin typeface="メイリオ"/>
                <a:ea typeface="メイリオ"/>
                <a:cs typeface="メイリオ"/>
              </a:rPr>
              <a:t>2008</a:t>
            </a:r>
          </a:p>
        </p:txBody>
      </p:sp>
      <p:sp>
        <p:nvSpPr>
          <p:cNvPr id="13" name="Rounded Rectangle 12"/>
          <p:cNvSpPr/>
          <p:nvPr/>
        </p:nvSpPr>
        <p:spPr>
          <a:xfrm>
            <a:off x="2377440" y="1847088"/>
            <a:ext cx="3200400" cy="713232"/>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222222"/>
                </a:solidFill>
                <a:latin typeface="メイリオ"/>
                <a:ea typeface="メイリオ"/>
                <a:cs typeface="メイリオ"/>
              </a:rPr>
              <a:t>Rubins</a:t>
            </a:r>
          </a:p>
        </p:txBody>
      </p:sp>
      <p:sp>
        <p:nvSpPr>
          <p:cNvPr id="14" name="Rounded Rectangle 13"/>
          <p:cNvSpPr/>
          <p:nvPr/>
        </p:nvSpPr>
        <p:spPr>
          <a:xfrm>
            <a:off x="5715000" y="1847088"/>
            <a:ext cx="5806440" cy="713232"/>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ガウス当てはめから RI を算出</a:t>
            </a:r>
          </a:p>
        </p:txBody>
      </p:sp>
      <p:sp>
        <p:nvSpPr>
          <p:cNvPr id="15" name="Rounded Rectangle 14"/>
          <p:cNvSpPr/>
          <p:nvPr/>
        </p:nvSpPr>
        <p:spPr>
          <a:xfrm>
            <a:off x="640080" y="2688336"/>
            <a:ext cx="1600200" cy="713232"/>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D55E00"/>
                </a:solidFill>
                <a:latin typeface="メイリオ"/>
                <a:ea typeface="メイリオ"/>
                <a:cs typeface="メイリオ"/>
              </a:rPr>
              <a:t>2010</a:t>
            </a:r>
          </a:p>
        </p:txBody>
      </p:sp>
      <p:sp>
        <p:nvSpPr>
          <p:cNvPr id="16" name="Rounded Rectangle 15"/>
          <p:cNvSpPr/>
          <p:nvPr/>
        </p:nvSpPr>
        <p:spPr>
          <a:xfrm>
            <a:off x="2377440" y="2688336"/>
            <a:ext cx="3200400" cy="713232"/>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222222"/>
                </a:solidFill>
                <a:latin typeface="メイリオ"/>
                <a:ea typeface="メイリオ"/>
                <a:cs typeface="メイリオ"/>
              </a:rPr>
              <a:t>Goswami</a:t>
            </a:r>
          </a:p>
        </p:txBody>
      </p:sp>
      <p:sp>
        <p:nvSpPr>
          <p:cNvPr id="17" name="Rounded Rectangle 16"/>
          <p:cNvSpPr/>
          <p:nvPr/>
        </p:nvSpPr>
        <p:spPr>
          <a:xfrm>
            <a:off x="5715000" y="2688336"/>
            <a:ext cx="5806440" cy="713232"/>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2 波合成から SI と RI を導出</a:t>
            </a:r>
          </a:p>
        </p:txBody>
      </p:sp>
      <p:sp>
        <p:nvSpPr>
          <p:cNvPr id="18" name="Rounded Rectangle 17"/>
          <p:cNvSpPr/>
          <p:nvPr/>
        </p:nvSpPr>
        <p:spPr>
          <a:xfrm>
            <a:off x="640080" y="3529584"/>
            <a:ext cx="1600200" cy="713232"/>
          </a:xfrm>
          <a:prstGeom prst="roundRect">
            <a:avLst>
              <a:gd name="adj" fmla="val 8000"/>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C00000"/>
                </a:solidFill>
                <a:latin typeface="メイリオ"/>
                <a:ea typeface="メイリオ"/>
                <a:cs typeface="メイリオ"/>
              </a:rPr>
              <a:t>2015</a:t>
            </a:r>
          </a:p>
        </p:txBody>
      </p:sp>
      <p:sp>
        <p:nvSpPr>
          <p:cNvPr id="19" name="Rounded Rectangle 18"/>
          <p:cNvSpPr/>
          <p:nvPr/>
        </p:nvSpPr>
        <p:spPr>
          <a:xfrm>
            <a:off x="2377440" y="3529584"/>
            <a:ext cx="3200400" cy="713232"/>
          </a:xfrm>
          <a:prstGeom prst="roundRect">
            <a:avLst>
              <a:gd name="adj" fmla="val 8000"/>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222222"/>
                </a:solidFill>
                <a:latin typeface="メイリオ"/>
                <a:ea typeface="メイリオ"/>
                <a:cs typeface="メイリオ"/>
              </a:rPr>
              <a:t>Couceiro</a:t>
            </a:r>
          </a:p>
        </p:txBody>
      </p:sp>
      <p:sp>
        <p:nvSpPr>
          <p:cNvPr id="20" name="Rounded Rectangle 19"/>
          <p:cNvSpPr/>
          <p:nvPr/>
        </p:nvSpPr>
        <p:spPr>
          <a:xfrm>
            <a:off x="5715000" y="3529584"/>
            <a:ext cx="5806440" cy="713232"/>
          </a:xfrm>
          <a:prstGeom prst="roundRect">
            <a:avLst>
              <a:gd name="adj" fmla="val 8000"/>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血圧・総末梢血管抵抗と対比</a:t>
            </a:r>
          </a:p>
        </p:txBody>
      </p:sp>
      <p:sp>
        <p:nvSpPr>
          <p:cNvPr id="21" name="Rounded Rectangle 20"/>
          <p:cNvSpPr/>
          <p:nvPr/>
        </p:nvSpPr>
        <p:spPr>
          <a:xfrm>
            <a:off x="640080" y="4370832"/>
            <a:ext cx="1600200" cy="713232"/>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5A5A5A"/>
                </a:solidFill>
                <a:latin typeface="メイリオ"/>
                <a:ea typeface="メイリオ"/>
                <a:cs typeface="メイリオ"/>
              </a:rPr>
              <a:t>2015〜</a:t>
            </a:r>
          </a:p>
        </p:txBody>
      </p:sp>
      <p:sp>
        <p:nvSpPr>
          <p:cNvPr id="22" name="Rounded Rectangle 21"/>
          <p:cNvSpPr/>
          <p:nvPr/>
        </p:nvSpPr>
        <p:spPr>
          <a:xfrm>
            <a:off x="2377440" y="4370832"/>
            <a:ext cx="3200400" cy="713232"/>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1" i="0">
                <a:solidFill>
                  <a:srgbClr val="222222"/>
                </a:solidFill>
                <a:latin typeface="メイリオ"/>
                <a:ea typeface="メイリオ"/>
                <a:cs typeface="メイリオ"/>
              </a:rPr>
              <a:t>Grabovskis ほか</a:t>
            </a:r>
          </a:p>
        </p:txBody>
      </p:sp>
      <p:sp>
        <p:nvSpPr>
          <p:cNvPr id="23" name="Rounded Rectangle 22"/>
          <p:cNvSpPr/>
          <p:nvPr/>
        </p:nvSpPr>
        <p:spPr>
          <a:xfrm>
            <a:off x="5715000" y="4370832"/>
            <a:ext cx="5806440" cy="713232"/>
          </a:xfrm>
          <a:prstGeom prst="roundRect">
            <a:avLst>
              <a:gd name="adj" fmla="val 8000"/>
            </a:avLst>
          </a:prstGeom>
          <a:noFill/>
          <a:ln w="19050">
            <a:solidFill>
              <a:srgbClr val="5A5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血管抵抗・運動負荷・血管年齢へ展開</a:t>
            </a:r>
          </a:p>
        </p:txBody>
      </p:sp>
      <p:sp>
        <p:nvSpPr>
          <p:cNvPr id="24" name="Rounded Rectangle 23"/>
          <p:cNvSpPr/>
          <p:nvPr/>
        </p:nvSpPr>
        <p:spPr>
          <a:xfrm>
            <a:off x="640080" y="5285232"/>
            <a:ext cx="10881360" cy="77724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C00000"/>
                </a:solidFill>
                <a:latin typeface="メイリオ"/>
                <a:ea typeface="メイリオ"/>
                <a:cs typeface="メイリオ"/>
              </a:rPr>
              <a:t>分解して SI・RI を作り直すことは、既出である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先行研究の成績</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29</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Couceiro R, et al. Physiol Meas 2015;36:1801-25（PMID 26235798）</a:t>
            </a:r>
          </a:p>
        </p:txBody>
      </p:sp>
      <p:sp>
        <p:nvSpPr>
          <p:cNvPr id="12" name="Rounded Rectangle 11"/>
          <p:cNvSpPr/>
          <p:nvPr/>
        </p:nvSpPr>
        <p:spPr>
          <a:xfrm>
            <a:off x="640080" y="1828800"/>
            <a:ext cx="10881360" cy="105156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222222"/>
                </a:solidFill>
                <a:latin typeface="メイリオ"/>
                <a:ea typeface="メイリオ"/>
                <a:cs typeface="メイリオ"/>
              </a:rPr>
              <a:t>五ガウス分解：68 例で LVET 誤差 15.41 ± 13.66 ms（ρ = 0.78）</a:t>
            </a:r>
          </a:p>
        </p:txBody>
      </p:sp>
      <p:sp>
        <p:nvSpPr>
          <p:cNvPr id="13" name="Rounded Rectangle 12"/>
          <p:cNvSpPr/>
          <p:nvPr/>
        </p:nvSpPr>
        <p:spPr>
          <a:xfrm>
            <a:off x="640080" y="3063240"/>
            <a:ext cx="5303520" cy="169164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0072B2"/>
                </a:solidFill>
                <a:latin typeface="メイリオ"/>
                <a:ea typeface="メイリオ"/>
                <a:cs typeface="メイリオ"/>
              </a:rPr>
              <a:t>時間パラメータ</a:t>
            </a:r>
          </a:p>
          <a:p>
            <a:pPr algn="l">
              <a:lnSpc>
                <a:spcPct val="100000"/>
              </a:lnSpc>
              <a:spcBef>
                <a:spcPts val="0"/>
              </a:spcBef>
              <a:spcAft>
                <a:spcPts val="600"/>
              </a:spcAft>
            </a:pPr>
          </a:p>
          <a:p>
            <a:pPr algn="l">
              <a:lnSpc>
                <a:spcPct val="100000"/>
              </a:lnSpc>
              <a:spcBef>
                <a:spcPts val="0"/>
              </a:spcBef>
              <a:spcAft>
                <a:spcPts val="600"/>
              </a:spcAft>
            </a:pPr>
            <a:r>
              <a:rPr sz="2200" b="0" i="0">
                <a:solidFill>
                  <a:srgbClr val="222222"/>
                </a:solidFill>
                <a:latin typeface="メイリオ"/>
                <a:ea typeface="メイリオ"/>
                <a:cs typeface="メイリオ"/>
              </a:rPr>
              <a:t>前進波と反射波の時間差</a:t>
            </a:r>
          </a:p>
          <a:p>
            <a:pPr algn="l">
              <a:lnSpc>
                <a:spcPct val="100000"/>
              </a:lnSpc>
              <a:spcBef>
                <a:spcPts val="0"/>
              </a:spcBef>
              <a:spcAft>
                <a:spcPts val="600"/>
              </a:spcAft>
            </a:pPr>
            <a:r>
              <a:rPr sz="2400" b="1" i="0">
                <a:solidFill>
                  <a:srgbClr val="222222"/>
                </a:solidFill>
                <a:latin typeface="メイリオ"/>
                <a:ea typeface="メイリオ"/>
                <a:cs typeface="メイリオ"/>
              </a:rPr>
              <a:t>TPRI と ρ = 0.45（最高）</a:t>
            </a:r>
          </a:p>
        </p:txBody>
      </p:sp>
      <p:sp>
        <p:nvSpPr>
          <p:cNvPr id="14" name="Rounded Rectangle 13"/>
          <p:cNvSpPr/>
          <p:nvPr/>
        </p:nvSpPr>
        <p:spPr>
          <a:xfrm>
            <a:off x="6217920" y="3063240"/>
            <a:ext cx="5303520" cy="169164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D55E00"/>
                </a:solidFill>
                <a:latin typeface="メイリオ"/>
                <a:ea typeface="メイリオ"/>
                <a:cs typeface="メイリオ"/>
              </a:rPr>
              <a:t>振幅パラメータ</a:t>
            </a:r>
          </a:p>
          <a:p>
            <a:pPr algn="l">
              <a:lnSpc>
                <a:spcPct val="100000"/>
              </a:lnSpc>
              <a:spcBef>
                <a:spcPts val="0"/>
              </a:spcBef>
              <a:spcAft>
                <a:spcPts val="600"/>
              </a:spcAft>
            </a:pPr>
          </a:p>
          <a:p>
            <a:pPr algn="l">
              <a:lnSpc>
                <a:spcPct val="100000"/>
              </a:lnSpc>
              <a:spcBef>
                <a:spcPts val="0"/>
              </a:spcBef>
              <a:spcAft>
                <a:spcPts val="600"/>
              </a:spcAft>
            </a:pPr>
            <a:r>
              <a:rPr sz="2200" b="0" i="0">
                <a:solidFill>
                  <a:srgbClr val="222222"/>
                </a:solidFill>
                <a:latin typeface="メイリオ"/>
                <a:ea typeface="メイリオ"/>
                <a:cs typeface="メイリオ"/>
              </a:rPr>
              <a:t>前進波と反射波の振幅比</a:t>
            </a:r>
          </a:p>
          <a:p>
            <a:pPr algn="l">
              <a:lnSpc>
                <a:spcPct val="100000"/>
              </a:lnSpc>
              <a:spcBef>
                <a:spcPts val="0"/>
              </a:spcBef>
              <a:spcAft>
                <a:spcPts val="600"/>
              </a:spcAft>
            </a:pPr>
            <a:r>
              <a:rPr sz="2400" b="1" i="0">
                <a:solidFill>
                  <a:srgbClr val="222222"/>
                </a:solidFill>
                <a:latin typeface="メイリオ"/>
                <a:ea typeface="メイリオ"/>
                <a:cs typeface="メイリオ"/>
              </a:rPr>
              <a:t>参照値すべてと低相関</a:t>
            </a:r>
          </a:p>
        </p:txBody>
      </p:sp>
      <p:sp>
        <p:nvSpPr>
          <p:cNvPr id="15" name="Rounded Rectangle 14"/>
          <p:cNvSpPr/>
          <p:nvPr/>
        </p:nvSpPr>
        <p:spPr>
          <a:xfrm>
            <a:off x="640080" y="4937760"/>
            <a:ext cx="10881360" cy="822960"/>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時間の軸のほうが有望 ―― ただし ρ = 0.45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圧だけで分ける法</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30</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Westerhof BE, et al. Hypertension 2006;48:595-601（PMID 16940207）／ Kips JG, et al. Hypertension 2009;53:142-9（PMID 19075098）</a:t>
            </a:r>
          </a:p>
        </p:txBody>
      </p:sp>
      <p:sp>
        <p:nvSpPr>
          <p:cNvPr id="12" name="Rounded Rectangle 11"/>
          <p:cNvSpPr/>
          <p:nvPr/>
        </p:nvSpPr>
        <p:spPr>
          <a:xfrm>
            <a:off x="640080" y="1828800"/>
            <a:ext cx="10881360" cy="96012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本来は 圧 ＋ 流量 の両方が必要 → 流量を三角形で代用</a:t>
            </a:r>
          </a:p>
        </p:txBody>
      </p:sp>
      <p:sp>
        <p:nvSpPr>
          <p:cNvPr id="13" name="Rounded Rectangle 12"/>
          <p:cNvSpPr/>
          <p:nvPr/>
        </p:nvSpPr>
        <p:spPr>
          <a:xfrm>
            <a:off x="640080" y="2971800"/>
            <a:ext cx="6766560" cy="777240"/>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0" i="0">
                <a:solidFill>
                  <a:srgbClr val="222222"/>
                </a:solidFill>
                <a:latin typeface="メイリオ"/>
                <a:ea typeface="メイリオ"/>
                <a:cs typeface="メイリオ"/>
              </a:rPr>
              <a:t>三角形で近似した流量</a:t>
            </a:r>
          </a:p>
        </p:txBody>
      </p:sp>
      <p:sp>
        <p:nvSpPr>
          <p:cNvPr id="14" name="Rounded Rectangle 13"/>
          <p:cNvSpPr/>
          <p:nvPr/>
        </p:nvSpPr>
        <p:spPr>
          <a:xfrm>
            <a:off x="7589520" y="2971800"/>
            <a:ext cx="3931920" cy="777240"/>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D55E00"/>
                </a:solidFill>
                <a:latin typeface="メイリオ"/>
                <a:ea typeface="メイリオ"/>
                <a:cs typeface="メイリオ"/>
              </a:rPr>
              <a:t>R² ＝ 0.55</a:t>
            </a:r>
          </a:p>
        </p:txBody>
      </p:sp>
      <p:sp>
        <p:nvSpPr>
          <p:cNvPr id="15" name="Rounded Rectangle 14"/>
          <p:cNvSpPr/>
          <p:nvPr/>
        </p:nvSpPr>
        <p:spPr>
          <a:xfrm>
            <a:off x="640080" y="3886200"/>
            <a:ext cx="6766560" cy="777240"/>
          </a:xfrm>
          <a:prstGeom prst="roundRect">
            <a:avLst>
              <a:gd name="adj" fmla="val 8000"/>
            </a:avLst>
          </a:prstGeom>
          <a:no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0" i="0">
                <a:solidFill>
                  <a:srgbClr val="222222"/>
                </a:solidFill>
                <a:latin typeface="メイリオ"/>
                <a:ea typeface="メイリオ"/>
                <a:cs typeface="メイリオ"/>
              </a:rPr>
              <a:t>より生理的な流量波形</a:t>
            </a:r>
          </a:p>
        </p:txBody>
      </p:sp>
      <p:sp>
        <p:nvSpPr>
          <p:cNvPr id="16" name="Rounded Rectangle 15"/>
          <p:cNvSpPr/>
          <p:nvPr/>
        </p:nvSpPr>
        <p:spPr>
          <a:xfrm>
            <a:off x="7589520" y="3886200"/>
            <a:ext cx="3931920" cy="777240"/>
          </a:xfrm>
          <a:prstGeom prst="roundRect">
            <a:avLst>
              <a:gd name="adj" fmla="val 8000"/>
            </a:avLst>
          </a:prstGeom>
          <a:no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0072B2"/>
                </a:solidFill>
                <a:latin typeface="メイリオ"/>
                <a:ea typeface="メイリオ"/>
                <a:cs typeface="メイリオ"/>
              </a:rPr>
              <a:t>R² ＝ 0.74</a:t>
            </a:r>
          </a:p>
        </p:txBody>
      </p:sp>
      <p:sp>
        <p:nvSpPr>
          <p:cNvPr id="17" name="Rounded Rectangle 16"/>
          <p:cNvSpPr/>
          <p:nvPr/>
        </p:nvSpPr>
        <p:spPr>
          <a:xfrm>
            <a:off x="640080" y="4800600"/>
            <a:ext cx="6766560" cy="777240"/>
          </a:xfrm>
          <a:prstGeom prst="roundRect">
            <a:avLst>
              <a:gd name="adj" fmla="val 8000"/>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0" i="0">
                <a:solidFill>
                  <a:srgbClr val="222222"/>
                </a:solidFill>
                <a:latin typeface="メイリオ"/>
                <a:ea typeface="メイリオ"/>
                <a:cs typeface="メイリオ"/>
              </a:rPr>
              <a:t>大動脈の伝播時間</a:t>
            </a:r>
          </a:p>
        </p:txBody>
      </p:sp>
      <p:sp>
        <p:nvSpPr>
          <p:cNvPr id="18" name="Rounded Rectangle 17"/>
          <p:cNvSpPr/>
          <p:nvPr/>
        </p:nvSpPr>
        <p:spPr>
          <a:xfrm>
            <a:off x="7589520" y="4800600"/>
            <a:ext cx="3931920" cy="777240"/>
          </a:xfrm>
          <a:prstGeom prst="roundRect">
            <a:avLst>
              <a:gd name="adj" fmla="val 8000"/>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400" b="1" i="0">
                <a:solidFill>
                  <a:srgbClr val="C00000"/>
                </a:solidFill>
                <a:latin typeface="メイリオ"/>
                <a:ea typeface="メイリオ"/>
                <a:cs typeface="メイリオ"/>
              </a:rPr>
              <a:t>R² &lt; 0.29</a:t>
            </a:r>
          </a:p>
        </p:txBody>
      </p:sp>
      <p:sp>
        <p:nvSpPr>
          <p:cNvPr id="19" name="TextBox 18"/>
          <p:cNvSpPr txBox="1"/>
          <p:nvPr/>
        </p:nvSpPr>
        <p:spPr>
          <a:xfrm>
            <a:off x="640080" y="5742432"/>
            <a:ext cx="10881360" cy="365760"/>
          </a:xfrm>
          <a:prstGeom prst="rect">
            <a:avLst/>
          </a:prstGeom>
          <a:noFill/>
        </p:spPr>
        <p:txBody>
          <a:bodyPr wrap="square" lIns="18288" rIns="18288" tIns="0" bIns="0" anchor="t">
            <a:noAutofit/>
          </a:bodyPr>
          <a:lstStyle/>
          <a:p>
            <a:pPr algn="l">
              <a:lnSpc>
                <a:spcPct val="100000"/>
              </a:lnSpc>
              <a:spcBef>
                <a:spcPts val="0"/>
              </a:spcBef>
              <a:spcAft>
                <a:spcPts val="0"/>
              </a:spcAft>
            </a:pPr>
            <a:r>
              <a:rPr sz="2200" b="0" i="0">
                <a:solidFill>
                  <a:srgbClr val="5A5A5A"/>
                </a:solidFill>
                <a:latin typeface="メイリオ"/>
                <a:ea typeface="メイリオ"/>
                <a:cs typeface="メイリオ"/>
              </a:rPr>
              <a:t>PPG は容積信号なので仮定が増える → 参照として使う</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数学が保証しないこと</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31</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本章の内容は本プロジェクトの作業仮説であり、臨床での検証は未了である</a:t>
            </a:r>
          </a:p>
        </p:txBody>
      </p:sp>
      <p:sp>
        <p:nvSpPr>
          <p:cNvPr id="12" name="Rounded Rectangle 11"/>
          <p:cNvSpPr/>
          <p:nvPr/>
        </p:nvSpPr>
        <p:spPr>
          <a:xfrm>
            <a:off x="640080" y="1828800"/>
            <a:ext cx="10881360" cy="114300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C00000"/>
                </a:solidFill>
                <a:latin typeface="メイリオ"/>
                <a:ea typeface="メイリオ"/>
                <a:cs typeface="メイリオ"/>
              </a:rPr>
              <a:t>当てはまりの良さは、正しさの証明ではない</a:t>
            </a:r>
          </a:p>
        </p:txBody>
      </p:sp>
      <p:sp>
        <p:nvSpPr>
          <p:cNvPr id="13" name="TextBox 12"/>
          <p:cNvSpPr txBox="1"/>
          <p:nvPr/>
        </p:nvSpPr>
        <p:spPr>
          <a:xfrm>
            <a:off x="640080" y="3154680"/>
            <a:ext cx="10881360" cy="914400"/>
          </a:xfrm>
          <a:prstGeom prst="rect">
            <a:avLst/>
          </a:prstGeom>
          <a:noFill/>
        </p:spPr>
        <p:txBody>
          <a:bodyPr wrap="square" lIns="18288" rIns="18288" tIns="0" bIns="0" anchor="t">
            <a:noAutofit/>
          </a:bodyPr>
          <a:lstStyle/>
          <a:p>
            <a:pPr algn="l">
              <a:lnSpc>
                <a:spcPct val="100000"/>
              </a:lnSpc>
              <a:spcBef>
                <a:spcPts val="0"/>
              </a:spcBef>
              <a:spcAft>
                <a:spcPts val="1000"/>
              </a:spcAft>
            </a:pPr>
            <a:r>
              <a:rPr sz="2400" b="0" i="0">
                <a:solidFill>
                  <a:srgbClr val="222222"/>
                </a:solidFill>
                <a:latin typeface="メイリオ"/>
                <a:ea typeface="メイリオ"/>
                <a:cs typeface="メイリオ"/>
              </a:rPr>
              <a:t>山の数を増やせば、どんな曲線でも再現できてしまう</a:t>
            </a:r>
          </a:p>
          <a:p>
            <a:pPr algn="l">
              <a:lnSpc>
                <a:spcPct val="100000"/>
              </a:lnSpc>
              <a:spcBef>
                <a:spcPts val="0"/>
              </a:spcBef>
              <a:spcAft>
                <a:spcPts val="1000"/>
              </a:spcAft>
            </a:pPr>
            <a:r>
              <a:rPr sz="2400" b="0" i="0">
                <a:solidFill>
                  <a:srgbClr val="222222"/>
                </a:solidFill>
                <a:latin typeface="メイリオ"/>
                <a:ea typeface="メイリオ"/>
                <a:cs typeface="メイリオ"/>
              </a:rPr>
              <a:t>「二番目の山＝反射波」の対応は、数学の外側にある</a:t>
            </a:r>
          </a:p>
        </p:txBody>
      </p:sp>
      <p:sp>
        <p:nvSpPr>
          <p:cNvPr id="14" name="Rounded Rectangle 13"/>
          <p:cNvSpPr/>
          <p:nvPr/>
        </p:nvSpPr>
        <p:spPr>
          <a:xfrm>
            <a:off x="640080" y="4343400"/>
            <a:ext cx="3429000" cy="1371600"/>
          </a:xfrm>
          <a:prstGeom prst="roundRect">
            <a:avLst>
              <a:gd name="adj" fmla="val 8000"/>
            </a:avLst>
          </a:prstGeom>
          <a:noFill/>
          <a:ln w="2540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400" b="1" i="0">
                <a:solidFill>
                  <a:srgbClr val="00A8AA"/>
                </a:solidFill>
                <a:latin typeface="メイリオ"/>
                <a:ea typeface="メイリオ"/>
                <a:cs typeface="メイリオ"/>
              </a:rPr>
              <a:t>薬理学的介入</a:t>
            </a:r>
          </a:p>
          <a:p>
            <a:pPr algn="ctr">
              <a:lnSpc>
                <a:spcPct val="100000"/>
              </a:lnSpc>
              <a:spcBef>
                <a:spcPts val="0"/>
              </a:spcBef>
              <a:spcAft>
                <a:spcPts val="600"/>
              </a:spcAft>
            </a:pPr>
            <a:r>
              <a:rPr sz="2200" b="0" i="0">
                <a:solidFill>
                  <a:srgbClr val="222222"/>
                </a:solidFill>
                <a:latin typeface="メイリオ"/>
                <a:ea typeface="メイリオ"/>
                <a:cs typeface="メイリオ"/>
              </a:rPr>
              <a:t>既知の方向に動くか</a:t>
            </a:r>
          </a:p>
        </p:txBody>
      </p:sp>
      <p:sp>
        <p:nvSpPr>
          <p:cNvPr id="15" name="Rounded Rectangle 14"/>
          <p:cNvSpPr/>
          <p:nvPr/>
        </p:nvSpPr>
        <p:spPr>
          <a:xfrm>
            <a:off x="4343400" y="4343400"/>
            <a:ext cx="3429000" cy="1371600"/>
          </a:xfrm>
          <a:prstGeom prst="roundRect">
            <a:avLst>
              <a:gd name="adj" fmla="val 8000"/>
            </a:avLst>
          </a:prstGeom>
          <a:no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400" b="1" i="0">
                <a:solidFill>
                  <a:srgbClr val="0072B2"/>
                </a:solidFill>
                <a:latin typeface="メイリオ"/>
                <a:ea typeface="メイリオ"/>
                <a:cs typeface="メイリオ"/>
              </a:rPr>
              <a:t>in silico の真値</a:t>
            </a:r>
          </a:p>
          <a:p>
            <a:pPr algn="ctr">
              <a:lnSpc>
                <a:spcPct val="100000"/>
              </a:lnSpc>
              <a:spcBef>
                <a:spcPts val="0"/>
              </a:spcBef>
              <a:spcAft>
                <a:spcPts val="600"/>
              </a:spcAft>
            </a:pPr>
            <a:r>
              <a:rPr sz="2200" b="0" i="0">
                <a:solidFill>
                  <a:srgbClr val="222222"/>
                </a:solidFill>
                <a:latin typeface="メイリオ"/>
                <a:ea typeface="メイリオ"/>
                <a:cs typeface="メイリオ"/>
              </a:rPr>
              <a:t>生成条件と照合する</a:t>
            </a:r>
          </a:p>
        </p:txBody>
      </p:sp>
      <p:sp>
        <p:nvSpPr>
          <p:cNvPr id="16" name="Rounded Rectangle 15"/>
          <p:cNvSpPr/>
          <p:nvPr/>
        </p:nvSpPr>
        <p:spPr>
          <a:xfrm>
            <a:off x="8046719" y="4343400"/>
            <a:ext cx="3429000" cy="1371600"/>
          </a:xfrm>
          <a:prstGeom prst="roundRect">
            <a:avLst>
              <a:gd name="adj" fmla="val 8000"/>
            </a:avLst>
          </a:prstGeom>
          <a:noFill/>
          <a:ln w="2540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ctr">
              <a:lnSpc>
                <a:spcPct val="100000"/>
              </a:lnSpc>
              <a:spcBef>
                <a:spcPts val="0"/>
              </a:spcBef>
              <a:spcAft>
                <a:spcPts val="600"/>
              </a:spcAft>
            </a:pPr>
            <a:r>
              <a:rPr sz="2400" b="1" i="0">
                <a:solidFill>
                  <a:srgbClr val="D55E00"/>
                </a:solidFill>
                <a:latin typeface="メイリオ"/>
                <a:ea typeface="メイリオ"/>
                <a:cs typeface="メイリオ"/>
              </a:rPr>
              <a:t>独立指標</a:t>
            </a:r>
          </a:p>
          <a:p>
            <a:pPr algn="ctr">
              <a:lnSpc>
                <a:spcPct val="100000"/>
              </a:lnSpc>
              <a:spcBef>
                <a:spcPts val="0"/>
              </a:spcBef>
              <a:spcAft>
                <a:spcPts val="600"/>
              </a:spcAft>
            </a:pPr>
            <a:r>
              <a:rPr sz="2200" b="0" i="0">
                <a:solidFill>
                  <a:srgbClr val="222222"/>
                </a:solidFill>
                <a:latin typeface="メイリオ"/>
                <a:ea typeface="メイリオ"/>
                <a:cs typeface="メイリオ"/>
              </a:rPr>
              <a:t>cf-PWV と突き合わせる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新規性はどこか</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32</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本リポジトリ「反射波の数学的分離から SI・RI を再計算する ― 先行技術調査」§9</a:t>
            </a:r>
          </a:p>
        </p:txBody>
      </p:sp>
      <p:sp>
        <p:nvSpPr>
          <p:cNvPr id="12" name="Rounded Rectangle 11"/>
          <p:cNvSpPr/>
          <p:nvPr/>
        </p:nvSpPr>
        <p:spPr>
          <a:xfrm>
            <a:off x="640080" y="1783080"/>
            <a:ext cx="10881360" cy="603504"/>
          </a:xfrm>
          <a:prstGeom prst="roundRect">
            <a:avLst>
              <a:gd name="adj" fmla="val 8000"/>
            </a:avLst>
          </a:pr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① 周術期・全身麻酔下での検証</a:t>
            </a:r>
          </a:p>
        </p:txBody>
      </p:sp>
      <p:sp>
        <p:nvSpPr>
          <p:cNvPr id="13" name="Rounded Rectangle 12"/>
          <p:cNvSpPr/>
          <p:nvPr/>
        </p:nvSpPr>
        <p:spPr>
          <a:xfrm>
            <a:off x="640080" y="2478024"/>
            <a:ext cx="10881360" cy="603504"/>
          </a:xfrm>
          <a:prstGeom prst="roundRect">
            <a:avLst>
              <a:gd name="adj" fmla="val 8000"/>
            </a:avLst>
          </a:pr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② 退化波形での救済という仮説</a:t>
            </a:r>
          </a:p>
        </p:txBody>
      </p:sp>
      <p:sp>
        <p:nvSpPr>
          <p:cNvPr id="14" name="Rounded Rectangle 13"/>
          <p:cNvSpPr/>
          <p:nvPr/>
        </p:nvSpPr>
        <p:spPr>
          <a:xfrm>
            <a:off x="640080" y="3172968"/>
            <a:ext cx="10881360" cy="603504"/>
          </a:xfrm>
          <a:prstGeom prst="roundRect">
            <a:avLst>
              <a:gd name="adj" fmla="val 8000"/>
            </a:avLst>
          </a:prstGeom>
          <a:no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③ AGC・帯域制限のある実機波形</a:t>
            </a:r>
          </a:p>
        </p:txBody>
      </p:sp>
      <p:sp>
        <p:nvSpPr>
          <p:cNvPr id="15" name="Rounded Rectangle 14"/>
          <p:cNvSpPr/>
          <p:nvPr/>
        </p:nvSpPr>
        <p:spPr>
          <a:xfrm>
            <a:off x="640080" y="3867912"/>
            <a:ext cx="10881360" cy="603504"/>
          </a:xfrm>
          <a:prstGeom prst="roundRect">
            <a:avLst>
              <a:gd name="adj" fmla="val 8000"/>
            </a:avLst>
          </a:prstGeom>
          <a:no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④ 相関ではなく、変化の追随性</a:t>
            </a:r>
          </a:p>
        </p:txBody>
      </p:sp>
      <p:sp>
        <p:nvSpPr>
          <p:cNvPr id="16" name="Rounded Rectangle 15"/>
          <p:cNvSpPr/>
          <p:nvPr/>
        </p:nvSpPr>
        <p:spPr>
          <a:xfrm>
            <a:off x="640080" y="4562856"/>
            <a:ext cx="10881360" cy="603504"/>
          </a:xfrm>
          <a:prstGeom prst="roundRect">
            <a:avLst>
              <a:gd name="adj" fmla="val 8000"/>
            </a:avLst>
          </a:prstGeom>
          <a:no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⑤ 拍ごとの識別可能性の報告</a:t>
            </a:r>
          </a:p>
        </p:txBody>
      </p:sp>
      <p:sp>
        <p:nvSpPr>
          <p:cNvPr id="17" name="Rounded Rectangle 16"/>
          <p:cNvSpPr/>
          <p:nvPr/>
        </p:nvSpPr>
        <p:spPr>
          <a:xfrm>
            <a:off x="640080" y="5303520"/>
            <a:ext cx="10881360" cy="749808"/>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新規性は定義ではなく、検証の条件の側にある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Δとして使う</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33</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本リポジトリ設計原則 §4.1 ／ Millasseau 2002（被験者内 CV 9.6%）</a:t>
            </a:r>
          </a:p>
        </p:txBody>
      </p:sp>
      <p:sp>
        <p:nvSpPr>
          <p:cNvPr id="12" name="Rounded Rectangle 11"/>
          <p:cNvSpPr/>
          <p:nvPr/>
        </p:nvSpPr>
        <p:spPr>
          <a:xfrm>
            <a:off x="640080" y="1828800"/>
            <a:ext cx="10881360" cy="1097280"/>
          </a:xfrm>
          <a:prstGeom prst="roundRect">
            <a:avLst>
              <a:gd name="adj" fmla="val 8000"/>
            </a:avLst>
          </a:prstGeom>
          <a:solidFill>
            <a:srgbClr val="F7EFD9"/>
          </a:solid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800" b="1" i="0">
                <a:solidFill>
                  <a:srgbClr val="222222"/>
                </a:solidFill>
                <a:latin typeface="メイリオ"/>
                <a:ea typeface="メイリオ"/>
                <a:cs typeface="メイリオ"/>
              </a:rPr>
              <a:t>絶対値ではなく、導入前からの変化を追う</a:t>
            </a:r>
          </a:p>
        </p:txBody>
      </p:sp>
      <p:sp>
        <p:nvSpPr>
          <p:cNvPr id="13" name="Freeform 12"/>
          <p:cNvSpPr/>
          <p:nvPr/>
        </p:nvSpPr>
        <p:spPr>
          <a:xfrm>
            <a:off x="914400" y="3576826"/>
            <a:ext cx="6400800" cy="875570"/>
          </a:xfrm>
          <a:custGeom>
            <a:avLst/>
            <a:gdLst/>
            <a:ahLst/>
            <a:cxnLst/>
            <a:rect l="l" t="t" r="r" b="b"/>
            <a:pathLst>
              <a:path w="6400800" h="875570">
                <a:moveTo>
                  <a:pt x="0" y="26459"/>
                </a:moveTo>
                <a:lnTo>
                  <a:pt x="35560" y="21380"/>
                </a:lnTo>
                <a:lnTo>
                  <a:pt x="71120" y="16494"/>
                </a:lnTo>
                <a:lnTo>
                  <a:pt x="106680" y="11979"/>
                </a:lnTo>
                <a:lnTo>
                  <a:pt x="142240" y="7999"/>
                </a:lnTo>
                <a:lnTo>
                  <a:pt x="177800" y="4703"/>
                </a:lnTo>
                <a:lnTo>
                  <a:pt x="213360" y="2212"/>
                </a:lnTo>
                <a:lnTo>
                  <a:pt x="248920" y="623"/>
                </a:lnTo>
                <a:lnTo>
                  <a:pt x="284480" y="0"/>
                </a:lnTo>
                <a:lnTo>
                  <a:pt x="320040" y="373"/>
                </a:lnTo>
                <a:lnTo>
                  <a:pt x="355600" y="1739"/>
                </a:lnTo>
                <a:lnTo>
                  <a:pt x="391160" y="4060"/>
                </a:lnTo>
                <a:lnTo>
                  <a:pt x="426720" y="7267"/>
                </a:lnTo>
                <a:lnTo>
                  <a:pt x="462280" y="11259"/>
                </a:lnTo>
                <a:lnTo>
                  <a:pt x="497840" y="15911"/>
                </a:lnTo>
                <a:lnTo>
                  <a:pt x="533400" y="21074"/>
                </a:lnTo>
                <a:lnTo>
                  <a:pt x="568960" y="26586"/>
                </a:lnTo>
                <a:lnTo>
                  <a:pt x="604519" y="32274"/>
                </a:lnTo>
                <a:lnTo>
                  <a:pt x="640080" y="37961"/>
                </a:lnTo>
                <a:lnTo>
                  <a:pt x="675640" y="43474"/>
                </a:lnTo>
                <a:lnTo>
                  <a:pt x="711200" y="48651"/>
                </a:lnTo>
                <a:lnTo>
                  <a:pt x="746760" y="53343"/>
                </a:lnTo>
                <a:lnTo>
                  <a:pt x="782320" y="57427"/>
                </a:lnTo>
                <a:lnTo>
                  <a:pt x="817880" y="60804"/>
                </a:lnTo>
                <a:lnTo>
                  <a:pt x="853440" y="63409"/>
                </a:lnTo>
                <a:lnTo>
                  <a:pt x="889000" y="65207"/>
                </a:lnTo>
                <a:lnTo>
                  <a:pt x="924560" y="66203"/>
                </a:lnTo>
                <a:lnTo>
                  <a:pt x="960119" y="66437"/>
                </a:lnTo>
                <a:lnTo>
                  <a:pt x="995680" y="65986"/>
                </a:lnTo>
                <a:lnTo>
                  <a:pt x="1031240" y="64962"/>
                </a:lnTo>
                <a:lnTo>
                  <a:pt x="1066799" y="63508"/>
                </a:lnTo>
                <a:lnTo>
                  <a:pt x="1102360" y="61797"/>
                </a:lnTo>
                <a:lnTo>
                  <a:pt x="1137920" y="60022"/>
                </a:lnTo>
                <a:lnTo>
                  <a:pt x="1173480" y="58398"/>
                </a:lnTo>
                <a:lnTo>
                  <a:pt x="1209039" y="57148"/>
                </a:lnTo>
                <a:lnTo>
                  <a:pt x="1244600" y="56503"/>
                </a:lnTo>
                <a:lnTo>
                  <a:pt x="1280160" y="56692"/>
                </a:lnTo>
                <a:lnTo>
                  <a:pt x="1315720" y="57935"/>
                </a:lnTo>
                <a:lnTo>
                  <a:pt x="1351280" y="60442"/>
                </a:lnTo>
                <a:lnTo>
                  <a:pt x="1386840" y="64400"/>
                </a:lnTo>
                <a:lnTo>
                  <a:pt x="1422400" y="69973"/>
                </a:lnTo>
                <a:lnTo>
                  <a:pt x="1457959" y="77297"/>
                </a:lnTo>
                <a:lnTo>
                  <a:pt x="1493520" y="86474"/>
                </a:lnTo>
                <a:lnTo>
                  <a:pt x="1529080" y="97573"/>
                </a:lnTo>
                <a:lnTo>
                  <a:pt x="1564640" y="110625"/>
                </a:lnTo>
                <a:lnTo>
                  <a:pt x="1600200" y="125625"/>
                </a:lnTo>
                <a:lnTo>
                  <a:pt x="1635760" y="142531"/>
                </a:lnTo>
                <a:lnTo>
                  <a:pt x="1671320" y="161264"/>
                </a:lnTo>
                <a:lnTo>
                  <a:pt x="1706880" y="181711"/>
                </a:lnTo>
                <a:lnTo>
                  <a:pt x="1742440" y="203727"/>
                </a:lnTo>
                <a:lnTo>
                  <a:pt x="1778000" y="227139"/>
                </a:lnTo>
                <a:lnTo>
                  <a:pt x="1813560" y="251748"/>
                </a:lnTo>
                <a:lnTo>
                  <a:pt x="1849120" y="277333"/>
                </a:lnTo>
                <a:lnTo>
                  <a:pt x="1884680" y="303658"/>
                </a:lnTo>
                <a:lnTo>
                  <a:pt x="1920240" y="330475"/>
                </a:lnTo>
                <a:lnTo>
                  <a:pt x="1955800" y="357530"/>
                </a:lnTo>
                <a:lnTo>
                  <a:pt x="1991360" y="384572"/>
                </a:lnTo>
                <a:lnTo>
                  <a:pt x="2026920" y="411354"/>
                </a:lnTo>
                <a:lnTo>
                  <a:pt x="2062480" y="437646"/>
                </a:lnTo>
                <a:lnTo>
                  <a:pt x="2098040" y="463235"/>
                </a:lnTo>
                <a:lnTo>
                  <a:pt x="2133599" y="487937"/>
                </a:lnTo>
                <a:lnTo>
                  <a:pt x="2169160" y="511600"/>
                </a:lnTo>
                <a:lnTo>
                  <a:pt x="2204720" y="534106"/>
                </a:lnTo>
                <a:lnTo>
                  <a:pt x="2240279" y="555378"/>
                </a:lnTo>
                <a:lnTo>
                  <a:pt x="2275840" y="575380"/>
                </a:lnTo>
                <a:lnTo>
                  <a:pt x="2311400" y="594115"/>
                </a:lnTo>
                <a:lnTo>
                  <a:pt x="2346960" y="611624"/>
                </a:lnTo>
                <a:lnTo>
                  <a:pt x="2382520" y="627982"/>
                </a:lnTo>
                <a:lnTo>
                  <a:pt x="2418080" y="643293"/>
                </a:lnTo>
                <a:lnTo>
                  <a:pt x="2453640" y="657681"/>
                </a:lnTo>
                <a:lnTo>
                  <a:pt x="2489200" y="671284"/>
                </a:lnTo>
                <a:lnTo>
                  <a:pt x="2524760" y="684246"/>
                </a:lnTo>
                <a:lnTo>
                  <a:pt x="2560320" y="696709"/>
                </a:lnTo>
                <a:lnTo>
                  <a:pt x="2595880" y="708804"/>
                </a:lnTo>
                <a:lnTo>
                  <a:pt x="2631440" y="720647"/>
                </a:lnTo>
                <a:lnTo>
                  <a:pt x="2667000" y="732330"/>
                </a:lnTo>
                <a:lnTo>
                  <a:pt x="2702560" y="743920"/>
                </a:lnTo>
                <a:lnTo>
                  <a:pt x="2738120" y="755454"/>
                </a:lnTo>
                <a:lnTo>
                  <a:pt x="2773680" y="766938"/>
                </a:lnTo>
                <a:lnTo>
                  <a:pt x="2809239" y="778347"/>
                </a:lnTo>
                <a:lnTo>
                  <a:pt x="2844799" y="789629"/>
                </a:lnTo>
                <a:lnTo>
                  <a:pt x="2880360" y="800703"/>
                </a:lnTo>
                <a:lnTo>
                  <a:pt x="2915919" y="811469"/>
                </a:lnTo>
                <a:lnTo>
                  <a:pt x="2951480" y="821808"/>
                </a:lnTo>
                <a:lnTo>
                  <a:pt x="2987040" y="831592"/>
                </a:lnTo>
                <a:lnTo>
                  <a:pt x="3022600" y="840686"/>
                </a:lnTo>
                <a:lnTo>
                  <a:pt x="3058160" y="848956"/>
                </a:lnTo>
                <a:lnTo>
                  <a:pt x="3093719" y="856279"/>
                </a:lnTo>
                <a:lnTo>
                  <a:pt x="3129280" y="862541"/>
                </a:lnTo>
                <a:lnTo>
                  <a:pt x="3164840" y="867651"/>
                </a:lnTo>
                <a:lnTo>
                  <a:pt x="3200400" y="871536"/>
                </a:lnTo>
                <a:lnTo>
                  <a:pt x="3235960" y="874155"/>
                </a:lnTo>
                <a:lnTo>
                  <a:pt x="3271519" y="875494"/>
                </a:lnTo>
                <a:lnTo>
                  <a:pt x="3307080" y="875570"/>
                </a:lnTo>
                <a:lnTo>
                  <a:pt x="3342640" y="874429"/>
                </a:lnTo>
                <a:lnTo>
                  <a:pt x="3378200" y="872149"/>
                </a:lnTo>
                <a:lnTo>
                  <a:pt x="3413760" y="868833"/>
                </a:lnTo>
                <a:lnTo>
                  <a:pt x="3449320" y="864609"/>
                </a:lnTo>
                <a:lnTo>
                  <a:pt x="3484880" y="859622"/>
                </a:lnTo>
                <a:lnTo>
                  <a:pt x="3520440" y="854032"/>
                </a:lnTo>
                <a:lnTo>
                  <a:pt x="3556000" y="848007"/>
                </a:lnTo>
                <a:lnTo>
                  <a:pt x="3591560" y="841713"/>
                </a:lnTo>
                <a:lnTo>
                  <a:pt x="3627120" y="835315"/>
                </a:lnTo>
                <a:lnTo>
                  <a:pt x="3662680" y="828962"/>
                </a:lnTo>
                <a:lnTo>
                  <a:pt x="3698240" y="822787"/>
                </a:lnTo>
                <a:lnTo>
                  <a:pt x="3733800" y="816899"/>
                </a:lnTo>
                <a:lnTo>
                  <a:pt x="3769360" y="811377"/>
                </a:lnTo>
                <a:lnTo>
                  <a:pt x="3804920" y="806267"/>
                </a:lnTo>
                <a:lnTo>
                  <a:pt x="3840480" y="801581"/>
                </a:lnTo>
                <a:lnTo>
                  <a:pt x="3876040" y="797294"/>
                </a:lnTo>
                <a:lnTo>
                  <a:pt x="3911600" y="793344"/>
                </a:lnTo>
                <a:lnTo>
                  <a:pt x="3947160" y="789631"/>
                </a:lnTo>
                <a:lnTo>
                  <a:pt x="3982720" y="786028"/>
                </a:lnTo>
                <a:lnTo>
                  <a:pt x="4018279" y="782377"/>
                </a:lnTo>
                <a:lnTo>
                  <a:pt x="4053840" y="778500"/>
                </a:lnTo>
                <a:lnTo>
                  <a:pt x="4089399" y="774203"/>
                </a:lnTo>
                <a:lnTo>
                  <a:pt x="4124960" y="769288"/>
                </a:lnTo>
                <a:lnTo>
                  <a:pt x="4160520" y="763560"/>
                </a:lnTo>
                <a:lnTo>
                  <a:pt x="4196080" y="756838"/>
                </a:lnTo>
                <a:lnTo>
                  <a:pt x="4231640" y="748958"/>
                </a:lnTo>
                <a:lnTo>
                  <a:pt x="4267199" y="739792"/>
                </a:lnTo>
                <a:lnTo>
                  <a:pt x="4302760" y="729248"/>
                </a:lnTo>
                <a:lnTo>
                  <a:pt x="4338320" y="717276"/>
                </a:lnTo>
                <a:lnTo>
                  <a:pt x="4373880" y="703876"/>
                </a:lnTo>
                <a:lnTo>
                  <a:pt x="4409440" y="689098"/>
                </a:lnTo>
                <a:lnTo>
                  <a:pt x="4445000" y="673040"/>
                </a:lnTo>
                <a:lnTo>
                  <a:pt x="4480559" y="655846"/>
                </a:lnTo>
                <a:lnTo>
                  <a:pt x="4516120" y="637700"/>
                </a:lnTo>
                <a:lnTo>
                  <a:pt x="4551680" y="618820"/>
                </a:lnTo>
                <a:lnTo>
                  <a:pt x="4587240" y="599451"/>
                </a:lnTo>
                <a:lnTo>
                  <a:pt x="4622800" y="579852"/>
                </a:lnTo>
                <a:lnTo>
                  <a:pt x="4658360" y="560293"/>
                </a:lnTo>
                <a:lnTo>
                  <a:pt x="4693920" y="541040"/>
                </a:lnTo>
                <a:lnTo>
                  <a:pt x="4729480" y="522355"/>
                </a:lnTo>
                <a:lnTo>
                  <a:pt x="4765040" y="504479"/>
                </a:lnTo>
                <a:lnTo>
                  <a:pt x="4800600" y="487637"/>
                </a:lnTo>
                <a:lnTo>
                  <a:pt x="4836160" y="472022"/>
                </a:lnTo>
                <a:lnTo>
                  <a:pt x="4871720" y="457801"/>
                </a:lnTo>
                <a:lnTo>
                  <a:pt x="4907280" y="445104"/>
                </a:lnTo>
                <a:lnTo>
                  <a:pt x="4942840" y="434027"/>
                </a:lnTo>
                <a:lnTo>
                  <a:pt x="4978400" y="424625"/>
                </a:lnTo>
                <a:lnTo>
                  <a:pt x="5013960" y="416919"/>
                </a:lnTo>
                <a:lnTo>
                  <a:pt x="5049520" y="410889"/>
                </a:lnTo>
                <a:lnTo>
                  <a:pt x="5085080" y="406478"/>
                </a:lnTo>
                <a:lnTo>
                  <a:pt x="5120640" y="403594"/>
                </a:lnTo>
                <a:lnTo>
                  <a:pt x="5156200" y="402114"/>
                </a:lnTo>
                <a:lnTo>
                  <a:pt x="5191760" y="401884"/>
                </a:lnTo>
                <a:lnTo>
                  <a:pt x="5227320" y="402726"/>
                </a:lnTo>
                <a:lnTo>
                  <a:pt x="5262880" y="404444"/>
                </a:lnTo>
                <a:lnTo>
                  <a:pt x="5298440" y="406826"/>
                </a:lnTo>
                <a:lnTo>
                  <a:pt x="5334000" y="409654"/>
                </a:lnTo>
                <a:lnTo>
                  <a:pt x="5369560" y="412708"/>
                </a:lnTo>
                <a:lnTo>
                  <a:pt x="5405120" y="415775"/>
                </a:lnTo>
                <a:lnTo>
                  <a:pt x="5440680" y="418652"/>
                </a:lnTo>
                <a:lnTo>
                  <a:pt x="5476240" y="421154"/>
                </a:lnTo>
                <a:lnTo>
                  <a:pt x="5511800" y="423119"/>
                </a:lnTo>
                <a:lnTo>
                  <a:pt x="5547360" y="424414"/>
                </a:lnTo>
                <a:lnTo>
                  <a:pt x="5582920" y="424936"/>
                </a:lnTo>
                <a:lnTo>
                  <a:pt x="5618479" y="424616"/>
                </a:lnTo>
                <a:lnTo>
                  <a:pt x="5654040" y="423424"/>
                </a:lnTo>
                <a:lnTo>
                  <a:pt x="5689599" y="421363"/>
                </a:lnTo>
                <a:lnTo>
                  <a:pt x="5725160" y="418474"/>
                </a:lnTo>
                <a:lnTo>
                  <a:pt x="5760720" y="414830"/>
                </a:lnTo>
                <a:lnTo>
                  <a:pt x="5796280" y="410535"/>
                </a:lnTo>
                <a:lnTo>
                  <a:pt x="5831840" y="405720"/>
                </a:lnTo>
                <a:lnTo>
                  <a:pt x="5867399" y="400538"/>
                </a:lnTo>
                <a:lnTo>
                  <a:pt x="5902960" y="395154"/>
                </a:lnTo>
                <a:lnTo>
                  <a:pt x="5938520" y="389747"/>
                </a:lnTo>
                <a:lnTo>
                  <a:pt x="5974080" y="384495"/>
                </a:lnTo>
                <a:lnTo>
                  <a:pt x="6009640" y="379574"/>
                </a:lnTo>
                <a:lnTo>
                  <a:pt x="6045200" y="375150"/>
                </a:lnTo>
                <a:lnTo>
                  <a:pt x="6080759" y="371371"/>
                </a:lnTo>
                <a:lnTo>
                  <a:pt x="6116320" y="368364"/>
                </a:lnTo>
                <a:lnTo>
                  <a:pt x="6151880" y="366230"/>
                </a:lnTo>
                <a:lnTo>
                  <a:pt x="6187440" y="365039"/>
                </a:lnTo>
                <a:lnTo>
                  <a:pt x="6223000" y="364828"/>
                </a:lnTo>
                <a:lnTo>
                  <a:pt x="6258560" y="365601"/>
                </a:lnTo>
                <a:lnTo>
                  <a:pt x="6294120" y="367326"/>
                </a:lnTo>
                <a:lnTo>
                  <a:pt x="6329680" y="369939"/>
                </a:lnTo>
                <a:lnTo>
                  <a:pt x="6365240" y="373345"/>
                </a:lnTo>
                <a:lnTo>
                  <a:pt x="6400800" y="377418"/>
                </a:lnTo>
              </a:path>
            </a:pathLst>
          </a:custGeom>
          <a:noFill/>
          <a:ln w="3556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914400" y="5029200"/>
            <a:ext cx="6400800" cy="0"/>
          </a:xfrm>
          <a:prstGeom prst="line">
            <a:avLst/>
          </a:prstGeom>
          <a:ln w="15875">
            <a:solidFill>
              <a:srgbClr val="9A9A9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34640" y="3154680"/>
            <a:ext cx="0" cy="1874520"/>
          </a:xfrm>
          <a:prstGeom prst="line">
            <a:avLst/>
          </a:prstGeom>
          <a:ln w="19050">
            <a:solidFill>
              <a:srgbClr val="9A9A9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66944" y="3154680"/>
            <a:ext cx="0" cy="1874520"/>
          </a:xfrm>
          <a:prstGeom prst="line">
            <a:avLst/>
          </a:prstGeom>
          <a:ln w="19050">
            <a:solidFill>
              <a:srgbClr val="9A9A9A"/>
            </a:solidFill>
            <a:prstDash val="dash"/>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5084064"/>
            <a:ext cx="640080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200" b="0" i="0">
                <a:solidFill>
                  <a:srgbClr val="5A5A5A"/>
                </a:solidFill>
                <a:latin typeface="メイリオ"/>
                <a:ea typeface="メイリオ"/>
                <a:cs typeface="メイリオ"/>
              </a:rPr>
              <a:t>導入前 → 麻酔導入 → 昇圧薬（模式図）</a:t>
            </a:r>
          </a:p>
        </p:txBody>
      </p:sp>
      <p:sp>
        <p:nvSpPr>
          <p:cNvPr id="18" name="TextBox 17"/>
          <p:cNvSpPr txBox="1"/>
          <p:nvPr/>
        </p:nvSpPr>
        <p:spPr>
          <a:xfrm>
            <a:off x="7680960" y="3246120"/>
            <a:ext cx="3840480" cy="1828800"/>
          </a:xfrm>
          <a:prstGeom prst="rect">
            <a:avLst/>
          </a:prstGeom>
          <a:noFill/>
        </p:spPr>
        <p:txBody>
          <a:bodyPr wrap="square" lIns="18288" rIns="18288" tIns="0" bIns="0" anchor="t">
            <a:noAutofit/>
          </a:bodyPr>
          <a:lstStyle/>
          <a:p>
            <a:pPr algn="l">
              <a:lnSpc>
                <a:spcPct val="100000"/>
              </a:lnSpc>
              <a:spcBef>
                <a:spcPts val="0"/>
              </a:spcBef>
              <a:spcAft>
                <a:spcPts val="1200"/>
              </a:spcAft>
            </a:pPr>
            <a:r>
              <a:rPr sz="2400" b="0" i="0">
                <a:solidFill>
                  <a:srgbClr val="222222"/>
                </a:solidFill>
                <a:latin typeface="メイリオ"/>
                <a:ea typeface="メイリオ"/>
                <a:cs typeface="メイリオ"/>
              </a:rPr>
              <a:t>校正が要らない</a:t>
            </a:r>
          </a:p>
          <a:p>
            <a:pPr algn="l">
              <a:lnSpc>
                <a:spcPct val="100000"/>
              </a:lnSpc>
              <a:spcBef>
                <a:spcPts val="0"/>
              </a:spcBef>
              <a:spcAft>
                <a:spcPts val="1200"/>
              </a:spcAft>
            </a:pPr>
            <a:r>
              <a:rPr sz="2400" b="0" i="0">
                <a:solidFill>
                  <a:srgbClr val="222222"/>
                </a:solidFill>
                <a:latin typeface="メイリオ"/>
                <a:ea typeface="メイリオ"/>
                <a:cs typeface="メイリオ"/>
              </a:rPr>
              <a:t>推定式に縛られない</a:t>
            </a:r>
          </a:p>
          <a:p>
            <a:pPr algn="l">
              <a:lnSpc>
                <a:spcPct val="100000"/>
              </a:lnSpc>
              <a:spcBef>
                <a:spcPts val="0"/>
              </a:spcBef>
              <a:spcAft>
                <a:spcPts val="1200"/>
              </a:spcAft>
            </a:pPr>
            <a:r>
              <a:rPr sz="2400" b="1" i="0">
                <a:solidFill>
                  <a:srgbClr val="0072B2"/>
                </a:solidFill>
                <a:latin typeface="メイリオ"/>
                <a:ea typeface="メイリオ"/>
                <a:cs typeface="メイリオ"/>
              </a:rPr>
              <a:t>CV 9.6% で足りる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二軸で読む</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34</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解釈の枠組み（仮説）。方向は Millasseau 2002・Chowienczyk 1999 の既知の所見に基づく</a:t>
            </a:r>
          </a:p>
        </p:txBody>
      </p:sp>
      <p:cxnSp>
        <p:nvCxnSpPr>
          <p:cNvPr id="12" name="Connector 11"/>
          <p:cNvCxnSpPr/>
          <p:nvPr/>
        </p:nvCxnSpPr>
        <p:spPr>
          <a:xfrm flipV="1">
            <a:off x="6263640" y="2432304"/>
            <a:ext cx="0" cy="1938528"/>
          </a:xfrm>
          <a:prstGeom prst="line">
            <a:avLst/>
          </a:prstGeom>
          <a:ln w="25400">
            <a:solidFill>
              <a:srgbClr val="D55E0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846320" y="3401568"/>
            <a:ext cx="2834640" cy="0"/>
          </a:xfrm>
          <a:prstGeom prst="line">
            <a:avLst/>
          </a:prstGeom>
          <a:ln w="25400">
            <a:solidFill>
              <a:srgbClr val="0072B2"/>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63055" y="3300984"/>
            <a:ext cx="201168" cy="201168"/>
          </a:xfrm>
          <a:prstGeom prst="roundRect">
            <a:avLst>
              <a:gd name="adj" fmla="val 50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p>
        </p:txBody>
      </p:sp>
      <p:sp>
        <p:nvSpPr>
          <p:cNvPr id="15" name="TextBox 14"/>
          <p:cNvSpPr txBox="1"/>
          <p:nvPr/>
        </p:nvSpPr>
        <p:spPr>
          <a:xfrm>
            <a:off x="5074920" y="1883664"/>
            <a:ext cx="2377440" cy="384048"/>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D55E00"/>
                </a:solidFill>
                <a:latin typeface="メイリオ"/>
                <a:ea typeface="メイリオ"/>
                <a:cs typeface="メイリオ"/>
              </a:rPr>
              <a:t>RI 高い ＝ 収縮</a:t>
            </a:r>
          </a:p>
        </p:txBody>
      </p:sp>
      <p:sp>
        <p:nvSpPr>
          <p:cNvPr id="16" name="TextBox 15"/>
          <p:cNvSpPr txBox="1"/>
          <p:nvPr/>
        </p:nvSpPr>
        <p:spPr>
          <a:xfrm>
            <a:off x="5074920" y="4517136"/>
            <a:ext cx="2377440" cy="384048"/>
          </a:xfrm>
          <a:prstGeom prst="rect">
            <a:avLst/>
          </a:prstGeom>
          <a:noFill/>
        </p:spPr>
        <p:txBody>
          <a:bodyPr wrap="square" lIns="18288" rIns="18288" tIns="0" bIns="0" anchor="t">
            <a:noAutofit/>
          </a:bodyPr>
          <a:lstStyle/>
          <a:p>
            <a:pPr algn="ctr">
              <a:lnSpc>
                <a:spcPct val="100000"/>
              </a:lnSpc>
              <a:spcBef>
                <a:spcPts val="0"/>
              </a:spcBef>
              <a:spcAft>
                <a:spcPts val="0"/>
              </a:spcAft>
            </a:pPr>
            <a:r>
              <a:rPr sz="2200" b="1" i="0">
                <a:solidFill>
                  <a:srgbClr val="D55E00"/>
                </a:solidFill>
                <a:latin typeface="メイリオ"/>
                <a:ea typeface="メイリオ"/>
                <a:cs typeface="メイリオ"/>
              </a:rPr>
              <a:t>RI 低い ＝ 拡張</a:t>
            </a:r>
          </a:p>
        </p:txBody>
      </p:sp>
      <p:sp>
        <p:nvSpPr>
          <p:cNvPr id="17" name="TextBox 16"/>
          <p:cNvSpPr txBox="1"/>
          <p:nvPr/>
        </p:nvSpPr>
        <p:spPr>
          <a:xfrm>
            <a:off x="1600200" y="3218688"/>
            <a:ext cx="3017520" cy="384048"/>
          </a:xfrm>
          <a:prstGeom prst="rect">
            <a:avLst/>
          </a:prstGeom>
          <a:noFill/>
        </p:spPr>
        <p:txBody>
          <a:bodyPr wrap="square" lIns="18288" rIns="18288" tIns="0" bIns="0" anchor="t">
            <a:noAutofit/>
          </a:bodyPr>
          <a:lstStyle/>
          <a:p>
            <a:pPr algn="r">
              <a:lnSpc>
                <a:spcPct val="100000"/>
              </a:lnSpc>
              <a:spcBef>
                <a:spcPts val="0"/>
              </a:spcBef>
              <a:spcAft>
                <a:spcPts val="0"/>
              </a:spcAft>
            </a:pPr>
            <a:r>
              <a:rPr sz="2200" b="1" i="0">
                <a:solidFill>
                  <a:srgbClr val="0072B2"/>
                </a:solidFill>
                <a:latin typeface="メイリオ"/>
                <a:ea typeface="メイリオ"/>
                <a:cs typeface="メイリオ"/>
              </a:rPr>
              <a:t>ΔT 短い ＝ 硬い</a:t>
            </a:r>
          </a:p>
        </p:txBody>
      </p:sp>
      <p:sp>
        <p:nvSpPr>
          <p:cNvPr id="18" name="TextBox 17"/>
          <p:cNvSpPr txBox="1"/>
          <p:nvPr/>
        </p:nvSpPr>
        <p:spPr>
          <a:xfrm>
            <a:off x="7863840" y="3218688"/>
            <a:ext cx="338328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0072B2"/>
                </a:solidFill>
                <a:latin typeface="メイリオ"/>
                <a:ea typeface="メイリオ"/>
                <a:cs typeface="メイリオ"/>
              </a:rPr>
              <a:t>ΔT 長い ＝ しなやか</a:t>
            </a:r>
          </a:p>
        </p:txBody>
      </p:sp>
      <p:sp>
        <p:nvSpPr>
          <p:cNvPr id="19" name="TextBox 18"/>
          <p:cNvSpPr txBox="1"/>
          <p:nvPr/>
        </p:nvSpPr>
        <p:spPr>
          <a:xfrm>
            <a:off x="6473952" y="3584448"/>
            <a:ext cx="292608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200" b="1" i="0">
                <a:solidFill>
                  <a:srgbClr val="00A8AA"/>
                </a:solidFill>
                <a:latin typeface="メイリオ"/>
                <a:ea typeface="メイリオ"/>
                <a:cs typeface="メイリオ"/>
              </a:rPr>
              <a:t>● 導入前の基準点</a:t>
            </a:r>
          </a:p>
        </p:txBody>
      </p:sp>
      <p:sp>
        <p:nvSpPr>
          <p:cNvPr id="20" name="Rounded Rectangle 19"/>
          <p:cNvSpPr/>
          <p:nvPr/>
        </p:nvSpPr>
        <p:spPr>
          <a:xfrm>
            <a:off x="640080" y="4956048"/>
            <a:ext cx="10881360" cy="100584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「末梢が開いたのか、血管が硬いのか」を分けて見る</a:t>
            </a:r>
          </a:p>
          <a:p>
            <a:pPr algn="ctr">
              <a:lnSpc>
                <a:spcPct val="100000"/>
              </a:lnSpc>
              <a:spcBef>
                <a:spcPts val="0"/>
              </a:spcBef>
              <a:spcAft>
                <a:spcPts val="400"/>
              </a:spcAft>
            </a:pPr>
            <a:r>
              <a:rPr sz="2200" b="1" i="0">
                <a:solidFill>
                  <a:srgbClr val="C00000"/>
                </a:solidFill>
                <a:latin typeface="メイリオ"/>
                <a:ea typeface="メイリオ"/>
                <a:cs typeface="メイリオ"/>
              </a:rPr>
              <a:t>※ 局所トーヌスか全身血管抵抗かは未解決</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使いどころ</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35</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Coutrot M, et al. Br J Anaesth 2019;122:605-12 ／ Tusman G, et al. J Clin Monit Comput 2019;33:815-24</a:t>
            </a:r>
          </a:p>
        </p:txBody>
      </p:sp>
      <p:sp>
        <p:nvSpPr>
          <p:cNvPr id="12" name="Rounded Rectangle 11"/>
          <p:cNvSpPr/>
          <p:nvPr/>
        </p:nvSpPr>
        <p:spPr>
          <a:xfrm>
            <a:off x="640080" y="1828800"/>
            <a:ext cx="3977639" cy="1097280"/>
          </a:xfrm>
          <a:prstGeom prst="roundRect">
            <a:avLst>
              <a:gd name="adj" fmla="val 8000"/>
            </a:avLst>
          </a:prstGeom>
          <a:solidFill>
            <a:srgbClr val="E4F0F8"/>
          </a:solid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0072B2"/>
                </a:solidFill>
                <a:latin typeface="メイリオ"/>
                <a:ea typeface="メイリオ"/>
                <a:cs typeface="メイリオ"/>
              </a:rPr>
              <a:t>導入時低血圧</a:t>
            </a:r>
          </a:p>
        </p:txBody>
      </p:sp>
      <p:sp>
        <p:nvSpPr>
          <p:cNvPr id="13" name="Rounded Rectangle 12"/>
          <p:cNvSpPr/>
          <p:nvPr/>
        </p:nvSpPr>
        <p:spPr>
          <a:xfrm>
            <a:off x="4800600" y="1828800"/>
            <a:ext cx="6720840" cy="1097280"/>
          </a:xfrm>
          <a:prstGeom prst="roundRect">
            <a:avLst>
              <a:gd name="adj" fmla="val 8000"/>
            </a:avLst>
          </a:prstGeom>
          <a:no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血圧が下がる前に血管側の変化を見る</a:t>
            </a:r>
          </a:p>
        </p:txBody>
      </p:sp>
      <p:sp>
        <p:nvSpPr>
          <p:cNvPr id="14" name="Rounded Rectangle 13"/>
          <p:cNvSpPr/>
          <p:nvPr/>
        </p:nvSpPr>
        <p:spPr>
          <a:xfrm>
            <a:off x="640080" y="3127248"/>
            <a:ext cx="3977639" cy="1097280"/>
          </a:xfrm>
          <a:prstGeom prst="roundRect">
            <a:avLst>
              <a:gd name="adj" fmla="val 8000"/>
            </a:avLst>
          </a:prstGeom>
          <a:solidFill>
            <a:srgbClr val="FBEAE0"/>
          </a:solid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D55E00"/>
                </a:solidFill>
                <a:latin typeface="メイリオ"/>
                <a:ea typeface="メイリオ"/>
                <a:cs typeface="メイリオ"/>
              </a:rPr>
              <a:t>昇圧薬への反応</a:t>
            </a:r>
          </a:p>
        </p:txBody>
      </p:sp>
      <p:sp>
        <p:nvSpPr>
          <p:cNvPr id="15" name="Rounded Rectangle 14"/>
          <p:cNvSpPr/>
          <p:nvPr/>
        </p:nvSpPr>
        <p:spPr>
          <a:xfrm>
            <a:off x="4800600" y="3127248"/>
            <a:ext cx="6720840" cy="1097280"/>
          </a:xfrm>
          <a:prstGeom prst="roundRect">
            <a:avLst>
              <a:gd name="adj" fmla="val 8000"/>
            </a:avLst>
          </a:prstGeom>
          <a:no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投与後に血管側がどう動いたかを見る</a:t>
            </a:r>
          </a:p>
        </p:txBody>
      </p:sp>
      <p:sp>
        <p:nvSpPr>
          <p:cNvPr id="16" name="Rounded Rectangle 15"/>
          <p:cNvSpPr/>
          <p:nvPr/>
        </p:nvSpPr>
        <p:spPr>
          <a:xfrm>
            <a:off x="640080" y="4425696"/>
            <a:ext cx="3977639" cy="109728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00A8AA"/>
                </a:solidFill>
                <a:latin typeface="メイリオ"/>
                <a:ea typeface="メイリオ"/>
                <a:cs typeface="メイリオ"/>
              </a:rPr>
              <a:t>脊椎麻酔後低血圧</a:t>
            </a:r>
          </a:p>
        </p:txBody>
      </p:sp>
      <p:sp>
        <p:nvSpPr>
          <p:cNvPr id="17" name="Rounded Rectangle 16"/>
          <p:cNvSpPr/>
          <p:nvPr/>
        </p:nvSpPr>
        <p:spPr>
          <a:xfrm>
            <a:off x="4800600" y="4425696"/>
            <a:ext cx="6720840" cy="1097280"/>
          </a:xfrm>
          <a:prstGeom prst="roundRect">
            <a:avLst>
              <a:gd name="adj" fmla="val 8000"/>
            </a:avLst>
          </a:prstGeom>
          <a:noFill/>
          <a:ln w="19050">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200" b="0" i="0">
                <a:solidFill>
                  <a:srgbClr val="222222"/>
                </a:solidFill>
                <a:latin typeface="メイリオ"/>
                <a:ea typeface="メイリオ"/>
                <a:cs typeface="メイリオ"/>
              </a:rPr>
              <a:t>報告は帝王切開に集中し一般化は未確立</a:t>
            </a:r>
          </a:p>
        </p:txBody>
      </p:sp>
      <p:sp>
        <p:nvSpPr>
          <p:cNvPr id="18" name="TextBox 17"/>
          <p:cNvSpPr txBox="1"/>
          <p:nvPr/>
        </p:nvSpPr>
        <p:spPr>
          <a:xfrm>
            <a:off x="640080" y="5705856"/>
            <a:ext cx="1088136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400" b="1" i="0">
                <a:solidFill>
                  <a:srgbClr val="C00000"/>
                </a:solidFill>
                <a:latin typeface="メイリオ"/>
                <a:ea typeface="メイリオ"/>
                <a:cs typeface="メイリオ"/>
              </a:rPr>
              <a:t>いずれも仮説段階 ―― 臨床判断の根拠にはしない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esCCOとの接続</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36</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Yamada T, et al. Anesth Analg 2012;115:82-7（PMID 22467885）／ 本リポジトリ「PWTT と esCCO」</a:t>
            </a:r>
          </a:p>
        </p:txBody>
      </p:sp>
      <p:sp>
        <p:nvSpPr>
          <p:cNvPr id="12" name="Rounded Rectangle 11"/>
          <p:cNvSpPr/>
          <p:nvPr/>
        </p:nvSpPr>
        <p:spPr>
          <a:xfrm>
            <a:off x="640080" y="1828800"/>
            <a:ext cx="10881360" cy="960120"/>
          </a:xfrm>
          <a:prstGeom prst="roundRect">
            <a:avLst>
              <a:gd name="adj" fmla="val 8000"/>
            </a:avLst>
          </a:prstGeom>
          <a:solidFill>
            <a:srgbClr val="EFEFEF"/>
          </a:solidFill>
          <a:ln w="2222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400"/>
              </a:spcAft>
            </a:pPr>
            <a:r>
              <a:rPr sz="2600" b="1" i="0">
                <a:solidFill>
                  <a:srgbClr val="222222"/>
                </a:solidFill>
                <a:latin typeface="メイリオ"/>
                <a:ea typeface="メイリオ"/>
                <a:cs typeface="メイリオ"/>
              </a:rPr>
              <a:t>PWTT ＝ PEP ＋ VTT　―― 血管の情報が分離できていない</a:t>
            </a:r>
          </a:p>
        </p:txBody>
      </p:sp>
      <p:sp>
        <p:nvSpPr>
          <p:cNvPr id="13" name="Rounded Rectangle 12"/>
          <p:cNvSpPr/>
          <p:nvPr/>
        </p:nvSpPr>
        <p:spPr>
          <a:xfrm>
            <a:off x="640080" y="2971800"/>
            <a:ext cx="5303520" cy="1691640"/>
          </a:xfrm>
          <a:prstGeom prst="roundRect">
            <a:avLst>
              <a:gd name="adj" fmla="val 8000"/>
            </a:avLst>
          </a:prstGeom>
          <a:solidFill>
            <a:srgbClr val="FBE7E7"/>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C00000"/>
                </a:solidFill>
                <a:latin typeface="メイリオ"/>
                <a:ea typeface="メイリオ"/>
                <a:cs typeface="メイリオ"/>
              </a:rPr>
              <a:t>esCCO の誤差</a:t>
            </a:r>
          </a:p>
          <a:p>
            <a:pPr algn="l">
              <a:lnSpc>
                <a:spcPct val="100000"/>
              </a:lnSpc>
              <a:spcBef>
                <a:spcPts val="0"/>
              </a:spcBef>
              <a:spcAft>
                <a:spcPts val="600"/>
              </a:spcAft>
            </a:pPr>
          </a:p>
          <a:p>
            <a:pPr algn="l">
              <a:lnSpc>
                <a:spcPct val="100000"/>
              </a:lnSpc>
              <a:spcBef>
                <a:spcPts val="0"/>
              </a:spcBef>
              <a:spcAft>
                <a:spcPts val="600"/>
              </a:spcAft>
            </a:pPr>
            <a:r>
              <a:rPr sz="2400" b="0" i="0">
                <a:solidFill>
                  <a:srgbClr val="222222"/>
                </a:solidFill>
                <a:latin typeface="メイリオ"/>
                <a:ea typeface="メイリオ"/>
                <a:cs typeface="メイリオ"/>
              </a:rPr>
              <a:t>全身血管抵抗と r = 0.37</a:t>
            </a:r>
          </a:p>
          <a:p>
            <a:pPr algn="l">
              <a:lnSpc>
                <a:spcPct val="100000"/>
              </a:lnSpc>
              <a:spcBef>
                <a:spcPts val="0"/>
              </a:spcBef>
              <a:spcAft>
                <a:spcPts val="600"/>
              </a:spcAft>
            </a:pPr>
            <a:r>
              <a:rPr sz="2400" b="0" i="0">
                <a:solidFill>
                  <a:srgbClr val="222222"/>
                </a:solidFill>
                <a:latin typeface="メイリオ"/>
                <a:ea typeface="メイリオ"/>
                <a:cs typeface="メイリオ"/>
              </a:rPr>
              <a:t>誤差率およそ 47%</a:t>
            </a:r>
          </a:p>
        </p:txBody>
      </p:sp>
      <p:sp>
        <p:nvSpPr>
          <p:cNvPr id="14" name="Rounded Rectangle 13"/>
          <p:cNvSpPr/>
          <p:nvPr/>
        </p:nvSpPr>
        <p:spPr>
          <a:xfrm>
            <a:off x="6217920" y="2971800"/>
            <a:ext cx="5303520" cy="1691640"/>
          </a:xfrm>
          <a:prstGeom prst="roundRect">
            <a:avLst>
              <a:gd name="adj" fmla="val 8000"/>
            </a:avLst>
          </a:prstGeom>
          <a:solidFill>
            <a:srgbClr val="E0F3F3"/>
          </a:solid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18288" bIns="18288">
            <a:noAutofit/>
          </a:bodyPr>
          <a:lstStyle/>
          <a:p>
            <a:pPr algn="l">
              <a:lnSpc>
                <a:spcPct val="100000"/>
              </a:lnSpc>
              <a:spcBef>
                <a:spcPts val="0"/>
              </a:spcBef>
              <a:spcAft>
                <a:spcPts val="600"/>
              </a:spcAft>
            </a:pPr>
            <a:r>
              <a:rPr sz="2600" b="1" i="0">
                <a:solidFill>
                  <a:srgbClr val="00A8AA"/>
                </a:solidFill>
                <a:latin typeface="メイリオ"/>
                <a:ea typeface="メイリオ"/>
                <a:cs typeface="メイリオ"/>
              </a:rPr>
              <a:t>反射波が取れれば</a:t>
            </a:r>
          </a:p>
          <a:p>
            <a:pPr algn="l">
              <a:lnSpc>
                <a:spcPct val="100000"/>
              </a:lnSpc>
              <a:spcBef>
                <a:spcPts val="0"/>
              </a:spcBef>
              <a:spcAft>
                <a:spcPts val="600"/>
              </a:spcAft>
            </a:pPr>
          </a:p>
          <a:p>
            <a:pPr algn="l">
              <a:lnSpc>
                <a:spcPct val="100000"/>
              </a:lnSpc>
              <a:spcBef>
                <a:spcPts val="0"/>
              </a:spcBef>
              <a:spcAft>
                <a:spcPts val="600"/>
              </a:spcAft>
            </a:pPr>
            <a:r>
              <a:rPr sz="2400" b="0" i="0">
                <a:solidFill>
                  <a:srgbClr val="222222"/>
                </a:solidFill>
                <a:latin typeface="メイリオ"/>
                <a:ea typeface="メイリオ"/>
                <a:cs typeface="メイリオ"/>
              </a:rPr>
              <a:t>較正係数 K を動的に補正</a:t>
            </a:r>
          </a:p>
          <a:p>
            <a:pPr algn="l">
              <a:lnSpc>
                <a:spcPct val="100000"/>
              </a:lnSpc>
              <a:spcBef>
                <a:spcPts val="0"/>
              </a:spcBef>
              <a:spcAft>
                <a:spcPts val="600"/>
              </a:spcAft>
            </a:pPr>
            <a:r>
              <a:rPr sz="2400" b="1" i="0">
                <a:solidFill>
                  <a:srgbClr val="C00000"/>
                </a:solidFill>
                <a:latin typeface="メイリオ"/>
                <a:ea typeface="メイリオ"/>
                <a:cs typeface="メイリオ"/>
              </a:rPr>
              <a:t>※ 未検証の作業仮説</a:t>
            </a:r>
          </a:p>
        </p:txBody>
      </p:sp>
      <p:sp>
        <p:nvSpPr>
          <p:cNvPr id="15" name="TextBox 14"/>
          <p:cNvSpPr txBox="1"/>
          <p:nvPr/>
        </p:nvSpPr>
        <p:spPr>
          <a:xfrm>
            <a:off x="640080" y="4892040"/>
            <a:ext cx="10881360" cy="868680"/>
          </a:xfrm>
          <a:prstGeom prst="rect">
            <a:avLst/>
          </a:prstGeom>
          <a:noFill/>
        </p:spPr>
        <p:txBody>
          <a:bodyPr wrap="square" lIns="18288" rIns="18288" tIns="0" bIns="0" anchor="t">
            <a:noAutofit/>
          </a:bodyPr>
          <a:lstStyle/>
          <a:p>
            <a:pPr algn="l">
              <a:lnSpc>
                <a:spcPct val="100000"/>
              </a:lnSpc>
              <a:spcBef>
                <a:spcPts val="0"/>
              </a:spcBef>
              <a:spcAft>
                <a:spcPts val="0"/>
              </a:spcAft>
            </a:pPr>
            <a:r>
              <a:rPr sz="2400" b="1" i="0">
                <a:solidFill>
                  <a:srgbClr val="222222"/>
                </a:solidFill>
                <a:latin typeface="メイリオ"/>
                <a:ea typeface="メイリオ"/>
                <a:cs typeface="メイリオ"/>
              </a:rPr>
              <a:t>同じ血管の硬さが、術前はリスク指標に、術中は誤差源になる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限界</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37</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出典: 本リポジトリ中核レビュー §7 ／ 各成果物の限界の記述</a:t>
            </a:r>
          </a:p>
        </p:txBody>
      </p:sp>
      <p:sp>
        <p:nvSpPr>
          <p:cNvPr id="12" name="Rounded Rectangle 11"/>
          <p:cNvSpPr/>
          <p:nvPr/>
        </p:nvSpPr>
        <p:spPr>
          <a:xfrm>
            <a:off x="640080" y="1828800"/>
            <a:ext cx="10881360" cy="658368"/>
          </a:xfrm>
          <a:prstGeom prst="roundRect">
            <a:avLst>
              <a:gd name="adj" fmla="val 8000"/>
            </a:avLst>
          </a:prstGeom>
          <a:noFill/>
          <a:ln w="1587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0" i="0">
                <a:solidFill>
                  <a:srgbClr val="222222"/>
                </a:solidFill>
                <a:latin typeface="メイリオ"/>
                <a:ea typeface="メイリオ"/>
                <a:cs typeface="メイリオ"/>
              </a:rPr>
              <a:t>容積信号であり、圧ではない</a:t>
            </a:r>
          </a:p>
        </p:txBody>
      </p:sp>
      <p:sp>
        <p:nvSpPr>
          <p:cNvPr id="13" name="Rounded Rectangle 12"/>
          <p:cNvSpPr/>
          <p:nvPr/>
        </p:nvSpPr>
        <p:spPr>
          <a:xfrm>
            <a:off x="640080" y="2606040"/>
            <a:ext cx="10881360" cy="658368"/>
          </a:xfrm>
          <a:prstGeom prst="roundRect">
            <a:avLst>
              <a:gd name="adj" fmla="val 8000"/>
            </a:avLst>
          </a:prstGeom>
          <a:noFill/>
          <a:ln w="1587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0" i="0">
                <a:solidFill>
                  <a:srgbClr val="222222"/>
                </a:solidFill>
                <a:latin typeface="メイリオ"/>
                <a:ea typeface="メイリオ"/>
                <a:cs typeface="メイリオ"/>
              </a:rPr>
              <a:t>指の局所トーヌスか全身 SVR か未解決</a:t>
            </a:r>
          </a:p>
        </p:txBody>
      </p:sp>
      <p:sp>
        <p:nvSpPr>
          <p:cNvPr id="14" name="Rounded Rectangle 13"/>
          <p:cNvSpPr/>
          <p:nvPr/>
        </p:nvSpPr>
        <p:spPr>
          <a:xfrm>
            <a:off x="640080" y="3383280"/>
            <a:ext cx="10881360" cy="658368"/>
          </a:xfrm>
          <a:prstGeom prst="roundRect">
            <a:avLst>
              <a:gd name="adj" fmla="val 8000"/>
            </a:avLst>
          </a:prstGeom>
          <a:noFill/>
          <a:ln w="1587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0" i="0">
                <a:solidFill>
                  <a:srgbClr val="222222"/>
                </a:solidFill>
                <a:latin typeface="メイリオ"/>
                <a:ea typeface="メイリオ"/>
                <a:cs typeface="メイリオ"/>
              </a:rPr>
              <a:t>AGC は振幅を壊し、帯域制限は形態を壊す</a:t>
            </a:r>
          </a:p>
        </p:txBody>
      </p:sp>
      <p:sp>
        <p:nvSpPr>
          <p:cNvPr id="15" name="Rounded Rectangle 14"/>
          <p:cNvSpPr/>
          <p:nvPr/>
        </p:nvSpPr>
        <p:spPr>
          <a:xfrm>
            <a:off x="640080" y="4160520"/>
            <a:ext cx="10881360" cy="658368"/>
          </a:xfrm>
          <a:prstGeom prst="roundRect">
            <a:avLst>
              <a:gd name="adj" fmla="val 8000"/>
            </a:avLst>
          </a:prstGeom>
          <a:noFill/>
          <a:ln w="1587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0" i="0">
                <a:solidFill>
                  <a:srgbClr val="222222"/>
                </a:solidFill>
                <a:latin typeface="メイリオ"/>
                <a:ea typeface="メイリオ"/>
                <a:cs typeface="メイリオ"/>
              </a:rPr>
              <a:t>加齢交絡：いまの収縮か、もとの硬さか</a:t>
            </a:r>
          </a:p>
        </p:txBody>
      </p:sp>
      <p:sp>
        <p:nvSpPr>
          <p:cNvPr id="16" name="Rounded Rectangle 15"/>
          <p:cNvSpPr/>
          <p:nvPr/>
        </p:nvSpPr>
        <p:spPr>
          <a:xfrm>
            <a:off x="640080" y="4937760"/>
            <a:ext cx="10881360" cy="658368"/>
          </a:xfrm>
          <a:prstGeom prst="roundRect">
            <a:avLst>
              <a:gd name="adj" fmla="val 8000"/>
            </a:avLst>
          </a:prstGeom>
          <a:noFill/>
          <a:ln w="1587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0" i="0">
                <a:solidFill>
                  <a:srgbClr val="222222"/>
                </a:solidFill>
                <a:latin typeface="メイリオ"/>
                <a:ea typeface="メイリオ"/>
                <a:cs typeface="メイリオ"/>
              </a:rPr>
              <a:t>急性変動での SI・RI は未検証</a:t>
            </a:r>
          </a:p>
        </p:txBody>
      </p:sp>
      <p:sp>
        <p:nvSpPr>
          <p:cNvPr id="17" name="TextBox 16"/>
          <p:cNvSpPr txBox="1"/>
          <p:nvPr/>
        </p:nvSpPr>
        <p:spPr>
          <a:xfrm>
            <a:off x="640080" y="5724144"/>
            <a:ext cx="10881360" cy="384048"/>
          </a:xfrm>
          <a:prstGeom prst="rect">
            <a:avLst/>
          </a:prstGeom>
          <a:noFill/>
        </p:spPr>
        <p:txBody>
          <a:bodyPr wrap="square" lIns="18288" rIns="18288" tIns="0" bIns="0" anchor="t">
            <a:noAutofit/>
          </a:bodyPr>
          <a:lstStyle/>
          <a:p>
            <a:pPr algn="l">
              <a:lnSpc>
                <a:spcPct val="100000"/>
              </a:lnSpc>
              <a:spcBef>
                <a:spcPts val="0"/>
              </a:spcBef>
              <a:spcAft>
                <a:spcPts val="0"/>
              </a:spcAft>
            </a:pPr>
            <a:r>
              <a:rPr sz="2400" b="1" i="0">
                <a:solidFill>
                  <a:srgbClr val="C00000"/>
                </a:solidFill>
                <a:latin typeface="メイリオ"/>
                <a:ea typeface="メイリオ"/>
                <a:cs typeface="メイリオ"/>
              </a:rPr>
              <a:t>本手法は未検証の提案であり、臨床判断の根拠にはしない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まとめ</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1" i="0">
                <a:solidFill>
                  <a:srgbClr val="FFFFFF"/>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38</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本資料は研究・教育目的の整理であり、個別の臨床判断を指示・保証するものではない</a:t>
            </a:r>
          </a:p>
        </p:txBody>
      </p:sp>
      <p:sp>
        <p:nvSpPr>
          <p:cNvPr id="12" name="Rounded Rectangle 11"/>
          <p:cNvSpPr/>
          <p:nvPr/>
        </p:nvSpPr>
        <p:spPr>
          <a:xfrm>
            <a:off x="640080" y="1810512"/>
            <a:ext cx="10881360" cy="585216"/>
          </a:xfrm>
          <a:prstGeom prst="roundRect">
            <a:avLst>
              <a:gd name="adj" fmla="val 8000"/>
            </a:avLst>
          </a:prstGeom>
          <a:noFill/>
          <a:ln w="222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SI は反射波の時間、RI は反射波の高さ</a:t>
            </a:r>
          </a:p>
        </p:txBody>
      </p:sp>
      <p:sp>
        <p:nvSpPr>
          <p:cNvPr id="13" name="Rounded Rectangle 12"/>
          <p:cNvSpPr/>
          <p:nvPr/>
        </p:nvSpPr>
        <p:spPr>
          <a:xfrm>
            <a:off x="640080" y="2496312"/>
            <a:ext cx="10881360" cy="585216"/>
          </a:xfrm>
          <a:prstGeom prst="roundRect">
            <a:avLst>
              <a:gd name="adj" fmla="val 8000"/>
            </a:avLst>
          </a:prstGeom>
          <a:noFill/>
          <a:ln w="222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どちらも反射波の同定を前提にしている</a:t>
            </a:r>
          </a:p>
        </p:txBody>
      </p:sp>
      <p:sp>
        <p:nvSpPr>
          <p:cNvPr id="14" name="Rounded Rectangle 13"/>
          <p:cNvSpPr/>
          <p:nvPr/>
        </p:nvSpPr>
        <p:spPr>
          <a:xfrm>
            <a:off x="640080" y="3182112"/>
            <a:ext cx="10881360" cy="585216"/>
          </a:xfrm>
          <a:prstGeom prst="roundRect">
            <a:avLst>
              <a:gd name="adj" fmla="val 8000"/>
            </a:avLst>
          </a:prstGeom>
          <a:no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硬い血管ほど、その前提が壊れる</a:t>
            </a:r>
          </a:p>
        </p:txBody>
      </p:sp>
      <p:sp>
        <p:nvSpPr>
          <p:cNvPr id="15" name="Rounded Rectangle 14"/>
          <p:cNvSpPr/>
          <p:nvPr/>
        </p:nvSpPr>
        <p:spPr>
          <a:xfrm>
            <a:off x="640080" y="3867912"/>
            <a:ext cx="10881360" cy="585216"/>
          </a:xfrm>
          <a:prstGeom prst="roundRect">
            <a:avLst>
              <a:gd name="adj" fmla="val 8000"/>
            </a:avLst>
          </a:pr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点を探すのをやめ、波を当てはめる（既報）</a:t>
            </a:r>
          </a:p>
        </p:txBody>
      </p:sp>
      <p:sp>
        <p:nvSpPr>
          <p:cNvPr id="16" name="Rounded Rectangle 15"/>
          <p:cNvSpPr/>
          <p:nvPr/>
        </p:nvSpPr>
        <p:spPr>
          <a:xfrm>
            <a:off x="640080" y="4553712"/>
            <a:ext cx="10881360" cy="585216"/>
          </a:xfrm>
          <a:prstGeom prst="roundRect">
            <a:avLst>
              <a:gd name="adj" fmla="val 8000"/>
            </a:avLst>
          </a:prstGeom>
          <a:no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新規性は定義でなく、検証の条件の側にある</a:t>
            </a:r>
          </a:p>
        </p:txBody>
      </p:sp>
      <p:sp>
        <p:nvSpPr>
          <p:cNvPr id="17" name="Rounded Rectangle 16"/>
          <p:cNvSpPr/>
          <p:nvPr/>
        </p:nvSpPr>
        <p:spPr>
          <a:xfrm>
            <a:off x="640080" y="5239512"/>
            <a:ext cx="10881360" cy="585216"/>
          </a:xfrm>
          <a:prstGeom prst="roundRect">
            <a:avLst>
              <a:gd name="adj" fmla="val 8000"/>
            </a:avLst>
          </a:prstGeom>
          <a:noFill/>
          <a:ln w="2222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l">
              <a:lnSpc>
                <a:spcPct val="100000"/>
              </a:lnSpc>
              <a:spcBef>
                <a:spcPts val="0"/>
              </a:spcBef>
              <a:spcAft>
                <a:spcPts val="400"/>
              </a:spcAft>
            </a:pPr>
            <a:r>
              <a:rPr sz="2400" b="1" i="0">
                <a:solidFill>
                  <a:srgbClr val="222222"/>
                </a:solidFill>
                <a:latin typeface="メイリオ"/>
                <a:ea typeface="メイリオ"/>
                <a:cs typeface="メイリオ"/>
              </a:rPr>
              <a:t>読むのは絶対値ではなく、導入前からの 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参考文献 ①</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39</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PMID・URL は本リポジトリ各成果物の参考文献欄に収載（検証済み）</a:t>
            </a:r>
          </a:p>
        </p:txBody>
      </p:sp>
      <p:sp>
        <p:nvSpPr>
          <p:cNvPr id="12" name="TextBox 11"/>
          <p:cNvSpPr txBox="1"/>
          <p:nvPr/>
        </p:nvSpPr>
        <p:spPr>
          <a:xfrm>
            <a:off x="548640" y="1737360"/>
            <a:ext cx="11109960" cy="4206240"/>
          </a:xfrm>
          <a:prstGeom prst="rect">
            <a:avLst/>
          </a:prstGeom>
          <a:noFill/>
        </p:spPr>
        <p:txBody>
          <a:bodyPr wrap="square" lIns="18288" rIns="18288" tIns="0" bIns="0" anchor="t">
            <a:noAutofit/>
          </a:bodyPr>
          <a:lstStyle/>
          <a:p>
            <a:pPr algn="l">
              <a:lnSpc>
                <a:spcPct val="100000"/>
              </a:lnSpc>
              <a:spcBef>
                <a:spcPts val="0"/>
              </a:spcBef>
              <a:spcAft>
                <a:spcPts val="600"/>
              </a:spcAft>
            </a:pPr>
            <a:r>
              <a:rPr sz="1600" b="0" i="0">
                <a:solidFill>
                  <a:srgbClr val="222222"/>
                </a:solidFill>
                <a:latin typeface="メイリオ"/>
                <a:ea typeface="メイリオ"/>
                <a:cs typeface="メイリオ"/>
              </a:rPr>
              <a:t>[1] Allen J. Photoplethysmography and its application in clinical physiological measurement. Physiol Meas. 2007;28(3):R1-39. PMID 17322588</a:t>
            </a:r>
          </a:p>
          <a:p>
            <a:pPr algn="l">
              <a:lnSpc>
                <a:spcPct val="100000"/>
              </a:lnSpc>
              <a:spcBef>
                <a:spcPts val="0"/>
              </a:spcBef>
              <a:spcAft>
                <a:spcPts val="600"/>
              </a:spcAft>
            </a:pPr>
            <a:r>
              <a:rPr sz="1600" b="0" i="0">
                <a:solidFill>
                  <a:srgbClr val="222222"/>
                </a:solidFill>
                <a:latin typeface="メイリオ"/>
                <a:ea typeface="メイリオ"/>
                <a:cs typeface="メイリオ"/>
              </a:rPr>
              <a:t>[2] Murray WB, Foster PA. The peripheral pulse wave: information overlooked. J Clin Monit. 1996;12(5):365-77. PMID 8934343</a:t>
            </a:r>
          </a:p>
          <a:p>
            <a:pPr algn="l">
              <a:lnSpc>
                <a:spcPct val="100000"/>
              </a:lnSpc>
              <a:spcBef>
                <a:spcPts val="0"/>
              </a:spcBef>
              <a:spcAft>
                <a:spcPts val="600"/>
              </a:spcAft>
            </a:pPr>
            <a:r>
              <a:rPr sz="1600" b="0" i="0">
                <a:solidFill>
                  <a:srgbClr val="222222"/>
                </a:solidFill>
                <a:latin typeface="メイリオ"/>
                <a:ea typeface="メイリオ"/>
                <a:cs typeface="メイリオ"/>
              </a:rPr>
              <a:t>[3] Takazawa K, et al. Vasoactive agents and vascular aging by the second derivative of photoplethysmogram. Hypertension. 1998;32(2):365-70. PMID 9719069</a:t>
            </a:r>
          </a:p>
          <a:p>
            <a:pPr algn="l">
              <a:lnSpc>
                <a:spcPct val="100000"/>
              </a:lnSpc>
              <a:spcBef>
                <a:spcPts val="0"/>
              </a:spcBef>
              <a:spcAft>
                <a:spcPts val="600"/>
              </a:spcAft>
            </a:pPr>
            <a:r>
              <a:rPr sz="1600" b="0" i="0">
                <a:solidFill>
                  <a:srgbClr val="222222"/>
                </a:solidFill>
                <a:latin typeface="メイリオ"/>
                <a:ea typeface="メイリオ"/>
                <a:cs typeface="メイリオ"/>
              </a:rPr>
              <a:t>[4] Chowienczyk PJ, et al. Photoplethysmographic assessment of pulse wave reflection. J Am Coll Cardiol. 1999;34(7):2007-14. PMID 10588217</a:t>
            </a:r>
          </a:p>
          <a:p>
            <a:pPr algn="l">
              <a:lnSpc>
                <a:spcPct val="100000"/>
              </a:lnSpc>
              <a:spcBef>
                <a:spcPts val="0"/>
              </a:spcBef>
              <a:spcAft>
                <a:spcPts val="600"/>
              </a:spcAft>
            </a:pPr>
            <a:r>
              <a:rPr sz="1600" b="0" i="0">
                <a:solidFill>
                  <a:srgbClr val="222222"/>
                </a:solidFill>
                <a:latin typeface="メイリオ"/>
                <a:ea typeface="メイリオ"/>
                <a:cs typeface="メイリオ"/>
              </a:rPr>
              <a:t>[5] Millasseau SC, et al. Age-related increases in large artery stiffness by digital pulse contour analysis. Clin Sci. 2002;103(4):371-7. PMID 12241535</a:t>
            </a:r>
          </a:p>
          <a:p>
            <a:pPr algn="l">
              <a:lnSpc>
                <a:spcPct val="100000"/>
              </a:lnSpc>
              <a:spcBef>
                <a:spcPts val="0"/>
              </a:spcBef>
              <a:spcAft>
                <a:spcPts val="600"/>
              </a:spcAft>
            </a:pPr>
            <a:r>
              <a:rPr sz="1600" b="0" i="0">
                <a:solidFill>
                  <a:srgbClr val="222222"/>
                </a:solidFill>
                <a:latin typeface="メイリオ"/>
                <a:ea typeface="メイリオ"/>
                <a:cs typeface="メイリオ"/>
              </a:rPr>
              <a:t>[6] Dawber TR, et al. Characteristics of the dicrotic notch of the arterial pulse wave in coronary heart disease. Angiology. 1973;24(4):244-55. PMID 4699520</a:t>
            </a:r>
          </a:p>
          <a:p>
            <a:pPr algn="l">
              <a:lnSpc>
                <a:spcPct val="100000"/>
              </a:lnSpc>
              <a:spcBef>
                <a:spcPts val="0"/>
              </a:spcBef>
              <a:spcAft>
                <a:spcPts val="600"/>
              </a:spcAft>
            </a:pPr>
            <a:r>
              <a:rPr sz="1600" b="0" i="0">
                <a:solidFill>
                  <a:srgbClr val="222222"/>
                </a:solidFill>
                <a:latin typeface="メイリオ"/>
                <a:ea typeface="メイリオ"/>
                <a:cs typeface="メイリオ"/>
              </a:rPr>
              <a:t>[7] Awad AA, et al. The photoplethysmographic waveform and systemic vascular resistance. J Clin Monit Comput. 2007;21(6):365-72. PMID 17940842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参考文献 ②</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40</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PMID・URL は本リポジトリ各成果物の参考文献欄に収載（検証済み）</a:t>
            </a:r>
          </a:p>
        </p:txBody>
      </p:sp>
      <p:sp>
        <p:nvSpPr>
          <p:cNvPr id="12" name="TextBox 11"/>
          <p:cNvSpPr txBox="1"/>
          <p:nvPr/>
        </p:nvSpPr>
        <p:spPr>
          <a:xfrm>
            <a:off x="548640" y="1737360"/>
            <a:ext cx="11109960" cy="4206240"/>
          </a:xfrm>
          <a:prstGeom prst="rect">
            <a:avLst/>
          </a:prstGeom>
          <a:noFill/>
        </p:spPr>
        <p:txBody>
          <a:bodyPr wrap="square" lIns="18288" rIns="18288" tIns="0" bIns="0" anchor="t">
            <a:noAutofit/>
          </a:bodyPr>
          <a:lstStyle/>
          <a:p>
            <a:pPr algn="l">
              <a:lnSpc>
                <a:spcPct val="100000"/>
              </a:lnSpc>
              <a:spcBef>
                <a:spcPts val="0"/>
              </a:spcBef>
              <a:spcAft>
                <a:spcPts val="600"/>
              </a:spcAft>
            </a:pPr>
            <a:r>
              <a:rPr sz="1600" b="0" i="0">
                <a:solidFill>
                  <a:srgbClr val="222222"/>
                </a:solidFill>
                <a:latin typeface="メイリオ"/>
                <a:ea typeface="メイリオ"/>
                <a:cs typeface="メイリオ"/>
              </a:rPr>
              <a:t>[8] Rubins U. Finger and ear photoplethysmogram waveform analysis by fitting with Gaussians. Med Biol Eng Comput. 2008;46(12):1271-6. PMID 18855034</a:t>
            </a:r>
          </a:p>
          <a:p>
            <a:pPr algn="l">
              <a:lnSpc>
                <a:spcPct val="100000"/>
              </a:lnSpc>
              <a:spcBef>
                <a:spcPts val="0"/>
              </a:spcBef>
              <a:spcAft>
                <a:spcPts val="600"/>
              </a:spcAft>
            </a:pPr>
            <a:r>
              <a:rPr sz="1600" b="0" i="0">
                <a:solidFill>
                  <a:srgbClr val="222222"/>
                </a:solidFill>
                <a:latin typeface="メイリオ"/>
                <a:ea typeface="メイリオ"/>
                <a:cs typeface="メイリオ"/>
              </a:rPr>
              <a:t>[9] Westerhof BE, et al. Quantification of wave reflection in the human aorta from pressure alone. Hypertension. 2006;48(4):595-601. PMID 16940207</a:t>
            </a:r>
          </a:p>
          <a:p>
            <a:pPr algn="l">
              <a:lnSpc>
                <a:spcPct val="100000"/>
              </a:lnSpc>
              <a:spcBef>
                <a:spcPts val="0"/>
              </a:spcBef>
              <a:spcAft>
                <a:spcPts val="600"/>
              </a:spcAft>
            </a:pPr>
            <a:r>
              <a:rPr sz="1600" b="0" i="0">
                <a:solidFill>
                  <a:srgbClr val="222222"/>
                </a:solidFill>
                <a:latin typeface="メイリオ"/>
                <a:ea typeface="メイリオ"/>
                <a:cs typeface="メイリオ"/>
              </a:rPr>
              <a:t>[10] Kips JG, et al. Wave reflection and pulse transit time from the pressure waveform alone. Hypertension. 2009;53(2):142-9. PMID 19075098</a:t>
            </a:r>
          </a:p>
          <a:p>
            <a:pPr algn="l">
              <a:lnSpc>
                <a:spcPct val="100000"/>
              </a:lnSpc>
              <a:spcBef>
                <a:spcPts val="0"/>
              </a:spcBef>
              <a:spcAft>
                <a:spcPts val="600"/>
              </a:spcAft>
            </a:pPr>
            <a:r>
              <a:rPr sz="1600" b="0" i="0">
                <a:solidFill>
                  <a:srgbClr val="222222"/>
                </a:solidFill>
                <a:latin typeface="メイリオ"/>
                <a:ea typeface="メイリオ"/>
                <a:cs typeface="メイリオ"/>
              </a:rPr>
              <a:t>[11] Yamada T, et al. Noninvasive continuous cardiac output using pulse wave transit time. Anesth Analg. 2012;115(1):82-7. PMID 22467885</a:t>
            </a:r>
          </a:p>
          <a:p>
            <a:pPr algn="l">
              <a:lnSpc>
                <a:spcPct val="100000"/>
              </a:lnSpc>
              <a:spcBef>
                <a:spcPts val="0"/>
              </a:spcBef>
              <a:spcAft>
                <a:spcPts val="600"/>
              </a:spcAft>
            </a:pPr>
            <a:r>
              <a:rPr sz="1600" b="0" i="0">
                <a:solidFill>
                  <a:srgbClr val="222222"/>
                </a:solidFill>
                <a:latin typeface="メイリオ"/>
                <a:ea typeface="メイリオ"/>
                <a:cs typeface="メイリオ"/>
              </a:rPr>
              <a:t>[12] Goswami D, et al. A new two-pulse synthesis model for digital volume pulse signal analysis. Cardiovasc Eng. 2010;10(3):109-17. PMID 20734136</a:t>
            </a:r>
          </a:p>
          <a:p>
            <a:pPr algn="l">
              <a:lnSpc>
                <a:spcPct val="100000"/>
              </a:lnSpc>
              <a:spcBef>
                <a:spcPts val="0"/>
              </a:spcBef>
              <a:spcAft>
                <a:spcPts val="600"/>
              </a:spcAft>
            </a:pPr>
            <a:r>
              <a:rPr sz="1600" b="0" i="0">
                <a:solidFill>
                  <a:srgbClr val="222222"/>
                </a:solidFill>
                <a:latin typeface="メイリオ"/>
                <a:ea typeface="メイリオ"/>
                <a:cs typeface="メイリオ"/>
              </a:rPr>
              <a:t>[13] Epstein S, et al. Numerical assessment of the stiffness index. Annu Int Conf IEEE EMBC. 2014;2014:1969-72. PMID 25570367</a:t>
            </a:r>
          </a:p>
          <a:p>
            <a:pPr algn="l">
              <a:lnSpc>
                <a:spcPct val="100000"/>
              </a:lnSpc>
              <a:spcBef>
                <a:spcPts val="0"/>
              </a:spcBef>
              <a:spcAft>
                <a:spcPts val="600"/>
              </a:spcAft>
            </a:pPr>
            <a:r>
              <a:rPr sz="1600" b="0" i="0">
                <a:solidFill>
                  <a:srgbClr val="222222"/>
                </a:solidFill>
                <a:latin typeface="メイリオ"/>
                <a:ea typeface="メイリオ"/>
                <a:cs typeface="メイリオ"/>
              </a:rPr>
              <a:t>[14] Couceiro R, et al. Cardiovascular function from multi-Gaussian fitting of a finger photoplethysmogram. Physiol Meas. 2015;36(9):1801-25. PMID 26235798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参考文献 ③</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41</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PMID・URL は本リポジトリ各成果物の参考文献欄に収載（検証済み）</a:t>
            </a:r>
          </a:p>
        </p:txBody>
      </p:sp>
      <p:sp>
        <p:nvSpPr>
          <p:cNvPr id="12" name="TextBox 11"/>
          <p:cNvSpPr txBox="1"/>
          <p:nvPr/>
        </p:nvSpPr>
        <p:spPr>
          <a:xfrm>
            <a:off x="548640" y="1737360"/>
            <a:ext cx="11109960" cy="4206240"/>
          </a:xfrm>
          <a:prstGeom prst="rect">
            <a:avLst/>
          </a:prstGeom>
          <a:noFill/>
        </p:spPr>
        <p:txBody>
          <a:bodyPr wrap="square" lIns="18288" rIns="18288" tIns="0" bIns="0" anchor="t">
            <a:noAutofit/>
          </a:bodyPr>
          <a:lstStyle/>
          <a:p>
            <a:pPr algn="l">
              <a:lnSpc>
                <a:spcPct val="100000"/>
              </a:lnSpc>
              <a:spcBef>
                <a:spcPts val="0"/>
              </a:spcBef>
              <a:spcAft>
                <a:spcPts val="600"/>
              </a:spcAft>
            </a:pPr>
            <a:r>
              <a:rPr sz="1600" b="0" i="0">
                <a:solidFill>
                  <a:srgbClr val="222222"/>
                </a:solidFill>
                <a:latin typeface="メイリオ"/>
                <a:ea typeface="メイリオ"/>
                <a:cs typeface="メイリオ"/>
              </a:rPr>
              <a:t>[15] Grabovskis A, et al. Two-stage multi-Gaussian fitting of conduit artery photoplethysmography waveform. J Biomed Opt. 2015;20(3):035004. PMID 25751027</a:t>
            </a:r>
          </a:p>
          <a:p>
            <a:pPr algn="l">
              <a:lnSpc>
                <a:spcPct val="100000"/>
              </a:lnSpc>
              <a:spcBef>
                <a:spcPts val="0"/>
              </a:spcBef>
              <a:spcAft>
                <a:spcPts val="600"/>
              </a:spcAft>
            </a:pPr>
            <a:r>
              <a:rPr sz="1600" b="0" i="0">
                <a:solidFill>
                  <a:srgbClr val="222222"/>
                </a:solidFill>
                <a:latin typeface="メイリオ"/>
                <a:ea typeface="メイリオ"/>
                <a:cs typeface="メイリオ"/>
              </a:rPr>
              <a:t>[16] Baruch MC, et al. Validation of the pulse decomposition analysis algorithm using central arterial blood pressure. Biomed Eng Online. 2014;13:96. PMID 25005686</a:t>
            </a:r>
          </a:p>
          <a:p>
            <a:pPr algn="l">
              <a:lnSpc>
                <a:spcPct val="100000"/>
              </a:lnSpc>
              <a:spcBef>
                <a:spcPts val="0"/>
              </a:spcBef>
              <a:spcAft>
                <a:spcPts val="600"/>
              </a:spcAft>
            </a:pPr>
            <a:r>
              <a:rPr sz="1600" b="0" i="0">
                <a:solidFill>
                  <a:srgbClr val="222222"/>
                </a:solidFill>
                <a:latin typeface="メイリオ"/>
                <a:ea typeface="メイリオ"/>
                <a:cs typeface="メイリオ"/>
              </a:rPr>
              <a:t>[17] Wang A, et al. Gaussian modelling characteristics changes derived from finger photoplethysmographic pulses. Microvasc Res. 2018;117:15-21. PMID 28347756</a:t>
            </a:r>
          </a:p>
          <a:p>
            <a:pPr algn="l">
              <a:lnSpc>
                <a:spcPct val="100000"/>
              </a:lnSpc>
              <a:spcBef>
                <a:spcPts val="0"/>
              </a:spcBef>
              <a:spcAft>
                <a:spcPts val="600"/>
              </a:spcAft>
            </a:pPr>
            <a:r>
              <a:rPr sz="1600" b="0" i="0">
                <a:solidFill>
                  <a:srgbClr val="222222"/>
                </a:solidFill>
                <a:latin typeface="メイリオ"/>
                <a:ea typeface="メイリオ"/>
                <a:cs typeface="メイリオ"/>
              </a:rPr>
              <a:t>[18] Park J, et al. Vascular aging estimation using photoplethysmogram waveform decomposition. JMIR Med Inform. 2022;10(3):e33439. PMID 35297776</a:t>
            </a:r>
          </a:p>
          <a:p>
            <a:pPr algn="l">
              <a:lnSpc>
                <a:spcPct val="100000"/>
              </a:lnSpc>
              <a:spcBef>
                <a:spcPts val="0"/>
              </a:spcBef>
              <a:spcAft>
                <a:spcPts val="600"/>
              </a:spcAft>
            </a:pPr>
            <a:r>
              <a:rPr sz="1600" b="0" i="0">
                <a:solidFill>
                  <a:srgbClr val="222222"/>
                </a:solidFill>
                <a:latin typeface="メイリオ"/>
                <a:ea typeface="メイリオ"/>
                <a:cs typeface="メイリオ"/>
              </a:rPr>
              <a:t>[19] Tusman G, et al. Photoplethysmographic characterization of vascular tone mediated changes in arterial pressure. J Clin Monit Comput. 2019;33(5):815-24</a:t>
            </a:r>
          </a:p>
          <a:p>
            <a:pPr algn="l">
              <a:lnSpc>
                <a:spcPct val="100000"/>
              </a:lnSpc>
              <a:spcBef>
                <a:spcPts val="0"/>
              </a:spcBef>
              <a:spcAft>
                <a:spcPts val="600"/>
              </a:spcAft>
            </a:pPr>
            <a:r>
              <a:rPr sz="1600" b="0" i="0">
                <a:solidFill>
                  <a:srgbClr val="222222"/>
                </a:solidFill>
                <a:latin typeface="メイリオ"/>
                <a:ea typeface="メイリオ"/>
                <a:cs typeface="メイリオ"/>
              </a:rPr>
              <a:t>[20] Coutrot M, et al. Noninvasive continuous detection of arterial hypotension during induction of anaesthesia. Br J Anaesth. 2019;122(5):605-12. PMID 30916032</a:t>
            </a:r>
          </a:p>
          <a:p>
            <a:pPr algn="l">
              <a:lnSpc>
                <a:spcPct val="100000"/>
              </a:lnSpc>
              <a:spcBef>
                <a:spcPts val="0"/>
              </a:spcBef>
              <a:spcAft>
                <a:spcPts val="600"/>
              </a:spcAft>
            </a:pPr>
            <a:r>
              <a:rPr sz="1600" b="0" i="0">
                <a:solidFill>
                  <a:srgbClr val="222222"/>
                </a:solidFill>
                <a:latin typeface="メイリオ"/>
                <a:ea typeface="メイリオ"/>
                <a:cs typeface="メイリオ"/>
              </a:rPr>
              <a:t>[21] Aguet C, et al. Blood pressure monitoring during anesthesia induction using PPG morphology features. PLoS One. 2023;18(2):e0279252. PMID 36735652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参考文献 ④</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42</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PMID・URL は本リポジトリ各成果物の参考文献欄に収載（検証済み）</a:t>
            </a:r>
          </a:p>
        </p:txBody>
      </p:sp>
      <p:sp>
        <p:nvSpPr>
          <p:cNvPr id="12" name="TextBox 11"/>
          <p:cNvSpPr txBox="1"/>
          <p:nvPr/>
        </p:nvSpPr>
        <p:spPr>
          <a:xfrm>
            <a:off x="548640" y="1737360"/>
            <a:ext cx="11109960" cy="4206240"/>
          </a:xfrm>
          <a:prstGeom prst="rect">
            <a:avLst/>
          </a:prstGeom>
          <a:noFill/>
        </p:spPr>
        <p:txBody>
          <a:bodyPr wrap="square" lIns="18288" rIns="18288" tIns="0" bIns="0" anchor="t">
            <a:noAutofit/>
          </a:bodyPr>
          <a:lstStyle/>
          <a:p>
            <a:pPr algn="l">
              <a:lnSpc>
                <a:spcPct val="100000"/>
              </a:lnSpc>
              <a:spcBef>
                <a:spcPts val="0"/>
              </a:spcBef>
              <a:spcAft>
                <a:spcPts val="600"/>
              </a:spcAft>
            </a:pPr>
            <a:r>
              <a:rPr sz="1600" b="0" i="0">
                <a:solidFill>
                  <a:srgbClr val="222222"/>
                </a:solidFill>
                <a:latin typeface="メイリオ"/>
                <a:ea typeface="メイリオ"/>
                <a:cs typeface="メイリオ"/>
              </a:rPr>
              <a:t>[22] Lee QY, et al. Multivariate classification of systemic vascular resistance using photoplethysmography. Physiol Meas. 2011;32(8):1117-32. PMID 21693795</a:t>
            </a:r>
          </a:p>
          <a:p>
            <a:pPr algn="l">
              <a:lnSpc>
                <a:spcPct val="100000"/>
              </a:lnSpc>
              <a:spcBef>
                <a:spcPts val="0"/>
              </a:spcBef>
              <a:spcAft>
                <a:spcPts val="600"/>
              </a:spcAft>
            </a:pPr>
            <a:r>
              <a:rPr sz="1600" b="0" i="0">
                <a:solidFill>
                  <a:srgbClr val="222222"/>
                </a:solidFill>
                <a:latin typeface="メイリオ"/>
                <a:ea typeface="メイリオ"/>
                <a:cs typeface="メイリオ"/>
              </a:rPr>
              <a:t>[23] Manoj R, et al. Arterial pressure pulse wave separation analysis using a multi-Gaussian decomposition model. Physiol Meas. 2022;43(5). PMID 35537402</a:t>
            </a:r>
          </a:p>
          <a:p>
            <a:pPr algn="l">
              <a:lnSpc>
                <a:spcPct val="100000"/>
              </a:lnSpc>
              <a:spcBef>
                <a:spcPts val="0"/>
              </a:spcBef>
              <a:spcAft>
                <a:spcPts val="600"/>
              </a:spcAft>
            </a:pPr>
            <a:r>
              <a:rPr sz="1600" b="0" i="0">
                <a:solidFill>
                  <a:srgbClr val="222222"/>
                </a:solidFill>
                <a:latin typeface="メイリオ"/>
                <a:ea typeface="メイリオ"/>
                <a:cs typeface="メイリオ"/>
              </a:rPr>
              <a:t>[24] Charlton PH, et al. Modeling arterial pulse waves in healthy aging: a database for in silico evaluation. Am J Physiol. 2019;317(5):H1062-85. PMID 31442381</a:t>
            </a:r>
          </a:p>
          <a:p>
            <a:pPr algn="l">
              <a:lnSpc>
                <a:spcPct val="100000"/>
              </a:lnSpc>
              <a:spcBef>
                <a:spcPts val="0"/>
              </a:spcBef>
              <a:spcAft>
                <a:spcPts val="600"/>
              </a:spcAft>
            </a:pPr>
            <a:r>
              <a:rPr sz="1600" b="0" i="0">
                <a:solidFill>
                  <a:srgbClr val="222222"/>
                </a:solidFill>
                <a:latin typeface="メイリオ"/>
                <a:ea typeface="メイリオ"/>
                <a:cs typeface="メイリオ"/>
              </a:rPr>
              <a:t>[25] Md Lazin Md Lazim MR, et al. Is Heart Rate a Confounding Factor for Photoplethysmography Markers? IJERPH. 2020;17(7):2591. PMID 32290168</a:t>
            </a:r>
          </a:p>
          <a:p>
            <a:pPr algn="l">
              <a:lnSpc>
                <a:spcPct val="100000"/>
              </a:lnSpc>
              <a:spcBef>
                <a:spcPts val="0"/>
              </a:spcBef>
              <a:spcAft>
                <a:spcPts val="600"/>
              </a:spcAft>
            </a:pPr>
            <a:r>
              <a:rPr sz="1600" b="0" i="0">
                <a:solidFill>
                  <a:srgbClr val="222222"/>
                </a:solidFill>
                <a:latin typeface="メイリオ"/>
                <a:ea typeface="メイリオ"/>
                <a:cs typeface="メイリオ"/>
              </a:rPr>
              <a:t>[26] Suboh MZ, et al. Four derivative waveforms of photoplethysmogram for fiducial point detection. Front Public Health. 2022;10:920946. PMID 35844894</a:t>
            </a:r>
          </a:p>
          <a:p>
            <a:pPr algn="l">
              <a:lnSpc>
                <a:spcPct val="100000"/>
              </a:lnSpc>
              <a:spcBef>
                <a:spcPts val="0"/>
              </a:spcBef>
              <a:spcAft>
                <a:spcPts val="600"/>
              </a:spcAft>
            </a:pPr>
            <a:r>
              <a:rPr sz="1600" b="0" i="0">
                <a:solidFill>
                  <a:srgbClr val="222222"/>
                </a:solidFill>
                <a:latin typeface="メイリオ"/>
                <a:ea typeface="メイリオ"/>
                <a:cs typeface="メイリオ"/>
              </a:rPr>
              <a:t>[27] Lee HC, et al. VitalDB, a high-fidelity multi-parameter vital signs database in surgical patients. Sci Data. 2022;9(1):279. PMID 35676300</a:t>
            </a:r>
          </a:p>
          <a:p>
            <a:pPr algn="l">
              <a:lnSpc>
                <a:spcPct val="100000"/>
              </a:lnSpc>
              <a:spcBef>
                <a:spcPts val="0"/>
              </a:spcBef>
              <a:spcAft>
                <a:spcPts val="600"/>
              </a:spcAft>
            </a:pPr>
            <a:r>
              <a:rPr sz="1600" b="0" i="0">
                <a:solidFill>
                  <a:srgbClr val="222222"/>
                </a:solidFill>
                <a:latin typeface="メイリオ"/>
                <a:ea typeface="メイリオ"/>
                <a:cs typeface="メイリオ"/>
              </a:rPr>
              <a:t>[28] Goda MA, Charlton PH, Behar JA. pyPPG: a Python toolbox for photoplethysmography signal analysis. Physiol Meas. 2024;45(4). PMID 38478997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84632" y="320040"/>
            <a:ext cx="7635240" cy="868680"/>
          </a:xfrm>
        </p:spPr>
        <p:txBody>
          <a:bodyPr wrap="none" lIns="0" rIns="0" tIns="0" bIns="0" anchor="ctr">
            <a:noAutofit/>
          </a:bodyPr>
          <a:lstStyle/>
          <a:p>
            <a:pPr algn="l">
              <a:lnSpc>
                <a:spcPct val="100000"/>
              </a:lnSpc>
            </a:pPr>
            <a:r>
              <a:rPr sz="4400" b="1" i="0">
                <a:ln w="28575">
                  <a:solidFill>
                    <a:srgbClr val="000000"/>
                  </a:solidFill>
                </a:ln>
                <a:solidFill>
                  <a:srgbClr val="BF9000"/>
                </a:solidFill>
                <a:latin typeface="メイリオ"/>
                <a:ea typeface="メイリオ"/>
                <a:cs typeface="メイリオ"/>
              </a:rPr>
              <a:t>参考文献 ⑤</a:t>
            </a:r>
          </a:p>
        </p:txBody>
      </p:sp>
      <p:cxnSp>
        <p:nvCxnSpPr>
          <p:cNvPr id="3" name="Connector 2"/>
          <p:cNvCxnSpPr/>
          <p:nvPr/>
        </p:nvCxnSpPr>
        <p:spPr>
          <a:xfrm>
            <a:off x="0" y="1389888"/>
            <a:ext cx="12191695" cy="0"/>
          </a:xfrm>
          <a:prstGeom prst="line">
            <a:avLst/>
          </a:prstGeom>
          <a:ln w="101600">
            <a:solidFill>
              <a:srgbClr val="BF9000"/>
            </a:solidFill>
          </a:ln>
          <a:effectLst/>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93023"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背景</a:t>
            </a:r>
          </a:p>
        </p:txBody>
      </p:sp>
      <p:sp>
        <p:nvSpPr>
          <p:cNvPr id="5" name="Rounded Rectangle 4"/>
          <p:cNvSpPr/>
          <p:nvPr/>
        </p:nvSpPr>
        <p:spPr>
          <a:xfrm>
            <a:off x="8814815"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指標</a:t>
            </a:r>
          </a:p>
        </p:txBody>
      </p:sp>
      <p:sp>
        <p:nvSpPr>
          <p:cNvPr id="6" name="Rounded Rectangle 5"/>
          <p:cNvSpPr/>
          <p:nvPr/>
        </p:nvSpPr>
        <p:spPr>
          <a:xfrm>
            <a:off x="9436607"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根拠</a:t>
            </a:r>
          </a:p>
        </p:txBody>
      </p:sp>
      <p:sp>
        <p:nvSpPr>
          <p:cNvPr id="7" name="Rounded Rectangle 6"/>
          <p:cNvSpPr/>
          <p:nvPr/>
        </p:nvSpPr>
        <p:spPr>
          <a:xfrm>
            <a:off x="10058400"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課題</a:t>
            </a:r>
          </a:p>
        </p:txBody>
      </p:sp>
      <p:sp>
        <p:nvSpPr>
          <p:cNvPr id="8" name="Rounded Rectangle 7"/>
          <p:cNvSpPr/>
          <p:nvPr/>
        </p:nvSpPr>
        <p:spPr>
          <a:xfrm>
            <a:off x="10680192"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数学</a:t>
            </a:r>
          </a:p>
        </p:txBody>
      </p:sp>
      <p:sp>
        <p:nvSpPr>
          <p:cNvPr id="9" name="Rounded Rectangle 8"/>
          <p:cNvSpPr/>
          <p:nvPr/>
        </p:nvSpPr>
        <p:spPr>
          <a:xfrm>
            <a:off x="11301984" y="54864"/>
            <a:ext cx="585216" cy="585216"/>
          </a:xfrm>
          <a:prstGeom prst="roundRect">
            <a:avLst>
              <a:gd name="adj" fmla="val 14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noAutofit/>
          </a:bodyPr>
          <a:lstStyle/>
          <a:p>
            <a:pPr algn="ctr">
              <a:lnSpc>
                <a:spcPct val="100000"/>
              </a:lnSpc>
              <a:spcBef>
                <a:spcPts val="0"/>
              </a:spcBef>
              <a:spcAft>
                <a:spcPts val="0"/>
              </a:spcAft>
            </a:pPr>
            <a:r>
              <a:rPr sz="1050" b="0" i="0">
                <a:solidFill>
                  <a:srgbClr val="666666"/>
                </a:solidFill>
                <a:latin typeface="メイリオ"/>
                <a:ea typeface="メイリオ"/>
                <a:cs typeface="メイリオ"/>
              </a:rPr>
              <a:t>活用</a:t>
            </a:r>
          </a:p>
        </p:txBody>
      </p:sp>
      <p:sp>
        <p:nvSpPr>
          <p:cNvPr id="10" name="TextBox 9"/>
          <p:cNvSpPr txBox="1"/>
          <p:nvPr/>
        </p:nvSpPr>
        <p:spPr>
          <a:xfrm>
            <a:off x="11292840" y="6272784"/>
            <a:ext cx="594360" cy="310896"/>
          </a:xfrm>
          <a:prstGeom prst="rect">
            <a:avLst/>
          </a:prstGeom>
          <a:noFill/>
        </p:spPr>
        <p:txBody>
          <a:bodyPr wrap="square" lIns="18288" rIns="18288" tIns="0" bIns="0" anchor="t">
            <a:noAutofit/>
          </a:bodyPr>
          <a:lstStyle/>
          <a:p>
            <a:pPr algn="r">
              <a:lnSpc>
                <a:spcPct val="100000"/>
              </a:lnSpc>
              <a:spcBef>
                <a:spcPts val="0"/>
              </a:spcBef>
              <a:spcAft>
                <a:spcPts val="0"/>
              </a:spcAft>
            </a:pPr>
            <a:r>
              <a:rPr sz="1200" b="0" i="0">
                <a:solidFill>
                  <a:srgbClr val="5A5A5A"/>
                </a:solidFill>
                <a:latin typeface="メイリオ"/>
                <a:ea typeface="メイリオ"/>
                <a:cs typeface="メイリオ"/>
              </a:rPr>
              <a:t>43</a:t>
            </a:r>
          </a:p>
        </p:txBody>
      </p:sp>
      <p:sp>
        <p:nvSpPr>
          <p:cNvPr id="11" name="TextBox 10"/>
          <p:cNvSpPr txBox="1"/>
          <p:nvPr/>
        </p:nvSpPr>
        <p:spPr>
          <a:xfrm>
            <a:off x="457200" y="6236208"/>
            <a:ext cx="10424160" cy="530352"/>
          </a:xfrm>
          <a:prstGeom prst="rect">
            <a:avLst/>
          </a:prstGeom>
          <a:noFill/>
        </p:spPr>
        <p:txBody>
          <a:bodyPr wrap="square" lIns="18288" rIns="18288" tIns="0" bIns="0" anchor="t">
            <a:noAutofit/>
          </a:bodyPr>
          <a:lstStyle/>
          <a:p>
            <a:pPr algn="l">
              <a:lnSpc>
                <a:spcPct val="100000"/>
              </a:lnSpc>
              <a:spcBef>
                <a:spcPts val="0"/>
              </a:spcBef>
              <a:spcAft>
                <a:spcPts val="0"/>
              </a:spcAft>
            </a:pPr>
            <a:r>
              <a:rPr sz="1600" b="0" i="0">
                <a:solidFill>
                  <a:srgbClr val="5A5A5A"/>
                </a:solidFill>
                <a:latin typeface="メイリオ"/>
                <a:ea typeface="メイリオ"/>
                <a:cs typeface="メイリオ"/>
              </a:rPr>
              <a:t>PMID・URL は本リポジトリ各成果物の参考文献欄に収載（検証済み）</a:t>
            </a:r>
          </a:p>
        </p:txBody>
      </p:sp>
      <p:sp>
        <p:nvSpPr>
          <p:cNvPr id="12" name="TextBox 11"/>
          <p:cNvSpPr txBox="1"/>
          <p:nvPr/>
        </p:nvSpPr>
        <p:spPr>
          <a:xfrm>
            <a:off x="548640" y="1737360"/>
            <a:ext cx="11109960" cy="4206240"/>
          </a:xfrm>
          <a:prstGeom prst="rect">
            <a:avLst/>
          </a:prstGeom>
          <a:noFill/>
        </p:spPr>
        <p:txBody>
          <a:bodyPr wrap="square" lIns="18288" rIns="18288" tIns="0" bIns="0" anchor="t">
            <a:noAutofit/>
          </a:bodyPr>
          <a:lstStyle/>
          <a:p>
            <a:pPr algn="l">
              <a:lnSpc>
                <a:spcPct val="100000"/>
              </a:lnSpc>
              <a:spcBef>
                <a:spcPts val="0"/>
              </a:spcBef>
              <a:spcAft>
                <a:spcPts val="600"/>
              </a:spcAft>
            </a:pPr>
            <a:r>
              <a:rPr sz="1600" b="0" i="0">
                <a:solidFill>
                  <a:srgbClr val="222222"/>
                </a:solidFill>
                <a:latin typeface="メイリオ"/>
                <a:ea typeface="メイリオ"/>
                <a:cs typeface="メイリオ"/>
              </a:rPr>
              <a:t>[29] Basso G, et al. A skewed-Gaussian model for pulse decomposition analysis of photoplethysmography. Physiol Meas. 2024;45(11). PMID 39577084</a:t>
            </a:r>
          </a:p>
          <a:p>
            <a:pPr algn="l">
              <a:lnSpc>
                <a:spcPct val="100000"/>
              </a:lnSpc>
              <a:spcBef>
                <a:spcPts val="0"/>
              </a:spcBef>
              <a:spcAft>
                <a:spcPts val="600"/>
              </a:spcAft>
            </a:pPr>
            <a:r>
              <a:rPr sz="1600" b="0" i="0">
                <a:solidFill>
                  <a:srgbClr val="222222"/>
                </a:solidFill>
                <a:latin typeface="メイリオ"/>
                <a:ea typeface="メイリオ"/>
                <a:cs typeface="メイリオ"/>
              </a:rPr>
              <a:t>[30] Chen H, et al. PPG-derived arterial stiffness index and cardiovascular prevention (UK Biobank). J Clin Hypertens. 2025;27(5):e70058. PMID 40346852</a:t>
            </a:r>
          </a:p>
          <a:p>
            <a:pPr algn="l">
              <a:lnSpc>
                <a:spcPct val="100000"/>
              </a:lnSpc>
              <a:spcBef>
                <a:spcPts val="0"/>
              </a:spcBef>
              <a:spcAft>
                <a:spcPts val="600"/>
              </a:spcAft>
            </a:pPr>
            <a:r>
              <a:rPr sz="1600" b="0" i="0">
                <a:solidFill>
                  <a:srgbClr val="222222"/>
                </a:solidFill>
                <a:latin typeface="メイリオ"/>
                <a:ea typeface="メイリオ"/>
                <a:cs typeface="メイリオ"/>
              </a:rPr>
              <a:t>[31] 先行技術調査の全一覧（PICO・PMID・URL）は本リポジトリ PPG_wave_decomposition_prior_art.html を参照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