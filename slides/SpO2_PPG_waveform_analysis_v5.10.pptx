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9" r:id="rId3"/>
    <p:sldId id="260" r:id="rId4"/>
    <p:sldId id="335" r:id="rId5"/>
    <p:sldId id="346" r:id="rId6"/>
    <p:sldId id="348" r:id="rId7"/>
    <p:sldId id="347" r:id="rId8"/>
    <p:sldId id="349" r:id="rId9"/>
    <p:sldId id="326" r:id="rId10"/>
    <p:sldId id="352" r:id="rId11"/>
    <p:sldId id="337" r:id="rId12"/>
    <p:sldId id="351" r:id="rId13"/>
    <p:sldId id="328" r:id="rId14"/>
    <p:sldId id="353" r:id="rId15"/>
    <p:sldId id="306" r:id="rId16"/>
    <p:sldId id="354" r:id="rId17"/>
    <p:sldId id="307" r:id="rId18"/>
    <p:sldId id="287" r:id="rId19"/>
    <p:sldId id="339" r:id="rId20"/>
    <p:sldId id="308" r:id="rId21"/>
    <p:sldId id="355" r:id="rId22"/>
    <p:sldId id="311" r:id="rId23"/>
    <p:sldId id="272" r:id="rId24"/>
    <p:sldId id="266" r:id="rId25"/>
    <p:sldId id="340" r:id="rId26"/>
    <p:sldId id="356" r:id="rId27"/>
    <p:sldId id="357" r:id="rId28"/>
    <p:sldId id="316" r:id="rId29"/>
    <p:sldId id="319" r:id="rId30"/>
    <p:sldId id="320" r:id="rId31"/>
    <p:sldId id="303" r:id="rId32"/>
    <p:sldId id="358" r:id="rId33"/>
    <p:sldId id="299" r:id="rId34"/>
    <p:sldId id="300" r:id="rId35"/>
    <p:sldId id="362" r:id="rId60"/>
    <p:sldId id="329" r:id="rId37"/>
    <p:sldId id="275" r:id="rId38"/>
    <p:sldId id="321" r:id="rId39"/>
    <p:sldId id="310" r:id="rId40"/>
    <p:sldId id="363" r:id="rId61"/>
    <p:sldId id="364" r:id="rId62"/>
    <p:sldId id="274" r:id="rId42"/>
    <p:sldId id="330" r:id="rId43"/>
    <p:sldId id="331" r:id="rId44"/>
    <p:sldId id="360" r:id="rId45"/>
    <p:sldId id="332" r:id="rId46"/>
    <p:sldId id="365" r:id="rId63"/>
    <p:sldId id="304" r:id="rId47"/>
    <p:sldId id="343" r:id="rId48"/>
    <p:sldId id="289" r:id="rId49"/>
    <p:sldId id="333" r:id="rId50"/>
    <p:sldId id="361" r:id="rId51"/>
    <p:sldId id="341" r:id="rId52"/>
    <p:sldId id="296" r:id="rId53"/>
    <p:sldId id="366" r:id="rId6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2"/>
    <p:restoredTop sz="79191"/>
  </p:normalViewPr>
  <p:slideViewPr>
    <p:cSldViewPr snapToGrid="0">
      <p:cViewPr varScale="1">
        <p:scale>
          <a:sx n="94" d="100"/>
          <a:sy n="94" d="100"/>
        </p:scale>
        <p:origin x="1840" y="184"/>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 Id="rId59" Type="http://schemas.microsoft.com/office/2018/10/relationships/authors" Target="authors.xml"/><Relationship Id="rId60" Type="http://schemas.openxmlformats.org/officeDocument/2006/relationships/slide" Target="slides/slide35.xml"/><Relationship Id="rId61" Type="http://schemas.openxmlformats.org/officeDocument/2006/relationships/slide" Target="slides/slide40.xml"/><Relationship Id="rId62" Type="http://schemas.openxmlformats.org/officeDocument/2006/relationships/slide" Target="slides/slide41.xml"/><Relationship Id="rId63" Type="http://schemas.openxmlformats.org/officeDocument/2006/relationships/slide" Target="slides/slide47.xml"/><Relationship Id="rId64"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Murray1996</a:t>
            </a:r>
            <a:r>
              <a:rPr kumimoji="1" lang="ja-JP" altLang="en-US"/>
              <a:t> 麻酔導入→手術開始→麻酔調整</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a:t>
            </a:fld>
            <a:endParaRPr kumimoji="1" lang="ja-JP" altLang="en-US"/>
          </a:p>
        </p:txBody>
      </p:sp>
    </p:spTree>
    <p:extLst>
      <p:ext uri="{BB962C8B-B14F-4D97-AF65-F5344CB8AC3E}">
        <p14:creationId xmlns:p14="http://schemas.microsoft.com/office/powerpoint/2010/main" val="2875733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A4397-A3CC-568C-6289-9AE94FF02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09D5F-5B7F-A8BF-1BAC-2087E4BCD5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9446AC-C656-3706-4E73-271AA2E7DEF9}"/>
              </a:ext>
            </a:extLst>
          </p:cNvPr>
          <p:cNvSpPr>
            <a:spLocks noGrp="1"/>
          </p:cNvSpPr>
          <p:nvPr>
            <p:ph type="body" sz="quarter" idx="3"/>
          </p:nvPr>
        </p:nvSpPr>
        <p:spPr/>
        <p:txBody>
          <a:bodyPr/>
          <a:lstStyle/>
          <a:p>
            <a:r>
              <a:t>パルスオキシメータが SpO₂ という数字を出すまでの原理。ここを押さえておくと、</a:t>
            </a:r>
          </a:p>
          <a:p>
            <a:r>
              <a:t>以降の「波形（PPG）」がその計算の副産物として出ている信号だと理解しやすい。</a:t>
            </a:r>
          </a:p>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p>
            <a:r>
              <a:t>【出典URL】</a:t>
            </a:r>
          </a:p>
          <a:p>
            <a:r>
              <a:t>・Aoyagi T. Pulse oximetry: its invention, theory, and future. J Anesth 2003;17:259–66.</a:t>
            </a:r>
          </a:p>
          <a:p>
            <a:r>
              <a:t>  https://doi.org/10.1007/s00540-003-0192-6 ／ PMID 14625714</a:t>
            </a:r>
          </a:p>
          <a:p>
            <a:r>
              <a:t>・Chan ED, Chan MM, Chan MM. Pulse oximetry: understanding its basic principles facilitates appreciation of its limitations. Respir Med 2013;107:789–99.</a:t>
            </a:r>
          </a:p>
          <a:p>
            <a:r>
              <a:t>  https://doi.org/10.1016/j.rmed.2013.02.004 ／ PMID 23490227</a:t>
            </a:r>
          </a:p>
        </p:txBody>
      </p:sp>
      <p:sp>
        <p:nvSpPr>
          <p:cNvPr id="4" name="Slide Number Placeholder 3">
            <a:extLst>
              <a:ext uri="{FF2B5EF4-FFF2-40B4-BE49-F238E27FC236}">
                <a16:creationId xmlns:a16="http://schemas.microsoft.com/office/drawing/2014/main" id="{4A0DC328-BDFD-B557-2917-BE7BABF96BC4}"/>
              </a:ext>
            </a:extLst>
          </p:cNvPr>
          <p:cNvSpPr>
            <a:spLocks noGrp="1"/>
          </p:cNvSpPr>
          <p:nvPr>
            <p:ph type="sldNum" sz="quarter" idx="5"/>
          </p:nvPr>
        </p:nvSpPr>
        <p:spPr/>
      </p:sp>
    </p:spTree>
    <p:extLst>
      <p:ext uri="{BB962C8B-B14F-4D97-AF65-F5344CB8AC3E}">
        <p14:creationId xmlns:p14="http://schemas.microsoft.com/office/powerpoint/2010/main" val="2219140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34D54-A3FD-2DA5-00B4-710C48A6D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9D785-442E-3155-3A04-85EAEB59052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9EA84B-3E37-B25F-D2E9-A773D5D76949}"/>
              </a:ext>
            </a:extLst>
          </p:cNvPr>
          <p:cNvSpPr>
            <a:spLocks noGrp="1"/>
          </p:cNvSpPr>
          <p:nvPr>
            <p:ph type="body" sz="quarter" idx="3"/>
          </p:nvPr>
        </p:nvSpPr>
        <p:spPr/>
        <p:txBody>
          <a:bodyPr/>
          <a:lstStyle/>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05B6C946-F6B5-0CDE-D59F-32E9BE3A52F3}"/>
              </a:ext>
            </a:extLst>
          </p:cNvPr>
          <p:cNvSpPr>
            <a:spLocks noGrp="1"/>
          </p:cNvSpPr>
          <p:nvPr>
            <p:ph type="sldNum" sz="quarter" idx="5"/>
          </p:nvPr>
        </p:nvSpPr>
        <p:spPr/>
      </p:sp>
    </p:spTree>
    <p:extLst>
      <p:ext uri="{BB962C8B-B14F-4D97-AF65-F5344CB8AC3E}">
        <p14:creationId xmlns:p14="http://schemas.microsoft.com/office/powerpoint/2010/main" val="1243722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382F-7415-AD35-8419-C163B5C55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E27C-7B80-F4BD-9ACB-08E1BD8ABD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D4FB8A9-DDB0-BD78-5DF3-7A88014FCB4E}"/>
              </a:ext>
            </a:extLst>
          </p:cNvPr>
          <p:cNvSpPr>
            <a:spLocks noGrp="1"/>
          </p:cNvSpPr>
          <p:nvPr>
            <p:ph type="body" sz="quarter" idx="3"/>
          </p:nvPr>
        </p:nvSpPr>
        <p:spPr/>
        <p:txBody>
          <a:bodyPr/>
          <a:lstStyle/>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E6D0383E-312B-25EC-7918-6FE5DBCD0578}"/>
              </a:ext>
            </a:extLst>
          </p:cNvPr>
          <p:cNvSpPr>
            <a:spLocks noGrp="1"/>
          </p:cNvSpPr>
          <p:nvPr>
            <p:ph type="sldNum" sz="quarter" idx="5"/>
          </p:nvPr>
        </p:nvSpPr>
        <p:spPr/>
      </p:sp>
    </p:spTree>
    <p:extLst>
      <p:ext uri="{BB962C8B-B14F-4D97-AF65-F5344CB8AC3E}">
        <p14:creationId xmlns:p14="http://schemas.microsoft.com/office/powerpoint/2010/main" val="451975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36EA-BECE-5B89-C144-DA70949B4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19174-777F-842C-ADBF-33BABD2EC2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27B217-71DD-6C0C-30DE-462278EB74BA}"/>
              </a:ext>
            </a:extLst>
          </p:cNvPr>
          <p:cNvSpPr>
            <a:spLocks noGrp="1"/>
          </p:cNvSpPr>
          <p:nvPr>
            <p:ph type="body" sz="quarter" idx="3"/>
          </p:nvPr>
        </p:nvSpPr>
        <p:spPr/>
        <p:txBody>
          <a:bodyPr/>
          <a:lstStyle/>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A7170B71-4F12-92B1-F33E-A60D2CF6BEDA}"/>
              </a:ext>
            </a:extLst>
          </p:cNvPr>
          <p:cNvSpPr>
            <a:spLocks noGrp="1"/>
          </p:cNvSpPr>
          <p:nvPr>
            <p:ph type="sldNum" sz="quarter" idx="5"/>
          </p:nvPr>
        </p:nvSpPr>
        <p:spPr/>
      </p:sp>
    </p:spTree>
    <p:extLst>
      <p:ext uri="{BB962C8B-B14F-4D97-AF65-F5344CB8AC3E}">
        <p14:creationId xmlns:p14="http://schemas.microsoft.com/office/powerpoint/2010/main" val="250184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2837-D9A8-1F4D-6232-5E567407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4CF1-C4D8-8996-8670-9650E2F5E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BE721-C606-9A7B-BC3C-311DAEF28020}"/>
              </a:ext>
            </a:extLst>
          </p:cNvPr>
          <p:cNvSpPr>
            <a:spLocks noGrp="1"/>
          </p:cNvSpPr>
          <p:nvPr>
            <p:ph type="body" sz="quarter" idx="3"/>
          </p:nvPr>
        </p:nvSpPr>
        <p:spPr/>
        <p:txBody>
          <a:bodyPr/>
          <a:lstStyle/>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C134FB67-A945-C33D-A434-D7420851D740}"/>
              </a:ext>
            </a:extLst>
          </p:cNvPr>
          <p:cNvSpPr>
            <a:spLocks noGrp="1"/>
          </p:cNvSpPr>
          <p:nvPr>
            <p:ph type="sldNum" sz="quarter" idx="5"/>
          </p:nvPr>
        </p:nvSpPr>
        <p:spPr/>
      </p:sp>
    </p:spTree>
    <p:extLst>
      <p:ext uri="{BB962C8B-B14F-4D97-AF65-F5344CB8AC3E}">
        <p14:creationId xmlns:p14="http://schemas.microsoft.com/office/powerpoint/2010/main" val="352152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9F934-9A8A-330A-83B2-075F4C81F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E7300-AC3F-52BB-EB2C-479B016789B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73D6064-C838-BE43-DCF3-AA691D011085}"/>
              </a:ext>
            </a:extLst>
          </p:cNvPr>
          <p:cNvSpPr>
            <a:spLocks noGrp="1"/>
          </p:cNvSpPr>
          <p:nvPr>
            <p:ph type="body" sz="quarter" idx="3"/>
          </p:nvPr>
        </p:nvSpPr>
        <p:spPr/>
        <p:txBody>
          <a:bodyPr/>
          <a:lstStyle/>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EB83B9B1-56AD-28A6-C99F-42A824D2F949}"/>
              </a:ext>
            </a:extLst>
          </p:cNvPr>
          <p:cNvSpPr>
            <a:spLocks noGrp="1"/>
          </p:cNvSpPr>
          <p:nvPr>
            <p:ph type="sldNum" sz="quarter" idx="5"/>
          </p:nvPr>
        </p:nvSpPr>
        <p:spPr/>
      </p:sp>
    </p:spTree>
    <p:extLst>
      <p:ext uri="{BB962C8B-B14F-4D97-AF65-F5344CB8AC3E}">
        <p14:creationId xmlns:p14="http://schemas.microsoft.com/office/powerpoint/2010/main" val="2269495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42EB-8BAF-D335-F64C-9C4B5990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37CAE-E88C-7FE7-DDCE-9B26A8D22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5D6FD6-B092-D932-5671-8F01A003A495}"/>
              </a:ext>
            </a:extLst>
          </p:cNvPr>
          <p:cNvSpPr>
            <a:spLocks noGrp="1"/>
          </p:cNvSpPr>
          <p:nvPr>
            <p:ph type="body" sz="quarter" idx="3"/>
          </p:nvPr>
        </p:nvSpPr>
        <p:spPr/>
        <p:txBody>
          <a:bodyPr/>
          <a:lstStyle/>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5F9F9A8E-9E63-B840-2DE8-1B250982A89F}"/>
              </a:ext>
            </a:extLst>
          </p:cNvPr>
          <p:cNvSpPr>
            <a:spLocks noGrp="1"/>
          </p:cNvSpPr>
          <p:nvPr>
            <p:ph type="sldNum" sz="quarter" idx="5"/>
          </p:nvPr>
        </p:nvSpPr>
        <p:spPr/>
      </p:sp>
    </p:spTree>
    <p:extLst>
      <p:ext uri="{BB962C8B-B14F-4D97-AF65-F5344CB8AC3E}">
        <p14:creationId xmlns:p14="http://schemas.microsoft.com/office/powerpoint/2010/main" val="1347772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第2の成分は反射波（reflected wave）。</a:t>
            </a:r>
            <a:r>
              <a:rPr dirty="0" err="1"/>
              <a:t>ここで誤解されやすいのは反射の「場所</a:t>
            </a:r>
            <a:r>
              <a:rPr dirty="0"/>
              <a:t>」。</a:t>
            </a:r>
          </a:p>
          <a:p>
            <a:r>
              <a:rPr dirty="0" err="1"/>
              <a:t>反射は指先で起きているのではない</a:t>
            </a:r>
            <a:r>
              <a:rPr dirty="0"/>
              <a:t>。</a:t>
            </a:r>
          </a:p>
          <a:p>
            <a:endParaRPr dirty="0"/>
          </a:p>
          <a:p>
            <a:r>
              <a:rPr dirty="0" err="1"/>
              <a:t>主な反射部位は下半身側</a:t>
            </a:r>
            <a:r>
              <a:rPr dirty="0"/>
              <a:t> — </a:t>
            </a:r>
            <a:r>
              <a:rPr dirty="0" err="1"/>
              <a:t>腹部大動脈の腸骨分岐部と、下肢の抵抗血管（細動脈）である</a:t>
            </a:r>
            <a:r>
              <a:rPr dirty="0"/>
              <a:t>。</a:t>
            </a:r>
          </a:p>
          <a:p>
            <a:r>
              <a:rPr dirty="0"/>
              <a:t>経路は次の3段階：</a:t>
            </a:r>
          </a:p>
          <a:p>
            <a:r>
              <a:rPr dirty="0"/>
              <a:t>① </a:t>
            </a:r>
            <a:r>
              <a:rPr dirty="0" err="1"/>
              <a:t>左室が出した圧波（前進波）が下行大動脈を下る</a:t>
            </a:r>
            <a:endParaRPr dirty="0"/>
          </a:p>
          <a:p>
            <a:r>
              <a:rPr dirty="0"/>
              <a:t>② </a:t>
            </a:r>
            <a:r>
              <a:rPr dirty="0" err="1"/>
              <a:t>腸骨分岐部・下肢でインピーダンスが不連続になり反射する</a:t>
            </a:r>
            <a:endParaRPr dirty="0"/>
          </a:p>
          <a:p>
            <a:r>
              <a:rPr dirty="0"/>
              <a:t>③ </a:t>
            </a:r>
            <a:r>
              <a:rPr dirty="0" err="1"/>
              <a:t>反射波が大動脈を上り、そこから上肢を経て指先に「遅れて」届く</a:t>
            </a:r>
            <a:endParaRPr dirty="0"/>
          </a:p>
          <a:p>
            <a:r>
              <a:rPr dirty="0" err="1"/>
              <a:t>指尖</a:t>
            </a:r>
            <a:r>
              <a:rPr dirty="0"/>
              <a:t> PPG </a:t>
            </a:r>
            <a:r>
              <a:rPr dirty="0" err="1"/>
              <a:t>はこの前進波と反射波の合成波であり、両者の谷が重複切痕（dicrotic</a:t>
            </a:r>
            <a:r>
              <a:rPr dirty="0"/>
              <a:t> notch）、</a:t>
            </a:r>
          </a:p>
          <a:p>
            <a:r>
              <a:rPr dirty="0"/>
              <a:t>反射波の山が拡張期波（第2ピーク P2）として観察される。</a:t>
            </a:r>
          </a:p>
          <a:p>
            <a:endParaRPr dirty="0"/>
          </a:p>
          <a:p>
            <a:r>
              <a:rPr dirty="0" err="1"/>
              <a:t>だから</a:t>
            </a:r>
            <a:r>
              <a:rPr dirty="0"/>
              <a:t> ΔT（P1→P2 </a:t>
            </a:r>
            <a:r>
              <a:rPr dirty="0" err="1"/>
              <a:t>の時間差）は「大動脈を下って反射し戻る往復時間」を反映する</a:t>
            </a:r>
            <a:r>
              <a:rPr dirty="0"/>
              <a:t>。</a:t>
            </a:r>
          </a:p>
          <a:p>
            <a:r>
              <a:rPr dirty="0" err="1"/>
              <a:t>上肢は前進波・反射波の共通の通り道なので、ΔT</a:t>
            </a:r>
            <a:r>
              <a:rPr dirty="0"/>
              <a:t> </a:t>
            </a:r>
            <a:r>
              <a:rPr dirty="0" err="1"/>
              <a:t>にはほとんど影響しない（Millasseau</a:t>
            </a:r>
            <a:r>
              <a:rPr dirty="0"/>
              <a:t> 2002 Fig.1）。</a:t>
            </a:r>
          </a:p>
          <a:p>
            <a:r>
              <a:rPr dirty="0" err="1"/>
              <a:t>この往復の経路長は直接は測れないため、身長に比例すると仮定して身長で代用する</a:t>
            </a:r>
            <a:r>
              <a:rPr dirty="0"/>
              <a:t>。</a:t>
            </a:r>
          </a:p>
          <a:p>
            <a:r>
              <a:rPr dirty="0" err="1"/>
              <a:t>これが</a:t>
            </a:r>
            <a:r>
              <a:rPr dirty="0"/>
              <a:t> 5.1 </a:t>
            </a:r>
            <a:r>
              <a:rPr dirty="0" err="1"/>
              <a:t>の</a:t>
            </a:r>
            <a:r>
              <a:rPr dirty="0"/>
              <a:t> SI ＝ </a:t>
            </a:r>
            <a:r>
              <a:rPr dirty="0" err="1"/>
              <a:t>身長</a:t>
            </a:r>
            <a:r>
              <a:rPr dirty="0"/>
              <a:t> ÷ ΔT </a:t>
            </a:r>
            <a:r>
              <a:rPr dirty="0" err="1"/>
              <a:t>の根拠</a:t>
            </a:r>
            <a:r>
              <a:rPr dirty="0"/>
              <a:t>。「</a:t>
            </a:r>
            <a:r>
              <a:rPr dirty="0" err="1"/>
              <a:t>往復距離＝身長」という意味ではない</a:t>
            </a:r>
            <a:r>
              <a:rPr dirty="0"/>
              <a:t>。</a:t>
            </a:r>
          </a:p>
          <a:p>
            <a:endParaRPr dirty="0"/>
          </a:p>
          <a:p>
            <a:r>
              <a:rPr dirty="0"/>
              <a:t>反射波の2つのパラメータは別々の生理を反映する：</a:t>
            </a:r>
          </a:p>
          <a:p>
            <a:r>
              <a:rPr dirty="0"/>
              <a:t>・</a:t>
            </a:r>
            <a:r>
              <a:rPr dirty="0" err="1"/>
              <a:t>戻る「時相</a:t>
            </a:r>
            <a:r>
              <a:rPr dirty="0"/>
              <a:t>」＝</a:t>
            </a:r>
            <a:r>
              <a:rPr dirty="0" err="1"/>
              <a:t>大動脈の硬さ（PWV</a:t>
            </a:r>
            <a:r>
              <a:rPr dirty="0"/>
              <a:t>）。</a:t>
            </a:r>
            <a:r>
              <a:rPr dirty="0" err="1"/>
              <a:t>硬いほど早く戻り、収縮期に融合して一峰性化する</a:t>
            </a:r>
            <a:r>
              <a:rPr dirty="0"/>
              <a:t>。</a:t>
            </a:r>
          </a:p>
          <a:p>
            <a:r>
              <a:rPr dirty="0"/>
              <a:t>・</a:t>
            </a:r>
            <a:r>
              <a:rPr dirty="0" err="1"/>
              <a:t>反射波の「高さ</a:t>
            </a:r>
            <a:r>
              <a:rPr dirty="0"/>
              <a:t>」＝</a:t>
            </a:r>
            <a:r>
              <a:rPr dirty="0" err="1"/>
              <a:t>末梢血管トーヌス（反射係数</a:t>
            </a:r>
            <a:r>
              <a:rPr dirty="0"/>
              <a:t>）。</a:t>
            </a:r>
            <a:r>
              <a:rPr dirty="0" err="1"/>
              <a:t>血管収縮で高く、拡張で低くなる</a:t>
            </a:r>
            <a:r>
              <a:rPr dirty="0"/>
              <a:t>。</a:t>
            </a:r>
          </a:p>
          <a:p>
            <a:r>
              <a:rPr dirty="0"/>
              <a:t>これが以降の「時相＝硬さ／高さ＝トーヌス」という2軸の読み方の土台。(</a:t>
            </a:r>
            <a:r>
              <a:rPr dirty="0" err="1"/>
              <a:t>Millasseau</a:t>
            </a:r>
            <a:r>
              <a:rPr dirty="0"/>
              <a:t> 2002)</a:t>
            </a:r>
          </a:p>
          <a:p>
            <a:endParaRPr dirty="0"/>
          </a:p>
          <a:p>
            <a:r>
              <a:rPr dirty="0"/>
              <a:t>【文献確認（2026-08）：</a:t>
            </a:r>
            <a:r>
              <a:rPr dirty="0" err="1"/>
              <a:t>この図はどこまで正しいか</a:t>
            </a:r>
            <a:r>
              <a:rPr dirty="0"/>
              <a:t>】</a:t>
            </a:r>
          </a:p>
          <a:p>
            <a:r>
              <a:rPr dirty="0"/>
              <a:t>・「</a:t>
            </a:r>
            <a:r>
              <a:rPr dirty="0" err="1"/>
              <a:t>指尖</a:t>
            </a:r>
            <a:r>
              <a:rPr dirty="0"/>
              <a:t> PPG の拡張期成分（第2ピーク）は下半身で反射した波」という説明は、この分野の原著</a:t>
            </a:r>
          </a:p>
          <a:p>
            <a:r>
              <a:rPr dirty="0"/>
              <a:t>　（</a:t>
            </a:r>
            <a:r>
              <a:rPr dirty="0" err="1"/>
              <a:t>Millasseau</a:t>
            </a:r>
            <a:r>
              <a:rPr dirty="0"/>
              <a:t> 2002 Clin Sci 図1 </a:t>
            </a:r>
            <a:r>
              <a:rPr dirty="0" err="1"/>
              <a:t>凡例、Chowienczyk</a:t>
            </a:r>
            <a:r>
              <a:rPr dirty="0"/>
              <a:t> 1999 </a:t>
            </a:r>
            <a:r>
              <a:rPr dirty="0" err="1"/>
              <a:t>JACC）にほぼ同文で書かれている</a:t>
            </a:r>
            <a:r>
              <a:rPr dirty="0"/>
              <a:t>。</a:t>
            </a:r>
          </a:p>
          <a:p>
            <a:r>
              <a:rPr dirty="0"/>
              <a:t>　上腕動脈内に血管拡張薬を入れて前腕血流を3倍にしても反射指標は動かず、全身投与では</a:t>
            </a:r>
          </a:p>
          <a:p>
            <a:r>
              <a:rPr dirty="0"/>
              <a:t>　</a:t>
            </a:r>
            <a:r>
              <a:rPr dirty="0" err="1"/>
              <a:t>用量依存性に動く</a:t>
            </a:r>
            <a:r>
              <a:rPr dirty="0"/>
              <a:t>＝「指先の血管をいくら拡げても波形の第2成分の位置は変わらない」ことが実験的に示されている。</a:t>
            </a:r>
          </a:p>
          <a:p>
            <a:r>
              <a:rPr dirty="0"/>
              <a:t>　→ 「</a:t>
            </a:r>
            <a:r>
              <a:rPr dirty="0" err="1"/>
              <a:t>反射しているのは指先ではなく体幹側」というメッセージ自体は支持されている</a:t>
            </a:r>
            <a:r>
              <a:rPr dirty="0"/>
              <a:t>。</a:t>
            </a:r>
          </a:p>
          <a:p>
            <a:r>
              <a:rPr dirty="0"/>
              <a:t>・</a:t>
            </a:r>
            <a:r>
              <a:rPr dirty="0" err="1"/>
              <a:t>ただし現代の波動反射の文献では、反射部位は</a:t>
            </a:r>
            <a:r>
              <a:rPr dirty="0"/>
              <a:t> 1 </a:t>
            </a:r>
            <a:r>
              <a:rPr dirty="0" err="1"/>
              <a:t>か所ではなく動脈系全体に分布しているとされる</a:t>
            </a:r>
            <a:r>
              <a:rPr dirty="0"/>
              <a:t>。</a:t>
            </a:r>
          </a:p>
          <a:p>
            <a:r>
              <a:rPr dirty="0"/>
              <a:t>　2016年のワークショップ合意声明は "There is no single or limited number of discrete reflection sites</a:t>
            </a:r>
          </a:p>
          <a:p>
            <a:r>
              <a:rPr dirty="0"/>
              <a:t>　in the arterial tree" </a:t>
            </a:r>
            <a:r>
              <a:rPr dirty="0" err="1"/>
              <a:t>と明記。ヒト大動脈内の実測でも「遠位大動脈近傍に単一の優位な反射部位はない</a:t>
            </a:r>
            <a:r>
              <a:rPr dirty="0"/>
              <a:t>」</a:t>
            </a:r>
          </a:p>
          <a:p>
            <a:r>
              <a:rPr dirty="0"/>
              <a:t>　（Davies 2012 </a:t>
            </a:r>
            <a:r>
              <a:rPr dirty="0" err="1"/>
              <a:t>Hypertension、horizon</a:t>
            </a:r>
            <a:r>
              <a:rPr dirty="0"/>
              <a:t> effect）。</a:t>
            </a:r>
          </a:p>
          <a:p>
            <a:r>
              <a:rPr dirty="0"/>
              <a:t>　→ この図の「腸骨分岐部・下肢」は解剖学的な一点ではなく、分布した反射を1点に集約した</a:t>
            </a:r>
          </a:p>
          <a:p>
            <a:r>
              <a:rPr dirty="0"/>
              <a:t>　　　“</a:t>
            </a:r>
            <a:r>
              <a:rPr dirty="0" err="1"/>
              <a:t>実効（見かけの）反射部位</a:t>
            </a:r>
            <a:r>
              <a:rPr dirty="0"/>
              <a:t>”。</a:t>
            </a:r>
            <a:r>
              <a:rPr dirty="0" err="1"/>
              <a:t>口頭で一言そう断ると安全</a:t>
            </a:r>
            <a:r>
              <a:rPr dirty="0"/>
              <a:t>。</a:t>
            </a:r>
          </a:p>
          <a:p>
            <a:r>
              <a:rPr dirty="0"/>
              <a:t>・1D モデル研究では、指尖波形の第2ピークに効くのは胸部大動脈〜腎動脈レベルという報告</a:t>
            </a:r>
          </a:p>
          <a:p>
            <a:r>
              <a:rPr dirty="0"/>
              <a:t>　（Epstein 2015、Chowienczyk </a:t>
            </a:r>
            <a:r>
              <a:rPr dirty="0" err="1"/>
              <a:t>共著）や、上肢加温と下肢加温で中枢反射波の減り方に差がないという</a:t>
            </a:r>
            <a:endParaRPr dirty="0"/>
          </a:p>
          <a:p>
            <a:r>
              <a:rPr dirty="0"/>
              <a:t>　</a:t>
            </a:r>
            <a:r>
              <a:rPr dirty="0" err="1"/>
              <a:t>ヒト試験（Athaide</a:t>
            </a:r>
            <a:r>
              <a:rPr dirty="0"/>
              <a:t> 2023）もあり、「</a:t>
            </a:r>
            <a:r>
              <a:rPr dirty="0" err="1"/>
              <a:t>下半身が主役」は決着した話ではない</a:t>
            </a:r>
            <a:r>
              <a:rPr dirty="0"/>
              <a:t>。</a:t>
            </a:r>
          </a:p>
          <a:p>
            <a:r>
              <a:rPr dirty="0"/>
              <a:t>・</a:t>
            </a:r>
            <a:r>
              <a:rPr dirty="0" err="1"/>
              <a:t>上肢・手でも反射は起きる（橈骨動脈は後退波エネルギーが最大</a:t>
            </a:r>
            <a:r>
              <a:rPr dirty="0"/>
              <a:t>）。</a:t>
            </a:r>
            <a:r>
              <a:rPr dirty="0" err="1"/>
              <a:t>ただし上肢は前進波・反射波の</a:t>
            </a:r>
            <a:endParaRPr dirty="0"/>
          </a:p>
          <a:p>
            <a:r>
              <a:rPr dirty="0"/>
              <a:t>　</a:t>
            </a:r>
            <a:r>
              <a:rPr dirty="0" err="1"/>
              <a:t>共通経路なので「ΔT（相対タイミング</a:t>
            </a:r>
            <a:r>
              <a:rPr dirty="0"/>
              <a:t>）」</a:t>
            </a:r>
            <a:r>
              <a:rPr dirty="0" err="1"/>
              <a:t>には効きにくい、というのが原著の論理</a:t>
            </a:r>
            <a:r>
              <a:rPr dirty="0"/>
              <a:t>。</a:t>
            </a:r>
          </a:p>
          <a:p>
            <a:r>
              <a:rPr dirty="0"/>
              <a:t>　</a:t>
            </a:r>
            <a:r>
              <a:rPr dirty="0" err="1"/>
              <a:t>振幅・波形の高さには効く</a:t>
            </a:r>
            <a:r>
              <a:rPr dirty="0"/>
              <a:t>（＝3.1 </a:t>
            </a:r>
            <a:r>
              <a:rPr dirty="0" err="1"/>
              <a:t>の</a:t>
            </a:r>
            <a:r>
              <a:rPr dirty="0"/>
              <a:t> ΔPOP・PI </a:t>
            </a:r>
            <a:r>
              <a:rPr dirty="0" err="1"/>
              <a:t>の話と混同しない</a:t>
            </a:r>
            <a:r>
              <a:rPr dirty="0"/>
              <a:t>）。</a:t>
            </a:r>
          </a:p>
          <a:p>
            <a:r>
              <a:rPr dirty="0"/>
              <a:t>・</a:t>
            </a:r>
            <a:r>
              <a:rPr dirty="0" err="1"/>
              <a:t>重複切痕（dicrotic</a:t>
            </a:r>
            <a:r>
              <a:rPr dirty="0"/>
              <a:t> notch）と拡張期ピーク（第2ピーク）は本来別の現象。切痕は中枢では大動脈弁閉鎖に</a:t>
            </a:r>
          </a:p>
          <a:p>
            <a:r>
              <a:rPr dirty="0"/>
              <a:t>　</a:t>
            </a:r>
            <a:r>
              <a:rPr dirty="0" err="1"/>
              <a:t>伴う現象が主因とされ（Gamrah</a:t>
            </a:r>
            <a:r>
              <a:rPr dirty="0"/>
              <a:t> 2020 </a:t>
            </a:r>
            <a:r>
              <a:rPr dirty="0" err="1"/>
              <a:t>の</a:t>
            </a:r>
            <a:r>
              <a:rPr dirty="0"/>
              <a:t> acceleration </a:t>
            </a:r>
            <a:r>
              <a:rPr dirty="0" err="1"/>
              <a:t>hypothesis、Politi</a:t>
            </a:r>
            <a:r>
              <a:rPr dirty="0"/>
              <a:t> 2016 </a:t>
            </a:r>
            <a:r>
              <a:rPr dirty="0" err="1"/>
              <a:t>は反射を「原因の一つ」と限定</a:t>
            </a:r>
            <a:r>
              <a:rPr dirty="0"/>
              <a:t>）、</a:t>
            </a:r>
          </a:p>
          <a:p>
            <a:r>
              <a:rPr dirty="0"/>
              <a:t>　</a:t>
            </a:r>
            <a:r>
              <a:rPr dirty="0" err="1"/>
              <a:t>末梢では反射の影響も受ける。PPG</a:t>
            </a:r>
            <a:r>
              <a:rPr dirty="0"/>
              <a:t> </a:t>
            </a:r>
            <a:r>
              <a:rPr dirty="0" err="1"/>
              <a:t>の標準教科書（Kyriacou</a:t>
            </a:r>
            <a:r>
              <a:rPr dirty="0"/>
              <a:t> &amp; Allen 2022）は末梢 PPG </a:t>
            </a:r>
            <a:r>
              <a:rPr dirty="0" err="1"/>
              <a:t>の切痕・拡張期ピークを</a:t>
            </a:r>
            <a:endParaRPr dirty="0"/>
          </a:p>
          <a:p>
            <a:r>
              <a:rPr dirty="0"/>
              <a:t>　</a:t>
            </a:r>
            <a:r>
              <a:rPr dirty="0" err="1"/>
              <a:t>まとめて「反射による」と記述しており、文献間で用語の指す対象がずれている点に注意</a:t>
            </a:r>
            <a:r>
              <a:rPr dirty="0"/>
              <a:t>。</a:t>
            </a:r>
          </a:p>
          <a:p>
            <a:r>
              <a:rPr dirty="0"/>
              <a:t>　</a:t>
            </a:r>
            <a:r>
              <a:rPr dirty="0" err="1"/>
              <a:t>図の金の点を「重複切痕」と呼ぶのは末梢</a:t>
            </a:r>
            <a:r>
              <a:rPr dirty="0"/>
              <a:t> PPG </a:t>
            </a:r>
            <a:r>
              <a:rPr dirty="0" err="1"/>
              <a:t>の慣用に沿っており、講義としては問題ない</a:t>
            </a:r>
            <a:r>
              <a:rPr dirty="0"/>
              <a:t>。</a:t>
            </a:r>
          </a:p>
          <a:p>
            <a:r>
              <a:rPr dirty="0"/>
              <a:t>(</a:t>
            </a:r>
            <a:r>
              <a:rPr dirty="0" err="1"/>
              <a:t>Millasseau</a:t>
            </a:r>
            <a:r>
              <a:rPr dirty="0"/>
              <a:t> 2002 Clin Sci 103:371 / </a:t>
            </a:r>
            <a:r>
              <a:rPr dirty="0" err="1"/>
              <a:t>Chowienczyk</a:t>
            </a:r>
            <a:r>
              <a:rPr dirty="0"/>
              <a:t> 1999 JACC 34:2007 / Segers 2017 Artery Res 18:75 /</a:t>
            </a:r>
          </a:p>
          <a:p>
            <a:r>
              <a:rPr dirty="0"/>
              <a:t> Davies 2012 Hypertension 60:778 / Epstein 2015 AJP Heart 309:H222 / Athaide 2023 J Appl </a:t>
            </a:r>
            <a:r>
              <a:rPr dirty="0" err="1"/>
              <a:t>Physiol</a:t>
            </a:r>
            <a:r>
              <a:rPr dirty="0"/>
              <a:t> 134:1232)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a:t>２つのコホート研究 → 最後に「慢性変化＝大血管の硬さ」で締める（2.3）</a:t>
            </a:r>
            <a:endParaRPr lang="en-US" dirty="0"/>
          </a:p>
          <a:p>
            <a:endParaRPr lang="en-US" dirty="0"/>
          </a:p>
          <a:p>
            <a:r>
              <a:rPr lang="en-US" dirty="0" err="1"/>
              <a:t>PPG波形が慢性的な影響により受ける変化について</a:t>
            </a:r>
            <a:endParaRPr lang="en-US" dirty="0"/>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15</a:t>
            </a:fld>
            <a:endParaRPr kumimoji="1" lang="ja-JP" altLang="en-US"/>
          </a:p>
        </p:txBody>
      </p:sp>
    </p:spTree>
    <p:extLst>
      <p:ext uri="{BB962C8B-B14F-4D97-AF65-F5344CB8AC3E}">
        <p14:creationId xmlns:p14="http://schemas.microsoft.com/office/powerpoint/2010/main" val="3530757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D002-2458-FB35-B390-8207966994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C218C4-9CD2-0B2E-F732-E05B02F4A5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C4E8-D9A6-547B-3414-00E9AAA0B0A4}"/>
              </a:ext>
            </a:extLst>
          </p:cNvPr>
          <p:cNvSpPr>
            <a:spLocks noGrp="1"/>
          </p:cNvSpPr>
          <p:nvPr>
            <p:ph type="body" idx="1"/>
          </p:nvPr>
        </p:nvSpPr>
        <p:spPr/>
        <p:txBody>
          <a:bodyPr/>
          <a:lstStyle/>
          <a:p>
            <a:r>
              <a:t>フラミンガム心臓研究（Framingham Heart Study, FHS）とは。</a:t>
            </a:r>
          </a:p>
          <a:p/>
          <a:p>
            <a:r>
              <a:t>・1948年、米国マサチューセッツ州フラミンガムで、国立心臓研究所（National Heart Institute、</a:t>
            </a:r>
          </a:p>
          <a:p>
            <a:r>
              <a:t>　現 NHLBI）により開始された地域住民ベースの前向きコホート研究。</a:t>
            </a:r>
          </a:p>
          <a:p>
            <a:r>
              <a:t>・原コホートは 5,209人（男女）、登録時 30〜62歳、登録時点で心血管疾患を発症していない住民。</a:t>
            </a:r>
          </a:p>
          <a:p>
            <a:r>
              <a:t>・以後、原則2年ごとに問診・診察・検査を繰り返して追跡する設計。</a:t>
            </a:r>
          </a:p>
          <a:p>
            <a:r>
              <a:t>・「危険因子（risk factor）」という言葉・考え方はこの研究から広まった。</a:t>
            </a:r>
          </a:p>
          <a:p>
            <a:r>
              <a:t>・その後、Offspring コホート（1971年）、Third Generation コホート（2002年）へ拡張されている。</a:t>
            </a:r>
          </a:p>
          <a:p/>
          <a:p>
            <a:r>
              <a:t>本デックでの位置づけ</a:t>
            </a:r>
          </a:p>
          <a:p>
            <a:r>
              <a:t>・Dawber TR, Thomas HE, McNamara PM. Characteristics of the dicrotic notch of the arterial</a:t>
            </a:r>
          </a:p>
          <a:p>
            <a:r>
              <a:t>　pulse wave in coronary heart disease. Angiology 1973;24:244–55.</a:t>
            </a:r>
          </a:p>
          <a:p>
            <a:r>
              <a:t>　このフラミンガム集団を対象に、指尖脈波の重複切痕（dicrotic notch）の見え方を目視で</a:t>
            </a:r>
          </a:p>
          <a:p>
            <a:r>
              <a:t>　4クラスに分類し、年齢・冠動脈疾患との関連を検討した（次スライド以降）。</a:t>
            </a:r>
          </a:p>
          <a:p>
            <a:r>
              <a:t>・つまり「安静時の血管特性」を見た研究であり、麻酔中の急性変化を見たものではない。</a:t>
            </a:r>
          </a:p>
          <a:p/>
          <a:p>
            <a:r>
              <a:t>注意（数値の出どころ）</a:t>
            </a:r>
          </a:p>
          <a:p>
            <a:r>
              <a:t>・開始年・人数・年齢範囲は Framingham Heart Study／NHLBI の公表情報に基づく</a:t>
            </a:r>
          </a:p>
          <a:p>
            <a:r>
              <a:t>　（1948年開始・5,209人・30〜62歳）。資料によっては年齢範囲を 28〜62歳と記載するものもある。</a:t>
            </a:r>
          </a:p>
          <a:p>
            <a:r>
              <a:t>・以前のメモにあった「1949年・30〜59歳」は上記と食い違うため、公表値に合わせて修正した。</a:t>
            </a:r>
          </a:p>
          <a:p>
            <a:r>
              <a:t>・Dawber 1973 本体は PubMed に抄録が無く、対象者数などの詳細は本文でしか確認できない。</a:t>
            </a:r>
          </a:p>
          <a:p/>
        </p:txBody>
      </p:sp>
      <p:sp>
        <p:nvSpPr>
          <p:cNvPr id="4" name="スライド番号プレースホルダー 3">
            <a:extLst>
              <a:ext uri="{FF2B5EF4-FFF2-40B4-BE49-F238E27FC236}">
                <a16:creationId xmlns:a16="http://schemas.microsoft.com/office/drawing/2014/main" id="{1D7720C9-5CB3-4057-8F64-A16F05A9DD35}"/>
              </a:ext>
            </a:extLst>
          </p:cNvPr>
          <p:cNvSpPr>
            <a:spLocks noGrp="1"/>
          </p:cNvSpPr>
          <p:nvPr>
            <p:ph type="sldNum" sz="quarter" idx="5"/>
          </p:nvPr>
        </p:nvSpPr>
        <p:spPr/>
        <p:txBody>
          <a:bodyPr/>
          <a:lstStyle/>
          <a:p>
            <a:fld id="{4368CECF-0771-D84F-8D42-085DB944B0B8}" type="slidenum">
              <a:rPr kumimoji="1" lang="ja-JP" altLang="en-US" smtClean="0"/>
              <a:t>16</a:t>
            </a:fld>
            <a:endParaRPr kumimoji="1" lang="ja-JP" altLang="en-US"/>
          </a:p>
        </p:txBody>
      </p:sp>
    </p:spTree>
    <p:extLst>
      <p:ext uri="{BB962C8B-B14F-4D97-AF65-F5344CB8AC3E}">
        <p14:creationId xmlns:p14="http://schemas.microsoft.com/office/powerpoint/2010/main" val="3653923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C8BB-FC18-CC2A-92DE-D789FF460A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653364-141F-7D20-A238-30577D8EAA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369720-CD6D-E2B4-BD4A-3FCA38A80E5B}"/>
              </a:ext>
            </a:extLst>
          </p:cNvPr>
          <p:cNvSpPr>
            <a:spLocks noGrp="1"/>
          </p:cNvSpPr>
          <p:nvPr>
            <p:ph type="body" idx="1"/>
          </p:nvPr>
        </p:nvSpPr>
        <p:spPr/>
        <p:txBody>
          <a:bodyPr/>
          <a:lstStyle/>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7CB7F5BF-D92B-090D-5C26-C699156ACB58}"/>
              </a:ext>
            </a:extLst>
          </p:cNvPr>
          <p:cNvSpPr>
            <a:spLocks noGrp="1"/>
          </p:cNvSpPr>
          <p:nvPr>
            <p:ph type="sldNum" sz="quarter" idx="5"/>
          </p:nvPr>
        </p:nvSpPr>
        <p:spPr/>
        <p:txBody>
          <a:bodyPr/>
          <a:lstStyle/>
          <a:p>
            <a:fld id="{4368CECF-0771-D84F-8D42-085DB944B0B8}" type="slidenum">
              <a:rPr kumimoji="1" lang="ja-JP" altLang="en-US" smtClean="0"/>
              <a:t>17</a:t>
            </a:fld>
            <a:endParaRPr kumimoji="1" lang="ja-JP" altLang="en-US"/>
          </a:p>
        </p:txBody>
      </p:sp>
    </p:spTree>
    <p:extLst>
      <p:ext uri="{BB962C8B-B14F-4D97-AF65-F5344CB8AC3E}">
        <p14:creationId xmlns:p14="http://schemas.microsoft.com/office/powerpoint/2010/main" val="3824610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指尖脈波という特殊な測定の</a:t>
            </a:r>
            <a:r>
              <a:rPr kumimoji="1" lang="en-US" altLang="ja-JP" dirty="0"/>
              <a:t>DN</a:t>
            </a:r>
            <a:r>
              <a:rPr kumimoji="1" lang="ja-JP" altLang="en-US"/>
              <a:t>消失具合を分類</a:t>
            </a:r>
            <a:endParaRPr kumimoji="1" lang="en-US" altLang="ja-JP" dirty="0"/>
          </a:p>
          <a:p>
            <a:r>
              <a:rPr kumimoji="1" lang="ja-JP" altLang="en-US"/>
              <a:t>加齢で切痕が消え、血圧や喫煙と独立し、心血管イベントと関連していた。</a:t>
            </a:r>
          </a:p>
          <a:p>
            <a:r>
              <a:rPr kumimoji="1" lang="en-US" altLang="ja-JP" dirty="0" err="1"/>
              <a:t>dawber</a:t>
            </a:r>
            <a:r>
              <a:rPr kumimoji="1" lang="ja-JP" altLang="en-US"/>
              <a:t>はフラミンが無研究という集団をベースにした、血管特性（麻酔変化ではない、安静時）の評価</a:t>
            </a:r>
            <a:endParaRPr kumimoji="1" lang="en-US" altLang="ja-JP" dirty="0"/>
          </a:p>
          <a:p>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18</a:t>
            </a:fld>
            <a:endParaRPr kumimoji="1" lang="ja-JP" altLang="en-US"/>
          </a:p>
        </p:txBody>
      </p:sp>
    </p:spTree>
    <p:extLst>
      <p:ext uri="{BB962C8B-B14F-4D97-AF65-F5344CB8AC3E}">
        <p14:creationId xmlns:p14="http://schemas.microsoft.com/office/powerpoint/2010/main" val="75404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男女ともに</a:t>
            </a:r>
            <a:r>
              <a:rPr lang="en-US" altLang="ja-JP" dirty="0" err="1"/>
              <a:t>高齢</a:t>
            </a:r>
            <a:r>
              <a:rPr lang="ja-JP" altLang="en-US"/>
              <a:t>である方が、</a:t>
            </a:r>
            <a:r>
              <a:rPr lang="en-US" altLang="ja-JP" dirty="0"/>
              <a:t>class3,4</a:t>
            </a:r>
            <a:r>
              <a:rPr lang="ja-JP" altLang="en-US"/>
              <a:t>の割合が高い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Class</a:t>
            </a:r>
            <a:r>
              <a:rPr lang="ja-JP" altLang="en-US"/>
              <a:t>が高い方が、冠動脈疾患を持つ割合が増えた。</a:t>
            </a:r>
            <a:endParaRPr lang="en-US" altLang="ja-JP" dirty="0"/>
          </a:p>
          <a:p>
            <a:endParaRPr kumimoji="1" lang="en-US" altLang="ja-JP" dirty="0"/>
          </a:p>
          <a:p>
            <a:r>
              <a:rPr kumimoji="1" lang="ja-JP" altLang="en-US"/>
              <a:t>高齢者の方が切痕が平滑で、切痕が平滑である方が冠動脈疾患を持つ人の割合が増える。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19</a:t>
            </a:fld>
            <a:endParaRPr kumimoji="1" lang="ja-JP" altLang="en-US"/>
          </a:p>
        </p:txBody>
      </p:sp>
    </p:spTree>
    <p:extLst>
      <p:ext uri="{BB962C8B-B14F-4D97-AF65-F5344CB8AC3E}">
        <p14:creationId xmlns:p14="http://schemas.microsoft.com/office/powerpoint/2010/main" val="3976866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CCDE-89C2-3D66-BAFD-29C670A76DE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078FE-9E58-AE41-5C49-135C62EA9B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46695A7-8948-A367-1B8B-55350745E9B3}"/>
              </a:ext>
            </a:extLst>
          </p:cNvPr>
          <p:cNvSpPr>
            <a:spLocks noGrp="1"/>
          </p:cNvSpPr>
          <p:nvPr>
            <p:ph type="body" idx="1"/>
          </p:nvPr>
        </p:nvSpPr>
        <p:spPr/>
        <p:txBody>
          <a:bodyPr/>
          <a:lstStyle/>
          <a:p>
            <a:r>
              <a:t>UK Biobank とは。</a:t>
            </a:r>
          </a:p>
          <a:p/>
          <a:p>
            <a:r>
              <a:t>・英国の大規模バイオバンク型前向きコホート。2006〜2010年に、40〜69歳の約50万人を</a:t>
            </a:r>
          </a:p>
          <a:p>
            <a:r>
              <a:t>　イングランド・スコットランド・ウェールズの22の評価センターで登録した。</a:t>
            </a:r>
          </a:p>
          <a:p>
            <a:r>
              <a:t>・登録時に質問票・身体計測・採血（血液・尿・唾液）を行い、以後は国民保健サービス（NHS）の</a:t>
            </a:r>
          </a:p>
          <a:p>
            <a:r>
              <a:t>　医療記録とのリンクによって疾患発症・死亡を追跡する設計。ゲノム解析データも整備されている。</a:t>
            </a:r>
          </a:p>
          <a:p>
            <a:r>
              <a:t>・ベースライン評価の中に指尖光電容積脈波（PPG）による動脈スティフネス測定が含まれており、</a:t>
            </a:r>
          </a:p>
          <a:p>
            <a:r>
              <a:t>　これが本デックで扱う波形データの出どころ。</a:t>
            </a:r>
          </a:p>
          <a:p/>
          <a:p>
            <a:r>
              <a:t>本デックでの位置づけ — Cunningham JW, et al. Circ Genom Precis Med 2023;16:e003676</a:t>
            </a:r>
          </a:p>
          <a:p>
            <a:r>
              <a:t>・対象：指尖PPGデータを持つ UK Biobank 参加者 169,787名。</a:t>
            </a:r>
          </a:p>
          <a:p>
            <a:r>
              <a:t>・従来は「重複切痕が消えているか／いないか」の二値でしか扱えなかったものを、機械学習で</a:t>
            </a:r>
          </a:p>
          <a:p>
            <a:r>
              <a:t>　「切痕の平滑さ（notch smoothness）」という連続形質に置き換えた。</a:t>
            </a:r>
          </a:p>
          <a:p>
            <a:r>
              <a:t>・遺伝率は連続形質 7.5% ＞ 二値形質 5.6%。GWAS で有意15座位（二値では6座位）を同定し、</a:t>
            </a:r>
          </a:p>
          <a:p>
            <a:r>
              <a:t>　NT5C2（P=1.2×10⁻²⁶）、IGFBP3（P=4.8×10⁻¹⁸）、PHACTR1（P=1.4×10⁻¹³）などが示唆された。</a:t>
            </a:r>
          </a:p>
          <a:p>
            <a:r>
              <a:t>・切痕の平滑さは、心筋梗塞／冠動脈疾患・脳卒中・心不全・大動脈弁狭窄症の新規発症リスクを</a:t>
            </a:r>
          </a:p>
          <a:p>
            <a:r>
              <a:t>　層別化した。多遺伝子リスクスコアは PPG を持たない参加者でも心血管疾患発症と全死亡に関連。</a:t>
            </a:r>
          </a:p>
          <a:p>
            <a:r>
              <a:t>・結論：切痕の平滑さは遺伝率をもつ形質で、血管スティフネス関連遺伝子と結びつき、</a:t>
            </a:r>
          </a:p>
          <a:p>
            <a:r>
              <a:t>　平滑なほど心血管疾患の発症リスクが高い。</a:t>
            </a:r>
          </a:p>
          <a:p/>
          <a:p>
            <a:r>
              <a:t>口頭で足す但し書き</a:t>
            </a:r>
          </a:p>
          <a:p>
            <a:r>
              <a:t>・「目視4分類（Dawber）」→「機械学習による連続量（Cunningham）」という進み方であり、</a:t>
            </a:r>
          </a:p>
          <a:p>
            <a:r>
              <a:t>　連続量化したほうが遺伝率も予後層別化も良くなった、という点が要点。</a:t>
            </a:r>
          </a:p>
          <a:p/>
        </p:txBody>
      </p:sp>
      <p:sp>
        <p:nvSpPr>
          <p:cNvPr id="4" name="スライド番号プレースホルダー 3">
            <a:extLst>
              <a:ext uri="{FF2B5EF4-FFF2-40B4-BE49-F238E27FC236}">
                <a16:creationId xmlns:a16="http://schemas.microsoft.com/office/drawing/2014/main" id="{1BE6DACB-834D-8350-8145-668CDD939F93}"/>
              </a:ext>
            </a:extLst>
          </p:cNvPr>
          <p:cNvSpPr>
            <a:spLocks noGrp="1"/>
          </p:cNvSpPr>
          <p:nvPr>
            <p:ph type="sldNum" sz="quarter" idx="5"/>
          </p:nvPr>
        </p:nvSpPr>
        <p:spPr/>
        <p:txBody>
          <a:bodyPr/>
          <a:lstStyle/>
          <a:p>
            <a:fld id="{4368CECF-0771-D84F-8D42-085DB944B0B8}" type="slidenum">
              <a:rPr kumimoji="1" lang="ja-JP" altLang="en-US" smtClean="0"/>
              <a:t>20</a:t>
            </a:fld>
            <a:endParaRPr kumimoji="1" lang="ja-JP" altLang="en-US"/>
          </a:p>
        </p:txBody>
      </p:sp>
    </p:spTree>
    <p:extLst>
      <p:ext uri="{BB962C8B-B14F-4D97-AF65-F5344CB8AC3E}">
        <p14:creationId xmlns:p14="http://schemas.microsoft.com/office/powerpoint/2010/main" val="2297272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8CDA-C244-5D90-E99A-63DA49DD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E1933C-2A6D-FE16-CE33-D229B7053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99F231-DED6-7604-DC14-47A58CC260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UK biobank 17</a:t>
            </a:r>
            <a:r>
              <a:rPr kumimoji="1" lang="ja-JP" altLang="en-US"/>
              <a:t>万例のコホート研究の解析</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切痕の消失具合を機械学習で分類</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切痕平滑化具合が大きいと、心血管疾患の増加と関連した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また、切痕を平滑化させる</a:t>
            </a:r>
            <a:r>
              <a:rPr kumimoji="1" lang="en-US" altLang="ja-JP" dirty="0"/>
              <a:t>15</a:t>
            </a:r>
            <a:r>
              <a:rPr kumimoji="1" lang="ja-JP" altLang="en-US"/>
              <a:t>の遺伝子座をゲノムワイド解析で特定</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評価時に心血管疾患がない患者も、切痕平滑化具合は将来の心血管疾患罹患と全死亡に関連した。</a:t>
            </a:r>
          </a:p>
          <a:p>
            <a:endParaRPr kumimoji="1" lang="ja-JP" altLang="en-US"/>
          </a:p>
        </p:txBody>
      </p:sp>
      <p:sp>
        <p:nvSpPr>
          <p:cNvPr id="4" name="スライド番号プレースホルダー 3">
            <a:extLst>
              <a:ext uri="{FF2B5EF4-FFF2-40B4-BE49-F238E27FC236}">
                <a16:creationId xmlns:a16="http://schemas.microsoft.com/office/drawing/2014/main" id="{54E914DD-09BE-E20B-0E61-4FCE6657E439}"/>
              </a:ext>
            </a:extLst>
          </p:cNvPr>
          <p:cNvSpPr>
            <a:spLocks noGrp="1"/>
          </p:cNvSpPr>
          <p:nvPr>
            <p:ph type="sldNum" sz="quarter" idx="5"/>
          </p:nvPr>
        </p:nvSpPr>
        <p:spPr/>
        <p:txBody>
          <a:bodyPr/>
          <a:lstStyle/>
          <a:p>
            <a:fld id="{4368CECF-0771-D84F-8D42-085DB944B0B8}" type="slidenum">
              <a:rPr kumimoji="1" lang="ja-JP" altLang="en-US" smtClean="0"/>
              <a:t>21</a:t>
            </a:fld>
            <a:endParaRPr kumimoji="1" lang="ja-JP" altLang="en-US"/>
          </a:p>
        </p:txBody>
      </p:sp>
    </p:spTree>
    <p:extLst>
      <p:ext uri="{BB962C8B-B14F-4D97-AF65-F5344CB8AC3E}">
        <p14:creationId xmlns:p14="http://schemas.microsoft.com/office/powerpoint/2010/main" val="2254617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609D-7C41-BF8A-E3A2-5F38525F4D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D1903-B218-C00D-11E3-365FA98CFA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6209AF-A3BC-BED7-0E13-8B95EF25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切痕の消失が加齢と心血管疾患のマーカーとなる　</a:t>
            </a:r>
            <a:r>
              <a:rPr kumimoji="1" lang="en-US" altLang="ja-JP" dirty="0"/>
              <a:t>machine learning</a:t>
            </a:r>
            <a:endParaRPr kumimoji="1" lang="ja-JP" altLang="en-US"/>
          </a:p>
          <a:p>
            <a:endParaRPr kumimoji="1" lang="ja-JP" altLang="en-US"/>
          </a:p>
        </p:txBody>
      </p:sp>
      <p:sp>
        <p:nvSpPr>
          <p:cNvPr id="4" name="スライド番号プレースホルダー 3">
            <a:extLst>
              <a:ext uri="{FF2B5EF4-FFF2-40B4-BE49-F238E27FC236}">
                <a16:creationId xmlns:a16="http://schemas.microsoft.com/office/drawing/2014/main" id="{7A4B5DA4-C1B5-68C3-7150-76A418B52C44}"/>
              </a:ext>
            </a:extLst>
          </p:cNvPr>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1081729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34649596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9DE1D-86C8-A075-0E14-44D7ED7E78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497AB5B-98A3-28C8-3469-8E0DE551F1F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C534EE6-7C7E-F09D-6961-3AD257B9AE24}"/>
              </a:ext>
            </a:extLst>
          </p:cNvPr>
          <p:cNvSpPr>
            <a:spLocks noGrp="1"/>
          </p:cNvSpPr>
          <p:nvPr>
            <p:ph type="body" idx="1"/>
          </p:nvPr>
        </p:nvSpPr>
        <p:spPr/>
        <p:txBody>
          <a:bodyPr/>
          <a:lstStyle/>
          <a:p>
            <a:r>
              <a:rPr kumimoji="1" lang="ja-JP" altLang="en-US"/>
              <a:t>図は</a:t>
            </a:r>
            <a:r>
              <a:rPr kumimoji="1" lang="en-US" altLang="ja-JP" dirty="0" err="1"/>
              <a:t>alian</a:t>
            </a:r>
            <a:r>
              <a:rPr kumimoji="1" lang="en-US" altLang="ja-JP" dirty="0"/>
              <a:t> 2011</a:t>
            </a:r>
            <a:r>
              <a:rPr kumimoji="1" lang="ja-JP" altLang="en-US"/>
              <a:t>をもとに作成。正しいと思われる。</a:t>
            </a:r>
            <a:endParaRPr kumimoji="1" lang="en-US" altLang="ja-JP" dirty="0"/>
          </a:p>
          <a:p>
            <a:r>
              <a:rPr kumimoji="1" lang="en-US" altLang="ja-JP" dirty="0"/>
              <a:t>Convertino 2017</a:t>
            </a:r>
            <a:r>
              <a:rPr kumimoji="1" lang="ja-JP" altLang="en-US"/>
              <a:t>はいらないかも</a:t>
            </a:r>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a:p>
            <a:r>
              <a:rPr kumimoji="1" lang="en-US" altLang="ja-JP" dirty="0"/>
              <a:t>Lower body negative pressure</a:t>
            </a:r>
            <a:r>
              <a:rPr kumimoji="1" lang="ja-JP" altLang="en-US"/>
              <a:t>で循環血液量減少を再現</a:t>
            </a:r>
          </a:p>
        </p:txBody>
      </p:sp>
      <p:sp>
        <p:nvSpPr>
          <p:cNvPr id="4" name="スライド番号プレースホルダー 3">
            <a:extLst>
              <a:ext uri="{FF2B5EF4-FFF2-40B4-BE49-F238E27FC236}">
                <a16:creationId xmlns:a16="http://schemas.microsoft.com/office/drawing/2014/main" id="{E700644A-E276-D9BF-3D11-B7FDBC577D78}"/>
              </a:ext>
            </a:extLst>
          </p:cNvPr>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2021345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3E1-4312-9B21-BA1D-996C5C4F71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9EDCF-117E-0918-9304-CCB70B50F3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BE0123-27DA-D6F5-38B5-3556EF72B8B0}"/>
              </a:ext>
            </a:extLst>
          </p:cNvPr>
          <p:cNvSpPr>
            <a:spLocks noGrp="1"/>
          </p:cNvSpPr>
          <p:nvPr>
            <p:ph type="body" idx="1"/>
          </p:nvPr>
        </p:nvSpPr>
        <p:spPr/>
        <p:txBody>
          <a:bodyPr/>
          <a:lstStyle/>
          <a:p>
            <a:r>
              <a:rPr kumimoji="1" lang="ja-JP" altLang="en-US"/>
              <a:t>図は</a:t>
            </a:r>
            <a:r>
              <a:rPr kumimoji="1" lang="en-US" altLang="ja-JP" dirty="0" err="1"/>
              <a:t>alian</a:t>
            </a:r>
            <a:r>
              <a:rPr kumimoji="1" lang="en-US" altLang="ja-JP" dirty="0"/>
              <a:t> 2011</a:t>
            </a:r>
            <a:r>
              <a:rPr kumimoji="1" lang="ja-JP" altLang="en-US"/>
              <a:t>をもとに作成。正しいと思われる。</a:t>
            </a:r>
            <a:endParaRPr kumimoji="1" lang="en-US" altLang="ja-JP" dirty="0"/>
          </a:p>
          <a:p>
            <a:r>
              <a:rPr kumimoji="1" lang="en-US" altLang="ja-JP" dirty="0"/>
              <a:t>Convertino 2017</a:t>
            </a:r>
            <a:r>
              <a:rPr kumimoji="1" lang="ja-JP" altLang="en-US"/>
              <a:t>はいらないかも</a:t>
            </a:r>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a:p>
            <a:r>
              <a:rPr kumimoji="1" lang="en-US" altLang="ja-JP" dirty="0"/>
              <a:t>Lower body negative pressure</a:t>
            </a:r>
            <a:r>
              <a:rPr kumimoji="1" lang="ja-JP" altLang="en-US"/>
              <a:t>で循環血液量減少を再現</a:t>
            </a:r>
          </a:p>
        </p:txBody>
      </p:sp>
      <p:sp>
        <p:nvSpPr>
          <p:cNvPr id="4" name="スライド番号プレースホルダー 3">
            <a:extLst>
              <a:ext uri="{FF2B5EF4-FFF2-40B4-BE49-F238E27FC236}">
                <a16:creationId xmlns:a16="http://schemas.microsoft.com/office/drawing/2014/main" id="{D88FE6EA-E664-BA4E-4E28-B897D67A1F6E}"/>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8244533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A1AD8-83DF-2917-E45C-63B8D3D2583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9601E5-53E3-8E79-9086-9672E08E07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135643F-6FBB-903C-25BD-2AFCF0622705}"/>
              </a:ext>
            </a:extLst>
          </p:cNvPr>
          <p:cNvSpPr>
            <a:spLocks noGrp="1"/>
          </p:cNvSpPr>
          <p:nvPr>
            <p:ph type="body" idx="1"/>
          </p:nvPr>
        </p:nvSpPr>
        <p:spPr/>
        <p:txBody>
          <a:bodyPr/>
          <a:lstStyle/>
          <a:p>
            <a:r>
              <a:rPr kumimoji="1" lang="ja-JP" altLang="en-US"/>
              <a:t>図は</a:t>
            </a:r>
            <a:r>
              <a:rPr kumimoji="1" lang="en-US" altLang="ja-JP" dirty="0" err="1"/>
              <a:t>alian</a:t>
            </a:r>
            <a:r>
              <a:rPr kumimoji="1" lang="en-US" altLang="ja-JP" dirty="0"/>
              <a:t> 2011</a:t>
            </a:r>
            <a:r>
              <a:rPr kumimoji="1" lang="ja-JP" altLang="en-US"/>
              <a:t>をもとに作成。正しいと思われる。</a:t>
            </a:r>
            <a:endParaRPr kumimoji="1" lang="en-US" altLang="ja-JP" dirty="0"/>
          </a:p>
          <a:p>
            <a:r>
              <a:rPr kumimoji="1" lang="en-US" altLang="ja-JP" dirty="0"/>
              <a:t>Convertino 2017</a:t>
            </a:r>
            <a:r>
              <a:rPr kumimoji="1" lang="ja-JP" altLang="en-US"/>
              <a:t>はいらないかも</a:t>
            </a:r>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a:p>
            <a:r>
              <a:rPr kumimoji="1" lang="en-US" altLang="ja-JP" dirty="0"/>
              <a:t>Lower body negative pressure</a:t>
            </a:r>
            <a:r>
              <a:rPr kumimoji="1" lang="ja-JP" altLang="en-US"/>
              <a:t>で循環血液量減少を再現</a:t>
            </a:r>
          </a:p>
        </p:txBody>
      </p:sp>
      <p:sp>
        <p:nvSpPr>
          <p:cNvPr id="4" name="スライド番号プレースホルダー 3">
            <a:extLst>
              <a:ext uri="{FF2B5EF4-FFF2-40B4-BE49-F238E27FC236}">
                <a16:creationId xmlns:a16="http://schemas.microsoft.com/office/drawing/2014/main" id="{73990EA8-D8A6-2308-8452-2E530335823D}"/>
              </a:ext>
            </a:extLst>
          </p:cNvPr>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10102317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err="1"/>
              <a:t>末梢血管トーヌスの変化</a:t>
            </a:r>
            <a:r>
              <a:rPr dirty="0"/>
              <a:t> → </a:t>
            </a:r>
            <a:r>
              <a:rPr dirty="0" err="1"/>
              <a:t>反射波（拡張期波）の「高さ」が変わる</a:t>
            </a:r>
            <a:r>
              <a:rPr dirty="0"/>
              <a:t>。</a:t>
            </a:r>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27656728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F35B-AC06-D0E5-2069-705E0E4FFA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51186-2C79-8F62-0939-B8EF84F20B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70DBA-B8CB-E8F7-C405-16A294B01497}"/>
              </a:ext>
            </a:extLst>
          </p:cNvPr>
          <p:cNvSpPr>
            <a:spLocks noGrp="1"/>
          </p:cNvSpPr>
          <p:nvPr>
            <p:ph type="body" idx="1"/>
          </p:nvPr>
        </p:nvSpPr>
        <p:spPr/>
        <p:txBody>
          <a:bodyPr/>
          <a:lstStyle/>
          <a:p>
            <a:r>
              <a:t>後負荷を「末梢（SVR・血管トーヌス）」と「大血管（エラスタンス）」に分け、波形での出方が違うことを示す。</a:t>
            </a:r>
          </a:p>
          <a:p>
            <a:endParaRPr/>
          </a:p>
          <a:p>
            <a:r>
              <a:t>① SVR・血管トーヌス↑ → 反射波・切痕が「高く」なる（＝振幅の軸）</a:t>
            </a:r>
          </a:p>
          <a:p>
            <a:r>
              <a:t>② 大血管エラスタンス↑ → 反射波が「早く」帰る → 下降脚に変曲点（＝時相の軸）</a:t>
            </a:r>
          </a:p>
          <a:p>
            <a:endParaRPr/>
          </a:p>
          <a:p>
            <a:r>
              <a:t>裏づけ</a:t>
            </a:r>
          </a:p>
          <a:p>
            <a:r>
              <a:t>・Millasseau 2003（Am J Hypertens 16:467）：同一被験者で、RI は AII/GTN に用量依存性に反応するが</a:t>
            </a:r>
          </a:p>
          <a:p>
            <a:r>
              <a:t>　SI はほとんど動かない。逆に SI は年齢と強く相関（R=0.63）。＝2つの軸が実測で分離できることの直接証拠。</a:t>
            </a:r>
          </a:p>
          <a:p>
            <a:r>
              <a:t>・Millasseau 2002（Clin Sci 103:371）：SI_DVP が大動脈 PWV と相関し、加齢で ΔT が短縮（時相の軸）。</a:t>
            </a:r>
          </a:p>
          <a:p>
            <a:r>
              <a:t>・Dawber 1973（Angiology 24:244）：フラミンガム集団で、切痕の消え方（4分類）が加齢・冠動脈疾患と関連。</a:t>
            </a:r>
          </a:p>
          <a:p>
            <a:r>
              <a:t>・Cunningham 2023（Circ Genom Precis Med 16:e003676）：UK Biobank 17万例。切痕の平滑化が</a:t>
            </a:r>
          </a:p>
          <a:p>
            <a:r>
              <a:t>　高血圧・心筋梗塞/CAD・心不全・死亡と関連。②の軸が長期予後と結びつくことを大規模に示した。</a:t>
            </a:r>
          </a:p>
          <a:p>
            <a:r>
              <a:t>　→ ①②のうち「時相の軸」は2章（加齢・コホート）で扱った内容と地続きであることを、ここで明示する。</a:t>
            </a:r>
          </a:p>
          <a:p>
            <a:endParaRPr/>
          </a:p>
          <a:p>
            <a:r>
              <a:t>（Awad 2007 は引用から外した：SVR と相関したのは耳のパルス幅であり、反射波の高さ・時相の根拠ではない）</a:t>
            </a:r>
          </a:p>
        </p:txBody>
      </p:sp>
      <p:sp>
        <p:nvSpPr>
          <p:cNvPr id="4" name="スライド番号プレースホルダー 3">
            <a:extLst>
              <a:ext uri="{FF2B5EF4-FFF2-40B4-BE49-F238E27FC236}">
                <a16:creationId xmlns:a16="http://schemas.microsoft.com/office/drawing/2014/main" id="{0047E68D-42E0-3D83-3A48-E688B324C394}"/>
              </a:ext>
            </a:extLst>
          </p:cNvPr>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12462839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32</a:t>
            </a:fld>
            <a:endParaRPr kumimoji="1" lang="ja-JP" altLang="en-US"/>
          </a:p>
        </p:txBody>
      </p:sp>
    </p:spTree>
    <p:extLst>
      <p:ext uri="{BB962C8B-B14F-4D97-AF65-F5344CB8AC3E}">
        <p14:creationId xmlns:p14="http://schemas.microsoft.com/office/powerpoint/2010/main" val="20232551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err="1"/>
              <a:t>図＝Charlton</a:t>
            </a:r>
            <a:r>
              <a:rPr dirty="0"/>
              <a:t> 2019（Am J </a:t>
            </a:r>
            <a:r>
              <a:rPr dirty="0" err="1"/>
              <a:t>Physiol</a:t>
            </a:r>
            <a:r>
              <a:rPr dirty="0"/>
              <a:t> Heart Circ </a:t>
            </a:r>
            <a:r>
              <a:rPr dirty="0" err="1"/>
              <a:t>Physiol</a:t>
            </a:r>
            <a:r>
              <a:rPr dirty="0"/>
              <a:t> 317:H1062）Fig.3B </a:t>
            </a:r>
            <a:r>
              <a:rPr dirty="0" err="1"/>
              <a:t>の橈骨動脈</a:t>
            </a:r>
            <a:r>
              <a:rPr dirty="0"/>
              <a:t> PPG、HR </a:t>
            </a:r>
            <a:r>
              <a:rPr dirty="0" err="1"/>
              <a:t>の行</a:t>
            </a:r>
            <a:r>
              <a:rPr dirty="0"/>
              <a:t>。</a:t>
            </a:r>
          </a:p>
          <a:p>
            <a:r>
              <a:rPr dirty="0" err="1"/>
              <a:t>in-silico（計算モデル）の</a:t>
            </a:r>
            <a:r>
              <a:rPr dirty="0"/>
              <a:t> 25歳仮想被験者で、各パラメータを単独で ±1SD </a:t>
            </a:r>
            <a:r>
              <a:rPr dirty="0" err="1"/>
              <a:t>動かしたときの波形</a:t>
            </a:r>
            <a:r>
              <a:rPr dirty="0"/>
              <a:t>。</a:t>
            </a:r>
          </a:p>
          <a:p>
            <a:r>
              <a:rPr dirty="0" err="1"/>
              <a:t>凡例：青</a:t>
            </a:r>
            <a:r>
              <a:rPr dirty="0"/>
              <a:t>＝+1SD（高心拍）／</a:t>
            </a:r>
            <a:r>
              <a:rPr dirty="0" err="1"/>
              <a:t>黒＝基準／赤</a:t>
            </a:r>
            <a:r>
              <a:rPr dirty="0"/>
              <a:t>＝−1SD（低心拍）。</a:t>
            </a:r>
            <a:r>
              <a:rPr dirty="0" err="1"/>
              <a:t>原著の図凡例に</a:t>
            </a:r>
            <a:endParaRPr dirty="0"/>
          </a:p>
          <a:p>
            <a:r>
              <a:rPr dirty="0"/>
              <a:t>"at baseline (black), and those obtained when increasing (blue) and decreasing (red) each parameter</a:t>
            </a:r>
          </a:p>
          <a:p>
            <a:r>
              <a:rPr dirty="0"/>
              <a:t>independently by 1 SD" </a:t>
            </a:r>
            <a:r>
              <a:rPr dirty="0" err="1"/>
              <a:t>と明記されている</a:t>
            </a:r>
            <a:r>
              <a:rPr dirty="0"/>
              <a:t>。</a:t>
            </a:r>
          </a:p>
          <a:p>
            <a:endParaRPr dirty="0"/>
          </a:p>
          <a:p>
            <a:r>
              <a:rPr dirty="0"/>
              <a:t>図から読めること（2026-08 </a:t>
            </a:r>
            <a:r>
              <a:rPr dirty="0" err="1"/>
              <a:t>に原図で確認・修正</a:t>
            </a:r>
            <a:r>
              <a:rPr dirty="0"/>
              <a:t>）</a:t>
            </a:r>
          </a:p>
          <a:p>
            <a:r>
              <a:rPr dirty="0"/>
              <a:t>・</a:t>
            </a:r>
            <a:r>
              <a:rPr dirty="0" err="1"/>
              <a:t>周期：青が最短</a:t>
            </a:r>
            <a:r>
              <a:rPr dirty="0"/>
              <a:t>（〜0.72 s）、黒〜0.82 </a:t>
            </a:r>
            <a:r>
              <a:rPr dirty="0" err="1"/>
              <a:t>s、赤が最長</a:t>
            </a:r>
            <a:r>
              <a:rPr dirty="0"/>
              <a:t>（〜0.95 s）。＝</a:t>
            </a:r>
            <a:r>
              <a:rPr dirty="0" err="1"/>
              <a:t>青が高心拍で正しい</a:t>
            </a:r>
            <a:r>
              <a:rPr dirty="0"/>
              <a:t>。</a:t>
            </a:r>
          </a:p>
          <a:p>
            <a:r>
              <a:rPr dirty="0"/>
              <a:t>・</a:t>
            </a:r>
            <a:r>
              <a:rPr dirty="0" err="1"/>
              <a:t>拡張期（反射）ピークの相対的な高さ：青＜黒＜赤</a:t>
            </a:r>
            <a:r>
              <a:rPr dirty="0"/>
              <a:t>。</a:t>
            </a:r>
          </a:p>
          <a:p>
            <a:r>
              <a:rPr dirty="0"/>
              <a:t>　＝ HR </a:t>
            </a:r>
            <a:r>
              <a:rPr dirty="0" err="1"/>
              <a:t>が上がるほど、収縮期ピークで正規化した反射波成分は小さくなる（RI・AIx</a:t>
            </a:r>
            <a:r>
              <a:rPr dirty="0"/>
              <a:t> </a:t>
            </a:r>
            <a:r>
              <a:rPr dirty="0" err="1"/>
              <a:t>が下がる向き</a:t>
            </a:r>
            <a:r>
              <a:rPr dirty="0"/>
              <a:t>）。</a:t>
            </a:r>
          </a:p>
          <a:p>
            <a:r>
              <a:rPr dirty="0"/>
              <a:t>・</a:t>
            </a:r>
            <a:r>
              <a:rPr dirty="0" err="1"/>
              <a:t>切痕（谷）の深さ：青がいちばん深く、赤ではほぼ肩（プラト</a:t>
            </a:r>
            <a:r>
              <a:rPr dirty="0"/>
              <a:t>ー）</a:t>
            </a:r>
            <a:r>
              <a:rPr dirty="0" err="1"/>
              <a:t>になる</a:t>
            </a:r>
            <a:r>
              <a:rPr dirty="0"/>
              <a:t>。</a:t>
            </a:r>
          </a:p>
          <a:p>
            <a:r>
              <a:rPr dirty="0"/>
              <a:t>　</a:t>
            </a:r>
            <a:r>
              <a:rPr dirty="0" err="1"/>
              <a:t>高心拍で</a:t>
            </a:r>
            <a:r>
              <a:rPr dirty="0"/>
              <a:t> LVET </a:t>
            </a:r>
            <a:r>
              <a:rPr dirty="0" err="1"/>
              <a:t>が短縮し収縮期波が早く減衰するため、反射波が来る前に波形が下がりきる</a:t>
            </a:r>
            <a:r>
              <a:rPr dirty="0"/>
              <a:t>。</a:t>
            </a:r>
          </a:p>
          <a:p>
            <a:r>
              <a:rPr dirty="0"/>
              <a:t>　→ </a:t>
            </a:r>
            <a:r>
              <a:rPr dirty="0" err="1"/>
              <a:t>以前のノートにあった「高心拍で切痕は浅くなる」は原図と逆だったので訂正した</a:t>
            </a:r>
            <a:r>
              <a:rPr dirty="0"/>
              <a:t>。</a:t>
            </a:r>
          </a:p>
          <a:p>
            <a:endParaRPr dirty="0"/>
          </a:p>
          <a:p>
            <a:r>
              <a:rPr dirty="0" err="1"/>
              <a:t>心拍数が指標に与える影響（実測側</a:t>
            </a:r>
            <a:r>
              <a:rPr dirty="0"/>
              <a:t>）</a:t>
            </a:r>
          </a:p>
          <a:p>
            <a:r>
              <a:rPr dirty="0"/>
              <a:t>・Wilkinson 2000（J </a:t>
            </a:r>
            <a:r>
              <a:rPr dirty="0" err="1"/>
              <a:t>Physiol</a:t>
            </a:r>
            <a:r>
              <a:rPr dirty="0"/>
              <a:t> 525:263）：</a:t>
            </a:r>
            <a:r>
              <a:rPr dirty="0" err="1"/>
              <a:t>ペーシングで</a:t>
            </a:r>
            <a:r>
              <a:rPr dirty="0"/>
              <a:t> HR </a:t>
            </a:r>
            <a:r>
              <a:rPr dirty="0" err="1"/>
              <a:t>を上げると</a:t>
            </a:r>
            <a:r>
              <a:rPr dirty="0"/>
              <a:t> </a:t>
            </a:r>
            <a:r>
              <a:rPr dirty="0" err="1"/>
              <a:t>AIx</a:t>
            </a:r>
            <a:r>
              <a:rPr dirty="0"/>
              <a:t> </a:t>
            </a:r>
            <a:r>
              <a:rPr dirty="0" err="1"/>
              <a:t>はほぼ直線的に低下し</a:t>
            </a:r>
            <a:r>
              <a:rPr dirty="0"/>
              <a:t>、</a:t>
            </a:r>
          </a:p>
          <a:p>
            <a:r>
              <a:rPr dirty="0"/>
              <a:t>　+10 bpm </a:t>
            </a:r>
            <a:r>
              <a:rPr dirty="0" err="1"/>
              <a:t>あたり約</a:t>
            </a:r>
            <a:r>
              <a:rPr dirty="0"/>
              <a:t> −4%。</a:t>
            </a:r>
            <a:r>
              <a:rPr dirty="0" err="1"/>
              <a:t>ただしこれは中心・末梢の「圧」波形での検討</a:t>
            </a:r>
            <a:r>
              <a:rPr dirty="0"/>
              <a:t>。</a:t>
            </a:r>
          </a:p>
          <a:p>
            <a:r>
              <a:rPr dirty="0"/>
              <a:t>・Md Lazim 2020（Int J Environ Res Public Health 17:2591）：</a:t>
            </a:r>
            <a:r>
              <a:rPr dirty="0" err="1"/>
              <a:t>系統的レビュ</a:t>
            </a:r>
            <a:r>
              <a:rPr dirty="0"/>
              <a:t>ー。</a:t>
            </a:r>
            <a:r>
              <a:rPr dirty="0" err="1"/>
              <a:t>SI・RI・SDPPG（b</a:t>
            </a:r>
            <a:r>
              <a:rPr dirty="0"/>
              <a:t>/a, d/a, AGI）</a:t>
            </a:r>
          </a:p>
          <a:p>
            <a:r>
              <a:rPr dirty="0"/>
              <a:t>　</a:t>
            </a:r>
            <a:r>
              <a:rPr dirty="0" err="1"/>
              <a:t>はいずれも</a:t>
            </a:r>
            <a:r>
              <a:rPr dirty="0"/>
              <a:t> HR </a:t>
            </a:r>
            <a:r>
              <a:rPr dirty="0" err="1"/>
              <a:t>と関連し、PPG</a:t>
            </a:r>
            <a:r>
              <a:rPr dirty="0"/>
              <a:t> </a:t>
            </a:r>
            <a:r>
              <a:rPr dirty="0" err="1"/>
              <a:t>指標には</a:t>
            </a:r>
            <a:r>
              <a:rPr dirty="0"/>
              <a:t> HR 補正が必要（AIx@75 </a:t>
            </a:r>
            <a:r>
              <a:rPr dirty="0" err="1"/>
              <a:t>のような扱い</a:t>
            </a:r>
            <a:r>
              <a:rPr dirty="0"/>
              <a:t>）。</a:t>
            </a:r>
          </a:p>
          <a:p>
            <a:r>
              <a:rPr dirty="0"/>
              <a:t>　</a:t>
            </a:r>
            <a:r>
              <a:rPr dirty="0" err="1"/>
              <a:t>ただし本論文は「指標</a:t>
            </a:r>
            <a:r>
              <a:rPr dirty="0"/>
              <a:t> vs </a:t>
            </a:r>
            <a:r>
              <a:rPr dirty="0" err="1"/>
              <a:t>HR」を見ているだけで、波形そのものの形の変化は見ていない</a:t>
            </a:r>
            <a:r>
              <a:rPr dirty="0"/>
              <a:t>。</a:t>
            </a:r>
          </a:p>
          <a:p>
            <a:r>
              <a:rPr dirty="0"/>
              <a:t>・Hashimoto 2002（J </a:t>
            </a:r>
            <a:r>
              <a:rPr dirty="0" err="1"/>
              <a:t>Hypertens</a:t>
            </a:r>
            <a:r>
              <a:rPr dirty="0"/>
              <a:t> 20:2415）：HR </a:t>
            </a:r>
            <a:r>
              <a:rPr dirty="0" err="1"/>
              <a:t>が</a:t>
            </a:r>
            <a:r>
              <a:rPr dirty="0"/>
              <a:t> PWV </a:t>
            </a:r>
            <a:r>
              <a:rPr dirty="0" err="1"/>
              <a:t>とは独立に</a:t>
            </a:r>
            <a:r>
              <a:rPr dirty="0"/>
              <a:t> SDPPG </a:t>
            </a:r>
            <a:r>
              <a:rPr dirty="0" err="1"/>
              <a:t>指標と関連することを示す</a:t>
            </a:r>
            <a:r>
              <a:rPr dirty="0"/>
              <a:t>。</a:t>
            </a:r>
          </a:p>
          <a:p>
            <a:endParaRPr dirty="0"/>
          </a:p>
          <a:p>
            <a:r>
              <a:rPr dirty="0" err="1"/>
              <a:t>注意して話すこと</a:t>
            </a:r>
            <a:endParaRPr dirty="0"/>
          </a:p>
          <a:p>
            <a:r>
              <a:rPr dirty="0"/>
              <a:t>・</a:t>
            </a:r>
            <a:r>
              <a:rPr dirty="0" err="1"/>
              <a:t>波形の直接的な根拠は</a:t>
            </a:r>
            <a:r>
              <a:rPr dirty="0"/>
              <a:t> in-silico モデル1本（Charlton 2019）であり、ヒト指尖 PPG </a:t>
            </a:r>
            <a:r>
              <a:rPr dirty="0" err="1"/>
              <a:t>の実測ではない</a:t>
            </a:r>
            <a:r>
              <a:rPr dirty="0"/>
              <a:t>。</a:t>
            </a:r>
          </a:p>
          <a:p>
            <a:r>
              <a:rPr dirty="0"/>
              <a:t>・</a:t>
            </a:r>
            <a:r>
              <a:rPr dirty="0" err="1"/>
              <a:t>このモデルでは</a:t>
            </a:r>
            <a:r>
              <a:rPr dirty="0"/>
              <a:t> HR </a:t>
            </a:r>
            <a:r>
              <a:rPr dirty="0" err="1"/>
              <a:t>を変えると</a:t>
            </a:r>
            <a:r>
              <a:rPr dirty="0"/>
              <a:t> LVET </a:t>
            </a:r>
            <a:r>
              <a:rPr dirty="0" err="1"/>
              <a:t>も経験式で連動して変わるため</a:t>
            </a:r>
            <a:r>
              <a:rPr dirty="0"/>
              <a:t>、「</a:t>
            </a:r>
            <a:r>
              <a:rPr dirty="0" err="1"/>
              <a:t>純粋な</a:t>
            </a:r>
            <a:r>
              <a:rPr dirty="0"/>
              <a:t> HR </a:t>
            </a:r>
            <a:r>
              <a:rPr dirty="0" err="1"/>
              <a:t>効果」ではない</a:t>
            </a:r>
            <a:r>
              <a:rPr dirty="0"/>
              <a:t>。</a:t>
            </a:r>
          </a:p>
          <a:p>
            <a:r>
              <a:rPr dirty="0"/>
              <a:t>　CO＝HR×SV </a:t>
            </a:r>
            <a:r>
              <a:rPr dirty="0" err="1"/>
              <a:t>の関係を通じた血圧・PWV</a:t>
            </a:r>
            <a:r>
              <a:rPr dirty="0"/>
              <a:t> </a:t>
            </a:r>
            <a:r>
              <a:rPr dirty="0" err="1"/>
              <a:t>の変化も混じりうる</a:t>
            </a:r>
            <a:r>
              <a:rPr dirty="0"/>
              <a:t>。</a:t>
            </a:r>
          </a:p>
          <a:p>
            <a:r>
              <a:rPr dirty="0"/>
              <a:t>・</a:t>
            </a:r>
            <a:r>
              <a:rPr dirty="0" err="1"/>
              <a:t>実務上の結論は変わらない：SI・RI</a:t>
            </a:r>
            <a:r>
              <a:rPr dirty="0"/>
              <a:t> </a:t>
            </a:r>
            <a:r>
              <a:rPr dirty="0" err="1"/>
              <a:t>を経時比較するときは</a:t>
            </a:r>
            <a:r>
              <a:rPr dirty="0"/>
              <a:t> HR </a:t>
            </a:r>
            <a:r>
              <a:rPr dirty="0" err="1"/>
              <a:t>をそろえるか補正する</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33</a:t>
            </a:fld>
            <a:endParaRPr kumimoji="1" lang="ja-JP" altLang="en-US"/>
          </a:p>
        </p:txBody>
      </p:sp>
    </p:spTree>
    <p:extLst>
      <p:ext uri="{BB962C8B-B14F-4D97-AF65-F5344CB8AC3E}">
        <p14:creationId xmlns:p14="http://schemas.microsoft.com/office/powerpoint/2010/main" val="31899290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後負荷の影響を検討するには反射波に注目</a:t>
            </a:r>
          </a:p>
          <a:p>
            <a:r>
              <a:t>反射波のタイミングはスティフネスの影響を受け、振幅の高さは末梢血管トーヌスの影響を受ける</a:t>
            </a:r>
          </a:p>
          <a:p>
            <a:r>
              <a:t>ただし、HRによる影響を補正しておく必要がある</a:t>
            </a:r>
          </a:p>
          <a:p/>
          <a:p>
            <a:r>
              <a:t>【心拍数の文献強度について】</a:t>
            </a:r>
          </a:p>
          <a:p>
            <a:r>
              <a:t>心拍数による波形変化の直接の根拠は Charlton 2019 の in-silico（計算モデル）データであり、ヒト指尖PPGの実測で波形そのものの変化を示した研究ではない。したがって文献強度は「実測」ではなく「モデル」と表記する。</a:t>
            </a:r>
          </a:p>
          <a:p>
            <a:r>
              <a:t>なお実測側にあるのは「指標 vs 心拍数」の関連（Wilkinson 2000＝圧波形の AIx、Md Lazim 2020＝PPG指標の系統レビュー、Hashimoto 2002＝SDPPG指標）であって、波形の形の変化ではない。</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34</a:t>
            </a:fld>
            <a:endParaRPr kumimoji="1" lang="ja-JP" altLang="en-US"/>
          </a:p>
        </p:txBody>
      </p:sp>
    </p:spTree>
    <p:extLst>
      <p:ext uri="{BB962C8B-B14F-4D97-AF65-F5344CB8AC3E}">
        <p14:creationId xmlns:p14="http://schemas.microsoft.com/office/powerpoint/2010/main" val="38657997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麻酔薬</a:t>
            </a:r>
            <a:r>
              <a:rPr kumimoji="1" lang="en-US" altLang="ja-JP" dirty="0"/>
              <a:t>【</a:t>
            </a:r>
            <a:r>
              <a:rPr kumimoji="1" lang="ja-JP" altLang="en-US"/>
              <a:t>イソフルラン</a:t>
            </a:r>
            <a:r>
              <a:rPr kumimoji="1" lang="en-US" altLang="ja-JP" dirty="0"/>
              <a:t>】</a:t>
            </a:r>
            <a:r>
              <a:rPr kumimoji="1" lang="ja-JP" altLang="en-US"/>
              <a:t>による血管拡張</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a:t>
            </a:r>
            <a:r>
              <a:rPr kumimoji="1" lang="en-US" altLang="ja-JP" sz="1200" kern="1200" dirty="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切痕がベースライン上にあると、これら薬はそれ以上血圧を下げず回復を遅らせるだけ</a:t>
            </a:r>
            <a:r>
              <a:rPr lang="ja-JP" altLang="ja-JP">
                <a:effectLst/>
              </a:rPr>
              <a:t> </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37</a:t>
            </a:fld>
            <a:endParaRPr kumimoji="1" lang="ja-JP" altLang="en-US"/>
          </a:p>
        </p:txBody>
      </p:sp>
    </p:spTree>
    <p:extLst>
      <p:ext uri="{BB962C8B-B14F-4D97-AF65-F5344CB8AC3E}">
        <p14:creationId xmlns:p14="http://schemas.microsoft.com/office/powerpoint/2010/main" val="42232436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1CB0-CE00-1CA1-E7F7-7EEDB009DC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2D14D-20B6-BBF4-A9E2-BD253587BB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7221BC-444F-B749-73D8-7FAB73FB3F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rgbClr val="8C8C8C"/>
                </a:solidFill>
                <a:latin typeface="Meiryo"/>
                <a:ea typeface="Meiryo"/>
                <a:cs typeface="Meiryo"/>
              </a:rPr>
              <a:t>切痕位置（</a:t>
            </a:r>
            <a:r>
              <a:rPr lang="en" altLang="ja-JP" sz="1200" b="0" dirty="0">
                <a:solidFill>
                  <a:srgbClr val="8C8C8C"/>
                </a:solidFill>
                <a:latin typeface="Meiryo"/>
                <a:ea typeface="Meiryo"/>
                <a:cs typeface="Meiryo"/>
              </a:rPr>
              <a:t>I:</a:t>
            </a:r>
            <a:r>
              <a:rPr lang="ja-JP" altLang="en-US" sz="1200" b="0">
                <a:solidFill>
                  <a:srgbClr val="8C8C8C"/>
                </a:solidFill>
                <a:latin typeface="Meiryo"/>
                <a:ea typeface="Meiryo"/>
                <a:cs typeface="Meiryo"/>
              </a:rPr>
              <a:t>収縮期ピークに融合 → </a:t>
            </a:r>
            <a:r>
              <a:rPr lang="en" altLang="ja-JP" sz="1200" b="0" dirty="0">
                <a:solidFill>
                  <a:srgbClr val="8C8C8C"/>
                </a:solidFill>
                <a:latin typeface="Meiryo"/>
                <a:ea typeface="Meiryo"/>
                <a:cs typeface="Meiryo"/>
              </a:rPr>
              <a:t>VI:</a:t>
            </a:r>
            <a:r>
              <a:rPr lang="ja-JP" altLang="en-US" sz="1200" b="0">
                <a:solidFill>
                  <a:srgbClr val="8C8C8C"/>
                </a:solidFill>
                <a:latin typeface="Meiryo"/>
                <a:ea typeface="Meiryo"/>
                <a:cs typeface="Meiryo"/>
              </a:rPr>
              <a:t>陰性）</a:t>
            </a:r>
            <a:r>
              <a:rPr lang="en-US" altLang="ja-JP" sz="1200" b="0" dirty="0">
                <a:solidFill>
                  <a:srgbClr val="8C8C8C"/>
                </a:solidFill>
                <a:latin typeface="Meiryo"/>
                <a:ea typeface="Meiryo"/>
                <a:cs typeface="Meiryo"/>
              </a:rPr>
              <a:t>× </a:t>
            </a:r>
            <a:r>
              <a:rPr lang="ja-JP" altLang="en-US" sz="1200" b="0">
                <a:solidFill>
                  <a:srgbClr val="8C8C8C"/>
                </a:solidFill>
                <a:latin typeface="Meiryo"/>
                <a:ea typeface="Meiryo"/>
                <a:cs typeface="Meiryo"/>
              </a:rPr>
              <a:t>振幅 で</a:t>
            </a:r>
            <a:r>
              <a:rPr lang="en-US" altLang="ja-JP" sz="1200" b="0" dirty="0">
                <a:solidFill>
                  <a:srgbClr val="8C8C8C"/>
                </a:solidFill>
                <a:latin typeface="Meiryo"/>
                <a:ea typeface="Meiryo"/>
                <a:cs typeface="Meiryo"/>
              </a:rPr>
              <a:t>6</a:t>
            </a:r>
            <a:r>
              <a:rPr lang="ja-JP" altLang="en-US" sz="1200" b="0">
                <a:solidFill>
                  <a:srgbClr val="8C8C8C"/>
                </a:solidFill>
                <a:latin typeface="Meiryo"/>
                <a:ea typeface="Meiryo"/>
                <a:cs typeface="Meiryo"/>
              </a:rPr>
              <a:t>分類。</a:t>
            </a:r>
            <a:r>
              <a:rPr lang="en" altLang="ja-JP" sz="1200" b="0" dirty="0">
                <a:solidFill>
                  <a:srgbClr val="8C8C8C"/>
                </a:solidFill>
                <a:latin typeface="Meiryo"/>
                <a:ea typeface="Meiryo"/>
                <a:cs typeface="Meiryo"/>
              </a:rPr>
              <a:t>SBP</a:t>
            </a:r>
            <a:r>
              <a:rPr lang="ja-JP" altLang="en" sz="1200" b="0">
                <a:solidFill>
                  <a:srgbClr val="8C8C8C"/>
                </a:solidFill>
                <a:latin typeface="Meiryo"/>
                <a:ea typeface="Meiryo"/>
                <a:cs typeface="Meiryo"/>
              </a:rPr>
              <a:t>・</a:t>
            </a:r>
            <a:r>
              <a:rPr lang="en" altLang="ja-JP" sz="1200" b="0" dirty="0">
                <a:solidFill>
                  <a:srgbClr val="8C8C8C"/>
                </a:solidFill>
                <a:latin typeface="Meiryo"/>
                <a:ea typeface="Meiryo"/>
                <a:cs typeface="Meiryo"/>
              </a:rPr>
              <a:t>SVR</a:t>
            </a:r>
            <a:r>
              <a:rPr lang="ja-JP" altLang="en" sz="1200" b="0">
                <a:solidFill>
                  <a:srgbClr val="8C8C8C"/>
                </a:solidFill>
                <a:latin typeface="Meiryo"/>
                <a:ea typeface="Meiryo"/>
                <a:cs typeface="Meiryo"/>
              </a:rPr>
              <a:t>・</a:t>
            </a:r>
            <a:r>
              <a:rPr lang="ja-JP" altLang="en-US" sz="1200" b="0">
                <a:solidFill>
                  <a:srgbClr val="8C8C8C"/>
                </a:solidFill>
                <a:latin typeface="Meiryo"/>
                <a:ea typeface="Meiryo"/>
                <a:cs typeface="Meiryo"/>
              </a:rPr>
              <a:t>コンプライアンスと相関 </a:t>
            </a:r>
            <a:r>
              <a:rPr lang="en-US" altLang="ja-JP" sz="1200" b="0" dirty="0">
                <a:solidFill>
                  <a:srgbClr val="8C8C8C"/>
                </a:solidFill>
                <a:latin typeface="Meiryo"/>
                <a:ea typeface="Meiryo"/>
                <a:cs typeface="Meiryo"/>
              </a:rPr>
              <a:t>(</a:t>
            </a:r>
            <a:r>
              <a:rPr lang="en" altLang="ja-JP" sz="1200" b="0" dirty="0" err="1">
                <a:solidFill>
                  <a:srgbClr val="8C8C8C"/>
                </a:solidFill>
                <a:latin typeface="Meiryo"/>
                <a:ea typeface="Meiryo"/>
                <a:cs typeface="Meiryo"/>
              </a:rPr>
              <a:t>Tusman</a:t>
            </a:r>
            <a:r>
              <a:rPr lang="en" altLang="ja-JP" sz="1200" b="0" dirty="0">
                <a:solidFill>
                  <a:srgbClr val="8C8C8C"/>
                </a:solidFill>
                <a:latin typeface="Meiryo"/>
                <a:ea typeface="Meiryo"/>
                <a:cs typeface="Meiryo"/>
              </a:rPr>
              <a:t> 2019)</a:t>
            </a:r>
          </a:p>
          <a:p>
            <a:r>
              <a:rPr kumimoji="1" lang="en-US" altLang="ja-JP" dirty="0"/>
              <a:t>CABG</a:t>
            </a:r>
            <a:r>
              <a:rPr kumimoji="1" lang="ja-JP" altLang="en-US"/>
              <a:t>症例</a:t>
            </a:r>
          </a:p>
        </p:txBody>
      </p:sp>
      <p:sp>
        <p:nvSpPr>
          <p:cNvPr id="4" name="スライド番号プレースホルダー 3">
            <a:extLst>
              <a:ext uri="{FF2B5EF4-FFF2-40B4-BE49-F238E27FC236}">
                <a16:creationId xmlns:a16="http://schemas.microsoft.com/office/drawing/2014/main" id="{1E303018-0FDD-B4D9-C12E-E63C06E75F2E}"/>
              </a:ext>
            </a:extLst>
          </p:cNvPr>
          <p:cNvSpPr>
            <a:spLocks noGrp="1"/>
          </p:cNvSpPr>
          <p:nvPr>
            <p:ph type="sldNum" sz="quarter" idx="5"/>
          </p:nvPr>
        </p:nvSpPr>
        <p:spPr/>
        <p:txBody>
          <a:bodyPr/>
          <a:lstStyle/>
          <a:p>
            <a:fld id="{4368CECF-0771-D84F-8D42-085DB944B0B8}" type="slidenum">
              <a:rPr kumimoji="1" lang="ja-JP" altLang="en-US" smtClean="0"/>
              <a:t>38</a:t>
            </a:fld>
            <a:endParaRPr kumimoji="1" lang="ja-JP" altLang="en-US"/>
          </a:p>
        </p:txBody>
      </p:sp>
    </p:spTree>
    <p:extLst>
      <p:ext uri="{BB962C8B-B14F-4D97-AF65-F5344CB8AC3E}">
        <p14:creationId xmlns:p14="http://schemas.microsoft.com/office/powerpoint/2010/main" val="2658116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DBC6A-855F-ECC0-16A4-27C83F4855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2CA2A9-51E7-5D66-5655-CFBCD1891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4DA03C-6146-5E28-C8F1-6A40300213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2E5A7203-CDF8-EF8E-5625-F74E3657F8EC}"/>
              </a:ext>
            </a:extLst>
          </p:cNvPr>
          <p:cNvSpPr>
            <a:spLocks noGrp="1"/>
          </p:cNvSpPr>
          <p:nvPr>
            <p:ph type="sldNum" sz="quarter" idx="5"/>
          </p:nvPr>
        </p:nvSpPr>
        <p:spPr/>
        <p:txBody>
          <a:bodyPr/>
          <a:lstStyle/>
          <a:p>
            <a:fld id="{4368CECF-0771-D84F-8D42-085DB944B0B8}" type="slidenum">
              <a:rPr kumimoji="1" lang="ja-JP" altLang="en-US" smtClean="0"/>
              <a:t>39</a:t>
            </a:fld>
            <a:endParaRPr kumimoji="1" lang="ja-JP" altLang="en-US"/>
          </a:p>
        </p:txBody>
      </p:sp>
    </p:spTree>
    <p:extLst>
      <p:ext uri="{BB962C8B-B14F-4D97-AF65-F5344CB8AC3E}">
        <p14:creationId xmlns:p14="http://schemas.microsoft.com/office/powerpoint/2010/main" val="12901608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SI（stiffness</a:t>
            </a:r>
            <a:r>
              <a:rPr dirty="0"/>
              <a:t> index）＝ </a:t>
            </a:r>
            <a:r>
              <a:rPr dirty="0" err="1"/>
              <a:t>身長</a:t>
            </a:r>
            <a:r>
              <a:rPr dirty="0"/>
              <a:t> ÷ ΔT。</a:t>
            </a:r>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RI（reflection</a:t>
            </a:r>
            <a:r>
              <a:rPr dirty="0"/>
              <a:t> index）＝ P2 ÷ P1（％</a:t>
            </a:r>
            <a:r>
              <a:rPr dirty="0" err="1"/>
              <a:t>で表す</a:t>
            </a:r>
            <a:r>
              <a:rPr dirty="0"/>
              <a:t>）。</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67BE-0EB2-F075-6441-E26E76CAA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97D34-3E29-96DB-D929-66F5810CBA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162AA1-DD8A-A287-EFCA-A13CA9595ADE}"/>
              </a:ext>
            </a:extLst>
          </p:cNvPr>
          <p:cNvSpPr>
            <a:spLocks noGrp="1"/>
          </p:cNvSpPr>
          <p:nvPr>
            <p:ph type="body" sz="quarter" idx="3"/>
          </p:nvPr>
        </p:nvSpPr>
        <p:spPr/>
        <p:txBody>
          <a:bodyPr/>
          <a:lstStyle/>
          <a:p>
            <a:r>
              <a:t>5.2 の2枚目。RI を使うときに必ず断らなければならない交絡＝心拍数（HR）。</a:t>
            </a:r>
          </a:p>
          <a:p/>
          <a:p>
            <a:r>
              <a:t>なぜ HR で動くのか</a:t>
            </a:r>
          </a:p>
          <a:p>
            <a:r>
              <a:t>・HR が上がると拡張期が短くなり、左室駆出時間（LVET）も短縮する。</a:t>
            </a:r>
          </a:p>
          <a:p>
            <a:r>
              <a:t>・収縮期波が早く減衰するため、反射波が戻ってきたときには基準となる収縮期ピークが</a:t>
            </a:r>
          </a:p>
          <a:p>
            <a:r>
              <a:t>　すでに下がっており、収縮期ピークで正規化した反射波成分（＝P2/P1＝RI）は小さくなる。</a:t>
            </a:r>
          </a:p>
          <a:p>
            <a:r>
              <a:t>・Charlton 2019 の in-silico データ（25歳仮想被験者、各パラメータ ±1SD）でも、</a:t>
            </a:r>
          </a:p>
          <a:p>
            <a:r>
              <a:t>　HR +1SD で拡張期（反射）ピークの相対的な高さは低下し、切痕は深く早くなる。</a:t>
            </a:r>
          </a:p>
          <a:p/>
          <a:p>
            <a:r>
              <a:t>実測でどこまで言えるか</a:t>
            </a:r>
          </a:p>
          <a:p>
            <a:r>
              <a:t>・Md Lazim MR, et al. Is heart rate a confounding factor for photoplethysmography markers?</a:t>
            </a:r>
          </a:p>
          <a:p>
            <a:r>
              <a:t>　A systematic review. Int J Environ Res Public Health 2020;17:2591.</a:t>
            </a:r>
          </a:p>
          <a:p>
            <a:r>
              <a:t>　1960件から選択基準を満たした6編を採択。SI・RI・SDPPG（b/a, d/a, AGI, RAGI）はいずれも</a:t>
            </a:r>
          </a:p>
          <a:p>
            <a:r>
              <a:t>　HR と関連したが、関連が「相当程度（considerable）」だったのは RI のみ。</a:t>
            </a:r>
          </a:p>
          <a:p>
            <a:r>
              <a:t>　SI と HR の関連は non-considerable、HR と SDPPG の関連は inconclusive と結論している。</a:t>
            </a:r>
          </a:p>
          <a:p>
            <a:r>
              <a:t>　→ 心拍数が大きく動く周術期では、振幅比である RI のほうが時間指標の SI より交絡を受けやすい。</a:t>
            </a:r>
          </a:p>
          <a:p>
            <a:r>
              <a:t>・Wilkinson IB, et al. J Physiol 2000;525:263–70.</a:t>
            </a:r>
          </a:p>
          <a:p>
            <a:r>
              <a:t>　恒久ペースメーカ植込み患者22名（平均63歳）を 60→110 bpm でペーシングし、</a:t>
            </a:r>
          </a:p>
          <a:p>
            <a:r>
              <a:t>　AIx と HR に有意な負の直線関係（r = −0.76、P&lt;0.001）、HR 10 bpm 増あたり AIx 約 −4%。</a:t>
            </a:r>
          </a:p>
          <a:p>
            <a:r>
              <a:t>　ただしこれは中心・末梢の「圧」波形での検討である。</a:t>
            </a:r>
          </a:p>
          <a:p>
            <a:r>
              <a:t>・Hashimoto J, et al. J Hypertens 2002;20:2415–22.</a:t>
            </a:r>
          </a:p>
          <a:p>
            <a:r>
              <a:t>　治療中高血圧294名で、HR は SDPTG の d/a・AGI と負、b/a と正に相関した。</a:t>
            </a:r>
          </a:p>
          <a:p/>
          <a:p>
            <a:r>
              <a:t>実務上どうするか</a:t>
            </a:r>
          </a:p>
          <a:p>
            <a:r>
              <a:t>・圧波形の AIx には「AIx@75」（75 bpm に標準化）という確立した補正法があるが、</a:t>
            </a:r>
          </a:p>
          <a:p>
            <a:r>
              <a:t>　指尖 PPG の RI について確立した補正式はない。勝手に AIx@75 の係数を流用しないこと。</a:t>
            </a:r>
          </a:p>
          <a:p>
            <a:r>
              <a:t>・したがって現実解は次の3つ。</a:t>
            </a:r>
          </a:p>
          <a:p>
            <a:r>
              <a:t>　① 経時比較では測定時の HR をそろえる（同じ深度・同じ薬剤条件で比較する）。</a:t>
            </a:r>
          </a:p>
          <a:p>
            <a:r>
              <a:t>　② RI の値は必ず HR とセットで記録・提示する。</a:t>
            </a:r>
          </a:p>
          <a:p>
            <a:r>
              <a:t>　③ HR が大きく動く場面（導入直後、昇圧薬投与直後など）の RI 変化は、トーヌス変化と</a:t>
            </a:r>
          </a:p>
          <a:p>
            <a:r>
              <a:t>　　断定せず「HR の寄与が混じる」と明示する。</a:t>
            </a:r>
          </a:p>
          <a:p>
            <a:r>
              <a:t>・SI（＝身長÷ΔT、時間指標）は HR の影響が相対的に小さいとされるが、無関係ではない。</a:t>
            </a:r>
          </a:p>
          <a:p/>
        </p:txBody>
      </p:sp>
      <p:sp>
        <p:nvSpPr>
          <p:cNvPr id="4" name="Slide Number Placeholder 3">
            <a:extLst>
              <a:ext uri="{FF2B5EF4-FFF2-40B4-BE49-F238E27FC236}">
                <a16:creationId xmlns:a16="http://schemas.microsoft.com/office/drawing/2014/main" id="{9D43537F-5F77-CEFE-AF5F-E06DE831A5AA}"/>
              </a:ext>
            </a:extLst>
          </p:cNvPr>
          <p:cNvSpPr>
            <a:spLocks noGrp="1"/>
          </p:cNvSpPr>
          <p:nvPr>
            <p:ph type="sldNum" sz="quarter" idx="5"/>
          </p:nvPr>
        </p:nvSpPr>
        <p:spPr/>
      </p:sp>
    </p:spTree>
    <p:extLst>
      <p:ext uri="{BB962C8B-B14F-4D97-AF65-F5344CB8AC3E}">
        <p14:creationId xmlns:p14="http://schemas.microsoft.com/office/powerpoint/2010/main" val="2708188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F680-1AF7-27A2-6E26-FA391AFDC7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5936F0-B182-F864-0D92-28F29E275F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9A86F4-E3C4-8497-E2A0-5435CE526A90}"/>
              </a:ext>
            </a:extLst>
          </p:cNvPr>
          <p:cNvSpPr>
            <a:spLocks noGrp="1"/>
          </p:cNvSpPr>
          <p:nvPr>
            <p:ph type="body" idx="1"/>
          </p:nvPr>
        </p:nvSpPr>
        <p:spPr/>
        <p:txBody>
          <a:bodyPr/>
          <a:lstStyle/>
          <a:p>
            <a:r>
              <a:t>読み方は2軸に整理する。左＝慢性（反射・スティフネス軸）、右＝急性（血管トーヌス軸）。</a:t>
            </a:r>
          </a:p>
          <a:p>
            <a:endParaRPr/>
          </a:p>
          <a:p>
            <a:r>
              <a:t>【左軸に足した一行：SI は血圧に強く依存する】</a:t>
            </a:r>
          </a:p>
          <a:p>
            <a:r>
              <a:t>SI は「大動脈 PWV の代用」だが、PWV 自体が測定時の伸展圧（血圧）に強く依存する。</a:t>
            </a:r>
          </a:p>
          <a:p>
            <a:r>
              <a:t>・機序：低い血圧では壁の張力をエラスチンが負担するが、血圧が上がるほど、より硬いコラーゲンが</a:t>
            </a:r>
          </a:p>
          <a:p>
            <a:r>
              <a:t>　荷重を担うようになる（Charlton 2022 VascAgeNet 総説, Am J Physiol Heart Circ Physiol 322:H493）。</a:t>
            </a:r>
          </a:p>
          <a:p>
            <a:r>
              <a:t>　つまり同じ血管でも「今の血圧」が高いほど硬く測れる。</a:t>
            </a:r>
          </a:p>
          <a:p>
            <a:r>
              <a:t>・降圧治療のメタ解析：PWV の低下は平均血圧 −10 mmHg あたり −0.65 m/s（95%CI −0.46〜−0.83）で、</a:t>
            </a:r>
          </a:p>
          <a:p>
            <a:r>
              <a:t>　これは経壁圧を急性に変えたときの変化とほぼ同じ大きさ。＝治療による PWV 低下の大部分は</a:t>
            </a:r>
          </a:p>
          <a:p>
            <a:r>
              <a:t>　血圧低下で説明される（McNally R, et al. Hypertension 2024）。</a:t>
            </a:r>
          </a:p>
          <a:p>
            <a:r>
              <a:t>・昇圧薬による急性変化：L-NMMA・ノルアドレナリン・ドブタミンで cf-PWV を動かすと、その変化量は</a:t>
            </a:r>
          </a:p>
          <a:p>
            <a:r>
              <a:t>　平均血圧の変化量とほぼ完全に相関した（R&gt;0.99, P&lt;0.0001）（Stewart AD, Millasseau SC, et al.</a:t>
            </a:r>
          </a:p>
          <a:p>
            <a:r>
              <a:t>　Hypertension 2003;42:915）。</a:t>
            </a:r>
          </a:p>
          <a:p>
            <a:r>
              <a:t>・指尖 PPG で直接見た研究：健常者で SI は収縮期・拡張期血圧と有意に相関したが、RI はどちらとも</a:t>
            </a:r>
          </a:p>
          <a:p>
            <a:r>
              <a:t>　相関しなかった（Padilla JM, et al. Cardiovasc Eng 2009;9:104）。</a:t>
            </a:r>
          </a:p>
          <a:p>
            <a:r>
              <a:t>　＝「SI は血圧側、RI はトーヌス側」という 2軸の分担と整合する。</a:t>
            </a:r>
          </a:p>
          <a:p>
            <a:endParaRPr/>
          </a:p>
          <a:p>
            <a:r>
              <a:t>→ 読み替え：術中に SI が短時間で動いたら、それは「血管が硬くなった」のではなく</a:t>
            </a:r>
          </a:p>
          <a:p>
            <a:r>
              <a:t>　「血圧が変わった」を見ている可能性が高い。硬さの指標としては弱点だが、</a:t>
            </a:r>
          </a:p>
          <a:p>
            <a:r>
              <a:t>　裏返せば SI（＝時相の軸）は血圧トレンドのモニターとして使える余地がある、という言い方ができる。</a:t>
            </a:r>
          </a:p>
          <a:p>
            <a:endParaRPr/>
          </a:p>
          <a:p>
            <a:r>
              <a:t>【慎重に言うべきこと】</a:t>
            </a:r>
          </a:p>
          <a:p>
            <a:r>
              <a:t>・Millasseau 2003（Am J Hypertens 16:467）では、SI_DVP はアンジオテンシンII・GTN でほとんど動かなかった。</a:t>
            </a:r>
          </a:p>
          <a:p>
            <a:r>
              <a:t>　薬剤ごとに「血圧を上げても大動脈の見かけの硬さは動かない」ことがあり、SI ＝ 血圧、と単純化はできない。</a:t>
            </a:r>
          </a:p>
          <a:p>
            <a:r>
              <a:t>・SI 自体が cf-PWV の代用として個人単位では不十分（r≈0.65、Bland–Altman ±4 m/s 程度、Millasseau 2002）。</a:t>
            </a:r>
          </a:p>
          <a:p>
            <a:r>
              <a:t>・したがって「血圧トレンドの指標にもなりうる（かもしれない）」という仮説として提示し、</a:t>
            </a:r>
          </a:p>
          <a:p>
            <a:r>
              <a:t>　絶対値ではなく同一患者内の相対変化として扱う、という限定を必ず添える。</a:t>
            </a:r>
          </a:p>
          <a:p>
            <a:endParaRPr/>
          </a:p>
          <a:p>
            <a:r>
              <a:t>（加齢性変化については Allen 2020 doi:10.1088/1361-6579/ab9b67、AIx は Pilt 2014 も参照）</a:t>
            </a:r>
          </a:p>
        </p:txBody>
      </p:sp>
      <p:sp>
        <p:nvSpPr>
          <p:cNvPr id="4" name="スライド番号プレースホルダー 3">
            <a:extLst>
              <a:ext uri="{FF2B5EF4-FFF2-40B4-BE49-F238E27FC236}">
                <a16:creationId xmlns:a16="http://schemas.microsoft.com/office/drawing/2014/main" id="{B9E26898-7377-D0F3-B712-B35D976C1465}"/>
              </a:ext>
            </a:extLst>
          </p:cNvPr>
          <p:cNvSpPr>
            <a:spLocks noGrp="1"/>
          </p:cNvSpPr>
          <p:nvPr>
            <p:ph type="sldNum" sz="quarter" idx="5"/>
          </p:nvPr>
        </p:nvSpPr>
        <p:spPr/>
        <p:txBody>
          <a:bodyPr/>
          <a:lstStyle/>
          <a:p>
            <a:fld id="{4368CECF-0771-D84F-8D42-085DB944B0B8}" type="slidenum">
              <a:rPr kumimoji="1" lang="ja-JP" altLang="en-US" smtClean="0"/>
              <a:t>47</a:t>
            </a:fld>
            <a:endParaRPr kumimoji="1" lang="ja-JP" altLang="en-US"/>
          </a:p>
        </p:txBody>
      </p:sp>
    </p:spTree>
    <p:extLst>
      <p:ext uri="{BB962C8B-B14F-4D97-AF65-F5344CB8AC3E}">
        <p14:creationId xmlns:p14="http://schemas.microsoft.com/office/powerpoint/2010/main" val="19885354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本手法の最大の実務的な壁は、SpO</a:t>
            </a:r>
            <a:r>
              <a:rPr dirty="0"/>
              <a:t>₂ </a:t>
            </a:r>
            <a:r>
              <a:rPr dirty="0" err="1"/>
              <a:t>波形の反射波が「いくつ・どこに出るか」が一定しないこと</a:t>
            </a:r>
            <a:r>
              <a:rPr dirty="0"/>
              <a:t>。</a:t>
            </a:r>
          </a:p>
          <a:p>
            <a:r>
              <a:rPr dirty="0"/>
              <a:t>・</a:t>
            </a:r>
            <a:r>
              <a:rPr dirty="0" err="1"/>
              <a:t>若年・低トーヌスでは反射波が</a:t>
            </a:r>
            <a:r>
              <a:rPr dirty="0"/>
              <a:t> 2 </a:t>
            </a:r>
            <a:r>
              <a:rPr dirty="0" err="1"/>
              <a:t>つ見えることがあり、どちらを</a:t>
            </a:r>
            <a:r>
              <a:rPr dirty="0"/>
              <a:t> P2 </a:t>
            </a:r>
            <a:r>
              <a:rPr dirty="0" err="1"/>
              <a:t>とするかが決まらない</a:t>
            </a:r>
            <a:endParaRPr dirty="0"/>
          </a:p>
          <a:p>
            <a:r>
              <a:rPr dirty="0"/>
              <a:t>・</a:t>
            </a:r>
            <a:r>
              <a:rPr dirty="0" err="1"/>
              <a:t>典型例では反射波が</a:t>
            </a:r>
            <a:r>
              <a:rPr dirty="0"/>
              <a:t> 1 </a:t>
            </a:r>
            <a:r>
              <a:rPr dirty="0" err="1"/>
              <a:t>つで、重複切痕も明瞭に取れる</a:t>
            </a:r>
            <a:endParaRPr dirty="0"/>
          </a:p>
          <a:p>
            <a:r>
              <a:rPr dirty="0"/>
              <a:t>・大動脈が硬い（高齢・高スティフネス）と反射波が収縮期ピークに融合し、P2 </a:t>
            </a:r>
            <a:r>
              <a:rPr dirty="0" err="1"/>
              <a:t>という「点」が</a:t>
            </a:r>
            <a:endParaRPr dirty="0"/>
          </a:p>
          <a:p>
            <a:r>
              <a:rPr dirty="0"/>
              <a:t>　</a:t>
            </a:r>
            <a:r>
              <a:rPr dirty="0" err="1"/>
              <a:t>そもそも存在しなくなる</a:t>
            </a:r>
            <a:endParaRPr dirty="0"/>
          </a:p>
          <a:p>
            <a:r>
              <a:rPr dirty="0"/>
              <a:t>・</a:t>
            </a:r>
            <a:r>
              <a:rPr dirty="0" err="1"/>
              <a:t>過減衰・DN-less</a:t>
            </a:r>
            <a:r>
              <a:rPr dirty="0"/>
              <a:t> </a:t>
            </a:r>
            <a:r>
              <a:rPr dirty="0" err="1"/>
              <a:t>の信号では切痕そのものが消える</a:t>
            </a:r>
            <a:endParaRPr dirty="0"/>
          </a:p>
          <a:p>
            <a:r>
              <a:rPr dirty="0"/>
              <a:t>SI </a:t>
            </a:r>
            <a:r>
              <a:rPr dirty="0" err="1"/>
              <a:t>も</a:t>
            </a:r>
            <a:r>
              <a:rPr dirty="0"/>
              <a:t> RI </a:t>
            </a:r>
            <a:r>
              <a:rPr dirty="0" err="1"/>
              <a:t>も</a:t>
            </a:r>
            <a:r>
              <a:rPr dirty="0"/>
              <a:t> </a:t>
            </a:r>
            <a:r>
              <a:rPr dirty="0" err="1"/>
              <a:t>AIx</a:t>
            </a:r>
            <a:r>
              <a:rPr dirty="0"/>
              <a:t> も「P1 </a:t>
            </a:r>
            <a:r>
              <a:rPr dirty="0" err="1"/>
              <a:t>と</a:t>
            </a:r>
            <a:r>
              <a:rPr dirty="0"/>
              <a:t> P2 </a:t>
            </a:r>
            <a:r>
              <a:rPr dirty="0" err="1"/>
              <a:t>が同定できること」を前提にした指標なので、この前提が崩れる</a:t>
            </a:r>
            <a:endParaRPr dirty="0"/>
          </a:p>
          <a:p>
            <a:r>
              <a:rPr dirty="0" err="1"/>
              <a:t>波形では計算自体が成立しない。つまり単一の閾値・ルールで全患者・全拍を自動解析することは</a:t>
            </a:r>
            <a:endParaRPr dirty="0"/>
          </a:p>
          <a:p>
            <a:r>
              <a:rPr dirty="0" err="1"/>
              <a:t>できない</a:t>
            </a:r>
            <a:r>
              <a:rPr dirty="0"/>
              <a:t>。</a:t>
            </a:r>
          </a:p>
          <a:p>
            <a:r>
              <a:rPr dirty="0" err="1"/>
              <a:t>実務上の対応は、SDPPG</a:t>
            </a:r>
            <a:r>
              <a:rPr dirty="0"/>
              <a:t> </a:t>
            </a:r>
            <a:r>
              <a:rPr dirty="0" err="1"/>
              <a:t>による変曲点検出、低品質拍の除外、そして絶対値ではなく</a:t>
            </a:r>
            <a:endParaRPr dirty="0"/>
          </a:p>
          <a:p>
            <a:r>
              <a:rPr dirty="0" err="1"/>
              <a:t>自己基準（同一患者内の相対変化）での運用</a:t>
            </a:r>
            <a:r>
              <a:rPr dirty="0"/>
              <a:t>。(</a:t>
            </a:r>
            <a:r>
              <a:rPr dirty="0" err="1"/>
              <a:t>Elgendi</a:t>
            </a:r>
            <a:r>
              <a:rPr dirty="0"/>
              <a:t> 2012)</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3章（循環因子）のまとめ。1枚で「どの因子が波形のどこを動かすか」を一覧する。</a:t>
            </a:r>
          </a:p>
          <a:p/>
          <a:p>
            <a:r>
              <a:t>波形は模式図（ガウス成分の重ね合わせ）で、灰＝基準、青＝当該因子が上がったとき。</a:t>
            </a:r>
          </a:p>
          <a:p>
            <a:r>
              <a:t>振幅・時相の変化方向は各原著の記載と一致させてあるが、実測波形そのものではない。</a:t>
            </a:r>
          </a:p>
          <a:p/>
          <a:p>
            <a:r>
              <a:t>各行の根拠</a:t>
            </a:r>
          </a:p>
          <a:p>
            <a:r>
              <a:t>・前負荷 ↑ → 全体の振幅が増大</a:t>
            </a:r>
          </a:p>
          <a:p>
            <a:r>
              <a:t>　Alian 2011（LBNP による中心血液量減少で指尖PPGの高さ・面積・傾きが低下）、</a:t>
            </a:r>
          </a:p>
          <a:p>
            <a:r>
              <a:t>　Cannesson 2005（呼吸性振幅変動と脈圧変動の対応）。＝実測。</a:t>
            </a:r>
          </a:p>
          <a:p>
            <a:r>
              <a:t>・大血管の硬さ ↑ → 反射波が早く戻り、収縮期ピークへ融合して一峰性化</a:t>
            </a:r>
          </a:p>
          <a:p>
            <a:r>
              <a:t>　Millasseau 2002（加齢で ΔT 短縮・SI 上昇）、Charlton 2019（in-silico）。＝実測＋モデル。</a:t>
            </a:r>
          </a:p>
          <a:p>
            <a:r>
              <a:t>・末梢トーヌス ↑ → 反射波・切痕が高くなる（RI 上昇）</a:t>
            </a:r>
          </a:p>
          <a:p>
            <a:r>
              <a:t>　Chowienczyk 1999（β2刺激薬で RI −11.8%、ニトログリセリンで −18.3%）、Takazawa 1998。＝実測。</a:t>
            </a:r>
          </a:p>
          <a:p>
            <a:r>
              <a:t>・心収縮力 ↑ → 立ち上がりが鋭く・速くなる（収縮期ピークが早く尖鋭化）</a:t>
            </a:r>
          </a:p>
          <a:p>
            <a:r>
              <a:t>　Pagoulatou 2021・Piccioli 2022 はいずれも動脈圧波形のモデル研究であり、指尖PPG の実測ではない。</a:t>
            </a:r>
          </a:p>
          <a:p>
            <a:r>
              <a:t>　＝外挿。断定しないこと。</a:t>
            </a:r>
          </a:p>
          <a:p>
            <a:r>
              <a:t>・心拍数 ↑ → 周期が短縮し、収縮期ピークで正規化した反射波成分が相対的に低下</a:t>
            </a:r>
          </a:p>
          <a:p>
            <a:r>
              <a:t>　Charlton 2019 の in-silico 25歳仮想被験者で各パラメータを ±1SD 動かした波形が根拠。＝モデル。</a:t>
            </a:r>
          </a:p>
          <a:p>
            <a:r>
              <a:t>　実測側にあるのは「指標 vs 心拍数」の関連（Wilkinson 2000 の AIx、Md Lazim 2020）であって、</a:t>
            </a:r>
          </a:p>
          <a:p>
            <a:r>
              <a:t>　波形の形そのものの実測ではない。</a:t>
            </a:r>
          </a:p>
          <a:p/>
          <a:p>
            <a:r>
              <a:t>話し方</a:t>
            </a:r>
          </a:p>
          <a:p>
            <a:r>
              <a:t>・3.6（文献強度）と対になるスライド。3.6 で「どこまで言えるか」を示し、ここで「何が起きるか」を</a:t>
            </a:r>
          </a:p>
          <a:p>
            <a:r>
              <a:t>　一覧する。バッジの色は 3.6 と同じ意味（緑＝実測／金＝実測+モデル／橙＝モデル／赤＝外挿）。</a:t>
            </a:r>
          </a:p>
          <a:p>
            <a:r>
              <a:t>・因子は単独では動かない（前負荷が下がれば反射的に心拍数もトーヌスも動く）ので、</a:t>
            </a:r>
          </a:p>
          <a:p>
            <a:r>
              <a:t>　実際の波形は複数因子の合成であることを必ず添える。</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の結果スライド。前ページの6分類が「実際に血行動態と対応していたのか」を示す。</a:t>
            </a:r>
          </a:p>
          <a:p/>
          <a:p>
            <a:r>
              <a:t>Tusman G, et al. Photoplethysmographic characterization of vascular tone mediated changes in</a:t>
            </a:r>
          </a:p>
          <a:p>
            <a:r>
              <a:t>arterial pressure: an observational study. J Clin Monit Comput 2019;33:815–24.（PMID 30554338）</a:t>
            </a:r>
          </a:p>
          <a:p/>
          <a:p>
            <a:r>
              <a:t>対象（P）</a:t>
            </a:r>
          </a:p>
          <a:p>
            <a:r>
              <a:t>・心臓手術患者15名、解析対象 190データセット。</a:t>
            </a:r>
          </a:p>
          <a:p>
            <a:r>
              <a:t>・高血圧 61エピソード（SAP 159〈151–170〉mmHg）、正常血圧 84（SAP 124〈113–131〉mmHg）、</a:t>
            </a:r>
          </a:p>
          <a:p>
            <a:r>
              <a:t>　低血圧 45（SAP 85〈80–87〉mmHg）。いずれも中央値〈第1–第3四分位〉。</a:t>
            </a:r>
          </a:p>
          <a:p/>
          <a:p>
            <a:r>
              <a:t>分類（I）</a:t>
            </a:r>
          </a:p>
          <a:p>
            <a:r>
              <a:t>・PPG 波形の輪郭を目視で6クラスに分類（PPGc）。振幅（足→頂点）と切痕の位置で定義する。</a:t>
            </a:r>
          </a:p>
          <a:p>
            <a:r>
              <a:t>・切痕が PPG 振幅の 20〜50% にある Class III ＝ 正常血管トーヌス。</a:t>
            </a:r>
          </a:p>
          <a:p>
            <a:r>
              <a:t>・切痕が &gt;50% で振幅の小さい Class I〜II ＝ 血管収縮。</a:t>
            </a:r>
          </a:p>
          <a:p>
            <a:r>
              <a:t>・切痕が &lt;20% で背の高い Class IV〜VI ＝ 血管拡張。</a:t>
            </a:r>
          </a:p>
          <a:p/>
          <a:p>
            <a:r>
              <a:t>比較（C）</a:t>
            </a:r>
          </a:p>
          <a:p>
            <a:r>
              <a:t>・収縮期動脈圧（SAP）、および血管トーヌスの代替指標である全身血管抵抗（SVR）と</a:t>
            </a:r>
          </a:p>
          <a:p>
            <a:r>
              <a:t>　血管コンプライアンス（Cvasc ＝ 一回拍出量／脈圧）。</a:t>
            </a:r>
          </a:p>
          <a:p/>
          <a:p>
            <a:r>
              <a:t>結果（O）</a:t>
            </a:r>
          </a:p>
          <a:p>
            <a:r>
              <a:t>・SAP は SVR と r = 0.78（p&lt;0.0001）、Cvasc と r = 0.84（p&lt;0.0001）でよく相関した。</a:t>
            </a:r>
          </a:p>
          <a:p>
            <a:r>
              <a:t>・PPG 分類（クラス番号 I→VI）は</a:t>
            </a:r>
          </a:p>
          <a:p>
            <a:r>
              <a:t>　　SAP と r = −0.90（p&lt;0.0001）</a:t>
            </a:r>
          </a:p>
          <a:p>
            <a:r>
              <a:t>　　SVR と r = −0.72（p&lt;0.0001）</a:t>
            </a:r>
          </a:p>
          <a:p>
            <a:r>
              <a:t>　　Cvasc と r = +0.82（p&lt;0.0001）</a:t>
            </a:r>
          </a:p>
          <a:p>
            <a:r>
              <a:t>　クラス番号が上がる＝血管拡張側ほど SAP・SVR が下がり、コンプライアンスが上がる、という向き。</a:t>
            </a:r>
          </a:p>
          <a:p>
            <a:r>
              <a:t>・190エピソード中7件を誤分類。低血圧検出は正確度 98.4%・感度 100%・特異度 97.9%、</a:t>
            </a:r>
          </a:p>
          <a:p>
            <a:r>
              <a:t>　高血圧検出は正確度 97.8%・感度 94.9%・特異度 99.2%。</a:t>
            </a:r>
          </a:p>
          <a:p/>
          <a:p>
            <a:r>
              <a:t>読み方・限界</a:t>
            </a:r>
          </a:p>
          <a:p>
            <a:r>
              <a:t>・「目視で波形の形を見るだけ」で血管トーヌスと血圧の方向が高い精度で判別できた、というのが要点。</a:t>
            </a:r>
          </a:p>
          <a:p>
            <a:r>
              <a:t>・ただし心臓手術15名という小規模・単施設の観察研究であり、SAP との相関が非常に高いのは</a:t>
            </a:r>
          </a:p>
          <a:p>
            <a:r>
              <a:t>　分類の定義自体が血管トーヌス由来の形態変化を狙っているためでもある（循環論法に近い部分がある）。</a:t>
            </a:r>
          </a:p>
          <a:p>
            <a:r>
              <a:t>・SVR との相関（−0.72）は SAP（−0.90）ほどではない。PPG が見ているのは抵抗そのものではなく</a:t>
            </a:r>
          </a:p>
          <a:p>
            <a:r>
              <a:t>　トーヌスに伴う波形変化であることに注意。</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麻酔導入時の低血圧を PPG 波形から読む — proof of concept。</a:t>
            </a:r>
          </a:p>
          <a:p/>
          <a:p>
            <a:r>
              <a:t>Coutrot M, Joachim J, Dépret F, et al. Noninvasive continuous detection of arterial hypotension</a:t>
            </a:r>
          </a:p>
          <a:p>
            <a:r>
              <a:t>during induction of anaesthesia using a photoplethysmographic signal: proof of concept.</a:t>
            </a:r>
          </a:p>
          <a:p>
            <a:r>
              <a:t>Br J Anaesth 2019;122:605–12.（PMID 30916032／doi 10.1016/j.bja.2019.01.037）</a:t>
            </a:r>
          </a:p>
          <a:p/>
          <a:p>
            <a:r>
              <a:t>対象（P）</a:t>
            </a:r>
          </a:p>
          <a:p>
            <a:r>
              <a:t>・プロポフォールとレミフェンタニルの target controlled infusion で全身麻酔導入を受ける患者61名</a:t>
            </a:r>
          </a:p>
          <a:p>
            <a:r>
              <a:t>　（NCT03756935）。</a:t>
            </a:r>
          </a:p>
          <a:p/>
          <a:p>
            <a:r>
              <a:t>方法（I）</a:t>
            </a:r>
          </a:p>
          <a:p>
            <a:r>
              <a:t>・パルスオキシメータの PPG 信号から、相対的ディクロティックノッチ高（Dicpleth）と</a:t>
            </a:r>
          </a:p>
          <a:p>
            <a:r>
              <a:t>　灌流指数（PI）を求め、その相対変化 ΔDicpleth・ΔPI を1分間隔で監視。</a:t>
            </a:r>
          </a:p>
          <a:p>
            <a:r>
              <a:t>・昇圧薬（ノルアドレナリンまたはフェニレフリン）投与中の推移も追跡した。</a:t>
            </a:r>
          </a:p>
          <a:p/>
          <a:p>
            <a:r>
              <a:t>基準（C）</a:t>
            </a:r>
          </a:p>
          <a:p>
            <a:r>
              <a:t>・術中低血圧（IOH）＝ 平均動脈圧（MAP）が 20% を超えて低下したもの。</a:t>
            </a:r>
          </a:p>
          <a:p/>
          <a:p>
            <a:r>
              <a:t>結果（O）</a:t>
            </a:r>
          </a:p>
          <a:p>
            <a:r>
              <a:t>・ΔDicpleth：AUC 0.86（最適閾値 −19%、感度 79%・特異度 84%）</a:t>
            </a:r>
          </a:p>
          <a:p>
            <a:r>
              <a:t>・ΔPI：AUC 0.83（最適閾値 51%、感度 82%・特異度 74%）</a:t>
            </a:r>
          </a:p>
          <a:p>
            <a:r>
              <a:t>・両者の ROC に有意差なし（P=0.22）。両者を併用すると AUC 0.91（感度・特異度とも 84%）に向上。</a:t>
            </a:r>
          </a:p>
          <a:p>
            <a:r>
              <a:t>・昇圧薬投与中、MAP の変化は ΔDicpleth と r=0.73、ΔPI と r=−0.62 で相関（いずれも P&lt;0.001）。</a:t>
            </a:r>
          </a:p>
          <a:p/>
          <a:p>
            <a:r>
              <a:t>波形の見方（スライド左の模式図）</a:t>
            </a:r>
          </a:p>
          <a:p>
            <a:r>
              <a:t>・麻酔導入で血管トーヌスが下がる（血管拡張）と、末梢の反射が減って重複切痕がベースライン側へ</a:t>
            </a:r>
          </a:p>
          <a:p>
            <a:r>
              <a:t>　下降し、同時に灌流が増えて脈波振幅（PI）が大きくなる。</a:t>
            </a:r>
          </a:p>
          <a:p>
            <a:r>
              <a:t>・つまり「切痕が下がる（ΔDicpleth 陰性）」＋「PI が上がる（ΔPI 陽性）」が低血圧のサイン。</a:t>
            </a:r>
          </a:p>
          <a:p>
            <a:r>
              <a:t>　4.1（Murray 1996：血管拡張で切痕位置↓・振幅↑）と同じ向きの現象を、定量指標にしたもの。</a:t>
            </a:r>
          </a:p>
          <a:p/>
          <a:p>
            <a:r>
              <a:t>限界として口頭で足すこと</a:t>
            </a:r>
          </a:p>
          <a:p>
            <a:r>
              <a:t>・proof of concept の単施設研究で、対象は麻酔導入という限られた場面。</a:t>
            </a:r>
          </a:p>
          <a:p>
            <a:r>
              <a:t>・AUC 0.86〜0.91 は「低血圧が起きたかどうかの検出」であって、血圧値そのものの推定ではない。</a:t>
            </a:r>
          </a:p>
          <a:p>
            <a:r>
              <a:t>・Dicpleth は重複切痕が見えている波形でしか定義できない（→ 第7章の限界と同じ問題）。</a:t>
            </a:r>
          </a:p>
          <a:p>
            <a:r>
              <a:t>・低灌流・体動・血管収縮薬による末梢収縮では PPG 自体の質が落ちる。</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の2枚目。SDPPG（加速度脈波）の指標が実際に何と結びついたのか、主要3研究を並べる。</a:t>
            </a:r>
          </a:p>
          <a:p/>
          <a:p>
            <a:r>
              <a:t>指標の定義</a:t>
            </a:r>
          </a:p>
          <a:p>
            <a:r>
              <a:t>・SDPPG ＝ 指尖 PPG の二次微分。収縮期に a（初期陽性）・b（初期陰性）・c（再上昇）・d（再下降）、</a:t>
            </a:r>
          </a:p>
          <a:p>
            <a:r>
              <a:t>　拡張期に e（重複切痕に相当）の5つの極値が定義される。</a:t>
            </a:r>
          </a:p>
          <a:p>
            <a:r>
              <a:t>・b/a：加齢で増加。大血管の硬さ側の指標。</a:t>
            </a:r>
          </a:p>
          <a:p>
            <a:r>
              <a:t>・d/a：血管作動薬で鋭敏に動く。末梢トーヌス側の指標（負の値をとる）。</a:t>
            </a:r>
          </a:p>
          <a:p>
            <a:r>
              <a:t>・AGI（加齢指数／aging index）＝ (b − c − d − e) / a。</a:t>
            </a:r>
          </a:p>
          <a:p/>
          <a:p>
            <a:r>
              <a:t>① Takazawa K, et al. Hypertension 1998;32:365–70.（PMID 9719069）</a:t>
            </a:r>
          </a:p>
          <a:p>
            <a:r>
              <a:t>・研究1：上行大動脈圧を同時記録した患者39名（平均54±11歳）。</a:t>
            </a:r>
          </a:p>
          <a:p>
            <a:r>
              <a:t>　上行大動脈圧はアンジオテンシン負荷で 126/74 → 160/91 mmHg、ニトログリセリンで 111/73 mmHg。</a:t>
            </a:r>
          </a:p>
          <a:p>
            <a:r>
              <a:t>　d/a はアンジオテンシンで −0.40±0.13 → −0.62±0.19、ニトログリセリンで −0.25±0.12（いずれも P&lt;0.001）。</a:t>
            </a:r>
          </a:p>
          <a:p>
            <a:r>
              <a:t>　＝血管収縮で d/a はより負に、血管拡張で 0 に近づく。</a:t>
            </a:r>
          </a:p>
          <a:p>
            <a:r>
              <a:t>　負の d/a は 容積脈波 AIx と r=0.79、上行大動脈 AIx と r=0.80（いずれも P&lt;0.001）。</a:t>
            </a:r>
          </a:p>
          <a:p>
            <a:r>
              <a:t>・研究2：健診受診者600名（30代〜80代、各年代男女50名ずつ）。</a:t>
            </a:r>
          </a:p>
          <a:p>
            <a:r>
              <a:t>　b/a は加齢で増加、c/a・d/a・e/a は減少。加齢指数は y = 0.023x − 1.515（r=0.80、P&lt;0.001）。</a:t>
            </a:r>
          </a:p>
          <a:p>
            <a:r>
              <a:t>　糖尿病・高血圧・高コレステロール血症・虚血性心疾患のいずれかの既往を持つ126名の加齢指数は</a:t>
            </a:r>
          </a:p>
          <a:p>
            <a:r>
              <a:t>　−0.06±0.36 で、年齢マッチ対照 −0.22±0.41 より高値（P&lt;0.01）。女性が男性より高値（P&lt;0.01）。</a:t>
            </a:r>
          </a:p>
          <a:p/>
          <a:p>
            <a:r>
              <a:t>② Bortolotto LA, et al. Am J Hypertens 2000;13:165–71.（PMID 10701816）</a:t>
            </a:r>
          </a:p>
          <a:p>
            <a:r>
              <a:t>・連続した本態性高血圧患者524例。うち動脈硬化性病変（AA）を有するもの140例。</a:t>
            </a:r>
          </a:p>
          <a:p>
            <a:r>
              <a:t>・AA 群 vs 非 AA 群：PWV 14.9±4 vs 12.4±2 m/s（P&lt;.001）、</a:t>
            </a:r>
          </a:p>
          <a:p>
            <a:r>
              <a:t>　SDPTG 加齢指数 −0.093±0.03 vs −0.271±0.018（P&lt;.001）、PTG AUI 0.322±0.16 vs 0.252±0.09（P&lt;.001）。</a:t>
            </a:r>
          </a:p>
          <a:p>
            <a:r>
              <a:t>・60歳以下では PWV のみ AA 群で高く、60歳超では PWV と SDPTG AI の両方が高値。</a:t>
            </a:r>
          </a:p>
          <a:p>
            <a:r>
              <a:t>・ただし AA の有無に対するロジスティック回帰では PWV が有意な独立規定因子で、</a:t>
            </a:r>
          </a:p>
          <a:p>
            <a:r>
              <a:t>　SDPTG-AI の寄与は弱かった。＝「高血圧患者の血管加齢評価に有用」という限定つきの結論。</a:t>
            </a:r>
          </a:p>
          <a:p/>
          <a:p>
            <a:r>
              <a:t>③ Hashimoto J, et al. J Hypertens 2002;20:2415–22.（PMID 12473866）</a:t>
            </a:r>
          </a:p>
          <a:p>
            <a:r>
              <a:t>・治療中の高血圧患者294名（32〜91歳、平均61.4±10.5歳）。</a:t>
            </a:r>
          </a:p>
          <a:p>
            <a:r>
              <a:t>・重回帰で年齢・収縮期血圧・心拍数が PWV と独立に正相関。SDPTG 指標は年齢・血圧と独立に関連し、</a:t>
            </a:r>
          </a:p>
          <a:p>
            <a:r>
              <a:t>　D:A 比・AGI とは正、B:A 比とは負の相関。心拍数は D:A 比・AGI と負、B:A 比と正の相関。</a:t>
            </a:r>
          </a:p>
          <a:p>
            <a:r>
              <a:t>・PWV と SDPTG 指標は年齢・血圧という共通因子を持つが相互の相関は弱く、</a:t>
            </a:r>
          </a:p>
          <a:p>
            <a:r>
              <a:t>　中心部と末梢部の動脈特性について異なる情報を与えると結論。</a:t>
            </a:r>
          </a:p>
          <a:p/>
          <a:p>
            <a:r>
              <a:t>読み方</a:t>
            </a:r>
          </a:p>
          <a:p>
            <a:r>
              <a:t>・d/a は「いま効いている薬・いまのトーヌス」を映す急性軸、AGI は「その人の血管年齢」を映す</a:t>
            </a:r>
          </a:p>
          <a:p>
            <a:r>
              <a:t>　半ば固定的な慢性軸。この二軸で読むのが SDPPG の使い方（6章の2軸整理につながる）。</a:t>
            </a:r>
          </a:p>
          <a:p>
            <a:r>
              <a:t>・限界：二次微分は高周波ノイズを2乗で増幅するため、平滑化・帯域制限の設定（サンプリング周波数、</a:t>
            </a:r>
          </a:p>
          <a:p>
            <a:r>
              <a:t>　カットオフ、差分幅）で b/a・d/a の値が変わる。文献間で数値を直接比べられないのはこのため。</a:t>
            </a:r>
          </a:p>
          <a:p>
            <a:r>
              <a:t>・b/a（大血管側）は再現性が比較的良いが、d/a・e/a（小血管側）は再現性が落ちる。</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参考文献の続き（16〜29）。29 は 4.3 で用いた Coutrot 2019。</a:t>
            </a:r>
          </a:p>
          <a:p>
            <a:r>
              <a:t>1枚に28件を並べると下端がはみ出していたため2枚に分割し、本文を 10.5pt にした。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2026/8/8</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2026/8/8</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2026/8/8</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2026/8/8</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doi.org/10.1007/s00540-003-0192-6" TargetMode="External"/><Relationship Id="rId6" Type="http://schemas.openxmlformats.org/officeDocument/2006/relationships/hyperlink" Target="https://doi.org/10.1016/j.rmed.2013.02.00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pubmed.ncbi.nlm.nih.gov/469952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hyperlink" Target="https://pubmed.ncbi.nlm.nih.gov/469952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pubmed.ncbi.nlm.nih.gov/4699520/"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ahajournals.org/doi/10.1161/CIRCGEN.121.00367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ahajournals.org/doi/10.1161/CIRCGEN.121.003676" TargetMode="External"/><Relationship Id="rId4" Type="http://schemas.openxmlformats.org/officeDocument/2006/relationships/image" Target="../media/image16.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ahajournals.org/doi/10.1161/CIRCGEN.121.003676" TargetMode="External"/><Relationship Id="rId4" Type="http://schemas.openxmlformats.org/officeDocument/2006/relationships/image" Target="../media/image16.png"/><Relationship Id="rId5"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pubmed.ncbi.nlm.nih.gov/12241535/" TargetMode="Externa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pubmed.ncbi.nlm.nih.gov/22051898/" TargetMode="External"/><Relationship Id="rId4" Type="http://schemas.openxmlformats.org/officeDocument/2006/relationships/hyperlink" Target="https://pubmed.ncbi.nlm.nih.gov/16277719/" TargetMode="External"/><Relationship Id="rId5" Type="http://schemas.openxmlformats.org/officeDocument/2006/relationships/image" Target="../media/image19.png"/><Relationship Id="rId6"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pubmed.ncbi.nlm.nih.gov/22051898/" TargetMode="External"/><Relationship Id="rId4" Type="http://schemas.openxmlformats.org/officeDocument/2006/relationships/hyperlink" Target="https://pubmed.ncbi.nlm.nih.gov/16277719/" TargetMode="External"/><Relationship Id="rId5" Type="http://schemas.openxmlformats.org/officeDocument/2006/relationships/image" Target="../media/image20.png"/><Relationship Id="rId6"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pubmed.ncbi.nlm.nih.gov/22051898/" TargetMode="External"/><Relationship Id="rId4" Type="http://schemas.openxmlformats.org/officeDocument/2006/relationships/hyperlink" Target="https://pubmed.ncbi.nlm.nih.gov/16277719/" TargetMode="External"/><Relationship Id="rId5"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pubmed.ncbi.nlm.nih.gov/17940842/" TargetMode="Externa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pubmed.ncbi.nlm.nih.gov/12241535/" TargetMode="Externa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ubmed.ncbi.nlm.nih.gov/34339454/" TargetMode="External"/><Relationship Id="rId3" Type="http://schemas.openxmlformats.org/officeDocument/2006/relationships/hyperlink" Target="https://pubmed.ncbi.nlm.nih.gov/23366792/" TargetMode="External"/><Relationship Id="rId4" Type="http://schemas.openxmlformats.org/officeDocument/2006/relationships/hyperlink" Target="https://pubmed.ncbi.nlm.nih.gov/36286406/" TargetMode="External"/><Relationship Id="rId5"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pubmed.ncbi.nlm.nih.gov/34339454/" TargetMode="External"/><Relationship Id="rId4" Type="http://schemas.openxmlformats.org/officeDocument/2006/relationships/hyperlink" Target="https://pubmed.ncbi.nlm.nih.gov/23366792/" TargetMode="External"/><Relationship Id="rId5" Type="http://schemas.openxmlformats.org/officeDocument/2006/relationships/hyperlink" Target="https://pubmed.ncbi.nlm.nih.gov/36286406/" TargetMode="External"/><Relationship Id="rId6"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pubmed.ncbi.nlm.nih.gov/10811742/" TargetMode="Externa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pubmed.ncbi.nlm.nih.gov/8934343/" TargetMode="Externa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link.springer.com/article/10.1007/s10877-018-0235-z" TargetMode="Externa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link.springer.com/article/10.1007/s10877-018-0235-z" TargetMode="External"/><Relationship Id="rId4" Type="http://schemas.openxmlformats.org/officeDocument/2006/relationships/image" Target="../media/image27.png"/><Relationship Id="rId5"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pubmed.ncbi.nlm.nih.gov/12241535/" TargetMode="External"/><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ubmed.ncbi.nlm.nih.gov/17322588/" TargetMode="External"/><Relationship Id="rId3" Type="http://schemas.openxmlformats.org/officeDocument/2006/relationships/hyperlink" Target="https://link.springer.com/article/10.1007/s10877-018-0235-z"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ubmed.ncbi.nlm.nih.gov/17322588/" TargetMode="External"/><Relationship Id="rId3" Type="http://schemas.openxmlformats.org/officeDocument/2006/relationships/hyperlink" Target="https://link.springer.com/article/10.1007/s10877-018-0235-z" TargetMode="External"/><Relationship Id="rId4" Type="http://schemas.openxmlformats.org/officeDocument/2006/relationships/hyperlink" Target="https://doi.org/10.1016/j.bja.2019.01.037" TargetMode="External"/><Relationship Id="rId5"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spcAft>
                <a:spcPts val="600"/>
              </a:spcAft>
            </a:pPr>
            <a:r>
              <a:rPr sz="4000" b="1" dirty="0">
                <a:solidFill>
                  <a:srgbClr val="262626"/>
                </a:solidFill>
                <a:latin typeface="Meiryo"/>
                <a:ea typeface="Meiryo"/>
                <a:cs typeface="Meiryo"/>
              </a:rPr>
              <a:t>SpO₂（</a:t>
            </a:r>
            <a:r>
              <a:rPr sz="4000" b="1" dirty="0" err="1">
                <a:solidFill>
                  <a:srgbClr val="262626"/>
                </a:solidFill>
                <a:latin typeface="Meiryo"/>
                <a:ea typeface="Meiryo"/>
                <a:cs typeface="Meiryo"/>
              </a:rPr>
              <a:t>PPG）波形解析の流れ</a:t>
            </a:r>
            <a:endParaRPr sz="4000" b="1" dirty="0">
              <a:solidFill>
                <a:srgbClr val="262626"/>
              </a:solidFill>
              <a:latin typeface="Meiryo"/>
              <a:ea typeface="Meiryo"/>
              <a:cs typeface="Meiryo"/>
            </a:endParaRPr>
          </a:p>
        </p:txBody>
      </p:sp>
      <p:sp>
        <p:nvSpPr>
          <p:cNvPr id="3" name="Subtitle 2"/>
          <p:cNvSpPr>
            <a:spLocks noGrp="1"/>
          </p:cNvSpPr>
          <p:nvPr>
            <p:ph type="subTitle" idx="1"/>
          </p:nvPr>
        </p:nvSpPr>
        <p:spPr/>
        <p:txBody>
          <a:bodyPr>
            <a:normAutofit/>
          </a:bodyPr>
          <a:lstStyle/>
          <a:p>
            <a:pPr algn="ctr">
              <a:spcAft>
                <a:spcPts val="40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成り立ちから</a:t>
            </a:r>
            <a:r>
              <a:rPr sz="2200" b="1" dirty="0">
                <a:solidFill>
                  <a:srgbClr val="262626"/>
                </a:solidFill>
                <a:latin typeface="Meiryo"/>
                <a:ea typeface="Meiryo"/>
                <a:cs typeface="Meiryo"/>
              </a:rPr>
              <a:t> dicrotic notch </a:t>
            </a:r>
            <a:r>
              <a:rPr sz="2200" b="1" dirty="0" err="1">
                <a:solidFill>
                  <a:srgbClr val="262626"/>
                </a:solidFill>
                <a:latin typeface="Meiryo"/>
                <a:ea typeface="Meiryo"/>
                <a:cs typeface="Meiryo"/>
              </a:rPr>
              <a:t>まで</a:t>
            </a:r>
            <a:r>
              <a:rPr sz="2200" b="1" dirty="0">
                <a:solidFill>
                  <a:srgbClr val="262626"/>
                </a:solidFill>
                <a:latin typeface="Meiryo"/>
                <a:ea typeface="Meiryo"/>
                <a:cs typeface="Meiryo"/>
              </a:rPr>
              <a:t> ―</a:t>
            </a: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p:cNvPicPr>
            <a:picLocks noChangeAspect="1"/>
          </p:cNvPicPr>
          <p:nvPr/>
        </p:nvPicPr>
        <p:blipFill>
          <a:blip r:embed="rId3"/>
          <a:stretch>
            <a:fillRect/>
          </a:stretch>
        </p:blipFill>
        <p:spPr>
          <a:xfrm>
            <a:off x="4744259" y="5580000"/>
            <a:ext cx="2679481" cy="104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936000" y="1494000"/>
            <a:ext cx="10440000" cy="5004000"/>
          </a:xfrm>
          <a:prstGeom prst="rect">
            <a:avLst/>
          </a:prstGeom>
          <a:noFill/>
        </p:spPr>
        <p:txBody>
          <a:bodyPr wrap="none" lIns="0" tIns="0" rIns="0" bIns="0" anchor="ctr">
            <a:spAutoFit/>
          </a:bodyPr>
          <a:lstStyle/>
          <a:p>
            <a:pPr algn="l">
              <a:lnSpc>
                <a:spcPts val="3685"/>
              </a:lnSpc>
              <a:spcBef>
                <a:spcPts val="0"/>
              </a:spcBef>
              <a:spcAft>
                <a:spcPts val="0"/>
              </a:spcAft>
            </a:pPr>
            <a:r>
              <a:rPr sz="2600" b="1" dirty="0">
                <a:solidFill>
                  <a:srgbClr val="BF9000"/>
                </a:solidFill>
                <a:latin typeface="Meiryo"/>
                <a:ea typeface="Meiryo"/>
                <a:cs typeface="Meiryo"/>
              </a:rPr>
              <a:t>1.　</a:t>
            </a:r>
            <a:r>
              <a:rPr sz="2600" b="1" dirty="0" err="1">
                <a:solidFill>
                  <a:srgbClr val="262626"/>
                </a:solidFill>
                <a:latin typeface="Meiryo"/>
                <a:ea typeface="Meiryo"/>
                <a:cs typeface="Meiryo"/>
              </a:rPr>
              <a:t>PPGの基礎</a:t>
            </a:r>
            <a:endParaRPr sz="2400" b="1" dirty="0">
              <a:solidFill>
                <a:srgbClr val="262626"/>
              </a:solidFill>
              <a:latin typeface="Meiryo"/>
              <a:ea typeface="Meiryo"/>
              <a:cs typeface="Meiryo"/>
            </a:endParaRPr>
          </a:p>
          <a:p>
            <a:pPr algn="l">
              <a:lnSpc>
                <a:spcPts val="3685"/>
              </a:lnSpc>
              <a:spcBef>
                <a:spcPts val="0"/>
              </a:spcBef>
              <a:spcAft>
                <a:spcPts val="0"/>
              </a:spcAft>
            </a:pPr>
            <a:r>
              <a:rPr sz="2600" b="1" dirty="0">
                <a:solidFill>
                  <a:srgbClr val="BF9000"/>
                </a:solidFill>
                <a:latin typeface="Meiryo"/>
                <a:ea typeface="Meiryo"/>
                <a:cs typeface="Meiryo"/>
              </a:rPr>
              <a:t>2.　</a:t>
            </a:r>
            <a:r>
              <a:rPr sz="2600" b="1" dirty="0" err="1">
                <a:solidFill>
                  <a:srgbClr val="262626"/>
                </a:solidFill>
                <a:latin typeface="Meiryo"/>
                <a:ea typeface="Meiryo"/>
                <a:cs typeface="Meiryo"/>
              </a:rPr>
              <a:t>波形への影響：加齢</a:t>
            </a:r>
            <a:endParaRPr sz="2600" b="1" dirty="0">
              <a:solidFill>
                <a:srgbClr val="262626"/>
              </a:solidFill>
              <a:latin typeface="Meiryo"/>
              <a:ea typeface="Meiryo"/>
              <a:cs typeface="Meiryo"/>
            </a:endParaRPr>
          </a:p>
          <a:p>
            <a:pPr algn="l">
              <a:lnSpc>
                <a:spcPts val="3685"/>
              </a:lnSpc>
              <a:spcBef>
                <a:spcPts val="0"/>
              </a:spcBef>
              <a:spcAft>
                <a:spcPts val="0"/>
              </a:spcAft>
            </a:pPr>
            <a:r>
              <a:rPr sz="2600" b="1" dirty="0">
                <a:solidFill>
                  <a:srgbClr val="BF9000"/>
                </a:solidFill>
                <a:latin typeface="Meiryo"/>
                <a:ea typeface="Meiryo"/>
                <a:cs typeface="Meiryo"/>
              </a:rPr>
              <a:t>3.　</a:t>
            </a:r>
            <a:r>
              <a:rPr sz="2600" b="1" dirty="0" err="1">
                <a:solidFill>
                  <a:srgbClr val="262626"/>
                </a:solidFill>
                <a:latin typeface="Meiryo"/>
                <a:ea typeface="Meiryo"/>
                <a:cs typeface="Meiryo"/>
              </a:rPr>
              <a:t>波形への影響：循環</a:t>
            </a:r>
            <a:endParaRPr sz="2600" b="1" dirty="0">
              <a:solidFill>
                <a:srgbClr val="262626"/>
              </a:solidFill>
              <a:latin typeface="Meiryo"/>
              <a:ea typeface="Meiryo"/>
              <a:cs typeface="Meiryo"/>
            </a:endParaRPr>
          </a:p>
          <a:p>
            <a:pPr algn="l">
              <a:lnSpc>
                <a:spcPts val="3685"/>
              </a:lnSpc>
              <a:spcBef>
                <a:spcPts val="0"/>
              </a:spcBef>
              <a:spcAft>
                <a:spcPts val="0"/>
              </a:spcAft>
            </a:pPr>
            <a:r>
              <a:rPr sz="2600" b="1" dirty="0">
                <a:solidFill>
                  <a:srgbClr val="BF9000"/>
                </a:solidFill>
                <a:latin typeface="Meiryo"/>
                <a:ea typeface="Meiryo"/>
                <a:cs typeface="Meiryo"/>
              </a:rPr>
              <a:t>4.　</a:t>
            </a:r>
            <a:r>
              <a:rPr sz="2600" b="1" dirty="0" err="1">
                <a:solidFill>
                  <a:srgbClr val="262626"/>
                </a:solidFill>
                <a:latin typeface="Meiryo"/>
                <a:ea typeface="Meiryo"/>
                <a:cs typeface="Meiryo"/>
              </a:rPr>
              <a:t>麻酔中の波形変化</a:t>
            </a:r>
            <a:endParaRPr sz="2600" b="1" dirty="0">
              <a:solidFill>
                <a:srgbClr val="262626"/>
              </a:solidFill>
              <a:latin typeface="Meiryo"/>
              <a:ea typeface="Meiryo"/>
              <a:cs typeface="Meiryo"/>
            </a:endParaRPr>
          </a:p>
          <a:p>
            <a:pPr algn="l">
              <a:lnSpc>
                <a:spcPts val="3685"/>
              </a:lnSpc>
              <a:spcBef>
                <a:spcPts val="0"/>
              </a:spcBef>
              <a:spcAft>
                <a:spcPts val="0"/>
              </a:spcAft>
            </a:pPr>
            <a:r>
              <a:rPr sz="2600" b="1" dirty="0">
                <a:solidFill>
                  <a:srgbClr val="BF9000"/>
                </a:solidFill>
                <a:latin typeface="Meiryo"/>
                <a:ea typeface="Meiryo"/>
                <a:cs typeface="Meiryo"/>
              </a:rPr>
              <a:t>5.　</a:t>
            </a:r>
            <a:r>
              <a:rPr sz="2600" b="1" dirty="0" err="1">
                <a:solidFill>
                  <a:srgbClr val="262626"/>
                </a:solidFill>
                <a:latin typeface="Meiryo"/>
                <a:ea typeface="Meiryo"/>
                <a:cs typeface="Meiryo"/>
              </a:rPr>
              <a:t>波形の定量化</a:t>
            </a:r>
            <a:endParaRPr sz="2600" b="1" dirty="0">
              <a:solidFill>
                <a:srgbClr val="262626"/>
              </a:solidFill>
              <a:latin typeface="Meiryo"/>
              <a:ea typeface="Meiryo"/>
              <a:cs typeface="Meiryo"/>
            </a:endParaRPr>
          </a:p>
          <a:p>
            <a:pPr algn="l">
              <a:lnSpc>
                <a:spcPts val="3685"/>
              </a:lnSpc>
              <a:spcBef>
                <a:spcPts val="0"/>
              </a:spcBef>
              <a:spcAft>
                <a:spcPts val="0"/>
              </a:spcAft>
            </a:pPr>
            <a:r>
              <a:rPr sz="2600" b="1" dirty="0">
                <a:solidFill>
                  <a:srgbClr val="BF9000"/>
                </a:solidFill>
                <a:latin typeface="Meiryo"/>
                <a:ea typeface="Meiryo"/>
                <a:cs typeface="Meiryo"/>
              </a:rPr>
              <a:t>6.　</a:t>
            </a:r>
            <a:r>
              <a:rPr sz="2600" b="1" dirty="0" err="1">
                <a:solidFill>
                  <a:srgbClr val="262626"/>
                </a:solidFill>
                <a:latin typeface="Meiryo"/>
                <a:ea typeface="Meiryo"/>
                <a:cs typeface="Meiryo"/>
              </a:rPr>
              <a:t>解析まとめ</a:t>
            </a:r>
            <a:endParaRPr sz="2600" b="1" dirty="0">
              <a:solidFill>
                <a:srgbClr val="262626"/>
              </a:solidFill>
              <a:latin typeface="Meiryo"/>
              <a:ea typeface="Meiryo"/>
              <a:cs typeface="Meiryo"/>
            </a:endParaRPr>
          </a:p>
          <a:p>
            <a:pPr algn="l">
              <a:lnSpc>
                <a:spcPts val="3685"/>
              </a:lnSpc>
              <a:spcBef>
                <a:spcPts val="0"/>
              </a:spcBef>
              <a:spcAft>
                <a:spcPts val="0"/>
              </a:spcAft>
            </a:pPr>
            <a:r>
              <a:rPr sz="2600" b="1" dirty="0">
                <a:solidFill>
                  <a:srgbClr val="BF9000"/>
                </a:solidFill>
                <a:latin typeface="Meiryo"/>
                <a:ea typeface="Meiryo"/>
                <a:cs typeface="Meiryo"/>
              </a:rPr>
              <a:t>7.　</a:t>
            </a:r>
            <a:r>
              <a:rPr sz="2600" b="1" dirty="0" err="1">
                <a:solidFill>
                  <a:srgbClr val="262626"/>
                </a:solidFill>
                <a:latin typeface="Meiryo"/>
                <a:ea typeface="Meiryo"/>
                <a:cs typeface="Meiryo"/>
              </a:rPr>
              <a:t>限界</a:t>
            </a:r>
            <a:endParaRPr sz="2600" b="1" dirty="0">
              <a:solidFill>
                <a:srgbClr val="262626"/>
              </a:solidFill>
              <a:latin typeface="Meiryo"/>
              <a:ea typeface="Meiryo"/>
              <a:cs typeface="Meiryo"/>
            </a:endParaRPr>
          </a:p>
        </p:txBody>
      </p:sp>
      <p:sp>
        <p:nvSpPr>
          <p:cNvPr id="9" name="TextBox 8"/>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2/36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1. PPGの基礎</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864000" y="1494000"/>
            <a:ext cx="10584000" cy="5004000"/>
          </a:xfrm>
          <a:prstGeom prst="rect">
            <a:avLst/>
          </a:prstGeom>
          <a:noFill/>
        </p:spPr>
        <p:txBody>
          <a:bodyPr wrap="none" lIns="0" tIns="0" rIns="0" bIns="0" anchor="ctr">
            <a:spAutoFit/>
          </a:bodyPr>
          <a:lstStyle/>
          <a:p>
            <a:pPr marL="0" indent="0" algn="l" latinLnBrk="0">
              <a:lnSpc>
                <a:spcPts val="3504"/>
              </a:lnSpc>
              <a:spcBef>
                <a:spcPts val="0"/>
              </a:spcBef>
              <a:spcAft>
                <a:spcPts val="0"/>
              </a:spcAft>
            </a:pPr>
            <a:r>
              <a:rPr sz="2400" b="1" dirty="0">
                <a:solidFill>
                  <a:srgbClr val="BF9000"/>
                </a:solidFill>
                <a:latin typeface="Meiryo"/>
                <a:ea typeface="Meiryo"/>
                <a:cs typeface="Meiryo"/>
              </a:rPr>
              <a:t>1. </a:t>
            </a:r>
            <a:r>
              <a:rPr sz="2400" b="1" dirty="0" err="1">
                <a:solidFill>
                  <a:srgbClr val="262626"/>
                </a:solidFill>
                <a:latin typeface="Meiryo"/>
                <a:ea typeface="Meiryo"/>
                <a:cs typeface="Meiryo"/>
              </a:rPr>
              <a:t>PPGの基礎</a:t>
            </a:r>
            <a:endParaRPr sz="2400" b="1" dirty="0">
              <a:solidFill>
                <a:srgbClr val="262626"/>
              </a:solidFill>
              <a:latin typeface="Meiryo"/>
              <a:ea typeface="Meiryo"/>
              <a:cs typeface="Meiryo"/>
            </a:endParaRPr>
          </a:p>
          <a:p>
            <a:pPr algn="l">
              <a:lnSpc>
                <a:spcPts val="3504"/>
              </a:lnSpc>
              <a:spcBef>
                <a:spcPts val="0"/>
              </a:spcBef>
              <a:spcAft>
                <a:spcPts val="0"/>
              </a:spcAft>
            </a:pPr>
            <a:r>
              <a:rPr sz="2200" b="1" dirty="0">
                <a:solidFill>
                  <a:srgbClr val="BF9000"/>
                </a:solidFill>
                <a:latin typeface="Meiryo"/>
                <a:ea typeface="Meiryo"/>
                <a:cs typeface="Meiryo"/>
              </a:rPr>
              <a:t>　1.1　</a:t>
            </a:r>
            <a:r>
              <a:rPr sz="2200" b="1" dirty="0" err="1">
                <a:solidFill>
                  <a:srgbClr val="262626"/>
                </a:solidFill>
                <a:latin typeface="Meiryo"/>
                <a:ea typeface="Meiryo"/>
                <a:cs typeface="Meiryo"/>
              </a:rPr>
              <a:t>SpO₂の測定原理</a:t>
            </a:r>
            <a:endParaRPr sz="2200" b="1" dirty="0">
              <a:solidFill>
                <a:srgbClr val="262626"/>
              </a:solidFill>
              <a:latin typeface="Meiryo"/>
              <a:ea typeface="Meiryo"/>
              <a:cs typeface="Meiryo"/>
            </a:endParaRPr>
          </a:p>
          <a:p>
            <a:pPr algn="l">
              <a:lnSpc>
                <a:spcPts val="3504"/>
              </a:lnSpc>
              <a:spcBef>
                <a:spcPts val="0"/>
              </a:spcBef>
              <a:spcAft>
                <a:spcPts val="0"/>
              </a:spcAft>
            </a:pPr>
            <a:r>
              <a:rPr sz="2200" b="1" dirty="0">
                <a:solidFill>
                  <a:srgbClr val="BF9000"/>
                </a:solidFill>
                <a:latin typeface="Meiryo"/>
                <a:ea typeface="Meiryo"/>
                <a:cs typeface="Meiryo"/>
              </a:rPr>
              <a:t>　1.2　</a:t>
            </a:r>
            <a:r>
              <a:rPr sz="2200" b="1" dirty="0" err="1">
                <a:solidFill>
                  <a:srgbClr val="262626"/>
                </a:solidFill>
                <a:latin typeface="Meiryo"/>
                <a:ea typeface="Meiryo"/>
                <a:cs typeface="Meiryo"/>
              </a:rPr>
              <a:t>PPGが測るもの</a:t>
            </a:r>
            <a:endParaRPr sz="2200" b="1" dirty="0">
              <a:solidFill>
                <a:srgbClr val="262626"/>
              </a:solidFill>
              <a:latin typeface="Meiryo"/>
              <a:ea typeface="Meiryo"/>
              <a:cs typeface="Meiryo"/>
            </a:endParaRPr>
          </a:p>
          <a:p>
            <a:pPr algn="l">
              <a:lnSpc>
                <a:spcPts val="3504"/>
              </a:lnSpc>
              <a:spcBef>
                <a:spcPts val="0"/>
              </a:spcBef>
              <a:spcAft>
                <a:spcPts val="0"/>
              </a:spcAft>
            </a:pPr>
            <a:r>
              <a:rPr sz="2200" b="1" dirty="0">
                <a:solidFill>
                  <a:srgbClr val="BF9000"/>
                </a:solidFill>
                <a:latin typeface="Meiryo"/>
                <a:ea typeface="Meiryo"/>
                <a:cs typeface="Meiryo"/>
              </a:rPr>
              <a:t>　1.3　</a:t>
            </a:r>
            <a:r>
              <a:rPr sz="2200" b="1" dirty="0" err="1">
                <a:solidFill>
                  <a:srgbClr val="262626"/>
                </a:solidFill>
                <a:latin typeface="Meiryo"/>
                <a:ea typeface="Meiryo"/>
                <a:cs typeface="Meiryo"/>
              </a:rPr>
              <a:t>前進波の成因</a:t>
            </a:r>
            <a:endParaRPr sz="2200" b="1" dirty="0">
              <a:solidFill>
                <a:srgbClr val="262626"/>
              </a:solidFill>
              <a:latin typeface="Meiryo"/>
              <a:ea typeface="Meiryo"/>
              <a:cs typeface="Meiryo"/>
            </a:endParaRPr>
          </a:p>
          <a:p>
            <a:pPr algn="l">
              <a:lnSpc>
                <a:spcPts val="3504"/>
              </a:lnSpc>
              <a:spcBef>
                <a:spcPts val="0"/>
              </a:spcBef>
              <a:spcAft>
                <a:spcPts val="0"/>
              </a:spcAft>
            </a:pPr>
            <a:r>
              <a:rPr sz="2200" b="1" dirty="0">
                <a:solidFill>
                  <a:srgbClr val="BF9000"/>
                </a:solidFill>
                <a:latin typeface="Meiryo"/>
                <a:ea typeface="Meiryo"/>
                <a:cs typeface="Meiryo"/>
              </a:rPr>
              <a:t>　1.4　</a:t>
            </a:r>
            <a:r>
              <a:rPr sz="2200" b="1" dirty="0" err="1">
                <a:solidFill>
                  <a:srgbClr val="262626"/>
                </a:solidFill>
                <a:latin typeface="Meiryo"/>
                <a:ea typeface="Meiryo"/>
                <a:cs typeface="Meiryo"/>
              </a:rPr>
              <a:t>反射波の成因</a:t>
            </a:r>
            <a:endParaRPr sz="2200" b="1" dirty="0">
              <a:solidFill>
                <a:srgbClr val="262626"/>
              </a:solidFill>
              <a:latin typeface="Meiryo"/>
              <a:ea typeface="Meiryo"/>
              <a:cs typeface="Meiryo"/>
            </a:endParaRPr>
          </a:p>
          <a:p>
            <a:pPr algn="l">
              <a:lnSpc>
                <a:spcPts val="3504"/>
              </a:lnSpc>
              <a:spcBef>
                <a:spcPts val="0"/>
              </a:spcBef>
              <a:spcAft>
                <a:spcPts val="0"/>
              </a:spcAft>
            </a:pPr>
            <a:r>
              <a:rPr sz="2400" b="1" dirty="0">
                <a:solidFill>
                  <a:srgbClr val="D9D9D9"/>
                </a:solidFill>
                <a:latin typeface="Meiryo"/>
                <a:ea typeface="Meiryo"/>
                <a:cs typeface="Meiryo"/>
              </a:rPr>
              <a:t>2. </a:t>
            </a:r>
            <a:r>
              <a:rPr sz="2400" b="0" dirty="0" err="1">
                <a:solidFill>
                  <a:srgbClr val="D9D9D9"/>
                </a:solidFill>
                <a:latin typeface="Meiryo"/>
                <a:ea typeface="Meiryo"/>
                <a:cs typeface="Meiryo"/>
              </a:rPr>
              <a:t>波形への影響：加齢</a:t>
            </a:r>
            <a:endParaRPr sz="2400" b="0" dirty="0">
              <a:solidFill>
                <a:srgbClr val="D9D9D9"/>
              </a:solidFill>
              <a:latin typeface="Meiryo"/>
              <a:ea typeface="Meiryo"/>
              <a:cs typeface="Meiryo"/>
            </a:endParaRPr>
          </a:p>
          <a:p>
            <a:pPr algn="l">
              <a:lnSpc>
                <a:spcPts val="3504"/>
              </a:lnSpc>
              <a:spcBef>
                <a:spcPts val="0"/>
              </a:spcBef>
              <a:spcAft>
                <a:spcPts val="0"/>
              </a:spcAft>
            </a:pPr>
            <a:r>
              <a:rPr sz="2400" b="1" dirty="0">
                <a:solidFill>
                  <a:srgbClr val="D9D9D9"/>
                </a:solidFill>
                <a:latin typeface="Meiryo"/>
                <a:ea typeface="Meiryo"/>
                <a:cs typeface="Meiryo"/>
              </a:rPr>
              <a:t>3. </a:t>
            </a:r>
            <a:r>
              <a:rPr sz="2400" b="0" dirty="0" err="1">
                <a:solidFill>
                  <a:srgbClr val="D9D9D9"/>
                </a:solidFill>
                <a:latin typeface="Meiryo"/>
                <a:ea typeface="Meiryo"/>
                <a:cs typeface="Meiryo"/>
              </a:rPr>
              <a:t>波形への影響：循環</a:t>
            </a:r>
            <a:endParaRPr sz="2400" b="0" dirty="0">
              <a:solidFill>
                <a:srgbClr val="D9D9D9"/>
              </a:solidFill>
              <a:latin typeface="Meiryo"/>
              <a:ea typeface="Meiryo"/>
              <a:cs typeface="Meiryo"/>
            </a:endParaRPr>
          </a:p>
          <a:p>
            <a:pPr algn="l">
              <a:lnSpc>
                <a:spcPts val="3504"/>
              </a:lnSpc>
              <a:spcBef>
                <a:spcPts val="0"/>
              </a:spcBef>
              <a:spcAft>
                <a:spcPts val="0"/>
              </a:spcAft>
            </a:pPr>
            <a:r>
              <a:rPr sz="2400" b="1" dirty="0">
                <a:solidFill>
                  <a:srgbClr val="D9D9D9"/>
                </a:solidFill>
                <a:latin typeface="Meiryo"/>
                <a:ea typeface="Meiryo"/>
                <a:cs typeface="Meiryo"/>
              </a:rPr>
              <a:t>4. </a:t>
            </a:r>
            <a:r>
              <a:rPr sz="2400" b="0" dirty="0" err="1">
                <a:solidFill>
                  <a:srgbClr val="D9D9D9"/>
                </a:solidFill>
                <a:latin typeface="Meiryo"/>
                <a:ea typeface="Meiryo"/>
                <a:cs typeface="Meiryo"/>
              </a:rPr>
              <a:t>麻酔中の波形変化</a:t>
            </a:r>
            <a:endParaRPr sz="2400" b="0" dirty="0">
              <a:solidFill>
                <a:srgbClr val="D9D9D9"/>
              </a:solidFill>
              <a:latin typeface="Meiryo"/>
              <a:ea typeface="Meiryo"/>
              <a:cs typeface="Meiryo"/>
            </a:endParaRPr>
          </a:p>
          <a:p>
            <a:pPr algn="l">
              <a:lnSpc>
                <a:spcPts val="3504"/>
              </a:lnSpc>
              <a:spcBef>
                <a:spcPts val="0"/>
              </a:spcBef>
              <a:spcAft>
                <a:spcPts val="0"/>
              </a:spcAft>
            </a:pPr>
            <a:r>
              <a:rPr sz="2400" b="1" dirty="0">
                <a:solidFill>
                  <a:srgbClr val="D9D9D9"/>
                </a:solidFill>
                <a:latin typeface="Meiryo"/>
                <a:ea typeface="Meiryo"/>
                <a:cs typeface="Meiryo"/>
              </a:rPr>
              <a:t>5. </a:t>
            </a:r>
            <a:r>
              <a:rPr sz="2400" b="0" dirty="0" err="1">
                <a:solidFill>
                  <a:srgbClr val="D9D9D9"/>
                </a:solidFill>
                <a:latin typeface="Meiryo"/>
                <a:ea typeface="Meiryo"/>
                <a:cs typeface="Meiryo"/>
              </a:rPr>
              <a:t>波形の定量化</a:t>
            </a:r>
            <a:endParaRPr sz="2400" b="0" dirty="0">
              <a:solidFill>
                <a:srgbClr val="D9D9D9"/>
              </a:solidFill>
              <a:latin typeface="Meiryo"/>
              <a:ea typeface="Meiryo"/>
              <a:cs typeface="Meiryo"/>
            </a:endParaRPr>
          </a:p>
          <a:p>
            <a:pPr algn="l">
              <a:lnSpc>
                <a:spcPts val="3504"/>
              </a:lnSpc>
              <a:spcBef>
                <a:spcPts val="0"/>
              </a:spcBef>
              <a:spcAft>
                <a:spcPts val="0"/>
              </a:spcAft>
            </a:pPr>
            <a:r>
              <a:rPr sz="2400" b="1" dirty="0">
                <a:solidFill>
                  <a:srgbClr val="D9D9D9"/>
                </a:solidFill>
                <a:latin typeface="Meiryo"/>
                <a:ea typeface="Meiryo"/>
                <a:cs typeface="Meiryo"/>
              </a:rPr>
              <a:t>6. </a:t>
            </a:r>
            <a:r>
              <a:rPr sz="2400" b="0" dirty="0" err="1">
                <a:solidFill>
                  <a:srgbClr val="D9D9D9"/>
                </a:solidFill>
                <a:latin typeface="Meiryo"/>
                <a:ea typeface="Meiryo"/>
                <a:cs typeface="Meiryo"/>
              </a:rPr>
              <a:t>解析まとめ</a:t>
            </a:r>
            <a:endParaRPr sz="2400" b="0" dirty="0">
              <a:solidFill>
                <a:srgbClr val="D9D9D9"/>
              </a:solidFill>
              <a:latin typeface="Meiryo"/>
              <a:ea typeface="Meiryo"/>
              <a:cs typeface="Meiryo"/>
            </a:endParaRPr>
          </a:p>
          <a:p>
            <a:pPr algn="l">
              <a:lnSpc>
                <a:spcPts val="3504"/>
              </a:lnSpc>
              <a:spcBef>
                <a:spcPts val="0"/>
              </a:spcBef>
              <a:spcAft>
                <a:spcPts val="0"/>
              </a:spcAft>
            </a:pPr>
            <a:r>
              <a:rPr sz="2400" b="1" dirty="0">
                <a:solidFill>
                  <a:srgbClr val="D9D9D9"/>
                </a:solidFill>
                <a:latin typeface="Meiryo"/>
                <a:ea typeface="Meiryo"/>
                <a:cs typeface="Meiryo"/>
              </a:rPr>
              <a:t>7. </a:t>
            </a:r>
            <a:r>
              <a:rPr sz="2400" b="0" dirty="0" err="1">
                <a:solidFill>
                  <a:srgbClr val="D9D9D9"/>
                </a:solidFill>
                <a:latin typeface="Meiryo"/>
                <a:ea typeface="Meiryo"/>
                <a:cs typeface="Meiryo"/>
              </a:rPr>
              <a:t>限界</a:t>
            </a:r>
            <a:endParaRPr sz="2400" b="0" dirty="0">
              <a:solidFill>
                <a:srgbClr val="D9D9D9"/>
              </a:solidFill>
              <a:latin typeface="Meiryo"/>
              <a:ea typeface="Meiryo"/>
              <a:cs typeface="Meiryo"/>
            </a:endParaRPr>
          </a:p>
        </p:txBody>
      </p:sp>
      <p:sp>
        <p:nvSpPr>
          <p:cNvPr id="9" name="TextBox 8"/>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3/36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3B47A-2D42-F501-E49B-06D89D1B5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2B64C-DAAD-3149-3044-CA54CF62EC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50D71AC4-215C-1A14-72A6-52FFB724CA9F}"/>
              </a:ext>
            </a:extLst>
          </p:cNvPr>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a:extLst>
              <a:ext uri="{FF2B5EF4-FFF2-40B4-BE49-F238E27FC236}">
                <a16:creationId xmlns:a16="http://schemas.microsoft.com/office/drawing/2014/main" id="{143A0ED4-F3B3-B7FC-B62A-541C1E47E598}"/>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1A3A95C3-AC2F-2E03-B9E1-2EAC0A0F7AD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C6F94484-36CA-7E1F-E2D2-8978DDA4A43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06FF0FC4-0781-6465-151D-4CAA7EA9511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3A0CF44-3F0F-E80E-6B15-46E64C373FF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44236CE0-C013-622A-63DB-E3AEDD510E8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7913352D-7BCE-51AD-953C-C71EBC4F2BE0}"/>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25. Aoyagi 2003  </a:t>
            </a:r>
            <a:r>
              <a:rPr sz="1050" b="0">
                <a:solidFill>
                  <a:srgbClr val="808080"/>
                </a:solidFill>
                <a:latin typeface="Meiryo"/>
                <a:ea typeface="Meiryo"/>
                <a:cs typeface="Meiryo"/>
                <a:hlinkClick r:id="rId5"/>
              </a:rPr>
              <a:t>doi.org/10.1007/s00540-003-0192-6</a:t>
            </a:r>
            <a:r>
              <a:rPr sz="1050" b="0">
                <a:solidFill>
                  <a:srgbClr val="808080"/>
                </a:solidFill>
                <a:latin typeface="Meiryo"/>
                <a:ea typeface="Meiryo"/>
                <a:cs typeface="Meiryo"/>
              </a:rPr>
              <a:t>　／　26. Chan 2013  </a:t>
            </a:r>
            <a:r>
              <a:rPr sz="1050" b="0">
                <a:solidFill>
                  <a:srgbClr val="808080"/>
                </a:solidFill>
                <a:latin typeface="Meiryo"/>
                <a:ea typeface="Meiryo"/>
                <a:cs typeface="Meiryo"/>
                <a:hlinkClick r:id="rId6"/>
              </a:rPr>
              <a:t>doi.org/10.1016/j.rmed.2013.02.004</a:t>
            </a:r>
          </a:p>
        </p:txBody>
      </p:sp>
      <p:sp>
        <p:nvSpPr>
          <p:cNvPr id="10" name="TextBox 9">
            <a:extLst>
              <a:ext uri="{FF2B5EF4-FFF2-40B4-BE49-F238E27FC236}">
                <a16:creationId xmlns:a16="http://schemas.microsoft.com/office/drawing/2014/main" id="{F3067437-B1A2-5DDD-75A9-85F338E4DF50}"/>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4/36</a:t>
            </a:r>
          </a:p>
        </p:txBody>
      </p:sp>
      <p:sp>
        <p:nvSpPr>
          <p:cNvPr id="19" name="TextBox 18">
            <a:extLst>
              <a:ext uri="{FF2B5EF4-FFF2-40B4-BE49-F238E27FC236}">
                <a16:creationId xmlns:a16="http://schemas.microsoft.com/office/drawing/2014/main" id="{49FEE11E-B8F8-FFD1-C361-F7F91322652F}"/>
              </a:ext>
            </a:extLst>
          </p:cNvPr>
          <p:cNvSpPr txBox="1"/>
          <p:nvPr/>
        </p:nvSpPr>
        <p:spPr>
          <a:xfrm>
            <a:off x="6267853" y="1681812"/>
            <a:ext cx="745397"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SpO₂</a:t>
            </a:r>
          </a:p>
        </p:txBody>
      </p:sp>
      <p:pic>
        <p:nvPicPr>
          <p:cNvPr id="20" name="fig_spectra" descr="f_spo2_spectra.png">
            <a:extLst>
              <a:ext uri="{FF2B5EF4-FFF2-40B4-BE49-F238E27FC236}">
                <a16:creationId xmlns:a16="http://schemas.microsoft.com/office/drawing/2014/main" id="{2B402B40-5AFB-B391-E46D-99952AA8EBCA}"/>
              </a:ext>
            </a:extLst>
          </p:cNvPr>
          <p:cNvPicPr>
            <a:picLocks noChangeAspect="1"/>
          </p:cNvPicPr>
          <p:nvPr/>
        </p:nvPicPr>
        <p:blipFill>
          <a:blip r:embed="rId3"/>
          <a:stretch>
            <a:fillRect/>
          </a:stretch>
        </p:blipFill>
        <p:spPr>
          <a:xfrm>
            <a:off x="1440000" y="2015999"/>
            <a:ext cx="3479861" cy="3024000"/>
          </a:xfrm>
          <a:prstGeom prst="rect">
            <a:avLst/>
          </a:prstGeom>
        </p:spPr>
      </p:pic>
      <p:pic>
        <p:nvPicPr>
          <p:cNvPr id="21" name="fig_calib" descr="f_spo2_calib.png">
            <a:extLst>
              <a:ext uri="{FF2B5EF4-FFF2-40B4-BE49-F238E27FC236}">
                <a16:creationId xmlns:a16="http://schemas.microsoft.com/office/drawing/2014/main" id="{50891F10-EC76-2859-0983-978811ACE34B}"/>
              </a:ext>
            </a:extLst>
          </p:cNvPr>
          <p:cNvPicPr>
            <a:picLocks noChangeAspect="1"/>
          </p:cNvPicPr>
          <p:nvPr/>
        </p:nvPicPr>
        <p:blipFill>
          <a:blip r:embed="rId4"/>
          <a:stretch>
            <a:fillRect/>
          </a:stretch>
        </p:blipFill>
        <p:spPr>
          <a:xfrm>
            <a:off x="6213376" y="2015999"/>
            <a:ext cx="4078883" cy="3024000"/>
          </a:xfrm>
          <a:prstGeom prst="rect">
            <a:avLst/>
          </a:prstGeom>
        </p:spPr>
      </p:pic>
      <p:sp>
        <p:nvSpPr>
          <p:cNvPr id="22" name="TextBox 21">
            <a:extLst>
              <a:ext uri="{FF2B5EF4-FFF2-40B4-BE49-F238E27FC236}">
                <a16:creationId xmlns:a16="http://schemas.microsoft.com/office/drawing/2014/main" id="{0A575052-C0E8-6140-6750-4E14B9A6ABD1}"/>
              </a:ext>
            </a:extLst>
          </p:cNvPr>
          <p:cNvSpPr txBox="1"/>
          <p:nvPr/>
        </p:nvSpPr>
        <p:spPr>
          <a:xfrm>
            <a:off x="1553724"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631D0892-885D-48D2-7308-FB6AB8E290F8}"/>
              </a:ext>
            </a:extLst>
          </p:cNvPr>
          <p:cNvSpPr txBox="1"/>
          <p:nvPr/>
        </p:nvSpPr>
        <p:spPr>
          <a:xfrm>
            <a:off x="3792925"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70C866B3-29CA-367A-FDF6-29FB7339B560}"/>
              </a:ext>
            </a:extLst>
          </p:cNvPr>
          <p:cNvSpPr txBox="1"/>
          <p:nvPr/>
        </p:nvSpPr>
        <p:spPr>
          <a:xfrm>
            <a:off x="1683385" y="5006911"/>
            <a:ext cx="306333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赤色光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Hb </a:t>
            </a:r>
          </a:p>
        </p:txBody>
      </p:sp>
      <p:sp>
        <p:nvSpPr>
          <p:cNvPr id="25" name="TextBox 24">
            <a:extLst>
              <a:ext uri="{FF2B5EF4-FFF2-40B4-BE49-F238E27FC236}">
                <a16:creationId xmlns:a16="http://schemas.microsoft.com/office/drawing/2014/main" id="{3D360E09-3F59-D6CC-6388-D4C5E5B703C5}"/>
              </a:ext>
            </a:extLst>
          </p:cNvPr>
          <p:cNvSpPr txBox="1"/>
          <p:nvPr/>
        </p:nvSpPr>
        <p:spPr>
          <a:xfrm>
            <a:off x="1683385" y="5402911"/>
            <a:ext cx="3430426"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sz="2200" b="1" dirty="0" err="1">
                <a:solidFill>
                  <a:srgbClr val="D55E00"/>
                </a:solidFill>
                <a:latin typeface="Meiryo"/>
                <a:ea typeface="Meiryo"/>
                <a:cs typeface="Meiryo"/>
              </a:rPr>
              <a:t>HbO</a:t>
            </a:r>
            <a:r>
              <a:rPr sz="2200" b="1" dirty="0">
                <a:solidFill>
                  <a:srgbClr val="D55E00"/>
                </a:solidFill>
                <a:latin typeface="Meiryo"/>
                <a:ea typeface="Meiryo"/>
                <a:cs typeface="Meiryo"/>
              </a:rPr>
              <a:t>₂ </a:t>
            </a:r>
          </a:p>
        </p:txBody>
      </p:sp>
      <p:sp>
        <p:nvSpPr>
          <p:cNvPr id="26" name="TextBox 25">
            <a:extLst>
              <a:ext uri="{FF2B5EF4-FFF2-40B4-BE49-F238E27FC236}">
                <a16:creationId xmlns:a16="http://schemas.microsoft.com/office/drawing/2014/main" id="{472F7AF6-5E56-2C2B-DE07-74E2A58990B2}"/>
              </a:ext>
            </a:extLst>
          </p:cNvPr>
          <p:cNvSpPr txBox="1"/>
          <p:nvPr/>
        </p:nvSpPr>
        <p:spPr>
          <a:xfrm>
            <a:off x="6592519" y="5189162"/>
            <a:ext cx="5184000" cy="378000"/>
          </a:xfrm>
          <a:prstGeom prst="rect">
            <a:avLst/>
          </a:prstGeom>
          <a:noFill/>
        </p:spPr>
        <p:txBody>
          <a:bodyPr wrap="none" lIns="0" tIns="0" rIns="0" bIns="0" anchor="ctr">
            <a:spAutoFit/>
          </a:bodyPr>
          <a:lstStyle/>
          <a:p>
            <a:pPr algn="l">
              <a:spcBef>
                <a:spcPts val="0"/>
              </a:spcBef>
              <a:spcAft>
                <a:spcPts val="0"/>
              </a:spcAft>
            </a:pPr>
            <a:r>
              <a:rPr sz="2200" b="1" dirty="0">
                <a:solidFill>
                  <a:srgbClr val="BF9000"/>
                </a:solidFill>
                <a:latin typeface="Meiryo"/>
                <a:ea typeface="Meiryo"/>
                <a:cs typeface="Meiryo"/>
              </a:rPr>
              <a:t>R ＝ (AC/DC)</a:t>
            </a:r>
            <a:r>
              <a:rPr sz="2200" b="1" dirty="0" err="1">
                <a:solidFill>
                  <a:srgbClr val="BF9000"/>
                </a:solidFill>
                <a:latin typeface="Meiryo"/>
                <a:ea typeface="Meiryo"/>
                <a:cs typeface="Meiryo"/>
              </a:rPr>
              <a:t>赤</a:t>
            </a:r>
            <a:r>
              <a:rPr sz="2200" b="1" dirty="0">
                <a:solidFill>
                  <a:srgbClr val="BF9000"/>
                </a:solidFill>
                <a:latin typeface="Meiryo"/>
                <a:ea typeface="Meiryo"/>
                <a:cs typeface="Meiryo"/>
              </a:rPr>
              <a:t> ÷ (AC/DC)</a:t>
            </a:r>
            <a:r>
              <a:rPr sz="2200" b="1" dirty="0" err="1">
                <a:solidFill>
                  <a:srgbClr val="BF9000"/>
                </a:solidFill>
                <a:latin typeface="Meiryo"/>
                <a:ea typeface="Meiryo"/>
                <a:cs typeface="Meiryo"/>
              </a:rPr>
              <a:t>赤外</a:t>
            </a:r>
            <a:endParaRPr sz="2200" b="1" dirty="0">
              <a:solidFill>
                <a:srgbClr val="BF9000"/>
              </a:solidFill>
              <a:latin typeface="Meiryo"/>
              <a:ea typeface="Meiryo"/>
              <a:cs typeface="Meiryo"/>
            </a:endParaRPr>
          </a:p>
        </p:txBody>
      </p:sp>
      <p:sp>
        <p:nvSpPr>
          <p:cNvPr id="28" name="Rounded Rectangle 27">
            <a:extLst>
              <a:ext uri="{FF2B5EF4-FFF2-40B4-BE49-F238E27FC236}">
                <a16:creationId xmlns:a16="http://schemas.microsoft.com/office/drawing/2014/main" id="{E19F5D35-1B25-3E54-665C-78D5EC4E9905}"/>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SpO₂ は 拍動成分の比 R から 経験式で決まる</a:t>
            </a:r>
          </a:p>
        </p:txBody>
      </p:sp>
      <p:sp>
        <p:nvSpPr>
          <p:cNvPr id="3" name="TextBox 18">
            <a:extLst>
              <a:ext uri="{FF2B5EF4-FFF2-40B4-BE49-F238E27FC236}">
                <a16:creationId xmlns:a16="http://schemas.microsoft.com/office/drawing/2014/main" id="{DBB6B0AF-D6EA-E50E-FFAA-B81DCCEBFB4C}"/>
              </a:ext>
            </a:extLst>
          </p:cNvPr>
          <p:cNvSpPr txBox="1"/>
          <p:nvPr/>
        </p:nvSpPr>
        <p:spPr>
          <a:xfrm>
            <a:off x="10679577" y="4582391"/>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Tree>
    <p:extLst>
      <p:ext uri="{BB962C8B-B14F-4D97-AF65-F5344CB8AC3E}">
        <p14:creationId xmlns:p14="http://schemas.microsoft.com/office/powerpoint/2010/main" val="3340969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pO2と赤色光・赤外光の受光量変化の概念図">
            <a:extLst>
              <a:ext uri="{FF2B5EF4-FFF2-40B4-BE49-F238E27FC236}">
                <a16:creationId xmlns:a16="http://schemas.microsoft.com/office/drawing/2014/main" id="{8407F036-42E6-DF5E-5A76-B17703512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756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EDF69-3D2E-B243-780D-A284B9FE4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F0E38-258E-C672-1CD6-B0228A4DD668}"/>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2E0166CE-29F6-AAA5-002D-A2BF7CE78AAC}"/>
              </a:ext>
            </a:extLst>
          </p:cNvPr>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a:extLst>
              <a:ext uri="{FF2B5EF4-FFF2-40B4-BE49-F238E27FC236}">
                <a16:creationId xmlns:a16="http://schemas.microsoft.com/office/drawing/2014/main" id="{46E144F0-B2E9-E340-7CB9-EC9DE209D5E9}"/>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0D69DB9E-5757-A717-430D-1ADE6E0C5C0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F848DDD6-5412-63D8-BDA8-64DA84FFDC2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A5CFD76D-2F60-86F0-46A0-D08FCACC88F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E117B4E6-FF01-34FD-5CF6-92B37670BC2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76894886-2D17-6707-46BE-CF7E9E094AB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D6752398-5998-9770-A7E4-637A5D048F3D}"/>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10" name="TextBox 9">
            <a:extLst>
              <a:ext uri="{FF2B5EF4-FFF2-40B4-BE49-F238E27FC236}">
                <a16:creationId xmlns:a16="http://schemas.microsoft.com/office/drawing/2014/main" id="{66F41FAB-105F-93D5-9614-D13CB4EDCFBE}"/>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5/36</a:t>
            </a:r>
          </a:p>
        </p:txBody>
      </p:sp>
      <p:sp>
        <p:nvSpPr>
          <p:cNvPr id="18" name="TextBox 17">
            <a:extLst>
              <a:ext uri="{FF2B5EF4-FFF2-40B4-BE49-F238E27FC236}">
                <a16:creationId xmlns:a16="http://schemas.microsoft.com/office/drawing/2014/main" id="{B7387E82-1588-2441-9848-CF7A6A4AD564}"/>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4E9811FD-C1ED-FFEF-F804-504BDDF4AC08}"/>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AC2E461-CB4B-7AB7-BB9A-562D09F285C6}"/>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07724C26-8D88-4928-D05D-201FE1176A81}"/>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FBDB3250-B455-C030-874A-C5FB0CCADFC7}"/>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36A8BCCD-097C-F9DA-6F0E-0BF1B726F40E}"/>
              </a:ext>
            </a:extLst>
          </p:cNvPr>
          <p:cNvSpPr txBox="1"/>
          <p:nvPr/>
        </p:nvSpPr>
        <p:spPr>
          <a:xfrm>
            <a:off x="4076059" y="4773708"/>
            <a:ext cx="2425344"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4" name="TextBox 23">
            <a:extLst>
              <a:ext uri="{FF2B5EF4-FFF2-40B4-BE49-F238E27FC236}">
                <a16:creationId xmlns:a16="http://schemas.microsoft.com/office/drawing/2014/main" id="{0835FC30-B109-3041-DC48-E6E132891C23}"/>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25" name="TextBox 24">
            <a:extLst>
              <a:ext uri="{FF2B5EF4-FFF2-40B4-BE49-F238E27FC236}">
                <a16:creationId xmlns:a16="http://schemas.microsoft.com/office/drawing/2014/main" id="{1B834B42-FE81-823D-9E4E-22854C8AE5D0}"/>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93CEA0B2-01EE-BFB5-5F97-0D5B85B7368D}"/>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spTree>
    <p:extLst>
      <p:ext uri="{BB962C8B-B14F-4D97-AF65-F5344CB8AC3E}">
        <p14:creationId xmlns:p14="http://schemas.microsoft.com/office/powerpoint/2010/main" val="2778816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F89AEFDB-BBD7-FBB0-30BA-A7E67BD5EBD0}"/>
              </a:ext>
            </a:extLst>
          </p:cNvPr>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a:extLst>
              <a:ext uri="{FF2B5EF4-FFF2-40B4-BE49-F238E27FC236}">
                <a16:creationId xmlns:a16="http://schemas.microsoft.com/office/drawing/2014/main" id="{9E8BD8CA-B640-64E3-4F9D-002DF57FE014}"/>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A0688F5D-D548-0A86-F3D6-30A76BA0AE93}"/>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314174C3-B500-4C63-8093-152A3DC4D75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C7022DA7-F402-260A-E6AB-D42D417F0E4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1341152-344E-FDA7-4360-6157383A803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90916281-6882-F039-A2CF-2DC1C57137C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6657872E-5035-3FA6-1182-CD3229452C78}"/>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10" name="TextBox 9">
            <a:extLst>
              <a:ext uri="{FF2B5EF4-FFF2-40B4-BE49-F238E27FC236}">
                <a16:creationId xmlns:a16="http://schemas.microsoft.com/office/drawing/2014/main" id="{6982AAB9-2EE8-F71E-DCFF-686FE2516EBA}"/>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5/36</a:t>
            </a: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336971" y="4781721"/>
            <a:ext cx="4607030"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a:t>
            </a:r>
            <a:r>
              <a:rPr sz="2200" b="1" dirty="0" err="1">
                <a:solidFill>
                  <a:srgbClr val="262626"/>
                </a:solidFill>
                <a:latin typeface="Meiryo"/>
                <a:ea typeface="Meiryo"/>
                <a:cs typeface="Meiryo"/>
              </a:rPr>
              <a:t>が</a:t>
            </a:r>
            <a:r>
              <a:rPr lang="ja-JP" altLang="en-US" sz="2200" b="1">
                <a:solidFill>
                  <a:srgbClr val="262626"/>
                </a:solidFill>
                <a:latin typeface="Meiryo"/>
                <a:ea typeface="Meiryo"/>
                <a:cs typeface="Meiryo"/>
              </a:rPr>
              <a:t>来</a:t>
            </a:r>
            <a:r>
              <a:rPr sz="2200" b="1" dirty="0" err="1">
                <a:solidFill>
                  <a:srgbClr val="262626"/>
                </a:solidFill>
                <a:latin typeface="Meiryo"/>
                <a:ea typeface="Meiryo"/>
                <a:cs typeface="Meiryo"/>
              </a:rPr>
              <a:t>た所だけ</a:t>
            </a:r>
            <a:r>
              <a:rPr lang="ja-JP" altLang="en-US" sz="2200" b="1">
                <a:solidFill>
                  <a:srgbClr val="262626"/>
                </a:solidFill>
                <a:latin typeface="Meiryo"/>
                <a:ea typeface="Meiryo"/>
                <a:cs typeface="Meiryo"/>
              </a:rPr>
              <a:t>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Tree>
    <p:extLst>
      <p:ext uri="{BB962C8B-B14F-4D97-AF65-F5344CB8AC3E}">
        <p14:creationId xmlns:p14="http://schemas.microsoft.com/office/powerpoint/2010/main" val="34517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8E420640-C62F-1C56-1D75-E06EDDDFD029}"/>
              </a:ext>
            </a:extLst>
          </p:cNvPr>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a:extLst>
              <a:ext uri="{FF2B5EF4-FFF2-40B4-BE49-F238E27FC236}">
                <a16:creationId xmlns:a16="http://schemas.microsoft.com/office/drawing/2014/main" id="{C1FFEC85-E2FF-BEA3-1DAA-AB8690879A03}"/>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32996C8E-94C0-375A-90F8-A6FBE470E856}"/>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4EC87173-9741-4795-CA15-E7CF4CEB6DA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74CEBD50-A62D-986F-1C38-26D78D610F7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E89D78F-940A-12C3-98E4-693AEBB52C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2F7F1A20-200D-89FF-D5E5-7F6A57BDFF4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5901798C-8E18-5955-F986-8F27DC2B357B}"/>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10" name="TextBox 9">
            <a:extLst>
              <a:ext uri="{FF2B5EF4-FFF2-40B4-BE49-F238E27FC236}">
                <a16:creationId xmlns:a16="http://schemas.microsoft.com/office/drawing/2014/main" id="{B6F32C87-C0F9-52D7-B175-C1A338FF04BA}"/>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5/36</a:t>
            </a: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6" name="Rounded Rectangle 25">
            <a:extLst>
              <a:ext uri="{FF2B5EF4-FFF2-40B4-BE49-F238E27FC236}">
                <a16:creationId xmlns:a16="http://schemas.microsoft.com/office/drawing/2014/main" id="{EBEEEE6E-2871-6CC6-2468-EE7B2A5B3E90}"/>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Tree>
    <p:extLst>
      <p:ext uri="{BB962C8B-B14F-4D97-AF65-F5344CB8AC3E}">
        <p14:creationId xmlns:p14="http://schemas.microsoft.com/office/powerpoint/2010/main" val="168481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5/36</a:t>
            </a:r>
          </a:p>
        </p:txBody>
      </p:sp>
      <p:sp>
        <p:nvSpPr>
          <p:cNvPr id="18" name="TextBox 17"/>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p:cNvPicPr>
            <a:picLocks noChangeAspect="1"/>
          </p:cNvPicPr>
          <p:nvPr/>
        </p:nvPicPr>
        <p:blipFill>
          <a:blip r:embed="rId4"/>
          <a:stretch>
            <a:fillRect/>
          </a:stretch>
        </p:blipFill>
        <p:spPr>
          <a:xfrm>
            <a:off x="7015925" y="2096275"/>
            <a:ext cx="4337875" cy="3024000"/>
          </a:xfrm>
          <a:prstGeom prst="rect">
            <a:avLst/>
          </a:prstGeom>
        </p:spPr>
      </p:pic>
      <p:sp>
        <p:nvSpPr>
          <p:cNvPr id="22" name="TextBox 21"/>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4" name="TextBox 23"/>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25" name="TextBox 24"/>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6" name="Rounded Rectangle 25"/>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sp>
        <p:nvSpPr>
          <p:cNvPr id="3" name="TextBox 22">
            <a:extLst>
              <a:ext uri="{FF2B5EF4-FFF2-40B4-BE49-F238E27FC236}">
                <a16:creationId xmlns:a16="http://schemas.microsoft.com/office/drawing/2014/main" id="{8AD09E88-B707-1153-D622-772143914AB3}"/>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60217C92-2375-5CBF-93E6-84EBB6254535}"/>
              </a:ext>
            </a:extLst>
          </p:cNvPr>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a:extLst>
              <a:ext uri="{FF2B5EF4-FFF2-40B4-BE49-F238E27FC236}">
                <a16:creationId xmlns:a16="http://schemas.microsoft.com/office/drawing/2014/main" id="{7B49AF91-1AD7-95DE-F223-4F56530E0383}"/>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4DFA500C-62FD-C61C-440B-D282AE95D76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1FDF07FD-64A3-8600-6089-5023ABDEFB4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179FA7F2-CCEF-EBFA-FEE4-82F76D25D74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DE2DD8F-07F9-5271-4D4F-8CC8593B2CC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B89610E2-4A20-D8D1-36A7-2042EF05F69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AEBD6B0E-C4C8-64A0-B8DB-D1FC8EE062C2}"/>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Politi 2016  ／  3. Stergiopulos 1999</a:t>
            </a:r>
          </a:p>
        </p:txBody>
      </p:sp>
      <p:sp>
        <p:nvSpPr>
          <p:cNvPr id="10" name="TextBox 9">
            <a:extLst>
              <a:ext uri="{FF2B5EF4-FFF2-40B4-BE49-F238E27FC236}">
                <a16:creationId xmlns:a16="http://schemas.microsoft.com/office/drawing/2014/main" id="{62268859-5D73-343E-CB7F-9A92B97F7DD1}"/>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6/36</a:t>
            </a: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077087"/>
            <a:ext cx="2098716"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ja-JP" altLang="en-US" sz="2200" b="1">
                <a:solidFill>
                  <a:srgbClr val="808080"/>
                </a:solidFill>
                <a:latin typeface="Meiryo"/>
                <a:ea typeface="Meiryo"/>
                <a:cs typeface="Meiryo"/>
              </a:rPr>
              <a:t>数十</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473164"/>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Tree>
    <p:extLst>
      <p:ext uri="{BB962C8B-B14F-4D97-AF65-F5344CB8AC3E}">
        <p14:creationId xmlns:p14="http://schemas.microsoft.com/office/powerpoint/2010/main" val="3699481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9A5F5-92B5-9841-021F-F5A3E25AB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9F7D0-D611-37F5-77E1-85C8F8A90EF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FBB3DA4F-C02D-5863-56C1-E6006C2BE0BC}"/>
              </a:ext>
            </a:extLst>
          </p:cNvPr>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a:extLst>
              <a:ext uri="{FF2B5EF4-FFF2-40B4-BE49-F238E27FC236}">
                <a16:creationId xmlns:a16="http://schemas.microsoft.com/office/drawing/2014/main" id="{13B22457-8994-9416-4EA1-50CED94D21F3}"/>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E13B92BB-2C9F-0514-0316-7E3F5F6DE9E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D7783D44-7BE1-9C88-653F-FFCAF988F48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8DE858FC-BDDE-2D21-D8A6-E28D4DFBEF1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3DCBB88-70BB-B377-2891-884905106C3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154DE2A8-9938-F0B2-9565-C41CBC7F212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DD18724F-6D6B-2F57-CC72-1B983FB05310}"/>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Politi 2016  ／  3. Stergiopulos 1999</a:t>
            </a:r>
          </a:p>
        </p:txBody>
      </p:sp>
      <p:sp>
        <p:nvSpPr>
          <p:cNvPr id="10" name="TextBox 9">
            <a:extLst>
              <a:ext uri="{FF2B5EF4-FFF2-40B4-BE49-F238E27FC236}">
                <a16:creationId xmlns:a16="http://schemas.microsoft.com/office/drawing/2014/main" id="{92ABF630-2E43-FACC-955F-098AC90A7407}"/>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6/36</a:t>
            </a:r>
          </a:p>
        </p:txBody>
      </p:sp>
      <p:sp>
        <p:nvSpPr>
          <p:cNvPr id="24" name="TextBox 23">
            <a:extLst>
              <a:ext uri="{FF2B5EF4-FFF2-40B4-BE49-F238E27FC236}">
                <a16:creationId xmlns:a16="http://schemas.microsoft.com/office/drawing/2014/main" id="{FB8B442D-E07B-A667-59A6-C1B83A1570C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AF124E97-2B29-4AC7-7199-2B0088005B44}"/>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C7763DAA-8753-36B7-ECA4-287D7D4ACE0C}"/>
              </a:ext>
            </a:extLst>
          </p:cNvPr>
          <p:cNvSpPr txBox="1"/>
          <p:nvPr/>
        </p:nvSpPr>
        <p:spPr>
          <a:xfrm>
            <a:off x="1100558" y="5077087"/>
            <a:ext cx="2098716"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ja-JP" altLang="en-US" sz="2200" b="1">
                <a:solidFill>
                  <a:srgbClr val="808080"/>
                </a:solidFill>
                <a:latin typeface="Meiryo"/>
                <a:ea typeface="Meiryo"/>
                <a:cs typeface="Meiryo"/>
              </a:rPr>
              <a:t>数十</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A7DB7CF-BF5A-6CE7-3317-92B9E4FE0732}"/>
              </a:ext>
            </a:extLst>
          </p:cNvPr>
          <p:cNvSpPr/>
          <p:nvPr/>
        </p:nvSpPr>
        <p:spPr>
          <a:xfrm>
            <a:off x="1100558" y="5473164"/>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F6266655-F42B-5D0F-6798-ADDE36CCE1BC}"/>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54113F6D-3F99-05ED-4201-813627DF8DD4}"/>
              </a:ext>
            </a:extLst>
          </p:cNvPr>
          <p:cNvSpPr/>
          <p:nvPr/>
        </p:nvSpPr>
        <p:spPr>
          <a:xfrm>
            <a:off x="6411444" y="2686263"/>
            <a:ext cx="5516264" cy="213236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心臓から拍出された血液量ではなく、</a:t>
            </a:r>
            <a:endParaRPr lang="en-US" altLang="ja-JP" sz="2400" b="1" dirty="0">
              <a:solidFill>
                <a:srgbClr val="262626"/>
              </a:solidFill>
              <a:latin typeface="Meiryo"/>
              <a:ea typeface="Meiryo"/>
              <a:cs typeface="Meiryo"/>
            </a:endParaRPr>
          </a:p>
          <a:p>
            <a:pPr algn="ctr">
              <a:lnSpc>
                <a:spcPct val="150000"/>
              </a:lnSpc>
              <a:spcBef>
                <a:spcPts val="0"/>
              </a:spcBef>
              <a:spcAft>
                <a:spcPts val="0"/>
              </a:spcAft>
            </a:pPr>
            <a:r>
              <a:rPr lang="ja-JP" altLang="en-US" sz="2400" b="1">
                <a:solidFill>
                  <a:srgbClr val="262626"/>
                </a:solidFill>
                <a:latin typeface="Meiryo"/>
                <a:ea typeface="Meiryo"/>
                <a:cs typeface="Meiryo"/>
              </a:rPr>
              <a:t>圧脈波による受動的な血管伸展の</a:t>
            </a:r>
            <a:endParaRPr lang="en-US" altLang="ja-JP" sz="2400" b="1" dirty="0">
              <a:solidFill>
                <a:srgbClr val="262626"/>
              </a:solidFill>
              <a:latin typeface="Meiryo"/>
              <a:ea typeface="Meiryo"/>
              <a:cs typeface="Meiryo"/>
            </a:endParaRPr>
          </a:p>
          <a:p>
            <a:pPr algn="ctr">
              <a:lnSpc>
                <a:spcPct val="150000"/>
              </a:lnSpc>
              <a:spcBef>
                <a:spcPts val="0"/>
              </a:spcBef>
              <a:spcAft>
                <a:spcPts val="0"/>
              </a:spcAft>
            </a:pPr>
            <a:r>
              <a:rPr lang="ja-JP" altLang="en-US" sz="2400" b="1">
                <a:solidFill>
                  <a:srgbClr val="262626"/>
                </a:solidFill>
                <a:latin typeface="Meiryo"/>
                <a:ea typeface="Meiryo"/>
                <a:cs typeface="Meiryo"/>
              </a:rPr>
              <a:t>結果としての容積変化を見ている</a:t>
            </a:r>
            <a:endParaRPr sz="2400" b="1" dirty="0">
              <a:solidFill>
                <a:srgbClr val="262626"/>
              </a:solidFill>
              <a:latin typeface="Meiryo"/>
              <a:ea typeface="Meiryo"/>
              <a:cs typeface="Meiryo"/>
            </a:endParaRPr>
          </a:p>
        </p:txBody>
      </p:sp>
    </p:spTree>
    <p:extLst>
      <p:ext uri="{BB962C8B-B14F-4D97-AF65-F5344CB8AC3E}">
        <p14:creationId xmlns:p14="http://schemas.microsoft.com/office/powerpoint/2010/main" val="2002626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9C5DA3E1-A194-BEA0-0E5E-1D16A6334C82}"/>
              </a:ext>
            </a:extLst>
          </p:cNvPr>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a:extLst>
              <a:ext uri="{FF2B5EF4-FFF2-40B4-BE49-F238E27FC236}">
                <a16:creationId xmlns:a16="http://schemas.microsoft.com/office/drawing/2014/main" id="{41D84025-E918-F994-FCD8-2AAE6CCADE4A}"/>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32CF05AF-A6AE-3792-77C3-0945EDDA239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D9368F35-DAF4-0299-E19E-1A85D98B57B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F31C7102-666D-2300-7BB5-04622393766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789A6A2-6371-82EE-F033-517F09DF8BD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AFB85EB6-3472-5741-36C2-EEFFB2FF48B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07579A0E-16FA-8CF0-7BFE-B833BB6AFD4A}"/>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Politi 2016  ／  3. Stergiopulos 1999</a:t>
            </a:r>
          </a:p>
        </p:txBody>
      </p:sp>
      <p:sp>
        <p:nvSpPr>
          <p:cNvPr id="10" name="TextBox 9">
            <a:extLst>
              <a:ext uri="{FF2B5EF4-FFF2-40B4-BE49-F238E27FC236}">
                <a16:creationId xmlns:a16="http://schemas.microsoft.com/office/drawing/2014/main" id="{2700806E-DE25-F2CB-8C7F-AD2A3CE00EFF}"/>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6/36</a:t>
            </a: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570560"/>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185856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185856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47136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4752960"/>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272495" y="1861520"/>
            <a:ext cx="5472000" cy="360000"/>
          </a:xfrm>
          <a:prstGeom prst="rect">
            <a:avLst/>
          </a:prstGeom>
          <a:noFill/>
        </p:spPr>
        <p:txBody>
          <a:bodyPr wrap="none" lIns="0" tIns="0" rIns="0" bIns="0" anchor="ctr">
            <a:spAutoFit/>
          </a:bodyPr>
          <a:lstStyle/>
          <a:p>
            <a:pPr algn="l">
              <a:spcBef>
                <a:spcPts val="0"/>
              </a:spcBef>
              <a:spcAft>
                <a:spcPts val="0"/>
              </a:spcAft>
            </a:pPr>
            <a:r>
              <a:rPr sz="2200" b="1">
                <a:solidFill>
                  <a:srgbClr val="0072B2"/>
                </a:solidFill>
                <a:latin typeface="Meiryo"/>
                <a:ea typeface="Meiryo"/>
                <a:cs typeface="Meiryo"/>
              </a:rPr>
              <a:t>圧波（脈波）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272495" y="2268320"/>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6FE45173-DF5D-C47C-30FF-3CEC577299D3}"/>
              </a:ext>
            </a:extLst>
          </p:cNvPr>
          <p:cNvSpPr txBox="1"/>
          <p:nvPr/>
        </p:nvSpPr>
        <p:spPr>
          <a:xfrm>
            <a:off x="6272495" y="2520243"/>
            <a:ext cx="4621843"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ja-JP" altLang="en-US" sz="2200" b="1">
                <a:solidFill>
                  <a:srgbClr val="808080"/>
                </a:solidFill>
                <a:latin typeface="Meiryo"/>
                <a:ea typeface="Meiryo"/>
                <a:cs typeface="Meiryo"/>
              </a:rPr>
              <a:t>数十</a:t>
            </a:r>
            <a:r>
              <a:rPr lang="en-US" altLang="ja-JP" sz="2200" b="1" dirty="0">
                <a:solidFill>
                  <a:srgbClr val="808080"/>
                </a:solidFill>
                <a:latin typeface="Meiryo"/>
                <a:ea typeface="Meiryo"/>
                <a:cs typeface="Meiryo"/>
              </a:rPr>
              <a:t>cm/s (</a:t>
            </a:r>
            <a:r>
              <a:rPr lang="ja-JP" altLang="en-US" sz="2200" b="1">
                <a:solidFill>
                  <a:srgbClr val="808080"/>
                </a:solidFill>
                <a:latin typeface="Meiryo"/>
                <a:ea typeface="Meiryo"/>
                <a:cs typeface="Meiryo"/>
              </a:rPr>
              <a:t>圧波の</a:t>
            </a:r>
            <a:r>
              <a:rPr sz="2200" b="1" dirty="0">
                <a:solidFill>
                  <a:srgbClr val="808080"/>
                </a:solidFill>
                <a:latin typeface="Meiryo"/>
                <a:ea typeface="Meiryo"/>
                <a:cs typeface="Meiryo"/>
              </a:rPr>
              <a:t>1/10 </a:t>
            </a:r>
            <a:r>
              <a:rPr sz="2200" b="1" dirty="0" err="1">
                <a:solidFill>
                  <a:srgbClr val="808080"/>
                </a:solidFill>
                <a:latin typeface="Meiryo"/>
                <a:ea typeface="Meiryo"/>
                <a:cs typeface="Meiryo"/>
              </a:rPr>
              <a:t>以下</a:t>
            </a:r>
            <a:r>
              <a:rPr lang="en-US" sz="2200" b="1" dirty="0">
                <a:solidFill>
                  <a:srgbClr val="808080"/>
                </a:solidFill>
                <a:latin typeface="Meiryo"/>
                <a:ea typeface="Meiryo"/>
                <a:cs typeface="Meiryo"/>
              </a:rPr>
              <a:t>)</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95EAF8D-A1B6-C47C-D000-C5512BD28F62}"/>
              </a:ext>
            </a:extLst>
          </p:cNvPr>
          <p:cNvSpPr/>
          <p:nvPr/>
        </p:nvSpPr>
        <p:spPr>
          <a:xfrm>
            <a:off x="6272495" y="2916320"/>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a:extLst>
              <a:ext uri="{FF2B5EF4-FFF2-40B4-BE49-F238E27FC236}">
                <a16:creationId xmlns:a16="http://schemas.microsoft.com/office/drawing/2014/main" id="{0DF39317-DF9C-8254-369A-ACF1FFCA596A}"/>
              </a:ext>
            </a:extLst>
          </p:cNvPr>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指で拾うのは 血液の到着ではなく 圧波の到着</a:t>
            </a: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367663"/>
            <a:ext cx="4635000" cy="1854000"/>
          </a:xfrm>
          <a:prstGeom prst="rect">
            <a:avLst/>
          </a:prstGeom>
        </p:spPr>
      </p:pic>
      <p:sp>
        <p:nvSpPr>
          <p:cNvPr id="32" name="TextBox 31">
            <a:extLst>
              <a:ext uri="{FF2B5EF4-FFF2-40B4-BE49-F238E27FC236}">
                <a16:creationId xmlns:a16="http://schemas.microsoft.com/office/drawing/2014/main" id="{A349C2D0-E729-FB5C-4CFF-EF5DC8109321}"/>
              </a:ext>
            </a:extLst>
          </p:cNvPr>
          <p:cNvSpPr txBox="1"/>
          <p:nvPr/>
        </p:nvSpPr>
        <p:spPr>
          <a:xfrm>
            <a:off x="6405551" y="5250386"/>
            <a:ext cx="4324902"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圧波が来た所だけ</a:t>
            </a:r>
            <a:r>
              <a:rPr lang="ja-JP" altLang="en-US" sz="2200" b="1">
                <a:solidFill>
                  <a:srgbClr val="262626"/>
                </a:solidFill>
                <a:latin typeface="Meiryo"/>
                <a:ea typeface="Meiryo"/>
                <a:cs typeface="Meiryo"/>
              </a:rPr>
              <a:t>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Tree>
    <p:extLst>
      <p:ext uri="{BB962C8B-B14F-4D97-AF65-F5344CB8AC3E}">
        <p14:creationId xmlns:p14="http://schemas.microsoft.com/office/powerpoint/2010/main" val="2508768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 Millasseau 2002</a:t>
            </a:r>
          </a:p>
        </p:txBody>
      </p:sp>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7/36</a:t>
            </a: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PPG反射波は遠位大動脈付近から指先に到達する</a:t>
            </a:r>
            <a:endParaRPr sz="2400" b="1" dirty="0">
              <a:solidFill>
                <a:srgbClr val="262626"/>
              </a:solidFill>
              <a:latin typeface="Meiryo"/>
              <a:ea typeface="Meiryo"/>
              <a:cs typeface="Meiry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B9E0A-734E-5975-1244-7DB71FFF1402}"/>
              </a:ext>
            </a:extLst>
          </p:cNvPr>
          <p:cNvSpPr>
            <a:spLocks noGrp="1"/>
          </p:cNvSpPr>
          <p:nvPr>
            <p:ph type="title"/>
          </p:nvPr>
        </p:nvSpPr>
        <p:spPr/>
        <p:txBody>
          <a:bodyPr/>
          <a:lstStyle/>
          <a:p>
            <a:r>
              <a:rPr kumimoji="1" lang="en-US" altLang="ja-JP" dirty="0"/>
              <a:t>1.5  PPG</a:t>
            </a:r>
            <a:r>
              <a:rPr kumimoji="1" lang="ja-JP" altLang="en-US"/>
              <a:t>基礎まとめ</a:t>
            </a:r>
            <a:r>
              <a:rPr kumimoji="1" lang="en-US" altLang="ja-JP" dirty="0"/>
              <a:t>  </a:t>
            </a:r>
            <a:r>
              <a:rPr kumimoji="1" lang="ja-JP" altLang="en-US"/>
              <a:t>　</a:t>
            </a:r>
          </a:p>
        </p:txBody>
      </p:sp>
      <p:sp>
        <p:nvSpPr>
          <p:cNvPr id="3" name="コンテンツ プレースホルダー 2">
            <a:extLst>
              <a:ext uri="{FF2B5EF4-FFF2-40B4-BE49-F238E27FC236}">
                <a16:creationId xmlns:a16="http://schemas.microsoft.com/office/drawing/2014/main" id="{A414EDE1-72B0-0478-8D89-7DAACAF6D577}"/>
              </a:ext>
            </a:extLst>
          </p:cNvPr>
          <p:cNvSpPr>
            <a:spLocks noGrp="1"/>
          </p:cNvSpPr>
          <p:nvPr>
            <p:ph idx="1"/>
          </p:nvPr>
        </p:nvSpPr>
        <p:spPr/>
        <p:txBody>
          <a:bodyPr/>
          <a:lstStyle/>
          <a:p>
            <a:r>
              <a:rPr kumimoji="1" lang="en-US" altLang="ja-JP" dirty="0"/>
              <a:t>SpO2</a:t>
            </a:r>
            <a:r>
              <a:rPr kumimoji="1" lang="ja-JP" altLang="en-US"/>
              <a:t>は赤色光と赤外光の吸光度の比を健康対照に当てはめることで示される</a:t>
            </a:r>
            <a:r>
              <a:rPr lang="ja-JP" altLang="en-US"/>
              <a:t>。</a:t>
            </a:r>
            <a:endParaRPr lang="en-US" altLang="ja-JP" dirty="0"/>
          </a:p>
          <a:p>
            <a:endParaRPr kumimoji="1" lang="en-US" altLang="ja-JP" dirty="0"/>
          </a:p>
          <a:p>
            <a:r>
              <a:rPr lang="en-US" altLang="ja-JP" dirty="0"/>
              <a:t>PPG</a:t>
            </a:r>
            <a:r>
              <a:rPr lang="ja-JP" altLang="en-US"/>
              <a:t>波形は局所の容積変化を見ている。</a:t>
            </a:r>
            <a:endParaRPr lang="en-US" altLang="ja-JP" dirty="0"/>
          </a:p>
          <a:p>
            <a:endParaRPr kumimoji="1" lang="en-US" altLang="ja-JP" dirty="0"/>
          </a:p>
          <a:p>
            <a:r>
              <a:rPr kumimoji="1" lang="en-US" altLang="ja-JP" dirty="0"/>
              <a:t>PPG</a:t>
            </a:r>
            <a:r>
              <a:rPr kumimoji="1" lang="ja-JP" altLang="en-US"/>
              <a:t>波形は前進波と反射波によって形成されるが、反射点の場所を同定することはできない</a:t>
            </a:r>
            <a:endParaRPr kumimoji="1" lang="en-US" altLang="ja-JP" dirty="0"/>
          </a:p>
          <a:p>
            <a:endParaRPr lang="en-US" altLang="ja-JP" dirty="0"/>
          </a:p>
          <a:p>
            <a:r>
              <a:rPr lang="en-US" altLang="ja-JP" dirty="0"/>
              <a:t>PPG</a:t>
            </a:r>
            <a:r>
              <a:rPr lang="ja-JP" altLang="en-US"/>
              <a:t>波形はどのような因子に影響を受けるだろうか</a:t>
            </a:r>
            <a:endParaRPr kumimoji="1" lang="en-US" altLang="ja-JP" dirty="0"/>
          </a:p>
        </p:txBody>
      </p:sp>
    </p:spTree>
    <p:extLst>
      <p:ext uri="{BB962C8B-B14F-4D97-AF65-F5344CB8AC3E}">
        <p14:creationId xmlns:p14="http://schemas.microsoft.com/office/powerpoint/2010/main" val="1900975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a:latin typeface="Meiryo"/>
                <a:ea typeface="Meiryo"/>
                <a:cs typeface="Meiryo"/>
              </a:rPr>
              <a:t>2. 波形への影響：加齢</a:t>
            </a:r>
            <a:endParaRPr kumimoji="1" lang="ja-JP" altLang="en-US" sz="4600">
              <a:latin typeface="+mj-ea"/>
            </a:endParaRPr>
          </a:p>
        </p:txBody>
      </p:sp>
      <p:sp>
        <p:nvSpPr>
          <p:cNvPr id="90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2" name="Off-page Connector 3"/>
          <p:cNvSpPr/>
          <p:nvPr/>
        </p:nvSpPr>
        <p:spPr>
          <a:xfrm>
            <a:off x="82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加齢</a:t>
            </a:r>
          </a:p>
        </p:txBody>
      </p:sp>
      <p:sp>
        <p:nvSpPr>
          <p:cNvPr id="90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90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90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90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90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957" name="Agenda"/>
          <p:cNvSpPr txBox="1"/>
          <p:nvPr/>
        </p:nvSpPr>
        <p:spPr>
          <a:xfrm>
            <a:off x="864000" y="1494000"/>
            <a:ext cx="10584000" cy="5004000"/>
          </a:xfrm>
          <a:prstGeom prst="rect">
            <a:avLst/>
          </a:prstGeom>
          <a:noFill/>
        </p:spPr>
        <p:txBody>
          <a:bodyPr wrap="none" lIns="0" tIns="0" rIns="0" bIns="0" anchor="ctr"/>
          <a:lstStyle/>
          <a:p>
            <a:pPr marL="0" indent="0" algn="l" latinLnBrk="0">
              <a:lnSpc>
                <a:spcPts val="3685"/>
              </a:lnSpc>
              <a:spcBef>
                <a:spcPts val="0"/>
              </a:spcBef>
              <a:spcAft>
                <a:spcPts val="0"/>
              </a:spcAft>
            </a:pPr>
            <a:r>
              <a:rPr sz="2400" b="1" dirty="0">
                <a:solidFill>
                  <a:srgbClr val="D9D9D9"/>
                </a:solidFill>
                <a:latin typeface="Meiryo"/>
                <a:ea typeface="Meiryo"/>
                <a:cs typeface="Meiryo"/>
              </a:rPr>
              <a:t>1. </a:t>
            </a:r>
            <a:r>
              <a:rPr sz="2400" b="0" dirty="0" err="1">
                <a:solidFill>
                  <a:srgbClr val="D9D9D9"/>
                </a:solidFill>
                <a:latin typeface="Meiryo"/>
                <a:ea typeface="Meiryo"/>
                <a:cs typeface="Meiryo"/>
              </a:rPr>
              <a:t>PPGの基礎</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BF9000"/>
                </a:solidFill>
                <a:latin typeface="Meiryo"/>
                <a:ea typeface="Meiryo"/>
                <a:cs typeface="Meiryo"/>
              </a:rPr>
              <a:t>2. </a:t>
            </a:r>
            <a:r>
              <a:rPr sz="2400" b="1" dirty="0" err="1">
                <a:solidFill>
                  <a:srgbClr val="262626"/>
                </a:solidFill>
                <a:latin typeface="Meiryo"/>
                <a:ea typeface="Meiryo"/>
                <a:cs typeface="Meiryo"/>
              </a:rPr>
              <a:t>波形への影響：加齢</a:t>
            </a:r>
            <a:endParaRPr sz="24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2.1　</a:t>
            </a:r>
            <a:r>
              <a:rPr sz="2200" b="1" dirty="0" err="1">
                <a:solidFill>
                  <a:srgbClr val="262626"/>
                </a:solidFill>
                <a:latin typeface="Meiryo"/>
                <a:ea typeface="Meiryo"/>
                <a:cs typeface="Meiryo"/>
              </a:rPr>
              <a:t>フラミンガム研究</a:t>
            </a:r>
            <a:endParaRPr sz="22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2.2　</a:t>
            </a:r>
            <a:r>
              <a:rPr sz="2200" b="1" dirty="0">
                <a:solidFill>
                  <a:srgbClr val="262626"/>
                </a:solidFill>
                <a:latin typeface="Meiryo"/>
                <a:ea typeface="Meiryo"/>
                <a:cs typeface="Meiryo"/>
              </a:rPr>
              <a:t>UK Biobank</a:t>
            </a:r>
          </a:p>
          <a:p>
            <a:pPr algn="l">
              <a:lnSpc>
                <a:spcPts val="3685"/>
              </a:lnSpc>
              <a:spcBef>
                <a:spcPts val="0"/>
              </a:spcBef>
              <a:spcAft>
                <a:spcPts val="0"/>
              </a:spcAft>
            </a:pPr>
            <a:r>
              <a:rPr sz="2200" b="1" dirty="0">
                <a:solidFill>
                  <a:srgbClr val="BF9000"/>
                </a:solidFill>
                <a:latin typeface="Meiryo"/>
                <a:ea typeface="Meiryo"/>
                <a:cs typeface="Meiryo"/>
              </a:rPr>
              <a:t>　2.3　</a:t>
            </a:r>
            <a:r>
              <a:rPr sz="2200" b="1" dirty="0" err="1">
                <a:solidFill>
                  <a:srgbClr val="BF9000"/>
                </a:solidFill>
                <a:latin typeface="Meiryo"/>
                <a:ea typeface="Meiryo"/>
                <a:cs typeface="Meiryo"/>
              </a:rPr>
              <a:t>切痕が消える理由</a:t>
            </a:r>
            <a:endParaRPr sz="2200" b="1" dirty="0">
              <a:solidFill>
                <a:srgbClr val="BF9000"/>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3. </a:t>
            </a:r>
            <a:r>
              <a:rPr sz="2400" b="0" dirty="0" err="1">
                <a:solidFill>
                  <a:srgbClr val="D9D9D9"/>
                </a:solidFill>
                <a:latin typeface="Meiryo"/>
                <a:ea typeface="Meiryo"/>
                <a:cs typeface="Meiryo"/>
              </a:rPr>
              <a:t>波形への影響：循環</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4. </a:t>
            </a:r>
            <a:r>
              <a:rPr sz="2400" b="0" dirty="0" err="1">
                <a:solidFill>
                  <a:srgbClr val="D9D9D9"/>
                </a:solidFill>
                <a:latin typeface="Meiryo"/>
                <a:ea typeface="Meiryo"/>
                <a:cs typeface="Meiryo"/>
              </a:rPr>
              <a:t>麻酔中の波形変化</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5. </a:t>
            </a:r>
            <a:r>
              <a:rPr sz="2400" b="0" dirty="0" err="1">
                <a:solidFill>
                  <a:srgbClr val="D9D9D9"/>
                </a:solidFill>
                <a:latin typeface="Meiryo"/>
                <a:ea typeface="Meiryo"/>
                <a:cs typeface="Meiryo"/>
              </a:rPr>
              <a:t>波形の定量化</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6. </a:t>
            </a:r>
            <a:r>
              <a:rPr sz="2400" b="0" dirty="0" err="1">
                <a:solidFill>
                  <a:srgbClr val="D9D9D9"/>
                </a:solidFill>
                <a:latin typeface="Meiryo"/>
                <a:ea typeface="Meiryo"/>
                <a:cs typeface="Meiryo"/>
              </a:rPr>
              <a:t>解析まとめ</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7. </a:t>
            </a:r>
            <a:r>
              <a:rPr sz="2400" b="0" dirty="0" err="1">
                <a:solidFill>
                  <a:srgbClr val="D9D9D9"/>
                </a:solidFill>
                <a:latin typeface="Meiryo"/>
                <a:ea typeface="Meiryo"/>
                <a:cs typeface="Meiryo"/>
              </a:rPr>
              <a:t>限界</a:t>
            </a:r>
            <a:endParaRPr sz="2400" b="0" dirty="0">
              <a:solidFill>
                <a:srgbClr val="D9D9D9"/>
              </a:solidFill>
              <a:latin typeface="Meiryo"/>
              <a:ea typeface="Meiryo"/>
              <a:cs typeface="Meiryo"/>
            </a:endParaRPr>
          </a:p>
        </p:txBody>
      </p:sp>
      <p:sp>
        <p:nvSpPr>
          <p:cNvPr id="1017" name="PageNum"/>
          <p:cNvSpPr txBox="1"/>
          <p:nvPr/>
        </p:nvSpPr>
        <p:spPr>
          <a:xfrm>
            <a:off x="11052000" y="6606000"/>
            <a:ext cx="1007999" cy="216000"/>
          </a:xfrm>
          <a:prstGeom prst="rect">
            <a:avLst/>
          </a:prstGeom>
          <a:noFill/>
        </p:spPr>
        <p:txBody>
          <a:bodyPr wrap="square" lIns="0" tIns="0" rIns="0" bIns="0" anchor="t"/>
          <a:lstStyle/>
          <a:p>
            <a:pPr algn="r"/>
            <a:r>
              <a:rPr sz="1200" b="0">
                <a:solidFill>
                  <a:srgbClr val="808080"/>
                </a:solidFill>
                <a:latin typeface="Meiryo"/>
                <a:ea typeface="Meiryo"/>
                <a:cs typeface="Meiryo"/>
              </a:rPr>
              <a:t>8/36</a:t>
            </a:r>
          </a:p>
        </p:txBody>
      </p:sp>
    </p:spTree>
    <p:extLst>
      <p:ext uri="{BB962C8B-B14F-4D97-AF65-F5344CB8AC3E}">
        <p14:creationId xmlns:p14="http://schemas.microsoft.com/office/powerpoint/2010/main" val="1349306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a:latin typeface="Meiryo"/>
                <a:ea typeface="Meiryo"/>
                <a:cs typeface="Meiryo"/>
              </a:rPr>
              <a:t>2.1  フラミンガム研究</a:t>
            </a:r>
            <a:endParaRPr sz="4600" dirty="0">
              <a:latin typeface="Meiryo"/>
              <a:ea typeface="Meiryo"/>
              <a:cs typeface="Meiryo"/>
            </a:endParaRPr>
          </a:p>
        </p:txBody>
      </p:sp>
      <p:sp>
        <p:nvSpPr>
          <p:cNvPr id="12" name="Off-page Connector 2">
            <a:extLst>
              <a:ext uri="{FF2B5EF4-FFF2-40B4-BE49-F238E27FC236}">
                <a16:creationId xmlns:a16="http://schemas.microsoft.com/office/drawing/2014/main" id="{312917D3-AC77-D8FF-7271-3070F0ECE1EF}"/>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3">
            <a:extLst>
              <a:ext uri="{FF2B5EF4-FFF2-40B4-BE49-F238E27FC236}">
                <a16:creationId xmlns:a16="http://schemas.microsoft.com/office/drawing/2014/main" id="{608B47CC-BA4D-498B-A0DB-2F1A3E71F007}"/>
              </a:ext>
            </a:extLst>
          </p:cNvPr>
          <p:cNvSpPr/>
          <p:nvPr/>
        </p:nvSpPr>
        <p:spPr>
          <a:xfrm>
            <a:off x="82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加齢</a:t>
            </a:r>
          </a:p>
        </p:txBody>
      </p:sp>
      <p:sp>
        <p:nvSpPr>
          <p:cNvPr id="14" name="Off-page Connector 4">
            <a:extLst>
              <a:ext uri="{FF2B5EF4-FFF2-40B4-BE49-F238E27FC236}">
                <a16:creationId xmlns:a16="http://schemas.microsoft.com/office/drawing/2014/main" id="{841E0964-E45F-CE29-98E0-A7115AB44B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5" name="Off-page Connector 5">
            <a:extLst>
              <a:ext uri="{FF2B5EF4-FFF2-40B4-BE49-F238E27FC236}">
                <a16:creationId xmlns:a16="http://schemas.microsoft.com/office/drawing/2014/main" id="{E3132FED-6E38-D861-03F7-D7A42E9905A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6" name="Off-page Connector 6">
            <a:extLst>
              <a:ext uri="{FF2B5EF4-FFF2-40B4-BE49-F238E27FC236}">
                <a16:creationId xmlns:a16="http://schemas.microsoft.com/office/drawing/2014/main" id="{C2ABAE9C-A018-D5B5-84EE-739957BE8E1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EAC09DD2-957B-97D5-4F0D-ECDD552C40C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8" name="Off-page Connector 8">
            <a:extLst>
              <a:ext uri="{FF2B5EF4-FFF2-40B4-BE49-F238E27FC236}">
                <a16:creationId xmlns:a16="http://schemas.microsoft.com/office/drawing/2014/main" id="{071E0BA8-F957-7153-77B9-719EDC30588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10" name="TextBox 9">
            <a:extLst>
              <a:ext uri="{FF2B5EF4-FFF2-40B4-BE49-F238E27FC236}">
                <a16:creationId xmlns:a16="http://schemas.microsoft.com/office/drawing/2014/main" id="{00ED83A3-677B-0C32-436E-9D543D741C9C}"/>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9/36</a:t>
            </a:r>
          </a:p>
        </p:txBody>
      </p:sp>
      <p:sp>
        <p:nvSpPr>
          <p:cNvPr id="19" name="lead"/>
          <p:cNvSpPr txBox="1"/>
          <p:nvPr/>
        </p:nvSpPr>
        <p:spPr>
          <a:xfrm>
            <a:off x="566928" y="1682496"/>
            <a:ext cx="10058400" cy="457200"/>
          </a:xfrm>
          <a:prstGeom prst="rect">
            <a:avLst/>
          </a:prstGeom>
          <a:noFill/>
        </p:spPr>
        <p:txBody>
          <a:bodyPr wrap="square" anchor="ctr" lIns="0" rIns="0" tIns="0" bIns="0">
            <a:spAutoFit/>
          </a:bodyPr>
          <a:lstStyle/>
          <a:p>
            <a:pPr algn="l"/>
            <a:r>
              <a:rPr sz="2400" b="1">
                <a:solidFill>
                  <a:srgbClr val="262626"/>
                </a:solidFill>
                <a:latin typeface="Meiryo"/>
                <a:ea typeface="Meiryo"/>
                <a:cs typeface="Meiryo"/>
              </a:rPr>
              <a:t>地域住民を 発症前から追い続けた 米国の前向きコホート</a:t>
            </a:r>
          </a:p>
        </p:txBody>
      </p:sp>
      <p:sp>
        <p:nvSpPr>
          <p:cNvPr id="20" name="fact0"/>
          <p:cNvSpPr/>
          <p:nvPr/>
        </p:nvSpPr>
        <p:spPr>
          <a:xfrm>
            <a:off x="548640" y="2267712"/>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267712"/>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267712"/>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23" name="callout"/>
          <p:cNvSpPr/>
          <p:nvPr/>
        </p:nvSpPr>
        <p:spPr>
          <a:xfrm>
            <a:off x="548640" y="3950208"/>
            <a:ext cx="10954512" cy="96926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600" b="1">
                <a:solidFill>
                  <a:srgbClr val="262626"/>
                </a:solidFill>
                <a:latin typeface="Meiryo"/>
                <a:ea typeface="Meiryo"/>
                <a:cs typeface="Meiryo"/>
              </a:rPr>
              <a:t>2年ごとに追跡し、発症前からの経過を追う</a:t>
            </a:r>
          </a:p>
          <a:p>
            <a:pPr algn="ctr"/>
            <a:r>
              <a:rPr sz="2200" b="1">
                <a:solidFill>
                  <a:srgbClr val="262626"/>
                </a:solidFill>
                <a:latin typeface="Meiryo"/>
                <a:ea typeface="Meiryo"/>
                <a:cs typeface="Meiryo"/>
              </a:rPr>
              <a:t>「危険因子（risk factor）」という概念を生んだ研究</a:t>
            </a:r>
          </a:p>
        </p:txBody>
      </p:sp>
      <p:sp>
        <p:nvSpPr>
          <p:cNvPr id="24" name="place"/>
          <p:cNvSpPr/>
          <p:nvPr/>
        </p:nvSpPr>
        <p:spPr>
          <a:xfrm>
            <a:off x="548640" y="5138928"/>
            <a:ext cx="10954512" cy="932688"/>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808080"/>
                </a:solidFill>
                <a:latin typeface="Meiryo"/>
                <a:ea typeface="Meiryo"/>
                <a:cs typeface="Meiryo"/>
              </a:rPr>
              <a:t>本デックでの位置づけ</a:t>
            </a:r>
          </a:p>
          <a:p>
            <a:pPr algn="ctr"/>
            <a:r>
              <a:rPr sz="2600" b="1">
                <a:solidFill>
                  <a:srgbClr val="262626"/>
                </a:solidFill>
                <a:latin typeface="Meiryo"/>
                <a:ea typeface="Meiryo"/>
                <a:cs typeface="Meiryo"/>
              </a:rPr>
              <a:t>Dawber 1973 ＝ この集団の指尖脈波を 4分類</a:t>
            </a:r>
          </a:p>
        </p:txBody>
      </p:sp>
      <p:sp>
        <p:nvSpPr>
          <p:cNvPr id="25" name="Source"/>
          <p:cNvSpPr txBox="1"/>
          <p:nvPr/>
        </p:nvSpPr>
        <p:spPr>
          <a:xfrm>
            <a:off x="720000" y="6606000"/>
            <a:ext cx="10440000" cy="216000"/>
          </a:xfrm>
          <a:prstGeom prst="rect">
            <a:avLst/>
          </a:prstGeom>
          <a:noFill/>
        </p:spPr>
        <p:txBody>
          <a:bodyPr wrap="none" anchor="t" lIns="0" rIns="0" tIns="0" bIns="0">
            <a:spAutoFit/>
          </a:bodyPr>
          <a:lstStyle/>
          <a:p>
            <a:pPr algn="l"/>
            <a:r>
              <a:rPr sz="1050" b="0">
                <a:solidFill>
                  <a:srgbClr val="808080"/>
                </a:solidFill>
                <a:latin typeface="Meiryo"/>
                <a:ea typeface="Meiryo"/>
                <a:cs typeface="Meiryo"/>
              </a:rPr>
              <a:t>5. Dawber 1973　／　Framingham Heart Study（NHLBI）  www.framinghamheartstudy.org</a:t>
            </a:r>
          </a:p>
        </p:txBody>
      </p:sp>
    </p:spTree>
    <p:extLst>
      <p:ext uri="{BB962C8B-B14F-4D97-AF65-F5344CB8AC3E}">
        <p14:creationId xmlns:p14="http://schemas.microsoft.com/office/powerpoint/2010/main" val="1456926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a:latin typeface="Meiryo"/>
                <a:ea typeface="Meiryo"/>
                <a:cs typeface="Meiryo"/>
              </a:rPr>
              <a:t>2.1  フラミンガム研究</a:t>
            </a:r>
            <a:endParaRPr sz="4600" dirty="0">
              <a:latin typeface="Meiryo"/>
              <a:ea typeface="Meiryo"/>
              <a:cs typeface="Meiryo"/>
            </a:endParaRPr>
          </a:p>
        </p:txBody>
      </p:sp>
      <p:sp>
        <p:nvSpPr>
          <p:cNvPr id="12" name="Off-page Connector 2">
            <a:extLst>
              <a:ext uri="{FF2B5EF4-FFF2-40B4-BE49-F238E27FC236}">
                <a16:creationId xmlns:a16="http://schemas.microsoft.com/office/drawing/2014/main" id="{F20C8B4B-51CB-6651-2F4F-E621264B6E98}"/>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3">
            <a:extLst>
              <a:ext uri="{FF2B5EF4-FFF2-40B4-BE49-F238E27FC236}">
                <a16:creationId xmlns:a16="http://schemas.microsoft.com/office/drawing/2014/main" id="{21A333C3-E405-97A5-AECF-42B8D06ADBF7}"/>
              </a:ext>
            </a:extLst>
          </p:cNvPr>
          <p:cNvSpPr/>
          <p:nvPr/>
        </p:nvSpPr>
        <p:spPr>
          <a:xfrm>
            <a:off x="82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加齢</a:t>
            </a:r>
          </a:p>
        </p:txBody>
      </p:sp>
      <p:sp>
        <p:nvSpPr>
          <p:cNvPr id="14" name="Off-page Connector 4">
            <a:extLst>
              <a:ext uri="{FF2B5EF4-FFF2-40B4-BE49-F238E27FC236}">
                <a16:creationId xmlns:a16="http://schemas.microsoft.com/office/drawing/2014/main" id="{CF5250E4-BF8B-FA72-0DFB-3EA3DB46D0A3}"/>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5" name="Off-page Connector 5">
            <a:extLst>
              <a:ext uri="{FF2B5EF4-FFF2-40B4-BE49-F238E27FC236}">
                <a16:creationId xmlns:a16="http://schemas.microsoft.com/office/drawing/2014/main" id="{6D3C1C6F-DF04-39D8-502A-90D8AC4C36A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6" name="Off-page Connector 6">
            <a:extLst>
              <a:ext uri="{FF2B5EF4-FFF2-40B4-BE49-F238E27FC236}">
                <a16:creationId xmlns:a16="http://schemas.microsoft.com/office/drawing/2014/main" id="{BA91245A-7E70-1C7A-29F0-7C654549335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3D627800-83D0-BA96-6B79-FB0DC61A2EA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8" name="Off-page Connector 8">
            <a:extLst>
              <a:ext uri="{FF2B5EF4-FFF2-40B4-BE49-F238E27FC236}">
                <a16:creationId xmlns:a16="http://schemas.microsoft.com/office/drawing/2014/main" id="{B07CD557-6D40-D3B8-CF8F-157FA4F6A15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768E6909-1B77-CEA3-98CB-6A0FFC8298D4}"/>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4"/>
              </a:rPr>
              <a:t>5. Dawber 1973</a:t>
            </a:r>
          </a:p>
        </p:txBody>
      </p:sp>
      <p:sp>
        <p:nvSpPr>
          <p:cNvPr id="10" name="TextBox 9">
            <a:extLst>
              <a:ext uri="{FF2B5EF4-FFF2-40B4-BE49-F238E27FC236}">
                <a16:creationId xmlns:a16="http://schemas.microsoft.com/office/drawing/2014/main" id="{B20A2F2D-6B31-BC01-ED18-327168425618}"/>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9/36</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Tree>
    <p:extLst>
      <p:ext uri="{BB962C8B-B14F-4D97-AF65-F5344CB8AC3E}">
        <p14:creationId xmlns:p14="http://schemas.microsoft.com/office/powerpoint/2010/main" val="1765431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a:latin typeface="Meiryo"/>
                <a:ea typeface="Meiryo"/>
                <a:cs typeface="Meiryo"/>
              </a:rPr>
              <a:t>2.1  フラミンガム研究</a:t>
            </a:r>
            <a:endParaRPr sz="4600" dirty="0">
              <a:latin typeface="Meiryo"/>
              <a:ea typeface="Meiryo"/>
              <a:cs typeface="Meiryo"/>
            </a:endParaRPr>
          </a:p>
        </p:txBody>
      </p:sp>
      <p:sp>
        <p:nvSpPr>
          <p:cNvPr id="12"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3"/>
          <p:cNvSpPr/>
          <p:nvPr/>
        </p:nvSpPr>
        <p:spPr>
          <a:xfrm>
            <a:off x="82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加齢</a:t>
            </a:r>
          </a:p>
        </p:txBody>
      </p:sp>
      <p:sp>
        <p:nvSpPr>
          <p:cNvPr id="14"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5"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6"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7"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8"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5. Dawber 1973</a:t>
            </a:r>
          </a:p>
        </p:txBody>
      </p:sp>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10/36</a:t>
            </a:r>
          </a:p>
        </p:txBody>
      </p:sp>
      <p:pic>
        <p:nvPicPr>
          <p:cNvPr id="11" name="図 10">
            <a:extLst>
              <a:ext uri="{FF2B5EF4-FFF2-40B4-BE49-F238E27FC236}">
                <a16:creationId xmlns:a16="http://schemas.microsoft.com/office/drawing/2014/main" id="{1E9D40E1-9205-4072-AC05-D439F0BF00A2}"/>
              </a:ext>
            </a:extLst>
          </p:cNvPr>
          <p:cNvPicPr>
            <a:picLocks noChangeAspect="1"/>
          </p:cNvPicPr>
          <p:nvPr/>
        </p:nvPicPr>
        <p:blipFill>
          <a:blip r:embed="rId4"/>
          <a:stretch>
            <a:fillRect/>
          </a:stretch>
        </p:blipFill>
        <p:spPr>
          <a:xfrm>
            <a:off x="2509157" y="1435100"/>
            <a:ext cx="3810000" cy="5422900"/>
          </a:xfrm>
          <a:prstGeom prst="rect">
            <a:avLst/>
          </a:prstGeom>
        </p:spPr>
      </p:pic>
      <p:sp>
        <p:nvSpPr>
          <p:cNvPr id="7" name="c1">
            <a:extLst>
              <a:ext uri="{FF2B5EF4-FFF2-40B4-BE49-F238E27FC236}">
                <a16:creationId xmlns:a16="http://schemas.microsoft.com/office/drawing/2014/main" id="{E985B0AA-2DC1-C364-F0DA-0CA0BCD9085E}"/>
              </a:ext>
            </a:extLst>
          </p:cNvPr>
          <p:cNvSpPr txBox="1"/>
          <p:nvPr/>
        </p:nvSpPr>
        <p:spPr>
          <a:xfrm>
            <a:off x="7287553" y="181667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19" name="c2">
            <a:extLst>
              <a:ext uri="{FF2B5EF4-FFF2-40B4-BE49-F238E27FC236}">
                <a16:creationId xmlns:a16="http://schemas.microsoft.com/office/drawing/2014/main" id="{B56FC7BD-DB21-7E74-924A-EEA4FC74F15C}"/>
              </a:ext>
            </a:extLst>
          </p:cNvPr>
          <p:cNvSpPr txBox="1"/>
          <p:nvPr/>
        </p:nvSpPr>
        <p:spPr>
          <a:xfrm>
            <a:off x="7287553" y="311238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20" name="c3">
            <a:extLst>
              <a:ext uri="{FF2B5EF4-FFF2-40B4-BE49-F238E27FC236}">
                <a16:creationId xmlns:a16="http://schemas.microsoft.com/office/drawing/2014/main" id="{0ECFE5BF-5B3F-2977-A908-C37636F98AFF}"/>
              </a:ext>
            </a:extLst>
          </p:cNvPr>
          <p:cNvSpPr txBox="1"/>
          <p:nvPr/>
        </p:nvSpPr>
        <p:spPr>
          <a:xfrm>
            <a:off x="7287553" y="445093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dirty="0">
                <a:solidFill>
                  <a:srgbClr val="BF9000"/>
                </a:solidFill>
                <a:latin typeface="Meiryo"/>
                <a:ea typeface="Meiryo"/>
                <a:cs typeface="Meiryo"/>
              </a:rPr>
            </a:br>
            <a:r>
              <a:rPr lang="ja-JP" altLang="en-US" sz="2200" b="1" dirty="0">
                <a:solidFill>
                  <a:srgbClr val="BF9000"/>
                </a:solidFill>
                <a:latin typeface="Meiryo"/>
                <a:ea typeface="Meiryo"/>
                <a:cs typeface="Meiryo"/>
              </a:rPr>
              <a:t>下降角の変化のみ</a:t>
            </a:r>
          </a:p>
        </p:txBody>
      </p:sp>
      <p:sp>
        <p:nvSpPr>
          <p:cNvPr id="21" name="c4">
            <a:extLst>
              <a:ext uri="{FF2B5EF4-FFF2-40B4-BE49-F238E27FC236}">
                <a16:creationId xmlns:a16="http://schemas.microsoft.com/office/drawing/2014/main" id="{BA28DEF9-12CB-614D-3D07-BA7127F1D67C}"/>
              </a:ext>
            </a:extLst>
          </p:cNvPr>
          <p:cNvSpPr txBox="1"/>
          <p:nvPr/>
        </p:nvSpPr>
        <p:spPr>
          <a:xfrm>
            <a:off x="7287553" y="5832018"/>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Tree>
    <p:extLst>
      <p:ext uri="{BB962C8B-B14F-4D97-AF65-F5344CB8AC3E}">
        <p14:creationId xmlns:p14="http://schemas.microsoft.com/office/powerpoint/2010/main" val="3945341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Tree>
    <p:extLst>
      <p:ext uri="{BB962C8B-B14F-4D97-AF65-F5344CB8AC3E}">
        <p14:creationId xmlns:p14="http://schemas.microsoft.com/office/powerpoint/2010/main" val="2595402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8DEF3-46E3-E9EA-29FC-415F42D1A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AC239-403D-D295-B974-E924A5A63F72}"/>
              </a:ext>
            </a:extLst>
          </p:cNvPr>
          <p:cNvSpPr>
            <a:spLocks noGrp="1"/>
          </p:cNvSpPr>
          <p:nvPr>
            <p:ph type="title"/>
          </p:nvPr>
        </p:nvSpPr>
        <p:spPr/>
        <p:txBody>
          <a:bodyPr>
            <a:normAutofit/>
          </a:bodyPr>
          <a:lstStyle/>
          <a:p>
            <a:pPr algn="l"/>
            <a:r>
              <a:rPr sz="4600">
                <a:latin typeface="Meiryo"/>
                <a:ea typeface="Meiryo"/>
                <a:cs typeface="Meiryo"/>
              </a:rPr>
              <a:t>2.2  UK Biobank</a:t>
            </a:r>
          </a:p>
        </p:txBody>
      </p:sp>
      <p:sp>
        <p:nvSpPr>
          <p:cNvPr id="14" name="Off-page Connector 2">
            <a:extLst>
              <a:ext uri="{FF2B5EF4-FFF2-40B4-BE49-F238E27FC236}">
                <a16:creationId xmlns:a16="http://schemas.microsoft.com/office/drawing/2014/main" id="{A17F9B68-F1C2-C421-9D0D-5A7FA7556A90}"/>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3">
            <a:extLst>
              <a:ext uri="{FF2B5EF4-FFF2-40B4-BE49-F238E27FC236}">
                <a16:creationId xmlns:a16="http://schemas.microsoft.com/office/drawing/2014/main" id="{818B6BE8-3F70-94E2-F6C1-6427ED85EA24}"/>
              </a:ext>
            </a:extLst>
          </p:cNvPr>
          <p:cNvSpPr/>
          <p:nvPr/>
        </p:nvSpPr>
        <p:spPr>
          <a:xfrm>
            <a:off x="82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加齢</a:t>
            </a:r>
          </a:p>
        </p:txBody>
      </p:sp>
      <p:sp>
        <p:nvSpPr>
          <p:cNvPr id="16" name="Off-page Connector 4">
            <a:extLst>
              <a:ext uri="{FF2B5EF4-FFF2-40B4-BE49-F238E27FC236}">
                <a16:creationId xmlns:a16="http://schemas.microsoft.com/office/drawing/2014/main" id="{BEB8F0EB-0916-5C38-CCB8-1C01C39DEC0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7" name="Off-page Connector 5">
            <a:extLst>
              <a:ext uri="{FF2B5EF4-FFF2-40B4-BE49-F238E27FC236}">
                <a16:creationId xmlns:a16="http://schemas.microsoft.com/office/drawing/2014/main" id="{B586E1D0-FB5F-179C-40C8-5FAE77E11E4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8" name="Off-page Connector 6">
            <a:extLst>
              <a:ext uri="{FF2B5EF4-FFF2-40B4-BE49-F238E27FC236}">
                <a16:creationId xmlns:a16="http://schemas.microsoft.com/office/drawing/2014/main" id="{A2F78B5A-C174-FF78-CAB5-0366BCEB52B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2EFAB277-F5D0-E220-2486-7F8BC3F31C0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20" name="Off-page Connector 8">
            <a:extLst>
              <a:ext uri="{FF2B5EF4-FFF2-40B4-BE49-F238E27FC236}">
                <a16:creationId xmlns:a16="http://schemas.microsoft.com/office/drawing/2014/main" id="{C8640B99-77C9-4FEE-181F-1438503B7DD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10" name="TextBox 9">
            <a:extLst>
              <a:ext uri="{FF2B5EF4-FFF2-40B4-BE49-F238E27FC236}">
                <a16:creationId xmlns:a16="http://schemas.microsoft.com/office/drawing/2014/main" id="{FB0A2683-384E-E903-3639-C560D305350D}"/>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12/36</a:t>
            </a:r>
          </a:p>
        </p:txBody>
      </p:sp>
      <p:sp>
        <p:nvSpPr>
          <p:cNvPr id="21" name="lead"/>
          <p:cNvSpPr txBox="1"/>
          <p:nvPr/>
        </p:nvSpPr>
        <p:spPr>
          <a:xfrm>
            <a:off x="566928" y="1682496"/>
            <a:ext cx="10058400" cy="457200"/>
          </a:xfrm>
          <a:prstGeom prst="rect">
            <a:avLst/>
          </a:prstGeom>
          <a:noFill/>
        </p:spPr>
        <p:txBody>
          <a:bodyPr wrap="square" anchor="ctr" lIns="0" rIns="0" tIns="0" bIns="0">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p:cNvSpPr/>
          <p:nvPr/>
        </p:nvSpPr>
        <p:spPr>
          <a:xfrm>
            <a:off x="548640" y="2267712"/>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000" b="1">
                <a:solidFill>
                  <a:srgbClr val="262626"/>
                </a:solidFill>
                <a:latin typeface="Meiryo"/>
                <a:ea typeface="Meiryo"/>
                <a:cs typeface="Meiryo"/>
              </a:rPr>
              <a:t>約 50万人</a:t>
            </a:r>
          </a:p>
          <a:p>
            <a:pPr algn="ctr"/>
            <a:r>
              <a:rPr sz="2200" b="1">
                <a:solidFill>
                  <a:srgbClr val="262626"/>
                </a:solidFill>
                <a:latin typeface="Meiryo"/>
                <a:ea typeface="Meiryo"/>
                <a:cs typeface="Meiryo"/>
              </a:rPr>
              <a:t>英国 22施設で登録</a:t>
            </a:r>
          </a:p>
        </p:txBody>
      </p:sp>
      <p:sp>
        <p:nvSpPr>
          <p:cNvPr id="23" name="fact1"/>
          <p:cNvSpPr/>
          <p:nvPr/>
        </p:nvSpPr>
        <p:spPr>
          <a:xfrm>
            <a:off x="4370832" y="2267712"/>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000" b="1">
                <a:solidFill>
                  <a:srgbClr val="262626"/>
                </a:solidFill>
                <a:latin typeface="Meiryo"/>
                <a:ea typeface="Meiryo"/>
                <a:cs typeface="Meiryo"/>
              </a:rPr>
              <a:t>40〜69 歳</a:t>
            </a:r>
          </a:p>
          <a:p>
            <a:pPr algn="ctr"/>
            <a:r>
              <a:rPr sz="2200" b="1">
                <a:solidFill>
                  <a:srgbClr val="262626"/>
                </a:solidFill>
                <a:latin typeface="Meiryo"/>
                <a:ea typeface="Meiryo"/>
                <a:cs typeface="Meiryo"/>
              </a:rPr>
              <a:t>2006〜2010年に登録</a:t>
            </a:r>
          </a:p>
        </p:txBody>
      </p:sp>
      <p:sp>
        <p:nvSpPr>
          <p:cNvPr id="24" name="fact2"/>
          <p:cNvSpPr/>
          <p:nvPr/>
        </p:nvSpPr>
        <p:spPr>
          <a:xfrm>
            <a:off x="8193024" y="2267712"/>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000" b="1">
                <a:solidFill>
                  <a:srgbClr val="262626"/>
                </a:solidFill>
                <a:latin typeface="Meiryo"/>
                <a:ea typeface="Meiryo"/>
                <a:cs typeface="Meiryo"/>
              </a:rPr>
              <a:t>169,787 人</a:t>
            </a:r>
          </a:p>
          <a:p>
            <a:pPr algn="ctr"/>
            <a:r>
              <a:rPr sz="2200" b="1">
                <a:solidFill>
                  <a:srgbClr val="262626"/>
                </a:solidFill>
                <a:latin typeface="Meiryo"/>
                <a:ea typeface="Meiryo"/>
                <a:cs typeface="Meiryo"/>
              </a:rPr>
              <a:t>指尖PPG がある</a:t>
            </a:r>
          </a:p>
          <a:p>
            <a:pPr algn="ctr"/>
            <a:r>
              <a:rPr sz="2200" b="1">
                <a:solidFill>
                  <a:srgbClr val="262626"/>
                </a:solidFill>
                <a:latin typeface="Meiryo"/>
                <a:ea typeface="Meiryo"/>
                <a:cs typeface="Meiryo"/>
              </a:rPr>
              <a:t>解析対象者</a:t>
            </a:r>
          </a:p>
        </p:txBody>
      </p:sp>
      <p:sp>
        <p:nvSpPr>
          <p:cNvPr id="25" name="callout"/>
          <p:cNvSpPr/>
          <p:nvPr/>
        </p:nvSpPr>
        <p:spPr>
          <a:xfrm>
            <a:off x="548640" y="3950208"/>
            <a:ext cx="10954512" cy="96926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600" b="1">
                <a:solidFill>
                  <a:srgbClr val="262626"/>
                </a:solidFill>
                <a:latin typeface="Meiryo"/>
                <a:ea typeface="Meiryo"/>
                <a:cs typeface="Meiryo"/>
              </a:rPr>
              <a:t>登録時に 質問票・身体計測・採血・指尖PPG</a:t>
            </a:r>
          </a:p>
          <a:p>
            <a:pPr algn="ctr"/>
            <a:r>
              <a:rPr sz="2200" b="1">
                <a:solidFill>
                  <a:srgbClr val="262626"/>
                </a:solidFill>
                <a:latin typeface="Meiryo"/>
                <a:ea typeface="Meiryo"/>
                <a:cs typeface="Meiryo"/>
              </a:rPr>
              <a:t>その後は 医療記録とのリンクで イベントを追跡</a:t>
            </a:r>
          </a:p>
        </p:txBody>
      </p:sp>
      <p:sp>
        <p:nvSpPr>
          <p:cNvPr id="26" name="place"/>
          <p:cNvSpPr/>
          <p:nvPr/>
        </p:nvSpPr>
        <p:spPr>
          <a:xfrm>
            <a:off x="548640" y="5138928"/>
            <a:ext cx="10954512" cy="932688"/>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808080"/>
                </a:solidFill>
                <a:latin typeface="Meiryo"/>
                <a:ea typeface="Meiryo"/>
                <a:cs typeface="Meiryo"/>
              </a:rPr>
              <a:t>本デックでの位置づけ</a:t>
            </a:r>
          </a:p>
          <a:p>
            <a:pPr algn="ctr"/>
            <a:r>
              <a:rPr sz="2600" b="1">
                <a:solidFill>
                  <a:srgbClr val="262626"/>
                </a:solidFill>
                <a:latin typeface="Meiryo"/>
                <a:ea typeface="Meiryo"/>
                <a:cs typeface="Meiryo"/>
              </a:rPr>
              <a:t>Cunningham 2023 ＝ 切痕の平滑さを 機械学習で連続量化</a:t>
            </a:r>
          </a:p>
        </p:txBody>
      </p:sp>
      <p:sp>
        <p:nvSpPr>
          <p:cNvPr id="27" name="Source"/>
          <p:cNvSpPr txBox="1"/>
          <p:nvPr/>
        </p:nvSpPr>
        <p:spPr>
          <a:xfrm>
            <a:off x="720000" y="6606000"/>
            <a:ext cx="10440000" cy="216000"/>
          </a:xfrm>
          <a:prstGeom prst="rect">
            <a:avLst/>
          </a:prstGeom>
          <a:noFill/>
        </p:spPr>
        <p:txBody>
          <a:bodyPr wrap="none" anchor="t" lIns="0" rIns="0" tIns="0" bIns="0">
            <a:spAutoFit/>
          </a:bodyPr>
          <a:lstStyle/>
          <a:p>
            <a:pPr algn="l"/>
            <a:r>
              <a:rPr sz="1050" b="0">
                <a:solidFill>
                  <a:srgbClr val="808080"/>
                </a:solidFill>
                <a:latin typeface="Meiryo"/>
                <a:ea typeface="Meiryo"/>
                <a:cs typeface="Meiryo"/>
              </a:rPr>
              <a:t>6. Cunningham 2023　／　UK Biobank  www.ukbiobank.ac.uk</a:t>
            </a:r>
          </a:p>
        </p:txBody>
      </p:sp>
    </p:spTree>
    <p:extLst>
      <p:ext uri="{BB962C8B-B14F-4D97-AF65-F5344CB8AC3E}">
        <p14:creationId xmlns:p14="http://schemas.microsoft.com/office/powerpoint/2010/main" val="3222711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a:latin typeface="Meiryo"/>
                <a:ea typeface="Meiryo"/>
                <a:cs typeface="Meiryo"/>
              </a:rPr>
              <a:t>2.2  UK Biobank</a:t>
            </a:r>
          </a:p>
        </p:txBody>
      </p:sp>
      <p:sp>
        <p:nvSpPr>
          <p:cNvPr id="14" name="Off-page Connector 2">
            <a:extLst>
              <a:ext uri="{FF2B5EF4-FFF2-40B4-BE49-F238E27FC236}">
                <a16:creationId xmlns:a16="http://schemas.microsoft.com/office/drawing/2014/main" id="{FC5BBE7F-B462-3768-59F2-CF95A9F85D10}"/>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3">
            <a:extLst>
              <a:ext uri="{FF2B5EF4-FFF2-40B4-BE49-F238E27FC236}">
                <a16:creationId xmlns:a16="http://schemas.microsoft.com/office/drawing/2014/main" id="{07CB9C02-6DCF-0C7A-F28A-211881AFE02F}"/>
              </a:ext>
            </a:extLst>
          </p:cNvPr>
          <p:cNvSpPr/>
          <p:nvPr/>
        </p:nvSpPr>
        <p:spPr>
          <a:xfrm>
            <a:off x="82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加齢</a:t>
            </a:r>
          </a:p>
        </p:txBody>
      </p:sp>
      <p:sp>
        <p:nvSpPr>
          <p:cNvPr id="16" name="Off-page Connector 4">
            <a:extLst>
              <a:ext uri="{FF2B5EF4-FFF2-40B4-BE49-F238E27FC236}">
                <a16:creationId xmlns:a16="http://schemas.microsoft.com/office/drawing/2014/main" id="{59F57616-1BE7-4156-91C0-DC582D1AE70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7" name="Off-page Connector 5">
            <a:extLst>
              <a:ext uri="{FF2B5EF4-FFF2-40B4-BE49-F238E27FC236}">
                <a16:creationId xmlns:a16="http://schemas.microsoft.com/office/drawing/2014/main" id="{7E160212-A50C-ABF3-1B9E-694C7EEFAA7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8" name="Off-page Connector 6">
            <a:extLst>
              <a:ext uri="{FF2B5EF4-FFF2-40B4-BE49-F238E27FC236}">
                <a16:creationId xmlns:a16="http://schemas.microsoft.com/office/drawing/2014/main" id="{2F101920-C64C-DEC2-9F51-9DA11464CB5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8E7FD405-5255-6666-D847-F08EFC902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20" name="Off-page Connector 8">
            <a:extLst>
              <a:ext uri="{FF2B5EF4-FFF2-40B4-BE49-F238E27FC236}">
                <a16:creationId xmlns:a16="http://schemas.microsoft.com/office/drawing/2014/main" id="{C86A3FE9-B677-40CE-1AFB-5B56F269C89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D564C61E-4D58-6E20-338F-387613BFB16F}"/>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6. Cunningham 2023</a:t>
            </a:r>
          </a:p>
        </p:txBody>
      </p:sp>
      <p:sp>
        <p:nvSpPr>
          <p:cNvPr id="10" name="TextBox 9">
            <a:extLst>
              <a:ext uri="{FF2B5EF4-FFF2-40B4-BE49-F238E27FC236}">
                <a16:creationId xmlns:a16="http://schemas.microsoft.com/office/drawing/2014/main" id="{D20A318C-F6EC-FEAC-CA9A-28ED24FB436A}"/>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12/36</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4"/>
          <a:stretch>
            <a:fillRect/>
          </a:stretch>
        </p:blipFill>
        <p:spPr>
          <a:xfrm>
            <a:off x="358058" y="2347302"/>
            <a:ext cx="5874342" cy="3487406"/>
          </a:xfrm>
          <a:prstGeom prst="rect">
            <a:avLst/>
          </a:prstGeom>
        </p:spPr>
      </p:pic>
      <p:sp>
        <p:nvSpPr>
          <p:cNvPr id="12" name="テキスト ボックス 11">
            <a:extLst>
              <a:ext uri="{FF2B5EF4-FFF2-40B4-BE49-F238E27FC236}">
                <a16:creationId xmlns:a16="http://schemas.microsoft.com/office/drawing/2014/main" id="{B3AB4333-201D-42E6-03AB-0E580CD7E8D4}"/>
              </a:ext>
            </a:extLst>
          </p:cNvPr>
          <p:cNvSpPr txBox="1"/>
          <p:nvPr/>
        </p:nvSpPr>
        <p:spPr>
          <a:xfrm>
            <a:off x="7518400" y="7281333"/>
            <a:ext cx="184731" cy="369332"/>
          </a:xfrm>
          <a:prstGeom prst="rect">
            <a:avLst/>
          </a:prstGeom>
          <a:noFill/>
        </p:spPr>
        <p:txBody>
          <a:bodyPr wrap="none" rtlCol="0">
            <a:spAutoFit/>
          </a:bodyPr>
          <a:lstStyle/>
          <a:p>
            <a:endParaRPr kumimoji="1" lang="ja-JP" altLang="en-US"/>
          </a:p>
        </p:txBody>
      </p:sp>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5"/>
          <a:srcRect t="1" b="27431"/>
          <a:stretch>
            <a:fillRect/>
          </a:stretch>
        </p:blipFill>
        <p:spPr>
          <a:xfrm>
            <a:off x="6232400" y="1823018"/>
            <a:ext cx="5601542" cy="4337316"/>
          </a:xfrm>
          <a:prstGeom prst="rect">
            <a:avLst/>
          </a:prstGeom>
        </p:spPr>
      </p:pic>
    </p:spTree>
    <p:extLst>
      <p:ext uri="{BB962C8B-B14F-4D97-AF65-F5344CB8AC3E}">
        <p14:creationId xmlns:p14="http://schemas.microsoft.com/office/powerpoint/2010/main" val="1615702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a:latin typeface="Meiryo"/>
                <a:ea typeface="Meiryo"/>
                <a:cs typeface="Meiryo"/>
              </a:rPr>
              <a:t>2.2  UK Biobank</a:t>
            </a:r>
          </a:p>
        </p:txBody>
      </p:sp>
      <p:sp>
        <p:nvSpPr>
          <p:cNvPr id="14" name="Off-page Connector 2">
            <a:extLst>
              <a:ext uri="{FF2B5EF4-FFF2-40B4-BE49-F238E27FC236}">
                <a16:creationId xmlns:a16="http://schemas.microsoft.com/office/drawing/2014/main" id="{9549C5EE-B40D-B622-44AB-DD394D28016B}"/>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3">
            <a:extLst>
              <a:ext uri="{FF2B5EF4-FFF2-40B4-BE49-F238E27FC236}">
                <a16:creationId xmlns:a16="http://schemas.microsoft.com/office/drawing/2014/main" id="{29607CEA-9193-7EC6-4190-43745495025F}"/>
              </a:ext>
            </a:extLst>
          </p:cNvPr>
          <p:cNvSpPr/>
          <p:nvPr/>
        </p:nvSpPr>
        <p:spPr>
          <a:xfrm>
            <a:off x="82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加齢</a:t>
            </a:r>
          </a:p>
        </p:txBody>
      </p:sp>
      <p:sp>
        <p:nvSpPr>
          <p:cNvPr id="16" name="Off-page Connector 4">
            <a:extLst>
              <a:ext uri="{FF2B5EF4-FFF2-40B4-BE49-F238E27FC236}">
                <a16:creationId xmlns:a16="http://schemas.microsoft.com/office/drawing/2014/main" id="{050492A9-66EC-FA98-B419-C261262F827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7" name="Off-page Connector 5">
            <a:extLst>
              <a:ext uri="{FF2B5EF4-FFF2-40B4-BE49-F238E27FC236}">
                <a16:creationId xmlns:a16="http://schemas.microsoft.com/office/drawing/2014/main" id="{D1A1AE54-3A35-6730-B959-E69049BC0A6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8" name="Off-page Connector 6">
            <a:extLst>
              <a:ext uri="{FF2B5EF4-FFF2-40B4-BE49-F238E27FC236}">
                <a16:creationId xmlns:a16="http://schemas.microsoft.com/office/drawing/2014/main" id="{0BFF12C2-90BD-E92E-0118-D412BA221E7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3301B627-1673-7484-3485-877B8873E62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20" name="Off-page Connector 8">
            <a:extLst>
              <a:ext uri="{FF2B5EF4-FFF2-40B4-BE49-F238E27FC236}">
                <a16:creationId xmlns:a16="http://schemas.microsoft.com/office/drawing/2014/main" id="{971DCEDA-7638-2156-8F9F-6FD6C8DBE5F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602662EE-B3A6-3F56-0133-5AA6D32504BC}"/>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6. Cunningham 2023</a:t>
            </a:r>
          </a:p>
        </p:txBody>
      </p:sp>
      <p:sp>
        <p:nvSpPr>
          <p:cNvPr id="10" name="TextBox 9">
            <a:extLst>
              <a:ext uri="{FF2B5EF4-FFF2-40B4-BE49-F238E27FC236}">
                <a16:creationId xmlns:a16="http://schemas.microsoft.com/office/drawing/2014/main" id="{5DD09AE4-9C08-1E99-8A52-26201C0C08A3}"/>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13/36</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4"/>
          <a:stretch>
            <a:fillRect/>
          </a:stretch>
        </p:blipFill>
        <p:spPr>
          <a:xfrm>
            <a:off x="358058" y="2347302"/>
            <a:ext cx="5874342" cy="3487406"/>
          </a:xfrm>
          <a:prstGeom prst="rect">
            <a:avLst/>
          </a:prstGeom>
        </p:spPr>
      </p:pic>
      <p:sp>
        <p:nvSpPr>
          <p:cNvPr id="12" name="テキスト ボックス 11">
            <a:extLst>
              <a:ext uri="{FF2B5EF4-FFF2-40B4-BE49-F238E27FC236}">
                <a16:creationId xmlns:a16="http://schemas.microsoft.com/office/drawing/2014/main" id="{BCDB6569-CF5A-478E-0717-DFE940863512}"/>
              </a:ext>
            </a:extLst>
          </p:cNvPr>
          <p:cNvSpPr txBox="1"/>
          <p:nvPr/>
        </p:nvSpPr>
        <p:spPr>
          <a:xfrm>
            <a:off x="7518400" y="7281333"/>
            <a:ext cx="184731" cy="369332"/>
          </a:xfrm>
          <a:prstGeom prst="rect">
            <a:avLst/>
          </a:prstGeom>
          <a:noFill/>
        </p:spPr>
        <p:txBody>
          <a:bodyPr wrap="none" rtlCol="0">
            <a:spAutoFit/>
          </a:bodyPr>
          <a:lstStyle/>
          <a:p>
            <a:endParaRPr kumimoji="1" lang="ja-JP" altLang="en-US"/>
          </a:p>
        </p:txBody>
      </p:sp>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5"/>
          <a:srcRect t="1" b="27431"/>
          <a:stretch>
            <a:fillRect/>
          </a:stretch>
        </p:blipFill>
        <p:spPr>
          <a:xfrm>
            <a:off x="6232400" y="1823018"/>
            <a:ext cx="5601542" cy="4337316"/>
          </a:xfrm>
          <a:prstGeom prst="rect">
            <a:avLst/>
          </a:prstGeom>
        </p:spPr>
      </p:pic>
      <p:sp>
        <p:nvSpPr>
          <p:cNvPr id="3" name="box">
            <a:extLst>
              <a:ext uri="{FF2B5EF4-FFF2-40B4-BE49-F238E27FC236}">
                <a16:creationId xmlns:a16="http://schemas.microsoft.com/office/drawing/2014/main" id="{21B80B13-E691-03FF-D5FA-D38605478B16}"/>
              </a:ext>
            </a:extLst>
          </p:cNvPr>
          <p:cNvSpPr/>
          <p:nvPr/>
        </p:nvSpPr>
        <p:spPr>
          <a:xfrm>
            <a:off x="2283858" y="3539202"/>
            <a:ext cx="7897083" cy="1103606"/>
          </a:xfrm>
          <a:prstGeom prst="roundRect">
            <a:avLst/>
          </a:prstGeom>
          <a:solidFill>
            <a:srgbClr val="F5E8C8"/>
          </a:solidFill>
          <a:ln w="15875">
            <a:solidFill>
              <a:srgbClr val="BF9000"/>
            </a:solidFill>
          </a:ln>
        </p:spPr>
        <p:txBody>
          <a:bodyPr wrap="square" lIns="45720" tIns="27432" rIns="45720" bIns="27432" anchor="ctr">
            <a:normAutofit/>
          </a:bodyPr>
          <a:lstStyle/>
          <a:p>
            <a:pPr algn="ctr"/>
            <a:r>
              <a:rPr lang="ja-JP" altLang="en-US" sz="2400" b="1" dirty="0">
                <a:solidFill>
                  <a:srgbClr val="262626"/>
                </a:solidFill>
                <a:latin typeface="Meiryo"/>
                <a:ea typeface="Meiryo"/>
                <a:cs typeface="Meiryo"/>
              </a:rPr>
              <a:t>切痕が平滑</a:t>
            </a:r>
            <a:r>
              <a:rPr lang="ja-JP" altLang="en-US" sz="2400" b="1">
                <a:solidFill>
                  <a:srgbClr val="262626"/>
                </a:solidFill>
                <a:latin typeface="Meiryo"/>
                <a:ea typeface="Meiryo"/>
                <a:cs typeface="Meiryo"/>
              </a:rPr>
              <a:t>なほど</a:t>
            </a:r>
            <a:r>
              <a:rPr lang="en-US" altLang="ja-JP" sz="2400" b="1" dirty="0">
                <a:solidFill>
                  <a:srgbClr val="262626"/>
                </a:solidFill>
                <a:latin typeface="Meiryo"/>
                <a:ea typeface="Meiryo"/>
                <a:cs typeface="Meiryo"/>
              </a:rPr>
              <a:t>,</a:t>
            </a:r>
            <a:r>
              <a:rPr lang="ja-JP" altLang="en-US" sz="2400" b="1">
                <a:solidFill>
                  <a:srgbClr val="262626"/>
                </a:solidFill>
                <a:latin typeface="Meiryo"/>
                <a:ea typeface="Meiryo"/>
                <a:cs typeface="Meiryo"/>
              </a:rPr>
              <a:t>高血圧</a:t>
            </a:r>
            <a:r>
              <a:rPr lang="ja-JP" altLang="en-US" sz="2400" b="1" dirty="0">
                <a:solidFill>
                  <a:srgbClr val="262626"/>
                </a:solidFill>
                <a:latin typeface="Meiryo"/>
                <a:ea typeface="Meiryo"/>
                <a:cs typeface="Meiryo"/>
              </a:rPr>
              <a:t>・心筋梗塞/</a:t>
            </a:r>
            <a:r>
              <a:rPr lang="ja-JP" altLang="en-US" sz="2400" b="1">
                <a:solidFill>
                  <a:srgbClr val="262626"/>
                </a:solidFill>
                <a:latin typeface="Meiryo"/>
                <a:ea typeface="Meiryo"/>
                <a:cs typeface="Meiryo"/>
              </a:rPr>
              <a:t>CAD・</a:t>
            </a:r>
            <a:endParaRPr lang="en-US" altLang="ja-JP" sz="2400" b="1" dirty="0">
              <a:solidFill>
                <a:srgbClr val="262626"/>
              </a:solidFill>
              <a:latin typeface="Meiryo"/>
              <a:ea typeface="Meiryo"/>
              <a:cs typeface="Meiryo"/>
            </a:endParaRPr>
          </a:p>
          <a:p>
            <a:pPr algn="ctr"/>
            <a:r>
              <a:rPr lang="ja-JP" altLang="en-US" sz="2400" b="1">
                <a:solidFill>
                  <a:srgbClr val="262626"/>
                </a:solidFill>
                <a:latin typeface="Meiryo"/>
                <a:ea typeface="Meiryo"/>
                <a:cs typeface="Meiryo"/>
              </a:rPr>
              <a:t>心</a:t>
            </a:r>
            <a:r>
              <a:rPr lang="ja-JP" altLang="en-US" sz="2400" b="1" dirty="0">
                <a:solidFill>
                  <a:srgbClr val="262626"/>
                </a:solidFill>
                <a:latin typeface="Meiryo"/>
                <a:ea typeface="Meiryo"/>
                <a:cs typeface="Meiryo"/>
              </a:rPr>
              <a:t>不全・死亡 </a:t>
            </a:r>
            <a:r>
              <a:rPr lang="ja-JP" altLang="en-US" sz="2400" b="1">
                <a:solidFill>
                  <a:srgbClr val="262626"/>
                </a:solidFill>
                <a:latin typeface="Meiryo"/>
                <a:ea typeface="Meiryo"/>
                <a:cs typeface="Meiryo"/>
              </a:rPr>
              <a:t>が増加</a:t>
            </a:r>
          </a:p>
        </p:txBody>
      </p:sp>
    </p:spTree>
    <p:extLst>
      <p:ext uri="{BB962C8B-B14F-4D97-AF65-F5344CB8AC3E}">
        <p14:creationId xmlns:p14="http://schemas.microsoft.com/office/powerpoint/2010/main" val="2871937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a:latin typeface="Meiryo"/>
                <a:ea typeface="Meiryo"/>
                <a:cs typeface="Meiryo"/>
              </a:rPr>
              <a:t>2.3  切痕が消える理由</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4. Millasseau 2002  ／  5. Dawber 1973  ／  6. Cunningham 2023</a:t>
            </a:r>
          </a:p>
        </p:txBody>
      </p:sp>
      <p:pic>
        <p:nvPicPr>
          <p:cNvPr id="9" name="Picture 8" descr="11_stiffness_series.png"/>
          <p:cNvPicPr>
            <a:picLocks noChangeAspect="1"/>
          </p:cNvPicPr>
          <p:nvPr/>
        </p:nvPicPr>
        <p:blipFill>
          <a:blip r:embed="rId4"/>
          <a:stretch>
            <a:fillRect/>
          </a:stretch>
        </p:blipFill>
        <p:spPr>
          <a:xfrm>
            <a:off x="1564000" y="1677168"/>
            <a:ext cx="9040000" cy="4320000"/>
          </a:xfrm>
          <a:prstGeom prst="rect">
            <a:avLst/>
          </a:prstGeom>
        </p:spPr>
      </p:pic>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14/36</a:t>
            </a:r>
          </a:p>
        </p:txBody>
      </p:sp>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558832"/>
            <a:ext cx="10440000" cy="1044000"/>
          </a:xfrm>
          <a:prstGeom prst="rect">
            <a:avLst/>
          </a:prstGeom>
          <a:noFill/>
        </p:spPr>
        <p:txBody>
          <a:bodyPr wrap="square" lIns="0" tIns="0" rIns="0" bIns="0" anchor="t">
            <a:noAutofit/>
          </a:bodyPr>
          <a:lstStyle/>
          <a:p>
            <a:pPr algn="ctr"/>
            <a:r>
              <a:rPr lang="ja-JP" altLang="en-US" sz="2400" b="1" dirty="0">
                <a:solidFill>
                  <a:srgbClr val="262626"/>
                </a:solidFill>
                <a:latin typeface="Meiryo"/>
                <a:ea typeface="Meiryo"/>
                <a:cs typeface="Meiryo"/>
              </a:rPr>
              <a:t>加齢・動脈硬化 → 大血管スティフネス↑ → 反射波の速度↑</a:t>
            </a:r>
          </a:p>
          <a:p>
            <a:pPr algn="ctr"/>
            <a:r>
              <a:rPr lang="ja-JP" altLang="en-US" sz="2400" b="1" dirty="0">
                <a:solidFill>
                  <a:srgbClr val="262626"/>
                </a:solidFill>
                <a:latin typeface="Meiryo"/>
                <a:ea typeface="Meiryo"/>
                <a:cs typeface="Meiryo"/>
              </a:rPr>
              <a:t>→ 反射波が早く戻る → 収縮期へ融合 → </a:t>
            </a:r>
            <a:r>
              <a:rPr lang="ja-JP" altLang="en-US" sz="2400" b="1" dirty="0">
                <a:solidFill>
                  <a:srgbClr val="BF9000"/>
                </a:solidFill>
                <a:latin typeface="Meiryo"/>
                <a:ea typeface="Meiryo"/>
                <a:cs typeface="Meiryo"/>
              </a:rPr>
              <a:t>切痕が消える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a:latin typeface="Meiryo"/>
                <a:ea typeface="Meiryo"/>
                <a:cs typeface="Meiryo"/>
              </a:rPr>
              <a:t>3. 波形への影響：循環</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864000" y="1660745"/>
            <a:ext cx="4711226" cy="4670509"/>
          </a:xfrm>
          <a:prstGeom prst="rect">
            <a:avLst/>
          </a:prstGeom>
          <a:noFill/>
        </p:spPr>
        <p:txBody>
          <a:bodyPr wrap="none" lIns="0" tIns="0" rIns="0" bIns="0" anchor="ctr">
            <a:spAutoFit/>
          </a:bodyPr>
          <a:lstStyle/>
          <a:p>
            <a:pPr marL="0" indent="0" algn="l" latinLnBrk="0">
              <a:lnSpc>
                <a:spcPts val="2753"/>
              </a:lnSpc>
              <a:spcBef>
                <a:spcPts val="0"/>
              </a:spcBef>
              <a:spcAft>
                <a:spcPts val="0"/>
              </a:spcAft>
            </a:pPr>
            <a:r>
              <a:rPr sz="2400" b="1" dirty="0">
                <a:solidFill>
                  <a:srgbClr val="D9D9D9"/>
                </a:solidFill>
                <a:latin typeface="Meiryo"/>
                <a:ea typeface="Meiryo"/>
                <a:cs typeface="Meiryo"/>
              </a:rPr>
              <a:t>1. </a:t>
            </a:r>
            <a:r>
              <a:rPr sz="2400" b="0" dirty="0" err="1">
                <a:solidFill>
                  <a:srgbClr val="D9D9D9"/>
                </a:solidFill>
                <a:latin typeface="Meiryo"/>
                <a:ea typeface="Meiryo"/>
                <a:cs typeface="Meiryo"/>
              </a:rPr>
              <a:t>PPGの基礎</a:t>
            </a:r>
            <a:endParaRPr sz="2400" b="0" dirty="0">
              <a:solidFill>
                <a:srgbClr val="D9D9D9"/>
              </a:solidFill>
              <a:latin typeface="Meiryo"/>
              <a:ea typeface="Meiryo"/>
              <a:cs typeface="Meiryo"/>
            </a:endParaRPr>
          </a:p>
          <a:p>
            <a:pPr algn="l">
              <a:lnSpc>
                <a:spcPts val="2753"/>
              </a:lnSpc>
              <a:spcBef>
                <a:spcPts val="0"/>
              </a:spcBef>
              <a:spcAft>
                <a:spcPts val="0"/>
              </a:spcAft>
            </a:pPr>
            <a:r>
              <a:rPr sz="2400" b="1" dirty="0">
                <a:solidFill>
                  <a:srgbClr val="D9D9D9"/>
                </a:solidFill>
                <a:latin typeface="Meiryo"/>
                <a:ea typeface="Meiryo"/>
                <a:cs typeface="Meiryo"/>
              </a:rPr>
              <a:t>2. </a:t>
            </a:r>
            <a:r>
              <a:rPr sz="2400" b="0" dirty="0" err="1">
                <a:solidFill>
                  <a:srgbClr val="D9D9D9"/>
                </a:solidFill>
                <a:latin typeface="Meiryo"/>
                <a:ea typeface="Meiryo"/>
                <a:cs typeface="Meiryo"/>
              </a:rPr>
              <a:t>波形への影響：加齢</a:t>
            </a:r>
            <a:endParaRPr sz="2400" b="0" dirty="0">
              <a:solidFill>
                <a:srgbClr val="D9D9D9"/>
              </a:solidFill>
              <a:latin typeface="Meiryo"/>
              <a:ea typeface="Meiryo"/>
              <a:cs typeface="Meiryo"/>
            </a:endParaRPr>
          </a:p>
          <a:p>
            <a:pPr algn="l">
              <a:lnSpc>
                <a:spcPts val="2753"/>
              </a:lnSpc>
              <a:spcBef>
                <a:spcPts val="0"/>
              </a:spcBef>
              <a:spcAft>
                <a:spcPts val="0"/>
              </a:spcAft>
            </a:pPr>
            <a:r>
              <a:rPr sz="2400" b="1" dirty="0">
                <a:solidFill>
                  <a:srgbClr val="BF9000"/>
                </a:solidFill>
                <a:latin typeface="Meiryo"/>
                <a:ea typeface="Meiryo"/>
                <a:cs typeface="Meiryo"/>
              </a:rPr>
              <a:t>3. </a:t>
            </a:r>
            <a:r>
              <a:rPr sz="2400" b="1" dirty="0" err="1">
                <a:solidFill>
                  <a:srgbClr val="262626"/>
                </a:solidFill>
                <a:latin typeface="Meiryo"/>
                <a:ea typeface="Meiryo"/>
                <a:cs typeface="Meiryo"/>
              </a:rPr>
              <a:t>波形への影響：循環</a:t>
            </a:r>
            <a:endParaRPr sz="2400" b="1" dirty="0">
              <a:solidFill>
                <a:srgbClr val="262626"/>
              </a:solidFill>
              <a:latin typeface="Meiryo"/>
              <a:ea typeface="Meiryo"/>
              <a:cs typeface="Meiryo"/>
            </a:endParaRPr>
          </a:p>
          <a:p>
            <a:pPr algn="l">
              <a:lnSpc>
                <a:spcPts val="2753"/>
              </a:lnSpc>
              <a:spcBef>
                <a:spcPts val="0"/>
              </a:spcBef>
              <a:spcAft>
                <a:spcPts val="0"/>
              </a:spcAft>
            </a:pPr>
            <a:r>
              <a:rPr sz="2200" b="1" dirty="0">
                <a:solidFill>
                  <a:srgbClr val="BF9000"/>
                </a:solidFill>
                <a:latin typeface="Meiryo"/>
                <a:ea typeface="Meiryo"/>
                <a:cs typeface="Meiryo"/>
              </a:rPr>
              <a:t>　3.1　</a:t>
            </a:r>
            <a:r>
              <a:rPr sz="2200" b="1" dirty="0" err="1">
                <a:solidFill>
                  <a:srgbClr val="262626"/>
                </a:solidFill>
                <a:latin typeface="Meiryo"/>
                <a:ea typeface="Meiryo"/>
                <a:cs typeface="Meiryo"/>
              </a:rPr>
              <a:t>前負荷</a:t>
            </a:r>
            <a:endParaRPr sz="2200" b="1" dirty="0">
              <a:solidFill>
                <a:srgbClr val="262626"/>
              </a:solidFill>
              <a:latin typeface="Meiryo"/>
              <a:ea typeface="Meiryo"/>
              <a:cs typeface="Meiryo"/>
            </a:endParaRPr>
          </a:p>
          <a:p>
            <a:pPr algn="l">
              <a:lnSpc>
                <a:spcPts val="2753"/>
              </a:lnSpc>
              <a:spcBef>
                <a:spcPts val="0"/>
              </a:spcBef>
              <a:spcAft>
                <a:spcPts val="0"/>
              </a:spcAft>
            </a:pPr>
            <a:r>
              <a:rPr sz="2200" b="1" dirty="0">
                <a:solidFill>
                  <a:srgbClr val="BF9000"/>
                </a:solidFill>
                <a:latin typeface="Meiryo"/>
                <a:ea typeface="Meiryo"/>
                <a:cs typeface="Meiryo"/>
              </a:rPr>
              <a:t>　3.2　</a:t>
            </a:r>
            <a:r>
              <a:rPr sz="2200" b="1" dirty="0" err="1">
                <a:solidFill>
                  <a:srgbClr val="262626"/>
                </a:solidFill>
                <a:latin typeface="Meiryo"/>
                <a:ea typeface="Meiryo"/>
                <a:cs typeface="Meiryo"/>
              </a:rPr>
              <a:t>後負荷（末梢血管トーヌス</a:t>
            </a:r>
            <a:r>
              <a:rPr sz="2200" b="1" dirty="0">
                <a:solidFill>
                  <a:srgbClr val="262626"/>
                </a:solidFill>
                <a:latin typeface="Meiryo"/>
                <a:ea typeface="Meiryo"/>
                <a:cs typeface="Meiryo"/>
              </a:rPr>
              <a:t>）</a:t>
            </a:r>
          </a:p>
          <a:p>
            <a:pPr algn="l">
              <a:lnSpc>
                <a:spcPts val="2753"/>
              </a:lnSpc>
              <a:spcBef>
                <a:spcPts val="0"/>
              </a:spcBef>
              <a:spcAft>
                <a:spcPts val="0"/>
              </a:spcAft>
            </a:pPr>
            <a:r>
              <a:rPr sz="2200" b="1" dirty="0">
                <a:solidFill>
                  <a:srgbClr val="BF9000"/>
                </a:solidFill>
                <a:latin typeface="Meiryo"/>
                <a:ea typeface="Meiryo"/>
                <a:cs typeface="Meiryo"/>
              </a:rPr>
              <a:t>　3.3　</a:t>
            </a:r>
            <a:r>
              <a:rPr sz="2200" b="1" dirty="0" err="1">
                <a:solidFill>
                  <a:srgbClr val="262626"/>
                </a:solidFill>
                <a:latin typeface="Meiryo"/>
                <a:ea typeface="Meiryo"/>
                <a:cs typeface="Meiryo"/>
              </a:rPr>
              <a:t>後負荷の差</a:t>
            </a:r>
            <a:endParaRPr sz="2200" b="1" dirty="0">
              <a:solidFill>
                <a:srgbClr val="262626"/>
              </a:solidFill>
              <a:latin typeface="Meiryo"/>
              <a:ea typeface="Meiryo"/>
              <a:cs typeface="Meiryo"/>
            </a:endParaRPr>
          </a:p>
          <a:p>
            <a:pPr algn="l">
              <a:lnSpc>
                <a:spcPts val="2753"/>
              </a:lnSpc>
              <a:spcBef>
                <a:spcPts val="0"/>
              </a:spcBef>
              <a:spcAft>
                <a:spcPts val="0"/>
              </a:spcAft>
            </a:pPr>
            <a:r>
              <a:rPr sz="2200" b="1" dirty="0">
                <a:solidFill>
                  <a:srgbClr val="BF9000"/>
                </a:solidFill>
                <a:latin typeface="Meiryo"/>
                <a:ea typeface="Meiryo"/>
                <a:cs typeface="Meiryo"/>
              </a:rPr>
              <a:t>　3.4　</a:t>
            </a:r>
            <a:r>
              <a:rPr sz="2200" b="1" dirty="0" err="1">
                <a:solidFill>
                  <a:srgbClr val="262626"/>
                </a:solidFill>
                <a:latin typeface="Meiryo"/>
                <a:ea typeface="Meiryo"/>
                <a:cs typeface="Meiryo"/>
              </a:rPr>
              <a:t>心収縮力</a:t>
            </a:r>
            <a:endParaRPr sz="2200" b="1" dirty="0">
              <a:solidFill>
                <a:srgbClr val="262626"/>
              </a:solidFill>
              <a:latin typeface="Meiryo"/>
              <a:ea typeface="Meiryo"/>
              <a:cs typeface="Meiryo"/>
            </a:endParaRPr>
          </a:p>
          <a:p>
            <a:pPr algn="l">
              <a:lnSpc>
                <a:spcPts val="2753"/>
              </a:lnSpc>
              <a:spcBef>
                <a:spcPts val="0"/>
              </a:spcBef>
              <a:spcAft>
                <a:spcPts val="0"/>
              </a:spcAft>
            </a:pPr>
            <a:r>
              <a:rPr sz="2200" b="1" dirty="0">
                <a:solidFill>
                  <a:srgbClr val="BF9000"/>
                </a:solidFill>
                <a:latin typeface="Meiryo"/>
                <a:ea typeface="Meiryo"/>
                <a:cs typeface="Meiryo"/>
              </a:rPr>
              <a:t>　3.5　</a:t>
            </a:r>
            <a:r>
              <a:rPr sz="2200" b="1" dirty="0" err="1">
                <a:solidFill>
                  <a:srgbClr val="262626"/>
                </a:solidFill>
                <a:latin typeface="Meiryo"/>
                <a:ea typeface="Meiryo"/>
                <a:cs typeface="Meiryo"/>
              </a:rPr>
              <a:t>心拍数</a:t>
            </a:r>
            <a:endParaRPr sz="2200" b="1" dirty="0">
              <a:solidFill>
                <a:srgbClr val="262626"/>
              </a:solidFill>
              <a:latin typeface="Meiryo"/>
              <a:ea typeface="Meiryo"/>
              <a:cs typeface="Meiryo"/>
            </a:endParaRPr>
          </a:p>
          <a:p>
            <a:pPr algn="l">
              <a:lnSpc>
                <a:spcPts val="2753"/>
              </a:lnSpc>
              <a:spcBef>
                <a:spcPts val="0"/>
              </a:spcBef>
              <a:spcAft>
                <a:spcPts val="0"/>
              </a:spcAft>
            </a:pPr>
            <a:r>
              <a:rPr sz="2200" b="1" dirty="0">
                <a:solidFill>
                  <a:srgbClr val="BF9000"/>
                </a:solidFill>
                <a:latin typeface="Meiryo"/>
                <a:ea typeface="Meiryo"/>
                <a:cs typeface="Meiryo"/>
              </a:rPr>
              <a:t>　3.6　</a:t>
            </a:r>
            <a:r>
              <a:rPr sz="2200" b="1" dirty="0" err="1">
                <a:solidFill>
                  <a:srgbClr val="262626"/>
                </a:solidFill>
                <a:latin typeface="Meiryo"/>
                <a:ea typeface="Meiryo"/>
                <a:cs typeface="Meiryo"/>
              </a:rPr>
              <a:t>文献強度</a:t>
            </a:r>
            <a:endParaRPr sz="2200" b="1" dirty="0">
              <a:solidFill>
                <a:srgbClr val="262626"/>
              </a:solidFill>
              <a:latin typeface="Meiryo"/>
              <a:ea typeface="Meiryo"/>
              <a:cs typeface="Meiryo"/>
            </a:endParaRPr>
          </a:p>
          <a:p>
            <a:pPr algn="l">
              <a:lnSpc>
                <a:spcPts val="2753"/>
              </a:lnSpc>
              <a:spcBef>
                <a:spcPts val="0"/>
              </a:spcBef>
              <a:spcAft>
                <a:spcPts val="0"/>
              </a:spcAft>
            </a:pPr>
            <a:r>
              <a:rPr sz="2200" b="1" dirty="0">
                <a:solidFill>
                  <a:srgbClr val="BF9000"/>
                </a:solidFill>
                <a:latin typeface="Meiryo"/>
                <a:ea typeface="Meiryo"/>
                <a:cs typeface="Meiryo"/>
              </a:rPr>
              <a:t>　3.7　</a:t>
            </a:r>
            <a:r>
              <a:rPr sz="2200" b="1" dirty="0" err="1">
                <a:solidFill>
                  <a:srgbClr val="262626"/>
                </a:solidFill>
                <a:latin typeface="Meiryo"/>
                <a:ea typeface="Meiryo"/>
                <a:cs typeface="Meiryo"/>
              </a:rPr>
              <a:t>波形変化まとめ</a:t>
            </a:r>
            <a:endParaRPr sz="2200" b="1" dirty="0">
              <a:solidFill>
                <a:srgbClr val="262626"/>
              </a:solidFill>
              <a:latin typeface="Meiryo"/>
              <a:ea typeface="Meiryo"/>
              <a:cs typeface="Meiryo"/>
            </a:endParaRPr>
          </a:p>
          <a:p>
            <a:pPr algn="l">
              <a:lnSpc>
                <a:spcPts val="2753"/>
              </a:lnSpc>
              <a:spcBef>
                <a:spcPts val="0"/>
              </a:spcBef>
              <a:spcAft>
                <a:spcPts val="0"/>
              </a:spcAft>
            </a:pPr>
            <a:r>
              <a:rPr sz="2400" b="1" dirty="0">
                <a:solidFill>
                  <a:srgbClr val="D9D9D9"/>
                </a:solidFill>
                <a:latin typeface="Meiryo"/>
                <a:ea typeface="Meiryo"/>
                <a:cs typeface="Meiryo"/>
              </a:rPr>
              <a:t>4. </a:t>
            </a:r>
            <a:r>
              <a:rPr sz="2400" b="0" dirty="0" err="1">
                <a:solidFill>
                  <a:srgbClr val="D9D9D9"/>
                </a:solidFill>
                <a:latin typeface="Meiryo"/>
                <a:ea typeface="Meiryo"/>
                <a:cs typeface="Meiryo"/>
              </a:rPr>
              <a:t>麻酔中の波形変化</a:t>
            </a:r>
            <a:endParaRPr sz="2400" b="0" dirty="0">
              <a:solidFill>
                <a:srgbClr val="D9D9D9"/>
              </a:solidFill>
              <a:latin typeface="Meiryo"/>
              <a:ea typeface="Meiryo"/>
              <a:cs typeface="Meiryo"/>
            </a:endParaRPr>
          </a:p>
          <a:p>
            <a:pPr algn="l">
              <a:lnSpc>
                <a:spcPts val="2753"/>
              </a:lnSpc>
              <a:spcBef>
                <a:spcPts val="0"/>
              </a:spcBef>
              <a:spcAft>
                <a:spcPts val="0"/>
              </a:spcAft>
            </a:pPr>
            <a:r>
              <a:rPr sz="2400" b="1" dirty="0">
                <a:solidFill>
                  <a:srgbClr val="D9D9D9"/>
                </a:solidFill>
                <a:latin typeface="Meiryo"/>
                <a:ea typeface="Meiryo"/>
                <a:cs typeface="Meiryo"/>
              </a:rPr>
              <a:t>5. </a:t>
            </a:r>
            <a:r>
              <a:rPr sz="2400" b="0" dirty="0" err="1">
                <a:solidFill>
                  <a:srgbClr val="D9D9D9"/>
                </a:solidFill>
                <a:latin typeface="Meiryo"/>
                <a:ea typeface="Meiryo"/>
                <a:cs typeface="Meiryo"/>
              </a:rPr>
              <a:t>波形の定量化</a:t>
            </a:r>
            <a:endParaRPr sz="2400" b="0" dirty="0">
              <a:solidFill>
                <a:srgbClr val="D9D9D9"/>
              </a:solidFill>
              <a:latin typeface="Meiryo"/>
              <a:ea typeface="Meiryo"/>
              <a:cs typeface="Meiryo"/>
            </a:endParaRPr>
          </a:p>
          <a:p>
            <a:pPr algn="l">
              <a:lnSpc>
                <a:spcPts val="2753"/>
              </a:lnSpc>
              <a:spcBef>
                <a:spcPts val="0"/>
              </a:spcBef>
              <a:spcAft>
                <a:spcPts val="0"/>
              </a:spcAft>
            </a:pPr>
            <a:r>
              <a:rPr sz="2400" b="1" dirty="0">
                <a:solidFill>
                  <a:srgbClr val="D9D9D9"/>
                </a:solidFill>
                <a:latin typeface="Meiryo"/>
                <a:ea typeface="Meiryo"/>
                <a:cs typeface="Meiryo"/>
              </a:rPr>
              <a:t>6. </a:t>
            </a:r>
            <a:r>
              <a:rPr sz="2400" b="0" dirty="0" err="1">
                <a:solidFill>
                  <a:srgbClr val="D9D9D9"/>
                </a:solidFill>
                <a:latin typeface="Meiryo"/>
                <a:ea typeface="Meiryo"/>
                <a:cs typeface="Meiryo"/>
              </a:rPr>
              <a:t>解析まとめ</a:t>
            </a:r>
            <a:endParaRPr sz="2400" b="0" dirty="0">
              <a:solidFill>
                <a:srgbClr val="D9D9D9"/>
              </a:solidFill>
              <a:latin typeface="Meiryo"/>
              <a:ea typeface="Meiryo"/>
              <a:cs typeface="Meiryo"/>
            </a:endParaRPr>
          </a:p>
          <a:p>
            <a:pPr algn="l">
              <a:lnSpc>
                <a:spcPts val="2753"/>
              </a:lnSpc>
              <a:spcBef>
                <a:spcPts val="0"/>
              </a:spcBef>
              <a:spcAft>
                <a:spcPts val="0"/>
              </a:spcAft>
            </a:pPr>
            <a:r>
              <a:rPr sz="2400" b="1" dirty="0">
                <a:solidFill>
                  <a:srgbClr val="D9D9D9"/>
                </a:solidFill>
                <a:latin typeface="Meiryo"/>
                <a:ea typeface="Meiryo"/>
                <a:cs typeface="Meiryo"/>
              </a:rPr>
              <a:t>7. </a:t>
            </a:r>
            <a:r>
              <a:rPr sz="2400" b="0" dirty="0" err="1">
                <a:solidFill>
                  <a:srgbClr val="D9D9D9"/>
                </a:solidFill>
                <a:latin typeface="Meiryo"/>
                <a:ea typeface="Meiryo"/>
                <a:cs typeface="Meiryo"/>
              </a:rPr>
              <a:t>限界</a:t>
            </a:r>
            <a:endParaRPr sz="2400" b="0" dirty="0">
              <a:solidFill>
                <a:srgbClr val="D9D9D9"/>
              </a:solidFill>
              <a:latin typeface="Meiryo"/>
              <a:ea typeface="Meiryo"/>
              <a:cs typeface="Meiryo"/>
            </a:endParaRPr>
          </a:p>
        </p:txBody>
      </p:sp>
      <p:sp>
        <p:nvSpPr>
          <p:cNvPr id="9" name="TextBox 8"/>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15/36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E86BF-8C29-2784-2555-4965ACA17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FB75A-7603-D838-4C90-6C77E18FB0DF}"/>
              </a:ext>
            </a:extLst>
          </p:cNvPr>
          <p:cNvSpPr>
            <a:spLocks noGrp="1"/>
          </p:cNvSpPr>
          <p:nvPr>
            <p:ph type="title"/>
          </p:nvPr>
        </p:nvSpPr>
        <p:spPr/>
        <p:txBody>
          <a:bodyPr>
            <a:normAutofit/>
          </a:bodyPr>
          <a:lstStyle/>
          <a:p>
            <a:pPr algn="l"/>
            <a:r>
              <a:rPr sz="4600">
                <a:latin typeface="Meiryo"/>
                <a:ea typeface="Meiryo"/>
                <a:cs typeface="Meiryo"/>
              </a:rPr>
              <a:t>3.1  前負荷</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992430CE-B32F-F1E4-066F-A0233240EEF6}"/>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5748793A-17EB-B83E-9341-D4B6E4B78D59}"/>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FA729358-3D5A-F8B5-0B0A-16B76A36DBB1}"/>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a:extLst>
              <a:ext uri="{FF2B5EF4-FFF2-40B4-BE49-F238E27FC236}">
                <a16:creationId xmlns:a16="http://schemas.microsoft.com/office/drawing/2014/main" id="{2AE17CF8-2BD9-09B7-F539-4339748874D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D3618746-9DC8-51D0-2512-C73314ED3FA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9D933791-A92F-0894-8456-7B5A03C4AFA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DCF45C1F-E54E-8F5A-0E4F-E748766899A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33FA512E-25F2-E104-84A8-02E5CD9948CB}"/>
              </a:ext>
            </a:extLst>
          </p:cNvPr>
          <p:cNvSpPr txBox="1"/>
          <p:nvPr/>
        </p:nvSpPr>
        <p:spPr>
          <a:xfrm>
            <a:off x="720000" y="6606000"/>
            <a:ext cx="10440000" cy="161583"/>
          </a:xfrm>
          <a:prstGeom prst="rect">
            <a:avLst/>
          </a:prstGeom>
          <a:noFill/>
        </p:spPr>
        <p:txBody>
          <a:bodyPr wrap="square" lIns="0" tIns="0" rIns="0" bIns="0" anchor="t">
            <a:spAutoFit/>
          </a:bodyPr>
          <a:lstStyle/>
          <a:p>
            <a:pPr algn="l"/>
            <a:r>
              <a:rPr sz="1050" u="none" dirty="0">
                <a:solidFill>
                  <a:srgbClr val="808080"/>
                </a:solidFill>
                <a:latin typeface="Meiryo"/>
                <a:ea typeface="Meiryo"/>
                <a:cs typeface="Meiryo"/>
                <a:hlinkClick r:id="rId3"/>
              </a:rPr>
              <a:t>8. Alian 2011</a:t>
            </a:r>
            <a:r>
              <a:rPr sz="1050" dirty="0">
                <a:solidFill>
                  <a:srgbClr val="808080"/>
                </a:solidFill>
                <a:latin typeface="Meiryo"/>
                <a:ea typeface="Meiryo"/>
                <a:cs typeface="Meiryo"/>
              </a:rPr>
              <a:t>  </a:t>
            </a:r>
            <a:r>
              <a:rPr lang="ja-JP" altLang="en-US" sz="1050">
                <a:solidFill>
                  <a:srgbClr val="808080"/>
                </a:solidFill>
                <a:latin typeface="Meiryo"/>
                <a:ea typeface="Meiryo"/>
                <a:cs typeface="Meiryo"/>
              </a:rPr>
              <a:t>／  </a:t>
            </a:r>
            <a:r>
              <a:rPr lang="en-US" altLang="ja-JP" sz="1050" u="none" dirty="0">
                <a:solidFill>
                  <a:srgbClr val="808080"/>
                </a:solidFill>
                <a:latin typeface="Meiryo"/>
                <a:ea typeface="Meiryo"/>
                <a:cs typeface="Meiryo"/>
                <a:hlinkClick r:id="rId4"/>
              </a:rPr>
              <a:t>9.</a:t>
            </a:r>
            <a:r>
              <a:rPr lang="ja-JP" altLang="en-US" sz="1050" u="none">
                <a:solidFill>
                  <a:srgbClr val="808080"/>
                </a:solidFill>
                <a:latin typeface="Meiryo"/>
                <a:ea typeface="Meiryo"/>
                <a:cs typeface="Meiryo"/>
                <a:hlinkClick r:id="rId4"/>
              </a:rPr>
              <a:t> </a:t>
            </a:r>
            <a:r>
              <a:rPr lang="en" sz="1050" u="none" dirty="0">
                <a:solidFill>
                  <a:srgbClr val="808080"/>
                </a:solidFill>
                <a:latin typeface="Meiryo"/>
                <a:ea typeface="Meiryo"/>
                <a:cs typeface="Meiryo"/>
                <a:hlinkClick r:id="rId4"/>
              </a:rPr>
              <a:t>Cannesson</a:t>
            </a:r>
            <a:r>
              <a:rPr lang="ja-JP" altLang="en-US" sz="1050" u="none">
                <a:solidFill>
                  <a:srgbClr val="808080"/>
                </a:solidFill>
                <a:latin typeface="Meiryo"/>
                <a:ea typeface="Meiryo"/>
                <a:cs typeface="Meiryo"/>
                <a:hlinkClick r:id="rId4"/>
              </a:rPr>
              <a:t> </a:t>
            </a:r>
            <a:r>
              <a:rPr lang="en-US" altLang="ja-JP" sz="1050" u="none" dirty="0">
                <a:solidFill>
                  <a:srgbClr val="808080"/>
                </a:solidFill>
                <a:latin typeface="Meiryo"/>
                <a:ea typeface="Meiryo"/>
                <a:cs typeface="Meiryo"/>
                <a:hlinkClick r:id="rId4"/>
              </a:rPr>
              <a:t>2005</a:t>
            </a:r>
            <a:endParaRPr sz="1050" u="none" dirty="0">
              <a:solidFill>
                <a:srgbClr val="808080"/>
              </a:solidFill>
              <a:latin typeface="Meiryo"/>
              <a:ea typeface="Meiryo"/>
              <a:cs typeface="Meiryo"/>
              <a:hlinkClick r:id="rId4"/>
            </a:endParaRPr>
          </a:p>
        </p:txBody>
      </p:sp>
      <p:pic>
        <p:nvPicPr>
          <p:cNvPr id="9" name="Picture 8" descr="09b_preload_overlay.png">
            <a:extLst>
              <a:ext uri="{FF2B5EF4-FFF2-40B4-BE49-F238E27FC236}">
                <a16:creationId xmlns:a16="http://schemas.microsoft.com/office/drawing/2014/main" id="{3DD64D6E-9776-EF93-BBC8-A307E3873952}"/>
              </a:ext>
            </a:extLst>
          </p:cNvPr>
          <p:cNvPicPr>
            <a:picLocks noChangeAspect="1"/>
          </p:cNvPicPr>
          <p:nvPr/>
        </p:nvPicPr>
        <p:blipFill>
          <a:blip r:embed="rId5"/>
          <a:srcRect t="22374" r="28310"/>
          <a:stretch>
            <a:fillRect/>
          </a:stretch>
        </p:blipFill>
        <p:spPr>
          <a:xfrm>
            <a:off x="3740040" y="1361563"/>
            <a:ext cx="9074862" cy="4535218"/>
          </a:xfrm>
          <a:prstGeom prst="rect">
            <a:avLst/>
          </a:prstGeom>
        </p:spPr>
      </p:pic>
      <p:sp>
        <p:nvSpPr>
          <p:cNvPr id="10" name="TextBox 9">
            <a:extLst>
              <a:ext uri="{FF2B5EF4-FFF2-40B4-BE49-F238E27FC236}">
                <a16:creationId xmlns:a16="http://schemas.microsoft.com/office/drawing/2014/main" id="{DF7C02FB-AA7C-DF58-6A01-C787E0B73988}"/>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16/36</a:t>
            </a:r>
          </a:p>
        </p:txBody>
      </p:sp>
      <p:sp>
        <p:nvSpPr>
          <p:cNvPr id="340" name="lg1">
            <a:extLst>
              <a:ext uri="{FF2B5EF4-FFF2-40B4-BE49-F238E27FC236}">
                <a16:creationId xmlns:a16="http://schemas.microsoft.com/office/drawing/2014/main" id="{292EFB7A-CB06-256A-DEDE-CC9BA8762889}"/>
              </a:ext>
            </a:extLst>
          </p:cNvPr>
          <p:cNvSpPr txBox="1"/>
          <p:nvPr/>
        </p:nvSpPr>
        <p:spPr>
          <a:xfrm>
            <a:off x="9887700" y="2145131"/>
            <a:ext cx="2979632" cy="300828"/>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341" name="lg2">
            <a:extLst>
              <a:ext uri="{FF2B5EF4-FFF2-40B4-BE49-F238E27FC236}">
                <a16:creationId xmlns:a16="http://schemas.microsoft.com/office/drawing/2014/main" id="{8BC06E79-A308-B3CF-C5E2-F99B946D388E}"/>
              </a:ext>
            </a:extLst>
          </p:cNvPr>
          <p:cNvSpPr txBox="1"/>
          <p:nvPr/>
        </p:nvSpPr>
        <p:spPr>
          <a:xfrm>
            <a:off x="9875950" y="2599356"/>
            <a:ext cx="4346514" cy="873745"/>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（脱血・LBNP）</a:t>
            </a:r>
            <a:endParaRPr lang="ja-JP" altLang="en-US" sz="2200" b="1" dirty="0">
              <a:solidFill>
                <a:srgbClr val="E8853B"/>
              </a:solidFill>
              <a:latin typeface="Meiryo"/>
              <a:ea typeface="Meiryo"/>
              <a:cs typeface="Meiryo"/>
            </a:endParaRPr>
          </a:p>
        </p:txBody>
      </p:sp>
      <p:sp>
        <p:nvSpPr>
          <p:cNvPr id="343" name="cap">
            <a:extLst>
              <a:ext uri="{FF2B5EF4-FFF2-40B4-BE49-F238E27FC236}">
                <a16:creationId xmlns:a16="http://schemas.microsoft.com/office/drawing/2014/main" id="{C024B54E-8079-0B8D-4584-9638FA3E5224}"/>
              </a:ext>
            </a:extLst>
          </p:cNvPr>
          <p:cNvSpPr txBox="1"/>
          <p:nvPr/>
        </p:nvSpPr>
        <p:spPr>
          <a:xfrm>
            <a:off x="1440324" y="5427046"/>
            <a:ext cx="9311351" cy="873745"/>
          </a:xfrm>
          <a:prstGeom prst="rect">
            <a:avLst/>
          </a:prstGeom>
          <a:noFill/>
        </p:spPr>
        <p:txBody>
          <a:bodyPr wrap="square" lIns="0" tIns="0" rIns="0" bIns="0" anchor="t">
            <a:noAutofit/>
          </a:bodyPr>
          <a:lstStyle/>
          <a:p>
            <a:pPr algn="ctr"/>
            <a:r>
              <a:rPr lang="ja-JP" altLang="en-US" sz="2800" b="1" dirty="0">
                <a:solidFill>
                  <a:srgbClr val="262626"/>
                </a:solidFill>
                <a:latin typeface="Meiryo"/>
                <a:ea typeface="Meiryo"/>
                <a:cs typeface="Meiryo"/>
              </a:rPr>
              <a:t>progressive hypovolemia </a:t>
            </a:r>
            <a:r>
              <a:rPr lang="ja-JP" altLang="en-US" sz="2800" b="1">
                <a:solidFill>
                  <a:srgbClr val="262626"/>
                </a:solidFill>
                <a:latin typeface="Meiryo"/>
                <a:ea typeface="Meiryo"/>
                <a:cs typeface="Meiryo"/>
              </a:rPr>
              <a:t>で </a:t>
            </a:r>
            <a:endParaRPr lang="en-US" altLang="ja-JP" sz="2800" b="1" dirty="0">
              <a:solidFill>
                <a:srgbClr val="262626"/>
              </a:solidFill>
              <a:latin typeface="Meiryo"/>
              <a:ea typeface="Meiryo"/>
              <a:cs typeface="Meiryo"/>
            </a:endParaRPr>
          </a:p>
          <a:p>
            <a:pPr algn="ctr"/>
            <a:r>
              <a:rPr lang="ja-JP" altLang="en-US" sz="2800" b="1">
                <a:solidFill>
                  <a:srgbClr val="262626"/>
                </a:solidFill>
                <a:latin typeface="Meiryo"/>
                <a:ea typeface="Meiryo"/>
                <a:cs typeface="Meiryo"/>
              </a:rPr>
              <a:t>指尖</a:t>
            </a:r>
            <a:r>
              <a:rPr lang="ja-JP" altLang="en-US" sz="2800" b="1" dirty="0">
                <a:solidFill>
                  <a:srgbClr val="262626"/>
                </a:solidFill>
                <a:latin typeface="Meiryo"/>
                <a:ea typeface="Meiryo"/>
                <a:cs typeface="Meiryo"/>
              </a:rPr>
              <a:t>PPG の 高さ</a:t>
            </a:r>
            <a:r>
              <a:rPr lang="ja-JP" altLang="en-US" sz="2800" b="1">
                <a:solidFill>
                  <a:srgbClr val="262626"/>
                </a:solidFill>
                <a:latin typeface="Meiryo"/>
                <a:ea typeface="Meiryo"/>
                <a:cs typeface="Meiryo"/>
              </a:rPr>
              <a:t>・面積・傾き が低下</a:t>
            </a:r>
            <a:endParaRPr lang="ja-JP" altLang="en-US" sz="2800" b="1" dirty="0">
              <a:solidFill>
                <a:srgbClr val="262626"/>
              </a:solidFill>
              <a:latin typeface="Meiryo"/>
              <a:ea typeface="Meiryo"/>
              <a:cs typeface="Meiryo"/>
            </a:endParaRPr>
          </a:p>
        </p:txBody>
      </p:sp>
      <p:pic>
        <p:nvPicPr>
          <p:cNvPr id="3" name="Picture 8" descr="09b_preload_overlay.png">
            <a:extLst>
              <a:ext uri="{FF2B5EF4-FFF2-40B4-BE49-F238E27FC236}">
                <a16:creationId xmlns:a16="http://schemas.microsoft.com/office/drawing/2014/main" id="{6C15E6A5-DECA-096B-2CF1-859E10892C69}"/>
              </a:ext>
            </a:extLst>
          </p:cNvPr>
          <p:cNvPicPr>
            <a:picLocks noChangeAspect="1"/>
          </p:cNvPicPr>
          <p:nvPr/>
        </p:nvPicPr>
        <p:blipFill>
          <a:blip r:embed="rId5"/>
          <a:srcRect l="56359" r="31022" b="72445"/>
          <a:stretch>
            <a:fillRect/>
          </a:stretch>
        </p:blipFill>
        <p:spPr>
          <a:xfrm>
            <a:off x="8149646" y="1830884"/>
            <a:ext cx="1622583" cy="1635264"/>
          </a:xfrm>
          <a:prstGeom prst="rect">
            <a:avLst/>
          </a:prstGeom>
        </p:spPr>
      </p:pic>
      <p:pic>
        <p:nvPicPr>
          <p:cNvPr id="4" name="図 3">
            <a:extLst>
              <a:ext uri="{FF2B5EF4-FFF2-40B4-BE49-F238E27FC236}">
                <a16:creationId xmlns:a16="http://schemas.microsoft.com/office/drawing/2014/main" id="{0DAC49AA-7DA8-AD62-D439-7CE012F302ED}"/>
              </a:ext>
            </a:extLst>
          </p:cNvPr>
          <p:cNvPicPr>
            <a:picLocks noChangeAspect="1"/>
          </p:cNvPicPr>
          <p:nvPr/>
        </p:nvPicPr>
        <p:blipFill>
          <a:blip r:embed="rId6"/>
          <a:stretch>
            <a:fillRect/>
          </a:stretch>
        </p:blipFill>
        <p:spPr>
          <a:xfrm>
            <a:off x="579019" y="1916039"/>
            <a:ext cx="3940602" cy="3012788"/>
          </a:xfrm>
          <a:prstGeom prst="rect">
            <a:avLst/>
          </a:prstGeom>
        </p:spPr>
      </p:pic>
    </p:spTree>
    <p:extLst>
      <p:ext uri="{BB962C8B-B14F-4D97-AF65-F5344CB8AC3E}">
        <p14:creationId xmlns:p14="http://schemas.microsoft.com/office/powerpoint/2010/main" val="38549215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a:latin typeface="Meiryo"/>
                <a:ea typeface="Meiryo"/>
                <a:cs typeface="Meiryo"/>
              </a:rPr>
              <a:t>3.1  前負荷</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7666EE0C-4220-AB7C-1021-C0F4788D0D8A}"/>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B733B69B-24FB-022E-00E4-3C557EC157E1}"/>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BB430936-BF81-CADE-E9A4-F650B73DB6A9}"/>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a:extLst>
              <a:ext uri="{FF2B5EF4-FFF2-40B4-BE49-F238E27FC236}">
                <a16:creationId xmlns:a16="http://schemas.microsoft.com/office/drawing/2014/main" id="{34433F5A-EB95-5445-9E58-B41A531867D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66B151D6-0B8E-7C8B-7284-D5E615151D8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AB8C086-C182-C46B-478C-16D81A95A8F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E0FE34E6-4AB2-3F68-108C-4E3DBE5DB32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EBF40F73-B4FB-B3BE-BFF9-6768D6ABEF0C}"/>
              </a:ext>
            </a:extLst>
          </p:cNvPr>
          <p:cNvSpPr txBox="1"/>
          <p:nvPr/>
        </p:nvSpPr>
        <p:spPr>
          <a:xfrm>
            <a:off x="720000" y="6606000"/>
            <a:ext cx="10440000" cy="161583"/>
          </a:xfrm>
          <a:prstGeom prst="rect">
            <a:avLst/>
          </a:prstGeom>
          <a:noFill/>
        </p:spPr>
        <p:txBody>
          <a:bodyPr wrap="square" lIns="0" tIns="0" rIns="0" bIns="0" anchor="t">
            <a:spAutoFit/>
          </a:bodyPr>
          <a:lstStyle/>
          <a:p>
            <a:pPr algn="l"/>
            <a:r>
              <a:rPr sz="1050" u="none" dirty="0">
                <a:solidFill>
                  <a:srgbClr val="808080"/>
                </a:solidFill>
                <a:latin typeface="Meiryo"/>
                <a:ea typeface="Meiryo"/>
                <a:cs typeface="Meiryo"/>
                <a:hlinkClick r:id="rId3"/>
              </a:rPr>
              <a:t>8. Alian 2011</a:t>
            </a:r>
            <a:r>
              <a:rPr sz="1050" dirty="0">
                <a:solidFill>
                  <a:srgbClr val="808080"/>
                </a:solidFill>
                <a:latin typeface="Meiryo"/>
                <a:ea typeface="Meiryo"/>
                <a:cs typeface="Meiryo"/>
              </a:rPr>
              <a:t>  </a:t>
            </a:r>
            <a:r>
              <a:rPr lang="ja-JP" altLang="en-US" sz="1050">
                <a:solidFill>
                  <a:srgbClr val="808080"/>
                </a:solidFill>
                <a:latin typeface="Meiryo"/>
                <a:ea typeface="Meiryo"/>
                <a:cs typeface="Meiryo"/>
              </a:rPr>
              <a:t>／  </a:t>
            </a:r>
            <a:r>
              <a:rPr lang="en-US" altLang="ja-JP" sz="1050" u="none" dirty="0">
                <a:solidFill>
                  <a:srgbClr val="808080"/>
                </a:solidFill>
                <a:latin typeface="Meiryo"/>
                <a:ea typeface="Meiryo"/>
                <a:cs typeface="Meiryo"/>
                <a:hlinkClick r:id="rId4"/>
              </a:rPr>
              <a:t>9.</a:t>
            </a:r>
            <a:r>
              <a:rPr lang="ja-JP" altLang="en-US" sz="1050" u="none">
                <a:solidFill>
                  <a:srgbClr val="808080"/>
                </a:solidFill>
                <a:latin typeface="Meiryo"/>
                <a:ea typeface="Meiryo"/>
                <a:cs typeface="Meiryo"/>
                <a:hlinkClick r:id="rId4"/>
              </a:rPr>
              <a:t> </a:t>
            </a:r>
            <a:r>
              <a:rPr lang="en" sz="1050" u="none" dirty="0">
                <a:solidFill>
                  <a:srgbClr val="808080"/>
                </a:solidFill>
                <a:latin typeface="Meiryo"/>
                <a:ea typeface="Meiryo"/>
                <a:cs typeface="Meiryo"/>
                <a:hlinkClick r:id="rId4"/>
              </a:rPr>
              <a:t>Cannesson</a:t>
            </a:r>
            <a:r>
              <a:rPr lang="ja-JP" altLang="en-US" sz="1050" u="none">
                <a:solidFill>
                  <a:srgbClr val="808080"/>
                </a:solidFill>
                <a:latin typeface="Meiryo"/>
                <a:ea typeface="Meiryo"/>
                <a:cs typeface="Meiryo"/>
                <a:hlinkClick r:id="rId4"/>
              </a:rPr>
              <a:t> </a:t>
            </a:r>
            <a:r>
              <a:rPr lang="en-US" altLang="ja-JP" sz="1050" u="none" dirty="0">
                <a:solidFill>
                  <a:srgbClr val="808080"/>
                </a:solidFill>
                <a:latin typeface="Meiryo"/>
                <a:ea typeface="Meiryo"/>
                <a:cs typeface="Meiryo"/>
                <a:hlinkClick r:id="rId4"/>
              </a:rPr>
              <a:t>2005</a:t>
            </a:r>
            <a:endParaRPr sz="1050" u="none" dirty="0">
              <a:solidFill>
                <a:srgbClr val="808080"/>
              </a:solidFill>
              <a:latin typeface="Meiryo"/>
              <a:ea typeface="Meiryo"/>
              <a:cs typeface="Meiryo"/>
              <a:hlinkClick r:id="rId4"/>
            </a:endParaRPr>
          </a:p>
        </p:txBody>
      </p:sp>
      <p:sp>
        <p:nvSpPr>
          <p:cNvPr id="10" name="TextBox 9">
            <a:extLst>
              <a:ext uri="{FF2B5EF4-FFF2-40B4-BE49-F238E27FC236}">
                <a16:creationId xmlns:a16="http://schemas.microsoft.com/office/drawing/2014/main" id="{3053DFB5-DE00-7753-0114-5669A0D134CB}"/>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16/36</a:t>
            </a:r>
          </a:p>
        </p:txBody>
      </p:sp>
      <p:pic>
        <p:nvPicPr>
          <p:cNvPr id="4" name="図 3">
            <a:extLst>
              <a:ext uri="{FF2B5EF4-FFF2-40B4-BE49-F238E27FC236}">
                <a16:creationId xmlns:a16="http://schemas.microsoft.com/office/drawing/2014/main" id="{72E13D3D-19FC-C4E3-E7A2-ECA86DC42170}"/>
              </a:ext>
            </a:extLst>
          </p:cNvPr>
          <p:cNvPicPr>
            <a:picLocks noChangeAspect="1"/>
          </p:cNvPicPr>
          <p:nvPr/>
        </p:nvPicPr>
        <p:blipFill>
          <a:blip r:embed="rId5"/>
          <a:stretch>
            <a:fillRect/>
          </a:stretch>
        </p:blipFill>
        <p:spPr>
          <a:xfrm>
            <a:off x="313380" y="1662997"/>
            <a:ext cx="3940602" cy="3012788"/>
          </a:xfrm>
          <a:prstGeom prst="rect">
            <a:avLst/>
          </a:prstGeom>
        </p:spPr>
      </p:pic>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6"/>
          <a:srcRect l="1551" b="2497"/>
          <a:stretch>
            <a:fillRect/>
          </a:stretch>
        </p:blipFill>
        <p:spPr>
          <a:xfrm>
            <a:off x="4620034" y="1690688"/>
            <a:ext cx="7258586" cy="4697309"/>
          </a:xfrm>
          <a:prstGeom prst="rect">
            <a:avLst/>
          </a:prstGeom>
        </p:spPr>
      </p:pic>
      <p:sp>
        <p:nvSpPr>
          <p:cNvPr id="6" name="テキスト ボックス 5">
            <a:extLst>
              <a:ext uri="{FF2B5EF4-FFF2-40B4-BE49-F238E27FC236}">
                <a16:creationId xmlns:a16="http://schemas.microsoft.com/office/drawing/2014/main" id="{B4C872BE-5E74-32A7-9127-6D1E20316575}"/>
              </a:ext>
            </a:extLst>
          </p:cNvPr>
          <p:cNvSpPr txBox="1"/>
          <p:nvPr/>
        </p:nvSpPr>
        <p:spPr>
          <a:xfrm>
            <a:off x="359198" y="5049672"/>
            <a:ext cx="3894784" cy="769441"/>
          </a:xfrm>
          <a:prstGeom prst="rect">
            <a:avLst/>
          </a:prstGeom>
          <a:noFill/>
        </p:spPr>
        <p:txBody>
          <a:bodyPr wrap="none" rtlCol="0">
            <a:spAutoFit/>
          </a:bodyPr>
          <a:lstStyle/>
          <a:p>
            <a:r>
              <a:rPr lang="en-US" altLang="ja-JP" sz="2200" dirty="0"/>
              <a:t>Lower body negative pressure</a:t>
            </a:r>
            <a:r>
              <a:rPr lang="ja-JP" altLang="en-US" sz="2200"/>
              <a:t>で</a:t>
            </a:r>
            <a:endParaRPr lang="en-US" altLang="ja-JP" sz="2200" dirty="0"/>
          </a:p>
          <a:p>
            <a:r>
              <a:rPr lang="ja-JP" altLang="en-US" sz="2200"/>
              <a:t>循環血液量減少を再現</a:t>
            </a:r>
          </a:p>
        </p:txBody>
      </p:sp>
    </p:spTree>
    <p:extLst>
      <p:ext uri="{BB962C8B-B14F-4D97-AF65-F5344CB8AC3E}">
        <p14:creationId xmlns:p14="http://schemas.microsoft.com/office/powerpoint/2010/main" val="2724995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81470-4321-278B-7AAA-B74536C16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19C24-9BD3-76AF-5CAE-375A1FE92022}"/>
              </a:ext>
            </a:extLst>
          </p:cNvPr>
          <p:cNvSpPr>
            <a:spLocks noGrp="1"/>
          </p:cNvSpPr>
          <p:nvPr>
            <p:ph type="title"/>
          </p:nvPr>
        </p:nvSpPr>
        <p:spPr/>
        <p:txBody>
          <a:bodyPr>
            <a:normAutofit/>
          </a:bodyPr>
          <a:lstStyle/>
          <a:p>
            <a:pPr algn="l"/>
            <a:r>
              <a:rPr sz="4600">
                <a:latin typeface="Meiryo"/>
                <a:ea typeface="Meiryo"/>
                <a:cs typeface="Meiryo"/>
              </a:rPr>
              <a:t>3.1  前負荷</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9D3E4672-15E2-8004-3B28-BA40A86B6473}"/>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B667D812-F543-5C98-B1FB-50E564D7055B}"/>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96B488EE-E764-3F6E-8D6C-151A2EFB897C}"/>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a:extLst>
              <a:ext uri="{FF2B5EF4-FFF2-40B4-BE49-F238E27FC236}">
                <a16:creationId xmlns:a16="http://schemas.microsoft.com/office/drawing/2014/main" id="{211F7B98-2D7E-918E-8ED2-33C8215B50C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4C3E689D-6302-ECFB-B6F8-65F02E63ACE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7AC318E-75BC-9538-3A33-C4A354FD373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6C7722F8-1944-3BB9-E1C8-E5EE3E2985E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C5B71A01-BEE5-8050-FE3B-67930A5016D7}"/>
              </a:ext>
            </a:extLst>
          </p:cNvPr>
          <p:cNvSpPr txBox="1"/>
          <p:nvPr/>
        </p:nvSpPr>
        <p:spPr>
          <a:xfrm>
            <a:off x="720000" y="6606000"/>
            <a:ext cx="10440000" cy="161583"/>
          </a:xfrm>
          <a:prstGeom prst="rect">
            <a:avLst/>
          </a:prstGeom>
          <a:noFill/>
        </p:spPr>
        <p:txBody>
          <a:bodyPr wrap="square" lIns="0" tIns="0" rIns="0" bIns="0" anchor="t">
            <a:spAutoFit/>
          </a:bodyPr>
          <a:lstStyle/>
          <a:p>
            <a:pPr algn="l"/>
            <a:r>
              <a:rPr sz="1050" u="none" dirty="0">
                <a:solidFill>
                  <a:srgbClr val="808080"/>
                </a:solidFill>
                <a:latin typeface="Meiryo"/>
                <a:ea typeface="Meiryo"/>
                <a:cs typeface="Meiryo"/>
                <a:hlinkClick r:id="rId3"/>
              </a:rPr>
              <a:t>8. Alian 2011</a:t>
            </a:r>
            <a:r>
              <a:rPr sz="1050" dirty="0">
                <a:solidFill>
                  <a:srgbClr val="808080"/>
                </a:solidFill>
                <a:latin typeface="Meiryo"/>
                <a:ea typeface="Meiryo"/>
                <a:cs typeface="Meiryo"/>
              </a:rPr>
              <a:t>  </a:t>
            </a:r>
            <a:r>
              <a:rPr lang="ja-JP" altLang="en-US" sz="1050">
                <a:solidFill>
                  <a:srgbClr val="808080"/>
                </a:solidFill>
                <a:latin typeface="Meiryo"/>
                <a:ea typeface="Meiryo"/>
                <a:cs typeface="Meiryo"/>
              </a:rPr>
              <a:t>／  </a:t>
            </a:r>
            <a:r>
              <a:rPr lang="en-US" altLang="ja-JP" sz="1050" u="none" dirty="0">
                <a:solidFill>
                  <a:srgbClr val="808080"/>
                </a:solidFill>
                <a:latin typeface="Meiryo"/>
                <a:ea typeface="Meiryo"/>
                <a:cs typeface="Meiryo"/>
                <a:hlinkClick r:id="rId4"/>
              </a:rPr>
              <a:t>9.</a:t>
            </a:r>
            <a:r>
              <a:rPr lang="ja-JP" altLang="en-US" sz="1050" u="none">
                <a:solidFill>
                  <a:srgbClr val="808080"/>
                </a:solidFill>
                <a:latin typeface="Meiryo"/>
                <a:ea typeface="Meiryo"/>
                <a:cs typeface="Meiryo"/>
                <a:hlinkClick r:id="rId4"/>
              </a:rPr>
              <a:t> </a:t>
            </a:r>
            <a:r>
              <a:rPr lang="en" sz="1050" u="none" dirty="0">
                <a:solidFill>
                  <a:srgbClr val="808080"/>
                </a:solidFill>
                <a:latin typeface="Meiryo"/>
                <a:ea typeface="Meiryo"/>
                <a:cs typeface="Meiryo"/>
                <a:hlinkClick r:id="rId4"/>
              </a:rPr>
              <a:t>Cannesson</a:t>
            </a:r>
            <a:r>
              <a:rPr lang="ja-JP" altLang="en-US" sz="1050" u="none">
                <a:solidFill>
                  <a:srgbClr val="808080"/>
                </a:solidFill>
                <a:latin typeface="Meiryo"/>
                <a:ea typeface="Meiryo"/>
                <a:cs typeface="Meiryo"/>
                <a:hlinkClick r:id="rId4"/>
              </a:rPr>
              <a:t> </a:t>
            </a:r>
            <a:r>
              <a:rPr lang="en-US" altLang="ja-JP" sz="1050" u="none" dirty="0">
                <a:solidFill>
                  <a:srgbClr val="808080"/>
                </a:solidFill>
                <a:latin typeface="Meiryo"/>
                <a:ea typeface="Meiryo"/>
                <a:cs typeface="Meiryo"/>
                <a:hlinkClick r:id="rId4"/>
              </a:rPr>
              <a:t>2005</a:t>
            </a:r>
            <a:endParaRPr sz="1050" u="none" dirty="0">
              <a:solidFill>
                <a:srgbClr val="808080"/>
              </a:solidFill>
              <a:latin typeface="Meiryo"/>
              <a:ea typeface="Meiryo"/>
              <a:cs typeface="Meiryo"/>
              <a:hlinkClick r:id="rId4"/>
            </a:endParaRPr>
          </a:p>
        </p:txBody>
      </p:sp>
      <p:pic>
        <p:nvPicPr>
          <p:cNvPr id="9" name="Picture 8" descr="09b_preload_overlay.png">
            <a:extLst>
              <a:ext uri="{FF2B5EF4-FFF2-40B4-BE49-F238E27FC236}">
                <a16:creationId xmlns:a16="http://schemas.microsoft.com/office/drawing/2014/main" id="{32ECC7C9-8D2F-58A1-B2AE-812DA658CE77}"/>
              </a:ext>
            </a:extLst>
          </p:cNvPr>
          <p:cNvPicPr>
            <a:picLocks noChangeAspect="1"/>
          </p:cNvPicPr>
          <p:nvPr/>
        </p:nvPicPr>
        <p:blipFill>
          <a:blip r:embed="rId5"/>
          <a:srcRect t="22374" r="28310"/>
          <a:stretch>
            <a:fillRect/>
          </a:stretch>
        </p:blipFill>
        <p:spPr>
          <a:xfrm>
            <a:off x="1747466" y="1470747"/>
            <a:ext cx="9074862" cy="4535218"/>
          </a:xfrm>
          <a:prstGeom prst="rect">
            <a:avLst/>
          </a:prstGeom>
        </p:spPr>
      </p:pic>
      <p:sp>
        <p:nvSpPr>
          <p:cNvPr id="10" name="TextBox 9">
            <a:extLst>
              <a:ext uri="{FF2B5EF4-FFF2-40B4-BE49-F238E27FC236}">
                <a16:creationId xmlns:a16="http://schemas.microsoft.com/office/drawing/2014/main" id="{46737B52-BF03-27AB-E390-05E6B0D2018A}"/>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16/36</a:t>
            </a:r>
          </a:p>
        </p:txBody>
      </p:sp>
      <p:sp>
        <p:nvSpPr>
          <p:cNvPr id="340" name="lg1">
            <a:extLst>
              <a:ext uri="{FF2B5EF4-FFF2-40B4-BE49-F238E27FC236}">
                <a16:creationId xmlns:a16="http://schemas.microsoft.com/office/drawing/2014/main" id="{165C94C7-6362-D783-FF28-A7C9D195B3A1}"/>
              </a:ext>
            </a:extLst>
          </p:cNvPr>
          <p:cNvSpPr txBox="1"/>
          <p:nvPr/>
        </p:nvSpPr>
        <p:spPr>
          <a:xfrm>
            <a:off x="8591167" y="2254315"/>
            <a:ext cx="2979632" cy="300828"/>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341" name="lg2">
            <a:extLst>
              <a:ext uri="{FF2B5EF4-FFF2-40B4-BE49-F238E27FC236}">
                <a16:creationId xmlns:a16="http://schemas.microsoft.com/office/drawing/2014/main" id="{8B6F6792-9DC1-CDAB-E64F-A7DD9E07DDB9}"/>
              </a:ext>
            </a:extLst>
          </p:cNvPr>
          <p:cNvSpPr txBox="1"/>
          <p:nvPr/>
        </p:nvSpPr>
        <p:spPr>
          <a:xfrm>
            <a:off x="8579417" y="2708540"/>
            <a:ext cx="4346514" cy="873745"/>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（脱血・LBNP）</a:t>
            </a:r>
            <a:endParaRPr lang="ja-JP" altLang="en-US" sz="2200" b="1" dirty="0">
              <a:solidFill>
                <a:srgbClr val="E8853B"/>
              </a:solidFill>
              <a:latin typeface="Meiryo"/>
              <a:ea typeface="Meiryo"/>
              <a:cs typeface="Meiryo"/>
            </a:endParaRPr>
          </a:p>
        </p:txBody>
      </p:sp>
      <p:sp>
        <p:nvSpPr>
          <p:cNvPr id="343" name="cap">
            <a:extLst>
              <a:ext uri="{FF2B5EF4-FFF2-40B4-BE49-F238E27FC236}">
                <a16:creationId xmlns:a16="http://schemas.microsoft.com/office/drawing/2014/main" id="{695744E5-B5B0-FAAE-1CDE-3A0029E66635}"/>
              </a:ext>
            </a:extLst>
          </p:cNvPr>
          <p:cNvSpPr txBox="1"/>
          <p:nvPr/>
        </p:nvSpPr>
        <p:spPr>
          <a:xfrm>
            <a:off x="1440324" y="5427046"/>
            <a:ext cx="9311351" cy="873745"/>
          </a:xfrm>
          <a:prstGeom prst="rect">
            <a:avLst/>
          </a:prstGeom>
          <a:noFill/>
        </p:spPr>
        <p:txBody>
          <a:bodyPr wrap="square" lIns="0" tIns="0" rIns="0" bIns="0" anchor="t">
            <a:noAutofit/>
          </a:bodyPr>
          <a:lstStyle/>
          <a:p>
            <a:pPr algn="ctr"/>
            <a:r>
              <a:rPr lang="ja-JP" altLang="en-US" sz="2800" b="1" dirty="0">
                <a:solidFill>
                  <a:srgbClr val="262626"/>
                </a:solidFill>
                <a:latin typeface="Meiryo"/>
                <a:ea typeface="Meiryo"/>
                <a:cs typeface="Meiryo"/>
              </a:rPr>
              <a:t>progressive hypovolemia </a:t>
            </a:r>
            <a:r>
              <a:rPr lang="ja-JP" altLang="en-US" sz="2800" b="1">
                <a:solidFill>
                  <a:srgbClr val="262626"/>
                </a:solidFill>
                <a:latin typeface="Meiryo"/>
                <a:ea typeface="Meiryo"/>
                <a:cs typeface="Meiryo"/>
              </a:rPr>
              <a:t>で </a:t>
            </a:r>
            <a:endParaRPr lang="en-US" altLang="ja-JP" sz="2800" b="1" dirty="0">
              <a:solidFill>
                <a:srgbClr val="262626"/>
              </a:solidFill>
              <a:latin typeface="Meiryo"/>
              <a:ea typeface="Meiryo"/>
              <a:cs typeface="Meiryo"/>
            </a:endParaRPr>
          </a:p>
          <a:p>
            <a:pPr algn="ctr"/>
            <a:r>
              <a:rPr lang="ja-JP" altLang="en-US" sz="2800" b="1">
                <a:solidFill>
                  <a:srgbClr val="262626"/>
                </a:solidFill>
                <a:latin typeface="Meiryo"/>
                <a:ea typeface="Meiryo"/>
                <a:cs typeface="Meiryo"/>
              </a:rPr>
              <a:t>指尖</a:t>
            </a:r>
            <a:r>
              <a:rPr lang="ja-JP" altLang="en-US" sz="2800" b="1" dirty="0">
                <a:solidFill>
                  <a:srgbClr val="262626"/>
                </a:solidFill>
                <a:latin typeface="Meiryo"/>
                <a:ea typeface="Meiryo"/>
                <a:cs typeface="Meiryo"/>
              </a:rPr>
              <a:t>PPG の 高さ</a:t>
            </a:r>
            <a:r>
              <a:rPr lang="ja-JP" altLang="en-US" sz="2800" b="1">
                <a:solidFill>
                  <a:srgbClr val="262626"/>
                </a:solidFill>
                <a:latin typeface="Meiryo"/>
                <a:ea typeface="Meiryo"/>
                <a:cs typeface="Meiryo"/>
              </a:rPr>
              <a:t>・面積・傾き が低下</a:t>
            </a:r>
            <a:endParaRPr lang="ja-JP" altLang="en-US" sz="2800" b="1" dirty="0">
              <a:solidFill>
                <a:srgbClr val="262626"/>
              </a:solidFill>
              <a:latin typeface="Meiryo"/>
              <a:ea typeface="Meiryo"/>
              <a:cs typeface="Meiryo"/>
            </a:endParaRPr>
          </a:p>
        </p:txBody>
      </p:sp>
      <p:pic>
        <p:nvPicPr>
          <p:cNvPr id="3" name="Picture 8" descr="09b_preload_overlay.png">
            <a:extLst>
              <a:ext uri="{FF2B5EF4-FFF2-40B4-BE49-F238E27FC236}">
                <a16:creationId xmlns:a16="http://schemas.microsoft.com/office/drawing/2014/main" id="{8F8A4897-9F31-BAD5-06D1-57F7B373B5D0}"/>
              </a:ext>
            </a:extLst>
          </p:cNvPr>
          <p:cNvPicPr>
            <a:picLocks noChangeAspect="1"/>
          </p:cNvPicPr>
          <p:nvPr/>
        </p:nvPicPr>
        <p:blipFill>
          <a:blip r:embed="rId5"/>
          <a:srcRect l="56359" r="31022" b="72445"/>
          <a:stretch>
            <a:fillRect/>
          </a:stretch>
        </p:blipFill>
        <p:spPr>
          <a:xfrm>
            <a:off x="6853113" y="1940068"/>
            <a:ext cx="1622583" cy="1635264"/>
          </a:xfrm>
          <a:prstGeom prst="rect">
            <a:avLst/>
          </a:prstGeom>
        </p:spPr>
      </p:pic>
    </p:spTree>
    <p:extLst>
      <p:ext uri="{BB962C8B-B14F-4D97-AF65-F5344CB8AC3E}">
        <p14:creationId xmlns:p14="http://schemas.microsoft.com/office/powerpoint/2010/main" val="2087716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9EEC94-795F-569D-1213-ADE300114854}"/>
              </a:ext>
            </a:extLst>
          </p:cNvPr>
          <p:cNvSpPr>
            <a:spLocks noGrp="1"/>
          </p:cNvSpPr>
          <p:nvPr>
            <p:ph type="title"/>
          </p:nvPr>
        </p:nvSpPr>
        <p:spPr/>
        <p:txBody>
          <a:bodyPr/>
          <a:lstStyle/>
          <a:p>
            <a:pPr algn="l"/>
            <a:r>
              <a:rPr sz="4600">
                <a:latin typeface="Meiryo"/>
                <a:ea typeface="Meiryo"/>
                <a:cs typeface="Meiryo"/>
              </a:rPr>
              <a:t>3.1  前負荷</a:t>
            </a:r>
            <a:endParaRPr kumimoji="1" lang="ja-JP" altLang="en-US"/>
          </a:p>
        </p:txBody>
      </p:sp>
      <p:sp>
        <p:nvSpPr>
          <p:cNvPr id="3" name="コンテンツ プレースホルダー 2">
            <a:extLst>
              <a:ext uri="{FF2B5EF4-FFF2-40B4-BE49-F238E27FC236}">
                <a16:creationId xmlns:a16="http://schemas.microsoft.com/office/drawing/2014/main" id="{8E790031-4201-422F-FA66-3A18BCB24C49}"/>
              </a:ext>
            </a:extLst>
          </p:cNvPr>
          <p:cNvSpPr>
            <a:spLocks noGrp="1"/>
          </p:cNvSpPr>
          <p:nvPr>
            <p:ph idx="1"/>
          </p:nvPr>
        </p:nvSpPr>
        <p:spPr/>
        <p:txBody>
          <a:bodyPr/>
          <a:lstStyle/>
          <a:p>
            <a:endParaRPr kumimoji="1" lang="ja-JP" altLang="en-US"/>
          </a:p>
        </p:txBody>
      </p:sp>
      <p:pic>
        <p:nvPicPr>
          <p:cNvPr id="6" name="図 5">
            <a:extLst>
              <a:ext uri="{FF2B5EF4-FFF2-40B4-BE49-F238E27FC236}">
                <a16:creationId xmlns:a16="http://schemas.microsoft.com/office/drawing/2014/main" id="{F3AD3B9E-6DB7-BB4E-2EBF-052C5AB5C265}"/>
              </a:ext>
            </a:extLst>
          </p:cNvPr>
          <p:cNvPicPr>
            <a:picLocks noChangeAspect="1"/>
          </p:cNvPicPr>
          <p:nvPr/>
        </p:nvPicPr>
        <p:blipFill>
          <a:blip r:embed="rId2"/>
          <a:stretch>
            <a:fillRect/>
          </a:stretch>
        </p:blipFill>
        <p:spPr>
          <a:xfrm>
            <a:off x="2209800" y="1635389"/>
            <a:ext cx="7772400" cy="5078611"/>
          </a:xfrm>
          <a:prstGeom prst="rect">
            <a:avLst/>
          </a:prstGeom>
        </p:spPr>
      </p:pic>
      <p:sp>
        <p:nvSpPr>
          <p:cNvPr id="1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18" name="TextBox 17"/>
          <p:cNvSpPr txBox="1"/>
          <p:nvPr/>
        </p:nvSpPr>
        <p:spPr>
          <a:xfrm>
            <a:off x="11052000" y="6606000"/>
            <a:ext cx="1007999" cy="216000"/>
          </a:xfrm>
          <a:prstGeom prst="rect">
            <a:avLst/>
          </a:prstGeom>
          <a:noFill/>
        </p:spPr>
        <p:txBody>
          <a:bodyPr wrap="none">
            <a:spAutoFit/>
          </a:bodyPr>
          <a:lstStyle/>
          <a:p>
            <a:pPr algn="r"/>
            <a:r>
              <a:rPr sz="1200" b="0">
                <a:solidFill>
                  <a:srgbClr val="808080"/>
                </a:solidFill>
                <a:latin typeface="Meiryo"/>
                <a:ea typeface="Meiryo"/>
                <a:cs typeface="Meiryo"/>
              </a:rPr>
              <a:t>17/36</a:t>
            </a:r>
          </a:p>
        </p:txBody>
      </p:sp>
    </p:spTree>
    <p:extLst>
      <p:ext uri="{BB962C8B-B14F-4D97-AF65-F5344CB8AC3E}">
        <p14:creationId xmlns:p14="http://schemas.microsoft.com/office/powerpoint/2010/main" val="2984409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3C6F5-5939-6368-4D7E-5D643FF9A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E9A6E-DEB2-CFBA-AF23-41849BB70EE6}"/>
              </a:ext>
            </a:extLst>
          </p:cNvPr>
          <p:cNvSpPr>
            <a:spLocks noGrp="1"/>
          </p:cNvSpPr>
          <p:nvPr>
            <p:ph type="title"/>
          </p:nvPr>
        </p:nvSpPr>
        <p:spPr/>
        <p:txBody>
          <a:bodyPr>
            <a:normAutofit/>
          </a:bodyPr>
          <a:lstStyle/>
          <a:p>
            <a:pPr algn="l"/>
            <a:r>
              <a:rPr sz="4600">
                <a:latin typeface="Meiryo"/>
                <a:ea typeface="Meiryo"/>
                <a:cs typeface="Meiryo"/>
              </a:rPr>
              <a:t>3.2  後負荷：末梢</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AC89AA51-738C-614F-4BFF-60199E6CFE00}"/>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7E92DAD2-62D4-BCDA-5A63-7B077615BE03}"/>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02237589-CF90-F9B2-4BB6-45A297EC29B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a:extLst>
              <a:ext uri="{FF2B5EF4-FFF2-40B4-BE49-F238E27FC236}">
                <a16:creationId xmlns:a16="http://schemas.microsoft.com/office/drawing/2014/main" id="{F5121C98-1EDC-A3A0-81FD-B112075ACC4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DAC3E2DB-BF4B-F584-FDDE-F2E8EF60D5A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8D4336-C565-4AE9-50F2-6519229ED64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9EE76AC7-627C-5C9D-66E5-9664184C665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14677214-F09D-6612-244E-AB7B706D7EFF}"/>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15. Chowienczyk 1999  ／  16. Takazawa 1998  ／  27. Millasseau 2003</a:t>
            </a:r>
          </a:p>
        </p:txBody>
      </p:sp>
      <p:pic>
        <p:nvPicPr>
          <p:cNvPr id="9" name="Picture 8" descr="10_svr.png">
            <a:extLst>
              <a:ext uri="{FF2B5EF4-FFF2-40B4-BE49-F238E27FC236}">
                <a16:creationId xmlns:a16="http://schemas.microsoft.com/office/drawing/2014/main" id="{A8FF65BB-7494-F4F1-337A-15C2A49B22AA}"/>
              </a:ext>
            </a:extLst>
          </p:cNvPr>
          <p:cNvPicPr>
            <a:picLocks noChangeAspect="1"/>
          </p:cNvPicPr>
          <p:nvPr/>
        </p:nvPicPr>
        <p:blipFill>
          <a:blip r:embed="rId4"/>
          <a:stretch>
            <a:fillRect/>
          </a:stretch>
        </p:blipFill>
        <p:spPr>
          <a:xfrm>
            <a:off x="2237763" y="1491524"/>
            <a:ext cx="7692474" cy="4320000"/>
          </a:xfrm>
          <a:prstGeom prst="rect">
            <a:avLst/>
          </a:prstGeom>
        </p:spPr>
      </p:pic>
      <p:sp>
        <p:nvSpPr>
          <p:cNvPr id="10" name="TextBox 9">
            <a:extLst>
              <a:ext uri="{FF2B5EF4-FFF2-40B4-BE49-F238E27FC236}">
                <a16:creationId xmlns:a16="http://schemas.microsoft.com/office/drawing/2014/main" id="{00E3DFF7-705A-76BF-F6F8-71C2DE721D8A}"/>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18/36</a:t>
            </a:r>
          </a:p>
        </p:txBody>
      </p:sp>
      <p:sp>
        <p:nvSpPr>
          <p:cNvPr id="360" name="sub">
            <a:extLst>
              <a:ext uri="{FF2B5EF4-FFF2-40B4-BE49-F238E27FC236}">
                <a16:creationId xmlns:a16="http://schemas.microsoft.com/office/drawing/2014/main" id="{8EE660B2-E504-8791-81AB-EA955CAB545D}"/>
              </a:ext>
            </a:extLst>
          </p:cNvPr>
          <p:cNvSpPr txBox="1"/>
          <p:nvPr/>
        </p:nvSpPr>
        <p:spPr>
          <a:xfrm>
            <a:off x="2237763" y="5943000"/>
            <a:ext cx="7692474" cy="360000"/>
          </a:xfrm>
          <a:prstGeom prst="rect">
            <a:avLst/>
          </a:prstGeom>
          <a:noFill/>
        </p:spPr>
        <p:txBody>
          <a:bodyPr wrap="square" lIns="0" tIns="0" rIns="0" bIns="0" anchor="ctr">
            <a:normAutofit fontScale="92500"/>
          </a:bodyPr>
          <a:lstStyle/>
          <a:p>
            <a:pPr algn="ctr" latinLnBrk="0"/>
            <a:r>
              <a:rPr lang="ja-JP" altLang="en-US" sz="2400" b="1" dirty="0">
                <a:solidFill>
                  <a:srgbClr val="1A1A1A"/>
                </a:solidFill>
                <a:latin typeface="Meiryo"/>
                <a:ea typeface="Meiryo"/>
                <a:cs typeface="Meiryo"/>
              </a:rPr>
              <a:t>血管ト⁠ー⁠ヌ⁠スの変化 → 反射波（拡張期波）の高さが変わる</a:t>
            </a:r>
          </a:p>
        </p:txBody>
      </p:sp>
      <p:sp>
        <p:nvSpPr>
          <p:cNvPr id="361" name="t_l">
            <a:extLst>
              <a:ext uri="{FF2B5EF4-FFF2-40B4-BE49-F238E27FC236}">
                <a16:creationId xmlns:a16="http://schemas.microsoft.com/office/drawing/2014/main" id="{0AACF5CB-5E2C-38E0-4F7C-B5EF0C95DE62}"/>
              </a:ext>
            </a:extLst>
          </p:cNvPr>
          <p:cNvSpPr txBox="1"/>
          <p:nvPr/>
        </p:nvSpPr>
        <p:spPr>
          <a:xfrm>
            <a:off x="2422525" y="1954724"/>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7B1CA710-FDC5-C42A-FE00-B1BD12031E69}"/>
              </a:ext>
            </a:extLst>
          </p:cNvPr>
          <p:cNvSpPr txBox="1"/>
          <p:nvPr/>
        </p:nvSpPr>
        <p:spPr>
          <a:xfrm>
            <a:off x="6160924" y="1954724"/>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spTree>
    <p:extLst>
      <p:ext uri="{BB962C8B-B14F-4D97-AF65-F5344CB8AC3E}">
        <p14:creationId xmlns:p14="http://schemas.microsoft.com/office/powerpoint/2010/main" val="1951165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3.3  後負荷の違い</a:t>
            </a:r>
          </a:p>
        </p:txBody>
      </p:sp>
      <p:sp>
        <p:nvSpPr>
          <p:cNvPr id="11" name="Off-page Connector 2">
            <a:extLst>
              <a:ext uri="{FF2B5EF4-FFF2-40B4-BE49-F238E27FC236}">
                <a16:creationId xmlns:a16="http://schemas.microsoft.com/office/drawing/2014/main" id="{79C11B5D-40B9-80CB-229B-C31BB24AB0FC}"/>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CC731854-FA65-8972-1F37-694492ED15E1}"/>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266F0750-78FA-66BC-C93C-64F9454D8782}"/>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a:extLst>
              <a:ext uri="{FF2B5EF4-FFF2-40B4-BE49-F238E27FC236}">
                <a16:creationId xmlns:a16="http://schemas.microsoft.com/office/drawing/2014/main" id="{9AA5EE62-C4C5-B94B-E592-7F32385B2E0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43B9E573-13FF-914F-45E0-3A2F9B8FDA0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4F19F32C-C429-2EB8-0D25-9B3C13EDFD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57EC0EF8-6A25-DB92-5EF8-FE7093DCF6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5EA69556-F095-9F25-CB58-5676A9D894C0}"/>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4. Millasseau 2002  ／  5. Dawber 1973  ／  6. Cunningham 2023  ／  27. Millasseau 2003</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4"/>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4"/>
          <a:srcRect t="56511"/>
          <a:stretch>
            <a:fillRect/>
          </a:stretch>
        </p:blipFill>
        <p:spPr>
          <a:xfrm>
            <a:off x="1482436" y="4341629"/>
            <a:ext cx="8328377" cy="2113221"/>
          </a:xfrm>
          <a:prstGeom prst="rect">
            <a:avLst/>
          </a:prstGeom>
        </p:spPr>
      </p:pic>
      <p:sp>
        <p:nvSpPr>
          <p:cNvPr id="10" name="TextBox 9">
            <a:extLst>
              <a:ext uri="{FF2B5EF4-FFF2-40B4-BE49-F238E27FC236}">
                <a16:creationId xmlns:a16="http://schemas.microsoft.com/office/drawing/2014/main" id="{98FCE720-16FD-1A22-8B7D-09DE117A7AD8}"/>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19/36</a:t>
            </a:r>
          </a:p>
        </p:txBody>
      </p:sp>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dirty="0">
                <a:solidFill>
                  <a:srgbClr val="E8853B"/>
                </a:solidFill>
                <a:latin typeface="Meiryo"/>
                <a:ea typeface="Meiryo"/>
                <a:cs typeface="Meiryo"/>
              </a:rPr>
              <a:t>① SVR・血管トーヌス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a:t>
            </a:r>
            <a:r>
              <a:rPr lang="ja-JP" altLang="en-US" sz="2200" b="1" dirty="0">
                <a:solidFill>
                  <a:srgbClr val="B8860B"/>
                </a:solidFill>
                <a:latin typeface="Meiryo"/>
                <a:ea typeface="Meiryo"/>
                <a:cs typeface="Meiryo"/>
              </a:rPr>
              <a:t>下降脚</a:t>
            </a:r>
            <a:r>
              <a:rPr lang="ja-JP" altLang="en-US" sz="2200" b="1">
                <a:solidFill>
                  <a:srgbClr val="B8860B"/>
                </a:solidFill>
                <a:latin typeface="Meiryo"/>
                <a:ea typeface="Meiryo"/>
                <a:cs typeface="Meiryo"/>
              </a:rPr>
              <a:t>に変曲点</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Tree>
    <p:extLst>
      <p:ext uri="{BB962C8B-B14F-4D97-AF65-F5344CB8AC3E}">
        <p14:creationId xmlns:p14="http://schemas.microsoft.com/office/powerpoint/2010/main" val="2016611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a:latin typeface="Meiryo"/>
                <a:ea typeface="Meiryo"/>
                <a:cs typeface="Meiryo"/>
              </a:rPr>
              <a:t>3.4  心収縮力</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u="none" dirty="0">
                <a:solidFill>
                  <a:srgbClr val="808080"/>
                </a:solidFill>
                <a:latin typeface="Meiryo"/>
                <a:ea typeface="Meiryo"/>
                <a:cs typeface="Meiryo"/>
                <a:hlinkClick r:id="rId2"/>
              </a:rPr>
              <a:t>10. Pagoulatou 2021</a:t>
            </a:r>
            <a:r>
              <a:rPr sz="1050" dirty="0">
                <a:solidFill>
                  <a:srgbClr val="808080"/>
                </a:solidFill>
                <a:latin typeface="Meiryo"/>
                <a:ea typeface="Meiryo"/>
                <a:cs typeface="Meiryo"/>
              </a:rPr>
              <a:t>  ／  </a:t>
            </a:r>
            <a:r>
              <a:rPr sz="1050" u="none" dirty="0">
                <a:solidFill>
                  <a:srgbClr val="808080"/>
                </a:solidFill>
                <a:latin typeface="Meiryo"/>
                <a:ea typeface="Meiryo"/>
                <a:cs typeface="Meiryo"/>
                <a:hlinkClick r:id="rId3"/>
              </a:rPr>
              <a:t>11. Couceiro 2012</a:t>
            </a:r>
            <a:r>
              <a:rPr sz="1050" dirty="0">
                <a:solidFill>
                  <a:srgbClr val="808080"/>
                </a:solidFill>
                <a:latin typeface="Meiryo"/>
                <a:ea typeface="Meiryo"/>
                <a:cs typeface="Meiryo"/>
              </a:rPr>
              <a:t>  ／  </a:t>
            </a:r>
            <a:r>
              <a:rPr sz="1050" u="none" dirty="0">
                <a:solidFill>
                  <a:srgbClr val="808080"/>
                </a:solidFill>
                <a:latin typeface="Meiryo"/>
                <a:ea typeface="Meiryo"/>
                <a:cs typeface="Meiryo"/>
                <a:hlinkClick r:id="rId4"/>
              </a:rPr>
              <a:t>12. Piccioli 2022</a:t>
            </a:r>
          </a:p>
        </p:txBody>
      </p:sp>
      <p:pic>
        <p:nvPicPr>
          <p:cNvPr id="9" name="Picture 8" descr="42_contractility.png"/>
          <p:cNvPicPr>
            <a:picLocks noChangeAspect="1"/>
          </p:cNvPicPr>
          <p:nvPr/>
        </p:nvPicPr>
        <p:blipFill>
          <a:blip r:embed="rId5"/>
          <a:stretch>
            <a:fillRect/>
          </a:stretch>
        </p:blipFill>
        <p:spPr>
          <a:xfrm>
            <a:off x="640073" y="1591423"/>
            <a:ext cx="8621874" cy="4320000"/>
          </a:xfrm>
          <a:prstGeom prst="rect">
            <a:avLst/>
          </a:prstGeom>
        </p:spPr>
      </p:pic>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20/36</a:t>
            </a:r>
            <a:endParaRPr/>
          </a:p>
        </p:txBody>
      </p:sp>
      <p:sp>
        <p:nvSpPr>
          <p:cNvPr id="631" name="yac"/>
          <p:cNvSpPr txBox="1"/>
          <p:nvPr/>
        </p:nvSpPr>
        <p:spPr>
          <a:xfrm>
            <a:off x="532801" y="2805879"/>
            <a:ext cx="861181" cy="432000"/>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圧波形</a:t>
            </a:r>
            <a:endParaRPr lang="ja-JP" altLang="en-US" sz="2200" b="0" dirty="0">
              <a:solidFill>
                <a:srgbClr val="8C8C8C"/>
              </a:solidFill>
              <a:latin typeface="Meiryo"/>
              <a:ea typeface="Meiryo"/>
              <a:cs typeface="Meiryo"/>
            </a:endParaRPr>
          </a:p>
        </p:txBody>
      </p:sp>
      <p:sp>
        <p:nvSpPr>
          <p:cNvPr id="634" name="hino"/>
          <p:cNvSpPr txBox="1"/>
          <p:nvPr/>
        </p:nvSpPr>
        <p:spPr>
          <a:xfrm>
            <a:off x="6797114" y="1959163"/>
            <a:ext cx="3707405" cy="259200"/>
          </a:xfrm>
          <a:prstGeom prst="rect">
            <a:avLst/>
          </a:prstGeom>
          <a:noFill/>
        </p:spPr>
        <p:txBody>
          <a:bodyPr wrap="square" lIns="0" tIns="0" rIns="0" bIns="0" anchor="t">
            <a:noAutofit/>
          </a:bodyPr>
          <a:lstStyle/>
          <a:p>
            <a:pPr algn="r"/>
            <a:r>
              <a:rPr lang="ja-JP" altLang="en-US" sz="3200" b="1">
                <a:solidFill>
                  <a:srgbClr val="00A8AA"/>
                </a:solidFill>
                <a:latin typeface="Meiryo"/>
                <a:ea typeface="Meiryo"/>
                <a:cs typeface="Meiryo"/>
              </a:rPr>
              <a:t>高収縮</a:t>
            </a:r>
            <a:endParaRPr lang="ja-JP" altLang="en-US" sz="3200" b="1" dirty="0">
              <a:solidFill>
                <a:srgbClr val="00A8AA"/>
              </a:solidFill>
              <a:latin typeface="Meiryo"/>
              <a:ea typeface="Meiryo"/>
              <a:cs typeface="Meiryo"/>
            </a:endParaRPr>
          </a:p>
        </p:txBody>
      </p:sp>
      <p:sp>
        <p:nvSpPr>
          <p:cNvPr id="635" name="hilist"/>
          <p:cNvSpPr txBox="1"/>
          <p:nvPr/>
        </p:nvSpPr>
        <p:spPr>
          <a:xfrm>
            <a:off x="7987640" y="2567674"/>
            <a:ext cx="5803562" cy="1036800"/>
          </a:xfrm>
          <a:prstGeom prst="rect">
            <a:avLst/>
          </a:prstGeom>
          <a:noFill/>
        </p:spPr>
        <p:txBody>
          <a:bodyPr wrap="square" lIns="0" tIns="0" rIns="0" bIns="0" anchor="t">
            <a:noAutofit/>
          </a:bodyPr>
          <a:lstStyle/>
          <a:p>
            <a:r>
              <a:rPr lang="ja-JP" altLang="en-US" sz="2200" b="1" dirty="0">
                <a:solidFill>
                  <a:srgbClr val="00A8AA"/>
                </a:solidFill>
                <a:latin typeface="Meiryo"/>
                <a:ea typeface="Meiryo"/>
                <a:cs typeface="Meiryo"/>
              </a:rPr>
              <a:t>→ 立ち上がり</a:t>
            </a:r>
            <a:r>
              <a:rPr lang="ja-JP" altLang="en-US" sz="2200" b="1">
                <a:solidFill>
                  <a:srgbClr val="00A8AA"/>
                </a:solidFill>
                <a:latin typeface="Meiryo"/>
                <a:ea typeface="Meiryo"/>
                <a:cs typeface="Meiryo"/>
              </a:rPr>
              <a:t>勾配↑</a:t>
            </a:r>
            <a:endParaRPr lang="en-US" altLang="ja-JP" sz="2200" b="1" dirty="0">
              <a:solidFill>
                <a:srgbClr val="00A8AA"/>
              </a:solidFill>
              <a:latin typeface="Meiryo"/>
              <a:ea typeface="Meiryo"/>
              <a:cs typeface="Meiryo"/>
            </a:endParaRPr>
          </a:p>
          <a:p>
            <a:r>
              <a:rPr lang="ja-JP" altLang="en-US" sz="2200" b="1">
                <a:solidFill>
                  <a:srgbClr val="00A8AA"/>
                </a:solidFill>
                <a:latin typeface="Meiryo"/>
                <a:ea typeface="Meiryo"/>
                <a:cs typeface="Meiryo"/>
              </a:rPr>
              <a:t>→ </a:t>
            </a:r>
            <a:r>
              <a:rPr lang="ja-JP" altLang="en-US" sz="2200" b="1" dirty="0">
                <a:solidFill>
                  <a:srgbClr val="00A8AA"/>
                </a:solidFill>
                <a:latin typeface="Meiryo"/>
                <a:ea typeface="Meiryo"/>
                <a:cs typeface="Meiryo"/>
              </a:rPr>
              <a:t>収縮期ピークが早く</a:t>
            </a:r>
            <a:r>
              <a:rPr lang="ja-JP" altLang="en-US" sz="2200" b="1">
                <a:solidFill>
                  <a:srgbClr val="00A8AA"/>
                </a:solidFill>
                <a:latin typeface="Meiryo"/>
                <a:ea typeface="Meiryo"/>
                <a:cs typeface="Meiryo"/>
              </a:rPr>
              <a:t>・尖鋭化</a:t>
            </a:r>
            <a:br>
              <a:rPr lang="ja-JP" altLang="en-US" sz="2200" b="1">
                <a:solidFill>
                  <a:srgbClr val="00A8AA"/>
                </a:solidFill>
                <a:latin typeface="Meiryo"/>
                <a:ea typeface="Meiryo"/>
                <a:cs typeface="Meiryo"/>
              </a:rPr>
            </a:br>
            <a:endParaRPr lang="ja-JP" altLang="en-US" sz="2200" b="1" dirty="0">
              <a:solidFill>
                <a:srgbClr val="00A8AA"/>
              </a:solidFill>
              <a:latin typeface="Meiryo"/>
              <a:ea typeface="Meiryo"/>
              <a:cs typeface="Meiryo"/>
            </a:endParaRPr>
          </a:p>
        </p:txBody>
      </p:sp>
      <p:sp>
        <p:nvSpPr>
          <p:cNvPr id="638" name="ydv"/>
          <p:cNvSpPr txBox="1"/>
          <p:nvPr/>
        </p:nvSpPr>
        <p:spPr>
          <a:xfrm>
            <a:off x="273643" y="4884334"/>
            <a:ext cx="1379499" cy="468327"/>
          </a:xfrm>
          <a:prstGeom prst="rect">
            <a:avLst/>
          </a:prstGeom>
          <a:noFill/>
        </p:spPr>
        <p:txBody>
          <a:bodyPr wrap="square" lIns="0" tIns="0" rIns="0" bIns="0" anchor="t">
            <a:noAutofit/>
          </a:bodyPr>
          <a:lstStyle/>
          <a:p>
            <a:pPr algn="ctr"/>
            <a:r>
              <a:rPr lang="ja-JP" altLang="en-US" sz="2200" b="0" dirty="0">
                <a:solidFill>
                  <a:srgbClr val="8C8C8C"/>
                </a:solidFill>
                <a:latin typeface="Meiryo"/>
                <a:ea typeface="Meiryo"/>
                <a:cs typeface="Meiryo"/>
              </a:rPr>
              <a:t>一次微分</a:t>
            </a:r>
            <a:br>
              <a:rPr lang="ja-JP" altLang="en-US" sz="2200" b="0" dirty="0">
                <a:solidFill>
                  <a:srgbClr val="8C8C8C"/>
                </a:solidFill>
                <a:latin typeface="Meiryo"/>
                <a:ea typeface="Meiryo"/>
                <a:cs typeface="Meiryo"/>
              </a:rPr>
            </a:br>
            <a:r>
              <a:rPr lang="ja-JP" altLang="en-US" sz="2200" b="0" dirty="0">
                <a:solidFill>
                  <a:srgbClr val="8C8C8C"/>
                </a:solidFill>
                <a:latin typeface="Meiryo"/>
                <a:ea typeface="Meiryo"/>
                <a:cs typeface="Meiryo"/>
              </a:rPr>
              <a:t>dV/dt</a:t>
            </a:r>
          </a:p>
        </p:txBody>
      </p:sp>
      <p:sp>
        <p:nvSpPr>
          <p:cNvPr id="642" name="cap2"/>
          <p:cNvSpPr txBox="1"/>
          <p:nvPr/>
        </p:nvSpPr>
        <p:spPr>
          <a:xfrm>
            <a:off x="640073" y="6024548"/>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動脈圧</a:t>
            </a:r>
            <a:r>
              <a:rPr lang="ja-JP" altLang="en-US" sz="2200" b="0" dirty="0">
                <a:solidFill>
                  <a:srgbClr val="8C8C8C"/>
                </a:solidFill>
                <a:latin typeface="Meiryo"/>
                <a:ea typeface="Meiryo"/>
                <a:cs typeface="Meiryo"/>
              </a:rPr>
              <a:t>波形モデルから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83891-F8CC-0EEE-F272-2FC53270A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5170E-8395-A66C-8911-5040603027CF}"/>
              </a:ext>
            </a:extLst>
          </p:cNvPr>
          <p:cNvSpPr>
            <a:spLocks noGrp="1"/>
          </p:cNvSpPr>
          <p:nvPr>
            <p:ph type="title"/>
          </p:nvPr>
        </p:nvSpPr>
        <p:spPr/>
        <p:txBody>
          <a:bodyPr>
            <a:normAutofit/>
          </a:bodyPr>
          <a:lstStyle/>
          <a:p>
            <a:pPr algn="l"/>
            <a:r>
              <a:rPr sz="4600">
                <a:latin typeface="Meiryo"/>
                <a:ea typeface="Meiryo"/>
                <a:cs typeface="Meiryo"/>
              </a:rPr>
              <a:t>3.4  心収縮力</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1EED23CC-BA9B-9A62-D294-19BBE1010B35}"/>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C1F76475-4915-8098-B20A-F0A8AA0C14B4}"/>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C1D1F01D-240F-C00D-D836-D63348A617D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a:extLst>
              <a:ext uri="{FF2B5EF4-FFF2-40B4-BE49-F238E27FC236}">
                <a16:creationId xmlns:a16="http://schemas.microsoft.com/office/drawing/2014/main" id="{2D107B3D-5749-9312-A79C-9C12E8A2418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E1E53246-062F-BF77-03DA-D3B63D5B6FF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F259E11-C2B9-0188-5B99-1ACAF75B48C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F8F6C07B-F9E9-11B6-84E6-16F8E4BA325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74D0498A-ECAE-308A-FBB6-D80B1633BC5C}"/>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dirty="0">
                <a:solidFill>
                  <a:srgbClr val="808080"/>
                </a:solidFill>
                <a:latin typeface="Meiryo"/>
                <a:ea typeface="Meiryo"/>
                <a:cs typeface="Meiryo"/>
                <a:hlinkClick r:id="rId3"/>
              </a:rPr>
              <a:t>10. Pagoulatou 2021</a:t>
            </a:r>
            <a:r>
              <a:rPr sz="1050" dirty="0">
                <a:solidFill>
                  <a:srgbClr val="808080"/>
                </a:solidFill>
                <a:latin typeface="Meiryo"/>
                <a:ea typeface="Meiryo"/>
                <a:cs typeface="Meiryo"/>
              </a:rPr>
              <a:t>  ／  </a:t>
            </a:r>
            <a:r>
              <a:rPr sz="1050" u="none" dirty="0">
                <a:solidFill>
                  <a:srgbClr val="808080"/>
                </a:solidFill>
                <a:latin typeface="Meiryo"/>
                <a:ea typeface="Meiryo"/>
                <a:cs typeface="Meiryo"/>
                <a:hlinkClick r:id="rId4"/>
              </a:rPr>
              <a:t>11. Couceiro 2012</a:t>
            </a:r>
            <a:r>
              <a:rPr sz="1050" dirty="0">
                <a:solidFill>
                  <a:srgbClr val="808080"/>
                </a:solidFill>
                <a:latin typeface="Meiryo"/>
                <a:ea typeface="Meiryo"/>
                <a:cs typeface="Meiryo"/>
              </a:rPr>
              <a:t>  ／  </a:t>
            </a:r>
            <a:r>
              <a:rPr sz="1050" u="none" dirty="0">
                <a:solidFill>
                  <a:srgbClr val="808080"/>
                </a:solidFill>
                <a:latin typeface="Meiryo"/>
                <a:ea typeface="Meiryo"/>
                <a:cs typeface="Meiryo"/>
                <a:hlinkClick r:id="rId5"/>
              </a:rPr>
              <a:t>12. Piccioli 2022</a:t>
            </a:r>
          </a:p>
        </p:txBody>
      </p:sp>
      <p:pic>
        <p:nvPicPr>
          <p:cNvPr id="9" name="Picture 8" descr="42_contractility.png">
            <a:extLst>
              <a:ext uri="{FF2B5EF4-FFF2-40B4-BE49-F238E27FC236}">
                <a16:creationId xmlns:a16="http://schemas.microsoft.com/office/drawing/2014/main" id="{A8D0194E-8D35-04A8-B6A4-50A9835385D1}"/>
              </a:ext>
            </a:extLst>
          </p:cNvPr>
          <p:cNvPicPr>
            <a:picLocks noChangeAspect="1"/>
          </p:cNvPicPr>
          <p:nvPr/>
        </p:nvPicPr>
        <p:blipFill>
          <a:blip r:embed="rId6"/>
          <a:srcRect b="34066"/>
          <a:stretch>
            <a:fillRect/>
          </a:stretch>
        </p:blipFill>
        <p:spPr>
          <a:xfrm>
            <a:off x="1785063" y="1959163"/>
            <a:ext cx="8621874" cy="2848362"/>
          </a:xfrm>
          <a:prstGeom prst="rect">
            <a:avLst/>
          </a:prstGeom>
        </p:spPr>
      </p:pic>
      <p:sp>
        <p:nvSpPr>
          <p:cNvPr id="10" name="TextBox 9">
            <a:extLst>
              <a:ext uri="{FF2B5EF4-FFF2-40B4-BE49-F238E27FC236}">
                <a16:creationId xmlns:a16="http://schemas.microsoft.com/office/drawing/2014/main" id="{EE8B717A-6F50-A4E4-836E-4235C86213EB}"/>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20/36</a:t>
            </a:r>
            <a:endParaRPr/>
          </a:p>
        </p:txBody>
      </p:sp>
      <p:sp>
        <p:nvSpPr>
          <p:cNvPr id="635" name="hilist">
            <a:extLst>
              <a:ext uri="{FF2B5EF4-FFF2-40B4-BE49-F238E27FC236}">
                <a16:creationId xmlns:a16="http://schemas.microsoft.com/office/drawing/2014/main" id="{01FF3EFD-413D-C41C-F0BB-0F8B97E95E2F}"/>
              </a:ext>
            </a:extLst>
          </p:cNvPr>
          <p:cNvSpPr txBox="1"/>
          <p:nvPr/>
        </p:nvSpPr>
        <p:spPr>
          <a:xfrm>
            <a:off x="1210370" y="5265495"/>
            <a:ext cx="10143430" cy="468327"/>
          </a:xfrm>
          <a:prstGeom prst="rect">
            <a:avLst/>
          </a:prstGeom>
          <a:noFill/>
        </p:spPr>
        <p:txBody>
          <a:bodyPr wrap="square" lIns="0" tIns="0" rIns="0" bIns="0" anchor="t">
            <a:noAutofit/>
          </a:bodyPr>
          <a:lstStyle/>
          <a:p>
            <a:r>
              <a:rPr lang="ja-JP" altLang="en-US" sz="2800" b="1">
                <a:solidFill>
                  <a:srgbClr val="00A8AA"/>
                </a:solidFill>
                <a:latin typeface="Meiryo"/>
                <a:ea typeface="Meiryo"/>
                <a:cs typeface="Meiryo"/>
              </a:rPr>
              <a:t>収縮力↑→ </a:t>
            </a:r>
            <a:r>
              <a:rPr lang="ja-JP" altLang="en-US" sz="2800" b="1" dirty="0">
                <a:solidFill>
                  <a:srgbClr val="00A8AA"/>
                </a:solidFill>
                <a:latin typeface="Meiryo"/>
                <a:ea typeface="Meiryo"/>
                <a:cs typeface="Meiryo"/>
              </a:rPr>
              <a:t>立ち上がり</a:t>
            </a:r>
            <a:r>
              <a:rPr lang="ja-JP" altLang="en-US" sz="2800" b="1">
                <a:solidFill>
                  <a:srgbClr val="00A8AA"/>
                </a:solidFill>
                <a:latin typeface="Meiryo"/>
                <a:ea typeface="Meiryo"/>
                <a:cs typeface="Meiryo"/>
              </a:rPr>
              <a:t>勾配↑→ </a:t>
            </a:r>
            <a:r>
              <a:rPr lang="ja-JP" altLang="en-US" sz="2800" b="1" dirty="0">
                <a:solidFill>
                  <a:srgbClr val="00A8AA"/>
                </a:solidFill>
                <a:latin typeface="Meiryo"/>
                <a:ea typeface="Meiryo"/>
                <a:cs typeface="Meiryo"/>
              </a:rPr>
              <a:t>収縮期ピークが早く</a:t>
            </a:r>
            <a:r>
              <a:rPr lang="ja-JP" altLang="en-US" sz="2800" b="1">
                <a:solidFill>
                  <a:srgbClr val="00A8AA"/>
                </a:solidFill>
                <a:latin typeface="Meiryo"/>
                <a:ea typeface="Meiryo"/>
                <a:cs typeface="Meiryo"/>
              </a:rPr>
              <a:t>・尖鋭化</a:t>
            </a:r>
            <a:endParaRPr lang="ja-JP" altLang="en-US" sz="2800" b="1" dirty="0">
              <a:solidFill>
                <a:srgbClr val="00A8AA"/>
              </a:solidFill>
              <a:latin typeface="Meiryo"/>
              <a:ea typeface="Meiryo"/>
              <a:cs typeface="Meiryo"/>
            </a:endParaRPr>
          </a:p>
        </p:txBody>
      </p:sp>
      <p:sp>
        <p:nvSpPr>
          <p:cNvPr id="642" name="cap2">
            <a:extLst>
              <a:ext uri="{FF2B5EF4-FFF2-40B4-BE49-F238E27FC236}">
                <a16:creationId xmlns:a16="http://schemas.microsoft.com/office/drawing/2014/main" id="{F1570674-E6EC-DB0B-8A9D-1783FD0AEE56}"/>
              </a:ext>
            </a:extLst>
          </p:cNvPr>
          <p:cNvSpPr txBox="1"/>
          <p:nvPr/>
        </p:nvSpPr>
        <p:spPr>
          <a:xfrm>
            <a:off x="3617324" y="573382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動脈圧</a:t>
            </a:r>
            <a:r>
              <a:rPr lang="ja-JP" altLang="en-US" sz="2200" b="0" dirty="0">
                <a:solidFill>
                  <a:srgbClr val="8C8C8C"/>
                </a:solidFill>
                <a:latin typeface="Meiryo"/>
                <a:ea typeface="Meiryo"/>
                <a:cs typeface="Meiryo"/>
              </a:rPr>
              <a:t>波形モデルから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spTree>
    <p:extLst>
      <p:ext uri="{BB962C8B-B14F-4D97-AF65-F5344CB8AC3E}">
        <p14:creationId xmlns:p14="http://schemas.microsoft.com/office/powerpoint/2010/main" val="323181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a:latin typeface="Meiryo"/>
                <a:ea typeface="Meiryo"/>
                <a:cs typeface="Meiryo"/>
              </a:rPr>
              <a:t>3.5  心拍数</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7. Wilkinson 2000  ／  19. Hashimoto 2002  ／  23. Charlton 2019  ／  24. Md Lazim 2020</a:t>
            </a:r>
          </a:p>
        </p:txBody>
      </p:sp>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21/36</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4"/>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4"/>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4" name="テキスト ボックス 3">
            <a:extLst>
              <a:ext uri="{FF2B5EF4-FFF2-40B4-BE49-F238E27FC236}">
                <a16:creationId xmlns:a16="http://schemas.microsoft.com/office/drawing/2014/main" id="{A8439537-9515-8284-E360-F212CE8A555B}"/>
              </a:ext>
            </a:extLst>
          </p:cNvPr>
          <p:cNvSpPr txBox="1"/>
          <p:nvPr/>
        </p:nvSpPr>
        <p:spPr>
          <a:xfrm>
            <a:off x="1016207" y="5740100"/>
            <a:ext cx="10458312" cy="523220"/>
          </a:xfrm>
          <a:prstGeom prst="rect">
            <a:avLst/>
          </a:prstGeom>
          <a:noFill/>
        </p:spPr>
        <p:txBody>
          <a:bodyPr wrap="none" rtlCol="0">
            <a:spAutoFit/>
          </a:bodyPr>
          <a:lstStyle/>
          <a:p>
            <a:r>
              <a:rPr kumimoji="1" lang="en-US" altLang="ja-JP" sz="2800" b="1" dirty="0"/>
              <a:t>HR</a:t>
            </a:r>
            <a:r>
              <a:rPr kumimoji="1" lang="ja-JP" altLang="en-US" sz="2800" b="1"/>
              <a:t>↑ → 左室収縮時間↓ → 収縮期波が早期減衰</a:t>
            </a:r>
            <a:r>
              <a:rPr kumimoji="1" lang="en-US" altLang="ja-JP" sz="2800" b="1" dirty="0"/>
              <a:t> </a:t>
            </a:r>
            <a:r>
              <a:rPr kumimoji="1" lang="ja-JP" altLang="en-US" sz="2800" b="1"/>
              <a:t>→</a:t>
            </a:r>
            <a:r>
              <a:rPr kumimoji="1" lang="en-US" altLang="ja-JP" sz="2800" b="1" dirty="0"/>
              <a:t> </a:t>
            </a:r>
            <a:r>
              <a:rPr kumimoji="1" lang="ja-JP" altLang="en-US" sz="2800" b="1"/>
              <a:t>早く深い切痕</a:t>
            </a:r>
          </a:p>
        </p:txBody>
      </p:sp>
      <p:sp>
        <p:nvSpPr>
          <p:cNvPr id="5" name="cap2">
            <a:extLst>
              <a:ext uri="{FF2B5EF4-FFF2-40B4-BE49-F238E27FC236}">
                <a16:creationId xmlns:a16="http://schemas.microsoft.com/office/drawing/2014/main" id="{E23ACC53-4CC6-9721-14E9-8A78AC97A7BE}"/>
              </a:ext>
            </a:extLst>
          </p:cNvPr>
          <p:cNvSpPr txBox="1"/>
          <p:nvPr/>
        </p:nvSpPr>
        <p:spPr>
          <a:xfrm>
            <a:off x="4277324" y="6314211"/>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a:latin typeface="Meiryo"/>
                <a:ea typeface="Meiryo"/>
                <a:cs typeface="Meiryo"/>
              </a:rPr>
              <a:t>3.6  文献強度</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9" name="TextBox 8"/>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22/36</a:t>
            </a:r>
          </a:p>
        </p:txBody>
      </p:sp>
      <p:sp>
        <p:nvSpPr>
          <p:cNvPr id="510" name="h1"/>
          <p:cNvSpPr txBox="1"/>
          <p:nvPr/>
        </p:nvSpPr>
        <p:spPr>
          <a:xfrm>
            <a:off x="1339352" y="1890720"/>
            <a:ext cx="2367660" cy="362880"/>
          </a:xfrm>
          <a:prstGeom prst="rect">
            <a:avLst/>
          </a:prstGeom>
          <a:noFill/>
        </p:spPr>
        <p:txBody>
          <a:bodyPr wrap="square" lIns="0" tIns="0" rIns="0" bIns="0" anchor="t">
            <a:noAutofit/>
          </a:bodyPr>
          <a:lstStyle/>
          <a:p>
            <a:pPr algn="ctr">
              <a:spcBef>
                <a:spcPts val="0"/>
              </a:spcBef>
              <a:spcAft>
                <a:spcPts val="0"/>
              </a:spcAft>
            </a:pPr>
            <a:r>
              <a:rPr sz="2200" b="1">
                <a:solidFill>
                  <a:srgbClr val="262626"/>
                </a:solidFill>
                <a:latin typeface="Meiryo"/>
                <a:ea typeface="Meiryo"/>
                <a:cs typeface="Meiryo"/>
              </a:rPr>
              <a:t>因子</a:t>
            </a:r>
          </a:p>
        </p:txBody>
      </p:sp>
      <p:sp>
        <p:nvSpPr>
          <p:cNvPr id="511" name="h2"/>
          <p:cNvSpPr txBox="1"/>
          <p:nvPr/>
        </p:nvSpPr>
        <p:spPr>
          <a:xfrm>
            <a:off x="4404814" y="1890720"/>
            <a:ext cx="3382372" cy="362880"/>
          </a:xfrm>
          <a:prstGeom prst="rect">
            <a:avLst/>
          </a:prstGeom>
          <a:noFill/>
        </p:spPr>
        <p:txBody>
          <a:bodyPr wrap="square" lIns="0" tIns="0" rIns="0" bIns="0" anchor="t">
            <a:noAutofit/>
          </a:bodyPr>
          <a:lstStyle/>
          <a:p>
            <a:pPr algn="ctr">
              <a:spcBef>
                <a:spcPts val="0"/>
              </a:spcBef>
              <a:spcAft>
                <a:spcPts val="0"/>
              </a:spcAft>
            </a:pPr>
            <a:r>
              <a:rPr sz="2200" b="1">
                <a:solidFill>
                  <a:srgbClr val="262626"/>
                </a:solidFill>
                <a:latin typeface="Meiryo"/>
                <a:ea typeface="Meiryo"/>
                <a:cs typeface="Meiryo"/>
              </a:rPr>
              <a:t>波形変化</a:t>
            </a:r>
          </a:p>
        </p:txBody>
      </p:sp>
      <p:sp>
        <p:nvSpPr>
          <p:cNvPr id="512" name="h3"/>
          <p:cNvSpPr txBox="1"/>
          <p:nvPr/>
        </p:nvSpPr>
        <p:spPr>
          <a:xfrm>
            <a:off x="8028864" y="1890720"/>
            <a:ext cx="2113983" cy="362880"/>
          </a:xfrm>
          <a:prstGeom prst="rect">
            <a:avLst/>
          </a:prstGeom>
          <a:noFill/>
        </p:spPr>
        <p:txBody>
          <a:bodyPr wrap="square" lIns="0" tIns="0" rIns="0" bIns="0" anchor="t">
            <a:normAutofit/>
          </a:bodyPr>
          <a:lstStyle/>
          <a:p>
            <a:pPr algn="ctr">
              <a:spcBef>
                <a:spcPts val="0"/>
              </a:spcBef>
              <a:spcAft>
                <a:spcPts val="0"/>
              </a:spcAft>
            </a:pPr>
            <a:r>
              <a:rPr sz="2200" b="1">
                <a:solidFill>
                  <a:srgbClr val="262626"/>
                </a:solidFill>
                <a:latin typeface="Meiryo"/>
                <a:ea typeface="Meiryo"/>
                <a:cs typeface="Meiryo"/>
              </a:rPr>
              <a:t>文献強度</a:t>
            </a:r>
          </a:p>
        </p:txBody>
      </p:sp>
      <p:sp>
        <p:nvSpPr>
          <p:cNvPr id="513" name="f0"/>
          <p:cNvSpPr/>
          <p:nvPr/>
        </p:nvSpPr>
        <p:spPr>
          <a:xfrm>
            <a:off x="1339352" y="2503080"/>
            <a:ext cx="2367660" cy="521640"/>
          </a:xfrm>
          <a:prstGeom prst="roundRect">
            <a:avLst>
              <a:gd name="adj" fmla="val 40000"/>
            </a:avLst>
          </a:prstGeom>
          <a:solidFill>
            <a:srgbClr val="F2F2F2"/>
          </a:solidFill>
        </p:spPr>
        <p:txBody>
          <a:bodyPr wrap="square" lIns="45720" tIns="27432" rIns="45720" bIns="27432" anchor="ctr">
            <a:normAutofit/>
          </a:bodyPr>
          <a:lstStyle/>
          <a:p>
            <a:pPr algn="ctr">
              <a:spcBef>
                <a:spcPts val="0"/>
              </a:spcBef>
              <a:spcAft>
                <a:spcPts val="0"/>
              </a:spcAft>
            </a:pPr>
            <a:r>
              <a:rPr sz="2200" b="1">
                <a:solidFill>
                  <a:srgbClr val="262626"/>
                </a:solidFill>
                <a:latin typeface="Meiryo"/>
                <a:ea typeface="Meiryo"/>
                <a:cs typeface="Meiryo"/>
              </a:rPr>
              <a:t>前負荷</a:t>
            </a:r>
          </a:p>
        </p:txBody>
      </p:sp>
      <p:sp>
        <p:nvSpPr>
          <p:cNvPr id="514" name="m0"/>
          <p:cNvSpPr txBox="1"/>
          <p:nvPr/>
        </p:nvSpPr>
        <p:spPr>
          <a:xfrm>
            <a:off x="4404814" y="2503080"/>
            <a:ext cx="3297813" cy="521640"/>
          </a:xfrm>
          <a:prstGeom prst="rect">
            <a:avLst/>
          </a:prstGeom>
          <a:noFill/>
        </p:spPr>
        <p:txBody>
          <a:bodyPr wrap="square" lIns="0" tIns="0" rIns="0" bIns="0" anchor="ctr">
            <a:normAutofit/>
          </a:bodyPr>
          <a:lstStyle/>
          <a:p>
            <a:pPr algn="l">
              <a:spcBef>
                <a:spcPts val="0"/>
              </a:spcBef>
              <a:spcAft>
                <a:spcPts val="0"/>
              </a:spcAft>
            </a:pPr>
            <a:r>
              <a:rPr sz="2200" b="1">
                <a:solidFill>
                  <a:srgbClr val="262626"/>
                </a:solidFill>
                <a:latin typeface="Meiryo"/>
                <a:ea typeface="Meiryo"/>
                <a:cs typeface="Meiryo"/>
              </a:rPr>
              <a:t>全体の振幅↑↓</a:t>
            </a:r>
          </a:p>
        </p:txBody>
      </p:sp>
      <p:sp>
        <p:nvSpPr>
          <p:cNvPr id="515" name="g0"/>
          <p:cNvSpPr/>
          <p:nvPr/>
        </p:nvSpPr>
        <p:spPr>
          <a:xfrm>
            <a:off x="8028864" y="2503080"/>
            <a:ext cx="2113983" cy="521640"/>
          </a:xfrm>
          <a:prstGeom prst="roundRect">
            <a:avLst>
              <a:gd name="adj" fmla="val 40000"/>
            </a:avLst>
          </a:prstGeom>
          <a:solidFill>
            <a:srgbClr val="70AD47"/>
          </a:solidFill>
        </p:spPr>
        <p:txBody>
          <a:bodyPr wrap="square" lIns="45720" tIns="27432" rIns="45720" bIns="27432" anchor="ctr">
            <a:normAutofit/>
          </a:bodyPr>
          <a:lstStyle/>
          <a:p>
            <a:pPr algn="ctr">
              <a:spcBef>
                <a:spcPts val="0"/>
              </a:spcBef>
              <a:spcAft>
                <a:spcPts val="0"/>
              </a:spcAft>
            </a:pPr>
            <a:r>
              <a:rPr sz="2200" b="1">
                <a:solidFill>
                  <a:srgbClr val="FFFFFF"/>
                </a:solidFill>
                <a:latin typeface="Meiryo"/>
                <a:ea typeface="Meiryo"/>
                <a:cs typeface="Meiryo"/>
              </a:rPr>
              <a:t>実測</a:t>
            </a:r>
          </a:p>
        </p:txBody>
      </p:sp>
      <p:sp>
        <p:nvSpPr>
          <p:cNvPr id="516" name="f1"/>
          <p:cNvSpPr/>
          <p:nvPr/>
        </p:nvSpPr>
        <p:spPr>
          <a:xfrm>
            <a:off x="1339352" y="3228840"/>
            <a:ext cx="2367660" cy="521640"/>
          </a:xfrm>
          <a:prstGeom prst="roundRect">
            <a:avLst>
              <a:gd name="adj" fmla="val 40000"/>
            </a:avLst>
          </a:prstGeom>
          <a:solidFill>
            <a:srgbClr val="F2F2F2"/>
          </a:solidFill>
        </p:spPr>
        <p:txBody>
          <a:bodyPr wrap="square" lIns="45720" tIns="27432" rIns="45720" bIns="27432" anchor="ctr">
            <a:normAutofit/>
          </a:bodyPr>
          <a:lstStyle/>
          <a:p>
            <a:pPr algn="ctr">
              <a:spcBef>
                <a:spcPts val="0"/>
              </a:spcBef>
              <a:spcAft>
                <a:spcPts val="0"/>
              </a:spcAft>
            </a:pPr>
            <a:r>
              <a:rPr sz="2200" b="1">
                <a:solidFill>
                  <a:srgbClr val="262626"/>
                </a:solidFill>
                <a:latin typeface="Meiryo"/>
                <a:ea typeface="Meiryo"/>
                <a:cs typeface="Meiryo"/>
              </a:rPr>
              <a:t>大血管の硬さ</a:t>
            </a:r>
          </a:p>
        </p:txBody>
      </p:sp>
      <p:sp>
        <p:nvSpPr>
          <p:cNvPr id="517" name="m1"/>
          <p:cNvSpPr txBox="1"/>
          <p:nvPr/>
        </p:nvSpPr>
        <p:spPr>
          <a:xfrm>
            <a:off x="4404814" y="3228840"/>
            <a:ext cx="3297813" cy="521640"/>
          </a:xfrm>
          <a:prstGeom prst="rect">
            <a:avLst/>
          </a:prstGeom>
          <a:noFill/>
        </p:spPr>
        <p:txBody>
          <a:bodyPr wrap="square" lIns="0" tIns="0" rIns="0" bIns="0" anchor="ctr">
            <a:normAutofit/>
          </a:bodyPr>
          <a:lstStyle/>
          <a:p>
            <a:pPr algn="l">
              <a:spcBef>
                <a:spcPts val="0"/>
              </a:spcBef>
              <a:spcAft>
                <a:spcPts val="0"/>
              </a:spcAft>
            </a:pPr>
            <a:r>
              <a:rPr sz="2200" b="1">
                <a:solidFill>
                  <a:srgbClr val="262626"/>
                </a:solidFill>
                <a:latin typeface="Meiryo"/>
                <a:ea typeface="Meiryo"/>
                <a:cs typeface="Meiryo"/>
              </a:rPr>
              <a:t>反射波が前後</a:t>
            </a:r>
          </a:p>
        </p:txBody>
      </p:sp>
      <p:sp>
        <p:nvSpPr>
          <p:cNvPr id="518" name="g1"/>
          <p:cNvSpPr/>
          <p:nvPr/>
        </p:nvSpPr>
        <p:spPr>
          <a:xfrm>
            <a:off x="8028864" y="3228840"/>
            <a:ext cx="2113983" cy="521640"/>
          </a:xfrm>
          <a:prstGeom prst="roundRect">
            <a:avLst>
              <a:gd name="adj" fmla="val 40000"/>
            </a:avLst>
          </a:prstGeom>
          <a:solidFill>
            <a:srgbClr val="BF9000"/>
          </a:solidFill>
        </p:spPr>
        <p:txBody>
          <a:bodyPr wrap="square" lIns="45720" tIns="27432" rIns="45720" bIns="27432" anchor="ctr">
            <a:normAutofit/>
          </a:bodyPr>
          <a:lstStyle/>
          <a:p>
            <a:pPr algn="ctr">
              <a:spcBef>
                <a:spcPts val="0"/>
              </a:spcBef>
              <a:spcAft>
                <a:spcPts val="0"/>
              </a:spcAft>
            </a:pPr>
            <a:r>
              <a:rPr sz="2200" b="1">
                <a:solidFill>
                  <a:srgbClr val="FFFFFF"/>
                </a:solidFill>
                <a:latin typeface="Meiryo"/>
                <a:ea typeface="Meiryo"/>
                <a:cs typeface="Meiryo"/>
              </a:rPr>
              <a:t>実測+モデル</a:t>
            </a:r>
          </a:p>
        </p:txBody>
      </p:sp>
      <p:sp>
        <p:nvSpPr>
          <p:cNvPr id="519" name="f2"/>
          <p:cNvSpPr/>
          <p:nvPr/>
        </p:nvSpPr>
        <p:spPr>
          <a:xfrm>
            <a:off x="1339352" y="3954600"/>
            <a:ext cx="2367660" cy="521640"/>
          </a:xfrm>
          <a:prstGeom prst="roundRect">
            <a:avLst>
              <a:gd name="adj" fmla="val 40000"/>
            </a:avLst>
          </a:prstGeom>
          <a:solidFill>
            <a:srgbClr val="F2F2F2"/>
          </a:solidFill>
        </p:spPr>
        <p:txBody>
          <a:bodyPr wrap="square" lIns="45720" tIns="27432" rIns="45720" bIns="27432" anchor="ctr">
            <a:normAutofit/>
          </a:bodyPr>
          <a:lstStyle/>
          <a:p>
            <a:pPr algn="ctr">
              <a:spcBef>
                <a:spcPts val="0"/>
              </a:spcBef>
              <a:spcAft>
                <a:spcPts val="0"/>
              </a:spcAft>
            </a:pPr>
            <a:r>
              <a:rPr sz="2200" b="1">
                <a:solidFill>
                  <a:srgbClr val="262626"/>
                </a:solidFill>
                <a:latin typeface="Meiryo"/>
                <a:ea typeface="Meiryo"/>
                <a:cs typeface="Meiryo"/>
              </a:rPr>
              <a:t>末梢トーヌス</a:t>
            </a:r>
          </a:p>
        </p:txBody>
      </p:sp>
      <p:sp>
        <p:nvSpPr>
          <p:cNvPr id="520" name="m2"/>
          <p:cNvSpPr txBox="1"/>
          <p:nvPr/>
        </p:nvSpPr>
        <p:spPr>
          <a:xfrm>
            <a:off x="4404814" y="3954600"/>
            <a:ext cx="3297813" cy="521640"/>
          </a:xfrm>
          <a:prstGeom prst="rect">
            <a:avLst/>
          </a:prstGeom>
          <a:noFill/>
        </p:spPr>
        <p:txBody>
          <a:bodyPr wrap="square" lIns="0" tIns="0" rIns="0" bIns="0" anchor="ctr">
            <a:normAutofit/>
          </a:bodyPr>
          <a:lstStyle/>
          <a:p>
            <a:pPr algn="l">
              <a:spcBef>
                <a:spcPts val="0"/>
              </a:spcBef>
              <a:spcAft>
                <a:spcPts val="0"/>
              </a:spcAft>
            </a:pPr>
            <a:r>
              <a:rPr sz="2200" b="1">
                <a:solidFill>
                  <a:srgbClr val="262626"/>
                </a:solidFill>
                <a:latin typeface="Meiryo"/>
                <a:ea typeface="Meiryo"/>
                <a:cs typeface="Meiryo"/>
              </a:rPr>
              <a:t>反射波・切痕が上下</a:t>
            </a:r>
          </a:p>
        </p:txBody>
      </p:sp>
      <p:sp>
        <p:nvSpPr>
          <p:cNvPr id="521" name="g2"/>
          <p:cNvSpPr/>
          <p:nvPr/>
        </p:nvSpPr>
        <p:spPr>
          <a:xfrm>
            <a:off x="8028864" y="3954600"/>
            <a:ext cx="2113983" cy="521640"/>
          </a:xfrm>
          <a:prstGeom prst="roundRect">
            <a:avLst>
              <a:gd name="adj" fmla="val 40000"/>
            </a:avLst>
          </a:prstGeom>
          <a:solidFill>
            <a:srgbClr val="70AD47"/>
          </a:solidFill>
        </p:spPr>
        <p:txBody>
          <a:bodyPr wrap="square" lIns="45720" tIns="27432" rIns="45720" bIns="27432" anchor="ctr">
            <a:normAutofit/>
          </a:bodyPr>
          <a:lstStyle/>
          <a:p>
            <a:pPr algn="ctr">
              <a:spcBef>
                <a:spcPts val="0"/>
              </a:spcBef>
              <a:spcAft>
                <a:spcPts val="0"/>
              </a:spcAft>
            </a:pPr>
            <a:r>
              <a:rPr sz="2200" b="1">
                <a:solidFill>
                  <a:srgbClr val="FFFFFF"/>
                </a:solidFill>
                <a:latin typeface="Meiryo"/>
                <a:ea typeface="Meiryo"/>
                <a:cs typeface="Meiryo"/>
              </a:rPr>
              <a:t>実測</a:t>
            </a:r>
          </a:p>
        </p:txBody>
      </p:sp>
      <p:sp>
        <p:nvSpPr>
          <p:cNvPr id="522" name="f3"/>
          <p:cNvSpPr/>
          <p:nvPr/>
        </p:nvSpPr>
        <p:spPr>
          <a:xfrm>
            <a:off x="1339352" y="4680360"/>
            <a:ext cx="2367660" cy="521640"/>
          </a:xfrm>
          <a:prstGeom prst="roundRect">
            <a:avLst>
              <a:gd name="adj" fmla="val 40000"/>
            </a:avLst>
          </a:prstGeom>
          <a:solidFill>
            <a:srgbClr val="F2F2F2"/>
          </a:solidFill>
        </p:spPr>
        <p:txBody>
          <a:bodyPr wrap="square" lIns="45720" tIns="27432" rIns="45720" bIns="27432" anchor="ctr">
            <a:normAutofit/>
          </a:bodyPr>
          <a:lstStyle/>
          <a:p>
            <a:pPr algn="ctr">
              <a:spcBef>
                <a:spcPts val="0"/>
              </a:spcBef>
              <a:spcAft>
                <a:spcPts val="0"/>
              </a:spcAft>
            </a:pPr>
            <a:r>
              <a:rPr sz="2200" b="1">
                <a:solidFill>
                  <a:srgbClr val="262626"/>
                </a:solidFill>
                <a:latin typeface="Meiryo"/>
                <a:ea typeface="Meiryo"/>
                <a:cs typeface="Meiryo"/>
              </a:rPr>
              <a:t>心収縮力</a:t>
            </a:r>
          </a:p>
        </p:txBody>
      </p:sp>
      <p:sp>
        <p:nvSpPr>
          <p:cNvPr id="523" name="m3"/>
          <p:cNvSpPr txBox="1"/>
          <p:nvPr/>
        </p:nvSpPr>
        <p:spPr>
          <a:xfrm>
            <a:off x="4404814" y="4680360"/>
            <a:ext cx="3297813" cy="521640"/>
          </a:xfrm>
          <a:prstGeom prst="rect">
            <a:avLst/>
          </a:prstGeom>
          <a:noFill/>
        </p:spPr>
        <p:txBody>
          <a:bodyPr wrap="square" lIns="0" tIns="0" rIns="0" bIns="0" anchor="ctr">
            <a:normAutofit/>
          </a:bodyPr>
          <a:lstStyle/>
          <a:p>
            <a:pPr algn="l">
              <a:spcBef>
                <a:spcPts val="0"/>
              </a:spcBef>
              <a:spcAft>
                <a:spcPts val="0"/>
              </a:spcAft>
            </a:pPr>
            <a:r>
              <a:rPr sz="2200" b="1">
                <a:solidFill>
                  <a:srgbClr val="262626"/>
                </a:solidFill>
                <a:latin typeface="Meiryo"/>
                <a:ea typeface="Meiryo"/>
                <a:cs typeface="Meiryo"/>
              </a:rPr>
              <a:t>立ち上がりが鋭く速く</a:t>
            </a:r>
          </a:p>
        </p:txBody>
      </p:sp>
      <p:sp>
        <p:nvSpPr>
          <p:cNvPr id="524" name="g3"/>
          <p:cNvSpPr/>
          <p:nvPr/>
        </p:nvSpPr>
        <p:spPr>
          <a:xfrm>
            <a:off x="8028864" y="4680360"/>
            <a:ext cx="2113983" cy="521640"/>
          </a:xfrm>
          <a:prstGeom prst="roundRect">
            <a:avLst>
              <a:gd name="adj" fmla="val 40000"/>
            </a:avLst>
          </a:prstGeom>
          <a:solidFill>
            <a:srgbClr val="C00000"/>
          </a:solidFill>
        </p:spPr>
        <p:txBody>
          <a:bodyPr wrap="square" lIns="45720" tIns="27432" rIns="45720" bIns="27432" anchor="ctr">
            <a:normAutofit/>
          </a:bodyPr>
          <a:lstStyle/>
          <a:p>
            <a:pPr algn="ctr">
              <a:spcBef>
                <a:spcPts val="0"/>
              </a:spcBef>
              <a:spcAft>
                <a:spcPts val="0"/>
              </a:spcAft>
            </a:pPr>
            <a:r>
              <a:rPr sz="2200" b="1">
                <a:solidFill>
                  <a:srgbClr val="FFFFFF"/>
                </a:solidFill>
                <a:latin typeface="Meiryo"/>
                <a:ea typeface="Meiryo"/>
                <a:cs typeface="Meiryo"/>
              </a:rPr>
              <a:t>外挿</a:t>
            </a:r>
          </a:p>
        </p:txBody>
      </p:sp>
      <p:sp>
        <p:nvSpPr>
          <p:cNvPr id="525" name="f4"/>
          <p:cNvSpPr/>
          <p:nvPr/>
        </p:nvSpPr>
        <p:spPr>
          <a:xfrm>
            <a:off x="1339352" y="5406120"/>
            <a:ext cx="2367660" cy="521640"/>
          </a:xfrm>
          <a:prstGeom prst="roundRect">
            <a:avLst>
              <a:gd name="adj" fmla="val 40000"/>
            </a:avLst>
          </a:prstGeom>
          <a:solidFill>
            <a:srgbClr val="F2F2F2"/>
          </a:solidFill>
        </p:spPr>
        <p:txBody>
          <a:bodyPr wrap="square" lIns="45720" tIns="27432" rIns="45720" bIns="27432" anchor="ctr">
            <a:noAutofit/>
          </a:bodyPr>
          <a:lstStyle/>
          <a:p>
            <a:pPr algn="ctr">
              <a:spcBef>
                <a:spcPts val="0"/>
              </a:spcBef>
              <a:spcAft>
                <a:spcPts val="0"/>
              </a:spcAft>
            </a:pPr>
            <a:r>
              <a:rPr sz="2200" b="1">
                <a:solidFill>
                  <a:srgbClr val="262626"/>
                </a:solidFill>
                <a:latin typeface="Meiryo"/>
                <a:ea typeface="Meiryo"/>
                <a:cs typeface="Meiryo"/>
              </a:rPr>
              <a:t>心拍数</a:t>
            </a:r>
          </a:p>
        </p:txBody>
      </p:sp>
      <p:sp>
        <p:nvSpPr>
          <p:cNvPr id="526" name="m4"/>
          <p:cNvSpPr txBox="1"/>
          <p:nvPr/>
        </p:nvSpPr>
        <p:spPr>
          <a:xfrm>
            <a:off x="4404814" y="5406120"/>
            <a:ext cx="3297813" cy="521640"/>
          </a:xfrm>
          <a:prstGeom prst="rect">
            <a:avLst/>
          </a:prstGeom>
          <a:noFill/>
        </p:spPr>
        <p:txBody>
          <a:bodyPr wrap="square" lIns="0" tIns="0" rIns="0" bIns="0" anchor="ctr">
            <a:normAutofit/>
          </a:bodyPr>
          <a:lstStyle/>
          <a:p>
            <a:pPr algn="l">
              <a:spcBef>
                <a:spcPts val="0"/>
              </a:spcBef>
              <a:spcAft>
                <a:spcPts val="0"/>
              </a:spcAft>
            </a:pPr>
            <a:r>
              <a:rPr sz="2200" b="1">
                <a:solidFill>
                  <a:srgbClr val="262626"/>
                </a:solidFill>
                <a:latin typeface="Meiryo"/>
                <a:ea typeface="Meiryo"/>
                <a:cs typeface="Meiryo"/>
              </a:rPr>
              <a:t>反射波の相対位置</a:t>
            </a:r>
            <a:endParaRPr lang="ja-JP" altLang="en-US" b="1" dirty="0">
              <a:solidFill>
                <a:srgbClr val="262626"/>
              </a:solidFill>
              <a:latin typeface="Meiryo"/>
              <a:ea typeface="Meiryo"/>
              <a:cs typeface="Meiryo"/>
            </a:endParaRPr>
          </a:p>
        </p:txBody>
      </p:sp>
      <p:sp>
        <p:nvSpPr>
          <p:cNvPr id="527" name="g4"/>
          <p:cNvSpPr/>
          <p:nvPr/>
        </p:nvSpPr>
        <p:spPr>
          <a:xfrm>
            <a:off x="8028864" y="5406120"/>
            <a:ext cx="2113983" cy="521640"/>
          </a:xfrm>
          <a:prstGeom prst="roundRect">
            <a:avLst>
              <a:gd name="adj" fmla="val 40000"/>
            </a:avLst>
          </a:prstGeom>
          <a:solidFill>
            <a:srgbClr val="D55E00"/>
          </a:solidFill>
        </p:spPr>
        <p:txBody>
          <a:bodyPr wrap="square" lIns="45720" tIns="27432" rIns="45720" bIns="27432" anchor="ctr">
            <a:normAutofit/>
          </a:bodyPr>
          <a:lstStyle/>
          <a:p>
            <a:pPr algn="ctr">
              <a:spcBef>
                <a:spcPts val="0"/>
              </a:spcBef>
              <a:spcAft>
                <a:spcPts val="0"/>
              </a:spcAft>
            </a:pPr>
            <a:r>
              <a:rPr sz="2200" b="1">
                <a:solidFill>
                  <a:srgbClr val="FFFFFF"/>
                </a:solidFill>
                <a:latin typeface="Meiryo"/>
                <a:ea typeface="Meiryo"/>
                <a:cs typeface="Meiryo"/>
              </a:rPr>
              <a:t>モデル</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a:latin typeface="Meiryo"/>
                <a:ea typeface="Meiryo"/>
                <a:cs typeface="Meiryo"/>
              </a:rPr>
              <a:t>3.7  波形変化まとめ</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17" name="legend"/>
          <p:cNvSpPr txBox="1"/>
          <p:nvPr/>
        </p:nvSpPr>
        <p:spPr>
          <a:xfrm>
            <a:off x="566928" y="1664208"/>
            <a:ext cx="7315200" cy="420624"/>
          </a:xfrm>
          <a:prstGeom prst="rect">
            <a:avLst/>
          </a:prstGeom>
          <a:noFill/>
        </p:spPr>
        <p:txBody>
          <a:bodyPr wrap="square" anchor="ctr" lIns="0" rIns="0" tIns="0" bIns="0">
            <a:spAutoFit/>
          </a:bodyPr>
          <a:lstStyle/>
          <a:p>
            <a:pPr algn="l"/>
            <a:r>
              <a:rPr sz="2200" b="1">
                <a:solidFill>
                  <a:srgbClr val="808080"/>
                </a:solidFill>
                <a:latin typeface="Meiryo"/>
                <a:ea typeface="Meiryo"/>
                <a:cs typeface="Meiryo"/>
              </a:rPr>
              <a:t>灰＝基準波形　／　青＝当該因子が ↑ したとき</a:t>
            </a:r>
          </a:p>
        </p:txBody>
      </p:sp>
      <p:sp>
        <p:nvSpPr>
          <p:cNvPr id="18" name="h_因子"/>
          <p:cNvSpPr txBox="1"/>
          <p:nvPr/>
        </p:nvSpPr>
        <p:spPr>
          <a:xfrm>
            <a:off x="548640" y="2084832"/>
            <a:ext cx="2368296" cy="420624"/>
          </a:xfrm>
          <a:prstGeom prst="rect">
            <a:avLst/>
          </a:prstGeom>
          <a:noFill/>
        </p:spPr>
        <p:txBody>
          <a:bodyPr wrap="square" anchor="ctr" lIns="0" rIns="0" tIns="0" bIns="0">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6" y="2084832"/>
            <a:ext cx="2834640" cy="420624"/>
          </a:xfrm>
          <a:prstGeom prst="rect">
            <a:avLst/>
          </a:prstGeom>
          <a:noFill/>
        </p:spPr>
        <p:txBody>
          <a:bodyPr wrap="square" anchor="ctr" lIns="0" rIns="0" tIns="0" bIns="0">
            <a:spAutoFit/>
          </a:bodyPr>
          <a:lstStyle/>
          <a:p>
            <a:pPr algn="ctr"/>
            <a:r>
              <a:rPr sz="2200" b="1">
                <a:solidFill>
                  <a:srgbClr val="262626"/>
                </a:solidFill>
                <a:latin typeface="Meiryo"/>
                <a:ea typeface="Meiryo"/>
                <a:cs typeface="Meiryo"/>
              </a:rPr>
              <a:t>波形</a:t>
            </a:r>
          </a:p>
        </p:txBody>
      </p:sp>
      <p:sp>
        <p:nvSpPr>
          <p:cNvPr id="20" name="h_変化"/>
          <p:cNvSpPr txBox="1"/>
          <p:nvPr/>
        </p:nvSpPr>
        <p:spPr>
          <a:xfrm>
            <a:off x="6025896" y="2084832"/>
            <a:ext cx="3291840" cy="420624"/>
          </a:xfrm>
          <a:prstGeom prst="rect">
            <a:avLst/>
          </a:prstGeom>
          <a:noFill/>
        </p:spPr>
        <p:txBody>
          <a:bodyPr wrap="square" anchor="ctr" lIns="0" rIns="0" tIns="0" bIns="0">
            <a:spAutoFit/>
          </a:bodyPr>
          <a:lstStyle/>
          <a:p>
            <a:pPr algn="ctr"/>
            <a:r>
              <a:rPr sz="2200" b="1">
                <a:solidFill>
                  <a:srgbClr val="262626"/>
                </a:solidFill>
                <a:latin typeface="Meiryo"/>
                <a:ea typeface="Meiryo"/>
                <a:cs typeface="Meiryo"/>
              </a:rPr>
              <a:t>変化</a:t>
            </a:r>
          </a:p>
        </p:txBody>
      </p:sp>
      <p:sp>
        <p:nvSpPr>
          <p:cNvPr id="21" name="h_文献強度"/>
          <p:cNvSpPr txBox="1"/>
          <p:nvPr/>
        </p:nvSpPr>
        <p:spPr>
          <a:xfrm>
            <a:off x="9454896" y="2084832"/>
            <a:ext cx="2112264" cy="420624"/>
          </a:xfrm>
          <a:prstGeom prst="rect">
            <a:avLst/>
          </a:prstGeom>
          <a:noFill/>
        </p:spPr>
        <p:txBody>
          <a:bodyPr wrap="square" anchor="ctr" lIns="0" rIns="0" tIns="0" bIns="0">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57860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前負荷 ↑</a:t>
            </a:r>
          </a:p>
        </p:txBody>
      </p:sp>
      <p:sp>
        <p:nvSpPr>
          <p:cNvPr id="23" name="wbox0"/>
          <p:cNvSpPr/>
          <p:nvPr/>
        </p:nvSpPr>
        <p:spPr>
          <a:xfrm>
            <a:off x="3054096" y="257860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wbase0"/>
          <p:cNvCxnSpPr/>
          <p:nvPr/>
        </p:nvCxnSpPr>
        <p:spPr>
          <a:xfrm>
            <a:off x="3163824" y="320040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82086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wc0"/>
          <p:cNvSpPr/>
          <p:nvPr/>
        </p:nvSpPr>
        <p:spPr>
          <a:xfrm>
            <a:off x="3163824" y="2708289"/>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0"/>
          <p:cNvSpPr txBox="1"/>
          <p:nvPr/>
        </p:nvSpPr>
        <p:spPr>
          <a:xfrm>
            <a:off x="6025896" y="2578608"/>
            <a:ext cx="3291840" cy="676656"/>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振幅が増大</a:t>
            </a:r>
          </a:p>
        </p:txBody>
      </p:sp>
      <p:sp>
        <p:nvSpPr>
          <p:cNvPr id="26" name="g0"/>
          <p:cNvSpPr/>
          <p:nvPr/>
        </p:nvSpPr>
        <p:spPr>
          <a:xfrm>
            <a:off x="9454896" y="2578608"/>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FFFFFF"/>
                </a:solidFill>
                <a:latin typeface="Meiryo"/>
                <a:ea typeface="Meiryo"/>
                <a:cs typeface="Meiryo"/>
              </a:rPr>
              <a:t>実測</a:t>
            </a:r>
          </a:p>
        </p:txBody>
      </p:sp>
      <p:sp>
        <p:nvSpPr>
          <p:cNvPr id="27" name="f1"/>
          <p:cNvSpPr/>
          <p:nvPr/>
        </p:nvSpPr>
        <p:spPr>
          <a:xfrm>
            <a:off x="548640" y="332841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大血管の硬さ ↑</a:t>
            </a:r>
          </a:p>
        </p:txBody>
      </p:sp>
      <p:sp>
        <p:nvSpPr>
          <p:cNvPr id="28" name="wbox1"/>
          <p:cNvSpPr/>
          <p:nvPr/>
        </p:nvSpPr>
        <p:spPr>
          <a:xfrm>
            <a:off x="3054096" y="332841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wbase1"/>
          <p:cNvCxnSpPr/>
          <p:nvPr/>
        </p:nvCxnSpPr>
        <p:spPr>
          <a:xfrm>
            <a:off x="3163824" y="395020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57067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c1"/>
          <p:cNvSpPr/>
          <p:nvPr/>
        </p:nvSpPr>
        <p:spPr>
          <a:xfrm>
            <a:off x="3163824" y="3503946"/>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1"/>
          <p:cNvSpPr txBox="1"/>
          <p:nvPr/>
        </p:nvSpPr>
        <p:spPr>
          <a:xfrm>
            <a:off x="6025896" y="3328416"/>
            <a:ext cx="3291840" cy="676656"/>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反射波が早く戻る</a:t>
            </a:r>
          </a:p>
        </p:txBody>
      </p:sp>
      <p:sp>
        <p:nvSpPr>
          <p:cNvPr id="31" name="g1"/>
          <p:cNvSpPr/>
          <p:nvPr/>
        </p:nvSpPr>
        <p:spPr>
          <a:xfrm>
            <a:off x="9454896" y="3328416"/>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FFFFFF"/>
                </a:solidFill>
                <a:latin typeface="Meiryo"/>
                <a:ea typeface="Meiryo"/>
                <a:cs typeface="Meiryo"/>
              </a:rPr>
              <a:t>実測+モデル</a:t>
            </a:r>
          </a:p>
        </p:txBody>
      </p:sp>
      <p:sp>
        <p:nvSpPr>
          <p:cNvPr id="32" name="f2"/>
          <p:cNvSpPr/>
          <p:nvPr/>
        </p:nvSpPr>
        <p:spPr>
          <a:xfrm>
            <a:off x="548640" y="407822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末梢トーヌス ↑</a:t>
            </a:r>
          </a:p>
        </p:txBody>
      </p:sp>
      <p:sp>
        <p:nvSpPr>
          <p:cNvPr id="33" name="wbox2"/>
          <p:cNvSpPr/>
          <p:nvPr/>
        </p:nvSpPr>
        <p:spPr>
          <a:xfrm>
            <a:off x="3054096" y="407822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wbase2"/>
          <p:cNvCxnSpPr/>
          <p:nvPr/>
        </p:nvCxnSpPr>
        <p:spPr>
          <a:xfrm>
            <a:off x="3163824" y="470001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32048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c2"/>
          <p:cNvSpPr/>
          <p:nvPr/>
        </p:nvSpPr>
        <p:spPr>
          <a:xfrm>
            <a:off x="3163824" y="4319882"/>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2"/>
          <p:cNvSpPr txBox="1"/>
          <p:nvPr/>
        </p:nvSpPr>
        <p:spPr>
          <a:xfrm>
            <a:off x="6025896" y="4078224"/>
            <a:ext cx="3291840" cy="676656"/>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反射波・切痕が増高</a:t>
            </a:r>
          </a:p>
        </p:txBody>
      </p:sp>
      <p:sp>
        <p:nvSpPr>
          <p:cNvPr id="36" name="g2"/>
          <p:cNvSpPr/>
          <p:nvPr/>
        </p:nvSpPr>
        <p:spPr>
          <a:xfrm>
            <a:off x="9454896" y="407822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FFFFFF"/>
                </a:solidFill>
                <a:latin typeface="Meiryo"/>
                <a:ea typeface="Meiryo"/>
                <a:cs typeface="Meiryo"/>
              </a:rPr>
              <a:t>実測</a:t>
            </a:r>
          </a:p>
        </p:txBody>
      </p:sp>
      <p:sp>
        <p:nvSpPr>
          <p:cNvPr id="37" name="f3"/>
          <p:cNvSpPr/>
          <p:nvPr/>
        </p:nvSpPr>
        <p:spPr>
          <a:xfrm>
            <a:off x="548640" y="482803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心収縮力 ↑</a:t>
            </a:r>
          </a:p>
        </p:txBody>
      </p:sp>
      <p:sp>
        <p:nvSpPr>
          <p:cNvPr id="38" name="wbox3"/>
          <p:cNvSpPr/>
          <p:nvPr/>
        </p:nvSpPr>
        <p:spPr>
          <a:xfrm>
            <a:off x="3054096" y="482803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wbase3"/>
          <p:cNvCxnSpPr/>
          <p:nvPr/>
        </p:nvCxnSpPr>
        <p:spPr>
          <a:xfrm>
            <a:off x="3163824" y="544982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507028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wc3"/>
          <p:cNvSpPr/>
          <p:nvPr/>
        </p:nvSpPr>
        <p:spPr>
          <a:xfrm>
            <a:off x="3163824" y="5014048"/>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m3"/>
          <p:cNvSpPr txBox="1"/>
          <p:nvPr/>
        </p:nvSpPr>
        <p:spPr>
          <a:xfrm>
            <a:off x="6025896" y="4828032"/>
            <a:ext cx="3291840" cy="676656"/>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立ち上がりが鋭く速く</a:t>
            </a:r>
          </a:p>
        </p:txBody>
      </p:sp>
      <p:sp>
        <p:nvSpPr>
          <p:cNvPr id="42" name="g3"/>
          <p:cNvSpPr/>
          <p:nvPr/>
        </p:nvSpPr>
        <p:spPr>
          <a:xfrm>
            <a:off x="9454896" y="4828032"/>
            <a:ext cx="2112264" cy="676656"/>
          </a:xfrm>
          <a:prstGeom prst="roundRect">
            <a:avLst>
              <a:gd name="adj" fmla="val 4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FFFFFF"/>
                </a:solidFill>
                <a:latin typeface="Meiryo"/>
                <a:ea typeface="Meiryo"/>
                <a:cs typeface="Meiryo"/>
              </a:rPr>
              <a:t>外挿</a:t>
            </a:r>
          </a:p>
        </p:txBody>
      </p:sp>
      <p:sp>
        <p:nvSpPr>
          <p:cNvPr id="43" name="f4"/>
          <p:cNvSpPr/>
          <p:nvPr/>
        </p:nvSpPr>
        <p:spPr>
          <a:xfrm>
            <a:off x="548640" y="557784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心拍数 ↑</a:t>
            </a:r>
          </a:p>
        </p:txBody>
      </p:sp>
      <p:sp>
        <p:nvSpPr>
          <p:cNvPr id="44" name="wbox4"/>
          <p:cNvSpPr/>
          <p:nvPr/>
        </p:nvSpPr>
        <p:spPr>
          <a:xfrm>
            <a:off x="3054096" y="557784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wbase4"/>
          <p:cNvCxnSpPr/>
          <p:nvPr/>
        </p:nvCxnSpPr>
        <p:spPr>
          <a:xfrm>
            <a:off x="3163824" y="619963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82009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wc4"/>
          <p:cNvSpPr/>
          <p:nvPr/>
        </p:nvSpPr>
        <p:spPr>
          <a:xfrm>
            <a:off x="3163824" y="5821026"/>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m4"/>
          <p:cNvSpPr txBox="1"/>
          <p:nvPr/>
        </p:nvSpPr>
        <p:spPr>
          <a:xfrm>
            <a:off x="6025896" y="5577840"/>
            <a:ext cx="3291840" cy="676656"/>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周期短縮・反射波↓</a:t>
            </a:r>
          </a:p>
        </p:txBody>
      </p:sp>
      <p:sp>
        <p:nvSpPr>
          <p:cNvPr id="49" name="g4"/>
          <p:cNvSpPr/>
          <p:nvPr/>
        </p:nvSpPr>
        <p:spPr>
          <a:xfrm>
            <a:off x="9454896" y="5577840"/>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440000" cy="216000"/>
          </a:xfrm>
          <a:prstGeom prst="rect">
            <a:avLst/>
          </a:prstGeom>
          <a:noFill/>
        </p:spPr>
        <p:txBody>
          <a:bodyPr wrap="none" anchor="t" lIns="0" rIns="0" tIns="0" bIns="0">
            <a:spAutoFit/>
          </a:bodyPr>
          <a:lstStyle/>
          <a:p>
            <a:pPr algn="l"/>
            <a:r>
              <a:rPr sz="1050" b="0">
                <a:solidFill>
                  <a:srgbClr val="808080"/>
                </a:solidFill>
                <a:latin typeface="Meiryo"/>
                <a:ea typeface="Meiryo"/>
                <a:cs typeface="Meiryo"/>
              </a:rPr>
              <a:t>8. Alian 2011　／　4. Millasseau 2002　／　15. Chowienczyk 1999　／　10. Pagoulatou 2021　／　23. Charlton 2019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4. 麻酔中の波形変化</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864000" y="1494000"/>
            <a:ext cx="10584000" cy="5004000"/>
          </a:xfrm>
          <a:prstGeom prst="rect">
            <a:avLst/>
          </a:prstGeom>
          <a:noFill/>
        </p:spPr>
        <p:txBody>
          <a:bodyPr wrap="none" lIns="0" tIns="0" rIns="0" bIns="0" anchor="ctr">
            <a:spAutoFit/>
          </a:bodyPr>
          <a:lstStyle/>
          <a:p>
            <a:pPr marL="0" indent="0" algn="l" latinLnBrk="0">
              <a:lnSpc>
                <a:spcPts val="3685"/>
              </a:lnSpc>
              <a:spcBef>
                <a:spcPts val="0"/>
              </a:spcBef>
              <a:spcAft>
                <a:spcPts val="0"/>
              </a:spcAft>
            </a:pPr>
            <a:r>
              <a:rPr sz="2400" b="1" dirty="0">
                <a:solidFill>
                  <a:srgbClr val="D9D9D9"/>
                </a:solidFill>
                <a:latin typeface="Meiryo"/>
                <a:ea typeface="Meiryo"/>
                <a:cs typeface="Meiryo"/>
              </a:rPr>
              <a:t>1. </a:t>
            </a:r>
            <a:r>
              <a:rPr sz="2400" b="0" dirty="0" err="1">
                <a:solidFill>
                  <a:srgbClr val="D9D9D9"/>
                </a:solidFill>
                <a:latin typeface="Meiryo"/>
                <a:ea typeface="Meiryo"/>
                <a:cs typeface="Meiryo"/>
              </a:rPr>
              <a:t>PPGの基礎</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2. </a:t>
            </a:r>
            <a:r>
              <a:rPr sz="2400" b="0" dirty="0" err="1">
                <a:solidFill>
                  <a:srgbClr val="D9D9D9"/>
                </a:solidFill>
                <a:latin typeface="Meiryo"/>
                <a:ea typeface="Meiryo"/>
                <a:cs typeface="Meiryo"/>
              </a:rPr>
              <a:t>波形への影響：加齢</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3. </a:t>
            </a:r>
            <a:r>
              <a:rPr sz="2400" b="0" dirty="0" err="1">
                <a:solidFill>
                  <a:srgbClr val="D9D9D9"/>
                </a:solidFill>
                <a:latin typeface="Meiryo"/>
                <a:ea typeface="Meiryo"/>
                <a:cs typeface="Meiryo"/>
              </a:rPr>
              <a:t>波形への影響：循環</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BF9000"/>
                </a:solidFill>
                <a:latin typeface="Meiryo"/>
                <a:ea typeface="Meiryo"/>
                <a:cs typeface="Meiryo"/>
              </a:rPr>
              <a:t>4. </a:t>
            </a:r>
            <a:r>
              <a:rPr sz="2400" b="1" dirty="0" err="1">
                <a:solidFill>
                  <a:srgbClr val="262626"/>
                </a:solidFill>
                <a:latin typeface="Meiryo"/>
                <a:ea typeface="Meiryo"/>
                <a:cs typeface="Meiryo"/>
              </a:rPr>
              <a:t>麻酔中の波形変化</a:t>
            </a:r>
            <a:endParaRPr sz="24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4.1　</a:t>
            </a:r>
            <a:r>
              <a:rPr sz="2200" b="1" dirty="0" err="1">
                <a:solidFill>
                  <a:srgbClr val="262626"/>
                </a:solidFill>
                <a:latin typeface="Meiryo"/>
                <a:ea typeface="Meiryo"/>
                <a:cs typeface="Meiryo"/>
              </a:rPr>
              <a:t>トーヌスと切痕</a:t>
            </a:r>
            <a:endParaRPr sz="22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4.2　</a:t>
            </a:r>
            <a:r>
              <a:rPr sz="2200" b="1" dirty="0">
                <a:solidFill>
                  <a:srgbClr val="262626"/>
                </a:solidFill>
                <a:latin typeface="Meiryo"/>
                <a:ea typeface="Meiryo"/>
                <a:cs typeface="Meiryo"/>
              </a:rPr>
              <a:t>波形の6分類</a:t>
            </a:r>
          </a:p>
          <a:p>
            <a:pPr algn="l">
              <a:lnSpc>
                <a:spcPts val="3685"/>
              </a:lnSpc>
              <a:spcBef>
                <a:spcPts val="0"/>
              </a:spcBef>
              <a:spcAft>
                <a:spcPts val="0"/>
              </a:spcAft>
            </a:pPr>
            <a:r>
              <a:rPr sz="2200" b="1" dirty="0">
                <a:solidFill>
                  <a:srgbClr val="BF9000"/>
                </a:solidFill>
                <a:latin typeface="Meiryo"/>
                <a:ea typeface="Meiryo"/>
                <a:cs typeface="Meiryo"/>
              </a:rPr>
              <a:t>　4.3　</a:t>
            </a:r>
            <a:r>
              <a:rPr sz="2200" b="1" dirty="0">
                <a:solidFill>
                  <a:srgbClr val="262626"/>
                </a:solidFill>
                <a:latin typeface="Meiryo"/>
                <a:ea typeface="Meiryo"/>
                <a:cs typeface="Meiryo"/>
              </a:rPr>
              <a:t>導入時の低血圧</a:t>
            </a:r>
          </a:p>
          <a:p>
            <a:pPr algn="l">
              <a:lnSpc>
                <a:spcPts val="3685"/>
              </a:lnSpc>
              <a:spcBef>
                <a:spcPts val="0"/>
              </a:spcBef>
              <a:spcAft>
                <a:spcPts val="0"/>
              </a:spcAft>
            </a:pPr>
            <a:r>
              <a:rPr sz="2400" b="1" dirty="0">
                <a:solidFill>
                  <a:srgbClr val="D9D9D9"/>
                </a:solidFill>
                <a:latin typeface="Meiryo"/>
                <a:ea typeface="Meiryo"/>
                <a:cs typeface="Meiryo"/>
              </a:rPr>
              <a:t>5. </a:t>
            </a:r>
            <a:r>
              <a:rPr sz="2400" b="0" dirty="0" err="1">
                <a:solidFill>
                  <a:srgbClr val="D9D9D9"/>
                </a:solidFill>
                <a:latin typeface="Meiryo"/>
                <a:ea typeface="Meiryo"/>
                <a:cs typeface="Meiryo"/>
              </a:rPr>
              <a:t>波形の定量化</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6. </a:t>
            </a:r>
            <a:r>
              <a:rPr sz="2400" b="0" dirty="0" err="1">
                <a:solidFill>
                  <a:srgbClr val="D9D9D9"/>
                </a:solidFill>
                <a:latin typeface="Meiryo"/>
                <a:ea typeface="Meiryo"/>
                <a:cs typeface="Meiryo"/>
              </a:rPr>
              <a:t>解析まとめ</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7. </a:t>
            </a:r>
            <a:r>
              <a:rPr sz="2400" b="0" dirty="0" err="1">
                <a:solidFill>
                  <a:srgbClr val="D9D9D9"/>
                </a:solidFill>
                <a:latin typeface="Meiryo"/>
                <a:ea typeface="Meiryo"/>
                <a:cs typeface="Meiryo"/>
              </a:rPr>
              <a:t>限界</a:t>
            </a:r>
            <a:endParaRPr sz="2400" b="0" dirty="0">
              <a:solidFill>
                <a:srgbClr val="D9D9D9"/>
              </a:solidFill>
              <a:latin typeface="Meiryo"/>
              <a:ea typeface="Meiryo"/>
              <a:cs typeface="Meiryo"/>
            </a:endParaRPr>
          </a:p>
        </p:txBody>
      </p:sp>
      <p:sp>
        <p:nvSpPr>
          <p:cNvPr id="9" name="TextBox 8"/>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23/36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4.1  </a:t>
            </a:r>
            <a:r>
              <a:rPr lang="ja-JP" altLang="en-US" sz="4600">
                <a:latin typeface="Meiryo"/>
                <a:ea typeface="Meiryo"/>
                <a:cs typeface="Meiryo"/>
              </a:rPr>
              <a:t>切痕位置とトーヌス</a:t>
            </a:r>
            <a:endParaRPr sz="4600" dirty="0">
              <a:latin typeface="Meiryo"/>
              <a:ea typeface="Meiryo"/>
              <a:cs typeface="Meiryo"/>
            </a:endParaRPr>
          </a:p>
        </p:txBody>
      </p:sp>
      <p:sp>
        <p:nvSpPr>
          <p:cNvPr id="12"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4"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5"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麻酔</a:t>
            </a:r>
          </a:p>
        </p:txBody>
      </p:sp>
      <p:sp>
        <p:nvSpPr>
          <p:cNvPr id="16"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7"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8"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17. Murray 1996</a:t>
            </a:r>
          </a:p>
        </p:txBody>
      </p:sp>
      <p:pic>
        <p:nvPicPr>
          <p:cNvPr id="9" name="Picture 8" descr="13_murray.png"/>
          <p:cNvPicPr>
            <a:picLocks noChangeAspect="1"/>
          </p:cNvPicPr>
          <p:nvPr/>
        </p:nvPicPr>
        <p:blipFill>
          <a:blip r:embed="rId4"/>
          <a:stretch>
            <a:fillRect/>
          </a:stretch>
        </p:blipFill>
        <p:spPr>
          <a:xfrm>
            <a:off x="1555975" y="1185660"/>
            <a:ext cx="9384005" cy="5052926"/>
          </a:xfrm>
          <a:prstGeom prst="rect">
            <a:avLst/>
          </a:prstGeom>
        </p:spPr>
      </p:pic>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24/36</a:t>
            </a:r>
          </a:p>
        </p:txBody>
      </p:sp>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Tree>
    <p:extLst>
      <p:ext uri="{BB962C8B-B14F-4D97-AF65-F5344CB8AC3E}">
        <p14:creationId xmlns:p14="http://schemas.microsoft.com/office/powerpoint/2010/main" val="786175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a:latin typeface="Meiryo"/>
                <a:ea typeface="Meiryo"/>
                <a:cs typeface="Meiryo"/>
              </a:rPr>
              <a:t>4.2  波形の6分類</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CE6BF085-9BAA-B6EE-A7ED-2FA0468960E3}"/>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F579A1C1-1B5D-2DBC-1846-9FAC048FD9DE}"/>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49A4D507-BB9B-3AF5-BCF2-47C5A02DF53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55C2685D-08EF-D887-88C4-558BE54B19EF}"/>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麻酔</a:t>
            </a:r>
          </a:p>
        </p:txBody>
      </p:sp>
      <p:sp>
        <p:nvSpPr>
          <p:cNvPr id="15" name="Off-page Connector 6">
            <a:extLst>
              <a:ext uri="{FF2B5EF4-FFF2-40B4-BE49-F238E27FC236}">
                <a16:creationId xmlns:a16="http://schemas.microsoft.com/office/drawing/2014/main" id="{9BC46FA6-A2A0-6D46-F748-A5C12DA8AA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FFB54AC-B2B2-2999-329E-1B3A1DA6E28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669F7C6E-EF6A-F551-5CC0-25FD3ECC55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208F9790-CACD-BA6F-7F6D-EA7642119362}"/>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14. Tusman 2019</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4"/>
          <a:stretch>
            <a:fillRect/>
          </a:stretch>
        </p:blipFill>
        <p:spPr>
          <a:xfrm>
            <a:off x="720986" y="1800000"/>
            <a:ext cx="10726027" cy="4320000"/>
          </a:xfrm>
          <a:prstGeom prst="rect">
            <a:avLst/>
          </a:prstGeom>
        </p:spPr>
      </p:pic>
      <p:sp>
        <p:nvSpPr>
          <p:cNvPr id="10" name="TextBox 9">
            <a:extLst>
              <a:ext uri="{FF2B5EF4-FFF2-40B4-BE49-F238E27FC236}">
                <a16:creationId xmlns:a16="http://schemas.microsoft.com/office/drawing/2014/main" id="{97C36E52-B252-B7B4-14C1-3D2C6BDE7C1E}"/>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25/36</a:t>
            </a:r>
          </a:p>
        </p:txBody>
      </p:sp>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3559395" y="5721421"/>
            <a:ext cx="5593198" cy="830997"/>
          </a:xfrm>
          <a:prstGeom prst="rect">
            <a:avLst/>
          </a:prstGeom>
          <a:noFill/>
        </p:spPr>
        <p:txBody>
          <a:bodyPr wrap="none" rtlCol="0">
            <a:spAutoFit/>
          </a:bodyPr>
          <a:lstStyle/>
          <a:p>
            <a:r>
              <a:rPr lang="ja-JP" altLang="en-US" sz="2400" b="1">
                <a:latin typeface="Meiryo"/>
                <a:ea typeface="Meiryo"/>
                <a:cs typeface="Meiryo"/>
              </a:rPr>
              <a:t>切痕位置</a:t>
            </a:r>
            <a:r>
              <a:rPr lang="en-US" altLang="ja-JP" sz="2400" b="1" dirty="0">
                <a:latin typeface="Meiryo"/>
                <a:ea typeface="Meiryo"/>
                <a:cs typeface="Meiryo"/>
              </a:rPr>
              <a:t>× </a:t>
            </a:r>
            <a:r>
              <a:rPr lang="ja-JP" altLang="en-US" sz="2400" b="1">
                <a:latin typeface="Meiryo"/>
                <a:ea typeface="Meiryo"/>
                <a:cs typeface="Meiryo"/>
              </a:rPr>
              <a:t>振幅 で分類　</a:t>
            </a:r>
            <a:endParaRPr lang="en-US" altLang="ja-JP" sz="2400" b="1" dirty="0">
              <a:latin typeface="Meiryo"/>
              <a:ea typeface="Meiryo"/>
              <a:cs typeface="Meiryo"/>
            </a:endParaRPr>
          </a:p>
          <a:p>
            <a:r>
              <a:rPr lang="en" altLang="ja-JP" sz="2400" b="1" dirty="0">
                <a:latin typeface="Meiryo"/>
                <a:ea typeface="Meiryo"/>
                <a:cs typeface="Meiryo"/>
              </a:rPr>
              <a:t>SBP</a:t>
            </a:r>
            <a:r>
              <a:rPr lang="ja-JP" altLang="en" sz="2400" b="1">
                <a:latin typeface="Meiryo"/>
                <a:ea typeface="Meiryo"/>
                <a:cs typeface="Meiryo"/>
              </a:rPr>
              <a:t>・</a:t>
            </a:r>
            <a:r>
              <a:rPr lang="en" altLang="ja-JP" sz="2400" b="1" dirty="0">
                <a:latin typeface="Meiryo"/>
                <a:ea typeface="Meiryo"/>
                <a:cs typeface="Meiryo"/>
              </a:rPr>
              <a:t>SVR</a:t>
            </a:r>
            <a:r>
              <a:rPr lang="ja-JP" altLang="en" sz="2400" b="1">
                <a:latin typeface="Meiryo"/>
                <a:ea typeface="Meiryo"/>
                <a:cs typeface="Meiryo"/>
              </a:rPr>
              <a:t>・</a:t>
            </a:r>
            <a:r>
              <a:rPr lang="ja-JP" altLang="en-US" sz="2400" b="1">
                <a:latin typeface="Meiryo"/>
                <a:ea typeface="Meiryo"/>
                <a:cs typeface="Meiryo"/>
              </a:rPr>
              <a:t>コンプライアンスと相関 </a:t>
            </a:r>
            <a:endParaRPr kumimoji="1" lang="ja-JP" altLang="en-US" sz="2400" b="1"/>
          </a:p>
        </p:txBody>
      </p:sp>
    </p:spTree>
    <p:extLst>
      <p:ext uri="{BB962C8B-B14F-4D97-AF65-F5344CB8AC3E}">
        <p14:creationId xmlns:p14="http://schemas.microsoft.com/office/powerpoint/2010/main" val="18334007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a:latin typeface="Meiryo"/>
                <a:ea typeface="Meiryo"/>
                <a:cs typeface="Meiryo"/>
              </a:rPr>
              <a:t>4.2  波形の6分類</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D7C8F366-BB89-2BF5-B6A5-59A632DA8A42}"/>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F9192BA6-97DB-92F6-05BB-9629E5D4F151}"/>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934E9F3E-5064-B3E8-CB0F-6905C4297CE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523BEF27-76BB-81FA-1A7D-8F14768898A9}"/>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麻酔</a:t>
            </a:r>
          </a:p>
        </p:txBody>
      </p:sp>
      <p:sp>
        <p:nvSpPr>
          <p:cNvPr id="15" name="Off-page Connector 6">
            <a:extLst>
              <a:ext uri="{FF2B5EF4-FFF2-40B4-BE49-F238E27FC236}">
                <a16:creationId xmlns:a16="http://schemas.microsoft.com/office/drawing/2014/main" id="{D723B94C-9217-9F4A-91DE-BF5AFA255F1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9EC3082-930D-D3C0-51FF-267D58BF216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4583A65C-CA72-2CB4-70BD-1B35910DF08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21CFCE87-B60F-4CED-81BD-702CAD268C55}"/>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14. Tusman 2019</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4"/>
          <a:stretch>
            <a:fillRect/>
          </a:stretch>
        </p:blipFill>
        <p:spPr>
          <a:xfrm>
            <a:off x="720986" y="1800000"/>
            <a:ext cx="10726027" cy="4320000"/>
          </a:xfrm>
          <a:prstGeom prst="rect">
            <a:avLst/>
          </a:prstGeom>
        </p:spPr>
      </p:pic>
      <p:sp>
        <p:nvSpPr>
          <p:cNvPr id="10" name="TextBox 9">
            <a:extLst>
              <a:ext uri="{FF2B5EF4-FFF2-40B4-BE49-F238E27FC236}">
                <a16:creationId xmlns:a16="http://schemas.microsoft.com/office/drawing/2014/main" id="{B7E1D840-D518-1DF8-3B05-533B9808B816}"/>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26/36</a:t>
            </a:r>
          </a:p>
        </p:txBody>
      </p:sp>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5"/>
          <a:stretch>
            <a:fillRect/>
          </a:stretch>
        </p:blipFill>
        <p:spPr>
          <a:xfrm>
            <a:off x="744987" y="1690688"/>
            <a:ext cx="11115624" cy="4050414"/>
          </a:xfrm>
          <a:prstGeom prst="rect">
            <a:avLst/>
          </a:prstGeom>
        </p:spPr>
      </p:pic>
    </p:spTree>
    <p:extLst>
      <p:ext uri="{BB962C8B-B14F-4D97-AF65-F5344CB8AC3E}">
        <p14:creationId xmlns:p14="http://schemas.microsoft.com/office/powerpoint/2010/main" val="668389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4.2  6分類と血行動態</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17" name="grp0"/>
          <p:cNvSpPr/>
          <p:nvPr/>
        </p:nvSpPr>
        <p:spPr>
          <a:xfrm>
            <a:off x="548640" y="1737360"/>
            <a:ext cx="3429000" cy="1389888"/>
          </a:xfrm>
          <a:prstGeom prst="roundRect">
            <a:avLst>
              <a:gd name="adj" fmla="val 14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600" b="1">
                <a:solidFill>
                  <a:srgbClr val="FFFFFF"/>
                </a:solidFill>
                <a:latin typeface="Meiryo"/>
                <a:ea typeface="Meiryo"/>
                <a:cs typeface="Meiryo"/>
              </a:rPr>
              <a:t>Class I・II</a:t>
            </a:r>
          </a:p>
          <a:p>
            <a:pPr algn="ctr"/>
            <a:r>
              <a:rPr sz="2200" b="1">
                <a:solidFill>
                  <a:srgbClr val="FFFFFF"/>
                </a:solidFill>
                <a:latin typeface="Meiryo"/>
                <a:ea typeface="Meiryo"/>
                <a:cs typeface="Meiryo"/>
              </a:rPr>
              <a:t>血管収縮</a:t>
            </a:r>
          </a:p>
          <a:p>
            <a:pPr algn="ctr"/>
            <a:r>
              <a:rPr sz="2200" b="1">
                <a:solidFill>
                  <a:srgbClr val="FFFFFF"/>
                </a:solidFill>
                <a:latin typeface="Meiryo"/>
                <a:ea typeface="Meiryo"/>
                <a:cs typeface="Meiryo"/>
              </a:rPr>
              <a:t>SAP・SVR 高</a:t>
            </a:r>
          </a:p>
        </p:txBody>
      </p:sp>
      <p:sp>
        <p:nvSpPr>
          <p:cNvPr id="18" name="grp1"/>
          <p:cNvSpPr/>
          <p:nvPr/>
        </p:nvSpPr>
        <p:spPr>
          <a:xfrm>
            <a:off x="4361688" y="1737360"/>
            <a:ext cx="3429000" cy="1389888"/>
          </a:xfrm>
          <a:prstGeom prst="roundRect">
            <a:avLst>
              <a:gd name="adj" fmla="val 14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600" b="1">
                <a:solidFill>
                  <a:srgbClr val="FFFFFF"/>
                </a:solidFill>
                <a:latin typeface="Meiryo"/>
                <a:ea typeface="Meiryo"/>
                <a:cs typeface="Meiryo"/>
              </a:rPr>
              <a:t>Class III</a:t>
            </a:r>
          </a:p>
          <a:p>
            <a:pPr algn="ctr"/>
            <a:r>
              <a:rPr sz="2200" b="1">
                <a:solidFill>
                  <a:srgbClr val="FFFFFF"/>
                </a:solidFill>
                <a:latin typeface="Meiryo"/>
                <a:ea typeface="Meiryo"/>
                <a:cs typeface="Meiryo"/>
              </a:rPr>
              <a:t>正常トーヌス</a:t>
            </a:r>
          </a:p>
          <a:p>
            <a:pPr algn="ctr"/>
            <a:r>
              <a:rPr sz="2200" b="1">
                <a:solidFill>
                  <a:srgbClr val="FFFFFF"/>
                </a:solidFill>
                <a:latin typeface="Meiryo"/>
                <a:ea typeface="Meiryo"/>
                <a:cs typeface="Meiryo"/>
              </a:rPr>
              <a:t>SAP・SVR 基準</a:t>
            </a:r>
          </a:p>
        </p:txBody>
      </p:sp>
      <p:sp>
        <p:nvSpPr>
          <p:cNvPr id="19" name="grp2"/>
          <p:cNvSpPr/>
          <p:nvPr/>
        </p:nvSpPr>
        <p:spPr>
          <a:xfrm>
            <a:off x="8174736" y="1737360"/>
            <a:ext cx="3429000" cy="1389888"/>
          </a:xfrm>
          <a:prstGeom prst="roundRect">
            <a:avLst>
              <a:gd name="adj" fmla="val 14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600" b="1">
                <a:solidFill>
                  <a:srgbClr val="FFFFFF"/>
                </a:solidFill>
                <a:latin typeface="Meiryo"/>
                <a:ea typeface="Meiryo"/>
                <a:cs typeface="Meiryo"/>
              </a:rPr>
              <a:t>Class IV〜VI</a:t>
            </a:r>
          </a:p>
          <a:p>
            <a:pPr algn="ctr"/>
            <a:r>
              <a:rPr sz="2200" b="1">
                <a:solidFill>
                  <a:srgbClr val="FFFFFF"/>
                </a:solidFill>
                <a:latin typeface="Meiryo"/>
                <a:ea typeface="Meiryo"/>
                <a:cs typeface="Meiryo"/>
              </a:rPr>
              <a:t>血管拡張</a:t>
            </a:r>
          </a:p>
          <a:p>
            <a:pPr algn="ctr"/>
            <a:r>
              <a:rPr sz="2200" b="1">
                <a:solidFill>
                  <a:srgbClr val="FFFFFF"/>
                </a:solidFill>
                <a:latin typeface="Meiryo"/>
                <a:ea typeface="Meiryo"/>
                <a:cs typeface="Meiryo"/>
              </a:rPr>
              <a:t>SAP・SVR 低</a:t>
            </a:r>
          </a:p>
        </p:txBody>
      </p:sp>
      <p:sp>
        <p:nvSpPr>
          <p:cNvPr id="20" name="cor0"/>
          <p:cNvSpPr/>
          <p:nvPr/>
        </p:nvSpPr>
        <p:spPr>
          <a:xfrm>
            <a:off x="548640" y="3346704"/>
            <a:ext cx="3429000" cy="133502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200" b="1">
                <a:solidFill>
                  <a:srgbClr val="262626"/>
                </a:solidFill>
                <a:latin typeface="Meiryo"/>
                <a:ea typeface="Meiryo"/>
                <a:cs typeface="Meiryo"/>
              </a:rPr>
              <a:t>r = −0.90</a:t>
            </a:r>
          </a:p>
          <a:p>
            <a:pPr algn="ctr"/>
            <a:r>
              <a:rPr sz="2200" b="1">
                <a:solidFill>
                  <a:srgbClr val="262626"/>
                </a:solidFill>
                <a:latin typeface="Meiryo"/>
                <a:ea typeface="Meiryo"/>
                <a:cs typeface="Meiryo"/>
              </a:rPr>
              <a:t>収縮期血圧 SAP</a:t>
            </a:r>
          </a:p>
        </p:txBody>
      </p:sp>
      <p:sp>
        <p:nvSpPr>
          <p:cNvPr id="21" name="cor1"/>
          <p:cNvSpPr/>
          <p:nvPr/>
        </p:nvSpPr>
        <p:spPr>
          <a:xfrm>
            <a:off x="4361688" y="3346704"/>
            <a:ext cx="3429000" cy="133502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200" b="1">
                <a:solidFill>
                  <a:srgbClr val="262626"/>
                </a:solidFill>
                <a:latin typeface="Meiryo"/>
                <a:ea typeface="Meiryo"/>
                <a:cs typeface="Meiryo"/>
              </a:rPr>
              <a:t>r = −0.72</a:t>
            </a:r>
          </a:p>
          <a:p>
            <a:pPr algn="ctr"/>
            <a:r>
              <a:rPr sz="2200" b="1">
                <a:solidFill>
                  <a:srgbClr val="262626"/>
                </a:solidFill>
                <a:latin typeface="Meiryo"/>
                <a:ea typeface="Meiryo"/>
                <a:cs typeface="Meiryo"/>
              </a:rPr>
              <a:t>全身血管抵抗 SVR</a:t>
            </a:r>
          </a:p>
        </p:txBody>
      </p:sp>
      <p:sp>
        <p:nvSpPr>
          <p:cNvPr id="22" name="cor2"/>
          <p:cNvSpPr/>
          <p:nvPr/>
        </p:nvSpPr>
        <p:spPr>
          <a:xfrm>
            <a:off x="8174736" y="3346704"/>
            <a:ext cx="3429000" cy="133502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3200" b="1">
                <a:solidFill>
                  <a:srgbClr val="262626"/>
                </a:solidFill>
                <a:latin typeface="Meiryo"/>
                <a:ea typeface="Meiryo"/>
                <a:cs typeface="Meiryo"/>
              </a:rPr>
              <a:t>r = +0.82</a:t>
            </a:r>
          </a:p>
          <a:p>
            <a:pPr algn="ctr"/>
            <a:r>
              <a:rPr sz="2200" b="1">
                <a:solidFill>
                  <a:srgbClr val="262626"/>
                </a:solidFill>
                <a:latin typeface="Meiryo"/>
                <a:ea typeface="Meiryo"/>
                <a:cs typeface="Meiryo"/>
              </a:rPr>
              <a:t>血管コンプライアンス</a:t>
            </a:r>
          </a:p>
        </p:txBody>
      </p:sp>
      <p:sp>
        <p:nvSpPr>
          <p:cNvPr id="23" name="cap"/>
          <p:cNvSpPr txBox="1"/>
          <p:nvPr/>
        </p:nvSpPr>
        <p:spPr>
          <a:xfrm>
            <a:off x="548640" y="4754880"/>
            <a:ext cx="10954512" cy="420624"/>
          </a:xfrm>
          <a:prstGeom prst="rect">
            <a:avLst/>
          </a:prstGeom>
          <a:noFill/>
        </p:spPr>
        <p:txBody>
          <a:bodyPr wrap="square" anchor="ctr" lIns="0" rIns="0" tIns="0" bIns="0">
            <a:spAutoFit/>
          </a:bodyPr>
          <a:lstStyle/>
          <a:p>
            <a:pPr algn="ctr"/>
            <a:r>
              <a:rPr sz="2200" b="1">
                <a:solidFill>
                  <a:srgbClr val="808080"/>
                </a:solidFill>
                <a:latin typeface="Meiryo"/>
                <a:ea typeface="Meiryo"/>
                <a:cs typeface="Meiryo"/>
              </a:rPr>
              <a:t>PPG 6分類 との相関（いずれも P&lt;0.0001）</a:t>
            </a:r>
          </a:p>
        </p:txBody>
      </p:sp>
      <p:sp>
        <p:nvSpPr>
          <p:cNvPr id="24" name="callout"/>
          <p:cNvSpPr/>
          <p:nvPr/>
        </p:nvSpPr>
        <p:spPr>
          <a:xfrm>
            <a:off x="548640" y="5303520"/>
            <a:ext cx="10954512" cy="98755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400" b="1">
                <a:solidFill>
                  <a:srgbClr val="262626"/>
                </a:solidFill>
                <a:latin typeface="Meiryo"/>
                <a:ea typeface="Meiryo"/>
                <a:cs typeface="Meiryo"/>
              </a:rPr>
              <a:t>低血圧の検出　感度 100%　・　特異度 97.9%</a:t>
            </a:r>
          </a:p>
          <a:p>
            <a:pPr algn="ctr"/>
            <a:r>
              <a:rPr sz="2400" b="1">
                <a:solidFill>
                  <a:srgbClr val="262626"/>
                </a:solidFill>
                <a:latin typeface="Meiryo"/>
                <a:ea typeface="Meiryo"/>
                <a:cs typeface="Meiryo"/>
              </a:rPr>
              <a:t>高血圧の検出　感度 94.9%　・　特異度 99.2%</a:t>
            </a:r>
          </a:p>
        </p:txBody>
      </p:sp>
      <p:sp>
        <p:nvSpPr>
          <p:cNvPr id="25" name="Source"/>
          <p:cNvSpPr txBox="1"/>
          <p:nvPr/>
        </p:nvSpPr>
        <p:spPr>
          <a:xfrm>
            <a:off x="720000" y="6606000"/>
            <a:ext cx="10440000" cy="216000"/>
          </a:xfrm>
          <a:prstGeom prst="rect">
            <a:avLst/>
          </a:prstGeom>
          <a:noFill/>
        </p:spPr>
        <p:txBody>
          <a:bodyPr wrap="none" anchor="t" lIns="0" rIns="0" tIns="0" bIns="0">
            <a:spAutoFit/>
          </a:bodyPr>
          <a:lstStyle/>
          <a:p>
            <a:pPr algn="l"/>
            <a:r>
              <a:rPr sz="1050" b="0">
                <a:solidFill>
                  <a:srgbClr val="808080"/>
                </a:solidFill>
                <a:latin typeface="Meiryo"/>
                <a:ea typeface="Meiryo"/>
                <a:cs typeface="Meiryo"/>
              </a:rPr>
              <a:t>14. Tusman 2019（心臓手術 15名・190エピソード）</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4.3  導入時の低血圧</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17" name="deflabel"/>
          <p:cNvSpPr txBox="1"/>
          <p:nvPr/>
        </p:nvSpPr>
        <p:spPr>
          <a:xfrm>
            <a:off x="566928" y="1664208"/>
            <a:ext cx="5760720" cy="420624"/>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lab0"/>
          <p:cNvSpPr txBox="1"/>
          <p:nvPr/>
        </p:nvSpPr>
        <p:spPr>
          <a:xfrm>
            <a:off x="548640" y="3986784"/>
            <a:ext cx="2743200" cy="402336"/>
          </a:xfrm>
          <a:prstGeom prst="rect">
            <a:avLst/>
          </a:prstGeom>
          <a:noFill/>
        </p:spPr>
        <p:txBody>
          <a:bodyPr wrap="square" anchor="ctr" lIns="0" rIns="0" tIns="0" bIns="0">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anchor="ctr" lIns="0" rIns="0" tIns="0" bIns="0">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lab1"/>
          <p:cNvSpPr txBox="1"/>
          <p:nvPr/>
        </p:nvSpPr>
        <p:spPr>
          <a:xfrm>
            <a:off x="3520440" y="3986784"/>
            <a:ext cx="2743200" cy="402336"/>
          </a:xfrm>
          <a:prstGeom prst="rect">
            <a:avLst/>
          </a:prstGeom>
          <a:noFill/>
        </p:spPr>
        <p:txBody>
          <a:bodyPr wrap="square" anchor="ctr" lIns="0" rIns="0" tIns="0" bIns="0">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anchor="ctr" lIns="0" rIns="0" tIns="0" bIns="0">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440000" cy="216000"/>
          </a:xfrm>
          <a:prstGeom prst="rect">
            <a:avLst/>
          </a:prstGeom>
          <a:noFill/>
        </p:spPr>
        <p:txBody>
          <a:bodyPr wrap="none" anchor="t" lIns="0" rIns="0" tIns="0" bIns="0">
            <a:spAutoFit/>
          </a:bodyPr>
          <a:lstStyle/>
          <a:p>
            <a:pPr algn="l"/>
            <a:r>
              <a:rPr sz="1050" b="0">
                <a:solidFill>
                  <a:srgbClr val="808080"/>
                </a:solidFill>
                <a:latin typeface="Meiryo"/>
                <a:ea typeface="Meiryo"/>
                <a:cs typeface="Meiryo"/>
              </a:rPr>
              <a:t>29. Coutrot 2019（全身麻酔導入 61名／IOH ＝ MAP が 20% 超低下）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5. 波形の定量化</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864000" y="1636700"/>
            <a:ext cx="4234429" cy="4718599"/>
          </a:xfrm>
          <a:prstGeom prst="rect">
            <a:avLst/>
          </a:prstGeom>
          <a:noFill/>
        </p:spPr>
        <p:txBody>
          <a:bodyPr wrap="none" lIns="0" tIns="0" rIns="0" bIns="0" anchor="ctr">
            <a:spAutoFit/>
          </a:bodyPr>
          <a:lstStyle/>
          <a:p>
            <a:pPr marL="0" indent="0" algn="l" latinLnBrk="0">
              <a:lnSpc>
                <a:spcPts val="3685"/>
              </a:lnSpc>
              <a:spcBef>
                <a:spcPts val="0"/>
              </a:spcBef>
              <a:spcAft>
                <a:spcPts val="0"/>
              </a:spcAft>
            </a:pPr>
            <a:r>
              <a:rPr sz="2400" b="1" dirty="0">
                <a:solidFill>
                  <a:srgbClr val="D9D9D9"/>
                </a:solidFill>
                <a:latin typeface="Meiryo"/>
                <a:ea typeface="Meiryo"/>
                <a:cs typeface="Meiryo"/>
              </a:rPr>
              <a:t>1. </a:t>
            </a:r>
            <a:r>
              <a:rPr sz="2400" b="0" dirty="0" err="1">
                <a:solidFill>
                  <a:srgbClr val="D9D9D9"/>
                </a:solidFill>
                <a:latin typeface="Meiryo"/>
                <a:ea typeface="Meiryo"/>
                <a:cs typeface="Meiryo"/>
              </a:rPr>
              <a:t>PPGの基礎</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2. </a:t>
            </a:r>
            <a:r>
              <a:rPr sz="2400" b="0" dirty="0" err="1">
                <a:solidFill>
                  <a:srgbClr val="D9D9D9"/>
                </a:solidFill>
                <a:latin typeface="Meiryo"/>
                <a:ea typeface="Meiryo"/>
                <a:cs typeface="Meiryo"/>
              </a:rPr>
              <a:t>波形への影響：加齢</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3. </a:t>
            </a:r>
            <a:r>
              <a:rPr sz="2400" b="0" dirty="0" err="1">
                <a:solidFill>
                  <a:srgbClr val="D9D9D9"/>
                </a:solidFill>
                <a:latin typeface="Meiryo"/>
                <a:ea typeface="Meiryo"/>
                <a:cs typeface="Meiryo"/>
              </a:rPr>
              <a:t>波形への影響：循環</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4. </a:t>
            </a:r>
            <a:r>
              <a:rPr sz="2400" b="0" dirty="0" err="1">
                <a:solidFill>
                  <a:srgbClr val="D9D9D9"/>
                </a:solidFill>
                <a:latin typeface="Meiryo"/>
                <a:ea typeface="Meiryo"/>
                <a:cs typeface="Meiryo"/>
              </a:rPr>
              <a:t>麻酔中の波形変化</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BF9000"/>
                </a:solidFill>
                <a:latin typeface="Meiryo"/>
                <a:ea typeface="Meiryo"/>
                <a:cs typeface="Meiryo"/>
              </a:rPr>
              <a:t>5. </a:t>
            </a:r>
            <a:r>
              <a:rPr sz="2400" b="1" dirty="0" err="1">
                <a:solidFill>
                  <a:srgbClr val="262626"/>
                </a:solidFill>
                <a:latin typeface="Meiryo"/>
                <a:ea typeface="Meiryo"/>
                <a:cs typeface="Meiryo"/>
              </a:rPr>
              <a:t>波形の定量化</a:t>
            </a:r>
            <a:endParaRPr sz="24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5.1　</a:t>
            </a:r>
            <a:r>
              <a:rPr sz="2200" b="1" dirty="0">
                <a:solidFill>
                  <a:srgbClr val="262626"/>
                </a:solidFill>
                <a:latin typeface="Meiryo"/>
                <a:ea typeface="Meiryo"/>
                <a:cs typeface="Meiryo"/>
              </a:rPr>
              <a:t>S</a:t>
            </a:r>
            <a:r>
              <a:rPr lang="en-US" sz="2200" b="1" dirty="0">
                <a:solidFill>
                  <a:srgbClr val="262626"/>
                </a:solidFill>
                <a:latin typeface="Meiryo"/>
                <a:ea typeface="Meiryo"/>
                <a:cs typeface="Meiryo"/>
              </a:rPr>
              <a:t>tiffness </a:t>
            </a:r>
            <a:r>
              <a:rPr sz="2200" b="1" dirty="0">
                <a:solidFill>
                  <a:srgbClr val="262626"/>
                </a:solidFill>
                <a:latin typeface="Meiryo"/>
                <a:ea typeface="Meiryo"/>
                <a:cs typeface="Meiryo"/>
              </a:rPr>
              <a:t>I</a:t>
            </a:r>
            <a:r>
              <a:rPr lang="en-US" sz="2200" b="1" dirty="0">
                <a:solidFill>
                  <a:srgbClr val="262626"/>
                </a:solidFill>
                <a:latin typeface="Meiryo"/>
                <a:ea typeface="Meiryo"/>
                <a:cs typeface="Meiryo"/>
              </a:rPr>
              <a:t>ndex (SI)</a:t>
            </a:r>
            <a:endParaRPr sz="22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5.2　</a:t>
            </a:r>
            <a:r>
              <a:rPr sz="2200" b="1" dirty="0">
                <a:solidFill>
                  <a:srgbClr val="262626"/>
                </a:solidFill>
                <a:latin typeface="Meiryo"/>
                <a:ea typeface="Meiryo"/>
                <a:cs typeface="Meiryo"/>
              </a:rPr>
              <a:t>R</a:t>
            </a:r>
            <a:r>
              <a:rPr lang="en-US" sz="2200" b="1" dirty="0">
                <a:solidFill>
                  <a:srgbClr val="262626"/>
                </a:solidFill>
                <a:latin typeface="Meiryo"/>
                <a:ea typeface="Meiryo"/>
                <a:cs typeface="Meiryo"/>
              </a:rPr>
              <a:t>eflection </a:t>
            </a:r>
            <a:r>
              <a:rPr sz="2200" b="1" dirty="0">
                <a:solidFill>
                  <a:srgbClr val="262626"/>
                </a:solidFill>
                <a:latin typeface="Meiryo"/>
                <a:ea typeface="Meiryo"/>
                <a:cs typeface="Meiryo"/>
              </a:rPr>
              <a:t>I</a:t>
            </a:r>
            <a:r>
              <a:rPr lang="en-US" sz="2200" b="1" dirty="0">
                <a:solidFill>
                  <a:srgbClr val="262626"/>
                </a:solidFill>
                <a:latin typeface="Meiryo"/>
                <a:ea typeface="Meiryo"/>
                <a:cs typeface="Meiryo"/>
              </a:rPr>
              <a:t>ndex (RI)</a:t>
            </a:r>
            <a:endParaRPr sz="22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5.3　</a:t>
            </a:r>
            <a:r>
              <a:rPr sz="2200" b="1" dirty="0" err="1">
                <a:solidFill>
                  <a:srgbClr val="262626"/>
                </a:solidFill>
                <a:latin typeface="Meiryo"/>
                <a:ea typeface="Meiryo"/>
                <a:cs typeface="Meiryo"/>
              </a:rPr>
              <a:t>加速度脈波</a:t>
            </a:r>
            <a:r>
              <a:rPr sz="2200" b="1" dirty="0">
                <a:solidFill>
                  <a:srgbClr val="262626"/>
                </a:solidFill>
                <a:latin typeface="Meiryo"/>
                <a:ea typeface="Meiryo"/>
                <a:cs typeface="Meiryo"/>
              </a:rPr>
              <a:t> SDPPG</a:t>
            </a:r>
          </a:p>
          <a:p>
            <a:pPr algn="l">
              <a:lnSpc>
                <a:spcPts val="3685"/>
              </a:lnSpc>
              <a:spcBef>
                <a:spcPts val="0"/>
              </a:spcBef>
              <a:spcAft>
                <a:spcPts val="0"/>
              </a:spcAft>
            </a:pPr>
            <a:r>
              <a:rPr sz="2400" b="1" dirty="0">
                <a:solidFill>
                  <a:srgbClr val="D9D9D9"/>
                </a:solidFill>
                <a:latin typeface="Meiryo"/>
                <a:ea typeface="Meiryo"/>
                <a:cs typeface="Meiryo"/>
              </a:rPr>
              <a:t>6. </a:t>
            </a:r>
            <a:r>
              <a:rPr sz="2400" b="0" dirty="0" err="1">
                <a:solidFill>
                  <a:srgbClr val="D9D9D9"/>
                </a:solidFill>
                <a:latin typeface="Meiryo"/>
                <a:ea typeface="Meiryo"/>
                <a:cs typeface="Meiryo"/>
              </a:rPr>
              <a:t>解析まとめ</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7. </a:t>
            </a:r>
            <a:r>
              <a:rPr sz="2400" b="0" dirty="0" err="1">
                <a:solidFill>
                  <a:srgbClr val="D9D9D9"/>
                </a:solidFill>
                <a:latin typeface="Meiryo"/>
                <a:ea typeface="Meiryo"/>
                <a:cs typeface="Meiryo"/>
              </a:rPr>
              <a:t>限界</a:t>
            </a:r>
            <a:endParaRPr sz="2400" b="0" dirty="0">
              <a:solidFill>
                <a:srgbClr val="D9D9D9"/>
              </a:solidFill>
              <a:latin typeface="Meiryo"/>
              <a:ea typeface="Meiryo"/>
              <a:cs typeface="Meiryo"/>
            </a:endParaRPr>
          </a:p>
        </p:txBody>
      </p:sp>
      <p:sp>
        <p:nvSpPr>
          <p:cNvPr id="9" name="TextBox 8"/>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27/36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5.1</a:t>
            </a:r>
            <a:r>
              <a:rPr lang="en-US" sz="4600" dirty="0">
                <a:latin typeface="Meiryo"/>
                <a:ea typeface="Meiryo"/>
                <a:cs typeface="Meiryo"/>
              </a:rPr>
              <a:t>. </a:t>
            </a:r>
            <a:r>
              <a:rPr sz="4600" dirty="0">
                <a:latin typeface="Meiryo"/>
                <a:ea typeface="Meiryo"/>
                <a:cs typeface="Meiryo"/>
              </a:rPr>
              <a:t>S</a:t>
            </a:r>
            <a:r>
              <a:rPr lang="en-US" sz="4600" dirty="0">
                <a:latin typeface="Meiryo"/>
                <a:ea typeface="Meiryo"/>
                <a:cs typeface="Meiryo"/>
              </a:rPr>
              <a:t>tiffness </a:t>
            </a:r>
            <a:r>
              <a:rPr sz="4600" dirty="0">
                <a:latin typeface="Meiryo"/>
                <a:ea typeface="Meiryo"/>
                <a:cs typeface="Meiryo"/>
              </a:rPr>
              <a:t>I</a:t>
            </a:r>
            <a:r>
              <a:rPr lang="en-US" sz="4600" dirty="0">
                <a:latin typeface="Meiryo"/>
                <a:ea typeface="Meiryo"/>
                <a:cs typeface="Meiryo"/>
              </a:rPr>
              <a:t>ndex</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 Millasseau 2002</a:t>
            </a:r>
          </a:p>
        </p:txBody>
      </p:sp>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28/36</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a:solidFill>
                  <a:srgbClr val="262626"/>
                </a:solidFill>
                <a:latin typeface="Meiryo"/>
                <a:ea typeface="Meiryo"/>
                <a:cs typeface="Meiryo"/>
              </a:rPr>
              <a:t>SI ＝ 身長 ÷ ΔT</a:t>
            </a:r>
          </a:p>
          <a:p>
            <a:pPr algn="ctr">
              <a:spcBef>
                <a:spcPts val="0"/>
              </a:spcBef>
              <a:spcAft>
                <a:spcPts val="0"/>
              </a:spcAft>
            </a:pPr>
            <a:r>
              <a:rPr sz="2200" b="1">
                <a:solidFill>
                  <a:srgbClr val="262626"/>
                </a:solidFill>
                <a:latin typeface="Meiryo"/>
                <a:ea typeface="Meiryo"/>
                <a:cs typeface="Meiryo"/>
              </a:rPr>
              <a:t>大動脈の硬さ（脈波伝播速度）を反映</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5.2  R</a:t>
            </a:r>
            <a:r>
              <a:rPr lang="en-US" sz="4600" dirty="0">
                <a:latin typeface="Meiryo"/>
                <a:ea typeface="Meiryo"/>
                <a:cs typeface="Meiryo"/>
              </a:rPr>
              <a:t>eflection </a:t>
            </a:r>
            <a:r>
              <a:rPr sz="4600" dirty="0">
                <a:latin typeface="Meiryo"/>
                <a:ea typeface="Meiryo"/>
                <a:cs typeface="Meiryo"/>
              </a:rPr>
              <a:t>I</a:t>
            </a:r>
            <a:r>
              <a:rPr lang="en-US" sz="4600" dirty="0">
                <a:latin typeface="Meiryo"/>
                <a:ea typeface="Meiryo"/>
                <a:cs typeface="Meiryo"/>
              </a:rPr>
              <a:t>ndex</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Chowienczyk 1999</a:t>
            </a:r>
          </a:p>
        </p:txBody>
      </p:sp>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29/36</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a:solidFill>
                  <a:srgbClr val="262626"/>
                </a:solidFill>
                <a:latin typeface="Meiryo"/>
                <a:ea typeface="Meiryo"/>
                <a:cs typeface="Meiryo"/>
              </a:rPr>
              <a:t>RI ＝ P2 ÷ P1</a:t>
            </a:r>
          </a:p>
          <a:p>
            <a:pPr algn="ctr">
              <a:spcBef>
                <a:spcPts val="0"/>
              </a:spcBef>
              <a:spcAft>
                <a:spcPts val="0"/>
              </a:spcAft>
            </a:pPr>
            <a:r>
              <a:rPr sz="2200" b="1">
                <a:solidFill>
                  <a:srgbClr val="262626"/>
                </a:solidFill>
                <a:latin typeface="Meiryo"/>
                <a:ea typeface="Meiryo"/>
                <a:cs typeface="Meiryo"/>
              </a:rPr>
              <a:t>末梢血管トーヌス（反射の大きさ）を反映</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a:latin typeface="Meiryo"/>
                <a:ea typeface="Meiryo"/>
                <a:cs typeface="Meiryo"/>
              </a:rPr>
              <a:t>5.2  RI と心拍数</a:t>
            </a:r>
            <a:endParaRPr sz="4600" dirty="0">
              <a:latin typeface="Meiryo"/>
              <a:ea typeface="Meiryo"/>
              <a:cs typeface="Meiryo"/>
            </a:endParaRPr>
          </a:p>
        </p:txBody>
      </p:sp>
      <p:sp>
        <p:nvSpPr>
          <p:cNvPr id="11" name="Off-page Connector 2">
            <a:extLst>
              <a:ext uri="{FF2B5EF4-FFF2-40B4-BE49-F238E27FC236}">
                <a16:creationId xmlns:a16="http://schemas.microsoft.com/office/drawing/2014/main" id="{07D489EE-1498-CB6D-C3BD-D42DC64150AA}"/>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9C3B10B5-2343-3361-3520-E9F1B5CA7703}"/>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1BA6D5A7-BC18-F2B2-F176-8988D990CA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8236811D-30B0-5D80-F614-1DF55396C8E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E0440796-214F-A8DD-9634-78690288DEF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00420769-5585-1A4A-A236-ECF033DA04F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a:extLst>
              <a:ext uri="{FF2B5EF4-FFF2-40B4-BE49-F238E27FC236}">
                <a16:creationId xmlns:a16="http://schemas.microsoft.com/office/drawing/2014/main" id="{EE3DD97E-2E2A-A71D-8837-2ED6C40DFFA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18" name="lead"/>
          <p:cNvSpPr txBox="1"/>
          <p:nvPr/>
        </p:nvSpPr>
        <p:spPr>
          <a:xfrm>
            <a:off x="566928" y="1645920"/>
            <a:ext cx="7315200" cy="457200"/>
          </a:xfrm>
          <a:prstGeom prst="rect">
            <a:avLst/>
          </a:prstGeom>
          <a:noFill/>
        </p:spPr>
        <p:txBody>
          <a:bodyPr wrap="square" anchor="ctr" lIns="0" rIns="0" tIns="0" bIns="0">
            <a:spAutoFit/>
          </a:bodyPr>
          <a:lstStyle/>
          <a:p>
            <a:pPr algn="l"/>
            <a:r>
              <a:rPr sz="2400" b="1">
                <a:solidFill>
                  <a:srgbClr val="262626"/>
                </a:solidFill>
                <a:latin typeface="Meiryo"/>
                <a:ea typeface="Meiryo"/>
                <a:cs typeface="Meiryo"/>
              </a:rPr>
              <a:t>反射波の高さは 心拍数でも変わる</a:t>
            </a:r>
          </a:p>
        </p:txBody>
      </p:sp>
      <p:sp>
        <p:nvSpPr>
          <p:cNvPr id="19" name="wbox"/>
          <p:cNvSpPr/>
          <p:nvPr/>
        </p:nvSpPr>
        <p:spPr>
          <a:xfrm>
            <a:off x="548640" y="2157984"/>
            <a:ext cx="5577840" cy="2615184"/>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wbase"/>
          <p:cNvCxnSpPr/>
          <p:nvPr/>
        </p:nvCxnSpPr>
        <p:spPr>
          <a:xfrm>
            <a:off x="731520" y="4498848"/>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708246"/>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w_high"/>
          <p:cNvSpPr/>
          <p:nvPr/>
        </p:nvSpPr>
        <p:spPr>
          <a:xfrm>
            <a:off x="731520" y="2711941"/>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_low"/>
          <p:cNvSpPr/>
          <p:nvPr/>
        </p:nvSpPr>
        <p:spPr>
          <a:xfrm>
            <a:off x="3063505" y="3686760"/>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_high"/>
          <p:cNvSpPr/>
          <p:nvPr/>
        </p:nvSpPr>
        <p:spPr>
          <a:xfrm>
            <a:off x="2855543" y="3989519"/>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gend"/>
          <p:cNvSpPr txBox="1"/>
          <p:nvPr/>
        </p:nvSpPr>
        <p:spPr>
          <a:xfrm>
            <a:off x="731520" y="2231136"/>
            <a:ext cx="3291840" cy="402336"/>
          </a:xfrm>
          <a:prstGeom prst="rect">
            <a:avLst/>
          </a:prstGeom>
          <a:noFill/>
        </p:spPr>
        <p:txBody>
          <a:bodyPr wrap="square" anchor="ctr" lIns="0" rIns="0" tIns="0" bIns="0">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670048"/>
            <a:ext cx="2194560" cy="914400"/>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RI は HR の影響を受ける</a:t>
            </a:r>
          </a:p>
        </p:txBody>
      </p:sp>
      <p:sp>
        <p:nvSpPr>
          <p:cNvPr id="26" name="pt1"/>
          <p:cNvSpPr/>
          <p:nvPr/>
        </p:nvSpPr>
        <p:spPr>
          <a:xfrm>
            <a:off x="6419088" y="3099816"/>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圧波形の AIx：+10 bpm で −4%</a:t>
            </a:r>
          </a:p>
        </p:txBody>
      </p:sp>
      <p:sp>
        <p:nvSpPr>
          <p:cNvPr id="27" name="pt2"/>
          <p:cNvSpPr/>
          <p:nvPr/>
        </p:nvSpPr>
        <p:spPr>
          <a:xfrm>
            <a:off x="6419088" y="4041648"/>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440000" cy="216000"/>
          </a:xfrm>
          <a:prstGeom prst="rect">
            <a:avLst/>
          </a:prstGeom>
          <a:noFill/>
        </p:spPr>
        <p:txBody>
          <a:bodyPr wrap="none" anchor="t" lIns="0" rIns="0" tIns="0" bIns="0">
            <a:spAutoFit/>
          </a:bodyPr>
          <a:lstStyle/>
          <a:p>
            <a:pPr algn="l"/>
            <a:r>
              <a:rPr sz="1050" b="0">
                <a:solidFill>
                  <a:srgbClr val="808080"/>
                </a:solidFill>
                <a:latin typeface="Meiryo"/>
                <a:ea typeface="Meiryo"/>
                <a:cs typeface="Meiryo"/>
              </a:rPr>
              <a:t>24. Md Lazim 2020　／　7. Wilkinson 2000　／　23. Charlton 2019　／　19. Hashimoto 2002</a:t>
            </a:r>
          </a:p>
        </p:txBody>
      </p:sp>
    </p:spTree>
    <p:extLst>
      <p:ext uri="{BB962C8B-B14F-4D97-AF65-F5344CB8AC3E}">
        <p14:creationId xmlns:p14="http://schemas.microsoft.com/office/powerpoint/2010/main" val="1780773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5.3  加速度脈波 SDPPG</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Takazawa 1998  ／  18. Bortolotto 2000  ／  19. Hashimoto 2002</a:t>
            </a:r>
          </a:p>
        </p:txBody>
      </p:sp>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30/36</a:t>
            </a:r>
          </a:p>
        </p:txBody>
      </p:sp>
      <p:pic>
        <p:nvPicPr>
          <p:cNvPr id="18" name="fig_sdppg" descr="image.png"/>
          <p:cNvPicPr>
            <a:picLocks noChangeAspect="1"/>
          </p:cNvPicPr>
          <p:nvPr/>
        </p:nvPicPr>
        <p:blipFill>
          <a:blip r:embed="rId3"/>
          <a:stretch>
            <a:fillRect/>
          </a:stretch>
        </p:blipFill>
        <p:spPr>
          <a:xfrm>
            <a:off x="936000" y="1835999"/>
            <a:ext cx="6336000" cy="3960000"/>
          </a:xfrm>
          <a:prstGeom prst="rect">
            <a:avLst/>
          </a:prstGeom>
        </p:spPr>
      </p:pic>
      <p:sp>
        <p:nvSpPr>
          <p:cNvPr id="19" name="TextBox 18"/>
          <p:cNvSpPr txBox="1"/>
          <p:nvPr/>
        </p:nvSpPr>
        <p:spPr>
          <a:xfrm>
            <a:off x="7776000"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0" name="TextBox 19"/>
          <p:cNvSpPr txBox="1"/>
          <p:nvPr/>
        </p:nvSpPr>
        <p:spPr>
          <a:xfrm>
            <a:off x="7776000" y="2376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808080"/>
                </a:solidFill>
                <a:latin typeface="Meiryo"/>
                <a:ea typeface="Meiryo"/>
                <a:cs typeface="Meiryo"/>
              </a:rPr>
              <a:t>折れは見えにくい</a:t>
            </a:r>
          </a:p>
        </p:txBody>
      </p:sp>
      <p:sp>
        <p:nvSpPr>
          <p:cNvPr id="21" name="TextBox 20"/>
          <p:cNvSpPr txBox="1"/>
          <p:nvPr/>
        </p:nvSpPr>
        <p:spPr>
          <a:xfrm>
            <a:off x="7776000" y="3671999"/>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00A8AA"/>
                </a:solidFill>
                <a:latin typeface="Meiryo"/>
                <a:ea typeface="Meiryo"/>
                <a:cs typeface="Meiryo"/>
              </a:rPr>
              <a:t>二次微分 SDPPG</a:t>
            </a:r>
          </a:p>
        </p:txBody>
      </p:sp>
      <p:sp>
        <p:nvSpPr>
          <p:cNvPr id="22" name="TextBox 21"/>
          <p:cNvSpPr txBox="1"/>
          <p:nvPr/>
        </p:nvSpPr>
        <p:spPr>
          <a:xfrm>
            <a:off x="7776000" y="410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a–e の極値として数値化</a:t>
            </a:r>
          </a:p>
        </p:txBody>
      </p:sp>
      <p:sp>
        <p:nvSpPr>
          <p:cNvPr id="23" name="Rounded Rectangle 22"/>
          <p:cNvSpPr/>
          <p:nvPr/>
        </p:nvSpPr>
        <p:spPr>
          <a:xfrm>
            <a:off x="7560000" y="4788000"/>
            <a:ext cx="4104000" cy="108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200" b="1">
                <a:solidFill>
                  <a:srgbClr val="262626"/>
                </a:solidFill>
                <a:latin typeface="Meiryo"/>
                <a:ea typeface="Meiryo"/>
                <a:cs typeface="Meiryo"/>
              </a:rPr>
              <a:t>切痕が消えても</a:t>
            </a:r>
          </a:p>
          <a:p>
            <a:pPr algn="ctr">
              <a:spcBef>
                <a:spcPts val="0"/>
              </a:spcBef>
              <a:spcAft>
                <a:spcPts val="0"/>
              </a:spcAft>
            </a:pPr>
            <a:r>
              <a:rPr sz="2200" b="1">
                <a:solidFill>
                  <a:srgbClr val="262626"/>
                </a:solidFill>
                <a:latin typeface="Meiryo"/>
                <a:ea typeface="Meiryo"/>
                <a:cs typeface="Meiryo"/>
              </a:rPr>
              <a:t>e 波で位置を推定できる</a:t>
            </a:r>
          </a:p>
        </p:txBody>
      </p:sp>
      <p:sp>
        <p:nvSpPr>
          <p:cNvPr id="24" name="TextBox 23"/>
          <p:cNvSpPr txBox="1"/>
          <p:nvPr/>
        </p:nvSpPr>
        <p:spPr>
          <a:xfrm>
            <a:off x="936000" y="5940000"/>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5.3  SDPPG の主な知見</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17" name="chip0"/>
          <p:cNvSpPr/>
          <p:nvPr/>
        </p:nvSpPr>
        <p:spPr>
          <a:xfrm>
            <a:off x="548640" y="1700784"/>
            <a:ext cx="3474720" cy="640080"/>
          </a:xfrm>
          <a:prstGeom prst="roundRect">
            <a:avLst>
              <a:gd name="adj" fmla="val 2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FFFFFF"/>
                </a:solidFill>
                <a:latin typeface="Meiryo"/>
                <a:ea typeface="Meiryo"/>
                <a:cs typeface="Meiryo"/>
              </a:rPr>
              <a:t>b/a ＝ 大血管の硬さ</a:t>
            </a:r>
          </a:p>
        </p:txBody>
      </p:sp>
      <p:sp>
        <p:nvSpPr>
          <p:cNvPr id="18" name="chip1"/>
          <p:cNvSpPr/>
          <p:nvPr/>
        </p:nvSpPr>
        <p:spPr>
          <a:xfrm>
            <a:off x="4343400" y="1700784"/>
            <a:ext cx="3474720" cy="640080"/>
          </a:xfrm>
          <a:prstGeom prst="roundRect">
            <a:avLst>
              <a:gd name="adj" fmla="val 2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FFFFFF"/>
                </a:solidFill>
                <a:latin typeface="Meiryo"/>
                <a:ea typeface="Meiryo"/>
                <a:cs typeface="Meiryo"/>
              </a:rPr>
              <a:t>d/a ＝ 末梢トーヌス</a:t>
            </a:r>
          </a:p>
        </p:txBody>
      </p:sp>
      <p:sp>
        <p:nvSpPr>
          <p:cNvPr id="19" name="chip2"/>
          <p:cNvSpPr/>
          <p:nvPr/>
        </p:nvSpPr>
        <p:spPr>
          <a:xfrm>
            <a:off x="8138160" y="1700784"/>
            <a:ext cx="3474720" cy="640080"/>
          </a:xfrm>
          <a:prstGeom prst="roundRect">
            <a:avLst>
              <a:gd name="adj" fmla="val 20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FFFFFF"/>
                </a:solidFill>
                <a:latin typeface="Meiryo"/>
                <a:ea typeface="Meiryo"/>
                <a:cs typeface="Meiryo"/>
              </a:rPr>
              <a:t>AGI ＝ 血管加齢指数</a:t>
            </a:r>
          </a:p>
        </p:txBody>
      </p:sp>
      <p:sp>
        <p:nvSpPr>
          <p:cNvPr id="20" name="st0"/>
          <p:cNvSpPr/>
          <p:nvPr/>
        </p:nvSpPr>
        <p:spPr>
          <a:xfrm>
            <a:off x="548640" y="254203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Takazawa 1998</a:t>
            </a:r>
          </a:p>
        </p:txBody>
      </p:sp>
      <p:sp>
        <p:nvSpPr>
          <p:cNvPr id="21" name="sr0"/>
          <p:cNvSpPr txBox="1"/>
          <p:nvPr/>
        </p:nvSpPr>
        <p:spPr>
          <a:xfrm>
            <a:off x="3364992" y="2542032"/>
            <a:ext cx="8174736" cy="914400"/>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血管作動薬で d/a が変化：AT II −0.62 ／ NTG −0.25</a:t>
            </a:r>
          </a:p>
          <a:p>
            <a:pPr algn="l"/>
            <a:r>
              <a:rPr sz="2200" b="1">
                <a:solidFill>
                  <a:srgbClr val="262626"/>
                </a:solidFill>
                <a:latin typeface="Meiryo"/>
                <a:ea typeface="Meiryo"/>
                <a:cs typeface="Meiryo"/>
              </a:rPr>
              <a:t>−d/a と 大動脈AIx r=0.80　／　AGI と 年齢 r=0.80</a:t>
            </a:r>
          </a:p>
        </p:txBody>
      </p:sp>
      <p:sp>
        <p:nvSpPr>
          <p:cNvPr id="22" name="st1"/>
          <p:cNvSpPr/>
          <p:nvPr/>
        </p:nvSpPr>
        <p:spPr>
          <a:xfrm>
            <a:off x="548640" y="354787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Bortolotto 2000</a:t>
            </a:r>
          </a:p>
        </p:txBody>
      </p:sp>
      <p:sp>
        <p:nvSpPr>
          <p:cNvPr id="23" name="sr1"/>
          <p:cNvSpPr txBox="1"/>
          <p:nvPr/>
        </p:nvSpPr>
        <p:spPr>
          <a:xfrm>
            <a:off x="3364992" y="3547872"/>
            <a:ext cx="8174736" cy="914400"/>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動脈硬化あり AGI −0.093 ／ なし −0.271（P&lt;0.001）</a:t>
            </a:r>
          </a:p>
          <a:p>
            <a:pPr algn="l"/>
            <a:r>
              <a:rPr sz="2200" b="1">
                <a:solidFill>
                  <a:srgbClr val="262626"/>
                </a:solidFill>
                <a:latin typeface="Meiryo"/>
                <a:ea typeface="Meiryo"/>
                <a:cs typeface="Meiryo"/>
              </a:rPr>
              <a:t>ただし 独立規定因子としては PWV が優位</a:t>
            </a:r>
          </a:p>
        </p:txBody>
      </p:sp>
      <p:sp>
        <p:nvSpPr>
          <p:cNvPr id="24" name="st2"/>
          <p:cNvSpPr/>
          <p:nvPr/>
        </p:nvSpPr>
        <p:spPr>
          <a:xfrm>
            <a:off x="548640" y="455371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200" b="1">
                <a:solidFill>
                  <a:srgbClr val="262626"/>
                </a:solidFill>
                <a:latin typeface="Meiryo"/>
                <a:ea typeface="Meiryo"/>
                <a:cs typeface="Meiryo"/>
              </a:rPr>
              <a:t>Hashimoto 2002</a:t>
            </a:r>
          </a:p>
        </p:txBody>
      </p:sp>
      <p:sp>
        <p:nvSpPr>
          <p:cNvPr id="25" name="sr2"/>
          <p:cNvSpPr txBox="1"/>
          <p:nvPr/>
        </p:nvSpPr>
        <p:spPr>
          <a:xfrm>
            <a:off x="3364992" y="4553712"/>
            <a:ext cx="8174736" cy="914400"/>
          </a:xfrm>
          <a:prstGeom prst="rect">
            <a:avLst/>
          </a:prstGeom>
          <a:noFill/>
        </p:spPr>
        <p:txBody>
          <a:bodyPr wrap="square" anchor="ctr" lIns="0" rIns="0" tIns="0" bIns="0">
            <a:spAutoFit/>
          </a:bodyPr>
          <a:lstStyle/>
          <a:p>
            <a:pPr algn="l"/>
            <a:r>
              <a:rPr sz="2200" b="1">
                <a:solidFill>
                  <a:srgbClr val="262626"/>
                </a:solidFill>
                <a:latin typeface="Meiryo"/>
                <a:ea typeface="Meiryo"/>
                <a:cs typeface="Meiryo"/>
              </a:rPr>
              <a:t>PWV と SDPPG の相関は弱い ＝ 中枢と末梢で別の情報</a:t>
            </a:r>
          </a:p>
          <a:p>
            <a:pPr algn="l"/>
            <a:r>
              <a:rPr sz="2200" b="1">
                <a:solidFill>
                  <a:srgbClr val="262626"/>
                </a:solidFill>
                <a:latin typeface="Meiryo"/>
                <a:ea typeface="Meiryo"/>
                <a:cs typeface="Meiryo"/>
              </a:rPr>
              <a:t>HR は d/a・AGI と負、b/a と正に相関</a:t>
            </a:r>
          </a:p>
        </p:txBody>
      </p:sp>
      <p:sp>
        <p:nvSpPr>
          <p:cNvPr id="26" name="callout"/>
          <p:cNvSpPr/>
          <p:nvPr/>
        </p:nvSpPr>
        <p:spPr>
          <a:xfrm>
            <a:off x="548640" y="5614416"/>
            <a:ext cx="10991088" cy="78638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27432" bIns="27432"/>
          <a:lstStyle/>
          <a:p>
            <a:pPr algn="ctr"/>
            <a:r>
              <a:rPr sz="2600" b="1">
                <a:solidFill>
                  <a:srgbClr val="262626"/>
                </a:solidFill>
                <a:latin typeface="Meiryo"/>
                <a:ea typeface="Meiryo"/>
                <a:cs typeface="Meiryo"/>
              </a:rPr>
              <a:t>d/a ＝ 急性のトーヌス軸　／　AGI ＝ 慢性の加齢軸</a:t>
            </a:r>
          </a:p>
        </p:txBody>
      </p:sp>
      <p:sp>
        <p:nvSpPr>
          <p:cNvPr id="27" name="Source"/>
          <p:cNvSpPr txBox="1"/>
          <p:nvPr/>
        </p:nvSpPr>
        <p:spPr>
          <a:xfrm>
            <a:off x="720000" y="6606000"/>
            <a:ext cx="10440000" cy="216000"/>
          </a:xfrm>
          <a:prstGeom prst="rect">
            <a:avLst/>
          </a:prstGeom>
          <a:noFill/>
        </p:spPr>
        <p:txBody>
          <a:bodyPr wrap="none" anchor="t" lIns="0" rIns="0" tIns="0" bIns="0">
            <a:spAutoFit/>
          </a:bodyPr>
          <a:lstStyle/>
          <a:p>
            <a:pPr algn="l"/>
            <a:r>
              <a:rPr sz="1050" b="0">
                <a:solidFill>
                  <a:srgbClr val="808080"/>
                </a:solidFill>
                <a:latin typeface="Meiryo"/>
                <a:ea typeface="Meiryo"/>
                <a:cs typeface="Meiryo"/>
              </a:rPr>
              <a:t>16. Takazawa 1998　／　18. Bortolotto 2000　／　19. Hashimoto 2002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6. 解析まとめ</a:t>
            </a:r>
            <a:endParaRPr sz="4600" dirty="0">
              <a:latin typeface="Meiryo"/>
              <a:ea typeface="Meiryo"/>
              <a:cs typeface="Meiryo"/>
            </a:endParaRPr>
          </a:p>
        </p:txBody>
      </p:sp>
      <p:sp>
        <p:nvSpPr>
          <p:cNvPr id="17"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8"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9"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20"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21"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22"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まとめ</a:t>
            </a:r>
          </a:p>
        </p:txBody>
      </p:sp>
      <p:sp>
        <p:nvSpPr>
          <p:cNvPr id="23"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8" name="TextBox 7"/>
          <p:cNvSpPr txBox="1"/>
          <p:nvPr/>
        </p:nvSpPr>
        <p:spPr>
          <a:xfrm>
            <a:off x="864000" y="1494000"/>
            <a:ext cx="10584000" cy="5004000"/>
          </a:xfrm>
          <a:prstGeom prst="rect">
            <a:avLst/>
          </a:prstGeom>
          <a:noFill/>
        </p:spPr>
        <p:txBody>
          <a:bodyPr wrap="none" lIns="0" tIns="0" rIns="0" bIns="0" anchor="ctr">
            <a:spAutoFit/>
          </a:bodyPr>
          <a:lstStyle/>
          <a:p>
            <a:pPr marL="0" indent="0" algn="l" latinLnBrk="0">
              <a:lnSpc>
                <a:spcPts val="3685"/>
              </a:lnSpc>
              <a:spcBef>
                <a:spcPts val="0"/>
              </a:spcBef>
              <a:spcAft>
                <a:spcPts val="0"/>
              </a:spcAft>
            </a:pPr>
            <a:r>
              <a:rPr sz="2400" b="1" dirty="0">
                <a:solidFill>
                  <a:srgbClr val="D9D9D9"/>
                </a:solidFill>
                <a:latin typeface="Meiryo"/>
                <a:ea typeface="Meiryo"/>
                <a:cs typeface="Meiryo"/>
              </a:rPr>
              <a:t>1. </a:t>
            </a:r>
            <a:r>
              <a:rPr sz="2400" b="0" dirty="0" err="1">
                <a:solidFill>
                  <a:srgbClr val="D9D9D9"/>
                </a:solidFill>
                <a:latin typeface="Meiryo"/>
                <a:ea typeface="Meiryo"/>
                <a:cs typeface="Meiryo"/>
              </a:rPr>
              <a:t>PPGの基礎</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2. </a:t>
            </a:r>
            <a:r>
              <a:rPr sz="2400" b="0" dirty="0" err="1">
                <a:solidFill>
                  <a:srgbClr val="D9D9D9"/>
                </a:solidFill>
                <a:latin typeface="Meiryo"/>
                <a:ea typeface="Meiryo"/>
                <a:cs typeface="Meiryo"/>
              </a:rPr>
              <a:t>波形への影響：加齢</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3. </a:t>
            </a:r>
            <a:r>
              <a:rPr sz="2400" b="0" dirty="0" err="1">
                <a:solidFill>
                  <a:srgbClr val="D9D9D9"/>
                </a:solidFill>
                <a:latin typeface="Meiryo"/>
                <a:ea typeface="Meiryo"/>
                <a:cs typeface="Meiryo"/>
              </a:rPr>
              <a:t>波形への影響：循環</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4. </a:t>
            </a:r>
            <a:r>
              <a:rPr sz="2400" b="0" dirty="0" err="1">
                <a:solidFill>
                  <a:srgbClr val="D9D9D9"/>
                </a:solidFill>
                <a:latin typeface="Meiryo"/>
                <a:ea typeface="Meiryo"/>
                <a:cs typeface="Meiryo"/>
              </a:rPr>
              <a:t>麻酔中の波形変化</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5. </a:t>
            </a:r>
            <a:r>
              <a:rPr sz="2400" b="0" dirty="0" err="1">
                <a:solidFill>
                  <a:srgbClr val="D9D9D9"/>
                </a:solidFill>
                <a:latin typeface="Meiryo"/>
                <a:ea typeface="Meiryo"/>
                <a:cs typeface="Meiryo"/>
              </a:rPr>
              <a:t>波形の定量化</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BF9000"/>
                </a:solidFill>
                <a:latin typeface="Meiryo"/>
                <a:ea typeface="Meiryo"/>
                <a:cs typeface="Meiryo"/>
              </a:rPr>
              <a:t>6. </a:t>
            </a:r>
            <a:r>
              <a:rPr sz="2400" b="1" dirty="0" err="1">
                <a:solidFill>
                  <a:srgbClr val="262626"/>
                </a:solidFill>
                <a:latin typeface="Meiryo"/>
                <a:ea typeface="Meiryo"/>
                <a:cs typeface="Meiryo"/>
              </a:rPr>
              <a:t>解析まとめ</a:t>
            </a:r>
            <a:endParaRPr sz="24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6.1　</a:t>
            </a:r>
            <a:r>
              <a:rPr sz="2200" b="1" dirty="0">
                <a:solidFill>
                  <a:srgbClr val="262626"/>
                </a:solidFill>
                <a:latin typeface="Meiryo"/>
                <a:ea typeface="Meiryo"/>
                <a:cs typeface="Meiryo"/>
              </a:rPr>
              <a:t>読み方の2軸</a:t>
            </a:r>
          </a:p>
          <a:p>
            <a:pPr algn="l">
              <a:lnSpc>
                <a:spcPts val="3685"/>
              </a:lnSpc>
              <a:spcBef>
                <a:spcPts val="0"/>
              </a:spcBef>
              <a:spcAft>
                <a:spcPts val="0"/>
              </a:spcAft>
            </a:pPr>
            <a:r>
              <a:rPr sz="2400" b="1" dirty="0">
                <a:solidFill>
                  <a:srgbClr val="D9D9D9"/>
                </a:solidFill>
                <a:latin typeface="Meiryo"/>
                <a:ea typeface="Meiryo"/>
                <a:cs typeface="Meiryo"/>
              </a:rPr>
              <a:t>7. </a:t>
            </a:r>
            <a:r>
              <a:rPr sz="2400" b="0" dirty="0" err="1">
                <a:solidFill>
                  <a:srgbClr val="D9D9D9"/>
                </a:solidFill>
                <a:latin typeface="Meiryo"/>
                <a:ea typeface="Meiryo"/>
                <a:cs typeface="Meiryo"/>
              </a:rPr>
              <a:t>限界</a:t>
            </a:r>
            <a:endParaRPr sz="2400" b="0" dirty="0">
              <a:solidFill>
                <a:srgbClr val="D9D9D9"/>
              </a:solidFill>
              <a:latin typeface="Meiryo"/>
              <a:ea typeface="Meiryo"/>
              <a:cs typeface="Meiryo"/>
            </a:endParaRPr>
          </a:p>
        </p:txBody>
      </p:sp>
      <p:sp>
        <p:nvSpPr>
          <p:cNvPr id="9" name="TextBox 8"/>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31/36</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r>
              <a:rPr lang="en-US" altLang="ja-JP" sz="4600" dirty="0">
                <a:latin typeface="Meiryo"/>
                <a:ea typeface="Meiryo"/>
                <a:cs typeface="Meiryo"/>
              </a:rPr>
              <a:t>6.1  読み方の2軸</a:t>
            </a:r>
          </a:p>
        </p:txBody>
      </p:sp>
      <p:sp>
        <p:nvSpPr>
          <p:cNvPr id="11" name="Off-page Connector 2">
            <a:extLst>
              <a:ext uri="{FF2B5EF4-FFF2-40B4-BE49-F238E27FC236}">
                <a16:creationId xmlns:a16="http://schemas.microsoft.com/office/drawing/2014/main" id="{5B76C535-6605-BC67-2B07-C16282C2B67D}"/>
              </a:ext>
            </a:extLst>
          </p:cNvPr>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2" name="Off-page Connector 3">
            <a:extLst>
              <a:ext uri="{FF2B5EF4-FFF2-40B4-BE49-F238E27FC236}">
                <a16:creationId xmlns:a16="http://schemas.microsoft.com/office/drawing/2014/main" id="{BD5F2564-C40C-6A18-DB21-D29E814D10E9}"/>
              </a:ext>
            </a:extLst>
          </p:cNvPr>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加齢</a:t>
            </a:r>
          </a:p>
        </p:txBody>
      </p:sp>
      <p:sp>
        <p:nvSpPr>
          <p:cNvPr id="13" name="Off-page Connector 4">
            <a:extLst>
              <a:ext uri="{FF2B5EF4-FFF2-40B4-BE49-F238E27FC236}">
                <a16:creationId xmlns:a16="http://schemas.microsoft.com/office/drawing/2014/main" id="{149917C2-2B39-F4AB-4E06-D7C300EFAA1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循環</a:t>
            </a:r>
          </a:p>
        </p:txBody>
      </p:sp>
      <p:sp>
        <p:nvSpPr>
          <p:cNvPr id="14" name="Off-page Connector 5">
            <a:extLst>
              <a:ext uri="{FF2B5EF4-FFF2-40B4-BE49-F238E27FC236}">
                <a16:creationId xmlns:a16="http://schemas.microsoft.com/office/drawing/2014/main" id="{BEE701F9-5341-1992-5F64-95AB392C2A3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lnSpc>
                <a:spcPct val="100000"/>
              </a:lnSpc>
              <a:spcBef>
                <a:spcPts val="100"/>
              </a:spcBef>
            </a:pPr>
            <a:r>
              <a:rPr sz="1050" b="1">
                <a:solidFill>
                  <a:srgbClr val="808080"/>
                </a:solidFill>
                <a:latin typeface="Meiryo"/>
                <a:ea typeface="Meiryo"/>
                <a:cs typeface="Meiryo"/>
              </a:rPr>
              <a:t>麻酔</a:t>
            </a:r>
          </a:p>
        </p:txBody>
      </p:sp>
      <p:sp>
        <p:nvSpPr>
          <p:cNvPr id="15" name="Off-page Connector 6">
            <a:extLst>
              <a:ext uri="{FF2B5EF4-FFF2-40B4-BE49-F238E27FC236}">
                <a16:creationId xmlns:a16="http://schemas.microsoft.com/office/drawing/2014/main" id="{7173B31B-3338-1D75-4D66-BC9CCE91100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lnSpc>
                <a:spcPct val="100000"/>
              </a:lnSpc>
              <a:spcBef>
                <a:spcPts val="100"/>
              </a:spcBef>
            </a:pP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C845168-E5E9-3AAF-39FA-385B0163339C}"/>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lnSpc>
                <a:spcPct val="100000"/>
              </a:lnSpc>
              <a:spcBef>
                <a:spcPts val="100"/>
              </a:spcBef>
            </a:pPr>
            <a:r>
              <a:rPr sz="1050" b="1">
                <a:solidFill>
                  <a:srgbClr val="FFFFFF"/>
                </a:solidFill>
                <a:latin typeface="Meiryo"/>
                <a:ea typeface="Meiryo"/>
                <a:cs typeface="Meiryo"/>
              </a:rPr>
              <a:t>まとめ</a:t>
            </a:r>
          </a:p>
        </p:txBody>
      </p:sp>
      <p:sp>
        <p:nvSpPr>
          <p:cNvPr id="17" name="Off-page Connector 8">
            <a:extLst>
              <a:ext uri="{FF2B5EF4-FFF2-40B4-BE49-F238E27FC236}">
                <a16:creationId xmlns:a16="http://schemas.microsoft.com/office/drawing/2014/main" id="{3681E52B-4BF1-A99F-9FFB-BA7AB32ADAF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lnSpc>
                <a:spcPct val="100000"/>
              </a:lnSpc>
              <a:spcBef>
                <a:spcPts val="100"/>
              </a:spcBef>
            </a:pPr>
            <a:r>
              <a:rPr sz="1050" b="1">
                <a:solidFill>
                  <a:srgbClr val="808080"/>
                </a:solidFill>
                <a:latin typeface="Meiryo"/>
                <a:ea typeface="Meiryo"/>
                <a:cs typeface="Meiryo"/>
              </a:rPr>
              <a:t>限界</a:t>
            </a:r>
          </a:p>
        </p:txBody>
      </p:sp>
      <p:sp>
        <p:nvSpPr>
          <p:cNvPr id="8" name="TextBox 7">
            <a:extLst>
              <a:ext uri="{FF2B5EF4-FFF2-40B4-BE49-F238E27FC236}">
                <a16:creationId xmlns:a16="http://schemas.microsoft.com/office/drawing/2014/main" id="{4D3953D7-195C-4928-E122-D9C187EDF592}"/>
              </a:ext>
            </a:extLst>
          </p:cNvPr>
          <p:cNvSpPr txBox="1"/>
          <p:nvPr/>
        </p:nvSpPr>
        <p:spPr>
          <a:xfrm>
            <a:off x="720000" y="6606000"/>
            <a:ext cx="10440000" cy="216000"/>
          </a:xfrm>
          <a:prstGeom prst="rect">
            <a:avLst/>
          </a:prstGeom>
          <a:noFill/>
        </p:spPr>
        <p:txBody>
          <a:bodyPr wrap="square" lIns="0" tIns="0" rIns="0" bIns="0" anchor="t">
            <a:spAutoFit/>
          </a:bodyPr>
          <a:lstStyle/>
          <a:p>
            <a:pPr algn="l"/>
            <a:r>
              <a:rPr sz="1050" u="none">
                <a:solidFill>
                  <a:srgbClr val="808080"/>
                </a:solidFill>
                <a:latin typeface="Meiryo"/>
                <a:ea typeface="Meiryo"/>
                <a:cs typeface="Meiryo"/>
                <a:hlinkClick r:id="rId3"/>
              </a:rPr>
              <a:t>4. Millasseau 2002  ／  16. Takazawa 1998  ／  20. Joachim 2021  ／  28. Padilla 2009</a:t>
            </a:r>
          </a:p>
        </p:txBody>
      </p:sp>
      <p:pic>
        <p:nvPicPr>
          <p:cNvPr id="9" name="Picture 8" descr="19_two_track.png">
            <a:extLst>
              <a:ext uri="{FF2B5EF4-FFF2-40B4-BE49-F238E27FC236}">
                <a16:creationId xmlns:a16="http://schemas.microsoft.com/office/drawing/2014/main" id="{7A43A564-3B41-C533-A611-07BA46A3C46A}"/>
              </a:ext>
            </a:extLst>
          </p:cNvPr>
          <p:cNvPicPr>
            <a:picLocks noChangeAspect="1"/>
          </p:cNvPicPr>
          <p:nvPr/>
        </p:nvPicPr>
        <p:blipFill>
          <a:blip r:embed="rId4"/>
          <a:stretch>
            <a:fillRect/>
          </a:stretch>
        </p:blipFill>
        <p:spPr>
          <a:xfrm>
            <a:off x="1990234" y="1800000"/>
            <a:ext cx="8187531" cy="4320000"/>
          </a:xfrm>
          <a:prstGeom prst="rect">
            <a:avLst/>
          </a:prstGeom>
        </p:spPr>
      </p:pic>
      <p:sp>
        <p:nvSpPr>
          <p:cNvPr id="10" name="TextBox 9">
            <a:extLst>
              <a:ext uri="{FF2B5EF4-FFF2-40B4-BE49-F238E27FC236}">
                <a16:creationId xmlns:a16="http://schemas.microsoft.com/office/drawing/2014/main" id="{4EC5EF69-87CF-D4DF-CFD5-2C880405FF04}"/>
              </a:ext>
            </a:extLst>
          </p:cNvPr>
          <p:cNvSpPr txBox="1"/>
          <p:nvPr/>
        </p:nvSpPr>
        <p:spPr>
          <a:xfrm>
            <a:off x="11052000" y="6606000"/>
            <a:ext cx="1007999" cy="216000"/>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32/36</a:t>
            </a:r>
          </a:p>
        </p:txBody>
      </p:sp>
      <p:sp>
        <p:nvSpPr>
          <p:cNvPr id="540" name="lbg">
            <a:extLst>
              <a:ext uri="{FF2B5EF4-FFF2-40B4-BE49-F238E27FC236}">
                <a16:creationId xmlns:a16="http://schemas.microsoft.com/office/drawing/2014/main" id="{76739A53-E56E-45CC-3F22-5C7909DBDAB3}"/>
              </a:ext>
            </a:extLst>
          </p:cNvPr>
          <p:cNvSpPr/>
          <p:nvPr/>
        </p:nvSpPr>
        <p:spPr>
          <a:xfrm>
            <a:off x="1544591" y="2005413"/>
            <a:ext cx="4284000" cy="3420000"/>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584" y="2340179"/>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672" y="3130960"/>
            <a:ext cx="3427839" cy="1422000"/>
          </a:xfrm>
          <a:prstGeom prst="rect">
            <a:avLst/>
          </a:prstGeom>
          <a:noFill/>
        </p:spPr>
        <p:txBody>
          <a:bodyPr wrap="square" lIns="0" tIns="0" rIns="0" bIns="0" anchor="t">
            <a:noAutofit/>
          </a:bodyPr>
          <a:lstStyle/>
          <a:p>
            <a:pPr algn="l"/>
            <a:r>
              <a:rPr lang="ja-JP" altLang="en-US" sz="2000" b="1" dirty="0">
                <a:solidFill>
                  <a:srgbClr val="262626"/>
                </a:solidFill>
                <a:latin typeface="Meiryo"/>
                <a:ea typeface="Meiryo"/>
                <a:cs typeface="Meiryo"/>
              </a:rPr>
              <a:t>・SI（スティフネス指数）</a:t>
            </a:r>
            <a:br>
              <a:rPr lang="ja-JP" altLang="en-US" sz="2000" b="1" dirty="0">
                <a:solidFill>
                  <a:srgbClr val="262626"/>
                </a:solidFill>
                <a:latin typeface="Meiryo"/>
                <a:ea typeface="Meiryo"/>
                <a:cs typeface="Meiryo"/>
              </a:rPr>
            </a:b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40537" y="2005413"/>
            <a:ext cx="4284000" cy="3420000"/>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1530" y="2340179"/>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618" y="3130960"/>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・切痕の位置・高さ</a:t>
            </a:r>
            <a:r>
              <a:rPr lang="ja-JP" altLang="en-US" sz="2000" b="1">
                <a:solidFill>
                  <a:srgbClr val="262626"/>
                </a:solidFill>
                <a:latin typeface="Meiryo"/>
                <a:ea typeface="Meiryo"/>
                <a:cs typeface="Meiryo"/>
              </a:rPr>
              <a:t>・幅</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・RI（反射指数）</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a:t>
            </a:r>
            <a:r>
              <a:rPr lang="ja-JP" altLang="en-US" sz="2000" b="1" dirty="0">
                <a:solidFill>
                  <a:srgbClr val="262626"/>
                </a:solidFill>
                <a:latin typeface="Meiryo"/>
                <a:ea typeface="Meiryo"/>
                <a:cs typeface="Meiryo"/>
              </a:rPr>
              <a:t>血管作動薬に鋭敏）</a:t>
            </a:r>
          </a:p>
        </p:txBody>
      </p:sp>
      <p:sp>
        <p:nvSpPr>
          <p:cNvPr id="548" name="cap">
            <a:extLst>
              <a:ext uri="{FF2B5EF4-FFF2-40B4-BE49-F238E27FC236}">
                <a16:creationId xmlns:a16="http://schemas.microsoft.com/office/drawing/2014/main" id="{A6FB4DD0-F1DA-DBFE-2460-EEFCEEFB2FEF}"/>
              </a:ext>
            </a:extLst>
          </p:cNvPr>
          <p:cNvSpPr txBox="1"/>
          <p:nvPr/>
        </p:nvSpPr>
        <p:spPr>
          <a:xfrm>
            <a:off x="1064326" y="5670000"/>
            <a:ext cx="10132286" cy="756000"/>
          </a:xfrm>
          <a:prstGeom prst="rect">
            <a:avLst/>
          </a:prstGeom>
          <a:noFill/>
        </p:spPr>
        <p:txBody>
          <a:bodyPr wrap="square" lIns="0" tIns="0" rIns="0" bIns="0" anchor="t"/>
          <a:lstStyle/>
          <a:p>
            <a:pPr algn="ctr"/>
            <a:r>
              <a:rPr lang="ja-JP" altLang="en-US" sz="2000" b="1">
                <a:solidFill>
                  <a:srgbClr val="262626"/>
                </a:solidFill>
                <a:latin typeface="Meiryo"/>
                <a:ea typeface="Meiryo"/>
                <a:cs typeface="Meiryo"/>
              </a:rPr>
              <a:t>術前ベースライン把握は 反射・スティフネス軸</a:t>
            </a:r>
            <a:endParaRPr lang="ja-JP" altLang="en-US" sz="2000" b="1" dirty="0">
              <a:solidFill>
                <a:srgbClr val="262626"/>
              </a:solidFill>
              <a:latin typeface="Meiryo"/>
              <a:ea typeface="Meiryo"/>
              <a:cs typeface="Meiryo"/>
            </a:endParaRPr>
          </a:p>
          <a:p>
            <a:pPr algn="ctr"/>
            <a:r>
              <a:rPr lang="ja-JP" altLang="en-US" sz="2000" b="1">
                <a:solidFill>
                  <a:srgbClr val="262626"/>
                </a:solidFill>
                <a:latin typeface="Meiryo"/>
                <a:ea typeface="Meiryo"/>
                <a:cs typeface="Meiryo"/>
              </a:rPr>
              <a:t>術中に一拍ごとを追うのは 急性トーヌス軸</a:t>
            </a:r>
            <a:endParaRPr lang="ja-JP" altLang="en-US" sz="2000" b="1" dirty="0">
              <a:solidFill>
                <a:srgbClr val="262626"/>
              </a:solidFill>
              <a:latin typeface="Meiryo"/>
              <a:ea typeface="Meiryo"/>
              <a:cs typeface="Meiryo"/>
            </a:endParaRPr>
          </a:p>
        </p:txBody>
      </p:sp>
    </p:spTree>
    <p:extLst>
      <p:ext uri="{BB962C8B-B14F-4D97-AF65-F5344CB8AC3E}">
        <p14:creationId xmlns:p14="http://schemas.microsoft.com/office/powerpoint/2010/main" val="16107498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7. 限界</a:t>
            </a:r>
            <a:endParaRPr sz="4600" dirty="0">
              <a:latin typeface="Meiryo"/>
              <a:ea typeface="Meiryo"/>
              <a:cs typeface="Meiryo"/>
            </a:endParaRPr>
          </a:p>
        </p:txBody>
      </p:sp>
      <p:sp>
        <p:nvSpPr>
          <p:cNvPr id="10"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7</a:t>
            </a:r>
          </a:p>
          <a:p>
            <a:pPr algn="ctr"/>
            <a:r>
              <a:rPr sz="1050" b="1">
                <a:solidFill>
                  <a:srgbClr val="FFFFFF"/>
                </a:solidFill>
                <a:latin typeface="Meiryo"/>
                <a:ea typeface="Meiryo"/>
                <a:cs typeface="Meiryo"/>
              </a:rPr>
              <a:t>限界</a:t>
            </a:r>
          </a:p>
        </p:txBody>
      </p:sp>
      <p:sp>
        <p:nvSpPr>
          <p:cNvPr id="8" name="TextBox 7"/>
          <p:cNvSpPr txBox="1"/>
          <p:nvPr/>
        </p:nvSpPr>
        <p:spPr>
          <a:xfrm>
            <a:off x="864000" y="1494000"/>
            <a:ext cx="10584000" cy="5004000"/>
          </a:xfrm>
          <a:prstGeom prst="rect">
            <a:avLst/>
          </a:prstGeom>
          <a:noFill/>
        </p:spPr>
        <p:txBody>
          <a:bodyPr wrap="none" lIns="0" tIns="0" rIns="0" bIns="0" anchor="ctr">
            <a:spAutoFit/>
          </a:bodyPr>
          <a:lstStyle/>
          <a:p>
            <a:pPr marL="0" indent="0" algn="l" latinLnBrk="0">
              <a:lnSpc>
                <a:spcPts val="3685"/>
              </a:lnSpc>
              <a:spcBef>
                <a:spcPts val="0"/>
              </a:spcBef>
              <a:spcAft>
                <a:spcPts val="0"/>
              </a:spcAft>
            </a:pPr>
            <a:r>
              <a:rPr sz="2400" b="1" dirty="0">
                <a:solidFill>
                  <a:srgbClr val="D9D9D9"/>
                </a:solidFill>
                <a:latin typeface="Meiryo"/>
                <a:ea typeface="Meiryo"/>
                <a:cs typeface="Meiryo"/>
              </a:rPr>
              <a:t>1. </a:t>
            </a:r>
            <a:r>
              <a:rPr sz="2400" b="0" dirty="0" err="1">
                <a:solidFill>
                  <a:srgbClr val="D9D9D9"/>
                </a:solidFill>
                <a:latin typeface="Meiryo"/>
                <a:ea typeface="Meiryo"/>
                <a:cs typeface="Meiryo"/>
              </a:rPr>
              <a:t>PPGの基礎</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2. </a:t>
            </a:r>
            <a:r>
              <a:rPr sz="2400" b="0" dirty="0" err="1">
                <a:solidFill>
                  <a:srgbClr val="D9D9D9"/>
                </a:solidFill>
                <a:latin typeface="Meiryo"/>
                <a:ea typeface="Meiryo"/>
                <a:cs typeface="Meiryo"/>
              </a:rPr>
              <a:t>波形への影響：加齢</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3. </a:t>
            </a:r>
            <a:r>
              <a:rPr sz="2400" b="0" dirty="0" err="1">
                <a:solidFill>
                  <a:srgbClr val="D9D9D9"/>
                </a:solidFill>
                <a:latin typeface="Meiryo"/>
                <a:ea typeface="Meiryo"/>
                <a:cs typeface="Meiryo"/>
              </a:rPr>
              <a:t>波形への影響：循環</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4. </a:t>
            </a:r>
            <a:r>
              <a:rPr sz="2400" b="0" dirty="0" err="1">
                <a:solidFill>
                  <a:srgbClr val="D9D9D9"/>
                </a:solidFill>
                <a:latin typeface="Meiryo"/>
                <a:ea typeface="Meiryo"/>
                <a:cs typeface="Meiryo"/>
              </a:rPr>
              <a:t>麻酔中の波形変化</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5. </a:t>
            </a:r>
            <a:r>
              <a:rPr sz="2400" b="0" dirty="0" err="1">
                <a:solidFill>
                  <a:srgbClr val="D9D9D9"/>
                </a:solidFill>
                <a:latin typeface="Meiryo"/>
                <a:ea typeface="Meiryo"/>
                <a:cs typeface="Meiryo"/>
              </a:rPr>
              <a:t>波形の定量化</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D9D9D9"/>
                </a:solidFill>
                <a:latin typeface="Meiryo"/>
                <a:ea typeface="Meiryo"/>
                <a:cs typeface="Meiryo"/>
              </a:rPr>
              <a:t>6. </a:t>
            </a:r>
            <a:r>
              <a:rPr sz="2400" b="0" dirty="0" err="1">
                <a:solidFill>
                  <a:srgbClr val="D9D9D9"/>
                </a:solidFill>
                <a:latin typeface="Meiryo"/>
                <a:ea typeface="Meiryo"/>
                <a:cs typeface="Meiryo"/>
              </a:rPr>
              <a:t>解析まとめ</a:t>
            </a:r>
            <a:endParaRPr sz="2400" b="0" dirty="0">
              <a:solidFill>
                <a:srgbClr val="D9D9D9"/>
              </a:solidFill>
              <a:latin typeface="Meiryo"/>
              <a:ea typeface="Meiryo"/>
              <a:cs typeface="Meiryo"/>
            </a:endParaRPr>
          </a:p>
          <a:p>
            <a:pPr algn="l">
              <a:lnSpc>
                <a:spcPts val="3685"/>
              </a:lnSpc>
              <a:spcBef>
                <a:spcPts val="0"/>
              </a:spcBef>
              <a:spcAft>
                <a:spcPts val="0"/>
              </a:spcAft>
            </a:pPr>
            <a:r>
              <a:rPr sz="2400" b="1" dirty="0">
                <a:solidFill>
                  <a:srgbClr val="BF9000"/>
                </a:solidFill>
                <a:latin typeface="Meiryo"/>
                <a:ea typeface="Meiryo"/>
                <a:cs typeface="Meiryo"/>
              </a:rPr>
              <a:t>7. </a:t>
            </a:r>
            <a:r>
              <a:rPr sz="2400" b="1" dirty="0" err="1">
                <a:solidFill>
                  <a:srgbClr val="262626"/>
                </a:solidFill>
                <a:latin typeface="Meiryo"/>
                <a:ea typeface="Meiryo"/>
                <a:cs typeface="Meiryo"/>
              </a:rPr>
              <a:t>限界</a:t>
            </a:r>
            <a:endParaRPr sz="2400" b="1" dirty="0">
              <a:solidFill>
                <a:srgbClr val="262626"/>
              </a:solidFill>
              <a:latin typeface="Meiryo"/>
              <a:ea typeface="Meiryo"/>
              <a:cs typeface="Meiryo"/>
            </a:endParaRPr>
          </a:p>
          <a:p>
            <a:pPr algn="l">
              <a:lnSpc>
                <a:spcPts val="3685"/>
              </a:lnSpc>
              <a:spcBef>
                <a:spcPts val="0"/>
              </a:spcBef>
              <a:spcAft>
                <a:spcPts val="0"/>
              </a:spcAft>
            </a:pPr>
            <a:r>
              <a:rPr sz="2200" b="1" dirty="0">
                <a:solidFill>
                  <a:srgbClr val="BF9000"/>
                </a:solidFill>
                <a:latin typeface="Meiryo"/>
                <a:ea typeface="Meiryo"/>
                <a:cs typeface="Meiryo"/>
              </a:rPr>
              <a:t>　7.1　</a:t>
            </a:r>
            <a:r>
              <a:rPr sz="2200" b="1" dirty="0" err="1">
                <a:solidFill>
                  <a:srgbClr val="262626"/>
                </a:solidFill>
                <a:latin typeface="Meiryo"/>
                <a:ea typeface="Meiryo"/>
                <a:cs typeface="Meiryo"/>
              </a:rPr>
              <a:t>自動解析の壁</a:t>
            </a:r>
            <a:endParaRPr sz="2200" b="1" dirty="0">
              <a:solidFill>
                <a:srgbClr val="262626"/>
              </a:solidFill>
              <a:latin typeface="Meiryo"/>
              <a:ea typeface="Meiryo"/>
              <a:cs typeface="Meiryo"/>
            </a:endParaRPr>
          </a:p>
        </p:txBody>
      </p:sp>
      <p:sp>
        <p:nvSpPr>
          <p:cNvPr id="9" name="TextBox 8"/>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33/36</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a:latin typeface="Meiryo"/>
                <a:ea typeface="Meiryo"/>
                <a:cs typeface="Meiryo"/>
              </a:rPr>
              <a:t>7.1  自動解析の壁</a:t>
            </a:r>
            <a:endParaRPr sz="4600" dirty="0">
              <a:latin typeface="Meiryo"/>
              <a:ea typeface="Meiryo"/>
              <a:cs typeface="Meiryo"/>
            </a:endParaRPr>
          </a:p>
        </p:txBody>
      </p:sp>
      <p:sp>
        <p:nvSpPr>
          <p:cNvPr id="11"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2"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7"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7</a:t>
            </a:r>
          </a:p>
          <a:p>
            <a:pPr algn="ctr"/>
            <a:r>
              <a:rPr sz="1050" b="1">
                <a:solidFill>
                  <a:srgbClr val="FFFFFF"/>
                </a:solidFill>
                <a:latin typeface="Meiryo"/>
                <a:ea typeface="Meiryo"/>
                <a:cs typeface="Meiryo"/>
              </a:rPr>
              <a:t>限界</a:t>
            </a:r>
          </a:p>
        </p:txBody>
      </p:sp>
      <p:sp>
        <p:nvSpPr>
          <p:cNvPr id="8" name="TextBox 7"/>
          <p:cNvSpPr txBox="1"/>
          <p:nvPr/>
        </p:nvSpPr>
        <p:spPr>
          <a:xfrm>
            <a:off x="720000" y="6606000"/>
            <a:ext cx="10440000" cy="216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22. Elgendi 2012</a:t>
            </a:r>
          </a:p>
        </p:txBody>
      </p:sp>
      <p:sp>
        <p:nvSpPr>
          <p:cNvPr id="10" name="TextBox 9"/>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34/36</a:t>
            </a:r>
          </a:p>
        </p:txBody>
      </p:sp>
      <p:pic>
        <p:nvPicPr>
          <p:cNvPr id="19" name="fig_limits" descr="f71_limits.png"/>
          <p:cNvPicPr>
            <a:picLocks noChangeAspect="1"/>
          </p:cNvPicPr>
          <p:nvPr/>
        </p:nvPicPr>
        <p:blipFill>
          <a:blip r:embed="rId3"/>
          <a:stretch>
            <a:fillRect/>
          </a:stretch>
        </p:blipFill>
        <p:spPr>
          <a:xfrm>
            <a:off x="864000" y="2628000"/>
            <a:ext cx="10440000" cy="2141279"/>
          </a:xfrm>
          <a:prstGeom prst="rect">
            <a:avLst/>
          </a:prstGeom>
        </p:spPr>
      </p:pic>
      <p:sp>
        <p:nvSpPr>
          <p:cNvPr id="20" name="TextBox 19"/>
          <p:cNvSpPr txBox="1"/>
          <p:nvPr/>
        </p:nvSpPr>
        <p:spPr>
          <a:xfrm>
            <a:off x="86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反射波が2つ</a:t>
            </a:r>
          </a:p>
        </p:txBody>
      </p:sp>
      <p:sp>
        <p:nvSpPr>
          <p:cNvPr id="21" name="TextBox 20"/>
          <p:cNvSpPr txBox="1"/>
          <p:nvPr/>
        </p:nvSpPr>
        <p:spPr>
          <a:xfrm>
            <a:off x="86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どちらが P2 ?</a:t>
            </a:r>
          </a:p>
        </p:txBody>
      </p:sp>
      <p:sp>
        <p:nvSpPr>
          <p:cNvPr id="22" name="TextBox 21"/>
          <p:cNvSpPr txBox="1"/>
          <p:nvPr/>
        </p:nvSpPr>
        <p:spPr>
          <a:xfrm>
            <a:off x="347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p:cNvSpPr txBox="1"/>
          <p:nvPr/>
        </p:nvSpPr>
        <p:spPr>
          <a:xfrm>
            <a:off x="347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p:cNvSpPr txBox="1"/>
          <p:nvPr/>
        </p:nvSpPr>
        <p:spPr>
          <a:xfrm>
            <a:off x="6083999"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p:cNvSpPr txBox="1"/>
          <p:nvPr/>
        </p:nvSpPr>
        <p:spPr>
          <a:xfrm>
            <a:off x="6083999"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P2 が無い</a:t>
            </a:r>
          </a:p>
        </p:txBody>
      </p:sp>
      <p:sp>
        <p:nvSpPr>
          <p:cNvPr id="26" name="TextBox 25"/>
          <p:cNvSpPr txBox="1"/>
          <p:nvPr/>
        </p:nvSpPr>
        <p:spPr>
          <a:xfrm>
            <a:off x="869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p:cNvSpPr txBox="1"/>
          <p:nvPr/>
        </p:nvSpPr>
        <p:spPr>
          <a:xfrm>
            <a:off x="869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8" name="Rounded Rectangle 27"/>
          <p:cNvSpPr/>
          <p:nvPr/>
        </p:nvSpPr>
        <p:spPr>
          <a:xfrm>
            <a:off x="864000" y="5508000"/>
            <a:ext cx="10440000" cy="1007999"/>
          </a:xfrm>
          <a:prstGeom prst="roundRect">
            <a:avLst>
              <a:gd name="adj" fmla="val 12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C00000"/>
                </a:solidFill>
                <a:latin typeface="Meiryo"/>
                <a:ea typeface="Meiryo"/>
                <a:cs typeface="Meiryo"/>
              </a:rPr>
              <a:t>同じ定義（P2・切痕）が全部には当てはまらない</a:t>
            </a:r>
          </a:p>
          <a:p>
            <a:pPr algn="ctr">
              <a:spcBef>
                <a:spcPts val="0"/>
              </a:spcBef>
              <a:spcAft>
                <a:spcPts val="0"/>
              </a:spcAft>
            </a:pPr>
            <a:r>
              <a:rPr sz="2400" b="1">
                <a:solidFill>
                  <a:srgbClr val="262626"/>
                </a:solidFill>
                <a:latin typeface="Meiryo"/>
                <a:ea typeface="Meiryo"/>
                <a:cs typeface="Meiryo"/>
              </a:rPr>
              <a:t>＝ 自動で一律に解析することができない</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DB6AD1-C527-A750-341D-F4FF294A2580}"/>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AFB483F8-7D7D-600D-7F02-617385B7832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720392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48C895-178B-FF86-98BD-33E405168974}"/>
              </a:ext>
            </a:extLst>
          </p:cNvPr>
          <p:cNvSpPr>
            <a:spLocks noGrp="1"/>
          </p:cNvSpPr>
          <p:nvPr>
            <p:ph type="title"/>
          </p:nvPr>
        </p:nvSpPr>
        <p:spPr/>
        <p:txBody>
          <a:bodyPr/>
          <a:lstStyle/>
          <a:p>
            <a:r>
              <a:rPr kumimoji="1" lang="en-US" altLang="ja-JP" dirty="0"/>
              <a:t>7.2</a:t>
            </a:r>
            <a:r>
              <a:rPr lang="en-US" altLang="ja-JP" dirty="0"/>
              <a:t> </a:t>
            </a:r>
            <a:r>
              <a:rPr lang="ja-JP" altLang="en-US"/>
              <a:t>提案</a:t>
            </a:r>
            <a:endParaRPr kumimoji="1" lang="ja-JP" altLang="en-US"/>
          </a:p>
        </p:txBody>
      </p:sp>
      <p:sp>
        <p:nvSpPr>
          <p:cNvPr id="3" name="コンテンツ プレースホルダー 2">
            <a:extLst>
              <a:ext uri="{FF2B5EF4-FFF2-40B4-BE49-F238E27FC236}">
                <a16:creationId xmlns:a16="http://schemas.microsoft.com/office/drawing/2014/main" id="{E2964D18-7A87-A236-0273-5B90BE8E4BF3}"/>
              </a:ext>
            </a:extLst>
          </p:cNvPr>
          <p:cNvSpPr>
            <a:spLocks noGrp="1"/>
          </p:cNvSpPr>
          <p:nvPr>
            <p:ph idx="1"/>
          </p:nvPr>
        </p:nvSpPr>
        <p:spPr/>
        <p:txBody>
          <a:bodyPr/>
          <a:lstStyle/>
          <a:p>
            <a:r>
              <a:rPr kumimoji="1" lang="ja-JP" altLang="en-US"/>
              <a:t>前進波と反射波を分けて、数学的に反射波のピーク、位置を推定する。</a:t>
            </a:r>
            <a:endParaRPr kumimoji="1" lang="en-US" altLang="ja-JP" dirty="0"/>
          </a:p>
          <a:p>
            <a:endParaRPr lang="en-US" altLang="ja-JP" dirty="0"/>
          </a:p>
          <a:p>
            <a:r>
              <a:rPr kumimoji="1" lang="ja-JP" altLang="en-US"/>
              <a:t>収縮後期に反射波が埋もれたり、下降脚の角度が変わる程度でも、反射波ピークや位置の推定が可能</a:t>
            </a:r>
          </a:p>
        </p:txBody>
      </p:sp>
    </p:spTree>
    <p:extLst>
      <p:ext uri="{BB962C8B-B14F-4D97-AF65-F5344CB8AC3E}">
        <p14:creationId xmlns:p14="http://schemas.microsoft.com/office/powerpoint/2010/main" val="35824541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7"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2" name="Title 1"/>
          <p:cNvSpPr>
            <a:spLocks noGrp="1"/>
          </p:cNvSpPr>
          <p:nvPr>
            <p:ph type="title"/>
          </p:nvPr>
        </p:nvSpPr>
        <p:spPr/>
        <p:txBody>
          <a:bodyPr/>
          <a:lstStyle/>
          <a:p>
            <a:pPr algn="l"/>
            <a:r>
              <a:rPr sz="4600">
                <a:latin typeface="Meiryo"/>
                <a:ea typeface="Meiryo"/>
                <a:cs typeface="Meiryo"/>
              </a:rPr>
              <a:t>参考文献</a:t>
            </a:r>
          </a:p>
        </p:txBody>
      </p:sp>
      <p:sp>
        <p:nvSpPr>
          <p:cNvPr id="3" name="TextBox 2"/>
          <p:cNvSpPr txBox="1"/>
          <p:nvPr/>
        </p:nvSpPr>
        <p:spPr>
          <a:xfrm>
            <a:off x="792000" y="1800000"/>
            <a:ext cx="5256000" cy="4932000"/>
          </a:xfrm>
          <a:prstGeom prst="rect">
            <a:avLst/>
          </a:prstGeom>
          <a:noFill/>
        </p:spPr>
        <p:txBody>
          <a:bodyPr wrap="square" lIns="0" tIns="0" rIns="0" bIns="0" anchor="t">
            <a:spAutoFit/>
          </a:bodyPr>
          <a:lstStyle/>
          <a:p>
            <a:pPr algn="l">
              <a:lnSpc>
                <a:spcPct val="102000"/>
              </a:lnSpc>
              <a:spcAft>
                <a:spcPts val="400"/>
              </a:spcAft>
            </a:pPr>
            <a:r>
              <a:rPr sz="1050" b="0" u="none">
                <a:solidFill>
                  <a:srgbClr val="808080"/>
                </a:solidFill>
                <a:latin typeface="Meiryo"/>
                <a:ea typeface="Meiryo"/>
                <a:cs typeface="Meiryo"/>
                <a:hlinkClick r:id="rId2"/>
              </a:rPr>
              <a:t>1. Allen J. Photoplethysmography and its application in clinical physiological measurement. Physiol Meas 2007;28:R1–39.</a:t>
            </a:r>
          </a:p>
          <a:p>
            <a:pPr algn="l">
              <a:lnSpc>
                <a:spcPct val="102000"/>
              </a:lnSpc>
              <a:spcAft>
                <a:spcPts val="400"/>
              </a:spcAft>
            </a:pPr>
            <a:r>
              <a:rPr sz="1050" b="0" u="none">
                <a:solidFill>
                  <a:srgbClr val="808080"/>
                </a:solidFill>
                <a:latin typeface="Meiryo"/>
                <a:ea typeface="Meiryo"/>
                <a:cs typeface="Meiryo"/>
                <a:hlinkClick r:id="rId2"/>
              </a:rPr>
              <a:t>2. Politi MT, et al. The dicrotic notch analyzed by a numerical model. Comput Biol Med 2016;72:54–64.</a:t>
            </a:r>
          </a:p>
          <a:p>
            <a:pPr algn="l">
              <a:lnSpc>
                <a:spcPct val="102000"/>
              </a:lnSpc>
              <a:spcAft>
                <a:spcPts val="400"/>
              </a:spcAft>
            </a:pPr>
            <a:r>
              <a:rPr sz="1050" b="0" u="none">
                <a:solidFill>
                  <a:srgbClr val="808080"/>
                </a:solidFill>
                <a:latin typeface="Meiryo"/>
                <a:ea typeface="Meiryo"/>
                <a:cs typeface="Meiryo"/>
                <a:hlinkClick r:id="rId2"/>
              </a:rPr>
              <a:t>3. Stergiopulos N, Westerhof BE, Westerhof N. Total arterial inertance as the fourth element of the windkessel model. Am J Physiol 1999;276:H81–8.</a:t>
            </a:r>
          </a:p>
          <a:p>
            <a:pPr algn="l">
              <a:lnSpc>
                <a:spcPct val="102000"/>
              </a:lnSpc>
              <a:spcAft>
                <a:spcPts val="400"/>
              </a:spcAft>
            </a:pPr>
            <a:r>
              <a:rPr sz="1050" b="0" u="none">
                <a:solidFill>
                  <a:srgbClr val="808080"/>
                </a:solidFill>
                <a:latin typeface="Meiryo"/>
                <a:ea typeface="Meiryo"/>
                <a:cs typeface="Meiryo"/>
                <a:hlinkClick r:id="rId2"/>
              </a:rPr>
              <a:t>4. Millasseau SC, et al. Determination of age-related increases in large artery stiffness by digital pulse contour analysis. Clin Sci (Lond) 2002;103:371–7.</a:t>
            </a:r>
          </a:p>
          <a:p>
            <a:pPr algn="l">
              <a:lnSpc>
                <a:spcPct val="102000"/>
              </a:lnSpc>
              <a:spcAft>
                <a:spcPts val="400"/>
              </a:spcAft>
            </a:pPr>
            <a:r>
              <a:rPr sz="1050" b="0" u="none">
                <a:solidFill>
                  <a:srgbClr val="808080"/>
                </a:solidFill>
                <a:latin typeface="Meiryo"/>
                <a:ea typeface="Meiryo"/>
                <a:cs typeface="Meiryo"/>
                <a:hlinkClick r:id="rId2"/>
              </a:rPr>
              <a:t>5. Dawber TR, Thomas HE, McNamara PM. Characteristics of the dicrotic notch of the arterial pulse wave in coronary heart disease. Angiology 1973;24:244–55.</a:t>
            </a:r>
          </a:p>
          <a:p>
            <a:pPr algn="l">
              <a:lnSpc>
                <a:spcPct val="102000"/>
              </a:lnSpc>
              <a:spcAft>
                <a:spcPts val="400"/>
              </a:spcAft>
            </a:pPr>
            <a:r>
              <a:rPr sz="1050" b="0" u="none">
                <a:solidFill>
                  <a:srgbClr val="808080"/>
                </a:solidFill>
                <a:latin typeface="Meiryo"/>
                <a:ea typeface="Meiryo"/>
                <a:cs typeface="Meiryo"/>
                <a:hlinkClick r:id="rId2"/>
              </a:rPr>
              <a:t>6. Cunningham JW, et al. Machine learning to understand genetic and clinical factors associated with the pulse waveform dicrotic notch. Circ Genom Precis Med 2023;16:e003676.</a:t>
            </a:r>
          </a:p>
          <a:p>
            <a:pPr algn="l">
              <a:lnSpc>
                <a:spcPct val="102000"/>
              </a:lnSpc>
              <a:spcAft>
                <a:spcPts val="400"/>
              </a:spcAft>
            </a:pPr>
            <a:r>
              <a:rPr sz="1050" b="0" u="none">
                <a:solidFill>
                  <a:srgbClr val="808080"/>
                </a:solidFill>
                <a:latin typeface="Meiryo"/>
                <a:ea typeface="Meiryo"/>
                <a:cs typeface="Meiryo"/>
                <a:hlinkClick r:id="rId2"/>
              </a:rPr>
              <a:t>7. Wilkinson IB, et al. The influence of heart rate on augmentation index and central arterial pressure in humans. J Physiol 2000;525:263–70.</a:t>
            </a:r>
          </a:p>
          <a:p>
            <a:pPr algn="l">
              <a:lnSpc>
                <a:spcPct val="102000"/>
              </a:lnSpc>
              <a:spcAft>
                <a:spcPts val="400"/>
              </a:spcAft>
            </a:pPr>
            <a:r>
              <a:rPr sz="1050" b="0" u="none">
                <a:solidFill>
                  <a:srgbClr val="808080"/>
                </a:solidFill>
                <a:latin typeface="Meiryo"/>
                <a:ea typeface="Meiryo"/>
                <a:cs typeface="Meiryo"/>
                <a:hlinkClick r:id="rId2"/>
              </a:rPr>
              <a:t>8. Alian AA, et al. Impact of central hypovolemia on photoplethysmographic waveform parameters in healthy volunteers. Part 1: time domain analysis. J Clin Monit Comput 2011;25:377–85.</a:t>
            </a:r>
          </a:p>
        </p:txBody>
      </p:sp>
      <p:sp>
        <p:nvSpPr>
          <p:cNvPr id="4" name="TextBox 3"/>
          <p:cNvSpPr txBox="1"/>
          <p:nvPr/>
        </p:nvSpPr>
        <p:spPr>
          <a:xfrm>
            <a:off x="6263999" y="1800000"/>
            <a:ext cx="5256000" cy="4932000"/>
          </a:xfrm>
          <a:prstGeom prst="rect">
            <a:avLst/>
          </a:prstGeom>
          <a:noFill/>
        </p:spPr>
        <p:txBody>
          <a:bodyPr wrap="square" lIns="0" tIns="0" rIns="0" bIns="0" anchor="t">
            <a:spAutoFit/>
          </a:bodyPr>
          <a:lstStyle/>
          <a:p>
            <a:pPr algn="l">
              <a:lnSpc>
                <a:spcPct val="102000"/>
              </a:lnSpc>
              <a:spcAft>
                <a:spcPts val="400"/>
              </a:spcAft>
            </a:pPr>
            <a:r>
              <a:rPr sz="1050" b="0" u="none">
                <a:solidFill>
                  <a:srgbClr val="808080"/>
                </a:solidFill>
                <a:latin typeface="Meiryo"/>
                <a:ea typeface="Meiryo"/>
                <a:cs typeface="Meiryo"/>
                <a:hlinkClick r:id="rId2"/>
              </a:rPr>
              <a:t>9. Cannesson M, et al. Relation between respiratory variations in pulse oximetry plethysmographic waveform amplitude and arterial pulse pressure in ventilated patients. Crit Care 2005;9:R562–8.</a:t>
            </a:r>
          </a:p>
          <a:p>
            <a:pPr algn="l">
              <a:lnSpc>
                <a:spcPct val="102000"/>
              </a:lnSpc>
              <a:spcAft>
                <a:spcPts val="400"/>
              </a:spcAft>
            </a:pPr>
            <a:r>
              <a:rPr sz="1050" b="0" u="none">
                <a:solidFill>
                  <a:srgbClr val="808080"/>
                </a:solidFill>
                <a:latin typeface="Meiryo"/>
                <a:ea typeface="Meiryo"/>
                <a:cs typeface="Meiryo"/>
                <a:hlinkClick r:id="rId2"/>
              </a:rPr>
              <a:t>10. Pagoulatou S, et al. The effect of left ventricular contractility on arterial hemodynamics: a model-based investigation. PLoS One 2021;16(8):e0255561.</a:t>
            </a:r>
          </a:p>
          <a:p>
            <a:pPr algn="l">
              <a:lnSpc>
                <a:spcPct val="102000"/>
              </a:lnSpc>
              <a:spcAft>
                <a:spcPts val="400"/>
              </a:spcAft>
            </a:pPr>
            <a:r>
              <a:rPr sz="1050" b="0" u="none">
                <a:solidFill>
                  <a:srgbClr val="808080"/>
                </a:solidFill>
                <a:latin typeface="Meiryo"/>
                <a:ea typeface="Meiryo"/>
                <a:cs typeface="Meiryo"/>
                <a:hlinkClick r:id="rId2"/>
              </a:rPr>
              <a:t>11. Couceiro R, et al. Multi-Gaussian fitting for the assessment of left ventricular ejection time from the photoplethysmogram. Annu Int Conf IEEE EMBC 2012;2012:3951–4.</a:t>
            </a:r>
          </a:p>
          <a:p>
            <a:pPr algn="l">
              <a:lnSpc>
                <a:spcPct val="102000"/>
              </a:lnSpc>
              <a:spcAft>
                <a:spcPts val="400"/>
              </a:spcAft>
            </a:pPr>
            <a:r>
              <a:rPr sz="1050" b="0" u="none">
                <a:solidFill>
                  <a:srgbClr val="808080"/>
                </a:solidFill>
                <a:latin typeface="Meiryo"/>
                <a:ea typeface="Meiryo"/>
                <a:cs typeface="Meiryo"/>
                <a:hlinkClick r:id="rId2"/>
              </a:rPr>
              <a:t>12. Piccioli F, et al. The effect of cardiac properties on arterial pulse waves: an in-silico study. Int J Numer Method Biomed Eng 2022;38(12):e3658.</a:t>
            </a:r>
          </a:p>
          <a:p>
            <a:pPr algn="l">
              <a:lnSpc>
                <a:spcPct val="102000"/>
              </a:lnSpc>
              <a:spcAft>
                <a:spcPts val="400"/>
              </a:spcAft>
            </a:pPr>
            <a:r>
              <a:rPr sz="1050" b="0" u="none">
                <a:solidFill>
                  <a:srgbClr val="808080"/>
                </a:solidFill>
                <a:latin typeface="Meiryo"/>
                <a:ea typeface="Meiryo"/>
                <a:cs typeface="Meiryo"/>
                <a:hlinkClick r:id="rId2"/>
              </a:rPr>
              <a:t>13. Awad AA, et al. The relationship between the photoplethysmographic waveform and systemic vascular resistance. J Clin Monit Comput 2007;21:365–72.</a:t>
            </a:r>
          </a:p>
          <a:p>
            <a:pPr algn="l">
              <a:lnSpc>
                <a:spcPct val="102000"/>
              </a:lnSpc>
              <a:spcAft>
                <a:spcPts val="400"/>
              </a:spcAft>
            </a:pPr>
            <a:r>
              <a:rPr sz="1050" b="0" u="none">
                <a:solidFill>
                  <a:srgbClr val="808080"/>
                </a:solidFill>
                <a:latin typeface="Meiryo"/>
                <a:ea typeface="Meiryo"/>
                <a:cs typeface="Meiryo"/>
                <a:hlinkClick r:id="rId2"/>
              </a:rPr>
              <a:t>14. Tusman G, et al. Photoplethysmographic characterization of vascular tone mediated changes in arterial pressure: an observational study. J Clin Monit Comput 2019;33:815–24.</a:t>
            </a:r>
          </a:p>
          <a:p>
            <a:pPr algn="l">
              <a:lnSpc>
                <a:spcPct val="102000"/>
              </a:lnSpc>
              <a:spcAft>
                <a:spcPts val="400"/>
              </a:spcAft>
            </a:pPr>
            <a:r>
              <a:rPr sz="1050" b="0" u="none">
                <a:solidFill>
                  <a:srgbClr val="808080"/>
                </a:solidFill>
                <a:latin typeface="Meiryo"/>
                <a:ea typeface="Meiryo"/>
                <a:cs typeface="Meiryo"/>
                <a:hlinkClick r:id="rId3"/>
              </a:rPr>
              <a:t>15. Chowienczyk PJ, et al. Photoplethysmographic assessment of pulse wave reflection: blunted response to endothelium-dependent β2-adrenergic vasodilation in type II diabetes mellitus. J Am Coll Cardiol 1999;34:2007–14.</a:t>
            </a:r>
          </a:p>
        </p:txBody>
      </p:sp>
      <p:sp>
        <p:nvSpPr>
          <p:cNvPr id="5" name="TextBox 4"/>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36/36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ff-page Connector 2"/>
          <p:cNvSpPr/>
          <p:nvPr/>
        </p:nvSpPr>
        <p:spPr>
          <a:xfrm>
            <a:off x="75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7" name="Off-page Connector 3"/>
          <p:cNvSpPr/>
          <p:nvPr/>
        </p:nvSpPr>
        <p:spPr>
          <a:xfrm>
            <a:off x="82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加齢</a:t>
            </a:r>
          </a:p>
        </p:txBody>
      </p:sp>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循環</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麻酔</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まとめ</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7</a:t>
            </a:r>
          </a:p>
          <a:p>
            <a:pPr algn="ctr"/>
            <a:r>
              <a:rPr sz="1050" b="1">
                <a:solidFill>
                  <a:srgbClr val="808080"/>
                </a:solidFill>
                <a:latin typeface="Meiryo"/>
                <a:ea typeface="Meiryo"/>
                <a:cs typeface="Meiryo"/>
              </a:rPr>
              <a:t>限界</a:t>
            </a:r>
          </a:p>
        </p:txBody>
      </p:sp>
      <p:sp>
        <p:nvSpPr>
          <p:cNvPr id="2" name="Title 1"/>
          <p:cNvSpPr>
            <a:spLocks noGrp="1"/>
          </p:cNvSpPr>
          <p:nvPr>
            <p:ph type="title"/>
          </p:nvPr>
        </p:nvSpPr>
        <p:spPr/>
        <p:txBody>
          <a:bodyPr/>
          <a:lstStyle/>
          <a:p>
            <a:pPr algn="l"/>
            <a:r>
              <a:rPr sz="4600">
                <a:latin typeface="Meiryo"/>
                <a:ea typeface="Meiryo"/>
                <a:cs typeface="Meiryo"/>
              </a:rPr>
              <a:t>参考文献（続き）</a:t>
            </a:r>
          </a:p>
        </p:txBody>
      </p:sp>
      <p:sp>
        <p:nvSpPr>
          <p:cNvPr id="3" name="TextBox 2"/>
          <p:cNvSpPr txBox="1"/>
          <p:nvPr/>
        </p:nvSpPr>
        <p:spPr>
          <a:xfrm>
            <a:off x="792000" y="1800000"/>
            <a:ext cx="5256000" cy="4932000"/>
          </a:xfrm>
          <a:prstGeom prst="rect">
            <a:avLst/>
          </a:prstGeom>
          <a:noFill/>
        </p:spPr>
        <p:txBody>
          <a:bodyPr wrap="square" lIns="0" tIns="0" rIns="0" bIns="0" anchor="t">
            <a:spAutoFit/>
          </a:bodyPr>
          <a:lstStyle/>
          <a:p>
            <a:pPr algn="l">
              <a:lnSpc>
                <a:spcPct val="102000"/>
              </a:lnSpc>
              <a:spcAft>
                <a:spcPts val="400"/>
              </a:spcAft>
            </a:pPr>
            <a:r>
              <a:rPr sz="1050" b="0" u="none">
                <a:solidFill>
                  <a:srgbClr val="808080"/>
                </a:solidFill>
                <a:latin typeface="Meiryo"/>
                <a:ea typeface="Meiryo"/>
                <a:cs typeface="Meiryo"/>
                <a:hlinkClick r:id="rId3"/>
              </a:rPr>
              <a:t>16. Takazawa K, et al. Assessment of vasoactive agents and vascular aging by the second derivative of the photoplethysmogram waveform. Hypertension 1998;32:365–70.</a:t>
            </a:r>
          </a:p>
          <a:p>
            <a:pPr algn="l">
              <a:lnSpc>
                <a:spcPct val="102000"/>
              </a:lnSpc>
              <a:spcAft>
                <a:spcPts val="400"/>
              </a:spcAft>
            </a:pPr>
            <a:r>
              <a:rPr sz="1050" b="0" u="none">
                <a:solidFill>
                  <a:srgbClr val="808080"/>
                </a:solidFill>
                <a:latin typeface="Meiryo"/>
                <a:ea typeface="Meiryo"/>
                <a:cs typeface="Meiryo"/>
                <a:hlinkClick r:id="rId3"/>
              </a:rPr>
              <a:t>17. Murray WB, Foster PA. The peripheral pulse wave: information overlooked. J Clin Monit 1996;12:365–77.</a:t>
            </a:r>
          </a:p>
          <a:p>
            <a:pPr algn="l">
              <a:lnSpc>
                <a:spcPct val="102000"/>
              </a:lnSpc>
              <a:spcAft>
                <a:spcPts val="400"/>
              </a:spcAft>
            </a:pPr>
            <a:r>
              <a:rPr sz="1050" b="0" u="none">
                <a:solidFill>
                  <a:srgbClr val="808080"/>
                </a:solidFill>
                <a:latin typeface="Meiryo"/>
                <a:ea typeface="Meiryo"/>
                <a:cs typeface="Meiryo"/>
                <a:hlinkClick r:id="rId3"/>
              </a:rPr>
              <a:t>18. Bortolotto LA, et al. Assessment of vascular aging and atherosclerosis in hypertensive subjects: second derivative of photoplethysmogram versus pulse wave velocity. Am J Hypertens 2000;13:165–71.</a:t>
            </a:r>
          </a:p>
          <a:p>
            <a:pPr algn="l">
              <a:lnSpc>
                <a:spcPct val="102000"/>
              </a:lnSpc>
              <a:spcAft>
                <a:spcPts val="400"/>
              </a:spcAft>
            </a:pPr>
            <a:r>
              <a:rPr sz="1050" b="0" u="none">
                <a:solidFill>
                  <a:srgbClr val="808080"/>
                </a:solidFill>
                <a:latin typeface="Meiryo"/>
                <a:ea typeface="Meiryo"/>
                <a:cs typeface="Meiryo"/>
                <a:hlinkClick r:id="rId3"/>
              </a:rPr>
              <a:t>19. Hashimoto J, et al. Pulse wave velocity and the second derivative of the finger photoplethysmogram in treated hypertensive patients. J Hypertens 2002;20:2415–22.</a:t>
            </a:r>
          </a:p>
          <a:p>
            <a:pPr algn="l">
              <a:lnSpc>
                <a:spcPct val="102000"/>
              </a:lnSpc>
              <a:spcAft>
                <a:spcPts val="400"/>
              </a:spcAft>
            </a:pPr>
            <a:r>
              <a:rPr sz="1050" b="0" u="none">
                <a:solidFill>
                  <a:srgbClr val="808080"/>
                </a:solidFill>
                <a:latin typeface="Meiryo"/>
                <a:ea typeface="Meiryo"/>
                <a:cs typeface="Meiryo"/>
                <a:hlinkClick r:id="rId3"/>
              </a:rPr>
              <a:t>20. Joachim J, et al. Real-time estimation of mean arterial blood pressure based on photoplethysmography dicrotic notch and perfusion index: a pilot study. J Clin Monit Comput 2021;35:395–404.</a:t>
            </a:r>
          </a:p>
          <a:p>
            <a:pPr algn="l">
              <a:lnSpc>
                <a:spcPct val="102000"/>
              </a:lnSpc>
              <a:spcAft>
                <a:spcPts val="400"/>
              </a:spcAft>
            </a:pPr>
            <a:r>
              <a:rPr sz="1050" b="0" u="none">
                <a:solidFill>
                  <a:srgbClr val="808080"/>
                </a:solidFill>
                <a:latin typeface="Meiryo"/>
                <a:ea typeface="Meiryo"/>
                <a:cs typeface="Meiryo"/>
                <a:hlinkClick r:id="rId3"/>
              </a:rPr>
              <a:t>21. Middleton PM, et al. Fingertip photoplethysmographic waveform variability and systemic vascular resistance in intensive care unit patients. Med Biol Eng Comput 2011;49:859–66.</a:t>
            </a:r>
          </a:p>
          <a:p>
            <a:pPr algn="l">
              <a:lnSpc>
                <a:spcPct val="102000"/>
              </a:lnSpc>
              <a:spcAft>
                <a:spcPts val="400"/>
              </a:spcAft>
            </a:pPr>
            <a:r>
              <a:rPr sz="1050" b="0" u="none">
                <a:solidFill>
                  <a:srgbClr val="808080"/>
                </a:solidFill>
                <a:latin typeface="Meiryo"/>
                <a:ea typeface="Meiryo"/>
                <a:cs typeface="Meiryo"/>
                <a:hlinkClick r:id="rId3"/>
              </a:rPr>
              <a:t>22. Elgendi M. On the analysis of fingertip photoplethysmogram signals. Curr Cardiol Rev 2012;8:14–25.</a:t>
            </a:r>
          </a:p>
        </p:txBody>
      </p:sp>
      <p:sp>
        <p:nvSpPr>
          <p:cNvPr id="4" name="TextBox 3"/>
          <p:cNvSpPr txBox="1"/>
          <p:nvPr/>
        </p:nvSpPr>
        <p:spPr>
          <a:xfrm>
            <a:off x="6263999" y="1800000"/>
            <a:ext cx="5256000" cy="4932000"/>
          </a:xfrm>
          <a:prstGeom prst="rect">
            <a:avLst/>
          </a:prstGeom>
          <a:noFill/>
        </p:spPr>
        <p:txBody>
          <a:bodyPr wrap="square" lIns="0" tIns="0" rIns="0" bIns="0" anchor="t">
            <a:spAutoFit/>
          </a:bodyPr>
          <a:lstStyle/>
          <a:p>
            <a:pPr algn="l">
              <a:lnSpc>
                <a:spcPct val="102000"/>
              </a:lnSpc>
              <a:spcAft>
                <a:spcPts val="400"/>
              </a:spcAft>
            </a:pPr>
            <a:r>
              <a:rPr sz="1050" b="0" u="none">
                <a:solidFill>
                  <a:srgbClr val="808080"/>
                </a:solidFill>
                <a:latin typeface="Meiryo"/>
                <a:ea typeface="Meiryo"/>
                <a:cs typeface="Meiryo"/>
                <a:hlinkClick r:id="rId3"/>
              </a:rPr>
              <a:t>23. Charlton PH, et al. Modeling arterial pulse waves in healthy aging: a database for in silico evaluation of hemodynamics and pulse wave indexes. Am J Physiol Heart Circ Physiol 2019;317:H1062–H1085.</a:t>
            </a:r>
          </a:p>
          <a:p>
            <a:pPr algn="l">
              <a:lnSpc>
                <a:spcPct val="102000"/>
              </a:lnSpc>
              <a:spcAft>
                <a:spcPts val="400"/>
              </a:spcAft>
            </a:pPr>
            <a:r>
              <a:rPr sz="1050" b="0" u="none">
                <a:solidFill>
                  <a:srgbClr val="808080"/>
                </a:solidFill>
                <a:latin typeface="Meiryo"/>
                <a:ea typeface="Meiryo"/>
                <a:cs typeface="Meiryo"/>
                <a:hlinkClick r:id="rId3"/>
              </a:rPr>
              <a:t>24. Md Lazim MR, et al. Is heart rate a confounding factor for photoplethysmography markers? A systematic review. Int J Environ Res Public Health 2020;17:2591.</a:t>
            </a:r>
          </a:p>
          <a:p>
            <a:pPr algn="l">
              <a:lnSpc>
                <a:spcPct val="102000"/>
              </a:lnSpc>
              <a:spcAft>
                <a:spcPts val="400"/>
              </a:spcAft>
            </a:pPr>
            <a:r>
              <a:rPr sz="1050" b="0" u="none">
                <a:solidFill>
                  <a:srgbClr val="808080"/>
                </a:solidFill>
                <a:latin typeface="Meiryo"/>
                <a:ea typeface="Meiryo"/>
                <a:cs typeface="Meiryo"/>
                <a:hlinkClick r:id="rId3"/>
              </a:rPr>
              <a:t>25. Aoyagi T. Pulse oximetry: its invention, theory, and future. J Anesth 2003;17:259–66.</a:t>
            </a:r>
          </a:p>
          <a:p>
            <a:pPr algn="l">
              <a:lnSpc>
                <a:spcPct val="102000"/>
              </a:lnSpc>
              <a:spcAft>
                <a:spcPts val="400"/>
              </a:spcAft>
            </a:pPr>
            <a:r>
              <a:rPr sz="1050" b="0" u="none">
                <a:solidFill>
                  <a:srgbClr val="808080"/>
                </a:solidFill>
                <a:latin typeface="Meiryo"/>
                <a:ea typeface="Meiryo"/>
                <a:cs typeface="Meiryo"/>
                <a:hlinkClick r:id="rId3"/>
              </a:rPr>
              <a:t>26. Chan ED, Chan MM, Chan MM. Pulse oximetry: understanding its basic principles facilitates appreciation of its limitations. Respir Med 2013;107:789–99.</a:t>
            </a:r>
          </a:p>
          <a:p>
            <a:pPr algn="l">
              <a:lnSpc>
                <a:spcPct val="102000"/>
              </a:lnSpc>
              <a:spcAft>
                <a:spcPts val="400"/>
              </a:spcAft>
            </a:pPr>
            <a:r>
              <a:rPr sz="1050" b="0" u="none">
                <a:solidFill>
                  <a:srgbClr val="808080"/>
                </a:solidFill>
                <a:latin typeface="Meiryo"/>
                <a:ea typeface="Meiryo"/>
                <a:cs typeface="Meiryo"/>
                <a:hlinkClick r:id="rId3"/>
              </a:rPr>
              <a:t>27. Millasseau SC, Kelly RP, Ritter JM, Chowienczyk PJ. The vascular impact of aging and vasoactive drugs: comparison of two digital volume pulse measurements. Am J Hypertens 2003;16:467–72.</a:t>
            </a:r>
          </a:p>
          <a:p>
            <a:pPr algn="l">
              <a:lnSpc>
                <a:spcPct val="102000"/>
              </a:lnSpc>
              <a:spcAft>
                <a:spcPts val="400"/>
              </a:spcAft>
            </a:pPr>
            <a:r>
              <a:rPr sz="1050" b="0" u="none">
                <a:solidFill>
                  <a:srgbClr val="808080"/>
                </a:solidFill>
                <a:latin typeface="Meiryo"/>
                <a:ea typeface="Meiryo"/>
                <a:cs typeface="Meiryo"/>
                <a:hlinkClick r:id="rId3"/>
              </a:rPr>
              <a:t>28. Padilla JM, et al. Pulse wave velocity and digital volume pulse as indirect estimators of blood pressure: pilot study on healthy volunteers. Cardiovasc Eng 2009;9:104–12.</a:t>
            </a:r>
          </a:p>
          <a:p>
            <a:pPr algn="l">
              <a:lnSpc>
                <a:spcPct val="102000"/>
              </a:lnSpc>
              <a:spcAft>
                <a:spcPts val="400"/>
              </a:spcAft>
            </a:pPr>
            <a:r>
              <a:rPr sz="1050" b="0" u="none">
                <a:solidFill>
                  <a:srgbClr val="808080"/>
                </a:solidFill>
                <a:latin typeface="Meiryo"/>
                <a:ea typeface="Meiryo"/>
                <a:cs typeface="Meiryo"/>
                <a:hlinkClick r:id="rId4"/>
              </a:rPr>
              <a:t>29. Coutrot M, et al. Noninvasive continuous detection of arterial hypotension during induction of anaesthesia using a photoplethysmographic signal: proof of concept. Br J Anaesth 2019;122:605–12.</a:t>
            </a:r>
          </a:p>
        </p:txBody>
      </p:sp>
      <p:sp>
        <p:nvSpPr>
          <p:cNvPr id="5" name="TextBox 4"/>
          <p:cNvSpPr txBox="1"/>
          <p:nvPr/>
        </p:nvSpPr>
        <p:spPr>
          <a:xfrm>
            <a:off x="11052000" y="6606000"/>
            <a:ext cx="1007999" cy="216000"/>
          </a:xfrm>
          <a:prstGeom prst="rect">
            <a:avLst/>
          </a:prstGeom>
          <a:noFill/>
        </p:spPr>
        <p:txBody>
          <a:bodyPr wrap="square" lIns="0" tIns="0" rIns="0" bIns="0" anchor="t">
            <a:spAutoFit/>
          </a:bodyPr>
          <a:lstStyle/>
          <a:p>
            <a:pPr algn="r"/>
            <a:r>
              <a:rPr sz="1200" b="0">
                <a:solidFill>
                  <a:srgbClr val="808080"/>
                </a:solidFill>
                <a:latin typeface="Meiryo"/>
                <a:ea typeface="Meiryo"/>
                <a:cs typeface="Meiryo"/>
              </a:rPr>
              <a:t>36/36</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19305</TotalTime>
  <Words>8511</Words>
  <Application>Microsoft Macintosh PowerPoint</Application>
  <PresentationFormat>ワイド画面</PresentationFormat>
  <Paragraphs>1583</Paragraphs>
  <Slides>52</Slides>
  <Notes>36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52</vt:i4>
      </vt:variant>
    </vt:vector>
  </HeadingPairs>
  <TitlesOfParts>
    <vt:vector size="58" baseType="lpstr">
      <vt:lpstr>Meiryo</vt:lpstr>
      <vt:lpstr>Meiryo</vt:lpstr>
      <vt:lpstr>游ゴシック</vt:lpstr>
      <vt:lpstr>Arial</vt:lpstr>
      <vt:lpstr>Calibri</vt:lpstr>
      <vt:lpstr>Office テーマ</vt:lpstr>
      <vt:lpstr>SpO₂（PPG）波形解析の流れ</vt:lpstr>
      <vt:lpstr>メニュー</vt:lpstr>
      <vt:lpstr>1. PPGの基礎</vt:lpstr>
      <vt:lpstr>1.1  SpO₂の測定原理</vt:lpstr>
      <vt:lpstr>PowerPoint プレゼンテーション</vt:lpstr>
      <vt:lpstr>1.2  PPGが測るもの</vt:lpstr>
      <vt:lpstr>1.2  PPGが測るもの</vt:lpstr>
      <vt:lpstr>1.2  PPGが測るもの</vt:lpstr>
      <vt:lpstr>1.2  PPGが測るもの</vt:lpstr>
      <vt:lpstr>1.3  前進波の成因</vt:lpstr>
      <vt:lpstr>1.3  前進波の成因</vt:lpstr>
      <vt:lpstr>1.3  前進波の成因</vt:lpstr>
      <vt:lpstr>1.4  反射波の成因</vt:lpstr>
      <vt:lpstr>1.5  PPG基礎まとめ  　</vt:lpstr>
      <vt:lpstr>2. 波形への影響：加齢</vt:lpstr>
      <vt:lpstr>2.1  フラミンガム研究</vt:lpstr>
      <vt:lpstr>2.1  フラミンガム研究</vt:lpstr>
      <vt:lpstr>2.1  フラミンガム研究</vt:lpstr>
      <vt:lpstr>PowerPoint プレゼンテーション</vt:lpstr>
      <vt:lpstr>2.2  UK Biobank</vt:lpstr>
      <vt:lpstr>2.2  UK Biobank</vt:lpstr>
      <vt:lpstr>2.2  UK Biobank</vt:lpstr>
      <vt:lpstr>2.3  切痕が消える理由</vt:lpstr>
      <vt:lpstr>3. 波形への影響：循環</vt:lpstr>
      <vt:lpstr>3.1  前負荷</vt:lpstr>
      <vt:lpstr>3.1  前負荷</vt:lpstr>
      <vt:lpstr>3.1  前負荷</vt:lpstr>
      <vt:lpstr>3.1  前負荷</vt:lpstr>
      <vt:lpstr>3.2  後負荷：末梢</vt:lpstr>
      <vt:lpstr>3.3  後負荷の違い</vt:lpstr>
      <vt:lpstr>3.4  心収縮力</vt:lpstr>
      <vt:lpstr>3.4  心収縮力</vt:lpstr>
      <vt:lpstr>3.5  心拍数</vt:lpstr>
      <vt:lpstr>3.6  文献強度</vt:lpstr>
      <vt:lpstr>波形変化まとめ</vt:lpstr>
      <vt:lpstr>4. 麻酔中の波形変化</vt:lpstr>
      <vt:lpstr>4.1  切痕位置とトーヌス</vt:lpstr>
      <vt:lpstr>4.2  波形の6分類</vt:lpstr>
      <vt:lpstr>4.2  波形の6分類</vt:lpstr>
      <vt:lpstr>coutrot 2019 </vt:lpstr>
      <vt:lpstr>5. 波形の定量化</vt:lpstr>
      <vt:lpstr>5.1. Stiffness Index</vt:lpstr>
      <vt:lpstr>5.2  Reflection Index</vt:lpstr>
      <vt:lpstr>5.2  Reflection Index</vt:lpstr>
      <vt:lpstr>5.3  加速度脈波 SDPPG</vt:lpstr>
      <vt:lpstr>6. 解析まとめ</vt:lpstr>
      <vt:lpstr>6.1  読み方の2軸</vt:lpstr>
      <vt:lpstr>7. 限界</vt:lpstr>
      <vt:lpstr>7.1  自動解析の壁</vt:lpstr>
      <vt:lpstr>PowerPoint プレゼンテーション</vt:lpstr>
      <vt:lpstr>7.2 提案</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46</cp:revision>
  <dcterms:created xsi:type="dcterms:W3CDTF">2025-01-05T04:32:32Z</dcterms:created>
  <dcterms:modified xsi:type="dcterms:W3CDTF">2026-08-08T16:13:30Z</dcterms:modified>
</cp:coreProperties>
</file>