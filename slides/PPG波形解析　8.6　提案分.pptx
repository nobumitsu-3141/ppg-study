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3"/>
  </p:notesMasterIdLst>
  <p:sldIdLst>
    <p:sldId id="372" r:id="rId2"/>
    <p:sldId id="458" r:id="rId3"/>
    <p:sldId id="498" r:id="rId4"/>
    <p:sldId id="259" r:id="rId5"/>
    <p:sldId id="260" r:id="rId6"/>
    <p:sldId id="368" r:id="rId7"/>
    <p:sldId id="369" r:id="rId8"/>
    <p:sldId id="349" r:id="rId9"/>
    <p:sldId id="380" r:id="rId10"/>
    <p:sldId id="399" r:id="rId11"/>
    <p:sldId id="401" r:id="rId12"/>
    <p:sldId id="402" r:id="rId13"/>
    <p:sldId id="377" r:id="rId14"/>
    <p:sldId id="378" r:id="rId15"/>
    <p:sldId id="397" r:id="rId16"/>
    <p:sldId id="347" r:id="rId17"/>
    <p:sldId id="352" r:id="rId18"/>
    <p:sldId id="379" r:id="rId19"/>
    <p:sldId id="351" r:id="rId20"/>
    <p:sldId id="328" r:id="rId21"/>
    <p:sldId id="432" r:id="rId22"/>
    <p:sldId id="306" r:id="rId23"/>
    <p:sldId id="472" r:id="rId24"/>
    <p:sldId id="354" r:id="rId25"/>
    <p:sldId id="422" r:id="rId26"/>
    <p:sldId id="307" r:id="rId27"/>
    <p:sldId id="382" r:id="rId28"/>
    <p:sldId id="384" r:id="rId29"/>
    <p:sldId id="339" r:id="rId30"/>
    <p:sldId id="425" r:id="rId31"/>
    <p:sldId id="424" r:id="rId32"/>
    <p:sldId id="355" r:id="rId33"/>
    <p:sldId id="311" r:id="rId34"/>
    <p:sldId id="272" r:id="rId35"/>
    <p:sldId id="383" r:id="rId36"/>
    <p:sldId id="473" r:id="rId37"/>
    <p:sldId id="403" r:id="rId38"/>
    <p:sldId id="356" r:id="rId39"/>
    <p:sldId id="427" r:id="rId40"/>
    <p:sldId id="428" r:id="rId41"/>
    <p:sldId id="320" r:id="rId42"/>
    <p:sldId id="410" r:id="rId43"/>
    <p:sldId id="409" r:id="rId44"/>
    <p:sldId id="299" r:id="rId45"/>
    <p:sldId id="362" r:id="rId46"/>
    <p:sldId id="474" r:id="rId47"/>
    <p:sldId id="275" r:id="rId48"/>
    <p:sldId id="321" r:id="rId49"/>
    <p:sldId id="310" r:id="rId50"/>
    <p:sldId id="385" r:id="rId51"/>
    <p:sldId id="433" r:id="rId52"/>
    <p:sldId id="364" r:id="rId53"/>
    <p:sldId id="274" r:id="rId54"/>
    <p:sldId id="517" r:id="rId55"/>
    <p:sldId id="330" r:id="rId56"/>
    <p:sldId id="386" r:id="rId57"/>
    <p:sldId id="518" r:id="rId58"/>
    <p:sldId id="331" r:id="rId59"/>
    <p:sldId id="388" r:id="rId60"/>
    <p:sldId id="398" r:id="rId61"/>
    <p:sldId id="360" r:id="rId62"/>
    <p:sldId id="390" r:id="rId63"/>
    <p:sldId id="391" r:id="rId64"/>
    <p:sldId id="459" r:id="rId65"/>
    <p:sldId id="470" r:id="rId66"/>
    <p:sldId id="414" r:id="rId67"/>
    <p:sldId id="475" r:id="rId68"/>
    <p:sldId id="429" r:id="rId69"/>
    <p:sldId id="476" r:id="rId70"/>
    <p:sldId id="343" r:id="rId71"/>
    <p:sldId id="289" r:id="rId72"/>
    <p:sldId id="497" r:id="rId73"/>
    <p:sldId id="496" r:id="rId74"/>
    <p:sldId id="411" r:id="rId75"/>
    <p:sldId id="460" r:id="rId76"/>
    <p:sldId id="461" r:id="rId77"/>
    <p:sldId id="462" r:id="rId78"/>
    <p:sldId id="442" r:id="rId79"/>
    <p:sldId id="478" r:id="rId80"/>
    <p:sldId id="491" r:id="rId81"/>
    <p:sldId id="480" r:id="rId82"/>
    <p:sldId id="481" r:id="rId83"/>
    <p:sldId id="483" r:id="rId84"/>
    <p:sldId id="492" r:id="rId85"/>
    <p:sldId id="493" r:id="rId86"/>
    <p:sldId id="487" r:id="rId87"/>
    <p:sldId id="482" r:id="rId88"/>
    <p:sldId id="445" r:id="rId89"/>
    <p:sldId id="446" r:id="rId90"/>
    <p:sldId id="447" r:id="rId91"/>
    <p:sldId id="448" r:id="rId92"/>
    <p:sldId id="449" r:id="rId93"/>
    <p:sldId id="450" r:id="rId94"/>
    <p:sldId id="451" r:id="rId95"/>
    <p:sldId id="454" r:id="rId96"/>
    <p:sldId id="499" r:id="rId97"/>
    <p:sldId id="507" r:id="rId98"/>
    <p:sldId id="479" r:id="rId99"/>
    <p:sldId id="500" r:id="rId100"/>
    <p:sldId id="501" r:id="rId101"/>
    <p:sldId id="502" r:id="rId102"/>
    <p:sldId id="503" r:id="rId103"/>
    <p:sldId id="484" r:id="rId104"/>
    <p:sldId id="504" r:id="rId105"/>
    <p:sldId id="486" r:id="rId106"/>
    <p:sldId id="506" r:id="rId107"/>
    <p:sldId id="488" r:id="rId108"/>
    <p:sldId id="509" r:id="rId109"/>
    <p:sldId id="510" r:id="rId110"/>
    <p:sldId id="511" r:id="rId111"/>
    <p:sldId id="512" r:id="rId112"/>
    <p:sldId id="513" r:id="rId113"/>
    <p:sldId id="514" r:id="rId114"/>
    <p:sldId id="515" r:id="rId115"/>
    <p:sldId id="490" r:id="rId116"/>
    <p:sldId id="520" r:id="rId117"/>
    <p:sldId id="296" r:id="rId118"/>
    <p:sldId id="366" r:id="rId119"/>
    <p:sldId id="456" r:id="rId120"/>
    <p:sldId id="457" r:id="rId121"/>
    <p:sldId id="521" r:id="rId122"/>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3" userDrawn="1">
          <p15:clr>
            <a:srgbClr val="A4A3A4"/>
          </p15:clr>
        </p15:guide>
        <p15:guide id="2" pos="3840" userDrawn="1">
          <p15:clr>
            <a:srgbClr val="A4A3A4"/>
          </p15:clr>
        </p15:guide>
        <p15:guide id="3" orient="horz" pos="2432" userDrawn="1">
          <p15:clr>
            <a:srgbClr val="A4A3A4"/>
          </p15:clr>
        </p15:guide>
        <p15:guide id="4" orient="horz" pos="1434" userDrawn="1">
          <p15:clr>
            <a:srgbClr val="A4A3A4"/>
          </p15:clr>
        </p15:guide>
        <p15:guide id="5" pos="5405" userDrawn="1">
          <p15:clr>
            <a:srgbClr val="A4A3A4"/>
          </p15:clr>
        </p15:guide>
        <p15:guide id="6" orient="horz" pos="1071"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A1AC31E-A074-BE30-983B-E3E82504D4B4}" name="金子　翔平" initials="金子　翔平" userId="S::aa84312551@ms.nagasaki-u.ac.jp::1ca4e0e6-6999-4e3c-bd1a-befb3b49a97e"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A8A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74C1A8A3-306A-4EB7-A6B1-4F7E0EB9C5D6}" styleName="中間スタイル 3 - アクセント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793D81CF-94F2-401A-BA57-92F5A7B2D0C5}" styleName="スタイル (中間)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淡色スタイル 1 - アクセント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2DE63D5-997A-4646-A377-4702673A728D}" styleName="淡色スタイル 2 - アクセント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A111915-BE36-4E01-A7E5-04B1672EAD32}" styleName="淡色スタイル 2 - アクセント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1FECB4D8-DB02-4DC6-A0A2-4F2EBAE1DC90}" styleName="中間スタイル 1 - アクセント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706"/>
    <p:restoredTop sz="75068"/>
  </p:normalViewPr>
  <p:slideViewPr>
    <p:cSldViewPr snapToGrid="0">
      <p:cViewPr varScale="1">
        <p:scale>
          <a:sx n="80" d="100"/>
          <a:sy n="80" d="100"/>
        </p:scale>
        <p:origin x="752" y="480"/>
      </p:cViewPr>
      <p:guideLst>
        <p:guide orient="horz" pos="2183"/>
        <p:guide pos="3840"/>
        <p:guide orient="horz" pos="2432"/>
        <p:guide orient="horz" pos="1434"/>
        <p:guide pos="5405"/>
        <p:guide orient="horz" pos="1071"/>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notesMaster" Target="notesMasters/notesMaster1.xml"/><Relationship Id="rId128" Type="http://schemas.microsoft.com/office/2018/10/relationships/authors" Target="author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presProps" Target="pres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37B2AB-5E9D-2D47-A616-04DAF5F03FCC}" type="datetimeFigureOut">
              <a:rPr kumimoji="1" lang="ja-JP" altLang="en-US" smtClean="0"/>
              <a:t>2026/8/24</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68CECF-0771-D84F-8D42-085DB944B0B8}" type="slidenum">
              <a:rPr kumimoji="1" lang="ja-JP" altLang="en-US" smtClean="0"/>
              <a:t>‹#›</a:t>
            </a:fld>
            <a:endParaRPr kumimoji="1" lang="ja-JP" altLang="en-US"/>
          </a:p>
        </p:txBody>
      </p:sp>
    </p:spTree>
    <p:extLst>
      <p:ext uri="{BB962C8B-B14F-4D97-AF65-F5344CB8AC3E}">
        <p14:creationId xmlns:p14="http://schemas.microsoft.com/office/powerpoint/2010/main" val="364573549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9BB1DD5-1A16-1A60-20AF-B5EED0CFCF2E}"/>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28A4C9E5-FD63-3236-24F5-FC748686EBF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33E335F1-834C-BABF-045C-355CCB0A42FF}"/>
              </a:ext>
            </a:extLst>
          </p:cNvPr>
          <p:cNvSpPr>
            <a:spLocks noGrp="1"/>
          </p:cNvSpPr>
          <p:nvPr>
            <p:ph type="dt" sz="half" idx="10"/>
          </p:nvPr>
        </p:nvSpPr>
        <p:spPr/>
        <p:txBody>
          <a:bodyPr/>
          <a:lstStyle/>
          <a:p>
            <a:fld id="{64C99FAD-9CFF-A945-A4B4-00DC82096DC7}" type="datetimeFigureOut">
              <a:rPr kumimoji="1" lang="ja-JP" altLang="en-US" smtClean="0"/>
              <a:t>2026/8/24</a:t>
            </a:fld>
            <a:endParaRPr kumimoji="1" lang="ja-JP" altLang="en-US"/>
          </a:p>
        </p:txBody>
      </p:sp>
      <p:sp>
        <p:nvSpPr>
          <p:cNvPr id="5" name="フッター プレースホルダー 4">
            <a:extLst>
              <a:ext uri="{FF2B5EF4-FFF2-40B4-BE49-F238E27FC236}">
                <a16:creationId xmlns:a16="http://schemas.microsoft.com/office/drawing/2014/main" id="{FAFDC9A0-3B96-460D-AAB9-FC66E94BBED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7B83DAC-4DD6-08ED-9DCA-53A6DDC06710}"/>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9236598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6609514-4D53-EA77-F63A-42232F85E868}"/>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96EA3DF-4DF3-4992-2DA5-D0DB3DB82D66}"/>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B80B6BE-5CB3-C4BE-E076-4A49EC4E4922}"/>
              </a:ext>
            </a:extLst>
          </p:cNvPr>
          <p:cNvSpPr>
            <a:spLocks noGrp="1"/>
          </p:cNvSpPr>
          <p:nvPr>
            <p:ph type="dt" sz="half" idx="10"/>
          </p:nvPr>
        </p:nvSpPr>
        <p:spPr/>
        <p:txBody>
          <a:bodyPr/>
          <a:lstStyle/>
          <a:p>
            <a:fld id="{64C99FAD-9CFF-A945-A4B4-00DC82096DC7}" type="datetimeFigureOut">
              <a:rPr kumimoji="1" lang="ja-JP" altLang="en-US" smtClean="0"/>
              <a:t>2026/8/24</a:t>
            </a:fld>
            <a:endParaRPr kumimoji="1" lang="ja-JP" altLang="en-US"/>
          </a:p>
        </p:txBody>
      </p:sp>
      <p:sp>
        <p:nvSpPr>
          <p:cNvPr id="5" name="フッター プレースホルダー 4">
            <a:extLst>
              <a:ext uri="{FF2B5EF4-FFF2-40B4-BE49-F238E27FC236}">
                <a16:creationId xmlns:a16="http://schemas.microsoft.com/office/drawing/2014/main" id="{CEF0FD92-12CD-409B-1CEB-389EE2162B7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316860B-2AFE-23CB-BE82-66E8FF319C65}"/>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12004064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10785A-59BF-2065-B8A1-EBEAADF6A190}"/>
              </a:ext>
            </a:extLst>
          </p:cNvPr>
          <p:cNvSpPr>
            <a:spLocks noGrp="1"/>
          </p:cNvSpPr>
          <p:nvPr>
            <p:ph type="title"/>
          </p:nvPr>
        </p:nvSpPr>
        <p:spPr>
          <a:noFill/>
        </p:spPr>
        <p:txBody>
          <a:bodyPr>
            <a:normAutofit/>
          </a:bodyPr>
          <a:lstStyle>
            <a:lvl1pPr>
              <a:defRPr sz="5400" b="1">
                <a:ln w="28575">
                  <a:solidFill>
                    <a:schemeClr val="tx1"/>
                  </a:solidFill>
                </a:ln>
                <a:solidFill>
                  <a:schemeClr val="accent4">
                    <a:lumMod val="75000"/>
                  </a:schemeClr>
                </a:solidFill>
              </a:defRPr>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068DAE1-7483-C30B-E035-FB6DBF4EC393}"/>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1C75BA9-652B-2D4F-9F17-725B5935BFBE}"/>
              </a:ext>
            </a:extLst>
          </p:cNvPr>
          <p:cNvSpPr>
            <a:spLocks noGrp="1"/>
          </p:cNvSpPr>
          <p:nvPr>
            <p:ph type="dt" sz="half" idx="10"/>
          </p:nvPr>
        </p:nvSpPr>
        <p:spPr/>
        <p:txBody>
          <a:bodyPr/>
          <a:lstStyle/>
          <a:p>
            <a:fld id="{A73D7EA1-97A8-0545-955B-06694759B3F9}" type="datetimeFigureOut">
              <a:rPr kumimoji="1" lang="ja-JP" altLang="en-US" smtClean="0"/>
              <a:t>2026/8/24</a:t>
            </a:fld>
            <a:endParaRPr kumimoji="1" lang="ja-JP" altLang="en-US"/>
          </a:p>
        </p:txBody>
      </p:sp>
      <p:sp>
        <p:nvSpPr>
          <p:cNvPr id="5" name="フッター プレースホルダー 4">
            <a:extLst>
              <a:ext uri="{FF2B5EF4-FFF2-40B4-BE49-F238E27FC236}">
                <a16:creationId xmlns:a16="http://schemas.microsoft.com/office/drawing/2014/main" id="{437D5B95-0BF5-1A66-4B43-3005CBFD369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F6633EE-B940-40F0-810F-74E7411441EC}"/>
              </a:ext>
            </a:extLst>
          </p:cNvPr>
          <p:cNvSpPr>
            <a:spLocks noGrp="1"/>
          </p:cNvSpPr>
          <p:nvPr>
            <p:ph type="sldNum" sz="quarter" idx="12"/>
          </p:nvPr>
        </p:nvSpPr>
        <p:spPr/>
        <p:txBody>
          <a:bodyPr/>
          <a:lstStyle/>
          <a:p>
            <a:fld id="{1B432A2A-E892-8A44-A0E8-B63FAA9CED68}" type="slidenum">
              <a:rPr kumimoji="1" lang="ja-JP" altLang="en-US" smtClean="0"/>
              <a:t>‹#›</a:t>
            </a:fld>
            <a:endParaRPr kumimoji="1" lang="ja-JP" altLang="en-US"/>
          </a:p>
        </p:txBody>
      </p:sp>
      <p:cxnSp>
        <p:nvCxnSpPr>
          <p:cNvPr id="8" name="直線コネクタ 7">
            <a:extLst>
              <a:ext uri="{FF2B5EF4-FFF2-40B4-BE49-F238E27FC236}">
                <a16:creationId xmlns:a16="http://schemas.microsoft.com/office/drawing/2014/main" id="{1588CBBB-9AF3-0B69-57D8-03EC6E25D148}"/>
              </a:ext>
            </a:extLst>
          </p:cNvPr>
          <p:cNvCxnSpPr/>
          <p:nvPr userDrawn="1"/>
        </p:nvCxnSpPr>
        <p:spPr>
          <a:xfrm>
            <a:off x="0" y="1385889"/>
            <a:ext cx="12192000" cy="0"/>
          </a:xfrm>
          <a:prstGeom prst="line">
            <a:avLst/>
          </a:prstGeom>
          <a:ln w="1016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02839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664E0C8-3610-C864-7B17-EEEE201544C2}"/>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AE91662-1152-EA17-B236-CF25E975C41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8A0A7F96-49A0-58F6-DA2B-01B201036C46}"/>
              </a:ext>
            </a:extLst>
          </p:cNvPr>
          <p:cNvSpPr>
            <a:spLocks noGrp="1"/>
          </p:cNvSpPr>
          <p:nvPr>
            <p:ph type="dt" sz="half" idx="10"/>
          </p:nvPr>
        </p:nvSpPr>
        <p:spPr/>
        <p:txBody>
          <a:bodyPr/>
          <a:lstStyle/>
          <a:p>
            <a:fld id="{64C99FAD-9CFF-A945-A4B4-00DC82096DC7}" type="datetimeFigureOut">
              <a:rPr kumimoji="1" lang="ja-JP" altLang="en-US" smtClean="0"/>
              <a:t>2026/8/24</a:t>
            </a:fld>
            <a:endParaRPr kumimoji="1" lang="ja-JP" altLang="en-US"/>
          </a:p>
        </p:txBody>
      </p:sp>
      <p:sp>
        <p:nvSpPr>
          <p:cNvPr id="5" name="フッター プレースホルダー 4">
            <a:extLst>
              <a:ext uri="{FF2B5EF4-FFF2-40B4-BE49-F238E27FC236}">
                <a16:creationId xmlns:a16="http://schemas.microsoft.com/office/drawing/2014/main" id="{A096A423-4B04-3CED-2E70-E49F08F7F78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9EF4DCE-A44E-3C9F-B1F7-D59EAF8437DC}"/>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10989514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1_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55718C9-086A-D1B4-DD68-4C9B73A0AAD9}"/>
              </a:ext>
            </a:extLst>
          </p:cNvPr>
          <p:cNvSpPr>
            <a:spLocks noGrp="1"/>
          </p:cNvSpPr>
          <p:nvPr>
            <p:ph type="title"/>
          </p:nvPr>
        </p:nvSpPr>
        <p:spPr/>
        <p:txBody>
          <a:bodyPr>
            <a:normAutofit/>
          </a:bodyPr>
          <a:lstStyle>
            <a:lvl1pPr>
              <a:defRPr sz="5400" b="1">
                <a:ln w="28575">
                  <a:solidFill>
                    <a:schemeClr val="tx1"/>
                  </a:solidFill>
                </a:ln>
                <a:solidFill>
                  <a:schemeClr val="accent4">
                    <a:lumMod val="75000"/>
                  </a:schemeClr>
                </a:solidFill>
              </a:defRPr>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DED73AC-1557-B634-8F9F-5C5723BC5FBD}"/>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0DF23024-122B-1FCF-C2E0-B59E059D445B}"/>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B2521A9A-6B13-05C5-5C9D-3D6E125037F3}"/>
              </a:ext>
            </a:extLst>
          </p:cNvPr>
          <p:cNvSpPr>
            <a:spLocks noGrp="1"/>
          </p:cNvSpPr>
          <p:nvPr>
            <p:ph type="dt" sz="half" idx="10"/>
          </p:nvPr>
        </p:nvSpPr>
        <p:spPr/>
        <p:txBody>
          <a:bodyPr/>
          <a:lstStyle/>
          <a:p>
            <a:fld id="{A73D7EA1-97A8-0545-955B-06694759B3F9}" type="datetimeFigureOut">
              <a:rPr kumimoji="1" lang="ja-JP" altLang="en-US" smtClean="0"/>
              <a:t>2026/8/24</a:t>
            </a:fld>
            <a:endParaRPr kumimoji="1" lang="ja-JP" altLang="en-US"/>
          </a:p>
        </p:txBody>
      </p:sp>
      <p:sp>
        <p:nvSpPr>
          <p:cNvPr id="6" name="フッター プレースホルダー 5">
            <a:extLst>
              <a:ext uri="{FF2B5EF4-FFF2-40B4-BE49-F238E27FC236}">
                <a16:creationId xmlns:a16="http://schemas.microsoft.com/office/drawing/2014/main" id="{153A542A-A56B-777E-3F1D-A1708CE104F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0417F42-A65D-CC2D-BF13-1F280C6F77DB}"/>
              </a:ext>
            </a:extLst>
          </p:cNvPr>
          <p:cNvSpPr>
            <a:spLocks noGrp="1"/>
          </p:cNvSpPr>
          <p:nvPr>
            <p:ph type="sldNum" sz="quarter" idx="12"/>
          </p:nvPr>
        </p:nvSpPr>
        <p:spPr/>
        <p:txBody>
          <a:bodyPr/>
          <a:lstStyle/>
          <a:p>
            <a:fld id="{1B432A2A-E892-8A44-A0E8-B63FAA9CED68}" type="slidenum">
              <a:rPr kumimoji="1" lang="ja-JP" altLang="en-US" smtClean="0"/>
              <a:t>‹#›</a:t>
            </a:fld>
            <a:endParaRPr kumimoji="1" lang="ja-JP" altLang="en-US"/>
          </a:p>
        </p:txBody>
      </p:sp>
      <p:cxnSp>
        <p:nvCxnSpPr>
          <p:cNvPr id="9" name="直線コネクタ 8">
            <a:extLst>
              <a:ext uri="{FF2B5EF4-FFF2-40B4-BE49-F238E27FC236}">
                <a16:creationId xmlns:a16="http://schemas.microsoft.com/office/drawing/2014/main" id="{937BC2D1-3F82-EF81-D97A-7D3AE2FE202A}"/>
              </a:ext>
            </a:extLst>
          </p:cNvPr>
          <p:cNvCxnSpPr/>
          <p:nvPr userDrawn="1"/>
        </p:nvCxnSpPr>
        <p:spPr>
          <a:xfrm>
            <a:off x="0" y="1385889"/>
            <a:ext cx="12192000" cy="0"/>
          </a:xfrm>
          <a:prstGeom prst="line">
            <a:avLst/>
          </a:prstGeom>
          <a:ln w="1016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90090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07388CD-1FFB-31F3-C7DB-E3B5FD10D4B2}"/>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FC6DE23-D275-4370-BD5A-480D95CE28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D690AA4-E9AA-B485-AD6C-1C2878DAD19E}"/>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38E67483-14AB-067C-B7B7-2EA7516092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F65BB0C7-C880-82CA-51CD-8FE569A9A82D}"/>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4B768951-A05B-F317-444E-B2396EBCE859}"/>
              </a:ext>
            </a:extLst>
          </p:cNvPr>
          <p:cNvSpPr>
            <a:spLocks noGrp="1"/>
          </p:cNvSpPr>
          <p:nvPr>
            <p:ph type="dt" sz="half" idx="10"/>
          </p:nvPr>
        </p:nvSpPr>
        <p:spPr/>
        <p:txBody>
          <a:bodyPr/>
          <a:lstStyle/>
          <a:p>
            <a:fld id="{64C99FAD-9CFF-A945-A4B4-00DC82096DC7}" type="datetimeFigureOut">
              <a:rPr kumimoji="1" lang="ja-JP" altLang="en-US" smtClean="0"/>
              <a:t>2026/8/24</a:t>
            </a:fld>
            <a:endParaRPr kumimoji="1" lang="ja-JP" altLang="en-US"/>
          </a:p>
        </p:txBody>
      </p:sp>
      <p:sp>
        <p:nvSpPr>
          <p:cNvPr id="8" name="フッター プレースホルダー 7">
            <a:extLst>
              <a:ext uri="{FF2B5EF4-FFF2-40B4-BE49-F238E27FC236}">
                <a16:creationId xmlns:a16="http://schemas.microsoft.com/office/drawing/2014/main" id="{9818A5DB-3180-023B-135D-27BD785A8DB2}"/>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89B93B53-35E3-07DA-9CCC-A402E6685B00}"/>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557670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6B883C7-DD58-5055-62BC-9EDA06590C49}"/>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ED0DB5EC-BDE0-34D0-DA77-D4DB1A3B6F12}"/>
              </a:ext>
            </a:extLst>
          </p:cNvPr>
          <p:cNvSpPr>
            <a:spLocks noGrp="1"/>
          </p:cNvSpPr>
          <p:nvPr>
            <p:ph type="dt" sz="half" idx="10"/>
          </p:nvPr>
        </p:nvSpPr>
        <p:spPr/>
        <p:txBody>
          <a:bodyPr/>
          <a:lstStyle/>
          <a:p>
            <a:fld id="{64C99FAD-9CFF-A945-A4B4-00DC82096DC7}" type="datetimeFigureOut">
              <a:rPr kumimoji="1" lang="ja-JP" altLang="en-US" smtClean="0"/>
              <a:t>2026/8/24</a:t>
            </a:fld>
            <a:endParaRPr kumimoji="1" lang="ja-JP" altLang="en-US"/>
          </a:p>
        </p:txBody>
      </p:sp>
      <p:sp>
        <p:nvSpPr>
          <p:cNvPr id="4" name="フッター プレースホルダー 3">
            <a:extLst>
              <a:ext uri="{FF2B5EF4-FFF2-40B4-BE49-F238E27FC236}">
                <a16:creationId xmlns:a16="http://schemas.microsoft.com/office/drawing/2014/main" id="{AC03656C-86B7-4C15-7BA3-B3B601F88C4D}"/>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45CBC942-C4B6-A5DA-4F52-C029DAE94702}"/>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12575424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127ED450-F690-B038-0094-3555581065A9}"/>
              </a:ext>
            </a:extLst>
          </p:cNvPr>
          <p:cNvSpPr>
            <a:spLocks noGrp="1"/>
          </p:cNvSpPr>
          <p:nvPr>
            <p:ph type="dt" sz="half" idx="10"/>
          </p:nvPr>
        </p:nvSpPr>
        <p:spPr/>
        <p:txBody>
          <a:bodyPr/>
          <a:lstStyle/>
          <a:p>
            <a:fld id="{64C99FAD-9CFF-A945-A4B4-00DC82096DC7}" type="datetimeFigureOut">
              <a:rPr kumimoji="1" lang="ja-JP" altLang="en-US" smtClean="0"/>
              <a:t>2026/8/24</a:t>
            </a:fld>
            <a:endParaRPr kumimoji="1" lang="ja-JP" altLang="en-US"/>
          </a:p>
        </p:txBody>
      </p:sp>
      <p:sp>
        <p:nvSpPr>
          <p:cNvPr id="3" name="フッター プレースホルダー 2">
            <a:extLst>
              <a:ext uri="{FF2B5EF4-FFF2-40B4-BE49-F238E27FC236}">
                <a16:creationId xmlns:a16="http://schemas.microsoft.com/office/drawing/2014/main" id="{215B6823-52A0-CD63-36F2-D393CFBAD4CD}"/>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08CFD362-AD76-FE16-43FF-BF50D783C225}"/>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30301860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BAC8FEB-313E-1A23-E039-1FD7BC551470}"/>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58DE601-91D4-BA5F-BDED-C48ED34A961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F6301970-4A10-1455-4740-658C137B58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C1B49241-62A1-1BE7-9708-63D789B8A049}"/>
              </a:ext>
            </a:extLst>
          </p:cNvPr>
          <p:cNvSpPr>
            <a:spLocks noGrp="1"/>
          </p:cNvSpPr>
          <p:nvPr>
            <p:ph type="dt" sz="half" idx="10"/>
          </p:nvPr>
        </p:nvSpPr>
        <p:spPr/>
        <p:txBody>
          <a:bodyPr/>
          <a:lstStyle/>
          <a:p>
            <a:fld id="{64C99FAD-9CFF-A945-A4B4-00DC82096DC7}" type="datetimeFigureOut">
              <a:rPr kumimoji="1" lang="ja-JP" altLang="en-US" smtClean="0"/>
              <a:t>2026/8/24</a:t>
            </a:fld>
            <a:endParaRPr kumimoji="1" lang="ja-JP" altLang="en-US"/>
          </a:p>
        </p:txBody>
      </p:sp>
      <p:sp>
        <p:nvSpPr>
          <p:cNvPr id="6" name="フッター プレースホルダー 5">
            <a:extLst>
              <a:ext uri="{FF2B5EF4-FFF2-40B4-BE49-F238E27FC236}">
                <a16:creationId xmlns:a16="http://schemas.microsoft.com/office/drawing/2014/main" id="{18D7AE81-D6E0-B1A1-B87D-C06575CF96E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92F107A-897F-811D-10D8-251DF9C7C7BA}"/>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29519255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F7E2A16-725A-923D-2398-0748807BDF5E}"/>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0341C8C2-22C2-0735-C719-9C480705C86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ja-JP" altLang="en-US"/>
              <a:t>アイコンをクリックして図を追加</a:t>
            </a:r>
          </a:p>
        </p:txBody>
      </p:sp>
      <p:sp>
        <p:nvSpPr>
          <p:cNvPr id="4" name="テキスト プレースホルダー 3">
            <a:extLst>
              <a:ext uri="{FF2B5EF4-FFF2-40B4-BE49-F238E27FC236}">
                <a16:creationId xmlns:a16="http://schemas.microsoft.com/office/drawing/2014/main" id="{7A762707-D34C-FFF3-F523-CC41D9BBBC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3B0758A-0126-79D7-6E8A-D1F16CA2555A}"/>
              </a:ext>
            </a:extLst>
          </p:cNvPr>
          <p:cNvSpPr>
            <a:spLocks noGrp="1"/>
          </p:cNvSpPr>
          <p:nvPr>
            <p:ph type="dt" sz="half" idx="10"/>
          </p:nvPr>
        </p:nvSpPr>
        <p:spPr/>
        <p:txBody>
          <a:bodyPr/>
          <a:lstStyle/>
          <a:p>
            <a:fld id="{64C99FAD-9CFF-A945-A4B4-00DC82096DC7}" type="datetimeFigureOut">
              <a:rPr kumimoji="1" lang="ja-JP" altLang="en-US" smtClean="0"/>
              <a:t>2026/8/24</a:t>
            </a:fld>
            <a:endParaRPr kumimoji="1" lang="ja-JP" altLang="en-US"/>
          </a:p>
        </p:txBody>
      </p:sp>
      <p:sp>
        <p:nvSpPr>
          <p:cNvPr id="6" name="フッター プレースホルダー 5">
            <a:extLst>
              <a:ext uri="{FF2B5EF4-FFF2-40B4-BE49-F238E27FC236}">
                <a16:creationId xmlns:a16="http://schemas.microsoft.com/office/drawing/2014/main" id="{D356DEE3-FF23-C461-2CDC-6EE451E78D2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0889527-DA9C-DD5E-F8C5-7BA97C20C493}"/>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1545643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0F78201-368B-B21B-3515-CD75CA99C601}"/>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5B298458-2860-EDE4-A6A1-B909945E4457}"/>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0C12A1F-E8C6-279E-3702-8D2ABDBF6ED7}"/>
              </a:ext>
            </a:extLst>
          </p:cNvPr>
          <p:cNvSpPr>
            <a:spLocks noGrp="1"/>
          </p:cNvSpPr>
          <p:nvPr>
            <p:ph type="dt" sz="half" idx="10"/>
          </p:nvPr>
        </p:nvSpPr>
        <p:spPr/>
        <p:txBody>
          <a:bodyPr/>
          <a:lstStyle/>
          <a:p>
            <a:fld id="{64C99FAD-9CFF-A945-A4B4-00DC82096DC7}" type="datetimeFigureOut">
              <a:rPr kumimoji="1" lang="ja-JP" altLang="en-US" smtClean="0"/>
              <a:t>2026/8/24</a:t>
            </a:fld>
            <a:endParaRPr kumimoji="1" lang="ja-JP" altLang="en-US"/>
          </a:p>
        </p:txBody>
      </p:sp>
      <p:sp>
        <p:nvSpPr>
          <p:cNvPr id="5" name="フッター プレースホルダー 4">
            <a:extLst>
              <a:ext uri="{FF2B5EF4-FFF2-40B4-BE49-F238E27FC236}">
                <a16:creationId xmlns:a16="http://schemas.microsoft.com/office/drawing/2014/main" id="{1A895D9E-AB19-209A-271D-B608230A1BF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7E1F434-D8A1-EF22-053D-975724C5957A}"/>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17475492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縦書きタイトルと 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A6934F63-3C4A-7B03-891B-E58C9EA8E714}"/>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BA287C40-F8A5-5185-5289-BD6F49273887}"/>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4E29567-34C3-408A-FF69-904DA4E14F34}"/>
              </a:ext>
            </a:extLst>
          </p:cNvPr>
          <p:cNvSpPr>
            <a:spLocks noGrp="1"/>
          </p:cNvSpPr>
          <p:nvPr>
            <p:ph type="dt" sz="half" idx="10"/>
          </p:nvPr>
        </p:nvSpPr>
        <p:spPr/>
        <p:txBody>
          <a:bodyPr/>
          <a:lstStyle/>
          <a:p>
            <a:fld id="{64C99FAD-9CFF-A945-A4B4-00DC82096DC7}" type="datetimeFigureOut">
              <a:rPr kumimoji="1" lang="ja-JP" altLang="en-US" smtClean="0"/>
              <a:t>2026/8/24</a:t>
            </a:fld>
            <a:endParaRPr kumimoji="1" lang="ja-JP" altLang="en-US"/>
          </a:p>
        </p:txBody>
      </p:sp>
      <p:sp>
        <p:nvSpPr>
          <p:cNvPr id="5" name="フッター プレースホルダー 4">
            <a:extLst>
              <a:ext uri="{FF2B5EF4-FFF2-40B4-BE49-F238E27FC236}">
                <a16:creationId xmlns:a16="http://schemas.microsoft.com/office/drawing/2014/main" id="{45F29D42-3054-9D88-7ED1-821F898FF8C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5E444BA-BF3C-F39D-027D-995CD9803464}"/>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8474604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B3EDAF73-0985-4932-CF4F-43C22E9DBE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A33A57B-39B7-8230-92F1-93C62ADD8B8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12802F8-0984-5FCE-8D31-D5E22B3FB0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4C99FAD-9CFF-A945-A4B4-00DC82096DC7}" type="datetimeFigureOut">
              <a:rPr kumimoji="1" lang="ja-JP" altLang="en-US" smtClean="0"/>
              <a:t>2026/8/24</a:t>
            </a:fld>
            <a:endParaRPr kumimoji="1" lang="ja-JP" altLang="en-US"/>
          </a:p>
        </p:txBody>
      </p:sp>
      <p:sp>
        <p:nvSpPr>
          <p:cNvPr id="5" name="フッター プレースホルダー 4">
            <a:extLst>
              <a:ext uri="{FF2B5EF4-FFF2-40B4-BE49-F238E27FC236}">
                <a16:creationId xmlns:a16="http://schemas.microsoft.com/office/drawing/2014/main" id="{45D0B7D1-B6C1-E9C8-4751-E2D7714B04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22583EDD-12F7-AD8E-CC21-18FE39582DE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30498437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61"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1.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1" Type="http://schemas.openxmlformats.org/officeDocument/2006/relationships/slideLayout" Target="../slideLayouts/slideLayout8.xml"/><Relationship Id="rId5" Type="http://schemas.openxmlformats.org/officeDocument/2006/relationships/image" Target="../media/image14.png"/><Relationship Id="rId4" Type="http://schemas.openxmlformats.org/officeDocument/2006/relationships/image" Target="../media/image13.png"/></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1" Type="http://schemas.openxmlformats.org/officeDocument/2006/relationships/slideLayout" Target="../slideLayouts/slideLayout8.xml"/><Relationship Id="rId5" Type="http://schemas.openxmlformats.org/officeDocument/2006/relationships/image" Target="../media/image14.png"/><Relationship Id="rId4" Type="http://schemas.openxmlformats.org/officeDocument/2006/relationships/image" Target="../media/image1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34.xml.rels><?xml version="1.0" encoding="UTF-8" standalone="yes"?>
<Relationships xmlns="http://schemas.openxmlformats.org/package/2006/relationships"><Relationship Id="rId3" Type="http://schemas.openxmlformats.org/officeDocument/2006/relationships/image" Target="../media/image17.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17.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18.png"/><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38.xml.rels><?xml version="1.0" encoding="UTF-8" standalone="yes"?>
<Relationships xmlns="http://schemas.openxmlformats.org/package/2006/relationships"><Relationship Id="rId3" Type="http://schemas.openxmlformats.org/officeDocument/2006/relationships/image" Target="../media/image20.png"/><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39.xml.rels><?xml version="1.0" encoding="UTF-8" standalone="yes"?>
<Relationships xmlns="http://schemas.openxmlformats.org/package/2006/relationships"><Relationship Id="rId3" Type="http://schemas.openxmlformats.org/officeDocument/2006/relationships/image" Target="../media/image22.png"/><Relationship Id="rId1" Type="http://schemas.openxmlformats.org/officeDocument/2006/relationships/slideLayout" Target="../slideLayouts/slideLayout3.xml"/><Relationship Id="rId5" Type="http://schemas.openxmlformats.org/officeDocument/2006/relationships/image" Target="../media/image24.png"/><Relationship Id="rId4" Type="http://schemas.openxmlformats.org/officeDocument/2006/relationships/image" Target="../media/image23.png"/></Relationships>
</file>

<file path=ppt/slides/_rels/slide40.xml.rels><?xml version="1.0" encoding="UTF-8" standalone="yes"?>
<Relationships xmlns="http://schemas.openxmlformats.org/package/2006/relationships"><Relationship Id="rId3" Type="http://schemas.openxmlformats.org/officeDocument/2006/relationships/image" Target="../media/image22.png"/><Relationship Id="rId1" Type="http://schemas.openxmlformats.org/officeDocument/2006/relationships/slideLayout" Target="../slideLayouts/slideLayout3.xml"/><Relationship Id="rId5" Type="http://schemas.openxmlformats.org/officeDocument/2006/relationships/image" Target="../media/image24.png"/><Relationship Id="rId4" Type="http://schemas.openxmlformats.org/officeDocument/2006/relationships/image" Target="../media/image23.png"/></Relationships>
</file>

<file path=ppt/slides/_rels/slide41.xml.rels><?xml version="1.0" encoding="UTF-8" standalone="yes"?>
<Relationships xmlns="http://schemas.openxmlformats.org/package/2006/relationships"><Relationship Id="rId3" Type="http://schemas.openxmlformats.org/officeDocument/2006/relationships/image" Target="../media/image25.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26.pn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26.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27.png"/><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28.png"/><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29.png"/><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29.png"/><Relationship Id="rId1" Type="http://schemas.openxmlformats.org/officeDocument/2006/relationships/slideLayout" Target="../slideLayouts/slideLayout3.xml"/><Relationship Id="rId4" Type="http://schemas.openxmlformats.org/officeDocument/2006/relationships/image" Target="../media/image30.png"/></Relationships>
</file>

<file path=ppt/slides/_rels/slide50.xml.rels><?xml version="1.0" encoding="UTF-8" standalone="yes"?>
<Relationships xmlns="http://schemas.openxmlformats.org/package/2006/relationships"><Relationship Id="rId3" Type="http://schemas.openxmlformats.org/officeDocument/2006/relationships/image" Target="../media/image31.pn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3" Type="http://schemas.openxmlformats.org/officeDocument/2006/relationships/image" Target="../media/image32.png"/><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3" Type="http://schemas.openxmlformats.org/officeDocument/2006/relationships/image" Target="../media/image32.png"/><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3" Type="http://schemas.openxmlformats.org/officeDocument/2006/relationships/image" Target="../media/image33.png"/><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3" Type="http://schemas.openxmlformats.org/officeDocument/2006/relationships/image" Target="../media/image34.png"/><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openxmlformats.org/officeDocument/2006/relationships/image" Target="../media/image34.png"/><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3" Type="http://schemas.openxmlformats.org/officeDocument/2006/relationships/image" Target="../media/image23.png"/><Relationship Id="rId1" Type="http://schemas.openxmlformats.org/officeDocument/2006/relationships/slideLayout" Target="../slideLayouts/slideLayout3.xml"/><Relationship Id="rId4" Type="http://schemas.openxmlformats.org/officeDocument/2006/relationships/image" Target="../media/image24.png"/></Relationships>
</file>

<file path=ppt/slides/_rels/slide60.xml.rels><?xml version="1.0" encoding="UTF-8" standalone="yes"?>
<Relationships xmlns="http://schemas.openxmlformats.org/package/2006/relationships"><Relationship Id="rId3" Type="http://schemas.openxmlformats.org/officeDocument/2006/relationships/image" Target="../media/image35.png"/><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3" Type="http://schemas.openxmlformats.org/officeDocument/2006/relationships/image" Target="../media/image36.png"/><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3" Type="http://schemas.openxmlformats.org/officeDocument/2006/relationships/image" Target="../media/image37.png"/><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3" Type="http://schemas.openxmlformats.org/officeDocument/2006/relationships/image" Target="../media/image38.png"/><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3" Type="http://schemas.openxmlformats.org/officeDocument/2006/relationships/image" Target="../media/image39.png"/><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406F4D-CC38-C2F8-0A88-B7AF90ADD7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300115-DF01-9B57-B621-2A10CF5BA13B}"/>
              </a:ext>
            </a:extLst>
          </p:cNvPr>
          <p:cNvSpPr>
            <a:spLocks noGrp="1"/>
          </p:cNvSpPr>
          <p:nvPr>
            <p:ph type="ctrTitle"/>
          </p:nvPr>
        </p:nvSpPr>
        <p:spPr>
          <a:xfrm>
            <a:off x="517460" y="1191722"/>
            <a:ext cx="11157079" cy="3303864"/>
          </a:xfrm>
        </p:spPr>
        <p:txBody>
          <a:bodyPr>
            <a:noAutofit/>
          </a:bodyPr>
          <a:lstStyle/>
          <a:p>
            <a:pPr>
              <a:lnSpc>
                <a:spcPct val="150000"/>
              </a:lnSpc>
              <a:spcAft>
                <a:spcPts val="600"/>
              </a:spcAft>
            </a:pPr>
            <a:r>
              <a:rPr lang="en-US" sz="4800" b="1" dirty="0" err="1">
                <a:solidFill>
                  <a:srgbClr val="262626"/>
                </a:solidFill>
                <a:latin typeface="Meiryo"/>
                <a:ea typeface="Meiryo"/>
                <a:cs typeface="Meiryo"/>
              </a:rPr>
              <a:t>光電式容積脈波記録法：PhotoPlethysmoGraphy</a:t>
            </a:r>
            <a:r>
              <a:rPr lang="en-US" sz="4800" b="1" dirty="0">
                <a:solidFill>
                  <a:srgbClr val="262626"/>
                </a:solidFill>
                <a:latin typeface="Meiryo"/>
                <a:ea typeface="Meiryo"/>
                <a:cs typeface="Meiryo"/>
              </a:rPr>
              <a:t>（</a:t>
            </a:r>
            <a:r>
              <a:rPr lang="en" altLang="ja-JP" sz="4800" b="1" dirty="0">
                <a:solidFill>
                  <a:srgbClr val="262626"/>
                </a:solidFill>
                <a:latin typeface="Meiryo"/>
                <a:ea typeface="Meiryo"/>
                <a:cs typeface="Meiryo"/>
              </a:rPr>
              <a:t> PPG </a:t>
            </a:r>
            <a:r>
              <a:rPr lang="en-US" sz="4800" b="1" dirty="0">
                <a:solidFill>
                  <a:srgbClr val="262626"/>
                </a:solidFill>
                <a:latin typeface="Meiryo"/>
                <a:ea typeface="Meiryo"/>
                <a:cs typeface="Meiryo"/>
              </a:rPr>
              <a:t>）</a:t>
            </a:r>
            <a:br>
              <a:rPr lang="en-US" sz="4800" b="1" dirty="0">
                <a:solidFill>
                  <a:srgbClr val="262626"/>
                </a:solidFill>
                <a:latin typeface="Meiryo"/>
                <a:ea typeface="Meiryo"/>
                <a:cs typeface="Meiryo"/>
              </a:rPr>
            </a:br>
            <a:r>
              <a:rPr sz="4800" b="1" dirty="0" err="1">
                <a:solidFill>
                  <a:srgbClr val="262626"/>
                </a:solidFill>
                <a:latin typeface="Meiryo"/>
                <a:ea typeface="Meiryo"/>
                <a:cs typeface="Meiryo"/>
              </a:rPr>
              <a:t>波形解析</a:t>
            </a:r>
            <a:r>
              <a:rPr lang="ja-JP" altLang="en-US" sz="4800" b="1">
                <a:solidFill>
                  <a:srgbClr val="262626"/>
                </a:solidFill>
                <a:latin typeface="Meiryo"/>
                <a:ea typeface="Meiryo"/>
                <a:cs typeface="Meiryo"/>
              </a:rPr>
              <a:t>について</a:t>
            </a:r>
            <a:endParaRPr sz="4800" b="1" dirty="0">
              <a:solidFill>
                <a:srgbClr val="262626"/>
              </a:solidFill>
              <a:latin typeface="Meiryo"/>
              <a:ea typeface="Meiryo"/>
              <a:cs typeface="Meiryo"/>
            </a:endParaRPr>
          </a:p>
        </p:txBody>
      </p:sp>
      <p:sp>
        <p:nvSpPr>
          <p:cNvPr id="3" name="Subtitle 2">
            <a:extLst>
              <a:ext uri="{FF2B5EF4-FFF2-40B4-BE49-F238E27FC236}">
                <a16:creationId xmlns:a16="http://schemas.microsoft.com/office/drawing/2014/main" id="{68FAD383-7C85-64B8-3A0D-6A86EE5DD97D}"/>
              </a:ext>
            </a:extLst>
          </p:cNvPr>
          <p:cNvSpPr>
            <a:spLocks noGrp="1"/>
          </p:cNvSpPr>
          <p:nvPr>
            <p:ph type="subTitle" idx="1"/>
          </p:nvPr>
        </p:nvSpPr>
        <p:spPr>
          <a:xfrm>
            <a:off x="1511999" y="4015274"/>
            <a:ext cx="9144000" cy="1655762"/>
          </a:xfrm>
        </p:spPr>
        <p:txBody>
          <a:bodyPr>
            <a:normAutofit/>
          </a:bodyPr>
          <a:lstStyle/>
          <a:p>
            <a:pPr algn="ctr">
              <a:spcAft>
                <a:spcPts val="400"/>
              </a:spcAft>
            </a:pPr>
            <a:endParaRPr lang="en-US" sz="2200" b="0" dirty="0">
              <a:solidFill>
                <a:srgbClr val="808080"/>
              </a:solidFill>
              <a:latin typeface="Meiryo"/>
              <a:ea typeface="Meiryo"/>
              <a:cs typeface="Meiryo"/>
            </a:endParaRPr>
          </a:p>
          <a:p>
            <a:pPr algn="ctr">
              <a:spcAft>
                <a:spcPts val="400"/>
              </a:spcAft>
            </a:pPr>
            <a:endParaRPr sz="2200" b="0" dirty="0">
              <a:solidFill>
                <a:srgbClr val="808080"/>
              </a:solidFill>
              <a:latin typeface="Meiryo"/>
              <a:ea typeface="Meiryo"/>
              <a:cs typeface="Meiryo"/>
            </a:endParaRPr>
          </a:p>
          <a:p>
            <a:pPr algn="ctr">
              <a:spcAft>
                <a:spcPts val="400"/>
              </a:spcAft>
            </a:pPr>
            <a:r>
              <a:rPr sz="2200" b="0" dirty="0">
                <a:solidFill>
                  <a:srgbClr val="262626"/>
                </a:solidFill>
                <a:latin typeface="Meiryo"/>
                <a:ea typeface="Meiryo"/>
                <a:cs typeface="Meiryo"/>
              </a:rPr>
              <a:t>川副 靖晃</a:t>
            </a:r>
          </a:p>
        </p:txBody>
      </p:sp>
      <p:pic>
        <p:nvPicPr>
          <p:cNvPr id="4" name="Picture 3" descr="01_hero.png">
            <a:extLst>
              <a:ext uri="{FF2B5EF4-FFF2-40B4-BE49-F238E27FC236}">
                <a16:creationId xmlns:a16="http://schemas.microsoft.com/office/drawing/2014/main" id="{41F42534-4E2B-4E55-CF2F-2632C2CEB70C}"/>
              </a:ext>
            </a:extLst>
          </p:cNvPr>
          <p:cNvPicPr>
            <a:picLocks noChangeAspect="1"/>
          </p:cNvPicPr>
          <p:nvPr/>
        </p:nvPicPr>
        <p:blipFill>
          <a:blip r:embed="rId3"/>
          <a:stretch>
            <a:fillRect/>
          </a:stretch>
        </p:blipFill>
        <p:spPr>
          <a:xfrm>
            <a:off x="4744259" y="5580000"/>
            <a:ext cx="2679481" cy="1044000"/>
          </a:xfrm>
          <a:prstGeom prst="rect">
            <a:avLst/>
          </a:prstGeom>
        </p:spPr>
      </p:pic>
    </p:spTree>
    <p:extLst>
      <p:ext uri="{BB962C8B-B14F-4D97-AF65-F5344CB8AC3E}">
        <p14:creationId xmlns:p14="http://schemas.microsoft.com/office/powerpoint/2010/main" val="648903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72ECB-9F6F-AE99-94C6-56000401B1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0DACE4-668A-D2E2-5CFB-29DB39041AB3}"/>
              </a:ext>
            </a:extLst>
          </p:cNvPr>
          <p:cNvSpPr>
            <a:spLocks noGrp="1"/>
          </p:cNvSpPr>
          <p:nvPr>
            <p:ph type="title"/>
          </p:nvPr>
        </p:nvSpPr>
        <p:spPr/>
        <p:txBody>
          <a:bodyPr/>
          <a:lstStyle/>
          <a:p>
            <a:pPr algn="l"/>
            <a:r>
              <a:rPr sz="4600" dirty="0">
                <a:latin typeface="Meiryo"/>
                <a:ea typeface="Meiryo"/>
                <a:cs typeface="Meiryo"/>
              </a:rPr>
              <a:t>用語の整理</a:t>
            </a:r>
          </a:p>
        </p:txBody>
      </p:sp>
      <p:sp>
        <p:nvSpPr>
          <p:cNvPr id="17" name="Source">
            <a:extLst>
              <a:ext uri="{FF2B5EF4-FFF2-40B4-BE49-F238E27FC236}">
                <a16:creationId xmlns:a16="http://schemas.microsoft.com/office/drawing/2014/main" id="{37C19857-83F1-BA8D-C641-222B8CF685A6}"/>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　／　2. Aoyagi 2003　／　3. Chan 2013</a:t>
            </a:r>
          </a:p>
        </p:txBody>
      </p:sp>
      <p:sp>
        <p:nvSpPr>
          <p:cNvPr id="18" name="Rounded Rectangle 17">
            <a:extLst>
              <a:ext uri="{FF2B5EF4-FFF2-40B4-BE49-F238E27FC236}">
                <a16:creationId xmlns:a16="http://schemas.microsoft.com/office/drawing/2014/main" id="{150D3D67-74A1-7228-7D80-EA72776A3C77}"/>
              </a:ext>
            </a:extLst>
          </p:cNvPr>
          <p:cNvSpPr/>
          <p:nvPr/>
        </p:nvSpPr>
        <p:spPr>
          <a:xfrm>
            <a:off x="390816" y="2413935"/>
            <a:ext cx="3520440" cy="178308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a:extLst>
              <a:ext uri="{FF2B5EF4-FFF2-40B4-BE49-F238E27FC236}">
                <a16:creationId xmlns:a16="http://schemas.microsoft.com/office/drawing/2014/main" id="{EAF29409-8F38-B8CA-A09C-2C59E4668EDD}"/>
              </a:ext>
            </a:extLst>
          </p:cNvPr>
          <p:cNvSpPr txBox="1"/>
          <p:nvPr/>
        </p:nvSpPr>
        <p:spPr>
          <a:xfrm>
            <a:off x="573696" y="2642535"/>
            <a:ext cx="3154680" cy="634166"/>
          </a:xfrm>
          <a:prstGeom prst="rect">
            <a:avLst/>
          </a:prstGeom>
          <a:noFill/>
        </p:spPr>
        <p:txBody>
          <a:bodyPr wrap="square" lIns="0" tIns="0" rIns="0" bIns="0" anchor="t">
            <a:spAutoFit/>
          </a:bodyPr>
          <a:lstStyle/>
          <a:p>
            <a:pPr algn="ctr"/>
            <a:r>
              <a:rPr sz="3000" b="1">
                <a:solidFill>
                  <a:srgbClr val="0072B2"/>
                </a:solidFill>
                <a:latin typeface="Meiryo"/>
                <a:ea typeface="Meiryo"/>
                <a:cs typeface="Meiryo"/>
              </a:rPr>
              <a:t>PPG</a:t>
            </a:r>
          </a:p>
        </p:txBody>
      </p:sp>
      <p:sp>
        <p:nvSpPr>
          <p:cNvPr id="20" name="TextBox 19">
            <a:extLst>
              <a:ext uri="{FF2B5EF4-FFF2-40B4-BE49-F238E27FC236}">
                <a16:creationId xmlns:a16="http://schemas.microsoft.com/office/drawing/2014/main" id="{A9EFB892-AC88-D9CB-4EA0-73175B966B30}"/>
              </a:ext>
            </a:extLst>
          </p:cNvPr>
          <p:cNvSpPr txBox="1"/>
          <p:nvPr/>
        </p:nvSpPr>
        <p:spPr>
          <a:xfrm>
            <a:off x="573696" y="3191175"/>
            <a:ext cx="3154680" cy="1330390"/>
          </a:xfrm>
          <a:prstGeom prst="rect">
            <a:avLst/>
          </a:prstGeom>
          <a:noFill/>
        </p:spPr>
        <p:txBody>
          <a:bodyPr wrap="square" lIns="0" tIns="0" rIns="0" bIns="0" anchor="t">
            <a:spAutoFit/>
          </a:bodyPr>
          <a:lstStyle/>
          <a:p>
            <a:pPr algn="ctr">
              <a:spcAft>
                <a:spcPts val="400"/>
              </a:spcAft>
            </a:pPr>
            <a:r>
              <a:rPr lang="ja-JP" altLang="en-US" sz="2300">
                <a:solidFill>
                  <a:srgbClr val="262626"/>
                </a:solidFill>
                <a:latin typeface="Meiryo"/>
                <a:ea typeface="Meiryo"/>
                <a:cs typeface="Meiryo"/>
              </a:rPr>
              <a:t>光により</a:t>
            </a:r>
            <a:r>
              <a:rPr sz="2300" b="0" dirty="0" err="1">
                <a:solidFill>
                  <a:srgbClr val="262626"/>
                </a:solidFill>
                <a:latin typeface="Meiryo"/>
                <a:ea typeface="Meiryo"/>
                <a:cs typeface="Meiryo"/>
              </a:rPr>
              <a:t>血液量変化を</a:t>
            </a:r>
            <a:r>
              <a:rPr lang="ja-JP" altLang="en-US" sz="2300" b="0">
                <a:solidFill>
                  <a:srgbClr val="262626"/>
                </a:solidFill>
                <a:latin typeface="Meiryo"/>
                <a:ea typeface="Meiryo"/>
                <a:cs typeface="Meiryo"/>
              </a:rPr>
              <a:t>検出する脈波測定方法。</a:t>
            </a:r>
            <a:endParaRPr sz="2300" b="0" dirty="0">
              <a:solidFill>
                <a:srgbClr val="262626"/>
              </a:solidFill>
              <a:latin typeface="Meiryo"/>
              <a:ea typeface="Meiryo"/>
              <a:cs typeface="Meiryo"/>
            </a:endParaRPr>
          </a:p>
        </p:txBody>
      </p:sp>
      <p:sp>
        <p:nvSpPr>
          <p:cNvPr id="21" name="Right Arrow 20">
            <a:extLst>
              <a:ext uri="{FF2B5EF4-FFF2-40B4-BE49-F238E27FC236}">
                <a16:creationId xmlns:a16="http://schemas.microsoft.com/office/drawing/2014/main" id="{3939B752-9763-B2B9-09FC-A1E798FDBEE1}"/>
              </a:ext>
            </a:extLst>
          </p:cNvPr>
          <p:cNvSpPr/>
          <p:nvPr/>
        </p:nvSpPr>
        <p:spPr>
          <a:xfrm>
            <a:off x="4048416" y="3063159"/>
            <a:ext cx="566928" cy="50292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ounded Rectangle 21">
            <a:extLst>
              <a:ext uri="{FF2B5EF4-FFF2-40B4-BE49-F238E27FC236}">
                <a16:creationId xmlns:a16="http://schemas.microsoft.com/office/drawing/2014/main" id="{0FE3AB1D-C75F-9871-04EC-479CC7BB067B}"/>
              </a:ext>
            </a:extLst>
          </p:cNvPr>
          <p:cNvSpPr/>
          <p:nvPr/>
        </p:nvSpPr>
        <p:spPr>
          <a:xfrm>
            <a:off x="4752504" y="2413935"/>
            <a:ext cx="3520440" cy="1783080"/>
          </a:xfrm>
          <a:prstGeom prst="roundRect">
            <a:avLst/>
          </a:prstGeom>
          <a:solidFill>
            <a:srgbClr val="F2F2F2"/>
          </a:solidFill>
          <a:ln w="2857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a:extLst>
              <a:ext uri="{FF2B5EF4-FFF2-40B4-BE49-F238E27FC236}">
                <a16:creationId xmlns:a16="http://schemas.microsoft.com/office/drawing/2014/main" id="{33F70F4F-CE63-E23E-79D9-2B0D6F15E6EF}"/>
              </a:ext>
            </a:extLst>
          </p:cNvPr>
          <p:cNvSpPr txBox="1"/>
          <p:nvPr/>
        </p:nvSpPr>
        <p:spPr>
          <a:xfrm>
            <a:off x="4935384" y="2642535"/>
            <a:ext cx="3154680" cy="634166"/>
          </a:xfrm>
          <a:prstGeom prst="rect">
            <a:avLst/>
          </a:prstGeom>
          <a:noFill/>
        </p:spPr>
        <p:txBody>
          <a:bodyPr wrap="square" lIns="0" tIns="0" rIns="0" bIns="0" anchor="t">
            <a:spAutoFit/>
          </a:bodyPr>
          <a:lstStyle/>
          <a:p>
            <a:pPr algn="ctr"/>
            <a:r>
              <a:rPr sz="3000" b="1">
                <a:solidFill>
                  <a:srgbClr val="D55E00"/>
                </a:solidFill>
                <a:latin typeface="Meiryo"/>
                <a:ea typeface="Meiryo"/>
                <a:cs typeface="Meiryo"/>
              </a:rPr>
              <a:t>PPG 波形</a:t>
            </a:r>
          </a:p>
        </p:txBody>
      </p:sp>
      <p:sp>
        <p:nvSpPr>
          <p:cNvPr id="24" name="TextBox 23">
            <a:extLst>
              <a:ext uri="{FF2B5EF4-FFF2-40B4-BE49-F238E27FC236}">
                <a16:creationId xmlns:a16="http://schemas.microsoft.com/office/drawing/2014/main" id="{34F9D872-DF80-C90F-413D-3CB1DE063F97}"/>
              </a:ext>
            </a:extLst>
          </p:cNvPr>
          <p:cNvSpPr txBox="1"/>
          <p:nvPr/>
        </p:nvSpPr>
        <p:spPr>
          <a:xfrm>
            <a:off x="4935384" y="3191175"/>
            <a:ext cx="3154680" cy="956692"/>
          </a:xfrm>
          <a:prstGeom prst="rect">
            <a:avLst/>
          </a:prstGeom>
          <a:noFill/>
        </p:spPr>
        <p:txBody>
          <a:bodyPr wrap="square" lIns="0" tIns="0" rIns="0" bIns="0" anchor="t">
            <a:spAutoFit/>
          </a:bodyPr>
          <a:lstStyle/>
          <a:p>
            <a:pPr algn="ctr">
              <a:spcAft>
                <a:spcPts val="400"/>
              </a:spcAft>
            </a:pPr>
            <a:r>
              <a:rPr sz="2300" b="0">
                <a:solidFill>
                  <a:srgbClr val="262626"/>
                </a:solidFill>
                <a:latin typeface="Meiryo"/>
                <a:ea typeface="Meiryo"/>
                <a:cs typeface="Meiryo"/>
              </a:rPr>
              <a:t>得られた波</a:t>
            </a:r>
          </a:p>
          <a:p>
            <a:pPr algn="ctr">
              <a:spcAft>
                <a:spcPts val="400"/>
              </a:spcAft>
            </a:pPr>
            <a:r>
              <a:rPr sz="2300" b="0">
                <a:solidFill>
                  <a:srgbClr val="262626"/>
                </a:solidFill>
                <a:latin typeface="Meiryo"/>
                <a:ea typeface="Meiryo"/>
                <a:cs typeface="Meiryo"/>
              </a:rPr>
              <a:t>＝ 容積脈波</a:t>
            </a:r>
          </a:p>
        </p:txBody>
      </p:sp>
      <p:sp>
        <p:nvSpPr>
          <p:cNvPr id="25" name="Right Arrow 24">
            <a:extLst>
              <a:ext uri="{FF2B5EF4-FFF2-40B4-BE49-F238E27FC236}">
                <a16:creationId xmlns:a16="http://schemas.microsoft.com/office/drawing/2014/main" id="{5ADA7861-730B-7259-EC24-EF084D4F76E9}"/>
              </a:ext>
            </a:extLst>
          </p:cNvPr>
          <p:cNvSpPr/>
          <p:nvPr/>
        </p:nvSpPr>
        <p:spPr>
          <a:xfrm>
            <a:off x="8410104" y="3063159"/>
            <a:ext cx="566928" cy="50292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Rounded Rectangle 25">
            <a:extLst>
              <a:ext uri="{FF2B5EF4-FFF2-40B4-BE49-F238E27FC236}">
                <a16:creationId xmlns:a16="http://schemas.microsoft.com/office/drawing/2014/main" id="{9EB29FAA-F593-0915-5268-833A542CE4F6}"/>
              </a:ext>
            </a:extLst>
          </p:cNvPr>
          <p:cNvSpPr/>
          <p:nvPr/>
        </p:nvSpPr>
        <p:spPr>
          <a:xfrm>
            <a:off x="9114192" y="2413935"/>
            <a:ext cx="2487168" cy="178308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a:extLst>
              <a:ext uri="{FF2B5EF4-FFF2-40B4-BE49-F238E27FC236}">
                <a16:creationId xmlns:a16="http://schemas.microsoft.com/office/drawing/2014/main" id="{47E03627-34FC-A9AB-C1BA-4B88E40E3150}"/>
              </a:ext>
            </a:extLst>
          </p:cNvPr>
          <p:cNvSpPr txBox="1"/>
          <p:nvPr/>
        </p:nvSpPr>
        <p:spPr>
          <a:xfrm>
            <a:off x="9251352" y="2642535"/>
            <a:ext cx="2212848" cy="634166"/>
          </a:xfrm>
          <a:prstGeom prst="rect">
            <a:avLst/>
          </a:prstGeom>
          <a:noFill/>
        </p:spPr>
        <p:txBody>
          <a:bodyPr wrap="square" lIns="0" tIns="0" rIns="0" bIns="0" anchor="t">
            <a:spAutoFit/>
          </a:bodyPr>
          <a:lstStyle/>
          <a:p>
            <a:pPr algn="ctr"/>
            <a:r>
              <a:rPr sz="3000" b="1">
                <a:solidFill>
                  <a:srgbClr val="00A8AA"/>
                </a:solidFill>
                <a:latin typeface="Meiryo"/>
                <a:ea typeface="Meiryo"/>
                <a:cs typeface="Meiryo"/>
              </a:rPr>
              <a:t>SpO₂</a:t>
            </a:r>
          </a:p>
        </p:txBody>
      </p:sp>
      <p:sp>
        <p:nvSpPr>
          <p:cNvPr id="28" name="TextBox 27">
            <a:extLst>
              <a:ext uri="{FF2B5EF4-FFF2-40B4-BE49-F238E27FC236}">
                <a16:creationId xmlns:a16="http://schemas.microsoft.com/office/drawing/2014/main" id="{58C51AA9-60BA-2B9B-5827-9CE94ADEF5DE}"/>
              </a:ext>
            </a:extLst>
          </p:cNvPr>
          <p:cNvSpPr txBox="1"/>
          <p:nvPr/>
        </p:nvSpPr>
        <p:spPr>
          <a:xfrm>
            <a:off x="9114192" y="3191175"/>
            <a:ext cx="2487168" cy="1327145"/>
          </a:xfrm>
          <a:prstGeom prst="rect">
            <a:avLst/>
          </a:prstGeom>
          <a:noFill/>
        </p:spPr>
        <p:txBody>
          <a:bodyPr wrap="square" lIns="0" tIns="0" rIns="0" bIns="0" anchor="t">
            <a:spAutoFit/>
          </a:bodyPr>
          <a:lstStyle/>
          <a:p>
            <a:pPr algn="ctr">
              <a:spcAft>
                <a:spcPts val="400"/>
              </a:spcAft>
            </a:pPr>
            <a:r>
              <a:rPr lang="ja-JP" altLang="en-US" sz="2200" b="0">
                <a:solidFill>
                  <a:srgbClr val="262626"/>
                </a:solidFill>
                <a:latin typeface="Meiryo"/>
                <a:ea typeface="Meiryo"/>
                <a:cs typeface="Meiryo"/>
              </a:rPr>
              <a:t>脈</a:t>
            </a:r>
            <a:r>
              <a:rPr sz="2200" b="0" dirty="0" err="1">
                <a:solidFill>
                  <a:srgbClr val="262626"/>
                </a:solidFill>
                <a:latin typeface="Meiryo"/>
                <a:ea typeface="Meiryo"/>
                <a:cs typeface="Meiryo"/>
              </a:rPr>
              <a:t>波から計算した</a:t>
            </a:r>
            <a:endParaRPr sz="2200" b="0" dirty="0">
              <a:solidFill>
                <a:srgbClr val="262626"/>
              </a:solidFill>
              <a:latin typeface="Meiryo"/>
              <a:ea typeface="Meiryo"/>
              <a:cs typeface="Meiryo"/>
            </a:endParaRPr>
          </a:p>
          <a:p>
            <a:pPr algn="ctr">
              <a:spcAft>
                <a:spcPts val="400"/>
              </a:spcAft>
            </a:pPr>
            <a:r>
              <a:rPr sz="2200" b="0" dirty="0" err="1">
                <a:solidFill>
                  <a:srgbClr val="262626"/>
                </a:solidFill>
                <a:latin typeface="Meiryo"/>
                <a:ea typeface="Meiryo"/>
                <a:cs typeface="Meiryo"/>
              </a:rPr>
              <a:t>酸素飽和度。</a:t>
            </a:r>
            <a:endParaRPr sz="2200" b="0" dirty="0">
              <a:solidFill>
                <a:srgbClr val="262626"/>
              </a:solidFill>
              <a:latin typeface="Meiryo"/>
              <a:ea typeface="Meiryo"/>
              <a:cs typeface="Meiryo"/>
            </a:endParaRPr>
          </a:p>
        </p:txBody>
      </p:sp>
      <p:sp>
        <p:nvSpPr>
          <p:cNvPr id="41" name="PageNo">
            <a:extLst>
              <a:ext uri="{FF2B5EF4-FFF2-40B4-BE49-F238E27FC236}">
                <a16:creationId xmlns:a16="http://schemas.microsoft.com/office/drawing/2014/main" id="{3EB2A65D-8124-C549-AC5A-7CFFA388A673}"/>
              </a:ext>
            </a:extLst>
          </p:cNvPr>
          <p:cNvSpPr txBox="1"/>
          <p:nvPr/>
        </p:nvSpPr>
        <p:spPr>
          <a:xfrm>
            <a:off x="11048400" y="6606000"/>
            <a:ext cx="1005840" cy="219456"/>
          </a:xfrm>
          <a:prstGeom prst="rect">
            <a:avLst/>
          </a:prstGeom>
          <a:noFill/>
        </p:spPr>
        <p:txBody>
          <a:bodyPr wrap="none">
            <a:spAutoFit/>
          </a:bodyPr>
          <a:lstStyle/>
          <a:p>
            <a:pPr algn="r"/>
            <a:r>
              <a:rPr sz="1200" dirty="0">
                <a:solidFill>
                  <a:srgbClr val="808080"/>
                </a:solidFill>
                <a:latin typeface="Meiryo"/>
                <a:ea typeface="Meiryo"/>
                <a:cs typeface="Meiryo"/>
              </a:rPr>
              <a:t>2/118</a:t>
            </a:r>
          </a:p>
        </p:txBody>
      </p:sp>
      <p:sp>
        <p:nvSpPr>
          <p:cNvPr id="5" name="Rounded Rectangle 25">
            <a:extLst>
              <a:ext uri="{FF2B5EF4-FFF2-40B4-BE49-F238E27FC236}">
                <a16:creationId xmlns:a16="http://schemas.microsoft.com/office/drawing/2014/main" id="{76F8BC04-E993-DEC1-D083-69FB424B965B}"/>
              </a:ext>
            </a:extLst>
          </p:cNvPr>
          <p:cNvSpPr/>
          <p:nvPr/>
        </p:nvSpPr>
        <p:spPr>
          <a:xfrm>
            <a:off x="6274047" y="4528140"/>
            <a:ext cx="4774953" cy="1684644"/>
          </a:xfrm>
          <a:prstGeom prst="roundRect">
            <a:avLst/>
          </a:prstGeom>
          <a:solidFill>
            <a:srgbClr val="F2F2F2"/>
          </a:solidFill>
          <a:ln w="28575">
            <a:solidFill>
              <a:schemeClr val="accent4">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26">
            <a:extLst>
              <a:ext uri="{FF2B5EF4-FFF2-40B4-BE49-F238E27FC236}">
                <a16:creationId xmlns:a16="http://schemas.microsoft.com/office/drawing/2014/main" id="{A68FFC8F-2BB2-8395-8C71-8940E190A791}"/>
              </a:ext>
            </a:extLst>
          </p:cNvPr>
          <p:cNvSpPr txBox="1"/>
          <p:nvPr/>
        </p:nvSpPr>
        <p:spPr>
          <a:xfrm>
            <a:off x="6362318" y="4751973"/>
            <a:ext cx="4618101" cy="461665"/>
          </a:xfrm>
          <a:prstGeom prst="rect">
            <a:avLst/>
          </a:prstGeom>
          <a:noFill/>
        </p:spPr>
        <p:txBody>
          <a:bodyPr wrap="square" lIns="0" tIns="0" rIns="0" bIns="0" anchor="t">
            <a:spAutoFit/>
          </a:bodyPr>
          <a:lstStyle/>
          <a:p>
            <a:pPr algn="ctr"/>
            <a:r>
              <a:rPr lang="ja-JP" altLang="en-US" sz="3000" b="1">
                <a:solidFill>
                  <a:schemeClr val="accent4">
                    <a:lumMod val="75000"/>
                  </a:schemeClr>
                </a:solidFill>
                <a:latin typeface="Meiryo"/>
                <a:ea typeface="Meiryo"/>
                <a:cs typeface="Meiryo"/>
              </a:rPr>
              <a:t>パルスオキシメトリー</a:t>
            </a:r>
            <a:endParaRPr sz="3000" b="1" dirty="0">
              <a:solidFill>
                <a:schemeClr val="accent4">
                  <a:lumMod val="75000"/>
                </a:schemeClr>
              </a:solidFill>
              <a:latin typeface="Meiryo"/>
              <a:ea typeface="Meiryo"/>
              <a:cs typeface="Meiryo"/>
            </a:endParaRPr>
          </a:p>
        </p:txBody>
      </p:sp>
      <p:sp>
        <p:nvSpPr>
          <p:cNvPr id="7" name="TextBox 27">
            <a:extLst>
              <a:ext uri="{FF2B5EF4-FFF2-40B4-BE49-F238E27FC236}">
                <a16:creationId xmlns:a16="http://schemas.microsoft.com/office/drawing/2014/main" id="{FC895717-5939-40C2-738A-5761E764598C}"/>
              </a:ext>
            </a:extLst>
          </p:cNvPr>
          <p:cNvSpPr txBox="1"/>
          <p:nvPr/>
        </p:nvSpPr>
        <p:spPr>
          <a:xfrm>
            <a:off x="6274047" y="5300613"/>
            <a:ext cx="4774952" cy="728405"/>
          </a:xfrm>
          <a:prstGeom prst="rect">
            <a:avLst/>
          </a:prstGeom>
          <a:noFill/>
        </p:spPr>
        <p:txBody>
          <a:bodyPr wrap="square" lIns="0" tIns="0" rIns="0" bIns="0" anchor="t">
            <a:spAutoFit/>
          </a:bodyPr>
          <a:lstStyle/>
          <a:p>
            <a:pPr algn="ctr">
              <a:spcAft>
                <a:spcPts val="400"/>
              </a:spcAft>
            </a:pPr>
            <a:r>
              <a:rPr lang="ja-JP" altLang="en-US" sz="2200" b="0">
                <a:solidFill>
                  <a:srgbClr val="262626"/>
                </a:solidFill>
                <a:latin typeface="Meiryo"/>
                <a:ea typeface="Meiryo"/>
                <a:cs typeface="Meiryo"/>
              </a:rPr>
              <a:t>脈</a:t>
            </a:r>
            <a:r>
              <a:rPr sz="2200" b="0" dirty="0" err="1">
                <a:solidFill>
                  <a:srgbClr val="262626"/>
                </a:solidFill>
                <a:latin typeface="Meiryo"/>
                <a:ea typeface="Meiryo"/>
                <a:cs typeface="Meiryo"/>
              </a:rPr>
              <a:t>波から</a:t>
            </a:r>
            <a:r>
              <a:rPr lang="ja-JP" altLang="en-US" sz="2200" b="0">
                <a:solidFill>
                  <a:srgbClr val="262626"/>
                </a:solidFill>
                <a:latin typeface="Meiryo"/>
                <a:ea typeface="Meiryo"/>
                <a:cs typeface="Meiryo"/>
              </a:rPr>
              <a:t>経皮的に</a:t>
            </a:r>
            <a:r>
              <a:rPr lang="en-US" altLang="ja-JP" sz="2200" b="0" dirty="0">
                <a:solidFill>
                  <a:srgbClr val="262626"/>
                </a:solidFill>
                <a:latin typeface="Meiryo"/>
                <a:ea typeface="Meiryo"/>
                <a:cs typeface="Meiryo"/>
              </a:rPr>
              <a:t>SaO2</a:t>
            </a:r>
            <a:r>
              <a:rPr lang="ja-JP" altLang="en-US" sz="2200" b="0">
                <a:solidFill>
                  <a:srgbClr val="262626"/>
                </a:solidFill>
                <a:latin typeface="Meiryo"/>
                <a:ea typeface="Meiryo"/>
                <a:cs typeface="Meiryo"/>
              </a:rPr>
              <a:t>を</a:t>
            </a:r>
            <a:endParaRPr lang="en-US" altLang="ja-JP" sz="2200" dirty="0">
              <a:solidFill>
                <a:srgbClr val="262626"/>
              </a:solidFill>
              <a:latin typeface="Meiryo"/>
              <a:ea typeface="Meiryo"/>
              <a:cs typeface="Meiryo"/>
            </a:endParaRPr>
          </a:p>
          <a:p>
            <a:pPr algn="ctr">
              <a:spcAft>
                <a:spcPts val="400"/>
              </a:spcAft>
            </a:pPr>
            <a:r>
              <a:rPr lang="ja-JP" altLang="en-US" sz="2200" b="0">
                <a:solidFill>
                  <a:srgbClr val="262626"/>
                </a:solidFill>
                <a:latin typeface="Meiryo"/>
                <a:ea typeface="Meiryo"/>
                <a:cs typeface="Meiryo"/>
              </a:rPr>
              <a:t>推定する方法。</a:t>
            </a:r>
            <a:endParaRPr sz="2200" b="0" dirty="0">
              <a:solidFill>
                <a:srgbClr val="262626"/>
              </a:solidFill>
              <a:latin typeface="Meiryo"/>
              <a:ea typeface="Meiryo"/>
              <a:cs typeface="Meiryo"/>
            </a:endParaRP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19874468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9D31A4B-57F9-8054-D27C-6550DF0111E2}"/>
              </a:ext>
            </a:extLst>
          </p:cNvPr>
          <p:cNvSpPr>
            <a:spLocks noGrp="1"/>
          </p:cNvSpPr>
          <p:nvPr>
            <p:ph type="title"/>
          </p:nvPr>
        </p:nvSpPr>
        <p:spPr/>
        <p:txBody>
          <a:bodyPr/>
          <a:lstStyle/>
          <a:p>
            <a:r>
              <a:rPr kumimoji="1" lang="ja-JP" altLang="en-US"/>
              <a:t>目的</a:t>
            </a:r>
          </a:p>
        </p:txBody>
      </p:sp>
      <p:sp>
        <p:nvSpPr>
          <p:cNvPr id="3" name="コンテンツ プレースホルダー 2">
            <a:extLst>
              <a:ext uri="{FF2B5EF4-FFF2-40B4-BE49-F238E27FC236}">
                <a16:creationId xmlns:a16="http://schemas.microsoft.com/office/drawing/2014/main" id="{6E9FC955-6972-0963-CBF1-DC879DD82717}"/>
              </a:ext>
            </a:extLst>
          </p:cNvPr>
          <p:cNvSpPr>
            <a:spLocks noGrp="1"/>
          </p:cNvSpPr>
          <p:nvPr>
            <p:ph idx="1"/>
          </p:nvPr>
        </p:nvSpPr>
        <p:spPr/>
        <p:txBody>
          <a:bodyPr>
            <a:normAutofit/>
          </a:bodyPr>
          <a:lstStyle/>
          <a:p>
            <a:r>
              <a:rPr kumimoji="1" lang="en-US" altLang="ja-JP" dirty="0">
                <a:latin typeface="+mj-ea"/>
                <a:ea typeface="+mj-ea"/>
              </a:rPr>
              <a:t>PPG</a:t>
            </a:r>
            <a:r>
              <a:rPr kumimoji="1" lang="ja-JP" altLang="en-US">
                <a:latin typeface="+mj-ea"/>
                <a:ea typeface="+mj-ea"/>
              </a:rPr>
              <a:t>波形から</a:t>
            </a:r>
            <a:r>
              <a:rPr kumimoji="1" lang="en-US" altLang="ja-JP" dirty="0">
                <a:latin typeface="+mj-ea"/>
                <a:ea typeface="+mj-ea"/>
              </a:rPr>
              <a:t>PDA (Pulse Decomposition Analysis)</a:t>
            </a:r>
            <a:r>
              <a:rPr kumimoji="1" lang="ja-JP" altLang="en-US">
                <a:latin typeface="+mj-ea"/>
                <a:ea typeface="+mj-ea"/>
              </a:rPr>
              <a:t>によって</a:t>
            </a:r>
            <a:r>
              <a:rPr lang="ja-JP" altLang="en-US">
                <a:latin typeface="+mj-ea"/>
                <a:ea typeface="+mj-ea"/>
              </a:rPr>
              <a:t>　　　</a:t>
            </a:r>
            <a:r>
              <a:rPr kumimoji="1" lang="ja-JP" altLang="en-US">
                <a:latin typeface="+mj-ea"/>
                <a:ea typeface="+mj-ea"/>
              </a:rPr>
              <a:t>反射</a:t>
            </a:r>
            <a:r>
              <a:rPr lang="ja-JP" altLang="en-US">
                <a:latin typeface="+mj-ea"/>
                <a:ea typeface="+mj-ea"/>
              </a:rPr>
              <a:t>波成分を分離し、</a:t>
            </a:r>
            <a:r>
              <a:rPr lang="en-US" altLang="ja-JP" dirty="0">
                <a:latin typeface="+mj-ea"/>
                <a:ea typeface="+mj-ea"/>
              </a:rPr>
              <a:t>Stiffness Index </a:t>
            </a:r>
            <a:r>
              <a:rPr lang="ja-JP" altLang="en-US">
                <a:latin typeface="+mj-ea"/>
                <a:ea typeface="+mj-ea"/>
              </a:rPr>
              <a:t>、</a:t>
            </a:r>
            <a:r>
              <a:rPr lang="en-US" altLang="ja-JP" dirty="0">
                <a:latin typeface="+mj-ea"/>
                <a:ea typeface="+mj-ea"/>
              </a:rPr>
              <a:t>Reflection Index </a:t>
            </a:r>
            <a:r>
              <a:rPr lang="ja-JP" altLang="en-US">
                <a:latin typeface="+mj-ea"/>
                <a:ea typeface="+mj-ea"/>
              </a:rPr>
              <a:t>と　いった指標から非侵襲的に後負荷推定を行う。</a:t>
            </a:r>
            <a:endParaRPr lang="en-US" altLang="ja-JP" dirty="0">
              <a:latin typeface="+mj-ea"/>
              <a:ea typeface="+mj-ea"/>
            </a:endParaRPr>
          </a:p>
          <a:p>
            <a:pPr marL="0" indent="0">
              <a:buNone/>
            </a:pPr>
            <a:endParaRPr lang="en-US" altLang="ja-JP" dirty="0">
              <a:latin typeface="+mj-ea"/>
              <a:ea typeface="+mj-ea"/>
            </a:endParaRPr>
          </a:p>
          <a:p>
            <a:r>
              <a:rPr lang="ja-JP" altLang="en-US" b="1">
                <a:latin typeface="+mj-ea"/>
                <a:ea typeface="+mj-ea"/>
              </a:rPr>
              <a:t>術中管理における非侵襲的な後負荷モニタリングの実装。</a:t>
            </a:r>
            <a:endParaRPr lang="en-US" altLang="ja-JP" b="1" dirty="0">
              <a:latin typeface="+mj-ea"/>
              <a:ea typeface="+mj-ea"/>
            </a:endParaRPr>
          </a:p>
          <a:p>
            <a:pPr lvl="1"/>
            <a:r>
              <a:rPr lang="en-US" altLang="ja-JP" dirty="0">
                <a:latin typeface="+mj-ea"/>
                <a:ea typeface="+mj-ea"/>
              </a:rPr>
              <a:t>PDA</a:t>
            </a:r>
            <a:r>
              <a:rPr lang="ja-JP" altLang="en-US">
                <a:latin typeface="+mj-ea"/>
                <a:ea typeface="+mj-ea"/>
              </a:rPr>
              <a:t>由来の</a:t>
            </a:r>
            <a:r>
              <a:rPr lang="en-US" altLang="ja-JP" dirty="0">
                <a:latin typeface="+mj-ea"/>
                <a:ea typeface="+mj-ea"/>
              </a:rPr>
              <a:t>RI</a:t>
            </a:r>
            <a:r>
              <a:rPr lang="ja-JP" altLang="en-US">
                <a:latin typeface="+mj-ea"/>
                <a:ea typeface="+mj-ea"/>
              </a:rPr>
              <a:t>（</a:t>
            </a:r>
            <a:r>
              <a:rPr lang="en-US" altLang="ja-JP" dirty="0">
                <a:latin typeface="+mj-ea"/>
                <a:ea typeface="+mj-ea"/>
              </a:rPr>
              <a:t>ΔRI</a:t>
            </a:r>
            <a:r>
              <a:rPr lang="ja-JP" altLang="en-US">
                <a:latin typeface="+mj-ea"/>
                <a:ea typeface="+mj-ea"/>
              </a:rPr>
              <a:t>）と</a:t>
            </a:r>
            <a:r>
              <a:rPr lang="en-US" altLang="ja-JP" dirty="0">
                <a:latin typeface="+mj-ea"/>
                <a:ea typeface="+mj-ea"/>
              </a:rPr>
              <a:t>SVR</a:t>
            </a:r>
            <a:r>
              <a:rPr lang="ja-JP" altLang="en-US">
                <a:latin typeface="+mj-ea"/>
                <a:ea typeface="+mj-ea"/>
              </a:rPr>
              <a:t>（</a:t>
            </a:r>
            <a:r>
              <a:rPr lang="en-US" altLang="ja-JP" dirty="0">
                <a:latin typeface="+mj-ea"/>
                <a:ea typeface="+mj-ea"/>
              </a:rPr>
              <a:t>ΔSVR</a:t>
            </a:r>
            <a:r>
              <a:rPr lang="ja-JP" altLang="en-US">
                <a:latin typeface="+mj-ea"/>
                <a:ea typeface="+mj-ea"/>
              </a:rPr>
              <a:t>）との関連を調べたい。</a:t>
            </a:r>
            <a:endParaRPr lang="en-US" altLang="ja-JP" dirty="0">
              <a:latin typeface="+mj-ea"/>
              <a:ea typeface="+mj-ea"/>
            </a:endParaRPr>
          </a:p>
          <a:p>
            <a:pPr lvl="1"/>
            <a:r>
              <a:rPr lang="en-US" altLang="ja-JP" dirty="0">
                <a:latin typeface="+mj-ea"/>
                <a:ea typeface="+mj-ea"/>
              </a:rPr>
              <a:t>SI</a:t>
            </a:r>
            <a:r>
              <a:rPr lang="ja-JP" altLang="en-US">
                <a:latin typeface="+mj-ea"/>
                <a:ea typeface="+mj-ea"/>
              </a:rPr>
              <a:t>（</a:t>
            </a:r>
            <a:r>
              <a:rPr lang="en-US" altLang="ja-JP" dirty="0">
                <a:latin typeface="+mj-ea"/>
                <a:ea typeface="+mj-ea"/>
              </a:rPr>
              <a:t>ΔSI</a:t>
            </a:r>
            <a:r>
              <a:rPr lang="ja-JP" altLang="en-US">
                <a:latin typeface="+mj-ea"/>
                <a:ea typeface="+mj-ea"/>
              </a:rPr>
              <a:t>）と血圧変動の関連を調べたい。</a:t>
            </a:r>
            <a:endParaRPr lang="en-US" altLang="ja-JP" dirty="0">
              <a:latin typeface="+mj-ea"/>
              <a:ea typeface="+mj-ea"/>
            </a:endParaRPr>
          </a:p>
          <a:p>
            <a:endParaRPr kumimoji="1" lang="en-US" altLang="ja-JP" dirty="0">
              <a:latin typeface="+mj-ea"/>
              <a:ea typeface="+mj-ea"/>
            </a:endParaRPr>
          </a:p>
          <a:p>
            <a:r>
              <a:rPr kumimoji="1" lang="en-US" altLang="ja-JP" b="1" dirty="0" err="1">
                <a:latin typeface="+mj-ea"/>
                <a:ea typeface="+mj-ea"/>
              </a:rPr>
              <a:t>esCCO</a:t>
            </a:r>
            <a:r>
              <a:rPr kumimoji="1" lang="ja-JP" altLang="en-US" b="1">
                <a:latin typeface="+mj-ea"/>
                <a:ea typeface="+mj-ea"/>
              </a:rPr>
              <a:t>の推定精度向上。</a:t>
            </a:r>
          </a:p>
        </p:txBody>
      </p:sp>
      <p:sp>
        <p:nvSpPr>
          <p:cNvPr id="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3/118</a:t>
            </a:r>
          </a:p>
        </p:txBody>
      </p:sp>
    </p:spTree>
    <p:extLst>
      <p:ext uri="{BB962C8B-B14F-4D97-AF65-F5344CB8AC3E}">
        <p14:creationId xmlns:p14="http://schemas.microsoft.com/office/powerpoint/2010/main" val="32764704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600" dirty="0" err="1">
                <a:latin typeface="Meiryo"/>
                <a:ea typeface="Meiryo"/>
                <a:cs typeface="Meiryo"/>
              </a:rPr>
              <a:t>メニュ</a:t>
            </a:r>
            <a:r>
              <a:rPr sz="4600" dirty="0">
                <a:latin typeface="Meiryo"/>
                <a:ea typeface="Meiryo"/>
                <a:cs typeface="Meiryo"/>
              </a:rPr>
              <a:t>ー</a:t>
            </a:r>
          </a:p>
        </p:txBody>
      </p:sp>
      <p:sp>
        <p:nvSpPr>
          <p:cNvPr id="8" name="TextBox 7"/>
          <p:cNvSpPr txBox="1"/>
          <p:nvPr/>
        </p:nvSpPr>
        <p:spPr>
          <a:xfrm>
            <a:off x="859536" y="2146974"/>
            <a:ext cx="10579608" cy="4320000"/>
          </a:xfrm>
          <a:prstGeom prst="rect">
            <a:avLst/>
          </a:prstGeom>
          <a:noFill/>
        </p:spPr>
        <p:txBody>
          <a:bodyPr wrap="square" lIns="0" tIns="0" rIns="0" bIns="0" anchor="ctr">
            <a:spAutoFit/>
          </a:bodyPr>
          <a:lstStyle/>
          <a:p>
            <a:pPr>
              <a:lnSpc>
                <a:spcPct val="145000"/>
              </a:lnSpc>
            </a:pPr>
            <a:r>
              <a:rPr sz="3400" b="1" dirty="0">
                <a:solidFill>
                  <a:srgbClr val="BF9000"/>
                </a:solidFill>
                <a:latin typeface="Meiryo"/>
                <a:ea typeface="Meiryo"/>
                <a:cs typeface="Meiryo"/>
              </a:rPr>
              <a:t>1. </a:t>
            </a:r>
            <a:r>
              <a:rPr sz="3400" b="1" dirty="0" err="1">
                <a:solidFill>
                  <a:srgbClr val="262626"/>
                </a:solidFill>
                <a:latin typeface="Meiryo"/>
                <a:ea typeface="Meiryo"/>
                <a:cs typeface="Meiryo"/>
              </a:rPr>
              <a:t>PPGの基礎</a:t>
            </a:r>
            <a:endParaRPr sz="3400" b="1" dirty="0">
              <a:solidFill>
                <a:srgbClr val="262626"/>
              </a:solidFill>
              <a:latin typeface="Meiryo"/>
              <a:ea typeface="Meiryo"/>
              <a:cs typeface="Meiryo"/>
            </a:endParaRPr>
          </a:p>
          <a:p>
            <a:pPr>
              <a:lnSpc>
                <a:spcPct val="145000"/>
              </a:lnSpc>
            </a:pPr>
            <a:r>
              <a:rPr sz="3400" b="1" dirty="0">
                <a:solidFill>
                  <a:srgbClr val="BF9000"/>
                </a:solidFill>
                <a:latin typeface="Meiryo"/>
                <a:ea typeface="Meiryo"/>
                <a:cs typeface="Meiryo"/>
              </a:rPr>
              <a:t>2. </a:t>
            </a:r>
            <a:r>
              <a:rPr sz="3400" b="1" dirty="0" err="1">
                <a:solidFill>
                  <a:srgbClr val="262626"/>
                </a:solidFill>
                <a:latin typeface="Meiryo"/>
                <a:ea typeface="Meiryo"/>
                <a:cs typeface="Meiryo"/>
              </a:rPr>
              <a:t>波形</a:t>
            </a:r>
            <a:r>
              <a:rPr lang="ja-JP" altLang="en-US" sz="3400" b="1">
                <a:solidFill>
                  <a:srgbClr val="262626"/>
                </a:solidFill>
                <a:latin typeface="Meiryo"/>
                <a:ea typeface="Meiryo"/>
                <a:cs typeface="Meiryo"/>
              </a:rPr>
              <a:t>に影響する因子</a:t>
            </a:r>
            <a:endParaRPr sz="3400" b="1" dirty="0">
              <a:solidFill>
                <a:srgbClr val="262626"/>
              </a:solidFill>
              <a:latin typeface="Meiryo"/>
              <a:ea typeface="Meiryo"/>
              <a:cs typeface="Meiryo"/>
            </a:endParaRPr>
          </a:p>
          <a:p>
            <a:pPr>
              <a:lnSpc>
                <a:spcPct val="145000"/>
              </a:lnSpc>
            </a:pPr>
            <a:r>
              <a:rPr sz="3400" b="1" dirty="0">
                <a:solidFill>
                  <a:srgbClr val="BF9000"/>
                </a:solidFill>
                <a:latin typeface="Meiryo"/>
                <a:ea typeface="Meiryo"/>
                <a:cs typeface="Meiryo"/>
              </a:rPr>
              <a:t>3. </a:t>
            </a:r>
            <a:r>
              <a:rPr sz="3400" b="1" dirty="0" err="1">
                <a:solidFill>
                  <a:srgbClr val="262626"/>
                </a:solidFill>
                <a:latin typeface="Meiryo"/>
                <a:ea typeface="Meiryo"/>
                <a:cs typeface="Meiryo"/>
              </a:rPr>
              <a:t>波形</a:t>
            </a:r>
            <a:r>
              <a:rPr lang="ja-JP" altLang="en-US" sz="3400" b="1">
                <a:solidFill>
                  <a:srgbClr val="262626"/>
                </a:solidFill>
                <a:latin typeface="Meiryo"/>
                <a:ea typeface="Meiryo"/>
                <a:cs typeface="Meiryo"/>
              </a:rPr>
              <a:t>を定量化する方法</a:t>
            </a:r>
            <a:endParaRPr sz="3400" b="1" dirty="0">
              <a:solidFill>
                <a:srgbClr val="262626"/>
              </a:solidFill>
              <a:latin typeface="Meiryo"/>
              <a:ea typeface="Meiryo"/>
              <a:cs typeface="Meiryo"/>
            </a:endParaRPr>
          </a:p>
          <a:p>
            <a:pPr>
              <a:lnSpc>
                <a:spcPct val="145000"/>
              </a:lnSpc>
            </a:pPr>
            <a:r>
              <a:rPr sz="3400" b="1" dirty="0">
                <a:solidFill>
                  <a:srgbClr val="BF9000"/>
                </a:solidFill>
                <a:latin typeface="Meiryo"/>
                <a:ea typeface="Meiryo"/>
                <a:cs typeface="Meiryo"/>
              </a:rPr>
              <a:t>4. </a:t>
            </a:r>
            <a:r>
              <a:rPr sz="3400" b="1" dirty="0" err="1">
                <a:solidFill>
                  <a:srgbClr val="262626"/>
                </a:solidFill>
                <a:latin typeface="Meiryo"/>
                <a:ea typeface="Meiryo"/>
                <a:cs typeface="Meiryo"/>
              </a:rPr>
              <a:t>限界</a:t>
            </a:r>
            <a:endParaRPr sz="3400" b="1" dirty="0">
              <a:solidFill>
                <a:srgbClr val="262626"/>
              </a:solidFill>
              <a:latin typeface="Meiryo"/>
              <a:ea typeface="Meiryo"/>
              <a:cs typeface="Meiryo"/>
            </a:endParaRPr>
          </a:p>
          <a:p>
            <a:pPr>
              <a:lnSpc>
                <a:spcPct val="145000"/>
              </a:lnSpc>
            </a:pPr>
            <a:r>
              <a:rPr sz="3400" b="1" dirty="0">
                <a:solidFill>
                  <a:srgbClr val="BF9000"/>
                </a:solidFill>
                <a:latin typeface="Meiryo"/>
                <a:ea typeface="Meiryo"/>
                <a:cs typeface="Meiryo"/>
              </a:rPr>
              <a:t>5. </a:t>
            </a:r>
            <a:r>
              <a:rPr sz="3400" b="1" dirty="0" err="1">
                <a:solidFill>
                  <a:srgbClr val="262626"/>
                </a:solidFill>
                <a:latin typeface="Meiryo"/>
                <a:ea typeface="Meiryo"/>
                <a:cs typeface="Meiryo"/>
              </a:rPr>
              <a:t>PDA（波形分解</a:t>
            </a:r>
            <a:r>
              <a:rPr sz="3400" b="1" dirty="0">
                <a:solidFill>
                  <a:srgbClr val="262626"/>
                </a:solidFill>
                <a:latin typeface="Meiryo"/>
                <a:ea typeface="Meiryo"/>
                <a:cs typeface="Meiryo"/>
              </a:rPr>
              <a:t>）</a:t>
            </a:r>
            <a:r>
              <a:rPr lang="ja-JP" altLang="en-US" sz="3400" b="1">
                <a:solidFill>
                  <a:srgbClr val="262626"/>
                </a:solidFill>
                <a:latin typeface="Meiryo"/>
                <a:ea typeface="Meiryo"/>
                <a:cs typeface="Meiryo"/>
              </a:rPr>
              <a:t>について</a:t>
            </a:r>
            <a:endParaRPr sz="3400" b="1" dirty="0">
              <a:solidFill>
                <a:srgbClr val="262626"/>
              </a:solidFill>
              <a:latin typeface="Meiryo"/>
              <a:ea typeface="Meiryo"/>
              <a:cs typeface="Meiryo"/>
            </a:endParaRPr>
          </a:p>
          <a:p>
            <a:pPr>
              <a:lnSpc>
                <a:spcPct val="145000"/>
              </a:lnSpc>
            </a:pPr>
            <a:r>
              <a:rPr sz="3400" b="1" dirty="0">
                <a:solidFill>
                  <a:srgbClr val="BF9000"/>
                </a:solidFill>
                <a:latin typeface="Meiryo"/>
                <a:ea typeface="Meiryo"/>
                <a:cs typeface="Meiryo"/>
              </a:rPr>
              <a:t>6. </a:t>
            </a:r>
            <a:r>
              <a:rPr sz="3400" b="1" dirty="0" err="1">
                <a:solidFill>
                  <a:srgbClr val="262626"/>
                </a:solidFill>
                <a:latin typeface="Meiryo"/>
                <a:ea typeface="Meiryo"/>
                <a:cs typeface="Meiryo"/>
              </a:rPr>
              <a:t>提案（esCCO の補正）</a:t>
            </a:r>
            <a:endParaRPr sz="3400" b="1" dirty="0">
              <a:solidFill>
                <a:srgbClr val="262626"/>
              </a:solidFill>
              <a:latin typeface="Meiryo"/>
              <a:ea typeface="Meiryo"/>
              <a:cs typeface="Meiryo"/>
            </a:endParaRPr>
          </a:p>
        </p:txBody>
      </p:sp>
      <p:sp>
        <p:nvSpPr>
          <p:cNvPr id="17"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1. PPGの基礎</a:t>
            </a:r>
          </a:p>
        </p:txBody>
      </p:sp>
      <p:sp>
        <p:nvSpPr>
          <p:cNvPr id="8" name="TextBox 7"/>
          <p:cNvSpPr txBox="1"/>
          <p:nvPr/>
        </p:nvSpPr>
        <p:spPr>
          <a:xfrm>
            <a:off x="822960" y="1536192"/>
            <a:ext cx="5029200" cy="4956048"/>
          </a:xfrm>
          <a:prstGeom prst="rect">
            <a:avLst/>
          </a:prstGeom>
          <a:noFill/>
        </p:spPr>
        <p:txBody>
          <a:bodyPr wrap="square" lIns="0" tIns="0" rIns="0" bIns="0" anchor="t">
            <a:spAutoFit/>
          </a:bodyPr>
          <a:lstStyle/>
          <a:p>
            <a:pPr>
              <a:lnSpc>
                <a:spcPct val="145000"/>
              </a:lnSpc>
            </a:pPr>
            <a:r>
              <a:rPr sz="3200" b="1">
                <a:solidFill>
                  <a:srgbClr val="BF9000"/>
                </a:solidFill>
                <a:latin typeface="Meiryo"/>
                <a:ea typeface="Meiryo"/>
                <a:cs typeface="Meiryo"/>
              </a:rPr>
              <a:t>1. </a:t>
            </a:r>
            <a:r>
              <a:rPr sz="3200" b="1">
                <a:solidFill>
                  <a:srgbClr val="262626"/>
                </a:solidFill>
                <a:latin typeface="Meiryo"/>
                <a:ea typeface="Meiryo"/>
                <a:cs typeface="Meiryo"/>
              </a:rPr>
              <a:t>PPGの基礎</a:t>
            </a:r>
          </a:p>
          <a:p>
            <a:pPr>
              <a:lnSpc>
                <a:spcPct val="145000"/>
              </a:lnSpc>
            </a:pPr>
            <a:r>
              <a:rPr sz="3200" b="1">
                <a:solidFill>
                  <a:srgbClr val="D9D9D9"/>
                </a:solidFill>
                <a:latin typeface="Meiryo"/>
                <a:ea typeface="Meiryo"/>
                <a:cs typeface="Meiryo"/>
              </a:rPr>
              <a:t>2. </a:t>
            </a:r>
            <a:r>
              <a:rPr sz="3200" b="0">
                <a:solidFill>
                  <a:srgbClr val="D9D9D9"/>
                </a:solidFill>
                <a:latin typeface="Meiryo"/>
                <a:ea typeface="Meiryo"/>
                <a:cs typeface="Meiryo"/>
              </a:rPr>
              <a:t>波形への影響</a:t>
            </a:r>
          </a:p>
          <a:p>
            <a:pPr>
              <a:lnSpc>
                <a:spcPct val="145000"/>
              </a:lnSpc>
            </a:pPr>
            <a:r>
              <a:rPr sz="3200" b="1">
                <a:solidFill>
                  <a:srgbClr val="D9D9D9"/>
                </a:solidFill>
                <a:latin typeface="Meiryo"/>
                <a:ea typeface="Meiryo"/>
                <a:cs typeface="Meiryo"/>
              </a:rPr>
              <a:t>3. </a:t>
            </a:r>
            <a:r>
              <a:rPr sz="3200" b="0">
                <a:solidFill>
                  <a:srgbClr val="D9D9D9"/>
                </a:solidFill>
                <a:latin typeface="Meiryo"/>
                <a:ea typeface="Meiryo"/>
                <a:cs typeface="Meiryo"/>
              </a:rPr>
              <a:t>波形の定量化</a:t>
            </a:r>
          </a:p>
          <a:p>
            <a:pPr>
              <a:lnSpc>
                <a:spcPct val="145000"/>
              </a:lnSpc>
            </a:pPr>
            <a:r>
              <a:rPr sz="3200" b="1">
                <a:solidFill>
                  <a:srgbClr val="D9D9D9"/>
                </a:solidFill>
                <a:latin typeface="Meiryo"/>
                <a:ea typeface="Meiryo"/>
                <a:cs typeface="Meiryo"/>
              </a:rPr>
              <a:t>4. </a:t>
            </a:r>
            <a:r>
              <a:rPr sz="3200" b="0">
                <a:solidFill>
                  <a:srgbClr val="D9D9D9"/>
                </a:solidFill>
                <a:latin typeface="Meiryo"/>
                <a:ea typeface="Meiryo"/>
                <a:cs typeface="Meiryo"/>
              </a:rPr>
              <a:t>限界</a:t>
            </a:r>
          </a:p>
          <a:p>
            <a:pPr>
              <a:lnSpc>
                <a:spcPct val="145000"/>
              </a:lnSpc>
            </a:pPr>
            <a:r>
              <a:rPr sz="3200" b="1">
                <a:solidFill>
                  <a:srgbClr val="D9D9D9"/>
                </a:solidFill>
                <a:latin typeface="Meiryo"/>
                <a:ea typeface="Meiryo"/>
                <a:cs typeface="Meiryo"/>
              </a:rPr>
              <a:t>5. </a:t>
            </a:r>
            <a:r>
              <a:rPr sz="3200" b="0">
                <a:solidFill>
                  <a:srgbClr val="D9D9D9"/>
                </a:solidFill>
                <a:latin typeface="Meiryo"/>
                <a:ea typeface="Meiryo"/>
                <a:cs typeface="Meiryo"/>
              </a:rPr>
              <a:t>PDA（波形分解）</a:t>
            </a:r>
          </a:p>
          <a:p>
            <a:pPr>
              <a:lnSpc>
                <a:spcPct val="145000"/>
              </a:lnSpc>
            </a:pPr>
            <a:r>
              <a:rPr sz="3200" b="0">
                <a:solidFill>
                  <a:srgbClr val="D9D9D9"/>
                </a:solidFill>
                <a:latin typeface="Meiryo"/>
                <a:ea typeface="Meiryo"/>
                <a:cs typeface="Meiryo"/>
              </a:rPr>
              <a:t>6. 提案</a:t>
            </a:r>
          </a:p>
        </p:txBody>
      </p:sp>
      <p:sp>
        <p:nvSpPr>
          <p:cNvPr id="18" name="SubToc"/>
          <p:cNvSpPr txBox="1"/>
          <p:nvPr/>
        </p:nvSpPr>
        <p:spPr>
          <a:xfrm>
            <a:off x="6309360" y="1536192"/>
            <a:ext cx="5394960" cy="4956048"/>
          </a:xfrm>
          <a:prstGeom prst="rect">
            <a:avLst/>
          </a:prstGeom>
          <a:noFill/>
        </p:spPr>
        <p:txBody>
          <a:bodyPr wrap="square" anchor="t">
            <a:spAutoFit/>
          </a:bodyPr>
          <a:lstStyle/>
          <a:p>
            <a:pPr>
              <a:lnSpc>
                <a:spcPct val="145000"/>
              </a:lnSpc>
            </a:pPr>
            <a:r>
              <a:rPr sz="2900" b="1">
                <a:solidFill>
                  <a:srgbClr val="BF9000"/>
                </a:solidFill>
                <a:latin typeface="Meiryo"/>
                <a:ea typeface="Meiryo"/>
                <a:cs typeface="Meiryo"/>
              </a:rPr>
              <a:t>1.1 </a:t>
            </a:r>
            <a:r>
              <a:rPr sz="2900" b="0">
                <a:solidFill>
                  <a:srgbClr val="262626"/>
                </a:solidFill>
                <a:latin typeface="Meiryo"/>
                <a:ea typeface="Meiryo"/>
                <a:cs typeface="Meiryo"/>
              </a:rPr>
              <a:t>SpO₂の測定原理</a:t>
            </a:r>
          </a:p>
          <a:p>
            <a:pPr>
              <a:lnSpc>
                <a:spcPct val="145000"/>
              </a:lnSpc>
            </a:pPr>
            <a:r>
              <a:rPr sz="2900" b="1">
                <a:solidFill>
                  <a:srgbClr val="BF9000"/>
                </a:solidFill>
                <a:latin typeface="Meiryo"/>
                <a:ea typeface="Meiryo"/>
                <a:cs typeface="Meiryo"/>
              </a:rPr>
              <a:t>1.2 </a:t>
            </a:r>
            <a:r>
              <a:rPr sz="2900" b="0">
                <a:solidFill>
                  <a:srgbClr val="262626"/>
                </a:solidFill>
                <a:latin typeface="Meiryo"/>
                <a:ea typeface="Meiryo"/>
                <a:cs typeface="Meiryo"/>
              </a:rPr>
              <a:t>PPGが測るもの</a:t>
            </a:r>
          </a:p>
          <a:p>
            <a:pPr>
              <a:lnSpc>
                <a:spcPct val="145000"/>
              </a:lnSpc>
            </a:pPr>
            <a:r>
              <a:rPr sz="2900" b="1">
                <a:solidFill>
                  <a:srgbClr val="BF9000"/>
                </a:solidFill>
                <a:latin typeface="Meiryo"/>
                <a:ea typeface="Meiryo"/>
                <a:cs typeface="Meiryo"/>
              </a:rPr>
              <a:t>1.3 </a:t>
            </a:r>
            <a:r>
              <a:rPr sz="2900" b="0">
                <a:solidFill>
                  <a:srgbClr val="262626"/>
                </a:solidFill>
                <a:latin typeface="Meiryo"/>
                <a:ea typeface="Meiryo"/>
                <a:cs typeface="Meiryo"/>
              </a:rPr>
              <a:t>前進波の成因</a:t>
            </a:r>
          </a:p>
          <a:p>
            <a:pPr>
              <a:lnSpc>
                <a:spcPct val="145000"/>
              </a:lnSpc>
            </a:pPr>
            <a:r>
              <a:rPr sz="2900" b="1">
                <a:solidFill>
                  <a:srgbClr val="BF9000"/>
                </a:solidFill>
                <a:latin typeface="Meiryo"/>
                <a:ea typeface="Meiryo"/>
                <a:cs typeface="Meiryo"/>
              </a:rPr>
              <a:t>1.4 </a:t>
            </a:r>
            <a:r>
              <a:rPr sz="2900" b="0">
                <a:solidFill>
                  <a:srgbClr val="262626"/>
                </a:solidFill>
                <a:latin typeface="Meiryo"/>
                <a:ea typeface="Meiryo"/>
                <a:cs typeface="Meiryo"/>
              </a:rPr>
              <a:t>反射波の成因</a:t>
            </a:r>
          </a:p>
          <a:p>
            <a:pPr>
              <a:lnSpc>
                <a:spcPct val="145000"/>
              </a:lnSpc>
            </a:pPr>
            <a:r>
              <a:rPr sz="2900" b="1">
                <a:solidFill>
                  <a:srgbClr val="BF9000"/>
                </a:solidFill>
                <a:latin typeface="Meiryo"/>
                <a:ea typeface="Meiryo"/>
                <a:cs typeface="Meiryo"/>
              </a:rPr>
              <a:t>1.5 </a:t>
            </a:r>
            <a:r>
              <a:rPr sz="2900" b="0">
                <a:solidFill>
                  <a:srgbClr val="262626"/>
                </a:solidFill>
                <a:latin typeface="Meiryo"/>
                <a:ea typeface="Meiryo"/>
                <a:cs typeface="Meiryo"/>
              </a:rPr>
              <a:t>PPG基礎まとめ</a:t>
            </a:r>
          </a:p>
        </p:txBody>
      </p:sp>
      <p:sp>
        <p:nvSpPr>
          <p:cNvPr id="1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5/118</a:t>
            </a:r>
          </a:p>
        </p:txBody>
      </p:sp>
      <p:sp>
        <p:nvSpPr>
          <p:cNvPr id="101" name="Off-page Connector 4">
            <a:extLst>
              <a:ext uri="{FF2B5EF4-FFF2-40B4-BE49-F238E27FC236}">
                <a16:creationId xmlns:a16="http://schemas.microsoft.com/office/drawing/2014/main" id="{AA9D36CE-3772-F005-B54C-9329ADA7F086}"/>
              </a:ext>
            </a:extLst>
          </p:cNvPr>
          <p:cNvSpPr/>
          <p:nvPr/>
        </p:nvSpPr>
        <p:spPr>
          <a:xfrm>
            <a:off x="821448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A8C2FD-694C-4897-9A75-2D5D9B7FEA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FE8B2F-E956-0B37-F20F-63DF2F5F4167}"/>
              </a:ext>
            </a:extLst>
          </p:cNvPr>
          <p:cNvSpPr>
            <a:spLocks noGrp="1"/>
          </p:cNvSpPr>
          <p:nvPr>
            <p:ph type="title"/>
          </p:nvPr>
        </p:nvSpPr>
        <p:spPr/>
        <p:txBody>
          <a:bodyPr/>
          <a:lstStyle/>
          <a:p>
            <a:pPr algn="l"/>
            <a:r>
              <a:rPr sz="4600">
                <a:latin typeface="Meiryo"/>
                <a:ea typeface="Meiryo"/>
                <a:cs typeface="Meiryo"/>
              </a:rPr>
              <a:t>1.1  SpO₂の測定原理</a:t>
            </a:r>
            <a:endParaRPr sz="4600" dirty="0">
              <a:latin typeface="Meiryo"/>
              <a:ea typeface="Meiryo"/>
              <a:cs typeface="Meiryo"/>
            </a:endParaRPr>
          </a:p>
        </p:txBody>
      </p:sp>
      <p:sp>
        <p:nvSpPr>
          <p:cNvPr id="3" name="コンテンツ プレースホルダー 2">
            <a:extLst>
              <a:ext uri="{FF2B5EF4-FFF2-40B4-BE49-F238E27FC236}">
                <a16:creationId xmlns:a16="http://schemas.microsoft.com/office/drawing/2014/main" id="{829068BC-7154-CBB1-D545-27AC73B2F90F}"/>
              </a:ext>
            </a:extLst>
          </p:cNvPr>
          <p:cNvSpPr>
            <a:spLocks noGrp="1"/>
          </p:cNvSpPr>
          <p:nvPr>
            <p:ph idx="1"/>
          </p:nvPr>
        </p:nvSpPr>
        <p:spPr>
          <a:xfrm>
            <a:off x="838199" y="1825625"/>
            <a:ext cx="10720319" cy="4351338"/>
          </a:xfrm>
        </p:spPr>
        <p:txBody>
          <a:bodyPr/>
          <a:lstStyle/>
          <a:p>
            <a:pPr>
              <a:spcAft>
                <a:spcPts val="1000"/>
              </a:spcAft>
            </a:pPr>
            <a:r>
              <a:rPr lang="en-US" altLang="ja-JP" dirty="0">
                <a:latin typeface="+mj-ea"/>
                <a:ea typeface="+mj-ea"/>
              </a:rPr>
              <a:t>SpO₂</a:t>
            </a:r>
            <a:r>
              <a:rPr lang="ja-JP" altLang="en-US">
                <a:latin typeface="+mj-ea"/>
                <a:ea typeface="+mj-ea"/>
              </a:rPr>
              <a:t>は</a:t>
            </a:r>
            <a:r>
              <a:rPr lang="en-US" altLang="ja-JP" dirty="0">
                <a:latin typeface="+mj-ea"/>
                <a:ea typeface="+mj-ea"/>
              </a:rPr>
              <a:t>SaO2</a:t>
            </a:r>
            <a:r>
              <a:rPr lang="ja-JP" altLang="en-US">
                <a:latin typeface="+mj-ea"/>
                <a:ea typeface="+mj-ea"/>
              </a:rPr>
              <a:t>を経皮的に推定した値である。</a:t>
            </a:r>
            <a:endParaRPr lang="en-US" altLang="ja-JP" dirty="0">
              <a:latin typeface="+mj-ea"/>
              <a:ea typeface="+mj-ea"/>
            </a:endParaRPr>
          </a:p>
          <a:p>
            <a:pPr>
              <a:spcAft>
                <a:spcPts val="1000"/>
              </a:spcAft>
            </a:pPr>
            <a:r>
              <a:rPr lang="en-US" altLang="ja-JP" dirty="0">
                <a:latin typeface="+mj-ea"/>
                <a:ea typeface="+mj-ea"/>
              </a:rPr>
              <a:t>SaO2</a:t>
            </a:r>
            <a:r>
              <a:rPr lang="ja-JP" altLang="en-US">
                <a:latin typeface="+mj-ea"/>
                <a:ea typeface="+mj-ea"/>
              </a:rPr>
              <a:t>は動脈血中の酸素に結合している</a:t>
            </a:r>
            <a:r>
              <a:rPr lang="en-US" altLang="ja-JP" dirty="0">
                <a:latin typeface="+mj-ea"/>
                <a:ea typeface="+mj-ea"/>
              </a:rPr>
              <a:t>Hb</a:t>
            </a:r>
            <a:r>
              <a:rPr lang="ja-JP" altLang="en-US">
                <a:latin typeface="+mj-ea"/>
                <a:ea typeface="+mj-ea"/>
              </a:rPr>
              <a:t>の割合。</a:t>
            </a:r>
            <a:endParaRPr lang="en-US" altLang="ja-JP" dirty="0">
              <a:latin typeface="+mj-ea"/>
              <a:ea typeface="+mj-ea"/>
            </a:endParaRPr>
          </a:p>
          <a:p>
            <a:pPr>
              <a:spcAft>
                <a:spcPts val="1000"/>
              </a:spcAft>
            </a:pPr>
            <a:r>
              <a:rPr lang="en-US" altLang="ja-JP" dirty="0">
                <a:latin typeface="+mj-ea"/>
                <a:ea typeface="+mj-ea"/>
              </a:rPr>
              <a:t>SaO2</a:t>
            </a:r>
            <a:r>
              <a:rPr lang="ja-JP" altLang="en-US">
                <a:latin typeface="+mj-ea"/>
                <a:ea typeface="+mj-ea"/>
              </a:rPr>
              <a:t>は酸素化評価のゴールドスタンダード。</a:t>
            </a:r>
            <a:endParaRPr lang="en-US" altLang="ja-JP" dirty="0">
              <a:latin typeface="+mj-ea"/>
              <a:ea typeface="+mj-ea"/>
            </a:endParaRPr>
          </a:p>
          <a:p>
            <a:pPr>
              <a:spcAft>
                <a:spcPts val="1000"/>
              </a:spcAft>
            </a:pPr>
            <a:endParaRPr lang="en-US" altLang="ja-JP" dirty="0">
              <a:latin typeface="+mj-ea"/>
              <a:ea typeface="+mj-ea"/>
            </a:endParaRPr>
          </a:p>
          <a:p>
            <a:pPr>
              <a:spcAft>
                <a:spcPts val="1000"/>
              </a:spcAft>
            </a:pPr>
            <a:r>
              <a:rPr lang="ja-JP" altLang="en-US">
                <a:latin typeface="+mj-ea"/>
                <a:ea typeface="+mj-ea"/>
              </a:rPr>
              <a:t>パルスオキシメトリーではどのように</a:t>
            </a:r>
            <a:r>
              <a:rPr lang="en-US" altLang="ja-JP" dirty="0">
                <a:latin typeface="+mj-ea"/>
                <a:ea typeface="+mj-ea"/>
              </a:rPr>
              <a:t>SaO2</a:t>
            </a:r>
            <a:r>
              <a:rPr lang="ja-JP" altLang="en-US">
                <a:latin typeface="+mj-ea"/>
                <a:ea typeface="+mj-ea"/>
              </a:rPr>
              <a:t>を推定している？</a:t>
            </a:r>
            <a:endParaRPr lang="en-US" altLang="ja-JP" dirty="0">
              <a:latin typeface="+mj-ea"/>
              <a:ea typeface="+mj-ea"/>
            </a:endParaRPr>
          </a:p>
          <a:p>
            <a:endParaRPr kumimoji="1" lang="ja-JP" altLang="en-US">
              <a:latin typeface="+mj-ea"/>
              <a:ea typeface="+mj-ea"/>
            </a:endParaRPr>
          </a:p>
        </p:txBody>
      </p:sp>
      <p:sp>
        <p:nvSpPr>
          <p:cNvPr id="18" name="Source"/>
          <p:cNvSpPr txBox="1"/>
          <p:nvPr/>
        </p:nvSpPr>
        <p:spPr>
          <a:xfrm>
            <a:off x="720000" y="6606000"/>
            <a:ext cx="10881360" cy="276999"/>
          </a:xfrm>
          <a:prstGeom prst="rect">
            <a:avLst/>
          </a:prstGeom>
          <a:noFill/>
        </p:spPr>
        <p:txBody>
          <a:bodyPr wrap="square" lIns="0" tIns="0" rIns="0" bIns="0" anchor="t">
            <a:spAutoFit/>
          </a:bodyPr>
          <a:lstStyle/>
          <a:p>
            <a:r>
              <a:rPr sz="1050" b="0" dirty="0">
                <a:solidFill>
                  <a:srgbClr val="808080"/>
                </a:solidFill>
                <a:latin typeface="Meiryo"/>
                <a:ea typeface="Meiryo"/>
                <a:cs typeface="Meiryo"/>
              </a:rPr>
              <a:t>2. Aoyagi 2003　／　3. Chan 2013　／　4. Ahmed 2005</a:t>
            </a:r>
          </a:p>
        </p:txBody>
      </p:sp>
      <p:sp>
        <p:nvSpPr>
          <p:cNvPr id="1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6/118</a:t>
            </a:r>
          </a:p>
        </p:txBody>
      </p:sp>
      <p:sp>
        <p:nvSpPr>
          <p:cNvPr id="101" name="Off-page Connector 4">
            <a:extLst>
              <a:ext uri="{FF2B5EF4-FFF2-40B4-BE49-F238E27FC236}">
                <a16:creationId xmlns:a16="http://schemas.microsoft.com/office/drawing/2014/main" id="{AA9D36CE-3772-F005-B54C-9329ADA7F086}"/>
              </a:ext>
            </a:extLst>
          </p:cNvPr>
          <p:cNvSpPr/>
          <p:nvPr/>
        </p:nvSpPr>
        <p:spPr>
          <a:xfrm>
            <a:off x="821448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1436356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93A90-F67A-A2B1-0655-922448B56F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BA0EB0-BCC2-59EA-3577-30ECE03291F0}"/>
              </a:ext>
            </a:extLst>
          </p:cNvPr>
          <p:cNvSpPr>
            <a:spLocks noGrp="1"/>
          </p:cNvSpPr>
          <p:nvPr>
            <p:ph type="title"/>
          </p:nvPr>
        </p:nvSpPr>
        <p:spPr/>
        <p:txBody>
          <a:bodyPr/>
          <a:lstStyle/>
          <a:p>
            <a:pPr algn="l"/>
            <a:r>
              <a:rPr sz="4600">
                <a:latin typeface="Meiryo"/>
                <a:ea typeface="Meiryo"/>
                <a:cs typeface="Meiryo"/>
              </a:rPr>
              <a:t>1.1  SpO₂の測定原理</a:t>
            </a:r>
            <a:endParaRPr sz="4600" dirty="0">
              <a:latin typeface="Meiryo"/>
              <a:ea typeface="Meiryo"/>
              <a:cs typeface="Meiryo"/>
            </a:endParaRPr>
          </a:p>
        </p:txBody>
      </p:sp>
      <p:pic>
        <p:nvPicPr>
          <p:cNvPr id="20" name="fig_spectra" descr="f_spo2_spectra.png">
            <a:extLst>
              <a:ext uri="{FF2B5EF4-FFF2-40B4-BE49-F238E27FC236}">
                <a16:creationId xmlns:a16="http://schemas.microsoft.com/office/drawing/2014/main" id="{7BB0358E-BFC2-F1D4-4FB0-8D5C77C32EEC}"/>
              </a:ext>
            </a:extLst>
          </p:cNvPr>
          <p:cNvPicPr>
            <a:picLocks noChangeAspect="1"/>
          </p:cNvPicPr>
          <p:nvPr/>
        </p:nvPicPr>
        <p:blipFill>
          <a:blip r:embed="rId3"/>
          <a:stretch>
            <a:fillRect/>
          </a:stretch>
        </p:blipFill>
        <p:spPr>
          <a:xfrm>
            <a:off x="6625764" y="2015999"/>
            <a:ext cx="3479861" cy="3024000"/>
          </a:xfrm>
          <a:prstGeom prst="rect">
            <a:avLst/>
          </a:prstGeom>
        </p:spPr>
      </p:pic>
      <p:sp>
        <p:nvSpPr>
          <p:cNvPr id="22" name="TextBox 21">
            <a:extLst>
              <a:ext uri="{FF2B5EF4-FFF2-40B4-BE49-F238E27FC236}">
                <a16:creationId xmlns:a16="http://schemas.microsoft.com/office/drawing/2014/main" id="{4E769FE3-5506-60DB-856E-01798BA749F0}"/>
              </a:ext>
            </a:extLst>
          </p:cNvPr>
          <p:cNvSpPr txBox="1"/>
          <p:nvPr/>
        </p:nvSpPr>
        <p:spPr>
          <a:xfrm>
            <a:off x="6739488" y="1681812"/>
            <a:ext cx="1147750" cy="338554"/>
          </a:xfrm>
          <a:prstGeom prst="rect">
            <a:avLst/>
          </a:prstGeom>
          <a:noFill/>
        </p:spPr>
        <p:txBody>
          <a:bodyPr wrap="none" lIns="0" tIns="0" rIns="0" bIns="0" anchor="ctr">
            <a:spAutoFit/>
          </a:bodyPr>
          <a:lstStyle/>
          <a:p>
            <a:pPr algn="ctr">
              <a:spcBef>
                <a:spcPts val="0"/>
              </a:spcBef>
              <a:spcAft>
                <a:spcPts val="0"/>
              </a:spcAft>
            </a:pPr>
            <a:r>
              <a:rPr sz="2200" b="1" dirty="0">
                <a:solidFill>
                  <a:schemeClr val="accent3"/>
                </a:solidFill>
                <a:latin typeface="Meiryo"/>
                <a:ea typeface="Meiryo"/>
                <a:cs typeface="Meiryo"/>
              </a:rPr>
              <a:t>660 nm</a:t>
            </a:r>
          </a:p>
        </p:txBody>
      </p:sp>
      <p:sp>
        <p:nvSpPr>
          <p:cNvPr id="23" name="TextBox 22">
            <a:extLst>
              <a:ext uri="{FF2B5EF4-FFF2-40B4-BE49-F238E27FC236}">
                <a16:creationId xmlns:a16="http://schemas.microsoft.com/office/drawing/2014/main" id="{F6BC3CAA-B677-4E61-B4DE-EF4258C4FB92}"/>
              </a:ext>
            </a:extLst>
          </p:cNvPr>
          <p:cNvSpPr txBox="1"/>
          <p:nvPr/>
        </p:nvSpPr>
        <p:spPr>
          <a:xfrm>
            <a:off x="8978689" y="1681812"/>
            <a:ext cx="1147750" cy="338554"/>
          </a:xfrm>
          <a:prstGeom prst="rect">
            <a:avLst/>
          </a:prstGeom>
          <a:noFill/>
        </p:spPr>
        <p:txBody>
          <a:bodyPr wrap="none" lIns="0" tIns="0" rIns="0" bIns="0" anchor="ctr">
            <a:spAutoFit/>
          </a:bodyPr>
          <a:lstStyle/>
          <a:p>
            <a:pPr algn="ctr">
              <a:spcBef>
                <a:spcPts val="0"/>
              </a:spcBef>
              <a:spcAft>
                <a:spcPts val="0"/>
              </a:spcAft>
            </a:pPr>
            <a:r>
              <a:rPr sz="2200" b="1" dirty="0">
                <a:solidFill>
                  <a:schemeClr val="accent3"/>
                </a:solidFill>
                <a:latin typeface="Meiryo"/>
                <a:ea typeface="Meiryo"/>
                <a:cs typeface="Meiryo"/>
              </a:rPr>
              <a:t>940 nm</a:t>
            </a:r>
          </a:p>
        </p:txBody>
      </p:sp>
      <p:sp>
        <p:nvSpPr>
          <p:cNvPr id="24" name="TextBox 23">
            <a:extLst>
              <a:ext uri="{FF2B5EF4-FFF2-40B4-BE49-F238E27FC236}">
                <a16:creationId xmlns:a16="http://schemas.microsoft.com/office/drawing/2014/main" id="{54C657B8-4AE2-2B27-5248-5B59F92DDB7E}"/>
              </a:ext>
            </a:extLst>
          </p:cNvPr>
          <p:cNvSpPr txBox="1"/>
          <p:nvPr/>
        </p:nvSpPr>
        <p:spPr>
          <a:xfrm>
            <a:off x="6869149" y="5006911"/>
            <a:ext cx="3290966" cy="338554"/>
          </a:xfrm>
          <a:prstGeom prst="rect">
            <a:avLst/>
          </a:prstGeom>
          <a:noFill/>
        </p:spPr>
        <p:txBody>
          <a:bodyPr wrap="none" lIns="0" tIns="0" rIns="0" bIns="0" anchor="ctr">
            <a:spAutoFit/>
          </a:bodyPr>
          <a:lstStyle/>
          <a:p>
            <a:pPr algn="l">
              <a:spcBef>
                <a:spcPts val="0"/>
              </a:spcBef>
              <a:spcAft>
                <a:spcPts val="0"/>
              </a:spcAft>
            </a:pPr>
            <a:r>
              <a:rPr lang="ja-JP" altLang="en-US" sz="2200" b="1">
                <a:solidFill>
                  <a:srgbClr val="0072B2"/>
                </a:solidFill>
                <a:latin typeface="Meiryo"/>
                <a:ea typeface="Meiryo"/>
                <a:cs typeface="Meiryo"/>
              </a:rPr>
              <a:t>赤</a:t>
            </a:r>
            <a:r>
              <a:rPr sz="2200" b="1" dirty="0" err="1">
                <a:solidFill>
                  <a:srgbClr val="0072B2"/>
                </a:solidFill>
                <a:latin typeface="Meiryo"/>
                <a:ea typeface="Meiryo"/>
                <a:cs typeface="Meiryo"/>
              </a:rPr>
              <a:t>色光</a:t>
            </a:r>
            <a:r>
              <a:rPr sz="2200" b="1" dirty="0">
                <a:solidFill>
                  <a:srgbClr val="0072B2"/>
                </a:solidFill>
                <a:latin typeface="Meiryo"/>
                <a:ea typeface="Meiryo"/>
                <a:cs typeface="Meiryo"/>
              </a:rPr>
              <a:t> 660 nm </a:t>
            </a:r>
            <a:r>
              <a:rPr lang="ja-JP" altLang="en-US" sz="2200" b="1">
                <a:solidFill>
                  <a:srgbClr val="0072B2"/>
                </a:solidFill>
                <a:latin typeface="Meiryo"/>
                <a:ea typeface="Meiryo"/>
                <a:cs typeface="Meiryo"/>
              </a:rPr>
              <a:t>→</a:t>
            </a:r>
            <a:r>
              <a:rPr sz="2200" b="1" dirty="0">
                <a:solidFill>
                  <a:srgbClr val="0072B2"/>
                </a:solidFill>
                <a:latin typeface="Meiryo"/>
                <a:ea typeface="Meiryo"/>
                <a:cs typeface="Meiryo"/>
              </a:rPr>
              <a:t> </a:t>
            </a:r>
            <a:r>
              <a:rPr lang="en-US" altLang="ja-JP" sz="2200" b="1" dirty="0" err="1">
                <a:solidFill>
                  <a:srgbClr val="0072B2"/>
                </a:solidFill>
                <a:latin typeface="Meiryo"/>
                <a:ea typeface="Meiryo"/>
                <a:cs typeface="Meiryo"/>
              </a:rPr>
              <a:t>H</a:t>
            </a:r>
            <a:r>
              <a:rPr sz="2200" b="1" dirty="0" err="1">
                <a:solidFill>
                  <a:srgbClr val="0072B2"/>
                </a:solidFill>
                <a:latin typeface="Meiryo"/>
                <a:ea typeface="Meiryo"/>
                <a:cs typeface="Meiryo"/>
              </a:rPr>
              <a:t>Hb</a:t>
            </a:r>
            <a:r>
              <a:rPr sz="2200" b="1" dirty="0">
                <a:solidFill>
                  <a:srgbClr val="0072B2"/>
                </a:solidFill>
                <a:latin typeface="Meiryo"/>
                <a:ea typeface="Meiryo"/>
                <a:cs typeface="Meiryo"/>
              </a:rPr>
              <a:t> </a:t>
            </a:r>
          </a:p>
        </p:txBody>
      </p:sp>
      <p:sp>
        <p:nvSpPr>
          <p:cNvPr id="25" name="TextBox 24">
            <a:extLst>
              <a:ext uri="{FF2B5EF4-FFF2-40B4-BE49-F238E27FC236}">
                <a16:creationId xmlns:a16="http://schemas.microsoft.com/office/drawing/2014/main" id="{34D904B3-6616-CE00-13CC-0EF39BB3057C}"/>
              </a:ext>
            </a:extLst>
          </p:cNvPr>
          <p:cNvSpPr txBox="1"/>
          <p:nvPr/>
        </p:nvSpPr>
        <p:spPr>
          <a:xfrm>
            <a:off x="6869149" y="5402911"/>
            <a:ext cx="3430426" cy="338554"/>
          </a:xfrm>
          <a:prstGeom prst="rect">
            <a:avLst/>
          </a:prstGeom>
          <a:noFill/>
        </p:spPr>
        <p:txBody>
          <a:bodyPr wrap="none" lIns="0" tIns="0" rIns="0" bIns="0" anchor="ctr">
            <a:spAutoFit/>
          </a:bodyPr>
          <a:lstStyle/>
          <a:p>
            <a:r>
              <a:rPr sz="2200" b="1" dirty="0" err="1">
                <a:solidFill>
                  <a:srgbClr val="D55E00"/>
                </a:solidFill>
                <a:latin typeface="Meiryo"/>
                <a:ea typeface="Meiryo"/>
                <a:cs typeface="Meiryo"/>
              </a:rPr>
              <a:t>赤外光</a:t>
            </a:r>
            <a:r>
              <a:rPr sz="2200" b="1" dirty="0">
                <a:solidFill>
                  <a:srgbClr val="D55E00"/>
                </a:solidFill>
                <a:latin typeface="Meiryo"/>
                <a:ea typeface="Meiryo"/>
                <a:cs typeface="Meiryo"/>
              </a:rPr>
              <a:t> 940 nm </a:t>
            </a:r>
            <a:r>
              <a:rPr lang="ja-JP" altLang="en-US" sz="2200" b="1">
                <a:solidFill>
                  <a:srgbClr val="D55E00"/>
                </a:solidFill>
                <a:latin typeface="Meiryo"/>
                <a:ea typeface="Meiryo"/>
                <a:cs typeface="Meiryo"/>
              </a:rPr>
              <a:t>→</a:t>
            </a:r>
            <a:r>
              <a:rPr sz="2200" b="1" dirty="0">
                <a:solidFill>
                  <a:srgbClr val="D55E00"/>
                </a:solidFill>
                <a:latin typeface="Meiryo"/>
                <a:ea typeface="Meiryo"/>
                <a:cs typeface="Meiryo"/>
              </a:rPr>
              <a:t> </a:t>
            </a:r>
            <a:r>
              <a:rPr lang="en" altLang="ja-JP" sz="2200" b="1" dirty="0">
                <a:solidFill>
                  <a:srgbClr val="D55E00"/>
                </a:solidFill>
                <a:latin typeface="Meiryo"/>
                <a:ea typeface="Meiryo"/>
                <a:cs typeface="Meiryo"/>
              </a:rPr>
              <a:t>O₂ </a:t>
            </a:r>
            <a:r>
              <a:rPr sz="2200" b="1" dirty="0">
                <a:solidFill>
                  <a:srgbClr val="D55E00"/>
                </a:solidFill>
                <a:latin typeface="Meiryo"/>
                <a:ea typeface="Meiryo"/>
                <a:cs typeface="Meiryo"/>
              </a:rPr>
              <a:t>Hb</a:t>
            </a:r>
          </a:p>
        </p:txBody>
      </p:sp>
      <p:sp>
        <p:nvSpPr>
          <p:cNvPr id="4" name="Rounded Rectangle 25">
            <a:extLst>
              <a:ext uri="{FF2B5EF4-FFF2-40B4-BE49-F238E27FC236}">
                <a16:creationId xmlns:a16="http://schemas.microsoft.com/office/drawing/2014/main" id="{82EFDEDC-6707-898A-918A-BBA9422162AC}"/>
              </a:ext>
            </a:extLst>
          </p:cNvPr>
          <p:cNvSpPr/>
          <p:nvPr/>
        </p:nvSpPr>
        <p:spPr>
          <a:xfrm>
            <a:off x="995967" y="2951223"/>
            <a:ext cx="4605830" cy="1723088"/>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lnSpc>
                <a:spcPct val="150000"/>
              </a:lnSpc>
              <a:spcBef>
                <a:spcPts val="0"/>
              </a:spcBef>
              <a:spcAft>
                <a:spcPts val="0"/>
              </a:spcAft>
            </a:pPr>
            <a:r>
              <a:rPr lang="en-US" sz="2400" b="1" dirty="0" err="1">
                <a:solidFill>
                  <a:srgbClr val="262626"/>
                </a:solidFill>
                <a:latin typeface="Meiryo"/>
                <a:ea typeface="Meiryo"/>
                <a:cs typeface="Meiryo"/>
              </a:rPr>
              <a:t>知りたいのは</a:t>
            </a:r>
            <a:r>
              <a:rPr lang="en" altLang="ja-JP" sz="2400" b="1" dirty="0">
                <a:solidFill>
                  <a:srgbClr val="D55E00"/>
                </a:solidFill>
                <a:latin typeface="Meiryo"/>
                <a:ea typeface="Meiryo"/>
                <a:cs typeface="Meiryo"/>
              </a:rPr>
              <a:t> O₂ Hb </a:t>
            </a:r>
            <a:r>
              <a:rPr lang="en-US" sz="2400" b="1" dirty="0" err="1">
                <a:solidFill>
                  <a:srgbClr val="262626"/>
                </a:solidFill>
                <a:latin typeface="Meiryo"/>
                <a:ea typeface="Meiryo"/>
                <a:cs typeface="Meiryo"/>
              </a:rPr>
              <a:t>の割合。</a:t>
            </a:r>
            <a:endParaRPr lang="en-US" sz="2400" b="1" dirty="0">
              <a:solidFill>
                <a:srgbClr val="262626"/>
              </a:solidFill>
              <a:latin typeface="Meiryo"/>
              <a:ea typeface="Meiryo"/>
              <a:cs typeface="Meiryo"/>
            </a:endParaRPr>
          </a:p>
          <a:p>
            <a:pPr algn="ctr">
              <a:lnSpc>
                <a:spcPct val="150000"/>
              </a:lnSpc>
              <a:spcBef>
                <a:spcPts val="0"/>
              </a:spcBef>
              <a:spcAft>
                <a:spcPts val="0"/>
              </a:spcAft>
            </a:pPr>
            <a:r>
              <a:rPr lang="en-US" sz="2400" b="1" dirty="0">
                <a:solidFill>
                  <a:srgbClr val="262626"/>
                </a:solidFill>
                <a:latin typeface="Meiryo"/>
                <a:ea typeface="Meiryo"/>
                <a:cs typeface="Meiryo"/>
              </a:rPr>
              <a:t>O2HbとHHbは吸光度が違う。</a:t>
            </a:r>
            <a:endParaRPr sz="2400" b="1" dirty="0">
              <a:solidFill>
                <a:srgbClr val="262626"/>
              </a:solidFill>
              <a:latin typeface="Meiryo"/>
              <a:ea typeface="Meiryo"/>
              <a:cs typeface="Meiryo"/>
            </a:endParaRPr>
          </a:p>
        </p:txBody>
      </p:sp>
      <p:sp>
        <p:nvSpPr>
          <p:cNvPr id="26"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 Chan 2013</a:t>
            </a:r>
          </a:p>
        </p:txBody>
      </p:sp>
      <p:sp>
        <p:nvSpPr>
          <p:cNvPr id="27"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7/118</a:t>
            </a:r>
          </a:p>
        </p:txBody>
      </p:sp>
      <p:sp>
        <p:nvSpPr>
          <p:cNvPr id="101" name="Off-page Connector 4">
            <a:extLst>
              <a:ext uri="{FF2B5EF4-FFF2-40B4-BE49-F238E27FC236}">
                <a16:creationId xmlns:a16="http://schemas.microsoft.com/office/drawing/2014/main" id="{AA9D36CE-3772-F005-B54C-9329ADA7F086}"/>
              </a:ext>
            </a:extLst>
          </p:cNvPr>
          <p:cNvSpPr/>
          <p:nvPr/>
        </p:nvSpPr>
        <p:spPr>
          <a:xfrm>
            <a:off x="821448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5655124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99F38-8D96-0A52-868E-A2118F86BE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F86965-335C-A22E-F093-A0985E6238B8}"/>
              </a:ext>
            </a:extLst>
          </p:cNvPr>
          <p:cNvSpPr>
            <a:spLocks noGrp="1"/>
          </p:cNvSpPr>
          <p:nvPr>
            <p:ph type="title"/>
          </p:nvPr>
        </p:nvSpPr>
        <p:spPr/>
        <p:txBody>
          <a:bodyPr/>
          <a:lstStyle/>
          <a:p>
            <a:r>
              <a:rPr lang="en" altLang="ja-JP" sz="4600" dirty="0">
                <a:latin typeface="Meiryo"/>
                <a:ea typeface="Meiryo"/>
                <a:cs typeface="Meiryo"/>
              </a:rPr>
              <a:t>1.1  SpO₂</a:t>
            </a:r>
            <a:r>
              <a:rPr lang="ja-JP" altLang="en-US" sz="4600">
                <a:latin typeface="Meiryo"/>
                <a:ea typeface="Meiryo"/>
                <a:cs typeface="Meiryo"/>
              </a:rPr>
              <a:t>の測定原理</a:t>
            </a:r>
            <a:endParaRPr sz="4600" dirty="0">
              <a:latin typeface="Meiryo"/>
              <a:ea typeface="Meiryo"/>
              <a:cs typeface="Meiryo"/>
            </a:endParaRPr>
          </a:p>
        </p:txBody>
      </p:sp>
      <p:sp>
        <p:nvSpPr>
          <p:cNvPr id="18" name="TextBox 17">
            <a:extLst>
              <a:ext uri="{FF2B5EF4-FFF2-40B4-BE49-F238E27FC236}">
                <a16:creationId xmlns:a16="http://schemas.microsoft.com/office/drawing/2014/main" id="{7A9738C4-4366-AAED-08A4-502037497F45}"/>
              </a:ext>
            </a:extLst>
          </p:cNvPr>
          <p:cNvSpPr txBox="1"/>
          <p:nvPr/>
        </p:nvSpPr>
        <p:spPr>
          <a:xfrm>
            <a:off x="2619208" y="1869318"/>
            <a:ext cx="923330" cy="369332"/>
          </a:xfrm>
          <a:prstGeom prst="rect">
            <a:avLst/>
          </a:prstGeom>
          <a:noFill/>
        </p:spPr>
        <p:txBody>
          <a:bodyPr wrap="none" lIns="0" tIns="0" rIns="0" bIns="0" anchor="ctr">
            <a:spAutoFit/>
          </a:bodyPr>
          <a:lstStyle/>
          <a:p>
            <a:pPr algn="ctr">
              <a:spcBef>
                <a:spcPts val="0"/>
              </a:spcBef>
              <a:spcAft>
                <a:spcPts val="0"/>
              </a:spcAft>
            </a:pPr>
            <a:r>
              <a:rPr lang="en-US" sz="2400" b="1" dirty="0" err="1">
                <a:solidFill>
                  <a:srgbClr val="BF9000"/>
                </a:solidFill>
                <a:latin typeface="Meiryo"/>
                <a:ea typeface="Meiryo"/>
                <a:cs typeface="Meiryo"/>
              </a:rPr>
              <a:t>発光部</a:t>
            </a:r>
            <a:endParaRPr sz="2400" b="1" dirty="0">
              <a:solidFill>
                <a:srgbClr val="BF9000"/>
              </a:solidFill>
              <a:latin typeface="Meiryo"/>
              <a:ea typeface="Meiryo"/>
              <a:cs typeface="Meiryo"/>
            </a:endParaRPr>
          </a:p>
        </p:txBody>
      </p:sp>
      <p:sp>
        <p:nvSpPr>
          <p:cNvPr id="19" name="TextBox 18">
            <a:extLst>
              <a:ext uri="{FF2B5EF4-FFF2-40B4-BE49-F238E27FC236}">
                <a16:creationId xmlns:a16="http://schemas.microsoft.com/office/drawing/2014/main" id="{B1D890AC-477C-CAF6-168A-91C737EE8919}"/>
              </a:ext>
            </a:extLst>
          </p:cNvPr>
          <p:cNvSpPr txBox="1"/>
          <p:nvPr/>
        </p:nvSpPr>
        <p:spPr>
          <a:xfrm>
            <a:off x="2619208" y="5377798"/>
            <a:ext cx="923331" cy="369332"/>
          </a:xfrm>
          <a:prstGeom prst="rect">
            <a:avLst/>
          </a:prstGeom>
          <a:noFill/>
        </p:spPr>
        <p:txBody>
          <a:bodyPr wrap="none" lIns="0" tIns="0" rIns="0" bIns="0" anchor="ctr">
            <a:spAutoFit/>
          </a:bodyPr>
          <a:lstStyle/>
          <a:p>
            <a:pPr algn="ctr">
              <a:spcBef>
                <a:spcPts val="0"/>
              </a:spcBef>
              <a:spcAft>
                <a:spcPts val="0"/>
              </a:spcAft>
            </a:pPr>
            <a:r>
              <a:rPr lang="ja-JP" altLang="en-US" sz="2400" b="1">
                <a:latin typeface="Meiryo"/>
                <a:ea typeface="Meiryo"/>
                <a:cs typeface="Meiryo"/>
              </a:rPr>
              <a:t>受光部</a:t>
            </a:r>
            <a:endParaRPr sz="2400" b="1" dirty="0">
              <a:latin typeface="Meiryo"/>
              <a:ea typeface="Meiryo"/>
              <a:cs typeface="Meiryo"/>
            </a:endParaRPr>
          </a:p>
        </p:txBody>
      </p:sp>
      <p:pic>
        <p:nvPicPr>
          <p:cNvPr id="20" name="fig_optics" descr="f11_optics.png">
            <a:extLst>
              <a:ext uri="{FF2B5EF4-FFF2-40B4-BE49-F238E27FC236}">
                <a16:creationId xmlns:a16="http://schemas.microsoft.com/office/drawing/2014/main" id="{3BC81F91-0B68-364C-1BAC-0895369DD8D2}"/>
              </a:ext>
            </a:extLst>
          </p:cNvPr>
          <p:cNvPicPr>
            <a:picLocks noChangeAspect="1"/>
          </p:cNvPicPr>
          <p:nvPr/>
        </p:nvPicPr>
        <p:blipFill>
          <a:blip r:embed="rId3"/>
          <a:stretch>
            <a:fillRect/>
          </a:stretch>
        </p:blipFill>
        <p:spPr>
          <a:xfrm>
            <a:off x="1344680" y="2287984"/>
            <a:ext cx="3472386" cy="3024000"/>
          </a:xfrm>
          <a:prstGeom prst="rect">
            <a:avLst/>
          </a:prstGeom>
        </p:spPr>
      </p:pic>
      <p:pic>
        <p:nvPicPr>
          <p:cNvPr id="21" name="fig_signal" descr="f11_signal.png">
            <a:extLst>
              <a:ext uri="{FF2B5EF4-FFF2-40B4-BE49-F238E27FC236}">
                <a16:creationId xmlns:a16="http://schemas.microsoft.com/office/drawing/2014/main" id="{DFE83EE1-B768-0321-D84D-0F7948A60886}"/>
              </a:ext>
            </a:extLst>
          </p:cNvPr>
          <p:cNvPicPr>
            <a:picLocks noChangeAspect="1"/>
          </p:cNvPicPr>
          <p:nvPr/>
        </p:nvPicPr>
        <p:blipFill>
          <a:blip r:embed="rId4"/>
          <a:stretch>
            <a:fillRect/>
          </a:stretch>
        </p:blipFill>
        <p:spPr>
          <a:xfrm>
            <a:off x="7015925" y="2096275"/>
            <a:ext cx="4337875" cy="3024000"/>
          </a:xfrm>
          <a:prstGeom prst="rect">
            <a:avLst/>
          </a:prstGeom>
        </p:spPr>
      </p:pic>
      <p:sp>
        <p:nvSpPr>
          <p:cNvPr id="22" name="TextBox 21">
            <a:extLst>
              <a:ext uri="{FF2B5EF4-FFF2-40B4-BE49-F238E27FC236}">
                <a16:creationId xmlns:a16="http://schemas.microsoft.com/office/drawing/2014/main" id="{0037A650-CAE7-7B6F-0890-B4DD112EE98F}"/>
              </a:ext>
            </a:extLst>
          </p:cNvPr>
          <p:cNvSpPr txBox="1"/>
          <p:nvPr/>
        </p:nvSpPr>
        <p:spPr>
          <a:xfrm>
            <a:off x="720000" y="4781721"/>
            <a:ext cx="1410643" cy="338554"/>
          </a:xfrm>
          <a:prstGeom prst="rect">
            <a:avLst/>
          </a:prstGeom>
          <a:noFill/>
        </p:spPr>
        <p:txBody>
          <a:bodyPr wrap="none" lIns="0" tIns="0" rIns="0" bIns="0" anchor="ctr">
            <a:spAutoFit/>
          </a:bodyPr>
          <a:lstStyle/>
          <a:p>
            <a:pPr algn="ctr">
              <a:spcBef>
                <a:spcPts val="0"/>
              </a:spcBef>
              <a:spcAft>
                <a:spcPts val="0"/>
              </a:spcAft>
            </a:pPr>
            <a:r>
              <a:rPr sz="2200" b="1" dirty="0" err="1">
                <a:solidFill>
                  <a:srgbClr val="D55E00"/>
                </a:solidFill>
                <a:latin typeface="Meiryo"/>
                <a:ea typeface="Meiryo"/>
                <a:cs typeface="Meiryo"/>
              </a:rPr>
              <a:t>動脈：拍動</a:t>
            </a:r>
            <a:endParaRPr sz="2200" b="1" dirty="0">
              <a:solidFill>
                <a:srgbClr val="D55E00"/>
              </a:solidFill>
              <a:latin typeface="Meiryo"/>
              <a:ea typeface="Meiryo"/>
              <a:cs typeface="Meiryo"/>
            </a:endParaRPr>
          </a:p>
        </p:txBody>
      </p:sp>
      <p:sp>
        <p:nvSpPr>
          <p:cNvPr id="3" name="TextBox 22">
            <a:extLst>
              <a:ext uri="{FF2B5EF4-FFF2-40B4-BE49-F238E27FC236}">
                <a16:creationId xmlns:a16="http://schemas.microsoft.com/office/drawing/2014/main" id="{CBB492EF-E1AE-F62C-FE07-8198C8340B06}"/>
              </a:ext>
            </a:extLst>
          </p:cNvPr>
          <p:cNvSpPr txBox="1"/>
          <p:nvPr/>
        </p:nvSpPr>
        <p:spPr>
          <a:xfrm>
            <a:off x="4168651" y="4784808"/>
            <a:ext cx="1296829" cy="677108"/>
          </a:xfrm>
          <a:prstGeom prst="rect">
            <a:avLst/>
          </a:prstGeom>
          <a:noFill/>
        </p:spPr>
        <p:txBody>
          <a:bodyPr wrap="none" lIns="0" tIns="0" rIns="0" bIns="0" anchor="ctr">
            <a:spAutoFit/>
          </a:bodyPr>
          <a:lstStyle/>
          <a:p>
            <a:pPr algn="ctr">
              <a:spcBef>
                <a:spcPts val="0"/>
              </a:spcBef>
              <a:spcAft>
                <a:spcPts val="0"/>
              </a:spcAft>
            </a:pPr>
            <a:r>
              <a:rPr sz="2200" b="1" dirty="0" err="1">
                <a:solidFill>
                  <a:srgbClr val="808080"/>
                </a:solidFill>
                <a:latin typeface="Meiryo"/>
                <a:ea typeface="Meiryo"/>
                <a:cs typeface="Meiryo"/>
              </a:rPr>
              <a:t>組織</a:t>
            </a:r>
            <a:r>
              <a:rPr lang="en-US" sz="2200" b="1" dirty="0">
                <a:solidFill>
                  <a:srgbClr val="808080"/>
                </a:solidFill>
                <a:latin typeface="Meiryo"/>
                <a:ea typeface="Meiryo"/>
                <a:cs typeface="Meiryo"/>
              </a:rPr>
              <a:t>/</a:t>
            </a:r>
            <a:r>
              <a:rPr sz="2200" b="1" dirty="0" err="1">
                <a:solidFill>
                  <a:srgbClr val="808080"/>
                </a:solidFill>
                <a:latin typeface="Meiryo"/>
                <a:ea typeface="Meiryo"/>
                <a:cs typeface="Meiryo"/>
              </a:rPr>
              <a:t>静脈</a:t>
            </a:r>
            <a:endParaRPr lang="en-US" sz="2200" b="1" dirty="0">
              <a:solidFill>
                <a:srgbClr val="808080"/>
              </a:solidFill>
              <a:latin typeface="Meiryo"/>
              <a:ea typeface="Meiryo"/>
              <a:cs typeface="Meiryo"/>
            </a:endParaRPr>
          </a:p>
          <a:p>
            <a:pPr algn="ctr">
              <a:spcBef>
                <a:spcPts val="0"/>
              </a:spcBef>
              <a:spcAft>
                <a:spcPts val="0"/>
              </a:spcAft>
            </a:pPr>
            <a:r>
              <a:rPr sz="2200" b="1" dirty="0">
                <a:solidFill>
                  <a:srgbClr val="808080"/>
                </a:solidFill>
                <a:latin typeface="Meiryo"/>
                <a:ea typeface="Meiryo"/>
                <a:cs typeface="Meiryo"/>
              </a:rPr>
              <a:t>：</a:t>
            </a:r>
            <a:r>
              <a:rPr lang="en-US" sz="2200" b="1" dirty="0" err="1">
                <a:solidFill>
                  <a:srgbClr val="808080"/>
                </a:solidFill>
                <a:latin typeface="Meiryo"/>
                <a:ea typeface="Meiryo"/>
                <a:cs typeface="Meiryo"/>
              </a:rPr>
              <a:t>無</a:t>
            </a:r>
            <a:r>
              <a:rPr sz="2200" b="1" dirty="0" err="1">
                <a:solidFill>
                  <a:srgbClr val="808080"/>
                </a:solidFill>
                <a:latin typeface="Meiryo"/>
                <a:ea typeface="Meiryo"/>
                <a:cs typeface="Meiryo"/>
              </a:rPr>
              <a:t>拍動</a:t>
            </a:r>
            <a:endParaRPr sz="2200" b="1" dirty="0">
              <a:solidFill>
                <a:srgbClr val="808080"/>
              </a:solidFill>
              <a:latin typeface="Meiryo"/>
              <a:ea typeface="Meiryo"/>
              <a:cs typeface="Meiryo"/>
            </a:endParaRPr>
          </a:p>
        </p:txBody>
      </p:sp>
      <p:sp>
        <p:nvSpPr>
          <p:cNvPr id="2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a:t>
            </a:r>
          </a:p>
        </p:txBody>
      </p:sp>
      <p:sp>
        <p:nvSpPr>
          <p:cNvPr id="2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8/118</a:t>
            </a:r>
          </a:p>
        </p:txBody>
      </p:sp>
      <p:sp>
        <p:nvSpPr>
          <p:cNvPr id="101" name="Off-page Connector 4">
            <a:extLst>
              <a:ext uri="{FF2B5EF4-FFF2-40B4-BE49-F238E27FC236}">
                <a16:creationId xmlns:a16="http://schemas.microsoft.com/office/drawing/2014/main" id="{AA9D36CE-3772-F005-B54C-9329ADA7F086}"/>
              </a:ext>
            </a:extLst>
          </p:cNvPr>
          <p:cNvSpPr/>
          <p:nvPr/>
        </p:nvSpPr>
        <p:spPr>
          <a:xfrm>
            <a:off x="821448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16848108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F0854-E3CB-EDE1-70FF-444551AECD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2F0B92-35CA-E879-39AA-0CA30029F338}"/>
              </a:ext>
            </a:extLst>
          </p:cNvPr>
          <p:cNvSpPr>
            <a:spLocks noGrp="1"/>
          </p:cNvSpPr>
          <p:nvPr>
            <p:ph type="title"/>
          </p:nvPr>
        </p:nvSpPr>
        <p:spPr/>
        <p:txBody>
          <a:bodyPr/>
          <a:lstStyle/>
          <a:p>
            <a:r>
              <a:rPr lang="en" altLang="ja-JP" sz="4600" dirty="0">
                <a:latin typeface="Meiryo"/>
                <a:ea typeface="Meiryo"/>
                <a:cs typeface="Meiryo"/>
              </a:rPr>
              <a:t>1.1  SpO₂</a:t>
            </a:r>
            <a:r>
              <a:rPr lang="ja-JP" altLang="en-US" sz="4600">
                <a:latin typeface="Meiryo"/>
                <a:ea typeface="Meiryo"/>
                <a:cs typeface="Meiryo"/>
              </a:rPr>
              <a:t>の測定原理</a:t>
            </a:r>
            <a:endParaRPr sz="4600" dirty="0">
              <a:latin typeface="Meiryo"/>
              <a:ea typeface="Meiryo"/>
              <a:cs typeface="Meiryo"/>
            </a:endParaRPr>
          </a:p>
        </p:txBody>
      </p:sp>
      <p:sp>
        <p:nvSpPr>
          <p:cNvPr id="18" name="TextBox 17">
            <a:extLst>
              <a:ext uri="{FF2B5EF4-FFF2-40B4-BE49-F238E27FC236}">
                <a16:creationId xmlns:a16="http://schemas.microsoft.com/office/drawing/2014/main" id="{0DCF7FE7-3B26-9289-625A-D37926EF98FF}"/>
              </a:ext>
            </a:extLst>
          </p:cNvPr>
          <p:cNvSpPr txBox="1"/>
          <p:nvPr/>
        </p:nvSpPr>
        <p:spPr>
          <a:xfrm>
            <a:off x="2619208" y="1869318"/>
            <a:ext cx="923330" cy="369332"/>
          </a:xfrm>
          <a:prstGeom prst="rect">
            <a:avLst/>
          </a:prstGeom>
          <a:noFill/>
        </p:spPr>
        <p:txBody>
          <a:bodyPr wrap="none" lIns="0" tIns="0" rIns="0" bIns="0" anchor="ctr">
            <a:spAutoFit/>
          </a:bodyPr>
          <a:lstStyle/>
          <a:p>
            <a:pPr algn="ctr">
              <a:spcBef>
                <a:spcPts val="0"/>
              </a:spcBef>
              <a:spcAft>
                <a:spcPts val="0"/>
              </a:spcAft>
            </a:pPr>
            <a:r>
              <a:rPr lang="en-US" sz="2400" b="1" dirty="0" err="1">
                <a:solidFill>
                  <a:srgbClr val="BF9000"/>
                </a:solidFill>
                <a:latin typeface="Meiryo"/>
                <a:ea typeface="Meiryo"/>
                <a:cs typeface="Meiryo"/>
              </a:rPr>
              <a:t>発光部</a:t>
            </a:r>
            <a:endParaRPr sz="2400" b="1" dirty="0">
              <a:solidFill>
                <a:srgbClr val="BF9000"/>
              </a:solidFill>
              <a:latin typeface="Meiryo"/>
              <a:ea typeface="Meiryo"/>
              <a:cs typeface="Meiryo"/>
            </a:endParaRPr>
          </a:p>
        </p:txBody>
      </p:sp>
      <p:sp>
        <p:nvSpPr>
          <p:cNvPr id="19" name="TextBox 18">
            <a:extLst>
              <a:ext uri="{FF2B5EF4-FFF2-40B4-BE49-F238E27FC236}">
                <a16:creationId xmlns:a16="http://schemas.microsoft.com/office/drawing/2014/main" id="{F011360F-E6C2-BBA0-4C72-01EEEF696133}"/>
              </a:ext>
            </a:extLst>
          </p:cNvPr>
          <p:cNvSpPr txBox="1"/>
          <p:nvPr/>
        </p:nvSpPr>
        <p:spPr>
          <a:xfrm>
            <a:off x="2619208" y="5377798"/>
            <a:ext cx="923331" cy="369332"/>
          </a:xfrm>
          <a:prstGeom prst="rect">
            <a:avLst/>
          </a:prstGeom>
          <a:noFill/>
        </p:spPr>
        <p:txBody>
          <a:bodyPr wrap="none" lIns="0" tIns="0" rIns="0" bIns="0" anchor="ctr">
            <a:spAutoFit/>
          </a:bodyPr>
          <a:lstStyle/>
          <a:p>
            <a:pPr algn="ctr">
              <a:spcBef>
                <a:spcPts val="0"/>
              </a:spcBef>
              <a:spcAft>
                <a:spcPts val="0"/>
              </a:spcAft>
            </a:pPr>
            <a:r>
              <a:rPr lang="ja-JP" altLang="en-US" sz="2400" b="1">
                <a:latin typeface="Meiryo"/>
                <a:ea typeface="Meiryo"/>
                <a:cs typeface="Meiryo"/>
              </a:rPr>
              <a:t>受光部</a:t>
            </a:r>
            <a:endParaRPr sz="2400" b="1" dirty="0">
              <a:latin typeface="Meiryo"/>
              <a:ea typeface="Meiryo"/>
              <a:cs typeface="Meiryo"/>
            </a:endParaRPr>
          </a:p>
        </p:txBody>
      </p:sp>
      <p:pic>
        <p:nvPicPr>
          <p:cNvPr id="20" name="fig_optics" descr="f11_optics.png">
            <a:extLst>
              <a:ext uri="{FF2B5EF4-FFF2-40B4-BE49-F238E27FC236}">
                <a16:creationId xmlns:a16="http://schemas.microsoft.com/office/drawing/2014/main" id="{A84F9400-A9EE-F686-F763-FBA9E8F5120E}"/>
              </a:ext>
            </a:extLst>
          </p:cNvPr>
          <p:cNvPicPr>
            <a:picLocks noChangeAspect="1"/>
          </p:cNvPicPr>
          <p:nvPr/>
        </p:nvPicPr>
        <p:blipFill>
          <a:blip r:embed="rId3"/>
          <a:stretch>
            <a:fillRect/>
          </a:stretch>
        </p:blipFill>
        <p:spPr>
          <a:xfrm>
            <a:off x="1344680" y="2287984"/>
            <a:ext cx="3472386" cy="3024000"/>
          </a:xfrm>
          <a:prstGeom prst="rect">
            <a:avLst/>
          </a:prstGeom>
        </p:spPr>
      </p:pic>
      <p:pic>
        <p:nvPicPr>
          <p:cNvPr id="21" name="fig_signal" descr="f11_signal.png">
            <a:extLst>
              <a:ext uri="{FF2B5EF4-FFF2-40B4-BE49-F238E27FC236}">
                <a16:creationId xmlns:a16="http://schemas.microsoft.com/office/drawing/2014/main" id="{EF6BF04E-90FA-6A5C-B11F-A89F559D16A6}"/>
              </a:ext>
            </a:extLst>
          </p:cNvPr>
          <p:cNvPicPr>
            <a:picLocks noChangeAspect="1"/>
          </p:cNvPicPr>
          <p:nvPr/>
        </p:nvPicPr>
        <p:blipFill>
          <a:blip r:embed="rId4"/>
          <a:stretch>
            <a:fillRect/>
          </a:stretch>
        </p:blipFill>
        <p:spPr>
          <a:xfrm>
            <a:off x="7015925" y="2096275"/>
            <a:ext cx="4337875" cy="3024000"/>
          </a:xfrm>
          <a:prstGeom prst="rect">
            <a:avLst/>
          </a:prstGeom>
        </p:spPr>
      </p:pic>
      <p:sp>
        <p:nvSpPr>
          <p:cNvPr id="22" name="TextBox 21">
            <a:extLst>
              <a:ext uri="{FF2B5EF4-FFF2-40B4-BE49-F238E27FC236}">
                <a16:creationId xmlns:a16="http://schemas.microsoft.com/office/drawing/2014/main" id="{009B227C-424B-FF8C-3228-BF16FDB454EE}"/>
              </a:ext>
            </a:extLst>
          </p:cNvPr>
          <p:cNvSpPr txBox="1"/>
          <p:nvPr/>
        </p:nvSpPr>
        <p:spPr>
          <a:xfrm>
            <a:off x="720000" y="4781721"/>
            <a:ext cx="1410643" cy="338554"/>
          </a:xfrm>
          <a:prstGeom prst="rect">
            <a:avLst/>
          </a:prstGeom>
          <a:noFill/>
        </p:spPr>
        <p:txBody>
          <a:bodyPr wrap="none" lIns="0" tIns="0" rIns="0" bIns="0" anchor="ctr">
            <a:spAutoFit/>
          </a:bodyPr>
          <a:lstStyle/>
          <a:p>
            <a:pPr algn="ctr">
              <a:spcBef>
                <a:spcPts val="0"/>
              </a:spcBef>
              <a:spcAft>
                <a:spcPts val="0"/>
              </a:spcAft>
            </a:pPr>
            <a:r>
              <a:rPr sz="2200" b="1" dirty="0" err="1">
                <a:solidFill>
                  <a:srgbClr val="D55E00"/>
                </a:solidFill>
                <a:latin typeface="Meiryo"/>
                <a:ea typeface="Meiryo"/>
                <a:cs typeface="Meiryo"/>
              </a:rPr>
              <a:t>動脈：拍動</a:t>
            </a:r>
            <a:endParaRPr sz="2200" b="1" dirty="0">
              <a:solidFill>
                <a:srgbClr val="D55E00"/>
              </a:solidFill>
              <a:latin typeface="Meiryo"/>
              <a:ea typeface="Meiryo"/>
              <a:cs typeface="Meiryo"/>
            </a:endParaRPr>
          </a:p>
        </p:txBody>
      </p:sp>
      <p:sp>
        <p:nvSpPr>
          <p:cNvPr id="3" name="TextBox 22">
            <a:extLst>
              <a:ext uri="{FF2B5EF4-FFF2-40B4-BE49-F238E27FC236}">
                <a16:creationId xmlns:a16="http://schemas.microsoft.com/office/drawing/2014/main" id="{F9D670D0-7593-669E-DF00-25384BA744ED}"/>
              </a:ext>
            </a:extLst>
          </p:cNvPr>
          <p:cNvSpPr txBox="1"/>
          <p:nvPr/>
        </p:nvSpPr>
        <p:spPr>
          <a:xfrm>
            <a:off x="4168651" y="4784808"/>
            <a:ext cx="1296829" cy="677108"/>
          </a:xfrm>
          <a:prstGeom prst="rect">
            <a:avLst/>
          </a:prstGeom>
          <a:noFill/>
        </p:spPr>
        <p:txBody>
          <a:bodyPr wrap="none" lIns="0" tIns="0" rIns="0" bIns="0" anchor="ctr">
            <a:spAutoFit/>
          </a:bodyPr>
          <a:lstStyle/>
          <a:p>
            <a:pPr algn="ctr">
              <a:spcBef>
                <a:spcPts val="0"/>
              </a:spcBef>
              <a:spcAft>
                <a:spcPts val="0"/>
              </a:spcAft>
            </a:pPr>
            <a:r>
              <a:rPr sz="2200" b="1" dirty="0" err="1">
                <a:solidFill>
                  <a:srgbClr val="808080"/>
                </a:solidFill>
                <a:latin typeface="Meiryo"/>
                <a:ea typeface="Meiryo"/>
                <a:cs typeface="Meiryo"/>
              </a:rPr>
              <a:t>組織</a:t>
            </a:r>
            <a:r>
              <a:rPr lang="en-US" sz="2200" b="1" dirty="0">
                <a:solidFill>
                  <a:srgbClr val="808080"/>
                </a:solidFill>
                <a:latin typeface="Meiryo"/>
                <a:ea typeface="Meiryo"/>
                <a:cs typeface="Meiryo"/>
              </a:rPr>
              <a:t>/</a:t>
            </a:r>
            <a:r>
              <a:rPr sz="2200" b="1" dirty="0" err="1">
                <a:solidFill>
                  <a:srgbClr val="808080"/>
                </a:solidFill>
                <a:latin typeface="Meiryo"/>
                <a:ea typeface="Meiryo"/>
                <a:cs typeface="Meiryo"/>
              </a:rPr>
              <a:t>静脈</a:t>
            </a:r>
            <a:endParaRPr lang="en-US" sz="2200" b="1" dirty="0">
              <a:solidFill>
                <a:srgbClr val="808080"/>
              </a:solidFill>
              <a:latin typeface="Meiryo"/>
              <a:ea typeface="Meiryo"/>
              <a:cs typeface="Meiryo"/>
            </a:endParaRPr>
          </a:p>
          <a:p>
            <a:pPr algn="ctr">
              <a:spcBef>
                <a:spcPts val="0"/>
              </a:spcBef>
              <a:spcAft>
                <a:spcPts val="0"/>
              </a:spcAft>
            </a:pPr>
            <a:r>
              <a:rPr sz="2200" b="1" dirty="0">
                <a:solidFill>
                  <a:srgbClr val="808080"/>
                </a:solidFill>
                <a:latin typeface="Meiryo"/>
                <a:ea typeface="Meiryo"/>
                <a:cs typeface="Meiryo"/>
              </a:rPr>
              <a:t>：</a:t>
            </a:r>
            <a:r>
              <a:rPr lang="en-US" sz="2200" b="1" dirty="0" err="1">
                <a:solidFill>
                  <a:srgbClr val="808080"/>
                </a:solidFill>
                <a:latin typeface="Meiryo"/>
                <a:ea typeface="Meiryo"/>
                <a:cs typeface="Meiryo"/>
              </a:rPr>
              <a:t>無</a:t>
            </a:r>
            <a:r>
              <a:rPr sz="2200" b="1" dirty="0" err="1">
                <a:solidFill>
                  <a:srgbClr val="808080"/>
                </a:solidFill>
                <a:latin typeface="Meiryo"/>
                <a:ea typeface="Meiryo"/>
                <a:cs typeface="Meiryo"/>
              </a:rPr>
              <a:t>拍動</a:t>
            </a:r>
            <a:endParaRPr sz="2200" b="1" dirty="0">
              <a:solidFill>
                <a:srgbClr val="808080"/>
              </a:solidFill>
              <a:latin typeface="Meiryo"/>
              <a:ea typeface="Meiryo"/>
              <a:cs typeface="Meiryo"/>
            </a:endParaRPr>
          </a:p>
        </p:txBody>
      </p:sp>
      <p:sp>
        <p:nvSpPr>
          <p:cNvPr id="4" name="TextBox 23">
            <a:extLst>
              <a:ext uri="{FF2B5EF4-FFF2-40B4-BE49-F238E27FC236}">
                <a16:creationId xmlns:a16="http://schemas.microsoft.com/office/drawing/2014/main" id="{7E044192-7ABD-3367-E1CA-D8ABFD96D756}"/>
              </a:ext>
            </a:extLst>
          </p:cNvPr>
          <p:cNvSpPr txBox="1"/>
          <p:nvPr/>
        </p:nvSpPr>
        <p:spPr>
          <a:xfrm>
            <a:off x="8011674" y="3034428"/>
            <a:ext cx="1996444" cy="338554"/>
          </a:xfrm>
          <a:prstGeom prst="rect">
            <a:avLst/>
          </a:prstGeom>
          <a:solidFill>
            <a:schemeClr val="bg1"/>
          </a:solidFill>
          <a:ln>
            <a:solidFill>
              <a:schemeClr val="tx1"/>
            </a:solidFill>
          </a:ln>
        </p:spPr>
        <p:txBody>
          <a:bodyPr wrap="none" lIns="0" tIns="0" rIns="0" bIns="0" anchor="ctr">
            <a:spAutoFit/>
          </a:bodyPr>
          <a:lstStyle/>
          <a:p>
            <a:pPr algn="ctr">
              <a:spcBef>
                <a:spcPts val="0"/>
              </a:spcBef>
              <a:spcAft>
                <a:spcPts val="0"/>
              </a:spcAft>
            </a:pPr>
            <a:r>
              <a:rPr sz="2200" b="1" dirty="0">
                <a:solidFill>
                  <a:srgbClr val="D55E00"/>
                </a:solidFill>
                <a:latin typeface="Meiryo"/>
                <a:ea typeface="Meiryo"/>
                <a:cs typeface="Meiryo"/>
              </a:rPr>
              <a:t>AC ＝ </a:t>
            </a:r>
            <a:r>
              <a:rPr sz="2200" b="1" dirty="0" err="1">
                <a:solidFill>
                  <a:srgbClr val="D55E00"/>
                </a:solidFill>
                <a:latin typeface="Meiryo"/>
                <a:ea typeface="Meiryo"/>
                <a:cs typeface="Meiryo"/>
              </a:rPr>
              <a:t>拍動成</a:t>
            </a:r>
            <a:r>
              <a:rPr lang="en-US" sz="2200" b="1" dirty="0" err="1">
                <a:solidFill>
                  <a:srgbClr val="D55E00"/>
                </a:solidFill>
                <a:latin typeface="Meiryo"/>
                <a:ea typeface="Meiryo"/>
                <a:cs typeface="Meiryo"/>
              </a:rPr>
              <a:t>分</a:t>
            </a:r>
            <a:endParaRPr sz="2200" b="1" dirty="0">
              <a:solidFill>
                <a:srgbClr val="D55E00"/>
              </a:solidFill>
              <a:latin typeface="Meiryo"/>
              <a:ea typeface="Meiryo"/>
              <a:cs typeface="Meiryo"/>
            </a:endParaRPr>
          </a:p>
        </p:txBody>
      </p:sp>
      <p:sp>
        <p:nvSpPr>
          <p:cNvPr id="5" name="TextBox 24">
            <a:extLst>
              <a:ext uri="{FF2B5EF4-FFF2-40B4-BE49-F238E27FC236}">
                <a16:creationId xmlns:a16="http://schemas.microsoft.com/office/drawing/2014/main" id="{C09FBA29-02AC-CE79-80FB-B0D36A24DB42}"/>
              </a:ext>
            </a:extLst>
          </p:cNvPr>
          <p:cNvSpPr txBox="1"/>
          <p:nvPr/>
        </p:nvSpPr>
        <p:spPr>
          <a:xfrm>
            <a:off x="8011674" y="4225014"/>
            <a:ext cx="2295500" cy="338554"/>
          </a:xfrm>
          <a:prstGeom prst="rect">
            <a:avLst/>
          </a:prstGeom>
          <a:solidFill>
            <a:schemeClr val="bg1"/>
          </a:solidFill>
          <a:ln>
            <a:solidFill>
              <a:schemeClr val="tx1"/>
            </a:solidFill>
          </a:ln>
        </p:spPr>
        <p:txBody>
          <a:bodyPr wrap="none" lIns="0" tIns="0" rIns="0" bIns="0" anchor="ctr">
            <a:spAutoFit/>
          </a:bodyPr>
          <a:lstStyle/>
          <a:p>
            <a:pPr algn="ctr">
              <a:spcBef>
                <a:spcPts val="0"/>
              </a:spcBef>
              <a:spcAft>
                <a:spcPts val="0"/>
              </a:spcAft>
            </a:pPr>
            <a:r>
              <a:rPr sz="2200" b="1" dirty="0">
                <a:solidFill>
                  <a:srgbClr val="808080"/>
                </a:solidFill>
                <a:latin typeface="Meiryo"/>
                <a:ea typeface="Meiryo"/>
                <a:cs typeface="Meiryo"/>
              </a:rPr>
              <a:t>DC ＝ </a:t>
            </a:r>
            <a:r>
              <a:rPr sz="2200" b="1" dirty="0" err="1">
                <a:solidFill>
                  <a:srgbClr val="808080"/>
                </a:solidFill>
                <a:latin typeface="Meiryo"/>
                <a:ea typeface="Meiryo"/>
                <a:cs typeface="Meiryo"/>
              </a:rPr>
              <a:t>非拍動</a:t>
            </a:r>
            <a:r>
              <a:rPr lang="ja-JP" altLang="en-US" sz="2200" b="1">
                <a:solidFill>
                  <a:srgbClr val="808080"/>
                </a:solidFill>
                <a:latin typeface="Meiryo"/>
                <a:ea typeface="Meiryo"/>
                <a:cs typeface="Meiryo"/>
              </a:rPr>
              <a:t>成分</a:t>
            </a:r>
            <a:endParaRPr sz="2200" b="1" dirty="0">
              <a:solidFill>
                <a:srgbClr val="808080"/>
              </a:solidFill>
              <a:latin typeface="Meiryo"/>
              <a:ea typeface="Meiryo"/>
              <a:cs typeface="Meiryo"/>
            </a:endParaRPr>
          </a:p>
        </p:txBody>
      </p:sp>
      <p:sp>
        <p:nvSpPr>
          <p:cNvPr id="2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a:t>
            </a:r>
          </a:p>
        </p:txBody>
      </p:sp>
      <p:sp>
        <p:nvSpPr>
          <p:cNvPr id="2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9/118</a:t>
            </a:r>
          </a:p>
        </p:txBody>
      </p:sp>
      <p:sp>
        <p:nvSpPr>
          <p:cNvPr id="101" name="Off-page Connector 4">
            <a:extLst>
              <a:ext uri="{FF2B5EF4-FFF2-40B4-BE49-F238E27FC236}">
                <a16:creationId xmlns:a16="http://schemas.microsoft.com/office/drawing/2014/main" id="{AA9D36CE-3772-F005-B54C-9329ADA7F086}"/>
              </a:ext>
            </a:extLst>
          </p:cNvPr>
          <p:cNvSpPr/>
          <p:nvPr/>
        </p:nvSpPr>
        <p:spPr>
          <a:xfrm>
            <a:off x="821448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12371446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8D746-D724-AF64-493F-D6B9CBE823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E85D1D-70E4-FBA7-F83B-2496A92DA1FD}"/>
              </a:ext>
            </a:extLst>
          </p:cNvPr>
          <p:cNvSpPr>
            <a:spLocks noGrp="1"/>
          </p:cNvSpPr>
          <p:nvPr>
            <p:ph type="title"/>
          </p:nvPr>
        </p:nvSpPr>
        <p:spPr/>
        <p:txBody>
          <a:bodyPr/>
          <a:lstStyle/>
          <a:p>
            <a:r>
              <a:rPr lang="en" altLang="ja-JP" sz="4600" dirty="0">
                <a:latin typeface="Meiryo"/>
                <a:ea typeface="Meiryo"/>
                <a:cs typeface="Meiryo"/>
              </a:rPr>
              <a:t>1.1  SpO₂</a:t>
            </a:r>
            <a:r>
              <a:rPr lang="ja-JP" altLang="en-US" sz="4600">
                <a:latin typeface="Meiryo"/>
                <a:ea typeface="Meiryo"/>
                <a:cs typeface="Meiryo"/>
              </a:rPr>
              <a:t>の測定原理</a:t>
            </a:r>
            <a:endParaRPr sz="4600" dirty="0">
              <a:latin typeface="Meiryo"/>
              <a:ea typeface="Meiryo"/>
              <a:cs typeface="Meiryo"/>
            </a:endParaRPr>
          </a:p>
        </p:txBody>
      </p:sp>
      <p:sp>
        <p:nvSpPr>
          <p:cNvPr id="18" name="TextBox 17">
            <a:extLst>
              <a:ext uri="{FF2B5EF4-FFF2-40B4-BE49-F238E27FC236}">
                <a16:creationId xmlns:a16="http://schemas.microsoft.com/office/drawing/2014/main" id="{D5DE044F-460A-E2FF-0BD3-DEC0BB446256}"/>
              </a:ext>
            </a:extLst>
          </p:cNvPr>
          <p:cNvSpPr txBox="1"/>
          <p:nvPr/>
        </p:nvSpPr>
        <p:spPr>
          <a:xfrm>
            <a:off x="2619208" y="1869318"/>
            <a:ext cx="923330" cy="369332"/>
          </a:xfrm>
          <a:prstGeom prst="rect">
            <a:avLst/>
          </a:prstGeom>
          <a:noFill/>
        </p:spPr>
        <p:txBody>
          <a:bodyPr wrap="none" lIns="0" tIns="0" rIns="0" bIns="0" anchor="ctr">
            <a:spAutoFit/>
          </a:bodyPr>
          <a:lstStyle/>
          <a:p>
            <a:pPr algn="ctr">
              <a:spcBef>
                <a:spcPts val="0"/>
              </a:spcBef>
              <a:spcAft>
                <a:spcPts val="0"/>
              </a:spcAft>
            </a:pPr>
            <a:r>
              <a:rPr lang="en-US" sz="2400" b="1" dirty="0" err="1">
                <a:solidFill>
                  <a:srgbClr val="BF9000"/>
                </a:solidFill>
                <a:latin typeface="Meiryo"/>
                <a:ea typeface="Meiryo"/>
                <a:cs typeface="Meiryo"/>
              </a:rPr>
              <a:t>発光部</a:t>
            </a:r>
            <a:endParaRPr sz="2400" b="1" dirty="0">
              <a:solidFill>
                <a:srgbClr val="BF9000"/>
              </a:solidFill>
              <a:latin typeface="Meiryo"/>
              <a:ea typeface="Meiryo"/>
              <a:cs typeface="Meiryo"/>
            </a:endParaRPr>
          </a:p>
        </p:txBody>
      </p:sp>
      <p:sp>
        <p:nvSpPr>
          <p:cNvPr id="19" name="TextBox 18">
            <a:extLst>
              <a:ext uri="{FF2B5EF4-FFF2-40B4-BE49-F238E27FC236}">
                <a16:creationId xmlns:a16="http://schemas.microsoft.com/office/drawing/2014/main" id="{2A9E9DBB-C7CF-6A30-8780-0FF99F220214}"/>
              </a:ext>
            </a:extLst>
          </p:cNvPr>
          <p:cNvSpPr txBox="1"/>
          <p:nvPr/>
        </p:nvSpPr>
        <p:spPr>
          <a:xfrm>
            <a:off x="2619208" y="5377798"/>
            <a:ext cx="923331" cy="369332"/>
          </a:xfrm>
          <a:prstGeom prst="rect">
            <a:avLst/>
          </a:prstGeom>
          <a:noFill/>
        </p:spPr>
        <p:txBody>
          <a:bodyPr wrap="none" lIns="0" tIns="0" rIns="0" bIns="0" anchor="ctr">
            <a:spAutoFit/>
          </a:bodyPr>
          <a:lstStyle/>
          <a:p>
            <a:pPr algn="ctr">
              <a:spcBef>
                <a:spcPts val="0"/>
              </a:spcBef>
              <a:spcAft>
                <a:spcPts val="0"/>
              </a:spcAft>
            </a:pPr>
            <a:r>
              <a:rPr lang="ja-JP" altLang="en-US" sz="2400" b="1">
                <a:latin typeface="Meiryo"/>
                <a:ea typeface="Meiryo"/>
                <a:cs typeface="Meiryo"/>
              </a:rPr>
              <a:t>受光部</a:t>
            </a:r>
            <a:endParaRPr sz="2400" b="1" dirty="0">
              <a:latin typeface="Meiryo"/>
              <a:ea typeface="Meiryo"/>
              <a:cs typeface="Meiryo"/>
            </a:endParaRPr>
          </a:p>
        </p:txBody>
      </p:sp>
      <p:pic>
        <p:nvPicPr>
          <p:cNvPr id="20" name="fig_optics" descr="f11_optics.png">
            <a:extLst>
              <a:ext uri="{FF2B5EF4-FFF2-40B4-BE49-F238E27FC236}">
                <a16:creationId xmlns:a16="http://schemas.microsoft.com/office/drawing/2014/main" id="{67F772F7-5025-E253-1367-7EF6F8A35FDE}"/>
              </a:ext>
            </a:extLst>
          </p:cNvPr>
          <p:cNvPicPr>
            <a:picLocks noChangeAspect="1"/>
          </p:cNvPicPr>
          <p:nvPr/>
        </p:nvPicPr>
        <p:blipFill>
          <a:blip r:embed="rId3"/>
          <a:stretch>
            <a:fillRect/>
          </a:stretch>
        </p:blipFill>
        <p:spPr>
          <a:xfrm>
            <a:off x="1344680" y="2287984"/>
            <a:ext cx="3472386" cy="3024000"/>
          </a:xfrm>
          <a:prstGeom prst="rect">
            <a:avLst/>
          </a:prstGeom>
        </p:spPr>
      </p:pic>
      <p:pic>
        <p:nvPicPr>
          <p:cNvPr id="21" name="fig_signal" descr="f11_signal.png">
            <a:extLst>
              <a:ext uri="{FF2B5EF4-FFF2-40B4-BE49-F238E27FC236}">
                <a16:creationId xmlns:a16="http://schemas.microsoft.com/office/drawing/2014/main" id="{676C2E62-B192-0207-6F9B-14C6A99A5487}"/>
              </a:ext>
            </a:extLst>
          </p:cNvPr>
          <p:cNvPicPr>
            <a:picLocks noChangeAspect="1"/>
          </p:cNvPicPr>
          <p:nvPr/>
        </p:nvPicPr>
        <p:blipFill>
          <a:blip r:embed="rId4"/>
          <a:stretch>
            <a:fillRect/>
          </a:stretch>
        </p:blipFill>
        <p:spPr>
          <a:xfrm>
            <a:off x="6640145" y="1571270"/>
            <a:ext cx="4337875" cy="3024000"/>
          </a:xfrm>
          <a:prstGeom prst="rect">
            <a:avLst/>
          </a:prstGeom>
        </p:spPr>
      </p:pic>
      <p:sp>
        <p:nvSpPr>
          <p:cNvPr id="22" name="TextBox 21">
            <a:extLst>
              <a:ext uri="{FF2B5EF4-FFF2-40B4-BE49-F238E27FC236}">
                <a16:creationId xmlns:a16="http://schemas.microsoft.com/office/drawing/2014/main" id="{29B29EDA-DCA4-27AB-8C50-E1792491D39E}"/>
              </a:ext>
            </a:extLst>
          </p:cNvPr>
          <p:cNvSpPr txBox="1"/>
          <p:nvPr/>
        </p:nvSpPr>
        <p:spPr>
          <a:xfrm>
            <a:off x="720000" y="4781721"/>
            <a:ext cx="1410643" cy="338554"/>
          </a:xfrm>
          <a:prstGeom prst="rect">
            <a:avLst/>
          </a:prstGeom>
          <a:noFill/>
        </p:spPr>
        <p:txBody>
          <a:bodyPr wrap="none" lIns="0" tIns="0" rIns="0" bIns="0" anchor="ctr">
            <a:spAutoFit/>
          </a:bodyPr>
          <a:lstStyle/>
          <a:p>
            <a:pPr algn="ctr">
              <a:spcBef>
                <a:spcPts val="0"/>
              </a:spcBef>
              <a:spcAft>
                <a:spcPts val="0"/>
              </a:spcAft>
            </a:pPr>
            <a:r>
              <a:rPr sz="2200" b="1" dirty="0" err="1">
                <a:solidFill>
                  <a:srgbClr val="D55E00"/>
                </a:solidFill>
                <a:latin typeface="Meiryo"/>
                <a:ea typeface="Meiryo"/>
                <a:cs typeface="Meiryo"/>
              </a:rPr>
              <a:t>動脈：拍動</a:t>
            </a:r>
            <a:endParaRPr sz="2200" b="1" dirty="0">
              <a:solidFill>
                <a:srgbClr val="D55E00"/>
              </a:solidFill>
              <a:latin typeface="Meiryo"/>
              <a:ea typeface="Meiryo"/>
              <a:cs typeface="Meiryo"/>
            </a:endParaRPr>
          </a:p>
        </p:txBody>
      </p:sp>
      <p:sp>
        <p:nvSpPr>
          <p:cNvPr id="3" name="TextBox 22">
            <a:extLst>
              <a:ext uri="{FF2B5EF4-FFF2-40B4-BE49-F238E27FC236}">
                <a16:creationId xmlns:a16="http://schemas.microsoft.com/office/drawing/2014/main" id="{642CAA70-6344-1593-DE98-C5CF27B31DC4}"/>
              </a:ext>
            </a:extLst>
          </p:cNvPr>
          <p:cNvSpPr txBox="1"/>
          <p:nvPr/>
        </p:nvSpPr>
        <p:spPr>
          <a:xfrm>
            <a:off x="4168651" y="4784808"/>
            <a:ext cx="1296829" cy="677108"/>
          </a:xfrm>
          <a:prstGeom prst="rect">
            <a:avLst/>
          </a:prstGeom>
          <a:noFill/>
        </p:spPr>
        <p:txBody>
          <a:bodyPr wrap="none" lIns="0" tIns="0" rIns="0" bIns="0" anchor="ctr">
            <a:spAutoFit/>
          </a:bodyPr>
          <a:lstStyle/>
          <a:p>
            <a:pPr algn="ctr">
              <a:spcBef>
                <a:spcPts val="0"/>
              </a:spcBef>
              <a:spcAft>
                <a:spcPts val="0"/>
              </a:spcAft>
            </a:pPr>
            <a:r>
              <a:rPr sz="2200" b="1" dirty="0" err="1">
                <a:solidFill>
                  <a:srgbClr val="808080"/>
                </a:solidFill>
                <a:latin typeface="Meiryo"/>
                <a:ea typeface="Meiryo"/>
                <a:cs typeface="Meiryo"/>
              </a:rPr>
              <a:t>組織</a:t>
            </a:r>
            <a:r>
              <a:rPr lang="en-US" sz="2200" b="1" dirty="0">
                <a:solidFill>
                  <a:srgbClr val="808080"/>
                </a:solidFill>
                <a:latin typeface="Meiryo"/>
                <a:ea typeface="Meiryo"/>
                <a:cs typeface="Meiryo"/>
              </a:rPr>
              <a:t>/</a:t>
            </a:r>
            <a:r>
              <a:rPr sz="2200" b="1" dirty="0" err="1">
                <a:solidFill>
                  <a:srgbClr val="808080"/>
                </a:solidFill>
                <a:latin typeface="Meiryo"/>
                <a:ea typeface="Meiryo"/>
                <a:cs typeface="Meiryo"/>
              </a:rPr>
              <a:t>静脈</a:t>
            </a:r>
            <a:endParaRPr lang="en-US" sz="2200" b="1" dirty="0">
              <a:solidFill>
                <a:srgbClr val="808080"/>
              </a:solidFill>
              <a:latin typeface="Meiryo"/>
              <a:ea typeface="Meiryo"/>
              <a:cs typeface="Meiryo"/>
            </a:endParaRPr>
          </a:p>
          <a:p>
            <a:pPr algn="ctr">
              <a:spcBef>
                <a:spcPts val="0"/>
              </a:spcBef>
              <a:spcAft>
                <a:spcPts val="0"/>
              </a:spcAft>
            </a:pPr>
            <a:r>
              <a:rPr sz="2200" b="1" dirty="0">
                <a:solidFill>
                  <a:srgbClr val="808080"/>
                </a:solidFill>
                <a:latin typeface="Meiryo"/>
                <a:ea typeface="Meiryo"/>
                <a:cs typeface="Meiryo"/>
              </a:rPr>
              <a:t>：</a:t>
            </a:r>
            <a:r>
              <a:rPr lang="en-US" sz="2200" b="1" dirty="0" err="1">
                <a:solidFill>
                  <a:srgbClr val="808080"/>
                </a:solidFill>
                <a:latin typeface="Meiryo"/>
                <a:ea typeface="Meiryo"/>
                <a:cs typeface="Meiryo"/>
              </a:rPr>
              <a:t>無</a:t>
            </a:r>
            <a:r>
              <a:rPr sz="2200" b="1" dirty="0" err="1">
                <a:solidFill>
                  <a:srgbClr val="808080"/>
                </a:solidFill>
                <a:latin typeface="Meiryo"/>
                <a:ea typeface="Meiryo"/>
                <a:cs typeface="Meiryo"/>
              </a:rPr>
              <a:t>拍動</a:t>
            </a:r>
            <a:endParaRPr sz="2200" b="1" dirty="0">
              <a:solidFill>
                <a:srgbClr val="808080"/>
              </a:solidFill>
              <a:latin typeface="Meiryo"/>
              <a:ea typeface="Meiryo"/>
              <a:cs typeface="Meiryo"/>
            </a:endParaRPr>
          </a:p>
        </p:txBody>
      </p:sp>
      <p:sp>
        <p:nvSpPr>
          <p:cNvPr id="4" name="TextBox 23">
            <a:extLst>
              <a:ext uri="{FF2B5EF4-FFF2-40B4-BE49-F238E27FC236}">
                <a16:creationId xmlns:a16="http://schemas.microsoft.com/office/drawing/2014/main" id="{833E7898-24B9-3FC7-ACBD-30796044C35A}"/>
              </a:ext>
            </a:extLst>
          </p:cNvPr>
          <p:cNvSpPr txBox="1"/>
          <p:nvPr/>
        </p:nvSpPr>
        <p:spPr>
          <a:xfrm>
            <a:off x="7635894" y="2509423"/>
            <a:ext cx="1996444" cy="338554"/>
          </a:xfrm>
          <a:prstGeom prst="rect">
            <a:avLst/>
          </a:prstGeom>
          <a:solidFill>
            <a:schemeClr val="bg1"/>
          </a:solidFill>
          <a:ln>
            <a:solidFill>
              <a:schemeClr val="tx1"/>
            </a:solidFill>
          </a:ln>
        </p:spPr>
        <p:txBody>
          <a:bodyPr wrap="none" lIns="0" tIns="0" rIns="0" bIns="0" anchor="ctr">
            <a:spAutoFit/>
          </a:bodyPr>
          <a:lstStyle/>
          <a:p>
            <a:pPr algn="ctr">
              <a:spcBef>
                <a:spcPts val="0"/>
              </a:spcBef>
              <a:spcAft>
                <a:spcPts val="0"/>
              </a:spcAft>
            </a:pPr>
            <a:r>
              <a:rPr sz="2200" b="1" dirty="0">
                <a:solidFill>
                  <a:srgbClr val="D55E00"/>
                </a:solidFill>
                <a:latin typeface="Meiryo"/>
                <a:ea typeface="Meiryo"/>
                <a:cs typeface="Meiryo"/>
              </a:rPr>
              <a:t>AC ＝ </a:t>
            </a:r>
            <a:r>
              <a:rPr sz="2200" b="1" dirty="0" err="1">
                <a:solidFill>
                  <a:srgbClr val="D55E00"/>
                </a:solidFill>
                <a:latin typeface="Meiryo"/>
                <a:ea typeface="Meiryo"/>
                <a:cs typeface="Meiryo"/>
              </a:rPr>
              <a:t>拍動成</a:t>
            </a:r>
            <a:r>
              <a:rPr lang="en-US" sz="2200" b="1" dirty="0" err="1">
                <a:solidFill>
                  <a:srgbClr val="D55E00"/>
                </a:solidFill>
                <a:latin typeface="Meiryo"/>
                <a:ea typeface="Meiryo"/>
                <a:cs typeface="Meiryo"/>
              </a:rPr>
              <a:t>分</a:t>
            </a:r>
            <a:endParaRPr sz="2200" b="1" dirty="0">
              <a:solidFill>
                <a:srgbClr val="D55E00"/>
              </a:solidFill>
              <a:latin typeface="Meiryo"/>
              <a:ea typeface="Meiryo"/>
              <a:cs typeface="Meiryo"/>
            </a:endParaRPr>
          </a:p>
        </p:txBody>
      </p:sp>
      <p:sp>
        <p:nvSpPr>
          <p:cNvPr id="5" name="TextBox 24">
            <a:extLst>
              <a:ext uri="{FF2B5EF4-FFF2-40B4-BE49-F238E27FC236}">
                <a16:creationId xmlns:a16="http://schemas.microsoft.com/office/drawing/2014/main" id="{105B1721-3DB2-AB29-ED41-82BB8AAFBB33}"/>
              </a:ext>
            </a:extLst>
          </p:cNvPr>
          <p:cNvSpPr txBox="1"/>
          <p:nvPr/>
        </p:nvSpPr>
        <p:spPr>
          <a:xfrm>
            <a:off x="7635894" y="3700009"/>
            <a:ext cx="2295500" cy="338554"/>
          </a:xfrm>
          <a:prstGeom prst="rect">
            <a:avLst/>
          </a:prstGeom>
          <a:solidFill>
            <a:schemeClr val="bg1"/>
          </a:solidFill>
          <a:ln>
            <a:solidFill>
              <a:schemeClr val="tx1"/>
            </a:solidFill>
          </a:ln>
        </p:spPr>
        <p:txBody>
          <a:bodyPr wrap="none" lIns="0" tIns="0" rIns="0" bIns="0" anchor="ctr">
            <a:spAutoFit/>
          </a:bodyPr>
          <a:lstStyle/>
          <a:p>
            <a:pPr algn="ctr">
              <a:spcBef>
                <a:spcPts val="0"/>
              </a:spcBef>
              <a:spcAft>
                <a:spcPts val="0"/>
              </a:spcAft>
            </a:pPr>
            <a:r>
              <a:rPr sz="2200" b="1" dirty="0">
                <a:solidFill>
                  <a:srgbClr val="808080"/>
                </a:solidFill>
                <a:latin typeface="Meiryo"/>
                <a:ea typeface="Meiryo"/>
                <a:cs typeface="Meiryo"/>
              </a:rPr>
              <a:t>DC ＝ </a:t>
            </a:r>
            <a:r>
              <a:rPr sz="2200" b="1" dirty="0" err="1">
                <a:solidFill>
                  <a:srgbClr val="808080"/>
                </a:solidFill>
                <a:latin typeface="Meiryo"/>
                <a:ea typeface="Meiryo"/>
                <a:cs typeface="Meiryo"/>
              </a:rPr>
              <a:t>非拍動</a:t>
            </a:r>
            <a:r>
              <a:rPr lang="ja-JP" altLang="en-US" sz="2200" b="1">
                <a:solidFill>
                  <a:srgbClr val="808080"/>
                </a:solidFill>
                <a:latin typeface="Meiryo"/>
                <a:ea typeface="Meiryo"/>
                <a:cs typeface="Meiryo"/>
              </a:rPr>
              <a:t>成分</a:t>
            </a:r>
            <a:endParaRPr sz="2200" b="1" dirty="0">
              <a:solidFill>
                <a:srgbClr val="808080"/>
              </a:solidFill>
              <a:latin typeface="Meiryo"/>
              <a:ea typeface="Meiryo"/>
              <a:cs typeface="Meiryo"/>
            </a:endParaRPr>
          </a:p>
        </p:txBody>
      </p:sp>
      <p:sp>
        <p:nvSpPr>
          <p:cNvPr id="6" name="Rounded Rectangle 25">
            <a:extLst>
              <a:ext uri="{FF2B5EF4-FFF2-40B4-BE49-F238E27FC236}">
                <a16:creationId xmlns:a16="http://schemas.microsoft.com/office/drawing/2014/main" id="{819240EA-C12F-123D-1210-AC093C6B6FBB}"/>
              </a:ext>
            </a:extLst>
          </p:cNvPr>
          <p:cNvSpPr/>
          <p:nvPr/>
        </p:nvSpPr>
        <p:spPr>
          <a:xfrm>
            <a:off x="6091592" y="4816850"/>
            <a:ext cx="5457584" cy="1325563"/>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lnSpc>
                <a:spcPct val="150000"/>
              </a:lnSpc>
              <a:spcBef>
                <a:spcPts val="0"/>
              </a:spcBef>
              <a:spcAft>
                <a:spcPts val="0"/>
              </a:spcAft>
            </a:pPr>
            <a:r>
              <a:rPr lang="en-US" sz="2400" b="1" dirty="0" err="1">
                <a:solidFill>
                  <a:srgbClr val="262626"/>
                </a:solidFill>
                <a:latin typeface="Meiryo"/>
                <a:ea typeface="Meiryo"/>
                <a:cs typeface="Meiryo"/>
              </a:rPr>
              <a:t>知りたいのは</a:t>
            </a:r>
            <a:r>
              <a:rPr lang="en" altLang="ja-JP" sz="2400" b="1" dirty="0">
                <a:solidFill>
                  <a:srgbClr val="D55E00"/>
                </a:solidFill>
                <a:latin typeface="Meiryo"/>
                <a:ea typeface="Meiryo"/>
                <a:cs typeface="Meiryo"/>
              </a:rPr>
              <a:t> </a:t>
            </a:r>
            <a:r>
              <a:rPr lang="ja-JP" altLang="en-US" sz="2400" b="1">
                <a:solidFill>
                  <a:schemeClr val="tx1"/>
                </a:solidFill>
                <a:latin typeface="Meiryo"/>
                <a:ea typeface="Meiryo"/>
                <a:cs typeface="Meiryo"/>
              </a:rPr>
              <a:t>動脈血の</a:t>
            </a:r>
            <a:r>
              <a:rPr lang="en-US" altLang="ja-JP" sz="2400" b="1" dirty="0">
                <a:solidFill>
                  <a:schemeClr val="tx1"/>
                </a:solidFill>
                <a:latin typeface="Meiryo"/>
                <a:ea typeface="Meiryo"/>
                <a:cs typeface="Meiryo"/>
              </a:rPr>
              <a:t> </a:t>
            </a:r>
            <a:r>
              <a:rPr lang="en" altLang="ja-JP" sz="2400" b="1" dirty="0">
                <a:solidFill>
                  <a:srgbClr val="D55E00"/>
                </a:solidFill>
                <a:latin typeface="Meiryo"/>
                <a:ea typeface="Meiryo"/>
                <a:cs typeface="Meiryo"/>
              </a:rPr>
              <a:t>O₂ Hb </a:t>
            </a:r>
            <a:r>
              <a:rPr lang="en-US" sz="2400" b="1" dirty="0" err="1">
                <a:solidFill>
                  <a:srgbClr val="262626"/>
                </a:solidFill>
                <a:latin typeface="Meiryo"/>
                <a:ea typeface="Meiryo"/>
                <a:cs typeface="Meiryo"/>
              </a:rPr>
              <a:t>の割合。</a:t>
            </a:r>
            <a:endParaRPr lang="en-US" sz="2400" b="1" dirty="0">
              <a:solidFill>
                <a:srgbClr val="262626"/>
              </a:solidFill>
              <a:latin typeface="Meiryo"/>
              <a:ea typeface="Meiryo"/>
              <a:cs typeface="Meiryo"/>
            </a:endParaRPr>
          </a:p>
          <a:p>
            <a:pPr algn="ctr">
              <a:lnSpc>
                <a:spcPct val="150000"/>
              </a:lnSpc>
              <a:spcBef>
                <a:spcPts val="0"/>
              </a:spcBef>
              <a:spcAft>
                <a:spcPts val="0"/>
              </a:spcAft>
            </a:pPr>
            <a:r>
              <a:rPr lang="en-US" sz="2400" b="1" dirty="0">
                <a:solidFill>
                  <a:srgbClr val="262626"/>
                </a:solidFill>
                <a:latin typeface="Meiryo"/>
                <a:ea typeface="Meiryo"/>
                <a:cs typeface="Meiryo"/>
              </a:rPr>
              <a:t>AC / DC </a:t>
            </a:r>
            <a:r>
              <a:rPr lang="en-US" sz="2400" b="1" dirty="0" err="1">
                <a:solidFill>
                  <a:srgbClr val="262626"/>
                </a:solidFill>
                <a:latin typeface="Meiryo"/>
                <a:ea typeface="Meiryo"/>
                <a:cs typeface="Meiryo"/>
              </a:rPr>
              <a:t>で非拍動成分を除く。</a:t>
            </a:r>
            <a:endParaRPr sz="2400" b="1" dirty="0">
              <a:solidFill>
                <a:srgbClr val="262626"/>
              </a:solidFill>
              <a:latin typeface="Meiryo"/>
              <a:ea typeface="Meiryo"/>
              <a:cs typeface="Meiryo"/>
            </a:endParaRPr>
          </a:p>
        </p:txBody>
      </p:sp>
      <p:sp>
        <p:nvSpPr>
          <p:cNvPr id="2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a:t>
            </a:r>
          </a:p>
        </p:txBody>
      </p:sp>
      <p:sp>
        <p:nvSpPr>
          <p:cNvPr id="2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10/118</a:t>
            </a:r>
          </a:p>
        </p:txBody>
      </p:sp>
      <p:sp>
        <p:nvSpPr>
          <p:cNvPr id="101" name="Off-page Connector 4">
            <a:extLst>
              <a:ext uri="{FF2B5EF4-FFF2-40B4-BE49-F238E27FC236}">
                <a16:creationId xmlns:a16="http://schemas.microsoft.com/office/drawing/2014/main" id="{AA9D36CE-3772-F005-B54C-9329ADA7F086}"/>
              </a:ext>
            </a:extLst>
          </p:cNvPr>
          <p:cNvSpPr/>
          <p:nvPr/>
        </p:nvSpPr>
        <p:spPr>
          <a:xfrm>
            <a:off x="821448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16838949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9DE69-82D3-AD5B-CFBE-CFEB6B707F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78B47B-D71E-F528-DC21-4207271B4BD0}"/>
              </a:ext>
            </a:extLst>
          </p:cNvPr>
          <p:cNvSpPr>
            <a:spLocks noGrp="1"/>
          </p:cNvSpPr>
          <p:nvPr>
            <p:ph type="title"/>
          </p:nvPr>
        </p:nvSpPr>
        <p:spPr/>
        <p:txBody>
          <a:bodyPr/>
          <a:lstStyle/>
          <a:p>
            <a:pPr algn="l"/>
            <a:r>
              <a:rPr sz="4600" dirty="0">
                <a:latin typeface="Meiryo"/>
                <a:ea typeface="Meiryo"/>
                <a:cs typeface="Meiryo"/>
              </a:rPr>
              <a:t>1.1  </a:t>
            </a:r>
            <a:r>
              <a:rPr sz="4600" dirty="0" err="1">
                <a:latin typeface="Meiryo"/>
                <a:ea typeface="Meiryo"/>
                <a:cs typeface="Meiryo"/>
              </a:rPr>
              <a:t>SpO₂の測定原理</a:t>
            </a:r>
            <a:endParaRPr sz="4600" dirty="0">
              <a:latin typeface="Meiryo"/>
              <a:ea typeface="Meiryo"/>
              <a:cs typeface="Meiryo"/>
            </a:endParaRPr>
          </a:p>
        </p:txBody>
      </p:sp>
      <p:sp>
        <p:nvSpPr>
          <p:cNvPr id="26" name="TextBox 25">
            <a:extLst>
              <a:ext uri="{FF2B5EF4-FFF2-40B4-BE49-F238E27FC236}">
                <a16:creationId xmlns:a16="http://schemas.microsoft.com/office/drawing/2014/main" id="{671C795A-39A0-0F8C-6364-F516729C58C0}"/>
              </a:ext>
            </a:extLst>
          </p:cNvPr>
          <p:cNvSpPr txBox="1"/>
          <p:nvPr/>
        </p:nvSpPr>
        <p:spPr>
          <a:xfrm>
            <a:off x="4969880" y="2698563"/>
            <a:ext cx="2929905" cy="984885"/>
          </a:xfrm>
          <a:prstGeom prst="rect">
            <a:avLst/>
          </a:prstGeom>
          <a:noFill/>
        </p:spPr>
        <p:txBody>
          <a:bodyPr wrap="none" lIns="0" tIns="0" rIns="0" bIns="0" anchor="ctr">
            <a:spAutoFit/>
          </a:bodyPr>
          <a:lstStyle/>
          <a:p>
            <a:pPr algn="ctr">
              <a:spcBef>
                <a:spcPts val="0"/>
              </a:spcBef>
              <a:spcAft>
                <a:spcPts val="0"/>
              </a:spcAft>
            </a:pPr>
            <a:r>
              <a:rPr lang="en-US" altLang="ja-JP" sz="3200" b="1" dirty="0">
                <a:solidFill>
                  <a:srgbClr val="0072B2"/>
                </a:solidFill>
                <a:latin typeface="Meiryo"/>
                <a:ea typeface="Meiryo"/>
                <a:cs typeface="Meiryo"/>
              </a:rPr>
              <a:t>(AC/DC) </a:t>
            </a:r>
            <a:r>
              <a:rPr lang="ja-JP" altLang="en-US" sz="3200" b="1">
                <a:solidFill>
                  <a:srgbClr val="0072B2"/>
                </a:solidFill>
                <a:latin typeface="Meiryo"/>
                <a:ea typeface="Meiryo"/>
                <a:cs typeface="Meiryo"/>
              </a:rPr>
              <a:t>赤</a:t>
            </a:r>
            <a:endParaRPr lang="en-US" sz="3200" b="1" dirty="0">
              <a:latin typeface="Meiryo"/>
              <a:ea typeface="Meiryo"/>
              <a:cs typeface="Meiryo"/>
            </a:endParaRPr>
          </a:p>
          <a:p>
            <a:pPr algn="ctr">
              <a:spcBef>
                <a:spcPts val="0"/>
              </a:spcBef>
              <a:spcAft>
                <a:spcPts val="0"/>
              </a:spcAft>
            </a:pPr>
            <a:r>
              <a:rPr lang="en-US" sz="3200" b="1" dirty="0">
                <a:latin typeface="Meiryo"/>
                <a:ea typeface="Meiryo"/>
                <a:cs typeface="Meiryo"/>
              </a:rPr>
              <a:t> </a:t>
            </a:r>
            <a:r>
              <a:rPr lang="en-US" altLang="ja-JP" sz="3200" b="1" dirty="0">
                <a:solidFill>
                  <a:srgbClr val="D55E00"/>
                </a:solidFill>
                <a:latin typeface="Meiryo"/>
                <a:ea typeface="Meiryo"/>
                <a:cs typeface="Meiryo"/>
              </a:rPr>
              <a:t>(AC/DC) </a:t>
            </a:r>
            <a:r>
              <a:rPr lang="ja-JP" altLang="en-US" sz="3200" b="1">
                <a:solidFill>
                  <a:srgbClr val="D55E00"/>
                </a:solidFill>
                <a:latin typeface="Meiryo"/>
                <a:ea typeface="Meiryo"/>
                <a:cs typeface="Meiryo"/>
              </a:rPr>
              <a:t>赤外</a:t>
            </a:r>
            <a:endParaRPr lang="ja-JP" altLang="en-US" sz="3200" b="1" dirty="0">
              <a:latin typeface="Meiryo"/>
              <a:ea typeface="Meiryo"/>
              <a:cs typeface="Meiryo"/>
            </a:endParaRPr>
          </a:p>
        </p:txBody>
      </p:sp>
      <p:sp>
        <p:nvSpPr>
          <p:cNvPr id="4" name="テキスト ボックス 3">
            <a:extLst>
              <a:ext uri="{FF2B5EF4-FFF2-40B4-BE49-F238E27FC236}">
                <a16:creationId xmlns:a16="http://schemas.microsoft.com/office/drawing/2014/main" id="{A70156F4-1C44-3299-5196-6543B5023B59}"/>
              </a:ext>
            </a:extLst>
          </p:cNvPr>
          <p:cNvSpPr txBox="1"/>
          <p:nvPr/>
        </p:nvSpPr>
        <p:spPr>
          <a:xfrm>
            <a:off x="3599763" y="4057392"/>
            <a:ext cx="4804007" cy="830997"/>
          </a:xfrm>
          <a:prstGeom prst="rect">
            <a:avLst/>
          </a:prstGeom>
          <a:noFill/>
        </p:spPr>
        <p:txBody>
          <a:bodyPr wrap="none" rtlCol="0">
            <a:spAutoFit/>
          </a:bodyPr>
          <a:lstStyle/>
          <a:p>
            <a:pPr algn="ctr"/>
            <a:r>
              <a:rPr kumimoji="1" lang="ja-JP" altLang="en-US" sz="2400" b="1">
                <a:latin typeface="+mn-ea"/>
              </a:rPr>
              <a:t>赤色光赤外光変調比</a:t>
            </a:r>
            <a:endParaRPr kumimoji="1" lang="en-US" altLang="ja-JP" sz="2400" b="1" dirty="0">
              <a:latin typeface="+mn-ea"/>
            </a:endParaRPr>
          </a:p>
          <a:p>
            <a:pPr algn="ctr"/>
            <a:r>
              <a:rPr kumimoji="1" lang="en-US" altLang="ja-JP" sz="2400" b="1" dirty="0">
                <a:latin typeface="+mn-ea"/>
              </a:rPr>
              <a:t>(Red : IR Modulation Ratio)</a:t>
            </a:r>
            <a:r>
              <a:rPr lang="en-US" altLang="ja-JP" sz="2400" b="1" dirty="0">
                <a:latin typeface="+mn-ea"/>
              </a:rPr>
              <a:t> </a:t>
            </a:r>
            <a:endParaRPr kumimoji="1" lang="ja-JP" altLang="en-US" sz="2400" b="1">
              <a:latin typeface="+mn-ea"/>
            </a:endParaRPr>
          </a:p>
        </p:txBody>
      </p:sp>
      <p:sp>
        <p:nvSpPr>
          <p:cNvPr id="5" name="テキスト ボックス 4">
            <a:extLst>
              <a:ext uri="{FF2B5EF4-FFF2-40B4-BE49-F238E27FC236}">
                <a16:creationId xmlns:a16="http://schemas.microsoft.com/office/drawing/2014/main" id="{D3A2BA00-D26D-D3EF-749A-289F98062ED8}"/>
              </a:ext>
            </a:extLst>
          </p:cNvPr>
          <p:cNvSpPr txBox="1"/>
          <p:nvPr/>
        </p:nvSpPr>
        <p:spPr>
          <a:xfrm>
            <a:off x="3882238" y="2898617"/>
            <a:ext cx="970137" cy="584775"/>
          </a:xfrm>
          <a:prstGeom prst="rect">
            <a:avLst/>
          </a:prstGeom>
          <a:noFill/>
        </p:spPr>
        <p:txBody>
          <a:bodyPr wrap="none" rtlCol="0">
            <a:spAutoFit/>
          </a:bodyPr>
          <a:lstStyle/>
          <a:p>
            <a:r>
              <a:rPr kumimoji="1" lang="en-US" altLang="ja-JP" sz="3200" b="1" dirty="0">
                <a:latin typeface="+mj-ea"/>
                <a:ea typeface="+mj-ea"/>
              </a:rPr>
              <a:t>R =</a:t>
            </a:r>
          </a:p>
        </p:txBody>
      </p:sp>
      <p:cxnSp>
        <p:nvCxnSpPr>
          <p:cNvPr id="7" name="直線コネクタ 6">
            <a:extLst>
              <a:ext uri="{FF2B5EF4-FFF2-40B4-BE49-F238E27FC236}">
                <a16:creationId xmlns:a16="http://schemas.microsoft.com/office/drawing/2014/main" id="{56AACF86-978F-44BC-D2E0-1A46847AF410}"/>
              </a:ext>
            </a:extLst>
          </p:cNvPr>
          <p:cNvCxnSpPr>
            <a:cxnSpLocks/>
          </p:cNvCxnSpPr>
          <p:nvPr/>
        </p:nvCxnSpPr>
        <p:spPr>
          <a:xfrm>
            <a:off x="5005146" y="3153474"/>
            <a:ext cx="28593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 Chan 2013</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11/118</a:t>
            </a:r>
          </a:p>
        </p:txBody>
      </p:sp>
      <p:sp>
        <p:nvSpPr>
          <p:cNvPr id="101" name="Off-page Connector 4">
            <a:extLst>
              <a:ext uri="{FF2B5EF4-FFF2-40B4-BE49-F238E27FC236}">
                <a16:creationId xmlns:a16="http://schemas.microsoft.com/office/drawing/2014/main" id="{AA9D36CE-3772-F005-B54C-9329ADA7F086}"/>
              </a:ext>
            </a:extLst>
          </p:cNvPr>
          <p:cNvSpPr/>
          <p:nvPr/>
        </p:nvSpPr>
        <p:spPr>
          <a:xfrm>
            <a:off x="821448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12719609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8E781-C379-328F-DD39-10AD1E4F66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0BD815-6901-B5AD-16B0-30111B30B4E0}"/>
              </a:ext>
            </a:extLst>
          </p:cNvPr>
          <p:cNvSpPr>
            <a:spLocks noGrp="1"/>
          </p:cNvSpPr>
          <p:nvPr>
            <p:ph type="title"/>
          </p:nvPr>
        </p:nvSpPr>
        <p:spPr/>
        <p:txBody>
          <a:bodyPr/>
          <a:lstStyle/>
          <a:p>
            <a:pPr algn="l"/>
            <a:r>
              <a:rPr sz="4600" dirty="0">
                <a:latin typeface="Meiryo"/>
                <a:ea typeface="Meiryo"/>
                <a:cs typeface="Meiryo"/>
              </a:rPr>
              <a:t>1.1  </a:t>
            </a:r>
            <a:r>
              <a:rPr sz="4600" dirty="0" err="1">
                <a:latin typeface="Meiryo"/>
                <a:ea typeface="Meiryo"/>
                <a:cs typeface="Meiryo"/>
              </a:rPr>
              <a:t>SpO₂の測定原理</a:t>
            </a:r>
            <a:endParaRPr sz="4600" dirty="0">
              <a:latin typeface="Meiryo"/>
              <a:ea typeface="Meiryo"/>
              <a:cs typeface="Meiryo"/>
            </a:endParaRPr>
          </a:p>
        </p:txBody>
      </p:sp>
      <p:sp>
        <p:nvSpPr>
          <p:cNvPr id="26" name="TextBox 25">
            <a:extLst>
              <a:ext uri="{FF2B5EF4-FFF2-40B4-BE49-F238E27FC236}">
                <a16:creationId xmlns:a16="http://schemas.microsoft.com/office/drawing/2014/main" id="{C2AD21ED-7230-B8AF-C43F-21C68FD52DF9}"/>
              </a:ext>
            </a:extLst>
          </p:cNvPr>
          <p:cNvSpPr txBox="1"/>
          <p:nvPr/>
        </p:nvSpPr>
        <p:spPr>
          <a:xfrm>
            <a:off x="2662110" y="2640506"/>
            <a:ext cx="2929905" cy="984885"/>
          </a:xfrm>
          <a:prstGeom prst="rect">
            <a:avLst/>
          </a:prstGeom>
          <a:noFill/>
        </p:spPr>
        <p:txBody>
          <a:bodyPr wrap="none" lIns="0" tIns="0" rIns="0" bIns="0" anchor="ctr">
            <a:spAutoFit/>
          </a:bodyPr>
          <a:lstStyle/>
          <a:p>
            <a:pPr algn="ctr">
              <a:spcBef>
                <a:spcPts val="0"/>
              </a:spcBef>
              <a:spcAft>
                <a:spcPts val="0"/>
              </a:spcAft>
            </a:pPr>
            <a:r>
              <a:rPr lang="en-US" altLang="ja-JP" sz="3200" b="1" dirty="0">
                <a:solidFill>
                  <a:srgbClr val="0072B2"/>
                </a:solidFill>
                <a:latin typeface="Meiryo"/>
                <a:ea typeface="Meiryo"/>
                <a:cs typeface="Meiryo"/>
              </a:rPr>
              <a:t>(AC/DC) </a:t>
            </a:r>
            <a:r>
              <a:rPr lang="ja-JP" altLang="en-US" sz="3200" b="1">
                <a:solidFill>
                  <a:srgbClr val="0072B2"/>
                </a:solidFill>
                <a:latin typeface="Meiryo"/>
                <a:ea typeface="Meiryo"/>
                <a:cs typeface="Meiryo"/>
              </a:rPr>
              <a:t>赤</a:t>
            </a:r>
            <a:endParaRPr lang="en-US" sz="3200" b="1" dirty="0">
              <a:latin typeface="Meiryo"/>
              <a:ea typeface="Meiryo"/>
              <a:cs typeface="Meiryo"/>
            </a:endParaRPr>
          </a:p>
          <a:p>
            <a:pPr algn="ctr">
              <a:spcBef>
                <a:spcPts val="0"/>
              </a:spcBef>
              <a:spcAft>
                <a:spcPts val="0"/>
              </a:spcAft>
            </a:pPr>
            <a:r>
              <a:rPr lang="en-US" sz="3200" b="1" dirty="0">
                <a:latin typeface="Meiryo"/>
                <a:ea typeface="Meiryo"/>
                <a:cs typeface="Meiryo"/>
              </a:rPr>
              <a:t> </a:t>
            </a:r>
            <a:r>
              <a:rPr lang="en-US" altLang="ja-JP" sz="3200" b="1" dirty="0">
                <a:solidFill>
                  <a:srgbClr val="D55E00"/>
                </a:solidFill>
                <a:latin typeface="Meiryo"/>
                <a:ea typeface="Meiryo"/>
                <a:cs typeface="Meiryo"/>
              </a:rPr>
              <a:t>(AC/DC) </a:t>
            </a:r>
            <a:r>
              <a:rPr lang="ja-JP" altLang="en-US" sz="3200" b="1">
                <a:solidFill>
                  <a:srgbClr val="D55E00"/>
                </a:solidFill>
                <a:latin typeface="Meiryo"/>
                <a:ea typeface="Meiryo"/>
                <a:cs typeface="Meiryo"/>
              </a:rPr>
              <a:t>赤外</a:t>
            </a:r>
            <a:endParaRPr lang="ja-JP" altLang="en-US" sz="3200" b="1" dirty="0">
              <a:latin typeface="Meiryo"/>
              <a:ea typeface="Meiryo"/>
              <a:cs typeface="Meiryo"/>
            </a:endParaRPr>
          </a:p>
        </p:txBody>
      </p:sp>
      <p:sp>
        <p:nvSpPr>
          <p:cNvPr id="4" name="テキスト ボックス 3">
            <a:extLst>
              <a:ext uri="{FF2B5EF4-FFF2-40B4-BE49-F238E27FC236}">
                <a16:creationId xmlns:a16="http://schemas.microsoft.com/office/drawing/2014/main" id="{ABB0B0E8-BC72-F328-BA26-3A59E264E815}"/>
              </a:ext>
            </a:extLst>
          </p:cNvPr>
          <p:cNvSpPr txBox="1"/>
          <p:nvPr/>
        </p:nvSpPr>
        <p:spPr>
          <a:xfrm>
            <a:off x="1291993" y="3999335"/>
            <a:ext cx="4804007" cy="830997"/>
          </a:xfrm>
          <a:prstGeom prst="rect">
            <a:avLst/>
          </a:prstGeom>
          <a:noFill/>
        </p:spPr>
        <p:txBody>
          <a:bodyPr wrap="none" rtlCol="0">
            <a:spAutoFit/>
          </a:bodyPr>
          <a:lstStyle/>
          <a:p>
            <a:pPr algn="ctr"/>
            <a:r>
              <a:rPr kumimoji="1" lang="ja-JP" altLang="en-US" sz="2400" b="1">
                <a:latin typeface="+mn-ea"/>
              </a:rPr>
              <a:t>赤色光赤外光変調比</a:t>
            </a:r>
            <a:endParaRPr kumimoji="1" lang="en-US" altLang="ja-JP" sz="2400" b="1" dirty="0">
              <a:latin typeface="+mn-ea"/>
            </a:endParaRPr>
          </a:p>
          <a:p>
            <a:pPr algn="ctr"/>
            <a:r>
              <a:rPr kumimoji="1" lang="en-US" altLang="ja-JP" sz="2400" b="1" dirty="0">
                <a:latin typeface="+mn-ea"/>
              </a:rPr>
              <a:t>(Red : IR Modulation Ratio)</a:t>
            </a:r>
            <a:r>
              <a:rPr lang="en-US" altLang="ja-JP" sz="2400" b="1" dirty="0">
                <a:latin typeface="+mn-ea"/>
              </a:rPr>
              <a:t> </a:t>
            </a:r>
            <a:endParaRPr kumimoji="1" lang="ja-JP" altLang="en-US" sz="2400" b="1">
              <a:latin typeface="+mn-ea"/>
            </a:endParaRPr>
          </a:p>
        </p:txBody>
      </p:sp>
      <p:sp>
        <p:nvSpPr>
          <p:cNvPr id="5" name="テキスト ボックス 4">
            <a:extLst>
              <a:ext uri="{FF2B5EF4-FFF2-40B4-BE49-F238E27FC236}">
                <a16:creationId xmlns:a16="http://schemas.microsoft.com/office/drawing/2014/main" id="{DEE4B20C-7323-02FF-9476-6537183B16B1}"/>
              </a:ext>
            </a:extLst>
          </p:cNvPr>
          <p:cNvSpPr txBox="1"/>
          <p:nvPr/>
        </p:nvSpPr>
        <p:spPr>
          <a:xfrm>
            <a:off x="1574468" y="2840560"/>
            <a:ext cx="970137" cy="584775"/>
          </a:xfrm>
          <a:prstGeom prst="rect">
            <a:avLst/>
          </a:prstGeom>
          <a:noFill/>
        </p:spPr>
        <p:txBody>
          <a:bodyPr wrap="none" rtlCol="0">
            <a:spAutoFit/>
          </a:bodyPr>
          <a:lstStyle/>
          <a:p>
            <a:r>
              <a:rPr kumimoji="1" lang="en-US" altLang="ja-JP" sz="3200" b="1" dirty="0">
                <a:latin typeface="+mj-ea"/>
                <a:ea typeface="+mj-ea"/>
              </a:rPr>
              <a:t>R =</a:t>
            </a:r>
          </a:p>
        </p:txBody>
      </p:sp>
      <p:cxnSp>
        <p:nvCxnSpPr>
          <p:cNvPr id="7" name="直線コネクタ 6">
            <a:extLst>
              <a:ext uri="{FF2B5EF4-FFF2-40B4-BE49-F238E27FC236}">
                <a16:creationId xmlns:a16="http://schemas.microsoft.com/office/drawing/2014/main" id="{770C4FA7-3629-8CB8-8F31-EF8D211C2E66}"/>
              </a:ext>
            </a:extLst>
          </p:cNvPr>
          <p:cNvCxnSpPr>
            <a:cxnSpLocks/>
          </p:cNvCxnSpPr>
          <p:nvPr/>
        </p:nvCxnSpPr>
        <p:spPr>
          <a:xfrm>
            <a:off x="2697376" y="3095417"/>
            <a:ext cx="28593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Rounded Rectangle 25">
            <a:extLst>
              <a:ext uri="{FF2B5EF4-FFF2-40B4-BE49-F238E27FC236}">
                <a16:creationId xmlns:a16="http://schemas.microsoft.com/office/drawing/2014/main" id="{C511A174-F59F-B836-29E4-CB4EB16BE94F}"/>
              </a:ext>
            </a:extLst>
          </p:cNvPr>
          <p:cNvSpPr/>
          <p:nvPr/>
        </p:nvSpPr>
        <p:spPr>
          <a:xfrm>
            <a:off x="1236000" y="5780150"/>
            <a:ext cx="9720000" cy="54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lang="en-US" sz="2400" b="1" dirty="0">
                <a:solidFill>
                  <a:srgbClr val="262626"/>
                </a:solidFill>
                <a:latin typeface="Meiryo"/>
                <a:ea typeface="Meiryo"/>
                <a:cs typeface="Meiryo"/>
              </a:rPr>
              <a:t>AC / DC </a:t>
            </a:r>
            <a:r>
              <a:rPr lang="en-US" sz="2400" b="1" dirty="0" err="1">
                <a:solidFill>
                  <a:srgbClr val="262626"/>
                </a:solidFill>
                <a:latin typeface="Meiryo"/>
                <a:ea typeface="Meiryo"/>
                <a:cs typeface="Meiryo"/>
              </a:rPr>
              <a:t>で動脈血成分にし</a:t>
            </a:r>
            <a:r>
              <a:rPr lang="en-US" sz="2400" b="1" dirty="0">
                <a:solidFill>
                  <a:srgbClr val="262626"/>
                </a:solidFill>
                <a:latin typeface="Meiryo"/>
                <a:ea typeface="Meiryo"/>
                <a:cs typeface="Meiryo"/>
              </a:rPr>
              <a:t>、</a:t>
            </a:r>
            <a:r>
              <a:rPr lang="en" altLang="ja-JP" sz="2400" b="1" dirty="0" err="1">
                <a:solidFill>
                  <a:srgbClr val="D55E00"/>
                </a:solidFill>
                <a:latin typeface="Meiryo"/>
                <a:ea typeface="Meiryo"/>
                <a:cs typeface="Meiryo"/>
              </a:rPr>
              <a:t>O₂Hb</a:t>
            </a:r>
            <a:r>
              <a:rPr lang="ja-JP" altLang="en-US" sz="2400" b="1">
                <a:solidFill>
                  <a:schemeClr val="tx1"/>
                </a:solidFill>
                <a:latin typeface="Meiryo"/>
                <a:ea typeface="Meiryo"/>
                <a:cs typeface="Meiryo"/>
              </a:rPr>
              <a:t>と</a:t>
            </a:r>
            <a:r>
              <a:rPr lang="en-US" altLang="ja-JP" sz="2400" b="1" dirty="0" err="1">
                <a:solidFill>
                  <a:srgbClr val="0072B2"/>
                </a:solidFill>
                <a:latin typeface="Meiryo"/>
                <a:ea typeface="Meiryo"/>
                <a:cs typeface="Meiryo"/>
              </a:rPr>
              <a:t>HHb</a:t>
            </a:r>
            <a:r>
              <a:rPr lang="ja-JP" altLang="en-US" sz="2400" b="1">
                <a:solidFill>
                  <a:schemeClr val="tx1"/>
                </a:solidFill>
                <a:latin typeface="Meiryo"/>
                <a:ea typeface="Meiryo"/>
                <a:cs typeface="Meiryo"/>
              </a:rPr>
              <a:t>の比をとった。</a:t>
            </a:r>
            <a:r>
              <a:rPr lang="en" altLang="ja-JP" sz="2400" b="1" dirty="0">
                <a:solidFill>
                  <a:schemeClr val="tx1"/>
                </a:solidFill>
                <a:latin typeface="Meiryo"/>
                <a:ea typeface="Meiryo"/>
                <a:cs typeface="Meiryo"/>
              </a:rPr>
              <a:t> </a:t>
            </a:r>
            <a:endParaRPr sz="2400" b="1" dirty="0">
              <a:solidFill>
                <a:schemeClr val="tx1"/>
              </a:solidFill>
              <a:latin typeface="Meiryo"/>
              <a:ea typeface="Meiryo"/>
              <a:cs typeface="Meiryo"/>
            </a:endParaRPr>
          </a:p>
        </p:txBody>
      </p:sp>
      <p:pic>
        <p:nvPicPr>
          <p:cNvPr id="19" name="fig_spectra" descr="f_spo2_spectra.png">
            <a:extLst>
              <a:ext uri="{FF2B5EF4-FFF2-40B4-BE49-F238E27FC236}">
                <a16:creationId xmlns:a16="http://schemas.microsoft.com/office/drawing/2014/main" id="{D50D47BC-E9FD-83BB-CE1F-FB92D00C2E43}"/>
              </a:ext>
            </a:extLst>
          </p:cNvPr>
          <p:cNvPicPr>
            <a:picLocks noChangeAspect="1"/>
          </p:cNvPicPr>
          <p:nvPr/>
        </p:nvPicPr>
        <p:blipFill>
          <a:blip r:embed="rId3"/>
          <a:stretch>
            <a:fillRect/>
          </a:stretch>
        </p:blipFill>
        <p:spPr>
          <a:xfrm>
            <a:off x="9438701" y="2985425"/>
            <a:ext cx="1914641" cy="1663823"/>
          </a:xfrm>
          <a:prstGeom prst="rect">
            <a:avLst/>
          </a:prstGeom>
        </p:spPr>
      </p:pic>
      <p:sp>
        <p:nvSpPr>
          <p:cNvPr id="20" name="TextBox 21">
            <a:extLst>
              <a:ext uri="{FF2B5EF4-FFF2-40B4-BE49-F238E27FC236}">
                <a16:creationId xmlns:a16="http://schemas.microsoft.com/office/drawing/2014/main" id="{9216A2DD-A730-87DC-C5D6-104BE726E473}"/>
              </a:ext>
            </a:extLst>
          </p:cNvPr>
          <p:cNvSpPr txBox="1"/>
          <p:nvPr/>
        </p:nvSpPr>
        <p:spPr>
          <a:xfrm>
            <a:off x="9667453" y="2648746"/>
            <a:ext cx="256480" cy="307777"/>
          </a:xfrm>
          <a:prstGeom prst="rect">
            <a:avLst/>
          </a:prstGeom>
          <a:noFill/>
        </p:spPr>
        <p:txBody>
          <a:bodyPr wrap="none" lIns="0" tIns="0" rIns="0" bIns="0" anchor="ctr">
            <a:spAutoFit/>
          </a:bodyPr>
          <a:lstStyle/>
          <a:p>
            <a:pPr algn="ctr"/>
            <a:r>
              <a:rPr lang="ja-JP" altLang="en-US" sz="2000" b="1">
                <a:solidFill>
                  <a:srgbClr val="0072B2"/>
                </a:solidFill>
                <a:latin typeface="Meiryo"/>
                <a:ea typeface="Meiryo"/>
                <a:cs typeface="Meiryo"/>
              </a:rPr>
              <a:t>赤</a:t>
            </a:r>
            <a:endParaRPr lang="en-US" altLang="ja-JP" sz="2000" b="1" dirty="0">
              <a:latin typeface="Meiryo"/>
              <a:ea typeface="Meiryo"/>
              <a:cs typeface="Meiryo"/>
            </a:endParaRPr>
          </a:p>
        </p:txBody>
      </p:sp>
      <p:sp>
        <p:nvSpPr>
          <p:cNvPr id="21" name="TextBox 22">
            <a:extLst>
              <a:ext uri="{FF2B5EF4-FFF2-40B4-BE49-F238E27FC236}">
                <a16:creationId xmlns:a16="http://schemas.microsoft.com/office/drawing/2014/main" id="{5CE9272C-C8B5-E9E0-DC9D-E667F2BEC444}"/>
              </a:ext>
            </a:extLst>
          </p:cNvPr>
          <p:cNvSpPr txBox="1"/>
          <p:nvPr/>
        </p:nvSpPr>
        <p:spPr>
          <a:xfrm>
            <a:off x="10788661" y="2648745"/>
            <a:ext cx="512961" cy="307777"/>
          </a:xfrm>
          <a:prstGeom prst="rect">
            <a:avLst/>
          </a:prstGeom>
          <a:noFill/>
        </p:spPr>
        <p:txBody>
          <a:bodyPr wrap="none" lIns="0" tIns="0" rIns="0" bIns="0" anchor="ctr">
            <a:spAutoFit/>
          </a:bodyPr>
          <a:lstStyle/>
          <a:p>
            <a:pPr algn="ctr">
              <a:spcBef>
                <a:spcPts val="0"/>
              </a:spcBef>
              <a:spcAft>
                <a:spcPts val="0"/>
              </a:spcAft>
            </a:pPr>
            <a:r>
              <a:rPr lang="en-US" sz="2000" b="1" dirty="0" err="1">
                <a:solidFill>
                  <a:srgbClr val="D55E00"/>
                </a:solidFill>
                <a:latin typeface="Meiryo"/>
                <a:ea typeface="Meiryo"/>
                <a:cs typeface="Meiryo"/>
              </a:rPr>
              <a:t>赤外</a:t>
            </a:r>
            <a:endParaRPr sz="2000" b="1" dirty="0">
              <a:solidFill>
                <a:schemeClr val="accent3"/>
              </a:solidFill>
              <a:latin typeface="Meiryo"/>
              <a:ea typeface="Meiryo"/>
              <a:cs typeface="Meiryo"/>
            </a:endParaRPr>
          </a:p>
        </p:txBody>
      </p:sp>
      <p:pic>
        <p:nvPicPr>
          <p:cNvPr id="23" name="fig_signal" descr="f11_signal.png">
            <a:extLst>
              <a:ext uri="{FF2B5EF4-FFF2-40B4-BE49-F238E27FC236}">
                <a16:creationId xmlns:a16="http://schemas.microsoft.com/office/drawing/2014/main" id="{F2E70046-EF7C-3371-CA42-0B47FD71A17E}"/>
              </a:ext>
            </a:extLst>
          </p:cNvPr>
          <p:cNvPicPr>
            <a:picLocks noChangeAspect="1"/>
          </p:cNvPicPr>
          <p:nvPr/>
        </p:nvPicPr>
        <p:blipFill>
          <a:blip r:embed="rId4"/>
          <a:stretch>
            <a:fillRect/>
          </a:stretch>
        </p:blipFill>
        <p:spPr>
          <a:xfrm>
            <a:off x="6885863" y="3021275"/>
            <a:ext cx="2048853" cy="1428287"/>
          </a:xfrm>
          <a:prstGeom prst="rect">
            <a:avLst/>
          </a:prstGeom>
        </p:spPr>
      </p:pic>
      <p:sp>
        <p:nvSpPr>
          <p:cNvPr id="2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 Chan 2013</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12/118</a:t>
            </a:r>
          </a:p>
        </p:txBody>
      </p:sp>
      <p:sp>
        <p:nvSpPr>
          <p:cNvPr id="101" name="Off-page Connector 4">
            <a:extLst>
              <a:ext uri="{FF2B5EF4-FFF2-40B4-BE49-F238E27FC236}">
                <a16:creationId xmlns:a16="http://schemas.microsoft.com/office/drawing/2014/main" id="{AA9D36CE-3772-F005-B54C-9329ADA7F086}"/>
              </a:ext>
            </a:extLst>
          </p:cNvPr>
          <p:cNvSpPr/>
          <p:nvPr/>
        </p:nvSpPr>
        <p:spPr>
          <a:xfrm>
            <a:off x="821448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29730520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392F3-CC16-4BE4-EECB-B075362566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7DD56F-375A-ECA5-EF52-F9B4FFE7834F}"/>
              </a:ext>
            </a:extLst>
          </p:cNvPr>
          <p:cNvSpPr>
            <a:spLocks noGrp="1"/>
          </p:cNvSpPr>
          <p:nvPr>
            <p:ph type="title"/>
          </p:nvPr>
        </p:nvSpPr>
        <p:spPr/>
        <p:txBody>
          <a:bodyPr/>
          <a:lstStyle/>
          <a:p>
            <a:pPr algn="l"/>
            <a:r>
              <a:rPr sz="4600">
                <a:latin typeface="Meiryo"/>
                <a:ea typeface="Meiryo"/>
                <a:cs typeface="Meiryo"/>
              </a:rPr>
              <a:t>1.1  SpO₂の測定原理</a:t>
            </a:r>
            <a:endParaRPr sz="4600" dirty="0">
              <a:latin typeface="Meiryo"/>
              <a:ea typeface="Meiryo"/>
              <a:cs typeface="Meiryo"/>
            </a:endParaRPr>
          </a:p>
        </p:txBody>
      </p:sp>
      <p:sp>
        <p:nvSpPr>
          <p:cNvPr id="26" name="TextBox 25">
            <a:extLst>
              <a:ext uri="{FF2B5EF4-FFF2-40B4-BE49-F238E27FC236}">
                <a16:creationId xmlns:a16="http://schemas.microsoft.com/office/drawing/2014/main" id="{BFF777B3-6953-3586-45E8-2AF7964E9C6F}"/>
              </a:ext>
            </a:extLst>
          </p:cNvPr>
          <p:cNvSpPr txBox="1"/>
          <p:nvPr/>
        </p:nvSpPr>
        <p:spPr>
          <a:xfrm>
            <a:off x="1988403" y="2879984"/>
            <a:ext cx="2859373" cy="984885"/>
          </a:xfrm>
          <a:prstGeom prst="rect">
            <a:avLst/>
          </a:prstGeom>
          <a:noFill/>
        </p:spPr>
        <p:txBody>
          <a:bodyPr wrap="none" lIns="0" tIns="0" rIns="0" bIns="0" anchor="ctr">
            <a:spAutoFit/>
          </a:bodyPr>
          <a:lstStyle/>
          <a:p>
            <a:pPr algn="ctr">
              <a:spcBef>
                <a:spcPts val="0"/>
              </a:spcBef>
              <a:spcAft>
                <a:spcPts val="0"/>
              </a:spcAft>
            </a:pPr>
            <a:r>
              <a:rPr lang="en-US" altLang="ja-JP" sz="3200" b="1" dirty="0">
                <a:solidFill>
                  <a:srgbClr val="0072B2"/>
                </a:solidFill>
                <a:latin typeface="Meiryo"/>
                <a:ea typeface="Meiryo"/>
                <a:cs typeface="Meiryo"/>
              </a:rPr>
              <a:t>(AC/DC)</a:t>
            </a:r>
            <a:r>
              <a:rPr lang="ja-JP" altLang="en-US" sz="3200" b="1">
                <a:solidFill>
                  <a:srgbClr val="0072B2"/>
                </a:solidFill>
                <a:latin typeface="Meiryo"/>
                <a:ea typeface="Meiryo"/>
                <a:cs typeface="Meiryo"/>
              </a:rPr>
              <a:t>赤</a:t>
            </a:r>
            <a:endParaRPr lang="en-US" sz="3200" b="1" dirty="0">
              <a:latin typeface="Meiryo"/>
              <a:ea typeface="Meiryo"/>
              <a:cs typeface="Meiryo"/>
            </a:endParaRPr>
          </a:p>
          <a:p>
            <a:pPr algn="ctr">
              <a:spcBef>
                <a:spcPts val="0"/>
              </a:spcBef>
              <a:spcAft>
                <a:spcPts val="0"/>
              </a:spcAft>
            </a:pPr>
            <a:r>
              <a:rPr lang="en-US" sz="3200" b="1" dirty="0">
                <a:latin typeface="Meiryo"/>
                <a:ea typeface="Meiryo"/>
                <a:cs typeface="Meiryo"/>
              </a:rPr>
              <a:t> </a:t>
            </a:r>
            <a:r>
              <a:rPr lang="en-US" altLang="ja-JP" sz="3200" b="1" dirty="0">
                <a:solidFill>
                  <a:srgbClr val="D55E00"/>
                </a:solidFill>
                <a:latin typeface="Meiryo"/>
                <a:ea typeface="Meiryo"/>
                <a:cs typeface="Meiryo"/>
              </a:rPr>
              <a:t>(AC/DC)</a:t>
            </a:r>
            <a:r>
              <a:rPr lang="ja-JP" altLang="en-US" sz="3200" b="1">
                <a:solidFill>
                  <a:srgbClr val="D55E00"/>
                </a:solidFill>
                <a:latin typeface="Meiryo"/>
                <a:ea typeface="Meiryo"/>
                <a:cs typeface="Meiryo"/>
              </a:rPr>
              <a:t>赤外</a:t>
            </a:r>
            <a:endParaRPr lang="ja-JP" altLang="en-US" sz="3200" b="1" dirty="0">
              <a:latin typeface="Meiryo"/>
              <a:ea typeface="Meiryo"/>
              <a:cs typeface="Meiryo"/>
            </a:endParaRPr>
          </a:p>
        </p:txBody>
      </p:sp>
      <p:sp>
        <p:nvSpPr>
          <p:cNvPr id="4" name="テキスト ボックス 3">
            <a:extLst>
              <a:ext uri="{FF2B5EF4-FFF2-40B4-BE49-F238E27FC236}">
                <a16:creationId xmlns:a16="http://schemas.microsoft.com/office/drawing/2014/main" id="{41027131-7DE3-409A-2020-7854B55610AC}"/>
              </a:ext>
            </a:extLst>
          </p:cNvPr>
          <p:cNvSpPr txBox="1"/>
          <p:nvPr/>
        </p:nvSpPr>
        <p:spPr>
          <a:xfrm>
            <a:off x="583020" y="4238813"/>
            <a:ext cx="4804007" cy="830997"/>
          </a:xfrm>
          <a:prstGeom prst="rect">
            <a:avLst/>
          </a:prstGeom>
          <a:noFill/>
        </p:spPr>
        <p:txBody>
          <a:bodyPr wrap="none" rtlCol="0">
            <a:spAutoFit/>
          </a:bodyPr>
          <a:lstStyle/>
          <a:p>
            <a:pPr algn="ctr"/>
            <a:r>
              <a:rPr kumimoji="1" lang="ja-JP" altLang="en-US" sz="2400" b="1">
                <a:latin typeface="+mn-ea"/>
              </a:rPr>
              <a:t>赤色光赤外光変調比</a:t>
            </a:r>
            <a:endParaRPr kumimoji="1" lang="en-US" altLang="ja-JP" sz="2400" b="1" dirty="0">
              <a:latin typeface="+mn-ea"/>
            </a:endParaRPr>
          </a:p>
          <a:p>
            <a:pPr algn="ctr"/>
            <a:r>
              <a:rPr kumimoji="1" lang="en-US" altLang="ja-JP" sz="2400" b="1" dirty="0">
                <a:latin typeface="+mn-ea"/>
              </a:rPr>
              <a:t>(Red : IR Modulation Ratio)</a:t>
            </a:r>
            <a:r>
              <a:rPr lang="en-US" altLang="ja-JP" sz="2400" b="1" dirty="0">
                <a:latin typeface="+mn-ea"/>
              </a:rPr>
              <a:t> </a:t>
            </a:r>
            <a:endParaRPr kumimoji="1" lang="ja-JP" altLang="en-US" sz="2400" b="1">
              <a:latin typeface="+mn-ea"/>
            </a:endParaRPr>
          </a:p>
        </p:txBody>
      </p:sp>
      <p:sp>
        <p:nvSpPr>
          <p:cNvPr id="5" name="テキスト ボックス 4">
            <a:extLst>
              <a:ext uri="{FF2B5EF4-FFF2-40B4-BE49-F238E27FC236}">
                <a16:creationId xmlns:a16="http://schemas.microsoft.com/office/drawing/2014/main" id="{41AFD698-29F8-4B08-402C-13E77E75C9B3}"/>
              </a:ext>
            </a:extLst>
          </p:cNvPr>
          <p:cNvSpPr txBox="1"/>
          <p:nvPr/>
        </p:nvSpPr>
        <p:spPr>
          <a:xfrm>
            <a:off x="865495" y="3080038"/>
            <a:ext cx="970137" cy="584775"/>
          </a:xfrm>
          <a:prstGeom prst="rect">
            <a:avLst/>
          </a:prstGeom>
          <a:noFill/>
        </p:spPr>
        <p:txBody>
          <a:bodyPr wrap="none" rtlCol="0">
            <a:spAutoFit/>
          </a:bodyPr>
          <a:lstStyle/>
          <a:p>
            <a:r>
              <a:rPr kumimoji="1" lang="en-US" altLang="ja-JP" sz="3200" b="1" dirty="0">
                <a:latin typeface="+mj-ea"/>
                <a:ea typeface="+mj-ea"/>
              </a:rPr>
              <a:t>R =</a:t>
            </a:r>
          </a:p>
        </p:txBody>
      </p:sp>
      <p:cxnSp>
        <p:nvCxnSpPr>
          <p:cNvPr id="7" name="直線コネクタ 6">
            <a:extLst>
              <a:ext uri="{FF2B5EF4-FFF2-40B4-BE49-F238E27FC236}">
                <a16:creationId xmlns:a16="http://schemas.microsoft.com/office/drawing/2014/main" id="{1856A65F-D379-8E71-391C-1CF73EADD557}"/>
              </a:ext>
            </a:extLst>
          </p:cNvPr>
          <p:cNvCxnSpPr>
            <a:cxnSpLocks/>
          </p:cNvCxnSpPr>
          <p:nvPr/>
        </p:nvCxnSpPr>
        <p:spPr>
          <a:xfrm>
            <a:off x="1988403" y="3334895"/>
            <a:ext cx="28593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18">
            <a:extLst>
              <a:ext uri="{FF2B5EF4-FFF2-40B4-BE49-F238E27FC236}">
                <a16:creationId xmlns:a16="http://schemas.microsoft.com/office/drawing/2014/main" id="{9CED8767-6BF3-8EA0-8F87-22C8D4EBEBB5}"/>
              </a:ext>
            </a:extLst>
          </p:cNvPr>
          <p:cNvSpPr txBox="1"/>
          <p:nvPr/>
        </p:nvSpPr>
        <p:spPr>
          <a:xfrm>
            <a:off x="6433489" y="2031071"/>
            <a:ext cx="735779" cy="338554"/>
          </a:xfrm>
          <a:prstGeom prst="rect">
            <a:avLst/>
          </a:prstGeom>
          <a:noFill/>
        </p:spPr>
        <p:txBody>
          <a:bodyPr wrap="none" lIns="0" tIns="0" rIns="0" bIns="0" anchor="ctr">
            <a:spAutoFit/>
          </a:bodyPr>
          <a:lstStyle/>
          <a:p>
            <a:pPr algn="ctr">
              <a:spcBef>
                <a:spcPts val="0"/>
              </a:spcBef>
              <a:spcAft>
                <a:spcPts val="0"/>
              </a:spcAft>
            </a:pPr>
            <a:r>
              <a:rPr sz="2200" b="1" dirty="0" err="1">
                <a:solidFill>
                  <a:schemeClr val="accent3"/>
                </a:solidFill>
                <a:latin typeface="Meiryo"/>
                <a:ea typeface="Meiryo"/>
                <a:cs typeface="Meiryo"/>
              </a:rPr>
              <a:t>S</a:t>
            </a:r>
            <a:r>
              <a:rPr lang="en-US" sz="2200" b="1" dirty="0" err="1">
                <a:solidFill>
                  <a:schemeClr val="accent3"/>
                </a:solidFill>
                <a:latin typeface="Meiryo"/>
                <a:ea typeface="Meiryo"/>
                <a:cs typeface="Meiryo"/>
              </a:rPr>
              <a:t>a</a:t>
            </a:r>
            <a:r>
              <a:rPr sz="2200" b="1" dirty="0" err="1">
                <a:solidFill>
                  <a:schemeClr val="accent3"/>
                </a:solidFill>
                <a:latin typeface="Meiryo"/>
                <a:ea typeface="Meiryo"/>
                <a:cs typeface="Meiryo"/>
              </a:rPr>
              <a:t>O</a:t>
            </a:r>
            <a:r>
              <a:rPr sz="2200" b="1" dirty="0">
                <a:solidFill>
                  <a:schemeClr val="accent3"/>
                </a:solidFill>
                <a:latin typeface="Meiryo"/>
                <a:ea typeface="Meiryo"/>
                <a:cs typeface="Meiryo"/>
              </a:rPr>
              <a:t>₂</a:t>
            </a:r>
          </a:p>
        </p:txBody>
      </p:sp>
      <p:pic>
        <p:nvPicPr>
          <p:cNvPr id="6" name="fig_calib" descr="f_spo2_calib.png">
            <a:extLst>
              <a:ext uri="{FF2B5EF4-FFF2-40B4-BE49-F238E27FC236}">
                <a16:creationId xmlns:a16="http://schemas.microsoft.com/office/drawing/2014/main" id="{2DE2DC97-6121-8AD5-9B06-16D98FA76519}"/>
              </a:ext>
            </a:extLst>
          </p:cNvPr>
          <p:cNvPicPr>
            <a:picLocks noChangeAspect="1"/>
          </p:cNvPicPr>
          <p:nvPr/>
        </p:nvPicPr>
        <p:blipFill>
          <a:blip r:embed="rId3"/>
          <a:stretch>
            <a:fillRect/>
          </a:stretch>
        </p:blipFill>
        <p:spPr>
          <a:xfrm>
            <a:off x="6374203" y="2365258"/>
            <a:ext cx="4078883" cy="3024000"/>
          </a:xfrm>
          <a:prstGeom prst="rect">
            <a:avLst/>
          </a:prstGeom>
        </p:spPr>
      </p:pic>
      <p:sp>
        <p:nvSpPr>
          <p:cNvPr id="9" name="TextBox 18">
            <a:extLst>
              <a:ext uri="{FF2B5EF4-FFF2-40B4-BE49-F238E27FC236}">
                <a16:creationId xmlns:a16="http://schemas.microsoft.com/office/drawing/2014/main" id="{9A2992B8-6BDA-AE8F-09EE-CD3A772CD3B7}"/>
              </a:ext>
            </a:extLst>
          </p:cNvPr>
          <p:cNvSpPr txBox="1"/>
          <p:nvPr/>
        </p:nvSpPr>
        <p:spPr>
          <a:xfrm>
            <a:off x="10840404" y="4931650"/>
            <a:ext cx="211596" cy="338554"/>
          </a:xfrm>
          <a:prstGeom prst="rect">
            <a:avLst/>
          </a:prstGeom>
          <a:noFill/>
        </p:spPr>
        <p:txBody>
          <a:bodyPr wrap="none" lIns="0" tIns="0" rIns="0" bIns="0" anchor="ctr">
            <a:spAutoFit/>
          </a:bodyPr>
          <a:lstStyle/>
          <a:p>
            <a:pPr algn="ctr">
              <a:spcBef>
                <a:spcPts val="0"/>
              </a:spcBef>
              <a:spcAft>
                <a:spcPts val="0"/>
              </a:spcAft>
            </a:pPr>
            <a:r>
              <a:rPr lang="en-US" sz="2200" b="1" dirty="0">
                <a:solidFill>
                  <a:schemeClr val="accent3"/>
                </a:solidFill>
                <a:latin typeface="Meiryo"/>
                <a:ea typeface="Meiryo"/>
                <a:cs typeface="Meiryo"/>
              </a:rPr>
              <a:t>R</a:t>
            </a:r>
            <a:endParaRPr sz="2200" b="1" dirty="0">
              <a:solidFill>
                <a:schemeClr val="accent3"/>
              </a:solidFill>
              <a:latin typeface="Meiryo"/>
              <a:ea typeface="Meiryo"/>
              <a:cs typeface="Meiryo"/>
            </a:endParaRPr>
          </a:p>
        </p:txBody>
      </p:sp>
      <p:sp>
        <p:nvSpPr>
          <p:cNvPr id="19" name="テキスト ボックス 18">
            <a:extLst>
              <a:ext uri="{FF2B5EF4-FFF2-40B4-BE49-F238E27FC236}">
                <a16:creationId xmlns:a16="http://schemas.microsoft.com/office/drawing/2014/main" id="{6AB88125-D6EA-275F-1C3D-C28AC5906615}"/>
              </a:ext>
            </a:extLst>
          </p:cNvPr>
          <p:cNvSpPr txBox="1"/>
          <p:nvPr/>
        </p:nvSpPr>
        <p:spPr>
          <a:xfrm>
            <a:off x="10503049" y="2401662"/>
            <a:ext cx="535724" cy="369332"/>
          </a:xfrm>
          <a:prstGeom prst="rect">
            <a:avLst/>
          </a:prstGeom>
          <a:noFill/>
        </p:spPr>
        <p:txBody>
          <a:bodyPr wrap="none" rtlCol="0">
            <a:spAutoFit/>
          </a:bodyPr>
          <a:lstStyle/>
          <a:p>
            <a:r>
              <a:rPr kumimoji="1" lang="en-US" altLang="ja-JP" b="1" dirty="0">
                <a:solidFill>
                  <a:schemeClr val="accent3"/>
                </a:solidFill>
              </a:rPr>
              <a:t>100</a:t>
            </a:r>
            <a:endParaRPr kumimoji="1" lang="ja-JP" altLang="en-US" b="1">
              <a:solidFill>
                <a:schemeClr val="accent3"/>
              </a:solidFill>
            </a:endParaRPr>
          </a:p>
        </p:txBody>
      </p:sp>
      <p:sp>
        <p:nvSpPr>
          <p:cNvPr id="20" name="テキスト ボックス 19">
            <a:extLst>
              <a:ext uri="{FF2B5EF4-FFF2-40B4-BE49-F238E27FC236}">
                <a16:creationId xmlns:a16="http://schemas.microsoft.com/office/drawing/2014/main" id="{5FABEF62-388E-ED3A-E9E3-5FA514926AF6}"/>
              </a:ext>
            </a:extLst>
          </p:cNvPr>
          <p:cNvSpPr txBox="1"/>
          <p:nvPr/>
        </p:nvSpPr>
        <p:spPr>
          <a:xfrm>
            <a:off x="10566660" y="3118773"/>
            <a:ext cx="418704" cy="369332"/>
          </a:xfrm>
          <a:prstGeom prst="rect">
            <a:avLst/>
          </a:prstGeom>
          <a:noFill/>
        </p:spPr>
        <p:txBody>
          <a:bodyPr wrap="none" rtlCol="0">
            <a:spAutoFit/>
          </a:bodyPr>
          <a:lstStyle/>
          <a:p>
            <a:r>
              <a:rPr kumimoji="1" lang="en-US" altLang="ja-JP" b="1" dirty="0">
                <a:solidFill>
                  <a:schemeClr val="accent3"/>
                </a:solidFill>
              </a:rPr>
              <a:t>70</a:t>
            </a:r>
            <a:endParaRPr kumimoji="1" lang="ja-JP" altLang="en-US" b="1">
              <a:solidFill>
                <a:schemeClr val="accent3"/>
              </a:solidFill>
            </a:endParaRPr>
          </a:p>
        </p:txBody>
      </p:sp>
      <p:sp>
        <p:nvSpPr>
          <p:cNvPr id="21" name="テキスト ボックス 20">
            <a:extLst>
              <a:ext uri="{FF2B5EF4-FFF2-40B4-BE49-F238E27FC236}">
                <a16:creationId xmlns:a16="http://schemas.microsoft.com/office/drawing/2014/main" id="{6D73AF31-3BE1-BE30-7323-513A21BDB122}"/>
              </a:ext>
            </a:extLst>
          </p:cNvPr>
          <p:cNvSpPr txBox="1"/>
          <p:nvPr/>
        </p:nvSpPr>
        <p:spPr>
          <a:xfrm>
            <a:off x="6251540" y="5517944"/>
            <a:ext cx="5262979" cy="369332"/>
          </a:xfrm>
          <a:prstGeom prst="rect">
            <a:avLst/>
          </a:prstGeom>
          <a:noFill/>
        </p:spPr>
        <p:txBody>
          <a:bodyPr wrap="none" rtlCol="0">
            <a:spAutoFit/>
          </a:bodyPr>
          <a:lstStyle/>
          <a:p>
            <a:r>
              <a:rPr kumimoji="1" lang="ja-JP" altLang="en-US" b="1"/>
              <a:t>健常人の低酸素負荷試験</a:t>
            </a:r>
            <a:r>
              <a:rPr lang="ja-JP" altLang="en-US" b="1"/>
              <a:t>により得られた</a:t>
            </a:r>
            <a:r>
              <a:rPr kumimoji="1" lang="ja-JP" altLang="en-US" b="1"/>
              <a:t>テーブル</a:t>
            </a:r>
          </a:p>
        </p:txBody>
      </p:sp>
      <p:sp>
        <p:nvSpPr>
          <p:cNvPr id="2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 Aoyagi 2003　／　3. Chan 2013</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13/118</a:t>
            </a:r>
          </a:p>
        </p:txBody>
      </p:sp>
      <p:cxnSp>
        <p:nvCxnSpPr>
          <p:cNvPr id="10" name="直線矢印コネクタ 9">
            <a:extLst>
              <a:ext uri="{FF2B5EF4-FFF2-40B4-BE49-F238E27FC236}">
                <a16:creationId xmlns:a16="http://schemas.microsoft.com/office/drawing/2014/main" id="{0431D18D-1EE8-6C1C-EB9B-3209F773D438}"/>
              </a:ext>
            </a:extLst>
          </p:cNvPr>
          <p:cNvCxnSpPr/>
          <p:nvPr/>
        </p:nvCxnSpPr>
        <p:spPr>
          <a:xfrm>
            <a:off x="6781800" y="2984500"/>
            <a:ext cx="711200" cy="0"/>
          </a:xfrm>
          <a:prstGeom prst="straightConnector1">
            <a:avLst/>
          </a:prstGeom>
          <a:ln w="69850">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線矢印コネクタ 22">
            <a:extLst>
              <a:ext uri="{FF2B5EF4-FFF2-40B4-BE49-F238E27FC236}">
                <a16:creationId xmlns:a16="http://schemas.microsoft.com/office/drawing/2014/main" id="{EB46946A-EF5C-D67A-FB74-5F2259F1C80E}"/>
              </a:ext>
            </a:extLst>
          </p:cNvPr>
          <p:cNvCxnSpPr>
            <a:cxnSpLocks/>
          </p:cNvCxnSpPr>
          <p:nvPr/>
        </p:nvCxnSpPr>
        <p:spPr>
          <a:xfrm flipV="1">
            <a:off x="7581900" y="2984500"/>
            <a:ext cx="0" cy="2082800"/>
          </a:xfrm>
          <a:prstGeom prst="straightConnector1">
            <a:avLst/>
          </a:prstGeom>
          <a:ln w="69850">
            <a:solidFill>
              <a:schemeClr val="accent6">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1" name="Off-page Connector 4">
            <a:extLst>
              <a:ext uri="{FF2B5EF4-FFF2-40B4-BE49-F238E27FC236}">
                <a16:creationId xmlns:a16="http://schemas.microsoft.com/office/drawing/2014/main" id="{AA9D36CE-3772-F005-B54C-9329ADA7F086}"/>
              </a:ext>
            </a:extLst>
          </p:cNvPr>
          <p:cNvSpPr/>
          <p:nvPr/>
        </p:nvSpPr>
        <p:spPr>
          <a:xfrm>
            <a:off x="821448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42075163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A900EA-8DE8-CEA6-793D-3C9AAF6472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5E946C-592F-FEA9-5FAD-AF8D3DA91708}"/>
              </a:ext>
            </a:extLst>
          </p:cNvPr>
          <p:cNvSpPr>
            <a:spLocks noGrp="1"/>
          </p:cNvSpPr>
          <p:nvPr>
            <p:ph type="title"/>
          </p:nvPr>
        </p:nvSpPr>
        <p:spPr/>
        <p:txBody>
          <a:bodyPr/>
          <a:lstStyle/>
          <a:p>
            <a:pPr algn="l"/>
            <a:r>
              <a:rPr sz="4600">
                <a:latin typeface="Meiryo"/>
                <a:ea typeface="Meiryo"/>
                <a:cs typeface="Meiryo"/>
              </a:rPr>
              <a:t>1.1  SpO₂の測定原理</a:t>
            </a:r>
            <a:endParaRPr sz="4600" dirty="0">
              <a:latin typeface="Meiryo"/>
              <a:ea typeface="Meiryo"/>
              <a:cs typeface="Meiryo"/>
            </a:endParaRPr>
          </a:p>
        </p:txBody>
      </p:sp>
      <p:sp>
        <p:nvSpPr>
          <p:cNvPr id="26" name="TextBox 25">
            <a:extLst>
              <a:ext uri="{FF2B5EF4-FFF2-40B4-BE49-F238E27FC236}">
                <a16:creationId xmlns:a16="http://schemas.microsoft.com/office/drawing/2014/main" id="{9434E1E4-3859-A30E-A9C6-F65269BC5CFB}"/>
              </a:ext>
            </a:extLst>
          </p:cNvPr>
          <p:cNvSpPr txBox="1"/>
          <p:nvPr/>
        </p:nvSpPr>
        <p:spPr>
          <a:xfrm>
            <a:off x="1988403" y="2879984"/>
            <a:ext cx="2859373" cy="984885"/>
          </a:xfrm>
          <a:prstGeom prst="rect">
            <a:avLst/>
          </a:prstGeom>
          <a:noFill/>
        </p:spPr>
        <p:txBody>
          <a:bodyPr wrap="none" lIns="0" tIns="0" rIns="0" bIns="0" anchor="ctr">
            <a:spAutoFit/>
          </a:bodyPr>
          <a:lstStyle/>
          <a:p>
            <a:pPr algn="ctr">
              <a:spcBef>
                <a:spcPts val="0"/>
              </a:spcBef>
              <a:spcAft>
                <a:spcPts val="0"/>
              </a:spcAft>
            </a:pPr>
            <a:r>
              <a:rPr lang="en-US" altLang="ja-JP" sz="3200" b="1" dirty="0">
                <a:solidFill>
                  <a:srgbClr val="0072B2"/>
                </a:solidFill>
                <a:latin typeface="Meiryo"/>
                <a:ea typeface="Meiryo"/>
                <a:cs typeface="Meiryo"/>
              </a:rPr>
              <a:t>(AC/DC)</a:t>
            </a:r>
            <a:r>
              <a:rPr lang="ja-JP" altLang="en-US" sz="3200" b="1">
                <a:solidFill>
                  <a:srgbClr val="0072B2"/>
                </a:solidFill>
                <a:latin typeface="Meiryo"/>
                <a:ea typeface="Meiryo"/>
                <a:cs typeface="Meiryo"/>
              </a:rPr>
              <a:t>赤</a:t>
            </a:r>
            <a:endParaRPr lang="en-US" sz="3200" b="1" dirty="0">
              <a:latin typeface="Meiryo"/>
              <a:ea typeface="Meiryo"/>
              <a:cs typeface="Meiryo"/>
            </a:endParaRPr>
          </a:p>
          <a:p>
            <a:pPr algn="ctr">
              <a:spcBef>
                <a:spcPts val="0"/>
              </a:spcBef>
              <a:spcAft>
                <a:spcPts val="0"/>
              </a:spcAft>
            </a:pPr>
            <a:r>
              <a:rPr lang="en-US" sz="3200" b="1" dirty="0">
                <a:latin typeface="Meiryo"/>
                <a:ea typeface="Meiryo"/>
                <a:cs typeface="Meiryo"/>
              </a:rPr>
              <a:t> </a:t>
            </a:r>
            <a:r>
              <a:rPr lang="en-US" altLang="ja-JP" sz="3200" b="1" dirty="0">
                <a:solidFill>
                  <a:srgbClr val="D55E00"/>
                </a:solidFill>
                <a:latin typeface="Meiryo"/>
                <a:ea typeface="Meiryo"/>
                <a:cs typeface="Meiryo"/>
              </a:rPr>
              <a:t>(AC/DC)</a:t>
            </a:r>
            <a:r>
              <a:rPr lang="ja-JP" altLang="en-US" sz="3200" b="1">
                <a:solidFill>
                  <a:srgbClr val="D55E00"/>
                </a:solidFill>
                <a:latin typeface="Meiryo"/>
                <a:ea typeface="Meiryo"/>
                <a:cs typeface="Meiryo"/>
              </a:rPr>
              <a:t>赤外</a:t>
            </a:r>
            <a:endParaRPr lang="ja-JP" altLang="en-US" sz="3200" b="1" dirty="0">
              <a:latin typeface="Meiryo"/>
              <a:ea typeface="Meiryo"/>
              <a:cs typeface="Meiryo"/>
            </a:endParaRPr>
          </a:p>
        </p:txBody>
      </p:sp>
      <p:sp>
        <p:nvSpPr>
          <p:cNvPr id="5" name="テキスト ボックス 4">
            <a:extLst>
              <a:ext uri="{FF2B5EF4-FFF2-40B4-BE49-F238E27FC236}">
                <a16:creationId xmlns:a16="http://schemas.microsoft.com/office/drawing/2014/main" id="{B24F7411-D60A-13ED-524F-98E4A86747B7}"/>
              </a:ext>
            </a:extLst>
          </p:cNvPr>
          <p:cNvSpPr txBox="1"/>
          <p:nvPr/>
        </p:nvSpPr>
        <p:spPr>
          <a:xfrm>
            <a:off x="865495" y="3080038"/>
            <a:ext cx="970137" cy="584775"/>
          </a:xfrm>
          <a:prstGeom prst="rect">
            <a:avLst/>
          </a:prstGeom>
          <a:noFill/>
        </p:spPr>
        <p:txBody>
          <a:bodyPr wrap="none" rtlCol="0">
            <a:spAutoFit/>
          </a:bodyPr>
          <a:lstStyle/>
          <a:p>
            <a:r>
              <a:rPr kumimoji="1" lang="en-US" altLang="ja-JP" sz="3200" b="1" dirty="0">
                <a:latin typeface="+mj-ea"/>
                <a:ea typeface="+mj-ea"/>
              </a:rPr>
              <a:t>R =</a:t>
            </a:r>
          </a:p>
        </p:txBody>
      </p:sp>
      <p:cxnSp>
        <p:nvCxnSpPr>
          <p:cNvPr id="7" name="直線コネクタ 6">
            <a:extLst>
              <a:ext uri="{FF2B5EF4-FFF2-40B4-BE49-F238E27FC236}">
                <a16:creationId xmlns:a16="http://schemas.microsoft.com/office/drawing/2014/main" id="{B135F6BD-B69B-126C-17D8-0DDE0E155EF6}"/>
              </a:ext>
            </a:extLst>
          </p:cNvPr>
          <p:cNvCxnSpPr>
            <a:cxnSpLocks/>
          </p:cNvCxnSpPr>
          <p:nvPr/>
        </p:nvCxnSpPr>
        <p:spPr>
          <a:xfrm>
            <a:off x="1988403" y="3334895"/>
            <a:ext cx="28593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06C4E28E-D78C-AB11-11A9-C187756FF4E2}"/>
              </a:ext>
            </a:extLst>
          </p:cNvPr>
          <p:cNvSpPr txBox="1"/>
          <p:nvPr/>
        </p:nvSpPr>
        <p:spPr>
          <a:xfrm>
            <a:off x="1988403" y="4306474"/>
            <a:ext cx="2089034" cy="1569660"/>
          </a:xfrm>
          <a:prstGeom prst="rect">
            <a:avLst/>
          </a:prstGeom>
          <a:noFill/>
        </p:spPr>
        <p:txBody>
          <a:bodyPr wrap="none" rtlCol="0">
            <a:spAutoFit/>
          </a:bodyPr>
          <a:lstStyle/>
          <a:p>
            <a:pPr algn="ctr"/>
            <a:r>
              <a:rPr kumimoji="1" lang="ja-JP" altLang="en-US" sz="3200" b="1">
                <a:latin typeface="+mj-ea"/>
                <a:ea typeface="+mj-ea"/>
              </a:rPr>
              <a:t>↓</a:t>
            </a:r>
            <a:endParaRPr kumimoji="1" lang="en-US" altLang="ja-JP" sz="3200" b="1" dirty="0">
              <a:latin typeface="+mj-ea"/>
              <a:ea typeface="+mj-ea"/>
            </a:endParaRPr>
          </a:p>
          <a:p>
            <a:pPr algn="ctr"/>
            <a:endParaRPr kumimoji="1" lang="en-US" altLang="ja-JP" sz="3200" b="1" dirty="0">
              <a:latin typeface="+mj-ea"/>
              <a:ea typeface="+mj-ea"/>
            </a:endParaRPr>
          </a:p>
          <a:p>
            <a:pPr algn="ctr"/>
            <a:r>
              <a:rPr lang="en-US" altLang="ja-JP" sz="3200" b="1" dirty="0">
                <a:latin typeface="+mj-ea"/>
                <a:ea typeface="+mj-ea"/>
              </a:rPr>
              <a:t>SpO₂</a:t>
            </a:r>
            <a:r>
              <a:rPr lang="ja-JP" altLang="en-US" sz="3200" b="1">
                <a:latin typeface="+mj-ea"/>
                <a:ea typeface="+mj-ea"/>
              </a:rPr>
              <a:t>決定</a:t>
            </a:r>
            <a:endParaRPr kumimoji="1" lang="ja-JP" altLang="en-US" sz="3200" b="1">
              <a:latin typeface="+mj-ea"/>
              <a:ea typeface="+mj-ea"/>
            </a:endParaRPr>
          </a:p>
        </p:txBody>
      </p:sp>
      <p:pic>
        <p:nvPicPr>
          <p:cNvPr id="22" name="fig_calib" descr="f_spo2_calib.png">
            <a:extLst>
              <a:ext uri="{FF2B5EF4-FFF2-40B4-BE49-F238E27FC236}">
                <a16:creationId xmlns:a16="http://schemas.microsoft.com/office/drawing/2014/main" id="{535361BC-26D6-8B05-A4D1-81B3819BF9BD}"/>
              </a:ext>
            </a:extLst>
          </p:cNvPr>
          <p:cNvPicPr>
            <a:picLocks noChangeAspect="1"/>
          </p:cNvPicPr>
          <p:nvPr/>
        </p:nvPicPr>
        <p:blipFill>
          <a:blip r:embed="rId3"/>
          <a:stretch>
            <a:fillRect/>
          </a:stretch>
        </p:blipFill>
        <p:spPr>
          <a:xfrm>
            <a:off x="6374203" y="2365258"/>
            <a:ext cx="4078883" cy="3024000"/>
          </a:xfrm>
          <a:prstGeom prst="rect">
            <a:avLst/>
          </a:prstGeom>
        </p:spPr>
      </p:pic>
      <p:sp>
        <p:nvSpPr>
          <p:cNvPr id="23" name="TextBox 18">
            <a:extLst>
              <a:ext uri="{FF2B5EF4-FFF2-40B4-BE49-F238E27FC236}">
                <a16:creationId xmlns:a16="http://schemas.microsoft.com/office/drawing/2014/main" id="{6560D9B5-125B-6596-5521-4DA1EAACA04F}"/>
              </a:ext>
            </a:extLst>
          </p:cNvPr>
          <p:cNvSpPr txBox="1"/>
          <p:nvPr/>
        </p:nvSpPr>
        <p:spPr>
          <a:xfrm>
            <a:off x="10840404" y="4931650"/>
            <a:ext cx="211596" cy="338554"/>
          </a:xfrm>
          <a:prstGeom prst="rect">
            <a:avLst/>
          </a:prstGeom>
          <a:noFill/>
        </p:spPr>
        <p:txBody>
          <a:bodyPr wrap="none" lIns="0" tIns="0" rIns="0" bIns="0" anchor="ctr">
            <a:spAutoFit/>
          </a:bodyPr>
          <a:lstStyle/>
          <a:p>
            <a:pPr algn="ctr">
              <a:spcBef>
                <a:spcPts val="0"/>
              </a:spcBef>
              <a:spcAft>
                <a:spcPts val="0"/>
              </a:spcAft>
            </a:pPr>
            <a:r>
              <a:rPr lang="en-US" sz="2200" b="1" dirty="0">
                <a:solidFill>
                  <a:schemeClr val="accent3"/>
                </a:solidFill>
                <a:latin typeface="Meiryo"/>
                <a:ea typeface="Meiryo"/>
                <a:cs typeface="Meiryo"/>
              </a:rPr>
              <a:t>R</a:t>
            </a:r>
            <a:endParaRPr sz="2200" b="1" dirty="0">
              <a:solidFill>
                <a:schemeClr val="accent3"/>
              </a:solidFill>
              <a:latin typeface="Meiryo"/>
              <a:ea typeface="Meiryo"/>
              <a:cs typeface="Meiryo"/>
            </a:endParaRPr>
          </a:p>
        </p:txBody>
      </p:sp>
      <p:sp>
        <p:nvSpPr>
          <p:cNvPr id="24" name="テキスト ボックス 23">
            <a:extLst>
              <a:ext uri="{FF2B5EF4-FFF2-40B4-BE49-F238E27FC236}">
                <a16:creationId xmlns:a16="http://schemas.microsoft.com/office/drawing/2014/main" id="{661D48D2-3AAF-417B-F177-E5E0167778AF}"/>
              </a:ext>
            </a:extLst>
          </p:cNvPr>
          <p:cNvSpPr txBox="1"/>
          <p:nvPr/>
        </p:nvSpPr>
        <p:spPr>
          <a:xfrm>
            <a:off x="10503049" y="2401662"/>
            <a:ext cx="535724" cy="369332"/>
          </a:xfrm>
          <a:prstGeom prst="rect">
            <a:avLst/>
          </a:prstGeom>
          <a:noFill/>
        </p:spPr>
        <p:txBody>
          <a:bodyPr wrap="none" rtlCol="0">
            <a:spAutoFit/>
          </a:bodyPr>
          <a:lstStyle/>
          <a:p>
            <a:r>
              <a:rPr kumimoji="1" lang="en-US" altLang="ja-JP" b="1" dirty="0">
                <a:solidFill>
                  <a:schemeClr val="accent3"/>
                </a:solidFill>
              </a:rPr>
              <a:t>100</a:t>
            </a:r>
            <a:endParaRPr kumimoji="1" lang="ja-JP" altLang="en-US" b="1">
              <a:solidFill>
                <a:schemeClr val="accent3"/>
              </a:solidFill>
            </a:endParaRPr>
          </a:p>
        </p:txBody>
      </p:sp>
      <p:sp>
        <p:nvSpPr>
          <p:cNvPr id="25" name="テキスト ボックス 24">
            <a:extLst>
              <a:ext uri="{FF2B5EF4-FFF2-40B4-BE49-F238E27FC236}">
                <a16:creationId xmlns:a16="http://schemas.microsoft.com/office/drawing/2014/main" id="{95A85D45-3CD3-3571-7513-305F82F23954}"/>
              </a:ext>
            </a:extLst>
          </p:cNvPr>
          <p:cNvSpPr txBox="1"/>
          <p:nvPr/>
        </p:nvSpPr>
        <p:spPr>
          <a:xfrm>
            <a:off x="10566660" y="3118773"/>
            <a:ext cx="418704" cy="369332"/>
          </a:xfrm>
          <a:prstGeom prst="rect">
            <a:avLst/>
          </a:prstGeom>
          <a:noFill/>
        </p:spPr>
        <p:txBody>
          <a:bodyPr wrap="none" rtlCol="0">
            <a:spAutoFit/>
          </a:bodyPr>
          <a:lstStyle/>
          <a:p>
            <a:r>
              <a:rPr kumimoji="1" lang="en-US" altLang="ja-JP" b="1" dirty="0">
                <a:solidFill>
                  <a:schemeClr val="accent3"/>
                </a:solidFill>
              </a:rPr>
              <a:t>70</a:t>
            </a:r>
            <a:endParaRPr kumimoji="1" lang="ja-JP" altLang="en-US" b="1">
              <a:solidFill>
                <a:schemeClr val="accent3"/>
              </a:solidFill>
            </a:endParaRPr>
          </a:p>
        </p:txBody>
      </p:sp>
      <p:sp>
        <p:nvSpPr>
          <p:cNvPr id="27" name="テキスト ボックス 26">
            <a:extLst>
              <a:ext uri="{FF2B5EF4-FFF2-40B4-BE49-F238E27FC236}">
                <a16:creationId xmlns:a16="http://schemas.microsoft.com/office/drawing/2014/main" id="{7F038007-00B8-3212-FD5D-8E93B283E290}"/>
              </a:ext>
            </a:extLst>
          </p:cNvPr>
          <p:cNvSpPr txBox="1"/>
          <p:nvPr/>
        </p:nvSpPr>
        <p:spPr>
          <a:xfrm>
            <a:off x="6251540" y="5517944"/>
            <a:ext cx="5262979" cy="369332"/>
          </a:xfrm>
          <a:prstGeom prst="rect">
            <a:avLst/>
          </a:prstGeom>
          <a:noFill/>
        </p:spPr>
        <p:txBody>
          <a:bodyPr wrap="none" rtlCol="0">
            <a:spAutoFit/>
          </a:bodyPr>
          <a:lstStyle/>
          <a:p>
            <a:r>
              <a:rPr kumimoji="1" lang="ja-JP" altLang="en-US" b="1"/>
              <a:t>健常人の低酸素負荷試験</a:t>
            </a:r>
            <a:r>
              <a:rPr lang="ja-JP" altLang="en-US" b="1"/>
              <a:t>により得られた</a:t>
            </a:r>
            <a:r>
              <a:rPr kumimoji="1" lang="ja-JP" altLang="en-US" b="1"/>
              <a:t>テーブル</a:t>
            </a:r>
          </a:p>
        </p:txBody>
      </p:sp>
      <p:sp>
        <p:nvSpPr>
          <p:cNvPr id="28"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 Aoyagi 2003　／　3. Chan 2013</a:t>
            </a:r>
          </a:p>
        </p:txBody>
      </p:sp>
      <p:sp>
        <p:nvSpPr>
          <p:cNvPr id="2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14/118</a:t>
            </a:r>
          </a:p>
        </p:txBody>
      </p:sp>
      <p:cxnSp>
        <p:nvCxnSpPr>
          <p:cNvPr id="9" name="直線矢印コネクタ 8">
            <a:extLst>
              <a:ext uri="{FF2B5EF4-FFF2-40B4-BE49-F238E27FC236}">
                <a16:creationId xmlns:a16="http://schemas.microsoft.com/office/drawing/2014/main" id="{062F6FC7-4750-33BE-9BE8-1117670723F3}"/>
              </a:ext>
            </a:extLst>
          </p:cNvPr>
          <p:cNvCxnSpPr>
            <a:cxnSpLocks/>
          </p:cNvCxnSpPr>
          <p:nvPr/>
        </p:nvCxnSpPr>
        <p:spPr>
          <a:xfrm flipV="1">
            <a:off x="7581900" y="2984500"/>
            <a:ext cx="0" cy="2082800"/>
          </a:xfrm>
          <a:prstGeom prst="straightConnector1">
            <a:avLst/>
          </a:prstGeom>
          <a:ln w="69850">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線矢印コネクタ 11">
            <a:extLst>
              <a:ext uri="{FF2B5EF4-FFF2-40B4-BE49-F238E27FC236}">
                <a16:creationId xmlns:a16="http://schemas.microsoft.com/office/drawing/2014/main" id="{D0907120-D4AA-22D8-B7E0-760ABBAE0B2A}"/>
              </a:ext>
            </a:extLst>
          </p:cNvPr>
          <p:cNvCxnSpPr>
            <a:cxnSpLocks/>
          </p:cNvCxnSpPr>
          <p:nvPr/>
        </p:nvCxnSpPr>
        <p:spPr>
          <a:xfrm flipH="1">
            <a:off x="6769218" y="2953613"/>
            <a:ext cx="812682" cy="0"/>
          </a:xfrm>
          <a:prstGeom prst="straightConnector1">
            <a:avLst/>
          </a:prstGeom>
          <a:ln w="69850">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0" name="テキスト ボックス 29">
            <a:extLst>
              <a:ext uri="{FF2B5EF4-FFF2-40B4-BE49-F238E27FC236}">
                <a16:creationId xmlns:a16="http://schemas.microsoft.com/office/drawing/2014/main" id="{8CD733AF-B3AA-CA95-2C57-1BFFE03644AE}"/>
              </a:ext>
            </a:extLst>
          </p:cNvPr>
          <p:cNvSpPr txBox="1"/>
          <p:nvPr/>
        </p:nvSpPr>
        <p:spPr>
          <a:xfrm>
            <a:off x="5704540" y="2783137"/>
            <a:ext cx="979755" cy="430887"/>
          </a:xfrm>
          <a:prstGeom prst="rect">
            <a:avLst/>
          </a:prstGeom>
          <a:noFill/>
        </p:spPr>
        <p:txBody>
          <a:bodyPr wrap="none" rtlCol="0">
            <a:spAutoFit/>
          </a:bodyPr>
          <a:lstStyle/>
          <a:p>
            <a:r>
              <a:rPr kumimoji="1" lang="en-US" altLang="ja-JP" sz="2200" b="1" dirty="0">
                <a:latin typeface="+mn-ea"/>
              </a:rPr>
              <a:t>SpO2</a:t>
            </a:r>
            <a:endParaRPr kumimoji="1" lang="ja-JP" altLang="en-US" sz="2200" b="1">
              <a:latin typeface="+mn-ea"/>
            </a:endParaRPr>
          </a:p>
        </p:txBody>
      </p:sp>
      <p:sp>
        <p:nvSpPr>
          <p:cNvPr id="101" name="Off-page Connector 4">
            <a:extLst>
              <a:ext uri="{FF2B5EF4-FFF2-40B4-BE49-F238E27FC236}">
                <a16:creationId xmlns:a16="http://schemas.microsoft.com/office/drawing/2014/main" id="{AA9D36CE-3772-F005-B54C-9329ADA7F086}"/>
              </a:ext>
            </a:extLst>
          </p:cNvPr>
          <p:cNvSpPr/>
          <p:nvPr/>
        </p:nvSpPr>
        <p:spPr>
          <a:xfrm>
            <a:off x="821448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11755984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6" name="Rounded Rectangle 25"/>
          <p:cNvSpPr/>
          <p:nvPr/>
        </p:nvSpPr>
        <p:spPr>
          <a:xfrm>
            <a:off x="540000" y="1872000"/>
            <a:ext cx="2520000" cy="936000"/>
          </a:xfrm>
          <a:prstGeom prst="roundRect">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79200" tIns="21600" rIns="79200" bIns="21600" rtlCol="0" anchor="ctr"/>
          <a:lstStyle/>
          <a:p>
            <a:pPr algn="ctr">
              <a:spcAft>
                <a:spcPts val="400"/>
              </a:spcAft>
            </a:pPr>
            <a:r>
              <a:rPr sz="2400" b="1">
                <a:solidFill>
                  <a:srgbClr val="FFFFFF"/>
                </a:solidFill>
                <a:latin typeface="Meiryo"/>
                <a:ea typeface="Meiryo"/>
                <a:cs typeface="Meiryo"/>
              </a:rPr>
              <a:t>DC の中身</a:t>
            </a:r>
          </a:p>
        </p:txBody>
      </p:sp>
      <p:sp>
        <p:nvSpPr>
          <p:cNvPr id="27" name="TextBox 26"/>
          <p:cNvSpPr txBox="1"/>
          <p:nvPr/>
        </p:nvSpPr>
        <p:spPr>
          <a:xfrm>
            <a:off x="3311999" y="1926000"/>
            <a:ext cx="8280000" cy="827999"/>
          </a:xfrm>
          <a:prstGeom prst="rect">
            <a:avLst/>
          </a:prstGeom>
          <a:noFill/>
        </p:spPr>
        <p:txBody>
          <a:bodyPr wrap="square" lIns="21600" tIns="7200" rIns="21600" bIns="7200" anchor="ctr">
            <a:spAutoFit/>
          </a:bodyPr>
          <a:lstStyle/>
          <a:p>
            <a:pPr algn="l">
              <a:spcAft>
                <a:spcPts val="400"/>
              </a:spcAft>
            </a:pPr>
            <a:r>
              <a:rPr sz="2400" b="1">
                <a:solidFill>
                  <a:srgbClr val="262626"/>
                </a:solidFill>
                <a:latin typeface="Meiryo"/>
                <a:ea typeface="Meiryo"/>
                <a:cs typeface="Meiryo"/>
              </a:rPr>
              <a:t>DC ＝ 静脈血 ＋ 組織 ＋ 拡張期の動脈血</a:t>
            </a:r>
          </a:p>
          <a:p>
            <a:pPr algn="l">
              <a:spcAft>
                <a:spcPts val="400"/>
              </a:spcAft>
            </a:pPr>
            <a:r>
              <a:rPr sz="2400" b="1">
                <a:solidFill>
                  <a:srgbClr val="262626"/>
                </a:solidFill>
                <a:latin typeface="Meiryo"/>
                <a:ea typeface="Meiryo"/>
                <a:cs typeface="Meiryo"/>
              </a:rPr>
              <a:t>「動脈成分を除いた値」ではない。</a:t>
            </a:r>
          </a:p>
        </p:txBody>
      </p:sp>
      <p:sp>
        <p:nvSpPr>
          <p:cNvPr id="28" name="Rounded Rectangle 27"/>
          <p:cNvSpPr/>
          <p:nvPr/>
        </p:nvSpPr>
        <p:spPr>
          <a:xfrm>
            <a:off x="540000" y="2951999"/>
            <a:ext cx="2520000" cy="936000"/>
          </a:xfrm>
          <a:prstGeom prst="roundRect">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79200" tIns="21600" rIns="79200" bIns="21600" rtlCol="0" anchor="ctr"/>
          <a:lstStyle/>
          <a:p>
            <a:pPr algn="ctr">
              <a:spcAft>
                <a:spcPts val="400"/>
              </a:spcAft>
            </a:pPr>
            <a:r>
              <a:rPr sz="2400" b="1">
                <a:solidFill>
                  <a:srgbClr val="FFFFFF"/>
                </a:solidFill>
                <a:latin typeface="Meiryo"/>
                <a:ea typeface="Meiryo"/>
                <a:cs typeface="Meiryo"/>
              </a:rPr>
              <a:t>理論では</a:t>
            </a:r>
          </a:p>
        </p:txBody>
      </p:sp>
      <p:sp>
        <p:nvSpPr>
          <p:cNvPr id="29" name="TextBox 28"/>
          <p:cNvSpPr txBox="1"/>
          <p:nvPr/>
        </p:nvSpPr>
        <p:spPr>
          <a:xfrm>
            <a:off x="3311999" y="3006000"/>
            <a:ext cx="8280000" cy="827999"/>
          </a:xfrm>
          <a:prstGeom prst="rect">
            <a:avLst/>
          </a:prstGeom>
          <a:noFill/>
        </p:spPr>
        <p:txBody>
          <a:bodyPr wrap="square" lIns="21600" tIns="7200" rIns="21600" bIns="7200" anchor="ctr">
            <a:spAutoFit/>
          </a:bodyPr>
          <a:lstStyle/>
          <a:p>
            <a:pPr algn="l">
              <a:spcAft>
                <a:spcPts val="400"/>
              </a:spcAft>
            </a:pPr>
            <a:r>
              <a:rPr sz="2400" b="1">
                <a:solidFill>
                  <a:srgbClr val="262626"/>
                </a:solidFill>
                <a:latin typeface="Meiryo"/>
                <a:ea typeface="Meiryo"/>
                <a:cs typeface="Meiryo"/>
              </a:rPr>
              <a:t>R と SaO₂ の関係を決めるのは</a:t>
            </a:r>
          </a:p>
          <a:p>
            <a:pPr algn="l">
              <a:spcAft>
                <a:spcPts val="400"/>
              </a:spcAft>
            </a:pPr>
            <a:r>
              <a:rPr sz="2400" b="1">
                <a:solidFill>
                  <a:srgbClr val="262626"/>
                </a:solidFill>
                <a:latin typeface="Meiryo"/>
                <a:ea typeface="Meiryo"/>
                <a:cs typeface="Meiryo"/>
              </a:rPr>
              <a:t>拍動で膨らむ区画の 実効光路長。</a:t>
            </a:r>
          </a:p>
        </p:txBody>
      </p:sp>
      <p:sp>
        <p:nvSpPr>
          <p:cNvPr id="30" name="Rounded Rectangle 29"/>
          <p:cNvSpPr/>
          <p:nvPr/>
        </p:nvSpPr>
        <p:spPr>
          <a:xfrm>
            <a:off x="540000" y="4031999"/>
            <a:ext cx="2520000" cy="936000"/>
          </a:xfrm>
          <a:prstGeom prst="roundRect">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79200" tIns="21600" rIns="79200" bIns="21600" rtlCol="0" anchor="ctr"/>
          <a:lstStyle/>
          <a:p>
            <a:pPr algn="ctr">
              <a:spcAft>
                <a:spcPts val="400"/>
              </a:spcAft>
            </a:pPr>
            <a:r>
              <a:rPr sz="2400" b="1">
                <a:solidFill>
                  <a:srgbClr val="FFFFFF"/>
                </a:solidFill>
                <a:latin typeface="Meiryo"/>
                <a:ea typeface="Meiryo"/>
                <a:cs typeface="Meiryo"/>
              </a:rPr>
              <a:t>実務では</a:t>
            </a:r>
          </a:p>
        </p:txBody>
      </p:sp>
      <p:sp>
        <p:nvSpPr>
          <p:cNvPr id="31" name="TextBox 30"/>
          <p:cNvSpPr txBox="1"/>
          <p:nvPr/>
        </p:nvSpPr>
        <p:spPr>
          <a:xfrm>
            <a:off x="3311999" y="4086000"/>
            <a:ext cx="8280000" cy="827999"/>
          </a:xfrm>
          <a:prstGeom prst="rect">
            <a:avLst/>
          </a:prstGeom>
          <a:noFill/>
        </p:spPr>
        <p:txBody>
          <a:bodyPr wrap="square" lIns="21600" tIns="7200" rIns="21600" bIns="7200" anchor="ctr">
            <a:spAutoFit/>
          </a:bodyPr>
          <a:lstStyle/>
          <a:p>
            <a:pPr algn="l">
              <a:spcAft>
                <a:spcPts val="400"/>
              </a:spcAft>
            </a:pPr>
            <a:r>
              <a:rPr sz="2400" b="1">
                <a:solidFill>
                  <a:srgbClr val="262626"/>
                </a:solidFill>
                <a:latin typeface="Meiryo"/>
                <a:ea typeface="Meiryo"/>
                <a:cs typeface="Meiryo"/>
              </a:rPr>
              <a:t>メーカーの経験的較正（健常者の低酸素負荷）に</a:t>
            </a:r>
          </a:p>
          <a:p>
            <a:pPr algn="l">
              <a:spcAft>
                <a:spcPts val="400"/>
              </a:spcAft>
            </a:pPr>
            <a:r>
              <a:rPr sz="2400" b="1">
                <a:solidFill>
                  <a:srgbClr val="262626"/>
                </a:solidFill>
                <a:latin typeface="Meiryo"/>
                <a:ea typeface="Meiryo"/>
                <a:cs typeface="Meiryo"/>
              </a:rPr>
              <a:t>織り込み済み ＝ 通常の臨床精度 約3〜4% に収まる。</a:t>
            </a:r>
          </a:p>
        </p:txBody>
      </p:sp>
      <p:sp>
        <p:nvSpPr>
          <p:cNvPr id="32" name="Rounded Rectangle 31"/>
          <p:cNvSpPr/>
          <p:nvPr/>
        </p:nvSpPr>
        <p:spPr>
          <a:xfrm>
            <a:off x="540000" y="5148000"/>
            <a:ext cx="11160000" cy="1044000"/>
          </a:xfrm>
          <a:prstGeom prst="roundRect">
            <a:avLst/>
          </a:prstGeom>
          <a:no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79200" tIns="21600" rIns="79200" bIns="21600" rtlCol="0" anchor="ctr"/>
          <a:lstStyle/>
          <a:p>
            <a:pPr algn="ctr">
              <a:spcAft>
                <a:spcPts val="400"/>
              </a:spcAft>
            </a:pPr>
            <a:r>
              <a:rPr sz="2600" b="1">
                <a:solidFill>
                  <a:srgbClr val="C00000"/>
                </a:solidFill>
                <a:latin typeface="Meiryo"/>
                <a:ea typeface="Meiryo"/>
                <a:cs typeface="Meiryo"/>
              </a:rPr>
              <a:t>較正の前提（健常成人）から外れると 誤差が拡大。</a:t>
            </a:r>
          </a:p>
          <a:p>
            <a:pPr algn="ctr">
              <a:spcAft>
                <a:spcPts val="400"/>
              </a:spcAft>
            </a:pPr>
            <a:r>
              <a:rPr sz="2200" b="1">
                <a:solidFill>
                  <a:srgbClr val="262626"/>
                </a:solidFill>
                <a:latin typeface="Meiryo"/>
                <a:ea typeface="Meiryo"/>
                <a:cs typeface="Meiryo"/>
              </a:rPr>
              <a:t>末梢循環不全・色素沈着・異常Hb血症 → hidden hypoxemia</a:t>
            </a:r>
          </a:p>
        </p:txBody>
      </p:sp>
      <p:sp>
        <p:nvSpPr>
          <p:cNvPr id="21" name="Title 1">
            <a:extLst>
              <a:ext uri="{FF2B5EF4-FFF2-40B4-BE49-F238E27FC236}">
                <a16:creationId xmlns:a16="http://schemas.microsoft.com/office/drawing/2014/main" id="{9C289714-CA7F-A992-D29E-FA3F2A8F0919}"/>
              </a:ext>
            </a:extLst>
          </p:cNvPr>
          <p:cNvSpPr>
            <a:spLocks noGrp="1"/>
          </p:cNvSpPr>
          <p:nvPr>
            <p:ph type="title"/>
          </p:nvPr>
        </p:nvSpPr>
        <p:spPr>
          <a:xfrm>
            <a:off x="838200" y="365125"/>
            <a:ext cx="10515600" cy="1325563"/>
          </a:xfrm>
        </p:spPr>
        <p:txBody>
          <a:bodyPr/>
          <a:lstStyle/>
          <a:p>
            <a:pPr algn="l"/>
            <a:r>
              <a:rPr lang="ja-JP" altLang="en-US" sz="4600">
                <a:latin typeface="Meiryo"/>
                <a:ea typeface="Meiryo"/>
                <a:cs typeface="Meiryo"/>
              </a:rPr>
              <a:t>＊</a:t>
            </a:r>
            <a:r>
              <a:rPr sz="4600" dirty="0">
                <a:latin typeface="Meiryo"/>
                <a:ea typeface="Meiryo"/>
                <a:cs typeface="Meiryo"/>
              </a:rPr>
              <a:t> </a:t>
            </a:r>
            <a:r>
              <a:rPr lang="ja-JP" altLang="en-US" sz="4600">
                <a:latin typeface="Meiryo"/>
                <a:ea typeface="Meiryo"/>
                <a:cs typeface="Meiryo"/>
              </a:rPr>
              <a:t>残存動脈血について</a:t>
            </a:r>
            <a:endParaRPr sz="4600" dirty="0">
              <a:latin typeface="Meiryo"/>
              <a:ea typeface="Meiryo"/>
              <a:cs typeface="Meiryo"/>
            </a:endParaRPr>
          </a:p>
        </p:txBody>
      </p:sp>
      <p:sp>
        <p:nvSpPr>
          <p:cNvPr id="3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 Aoyagi 2003　／　3. Chan 2013</a:t>
            </a:r>
          </a:p>
        </p:txBody>
      </p:sp>
      <p:sp>
        <p:nvSpPr>
          <p:cNvPr id="101" name="Off-page Connector 4">
            <a:extLst>
              <a:ext uri="{FF2B5EF4-FFF2-40B4-BE49-F238E27FC236}">
                <a16:creationId xmlns:a16="http://schemas.microsoft.com/office/drawing/2014/main" id="{AA9D36CE-3772-F005-B54C-9329ADA7F086}"/>
              </a:ext>
            </a:extLst>
          </p:cNvPr>
          <p:cNvSpPr/>
          <p:nvPr/>
        </p:nvSpPr>
        <p:spPr>
          <a:xfrm>
            <a:off x="821448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0213F-9AE9-B5AC-84A0-67940F4F7D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2D50A5-B875-0F0F-A113-235E673577E2}"/>
              </a:ext>
            </a:extLst>
          </p:cNvPr>
          <p:cNvSpPr>
            <a:spLocks noGrp="1"/>
          </p:cNvSpPr>
          <p:nvPr>
            <p:ph type="title"/>
          </p:nvPr>
        </p:nvSpPr>
        <p:spPr/>
        <p:txBody>
          <a:bodyPr/>
          <a:lstStyle/>
          <a:p>
            <a:pPr algn="l"/>
            <a:r>
              <a:rPr sz="4600">
                <a:latin typeface="Meiryo"/>
                <a:ea typeface="Meiryo"/>
                <a:cs typeface="Meiryo"/>
              </a:rPr>
              <a:t>1.2  PPGが測るもの</a:t>
            </a:r>
            <a:endParaRPr sz="4600" dirty="0">
              <a:latin typeface="Meiryo"/>
              <a:ea typeface="Meiryo"/>
              <a:cs typeface="Meiryo"/>
            </a:endParaRPr>
          </a:p>
        </p:txBody>
      </p:sp>
      <p:sp>
        <p:nvSpPr>
          <p:cNvPr id="18" name="TextBox 17">
            <a:extLst>
              <a:ext uri="{FF2B5EF4-FFF2-40B4-BE49-F238E27FC236}">
                <a16:creationId xmlns:a16="http://schemas.microsoft.com/office/drawing/2014/main" id="{7051BD20-0A34-9524-08F0-F6BE167243B8}"/>
              </a:ext>
            </a:extLst>
          </p:cNvPr>
          <p:cNvSpPr txBox="1"/>
          <p:nvPr/>
        </p:nvSpPr>
        <p:spPr>
          <a:xfrm>
            <a:off x="2619208" y="1869318"/>
            <a:ext cx="923330" cy="369332"/>
          </a:xfrm>
          <a:prstGeom prst="rect">
            <a:avLst/>
          </a:prstGeom>
          <a:noFill/>
        </p:spPr>
        <p:txBody>
          <a:bodyPr wrap="none" lIns="0" tIns="0" rIns="0" bIns="0" anchor="ctr">
            <a:spAutoFit/>
          </a:bodyPr>
          <a:lstStyle/>
          <a:p>
            <a:pPr algn="ctr">
              <a:spcBef>
                <a:spcPts val="0"/>
              </a:spcBef>
              <a:spcAft>
                <a:spcPts val="0"/>
              </a:spcAft>
            </a:pPr>
            <a:r>
              <a:rPr lang="en-US" sz="2400" b="1" dirty="0" err="1">
                <a:solidFill>
                  <a:srgbClr val="BF9000"/>
                </a:solidFill>
                <a:latin typeface="Meiryo"/>
                <a:ea typeface="Meiryo"/>
                <a:cs typeface="Meiryo"/>
              </a:rPr>
              <a:t>発光部</a:t>
            </a:r>
            <a:endParaRPr sz="2400" b="1" dirty="0">
              <a:solidFill>
                <a:srgbClr val="BF9000"/>
              </a:solidFill>
              <a:latin typeface="Meiryo"/>
              <a:ea typeface="Meiryo"/>
              <a:cs typeface="Meiryo"/>
            </a:endParaRPr>
          </a:p>
        </p:txBody>
      </p:sp>
      <p:sp>
        <p:nvSpPr>
          <p:cNvPr id="19" name="TextBox 18">
            <a:extLst>
              <a:ext uri="{FF2B5EF4-FFF2-40B4-BE49-F238E27FC236}">
                <a16:creationId xmlns:a16="http://schemas.microsoft.com/office/drawing/2014/main" id="{74A3A49C-E169-31EF-4BB4-FB61F82262E5}"/>
              </a:ext>
            </a:extLst>
          </p:cNvPr>
          <p:cNvSpPr txBox="1"/>
          <p:nvPr/>
        </p:nvSpPr>
        <p:spPr>
          <a:xfrm>
            <a:off x="2619208" y="5377798"/>
            <a:ext cx="923331" cy="369332"/>
          </a:xfrm>
          <a:prstGeom prst="rect">
            <a:avLst/>
          </a:prstGeom>
          <a:noFill/>
        </p:spPr>
        <p:txBody>
          <a:bodyPr wrap="none" lIns="0" tIns="0" rIns="0" bIns="0" anchor="ctr">
            <a:spAutoFit/>
          </a:bodyPr>
          <a:lstStyle/>
          <a:p>
            <a:pPr algn="ctr">
              <a:spcBef>
                <a:spcPts val="0"/>
              </a:spcBef>
              <a:spcAft>
                <a:spcPts val="0"/>
              </a:spcAft>
            </a:pPr>
            <a:r>
              <a:rPr lang="ja-JP" altLang="en-US" sz="2400" b="1">
                <a:latin typeface="Meiryo"/>
                <a:ea typeface="Meiryo"/>
                <a:cs typeface="Meiryo"/>
              </a:rPr>
              <a:t>受光部</a:t>
            </a:r>
            <a:endParaRPr sz="2400" b="1" dirty="0">
              <a:latin typeface="Meiryo"/>
              <a:ea typeface="Meiryo"/>
              <a:cs typeface="Meiryo"/>
            </a:endParaRPr>
          </a:p>
        </p:txBody>
      </p:sp>
      <p:pic>
        <p:nvPicPr>
          <p:cNvPr id="20" name="fig_optics" descr="f11_optics.png">
            <a:extLst>
              <a:ext uri="{FF2B5EF4-FFF2-40B4-BE49-F238E27FC236}">
                <a16:creationId xmlns:a16="http://schemas.microsoft.com/office/drawing/2014/main" id="{44784786-4896-08CD-2FD0-53229D7EE7A7}"/>
              </a:ext>
            </a:extLst>
          </p:cNvPr>
          <p:cNvPicPr>
            <a:picLocks noChangeAspect="1"/>
          </p:cNvPicPr>
          <p:nvPr/>
        </p:nvPicPr>
        <p:blipFill>
          <a:blip r:embed="rId3"/>
          <a:stretch>
            <a:fillRect/>
          </a:stretch>
        </p:blipFill>
        <p:spPr>
          <a:xfrm>
            <a:off x="1344680" y="2287984"/>
            <a:ext cx="3472386" cy="3024000"/>
          </a:xfrm>
          <a:prstGeom prst="rect">
            <a:avLst/>
          </a:prstGeom>
        </p:spPr>
      </p:pic>
      <p:sp>
        <p:nvSpPr>
          <p:cNvPr id="22" name="TextBox 21">
            <a:extLst>
              <a:ext uri="{FF2B5EF4-FFF2-40B4-BE49-F238E27FC236}">
                <a16:creationId xmlns:a16="http://schemas.microsoft.com/office/drawing/2014/main" id="{2066DA1A-3FD9-A447-50FA-1AD2CD87C05D}"/>
              </a:ext>
            </a:extLst>
          </p:cNvPr>
          <p:cNvSpPr txBox="1"/>
          <p:nvPr/>
        </p:nvSpPr>
        <p:spPr>
          <a:xfrm>
            <a:off x="720000" y="4781721"/>
            <a:ext cx="1410643" cy="338554"/>
          </a:xfrm>
          <a:prstGeom prst="rect">
            <a:avLst/>
          </a:prstGeom>
          <a:noFill/>
        </p:spPr>
        <p:txBody>
          <a:bodyPr wrap="none" lIns="0" tIns="0" rIns="0" bIns="0" anchor="ctr">
            <a:spAutoFit/>
          </a:bodyPr>
          <a:lstStyle/>
          <a:p>
            <a:pPr algn="ctr">
              <a:spcBef>
                <a:spcPts val="0"/>
              </a:spcBef>
              <a:spcAft>
                <a:spcPts val="0"/>
              </a:spcAft>
            </a:pPr>
            <a:r>
              <a:rPr sz="2200" b="1" dirty="0" err="1">
                <a:solidFill>
                  <a:srgbClr val="D55E00"/>
                </a:solidFill>
                <a:latin typeface="Meiryo"/>
                <a:ea typeface="Meiryo"/>
                <a:cs typeface="Meiryo"/>
              </a:rPr>
              <a:t>動脈：拍動</a:t>
            </a:r>
            <a:endParaRPr sz="2200" b="1" dirty="0">
              <a:solidFill>
                <a:srgbClr val="D55E00"/>
              </a:solidFill>
              <a:latin typeface="Meiryo"/>
              <a:ea typeface="Meiryo"/>
              <a:cs typeface="Meiryo"/>
            </a:endParaRPr>
          </a:p>
        </p:txBody>
      </p:sp>
      <p:sp>
        <p:nvSpPr>
          <p:cNvPr id="23" name="TextBox 22">
            <a:extLst>
              <a:ext uri="{FF2B5EF4-FFF2-40B4-BE49-F238E27FC236}">
                <a16:creationId xmlns:a16="http://schemas.microsoft.com/office/drawing/2014/main" id="{723C4902-E489-8214-E816-7EAC05EC4922}"/>
              </a:ext>
            </a:extLst>
          </p:cNvPr>
          <p:cNvSpPr txBox="1"/>
          <p:nvPr/>
        </p:nvSpPr>
        <p:spPr>
          <a:xfrm>
            <a:off x="4168651" y="4784808"/>
            <a:ext cx="1296829" cy="677108"/>
          </a:xfrm>
          <a:prstGeom prst="rect">
            <a:avLst/>
          </a:prstGeom>
          <a:noFill/>
        </p:spPr>
        <p:txBody>
          <a:bodyPr wrap="none" lIns="0" tIns="0" rIns="0" bIns="0" anchor="ctr">
            <a:spAutoFit/>
          </a:bodyPr>
          <a:lstStyle/>
          <a:p>
            <a:pPr algn="ctr">
              <a:spcBef>
                <a:spcPts val="0"/>
              </a:spcBef>
              <a:spcAft>
                <a:spcPts val="0"/>
              </a:spcAft>
            </a:pPr>
            <a:r>
              <a:rPr sz="2200" b="1" dirty="0" err="1">
                <a:solidFill>
                  <a:srgbClr val="808080"/>
                </a:solidFill>
                <a:latin typeface="Meiryo"/>
                <a:ea typeface="Meiryo"/>
                <a:cs typeface="Meiryo"/>
              </a:rPr>
              <a:t>組織</a:t>
            </a:r>
            <a:r>
              <a:rPr lang="en-US" sz="2200" b="1" dirty="0">
                <a:solidFill>
                  <a:srgbClr val="808080"/>
                </a:solidFill>
                <a:latin typeface="Meiryo"/>
                <a:ea typeface="Meiryo"/>
                <a:cs typeface="Meiryo"/>
              </a:rPr>
              <a:t>/</a:t>
            </a:r>
            <a:r>
              <a:rPr sz="2200" b="1" dirty="0" err="1">
                <a:solidFill>
                  <a:srgbClr val="808080"/>
                </a:solidFill>
                <a:latin typeface="Meiryo"/>
                <a:ea typeface="Meiryo"/>
                <a:cs typeface="Meiryo"/>
              </a:rPr>
              <a:t>静脈</a:t>
            </a:r>
            <a:endParaRPr lang="en-US" sz="2200" b="1" dirty="0">
              <a:solidFill>
                <a:srgbClr val="808080"/>
              </a:solidFill>
              <a:latin typeface="Meiryo"/>
              <a:ea typeface="Meiryo"/>
              <a:cs typeface="Meiryo"/>
            </a:endParaRPr>
          </a:p>
          <a:p>
            <a:pPr algn="ctr">
              <a:spcBef>
                <a:spcPts val="0"/>
              </a:spcBef>
              <a:spcAft>
                <a:spcPts val="0"/>
              </a:spcAft>
            </a:pPr>
            <a:r>
              <a:rPr sz="2200" b="1" dirty="0">
                <a:solidFill>
                  <a:srgbClr val="808080"/>
                </a:solidFill>
                <a:latin typeface="Meiryo"/>
                <a:ea typeface="Meiryo"/>
                <a:cs typeface="Meiryo"/>
              </a:rPr>
              <a:t>：</a:t>
            </a:r>
            <a:r>
              <a:rPr lang="en-US" sz="2200" b="1" dirty="0" err="1">
                <a:solidFill>
                  <a:srgbClr val="808080"/>
                </a:solidFill>
                <a:latin typeface="Meiryo"/>
                <a:ea typeface="Meiryo"/>
                <a:cs typeface="Meiryo"/>
              </a:rPr>
              <a:t>無</a:t>
            </a:r>
            <a:r>
              <a:rPr sz="2200" b="1" dirty="0" err="1">
                <a:solidFill>
                  <a:srgbClr val="808080"/>
                </a:solidFill>
                <a:latin typeface="Meiryo"/>
                <a:ea typeface="Meiryo"/>
                <a:cs typeface="Meiryo"/>
              </a:rPr>
              <a:t>拍動</a:t>
            </a:r>
            <a:endParaRPr sz="2200" b="1" dirty="0">
              <a:solidFill>
                <a:srgbClr val="808080"/>
              </a:solidFill>
              <a:latin typeface="Meiryo"/>
              <a:ea typeface="Meiryo"/>
              <a:cs typeface="Meiryo"/>
            </a:endParaRPr>
          </a:p>
        </p:txBody>
      </p:sp>
      <p:sp>
        <p:nvSpPr>
          <p:cNvPr id="26" name="Rounded Rectangle 25">
            <a:extLst>
              <a:ext uri="{FF2B5EF4-FFF2-40B4-BE49-F238E27FC236}">
                <a16:creationId xmlns:a16="http://schemas.microsoft.com/office/drawing/2014/main" id="{F56FCA1C-98A4-3F27-AE39-4E09D28B9542}"/>
              </a:ext>
            </a:extLst>
          </p:cNvPr>
          <p:cNvSpPr/>
          <p:nvPr/>
        </p:nvSpPr>
        <p:spPr>
          <a:xfrm>
            <a:off x="1224000" y="6012000"/>
            <a:ext cx="9720000" cy="54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sz="2400" b="1">
                <a:solidFill>
                  <a:srgbClr val="262626"/>
                </a:solidFill>
                <a:latin typeface="Meiryo"/>
                <a:ea typeface="Meiryo"/>
                <a:cs typeface="Meiryo"/>
              </a:rPr>
              <a:t>PPG が測るのは 拍動する動脈血の容積変化。</a:t>
            </a:r>
          </a:p>
        </p:txBody>
      </p:sp>
      <p:pic>
        <p:nvPicPr>
          <p:cNvPr id="7" name="fig_wave_vessel" descr="f13_fwd_vessel.png">
            <a:extLst>
              <a:ext uri="{FF2B5EF4-FFF2-40B4-BE49-F238E27FC236}">
                <a16:creationId xmlns:a16="http://schemas.microsoft.com/office/drawing/2014/main" id="{DC7C24AC-9D0E-3C17-CD73-33033FD18424}"/>
              </a:ext>
            </a:extLst>
          </p:cNvPr>
          <p:cNvPicPr>
            <a:picLocks noChangeAspect="1"/>
          </p:cNvPicPr>
          <p:nvPr/>
        </p:nvPicPr>
        <p:blipFill>
          <a:blip r:embed="rId4"/>
          <a:stretch>
            <a:fillRect/>
          </a:stretch>
        </p:blipFill>
        <p:spPr>
          <a:xfrm>
            <a:off x="6528609" y="2501383"/>
            <a:ext cx="4635000" cy="1854000"/>
          </a:xfrm>
          <a:prstGeom prst="rect">
            <a:avLst/>
          </a:prstGeom>
        </p:spPr>
      </p:pic>
      <p:sp>
        <p:nvSpPr>
          <p:cNvPr id="9" name="TextBox 31">
            <a:extLst>
              <a:ext uri="{FF2B5EF4-FFF2-40B4-BE49-F238E27FC236}">
                <a16:creationId xmlns:a16="http://schemas.microsoft.com/office/drawing/2014/main" id="{DE476DB9-2F08-E52B-79F9-1E42C79A6973}"/>
              </a:ext>
            </a:extLst>
          </p:cNvPr>
          <p:cNvSpPr txBox="1"/>
          <p:nvPr/>
        </p:nvSpPr>
        <p:spPr>
          <a:xfrm>
            <a:off x="6195908" y="4781721"/>
            <a:ext cx="4889159" cy="338554"/>
          </a:xfrm>
          <a:prstGeom prst="rect">
            <a:avLst/>
          </a:prstGeom>
          <a:noFill/>
        </p:spPr>
        <p:txBody>
          <a:bodyPr wrap="none" lIns="0" tIns="0" rIns="0" bIns="0" anchor="ctr">
            <a:spAutoFit/>
          </a:bodyPr>
          <a:lstStyle/>
          <a:p>
            <a:pPr algn="ctr">
              <a:spcBef>
                <a:spcPts val="0"/>
              </a:spcBef>
              <a:spcAft>
                <a:spcPts val="0"/>
              </a:spcAft>
            </a:pPr>
            <a:r>
              <a:rPr sz="2200" b="1" dirty="0" err="1">
                <a:solidFill>
                  <a:srgbClr val="262626"/>
                </a:solidFill>
                <a:latin typeface="Meiryo"/>
                <a:ea typeface="Meiryo"/>
                <a:cs typeface="Meiryo"/>
              </a:rPr>
              <a:t>圧</a:t>
            </a:r>
            <a:r>
              <a:rPr lang="ja-JP" altLang="en-US" sz="2200" b="1">
                <a:solidFill>
                  <a:srgbClr val="262626"/>
                </a:solidFill>
                <a:latin typeface="Meiryo"/>
                <a:ea typeface="Meiryo"/>
                <a:cs typeface="Meiryo"/>
              </a:rPr>
              <a:t>脈波の到着部分だけ拡張</a:t>
            </a:r>
            <a:r>
              <a:rPr sz="2200" b="1" dirty="0">
                <a:solidFill>
                  <a:srgbClr val="BF9000"/>
                </a:solidFill>
                <a:latin typeface="Meiryo"/>
                <a:ea typeface="Meiryo"/>
                <a:cs typeface="Meiryo"/>
              </a:rPr>
              <a:t>　＝ </a:t>
            </a:r>
            <a:r>
              <a:rPr sz="2200" b="1" dirty="0" err="1">
                <a:solidFill>
                  <a:srgbClr val="BF9000"/>
                </a:solidFill>
                <a:latin typeface="Meiryo"/>
                <a:ea typeface="Meiryo"/>
                <a:cs typeface="Meiryo"/>
              </a:rPr>
              <a:t>容積</a:t>
            </a:r>
            <a:r>
              <a:rPr sz="2200" b="1" dirty="0">
                <a:solidFill>
                  <a:srgbClr val="BF9000"/>
                </a:solidFill>
                <a:latin typeface="Meiryo"/>
                <a:ea typeface="Meiryo"/>
                <a:cs typeface="Meiryo"/>
              </a:rPr>
              <a:t>↑</a:t>
            </a:r>
          </a:p>
        </p:txBody>
      </p:sp>
      <p:sp>
        <p:nvSpPr>
          <p:cNvPr id="2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15/118</a:t>
            </a:r>
          </a:p>
        </p:txBody>
      </p:sp>
      <p:sp>
        <p:nvSpPr>
          <p:cNvPr id="101" name="Off-page Connector 4">
            <a:extLst>
              <a:ext uri="{FF2B5EF4-FFF2-40B4-BE49-F238E27FC236}">
                <a16:creationId xmlns:a16="http://schemas.microsoft.com/office/drawing/2014/main" id="{AA9D36CE-3772-F005-B54C-9329ADA7F086}"/>
              </a:ext>
            </a:extLst>
          </p:cNvPr>
          <p:cNvSpPr/>
          <p:nvPr/>
        </p:nvSpPr>
        <p:spPr>
          <a:xfrm>
            <a:off x="821448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3451793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7050BC-8FAF-F7C7-7383-588024CD52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9391AB-30D4-16FE-A773-CDD111049356}"/>
              </a:ext>
            </a:extLst>
          </p:cNvPr>
          <p:cNvSpPr>
            <a:spLocks noGrp="1"/>
          </p:cNvSpPr>
          <p:nvPr>
            <p:ph type="title"/>
          </p:nvPr>
        </p:nvSpPr>
        <p:spPr/>
        <p:txBody>
          <a:bodyPr/>
          <a:lstStyle/>
          <a:p>
            <a:pPr algn="l"/>
            <a:r>
              <a:rPr sz="4600">
                <a:latin typeface="Meiryo"/>
                <a:ea typeface="Meiryo"/>
                <a:cs typeface="Meiryo"/>
              </a:rPr>
              <a:t>1.3  前進波の成因</a:t>
            </a:r>
            <a:endParaRPr sz="4600" dirty="0">
              <a:latin typeface="Meiryo"/>
              <a:ea typeface="Meiryo"/>
              <a:cs typeface="Meiryo"/>
            </a:endParaRPr>
          </a:p>
        </p:txBody>
      </p:sp>
      <p:sp>
        <p:nvSpPr>
          <p:cNvPr id="24" name="TextBox 23">
            <a:extLst>
              <a:ext uri="{FF2B5EF4-FFF2-40B4-BE49-F238E27FC236}">
                <a16:creationId xmlns:a16="http://schemas.microsoft.com/office/drawing/2014/main" id="{B45D55D9-0758-2EDF-21AD-A8773EB056BE}"/>
              </a:ext>
            </a:extLst>
          </p:cNvPr>
          <p:cNvSpPr txBox="1"/>
          <p:nvPr/>
        </p:nvSpPr>
        <p:spPr>
          <a:xfrm>
            <a:off x="1100558" y="4429087"/>
            <a:ext cx="2425729" cy="338554"/>
          </a:xfrm>
          <a:prstGeom prst="rect">
            <a:avLst/>
          </a:prstGeom>
          <a:noFill/>
        </p:spPr>
        <p:txBody>
          <a:bodyPr wrap="none" lIns="0" tIns="0" rIns="0" bIns="0" anchor="ctr">
            <a:spAutoFit/>
          </a:bodyPr>
          <a:lstStyle/>
          <a:p>
            <a:pPr algn="l">
              <a:spcBef>
                <a:spcPts val="0"/>
              </a:spcBef>
              <a:spcAft>
                <a:spcPts val="0"/>
              </a:spcAft>
            </a:pPr>
            <a:r>
              <a:rPr sz="2200" b="1" dirty="0" err="1">
                <a:solidFill>
                  <a:srgbClr val="0072B2"/>
                </a:solidFill>
                <a:latin typeface="Meiryo"/>
                <a:ea typeface="Meiryo"/>
                <a:cs typeface="Meiryo"/>
              </a:rPr>
              <a:t>圧</a:t>
            </a:r>
            <a:r>
              <a:rPr lang="ja-JP" altLang="en-US" sz="2200" b="1">
                <a:solidFill>
                  <a:srgbClr val="0072B2"/>
                </a:solidFill>
                <a:latin typeface="Meiryo"/>
                <a:ea typeface="Meiryo"/>
                <a:cs typeface="Meiryo"/>
              </a:rPr>
              <a:t>脈波</a:t>
            </a:r>
            <a:r>
              <a:rPr sz="2200" b="1" dirty="0">
                <a:solidFill>
                  <a:srgbClr val="0072B2"/>
                </a:solidFill>
                <a:latin typeface="Meiryo"/>
                <a:ea typeface="Meiryo"/>
                <a:cs typeface="Meiryo"/>
              </a:rPr>
              <a:t> 5–10 m/s</a:t>
            </a:r>
          </a:p>
        </p:txBody>
      </p:sp>
      <p:sp>
        <p:nvSpPr>
          <p:cNvPr id="25" name="Right Arrow 24">
            <a:extLst>
              <a:ext uri="{FF2B5EF4-FFF2-40B4-BE49-F238E27FC236}">
                <a16:creationId xmlns:a16="http://schemas.microsoft.com/office/drawing/2014/main" id="{6026DB75-E07A-9910-5530-06D50593B15F}"/>
              </a:ext>
            </a:extLst>
          </p:cNvPr>
          <p:cNvSpPr/>
          <p:nvPr/>
        </p:nvSpPr>
        <p:spPr>
          <a:xfrm>
            <a:off x="1100558" y="4825164"/>
            <a:ext cx="4680000" cy="198000"/>
          </a:xfrm>
          <a:prstGeom prst="rightArrow">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a:extLst>
              <a:ext uri="{FF2B5EF4-FFF2-40B4-BE49-F238E27FC236}">
                <a16:creationId xmlns:a16="http://schemas.microsoft.com/office/drawing/2014/main" id="{BDE4B504-ED83-9FEA-E9B1-570F44D5C927}"/>
              </a:ext>
            </a:extLst>
          </p:cNvPr>
          <p:cNvSpPr txBox="1"/>
          <p:nvPr/>
        </p:nvSpPr>
        <p:spPr>
          <a:xfrm>
            <a:off x="1100558" y="5289119"/>
            <a:ext cx="1915974" cy="338554"/>
          </a:xfrm>
          <a:prstGeom prst="rect">
            <a:avLst/>
          </a:prstGeom>
          <a:noFill/>
        </p:spPr>
        <p:txBody>
          <a:bodyPr wrap="none" lIns="0" tIns="0" rIns="0" bIns="0" anchor="ctr">
            <a:spAutoFit/>
          </a:bodyPr>
          <a:lstStyle/>
          <a:p>
            <a:pPr algn="l">
              <a:spcBef>
                <a:spcPts val="0"/>
              </a:spcBef>
              <a:spcAft>
                <a:spcPts val="0"/>
              </a:spcAft>
            </a:pPr>
            <a:r>
              <a:rPr sz="2200" b="1" dirty="0" err="1">
                <a:solidFill>
                  <a:srgbClr val="808080"/>
                </a:solidFill>
                <a:latin typeface="Meiryo"/>
                <a:ea typeface="Meiryo"/>
                <a:cs typeface="Meiryo"/>
              </a:rPr>
              <a:t>血流</a:t>
            </a:r>
            <a:r>
              <a:rPr sz="2200" b="1" dirty="0">
                <a:solidFill>
                  <a:srgbClr val="808080"/>
                </a:solidFill>
                <a:latin typeface="Meiryo"/>
                <a:ea typeface="Meiryo"/>
                <a:cs typeface="Meiryo"/>
              </a:rPr>
              <a:t> </a:t>
            </a:r>
            <a:r>
              <a:rPr lang="en-US" sz="2200" b="1" dirty="0">
                <a:solidFill>
                  <a:srgbClr val="808080"/>
                </a:solidFill>
                <a:latin typeface="Meiryo"/>
                <a:ea typeface="Meiryo"/>
                <a:cs typeface="Meiryo"/>
              </a:rPr>
              <a:t>20</a:t>
            </a:r>
            <a:r>
              <a:rPr lang="en-US" altLang="ja-JP" sz="2200" b="1" dirty="0">
                <a:solidFill>
                  <a:srgbClr val="808080"/>
                </a:solidFill>
                <a:latin typeface="Meiryo"/>
                <a:ea typeface="Meiryo"/>
                <a:cs typeface="Meiryo"/>
              </a:rPr>
              <a:t> cm/s</a:t>
            </a:r>
            <a:endParaRPr sz="2200" b="1" dirty="0">
              <a:solidFill>
                <a:srgbClr val="808080"/>
              </a:solidFill>
              <a:latin typeface="Meiryo"/>
              <a:ea typeface="Meiryo"/>
              <a:cs typeface="Meiryo"/>
            </a:endParaRPr>
          </a:p>
        </p:txBody>
      </p:sp>
      <p:sp>
        <p:nvSpPr>
          <p:cNvPr id="27" name="Right Arrow 26">
            <a:extLst>
              <a:ext uri="{FF2B5EF4-FFF2-40B4-BE49-F238E27FC236}">
                <a16:creationId xmlns:a16="http://schemas.microsoft.com/office/drawing/2014/main" id="{324F8A84-ABDA-5698-CC03-741E16541371}"/>
              </a:ext>
            </a:extLst>
          </p:cNvPr>
          <p:cNvSpPr/>
          <p:nvPr/>
        </p:nvSpPr>
        <p:spPr>
          <a:xfrm>
            <a:off x="1100558" y="5685196"/>
            <a:ext cx="468000" cy="19800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fig_wave_vessel" descr="f13_fwd_vessel.png">
            <a:extLst>
              <a:ext uri="{FF2B5EF4-FFF2-40B4-BE49-F238E27FC236}">
                <a16:creationId xmlns:a16="http://schemas.microsoft.com/office/drawing/2014/main" id="{5D643E03-693C-B5E6-8F65-FE06C441565A}"/>
              </a:ext>
            </a:extLst>
          </p:cNvPr>
          <p:cNvPicPr>
            <a:picLocks noChangeAspect="1"/>
          </p:cNvPicPr>
          <p:nvPr/>
        </p:nvPicPr>
        <p:blipFill>
          <a:blip r:embed="rId3"/>
          <a:stretch>
            <a:fillRect/>
          </a:stretch>
        </p:blipFill>
        <p:spPr>
          <a:xfrm>
            <a:off x="1100558" y="1906794"/>
            <a:ext cx="4680000" cy="2320797"/>
          </a:xfrm>
          <a:prstGeom prst="rect">
            <a:avLst/>
          </a:prstGeom>
        </p:spPr>
      </p:pic>
      <p:sp>
        <p:nvSpPr>
          <p:cNvPr id="32"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　／　5. Politi 2016</a:t>
            </a:r>
          </a:p>
        </p:txBody>
      </p:sp>
      <p:sp>
        <p:nvSpPr>
          <p:cNvPr id="33"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16/118</a:t>
            </a:r>
          </a:p>
        </p:txBody>
      </p:sp>
      <p:sp>
        <p:nvSpPr>
          <p:cNvPr id="101" name="Off-page Connector 4">
            <a:extLst>
              <a:ext uri="{FF2B5EF4-FFF2-40B4-BE49-F238E27FC236}">
                <a16:creationId xmlns:a16="http://schemas.microsoft.com/office/drawing/2014/main" id="{AA9D36CE-3772-F005-B54C-9329ADA7F086}"/>
              </a:ext>
            </a:extLst>
          </p:cNvPr>
          <p:cNvSpPr/>
          <p:nvPr/>
        </p:nvSpPr>
        <p:spPr>
          <a:xfrm>
            <a:off x="821448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36994818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D8FE66-A2D6-86A2-6910-772B202D68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0D029F-EA12-E8FC-37D3-7672B7953ED1}"/>
              </a:ext>
            </a:extLst>
          </p:cNvPr>
          <p:cNvSpPr>
            <a:spLocks noGrp="1"/>
          </p:cNvSpPr>
          <p:nvPr>
            <p:ph type="title"/>
          </p:nvPr>
        </p:nvSpPr>
        <p:spPr/>
        <p:txBody>
          <a:bodyPr/>
          <a:lstStyle/>
          <a:p>
            <a:pPr algn="l"/>
            <a:r>
              <a:rPr sz="4600">
                <a:latin typeface="Meiryo"/>
                <a:ea typeface="Meiryo"/>
                <a:cs typeface="Meiryo"/>
              </a:rPr>
              <a:t>1.3  前進波の成因</a:t>
            </a:r>
            <a:endParaRPr sz="4600" dirty="0">
              <a:latin typeface="Meiryo"/>
              <a:ea typeface="Meiryo"/>
              <a:cs typeface="Meiryo"/>
            </a:endParaRPr>
          </a:p>
        </p:txBody>
      </p:sp>
      <p:sp>
        <p:nvSpPr>
          <p:cNvPr id="24" name="TextBox 23">
            <a:extLst>
              <a:ext uri="{FF2B5EF4-FFF2-40B4-BE49-F238E27FC236}">
                <a16:creationId xmlns:a16="http://schemas.microsoft.com/office/drawing/2014/main" id="{7004FBEB-B6BC-4C74-695B-C5B300C694D8}"/>
              </a:ext>
            </a:extLst>
          </p:cNvPr>
          <p:cNvSpPr txBox="1"/>
          <p:nvPr/>
        </p:nvSpPr>
        <p:spPr>
          <a:xfrm>
            <a:off x="1100558" y="4429087"/>
            <a:ext cx="2425729" cy="338554"/>
          </a:xfrm>
          <a:prstGeom prst="rect">
            <a:avLst/>
          </a:prstGeom>
          <a:noFill/>
        </p:spPr>
        <p:txBody>
          <a:bodyPr wrap="none" lIns="0" tIns="0" rIns="0" bIns="0" anchor="ctr">
            <a:spAutoFit/>
          </a:bodyPr>
          <a:lstStyle/>
          <a:p>
            <a:pPr algn="l">
              <a:spcBef>
                <a:spcPts val="0"/>
              </a:spcBef>
              <a:spcAft>
                <a:spcPts val="0"/>
              </a:spcAft>
            </a:pPr>
            <a:r>
              <a:rPr sz="2200" b="1" dirty="0" err="1">
                <a:solidFill>
                  <a:srgbClr val="0072B2"/>
                </a:solidFill>
                <a:latin typeface="Meiryo"/>
                <a:ea typeface="Meiryo"/>
                <a:cs typeface="Meiryo"/>
              </a:rPr>
              <a:t>圧</a:t>
            </a:r>
            <a:r>
              <a:rPr lang="ja-JP" altLang="en-US" sz="2200" b="1">
                <a:solidFill>
                  <a:srgbClr val="0072B2"/>
                </a:solidFill>
                <a:latin typeface="Meiryo"/>
                <a:ea typeface="Meiryo"/>
                <a:cs typeface="Meiryo"/>
              </a:rPr>
              <a:t>脈波</a:t>
            </a:r>
            <a:r>
              <a:rPr sz="2200" b="1" dirty="0">
                <a:solidFill>
                  <a:srgbClr val="0072B2"/>
                </a:solidFill>
                <a:latin typeface="Meiryo"/>
                <a:ea typeface="Meiryo"/>
                <a:cs typeface="Meiryo"/>
              </a:rPr>
              <a:t> 5–10 m/s</a:t>
            </a:r>
          </a:p>
        </p:txBody>
      </p:sp>
      <p:sp>
        <p:nvSpPr>
          <p:cNvPr id="25" name="Right Arrow 24">
            <a:extLst>
              <a:ext uri="{FF2B5EF4-FFF2-40B4-BE49-F238E27FC236}">
                <a16:creationId xmlns:a16="http://schemas.microsoft.com/office/drawing/2014/main" id="{1EC58F54-9E55-0E48-152E-CF5DFB79B63E}"/>
              </a:ext>
            </a:extLst>
          </p:cNvPr>
          <p:cNvSpPr/>
          <p:nvPr/>
        </p:nvSpPr>
        <p:spPr>
          <a:xfrm>
            <a:off x="1100558" y="4825164"/>
            <a:ext cx="4680000" cy="198000"/>
          </a:xfrm>
          <a:prstGeom prst="rightArrow">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a:extLst>
              <a:ext uri="{FF2B5EF4-FFF2-40B4-BE49-F238E27FC236}">
                <a16:creationId xmlns:a16="http://schemas.microsoft.com/office/drawing/2014/main" id="{2F0C9D03-4CC7-9E88-EDC8-107FAD6A1791}"/>
              </a:ext>
            </a:extLst>
          </p:cNvPr>
          <p:cNvSpPr txBox="1"/>
          <p:nvPr/>
        </p:nvSpPr>
        <p:spPr>
          <a:xfrm>
            <a:off x="1100558" y="5289119"/>
            <a:ext cx="1915974" cy="338554"/>
          </a:xfrm>
          <a:prstGeom prst="rect">
            <a:avLst/>
          </a:prstGeom>
          <a:noFill/>
        </p:spPr>
        <p:txBody>
          <a:bodyPr wrap="none" lIns="0" tIns="0" rIns="0" bIns="0" anchor="ctr">
            <a:spAutoFit/>
          </a:bodyPr>
          <a:lstStyle/>
          <a:p>
            <a:pPr algn="l">
              <a:spcBef>
                <a:spcPts val="0"/>
              </a:spcBef>
              <a:spcAft>
                <a:spcPts val="0"/>
              </a:spcAft>
            </a:pPr>
            <a:r>
              <a:rPr sz="2200" b="1" dirty="0" err="1">
                <a:solidFill>
                  <a:srgbClr val="808080"/>
                </a:solidFill>
                <a:latin typeface="Meiryo"/>
                <a:ea typeface="Meiryo"/>
                <a:cs typeface="Meiryo"/>
              </a:rPr>
              <a:t>血流</a:t>
            </a:r>
            <a:r>
              <a:rPr sz="2200" b="1" dirty="0">
                <a:solidFill>
                  <a:srgbClr val="808080"/>
                </a:solidFill>
                <a:latin typeface="Meiryo"/>
                <a:ea typeface="Meiryo"/>
                <a:cs typeface="Meiryo"/>
              </a:rPr>
              <a:t> </a:t>
            </a:r>
            <a:r>
              <a:rPr lang="en-US" sz="2200" b="1" dirty="0">
                <a:solidFill>
                  <a:srgbClr val="808080"/>
                </a:solidFill>
                <a:latin typeface="Meiryo"/>
                <a:ea typeface="Meiryo"/>
                <a:cs typeface="Meiryo"/>
              </a:rPr>
              <a:t>20</a:t>
            </a:r>
            <a:r>
              <a:rPr lang="en-US" altLang="ja-JP" sz="2200" b="1" dirty="0">
                <a:solidFill>
                  <a:srgbClr val="808080"/>
                </a:solidFill>
                <a:latin typeface="Meiryo"/>
                <a:ea typeface="Meiryo"/>
                <a:cs typeface="Meiryo"/>
              </a:rPr>
              <a:t> cm/s</a:t>
            </a:r>
            <a:endParaRPr sz="2200" b="1" dirty="0">
              <a:solidFill>
                <a:srgbClr val="808080"/>
              </a:solidFill>
              <a:latin typeface="Meiryo"/>
              <a:ea typeface="Meiryo"/>
              <a:cs typeface="Meiryo"/>
            </a:endParaRPr>
          </a:p>
        </p:txBody>
      </p:sp>
      <p:sp>
        <p:nvSpPr>
          <p:cNvPr id="27" name="Right Arrow 26">
            <a:extLst>
              <a:ext uri="{FF2B5EF4-FFF2-40B4-BE49-F238E27FC236}">
                <a16:creationId xmlns:a16="http://schemas.microsoft.com/office/drawing/2014/main" id="{8E300BEE-8DD4-B48B-2043-A073CEB14D0C}"/>
              </a:ext>
            </a:extLst>
          </p:cNvPr>
          <p:cNvSpPr/>
          <p:nvPr/>
        </p:nvSpPr>
        <p:spPr>
          <a:xfrm>
            <a:off x="1100558" y="5685196"/>
            <a:ext cx="468000" cy="19800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fig_wave_vessel" descr="f13_fwd_vessel.png">
            <a:extLst>
              <a:ext uri="{FF2B5EF4-FFF2-40B4-BE49-F238E27FC236}">
                <a16:creationId xmlns:a16="http://schemas.microsoft.com/office/drawing/2014/main" id="{0901AABF-0E7D-1849-A425-BEDA70C3F452}"/>
              </a:ext>
            </a:extLst>
          </p:cNvPr>
          <p:cNvPicPr>
            <a:picLocks noChangeAspect="1"/>
          </p:cNvPicPr>
          <p:nvPr/>
        </p:nvPicPr>
        <p:blipFill>
          <a:blip r:embed="rId3"/>
          <a:stretch>
            <a:fillRect/>
          </a:stretch>
        </p:blipFill>
        <p:spPr>
          <a:xfrm>
            <a:off x="1100558" y="1906794"/>
            <a:ext cx="4680000" cy="2320797"/>
          </a:xfrm>
          <a:prstGeom prst="rect">
            <a:avLst/>
          </a:prstGeom>
        </p:spPr>
      </p:pic>
      <p:sp>
        <p:nvSpPr>
          <p:cNvPr id="3" name="Rounded Rectangle 29">
            <a:extLst>
              <a:ext uri="{FF2B5EF4-FFF2-40B4-BE49-F238E27FC236}">
                <a16:creationId xmlns:a16="http://schemas.microsoft.com/office/drawing/2014/main" id="{C659F48E-451B-DDC8-74EF-4F7A5B41C4E9}"/>
              </a:ext>
            </a:extLst>
          </p:cNvPr>
          <p:cNvSpPr/>
          <p:nvPr/>
        </p:nvSpPr>
        <p:spPr>
          <a:xfrm>
            <a:off x="6369835" y="2669015"/>
            <a:ext cx="5516264" cy="2442328"/>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nSpc>
                <a:spcPct val="150000"/>
              </a:lnSpc>
              <a:spcBef>
                <a:spcPts val="0"/>
              </a:spcBef>
              <a:spcAft>
                <a:spcPts val="0"/>
              </a:spcAft>
            </a:pPr>
            <a:r>
              <a:rPr lang="en-US" altLang="ja-JP" sz="2400" b="1" dirty="0">
                <a:solidFill>
                  <a:srgbClr val="262626"/>
                </a:solidFill>
                <a:latin typeface="Meiryo"/>
                <a:ea typeface="Meiryo"/>
                <a:cs typeface="Meiryo"/>
              </a:rPr>
              <a:t>PPG</a:t>
            </a:r>
            <a:r>
              <a:rPr lang="ja-JP" altLang="en-US" sz="2400" b="1">
                <a:solidFill>
                  <a:srgbClr val="262626"/>
                </a:solidFill>
                <a:latin typeface="Meiryo"/>
                <a:ea typeface="Meiryo"/>
                <a:cs typeface="Meiryo"/>
              </a:rPr>
              <a:t>の測定対象：</a:t>
            </a:r>
            <a:endParaRPr lang="en-US" altLang="ja-JP" sz="2400" b="1" dirty="0">
              <a:solidFill>
                <a:srgbClr val="262626"/>
              </a:solidFill>
              <a:latin typeface="Meiryo"/>
              <a:ea typeface="Meiryo"/>
              <a:cs typeface="Meiryo"/>
            </a:endParaRPr>
          </a:p>
          <a:p>
            <a:pPr>
              <a:lnSpc>
                <a:spcPct val="150000"/>
              </a:lnSpc>
              <a:spcBef>
                <a:spcPts val="0"/>
              </a:spcBef>
              <a:spcAft>
                <a:spcPts val="0"/>
              </a:spcAft>
            </a:pPr>
            <a:r>
              <a:rPr lang="ja-JP" altLang="en-US" sz="2400" b="1">
                <a:solidFill>
                  <a:srgbClr val="262626"/>
                </a:solidFill>
                <a:latin typeface="Meiryo"/>
                <a:ea typeface="Meiryo"/>
                <a:cs typeface="Meiryo"/>
              </a:rPr>
              <a:t>心臓から拍出された血液量</a:t>
            </a:r>
            <a:r>
              <a:rPr lang="en-US" altLang="ja-JP" sz="2400" b="1" dirty="0">
                <a:solidFill>
                  <a:srgbClr val="262626"/>
                </a:solidFill>
                <a:latin typeface="Meiryo"/>
                <a:ea typeface="Meiryo"/>
                <a:cs typeface="Meiryo"/>
              </a:rPr>
              <a:t>	×</a:t>
            </a:r>
          </a:p>
          <a:p>
            <a:pPr>
              <a:lnSpc>
                <a:spcPct val="150000"/>
              </a:lnSpc>
              <a:spcBef>
                <a:spcPts val="0"/>
              </a:spcBef>
              <a:spcAft>
                <a:spcPts val="0"/>
              </a:spcAft>
            </a:pPr>
            <a:r>
              <a:rPr lang="ja-JP" altLang="en-US" sz="2400" b="1">
                <a:solidFill>
                  <a:srgbClr val="262626"/>
                </a:solidFill>
                <a:latin typeface="Meiryo"/>
                <a:ea typeface="Meiryo"/>
                <a:cs typeface="Meiryo"/>
              </a:rPr>
              <a:t>血管伸展による</a:t>
            </a:r>
            <a:r>
              <a:rPr lang="ja-JP" altLang="en-US" sz="2800" b="1">
                <a:solidFill>
                  <a:srgbClr val="262626"/>
                </a:solidFill>
                <a:latin typeface="Meiryo"/>
                <a:ea typeface="Meiryo"/>
                <a:cs typeface="Meiryo"/>
              </a:rPr>
              <a:t>容積変化</a:t>
            </a:r>
            <a:r>
              <a:rPr lang="en-US" altLang="ja-JP" sz="2400" b="1" dirty="0">
                <a:solidFill>
                  <a:srgbClr val="262626"/>
                </a:solidFill>
                <a:latin typeface="Meiryo"/>
                <a:ea typeface="Meiryo"/>
                <a:cs typeface="Meiryo"/>
              </a:rPr>
              <a:t>		</a:t>
            </a:r>
            <a:r>
              <a:rPr lang="ja-JP" altLang="en-US" sz="2800" b="1">
                <a:solidFill>
                  <a:srgbClr val="262626"/>
                </a:solidFill>
                <a:latin typeface="Meiryo"/>
                <a:ea typeface="Meiryo"/>
                <a:cs typeface="Meiryo"/>
              </a:rPr>
              <a:t>○</a:t>
            </a:r>
            <a:endParaRPr lang="en-US" altLang="ja-JP" sz="2400" b="1" dirty="0">
              <a:solidFill>
                <a:srgbClr val="262626"/>
              </a:solidFill>
              <a:latin typeface="Meiryo"/>
              <a:ea typeface="Meiryo"/>
              <a:cs typeface="Meiryo"/>
            </a:endParaRPr>
          </a:p>
          <a:p>
            <a:pPr>
              <a:lnSpc>
                <a:spcPct val="150000"/>
              </a:lnSpc>
              <a:spcBef>
                <a:spcPts val="0"/>
              </a:spcBef>
              <a:spcAft>
                <a:spcPts val="0"/>
              </a:spcAft>
            </a:pPr>
            <a:r>
              <a:rPr lang="ja-JP" altLang="en-US" sz="2400" b="1">
                <a:solidFill>
                  <a:srgbClr val="262626"/>
                </a:solidFill>
                <a:latin typeface="Meiryo"/>
                <a:ea typeface="Meiryo"/>
                <a:cs typeface="Meiryo"/>
              </a:rPr>
              <a:t>（圧脈波による受動的な影響）</a:t>
            </a:r>
            <a:endParaRPr lang="en-US" altLang="ja-JP" sz="2400" b="1" dirty="0">
              <a:solidFill>
                <a:srgbClr val="262626"/>
              </a:solidFill>
              <a:latin typeface="Meiryo"/>
              <a:ea typeface="Meiryo"/>
              <a:cs typeface="Meiryo"/>
            </a:endParaRPr>
          </a:p>
        </p:txBody>
      </p:sp>
      <p:sp>
        <p:nvSpPr>
          <p:cNvPr id="32"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　／　5. Politi 2016</a:t>
            </a:r>
          </a:p>
        </p:txBody>
      </p:sp>
      <p:sp>
        <p:nvSpPr>
          <p:cNvPr id="33"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17/118</a:t>
            </a:r>
          </a:p>
        </p:txBody>
      </p:sp>
      <p:sp>
        <p:nvSpPr>
          <p:cNvPr id="101" name="Off-page Connector 4">
            <a:extLst>
              <a:ext uri="{FF2B5EF4-FFF2-40B4-BE49-F238E27FC236}">
                <a16:creationId xmlns:a16="http://schemas.microsoft.com/office/drawing/2014/main" id="{AA9D36CE-3772-F005-B54C-9329ADA7F086}"/>
              </a:ext>
            </a:extLst>
          </p:cNvPr>
          <p:cNvSpPr/>
          <p:nvPr/>
        </p:nvSpPr>
        <p:spPr>
          <a:xfrm>
            <a:off x="821448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13764336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6CDAA-9D94-ACD5-034F-DDBE40AB05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E7020E-2B48-211E-9647-9A074D5B2AD2}"/>
              </a:ext>
            </a:extLst>
          </p:cNvPr>
          <p:cNvSpPr>
            <a:spLocks noGrp="1"/>
          </p:cNvSpPr>
          <p:nvPr>
            <p:ph type="title"/>
          </p:nvPr>
        </p:nvSpPr>
        <p:spPr/>
        <p:txBody>
          <a:bodyPr/>
          <a:lstStyle/>
          <a:p>
            <a:pPr algn="l"/>
            <a:r>
              <a:rPr sz="4600">
                <a:latin typeface="Meiryo"/>
                <a:ea typeface="Meiryo"/>
                <a:cs typeface="Meiryo"/>
              </a:rPr>
              <a:t>1.3  前進波の成因</a:t>
            </a:r>
            <a:endParaRPr sz="4600" dirty="0">
              <a:latin typeface="Meiryo"/>
              <a:ea typeface="Meiryo"/>
              <a:cs typeface="Meiryo"/>
            </a:endParaRPr>
          </a:p>
        </p:txBody>
      </p:sp>
      <p:pic>
        <p:nvPicPr>
          <p:cNvPr id="19" name="fig_body" descr="f12_body.png">
            <a:extLst>
              <a:ext uri="{FF2B5EF4-FFF2-40B4-BE49-F238E27FC236}">
                <a16:creationId xmlns:a16="http://schemas.microsoft.com/office/drawing/2014/main" id="{79419894-41D9-0EF9-319A-4BD819C5A915}"/>
              </a:ext>
            </a:extLst>
          </p:cNvPr>
          <p:cNvPicPr>
            <a:picLocks noChangeAspect="1"/>
          </p:cNvPicPr>
          <p:nvPr/>
        </p:nvPicPr>
        <p:blipFill>
          <a:blip r:embed="rId3"/>
          <a:stretch>
            <a:fillRect/>
          </a:stretch>
        </p:blipFill>
        <p:spPr>
          <a:xfrm>
            <a:off x="864000" y="1994629"/>
            <a:ext cx="4608000" cy="3744000"/>
          </a:xfrm>
          <a:prstGeom prst="rect">
            <a:avLst/>
          </a:prstGeom>
        </p:spPr>
      </p:pic>
      <p:sp>
        <p:nvSpPr>
          <p:cNvPr id="20" name="TextBox 19">
            <a:extLst>
              <a:ext uri="{FF2B5EF4-FFF2-40B4-BE49-F238E27FC236}">
                <a16:creationId xmlns:a16="http://schemas.microsoft.com/office/drawing/2014/main" id="{12A5DE94-7B01-CF7B-72BB-15451DCD013E}"/>
              </a:ext>
            </a:extLst>
          </p:cNvPr>
          <p:cNvSpPr txBox="1"/>
          <p:nvPr/>
        </p:nvSpPr>
        <p:spPr>
          <a:xfrm>
            <a:off x="921600" y="2282629"/>
            <a:ext cx="2268000" cy="345600"/>
          </a:xfrm>
          <a:prstGeom prst="rect">
            <a:avLst/>
          </a:prstGeom>
          <a:noFill/>
        </p:spPr>
        <p:txBody>
          <a:bodyPr wrap="none" lIns="0" tIns="0" rIns="0" bIns="0" anchor="ctr">
            <a:spAutoFit/>
          </a:bodyPr>
          <a:lstStyle/>
          <a:p>
            <a:pPr algn="l">
              <a:spcBef>
                <a:spcPts val="0"/>
              </a:spcBef>
              <a:spcAft>
                <a:spcPts val="0"/>
              </a:spcAft>
            </a:pPr>
            <a:r>
              <a:rPr sz="2200" b="1">
                <a:solidFill>
                  <a:srgbClr val="BF9000"/>
                </a:solidFill>
                <a:latin typeface="Meiryo"/>
                <a:ea typeface="Meiryo"/>
                <a:cs typeface="Meiryo"/>
              </a:rPr>
              <a:t>心臓（左室）</a:t>
            </a:r>
          </a:p>
        </p:txBody>
      </p:sp>
      <p:sp>
        <p:nvSpPr>
          <p:cNvPr id="21" name="TextBox 20">
            <a:extLst>
              <a:ext uri="{FF2B5EF4-FFF2-40B4-BE49-F238E27FC236}">
                <a16:creationId xmlns:a16="http://schemas.microsoft.com/office/drawing/2014/main" id="{58293747-D317-5DCB-543D-BE3EE44BEA3F}"/>
              </a:ext>
            </a:extLst>
          </p:cNvPr>
          <p:cNvSpPr txBox="1"/>
          <p:nvPr/>
        </p:nvSpPr>
        <p:spPr>
          <a:xfrm>
            <a:off x="4320000" y="2282629"/>
            <a:ext cx="1116000" cy="3456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指先</a:t>
            </a:r>
          </a:p>
        </p:txBody>
      </p:sp>
      <p:sp>
        <p:nvSpPr>
          <p:cNvPr id="22" name="TextBox 21">
            <a:extLst>
              <a:ext uri="{FF2B5EF4-FFF2-40B4-BE49-F238E27FC236}">
                <a16:creationId xmlns:a16="http://schemas.microsoft.com/office/drawing/2014/main" id="{08F0CCF5-5144-43D6-1BB6-2BD2945944B1}"/>
              </a:ext>
            </a:extLst>
          </p:cNvPr>
          <p:cNvSpPr txBox="1"/>
          <p:nvPr/>
        </p:nvSpPr>
        <p:spPr>
          <a:xfrm>
            <a:off x="2390400" y="3895429"/>
            <a:ext cx="2015999" cy="3456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下行大動脈</a:t>
            </a:r>
          </a:p>
        </p:txBody>
      </p:sp>
      <p:sp>
        <p:nvSpPr>
          <p:cNvPr id="23" name="TextBox 22">
            <a:extLst>
              <a:ext uri="{FF2B5EF4-FFF2-40B4-BE49-F238E27FC236}">
                <a16:creationId xmlns:a16="http://schemas.microsoft.com/office/drawing/2014/main" id="{95D17C31-CE9F-6436-E3EC-9C203ACDF047}"/>
              </a:ext>
            </a:extLst>
          </p:cNvPr>
          <p:cNvSpPr txBox="1"/>
          <p:nvPr/>
        </p:nvSpPr>
        <p:spPr>
          <a:xfrm>
            <a:off x="2476800" y="5177029"/>
            <a:ext cx="2988000" cy="3456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下半身へ</a:t>
            </a:r>
          </a:p>
        </p:txBody>
      </p:sp>
      <p:sp>
        <p:nvSpPr>
          <p:cNvPr id="24" name="TextBox 23">
            <a:extLst>
              <a:ext uri="{FF2B5EF4-FFF2-40B4-BE49-F238E27FC236}">
                <a16:creationId xmlns:a16="http://schemas.microsoft.com/office/drawing/2014/main" id="{21710870-005C-97CF-8DE7-7788C39CC068}"/>
              </a:ext>
            </a:extLst>
          </p:cNvPr>
          <p:cNvSpPr txBox="1"/>
          <p:nvPr/>
        </p:nvSpPr>
        <p:spPr>
          <a:xfrm>
            <a:off x="6300001" y="2661567"/>
            <a:ext cx="2425729" cy="338554"/>
          </a:xfrm>
          <a:prstGeom prst="rect">
            <a:avLst/>
          </a:prstGeom>
          <a:noFill/>
        </p:spPr>
        <p:txBody>
          <a:bodyPr wrap="none" lIns="0" tIns="0" rIns="0" bIns="0" anchor="ctr">
            <a:spAutoFit/>
          </a:bodyPr>
          <a:lstStyle/>
          <a:p>
            <a:pPr algn="l">
              <a:spcBef>
                <a:spcPts val="0"/>
              </a:spcBef>
              <a:spcAft>
                <a:spcPts val="0"/>
              </a:spcAft>
            </a:pPr>
            <a:r>
              <a:rPr sz="2200" b="1" dirty="0" err="1">
                <a:solidFill>
                  <a:srgbClr val="0072B2"/>
                </a:solidFill>
                <a:latin typeface="Meiryo"/>
                <a:ea typeface="Meiryo"/>
                <a:cs typeface="Meiryo"/>
              </a:rPr>
              <a:t>圧脈波</a:t>
            </a:r>
            <a:r>
              <a:rPr sz="2200" b="1" dirty="0">
                <a:solidFill>
                  <a:srgbClr val="0072B2"/>
                </a:solidFill>
                <a:latin typeface="Meiryo"/>
                <a:ea typeface="Meiryo"/>
                <a:cs typeface="Meiryo"/>
              </a:rPr>
              <a:t> 5–10 m/s</a:t>
            </a:r>
          </a:p>
        </p:txBody>
      </p:sp>
      <p:sp>
        <p:nvSpPr>
          <p:cNvPr id="25" name="Right Arrow 24">
            <a:extLst>
              <a:ext uri="{FF2B5EF4-FFF2-40B4-BE49-F238E27FC236}">
                <a16:creationId xmlns:a16="http://schemas.microsoft.com/office/drawing/2014/main" id="{09782EA6-1EFE-C8D6-6352-C0C1C5F33A9C}"/>
              </a:ext>
            </a:extLst>
          </p:cNvPr>
          <p:cNvSpPr/>
          <p:nvPr/>
        </p:nvSpPr>
        <p:spPr>
          <a:xfrm>
            <a:off x="6300001" y="3057644"/>
            <a:ext cx="4680000" cy="198000"/>
          </a:xfrm>
          <a:prstGeom prst="rightArrow">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fig_wave_vessel" descr="f13_fwd_vessel.png">
            <a:extLst>
              <a:ext uri="{FF2B5EF4-FFF2-40B4-BE49-F238E27FC236}">
                <a16:creationId xmlns:a16="http://schemas.microsoft.com/office/drawing/2014/main" id="{1CC4D179-FBED-65C3-02F3-34A54B8BCE13}"/>
              </a:ext>
            </a:extLst>
          </p:cNvPr>
          <p:cNvPicPr>
            <a:picLocks noChangeAspect="1"/>
          </p:cNvPicPr>
          <p:nvPr/>
        </p:nvPicPr>
        <p:blipFill>
          <a:blip r:embed="rId4"/>
          <a:stretch>
            <a:fillRect/>
          </a:stretch>
        </p:blipFill>
        <p:spPr>
          <a:xfrm>
            <a:off x="6300001" y="3791732"/>
            <a:ext cx="4635000" cy="1854000"/>
          </a:xfrm>
          <a:prstGeom prst="rect">
            <a:avLst/>
          </a:prstGeom>
        </p:spPr>
      </p:pic>
      <p:sp>
        <p:nvSpPr>
          <p:cNvPr id="32"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　／　5. Politi 2016</a:t>
            </a:r>
          </a:p>
        </p:txBody>
      </p:sp>
      <p:sp>
        <p:nvSpPr>
          <p:cNvPr id="33"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18/118</a:t>
            </a:r>
          </a:p>
        </p:txBody>
      </p:sp>
      <p:sp>
        <p:nvSpPr>
          <p:cNvPr id="101" name="Off-page Connector 4">
            <a:extLst>
              <a:ext uri="{FF2B5EF4-FFF2-40B4-BE49-F238E27FC236}">
                <a16:creationId xmlns:a16="http://schemas.microsoft.com/office/drawing/2014/main" id="{AA9D36CE-3772-F005-B54C-9329ADA7F086}"/>
              </a:ext>
            </a:extLst>
          </p:cNvPr>
          <p:cNvSpPr/>
          <p:nvPr/>
        </p:nvSpPr>
        <p:spPr>
          <a:xfrm>
            <a:off x="821448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25087685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1.4  </a:t>
            </a:r>
            <a:r>
              <a:rPr sz="4600" dirty="0" err="1">
                <a:latin typeface="Meiryo"/>
                <a:ea typeface="Meiryo"/>
                <a:cs typeface="Meiryo"/>
              </a:rPr>
              <a:t>反射波の成因</a:t>
            </a:r>
            <a:endParaRPr sz="4600" dirty="0">
              <a:latin typeface="Meiryo"/>
              <a:ea typeface="Meiryo"/>
              <a:cs typeface="Meiryo"/>
            </a:endParaRPr>
          </a:p>
        </p:txBody>
      </p:sp>
      <p:pic>
        <p:nvPicPr>
          <p:cNvPr id="19" name="fig_body" descr="f13_body.png"/>
          <p:cNvPicPr>
            <a:picLocks noChangeAspect="1"/>
          </p:cNvPicPr>
          <p:nvPr/>
        </p:nvPicPr>
        <p:blipFill>
          <a:blip r:embed="rId3"/>
          <a:stretch>
            <a:fillRect/>
          </a:stretch>
        </p:blipFill>
        <p:spPr>
          <a:xfrm>
            <a:off x="864000" y="1707040"/>
            <a:ext cx="4608000" cy="3744000"/>
          </a:xfrm>
          <a:prstGeom prst="rect">
            <a:avLst/>
          </a:prstGeom>
        </p:spPr>
      </p:pic>
      <p:sp>
        <p:nvSpPr>
          <p:cNvPr id="20" name="TextBox 19"/>
          <p:cNvSpPr txBox="1"/>
          <p:nvPr/>
        </p:nvSpPr>
        <p:spPr>
          <a:xfrm>
            <a:off x="921600" y="1995040"/>
            <a:ext cx="2268000" cy="345600"/>
          </a:xfrm>
          <a:prstGeom prst="rect">
            <a:avLst/>
          </a:prstGeom>
          <a:noFill/>
        </p:spPr>
        <p:txBody>
          <a:bodyPr wrap="none" lIns="0" tIns="0" rIns="0" bIns="0" anchor="ctr">
            <a:spAutoFit/>
          </a:bodyPr>
          <a:lstStyle/>
          <a:p>
            <a:pPr algn="l">
              <a:spcBef>
                <a:spcPts val="0"/>
              </a:spcBef>
              <a:spcAft>
                <a:spcPts val="0"/>
              </a:spcAft>
            </a:pPr>
            <a:r>
              <a:rPr sz="2200" b="1">
                <a:solidFill>
                  <a:srgbClr val="BF9000"/>
                </a:solidFill>
                <a:latin typeface="Meiryo"/>
                <a:ea typeface="Meiryo"/>
                <a:cs typeface="Meiryo"/>
              </a:rPr>
              <a:t>心臓（左室）</a:t>
            </a:r>
          </a:p>
        </p:txBody>
      </p:sp>
      <p:sp>
        <p:nvSpPr>
          <p:cNvPr id="21" name="TextBox 20"/>
          <p:cNvSpPr txBox="1"/>
          <p:nvPr/>
        </p:nvSpPr>
        <p:spPr>
          <a:xfrm>
            <a:off x="4320000" y="1995040"/>
            <a:ext cx="1116000" cy="3456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指先</a:t>
            </a:r>
          </a:p>
        </p:txBody>
      </p:sp>
      <p:sp>
        <p:nvSpPr>
          <p:cNvPr id="22" name="TextBox 21"/>
          <p:cNvSpPr txBox="1"/>
          <p:nvPr/>
        </p:nvSpPr>
        <p:spPr>
          <a:xfrm>
            <a:off x="2390400" y="3607840"/>
            <a:ext cx="2015999" cy="3456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下行大動脈</a:t>
            </a:r>
          </a:p>
        </p:txBody>
      </p:sp>
      <p:sp>
        <p:nvSpPr>
          <p:cNvPr id="23" name="TextBox 22"/>
          <p:cNvSpPr txBox="1"/>
          <p:nvPr/>
        </p:nvSpPr>
        <p:spPr>
          <a:xfrm>
            <a:off x="2476800" y="4550886"/>
            <a:ext cx="3196388" cy="677108"/>
          </a:xfrm>
          <a:prstGeom prst="rect">
            <a:avLst/>
          </a:prstGeom>
          <a:noFill/>
        </p:spPr>
        <p:txBody>
          <a:bodyPr wrap="none" lIns="0" tIns="0" rIns="0" bIns="0" anchor="ctr">
            <a:spAutoFit/>
          </a:bodyPr>
          <a:lstStyle/>
          <a:p>
            <a:pPr algn="l">
              <a:spcBef>
                <a:spcPts val="0"/>
              </a:spcBef>
              <a:spcAft>
                <a:spcPts val="0"/>
              </a:spcAft>
            </a:pPr>
            <a:r>
              <a:rPr lang="ja-JP" altLang="en-US" sz="2200" b="1">
                <a:solidFill>
                  <a:srgbClr val="262626"/>
                </a:solidFill>
                <a:latin typeface="Meiryo"/>
                <a:ea typeface="Meiryo"/>
                <a:cs typeface="Meiryo"/>
              </a:rPr>
              <a:t>体幹</a:t>
            </a:r>
            <a:r>
              <a:rPr sz="2200" b="1" dirty="0">
                <a:solidFill>
                  <a:srgbClr val="262626"/>
                </a:solidFill>
                <a:latin typeface="Meiryo"/>
                <a:ea typeface="Meiryo"/>
                <a:cs typeface="Meiryo"/>
              </a:rPr>
              <a:t>・</a:t>
            </a:r>
            <a:r>
              <a:rPr sz="2200" b="1" dirty="0" err="1">
                <a:solidFill>
                  <a:srgbClr val="262626"/>
                </a:solidFill>
                <a:latin typeface="Meiryo"/>
                <a:ea typeface="Meiryo"/>
                <a:cs typeface="Meiryo"/>
              </a:rPr>
              <a:t>下肢</a:t>
            </a:r>
            <a:r>
              <a:rPr lang="ja-JP" altLang="en-US" sz="2200" b="1">
                <a:solidFill>
                  <a:srgbClr val="262626"/>
                </a:solidFill>
                <a:latin typeface="Meiryo"/>
                <a:ea typeface="Meiryo"/>
                <a:cs typeface="Meiryo"/>
              </a:rPr>
              <a:t>の長経路</a:t>
            </a:r>
            <a:endParaRPr sz="2200" b="1" dirty="0">
              <a:solidFill>
                <a:srgbClr val="262626"/>
              </a:solidFill>
              <a:latin typeface="Meiryo"/>
              <a:ea typeface="Meiryo"/>
              <a:cs typeface="Meiryo"/>
            </a:endParaRPr>
          </a:p>
          <a:p>
            <a:pPr algn="l">
              <a:spcBef>
                <a:spcPts val="0"/>
              </a:spcBef>
              <a:spcAft>
                <a:spcPts val="0"/>
              </a:spcAft>
            </a:pPr>
            <a:r>
              <a:rPr sz="2200" b="1" dirty="0">
                <a:solidFill>
                  <a:srgbClr val="262626"/>
                </a:solidFill>
                <a:latin typeface="Meiryo"/>
                <a:ea typeface="Meiryo"/>
                <a:cs typeface="Meiryo"/>
              </a:rPr>
              <a:t>＝ </a:t>
            </a:r>
            <a:r>
              <a:rPr sz="2200" b="1" dirty="0" err="1">
                <a:solidFill>
                  <a:srgbClr val="262626"/>
                </a:solidFill>
                <a:latin typeface="Meiryo"/>
                <a:ea typeface="Meiryo"/>
                <a:cs typeface="Meiryo"/>
              </a:rPr>
              <a:t>主な</a:t>
            </a:r>
            <a:r>
              <a:rPr lang="ja-JP" altLang="en-US" sz="2200" b="1">
                <a:solidFill>
                  <a:srgbClr val="262626"/>
                </a:solidFill>
                <a:latin typeface="Meiryo"/>
                <a:ea typeface="Meiryo"/>
                <a:cs typeface="Meiryo"/>
              </a:rPr>
              <a:t>見かけの</a:t>
            </a:r>
            <a:r>
              <a:rPr sz="2200" b="1" dirty="0" err="1">
                <a:solidFill>
                  <a:srgbClr val="262626"/>
                </a:solidFill>
                <a:latin typeface="Meiryo"/>
                <a:ea typeface="Meiryo"/>
                <a:cs typeface="Meiryo"/>
              </a:rPr>
              <a:t>反射部位</a:t>
            </a:r>
            <a:endParaRPr sz="2200" b="1" dirty="0">
              <a:solidFill>
                <a:srgbClr val="262626"/>
              </a:solidFill>
              <a:latin typeface="Meiryo"/>
              <a:ea typeface="Meiryo"/>
              <a:cs typeface="Meiryo"/>
            </a:endParaRPr>
          </a:p>
        </p:txBody>
      </p:sp>
      <p:sp>
        <p:nvSpPr>
          <p:cNvPr id="25" name="TextBox 24"/>
          <p:cNvSpPr txBox="1"/>
          <p:nvPr/>
        </p:nvSpPr>
        <p:spPr>
          <a:xfrm>
            <a:off x="6665099" y="2384183"/>
            <a:ext cx="4231928" cy="677108"/>
          </a:xfrm>
          <a:prstGeom prst="rect">
            <a:avLst/>
          </a:prstGeom>
          <a:noFill/>
        </p:spPr>
        <p:txBody>
          <a:bodyPr wrap="none" lIns="0" tIns="0" rIns="0" bIns="0" anchor="ctr">
            <a:spAutoFit/>
          </a:bodyPr>
          <a:lstStyle/>
          <a:p>
            <a:pPr algn="l">
              <a:spcBef>
                <a:spcPts val="0"/>
              </a:spcBef>
              <a:spcAft>
                <a:spcPts val="0"/>
              </a:spcAft>
            </a:pPr>
            <a:r>
              <a:rPr lang="ja-JP" altLang="en-US" sz="2200" b="1">
                <a:solidFill>
                  <a:srgbClr val="D55E00"/>
                </a:solidFill>
                <a:latin typeface="Meiryo"/>
                <a:ea typeface="Meiryo"/>
                <a:cs typeface="Meiryo"/>
              </a:rPr>
              <a:t>体幹から下肢を中心とした</a:t>
            </a:r>
            <a:r>
              <a:rPr sz="2200" b="1" dirty="0" err="1">
                <a:solidFill>
                  <a:srgbClr val="D55E00"/>
                </a:solidFill>
                <a:latin typeface="Meiryo"/>
                <a:ea typeface="Meiryo"/>
                <a:cs typeface="Meiryo"/>
              </a:rPr>
              <a:t>反射</a:t>
            </a:r>
            <a:r>
              <a:rPr lang="ja-JP" altLang="en-US" sz="2200" b="1">
                <a:solidFill>
                  <a:srgbClr val="D55E00"/>
                </a:solidFill>
                <a:latin typeface="Meiryo"/>
                <a:ea typeface="Meiryo"/>
                <a:cs typeface="Meiryo"/>
              </a:rPr>
              <a:t>が</a:t>
            </a:r>
            <a:endParaRPr lang="en-US" altLang="ja-JP" sz="2200" b="1" dirty="0">
              <a:solidFill>
                <a:srgbClr val="D55E00"/>
              </a:solidFill>
              <a:latin typeface="Meiryo"/>
              <a:ea typeface="Meiryo"/>
              <a:cs typeface="Meiryo"/>
            </a:endParaRPr>
          </a:p>
          <a:p>
            <a:r>
              <a:rPr lang="ja-JP" altLang="en-US" sz="2200" b="1">
                <a:solidFill>
                  <a:srgbClr val="D55E00"/>
                </a:solidFill>
                <a:latin typeface="Meiryo"/>
                <a:ea typeface="Meiryo"/>
                <a:cs typeface="Meiryo"/>
              </a:rPr>
              <a:t>大動脈を遡って再度測定部位へ</a:t>
            </a:r>
            <a:endParaRPr sz="2200" b="1" dirty="0">
              <a:solidFill>
                <a:srgbClr val="D55E00"/>
              </a:solidFill>
              <a:latin typeface="Meiryo"/>
              <a:ea typeface="Meiryo"/>
              <a:cs typeface="Meiryo"/>
            </a:endParaRPr>
          </a:p>
        </p:txBody>
      </p:sp>
      <p:pic>
        <p:nvPicPr>
          <p:cNvPr id="27" name="fig_wave" descr="f13_wave.png"/>
          <p:cNvPicPr>
            <a:picLocks noChangeAspect="1"/>
          </p:cNvPicPr>
          <p:nvPr/>
        </p:nvPicPr>
        <p:blipFill>
          <a:blip r:embed="rId4"/>
          <a:stretch>
            <a:fillRect/>
          </a:stretch>
        </p:blipFill>
        <p:spPr>
          <a:xfrm>
            <a:off x="6384001" y="3402644"/>
            <a:ext cx="4320000" cy="1584000"/>
          </a:xfrm>
          <a:prstGeom prst="rect">
            <a:avLst/>
          </a:prstGeom>
        </p:spPr>
      </p:pic>
      <p:sp>
        <p:nvSpPr>
          <p:cNvPr id="28" name="TextBox 27"/>
          <p:cNvSpPr txBox="1"/>
          <p:nvPr/>
        </p:nvSpPr>
        <p:spPr>
          <a:xfrm>
            <a:off x="9120001" y="3834645"/>
            <a:ext cx="2304000" cy="360000"/>
          </a:xfrm>
          <a:prstGeom prst="rect">
            <a:avLst/>
          </a:prstGeom>
          <a:noFill/>
        </p:spPr>
        <p:txBody>
          <a:bodyPr wrap="none" lIns="0" tIns="0" rIns="0" bIns="0" anchor="ctr">
            <a:spAutoFit/>
          </a:bodyPr>
          <a:lstStyle/>
          <a:p>
            <a:pPr algn="l">
              <a:spcBef>
                <a:spcPts val="0"/>
              </a:spcBef>
              <a:spcAft>
                <a:spcPts val="0"/>
              </a:spcAft>
            </a:pPr>
            <a:r>
              <a:rPr sz="2200" b="1">
                <a:solidFill>
                  <a:srgbClr val="BF9000"/>
                </a:solidFill>
                <a:latin typeface="Meiryo"/>
                <a:ea typeface="Meiryo"/>
                <a:cs typeface="Meiryo"/>
              </a:rPr>
              <a:t>重複切痕</a:t>
            </a:r>
          </a:p>
        </p:txBody>
      </p:sp>
      <p:sp>
        <p:nvSpPr>
          <p:cNvPr id="29" name="TextBox 28"/>
          <p:cNvSpPr txBox="1"/>
          <p:nvPr/>
        </p:nvSpPr>
        <p:spPr>
          <a:xfrm>
            <a:off x="7421357" y="5195368"/>
            <a:ext cx="2821285" cy="338554"/>
          </a:xfrm>
          <a:prstGeom prst="rect">
            <a:avLst/>
          </a:prstGeom>
          <a:noFill/>
        </p:spPr>
        <p:txBody>
          <a:bodyPr wrap="none" lIns="0" tIns="0" rIns="0" bIns="0" anchor="ctr">
            <a:spAutoFit/>
          </a:bodyPr>
          <a:lstStyle/>
          <a:p>
            <a:pPr algn="ctr">
              <a:spcBef>
                <a:spcPts val="0"/>
              </a:spcBef>
              <a:spcAft>
                <a:spcPts val="0"/>
              </a:spcAft>
            </a:pPr>
            <a:r>
              <a:rPr lang="ja-JP" altLang="en-US" sz="2200" b="1">
                <a:solidFill>
                  <a:srgbClr val="262626"/>
                </a:solidFill>
                <a:latin typeface="Meiryo"/>
                <a:ea typeface="Meiryo"/>
                <a:cs typeface="Meiryo"/>
              </a:rPr>
              <a:t>指先</a:t>
            </a:r>
            <a:r>
              <a:rPr sz="2200" b="1" dirty="0">
                <a:solidFill>
                  <a:srgbClr val="262626"/>
                </a:solidFill>
                <a:latin typeface="Meiryo"/>
                <a:ea typeface="Meiryo"/>
                <a:cs typeface="Meiryo"/>
              </a:rPr>
              <a:t>＝</a:t>
            </a:r>
            <a:r>
              <a:rPr sz="2200" b="1" dirty="0" err="1">
                <a:solidFill>
                  <a:srgbClr val="262626"/>
                </a:solidFill>
                <a:latin typeface="Meiryo"/>
                <a:ea typeface="Meiryo"/>
                <a:cs typeface="Meiryo"/>
              </a:rPr>
              <a:t>前進波＋反射波</a:t>
            </a:r>
            <a:endParaRPr sz="2200" b="1" dirty="0">
              <a:solidFill>
                <a:srgbClr val="262626"/>
              </a:solidFill>
              <a:latin typeface="Meiryo"/>
              <a:ea typeface="Meiryo"/>
              <a:cs typeface="Meiryo"/>
            </a:endParaRPr>
          </a:p>
        </p:txBody>
      </p:sp>
      <p:sp>
        <p:nvSpPr>
          <p:cNvPr id="30" name="Rounded Rectangle 29"/>
          <p:cNvSpPr/>
          <p:nvPr/>
        </p:nvSpPr>
        <p:spPr>
          <a:xfrm>
            <a:off x="864000" y="5903999"/>
            <a:ext cx="10440000" cy="54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lang="en-US" sz="2400" b="1" dirty="0" err="1">
                <a:solidFill>
                  <a:srgbClr val="262626"/>
                </a:solidFill>
                <a:latin typeface="Meiryo"/>
                <a:ea typeface="Meiryo"/>
                <a:cs typeface="Meiryo"/>
              </a:rPr>
              <a:t>前進波と反射波の合成によりPPG波形は成り立つ。</a:t>
            </a:r>
            <a:endParaRPr sz="2400" b="1" dirty="0">
              <a:solidFill>
                <a:srgbClr val="262626"/>
              </a:solidFill>
              <a:latin typeface="Meiryo"/>
              <a:ea typeface="Meiryo"/>
              <a:cs typeface="Meiryo"/>
            </a:endParaRPr>
          </a:p>
        </p:txBody>
      </p:sp>
      <p:sp>
        <p:nvSpPr>
          <p:cNvPr id="31"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　／　5. Politi 2016　／　6. Millasseau 2002</a:t>
            </a:r>
          </a:p>
        </p:txBody>
      </p:sp>
      <p:sp>
        <p:nvSpPr>
          <p:cNvPr id="3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19/118</a:t>
            </a:r>
          </a:p>
        </p:txBody>
      </p:sp>
      <p:sp>
        <p:nvSpPr>
          <p:cNvPr id="101" name="Off-page Connector 4">
            <a:extLst>
              <a:ext uri="{FF2B5EF4-FFF2-40B4-BE49-F238E27FC236}">
                <a16:creationId xmlns:a16="http://schemas.microsoft.com/office/drawing/2014/main" id="{AA9D36CE-3772-F005-B54C-9329ADA7F086}"/>
              </a:ext>
            </a:extLst>
          </p:cNvPr>
          <p:cNvSpPr/>
          <p:nvPr/>
        </p:nvSpPr>
        <p:spPr>
          <a:xfrm>
            <a:off x="821448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1.5  PPG基礎まとめ</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　／　2. Aoyagi 2003　／　3. Chan 2013　／　5. Politi 2016</a:t>
            </a:r>
          </a:p>
        </p:txBody>
      </p:sp>
      <p:sp>
        <p:nvSpPr>
          <p:cNvPr id="18" name="Rounded Rectangle 17"/>
          <p:cNvSpPr/>
          <p:nvPr/>
        </p:nvSpPr>
        <p:spPr>
          <a:xfrm>
            <a:off x="502920" y="1737360"/>
            <a:ext cx="3529584" cy="301752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nSpc>
                <a:spcPct val="150000"/>
              </a:lnSpc>
            </a:pPr>
            <a:endParaRPr dirty="0"/>
          </a:p>
        </p:txBody>
      </p:sp>
      <p:sp>
        <p:nvSpPr>
          <p:cNvPr id="19" name="TextBox 18"/>
          <p:cNvSpPr txBox="1"/>
          <p:nvPr/>
        </p:nvSpPr>
        <p:spPr>
          <a:xfrm>
            <a:off x="685800" y="1883664"/>
            <a:ext cx="548640" cy="597121"/>
          </a:xfrm>
          <a:prstGeom prst="rect">
            <a:avLst/>
          </a:prstGeom>
          <a:noFill/>
        </p:spPr>
        <p:txBody>
          <a:bodyPr wrap="square" lIns="0" tIns="0" rIns="0" bIns="0" anchor="t">
            <a:spAutoFit/>
          </a:bodyPr>
          <a:lstStyle/>
          <a:p>
            <a:pPr algn="l"/>
            <a:r>
              <a:rPr sz="2800" b="1">
                <a:solidFill>
                  <a:srgbClr val="0072B2"/>
                </a:solidFill>
                <a:latin typeface="Meiryo"/>
                <a:ea typeface="Meiryo"/>
                <a:cs typeface="Meiryo"/>
              </a:rPr>
              <a:t>①</a:t>
            </a:r>
          </a:p>
        </p:txBody>
      </p:sp>
      <p:sp>
        <p:nvSpPr>
          <p:cNvPr id="20" name="TextBox 19"/>
          <p:cNvSpPr txBox="1"/>
          <p:nvPr/>
        </p:nvSpPr>
        <p:spPr>
          <a:xfrm>
            <a:off x="1234440" y="1920240"/>
            <a:ext cx="2651760" cy="541553"/>
          </a:xfrm>
          <a:prstGeom prst="rect">
            <a:avLst/>
          </a:prstGeom>
          <a:noFill/>
        </p:spPr>
        <p:txBody>
          <a:bodyPr wrap="square" lIns="0" tIns="0" rIns="0" bIns="0" anchor="t">
            <a:spAutoFit/>
          </a:bodyPr>
          <a:lstStyle/>
          <a:p>
            <a:pPr algn="l"/>
            <a:r>
              <a:rPr sz="2500" b="1" dirty="0">
                <a:solidFill>
                  <a:srgbClr val="0072B2"/>
                </a:solidFill>
                <a:latin typeface="Meiryo"/>
                <a:ea typeface="Meiryo"/>
                <a:cs typeface="Meiryo"/>
              </a:rPr>
              <a:t>SpO₂</a:t>
            </a:r>
            <a:r>
              <a:rPr lang="en-US" sz="2500" b="1" dirty="0">
                <a:solidFill>
                  <a:srgbClr val="0072B2"/>
                </a:solidFill>
                <a:latin typeface="Meiryo"/>
                <a:ea typeface="Meiryo"/>
                <a:cs typeface="Meiryo"/>
              </a:rPr>
              <a:t> </a:t>
            </a:r>
            <a:r>
              <a:rPr lang="en-US" sz="2500" b="1" dirty="0" err="1">
                <a:solidFill>
                  <a:srgbClr val="0072B2"/>
                </a:solidFill>
                <a:latin typeface="Meiryo"/>
                <a:ea typeface="Meiryo"/>
                <a:cs typeface="Meiryo"/>
              </a:rPr>
              <a:t>測定原理</a:t>
            </a:r>
            <a:endParaRPr sz="2500" b="1" dirty="0">
              <a:solidFill>
                <a:srgbClr val="0072B2"/>
              </a:solidFill>
              <a:latin typeface="Meiryo"/>
              <a:ea typeface="Meiryo"/>
              <a:cs typeface="Meiryo"/>
            </a:endParaRPr>
          </a:p>
        </p:txBody>
      </p:sp>
      <p:sp>
        <p:nvSpPr>
          <p:cNvPr id="21" name="TextBox 20"/>
          <p:cNvSpPr txBox="1"/>
          <p:nvPr/>
        </p:nvSpPr>
        <p:spPr>
          <a:xfrm>
            <a:off x="731520" y="2514600"/>
            <a:ext cx="3108960" cy="2018032"/>
          </a:xfrm>
          <a:prstGeom prst="rect">
            <a:avLst/>
          </a:prstGeom>
          <a:noFill/>
        </p:spPr>
        <p:txBody>
          <a:bodyPr wrap="square" lIns="0" tIns="0" rIns="0" bIns="0" anchor="t">
            <a:spAutoFit/>
          </a:bodyPr>
          <a:lstStyle/>
          <a:p>
            <a:pPr algn="l">
              <a:lnSpc>
                <a:spcPct val="120000"/>
              </a:lnSpc>
              <a:spcAft>
                <a:spcPts val="600"/>
              </a:spcAft>
            </a:pPr>
            <a:r>
              <a:rPr sz="2300" b="0" dirty="0" err="1">
                <a:solidFill>
                  <a:srgbClr val="262626"/>
                </a:solidFill>
                <a:latin typeface="Meiryo"/>
                <a:ea typeface="Meiryo"/>
                <a:cs typeface="Meiryo"/>
              </a:rPr>
              <a:t>赤色光と赤外光の</a:t>
            </a:r>
            <a:endParaRPr sz="2300" b="0" dirty="0">
              <a:solidFill>
                <a:srgbClr val="262626"/>
              </a:solidFill>
              <a:latin typeface="Meiryo"/>
              <a:ea typeface="Meiryo"/>
              <a:cs typeface="Meiryo"/>
            </a:endParaRPr>
          </a:p>
          <a:p>
            <a:pPr algn="l">
              <a:lnSpc>
                <a:spcPct val="120000"/>
              </a:lnSpc>
              <a:spcAft>
                <a:spcPts val="600"/>
              </a:spcAft>
            </a:pPr>
            <a:r>
              <a:rPr sz="2300" b="0" dirty="0" err="1">
                <a:solidFill>
                  <a:srgbClr val="262626"/>
                </a:solidFill>
                <a:latin typeface="Meiryo"/>
                <a:ea typeface="Meiryo"/>
                <a:cs typeface="Meiryo"/>
              </a:rPr>
              <a:t>吸収の比</a:t>
            </a:r>
            <a:r>
              <a:rPr sz="2300" b="0" dirty="0">
                <a:solidFill>
                  <a:srgbClr val="262626"/>
                </a:solidFill>
                <a:latin typeface="Meiryo"/>
                <a:ea typeface="Meiryo"/>
                <a:cs typeface="Meiryo"/>
              </a:rPr>
              <a:t> R </a:t>
            </a:r>
            <a:r>
              <a:rPr sz="2300" b="0" dirty="0" err="1">
                <a:solidFill>
                  <a:srgbClr val="262626"/>
                </a:solidFill>
                <a:latin typeface="Meiryo"/>
                <a:ea typeface="Meiryo"/>
                <a:cs typeface="Meiryo"/>
              </a:rPr>
              <a:t>を</a:t>
            </a:r>
            <a:endParaRPr sz="2300" b="0" dirty="0">
              <a:solidFill>
                <a:srgbClr val="262626"/>
              </a:solidFill>
              <a:latin typeface="Meiryo"/>
              <a:ea typeface="Meiryo"/>
              <a:cs typeface="Meiryo"/>
            </a:endParaRPr>
          </a:p>
          <a:p>
            <a:pPr algn="l">
              <a:lnSpc>
                <a:spcPct val="120000"/>
              </a:lnSpc>
              <a:spcAft>
                <a:spcPts val="600"/>
              </a:spcAft>
            </a:pPr>
            <a:r>
              <a:rPr sz="2300" b="0" dirty="0" err="1">
                <a:solidFill>
                  <a:srgbClr val="262626"/>
                </a:solidFill>
                <a:latin typeface="Meiryo"/>
                <a:ea typeface="Meiryo"/>
                <a:cs typeface="Meiryo"/>
              </a:rPr>
              <a:t>健常者の較正表に</a:t>
            </a:r>
            <a:endParaRPr sz="2300" b="0" dirty="0">
              <a:solidFill>
                <a:srgbClr val="262626"/>
              </a:solidFill>
              <a:latin typeface="Meiryo"/>
              <a:ea typeface="Meiryo"/>
              <a:cs typeface="Meiryo"/>
            </a:endParaRPr>
          </a:p>
          <a:p>
            <a:pPr algn="l">
              <a:lnSpc>
                <a:spcPct val="120000"/>
              </a:lnSpc>
              <a:spcAft>
                <a:spcPts val="600"/>
              </a:spcAft>
            </a:pPr>
            <a:r>
              <a:rPr sz="2300" b="0" dirty="0" err="1">
                <a:solidFill>
                  <a:srgbClr val="262626"/>
                </a:solidFill>
                <a:latin typeface="Meiryo"/>
                <a:ea typeface="Meiryo"/>
                <a:cs typeface="Meiryo"/>
              </a:rPr>
              <a:t>当てはめた推定値。</a:t>
            </a:r>
            <a:endParaRPr sz="2300" b="0" dirty="0">
              <a:solidFill>
                <a:srgbClr val="262626"/>
              </a:solidFill>
              <a:latin typeface="Meiryo"/>
              <a:ea typeface="Meiryo"/>
              <a:cs typeface="Meiryo"/>
            </a:endParaRPr>
          </a:p>
        </p:txBody>
      </p:sp>
      <p:sp>
        <p:nvSpPr>
          <p:cNvPr id="22" name="Rounded Rectangle 21"/>
          <p:cNvSpPr/>
          <p:nvPr/>
        </p:nvSpPr>
        <p:spPr>
          <a:xfrm>
            <a:off x="4306824" y="1737360"/>
            <a:ext cx="3529584" cy="3017520"/>
          </a:xfrm>
          <a:prstGeom prst="roundRect">
            <a:avLst/>
          </a:prstGeom>
          <a:solidFill>
            <a:srgbClr val="F2F2F2"/>
          </a:solidFill>
          <a:ln w="2857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4489704" y="1883664"/>
            <a:ext cx="548640" cy="597121"/>
          </a:xfrm>
          <a:prstGeom prst="rect">
            <a:avLst/>
          </a:prstGeom>
          <a:noFill/>
        </p:spPr>
        <p:txBody>
          <a:bodyPr wrap="square" lIns="0" tIns="0" rIns="0" bIns="0" anchor="t">
            <a:spAutoFit/>
          </a:bodyPr>
          <a:lstStyle/>
          <a:p>
            <a:pPr algn="l"/>
            <a:r>
              <a:rPr sz="2800" b="1">
                <a:solidFill>
                  <a:srgbClr val="D55E00"/>
                </a:solidFill>
                <a:latin typeface="Meiryo"/>
                <a:ea typeface="Meiryo"/>
                <a:cs typeface="Meiryo"/>
              </a:rPr>
              <a:t>②</a:t>
            </a:r>
          </a:p>
        </p:txBody>
      </p:sp>
      <p:sp>
        <p:nvSpPr>
          <p:cNvPr id="24" name="TextBox 23"/>
          <p:cNvSpPr txBox="1"/>
          <p:nvPr/>
        </p:nvSpPr>
        <p:spPr>
          <a:xfrm>
            <a:off x="5038344" y="1920240"/>
            <a:ext cx="2651760" cy="541553"/>
          </a:xfrm>
          <a:prstGeom prst="rect">
            <a:avLst/>
          </a:prstGeom>
          <a:noFill/>
        </p:spPr>
        <p:txBody>
          <a:bodyPr wrap="square" lIns="0" tIns="0" rIns="0" bIns="0" anchor="t">
            <a:spAutoFit/>
          </a:bodyPr>
          <a:lstStyle/>
          <a:p>
            <a:pPr algn="l"/>
            <a:r>
              <a:rPr sz="2500" b="1" dirty="0">
                <a:solidFill>
                  <a:srgbClr val="D55E00"/>
                </a:solidFill>
                <a:latin typeface="Meiryo"/>
                <a:ea typeface="Meiryo"/>
                <a:cs typeface="Meiryo"/>
              </a:rPr>
              <a:t>PPG </a:t>
            </a:r>
            <a:r>
              <a:rPr lang="ja-JP" altLang="en-US" sz="2500" b="1">
                <a:solidFill>
                  <a:srgbClr val="D55E00"/>
                </a:solidFill>
                <a:latin typeface="Meiryo"/>
                <a:ea typeface="Meiryo"/>
                <a:cs typeface="Meiryo"/>
              </a:rPr>
              <a:t>が測るもの</a:t>
            </a:r>
            <a:endParaRPr sz="2500" b="1" dirty="0">
              <a:solidFill>
                <a:srgbClr val="D55E00"/>
              </a:solidFill>
              <a:latin typeface="Meiryo"/>
              <a:ea typeface="Meiryo"/>
              <a:cs typeface="Meiryo"/>
            </a:endParaRPr>
          </a:p>
        </p:txBody>
      </p:sp>
      <p:sp>
        <p:nvSpPr>
          <p:cNvPr id="25" name="TextBox 24"/>
          <p:cNvSpPr txBox="1"/>
          <p:nvPr/>
        </p:nvSpPr>
        <p:spPr>
          <a:xfrm>
            <a:off x="4535424" y="2514600"/>
            <a:ext cx="3108960" cy="2004395"/>
          </a:xfrm>
          <a:prstGeom prst="rect">
            <a:avLst/>
          </a:prstGeom>
          <a:noFill/>
        </p:spPr>
        <p:txBody>
          <a:bodyPr wrap="square" lIns="0" tIns="0" rIns="0" bIns="0" anchor="t">
            <a:spAutoFit/>
          </a:bodyPr>
          <a:lstStyle/>
          <a:p>
            <a:pPr algn="l">
              <a:lnSpc>
                <a:spcPct val="120000"/>
              </a:lnSpc>
              <a:spcAft>
                <a:spcPts val="600"/>
              </a:spcAft>
            </a:pPr>
            <a:r>
              <a:rPr lang="ja-JP" altLang="en-US" sz="2300">
                <a:solidFill>
                  <a:srgbClr val="262626"/>
                </a:solidFill>
                <a:latin typeface="Meiryo"/>
                <a:ea typeface="Meiryo"/>
                <a:cs typeface="Meiryo"/>
              </a:rPr>
              <a:t>脈波による局所的な</a:t>
            </a:r>
            <a:endParaRPr sz="2300" b="0" dirty="0">
              <a:solidFill>
                <a:srgbClr val="262626"/>
              </a:solidFill>
              <a:latin typeface="Meiryo"/>
              <a:ea typeface="Meiryo"/>
              <a:cs typeface="Meiryo"/>
            </a:endParaRPr>
          </a:p>
          <a:p>
            <a:pPr algn="l">
              <a:lnSpc>
                <a:spcPct val="120000"/>
              </a:lnSpc>
              <a:spcAft>
                <a:spcPts val="600"/>
              </a:spcAft>
            </a:pPr>
            <a:r>
              <a:rPr lang="ja-JP" altLang="en-US" sz="2300" b="0">
                <a:solidFill>
                  <a:srgbClr val="262626"/>
                </a:solidFill>
                <a:latin typeface="Meiryo"/>
                <a:ea typeface="Meiryo"/>
                <a:cs typeface="Meiryo"/>
              </a:rPr>
              <a:t>血管伸展にともなう</a:t>
            </a:r>
            <a:endParaRPr lang="en-US" altLang="ja-JP" sz="2300" b="0" dirty="0">
              <a:solidFill>
                <a:srgbClr val="262626"/>
              </a:solidFill>
              <a:latin typeface="Meiryo"/>
              <a:ea typeface="Meiryo"/>
              <a:cs typeface="Meiryo"/>
            </a:endParaRPr>
          </a:p>
          <a:p>
            <a:pPr algn="l">
              <a:lnSpc>
                <a:spcPct val="120000"/>
              </a:lnSpc>
              <a:spcAft>
                <a:spcPts val="600"/>
              </a:spcAft>
            </a:pPr>
            <a:r>
              <a:rPr sz="2800" b="1" dirty="0" err="1">
                <a:solidFill>
                  <a:srgbClr val="262626"/>
                </a:solidFill>
                <a:latin typeface="Meiryo"/>
                <a:ea typeface="Meiryo"/>
                <a:cs typeface="Meiryo"/>
              </a:rPr>
              <a:t>容積の変化。</a:t>
            </a:r>
            <a:endParaRPr sz="2800" b="1" dirty="0">
              <a:solidFill>
                <a:srgbClr val="262626"/>
              </a:solidFill>
              <a:latin typeface="Meiryo"/>
              <a:ea typeface="Meiryo"/>
              <a:cs typeface="Meiryo"/>
            </a:endParaRPr>
          </a:p>
          <a:p>
            <a:pPr algn="l">
              <a:lnSpc>
                <a:spcPct val="120000"/>
              </a:lnSpc>
              <a:spcAft>
                <a:spcPts val="600"/>
              </a:spcAft>
            </a:pPr>
            <a:endParaRPr sz="2300" b="0" dirty="0">
              <a:solidFill>
                <a:srgbClr val="262626"/>
              </a:solidFill>
              <a:latin typeface="Meiryo"/>
              <a:ea typeface="Meiryo"/>
              <a:cs typeface="Meiryo"/>
            </a:endParaRPr>
          </a:p>
        </p:txBody>
      </p:sp>
      <p:sp>
        <p:nvSpPr>
          <p:cNvPr id="26" name="Rounded Rectangle 25"/>
          <p:cNvSpPr/>
          <p:nvPr/>
        </p:nvSpPr>
        <p:spPr>
          <a:xfrm>
            <a:off x="8110728" y="1737360"/>
            <a:ext cx="3529584" cy="301752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8293608" y="1883664"/>
            <a:ext cx="548640" cy="597121"/>
          </a:xfrm>
          <a:prstGeom prst="rect">
            <a:avLst/>
          </a:prstGeom>
          <a:noFill/>
        </p:spPr>
        <p:txBody>
          <a:bodyPr wrap="square" lIns="0" tIns="0" rIns="0" bIns="0" anchor="t">
            <a:spAutoFit/>
          </a:bodyPr>
          <a:lstStyle/>
          <a:p>
            <a:pPr algn="l"/>
            <a:r>
              <a:rPr sz="2800" b="1">
                <a:solidFill>
                  <a:srgbClr val="00A8AA"/>
                </a:solidFill>
                <a:latin typeface="Meiryo"/>
                <a:ea typeface="Meiryo"/>
                <a:cs typeface="Meiryo"/>
              </a:rPr>
              <a:t>③</a:t>
            </a:r>
          </a:p>
        </p:txBody>
      </p:sp>
      <p:sp>
        <p:nvSpPr>
          <p:cNvPr id="28" name="TextBox 27"/>
          <p:cNvSpPr txBox="1"/>
          <p:nvPr/>
        </p:nvSpPr>
        <p:spPr>
          <a:xfrm>
            <a:off x="8842248" y="1920240"/>
            <a:ext cx="2651760" cy="541553"/>
          </a:xfrm>
          <a:prstGeom prst="rect">
            <a:avLst/>
          </a:prstGeom>
          <a:noFill/>
        </p:spPr>
        <p:txBody>
          <a:bodyPr wrap="square" lIns="0" tIns="0" rIns="0" bIns="0" anchor="t">
            <a:spAutoFit/>
          </a:bodyPr>
          <a:lstStyle/>
          <a:p>
            <a:pPr algn="l"/>
            <a:r>
              <a:rPr sz="2500" b="1">
                <a:solidFill>
                  <a:srgbClr val="00A8AA"/>
                </a:solidFill>
                <a:latin typeface="Meiryo"/>
                <a:ea typeface="Meiryo"/>
                <a:cs typeface="Meiryo"/>
              </a:rPr>
              <a:t>波形の成り立ち</a:t>
            </a:r>
          </a:p>
        </p:txBody>
      </p:sp>
      <p:sp>
        <p:nvSpPr>
          <p:cNvPr id="29" name="TextBox 28"/>
          <p:cNvSpPr txBox="1"/>
          <p:nvPr/>
        </p:nvSpPr>
        <p:spPr>
          <a:xfrm>
            <a:off x="8339328" y="2514600"/>
            <a:ext cx="3108960" cy="1101629"/>
          </a:xfrm>
          <a:prstGeom prst="rect">
            <a:avLst/>
          </a:prstGeom>
          <a:noFill/>
        </p:spPr>
        <p:txBody>
          <a:bodyPr wrap="square" lIns="0" tIns="0" rIns="0" bIns="0" anchor="t">
            <a:spAutoFit/>
          </a:bodyPr>
          <a:lstStyle/>
          <a:p>
            <a:pPr algn="l">
              <a:spcAft>
                <a:spcPts val="600"/>
              </a:spcAft>
            </a:pPr>
            <a:r>
              <a:rPr sz="2800" b="1" dirty="0" err="1">
                <a:solidFill>
                  <a:srgbClr val="262626"/>
                </a:solidFill>
                <a:latin typeface="Meiryo"/>
                <a:ea typeface="Meiryo"/>
                <a:cs typeface="Meiryo"/>
              </a:rPr>
              <a:t>前進波</a:t>
            </a:r>
            <a:r>
              <a:rPr sz="2300" b="0" dirty="0">
                <a:solidFill>
                  <a:srgbClr val="262626"/>
                </a:solidFill>
                <a:latin typeface="Meiryo"/>
                <a:ea typeface="Meiryo"/>
                <a:cs typeface="Meiryo"/>
              </a:rPr>
              <a:t> ＋ </a:t>
            </a:r>
            <a:r>
              <a:rPr sz="2800" b="1" dirty="0" err="1">
                <a:solidFill>
                  <a:srgbClr val="262626"/>
                </a:solidFill>
                <a:latin typeface="Meiryo"/>
                <a:ea typeface="Meiryo"/>
                <a:cs typeface="Meiryo"/>
              </a:rPr>
              <a:t>反射波</a:t>
            </a:r>
            <a:endParaRPr sz="2800" b="1" dirty="0">
              <a:solidFill>
                <a:srgbClr val="262626"/>
              </a:solidFill>
              <a:latin typeface="Meiryo"/>
              <a:ea typeface="Meiryo"/>
              <a:cs typeface="Meiryo"/>
            </a:endParaRPr>
          </a:p>
          <a:p>
            <a:pPr algn="l">
              <a:spcAft>
                <a:spcPts val="600"/>
              </a:spcAft>
            </a:pPr>
            <a:r>
              <a:rPr sz="2300" b="0" dirty="0" err="1">
                <a:solidFill>
                  <a:srgbClr val="262626"/>
                </a:solidFill>
                <a:latin typeface="Meiryo"/>
                <a:ea typeface="Meiryo"/>
                <a:cs typeface="Meiryo"/>
              </a:rPr>
              <a:t>の合成。</a:t>
            </a:r>
            <a:endParaRPr sz="2300" b="0" dirty="0">
              <a:solidFill>
                <a:srgbClr val="262626"/>
              </a:solidFill>
              <a:latin typeface="Meiryo"/>
              <a:ea typeface="Meiryo"/>
              <a:cs typeface="Meiryo"/>
            </a:endParaRPr>
          </a:p>
        </p:txBody>
      </p:sp>
      <p:sp>
        <p:nvSpPr>
          <p:cNvPr id="30" name="Rounded Rectangle 29"/>
          <p:cNvSpPr/>
          <p:nvPr/>
        </p:nvSpPr>
        <p:spPr>
          <a:xfrm>
            <a:off x="502920" y="5029200"/>
            <a:ext cx="11183112" cy="109728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685800" y="5230368"/>
            <a:ext cx="10789920" cy="836126"/>
          </a:xfrm>
          <a:prstGeom prst="rect">
            <a:avLst/>
          </a:prstGeom>
          <a:noFill/>
        </p:spPr>
        <p:txBody>
          <a:bodyPr wrap="square" lIns="0" tIns="0" rIns="0" bIns="0" anchor="t">
            <a:spAutoFit/>
          </a:bodyPr>
          <a:lstStyle/>
          <a:p>
            <a:pPr algn="ctr">
              <a:spcAft>
                <a:spcPts val="400"/>
              </a:spcAft>
            </a:pPr>
            <a:r>
              <a:rPr lang="en-US" altLang="ja-JP" sz="2700" b="1" dirty="0" err="1">
                <a:latin typeface="Meiryo"/>
                <a:ea typeface="Meiryo"/>
                <a:cs typeface="Meiryo"/>
              </a:rPr>
              <a:t>PPG</a:t>
            </a:r>
            <a:r>
              <a:rPr sz="2700" b="1" dirty="0" err="1">
                <a:latin typeface="Meiryo"/>
                <a:ea typeface="Meiryo"/>
                <a:cs typeface="Meiryo"/>
              </a:rPr>
              <a:t>波形は</a:t>
            </a:r>
            <a:r>
              <a:rPr sz="2700" b="1" dirty="0">
                <a:latin typeface="Meiryo"/>
                <a:ea typeface="Meiryo"/>
                <a:cs typeface="Meiryo"/>
              </a:rPr>
              <a:t> </a:t>
            </a:r>
            <a:r>
              <a:rPr sz="2700" b="1" dirty="0" err="1">
                <a:latin typeface="Meiryo"/>
                <a:ea typeface="Meiryo"/>
                <a:cs typeface="Meiryo"/>
              </a:rPr>
              <a:t>どのような因子</a:t>
            </a:r>
            <a:r>
              <a:rPr sz="2700" b="1" dirty="0">
                <a:latin typeface="Meiryo"/>
                <a:ea typeface="Meiryo"/>
                <a:cs typeface="Meiryo"/>
              </a:rPr>
              <a:t> </a:t>
            </a:r>
            <a:r>
              <a:rPr sz="2700" b="1" dirty="0" err="1">
                <a:latin typeface="Meiryo"/>
                <a:ea typeface="Meiryo"/>
                <a:cs typeface="Meiryo"/>
              </a:rPr>
              <a:t>に影響を受けるのか。</a:t>
            </a:r>
            <a:endParaRPr sz="2700" b="1" dirty="0">
              <a:latin typeface="Meiryo"/>
              <a:ea typeface="Meiryo"/>
              <a:cs typeface="Meiryo"/>
            </a:endParaRPr>
          </a:p>
          <a:p>
            <a:pPr algn="ctr">
              <a:spcAft>
                <a:spcPts val="400"/>
              </a:spcAft>
            </a:pPr>
            <a:r>
              <a:rPr sz="2400" b="1" dirty="0">
                <a:latin typeface="Meiryo"/>
                <a:ea typeface="Meiryo"/>
                <a:cs typeface="Meiryo"/>
              </a:rPr>
              <a:t>→　</a:t>
            </a:r>
            <a:r>
              <a:rPr sz="2400" b="1" dirty="0" err="1">
                <a:latin typeface="Meiryo"/>
                <a:ea typeface="Meiryo"/>
                <a:cs typeface="Meiryo"/>
              </a:rPr>
              <a:t>次章から</a:t>
            </a:r>
            <a:r>
              <a:rPr sz="2400" b="1" dirty="0">
                <a:latin typeface="Meiryo"/>
                <a:ea typeface="Meiryo"/>
                <a:cs typeface="Meiryo"/>
              </a:rPr>
              <a:t> </a:t>
            </a:r>
            <a:r>
              <a:rPr sz="2400" b="1" dirty="0" err="1">
                <a:latin typeface="Meiryo"/>
                <a:ea typeface="Meiryo"/>
                <a:cs typeface="Meiryo"/>
              </a:rPr>
              <a:t>加齢・循環・麻酔</a:t>
            </a:r>
            <a:r>
              <a:rPr sz="2400" b="1" dirty="0">
                <a:latin typeface="Meiryo"/>
                <a:ea typeface="Meiryo"/>
                <a:cs typeface="Meiryo"/>
              </a:rPr>
              <a:t> </a:t>
            </a:r>
            <a:r>
              <a:rPr sz="2400" b="1" dirty="0" err="1">
                <a:latin typeface="Meiryo"/>
                <a:ea typeface="Meiryo"/>
                <a:cs typeface="Meiryo"/>
              </a:rPr>
              <a:t>の順に見ていく。</a:t>
            </a:r>
            <a:endParaRPr sz="2400" b="1" dirty="0">
              <a:latin typeface="Meiryo"/>
              <a:ea typeface="Meiryo"/>
              <a:cs typeface="Meiryo"/>
            </a:endParaRPr>
          </a:p>
        </p:txBody>
      </p:sp>
      <p:sp>
        <p:nvSpPr>
          <p:cNvPr id="3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20/118</a:t>
            </a:r>
          </a:p>
        </p:txBody>
      </p:sp>
      <p:sp>
        <p:nvSpPr>
          <p:cNvPr id="101" name="Off-page Connector 4">
            <a:extLst>
              <a:ext uri="{FF2B5EF4-FFF2-40B4-BE49-F238E27FC236}">
                <a16:creationId xmlns:a16="http://schemas.microsoft.com/office/drawing/2014/main" id="{AA9D36CE-3772-F005-B54C-9329ADA7F086}"/>
              </a:ext>
            </a:extLst>
          </p:cNvPr>
          <p:cNvSpPr/>
          <p:nvPr/>
        </p:nvSpPr>
        <p:spPr>
          <a:xfrm>
            <a:off x="821448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D185628-72CC-53D2-71C2-CF0C5DF854AE}"/>
              </a:ext>
            </a:extLst>
          </p:cNvPr>
          <p:cNvSpPr>
            <a:spLocks noGrp="1"/>
          </p:cNvSpPr>
          <p:nvPr>
            <p:ph type="title"/>
          </p:nvPr>
        </p:nvSpPr>
        <p:spPr/>
        <p:txBody>
          <a:bodyPr>
            <a:normAutofit/>
          </a:bodyPr>
          <a:lstStyle/>
          <a:p>
            <a:pPr algn="l"/>
            <a:r>
              <a:rPr sz="4600" dirty="0">
                <a:latin typeface="Meiryo"/>
                <a:ea typeface="Meiryo"/>
                <a:cs typeface="Meiryo"/>
              </a:rPr>
              <a:t>2. 波形への影響</a:t>
            </a:r>
          </a:p>
        </p:txBody>
      </p:sp>
      <p:sp>
        <p:nvSpPr>
          <p:cNvPr id="957" name="Agenda"/>
          <p:cNvSpPr txBox="1"/>
          <p:nvPr/>
        </p:nvSpPr>
        <p:spPr>
          <a:xfrm>
            <a:off x="822960" y="1536192"/>
            <a:ext cx="5029200" cy="4956048"/>
          </a:xfrm>
          <a:prstGeom prst="rect">
            <a:avLst/>
          </a:prstGeom>
          <a:noFill/>
        </p:spPr>
        <p:txBody>
          <a:bodyPr wrap="square" lIns="0" tIns="0" rIns="0" bIns="0" anchor="t"/>
          <a:lstStyle/>
          <a:p>
            <a:pPr>
              <a:lnSpc>
                <a:spcPct val="145000"/>
              </a:lnSpc>
            </a:pPr>
            <a:r>
              <a:rPr sz="3200" b="1">
                <a:solidFill>
                  <a:srgbClr val="D9D9D9"/>
                </a:solidFill>
                <a:latin typeface="Meiryo"/>
                <a:ea typeface="Meiryo"/>
                <a:cs typeface="Meiryo"/>
              </a:rPr>
              <a:t>1. </a:t>
            </a:r>
            <a:r>
              <a:rPr sz="3200" b="0">
                <a:solidFill>
                  <a:srgbClr val="D9D9D9"/>
                </a:solidFill>
                <a:latin typeface="Meiryo"/>
                <a:ea typeface="Meiryo"/>
                <a:cs typeface="Meiryo"/>
              </a:rPr>
              <a:t>PPGの基礎</a:t>
            </a:r>
          </a:p>
          <a:p>
            <a:pPr>
              <a:lnSpc>
                <a:spcPct val="145000"/>
              </a:lnSpc>
            </a:pPr>
            <a:r>
              <a:rPr sz="3200" b="1">
                <a:solidFill>
                  <a:srgbClr val="BF9000"/>
                </a:solidFill>
                <a:latin typeface="Meiryo"/>
                <a:ea typeface="Meiryo"/>
                <a:cs typeface="Meiryo"/>
              </a:rPr>
              <a:t>2. </a:t>
            </a:r>
            <a:r>
              <a:rPr sz="3200" b="1">
                <a:solidFill>
                  <a:srgbClr val="262626"/>
                </a:solidFill>
                <a:latin typeface="Meiryo"/>
                <a:ea typeface="Meiryo"/>
                <a:cs typeface="Meiryo"/>
              </a:rPr>
              <a:t>波形への影響</a:t>
            </a:r>
          </a:p>
          <a:p>
            <a:pPr>
              <a:lnSpc>
                <a:spcPct val="145000"/>
              </a:lnSpc>
            </a:pPr>
            <a:r>
              <a:rPr sz="3200" b="1">
                <a:solidFill>
                  <a:srgbClr val="D9D9D9"/>
                </a:solidFill>
                <a:latin typeface="Meiryo"/>
                <a:ea typeface="Meiryo"/>
                <a:cs typeface="Meiryo"/>
              </a:rPr>
              <a:t>3. </a:t>
            </a:r>
            <a:r>
              <a:rPr sz="3200" b="0">
                <a:solidFill>
                  <a:srgbClr val="D9D9D9"/>
                </a:solidFill>
                <a:latin typeface="Meiryo"/>
                <a:ea typeface="Meiryo"/>
                <a:cs typeface="Meiryo"/>
              </a:rPr>
              <a:t>波形の定量化</a:t>
            </a:r>
          </a:p>
          <a:p>
            <a:pPr>
              <a:lnSpc>
                <a:spcPct val="145000"/>
              </a:lnSpc>
            </a:pPr>
            <a:r>
              <a:rPr sz="3200" b="1">
                <a:solidFill>
                  <a:srgbClr val="D9D9D9"/>
                </a:solidFill>
                <a:latin typeface="Meiryo"/>
                <a:ea typeface="Meiryo"/>
                <a:cs typeface="Meiryo"/>
              </a:rPr>
              <a:t>4. </a:t>
            </a:r>
            <a:r>
              <a:rPr sz="3200" b="0">
                <a:solidFill>
                  <a:srgbClr val="D9D9D9"/>
                </a:solidFill>
                <a:latin typeface="Meiryo"/>
                <a:ea typeface="Meiryo"/>
                <a:cs typeface="Meiryo"/>
              </a:rPr>
              <a:t>限界</a:t>
            </a:r>
          </a:p>
          <a:p>
            <a:pPr>
              <a:lnSpc>
                <a:spcPct val="145000"/>
              </a:lnSpc>
            </a:pPr>
            <a:r>
              <a:rPr sz="3200" b="1">
                <a:solidFill>
                  <a:srgbClr val="D9D9D9"/>
                </a:solidFill>
                <a:latin typeface="Meiryo"/>
                <a:ea typeface="Meiryo"/>
                <a:cs typeface="Meiryo"/>
              </a:rPr>
              <a:t>5. </a:t>
            </a:r>
            <a:r>
              <a:rPr sz="3200" b="0">
                <a:solidFill>
                  <a:srgbClr val="D9D9D9"/>
                </a:solidFill>
                <a:latin typeface="Meiryo"/>
                <a:ea typeface="Meiryo"/>
                <a:cs typeface="Meiryo"/>
              </a:rPr>
              <a:t>PDA（波形分解）</a:t>
            </a:r>
          </a:p>
          <a:p>
            <a:pPr>
              <a:lnSpc>
                <a:spcPct val="145000"/>
              </a:lnSpc>
            </a:pPr>
            <a:r>
              <a:rPr sz="3200" b="0">
                <a:solidFill>
                  <a:srgbClr val="D9D9D9"/>
                </a:solidFill>
                <a:latin typeface="Meiryo"/>
                <a:ea typeface="Meiryo"/>
                <a:cs typeface="Meiryo"/>
              </a:rPr>
              <a:t>6. 提案</a:t>
            </a:r>
          </a:p>
        </p:txBody>
      </p:sp>
      <p:sp>
        <p:nvSpPr>
          <p:cNvPr id="959" name="SubToc"/>
          <p:cNvSpPr txBox="1"/>
          <p:nvPr/>
        </p:nvSpPr>
        <p:spPr>
          <a:xfrm>
            <a:off x="6309360" y="1536192"/>
            <a:ext cx="5394960" cy="4956048"/>
          </a:xfrm>
          <a:prstGeom prst="rect">
            <a:avLst/>
          </a:prstGeom>
          <a:noFill/>
        </p:spPr>
        <p:txBody>
          <a:bodyPr wrap="square" anchor="t">
            <a:spAutoFit/>
          </a:bodyPr>
          <a:lstStyle/>
          <a:p>
            <a:pPr>
              <a:lnSpc>
                <a:spcPct val="145000"/>
              </a:lnSpc>
            </a:pPr>
            <a:r>
              <a:rPr sz="2900" b="1">
                <a:solidFill>
                  <a:srgbClr val="BF9000"/>
                </a:solidFill>
                <a:latin typeface="Meiryo"/>
                <a:ea typeface="Meiryo"/>
                <a:cs typeface="Meiryo"/>
              </a:rPr>
              <a:t>2.1 </a:t>
            </a:r>
            <a:r>
              <a:rPr sz="2900" b="0">
                <a:solidFill>
                  <a:srgbClr val="262626"/>
                </a:solidFill>
                <a:latin typeface="Meiryo"/>
                <a:ea typeface="Meiryo"/>
                <a:cs typeface="Meiryo"/>
              </a:rPr>
              <a:t>加齢の影響</a:t>
            </a:r>
          </a:p>
          <a:p>
            <a:pPr>
              <a:lnSpc>
                <a:spcPct val="145000"/>
              </a:lnSpc>
            </a:pPr>
            <a:r>
              <a:rPr sz="2900" b="1">
                <a:solidFill>
                  <a:srgbClr val="BF9000"/>
                </a:solidFill>
                <a:latin typeface="Meiryo"/>
                <a:ea typeface="Meiryo"/>
                <a:cs typeface="Meiryo"/>
              </a:rPr>
              <a:t>2.2 </a:t>
            </a:r>
            <a:r>
              <a:rPr sz="2900" b="0">
                <a:solidFill>
                  <a:srgbClr val="262626"/>
                </a:solidFill>
                <a:latin typeface="Meiryo"/>
                <a:ea typeface="Meiryo"/>
                <a:cs typeface="Meiryo"/>
              </a:rPr>
              <a:t>循環の変化</a:t>
            </a:r>
          </a:p>
          <a:p>
            <a:pPr>
              <a:lnSpc>
                <a:spcPct val="145000"/>
              </a:lnSpc>
            </a:pPr>
            <a:r>
              <a:rPr sz="2900" b="1">
                <a:solidFill>
                  <a:srgbClr val="BF9000"/>
                </a:solidFill>
                <a:latin typeface="Meiryo"/>
                <a:ea typeface="Meiryo"/>
                <a:cs typeface="Meiryo"/>
              </a:rPr>
              <a:t>2.3 </a:t>
            </a:r>
            <a:r>
              <a:rPr sz="2900" b="0">
                <a:solidFill>
                  <a:srgbClr val="262626"/>
                </a:solidFill>
                <a:latin typeface="Meiryo"/>
                <a:ea typeface="Meiryo"/>
                <a:cs typeface="Meiryo"/>
              </a:rPr>
              <a:t>麻酔中の変化</a:t>
            </a:r>
          </a:p>
        </p:txBody>
      </p:sp>
      <p:sp>
        <p:nvSpPr>
          <p:cNvPr id="96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21/118</a:t>
            </a:r>
          </a:p>
        </p:txBody>
      </p:sp>
      <p:sp>
        <p:nvSpPr>
          <p:cNvPr id="96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962"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96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96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96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96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13493065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C0D585-C2E4-BE11-73F6-9C986485CE6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3FB83A8-5E90-685F-9B53-3E9BBCE66DA1}"/>
              </a:ext>
            </a:extLst>
          </p:cNvPr>
          <p:cNvSpPr>
            <a:spLocks noGrp="1"/>
          </p:cNvSpPr>
          <p:nvPr>
            <p:ph type="title"/>
          </p:nvPr>
        </p:nvSpPr>
        <p:spPr/>
        <p:txBody>
          <a:bodyPr>
            <a:normAutofit/>
          </a:bodyPr>
          <a:lstStyle/>
          <a:p>
            <a:pPr algn="l"/>
            <a:r>
              <a:rPr sz="4600" dirty="0">
                <a:latin typeface="Meiryo"/>
                <a:ea typeface="Meiryo"/>
                <a:cs typeface="Meiryo"/>
              </a:rPr>
              <a:t>2. 波形への影響</a:t>
            </a:r>
          </a:p>
        </p:txBody>
      </p:sp>
      <p:sp>
        <p:nvSpPr>
          <p:cNvPr id="957" name="Agenda">
            <a:extLst>
              <a:ext uri="{FF2B5EF4-FFF2-40B4-BE49-F238E27FC236}">
                <a16:creationId xmlns:a16="http://schemas.microsoft.com/office/drawing/2014/main" id="{B67BE2FB-7D39-9D21-D5E7-9714A61FC395}"/>
              </a:ext>
            </a:extLst>
          </p:cNvPr>
          <p:cNvSpPr txBox="1"/>
          <p:nvPr/>
        </p:nvSpPr>
        <p:spPr>
          <a:xfrm>
            <a:off x="822960" y="1536192"/>
            <a:ext cx="5029200" cy="5184000"/>
          </a:xfrm>
          <a:prstGeom prst="rect">
            <a:avLst/>
          </a:prstGeom>
          <a:noFill/>
        </p:spPr>
        <p:txBody>
          <a:bodyPr wrap="square" lIns="0" tIns="0" rIns="0" bIns="0" anchor="t"/>
          <a:lstStyle/>
          <a:p>
            <a:pPr>
              <a:lnSpc>
                <a:spcPct val="126000"/>
              </a:lnSpc>
            </a:pPr>
            <a:r>
              <a:rPr sz="3000" b="1">
                <a:solidFill>
                  <a:srgbClr val="D9D9D9"/>
                </a:solidFill>
                <a:latin typeface="Meiryo"/>
                <a:ea typeface="Meiryo"/>
                <a:cs typeface="Meiryo"/>
              </a:rPr>
              <a:t>1. </a:t>
            </a:r>
            <a:r>
              <a:rPr sz="3000" b="0">
                <a:solidFill>
                  <a:srgbClr val="D9D9D9"/>
                </a:solidFill>
                <a:latin typeface="Meiryo"/>
                <a:ea typeface="Meiryo"/>
                <a:cs typeface="Meiryo"/>
              </a:rPr>
              <a:t>PPGの基礎</a:t>
            </a:r>
          </a:p>
          <a:p>
            <a:pPr>
              <a:lnSpc>
                <a:spcPct val="126000"/>
              </a:lnSpc>
            </a:pPr>
            <a:r>
              <a:rPr sz="3000" b="1">
                <a:solidFill>
                  <a:srgbClr val="BF9000"/>
                </a:solidFill>
                <a:latin typeface="Meiryo"/>
                <a:ea typeface="Meiryo"/>
                <a:cs typeface="Meiryo"/>
              </a:rPr>
              <a:t>2. </a:t>
            </a:r>
            <a:r>
              <a:rPr sz="3000" b="1">
                <a:solidFill>
                  <a:srgbClr val="262626"/>
                </a:solidFill>
                <a:latin typeface="Meiryo"/>
                <a:ea typeface="Meiryo"/>
                <a:cs typeface="Meiryo"/>
              </a:rPr>
              <a:t>波形への影響</a:t>
            </a:r>
          </a:p>
          <a:p>
            <a:pPr>
              <a:lnSpc>
                <a:spcPct val="126000"/>
              </a:lnSpc>
            </a:pPr>
            <a:r>
              <a:rPr sz="2700" b="1">
                <a:solidFill>
                  <a:srgbClr val="BF9000"/>
                </a:solidFill>
                <a:latin typeface="Meiryo"/>
                <a:ea typeface="Meiryo"/>
                <a:cs typeface="Meiryo"/>
              </a:rPr>
              <a:t>　2.1 </a:t>
            </a:r>
            <a:r>
              <a:rPr sz="2700" b="1">
                <a:solidFill>
                  <a:srgbClr val="262626"/>
                </a:solidFill>
                <a:latin typeface="Meiryo"/>
                <a:ea typeface="Meiryo"/>
                <a:cs typeface="Meiryo"/>
              </a:rPr>
              <a:t>加齢の影響</a:t>
            </a:r>
          </a:p>
          <a:p>
            <a:pPr>
              <a:lnSpc>
                <a:spcPct val="126000"/>
              </a:lnSpc>
            </a:pPr>
            <a:r>
              <a:rPr sz="2700" b="1">
                <a:solidFill>
                  <a:srgbClr val="D9D9D9"/>
                </a:solidFill>
                <a:latin typeface="Meiryo"/>
                <a:ea typeface="Meiryo"/>
                <a:cs typeface="Meiryo"/>
              </a:rPr>
              <a:t>　2.2 </a:t>
            </a:r>
            <a:r>
              <a:rPr sz="2700" b="0">
                <a:solidFill>
                  <a:srgbClr val="808080"/>
                </a:solidFill>
                <a:latin typeface="Meiryo"/>
                <a:ea typeface="Meiryo"/>
                <a:cs typeface="Meiryo"/>
              </a:rPr>
              <a:t>循環の変化</a:t>
            </a:r>
          </a:p>
          <a:p>
            <a:pPr>
              <a:lnSpc>
                <a:spcPct val="126000"/>
              </a:lnSpc>
            </a:pPr>
            <a:r>
              <a:rPr sz="2700" b="1">
                <a:solidFill>
                  <a:srgbClr val="D9D9D9"/>
                </a:solidFill>
                <a:latin typeface="Meiryo"/>
                <a:ea typeface="Meiryo"/>
                <a:cs typeface="Meiryo"/>
              </a:rPr>
              <a:t>　2.3 </a:t>
            </a:r>
            <a:r>
              <a:rPr sz="2700" b="0">
                <a:solidFill>
                  <a:srgbClr val="808080"/>
                </a:solidFill>
                <a:latin typeface="Meiryo"/>
                <a:ea typeface="Meiryo"/>
                <a:cs typeface="Meiryo"/>
              </a:rPr>
              <a:t>麻酔中の変化</a:t>
            </a:r>
          </a:p>
          <a:p>
            <a:pPr>
              <a:lnSpc>
                <a:spcPct val="126000"/>
              </a:lnSpc>
            </a:pPr>
            <a:r>
              <a:rPr sz="3000" b="1">
                <a:solidFill>
                  <a:srgbClr val="D9D9D9"/>
                </a:solidFill>
                <a:latin typeface="Meiryo"/>
                <a:ea typeface="Meiryo"/>
                <a:cs typeface="Meiryo"/>
              </a:rPr>
              <a:t>3. </a:t>
            </a:r>
            <a:r>
              <a:rPr sz="3000" b="0">
                <a:solidFill>
                  <a:srgbClr val="D9D9D9"/>
                </a:solidFill>
                <a:latin typeface="Meiryo"/>
                <a:ea typeface="Meiryo"/>
                <a:cs typeface="Meiryo"/>
              </a:rPr>
              <a:t>波形の定量化</a:t>
            </a:r>
          </a:p>
          <a:p>
            <a:pPr>
              <a:lnSpc>
                <a:spcPct val="126000"/>
              </a:lnSpc>
            </a:pPr>
            <a:r>
              <a:rPr sz="3000" b="1">
                <a:solidFill>
                  <a:srgbClr val="D9D9D9"/>
                </a:solidFill>
                <a:latin typeface="Meiryo"/>
                <a:ea typeface="Meiryo"/>
                <a:cs typeface="Meiryo"/>
              </a:rPr>
              <a:t>4. </a:t>
            </a:r>
            <a:r>
              <a:rPr sz="3000" b="0">
                <a:solidFill>
                  <a:srgbClr val="D9D9D9"/>
                </a:solidFill>
                <a:latin typeface="Meiryo"/>
                <a:ea typeface="Meiryo"/>
                <a:cs typeface="Meiryo"/>
              </a:rPr>
              <a:t>限界</a:t>
            </a:r>
          </a:p>
          <a:p>
            <a:pPr>
              <a:lnSpc>
                <a:spcPct val="126000"/>
              </a:lnSpc>
            </a:pPr>
            <a:r>
              <a:rPr sz="3000" b="1">
                <a:solidFill>
                  <a:srgbClr val="D9D9D9"/>
                </a:solidFill>
                <a:latin typeface="Meiryo"/>
                <a:ea typeface="Meiryo"/>
                <a:cs typeface="Meiryo"/>
              </a:rPr>
              <a:t>5. </a:t>
            </a:r>
            <a:r>
              <a:rPr sz="3000" b="0">
                <a:solidFill>
                  <a:srgbClr val="D9D9D9"/>
                </a:solidFill>
                <a:latin typeface="Meiryo"/>
                <a:ea typeface="Meiryo"/>
                <a:cs typeface="Meiryo"/>
              </a:rPr>
              <a:t>PDA（波形分解）</a:t>
            </a:r>
          </a:p>
          <a:p>
            <a:pPr>
              <a:lnSpc>
                <a:spcPct val="126000"/>
              </a:lnSpc>
            </a:pPr>
            <a:r>
              <a:rPr sz="3000" b="0">
                <a:solidFill>
                  <a:srgbClr val="D9D9D9"/>
                </a:solidFill>
                <a:latin typeface="Meiryo"/>
                <a:ea typeface="Meiryo"/>
                <a:cs typeface="Meiryo"/>
              </a:rPr>
              <a:t>6. 提案</a:t>
            </a:r>
          </a:p>
        </p:txBody>
      </p:sp>
      <p:sp>
        <p:nvSpPr>
          <p:cNvPr id="958" name="SubToc"/>
          <p:cNvSpPr txBox="1"/>
          <p:nvPr/>
        </p:nvSpPr>
        <p:spPr>
          <a:xfrm>
            <a:off x="6309360" y="1536192"/>
            <a:ext cx="5394960" cy="4956048"/>
          </a:xfrm>
          <a:prstGeom prst="rect">
            <a:avLst/>
          </a:prstGeom>
          <a:noFill/>
        </p:spPr>
        <p:txBody>
          <a:bodyPr wrap="square" anchor="t">
            <a:spAutoFit/>
          </a:bodyPr>
          <a:lstStyle/>
          <a:p>
            <a:pPr>
              <a:lnSpc>
                <a:spcPct val="142000"/>
              </a:lnSpc>
            </a:pPr>
            <a:r>
              <a:rPr sz="3000" b="1">
                <a:solidFill>
                  <a:srgbClr val="BF9000"/>
                </a:solidFill>
                <a:latin typeface="Meiryo"/>
                <a:ea typeface="Meiryo"/>
                <a:cs typeface="Meiryo"/>
              </a:rPr>
              <a:t>2.1 </a:t>
            </a:r>
            <a:r>
              <a:rPr sz="3000" b="1">
                <a:solidFill>
                  <a:srgbClr val="262626"/>
                </a:solidFill>
                <a:latin typeface="Meiryo"/>
                <a:ea typeface="Meiryo"/>
                <a:cs typeface="Meiryo"/>
              </a:rPr>
              <a:t>加齢の影響</a:t>
            </a:r>
          </a:p>
          <a:p>
            <a:pPr>
              <a:lnSpc>
                <a:spcPct val="142000"/>
              </a:lnSpc>
            </a:pPr>
            <a:r>
              <a:rPr sz="2700" b="1">
                <a:solidFill>
                  <a:srgbClr val="BF9000"/>
                </a:solidFill>
                <a:latin typeface="Meiryo"/>
                <a:ea typeface="Meiryo"/>
                <a:cs typeface="Meiryo"/>
              </a:rPr>
              <a:t>2.1.1 </a:t>
            </a:r>
            <a:r>
              <a:rPr sz="2700" b="0">
                <a:solidFill>
                  <a:srgbClr val="262626"/>
                </a:solidFill>
                <a:latin typeface="Meiryo"/>
                <a:ea typeface="Meiryo"/>
                <a:cs typeface="Meiryo"/>
              </a:rPr>
              <a:t>フラミンガム研究</a:t>
            </a:r>
          </a:p>
          <a:p>
            <a:pPr>
              <a:lnSpc>
                <a:spcPct val="142000"/>
              </a:lnSpc>
            </a:pPr>
            <a:r>
              <a:rPr sz="2700" b="1">
                <a:solidFill>
                  <a:srgbClr val="BF9000"/>
                </a:solidFill>
                <a:latin typeface="Meiryo"/>
                <a:ea typeface="Meiryo"/>
                <a:cs typeface="Meiryo"/>
              </a:rPr>
              <a:t>2.1.2 </a:t>
            </a:r>
            <a:r>
              <a:rPr sz="2700" b="0">
                <a:solidFill>
                  <a:srgbClr val="262626"/>
                </a:solidFill>
                <a:latin typeface="Meiryo"/>
                <a:ea typeface="Meiryo"/>
                <a:cs typeface="Meiryo"/>
              </a:rPr>
              <a:t>UK Biobank</a:t>
            </a:r>
          </a:p>
          <a:p>
            <a:pPr>
              <a:lnSpc>
                <a:spcPct val="142000"/>
              </a:lnSpc>
            </a:pPr>
            <a:r>
              <a:rPr sz="2700" b="1">
                <a:solidFill>
                  <a:srgbClr val="BF9000"/>
                </a:solidFill>
                <a:latin typeface="Meiryo"/>
                <a:ea typeface="Meiryo"/>
                <a:cs typeface="Meiryo"/>
              </a:rPr>
              <a:t>2.1.3 </a:t>
            </a:r>
            <a:r>
              <a:rPr sz="2700" b="0">
                <a:solidFill>
                  <a:srgbClr val="262626"/>
                </a:solidFill>
                <a:latin typeface="Meiryo"/>
                <a:ea typeface="Meiryo"/>
                <a:cs typeface="Meiryo"/>
              </a:rPr>
              <a:t>切痕平滑化の理由</a:t>
            </a:r>
          </a:p>
        </p:txBody>
      </p:sp>
      <p:sp>
        <p:nvSpPr>
          <p:cNvPr id="95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22/118</a:t>
            </a:r>
          </a:p>
        </p:txBody>
      </p:sp>
      <p:sp>
        <p:nvSpPr>
          <p:cNvPr id="960"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961"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962"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963"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964"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965"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30943190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A6FF89-B285-9CE6-7A63-68741F9732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B201AB-7969-FFD4-7E38-EED96D163515}"/>
              </a:ext>
            </a:extLst>
          </p:cNvPr>
          <p:cNvSpPr>
            <a:spLocks noGrp="1"/>
          </p:cNvSpPr>
          <p:nvPr>
            <p:ph type="title"/>
          </p:nvPr>
        </p:nvSpPr>
        <p:spPr/>
        <p:txBody>
          <a:bodyPr>
            <a:normAutofit/>
          </a:bodyPr>
          <a:lstStyle/>
          <a:p>
            <a:pPr algn="l"/>
            <a:r>
              <a:rPr sz="4600" dirty="0">
                <a:latin typeface="Meiryo"/>
                <a:ea typeface="Meiryo"/>
                <a:cs typeface="Meiryo"/>
              </a:rPr>
              <a:t>2.1.1  フラミンガム研究</a:t>
            </a:r>
          </a:p>
        </p:txBody>
      </p:sp>
      <p:sp>
        <p:nvSpPr>
          <p:cNvPr id="19" name="lead"/>
          <p:cNvSpPr txBox="1"/>
          <p:nvPr/>
        </p:nvSpPr>
        <p:spPr>
          <a:xfrm>
            <a:off x="566928" y="2250863"/>
            <a:ext cx="10058400" cy="369332"/>
          </a:xfrm>
          <a:prstGeom prst="rect">
            <a:avLst/>
          </a:prstGeom>
          <a:noFill/>
        </p:spPr>
        <p:txBody>
          <a:bodyPr wrap="square" lIns="0" tIns="0" rIns="0" bIns="0" anchor="ctr">
            <a:spAutoFit/>
          </a:bodyPr>
          <a:lstStyle/>
          <a:p>
            <a:pPr algn="l"/>
            <a:r>
              <a:rPr sz="2400" b="1" dirty="0" err="1">
                <a:solidFill>
                  <a:srgbClr val="262626"/>
                </a:solidFill>
                <a:latin typeface="Meiryo"/>
                <a:ea typeface="Meiryo"/>
                <a:cs typeface="Meiryo"/>
              </a:rPr>
              <a:t>米国の前向きコホート</a:t>
            </a:r>
            <a:endParaRPr sz="2400" b="1" dirty="0">
              <a:solidFill>
                <a:srgbClr val="262626"/>
              </a:solidFill>
              <a:latin typeface="Meiryo"/>
              <a:ea typeface="Meiryo"/>
              <a:cs typeface="Meiryo"/>
            </a:endParaRPr>
          </a:p>
        </p:txBody>
      </p:sp>
      <p:sp>
        <p:nvSpPr>
          <p:cNvPr id="20" name="fact0"/>
          <p:cNvSpPr/>
          <p:nvPr/>
        </p:nvSpPr>
        <p:spPr>
          <a:xfrm>
            <a:off x="548640" y="2792145"/>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3000" b="1">
                <a:solidFill>
                  <a:srgbClr val="262626"/>
                </a:solidFill>
                <a:latin typeface="Meiryo"/>
                <a:ea typeface="Meiryo"/>
                <a:cs typeface="Meiryo"/>
              </a:rPr>
              <a:t>1948年 開始</a:t>
            </a:r>
          </a:p>
          <a:p>
            <a:pPr algn="ctr"/>
            <a:r>
              <a:rPr sz="2200" b="1">
                <a:solidFill>
                  <a:srgbClr val="262626"/>
                </a:solidFill>
                <a:latin typeface="Meiryo"/>
                <a:ea typeface="Meiryo"/>
                <a:cs typeface="Meiryo"/>
              </a:rPr>
              <a:t>米国 国立心臓研究所</a:t>
            </a:r>
          </a:p>
          <a:p>
            <a:pPr algn="ctr"/>
            <a:r>
              <a:rPr sz="2200" b="1">
                <a:solidFill>
                  <a:srgbClr val="262626"/>
                </a:solidFill>
                <a:latin typeface="Meiryo"/>
                <a:ea typeface="Meiryo"/>
                <a:cs typeface="Meiryo"/>
              </a:rPr>
              <a:t>（現 NHLBI）</a:t>
            </a:r>
          </a:p>
        </p:txBody>
      </p:sp>
      <p:sp>
        <p:nvSpPr>
          <p:cNvPr id="21" name="fact1"/>
          <p:cNvSpPr/>
          <p:nvPr/>
        </p:nvSpPr>
        <p:spPr>
          <a:xfrm>
            <a:off x="4370832" y="2792145"/>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3000" b="1">
                <a:solidFill>
                  <a:srgbClr val="262626"/>
                </a:solidFill>
                <a:latin typeface="Meiryo"/>
                <a:ea typeface="Meiryo"/>
                <a:cs typeface="Meiryo"/>
              </a:rPr>
              <a:t>5,209 人</a:t>
            </a:r>
          </a:p>
          <a:p>
            <a:pPr algn="ctr"/>
            <a:r>
              <a:rPr sz="2200" b="1">
                <a:solidFill>
                  <a:srgbClr val="262626"/>
                </a:solidFill>
                <a:latin typeface="Meiryo"/>
                <a:ea typeface="Meiryo"/>
                <a:cs typeface="Meiryo"/>
              </a:rPr>
              <a:t>マサチューセッツ州</a:t>
            </a:r>
          </a:p>
          <a:p>
            <a:pPr algn="ctr"/>
            <a:r>
              <a:rPr sz="2200" b="1">
                <a:solidFill>
                  <a:srgbClr val="262626"/>
                </a:solidFill>
                <a:latin typeface="Meiryo"/>
                <a:ea typeface="Meiryo"/>
                <a:cs typeface="Meiryo"/>
              </a:rPr>
              <a:t>フラミンガムの住民</a:t>
            </a:r>
          </a:p>
        </p:txBody>
      </p:sp>
      <p:sp>
        <p:nvSpPr>
          <p:cNvPr id="22" name="fact2"/>
          <p:cNvSpPr/>
          <p:nvPr/>
        </p:nvSpPr>
        <p:spPr>
          <a:xfrm>
            <a:off x="8193024" y="2792145"/>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3000" b="1">
                <a:solidFill>
                  <a:srgbClr val="262626"/>
                </a:solidFill>
                <a:latin typeface="Meiryo"/>
                <a:ea typeface="Meiryo"/>
                <a:cs typeface="Meiryo"/>
              </a:rPr>
              <a:t>30〜62 歳</a:t>
            </a:r>
          </a:p>
          <a:p>
            <a:pPr algn="ctr"/>
            <a:r>
              <a:rPr sz="2200" b="1">
                <a:solidFill>
                  <a:srgbClr val="262626"/>
                </a:solidFill>
                <a:latin typeface="Meiryo"/>
                <a:ea typeface="Meiryo"/>
                <a:cs typeface="Meiryo"/>
              </a:rPr>
              <a:t>登録時に</a:t>
            </a:r>
          </a:p>
          <a:p>
            <a:pPr algn="ctr"/>
            <a:r>
              <a:rPr sz="2200" b="1">
                <a:solidFill>
                  <a:srgbClr val="262626"/>
                </a:solidFill>
                <a:latin typeface="Meiryo"/>
                <a:ea typeface="Meiryo"/>
                <a:cs typeface="Meiryo"/>
              </a:rPr>
              <a:t>心血管疾患なし</a:t>
            </a:r>
          </a:p>
        </p:txBody>
      </p:sp>
      <p:sp>
        <p:nvSpPr>
          <p:cNvPr id="4" name="fact1">
            <a:extLst>
              <a:ext uri="{FF2B5EF4-FFF2-40B4-BE49-F238E27FC236}">
                <a16:creationId xmlns:a16="http://schemas.microsoft.com/office/drawing/2014/main" id="{E9CB1BDA-6335-6B88-D851-03BD5F7CC4E8}"/>
              </a:ext>
            </a:extLst>
          </p:cNvPr>
          <p:cNvSpPr/>
          <p:nvPr/>
        </p:nvSpPr>
        <p:spPr>
          <a:xfrm>
            <a:off x="548640" y="4374056"/>
            <a:ext cx="11119104" cy="969265"/>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altLang="ja-JP" sz="2600" b="1" dirty="0">
                <a:solidFill>
                  <a:srgbClr val="262626"/>
                </a:solidFill>
                <a:latin typeface="Meiryo"/>
                <a:ea typeface="Meiryo"/>
                <a:cs typeface="Meiryo"/>
              </a:rPr>
              <a:t>2</a:t>
            </a:r>
            <a:r>
              <a:rPr lang="ja-JP" altLang="en-US" sz="2600" b="1">
                <a:solidFill>
                  <a:srgbClr val="262626"/>
                </a:solidFill>
                <a:latin typeface="Meiryo"/>
                <a:ea typeface="Meiryo"/>
                <a:cs typeface="Meiryo"/>
              </a:rPr>
              <a:t>年ごとに追跡し、発症前からの経過を追う。</a:t>
            </a:r>
          </a:p>
          <a:p>
            <a:pPr algn="ctr"/>
            <a:r>
              <a:rPr lang="ja-JP" altLang="en-US" sz="2200" b="1">
                <a:solidFill>
                  <a:srgbClr val="262626"/>
                </a:solidFill>
                <a:latin typeface="Meiryo"/>
                <a:ea typeface="Meiryo"/>
                <a:cs typeface="Meiryo"/>
              </a:rPr>
              <a:t>「危険因子（</a:t>
            </a:r>
            <a:r>
              <a:rPr lang="en" altLang="ja-JP" sz="2200" b="1" dirty="0">
                <a:solidFill>
                  <a:srgbClr val="262626"/>
                </a:solidFill>
                <a:latin typeface="Meiryo"/>
                <a:ea typeface="Meiryo"/>
                <a:cs typeface="Meiryo"/>
              </a:rPr>
              <a:t>risk factor</a:t>
            </a:r>
            <a:r>
              <a:rPr lang="ja-JP" altLang="en" sz="2200" b="1">
                <a:solidFill>
                  <a:srgbClr val="262626"/>
                </a:solidFill>
                <a:latin typeface="Meiryo"/>
                <a:ea typeface="Meiryo"/>
                <a:cs typeface="Meiryo"/>
              </a:rPr>
              <a:t>）」</a:t>
            </a:r>
            <a:r>
              <a:rPr lang="ja-JP" altLang="en-US" sz="2200" b="1">
                <a:solidFill>
                  <a:srgbClr val="262626"/>
                </a:solidFill>
                <a:latin typeface="Meiryo"/>
                <a:ea typeface="Meiryo"/>
                <a:cs typeface="Meiryo"/>
              </a:rPr>
              <a:t>という概念を生んだ研究。</a:t>
            </a:r>
            <a:endParaRPr lang="ja-JP" altLang="en-US" sz="2200" b="1" dirty="0">
              <a:solidFill>
                <a:srgbClr val="262626"/>
              </a:solidFill>
              <a:latin typeface="Meiryo"/>
              <a:ea typeface="Meiryo"/>
              <a:cs typeface="Meiryo"/>
            </a:endParaRPr>
          </a:p>
        </p:txBody>
      </p:sp>
      <p:sp>
        <p:nvSpPr>
          <p:cNvPr id="2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7. Dawber 1973</a:t>
            </a:r>
          </a:p>
        </p:txBody>
      </p:sp>
      <p:sp>
        <p:nvSpPr>
          <p:cNvPr id="2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23/118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14569262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8968F-ADEA-D170-C699-C12C4AFCD3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201E03-EEF2-C812-5C12-A17A8C5D2F4D}"/>
              </a:ext>
            </a:extLst>
          </p:cNvPr>
          <p:cNvSpPr>
            <a:spLocks noGrp="1"/>
          </p:cNvSpPr>
          <p:nvPr>
            <p:ph type="title"/>
          </p:nvPr>
        </p:nvSpPr>
        <p:spPr/>
        <p:txBody>
          <a:bodyPr>
            <a:normAutofit/>
          </a:bodyPr>
          <a:lstStyle/>
          <a:p>
            <a:pPr algn="l"/>
            <a:r>
              <a:rPr sz="4600" dirty="0">
                <a:latin typeface="Meiryo"/>
                <a:ea typeface="Meiryo"/>
                <a:cs typeface="Meiryo"/>
              </a:rPr>
              <a:t>2.1.1  フラミンガム研究</a:t>
            </a:r>
          </a:p>
        </p:txBody>
      </p:sp>
      <p:sp>
        <p:nvSpPr>
          <p:cNvPr id="19" name="lead">
            <a:extLst>
              <a:ext uri="{FF2B5EF4-FFF2-40B4-BE49-F238E27FC236}">
                <a16:creationId xmlns:a16="http://schemas.microsoft.com/office/drawing/2014/main" id="{F8EC53D6-55CF-9E98-3B56-78CF9A0EB19F}"/>
              </a:ext>
            </a:extLst>
          </p:cNvPr>
          <p:cNvSpPr txBox="1"/>
          <p:nvPr/>
        </p:nvSpPr>
        <p:spPr>
          <a:xfrm>
            <a:off x="566928" y="2250863"/>
            <a:ext cx="10058400" cy="369332"/>
          </a:xfrm>
          <a:prstGeom prst="rect">
            <a:avLst/>
          </a:prstGeom>
          <a:noFill/>
        </p:spPr>
        <p:txBody>
          <a:bodyPr wrap="square" lIns="0" tIns="0" rIns="0" bIns="0" anchor="ctr">
            <a:spAutoFit/>
          </a:bodyPr>
          <a:lstStyle/>
          <a:p>
            <a:pPr algn="l"/>
            <a:r>
              <a:rPr sz="2400" b="1" dirty="0" err="1">
                <a:solidFill>
                  <a:srgbClr val="262626"/>
                </a:solidFill>
                <a:latin typeface="Meiryo"/>
                <a:ea typeface="Meiryo"/>
                <a:cs typeface="Meiryo"/>
              </a:rPr>
              <a:t>米国の前向きコホート</a:t>
            </a:r>
            <a:endParaRPr sz="2400" b="1" dirty="0">
              <a:solidFill>
                <a:srgbClr val="262626"/>
              </a:solidFill>
              <a:latin typeface="Meiryo"/>
              <a:ea typeface="Meiryo"/>
              <a:cs typeface="Meiryo"/>
            </a:endParaRPr>
          </a:p>
        </p:txBody>
      </p:sp>
      <p:sp>
        <p:nvSpPr>
          <p:cNvPr id="20" name="fact0">
            <a:extLst>
              <a:ext uri="{FF2B5EF4-FFF2-40B4-BE49-F238E27FC236}">
                <a16:creationId xmlns:a16="http://schemas.microsoft.com/office/drawing/2014/main" id="{E9D390A7-1B50-043A-92FB-213A4D9A4214}"/>
              </a:ext>
            </a:extLst>
          </p:cNvPr>
          <p:cNvSpPr/>
          <p:nvPr/>
        </p:nvSpPr>
        <p:spPr>
          <a:xfrm>
            <a:off x="548640" y="2792145"/>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3000" b="1">
                <a:solidFill>
                  <a:srgbClr val="262626"/>
                </a:solidFill>
                <a:latin typeface="Meiryo"/>
                <a:ea typeface="Meiryo"/>
                <a:cs typeface="Meiryo"/>
              </a:rPr>
              <a:t>1948年 開始</a:t>
            </a:r>
          </a:p>
          <a:p>
            <a:pPr algn="ctr"/>
            <a:r>
              <a:rPr sz="2200" b="1">
                <a:solidFill>
                  <a:srgbClr val="262626"/>
                </a:solidFill>
                <a:latin typeface="Meiryo"/>
                <a:ea typeface="Meiryo"/>
                <a:cs typeface="Meiryo"/>
              </a:rPr>
              <a:t>米国 国立心臓研究所</a:t>
            </a:r>
          </a:p>
          <a:p>
            <a:pPr algn="ctr"/>
            <a:r>
              <a:rPr sz="2200" b="1">
                <a:solidFill>
                  <a:srgbClr val="262626"/>
                </a:solidFill>
                <a:latin typeface="Meiryo"/>
                <a:ea typeface="Meiryo"/>
                <a:cs typeface="Meiryo"/>
              </a:rPr>
              <a:t>（現 NHLBI）</a:t>
            </a:r>
          </a:p>
        </p:txBody>
      </p:sp>
      <p:sp>
        <p:nvSpPr>
          <p:cNvPr id="21" name="fact1">
            <a:extLst>
              <a:ext uri="{FF2B5EF4-FFF2-40B4-BE49-F238E27FC236}">
                <a16:creationId xmlns:a16="http://schemas.microsoft.com/office/drawing/2014/main" id="{206FE081-ED3A-4FC5-288E-D1CEF3A2E35E}"/>
              </a:ext>
            </a:extLst>
          </p:cNvPr>
          <p:cNvSpPr/>
          <p:nvPr/>
        </p:nvSpPr>
        <p:spPr>
          <a:xfrm>
            <a:off x="4370832" y="2792145"/>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3000" b="1">
                <a:solidFill>
                  <a:srgbClr val="262626"/>
                </a:solidFill>
                <a:latin typeface="Meiryo"/>
                <a:ea typeface="Meiryo"/>
                <a:cs typeface="Meiryo"/>
              </a:rPr>
              <a:t>5,209 人</a:t>
            </a:r>
          </a:p>
          <a:p>
            <a:pPr algn="ctr"/>
            <a:r>
              <a:rPr sz="2200" b="1">
                <a:solidFill>
                  <a:srgbClr val="262626"/>
                </a:solidFill>
                <a:latin typeface="Meiryo"/>
                <a:ea typeface="Meiryo"/>
                <a:cs typeface="Meiryo"/>
              </a:rPr>
              <a:t>マサチューセッツ州</a:t>
            </a:r>
          </a:p>
          <a:p>
            <a:pPr algn="ctr"/>
            <a:r>
              <a:rPr sz="2200" b="1">
                <a:solidFill>
                  <a:srgbClr val="262626"/>
                </a:solidFill>
                <a:latin typeface="Meiryo"/>
                <a:ea typeface="Meiryo"/>
                <a:cs typeface="Meiryo"/>
              </a:rPr>
              <a:t>フラミンガムの住民</a:t>
            </a:r>
          </a:p>
        </p:txBody>
      </p:sp>
      <p:sp>
        <p:nvSpPr>
          <p:cNvPr id="22" name="fact2">
            <a:extLst>
              <a:ext uri="{FF2B5EF4-FFF2-40B4-BE49-F238E27FC236}">
                <a16:creationId xmlns:a16="http://schemas.microsoft.com/office/drawing/2014/main" id="{015B7C19-73C4-B5A6-9724-4A6AD846E664}"/>
              </a:ext>
            </a:extLst>
          </p:cNvPr>
          <p:cNvSpPr/>
          <p:nvPr/>
        </p:nvSpPr>
        <p:spPr>
          <a:xfrm>
            <a:off x="8193024" y="2792145"/>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3000" b="1">
                <a:solidFill>
                  <a:srgbClr val="262626"/>
                </a:solidFill>
                <a:latin typeface="Meiryo"/>
                <a:ea typeface="Meiryo"/>
                <a:cs typeface="Meiryo"/>
              </a:rPr>
              <a:t>30〜62 歳</a:t>
            </a:r>
          </a:p>
          <a:p>
            <a:pPr algn="ctr"/>
            <a:r>
              <a:rPr sz="2200" b="1">
                <a:solidFill>
                  <a:srgbClr val="262626"/>
                </a:solidFill>
                <a:latin typeface="Meiryo"/>
                <a:ea typeface="Meiryo"/>
                <a:cs typeface="Meiryo"/>
              </a:rPr>
              <a:t>登録時に</a:t>
            </a:r>
          </a:p>
          <a:p>
            <a:pPr algn="ctr"/>
            <a:r>
              <a:rPr sz="2200" b="1">
                <a:solidFill>
                  <a:srgbClr val="262626"/>
                </a:solidFill>
                <a:latin typeface="Meiryo"/>
                <a:ea typeface="Meiryo"/>
                <a:cs typeface="Meiryo"/>
              </a:rPr>
              <a:t>心血管疾患なし</a:t>
            </a:r>
          </a:p>
        </p:txBody>
      </p:sp>
      <p:sp>
        <p:nvSpPr>
          <p:cNvPr id="3" name="callout">
            <a:extLst>
              <a:ext uri="{FF2B5EF4-FFF2-40B4-BE49-F238E27FC236}">
                <a16:creationId xmlns:a16="http://schemas.microsoft.com/office/drawing/2014/main" id="{8972EB66-69B1-1329-DF72-0CA13CFBD1AF}"/>
              </a:ext>
            </a:extLst>
          </p:cNvPr>
          <p:cNvSpPr/>
          <p:nvPr/>
        </p:nvSpPr>
        <p:spPr>
          <a:xfrm>
            <a:off x="548639" y="5568236"/>
            <a:ext cx="11119103" cy="583429"/>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ja-JP" altLang="en-US" sz="2600" b="1">
                <a:solidFill>
                  <a:srgbClr val="262626"/>
                </a:solidFill>
                <a:latin typeface="Meiryo"/>
                <a:ea typeface="Meiryo"/>
                <a:cs typeface="Meiryo"/>
              </a:rPr>
              <a:t>指尖脈波波形と年齢や冠動脈疾患の関連を調べた。</a:t>
            </a:r>
            <a:endParaRPr sz="2200" b="1" dirty="0">
              <a:solidFill>
                <a:srgbClr val="262626"/>
              </a:solidFill>
              <a:latin typeface="Meiryo"/>
              <a:ea typeface="Meiryo"/>
              <a:cs typeface="Meiryo"/>
            </a:endParaRPr>
          </a:p>
        </p:txBody>
      </p:sp>
      <p:sp>
        <p:nvSpPr>
          <p:cNvPr id="4" name="fact1">
            <a:extLst>
              <a:ext uri="{FF2B5EF4-FFF2-40B4-BE49-F238E27FC236}">
                <a16:creationId xmlns:a16="http://schemas.microsoft.com/office/drawing/2014/main" id="{917550F6-F1DD-C512-E172-D3C4EBCD1DB3}"/>
              </a:ext>
            </a:extLst>
          </p:cNvPr>
          <p:cNvSpPr/>
          <p:nvPr/>
        </p:nvSpPr>
        <p:spPr>
          <a:xfrm>
            <a:off x="548640" y="4374056"/>
            <a:ext cx="11119104" cy="969265"/>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altLang="ja-JP" sz="2600" b="1" dirty="0">
                <a:solidFill>
                  <a:srgbClr val="262626"/>
                </a:solidFill>
                <a:latin typeface="Meiryo"/>
                <a:ea typeface="Meiryo"/>
                <a:cs typeface="Meiryo"/>
              </a:rPr>
              <a:t>2</a:t>
            </a:r>
            <a:r>
              <a:rPr lang="ja-JP" altLang="en-US" sz="2600" b="1">
                <a:solidFill>
                  <a:srgbClr val="262626"/>
                </a:solidFill>
                <a:latin typeface="Meiryo"/>
                <a:ea typeface="Meiryo"/>
                <a:cs typeface="Meiryo"/>
              </a:rPr>
              <a:t>年ごとに追跡し、発症前からの経過を追う。</a:t>
            </a:r>
          </a:p>
          <a:p>
            <a:pPr algn="ctr"/>
            <a:r>
              <a:rPr lang="ja-JP" altLang="en-US" sz="2200" b="1">
                <a:solidFill>
                  <a:srgbClr val="262626"/>
                </a:solidFill>
                <a:latin typeface="Meiryo"/>
                <a:ea typeface="Meiryo"/>
                <a:cs typeface="Meiryo"/>
              </a:rPr>
              <a:t>「危険因子（</a:t>
            </a:r>
            <a:r>
              <a:rPr lang="en" altLang="ja-JP" sz="2200" b="1" dirty="0">
                <a:solidFill>
                  <a:srgbClr val="262626"/>
                </a:solidFill>
                <a:latin typeface="Meiryo"/>
                <a:ea typeface="Meiryo"/>
                <a:cs typeface="Meiryo"/>
              </a:rPr>
              <a:t>risk factor</a:t>
            </a:r>
            <a:r>
              <a:rPr lang="ja-JP" altLang="en" sz="2200" b="1">
                <a:solidFill>
                  <a:srgbClr val="262626"/>
                </a:solidFill>
                <a:latin typeface="Meiryo"/>
                <a:ea typeface="Meiryo"/>
                <a:cs typeface="Meiryo"/>
              </a:rPr>
              <a:t>）」</a:t>
            </a:r>
            <a:r>
              <a:rPr lang="ja-JP" altLang="en-US" sz="2200" b="1">
                <a:solidFill>
                  <a:srgbClr val="262626"/>
                </a:solidFill>
                <a:latin typeface="Meiryo"/>
                <a:ea typeface="Meiryo"/>
                <a:cs typeface="Meiryo"/>
              </a:rPr>
              <a:t>という概念を生んだ研究。</a:t>
            </a:r>
            <a:endParaRPr lang="ja-JP" altLang="en-US" sz="2200" b="1" dirty="0">
              <a:solidFill>
                <a:srgbClr val="262626"/>
              </a:solidFill>
              <a:latin typeface="Meiryo"/>
              <a:ea typeface="Meiryo"/>
              <a:cs typeface="Meiryo"/>
            </a:endParaRPr>
          </a:p>
        </p:txBody>
      </p:sp>
      <p:sp>
        <p:nvSpPr>
          <p:cNvPr id="2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7. Dawber 1973</a:t>
            </a:r>
          </a:p>
        </p:txBody>
      </p:sp>
      <p:sp>
        <p:nvSpPr>
          <p:cNvPr id="2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24/118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37212150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8552F-549D-3330-54DB-E3DA47239846}"/>
            </a:ext>
          </a:extLst>
        </p:cNvPr>
        <p:cNvGrpSpPr/>
        <p:nvPr/>
      </p:nvGrpSpPr>
      <p:grpSpPr>
        <a:xfrm>
          <a:off x="0" y="0"/>
          <a:ext cx="0" cy="0"/>
          <a:chOff x="0" y="0"/>
          <a:chExt cx="0" cy="0"/>
        </a:xfrm>
      </p:grpSpPr>
      <p:pic>
        <p:nvPicPr>
          <p:cNvPr id="305" name="fig_dawber4" descr="f21_dawber4.png"/>
          <p:cNvPicPr>
            <a:picLocks noChangeAspect="1"/>
          </p:cNvPicPr>
          <p:nvPr/>
        </p:nvPicPr>
        <p:blipFill>
          <a:blip r:embed="rId3"/>
          <a:stretch>
            <a:fillRect/>
          </a:stretch>
        </p:blipFill>
        <p:spPr>
          <a:xfrm>
            <a:off x="929973" y="1800000"/>
            <a:ext cx="10308054" cy="4320000"/>
          </a:xfrm>
          <a:prstGeom prst="rect">
            <a:avLst/>
          </a:prstGeom>
        </p:spPr>
      </p:pic>
      <p:sp>
        <p:nvSpPr>
          <p:cNvPr id="2" name="Title 1">
            <a:extLst>
              <a:ext uri="{FF2B5EF4-FFF2-40B4-BE49-F238E27FC236}">
                <a16:creationId xmlns:a16="http://schemas.microsoft.com/office/drawing/2014/main" id="{D1790004-114C-1086-8AE9-614102C58CAE}"/>
              </a:ext>
            </a:extLst>
          </p:cNvPr>
          <p:cNvSpPr>
            <a:spLocks noGrp="1"/>
          </p:cNvSpPr>
          <p:nvPr>
            <p:ph type="title"/>
          </p:nvPr>
        </p:nvSpPr>
        <p:spPr/>
        <p:txBody>
          <a:bodyPr>
            <a:normAutofit/>
          </a:bodyPr>
          <a:lstStyle/>
          <a:p>
            <a:pPr algn="l"/>
            <a:r>
              <a:rPr sz="4600" dirty="0">
                <a:latin typeface="Meiryo"/>
                <a:ea typeface="Meiryo"/>
                <a:cs typeface="Meiryo"/>
              </a:rPr>
              <a:t>2.1.1  フラミンガム研究</a:t>
            </a:r>
          </a:p>
        </p:txBody>
      </p:sp>
      <p:sp>
        <p:nvSpPr>
          <p:cNvPr id="300" name="c1"/>
          <p:cNvSpPr txBox="1"/>
          <p:nvPr/>
        </p:nvSpPr>
        <p:spPr>
          <a:xfrm>
            <a:off x="755460" y="1886400"/>
            <a:ext cx="2680094" cy="648000"/>
          </a:xfrm>
          <a:prstGeom prst="rect">
            <a:avLst/>
          </a:prstGeom>
          <a:noFill/>
        </p:spPr>
        <p:txBody>
          <a:bodyPr wrap="square" lIns="0" tIns="0" rIns="0" bIns="0" anchor="t">
            <a:noAutofit/>
          </a:bodyPr>
          <a:lstStyle/>
          <a:p>
            <a:pPr algn="ctr"/>
            <a:r>
              <a:rPr lang="ja-JP" altLang="en-US" sz="2200" b="1" dirty="0">
                <a:solidFill>
                  <a:srgbClr val="70AD47"/>
                </a:solidFill>
                <a:latin typeface="Meiryo"/>
                <a:ea typeface="Meiryo"/>
                <a:cs typeface="Meiryo"/>
              </a:rPr>
              <a:t>Class 1</a:t>
            </a:r>
            <a:br>
              <a:rPr lang="ja-JP" altLang="en-US" sz="2200" b="1" dirty="0">
                <a:solidFill>
                  <a:srgbClr val="70AD47"/>
                </a:solidFill>
                <a:latin typeface="Meiryo"/>
                <a:ea typeface="Meiryo"/>
                <a:cs typeface="Meiryo"/>
              </a:rPr>
            </a:br>
            <a:r>
              <a:rPr lang="ja-JP" altLang="en-US" sz="2200" b="1" dirty="0">
                <a:solidFill>
                  <a:srgbClr val="70AD47"/>
                </a:solidFill>
                <a:latin typeface="Meiryo"/>
                <a:ea typeface="Meiryo"/>
                <a:cs typeface="Meiryo"/>
              </a:rPr>
              <a:t>明瞭な切痕</a:t>
            </a:r>
          </a:p>
        </p:txBody>
      </p:sp>
      <p:sp>
        <p:nvSpPr>
          <p:cNvPr id="301" name="c2"/>
          <p:cNvSpPr txBox="1"/>
          <p:nvPr/>
        </p:nvSpPr>
        <p:spPr>
          <a:xfrm>
            <a:off x="3381125" y="1886400"/>
            <a:ext cx="2473932" cy="648000"/>
          </a:xfrm>
          <a:prstGeom prst="rect">
            <a:avLst/>
          </a:prstGeom>
          <a:noFill/>
        </p:spPr>
        <p:txBody>
          <a:bodyPr wrap="square" lIns="0" tIns="0" rIns="0" bIns="0" anchor="t">
            <a:noAutofit/>
          </a:bodyPr>
          <a:lstStyle/>
          <a:p>
            <a:pPr algn="ctr"/>
            <a:r>
              <a:rPr lang="ja-JP" altLang="en-US" sz="2200" b="1" dirty="0">
                <a:solidFill>
                  <a:srgbClr val="00A8AA"/>
                </a:solidFill>
                <a:latin typeface="Meiryo"/>
                <a:ea typeface="Meiryo"/>
                <a:cs typeface="Meiryo"/>
              </a:rPr>
              <a:t>Class 2</a:t>
            </a:r>
            <a:br>
              <a:rPr lang="ja-JP" altLang="en-US" sz="2200" b="1" dirty="0">
                <a:solidFill>
                  <a:srgbClr val="00A8AA"/>
                </a:solidFill>
                <a:latin typeface="Meiryo"/>
                <a:ea typeface="Meiryo"/>
                <a:cs typeface="Meiryo"/>
              </a:rPr>
            </a:br>
            <a:r>
              <a:rPr lang="ja-JP" altLang="en-US" sz="2200" b="1" dirty="0">
                <a:solidFill>
                  <a:srgbClr val="00A8AA"/>
                </a:solidFill>
                <a:latin typeface="Meiryo"/>
                <a:ea typeface="Meiryo"/>
                <a:cs typeface="Meiryo"/>
              </a:rPr>
              <a:t>切痕は消え水平化</a:t>
            </a:r>
          </a:p>
        </p:txBody>
      </p:sp>
      <p:sp>
        <p:nvSpPr>
          <p:cNvPr id="302" name="c3"/>
          <p:cNvSpPr txBox="1"/>
          <p:nvPr/>
        </p:nvSpPr>
        <p:spPr>
          <a:xfrm>
            <a:off x="6012905" y="1886400"/>
            <a:ext cx="2473932" cy="648000"/>
          </a:xfrm>
          <a:prstGeom prst="rect">
            <a:avLst/>
          </a:prstGeom>
          <a:noFill/>
        </p:spPr>
        <p:txBody>
          <a:bodyPr wrap="square" lIns="0" tIns="0" rIns="0" bIns="0" anchor="t">
            <a:noAutofit/>
          </a:bodyPr>
          <a:lstStyle/>
          <a:p>
            <a:pPr algn="ctr"/>
            <a:r>
              <a:rPr lang="ja-JP" altLang="en-US" sz="2200" b="1" dirty="0">
                <a:solidFill>
                  <a:srgbClr val="BF9000"/>
                </a:solidFill>
                <a:latin typeface="Meiryo"/>
                <a:ea typeface="Meiryo"/>
                <a:cs typeface="Meiryo"/>
              </a:rPr>
              <a:t>Class 3</a:t>
            </a:r>
            <a:br>
              <a:rPr lang="ja-JP" altLang="en-US" sz="2200" b="1">
                <a:solidFill>
                  <a:srgbClr val="BF9000"/>
                </a:solidFill>
                <a:latin typeface="Meiryo"/>
                <a:ea typeface="Meiryo"/>
                <a:cs typeface="Meiryo"/>
              </a:rPr>
            </a:br>
            <a:r>
              <a:rPr lang="ja-JP" altLang="en-US" sz="2200" b="1">
                <a:solidFill>
                  <a:srgbClr val="BF9000"/>
                </a:solidFill>
                <a:latin typeface="Meiryo"/>
                <a:ea typeface="Meiryo"/>
                <a:cs typeface="Meiryo"/>
              </a:rPr>
              <a:t>下降脚の</a:t>
            </a:r>
            <a:r>
              <a:rPr lang="ja-JP" altLang="en-US" sz="2200" b="1" dirty="0">
                <a:solidFill>
                  <a:srgbClr val="BF9000"/>
                </a:solidFill>
                <a:latin typeface="Meiryo"/>
                <a:ea typeface="Meiryo"/>
                <a:cs typeface="Meiryo"/>
              </a:rPr>
              <a:t>変化のみ</a:t>
            </a:r>
          </a:p>
        </p:txBody>
      </p:sp>
      <p:sp>
        <p:nvSpPr>
          <p:cNvPr id="303" name="c4"/>
          <p:cNvSpPr txBox="1"/>
          <p:nvPr/>
        </p:nvSpPr>
        <p:spPr>
          <a:xfrm>
            <a:off x="8579368" y="1886400"/>
            <a:ext cx="2473932" cy="648000"/>
          </a:xfrm>
          <a:prstGeom prst="rect">
            <a:avLst/>
          </a:prstGeom>
          <a:noFill/>
        </p:spPr>
        <p:txBody>
          <a:bodyPr wrap="square" lIns="0" tIns="0" rIns="0" bIns="0" anchor="t">
            <a:noAutofit/>
          </a:bodyPr>
          <a:lstStyle/>
          <a:p>
            <a:pPr algn="ctr"/>
            <a:r>
              <a:rPr lang="ja-JP" altLang="en-US" sz="2200" b="1" dirty="0">
                <a:solidFill>
                  <a:srgbClr val="C00000"/>
                </a:solidFill>
                <a:latin typeface="Meiryo"/>
                <a:ea typeface="Meiryo"/>
                <a:cs typeface="Meiryo"/>
              </a:rPr>
              <a:t>Class 4</a:t>
            </a:r>
            <a:br>
              <a:rPr lang="ja-JP" altLang="en-US" sz="2200" b="1" dirty="0">
                <a:solidFill>
                  <a:srgbClr val="C00000"/>
                </a:solidFill>
                <a:latin typeface="Meiryo"/>
                <a:ea typeface="Meiryo"/>
                <a:cs typeface="Meiryo"/>
              </a:rPr>
            </a:br>
            <a:r>
              <a:rPr lang="ja-JP" altLang="en-US" sz="2200" b="1" dirty="0">
                <a:solidFill>
                  <a:srgbClr val="C00000"/>
                </a:solidFill>
                <a:latin typeface="Meiryo"/>
                <a:ea typeface="Meiryo"/>
                <a:cs typeface="Meiryo"/>
              </a:rPr>
              <a:t>切痕の痕跡なし</a:t>
            </a:r>
          </a:p>
        </p:txBody>
      </p:sp>
      <p:sp>
        <p:nvSpPr>
          <p:cNvPr id="304" name="cap"/>
          <p:cNvSpPr txBox="1"/>
          <p:nvPr/>
        </p:nvSpPr>
        <p:spPr>
          <a:xfrm>
            <a:off x="929973" y="5904000"/>
            <a:ext cx="10308054" cy="302400"/>
          </a:xfrm>
          <a:prstGeom prst="rect">
            <a:avLst/>
          </a:prstGeom>
          <a:noFill/>
        </p:spPr>
        <p:txBody>
          <a:bodyPr wrap="square" lIns="0" tIns="0" rIns="0" bIns="0" anchor="t">
            <a:noAutofit/>
          </a:bodyPr>
          <a:lstStyle/>
          <a:p>
            <a:pPr algn="ctr"/>
            <a:r>
              <a:rPr lang="ja-JP" altLang="en-US" sz="2200" b="1">
                <a:solidFill>
                  <a:srgbClr val="262626"/>
                </a:solidFill>
                <a:latin typeface="Meiryo"/>
                <a:ea typeface="Meiryo"/>
                <a:cs typeface="Meiryo"/>
              </a:rPr>
              <a:t>指尖脈波を切痕の位置で</a:t>
            </a:r>
            <a:r>
              <a:rPr lang="en-US" altLang="ja-JP" sz="2200" b="1" dirty="0">
                <a:solidFill>
                  <a:srgbClr val="262626"/>
                </a:solidFill>
                <a:latin typeface="Meiryo"/>
                <a:ea typeface="Meiryo"/>
                <a:cs typeface="Meiryo"/>
              </a:rPr>
              <a:t>class </a:t>
            </a:r>
            <a:r>
              <a:rPr lang="ja-JP" altLang="en-US" sz="2200" b="1">
                <a:solidFill>
                  <a:srgbClr val="262626"/>
                </a:solidFill>
                <a:latin typeface="Meiryo"/>
                <a:ea typeface="Meiryo"/>
                <a:cs typeface="Meiryo"/>
              </a:rPr>
              <a:t>分類　年齢や冠動脈疾患との関連を調べた。</a:t>
            </a:r>
            <a:endParaRPr lang="ja-JP" altLang="en-US" sz="2200" b="1" dirty="0">
              <a:solidFill>
                <a:srgbClr val="262626"/>
              </a:solidFill>
              <a:latin typeface="Meiryo"/>
              <a:ea typeface="Meiryo"/>
              <a:cs typeface="Meiryo"/>
            </a:endParaRPr>
          </a:p>
        </p:txBody>
      </p:sp>
      <p:sp>
        <p:nvSpPr>
          <p:cNvPr id="306"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7. Dawber 1973</a:t>
            </a:r>
          </a:p>
        </p:txBody>
      </p:sp>
      <p:sp>
        <p:nvSpPr>
          <p:cNvPr id="307"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25/118</a:t>
            </a:r>
          </a:p>
        </p:txBody>
      </p:sp>
      <p:sp>
        <p:nvSpPr>
          <p:cNvPr id="308"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309"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310"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311"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312"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313"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17654311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130B3-0213-CD15-2271-9D28D1145C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FDB7B5-0971-C91D-B79B-B3B77CD76673}"/>
              </a:ext>
            </a:extLst>
          </p:cNvPr>
          <p:cNvSpPr>
            <a:spLocks noGrp="1"/>
          </p:cNvSpPr>
          <p:nvPr>
            <p:ph type="title"/>
          </p:nvPr>
        </p:nvSpPr>
        <p:spPr/>
        <p:txBody>
          <a:bodyPr>
            <a:normAutofit/>
          </a:bodyPr>
          <a:lstStyle/>
          <a:p>
            <a:pPr algn="l"/>
            <a:r>
              <a:rPr sz="4600" dirty="0">
                <a:latin typeface="Meiryo"/>
                <a:ea typeface="Meiryo"/>
                <a:cs typeface="Meiryo"/>
              </a:rPr>
              <a:t>2.1.1  フラミンガム研究</a:t>
            </a:r>
          </a:p>
        </p:txBody>
      </p:sp>
      <p:sp>
        <p:nvSpPr>
          <p:cNvPr id="300" name="c1">
            <a:extLst>
              <a:ext uri="{FF2B5EF4-FFF2-40B4-BE49-F238E27FC236}">
                <a16:creationId xmlns:a16="http://schemas.microsoft.com/office/drawing/2014/main" id="{D4DBE8DF-21F8-4CF5-24FE-DBC30F3F1213}"/>
              </a:ext>
            </a:extLst>
          </p:cNvPr>
          <p:cNvSpPr txBox="1"/>
          <p:nvPr/>
        </p:nvSpPr>
        <p:spPr>
          <a:xfrm>
            <a:off x="239612" y="2446996"/>
            <a:ext cx="2680094" cy="648000"/>
          </a:xfrm>
          <a:prstGeom prst="rect">
            <a:avLst/>
          </a:prstGeom>
          <a:noFill/>
        </p:spPr>
        <p:txBody>
          <a:bodyPr wrap="square" lIns="0" tIns="0" rIns="0" bIns="0" anchor="t">
            <a:noAutofit/>
          </a:bodyPr>
          <a:lstStyle/>
          <a:p>
            <a:pPr algn="ctr"/>
            <a:r>
              <a:rPr lang="ja-JP" altLang="en-US" sz="2200" b="1" dirty="0">
                <a:solidFill>
                  <a:srgbClr val="70AD47"/>
                </a:solidFill>
                <a:latin typeface="Meiryo"/>
                <a:ea typeface="Meiryo"/>
                <a:cs typeface="Meiryo"/>
              </a:rPr>
              <a:t>Class 1</a:t>
            </a:r>
            <a:br>
              <a:rPr lang="ja-JP" altLang="en-US" sz="2200" b="1" dirty="0">
                <a:solidFill>
                  <a:srgbClr val="70AD47"/>
                </a:solidFill>
                <a:latin typeface="Meiryo"/>
                <a:ea typeface="Meiryo"/>
                <a:cs typeface="Meiryo"/>
              </a:rPr>
            </a:br>
            <a:r>
              <a:rPr lang="ja-JP" altLang="en-US" sz="2200" b="1" dirty="0">
                <a:solidFill>
                  <a:srgbClr val="70AD47"/>
                </a:solidFill>
                <a:latin typeface="Meiryo"/>
                <a:ea typeface="Meiryo"/>
                <a:cs typeface="Meiryo"/>
              </a:rPr>
              <a:t>明瞭な切痕</a:t>
            </a:r>
          </a:p>
        </p:txBody>
      </p:sp>
      <p:sp>
        <p:nvSpPr>
          <p:cNvPr id="301" name="c2">
            <a:extLst>
              <a:ext uri="{FF2B5EF4-FFF2-40B4-BE49-F238E27FC236}">
                <a16:creationId xmlns:a16="http://schemas.microsoft.com/office/drawing/2014/main" id="{A982EAFB-5973-9850-9BC7-220A7C8199AE}"/>
              </a:ext>
            </a:extLst>
          </p:cNvPr>
          <p:cNvSpPr txBox="1"/>
          <p:nvPr/>
        </p:nvSpPr>
        <p:spPr>
          <a:xfrm>
            <a:off x="3353587" y="2446996"/>
            <a:ext cx="2473932" cy="648000"/>
          </a:xfrm>
          <a:prstGeom prst="rect">
            <a:avLst/>
          </a:prstGeom>
          <a:noFill/>
        </p:spPr>
        <p:txBody>
          <a:bodyPr wrap="square" lIns="0" tIns="0" rIns="0" bIns="0" anchor="t">
            <a:noAutofit/>
          </a:bodyPr>
          <a:lstStyle/>
          <a:p>
            <a:pPr algn="ctr"/>
            <a:r>
              <a:rPr lang="ja-JP" altLang="en-US" sz="2200" b="1" dirty="0">
                <a:solidFill>
                  <a:srgbClr val="00A8AA"/>
                </a:solidFill>
                <a:latin typeface="Meiryo"/>
                <a:ea typeface="Meiryo"/>
                <a:cs typeface="Meiryo"/>
              </a:rPr>
              <a:t>Class 2</a:t>
            </a:r>
            <a:br>
              <a:rPr lang="ja-JP" altLang="en-US" sz="2200" b="1" dirty="0">
                <a:solidFill>
                  <a:srgbClr val="00A8AA"/>
                </a:solidFill>
                <a:latin typeface="Meiryo"/>
                <a:ea typeface="Meiryo"/>
                <a:cs typeface="Meiryo"/>
              </a:rPr>
            </a:br>
            <a:r>
              <a:rPr lang="ja-JP" altLang="en-US" sz="2200" b="1" dirty="0">
                <a:solidFill>
                  <a:srgbClr val="00A8AA"/>
                </a:solidFill>
                <a:latin typeface="Meiryo"/>
                <a:ea typeface="Meiryo"/>
                <a:cs typeface="Meiryo"/>
              </a:rPr>
              <a:t>切痕は消え水平化</a:t>
            </a:r>
          </a:p>
        </p:txBody>
      </p:sp>
      <p:sp>
        <p:nvSpPr>
          <p:cNvPr id="302" name="c3">
            <a:extLst>
              <a:ext uri="{FF2B5EF4-FFF2-40B4-BE49-F238E27FC236}">
                <a16:creationId xmlns:a16="http://schemas.microsoft.com/office/drawing/2014/main" id="{FFB383E3-636C-0892-2784-B994B87D7A26}"/>
              </a:ext>
            </a:extLst>
          </p:cNvPr>
          <p:cNvSpPr txBox="1"/>
          <p:nvPr/>
        </p:nvSpPr>
        <p:spPr>
          <a:xfrm>
            <a:off x="6317553" y="2446996"/>
            <a:ext cx="2473932" cy="648000"/>
          </a:xfrm>
          <a:prstGeom prst="rect">
            <a:avLst/>
          </a:prstGeom>
          <a:noFill/>
        </p:spPr>
        <p:txBody>
          <a:bodyPr wrap="square" lIns="0" tIns="0" rIns="0" bIns="0" anchor="t">
            <a:noAutofit/>
          </a:bodyPr>
          <a:lstStyle/>
          <a:p>
            <a:pPr algn="ctr"/>
            <a:r>
              <a:rPr lang="ja-JP" altLang="en-US" sz="2200" b="1" dirty="0">
                <a:solidFill>
                  <a:srgbClr val="BF9000"/>
                </a:solidFill>
                <a:latin typeface="Meiryo"/>
                <a:ea typeface="Meiryo"/>
                <a:cs typeface="Meiryo"/>
              </a:rPr>
              <a:t>Class 3</a:t>
            </a:r>
            <a:br>
              <a:rPr lang="ja-JP" altLang="en-US" sz="2200" b="1">
                <a:solidFill>
                  <a:srgbClr val="BF9000"/>
                </a:solidFill>
                <a:latin typeface="Meiryo"/>
                <a:ea typeface="Meiryo"/>
                <a:cs typeface="Meiryo"/>
              </a:rPr>
            </a:br>
            <a:r>
              <a:rPr lang="ja-JP" altLang="en-US" sz="2200" b="1">
                <a:solidFill>
                  <a:srgbClr val="BF9000"/>
                </a:solidFill>
                <a:latin typeface="Meiryo"/>
                <a:ea typeface="Meiryo"/>
                <a:cs typeface="Meiryo"/>
              </a:rPr>
              <a:t>下降脚の</a:t>
            </a:r>
            <a:r>
              <a:rPr lang="ja-JP" altLang="en-US" sz="2200" b="1" dirty="0">
                <a:solidFill>
                  <a:srgbClr val="BF9000"/>
                </a:solidFill>
                <a:latin typeface="Meiryo"/>
                <a:ea typeface="Meiryo"/>
                <a:cs typeface="Meiryo"/>
              </a:rPr>
              <a:t>変化のみ</a:t>
            </a:r>
          </a:p>
        </p:txBody>
      </p:sp>
      <p:sp>
        <p:nvSpPr>
          <p:cNvPr id="303" name="c4">
            <a:extLst>
              <a:ext uri="{FF2B5EF4-FFF2-40B4-BE49-F238E27FC236}">
                <a16:creationId xmlns:a16="http://schemas.microsoft.com/office/drawing/2014/main" id="{82DF3CD3-71A8-E76E-FBAD-BB4AE090C956}"/>
              </a:ext>
            </a:extLst>
          </p:cNvPr>
          <p:cNvSpPr txBox="1"/>
          <p:nvPr/>
        </p:nvSpPr>
        <p:spPr>
          <a:xfrm>
            <a:off x="9340689" y="2446996"/>
            <a:ext cx="2473932" cy="648000"/>
          </a:xfrm>
          <a:prstGeom prst="rect">
            <a:avLst/>
          </a:prstGeom>
          <a:noFill/>
        </p:spPr>
        <p:txBody>
          <a:bodyPr wrap="square" lIns="0" tIns="0" rIns="0" bIns="0" anchor="t">
            <a:noAutofit/>
          </a:bodyPr>
          <a:lstStyle/>
          <a:p>
            <a:pPr algn="ctr"/>
            <a:r>
              <a:rPr lang="ja-JP" altLang="en-US" sz="2200" b="1" dirty="0">
                <a:solidFill>
                  <a:srgbClr val="C00000"/>
                </a:solidFill>
                <a:latin typeface="Meiryo"/>
                <a:ea typeface="Meiryo"/>
                <a:cs typeface="Meiryo"/>
              </a:rPr>
              <a:t>Class 4</a:t>
            </a:r>
            <a:br>
              <a:rPr lang="ja-JP" altLang="en-US" sz="2200" b="1" dirty="0">
                <a:solidFill>
                  <a:srgbClr val="C00000"/>
                </a:solidFill>
                <a:latin typeface="Meiryo"/>
                <a:ea typeface="Meiryo"/>
                <a:cs typeface="Meiryo"/>
              </a:rPr>
            </a:br>
            <a:r>
              <a:rPr lang="ja-JP" altLang="en-US" sz="2200" b="1" dirty="0">
                <a:solidFill>
                  <a:srgbClr val="C00000"/>
                </a:solidFill>
                <a:latin typeface="Meiryo"/>
                <a:ea typeface="Meiryo"/>
                <a:cs typeface="Meiryo"/>
              </a:rPr>
              <a:t>切痕の痕跡なし</a:t>
            </a:r>
          </a:p>
        </p:txBody>
      </p:sp>
      <p:pic>
        <p:nvPicPr>
          <p:cNvPr id="3" name="図 2">
            <a:extLst>
              <a:ext uri="{FF2B5EF4-FFF2-40B4-BE49-F238E27FC236}">
                <a16:creationId xmlns:a16="http://schemas.microsoft.com/office/drawing/2014/main" id="{66299B97-0090-66DC-34D9-27419A7550FD}"/>
              </a:ext>
            </a:extLst>
          </p:cNvPr>
          <p:cNvPicPr>
            <a:picLocks noChangeAspect="1"/>
          </p:cNvPicPr>
          <p:nvPr/>
        </p:nvPicPr>
        <p:blipFill rotWithShape="1">
          <a:blip r:embed="rId3"/>
          <a:srcRect t="27054" r="24870" b="48502"/>
          <a:stretch>
            <a:fillRect/>
          </a:stretch>
        </p:blipFill>
        <p:spPr>
          <a:xfrm>
            <a:off x="3159318" y="3780847"/>
            <a:ext cx="2862470" cy="1325563"/>
          </a:xfrm>
          <a:prstGeom prst="rect">
            <a:avLst/>
          </a:prstGeom>
        </p:spPr>
      </p:pic>
      <p:pic>
        <p:nvPicPr>
          <p:cNvPr id="4" name="図 3">
            <a:extLst>
              <a:ext uri="{FF2B5EF4-FFF2-40B4-BE49-F238E27FC236}">
                <a16:creationId xmlns:a16="http://schemas.microsoft.com/office/drawing/2014/main" id="{A5114804-75F7-28A7-0A6B-F433C0D762F2}"/>
              </a:ext>
            </a:extLst>
          </p:cNvPr>
          <p:cNvPicPr>
            <a:picLocks noChangeAspect="1"/>
          </p:cNvPicPr>
          <p:nvPr/>
        </p:nvPicPr>
        <p:blipFill>
          <a:blip r:embed="rId3"/>
          <a:srcRect l="3013" t="2610" r="21857" b="72946"/>
          <a:stretch>
            <a:fillRect/>
          </a:stretch>
        </p:blipFill>
        <p:spPr>
          <a:xfrm>
            <a:off x="148424" y="3780847"/>
            <a:ext cx="2862470" cy="1325563"/>
          </a:xfrm>
          <a:prstGeom prst="rect">
            <a:avLst/>
          </a:prstGeom>
        </p:spPr>
      </p:pic>
      <p:pic>
        <p:nvPicPr>
          <p:cNvPr id="5" name="図 4">
            <a:extLst>
              <a:ext uri="{FF2B5EF4-FFF2-40B4-BE49-F238E27FC236}">
                <a16:creationId xmlns:a16="http://schemas.microsoft.com/office/drawing/2014/main" id="{0E4B2E59-1360-99D4-DD5D-2170A0FDA1FA}"/>
              </a:ext>
            </a:extLst>
          </p:cNvPr>
          <p:cNvPicPr>
            <a:picLocks noChangeAspect="1"/>
          </p:cNvPicPr>
          <p:nvPr/>
        </p:nvPicPr>
        <p:blipFill>
          <a:blip r:embed="rId3"/>
          <a:srcRect l="3013" t="51498" r="21857" b="24140"/>
          <a:stretch>
            <a:fillRect/>
          </a:stretch>
        </p:blipFill>
        <p:spPr>
          <a:xfrm>
            <a:off x="6170212" y="3780847"/>
            <a:ext cx="2862470" cy="1321124"/>
          </a:xfrm>
          <a:prstGeom prst="rect">
            <a:avLst/>
          </a:prstGeom>
        </p:spPr>
      </p:pic>
      <p:pic>
        <p:nvPicPr>
          <p:cNvPr id="6" name="図 5">
            <a:extLst>
              <a:ext uri="{FF2B5EF4-FFF2-40B4-BE49-F238E27FC236}">
                <a16:creationId xmlns:a16="http://schemas.microsoft.com/office/drawing/2014/main" id="{54828E6E-F6C7-2302-BBD2-9A9F69237FF9}"/>
              </a:ext>
            </a:extLst>
          </p:cNvPr>
          <p:cNvPicPr>
            <a:picLocks noChangeAspect="1"/>
          </p:cNvPicPr>
          <p:nvPr/>
        </p:nvPicPr>
        <p:blipFill>
          <a:blip r:embed="rId3"/>
          <a:srcRect l="3013" t="75860" r="21857"/>
          <a:stretch>
            <a:fillRect/>
          </a:stretch>
        </p:blipFill>
        <p:spPr>
          <a:xfrm>
            <a:off x="9181106" y="3792884"/>
            <a:ext cx="2862470" cy="1309087"/>
          </a:xfrm>
          <a:prstGeom prst="rect">
            <a:avLst/>
          </a:prstGeom>
        </p:spPr>
      </p:pic>
      <p:sp>
        <p:nvSpPr>
          <p:cNvPr id="304"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7. Dawber 1973</a:t>
            </a:r>
          </a:p>
        </p:txBody>
      </p:sp>
      <p:sp>
        <p:nvSpPr>
          <p:cNvPr id="305"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26/118</a:t>
            </a:r>
          </a:p>
        </p:txBody>
      </p:sp>
      <p:sp>
        <p:nvSpPr>
          <p:cNvPr id="306"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307"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308"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309"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310"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311"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16429085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BDBF7-ADC4-A5AA-A03C-7F9C1F764F15}"/>
            </a:ext>
          </a:extLst>
        </p:cNvPr>
        <p:cNvGrpSpPr/>
        <p:nvPr/>
      </p:nvGrpSpPr>
      <p:grpSpPr>
        <a:xfrm>
          <a:off x="0" y="0"/>
          <a:ext cx="0" cy="0"/>
          <a:chOff x="0" y="0"/>
          <a:chExt cx="0" cy="0"/>
        </a:xfrm>
      </p:grpSpPr>
      <p:pic>
        <p:nvPicPr>
          <p:cNvPr id="3" name="図 2">
            <a:extLst>
              <a:ext uri="{FF2B5EF4-FFF2-40B4-BE49-F238E27FC236}">
                <a16:creationId xmlns:a16="http://schemas.microsoft.com/office/drawing/2014/main" id="{C53FAAD1-E8F8-0F7C-AC7B-929B3E0DD4DA}"/>
              </a:ext>
            </a:extLst>
          </p:cNvPr>
          <p:cNvPicPr>
            <a:picLocks noChangeAspect="1"/>
          </p:cNvPicPr>
          <p:nvPr/>
        </p:nvPicPr>
        <p:blipFill>
          <a:blip r:embed="rId3"/>
          <a:srcRect t="10529"/>
          <a:stretch>
            <a:fillRect/>
          </a:stretch>
        </p:blipFill>
        <p:spPr>
          <a:xfrm>
            <a:off x="2420405" y="230844"/>
            <a:ext cx="7351190" cy="1939416"/>
          </a:xfrm>
          <a:prstGeom prst="rect">
            <a:avLst/>
          </a:prstGeom>
        </p:spPr>
      </p:pic>
      <p:pic>
        <p:nvPicPr>
          <p:cNvPr id="4" name="図 3">
            <a:extLst>
              <a:ext uri="{FF2B5EF4-FFF2-40B4-BE49-F238E27FC236}">
                <a16:creationId xmlns:a16="http://schemas.microsoft.com/office/drawing/2014/main" id="{B7D39D22-0973-23D9-5AC9-28DC1AD506DF}"/>
              </a:ext>
            </a:extLst>
          </p:cNvPr>
          <p:cNvPicPr>
            <a:picLocks noChangeAspect="1"/>
          </p:cNvPicPr>
          <p:nvPr/>
        </p:nvPicPr>
        <p:blipFill>
          <a:blip r:embed="rId4"/>
          <a:srcRect t="9213"/>
          <a:stretch>
            <a:fillRect/>
          </a:stretch>
        </p:blipFill>
        <p:spPr>
          <a:xfrm>
            <a:off x="2420405" y="2288427"/>
            <a:ext cx="7351190" cy="1990453"/>
          </a:xfrm>
          <a:prstGeom prst="rect">
            <a:avLst/>
          </a:prstGeom>
        </p:spPr>
      </p:pic>
      <p:pic>
        <p:nvPicPr>
          <p:cNvPr id="5" name="図 4">
            <a:extLst>
              <a:ext uri="{FF2B5EF4-FFF2-40B4-BE49-F238E27FC236}">
                <a16:creationId xmlns:a16="http://schemas.microsoft.com/office/drawing/2014/main" id="{6D74B60B-1522-5A22-9D8B-83BAA12F749D}"/>
              </a:ext>
            </a:extLst>
          </p:cNvPr>
          <p:cNvPicPr>
            <a:picLocks noChangeAspect="1"/>
          </p:cNvPicPr>
          <p:nvPr/>
        </p:nvPicPr>
        <p:blipFill>
          <a:blip r:embed="rId5"/>
          <a:stretch>
            <a:fillRect/>
          </a:stretch>
        </p:blipFill>
        <p:spPr>
          <a:xfrm>
            <a:off x="2188268" y="4523708"/>
            <a:ext cx="7771265" cy="2162439"/>
          </a:xfrm>
          <a:prstGeom prst="rect">
            <a:avLst/>
          </a:prstGeom>
        </p:spPr>
      </p:pic>
      <p:sp>
        <p:nvSpPr>
          <p:cNvPr id="6"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7. Dawber 1973</a:t>
            </a:r>
          </a:p>
        </p:txBody>
      </p:sp>
      <p:sp>
        <p:nvSpPr>
          <p:cNvPr id="7"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27/118</a:t>
            </a:r>
          </a:p>
        </p:txBody>
      </p:sp>
    </p:spTree>
    <p:extLst>
      <p:ext uri="{BB962C8B-B14F-4D97-AF65-F5344CB8AC3E}">
        <p14:creationId xmlns:p14="http://schemas.microsoft.com/office/powerpoint/2010/main" val="7459359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C2FF0DBA-ECBC-8830-B575-566CBAFAD46A}"/>
              </a:ext>
            </a:extLst>
          </p:cNvPr>
          <p:cNvPicPr>
            <a:picLocks noChangeAspect="1"/>
          </p:cNvPicPr>
          <p:nvPr/>
        </p:nvPicPr>
        <p:blipFill>
          <a:blip r:embed="rId3"/>
          <a:srcRect t="10529"/>
          <a:stretch>
            <a:fillRect/>
          </a:stretch>
        </p:blipFill>
        <p:spPr>
          <a:xfrm>
            <a:off x="2420405" y="230844"/>
            <a:ext cx="7351190" cy="1939416"/>
          </a:xfrm>
          <a:prstGeom prst="rect">
            <a:avLst/>
          </a:prstGeom>
        </p:spPr>
      </p:pic>
      <p:pic>
        <p:nvPicPr>
          <p:cNvPr id="4" name="図 3">
            <a:extLst>
              <a:ext uri="{FF2B5EF4-FFF2-40B4-BE49-F238E27FC236}">
                <a16:creationId xmlns:a16="http://schemas.microsoft.com/office/drawing/2014/main" id="{CF99ACD6-6813-4DAD-7730-8BB6669A38B2}"/>
              </a:ext>
            </a:extLst>
          </p:cNvPr>
          <p:cNvPicPr>
            <a:picLocks noChangeAspect="1"/>
          </p:cNvPicPr>
          <p:nvPr/>
        </p:nvPicPr>
        <p:blipFill>
          <a:blip r:embed="rId4"/>
          <a:srcRect t="9213"/>
          <a:stretch>
            <a:fillRect/>
          </a:stretch>
        </p:blipFill>
        <p:spPr>
          <a:xfrm>
            <a:off x="2420405" y="2288427"/>
            <a:ext cx="7351190" cy="1990453"/>
          </a:xfrm>
          <a:prstGeom prst="rect">
            <a:avLst/>
          </a:prstGeom>
        </p:spPr>
      </p:pic>
      <p:pic>
        <p:nvPicPr>
          <p:cNvPr id="5" name="図 4">
            <a:extLst>
              <a:ext uri="{FF2B5EF4-FFF2-40B4-BE49-F238E27FC236}">
                <a16:creationId xmlns:a16="http://schemas.microsoft.com/office/drawing/2014/main" id="{8B14757C-13FD-7C8F-FBE7-0C476725B37F}"/>
              </a:ext>
            </a:extLst>
          </p:cNvPr>
          <p:cNvPicPr>
            <a:picLocks noChangeAspect="1"/>
          </p:cNvPicPr>
          <p:nvPr/>
        </p:nvPicPr>
        <p:blipFill>
          <a:blip r:embed="rId5"/>
          <a:stretch>
            <a:fillRect/>
          </a:stretch>
        </p:blipFill>
        <p:spPr>
          <a:xfrm>
            <a:off x="2188268" y="4523708"/>
            <a:ext cx="7771265" cy="2162439"/>
          </a:xfrm>
          <a:prstGeom prst="rect">
            <a:avLst/>
          </a:prstGeom>
        </p:spPr>
      </p:pic>
      <p:sp>
        <p:nvSpPr>
          <p:cNvPr id="7" name="callout">
            <a:extLst>
              <a:ext uri="{FF2B5EF4-FFF2-40B4-BE49-F238E27FC236}">
                <a16:creationId xmlns:a16="http://schemas.microsoft.com/office/drawing/2014/main" id="{A48A420C-F01C-9675-D690-5B862DADF8D5}"/>
              </a:ext>
            </a:extLst>
          </p:cNvPr>
          <p:cNvSpPr/>
          <p:nvPr/>
        </p:nvSpPr>
        <p:spPr>
          <a:xfrm>
            <a:off x="536448" y="2538644"/>
            <a:ext cx="11119103" cy="1780711"/>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lnSpc>
                <a:spcPct val="150000"/>
              </a:lnSpc>
            </a:pPr>
            <a:r>
              <a:rPr lang="ja-JP" altLang="en-US" sz="2800" b="1">
                <a:solidFill>
                  <a:schemeClr val="tx1"/>
                </a:solidFill>
              </a:rPr>
              <a:t>高齢者の方が切痕が平滑になりやすい。</a:t>
            </a:r>
            <a:endParaRPr lang="en-US" altLang="ja-JP" sz="2800" b="1" dirty="0">
              <a:solidFill>
                <a:schemeClr val="tx1"/>
              </a:solidFill>
            </a:endParaRPr>
          </a:p>
          <a:p>
            <a:pPr algn="ctr">
              <a:lnSpc>
                <a:spcPct val="150000"/>
              </a:lnSpc>
            </a:pPr>
            <a:r>
              <a:rPr lang="ja-JP" altLang="en-US" sz="2800" b="1">
                <a:solidFill>
                  <a:schemeClr val="tx1"/>
                </a:solidFill>
              </a:rPr>
              <a:t>切痕が平滑である方が冠動脈疾患を持つ人の割合が増える。</a:t>
            </a:r>
            <a:endParaRPr sz="2200" b="1" dirty="0">
              <a:solidFill>
                <a:schemeClr val="tx1"/>
              </a:solidFill>
              <a:latin typeface="Meiryo"/>
              <a:ea typeface="Meiryo"/>
              <a:cs typeface="Meiryo"/>
            </a:endParaRPr>
          </a:p>
        </p:txBody>
      </p:sp>
      <p:sp>
        <p:nvSpPr>
          <p:cNvPr id="8"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7. Dawber 1973</a:t>
            </a:r>
          </a:p>
        </p:txBody>
      </p:sp>
      <p:sp>
        <p:nvSpPr>
          <p:cNvPr id="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28/118</a:t>
            </a:r>
          </a:p>
        </p:txBody>
      </p:sp>
    </p:spTree>
    <p:extLst>
      <p:ext uri="{BB962C8B-B14F-4D97-AF65-F5344CB8AC3E}">
        <p14:creationId xmlns:p14="http://schemas.microsoft.com/office/powerpoint/2010/main" val="25954029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F1733-745F-0EFD-5630-D33A63647A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E8BA87-019C-0EEE-D56B-C1A2D554C2DE}"/>
              </a:ext>
            </a:extLst>
          </p:cNvPr>
          <p:cNvSpPr>
            <a:spLocks noGrp="1"/>
          </p:cNvSpPr>
          <p:nvPr>
            <p:ph type="title"/>
          </p:nvPr>
        </p:nvSpPr>
        <p:spPr/>
        <p:txBody>
          <a:bodyPr>
            <a:normAutofit/>
          </a:bodyPr>
          <a:lstStyle/>
          <a:p>
            <a:pPr algn="l"/>
            <a:r>
              <a:rPr sz="4600" dirty="0">
                <a:latin typeface="Meiryo"/>
                <a:ea typeface="Meiryo"/>
                <a:cs typeface="Meiryo"/>
              </a:rPr>
              <a:t>2.1.2  UK Biobank</a:t>
            </a:r>
          </a:p>
        </p:txBody>
      </p:sp>
      <p:sp>
        <p:nvSpPr>
          <p:cNvPr id="21" name="lead">
            <a:extLst>
              <a:ext uri="{FF2B5EF4-FFF2-40B4-BE49-F238E27FC236}">
                <a16:creationId xmlns:a16="http://schemas.microsoft.com/office/drawing/2014/main" id="{526F467B-1137-959F-016C-95A0046B7EEB}"/>
              </a:ext>
            </a:extLst>
          </p:cNvPr>
          <p:cNvSpPr txBox="1"/>
          <p:nvPr/>
        </p:nvSpPr>
        <p:spPr>
          <a:xfrm>
            <a:off x="566928" y="2032118"/>
            <a:ext cx="10058400" cy="457200"/>
          </a:xfrm>
          <a:prstGeom prst="rect">
            <a:avLst/>
          </a:prstGeom>
          <a:noFill/>
        </p:spPr>
        <p:txBody>
          <a:bodyPr wrap="square" lIns="0" tIns="0" rIns="0" bIns="0" anchor="ctr">
            <a:spAutoFit/>
          </a:bodyPr>
          <a:lstStyle/>
          <a:p>
            <a:pPr algn="l"/>
            <a:r>
              <a:rPr sz="2400" b="1">
                <a:solidFill>
                  <a:srgbClr val="262626"/>
                </a:solidFill>
                <a:latin typeface="Meiryo"/>
                <a:ea typeface="Meiryo"/>
                <a:cs typeface="Meiryo"/>
              </a:rPr>
              <a:t>英国の 大規模バイオバンク型 前向きコホート</a:t>
            </a:r>
          </a:p>
        </p:txBody>
      </p:sp>
      <p:sp>
        <p:nvSpPr>
          <p:cNvPr id="22" name="fact0">
            <a:extLst>
              <a:ext uri="{FF2B5EF4-FFF2-40B4-BE49-F238E27FC236}">
                <a16:creationId xmlns:a16="http://schemas.microsoft.com/office/drawing/2014/main" id="{53CD82EB-1A70-2A49-0DBE-7B4C5B2BFBB6}"/>
              </a:ext>
            </a:extLst>
          </p:cNvPr>
          <p:cNvSpPr/>
          <p:nvPr/>
        </p:nvSpPr>
        <p:spPr>
          <a:xfrm>
            <a:off x="548640" y="2617334"/>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altLang="ja-JP" sz="3000" b="1" dirty="0">
                <a:solidFill>
                  <a:srgbClr val="262626"/>
                </a:solidFill>
                <a:latin typeface="Meiryo"/>
                <a:ea typeface="Meiryo"/>
                <a:cs typeface="Meiryo"/>
              </a:rPr>
              <a:t>2006</a:t>
            </a:r>
            <a:r>
              <a:rPr lang="ja-JP" altLang="en-US" sz="3000" b="1">
                <a:solidFill>
                  <a:srgbClr val="262626"/>
                </a:solidFill>
                <a:latin typeface="Meiryo"/>
                <a:ea typeface="Meiryo"/>
                <a:cs typeface="Meiryo"/>
              </a:rPr>
              <a:t>年</a:t>
            </a:r>
            <a:r>
              <a:rPr lang="en-US" altLang="ja-JP" sz="3000" b="1" dirty="0">
                <a:solidFill>
                  <a:srgbClr val="262626"/>
                </a:solidFill>
                <a:latin typeface="Meiryo"/>
                <a:ea typeface="Meiryo"/>
                <a:cs typeface="Meiryo"/>
              </a:rPr>
              <a:t> </a:t>
            </a:r>
            <a:r>
              <a:rPr lang="ja-JP" altLang="en-US" sz="3000" b="1">
                <a:solidFill>
                  <a:srgbClr val="262626"/>
                </a:solidFill>
                <a:latin typeface="Meiryo"/>
                <a:ea typeface="Meiryo"/>
                <a:cs typeface="Meiryo"/>
              </a:rPr>
              <a:t>開始</a:t>
            </a:r>
            <a:endParaRPr lang="en-US" altLang="ja-JP" sz="3000" b="1" dirty="0">
              <a:solidFill>
                <a:srgbClr val="262626"/>
              </a:solidFill>
              <a:latin typeface="Meiryo"/>
              <a:ea typeface="Meiryo"/>
              <a:cs typeface="Meiryo"/>
            </a:endParaRPr>
          </a:p>
          <a:p>
            <a:pPr algn="ctr"/>
            <a:r>
              <a:rPr sz="2200" b="1" dirty="0" err="1">
                <a:solidFill>
                  <a:srgbClr val="262626"/>
                </a:solidFill>
                <a:latin typeface="Meiryo"/>
                <a:ea typeface="Meiryo"/>
                <a:cs typeface="Meiryo"/>
              </a:rPr>
              <a:t>英国</a:t>
            </a:r>
            <a:r>
              <a:rPr sz="2200" b="1" dirty="0">
                <a:solidFill>
                  <a:srgbClr val="262626"/>
                </a:solidFill>
                <a:latin typeface="Meiryo"/>
                <a:ea typeface="Meiryo"/>
                <a:cs typeface="Meiryo"/>
              </a:rPr>
              <a:t> 22施設で登録</a:t>
            </a:r>
          </a:p>
        </p:txBody>
      </p:sp>
      <p:sp>
        <p:nvSpPr>
          <p:cNvPr id="23" name="fact1">
            <a:extLst>
              <a:ext uri="{FF2B5EF4-FFF2-40B4-BE49-F238E27FC236}">
                <a16:creationId xmlns:a16="http://schemas.microsoft.com/office/drawing/2014/main" id="{0507FA75-00C2-B002-C40E-5D97843DE899}"/>
              </a:ext>
            </a:extLst>
          </p:cNvPr>
          <p:cNvSpPr/>
          <p:nvPr/>
        </p:nvSpPr>
        <p:spPr>
          <a:xfrm>
            <a:off x="4370832" y="2617334"/>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ja-JP" altLang="en-US" sz="3000" b="1">
                <a:solidFill>
                  <a:srgbClr val="262626"/>
                </a:solidFill>
                <a:latin typeface="Meiryo"/>
                <a:ea typeface="Meiryo"/>
                <a:cs typeface="Meiryo"/>
              </a:rPr>
              <a:t>約</a:t>
            </a:r>
            <a:r>
              <a:rPr lang="en-US" altLang="ja-JP" sz="3000" b="1" dirty="0">
                <a:solidFill>
                  <a:srgbClr val="262626"/>
                </a:solidFill>
                <a:latin typeface="Meiryo"/>
                <a:ea typeface="Meiryo"/>
                <a:cs typeface="Meiryo"/>
              </a:rPr>
              <a:t> 50</a:t>
            </a:r>
            <a:r>
              <a:rPr lang="ja-JP" altLang="en-US" sz="3000" b="1">
                <a:solidFill>
                  <a:srgbClr val="262626"/>
                </a:solidFill>
                <a:latin typeface="Meiryo"/>
                <a:ea typeface="Meiryo"/>
                <a:cs typeface="Meiryo"/>
              </a:rPr>
              <a:t>万人</a:t>
            </a:r>
            <a:endParaRPr lang="en-US" altLang="ja-JP" sz="3000" b="1" dirty="0">
              <a:solidFill>
                <a:srgbClr val="262626"/>
              </a:solidFill>
              <a:latin typeface="Meiryo"/>
              <a:ea typeface="Meiryo"/>
              <a:cs typeface="Meiryo"/>
            </a:endParaRPr>
          </a:p>
          <a:p>
            <a:pPr algn="ctr"/>
            <a:r>
              <a:rPr lang="ja-JP" altLang="en-US" sz="2200" b="1">
                <a:solidFill>
                  <a:srgbClr val="262626"/>
                </a:solidFill>
                <a:latin typeface="Meiryo"/>
                <a:ea typeface="Meiryo"/>
                <a:cs typeface="Meiryo"/>
              </a:rPr>
              <a:t>施設近所のボランティア</a:t>
            </a:r>
          </a:p>
        </p:txBody>
      </p:sp>
      <p:sp>
        <p:nvSpPr>
          <p:cNvPr id="24" name="fact2">
            <a:extLst>
              <a:ext uri="{FF2B5EF4-FFF2-40B4-BE49-F238E27FC236}">
                <a16:creationId xmlns:a16="http://schemas.microsoft.com/office/drawing/2014/main" id="{044B09EA-7AFA-3517-723F-914A205FB697}"/>
              </a:ext>
            </a:extLst>
          </p:cNvPr>
          <p:cNvSpPr/>
          <p:nvPr/>
        </p:nvSpPr>
        <p:spPr>
          <a:xfrm>
            <a:off x="8193024" y="2617334"/>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altLang="ja-JP" sz="3000" b="1" dirty="0">
                <a:solidFill>
                  <a:srgbClr val="262626"/>
                </a:solidFill>
                <a:latin typeface="Meiryo"/>
                <a:ea typeface="Meiryo"/>
                <a:cs typeface="Meiryo"/>
              </a:rPr>
              <a:t>40〜69 </a:t>
            </a:r>
            <a:r>
              <a:rPr lang="ja-JP" altLang="en-US" sz="3000" b="1">
                <a:solidFill>
                  <a:srgbClr val="262626"/>
                </a:solidFill>
                <a:latin typeface="Meiryo"/>
                <a:ea typeface="Meiryo"/>
                <a:cs typeface="Meiryo"/>
              </a:rPr>
              <a:t>歳</a:t>
            </a:r>
          </a:p>
          <a:p>
            <a:pPr algn="ctr"/>
            <a:r>
              <a:rPr lang="ja-JP" altLang="en-US" sz="2200" b="1">
                <a:solidFill>
                  <a:srgbClr val="262626"/>
                </a:solidFill>
                <a:latin typeface="Meiryo"/>
                <a:ea typeface="Meiryo"/>
                <a:cs typeface="Meiryo"/>
              </a:rPr>
              <a:t>健康ボランティアバイアス</a:t>
            </a:r>
            <a:endParaRPr sz="2200" b="1" dirty="0">
              <a:solidFill>
                <a:srgbClr val="262626"/>
              </a:solidFill>
              <a:latin typeface="Meiryo"/>
              <a:ea typeface="Meiryo"/>
              <a:cs typeface="Meiryo"/>
            </a:endParaRPr>
          </a:p>
        </p:txBody>
      </p:sp>
      <p:sp>
        <p:nvSpPr>
          <p:cNvPr id="4" name="fact0">
            <a:extLst>
              <a:ext uri="{FF2B5EF4-FFF2-40B4-BE49-F238E27FC236}">
                <a16:creationId xmlns:a16="http://schemas.microsoft.com/office/drawing/2014/main" id="{DEBDC9D6-71D4-256E-A441-19D7FAC18EBA}"/>
              </a:ext>
            </a:extLst>
          </p:cNvPr>
          <p:cNvSpPr/>
          <p:nvPr/>
        </p:nvSpPr>
        <p:spPr>
          <a:xfrm>
            <a:off x="554736" y="4243084"/>
            <a:ext cx="11113008" cy="969264"/>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ja-JP" altLang="en-US" sz="2600" b="1">
                <a:solidFill>
                  <a:srgbClr val="262626"/>
                </a:solidFill>
                <a:latin typeface="Meiryo"/>
                <a:ea typeface="Meiryo"/>
                <a:cs typeface="Meiryo"/>
              </a:rPr>
              <a:t>登録時に 質問票・身体計測・採血・指尖</a:t>
            </a:r>
            <a:r>
              <a:rPr lang="en" altLang="ja-JP" sz="2600" b="1" dirty="0">
                <a:solidFill>
                  <a:srgbClr val="262626"/>
                </a:solidFill>
                <a:latin typeface="Meiryo"/>
                <a:ea typeface="Meiryo"/>
                <a:cs typeface="Meiryo"/>
              </a:rPr>
              <a:t>PPG</a:t>
            </a:r>
          </a:p>
          <a:p>
            <a:pPr algn="ctr"/>
            <a:r>
              <a:rPr lang="ja-JP" altLang="en-US" sz="2200" b="1">
                <a:solidFill>
                  <a:srgbClr val="262626"/>
                </a:solidFill>
                <a:latin typeface="Meiryo"/>
                <a:ea typeface="Meiryo"/>
                <a:cs typeface="Meiryo"/>
              </a:rPr>
              <a:t>その後は 医療記録とのリンクで イベントを追跡。</a:t>
            </a:r>
            <a:endParaRPr lang="ja-JP" altLang="en-US" sz="2200" b="1" dirty="0">
              <a:solidFill>
                <a:srgbClr val="262626"/>
              </a:solidFill>
              <a:latin typeface="Meiryo"/>
              <a:ea typeface="Meiryo"/>
              <a:cs typeface="Meiryo"/>
            </a:endParaRPr>
          </a:p>
        </p:txBody>
      </p:sp>
      <p:sp>
        <p:nvSpPr>
          <p:cNvPr id="25"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8. Cunningham 2023　／　9. Fry 2017</a:t>
            </a:r>
          </a:p>
        </p:txBody>
      </p:sp>
      <p:sp>
        <p:nvSpPr>
          <p:cNvPr id="2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29/118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30437049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BEF48-854D-4EF6-C11B-6F29BB8739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70BB31-5495-A77C-D834-615AF52AB217}"/>
              </a:ext>
            </a:extLst>
          </p:cNvPr>
          <p:cNvSpPr>
            <a:spLocks noGrp="1"/>
          </p:cNvSpPr>
          <p:nvPr>
            <p:ph type="title"/>
          </p:nvPr>
        </p:nvSpPr>
        <p:spPr/>
        <p:txBody>
          <a:bodyPr>
            <a:normAutofit/>
          </a:bodyPr>
          <a:lstStyle/>
          <a:p>
            <a:pPr algn="l"/>
            <a:r>
              <a:rPr sz="4600" dirty="0">
                <a:latin typeface="Meiryo"/>
                <a:ea typeface="Meiryo"/>
                <a:cs typeface="Meiryo"/>
              </a:rPr>
              <a:t>2.1.2  UK Biobank</a:t>
            </a:r>
          </a:p>
        </p:txBody>
      </p:sp>
      <p:sp>
        <p:nvSpPr>
          <p:cNvPr id="21" name="lead">
            <a:extLst>
              <a:ext uri="{FF2B5EF4-FFF2-40B4-BE49-F238E27FC236}">
                <a16:creationId xmlns:a16="http://schemas.microsoft.com/office/drawing/2014/main" id="{F6B2A981-DF9E-8B8B-4366-BACBF5734F93}"/>
              </a:ext>
            </a:extLst>
          </p:cNvPr>
          <p:cNvSpPr txBox="1"/>
          <p:nvPr/>
        </p:nvSpPr>
        <p:spPr>
          <a:xfrm>
            <a:off x="566928" y="2032118"/>
            <a:ext cx="10058400" cy="457200"/>
          </a:xfrm>
          <a:prstGeom prst="rect">
            <a:avLst/>
          </a:prstGeom>
          <a:noFill/>
        </p:spPr>
        <p:txBody>
          <a:bodyPr wrap="square" lIns="0" tIns="0" rIns="0" bIns="0" anchor="ctr">
            <a:spAutoFit/>
          </a:bodyPr>
          <a:lstStyle/>
          <a:p>
            <a:pPr algn="l"/>
            <a:r>
              <a:rPr sz="2400" b="1">
                <a:solidFill>
                  <a:srgbClr val="262626"/>
                </a:solidFill>
                <a:latin typeface="Meiryo"/>
                <a:ea typeface="Meiryo"/>
                <a:cs typeface="Meiryo"/>
              </a:rPr>
              <a:t>英国の 大規模バイオバンク型 前向きコホート</a:t>
            </a:r>
          </a:p>
        </p:txBody>
      </p:sp>
      <p:sp>
        <p:nvSpPr>
          <p:cNvPr id="22" name="fact0">
            <a:extLst>
              <a:ext uri="{FF2B5EF4-FFF2-40B4-BE49-F238E27FC236}">
                <a16:creationId xmlns:a16="http://schemas.microsoft.com/office/drawing/2014/main" id="{C0E7C231-1C03-4C2A-990C-4FBE42DCA163}"/>
              </a:ext>
            </a:extLst>
          </p:cNvPr>
          <p:cNvSpPr/>
          <p:nvPr/>
        </p:nvSpPr>
        <p:spPr>
          <a:xfrm>
            <a:off x="548640" y="2617334"/>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altLang="ja-JP" sz="3000" b="1" dirty="0">
                <a:solidFill>
                  <a:srgbClr val="262626"/>
                </a:solidFill>
                <a:latin typeface="Meiryo"/>
                <a:ea typeface="Meiryo"/>
                <a:cs typeface="Meiryo"/>
              </a:rPr>
              <a:t>2006</a:t>
            </a:r>
            <a:r>
              <a:rPr lang="ja-JP" altLang="en-US" sz="3000" b="1">
                <a:solidFill>
                  <a:srgbClr val="262626"/>
                </a:solidFill>
                <a:latin typeface="Meiryo"/>
                <a:ea typeface="Meiryo"/>
                <a:cs typeface="Meiryo"/>
              </a:rPr>
              <a:t>年</a:t>
            </a:r>
            <a:r>
              <a:rPr lang="en-US" altLang="ja-JP" sz="3000" b="1" dirty="0">
                <a:solidFill>
                  <a:srgbClr val="262626"/>
                </a:solidFill>
                <a:latin typeface="Meiryo"/>
                <a:ea typeface="Meiryo"/>
                <a:cs typeface="Meiryo"/>
              </a:rPr>
              <a:t> </a:t>
            </a:r>
            <a:r>
              <a:rPr lang="ja-JP" altLang="en-US" sz="3000" b="1">
                <a:solidFill>
                  <a:srgbClr val="262626"/>
                </a:solidFill>
                <a:latin typeface="Meiryo"/>
                <a:ea typeface="Meiryo"/>
                <a:cs typeface="Meiryo"/>
              </a:rPr>
              <a:t>開始</a:t>
            </a:r>
            <a:endParaRPr lang="en-US" altLang="ja-JP" sz="3000" b="1" dirty="0">
              <a:solidFill>
                <a:srgbClr val="262626"/>
              </a:solidFill>
              <a:latin typeface="Meiryo"/>
              <a:ea typeface="Meiryo"/>
              <a:cs typeface="Meiryo"/>
            </a:endParaRPr>
          </a:p>
          <a:p>
            <a:pPr algn="ctr"/>
            <a:r>
              <a:rPr sz="2200" b="1" dirty="0" err="1">
                <a:solidFill>
                  <a:srgbClr val="262626"/>
                </a:solidFill>
                <a:latin typeface="Meiryo"/>
                <a:ea typeface="Meiryo"/>
                <a:cs typeface="Meiryo"/>
              </a:rPr>
              <a:t>英国</a:t>
            </a:r>
            <a:r>
              <a:rPr sz="2200" b="1" dirty="0">
                <a:solidFill>
                  <a:srgbClr val="262626"/>
                </a:solidFill>
                <a:latin typeface="Meiryo"/>
                <a:ea typeface="Meiryo"/>
                <a:cs typeface="Meiryo"/>
              </a:rPr>
              <a:t> 22施設で登録</a:t>
            </a:r>
          </a:p>
        </p:txBody>
      </p:sp>
      <p:sp>
        <p:nvSpPr>
          <p:cNvPr id="23" name="fact1">
            <a:extLst>
              <a:ext uri="{FF2B5EF4-FFF2-40B4-BE49-F238E27FC236}">
                <a16:creationId xmlns:a16="http://schemas.microsoft.com/office/drawing/2014/main" id="{C156D6C8-B1C8-2860-7AB4-DA1E14CEC910}"/>
              </a:ext>
            </a:extLst>
          </p:cNvPr>
          <p:cNvSpPr/>
          <p:nvPr/>
        </p:nvSpPr>
        <p:spPr>
          <a:xfrm>
            <a:off x="4370832" y="2617334"/>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ja-JP" altLang="en-US" sz="3000" b="1">
                <a:solidFill>
                  <a:srgbClr val="262626"/>
                </a:solidFill>
                <a:latin typeface="Meiryo"/>
                <a:ea typeface="Meiryo"/>
                <a:cs typeface="Meiryo"/>
              </a:rPr>
              <a:t>約</a:t>
            </a:r>
            <a:r>
              <a:rPr lang="en-US" altLang="ja-JP" sz="3000" b="1" dirty="0">
                <a:solidFill>
                  <a:srgbClr val="262626"/>
                </a:solidFill>
                <a:latin typeface="Meiryo"/>
                <a:ea typeface="Meiryo"/>
                <a:cs typeface="Meiryo"/>
              </a:rPr>
              <a:t> 50</a:t>
            </a:r>
            <a:r>
              <a:rPr lang="ja-JP" altLang="en-US" sz="3000" b="1">
                <a:solidFill>
                  <a:srgbClr val="262626"/>
                </a:solidFill>
                <a:latin typeface="Meiryo"/>
                <a:ea typeface="Meiryo"/>
                <a:cs typeface="Meiryo"/>
              </a:rPr>
              <a:t>万人</a:t>
            </a:r>
            <a:endParaRPr lang="en-US" altLang="ja-JP" sz="3000" b="1" dirty="0">
              <a:solidFill>
                <a:srgbClr val="262626"/>
              </a:solidFill>
              <a:latin typeface="Meiryo"/>
              <a:ea typeface="Meiryo"/>
              <a:cs typeface="Meiryo"/>
            </a:endParaRPr>
          </a:p>
          <a:p>
            <a:pPr algn="ctr"/>
            <a:r>
              <a:rPr lang="ja-JP" altLang="en-US" sz="2200" b="1">
                <a:solidFill>
                  <a:srgbClr val="262626"/>
                </a:solidFill>
                <a:latin typeface="Meiryo"/>
                <a:ea typeface="Meiryo"/>
                <a:cs typeface="Meiryo"/>
              </a:rPr>
              <a:t>施設近所のボランティア</a:t>
            </a:r>
          </a:p>
        </p:txBody>
      </p:sp>
      <p:sp>
        <p:nvSpPr>
          <p:cNvPr id="24" name="fact2">
            <a:extLst>
              <a:ext uri="{FF2B5EF4-FFF2-40B4-BE49-F238E27FC236}">
                <a16:creationId xmlns:a16="http://schemas.microsoft.com/office/drawing/2014/main" id="{28C1DA1A-5C57-1005-4BC2-631CE8F28061}"/>
              </a:ext>
            </a:extLst>
          </p:cNvPr>
          <p:cNvSpPr/>
          <p:nvPr/>
        </p:nvSpPr>
        <p:spPr>
          <a:xfrm>
            <a:off x="8193024" y="2617334"/>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altLang="ja-JP" sz="3000" b="1" dirty="0">
                <a:solidFill>
                  <a:srgbClr val="262626"/>
                </a:solidFill>
                <a:latin typeface="Meiryo"/>
                <a:ea typeface="Meiryo"/>
                <a:cs typeface="Meiryo"/>
              </a:rPr>
              <a:t>40〜69 </a:t>
            </a:r>
            <a:r>
              <a:rPr lang="ja-JP" altLang="en-US" sz="3000" b="1">
                <a:solidFill>
                  <a:srgbClr val="262626"/>
                </a:solidFill>
                <a:latin typeface="Meiryo"/>
                <a:ea typeface="Meiryo"/>
                <a:cs typeface="Meiryo"/>
              </a:rPr>
              <a:t>歳</a:t>
            </a:r>
          </a:p>
          <a:p>
            <a:pPr algn="ctr"/>
            <a:r>
              <a:rPr lang="ja-JP" altLang="en-US" sz="2200" b="1">
                <a:solidFill>
                  <a:srgbClr val="262626"/>
                </a:solidFill>
                <a:latin typeface="Meiryo"/>
                <a:ea typeface="Meiryo"/>
                <a:cs typeface="Meiryo"/>
              </a:rPr>
              <a:t>健康ボランティアバイアス</a:t>
            </a:r>
            <a:endParaRPr sz="2200" b="1" dirty="0">
              <a:solidFill>
                <a:srgbClr val="262626"/>
              </a:solidFill>
              <a:latin typeface="Meiryo"/>
              <a:ea typeface="Meiryo"/>
              <a:cs typeface="Meiryo"/>
            </a:endParaRPr>
          </a:p>
        </p:txBody>
      </p:sp>
      <p:sp>
        <p:nvSpPr>
          <p:cNvPr id="3" name="callout">
            <a:extLst>
              <a:ext uri="{FF2B5EF4-FFF2-40B4-BE49-F238E27FC236}">
                <a16:creationId xmlns:a16="http://schemas.microsoft.com/office/drawing/2014/main" id="{25B5E446-BAFA-EC66-9AC7-D735C6BF6339}"/>
              </a:ext>
            </a:extLst>
          </p:cNvPr>
          <p:cNvSpPr/>
          <p:nvPr/>
        </p:nvSpPr>
        <p:spPr>
          <a:xfrm>
            <a:off x="548639" y="5488710"/>
            <a:ext cx="11113007" cy="657854"/>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altLang="ja-JP" sz="2600" b="1" dirty="0">
                <a:solidFill>
                  <a:srgbClr val="262626"/>
                </a:solidFill>
                <a:latin typeface="Meiryo"/>
                <a:ea typeface="Meiryo"/>
                <a:cs typeface="Meiryo"/>
              </a:rPr>
              <a:t>PPG</a:t>
            </a:r>
            <a:r>
              <a:rPr lang="ja-JP" altLang="en-US" sz="2600" b="1">
                <a:solidFill>
                  <a:srgbClr val="262626"/>
                </a:solidFill>
                <a:latin typeface="Meiryo"/>
                <a:ea typeface="Meiryo"/>
                <a:cs typeface="Meiryo"/>
              </a:rPr>
              <a:t>波形を機械学習し、切痕の平滑さと各種疾患の関連を調べた。</a:t>
            </a:r>
            <a:endParaRPr sz="2200" b="1" dirty="0">
              <a:solidFill>
                <a:srgbClr val="262626"/>
              </a:solidFill>
              <a:latin typeface="Meiryo"/>
              <a:ea typeface="Meiryo"/>
              <a:cs typeface="Meiryo"/>
            </a:endParaRPr>
          </a:p>
        </p:txBody>
      </p:sp>
      <p:sp>
        <p:nvSpPr>
          <p:cNvPr id="4" name="fact0">
            <a:extLst>
              <a:ext uri="{FF2B5EF4-FFF2-40B4-BE49-F238E27FC236}">
                <a16:creationId xmlns:a16="http://schemas.microsoft.com/office/drawing/2014/main" id="{B332B328-27A5-105B-7A2F-CACD865F3B5A}"/>
              </a:ext>
            </a:extLst>
          </p:cNvPr>
          <p:cNvSpPr/>
          <p:nvPr/>
        </p:nvSpPr>
        <p:spPr>
          <a:xfrm>
            <a:off x="554736" y="4243084"/>
            <a:ext cx="11113008" cy="969264"/>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ja-JP" altLang="en-US" sz="2600" b="1">
                <a:solidFill>
                  <a:srgbClr val="262626"/>
                </a:solidFill>
                <a:latin typeface="Meiryo"/>
                <a:ea typeface="Meiryo"/>
                <a:cs typeface="Meiryo"/>
              </a:rPr>
              <a:t>登録時に 質問票・身体計測・採血・指尖</a:t>
            </a:r>
            <a:r>
              <a:rPr lang="en" altLang="ja-JP" sz="2600" b="1" dirty="0">
                <a:solidFill>
                  <a:srgbClr val="262626"/>
                </a:solidFill>
                <a:latin typeface="Meiryo"/>
                <a:ea typeface="Meiryo"/>
                <a:cs typeface="Meiryo"/>
              </a:rPr>
              <a:t>PPG</a:t>
            </a:r>
          </a:p>
          <a:p>
            <a:pPr algn="ctr"/>
            <a:r>
              <a:rPr lang="ja-JP" altLang="en-US" sz="2200" b="1">
                <a:solidFill>
                  <a:srgbClr val="262626"/>
                </a:solidFill>
                <a:latin typeface="Meiryo"/>
                <a:ea typeface="Meiryo"/>
                <a:cs typeface="Meiryo"/>
              </a:rPr>
              <a:t>その後は 医療記録とのリンクで イベントを追跡。</a:t>
            </a:r>
            <a:endParaRPr lang="ja-JP" altLang="en-US" sz="2200" b="1" dirty="0">
              <a:solidFill>
                <a:srgbClr val="262626"/>
              </a:solidFill>
              <a:latin typeface="Meiryo"/>
              <a:ea typeface="Meiryo"/>
              <a:cs typeface="Meiryo"/>
            </a:endParaRPr>
          </a:p>
        </p:txBody>
      </p:sp>
      <p:sp>
        <p:nvSpPr>
          <p:cNvPr id="25"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8. Cunningham 2023　／　9. Fry 2017</a:t>
            </a:r>
          </a:p>
        </p:txBody>
      </p:sp>
      <p:sp>
        <p:nvSpPr>
          <p:cNvPr id="2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30/118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23915320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CD83A-C2A9-F647-ADBE-D5CB6D4F8E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D7C163-F393-8064-6BAA-D9F5CFF6DA31}"/>
              </a:ext>
            </a:extLst>
          </p:cNvPr>
          <p:cNvSpPr>
            <a:spLocks noGrp="1"/>
          </p:cNvSpPr>
          <p:nvPr>
            <p:ph type="title"/>
          </p:nvPr>
        </p:nvSpPr>
        <p:spPr/>
        <p:txBody>
          <a:bodyPr>
            <a:normAutofit/>
          </a:bodyPr>
          <a:lstStyle/>
          <a:p>
            <a:pPr algn="l"/>
            <a:r>
              <a:rPr sz="4600" dirty="0">
                <a:latin typeface="Meiryo"/>
                <a:ea typeface="Meiryo"/>
                <a:cs typeface="Meiryo"/>
              </a:rPr>
              <a:t>2.1.2  UK Biobank</a:t>
            </a:r>
          </a:p>
        </p:txBody>
      </p:sp>
      <p:pic>
        <p:nvPicPr>
          <p:cNvPr id="11" name="図 10">
            <a:extLst>
              <a:ext uri="{FF2B5EF4-FFF2-40B4-BE49-F238E27FC236}">
                <a16:creationId xmlns:a16="http://schemas.microsoft.com/office/drawing/2014/main" id="{EE5BBC1A-3689-6085-055C-20750B8DA905}"/>
              </a:ext>
            </a:extLst>
          </p:cNvPr>
          <p:cNvPicPr>
            <a:picLocks noChangeAspect="1"/>
          </p:cNvPicPr>
          <p:nvPr/>
        </p:nvPicPr>
        <p:blipFill>
          <a:blip r:embed="rId3"/>
          <a:stretch>
            <a:fillRect/>
          </a:stretch>
        </p:blipFill>
        <p:spPr>
          <a:xfrm>
            <a:off x="358058" y="2347302"/>
            <a:ext cx="5874342" cy="3487406"/>
          </a:xfrm>
          <a:prstGeom prst="rect">
            <a:avLst/>
          </a:prstGeom>
        </p:spPr>
      </p:pic>
      <p:pic>
        <p:nvPicPr>
          <p:cNvPr id="13" name="図 12">
            <a:extLst>
              <a:ext uri="{FF2B5EF4-FFF2-40B4-BE49-F238E27FC236}">
                <a16:creationId xmlns:a16="http://schemas.microsoft.com/office/drawing/2014/main" id="{DAE11561-6EFA-9874-E89A-8BBB010948E0}"/>
              </a:ext>
            </a:extLst>
          </p:cNvPr>
          <p:cNvPicPr>
            <a:picLocks noChangeAspect="1"/>
          </p:cNvPicPr>
          <p:nvPr/>
        </p:nvPicPr>
        <p:blipFill>
          <a:blip r:embed="rId4"/>
          <a:srcRect t="1" b="27431"/>
          <a:stretch>
            <a:fillRect/>
          </a:stretch>
        </p:blipFill>
        <p:spPr>
          <a:xfrm>
            <a:off x="6232400" y="1823018"/>
            <a:ext cx="5601542" cy="4337316"/>
          </a:xfrm>
          <a:prstGeom prst="rect">
            <a:avLst/>
          </a:prstGeom>
        </p:spPr>
      </p:pic>
      <p:sp>
        <p:nvSpPr>
          <p:cNvPr id="21"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8. Cunningham 2023</a:t>
            </a:r>
          </a:p>
        </p:txBody>
      </p:sp>
      <p:sp>
        <p:nvSpPr>
          <p:cNvPr id="2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31/118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16157025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9ACB8-DCD9-F0FE-6F6A-9CF362E722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A1135C-9592-0C51-C9AA-F33BA50304ED}"/>
              </a:ext>
            </a:extLst>
          </p:cNvPr>
          <p:cNvSpPr>
            <a:spLocks noGrp="1"/>
          </p:cNvSpPr>
          <p:nvPr>
            <p:ph type="title"/>
          </p:nvPr>
        </p:nvSpPr>
        <p:spPr/>
        <p:txBody>
          <a:bodyPr>
            <a:normAutofit/>
          </a:bodyPr>
          <a:lstStyle/>
          <a:p>
            <a:pPr algn="l"/>
            <a:r>
              <a:rPr sz="4600" dirty="0">
                <a:latin typeface="Meiryo"/>
                <a:ea typeface="Meiryo"/>
                <a:cs typeface="Meiryo"/>
              </a:rPr>
              <a:t>2.1.2  UK Biobank</a:t>
            </a:r>
          </a:p>
        </p:txBody>
      </p:sp>
      <p:pic>
        <p:nvPicPr>
          <p:cNvPr id="11" name="図 10">
            <a:extLst>
              <a:ext uri="{FF2B5EF4-FFF2-40B4-BE49-F238E27FC236}">
                <a16:creationId xmlns:a16="http://schemas.microsoft.com/office/drawing/2014/main" id="{5AE9E7C1-EAA3-62C2-8F3E-50B3F0EFAC47}"/>
              </a:ext>
            </a:extLst>
          </p:cNvPr>
          <p:cNvPicPr>
            <a:picLocks noChangeAspect="1"/>
          </p:cNvPicPr>
          <p:nvPr/>
        </p:nvPicPr>
        <p:blipFill>
          <a:blip r:embed="rId3"/>
          <a:stretch>
            <a:fillRect/>
          </a:stretch>
        </p:blipFill>
        <p:spPr>
          <a:xfrm>
            <a:off x="358058" y="2347302"/>
            <a:ext cx="5874342" cy="3487406"/>
          </a:xfrm>
          <a:prstGeom prst="rect">
            <a:avLst/>
          </a:prstGeom>
        </p:spPr>
      </p:pic>
      <p:pic>
        <p:nvPicPr>
          <p:cNvPr id="13" name="図 12">
            <a:extLst>
              <a:ext uri="{FF2B5EF4-FFF2-40B4-BE49-F238E27FC236}">
                <a16:creationId xmlns:a16="http://schemas.microsoft.com/office/drawing/2014/main" id="{7BA7E091-456D-3E23-4930-6776B6F92097}"/>
              </a:ext>
            </a:extLst>
          </p:cNvPr>
          <p:cNvPicPr>
            <a:picLocks noChangeAspect="1"/>
          </p:cNvPicPr>
          <p:nvPr/>
        </p:nvPicPr>
        <p:blipFill>
          <a:blip r:embed="rId4"/>
          <a:srcRect t="1" b="27431"/>
          <a:stretch>
            <a:fillRect/>
          </a:stretch>
        </p:blipFill>
        <p:spPr>
          <a:xfrm>
            <a:off x="6232400" y="1823018"/>
            <a:ext cx="5601542" cy="4337316"/>
          </a:xfrm>
          <a:prstGeom prst="rect">
            <a:avLst/>
          </a:prstGeom>
        </p:spPr>
      </p:pic>
      <p:sp>
        <p:nvSpPr>
          <p:cNvPr id="4" name="callout">
            <a:extLst>
              <a:ext uri="{FF2B5EF4-FFF2-40B4-BE49-F238E27FC236}">
                <a16:creationId xmlns:a16="http://schemas.microsoft.com/office/drawing/2014/main" id="{9B6B7DC0-E5C7-B684-E2DA-0B0CBDCB724B}"/>
              </a:ext>
            </a:extLst>
          </p:cNvPr>
          <p:cNvSpPr/>
          <p:nvPr/>
        </p:nvSpPr>
        <p:spPr>
          <a:xfrm>
            <a:off x="1518506" y="3076168"/>
            <a:ext cx="9154988" cy="1831015"/>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lnSpc>
                <a:spcPct val="150000"/>
              </a:lnSpc>
            </a:pPr>
            <a:r>
              <a:rPr lang="ja-JP" altLang="en-US" sz="2800" b="1">
                <a:solidFill>
                  <a:srgbClr val="262626"/>
                </a:solidFill>
                <a:latin typeface="Meiryo"/>
                <a:ea typeface="Meiryo"/>
                <a:cs typeface="Meiryo"/>
              </a:rPr>
              <a:t>切痕が平滑であるほど、</a:t>
            </a:r>
            <a:endParaRPr lang="en-US" altLang="ja-JP" sz="2800" b="1" dirty="0">
              <a:solidFill>
                <a:srgbClr val="262626"/>
              </a:solidFill>
              <a:latin typeface="Meiryo"/>
              <a:ea typeface="Meiryo"/>
              <a:cs typeface="Meiryo"/>
            </a:endParaRPr>
          </a:p>
          <a:p>
            <a:pPr algn="ctr">
              <a:lnSpc>
                <a:spcPct val="150000"/>
              </a:lnSpc>
            </a:pPr>
            <a:r>
              <a:rPr lang="ja-JP" altLang="en-US" sz="2800" b="1">
                <a:solidFill>
                  <a:srgbClr val="262626"/>
                </a:solidFill>
                <a:latin typeface="Meiryo"/>
                <a:ea typeface="Meiryo"/>
                <a:cs typeface="Meiryo"/>
              </a:rPr>
              <a:t>高血圧・冠動脈疾患・心不全・死亡 が増加する。</a:t>
            </a:r>
          </a:p>
        </p:txBody>
      </p:sp>
      <p:sp>
        <p:nvSpPr>
          <p:cNvPr id="21"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8. Cunningham 2023</a:t>
            </a:r>
          </a:p>
        </p:txBody>
      </p:sp>
      <p:sp>
        <p:nvSpPr>
          <p:cNvPr id="2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32/118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28719371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sz="4600" dirty="0">
                <a:latin typeface="Meiryo"/>
                <a:ea typeface="Meiryo"/>
                <a:cs typeface="Meiryo"/>
              </a:rPr>
              <a:t>2.1.3  切痕平滑化の理由</a:t>
            </a:r>
          </a:p>
        </p:txBody>
      </p:sp>
      <p:pic>
        <p:nvPicPr>
          <p:cNvPr id="9" name="Picture 8" descr="11_stiffness_series.png"/>
          <p:cNvPicPr>
            <a:picLocks noChangeAspect="1"/>
          </p:cNvPicPr>
          <p:nvPr/>
        </p:nvPicPr>
        <p:blipFill>
          <a:blip r:embed="rId3"/>
          <a:stretch>
            <a:fillRect/>
          </a:stretch>
        </p:blipFill>
        <p:spPr>
          <a:xfrm>
            <a:off x="1564000" y="1597656"/>
            <a:ext cx="9040000" cy="4320000"/>
          </a:xfrm>
          <a:prstGeom prst="rect">
            <a:avLst/>
          </a:prstGeom>
        </p:spPr>
      </p:pic>
      <p:sp>
        <p:nvSpPr>
          <p:cNvPr id="270" name="t_g"/>
          <p:cNvSpPr txBox="1"/>
          <p:nvPr/>
        </p:nvSpPr>
        <p:spPr>
          <a:xfrm>
            <a:off x="1925600" y="1929600"/>
            <a:ext cx="2621600" cy="388800"/>
          </a:xfrm>
          <a:prstGeom prst="rect">
            <a:avLst/>
          </a:prstGeom>
          <a:noFill/>
        </p:spPr>
        <p:txBody>
          <a:bodyPr wrap="square" lIns="0" tIns="0" rIns="0" bIns="0" anchor="t">
            <a:normAutofit/>
          </a:bodyPr>
          <a:lstStyle/>
          <a:p>
            <a:pPr algn="ctr"/>
            <a:r>
              <a:rPr lang="ja-JP" altLang="en-US" sz="2200" b="1" dirty="0">
                <a:solidFill>
                  <a:srgbClr val="70AD47"/>
                </a:solidFill>
                <a:latin typeface="Meiryo"/>
                <a:ea typeface="Meiryo"/>
                <a:cs typeface="Meiryo"/>
              </a:rPr>
              <a:t>若年・柔らかい</a:t>
            </a:r>
          </a:p>
        </p:txBody>
      </p:sp>
      <p:sp>
        <p:nvSpPr>
          <p:cNvPr id="271" name="t_m"/>
          <p:cNvSpPr txBox="1"/>
          <p:nvPr/>
        </p:nvSpPr>
        <p:spPr>
          <a:xfrm>
            <a:off x="4908800" y="1929600"/>
            <a:ext cx="2531200" cy="388800"/>
          </a:xfrm>
          <a:prstGeom prst="rect">
            <a:avLst/>
          </a:prstGeom>
          <a:noFill/>
        </p:spPr>
        <p:txBody>
          <a:bodyPr wrap="square" lIns="0" tIns="0" rIns="0" bIns="0" anchor="t">
            <a:normAutofit/>
          </a:bodyPr>
          <a:lstStyle/>
          <a:p>
            <a:pPr algn="ctr"/>
            <a:r>
              <a:rPr lang="ja-JP" altLang="en-US" sz="2200" b="1" dirty="0">
                <a:solidFill>
                  <a:srgbClr val="BF9000"/>
                </a:solidFill>
                <a:latin typeface="Meiryo"/>
                <a:ea typeface="Meiryo"/>
                <a:cs typeface="Meiryo"/>
              </a:rPr>
              <a:t>中間</a:t>
            </a:r>
          </a:p>
        </p:txBody>
      </p:sp>
      <p:sp>
        <p:nvSpPr>
          <p:cNvPr id="272" name="t_r"/>
          <p:cNvSpPr txBox="1"/>
          <p:nvPr/>
        </p:nvSpPr>
        <p:spPr>
          <a:xfrm>
            <a:off x="7892000" y="1929600"/>
            <a:ext cx="2621600" cy="388800"/>
          </a:xfrm>
          <a:prstGeom prst="rect">
            <a:avLst/>
          </a:prstGeom>
          <a:noFill/>
        </p:spPr>
        <p:txBody>
          <a:bodyPr wrap="square" lIns="0" tIns="0" rIns="0" bIns="0" anchor="t">
            <a:normAutofit/>
          </a:bodyPr>
          <a:lstStyle/>
          <a:p>
            <a:pPr algn="ctr"/>
            <a:r>
              <a:rPr lang="ja-JP" altLang="en-US" sz="2200" b="1" dirty="0">
                <a:solidFill>
                  <a:srgbClr val="C00000"/>
                </a:solidFill>
                <a:latin typeface="Meiryo"/>
                <a:ea typeface="Meiryo"/>
                <a:cs typeface="Meiryo"/>
              </a:rPr>
              <a:t>高齢・硬い</a:t>
            </a:r>
          </a:p>
        </p:txBody>
      </p:sp>
      <p:sp>
        <p:nvSpPr>
          <p:cNvPr id="9018" name="chain"/>
          <p:cNvSpPr txBox="1"/>
          <p:nvPr/>
        </p:nvSpPr>
        <p:spPr>
          <a:xfrm>
            <a:off x="864000" y="5395656"/>
            <a:ext cx="10440000" cy="1044000"/>
          </a:xfrm>
          <a:prstGeom prst="rect">
            <a:avLst/>
          </a:prstGeom>
          <a:noFill/>
        </p:spPr>
        <p:txBody>
          <a:bodyPr wrap="square" lIns="0" tIns="0" rIns="0" bIns="0" anchor="t">
            <a:noAutofit/>
          </a:bodyPr>
          <a:lstStyle/>
          <a:p>
            <a:pPr algn="ctr">
              <a:lnSpc>
                <a:spcPct val="150000"/>
              </a:lnSpc>
            </a:pPr>
            <a:r>
              <a:rPr lang="ja-JP" altLang="en-US" sz="2400" b="1" dirty="0">
                <a:solidFill>
                  <a:srgbClr val="262626"/>
                </a:solidFill>
                <a:latin typeface="Meiryo"/>
                <a:ea typeface="Meiryo"/>
                <a:cs typeface="Meiryo"/>
              </a:rPr>
              <a:t>加齢・動脈硬化 → 大血管スティフネス↑ </a:t>
            </a:r>
            <a:r>
              <a:rPr lang="ja-JP" altLang="en-US" sz="2800" b="1" dirty="0">
                <a:solidFill>
                  <a:srgbClr val="262626"/>
                </a:solidFill>
                <a:latin typeface="Meiryo"/>
                <a:ea typeface="Meiryo"/>
                <a:cs typeface="Meiryo"/>
              </a:rPr>
              <a:t>→ 反射波の速度↑</a:t>
            </a:r>
          </a:p>
          <a:p>
            <a:pPr algn="ctr">
              <a:lnSpc>
                <a:spcPct val="150000"/>
              </a:lnSpc>
            </a:pPr>
            <a:r>
              <a:rPr lang="ja-JP" altLang="en-US" sz="2400" b="1" dirty="0">
                <a:solidFill>
                  <a:srgbClr val="262626"/>
                </a:solidFill>
                <a:latin typeface="Meiryo"/>
                <a:ea typeface="Meiryo"/>
                <a:cs typeface="Meiryo"/>
              </a:rPr>
              <a:t>→ 反射波が早く戻る → 収縮期へ融合 → </a:t>
            </a:r>
            <a:r>
              <a:rPr lang="ja-JP" altLang="en-US" sz="2400" b="1" dirty="0">
                <a:latin typeface="Meiryo"/>
                <a:ea typeface="Meiryo"/>
                <a:cs typeface="Meiryo"/>
              </a:rPr>
              <a:t>切痕が消える。</a:t>
            </a:r>
          </a:p>
        </p:txBody>
      </p:sp>
      <p:sp>
        <p:nvSpPr>
          <p:cNvPr id="901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　／　7. Dawber 1973　／　8. Cunningham 2023</a:t>
            </a:r>
          </a:p>
        </p:txBody>
      </p:sp>
      <p:sp>
        <p:nvSpPr>
          <p:cNvPr id="902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33/118</a:t>
            </a:r>
          </a:p>
        </p:txBody>
      </p:sp>
      <p:sp>
        <p:nvSpPr>
          <p:cNvPr id="902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9022"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902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902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902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902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35C80-85A1-E59A-EC49-BD19C22E1F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BD3EAE-E61A-69EB-5F86-CDAF8BC3B97F}"/>
              </a:ext>
            </a:extLst>
          </p:cNvPr>
          <p:cNvSpPr>
            <a:spLocks noGrp="1"/>
          </p:cNvSpPr>
          <p:nvPr>
            <p:ph type="title"/>
          </p:nvPr>
        </p:nvSpPr>
        <p:spPr/>
        <p:txBody>
          <a:bodyPr>
            <a:normAutofit/>
          </a:bodyPr>
          <a:lstStyle/>
          <a:p>
            <a:pPr algn="l"/>
            <a:r>
              <a:rPr sz="4600" dirty="0">
                <a:latin typeface="Meiryo"/>
                <a:ea typeface="Meiryo"/>
                <a:cs typeface="Meiryo"/>
              </a:rPr>
              <a:t>2.1.3  切痕平滑化の理由</a:t>
            </a:r>
          </a:p>
        </p:txBody>
      </p:sp>
      <p:pic>
        <p:nvPicPr>
          <p:cNvPr id="9" name="Picture 8" descr="11_stiffness_series.png">
            <a:extLst>
              <a:ext uri="{FF2B5EF4-FFF2-40B4-BE49-F238E27FC236}">
                <a16:creationId xmlns:a16="http://schemas.microsoft.com/office/drawing/2014/main" id="{B2A0FFB8-9E06-274E-CB88-667C604AA887}"/>
              </a:ext>
            </a:extLst>
          </p:cNvPr>
          <p:cNvPicPr>
            <a:picLocks noChangeAspect="1"/>
          </p:cNvPicPr>
          <p:nvPr/>
        </p:nvPicPr>
        <p:blipFill>
          <a:blip r:embed="rId3"/>
          <a:stretch>
            <a:fillRect/>
          </a:stretch>
        </p:blipFill>
        <p:spPr>
          <a:xfrm>
            <a:off x="1564000" y="1597656"/>
            <a:ext cx="9040000" cy="4320000"/>
          </a:xfrm>
          <a:prstGeom prst="rect">
            <a:avLst/>
          </a:prstGeom>
        </p:spPr>
      </p:pic>
      <p:sp>
        <p:nvSpPr>
          <p:cNvPr id="270" name="t_g">
            <a:extLst>
              <a:ext uri="{FF2B5EF4-FFF2-40B4-BE49-F238E27FC236}">
                <a16:creationId xmlns:a16="http://schemas.microsoft.com/office/drawing/2014/main" id="{E63171B8-4D19-7F60-33E4-5CCE68416AC4}"/>
              </a:ext>
            </a:extLst>
          </p:cNvPr>
          <p:cNvSpPr txBox="1"/>
          <p:nvPr/>
        </p:nvSpPr>
        <p:spPr>
          <a:xfrm>
            <a:off x="1925600" y="1929600"/>
            <a:ext cx="2621600" cy="388800"/>
          </a:xfrm>
          <a:prstGeom prst="rect">
            <a:avLst/>
          </a:prstGeom>
          <a:noFill/>
        </p:spPr>
        <p:txBody>
          <a:bodyPr wrap="square" lIns="0" tIns="0" rIns="0" bIns="0" anchor="t">
            <a:normAutofit/>
          </a:bodyPr>
          <a:lstStyle/>
          <a:p>
            <a:pPr algn="ctr"/>
            <a:r>
              <a:rPr lang="ja-JP" altLang="en-US" sz="2200" b="1" dirty="0">
                <a:solidFill>
                  <a:srgbClr val="70AD47"/>
                </a:solidFill>
                <a:latin typeface="Meiryo"/>
                <a:ea typeface="Meiryo"/>
                <a:cs typeface="Meiryo"/>
              </a:rPr>
              <a:t>若年・柔らかい</a:t>
            </a:r>
          </a:p>
        </p:txBody>
      </p:sp>
      <p:sp>
        <p:nvSpPr>
          <p:cNvPr id="271" name="t_m">
            <a:extLst>
              <a:ext uri="{FF2B5EF4-FFF2-40B4-BE49-F238E27FC236}">
                <a16:creationId xmlns:a16="http://schemas.microsoft.com/office/drawing/2014/main" id="{A5A14D11-A6D9-AD7A-CB87-BC4B86D571A9}"/>
              </a:ext>
            </a:extLst>
          </p:cNvPr>
          <p:cNvSpPr txBox="1"/>
          <p:nvPr/>
        </p:nvSpPr>
        <p:spPr>
          <a:xfrm>
            <a:off x="4908800" y="1929600"/>
            <a:ext cx="2531200" cy="388800"/>
          </a:xfrm>
          <a:prstGeom prst="rect">
            <a:avLst/>
          </a:prstGeom>
          <a:noFill/>
        </p:spPr>
        <p:txBody>
          <a:bodyPr wrap="square" lIns="0" tIns="0" rIns="0" bIns="0" anchor="t">
            <a:normAutofit/>
          </a:bodyPr>
          <a:lstStyle/>
          <a:p>
            <a:pPr algn="ctr"/>
            <a:r>
              <a:rPr lang="ja-JP" altLang="en-US" sz="2200" b="1" dirty="0">
                <a:solidFill>
                  <a:srgbClr val="BF9000"/>
                </a:solidFill>
                <a:latin typeface="Meiryo"/>
                <a:ea typeface="Meiryo"/>
                <a:cs typeface="Meiryo"/>
              </a:rPr>
              <a:t>中間</a:t>
            </a:r>
          </a:p>
        </p:txBody>
      </p:sp>
      <p:sp>
        <p:nvSpPr>
          <p:cNvPr id="272" name="t_r">
            <a:extLst>
              <a:ext uri="{FF2B5EF4-FFF2-40B4-BE49-F238E27FC236}">
                <a16:creationId xmlns:a16="http://schemas.microsoft.com/office/drawing/2014/main" id="{5590840A-784F-7DD5-1871-AED26F4D85A2}"/>
              </a:ext>
            </a:extLst>
          </p:cNvPr>
          <p:cNvSpPr txBox="1"/>
          <p:nvPr/>
        </p:nvSpPr>
        <p:spPr>
          <a:xfrm>
            <a:off x="7892000" y="1929600"/>
            <a:ext cx="2621600" cy="388800"/>
          </a:xfrm>
          <a:prstGeom prst="rect">
            <a:avLst/>
          </a:prstGeom>
          <a:noFill/>
        </p:spPr>
        <p:txBody>
          <a:bodyPr wrap="square" lIns="0" tIns="0" rIns="0" bIns="0" anchor="t">
            <a:normAutofit/>
          </a:bodyPr>
          <a:lstStyle/>
          <a:p>
            <a:pPr algn="ctr"/>
            <a:r>
              <a:rPr lang="ja-JP" altLang="en-US" sz="2200" b="1" dirty="0">
                <a:solidFill>
                  <a:srgbClr val="C00000"/>
                </a:solidFill>
                <a:latin typeface="Meiryo"/>
                <a:ea typeface="Meiryo"/>
                <a:cs typeface="Meiryo"/>
              </a:rPr>
              <a:t>高齢・硬い</a:t>
            </a:r>
          </a:p>
        </p:txBody>
      </p:sp>
      <p:sp>
        <p:nvSpPr>
          <p:cNvPr id="9018" name="chain">
            <a:extLst>
              <a:ext uri="{FF2B5EF4-FFF2-40B4-BE49-F238E27FC236}">
                <a16:creationId xmlns:a16="http://schemas.microsoft.com/office/drawing/2014/main" id="{1C740D0E-37D3-CEA6-5822-56CD14E4ECAC}"/>
              </a:ext>
            </a:extLst>
          </p:cNvPr>
          <p:cNvSpPr txBox="1"/>
          <p:nvPr/>
        </p:nvSpPr>
        <p:spPr>
          <a:xfrm>
            <a:off x="864000" y="5395656"/>
            <a:ext cx="10440000" cy="1044000"/>
          </a:xfrm>
          <a:prstGeom prst="rect">
            <a:avLst/>
          </a:prstGeom>
          <a:noFill/>
        </p:spPr>
        <p:txBody>
          <a:bodyPr wrap="square" lIns="0" tIns="0" rIns="0" bIns="0" anchor="t">
            <a:noAutofit/>
          </a:bodyPr>
          <a:lstStyle/>
          <a:p>
            <a:pPr algn="ctr">
              <a:lnSpc>
                <a:spcPct val="150000"/>
              </a:lnSpc>
            </a:pPr>
            <a:r>
              <a:rPr lang="ja-JP" altLang="en-US" sz="2400" b="1" dirty="0">
                <a:solidFill>
                  <a:srgbClr val="262626"/>
                </a:solidFill>
                <a:latin typeface="Meiryo"/>
                <a:ea typeface="Meiryo"/>
                <a:cs typeface="Meiryo"/>
              </a:rPr>
              <a:t>加齢・動脈硬化 → 大血管スティフネス↑ </a:t>
            </a:r>
            <a:r>
              <a:rPr lang="ja-JP" altLang="en-US" sz="2800" b="1" dirty="0">
                <a:solidFill>
                  <a:srgbClr val="262626"/>
                </a:solidFill>
                <a:latin typeface="Meiryo"/>
                <a:ea typeface="Meiryo"/>
                <a:cs typeface="Meiryo"/>
              </a:rPr>
              <a:t>→ 反射波の速度↑</a:t>
            </a:r>
          </a:p>
          <a:p>
            <a:pPr algn="ctr">
              <a:lnSpc>
                <a:spcPct val="150000"/>
              </a:lnSpc>
            </a:pPr>
            <a:r>
              <a:rPr lang="ja-JP" altLang="en-US" sz="2400" b="1" dirty="0">
                <a:solidFill>
                  <a:srgbClr val="262626"/>
                </a:solidFill>
                <a:latin typeface="Meiryo"/>
                <a:ea typeface="Meiryo"/>
                <a:cs typeface="Meiryo"/>
              </a:rPr>
              <a:t>→ 反射波が早く戻る → 収縮期へ融合 → </a:t>
            </a:r>
            <a:r>
              <a:rPr lang="ja-JP" altLang="en-US" sz="2400" b="1" dirty="0">
                <a:latin typeface="Meiryo"/>
                <a:ea typeface="Meiryo"/>
                <a:cs typeface="Meiryo"/>
              </a:rPr>
              <a:t>切痕が消える。</a:t>
            </a:r>
          </a:p>
        </p:txBody>
      </p:sp>
      <p:sp>
        <p:nvSpPr>
          <p:cNvPr id="4" name="callout">
            <a:extLst>
              <a:ext uri="{FF2B5EF4-FFF2-40B4-BE49-F238E27FC236}">
                <a16:creationId xmlns:a16="http://schemas.microsoft.com/office/drawing/2014/main" id="{27CEA4E8-9A6A-58AB-9954-21E599EFD001}"/>
              </a:ext>
            </a:extLst>
          </p:cNvPr>
          <p:cNvSpPr/>
          <p:nvPr/>
        </p:nvSpPr>
        <p:spPr>
          <a:xfrm>
            <a:off x="916600" y="2919225"/>
            <a:ext cx="10515600" cy="1875605"/>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lnSpc>
                <a:spcPct val="150000"/>
              </a:lnSpc>
            </a:pPr>
            <a:r>
              <a:rPr lang="ja-JP" altLang="en-US" sz="2800" b="1">
                <a:solidFill>
                  <a:srgbClr val="262626"/>
                </a:solidFill>
                <a:latin typeface="Meiryo"/>
                <a:ea typeface="Meiryo"/>
                <a:cs typeface="Meiryo"/>
              </a:rPr>
              <a:t>切痕の消失は</a:t>
            </a:r>
            <a:r>
              <a:rPr lang="ja-JP" altLang="en-US" sz="4000" b="1">
                <a:solidFill>
                  <a:srgbClr val="262626"/>
                </a:solidFill>
                <a:latin typeface="Meiryo"/>
                <a:ea typeface="Meiryo"/>
                <a:cs typeface="Meiryo"/>
              </a:rPr>
              <a:t>動脈硬化</a:t>
            </a:r>
            <a:r>
              <a:rPr lang="ja-JP" altLang="en-US" sz="2800" b="1">
                <a:solidFill>
                  <a:srgbClr val="262626"/>
                </a:solidFill>
                <a:latin typeface="Meiryo"/>
                <a:ea typeface="Meiryo"/>
                <a:cs typeface="Meiryo"/>
              </a:rPr>
              <a:t>の進行具合と関連する。</a:t>
            </a:r>
            <a:endParaRPr lang="en-US" altLang="ja-JP" sz="2800" b="1" dirty="0">
              <a:solidFill>
                <a:srgbClr val="262626"/>
              </a:solidFill>
              <a:latin typeface="Meiryo"/>
              <a:ea typeface="Meiryo"/>
              <a:cs typeface="Meiryo"/>
            </a:endParaRPr>
          </a:p>
          <a:p>
            <a:pPr algn="ctr">
              <a:lnSpc>
                <a:spcPct val="150000"/>
              </a:lnSpc>
            </a:pPr>
            <a:r>
              <a:rPr lang="ja-JP" altLang="en-US" sz="2800" b="1">
                <a:solidFill>
                  <a:srgbClr val="262626"/>
                </a:solidFill>
                <a:latin typeface="Meiryo"/>
                <a:ea typeface="Meiryo"/>
                <a:cs typeface="Meiryo"/>
              </a:rPr>
              <a:t>消失具合が強いほど動脈硬化性疾患と関連する。</a:t>
            </a:r>
          </a:p>
        </p:txBody>
      </p:sp>
      <p:sp>
        <p:nvSpPr>
          <p:cNvPr id="901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　／　7. Dawber 1973　／　8. Cunningham 2023</a:t>
            </a:r>
          </a:p>
        </p:txBody>
      </p:sp>
      <p:sp>
        <p:nvSpPr>
          <p:cNvPr id="902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34/118</a:t>
            </a:r>
          </a:p>
        </p:txBody>
      </p:sp>
      <p:sp>
        <p:nvSpPr>
          <p:cNvPr id="902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9022"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902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902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902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902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2705218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3FB83A8-5E90-685F-9B53-3E9BBCE66DA1}"/>
              </a:ext>
            </a:extLst>
          </p:cNvPr>
          <p:cNvSpPr>
            <a:spLocks noGrp="1"/>
          </p:cNvSpPr>
          <p:nvPr>
            <p:ph type="title"/>
          </p:nvPr>
        </p:nvSpPr>
        <p:spPr/>
        <p:txBody>
          <a:bodyPr>
            <a:normAutofit/>
          </a:bodyPr>
          <a:lstStyle/>
          <a:p>
            <a:pPr algn="l"/>
            <a:r>
              <a:rPr sz="4600" dirty="0">
                <a:latin typeface="Meiryo"/>
                <a:ea typeface="Meiryo"/>
                <a:cs typeface="Meiryo"/>
              </a:rPr>
              <a:t>2. 波形への影響</a:t>
            </a:r>
          </a:p>
        </p:txBody>
      </p:sp>
      <p:sp>
        <p:nvSpPr>
          <p:cNvPr id="957" name="Agenda">
            <a:extLst>
              <a:ext uri="{FF2B5EF4-FFF2-40B4-BE49-F238E27FC236}">
                <a16:creationId xmlns:a16="http://schemas.microsoft.com/office/drawing/2014/main" id="{B67BE2FB-7D39-9D21-D5E7-9714A61FC395}"/>
              </a:ext>
            </a:extLst>
          </p:cNvPr>
          <p:cNvSpPr txBox="1"/>
          <p:nvPr/>
        </p:nvSpPr>
        <p:spPr>
          <a:xfrm>
            <a:off x="822960" y="1536192"/>
            <a:ext cx="5029200" cy="5184000"/>
          </a:xfrm>
          <a:prstGeom prst="rect">
            <a:avLst/>
          </a:prstGeom>
          <a:noFill/>
        </p:spPr>
        <p:txBody>
          <a:bodyPr wrap="square" lIns="0" tIns="0" rIns="0" bIns="0" anchor="t"/>
          <a:lstStyle/>
          <a:p>
            <a:pPr>
              <a:lnSpc>
                <a:spcPct val="126000"/>
              </a:lnSpc>
            </a:pPr>
            <a:r>
              <a:rPr sz="3000" b="1">
                <a:solidFill>
                  <a:srgbClr val="D9D9D9"/>
                </a:solidFill>
                <a:latin typeface="Meiryo"/>
                <a:ea typeface="Meiryo"/>
                <a:cs typeface="Meiryo"/>
              </a:rPr>
              <a:t>1. </a:t>
            </a:r>
            <a:r>
              <a:rPr sz="3000" b="0">
                <a:solidFill>
                  <a:srgbClr val="D9D9D9"/>
                </a:solidFill>
                <a:latin typeface="Meiryo"/>
                <a:ea typeface="Meiryo"/>
                <a:cs typeface="Meiryo"/>
              </a:rPr>
              <a:t>PPGの基礎</a:t>
            </a:r>
          </a:p>
          <a:p>
            <a:pPr>
              <a:lnSpc>
                <a:spcPct val="126000"/>
              </a:lnSpc>
            </a:pPr>
            <a:r>
              <a:rPr sz="3000" b="1">
                <a:solidFill>
                  <a:srgbClr val="BF9000"/>
                </a:solidFill>
                <a:latin typeface="Meiryo"/>
                <a:ea typeface="Meiryo"/>
                <a:cs typeface="Meiryo"/>
              </a:rPr>
              <a:t>2. </a:t>
            </a:r>
            <a:r>
              <a:rPr sz="3000" b="1">
                <a:solidFill>
                  <a:srgbClr val="262626"/>
                </a:solidFill>
                <a:latin typeface="Meiryo"/>
                <a:ea typeface="Meiryo"/>
                <a:cs typeface="Meiryo"/>
              </a:rPr>
              <a:t>波形への影響</a:t>
            </a:r>
          </a:p>
          <a:p>
            <a:pPr>
              <a:lnSpc>
                <a:spcPct val="126000"/>
              </a:lnSpc>
            </a:pPr>
            <a:r>
              <a:rPr sz="2700" b="1">
                <a:solidFill>
                  <a:srgbClr val="D9D9D9"/>
                </a:solidFill>
                <a:latin typeface="Meiryo"/>
                <a:ea typeface="Meiryo"/>
                <a:cs typeface="Meiryo"/>
              </a:rPr>
              <a:t>　2.1 </a:t>
            </a:r>
            <a:r>
              <a:rPr sz="2700" b="0">
                <a:solidFill>
                  <a:srgbClr val="808080"/>
                </a:solidFill>
                <a:latin typeface="Meiryo"/>
                <a:ea typeface="Meiryo"/>
                <a:cs typeface="Meiryo"/>
              </a:rPr>
              <a:t>加齢の影響</a:t>
            </a:r>
          </a:p>
          <a:p>
            <a:pPr>
              <a:lnSpc>
                <a:spcPct val="126000"/>
              </a:lnSpc>
            </a:pPr>
            <a:r>
              <a:rPr sz="2700" b="1">
                <a:solidFill>
                  <a:srgbClr val="BF9000"/>
                </a:solidFill>
                <a:latin typeface="Meiryo"/>
                <a:ea typeface="Meiryo"/>
                <a:cs typeface="Meiryo"/>
              </a:rPr>
              <a:t>　2.2 </a:t>
            </a:r>
            <a:r>
              <a:rPr sz="2700" b="1">
                <a:solidFill>
                  <a:srgbClr val="262626"/>
                </a:solidFill>
                <a:latin typeface="Meiryo"/>
                <a:ea typeface="Meiryo"/>
                <a:cs typeface="Meiryo"/>
              </a:rPr>
              <a:t>循環の変化</a:t>
            </a:r>
          </a:p>
          <a:p>
            <a:pPr>
              <a:lnSpc>
                <a:spcPct val="126000"/>
              </a:lnSpc>
            </a:pPr>
            <a:r>
              <a:rPr sz="2700" b="1">
                <a:solidFill>
                  <a:srgbClr val="D9D9D9"/>
                </a:solidFill>
                <a:latin typeface="Meiryo"/>
                <a:ea typeface="Meiryo"/>
                <a:cs typeface="Meiryo"/>
              </a:rPr>
              <a:t>　2.3 </a:t>
            </a:r>
            <a:r>
              <a:rPr sz="2700" b="0">
                <a:solidFill>
                  <a:srgbClr val="808080"/>
                </a:solidFill>
                <a:latin typeface="Meiryo"/>
                <a:ea typeface="Meiryo"/>
                <a:cs typeface="Meiryo"/>
              </a:rPr>
              <a:t>麻酔中の変化</a:t>
            </a:r>
          </a:p>
          <a:p>
            <a:pPr>
              <a:lnSpc>
                <a:spcPct val="126000"/>
              </a:lnSpc>
            </a:pPr>
            <a:r>
              <a:rPr sz="3000" b="1">
                <a:solidFill>
                  <a:srgbClr val="D9D9D9"/>
                </a:solidFill>
                <a:latin typeface="Meiryo"/>
                <a:ea typeface="Meiryo"/>
                <a:cs typeface="Meiryo"/>
              </a:rPr>
              <a:t>3. </a:t>
            </a:r>
            <a:r>
              <a:rPr sz="3000" b="0">
                <a:solidFill>
                  <a:srgbClr val="D9D9D9"/>
                </a:solidFill>
                <a:latin typeface="Meiryo"/>
                <a:ea typeface="Meiryo"/>
                <a:cs typeface="Meiryo"/>
              </a:rPr>
              <a:t>波形の定量化</a:t>
            </a:r>
          </a:p>
          <a:p>
            <a:pPr>
              <a:lnSpc>
                <a:spcPct val="126000"/>
              </a:lnSpc>
            </a:pPr>
            <a:r>
              <a:rPr sz="3000" b="1">
                <a:solidFill>
                  <a:srgbClr val="D9D9D9"/>
                </a:solidFill>
                <a:latin typeface="Meiryo"/>
                <a:ea typeface="Meiryo"/>
                <a:cs typeface="Meiryo"/>
              </a:rPr>
              <a:t>4. </a:t>
            </a:r>
            <a:r>
              <a:rPr sz="3000" b="0">
                <a:solidFill>
                  <a:srgbClr val="D9D9D9"/>
                </a:solidFill>
                <a:latin typeface="Meiryo"/>
                <a:ea typeface="Meiryo"/>
                <a:cs typeface="Meiryo"/>
              </a:rPr>
              <a:t>限界</a:t>
            </a:r>
          </a:p>
          <a:p>
            <a:pPr>
              <a:lnSpc>
                <a:spcPct val="126000"/>
              </a:lnSpc>
            </a:pPr>
            <a:r>
              <a:rPr sz="3000" b="1">
                <a:solidFill>
                  <a:srgbClr val="D9D9D9"/>
                </a:solidFill>
                <a:latin typeface="Meiryo"/>
                <a:ea typeface="Meiryo"/>
                <a:cs typeface="Meiryo"/>
              </a:rPr>
              <a:t>5. </a:t>
            </a:r>
            <a:r>
              <a:rPr sz="3000" b="0">
                <a:solidFill>
                  <a:srgbClr val="D9D9D9"/>
                </a:solidFill>
                <a:latin typeface="Meiryo"/>
                <a:ea typeface="Meiryo"/>
                <a:cs typeface="Meiryo"/>
              </a:rPr>
              <a:t>PDA（波形分解）</a:t>
            </a:r>
          </a:p>
          <a:p>
            <a:pPr>
              <a:lnSpc>
                <a:spcPct val="126000"/>
              </a:lnSpc>
            </a:pPr>
            <a:r>
              <a:rPr sz="3000" b="0">
                <a:solidFill>
                  <a:srgbClr val="D9D9D9"/>
                </a:solidFill>
                <a:latin typeface="Meiryo"/>
                <a:ea typeface="Meiryo"/>
                <a:cs typeface="Meiryo"/>
              </a:rPr>
              <a:t>6. 提案</a:t>
            </a:r>
          </a:p>
        </p:txBody>
      </p:sp>
      <p:sp>
        <p:nvSpPr>
          <p:cNvPr id="958" name="SubToc"/>
          <p:cNvSpPr txBox="1"/>
          <p:nvPr/>
        </p:nvSpPr>
        <p:spPr>
          <a:xfrm>
            <a:off x="6309360" y="1536192"/>
            <a:ext cx="5394960" cy="4956048"/>
          </a:xfrm>
          <a:prstGeom prst="rect">
            <a:avLst/>
          </a:prstGeom>
          <a:noFill/>
        </p:spPr>
        <p:txBody>
          <a:bodyPr wrap="square" anchor="t">
            <a:spAutoFit/>
          </a:bodyPr>
          <a:lstStyle/>
          <a:p>
            <a:pPr>
              <a:lnSpc>
                <a:spcPct val="142000"/>
              </a:lnSpc>
            </a:pPr>
            <a:r>
              <a:rPr sz="3000" b="1">
                <a:solidFill>
                  <a:srgbClr val="BF9000"/>
                </a:solidFill>
                <a:latin typeface="Meiryo"/>
                <a:ea typeface="Meiryo"/>
                <a:cs typeface="Meiryo"/>
              </a:rPr>
              <a:t>2.2 </a:t>
            </a:r>
            <a:r>
              <a:rPr sz="3000" b="1">
                <a:solidFill>
                  <a:srgbClr val="262626"/>
                </a:solidFill>
                <a:latin typeface="Meiryo"/>
                <a:ea typeface="Meiryo"/>
                <a:cs typeface="Meiryo"/>
              </a:rPr>
              <a:t>循環の変化</a:t>
            </a:r>
          </a:p>
          <a:p>
            <a:pPr>
              <a:lnSpc>
                <a:spcPct val="142000"/>
              </a:lnSpc>
            </a:pPr>
            <a:r>
              <a:rPr sz="2700" b="1">
                <a:solidFill>
                  <a:srgbClr val="BF9000"/>
                </a:solidFill>
                <a:latin typeface="Meiryo"/>
                <a:ea typeface="Meiryo"/>
                <a:cs typeface="Meiryo"/>
              </a:rPr>
              <a:t>2.2.1 </a:t>
            </a:r>
            <a:r>
              <a:rPr sz="2700" b="0">
                <a:solidFill>
                  <a:srgbClr val="262626"/>
                </a:solidFill>
                <a:latin typeface="Meiryo"/>
                <a:ea typeface="Meiryo"/>
                <a:cs typeface="Meiryo"/>
              </a:rPr>
              <a:t>前負荷</a:t>
            </a:r>
          </a:p>
          <a:p>
            <a:pPr>
              <a:lnSpc>
                <a:spcPct val="142000"/>
              </a:lnSpc>
            </a:pPr>
            <a:r>
              <a:rPr sz="2700" b="1">
                <a:solidFill>
                  <a:srgbClr val="BF9000"/>
                </a:solidFill>
                <a:latin typeface="Meiryo"/>
                <a:ea typeface="Meiryo"/>
                <a:cs typeface="Meiryo"/>
              </a:rPr>
              <a:t>2.2.2 </a:t>
            </a:r>
            <a:r>
              <a:rPr sz="2700" b="0">
                <a:solidFill>
                  <a:srgbClr val="262626"/>
                </a:solidFill>
                <a:latin typeface="Meiryo"/>
                <a:ea typeface="Meiryo"/>
                <a:cs typeface="Meiryo"/>
              </a:rPr>
              <a:t>後負荷：末梢</a:t>
            </a:r>
          </a:p>
          <a:p>
            <a:pPr>
              <a:lnSpc>
                <a:spcPct val="142000"/>
              </a:lnSpc>
            </a:pPr>
            <a:r>
              <a:rPr sz="2700" b="1">
                <a:solidFill>
                  <a:srgbClr val="BF9000"/>
                </a:solidFill>
                <a:latin typeface="Meiryo"/>
                <a:ea typeface="Meiryo"/>
                <a:cs typeface="Meiryo"/>
              </a:rPr>
              <a:t>2.2.3 </a:t>
            </a:r>
            <a:r>
              <a:rPr sz="2700" b="0">
                <a:solidFill>
                  <a:srgbClr val="262626"/>
                </a:solidFill>
                <a:latin typeface="Meiryo"/>
                <a:ea typeface="Meiryo"/>
                <a:cs typeface="Meiryo"/>
              </a:rPr>
              <a:t>後負荷の違い</a:t>
            </a:r>
          </a:p>
          <a:p>
            <a:pPr>
              <a:lnSpc>
                <a:spcPct val="142000"/>
              </a:lnSpc>
            </a:pPr>
            <a:r>
              <a:rPr sz="2700" b="1">
                <a:solidFill>
                  <a:srgbClr val="BF9000"/>
                </a:solidFill>
                <a:latin typeface="Meiryo"/>
                <a:ea typeface="Meiryo"/>
                <a:cs typeface="Meiryo"/>
              </a:rPr>
              <a:t>2.2.4 </a:t>
            </a:r>
            <a:r>
              <a:rPr sz="2700" b="0">
                <a:solidFill>
                  <a:srgbClr val="262626"/>
                </a:solidFill>
                <a:latin typeface="Meiryo"/>
                <a:ea typeface="Meiryo"/>
                <a:cs typeface="Meiryo"/>
              </a:rPr>
              <a:t>心収縮力</a:t>
            </a:r>
          </a:p>
          <a:p>
            <a:pPr>
              <a:lnSpc>
                <a:spcPct val="142000"/>
              </a:lnSpc>
            </a:pPr>
            <a:r>
              <a:rPr sz="2700" b="1">
                <a:solidFill>
                  <a:srgbClr val="BF9000"/>
                </a:solidFill>
                <a:latin typeface="Meiryo"/>
                <a:ea typeface="Meiryo"/>
                <a:cs typeface="Meiryo"/>
              </a:rPr>
              <a:t>2.2.5 </a:t>
            </a:r>
            <a:r>
              <a:rPr sz="2700" b="0">
                <a:solidFill>
                  <a:srgbClr val="262626"/>
                </a:solidFill>
                <a:latin typeface="Meiryo"/>
                <a:ea typeface="Meiryo"/>
                <a:cs typeface="Meiryo"/>
              </a:rPr>
              <a:t>心拍数</a:t>
            </a:r>
          </a:p>
          <a:p>
            <a:pPr>
              <a:lnSpc>
                <a:spcPct val="142000"/>
              </a:lnSpc>
            </a:pPr>
            <a:r>
              <a:rPr sz="2700" b="1">
                <a:solidFill>
                  <a:srgbClr val="BF9000"/>
                </a:solidFill>
                <a:latin typeface="Meiryo"/>
                <a:ea typeface="Meiryo"/>
                <a:cs typeface="Meiryo"/>
              </a:rPr>
              <a:t>2.2.6 </a:t>
            </a:r>
            <a:r>
              <a:rPr sz="2700" b="0">
                <a:solidFill>
                  <a:srgbClr val="262626"/>
                </a:solidFill>
                <a:latin typeface="Meiryo"/>
                <a:ea typeface="Meiryo"/>
                <a:cs typeface="Meiryo"/>
              </a:rPr>
              <a:t>波形変化まとめ</a:t>
            </a:r>
          </a:p>
        </p:txBody>
      </p:sp>
      <p:sp>
        <p:nvSpPr>
          <p:cNvPr id="95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35/118</a:t>
            </a:r>
          </a:p>
        </p:txBody>
      </p:sp>
      <p:sp>
        <p:nvSpPr>
          <p:cNvPr id="960"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961"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962"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963"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964"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965"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8BC60-406C-AB35-6E25-6C26C37AA9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9AE8E6-AFF7-0B1A-53C3-83B8DB469A70}"/>
              </a:ext>
            </a:extLst>
          </p:cNvPr>
          <p:cNvSpPr>
            <a:spLocks noGrp="1"/>
          </p:cNvSpPr>
          <p:nvPr>
            <p:ph type="title"/>
          </p:nvPr>
        </p:nvSpPr>
        <p:spPr/>
        <p:txBody>
          <a:bodyPr>
            <a:normAutofit/>
          </a:bodyPr>
          <a:lstStyle/>
          <a:p>
            <a:pPr algn="l"/>
            <a:r>
              <a:rPr sz="4600" dirty="0">
                <a:latin typeface="Meiryo"/>
                <a:ea typeface="Meiryo"/>
                <a:cs typeface="Meiryo"/>
              </a:rPr>
              <a:t>2.2.1  前負荷</a:t>
            </a:r>
          </a:p>
        </p:txBody>
      </p:sp>
      <p:pic>
        <p:nvPicPr>
          <p:cNvPr id="4" name="図 3">
            <a:extLst>
              <a:ext uri="{FF2B5EF4-FFF2-40B4-BE49-F238E27FC236}">
                <a16:creationId xmlns:a16="http://schemas.microsoft.com/office/drawing/2014/main" id="{1DF4DAE4-C276-A673-424B-A341DE4BDD37}"/>
              </a:ext>
            </a:extLst>
          </p:cNvPr>
          <p:cNvPicPr>
            <a:picLocks noChangeAspect="1"/>
          </p:cNvPicPr>
          <p:nvPr/>
        </p:nvPicPr>
        <p:blipFill>
          <a:blip r:embed="rId3"/>
          <a:stretch>
            <a:fillRect/>
          </a:stretch>
        </p:blipFill>
        <p:spPr>
          <a:xfrm>
            <a:off x="313380" y="1662997"/>
            <a:ext cx="3940602" cy="3012788"/>
          </a:xfrm>
          <a:prstGeom prst="rect">
            <a:avLst/>
          </a:prstGeom>
        </p:spPr>
      </p:pic>
      <p:sp>
        <p:nvSpPr>
          <p:cNvPr id="6" name="テキスト ボックス 5">
            <a:extLst>
              <a:ext uri="{FF2B5EF4-FFF2-40B4-BE49-F238E27FC236}">
                <a16:creationId xmlns:a16="http://schemas.microsoft.com/office/drawing/2014/main" id="{E4F3E7F8-03AC-648B-BB45-D2A2EE8702AC}"/>
              </a:ext>
            </a:extLst>
          </p:cNvPr>
          <p:cNvSpPr txBox="1"/>
          <p:nvPr/>
        </p:nvSpPr>
        <p:spPr>
          <a:xfrm>
            <a:off x="338270" y="4854138"/>
            <a:ext cx="11515460" cy="1573508"/>
          </a:xfrm>
          <a:prstGeom prst="rect">
            <a:avLst/>
          </a:prstGeom>
          <a:noFill/>
        </p:spPr>
        <p:txBody>
          <a:bodyPr wrap="none" rtlCol="0">
            <a:spAutoFit/>
          </a:bodyPr>
          <a:lstStyle/>
          <a:p>
            <a:pPr>
              <a:lnSpc>
                <a:spcPct val="150000"/>
              </a:lnSpc>
            </a:pPr>
            <a:r>
              <a:rPr lang="ja-JP" altLang="en-US" sz="2200"/>
              <a:t>自発呼吸下の健常ボランティア</a:t>
            </a:r>
            <a:r>
              <a:rPr lang="en-US" altLang="ja-JP" sz="2200" dirty="0"/>
              <a:t>11</a:t>
            </a:r>
            <a:r>
              <a:rPr lang="ja-JP" altLang="en-US" sz="2200"/>
              <a:t>人に対し、下半身陰圧（</a:t>
            </a:r>
            <a:r>
              <a:rPr lang="en-US" altLang="ja-JP" sz="2200" dirty="0"/>
              <a:t>Lower body negative pressure</a:t>
            </a:r>
            <a:r>
              <a:rPr lang="ja-JP" altLang="en-US" sz="2200"/>
              <a:t>）で</a:t>
            </a:r>
            <a:endParaRPr lang="en-US" altLang="ja-JP" sz="2200" dirty="0"/>
          </a:p>
          <a:p>
            <a:pPr>
              <a:lnSpc>
                <a:spcPct val="150000"/>
              </a:lnSpc>
            </a:pPr>
            <a:r>
              <a:rPr lang="ja-JP" altLang="en-US" sz="2200"/>
              <a:t>循環血液量減少を再現し、</a:t>
            </a:r>
            <a:r>
              <a:rPr lang="en-US" altLang="ja-JP" sz="2200" dirty="0"/>
              <a:t>PPG</a:t>
            </a:r>
            <a:r>
              <a:rPr lang="ja-JP" altLang="en-US" sz="2200"/>
              <a:t>波形変化を観察した。</a:t>
            </a:r>
            <a:endParaRPr lang="en-US" altLang="ja-JP" sz="2200" dirty="0"/>
          </a:p>
          <a:p>
            <a:pPr>
              <a:lnSpc>
                <a:spcPct val="150000"/>
              </a:lnSpc>
            </a:pPr>
            <a:r>
              <a:rPr lang="ja-JP" altLang="en-US" sz="2200"/>
              <a:t>ピーク、高さ、幅、傾斜、面積の項目を検討。</a:t>
            </a:r>
            <a:endParaRPr lang="en-US" altLang="ja-JP" sz="2200" dirty="0"/>
          </a:p>
        </p:txBody>
      </p:sp>
      <p:pic>
        <p:nvPicPr>
          <p:cNvPr id="9" name="図 8">
            <a:extLst>
              <a:ext uri="{FF2B5EF4-FFF2-40B4-BE49-F238E27FC236}">
                <a16:creationId xmlns:a16="http://schemas.microsoft.com/office/drawing/2014/main" id="{8409AFFA-6FAF-66F4-C19C-48A04D529BCD}"/>
              </a:ext>
            </a:extLst>
          </p:cNvPr>
          <p:cNvPicPr>
            <a:picLocks noChangeAspect="1"/>
          </p:cNvPicPr>
          <p:nvPr/>
        </p:nvPicPr>
        <p:blipFill>
          <a:blip r:embed="rId4"/>
          <a:stretch>
            <a:fillRect/>
          </a:stretch>
        </p:blipFill>
        <p:spPr>
          <a:xfrm>
            <a:off x="4253982" y="1783314"/>
            <a:ext cx="7772400" cy="2365030"/>
          </a:xfrm>
          <a:prstGeom prst="rect">
            <a:avLst/>
          </a:prstGeom>
        </p:spPr>
      </p:pic>
      <p:sp>
        <p:nvSpPr>
          <p:cNvPr id="19" name="正方形/長方形 18">
            <a:extLst>
              <a:ext uri="{FF2B5EF4-FFF2-40B4-BE49-F238E27FC236}">
                <a16:creationId xmlns:a16="http://schemas.microsoft.com/office/drawing/2014/main" id="{BDBE8768-AAF0-0C39-482B-086EB88E8FD3}"/>
              </a:ext>
            </a:extLst>
          </p:cNvPr>
          <p:cNvSpPr/>
          <p:nvPr/>
        </p:nvSpPr>
        <p:spPr>
          <a:xfrm>
            <a:off x="6473371" y="1662997"/>
            <a:ext cx="406400" cy="35448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10. Alian 2011</a:t>
            </a:r>
          </a:p>
        </p:txBody>
      </p:sp>
      <p:sp>
        <p:nvSpPr>
          <p:cNvPr id="21"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36/118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16116634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9E30A6-2A5B-FC4D-3096-44A246F34C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1CFE63-08C5-9A4F-1932-A931EC6F9A8F}"/>
              </a:ext>
            </a:extLst>
          </p:cNvPr>
          <p:cNvSpPr>
            <a:spLocks noGrp="1"/>
          </p:cNvSpPr>
          <p:nvPr>
            <p:ph type="title"/>
          </p:nvPr>
        </p:nvSpPr>
        <p:spPr/>
        <p:txBody>
          <a:bodyPr>
            <a:normAutofit/>
          </a:bodyPr>
          <a:lstStyle/>
          <a:p>
            <a:pPr algn="l"/>
            <a:r>
              <a:rPr sz="4600" dirty="0">
                <a:latin typeface="Meiryo"/>
                <a:ea typeface="Meiryo"/>
                <a:cs typeface="Meiryo"/>
              </a:rPr>
              <a:t>2.2.1  前負荷</a:t>
            </a:r>
          </a:p>
        </p:txBody>
      </p:sp>
      <p:pic>
        <p:nvPicPr>
          <p:cNvPr id="5" name="図 4">
            <a:extLst>
              <a:ext uri="{FF2B5EF4-FFF2-40B4-BE49-F238E27FC236}">
                <a16:creationId xmlns:a16="http://schemas.microsoft.com/office/drawing/2014/main" id="{CC5DFA9D-C3D7-B753-C02F-F00F3F11CAB2}"/>
              </a:ext>
            </a:extLst>
          </p:cNvPr>
          <p:cNvPicPr>
            <a:picLocks noChangeAspect="1"/>
          </p:cNvPicPr>
          <p:nvPr/>
        </p:nvPicPr>
        <p:blipFill>
          <a:blip r:embed="rId3"/>
          <a:srcRect l="1551" b="2497"/>
          <a:stretch>
            <a:fillRect/>
          </a:stretch>
        </p:blipFill>
        <p:spPr>
          <a:xfrm>
            <a:off x="295933" y="1690688"/>
            <a:ext cx="7258586" cy="4697309"/>
          </a:xfrm>
          <a:prstGeom prst="rect">
            <a:avLst/>
          </a:prstGeom>
        </p:spPr>
      </p:pic>
      <p:pic>
        <p:nvPicPr>
          <p:cNvPr id="3" name="Picture 8" descr="09b_preload_overlay.png">
            <a:extLst>
              <a:ext uri="{FF2B5EF4-FFF2-40B4-BE49-F238E27FC236}">
                <a16:creationId xmlns:a16="http://schemas.microsoft.com/office/drawing/2014/main" id="{68CE830F-1028-A26D-05F5-066DFC60D4C7}"/>
              </a:ext>
            </a:extLst>
          </p:cNvPr>
          <p:cNvPicPr>
            <a:picLocks noChangeAspect="1"/>
          </p:cNvPicPr>
          <p:nvPr/>
        </p:nvPicPr>
        <p:blipFill>
          <a:blip r:embed="rId4"/>
          <a:srcRect t="22374" r="28310"/>
          <a:stretch>
            <a:fillRect/>
          </a:stretch>
        </p:blipFill>
        <p:spPr>
          <a:xfrm>
            <a:off x="7199538" y="2753186"/>
            <a:ext cx="5391438" cy="2694404"/>
          </a:xfrm>
          <a:prstGeom prst="rect">
            <a:avLst/>
          </a:prstGeom>
        </p:spPr>
      </p:pic>
      <p:sp>
        <p:nvSpPr>
          <p:cNvPr id="7" name="lg1">
            <a:extLst>
              <a:ext uri="{FF2B5EF4-FFF2-40B4-BE49-F238E27FC236}">
                <a16:creationId xmlns:a16="http://schemas.microsoft.com/office/drawing/2014/main" id="{818DCE95-A46E-741B-4692-46C7F3A7DA8D}"/>
              </a:ext>
            </a:extLst>
          </p:cNvPr>
          <p:cNvSpPr txBox="1"/>
          <p:nvPr/>
        </p:nvSpPr>
        <p:spPr>
          <a:xfrm>
            <a:off x="10406786" y="2105925"/>
            <a:ext cx="1785214" cy="211487"/>
          </a:xfrm>
          <a:prstGeom prst="rect">
            <a:avLst/>
          </a:prstGeom>
          <a:noFill/>
        </p:spPr>
        <p:txBody>
          <a:bodyPr wrap="square" lIns="0" tIns="0" rIns="0" bIns="0" anchor="t">
            <a:noAutofit/>
          </a:bodyPr>
          <a:lstStyle/>
          <a:p>
            <a:pPr algn="l"/>
            <a:r>
              <a:rPr lang="ja-JP" altLang="en-US" sz="2200" b="1" dirty="0">
                <a:solidFill>
                  <a:srgbClr val="70AD47"/>
                </a:solidFill>
                <a:latin typeface="Meiryo"/>
                <a:ea typeface="Meiryo"/>
                <a:cs typeface="Meiryo"/>
              </a:rPr>
              <a:t>正常前負荷</a:t>
            </a:r>
          </a:p>
        </p:txBody>
      </p:sp>
      <p:sp>
        <p:nvSpPr>
          <p:cNvPr id="9" name="lg2">
            <a:extLst>
              <a:ext uri="{FF2B5EF4-FFF2-40B4-BE49-F238E27FC236}">
                <a16:creationId xmlns:a16="http://schemas.microsoft.com/office/drawing/2014/main" id="{9B60C0BF-4ADF-41B8-E481-AFF9CDF58DA0}"/>
              </a:ext>
            </a:extLst>
          </p:cNvPr>
          <p:cNvSpPr txBox="1"/>
          <p:nvPr/>
        </p:nvSpPr>
        <p:spPr>
          <a:xfrm>
            <a:off x="10406786" y="2567812"/>
            <a:ext cx="2604167" cy="614258"/>
          </a:xfrm>
          <a:prstGeom prst="rect">
            <a:avLst/>
          </a:prstGeom>
          <a:noFill/>
        </p:spPr>
        <p:txBody>
          <a:bodyPr wrap="square" lIns="0" tIns="0" rIns="0" bIns="0" anchor="t">
            <a:noAutofit/>
          </a:bodyPr>
          <a:lstStyle/>
          <a:p>
            <a:pPr algn="l"/>
            <a:r>
              <a:rPr lang="ja-JP" altLang="en-US" sz="2200" b="1">
                <a:solidFill>
                  <a:srgbClr val="E8853B"/>
                </a:solidFill>
                <a:latin typeface="Meiryo"/>
                <a:ea typeface="Meiryo"/>
                <a:cs typeface="Meiryo"/>
              </a:rPr>
              <a:t>前負荷低下</a:t>
            </a:r>
            <a:endParaRPr lang="en-US" altLang="ja-JP" sz="2200" b="1" dirty="0">
              <a:solidFill>
                <a:srgbClr val="E8853B"/>
              </a:solidFill>
              <a:latin typeface="Meiryo"/>
              <a:ea typeface="Meiryo"/>
              <a:cs typeface="Meiryo"/>
            </a:endParaRPr>
          </a:p>
          <a:p>
            <a:pPr algn="l"/>
            <a:r>
              <a:rPr lang="ja-JP" altLang="en-US" sz="2200" b="1">
                <a:solidFill>
                  <a:srgbClr val="E8853B"/>
                </a:solidFill>
                <a:latin typeface="Meiryo"/>
                <a:ea typeface="Meiryo"/>
                <a:cs typeface="Meiryo"/>
              </a:rPr>
              <a:t>（LBNP）</a:t>
            </a:r>
            <a:endParaRPr lang="ja-JP" altLang="en-US" sz="2200" b="1" dirty="0">
              <a:solidFill>
                <a:srgbClr val="E8853B"/>
              </a:solidFill>
              <a:latin typeface="Meiryo"/>
              <a:ea typeface="Meiryo"/>
              <a:cs typeface="Meiryo"/>
            </a:endParaRPr>
          </a:p>
        </p:txBody>
      </p:sp>
      <p:pic>
        <p:nvPicPr>
          <p:cNvPr id="18" name="Picture 8" descr="09b_preload_overlay.png">
            <a:extLst>
              <a:ext uri="{FF2B5EF4-FFF2-40B4-BE49-F238E27FC236}">
                <a16:creationId xmlns:a16="http://schemas.microsoft.com/office/drawing/2014/main" id="{EE87D3CC-BEB4-3BE0-2AD3-E01ABF10B594}"/>
              </a:ext>
            </a:extLst>
          </p:cNvPr>
          <p:cNvPicPr>
            <a:picLocks noChangeAspect="1"/>
          </p:cNvPicPr>
          <p:nvPr/>
        </p:nvPicPr>
        <p:blipFill>
          <a:blip r:embed="rId4"/>
          <a:srcRect l="56359" r="31022" b="72445"/>
          <a:stretch>
            <a:fillRect/>
          </a:stretch>
        </p:blipFill>
        <p:spPr>
          <a:xfrm>
            <a:off x="8897795" y="1792010"/>
            <a:ext cx="1543195" cy="1555256"/>
          </a:xfrm>
          <a:prstGeom prst="rect">
            <a:avLst/>
          </a:prstGeom>
        </p:spPr>
      </p:pic>
      <p:sp>
        <p:nvSpPr>
          <p:cNvPr id="4" name="callout">
            <a:extLst>
              <a:ext uri="{FF2B5EF4-FFF2-40B4-BE49-F238E27FC236}">
                <a16:creationId xmlns:a16="http://schemas.microsoft.com/office/drawing/2014/main" id="{1781950C-5AA7-ED02-0C1A-220540C87262}"/>
              </a:ext>
            </a:extLst>
          </p:cNvPr>
          <p:cNvSpPr/>
          <p:nvPr/>
        </p:nvSpPr>
        <p:spPr>
          <a:xfrm>
            <a:off x="7673745" y="5218959"/>
            <a:ext cx="4341548" cy="82801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ja-JP" altLang="en-US" sz="2400" b="1">
                <a:solidFill>
                  <a:srgbClr val="262626"/>
                </a:solidFill>
                <a:latin typeface="Meiryo"/>
                <a:ea typeface="Meiryo"/>
                <a:cs typeface="Meiryo"/>
              </a:rPr>
              <a:t>高さ・面積・傾き・幅 が低下。</a:t>
            </a:r>
            <a:endParaRPr lang="ja-JP" altLang="en-US" sz="2400" b="1" dirty="0">
              <a:solidFill>
                <a:srgbClr val="262626"/>
              </a:solidFill>
              <a:latin typeface="Meiryo"/>
              <a:ea typeface="Meiryo"/>
              <a:cs typeface="Meiryo"/>
            </a:endParaRPr>
          </a:p>
        </p:txBody>
      </p:sp>
      <p:sp>
        <p:nvSpPr>
          <p:cNvPr id="1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10. Alian 2011</a:t>
            </a:r>
          </a:p>
        </p:txBody>
      </p:sp>
      <p:sp>
        <p:nvSpPr>
          <p:cNvPr id="2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37/118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272499506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53AE4-12D1-0CF5-A97A-DCFA55FB8828}"/>
            </a:ext>
          </a:extLst>
        </p:cNvPr>
        <p:cNvGrpSpPr/>
        <p:nvPr/>
      </p:nvGrpSpPr>
      <p:grpSpPr>
        <a:xfrm>
          <a:off x="0" y="0"/>
          <a:ext cx="0" cy="0"/>
          <a:chOff x="0" y="0"/>
          <a:chExt cx="0" cy="0"/>
        </a:xfrm>
      </p:grpSpPr>
      <p:pic>
        <p:nvPicPr>
          <p:cNvPr id="3" name="Picture 8" descr="10_svr.png">
            <a:extLst>
              <a:ext uri="{FF2B5EF4-FFF2-40B4-BE49-F238E27FC236}">
                <a16:creationId xmlns:a16="http://schemas.microsoft.com/office/drawing/2014/main" id="{7356DC41-20D4-C3A9-2FA2-9A406D2F7F39}"/>
              </a:ext>
            </a:extLst>
          </p:cNvPr>
          <p:cNvPicPr>
            <a:picLocks noChangeAspect="1"/>
          </p:cNvPicPr>
          <p:nvPr/>
        </p:nvPicPr>
        <p:blipFill>
          <a:blip r:embed="rId3"/>
          <a:srcRect l="50922" t="26379"/>
          <a:stretch>
            <a:fillRect/>
          </a:stretch>
        </p:blipFill>
        <p:spPr>
          <a:xfrm>
            <a:off x="7127061" y="3951766"/>
            <a:ext cx="2679535" cy="2257353"/>
          </a:xfrm>
          <a:prstGeom prst="rect">
            <a:avLst/>
          </a:prstGeom>
        </p:spPr>
      </p:pic>
      <p:sp>
        <p:nvSpPr>
          <p:cNvPr id="2" name="Title 1">
            <a:extLst>
              <a:ext uri="{FF2B5EF4-FFF2-40B4-BE49-F238E27FC236}">
                <a16:creationId xmlns:a16="http://schemas.microsoft.com/office/drawing/2014/main" id="{CC555787-B884-6BA7-F3AA-5408C737906E}"/>
              </a:ext>
            </a:extLst>
          </p:cNvPr>
          <p:cNvSpPr>
            <a:spLocks noGrp="1"/>
          </p:cNvSpPr>
          <p:nvPr>
            <p:ph type="title"/>
          </p:nvPr>
        </p:nvSpPr>
        <p:spPr/>
        <p:txBody>
          <a:bodyPr>
            <a:normAutofit/>
          </a:bodyPr>
          <a:lstStyle/>
          <a:p>
            <a:pPr algn="l"/>
            <a:r>
              <a:rPr sz="4600" dirty="0">
                <a:latin typeface="Meiryo"/>
                <a:ea typeface="Meiryo"/>
                <a:cs typeface="Meiryo"/>
              </a:rPr>
              <a:t>2.2.2  後負荷：末梢</a:t>
            </a:r>
          </a:p>
        </p:txBody>
      </p:sp>
      <p:pic>
        <p:nvPicPr>
          <p:cNvPr id="9" name="Picture 8" descr="10_svr.png">
            <a:extLst>
              <a:ext uri="{FF2B5EF4-FFF2-40B4-BE49-F238E27FC236}">
                <a16:creationId xmlns:a16="http://schemas.microsoft.com/office/drawing/2014/main" id="{2BA34126-022A-3DDD-0F79-8FEE29376CAC}"/>
              </a:ext>
            </a:extLst>
          </p:cNvPr>
          <p:cNvPicPr>
            <a:picLocks noChangeAspect="1"/>
          </p:cNvPicPr>
          <p:nvPr/>
        </p:nvPicPr>
        <p:blipFill>
          <a:blip r:embed="rId3"/>
          <a:srcRect t="26379" r="50923"/>
          <a:stretch>
            <a:fillRect/>
          </a:stretch>
        </p:blipFill>
        <p:spPr>
          <a:xfrm>
            <a:off x="7096159" y="1769217"/>
            <a:ext cx="2679535" cy="2257353"/>
          </a:xfrm>
          <a:prstGeom prst="rect">
            <a:avLst/>
          </a:prstGeom>
        </p:spPr>
      </p:pic>
      <p:sp>
        <p:nvSpPr>
          <p:cNvPr id="361" name="t_l">
            <a:extLst>
              <a:ext uri="{FF2B5EF4-FFF2-40B4-BE49-F238E27FC236}">
                <a16:creationId xmlns:a16="http://schemas.microsoft.com/office/drawing/2014/main" id="{617D00CD-0BCE-FB86-85CC-8377B455D112}"/>
              </a:ext>
            </a:extLst>
          </p:cNvPr>
          <p:cNvSpPr txBox="1"/>
          <p:nvPr/>
        </p:nvSpPr>
        <p:spPr>
          <a:xfrm>
            <a:off x="7992795" y="1821510"/>
            <a:ext cx="3538538" cy="345600"/>
          </a:xfrm>
          <a:prstGeom prst="rect">
            <a:avLst/>
          </a:prstGeom>
          <a:noFill/>
        </p:spPr>
        <p:txBody>
          <a:bodyPr wrap="square" lIns="0" tIns="0" rIns="0" bIns="0" anchor="ctr">
            <a:normAutofit/>
          </a:bodyPr>
          <a:lstStyle/>
          <a:p>
            <a:pPr algn="ctr" latinLnBrk="0"/>
            <a:r>
              <a:rPr lang="ja-JP" altLang="en-US" sz="1700" b="1" dirty="0">
                <a:solidFill>
                  <a:srgbClr val="1A1A1A"/>
                </a:solidFill>
                <a:latin typeface="Meiryo"/>
                <a:ea typeface="Meiryo"/>
                <a:cs typeface="Meiryo"/>
              </a:rPr>
              <a:t>血管拡張（ト⁠ー⁠ヌ⁠ス↓）</a:t>
            </a:r>
          </a:p>
        </p:txBody>
      </p:sp>
      <p:sp>
        <p:nvSpPr>
          <p:cNvPr id="362" name="t_r">
            <a:extLst>
              <a:ext uri="{FF2B5EF4-FFF2-40B4-BE49-F238E27FC236}">
                <a16:creationId xmlns:a16="http://schemas.microsoft.com/office/drawing/2014/main" id="{29C3172F-1A04-41E8-E03B-40077384F00A}"/>
              </a:ext>
            </a:extLst>
          </p:cNvPr>
          <p:cNvSpPr txBox="1"/>
          <p:nvPr/>
        </p:nvSpPr>
        <p:spPr>
          <a:xfrm>
            <a:off x="8023697" y="3974908"/>
            <a:ext cx="3538538" cy="345600"/>
          </a:xfrm>
          <a:prstGeom prst="rect">
            <a:avLst/>
          </a:prstGeom>
          <a:noFill/>
        </p:spPr>
        <p:txBody>
          <a:bodyPr wrap="square" lIns="0" tIns="0" rIns="0" bIns="0" anchor="ctr">
            <a:normAutofit/>
          </a:bodyPr>
          <a:lstStyle/>
          <a:p>
            <a:pPr algn="ctr" latinLnBrk="0"/>
            <a:r>
              <a:rPr lang="ja-JP" altLang="en-US" sz="1700" b="1" dirty="0">
                <a:solidFill>
                  <a:srgbClr val="1A1A1A"/>
                </a:solidFill>
                <a:latin typeface="Meiryo"/>
                <a:ea typeface="Meiryo"/>
                <a:cs typeface="Meiryo"/>
              </a:rPr>
              <a:t>血管収縮（ト⁠ー⁠ヌ⁠ス↑）</a:t>
            </a:r>
          </a:p>
        </p:txBody>
      </p:sp>
      <p:pic>
        <p:nvPicPr>
          <p:cNvPr id="4" name="図 3">
            <a:extLst>
              <a:ext uri="{FF2B5EF4-FFF2-40B4-BE49-F238E27FC236}">
                <a16:creationId xmlns:a16="http://schemas.microsoft.com/office/drawing/2014/main" id="{FA304C0D-1D7A-8D2C-0191-02206FD3C5C7}"/>
              </a:ext>
            </a:extLst>
          </p:cNvPr>
          <p:cNvPicPr>
            <a:picLocks noChangeAspect="1"/>
          </p:cNvPicPr>
          <p:nvPr/>
        </p:nvPicPr>
        <p:blipFill>
          <a:blip r:embed="rId4"/>
          <a:srcRect r="48043" b="54220"/>
          <a:stretch>
            <a:fillRect/>
          </a:stretch>
        </p:blipFill>
        <p:spPr>
          <a:xfrm>
            <a:off x="3410583" y="3951766"/>
            <a:ext cx="2782676" cy="1796991"/>
          </a:xfrm>
          <a:prstGeom prst="rect">
            <a:avLst/>
          </a:prstGeom>
        </p:spPr>
      </p:pic>
      <p:pic>
        <p:nvPicPr>
          <p:cNvPr id="5" name="図 4">
            <a:extLst>
              <a:ext uri="{FF2B5EF4-FFF2-40B4-BE49-F238E27FC236}">
                <a16:creationId xmlns:a16="http://schemas.microsoft.com/office/drawing/2014/main" id="{94999B29-D753-BFA3-6518-C23DF092F91E}"/>
              </a:ext>
            </a:extLst>
          </p:cNvPr>
          <p:cNvPicPr>
            <a:picLocks noChangeAspect="1"/>
          </p:cNvPicPr>
          <p:nvPr/>
        </p:nvPicPr>
        <p:blipFill>
          <a:blip r:embed="rId5"/>
          <a:srcRect t="3209" r="47305" b="51417"/>
          <a:stretch>
            <a:fillRect/>
          </a:stretch>
        </p:blipFill>
        <p:spPr>
          <a:xfrm>
            <a:off x="3429436" y="1791233"/>
            <a:ext cx="2782676" cy="1796991"/>
          </a:xfrm>
          <a:prstGeom prst="rect">
            <a:avLst/>
          </a:prstGeom>
        </p:spPr>
      </p:pic>
      <p:sp>
        <p:nvSpPr>
          <p:cNvPr id="6" name="テキスト ボックス 5">
            <a:extLst>
              <a:ext uri="{FF2B5EF4-FFF2-40B4-BE49-F238E27FC236}">
                <a16:creationId xmlns:a16="http://schemas.microsoft.com/office/drawing/2014/main" id="{F4A0F85A-3673-3E17-A05A-E12333A95C66}"/>
              </a:ext>
            </a:extLst>
          </p:cNvPr>
          <p:cNvSpPr txBox="1"/>
          <p:nvPr/>
        </p:nvSpPr>
        <p:spPr>
          <a:xfrm>
            <a:off x="776779" y="4647509"/>
            <a:ext cx="2749471" cy="400110"/>
          </a:xfrm>
          <a:prstGeom prst="rect">
            <a:avLst/>
          </a:prstGeom>
          <a:noFill/>
        </p:spPr>
        <p:txBody>
          <a:bodyPr wrap="none" rtlCol="0">
            <a:spAutoFit/>
          </a:bodyPr>
          <a:lstStyle/>
          <a:p>
            <a:r>
              <a:rPr kumimoji="1" lang="ja-JP" altLang="en-US" sz="2000" b="1"/>
              <a:t>アンジオテンシン投与</a:t>
            </a:r>
          </a:p>
        </p:txBody>
      </p:sp>
      <p:sp>
        <p:nvSpPr>
          <p:cNvPr id="7" name="テキスト ボックス 6">
            <a:extLst>
              <a:ext uri="{FF2B5EF4-FFF2-40B4-BE49-F238E27FC236}">
                <a16:creationId xmlns:a16="http://schemas.microsoft.com/office/drawing/2014/main" id="{E7DEAB5A-38B4-A4E8-7836-B7E43B0F40F4}"/>
              </a:ext>
            </a:extLst>
          </p:cNvPr>
          <p:cNvSpPr txBox="1"/>
          <p:nvPr/>
        </p:nvSpPr>
        <p:spPr>
          <a:xfrm>
            <a:off x="776779" y="2487171"/>
            <a:ext cx="2749471" cy="400110"/>
          </a:xfrm>
          <a:prstGeom prst="rect">
            <a:avLst/>
          </a:prstGeom>
          <a:noFill/>
        </p:spPr>
        <p:txBody>
          <a:bodyPr wrap="none" rtlCol="0">
            <a:spAutoFit/>
          </a:bodyPr>
          <a:lstStyle/>
          <a:p>
            <a:r>
              <a:rPr kumimoji="1" lang="ja-JP" altLang="en-US" sz="2000" b="1"/>
              <a:t>ニトログリセリン投与</a:t>
            </a:r>
          </a:p>
        </p:txBody>
      </p:sp>
      <p:sp>
        <p:nvSpPr>
          <p:cNvPr id="19" name="テキスト ボックス 18">
            <a:extLst>
              <a:ext uri="{FF2B5EF4-FFF2-40B4-BE49-F238E27FC236}">
                <a16:creationId xmlns:a16="http://schemas.microsoft.com/office/drawing/2014/main" id="{D5A65DD6-5058-26B0-247A-72F1D01B1E45}"/>
              </a:ext>
            </a:extLst>
          </p:cNvPr>
          <p:cNvSpPr txBox="1"/>
          <p:nvPr/>
        </p:nvSpPr>
        <p:spPr>
          <a:xfrm>
            <a:off x="1593004" y="6023470"/>
            <a:ext cx="9005992" cy="461665"/>
          </a:xfrm>
          <a:prstGeom prst="rect">
            <a:avLst/>
          </a:prstGeom>
          <a:noFill/>
        </p:spPr>
        <p:txBody>
          <a:bodyPr wrap="none" rtlCol="0">
            <a:spAutoFit/>
          </a:bodyPr>
          <a:lstStyle/>
          <a:p>
            <a:r>
              <a:rPr kumimoji="1" lang="ja-JP" altLang="en-US" sz="2400"/>
              <a:t>健常成人ボランティアに血管拡張・収縮薬投与で</a:t>
            </a:r>
            <a:r>
              <a:rPr kumimoji="1" lang="en-US" altLang="ja-JP" sz="2400" dirty="0"/>
              <a:t>PPG</a:t>
            </a:r>
            <a:r>
              <a:rPr kumimoji="1" lang="ja-JP" altLang="en-US" sz="2400"/>
              <a:t>変化をみた。</a:t>
            </a:r>
          </a:p>
        </p:txBody>
      </p:sp>
      <p:sp>
        <p:nvSpPr>
          <p:cNvPr id="36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11. Chowienczyk 1999　／　12. Millasseau 2003</a:t>
            </a:r>
          </a:p>
        </p:txBody>
      </p:sp>
      <p:sp>
        <p:nvSpPr>
          <p:cNvPr id="36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38/118</a:t>
            </a:r>
          </a:p>
        </p:txBody>
      </p:sp>
      <p:sp>
        <p:nvSpPr>
          <p:cNvPr id="365"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366"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367"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368"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369"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370"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36977261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65079-4508-5497-F141-DE50AAEB0CD4}"/>
            </a:ext>
          </a:extLst>
        </p:cNvPr>
        <p:cNvGrpSpPr/>
        <p:nvPr/>
      </p:nvGrpSpPr>
      <p:grpSpPr>
        <a:xfrm>
          <a:off x="0" y="0"/>
          <a:ext cx="0" cy="0"/>
          <a:chOff x="0" y="0"/>
          <a:chExt cx="0" cy="0"/>
        </a:xfrm>
      </p:grpSpPr>
      <p:pic>
        <p:nvPicPr>
          <p:cNvPr id="3" name="Picture 8" descr="10_svr.png">
            <a:extLst>
              <a:ext uri="{FF2B5EF4-FFF2-40B4-BE49-F238E27FC236}">
                <a16:creationId xmlns:a16="http://schemas.microsoft.com/office/drawing/2014/main" id="{362C4290-EED1-422F-7FB5-DE381B417B94}"/>
              </a:ext>
            </a:extLst>
          </p:cNvPr>
          <p:cNvPicPr>
            <a:picLocks noChangeAspect="1"/>
          </p:cNvPicPr>
          <p:nvPr/>
        </p:nvPicPr>
        <p:blipFill>
          <a:blip r:embed="rId3"/>
          <a:srcRect l="50922" t="26379"/>
          <a:stretch>
            <a:fillRect/>
          </a:stretch>
        </p:blipFill>
        <p:spPr>
          <a:xfrm>
            <a:off x="7127061" y="3951766"/>
            <a:ext cx="2679535" cy="2257353"/>
          </a:xfrm>
          <a:prstGeom prst="rect">
            <a:avLst/>
          </a:prstGeom>
        </p:spPr>
      </p:pic>
      <p:sp>
        <p:nvSpPr>
          <p:cNvPr id="2" name="Title 1">
            <a:extLst>
              <a:ext uri="{FF2B5EF4-FFF2-40B4-BE49-F238E27FC236}">
                <a16:creationId xmlns:a16="http://schemas.microsoft.com/office/drawing/2014/main" id="{1F8D11BB-63E2-2C0D-B496-60630080BA1D}"/>
              </a:ext>
            </a:extLst>
          </p:cNvPr>
          <p:cNvSpPr>
            <a:spLocks noGrp="1"/>
          </p:cNvSpPr>
          <p:nvPr>
            <p:ph type="title"/>
          </p:nvPr>
        </p:nvSpPr>
        <p:spPr/>
        <p:txBody>
          <a:bodyPr>
            <a:normAutofit/>
          </a:bodyPr>
          <a:lstStyle/>
          <a:p>
            <a:pPr algn="l"/>
            <a:r>
              <a:rPr sz="4600" dirty="0">
                <a:latin typeface="Meiryo"/>
                <a:ea typeface="Meiryo"/>
                <a:cs typeface="Meiryo"/>
              </a:rPr>
              <a:t>2.2.2  後負荷：末梢</a:t>
            </a:r>
          </a:p>
        </p:txBody>
      </p:sp>
      <p:pic>
        <p:nvPicPr>
          <p:cNvPr id="9" name="Picture 8" descr="10_svr.png">
            <a:extLst>
              <a:ext uri="{FF2B5EF4-FFF2-40B4-BE49-F238E27FC236}">
                <a16:creationId xmlns:a16="http://schemas.microsoft.com/office/drawing/2014/main" id="{402398F5-DD06-139E-7A44-EE16134071DF}"/>
              </a:ext>
            </a:extLst>
          </p:cNvPr>
          <p:cNvPicPr>
            <a:picLocks noChangeAspect="1"/>
          </p:cNvPicPr>
          <p:nvPr/>
        </p:nvPicPr>
        <p:blipFill>
          <a:blip r:embed="rId3"/>
          <a:srcRect t="26379" r="50923"/>
          <a:stretch>
            <a:fillRect/>
          </a:stretch>
        </p:blipFill>
        <p:spPr>
          <a:xfrm>
            <a:off x="7096159" y="1769217"/>
            <a:ext cx="2679535" cy="2257353"/>
          </a:xfrm>
          <a:prstGeom prst="rect">
            <a:avLst/>
          </a:prstGeom>
        </p:spPr>
      </p:pic>
      <p:sp>
        <p:nvSpPr>
          <p:cNvPr id="361" name="t_l">
            <a:extLst>
              <a:ext uri="{FF2B5EF4-FFF2-40B4-BE49-F238E27FC236}">
                <a16:creationId xmlns:a16="http://schemas.microsoft.com/office/drawing/2014/main" id="{4B67D30A-7DF0-7C19-4766-97B9ECCFC945}"/>
              </a:ext>
            </a:extLst>
          </p:cNvPr>
          <p:cNvSpPr txBox="1"/>
          <p:nvPr/>
        </p:nvSpPr>
        <p:spPr>
          <a:xfrm>
            <a:off x="7992795" y="1821510"/>
            <a:ext cx="3538538" cy="345600"/>
          </a:xfrm>
          <a:prstGeom prst="rect">
            <a:avLst/>
          </a:prstGeom>
          <a:noFill/>
        </p:spPr>
        <p:txBody>
          <a:bodyPr wrap="square" lIns="0" tIns="0" rIns="0" bIns="0" anchor="ctr">
            <a:normAutofit/>
          </a:bodyPr>
          <a:lstStyle/>
          <a:p>
            <a:pPr algn="ctr" latinLnBrk="0"/>
            <a:r>
              <a:rPr lang="ja-JP" altLang="en-US" sz="1700" b="1" dirty="0">
                <a:solidFill>
                  <a:srgbClr val="1A1A1A"/>
                </a:solidFill>
                <a:latin typeface="Meiryo"/>
                <a:ea typeface="Meiryo"/>
                <a:cs typeface="Meiryo"/>
              </a:rPr>
              <a:t>血管拡張（ト⁠ー⁠ヌ⁠ス↓）</a:t>
            </a:r>
          </a:p>
        </p:txBody>
      </p:sp>
      <p:sp>
        <p:nvSpPr>
          <p:cNvPr id="362" name="t_r">
            <a:extLst>
              <a:ext uri="{FF2B5EF4-FFF2-40B4-BE49-F238E27FC236}">
                <a16:creationId xmlns:a16="http://schemas.microsoft.com/office/drawing/2014/main" id="{61F99186-825D-A604-DC5F-FD6FD8767F62}"/>
              </a:ext>
            </a:extLst>
          </p:cNvPr>
          <p:cNvSpPr txBox="1"/>
          <p:nvPr/>
        </p:nvSpPr>
        <p:spPr>
          <a:xfrm>
            <a:off x="8023697" y="3974908"/>
            <a:ext cx="3538538" cy="345600"/>
          </a:xfrm>
          <a:prstGeom prst="rect">
            <a:avLst/>
          </a:prstGeom>
          <a:noFill/>
        </p:spPr>
        <p:txBody>
          <a:bodyPr wrap="square" lIns="0" tIns="0" rIns="0" bIns="0" anchor="ctr">
            <a:normAutofit/>
          </a:bodyPr>
          <a:lstStyle/>
          <a:p>
            <a:pPr algn="ctr" latinLnBrk="0"/>
            <a:r>
              <a:rPr lang="ja-JP" altLang="en-US" sz="1700" b="1" dirty="0">
                <a:solidFill>
                  <a:srgbClr val="1A1A1A"/>
                </a:solidFill>
                <a:latin typeface="Meiryo"/>
                <a:ea typeface="Meiryo"/>
                <a:cs typeface="Meiryo"/>
              </a:rPr>
              <a:t>血管収縮（ト⁠ー⁠ヌ⁠ス↑）</a:t>
            </a:r>
          </a:p>
        </p:txBody>
      </p:sp>
      <p:pic>
        <p:nvPicPr>
          <p:cNvPr id="4" name="図 3">
            <a:extLst>
              <a:ext uri="{FF2B5EF4-FFF2-40B4-BE49-F238E27FC236}">
                <a16:creationId xmlns:a16="http://schemas.microsoft.com/office/drawing/2014/main" id="{015AD26D-E5C6-2A54-3035-ED8289FFCE0A}"/>
              </a:ext>
            </a:extLst>
          </p:cNvPr>
          <p:cNvPicPr>
            <a:picLocks noChangeAspect="1"/>
          </p:cNvPicPr>
          <p:nvPr/>
        </p:nvPicPr>
        <p:blipFill>
          <a:blip r:embed="rId4"/>
          <a:srcRect r="48043" b="54220"/>
          <a:stretch>
            <a:fillRect/>
          </a:stretch>
        </p:blipFill>
        <p:spPr>
          <a:xfrm>
            <a:off x="3410583" y="3951766"/>
            <a:ext cx="2782676" cy="1796991"/>
          </a:xfrm>
          <a:prstGeom prst="rect">
            <a:avLst/>
          </a:prstGeom>
        </p:spPr>
      </p:pic>
      <p:pic>
        <p:nvPicPr>
          <p:cNvPr id="5" name="図 4">
            <a:extLst>
              <a:ext uri="{FF2B5EF4-FFF2-40B4-BE49-F238E27FC236}">
                <a16:creationId xmlns:a16="http://schemas.microsoft.com/office/drawing/2014/main" id="{1270D8DB-21FC-FF91-74DE-8B78AF8E028C}"/>
              </a:ext>
            </a:extLst>
          </p:cNvPr>
          <p:cNvPicPr>
            <a:picLocks noChangeAspect="1"/>
          </p:cNvPicPr>
          <p:nvPr/>
        </p:nvPicPr>
        <p:blipFill>
          <a:blip r:embed="rId5"/>
          <a:srcRect t="3209" r="47305" b="51417"/>
          <a:stretch>
            <a:fillRect/>
          </a:stretch>
        </p:blipFill>
        <p:spPr>
          <a:xfrm>
            <a:off x="3429436" y="1791233"/>
            <a:ext cx="2782676" cy="1796991"/>
          </a:xfrm>
          <a:prstGeom prst="rect">
            <a:avLst/>
          </a:prstGeom>
        </p:spPr>
      </p:pic>
      <p:sp>
        <p:nvSpPr>
          <p:cNvPr id="6" name="テキスト ボックス 5">
            <a:extLst>
              <a:ext uri="{FF2B5EF4-FFF2-40B4-BE49-F238E27FC236}">
                <a16:creationId xmlns:a16="http://schemas.microsoft.com/office/drawing/2014/main" id="{316FD39C-1145-369B-2504-A1474B245055}"/>
              </a:ext>
            </a:extLst>
          </p:cNvPr>
          <p:cNvSpPr txBox="1"/>
          <p:nvPr/>
        </p:nvSpPr>
        <p:spPr>
          <a:xfrm>
            <a:off x="776779" y="4647509"/>
            <a:ext cx="2749471" cy="400110"/>
          </a:xfrm>
          <a:prstGeom prst="rect">
            <a:avLst/>
          </a:prstGeom>
          <a:noFill/>
        </p:spPr>
        <p:txBody>
          <a:bodyPr wrap="none" rtlCol="0">
            <a:spAutoFit/>
          </a:bodyPr>
          <a:lstStyle/>
          <a:p>
            <a:r>
              <a:rPr kumimoji="1" lang="ja-JP" altLang="en-US" sz="2000" b="1"/>
              <a:t>アンジオテンシン投与</a:t>
            </a:r>
          </a:p>
        </p:txBody>
      </p:sp>
      <p:sp>
        <p:nvSpPr>
          <p:cNvPr id="7" name="テキスト ボックス 6">
            <a:extLst>
              <a:ext uri="{FF2B5EF4-FFF2-40B4-BE49-F238E27FC236}">
                <a16:creationId xmlns:a16="http://schemas.microsoft.com/office/drawing/2014/main" id="{B20288AD-2CAE-65BF-CD0A-C086DF9ECA29}"/>
              </a:ext>
            </a:extLst>
          </p:cNvPr>
          <p:cNvSpPr txBox="1"/>
          <p:nvPr/>
        </p:nvSpPr>
        <p:spPr>
          <a:xfrm>
            <a:off x="776779" y="2487171"/>
            <a:ext cx="2749471" cy="400110"/>
          </a:xfrm>
          <a:prstGeom prst="rect">
            <a:avLst/>
          </a:prstGeom>
          <a:noFill/>
        </p:spPr>
        <p:txBody>
          <a:bodyPr wrap="none" rtlCol="0">
            <a:spAutoFit/>
          </a:bodyPr>
          <a:lstStyle/>
          <a:p>
            <a:r>
              <a:rPr kumimoji="1" lang="ja-JP" altLang="en-US" sz="2000" b="1"/>
              <a:t>ニトログリセリン投与</a:t>
            </a:r>
          </a:p>
        </p:txBody>
      </p:sp>
      <p:sp>
        <p:nvSpPr>
          <p:cNvPr id="18" name="callout">
            <a:extLst>
              <a:ext uri="{FF2B5EF4-FFF2-40B4-BE49-F238E27FC236}">
                <a16:creationId xmlns:a16="http://schemas.microsoft.com/office/drawing/2014/main" id="{339F7693-591D-47A2-F762-B4C7374D22E7}"/>
              </a:ext>
            </a:extLst>
          </p:cNvPr>
          <p:cNvSpPr/>
          <p:nvPr/>
        </p:nvSpPr>
        <p:spPr>
          <a:xfrm>
            <a:off x="2077574" y="5922712"/>
            <a:ext cx="8036851" cy="527492"/>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ja-JP" altLang="en-US" sz="2400" b="1">
                <a:solidFill>
                  <a:srgbClr val="1A1A1A"/>
                </a:solidFill>
                <a:latin typeface="Meiryo"/>
                <a:ea typeface="Meiryo"/>
                <a:cs typeface="Meiryo"/>
              </a:rPr>
              <a:t>血管ト⁠ー⁠ヌ⁠スの変化 → 反射波の高さが変わる。</a:t>
            </a:r>
            <a:endParaRPr lang="ja-JP" altLang="en-US" sz="2400" b="1" dirty="0">
              <a:solidFill>
                <a:srgbClr val="1A1A1A"/>
              </a:solidFill>
              <a:latin typeface="Meiryo"/>
              <a:ea typeface="Meiryo"/>
              <a:cs typeface="Meiryo"/>
            </a:endParaRPr>
          </a:p>
        </p:txBody>
      </p:sp>
      <p:sp>
        <p:nvSpPr>
          <p:cNvPr id="36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11. Chowienczyk 1999　／　12. Millasseau 2003</a:t>
            </a:r>
          </a:p>
        </p:txBody>
      </p:sp>
      <p:sp>
        <p:nvSpPr>
          <p:cNvPr id="36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39/118</a:t>
            </a:r>
          </a:p>
        </p:txBody>
      </p:sp>
      <p:sp>
        <p:nvSpPr>
          <p:cNvPr id="365"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366"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367"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368"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369"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370"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323768810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917490-8D86-DB93-6569-A0209107F6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DE9A4A-0427-4ADE-C047-AB3E3303090B}"/>
              </a:ext>
            </a:extLst>
          </p:cNvPr>
          <p:cNvSpPr>
            <a:spLocks noGrp="1"/>
          </p:cNvSpPr>
          <p:nvPr>
            <p:ph type="title"/>
          </p:nvPr>
        </p:nvSpPr>
        <p:spPr/>
        <p:txBody>
          <a:bodyPr>
            <a:normAutofit/>
          </a:bodyPr>
          <a:lstStyle/>
          <a:p>
            <a:pPr algn="l"/>
            <a:r>
              <a:rPr sz="4600" dirty="0">
                <a:latin typeface="Meiryo"/>
                <a:ea typeface="Meiryo"/>
                <a:cs typeface="Meiryo"/>
              </a:rPr>
              <a:t>2.2.3  後負荷の違い</a:t>
            </a:r>
          </a:p>
        </p:txBody>
      </p:sp>
      <p:pic>
        <p:nvPicPr>
          <p:cNvPr id="9" name="Picture 8" descr="07_factor_2axis.png">
            <a:extLst>
              <a:ext uri="{FF2B5EF4-FFF2-40B4-BE49-F238E27FC236}">
                <a16:creationId xmlns:a16="http://schemas.microsoft.com/office/drawing/2014/main" id="{8C69438D-BFC6-745C-FA3A-8DA981B5ED57}"/>
              </a:ext>
            </a:extLst>
          </p:cNvPr>
          <p:cNvPicPr>
            <a:picLocks noChangeAspect="1"/>
          </p:cNvPicPr>
          <p:nvPr/>
        </p:nvPicPr>
        <p:blipFill>
          <a:blip r:embed="rId3"/>
          <a:srcRect t="16134" b="47584"/>
          <a:stretch>
            <a:fillRect/>
          </a:stretch>
        </p:blipFill>
        <p:spPr>
          <a:xfrm>
            <a:off x="1482436" y="2123504"/>
            <a:ext cx="8328377" cy="1763007"/>
          </a:xfrm>
          <a:prstGeom prst="rect">
            <a:avLst/>
          </a:prstGeom>
        </p:spPr>
      </p:pic>
      <p:pic>
        <p:nvPicPr>
          <p:cNvPr id="250" name="Picture 8b" descr="07_factor_2axis.png">
            <a:extLst>
              <a:ext uri="{FF2B5EF4-FFF2-40B4-BE49-F238E27FC236}">
                <a16:creationId xmlns:a16="http://schemas.microsoft.com/office/drawing/2014/main" id="{63DBEBD7-4675-D2B3-2C9A-6D1A5FB77D10}"/>
              </a:ext>
            </a:extLst>
          </p:cNvPr>
          <p:cNvPicPr>
            <a:picLocks noChangeAspect="1"/>
          </p:cNvPicPr>
          <p:nvPr/>
        </p:nvPicPr>
        <p:blipFill>
          <a:blip r:embed="rId3"/>
          <a:srcRect t="56511"/>
          <a:stretch>
            <a:fillRect/>
          </a:stretch>
        </p:blipFill>
        <p:spPr>
          <a:xfrm>
            <a:off x="1482436" y="4341629"/>
            <a:ext cx="8328377" cy="2113221"/>
          </a:xfrm>
          <a:prstGeom prst="rect">
            <a:avLst/>
          </a:prstGeom>
        </p:spPr>
      </p:pic>
      <p:sp>
        <p:nvSpPr>
          <p:cNvPr id="210" name="h1">
            <a:extLst>
              <a:ext uri="{FF2B5EF4-FFF2-40B4-BE49-F238E27FC236}">
                <a16:creationId xmlns:a16="http://schemas.microsoft.com/office/drawing/2014/main" id="{9643E6C4-AD3E-16B9-9985-622F9A8505C1}"/>
              </a:ext>
            </a:extLst>
          </p:cNvPr>
          <p:cNvSpPr txBox="1"/>
          <p:nvPr/>
        </p:nvSpPr>
        <p:spPr>
          <a:xfrm>
            <a:off x="1519437" y="1812138"/>
            <a:ext cx="9335082" cy="434794"/>
          </a:xfrm>
          <a:prstGeom prst="rect">
            <a:avLst/>
          </a:prstGeom>
          <a:noFill/>
        </p:spPr>
        <p:txBody>
          <a:bodyPr wrap="square" lIns="0" tIns="0" rIns="0" bIns="0" anchor="t">
            <a:noAutofit/>
          </a:bodyPr>
          <a:lstStyle/>
          <a:p>
            <a:pPr algn="l"/>
            <a:r>
              <a:rPr lang="ja-JP" altLang="en-US" sz="2200" b="1">
                <a:solidFill>
                  <a:srgbClr val="E8853B"/>
                </a:solidFill>
                <a:latin typeface="Meiryo"/>
                <a:ea typeface="Meiryo"/>
                <a:cs typeface="Meiryo"/>
              </a:rPr>
              <a:t>① 末梢血管</a:t>
            </a:r>
            <a:r>
              <a:rPr lang="ja-JP" altLang="en-US" sz="2200" b="1" dirty="0">
                <a:solidFill>
                  <a:srgbClr val="E8853B"/>
                </a:solidFill>
                <a:latin typeface="Meiryo"/>
                <a:ea typeface="Meiryo"/>
                <a:cs typeface="Meiryo"/>
              </a:rPr>
              <a:t>トーヌス ↑ → 反射波・切痕が「高く</a:t>
            </a:r>
            <a:r>
              <a:rPr lang="ja-JP" altLang="en-US" sz="2200" b="1">
                <a:solidFill>
                  <a:srgbClr val="E8853B"/>
                </a:solidFill>
                <a:latin typeface="Meiryo"/>
                <a:ea typeface="Meiryo"/>
                <a:cs typeface="Meiryo"/>
              </a:rPr>
              <a:t>」なる。</a:t>
            </a:r>
            <a:endParaRPr lang="ja-JP" altLang="en-US" sz="2200" b="1" dirty="0">
              <a:solidFill>
                <a:srgbClr val="E8853B"/>
              </a:solidFill>
              <a:latin typeface="Meiryo"/>
              <a:ea typeface="Meiryo"/>
              <a:cs typeface="Meiryo"/>
            </a:endParaRPr>
          </a:p>
        </p:txBody>
      </p:sp>
      <p:sp>
        <p:nvSpPr>
          <p:cNvPr id="211" name="takasa">
            <a:extLst>
              <a:ext uri="{FF2B5EF4-FFF2-40B4-BE49-F238E27FC236}">
                <a16:creationId xmlns:a16="http://schemas.microsoft.com/office/drawing/2014/main" id="{B7012E9E-EB04-35BE-FBFB-C8FADEF34CFA}"/>
              </a:ext>
            </a:extLst>
          </p:cNvPr>
          <p:cNvSpPr txBox="1"/>
          <p:nvPr/>
        </p:nvSpPr>
        <p:spPr>
          <a:xfrm>
            <a:off x="9225548" y="2914543"/>
            <a:ext cx="1937942" cy="304356"/>
          </a:xfrm>
          <a:prstGeom prst="rect">
            <a:avLst/>
          </a:prstGeom>
          <a:noFill/>
        </p:spPr>
        <p:txBody>
          <a:bodyPr wrap="square" lIns="0" tIns="0" rIns="0" bIns="0" anchor="t">
            <a:normAutofit lnSpcReduction="10000"/>
          </a:bodyPr>
          <a:lstStyle/>
          <a:p>
            <a:pPr algn="l"/>
            <a:r>
              <a:rPr lang="ja-JP" altLang="en-US" sz="2000" b="1" dirty="0">
                <a:solidFill>
                  <a:srgbClr val="E8853B"/>
                </a:solidFill>
                <a:latin typeface="Meiryo"/>
                <a:ea typeface="Meiryo"/>
                <a:cs typeface="Meiryo"/>
              </a:rPr>
              <a:t>高さ↑</a:t>
            </a:r>
          </a:p>
        </p:txBody>
      </p:sp>
      <p:sp>
        <p:nvSpPr>
          <p:cNvPr id="212" name="h2">
            <a:extLst>
              <a:ext uri="{FF2B5EF4-FFF2-40B4-BE49-F238E27FC236}">
                <a16:creationId xmlns:a16="http://schemas.microsoft.com/office/drawing/2014/main" id="{CF326274-D609-3E77-0B78-BE0B3A09D728}"/>
              </a:ext>
            </a:extLst>
          </p:cNvPr>
          <p:cNvSpPr txBox="1"/>
          <p:nvPr/>
        </p:nvSpPr>
        <p:spPr>
          <a:xfrm>
            <a:off x="1519437" y="4311240"/>
            <a:ext cx="11427118" cy="478274"/>
          </a:xfrm>
          <a:prstGeom prst="rect">
            <a:avLst/>
          </a:prstGeom>
          <a:noFill/>
        </p:spPr>
        <p:txBody>
          <a:bodyPr wrap="square" lIns="0" tIns="0" rIns="0" bIns="0" anchor="t">
            <a:noAutofit/>
          </a:bodyPr>
          <a:lstStyle/>
          <a:p>
            <a:pPr algn="l"/>
            <a:r>
              <a:rPr lang="ja-JP" altLang="en-US" sz="2200" b="1">
                <a:solidFill>
                  <a:srgbClr val="B8860B"/>
                </a:solidFill>
                <a:latin typeface="Meiryo"/>
                <a:ea typeface="Meiryo"/>
                <a:cs typeface="Meiryo"/>
              </a:rPr>
              <a:t>② 大血管スティフネス </a:t>
            </a:r>
            <a:r>
              <a:rPr lang="ja-JP" altLang="en-US" sz="2200" b="1" dirty="0">
                <a:solidFill>
                  <a:srgbClr val="B8860B"/>
                </a:solidFill>
                <a:latin typeface="Meiryo"/>
                <a:ea typeface="Meiryo"/>
                <a:cs typeface="Meiryo"/>
              </a:rPr>
              <a:t>↑ → 反射波が「早く</a:t>
            </a:r>
            <a:r>
              <a:rPr lang="ja-JP" altLang="en-US" sz="2200" b="1">
                <a:solidFill>
                  <a:srgbClr val="B8860B"/>
                </a:solidFill>
                <a:latin typeface="Meiryo"/>
                <a:ea typeface="Meiryo"/>
                <a:cs typeface="Meiryo"/>
              </a:rPr>
              <a:t>」帰る→ 反射波の時相が早くなる。</a:t>
            </a:r>
            <a:endParaRPr lang="ja-JP" altLang="en-US" sz="2200" b="1" dirty="0">
              <a:solidFill>
                <a:srgbClr val="B8860B"/>
              </a:solidFill>
              <a:latin typeface="Meiryo"/>
              <a:ea typeface="Meiryo"/>
              <a:cs typeface="Meiryo"/>
            </a:endParaRPr>
          </a:p>
        </p:txBody>
      </p:sp>
      <p:sp>
        <p:nvSpPr>
          <p:cNvPr id="213" name="jiso">
            <a:extLst>
              <a:ext uri="{FF2B5EF4-FFF2-40B4-BE49-F238E27FC236}">
                <a16:creationId xmlns:a16="http://schemas.microsoft.com/office/drawing/2014/main" id="{0954FE5B-58A2-1FC2-8F70-714A7560119B}"/>
              </a:ext>
            </a:extLst>
          </p:cNvPr>
          <p:cNvSpPr txBox="1"/>
          <p:nvPr/>
        </p:nvSpPr>
        <p:spPr>
          <a:xfrm>
            <a:off x="8492796" y="5262282"/>
            <a:ext cx="2003446" cy="359899"/>
          </a:xfrm>
          <a:prstGeom prst="rect">
            <a:avLst/>
          </a:prstGeom>
          <a:noFill/>
        </p:spPr>
        <p:txBody>
          <a:bodyPr wrap="square" lIns="0" tIns="0" rIns="0" bIns="0" anchor="t">
            <a:normAutofit/>
          </a:bodyPr>
          <a:lstStyle/>
          <a:p>
            <a:pPr algn="ctr"/>
            <a:r>
              <a:rPr lang="ja-JP" altLang="en-US" sz="2000" b="1" dirty="0">
                <a:solidFill>
                  <a:srgbClr val="B8860B"/>
                </a:solidFill>
                <a:latin typeface="Meiryo"/>
                <a:ea typeface="Meiryo"/>
                <a:cs typeface="Meiryo"/>
              </a:rPr>
              <a:t>時相 早い</a:t>
            </a:r>
          </a:p>
        </p:txBody>
      </p:sp>
      <p:sp>
        <p:nvSpPr>
          <p:cNvPr id="214" name="henkyoku">
            <a:extLst>
              <a:ext uri="{FF2B5EF4-FFF2-40B4-BE49-F238E27FC236}">
                <a16:creationId xmlns:a16="http://schemas.microsoft.com/office/drawing/2014/main" id="{668686BA-9DCF-A97F-1960-0E5256FBD843}"/>
              </a:ext>
            </a:extLst>
          </p:cNvPr>
          <p:cNvSpPr txBox="1"/>
          <p:nvPr/>
        </p:nvSpPr>
        <p:spPr>
          <a:xfrm>
            <a:off x="3804411" y="5142663"/>
            <a:ext cx="2544787" cy="1118607"/>
          </a:xfrm>
          <a:prstGeom prst="rect">
            <a:avLst/>
          </a:prstGeom>
          <a:noFill/>
        </p:spPr>
        <p:txBody>
          <a:bodyPr wrap="square" lIns="0" tIns="0" rIns="0" bIns="0" anchor="t">
            <a:normAutofit/>
          </a:bodyPr>
          <a:lstStyle/>
          <a:p>
            <a:pPr algn="ctr"/>
            <a:r>
              <a:rPr lang="ja-JP" altLang="en-US" sz="2000" b="1">
                <a:solidFill>
                  <a:srgbClr val="B8860B"/>
                </a:solidFill>
                <a:latin typeface="Meiryo"/>
                <a:ea typeface="Meiryo"/>
                <a:cs typeface="Meiryo"/>
              </a:rPr>
              <a:t>変曲点</a:t>
            </a:r>
            <a:endParaRPr lang="en-US" altLang="ja-JP" sz="2000" b="1" dirty="0">
              <a:solidFill>
                <a:srgbClr val="B8860B"/>
              </a:solidFill>
              <a:latin typeface="Meiryo"/>
              <a:ea typeface="Meiryo"/>
              <a:cs typeface="Meiryo"/>
            </a:endParaRPr>
          </a:p>
          <a:p>
            <a:pPr algn="ctr"/>
            <a:r>
              <a:rPr lang="ja-JP" altLang="en-US" sz="2000" b="1">
                <a:solidFill>
                  <a:srgbClr val="B8860B"/>
                </a:solidFill>
                <a:latin typeface="Meiryo"/>
                <a:ea typeface="Meiryo"/>
                <a:cs typeface="Meiryo"/>
              </a:rPr>
              <a:t>（</a:t>
            </a:r>
            <a:r>
              <a:rPr lang="ja-JP" altLang="en-US" sz="2000" b="1" dirty="0">
                <a:solidFill>
                  <a:srgbClr val="B8860B"/>
                </a:solidFill>
                <a:latin typeface="Meiryo"/>
                <a:ea typeface="Meiryo"/>
                <a:cs typeface="Meiryo"/>
              </a:rPr>
              <a:t>早期反射）</a:t>
            </a:r>
          </a:p>
        </p:txBody>
      </p:sp>
      <p:sp>
        <p:nvSpPr>
          <p:cNvPr id="251"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　／　8. Cunningham 2023　／　12. Millasseau 2003</a:t>
            </a:r>
          </a:p>
        </p:txBody>
      </p:sp>
      <p:sp>
        <p:nvSpPr>
          <p:cNvPr id="25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40/118</a:t>
            </a:r>
          </a:p>
        </p:txBody>
      </p:sp>
      <p:sp>
        <p:nvSpPr>
          <p:cNvPr id="253"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254"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255"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256"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257"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58"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20166118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7A99F-D3E2-0A55-7651-45CB6F7C77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8B9FC1-392B-D89A-B3BA-5DD88EE8DAAD}"/>
              </a:ext>
            </a:extLst>
          </p:cNvPr>
          <p:cNvSpPr>
            <a:spLocks noGrp="1"/>
          </p:cNvSpPr>
          <p:nvPr>
            <p:ph type="title"/>
          </p:nvPr>
        </p:nvSpPr>
        <p:spPr/>
        <p:txBody>
          <a:bodyPr>
            <a:normAutofit/>
          </a:bodyPr>
          <a:lstStyle/>
          <a:p>
            <a:pPr algn="l"/>
            <a:r>
              <a:rPr sz="4600" dirty="0">
                <a:latin typeface="Meiryo"/>
                <a:ea typeface="Meiryo"/>
                <a:cs typeface="Meiryo"/>
              </a:rPr>
              <a:t>2.2.4  心収縮力</a:t>
            </a:r>
          </a:p>
        </p:txBody>
      </p:sp>
      <p:sp>
        <p:nvSpPr>
          <p:cNvPr id="642" name="cap2">
            <a:extLst>
              <a:ext uri="{FF2B5EF4-FFF2-40B4-BE49-F238E27FC236}">
                <a16:creationId xmlns:a16="http://schemas.microsoft.com/office/drawing/2014/main" id="{B4A3164A-BA51-5B5B-9E14-47E2B5B27E86}"/>
              </a:ext>
            </a:extLst>
          </p:cNvPr>
          <p:cNvSpPr txBox="1"/>
          <p:nvPr/>
        </p:nvSpPr>
        <p:spPr>
          <a:xfrm>
            <a:off x="4722800" y="4834402"/>
            <a:ext cx="11134389" cy="468327"/>
          </a:xfrm>
          <a:prstGeom prst="rect">
            <a:avLst/>
          </a:prstGeom>
          <a:noFill/>
        </p:spPr>
        <p:txBody>
          <a:bodyPr wrap="square" lIns="0" tIns="0" rIns="0" bIns="0" anchor="t">
            <a:noAutofit/>
          </a:bodyPr>
          <a:lstStyle/>
          <a:p>
            <a:pPr algn="ctr"/>
            <a:r>
              <a:rPr lang="ja-JP" altLang="en-US" sz="2200" b="0">
                <a:solidFill>
                  <a:srgbClr val="8C8C8C"/>
                </a:solidFill>
                <a:latin typeface="Meiryo"/>
                <a:ea typeface="Meiryo"/>
                <a:cs typeface="Meiryo"/>
              </a:rPr>
              <a:t>※ </a:t>
            </a:r>
            <a:r>
              <a:rPr lang="ja-JP" altLang="en-US" sz="2200">
                <a:solidFill>
                  <a:srgbClr val="8C8C8C"/>
                </a:solidFill>
                <a:latin typeface="Meiryo"/>
                <a:ea typeface="Meiryo"/>
                <a:cs typeface="Meiryo"/>
              </a:rPr>
              <a:t>計算モデルから</a:t>
            </a:r>
            <a:r>
              <a:rPr lang="ja-JP" altLang="en-US" sz="2200" b="0">
                <a:solidFill>
                  <a:srgbClr val="8C8C8C"/>
                </a:solidFill>
                <a:latin typeface="Meiryo"/>
                <a:ea typeface="Meiryo"/>
                <a:cs typeface="Meiryo"/>
              </a:rPr>
              <a:t>の外挿</a:t>
            </a:r>
            <a:endParaRPr lang="ja-JP" altLang="en-US" sz="2200" b="0" dirty="0">
              <a:solidFill>
                <a:srgbClr val="8C8C8C"/>
              </a:solidFill>
              <a:latin typeface="Meiryo"/>
              <a:ea typeface="Meiryo"/>
              <a:cs typeface="Meiryo"/>
            </a:endParaRPr>
          </a:p>
        </p:txBody>
      </p:sp>
      <p:grpSp>
        <p:nvGrpSpPr>
          <p:cNvPr id="6" name="グループ化 5">
            <a:extLst>
              <a:ext uri="{FF2B5EF4-FFF2-40B4-BE49-F238E27FC236}">
                <a16:creationId xmlns:a16="http://schemas.microsoft.com/office/drawing/2014/main" id="{F8DC659E-F481-D246-F1F4-84BF134878FE}"/>
              </a:ext>
            </a:extLst>
          </p:cNvPr>
          <p:cNvGrpSpPr/>
          <p:nvPr/>
        </p:nvGrpSpPr>
        <p:grpSpPr>
          <a:xfrm>
            <a:off x="926123" y="1812266"/>
            <a:ext cx="6506310" cy="3294252"/>
            <a:chOff x="1515934" y="3429000"/>
            <a:chExt cx="2128769" cy="1044184"/>
          </a:xfrm>
        </p:grpSpPr>
        <p:pic>
          <p:nvPicPr>
            <p:cNvPr id="3" name="図 2">
              <a:extLst>
                <a:ext uri="{FF2B5EF4-FFF2-40B4-BE49-F238E27FC236}">
                  <a16:creationId xmlns:a16="http://schemas.microsoft.com/office/drawing/2014/main" id="{68BAC6D6-AFF7-91F1-D127-4A1338A9238D}"/>
                </a:ext>
              </a:extLst>
            </p:cNvPr>
            <p:cNvPicPr>
              <a:picLocks noChangeAspect="1"/>
            </p:cNvPicPr>
            <p:nvPr/>
          </p:nvPicPr>
          <p:blipFill>
            <a:blip r:embed="rId3"/>
            <a:srcRect r="90696"/>
            <a:stretch>
              <a:fillRect/>
            </a:stretch>
          </p:blipFill>
          <p:spPr>
            <a:xfrm>
              <a:off x="1515934" y="3429000"/>
              <a:ext cx="723173" cy="1044184"/>
            </a:xfrm>
            <a:prstGeom prst="rect">
              <a:avLst/>
            </a:prstGeom>
          </p:spPr>
        </p:pic>
        <p:pic>
          <p:nvPicPr>
            <p:cNvPr id="4" name="図 3">
              <a:extLst>
                <a:ext uri="{FF2B5EF4-FFF2-40B4-BE49-F238E27FC236}">
                  <a16:creationId xmlns:a16="http://schemas.microsoft.com/office/drawing/2014/main" id="{52CDD66F-2601-0627-925D-D72C2AC987B4}"/>
                </a:ext>
              </a:extLst>
            </p:cNvPr>
            <p:cNvPicPr>
              <a:picLocks noChangeAspect="1"/>
            </p:cNvPicPr>
            <p:nvPr/>
          </p:nvPicPr>
          <p:blipFill>
            <a:blip r:embed="rId3"/>
            <a:srcRect l="81916"/>
            <a:stretch>
              <a:fillRect/>
            </a:stretch>
          </p:blipFill>
          <p:spPr>
            <a:xfrm>
              <a:off x="2239107" y="3429000"/>
              <a:ext cx="1405596" cy="1044184"/>
            </a:xfrm>
            <a:prstGeom prst="rect">
              <a:avLst/>
            </a:prstGeom>
          </p:spPr>
        </p:pic>
      </p:grpSp>
      <p:sp>
        <p:nvSpPr>
          <p:cNvPr id="18" name="Rounded Rectangle 29">
            <a:extLst>
              <a:ext uri="{FF2B5EF4-FFF2-40B4-BE49-F238E27FC236}">
                <a16:creationId xmlns:a16="http://schemas.microsoft.com/office/drawing/2014/main" id="{5B32805A-91E7-52DA-14E9-C0BC5E99A850}"/>
              </a:ext>
            </a:extLst>
          </p:cNvPr>
          <p:cNvSpPr/>
          <p:nvPr/>
        </p:nvSpPr>
        <p:spPr>
          <a:xfrm>
            <a:off x="7610395" y="3290532"/>
            <a:ext cx="4371297" cy="1325562"/>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r>
              <a:rPr lang="ja-JP" altLang="en-US" sz="2400" b="1">
                <a:solidFill>
                  <a:schemeClr val="tx1"/>
                </a:solidFill>
                <a:latin typeface="Meiryo"/>
                <a:ea typeface="Meiryo"/>
                <a:cs typeface="Meiryo"/>
              </a:rPr>
              <a:t>収縮力↑→ 立ち上がり勾配↑</a:t>
            </a:r>
            <a:endParaRPr lang="en-US" altLang="ja-JP" sz="2400" b="1" dirty="0">
              <a:solidFill>
                <a:schemeClr val="tx1"/>
              </a:solidFill>
              <a:latin typeface="Meiryo"/>
              <a:ea typeface="Meiryo"/>
              <a:cs typeface="Meiryo"/>
            </a:endParaRPr>
          </a:p>
          <a:p>
            <a:pPr algn="ctr"/>
            <a:r>
              <a:rPr lang="ja-JP" altLang="en-US" sz="2400" b="1">
                <a:solidFill>
                  <a:schemeClr val="tx1"/>
                </a:solidFill>
                <a:latin typeface="Meiryo"/>
                <a:ea typeface="Meiryo"/>
                <a:cs typeface="Meiryo"/>
              </a:rPr>
              <a:t>→ 前進波が早く・尖鋭化。</a:t>
            </a:r>
            <a:endParaRPr lang="ja-JP" altLang="en-US" sz="2400" b="1" dirty="0">
              <a:solidFill>
                <a:schemeClr val="tx1"/>
              </a:solidFill>
              <a:latin typeface="Meiryo"/>
              <a:ea typeface="Meiryo"/>
              <a:cs typeface="Meiryo"/>
            </a:endParaRPr>
          </a:p>
        </p:txBody>
      </p:sp>
      <p:sp>
        <p:nvSpPr>
          <p:cNvPr id="64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13. Pagoulatou 2021　／　14. Piccioli 2022</a:t>
            </a:r>
          </a:p>
        </p:txBody>
      </p:sp>
      <p:sp>
        <p:nvSpPr>
          <p:cNvPr id="64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41/118</a:t>
            </a:r>
          </a:p>
        </p:txBody>
      </p:sp>
      <p:sp>
        <p:nvSpPr>
          <p:cNvPr id="645"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646"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647"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648"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649"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650"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359940460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827E2-CB29-6C3A-54EF-2F3CF659D0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AB4B2C-40F7-9B11-9106-6C7BA8C92E96}"/>
              </a:ext>
            </a:extLst>
          </p:cNvPr>
          <p:cNvSpPr>
            <a:spLocks noGrp="1"/>
          </p:cNvSpPr>
          <p:nvPr>
            <p:ph type="title"/>
          </p:nvPr>
        </p:nvSpPr>
        <p:spPr/>
        <p:txBody>
          <a:bodyPr>
            <a:normAutofit/>
          </a:bodyPr>
          <a:lstStyle/>
          <a:p>
            <a:pPr algn="l"/>
            <a:r>
              <a:rPr sz="4600" dirty="0">
                <a:latin typeface="Meiryo"/>
                <a:ea typeface="Meiryo"/>
                <a:cs typeface="Meiryo"/>
              </a:rPr>
              <a:t>2.2.4  心収縮力</a:t>
            </a:r>
          </a:p>
        </p:txBody>
      </p:sp>
      <p:sp>
        <p:nvSpPr>
          <p:cNvPr id="642" name="cap2">
            <a:extLst>
              <a:ext uri="{FF2B5EF4-FFF2-40B4-BE49-F238E27FC236}">
                <a16:creationId xmlns:a16="http://schemas.microsoft.com/office/drawing/2014/main" id="{2BDAAE34-6C1B-7AD6-FE22-745AD7543112}"/>
              </a:ext>
            </a:extLst>
          </p:cNvPr>
          <p:cNvSpPr txBox="1"/>
          <p:nvPr/>
        </p:nvSpPr>
        <p:spPr>
          <a:xfrm>
            <a:off x="4722800" y="4834402"/>
            <a:ext cx="11134389" cy="468327"/>
          </a:xfrm>
          <a:prstGeom prst="rect">
            <a:avLst/>
          </a:prstGeom>
          <a:noFill/>
        </p:spPr>
        <p:txBody>
          <a:bodyPr wrap="square" lIns="0" tIns="0" rIns="0" bIns="0" anchor="t">
            <a:noAutofit/>
          </a:bodyPr>
          <a:lstStyle/>
          <a:p>
            <a:pPr algn="ctr"/>
            <a:r>
              <a:rPr lang="ja-JP" altLang="en-US" sz="2200" b="0">
                <a:solidFill>
                  <a:srgbClr val="8C8C8C"/>
                </a:solidFill>
                <a:latin typeface="Meiryo"/>
                <a:ea typeface="Meiryo"/>
                <a:cs typeface="Meiryo"/>
              </a:rPr>
              <a:t>※ </a:t>
            </a:r>
            <a:r>
              <a:rPr lang="ja-JP" altLang="en-US" sz="2200">
                <a:solidFill>
                  <a:srgbClr val="8C8C8C"/>
                </a:solidFill>
                <a:latin typeface="Meiryo"/>
                <a:ea typeface="Meiryo"/>
                <a:cs typeface="Meiryo"/>
              </a:rPr>
              <a:t>計算モデルから</a:t>
            </a:r>
            <a:r>
              <a:rPr lang="ja-JP" altLang="en-US" sz="2200" b="0">
                <a:solidFill>
                  <a:srgbClr val="8C8C8C"/>
                </a:solidFill>
                <a:latin typeface="Meiryo"/>
                <a:ea typeface="Meiryo"/>
                <a:cs typeface="Meiryo"/>
              </a:rPr>
              <a:t>の外挿</a:t>
            </a:r>
            <a:endParaRPr lang="ja-JP" altLang="en-US" sz="2200" b="0" dirty="0">
              <a:solidFill>
                <a:srgbClr val="8C8C8C"/>
              </a:solidFill>
              <a:latin typeface="Meiryo"/>
              <a:ea typeface="Meiryo"/>
              <a:cs typeface="Meiryo"/>
            </a:endParaRPr>
          </a:p>
        </p:txBody>
      </p:sp>
      <p:grpSp>
        <p:nvGrpSpPr>
          <p:cNvPr id="6" name="グループ化 5">
            <a:extLst>
              <a:ext uri="{FF2B5EF4-FFF2-40B4-BE49-F238E27FC236}">
                <a16:creationId xmlns:a16="http://schemas.microsoft.com/office/drawing/2014/main" id="{F81A316D-FD0D-D887-2EA0-3CFE25CEB391}"/>
              </a:ext>
            </a:extLst>
          </p:cNvPr>
          <p:cNvGrpSpPr/>
          <p:nvPr/>
        </p:nvGrpSpPr>
        <p:grpSpPr>
          <a:xfrm>
            <a:off x="926123" y="1812266"/>
            <a:ext cx="6506310" cy="3294252"/>
            <a:chOff x="1515934" y="3429000"/>
            <a:chExt cx="2128769" cy="1044184"/>
          </a:xfrm>
        </p:grpSpPr>
        <p:pic>
          <p:nvPicPr>
            <p:cNvPr id="3" name="図 2">
              <a:extLst>
                <a:ext uri="{FF2B5EF4-FFF2-40B4-BE49-F238E27FC236}">
                  <a16:creationId xmlns:a16="http://schemas.microsoft.com/office/drawing/2014/main" id="{850F751C-6284-6659-FF2E-19D1C159CC76}"/>
                </a:ext>
              </a:extLst>
            </p:cNvPr>
            <p:cNvPicPr>
              <a:picLocks noChangeAspect="1"/>
            </p:cNvPicPr>
            <p:nvPr/>
          </p:nvPicPr>
          <p:blipFill>
            <a:blip r:embed="rId3"/>
            <a:srcRect r="90696"/>
            <a:stretch>
              <a:fillRect/>
            </a:stretch>
          </p:blipFill>
          <p:spPr>
            <a:xfrm>
              <a:off x="1515934" y="3429000"/>
              <a:ext cx="723173" cy="1044184"/>
            </a:xfrm>
            <a:prstGeom prst="rect">
              <a:avLst/>
            </a:prstGeom>
          </p:spPr>
        </p:pic>
        <p:pic>
          <p:nvPicPr>
            <p:cNvPr id="4" name="図 3">
              <a:extLst>
                <a:ext uri="{FF2B5EF4-FFF2-40B4-BE49-F238E27FC236}">
                  <a16:creationId xmlns:a16="http://schemas.microsoft.com/office/drawing/2014/main" id="{808CDE7B-3AC6-DB22-8B0D-F28819F1EFAF}"/>
                </a:ext>
              </a:extLst>
            </p:cNvPr>
            <p:cNvPicPr>
              <a:picLocks noChangeAspect="1"/>
            </p:cNvPicPr>
            <p:nvPr/>
          </p:nvPicPr>
          <p:blipFill>
            <a:blip r:embed="rId3"/>
            <a:srcRect l="81916"/>
            <a:stretch>
              <a:fillRect/>
            </a:stretch>
          </p:blipFill>
          <p:spPr>
            <a:xfrm>
              <a:off x="2239107" y="3429000"/>
              <a:ext cx="1405596" cy="1044184"/>
            </a:xfrm>
            <a:prstGeom prst="rect">
              <a:avLst/>
            </a:prstGeom>
          </p:spPr>
        </p:pic>
      </p:grpSp>
      <p:sp>
        <p:nvSpPr>
          <p:cNvPr id="18" name="Rounded Rectangle 29">
            <a:extLst>
              <a:ext uri="{FF2B5EF4-FFF2-40B4-BE49-F238E27FC236}">
                <a16:creationId xmlns:a16="http://schemas.microsoft.com/office/drawing/2014/main" id="{17930FC6-DA6D-B19A-0A0A-A79B48B7D69E}"/>
              </a:ext>
            </a:extLst>
          </p:cNvPr>
          <p:cNvSpPr/>
          <p:nvPr/>
        </p:nvSpPr>
        <p:spPr>
          <a:xfrm>
            <a:off x="7610395" y="3290532"/>
            <a:ext cx="4371297" cy="1325562"/>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r>
              <a:rPr lang="ja-JP" altLang="en-US" sz="2400" b="1">
                <a:solidFill>
                  <a:schemeClr val="tx1"/>
                </a:solidFill>
                <a:latin typeface="Meiryo"/>
                <a:ea typeface="Meiryo"/>
                <a:cs typeface="Meiryo"/>
              </a:rPr>
              <a:t>収縮力↑→ 立ち上がり勾配↑</a:t>
            </a:r>
            <a:endParaRPr lang="en-US" altLang="ja-JP" sz="2400" b="1" dirty="0">
              <a:solidFill>
                <a:schemeClr val="tx1"/>
              </a:solidFill>
              <a:latin typeface="Meiryo"/>
              <a:ea typeface="Meiryo"/>
              <a:cs typeface="Meiryo"/>
            </a:endParaRPr>
          </a:p>
          <a:p>
            <a:pPr algn="ctr"/>
            <a:r>
              <a:rPr lang="ja-JP" altLang="en-US" sz="2400" b="1">
                <a:solidFill>
                  <a:schemeClr val="tx1"/>
                </a:solidFill>
                <a:latin typeface="Meiryo"/>
                <a:ea typeface="Meiryo"/>
                <a:cs typeface="Meiryo"/>
              </a:rPr>
              <a:t>→ 前進波が早く・尖鋭化。</a:t>
            </a:r>
            <a:endParaRPr lang="ja-JP" altLang="en-US" sz="2400" b="1" dirty="0">
              <a:solidFill>
                <a:schemeClr val="tx1"/>
              </a:solidFill>
              <a:latin typeface="Meiryo"/>
              <a:ea typeface="Meiryo"/>
              <a:cs typeface="Meiryo"/>
            </a:endParaRPr>
          </a:p>
        </p:txBody>
      </p:sp>
      <p:sp>
        <p:nvSpPr>
          <p:cNvPr id="19" name="テキスト ボックス 18">
            <a:extLst>
              <a:ext uri="{FF2B5EF4-FFF2-40B4-BE49-F238E27FC236}">
                <a16:creationId xmlns:a16="http://schemas.microsoft.com/office/drawing/2014/main" id="{148B0A2B-1259-1A22-B626-B10B9B6E4E91}"/>
              </a:ext>
            </a:extLst>
          </p:cNvPr>
          <p:cNvSpPr txBox="1"/>
          <p:nvPr/>
        </p:nvSpPr>
        <p:spPr>
          <a:xfrm>
            <a:off x="2101156" y="5386527"/>
            <a:ext cx="7989688" cy="1065676"/>
          </a:xfrm>
          <a:prstGeom prst="rect">
            <a:avLst/>
          </a:prstGeom>
          <a:noFill/>
        </p:spPr>
        <p:txBody>
          <a:bodyPr wrap="none" rtlCol="0">
            <a:spAutoFit/>
          </a:bodyPr>
          <a:lstStyle/>
          <a:p>
            <a:pPr>
              <a:lnSpc>
                <a:spcPct val="150000"/>
              </a:lnSpc>
            </a:pPr>
            <a:r>
              <a:rPr lang="en-US" altLang="ja-JP" sz="2200" dirty="0"/>
              <a:t>PPG</a:t>
            </a:r>
            <a:r>
              <a:rPr lang="ja-JP" altLang="en-US" sz="2200"/>
              <a:t>波形の立ち上がり勾配は末梢血管抵抗にも影響を受ける。</a:t>
            </a:r>
            <a:endParaRPr lang="en-US" altLang="ja-JP" sz="2200" dirty="0"/>
          </a:p>
          <a:p>
            <a:pPr>
              <a:lnSpc>
                <a:spcPct val="150000"/>
              </a:lnSpc>
            </a:pPr>
            <a:r>
              <a:rPr kumimoji="1" lang="ja-JP" altLang="en-US" sz="2200"/>
              <a:t>単一の</a:t>
            </a:r>
            <a:r>
              <a:rPr kumimoji="1" lang="en-US" altLang="ja-JP" sz="2200" dirty="0"/>
              <a:t>PPG</a:t>
            </a:r>
            <a:r>
              <a:rPr kumimoji="1" lang="ja-JP" altLang="en-US" sz="2200"/>
              <a:t>信号から収縮性のみを分離するのは技術的に困難。</a:t>
            </a:r>
          </a:p>
        </p:txBody>
      </p:sp>
      <p:sp>
        <p:nvSpPr>
          <p:cNvPr id="64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13. Pagoulatou 2021　／　14. Piccioli 2022</a:t>
            </a:r>
          </a:p>
        </p:txBody>
      </p:sp>
      <p:sp>
        <p:nvSpPr>
          <p:cNvPr id="64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42/118</a:t>
            </a:r>
          </a:p>
        </p:txBody>
      </p:sp>
      <p:sp>
        <p:nvSpPr>
          <p:cNvPr id="645"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646"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647"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648"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649"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650"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16623708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sz="4600" dirty="0">
                <a:latin typeface="Meiryo"/>
                <a:ea typeface="Meiryo"/>
                <a:cs typeface="Meiryo"/>
              </a:rPr>
              <a:t>2.2.5  心拍数</a:t>
            </a:r>
          </a:p>
        </p:txBody>
      </p:sp>
      <p:pic>
        <p:nvPicPr>
          <p:cNvPr id="3" name="図 2">
            <a:extLst>
              <a:ext uri="{FF2B5EF4-FFF2-40B4-BE49-F238E27FC236}">
                <a16:creationId xmlns:a16="http://schemas.microsoft.com/office/drawing/2014/main" id="{4B243921-2DC2-956B-8955-4BE8E945D2FF}"/>
              </a:ext>
            </a:extLst>
          </p:cNvPr>
          <p:cNvPicPr>
            <a:picLocks noChangeAspect="1"/>
          </p:cNvPicPr>
          <p:nvPr/>
        </p:nvPicPr>
        <p:blipFill>
          <a:blip r:embed="rId3"/>
          <a:srcRect l="71670" t="12610"/>
          <a:stretch>
            <a:fillRect/>
          </a:stretch>
        </p:blipFill>
        <p:spPr>
          <a:xfrm>
            <a:off x="2209800" y="1595154"/>
            <a:ext cx="4433712" cy="4041598"/>
          </a:xfrm>
          <a:prstGeom prst="rect">
            <a:avLst/>
          </a:prstGeom>
        </p:spPr>
      </p:pic>
      <p:pic>
        <p:nvPicPr>
          <p:cNvPr id="6" name="図 5">
            <a:extLst>
              <a:ext uri="{FF2B5EF4-FFF2-40B4-BE49-F238E27FC236}">
                <a16:creationId xmlns:a16="http://schemas.microsoft.com/office/drawing/2014/main" id="{0D6441C1-E3C6-DC13-81F3-F5CA72815B3F}"/>
              </a:ext>
            </a:extLst>
          </p:cNvPr>
          <p:cNvPicPr>
            <a:picLocks noChangeAspect="1"/>
          </p:cNvPicPr>
          <p:nvPr/>
        </p:nvPicPr>
        <p:blipFill rotWithShape="1">
          <a:blip r:embed="rId3"/>
          <a:srcRect l="1877" t="44555" r="91446" b="35539"/>
          <a:stretch>
            <a:fillRect/>
          </a:stretch>
        </p:blipFill>
        <p:spPr>
          <a:xfrm>
            <a:off x="838200" y="3397458"/>
            <a:ext cx="1044979" cy="920578"/>
          </a:xfrm>
          <a:prstGeom prst="rect">
            <a:avLst/>
          </a:prstGeom>
        </p:spPr>
      </p:pic>
      <p:sp>
        <p:nvSpPr>
          <p:cNvPr id="9014" name="legend"/>
          <p:cNvSpPr txBox="1"/>
          <p:nvPr/>
        </p:nvSpPr>
        <p:spPr>
          <a:xfrm>
            <a:off x="7950519" y="2317256"/>
            <a:ext cx="3168000" cy="1548000"/>
          </a:xfrm>
          <a:prstGeom prst="rect">
            <a:avLst/>
          </a:prstGeom>
          <a:noFill/>
        </p:spPr>
        <p:txBody>
          <a:bodyPr wrap="square" lIns="0" tIns="0" rIns="0" bIns="0" anchor="t">
            <a:noAutofit/>
          </a:bodyPr>
          <a:lstStyle/>
          <a:p>
            <a:pPr algn="l"/>
            <a:r>
              <a:rPr lang="ja-JP" altLang="en-US" sz="2400" b="1" dirty="0">
                <a:solidFill>
                  <a:srgbClr val="0000FF"/>
                </a:solidFill>
                <a:latin typeface="Meiryo"/>
                <a:ea typeface="Meiryo"/>
                <a:cs typeface="Meiryo"/>
              </a:rPr>
              <a:t>■ </a:t>
            </a:r>
            <a:r>
              <a:rPr lang="ja-JP" altLang="en-US" sz="2400" b="1" dirty="0">
                <a:solidFill>
                  <a:srgbClr val="262626"/>
                </a:solidFill>
                <a:latin typeface="Meiryo"/>
                <a:ea typeface="Meiryo"/>
                <a:cs typeface="Meiryo"/>
              </a:rPr>
              <a:t>高心拍  +1SD</a:t>
            </a:r>
          </a:p>
          <a:p>
            <a:pPr algn="l"/>
            <a:r>
              <a:rPr lang="ja-JP" altLang="en-US" sz="2400" b="1" dirty="0">
                <a:solidFill>
                  <a:srgbClr val="000000"/>
                </a:solidFill>
                <a:latin typeface="Meiryo"/>
                <a:ea typeface="Meiryo"/>
                <a:cs typeface="Meiryo"/>
              </a:rPr>
              <a:t>■ </a:t>
            </a:r>
            <a:r>
              <a:rPr lang="ja-JP" altLang="en-US" sz="2400" b="1" dirty="0">
                <a:solidFill>
                  <a:srgbClr val="262626"/>
                </a:solidFill>
                <a:latin typeface="Meiryo"/>
                <a:ea typeface="Meiryo"/>
                <a:cs typeface="Meiryo"/>
              </a:rPr>
              <a:t>基準</a:t>
            </a:r>
          </a:p>
          <a:p>
            <a:pPr algn="l"/>
            <a:r>
              <a:rPr lang="ja-JP" altLang="en-US" sz="2400" b="1" dirty="0">
                <a:solidFill>
                  <a:srgbClr val="FF0000"/>
                </a:solidFill>
                <a:latin typeface="Meiryo"/>
                <a:ea typeface="Meiryo"/>
                <a:cs typeface="Meiryo"/>
              </a:rPr>
              <a:t>■ </a:t>
            </a:r>
            <a:r>
              <a:rPr lang="ja-JP" altLang="en-US" sz="2400" b="1" dirty="0">
                <a:solidFill>
                  <a:srgbClr val="262626"/>
                </a:solidFill>
                <a:latin typeface="Meiryo"/>
                <a:ea typeface="Meiryo"/>
                <a:cs typeface="Meiryo"/>
              </a:rPr>
              <a:t>低心拍  −1SD</a:t>
            </a:r>
          </a:p>
        </p:txBody>
      </p:sp>
      <p:sp>
        <p:nvSpPr>
          <p:cNvPr id="5" name="cap2">
            <a:extLst>
              <a:ext uri="{FF2B5EF4-FFF2-40B4-BE49-F238E27FC236}">
                <a16:creationId xmlns:a16="http://schemas.microsoft.com/office/drawing/2014/main" id="{E23ACC53-4CC6-9721-14E9-8A78AC97A7BE}"/>
              </a:ext>
            </a:extLst>
          </p:cNvPr>
          <p:cNvSpPr txBox="1"/>
          <p:nvPr/>
        </p:nvSpPr>
        <p:spPr>
          <a:xfrm>
            <a:off x="3927324" y="5209448"/>
            <a:ext cx="11134389" cy="468327"/>
          </a:xfrm>
          <a:prstGeom prst="rect">
            <a:avLst/>
          </a:prstGeom>
          <a:noFill/>
        </p:spPr>
        <p:txBody>
          <a:bodyPr wrap="square" lIns="0" tIns="0" rIns="0" bIns="0" anchor="t">
            <a:noAutofit/>
          </a:bodyPr>
          <a:lstStyle/>
          <a:p>
            <a:pPr algn="ctr"/>
            <a:r>
              <a:rPr lang="ja-JP" altLang="en-US" b="0">
                <a:solidFill>
                  <a:srgbClr val="8C8C8C"/>
                </a:solidFill>
                <a:latin typeface="Meiryo"/>
                <a:ea typeface="Meiryo"/>
                <a:cs typeface="Meiryo"/>
              </a:rPr>
              <a:t>※ 計算モデル</a:t>
            </a:r>
            <a:r>
              <a:rPr lang="ja-JP" altLang="en-US" b="0" dirty="0">
                <a:solidFill>
                  <a:srgbClr val="8C8C8C"/>
                </a:solidFill>
                <a:latin typeface="Meiryo"/>
                <a:ea typeface="Meiryo"/>
                <a:cs typeface="Meiryo"/>
              </a:rPr>
              <a:t>から</a:t>
            </a:r>
            <a:r>
              <a:rPr lang="ja-JP" altLang="en-US" b="0">
                <a:solidFill>
                  <a:srgbClr val="8C8C8C"/>
                </a:solidFill>
                <a:latin typeface="Meiryo"/>
                <a:ea typeface="Meiryo"/>
                <a:cs typeface="Meiryo"/>
              </a:rPr>
              <a:t>の外挿</a:t>
            </a:r>
            <a:endParaRPr lang="ja-JP" altLang="en-US" b="0" dirty="0">
              <a:solidFill>
                <a:srgbClr val="8C8C8C"/>
              </a:solidFill>
              <a:latin typeface="Meiryo"/>
              <a:ea typeface="Meiryo"/>
              <a:cs typeface="Meiryo"/>
            </a:endParaRPr>
          </a:p>
        </p:txBody>
      </p:sp>
      <p:sp>
        <p:nvSpPr>
          <p:cNvPr id="7" name="Rounded Rectangle 29">
            <a:extLst>
              <a:ext uri="{FF2B5EF4-FFF2-40B4-BE49-F238E27FC236}">
                <a16:creationId xmlns:a16="http://schemas.microsoft.com/office/drawing/2014/main" id="{934C5BEC-F28D-9BF0-28B7-FD36A2F15742}"/>
              </a:ext>
            </a:extLst>
          </p:cNvPr>
          <p:cNvSpPr/>
          <p:nvPr/>
        </p:nvSpPr>
        <p:spPr>
          <a:xfrm>
            <a:off x="876000" y="5754806"/>
            <a:ext cx="10440000" cy="54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r>
              <a:rPr lang="en-US" altLang="ja-JP" sz="2400" b="1" dirty="0">
                <a:solidFill>
                  <a:schemeClr val="tx1"/>
                </a:solidFill>
              </a:rPr>
              <a:t>HR </a:t>
            </a:r>
            <a:r>
              <a:rPr lang="ja-JP" altLang="en-US" sz="2400" b="1">
                <a:solidFill>
                  <a:schemeClr val="tx1"/>
                </a:solidFill>
              </a:rPr>
              <a:t>↑ → 左室収縮時間</a:t>
            </a:r>
            <a:r>
              <a:rPr lang="en-US" altLang="ja-JP" sz="2400" b="1" dirty="0">
                <a:solidFill>
                  <a:schemeClr val="tx1"/>
                </a:solidFill>
              </a:rPr>
              <a:t> </a:t>
            </a:r>
            <a:r>
              <a:rPr lang="ja-JP" altLang="en-US" sz="2400" b="1">
                <a:solidFill>
                  <a:schemeClr val="tx1"/>
                </a:solidFill>
              </a:rPr>
              <a:t>↓ → 前進波幅</a:t>
            </a:r>
            <a:r>
              <a:rPr lang="en-US" altLang="ja-JP" sz="2400" b="1" dirty="0">
                <a:solidFill>
                  <a:schemeClr val="tx1"/>
                </a:solidFill>
              </a:rPr>
              <a:t> </a:t>
            </a:r>
            <a:r>
              <a:rPr lang="ja-JP" altLang="en-US" sz="2400" b="1">
                <a:solidFill>
                  <a:schemeClr val="tx1"/>
                </a:solidFill>
              </a:rPr>
              <a:t>↓</a:t>
            </a:r>
            <a:r>
              <a:rPr lang="en-US" altLang="ja-JP" sz="2400" b="1" dirty="0">
                <a:solidFill>
                  <a:schemeClr val="tx1"/>
                </a:solidFill>
              </a:rPr>
              <a:t> </a:t>
            </a:r>
            <a:r>
              <a:rPr lang="ja-JP" altLang="en-US" sz="2400" b="1">
                <a:solidFill>
                  <a:schemeClr val="tx1"/>
                </a:solidFill>
              </a:rPr>
              <a:t>→</a:t>
            </a:r>
            <a:r>
              <a:rPr lang="en-US" altLang="ja-JP" sz="2400" b="1" dirty="0">
                <a:solidFill>
                  <a:schemeClr val="tx1"/>
                </a:solidFill>
              </a:rPr>
              <a:t> </a:t>
            </a:r>
            <a:r>
              <a:rPr lang="ja-JP" altLang="en-US" sz="2400" b="1">
                <a:solidFill>
                  <a:schemeClr val="tx1"/>
                </a:solidFill>
              </a:rPr>
              <a:t>反射波振幅</a:t>
            </a:r>
            <a:r>
              <a:rPr lang="en-US" altLang="ja-JP" sz="2400" b="1" dirty="0">
                <a:solidFill>
                  <a:schemeClr val="tx1"/>
                </a:solidFill>
              </a:rPr>
              <a:t> </a:t>
            </a:r>
            <a:r>
              <a:rPr lang="ja-JP" altLang="en-US" sz="2400" b="1">
                <a:solidFill>
                  <a:schemeClr val="tx1"/>
                </a:solidFill>
              </a:rPr>
              <a:t>↓</a:t>
            </a:r>
          </a:p>
        </p:txBody>
      </p:sp>
      <p:sp>
        <p:nvSpPr>
          <p:cNvPr id="9015"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15. Wilkinson 2000　／　16. Hashimoto 2002　／　17. Charlton 2019　／　18. Md Lazim 2020</a:t>
            </a:r>
          </a:p>
        </p:txBody>
      </p:sp>
      <p:sp>
        <p:nvSpPr>
          <p:cNvPr id="901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43/118</a:t>
            </a:r>
          </a:p>
        </p:txBody>
      </p:sp>
      <p:sp>
        <p:nvSpPr>
          <p:cNvPr id="9017"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9018"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9019"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9020"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9021"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9022"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sz="4600" dirty="0">
                <a:latin typeface="Meiryo"/>
                <a:ea typeface="Meiryo"/>
                <a:cs typeface="Meiryo"/>
              </a:rPr>
              <a:t>2.2.6  波形変化まとめ</a:t>
            </a:r>
          </a:p>
        </p:txBody>
      </p:sp>
      <p:sp>
        <p:nvSpPr>
          <p:cNvPr id="18" name="h_因子"/>
          <p:cNvSpPr txBox="1"/>
          <p:nvPr/>
        </p:nvSpPr>
        <p:spPr>
          <a:xfrm>
            <a:off x="548640" y="1793288"/>
            <a:ext cx="2368296" cy="420624"/>
          </a:xfrm>
          <a:prstGeom prst="rect">
            <a:avLst/>
          </a:prstGeom>
          <a:noFill/>
        </p:spPr>
        <p:txBody>
          <a:bodyPr wrap="square" lIns="0" tIns="0" rIns="0" bIns="0" anchor="ctr">
            <a:spAutoFit/>
          </a:bodyPr>
          <a:lstStyle/>
          <a:p>
            <a:pPr algn="ctr"/>
            <a:r>
              <a:rPr sz="2200" b="1">
                <a:solidFill>
                  <a:srgbClr val="262626"/>
                </a:solidFill>
                <a:latin typeface="Meiryo"/>
                <a:ea typeface="Meiryo"/>
                <a:cs typeface="Meiryo"/>
              </a:rPr>
              <a:t>因子</a:t>
            </a:r>
          </a:p>
        </p:txBody>
      </p:sp>
      <p:sp>
        <p:nvSpPr>
          <p:cNvPr id="19" name="h_波形"/>
          <p:cNvSpPr txBox="1"/>
          <p:nvPr/>
        </p:nvSpPr>
        <p:spPr>
          <a:xfrm>
            <a:off x="3054095" y="1834323"/>
            <a:ext cx="2971801" cy="338554"/>
          </a:xfrm>
          <a:prstGeom prst="rect">
            <a:avLst/>
          </a:prstGeom>
          <a:noFill/>
        </p:spPr>
        <p:txBody>
          <a:bodyPr wrap="square" lIns="0" tIns="0" rIns="0" bIns="0" anchor="ctr">
            <a:spAutoFit/>
          </a:bodyPr>
          <a:lstStyle/>
          <a:p>
            <a:pPr algn="ctr"/>
            <a:r>
              <a:rPr sz="2200" b="1" dirty="0" err="1">
                <a:solidFill>
                  <a:srgbClr val="262626"/>
                </a:solidFill>
                <a:latin typeface="Meiryo"/>
                <a:ea typeface="Meiryo"/>
                <a:cs typeface="Meiryo"/>
              </a:rPr>
              <a:t>波形</a:t>
            </a:r>
            <a:r>
              <a:rPr lang="en-US" sz="2200" b="1" dirty="0">
                <a:solidFill>
                  <a:srgbClr val="262626"/>
                </a:solidFill>
                <a:latin typeface="Meiryo"/>
                <a:ea typeface="Meiryo"/>
                <a:cs typeface="Meiryo"/>
              </a:rPr>
              <a:t> </a:t>
            </a:r>
            <a:r>
              <a:rPr lang="en-US" sz="1600" dirty="0">
                <a:solidFill>
                  <a:srgbClr val="262626"/>
                </a:solidFill>
                <a:latin typeface="Meiryo"/>
                <a:ea typeface="Meiryo"/>
                <a:cs typeface="Meiryo"/>
              </a:rPr>
              <a:t>( </a:t>
            </a:r>
            <a:r>
              <a:rPr lang="ja-JP" altLang="en-US" sz="1600" b="1">
                <a:solidFill>
                  <a:srgbClr val="808080"/>
                </a:solidFill>
                <a:latin typeface="Meiryo"/>
                <a:ea typeface="Meiryo"/>
                <a:cs typeface="Meiryo"/>
              </a:rPr>
              <a:t>灰＝基準</a:t>
            </a:r>
            <a:r>
              <a:rPr lang="en-US" altLang="ja-JP" sz="1600" b="1" dirty="0">
                <a:solidFill>
                  <a:srgbClr val="808080"/>
                </a:solidFill>
                <a:latin typeface="Meiryo"/>
                <a:ea typeface="Meiryo"/>
                <a:cs typeface="Meiryo"/>
              </a:rPr>
              <a:t> </a:t>
            </a:r>
            <a:r>
              <a:rPr lang="ja-JP" altLang="en-US" sz="1600" b="1">
                <a:solidFill>
                  <a:srgbClr val="808080"/>
                </a:solidFill>
                <a:latin typeface="Meiryo"/>
                <a:ea typeface="Meiryo"/>
                <a:cs typeface="Meiryo"/>
              </a:rPr>
              <a:t>青＝因子</a:t>
            </a:r>
            <a:r>
              <a:rPr lang="ja-JP" altLang="en-US" sz="1600">
                <a:solidFill>
                  <a:srgbClr val="808080"/>
                </a:solidFill>
                <a:latin typeface="Meiryo"/>
                <a:ea typeface="Meiryo"/>
                <a:cs typeface="Meiryo"/>
              </a:rPr>
              <a:t>↑</a:t>
            </a:r>
            <a:r>
              <a:rPr lang="en-US" altLang="ja-JP" sz="1600" dirty="0">
                <a:solidFill>
                  <a:srgbClr val="262626"/>
                </a:solidFill>
                <a:latin typeface="Meiryo"/>
                <a:ea typeface="Meiryo"/>
                <a:cs typeface="Meiryo"/>
              </a:rPr>
              <a:t>)</a:t>
            </a:r>
            <a:endParaRPr sz="1600" dirty="0">
              <a:solidFill>
                <a:srgbClr val="262626"/>
              </a:solidFill>
              <a:latin typeface="Meiryo"/>
              <a:ea typeface="Meiryo"/>
              <a:cs typeface="Meiryo"/>
            </a:endParaRPr>
          </a:p>
        </p:txBody>
      </p:sp>
      <p:sp>
        <p:nvSpPr>
          <p:cNvPr id="20" name="h_変化"/>
          <p:cNvSpPr txBox="1"/>
          <p:nvPr/>
        </p:nvSpPr>
        <p:spPr>
          <a:xfrm>
            <a:off x="6025896" y="1834323"/>
            <a:ext cx="3291840" cy="338554"/>
          </a:xfrm>
          <a:prstGeom prst="rect">
            <a:avLst/>
          </a:prstGeom>
          <a:noFill/>
        </p:spPr>
        <p:txBody>
          <a:bodyPr wrap="square" lIns="0" tIns="0" rIns="0" bIns="0" anchor="ctr">
            <a:spAutoFit/>
          </a:bodyPr>
          <a:lstStyle/>
          <a:p>
            <a:pPr algn="ctr"/>
            <a:r>
              <a:rPr lang="ja-JP" altLang="en-US" sz="2200" b="1">
                <a:solidFill>
                  <a:srgbClr val="262626"/>
                </a:solidFill>
                <a:latin typeface="Meiryo"/>
                <a:ea typeface="Meiryo"/>
                <a:cs typeface="Meiryo"/>
              </a:rPr>
              <a:t>主な</a:t>
            </a:r>
            <a:r>
              <a:rPr sz="2200" b="1" dirty="0" err="1">
                <a:solidFill>
                  <a:srgbClr val="262626"/>
                </a:solidFill>
                <a:latin typeface="Meiryo"/>
                <a:ea typeface="Meiryo"/>
                <a:cs typeface="Meiryo"/>
              </a:rPr>
              <a:t>変化</a:t>
            </a:r>
            <a:r>
              <a:rPr lang="ja-JP" altLang="en-US" sz="2200" b="1">
                <a:solidFill>
                  <a:srgbClr val="262626"/>
                </a:solidFill>
                <a:latin typeface="Meiryo"/>
                <a:ea typeface="Meiryo"/>
                <a:cs typeface="Meiryo"/>
              </a:rPr>
              <a:t>対象</a:t>
            </a:r>
            <a:endParaRPr sz="2200" b="1" dirty="0">
              <a:solidFill>
                <a:srgbClr val="262626"/>
              </a:solidFill>
              <a:latin typeface="Meiryo"/>
              <a:ea typeface="Meiryo"/>
              <a:cs typeface="Meiryo"/>
            </a:endParaRPr>
          </a:p>
        </p:txBody>
      </p:sp>
      <p:sp>
        <p:nvSpPr>
          <p:cNvPr id="21" name="h_文献強度"/>
          <p:cNvSpPr txBox="1"/>
          <p:nvPr/>
        </p:nvSpPr>
        <p:spPr>
          <a:xfrm>
            <a:off x="9454896" y="1793288"/>
            <a:ext cx="2112264" cy="420624"/>
          </a:xfrm>
          <a:prstGeom prst="rect">
            <a:avLst/>
          </a:prstGeom>
          <a:noFill/>
        </p:spPr>
        <p:txBody>
          <a:bodyPr wrap="square" lIns="0" tIns="0" rIns="0" bIns="0" anchor="ctr">
            <a:spAutoFit/>
          </a:bodyPr>
          <a:lstStyle/>
          <a:p>
            <a:pPr algn="ctr"/>
            <a:r>
              <a:rPr sz="2200" b="1">
                <a:solidFill>
                  <a:srgbClr val="262626"/>
                </a:solidFill>
                <a:latin typeface="Meiryo"/>
                <a:ea typeface="Meiryo"/>
                <a:cs typeface="Meiryo"/>
              </a:rPr>
              <a:t>文献強度</a:t>
            </a:r>
          </a:p>
        </p:txBody>
      </p:sp>
      <p:sp>
        <p:nvSpPr>
          <p:cNvPr id="22" name="f0"/>
          <p:cNvSpPr/>
          <p:nvPr/>
        </p:nvSpPr>
        <p:spPr>
          <a:xfrm>
            <a:off x="548640" y="2287064"/>
            <a:ext cx="2368296" cy="676656"/>
          </a:xfrm>
          <a:prstGeom prst="roundRect">
            <a:avLst>
              <a:gd name="adj" fmla="val 4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dirty="0" err="1">
                <a:solidFill>
                  <a:srgbClr val="262626"/>
                </a:solidFill>
                <a:latin typeface="Meiryo"/>
                <a:ea typeface="Meiryo"/>
                <a:cs typeface="Meiryo"/>
              </a:rPr>
              <a:t>前負荷</a:t>
            </a:r>
            <a:r>
              <a:rPr sz="2200" b="1" dirty="0">
                <a:solidFill>
                  <a:srgbClr val="262626"/>
                </a:solidFill>
                <a:latin typeface="Meiryo"/>
                <a:ea typeface="Meiryo"/>
                <a:cs typeface="Meiryo"/>
              </a:rPr>
              <a:t> </a:t>
            </a:r>
          </a:p>
        </p:txBody>
      </p:sp>
      <p:sp>
        <p:nvSpPr>
          <p:cNvPr id="23" name="wbox0"/>
          <p:cNvSpPr/>
          <p:nvPr/>
        </p:nvSpPr>
        <p:spPr>
          <a:xfrm>
            <a:off x="3054096" y="2287064"/>
            <a:ext cx="2834640" cy="676656"/>
          </a:xfrm>
          <a:prstGeom prst="roundRect">
            <a:avLst>
              <a:gd name="adj" fmla="val 1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4" name="wbase0"/>
          <p:cNvCxnSpPr/>
          <p:nvPr/>
        </p:nvCxnSpPr>
        <p:spPr>
          <a:xfrm>
            <a:off x="3163824" y="2908856"/>
            <a:ext cx="2615184"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3" name="wg0"/>
          <p:cNvSpPr/>
          <p:nvPr/>
        </p:nvSpPr>
        <p:spPr>
          <a:xfrm>
            <a:off x="3163824" y="2529321"/>
            <a:ext cx="2615184" cy="379535"/>
          </a:xfrm>
          <a:custGeom>
            <a:avLst/>
            <a:gdLst/>
            <a:ahLst/>
            <a:cxnLst/>
            <a:rect l="l" t="t" r="r" b="b"/>
            <a:pathLst>
              <a:path w="2615184" h="379535">
                <a:moveTo>
                  <a:pt x="0" y="378955"/>
                </a:moveTo>
                <a:lnTo>
                  <a:pt x="14610" y="378673"/>
                </a:lnTo>
                <a:lnTo>
                  <a:pt x="29220" y="378271"/>
                </a:lnTo>
                <a:lnTo>
                  <a:pt x="43830" y="377702"/>
                </a:lnTo>
                <a:lnTo>
                  <a:pt x="58440" y="376912"/>
                </a:lnTo>
                <a:lnTo>
                  <a:pt x="73050" y="375828"/>
                </a:lnTo>
                <a:lnTo>
                  <a:pt x="87660" y="374360"/>
                </a:lnTo>
                <a:lnTo>
                  <a:pt x="102270" y="372401"/>
                </a:lnTo>
                <a:lnTo>
                  <a:pt x="116880" y="369821"/>
                </a:lnTo>
                <a:lnTo>
                  <a:pt x="131490" y="366474"/>
                </a:lnTo>
                <a:lnTo>
                  <a:pt x="146100" y="362190"/>
                </a:lnTo>
                <a:lnTo>
                  <a:pt x="160710" y="356787"/>
                </a:lnTo>
                <a:lnTo>
                  <a:pt x="175320" y="350072"/>
                </a:lnTo>
                <a:lnTo>
                  <a:pt x="189930" y="341847"/>
                </a:lnTo>
                <a:lnTo>
                  <a:pt x="204540" y="331923"/>
                </a:lnTo>
                <a:lnTo>
                  <a:pt x="219149" y="320133"/>
                </a:lnTo>
                <a:lnTo>
                  <a:pt x="233759" y="306343"/>
                </a:lnTo>
                <a:lnTo>
                  <a:pt x="248369" y="290469"/>
                </a:lnTo>
                <a:lnTo>
                  <a:pt x="262979" y="272496"/>
                </a:lnTo>
                <a:lnTo>
                  <a:pt x="277589" y="252492"/>
                </a:lnTo>
                <a:lnTo>
                  <a:pt x="292199" y="230617"/>
                </a:lnTo>
                <a:lnTo>
                  <a:pt x="306809" y="207139"/>
                </a:lnTo>
                <a:lnTo>
                  <a:pt x="321419" y="182433"/>
                </a:lnTo>
                <a:lnTo>
                  <a:pt x="336029" y="156978"/>
                </a:lnTo>
                <a:lnTo>
                  <a:pt x="350639" y="131346"/>
                </a:lnTo>
                <a:lnTo>
                  <a:pt x="365249" y="106187"/>
                </a:lnTo>
                <a:lnTo>
                  <a:pt x="379859" y="82202"/>
                </a:lnTo>
                <a:lnTo>
                  <a:pt x="394469" y="60109"/>
                </a:lnTo>
                <a:lnTo>
                  <a:pt x="409079" y="40612"/>
                </a:lnTo>
                <a:lnTo>
                  <a:pt x="423689" y="24358"/>
                </a:lnTo>
                <a:lnTo>
                  <a:pt x="438299" y="11907"/>
                </a:lnTo>
                <a:lnTo>
                  <a:pt x="452909" y="3693"/>
                </a:lnTo>
                <a:lnTo>
                  <a:pt x="467519" y="0"/>
                </a:lnTo>
                <a:lnTo>
                  <a:pt x="482129" y="947"/>
                </a:lnTo>
                <a:lnTo>
                  <a:pt x="496739" y="6474"/>
                </a:lnTo>
                <a:lnTo>
                  <a:pt x="511349" y="16351"/>
                </a:lnTo>
                <a:lnTo>
                  <a:pt x="525959" y="30187"/>
                </a:lnTo>
                <a:lnTo>
                  <a:pt x="540569" y="47457"/>
                </a:lnTo>
                <a:lnTo>
                  <a:pt x="555179" y="67528"/>
                </a:lnTo>
                <a:lnTo>
                  <a:pt x="569789" y="89699"/>
                </a:lnTo>
                <a:lnTo>
                  <a:pt x="584399" y="113234"/>
                </a:lnTo>
                <a:lnTo>
                  <a:pt x="599009" y="137403"/>
                </a:lnTo>
                <a:lnTo>
                  <a:pt x="613619" y="161511"/>
                </a:lnTo>
                <a:lnTo>
                  <a:pt x="628229" y="184933"/>
                </a:lnTo>
                <a:lnTo>
                  <a:pt x="642839" y="207128"/>
                </a:lnTo>
                <a:lnTo>
                  <a:pt x="657448" y="227659"/>
                </a:lnTo>
                <a:lnTo>
                  <a:pt x="672058" y="246199"/>
                </a:lnTo>
                <a:lnTo>
                  <a:pt x="686668" y="262526"/>
                </a:lnTo>
                <a:lnTo>
                  <a:pt x="701278" y="276523"/>
                </a:lnTo>
                <a:lnTo>
                  <a:pt x="715888" y="288163"/>
                </a:lnTo>
                <a:lnTo>
                  <a:pt x="730498" y="297496"/>
                </a:lnTo>
                <a:lnTo>
                  <a:pt x="745108" y="304635"/>
                </a:lnTo>
                <a:lnTo>
                  <a:pt x="759718" y="309736"/>
                </a:lnTo>
                <a:lnTo>
                  <a:pt x="774328" y="312989"/>
                </a:lnTo>
                <a:lnTo>
                  <a:pt x="788938" y="314599"/>
                </a:lnTo>
                <a:lnTo>
                  <a:pt x="803548" y="314779"/>
                </a:lnTo>
                <a:lnTo>
                  <a:pt x="818158" y="313738"/>
                </a:lnTo>
                <a:lnTo>
                  <a:pt x="832768" y="311679"/>
                </a:lnTo>
                <a:lnTo>
                  <a:pt x="847378" y="308790"/>
                </a:lnTo>
                <a:lnTo>
                  <a:pt x="861988" y="305244"/>
                </a:lnTo>
                <a:lnTo>
                  <a:pt x="876598" y="301201"/>
                </a:lnTo>
                <a:lnTo>
                  <a:pt x="891208" y="296802"/>
                </a:lnTo>
                <a:lnTo>
                  <a:pt x="905818" y="292177"/>
                </a:lnTo>
                <a:lnTo>
                  <a:pt x="920428" y="287441"/>
                </a:lnTo>
                <a:lnTo>
                  <a:pt x="935038" y="282697"/>
                </a:lnTo>
                <a:lnTo>
                  <a:pt x="949648" y="278040"/>
                </a:lnTo>
                <a:lnTo>
                  <a:pt x="964258" y="273554"/>
                </a:lnTo>
                <a:lnTo>
                  <a:pt x="978868" y="269316"/>
                </a:lnTo>
                <a:lnTo>
                  <a:pt x="993478" y="265394"/>
                </a:lnTo>
                <a:lnTo>
                  <a:pt x="1008088" y="261850"/>
                </a:lnTo>
                <a:lnTo>
                  <a:pt x="1022698" y="258738"/>
                </a:lnTo>
                <a:lnTo>
                  <a:pt x="1037308" y="256106"/>
                </a:lnTo>
                <a:lnTo>
                  <a:pt x="1051918" y="253993"/>
                </a:lnTo>
                <a:lnTo>
                  <a:pt x="1066528" y="252429"/>
                </a:lnTo>
                <a:lnTo>
                  <a:pt x="1081138" y="251439"/>
                </a:lnTo>
                <a:lnTo>
                  <a:pt x="1095747" y="251037"/>
                </a:lnTo>
                <a:lnTo>
                  <a:pt x="1110357" y="251229"/>
                </a:lnTo>
                <a:lnTo>
                  <a:pt x="1124967" y="252014"/>
                </a:lnTo>
                <a:lnTo>
                  <a:pt x="1139577" y="253380"/>
                </a:lnTo>
                <a:lnTo>
                  <a:pt x="1154187" y="255310"/>
                </a:lnTo>
                <a:lnTo>
                  <a:pt x="1168797" y="257776"/>
                </a:lnTo>
                <a:lnTo>
                  <a:pt x="1183407" y="260746"/>
                </a:lnTo>
                <a:lnTo>
                  <a:pt x="1198017" y="264180"/>
                </a:lnTo>
                <a:lnTo>
                  <a:pt x="1212627" y="268034"/>
                </a:lnTo>
                <a:lnTo>
                  <a:pt x="1227237" y="272258"/>
                </a:lnTo>
                <a:lnTo>
                  <a:pt x="1241847" y="276799"/>
                </a:lnTo>
                <a:lnTo>
                  <a:pt x="1256457" y="281605"/>
                </a:lnTo>
                <a:lnTo>
                  <a:pt x="1271067" y="286617"/>
                </a:lnTo>
                <a:lnTo>
                  <a:pt x="1285677" y="291782"/>
                </a:lnTo>
                <a:lnTo>
                  <a:pt x="1300287" y="297043"/>
                </a:lnTo>
                <a:lnTo>
                  <a:pt x="1314897" y="302348"/>
                </a:lnTo>
                <a:lnTo>
                  <a:pt x="1329507" y="307646"/>
                </a:lnTo>
                <a:lnTo>
                  <a:pt x="1344117" y="312890"/>
                </a:lnTo>
                <a:lnTo>
                  <a:pt x="1358727" y="318038"/>
                </a:lnTo>
                <a:lnTo>
                  <a:pt x="1373337" y="323051"/>
                </a:lnTo>
                <a:lnTo>
                  <a:pt x="1387947" y="327896"/>
                </a:lnTo>
                <a:lnTo>
                  <a:pt x="1402557" y="332544"/>
                </a:lnTo>
                <a:lnTo>
                  <a:pt x="1417167" y="336971"/>
                </a:lnTo>
                <a:lnTo>
                  <a:pt x="1431777" y="341160"/>
                </a:lnTo>
                <a:lnTo>
                  <a:pt x="1446387" y="345097"/>
                </a:lnTo>
                <a:lnTo>
                  <a:pt x="1460997" y="348773"/>
                </a:lnTo>
                <a:lnTo>
                  <a:pt x="1475607" y="352184"/>
                </a:lnTo>
                <a:lnTo>
                  <a:pt x="1490217" y="355329"/>
                </a:lnTo>
                <a:lnTo>
                  <a:pt x="1504827" y="358212"/>
                </a:lnTo>
                <a:lnTo>
                  <a:pt x="1519437" y="360839"/>
                </a:lnTo>
                <a:lnTo>
                  <a:pt x="1534046" y="363218"/>
                </a:lnTo>
                <a:lnTo>
                  <a:pt x="1548656" y="365360"/>
                </a:lnTo>
                <a:lnTo>
                  <a:pt x="1563266" y="367278"/>
                </a:lnTo>
                <a:lnTo>
                  <a:pt x="1577876" y="368985"/>
                </a:lnTo>
                <a:lnTo>
                  <a:pt x="1592486" y="370497"/>
                </a:lnTo>
                <a:lnTo>
                  <a:pt x="1607096" y="371828"/>
                </a:lnTo>
                <a:lnTo>
                  <a:pt x="1621706" y="372993"/>
                </a:lnTo>
                <a:lnTo>
                  <a:pt x="1636316" y="374008"/>
                </a:lnTo>
                <a:lnTo>
                  <a:pt x="1650926" y="374887"/>
                </a:lnTo>
                <a:lnTo>
                  <a:pt x="1665536" y="375644"/>
                </a:lnTo>
                <a:lnTo>
                  <a:pt x="1680146" y="376294"/>
                </a:lnTo>
                <a:lnTo>
                  <a:pt x="1694756" y="376847"/>
                </a:lnTo>
                <a:lnTo>
                  <a:pt x="1709366" y="377316"/>
                </a:lnTo>
                <a:lnTo>
                  <a:pt x="1723976" y="377712"/>
                </a:lnTo>
                <a:lnTo>
                  <a:pt x="1738586" y="378044"/>
                </a:lnTo>
                <a:lnTo>
                  <a:pt x="1753196" y="378321"/>
                </a:lnTo>
                <a:lnTo>
                  <a:pt x="1767806" y="378551"/>
                </a:lnTo>
                <a:lnTo>
                  <a:pt x="1782416" y="378742"/>
                </a:lnTo>
                <a:lnTo>
                  <a:pt x="1797026" y="378898"/>
                </a:lnTo>
                <a:lnTo>
                  <a:pt x="1811636" y="379026"/>
                </a:lnTo>
                <a:lnTo>
                  <a:pt x="1826246" y="379130"/>
                </a:lnTo>
                <a:lnTo>
                  <a:pt x="1840856" y="379215"/>
                </a:lnTo>
                <a:lnTo>
                  <a:pt x="1855466" y="379282"/>
                </a:lnTo>
                <a:lnTo>
                  <a:pt x="1870076" y="379337"/>
                </a:lnTo>
                <a:lnTo>
                  <a:pt x="1884686" y="379380"/>
                </a:lnTo>
                <a:lnTo>
                  <a:pt x="1899296" y="379415"/>
                </a:lnTo>
                <a:lnTo>
                  <a:pt x="1913906" y="379442"/>
                </a:lnTo>
                <a:lnTo>
                  <a:pt x="1928516" y="379463"/>
                </a:lnTo>
                <a:lnTo>
                  <a:pt x="1943126" y="379480"/>
                </a:lnTo>
                <a:lnTo>
                  <a:pt x="1957736" y="379493"/>
                </a:lnTo>
                <a:lnTo>
                  <a:pt x="1972345" y="379503"/>
                </a:lnTo>
                <a:lnTo>
                  <a:pt x="1986955" y="379511"/>
                </a:lnTo>
                <a:lnTo>
                  <a:pt x="2001565" y="379517"/>
                </a:lnTo>
                <a:lnTo>
                  <a:pt x="2016175" y="379521"/>
                </a:lnTo>
                <a:lnTo>
                  <a:pt x="2030785" y="379525"/>
                </a:lnTo>
                <a:lnTo>
                  <a:pt x="2045395" y="379528"/>
                </a:lnTo>
                <a:lnTo>
                  <a:pt x="2060005" y="379529"/>
                </a:lnTo>
                <a:lnTo>
                  <a:pt x="2074615" y="379531"/>
                </a:lnTo>
                <a:lnTo>
                  <a:pt x="2089225" y="379532"/>
                </a:lnTo>
                <a:lnTo>
                  <a:pt x="2103835" y="379533"/>
                </a:lnTo>
                <a:lnTo>
                  <a:pt x="2118445" y="379533"/>
                </a:lnTo>
                <a:lnTo>
                  <a:pt x="2133055" y="379534"/>
                </a:lnTo>
                <a:lnTo>
                  <a:pt x="2147665" y="379534"/>
                </a:lnTo>
                <a:lnTo>
                  <a:pt x="2162275" y="379534"/>
                </a:lnTo>
                <a:lnTo>
                  <a:pt x="2176885" y="379535"/>
                </a:lnTo>
                <a:lnTo>
                  <a:pt x="2191495" y="379535"/>
                </a:lnTo>
                <a:lnTo>
                  <a:pt x="2206105" y="379535"/>
                </a:lnTo>
                <a:lnTo>
                  <a:pt x="2220715" y="379535"/>
                </a:lnTo>
                <a:lnTo>
                  <a:pt x="2235325" y="379535"/>
                </a:lnTo>
                <a:lnTo>
                  <a:pt x="2249935" y="379535"/>
                </a:lnTo>
                <a:lnTo>
                  <a:pt x="2264545" y="379535"/>
                </a:lnTo>
                <a:lnTo>
                  <a:pt x="2279155" y="379535"/>
                </a:lnTo>
                <a:lnTo>
                  <a:pt x="2293765" y="379535"/>
                </a:lnTo>
                <a:lnTo>
                  <a:pt x="2308375" y="379535"/>
                </a:lnTo>
                <a:lnTo>
                  <a:pt x="2322985" y="379535"/>
                </a:lnTo>
                <a:lnTo>
                  <a:pt x="2337595" y="379535"/>
                </a:lnTo>
                <a:lnTo>
                  <a:pt x="2352205" y="379535"/>
                </a:lnTo>
                <a:lnTo>
                  <a:pt x="2366815" y="379535"/>
                </a:lnTo>
                <a:lnTo>
                  <a:pt x="2381425" y="379535"/>
                </a:lnTo>
                <a:lnTo>
                  <a:pt x="2396035" y="379535"/>
                </a:lnTo>
                <a:lnTo>
                  <a:pt x="2410644" y="379535"/>
                </a:lnTo>
                <a:lnTo>
                  <a:pt x="2425254" y="379535"/>
                </a:lnTo>
                <a:lnTo>
                  <a:pt x="2439864" y="379535"/>
                </a:lnTo>
                <a:lnTo>
                  <a:pt x="2454474" y="379535"/>
                </a:lnTo>
                <a:lnTo>
                  <a:pt x="2469084" y="379535"/>
                </a:lnTo>
                <a:lnTo>
                  <a:pt x="2483694" y="379535"/>
                </a:lnTo>
                <a:lnTo>
                  <a:pt x="2498304" y="379535"/>
                </a:lnTo>
                <a:lnTo>
                  <a:pt x="2512914" y="379535"/>
                </a:lnTo>
                <a:lnTo>
                  <a:pt x="2527524" y="379535"/>
                </a:lnTo>
                <a:lnTo>
                  <a:pt x="2542134" y="379535"/>
                </a:lnTo>
                <a:lnTo>
                  <a:pt x="2556744" y="379535"/>
                </a:lnTo>
                <a:lnTo>
                  <a:pt x="2571354" y="379535"/>
                </a:lnTo>
                <a:lnTo>
                  <a:pt x="2585964" y="379535"/>
                </a:lnTo>
                <a:lnTo>
                  <a:pt x="2600574" y="379535"/>
                </a:lnTo>
                <a:lnTo>
                  <a:pt x="2615184" y="379535"/>
                </a:lnTo>
              </a:path>
            </a:pathLst>
          </a:custGeom>
          <a:noFill/>
          <a:ln w="222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wc0"/>
          <p:cNvSpPr/>
          <p:nvPr/>
        </p:nvSpPr>
        <p:spPr>
          <a:xfrm>
            <a:off x="3163824" y="2416745"/>
            <a:ext cx="2615184" cy="492111"/>
          </a:xfrm>
          <a:custGeom>
            <a:avLst/>
            <a:gdLst/>
            <a:ahLst/>
            <a:cxnLst/>
            <a:rect l="l" t="t" r="r" b="b"/>
            <a:pathLst>
              <a:path w="2615184" h="492111">
                <a:moveTo>
                  <a:pt x="0" y="491357"/>
                </a:moveTo>
                <a:lnTo>
                  <a:pt x="14610" y="490991"/>
                </a:lnTo>
                <a:lnTo>
                  <a:pt x="29220" y="490468"/>
                </a:lnTo>
                <a:lnTo>
                  <a:pt x="43830" y="489729"/>
                </a:lnTo>
                <a:lnTo>
                  <a:pt x="58440" y="488702"/>
                </a:lnTo>
                <a:lnTo>
                  <a:pt x="73050" y="487293"/>
                </a:lnTo>
                <a:lnTo>
                  <a:pt x="87660" y="485385"/>
                </a:lnTo>
                <a:lnTo>
                  <a:pt x="102270" y="482839"/>
                </a:lnTo>
                <a:lnTo>
                  <a:pt x="116880" y="479487"/>
                </a:lnTo>
                <a:lnTo>
                  <a:pt x="131490" y="475136"/>
                </a:lnTo>
                <a:lnTo>
                  <a:pt x="146100" y="469569"/>
                </a:lnTo>
                <a:lnTo>
                  <a:pt x="160710" y="462547"/>
                </a:lnTo>
                <a:lnTo>
                  <a:pt x="175320" y="453820"/>
                </a:lnTo>
                <a:lnTo>
                  <a:pt x="189930" y="443131"/>
                </a:lnTo>
                <a:lnTo>
                  <a:pt x="204540" y="430235"/>
                </a:lnTo>
                <a:lnTo>
                  <a:pt x="219149" y="414915"/>
                </a:lnTo>
                <a:lnTo>
                  <a:pt x="233759" y="396995"/>
                </a:lnTo>
                <a:lnTo>
                  <a:pt x="248369" y="376369"/>
                </a:lnTo>
                <a:lnTo>
                  <a:pt x="262979" y="353017"/>
                </a:lnTo>
                <a:lnTo>
                  <a:pt x="277589" y="327028"/>
                </a:lnTo>
                <a:lnTo>
                  <a:pt x="292199" y="298611"/>
                </a:lnTo>
                <a:lnTo>
                  <a:pt x="306809" y="268117"/>
                </a:lnTo>
                <a:lnTo>
                  <a:pt x="321419" y="236031"/>
                </a:lnTo>
                <a:lnTo>
                  <a:pt x="336029" y="202979"/>
                </a:lnTo>
                <a:lnTo>
                  <a:pt x="350639" y="169708"/>
                </a:lnTo>
                <a:lnTo>
                  <a:pt x="365249" y="137063"/>
                </a:lnTo>
                <a:lnTo>
                  <a:pt x="379859" y="105957"/>
                </a:lnTo>
                <a:lnTo>
                  <a:pt x="394469" y="77328"/>
                </a:lnTo>
                <a:lnTo>
                  <a:pt x="409079" y="52091"/>
                </a:lnTo>
                <a:lnTo>
                  <a:pt x="423689" y="31095"/>
                </a:lnTo>
                <a:lnTo>
                  <a:pt x="438299" y="15067"/>
                </a:lnTo>
                <a:lnTo>
                  <a:pt x="452909" y="4577"/>
                </a:lnTo>
                <a:lnTo>
                  <a:pt x="467519" y="0"/>
                </a:lnTo>
                <a:lnTo>
                  <a:pt x="482129" y="1493"/>
                </a:lnTo>
                <a:lnTo>
                  <a:pt x="496739" y="8985"/>
                </a:lnTo>
                <a:lnTo>
                  <a:pt x="511349" y="22182"/>
                </a:lnTo>
                <a:lnTo>
                  <a:pt x="525959" y="40581"/>
                </a:lnTo>
                <a:lnTo>
                  <a:pt x="540569" y="63505"/>
                </a:lnTo>
                <a:lnTo>
                  <a:pt x="555179" y="90138"/>
                </a:lnTo>
                <a:lnTo>
                  <a:pt x="569789" y="119573"/>
                </a:lnTo>
                <a:lnTo>
                  <a:pt x="584399" y="150859"/>
                </a:lnTo>
                <a:lnTo>
                  <a:pt x="599009" y="183052"/>
                </a:lnTo>
                <a:lnTo>
                  <a:pt x="613619" y="215254"/>
                </a:lnTo>
                <a:lnTo>
                  <a:pt x="628229" y="246654"/>
                </a:lnTo>
                <a:lnTo>
                  <a:pt x="642839" y="276552"/>
                </a:lnTo>
                <a:lnTo>
                  <a:pt x="657448" y="304383"/>
                </a:lnTo>
                <a:lnTo>
                  <a:pt x="672058" y="329717"/>
                </a:lnTo>
                <a:lnTo>
                  <a:pt x="686668" y="352267"/>
                </a:lnTo>
                <a:lnTo>
                  <a:pt x="701278" y="371874"/>
                </a:lnTo>
                <a:lnTo>
                  <a:pt x="715888" y="388499"/>
                </a:lnTo>
                <a:lnTo>
                  <a:pt x="730498" y="402196"/>
                </a:lnTo>
                <a:lnTo>
                  <a:pt x="745108" y="413101"/>
                </a:lnTo>
                <a:lnTo>
                  <a:pt x="759718" y="421405"/>
                </a:lnTo>
                <a:lnTo>
                  <a:pt x="774328" y="427337"/>
                </a:lnTo>
                <a:lnTo>
                  <a:pt x="788938" y="431146"/>
                </a:lnTo>
                <a:lnTo>
                  <a:pt x="803548" y="433087"/>
                </a:lnTo>
                <a:lnTo>
                  <a:pt x="818158" y="433411"/>
                </a:lnTo>
                <a:lnTo>
                  <a:pt x="832768" y="432355"/>
                </a:lnTo>
                <a:lnTo>
                  <a:pt x="847378" y="430139"/>
                </a:lnTo>
                <a:lnTo>
                  <a:pt x="861988" y="426963"/>
                </a:lnTo>
                <a:lnTo>
                  <a:pt x="876598" y="423006"/>
                </a:lnTo>
                <a:lnTo>
                  <a:pt x="891208" y="418428"/>
                </a:lnTo>
                <a:lnTo>
                  <a:pt x="905818" y="413370"/>
                </a:lnTo>
                <a:lnTo>
                  <a:pt x="920428" y="407959"/>
                </a:lnTo>
                <a:lnTo>
                  <a:pt x="935038" y="402309"/>
                </a:lnTo>
                <a:lnTo>
                  <a:pt x="949648" y="396523"/>
                </a:lnTo>
                <a:lnTo>
                  <a:pt x="964258" y="390697"/>
                </a:lnTo>
                <a:lnTo>
                  <a:pt x="978868" y="384920"/>
                </a:lnTo>
                <a:lnTo>
                  <a:pt x="993478" y="379275"/>
                </a:lnTo>
                <a:lnTo>
                  <a:pt x="1008088" y="373840"/>
                </a:lnTo>
                <a:lnTo>
                  <a:pt x="1022698" y="368690"/>
                </a:lnTo>
                <a:lnTo>
                  <a:pt x="1037308" y="363894"/>
                </a:lnTo>
                <a:lnTo>
                  <a:pt x="1051918" y="359517"/>
                </a:lnTo>
                <a:lnTo>
                  <a:pt x="1066528" y="355618"/>
                </a:lnTo>
                <a:lnTo>
                  <a:pt x="1081138" y="352251"/>
                </a:lnTo>
                <a:lnTo>
                  <a:pt x="1095747" y="349462"/>
                </a:lnTo>
                <a:lnTo>
                  <a:pt x="1110357" y="347290"/>
                </a:lnTo>
                <a:lnTo>
                  <a:pt x="1124967" y="345764"/>
                </a:lnTo>
                <a:lnTo>
                  <a:pt x="1139577" y="344906"/>
                </a:lnTo>
                <a:lnTo>
                  <a:pt x="1154187" y="344729"/>
                </a:lnTo>
                <a:lnTo>
                  <a:pt x="1168797" y="345234"/>
                </a:lnTo>
                <a:lnTo>
                  <a:pt x="1183407" y="346416"/>
                </a:lnTo>
                <a:lnTo>
                  <a:pt x="1198017" y="348257"/>
                </a:lnTo>
                <a:lnTo>
                  <a:pt x="1212627" y="350733"/>
                </a:lnTo>
                <a:lnTo>
                  <a:pt x="1227237" y="353810"/>
                </a:lnTo>
                <a:lnTo>
                  <a:pt x="1241847" y="357446"/>
                </a:lnTo>
                <a:lnTo>
                  <a:pt x="1256457" y="361593"/>
                </a:lnTo>
                <a:lnTo>
                  <a:pt x="1271067" y="366199"/>
                </a:lnTo>
                <a:lnTo>
                  <a:pt x="1285677" y="371205"/>
                </a:lnTo>
                <a:lnTo>
                  <a:pt x="1300287" y="376549"/>
                </a:lnTo>
                <a:lnTo>
                  <a:pt x="1314897" y="382169"/>
                </a:lnTo>
                <a:lnTo>
                  <a:pt x="1329507" y="387999"/>
                </a:lnTo>
                <a:lnTo>
                  <a:pt x="1344117" y="393977"/>
                </a:lnTo>
                <a:lnTo>
                  <a:pt x="1358727" y="400041"/>
                </a:lnTo>
                <a:lnTo>
                  <a:pt x="1373337" y="406129"/>
                </a:lnTo>
                <a:lnTo>
                  <a:pt x="1387947" y="412187"/>
                </a:lnTo>
                <a:lnTo>
                  <a:pt x="1402557" y="418162"/>
                </a:lnTo>
                <a:lnTo>
                  <a:pt x="1417167" y="424007"/>
                </a:lnTo>
                <a:lnTo>
                  <a:pt x="1431777" y="429681"/>
                </a:lnTo>
                <a:lnTo>
                  <a:pt x="1446387" y="435146"/>
                </a:lnTo>
                <a:lnTo>
                  <a:pt x="1460997" y="440375"/>
                </a:lnTo>
                <a:lnTo>
                  <a:pt x="1475607" y="445340"/>
                </a:lnTo>
                <a:lnTo>
                  <a:pt x="1490217" y="450025"/>
                </a:lnTo>
                <a:lnTo>
                  <a:pt x="1504827" y="454417"/>
                </a:lnTo>
                <a:lnTo>
                  <a:pt x="1519437" y="458506"/>
                </a:lnTo>
                <a:lnTo>
                  <a:pt x="1534046" y="462290"/>
                </a:lnTo>
                <a:lnTo>
                  <a:pt x="1548656" y="465771"/>
                </a:lnTo>
                <a:lnTo>
                  <a:pt x="1563266" y="468953"/>
                </a:lnTo>
                <a:lnTo>
                  <a:pt x="1577876" y="471845"/>
                </a:lnTo>
                <a:lnTo>
                  <a:pt x="1592486" y="474458"/>
                </a:lnTo>
                <a:lnTo>
                  <a:pt x="1607096" y="476806"/>
                </a:lnTo>
                <a:lnTo>
                  <a:pt x="1621706" y="478902"/>
                </a:lnTo>
                <a:lnTo>
                  <a:pt x="1636316" y="480764"/>
                </a:lnTo>
                <a:lnTo>
                  <a:pt x="1650926" y="482409"/>
                </a:lnTo>
                <a:lnTo>
                  <a:pt x="1665536" y="483854"/>
                </a:lnTo>
                <a:lnTo>
                  <a:pt x="1680146" y="485116"/>
                </a:lnTo>
                <a:lnTo>
                  <a:pt x="1694756" y="486213"/>
                </a:lnTo>
                <a:lnTo>
                  <a:pt x="1709366" y="487161"/>
                </a:lnTo>
                <a:lnTo>
                  <a:pt x="1723976" y="487975"/>
                </a:lnTo>
                <a:lnTo>
                  <a:pt x="1738586" y="488672"/>
                </a:lnTo>
                <a:lnTo>
                  <a:pt x="1753196" y="489264"/>
                </a:lnTo>
                <a:lnTo>
                  <a:pt x="1767806" y="489766"/>
                </a:lnTo>
                <a:lnTo>
                  <a:pt x="1782416" y="490188"/>
                </a:lnTo>
                <a:lnTo>
                  <a:pt x="1797026" y="490541"/>
                </a:lnTo>
                <a:lnTo>
                  <a:pt x="1811636" y="490836"/>
                </a:lnTo>
                <a:lnTo>
                  <a:pt x="1826246" y="491080"/>
                </a:lnTo>
                <a:lnTo>
                  <a:pt x="1840856" y="491281"/>
                </a:lnTo>
                <a:lnTo>
                  <a:pt x="1855466" y="491446"/>
                </a:lnTo>
                <a:lnTo>
                  <a:pt x="1870076" y="491580"/>
                </a:lnTo>
                <a:lnTo>
                  <a:pt x="1884686" y="491690"/>
                </a:lnTo>
                <a:lnTo>
                  <a:pt x="1899296" y="491778"/>
                </a:lnTo>
                <a:lnTo>
                  <a:pt x="1913906" y="491849"/>
                </a:lnTo>
                <a:lnTo>
                  <a:pt x="1928516" y="491906"/>
                </a:lnTo>
                <a:lnTo>
                  <a:pt x="1943126" y="491951"/>
                </a:lnTo>
                <a:lnTo>
                  <a:pt x="1957736" y="491987"/>
                </a:lnTo>
                <a:lnTo>
                  <a:pt x="1972345" y="492015"/>
                </a:lnTo>
                <a:lnTo>
                  <a:pt x="1986955" y="492038"/>
                </a:lnTo>
                <a:lnTo>
                  <a:pt x="2001565" y="492055"/>
                </a:lnTo>
                <a:lnTo>
                  <a:pt x="2016175" y="492068"/>
                </a:lnTo>
                <a:lnTo>
                  <a:pt x="2030785" y="492079"/>
                </a:lnTo>
                <a:lnTo>
                  <a:pt x="2045395" y="492087"/>
                </a:lnTo>
                <a:lnTo>
                  <a:pt x="2060005" y="492093"/>
                </a:lnTo>
                <a:lnTo>
                  <a:pt x="2074615" y="492097"/>
                </a:lnTo>
                <a:lnTo>
                  <a:pt x="2089225" y="492101"/>
                </a:lnTo>
                <a:lnTo>
                  <a:pt x="2103835" y="492103"/>
                </a:lnTo>
                <a:lnTo>
                  <a:pt x="2118445" y="492105"/>
                </a:lnTo>
                <a:lnTo>
                  <a:pt x="2133055" y="492107"/>
                </a:lnTo>
                <a:lnTo>
                  <a:pt x="2147665" y="492108"/>
                </a:lnTo>
                <a:lnTo>
                  <a:pt x="2162275" y="492109"/>
                </a:lnTo>
                <a:lnTo>
                  <a:pt x="2176885" y="492109"/>
                </a:lnTo>
                <a:lnTo>
                  <a:pt x="2191495" y="492110"/>
                </a:lnTo>
                <a:lnTo>
                  <a:pt x="2206105" y="492110"/>
                </a:lnTo>
                <a:lnTo>
                  <a:pt x="2220715" y="492110"/>
                </a:lnTo>
                <a:lnTo>
                  <a:pt x="2235325" y="492111"/>
                </a:lnTo>
                <a:lnTo>
                  <a:pt x="2249935" y="492111"/>
                </a:lnTo>
                <a:lnTo>
                  <a:pt x="2264545" y="492111"/>
                </a:lnTo>
                <a:lnTo>
                  <a:pt x="2279155" y="492111"/>
                </a:lnTo>
                <a:lnTo>
                  <a:pt x="2293765" y="492111"/>
                </a:lnTo>
                <a:lnTo>
                  <a:pt x="2308375" y="492111"/>
                </a:lnTo>
                <a:lnTo>
                  <a:pt x="2322985" y="492111"/>
                </a:lnTo>
                <a:lnTo>
                  <a:pt x="2337595" y="492111"/>
                </a:lnTo>
                <a:lnTo>
                  <a:pt x="2352205" y="492111"/>
                </a:lnTo>
                <a:lnTo>
                  <a:pt x="2366815" y="492111"/>
                </a:lnTo>
                <a:lnTo>
                  <a:pt x="2381425" y="492111"/>
                </a:lnTo>
                <a:lnTo>
                  <a:pt x="2396035" y="492111"/>
                </a:lnTo>
                <a:lnTo>
                  <a:pt x="2410644" y="492111"/>
                </a:lnTo>
                <a:lnTo>
                  <a:pt x="2425254" y="492111"/>
                </a:lnTo>
                <a:lnTo>
                  <a:pt x="2439864" y="492111"/>
                </a:lnTo>
                <a:lnTo>
                  <a:pt x="2454474" y="492111"/>
                </a:lnTo>
                <a:lnTo>
                  <a:pt x="2469084" y="492111"/>
                </a:lnTo>
                <a:lnTo>
                  <a:pt x="2483694" y="492111"/>
                </a:lnTo>
                <a:lnTo>
                  <a:pt x="2498304" y="492111"/>
                </a:lnTo>
                <a:lnTo>
                  <a:pt x="2512914" y="492111"/>
                </a:lnTo>
                <a:lnTo>
                  <a:pt x="2527524" y="492111"/>
                </a:lnTo>
                <a:lnTo>
                  <a:pt x="2542134" y="492111"/>
                </a:lnTo>
                <a:lnTo>
                  <a:pt x="2556744" y="492111"/>
                </a:lnTo>
                <a:lnTo>
                  <a:pt x="2571354" y="492111"/>
                </a:lnTo>
                <a:lnTo>
                  <a:pt x="2585964" y="492111"/>
                </a:lnTo>
                <a:lnTo>
                  <a:pt x="2600574" y="492111"/>
                </a:lnTo>
                <a:lnTo>
                  <a:pt x="2615184" y="492111"/>
                </a:lnTo>
              </a:path>
            </a:pathLst>
          </a:custGeom>
          <a:no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m0"/>
          <p:cNvSpPr txBox="1"/>
          <p:nvPr/>
        </p:nvSpPr>
        <p:spPr>
          <a:xfrm>
            <a:off x="6025896" y="2456115"/>
            <a:ext cx="3291840" cy="338554"/>
          </a:xfrm>
          <a:prstGeom prst="rect">
            <a:avLst/>
          </a:prstGeom>
          <a:noFill/>
        </p:spPr>
        <p:txBody>
          <a:bodyPr wrap="square" lIns="0" tIns="0" rIns="0" bIns="0" anchor="ctr">
            <a:spAutoFit/>
          </a:bodyPr>
          <a:lstStyle/>
          <a:p>
            <a:pPr algn="l"/>
            <a:r>
              <a:rPr lang="ja-JP" altLang="en-US" sz="2200" b="1">
                <a:solidFill>
                  <a:srgbClr val="262626"/>
                </a:solidFill>
                <a:latin typeface="Meiryo"/>
                <a:ea typeface="Meiryo"/>
                <a:cs typeface="Meiryo"/>
              </a:rPr>
              <a:t>全体の</a:t>
            </a:r>
            <a:r>
              <a:rPr sz="2200" b="1" dirty="0" err="1">
                <a:solidFill>
                  <a:srgbClr val="262626"/>
                </a:solidFill>
                <a:latin typeface="Meiryo"/>
                <a:ea typeface="Meiryo"/>
                <a:cs typeface="Meiryo"/>
              </a:rPr>
              <a:t>振幅</a:t>
            </a:r>
            <a:endParaRPr sz="2200" b="1" dirty="0">
              <a:solidFill>
                <a:srgbClr val="262626"/>
              </a:solidFill>
              <a:latin typeface="Meiryo"/>
              <a:ea typeface="Meiryo"/>
              <a:cs typeface="Meiryo"/>
            </a:endParaRPr>
          </a:p>
        </p:txBody>
      </p:sp>
      <p:sp>
        <p:nvSpPr>
          <p:cNvPr id="26" name="g0"/>
          <p:cNvSpPr/>
          <p:nvPr/>
        </p:nvSpPr>
        <p:spPr>
          <a:xfrm>
            <a:off x="9454896" y="2287064"/>
            <a:ext cx="2112264" cy="676656"/>
          </a:xfrm>
          <a:prstGeom prst="roundRect">
            <a:avLst>
              <a:gd name="adj" fmla="val 40000"/>
            </a:avLst>
          </a:prstGeom>
          <a:solidFill>
            <a:srgbClr val="70AD47"/>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a:solidFill>
                  <a:srgbClr val="FFFFFF"/>
                </a:solidFill>
                <a:latin typeface="Meiryo"/>
                <a:ea typeface="Meiryo"/>
                <a:cs typeface="Meiryo"/>
              </a:rPr>
              <a:t>実測</a:t>
            </a:r>
          </a:p>
        </p:txBody>
      </p:sp>
      <p:sp>
        <p:nvSpPr>
          <p:cNvPr id="27" name="f1"/>
          <p:cNvSpPr/>
          <p:nvPr/>
        </p:nvSpPr>
        <p:spPr>
          <a:xfrm>
            <a:off x="548640" y="3036872"/>
            <a:ext cx="2368296" cy="676656"/>
          </a:xfrm>
          <a:prstGeom prst="roundRect">
            <a:avLst>
              <a:gd name="adj" fmla="val 4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dirty="0" err="1">
                <a:solidFill>
                  <a:srgbClr val="262626"/>
                </a:solidFill>
                <a:latin typeface="Meiryo"/>
                <a:ea typeface="Meiryo"/>
                <a:cs typeface="Meiryo"/>
              </a:rPr>
              <a:t>大血管の硬さ</a:t>
            </a:r>
            <a:r>
              <a:rPr sz="2200" b="1" dirty="0">
                <a:solidFill>
                  <a:srgbClr val="262626"/>
                </a:solidFill>
                <a:latin typeface="Meiryo"/>
                <a:ea typeface="Meiryo"/>
                <a:cs typeface="Meiryo"/>
              </a:rPr>
              <a:t> </a:t>
            </a:r>
          </a:p>
        </p:txBody>
      </p:sp>
      <p:sp>
        <p:nvSpPr>
          <p:cNvPr id="28" name="wbox1"/>
          <p:cNvSpPr/>
          <p:nvPr/>
        </p:nvSpPr>
        <p:spPr>
          <a:xfrm>
            <a:off x="3054096" y="3036872"/>
            <a:ext cx="2834640" cy="676656"/>
          </a:xfrm>
          <a:prstGeom prst="roundRect">
            <a:avLst>
              <a:gd name="adj" fmla="val 1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9" name="wbase1"/>
          <p:cNvCxnSpPr/>
          <p:nvPr/>
        </p:nvCxnSpPr>
        <p:spPr>
          <a:xfrm>
            <a:off x="3163824" y="3658664"/>
            <a:ext cx="2615184"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5" name="wg1"/>
          <p:cNvSpPr/>
          <p:nvPr/>
        </p:nvSpPr>
        <p:spPr>
          <a:xfrm>
            <a:off x="3163824" y="3279129"/>
            <a:ext cx="2615184" cy="379535"/>
          </a:xfrm>
          <a:custGeom>
            <a:avLst/>
            <a:gdLst/>
            <a:ahLst/>
            <a:cxnLst/>
            <a:rect l="l" t="t" r="r" b="b"/>
            <a:pathLst>
              <a:path w="2615184" h="379535">
                <a:moveTo>
                  <a:pt x="0" y="378955"/>
                </a:moveTo>
                <a:lnTo>
                  <a:pt x="14610" y="378673"/>
                </a:lnTo>
                <a:lnTo>
                  <a:pt x="29220" y="378271"/>
                </a:lnTo>
                <a:lnTo>
                  <a:pt x="43830" y="377702"/>
                </a:lnTo>
                <a:lnTo>
                  <a:pt x="58440" y="376912"/>
                </a:lnTo>
                <a:lnTo>
                  <a:pt x="73050" y="375828"/>
                </a:lnTo>
                <a:lnTo>
                  <a:pt x="87660" y="374360"/>
                </a:lnTo>
                <a:lnTo>
                  <a:pt x="102270" y="372401"/>
                </a:lnTo>
                <a:lnTo>
                  <a:pt x="116880" y="369821"/>
                </a:lnTo>
                <a:lnTo>
                  <a:pt x="131490" y="366474"/>
                </a:lnTo>
                <a:lnTo>
                  <a:pt x="146100" y="362190"/>
                </a:lnTo>
                <a:lnTo>
                  <a:pt x="160710" y="356787"/>
                </a:lnTo>
                <a:lnTo>
                  <a:pt x="175320" y="350072"/>
                </a:lnTo>
                <a:lnTo>
                  <a:pt x="189930" y="341847"/>
                </a:lnTo>
                <a:lnTo>
                  <a:pt x="204540" y="331923"/>
                </a:lnTo>
                <a:lnTo>
                  <a:pt x="219149" y="320133"/>
                </a:lnTo>
                <a:lnTo>
                  <a:pt x="233759" y="306343"/>
                </a:lnTo>
                <a:lnTo>
                  <a:pt x="248369" y="290469"/>
                </a:lnTo>
                <a:lnTo>
                  <a:pt x="262979" y="272496"/>
                </a:lnTo>
                <a:lnTo>
                  <a:pt x="277589" y="252492"/>
                </a:lnTo>
                <a:lnTo>
                  <a:pt x="292199" y="230617"/>
                </a:lnTo>
                <a:lnTo>
                  <a:pt x="306809" y="207139"/>
                </a:lnTo>
                <a:lnTo>
                  <a:pt x="321419" y="182433"/>
                </a:lnTo>
                <a:lnTo>
                  <a:pt x="336029" y="156978"/>
                </a:lnTo>
                <a:lnTo>
                  <a:pt x="350639" y="131346"/>
                </a:lnTo>
                <a:lnTo>
                  <a:pt x="365249" y="106187"/>
                </a:lnTo>
                <a:lnTo>
                  <a:pt x="379859" y="82202"/>
                </a:lnTo>
                <a:lnTo>
                  <a:pt x="394469" y="60109"/>
                </a:lnTo>
                <a:lnTo>
                  <a:pt x="409079" y="40612"/>
                </a:lnTo>
                <a:lnTo>
                  <a:pt x="423689" y="24358"/>
                </a:lnTo>
                <a:lnTo>
                  <a:pt x="438299" y="11907"/>
                </a:lnTo>
                <a:lnTo>
                  <a:pt x="452909" y="3693"/>
                </a:lnTo>
                <a:lnTo>
                  <a:pt x="467519" y="0"/>
                </a:lnTo>
                <a:lnTo>
                  <a:pt x="482129" y="947"/>
                </a:lnTo>
                <a:lnTo>
                  <a:pt x="496739" y="6474"/>
                </a:lnTo>
                <a:lnTo>
                  <a:pt x="511349" y="16351"/>
                </a:lnTo>
                <a:lnTo>
                  <a:pt x="525959" y="30187"/>
                </a:lnTo>
                <a:lnTo>
                  <a:pt x="540569" y="47457"/>
                </a:lnTo>
                <a:lnTo>
                  <a:pt x="555179" y="67528"/>
                </a:lnTo>
                <a:lnTo>
                  <a:pt x="569789" y="89699"/>
                </a:lnTo>
                <a:lnTo>
                  <a:pt x="584399" y="113234"/>
                </a:lnTo>
                <a:lnTo>
                  <a:pt x="599009" y="137403"/>
                </a:lnTo>
                <a:lnTo>
                  <a:pt x="613619" y="161511"/>
                </a:lnTo>
                <a:lnTo>
                  <a:pt x="628229" y="184933"/>
                </a:lnTo>
                <a:lnTo>
                  <a:pt x="642839" y="207128"/>
                </a:lnTo>
                <a:lnTo>
                  <a:pt x="657448" y="227659"/>
                </a:lnTo>
                <a:lnTo>
                  <a:pt x="672058" y="246199"/>
                </a:lnTo>
                <a:lnTo>
                  <a:pt x="686668" y="262526"/>
                </a:lnTo>
                <a:lnTo>
                  <a:pt x="701278" y="276523"/>
                </a:lnTo>
                <a:lnTo>
                  <a:pt x="715888" y="288163"/>
                </a:lnTo>
                <a:lnTo>
                  <a:pt x="730498" y="297496"/>
                </a:lnTo>
                <a:lnTo>
                  <a:pt x="745108" y="304635"/>
                </a:lnTo>
                <a:lnTo>
                  <a:pt x="759718" y="309736"/>
                </a:lnTo>
                <a:lnTo>
                  <a:pt x="774328" y="312989"/>
                </a:lnTo>
                <a:lnTo>
                  <a:pt x="788938" y="314599"/>
                </a:lnTo>
                <a:lnTo>
                  <a:pt x="803548" y="314779"/>
                </a:lnTo>
                <a:lnTo>
                  <a:pt x="818158" y="313738"/>
                </a:lnTo>
                <a:lnTo>
                  <a:pt x="832768" y="311679"/>
                </a:lnTo>
                <a:lnTo>
                  <a:pt x="847378" y="308790"/>
                </a:lnTo>
                <a:lnTo>
                  <a:pt x="861988" y="305244"/>
                </a:lnTo>
                <a:lnTo>
                  <a:pt x="876598" y="301201"/>
                </a:lnTo>
                <a:lnTo>
                  <a:pt x="891208" y="296802"/>
                </a:lnTo>
                <a:lnTo>
                  <a:pt x="905818" y="292177"/>
                </a:lnTo>
                <a:lnTo>
                  <a:pt x="920428" y="287441"/>
                </a:lnTo>
                <a:lnTo>
                  <a:pt x="935038" y="282697"/>
                </a:lnTo>
                <a:lnTo>
                  <a:pt x="949648" y="278040"/>
                </a:lnTo>
                <a:lnTo>
                  <a:pt x="964258" y="273554"/>
                </a:lnTo>
                <a:lnTo>
                  <a:pt x="978868" y="269316"/>
                </a:lnTo>
                <a:lnTo>
                  <a:pt x="993478" y="265394"/>
                </a:lnTo>
                <a:lnTo>
                  <a:pt x="1008088" y="261850"/>
                </a:lnTo>
                <a:lnTo>
                  <a:pt x="1022698" y="258738"/>
                </a:lnTo>
                <a:lnTo>
                  <a:pt x="1037308" y="256106"/>
                </a:lnTo>
                <a:lnTo>
                  <a:pt x="1051918" y="253993"/>
                </a:lnTo>
                <a:lnTo>
                  <a:pt x="1066528" y="252429"/>
                </a:lnTo>
                <a:lnTo>
                  <a:pt x="1081138" y="251439"/>
                </a:lnTo>
                <a:lnTo>
                  <a:pt x="1095747" y="251037"/>
                </a:lnTo>
                <a:lnTo>
                  <a:pt x="1110357" y="251229"/>
                </a:lnTo>
                <a:lnTo>
                  <a:pt x="1124967" y="252014"/>
                </a:lnTo>
                <a:lnTo>
                  <a:pt x="1139577" y="253380"/>
                </a:lnTo>
                <a:lnTo>
                  <a:pt x="1154187" y="255310"/>
                </a:lnTo>
                <a:lnTo>
                  <a:pt x="1168797" y="257776"/>
                </a:lnTo>
                <a:lnTo>
                  <a:pt x="1183407" y="260746"/>
                </a:lnTo>
                <a:lnTo>
                  <a:pt x="1198017" y="264180"/>
                </a:lnTo>
                <a:lnTo>
                  <a:pt x="1212627" y="268034"/>
                </a:lnTo>
                <a:lnTo>
                  <a:pt x="1227237" y="272258"/>
                </a:lnTo>
                <a:lnTo>
                  <a:pt x="1241847" y="276799"/>
                </a:lnTo>
                <a:lnTo>
                  <a:pt x="1256457" y="281605"/>
                </a:lnTo>
                <a:lnTo>
                  <a:pt x="1271067" y="286617"/>
                </a:lnTo>
                <a:lnTo>
                  <a:pt x="1285677" y="291782"/>
                </a:lnTo>
                <a:lnTo>
                  <a:pt x="1300287" y="297043"/>
                </a:lnTo>
                <a:lnTo>
                  <a:pt x="1314897" y="302348"/>
                </a:lnTo>
                <a:lnTo>
                  <a:pt x="1329507" y="307646"/>
                </a:lnTo>
                <a:lnTo>
                  <a:pt x="1344117" y="312890"/>
                </a:lnTo>
                <a:lnTo>
                  <a:pt x="1358727" y="318038"/>
                </a:lnTo>
                <a:lnTo>
                  <a:pt x="1373337" y="323051"/>
                </a:lnTo>
                <a:lnTo>
                  <a:pt x="1387947" y="327896"/>
                </a:lnTo>
                <a:lnTo>
                  <a:pt x="1402557" y="332544"/>
                </a:lnTo>
                <a:lnTo>
                  <a:pt x="1417167" y="336971"/>
                </a:lnTo>
                <a:lnTo>
                  <a:pt x="1431777" y="341160"/>
                </a:lnTo>
                <a:lnTo>
                  <a:pt x="1446387" y="345097"/>
                </a:lnTo>
                <a:lnTo>
                  <a:pt x="1460997" y="348773"/>
                </a:lnTo>
                <a:lnTo>
                  <a:pt x="1475607" y="352184"/>
                </a:lnTo>
                <a:lnTo>
                  <a:pt x="1490217" y="355329"/>
                </a:lnTo>
                <a:lnTo>
                  <a:pt x="1504827" y="358212"/>
                </a:lnTo>
                <a:lnTo>
                  <a:pt x="1519437" y="360839"/>
                </a:lnTo>
                <a:lnTo>
                  <a:pt x="1534046" y="363218"/>
                </a:lnTo>
                <a:lnTo>
                  <a:pt x="1548656" y="365360"/>
                </a:lnTo>
                <a:lnTo>
                  <a:pt x="1563266" y="367278"/>
                </a:lnTo>
                <a:lnTo>
                  <a:pt x="1577876" y="368985"/>
                </a:lnTo>
                <a:lnTo>
                  <a:pt x="1592486" y="370497"/>
                </a:lnTo>
                <a:lnTo>
                  <a:pt x="1607096" y="371828"/>
                </a:lnTo>
                <a:lnTo>
                  <a:pt x="1621706" y="372993"/>
                </a:lnTo>
                <a:lnTo>
                  <a:pt x="1636316" y="374008"/>
                </a:lnTo>
                <a:lnTo>
                  <a:pt x="1650926" y="374887"/>
                </a:lnTo>
                <a:lnTo>
                  <a:pt x="1665536" y="375644"/>
                </a:lnTo>
                <a:lnTo>
                  <a:pt x="1680146" y="376294"/>
                </a:lnTo>
                <a:lnTo>
                  <a:pt x="1694756" y="376847"/>
                </a:lnTo>
                <a:lnTo>
                  <a:pt x="1709366" y="377316"/>
                </a:lnTo>
                <a:lnTo>
                  <a:pt x="1723976" y="377712"/>
                </a:lnTo>
                <a:lnTo>
                  <a:pt x="1738586" y="378044"/>
                </a:lnTo>
                <a:lnTo>
                  <a:pt x="1753196" y="378321"/>
                </a:lnTo>
                <a:lnTo>
                  <a:pt x="1767806" y="378551"/>
                </a:lnTo>
                <a:lnTo>
                  <a:pt x="1782416" y="378742"/>
                </a:lnTo>
                <a:lnTo>
                  <a:pt x="1797026" y="378898"/>
                </a:lnTo>
                <a:lnTo>
                  <a:pt x="1811636" y="379026"/>
                </a:lnTo>
                <a:lnTo>
                  <a:pt x="1826246" y="379130"/>
                </a:lnTo>
                <a:lnTo>
                  <a:pt x="1840856" y="379215"/>
                </a:lnTo>
                <a:lnTo>
                  <a:pt x="1855466" y="379282"/>
                </a:lnTo>
                <a:lnTo>
                  <a:pt x="1870076" y="379337"/>
                </a:lnTo>
                <a:lnTo>
                  <a:pt x="1884686" y="379380"/>
                </a:lnTo>
                <a:lnTo>
                  <a:pt x="1899296" y="379415"/>
                </a:lnTo>
                <a:lnTo>
                  <a:pt x="1913906" y="379442"/>
                </a:lnTo>
                <a:lnTo>
                  <a:pt x="1928516" y="379463"/>
                </a:lnTo>
                <a:lnTo>
                  <a:pt x="1943126" y="379480"/>
                </a:lnTo>
                <a:lnTo>
                  <a:pt x="1957736" y="379493"/>
                </a:lnTo>
                <a:lnTo>
                  <a:pt x="1972345" y="379503"/>
                </a:lnTo>
                <a:lnTo>
                  <a:pt x="1986955" y="379511"/>
                </a:lnTo>
                <a:lnTo>
                  <a:pt x="2001565" y="379517"/>
                </a:lnTo>
                <a:lnTo>
                  <a:pt x="2016175" y="379521"/>
                </a:lnTo>
                <a:lnTo>
                  <a:pt x="2030785" y="379525"/>
                </a:lnTo>
                <a:lnTo>
                  <a:pt x="2045395" y="379528"/>
                </a:lnTo>
                <a:lnTo>
                  <a:pt x="2060005" y="379529"/>
                </a:lnTo>
                <a:lnTo>
                  <a:pt x="2074615" y="379531"/>
                </a:lnTo>
                <a:lnTo>
                  <a:pt x="2089225" y="379532"/>
                </a:lnTo>
                <a:lnTo>
                  <a:pt x="2103835" y="379533"/>
                </a:lnTo>
                <a:lnTo>
                  <a:pt x="2118445" y="379533"/>
                </a:lnTo>
                <a:lnTo>
                  <a:pt x="2133055" y="379534"/>
                </a:lnTo>
                <a:lnTo>
                  <a:pt x="2147665" y="379534"/>
                </a:lnTo>
                <a:lnTo>
                  <a:pt x="2162275" y="379534"/>
                </a:lnTo>
                <a:lnTo>
                  <a:pt x="2176885" y="379535"/>
                </a:lnTo>
                <a:lnTo>
                  <a:pt x="2191495" y="379535"/>
                </a:lnTo>
                <a:lnTo>
                  <a:pt x="2206105" y="379535"/>
                </a:lnTo>
                <a:lnTo>
                  <a:pt x="2220715" y="379535"/>
                </a:lnTo>
                <a:lnTo>
                  <a:pt x="2235325" y="379535"/>
                </a:lnTo>
                <a:lnTo>
                  <a:pt x="2249935" y="379535"/>
                </a:lnTo>
                <a:lnTo>
                  <a:pt x="2264545" y="379535"/>
                </a:lnTo>
                <a:lnTo>
                  <a:pt x="2279155" y="379535"/>
                </a:lnTo>
                <a:lnTo>
                  <a:pt x="2293765" y="379535"/>
                </a:lnTo>
                <a:lnTo>
                  <a:pt x="2308375" y="379535"/>
                </a:lnTo>
                <a:lnTo>
                  <a:pt x="2322985" y="379535"/>
                </a:lnTo>
                <a:lnTo>
                  <a:pt x="2337595" y="379535"/>
                </a:lnTo>
                <a:lnTo>
                  <a:pt x="2352205" y="379535"/>
                </a:lnTo>
                <a:lnTo>
                  <a:pt x="2366815" y="379535"/>
                </a:lnTo>
                <a:lnTo>
                  <a:pt x="2381425" y="379535"/>
                </a:lnTo>
                <a:lnTo>
                  <a:pt x="2396035" y="379535"/>
                </a:lnTo>
                <a:lnTo>
                  <a:pt x="2410644" y="379535"/>
                </a:lnTo>
                <a:lnTo>
                  <a:pt x="2425254" y="379535"/>
                </a:lnTo>
                <a:lnTo>
                  <a:pt x="2439864" y="379535"/>
                </a:lnTo>
                <a:lnTo>
                  <a:pt x="2454474" y="379535"/>
                </a:lnTo>
                <a:lnTo>
                  <a:pt x="2469084" y="379535"/>
                </a:lnTo>
                <a:lnTo>
                  <a:pt x="2483694" y="379535"/>
                </a:lnTo>
                <a:lnTo>
                  <a:pt x="2498304" y="379535"/>
                </a:lnTo>
                <a:lnTo>
                  <a:pt x="2512914" y="379535"/>
                </a:lnTo>
                <a:lnTo>
                  <a:pt x="2527524" y="379535"/>
                </a:lnTo>
                <a:lnTo>
                  <a:pt x="2542134" y="379535"/>
                </a:lnTo>
                <a:lnTo>
                  <a:pt x="2556744" y="379535"/>
                </a:lnTo>
                <a:lnTo>
                  <a:pt x="2571354" y="379535"/>
                </a:lnTo>
                <a:lnTo>
                  <a:pt x="2585964" y="379535"/>
                </a:lnTo>
                <a:lnTo>
                  <a:pt x="2600574" y="379535"/>
                </a:lnTo>
                <a:lnTo>
                  <a:pt x="2615184" y="379535"/>
                </a:lnTo>
              </a:path>
            </a:pathLst>
          </a:custGeom>
          <a:noFill/>
          <a:ln w="222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wc1"/>
          <p:cNvSpPr/>
          <p:nvPr/>
        </p:nvSpPr>
        <p:spPr>
          <a:xfrm>
            <a:off x="3163824" y="3212402"/>
            <a:ext cx="2615184" cy="446262"/>
          </a:xfrm>
          <a:custGeom>
            <a:avLst/>
            <a:gdLst/>
            <a:ahLst/>
            <a:cxnLst/>
            <a:rect l="l" t="t" r="r" b="b"/>
            <a:pathLst>
              <a:path w="2615184" h="446262">
                <a:moveTo>
                  <a:pt x="0" y="444703"/>
                </a:moveTo>
                <a:lnTo>
                  <a:pt x="14610" y="444146"/>
                </a:lnTo>
                <a:lnTo>
                  <a:pt x="29220" y="443398"/>
                </a:lnTo>
                <a:lnTo>
                  <a:pt x="43830" y="442402"/>
                </a:lnTo>
                <a:lnTo>
                  <a:pt x="58440" y="441086"/>
                </a:lnTo>
                <a:lnTo>
                  <a:pt x="73050" y="439363"/>
                </a:lnTo>
                <a:lnTo>
                  <a:pt x="87660" y="437130"/>
                </a:lnTo>
                <a:lnTo>
                  <a:pt x="102270" y="434263"/>
                </a:lnTo>
                <a:lnTo>
                  <a:pt x="116880" y="430623"/>
                </a:lnTo>
                <a:lnTo>
                  <a:pt x="131490" y="426052"/>
                </a:lnTo>
                <a:lnTo>
                  <a:pt x="146100" y="420378"/>
                </a:lnTo>
                <a:lnTo>
                  <a:pt x="160710" y="413419"/>
                </a:lnTo>
                <a:lnTo>
                  <a:pt x="175320" y="404989"/>
                </a:lnTo>
                <a:lnTo>
                  <a:pt x="189930" y="394905"/>
                </a:lnTo>
                <a:lnTo>
                  <a:pt x="204540" y="382999"/>
                </a:lnTo>
                <a:lnTo>
                  <a:pt x="219149" y="369128"/>
                </a:lnTo>
                <a:lnTo>
                  <a:pt x="233759" y="353191"/>
                </a:lnTo>
                <a:lnTo>
                  <a:pt x="248369" y="335135"/>
                </a:lnTo>
                <a:lnTo>
                  <a:pt x="262979" y="314976"/>
                </a:lnTo>
                <a:lnTo>
                  <a:pt x="277589" y="292808"/>
                </a:lnTo>
                <a:lnTo>
                  <a:pt x="292199" y="268811"/>
                </a:lnTo>
                <a:lnTo>
                  <a:pt x="306809" y="243256"/>
                </a:lnTo>
                <a:lnTo>
                  <a:pt x="321419" y="216510"/>
                </a:lnTo>
                <a:lnTo>
                  <a:pt x="336029" y="189026"/>
                </a:lnTo>
                <a:lnTo>
                  <a:pt x="350639" y="161335"/>
                </a:lnTo>
                <a:lnTo>
                  <a:pt x="365249" y="134030"/>
                </a:lnTo>
                <a:lnTo>
                  <a:pt x="379859" y="107740"/>
                </a:lnTo>
                <a:lnTo>
                  <a:pt x="394469" y="83107"/>
                </a:lnTo>
                <a:lnTo>
                  <a:pt x="409079" y="60755"/>
                </a:lnTo>
                <a:lnTo>
                  <a:pt x="423689" y="41258"/>
                </a:lnTo>
                <a:lnTo>
                  <a:pt x="438299" y="25115"/>
                </a:lnTo>
                <a:lnTo>
                  <a:pt x="452909" y="12719"/>
                </a:lnTo>
                <a:lnTo>
                  <a:pt x="467519" y="4339"/>
                </a:lnTo>
                <a:lnTo>
                  <a:pt x="482129" y="104"/>
                </a:lnTo>
                <a:lnTo>
                  <a:pt x="496739" y="0"/>
                </a:lnTo>
                <a:lnTo>
                  <a:pt x="511349" y="3868"/>
                </a:lnTo>
                <a:lnTo>
                  <a:pt x="525959" y="11417"/>
                </a:lnTo>
                <a:lnTo>
                  <a:pt x="540569" y="22245"/>
                </a:lnTo>
                <a:lnTo>
                  <a:pt x="555179" y="35855"/>
                </a:lnTo>
                <a:lnTo>
                  <a:pt x="569789" y="51693"/>
                </a:lnTo>
                <a:lnTo>
                  <a:pt x="584399" y="69168"/>
                </a:lnTo>
                <a:lnTo>
                  <a:pt x="599009" y="87691"/>
                </a:lnTo>
                <a:lnTo>
                  <a:pt x="613619" y="106696"/>
                </a:lnTo>
                <a:lnTo>
                  <a:pt x="628229" y="125667"/>
                </a:lnTo>
                <a:lnTo>
                  <a:pt x="642839" y="144158"/>
                </a:lnTo>
                <a:lnTo>
                  <a:pt x="657448" y="161803"/>
                </a:lnTo>
                <a:lnTo>
                  <a:pt x="672058" y="178326"/>
                </a:lnTo>
                <a:lnTo>
                  <a:pt x="686668" y="193539"/>
                </a:lnTo>
                <a:lnTo>
                  <a:pt x="701278" y="207342"/>
                </a:lnTo>
                <a:lnTo>
                  <a:pt x="715888" y="219709"/>
                </a:lnTo>
                <a:lnTo>
                  <a:pt x="730498" y="230685"/>
                </a:lnTo>
                <a:lnTo>
                  <a:pt x="745108" y="240364"/>
                </a:lnTo>
                <a:lnTo>
                  <a:pt x="759718" y="248882"/>
                </a:lnTo>
                <a:lnTo>
                  <a:pt x="774328" y="256399"/>
                </a:lnTo>
                <a:lnTo>
                  <a:pt x="788938" y="263087"/>
                </a:lnTo>
                <a:lnTo>
                  <a:pt x="803548" y="269123"/>
                </a:lnTo>
                <a:lnTo>
                  <a:pt x="818158" y="274673"/>
                </a:lnTo>
                <a:lnTo>
                  <a:pt x="832768" y="279893"/>
                </a:lnTo>
                <a:lnTo>
                  <a:pt x="847378" y="284917"/>
                </a:lnTo>
                <a:lnTo>
                  <a:pt x="861988" y="289859"/>
                </a:lnTo>
                <a:lnTo>
                  <a:pt x="876598" y="294810"/>
                </a:lnTo>
                <a:lnTo>
                  <a:pt x="891208" y="299838"/>
                </a:lnTo>
                <a:lnTo>
                  <a:pt x="905818" y="304989"/>
                </a:lnTo>
                <a:lnTo>
                  <a:pt x="920428" y="310291"/>
                </a:lnTo>
                <a:lnTo>
                  <a:pt x="935038" y="315754"/>
                </a:lnTo>
                <a:lnTo>
                  <a:pt x="949648" y="321374"/>
                </a:lnTo>
                <a:lnTo>
                  <a:pt x="964258" y="327135"/>
                </a:lnTo>
                <a:lnTo>
                  <a:pt x="978868" y="333013"/>
                </a:lnTo>
                <a:lnTo>
                  <a:pt x="993478" y="338977"/>
                </a:lnTo>
                <a:lnTo>
                  <a:pt x="1008088" y="344991"/>
                </a:lnTo>
                <a:lnTo>
                  <a:pt x="1022698" y="351017"/>
                </a:lnTo>
                <a:lnTo>
                  <a:pt x="1037308" y="357016"/>
                </a:lnTo>
                <a:lnTo>
                  <a:pt x="1051918" y="362951"/>
                </a:lnTo>
                <a:lnTo>
                  <a:pt x="1066528" y="368785"/>
                </a:lnTo>
                <a:lnTo>
                  <a:pt x="1081138" y="374484"/>
                </a:lnTo>
                <a:lnTo>
                  <a:pt x="1095747" y="380017"/>
                </a:lnTo>
                <a:lnTo>
                  <a:pt x="1110357" y="385357"/>
                </a:lnTo>
                <a:lnTo>
                  <a:pt x="1124967" y="390481"/>
                </a:lnTo>
                <a:lnTo>
                  <a:pt x="1139577" y="395370"/>
                </a:lnTo>
                <a:lnTo>
                  <a:pt x="1154187" y="400009"/>
                </a:lnTo>
                <a:lnTo>
                  <a:pt x="1168797" y="404386"/>
                </a:lnTo>
                <a:lnTo>
                  <a:pt x="1183407" y="408495"/>
                </a:lnTo>
                <a:lnTo>
                  <a:pt x="1198017" y="412331"/>
                </a:lnTo>
                <a:lnTo>
                  <a:pt x="1212627" y="415895"/>
                </a:lnTo>
                <a:lnTo>
                  <a:pt x="1227237" y="419189"/>
                </a:lnTo>
                <a:lnTo>
                  <a:pt x="1241847" y="422219"/>
                </a:lnTo>
                <a:lnTo>
                  <a:pt x="1256457" y="424991"/>
                </a:lnTo>
                <a:lnTo>
                  <a:pt x="1271067" y="427517"/>
                </a:lnTo>
                <a:lnTo>
                  <a:pt x="1285677" y="429806"/>
                </a:lnTo>
                <a:lnTo>
                  <a:pt x="1300287" y="431871"/>
                </a:lnTo>
                <a:lnTo>
                  <a:pt x="1314897" y="433725"/>
                </a:lnTo>
                <a:lnTo>
                  <a:pt x="1329507" y="435382"/>
                </a:lnTo>
                <a:lnTo>
                  <a:pt x="1344117" y="436857"/>
                </a:lnTo>
                <a:lnTo>
                  <a:pt x="1358727" y="438163"/>
                </a:lnTo>
                <a:lnTo>
                  <a:pt x="1373337" y="439314"/>
                </a:lnTo>
                <a:lnTo>
                  <a:pt x="1387947" y="440325"/>
                </a:lnTo>
                <a:lnTo>
                  <a:pt x="1402557" y="441208"/>
                </a:lnTo>
                <a:lnTo>
                  <a:pt x="1417167" y="441977"/>
                </a:lnTo>
                <a:lnTo>
                  <a:pt x="1431777" y="442642"/>
                </a:lnTo>
                <a:lnTo>
                  <a:pt x="1446387" y="443216"/>
                </a:lnTo>
                <a:lnTo>
                  <a:pt x="1460997" y="443709"/>
                </a:lnTo>
                <a:lnTo>
                  <a:pt x="1475607" y="444130"/>
                </a:lnTo>
                <a:lnTo>
                  <a:pt x="1490217" y="444489"/>
                </a:lnTo>
                <a:lnTo>
                  <a:pt x="1504827" y="444793"/>
                </a:lnTo>
                <a:lnTo>
                  <a:pt x="1519437" y="445049"/>
                </a:lnTo>
                <a:lnTo>
                  <a:pt x="1534046" y="445265"/>
                </a:lnTo>
                <a:lnTo>
                  <a:pt x="1548656" y="445445"/>
                </a:lnTo>
                <a:lnTo>
                  <a:pt x="1563266" y="445596"/>
                </a:lnTo>
                <a:lnTo>
                  <a:pt x="1577876" y="445720"/>
                </a:lnTo>
                <a:lnTo>
                  <a:pt x="1592486" y="445823"/>
                </a:lnTo>
                <a:lnTo>
                  <a:pt x="1607096" y="445908"/>
                </a:lnTo>
                <a:lnTo>
                  <a:pt x="1621706" y="445978"/>
                </a:lnTo>
                <a:lnTo>
                  <a:pt x="1636316" y="446035"/>
                </a:lnTo>
                <a:lnTo>
                  <a:pt x="1650926" y="446081"/>
                </a:lnTo>
                <a:lnTo>
                  <a:pt x="1665536" y="446118"/>
                </a:lnTo>
                <a:lnTo>
                  <a:pt x="1680146" y="446148"/>
                </a:lnTo>
                <a:lnTo>
                  <a:pt x="1694756" y="446172"/>
                </a:lnTo>
                <a:lnTo>
                  <a:pt x="1709366" y="446192"/>
                </a:lnTo>
                <a:lnTo>
                  <a:pt x="1723976" y="446207"/>
                </a:lnTo>
                <a:lnTo>
                  <a:pt x="1738586" y="446219"/>
                </a:lnTo>
                <a:lnTo>
                  <a:pt x="1753196" y="446229"/>
                </a:lnTo>
                <a:lnTo>
                  <a:pt x="1767806" y="446236"/>
                </a:lnTo>
                <a:lnTo>
                  <a:pt x="1782416" y="446242"/>
                </a:lnTo>
                <a:lnTo>
                  <a:pt x="1797026" y="446247"/>
                </a:lnTo>
                <a:lnTo>
                  <a:pt x="1811636" y="446250"/>
                </a:lnTo>
                <a:lnTo>
                  <a:pt x="1826246" y="446253"/>
                </a:lnTo>
                <a:lnTo>
                  <a:pt x="1840856" y="446255"/>
                </a:lnTo>
                <a:lnTo>
                  <a:pt x="1855466" y="446257"/>
                </a:lnTo>
                <a:lnTo>
                  <a:pt x="1870076" y="446258"/>
                </a:lnTo>
                <a:lnTo>
                  <a:pt x="1884686" y="446259"/>
                </a:lnTo>
                <a:lnTo>
                  <a:pt x="1899296" y="446260"/>
                </a:lnTo>
                <a:lnTo>
                  <a:pt x="1913906" y="446260"/>
                </a:lnTo>
                <a:lnTo>
                  <a:pt x="1928516" y="446261"/>
                </a:lnTo>
                <a:lnTo>
                  <a:pt x="1943126" y="446261"/>
                </a:lnTo>
                <a:lnTo>
                  <a:pt x="1957736" y="446261"/>
                </a:lnTo>
                <a:lnTo>
                  <a:pt x="1972345" y="446262"/>
                </a:lnTo>
                <a:lnTo>
                  <a:pt x="1986955" y="446262"/>
                </a:lnTo>
                <a:lnTo>
                  <a:pt x="2001565" y="446262"/>
                </a:lnTo>
                <a:lnTo>
                  <a:pt x="2016175" y="446262"/>
                </a:lnTo>
                <a:lnTo>
                  <a:pt x="2030785" y="446262"/>
                </a:lnTo>
                <a:lnTo>
                  <a:pt x="2045395" y="446262"/>
                </a:lnTo>
                <a:lnTo>
                  <a:pt x="2060005" y="446262"/>
                </a:lnTo>
                <a:lnTo>
                  <a:pt x="2074615" y="446262"/>
                </a:lnTo>
                <a:lnTo>
                  <a:pt x="2089225" y="446262"/>
                </a:lnTo>
                <a:lnTo>
                  <a:pt x="2103835" y="446262"/>
                </a:lnTo>
                <a:lnTo>
                  <a:pt x="2118445" y="446262"/>
                </a:lnTo>
                <a:lnTo>
                  <a:pt x="2133055" y="446262"/>
                </a:lnTo>
                <a:lnTo>
                  <a:pt x="2147665" y="446262"/>
                </a:lnTo>
                <a:lnTo>
                  <a:pt x="2162275" y="446262"/>
                </a:lnTo>
                <a:lnTo>
                  <a:pt x="2176885" y="446262"/>
                </a:lnTo>
                <a:lnTo>
                  <a:pt x="2191495" y="446262"/>
                </a:lnTo>
                <a:lnTo>
                  <a:pt x="2206105" y="446262"/>
                </a:lnTo>
                <a:lnTo>
                  <a:pt x="2220715" y="446262"/>
                </a:lnTo>
                <a:lnTo>
                  <a:pt x="2235325" y="446262"/>
                </a:lnTo>
                <a:lnTo>
                  <a:pt x="2249935" y="446262"/>
                </a:lnTo>
                <a:lnTo>
                  <a:pt x="2264545" y="446262"/>
                </a:lnTo>
                <a:lnTo>
                  <a:pt x="2279155" y="446262"/>
                </a:lnTo>
                <a:lnTo>
                  <a:pt x="2293765" y="446262"/>
                </a:lnTo>
                <a:lnTo>
                  <a:pt x="2308375" y="446262"/>
                </a:lnTo>
                <a:lnTo>
                  <a:pt x="2322985" y="446262"/>
                </a:lnTo>
                <a:lnTo>
                  <a:pt x="2337595" y="446262"/>
                </a:lnTo>
                <a:lnTo>
                  <a:pt x="2352205" y="446262"/>
                </a:lnTo>
                <a:lnTo>
                  <a:pt x="2366815" y="446262"/>
                </a:lnTo>
                <a:lnTo>
                  <a:pt x="2381425" y="446262"/>
                </a:lnTo>
                <a:lnTo>
                  <a:pt x="2396035" y="446262"/>
                </a:lnTo>
                <a:lnTo>
                  <a:pt x="2410644" y="446262"/>
                </a:lnTo>
                <a:lnTo>
                  <a:pt x="2425254" y="446262"/>
                </a:lnTo>
                <a:lnTo>
                  <a:pt x="2439864" y="446262"/>
                </a:lnTo>
                <a:lnTo>
                  <a:pt x="2454474" y="446262"/>
                </a:lnTo>
                <a:lnTo>
                  <a:pt x="2469084" y="446262"/>
                </a:lnTo>
                <a:lnTo>
                  <a:pt x="2483694" y="446262"/>
                </a:lnTo>
                <a:lnTo>
                  <a:pt x="2498304" y="446262"/>
                </a:lnTo>
                <a:lnTo>
                  <a:pt x="2512914" y="446262"/>
                </a:lnTo>
                <a:lnTo>
                  <a:pt x="2527524" y="446262"/>
                </a:lnTo>
                <a:lnTo>
                  <a:pt x="2542134" y="446262"/>
                </a:lnTo>
                <a:lnTo>
                  <a:pt x="2556744" y="446262"/>
                </a:lnTo>
                <a:lnTo>
                  <a:pt x="2571354" y="446262"/>
                </a:lnTo>
                <a:lnTo>
                  <a:pt x="2585964" y="446262"/>
                </a:lnTo>
                <a:lnTo>
                  <a:pt x="2600574" y="446262"/>
                </a:lnTo>
                <a:lnTo>
                  <a:pt x="2615184" y="446262"/>
                </a:lnTo>
              </a:path>
            </a:pathLst>
          </a:custGeom>
          <a:no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m1"/>
          <p:cNvSpPr txBox="1"/>
          <p:nvPr/>
        </p:nvSpPr>
        <p:spPr>
          <a:xfrm>
            <a:off x="6025896" y="3205923"/>
            <a:ext cx="3291840" cy="338554"/>
          </a:xfrm>
          <a:prstGeom prst="rect">
            <a:avLst/>
          </a:prstGeom>
          <a:noFill/>
        </p:spPr>
        <p:txBody>
          <a:bodyPr wrap="square" lIns="0" tIns="0" rIns="0" bIns="0" anchor="ctr">
            <a:spAutoFit/>
          </a:bodyPr>
          <a:lstStyle/>
          <a:p>
            <a:pPr algn="l"/>
            <a:r>
              <a:rPr sz="2200" b="1" dirty="0" err="1">
                <a:solidFill>
                  <a:srgbClr val="262626"/>
                </a:solidFill>
                <a:latin typeface="Meiryo"/>
                <a:ea typeface="Meiryo"/>
                <a:cs typeface="Meiryo"/>
              </a:rPr>
              <a:t>反射波</a:t>
            </a:r>
            <a:r>
              <a:rPr lang="ja-JP" altLang="en-US" sz="2200" b="1">
                <a:solidFill>
                  <a:srgbClr val="262626"/>
                </a:solidFill>
                <a:latin typeface="Meiryo"/>
                <a:ea typeface="Meiryo"/>
                <a:cs typeface="Meiryo"/>
              </a:rPr>
              <a:t>の時相</a:t>
            </a:r>
            <a:endParaRPr sz="2200" b="1" dirty="0">
              <a:solidFill>
                <a:srgbClr val="262626"/>
              </a:solidFill>
              <a:latin typeface="Meiryo"/>
              <a:ea typeface="Meiryo"/>
              <a:cs typeface="Meiryo"/>
            </a:endParaRPr>
          </a:p>
        </p:txBody>
      </p:sp>
      <p:sp>
        <p:nvSpPr>
          <p:cNvPr id="31" name="g1"/>
          <p:cNvSpPr/>
          <p:nvPr/>
        </p:nvSpPr>
        <p:spPr>
          <a:xfrm>
            <a:off x="9454896" y="3036872"/>
            <a:ext cx="2112264" cy="676656"/>
          </a:xfrm>
          <a:prstGeom prst="roundRect">
            <a:avLst>
              <a:gd name="adj" fmla="val 40000"/>
            </a:avLst>
          </a:prstGeom>
          <a:solidFill>
            <a:srgbClr val="BF9000"/>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a:solidFill>
                  <a:srgbClr val="FFFFFF"/>
                </a:solidFill>
                <a:latin typeface="Meiryo"/>
                <a:ea typeface="Meiryo"/>
                <a:cs typeface="Meiryo"/>
              </a:rPr>
              <a:t>実測+モデル</a:t>
            </a:r>
          </a:p>
        </p:txBody>
      </p:sp>
      <p:sp>
        <p:nvSpPr>
          <p:cNvPr id="32" name="f2"/>
          <p:cNvSpPr/>
          <p:nvPr/>
        </p:nvSpPr>
        <p:spPr>
          <a:xfrm>
            <a:off x="548640" y="3786680"/>
            <a:ext cx="2368296" cy="676656"/>
          </a:xfrm>
          <a:prstGeom prst="roundRect">
            <a:avLst>
              <a:gd name="adj" fmla="val 4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dirty="0" err="1">
                <a:solidFill>
                  <a:srgbClr val="262626"/>
                </a:solidFill>
                <a:latin typeface="Meiryo"/>
                <a:ea typeface="Meiryo"/>
                <a:cs typeface="Meiryo"/>
              </a:rPr>
              <a:t>末梢トーヌス</a:t>
            </a:r>
            <a:r>
              <a:rPr sz="2200" b="1" dirty="0">
                <a:solidFill>
                  <a:srgbClr val="262626"/>
                </a:solidFill>
                <a:latin typeface="Meiryo"/>
                <a:ea typeface="Meiryo"/>
                <a:cs typeface="Meiryo"/>
              </a:rPr>
              <a:t> </a:t>
            </a:r>
          </a:p>
        </p:txBody>
      </p:sp>
      <p:sp>
        <p:nvSpPr>
          <p:cNvPr id="33" name="wbox2"/>
          <p:cNvSpPr/>
          <p:nvPr/>
        </p:nvSpPr>
        <p:spPr>
          <a:xfrm>
            <a:off x="3054096" y="3786680"/>
            <a:ext cx="2834640" cy="676656"/>
          </a:xfrm>
          <a:prstGeom prst="roundRect">
            <a:avLst>
              <a:gd name="adj" fmla="val 1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4" name="wbase2"/>
          <p:cNvCxnSpPr/>
          <p:nvPr/>
        </p:nvCxnSpPr>
        <p:spPr>
          <a:xfrm>
            <a:off x="3163824" y="4408472"/>
            <a:ext cx="2615184"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7" name="wg2"/>
          <p:cNvSpPr/>
          <p:nvPr/>
        </p:nvSpPr>
        <p:spPr>
          <a:xfrm>
            <a:off x="3163824" y="4028937"/>
            <a:ext cx="2615184" cy="379535"/>
          </a:xfrm>
          <a:custGeom>
            <a:avLst/>
            <a:gdLst/>
            <a:ahLst/>
            <a:cxnLst/>
            <a:rect l="l" t="t" r="r" b="b"/>
            <a:pathLst>
              <a:path w="2615184" h="379535">
                <a:moveTo>
                  <a:pt x="0" y="378955"/>
                </a:moveTo>
                <a:lnTo>
                  <a:pt x="14610" y="378673"/>
                </a:lnTo>
                <a:lnTo>
                  <a:pt x="29220" y="378271"/>
                </a:lnTo>
                <a:lnTo>
                  <a:pt x="43830" y="377702"/>
                </a:lnTo>
                <a:lnTo>
                  <a:pt x="58440" y="376912"/>
                </a:lnTo>
                <a:lnTo>
                  <a:pt x="73050" y="375828"/>
                </a:lnTo>
                <a:lnTo>
                  <a:pt x="87660" y="374360"/>
                </a:lnTo>
                <a:lnTo>
                  <a:pt x="102270" y="372401"/>
                </a:lnTo>
                <a:lnTo>
                  <a:pt x="116880" y="369821"/>
                </a:lnTo>
                <a:lnTo>
                  <a:pt x="131490" y="366474"/>
                </a:lnTo>
                <a:lnTo>
                  <a:pt x="146100" y="362190"/>
                </a:lnTo>
                <a:lnTo>
                  <a:pt x="160710" y="356787"/>
                </a:lnTo>
                <a:lnTo>
                  <a:pt x="175320" y="350072"/>
                </a:lnTo>
                <a:lnTo>
                  <a:pt x="189930" y="341847"/>
                </a:lnTo>
                <a:lnTo>
                  <a:pt x="204540" y="331923"/>
                </a:lnTo>
                <a:lnTo>
                  <a:pt x="219149" y="320133"/>
                </a:lnTo>
                <a:lnTo>
                  <a:pt x="233759" y="306343"/>
                </a:lnTo>
                <a:lnTo>
                  <a:pt x="248369" y="290469"/>
                </a:lnTo>
                <a:lnTo>
                  <a:pt x="262979" y="272496"/>
                </a:lnTo>
                <a:lnTo>
                  <a:pt x="277589" y="252492"/>
                </a:lnTo>
                <a:lnTo>
                  <a:pt x="292199" y="230617"/>
                </a:lnTo>
                <a:lnTo>
                  <a:pt x="306809" y="207139"/>
                </a:lnTo>
                <a:lnTo>
                  <a:pt x="321419" y="182433"/>
                </a:lnTo>
                <a:lnTo>
                  <a:pt x="336029" y="156978"/>
                </a:lnTo>
                <a:lnTo>
                  <a:pt x="350639" y="131346"/>
                </a:lnTo>
                <a:lnTo>
                  <a:pt x="365249" y="106187"/>
                </a:lnTo>
                <a:lnTo>
                  <a:pt x="379859" y="82202"/>
                </a:lnTo>
                <a:lnTo>
                  <a:pt x="394469" y="60109"/>
                </a:lnTo>
                <a:lnTo>
                  <a:pt x="409079" y="40612"/>
                </a:lnTo>
                <a:lnTo>
                  <a:pt x="423689" y="24358"/>
                </a:lnTo>
                <a:lnTo>
                  <a:pt x="438299" y="11907"/>
                </a:lnTo>
                <a:lnTo>
                  <a:pt x="452909" y="3693"/>
                </a:lnTo>
                <a:lnTo>
                  <a:pt x="467519" y="0"/>
                </a:lnTo>
                <a:lnTo>
                  <a:pt x="482129" y="947"/>
                </a:lnTo>
                <a:lnTo>
                  <a:pt x="496739" y="6474"/>
                </a:lnTo>
                <a:lnTo>
                  <a:pt x="511349" y="16351"/>
                </a:lnTo>
                <a:lnTo>
                  <a:pt x="525959" y="30187"/>
                </a:lnTo>
                <a:lnTo>
                  <a:pt x="540569" y="47457"/>
                </a:lnTo>
                <a:lnTo>
                  <a:pt x="555179" y="67528"/>
                </a:lnTo>
                <a:lnTo>
                  <a:pt x="569789" y="89699"/>
                </a:lnTo>
                <a:lnTo>
                  <a:pt x="584399" y="113234"/>
                </a:lnTo>
                <a:lnTo>
                  <a:pt x="599009" y="137403"/>
                </a:lnTo>
                <a:lnTo>
                  <a:pt x="613619" y="161511"/>
                </a:lnTo>
                <a:lnTo>
                  <a:pt x="628229" y="184933"/>
                </a:lnTo>
                <a:lnTo>
                  <a:pt x="642839" y="207128"/>
                </a:lnTo>
                <a:lnTo>
                  <a:pt x="657448" y="227659"/>
                </a:lnTo>
                <a:lnTo>
                  <a:pt x="672058" y="246199"/>
                </a:lnTo>
                <a:lnTo>
                  <a:pt x="686668" y="262526"/>
                </a:lnTo>
                <a:lnTo>
                  <a:pt x="701278" y="276523"/>
                </a:lnTo>
                <a:lnTo>
                  <a:pt x="715888" y="288163"/>
                </a:lnTo>
                <a:lnTo>
                  <a:pt x="730498" y="297496"/>
                </a:lnTo>
                <a:lnTo>
                  <a:pt x="745108" y="304635"/>
                </a:lnTo>
                <a:lnTo>
                  <a:pt x="759718" y="309736"/>
                </a:lnTo>
                <a:lnTo>
                  <a:pt x="774328" y="312989"/>
                </a:lnTo>
                <a:lnTo>
                  <a:pt x="788938" y="314599"/>
                </a:lnTo>
                <a:lnTo>
                  <a:pt x="803548" y="314779"/>
                </a:lnTo>
                <a:lnTo>
                  <a:pt x="818158" y="313738"/>
                </a:lnTo>
                <a:lnTo>
                  <a:pt x="832768" y="311679"/>
                </a:lnTo>
                <a:lnTo>
                  <a:pt x="847378" y="308790"/>
                </a:lnTo>
                <a:lnTo>
                  <a:pt x="861988" y="305244"/>
                </a:lnTo>
                <a:lnTo>
                  <a:pt x="876598" y="301201"/>
                </a:lnTo>
                <a:lnTo>
                  <a:pt x="891208" y="296802"/>
                </a:lnTo>
                <a:lnTo>
                  <a:pt x="905818" y="292177"/>
                </a:lnTo>
                <a:lnTo>
                  <a:pt x="920428" y="287441"/>
                </a:lnTo>
                <a:lnTo>
                  <a:pt x="935038" y="282697"/>
                </a:lnTo>
                <a:lnTo>
                  <a:pt x="949648" y="278040"/>
                </a:lnTo>
                <a:lnTo>
                  <a:pt x="964258" y="273554"/>
                </a:lnTo>
                <a:lnTo>
                  <a:pt x="978868" y="269316"/>
                </a:lnTo>
                <a:lnTo>
                  <a:pt x="993478" y="265394"/>
                </a:lnTo>
                <a:lnTo>
                  <a:pt x="1008088" y="261850"/>
                </a:lnTo>
                <a:lnTo>
                  <a:pt x="1022698" y="258738"/>
                </a:lnTo>
                <a:lnTo>
                  <a:pt x="1037308" y="256106"/>
                </a:lnTo>
                <a:lnTo>
                  <a:pt x="1051918" y="253993"/>
                </a:lnTo>
                <a:lnTo>
                  <a:pt x="1066528" y="252429"/>
                </a:lnTo>
                <a:lnTo>
                  <a:pt x="1081138" y="251439"/>
                </a:lnTo>
                <a:lnTo>
                  <a:pt x="1095747" y="251037"/>
                </a:lnTo>
                <a:lnTo>
                  <a:pt x="1110357" y="251229"/>
                </a:lnTo>
                <a:lnTo>
                  <a:pt x="1124967" y="252014"/>
                </a:lnTo>
                <a:lnTo>
                  <a:pt x="1139577" y="253380"/>
                </a:lnTo>
                <a:lnTo>
                  <a:pt x="1154187" y="255310"/>
                </a:lnTo>
                <a:lnTo>
                  <a:pt x="1168797" y="257776"/>
                </a:lnTo>
                <a:lnTo>
                  <a:pt x="1183407" y="260746"/>
                </a:lnTo>
                <a:lnTo>
                  <a:pt x="1198017" y="264180"/>
                </a:lnTo>
                <a:lnTo>
                  <a:pt x="1212627" y="268034"/>
                </a:lnTo>
                <a:lnTo>
                  <a:pt x="1227237" y="272258"/>
                </a:lnTo>
                <a:lnTo>
                  <a:pt x="1241847" y="276799"/>
                </a:lnTo>
                <a:lnTo>
                  <a:pt x="1256457" y="281605"/>
                </a:lnTo>
                <a:lnTo>
                  <a:pt x="1271067" y="286617"/>
                </a:lnTo>
                <a:lnTo>
                  <a:pt x="1285677" y="291782"/>
                </a:lnTo>
                <a:lnTo>
                  <a:pt x="1300287" y="297043"/>
                </a:lnTo>
                <a:lnTo>
                  <a:pt x="1314897" y="302348"/>
                </a:lnTo>
                <a:lnTo>
                  <a:pt x="1329507" y="307646"/>
                </a:lnTo>
                <a:lnTo>
                  <a:pt x="1344117" y="312890"/>
                </a:lnTo>
                <a:lnTo>
                  <a:pt x="1358727" y="318038"/>
                </a:lnTo>
                <a:lnTo>
                  <a:pt x="1373337" y="323051"/>
                </a:lnTo>
                <a:lnTo>
                  <a:pt x="1387947" y="327896"/>
                </a:lnTo>
                <a:lnTo>
                  <a:pt x="1402557" y="332544"/>
                </a:lnTo>
                <a:lnTo>
                  <a:pt x="1417167" y="336971"/>
                </a:lnTo>
                <a:lnTo>
                  <a:pt x="1431777" y="341160"/>
                </a:lnTo>
                <a:lnTo>
                  <a:pt x="1446387" y="345097"/>
                </a:lnTo>
                <a:lnTo>
                  <a:pt x="1460997" y="348773"/>
                </a:lnTo>
                <a:lnTo>
                  <a:pt x="1475607" y="352184"/>
                </a:lnTo>
                <a:lnTo>
                  <a:pt x="1490217" y="355329"/>
                </a:lnTo>
                <a:lnTo>
                  <a:pt x="1504827" y="358212"/>
                </a:lnTo>
                <a:lnTo>
                  <a:pt x="1519437" y="360839"/>
                </a:lnTo>
                <a:lnTo>
                  <a:pt x="1534046" y="363218"/>
                </a:lnTo>
                <a:lnTo>
                  <a:pt x="1548656" y="365360"/>
                </a:lnTo>
                <a:lnTo>
                  <a:pt x="1563266" y="367278"/>
                </a:lnTo>
                <a:lnTo>
                  <a:pt x="1577876" y="368985"/>
                </a:lnTo>
                <a:lnTo>
                  <a:pt x="1592486" y="370497"/>
                </a:lnTo>
                <a:lnTo>
                  <a:pt x="1607096" y="371828"/>
                </a:lnTo>
                <a:lnTo>
                  <a:pt x="1621706" y="372993"/>
                </a:lnTo>
                <a:lnTo>
                  <a:pt x="1636316" y="374008"/>
                </a:lnTo>
                <a:lnTo>
                  <a:pt x="1650926" y="374887"/>
                </a:lnTo>
                <a:lnTo>
                  <a:pt x="1665536" y="375644"/>
                </a:lnTo>
                <a:lnTo>
                  <a:pt x="1680146" y="376294"/>
                </a:lnTo>
                <a:lnTo>
                  <a:pt x="1694756" y="376847"/>
                </a:lnTo>
                <a:lnTo>
                  <a:pt x="1709366" y="377316"/>
                </a:lnTo>
                <a:lnTo>
                  <a:pt x="1723976" y="377712"/>
                </a:lnTo>
                <a:lnTo>
                  <a:pt x="1738586" y="378044"/>
                </a:lnTo>
                <a:lnTo>
                  <a:pt x="1753196" y="378321"/>
                </a:lnTo>
                <a:lnTo>
                  <a:pt x="1767806" y="378551"/>
                </a:lnTo>
                <a:lnTo>
                  <a:pt x="1782416" y="378742"/>
                </a:lnTo>
                <a:lnTo>
                  <a:pt x="1797026" y="378898"/>
                </a:lnTo>
                <a:lnTo>
                  <a:pt x="1811636" y="379026"/>
                </a:lnTo>
                <a:lnTo>
                  <a:pt x="1826246" y="379130"/>
                </a:lnTo>
                <a:lnTo>
                  <a:pt x="1840856" y="379215"/>
                </a:lnTo>
                <a:lnTo>
                  <a:pt x="1855466" y="379282"/>
                </a:lnTo>
                <a:lnTo>
                  <a:pt x="1870076" y="379337"/>
                </a:lnTo>
                <a:lnTo>
                  <a:pt x="1884686" y="379380"/>
                </a:lnTo>
                <a:lnTo>
                  <a:pt x="1899296" y="379415"/>
                </a:lnTo>
                <a:lnTo>
                  <a:pt x="1913906" y="379442"/>
                </a:lnTo>
                <a:lnTo>
                  <a:pt x="1928516" y="379463"/>
                </a:lnTo>
                <a:lnTo>
                  <a:pt x="1943126" y="379480"/>
                </a:lnTo>
                <a:lnTo>
                  <a:pt x="1957736" y="379493"/>
                </a:lnTo>
                <a:lnTo>
                  <a:pt x="1972345" y="379503"/>
                </a:lnTo>
                <a:lnTo>
                  <a:pt x="1986955" y="379511"/>
                </a:lnTo>
                <a:lnTo>
                  <a:pt x="2001565" y="379517"/>
                </a:lnTo>
                <a:lnTo>
                  <a:pt x="2016175" y="379521"/>
                </a:lnTo>
                <a:lnTo>
                  <a:pt x="2030785" y="379525"/>
                </a:lnTo>
                <a:lnTo>
                  <a:pt x="2045395" y="379528"/>
                </a:lnTo>
                <a:lnTo>
                  <a:pt x="2060005" y="379529"/>
                </a:lnTo>
                <a:lnTo>
                  <a:pt x="2074615" y="379531"/>
                </a:lnTo>
                <a:lnTo>
                  <a:pt x="2089225" y="379532"/>
                </a:lnTo>
                <a:lnTo>
                  <a:pt x="2103835" y="379533"/>
                </a:lnTo>
                <a:lnTo>
                  <a:pt x="2118445" y="379533"/>
                </a:lnTo>
                <a:lnTo>
                  <a:pt x="2133055" y="379534"/>
                </a:lnTo>
                <a:lnTo>
                  <a:pt x="2147665" y="379534"/>
                </a:lnTo>
                <a:lnTo>
                  <a:pt x="2162275" y="379534"/>
                </a:lnTo>
                <a:lnTo>
                  <a:pt x="2176885" y="379535"/>
                </a:lnTo>
                <a:lnTo>
                  <a:pt x="2191495" y="379535"/>
                </a:lnTo>
                <a:lnTo>
                  <a:pt x="2206105" y="379535"/>
                </a:lnTo>
                <a:lnTo>
                  <a:pt x="2220715" y="379535"/>
                </a:lnTo>
                <a:lnTo>
                  <a:pt x="2235325" y="379535"/>
                </a:lnTo>
                <a:lnTo>
                  <a:pt x="2249935" y="379535"/>
                </a:lnTo>
                <a:lnTo>
                  <a:pt x="2264545" y="379535"/>
                </a:lnTo>
                <a:lnTo>
                  <a:pt x="2279155" y="379535"/>
                </a:lnTo>
                <a:lnTo>
                  <a:pt x="2293765" y="379535"/>
                </a:lnTo>
                <a:lnTo>
                  <a:pt x="2308375" y="379535"/>
                </a:lnTo>
                <a:lnTo>
                  <a:pt x="2322985" y="379535"/>
                </a:lnTo>
                <a:lnTo>
                  <a:pt x="2337595" y="379535"/>
                </a:lnTo>
                <a:lnTo>
                  <a:pt x="2352205" y="379535"/>
                </a:lnTo>
                <a:lnTo>
                  <a:pt x="2366815" y="379535"/>
                </a:lnTo>
                <a:lnTo>
                  <a:pt x="2381425" y="379535"/>
                </a:lnTo>
                <a:lnTo>
                  <a:pt x="2396035" y="379535"/>
                </a:lnTo>
                <a:lnTo>
                  <a:pt x="2410644" y="379535"/>
                </a:lnTo>
                <a:lnTo>
                  <a:pt x="2425254" y="379535"/>
                </a:lnTo>
                <a:lnTo>
                  <a:pt x="2439864" y="379535"/>
                </a:lnTo>
                <a:lnTo>
                  <a:pt x="2454474" y="379535"/>
                </a:lnTo>
                <a:lnTo>
                  <a:pt x="2469084" y="379535"/>
                </a:lnTo>
                <a:lnTo>
                  <a:pt x="2483694" y="379535"/>
                </a:lnTo>
                <a:lnTo>
                  <a:pt x="2498304" y="379535"/>
                </a:lnTo>
                <a:lnTo>
                  <a:pt x="2512914" y="379535"/>
                </a:lnTo>
                <a:lnTo>
                  <a:pt x="2527524" y="379535"/>
                </a:lnTo>
                <a:lnTo>
                  <a:pt x="2542134" y="379535"/>
                </a:lnTo>
                <a:lnTo>
                  <a:pt x="2556744" y="379535"/>
                </a:lnTo>
                <a:lnTo>
                  <a:pt x="2571354" y="379535"/>
                </a:lnTo>
                <a:lnTo>
                  <a:pt x="2585964" y="379535"/>
                </a:lnTo>
                <a:lnTo>
                  <a:pt x="2600574" y="379535"/>
                </a:lnTo>
                <a:lnTo>
                  <a:pt x="2615184" y="379535"/>
                </a:lnTo>
              </a:path>
            </a:pathLst>
          </a:custGeom>
          <a:noFill/>
          <a:ln w="222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wc2"/>
          <p:cNvSpPr/>
          <p:nvPr/>
        </p:nvSpPr>
        <p:spPr>
          <a:xfrm>
            <a:off x="3163824" y="4028338"/>
            <a:ext cx="2615184" cy="380134"/>
          </a:xfrm>
          <a:custGeom>
            <a:avLst/>
            <a:gdLst/>
            <a:ahLst/>
            <a:cxnLst/>
            <a:rect l="l" t="t" r="r" b="b"/>
            <a:pathLst>
              <a:path w="2615184" h="380134">
                <a:moveTo>
                  <a:pt x="0" y="379554"/>
                </a:moveTo>
                <a:lnTo>
                  <a:pt x="14610" y="379272"/>
                </a:lnTo>
                <a:lnTo>
                  <a:pt x="29220" y="378869"/>
                </a:lnTo>
                <a:lnTo>
                  <a:pt x="43830" y="378301"/>
                </a:lnTo>
                <a:lnTo>
                  <a:pt x="58440" y="377511"/>
                </a:lnTo>
                <a:lnTo>
                  <a:pt x="73050" y="376426"/>
                </a:lnTo>
                <a:lnTo>
                  <a:pt x="87660" y="374958"/>
                </a:lnTo>
                <a:lnTo>
                  <a:pt x="102270" y="372999"/>
                </a:lnTo>
                <a:lnTo>
                  <a:pt x="116880" y="370419"/>
                </a:lnTo>
                <a:lnTo>
                  <a:pt x="131490" y="367071"/>
                </a:lnTo>
                <a:lnTo>
                  <a:pt x="146100" y="362787"/>
                </a:lnTo>
                <a:lnTo>
                  <a:pt x="160710" y="357383"/>
                </a:lnTo>
                <a:lnTo>
                  <a:pt x="175320" y="350666"/>
                </a:lnTo>
                <a:lnTo>
                  <a:pt x="189930" y="342440"/>
                </a:lnTo>
                <a:lnTo>
                  <a:pt x="204540" y="332515"/>
                </a:lnTo>
                <a:lnTo>
                  <a:pt x="219149" y="320722"/>
                </a:lnTo>
                <a:lnTo>
                  <a:pt x="233759" y="306929"/>
                </a:lnTo>
                <a:lnTo>
                  <a:pt x="248369" y="291051"/>
                </a:lnTo>
                <a:lnTo>
                  <a:pt x="262979" y="273072"/>
                </a:lnTo>
                <a:lnTo>
                  <a:pt x="277589" y="253061"/>
                </a:lnTo>
                <a:lnTo>
                  <a:pt x="292199" y="231177"/>
                </a:lnTo>
                <a:lnTo>
                  <a:pt x="306809" y="207689"/>
                </a:lnTo>
                <a:lnTo>
                  <a:pt x="321419" y="182968"/>
                </a:lnTo>
                <a:lnTo>
                  <a:pt x="336029" y="157495"/>
                </a:lnTo>
                <a:lnTo>
                  <a:pt x="350639" y="131841"/>
                </a:lnTo>
                <a:lnTo>
                  <a:pt x="365249" y="106655"/>
                </a:lnTo>
                <a:lnTo>
                  <a:pt x="379859" y="82636"/>
                </a:lnTo>
                <a:lnTo>
                  <a:pt x="394469" y="60501"/>
                </a:lnTo>
                <a:lnTo>
                  <a:pt x="409079" y="40952"/>
                </a:lnTo>
                <a:lnTo>
                  <a:pt x="423689" y="24636"/>
                </a:lnTo>
                <a:lnTo>
                  <a:pt x="438299" y="12109"/>
                </a:lnTo>
                <a:lnTo>
                  <a:pt x="452909" y="3803"/>
                </a:lnTo>
                <a:lnTo>
                  <a:pt x="467519" y="0"/>
                </a:lnTo>
                <a:lnTo>
                  <a:pt x="482129" y="816"/>
                </a:lnTo>
                <a:lnTo>
                  <a:pt x="496739" y="6187"/>
                </a:lnTo>
                <a:lnTo>
                  <a:pt x="511349" y="15880"/>
                </a:lnTo>
                <a:lnTo>
                  <a:pt x="525959" y="29500"/>
                </a:lnTo>
                <a:lnTo>
                  <a:pt x="540569" y="46517"/>
                </a:lnTo>
                <a:lnTo>
                  <a:pt x="555179" y="66294"/>
                </a:lnTo>
                <a:lnTo>
                  <a:pt x="569789" y="88124"/>
                </a:lnTo>
                <a:lnTo>
                  <a:pt x="584399" y="111268"/>
                </a:lnTo>
                <a:lnTo>
                  <a:pt x="599009" y="134988"/>
                </a:lnTo>
                <a:lnTo>
                  <a:pt x="613619" y="158587"/>
                </a:lnTo>
                <a:lnTo>
                  <a:pt x="628229" y="181431"/>
                </a:lnTo>
                <a:lnTo>
                  <a:pt x="642839" y="202976"/>
                </a:lnTo>
                <a:lnTo>
                  <a:pt x="657448" y="222781"/>
                </a:lnTo>
                <a:lnTo>
                  <a:pt x="672058" y="240511"/>
                </a:lnTo>
                <a:lnTo>
                  <a:pt x="686668" y="255943"/>
                </a:lnTo>
                <a:lnTo>
                  <a:pt x="701278" y="268955"/>
                </a:lnTo>
                <a:lnTo>
                  <a:pt x="715888" y="279519"/>
                </a:lnTo>
                <a:lnTo>
                  <a:pt x="730498" y="287682"/>
                </a:lnTo>
                <a:lnTo>
                  <a:pt x="745108" y="293557"/>
                </a:lnTo>
                <a:lnTo>
                  <a:pt x="759718" y="297302"/>
                </a:lnTo>
                <a:lnTo>
                  <a:pt x="774328" y="299108"/>
                </a:lnTo>
                <a:lnTo>
                  <a:pt x="788938" y="299185"/>
                </a:lnTo>
                <a:lnTo>
                  <a:pt x="803548" y="297751"/>
                </a:lnTo>
                <a:lnTo>
                  <a:pt x="818158" y="295025"/>
                </a:lnTo>
                <a:lnTo>
                  <a:pt x="832768" y="291216"/>
                </a:lnTo>
                <a:lnTo>
                  <a:pt x="847378" y="286526"/>
                </a:lnTo>
                <a:lnTo>
                  <a:pt x="861988" y="281140"/>
                </a:lnTo>
                <a:lnTo>
                  <a:pt x="876598" y="275231"/>
                </a:lnTo>
                <a:lnTo>
                  <a:pt x="891208" y="268959"/>
                </a:lnTo>
                <a:lnTo>
                  <a:pt x="905818" y="262470"/>
                </a:lnTo>
                <a:lnTo>
                  <a:pt x="920428" y="255896"/>
                </a:lnTo>
                <a:lnTo>
                  <a:pt x="935038" y="249362"/>
                </a:lnTo>
                <a:lnTo>
                  <a:pt x="949648" y="242980"/>
                </a:lnTo>
                <a:lnTo>
                  <a:pt x="964258" y="236856"/>
                </a:lnTo>
                <a:lnTo>
                  <a:pt x="978868" y="231084"/>
                </a:lnTo>
                <a:lnTo>
                  <a:pt x="993478" y="225753"/>
                </a:lnTo>
                <a:lnTo>
                  <a:pt x="1008088" y="220942"/>
                </a:lnTo>
                <a:lnTo>
                  <a:pt x="1022698" y="216721"/>
                </a:lnTo>
                <a:lnTo>
                  <a:pt x="1037308" y="213153"/>
                </a:lnTo>
                <a:lnTo>
                  <a:pt x="1051918" y="210289"/>
                </a:lnTo>
                <a:lnTo>
                  <a:pt x="1066528" y="208171"/>
                </a:lnTo>
                <a:lnTo>
                  <a:pt x="1081138" y="206830"/>
                </a:lnTo>
                <a:lnTo>
                  <a:pt x="1095747" y="206285"/>
                </a:lnTo>
                <a:lnTo>
                  <a:pt x="1110357" y="206545"/>
                </a:lnTo>
                <a:lnTo>
                  <a:pt x="1124967" y="207606"/>
                </a:lnTo>
                <a:lnTo>
                  <a:pt x="1139577" y="209455"/>
                </a:lnTo>
                <a:lnTo>
                  <a:pt x="1154187" y="212065"/>
                </a:lnTo>
                <a:lnTo>
                  <a:pt x="1168797" y="215402"/>
                </a:lnTo>
                <a:lnTo>
                  <a:pt x="1183407" y="219420"/>
                </a:lnTo>
                <a:lnTo>
                  <a:pt x="1198017" y="224066"/>
                </a:lnTo>
                <a:lnTo>
                  <a:pt x="1212627" y="229279"/>
                </a:lnTo>
                <a:lnTo>
                  <a:pt x="1227237" y="234994"/>
                </a:lnTo>
                <a:lnTo>
                  <a:pt x="1241847" y="241139"/>
                </a:lnTo>
                <a:lnTo>
                  <a:pt x="1256457" y="247640"/>
                </a:lnTo>
                <a:lnTo>
                  <a:pt x="1271067" y="254422"/>
                </a:lnTo>
                <a:lnTo>
                  <a:pt x="1285677" y="261409"/>
                </a:lnTo>
                <a:lnTo>
                  <a:pt x="1300287" y="268527"/>
                </a:lnTo>
                <a:lnTo>
                  <a:pt x="1314897" y="275704"/>
                </a:lnTo>
                <a:lnTo>
                  <a:pt x="1329507" y="282872"/>
                </a:lnTo>
                <a:lnTo>
                  <a:pt x="1344117" y="289968"/>
                </a:lnTo>
                <a:lnTo>
                  <a:pt x="1358727" y="296933"/>
                </a:lnTo>
                <a:lnTo>
                  <a:pt x="1373337" y="303715"/>
                </a:lnTo>
                <a:lnTo>
                  <a:pt x="1387947" y="310270"/>
                </a:lnTo>
                <a:lnTo>
                  <a:pt x="1402557" y="316558"/>
                </a:lnTo>
                <a:lnTo>
                  <a:pt x="1417167" y="322548"/>
                </a:lnTo>
                <a:lnTo>
                  <a:pt x="1431777" y="328215"/>
                </a:lnTo>
                <a:lnTo>
                  <a:pt x="1446387" y="333542"/>
                </a:lnTo>
                <a:lnTo>
                  <a:pt x="1460997" y="338515"/>
                </a:lnTo>
                <a:lnTo>
                  <a:pt x="1475607" y="343130"/>
                </a:lnTo>
                <a:lnTo>
                  <a:pt x="1490217" y="347385"/>
                </a:lnTo>
                <a:lnTo>
                  <a:pt x="1504827" y="351286"/>
                </a:lnTo>
                <a:lnTo>
                  <a:pt x="1519437" y="354839"/>
                </a:lnTo>
                <a:lnTo>
                  <a:pt x="1534046" y="358057"/>
                </a:lnTo>
                <a:lnTo>
                  <a:pt x="1548656" y="360956"/>
                </a:lnTo>
                <a:lnTo>
                  <a:pt x="1563266" y="363551"/>
                </a:lnTo>
                <a:lnTo>
                  <a:pt x="1577876" y="365861"/>
                </a:lnTo>
                <a:lnTo>
                  <a:pt x="1592486" y="367906"/>
                </a:lnTo>
                <a:lnTo>
                  <a:pt x="1607096" y="369707"/>
                </a:lnTo>
                <a:lnTo>
                  <a:pt x="1621706" y="371283"/>
                </a:lnTo>
                <a:lnTo>
                  <a:pt x="1636316" y="372656"/>
                </a:lnTo>
                <a:lnTo>
                  <a:pt x="1650926" y="373846"/>
                </a:lnTo>
                <a:lnTo>
                  <a:pt x="1665536" y="374870"/>
                </a:lnTo>
                <a:lnTo>
                  <a:pt x="1680146" y="375748"/>
                </a:lnTo>
                <a:lnTo>
                  <a:pt x="1694756" y="376497"/>
                </a:lnTo>
                <a:lnTo>
                  <a:pt x="1709366" y="377132"/>
                </a:lnTo>
                <a:lnTo>
                  <a:pt x="1723976" y="377667"/>
                </a:lnTo>
                <a:lnTo>
                  <a:pt x="1738586" y="378116"/>
                </a:lnTo>
                <a:lnTo>
                  <a:pt x="1753196" y="378492"/>
                </a:lnTo>
                <a:lnTo>
                  <a:pt x="1767806" y="378803"/>
                </a:lnTo>
                <a:lnTo>
                  <a:pt x="1782416" y="379061"/>
                </a:lnTo>
                <a:lnTo>
                  <a:pt x="1797026" y="379272"/>
                </a:lnTo>
                <a:lnTo>
                  <a:pt x="1811636" y="379445"/>
                </a:lnTo>
                <a:lnTo>
                  <a:pt x="1826246" y="379586"/>
                </a:lnTo>
                <a:lnTo>
                  <a:pt x="1840856" y="379700"/>
                </a:lnTo>
                <a:lnTo>
                  <a:pt x="1855466" y="379792"/>
                </a:lnTo>
                <a:lnTo>
                  <a:pt x="1870076" y="379866"/>
                </a:lnTo>
                <a:lnTo>
                  <a:pt x="1884686" y="379925"/>
                </a:lnTo>
                <a:lnTo>
                  <a:pt x="1899296" y="379971"/>
                </a:lnTo>
                <a:lnTo>
                  <a:pt x="1913906" y="380008"/>
                </a:lnTo>
                <a:lnTo>
                  <a:pt x="1928516" y="380037"/>
                </a:lnTo>
                <a:lnTo>
                  <a:pt x="1943126" y="380060"/>
                </a:lnTo>
                <a:lnTo>
                  <a:pt x="1957736" y="380077"/>
                </a:lnTo>
                <a:lnTo>
                  <a:pt x="1972345" y="380091"/>
                </a:lnTo>
                <a:lnTo>
                  <a:pt x="1986955" y="380102"/>
                </a:lnTo>
                <a:lnTo>
                  <a:pt x="2001565" y="380110"/>
                </a:lnTo>
                <a:lnTo>
                  <a:pt x="2016175" y="380116"/>
                </a:lnTo>
                <a:lnTo>
                  <a:pt x="2030785" y="380120"/>
                </a:lnTo>
                <a:lnTo>
                  <a:pt x="2045395" y="380124"/>
                </a:lnTo>
                <a:lnTo>
                  <a:pt x="2060005" y="380127"/>
                </a:lnTo>
                <a:lnTo>
                  <a:pt x="2074615" y="380129"/>
                </a:lnTo>
                <a:lnTo>
                  <a:pt x="2089225" y="380130"/>
                </a:lnTo>
                <a:lnTo>
                  <a:pt x="2103835" y="380131"/>
                </a:lnTo>
                <a:lnTo>
                  <a:pt x="2118445" y="380132"/>
                </a:lnTo>
                <a:lnTo>
                  <a:pt x="2133055" y="380132"/>
                </a:lnTo>
                <a:lnTo>
                  <a:pt x="2147665" y="380133"/>
                </a:lnTo>
                <a:lnTo>
                  <a:pt x="2162275" y="380133"/>
                </a:lnTo>
                <a:lnTo>
                  <a:pt x="2176885" y="380133"/>
                </a:lnTo>
                <a:lnTo>
                  <a:pt x="2191495" y="380134"/>
                </a:lnTo>
                <a:lnTo>
                  <a:pt x="2206105" y="380134"/>
                </a:lnTo>
                <a:lnTo>
                  <a:pt x="2220715" y="380134"/>
                </a:lnTo>
                <a:lnTo>
                  <a:pt x="2235325" y="380134"/>
                </a:lnTo>
                <a:lnTo>
                  <a:pt x="2249935" y="380134"/>
                </a:lnTo>
                <a:lnTo>
                  <a:pt x="2264545" y="380134"/>
                </a:lnTo>
                <a:lnTo>
                  <a:pt x="2279155" y="380134"/>
                </a:lnTo>
                <a:lnTo>
                  <a:pt x="2293765" y="380134"/>
                </a:lnTo>
                <a:lnTo>
                  <a:pt x="2308375" y="380134"/>
                </a:lnTo>
                <a:lnTo>
                  <a:pt x="2322985" y="380134"/>
                </a:lnTo>
                <a:lnTo>
                  <a:pt x="2337595" y="380134"/>
                </a:lnTo>
                <a:lnTo>
                  <a:pt x="2352205" y="380134"/>
                </a:lnTo>
                <a:lnTo>
                  <a:pt x="2366815" y="380134"/>
                </a:lnTo>
                <a:lnTo>
                  <a:pt x="2381425" y="380134"/>
                </a:lnTo>
                <a:lnTo>
                  <a:pt x="2396035" y="380134"/>
                </a:lnTo>
                <a:lnTo>
                  <a:pt x="2410644" y="380134"/>
                </a:lnTo>
                <a:lnTo>
                  <a:pt x="2425254" y="380134"/>
                </a:lnTo>
                <a:lnTo>
                  <a:pt x="2439864" y="380134"/>
                </a:lnTo>
                <a:lnTo>
                  <a:pt x="2454474" y="380134"/>
                </a:lnTo>
                <a:lnTo>
                  <a:pt x="2469084" y="380134"/>
                </a:lnTo>
                <a:lnTo>
                  <a:pt x="2483694" y="380134"/>
                </a:lnTo>
                <a:lnTo>
                  <a:pt x="2498304" y="380134"/>
                </a:lnTo>
                <a:lnTo>
                  <a:pt x="2512914" y="380134"/>
                </a:lnTo>
                <a:lnTo>
                  <a:pt x="2527524" y="380134"/>
                </a:lnTo>
                <a:lnTo>
                  <a:pt x="2542134" y="380134"/>
                </a:lnTo>
                <a:lnTo>
                  <a:pt x="2556744" y="380134"/>
                </a:lnTo>
                <a:lnTo>
                  <a:pt x="2571354" y="380134"/>
                </a:lnTo>
                <a:lnTo>
                  <a:pt x="2585964" y="380134"/>
                </a:lnTo>
                <a:lnTo>
                  <a:pt x="2600574" y="380134"/>
                </a:lnTo>
                <a:lnTo>
                  <a:pt x="2615184" y="380134"/>
                </a:lnTo>
              </a:path>
            </a:pathLst>
          </a:custGeom>
          <a:no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m2"/>
          <p:cNvSpPr txBox="1"/>
          <p:nvPr/>
        </p:nvSpPr>
        <p:spPr>
          <a:xfrm>
            <a:off x="6025896" y="3955731"/>
            <a:ext cx="3291840" cy="338554"/>
          </a:xfrm>
          <a:prstGeom prst="rect">
            <a:avLst/>
          </a:prstGeom>
          <a:noFill/>
        </p:spPr>
        <p:txBody>
          <a:bodyPr wrap="square" lIns="0" tIns="0" rIns="0" bIns="0" anchor="ctr">
            <a:spAutoFit/>
          </a:bodyPr>
          <a:lstStyle/>
          <a:p>
            <a:pPr algn="l"/>
            <a:r>
              <a:rPr sz="2200" b="1" dirty="0" err="1">
                <a:solidFill>
                  <a:srgbClr val="262626"/>
                </a:solidFill>
                <a:latin typeface="Meiryo"/>
                <a:ea typeface="Meiryo"/>
                <a:cs typeface="Meiryo"/>
              </a:rPr>
              <a:t>反射波</a:t>
            </a:r>
            <a:r>
              <a:rPr lang="ja-JP" altLang="en-US" sz="2200" b="1">
                <a:solidFill>
                  <a:srgbClr val="262626"/>
                </a:solidFill>
                <a:latin typeface="Meiryo"/>
                <a:ea typeface="Meiryo"/>
                <a:cs typeface="Meiryo"/>
              </a:rPr>
              <a:t>の振幅</a:t>
            </a:r>
            <a:endParaRPr sz="2200" b="1" dirty="0">
              <a:solidFill>
                <a:srgbClr val="262626"/>
              </a:solidFill>
              <a:latin typeface="Meiryo"/>
              <a:ea typeface="Meiryo"/>
              <a:cs typeface="Meiryo"/>
            </a:endParaRPr>
          </a:p>
        </p:txBody>
      </p:sp>
      <p:sp>
        <p:nvSpPr>
          <p:cNvPr id="36" name="g2"/>
          <p:cNvSpPr/>
          <p:nvPr/>
        </p:nvSpPr>
        <p:spPr>
          <a:xfrm>
            <a:off x="9454896" y="3786680"/>
            <a:ext cx="2112264" cy="676656"/>
          </a:xfrm>
          <a:prstGeom prst="roundRect">
            <a:avLst>
              <a:gd name="adj" fmla="val 40000"/>
            </a:avLst>
          </a:prstGeom>
          <a:solidFill>
            <a:srgbClr val="70AD47"/>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a:solidFill>
                  <a:srgbClr val="FFFFFF"/>
                </a:solidFill>
                <a:latin typeface="Meiryo"/>
                <a:ea typeface="Meiryo"/>
                <a:cs typeface="Meiryo"/>
              </a:rPr>
              <a:t>実測</a:t>
            </a:r>
          </a:p>
        </p:txBody>
      </p:sp>
      <p:sp>
        <p:nvSpPr>
          <p:cNvPr id="37" name="f3"/>
          <p:cNvSpPr/>
          <p:nvPr/>
        </p:nvSpPr>
        <p:spPr>
          <a:xfrm>
            <a:off x="548640" y="4536488"/>
            <a:ext cx="2368296" cy="676656"/>
          </a:xfrm>
          <a:prstGeom prst="roundRect">
            <a:avLst>
              <a:gd name="adj" fmla="val 4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dirty="0" err="1">
                <a:solidFill>
                  <a:srgbClr val="262626"/>
                </a:solidFill>
                <a:latin typeface="Meiryo"/>
                <a:ea typeface="Meiryo"/>
                <a:cs typeface="Meiryo"/>
              </a:rPr>
              <a:t>心収縮力</a:t>
            </a:r>
            <a:r>
              <a:rPr sz="2200" b="1" dirty="0">
                <a:solidFill>
                  <a:srgbClr val="262626"/>
                </a:solidFill>
                <a:latin typeface="Meiryo"/>
                <a:ea typeface="Meiryo"/>
                <a:cs typeface="Meiryo"/>
              </a:rPr>
              <a:t> </a:t>
            </a:r>
          </a:p>
        </p:txBody>
      </p:sp>
      <p:sp>
        <p:nvSpPr>
          <p:cNvPr id="38" name="wbox3"/>
          <p:cNvSpPr/>
          <p:nvPr/>
        </p:nvSpPr>
        <p:spPr>
          <a:xfrm>
            <a:off x="3054096" y="4536488"/>
            <a:ext cx="2834640" cy="676656"/>
          </a:xfrm>
          <a:prstGeom prst="roundRect">
            <a:avLst>
              <a:gd name="adj" fmla="val 1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9" name="wbase3"/>
          <p:cNvCxnSpPr/>
          <p:nvPr/>
        </p:nvCxnSpPr>
        <p:spPr>
          <a:xfrm>
            <a:off x="3163824" y="5158280"/>
            <a:ext cx="2615184"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9" name="wg3"/>
          <p:cNvSpPr/>
          <p:nvPr/>
        </p:nvSpPr>
        <p:spPr>
          <a:xfrm>
            <a:off x="3163824" y="4778745"/>
            <a:ext cx="2615184" cy="379535"/>
          </a:xfrm>
          <a:custGeom>
            <a:avLst/>
            <a:gdLst/>
            <a:ahLst/>
            <a:cxnLst/>
            <a:rect l="l" t="t" r="r" b="b"/>
            <a:pathLst>
              <a:path w="2615184" h="379535">
                <a:moveTo>
                  <a:pt x="0" y="378955"/>
                </a:moveTo>
                <a:lnTo>
                  <a:pt x="14610" y="378673"/>
                </a:lnTo>
                <a:lnTo>
                  <a:pt x="29220" y="378271"/>
                </a:lnTo>
                <a:lnTo>
                  <a:pt x="43830" y="377702"/>
                </a:lnTo>
                <a:lnTo>
                  <a:pt x="58440" y="376912"/>
                </a:lnTo>
                <a:lnTo>
                  <a:pt x="73050" y="375828"/>
                </a:lnTo>
                <a:lnTo>
                  <a:pt x="87660" y="374360"/>
                </a:lnTo>
                <a:lnTo>
                  <a:pt x="102270" y="372401"/>
                </a:lnTo>
                <a:lnTo>
                  <a:pt x="116880" y="369821"/>
                </a:lnTo>
                <a:lnTo>
                  <a:pt x="131490" y="366474"/>
                </a:lnTo>
                <a:lnTo>
                  <a:pt x="146100" y="362190"/>
                </a:lnTo>
                <a:lnTo>
                  <a:pt x="160710" y="356787"/>
                </a:lnTo>
                <a:lnTo>
                  <a:pt x="175320" y="350072"/>
                </a:lnTo>
                <a:lnTo>
                  <a:pt x="189930" y="341847"/>
                </a:lnTo>
                <a:lnTo>
                  <a:pt x="204540" y="331923"/>
                </a:lnTo>
                <a:lnTo>
                  <a:pt x="219149" y="320133"/>
                </a:lnTo>
                <a:lnTo>
                  <a:pt x="233759" y="306343"/>
                </a:lnTo>
                <a:lnTo>
                  <a:pt x="248369" y="290469"/>
                </a:lnTo>
                <a:lnTo>
                  <a:pt x="262979" y="272496"/>
                </a:lnTo>
                <a:lnTo>
                  <a:pt x="277589" y="252492"/>
                </a:lnTo>
                <a:lnTo>
                  <a:pt x="292199" y="230617"/>
                </a:lnTo>
                <a:lnTo>
                  <a:pt x="306809" y="207139"/>
                </a:lnTo>
                <a:lnTo>
                  <a:pt x="321419" y="182433"/>
                </a:lnTo>
                <a:lnTo>
                  <a:pt x="336029" y="156978"/>
                </a:lnTo>
                <a:lnTo>
                  <a:pt x="350639" y="131346"/>
                </a:lnTo>
                <a:lnTo>
                  <a:pt x="365249" y="106187"/>
                </a:lnTo>
                <a:lnTo>
                  <a:pt x="379859" y="82202"/>
                </a:lnTo>
                <a:lnTo>
                  <a:pt x="394469" y="60109"/>
                </a:lnTo>
                <a:lnTo>
                  <a:pt x="409079" y="40612"/>
                </a:lnTo>
                <a:lnTo>
                  <a:pt x="423689" y="24358"/>
                </a:lnTo>
                <a:lnTo>
                  <a:pt x="438299" y="11907"/>
                </a:lnTo>
                <a:lnTo>
                  <a:pt x="452909" y="3693"/>
                </a:lnTo>
                <a:lnTo>
                  <a:pt x="467519" y="0"/>
                </a:lnTo>
                <a:lnTo>
                  <a:pt x="482129" y="947"/>
                </a:lnTo>
                <a:lnTo>
                  <a:pt x="496739" y="6474"/>
                </a:lnTo>
                <a:lnTo>
                  <a:pt x="511349" y="16351"/>
                </a:lnTo>
                <a:lnTo>
                  <a:pt x="525959" y="30187"/>
                </a:lnTo>
                <a:lnTo>
                  <a:pt x="540569" y="47457"/>
                </a:lnTo>
                <a:lnTo>
                  <a:pt x="555179" y="67528"/>
                </a:lnTo>
                <a:lnTo>
                  <a:pt x="569789" y="89699"/>
                </a:lnTo>
                <a:lnTo>
                  <a:pt x="584399" y="113234"/>
                </a:lnTo>
                <a:lnTo>
                  <a:pt x="599009" y="137403"/>
                </a:lnTo>
                <a:lnTo>
                  <a:pt x="613619" y="161511"/>
                </a:lnTo>
                <a:lnTo>
                  <a:pt x="628229" y="184933"/>
                </a:lnTo>
                <a:lnTo>
                  <a:pt x="642839" y="207128"/>
                </a:lnTo>
                <a:lnTo>
                  <a:pt x="657448" y="227659"/>
                </a:lnTo>
                <a:lnTo>
                  <a:pt x="672058" y="246199"/>
                </a:lnTo>
                <a:lnTo>
                  <a:pt x="686668" y="262526"/>
                </a:lnTo>
                <a:lnTo>
                  <a:pt x="701278" y="276523"/>
                </a:lnTo>
                <a:lnTo>
                  <a:pt x="715888" y="288163"/>
                </a:lnTo>
                <a:lnTo>
                  <a:pt x="730498" y="297496"/>
                </a:lnTo>
                <a:lnTo>
                  <a:pt x="745108" y="304635"/>
                </a:lnTo>
                <a:lnTo>
                  <a:pt x="759718" y="309736"/>
                </a:lnTo>
                <a:lnTo>
                  <a:pt x="774328" y="312989"/>
                </a:lnTo>
                <a:lnTo>
                  <a:pt x="788938" y="314599"/>
                </a:lnTo>
                <a:lnTo>
                  <a:pt x="803548" y="314779"/>
                </a:lnTo>
                <a:lnTo>
                  <a:pt x="818158" y="313738"/>
                </a:lnTo>
                <a:lnTo>
                  <a:pt x="832768" y="311679"/>
                </a:lnTo>
                <a:lnTo>
                  <a:pt x="847378" y="308790"/>
                </a:lnTo>
                <a:lnTo>
                  <a:pt x="861988" y="305244"/>
                </a:lnTo>
                <a:lnTo>
                  <a:pt x="876598" y="301201"/>
                </a:lnTo>
                <a:lnTo>
                  <a:pt x="891208" y="296802"/>
                </a:lnTo>
                <a:lnTo>
                  <a:pt x="905818" y="292177"/>
                </a:lnTo>
                <a:lnTo>
                  <a:pt x="920428" y="287441"/>
                </a:lnTo>
                <a:lnTo>
                  <a:pt x="935038" y="282697"/>
                </a:lnTo>
                <a:lnTo>
                  <a:pt x="949648" y="278040"/>
                </a:lnTo>
                <a:lnTo>
                  <a:pt x="964258" y="273554"/>
                </a:lnTo>
                <a:lnTo>
                  <a:pt x="978868" y="269316"/>
                </a:lnTo>
                <a:lnTo>
                  <a:pt x="993478" y="265394"/>
                </a:lnTo>
                <a:lnTo>
                  <a:pt x="1008088" y="261850"/>
                </a:lnTo>
                <a:lnTo>
                  <a:pt x="1022698" y="258738"/>
                </a:lnTo>
                <a:lnTo>
                  <a:pt x="1037308" y="256106"/>
                </a:lnTo>
                <a:lnTo>
                  <a:pt x="1051918" y="253993"/>
                </a:lnTo>
                <a:lnTo>
                  <a:pt x="1066528" y="252429"/>
                </a:lnTo>
                <a:lnTo>
                  <a:pt x="1081138" y="251439"/>
                </a:lnTo>
                <a:lnTo>
                  <a:pt x="1095747" y="251037"/>
                </a:lnTo>
                <a:lnTo>
                  <a:pt x="1110357" y="251229"/>
                </a:lnTo>
                <a:lnTo>
                  <a:pt x="1124967" y="252014"/>
                </a:lnTo>
                <a:lnTo>
                  <a:pt x="1139577" y="253380"/>
                </a:lnTo>
                <a:lnTo>
                  <a:pt x="1154187" y="255310"/>
                </a:lnTo>
                <a:lnTo>
                  <a:pt x="1168797" y="257776"/>
                </a:lnTo>
                <a:lnTo>
                  <a:pt x="1183407" y="260746"/>
                </a:lnTo>
                <a:lnTo>
                  <a:pt x="1198017" y="264180"/>
                </a:lnTo>
                <a:lnTo>
                  <a:pt x="1212627" y="268034"/>
                </a:lnTo>
                <a:lnTo>
                  <a:pt x="1227237" y="272258"/>
                </a:lnTo>
                <a:lnTo>
                  <a:pt x="1241847" y="276799"/>
                </a:lnTo>
                <a:lnTo>
                  <a:pt x="1256457" y="281605"/>
                </a:lnTo>
                <a:lnTo>
                  <a:pt x="1271067" y="286617"/>
                </a:lnTo>
                <a:lnTo>
                  <a:pt x="1285677" y="291782"/>
                </a:lnTo>
                <a:lnTo>
                  <a:pt x="1300287" y="297043"/>
                </a:lnTo>
                <a:lnTo>
                  <a:pt x="1314897" y="302348"/>
                </a:lnTo>
                <a:lnTo>
                  <a:pt x="1329507" y="307646"/>
                </a:lnTo>
                <a:lnTo>
                  <a:pt x="1344117" y="312890"/>
                </a:lnTo>
                <a:lnTo>
                  <a:pt x="1358727" y="318038"/>
                </a:lnTo>
                <a:lnTo>
                  <a:pt x="1373337" y="323051"/>
                </a:lnTo>
                <a:lnTo>
                  <a:pt x="1387947" y="327896"/>
                </a:lnTo>
                <a:lnTo>
                  <a:pt x="1402557" y="332544"/>
                </a:lnTo>
                <a:lnTo>
                  <a:pt x="1417167" y="336971"/>
                </a:lnTo>
                <a:lnTo>
                  <a:pt x="1431777" y="341160"/>
                </a:lnTo>
                <a:lnTo>
                  <a:pt x="1446387" y="345097"/>
                </a:lnTo>
                <a:lnTo>
                  <a:pt x="1460997" y="348773"/>
                </a:lnTo>
                <a:lnTo>
                  <a:pt x="1475607" y="352184"/>
                </a:lnTo>
                <a:lnTo>
                  <a:pt x="1490217" y="355329"/>
                </a:lnTo>
                <a:lnTo>
                  <a:pt x="1504827" y="358212"/>
                </a:lnTo>
                <a:lnTo>
                  <a:pt x="1519437" y="360839"/>
                </a:lnTo>
                <a:lnTo>
                  <a:pt x="1534046" y="363218"/>
                </a:lnTo>
                <a:lnTo>
                  <a:pt x="1548656" y="365360"/>
                </a:lnTo>
                <a:lnTo>
                  <a:pt x="1563266" y="367278"/>
                </a:lnTo>
                <a:lnTo>
                  <a:pt x="1577876" y="368985"/>
                </a:lnTo>
                <a:lnTo>
                  <a:pt x="1592486" y="370497"/>
                </a:lnTo>
                <a:lnTo>
                  <a:pt x="1607096" y="371828"/>
                </a:lnTo>
                <a:lnTo>
                  <a:pt x="1621706" y="372993"/>
                </a:lnTo>
                <a:lnTo>
                  <a:pt x="1636316" y="374008"/>
                </a:lnTo>
                <a:lnTo>
                  <a:pt x="1650926" y="374887"/>
                </a:lnTo>
                <a:lnTo>
                  <a:pt x="1665536" y="375644"/>
                </a:lnTo>
                <a:lnTo>
                  <a:pt x="1680146" y="376294"/>
                </a:lnTo>
                <a:lnTo>
                  <a:pt x="1694756" y="376847"/>
                </a:lnTo>
                <a:lnTo>
                  <a:pt x="1709366" y="377316"/>
                </a:lnTo>
                <a:lnTo>
                  <a:pt x="1723976" y="377712"/>
                </a:lnTo>
                <a:lnTo>
                  <a:pt x="1738586" y="378044"/>
                </a:lnTo>
                <a:lnTo>
                  <a:pt x="1753196" y="378321"/>
                </a:lnTo>
                <a:lnTo>
                  <a:pt x="1767806" y="378551"/>
                </a:lnTo>
                <a:lnTo>
                  <a:pt x="1782416" y="378742"/>
                </a:lnTo>
                <a:lnTo>
                  <a:pt x="1797026" y="378898"/>
                </a:lnTo>
                <a:lnTo>
                  <a:pt x="1811636" y="379026"/>
                </a:lnTo>
                <a:lnTo>
                  <a:pt x="1826246" y="379130"/>
                </a:lnTo>
                <a:lnTo>
                  <a:pt x="1840856" y="379215"/>
                </a:lnTo>
                <a:lnTo>
                  <a:pt x="1855466" y="379282"/>
                </a:lnTo>
                <a:lnTo>
                  <a:pt x="1870076" y="379337"/>
                </a:lnTo>
                <a:lnTo>
                  <a:pt x="1884686" y="379380"/>
                </a:lnTo>
                <a:lnTo>
                  <a:pt x="1899296" y="379415"/>
                </a:lnTo>
                <a:lnTo>
                  <a:pt x="1913906" y="379442"/>
                </a:lnTo>
                <a:lnTo>
                  <a:pt x="1928516" y="379463"/>
                </a:lnTo>
                <a:lnTo>
                  <a:pt x="1943126" y="379480"/>
                </a:lnTo>
                <a:lnTo>
                  <a:pt x="1957736" y="379493"/>
                </a:lnTo>
                <a:lnTo>
                  <a:pt x="1972345" y="379503"/>
                </a:lnTo>
                <a:lnTo>
                  <a:pt x="1986955" y="379511"/>
                </a:lnTo>
                <a:lnTo>
                  <a:pt x="2001565" y="379517"/>
                </a:lnTo>
                <a:lnTo>
                  <a:pt x="2016175" y="379521"/>
                </a:lnTo>
                <a:lnTo>
                  <a:pt x="2030785" y="379525"/>
                </a:lnTo>
                <a:lnTo>
                  <a:pt x="2045395" y="379528"/>
                </a:lnTo>
                <a:lnTo>
                  <a:pt x="2060005" y="379529"/>
                </a:lnTo>
                <a:lnTo>
                  <a:pt x="2074615" y="379531"/>
                </a:lnTo>
                <a:lnTo>
                  <a:pt x="2089225" y="379532"/>
                </a:lnTo>
                <a:lnTo>
                  <a:pt x="2103835" y="379533"/>
                </a:lnTo>
                <a:lnTo>
                  <a:pt x="2118445" y="379533"/>
                </a:lnTo>
                <a:lnTo>
                  <a:pt x="2133055" y="379534"/>
                </a:lnTo>
                <a:lnTo>
                  <a:pt x="2147665" y="379534"/>
                </a:lnTo>
                <a:lnTo>
                  <a:pt x="2162275" y="379534"/>
                </a:lnTo>
                <a:lnTo>
                  <a:pt x="2176885" y="379535"/>
                </a:lnTo>
                <a:lnTo>
                  <a:pt x="2191495" y="379535"/>
                </a:lnTo>
                <a:lnTo>
                  <a:pt x="2206105" y="379535"/>
                </a:lnTo>
                <a:lnTo>
                  <a:pt x="2220715" y="379535"/>
                </a:lnTo>
                <a:lnTo>
                  <a:pt x="2235325" y="379535"/>
                </a:lnTo>
                <a:lnTo>
                  <a:pt x="2249935" y="379535"/>
                </a:lnTo>
                <a:lnTo>
                  <a:pt x="2264545" y="379535"/>
                </a:lnTo>
                <a:lnTo>
                  <a:pt x="2279155" y="379535"/>
                </a:lnTo>
                <a:lnTo>
                  <a:pt x="2293765" y="379535"/>
                </a:lnTo>
                <a:lnTo>
                  <a:pt x="2308375" y="379535"/>
                </a:lnTo>
                <a:lnTo>
                  <a:pt x="2322985" y="379535"/>
                </a:lnTo>
                <a:lnTo>
                  <a:pt x="2337595" y="379535"/>
                </a:lnTo>
                <a:lnTo>
                  <a:pt x="2352205" y="379535"/>
                </a:lnTo>
                <a:lnTo>
                  <a:pt x="2366815" y="379535"/>
                </a:lnTo>
                <a:lnTo>
                  <a:pt x="2381425" y="379535"/>
                </a:lnTo>
                <a:lnTo>
                  <a:pt x="2396035" y="379535"/>
                </a:lnTo>
                <a:lnTo>
                  <a:pt x="2410644" y="379535"/>
                </a:lnTo>
                <a:lnTo>
                  <a:pt x="2425254" y="379535"/>
                </a:lnTo>
                <a:lnTo>
                  <a:pt x="2439864" y="379535"/>
                </a:lnTo>
                <a:lnTo>
                  <a:pt x="2454474" y="379535"/>
                </a:lnTo>
                <a:lnTo>
                  <a:pt x="2469084" y="379535"/>
                </a:lnTo>
                <a:lnTo>
                  <a:pt x="2483694" y="379535"/>
                </a:lnTo>
                <a:lnTo>
                  <a:pt x="2498304" y="379535"/>
                </a:lnTo>
                <a:lnTo>
                  <a:pt x="2512914" y="379535"/>
                </a:lnTo>
                <a:lnTo>
                  <a:pt x="2527524" y="379535"/>
                </a:lnTo>
                <a:lnTo>
                  <a:pt x="2542134" y="379535"/>
                </a:lnTo>
                <a:lnTo>
                  <a:pt x="2556744" y="379535"/>
                </a:lnTo>
                <a:lnTo>
                  <a:pt x="2571354" y="379535"/>
                </a:lnTo>
                <a:lnTo>
                  <a:pt x="2585964" y="379535"/>
                </a:lnTo>
                <a:lnTo>
                  <a:pt x="2600574" y="379535"/>
                </a:lnTo>
                <a:lnTo>
                  <a:pt x="2615184" y="379535"/>
                </a:lnTo>
              </a:path>
            </a:pathLst>
          </a:custGeom>
          <a:noFill/>
          <a:ln w="222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wc3"/>
          <p:cNvSpPr/>
          <p:nvPr/>
        </p:nvSpPr>
        <p:spPr>
          <a:xfrm>
            <a:off x="3163824" y="4722504"/>
            <a:ext cx="2615184" cy="435776"/>
          </a:xfrm>
          <a:custGeom>
            <a:avLst/>
            <a:gdLst/>
            <a:ahLst/>
            <a:cxnLst/>
            <a:rect l="l" t="t" r="r" b="b"/>
            <a:pathLst>
              <a:path w="2615184" h="435776">
                <a:moveTo>
                  <a:pt x="0" y="435629"/>
                </a:moveTo>
                <a:lnTo>
                  <a:pt x="14610" y="435522"/>
                </a:lnTo>
                <a:lnTo>
                  <a:pt x="29220" y="435346"/>
                </a:lnTo>
                <a:lnTo>
                  <a:pt x="43830" y="435060"/>
                </a:lnTo>
                <a:lnTo>
                  <a:pt x="58440" y="434608"/>
                </a:lnTo>
                <a:lnTo>
                  <a:pt x="73050" y="433906"/>
                </a:lnTo>
                <a:lnTo>
                  <a:pt x="87660" y="432840"/>
                </a:lnTo>
                <a:lnTo>
                  <a:pt x="102270" y="431255"/>
                </a:lnTo>
                <a:lnTo>
                  <a:pt x="116880" y="428948"/>
                </a:lnTo>
                <a:lnTo>
                  <a:pt x="131490" y="425664"/>
                </a:lnTo>
                <a:lnTo>
                  <a:pt x="146100" y="421089"/>
                </a:lnTo>
                <a:lnTo>
                  <a:pt x="160710" y="414855"/>
                </a:lnTo>
                <a:lnTo>
                  <a:pt x="175320" y="406551"/>
                </a:lnTo>
                <a:lnTo>
                  <a:pt x="189930" y="395739"/>
                </a:lnTo>
                <a:lnTo>
                  <a:pt x="204540" y="381985"/>
                </a:lnTo>
                <a:lnTo>
                  <a:pt x="219149" y="364902"/>
                </a:lnTo>
                <a:lnTo>
                  <a:pt x="233759" y="344195"/>
                </a:lnTo>
                <a:lnTo>
                  <a:pt x="248369" y="319723"/>
                </a:lnTo>
                <a:lnTo>
                  <a:pt x="262979" y="291550"/>
                </a:lnTo>
                <a:lnTo>
                  <a:pt x="277589" y="259997"/>
                </a:lnTo>
                <a:lnTo>
                  <a:pt x="292199" y="225677"/>
                </a:lnTo>
                <a:lnTo>
                  <a:pt x="306809" y="189500"/>
                </a:lnTo>
                <a:lnTo>
                  <a:pt x="321419" y="152663"/>
                </a:lnTo>
                <a:lnTo>
                  <a:pt x="336029" y="116593"/>
                </a:lnTo>
                <a:lnTo>
                  <a:pt x="350639" y="82863"/>
                </a:lnTo>
                <a:lnTo>
                  <a:pt x="365249" y="53086"/>
                </a:lnTo>
                <a:lnTo>
                  <a:pt x="379859" y="28785"/>
                </a:lnTo>
                <a:lnTo>
                  <a:pt x="394469" y="11263"/>
                </a:lnTo>
                <a:lnTo>
                  <a:pt x="409079" y="1488"/>
                </a:lnTo>
                <a:lnTo>
                  <a:pt x="423689" y="0"/>
                </a:lnTo>
                <a:lnTo>
                  <a:pt x="438299" y="6858"/>
                </a:lnTo>
                <a:lnTo>
                  <a:pt x="452909" y="21639"/>
                </a:lnTo>
                <a:lnTo>
                  <a:pt x="467519" y="43470"/>
                </a:lnTo>
                <a:lnTo>
                  <a:pt x="482129" y="71115"/>
                </a:lnTo>
                <a:lnTo>
                  <a:pt x="496739" y="103083"/>
                </a:lnTo>
                <a:lnTo>
                  <a:pt x="511349" y="137758"/>
                </a:lnTo>
                <a:lnTo>
                  <a:pt x="525959" y="173526"/>
                </a:lnTo>
                <a:lnTo>
                  <a:pt x="540569" y="208893"/>
                </a:lnTo>
                <a:lnTo>
                  <a:pt x="555179" y="242576"/>
                </a:lnTo>
                <a:lnTo>
                  <a:pt x="569789" y="273565"/>
                </a:lnTo>
                <a:lnTo>
                  <a:pt x="584399" y="301148"/>
                </a:lnTo>
                <a:lnTo>
                  <a:pt x="599009" y="324911"/>
                </a:lnTo>
                <a:lnTo>
                  <a:pt x="613619" y="344709"/>
                </a:lnTo>
                <a:lnTo>
                  <a:pt x="628229" y="360620"/>
                </a:lnTo>
                <a:lnTo>
                  <a:pt x="642839" y="372891"/>
                </a:lnTo>
                <a:lnTo>
                  <a:pt x="657448" y="381880"/>
                </a:lnTo>
                <a:lnTo>
                  <a:pt x="672058" y="388007"/>
                </a:lnTo>
                <a:lnTo>
                  <a:pt x="686668" y="391710"/>
                </a:lnTo>
                <a:lnTo>
                  <a:pt x="701278" y="393411"/>
                </a:lnTo>
                <a:lnTo>
                  <a:pt x="715888" y="393495"/>
                </a:lnTo>
                <a:lnTo>
                  <a:pt x="730498" y="392301"/>
                </a:lnTo>
                <a:lnTo>
                  <a:pt x="745108" y="390113"/>
                </a:lnTo>
                <a:lnTo>
                  <a:pt x="759718" y="387164"/>
                </a:lnTo>
                <a:lnTo>
                  <a:pt x="774328" y="383644"/>
                </a:lnTo>
                <a:lnTo>
                  <a:pt x="788938" y="379704"/>
                </a:lnTo>
                <a:lnTo>
                  <a:pt x="803548" y="375464"/>
                </a:lnTo>
                <a:lnTo>
                  <a:pt x="818158" y="371025"/>
                </a:lnTo>
                <a:lnTo>
                  <a:pt x="832768" y="366468"/>
                </a:lnTo>
                <a:lnTo>
                  <a:pt x="847378" y="361866"/>
                </a:lnTo>
                <a:lnTo>
                  <a:pt x="861988" y="357281"/>
                </a:lnTo>
                <a:lnTo>
                  <a:pt x="876598" y="352774"/>
                </a:lnTo>
                <a:lnTo>
                  <a:pt x="891208" y="348401"/>
                </a:lnTo>
                <a:lnTo>
                  <a:pt x="905818" y="344215"/>
                </a:lnTo>
                <a:lnTo>
                  <a:pt x="920428" y="340270"/>
                </a:lnTo>
                <a:lnTo>
                  <a:pt x="935038" y="336613"/>
                </a:lnTo>
                <a:lnTo>
                  <a:pt x="949648" y="333292"/>
                </a:lnTo>
                <a:lnTo>
                  <a:pt x="964258" y="330349"/>
                </a:lnTo>
                <a:lnTo>
                  <a:pt x="978868" y="327824"/>
                </a:lnTo>
                <a:lnTo>
                  <a:pt x="993478" y="325750"/>
                </a:lnTo>
                <a:lnTo>
                  <a:pt x="1008088" y="324155"/>
                </a:lnTo>
                <a:lnTo>
                  <a:pt x="1022698" y="323062"/>
                </a:lnTo>
                <a:lnTo>
                  <a:pt x="1037308" y="322485"/>
                </a:lnTo>
                <a:lnTo>
                  <a:pt x="1051918" y="322432"/>
                </a:lnTo>
                <a:lnTo>
                  <a:pt x="1066528" y="322905"/>
                </a:lnTo>
                <a:lnTo>
                  <a:pt x="1081138" y="323896"/>
                </a:lnTo>
                <a:lnTo>
                  <a:pt x="1095747" y="325392"/>
                </a:lnTo>
                <a:lnTo>
                  <a:pt x="1110357" y="327372"/>
                </a:lnTo>
                <a:lnTo>
                  <a:pt x="1124967" y="329810"/>
                </a:lnTo>
                <a:lnTo>
                  <a:pt x="1139577" y="332672"/>
                </a:lnTo>
                <a:lnTo>
                  <a:pt x="1154187" y="335922"/>
                </a:lnTo>
                <a:lnTo>
                  <a:pt x="1168797" y="339517"/>
                </a:lnTo>
                <a:lnTo>
                  <a:pt x="1183407" y="343413"/>
                </a:lnTo>
                <a:lnTo>
                  <a:pt x="1198017" y="347561"/>
                </a:lnTo>
                <a:lnTo>
                  <a:pt x="1212627" y="351913"/>
                </a:lnTo>
                <a:lnTo>
                  <a:pt x="1227237" y="356420"/>
                </a:lnTo>
                <a:lnTo>
                  <a:pt x="1241847" y="361032"/>
                </a:lnTo>
                <a:lnTo>
                  <a:pt x="1256457" y="365702"/>
                </a:lnTo>
                <a:lnTo>
                  <a:pt x="1271067" y="370384"/>
                </a:lnTo>
                <a:lnTo>
                  <a:pt x="1285677" y="375037"/>
                </a:lnTo>
                <a:lnTo>
                  <a:pt x="1300287" y="379619"/>
                </a:lnTo>
                <a:lnTo>
                  <a:pt x="1314897" y="384096"/>
                </a:lnTo>
                <a:lnTo>
                  <a:pt x="1329507" y="388437"/>
                </a:lnTo>
                <a:lnTo>
                  <a:pt x="1344117" y="392613"/>
                </a:lnTo>
                <a:lnTo>
                  <a:pt x="1358727" y="396604"/>
                </a:lnTo>
                <a:lnTo>
                  <a:pt x="1373337" y="400390"/>
                </a:lnTo>
                <a:lnTo>
                  <a:pt x="1387947" y="403958"/>
                </a:lnTo>
                <a:lnTo>
                  <a:pt x="1402557" y="407299"/>
                </a:lnTo>
                <a:lnTo>
                  <a:pt x="1417167" y="410407"/>
                </a:lnTo>
                <a:lnTo>
                  <a:pt x="1431777" y="413281"/>
                </a:lnTo>
                <a:lnTo>
                  <a:pt x="1446387" y="415921"/>
                </a:lnTo>
                <a:lnTo>
                  <a:pt x="1460997" y="418333"/>
                </a:lnTo>
                <a:lnTo>
                  <a:pt x="1475607" y="420523"/>
                </a:lnTo>
                <a:lnTo>
                  <a:pt x="1490217" y="422499"/>
                </a:lnTo>
                <a:lnTo>
                  <a:pt x="1504827" y="424273"/>
                </a:lnTo>
                <a:lnTo>
                  <a:pt x="1519437" y="425856"/>
                </a:lnTo>
                <a:lnTo>
                  <a:pt x="1534046" y="427261"/>
                </a:lnTo>
                <a:lnTo>
                  <a:pt x="1548656" y="428501"/>
                </a:lnTo>
                <a:lnTo>
                  <a:pt x="1563266" y="429589"/>
                </a:lnTo>
                <a:lnTo>
                  <a:pt x="1577876" y="430539"/>
                </a:lnTo>
                <a:lnTo>
                  <a:pt x="1592486" y="431363"/>
                </a:lnTo>
                <a:lnTo>
                  <a:pt x="1607096" y="432075"/>
                </a:lnTo>
                <a:lnTo>
                  <a:pt x="1621706" y="432686"/>
                </a:lnTo>
                <a:lnTo>
                  <a:pt x="1636316" y="433209"/>
                </a:lnTo>
                <a:lnTo>
                  <a:pt x="1650926" y="433653"/>
                </a:lnTo>
                <a:lnTo>
                  <a:pt x="1665536" y="434028"/>
                </a:lnTo>
                <a:lnTo>
                  <a:pt x="1680146" y="434343"/>
                </a:lnTo>
                <a:lnTo>
                  <a:pt x="1694756" y="434608"/>
                </a:lnTo>
                <a:lnTo>
                  <a:pt x="1709366" y="434827"/>
                </a:lnTo>
                <a:lnTo>
                  <a:pt x="1723976" y="435009"/>
                </a:lnTo>
                <a:lnTo>
                  <a:pt x="1738586" y="435159"/>
                </a:lnTo>
                <a:lnTo>
                  <a:pt x="1753196" y="435282"/>
                </a:lnTo>
                <a:lnTo>
                  <a:pt x="1767806" y="435383"/>
                </a:lnTo>
                <a:lnTo>
                  <a:pt x="1782416" y="435464"/>
                </a:lnTo>
                <a:lnTo>
                  <a:pt x="1797026" y="435530"/>
                </a:lnTo>
                <a:lnTo>
                  <a:pt x="1811636" y="435582"/>
                </a:lnTo>
                <a:lnTo>
                  <a:pt x="1826246" y="435624"/>
                </a:lnTo>
                <a:lnTo>
                  <a:pt x="1840856" y="435658"/>
                </a:lnTo>
                <a:lnTo>
                  <a:pt x="1855466" y="435685"/>
                </a:lnTo>
                <a:lnTo>
                  <a:pt x="1870076" y="435705"/>
                </a:lnTo>
                <a:lnTo>
                  <a:pt x="1884686" y="435722"/>
                </a:lnTo>
                <a:lnTo>
                  <a:pt x="1899296" y="435735"/>
                </a:lnTo>
                <a:lnTo>
                  <a:pt x="1913906" y="435745"/>
                </a:lnTo>
                <a:lnTo>
                  <a:pt x="1928516" y="435752"/>
                </a:lnTo>
                <a:lnTo>
                  <a:pt x="1943126" y="435758"/>
                </a:lnTo>
                <a:lnTo>
                  <a:pt x="1957736" y="435763"/>
                </a:lnTo>
                <a:lnTo>
                  <a:pt x="1972345" y="435766"/>
                </a:lnTo>
                <a:lnTo>
                  <a:pt x="1986955" y="435769"/>
                </a:lnTo>
                <a:lnTo>
                  <a:pt x="2001565" y="435770"/>
                </a:lnTo>
                <a:lnTo>
                  <a:pt x="2016175" y="435772"/>
                </a:lnTo>
                <a:lnTo>
                  <a:pt x="2030785" y="435773"/>
                </a:lnTo>
                <a:lnTo>
                  <a:pt x="2045395" y="435774"/>
                </a:lnTo>
                <a:lnTo>
                  <a:pt x="2060005" y="435774"/>
                </a:lnTo>
                <a:lnTo>
                  <a:pt x="2074615" y="435775"/>
                </a:lnTo>
                <a:lnTo>
                  <a:pt x="2089225" y="435775"/>
                </a:lnTo>
                <a:lnTo>
                  <a:pt x="2103835" y="435775"/>
                </a:lnTo>
                <a:lnTo>
                  <a:pt x="2118445" y="435776"/>
                </a:lnTo>
                <a:lnTo>
                  <a:pt x="2133055" y="435776"/>
                </a:lnTo>
                <a:lnTo>
                  <a:pt x="2147665" y="435776"/>
                </a:lnTo>
                <a:lnTo>
                  <a:pt x="2162275" y="435776"/>
                </a:lnTo>
                <a:lnTo>
                  <a:pt x="2176885" y="435776"/>
                </a:lnTo>
                <a:lnTo>
                  <a:pt x="2191495" y="435776"/>
                </a:lnTo>
                <a:lnTo>
                  <a:pt x="2206105" y="435776"/>
                </a:lnTo>
                <a:lnTo>
                  <a:pt x="2220715" y="435776"/>
                </a:lnTo>
                <a:lnTo>
                  <a:pt x="2235325" y="435776"/>
                </a:lnTo>
                <a:lnTo>
                  <a:pt x="2249935" y="435776"/>
                </a:lnTo>
                <a:lnTo>
                  <a:pt x="2264545" y="435776"/>
                </a:lnTo>
                <a:lnTo>
                  <a:pt x="2279155" y="435776"/>
                </a:lnTo>
                <a:lnTo>
                  <a:pt x="2293765" y="435776"/>
                </a:lnTo>
                <a:lnTo>
                  <a:pt x="2308375" y="435776"/>
                </a:lnTo>
                <a:lnTo>
                  <a:pt x="2322985" y="435776"/>
                </a:lnTo>
                <a:lnTo>
                  <a:pt x="2337595" y="435776"/>
                </a:lnTo>
                <a:lnTo>
                  <a:pt x="2352205" y="435776"/>
                </a:lnTo>
                <a:lnTo>
                  <a:pt x="2366815" y="435776"/>
                </a:lnTo>
                <a:lnTo>
                  <a:pt x="2381425" y="435776"/>
                </a:lnTo>
                <a:lnTo>
                  <a:pt x="2396035" y="435776"/>
                </a:lnTo>
                <a:lnTo>
                  <a:pt x="2410644" y="435776"/>
                </a:lnTo>
                <a:lnTo>
                  <a:pt x="2425254" y="435776"/>
                </a:lnTo>
                <a:lnTo>
                  <a:pt x="2439864" y="435776"/>
                </a:lnTo>
                <a:lnTo>
                  <a:pt x="2454474" y="435776"/>
                </a:lnTo>
                <a:lnTo>
                  <a:pt x="2469084" y="435776"/>
                </a:lnTo>
                <a:lnTo>
                  <a:pt x="2483694" y="435776"/>
                </a:lnTo>
                <a:lnTo>
                  <a:pt x="2498304" y="435776"/>
                </a:lnTo>
                <a:lnTo>
                  <a:pt x="2512914" y="435776"/>
                </a:lnTo>
                <a:lnTo>
                  <a:pt x="2527524" y="435776"/>
                </a:lnTo>
                <a:lnTo>
                  <a:pt x="2542134" y="435776"/>
                </a:lnTo>
                <a:lnTo>
                  <a:pt x="2556744" y="435776"/>
                </a:lnTo>
                <a:lnTo>
                  <a:pt x="2571354" y="435776"/>
                </a:lnTo>
                <a:lnTo>
                  <a:pt x="2585964" y="435776"/>
                </a:lnTo>
                <a:lnTo>
                  <a:pt x="2600574" y="435776"/>
                </a:lnTo>
                <a:lnTo>
                  <a:pt x="2615184" y="435776"/>
                </a:lnTo>
              </a:path>
            </a:pathLst>
          </a:custGeom>
          <a:no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m3"/>
          <p:cNvSpPr txBox="1"/>
          <p:nvPr/>
        </p:nvSpPr>
        <p:spPr>
          <a:xfrm>
            <a:off x="6025896" y="4705539"/>
            <a:ext cx="3291840" cy="338554"/>
          </a:xfrm>
          <a:prstGeom prst="rect">
            <a:avLst/>
          </a:prstGeom>
          <a:noFill/>
        </p:spPr>
        <p:txBody>
          <a:bodyPr wrap="square" lIns="0" tIns="0" rIns="0" bIns="0" anchor="ctr">
            <a:spAutoFit/>
          </a:bodyPr>
          <a:lstStyle/>
          <a:p>
            <a:pPr algn="l"/>
            <a:r>
              <a:rPr lang="ja-JP" altLang="en-US" sz="2200" b="1">
                <a:solidFill>
                  <a:srgbClr val="262626"/>
                </a:solidFill>
                <a:latin typeface="Meiryo"/>
                <a:ea typeface="Meiryo"/>
                <a:cs typeface="Meiryo"/>
              </a:rPr>
              <a:t>前進波の傾き</a:t>
            </a:r>
            <a:endParaRPr sz="2200" b="1" dirty="0">
              <a:solidFill>
                <a:srgbClr val="262626"/>
              </a:solidFill>
              <a:latin typeface="Meiryo"/>
              <a:ea typeface="Meiryo"/>
              <a:cs typeface="Meiryo"/>
            </a:endParaRPr>
          </a:p>
        </p:txBody>
      </p:sp>
      <p:sp>
        <p:nvSpPr>
          <p:cNvPr id="43" name="f4"/>
          <p:cNvSpPr/>
          <p:nvPr/>
        </p:nvSpPr>
        <p:spPr>
          <a:xfrm>
            <a:off x="548640" y="5286296"/>
            <a:ext cx="2368296" cy="676656"/>
          </a:xfrm>
          <a:prstGeom prst="roundRect">
            <a:avLst>
              <a:gd name="adj" fmla="val 4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dirty="0" err="1">
                <a:solidFill>
                  <a:srgbClr val="262626"/>
                </a:solidFill>
                <a:latin typeface="Meiryo"/>
                <a:ea typeface="Meiryo"/>
                <a:cs typeface="Meiryo"/>
              </a:rPr>
              <a:t>心拍数</a:t>
            </a:r>
            <a:r>
              <a:rPr sz="2200" b="1" dirty="0">
                <a:solidFill>
                  <a:srgbClr val="262626"/>
                </a:solidFill>
                <a:latin typeface="Meiryo"/>
                <a:ea typeface="Meiryo"/>
                <a:cs typeface="Meiryo"/>
              </a:rPr>
              <a:t> </a:t>
            </a:r>
          </a:p>
        </p:txBody>
      </p:sp>
      <p:sp>
        <p:nvSpPr>
          <p:cNvPr id="44" name="wbox4"/>
          <p:cNvSpPr/>
          <p:nvPr/>
        </p:nvSpPr>
        <p:spPr>
          <a:xfrm>
            <a:off x="3054096" y="5286296"/>
            <a:ext cx="2834640" cy="676656"/>
          </a:xfrm>
          <a:prstGeom prst="roundRect">
            <a:avLst>
              <a:gd name="adj" fmla="val 1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5" name="wbase4"/>
          <p:cNvCxnSpPr/>
          <p:nvPr/>
        </p:nvCxnSpPr>
        <p:spPr>
          <a:xfrm>
            <a:off x="3163824" y="5908088"/>
            <a:ext cx="2615184"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46" name="wg4"/>
          <p:cNvSpPr/>
          <p:nvPr/>
        </p:nvSpPr>
        <p:spPr>
          <a:xfrm>
            <a:off x="3163824" y="5528553"/>
            <a:ext cx="2615184" cy="379535"/>
          </a:xfrm>
          <a:custGeom>
            <a:avLst/>
            <a:gdLst/>
            <a:ahLst/>
            <a:cxnLst/>
            <a:rect l="l" t="t" r="r" b="b"/>
            <a:pathLst>
              <a:path w="2615184" h="379535">
                <a:moveTo>
                  <a:pt x="0" y="378955"/>
                </a:moveTo>
                <a:lnTo>
                  <a:pt x="14610" y="378673"/>
                </a:lnTo>
                <a:lnTo>
                  <a:pt x="29220" y="378271"/>
                </a:lnTo>
                <a:lnTo>
                  <a:pt x="43830" y="377702"/>
                </a:lnTo>
                <a:lnTo>
                  <a:pt x="58440" y="376912"/>
                </a:lnTo>
                <a:lnTo>
                  <a:pt x="73050" y="375828"/>
                </a:lnTo>
                <a:lnTo>
                  <a:pt x="87660" y="374360"/>
                </a:lnTo>
                <a:lnTo>
                  <a:pt x="102270" y="372401"/>
                </a:lnTo>
                <a:lnTo>
                  <a:pt x="116880" y="369821"/>
                </a:lnTo>
                <a:lnTo>
                  <a:pt x="131490" y="366474"/>
                </a:lnTo>
                <a:lnTo>
                  <a:pt x="146100" y="362190"/>
                </a:lnTo>
                <a:lnTo>
                  <a:pt x="160710" y="356787"/>
                </a:lnTo>
                <a:lnTo>
                  <a:pt x="175320" y="350072"/>
                </a:lnTo>
                <a:lnTo>
                  <a:pt x="189930" y="341847"/>
                </a:lnTo>
                <a:lnTo>
                  <a:pt x="204540" y="331923"/>
                </a:lnTo>
                <a:lnTo>
                  <a:pt x="219149" y="320133"/>
                </a:lnTo>
                <a:lnTo>
                  <a:pt x="233759" y="306343"/>
                </a:lnTo>
                <a:lnTo>
                  <a:pt x="248369" y="290469"/>
                </a:lnTo>
                <a:lnTo>
                  <a:pt x="262979" y="272496"/>
                </a:lnTo>
                <a:lnTo>
                  <a:pt x="277589" y="252492"/>
                </a:lnTo>
                <a:lnTo>
                  <a:pt x="292199" y="230617"/>
                </a:lnTo>
                <a:lnTo>
                  <a:pt x="306809" y="207139"/>
                </a:lnTo>
                <a:lnTo>
                  <a:pt x="321419" y="182433"/>
                </a:lnTo>
                <a:lnTo>
                  <a:pt x="336029" y="156978"/>
                </a:lnTo>
                <a:lnTo>
                  <a:pt x="350639" y="131346"/>
                </a:lnTo>
                <a:lnTo>
                  <a:pt x="365249" y="106187"/>
                </a:lnTo>
                <a:lnTo>
                  <a:pt x="379859" y="82202"/>
                </a:lnTo>
                <a:lnTo>
                  <a:pt x="394469" y="60109"/>
                </a:lnTo>
                <a:lnTo>
                  <a:pt x="409079" y="40612"/>
                </a:lnTo>
                <a:lnTo>
                  <a:pt x="423689" y="24358"/>
                </a:lnTo>
                <a:lnTo>
                  <a:pt x="438299" y="11907"/>
                </a:lnTo>
                <a:lnTo>
                  <a:pt x="452909" y="3693"/>
                </a:lnTo>
                <a:lnTo>
                  <a:pt x="467519" y="0"/>
                </a:lnTo>
                <a:lnTo>
                  <a:pt x="482129" y="947"/>
                </a:lnTo>
                <a:lnTo>
                  <a:pt x="496739" y="6474"/>
                </a:lnTo>
                <a:lnTo>
                  <a:pt x="511349" y="16351"/>
                </a:lnTo>
                <a:lnTo>
                  <a:pt x="525959" y="30187"/>
                </a:lnTo>
                <a:lnTo>
                  <a:pt x="540569" y="47457"/>
                </a:lnTo>
                <a:lnTo>
                  <a:pt x="555179" y="67528"/>
                </a:lnTo>
                <a:lnTo>
                  <a:pt x="569789" y="89699"/>
                </a:lnTo>
                <a:lnTo>
                  <a:pt x="584399" y="113234"/>
                </a:lnTo>
                <a:lnTo>
                  <a:pt x="599009" y="137403"/>
                </a:lnTo>
                <a:lnTo>
                  <a:pt x="613619" y="161511"/>
                </a:lnTo>
                <a:lnTo>
                  <a:pt x="628229" y="184933"/>
                </a:lnTo>
                <a:lnTo>
                  <a:pt x="642839" y="207128"/>
                </a:lnTo>
                <a:lnTo>
                  <a:pt x="657448" y="227659"/>
                </a:lnTo>
                <a:lnTo>
                  <a:pt x="672058" y="246199"/>
                </a:lnTo>
                <a:lnTo>
                  <a:pt x="686668" y="262526"/>
                </a:lnTo>
                <a:lnTo>
                  <a:pt x="701278" y="276523"/>
                </a:lnTo>
                <a:lnTo>
                  <a:pt x="715888" y="288163"/>
                </a:lnTo>
                <a:lnTo>
                  <a:pt x="730498" y="297496"/>
                </a:lnTo>
                <a:lnTo>
                  <a:pt x="745108" y="304635"/>
                </a:lnTo>
                <a:lnTo>
                  <a:pt x="759718" y="309736"/>
                </a:lnTo>
                <a:lnTo>
                  <a:pt x="774328" y="312989"/>
                </a:lnTo>
                <a:lnTo>
                  <a:pt x="788938" y="314599"/>
                </a:lnTo>
                <a:lnTo>
                  <a:pt x="803548" y="314779"/>
                </a:lnTo>
                <a:lnTo>
                  <a:pt x="818158" y="313738"/>
                </a:lnTo>
                <a:lnTo>
                  <a:pt x="832768" y="311679"/>
                </a:lnTo>
                <a:lnTo>
                  <a:pt x="847378" y="308790"/>
                </a:lnTo>
                <a:lnTo>
                  <a:pt x="861988" y="305244"/>
                </a:lnTo>
                <a:lnTo>
                  <a:pt x="876598" y="301201"/>
                </a:lnTo>
                <a:lnTo>
                  <a:pt x="891208" y="296802"/>
                </a:lnTo>
                <a:lnTo>
                  <a:pt x="905818" y="292177"/>
                </a:lnTo>
                <a:lnTo>
                  <a:pt x="920428" y="287441"/>
                </a:lnTo>
                <a:lnTo>
                  <a:pt x="935038" y="282697"/>
                </a:lnTo>
                <a:lnTo>
                  <a:pt x="949648" y="278040"/>
                </a:lnTo>
                <a:lnTo>
                  <a:pt x="964258" y="273554"/>
                </a:lnTo>
                <a:lnTo>
                  <a:pt x="978868" y="269316"/>
                </a:lnTo>
                <a:lnTo>
                  <a:pt x="993478" y="265394"/>
                </a:lnTo>
                <a:lnTo>
                  <a:pt x="1008088" y="261850"/>
                </a:lnTo>
                <a:lnTo>
                  <a:pt x="1022698" y="258738"/>
                </a:lnTo>
                <a:lnTo>
                  <a:pt x="1037308" y="256106"/>
                </a:lnTo>
                <a:lnTo>
                  <a:pt x="1051918" y="253993"/>
                </a:lnTo>
                <a:lnTo>
                  <a:pt x="1066528" y="252429"/>
                </a:lnTo>
                <a:lnTo>
                  <a:pt x="1081138" y="251439"/>
                </a:lnTo>
                <a:lnTo>
                  <a:pt x="1095747" y="251037"/>
                </a:lnTo>
                <a:lnTo>
                  <a:pt x="1110357" y="251229"/>
                </a:lnTo>
                <a:lnTo>
                  <a:pt x="1124967" y="252014"/>
                </a:lnTo>
                <a:lnTo>
                  <a:pt x="1139577" y="253380"/>
                </a:lnTo>
                <a:lnTo>
                  <a:pt x="1154187" y="255310"/>
                </a:lnTo>
                <a:lnTo>
                  <a:pt x="1168797" y="257776"/>
                </a:lnTo>
                <a:lnTo>
                  <a:pt x="1183407" y="260746"/>
                </a:lnTo>
                <a:lnTo>
                  <a:pt x="1198017" y="264180"/>
                </a:lnTo>
                <a:lnTo>
                  <a:pt x="1212627" y="268034"/>
                </a:lnTo>
                <a:lnTo>
                  <a:pt x="1227237" y="272258"/>
                </a:lnTo>
                <a:lnTo>
                  <a:pt x="1241847" y="276799"/>
                </a:lnTo>
                <a:lnTo>
                  <a:pt x="1256457" y="281605"/>
                </a:lnTo>
                <a:lnTo>
                  <a:pt x="1271067" y="286617"/>
                </a:lnTo>
                <a:lnTo>
                  <a:pt x="1285677" y="291782"/>
                </a:lnTo>
                <a:lnTo>
                  <a:pt x="1300287" y="297043"/>
                </a:lnTo>
                <a:lnTo>
                  <a:pt x="1314897" y="302348"/>
                </a:lnTo>
                <a:lnTo>
                  <a:pt x="1329507" y="307646"/>
                </a:lnTo>
                <a:lnTo>
                  <a:pt x="1344117" y="312890"/>
                </a:lnTo>
                <a:lnTo>
                  <a:pt x="1358727" y="318038"/>
                </a:lnTo>
                <a:lnTo>
                  <a:pt x="1373337" y="323051"/>
                </a:lnTo>
                <a:lnTo>
                  <a:pt x="1387947" y="327896"/>
                </a:lnTo>
                <a:lnTo>
                  <a:pt x="1402557" y="332544"/>
                </a:lnTo>
                <a:lnTo>
                  <a:pt x="1417167" y="336971"/>
                </a:lnTo>
                <a:lnTo>
                  <a:pt x="1431777" y="341160"/>
                </a:lnTo>
                <a:lnTo>
                  <a:pt x="1446387" y="345097"/>
                </a:lnTo>
                <a:lnTo>
                  <a:pt x="1460997" y="348773"/>
                </a:lnTo>
                <a:lnTo>
                  <a:pt x="1475607" y="352184"/>
                </a:lnTo>
                <a:lnTo>
                  <a:pt x="1490217" y="355329"/>
                </a:lnTo>
                <a:lnTo>
                  <a:pt x="1504827" y="358212"/>
                </a:lnTo>
                <a:lnTo>
                  <a:pt x="1519437" y="360839"/>
                </a:lnTo>
                <a:lnTo>
                  <a:pt x="1534046" y="363218"/>
                </a:lnTo>
                <a:lnTo>
                  <a:pt x="1548656" y="365360"/>
                </a:lnTo>
                <a:lnTo>
                  <a:pt x="1563266" y="367278"/>
                </a:lnTo>
                <a:lnTo>
                  <a:pt x="1577876" y="368985"/>
                </a:lnTo>
                <a:lnTo>
                  <a:pt x="1592486" y="370497"/>
                </a:lnTo>
                <a:lnTo>
                  <a:pt x="1607096" y="371828"/>
                </a:lnTo>
                <a:lnTo>
                  <a:pt x="1621706" y="372993"/>
                </a:lnTo>
                <a:lnTo>
                  <a:pt x="1636316" y="374008"/>
                </a:lnTo>
                <a:lnTo>
                  <a:pt x="1650926" y="374887"/>
                </a:lnTo>
                <a:lnTo>
                  <a:pt x="1665536" y="375644"/>
                </a:lnTo>
                <a:lnTo>
                  <a:pt x="1680146" y="376294"/>
                </a:lnTo>
                <a:lnTo>
                  <a:pt x="1694756" y="376847"/>
                </a:lnTo>
                <a:lnTo>
                  <a:pt x="1709366" y="377316"/>
                </a:lnTo>
                <a:lnTo>
                  <a:pt x="1723976" y="377712"/>
                </a:lnTo>
                <a:lnTo>
                  <a:pt x="1738586" y="378044"/>
                </a:lnTo>
                <a:lnTo>
                  <a:pt x="1753196" y="378321"/>
                </a:lnTo>
                <a:lnTo>
                  <a:pt x="1767806" y="378551"/>
                </a:lnTo>
                <a:lnTo>
                  <a:pt x="1782416" y="378742"/>
                </a:lnTo>
                <a:lnTo>
                  <a:pt x="1797026" y="378898"/>
                </a:lnTo>
                <a:lnTo>
                  <a:pt x="1811636" y="379026"/>
                </a:lnTo>
                <a:lnTo>
                  <a:pt x="1826246" y="379130"/>
                </a:lnTo>
                <a:lnTo>
                  <a:pt x="1840856" y="379215"/>
                </a:lnTo>
                <a:lnTo>
                  <a:pt x="1855466" y="379282"/>
                </a:lnTo>
                <a:lnTo>
                  <a:pt x="1870076" y="379337"/>
                </a:lnTo>
                <a:lnTo>
                  <a:pt x="1884686" y="379380"/>
                </a:lnTo>
                <a:lnTo>
                  <a:pt x="1899296" y="379415"/>
                </a:lnTo>
                <a:lnTo>
                  <a:pt x="1913906" y="379442"/>
                </a:lnTo>
                <a:lnTo>
                  <a:pt x="1928516" y="379463"/>
                </a:lnTo>
                <a:lnTo>
                  <a:pt x="1943126" y="379480"/>
                </a:lnTo>
                <a:lnTo>
                  <a:pt x="1957736" y="379493"/>
                </a:lnTo>
                <a:lnTo>
                  <a:pt x="1972345" y="379503"/>
                </a:lnTo>
                <a:lnTo>
                  <a:pt x="1986955" y="379511"/>
                </a:lnTo>
                <a:lnTo>
                  <a:pt x="2001565" y="379517"/>
                </a:lnTo>
                <a:lnTo>
                  <a:pt x="2016175" y="379521"/>
                </a:lnTo>
                <a:lnTo>
                  <a:pt x="2030785" y="379525"/>
                </a:lnTo>
                <a:lnTo>
                  <a:pt x="2045395" y="379528"/>
                </a:lnTo>
                <a:lnTo>
                  <a:pt x="2060005" y="379529"/>
                </a:lnTo>
                <a:lnTo>
                  <a:pt x="2074615" y="379531"/>
                </a:lnTo>
                <a:lnTo>
                  <a:pt x="2089225" y="379532"/>
                </a:lnTo>
                <a:lnTo>
                  <a:pt x="2103835" y="379533"/>
                </a:lnTo>
                <a:lnTo>
                  <a:pt x="2118445" y="379533"/>
                </a:lnTo>
                <a:lnTo>
                  <a:pt x="2133055" y="379534"/>
                </a:lnTo>
                <a:lnTo>
                  <a:pt x="2147665" y="379534"/>
                </a:lnTo>
                <a:lnTo>
                  <a:pt x="2162275" y="379534"/>
                </a:lnTo>
                <a:lnTo>
                  <a:pt x="2176885" y="379535"/>
                </a:lnTo>
                <a:lnTo>
                  <a:pt x="2191495" y="379535"/>
                </a:lnTo>
                <a:lnTo>
                  <a:pt x="2206105" y="379535"/>
                </a:lnTo>
                <a:lnTo>
                  <a:pt x="2220715" y="379535"/>
                </a:lnTo>
                <a:lnTo>
                  <a:pt x="2235325" y="379535"/>
                </a:lnTo>
                <a:lnTo>
                  <a:pt x="2249935" y="379535"/>
                </a:lnTo>
                <a:lnTo>
                  <a:pt x="2264545" y="379535"/>
                </a:lnTo>
                <a:lnTo>
                  <a:pt x="2279155" y="379535"/>
                </a:lnTo>
                <a:lnTo>
                  <a:pt x="2293765" y="379535"/>
                </a:lnTo>
                <a:lnTo>
                  <a:pt x="2308375" y="379535"/>
                </a:lnTo>
                <a:lnTo>
                  <a:pt x="2322985" y="379535"/>
                </a:lnTo>
                <a:lnTo>
                  <a:pt x="2337595" y="379535"/>
                </a:lnTo>
                <a:lnTo>
                  <a:pt x="2352205" y="379535"/>
                </a:lnTo>
                <a:lnTo>
                  <a:pt x="2366815" y="379535"/>
                </a:lnTo>
                <a:lnTo>
                  <a:pt x="2381425" y="379535"/>
                </a:lnTo>
                <a:lnTo>
                  <a:pt x="2396035" y="379535"/>
                </a:lnTo>
                <a:lnTo>
                  <a:pt x="2410644" y="379535"/>
                </a:lnTo>
                <a:lnTo>
                  <a:pt x="2425254" y="379535"/>
                </a:lnTo>
                <a:lnTo>
                  <a:pt x="2439864" y="379535"/>
                </a:lnTo>
                <a:lnTo>
                  <a:pt x="2454474" y="379535"/>
                </a:lnTo>
                <a:lnTo>
                  <a:pt x="2469084" y="379535"/>
                </a:lnTo>
                <a:lnTo>
                  <a:pt x="2483694" y="379535"/>
                </a:lnTo>
                <a:lnTo>
                  <a:pt x="2498304" y="379535"/>
                </a:lnTo>
                <a:lnTo>
                  <a:pt x="2512914" y="379535"/>
                </a:lnTo>
                <a:lnTo>
                  <a:pt x="2527524" y="379535"/>
                </a:lnTo>
                <a:lnTo>
                  <a:pt x="2542134" y="379535"/>
                </a:lnTo>
                <a:lnTo>
                  <a:pt x="2556744" y="379535"/>
                </a:lnTo>
                <a:lnTo>
                  <a:pt x="2571354" y="379535"/>
                </a:lnTo>
                <a:lnTo>
                  <a:pt x="2585964" y="379535"/>
                </a:lnTo>
                <a:lnTo>
                  <a:pt x="2600574" y="379535"/>
                </a:lnTo>
                <a:lnTo>
                  <a:pt x="2615184" y="379535"/>
                </a:lnTo>
              </a:path>
            </a:pathLst>
          </a:custGeom>
          <a:noFill/>
          <a:ln w="222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wc4"/>
          <p:cNvSpPr/>
          <p:nvPr/>
        </p:nvSpPr>
        <p:spPr>
          <a:xfrm>
            <a:off x="3163824" y="5529482"/>
            <a:ext cx="2615184" cy="378598"/>
          </a:xfrm>
          <a:custGeom>
            <a:avLst/>
            <a:gdLst/>
            <a:ahLst/>
            <a:cxnLst/>
            <a:rect l="l" t="t" r="r" b="b"/>
            <a:pathLst>
              <a:path w="2615184" h="378598">
                <a:moveTo>
                  <a:pt x="0" y="378026"/>
                </a:moveTo>
                <a:lnTo>
                  <a:pt x="14610" y="377683"/>
                </a:lnTo>
                <a:lnTo>
                  <a:pt x="29220" y="377163"/>
                </a:lnTo>
                <a:lnTo>
                  <a:pt x="43830" y="376387"/>
                </a:lnTo>
                <a:lnTo>
                  <a:pt x="58440" y="375254"/>
                </a:lnTo>
                <a:lnTo>
                  <a:pt x="73050" y="373627"/>
                </a:lnTo>
                <a:lnTo>
                  <a:pt x="87660" y="371339"/>
                </a:lnTo>
                <a:lnTo>
                  <a:pt x="102270" y="368181"/>
                </a:lnTo>
                <a:lnTo>
                  <a:pt x="116880" y="363906"/>
                </a:lnTo>
                <a:lnTo>
                  <a:pt x="131490" y="358233"/>
                </a:lnTo>
                <a:lnTo>
                  <a:pt x="146100" y="350855"/>
                </a:lnTo>
                <a:lnTo>
                  <a:pt x="160710" y="341451"/>
                </a:lnTo>
                <a:lnTo>
                  <a:pt x="175320" y="329714"/>
                </a:lnTo>
                <a:lnTo>
                  <a:pt x="189930" y="315370"/>
                </a:lnTo>
                <a:lnTo>
                  <a:pt x="204540" y="298219"/>
                </a:lnTo>
                <a:lnTo>
                  <a:pt x="219149" y="278165"/>
                </a:lnTo>
                <a:lnTo>
                  <a:pt x="233759" y="255258"/>
                </a:lnTo>
                <a:lnTo>
                  <a:pt x="248369" y="229720"/>
                </a:lnTo>
                <a:lnTo>
                  <a:pt x="262979" y="201971"/>
                </a:lnTo>
                <a:lnTo>
                  <a:pt x="277589" y="172636"/>
                </a:lnTo>
                <a:lnTo>
                  <a:pt x="292199" y="142538"/>
                </a:lnTo>
                <a:lnTo>
                  <a:pt x="306809" y="112670"/>
                </a:lnTo>
                <a:lnTo>
                  <a:pt x="321419" y="84145"/>
                </a:lnTo>
                <a:lnTo>
                  <a:pt x="336029" y="58130"/>
                </a:lnTo>
                <a:lnTo>
                  <a:pt x="350639" y="35771"/>
                </a:lnTo>
                <a:lnTo>
                  <a:pt x="365249" y="18106"/>
                </a:lnTo>
                <a:lnTo>
                  <a:pt x="379859" y="5985"/>
                </a:lnTo>
                <a:lnTo>
                  <a:pt x="394469" y="0"/>
                </a:lnTo>
                <a:lnTo>
                  <a:pt x="409079" y="435"/>
                </a:lnTo>
                <a:lnTo>
                  <a:pt x="423689" y="7243"/>
                </a:lnTo>
                <a:lnTo>
                  <a:pt x="438299" y="20043"/>
                </a:lnTo>
                <a:lnTo>
                  <a:pt x="452909" y="38161"/>
                </a:lnTo>
                <a:lnTo>
                  <a:pt x="467519" y="60676"/>
                </a:lnTo>
                <a:lnTo>
                  <a:pt x="482129" y="86496"/>
                </a:lnTo>
                <a:lnTo>
                  <a:pt x="496739" y="114443"/>
                </a:lnTo>
                <a:lnTo>
                  <a:pt x="511349" y="143334"/>
                </a:lnTo>
                <a:lnTo>
                  <a:pt x="525959" y="172056"/>
                </a:lnTo>
                <a:lnTo>
                  <a:pt x="540569" y="199633"/>
                </a:lnTo>
                <a:lnTo>
                  <a:pt x="555179" y="225265"/>
                </a:lnTo>
                <a:lnTo>
                  <a:pt x="569789" y="248356"/>
                </a:lnTo>
                <a:lnTo>
                  <a:pt x="584399" y="268516"/>
                </a:lnTo>
                <a:lnTo>
                  <a:pt x="599009" y="285553"/>
                </a:lnTo>
                <a:lnTo>
                  <a:pt x="613619" y="299445"/>
                </a:lnTo>
                <a:lnTo>
                  <a:pt x="628229" y="310310"/>
                </a:lnTo>
                <a:lnTo>
                  <a:pt x="642839" y="318369"/>
                </a:lnTo>
                <a:lnTo>
                  <a:pt x="657448" y="323910"/>
                </a:lnTo>
                <a:lnTo>
                  <a:pt x="672058" y="327260"/>
                </a:lnTo>
                <a:lnTo>
                  <a:pt x="686668" y="328757"/>
                </a:lnTo>
                <a:lnTo>
                  <a:pt x="701278" y="328729"/>
                </a:lnTo>
                <a:lnTo>
                  <a:pt x="715888" y="327482"/>
                </a:lnTo>
                <a:lnTo>
                  <a:pt x="730498" y="325295"/>
                </a:lnTo>
                <a:lnTo>
                  <a:pt x="745108" y="322412"/>
                </a:lnTo>
                <a:lnTo>
                  <a:pt x="759718" y="319046"/>
                </a:lnTo>
                <a:lnTo>
                  <a:pt x="774328" y="315382"/>
                </a:lnTo>
                <a:lnTo>
                  <a:pt x="788938" y="311577"/>
                </a:lnTo>
                <a:lnTo>
                  <a:pt x="803548" y="307766"/>
                </a:lnTo>
                <a:lnTo>
                  <a:pt x="818158" y="304066"/>
                </a:lnTo>
                <a:lnTo>
                  <a:pt x="832768" y="300578"/>
                </a:lnTo>
                <a:lnTo>
                  <a:pt x="847378" y="297388"/>
                </a:lnTo>
                <a:lnTo>
                  <a:pt x="861988" y="294571"/>
                </a:lnTo>
                <a:lnTo>
                  <a:pt x="876598" y="292191"/>
                </a:lnTo>
                <a:lnTo>
                  <a:pt x="891208" y="290298"/>
                </a:lnTo>
                <a:lnTo>
                  <a:pt x="905818" y="288934"/>
                </a:lnTo>
                <a:lnTo>
                  <a:pt x="920428" y="288128"/>
                </a:lnTo>
                <a:lnTo>
                  <a:pt x="935038" y="287897"/>
                </a:lnTo>
                <a:lnTo>
                  <a:pt x="949648" y="288246"/>
                </a:lnTo>
                <a:lnTo>
                  <a:pt x="964258" y="289169"/>
                </a:lnTo>
                <a:lnTo>
                  <a:pt x="978868" y="290649"/>
                </a:lnTo>
                <a:lnTo>
                  <a:pt x="993478" y="292659"/>
                </a:lnTo>
                <a:lnTo>
                  <a:pt x="1008088" y="295160"/>
                </a:lnTo>
                <a:lnTo>
                  <a:pt x="1022698" y="298107"/>
                </a:lnTo>
                <a:lnTo>
                  <a:pt x="1037308" y="301447"/>
                </a:lnTo>
                <a:lnTo>
                  <a:pt x="1051918" y="305123"/>
                </a:lnTo>
                <a:lnTo>
                  <a:pt x="1066528" y="309071"/>
                </a:lnTo>
                <a:lnTo>
                  <a:pt x="1081138" y="313229"/>
                </a:lnTo>
                <a:lnTo>
                  <a:pt x="1095747" y="317532"/>
                </a:lnTo>
                <a:lnTo>
                  <a:pt x="1110357" y="321916"/>
                </a:lnTo>
                <a:lnTo>
                  <a:pt x="1124967" y="326323"/>
                </a:lnTo>
                <a:lnTo>
                  <a:pt x="1139577" y="330697"/>
                </a:lnTo>
                <a:lnTo>
                  <a:pt x="1154187" y="334985"/>
                </a:lnTo>
                <a:lnTo>
                  <a:pt x="1168797" y="339144"/>
                </a:lnTo>
                <a:lnTo>
                  <a:pt x="1183407" y="343135"/>
                </a:lnTo>
                <a:lnTo>
                  <a:pt x="1198017" y="346927"/>
                </a:lnTo>
                <a:lnTo>
                  <a:pt x="1212627" y="350494"/>
                </a:lnTo>
                <a:lnTo>
                  <a:pt x="1227237" y="353820"/>
                </a:lnTo>
                <a:lnTo>
                  <a:pt x="1241847" y="356892"/>
                </a:lnTo>
                <a:lnTo>
                  <a:pt x="1256457" y="359705"/>
                </a:lnTo>
                <a:lnTo>
                  <a:pt x="1271067" y="362259"/>
                </a:lnTo>
                <a:lnTo>
                  <a:pt x="1285677" y="364558"/>
                </a:lnTo>
                <a:lnTo>
                  <a:pt x="1300287" y="366612"/>
                </a:lnTo>
                <a:lnTo>
                  <a:pt x="1314897" y="368430"/>
                </a:lnTo>
                <a:lnTo>
                  <a:pt x="1329507" y="370029"/>
                </a:lnTo>
                <a:lnTo>
                  <a:pt x="1344117" y="371422"/>
                </a:lnTo>
                <a:lnTo>
                  <a:pt x="1358727" y="372628"/>
                </a:lnTo>
                <a:lnTo>
                  <a:pt x="1373337" y="373663"/>
                </a:lnTo>
                <a:lnTo>
                  <a:pt x="1387947" y="374545"/>
                </a:lnTo>
                <a:lnTo>
                  <a:pt x="1402557" y="375291"/>
                </a:lnTo>
                <a:lnTo>
                  <a:pt x="1417167" y="375917"/>
                </a:lnTo>
                <a:lnTo>
                  <a:pt x="1431777" y="376439"/>
                </a:lnTo>
                <a:lnTo>
                  <a:pt x="1446387" y="376871"/>
                </a:lnTo>
                <a:lnTo>
                  <a:pt x="1460997" y="377226"/>
                </a:lnTo>
                <a:lnTo>
                  <a:pt x="1475607" y="377515"/>
                </a:lnTo>
                <a:lnTo>
                  <a:pt x="1490217" y="377749"/>
                </a:lnTo>
                <a:lnTo>
                  <a:pt x="1504827" y="377937"/>
                </a:lnTo>
                <a:lnTo>
                  <a:pt x="1519437" y="378087"/>
                </a:lnTo>
                <a:lnTo>
                  <a:pt x="1534046" y="378207"/>
                </a:lnTo>
                <a:lnTo>
                  <a:pt x="1548656" y="378300"/>
                </a:lnTo>
                <a:lnTo>
                  <a:pt x="1563266" y="378373"/>
                </a:lnTo>
                <a:lnTo>
                  <a:pt x="1577876" y="378430"/>
                </a:lnTo>
                <a:lnTo>
                  <a:pt x="1592486" y="378474"/>
                </a:lnTo>
                <a:lnTo>
                  <a:pt x="1607096" y="378508"/>
                </a:lnTo>
                <a:lnTo>
                  <a:pt x="1621706" y="378533"/>
                </a:lnTo>
                <a:lnTo>
                  <a:pt x="1636316" y="378552"/>
                </a:lnTo>
                <a:lnTo>
                  <a:pt x="1650926" y="378567"/>
                </a:lnTo>
                <a:lnTo>
                  <a:pt x="1665536" y="378577"/>
                </a:lnTo>
                <a:lnTo>
                  <a:pt x="1680146" y="378585"/>
                </a:lnTo>
                <a:lnTo>
                  <a:pt x="1694756" y="378591"/>
                </a:lnTo>
                <a:lnTo>
                  <a:pt x="1709366" y="378595"/>
                </a:lnTo>
                <a:lnTo>
                  <a:pt x="1723976" y="378597"/>
                </a:lnTo>
                <a:lnTo>
                  <a:pt x="1738586" y="378598"/>
                </a:lnTo>
                <a:lnTo>
                  <a:pt x="1753196" y="378598"/>
                </a:lnTo>
                <a:lnTo>
                  <a:pt x="1767806" y="378595"/>
                </a:lnTo>
                <a:lnTo>
                  <a:pt x="1782416" y="378589"/>
                </a:lnTo>
                <a:lnTo>
                  <a:pt x="1797026" y="378578"/>
                </a:lnTo>
                <a:lnTo>
                  <a:pt x="1811636" y="378558"/>
                </a:lnTo>
                <a:lnTo>
                  <a:pt x="1826246" y="378524"/>
                </a:lnTo>
                <a:lnTo>
                  <a:pt x="1840856" y="378468"/>
                </a:lnTo>
                <a:lnTo>
                  <a:pt x="1855466" y="378375"/>
                </a:lnTo>
                <a:lnTo>
                  <a:pt x="1870076" y="378226"/>
                </a:lnTo>
                <a:lnTo>
                  <a:pt x="1884686" y="377992"/>
                </a:lnTo>
                <a:lnTo>
                  <a:pt x="1899296" y="377632"/>
                </a:lnTo>
                <a:lnTo>
                  <a:pt x="1913906" y="377085"/>
                </a:lnTo>
                <a:lnTo>
                  <a:pt x="1928516" y="376273"/>
                </a:lnTo>
                <a:lnTo>
                  <a:pt x="1943126" y="375088"/>
                </a:lnTo>
                <a:lnTo>
                  <a:pt x="1957736" y="373393"/>
                </a:lnTo>
                <a:lnTo>
                  <a:pt x="1972345" y="371013"/>
                </a:lnTo>
                <a:lnTo>
                  <a:pt x="1986955" y="367735"/>
                </a:lnTo>
                <a:lnTo>
                  <a:pt x="2001565" y="363309"/>
                </a:lnTo>
                <a:lnTo>
                  <a:pt x="2016175" y="357450"/>
                </a:lnTo>
                <a:lnTo>
                  <a:pt x="2030785" y="349848"/>
                </a:lnTo>
                <a:lnTo>
                  <a:pt x="2045395" y="340184"/>
                </a:lnTo>
                <a:lnTo>
                  <a:pt x="2060005" y="328151"/>
                </a:lnTo>
                <a:lnTo>
                  <a:pt x="2074615" y="313486"/>
                </a:lnTo>
                <a:lnTo>
                  <a:pt x="2089225" y="295998"/>
                </a:lnTo>
                <a:lnTo>
                  <a:pt x="2103835" y="275608"/>
                </a:lnTo>
                <a:lnTo>
                  <a:pt x="2118445" y="252386"/>
                </a:lnTo>
                <a:lnTo>
                  <a:pt x="2133055" y="226577"/>
                </a:lnTo>
                <a:lnTo>
                  <a:pt x="2147665" y="198628"/>
                </a:lnTo>
                <a:lnTo>
                  <a:pt x="2162275" y="169191"/>
                </a:lnTo>
                <a:lnTo>
                  <a:pt x="2176885" y="139113"/>
                </a:lnTo>
                <a:lnTo>
                  <a:pt x="2191495" y="109407"/>
                </a:lnTo>
                <a:lnTo>
                  <a:pt x="2206105" y="81200"/>
                </a:lnTo>
                <a:lnTo>
                  <a:pt x="2220715" y="55666"/>
                </a:lnTo>
                <a:lnTo>
                  <a:pt x="2235325" y="33947"/>
                </a:lnTo>
                <a:lnTo>
                  <a:pt x="2249935" y="17068"/>
                </a:lnTo>
                <a:lnTo>
                  <a:pt x="2264545" y="5860"/>
                </a:lnTo>
                <a:lnTo>
                  <a:pt x="2279155" y="887"/>
                </a:lnTo>
                <a:lnTo>
                  <a:pt x="2293765" y="2404"/>
                </a:lnTo>
                <a:lnTo>
                  <a:pt x="2308375" y="10334"/>
                </a:lnTo>
                <a:lnTo>
                  <a:pt x="2322985" y="24273"/>
                </a:lnTo>
                <a:lnTo>
                  <a:pt x="2337595" y="43524"/>
                </a:lnTo>
                <a:lnTo>
                  <a:pt x="2352205" y="67158"/>
                </a:lnTo>
                <a:lnTo>
                  <a:pt x="2366815" y="94084"/>
                </a:lnTo>
                <a:lnTo>
                  <a:pt x="2381425" y="123134"/>
                </a:lnTo>
                <a:lnTo>
                  <a:pt x="2396035" y="153148"/>
                </a:lnTo>
                <a:lnTo>
                  <a:pt x="2410644" y="183044"/>
                </a:lnTo>
                <a:lnTo>
                  <a:pt x="2425254" y="211882"/>
                </a:lnTo>
                <a:lnTo>
                  <a:pt x="2439864" y="238902"/>
                </a:lnTo>
                <a:lnTo>
                  <a:pt x="2454474" y="263548"/>
                </a:lnTo>
                <a:lnTo>
                  <a:pt x="2469084" y="285470"/>
                </a:lnTo>
                <a:lnTo>
                  <a:pt x="2483694" y="304507"/>
                </a:lnTo>
                <a:lnTo>
                  <a:pt x="2498304" y="320662"/>
                </a:lnTo>
                <a:lnTo>
                  <a:pt x="2512914" y="334071"/>
                </a:lnTo>
                <a:lnTo>
                  <a:pt x="2527524" y="344964"/>
                </a:lnTo>
                <a:lnTo>
                  <a:pt x="2542134" y="353628"/>
                </a:lnTo>
                <a:lnTo>
                  <a:pt x="2556744" y="360378"/>
                </a:lnTo>
                <a:lnTo>
                  <a:pt x="2571354" y="365532"/>
                </a:lnTo>
                <a:lnTo>
                  <a:pt x="2585964" y="369389"/>
                </a:lnTo>
                <a:lnTo>
                  <a:pt x="2600574" y="372220"/>
                </a:lnTo>
                <a:lnTo>
                  <a:pt x="2615184" y="374257"/>
                </a:lnTo>
              </a:path>
            </a:pathLst>
          </a:custGeom>
          <a:no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m4"/>
          <p:cNvSpPr txBox="1"/>
          <p:nvPr/>
        </p:nvSpPr>
        <p:spPr>
          <a:xfrm>
            <a:off x="6025896" y="5455347"/>
            <a:ext cx="3291840" cy="338554"/>
          </a:xfrm>
          <a:prstGeom prst="rect">
            <a:avLst/>
          </a:prstGeom>
          <a:noFill/>
        </p:spPr>
        <p:txBody>
          <a:bodyPr wrap="square" lIns="0" tIns="0" rIns="0" bIns="0" anchor="ctr">
            <a:spAutoFit/>
          </a:bodyPr>
          <a:lstStyle/>
          <a:p>
            <a:pPr algn="l"/>
            <a:r>
              <a:rPr lang="ja-JP" altLang="en-US" sz="2200" b="1">
                <a:solidFill>
                  <a:srgbClr val="262626"/>
                </a:solidFill>
                <a:latin typeface="Meiryo"/>
                <a:ea typeface="Meiryo"/>
                <a:cs typeface="Meiryo"/>
              </a:rPr>
              <a:t>前進波横幅・反射波振幅</a:t>
            </a:r>
            <a:endParaRPr sz="2200" b="1" dirty="0">
              <a:solidFill>
                <a:srgbClr val="262626"/>
              </a:solidFill>
              <a:latin typeface="Meiryo"/>
              <a:ea typeface="Meiryo"/>
              <a:cs typeface="Meiryo"/>
            </a:endParaRPr>
          </a:p>
        </p:txBody>
      </p:sp>
      <p:sp>
        <p:nvSpPr>
          <p:cNvPr id="49" name="g4"/>
          <p:cNvSpPr/>
          <p:nvPr/>
        </p:nvSpPr>
        <p:spPr>
          <a:xfrm>
            <a:off x="9454896" y="5286296"/>
            <a:ext cx="2112264" cy="676656"/>
          </a:xfrm>
          <a:prstGeom prst="roundRect">
            <a:avLst>
              <a:gd name="adj" fmla="val 40000"/>
            </a:avLst>
          </a:prstGeom>
          <a:solidFill>
            <a:srgbClr val="D55E00"/>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a:solidFill>
                  <a:srgbClr val="FFFFFF"/>
                </a:solidFill>
                <a:latin typeface="Meiryo"/>
                <a:ea typeface="Meiryo"/>
                <a:cs typeface="Meiryo"/>
              </a:rPr>
              <a:t>モデル</a:t>
            </a:r>
          </a:p>
        </p:txBody>
      </p:sp>
      <p:sp>
        <p:nvSpPr>
          <p:cNvPr id="17" name="g4">
            <a:extLst>
              <a:ext uri="{FF2B5EF4-FFF2-40B4-BE49-F238E27FC236}">
                <a16:creationId xmlns:a16="http://schemas.microsoft.com/office/drawing/2014/main" id="{D3A909D8-DD59-169C-8FF0-1812ECEB36AC}"/>
              </a:ext>
            </a:extLst>
          </p:cNvPr>
          <p:cNvSpPr/>
          <p:nvPr/>
        </p:nvSpPr>
        <p:spPr>
          <a:xfrm>
            <a:off x="9454896" y="4536488"/>
            <a:ext cx="2112264" cy="676656"/>
          </a:xfrm>
          <a:prstGeom prst="roundRect">
            <a:avLst>
              <a:gd name="adj" fmla="val 40000"/>
            </a:avLst>
          </a:prstGeom>
          <a:solidFill>
            <a:srgbClr val="D55E00"/>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a:solidFill>
                  <a:srgbClr val="FFFFFF"/>
                </a:solidFill>
                <a:latin typeface="Meiryo"/>
                <a:ea typeface="Meiryo"/>
                <a:cs typeface="Meiryo"/>
              </a:rPr>
              <a:t>モデル</a:t>
            </a:r>
          </a:p>
        </p:txBody>
      </p:sp>
      <p:sp>
        <p:nvSpPr>
          <p:cNvPr id="50"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　／　10. Alian 2011　／　11. Chowienczyk 1999　／　13. Pagoulatou 2021　／　17. Charlton 2019</a:t>
            </a:r>
          </a:p>
        </p:txBody>
      </p:sp>
      <p:sp>
        <p:nvSpPr>
          <p:cNvPr id="51"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44/118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3FB83A8-5E90-685F-9B53-3E9BBCE66DA1}"/>
              </a:ext>
            </a:extLst>
          </p:cNvPr>
          <p:cNvSpPr>
            <a:spLocks noGrp="1"/>
          </p:cNvSpPr>
          <p:nvPr>
            <p:ph type="title"/>
          </p:nvPr>
        </p:nvSpPr>
        <p:spPr/>
        <p:txBody>
          <a:bodyPr>
            <a:normAutofit/>
          </a:bodyPr>
          <a:lstStyle/>
          <a:p>
            <a:pPr algn="l"/>
            <a:r>
              <a:rPr sz="4600" dirty="0">
                <a:latin typeface="Meiryo"/>
                <a:ea typeface="Meiryo"/>
                <a:cs typeface="Meiryo"/>
              </a:rPr>
              <a:t>2. 波形への影響</a:t>
            </a:r>
          </a:p>
        </p:txBody>
      </p:sp>
      <p:sp>
        <p:nvSpPr>
          <p:cNvPr id="957" name="Agenda">
            <a:extLst>
              <a:ext uri="{FF2B5EF4-FFF2-40B4-BE49-F238E27FC236}">
                <a16:creationId xmlns:a16="http://schemas.microsoft.com/office/drawing/2014/main" id="{B67BE2FB-7D39-9D21-D5E7-9714A61FC395}"/>
              </a:ext>
            </a:extLst>
          </p:cNvPr>
          <p:cNvSpPr txBox="1"/>
          <p:nvPr/>
        </p:nvSpPr>
        <p:spPr>
          <a:xfrm>
            <a:off x="822960" y="1536192"/>
            <a:ext cx="5029200" cy="5184000"/>
          </a:xfrm>
          <a:prstGeom prst="rect">
            <a:avLst/>
          </a:prstGeom>
          <a:noFill/>
        </p:spPr>
        <p:txBody>
          <a:bodyPr wrap="square" lIns="0" tIns="0" rIns="0" bIns="0" anchor="t"/>
          <a:lstStyle/>
          <a:p>
            <a:pPr>
              <a:lnSpc>
                <a:spcPct val="126000"/>
              </a:lnSpc>
            </a:pPr>
            <a:r>
              <a:rPr sz="3000" b="1">
                <a:solidFill>
                  <a:srgbClr val="D9D9D9"/>
                </a:solidFill>
                <a:latin typeface="Meiryo"/>
                <a:ea typeface="Meiryo"/>
                <a:cs typeface="Meiryo"/>
              </a:rPr>
              <a:t>1. </a:t>
            </a:r>
            <a:r>
              <a:rPr sz="3000" b="0">
                <a:solidFill>
                  <a:srgbClr val="D9D9D9"/>
                </a:solidFill>
                <a:latin typeface="Meiryo"/>
                <a:ea typeface="Meiryo"/>
                <a:cs typeface="Meiryo"/>
              </a:rPr>
              <a:t>PPGの基礎</a:t>
            </a:r>
          </a:p>
          <a:p>
            <a:pPr>
              <a:lnSpc>
                <a:spcPct val="126000"/>
              </a:lnSpc>
            </a:pPr>
            <a:r>
              <a:rPr sz="3000" b="1">
                <a:solidFill>
                  <a:srgbClr val="BF9000"/>
                </a:solidFill>
                <a:latin typeface="Meiryo"/>
                <a:ea typeface="Meiryo"/>
                <a:cs typeface="Meiryo"/>
              </a:rPr>
              <a:t>2. </a:t>
            </a:r>
            <a:r>
              <a:rPr sz="3000" b="1">
                <a:solidFill>
                  <a:srgbClr val="262626"/>
                </a:solidFill>
                <a:latin typeface="Meiryo"/>
                <a:ea typeface="Meiryo"/>
                <a:cs typeface="Meiryo"/>
              </a:rPr>
              <a:t>波形への影響</a:t>
            </a:r>
          </a:p>
          <a:p>
            <a:pPr>
              <a:lnSpc>
                <a:spcPct val="126000"/>
              </a:lnSpc>
            </a:pPr>
            <a:r>
              <a:rPr sz="2700" b="1">
                <a:solidFill>
                  <a:srgbClr val="D9D9D9"/>
                </a:solidFill>
                <a:latin typeface="Meiryo"/>
                <a:ea typeface="Meiryo"/>
                <a:cs typeface="Meiryo"/>
              </a:rPr>
              <a:t>　2.1 </a:t>
            </a:r>
            <a:r>
              <a:rPr sz="2700" b="0">
                <a:solidFill>
                  <a:srgbClr val="808080"/>
                </a:solidFill>
                <a:latin typeface="Meiryo"/>
                <a:ea typeface="Meiryo"/>
                <a:cs typeface="Meiryo"/>
              </a:rPr>
              <a:t>加齢の影響</a:t>
            </a:r>
          </a:p>
          <a:p>
            <a:pPr>
              <a:lnSpc>
                <a:spcPct val="126000"/>
              </a:lnSpc>
            </a:pPr>
            <a:r>
              <a:rPr sz="2700" b="1">
                <a:solidFill>
                  <a:srgbClr val="D9D9D9"/>
                </a:solidFill>
                <a:latin typeface="Meiryo"/>
                <a:ea typeface="Meiryo"/>
                <a:cs typeface="Meiryo"/>
              </a:rPr>
              <a:t>　2.2 </a:t>
            </a:r>
            <a:r>
              <a:rPr sz="2700" b="0">
                <a:solidFill>
                  <a:srgbClr val="808080"/>
                </a:solidFill>
                <a:latin typeface="Meiryo"/>
                <a:ea typeface="Meiryo"/>
                <a:cs typeface="Meiryo"/>
              </a:rPr>
              <a:t>循環の変化</a:t>
            </a:r>
          </a:p>
          <a:p>
            <a:pPr>
              <a:lnSpc>
                <a:spcPct val="126000"/>
              </a:lnSpc>
            </a:pPr>
            <a:r>
              <a:rPr sz="2700" b="1">
                <a:solidFill>
                  <a:srgbClr val="BF9000"/>
                </a:solidFill>
                <a:latin typeface="Meiryo"/>
                <a:ea typeface="Meiryo"/>
                <a:cs typeface="Meiryo"/>
              </a:rPr>
              <a:t>　2.3 </a:t>
            </a:r>
            <a:r>
              <a:rPr sz="2700" b="1">
                <a:solidFill>
                  <a:srgbClr val="262626"/>
                </a:solidFill>
                <a:latin typeface="Meiryo"/>
                <a:ea typeface="Meiryo"/>
                <a:cs typeface="Meiryo"/>
              </a:rPr>
              <a:t>麻酔中の変化</a:t>
            </a:r>
          </a:p>
          <a:p>
            <a:pPr>
              <a:lnSpc>
                <a:spcPct val="126000"/>
              </a:lnSpc>
            </a:pPr>
            <a:r>
              <a:rPr sz="3000" b="1">
                <a:solidFill>
                  <a:srgbClr val="D9D9D9"/>
                </a:solidFill>
                <a:latin typeface="Meiryo"/>
                <a:ea typeface="Meiryo"/>
                <a:cs typeface="Meiryo"/>
              </a:rPr>
              <a:t>3. </a:t>
            </a:r>
            <a:r>
              <a:rPr sz="3000" b="0">
                <a:solidFill>
                  <a:srgbClr val="D9D9D9"/>
                </a:solidFill>
                <a:latin typeface="Meiryo"/>
                <a:ea typeface="Meiryo"/>
                <a:cs typeface="Meiryo"/>
              </a:rPr>
              <a:t>波形の定量化</a:t>
            </a:r>
          </a:p>
          <a:p>
            <a:pPr>
              <a:lnSpc>
                <a:spcPct val="126000"/>
              </a:lnSpc>
            </a:pPr>
            <a:r>
              <a:rPr sz="3000" b="1">
                <a:solidFill>
                  <a:srgbClr val="D9D9D9"/>
                </a:solidFill>
                <a:latin typeface="Meiryo"/>
                <a:ea typeface="Meiryo"/>
                <a:cs typeface="Meiryo"/>
              </a:rPr>
              <a:t>4. </a:t>
            </a:r>
            <a:r>
              <a:rPr sz="3000" b="0">
                <a:solidFill>
                  <a:srgbClr val="D9D9D9"/>
                </a:solidFill>
                <a:latin typeface="Meiryo"/>
                <a:ea typeface="Meiryo"/>
                <a:cs typeface="Meiryo"/>
              </a:rPr>
              <a:t>限界</a:t>
            </a:r>
          </a:p>
          <a:p>
            <a:pPr>
              <a:lnSpc>
                <a:spcPct val="126000"/>
              </a:lnSpc>
            </a:pPr>
            <a:r>
              <a:rPr sz="3000" b="1">
                <a:solidFill>
                  <a:srgbClr val="D9D9D9"/>
                </a:solidFill>
                <a:latin typeface="Meiryo"/>
                <a:ea typeface="Meiryo"/>
                <a:cs typeface="Meiryo"/>
              </a:rPr>
              <a:t>5. </a:t>
            </a:r>
            <a:r>
              <a:rPr sz="3000" b="0">
                <a:solidFill>
                  <a:srgbClr val="D9D9D9"/>
                </a:solidFill>
                <a:latin typeface="Meiryo"/>
                <a:ea typeface="Meiryo"/>
                <a:cs typeface="Meiryo"/>
              </a:rPr>
              <a:t>PDA（波形分解）</a:t>
            </a:r>
          </a:p>
          <a:p>
            <a:pPr>
              <a:lnSpc>
                <a:spcPct val="126000"/>
              </a:lnSpc>
            </a:pPr>
            <a:r>
              <a:rPr sz="3000" b="0">
                <a:solidFill>
                  <a:srgbClr val="D9D9D9"/>
                </a:solidFill>
                <a:latin typeface="Meiryo"/>
                <a:ea typeface="Meiryo"/>
                <a:cs typeface="Meiryo"/>
              </a:rPr>
              <a:t>6. 提案</a:t>
            </a:r>
          </a:p>
        </p:txBody>
      </p:sp>
      <p:sp>
        <p:nvSpPr>
          <p:cNvPr id="958" name="SubToc"/>
          <p:cNvSpPr txBox="1"/>
          <p:nvPr/>
        </p:nvSpPr>
        <p:spPr>
          <a:xfrm>
            <a:off x="6309360" y="1536192"/>
            <a:ext cx="5394960" cy="4956048"/>
          </a:xfrm>
          <a:prstGeom prst="rect">
            <a:avLst/>
          </a:prstGeom>
          <a:noFill/>
        </p:spPr>
        <p:txBody>
          <a:bodyPr wrap="square" anchor="t">
            <a:spAutoFit/>
          </a:bodyPr>
          <a:lstStyle/>
          <a:p>
            <a:pPr>
              <a:lnSpc>
                <a:spcPct val="142000"/>
              </a:lnSpc>
            </a:pPr>
            <a:r>
              <a:rPr sz="3000" b="1">
                <a:solidFill>
                  <a:srgbClr val="BF9000"/>
                </a:solidFill>
                <a:latin typeface="Meiryo"/>
                <a:ea typeface="Meiryo"/>
                <a:cs typeface="Meiryo"/>
              </a:rPr>
              <a:t>2.3 </a:t>
            </a:r>
            <a:r>
              <a:rPr sz="3000" b="1">
                <a:solidFill>
                  <a:srgbClr val="262626"/>
                </a:solidFill>
                <a:latin typeface="Meiryo"/>
                <a:ea typeface="Meiryo"/>
                <a:cs typeface="Meiryo"/>
              </a:rPr>
              <a:t>麻酔中の変化</a:t>
            </a:r>
          </a:p>
          <a:p>
            <a:pPr>
              <a:lnSpc>
                <a:spcPct val="142000"/>
              </a:lnSpc>
            </a:pPr>
            <a:r>
              <a:rPr sz="2700" b="1">
                <a:solidFill>
                  <a:srgbClr val="BF9000"/>
                </a:solidFill>
                <a:latin typeface="Meiryo"/>
                <a:ea typeface="Meiryo"/>
                <a:cs typeface="Meiryo"/>
              </a:rPr>
              <a:t>2.3.1 </a:t>
            </a:r>
            <a:r>
              <a:rPr sz="2700" b="0">
                <a:solidFill>
                  <a:srgbClr val="262626"/>
                </a:solidFill>
                <a:latin typeface="Meiryo"/>
                <a:ea typeface="Meiryo"/>
                <a:cs typeface="Meiryo"/>
              </a:rPr>
              <a:t>切痕位置とトーヌス</a:t>
            </a:r>
          </a:p>
          <a:p>
            <a:pPr>
              <a:lnSpc>
                <a:spcPct val="142000"/>
              </a:lnSpc>
            </a:pPr>
            <a:r>
              <a:rPr sz="2700" b="1">
                <a:solidFill>
                  <a:srgbClr val="BF9000"/>
                </a:solidFill>
                <a:latin typeface="Meiryo"/>
                <a:ea typeface="Meiryo"/>
                <a:cs typeface="Meiryo"/>
              </a:rPr>
              <a:t>2.3.2 </a:t>
            </a:r>
            <a:r>
              <a:rPr sz="2700" b="0">
                <a:solidFill>
                  <a:srgbClr val="262626"/>
                </a:solidFill>
                <a:latin typeface="Meiryo"/>
                <a:ea typeface="Meiryo"/>
                <a:cs typeface="Meiryo"/>
              </a:rPr>
              <a:t>波形の6分類</a:t>
            </a:r>
          </a:p>
        </p:txBody>
      </p:sp>
      <p:sp>
        <p:nvSpPr>
          <p:cNvPr id="95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45/118</a:t>
            </a:r>
          </a:p>
        </p:txBody>
      </p:sp>
      <p:sp>
        <p:nvSpPr>
          <p:cNvPr id="960"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961"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962"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963"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964"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965"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sz="4600" dirty="0">
                <a:latin typeface="Meiryo"/>
                <a:ea typeface="Meiryo"/>
                <a:cs typeface="Meiryo"/>
              </a:rPr>
              <a:t>2.3.1  切痕位置とトーヌス</a:t>
            </a:r>
          </a:p>
        </p:txBody>
      </p:sp>
      <p:pic>
        <p:nvPicPr>
          <p:cNvPr id="9" name="Picture 8" descr="13_murray.png"/>
          <p:cNvPicPr>
            <a:picLocks noChangeAspect="1"/>
          </p:cNvPicPr>
          <p:nvPr/>
        </p:nvPicPr>
        <p:blipFill>
          <a:blip r:embed="rId3"/>
          <a:stretch>
            <a:fillRect/>
          </a:stretch>
        </p:blipFill>
        <p:spPr>
          <a:xfrm>
            <a:off x="1555975" y="1185660"/>
            <a:ext cx="9384005" cy="5052926"/>
          </a:xfrm>
          <a:prstGeom prst="rect">
            <a:avLst/>
          </a:prstGeom>
        </p:spPr>
      </p:pic>
      <p:sp>
        <p:nvSpPr>
          <p:cNvPr id="240" name="t_g"/>
          <p:cNvSpPr txBox="1"/>
          <p:nvPr/>
        </p:nvSpPr>
        <p:spPr>
          <a:xfrm>
            <a:off x="1087393" y="1921645"/>
            <a:ext cx="3424088" cy="401087"/>
          </a:xfrm>
          <a:prstGeom prst="rect">
            <a:avLst/>
          </a:prstGeom>
          <a:noFill/>
        </p:spPr>
        <p:txBody>
          <a:bodyPr wrap="square" lIns="0" tIns="0" rIns="0" bIns="0" anchor="t">
            <a:noAutofit/>
          </a:bodyPr>
          <a:lstStyle/>
          <a:p>
            <a:pPr algn="ctr"/>
            <a:r>
              <a:rPr lang="ja-JP" altLang="en-US" sz="2200" b="1" dirty="0">
                <a:solidFill>
                  <a:srgbClr val="5FA83D"/>
                </a:solidFill>
                <a:latin typeface="Meiryo"/>
                <a:ea typeface="Meiryo"/>
                <a:cs typeface="Meiryo"/>
              </a:rPr>
              <a:t>正常トーヌス</a:t>
            </a:r>
          </a:p>
        </p:txBody>
      </p:sp>
      <p:sp>
        <p:nvSpPr>
          <p:cNvPr id="241" name="t_r"/>
          <p:cNvSpPr txBox="1"/>
          <p:nvPr/>
        </p:nvSpPr>
        <p:spPr>
          <a:xfrm>
            <a:off x="4081830" y="1903279"/>
            <a:ext cx="4028339" cy="401087"/>
          </a:xfrm>
          <a:prstGeom prst="rect">
            <a:avLst/>
          </a:prstGeom>
          <a:noFill/>
        </p:spPr>
        <p:txBody>
          <a:bodyPr wrap="square" lIns="0" tIns="0" rIns="0" bIns="0" anchor="t">
            <a:normAutofit/>
          </a:bodyPr>
          <a:lstStyle/>
          <a:p>
            <a:pPr algn="ctr"/>
            <a:r>
              <a:rPr lang="ja-JP" altLang="en-US" sz="2200" b="1" dirty="0">
                <a:solidFill>
                  <a:srgbClr val="C0121F"/>
                </a:solidFill>
                <a:latin typeface="Meiryo"/>
                <a:ea typeface="Meiryo"/>
                <a:cs typeface="Meiryo"/>
              </a:rPr>
              <a:t>血管収縮（浅麻酔・昇圧）</a:t>
            </a:r>
          </a:p>
        </p:txBody>
      </p:sp>
      <p:sp>
        <p:nvSpPr>
          <p:cNvPr id="242" name="t_b"/>
          <p:cNvSpPr txBox="1"/>
          <p:nvPr/>
        </p:nvSpPr>
        <p:spPr>
          <a:xfrm>
            <a:off x="7629416" y="1903279"/>
            <a:ext cx="4028339" cy="401087"/>
          </a:xfrm>
          <a:prstGeom prst="rect">
            <a:avLst/>
          </a:prstGeom>
          <a:noFill/>
        </p:spPr>
        <p:txBody>
          <a:bodyPr wrap="square" lIns="0" tIns="0" rIns="0" bIns="0" anchor="t">
            <a:normAutofit/>
          </a:bodyPr>
          <a:lstStyle/>
          <a:p>
            <a:pPr algn="ctr"/>
            <a:r>
              <a:rPr lang="ja-JP" altLang="en-US" sz="2200" b="1" dirty="0">
                <a:solidFill>
                  <a:srgbClr val="3F72C4"/>
                </a:solidFill>
                <a:latin typeface="Meiryo"/>
                <a:ea typeface="Meiryo"/>
                <a:cs typeface="Meiryo"/>
              </a:rPr>
              <a:t>血管拡張（深麻酔・降圧）</a:t>
            </a:r>
          </a:p>
        </p:txBody>
      </p:sp>
      <p:sp>
        <p:nvSpPr>
          <p:cNvPr id="243" name="s_g"/>
          <p:cNvSpPr txBox="1"/>
          <p:nvPr/>
        </p:nvSpPr>
        <p:spPr>
          <a:xfrm>
            <a:off x="1393547" y="5190144"/>
            <a:ext cx="2813979" cy="311957"/>
          </a:xfrm>
          <a:prstGeom prst="rect">
            <a:avLst/>
          </a:prstGeom>
          <a:noFill/>
        </p:spPr>
        <p:txBody>
          <a:bodyPr wrap="square" lIns="0" tIns="0" rIns="0" bIns="0" anchor="t">
            <a:normAutofit/>
          </a:bodyPr>
          <a:lstStyle/>
          <a:p>
            <a:pPr algn="ctr"/>
            <a:r>
              <a:rPr lang="ja-JP" altLang="en-US" b="1" dirty="0">
                <a:solidFill>
                  <a:srgbClr val="5FA83D"/>
                </a:solidFill>
                <a:latin typeface="Meiryo"/>
                <a:ea typeface="Meiryo"/>
                <a:cs typeface="Meiryo"/>
              </a:rPr>
              <a:t>切痕：中 ・ 振幅：中</a:t>
            </a:r>
          </a:p>
        </p:txBody>
      </p:sp>
      <p:sp>
        <p:nvSpPr>
          <p:cNvPr id="244" name="s_r"/>
          <p:cNvSpPr txBox="1"/>
          <p:nvPr/>
        </p:nvSpPr>
        <p:spPr>
          <a:xfrm>
            <a:off x="4440717" y="5190143"/>
            <a:ext cx="3310564" cy="311957"/>
          </a:xfrm>
          <a:prstGeom prst="rect">
            <a:avLst/>
          </a:prstGeom>
          <a:noFill/>
        </p:spPr>
        <p:txBody>
          <a:bodyPr wrap="square" lIns="0" tIns="0" rIns="0" bIns="0" anchor="t">
            <a:normAutofit/>
          </a:bodyPr>
          <a:lstStyle/>
          <a:p>
            <a:pPr algn="ctr"/>
            <a:r>
              <a:rPr lang="ja-JP" altLang="en-US" b="1" dirty="0">
                <a:solidFill>
                  <a:srgbClr val="C0121F"/>
                </a:solidFill>
                <a:latin typeface="Meiryo"/>
                <a:ea typeface="Meiryo"/>
                <a:cs typeface="Meiryo"/>
              </a:rPr>
              <a:t>切痕位置↑ ・ 振幅↓</a:t>
            </a:r>
          </a:p>
        </p:txBody>
      </p:sp>
      <p:sp>
        <p:nvSpPr>
          <p:cNvPr id="245" name="s_b"/>
          <p:cNvSpPr txBox="1"/>
          <p:nvPr/>
        </p:nvSpPr>
        <p:spPr>
          <a:xfrm>
            <a:off x="7529237" y="5190143"/>
            <a:ext cx="3310564" cy="311957"/>
          </a:xfrm>
          <a:prstGeom prst="rect">
            <a:avLst/>
          </a:prstGeom>
          <a:noFill/>
        </p:spPr>
        <p:txBody>
          <a:bodyPr wrap="square" lIns="0" tIns="0" rIns="0" bIns="0" anchor="t">
            <a:normAutofit/>
          </a:bodyPr>
          <a:lstStyle/>
          <a:p>
            <a:pPr algn="ctr"/>
            <a:r>
              <a:rPr lang="ja-JP" altLang="en-US" b="1" dirty="0">
                <a:solidFill>
                  <a:srgbClr val="3F72C4"/>
                </a:solidFill>
                <a:latin typeface="Meiryo"/>
                <a:ea typeface="Meiryo"/>
                <a:cs typeface="Meiryo"/>
              </a:rPr>
              <a:t>切痕位置↓ ・ 振幅↑</a:t>
            </a:r>
          </a:p>
        </p:txBody>
      </p:sp>
      <p:sp>
        <p:nvSpPr>
          <p:cNvPr id="246"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19. Murray 1996</a:t>
            </a:r>
          </a:p>
        </p:txBody>
      </p:sp>
      <p:sp>
        <p:nvSpPr>
          <p:cNvPr id="247"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46/118</a:t>
            </a:r>
          </a:p>
        </p:txBody>
      </p:sp>
      <p:sp>
        <p:nvSpPr>
          <p:cNvPr id="248"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249"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250"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251"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252"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53"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78617598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52E25-3834-FFF5-C1F9-8915F22C33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11CE18-A000-3BE7-F918-94B3DFE349BF}"/>
              </a:ext>
            </a:extLst>
          </p:cNvPr>
          <p:cNvSpPr>
            <a:spLocks noGrp="1"/>
          </p:cNvSpPr>
          <p:nvPr>
            <p:ph type="title"/>
          </p:nvPr>
        </p:nvSpPr>
        <p:spPr/>
        <p:txBody>
          <a:bodyPr>
            <a:normAutofit/>
          </a:bodyPr>
          <a:lstStyle/>
          <a:p>
            <a:pPr algn="l"/>
            <a:r>
              <a:rPr sz="4600" dirty="0">
                <a:latin typeface="Meiryo"/>
                <a:ea typeface="Meiryo"/>
                <a:cs typeface="Meiryo"/>
              </a:rPr>
              <a:t>2.3.2  波形の6分類</a:t>
            </a:r>
          </a:p>
        </p:txBody>
      </p:sp>
      <p:pic>
        <p:nvPicPr>
          <p:cNvPr id="9" name="Picture 8" descr="15_tusman.png">
            <a:extLst>
              <a:ext uri="{FF2B5EF4-FFF2-40B4-BE49-F238E27FC236}">
                <a16:creationId xmlns:a16="http://schemas.microsoft.com/office/drawing/2014/main" id="{5629390F-4A41-9297-E2B0-AF511FF69391}"/>
              </a:ext>
            </a:extLst>
          </p:cNvPr>
          <p:cNvPicPr>
            <a:picLocks noChangeAspect="1"/>
          </p:cNvPicPr>
          <p:nvPr/>
        </p:nvPicPr>
        <p:blipFill>
          <a:blip r:embed="rId3"/>
          <a:stretch>
            <a:fillRect/>
          </a:stretch>
        </p:blipFill>
        <p:spPr>
          <a:xfrm>
            <a:off x="720986" y="1800000"/>
            <a:ext cx="10726027" cy="4320000"/>
          </a:xfrm>
          <a:prstGeom prst="rect">
            <a:avLst/>
          </a:prstGeom>
        </p:spPr>
      </p:pic>
      <p:sp>
        <p:nvSpPr>
          <p:cNvPr id="18" name="TextBox 17">
            <a:extLst>
              <a:ext uri="{FF2B5EF4-FFF2-40B4-BE49-F238E27FC236}">
                <a16:creationId xmlns:a16="http://schemas.microsoft.com/office/drawing/2014/main" id="{9B8A685E-2720-EFFA-9D6C-ADFA47F6207D}"/>
              </a:ext>
            </a:extLst>
          </p:cNvPr>
          <p:cNvSpPr txBox="1"/>
          <p:nvPr/>
        </p:nvSpPr>
        <p:spPr>
          <a:xfrm>
            <a:off x="2156683" y="1783080"/>
            <a:ext cx="1487587" cy="456535"/>
          </a:xfrm>
          <a:prstGeom prst="rect">
            <a:avLst/>
          </a:prstGeom>
          <a:noFill/>
        </p:spPr>
        <p:txBody>
          <a:bodyPr wrap="none" lIns="25400" tIns="12700" rIns="25400" bIns="12700">
            <a:spAutoFit/>
          </a:bodyPr>
          <a:lstStyle/>
          <a:p>
            <a:pPr algn="ctr"/>
            <a:r>
              <a:rPr sz="2800" b="1">
                <a:solidFill>
                  <a:srgbClr val="4472C4"/>
                </a:solidFill>
                <a:latin typeface="Meiryo"/>
                <a:ea typeface="Meiryo"/>
                <a:cs typeface="Meiryo"/>
              </a:rPr>
              <a:t>血管収縮</a:t>
            </a:r>
          </a:p>
        </p:txBody>
      </p:sp>
      <p:sp>
        <p:nvSpPr>
          <p:cNvPr id="19" name="TextBox 18">
            <a:extLst>
              <a:ext uri="{FF2B5EF4-FFF2-40B4-BE49-F238E27FC236}">
                <a16:creationId xmlns:a16="http://schemas.microsoft.com/office/drawing/2014/main" id="{64964FFB-D78D-4944-7A45-68E9B13D4A6E}"/>
              </a:ext>
            </a:extLst>
          </p:cNvPr>
          <p:cNvSpPr txBox="1"/>
          <p:nvPr/>
        </p:nvSpPr>
        <p:spPr>
          <a:xfrm>
            <a:off x="5011153" y="1783080"/>
            <a:ext cx="769441" cy="456535"/>
          </a:xfrm>
          <a:prstGeom prst="rect">
            <a:avLst/>
          </a:prstGeom>
          <a:noFill/>
        </p:spPr>
        <p:txBody>
          <a:bodyPr wrap="none" lIns="25400" tIns="12700" rIns="25400" bIns="12700">
            <a:spAutoFit/>
          </a:bodyPr>
          <a:lstStyle/>
          <a:p>
            <a:pPr algn="ctr"/>
            <a:r>
              <a:rPr sz="2800" b="1">
                <a:solidFill>
                  <a:srgbClr val="70AD47"/>
                </a:solidFill>
                <a:latin typeface="Meiryo"/>
                <a:ea typeface="Meiryo"/>
                <a:cs typeface="Meiryo"/>
              </a:rPr>
              <a:t>正常</a:t>
            </a:r>
          </a:p>
        </p:txBody>
      </p:sp>
      <p:sp>
        <p:nvSpPr>
          <p:cNvPr id="20" name="TextBox 19">
            <a:extLst>
              <a:ext uri="{FF2B5EF4-FFF2-40B4-BE49-F238E27FC236}">
                <a16:creationId xmlns:a16="http://schemas.microsoft.com/office/drawing/2014/main" id="{6E421EF3-E9EF-67C8-BD8C-61A328D9FDC4}"/>
              </a:ext>
            </a:extLst>
          </p:cNvPr>
          <p:cNvSpPr txBox="1"/>
          <p:nvPr/>
        </p:nvSpPr>
        <p:spPr>
          <a:xfrm>
            <a:off x="8178007" y="1783080"/>
            <a:ext cx="1487587" cy="456535"/>
          </a:xfrm>
          <a:prstGeom prst="rect">
            <a:avLst/>
          </a:prstGeom>
          <a:noFill/>
        </p:spPr>
        <p:txBody>
          <a:bodyPr wrap="none" lIns="25400" tIns="12700" rIns="25400" bIns="12700">
            <a:spAutoFit/>
          </a:bodyPr>
          <a:lstStyle/>
          <a:p>
            <a:pPr algn="ctr"/>
            <a:r>
              <a:rPr sz="2800" b="1">
                <a:solidFill>
                  <a:srgbClr val="8A3B00"/>
                </a:solidFill>
                <a:latin typeface="Meiryo"/>
                <a:ea typeface="Meiryo"/>
                <a:cs typeface="Meiryo"/>
              </a:rPr>
              <a:t>血管拡張</a:t>
            </a:r>
          </a:p>
        </p:txBody>
      </p:sp>
      <p:sp>
        <p:nvSpPr>
          <p:cNvPr id="21" name="TextBox 20">
            <a:extLst>
              <a:ext uri="{FF2B5EF4-FFF2-40B4-BE49-F238E27FC236}">
                <a16:creationId xmlns:a16="http://schemas.microsoft.com/office/drawing/2014/main" id="{D72ADAEF-B48D-EB66-FE3A-AC3F3759E781}"/>
              </a:ext>
            </a:extLst>
          </p:cNvPr>
          <p:cNvSpPr txBox="1"/>
          <p:nvPr/>
        </p:nvSpPr>
        <p:spPr>
          <a:xfrm>
            <a:off x="1714683" y="2856879"/>
            <a:ext cx="788486" cy="302647"/>
          </a:xfrm>
          <a:prstGeom prst="rect">
            <a:avLst/>
          </a:prstGeom>
          <a:noFill/>
        </p:spPr>
        <p:txBody>
          <a:bodyPr wrap="none" lIns="25400" tIns="12700" rIns="25400" bIns="12700">
            <a:spAutoFit/>
          </a:bodyPr>
          <a:lstStyle/>
          <a:p>
            <a:pPr algn="ctr"/>
            <a:r>
              <a:rPr b="0" dirty="0">
                <a:solidFill>
                  <a:srgbClr val="8C8C8C"/>
                </a:solidFill>
                <a:latin typeface="Meiryo"/>
                <a:ea typeface="Meiryo"/>
                <a:cs typeface="Meiryo"/>
              </a:rPr>
              <a:t>severe</a:t>
            </a:r>
          </a:p>
        </p:txBody>
      </p:sp>
      <p:sp>
        <p:nvSpPr>
          <p:cNvPr id="22" name="TextBox 21">
            <a:extLst>
              <a:ext uri="{FF2B5EF4-FFF2-40B4-BE49-F238E27FC236}">
                <a16:creationId xmlns:a16="http://schemas.microsoft.com/office/drawing/2014/main" id="{DDB977FB-4CA6-27B9-81F4-DB06B8F3637C}"/>
              </a:ext>
            </a:extLst>
          </p:cNvPr>
          <p:cNvSpPr txBox="1"/>
          <p:nvPr/>
        </p:nvSpPr>
        <p:spPr>
          <a:xfrm>
            <a:off x="3220107" y="2856879"/>
            <a:ext cx="1131656" cy="302647"/>
          </a:xfrm>
          <a:prstGeom prst="rect">
            <a:avLst/>
          </a:prstGeom>
          <a:noFill/>
        </p:spPr>
        <p:txBody>
          <a:bodyPr wrap="none" lIns="25400" tIns="12700" rIns="25400" bIns="12700">
            <a:spAutoFit/>
          </a:bodyPr>
          <a:lstStyle/>
          <a:p>
            <a:pPr algn="ctr"/>
            <a:r>
              <a:rPr b="0">
                <a:solidFill>
                  <a:srgbClr val="8C8C8C"/>
                </a:solidFill>
                <a:latin typeface="Meiryo"/>
                <a:ea typeface="Meiryo"/>
                <a:cs typeface="Meiryo"/>
              </a:rPr>
              <a:t>moderate</a:t>
            </a:r>
          </a:p>
        </p:txBody>
      </p:sp>
      <p:sp>
        <p:nvSpPr>
          <p:cNvPr id="23" name="TextBox 22">
            <a:extLst>
              <a:ext uri="{FF2B5EF4-FFF2-40B4-BE49-F238E27FC236}">
                <a16:creationId xmlns:a16="http://schemas.microsoft.com/office/drawing/2014/main" id="{58C0E1E8-FFF3-34F9-C4A9-120D29685B1B}"/>
              </a:ext>
            </a:extLst>
          </p:cNvPr>
          <p:cNvSpPr txBox="1"/>
          <p:nvPr/>
        </p:nvSpPr>
        <p:spPr>
          <a:xfrm>
            <a:off x="6806653" y="2856879"/>
            <a:ext cx="655629" cy="302647"/>
          </a:xfrm>
          <a:prstGeom prst="rect">
            <a:avLst/>
          </a:prstGeom>
          <a:noFill/>
        </p:spPr>
        <p:txBody>
          <a:bodyPr wrap="none" lIns="25400" tIns="12700" rIns="25400" bIns="12700">
            <a:spAutoFit/>
          </a:bodyPr>
          <a:lstStyle/>
          <a:p>
            <a:pPr algn="ctr"/>
            <a:r>
              <a:rPr b="0">
                <a:solidFill>
                  <a:srgbClr val="8C8C8C"/>
                </a:solidFill>
                <a:latin typeface="Meiryo"/>
                <a:ea typeface="Meiryo"/>
                <a:cs typeface="Meiryo"/>
              </a:rPr>
              <a:t>slight</a:t>
            </a:r>
          </a:p>
        </p:txBody>
      </p:sp>
      <p:sp>
        <p:nvSpPr>
          <p:cNvPr id="24" name="TextBox 23">
            <a:extLst>
              <a:ext uri="{FF2B5EF4-FFF2-40B4-BE49-F238E27FC236}">
                <a16:creationId xmlns:a16="http://schemas.microsoft.com/office/drawing/2014/main" id="{1DB50F6C-A843-A198-923E-3D09134C7438}"/>
              </a:ext>
            </a:extLst>
          </p:cNvPr>
          <p:cNvSpPr txBox="1"/>
          <p:nvPr/>
        </p:nvSpPr>
        <p:spPr>
          <a:xfrm>
            <a:off x="8244735" y="2856879"/>
            <a:ext cx="1131656" cy="302647"/>
          </a:xfrm>
          <a:prstGeom prst="rect">
            <a:avLst/>
          </a:prstGeom>
          <a:noFill/>
        </p:spPr>
        <p:txBody>
          <a:bodyPr wrap="none" lIns="25400" tIns="12700" rIns="25400" bIns="12700">
            <a:spAutoFit/>
          </a:bodyPr>
          <a:lstStyle/>
          <a:p>
            <a:pPr algn="ctr"/>
            <a:r>
              <a:rPr b="0">
                <a:solidFill>
                  <a:srgbClr val="8C8C8C"/>
                </a:solidFill>
                <a:latin typeface="Meiryo"/>
                <a:ea typeface="Meiryo"/>
                <a:cs typeface="Meiryo"/>
              </a:rPr>
              <a:t>moderate</a:t>
            </a:r>
          </a:p>
        </p:txBody>
      </p:sp>
      <p:sp>
        <p:nvSpPr>
          <p:cNvPr id="25" name="TextBox 24">
            <a:extLst>
              <a:ext uri="{FF2B5EF4-FFF2-40B4-BE49-F238E27FC236}">
                <a16:creationId xmlns:a16="http://schemas.microsoft.com/office/drawing/2014/main" id="{8EE01CE3-12CB-24CA-9A06-8F6BAE405904}"/>
              </a:ext>
            </a:extLst>
          </p:cNvPr>
          <p:cNvSpPr txBox="1"/>
          <p:nvPr/>
        </p:nvSpPr>
        <p:spPr>
          <a:xfrm>
            <a:off x="10088758" y="2856879"/>
            <a:ext cx="788486" cy="302647"/>
          </a:xfrm>
          <a:prstGeom prst="rect">
            <a:avLst/>
          </a:prstGeom>
          <a:noFill/>
        </p:spPr>
        <p:txBody>
          <a:bodyPr wrap="none" lIns="25400" tIns="12700" rIns="25400" bIns="12700">
            <a:spAutoFit/>
          </a:bodyPr>
          <a:lstStyle/>
          <a:p>
            <a:pPr algn="ctr"/>
            <a:r>
              <a:rPr b="0">
                <a:solidFill>
                  <a:srgbClr val="8C8C8C"/>
                </a:solidFill>
                <a:latin typeface="Meiryo"/>
                <a:ea typeface="Meiryo"/>
                <a:cs typeface="Meiryo"/>
              </a:rPr>
              <a:t>severe</a:t>
            </a:r>
          </a:p>
        </p:txBody>
      </p:sp>
      <p:sp>
        <p:nvSpPr>
          <p:cNvPr id="26" name="TextBox 25">
            <a:extLst>
              <a:ext uri="{FF2B5EF4-FFF2-40B4-BE49-F238E27FC236}">
                <a16:creationId xmlns:a16="http://schemas.microsoft.com/office/drawing/2014/main" id="{7935C084-AE8B-8914-6EB6-C95ADF998EFB}"/>
              </a:ext>
            </a:extLst>
          </p:cNvPr>
          <p:cNvSpPr txBox="1"/>
          <p:nvPr/>
        </p:nvSpPr>
        <p:spPr>
          <a:xfrm>
            <a:off x="1320393" y="5120640"/>
            <a:ext cx="1828800" cy="329184"/>
          </a:xfrm>
          <a:prstGeom prst="rect">
            <a:avLst/>
          </a:prstGeom>
          <a:noFill/>
        </p:spPr>
        <p:txBody>
          <a:bodyPr wrap="none" lIns="25400" tIns="12700" rIns="25400" bIns="12700">
            <a:spAutoFit/>
          </a:bodyPr>
          <a:lstStyle/>
          <a:p>
            <a:pPr algn="ctr"/>
            <a:r>
              <a:rPr sz="1500" b="1">
                <a:solidFill>
                  <a:srgbClr val="4472C4"/>
                </a:solidFill>
                <a:latin typeface="Meiryo"/>
                <a:ea typeface="Meiryo"/>
                <a:cs typeface="Meiryo"/>
              </a:rPr>
              <a:t>Class I</a:t>
            </a:r>
          </a:p>
        </p:txBody>
      </p:sp>
      <p:sp>
        <p:nvSpPr>
          <p:cNvPr id="27" name="TextBox 26">
            <a:extLst>
              <a:ext uri="{FF2B5EF4-FFF2-40B4-BE49-F238E27FC236}">
                <a16:creationId xmlns:a16="http://schemas.microsoft.com/office/drawing/2014/main" id="{7F32B748-9FD6-5E3D-A361-143B593F4D11}"/>
              </a:ext>
            </a:extLst>
          </p:cNvPr>
          <p:cNvSpPr txBox="1"/>
          <p:nvPr/>
        </p:nvSpPr>
        <p:spPr>
          <a:xfrm>
            <a:off x="2997403" y="5120640"/>
            <a:ext cx="1828800" cy="329184"/>
          </a:xfrm>
          <a:prstGeom prst="rect">
            <a:avLst/>
          </a:prstGeom>
          <a:noFill/>
        </p:spPr>
        <p:txBody>
          <a:bodyPr wrap="none" lIns="25400" tIns="12700" rIns="25400" bIns="12700">
            <a:spAutoFit/>
          </a:bodyPr>
          <a:lstStyle/>
          <a:p>
            <a:pPr algn="ctr"/>
            <a:r>
              <a:rPr sz="1500" b="1">
                <a:solidFill>
                  <a:srgbClr val="4472C4"/>
                </a:solidFill>
                <a:latin typeface="Meiryo"/>
                <a:ea typeface="Meiryo"/>
                <a:cs typeface="Meiryo"/>
              </a:rPr>
              <a:t>Class II</a:t>
            </a:r>
          </a:p>
        </p:txBody>
      </p:sp>
      <p:sp>
        <p:nvSpPr>
          <p:cNvPr id="28" name="TextBox 27">
            <a:extLst>
              <a:ext uri="{FF2B5EF4-FFF2-40B4-BE49-F238E27FC236}">
                <a16:creationId xmlns:a16="http://schemas.microsoft.com/office/drawing/2014/main" id="{EA55B207-9AA9-6EAD-4E57-5D5178E80E5A}"/>
              </a:ext>
            </a:extLst>
          </p:cNvPr>
          <p:cNvSpPr txBox="1"/>
          <p:nvPr/>
        </p:nvSpPr>
        <p:spPr>
          <a:xfrm>
            <a:off x="4674412" y="5120640"/>
            <a:ext cx="1828800" cy="329184"/>
          </a:xfrm>
          <a:prstGeom prst="rect">
            <a:avLst/>
          </a:prstGeom>
          <a:noFill/>
        </p:spPr>
        <p:txBody>
          <a:bodyPr wrap="none" lIns="25400" tIns="12700" rIns="25400" bIns="12700">
            <a:spAutoFit/>
          </a:bodyPr>
          <a:lstStyle/>
          <a:p>
            <a:pPr algn="ctr"/>
            <a:r>
              <a:rPr sz="1500" b="1">
                <a:solidFill>
                  <a:srgbClr val="70AD47"/>
                </a:solidFill>
                <a:latin typeface="Meiryo"/>
                <a:ea typeface="Meiryo"/>
                <a:cs typeface="Meiryo"/>
              </a:rPr>
              <a:t>Class III</a:t>
            </a:r>
          </a:p>
        </p:txBody>
      </p:sp>
      <p:sp>
        <p:nvSpPr>
          <p:cNvPr id="29" name="TextBox 28">
            <a:extLst>
              <a:ext uri="{FF2B5EF4-FFF2-40B4-BE49-F238E27FC236}">
                <a16:creationId xmlns:a16="http://schemas.microsoft.com/office/drawing/2014/main" id="{093ECF76-0F3E-2BF5-C081-48A28FE51A22}"/>
              </a:ext>
            </a:extLst>
          </p:cNvPr>
          <p:cNvSpPr txBox="1"/>
          <p:nvPr/>
        </p:nvSpPr>
        <p:spPr>
          <a:xfrm>
            <a:off x="6355994" y="5120640"/>
            <a:ext cx="1828800" cy="329184"/>
          </a:xfrm>
          <a:prstGeom prst="rect">
            <a:avLst/>
          </a:prstGeom>
          <a:noFill/>
        </p:spPr>
        <p:txBody>
          <a:bodyPr wrap="none" lIns="25400" tIns="12700" rIns="25400" bIns="12700">
            <a:spAutoFit/>
          </a:bodyPr>
          <a:lstStyle/>
          <a:p>
            <a:pPr algn="ctr"/>
            <a:r>
              <a:rPr sz="1500" b="1">
                <a:solidFill>
                  <a:srgbClr val="ED7D31"/>
                </a:solidFill>
                <a:latin typeface="Meiryo"/>
                <a:ea typeface="Meiryo"/>
                <a:cs typeface="Meiryo"/>
              </a:rPr>
              <a:t>Class IV</a:t>
            </a:r>
          </a:p>
        </p:txBody>
      </p:sp>
      <p:sp>
        <p:nvSpPr>
          <p:cNvPr id="30" name="TextBox 29">
            <a:extLst>
              <a:ext uri="{FF2B5EF4-FFF2-40B4-BE49-F238E27FC236}">
                <a16:creationId xmlns:a16="http://schemas.microsoft.com/office/drawing/2014/main" id="{2381C2C1-93BF-6D30-CEF5-AAA5E72F6642}"/>
              </a:ext>
            </a:extLst>
          </p:cNvPr>
          <p:cNvSpPr txBox="1"/>
          <p:nvPr/>
        </p:nvSpPr>
        <p:spPr>
          <a:xfrm>
            <a:off x="8032089" y="5120640"/>
            <a:ext cx="1828800" cy="329184"/>
          </a:xfrm>
          <a:prstGeom prst="rect">
            <a:avLst/>
          </a:prstGeom>
          <a:noFill/>
        </p:spPr>
        <p:txBody>
          <a:bodyPr wrap="none" lIns="25400" tIns="12700" rIns="25400" bIns="12700">
            <a:spAutoFit/>
          </a:bodyPr>
          <a:lstStyle/>
          <a:p>
            <a:pPr algn="ctr"/>
            <a:r>
              <a:rPr sz="1500" b="1">
                <a:solidFill>
                  <a:srgbClr val="ED7D31"/>
                </a:solidFill>
                <a:latin typeface="Meiryo"/>
                <a:ea typeface="Meiryo"/>
                <a:cs typeface="Meiryo"/>
              </a:rPr>
              <a:t>Class V</a:t>
            </a:r>
          </a:p>
        </p:txBody>
      </p:sp>
      <p:sp>
        <p:nvSpPr>
          <p:cNvPr id="31" name="TextBox 30">
            <a:extLst>
              <a:ext uri="{FF2B5EF4-FFF2-40B4-BE49-F238E27FC236}">
                <a16:creationId xmlns:a16="http://schemas.microsoft.com/office/drawing/2014/main" id="{F910EA68-CBFF-B379-3A8A-2D363A3B64D7}"/>
              </a:ext>
            </a:extLst>
          </p:cNvPr>
          <p:cNvSpPr txBox="1"/>
          <p:nvPr/>
        </p:nvSpPr>
        <p:spPr>
          <a:xfrm>
            <a:off x="9704527" y="5120640"/>
            <a:ext cx="1828800" cy="329184"/>
          </a:xfrm>
          <a:prstGeom prst="rect">
            <a:avLst/>
          </a:prstGeom>
          <a:noFill/>
        </p:spPr>
        <p:txBody>
          <a:bodyPr wrap="none" lIns="25400" tIns="12700" rIns="25400" bIns="12700">
            <a:spAutoFit/>
          </a:bodyPr>
          <a:lstStyle/>
          <a:p>
            <a:pPr algn="ctr"/>
            <a:r>
              <a:rPr sz="1500" b="1">
                <a:solidFill>
                  <a:srgbClr val="C00000"/>
                </a:solidFill>
                <a:latin typeface="Meiryo"/>
                <a:ea typeface="Meiryo"/>
                <a:cs typeface="Meiryo"/>
              </a:rPr>
              <a:t>Class VI</a:t>
            </a:r>
          </a:p>
        </p:txBody>
      </p:sp>
      <p:sp>
        <p:nvSpPr>
          <p:cNvPr id="32" name="TextBox 31">
            <a:extLst>
              <a:ext uri="{FF2B5EF4-FFF2-40B4-BE49-F238E27FC236}">
                <a16:creationId xmlns:a16="http://schemas.microsoft.com/office/drawing/2014/main" id="{AE24AB45-2B70-815A-7C05-CD0E978C4492}"/>
              </a:ext>
            </a:extLst>
          </p:cNvPr>
          <p:cNvSpPr txBox="1"/>
          <p:nvPr/>
        </p:nvSpPr>
        <p:spPr>
          <a:xfrm rot="16200000">
            <a:off x="104997" y="4002952"/>
            <a:ext cx="1200650" cy="333425"/>
          </a:xfrm>
          <a:prstGeom prst="rect">
            <a:avLst/>
          </a:prstGeom>
          <a:noFill/>
        </p:spPr>
        <p:txBody>
          <a:bodyPr wrap="none" lIns="25400" tIns="12700" rIns="25400" bIns="12700">
            <a:spAutoFit/>
          </a:bodyPr>
          <a:lstStyle/>
          <a:p>
            <a:pPr algn="ctr"/>
            <a:r>
              <a:rPr sz="2000" b="1">
                <a:solidFill>
                  <a:srgbClr val="272727"/>
                </a:solidFill>
                <a:latin typeface="Meiryo"/>
                <a:ea typeface="Meiryo"/>
                <a:cs typeface="Meiryo"/>
              </a:rPr>
              <a:t>PPG 振幅</a:t>
            </a:r>
          </a:p>
        </p:txBody>
      </p:sp>
      <p:sp>
        <p:nvSpPr>
          <p:cNvPr id="4" name="テキスト ボックス 3">
            <a:extLst>
              <a:ext uri="{FF2B5EF4-FFF2-40B4-BE49-F238E27FC236}">
                <a16:creationId xmlns:a16="http://schemas.microsoft.com/office/drawing/2014/main" id="{6D828D3A-5ACF-C19C-0C7E-81F1ABBA3109}"/>
              </a:ext>
            </a:extLst>
          </p:cNvPr>
          <p:cNvSpPr txBox="1"/>
          <p:nvPr/>
        </p:nvSpPr>
        <p:spPr>
          <a:xfrm>
            <a:off x="1951104" y="5559458"/>
            <a:ext cx="8676158" cy="895630"/>
          </a:xfrm>
          <a:prstGeom prst="rect">
            <a:avLst/>
          </a:prstGeom>
          <a:noFill/>
        </p:spPr>
        <p:txBody>
          <a:bodyPr wrap="none" rtlCol="0">
            <a:spAutoFit/>
          </a:bodyPr>
          <a:lstStyle/>
          <a:p>
            <a:pPr>
              <a:lnSpc>
                <a:spcPct val="110000"/>
              </a:lnSpc>
            </a:pPr>
            <a:r>
              <a:rPr lang="en-US" altLang="ja-JP" sz="2400" b="1" dirty="0">
                <a:latin typeface="Meiryo"/>
                <a:ea typeface="Meiryo"/>
                <a:cs typeface="Meiryo"/>
              </a:rPr>
              <a:t>CABG</a:t>
            </a:r>
            <a:r>
              <a:rPr lang="ja-JP" altLang="en-US" sz="2400" b="1">
                <a:latin typeface="Meiryo"/>
                <a:ea typeface="Meiryo"/>
                <a:cs typeface="Meiryo"/>
              </a:rPr>
              <a:t>症例で</a:t>
            </a:r>
            <a:r>
              <a:rPr lang="en-US" altLang="ja-JP" sz="2400" b="1" dirty="0">
                <a:latin typeface="Meiryo"/>
                <a:ea typeface="Meiryo"/>
                <a:cs typeface="Meiryo"/>
              </a:rPr>
              <a:t>PPG</a:t>
            </a:r>
            <a:r>
              <a:rPr lang="ja-JP" altLang="en-US" sz="2400" b="1">
                <a:latin typeface="Meiryo"/>
                <a:ea typeface="Meiryo"/>
                <a:cs typeface="Meiryo"/>
              </a:rPr>
              <a:t>波形を</a:t>
            </a:r>
            <a:r>
              <a:rPr lang="en-US" altLang="ja-JP" sz="2400" b="1" dirty="0">
                <a:latin typeface="Meiryo"/>
                <a:ea typeface="Meiryo"/>
                <a:cs typeface="Meiryo"/>
              </a:rPr>
              <a:t> </a:t>
            </a:r>
            <a:r>
              <a:rPr lang="ja-JP" altLang="en-US" sz="2400" b="1">
                <a:latin typeface="Meiryo"/>
                <a:ea typeface="Meiryo"/>
                <a:cs typeface="Meiryo"/>
              </a:rPr>
              <a:t>切痕位置</a:t>
            </a:r>
            <a:r>
              <a:rPr lang="en-US" altLang="ja-JP" sz="2400" b="1" dirty="0">
                <a:latin typeface="Meiryo"/>
                <a:ea typeface="Meiryo"/>
                <a:cs typeface="Meiryo"/>
              </a:rPr>
              <a:t> × </a:t>
            </a:r>
            <a:r>
              <a:rPr lang="ja-JP" altLang="en-US" sz="2400" b="1">
                <a:latin typeface="Meiryo"/>
                <a:ea typeface="Meiryo"/>
                <a:cs typeface="Meiryo"/>
              </a:rPr>
              <a:t>振幅 で</a:t>
            </a:r>
            <a:r>
              <a:rPr lang="en-US" altLang="ja-JP" sz="2400" b="1" dirty="0">
                <a:latin typeface="Meiryo"/>
                <a:ea typeface="Meiryo"/>
                <a:cs typeface="Meiryo"/>
              </a:rPr>
              <a:t>6</a:t>
            </a:r>
            <a:r>
              <a:rPr lang="ja-JP" altLang="en-US" sz="2400" b="1">
                <a:latin typeface="Meiryo"/>
                <a:ea typeface="Meiryo"/>
                <a:cs typeface="Meiryo"/>
              </a:rPr>
              <a:t>つに分類。　</a:t>
            </a:r>
            <a:endParaRPr lang="en-US" altLang="ja-JP" sz="2400" b="1" dirty="0">
              <a:latin typeface="Meiryo"/>
              <a:ea typeface="Meiryo"/>
              <a:cs typeface="Meiryo"/>
            </a:endParaRPr>
          </a:p>
          <a:p>
            <a:pPr>
              <a:lnSpc>
                <a:spcPct val="110000"/>
              </a:lnSpc>
            </a:pPr>
            <a:r>
              <a:rPr lang="ja-JP" altLang="en-US" sz="2400" b="1">
                <a:latin typeface="Meiryo"/>
                <a:ea typeface="Meiryo"/>
                <a:cs typeface="Meiryo"/>
              </a:rPr>
              <a:t>分類が血圧変化や循環パラメータと関連があるか調べた。</a:t>
            </a:r>
            <a:endParaRPr kumimoji="1" lang="ja-JP" altLang="en-US" sz="2400" b="1"/>
          </a:p>
        </p:txBody>
      </p:sp>
      <p:sp>
        <p:nvSpPr>
          <p:cNvPr id="3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20. Tusman 2019</a:t>
            </a:r>
          </a:p>
        </p:txBody>
      </p:sp>
      <p:sp>
        <p:nvSpPr>
          <p:cNvPr id="3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47/118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18334007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21BB2-C3AC-D389-0079-C15A9126A8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80CFEC-44D8-2442-2332-E2F79E8A884C}"/>
              </a:ext>
            </a:extLst>
          </p:cNvPr>
          <p:cNvSpPr>
            <a:spLocks noGrp="1"/>
          </p:cNvSpPr>
          <p:nvPr>
            <p:ph type="title"/>
          </p:nvPr>
        </p:nvSpPr>
        <p:spPr/>
        <p:txBody>
          <a:bodyPr>
            <a:normAutofit/>
          </a:bodyPr>
          <a:lstStyle/>
          <a:p>
            <a:pPr algn="l"/>
            <a:r>
              <a:rPr sz="4600" dirty="0">
                <a:latin typeface="Meiryo"/>
                <a:ea typeface="Meiryo"/>
                <a:cs typeface="Meiryo"/>
              </a:rPr>
              <a:t>2.3.2  波形の6分類</a:t>
            </a:r>
          </a:p>
        </p:txBody>
      </p:sp>
      <p:pic>
        <p:nvPicPr>
          <p:cNvPr id="9" name="Picture 8" descr="15_tusman.png">
            <a:extLst>
              <a:ext uri="{FF2B5EF4-FFF2-40B4-BE49-F238E27FC236}">
                <a16:creationId xmlns:a16="http://schemas.microsoft.com/office/drawing/2014/main" id="{17DF98B4-4112-E40F-4C68-F344E0D26A6B}"/>
              </a:ext>
            </a:extLst>
          </p:cNvPr>
          <p:cNvPicPr>
            <a:picLocks noChangeAspect="1"/>
          </p:cNvPicPr>
          <p:nvPr/>
        </p:nvPicPr>
        <p:blipFill>
          <a:blip r:embed="rId3"/>
          <a:stretch>
            <a:fillRect/>
          </a:stretch>
        </p:blipFill>
        <p:spPr>
          <a:xfrm>
            <a:off x="720986" y="1800000"/>
            <a:ext cx="10726027" cy="4320000"/>
          </a:xfrm>
          <a:prstGeom prst="rect">
            <a:avLst/>
          </a:prstGeom>
        </p:spPr>
      </p:pic>
      <p:pic>
        <p:nvPicPr>
          <p:cNvPr id="3" name="図 2">
            <a:extLst>
              <a:ext uri="{FF2B5EF4-FFF2-40B4-BE49-F238E27FC236}">
                <a16:creationId xmlns:a16="http://schemas.microsoft.com/office/drawing/2014/main" id="{A236D4E2-3099-F0FD-523C-93E225DCA580}"/>
              </a:ext>
            </a:extLst>
          </p:cNvPr>
          <p:cNvPicPr>
            <a:picLocks noChangeAspect="1"/>
          </p:cNvPicPr>
          <p:nvPr/>
        </p:nvPicPr>
        <p:blipFill>
          <a:blip r:embed="rId4"/>
          <a:stretch>
            <a:fillRect/>
          </a:stretch>
        </p:blipFill>
        <p:spPr>
          <a:xfrm>
            <a:off x="744987" y="1690688"/>
            <a:ext cx="11115624" cy="4050414"/>
          </a:xfrm>
          <a:prstGeom prst="rect">
            <a:avLst/>
          </a:prstGeom>
        </p:spPr>
      </p:pic>
      <p:sp>
        <p:nvSpPr>
          <p:cNvPr id="18"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20. Tusman 2019</a:t>
            </a:r>
          </a:p>
        </p:txBody>
      </p:sp>
      <p:sp>
        <p:nvSpPr>
          <p:cNvPr id="1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48/118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66838928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0815C-2CC2-3F24-F6F3-6185A510B9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E72301-5AC6-3B3A-71EE-CC2222AA02BF}"/>
              </a:ext>
            </a:extLst>
          </p:cNvPr>
          <p:cNvSpPr>
            <a:spLocks noGrp="1"/>
          </p:cNvSpPr>
          <p:nvPr>
            <p:ph type="title"/>
          </p:nvPr>
        </p:nvSpPr>
        <p:spPr/>
        <p:txBody>
          <a:bodyPr/>
          <a:lstStyle/>
          <a:p>
            <a:pPr algn="l"/>
            <a:r>
              <a:rPr sz="4600" dirty="0">
                <a:latin typeface="Meiryo"/>
                <a:ea typeface="Meiryo"/>
                <a:cs typeface="Meiryo"/>
              </a:rPr>
              <a:t>2.3.2  6分類と血行動態</a:t>
            </a:r>
          </a:p>
        </p:txBody>
      </p:sp>
      <p:pic>
        <p:nvPicPr>
          <p:cNvPr id="3" name="図 2">
            <a:extLst>
              <a:ext uri="{FF2B5EF4-FFF2-40B4-BE49-F238E27FC236}">
                <a16:creationId xmlns:a16="http://schemas.microsoft.com/office/drawing/2014/main" id="{8DF31F8E-F11A-C9E0-1E9F-EDEE84B3DB8A}"/>
              </a:ext>
            </a:extLst>
          </p:cNvPr>
          <p:cNvPicPr>
            <a:picLocks noChangeAspect="1"/>
          </p:cNvPicPr>
          <p:nvPr/>
        </p:nvPicPr>
        <p:blipFill>
          <a:blip r:embed="rId3"/>
          <a:stretch>
            <a:fillRect/>
          </a:stretch>
        </p:blipFill>
        <p:spPr>
          <a:xfrm>
            <a:off x="1349391" y="1555420"/>
            <a:ext cx="9497786" cy="5086680"/>
          </a:xfrm>
          <a:prstGeom prst="rect">
            <a:avLst/>
          </a:prstGeom>
        </p:spPr>
      </p:pic>
      <p:sp>
        <p:nvSpPr>
          <p:cNvPr id="4" name="callout">
            <a:extLst>
              <a:ext uri="{FF2B5EF4-FFF2-40B4-BE49-F238E27FC236}">
                <a16:creationId xmlns:a16="http://schemas.microsoft.com/office/drawing/2014/main" id="{B5086CE6-A9B1-B237-A41A-55E5CFE6DB85}"/>
              </a:ext>
            </a:extLst>
          </p:cNvPr>
          <p:cNvSpPr/>
          <p:nvPr/>
        </p:nvSpPr>
        <p:spPr>
          <a:xfrm>
            <a:off x="1344822" y="5861538"/>
            <a:ext cx="9509697" cy="382641"/>
          </a:xfrm>
          <a:prstGeom prst="roundRect">
            <a:avLst>
              <a:gd name="adj" fmla="val 12000"/>
            </a:avLst>
          </a:prstGeom>
          <a:solidFill>
            <a:srgbClr val="F2E2B3">
              <a:alpha val="28000"/>
            </a:srgbClr>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endParaRPr sz="2400" b="1" dirty="0">
              <a:solidFill>
                <a:srgbClr val="262626"/>
              </a:solidFill>
              <a:latin typeface="Meiryo"/>
              <a:ea typeface="Meiryo"/>
              <a:cs typeface="Meiryo"/>
            </a:endParaRP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20. Tusman 2019</a:t>
            </a:r>
          </a:p>
        </p:txBody>
      </p:sp>
      <p:sp>
        <p:nvSpPr>
          <p:cNvPr id="1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49/118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203396206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2.3.2  6分類と血行動態</a:t>
            </a:r>
          </a:p>
        </p:txBody>
      </p:sp>
      <p:sp>
        <p:nvSpPr>
          <p:cNvPr id="17" name="Source"/>
          <p:cNvSpPr txBox="1"/>
          <p:nvPr/>
        </p:nvSpPr>
        <p:spPr>
          <a:xfrm>
            <a:off x="720000" y="6606000"/>
            <a:ext cx="10881360" cy="161583"/>
          </a:xfrm>
          <a:prstGeom prst="rect">
            <a:avLst/>
          </a:prstGeom>
          <a:noFill/>
        </p:spPr>
        <p:txBody>
          <a:bodyPr wrap="square" lIns="0" tIns="0" rIns="0" bIns="0" anchor="t">
            <a:spAutoFit/>
          </a:bodyPr>
          <a:lstStyle/>
          <a:p>
            <a:pPr algn="l"/>
            <a:r>
              <a:rPr sz="1050" b="0" dirty="0">
                <a:solidFill>
                  <a:srgbClr val="808080"/>
                </a:solidFill>
                <a:latin typeface="Meiryo"/>
                <a:ea typeface="Meiryo"/>
                <a:cs typeface="Meiryo"/>
              </a:rPr>
              <a:t>20. </a:t>
            </a:r>
            <a:r>
              <a:rPr sz="1050" b="0" dirty="0" err="1">
                <a:solidFill>
                  <a:srgbClr val="808080"/>
                </a:solidFill>
                <a:latin typeface="Meiryo"/>
                <a:ea typeface="Meiryo"/>
                <a:cs typeface="Meiryo"/>
              </a:rPr>
              <a:t>Tusman</a:t>
            </a:r>
            <a:r>
              <a:rPr sz="1050" b="0" dirty="0">
                <a:solidFill>
                  <a:srgbClr val="808080"/>
                </a:solidFill>
                <a:latin typeface="Meiryo"/>
                <a:ea typeface="Meiryo"/>
                <a:cs typeface="Meiryo"/>
              </a:rPr>
              <a:t> 2019</a:t>
            </a:r>
          </a:p>
        </p:txBody>
      </p:sp>
      <p:sp>
        <p:nvSpPr>
          <p:cNvPr id="18" name="Rounded Rectangle 17"/>
          <p:cNvSpPr/>
          <p:nvPr/>
        </p:nvSpPr>
        <p:spPr>
          <a:xfrm>
            <a:off x="502920" y="1783080"/>
            <a:ext cx="3529584" cy="1234440"/>
          </a:xfrm>
          <a:prstGeom prst="round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4360" y="1956816"/>
            <a:ext cx="3346704" cy="578598"/>
          </a:xfrm>
          <a:prstGeom prst="rect">
            <a:avLst/>
          </a:prstGeom>
          <a:noFill/>
        </p:spPr>
        <p:txBody>
          <a:bodyPr wrap="square" lIns="0" tIns="0" rIns="0" bIns="0" anchor="t">
            <a:spAutoFit/>
          </a:bodyPr>
          <a:lstStyle/>
          <a:p>
            <a:pPr algn="ctr"/>
            <a:r>
              <a:rPr sz="2700" b="1">
                <a:solidFill>
                  <a:srgbClr val="FFFFFF"/>
                </a:solidFill>
                <a:latin typeface="Meiryo"/>
                <a:ea typeface="Meiryo"/>
                <a:cs typeface="Meiryo"/>
              </a:rPr>
              <a:t>Class I・II</a:t>
            </a:r>
          </a:p>
        </p:txBody>
      </p:sp>
      <p:sp>
        <p:nvSpPr>
          <p:cNvPr id="20" name="TextBox 19"/>
          <p:cNvSpPr txBox="1"/>
          <p:nvPr/>
        </p:nvSpPr>
        <p:spPr>
          <a:xfrm>
            <a:off x="594360" y="2450592"/>
            <a:ext cx="3346704" cy="541553"/>
          </a:xfrm>
          <a:prstGeom prst="rect">
            <a:avLst/>
          </a:prstGeom>
          <a:noFill/>
        </p:spPr>
        <p:txBody>
          <a:bodyPr wrap="square" lIns="0" tIns="0" rIns="0" bIns="0" anchor="t">
            <a:spAutoFit/>
          </a:bodyPr>
          <a:lstStyle/>
          <a:p>
            <a:pPr algn="ctr"/>
            <a:r>
              <a:rPr sz="2500" b="1">
                <a:solidFill>
                  <a:srgbClr val="FFFFFF"/>
                </a:solidFill>
                <a:latin typeface="Meiryo"/>
                <a:ea typeface="Meiryo"/>
                <a:cs typeface="Meiryo"/>
              </a:rPr>
              <a:t>血管収縮</a:t>
            </a:r>
          </a:p>
        </p:txBody>
      </p:sp>
      <p:sp>
        <p:nvSpPr>
          <p:cNvPr id="21" name="Rounded Rectangle 20"/>
          <p:cNvSpPr/>
          <p:nvPr/>
        </p:nvSpPr>
        <p:spPr>
          <a:xfrm>
            <a:off x="4306824" y="1783080"/>
            <a:ext cx="3529584" cy="1234440"/>
          </a:xfrm>
          <a:prstGeom prst="roundRect">
            <a:avLst/>
          </a:prstGeom>
          <a:solidFill>
            <a:srgbClr val="4E8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4398264" y="1956816"/>
            <a:ext cx="3346704" cy="578598"/>
          </a:xfrm>
          <a:prstGeom prst="rect">
            <a:avLst/>
          </a:prstGeom>
          <a:noFill/>
        </p:spPr>
        <p:txBody>
          <a:bodyPr wrap="square" lIns="0" tIns="0" rIns="0" bIns="0" anchor="t">
            <a:spAutoFit/>
          </a:bodyPr>
          <a:lstStyle/>
          <a:p>
            <a:pPr algn="ctr"/>
            <a:r>
              <a:rPr sz="2700" b="1">
                <a:solidFill>
                  <a:srgbClr val="FFFFFF"/>
                </a:solidFill>
                <a:latin typeface="Meiryo"/>
                <a:ea typeface="Meiryo"/>
                <a:cs typeface="Meiryo"/>
              </a:rPr>
              <a:t>Class III</a:t>
            </a:r>
          </a:p>
        </p:txBody>
      </p:sp>
      <p:sp>
        <p:nvSpPr>
          <p:cNvPr id="23" name="TextBox 22"/>
          <p:cNvSpPr txBox="1"/>
          <p:nvPr/>
        </p:nvSpPr>
        <p:spPr>
          <a:xfrm>
            <a:off x="4398264" y="2450592"/>
            <a:ext cx="3346704" cy="541553"/>
          </a:xfrm>
          <a:prstGeom prst="rect">
            <a:avLst/>
          </a:prstGeom>
          <a:noFill/>
        </p:spPr>
        <p:txBody>
          <a:bodyPr wrap="square" lIns="0" tIns="0" rIns="0" bIns="0" anchor="t">
            <a:spAutoFit/>
          </a:bodyPr>
          <a:lstStyle/>
          <a:p>
            <a:pPr algn="ctr"/>
            <a:r>
              <a:rPr sz="2500" b="1">
                <a:solidFill>
                  <a:srgbClr val="FFFFFF"/>
                </a:solidFill>
                <a:latin typeface="Meiryo"/>
                <a:ea typeface="Meiryo"/>
                <a:cs typeface="Meiryo"/>
              </a:rPr>
              <a:t>正常</a:t>
            </a:r>
          </a:p>
        </p:txBody>
      </p:sp>
      <p:sp>
        <p:nvSpPr>
          <p:cNvPr id="24" name="Rounded Rectangle 23"/>
          <p:cNvSpPr/>
          <p:nvPr/>
        </p:nvSpPr>
        <p:spPr>
          <a:xfrm>
            <a:off x="8110728" y="1783080"/>
            <a:ext cx="3529584" cy="1234440"/>
          </a:xfrm>
          <a:prstGeom prst="roundRect">
            <a:avLst/>
          </a:prstGeom>
          <a:solidFill>
            <a:srgbClr val="D55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8202168" y="1956816"/>
            <a:ext cx="3346704" cy="578598"/>
          </a:xfrm>
          <a:prstGeom prst="rect">
            <a:avLst/>
          </a:prstGeom>
          <a:noFill/>
        </p:spPr>
        <p:txBody>
          <a:bodyPr wrap="square" lIns="0" tIns="0" rIns="0" bIns="0" anchor="t">
            <a:spAutoFit/>
          </a:bodyPr>
          <a:lstStyle/>
          <a:p>
            <a:pPr algn="ctr"/>
            <a:r>
              <a:rPr sz="2700" b="1">
                <a:solidFill>
                  <a:srgbClr val="FFFFFF"/>
                </a:solidFill>
                <a:latin typeface="Meiryo"/>
                <a:ea typeface="Meiryo"/>
                <a:cs typeface="Meiryo"/>
              </a:rPr>
              <a:t>Class IV〜VI</a:t>
            </a:r>
          </a:p>
        </p:txBody>
      </p:sp>
      <p:sp>
        <p:nvSpPr>
          <p:cNvPr id="26" name="TextBox 25"/>
          <p:cNvSpPr txBox="1"/>
          <p:nvPr/>
        </p:nvSpPr>
        <p:spPr>
          <a:xfrm>
            <a:off x="8202168" y="2450592"/>
            <a:ext cx="3346704" cy="541553"/>
          </a:xfrm>
          <a:prstGeom prst="rect">
            <a:avLst/>
          </a:prstGeom>
          <a:noFill/>
        </p:spPr>
        <p:txBody>
          <a:bodyPr wrap="square" lIns="0" tIns="0" rIns="0" bIns="0" anchor="t">
            <a:spAutoFit/>
          </a:bodyPr>
          <a:lstStyle/>
          <a:p>
            <a:pPr algn="ctr"/>
            <a:r>
              <a:rPr sz="2500" b="1">
                <a:solidFill>
                  <a:srgbClr val="FFFFFF"/>
                </a:solidFill>
                <a:latin typeface="Meiryo"/>
                <a:ea typeface="Meiryo"/>
                <a:cs typeface="Meiryo"/>
              </a:rPr>
              <a:t>血管拡張</a:t>
            </a:r>
          </a:p>
        </p:txBody>
      </p:sp>
      <p:sp>
        <p:nvSpPr>
          <p:cNvPr id="27" name="Rounded Rectangle 26"/>
          <p:cNvSpPr/>
          <p:nvPr/>
        </p:nvSpPr>
        <p:spPr>
          <a:xfrm>
            <a:off x="502920" y="3291840"/>
            <a:ext cx="11183112" cy="132588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685800" y="3493008"/>
            <a:ext cx="10789920" cy="541553"/>
          </a:xfrm>
          <a:prstGeom prst="rect">
            <a:avLst/>
          </a:prstGeom>
          <a:noFill/>
        </p:spPr>
        <p:txBody>
          <a:bodyPr wrap="square" lIns="0" tIns="0" rIns="0" bIns="0" anchor="t">
            <a:spAutoFit/>
          </a:bodyPr>
          <a:lstStyle/>
          <a:p>
            <a:pPr algn="ctr"/>
            <a:r>
              <a:rPr sz="2500" b="1">
                <a:solidFill>
                  <a:srgbClr val="262626"/>
                </a:solidFill>
                <a:latin typeface="Meiryo"/>
                <a:ea typeface="Meiryo"/>
                <a:cs typeface="Meiryo"/>
              </a:rPr>
              <a:t>収縮期血圧との相関</a:t>
            </a:r>
          </a:p>
        </p:txBody>
      </p:sp>
      <p:sp>
        <p:nvSpPr>
          <p:cNvPr id="29" name="TextBox 28"/>
          <p:cNvSpPr txBox="1"/>
          <p:nvPr/>
        </p:nvSpPr>
        <p:spPr>
          <a:xfrm>
            <a:off x="685800" y="3977640"/>
            <a:ext cx="10789920" cy="671212"/>
          </a:xfrm>
          <a:prstGeom prst="rect">
            <a:avLst/>
          </a:prstGeom>
          <a:noFill/>
        </p:spPr>
        <p:txBody>
          <a:bodyPr wrap="square" lIns="0" tIns="0" rIns="0" bIns="0" anchor="t">
            <a:spAutoFit/>
          </a:bodyPr>
          <a:lstStyle/>
          <a:p>
            <a:pPr algn="ctr"/>
            <a:r>
              <a:rPr sz="3200" b="1">
                <a:solidFill>
                  <a:srgbClr val="0072B2"/>
                </a:solidFill>
                <a:latin typeface="Meiryo"/>
                <a:ea typeface="Meiryo"/>
                <a:cs typeface="Meiryo"/>
              </a:rPr>
              <a:t>r ＝ −0.90　（P&lt;0.0001）</a:t>
            </a:r>
          </a:p>
        </p:txBody>
      </p:sp>
      <p:sp>
        <p:nvSpPr>
          <p:cNvPr id="30" name="Rounded Rectangle 29"/>
          <p:cNvSpPr/>
          <p:nvPr/>
        </p:nvSpPr>
        <p:spPr>
          <a:xfrm>
            <a:off x="502920" y="4846320"/>
            <a:ext cx="11183112" cy="123444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685800" y="5047488"/>
            <a:ext cx="10789920" cy="1067828"/>
          </a:xfrm>
          <a:prstGeom prst="rect">
            <a:avLst/>
          </a:prstGeom>
          <a:noFill/>
        </p:spPr>
        <p:txBody>
          <a:bodyPr wrap="square" lIns="0" tIns="0" rIns="0" bIns="0" anchor="t">
            <a:spAutoFit/>
          </a:bodyPr>
          <a:lstStyle/>
          <a:p>
            <a:pPr algn="ctr">
              <a:spcAft>
                <a:spcPts val="400"/>
              </a:spcAft>
            </a:pPr>
            <a:r>
              <a:rPr sz="2600" b="1">
                <a:solidFill>
                  <a:srgbClr val="262626"/>
                </a:solidFill>
                <a:latin typeface="Meiryo"/>
                <a:ea typeface="Meiryo"/>
                <a:cs typeface="Meiryo"/>
              </a:rPr>
              <a:t>低血圧の検出　感度 100%　・　特異度 97.9%</a:t>
            </a:r>
          </a:p>
          <a:p>
            <a:pPr algn="ctr">
              <a:spcAft>
                <a:spcPts val="400"/>
              </a:spcAft>
            </a:pPr>
            <a:r>
              <a:rPr sz="2600" b="1">
                <a:solidFill>
                  <a:srgbClr val="262626"/>
                </a:solidFill>
                <a:latin typeface="Meiryo"/>
                <a:ea typeface="Meiryo"/>
                <a:cs typeface="Meiryo"/>
              </a:rPr>
              <a:t>高血圧の検出　感度 94.9%　・　特異度 99.2%</a:t>
            </a:r>
          </a:p>
        </p:txBody>
      </p:sp>
      <p:sp>
        <p:nvSpPr>
          <p:cNvPr id="3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50/118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2.3.3  導入時の低血圧</a:t>
            </a:r>
          </a:p>
        </p:txBody>
      </p:sp>
      <p:sp>
        <p:nvSpPr>
          <p:cNvPr id="17" name="deflabel"/>
          <p:cNvSpPr txBox="1"/>
          <p:nvPr/>
        </p:nvSpPr>
        <p:spPr>
          <a:xfrm>
            <a:off x="566928" y="1664208"/>
            <a:ext cx="5760720" cy="420624"/>
          </a:xfrm>
          <a:prstGeom prst="rect">
            <a:avLst/>
          </a:prstGeom>
          <a:noFill/>
        </p:spPr>
        <p:txBody>
          <a:bodyPr wrap="square" lIns="0" tIns="0" rIns="0" bIns="0" anchor="ctr">
            <a:spAutoFit/>
          </a:bodyPr>
          <a:lstStyle/>
          <a:p>
            <a:pPr algn="l"/>
            <a:r>
              <a:rPr sz="2200" b="1">
                <a:solidFill>
                  <a:srgbClr val="262626"/>
                </a:solidFill>
                <a:latin typeface="Meiryo"/>
                <a:ea typeface="Meiryo"/>
                <a:cs typeface="Meiryo"/>
              </a:rPr>
              <a:t>Dicpleth ＝ 切痕の高さ ÷ 脈波振幅</a:t>
            </a:r>
          </a:p>
        </p:txBody>
      </p:sp>
      <p:sp>
        <p:nvSpPr>
          <p:cNvPr id="18" name="pbox0"/>
          <p:cNvSpPr/>
          <p:nvPr/>
        </p:nvSpPr>
        <p:spPr>
          <a:xfrm>
            <a:off x="548640" y="2139696"/>
            <a:ext cx="2743200" cy="1828800"/>
          </a:xfrm>
          <a:prstGeom prst="roundRect">
            <a:avLst>
              <a:gd name="adj" fmla="val 8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9" name="pb0"/>
          <p:cNvCxnSpPr/>
          <p:nvPr/>
        </p:nvCxnSpPr>
        <p:spPr>
          <a:xfrm>
            <a:off x="676656" y="3895344"/>
            <a:ext cx="2487168"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3" name="pw0"/>
          <p:cNvSpPr/>
          <p:nvPr/>
        </p:nvSpPr>
        <p:spPr>
          <a:xfrm>
            <a:off x="676656" y="2770032"/>
            <a:ext cx="2487168" cy="1125312"/>
          </a:xfrm>
          <a:custGeom>
            <a:avLst/>
            <a:gdLst/>
            <a:ahLst/>
            <a:cxnLst/>
            <a:rect l="l" t="t" r="r" b="b"/>
            <a:pathLst>
              <a:path w="2487168" h="1125312">
                <a:moveTo>
                  <a:pt x="0" y="1124624"/>
                </a:moveTo>
                <a:lnTo>
                  <a:pt x="13895" y="1124278"/>
                </a:lnTo>
                <a:lnTo>
                  <a:pt x="27790" y="1123775"/>
                </a:lnTo>
                <a:lnTo>
                  <a:pt x="41684" y="1123055"/>
                </a:lnTo>
                <a:lnTo>
                  <a:pt x="55579" y="1122035"/>
                </a:lnTo>
                <a:lnTo>
                  <a:pt x="69474" y="1120609"/>
                </a:lnTo>
                <a:lnTo>
                  <a:pt x="83369" y="1118641"/>
                </a:lnTo>
                <a:lnTo>
                  <a:pt x="97264" y="1115956"/>
                </a:lnTo>
                <a:lnTo>
                  <a:pt x="111158" y="1112342"/>
                </a:lnTo>
                <a:lnTo>
                  <a:pt x="125053" y="1107538"/>
                </a:lnTo>
                <a:lnTo>
                  <a:pt x="138948" y="1101234"/>
                </a:lnTo>
                <a:lnTo>
                  <a:pt x="152843" y="1093068"/>
                </a:lnTo>
                <a:lnTo>
                  <a:pt x="166738" y="1082628"/>
                </a:lnTo>
                <a:lnTo>
                  <a:pt x="180632" y="1069457"/>
                </a:lnTo>
                <a:lnTo>
                  <a:pt x="194527" y="1053061"/>
                </a:lnTo>
                <a:lnTo>
                  <a:pt x="208422" y="1032923"/>
                </a:lnTo>
                <a:lnTo>
                  <a:pt x="222317" y="1008527"/>
                </a:lnTo>
                <a:lnTo>
                  <a:pt x="236211" y="979384"/>
                </a:lnTo>
                <a:lnTo>
                  <a:pt x="250106" y="945061"/>
                </a:lnTo>
                <a:lnTo>
                  <a:pt x="264001" y="905218"/>
                </a:lnTo>
                <a:lnTo>
                  <a:pt x="277896" y="859651"/>
                </a:lnTo>
                <a:lnTo>
                  <a:pt x="291791" y="808329"/>
                </a:lnTo>
                <a:lnTo>
                  <a:pt x="305685" y="751430"/>
                </a:lnTo>
                <a:lnTo>
                  <a:pt x="319580" y="689376"/>
                </a:lnTo>
                <a:lnTo>
                  <a:pt x="333475" y="622850"/>
                </a:lnTo>
                <a:lnTo>
                  <a:pt x="347370" y="552813"/>
                </a:lnTo>
                <a:lnTo>
                  <a:pt x="361265" y="480490"/>
                </a:lnTo>
                <a:lnTo>
                  <a:pt x="375159" y="407355"/>
                </a:lnTo>
                <a:lnTo>
                  <a:pt x="389054" y="335082"/>
                </a:lnTo>
                <a:lnTo>
                  <a:pt x="402949" y="265494"/>
                </a:lnTo>
                <a:lnTo>
                  <a:pt x="416844" y="200486"/>
                </a:lnTo>
                <a:lnTo>
                  <a:pt x="430739" y="141940"/>
                </a:lnTo>
                <a:lnTo>
                  <a:pt x="444633" y="91638"/>
                </a:lnTo>
                <a:lnTo>
                  <a:pt x="458528" y="51165"/>
                </a:lnTo>
                <a:lnTo>
                  <a:pt x="472423" y="21831"/>
                </a:lnTo>
                <a:lnTo>
                  <a:pt x="486318" y="4592"/>
                </a:lnTo>
                <a:lnTo>
                  <a:pt x="500213" y="0"/>
                </a:lnTo>
                <a:lnTo>
                  <a:pt x="514107" y="8168"/>
                </a:lnTo>
                <a:lnTo>
                  <a:pt x="528002" y="28764"/>
                </a:lnTo>
                <a:lnTo>
                  <a:pt x="541897" y="61027"/>
                </a:lnTo>
                <a:lnTo>
                  <a:pt x="555792" y="103809"/>
                </a:lnTo>
                <a:lnTo>
                  <a:pt x="569687" y="155638"/>
                </a:lnTo>
                <a:lnTo>
                  <a:pt x="583581" y="214796"/>
                </a:lnTo>
                <a:lnTo>
                  <a:pt x="597476" y="279404"/>
                </a:lnTo>
                <a:lnTo>
                  <a:pt x="611371" y="347519"/>
                </a:lnTo>
                <a:lnTo>
                  <a:pt x="625266" y="417220"/>
                </a:lnTo>
                <a:lnTo>
                  <a:pt x="639160" y="486687"/>
                </a:lnTo>
                <a:lnTo>
                  <a:pt x="653055" y="554272"/>
                </a:lnTo>
                <a:lnTo>
                  <a:pt x="666950" y="618552"/>
                </a:lnTo>
                <a:lnTo>
                  <a:pt x="680845" y="678358"/>
                </a:lnTo>
                <a:lnTo>
                  <a:pt x="694740" y="732797"/>
                </a:lnTo>
                <a:lnTo>
                  <a:pt x="708634" y="781249"/>
                </a:lnTo>
                <a:lnTo>
                  <a:pt x="722529" y="823356"/>
                </a:lnTo>
                <a:lnTo>
                  <a:pt x="736424" y="858991"/>
                </a:lnTo>
                <a:lnTo>
                  <a:pt x="750319" y="888232"/>
                </a:lnTo>
                <a:lnTo>
                  <a:pt x="764214" y="911320"/>
                </a:lnTo>
                <a:lnTo>
                  <a:pt x="778108" y="928621"/>
                </a:lnTo>
                <a:lnTo>
                  <a:pt x="792003" y="940590"/>
                </a:lnTo>
                <a:lnTo>
                  <a:pt x="805898" y="947736"/>
                </a:lnTo>
                <a:lnTo>
                  <a:pt x="819793" y="950594"/>
                </a:lnTo>
                <a:lnTo>
                  <a:pt x="833688" y="949702"/>
                </a:lnTo>
                <a:lnTo>
                  <a:pt x="847582" y="945582"/>
                </a:lnTo>
                <a:lnTo>
                  <a:pt x="861477" y="938730"/>
                </a:lnTo>
                <a:lnTo>
                  <a:pt x="875372" y="929607"/>
                </a:lnTo>
                <a:lnTo>
                  <a:pt x="889267" y="918637"/>
                </a:lnTo>
                <a:lnTo>
                  <a:pt x="903162" y="906206"/>
                </a:lnTo>
                <a:lnTo>
                  <a:pt x="917056" y="892665"/>
                </a:lnTo>
                <a:lnTo>
                  <a:pt x="930951" y="878333"/>
                </a:lnTo>
                <a:lnTo>
                  <a:pt x="944846" y="863500"/>
                </a:lnTo>
                <a:lnTo>
                  <a:pt x="958741" y="848433"/>
                </a:lnTo>
                <a:lnTo>
                  <a:pt x="972636" y="833377"/>
                </a:lnTo>
                <a:lnTo>
                  <a:pt x="986530" y="818560"/>
                </a:lnTo>
                <a:lnTo>
                  <a:pt x="1000425" y="804193"/>
                </a:lnTo>
                <a:lnTo>
                  <a:pt x="1014320" y="790476"/>
                </a:lnTo>
                <a:lnTo>
                  <a:pt x="1028215" y="777592"/>
                </a:lnTo>
                <a:lnTo>
                  <a:pt x="1042109" y="765712"/>
                </a:lnTo>
                <a:lnTo>
                  <a:pt x="1056004" y="754991"/>
                </a:lnTo>
                <a:lnTo>
                  <a:pt x="1069899" y="745570"/>
                </a:lnTo>
                <a:lnTo>
                  <a:pt x="1083794" y="737572"/>
                </a:lnTo>
                <a:lnTo>
                  <a:pt x="1097689" y="731102"/>
                </a:lnTo>
                <a:lnTo>
                  <a:pt x="1111583" y="726246"/>
                </a:lnTo>
                <a:lnTo>
                  <a:pt x="1125478" y="723067"/>
                </a:lnTo>
                <a:lnTo>
                  <a:pt x="1139373" y="721609"/>
                </a:lnTo>
                <a:lnTo>
                  <a:pt x="1153268" y="721890"/>
                </a:lnTo>
                <a:lnTo>
                  <a:pt x="1167163" y="723907"/>
                </a:lnTo>
                <a:lnTo>
                  <a:pt x="1181057" y="727636"/>
                </a:lnTo>
                <a:lnTo>
                  <a:pt x="1194952" y="733028"/>
                </a:lnTo>
                <a:lnTo>
                  <a:pt x="1208847" y="740015"/>
                </a:lnTo>
                <a:lnTo>
                  <a:pt x="1222742" y="748508"/>
                </a:lnTo>
                <a:lnTo>
                  <a:pt x="1236637" y="758402"/>
                </a:lnTo>
                <a:lnTo>
                  <a:pt x="1250531" y="769577"/>
                </a:lnTo>
                <a:lnTo>
                  <a:pt x="1264426" y="781898"/>
                </a:lnTo>
                <a:lnTo>
                  <a:pt x="1278321" y="795221"/>
                </a:lnTo>
                <a:lnTo>
                  <a:pt x="1292216" y="809395"/>
                </a:lnTo>
                <a:lnTo>
                  <a:pt x="1306111" y="824263"/>
                </a:lnTo>
                <a:lnTo>
                  <a:pt x="1320005" y="839669"/>
                </a:lnTo>
                <a:lnTo>
                  <a:pt x="1333900" y="855454"/>
                </a:lnTo>
                <a:lnTo>
                  <a:pt x="1347795" y="871466"/>
                </a:lnTo>
                <a:lnTo>
                  <a:pt x="1361690" y="887557"/>
                </a:lnTo>
                <a:lnTo>
                  <a:pt x="1375585" y="903588"/>
                </a:lnTo>
                <a:lnTo>
                  <a:pt x="1389479" y="919429"/>
                </a:lnTo>
                <a:lnTo>
                  <a:pt x="1403374" y="934962"/>
                </a:lnTo>
                <a:lnTo>
                  <a:pt x="1417269" y="950082"/>
                </a:lnTo>
                <a:lnTo>
                  <a:pt x="1431164" y="964697"/>
                </a:lnTo>
                <a:lnTo>
                  <a:pt x="1445059" y="978727"/>
                </a:lnTo>
                <a:lnTo>
                  <a:pt x="1458953" y="992108"/>
                </a:lnTo>
                <a:lnTo>
                  <a:pt x="1472848" y="1004790"/>
                </a:lnTo>
                <a:lnTo>
                  <a:pt x="1486743" y="1016734"/>
                </a:lnTo>
                <a:lnTo>
                  <a:pt x="1500638" y="1027916"/>
                </a:lnTo>
                <a:lnTo>
                  <a:pt x="1514532" y="1038323"/>
                </a:lnTo>
                <a:lnTo>
                  <a:pt x="1528427" y="1047953"/>
                </a:lnTo>
                <a:lnTo>
                  <a:pt x="1542322" y="1056813"/>
                </a:lnTo>
                <a:lnTo>
                  <a:pt x="1556217" y="1064920"/>
                </a:lnTo>
                <a:lnTo>
                  <a:pt x="1570112" y="1072297"/>
                </a:lnTo>
                <a:lnTo>
                  <a:pt x="1584006" y="1078974"/>
                </a:lnTo>
                <a:lnTo>
                  <a:pt x="1597901" y="1084984"/>
                </a:lnTo>
                <a:lnTo>
                  <a:pt x="1611796" y="1090366"/>
                </a:lnTo>
                <a:lnTo>
                  <a:pt x="1625691" y="1095160"/>
                </a:lnTo>
                <a:lnTo>
                  <a:pt x="1639586" y="1099409"/>
                </a:lnTo>
                <a:lnTo>
                  <a:pt x="1653480" y="1103155"/>
                </a:lnTo>
                <a:lnTo>
                  <a:pt x="1667375" y="1106441"/>
                </a:lnTo>
                <a:lnTo>
                  <a:pt x="1681270" y="1109309"/>
                </a:lnTo>
                <a:lnTo>
                  <a:pt x="1695165" y="1111799"/>
                </a:lnTo>
                <a:lnTo>
                  <a:pt x="1709060" y="1113951"/>
                </a:lnTo>
                <a:lnTo>
                  <a:pt x="1722954" y="1115802"/>
                </a:lnTo>
                <a:lnTo>
                  <a:pt x="1736849" y="1117385"/>
                </a:lnTo>
                <a:lnTo>
                  <a:pt x="1750744" y="1118734"/>
                </a:lnTo>
                <a:lnTo>
                  <a:pt x="1764639" y="1119876"/>
                </a:lnTo>
                <a:lnTo>
                  <a:pt x="1778534" y="1120839"/>
                </a:lnTo>
                <a:lnTo>
                  <a:pt x="1792428" y="1121648"/>
                </a:lnTo>
                <a:lnTo>
                  <a:pt x="1806323" y="1122323"/>
                </a:lnTo>
                <a:lnTo>
                  <a:pt x="1820218" y="1122885"/>
                </a:lnTo>
                <a:lnTo>
                  <a:pt x="1834113" y="1123349"/>
                </a:lnTo>
                <a:lnTo>
                  <a:pt x="1848008" y="1123731"/>
                </a:lnTo>
                <a:lnTo>
                  <a:pt x="1861902" y="1124045"/>
                </a:lnTo>
                <a:lnTo>
                  <a:pt x="1875797" y="1124300"/>
                </a:lnTo>
                <a:lnTo>
                  <a:pt x="1889692" y="1124508"/>
                </a:lnTo>
                <a:lnTo>
                  <a:pt x="1903587" y="1124676"/>
                </a:lnTo>
                <a:lnTo>
                  <a:pt x="1917481" y="1124811"/>
                </a:lnTo>
                <a:lnTo>
                  <a:pt x="1931376" y="1124919"/>
                </a:lnTo>
                <a:lnTo>
                  <a:pt x="1945271" y="1125005"/>
                </a:lnTo>
                <a:lnTo>
                  <a:pt x="1959166" y="1125073"/>
                </a:lnTo>
                <a:lnTo>
                  <a:pt x="1973061" y="1125127"/>
                </a:lnTo>
                <a:lnTo>
                  <a:pt x="1986955" y="1125169"/>
                </a:lnTo>
                <a:lnTo>
                  <a:pt x="2000850" y="1125202"/>
                </a:lnTo>
                <a:lnTo>
                  <a:pt x="2014745" y="1125228"/>
                </a:lnTo>
                <a:lnTo>
                  <a:pt x="2028640" y="1125248"/>
                </a:lnTo>
                <a:lnTo>
                  <a:pt x="2042535" y="1125264"/>
                </a:lnTo>
                <a:lnTo>
                  <a:pt x="2056429" y="1125276"/>
                </a:lnTo>
                <a:lnTo>
                  <a:pt x="2070324" y="1125285"/>
                </a:lnTo>
                <a:lnTo>
                  <a:pt x="2084219" y="1125291"/>
                </a:lnTo>
                <a:lnTo>
                  <a:pt x="2098114" y="1125297"/>
                </a:lnTo>
                <a:lnTo>
                  <a:pt x="2112009" y="1125301"/>
                </a:lnTo>
                <a:lnTo>
                  <a:pt x="2125903" y="1125304"/>
                </a:lnTo>
                <a:lnTo>
                  <a:pt x="2139798" y="1125306"/>
                </a:lnTo>
                <a:lnTo>
                  <a:pt x="2153693" y="1125307"/>
                </a:lnTo>
                <a:lnTo>
                  <a:pt x="2167588" y="1125309"/>
                </a:lnTo>
                <a:lnTo>
                  <a:pt x="2181483" y="1125310"/>
                </a:lnTo>
                <a:lnTo>
                  <a:pt x="2195377" y="1125310"/>
                </a:lnTo>
                <a:lnTo>
                  <a:pt x="2209272" y="1125311"/>
                </a:lnTo>
                <a:lnTo>
                  <a:pt x="2223167" y="1125311"/>
                </a:lnTo>
                <a:lnTo>
                  <a:pt x="2237062" y="1125311"/>
                </a:lnTo>
                <a:lnTo>
                  <a:pt x="2250957" y="1125312"/>
                </a:lnTo>
                <a:lnTo>
                  <a:pt x="2264851" y="1125312"/>
                </a:lnTo>
                <a:lnTo>
                  <a:pt x="2278746" y="1125312"/>
                </a:lnTo>
                <a:lnTo>
                  <a:pt x="2292641" y="1125312"/>
                </a:lnTo>
                <a:lnTo>
                  <a:pt x="2306536" y="1125312"/>
                </a:lnTo>
                <a:lnTo>
                  <a:pt x="2320430" y="1125312"/>
                </a:lnTo>
                <a:lnTo>
                  <a:pt x="2334325" y="1125312"/>
                </a:lnTo>
                <a:lnTo>
                  <a:pt x="2348220" y="1125312"/>
                </a:lnTo>
                <a:lnTo>
                  <a:pt x="2362115" y="1125312"/>
                </a:lnTo>
                <a:lnTo>
                  <a:pt x="2376010" y="1125312"/>
                </a:lnTo>
                <a:lnTo>
                  <a:pt x="2389904" y="1125312"/>
                </a:lnTo>
                <a:lnTo>
                  <a:pt x="2403799" y="1125312"/>
                </a:lnTo>
                <a:lnTo>
                  <a:pt x="2417694" y="1125312"/>
                </a:lnTo>
                <a:lnTo>
                  <a:pt x="2431589" y="1125312"/>
                </a:lnTo>
                <a:lnTo>
                  <a:pt x="2445484" y="1125312"/>
                </a:lnTo>
                <a:lnTo>
                  <a:pt x="2459378" y="1125312"/>
                </a:lnTo>
                <a:lnTo>
                  <a:pt x="2473273" y="1125312"/>
                </a:lnTo>
                <a:lnTo>
                  <a:pt x="2487168" y="1125312"/>
                </a:lnTo>
              </a:path>
            </a:pathLst>
          </a:custGeom>
          <a:noFill/>
          <a:ln w="31750">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0" name="pn0"/>
          <p:cNvCxnSpPr/>
          <p:nvPr/>
        </p:nvCxnSpPr>
        <p:spPr>
          <a:xfrm>
            <a:off x="676656" y="3720734"/>
            <a:ext cx="823253" cy="0"/>
          </a:xfrm>
          <a:prstGeom prst="line">
            <a:avLst/>
          </a:prstGeom>
          <a:ln w="12700">
            <a:solidFill>
              <a:srgbClr val="808080"/>
            </a:solidFill>
            <a:prstDash val="dash"/>
          </a:ln>
          <a:effectLst/>
        </p:spPr>
        <p:style>
          <a:lnRef idx="2">
            <a:schemeClr val="accent1"/>
          </a:lnRef>
          <a:fillRef idx="0">
            <a:schemeClr val="accent1"/>
          </a:fillRef>
          <a:effectRef idx="1">
            <a:schemeClr val="accent1"/>
          </a:effectRef>
          <a:fontRef idx="minor">
            <a:schemeClr val="tx1"/>
          </a:fontRef>
        </p:style>
      </p:cxnSp>
      <p:sp>
        <p:nvSpPr>
          <p:cNvPr id="21" name="pd0"/>
          <p:cNvSpPr/>
          <p:nvPr/>
        </p:nvSpPr>
        <p:spPr>
          <a:xfrm>
            <a:off x="1440473" y="3661298"/>
            <a:ext cx="118872" cy="118872"/>
          </a:xfrm>
          <a:prstGeom prst="ellipse">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plab0"/>
          <p:cNvSpPr txBox="1"/>
          <p:nvPr/>
        </p:nvSpPr>
        <p:spPr>
          <a:xfrm>
            <a:off x="548640" y="3986784"/>
            <a:ext cx="2743200" cy="402336"/>
          </a:xfrm>
          <a:prstGeom prst="rect">
            <a:avLst/>
          </a:prstGeom>
          <a:noFill/>
        </p:spPr>
        <p:txBody>
          <a:bodyPr wrap="square" lIns="0" tIns="0" rIns="0" bIns="0" anchor="ctr">
            <a:spAutoFit/>
          </a:bodyPr>
          <a:lstStyle/>
          <a:p>
            <a:pPr algn="ctr"/>
            <a:r>
              <a:rPr sz="2200" b="1">
                <a:solidFill>
                  <a:srgbClr val="808080"/>
                </a:solidFill>
                <a:latin typeface="Meiryo"/>
                <a:ea typeface="Meiryo"/>
                <a:cs typeface="Meiryo"/>
              </a:rPr>
              <a:t>導入前</a:t>
            </a:r>
          </a:p>
        </p:txBody>
      </p:sp>
      <p:sp>
        <p:nvSpPr>
          <p:cNvPr id="23" name="pnote0"/>
          <p:cNvSpPr txBox="1"/>
          <p:nvPr/>
        </p:nvSpPr>
        <p:spPr>
          <a:xfrm>
            <a:off x="548640" y="4425696"/>
            <a:ext cx="2743200" cy="402336"/>
          </a:xfrm>
          <a:prstGeom prst="rect">
            <a:avLst/>
          </a:prstGeom>
          <a:noFill/>
        </p:spPr>
        <p:txBody>
          <a:bodyPr wrap="square" lIns="0" tIns="0" rIns="0" bIns="0" anchor="ctr">
            <a:spAutoFit/>
          </a:bodyPr>
          <a:lstStyle/>
          <a:p>
            <a:pPr algn="ctr"/>
            <a:r>
              <a:rPr sz="2200" b="1">
                <a:solidFill>
                  <a:srgbClr val="262626"/>
                </a:solidFill>
                <a:latin typeface="Meiryo"/>
                <a:ea typeface="Meiryo"/>
                <a:cs typeface="Meiryo"/>
              </a:rPr>
              <a:t>切痕 高い</a:t>
            </a:r>
          </a:p>
        </p:txBody>
      </p:sp>
      <p:sp>
        <p:nvSpPr>
          <p:cNvPr id="24" name="pbox1"/>
          <p:cNvSpPr/>
          <p:nvPr/>
        </p:nvSpPr>
        <p:spPr>
          <a:xfrm>
            <a:off x="3520440" y="2139696"/>
            <a:ext cx="2743200" cy="1828800"/>
          </a:xfrm>
          <a:prstGeom prst="roundRect">
            <a:avLst>
              <a:gd name="adj" fmla="val 8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5" name="pb1"/>
          <p:cNvCxnSpPr/>
          <p:nvPr/>
        </p:nvCxnSpPr>
        <p:spPr>
          <a:xfrm>
            <a:off x="3648456" y="3895344"/>
            <a:ext cx="2487168"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4" name="pw1"/>
          <p:cNvSpPr/>
          <p:nvPr/>
        </p:nvSpPr>
        <p:spPr>
          <a:xfrm>
            <a:off x="3648456" y="2414589"/>
            <a:ext cx="2487168" cy="1480755"/>
          </a:xfrm>
          <a:custGeom>
            <a:avLst/>
            <a:gdLst/>
            <a:ahLst/>
            <a:cxnLst/>
            <a:rect l="l" t="t" r="r" b="b"/>
            <a:pathLst>
              <a:path w="2487168" h="1480755">
                <a:moveTo>
                  <a:pt x="0" y="1479671"/>
                </a:moveTo>
                <a:lnTo>
                  <a:pt x="13895" y="1479109"/>
                </a:lnTo>
                <a:lnTo>
                  <a:pt x="27790" y="1478285"/>
                </a:lnTo>
                <a:lnTo>
                  <a:pt x="41684" y="1477094"/>
                </a:lnTo>
                <a:lnTo>
                  <a:pt x="55579" y="1475397"/>
                </a:lnTo>
                <a:lnTo>
                  <a:pt x="69474" y="1473010"/>
                </a:lnTo>
                <a:lnTo>
                  <a:pt x="83369" y="1469699"/>
                </a:lnTo>
                <a:lnTo>
                  <a:pt x="97264" y="1465168"/>
                </a:lnTo>
                <a:lnTo>
                  <a:pt x="111158" y="1459054"/>
                </a:lnTo>
                <a:lnTo>
                  <a:pt x="125053" y="1450916"/>
                </a:lnTo>
                <a:lnTo>
                  <a:pt x="138948" y="1440234"/>
                </a:lnTo>
                <a:lnTo>
                  <a:pt x="152843" y="1426412"/>
                </a:lnTo>
                <a:lnTo>
                  <a:pt x="166738" y="1408779"/>
                </a:lnTo>
                <a:lnTo>
                  <a:pt x="180632" y="1386608"/>
                </a:lnTo>
                <a:lnTo>
                  <a:pt x="194527" y="1359135"/>
                </a:lnTo>
                <a:lnTo>
                  <a:pt x="208422" y="1325593"/>
                </a:lnTo>
                <a:lnTo>
                  <a:pt x="222317" y="1285258"/>
                </a:lnTo>
                <a:lnTo>
                  <a:pt x="236211" y="1237492"/>
                </a:lnTo>
                <a:lnTo>
                  <a:pt x="250106" y="1181812"/>
                </a:lnTo>
                <a:lnTo>
                  <a:pt x="264001" y="1117944"/>
                </a:lnTo>
                <a:lnTo>
                  <a:pt x="277896" y="1045895"/>
                </a:lnTo>
                <a:lnTo>
                  <a:pt x="291791" y="966003"/>
                </a:lnTo>
                <a:lnTo>
                  <a:pt x="305685" y="878994"/>
                </a:lnTo>
                <a:lnTo>
                  <a:pt x="319580" y="786004"/>
                </a:lnTo>
                <a:lnTo>
                  <a:pt x="333475" y="688596"/>
                </a:lnTo>
                <a:lnTo>
                  <a:pt x="347370" y="588737"/>
                </a:lnTo>
                <a:lnTo>
                  <a:pt x="361265" y="488750"/>
                </a:lnTo>
                <a:lnTo>
                  <a:pt x="375159" y="391241"/>
                </a:lnTo>
                <a:lnTo>
                  <a:pt x="389054" y="298992"/>
                </a:lnTo>
                <a:lnTo>
                  <a:pt x="402949" y="214833"/>
                </a:lnTo>
                <a:lnTo>
                  <a:pt x="416844" y="141502"/>
                </a:lnTo>
                <a:lnTo>
                  <a:pt x="430739" y="81498"/>
                </a:lnTo>
                <a:lnTo>
                  <a:pt x="444633" y="36938"/>
                </a:lnTo>
                <a:lnTo>
                  <a:pt x="458528" y="9435"/>
                </a:lnTo>
                <a:lnTo>
                  <a:pt x="472423" y="0"/>
                </a:lnTo>
                <a:lnTo>
                  <a:pt x="486318" y="8980"/>
                </a:lnTo>
                <a:lnTo>
                  <a:pt x="500213" y="36037"/>
                </a:lnTo>
                <a:lnTo>
                  <a:pt x="514107" y="80167"/>
                </a:lnTo>
                <a:lnTo>
                  <a:pt x="528002" y="139763"/>
                </a:lnTo>
                <a:lnTo>
                  <a:pt x="541897" y="212709"/>
                </a:lnTo>
                <a:lnTo>
                  <a:pt x="555792" y="296507"/>
                </a:lnTo>
                <a:lnTo>
                  <a:pt x="569687" y="388414"/>
                </a:lnTo>
                <a:lnTo>
                  <a:pt x="583581" y="485592"/>
                </a:lnTo>
                <a:lnTo>
                  <a:pt x="597476" y="585245"/>
                </a:lnTo>
                <a:lnTo>
                  <a:pt x="611371" y="684751"/>
                </a:lnTo>
                <a:lnTo>
                  <a:pt x="625266" y="781767"/>
                </a:lnTo>
                <a:lnTo>
                  <a:pt x="639160" y="874301"/>
                </a:lnTo>
                <a:lnTo>
                  <a:pt x="653055" y="960767"/>
                </a:lnTo>
                <a:lnTo>
                  <a:pt x="666950" y="1039998"/>
                </a:lnTo>
                <a:lnTo>
                  <a:pt x="680845" y="1111240"/>
                </a:lnTo>
                <a:lnTo>
                  <a:pt x="694740" y="1174120"/>
                </a:lnTo>
                <a:lnTo>
                  <a:pt x="708634" y="1228602"/>
                </a:lnTo>
                <a:lnTo>
                  <a:pt x="722529" y="1274922"/>
                </a:lnTo>
                <a:lnTo>
                  <a:pt x="736424" y="1313530"/>
                </a:lnTo>
                <a:lnTo>
                  <a:pt x="750319" y="1345027"/>
                </a:lnTo>
                <a:lnTo>
                  <a:pt x="764214" y="1370101"/>
                </a:lnTo>
                <a:lnTo>
                  <a:pt x="778108" y="1389484"/>
                </a:lnTo>
                <a:lnTo>
                  <a:pt x="792003" y="1403900"/>
                </a:lnTo>
                <a:lnTo>
                  <a:pt x="805898" y="1414042"/>
                </a:lnTo>
                <a:lnTo>
                  <a:pt x="819793" y="1420546"/>
                </a:lnTo>
                <a:lnTo>
                  <a:pt x="833688" y="1423974"/>
                </a:lnTo>
                <a:lnTo>
                  <a:pt x="847582" y="1424817"/>
                </a:lnTo>
                <a:lnTo>
                  <a:pt x="861477" y="1423488"/>
                </a:lnTo>
                <a:lnTo>
                  <a:pt x="875372" y="1420328"/>
                </a:lnTo>
                <a:lnTo>
                  <a:pt x="889267" y="1415616"/>
                </a:lnTo>
                <a:lnTo>
                  <a:pt x="903162" y="1409580"/>
                </a:lnTo>
                <a:lnTo>
                  <a:pt x="917056" y="1402400"/>
                </a:lnTo>
                <a:lnTo>
                  <a:pt x="930951" y="1394226"/>
                </a:lnTo>
                <a:lnTo>
                  <a:pt x="944846" y="1385181"/>
                </a:lnTo>
                <a:lnTo>
                  <a:pt x="958741" y="1375375"/>
                </a:lnTo>
                <a:lnTo>
                  <a:pt x="972636" y="1364906"/>
                </a:lnTo>
                <a:lnTo>
                  <a:pt x="986530" y="1353871"/>
                </a:lnTo>
                <a:lnTo>
                  <a:pt x="1000425" y="1342364"/>
                </a:lnTo>
                <a:lnTo>
                  <a:pt x="1014320" y="1330487"/>
                </a:lnTo>
                <a:lnTo>
                  <a:pt x="1028215" y="1318346"/>
                </a:lnTo>
                <a:lnTo>
                  <a:pt x="1042109" y="1306053"/>
                </a:lnTo>
                <a:lnTo>
                  <a:pt x="1056004" y="1293729"/>
                </a:lnTo>
                <a:lnTo>
                  <a:pt x="1069899" y="1281500"/>
                </a:lnTo>
                <a:lnTo>
                  <a:pt x="1083794" y="1269499"/>
                </a:lnTo>
                <a:lnTo>
                  <a:pt x="1097689" y="1257861"/>
                </a:lnTo>
                <a:lnTo>
                  <a:pt x="1111583" y="1246724"/>
                </a:lnTo>
                <a:lnTo>
                  <a:pt x="1125478" y="1236226"/>
                </a:lnTo>
                <a:lnTo>
                  <a:pt x="1139373" y="1226498"/>
                </a:lnTo>
                <a:lnTo>
                  <a:pt x="1153268" y="1217669"/>
                </a:lnTo>
                <a:lnTo>
                  <a:pt x="1167163" y="1209858"/>
                </a:lnTo>
                <a:lnTo>
                  <a:pt x="1181057" y="1203172"/>
                </a:lnTo>
                <a:lnTo>
                  <a:pt x="1194952" y="1197704"/>
                </a:lnTo>
                <a:lnTo>
                  <a:pt x="1208847" y="1193533"/>
                </a:lnTo>
                <a:lnTo>
                  <a:pt x="1222742" y="1190718"/>
                </a:lnTo>
                <a:lnTo>
                  <a:pt x="1236637" y="1189300"/>
                </a:lnTo>
                <a:lnTo>
                  <a:pt x="1250531" y="1189300"/>
                </a:lnTo>
                <a:lnTo>
                  <a:pt x="1264426" y="1190718"/>
                </a:lnTo>
                <a:lnTo>
                  <a:pt x="1278321" y="1193533"/>
                </a:lnTo>
                <a:lnTo>
                  <a:pt x="1292216" y="1197704"/>
                </a:lnTo>
                <a:lnTo>
                  <a:pt x="1306111" y="1203172"/>
                </a:lnTo>
                <a:lnTo>
                  <a:pt x="1320005" y="1209858"/>
                </a:lnTo>
                <a:lnTo>
                  <a:pt x="1333900" y="1217670"/>
                </a:lnTo>
                <a:lnTo>
                  <a:pt x="1347795" y="1226499"/>
                </a:lnTo>
                <a:lnTo>
                  <a:pt x="1361690" y="1236227"/>
                </a:lnTo>
                <a:lnTo>
                  <a:pt x="1375585" y="1246727"/>
                </a:lnTo>
                <a:lnTo>
                  <a:pt x="1389479" y="1257866"/>
                </a:lnTo>
                <a:lnTo>
                  <a:pt x="1403374" y="1269507"/>
                </a:lnTo>
                <a:lnTo>
                  <a:pt x="1417269" y="1281514"/>
                </a:lnTo>
                <a:lnTo>
                  <a:pt x="1431164" y="1293753"/>
                </a:lnTo>
                <a:lnTo>
                  <a:pt x="1445059" y="1306094"/>
                </a:lnTo>
                <a:lnTo>
                  <a:pt x="1458953" y="1318414"/>
                </a:lnTo>
                <a:lnTo>
                  <a:pt x="1472848" y="1330599"/>
                </a:lnTo>
                <a:lnTo>
                  <a:pt x="1486743" y="1342545"/>
                </a:lnTo>
                <a:lnTo>
                  <a:pt x="1500638" y="1354160"/>
                </a:lnTo>
                <a:lnTo>
                  <a:pt x="1514532" y="1365363"/>
                </a:lnTo>
                <a:lnTo>
                  <a:pt x="1528427" y="1376086"/>
                </a:lnTo>
                <a:lnTo>
                  <a:pt x="1542322" y="1386274"/>
                </a:lnTo>
                <a:lnTo>
                  <a:pt x="1556217" y="1395886"/>
                </a:lnTo>
                <a:lnTo>
                  <a:pt x="1570112" y="1404890"/>
                </a:lnTo>
                <a:lnTo>
                  <a:pt x="1584006" y="1413269"/>
                </a:lnTo>
                <a:lnTo>
                  <a:pt x="1597901" y="1421015"/>
                </a:lnTo>
                <a:lnTo>
                  <a:pt x="1611796" y="1428129"/>
                </a:lnTo>
                <a:lnTo>
                  <a:pt x="1625691" y="1434621"/>
                </a:lnTo>
                <a:lnTo>
                  <a:pt x="1639586" y="1440509"/>
                </a:lnTo>
                <a:lnTo>
                  <a:pt x="1653480" y="1445817"/>
                </a:lnTo>
                <a:lnTo>
                  <a:pt x="1667375" y="1450572"/>
                </a:lnTo>
                <a:lnTo>
                  <a:pt x="1681270" y="1454807"/>
                </a:lnTo>
                <a:lnTo>
                  <a:pt x="1695165" y="1458556"/>
                </a:lnTo>
                <a:lnTo>
                  <a:pt x="1709060" y="1461856"/>
                </a:lnTo>
                <a:lnTo>
                  <a:pt x="1722954" y="1464743"/>
                </a:lnTo>
                <a:lnTo>
                  <a:pt x="1736849" y="1467256"/>
                </a:lnTo>
                <a:lnTo>
                  <a:pt x="1750744" y="1469429"/>
                </a:lnTo>
                <a:lnTo>
                  <a:pt x="1764639" y="1471299"/>
                </a:lnTo>
                <a:lnTo>
                  <a:pt x="1778534" y="1472898"/>
                </a:lnTo>
                <a:lnTo>
                  <a:pt x="1792428" y="1474259"/>
                </a:lnTo>
                <a:lnTo>
                  <a:pt x="1806323" y="1475410"/>
                </a:lnTo>
                <a:lnTo>
                  <a:pt x="1820218" y="1476379"/>
                </a:lnTo>
                <a:lnTo>
                  <a:pt x="1834113" y="1477189"/>
                </a:lnTo>
                <a:lnTo>
                  <a:pt x="1848008" y="1477864"/>
                </a:lnTo>
                <a:lnTo>
                  <a:pt x="1861902" y="1478422"/>
                </a:lnTo>
                <a:lnTo>
                  <a:pt x="1875797" y="1478882"/>
                </a:lnTo>
                <a:lnTo>
                  <a:pt x="1889692" y="1479258"/>
                </a:lnTo>
                <a:lnTo>
                  <a:pt x="1903587" y="1479565"/>
                </a:lnTo>
                <a:lnTo>
                  <a:pt x="1917481" y="1479813"/>
                </a:lnTo>
                <a:lnTo>
                  <a:pt x="1931376" y="1480013"/>
                </a:lnTo>
                <a:lnTo>
                  <a:pt x="1945271" y="1480174"/>
                </a:lnTo>
                <a:lnTo>
                  <a:pt x="1959166" y="1480302"/>
                </a:lnTo>
                <a:lnTo>
                  <a:pt x="1973061" y="1480403"/>
                </a:lnTo>
                <a:lnTo>
                  <a:pt x="1986955" y="1480483"/>
                </a:lnTo>
                <a:lnTo>
                  <a:pt x="2000850" y="1480546"/>
                </a:lnTo>
                <a:lnTo>
                  <a:pt x="2014745" y="1480595"/>
                </a:lnTo>
                <a:lnTo>
                  <a:pt x="2028640" y="1480634"/>
                </a:lnTo>
                <a:lnTo>
                  <a:pt x="2042535" y="1480663"/>
                </a:lnTo>
                <a:lnTo>
                  <a:pt x="2056429" y="1480686"/>
                </a:lnTo>
                <a:lnTo>
                  <a:pt x="2070324" y="1480703"/>
                </a:lnTo>
                <a:lnTo>
                  <a:pt x="2084219" y="1480716"/>
                </a:lnTo>
                <a:lnTo>
                  <a:pt x="2098114" y="1480726"/>
                </a:lnTo>
                <a:lnTo>
                  <a:pt x="2112009" y="1480734"/>
                </a:lnTo>
                <a:lnTo>
                  <a:pt x="2125903" y="1480739"/>
                </a:lnTo>
                <a:lnTo>
                  <a:pt x="2139798" y="1480744"/>
                </a:lnTo>
                <a:lnTo>
                  <a:pt x="2153693" y="1480747"/>
                </a:lnTo>
                <a:lnTo>
                  <a:pt x="2167588" y="1480749"/>
                </a:lnTo>
                <a:lnTo>
                  <a:pt x="2181483" y="1480751"/>
                </a:lnTo>
                <a:lnTo>
                  <a:pt x="2195377" y="1480752"/>
                </a:lnTo>
                <a:lnTo>
                  <a:pt x="2209272" y="1480753"/>
                </a:lnTo>
                <a:lnTo>
                  <a:pt x="2223167" y="1480753"/>
                </a:lnTo>
                <a:lnTo>
                  <a:pt x="2237062" y="1480754"/>
                </a:lnTo>
                <a:lnTo>
                  <a:pt x="2250957" y="1480754"/>
                </a:lnTo>
                <a:lnTo>
                  <a:pt x="2264851" y="1480754"/>
                </a:lnTo>
                <a:lnTo>
                  <a:pt x="2278746" y="1480755"/>
                </a:lnTo>
                <a:lnTo>
                  <a:pt x="2292641" y="1480755"/>
                </a:lnTo>
                <a:lnTo>
                  <a:pt x="2306536" y="1480755"/>
                </a:lnTo>
                <a:lnTo>
                  <a:pt x="2320430" y="1480755"/>
                </a:lnTo>
                <a:lnTo>
                  <a:pt x="2334325" y="1480755"/>
                </a:lnTo>
                <a:lnTo>
                  <a:pt x="2348220" y="1480755"/>
                </a:lnTo>
                <a:lnTo>
                  <a:pt x="2362115" y="1480755"/>
                </a:lnTo>
                <a:lnTo>
                  <a:pt x="2376010" y="1480755"/>
                </a:lnTo>
                <a:lnTo>
                  <a:pt x="2389904" y="1480755"/>
                </a:lnTo>
                <a:lnTo>
                  <a:pt x="2403799" y="1480755"/>
                </a:lnTo>
                <a:lnTo>
                  <a:pt x="2417694" y="1480755"/>
                </a:lnTo>
                <a:lnTo>
                  <a:pt x="2431589" y="1480755"/>
                </a:lnTo>
                <a:lnTo>
                  <a:pt x="2445484" y="1480755"/>
                </a:lnTo>
                <a:lnTo>
                  <a:pt x="2459378" y="1480755"/>
                </a:lnTo>
                <a:lnTo>
                  <a:pt x="2473273" y="1480755"/>
                </a:lnTo>
                <a:lnTo>
                  <a:pt x="2487168" y="1480755"/>
                </a:lnTo>
              </a:path>
            </a:pathLst>
          </a:custGeom>
          <a:noFill/>
          <a:ln w="31750">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6" name="pn1"/>
          <p:cNvCxnSpPr/>
          <p:nvPr/>
        </p:nvCxnSpPr>
        <p:spPr>
          <a:xfrm>
            <a:off x="3648456" y="3839428"/>
            <a:ext cx="845637" cy="0"/>
          </a:xfrm>
          <a:prstGeom prst="line">
            <a:avLst/>
          </a:prstGeom>
          <a:ln w="12700">
            <a:solidFill>
              <a:srgbClr val="D55E00"/>
            </a:solidFill>
            <a:prstDash val="dash"/>
          </a:ln>
          <a:effectLst/>
        </p:spPr>
        <p:style>
          <a:lnRef idx="2">
            <a:schemeClr val="accent1"/>
          </a:lnRef>
          <a:fillRef idx="0">
            <a:schemeClr val="accent1"/>
          </a:fillRef>
          <a:effectRef idx="1">
            <a:schemeClr val="accent1"/>
          </a:effectRef>
          <a:fontRef idx="minor">
            <a:schemeClr val="tx1"/>
          </a:fontRef>
        </p:style>
      </p:cxnSp>
      <p:sp>
        <p:nvSpPr>
          <p:cNvPr id="27" name="pd1"/>
          <p:cNvSpPr/>
          <p:nvPr/>
        </p:nvSpPr>
        <p:spPr>
          <a:xfrm>
            <a:off x="4434657" y="3779992"/>
            <a:ext cx="118872" cy="118872"/>
          </a:xfrm>
          <a:prstGeom prst="ellipse">
            <a:avLst/>
          </a:prstGeom>
          <a:solidFill>
            <a:srgbClr val="D55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plab1"/>
          <p:cNvSpPr txBox="1"/>
          <p:nvPr/>
        </p:nvSpPr>
        <p:spPr>
          <a:xfrm>
            <a:off x="3520440" y="3986784"/>
            <a:ext cx="2743200" cy="402336"/>
          </a:xfrm>
          <a:prstGeom prst="rect">
            <a:avLst/>
          </a:prstGeom>
          <a:noFill/>
        </p:spPr>
        <p:txBody>
          <a:bodyPr wrap="square" lIns="0" tIns="0" rIns="0" bIns="0" anchor="ctr">
            <a:spAutoFit/>
          </a:bodyPr>
          <a:lstStyle/>
          <a:p>
            <a:pPr algn="ctr"/>
            <a:r>
              <a:rPr sz="2200" b="1">
                <a:solidFill>
                  <a:srgbClr val="D55E00"/>
                </a:solidFill>
                <a:latin typeface="Meiryo"/>
                <a:ea typeface="Meiryo"/>
                <a:cs typeface="Meiryo"/>
              </a:rPr>
              <a:t>低血圧時</a:t>
            </a:r>
          </a:p>
        </p:txBody>
      </p:sp>
      <p:sp>
        <p:nvSpPr>
          <p:cNvPr id="29" name="pnote1"/>
          <p:cNvSpPr txBox="1"/>
          <p:nvPr/>
        </p:nvSpPr>
        <p:spPr>
          <a:xfrm>
            <a:off x="3520440" y="4425696"/>
            <a:ext cx="2743200" cy="402336"/>
          </a:xfrm>
          <a:prstGeom prst="rect">
            <a:avLst/>
          </a:prstGeom>
          <a:noFill/>
        </p:spPr>
        <p:txBody>
          <a:bodyPr wrap="square" lIns="0" tIns="0" rIns="0" bIns="0" anchor="ctr">
            <a:spAutoFit/>
          </a:bodyPr>
          <a:lstStyle/>
          <a:p>
            <a:pPr algn="ctr"/>
            <a:r>
              <a:rPr sz="2200" b="1">
                <a:solidFill>
                  <a:srgbClr val="262626"/>
                </a:solidFill>
                <a:latin typeface="Meiryo"/>
                <a:ea typeface="Meiryo"/>
                <a:cs typeface="Meiryo"/>
              </a:rPr>
              <a:t>切痕 低い・振幅↑</a:t>
            </a:r>
          </a:p>
        </p:txBody>
      </p:sp>
      <p:sp>
        <p:nvSpPr>
          <p:cNvPr id="30" name="auc0"/>
          <p:cNvSpPr/>
          <p:nvPr/>
        </p:nvSpPr>
        <p:spPr>
          <a:xfrm>
            <a:off x="6583680" y="1682496"/>
            <a:ext cx="4956048" cy="969264"/>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400" b="1">
                <a:solidFill>
                  <a:srgbClr val="262626"/>
                </a:solidFill>
                <a:latin typeface="Meiryo"/>
                <a:ea typeface="Meiryo"/>
                <a:cs typeface="Meiryo"/>
              </a:rPr>
              <a:t>ΔDicpleth　AUC 0.86</a:t>
            </a:r>
          </a:p>
          <a:p>
            <a:pPr algn="ctr"/>
            <a:r>
              <a:rPr sz="2200" b="1">
                <a:solidFill>
                  <a:srgbClr val="262626"/>
                </a:solidFill>
                <a:latin typeface="Meiryo"/>
                <a:ea typeface="Meiryo"/>
                <a:cs typeface="Meiryo"/>
              </a:rPr>
              <a:t>閾値 −19%　感度79%・特異度84%</a:t>
            </a:r>
          </a:p>
        </p:txBody>
      </p:sp>
      <p:sp>
        <p:nvSpPr>
          <p:cNvPr id="31" name="auc1"/>
          <p:cNvSpPr/>
          <p:nvPr/>
        </p:nvSpPr>
        <p:spPr>
          <a:xfrm>
            <a:off x="6583680" y="2779776"/>
            <a:ext cx="4956048" cy="969264"/>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400" b="1">
                <a:solidFill>
                  <a:srgbClr val="262626"/>
                </a:solidFill>
                <a:latin typeface="Meiryo"/>
                <a:ea typeface="Meiryo"/>
                <a:cs typeface="Meiryo"/>
              </a:rPr>
              <a:t>ΔPI　AUC 0.83</a:t>
            </a:r>
          </a:p>
          <a:p>
            <a:pPr algn="ctr"/>
            <a:r>
              <a:rPr sz="2200" b="1">
                <a:solidFill>
                  <a:srgbClr val="262626"/>
                </a:solidFill>
                <a:latin typeface="Meiryo"/>
                <a:ea typeface="Meiryo"/>
                <a:cs typeface="Meiryo"/>
              </a:rPr>
              <a:t>閾値 +51%　感度82%・特異度74%</a:t>
            </a:r>
          </a:p>
        </p:txBody>
      </p:sp>
      <p:sp>
        <p:nvSpPr>
          <p:cNvPr id="32" name="auc2"/>
          <p:cNvSpPr/>
          <p:nvPr/>
        </p:nvSpPr>
        <p:spPr>
          <a:xfrm>
            <a:off x="6583680" y="3877056"/>
            <a:ext cx="4956048" cy="969264"/>
          </a:xfrm>
          <a:prstGeom prst="roundRect">
            <a:avLst>
              <a:gd name="adj" fmla="val 16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400" b="1">
                <a:solidFill>
                  <a:srgbClr val="262626"/>
                </a:solidFill>
                <a:latin typeface="Meiryo"/>
                <a:ea typeface="Meiryo"/>
                <a:cs typeface="Meiryo"/>
              </a:rPr>
              <a:t>2つを併用　AUC 0.91</a:t>
            </a:r>
          </a:p>
          <a:p>
            <a:pPr algn="ctr"/>
            <a:r>
              <a:rPr sz="2200" b="1">
                <a:solidFill>
                  <a:srgbClr val="262626"/>
                </a:solidFill>
                <a:latin typeface="Meiryo"/>
                <a:ea typeface="Meiryo"/>
                <a:cs typeface="Meiryo"/>
              </a:rPr>
              <a:t>感度・特異度 とも 84%</a:t>
            </a:r>
          </a:p>
        </p:txBody>
      </p:sp>
      <p:sp>
        <p:nvSpPr>
          <p:cNvPr id="33" name="callout"/>
          <p:cNvSpPr/>
          <p:nvPr/>
        </p:nvSpPr>
        <p:spPr>
          <a:xfrm>
            <a:off x="548640" y="5138928"/>
            <a:ext cx="10954512" cy="1042416"/>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600" b="1">
                <a:solidFill>
                  <a:srgbClr val="262626"/>
                </a:solidFill>
                <a:latin typeface="Meiryo"/>
                <a:ea typeface="Meiryo"/>
                <a:cs typeface="Meiryo"/>
              </a:rPr>
              <a:t>昇圧薬の投与中も MAP と連動して動く。</a:t>
            </a:r>
          </a:p>
          <a:p>
            <a:pPr algn="ctr"/>
            <a:r>
              <a:rPr sz="2200" b="1">
                <a:solidFill>
                  <a:srgbClr val="262626"/>
                </a:solidFill>
                <a:latin typeface="Meiryo"/>
                <a:ea typeface="Meiryo"/>
                <a:cs typeface="Meiryo"/>
              </a:rPr>
              <a:t>ΔDicpleth  r = 0.73　／　ΔPI  r = −0.62（P&lt;0.001）</a:t>
            </a:r>
          </a:p>
        </p:txBody>
      </p:sp>
      <p:sp>
        <p:nvSpPr>
          <p:cNvPr id="34" name="Source"/>
          <p:cNvSpPr txBox="1"/>
          <p:nvPr/>
        </p:nvSpPr>
        <p:spPr>
          <a:xfrm>
            <a:off x="720000" y="6606000"/>
            <a:ext cx="10881360" cy="161583"/>
          </a:xfrm>
          <a:prstGeom prst="rect">
            <a:avLst/>
          </a:prstGeom>
          <a:noFill/>
        </p:spPr>
        <p:txBody>
          <a:bodyPr wrap="square" lIns="0" tIns="0" rIns="0" bIns="0" anchor="t">
            <a:spAutoFit/>
          </a:bodyPr>
          <a:lstStyle/>
          <a:p>
            <a:pPr algn="l"/>
            <a:r>
              <a:rPr sz="1050" b="0" dirty="0">
                <a:solidFill>
                  <a:srgbClr val="808080"/>
                </a:solidFill>
                <a:latin typeface="Meiryo"/>
                <a:ea typeface="Meiryo"/>
                <a:cs typeface="Meiryo"/>
              </a:rPr>
              <a:t>21. </a:t>
            </a:r>
            <a:r>
              <a:rPr sz="1050" b="0" dirty="0" err="1">
                <a:solidFill>
                  <a:srgbClr val="808080"/>
                </a:solidFill>
                <a:latin typeface="Meiryo"/>
                <a:ea typeface="Meiryo"/>
                <a:cs typeface="Meiryo"/>
              </a:rPr>
              <a:t>Coutrot</a:t>
            </a:r>
            <a:r>
              <a:rPr sz="1050" b="0" dirty="0">
                <a:solidFill>
                  <a:srgbClr val="808080"/>
                </a:solidFill>
                <a:latin typeface="Meiryo"/>
                <a:ea typeface="Meiryo"/>
                <a:cs typeface="Meiryo"/>
              </a:rPr>
              <a:t> 2019</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4">
            <a:extLst>
              <a:ext uri="{FF2B5EF4-FFF2-40B4-BE49-F238E27FC236}">
                <a16:creationId xmlns:a16="http://schemas.microsoft.com/office/drawing/2014/main" id="{AA9D36CE-3772-F005-B54C-9329ADA7F086}"/>
              </a:ext>
            </a:extLst>
          </p:cNvPr>
          <p:cNvSpPr/>
          <p:nvPr/>
        </p:nvSpPr>
        <p:spPr>
          <a:xfrm>
            <a:off x="887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3. 波形の定量化</a:t>
            </a:r>
          </a:p>
        </p:txBody>
      </p:sp>
      <p:sp>
        <p:nvSpPr>
          <p:cNvPr id="8" name="TextBox 7"/>
          <p:cNvSpPr txBox="1"/>
          <p:nvPr/>
        </p:nvSpPr>
        <p:spPr>
          <a:xfrm>
            <a:off x="822960" y="1536192"/>
            <a:ext cx="5029200" cy="4956048"/>
          </a:xfrm>
          <a:prstGeom prst="rect">
            <a:avLst/>
          </a:prstGeom>
          <a:noFill/>
        </p:spPr>
        <p:txBody>
          <a:bodyPr wrap="square" lIns="0" tIns="0" rIns="0" bIns="0" anchor="t">
            <a:spAutoFit/>
          </a:bodyPr>
          <a:lstStyle/>
          <a:p>
            <a:pPr>
              <a:lnSpc>
                <a:spcPct val="145000"/>
              </a:lnSpc>
            </a:pPr>
            <a:r>
              <a:rPr sz="3200" b="1">
                <a:solidFill>
                  <a:srgbClr val="D9D9D9"/>
                </a:solidFill>
                <a:latin typeface="Meiryo"/>
                <a:ea typeface="Meiryo"/>
                <a:cs typeface="Meiryo"/>
              </a:rPr>
              <a:t>1. </a:t>
            </a:r>
            <a:r>
              <a:rPr sz="3200" b="0">
                <a:solidFill>
                  <a:srgbClr val="D9D9D9"/>
                </a:solidFill>
                <a:latin typeface="Meiryo"/>
                <a:ea typeface="Meiryo"/>
                <a:cs typeface="Meiryo"/>
              </a:rPr>
              <a:t>PPGの基礎</a:t>
            </a:r>
          </a:p>
          <a:p>
            <a:pPr>
              <a:lnSpc>
                <a:spcPct val="145000"/>
              </a:lnSpc>
            </a:pPr>
            <a:r>
              <a:rPr sz="3200" b="1">
                <a:solidFill>
                  <a:srgbClr val="D9D9D9"/>
                </a:solidFill>
                <a:latin typeface="Meiryo"/>
                <a:ea typeface="Meiryo"/>
                <a:cs typeface="Meiryo"/>
              </a:rPr>
              <a:t>2. </a:t>
            </a:r>
            <a:r>
              <a:rPr sz="3200" b="0">
                <a:solidFill>
                  <a:srgbClr val="D9D9D9"/>
                </a:solidFill>
                <a:latin typeface="Meiryo"/>
                <a:ea typeface="Meiryo"/>
                <a:cs typeface="Meiryo"/>
              </a:rPr>
              <a:t>波形への影響</a:t>
            </a:r>
          </a:p>
          <a:p>
            <a:pPr>
              <a:lnSpc>
                <a:spcPct val="145000"/>
              </a:lnSpc>
            </a:pPr>
            <a:r>
              <a:rPr sz="3200" b="1">
                <a:solidFill>
                  <a:srgbClr val="BF9000"/>
                </a:solidFill>
                <a:latin typeface="Meiryo"/>
                <a:ea typeface="Meiryo"/>
                <a:cs typeface="Meiryo"/>
              </a:rPr>
              <a:t>3. </a:t>
            </a:r>
            <a:r>
              <a:rPr sz="3200" b="1">
                <a:solidFill>
                  <a:srgbClr val="262626"/>
                </a:solidFill>
                <a:latin typeface="Meiryo"/>
                <a:ea typeface="Meiryo"/>
                <a:cs typeface="Meiryo"/>
              </a:rPr>
              <a:t>波形の定量化</a:t>
            </a:r>
          </a:p>
          <a:p>
            <a:pPr>
              <a:lnSpc>
                <a:spcPct val="145000"/>
              </a:lnSpc>
            </a:pPr>
            <a:r>
              <a:rPr sz="3200" b="1">
                <a:solidFill>
                  <a:srgbClr val="D9D9D9"/>
                </a:solidFill>
                <a:latin typeface="Meiryo"/>
                <a:ea typeface="Meiryo"/>
                <a:cs typeface="Meiryo"/>
              </a:rPr>
              <a:t>4. </a:t>
            </a:r>
            <a:r>
              <a:rPr sz="3200" b="0">
                <a:solidFill>
                  <a:srgbClr val="D9D9D9"/>
                </a:solidFill>
                <a:latin typeface="Meiryo"/>
                <a:ea typeface="Meiryo"/>
                <a:cs typeface="Meiryo"/>
              </a:rPr>
              <a:t>限界</a:t>
            </a:r>
          </a:p>
          <a:p>
            <a:pPr>
              <a:lnSpc>
                <a:spcPct val="145000"/>
              </a:lnSpc>
            </a:pPr>
            <a:r>
              <a:rPr sz="3200" b="1">
                <a:solidFill>
                  <a:srgbClr val="D9D9D9"/>
                </a:solidFill>
                <a:latin typeface="Meiryo"/>
                <a:ea typeface="Meiryo"/>
                <a:cs typeface="Meiryo"/>
              </a:rPr>
              <a:t>5. </a:t>
            </a:r>
            <a:r>
              <a:rPr sz="3200" b="0">
                <a:solidFill>
                  <a:srgbClr val="D9D9D9"/>
                </a:solidFill>
                <a:latin typeface="Meiryo"/>
                <a:ea typeface="Meiryo"/>
                <a:cs typeface="Meiryo"/>
              </a:rPr>
              <a:t>PDA（波形分解）</a:t>
            </a:r>
          </a:p>
          <a:p>
            <a:pPr>
              <a:lnSpc>
                <a:spcPct val="145000"/>
              </a:lnSpc>
            </a:pPr>
            <a:r>
              <a:rPr sz="3200" b="0">
                <a:solidFill>
                  <a:srgbClr val="D9D9D9"/>
                </a:solidFill>
                <a:latin typeface="Meiryo"/>
                <a:ea typeface="Meiryo"/>
                <a:cs typeface="Meiryo"/>
              </a:rPr>
              <a:t>6. 提案</a:t>
            </a:r>
          </a:p>
        </p:txBody>
      </p:sp>
      <p:sp>
        <p:nvSpPr>
          <p:cNvPr id="18" name="SubToc"/>
          <p:cNvSpPr txBox="1"/>
          <p:nvPr/>
        </p:nvSpPr>
        <p:spPr>
          <a:xfrm>
            <a:off x="6309360" y="1536192"/>
            <a:ext cx="5394960" cy="4956048"/>
          </a:xfrm>
          <a:prstGeom prst="rect">
            <a:avLst/>
          </a:prstGeom>
          <a:noFill/>
        </p:spPr>
        <p:txBody>
          <a:bodyPr wrap="square" anchor="t">
            <a:spAutoFit/>
          </a:bodyPr>
          <a:lstStyle/>
          <a:p>
            <a:pPr>
              <a:lnSpc>
                <a:spcPct val="145000"/>
              </a:lnSpc>
            </a:pPr>
            <a:r>
              <a:rPr sz="2900" b="1">
                <a:solidFill>
                  <a:srgbClr val="BF9000"/>
                </a:solidFill>
                <a:latin typeface="Meiryo"/>
                <a:ea typeface="Meiryo"/>
                <a:cs typeface="Meiryo"/>
              </a:rPr>
              <a:t>3.1 </a:t>
            </a:r>
            <a:r>
              <a:rPr sz="2900" b="0">
                <a:solidFill>
                  <a:srgbClr val="262626"/>
                </a:solidFill>
                <a:latin typeface="Meiryo"/>
                <a:ea typeface="Meiryo"/>
                <a:cs typeface="Meiryo"/>
              </a:rPr>
              <a:t>Stiffness Index (SI)</a:t>
            </a:r>
          </a:p>
          <a:p>
            <a:pPr>
              <a:lnSpc>
                <a:spcPct val="145000"/>
              </a:lnSpc>
            </a:pPr>
            <a:r>
              <a:rPr sz="2900" b="1">
                <a:solidFill>
                  <a:srgbClr val="BF9000"/>
                </a:solidFill>
                <a:latin typeface="Meiryo"/>
                <a:ea typeface="Meiryo"/>
                <a:cs typeface="Meiryo"/>
              </a:rPr>
              <a:t>3.2 </a:t>
            </a:r>
            <a:r>
              <a:rPr sz="2900" b="0">
                <a:solidFill>
                  <a:srgbClr val="262626"/>
                </a:solidFill>
                <a:latin typeface="Meiryo"/>
                <a:ea typeface="Meiryo"/>
                <a:cs typeface="Meiryo"/>
              </a:rPr>
              <a:t>Reflection Index (RI)</a:t>
            </a:r>
          </a:p>
          <a:p>
            <a:pPr>
              <a:lnSpc>
                <a:spcPct val="145000"/>
              </a:lnSpc>
            </a:pPr>
            <a:r>
              <a:rPr sz="2900" b="1">
                <a:solidFill>
                  <a:srgbClr val="BF9000"/>
                </a:solidFill>
                <a:latin typeface="Meiryo"/>
                <a:ea typeface="Meiryo"/>
                <a:cs typeface="Meiryo"/>
              </a:rPr>
              <a:t>3.3 </a:t>
            </a:r>
            <a:r>
              <a:rPr sz="2900" b="0">
                <a:solidFill>
                  <a:srgbClr val="262626"/>
                </a:solidFill>
                <a:latin typeface="Meiryo"/>
                <a:ea typeface="Meiryo"/>
                <a:cs typeface="Meiryo"/>
              </a:rPr>
              <a:t>加速度脈波 SDPPG</a:t>
            </a:r>
          </a:p>
          <a:p>
            <a:pPr>
              <a:lnSpc>
                <a:spcPct val="145000"/>
              </a:lnSpc>
            </a:pPr>
            <a:r>
              <a:rPr sz="2900" b="1">
                <a:solidFill>
                  <a:srgbClr val="BF9000"/>
                </a:solidFill>
                <a:latin typeface="Meiryo"/>
                <a:ea typeface="Meiryo"/>
                <a:cs typeface="Meiryo"/>
              </a:rPr>
              <a:t>3.4 </a:t>
            </a:r>
            <a:r>
              <a:rPr sz="2900" b="0">
                <a:solidFill>
                  <a:srgbClr val="262626"/>
                </a:solidFill>
                <a:latin typeface="Meiryo"/>
                <a:ea typeface="Meiryo"/>
                <a:cs typeface="Meiryo"/>
              </a:rPr>
              <a:t>定量化指標まとめ</a:t>
            </a:r>
          </a:p>
        </p:txBody>
      </p:sp>
      <p:sp>
        <p:nvSpPr>
          <p:cNvPr id="1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51/118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4">
            <a:extLst>
              <a:ext uri="{FF2B5EF4-FFF2-40B4-BE49-F238E27FC236}">
                <a16:creationId xmlns:a16="http://schemas.microsoft.com/office/drawing/2014/main" id="{AA9D36CE-3772-F005-B54C-9329ADA7F086}"/>
              </a:ext>
            </a:extLst>
          </p:cNvPr>
          <p:cNvSpPr/>
          <p:nvPr/>
        </p:nvSpPr>
        <p:spPr>
          <a:xfrm>
            <a:off x="953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6CC90D-B35D-757D-7300-EC39E91E78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3579DF-6D0E-CA1C-96BB-7E708CB6BAF7}"/>
              </a:ext>
            </a:extLst>
          </p:cNvPr>
          <p:cNvSpPr>
            <a:spLocks noGrp="1"/>
          </p:cNvSpPr>
          <p:nvPr>
            <p:ph type="title"/>
          </p:nvPr>
        </p:nvSpPr>
        <p:spPr/>
        <p:txBody>
          <a:bodyPr/>
          <a:lstStyle/>
          <a:p>
            <a:pPr algn="l"/>
            <a:r>
              <a:rPr sz="4600" dirty="0">
                <a:latin typeface="Meiryo"/>
                <a:ea typeface="Meiryo"/>
                <a:cs typeface="Meiryo"/>
              </a:rPr>
              <a:t>3.1. Stiffness Index</a:t>
            </a:r>
          </a:p>
        </p:txBody>
      </p:sp>
      <p:pic>
        <p:nvPicPr>
          <p:cNvPr id="18" name="fig_si" descr="f51_si.png">
            <a:extLst>
              <a:ext uri="{FF2B5EF4-FFF2-40B4-BE49-F238E27FC236}">
                <a16:creationId xmlns:a16="http://schemas.microsoft.com/office/drawing/2014/main" id="{C174A647-D2FA-2532-6661-9A7DFAF68959}"/>
              </a:ext>
            </a:extLst>
          </p:cNvPr>
          <p:cNvPicPr>
            <a:picLocks noChangeAspect="1"/>
          </p:cNvPicPr>
          <p:nvPr/>
        </p:nvPicPr>
        <p:blipFill>
          <a:blip r:embed="rId3"/>
          <a:stretch>
            <a:fillRect/>
          </a:stretch>
        </p:blipFill>
        <p:spPr>
          <a:xfrm>
            <a:off x="1674562" y="2808096"/>
            <a:ext cx="4589438" cy="2195904"/>
          </a:xfrm>
          <a:prstGeom prst="rect">
            <a:avLst/>
          </a:prstGeom>
        </p:spPr>
      </p:pic>
      <p:sp>
        <p:nvSpPr>
          <p:cNvPr id="19" name="TextBox 18">
            <a:extLst>
              <a:ext uri="{FF2B5EF4-FFF2-40B4-BE49-F238E27FC236}">
                <a16:creationId xmlns:a16="http://schemas.microsoft.com/office/drawing/2014/main" id="{A1DD235C-336D-A9AA-2CC4-A83114540EE3}"/>
              </a:ext>
            </a:extLst>
          </p:cNvPr>
          <p:cNvSpPr txBox="1"/>
          <p:nvPr/>
        </p:nvSpPr>
        <p:spPr>
          <a:xfrm>
            <a:off x="594562" y="2601000"/>
            <a:ext cx="2160000" cy="378000"/>
          </a:xfrm>
          <a:prstGeom prst="rect">
            <a:avLst/>
          </a:prstGeom>
          <a:noFill/>
        </p:spPr>
        <p:txBody>
          <a:bodyPr wrap="none" lIns="0" tIns="0" rIns="0" bIns="0" anchor="ctr">
            <a:spAutoFit/>
          </a:bodyPr>
          <a:lstStyle/>
          <a:p>
            <a:pPr algn="r">
              <a:spcBef>
                <a:spcPts val="0"/>
              </a:spcBef>
              <a:spcAft>
                <a:spcPts val="0"/>
              </a:spcAft>
            </a:pPr>
            <a:r>
              <a:rPr sz="2200" b="1" dirty="0">
                <a:solidFill>
                  <a:srgbClr val="0072B2"/>
                </a:solidFill>
                <a:latin typeface="Meiryo"/>
                <a:ea typeface="Meiryo"/>
                <a:cs typeface="Meiryo"/>
              </a:rPr>
              <a:t>P1（前進波）</a:t>
            </a:r>
          </a:p>
        </p:txBody>
      </p:sp>
      <p:sp>
        <p:nvSpPr>
          <p:cNvPr id="20" name="TextBox 19">
            <a:extLst>
              <a:ext uri="{FF2B5EF4-FFF2-40B4-BE49-F238E27FC236}">
                <a16:creationId xmlns:a16="http://schemas.microsoft.com/office/drawing/2014/main" id="{E77D244F-F5F9-2F05-D5F0-4DAB21E693DA}"/>
              </a:ext>
            </a:extLst>
          </p:cNvPr>
          <p:cNvSpPr txBox="1"/>
          <p:nvPr/>
        </p:nvSpPr>
        <p:spPr>
          <a:xfrm>
            <a:off x="4303012" y="2599640"/>
            <a:ext cx="2520000" cy="378000"/>
          </a:xfrm>
          <a:prstGeom prst="rect">
            <a:avLst/>
          </a:prstGeom>
          <a:noFill/>
        </p:spPr>
        <p:txBody>
          <a:bodyPr wrap="none" lIns="0" tIns="0" rIns="0" bIns="0" anchor="ctr">
            <a:spAutoFit/>
          </a:bodyPr>
          <a:lstStyle/>
          <a:p>
            <a:pPr algn="l">
              <a:spcBef>
                <a:spcPts val="0"/>
              </a:spcBef>
              <a:spcAft>
                <a:spcPts val="0"/>
              </a:spcAft>
            </a:pPr>
            <a:r>
              <a:rPr sz="2200" b="1">
                <a:solidFill>
                  <a:srgbClr val="D55E00"/>
                </a:solidFill>
                <a:latin typeface="Meiryo"/>
                <a:ea typeface="Meiryo"/>
                <a:cs typeface="Meiryo"/>
              </a:rPr>
              <a:t>P2（反射波）</a:t>
            </a:r>
          </a:p>
        </p:txBody>
      </p:sp>
      <p:sp>
        <p:nvSpPr>
          <p:cNvPr id="21" name="TextBox 20">
            <a:extLst>
              <a:ext uri="{FF2B5EF4-FFF2-40B4-BE49-F238E27FC236}">
                <a16:creationId xmlns:a16="http://schemas.microsoft.com/office/drawing/2014/main" id="{D026FD44-9397-B498-8D6C-2E646AD1B294}"/>
              </a:ext>
            </a:extLst>
          </p:cNvPr>
          <p:cNvSpPr txBox="1"/>
          <p:nvPr/>
        </p:nvSpPr>
        <p:spPr>
          <a:xfrm>
            <a:off x="3040313" y="4978800"/>
            <a:ext cx="1152000" cy="378000"/>
          </a:xfrm>
          <a:prstGeom prst="rect">
            <a:avLst/>
          </a:prstGeom>
          <a:noFill/>
        </p:spPr>
        <p:txBody>
          <a:bodyPr wrap="none" lIns="0" tIns="0" rIns="0" bIns="0" anchor="ctr">
            <a:spAutoFit/>
          </a:bodyPr>
          <a:lstStyle/>
          <a:p>
            <a:pPr algn="ctr">
              <a:spcBef>
                <a:spcPts val="0"/>
              </a:spcBef>
              <a:spcAft>
                <a:spcPts val="0"/>
              </a:spcAft>
            </a:pPr>
            <a:r>
              <a:rPr sz="2400" b="1" dirty="0">
                <a:solidFill>
                  <a:srgbClr val="BF9000"/>
                </a:solidFill>
                <a:latin typeface="Meiryo"/>
                <a:ea typeface="Meiryo"/>
                <a:cs typeface="Meiryo"/>
              </a:rPr>
              <a:t>ΔT</a:t>
            </a:r>
          </a:p>
        </p:txBody>
      </p:sp>
      <p:sp>
        <p:nvSpPr>
          <p:cNvPr id="22" name="Rounded Rectangle 21">
            <a:extLst>
              <a:ext uri="{FF2B5EF4-FFF2-40B4-BE49-F238E27FC236}">
                <a16:creationId xmlns:a16="http://schemas.microsoft.com/office/drawing/2014/main" id="{0F7CB7E2-8CDE-CDB3-1508-0C2FC7D30743}"/>
              </a:ext>
            </a:extLst>
          </p:cNvPr>
          <p:cNvSpPr/>
          <p:nvPr/>
        </p:nvSpPr>
        <p:spPr>
          <a:xfrm>
            <a:off x="2340000" y="5616000"/>
            <a:ext cx="7523999" cy="90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lang="ja-JP" altLang="en-US" sz="2600" b="1">
                <a:solidFill>
                  <a:srgbClr val="262626"/>
                </a:solidFill>
                <a:latin typeface="Meiryo"/>
                <a:ea typeface="Meiryo"/>
                <a:cs typeface="Meiryo"/>
              </a:rPr>
              <a:t>大血管スティッフネスは反射波の時相に影響。</a:t>
            </a:r>
            <a:endParaRPr sz="2200" b="1" dirty="0">
              <a:solidFill>
                <a:srgbClr val="262626"/>
              </a:solidFill>
              <a:latin typeface="Meiryo"/>
              <a:ea typeface="Meiryo"/>
              <a:cs typeface="Meiryo"/>
            </a:endParaRPr>
          </a:p>
        </p:txBody>
      </p:sp>
      <p:sp>
        <p:nvSpPr>
          <p:cNvPr id="23" name="Source">
            <a:extLst>
              <a:ext uri="{FF2B5EF4-FFF2-40B4-BE49-F238E27FC236}">
                <a16:creationId xmlns:a16="http://schemas.microsoft.com/office/drawing/2014/main" id="{35B01AA2-D4F2-C592-0838-828852415298}"/>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a:t>
            </a:r>
          </a:p>
        </p:txBody>
      </p:sp>
      <p:sp>
        <p:nvSpPr>
          <p:cNvPr id="24" name="PageNo">
            <a:extLst>
              <a:ext uri="{FF2B5EF4-FFF2-40B4-BE49-F238E27FC236}">
                <a16:creationId xmlns:a16="http://schemas.microsoft.com/office/drawing/2014/main" id="{92517639-BD73-84AE-5731-1A961867F753}"/>
              </a:ext>
            </a:extLst>
          </p:cNvPr>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52/118</a:t>
            </a:r>
          </a:p>
        </p:txBody>
      </p:sp>
      <p:cxnSp>
        <p:nvCxnSpPr>
          <p:cNvPr id="8" name="wbase1">
            <a:extLst>
              <a:ext uri="{FF2B5EF4-FFF2-40B4-BE49-F238E27FC236}">
                <a16:creationId xmlns:a16="http://schemas.microsoft.com/office/drawing/2014/main" id="{133A98FF-CA49-B7C0-C4CD-B015298BFECD}"/>
              </a:ext>
            </a:extLst>
          </p:cNvPr>
          <p:cNvCxnSpPr>
            <a:cxnSpLocks/>
          </p:cNvCxnSpPr>
          <p:nvPr/>
        </p:nvCxnSpPr>
        <p:spPr>
          <a:xfrm>
            <a:off x="6983925" y="4524776"/>
            <a:ext cx="3631693"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9" name="wg1">
            <a:extLst>
              <a:ext uri="{FF2B5EF4-FFF2-40B4-BE49-F238E27FC236}">
                <a16:creationId xmlns:a16="http://schemas.microsoft.com/office/drawing/2014/main" id="{7987DBC8-53F5-4280-47E3-025D8E1C2CFE}"/>
              </a:ext>
            </a:extLst>
          </p:cNvPr>
          <p:cNvSpPr/>
          <p:nvPr/>
        </p:nvSpPr>
        <p:spPr>
          <a:xfrm>
            <a:off x="6983925" y="3476915"/>
            <a:ext cx="3631693" cy="1047862"/>
          </a:xfrm>
          <a:custGeom>
            <a:avLst/>
            <a:gdLst/>
            <a:ahLst/>
            <a:cxnLst/>
            <a:rect l="l" t="t" r="r" b="b"/>
            <a:pathLst>
              <a:path w="2615184" h="379535">
                <a:moveTo>
                  <a:pt x="0" y="378955"/>
                </a:moveTo>
                <a:lnTo>
                  <a:pt x="14610" y="378673"/>
                </a:lnTo>
                <a:lnTo>
                  <a:pt x="29220" y="378271"/>
                </a:lnTo>
                <a:lnTo>
                  <a:pt x="43830" y="377702"/>
                </a:lnTo>
                <a:lnTo>
                  <a:pt x="58440" y="376912"/>
                </a:lnTo>
                <a:lnTo>
                  <a:pt x="73050" y="375828"/>
                </a:lnTo>
                <a:lnTo>
                  <a:pt x="87660" y="374360"/>
                </a:lnTo>
                <a:lnTo>
                  <a:pt x="102270" y="372401"/>
                </a:lnTo>
                <a:lnTo>
                  <a:pt x="116880" y="369821"/>
                </a:lnTo>
                <a:lnTo>
                  <a:pt x="131490" y="366474"/>
                </a:lnTo>
                <a:lnTo>
                  <a:pt x="146100" y="362190"/>
                </a:lnTo>
                <a:lnTo>
                  <a:pt x="160710" y="356787"/>
                </a:lnTo>
                <a:lnTo>
                  <a:pt x="175320" y="350072"/>
                </a:lnTo>
                <a:lnTo>
                  <a:pt x="189930" y="341847"/>
                </a:lnTo>
                <a:lnTo>
                  <a:pt x="204540" y="331923"/>
                </a:lnTo>
                <a:lnTo>
                  <a:pt x="219149" y="320133"/>
                </a:lnTo>
                <a:lnTo>
                  <a:pt x="233759" y="306343"/>
                </a:lnTo>
                <a:lnTo>
                  <a:pt x="248369" y="290469"/>
                </a:lnTo>
                <a:lnTo>
                  <a:pt x="262979" y="272496"/>
                </a:lnTo>
                <a:lnTo>
                  <a:pt x="277589" y="252492"/>
                </a:lnTo>
                <a:lnTo>
                  <a:pt x="292199" y="230617"/>
                </a:lnTo>
                <a:lnTo>
                  <a:pt x="306809" y="207139"/>
                </a:lnTo>
                <a:lnTo>
                  <a:pt x="321419" y="182433"/>
                </a:lnTo>
                <a:lnTo>
                  <a:pt x="336029" y="156978"/>
                </a:lnTo>
                <a:lnTo>
                  <a:pt x="350639" y="131346"/>
                </a:lnTo>
                <a:lnTo>
                  <a:pt x="365249" y="106187"/>
                </a:lnTo>
                <a:lnTo>
                  <a:pt x="379859" y="82202"/>
                </a:lnTo>
                <a:lnTo>
                  <a:pt x="394469" y="60109"/>
                </a:lnTo>
                <a:lnTo>
                  <a:pt x="409079" y="40612"/>
                </a:lnTo>
                <a:lnTo>
                  <a:pt x="423689" y="24358"/>
                </a:lnTo>
                <a:lnTo>
                  <a:pt x="438299" y="11907"/>
                </a:lnTo>
                <a:lnTo>
                  <a:pt x="452909" y="3693"/>
                </a:lnTo>
                <a:lnTo>
                  <a:pt x="467519" y="0"/>
                </a:lnTo>
                <a:lnTo>
                  <a:pt x="482129" y="947"/>
                </a:lnTo>
                <a:lnTo>
                  <a:pt x="496739" y="6474"/>
                </a:lnTo>
                <a:lnTo>
                  <a:pt x="511349" y="16351"/>
                </a:lnTo>
                <a:lnTo>
                  <a:pt x="525959" y="30187"/>
                </a:lnTo>
                <a:lnTo>
                  <a:pt x="540569" y="47457"/>
                </a:lnTo>
                <a:lnTo>
                  <a:pt x="555179" y="67528"/>
                </a:lnTo>
                <a:lnTo>
                  <a:pt x="569789" y="89699"/>
                </a:lnTo>
                <a:lnTo>
                  <a:pt x="584399" y="113234"/>
                </a:lnTo>
                <a:lnTo>
                  <a:pt x="599009" y="137403"/>
                </a:lnTo>
                <a:lnTo>
                  <a:pt x="613619" y="161511"/>
                </a:lnTo>
                <a:lnTo>
                  <a:pt x="628229" y="184933"/>
                </a:lnTo>
                <a:lnTo>
                  <a:pt x="642839" y="207128"/>
                </a:lnTo>
                <a:lnTo>
                  <a:pt x="657448" y="227659"/>
                </a:lnTo>
                <a:lnTo>
                  <a:pt x="672058" y="246199"/>
                </a:lnTo>
                <a:lnTo>
                  <a:pt x="686668" y="262526"/>
                </a:lnTo>
                <a:lnTo>
                  <a:pt x="701278" y="276523"/>
                </a:lnTo>
                <a:lnTo>
                  <a:pt x="715888" y="288163"/>
                </a:lnTo>
                <a:lnTo>
                  <a:pt x="730498" y="297496"/>
                </a:lnTo>
                <a:lnTo>
                  <a:pt x="745108" y="304635"/>
                </a:lnTo>
                <a:lnTo>
                  <a:pt x="759718" y="309736"/>
                </a:lnTo>
                <a:lnTo>
                  <a:pt x="774328" y="312989"/>
                </a:lnTo>
                <a:lnTo>
                  <a:pt x="788938" y="314599"/>
                </a:lnTo>
                <a:lnTo>
                  <a:pt x="803548" y="314779"/>
                </a:lnTo>
                <a:lnTo>
                  <a:pt x="818158" y="313738"/>
                </a:lnTo>
                <a:lnTo>
                  <a:pt x="832768" y="311679"/>
                </a:lnTo>
                <a:lnTo>
                  <a:pt x="847378" y="308790"/>
                </a:lnTo>
                <a:lnTo>
                  <a:pt x="861988" y="305244"/>
                </a:lnTo>
                <a:lnTo>
                  <a:pt x="876598" y="301201"/>
                </a:lnTo>
                <a:lnTo>
                  <a:pt x="891208" y="296802"/>
                </a:lnTo>
                <a:lnTo>
                  <a:pt x="905818" y="292177"/>
                </a:lnTo>
                <a:lnTo>
                  <a:pt x="920428" y="287441"/>
                </a:lnTo>
                <a:lnTo>
                  <a:pt x="935038" y="282697"/>
                </a:lnTo>
                <a:lnTo>
                  <a:pt x="949648" y="278040"/>
                </a:lnTo>
                <a:lnTo>
                  <a:pt x="964258" y="273554"/>
                </a:lnTo>
                <a:lnTo>
                  <a:pt x="978868" y="269316"/>
                </a:lnTo>
                <a:lnTo>
                  <a:pt x="993478" y="265394"/>
                </a:lnTo>
                <a:lnTo>
                  <a:pt x="1008088" y="261850"/>
                </a:lnTo>
                <a:lnTo>
                  <a:pt x="1022698" y="258738"/>
                </a:lnTo>
                <a:lnTo>
                  <a:pt x="1037308" y="256106"/>
                </a:lnTo>
                <a:lnTo>
                  <a:pt x="1051918" y="253993"/>
                </a:lnTo>
                <a:lnTo>
                  <a:pt x="1066528" y="252429"/>
                </a:lnTo>
                <a:lnTo>
                  <a:pt x="1081138" y="251439"/>
                </a:lnTo>
                <a:lnTo>
                  <a:pt x="1095747" y="251037"/>
                </a:lnTo>
                <a:lnTo>
                  <a:pt x="1110357" y="251229"/>
                </a:lnTo>
                <a:lnTo>
                  <a:pt x="1124967" y="252014"/>
                </a:lnTo>
                <a:lnTo>
                  <a:pt x="1139577" y="253380"/>
                </a:lnTo>
                <a:lnTo>
                  <a:pt x="1154187" y="255310"/>
                </a:lnTo>
                <a:lnTo>
                  <a:pt x="1168797" y="257776"/>
                </a:lnTo>
                <a:lnTo>
                  <a:pt x="1183407" y="260746"/>
                </a:lnTo>
                <a:lnTo>
                  <a:pt x="1198017" y="264180"/>
                </a:lnTo>
                <a:lnTo>
                  <a:pt x="1212627" y="268034"/>
                </a:lnTo>
                <a:lnTo>
                  <a:pt x="1227237" y="272258"/>
                </a:lnTo>
                <a:lnTo>
                  <a:pt x="1241847" y="276799"/>
                </a:lnTo>
                <a:lnTo>
                  <a:pt x="1256457" y="281605"/>
                </a:lnTo>
                <a:lnTo>
                  <a:pt x="1271067" y="286617"/>
                </a:lnTo>
                <a:lnTo>
                  <a:pt x="1285677" y="291782"/>
                </a:lnTo>
                <a:lnTo>
                  <a:pt x="1300287" y="297043"/>
                </a:lnTo>
                <a:lnTo>
                  <a:pt x="1314897" y="302348"/>
                </a:lnTo>
                <a:lnTo>
                  <a:pt x="1329507" y="307646"/>
                </a:lnTo>
                <a:lnTo>
                  <a:pt x="1344117" y="312890"/>
                </a:lnTo>
                <a:lnTo>
                  <a:pt x="1358727" y="318038"/>
                </a:lnTo>
                <a:lnTo>
                  <a:pt x="1373337" y="323051"/>
                </a:lnTo>
                <a:lnTo>
                  <a:pt x="1387947" y="327896"/>
                </a:lnTo>
                <a:lnTo>
                  <a:pt x="1402557" y="332544"/>
                </a:lnTo>
                <a:lnTo>
                  <a:pt x="1417167" y="336971"/>
                </a:lnTo>
                <a:lnTo>
                  <a:pt x="1431777" y="341160"/>
                </a:lnTo>
                <a:lnTo>
                  <a:pt x="1446387" y="345097"/>
                </a:lnTo>
                <a:lnTo>
                  <a:pt x="1460997" y="348773"/>
                </a:lnTo>
                <a:lnTo>
                  <a:pt x="1475607" y="352184"/>
                </a:lnTo>
                <a:lnTo>
                  <a:pt x="1490217" y="355329"/>
                </a:lnTo>
                <a:lnTo>
                  <a:pt x="1504827" y="358212"/>
                </a:lnTo>
                <a:lnTo>
                  <a:pt x="1519437" y="360839"/>
                </a:lnTo>
                <a:lnTo>
                  <a:pt x="1534046" y="363218"/>
                </a:lnTo>
                <a:lnTo>
                  <a:pt x="1548656" y="365360"/>
                </a:lnTo>
                <a:lnTo>
                  <a:pt x="1563266" y="367278"/>
                </a:lnTo>
                <a:lnTo>
                  <a:pt x="1577876" y="368985"/>
                </a:lnTo>
                <a:lnTo>
                  <a:pt x="1592486" y="370497"/>
                </a:lnTo>
                <a:lnTo>
                  <a:pt x="1607096" y="371828"/>
                </a:lnTo>
                <a:lnTo>
                  <a:pt x="1621706" y="372993"/>
                </a:lnTo>
                <a:lnTo>
                  <a:pt x="1636316" y="374008"/>
                </a:lnTo>
                <a:lnTo>
                  <a:pt x="1650926" y="374887"/>
                </a:lnTo>
                <a:lnTo>
                  <a:pt x="1665536" y="375644"/>
                </a:lnTo>
                <a:lnTo>
                  <a:pt x="1680146" y="376294"/>
                </a:lnTo>
                <a:lnTo>
                  <a:pt x="1694756" y="376847"/>
                </a:lnTo>
                <a:lnTo>
                  <a:pt x="1709366" y="377316"/>
                </a:lnTo>
                <a:lnTo>
                  <a:pt x="1723976" y="377712"/>
                </a:lnTo>
                <a:lnTo>
                  <a:pt x="1738586" y="378044"/>
                </a:lnTo>
                <a:lnTo>
                  <a:pt x="1753196" y="378321"/>
                </a:lnTo>
                <a:lnTo>
                  <a:pt x="1767806" y="378551"/>
                </a:lnTo>
                <a:lnTo>
                  <a:pt x="1782416" y="378742"/>
                </a:lnTo>
                <a:lnTo>
                  <a:pt x="1797026" y="378898"/>
                </a:lnTo>
                <a:lnTo>
                  <a:pt x="1811636" y="379026"/>
                </a:lnTo>
                <a:lnTo>
                  <a:pt x="1826246" y="379130"/>
                </a:lnTo>
                <a:lnTo>
                  <a:pt x="1840856" y="379215"/>
                </a:lnTo>
                <a:lnTo>
                  <a:pt x="1855466" y="379282"/>
                </a:lnTo>
                <a:lnTo>
                  <a:pt x="1870076" y="379337"/>
                </a:lnTo>
                <a:lnTo>
                  <a:pt x="1884686" y="379380"/>
                </a:lnTo>
                <a:lnTo>
                  <a:pt x="1899296" y="379415"/>
                </a:lnTo>
                <a:lnTo>
                  <a:pt x="1913906" y="379442"/>
                </a:lnTo>
                <a:lnTo>
                  <a:pt x="1928516" y="379463"/>
                </a:lnTo>
                <a:lnTo>
                  <a:pt x="1943126" y="379480"/>
                </a:lnTo>
                <a:lnTo>
                  <a:pt x="1957736" y="379493"/>
                </a:lnTo>
                <a:lnTo>
                  <a:pt x="1972345" y="379503"/>
                </a:lnTo>
                <a:lnTo>
                  <a:pt x="1986955" y="379511"/>
                </a:lnTo>
                <a:lnTo>
                  <a:pt x="2001565" y="379517"/>
                </a:lnTo>
                <a:lnTo>
                  <a:pt x="2016175" y="379521"/>
                </a:lnTo>
                <a:lnTo>
                  <a:pt x="2030785" y="379525"/>
                </a:lnTo>
                <a:lnTo>
                  <a:pt x="2045395" y="379528"/>
                </a:lnTo>
                <a:lnTo>
                  <a:pt x="2060005" y="379529"/>
                </a:lnTo>
                <a:lnTo>
                  <a:pt x="2074615" y="379531"/>
                </a:lnTo>
                <a:lnTo>
                  <a:pt x="2089225" y="379532"/>
                </a:lnTo>
                <a:lnTo>
                  <a:pt x="2103835" y="379533"/>
                </a:lnTo>
                <a:lnTo>
                  <a:pt x="2118445" y="379533"/>
                </a:lnTo>
                <a:lnTo>
                  <a:pt x="2133055" y="379534"/>
                </a:lnTo>
                <a:lnTo>
                  <a:pt x="2147665" y="379534"/>
                </a:lnTo>
                <a:lnTo>
                  <a:pt x="2162275" y="379534"/>
                </a:lnTo>
                <a:lnTo>
                  <a:pt x="2176885" y="379535"/>
                </a:lnTo>
                <a:lnTo>
                  <a:pt x="2191495" y="379535"/>
                </a:lnTo>
                <a:lnTo>
                  <a:pt x="2206105" y="379535"/>
                </a:lnTo>
                <a:lnTo>
                  <a:pt x="2220715" y="379535"/>
                </a:lnTo>
                <a:lnTo>
                  <a:pt x="2235325" y="379535"/>
                </a:lnTo>
                <a:lnTo>
                  <a:pt x="2249935" y="379535"/>
                </a:lnTo>
                <a:lnTo>
                  <a:pt x="2264545" y="379535"/>
                </a:lnTo>
                <a:lnTo>
                  <a:pt x="2279155" y="379535"/>
                </a:lnTo>
                <a:lnTo>
                  <a:pt x="2293765" y="379535"/>
                </a:lnTo>
                <a:lnTo>
                  <a:pt x="2308375" y="379535"/>
                </a:lnTo>
                <a:lnTo>
                  <a:pt x="2322985" y="379535"/>
                </a:lnTo>
                <a:lnTo>
                  <a:pt x="2337595" y="379535"/>
                </a:lnTo>
                <a:lnTo>
                  <a:pt x="2352205" y="379535"/>
                </a:lnTo>
                <a:lnTo>
                  <a:pt x="2366815" y="379535"/>
                </a:lnTo>
                <a:lnTo>
                  <a:pt x="2381425" y="379535"/>
                </a:lnTo>
                <a:lnTo>
                  <a:pt x="2396035" y="379535"/>
                </a:lnTo>
                <a:lnTo>
                  <a:pt x="2410644" y="379535"/>
                </a:lnTo>
                <a:lnTo>
                  <a:pt x="2425254" y="379535"/>
                </a:lnTo>
                <a:lnTo>
                  <a:pt x="2439864" y="379535"/>
                </a:lnTo>
                <a:lnTo>
                  <a:pt x="2454474" y="379535"/>
                </a:lnTo>
                <a:lnTo>
                  <a:pt x="2469084" y="379535"/>
                </a:lnTo>
                <a:lnTo>
                  <a:pt x="2483694" y="379535"/>
                </a:lnTo>
                <a:lnTo>
                  <a:pt x="2498304" y="379535"/>
                </a:lnTo>
                <a:lnTo>
                  <a:pt x="2512914" y="379535"/>
                </a:lnTo>
                <a:lnTo>
                  <a:pt x="2527524" y="379535"/>
                </a:lnTo>
                <a:lnTo>
                  <a:pt x="2542134" y="379535"/>
                </a:lnTo>
                <a:lnTo>
                  <a:pt x="2556744" y="379535"/>
                </a:lnTo>
                <a:lnTo>
                  <a:pt x="2571354" y="379535"/>
                </a:lnTo>
                <a:lnTo>
                  <a:pt x="2585964" y="379535"/>
                </a:lnTo>
                <a:lnTo>
                  <a:pt x="2600574" y="379535"/>
                </a:lnTo>
                <a:lnTo>
                  <a:pt x="2615184" y="379535"/>
                </a:lnTo>
              </a:path>
            </a:pathLst>
          </a:custGeom>
          <a:noFill/>
          <a:ln w="222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wc1">
            <a:extLst>
              <a:ext uri="{FF2B5EF4-FFF2-40B4-BE49-F238E27FC236}">
                <a16:creationId xmlns:a16="http://schemas.microsoft.com/office/drawing/2014/main" id="{2BB4FA97-87FF-107E-2F95-9222B79D325A}"/>
              </a:ext>
            </a:extLst>
          </p:cNvPr>
          <p:cNvSpPr/>
          <p:nvPr/>
        </p:nvSpPr>
        <p:spPr>
          <a:xfrm>
            <a:off x="6983925" y="3292688"/>
            <a:ext cx="3631693" cy="1232088"/>
          </a:xfrm>
          <a:custGeom>
            <a:avLst/>
            <a:gdLst/>
            <a:ahLst/>
            <a:cxnLst/>
            <a:rect l="l" t="t" r="r" b="b"/>
            <a:pathLst>
              <a:path w="2615184" h="446262">
                <a:moveTo>
                  <a:pt x="0" y="444703"/>
                </a:moveTo>
                <a:lnTo>
                  <a:pt x="14610" y="444146"/>
                </a:lnTo>
                <a:lnTo>
                  <a:pt x="29220" y="443398"/>
                </a:lnTo>
                <a:lnTo>
                  <a:pt x="43830" y="442402"/>
                </a:lnTo>
                <a:lnTo>
                  <a:pt x="58440" y="441086"/>
                </a:lnTo>
                <a:lnTo>
                  <a:pt x="73050" y="439363"/>
                </a:lnTo>
                <a:lnTo>
                  <a:pt x="87660" y="437130"/>
                </a:lnTo>
                <a:lnTo>
                  <a:pt x="102270" y="434263"/>
                </a:lnTo>
                <a:lnTo>
                  <a:pt x="116880" y="430623"/>
                </a:lnTo>
                <a:lnTo>
                  <a:pt x="131490" y="426052"/>
                </a:lnTo>
                <a:lnTo>
                  <a:pt x="146100" y="420378"/>
                </a:lnTo>
                <a:lnTo>
                  <a:pt x="160710" y="413419"/>
                </a:lnTo>
                <a:lnTo>
                  <a:pt x="175320" y="404989"/>
                </a:lnTo>
                <a:lnTo>
                  <a:pt x="189930" y="394905"/>
                </a:lnTo>
                <a:lnTo>
                  <a:pt x="204540" y="382999"/>
                </a:lnTo>
                <a:lnTo>
                  <a:pt x="219149" y="369128"/>
                </a:lnTo>
                <a:lnTo>
                  <a:pt x="233759" y="353191"/>
                </a:lnTo>
                <a:lnTo>
                  <a:pt x="248369" y="335135"/>
                </a:lnTo>
                <a:lnTo>
                  <a:pt x="262979" y="314976"/>
                </a:lnTo>
                <a:lnTo>
                  <a:pt x="277589" y="292808"/>
                </a:lnTo>
                <a:lnTo>
                  <a:pt x="292199" y="268811"/>
                </a:lnTo>
                <a:lnTo>
                  <a:pt x="306809" y="243256"/>
                </a:lnTo>
                <a:lnTo>
                  <a:pt x="321419" y="216510"/>
                </a:lnTo>
                <a:lnTo>
                  <a:pt x="336029" y="189026"/>
                </a:lnTo>
                <a:lnTo>
                  <a:pt x="350639" y="161335"/>
                </a:lnTo>
                <a:lnTo>
                  <a:pt x="365249" y="134030"/>
                </a:lnTo>
                <a:lnTo>
                  <a:pt x="379859" y="107740"/>
                </a:lnTo>
                <a:lnTo>
                  <a:pt x="394469" y="83107"/>
                </a:lnTo>
                <a:lnTo>
                  <a:pt x="409079" y="60755"/>
                </a:lnTo>
                <a:lnTo>
                  <a:pt x="423689" y="41258"/>
                </a:lnTo>
                <a:lnTo>
                  <a:pt x="438299" y="25115"/>
                </a:lnTo>
                <a:lnTo>
                  <a:pt x="452909" y="12719"/>
                </a:lnTo>
                <a:lnTo>
                  <a:pt x="467519" y="4339"/>
                </a:lnTo>
                <a:lnTo>
                  <a:pt x="482129" y="104"/>
                </a:lnTo>
                <a:lnTo>
                  <a:pt x="496739" y="0"/>
                </a:lnTo>
                <a:lnTo>
                  <a:pt x="511349" y="3868"/>
                </a:lnTo>
                <a:lnTo>
                  <a:pt x="525959" y="11417"/>
                </a:lnTo>
                <a:lnTo>
                  <a:pt x="540569" y="22245"/>
                </a:lnTo>
                <a:lnTo>
                  <a:pt x="555179" y="35855"/>
                </a:lnTo>
                <a:lnTo>
                  <a:pt x="569789" y="51693"/>
                </a:lnTo>
                <a:lnTo>
                  <a:pt x="584399" y="69168"/>
                </a:lnTo>
                <a:lnTo>
                  <a:pt x="599009" y="87691"/>
                </a:lnTo>
                <a:lnTo>
                  <a:pt x="613619" y="106696"/>
                </a:lnTo>
                <a:lnTo>
                  <a:pt x="628229" y="125667"/>
                </a:lnTo>
                <a:lnTo>
                  <a:pt x="642839" y="144158"/>
                </a:lnTo>
                <a:lnTo>
                  <a:pt x="657448" y="161803"/>
                </a:lnTo>
                <a:lnTo>
                  <a:pt x="672058" y="178326"/>
                </a:lnTo>
                <a:lnTo>
                  <a:pt x="686668" y="193539"/>
                </a:lnTo>
                <a:lnTo>
                  <a:pt x="701278" y="207342"/>
                </a:lnTo>
                <a:lnTo>
                  <a:pt x="715888" y="219709"/>
                </a:lnTo>
                <a:lnTo>
                  <a:pt x="730498" y="230685"/>
                </a:lnTo>
                <a:lnTo>
                  <a:pt x="745108" y="240364"/>
                </a:lnTo>
                <a:lnTo>
                  <a:pt x="759718" y="248882"/>
                </a:lnTo>
                <a:lnTo>
                  <a:pt x="774328" y="256399"/>
                </a:lnTo>
                <a:lnTo>
                  <a:pt x="788938" y="263087"/>
                </a:lnTo>
                <a:lnTo>
                  <a:pt x="803548" y="269123"/>
                </a:lnTo>
                <a:lnTo>
                  <a:pt x="818158" y="274673"/>
                </a:lnTo>
                <a:lnTo>
                  <a:pt x="832768" y="279893"/>
                </a:lnTo>
                <a:lnTo>
                  <a:pt x="847378" y="284917"/>
                </a:lnTo>
                <a:lnTo>
                  <a:pt x="861988" y="289859"/>
                </a:lnTo>
                <a:lnTo>
                  <a:pt x="876598" y="294810"/>
                </a:lnTo>
                <a:lnTo>
                  <a:pt x="891208" y="299838"/>
                </a:lnTo>
                <a:lnTo>
                  <a:pt x="905818" y="304989"/>
                </a:lnTo>
                <a:lnTo>
                  <a:pt x="920428" y="310291"/>
                </a:lnTo>
                <a:lnTo>
                  <a:pt x="935038" y="315754"/>
                </a:lnTo>
                <a:lnTo>
                  <a:pt x="949648" y="321374"/>
                </a:lnTo>
                <a:lnTo>
                  <a:pt x="964258" y="327135"/>
                </a:lnTo>
                <a:lnTo>
                  <a:pt x="978868" y="333013"/>
                </a:lnTo>
                <a:lnTo>
                  <a:pt x="993478" y="338977"/>
                </a:lnTo>
                <a:lnTo>
                  <a:pt x="1008088" y="344991"/>
                </a:lnTo>
                <a:lnTo>
                  <a:pt x="1022698" y="351017"/>
                </a:lnTo>
                <a:lnTo>
                  <a:pt x="1037308" y="357016"/>
                </a:lnTo>
                <a:lnTo>
                  <a:pt x="1051918" y="362951"/>
                </a:lnTo>
                <a:lnTo>
                  <a:pt x="1066528" y="368785"/>
                </a:lnTo>
                <a:lnTo>
                  <a:pt x="1081138" y="374484"/>
                </a:lnTo>
                <a:lnTo>
                  <a:pt x="1095747" y="380017"/>
                </a:lnTo>
                <a:lnTo>
                  <a:pt x="1110357" y="385357"/>
                </a:lnTo>
                <a:lnTo>
                  <a:pt x="1124967" y="390481"/>
                </a:lnTo>
                <a:lnTo>
                  <a:pt x="1139577" y="395370"/>
                </a:lnTo>
                <a:lnTo>
                  <a:pt x="1154187" y="400009"/>
                </a:lnTo>
                <a:lnTo>
                  <a:pt x="1168797" y="404386"/>
                </a:lnTo>
                <a:lnTo>
                  <a:pt x="1183407" y="408495"/>
                </a:lnTo>
                <a:lnTo>
                  <a:pt x="1198017" y="412331"/>
                </a:lnTo>
                <a:lnTo>
                  <a:pt x="1212627" y="415895"/>
                </a:lnTo>
                <a:lnTo>
                  <a:pt x="1227237" y="419189"/>
                </a:lnTo>
                <a:lnTo>
                  <a:pt x="1241847" y="422219"/>
                </a:lnTo>
                <a:lnTo>
                  <a:pt x="1256457" y="424991"/>
                </a:lnTo>
                <a:lnTo>
                  <a:pt x="1271067" y="427517"/>
                </a:lnTo>
                <a:lnTo>
                  <a:pt x="1285677" y="429806"/>
                </a:lnTo>
                <a:lnTo>
                  <a:pt x="1300287" y="431871"/>
                </a:lnTo>
                <a:lnTo>
                  <a:pt x="1314897" y="433725"/>
                </a:lnTo>
                <a:lnTo>
                  <a:pt x="1329507" y="435382"/>
                </a:lnTo>
                <a:lnTo>
                  <a:pt x="1344117" y="436857"/>
                </a:lnTo>
                <a:lnTo>
                  <a:pt x="1358727" y="438163"/>
                </a:lnTo>
                <a:lnTo>
                  <a:pt x="1373337" y="439314"/>
                </a:lnTo>
                <a:lnTo>
                  <a:pt x="1387947" y="440325"/>
                </a:lnTo>
                <a:lnTo>
                  <a:pt x="1402557" y="441208"/>
                </a:lnTo>
                <a:lnTo>
                  <a:pt x="1417167" y="441977"/>
                </a:lnTo>
                <a:lnTo>
                  <a:pt x="1431777" y="442642"/>
                </a:lnTo>
                <a:lnTo>
                  <a:pt x="1446387" y="443216"/>
                </a:lnTo>
                <a:lnTo>
                  <a:pt x="1460997" y="443709"/>
                </a:lnTo>
                <a:lnTo>
                  <a:pt x="1475607" y="444130"/>
                </a:lnTo>
                <a:lnTo>
                  <a:pt x="1490217" y="444489"/>
                </a:lnTo>
                <a:lnTo>
                  <a:pt x="1504827" y="444793"/>
                </a:lnTo>
                <a:lnTo>
                  <a:pt x="1519437" y="445049"/>
                </a:lnTo>
                <a:lnTo>
                  <a:pt x="1534046" y="445265"/>
                </a:lnTo>
                <a:lnTo>
                  <a:pt x="1548656" y="445445"/>
                </a:lnTo>
                <a:lnTo>
                  <a:pt x="1563266" y="445596"/>
                </a:lnTo>
                <a:lnTo>
                  <a:pt x="1577876" y="445720"/>
                </a:lnTo>
                <a:lnTo>
                  <a:pt x="1592486" y="445823"/>
                </a:lnTo>
                <a:lnTo>
                  <a:pt x="1607096" y="445908"/>
                </a:lnTo>
                <a:lnTo>
                  <a:pt x="1621706" y="445978"/>
                </a:lnTo>
                <a:lnTo>
                  <a:pt x="1636316" y="446035"/>
                </a:lnTo>
                <a:lnTo>
                  <a:pt x="1650926" y="446081"/>
                </a:lnTo>
                <a:lnTo>
                  <a:pt x="1665536" y="446118"/>
                </a:lnTo>
                <a:lnTo>
                  <a:pt x="1680146" y="446148"/>
                </a:lnTo>
                <a:lnTo>
                  <a:pt x="1694756" y="446172"/>
                </a:lnTo>
                <a:lnTo>
                  <a:pt x="1709366" y="446192"/>
                </a:lnTo>
                <a:lnTo>
                  <a:pt x="1723976" y="446207"/>
                </a:lnTo>
                <a:lnTo>
                  <a:pt x="1738586" y="446219"/>
                </a:lnTo>
                <a:lnTo>
                  <a:pt x="1753196" y="446229"/>
                </a:lnTo>
                <a:lnTo>
                  <a:pt x="1767806" y="446236"/>
                </a:lnTo>
                <a:lnTo>
                  <a:pt x="1782416" y="446242"/>
                </a:lnTo>
                <a:lnTo>
                  <a:pt x="1797026" y="446247"/>
                </a:lnTo>
                <a:lnTo>
                  <a:pt x="1811636" y="446250"/>
                </a:lnTo>
                <a:lnTo>
                  <a:pt x="1826246" y="446253"/>
                </a:lnTo>
                <a:lnTo>
                  <a:pt x="1840856" y="446255"/>
                </a:lnTo>
                <a:lnTo>
                  <a:pt x="1855466" y="446257"/>
                </a:lnTo>
                <a:lnTo>
                  <a:pt x="1870076" y="446258"/>
                </a:lnTo>
                <a:lnTo>
                  <a:pt x="1884686" y="446259"/>
                </a:lnTo>
                <a:lnTo>
                  <a:pt x="1899296" y="446260"/>
                </a:lnTo>
                <a:lnTo>
                  <a:pt x="1913906" y="446260"/>
                </a:lnTo>
                <a:lnTo>
                  <a:pt x="1928516" y="446261"/>
                </a:lnTo>
                <a:lnTo>
                  <a:pt x="1943126" y="446261"/>
                </a:lnTo>
                <a:lnTo>
                  <a:pt x="1957736" y="446261"/>
                </a:lnTo>
                <a:lnTo>
                  <a:pt x="1972345" y="446262"/>
                </a:lnTo>
                <a:lnTo>
                  <a:pt x="1986955" y="446262"/>
                </a:lnTo>
                <a:lnTo>
                  <a:pt x="2001565" y="446262"/>
                </a:lnTo>
                <a:lnTo>
                  <a:pt x="2016175" y="446262"/>
                </a:lnTo>
                <a:lnTo>
                  <a:pt x="2030785" y="446262"/>
                </a:lnTo>
                <a:lnTo>
                  <a:pt x="2045395" y="446262"/>
                </a:lnTo>
                <a:lnTo>
                  <a:pt x="2060005" y="446262"/>
                </a:lnTo>
                <a:lnTo>
                  <a:pt x="2074615" y="446262"/>
                </a:lnTo>
                <a:lnTo>
                  <a:pt x="2089225" y="446262"/>
                </a:lnTo>
                <a:lnTo>
                  <a:pt x="2103835" y="446262"/>
                </a:lnTo>
                <a:lnTo>
                  <a:pt x="2118445" y="446262"/>
                </a:lnTo>
                <a:lnTo>
                  <a:pt x="2133055" y="446262"/>
                </a:lnTo>
                <a:lnTo>
                  <a:pt x="2147665" y="446262"/>
                </a:lnTo>
                <a:lnTo>
                  <a:pt x="2162275" y="446262"/>
                </a:lnTo>
                <a:lnTo>
                  <a:pt x="2176885" y="446262"/>
                </a:lnTo>
                <a:lnTo>
                  <a:pt x="2191495" y="446262"/>
                </a:lnTo>
                <a:lnTo>
                  <a:pt x="2206105" y="446262"/>
                </a:lnTo>
                <a:lnTo>
                  <a:pt x="2220715" y="446262"/>
                </a:lnTo>
                <a:lnTo>
                  <a:pt x="2235325" y="446262"/>
                </a:lnTo>
                <a:lnTo>
                  <a:pt x="2249935" y="446262"/>
                </a:lnTo>
                <a:lnTo>
                  <a:pt x="2264545" y="446262"/>
                </a:lnTo>
                <a:lnTo>
                  <a:pt x="2279155" y="446262"/>
                </a:lnTo>
                <a:lnTo>
                  <a:pt x="2293765" y="446262"/>
                </a:lnTo>
                <a:lnTo>
                  <a:pt x="2308375" y="446262"/>
                </a:lnTo>
                <a:lnTo>
                  <a:pt x="2322985" y="446262"/>
                </a:lnTo>
                <a:lnTo>
                  <a:pt x="2337595" y="446262"/>
                </a:lnTo>
                <a:lnTo>
                  <a:pt x="2352205" y="446262"/>
                </a:lnTo>
                <a:lnTo>
                  <a:pt x="2366815" y="446262"/>
                </a:lnTo>
                <a:lnTo>
                  <a:pt x="2381425" y="446262"/>
                </a:lnTo>
                <a:lnTo>
                  <a:pt x="2396035" y="446262"/>
                </a:lnTo>
                <a:lnTo>
                  <a:pt x="2410644" y="446262"/>
                </a:lnTo>
                <a:lnTo>
                  <a:pt x="2425254" y="446262"/>
                </a:lnTo>
                <a:lnTo>
                  <a:pt x="2439864" y="446262"/>
                </a:lnTo>
                <a:lnTo>
                  <a:pt x="2454474" y="446262"/>
                </a:lnTo>
                <a:lnTo>
                  <a:pt x="2469084" y="446262"/>
                </a:lnTo>
                <a:lnTo>
                  <a:pt x="2483694" y="446262"/>
                </a:lnTo>
                <a:lnTo>
                  <a:pt x="2498304" y="446262"/>
                </a:lnTo>
                <a:lnTo>
                  <a:pt x="2512914" y="446262"/>
                </a:lnTo>
                <a:lnTo>
                  <a:pt x="2527524" y="446262"/>
                </a:lnTo>
                <a:lnTo>
                  <a:pt x="2542134" y="446262"/>
                </a:lnTo>
                <a:lnTo>
                  <a:pt x="2556744" y="446262"/>
                </a:lnTo>
                <a:lnTo>
                  <a:pt x="2571354" y="446262"/>
                </a:lnTo>
                <a:lnTo>
                  <a:pt x="2585964" y="446262"/>
                </a:lnTo>
                <a:lnTo>
                  <a:pt x="2600574" y="446262"/>
                </a:lnTo>
                <a:lnTo>
                  <a:pt x="2615184" y="446262"/>
                </a:lnTo>
              </a:path>
            </a:pathLst>
          </a:custGeom>
          <a:no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6" name="直線矢印コネクタ 25">
            <a:extLst>
              <a:ext uri="{FF2B5EF4-FFF2-40B4-BE49-F238E27FC236}">
                <a16:creationId xmlns:a16="http://schemas.microsoft.com/office/drawing/2014/main" id="{CA38BEE4-D78D-B817-8A1F-D75E0268A536}"/>
              </a:ext>
            </a:extLst>
          </p:cNvPr>
          <p:cNvCxnSpPr/>
          <p:nvPr/>
        </p:nvCxnSpPr>
        <p:spPr>
          <a:xfrm flipH="1">
            <a:off x="8015293" y="3829050"/>
            <a:ext cx="485775" cy="0"/>
          </a:xfrm>
          <a:prstGeom prst="straightConnector1">
            <a:avLst/>
          </a:prstGeom>
          <a:ln w="381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4">
            <a:extLst>
              <a:ext uri="{FF2B5EF4-FFF2-40B4-BE49-F238E27FC236}">
                <a16:creationId xmlns:a16="http://schemas.microsoft.com/office/drawing/2014/main" id="{AA9D36CE-3772-F005-B54C-9329ADA7F086}"/>
              </a:ext>
            </a:extLst>
          </p:cNvPr>
          <p:cNvSpPr/>
          <p:nvPr/>
        </p:nvSpPr>
        <p:spPr>
          <a:xfrm>
            <a:off x="953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216461338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3.1. Stiffness Index</a:t>
            </a:r>
          </a:p>
        </p:txBody>
      </p:sp>
      <p:pic>
        <p:nvPicPr>
          <p:cNvPr id="18" name="fig_si" descr="f51_si.png"/>
          <p:cNvPicPr>
            <a:picLocks noChangeAspect="1"/>
          </p:cNvPicPr>
          <p:nvPr/>
        </p:nvPicPr>
        <p:blipFill>
          <a:blip r:embed="rId3"/>
          <a:stretch>
            <a:fillRect/>
          </a:stretch>
        </p:blipFill>
        <p:spPr>
          <a:xfrm>
            <a:off x="2340000" y="1872000"/>
            <a:ext cx="7521787" cy="3600000"/>
          </a:xfrm>
          <a:prstGeom prst="rect">
            <a:avLst/>
          </a:prstGeom>
        </p:spPr>
      </p:pic>
      <p:sp>
        <p:nvSpPr>
          <p:cNvPr id="19" name="TextBox 18"/>
          <p:cNvSpPr txBox="1"/>
          <p:nvPr/>
        </p:nvSpPr>
        <p:spPr>
          <a:xfrm>
            <a:off x="1584000" y="2052000"/>
            <a:ext cx="2160000" cy="378000"/>
          </a:xfrm>
          <a:prstGeom prst="rect">
            <a:avLst/>
          </a:prstGeom>
          <a:noFill/>
        </p:spPr>
        <p:txBody>
          <a:bodyPr wrap="none" lIns="0" tIns="0" rIns="0" bIns="0" anchor="ctr">
            <a:spAutoFit/>
          </a:bodyPr>
          <a:lstStyle/>
          <a:p>
            <a:pPr algn="r">
              <a:spcBef>
                <a:spcPts val="0"/>
              </a:spcBef>
              <a:spcAft>
                <a:spcPts val="0"/>
              </a:spcAft>
            </a:pPr>
            <a:r>
              <a:rPr sz="2200" b="1">
                <a:solidFill>
                  <a:srgbClr val="0072B2"/>
                </a:solidFill>
                <a:latin typeface="Meiryo"/>
                <a:ea typeface="Meiryo"/>
                <a:cs typeface="Meiryo"/>
              </a:rPr>
              <a:t>P1（前進波）</a:t>
            </a:r>
          </a:p>
        </p:txBody>
      </p:sp>
      <p:sp>
        <p:nvSpPr>
          <p:cNvPr id="20" name="TextBox 19"/>
          <p:cNvSpPr txBox="1"/>
          <p:nvPr/>
        </p:nvSpPr>
        <p:spPr>
          <a:xfrm>
            <a:off x="7632000" y="2412000"/>
            <a:ext cx="2520000" cy="378000"/>
          </a:xfrm>
          <a:prstGeom prst="rect">
            <a:avLst/>
          </a:prstGeom>
          <a:noFill/>
        </p:spPr>
        <p:txBody>
          <a:bodyPr wrap="none" lIns="0" tIns="0" rIns="0" bIns="0" anchor="ctr">
            <a:spAutoFit/>
          </a:bodyPr>
          <a:lstStyle/>
          <a:p>
            <a:pPr algn="l">
              <a:spcBef>
                <a:spcPts val="0"/>
              </a:spcBef>
              <a:spcAft>
                <a:spcPts val="0"/>
              </a:spcAft>
            </a:pPr>
            <a:r>
              <a:rPr sz="2200" b="1">
                <a:solidFill>
                  <a:srgbClr val="D55E00"/>
                </a:solidFill>
                <a:latin typeface="Meiryo"/>
                <a:ea typeface="Meiryo"/>
                <a:cs typeface="Meiryo"/>
              </a:rPr>
              <a:t>P2（反射波）</a:t>
            </a:r>
          </a:p>
        </p:txBody>
      </p:sp>
      <p:sp>
        <p:nvSpPr>
          <p:cNvPr id="21" name="TextBox 20"/>
          <p:cNvSpPr txBox="1"/>
          <p:nvPr/>
        </p:nvSpPr>
        <p:spPr>
          <a:xfrm>
            <a:off x="5112000" y="5004000"/>
            <a:ext cx="1152000" cy="378000"/>
          </a:xfrm>
          <a:prstGeom prst="rect">
            <a:avLst/>
          </a:prstGeom>
          <a:noFill/>
        </p:spPr>
        <p:txBody>
          <a:bodyPr wrap="none" lIns="0" tIns="0" rIns="0" bIns="0" anchor="ctr">
            <a:spAutoFit/>
          </a:bodyPr>
          <a:lstStyle/>
          <a:p>
            <a:pPr algn="ctr">
              <a:spcBef>
                <a:spcPts val="0"/>
              </a:spcBef>
              <a:spcAft>
                <a:spcPts val="0"/>
              </a:spcAft>
            </a:pPr>
            <a:r>
              <a:rPr sz="2400" b="1">
                <a:solidFill>
                  <a:srgbClr val="BF9000"/>
                </a:solidFill>
                <a:latin typeface="Meiryo"/>
                <a:ea typeface="Meiryo"/>
                <a:cs typeface="Meiryo"/>
              </a:rPr>
              <a:t>ΔT</a:t>
            </a:r>
          </a:p>
        </p:txBody>
      </p:sp>
      <p:sp>
        <p:nvSpPr>
          <p:cNvPr id="22" name="Rounded Rectangle 21"/>
          <p:cNvSpPr/>
          <p:nvPr/>
        </p:nvSpPr>
        <p:spPr>
          <a:xfrm>
            <a:off x="2340000" y="5616000"/>
            <a:ext cx="7523999" cy="90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sz="2600" b="1" dirty="0">
                <a:solidFill>
                  <a:srgbClr val="262626"/>
                </a:solidFill>
                <a:latin typeface="Meiryo"/>
                <a:ea typeface="Meiryo"/>
                <a:cs typeface="Meiryo"/>
              </a:rPr>
              <a:t>S</a:t>
            </a:r>
            <a:r>
              <a:rPr lang="en-US" sz="2600" b="1" dirty="0">
                <a:solidFill>
                  <a:srgbClr val="262626"/>
                </a:solidFill>
                <a:latin typeface="Meiryo"/>
                <a:ea typeface="Meiryo"/>
                <a:cs typeface="Meiryo"/>
              </a:rPr>
              <a:t>tiffness </a:t>
            </a:r>
            <a:r>
              <a:rPr sz="2600" b="1" dirty="0">
                <a:solidFill>
                  <a:srgbClr val="262626"/>
                </a:solidFill>
                <a:latin typeface="Meiryo"/>
                <a:ea typeface="Meiryo"/>
                <a:cs typeface="Meiryo"/>
              </a:rPr>
              <a:t>I</a:t>
            </a:r>
            <a:r>
              <a:rPr lang="en-US" sz="2600" b="1" dirty="0">
                <a:solidFill>
                  <a:srgbClr val="262626"/>
                </a:solidFill>
                <a:latin typeface="Meiryo"/>
                <a:ea typeface="Meiryo"/>
                <a:cs typeface="Meiryo"/>
              </a:rPr>
              <a:t>ndex (SI)</a:t>
            </a:r>
            <a:r>
              <a:rPr sz="2600" b="1" dirty="0">
                <a:solidFill>
                  <a:srgbClr val="262626"/>
                </a:solidFill>
                <a:latin typeface="Meiryo"/>
                <a:ea typeface="Meiryo"/>
                <a:cs typeface="Meiryo"/>
              </a:rPr>
              <a:t> ＝ </a:t>
            </a:r>
            <a:r>
              <a:rPr sz="2600" b="1" dirty="0" err="1">
                <a:solidFill>
                  <a:srgbClr val="262626"/>
                </a:solidFill>
                <a:latin typeface="Meiryo"/>
                <a:ea typeface="Meiryo"/>
                <a:cs typeface="Meiryo"/>
              </a:rPr>
              <a:t>身長</a:t>
            </a:r>
            <a:r>
              <a:rPr sz="2600" b="1" dirty="0">
                <a:solidFill>
                  <a:srgbClr val="262626"/>
                </a:solidFill>
                <a:latin typeface="Meiryo"/>
                <a:ea typeface="Meiryo"/>
                <a:cs typeface="Meiryo"/>
              </a:rPr>
              <a:t> ÷ ΔT</a:t>
            </a:r>
          </a:p>
          <a:p>
            <a:pPr algn="ctr">
              <a:spcBef>
                <a:spcPts val="0"/>
              </a:spcBef>
              <a:spcAft>
                <a:spcPts val="0"/>
              </a:spcAft>
            </a:pPr>
            <a:r>
              <a:rPr sz="2200" b="1" dirty="0" err="1">
                <a:solidFill>
                  <a:srgbClr val="262626"/>
                </a:solidFill>
                <a:latin typeface="Meiryo"/>
                <a:ea typeface="Meiryo"/>
                <a:cs typeface="Meiryo"/>
              </a:rPr>
              <a:t>大動脈の硬さを反映。</a:t>
            </a:r>
            <a:endParaRPr sz="2200" b="1" dirty="0">
              <a:solidFill>
                <a:srgbClr val="262626"/>
              </a:solidFill>
              <a:latin typeface="Meiryo"/>
              <a:ea typeface="Meiryo"/>
              <a:cs typeface="Meiryo"/>
            </a:endParaRPr>
          </a:p>
        </p:txBody>
      </p:sp>
      <p:sp>
        <p:nvSpPr>
          <p:cNvPr id="2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a:t>
            </a:r>
          </a:p>
        </p:txBody>
      </p:sp>
      <p:sp>
        <p:nvSpPr>
          <p:cNvPr id="2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53/118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4">
            <a:extLst>
              <a:ext uri="{FF2B5EF4-FFF2-40B4-BE49-F238E27FC236}">
                <a16:creationId xmlns:a16="http://schemas.microsoft.com/office/drawing/2014/main" id="{AA9D36CE-3772-F005-B54C-9329ADA7F086}"/>
              </a:ext>
            </a:extLst>
          </p:cNvPr>
          <p:cNvSpPr/>
          <p:nvPr/>
        </p:nvSpPr>
        <p:spPr>
          <a:xfrm>
            <a:off x="953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AFA238-20C4-7D4C-7799-A9FB3EC89AEC}"/>
            </a:ext>
          </a:extLst>
        </p:cNvPr>
        <p:cNvGrpSpPr/>
        <p:nvPr/>
      </p:nvGrpSpPr>
      <p:grpSpPr>
        <a:xfrm>
          <a:off x="0" y="0"/>
          <a:ext cx="0" cy="0"/>
          <a:chOff x="0" y="0"/>
          <a:chExt cx="0" cy="0"/>
        </a:xfrm>
      </p:grpSpPr>
      <p:sp>
        <p:nvSpPr>
          <p:cNvPr id="7" name="Rounded Rectangle 44">
            <a:extLst>
              <a:ext uri="{FF2B5EF4-FFF2-40B4-BE49-F238E27FC236}">
                <a16:creationId xmlns:a16="http://schemas.microsoft.com/office/drawing/2014/main" id="{0B0DCD7B-A83C-5BAE-701D-3DC9824DC0F5}"/>
              </a:ext>
            </a:extLst>
          </p:cNvPr>
          <p:cNvSpPr/>
          <p:nvPr/>
        </p:nvSpPr>
        <p:spPr>
          <a:xfrm>
            <a:off x="6613991" y="2657475"/>
            <a:ext cx="4297680" cy="2453936"/>
          </a:xfrm>
          <a:prstGeom prst="roundRect">
            <a:avLst/>
          </a:prstGeom>
          <a:solidFill>
            <a:srgbClr val="F2F2F2"/>
          </a:solidFill>
          <a:ln w="28575">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a:extLst>
              <a:ext uri="{FF2B5EF4-FFF2-40B4-BE49-F238E27FC236}">
                <a16:creationId xmlns:a16="http://schemas.microsoft.com/office/drawing/2014/main" id="{55AF5D0B-40AF-A2F0-0DD2-80CC350F3BD0}"/>
              </a:ext>
            </a:extLst>
          </p:cNvPr>
          <p:cNvSpPr>
            <a:spLocks noGrp="1"/>
          </p:cNvSpPr>
          <p:nvPr>
            <p:ph type="title"/>
          </p:nvPr>
        </p:nvSpPr>
        <p:spPr/>
        <p:txBody>
          <a:bodyPr/>
          <a:lstStyle/>
          <a:p>
            <a:pPr algn="l"/>
            <a:r>
              <a:rPr sz="4600" dirty="0">
                <a:latin typeface="Meiryo"/>
                <a:ea typeface="Meiryo"/>
                <a:cs typeface="Meiryo"/>
              </a:rPr>
              <a:t>3.1. Stiffness Index</a:t>
            </a:r>
          </a:p>
        </p:txBody>
      </p:sp>
      <p:pic>
        <p:nvPicPr>
          <p:cNvPr id="3" name="図 2">
            <a:extLst>
              <a:ext uri="{FF2B5EF4-FFF2-40B4-BE49-F238E27FC236}">
                <a16:creationId xmlns:a16="http://schemas.microsoft.com/office/drawing/2014/main" id="{F685F716-4BEB-6267-1B6E-136F25AE4C48}"/>
              </a:ext>
            </a:extLst>
          </p:cNvPr>
          <p:cNvPicPr>
            <a:picLocks noChangeAspect="1"/>
          </p:cNvPicPr>
          <p:nvPr/>
        </p:nvPicPr>
        <p:blipFill>
          <a:blip r:embed="rId3"/>
          <a:srcRect r="52357"/>
          <a:stretch>
            <a:fillRect/>
          </a:stretch>
        </p:blipFill>
        <p:spPr>
          <a:xfrm>
            <a:off x="741476" y="1700213"/>
            <a:ext cx="4686300" cy="4400448"/>
          </a:xfrm>
          <a:prstGeom prst="rect">
            <a:avLst/>
          </a:prstGeom>
        </p:spPr>
      </p:pic>
      <p:sp>
        <p:nvSpPr>
          <p:cNvPr id="4" name="テキスト ボックス 3">
            <a:extLst>
              <a:ext uri="{FF2B5EF4-FFF2-40B4-BE49-F238E27FC236}">
                <a16:creationId xmlns:a16="http://schemas.microsoft.com/office/drawing/2014/main" id="{3EE5EB3D-2DE0-7C24-5AD3-67C9530F495F}"/>
              </a:ext>
            </a:extLst>
          </p:cNvPr>
          <p:cNvSpPr txBox="1"/>
          <p:nvPr/>
        </p:nvSpPr>
        <p:spPr>
          <a:xfrm>
            <a:off x="6909208" y="2002868"/>
            <a:ext cx="3945311" cy="3108543"/>
          </a:xfrm>
          <a:prstGeom prst="rect">
            <a:avLst/>
          </a:prstGeom>
          <a:noFill/>
        </p:spPr>
        <p:txBody>
          <a:bodyPr wrap="none" rtlCol="0">
            <a:spAutoFit/>
          </a:bodyPr>
          <a:lstStyle/>
          <a:p>
            <a:r>
              <a:rPr lang="ja-JP" altLang="en-US" sz="2800"/>
              <a:t>健常成人</a:t>
            </a:r>
            <a:r>
              <a:rPr lang="en-US" altLang="ja-JP" sz="2800" dirty="0"/>
              <a:t>87</a:t>
            </a:r>
            <a:r>
              <a:rPr lang="ja-JP" altLang="en-US" sz="2800"/>
              <a:t>人で計測。</a:t>
            </a:r>
            <a:endParaRPr lang="en-US" altLang="ja-JP" sz="2800" dirty="0"/>
          </a:p>
          <a:p>
            <a:endParaRPr lang="en-US" altLang="ja-JP" sz="2800" dirty="0"/>
          </a:p>
          <a:p>
            <a:r>
              <a:rPr lang="ja-JP" altLang="ja-JP" sz="2800" b="1"/>
              <a:t>SI</a:t>
            </a:r>
            <a:r>
              <a:rPr lang="ja-JP" altLang="en-US" sz="2800" b="1"/>
              <a:t>と</a:t>
            </a:r>
            <a:r>
              <a:rPr lang="ja-JP" altLang="ja-JP" sz="2800" b="1"/>
              <a:t>年齢</a:t>
            </a:r>
            <a:r>
              <a:rPr lang="ja-JP" altLang="en-US" sz="2800" b="1"/>
              <a:t>　</a:t>
            </a:r>
            <a:endParaRPr lang="en-US" altLang="ja-JP" sz="2800" b="1" dirty="0"/>
          </a:p>
          <a:p>
            <a:r>
              <a:rPr lang="en-US" altLang="ja-JP" sz="2800" dirty="0"/>
              <a:t>	</a:t>
            </a:r>
            <a:r>
              <a:rPr lang="ja-JP" altLang="ja-JP" sz="2800"/>
              <a:t>r = 0.67、P&lt;0.0001</a:t>
            </a:r>
            <a:endParaRPr lang="en-US" altLang="ja-JP" sz="2800" dirty="0"/>
          </a:p>
          <a:p>
            <a:endParaRPr lang="en-US" altLang="ja-JP" sz="2800" dirty="0"/>
          </a:p>
          <a:p>
            <a:r>
              <a:rPr lang="en-US" altLang="ja-JP" sz="2800" b="1" dirty="0"/>
              <a:t>S</a:t>
            </a:r>
            <a:r>
              <a:rPr lang="ja-JP" altLang="ja-JP" sz="2800" b="1"/>
              <a:t>I</a:t>
            </a:r>
            <a:r>
              <a:rPr lang="ja-JP" altLang="en-US" sz="2800" b="1"/>
              <a:t>と</a:t>
            </a:r>
            <a:r>
              <a:rPr lang="ja-JP" altLang="ja-JP" sz="2800" b="1"/>
              <a:t> PWVcf </a:t>
            </a:r>
            <a:r>
              <a:rPr lang="ja-JP" altLang="en-US" sz="2800" b="1"/>
              <a:t>　</a:t>
            </a:r>
            <a:endParaRPr lang="en-US" altLang="ja-JP" sz="2800" b="1" dirty="0"/>
          </a:p>
          <a:p>
            <a:r>
              <a:rPr lang="en-US" altLang="ja-JP" sz="2800" dirty="0"/>
              <a:t>	</a:t>
            </a:r>
            <a:r>
              <a:rPr lang="ja-JP" altLang="ja-JP" sz="2800"/>
              <a:t>r =0.65、P&lt;0.0001</a:t>
            </a:r>
            <a:endParaRPr lang="en-US" altLang="ja-JP" sz="2800" dirty="0"/>
          </a:p>
        </p:txBody>
      </p:sp>
      <p:sp>
        <p:nvSpPr>
          <p:cNvPr id="5" name="テキスト ボックス 4">
            <a:extLst>
              <a:ext uri="{FF2B5EF4-FFF2-40B4-BE49-F238E27FC236}">
                <a16:creationId xmlns:a16="http://schemas.microsoft.com/office/drawing/2014/main" id="{25577C28-11A3-C308-D54B-DDC1AEC1FCB2}"/>
              </a:ext>
            </a:extLst>
          </p:cNvPr>
          <p:cNvSpPr txBox="1"/>
          <p:nvPr/>
        </p:nvSpPr>
        <p:spPr>
          <a:xfrm>
            <a:off x="838200" y="6044593"/>
            <a:ext cx="4600105" cy="400110"/>
          </a:xfrm>
          <a:prstGeom prst="rect">
            <a:avLst/>
          </a:prstGeom>
          <a:noFill/>
        </p:spPr>
        <p:txBody>
          <a:bodyPr wrap="none" rtlCol="0">
            <a:spAutoFit/>
          </a:bodyPr>
          <a:lstStyle/>
          <a:p>
            <a:r>
              <a:rPr lang="ja-JP" altLang="ja-JP" sz="2000" b="1"/>
              <a:t>PWVcf</a:t>
            </a:r>
            <a:r>
              <a:rPr lang="ja-JP" altLang="en-US" sz="2000" b="1"/>
              <a:t>：</a:t>
            </a:r>
            <a:r>
              <a:rPr lang="ja-JP" altLang="ja-JP" sz="2000" b="1"/>
              <a:t>頸動脈–大腿動脈脈波伝播速度</a:t>
            </a:r>
          </a:p>
        </p:txBody>
      </p:sp>
      <p:sp>
        <p:nvSpPr>
          <p:cNvPr id="6" name="Rounded Rectangle 21">
            <a:extLst>
              <a:ext uri="{FF2B5EF4-FFF2-40B4-BE49-F238E27FC236}">
                <a16:creationId xmlns:a16="http://schemas.microsoft.com/office/drawing/2014/main" id="{81C8F315-7A19-16F7-6685-36BB9429E8EC}"/>
              </a:ext>
            </a:extLst>
          </p:cNvPr>
          <p:cNvSpPr/>
          <p:nvPr/>
        </p:nvSpPr>
        <p:spPr>
          <a:xfrm>
            <a:off x="5862603" y="5430241"/>
            <a:ext cx="6038519" cy="744498"/>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sz="2600" b="1" dirty="0">
                <a:solidFill>
                  <a:srgbClr val="262626"/>
                </a:solidFill>
                <a:latin typeface="Meiryo"/>
                <a:ea typeface="Meiryo"/>
                <a:cs typeface="Meiryo"/>
              </a:rPr>
              <a:t>SI </a:t>
            </a:r>
            <a:r>
              <a:rPr lang="en-US" sz="2600" b="1" dirty="0" err="1">
                <a:solidFill>
                  <a:srgbClr val="262626"/>
                </a:solidFill>
                <a:latin typeface="Meiryo"/>
                <a:ea typeface="Meiryo"/>
                <a:cs typeface="Meiryo"/>
              </a:rPr>
              <a:t>は年齢や脈波伝播速度と関連する。</a:t>
            </a:r>
            <a:endParaRPr sz="2200" b="1" dirty="0">
              <a:solidFill>
                <a:srgbClr val="262626"/>
              </a:solidFill>
              <a:latin typeface="Meiryo"/>
              <a:ea typeface="Meiryo"/>
              <a:cs typeface="Meiryo"/>
            </a:endParaRPr>
          </a:p>
        </p:txBody>
      </p:sp>
      <p:sp>
        <p:nvSpPr>
          <p:cNvPr id="18"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a:t>
            </a:r>
          </a:p>
        </p:txBody>
      </p:sp>
      <p:sp>
        <p:nvSpPr>
          <p:cNvPr id="1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54/118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4">
            <a:extLst>
              <a:ext uri="{FF2B5EF4-FFF2-40B4-BE49-F238E27FC236}">
                <a16:creationId xmlns:a16="http://schemas.microsoft.com/office/drawing/2014/main" id="{AA9D36CE-3772-F005-B54C-9329ADA7F086}"/>
              </a:ext>
            </a:extLst>
          </p:cNvPr>
          <p:cNvSpPr/>
          <p:nvPr/>
        </p:nvSpPr>
        <p:spPr>
          <a:xfrm>
            <a:off x="953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100863926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93E45-E237-FDE0-B71F-0C451E3F2A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1170B1-F441-4EF1-8BA9-D9723A291D20}"/>
              </a:ext>
            </a:extLst>
          </p:cNvPr>
          <p:cNvSpPr>
            <a:spLocks noGrp="1"/>
          </p:cNvSpPr>
          <p:nvPr>
            <p:ph type="title"/>
          </p:nvPr>
        </p:nvSpPr>
        <p:spPr/>
        <p:txBody>
          <a:bodyPr/>
          <a:lstStyle/>
          <a:p>
            <a:pPr algn="l"/>
            <a:r>
              <a:rPr sz="4600" dirty="0">
                <a:latin typeface="Meiryo"/>
                <a:ea typeface="Meiryo"/>
                <a:cs typeface="Meiryo"/>
              </a:rPr>
              <a:t>3.2  Reflection Index</a:t>
            </a:r>
          </a:p>
        </p:txBody>
      </p:sp>
      <p:pic>
        <p:nvPicPr>
          <p:cNvPr id="18" name="fig_ri" descr="f52_ri.png">
            <a:extLst>
              <a:ext uri="{FF2B5EF4-FFF2-40B4-BE49-F238E27FC236}">
                <a16:creationId xmlns:a16="http://schemas.microsoft.com/office/drawing/2014/main" id="{C67CC93B-0E91-8235-CB25-EE46B279E927}"/>
              </a:ext>
            </a:extLst>
          </p:cNvPr>
          <p:cNvPicPr>
            <a:picLocks noChangeAspect="1"/>
          </p:cNvPicPr>
          <p:nvPr/>
        </p:nvPicPr>
        <p:blipFill>
          <a:blip r:embed="rId3"/>
          <a:stretch>
            <a:fillRect/>
          </a:stretch>
        </p:blipFill>
        <p:spPr>
          <a:xfrm>
            <a:off x="1682769" y="2665326"/>
            <a:ext cx="4835803" cy="2314462"/>
          </a:xfrm>
          <a:prstGeom prst="rect">
            <a:avLst/>
          </a:prstGeom>
        </p:spPr>
      </p:pic>
      <p:sp>
        <p:nvSpPr>
          <p:cNvPr id="19" name="TextBox 18">
            <a:extLst>
              <a:ext uri="{FF2B5EF4-FFF2-40B4-BE49-F238E27FC236}">
                <a16:creationId xmlns:a16="http://schemas.microsoft.com/office/drawing/2014/main" id="{F684CCA2-B7E8-C4B2-7FF2-BD04DE328025}"/>
              </a:ext>
            </a:extLst>
          </p:cNvPr>
          <p:cNvSpPr txBox="1"/>
          <p:nvPr/>
        </p:nvSpPr>
        <p:spPr>
          <a:xfrm>
            <a:off x="1169657" y="2528214"/>
            <a:ext cx="1822596" cy="338554"/>
          </a:xfrm>
          <a:prstGeom prst="rect">
            <a:avLst/>
          </a:prstGeom>
          <a:noFill/>
        </p:spPr>
        <p:txBody>
          <a:bodyPr wrap="square" lIns="0" tIns="0" rIns="0" bIns="0" anchor="ctr">
            <a:spAutoFit/>
          </a:bodyPr>
          <a:lstStyle/>
          <a:p>
            <a:pPr algn="r">
              <a:spcBef>
                <a:spcPts val="0"/>
              </a:spcBef>
              <a:spcAft>
                <a:spcPts val="0"/>
              </a:spcAft>
            </a:pPr>
            <a:r>
              <a:rPr sz="2200" b="1" dirty="0">
                <a:solidFill>
                  <a:srgbClr val="0072B2"/>
                </a:solidFill>
                <a:latin typeface="Meiryo"/>
                <a:ea typeface="Meiryo"/>
                <a:cs typeface="Meiryo"/>
              </a:rPr>
              <a:t>P1（前進波）</a:t>
            </a:r>
          </a:p>
        </p:txBody>
      </p:sp>
      <p:sp>
        <p:nvSpPr>
          <p:cNvPr id="20" name="TextBox 19">
            <a:extLst>
              <a:ext uri="{FF2B5EF4-FFF2-40B4-BE49-F238E27FC236}">
                <a16:creationId xmlns:a16="http://schemas.microsoft.com/office/drawing/2014/main" id="{89514AE3-27E4-9A43-ED6D-7B618AF84532}"/>
              </a:ext>
            </a:extLst>
          </p:cNvPr>
          <p:cNvSpPr txBox="1"/>
          <p:nvPr/>
        </p:nvSpPr>
        <p:spPr>
          <a:xfrm>
            <a:off x="4375587" y="2528214"/>
            <a:ext cx="2126363" cy="338554"/>
          </a:xfrm>
          <a:prstGeom prst="rect">
            <a:avLst/>
          </a:prstGeom>
          <a:noFill/>
        </p:spPr>
        <p:txBody>
          <a:bodyPr wrap="square" lIns="0" tIns="0" rIns="0" bIns="0" anchor="ctr">
            <a:spAutoFit/>
          </a:bodyPr>
          <a:lstStyle/>
          <a:p>
            <a:pPr algn="l">
              <a:spcBef>
                <a:spcPts val="0"/>
              </a:spcBef>
              <a:spcAft>
                <a:spcPts val="0"/>
              </a:spcAft>
            </a:pPr>
            <a:r>
              <a:rPr sz="2200" b="1">
                <a:solidFill>
                  <a:srgbClr val="D55E00"/>
                </a:solidFill>
                <a:latin typeface="Meiryo"/>
                <a:ea typeface="Meiryo"/>
                <a:cs typeface="Meiryo"/>
              </a:rPr>
              <a:t>P2（反射波）</a:t>
            </a:r>
          </a:p>
        </p:txBody>
      </p:sp>
      <p:sp>
        <p:nvSpPr>
          <p:cNvPr id="21" name="Rounded Rectangle 20">
            <a:extLst>
              <a:ext uri="{FF2B5EF4-FFF2-40B4-BE49-F238E27FC236}">
                <a16:creationId xmlns:a16="http://schemas.microsoft.com/office/drawing/2014/main" id="{852E9A33-9FE1-E927-E7F7-F1917186CE39}"/>
              </a:ext>
            </a:extLst>
          </p:cNvPr>
          <p:cNvSpPr/>
          <p:nvPr/>
        </p:nvSpPr>
        <p:spPr>
          <a:xfrm>
            <a:off x="2340000" y="5616000"/>
            <a:ext cx="7523999" cy="90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lang="en-US" sz="2600" b="1" dirty="0" err="1">
                <a:solidFill>
                  <a:srgbClr val="262626"/>
                </a:solidFill>
                <a:latin typeface="Meiryo"/>
                <a:ea typeface="Meiryo"/>
                <a:cs typeface="Meiryo"/>
              </a:rPr>
              <a:t>末梢血管トーヌスは反射波振幅に影響。</a:t>
            </a:r>
            <a:endParaRPr sz="2200" b="1" dirty="0">
              <a:solidFill>
                <a:srgbClr val="262626"/>
              </a:solidFill>
              <a:latin typeface="Meiryo"/>
              <a:ea typeface="Meiryo"/>
              <a:cs typeface="Meiryo"/>
            </a:endParaRPr>
          </a:p>
        </p:txBody>
      </p:sp>
      <p:sp>
        <p:nvSpPr>
          <p:cNvPr id="22" name="Source">
            <a:extLst>
              <a:ext uri="{FF2B5EF4-FFF2-40B4-BE49-F238E27FC236}">
                <a16:creationId xmlns:a16="http://schemas.microsoft.com/office/drawing/2014/main" id="{9D3D514A-2392-90D3-6C30-D81EF094A03A}"/>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11. Chowienczyk 1999</a:t>
            </a:r>
          </a:p>
        </p:txBody>
      </p:sp>
      <p:sp>
        <p:nvSpPr>
          <p:cNvPr id="23" name="PageNo">
            <a:extLst>
              <a:ext uri="{FF2B5EF4-FFF2-40B4-BE49-F238E27FC236}">
                <a16:creationId xmlns:a16="http://schemas.microsoft.com/office/drawing/2014/main" id="{9F97009B-D24D-BA53-EE70-64F368F5FAB6}"/>
              </a:ext>
            </a:extLst>
          </p:cNvPr>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55/118</a:t>
            </a:r>
          </a:p>
        </p:txBody>
      </p:sp>
      <p:cxnSp>
        <p:nvCxnSpPr>
          <p:cNvPr id="4" name="wbase2">
            <a:extLst>
              <a:ext uri="{FF2B5EF4-FFF2-40B4-BE49-F238E27FC236}">
                <a16:creationId xmlns:a16="http://schemas.microsoft.com/office/drawing/2014/main" id="{9BA0C197-B81D-AAAB-0FFD-C71D63F5D4E9}"/>
              </a:ext>
            </a:extLst>
          </p:cNvPr>
          <p:cNvCxnSpPr>
            <a:cxnSpLocks/>
          </p:cNvCxnSpPr>
          <p:nvPr/>
        </p:nvCxnSpPr>
        <p:spPr>
          <a:xfrm>
            <a:off x="7031685" y="4605723"/>
            <a:ext cx="4017316"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5" name="wg2">
            <a:extLst>
              <a:ext uri="{FF2B5EF4-FFF2-40B4-BE49-F238E27FC236}">
                <a16:creationId xmlns:a16="http://schemas.microsoft.com/office/drawing/2014/main" id="{3AA6BC7E-484D-23E2-90DB-B2574EB56F2C}"/>
              </a:ext>
            </a:extLst>
          </p:cNvPr>
          <p:cNvSpPr/>
          <p:nvPr/>
        </p:nvSpPr>
        <p:spPr>
          <a:xfrm>
            <a:off x="7031684" y="3282250"/>
            <a:ext cx="4017316" cy="1323474"/>
          </a:xfrm>
          <a:custGeom>
            <a:avLst/>
            <a:gdLst/>
            <a:ahLst/>
            <a:cxnLst/>
            <a:rect l="l" t="t" r="r" b="b"/>
            <a:pathLst>
              <a:path w="2615184" h="379535">
                <a:moveTo>
                  <a:pt x="0" y="378955"/>
                </a:moveTo>
                <a:lnTo>
                  <a:pt x="14610" y="378673"/>
                </a:lnTo>
                <a:lnTo>
                  <a:pt x="29220" y="378271"/>
                </a:lnTo>
                <a:lnTo>
                  <a:pt x="43830" y="377702"/>
                </a:lnTo>
                <a:lnTo>
                  <a:pt x="58440" y="376912"/>
                </a:lnTo>
                <a:lnTo>
                  <a:pt x="73050" y="375828"/>
                </a:lnTo>
                <a:lnTo>
                  <a:pt x="87660" y="374360"/>
                </a:lnTo>
                <a:lnTo>
                  <a:pt x="102270" y="372401"/>
                </a:lnTo>
                <a:lnTo>
                  <a:pt x="116880" y="369821"/>
                </a:lnTo>
                <a:lnTo>
                  <a:pt x="131490" y="366474"/>
                </a:lnTo>
                <a:lnTo>
                  <a:pt x="146100" y="362190"/>
                </a:lnTo>
                <a:lnTo>
                  <a:pt x="160710" y="356787"/>
                </a:lnTo>
                <a:lnTo>
                  <a:pt x="175320" y="350072"/>
                </a:lnTo>
                <a:lnTo>
                  <a:pt x="189930" y="341847"/>
                </a:lnTo>
                <a:lnTo>
                  <a:pt x="204540" y="331923"/>
                </a:lnTo>
                <a:lnTo>
                  <a:pt x="219149" y="320133"/>
                </a:lnTo>
                <a:lnTo>
                  <a:pt x="233759" y="306343"/>
                </a:lnTo>
                <a:lnTo>
                  <a:pt x="248369" y="290469"/>
                </a:lnTo>
                <a:lnTo>
                  <a:pt x="262979" y="272496"/>
                </a:lnTo>
                <a:lnTo>
                  <a:pt x="277589" y="252492"/>
                </a:lnTo>
                <a:lnTo>
                  <a:pt x="292199" y="230617"/>
                </a:lnTo>
                <a:lnTo>
                  <a:pt x="306809" y="207139"/>
                </a:lnTo>
                <a:lnTo>
                  <a:pt x="321419" y="182433"/>
                </a:lnTo>
                <a:lnTo>
                  <a:pt x="336029" y="156978"/>
                </a:lnTo>
                <a:lnTo>
                  <a:pt x="350639" y="131346"/>
                </a:lnTo>
                <a:lnTo>
                  <a:pt x="365249" y="106187"/>
                </a:lnTo>
                <a:lnTo>
                  <a:pt x="379859" y="82202"/>
                </a:lnTo>
                <a:lnTo>
                  <a:pt x="394469" y="60109"/>
                </a:lnTo>
                <a:lnTo>
                  <a:pt x="409079" y="40612"/>
                </a:lnTo>
                <a:lnTo>
                  <a:pt x="423689" y="24358"/>
                </a:lnTo>
                <a:lnTo>
                  <a:pt x="438299" y="11907"/>
                </a:lnTo>
                <a:lnTo>
                  <a:pt x="452909" y="3693"/>
                </a:lnTo>
                <a:lnTo>
                  <a:pt x="467519" y="0"/>
                </a:lnTo>
                <a:lnTo>
                  <a:pt x="482129" y="947"/>
                </a:lnTo>
                <a:lnTo>
                  <a:pt x="496739" y="6474"/>
                </a:lnTo>
                <a:lnTo>
                  <a:pt x="511349" y="16351"/>
                </a:lnTo>
                <a:lnTo>
                  <a:pt x="525959" y="30187"/>
                </a:lnTo>
                <a:lnTo>
                  <a:pt x="540569" y="47457"/>
                </a:lnTo>
                <a:lnTo>
                  <a:pt x="555179" y="67528"/>
                </a:lnTo>
                <a:lnTo>
                  <a:pt x="569789" y="89699"/>
                </a:lnTo>
                <a:lnTo>
                  <a:pt x="584399" y="113234"/>
                </a:lnTo>
                <a:lnTo>
                  <a:pt x="599009" y="137403"/>
                </a:lnTo>
                <a:lnTo>
                  <a:pt x="613619" y="161511"/>
                </a:lnTo>
                <a:lnTo>
                  <a:pt x="628229" y="184933"/>
                </a:lnTo>
                <a:lnTo>
                  <a:pt x="642839" y="207128"/>
                </a:lnTo>
                <a:lnTo>
                  <a:pt x="657448" y="227659"/>
                </a:lnTo>
                <a:lnTo>
                  <a:pt x="672058" y="246199"/>
                </a:lnTo>
                <a:lnTo>
                  <a:pt x="686668" y="262526"/>
                </a:lnTo>
                <a:lnTo>
                  <a:pt x="701278" y="276523"/>
                </a:lnTo>
                <a:lnTo>
                  <a:pt x="715888" y="288163"/>
                </a:lnTo>
                <a:lnTo>
                  <a:pt x="730498" y="297496"/>
                </a:lnTo>
                <a:lnTo>
                  <a:pt x="745108" y="304635"/>
                </a:lnTo>
                <a:lnTo>
                  <a:pt x="759718" y="309736"/>
                </a:lnTo>
                <a:lnTo>
                  <a:pt x="774328" y="312989"/>
                </a:lnTo>
                <a:lnTo>
                  <a:pt x="788938" y="314599"/>
                </a:lnTo>
                <a:lnTo>
                  <a:pt x="803548" y="314779"/>
                </a:lnTo>
                <a:lnTo>
                  <a:pt x="818158" y="313738"/>
                </a:lnTo>
                <a:lnTo>
                  <a:pt x="832768" y="311679"/>
                </a:lnTo>
                <a:lnTo>
                  <a:pt x="847378" y="308790"/>
                </a:lnTo>
                <a:lnTo>
                  <a:pt x="861988" y="305244"/>
                </a:lnTo>
                <a:lnTo>
                  <a:pt x="876598" y="301201"/>
                </a:lnTo>
                <a:lnTo>
                  <a:pt x="891208" y="296802"/>
                </a:lnTo>
                <a:lnTo>
                  <a:pt x="905818" y="292177"/>
                </a:lnTo>
                <a:lnTo>
                  <a:pt x="920428" y="287441"/>
                </a:lnTo>
                <a:lnTo>
                  <a:pt x="935038" y="282697"/>
                </a:lnTo>
                <a:lnTo>
                  <a:pt x="949648" y="278040"/>
                </a:lnTo>
                <a:lnTo>
                  <a:pt x="964258" y="273554"/>
                </a:lnTo>
                <a:lnTo>
                  <a:pt x="978868" y="269316"/>
                </a:lnTo>
                <a:lnTo>
                  <a:pt x="993478" y="265394"/>
                </a:lnTo>
                <a:lnTo>
                  <a:pt x="1008088" y="261850"/>
                </a:lnTo>
                <a:lnTo>
                  <a:pt x="1022698" y="258738"/>
                </a:lnTo>
                <a:lnTo>
                  <a:pt x="1037308" y="256106"/>
                </a:lnTo>
                <a:lnTo>
                  <a:pt x="1051918" y="253993"/>
                </a:lnTo>
                <a:lnTo>
                  <a:pt x="1066528" y="252429"/>
                </a:lnTo>
                <a:lnTo>
                  <a:pt x="1081138" y="251439"/>
                </a:lnTo>
                <a:lnTo>
                  <a:pt x="1095747" y="251037"/>
                </a:lnTo>
                <a:lnTo>
                  <a:pt x="1110357" y="251229"/>
                </a:lnTo>
                <a:lnTo>
                  <a:pt x="1124967" y="252014"/>
                </a:lnTo>
                <a:lnTo>
                  <a:pt x="1139577" y="253380"/>
                </a:lnTo>
                <a:lnTo>
                  <a:pt x="1154187" y="255310"/>
                </a:lnTo>
                <a:lnTo>
                  <a:pt x="1168797" y="257776"/>
                </a:lnTo>
                <a:lnTo>
                  <a:pt x="1183407" y="260746"/>
                </a:lnTo>
                <a:lnTo>
                  <a:pt x="1198017" y="264180"/>
                </a:lnTo>
                <a:lnTo>
                  <a:pt x="1212627" y="268034"/>
                </a:lnTo>
                <a:lnTo>
                  <a:pt x="1227237" y="272258"/>
                </a:lnTo>
                <a:lnTo>
                  <a:pt x="1241847" y="276799"/>
                </a:lnTo>
                <a:lnTo>
                  <a:pt x="1256457" y="281605"/>
                </a:lnTo>
                <a:lnTo>
                  <a:pt x="1271067" y="286617"/>
                </a:lnTo>
                <a:lnTo>
                  <a:pt x="1285677" y="291782"/>
                </a:lnTo>
                <a:lnTo>
                  <a:pt x="1300287" y="297043"/>
                </a:lnTo>
                <a:lnTo>
                  <a:pt x="1314897" y="302348"/>
                </a:lnTo>
                <a:lnTo>
                  <a:pt x="1329507" y="307646"/>
                </a:lnTo>
                <a:lnTo>
                  <a:pt x="1344117" y="312890"/>
                </a:lnTo>
                <a:lnTo>
                  <a:pt x="1358727" y="318038"/>
                </a:lnTo>
                <a:lnTo>
                  <a:pt x="1373337" y="323051"/>
                </a:lnTo>
                <a:lnTo>
                  <a:pt x="1387947" y="327896"/>
                </a:lnTo>
                <a:lnTo>
                  <a:pt x="1402557" y="332544"/>
                </a:lnTo>
                <a:lnTo>
                  <a:pt x="1417167" y="336971"/>
                </a:lnTo>
                <a:lnTo>
                  <a:pt x="1431777" y="341160"/>
                </a:lnTo>
                <a:lnTo>
                  <a:pt x="1446387" y="345097"/>
                </a:lnTo>
                <a:lnTo>
                  <a:pt x="1460997" y="348773"/>
                </a:lnTo>
                <a:lnTo>
                  <a:pt x="1475607" y="352184"/>
                </a:lnTo>
                <a:lnTo>
                  <a:pt x="1490217" y="355329"/>
                </a:lnTo>
                <a:lnTo>
                  <a:pt x="1504827" y="358212"/>
                </a:lnTo>
                <a:lnTo>
                  <a:pt x="1519437" y="360839"/>
                </a:lnTo>
                <a:lnTo>
                  <a:pt x="1534046" y="363218"/>
                </a:lnTo>
                <a:lnTo>
                  <a:pt x="1548656" y="365360"/>
                </a:lnTo>
                <a:lnTo>
                  <a:pt x="1563266" y="367278"/>
                </a:lnTo>
                <a:lnTo>
                  <a:pt x="1577876" y="368985"/>
                </a:lnTo>
                <a:lnTo>
                  <a:pt x="1592486" y="370497"/>
                </a:lnTo>
                <a:lnTo>
                  <a:pt x="1607096" y="371828"/>
                </a:lnTo>
                <a:lnTo>
                  <a:pt x="1621706" y="372993"/>
                </a:lnTo>
                <a:lnTo>
                  <a:pt x="1636316" y="374008"/>
                </a:lnTo>
                <a:lnTo>
                  <a:pt x="1650926" y="374887"/>
                </a:lnTo>
                <a:lnTo>
                  <a:pt x="1665536" y="375644"/>
                </a:lnTo>
                <a:lnTo>
                  <a:pt x="1680146" y="376294"/>
                </a:lnTo>
                <a:lnTo>
                  <a:pt x="1694756" y="376847"/>
                </a:lnTo>
                <a:lnTo>
                  <a:pt x="1709366" y="377316"/>
                </a:lnTo>
                <a:lnTo>
                  <a:pt x="1723976" y="377712"/>
                </a:lnTo>
                <a:lnTo>
                  <a:pt x="1738586" y="378044"/>
                </a:lnTo>
                <a:lnTo>
                  <a:pt x="1753196" y="378321"/>
                </a:lnTo>
                <a:lnTo>
                  <a:pt x="1767806" y="378551"/>
                </a:lnTo>
                <a:lnTo>
                  <a:pt x="1782416" y="378742"/>
                </a:lnTo>
                <a:lnTo>
                  <a:pt x="1797026" y="378898"/>
                </a:lnTo>
                <a:lnTo>
                  <a:pt x="1811636" y="379026"/>
                </a:lnTo>
                <a:lnTo>
                  <a:pt x="1826246" y="379130"/>
                </a:lnTo>
                <a:lnTo>
                  <a:pt x="1840856" y="379215"/>
                </a:lnTo>
                <a:lnTo>
                  <a:pt x="1855466" y="379282"/>
                </a:lnTo>
                <a:lnTo>
                  <a:pt x="1870076" y="379337"/>
                </a:lnTo>
                <a:lnTo>
                  <a:pt x="1884686" y="379380"/>
                </a:lnTo>
                <a:lnTo>
                  <a:pt x="1899296" y="379415"/>
                </a:lnTo>
                <a:lnTo>
                  <a:pt x="1913906" y="379442"/>
                </a:lnTo>
                <a:lnTo>
                  <a:pt x="1928516" y="379463"/>
                </a:lnTo>
                <a:lnTo>
                  <a:pt x="1943126" y="379480"/>
                </a:lnTo>
                <a:lnTo>
                  <a:pt x="1957736" y="379493"/>
                </a:lnTo>
                <a:lnTo>
                  <a:pt x="1972345" y="379503"/>
                </a:lnTo>
                <a:lnTo>
                  <a:pt x="1986955" y="379511"/>
                </a:lnTo>
                <a:lnTo>
                  <a:pt x="2001565" y="379517"/>
                </a:lnTo>
                <a:lnTo>
                  <a:pt x="2016175" y="379521"/>
                </a:lnTo>
                <a:lnTo>
                  <a:pt x="2030785" y="379525"/>
                </a:lnTo>
                <a:lnTo>
                  <a:pt x="2045395" y="379528"/>
                </a:lnTo>
                <a:lnTo>
                  <a:pt x="2060005" y="379529"/>
                </a:lnTo>
                <a:lnTo>
                  <a:pt x="2074615" y="379531"/>
                </a:lnTo>
                <a:lnTo>
                  <a:pt x="2089225" y="379532"/>
                </a:lnTo>
                <a:lnTo>
                  <a:pt x="2103835" y="379533"/>
                </a:lnTo>
                <a:lnTo>
                  <a:pt x="2118445" y="379533"/>
                </a:lnTo>
                <a:lnTo>
                  <a:pt x="2133055" y="379534"/>
                </a:lnTo>
                <a:lnTo>
                  <a:pt x="2147665" y="379534"/>
                </a:lnTo>
                <a:lnTo>
                  <a:pt x="2162275" y="379534"/>
                </a:lnTo>
                <a:lnTo>
                  <a:pt x="2176885" y="379535"/>
                </a:lnTo>
                <a:lnTo>
                  <a:pt x="2191495" y="379535"/>
                </a:lnTo>
                <a:lnTo>
                  <a:pt x="2206105" y="379535"/>
                </a:lnTo>
                <a:lnTo>
                  <a:pt x="2220715" y="379535"/>
                </a:lnTo>
                <a:lnTo>
                  <a:pt x="2235325" y="379535"/>
                </a:lnTo>
                <a:lnTo>
                  <a:pt x="2249935" y="379535"/>
                </a:lnTo>
                <a:lnTo>
                  <a:pt x="2264545" y="379535"/>
                </a:lnTo>
                <a:lnTo>
                  <a:pt x="2279155" y="379535"/>
                </a:lnTo>
                <a:lnTo>
                  <a:pt x="2293765" y="379535"/>
                </a:lnTo>
                <a:lnTo>
                  <a:pt x="2308375" y="379535"/>
                </a:lnTo>
                <a:lnTo>
                  <a:pt x="2322985" y="379535"/>
                </a:lnTo>
                <a:lnTo>
                  <a:pt x="2337595" y="379535"/>
                </a:lnTo>
                <a:lnTo>
                  <a:pt x="2352205" y="379535"/>
                </a:lnTo>
                <a:lnTo>
                  <a:pt x="2366815" y="379535"/>
                </a:lnTo>
                <a:lnTo>
                  <a:pt x="2381425" y="379535"/>
                </a:lnTo>
                <a:lnTo>
                  <a:pt x="2396035" y="379535"/>
                </a:lnTo>
                <a:lnTo>
                  <a:pt x="2410644" y="379535"/>
                </a:lnTo>
                <a:lnTo>
                  <a:pt x="2425254" y="379535"/>
                </a:lnTo>
                <a:lnTo>
                  <a:pt x="2439864" y="379535"/>
                </a:lnTo>
                <a:lnTo>
                  <a:pt x="2454474" y="379535"/>
                </a:lnTo>
                <a:lnTo>
                  <a:pt x="2469084" y="379535"/>
                </a:lnTo>
                <a:lnTo>
                  <a:pt x="2483694" y="379535"/>
                </a:lnTo>
                <a:lnTo>
                  <a:pt x="2498304" y="379535"/>
                </a:lnTo>
                <a:lnTo>
                  <a:pt x="2512914" y="379535"/>
                </a:lnTo>
                <a:lnTo>
                  <a:pt x="2527524" y="379535"/>
                </a:lnTo>
                <a:lnTo>
                  <a:pt x="2542134" y="379535"/>
                </a:lnTo>
                <a:lnTo>
                  <a:pt x="2556744" y="379535"/>
                </a:lnTo>
                <a:lnTo>
                  <a:pt x="2571354" y="379535"/>
                </a:lnTo>
                <a:lnTo>
                  <a:pt x="2585964" y="379535"/>
                </a:lnTo>
                <a:lnTo>
                  <a:pt x="2600574" y="379535"/>
                </a:lnTo>
                <a:lnTo>
                  <a:pt x="2615184" y="379535"/>
                </a:lnTo>
              </a:path>
            </a:pathLst>
          </a:custGeom>
          <a:noFill/>
          <a:ln w="222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wc2">
            <a:extLst>
              <a:ext uri="{FF2B5EF4-FFF2-40B4-BE49-F238E27FC236}">
                <a16:creationId xmlns:a16="http://schemas.microsoft.com/office/drawing/2014/main" id="{8FB8CDAB-E2A9-BC6E-AD9A-487DD96DAD2B}"/>
              </a:ext>
            </a:extLst>
          </p:cNvPr>
          <p:cNvSpPr/>
          <p:nvPr/>
        </p:nvSpPr>
        <p:spPr>
          <a:xfrm>
            <a:off x="7031684" y="3280160"/>
            <a:ext cx="4017316" cy="1325563"/>
          </a:xfrm>
          <a:custGeom>
            <a:avLst/>
            <a:gdLst/>
            <a:ahLst/>
            <a:cxnLst/>
            <a:rect l="l" t="t" r="r" b="b"/>
            <a:pathLst>
              <a:path w="2615184" h="380134">
                <a:moveTo>
                  <a:pt x="0" y="379554"/>
                </a:moveTo>
                <a:lnTo>
                  <a:pt x="14610" y="379272"/>
                </a:lnTo>
                <a:lnTo>
                  <a:pt x="29220" y="378869"/>
                </a:lnTo>
                <a:lnTo>
                  <a:pt x="43830" y="378301"/>
                </a:lnTo>
                <a:lnTo>
                  <a:pt x="58440" y="377511"/>
                </a:lnTo>
                <a:lnTo>
                  <a:pt x="73050" y="376426"/>
                </a:lnTo>
                <a:lnTo>
                  <a:pt x="87660" y="374958"/>
                </a:lnTo>
                <a:lnTo>
                  <a:pt x="102270" y="372999"/>
                </a:lnTo>
                <a:lnTo>
                  <a:pt x="116880" y="370419"/>
                </a:lnTo>
                <a:lnTo>
                  <a:pt x="131490" y="367071"/>
                </a:lnTo>
                <a:lnTo>
                  <a:pt x="146100" y="362787"/>
                </a:lnTo>
                <a:lnTo>
                  <a:pt x="160710" y="357383"/>
                </a:lnTo>
                <a:lnTo>
                  <a:pt x="175320" y="350666"/>
                </a:lnTo>
                <a:lnTo>
                  <a:pt x="189930" y="342440"/>
                </a:lnTo>
                <a:lnTo>
                  <a:pt x="204540" y="332515"/>
                </a:lnTo>
                <a:lnTo>
                  <a:pt x="219149" y="320722"/>
                </a:lnTo>
                <a:lnTo>
                  <a:pt x="233759" y="306929"/>
                </a:lnTo>
                <a:lnTo>
                  <a:pt x="248369" y="291051"/>
                </a:lnTo>
                <a:lnTo>
                  <a:pt x="262979" y="273072"/>
                </a:lnTo>
                <a:lnTo>
                  <a:pt x="277589" y="253061"/>
                </a:lnTo>
                <a:lnTo>
                  <a:pt x="292199" y="231177"/>
                </a:lnTo>
                <a:lnTo>
                  <a:pt x="306809" y="207689"/>
                </a:lnTo>
                <a:lnTo>
                  <a:pt x="321419" y="182968"/>
                </a:lnTo>
                <a:lnTo>
                  <a:pt x="336029" y="157495"/>
                </a:lnTo>
                <a:lnTo>
                  <a:pt x="350639" y="131841"/>
                </a:lnTo>
                <a:lnTo>
                  <a:pt x="365249" y="106655"/>
                </a:lnTo>
                <a:lnTo>
                  <a:pt x="379859" y="82636"/>
                </a:lnTo>
                <a:lnTo>
                  <a:pt x="394469" y="60501"/>
                </a:lnTo>
                <a:lnTo>
                  <a:pt x="409079" y="40952"/>
                </a:lnTo>
                <a:lnTo>
                  <a:pt x="423689" y="24636"/>
                </a:lnTo>
                <a:lnTo>
                  <a:pt x="438299" y="12109"/>
                </a:lnTo>
                <a:lnTo>
                  <a:pt x="452909" y="3803"/>
                </a:lnTo>
                <a:lnTo>
                  <a:pt x="467519" y="0"/>
                </a:lnTo>
                <a:lnTo>
                  <a:pt x="482129" y="816"/>
                </a:lnTo>
                <a:lnTo>
                  <a:pt x="496739" y="6187"/>
                </a:lnTo>
                <a:lnTo>
                  <a:pt x="511349" y="15880"/>
                </a:lnTo>
                <a:lnTo>
                  <a:pt x="525959" y="29500"/>
                </a:lnTo>
                <a:lnTo>
                  <a:pt x="540569" y="46517"/>
                </a:lnTo>
                <a:lnTo>
                  <a:pt x="555179" y="66294"/>
                </a:lnTo>
                <a:lnTo>
                  <a:pt x="569789" y="88124"/>
                </a:lnTo>
                <a:lnTo>
                  <a:pt x="584399" y="111268"/>
                </a:lnTo>
                <a:lnTo>
                  <a:pt x="599009" y="134988"/>
                </a:lnTo>
                <a:lnTo>
                  <a:pt x="613619" y="158587"/>
                </a:lnTo>
                <a:lnTo>
                  <a:pt x="628229" y="181431"/>
                </a:lnTo>
                <a:lnTo>
                  <a:pt x="642839" y="202976"/>
                </a:lnTo>
                <a:lnTo>
                  <a:pt x="657448" y="222781"/>
                </a:lnTo>
                <a:lnTo>
                  <a:pt x="672058" y="240511"/>
                </a:lnTo>
                <a:lnTo>
                  <a:pt x="686668" y="255943"/>
                </a:lnTo>
                <a:lnTo>
                  <a:pt x="701278" y="268955"/>
                </a:lnTo>
                <a:lnTo>
                  <a:pt x="715888" y="279519"/>
                </a:lnTo>
                <a:lnTo>
                  <a:pt x="730498" y="287682"/>
                </a:lnTo>
                <a:lnTo>
                  <a:pt x="745108" y="293557"/>
                </a:lnTo>
                <a:lnTo>
                  <a:pt x="759718" y="297302"/>
                </a:lnTo>
                <a:lnTo>
                  <a:pt x="774328" y="299108"/>
                </a:lnTo>
                <a:lnTo>
                  <a:pt x="788938" y="299185"/>
                </a:lnTo>
                <a:lnTo>
                  <a:pt x="803548" y="297751"/>
                </a:lnTo>
                <a:lnTo>
                  <a:pt x="818158" y="295025"/>
                </a:lnTo>
                <a:lnTo>
                  <a:pt x="832768" y="291216"/>
                </a:lnTo>
                <a:lnTo>
                  <a:pt x="847378" y="286526"/>
                </a:lnTo>
                <a:lnTo>
                  <a:pt x="861988" y="281140"/>
                </a:lnTo>
                <a:lnTo>
                  <a:pt x="876598" y="275231"/>
                </a:lnTo>
                <a:lnTo>
                  <a:pt x="891208" y="268959"/>
                </a:lnTo>
                <a:lnTo>
                  <a:pt x="905818" y="262470"/>
                </a:lnTo>
                <a:lnTo>
                  <a:pt x="920428" y="255896"/>
                </a:lnTo>
                <a:lnTo>
                  <a:pt x="935038" y="249362"/>
                </a:lnTo>
                <a:lnTo>
                  <a:pt x="949648" y="242980"/>
                </a:lnTo>
                <a:lnTo>
                  <a:pt x="964258" y="236856"/>
                </a:lnTo>
                <a:lnTo>
                  <a:pt x="978868" y="231084"/>
                </a:lnTo>
                <a:lnTo>
                  <a:pt x="993478" y="225753"/>
                </a:lnTo>
                <a:lnTo>
                  <a:pt x="1008088" y="220942"/>
                </a:lnTo>
                <a:lnTo>
                  <a:pt x="1022698" y="216721"/>
                </a:lnTo>
                <a:lnTo>
                  <a:pt x="1037308" y="213153"/>
                </a:lnTo>
                <a:lnTo>
                  <a:pt x="1051918" y="210289"/>
                </a:lnTo>
                <a:lnTo>
                  <a:pt x="1066528" y="208171"/>
                </a:lnTo>
                <a:lnTo>
                  <a:pt x="1081138" y="206830"/>
                </a:lnTo>
                <a:lnTo>
                  <a:pt x="1095747" y="206285"/>
                </a:lnTo>
                <a:lnTo>
                  <a:pt x="1110357" y="206545"/>
                </a:lnTo>
                <a:lnTo>
                  <a:pt x="1124967" y="207606"/>
                </a:lnTo>
                <a:lnTo>
                  <a:pt x="1139577" y="209455"/>
                </a:lnTo>
                <a:lnTo>
                  <a:pt x="1154187" y="212065"/>
                </a:lnTo>
                <a:lnTo>
                  <a:pt x="1168797" y="215402"/>
                </a:lnTo>
                <a:lnTo>
                  <a:pt x="1183407" y="219420"/>
                </a:lnTo>
                <a:lnTo>
                  <a:pt x="1198017" y="224066"/>
                </a:lnTo>
                <a:lnTo>
                  <a:pt x="1212627" y="229279"/>
                </a:lnTo>
                <a:lnTo>
                  <a:pt x="1227237" y="234994"/>
                </a:lnTo>
                <a:lnTo>
                  <a:pt x="1241847" y="241139"/>
                </a:lnTo>
                <a:lnTo>
                  <a:pt x="1256457" y="247640"/>
                </a:lnTo>
                <a:lnTo>
                  <a:pt x="1271067" y="254422"/>
                </a:lnTo>
                <a:lnTo>
                  <a:pt x="1285677" y="261409"/>
                </a:lnTo>
                <a:lnTo>
                  <a:pt x="1300287" y="268527"/>
                </a:lnTo>
                <a:lnTo>
                  <a:pt x="1314897" y="275704"/>
                </a:lnTo>
                <a:lnTo>
                  <a:pt x="1329507" y="282872"/>
                </a:lnTo>
                <a:lnTo>
                  <a:pt x="1344117" y="289968"/>
                </a:lnTo>
                <a:lnTo>
                  <a:pt x="1358727" y="296933"/>
                </a:lnTo>
                <a:lnTo>
                  <a:pt x="1373337" y="303715"/>
                </a:lnTo>
                <a:lnTo>
                  <a:pt x="1387947" y="310270"/>
                </a:lnTo>
                <a:lnTo>
                  <a:pt x="1402557" y="316558"/>
                </a:lnTo>
                <a:lnTo>
                  <a:pt x="1417167" y="322548"/>
                </a:lnTo>
                <a:lnTo>
                  <a:pt x="1431777" y="328215"/>
                </a:lnTo>
                <a:lnTo>
                  <a:pt x="1446387" y="333542"/>
                </a:lnTo>
                <a:lnTo>
                  <a:pt x="1460997" y="338515"/>
                </a:lnTo>
                <a:lnTo>
                  <a:pt x="1475607" y="343130"/>
                </a:lnTo>
                <a:lnTo>
                  <a:pt x="1490217" y="347385"/>
                </a:lnTo>
                <a:lnTo>
                  <a:pt x="1504827" y="351286"/>
                </a:lnTo>
                <a:lnTo>
                  <a:pt x="1519437" y="354839"/>
                </a:lnTo>
                <a:lnTo>
                  <a:pt x="1534046" y="358057"/>
                </a:lnTo>
                <a:lnTo>
                  <a:pt x="1548656" y="360956"/>
                </a:lnTo>
                <a:lnTo>
                  <a:pt x="1563266" y="363551"/>
                </a:lnTo>
                <a:lnTo>
                  <a:pt x="1577876" y="365861"/>
                </a:lnTo>
                <a:lnTo>
                  <a:pt x="1592486" y="367906"/>
                </a:lnTo>
                <a:lnTo>
                  <a:pt x="1607096" y="369707"/>
                </a:lnTo>
                <a:lnTo>
                  <a:pt x="1621706" y="371283"/>
                </a:lnTo>
                <a:lnTo>
                  <a:pt x="1636316" y="372656"/>
                </a:lnTo>
                <a:lnTo>
                  <a:pt x="1650926" y="373846"/>
                </a:lnTo>
                <a:lnTo>
                  <a:pt x="1665536" y="374870"/>
                </a:lnTo>
                <a:lnTo>
                  <a:pt x="1680146" y="375748"/>
                </a:lnTo>
                <a:lnTo>
                  <a:pt x="1694756" y="376497"/>
                </a:lnTo>
                <a:lnTo>
                  <a:pt x="1709366" y="377132"/>
                </a:lnTo>
                <a:lnTo>
                  <a:pt x="1723976" y="377667"/>
                </a:lnTo>
                <a:lnTo>
                  <a:pt x="1738586" y="378116"/>
                </a:lnTo>
                <a:lnTo>
                  <a:pt x="1753196" y="378492"/>
                </a:lnTo>
                <a:lnTo>
                  <a:pt x="1767806" y="378803"/>
                </a:lnTo>
                <a:lnTo>
                  <a:pt x="1782416" y="379061"/>
                </a:lnTo>
                <a:lnTo>
                  <a:pt x="1797026" y="379272"/>
                </a:lnTo>
                <a:lnTo>
                  <a:pt x="1811636" y="379445"/>
                </a:lnTo>
                <a:lnTo>
                  <a:pt x="1826246" y="379586"/>
                </a:lnTo>
                <a:lnTo>
                  <a:pt x="1840856" y="379700"/>
                </a:lnTo>
                <a:lnTo>
                  <a:pt x="1855466" y="379792"/>
                </a:lnTo>
                <a:lnTo>
                  <a:pt x="1870076" y="379866"/>
                </a:lnTo>
                <a:lnTo>
                  <a:pt x="1884686" y="379925"/>
                </a:lnTo>
                <a:lnTo>
                  <a:pt x="1899296" y="379971"/>
                </a:lnTo>
                <a:lnTo>
                  <a:pt x="1913906" y="380008"/>
                </a:lnTo>
                <a:lnTo>
                  <a:pt x="1928516" y="380037"/>
                </a:lnTo>
                <a:lnTo>
                  <a:pt x="1943126" y="380060"/>
                </a:lnTo>
                <a:lnTo>
                  <a:pt x="1957736" y="380077"/>
                </a:lnTo>
                <a:lnTo>
                  <a:pt x="1972345" y="380091"/>
                </a:lnTo>
                <a:lnTo>
                  <a:pt x="1986955" y="380102"/>
                </a:lnTo>
                <a:lnTo>
                  <a:pt x="2001565" y="380110"/>
                </a:lnTo>
                <a:lnTo>
                  <a:pt x="2016175" y="380116"/>
                </a:lnTo>
                <a:lnTo>
                  <a:pt x="2030785" y="380120"/>
                </a:lnTo>
                <a:lnTo>
                  <a:pt x="2045395" y="380124"/>
                </a:lnTo>
                <a:lnTo>
                  <a:pt x="2060005" y="380127"/>
                </a:lnTo>
                <a:lnTo>
                  <a:pt x="2074615" y="380129"/>
                </a:lnTo>
                <a:lnTo>
                  <a:pt x="2089225" y="380130"/>
                </a:lnTo>
                <a:lnTo>
                  <a:pt x="2103835" y="380131"/>
                </a:lnTo>
                <a:lnTo>
                  <a:pt x="2118445" y="380132"/>
                </a:lnTo>
                <a:lnTo>
                  <a:pt x="2133055" y="380132"/>
                </a:lnTo>
                <a:lnTo>
                  <a:pt x="2147665" y="380133"/>
                </a:lnTo>
                <a:lnTo>
                  <a:pt x="2162275" y="380133"/>
                </a:lnTo>
                <a:lnTo>
                  <a:pt x="2176885" y="380133"/>
                </a:lnTo>
                <a:lnTo>
                  <a:pt x="2191495" y="380134"/>
                </a:lnTo>
                <a:lnTo>
                  <a:pt x="2206105" y="380134"/>
                </a:lnTo>
                <a:lnTo>
                  <a:pt x="2220715" y="380134"/>
                </a:lnTo>
                <a:lnTo>
                  <a:pt x="2235325" y="380134"/>
                </a:lnTo>
                <a:lnTo>
                  <a:pt x="2249935" y="380134"/>
                </a:lnTo>
                <a:lnTo>
                  <a:pt x="2264545" y="380134"/>
                </a:lnTo>
                <a:lnTo>
                  <a:pt x="2279155" y="380134"/>
                </a:lnTo>
                <a:lnTo>
                  <a:pt x="2293765" y="380134"/>
                </a:lnTo>
                <a:lnTo>
                  <a:pt x="2308375" y="380134"/>
                </a:lnTo>
                <a:lnTo>
                  <a:pt x="2322985" y="380134"/>
                </a:lnTo>
                <a:lnTo>
                  <a:pt x="2337595" y="380134"/>
                </a:lnTo>
                <a:lnTo>
                  <a:pt x="2352205" y="380134"/>
                </a:lnTo>
                <a:lnTo>
                  <a:pt x="2366815" y="380134"/>
                </a:lnTo>
                <a:lnTo>
                  <a:pt x="2381425" y="380134"/>
                </a:lnTo>
                <a:lnTo>
                  <a:pt x="2396035" y="380134"/>
                </a:lnTo>
                <a:lnTo>
                  <a:pt x="2410644" y="380134"/>
                </a:lnTo>
                <a:lnTo>
                  <a:pt x="2425254" y="380134"/>
                </a:lnTo>
                <a:lnTo>
                  <a:pt x="2439864" y="380134"/>
                </a:lnTo>
                <a:lnTo>
                  <a:pt x="2454474" y="380134"/>
                </a:lnTo>
                <a:lnTo>
                  <a:pt x="2469084" y="380134"/>
                </a:lnTo>
                <a:lnTo>
                  <a:pt x="2483694" y="380134"/>
                </a:lnTo>
                <a:lnTo>
                  <a:pt x="2498304" y="380134"/>
                </a:lnTo>
                <a:lnTo>
                  <a:pt x="2512914" y="380134"/>
                </a:lnTo>
                <a:lnTo>
                  <a:pt x="2527524" y="380134"/>
                </a:lnTo>
                <a:lnTo>
                  <a:pt x="2542134" y="380134"/>
                </a:lnTo>
                <a:lnTo>
                  <a:pt x="2556744" y="380134"/>
                </a:lnTo>
                <a:lnTo>
                  <a:pt x="2571354" y="380134"/>
                </a:lnTo>
                <a:lnTo>
                  <a:pt x="2585964" y="380134"/>
                </a:lnTo>
                <a:lnTo>
                  <a:pt x="2600574" y="380134"/>
                </a:lnTo>
                <a:lnTo>
                  <a:pt x="2615184" y="380134"/>
                </a:lnTo>
              </a:path>
            </a:pathLst>
          </a:custGeom>
          <a:no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 name="直線矢印コネクタ 9">
            <a:extLst>
              <a:ext uri="{FF2B5EF4-FFF2-40B4-BE49-F238E27FC236}">
                <a16:creationId xmlns:a16="http://schemas.microsoft.com/office/drawing/2014/main" id="{C8DE6C5C-D13E-24A4-8A00-0799B271B34A}"/>
              </a:ext>
            </a:extLst>
          </p:cNvPr>
          <p:cNvCxnSpPr/>
          <p:nvPr/>
        </p:nvCxnSpPr>
        <p:spPr>
          <a:xfrm>
            <a:off x="9534519" y="4000500"/>
            <a:ext cx="0" cy="228600"/>
          </a:xfrm>
          <a:prstGeom prst="straightConnector1">
            <a:avLst/>
          </a:prstGeom>
          <a:ln w="19050">
            <a:headEnd type="triangle"/>
            <a:tailEnd type="triangle"/>
          </a:ln>
        </p:spPr>
        <p:style>
          <a:lnRef idx="1">
            <a:schemeClr val="accent1"/>
          </a:lnRef>
          <a:fillRef idx="0">
            <a:schemeClr val="accent1"/>
          </a:fillRef>
          <a:effectRef idx="0">
            <a:schemeClr val="accent1"/>
          </a:effectRef>
          <a:fontRef idx="minor">
            <a:schemeClr val="tx1"/>
          </a:fontRef>
        </p:style>
      </p:cxn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4">
            <a:extLst>
              <a:ext uri="{FF2B5EF4-FFF2-40B4-BE49-F238E27FC236}">
                <a16:creationId xmlns:a16="http://schemas.microsoft.com/office/drawing/2014/main" id="{AA9D36CE-3772-F005-B54C-9329ADA7F086}"/>
              </a:ext>
            </a:extLst>
          </p:cNvPr>
          <p:cNvSpPr/>
          <p:nvPr/>
        </p:nvSpPr>
        <p:spPr>
          <a:xfrm>
            <a:off x="953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71886174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3.2  Reflection Index</a:t>
            </a:r>
          </a:p>
        </p:txBody>
      </p:sp>
      <p:pic>
        <p:nvPicPr>
          <p:cNvPr id="18" name="fig_ri" descr="f52_ri.png"/>
          <p:cNvPicPr>
            <a:picLocks noChangeAspect="1"/>
          </p:cNvPicPr>
          <p:nvPr/>
        </p:nvPicPr>
        <p:blipFill>
          <a:blip r:embed="rId3"/>
          <a:stretch>
            <a:fillRect/>
          </a:stretch>
        </p:blipFill>
        <p:spPr>
          <a:xfrm>
            <a:off x="2340000" y="1872000"/>
            <a:ext cx="7521787" cy="3600000"/>
          </a:xfrm>
          <a:prstGeom prst="rect">
            <a:avLst/>
          </a:prstGeom>
        </p:spPr>
      </p:pic>
      <p:sp>
        <p:nvSpPr>
          <p:cNvPr id="19" name="TextBox 18"/>
          <p:cNvSpPr txBox="1"/>
          <p:nvPr/>
        </p:nvSpPr>
        <p:spPr>
          <a:xfrm>
            <a:off x="1584000" y="2124000"/>
            <a:ext cx="2160000" cy="378000"/>
          </a:xfrm>
          <a:prstGeom prst="rect">
            <a:avLst/>
          </a:prstGeom>
          <a:noFill/>
        </p:spPr>
        <p:txBody>
          <a:bodyPr wrap="none" lIns="0" tIns="0" rIns="0" bIns="0" anchor="ctr">
            <a:spAutoFit/>
          </a:bodyPr>
          <a:lstStyle/>
          <a:p>
            <a:pPr algn="r">
              <a:spcBef>
                <a:spcPts val="0"/>
              </a:spcBef>
              <a:spcAft>
                <a:spcPts val="0"/>
              </a:spcAft>
            </a:pPr>
            <a:r>
              <a:rPr sz="2200" b="1">
                <a:solidFill>
                  <a:srgbClr val="0072B2"/>
                </a:solidFill>
                <a:latin typeface="Meiryo"/>
                <a:ea typeface="Meiryo"/>
                <a:cs typeface="Meiryo"/>
              </a:rPr>
              <a:t>P1（前進波）</a:t>
            </a:r>
          </a:p>
        </p:txBody>
      </p:sp>
      <p:sp>
        <p:nvSpPr>
          <p:cNvPr id="20" name="TextBox 19"/>
          <p:cNvSpPr txBox="1"/>
          <p:nvPr/>
        </p:nvSpPr>
        <p:spPr>
          <a:xfrm>
            <a:off x="7632000" y="2520000"/>
            <a:ext cx="2520000" cy="378000"/>
          </a:xfrm>
          <a:prstGeom prst="rect">
            <a:avLst/>
          </a:prstGeom>
          <a:noFill/>
        </p:spPr>
        <p:txBody>
          <a:bodyPr wrap="none" lIns="0" tIns="0" rIns="0" bIns="0" anchor="ctr">
            <a:spAutoFit/>
          </a:bodyPr>
          <a:lstStyle/>
          <a:p>
            <a:pPr algn="l">
              <a:spcBef>
                <a:spcPts val="0"/>
              </a:spcBef>
              <a:spcAft>
                <a:spcPts val="0"/>
              </a:spcAft>
            </a:pPr>
            <a:r>
              <a:rPr sz="2200" b="1">
                <a:solidFill>
                  <a:srgbClr val="D55E00"/>
                </a:solidFill>
                <a:latin typeface="Meiryo"/>
                <a:ea typeface="Meiryo"/>
                <a:cs typeface="Meiryo"/>
              </a:rPr>
              <a:t>P2（反射波）</a:t>
            </a:r>
          </a:p>
        </p:txBody>
      </p:sp>
      <p:sp>
        <p:nvSpPr>
          <p:cNvPr id="21" name="Rounded Rectangle 20"/>
          <p:cNvSpPr/>
          <p:nvPr/>
        </p:nvSpPr>
        <p:spPr>
          <a:xfrm>
            <a:off x="2340000" y="5616000"/>
            <a:ext cx="7523999" cy="90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sz="2600" b="1" dirty="0">
                <a:solidFill>
                  <a:srgbClr val="262626"/>
                </a:solidFill>
                <a:latin typeface="Meiryo"/>
                <a:ea typeface="Meiryo"/>
                <a:cs typeface="Meiryo"/>
              </a:rPr>
              <a:t>R</a:t>
            </a:r>
            <a:r>
              <a:rPr lang="en-US" sz="2600" b="1" dirty="0">
                <a:solidFill>
                  <a:srgbClr val="262626"/>
                </a:solidFill>
                <a:latin typeface="Meiryo"/>
                <a:ea typeface="Meiryo"/>
                <a:cs typeface="Meiryo"/>
              </a:rPr>
              <a:t>eflection </a:t>
            </a:r>
            <a:r>
              <a:rPr sz="2600" b="1" dirty="0">
                <a:solidFill>
                  <a:srgbClr val="262626"/>
                </a:solidFill>
                <a:latin typeface="Meiryo"/>
                <a:ea typeface="Meiryo"/>
                <a:cs typeface="Meiryo"/>
              </a:rPr>
              <a:t>I</a:t>
            </a:r>
            <a:r>
              <a:rPr lang="en-US" sz="2600" b="1" dirty="0">
                <a:solidFill>
                  <a:srgbClr val="262626"/>
                </a:solidFill>
                <a:latin typeface="Meiryo"/>
                <a:ea typeface="Meiryo"/>
                <a:cs typeface="Meiryo"/>
              </a:rPr>
              <a:t>ndex (RI)</a:t>
            </a:r>
            <a:r>
              <a:rPr sz="2600" b="1" dirty="0">
                <a:solidFill>
                  <a:srgbClr val="262626"/>
                </a:solidFill>
                <a:latin typeface="Meiryo"/>
                <a:ea typeface="Meiryo"/>
                <a:cs typeface="Meiryo"/>
              </a:rPr>
              <a:t> ＝ P2 ÷ P1</a:t>
            </a:r>
          </a:p>
          <a:p>
            <a:pPr algn="ctr">
              <a:spcBef>
                <a:spcPts val="0"/>
              </a:spcBef>
              <a:spcAft>
                <a:spcPts val="0"/>
              </a:spcAft>
            </a:pPr>
            <a:r>
              <a:rPr sz="2200" b="1" dirty="0" err="1">
                <a:solidFill>
                  <a:srgbClr val="262626"/>
                </a:solidFill>
                <a:latin typeface="Meiryo"/>
                <a:ea typeface="Meiryo"/>
                <a:cs typeface="Meiryo"/>
              </a:rPr>
              <a:t>末梢血管トーヌスを反映。</a:t>
            </a:r>
            <a:endParaRPr sz="2200" b="1" dirty="0">
              <a:solidFill>
                <a:srgbClr val="262626"/>
              </a:solidFill>
              <a:latin typeface="Meiryo"/>
              <a:ea typeface="Meiryo"/>
              <a:cs typeface="Meiryo"/>
            </a:endParaRPr>
          </a:p>
        </p:txBody>
      </p:sp>
      <p:sp>
        <p:nvSpPr>
          <p:cNvPr id="22"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11. Chowienczyk 1999</a:t>
            </a:r>
          </a:p>
        </p:txBody>
      </p:sp>
      <p:sp>
        <p:nvSpPr>
          <p:cNvPr id="23"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56/118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4">
            <a:extLst>
              <a:ext uri="{FF2B5EF4-FFF2-40B4-BE49-F238E27FC236}">
                <a16:creationId xmlns:a16="http://schemas.microsoft.com/office/drawing/2014/main" id="{AA9D36CE-3772-F005-B54C-9329ADA7F086}"/>
              </a:ext>
            </a:extLst>
          </p:cNvPr>
          <p:cNvSpPr/>
          <p:nvPr/>
        </p:nvSpPr>
        <p:spPr>
          <a:xfrm>
            <a:off x="953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E19EF-DBC9-EB20-10C0-EC248698EE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B8725C-CB53-105E-8C3B-A9F29A5B0055}"/>
              </a:ext>
            </a:extLst>
          </p:cNvPr>
          <p:cNvSpPr>
            <a:spLocks noGrp="1"/>
          </p:cNvSpPr>
          <p:nvPr>
            <p:ph type="title"/>
          </p:nvPr>
        </p:nvSpPr>
        <p:spPr/>
        <p:txBody>
          <a:bodyPr/>
          <a:lstStyle/>
          <a:p>
            <a:pPr algn="l"/>
            <a:r>
              <a:rPr sz="4600" dirty="0">
                <a:latin typeface="Meiryo"/>
                <a:ea typeface="Meiryo"/>
                <a:cs typeface="Meiryo"/>
              </a:rPr>
              <a:t>3.2  Reflection Index</a:t>
            </a:r>
          </a:p>
        </p:txBody>
      </p:sp>
      <p:pic>
        <p:nvPicPr>
          <p:cNvPr id="3" name="図 2">
            <a:extLst>
              <a:ext uri="{FF2B5EF4-FFF2-40B4-BE49-F238E27FC236}">
                <a16:creationId xmlns:a16="http://schemas.microsoft.com/office/drawing/2014/main" id="{639150FC-4759-1D06-47BB-13778B76B92D}"/>
              </a:ext>
            </a:extLst>
          </p:cNvPr>
          <p:cNvPicPr>
            <a:picLocks noChangeAspect="1"/>
          </p:cNvPicPr>
          <p:nvPr/>
        </p:nvPicPr>
        <p:blipFill>
          <a:blip r:embed="rId3"/>
          <a:srcRect r="48043" b="54220"/>
          <a:stretch>
            <a:fillRect/>
          </a:stretch>
        </p:blipFill>
        <p:spPr>
          <a:xfrm>
            <a:off x="560616" y="2390494"/>
            <a:ext cx="4801419" cy="3100651"/>
          </a:xfrm>
          <a:prstGeom prst="rect">
            <a:avLst/>
          </a:prstGeom>
        </p:spPr>
      </p:pic>
      <p:pic>
        <p:nvPicPr>
          <p:cNvPr id="4" name="図 3">
            <a:extLst>
              <a:ext uri="{FF2B5EF4-FFF2-40B4-BE49-F238E27FC236}">
                <a16:creationId xmlns:a16="http://schemas.microsoft.com/office/drawing/2014/main" id="{962BB7AC-DA1C-BE16-D3C7-0E9FFD71C17D}"/>
              </a:ext>
            </a:extLst>
          </p:cNvPr>
          <p:cNvPicPr>
            <a:picLocks noChangeAspect="1"/>
          </p:cNvPicPr>
          <p:nvPr/>
        </p:nvPicPr>
        <p:blipFill>
          <a:blip r:embed="rId4"/>
          <a:srcRect r="47305" b="49958"/>
          <a:stretch>
            <a:fillRect/>
          </a:stretch>
        </p:blipFill>
        <p:spPr>
          <a:xfrm>
            <a:off x="6135826" y="2171223"/>
            <a:ext cx="4801419" cy="3419682"/>
          </a:xfrm>
          <a:prstGeom prst="rect">
            <a:avLst/>
          </a:prstGeom>
        </p:spPr>
      </p:pic>
      <p:sp>
        <p:nvSpPr>
          <p:cNvPr id="5" name="テキスト ボックス 4">
            <a:extLst>
              <a:ext uri="{FF2B5EF4-FFF2-40B4-BE49-F238E27FC236}">
                <a16:creationId xmlns:a16="http://schemas.microsoft.com/office/drawing/2014/main" id="{753EB817-69D7-0093-73A0-71C10EA3B760}"/>
              </a:ext>
            </a:extLst>
          </p:cNvPr>
          <p:cNvSpPr txBox="1"/>
          <p:nvPr/>
        </p:nvSpPr>
        <p:spPr>
          <a:xfrm>
            <a:off x="1975759" y="1820747"/>
            <a:ext cx="2749471" cy="400110"/>
          </a:xfrm>
          <a:prstGeom prst="rect">
            <a:avLst/>
          </a:prstGeom>
          <a:noFill/>
        </p:spPr>
        <p:txBody>
          <a:bodyPr wrap="none" rtlCol="0">
            <a:spAutoFit/>
          </a:bodyPr>
          <a:lstStyle/>
          <a:p>
            <a:r>
              <a:rPr kumimoji="1" lang="ja-JP" altLang="en-US" sz="2000" b="1"/>
              <a:t>アンジオテンシン投与</a:t>
            </a:r>
          </a:p>
        </p:txBody>
      </p:sp>
      <p:sp>
        <p:nvSpPr>
          <p:cNvPr id="6" name="テキスト ボックス 5">
            <a:extLst>
              <a:ext uri="{FF2B5EF4-FFF2-40B4-BE49-F238E27FC236}">
                <a16:creationId xmlns:a16="http://schemas.microsoft.com/office/drawing/2014/main" id="{EDE3662F-A2C0-DA98-F494-3AA126BCECEE}"/>
              </a:ext>
            </a:extLst>
          </p:cNvPr>
          <p:cNvSpPr txBox="1"/>
          <p:nvPr/>
        </p:nvSpPr>
        <p:spPr>
          <a:xfrm>
            <a:off x="7543533" y="1820747"/>
            <a:ext cx="2749471" cy="400110"/>
          </a:xfrm>
          <a:prstGeom prst="rect">
            <a:avLst/>
          </a:prstGeom>
          <a:noFill/>
        </p:spPr>
        <p:txBody>
          <a:bodyPr wrap="none" rtlCol="0">
            <a:spAutoFit/>
          </a:bodyPr>
          <a:lstStyle/>
          <a:p>
            <a:r>
              <a:rPr kumimoji="1" lang="ja-JP" altLang="en-US" sz="2000" b="1"/>
              <a:t>ニトログリセリン投与</a:t>
            </a:r>
          </a:p>
        </p:txBody>
      </p:sp>
      <p:sp>
        <p:nvSpPr>
          <p:cNvPr id="7" name="Rounded Rectangle 20">
            <a:extLst>
              <a:ext uri="{FF2B5EF4-FFF2-40B4-BE49-F238E27FC236}">
                <a16:creationId xmlns:a16="http://schemas.microsoft.com/office/drawing/2014/main" id="{A886D300-A0C7-4945-DFC8-15572E105CB1}"/>
              </a:ext>
            </a:extLst>
          </p:cNvPr>
          <p:cNvSpPr/>
          <p:nvPr/>
        </p:nvSpPr>
        <p:spPr>
          <a:xfrm>
            <a:off x="2340000" y="5616000"/>
            <a:ext cx="7523999" cy="90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lang="en-US" altLang="ja-JP" sz="2400" b="1" dirty="0">
                <a:solidFill>
                  <a:srgbClr val="262626"/>
                </a:solidFill>
                <a:latin typeface="Meiryo"/>
                <a:ea typeface="Meiryo"/>
                <a:cs typeface="Meiryo"/>
              </a:rPr>
              <a:t>RI</a:t>
            </a:r>
            <a:r>
              <a:rPr lang="ja-JP" altLang="en-US" sz="2400" b="1">
                <a:solidFill>
                  <a:srgbClr val="262626"/>
                </a:solidFill>
                <a:latin typeface="Meiryo"/>
                <a:ea typeface="Meiryo"/>
                <a:cs typeface="Meiryo"/>
              </a:rPr>
              <a:t>は血管収縮・拡張薬と用量依存性に反応する。</a:t>
            </a:r>
            <a:endParaRPr sz="2400" b="1" dirty="0">
              <a:solidFill>
                <a:srgbClr val="262626"/>
              </a:solidFill>
              <a:latin typeface="Meiryo"/>
              <a:ea typeface="Meiryo"/>
              <a:cs typeface="Meiryo"/>
            </a:endParaRPr>
          </a:p>
        </p:txBody>
      </p:sp>
      <p:sp>
        <p:nvSpPr>
          <p:cNvPr id="18"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11. Chowienczyk 1999</a:t>
            </a:r>
          </a:p>
        </p:txBody>
      </p:sp>
      <p:sp>
        <p:nvSpPr>
          <p:cNvPr id="1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57/118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4">
            <a:extLst>
              <a:ext uri="{FF2B5EF4-FFF2-40B4-BE49-F238E27FC236}">
                <a16:creationId xmlns:a16="http://schemas.microsoft.com/office/drawing/2014/main" id="{AA9D36CE-3772-F005-B54C-9329ADA7F086}"/>
              </a:ext>
            </a:extLst>
          </p:cNvPr>
          <p:cNvSpPr/>
          <p:nvPr/>
        </p:nvSpPr>
        <p:spPr>
          <a:xfrm>
            <a:off x="953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319645517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63D79-A0ED-99D2-A804-31F5C81C9A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0491EC-D70F-DD18-A8BB-8C48A3E5DB47}"/>
              </a:ext>
            </a:extLst>
          </p:cNvPr>
          <p:cNvSpPr>
            <a:spLocks noGrp="1"/>
          </p:cNvSpPr>
          <p:nvPr>
            <p:ph type="title"/>
          </p:nvPr>
        </p:nvSpPr>
        <p:spPr/>
        <p:txBody>
          <a:bodyPr/>
          <a:lstStyle/>
          <a:p>
            <a:pPr algn="l"/>
            <a:r>
              <a:rPr sz="4600" dirty="0">
                <a:latin typeface="Meiryo"/>
                <a:ea typeface="Meiryo"/>
                <a:cs typeface="Meiryo"/>
              </a:rPr>
              <a:t>3.2  Reflection Index</a:t>
            </a:r>
          </a:p>
        </p:txBody>
      </p:sp>
      <p:pic>
        <p:nvPicPr>
          <p:cNvPr id="22" name="図 21">
            <a:extLst>
              <a:ext uri="{FF2B5EF4-FFF2-40B4-BE49-F238E27FC236}">
                <a16:creationId xmlns:a16="http://schemas.microsoft.com/office/drawing/2014/main" id="{4D09E345-A83C-BB82-B903-B4F55D561CCB}"/>
              </a:ext>
            </a:extLst>
          </p:cNvPr>
          <p:cNvPicPr>
            <a:picLocks noChangeAspect="1"/>
          </p:cNvPicPr>
          <p:nvPr/>
        </p:nvPicPr>
        <p:blipFill>
          <a:blip r:embed="rId3"/>
          <a:stretch>
            <a:fillRect/>
          </a:stretch>
        </p:blipFill>
        <p:spPr>
          <a:xfrm>
            <a:off x="540000" y="1728000"/>
            <a:ext cx="6480000" cy="3780000"/>
          </a:xfrm>
          <a:prstGeom prst="rect">
            <a:avLst/>
          </a:prstGeom>
        </p:spPr>
      </p:pic>
      <p:sp>
        <p:nvSpPr>
          <p:cNvPr id="23" name="テキスト ボックス 22">
            <a:extLst>
              <a:ext uri="{FF2B5EF4-FFF2-40B4-BE49-F238E27FC236}">
                <a16:creationId xmlns:a16="http://schemas.microsoft.com/office/drawing/2014/main" id="{67803B91-A8D8-913C-8686-EE0BC9521B48}"/>
              </a:ext>
            </a:extLst>
          </p:cNvPr>
          <p:cNvSpPr txBox="1"/>
          <p:nvPr/>
        </p:nvSpPr>
        <p:spPr>
          <a:xfrm>
            <a:off x="7307169" y="1800000"/>
            <a:ext cx="4680000" cy="3195747"/>
          </a:xfrm>
          <a:prstGeom prst="rect">
            <a:avLst/>
          </a:prstGeom>
          <a:noFill/>
        </p:spPr>
        <p:txBody>
          <a:bodyPr wrap="square" rtlCol="0">
            <a:spAutoFit/>
          </a:bodyPr>
          <a:lstStyle/>
          <a:p>
            <a:pPr>
              <a:spcAft>
                <a:spcPts val="200"/>
              </a:spcAft>
            </a:pPr>
            <a:r>
              <a:rPr kumimoji="1" lang="en-US" altLang="ja-JP" sz="2200" dirty="0">
                <a:latin typeface="+mn-ea"/>
              </a:rPr>
              <a:t>SVR </a:t>
            </a:r>
            <a:r>
              <a:rPr kumimoji="1" lang="ja-JP" altLang="en-US" sz="2200">
                <a:latin typeface="+mn-ea"/>
              </a:rPr>
              <a:t>で</a:t>
            </a:r>
            <a:r>
              <a:rPr kumimoji="1" lang="en-US" altLang="ja-JP" sz="2200" dirty="0">
                <a:latin typeface="+mn-ea"/>
              </a:rPr>
              <a:t> </a:t>
            </a:r>
            <a:r>
              <a:rPr kumimoji="1" lang="en-US" altLang="ja-JP" sz="2200" dirty="0" err="1">
                <a:latin typeface="+mn-ea"/>
              </a:rPr>
              <a:t>低・中・高</a:t>
            </a:r>
            <a:r>
              <a:rPr kumimoji="1" lang="en-US" altLang="ja-JP" sz="2200" dirty="0">
                <a:latin typeface="+mn-ea"/>
              </a:rPr>
              <a:t> </a:t>
            </a:r>
            <a:r>
              <a:rPr kumimoji="1" lang="ja-JP" altLang="en-US" sz="2200">
                <a:latin typeface="+mn-ea"/>
              </a:rPr>
              <a:t>の３群</a:t>
            </a:r>
            <a:r>
              <a:rPr kumimoji="1" lang="en-US" altLang="ja-JP" sz="2200" dirty="0" err="1">
                <a:latin typeface="+mn-ea"/>
              </a:rPr>
              <a:t>に分けて</a:t>
            </a:r>
            <a:endParaRPr kumimoji="1" lang="en-US" altLang="ja-JP" dirty="0">
              <a:latin typeface="+mn-ea"/>
            </a:endParaRPr>
          </a:p>
          <a:p>
            <a:pPr>
              <a:spcAft>
                <a:spcPts val="200"/>
              </a:spcAft>
            </a:pPr>
            <a:r>
              <a:rPr kumimoji="1" lang="en-US" altLang="ja-JP" sz="2200" dirty="0">
                <a:latin typeface="+mn-ea"/>
              </a:rPr>
              <a:t>PPG </a:t>
            </a:r>
            <a:r>
              <a:rPr kumimoji="1" lang="en-US" altLang="ja-JP" sz="2200" dirty="0" err="1">
                <a:latin typeface="+mn-ea"/>
              </a:rPr>
              <a:t>特徴量やバイタル</a:t>
            </a:r>
            <a:r>
              <a:rPr kumimoji="1" lang="ja-JP" altLang="en-US" sz="2200">
                <a:latin typeface="+mn-ea"/>
              </a:rPr>
              <a:t>サインで　分類可能か</a:t>
            </a:r>
            <a:r>
              <a:rPr kumimoji="1" lang="en-US" altLang="ja-JP" sz="2200" dirty="0" err="1">
                <a:latin typeface="+mn-ea"/>
              </a:rPr>
              <a:t>検討</a:t>
            </a:r>
            <a:r>
              <a:rPr kumimoji="1" lang="ja-JP" altLang="en-US" sz="2200">
                <a:latin typeface="+mn-ea"/>
              </a:rPr>
              <a:t>した。</a:t>
            </a:r>
            <a:endParaRPr kumimoji="1" lang="en-US" altLang="ja-JP" dirty="0">
              <a:latin typeface="+mn-ea"/>
            </a:endParaRPr>
          </a:p>
          <a:p>
            <a:pPr>
              <a:spcAft>
                <a:spcPts val="200"/>
              </a:spcAft>
            </a:pPr>
            <a:endParaRPr kumimoji="1" lang="en-US" altLang="ja-JP" dirty="0">
              <a:latin typeface="+mn-ea"/>
            </a:endParaRPr>
          </a:p>
          <a:p>
            <a:pPr>
              <a:spcAft>
                <a:spcPts val="200"/>
              </a:spcAft>
            </a:pPr>
            <a:r>
              <a:rPr kumimoji="1" lang="en-US" altLang="ja-JP" sz="2200" dirty="0">
                <a:latin typeface="+mn-ea"/>
              </a:rPr>
              <a:t>ICU 患者 48人。</a:t>
            </a:r>
            <a:endParaRPr kumimoji="1" lang="en-US" altLang="ja-JP" dirty="0">
              <a:latin typeface="+mn-ea"/>
            </a:endParaRPr>
          </a:p>
          <a:p>
            <a:pPr>
              <a:spcAft>
                <a:spcPts val="200"/>
              </a:spcAft>
            </a:pPr>
            <a:endParaRPr kumimoji="1" lang="en-US" altLang="ja-JP" dirty="0">
              <a:latin typeface="+mn-ea"/>
            </a:endParaRPr>
          </a:p>
          <a:p>
            <a:pPr>
              <a:spcAft>
                <a:spcPts val="200"/>
              </a:spcAft>
            </a:pPr>
            <a:r>
              <a:rPr kumimoji="1" lang="en-US" altLang="ja-JP" sz="2200" dirty="0">
                <a:latin typeface="+mn-ea"/>
              </a:rPr>
              <a:t>・低SVR で RI は低下する。</a:t>
            </a:r>
            <a:endParaRPr kumimoji="1" lang="en-US" altLang="ja-JP" dirty="0">
              <a:latin typeface="+mn-ea"/>
            </a:endParaRPr>
          </a:p>
          <a:p>
            <a:pPr>
              <a:spcAft>
                <a:spcPts val="200"/>
              </a:spcAft>
            </a:pPr>
            <a:r>
              <a:rPr kumimoji="1" lang="en-US" altLang="ja-JP" sz="2200" dirty="0">
                <a:latin typeface="+mn-ea"/>
              </a:rPr>
              <a:t>・</a:t>
            </a:r>
            <a:r>
              <a:rPr kumimoji="1" lang="en-US" altLang="ja-JP" sz="2200" dirty="0" err="1">
                <a:latin typeface="+mn-ea"/>
              </a:rPr>
              <a:t>単独の特徴量では識別能力が</a:t>
            </a:r>
            <a:r>
              <a:rPr kumimoji="1" lang="ja-JP" altLang="en-US" sz="2200">
                <a:latin typeface="+mn-ea"/>
              </a:rPr>
              <a:t>高め。</a:t>
            </a:r>
            <a:endParaRPr kumimoji="1" lang="en-US" altLang="ja-JP" sz="2200" dirty="0">
              <a:latin typeface="+mn-ea"/>
            </a:endParaRPr>
          </a:p>
          <a:p>
            <a:pPr>
              <a:spcAft>
                <a:spcPts val="200"/>
              </a:spcAft>
            </a:pPr>
            <a:r>
              <a:rPr lang="ja-JP" altLang="en-US" sz="2200">
                <a:latin typeface="+mn-ea"/>
              </a:rPr>
              <a:t>・RI 単独 κ=0.33</a:t>
            </a:r>
            <a:endParaRPr kumimoji="1" lang="en-US" altLang="ja-JP" dirty="0">
              <a:latin typeface="+mn-ea"/>
            </a:endParaRPr>
          </a:p>
        </p:txBody>
      </p:sp>
      <p:sp>
        <p:nvSpPr>
          <p:cNvPr id="3" name="callout">
            <a:extLst>
              <a:ext uri="{FF2B5EF4-FFF2-40B4-BE49-F238E27FC236}">
                <a16:creationId xmlns:a16="http://schemas.microsoft.com/office/drawing/2014/main" id="{71DB1571-7D05-1607-6033-17C6704F9E20}"/>
              </a:ext>
            </a:extLst>
          </p:cNvPr>
          <p:cNvSpPr/>
          <p:nvPr/>
        </p:nvSpPr>
        <p:spPr>
          <a:xfrm>
            <a:off x="540001" y="4504179"/>
            <a:ext cx="6480000" cy="216000"/>
          </a:xfrm>
          <a:prstGeom prst="roundRect">
            <a:avLst>
              <a:gd name="adj" fmla="val 21191"/>
            </a:avLst>
          </a:prstGeom>
          <a:solidFill>
            <a:srgbClr val="F2E2B3">
              <a:alpha val="28000"/>
            </a:srgbClr>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endParaRPr sz="2400" b="1" dirty="0">
              <a:solidFill>
                <a:srgbClr val="262626"/>
              </a:solidFill>
              <a:latin typeface="Meiryo"/>
              <a:ea typeface="Meiryo"/>
              <a:cs typeface="Meiryo"/>
            </a:endParaRPr>
          </a:p>
        </p:txBody>
      </p:sp>
      <p:sp>
        <p:nvSpPr>
          <p:cNvPr id="24" name="Source"/>
          <p:cNvSpPr txBox="1"/>
          <p:nvPr/>
        </p:nvSpPr>
        <p:spPr>
          <a:xfrm>
            <a:off x="720000" y="6606000"/>
            <a:ext cx="10881360" cy="161583"/>
          </a:xfrm>
          <a:prstGeom prst="rect">
            <a:avLst/>
          </a:prstGeom>
          <a:noFill/>
        </p:spPr>
        <p:txBody>
          <a:bodyPr wrap="square" lIns="0" tIns="0" rIns="0" bIns="0" anchor="t">
            <a:spAutoFit/>
          </a:bodyPr>
          <a:lstStyle/>
          <a:p>
            <a:pPr algn="l"/>
            <a:r>
              <a:rPr sz="1050" b="0" dirty="0">
                <a:solidFill>
                  <a:srgbClr val="808080"/>
                </a:solidFill>
                <a:latin typeface="Meiryo"/>
                <a:ea typeface="Meiryo"/>
                <a:cs typeface="Meiryo"/>
              </a:rPr>
              <a:t>22. Lee 2011</a:t>
            </a:r>
          </a:p>
        </p:txBody>
      </p:sp>
      <p:sp>
        <p:nvSpPr>
          <p:cNvPr id="25"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58/118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4">
            <a:extLst>
              <a:ext uri="{FF2B5EF4-FFF2-40B4-BE49-F238E27FC236}">
                <a16:creationId xmlns:a16="http://schemas.microsoft.com/office/drawing/2014/main" id="{AA9D36CE-3772-F005-B54C-9329ADA7F086}"/>
              </a:ext>
            </a:extLst>
          </p:cNvPr>
          <p:cNvSpPr/>
          <p:nvPr/>
        </p:nvSpPr>
        <p:spPr>
          <a:xfrm>
            <a:off x="953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78597516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B621EB6-121F-AD4D-699D-FAE858E858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7A7913-E1A2-6038-1CFC-011E88F2F4B0}"/>
              </a:ext>
            </a:extLst>
          </p:cNvPr>
          <p:cNvSpPr>
            <a:spLocks noGrp="1"/>
          </p:cNvSpPr>
          <p:nvPr>
            <p:ph type="title"/>
          </p:nvPr>
        </p:nvSpPr>
        <p:spPr/>
        <p:txBody>
          <a:bodyPr/>
          <a:lstStyle/>
          <a:p>
            <a:pPr algn="l"/>
            <a:r>
              <a:rPr sz="4600" dirty="0">
                <a:latin typeface="Meiryo"/>
                <a:ea typeface="Meiryo"/>
                <a:cs typeface="Meiryo"/>
              </a:rPr>
              <a:t>3.2  RI と心拍数</a:t>
            </a:r>
          </a:p>
        </p:txBody>
      </p:sp>
      <p:sp>
        <p:nvSpPr>
          <p:cNvPr id="19" name="wbox"/>
          <p:cNvSpPr/>
          <p:nvPr/>
        </p:nvSpPr>
        <p:spPr>
          <a:xfrm>
            <a:off x="548640" y="2157984"/>
            <a:ext cx="5577840" cy="2139696"/>
          </a:xfrm>
          <a:prstGeom prst="roundRect">
            <a:avLst>
              <a:gd name="adj" fmla="val 8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0" name="wbase"/>
          <p:cNvCxnSpPr/>
          <p:nvPr/>
        </p:nvCxnSpPr>
        <p:spPr>
          <a:xfrm>
            <a:off x="731520" y="4023360"/>
            <a:ext cx="5212080"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3" name="w_low"/>
          <p:cNvSpPr/>
          <p:nvPr/>
        </p:nvSpPr>
        <p:spPr>
          <a:xfrm>
            <a:off x="731520" y="2232758"/>
            <a:ext cx="5212080" cy="1790602"/>
          </a:xfrm>
          <a:custGeom>
            <a:avLst/>
            <a:gdLst/>
            <a:ahLst/>
            <a:cxnLst/>
            <a:rect l="l" t="t" r="r" b="b"/>
            <a:pathLst>
              <a:path w="5212080" h="1790602">
                <a:moveTo>
                  <a:pt x="0" y="1788206"/>
                </a:moveTo>
                <a:lnTo>
                  <a:pt x="29118" y="1787153"/>
                </a:lnTo>
                <a:lnTo>
                  <a:pt x="58236" y="1785689"/>
                </a:lnTo>
                <a:lnTo>
                  <a:pt x="87353" y="1783675"/>
                </a:lnTo>
                <a:lnTo>
                  <a:pt x="116471" y="1780936"/>
                </a:lnTo>
                <a:lnTo>
                  <a:pt x="145589" y="1777251"/>
                </a:lnTo>
                <a:lnTo>
                  <a:pt x="174707" y="1772351"/>
                </a:lnTo>
                <a:lnTo>
                  <a:pt x="203824" y="1765910"/>
                </a:lnTo>
                <a:lnTo>
                  <a:pt x="232942" y="1757537"/>
                </a:lnTo>
                <a:lnTo>
                  <a:pt x="262060" y="1746780"/>
                </a:lnTo>
                <a:lnTo>
                  <a:pt x="291178" y="1733118"/>
                </a:lnTo>
                <a:lnTo>
                  <a:pt x="320295" y="1715972"/>
                </a:lnTo>
                <a:lnTo>
                  <a:pt x="349413" y="1694706"/>
                </a:lnTo>
                <a:lnTo>
                  <a:pt x="378531" y="1668644"/>
                </a:lnTo>
                <a:lnTo>
                  <a:pt x="407649" y="1637091"/>
                </a:lnTo>
                <a:lnTo>
                  <a:pt x="436766" y="1599358"/>
                </a:lnTo>
                <a:lnTo>
                  <a:pt x="465884" y="1554794"/>
                </a:lnTo>
                <a:lnTo>
                  <a:pt x="495002" y="1502828"/>
                </a:lnTo>
                <a:lnTo>
                  <a:pt x="524120" y="1443014"/>
                </a:lnTo>
                <a:lnTo>
                  <a:pt x="553238" y="1375073"/>
                </a:lnTo>
                <a:lnTo>
                  <a:pt x="582355" y="1298949"/>
                </a:lnTo>
                <a:lnTo>
                  <a:pt x="611473" y="1214844"/>
                </a:lnTo>
                <a:lnTo>
                  <a:pt x="640591" y="1123266"/>
                </a:lnTo>
                <a:lnTo>
                  <a:pt x="669709" y="1025052"/>
                </a:lnTo>
                <a:lnTo>
                  <a:pt x="698826" y="921386"/>
                </a:lnTo>
                <a:lnTo>
                  <a:pt x="727944" y="813794"/>
                </a:lnTo>
                <a:lnTo>
                  <a:pt x="757062" y="704130"/>
                </a:lnTo>
                <a:lnTo>
                  <a:pt x="786180" y="594527"/>
                </a:lnTo>
                <a:lnTo>
                  <a:pt x="815297" y="487342"/>
                </a:lnTo>
                <a:lnTo>
                  <a:pt x="844415" y="385074"/>
                </a:lnTo>
                <a:lnTo>
                  <a:pt x="873533" y="290269"/>
                </a:lnTo>
                <a:lnTo>
                  <a:pt x="902651" y="205415"/>
                </a:lnTo>
                <a:lnTo>
                  <a:pt x="931768" y="132834"/>
                </a:lnTo>
                <a:lnTo>
                  <a:pt x="960886" y="74568"/>
                </a:lnTo>
                <a:lnTo>
                  <a:pt x="990004" y="32288"/>
                </a:lnTo>
                <a:lnTo>
                  <a:pt x="1019122" y="7202"/>
                </a:lnTo>
                <a:lnTo>
                  <a:pt x="1048240" y="0"/>
                </a:lnTo>
                <a:lnTo>
                  <a:pt x="1077357" y="10810"/>
                </a:lnTo>
                <a:lnTo>
                  <a:pt x="1106475" y="39195"/>
                </a:lnTo>
                <a:lnTo>
                  <a:pt x="1135593" y="84168"/>
                </a:lnTo>
                <a:lnTo>
                  <a:pt x="1164711" y="144245"/>
                </a:lnTo>
                <a:lnTo>
                  <a:pt x="1193828" y="217511"/>
                </a:lnTo>
                <a:lnTo>
                  <a:pt x="1222946" y="301715"/>
                </a:lnTo>
                <a:lnTo>
                  <a:pt x="1252064" y="394372"/>
                </a:lnTo>
                <a:lnTo>
                  <a:pt x="1281182" y="492871"/>
                </a:lnTo>
                <a:lnTo>
                  <a:pt x="1310299" y="594588"/>
                </a:lnTo>
                <a:lnTo>
                  <a:pt x="1339417" y="696987"/>
                </a:lnTo>
                <a:lnTo>
                  <a:pt x="1368535" y="797707"/>
                </a:lnTo>
                <a:lnTo>
                  <a:pt x="1397653" y="894641"/>
                </a:lnTo>
                <a:lnTo>
                  <a:pt x="1426771" y="985985"/>
                </a:lnTo>
                <a:lnTo>
                  <a:pt x="1455888" y="1070275"/>
                </a:lnTo>
                <a:lnTo>
                  <a:pt x="1485006" y="1146400"/>
                </a:lnTo>
                <a:lnTo>
                  <a:pt x="1514124" y="1213600"/>
                </a:lnTo>
                <a:lnTo>
                  <a:pt x="1543242" y="1271442"/>
                </a:lnTo>
                <a:lnTo>
                  <a:pt x="1572359" y="1319794"/>
                </a:lnTo>
                <a:lnTo>
                  <a:pt x="1601477" y="1358783"/>
                </a:lnTo>
                <a:lnTo>
                  <a:pt x="1630595" y="1388748"/>
                </a:lnTo>
                <a:lnTo>
                  <a:pt x="1659713" y="1410198"/>
                </a:lnTo>
                <a:lnTo>
                  <a:pt x="1688830" y="1423764"/>
                </a:lnTo>
                <a:lnTo>
                  <a:pt x="1717948" y="1430160"/>
                </a:lnTo>
                <a:lnTo>
                  <a:pt x="1747066" y="1430147"/>
                </a:lnTo>
                <a:lnTo>
                  <a:pt x="1776184" y="1424501"/>
                </a:lnTo>
                <a:lnTo>
                  <a:pt x="1805301" y="1413993"/>
                </a:lnTo>
                <a:lnTo>
                  <a:pt x="1834419" y="1399369"/>
                </a:lnTo>
                <a:lnTo>
                  <a:pt x="1863537" y="1381338"/>
                </a:lnTo>
                <a:lnTo>
                  <a:pt x="1892655" y="1360571"/>
                </a:lnTo>
                <a:lnTo>
                  <a:pt x="1921773" y="1337690"/>
                </a:lnTo>
                <a:lnTo>
                  <a:pt x="1950890" y="1313273"/>
                </a:lnTo>
                <a:lnTo>
                  <a:pt x="1980008" y="1287854"/>
                </a:lnTo>
                <a:lnTo>
                  <a:pt x="2009126" y="1261925"/>
                </a:lnTo>
                <a:lnTo>
                  <a:pt x="2038244" y="1235943"/>
                </a:lnTo>
                <a:lnTo>
                  <a:pt x="2067361" y="1210327"/>
                </a:lnTo>
                <a:lnTo>
                  <a:pt x="2096479" y="1185467"/>
                </a:lnTo>
                <a:lnTo>
                  <a:pt x="2125597" y="1161721"/>
                </a:lnTo>
                <a:lnTo>
                  <a:pt x="2154715" y="1139418"/>
                </a:lnTo>
                <a:lnTo>
                  <a:pt x="2183832" y="1118861"/>
                </a:lnTo>
                <a:lnTo>
                  <a:pt x="2212950" y="1100319"/>
                </a:lnTo>
                <a:lnTo>
                  <a:pt x="2242068" y="1084036"/>
                </a:lnTo>
                <a:lnTo>
                  <a:pt x="2271186" y="1070222"/>
                </a:lnTo>
                <a:lnTo>
                  <a:pt x="2300303" y="1059054"/>
                </a:lnTo>
                <a:lnTo>
                  <a:pt x="2329421" y="1050677"/>
                </a:lnTo>
                <a:lnTo>
                  <a:pt x="2358539" y="1045198"/>
                </a:lnTo>
                <a:lnTo>
                  <a:pt x="2387657" y="1042688"/>
                </a:lnTo>
                <a:lnTo>
                  <a:pt x="2416775" y="1043181"/>
                </a:lnTo>
                <a:lnTo>
                  <a:pt x="2445892" y="1046675"/>
                </a:lnTo>
                <a:lnTo>
                  <a:pt x="2475010" y="1053127"/>
                </a:lnTo>
                <a:lnTo>
                  <a:pt x="2504128" y="1062462"/>
                </a:lnTo>
                <a:lnTo>
                  <a:pt x="2533246" y="1074570"/>
                </a:lnTo>
                <a:lnTo>
                  <a:pt x="2562363" y="1089307"/>
                </a:lnTo>
                <a:lnTo>
                  <a:pt x="2591481" y="1106504"/>
                </a:lnTo>
                <a:lnTo>
                  <a:pt x="2620599" y="1125963"/>
                </a:lnTo>
                <a:lnTo>
                  <a:pt x="2649717" y="1147465"/>
                </a:lnTo>
                <a:lnTo>
                  <a:pt x="2678834" y="1170775"/>
                </a:lnTo>
                <a:lnTo>
                  <a:pt x="2707952" y="1195642"/>
                </a:lnTo>
                <a:lnTo>
                  <a:pt x="2737070" y="1221809"/>
                </a:lnTo>
                <a:lnTo>
                  <a:pt x="2766188" y="1249012"/>
                </a:lnTo>
                <a:lnTo>
                  <a:pt x="2795305" y="1276989"/>
                </a:lnTo>
                <a:lnTo>
                  <a:pt x="2824423" y="1305479"/>
                </a:lnTo>
                <a:lnTo>
                  <a:pt x="2853541" y="1334232"/>
                </a:lnTo>
                <a:lnTo>
                  <a:pt x="2882659" y="1363007"/>
                </a:lnTo>
                <a:lnTo>
                  <a:pt x="2911777" y="1391579"/>
                </a:lnTo>
                <a:lnTo>
                  <a:pt x="2940894" y="1419740"/>
                </a:lnTo>
                <a:lnTo>
                  <a:pt x="2970012" y="1447300"/>
                </a:lnTo>
                <a:lnTo>
                  <a:pt x="2999130" y="1474090"/>
                </a:lnTo>
                <a:lnTo>
                  <a:pt x="3028248" y="1499963"/>
                </a:lnTo>
                <a:lnTo>
                  <a:pt x="3057365" y="1524795"/>
                </a:lnTo>
                <a:lnTo>
                  <a:pt x="3086483" y="1548482"/>
                </a:lnTo>
                <a:lnTo>
                  <a:pt x="3115601" y="1570946"/>
                </a:lnTo>
                <a:lnTo>
                  <a:pt x="3144719" y="1592127"/>
                </a:lnTo>
                <a:lnTo>
                  <a:pt x="3173836" y="1611987"/>
                </a:lnTo>
                <a:lnTo>
                  <a:pt x="3202954" y="1630506"/>
                </a:lnTo>
                <a:lnTo>
                  <a:pt x="3232072" y="1647683"/>
                </a:lnTo>
                <a:lnTo>
                  <a:pt x="3261190" y="1663529"/>
                </a:lnTo>
                <a:lnTo>
                  <a:pt x="3290307" y="1678073"/>
                </a:lnTo>
                <a:lnTo>
                  <a:pt x="3319425" y="1691354"/>
                </a:lnTo>
                <a:lnTo>
                  <a:pt x="3348543" y="1703419"/>
                </a:lnTo>
                <a:lnTo>
                  <a:pt x="3377661" y="1714325"/>
                </a:lnTo>
                <a:lnTo>
                  <a:pt x="3406779" y="1724135"/>
                </a:lnTo>
                <a:lnTo>
                  <a:pt x="3435896" y="1732917"/>
                </a:lnTo>
                <a:lnTo>
                  <a:pt x="3465014" y="1740740"/>
                </a:lnTo>
                <a:lnTo>
                  <a:pt x="3494132" y="1747675"/>
                </a:lnTo>
                <a:lnTo>
                  <a:pt x="3523250" y="1753794"/>
                </a:lnTo>
                <a:lnTo>
                  <a:pt x="3552367" y="1759168"/>
                </a:lnTo>
                <a:lnTo>
                  <a:pt x="3581485" y="1763865"/>
                </a:lnTo>
                <a:lnTo>
                  <a:pt x="3610603" y="1767952"/>
                </a:lnTo>
                <a:lnTo>
                  <a:pt x="3639721" y="1771492"/>
                </a:lnTo>
                <a:lnTo>
                  <a:pt x="3668838" y="1774543"/>
                </a:lnTo>
                <a:lnTo>
                  <a:pt x="3697956" y="1777161"/>
                </a:lnTo>
                <a:lnTo>
                  <a:pt x="3727074" y="1779398"/>
                </a:lnTo>
                <a:lnTo>
                  <a:pt x="3756192" y="1781300"/>
                </a:lnTo>
                <a:lnTo>
                  <a:pt x="3785309" y="1782910"/>
                </a:lnTo>
                <a:lnTo>
                  <a:pt x="3814427" y="1784267"/>
                </a:lnTo>
                <a:lnTo>
                  <a:pt x="3843545" y="1785405"/>
                </a:lnTo>
                <a:lnTo>
                  <a:pt x="3872663" y="1786357"/>
                </a:lnTo>
                <a:lnTo>
                  <a:pt x="3901781" y="1787148"/>
                </a:lnTo>
                <a:lnTo>
                  <a:pt x="3930898" y="1787803"/>
                </a:lnTo>
                <a:lnTo>
                  <a:pt x="3960016" y="1788342"/>
                </a:lnTo>
                <a:lnTo>
                  <a:pt x="3989134" y="1788786"/>
                </a:lnTo>
                <a:lnTo>
                  <a:pt x="4018252" y="1789148"/>
                </a:lnTo>
                <a:lnTo>
                  <a:pt x="4047369" y="1789442"/>
                </a:lnTo>
                <a:lnTo>
                  <a:pt x="4076487" y="1789681"/>
                </a:lnTo>
                <a:lnTo>
                  <a:pt x="4105605" y="1789873"/>
                </a:lnTo>
                <a:lnTo>
                  <a:pt x="4134723" y="1790028"/>
                </a:lnTo>
                <a:lnTo>
                  <a:pt x="4163840" y="1790151"/>
                </a:lnTo>
                <a:lnTo>
                  <a:pt x="4192958" y="1790250"/>
                </a:lnTo>
                <a:lnTo>
                  <a:pt x="4222076" y="1790328"/>
                </a:lnTo>
                <a:lnTo>
                  <a:pt x="4251194" y="1790390"/>
                </a:lnTo>
                <a:lnTo>
                  <a:pt x="4280312" y="1790438"/>
                </a:lnTo>
                <a:lnTo>
                  <a:pt x="4309429" y="1790476"/>
                </a:lnTo>
                <a:lnTo>
                  <a:pt x="4338547" y="1790505"/>
                </a:lnTo>
                <a:lnTo>
                  <a:pt x="4367665" y="1790528"/>
                </a:lnTo>
                <a:lnTo>
                  <a:pt x="4396783" y="1790546"/>
                </a:lnTo>
                <a:lnTo>
                  <a:pt x="4425900" y="1790560"/>
                </a:lnTo>
                <a:lnTo>
                  <a:pt x="4455018" y="1790570"/>
                </a:lnTo>
                <a:lnTo>
                  <a:pt x="4484136" y="1790578"/>
                </a:lnTo>
                <a:lnTo>
                  <a:pt x="4513254" y="1790584"/>
                </a:lnTo>
                <a:lnTo>
                  <a:pt x="4542371" y="1790589"/>
                </a:lnTo>
                <a:lnTo>
                  <a:pt x="4571489" y="1790592"/>
                </a:lnTo>
                <a:lnTo>
                  <a:pt x="4600607" y="1790595"/>
                </a:lnTo>
                <a:lnTo>
                  <a:pt x="4629725" y="1790597"/>
                </a:lnTo>
                <a:lnTo>
                  <a:pt x="4658842" y="1790598"/>
                </a:lnTo>
                <a:lnTo>
                  <a:pt x="4687960" y="1790599"/>
                </a:lnTo>
                <a:lnTo>
                  <a:pt x="4717078" y="1790600"/>
                </a:lnTo>
                <a:lnTo>
                  <a:pt x="4746196" y="1790600"/>
                </a:lnTo>
                <a:lnTo>
                  <a:pt x="4775314" y="1790601"/>
                </a:lnTo>
                <a:lnTo>
                  <a:pt x="4804431" y="1790601"/>
                </a:lnTo>
                <a:lnTo>
                  <a:pt x="4833549" y="1790601"/>
                </a:lnTo>
                <a:lnTo>
                  <a:pt x="4862667" y="1790602"/>
                </a:lnTo>
                <a:lnTo>
                  <a:pt x="4891785" y="1790602"/>
                </a:lnTo>
                <a:lnTo>
                  <a:pt x="4920902" y="1790602"/>
                </a:lnTo>
                <a:lnTo>
                  <a:pt x="4950020" y="1790602"/>
                </a:lnTo>
                <a:lnTo>
                  <a:pt x="4979138" y="1790602"/>
                </a:lnTo>
                <a:lnTo>
                  <a:pt x="5008256" y="1790602"/>
                </a:lnTo>
                <a:lnTo>
                  <a:pt x="5037373" y="1790602"/>
                </a:lnTo>
                <a:lnTo>
                  <a:pt x="5066491" y="1790602"/>
                </a:lnTo>
                <a:lnTo>
                  <a:pt x="5095609" y="1790602"/>
                </a:lnTo>
                <a:lnTo>
                  <a:pt x="5124727" y="1790602"/>
                </a:lnTo>
                <a:lnTo>
                  <a:pt x="5153844" y="1790602"/>
                </a:lnTo>
                <a:lnTo>
                  <a:pt x="5182962" y="1790602"/>
                </a:lnTo>
                <a:lnTo>
                  <a:pt x="5212080" y="1790602"/>
                </a:lnTo>
              </a:path>
            </a:pathLst>
          </a:custGeom>
          <a:noFill/>
          <a:ln w="31750">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w_high"/>
          <p:cNvSpPr/>
          <p:nvPr/>
        </p:nvSpPr>
        <p:spPr>
          <a:xfrm>
            <a:off x="731520" y="2236453"/>
            <a:ext cx="5212080" cy="1786907"/>
          </a:xfrm>
          <a:custGeom>
            <a:avLst/>
            <a:gdLst/>
            <a:ahLst/>
            <a:cxnLst/>
            <a:rect l="l" t="t" r="r" b="b"/>
            <a:pathLst>
              <a:path w="5212080" h="1786907">
                <a:moveTo>
                  <a:pt x="0" y="1786604"/>
                </a:moveTo>
                <a:lnTo>
                  <a:pt x="29118" y="1786419"/>
                </a:lnTo>
                <a:lnTo>
                  <a:pt x="58236" y="1786130"/>
                </a:lnTo>
                <a:lnTo>
                  <a:pt x="87353" y="1785687"/>
                </a:lnTo>
                <a:lnTo>
                  <a:pt x="116471" y="1785018"/>
                </a:lnTo>
                <a:lnTo>
                  <a:pt x="145589" y="1784021"/>
                </a:lnTo>
                <a:lnTo>
                  <a:pt x="174707" y="1782556"/>
                </a:lnTo>
                <a:lnTo>
                  <a:pt x="203824" y="1780436"/>
                </a:lnTo>
                <a:lnTo>
                  <a:pt x="232942" y="1777413"/>
                </a:lnTo>
                <a:lnTo>
                  <a:pt x="262060" y="1773164"/>
                </a:lnTo>
                <a:lnTo>
                  <a:pt x="291178" y="1767283"/>
                </a:lnTo>
                <a:lnTo>
                  <a:pt x="320295" y="1759261"/>
                </a:lnTo>
                <a:lnTo>
                  <a:pt x="349413" y="1748484"/>
                </a:lnTo>
                <a:lnTo>
                  <a:pt x="378531" y="1734224"/>
                </a:lnTo>
                <a:lnTo>
                  <a:pt x="407649" y="1715644"/>
                </a:lnTo>
                <a:lnTo>
                  <a:pt x="436766" y="1691809"/>
                </a:lnTo>
                <a:lnTo>
                  <a:pt x="465884" y="1661708"/>
                </a:lnTo>
                <a:lnTo>
                  <a:pt x="495002" y="1624296"/>
                </a:lnTo>
                <a:lnTo>
                  <a:pt x="524120" y="1578547"/>
                </a:lnTo>
                <a:lnTo>
                  <a:pt x="553238" y="1523517"/>
                </a:lnTo>
                <a:lnTo>
                  <a:pt x="582355" y="1458432"/>
                </a:lnTo>
                <a:lnTo>
                  <a:pt x="611473" y="1382774"/>
                </a:lnTo>
                <a:lnTo>
                  <a:pt x="640591" y="1296377"/>
                </a:lnTo>
                <a:lnTo>
                  <a:pt x="669709" y="1199516"/>
                </a:lnTo>
                <a:lnTo>
                  <a:pt x="698826" y="1092987"/>
                </a:lnTo>
                <a:lnTo>
                  <a:pt x="727944" y="978158"/>
                </a:lnTo>
                <a:lnTo>
                  <a:pt x="757062" y="856998"/>
                </a:lnTo>
                <a:lnTo>
                  <a:pt x="786180" y="732056"/>
                </a:lnTo>
                <a:lnTo>
                  <a:pt x="815297" y="606402"/>
                </a:lnTo>
                <a:lnTo>
                  <a:pt x="844415" y="483523"/>
                </a:lnTo>
                <a:lnTo>
                  <a:pt x="873533" y="367169"/>
                </a:lnTo>
                <a:lnTo>
                  <a:pt x="902651" y="261172"/>
                </a:lnTo>
                <a:lnTo>
                  <a:pt x="931768" y="169238"/>
                </a:lnTo>
                <a:lnTo>
                  <a:pt x="960886" y="94725"/>
                </a:lnTo>
                <a:lnTo>
                  <a:pt x="990004" y="40443"/>
                </a:lnTo>
                <a:lnTo>
                  <a:pt x="1019122" y="8466"/>
                </a:lnTo>
                <a:lnTo>
                  <a:pt x="1048240" y="0"/>
                </a:lnTo>
                <a:lnTo>
                  <a:pt x="1077357" y="15297"/>
                </a:lnTo>
                <a:lnTo>
                  <a:pt x="1106475" y="53636"/>
                </a:lnTo>
                <a:lnTo>
                  <a:pt x="1135593" y="113367"/>
                </a:lnTo>
                <a:lnTo>
                  <a:pt x="1164711" y="192021"/>
                </a:lnTo>
                <a:lnTo>
                  <a:pt x="1193828" y="286461"/>
                </a:lnTo>
                <a:lnTo>
                  <a:pt x="1222946" y="393080"/>
                </a:lnTo>
                <a:lnTo>
                  <a:pt x="1252064" y="508014"/>
                </a:lnTo>
                <a:lnTo>
                  <a:pt x="1281182" y="627355"/>
                </a:lnTo>
                <a:lnTo>
                  <a:pt x="1310299" y="747358"/>
                </a:lnTo>
                <a:lnTo>
                  <a:pt x="1339417" y="864606"/>
                </a:lnTo>
                <a:lnTo>
                  <a:pt x="1368535" y="976154"/>
                </a:lnTo>
                <a:lnTo>
                  <a:pt x="1397653" y="1079609"/>
                </a:lnTo>
                <a:lnTo>
                  <a:pt x="1426771" y="1173182"/>
                </a:lnTo>
                <a:lnTo>
                  <a:pt x="1455888" y="1255685"/>
                </a:lnTo>
                <a:lnTo>
                  <a:pt x="1485006" y="1326499"/>
                </a:lnTo>
                <a:lnTo>
                  <a:pt x="1514124" y="1385508"/>
                </a:lnTo>
                <a:lnTo>
                  <a:pt x="1543242" y="1433020"/>
                </a:lnTo>
                <a:lnTo>
                  <a:pt x="1572359" y="1469678"/>
                </a:lnTo>
                <a:lnTo>
                  <a:pt x="1601477" y="1496364"/>
                </a:lnTo>
                <a:lnTo>
                  <a:pt x="1630595" y="1514117"/>
                </a:lnTo>
                <a:lnTo>
                  <a:pt x="1659713" y="1524056"/>
                </a:lnTo>
                <a:lnTo>
                  <a:pt x="1688830" y="1527321"/>
                </a:lnTo>
                <a:lnTo>
                  <a:pt x="1717948" y="1525023"/>
                </a:lnTo>
                <a:lnTo>
                  <a:pt x="1747066" y="1518215"/>
                </a:lnTo>
                <a:lnTo>
                  <a:pt x="1776184" y="1507868"/>
                </a:lnTo>
                <a:lnTo>
                  <a:pt x="1805301" y="1494864"/>
                </a:lnTo>
                <a:lnTo>
                  <a:pt x="1834419" y="1479993"/>
                </a:lnTo>
                <a:lnTo>
                  <a:pt x="1863537" y="1463953"/>
                </a:lnTo>
                <a:lnTo>
                  <a:pt x="1892655" y="1447362"/>
                </a:lnTo>
                <a:lnTo>
                  <a:pt x="1921773" y="1430763"/>
                </a:lnTo>
                <a:lnTo>
                  <a:pt x="1950890" y="1414632"/>
                </a:lnTo>
                <a:lnTo>
                  <a:pt x="1980008" y="1399384"/>
                </a:lnTo>
                <a:lnTo>
                  <a:pt x="2009126" y="1385379"/>
                </a:lnTo>
                <a:lnTo>
                  <a:pt x="2038244" y="1372930"/>
                </a:lnTo>
                <a:lnTo>
                  <a:pt x="2067361" y="1362299"/>
                </a:lnTo>
                <a:lnTo>
                  <a:pt x="2096479" y="1353703"/>
                </a:lnTo>
                <a:lnTo>
                  <a:pt x="2125597" y="1347315"/>
                </a:lnTo>
                <a:lnTo>
                  <a:pt x="2154715" y="1343260"/>
                </a:lnTo>
                <a:lnTo>
                  <a:pt x="2183832" y="1341620"/>
                </a:lnTo>
                <a:lnTo>
                  <a:pt x="2212950" y="1342432"/>
                </a:lnTo>
                <a:lnTo>
                  <a:pt x="2242068" y="1345689"/>
                </a:lnTo>
                <a:lnTo>
                  <a:pt x="2271186" y="1351340"/>
                </a:lnTo>
                <a:lnTo>
                  <a:pt x="2300303" y="1359294"/>
                </a:lnTo>
                <a:lnTo>
                  <a:pt x="2329421" y="1369424"/>
                </a:lnTo>
                <a:lnTo>
                  <a:pt x="2358539" y="1381569"/>
                </a:lnTo>
                <a:lnTo>
                  <a:pt x="2387657" y="1395537"/>
                </a:lnTo>
                <a:lnTo>
                  <a:pt x="2416775" y="1411114"/>
                </a:lnTo>
                <a:lnTo>
                  <a:pt x="2445892" y="1428068"/>
                </a:lnTo>
                <a:lnTo>
                  <a:pt x="2475010" y="1446152"/>
                </a:lnTo>
                <a:lnTo>
                  <a:pt x="2504128" y="1465116"/>
                </a:lnTo>
                <a:lnTo>
                  <a:pt x="2533246" y="1484705"/>
                </a:lnTo>
                <a:lnTo>
                  <a:pt x="2562363" y="1504673"/>
                </a:lnTo>
                <a:lnTo>
                  <a:pt x="2591481" y="1524779"/>
                </a:lnTo>
                <a:lnTo>
                  <a:pt x="2620599" y="1544800"/>
                </a:lnTo>
                <a:lnTo>
                  <a:pt x="2649717" y="1564530"/>
                </a:lnTo>
                <a:lnTo>
                  <a:pt x="2678834" y="1583781"/>
                </a:lnTo>
                <a:lnTo>
                  <a:pt x="2707952" y="1602393"/>
                </a:lnTo>
                <a:lnTo>
                  <a:pt x="2737070" y="1620226"/>
                </a:lnTo>
                <a:lnTo>
                  <a:pt x="2766188" y="1637170"/>
                </a:lnTo>
                <a:lnTo>
                  <a:pt x="2795305" y="1653135"/>
                </a:lnTo>
                <a:lnTo>
                  <a:pt x="2824423" y="1668059"/>
                </a:lnTo>
                <a:lnTo>
                  <a:pt x="2853541" y="1681902"/>
                </a:lnTo>
                <a:lnTo>
                  <a:pt x="2882659" y="1694647"/>
                </a:lnTo>
                <a:lnTo>
                  <a:pt x="2911777" y="1706293"/>
                </a:lnTo>
                <a:lnTo>
                  <a:pt x="2940894" y="1716858"/>
                </a:lnTo>
                <a:lnTo>
                  <a:pt x="2970012" y="1726376"/>
                </a:lnTo>
                <a:lnTo>
                  <a:pt x="2999130" y="1734890"/>
                </a:lnTo>
                <a:lnTo>
                  <a:pt x="3028248" y="1742454"/>
                </a:lnTo>
                <a:lnTo>
                  <a:pt x="3057365" y="1749128"/>
                </a:lnTo>
                <a:lnTo>
                  <a:pt x="3086483" y="1754978"/>
                </a:lnTo>
                <a:lnTo>
                  <a:pt x="3115601" y="1760071"/>
                </a:lnTo>
                <a:lnTo>
                  <a:pt x="3144719" y="1764476"/>
                </a:lnTo>
                <a:lnTo>
                  <a:pt x="3173836" y="1768262"/>
                </a:lnTo>
                <a:lnTo>
                  <a:pt x="3202954" y="1771495"/>
                </a:lnTo>
                <a:lnTo>
                  <a:pt x="3232072" y="1774238"/>
                </a:lnTo>
                <a:lnTo>
                  <a:pt x="3261190" y="1776550"/>
                </a:lnTo>
                <a:lnTo>
                  <a:pt x="3290307" y="1778487"/>
                </a:lnTo>
                <a:lnTo>
                  <a:pt x="3319425" y="1780100"/>
                </a:lnTo>
                <a:lnTo>
                  <a:pt x="3348543" y="1781434"/>
                </a:lnTo>
                <a:lnTo>
                  <a:pt x="3377661" y="1782531"/>
                </a:lnTo>
                <a:lnTo>
                  <a:pt x="3406779" y="1783428"/>
                </a:lnTo>
                <a:lnTo>
                  <a:pt x="3435896" y="1784156"/>
                </a:lnTo>
                <a:lnTo>
                  <a:pt x="3465014" y="1784744"/>
                </a:lnTo>
                <a:lnTo>
                  <a:pt x="3494132" y="1785215"/>
                </a:lnTo>
                <a:lnTo>
                  <a:pt x="3523250" y="1785591"/>
                </a:lnTo>
                <a:lnTo>
                  <a:pt x="3552367" y="1785890"/>
                </a:lnTo>
                <a:lnTo>
                  <a:pt x="3581485" y="1786125"/>
                </a:lnTo>
                <a:lnTo>
                  <a:pt x="3610603" y="1786309"/>
                </a:lnTo>
                <a:lnTo>
                  <a:pt x="3639721" y="1786452"/>
                </a:lnTo>
                <a:lnTo>
                  <a:pt x="3668838" y="1786563"/>
                </a:lnTo>
                <a:lnTo>
                  <a:pt x="3697956" y="1786648"/>
                </a:lnTo>
                <a:lnTo>
                  <a:pt x="3727074" y="1786713"/>
                </a:lnTo>
                <a:lnTo>
                  <a:pt x="3756192" y="1786763"/>
                </a:lnTo>
                <a:lnTo>
                  <a:pt x="3785309" y="1786800"/>
                </a:lnTo>
                <a:lnTo>
                  <a:pt x="3814427" y="1786829"/>
                </a:lnTo>
                <a:lnTo>
                  <a:pt x="3843545" y="1786850"/>
                </a:lnTo>
                <a:lnTo>
                  <a:pt x="3872663" y="1786865"/>
                </a:lnTo>
                <a:lnTo>
                  <a:pt x="3901781" y="1786877"/>
                </a:lnTo>
                <a:lnTo>
                  <a:pt x="3930898" y="1786885"/>
                </a:lnTo>
                <a:lnTo>
                  <a:pt x="3960016" y="1786891"/>
                </a:lnTo>
                <a:lnTo>
                  <a:pt x="3989134" y="1786896"/>
                </a:lnTo>
                <a:lnTo>
                  <a:pt x="4018252" y="1786899"/>
                </a:lnTo>
                <a:lnTo>
                  <a:pt x="4047369" y="1786901"/>
                </a:lnTo>
                <a:lnTo>
                  <a:pt x="4076487" y="1786903"/>
                </a:lnTo>
                <a:lnTo>
                  <a:pt x="4105605" y="1786904"/>
                </a:lnTo>
                <a:lnTo>
                  <a:pt x="4134723" y="1786905"/>
                </a:lnTo>
                <a:lnTo>
                  <a:pt x="4163840" y="1786906"/>
                </a:lnTo>
                <a:lnTo>
                  <a:pt x="4192958" y="1786906"/>
                </a:lnTo>
                <a:lnTo>
                  <a:pt x="4222076" y="1786906"/>
                </a:lnTo>
                <a:lnTo>
                  <a:pt x="4251194" y="1786907"/>
                </a:lnTo>
                <a:lnTo>
                  <a:pt x="4280312" y="1786907"/>
                </a:lnTo>
                <a:lnTo>
                  <a:pt x="4309429" y="1786907"/>
                </a:lnTo>
                <a:lnTo>
                  <a:pt x="4338547" y="1786907"/>
                </a:lnTo>
                <a:lnTo>
                  <a:pt x="4367665" y="1786907"/>
                </a:lnTo>
                <a:lnTo>
                  <a:pt x="4396783" y="1786907"/>
                </a:lnTo>
                <a:lnTo>
                  <a:pt x="4425900" y="1786907"/>
                </a:lnTo>
                <a:lnTo>
                  <a:pt x="4455018" y="1786907"/>
                </a:lnTo>
                <a:lnTo>
                  <a:pt x="4484136" y="1786907"/>
                </a:lnTo>
                <a:lnTo>
                  <a:pt x="4513254" y="1786907"/>
                </a:lnTo>
                <a:lnTo>
                  <a:pt x="4542371" y="1786907"/>
                </a:lnTo>
                <a:lnTo>
                  <a:pt x="4571489" y="1786907"/>
                </a:lnTo>
                <a:lnTo>
                  <a:pt x="4600607" y="1786907"/>
                </a:lnTo>
                <a:lnTo>
                  <a:pt x="4629725" y="1786907"/>
                </a:lnTo>
                <a:lnTo>
                  <a:pt x="4658842" y="1786907"/>
                </a:lnTo>
                <a:lnTo>
                  <a:pt x="4687960" y="1786907"/>
                </a:lnTo>
                <a:lnTo>
                  <a:pt x="4717078" y="1786907"/>
                </a:lnTo>
                <a:lnTo>
                  <a:pt x="4746196" y="1786907"/>
                </a:lnTo>
                <a:lnTo>
                  <a:pt x="4775314" y="1786907"/>
                </a:lnTo>
                <a:lnTo>
                  <a:pt x="4804431" y="1786907"/>
                </a:lnTo>
                <a:lnTo>
                  <a:pt x="4833549" y="1786907"/>
                </a:lnTo>
                <a:lnTo>
                  <a:pt x="4862667" y="1786907"/>
                </a:lnTo>
                <a:lnTo>
                  <a:pt x="4891785" y="1786907"/>
                </a:lnTo>
                <a:lnTo>
                  <a:pt x="4920902" y="1786907"/>
                </a:lnTo>
                <a:lnTo>
                  <a:pt x="4950020" y="1786907"/>
                </a:lnTo>
                <a:lnTo>
                  <a:pt x="4979138" y="1786907"/>
                </a:lnTo>
                <a:lnTo>
                  <a:pt x="5008256" y="1786907"/>
                </a:lnTo>
                <a:lnTo>
                  <a:pt x="5037373" y="1786907"/>
                </a:lnTo>
                <a:lnTo>
                  <a:pt x="5066491" y="1786907"/>
                </a:lnTo>
                <a:lnTo>
                  <a:pt x="5095609" y="1786907"/>
                </a:lnTo>
                <a:lnTo>
                  <a:pt x="5124727" y="1786907"/>
                </a:lnTo>
                <a:lnTo>
                  <a:pt x="5153844" y="1786907"/>
                </a:lnTo>
                <a:lnTo>
                  <a:pt x="5182962" y="1786907"/>
                </a:lnTo>
                <a:lnTo>
                  <a:pt x="5212080" y="1786907"/>
                </a:lnTo>
              </a:path>
            </a:pathLst>
          </a:custGeom>
          <a:noFill/>
          <a:ln w="31750">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d_low"/>
          <p:cNvSpPr/>
          <p:nvPr/>
        </p:nvSpPr>
        <p:spPr>
          <a:xfrm>
            <a:off x="3063505" y="3211272"/>
            <a:ext cx="128016" cy="128016"/>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d_high"/>
          <p:cNvSpPr/>
          <p:nvPr/>
        </p:nvSpPr>
        <p:spPr>
          <a:xfrm>
            <a:off x="2855543" y="3514031"/>
            <a:ext cx="128016" cy="128016"/>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legend"/>
          <p:cNvSpPr txBox="1"/>
          <p:nvPr/>
        </p:nvSpPr>
        <p:spPr>
          <a:xfrm>
            <a:off x="3626617" y="4404673"/>
            <a:ext cx="3291840" cy="402336"/>
          </a:xfrm>
          <a:prstGeom prst="rect">
            <a:avLst/>
          </a:prstGeom>
          <a:noFill/>
        </p:spPr>
        <p:txBody>
          <a:bodyPr wrap="square" lIns="0" tIns="0" rIns="0" bIns="0" anchor="ctr">
            <a:spAutoFit/>
          </a:bodyPr>
          <a:lstStyle/>
          <a:p>
            <a:pPr algn="l"/>
            <a:r>
              <a:rPr sz="2200" b="1">
                <a:solidFill>
                  <a:srgbClr val="808080"/>
                </a:solidFill>
                <a:latin typeface="Meiryo"/>
                <a:ea typeface="Meiryo"/>
                <a:cs typeface="Meiryo"/>
              </a:rPr>
              <a:t>低心拍</a:t>
            </a:r>
            <a:r>
              <a:rPr sz="2200" b="1">
                <a:solidFill>
                  <a:srgbClr val="262626"/>
                </a:solidFill>
                <a:latin typeface="Meiryo"/>
                <a:ea typeface="Meiryo"/>
                <a:cs typeface="Meiryo"/>
              </a:rPr>
              <a:t>　／　</a:t>
            </a:r>
            <a:r>
              <a:rPr sz="2200" b="1">
                <a:solidFill>
                  <a:srgbClr val="0072B2"/>
                </a:solidFill>
                <a:latin typeface="Meiryo"/>
                <a:ea typeface="Meiryo"/>
                <a:cs typeface="Meiryo"/>
              </a:rPr>
              <a:t>高心拍</a:t>
            </a:r>
          </a:p>
        </p:txBody>
      </p:sp>
      <p:sp>
        <p:nvSpPr>
          <p:cNvPr id="24" name="rilab"/>
          <p:cNvSpPr txBox="1"/>
          <p:nvPr/>
        </p:nvSpPr>
        <p:spPr>
          <a:xfrm>
            <a:off x="3877056" y="2194560"/>
            <a:ext cx="2194560" cy="914400"/>
          </a:xfrm>
          <a:prstGeom prst="rect">
            <a:avLst/>
          </a:prstGeom>
          <a:noFill/>
        </p:spPr>
        <p:txBody>
          <a:bodyPr wrap="square" lIns="0" tIns="0" rIns="0" bIns="0" anchor="ctr">
            <a:spAutoFit/>
          </a:bodyPr>
          <a:lstStyle/>
          <a:p>
            <a:pPr algn="l"/>
            <a:r>
              <a:rPr sz="2200" b="1">
                <a:solidFill>
                  <a:srgbClr val="262626"/>
                </a:solidFill>
                <a:latin typeface="Meiryo"/>
                <a:ea typeface="Meiryo"/>
                <a:cs typeface="Meiryo"/>
              </a:rPr>
              <a:t>P2/P1 ＝ RI</a:t>
            </a:r>
          </a:p>
          <a:p>
            <a:pPr algn="l"/>
            <a:r>
              <a:rPr sz="2200" b="1">
                <a:solidFill>
                  <a:srgbClr val="262626"/>
                </a:solidFill>
                <a:latin typeface="Meiryo"/>
                <a:ea typeface="Meiryo"/>
                <a:cs typeface="Meiryo"/>
              </a:rPr>
              <a:t>HR↑ → RI↓</a:t>
            </a:r>
          </a:p>
        </p:txBody>
      </p:sp>
      <p:sp>
        <p:nvSpPr>
          <p:cNvPr id="25" name="pt0"/>
          <p:cNvSpPr/>
          <p:nvPr/>
        </p:nvSpPr>
        <p:spPr>
          <a:xfrm>
            <a:off x="6419088" y="2157984"/>
            <a:ext cx="5120640" cy="822960"/>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a:solidFill>
                  <a:srgbClr val="262626"/>
                </a:solidFill>
                <a:latin typeface="Meiryo"/>
                <a:ea typeface="Meiryo"/>
                <a:cs typeface="Meiryo"/>
              </a:rPr>
              <a:t>RI は HR の影響を受ける。</a:t>
            </a:r>
          </a:p>
        </p:txBody>
      </p:sp>
      <p:sp>
        <p:nvSpPr>
          <p:cNvPr id="27" name="pt2"/>
          <p:cNvSpPr/>
          <p:nvPr/>
        </p:nvSpPr>
        <p:spPr>
          <a:xfrm>
            <a:off x="6419088" y="3474720"/>
            <a:ext cx="5120640" cy="822960"/>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a:solidFill>
                  <a:srgbClr val="262626"/>
                </a:solidFill>
                <a:latin typeface="Meiryo"/>
                <a:ea typeface="Meiryo"/>
                <a:cs typeface="Meiryo"/>
              </a:rPr>
              <a:t>PPG の RI に確立した補正式なし。</a:t>
            </a:r>
          </a:p>
        </p:txBody>
      </p:sp>
      <p:sp>
        <p:nvSpPr>
          <p:cNvPr id="28" name="callout"/>
          <p:cNvSpPr/>
          <p:nvPr/>
        </p:nvSpPr>
        <p:spPr>
          <a:xfrm>
            <a:off x="548640" y="5120640"/>
            <a:ext cx="10991088" cy="1060704"/>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600" b="1">
                <a:solidFill>
                  <a:srgbClr val="C00000"/>
                </a:solidFill>
                <a:latin typeface="Meiryo"/>
                <a:ea typeface="Meiryo"/>
                <a:cs typeface="Meiryo"/>
              </a:rPr>
              <a:t>RI 単独で トーヌスを語らない。</a:t>
            </a:r>
          </a:p>
          <a:p>
            <a:pPr algn="ctr"/>
            <a:r>
              <a:rPr sz="2200" b="1">
                <a:solidFill>
                  <a:srgbClr val="262626"/>
                </a:solidFill>
                <a:latin typeface="Meiryo"/>
                <a:ea typeface="Meiryo"/>
                <a:cs typeface="Meiryo"/>
              </a:rPr>
              <a:t>経時比較は HR をそろえる　／　RI は HR と併記して解釈。</a:t>
            </a:r>
          </a:p>
        </p:txBody>
      </p:sp>
      <p:sp>
        <p:nvSpPr>
          <p:cNvPr id="2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15. Wilkinson 2000　／　16. Hashimoto 2002　／　17. Charlton 2019　／　18. Md Lazim 2020</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4">
            <a:extLst>
              <a:ext uri="{FF2B5EF4-FFF2-40B4-BE49-F238E27FC236}">
                <a16:creationId xmlns:a16="http://schemas.microsoft.com/office/drawing/2014/main" id="{AA9D36CE-3772-F005-B54C-9329ADA7F086}"/>
              </a:ext>
            </a:extLst>
          </p:cNvPr>
          <p:cNvSpPr/>
          <p:nvPr/>
        </p:nvSpPr>
        <p:spPr>
          <a:xfrm>
            <a:off x="953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17807737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85AB5-62E7-2957-C4A4-3C2B2E2640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48B12D-4579-D621-91F6-FC3E2300A14E}"/>
              </a:ext>
            </a:extLst>
          </p:cNvPr>
          <p:cNvSpPr>
            <a:spLocks noGrp="1"/>
          </p:cNvSpPr>
          <p:nvPr>
            <p:ph type="title"/>
          </p:nvPr>
        </p:nvSpPr>
        <p:spPr/>
        <p:txBody>
          <a:bodyPr/>
          <a:lstStyle/>
          <a:p>
            <a:pPr algn="l"/>
            <a:r>
              <a:rPr sz="4600" dirty="0">
                <a:latin typeface="Meiryo"/>
                <a:ea typeface="Meiryo"/>
                <a:cs typeface="Meiryo"/>
              </a:rPr>
              <a:t>3.3  加速度脈波 SDPPG</a:t>
            </a:r>
          </a:p>
        </p:txBody>
      </p:sp>
      <p:pic>
        <p:nvPicPr>
          <p:cNvPr id="18" name="fig_sdppg" descr="image.png">
            <a:extLst>
              <a:ext uri="{FF2B5EF4-FFF2-40B4-BE49-F238E27FC236}">
                <a16:creationId xmlns:a16="http://schemas.microsoft.com/office/drawing/2014/main" id="{8C4CFCCE-27B5-D2AF-0026-0D40D6B89C78}"/>
              </a:ext>
            </a:extLst>
          </p:cNvPr>
          <p:cNvPicPr>
            <a:picLocks noChangeAspect="1"/>
          </p:cNvPicPr>
          <p:nvPr/>
        </p:nvPicPr>
        <p:blipFill>
          <a:blip r:embed="rId3"/>
          <a:stretch>
            <a:fillRect/>
          </a:stretch>
        </p:blipFill>
        <p:spPr>
          <a:xfrm>
            <a:off x="1625105" y="1835999"/>
            <a:ext cx="6336000" cy="3960000"/>
          </a:xfrm>
          <a:prstGeom prst="rect">
            <a:avLst/>
          </a:prstGeom>
        </p:spPr>
      </p:pic>
      <p:sp>
        <p:nvSpPr>
          <p:cNvPr id="19" name="TextBox 18">
            <a:extLst>
              <a:ext uri="{FF2B5EF4-FFF2-40B4-BE49-F238E27FC236}">
                <a16:creationId xmlns:a16="http://schemas.microsoft.com/office/drawing/2014/main" id="{4BE9FE95-37E9-0E76-1D4A-BC6F614E59D7}"/>
              </a:ext>
            </a:extLst>
          </p:cNvPr>
          <p:cNvSpPr txBox="1"/>
          <p:nvPr/>
        </p:nvSpPr>
        <p:spPr>
          <a:xfrm>
            <a:off x="500549" y="1944000"/>
            <a:ext cx="3744000" cy="3780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原波形 PPG</a:t>
            </a:r>
          </a:p>
        </p:txBody>
      </p:sp>
      <p:sp>
        <p:nvSpPr>
          <p:cNvPr id="21" name="TextBox 20">
            <a:extLst>
              <a:ext uri="{FF2B5EF4-FFF2-40B4-BE49-F238E27FC236}">
                <a16:creationId xmlns:a16="http://schemas.microsoft.com/office/drawing/2014/main" id="{F19B4D6B-BE3F-4AC3-35BB-35AA6E377D40}"/>
              </a:ext>
            </a:extLst>
          </p:cNvPr>
          <p:cNvSpPr txBox="1"/>
          <p:nvPr/>
        </p:nvSpPr>
        <p:spPr>
          <a:xfrm>
            <a:off x="500549" y="4086000"/>
            <a:ext cx="2240998" cy="338554"/>
          </a:xfrm>
          <a:prstGeom prst="rect">
            <a:avLst/>
          </a:prstGeom>
          <a:noFill/>
        </p:spPr>
        <p:txBody>
          <a:bodyPr wrap="none" lIns="0" tIns="0" rIns="0" bIns="0" anchor="ctr">
            <a:spAutoFit/>
          </a:bodyPr>
          <a:lstStyle/>
          <a:p>
            <a:pPr algn="l">
              <a:spcBef>
                <a:spcPts val="0"/>
              </a:spcBef>
              <a:spcAft>
                <a:spcPts val="0"/>
              </a:spcAft>
            </a:pPr>
            <a:r>
              <a:rPr sz="2200" b="1" dirty="0" err="1">
                <a:solidFill>
                  <a:srgbClr val="00A8AA"/>
                </a:solidFill>
                <a:latin typeface="Meiryo"/>
                <a:ea typeface="Meiryo"/>
                <a:cs typeface="Meiryo"/>
              </a:rPr>
              <a:t>二次微分</a:t>
            </a:r>
            <a:r>
              <a:rPr sz="2200" b="1" dirty="0">
                <a:solidFill>
                  <a:srgbClr val="00A8AA"/>
                </a:solidFill>
                <a:latin typeface="Meiryo"/>
                <a:ea typeface="Meiryo"/>
                <a:cs typeface="Meiryo"/>
              </a:rPr>
              <a:t> SDPPG</a:t>
            </a:r>
            <a:endParaRPr lang="en-US" sz="2200" b="1" dirty="0">
              <a:solidFill>
                <a:srgbClr val="00A8AA"/>
              </a:solidFill>
              <a:latin typeface="Meiryo"/>
              <a:ea typeface="Meiryo"/>
              <a:cs typeface="Meiryo"/>
            </a:endParaRPr>
          </a:p>
        </p:txBody>
      </p:sp>
      <p:sp>
        <p:nvSpPr>
          <p:cNvPr id="23" name="Rounded Rectangle 22">
            <a:extLst>
              <a:ext uri="{FF2B5EF4-FFF2-40B4-BE49-F238E27FC236}">
                <a16:creationId xmlns:a16="http://schemas.microsoft.com/office/drawing/2014/main" id="{22594183-3678-C70E-EED7-7361DFB0C4C5}"/>
              </a:ext>
            </a:extLst>
          </p:cNvPr>
          <p:cNvSpPr/>
          <p:nvPr/>
        </p:nvSpPr>
        <p:spPr>
          <a:xfrm>
            <a:off x="8174519" y="2390814"/>
            <a:ext cx="3644869" cy="1290185"/>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lnSpc>
                <a:spcPct val="150000"/>
              </a:lnSpc>
              <a:spcBef>
                <a:spcPts val="0"/>
              </a:spcBef>
              <a:spcAft>
                <a:spcPts val="0"/>
              </a:spcAft>
            </a:pPr>
            <a:r>
              <a:rPr lang="en-US" sz="2200" b="1" dirty="0" err="1">
                <a:solidFill>
                  <a:srgbClr val="262626"/>
                </a:solidFill>
                <a:latin typeface="Meiryo"/>
                <a:ea typeface="Meiryo"/>
                <a:cs typeface="Meiryo"/>
              </a:rPr>
              <a:t>原波形のわずかな変化を</a:t>
            </a:r>
            <a:endParaRPr lang="en-US" sz="2200" b="1" dirty="0">
              <a:solidFill>
                <a:srgbClr val="262626"/>
              </a:solidFill>
              <a:latin typeface="Meiryo"/>
              <a:ea typeface="Meiryo"/>
              <a:cs typeface="Meiryo"/>
            </a:endParaRPr>
          </a:p>
          <a:p>
            <a:pPr algn="ctr">
              <a:lnSpc>
                <a:spcPct val="150000"/>
              </a:lnSpc>
              <a:spcBef>
                <a:spcPts val="0"/>
              </a:spcBef>
              <a:spcAft>
                <a:spcPts val="0"/>
              </a:spcAft>
            </a:pPr>
            <a:r>
              <a:rPr lang="en-US" sz="2200" b="1" dirty="0" err="1">
                <a:solidFill>
                  <a:srgbClr val="262626"/>
                </a:solidFill>
                <a:latin typeface="Meiryo"/>
                <a:ea typeface="Meiryo"/>
                <a:cs typeface="Meiryo"/>
              </a:rPr>
              <a:t>極値に変換できる。</a:t>
            </a:r>
            <a:endParaRPr sz="2200" b="1" dirty="0">
              <a:solidFill>
                <a:srgbClr val="262626"/>
              </a:solidFill>
              <a:latin typeface="Meiryo"/>
              <a:ea typeface="Meiryo"/>
              <a:cs typeface="Meiryo"/>
            </a:endParaRPr>
          </a:p>
        </p:txBody>
      </p:sp>
      <p:sp>
        <p:nvSpPr>
          <p:cNvPr id="24" name="TextBox 23">
            <a:extLst>
              <a:ext uri="{FF2B5EF4-FFF2-40B4-BE49-F238E27FC236}">
                <a16:creationId xmlns:a16="http://schemas.microsoft.com/office/drawing/2014/main" id="{A9B8F385-3709-EEE8-5E2E-752CA308BB4C}"/>
              </a:ext>
            </a:extLst>
          </p:cNvPr>
          <p:cNvSpPr txBox="1"/>
          <p:nvPr/>
        </p:nvSpPr>
        <p:spPr>
          <a:xfrm>
            <a:off x="2423624" y="5906529"/>
            <a:ext cx="6480000" cy="4320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収縮期：a–d　／　拡張期：e（重複切痕）</a:t>
            </a:r>
          </a:p>
        </p:txBody>
      </p:sp>
      <p:sp>
        <p:nvSpPr>
          <p:cNvPr id="6" name="テキスト ボックス 5">
            <a:extLst>
              <a:ext uri="{FF2B5EF4-FFF2-40B4-BE49-F238E27FC236}">
                <a16:creationId xmlns:a16="http://schemas.microsoft.com/office/drawing/2014/main" id="{7EDD8D34-52AC-C545-1024-247767B86617}"/>
              </a:ext>
            </a:extLst>
          </p:cNvPr>
          <p:cNvSpPr txBox="1"/>
          <p:nvPr/>
        </p:nvSpPr>
        <p:spPr>
          <a:xfrm>
            <a:off x="8712749" y="4077341"/>
            <a:ext cx="2568408" cy="1785104"/>
          </a:xfrm>
          <a:prstGeom prst="rect">
            <a:avLst/>
          </a:prstGeom>
          <a:noFill/>
        </p:spPr>
        <p:txBody>
          <a:bodyPr wrap="square" rtlCol="0">
            <a:spAutoFit/>
          </a:bodyPr>
          <a:lstStyle/>
          <a:p>
            <a:pPr>
              <a:lnSpc>
                <a:spcPct val="150000"/>
              </a:lnSpc>
            </a:pPr>
            <a:r>
              <a:rPr kumimoji="1" lang="en-US" altLang="ja-JP" sz="2000" b="1" dirty="0">
                <a:latin typeface="+mj-ea"/>
                <a:ea typeface="+mj-ea"/>
              </a:rPr>
              <a:t>b/a : </a:t>
            </a:r>
            <a:r>
              <a:rPr kumimoji="1" lang="ja-JP" altLang="en-US" sz="2000" b="1">
                <a:latin typeface="+mj-ea"/>
                <a:ea typeface="+mj-ea"/>
              </a:rPr>
              <a:t>大血管の硬さ</a:t>
            </a:r>
            <a:endParaRPr kumimoji="1" lang="en-US" altLang="ja-JP" sz="2000" b="1" dirty="0">
              <a:latin typeface="+mj-ea"/>
              <a:ea typeface="+mj-ea"/>
            </a:endParaRPr>
          </a:p>
          <a:p>
            <a:pPr>
              <a:lnSpc>
                <a:spcPct val="150000"/>
              </a:lnSpc>
            </a:pPr>
            <a:r>
              <a:rPr lang="en-US" altLang="ja-JP" sz="2000" b="1" dirty="0">
                <a:latin typeface="+mj-ea"/>
                <a:ea typeface="+mj-ea"/>
              </a:rPr>
              <a:t>d/a : </a:t>
            </a:r>
            <a:r>
              <a:rPr lang="ja-JP" altLang="en-US" sz="2000" b="1">
                <a:latin typeface="+mj-ea"/>
                <a:ea typeface="+mj-ea"/>
              </a:rPr>
              <a:t>末梢トーヌス</a:t>
            </a:r>
            <a:endParaRPr lang="en-US" altLang="ja-JP" sz="2000" b="1" dirty="0">
              <a:latin typeface="+mj-ea"/>
              <a:ea typeface="+mj-ea"/>
            </a:endParaRPr>
          </a:p>
          <a:p>
            <a:pPr>
              <a:lnSpc>
                <a:spcPct val="150000"/>
              </a:lnSpc>
            </a:pPr>
            <a:r>
              <a:rPr kumimoji="1" lang="en-US" altLang="ja-JP" sz="2000" b="1" dirty="0">
                <a:latin typeface="+mj-ea"/>
                <a:ea typeface="+mj-ea"/>
              </a:rPr>
              <a:t>AGI : </a:t>
            </a:r>
            <a:r>
              <a:rPr kumimoji="1" lang="ja-JP" altLang="en-US" sz="2000" b="1">
                <a:latin typeface="+mj-ea"/>
                <a:ea typeface="+mj-ea"/>
              </a:rPr>
              <a:t>血管加齢指数</a:t>
            </a:r>
            <a:endParaRPr lang="en-US" altLang="ja-JP" sz="2000" b="1" dirty="0">
              <a:latin typeface="+mj-ea"/>
              <a:ea typeface="+mj-ea"/>
            </a:endParaRPr>
          </a:p>
          <a:p>
            <a:pPr algn="r"/>
            <a:r>
              <a:rPr lang="ja-JP" altLang="ja-JP" sz="2000"/>
              <a:t>(b–c–d–e)/a</a:t>
            </a:r>
          </a:p>
        </p:txBody>
      </p:sp>
      <p:sp>
        <p:nvSpPr>
          <p:cNvPr id="3" name="テキスト ボックス 2">
            <a:extLst>
              <a:ext uri="{FF2B5EF4-FFF2-40B4-BE49-F238E27FC236}">
                <a16:creationId xmlns:a16="http://schemas.microsoft.com/office/drawing/2014/main" id="{D90946D4-5E1D-11B6-E5C2-06A0D9567897}"/>
              </a:ext>
            </a:extLst>
          </p:cNvPr>
          <p:cNvSpPr txBox="1"/>
          <p:nvPr/>
        </p:nvSpPr>
        <p:spPr>
          <a:xfrm>
            <a:off x="5017477" y="5401745"/>
            <a:ext cx="2929905" cy="338554"/>
          </a:xfrm>
          <a:prstGeom prst="rect">
            <a:avLst/>
          </a:prstGeom>
          <a:noFill/>
        </p:spPr>
        <p:txBody>
          <a:bodyPr wrap="none" rtlCol="0">
            <a:spAutoFit/>
          </a:bodyPr>
          <a:lstStyle/>
          <a:p>
            <a:r>
              <a:rPr lang="en-US" altLang="ja-JP" sz="1600" b="1" dirty="0">
                <a:solidFill>
                  <a:srgbClr val="00A8AA"/>
                </a:solidFill>
                <a:latin typeface="Meiryo"/>
                <a:ea typeface="Meiryo"/>
                <a:cs typeface="Meiryo"/>
              </a:rPr>
              <a:t>Second Derivative of PPG</a:t>
            </a:r>
          </a:p>
        </p:txBody>
      </p:sp>
      <p:sp>
        <p:nvSpPr>
          <p:cNvPr id="25"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23. Elgendi 2012</a:t>
            </a:r>
          </a:p>
        </p:txBody>
      </p:sp>
      <p:sp>
        <p:nvSpPr>
          <p:cNvPr id="2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59/118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4">
            <a:extLst>
              <a:ext uri="{FF2B5EF4-FFF2-40B4-BE49-F238E27FC236}">
                <a16:creationId xmlns:a16="http://schemas.microsoft.com/office/drawing/2014/main" id="{AA9D36CE-3772-F005-B54C-9329ADA7F086}"/>
              </a:ext>
            </a:extLst>
          </p:cNvPr>
          <p:cNvSpPr/>
          <p:nvPr/>
        </p:nvSpPr>
        <p:spPr>
          <a:xfrm>
            <a:off x="953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51834980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117EE-6908-300F-949E-A63FBBD270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4315EC-F06D-9088-6B2F-D537E8063CDB}"/>
              </a:ext>
            </a:extLst>
          </p:cNvPr>
          <p:cNvSpPr>
            <a:spLocks noGrp="1"/>
          </p:cNvSpPr>
          <p:nvPr>
            <p:ph type="title"/>
          </p:nvPr>
        </p:nvSpPr>
        <p:spPr/>
        <p:txBody>
          <a:bodyPr/>
          <a:lstStyle/>
          <a:p>
            <a:pPr algn="l"/>
            <a:r>
              <a:rPr sz="4600" dirty="0">
                <a:latin typeface="Meiryo"/>
                <a:ea typeface="Meiryo"/>
                <a:cs typeface="Meiryo"/>
              </a:rPr>
              <a:t>3.3  加速度脈波 SDPPG</a:t>
            </a:r>
          </a:p>
        </p:txBody>
      </p:sp>
      <p:sp>
        <p:nvSpPr>
          <p:cNvPr id="24" name="TextBox 23">
            <a:extLst>
              <a:ext uri="{FF2B5EF4-FFF2-40B4-BE49-F238E27FC236}">
                <a16:creationId xmlns:a16="http://schemas.microsoft.com/office/drawing/2014/main" id="{AACC6462-0E6D-5AFB-2805-B7029C62C4F1}"/>
              </a:ext>
            </a:extLst>
          </p:cNvPr>
          <p:cNvSpPr txBox="1"/>
          <p:nvPr/>
        </p:nvSpPr>
        <p:spPr>
          <a:xfrm>
            <a:off x="2423624" y="5906529"/>
            <a:ext cx="6480000" cy="4320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収縮期：a–d　／　拡張期：e（重複切痕）</a:t>
            </a:r>
          </a:p>
        </p:txBody>
      </p:sp>
      <p:pic>
        <p:nvPicPr>
          <p:cNvPr id="3" name="図 2">
            <a:extLst>
              <a:ext uri="{FF2B5EF4-FFF2-40B4-BE49-F238E27FC236}">
                <a16:creationId xmlns:a16="http://schemas.microsoft.com/office/drawing/2014/main" id="{898F44B3-F197-127F-726A-0C5012339931}"/>
              </a:ext>
            </a:extLst>
          </p:cNvPr>
          <p:cNvPicPr>
            <a:picLocks noChangeAspect="1"/>
          </p:cNvPicPr>
          <p:nvPr/>
        </p:nvPicPr>
        <p:blipFill>
          <a:blip r:embed="rId3"/>
          <a:stretch>
            <a:fillRect/>
          </a:stretch>
        </p:blipFill>
        <p:spPr>
          <a:xfrm>
            <a:off x="2853303" y="1635761"/>
            <a:ext cx="3149931" cy="4210789"/>
          </a:xfrm>
          <a:prstGeom prst="rect">
            <a:avLst/>
          </a:prstGeom>
        </p:spPr>
      </p:pic>
      <p:sp>
        <p:nvSpPr>
          <p:cNvPr id="5" name="Rounded Rectangle 22">
            <a:extLst>
              <a:ext uri="{FF2B5EF4-FFF2-40B4-BE49-F238E27FC236}">
                <a16:creationId xmlns:a16="http://schemas.microsoft.com/office/drawing/2014/main" id="{8B88CFAA-7D53-AA63-03B5-6B1A8A021B53}"/>
              </a:ext>
            </a:extLst>
          </p:cNvPr>
          <p:cNvSpPr/>
          <p:nvPr/>
        </p:nvSpPr>
        <p:spPr>
          <a:xfrm>
            <a:off x="8174519" y="2390814"/>
            <a:ext cx="3644869" cy="1290185"/>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lnSpc>
                <a:spcPct val="150000"/>
              </a:lnSpc>
              <a:spcBef>
                <a:spcPts val="0"/>
              </a:spcBef>
              <a:spcAft>
                <a:spcPts val="0"/>
              </a:spcAft>
            </a:pPr>
            <a:r>
              <a:rPr lang="en-US" sz="2200" b="1" dirty="0" err="1">
                <a:solidFill>
                  <a:srgbClr val="262626"/>
                </a:solidFill>
                <a:latin typeface="Meiryo"/>
                <a:ea typeface="Meiryo"/>
                <a:cs typeface="Meiryo"/>
              </a:rPr>
              <a:t>原波形のわずかな変化を</a:t>
            </a:r>
            <a:endParaRPr lang="en-US" sz="2200" b="1" dirty="0">
              <a:solidFill>
                <a:srgbClr val="262626"/>
              </a:solidFill>
              <a:latin typeface="Meiryo"/>
              <a:ea typeface="Meiryo"/>
              <a:cs typeface="Meiryo"/>
            </a:endParaRPr>
          </a:p>
          <a:p>
            <a:pPr algn="ctr">
              <a:lnSpc>
                <a:spcPct val="150000"/>
              </a:lnSpc>
              <a:spcBef>
                <a:spcPts val="0"/>
              </a:spcBef>
              <a:spcAft>
                <a:spcPts val="0"/>
              </a:spcAft>
            </a:pPr>
            <a:r>
              <a:rPr lang="en-US" sz="2200" b="1" dirty="0" err="1">
                <a:solidFill>
                  <a:srgbClr val="262626"/>
                </a:solidFill>
                <a:latin typeface="Meiryo"/>
                <a:ea typeface="Meiryo"/>
                <a:cs typeface="Meiryo"/>
              </a:rPr>
              <a:t>極値に変換できる。</a:t>
            </a:r>
            <a:endParaRPr sz="2200" b="1" dirty="0">
              <a:solidFill>
                <a:srgbClr val="262626"/>
              </a:solidFill>
              <a:latin typeface="Meiryo"/>
              <a:ea typeface="Meiryo"/>
              <a:cs typeface="Meiryo"/>
            </a:endParaRPr>
          </a:p>
        </p:txBody>
      </p:sp>
      <p:sp>
        <p:nvSpPr>
          <p:cNvPr id="6" name="テキスト ボックス 5">
            <a:extLst>
              <a:ext uri="{FF2B5EF4-FFF2-40B4-BE49-F238E27FC236}">
                <a16:creationId xmlns:a16="http://schemas.microsoft.com/office/drawing/2014/main" id="{899FC92F-C02C-C2A4-9231-72B4312A2C0C}"/>
              </a:ext>
            </a:extLst>
          </p:cNvPr>
          <p:cNvSpPr txBox="1"/>
          <p:nvPr/>
        </p:nvSpPr>
        <p:spPr>
          <a:xfrm>
            <a:off x="8712749" y="4077341"/>
            <a:ext cx="2568408" cy="1785104"/>
          </a:xfrm>
          <a:prstGeom prst="rect">
            <a:avLst/>
          </a:prstGeom>
          <a:noFill/>
        </p:spPr>
        <p:txBody>
          <a:bodyPr wrap="square" rtlCol="0">
            <a:spAutoFit/>
          </a:bodyPr>
          <a:lstStyle/>
          <a:p>
            <a:pPr>
              <a:lnSpc>
                <a:spcPct val="150000"/>
              </a:lnSpc>
            </a:pPr>
            <a:r>
              <a:rPr kumimoji="1" lang="en-US" altLang="ja-JP" sz="2000" b="1" dirty="0">
                <a:latin typeface="+mj-ea"/>
                <a:ea typeface="+mj-ea"/>
              </a:rPr>
              <a:t>b/a : </a:t>
            </a:r>
            <a:r>
              <a:rPr kumimoji="1" lang="ja-JP" altLang="en-US" sz="2000" b="1">
                <a:latin typeface="+mj-ea"/>
                <a:ea typeface="+mj-ea"/>
              </a:rPr>
              <a:t>大血管の硬さ</a:t>
            </a:r>
            <a:endParaRPr kumimoji="1" lang="en-US" altLang="ja-JP" sz="2000" b="1" dirty="0">
              <a:latin typeface="+mj-ea"/>
              <a:ea typeface="+mj-ea"/>
            </a:endParaRPr>
          </a:p>
          <a:p>
            <a:pPr>
              <a:lnSpc>
                <a:spcPct val="150000"/>
              </a:lnSpc>
            </a:pPr>
            <a:r>
              <a:rPr lang="en-US" altLang="ja-JP" sz="2000" b="1" dirty="0">
                <a:latin typeface="+mj-ea"/>
                <a:ea typeface="+mj-ea"/>
              </a:rPr>
              <a:t>d/a : </a:t>
            </a:r>
            <a:r>
              <a:rPr lang="ja-JP" altLang="en-US" sz="2000" b="1">
                <a:latin typeface="+mj-ea"/>
                <a:ea typeface="+mj-ea"/>
              </a:rPr>
              <a:t>末梢トーヌス</a:t>
            </a:r>
            <a:endParaRPr lang="en-US" altLang="ja-JP" sz="2000" b="1" dirty="0">
              <a:latin typeface="+mj-ea"/>
              <a:ea typeface="+mj-ea"/>
            </a:endParaRPr>
          </a:p>
          <a:p>
            <a:pPr>
              <a:lnSpc>
                <a:spcPct val="150000"/>
              </a:lnSpc>
            </a:pPr>
            <a:r>
              <a:rPr kumimoji="1" lang="en-US" altLang="ja-JP" sz="2000" b="1" dirty="0">
                <a:latin typeface="+mj-ea"/>
                <a:ea typeface="+mj-ea"/>
              </a:rPr>
              <a:t>AGI : </a:t>
            </a:r>
            <a:r>
              <a:rPr kumimoji="1" lang="ja-JP" altLang="en-US" sz="2000" b="1">
                <a:latin typeface="+mj-ea"/>
                <a:ea typeface="+mj-ea"/>
              </a:rPr>
              <a:t>血管加齢指数</a:t>
            </a:r>
            <a:endParaRPr lang="en-US" altLang="ja-JP" sz="2000" b="1" dirty="0">
              <a:latin typeface="+mj-ea"/>
              <a:ea typeface="+mj-ea"/>
            </a:endParaRPr>
          </a:p>
          <a:p>
            <a:pPr algn="r"/>
            <a:r>
              <a:rPr lang="ja-JP" altLang="ja-JP" sz="2000"/>
              <a:t>(b–c–d–e)/a</a:t>
            </a:r>
          </a:p>
        </p:txBody>
      </p:sp>
      <p:sp>
        <p:nvSpPr>
          <p:cNvPr id="25"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16. Hashimoto 2002　／　24. Takazawa 1998</a:t>
            </a:r>
          </a:p>
        </p:txBody>
      </p:sp>
      <p:sp>
        <p:nvSpPr>
          <p:cNvPr id="2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60/118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4">
            <a:extLst>
              <a:ext uri="{FF2B5EF4-FFF2-40B4-BE49-F238E27FC236}">
                <a16:creationId xmlns:a16="http://schemas.microsoft.com/office/drawing/2014/main" id="{AA9D36CE-3772-F005-B54C-9329ADA7F086}"/>
              </a:ext>
            </a:extLst>
          </p:cNvPr>
          <p:cNvSpPr/>
          <p:nvPr/>
        </p:nvSpPr>
        <p:spPr>
          <a:xfrm>
            <a:off x="953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18110211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FF3DC-DBE2-F1CA-D509-1FDD4DD8AE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46EC7E-CC25-35A5-F86E-4D3BC9F9C53C}"/>
              </a:ext>
            </a:extLst>
          </p:cNvPr>
          <p:cNvSpPr>
            <a:spLocks noGrp="1"/>
          </p:cNvSpPr>
          <p:nvPr>
            <p:ph type="title"/>
          </p:nvPr>
        </p:nvSpPr>
        <p:spPr/>
        <p:txBody>
          <a:bodyPr/>
          <a:lstStyle/>
          <a:p>
            <a:pPr algn="l"/>
            <a:r>
              <a:rPr sz="4600" dirty="0">
                <a:latin typeface="Meiryo"/>
                <a:ea typeface="Meiryo"/>
                <a:cs typeface="Meiryo"/>
              </a:rPr>
              <a:t>3.3  SDPPG の主な知見</a:t>
            </a:r>
          </a:p>
        </p:txBody>
      </p:sp>
      <p:sp>
        <p:nvSpPr>
          <p:cNvPr id="20" name="st0">
            <a:extLst>
              <a:ext uri="{FF2B5EF4-FFF2-40B4-BE49-F238E27FC236}">
                <a16:creationId xmlns:a16="http://schemas.microsoft.com/office/drawing/2014/main" id="{A69AD9DE-FE15-D9A0-97CF-F74D33568E1A}"/>
              </a:ext>
            </a:extLst>
          </p:cNvPr>
          <p:cNvSpPr/>
          <p:nvPr/>
        </p:nvSpPr>
        <p:spPr>
          <a:xfrm>
            <a:off x="548640" y="1567988"/>
            <a:ext cx="2651760" cy="914400"/>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dirty="0" err="1">
                <a:solidFill>
                  <a:srgbClr val="262626"/>
                </a:solidFill>
                <a:latin typeface="Meiryo"/>
                <a:ea typeface="Meiryo"/>
                <a:cs typeface="Meiryo"/>
              </a:rPr>
              <a:t>Takazawa</a:t>
            </a:r>
            <a:r>
              <a:rPr sz="2200" b="1" dirty="0">
                <a:solidFill>
                  <a:srgbClr val="262626"/>
                </a:solidFill>
                <a:latin typeface="Meiryo"/>
                <a:ea typeface="Meiryo"/>
                <a:cs typeface="Meiryo"/>
              </a:rPr>
              <a:t> 1998</a:t>
            </a:r>
          </a:p>
        </p:txBody>
      </p:sp>
      <p:sp>
        <p:nvSpPr>
          <p:cNvPr id="21" name="sr0">
            <a:extLst>
              <a:ext uri="{FF2B5EF4-FFF2-40B4-BE49-F238E27FC236}">
                <a16:creationId xmlns:a16="http://schemas.microsoft.com/office/drawing/2014/main" id="{3F5DD0A6-7558-4C70-A09F-D1C08996BE50}"/>
              </a:ext>
            </a:extLst>
          </p:cNvPr>
          <p:cNvSpPr txBox="1"/>
          <p:nvPr/>
        </p:nvSpPr>
        <p:spPr>
          <a:xfrm>
            <a:off x="3467151" y="1686634"/>
            <a:ext cx="8174736" cy="677108"/>
          </a:xfrm>
          <a:prstGeom prst="rect">
            <a:avLst/>
          </a:prstGeom>
          <a:noFill/>
        </p:spPr>
        <p:txBody>
          <a:bodyPr wrap="square" lIns="0" tIns="0" rIns="0" bIns="0" anchor="ctr">
            <a:spAutoFit/>
          </a:bodyPr>
          <a:lstStyle/>
          <a:p>
            <a:pPr algn="l"/>
            <a:r>
              <a:rPr sz="2200" b="1" dirty="0" err="1">
                <a:solidFill>
                  <a:srgbClr val="262626"/>
                </a:solidFill>
                <a:latin typeface="Meiryo"/>
                <a:ea typeface="Meiryo"/>
                <a:cs typeface="Meiryo"/>
              </a:rPr>
              <a:t>血管作動薬で</a:t>
            </a:r>
            <a:r>
              <a:rPr sz="2200" b="1" dirty="0">
                <a:solidFill>
                  <a:srgbClr val="262626"/>
                </a:solidFill>
                <a:latin typeface="Meiryo"/>
                <a:ea typeface="Meiryo"/>
                <a:cs typeface="Meiryo"/>
              </a:rPr>
              <a:t> d/a </a:t>
            </a:r>
            <a:r>
              <a:rPr sz="2200" b="1" dirty="0" err="1">
                <a:solidFill>
                  <a:srgbClr val="262626"/>
                </a:solidFill>
                <a:latin typeface="Meiryo"/>
                <a:ea typeface="Meiryo"/>
                <a:cs typeface="Meiryo"/>
              </a:rPr>
              <a:t>が変化：AT</a:t>
            </a:r>
            <a:r>
              <a:rPr sz="2200" b="1" dirty="0">
                <a:solidFill>
                  <a:srgbClr val="262626"/>
                </a:solidFill>
                <a:latin typeface="Meiryo"/>
                <a:ea typeface="Meiryo"/>
                <a:cs typeface="Meiryo"/>
              </a:rPr>
              <a:t> II −0.62 ／ NTG −0.25</a:t>
            </a:r>
          </a:p>
          <a:p>
            <a:pPr algn="l"/>
            <a:r>
              <a:rPr lang="ja-JP" altLang="en-US" sz="2200" b="1">
                <a:solidFill>
                  <a:srgbClr val="262626"/>
                </a:solidFill>
                <a:latin typeface="Meiryo"/>
                <a:ea typeface="Meiryo"/>
                <a:cs typeface="Meiryo"/>
              </a:rPr>
              <a:t>血管加齢指数</a:t>
            </a:r>
            <a:r>
              <a:rPr lang="en-US" altLang="ja-JP" sz="2200" b="1" dirty="0">
                <a:solidFill>
                  <a:srgbClr val="262626"/>
                </a:solidFill>
                <a:latin typeface="Meiryo"/>
                <a:ea typeface="Meiryo"/>
                <a:cs typeface="Meiryo"/>
              </a:rPr>
              <a:t> </a:t>
            </a:r>
            <a:r>
              <a:rPr sz="2200" b="1" dirty="0">
                <a:solidFill>
                  <a:srgbClr val="262626"/>
                </a:solidFill>
                <a:latin typeface="Meiryo"/>
                <a:ea typeface="Meiryo"/>
                <a:cs typeface="Meiryo"/>
              </a:rPr>
              <a:t>AGI </a:t>
            </a:r>
            <a:r>
              <a:rPr sz="2200" b="1" dirty="0" err="1">
                <a:solidFill>
                  <a:srgbClr val="262626"/>
                </a:solidFill>
                <a:latin typeface="Meiryo"/>
                <a:ea typeface="Meiryo"/>
                <a:cs typeface="Meiryo"/>
              </a:rPr>
              <a:t>と</a:t>
            </a:r>
            <a:r>
              <a:rPr sz="2200" b="1" dirty="0">
                <a:solidFill>
                  <a:srgbClr val="262626"/>
                </a:solidFill>
                <a:latin typeface="Meiryo"/>
                <a:ea typeface="Meiryo"/>
                <a:cs typeface="Meiryo"/>
              </a:rPr>
              <a:t> </a:t>
            </a:r>
            <a:r>
              <a:rPr sz="2200" b="1" dirty="0" err="1">
                <a:solidFill>
                  <a:srgbClr val="262626"/>
                </a:solidFill>
                <a:latin typeface="Meiryo"/>
                <a:ea typeface="Meiryo"/>
                <a:cs typeface="Meiryo"/>
              </a:rPr>
              <a:t>年齢</a:t>
            </a:r>
            <a:r>
              <a:rPr sz="2200" b="1" dirty="0">
                <a:solidFill>
                  <a:srgbClr val="262626"/>
                </a:solidFill>
                <a:latin typeface="Meiryo"/>
                <a:ea typeface="Meiryo"/>
                <a:cs typeface="Meiryo"/>
              </a:rPr>
              <a:t> r=0.80</a:t>
            </a:r>
          </a:p>
        </p:txBody>
      </p:sp>
      <p:sp>
        <p:nvSpPr>
          <p:cNvPr id="22" name="st1">
            <a:extLst>
              <a:ext uri="{FF2B5EF4-FFF2-40B4-BE49-F238E27FC236}">
                <a16:creationId xmlns:a16="http://schemas.microsoft.com/office/drawing/2014/main" id="{A7CB9A96-465E-EEC4-39E3-AFE34E82455C}"/>
              </a:ext>
            </a:extLst>
          </p:cNvPr>
          <p:cNvSpPr/>
          <p:nvPr/>
        </p:nvSpPr>
        <p:spPr>
          <a:xfrm>
            <a:off x="548640" y="2543914"/>
            <a:ext cx="2651760" cy="914400"/>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dirty="0" err="1">
                <a:solidFill>
                  <a:srgbClr val="262626"/>
                </a:solidFill>
                <a:latin typeface="Meiryo"/>
                <a:ea typeface="Meiryo"/>
                <a:cs typeface="Meiryo"/>
              </a:rPr>
              <a:t>Bortolotto</a:t>
            </a:r>
            <a:r>
              <a:rPr sz="2200" b="1" dirty="0">
                <a:solidFill>
                  <a:srgbClr val="262626"/>
                </a:solidFill>
                <a:latin typeface="Meiryo"/>
                <a:ea typeface="Meiryo"/>
                <a:cs typeface="Meiryo"/>
              </a:rPr>
              <a:t> 2000</a:t>
            </a:r>
          </a:p>
        </p:txBody>
      </p:sp>
      <p:sp>
        <p:nvSpPr>
          <p:cNvPr id="23" name="sr1">
            <a:extLst>
              <a:ext uri="{FF2B5EF4-FFF2-40B4-BE49-F238E27FC236}">
                <a16:creationId xmlns:a16="http://schemas.microsoft.com/office/drawing/2014/main" id="{956EC523-6A44-37E2-4B03-A7B1D576A436}"/>
              </a:ext>
            </a:extLst>
          </p:cNvPr>
          <p:cNvSpPr txBox="1"/>
          <p:nvPr/>
        </p:nvSpPr>
        <p:spPr>
          <a:xfrm>
            <a:off x="3467151" y="2662560"/>
            <a:ext cx="8174736" cy="677108"/>
          </a:xfrm>
          <a:prstGeom prst="rect">
            <a:avLst/>
          </a:prstGeom>
          <a:noFill/>
        </p:spPr>
        <p:txBody>
          <a:bodyPr wrap="square" lIns="0" tIns="0" rIns="0" bIns="0" anchor="ctr">
            <a:spAutoFit/>
          </a:bodyPr>
          <a:lstStyle/>
          <a:p>
            <a:pPr algn="l"/>
            <a:r>
              <a:rPr sz="2200" b="1" dirty="0" err="1">
                <a:solidFill>
                  <a:srgbClr val="262626"/>
                </a:solidFill>
                <a:latin typeface="Meiryo"/>
                <a:ea typeface="Meiryo"/>
                <a:cs typeface="Meiryo"/>
              </a:rPr>
              <a:t>動脈硬化あり</a:t>
            </a:r>
            <a:r>
              <a:rPr sz="2200" b="1" dirty="0">
                <a:solidFill>
                  <a:srgbClr val="262626"/>
                </a:solidFill>
                <a:latin typeface="Meiryo"/>
                <a:ea typeface="Meiryo"/>
                <a:cs typeface="Meiryo"/>
              </a:rPr>
              <a:t> AGI −0.093 ／ </a:t>
            </a:r>
            <a:r>
              <a:rPr sz="2200" b="1" dirty="0" err="1">
                <a:solidFill>
                  <a:srgbClr val="262626"/>
                </a:solidFill>
                <a:latin typeface="Meiryo"/>
                <a:ea typeface="Meiryo"/>
                <a:cs typeface="Meiryo"/>
              </a:rPr>
              <a:t>なし</a:t>
            </a:r>
            <a:r>
              <a:rPr sz="2200" b="1" dirty="0">
                <a:solidFill>
                  <a:srgbClr val="262626"/>
                </a:solidFill>
                <a:latin typeface="Meiryo"/>
                <a:ea typeface="Meiryo"/>
                <a:cs typeface="Meiryo"/>
              </a:rPr>
              <a:t> −0.271（P&lt;0.001）</a:t>
            </a:r>
          </a:p>
          <a:p>
            <a:pPr algn="l"/>
            <a:r>
              <a:rPr lang="ja-JP" altLang="en-US" sz="2200" b="1">
                <a:solidFill>
                  <a:srgbClr val="262626"/>
                </a:solidFill>
                <a:latin typeface="Meiryo"/>
                <a:ea typeface="Meiryo"/>
                <a:cs typeface="Meiryo"/>
              </a:rPr>
              <a:t>動脈硬化の</a:t>
            </a:r>
            <a:r>
              <a:rPr sz="2200" b="1" dirty="0">
                <a:solidFill>
                  <a:srgbClr val="262626"/>
                </a:solidFill>
                <a:latin typeface="Meiryo"/>
                <a:ea typeface="Meiryo"/>
                <a:cs typeface="Meiryo"/>
              </a:rPr>
              <a:t> </a:t>
            </a:r>
            <a:r>
              <a:rPr sz="2200" b="1" dirty="0" err="1">
                <a:solidFill>
                  <a:srgbClr val="262626"/>
                </a:solidFill>
                <a:latin typeface="Meiryo"/>
                <a:ea typeface="Meiryo"/>
                <a:cs typeface="Meiryo"/>
              </a:rPr>
              <a:t>独立規定因子としては</a:t>
            </a:r>
            <a:r>
              <a:rPr sz="2200" b="1" dirty="0">
                <a:solidFill>
                  <a:srgbClr val="262626"/>
                </a:solidFill>
                <a:latin typeface="Meiryo"/>
                <a:ea typeface="Meiryo"/>
                <a:cs typeface="Meiryo"/>
              </a:rPr>
              <a:t> PWV </a:t>
            </a:r>
            <a:r>
              <a:rPr sz="2200" b="1" dirty="0" err="1">
                <a:solidFill>
                  <a:srgbClr val="262626"/>
                </a:solidFill>
                <a:latin typeface="Meiryo"/>
                <a:ea typeface="Meiryo"/>
                <a:cs typeface="Meiryo"/>
              </a:rPr>
              <a:t>が優位</a:t>
            </a:r>
            <a:r>
              <a:rPr lang="ja-JP" altLang="en-US" sz="2200" b="1">
                <a:solidFill>
                  <a:srgbClr val="262626"/>
                </a:solidFill>
                <a:latin typeface="Meiryo"/>
                <a:ea typeface="Meiryo"/>
                <a:cs typeface="Meiryo"/>
              </a:rPr>
              <a:t>。</a:t>
            </a:r>
            <a:endParaRPr sz="2200" b="1" dirty="0">
              <a:solidFill>
                <a:srgbClr val="262626"/>
              </a:solidFill>
              <a:latin typeface="Meiryo"/>
              <a:ea typeface="Meiryo"/>
              <a:cs typeface="Meiryo"/>
            </a:endParaRPr>
          </a:p>
        </p:txBody>
      </p:sp>
      <p:sp>
        <p:nvSpPr>
          <p:cNvPr id="24" name="st2">
            <a:extLst>
              <a:ext uri="{FF2B5EF4-FFF2-40B4-BE49-F238E27FC236}">
                <a16:creationId xmlns:a16="http://schemas.microsoft.com/office/drawing/2014/main" id="{DF5C56B1-7A32-A9A5-4FC0-BF2B52C46C27}"/>
              </a:ext>
            </a:extLst>
          </p:cNvPr>
          <p:cNvSpPr/>
          <p:nvPr/>
        </p:nvSpPr>
        <p:spPr>
          <a:xfrm>
            <a:off x="548640" y="3519840"/>
            <a:ext cx="2651760" cy="914400"/>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sz="2200" b="1" dirty="0">
                <a:solidFill>
                  <a:srgbClr val="262626"/>
                </a:solidFill>
                <a:latin typeface="Meiryo"/>
                <a:ea typeface="Meiryo"/>
                <a:cs typeface="Meiryo"/>
              </a:rPr>
              <a:t>Hashimoto 2002</a:t>
            </a:r>
            <a:endParaRPr sz="2200" b="1" dirty="0">
              <a:solidFill>
                <a:srgbClr val="262626"/>
              </a:solidFill>
              <a:latin typeface="Meiryo"/>
              <a:ea typeface="Meiryo"/>
              <a:cs typeface="Meiryo"/>
            </a:endParaRPr>
          </a:p>
        </p:txBody>
      </p:sp>
      <p:sp>
        <p:nvSpPr>
          <p:cNvPr id="25" name="sr2">
            <a:extLst>
              <a:ext uri="{FF2B5EF4-FFF2-40B4-BE49-F238E27FC236}">
                <a16:creationId xmlns:a16="http://schemas.microsoft.com/office/drawing/2014/main" id="{4C889F4B-1141-A2B9-799E-CAA07C013806}"/>
              </a:ext>
            </a:extLst>
          </p:cNvPr>
          <p:cNvSpPr txBox="1"/>
          <p:nvPr/>
        </p:nvSpPr>
        <p:spPr>
          <a:xfrm>
            <a:off x="3467151" y="4614412"/>
            <a:ext cx="8174736" cy="677108"/>
          </a:xfrm>
          <a:prstGeom prst="rect">
            <a:avLst/>
          </a:prstGeom>
          <a:noFill/>
        </p:spPr>
        <p:txBody>
          <a:bodyPr wrap="square" lIns="0" tIns="0" rIns="0" bIns="0" anchor="ctr">
            <a:spAutoFit/>
          </a:bodyPr>
          <a:lstStyle/>
          <a:p>
            <a:r>
              <a:rPr lang="en" altLang="ja-JP" sz="2200" b="1" dirty="0">
                <a:latin typeface="+mj-ea"/>
                <a:ea typeface="+mj-ea"/>
              </a:rPr>
              <a:t>Framingham risk score </a:t>
            </a:r>
            <a:r>
              <a:rPr lang="ja-JP" altLang="en-US" sz="2200" b="1">
                <a:latin typeface="+mj-ea"/>
                <a:ea typeface="+mj-ea"/>
              </a:rPr>
              <a:t>との相関あり。</a:t>
            </a:r>
            <a:endParaRPr lang="en-US" altLang="ja-JP" sz="2200" b="1" dirty="0">
              <a:latin typeface="+mj-ea"/>
              <a:ea typeface="+mj-ea"/>
            </a:endParaRPr>
          </a:p>
          <a:p>
            <a:r>
              <a:rPr lang="en" altLang="ja-JP" sz="2200" b="1" dirty="0">
                <a:latin typeface="+mj-ea"/>
                <a:ea typeface="+mj-ea"/>
              </a:rPr>
              <a:t>b/a</a:t>
            </a:r>
            <a:r>
              <a:rPr lang="ja-JP" altLang="en" sz="2200" b="1">
                <a:latin typeface="+mj-ea"/>
                <a:ea typeface="+mj-ea"/>
              </a:rPr>
              <a:t>：</a:t>
            </a:r>
            <a:r>
              <a:rPr lang="ja-JP" altLang="en-US" sz="2200" b="1">
                <a:latin typeface="+mj-ea"/>
                <a:ea typeface="+mj-ea"/>
              </a:rPr>
              <a:t> </a:t>
            </a:r>
            <a:r>
              <a:rPr lang="en" altLang="ja-JP" sz="2200" b="1" dirty="0">
                <a:latin typeface="+mj-ea"/>
                <a:ea typeface="+mj-ea"/>
              </a:rPr>
              <a:t>r=0.43</a:t>
            </a:r>
            <a:r>
              <a:rPr lang="ja-JP" altLang="en" sz="2200" b="1">
                <a:latin typeface="+mj-ea"/>
                <a:ea typeface="+mj-ea"/>
              </a:rPr>
              <a:t>／</a:t>
            </a:r>
            <a:r>
              <a:rPr lang="en" altLang="ja-JP" sz="2200" b="1" dirty="0">
                <a:latin typeface="+mj-ea"/>
                <a:ea typeface="+mj-ea"/>
              </a:rPr>
              <a:t>0.54 </a:t>
            </a:r>
            <a:r>
              <a:rPr lang="ja-JP" altLang="en" sz="2200" b="1">
                <a:latin typeface="+mj-ea"/>
                <a:ea typeface="+mj-ea"/>
              </a:rPr>
              <a:t>、</a:t>
            </a:r>
            <a:r>
              <a:rPr lang="en" altLang="ja-JP" sz="2200" b="1" dirty="0">
                <a:latin typeface="+mj-ea"/>
                <a:ea typeface="+mj-ea"/>
              </a:rPr>
              <a:t>d/a</a:t>
            </a:r>
            <a:r>
              <a:rPr lang="ja-JP" altLang="en" sz="2200" b="1">
                <a:latin typeface="+mj-ea"/>
                <a:ea typeface="+mj-ea"/>
              </a:rPr>
              <a:t>：</a:t>
            </a:r>
            <a:r>
              <a:rPr lang="en-US" altLang="ja-JP" sz="2200" b="1" dirty="0">
                <a:latin typeface="+mj-ea"/>
                <a:ea typeface="+mj-ea"/>
              </a:rPr>
              <a:t>r=</a:t>
            </a:r>
            <a:r>
              <a:rPr lang="ja-JP" altLang="en-US" sz="2200" b="1">
                <a:latin typeface="+mj-ea"/>
                <a:ea typeface="+mj-ea"/>
              </a:rPr>
              <a:t>−</a:t>
            </a:r>
            <a:r>
              <a:rPr lang="en-US" altLang="ja-JP" sz="2200" b="1" dirty="0">
                <a:latin typeface="+mj-ea"/>
                <a:ea typeface="+mj-ea"/>
              </a:rPr>
              <a:t>0.38</a:t>
            </a:r>
            <a:r>
              <a:rPr lang="ja-JP" altLang="en-US" sz="2200" b="1">
                <a:latin typeface="+mj-ea"/>
                <a:ea typeface="+mj-ea"/>
              </a:rPr>
              <a:t>／ −</a:t>
            </a:r>
            <a:r>
              <a:rPr lang="en-US" altLang="ja-JP" sz="2200" b="1" dirty="0">
                <a:latin typeface="+mj-ea"/>
                <a:ea typeface="+mj-ea"/>
              </a:rPr>
              <a:t>0.58  (</a:t>
            </a:r>
            <a:r>
              <a:rPr lang="ja-JP" altLang="en-US" sz="2200" b="1">
                <a:latin typeface="+mj-ea"/>
                <a:ea typeface="+mj-ea"/>
              </a:rPr>
              <a:t>男</a:t>
            </a:r>
            <a:r>
              <a:rPr lang="en-US" altLang="ja-JP" sz="2200" b="1" dirty="0">
                <a:latin typeface="+mj-ea"/>
                <a:ea typeface="+mj-ea"/>
              </a:rPr>
              <a:t>/</a:t>
            </a:r>
            <a:r>
              <a:rPr lang="ja-JP" altLang="en-US" sz="2200" b="1">
                <a:latin typeface="+mj-ea"/>
                <a:ea typeface="+mj-ea"/>
              </a:rPr>
              <a:t>女</a:t>
            </a:r>
            <a:r>
              <a:rPr lang="en-US" altLang="ja-JP" sz="2200" b="1" dirty="0">
                <a:latin typeface="+mj-ea"/>
                <a:ea typeface="+mj-ea"/>
              </a:rPr>
              <a:t>)</a:t>
            </a:r>
            <a:endParaRPr sz="2200" b="1" dirty="0">
              <a:solidFill>
                <a:srgbClr val="262626"/>
              </a:solidFill>
              <a:latin typeface="+mj-ea"/>
              <a:ea typeface="+mj-ea"/>
              <a:cs typeface="Meiryo"/>
            </a:endParaRPr>
          </a:p>
        </p:txBody>
      </p:sp>
      <p:sp>
        <p:nvSpPr>
          <p:cNvPr id="3" name="st2">
            <a:extLst>
              <a:ext uri="{FF2B5EF4-FFF2-40B4-BE49-F238E27FC236}">
                <a16:creationId xmlns:a16="http://schemas.microsoft.com/office/drawing/2014/main" id="{D01B300E-138B-711A-9BBC-DC39FEA03A42}"/>
              </a:ext>
            </a:extLst>
          </p:cNvPr>
          <p:cNvSpPr/>
          <p:nvPr/>
        </p:nvSpPr>
        <p:spPr>
          <a:xfrm>
            <a:off x="548640" y="4495766"/>
            <a:ext cx="2651760" cy="914400"/>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sz="2200" b="1" dirty="0">
                <a:solidFill>
                  <a:srgbClr val="262626"/>
                </a:solidFill>
                <a:latin typeface="Meiryo"/>
                <a:ea typeface="Meiryo"/>
                <a:cs typeface="Meiryo"/>
              </a:rPr>
              <a:t>Otsuka</a:t>
            </a:r>
            <a:r>
              <a:rPr sz="2200" b="1" dirty="0">
                <a:solidFill>
                  <a:srgbClr val="262626"/>
                </a:solidFill>
                <a:latin typeface="Meiryo"/>
                <a:ea typeface="Meiryo"/>
                <a:cs typeface="Meiryo"/>
              </a:rPr>
              <a:t> 200</a:t>
            </a:r>
            <a:r>
              <a:rPr lang="en-US" sz="2200" b="1" dirty="0">
                <a:solidFill>
                  <a:srgbClr val="262626"/>
                </a:solidFill>
                <a:latin typeface="Meiryo"/>
                <a:ea typeface="Meiryo"/>
                <a:cs typeface="Meiryo"/>
              </a:rPr>
              <a:t>6</a:t>
            </a:r>
            <a:endParaRPr sz="2200" b="1" dirty="0">
              <a:solidFill>
                <a:srgbClr val="262626"/>
              </a:solidFill>
              <a:latin typeface="Meiryo"/>
              <a:ea typeface="Meiryo"/>
              <a:cs typeface="Meiryo"/>
            </a:endParaRPr>
          </a:p>
        </p:txBody>
      </p:sp>
      <p:sp>
        <p:nvSpPr>
          <p:cNvPr id="4" name="sr2">
            <a:extLst>
              <a:ext uri="{FF2B5EF4-FFF2-40B4-BE49-F238E27FC236}">
                <a16:creationId xmlns:a16="http://schemas.microsoft.com/office/drawing/2014/main" id="{9ACEB9CE-B3AB-61FD-6B96-748745BBBEE5}"/>
              </a:ext>
            </a:extLst>
          </p:cNvPr>
          <p:cNvSpPr txBox="1"/>
          <p:nvPr/>
        </p:nvSpPr>
        <p:spPr>
          <a:xfrm>
            <a:off x="3467151" y="5590338"/>
            <a:ext cx="8174736" cy="677108"/>
          </a:xfrm>
          <a:prstGeom prst="rect">
            <a:avLst/>
          </a:prstGeom>
          <a:noFill/>
        </p:spPr>
        <p:txBody>
          <a:bodyPr wrap="square" lIns="0" tIns="0" rIns="0" bIns="0" anchor="ctr">
            <a:spAutoFit/>
          </a:bodyPr>
          <a:lstStyle/>
          <a:p>
            <a:r>
              <a:rPr lang="ja-JP" altLang="en-US" sz="2200" b="1">
                <a:solidFill>
                  <a:srgbClr val="262626"/>
                </a:solidFill>
                <a:latin typeface="+mj-ea"/>
                <a:ea typeface="+mj-ea"/>
                <a:cs typeface="Meiryo"/>
              </a:rPr>
              <a:t>頸動脈 IMT など臓器障害との関連は弱いか有意でない。</a:t>
            </a:r>
            <a:endParaRPr lang="en-US" altLang="ja-JP" sz="2200" b="1" dirty="0">
              <a:solidFill>
                <a:srgbClr val="262626"/>
              </a:solidFill>
              <a:latin typeface="+mj-ea"/>
              <a:ea typeface="+mj-ea"/>
              <a:cs typeface="Meiryo"/>
            </a:endParaRPr>
          </a:p>
          <a:p>
            <a:r>
              <a:rPr lang="en-US" altLang="ja-JP" sz="2200" b="1" dirty="0">
                <a:solidFill>
                  <a:srgbClr val="262626"/>
                </a:solidFill>
                <a:latin typeface="+mj-ea"/>
                <a:ea typeface="+mj-ea"/>
                <a:cs typeface="Meiryo"/>
              </a:rPr>
              <a:t>b/a・d/</a:t>
            </a:r>
            <a:r>
              <a:rPr lang="en-US" altLang="ja-JP" sz="2200" b="1" dirty="0" err="1">
                <a:solidFill>
                  <a:srgbClr val="262626"/>
                </a:solidFill>
                <a:latin typeface="+mj-ea"/>
                <a:ea typeface="+mj-ea"/>
                <a:cs typeface="Meiryo"/>
              </a:rPr>
              <a:t>a・AGI</a:t>
            </a:r>
            <a:r>
              <a:rPr lang="en-US" altLang="ja-JP" sz="2200" b="1" dirty="0">
                <a:solidFill>
                  <a:srgbClr val="262626"/>
                </a:solidFill>
                <a:latin typeface="+mj-ea"/>
                <a:ea typeface="+mj-ea"/>
                <a:cs typeface="Meiryo"/>
              </a:rPr>
              <a:t> </a:t>
            </a:r>
            <a:r>
              <a:rPr lang="en-US" altLang="ja-JP" sz="2200" b="1" dirty="0" err="1">
                <a:solidFill>
                  <a:srgbClr val="262626"/>
                </a:solidFill>
                <a:latin typeface="+mj-ea"/>
                <a:ea typeface="+mj-ea"/>
                <a:cs typeface="Meiryo"/>
              </a:rPr>
              <a:t>の規定因子は</a:t>
            </a:r>
            <a:r>
              <a:rPr lang="en-US" altLang="ja-JP" sz="2200" b="1" dirty="0">
                <a:solidFill>
                  <a:srgbClr val="262626"/>
                </a:solidFill>
                <a:latin typeface="+mj-ea"/>
                <a:ea typeface="+mj-ea"/>
                <a:cs typeface="Meiryo"/>
              </a:rPr>
              <a:t> 年齢・性・収縮期血圧・心拍数。</a:t>
            </a:r>
            <a:endParaRPr sz="2200" b="1" dirty="0">
              <a:solidFill>
                <a:srgbClr val="262626"/>
              </a:solidFill>
              <a:latin typeface="+mj-ea"/>
              <a:ea typeface="+mj-ea"/>
              <a:cs typeface="Meiryo"/>
            </a:endParaRPr>
          </a:p>
        </p:txBody>
      </p:sp>
      <p:sp>
        <p:nvSpPr>
          <p:cNvPr id="5" name="st2">
            <a:extLst>
              <a:ext uri="{FF2B5EF4-FFF2-40B4-BE49-F238E27FC236}">
                <a16:creationId xmlns:a16="http://schemas.microsoft.com/office/drawing/2014/main" id="{40F1D81F-94D4-8663-C39F-8B95EC37524F}"/>
              </a:ext>
            </a:extLst>
          </p:cNvPr>
          <p:cNvSpPr/>
          <p:nvPr/>
        </p:nvSpPr>
        <p:spPr>
          <a:xfrm>
            <a:off x="548640" y="5471692"/>
            <a:ext cx="2651760" cy="914400"/>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sz="2200" b="1" dirty="0">
                <a:solidFill>
                  <a:srgbClr val="262626"/>
                </a:solidFill>
                <a:latin typeface="Meiryo"/>
                <a:ea typeface="Meiryo"/>
                <a:cs typeface="Meiryo"/>
              </a:rPr>
              <a:t>Tabara 2016 </a:t>
            </a:r>
            <a:endParaRPr sz="2200" b="1" dirty="0">
              <a:solidFill>
                <a:srgbClr val="262626"/>
              </a:solidFill>
              <a:latin typeface="Meiryo"/>
              <a:ea typeface="Meiryo"/>
              <a:cs typeface="Meiryo"/>
            </a:endParaRPr>
          </a:p>
        </p:txBody>
      </p:sp>
      <p:sp>
        <p:nvSpPr>
          <p:cNvPr id="6" name="sr2">
            <a:extLst>
              <a:ext uri="{FF2B5EF4-FFF2-40B4-BE49-F238E27FC236}">
                <a16:creationId xmlns:a16="http://schemas.microsoft.com/office/drawing/2014/main" id="{92697709-B3D9-1610-E7F2-68BAB82C7C1C}"/>
              </a:ext>
            </a:extLst>
          </p:cNvPr>
          <p:cNvSpPr txBox="1"/>
          <p:nvPr/>
        </p:nvSpPr>
        <p:spPr>
          <a:xfrm>
            <a:off x="3467151" y="3638486"/>
            <a:ext cx="8174736" cy="677108"/>
          </a:xfrm>
          <a:prstGeom prst="rect">
            <a:avLst/>
          </a:prstGeom>
          <a:noFill/>
        </p:spPr>
        <p:txBody>
          <a:bodyPr wrap="square" lIns="0" tIns="0" rIns="0" bIns="0" anchor="ctr">
            <a:spAutoFit/>
          </a:bodyPr>
          <a:lstStyle/>
          <a:p>
            <a:r>
              <a:rPr lang="en-US" altLang="ja-JP" sz="2200" b="1" dirty="0">
                <a:latin typeface="+mj-ea"/>
                <a:ea typeface="+mj-ea"/>
              </a:rPr>
              <a:t>PWV と SDPPG </a:t>
            </a:r>
            <a:r>
              <a:rPr lang="en-US" altLang="ja-JP" sz="2200" b="1" dirty="0" err="1">
                <a:latin typeface="+mj-ea"/>
                <a:ea typeface="+mj-ea"/>
              </a:rPr>
              <a:t>の相関は弱</a:t>
            </a:r>
            <a:r>
              <a:rPr lang="ja-JP" altLang="en-US" sz="2200" b="1">
                <a:latin typeface="+mj-ea"/>
                <a:ea typeface="+mj-ea"/>
              </a:rPr>
              <a:t>い。</a:t>
            </a:r>
            <a:endParaRPr lang="en-US" altLang="ja-JP" sz="2200" b="1" dirty="0">
              <a:latin typeface="+mj-ea"/>
              <a:ea typeface="+mj-ea"/>
            </a:endParaRPr>
          </a:p>
          <a:p>
            <a:r>
              <a:rPr lang="en-US" altLang="ja-JP" sz="2200" dirty="0">
                <a:solidFill>
                  <a:srgbClr val="262626"/>
                </a:solidFill>
                <a:latin typeface="Meiryo"/>
                <a:ea typeface="Meiryo"/>
                <a:cs typeface="Meiryo"/>
              </a:rPr>
              <a:t>HR</a:t>
            </a:r>
            <a:r>
              <a:rPr sz="2200" dirty="0">
                <a:solidFill>
                  <a:srgbClr val="262626"/>
                </a:solidFill>
                <a:latin typeface="Meiryo"/>
                <a:ea typeface="Meiryo"/>
                <a:cs typeface="Meiryo"/>
              </a:rPr>
              <a:t>は d/</a:t>
            </a:r>
            <a:r>
              <a:rPr sz="2200" dirty="0" err="1">
                <a:solidFill>
                  <a:srgbClr val="262626"/>
                </a:solidFill>
                <a:latin typeface="Meiryo"/>
                <a:ea typeface="Meiryo"/>
                <a:cs typeface="Meiryo"/>
              </a:rPr>
              <a:t>a・AGI</a:t>
            </a:r>
            <a:r>
              <a:rPr sz="2200" dirty="0">
                <a:solidFill>
                  <a:srgbClr val="262626"/>
                </a:solidFill>
                <a:latin typeface="Meiryo"/>
                <a:ea typeface="Meiryo"/>
                <a:cs typeface="Meiryo"/>
              </a:rPr>
              <a:t> </a:t>
            </a:r>
            <a:r>
              <a:rPr sz="2200" dirty="0" err="1">
                <a:solidFill>
                  <a:srgbClr val="262626"/>
                </a:solidFill>
                <a:latin typeface="Meiryo"/>
                <a:ea typeface="Meiryo"/>
                <a:cs typeface="Meiryo"/>
              </a:rPr>
              <a:t>と負、b</a:t>
            </a:r>
            <a:r>
              <a:rPr sz="2200" dirty="0">
                <a:solidFill>
                  <a:srgbClr val="262626"/>
                </a:solidFill>
                <a:latin typeface="Meiryo"/>
                <a:ea typeface="Meiryo"/>
                <a:cs typeface="Meiryo"/>
              </a:rPr>
              <a:t>/a </a:t>
            </a:r>
            <a:r>
              <a:rPr sz="2200" dirty="0" err="1">
                <a:solidFill>
                  <a:srgbClr val="262626"/>
                </a:solidFill>
                <a:latin typeface="Meiryo"/>
                <a:ea typeface="Meiryo"/>
                <a:cs typeface="Meiryo"/>
              </a:rPr>
              <a:t>と正に相関（治療中高血圧</a:t>
            </a:r>
            <a:r>
              <a:rPr sz="2200" dirty="0">
                <a:solidFill>
                  <a:srgbClr val="262626"/>
                </a:solidFill>
                <a:latin typeface="Meiryo"/>
                <a:ea typeface="Meiryo"/>
                <a:cs typeface="Meiryo"/>
              </a:rPr>
              <a:t> 294 </a:t>
            </a:r>
            <a:r>
              <a:rPr sz="2200" dirty="0" err="1">
                <a:solidFill>
                  <a:srgbClr val="262626"/>
                </a:solidFill>
                <a:latin typeface="Meiryo"/>
                <a:ea typeface="Meiryo"/>
                <a:cs typeface="Meiryo"/>
              </a:rPr>
              <a:t>名</a:t>
            </a:r>
            <a:r>
              <a:rPr sz="2200" dirty="0">
                <a:solidFill>
                  <a:srgbClr val="262626"/>
                </a:solidFill>
                <a:latin typeface="Meiryo"/>
                <a:ea typeface="Meiryo"/>
                <a:cs typeface="Meiryo"/>
              </a:rPr>
              <a:t>）</a:t>
            </a:r>
          </a:p>
        </p:txBody>
      </p:sp>
      <p:sp>
        <p:nvSpPr>
          <p:cNvPr id="7" name="Source">
            <a:extLst>
              <a:ext uri="{FF2B5EF4-FFF2-40B4-BE49-F238E27FC236}">
                <a16:creationId xmlns:a16="http://schemas.microsoft.com/office/drawing/2014/main" id="{6FF5DF5E-413E-E2F8-7727-6220DC8C4DEB}"/>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16. Hashimoto 2002　／　24. Takazawa 1998　／　25. Bortolotto 2000　／　26. Otsuka 2006　／　27. Tabara 2016</a:t>
            </a:r>
          </a:p>
        </p:txBody>
      </p:sp>
      <p:sp>
        <p:nvSpPr>
          <p:cNvPr id="2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61/118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4">
            <a:extLst>
              <a:ext uri="{FF2B5EF4-FFF2-40B4-BE49-F238E27FC236}">
                <a16:creationId xmlns:a16="http://schemas.microsoft.com/office/drawing/2014/main" id="{AA9D36CE-3772-F005-B54C-9329ADA7F086}"/>
              </a:ext>
            </a:extLst>
          </p:cNvPr>
          <p:cNvSpPr/>
          <p:nvPr/>
        </p:nvSpPr>
        <p:spPr>
          <a:xfrm>
            <a:off x="953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424351789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6EC7E-CC25-35A5-F86E-4D3BC9F9C53C}"/>
              </a:ext>
            </a:extLst>
          </p:cNvPr>
          <p:cNvSpPr>
            <a:spLocks noGrp="1"/>
          </p:cNvSpPr>
          <p:nvPr>
            <p:ph type="title"/>
          </p:nvPr>
        </p:nvSpPr>
        <p:spPr/>
        <p:txBody>
          <a:bodyPr/>
          <a:lstStyle/>
          <a:p>
            <a:pPr algn="l"/>
            <a:r>
              <a:rPr sz="4600" dirty="0">
                <a:latin typeface="Meiryo"/>
                <a:ea typeface="Meiryo"/>
                <a:cs typeface="Meiryo"/>
              </a:rPr>
              <a:t>3.3  SDPPG は何を測れたか</a:t>
            </a:r>
          </a:p>
        </p:txBody>
      </p:sp>
      <p:sp>
        <p:nvSpPr>
          <p:cNvPr id="2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16. Hashimoto 2002　／　24. Takazawa 1998　／　25. Bortolotto 2000　／　26. Otsuka 2006　／　27. Tabara 2016</a:t>
            </a:r>
          </a:p>
        </p:txBody>
      </p:sp>
      <p:sp>
        <p:nvSpPr>
          <p:cNvPr id="30" name="Rounded Rectangle 29"/>
          <p:cNvSpPr/>
          <p:nvPr/>
        </p:nvSpPr>
        <p:spPr>
          <a:xfrm>
            <a:off x="472440" y="2155801"/>
            <a:ext cx="3566160" cy="370332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582168" y="2320393"/>
            <a:ext cx="3346704" cy="457200"/>
          </a:xfrm>
          <a:prstGeom prst="rect">
            <a:avLst/>
          </a:prstGeom>
          <a:noFill/>
        </p:spPr>
        <p:txBody>
          <a:bodyPr wrap="square" lIns="0" tIns="0" rIns="0" bIns="0" anchor="t">
            <a:spAutoFit/>
          </a:bodyPr>
          <a:lstStyle/>
          <a:p>
            <a:pPr algn="ctr"/>
            <a:r>
              <a:rPr sz="2400" b="1">
                <a:solidFill>
                  <a:srgbClr val="0072B2"/>
                </a:solidFill>
                <a:latin typeface="Meiryo"/>
                <a:ea typeface="Meiryo"/>
                <a:cs typeface="Meiryo"/>
              </a:rPr>
              <a:t>急性のトーヌス</a:t>
            </a:r>
          </a:p>
        </p:txBody>
      </p:sp>
      <p:sp>
        <p:nvSpPr>
          <p:cNvPr id="32" name="TextBox 31"/>
          <p:cNvSpPr txBox="1"/>
          <p:nvPr/>
        </p:nvSpPr>
        <p:spPr>
          <a:xfrm>
            <a:off x="582168" y="2869033"/>
            <a:ext cx="3346704" cy="457200"/>
          </a:xfrm>
          <a:prstGeom prst="rect">
            <a:avLst/>
          </a:prstGeom>
          <a:noFill/>
        </p:spPr>
        <p:txBody>
          <a:bodyPr wrap="square" lIns="0" tIns="0" rIns="0" bIns="0" anchor="t">
            <a:spAutoFit/>
          </a:bodyPr>
          <a:lstStyle/>
          <a:p>
            <a:pPr algn="ctr"/>
            <a:r>
              <a:rPr sz="3000" b="1">
                <a:solidFill>
                  <a:srgbClr val="0072B2"/>
                </a:solidFill>
                <a:latin typeface="Meiryo"/>
                <a:ea typeface="Meiryo"/>
                <a:cs typeface="Meiryo"/>
              </a:rPr>
              <a:t>○</a:t>
            </a:r>
          </a:p>
        </p:txBody>
      </p:sp>
      <p:sp>
        <p:nvSpPr>
          <p:cNvPr id="33" name="TextBox 32"/>
          <p:cNvSpPr txBox="1"/>
          <p:nvPr/>
        </p:nvSpPr>
        <p:spPr>
          <a:xfrm>
            <a:off x="609600" y="3490825"/>
            <a:ext cx="329184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24. Takazawa 1998</a:t>
            </a:r>
          </a:p>
        </p:txBody>
      </p:sp>
      <p:sp>
        <p:nvSpPr>
          <p:cNvPr id="34" name="TextBox 33"/>
          <p:cNvSpPr txBox="1"/>
          <p:nvPr/>
        </p:nvSpPr>
        <p:spPr>
          <a:xfrm>
            <a:off x="609600" y="3893161"/>
            <a:ext cx="3291840" cy="384048"/>
          </a:xfrm>
          <a:prstGeom prst="rect">
            <a:avLst/>
          </a:prstGeom>
          <a:noFill/>
        </p:spPr>
        <p:txBody>
          <a:bodyPr wrap="square" lIns="0" tIns="0" rIns="0" bIns="0" anchor="t">
            <a:spAutoFit/>
          </a:bodyPr>
          <a:lstStyle/>
          <a:p>
            <a:pPr algn="l">
              <a:spcAft>
                <a:spcPts val="100"/>
              </a:spcAft>
            </a:pPr>
            <a:r>
              <a:rPr sz="2200" b="0">
                <a:solidFill>
                  <a:srgbClr val="808080"/>
                </a:solidFill>
                <a:latin typeface="Meiryo"/>
                <a:ea typeface="Meiryo"/>
                <a:cs typeface="Meiryo"/>
              </a:rPr>
              <a:t>薬で d/a が動く</a:t>
            </a:r>
          </a:p>
        </p:txBody>
      </p:sp>
      <p:sp>
        <p:nvSpPr>
          <p:cNvPr id="35" name="TextBox 34"/>
          <p:cNvSpPr txBox="1"/>
          <p:nvPr/>
        </p:nvSpPr>
        <p:spPr>
          <a:xfrm>
            <a:off x="609600" y="4405225"/>
            <a:ext cx="3291840" cy="768096"/>
          </a:xfrm>
          <a:prstGeom prst="rect">
            <a:avLst/>
          </a:prstGeom>
          <a:noFill/>
        </p:spPr>
        <p:txBody>
          <a:bodyPr wrap="square" lIns="0" tIns="0" rIns="0" bIns="0" anchor="t">
            <a:spAutoFit/>
          </a:bodyPr>
          <a:lstStyle/>
          <a:p>
            <a:pPr algn="l">
              <a:spcAft>
                <a:spcPts val="100"/>
              </a:spcAft>
            </a:pPr>
            <a:r>
              <a:rPr sz="2200" b="0">
                <a:solidFill>
                  <a:srgbClr val="808080"/>
                </a:solidFill>
                <a:latin typeface="Meiryo"/>
                <a:ea typeface="Meiryo"/>
                <a:cs typeface="Meiryo"/>
              </a:rPr>
              <a:t>AT II −0.62</a:t>
            </a:r>
          </a:p>
          <a:p>
            <a:pPr algn="l">
              <a:spcAft>
                <a:spcPts val="100"/>
              </a:spcAft>
            </a:pPr>
            <a:r>
              <a:rPr sz="2200" b="0">
                <a:solidFill>
                  <a:srgbClr val="808080"/>
                </a:solidFill>
                <a:latin typeface="Meiryo"/>
                <a:ea typeface="Meiryo"/>
                <a:cs typeface="Meiryo"/>
              </a:rPr>
              <a:t>NTG −0.25</a:t>
            </a:r>
          </a:p>
        </p:txBody>
      </p:sp>
      <p:sp>
        <p:nvSpPr>
          <p:cNvPr id="36" name="Rounded Rectangle 35"/>
          <p:cNvSpPr/>
          <p:nvPr/>
        </p:nvSpPr>
        <p:spPr>
          <a:xfrm>
            <a:off x="4312920" y="2155801"/>
            <a:ext cx="3566160" cy="370332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4422648" y="2320393"/>
            <a:ext cx="3346704" cy="457200"/>
          </a:xfrm>
          <a:prstGeom prst="rect">
            <a:avLst/>
          </a:prstGeom>
          <a:noFill/>
        </p:spPr>
        <p:txBody>
          <a:bodyPr wrap="square" lIns="0" tIns="0" rIns="0" bIns="0" anchor="t">
            <a:spAutoFit/>
          </a:bodyPr>
          <a:lstStyle/>
          <a:p>
            <a:pPr algn="ctr"/>
            <a:r>
              <a:rPr sz="2400" b="1">
                <a:solidFill>
                  <a:srgbClr val="00A8AA"/>
                </a:solidFill>
                <a:latin typeface="Meiryo"/>
                <a:ea typeface="Meiryo"/>
                <a:cs typeface="Meiryo"/>
              </a:rPr>
              <a:t>慢性の加齢</a:t>
            </a:r>
          </a:p>
        </p:txBody>
      </p:sp>
      <p:sp>
        <p:nvSpPr>
          <p:cNvPr id="38" name="TextBox 37"/>
          <p:cNvSpPr txBox="1"/>
          <p:nvPr/>
        </p:nvSpPr>
        <p:spPr>
          <a:xfrm>
            <a:off x="4422648" y="2869033"/>
            <a:ext cx="3346704" cy="457200"/>
          </a:xfrm>
          <a:prstGeom prst="rect">
            <a:avLst/>
          </a:prstGeom>
          <a:noFill/>
        </p:spPr>
        <p:txBody>
          <a:bodyPr wrap="square" lIns="0" tIns="0" rIns="0" bIns="0" anchor="t">
            <a:spAutoFit/>
          </a:bodyPr>
          <a:lstStyle/>
          <a:p>
            <a:pPr algn="ctr"/>
            <a:r>
              <a:rPr sz="3000" b="1">
                <a:solidFill>
                  <a:srgbClr val="00A8AA"/>
                </a:solidFill>
                <a:latin typeface="Meiryo"/>
                <a:ea typeface="Meiryo"/>
                <a:cs typeface="Meiryo"/>
              </a:rPr>
              <a:t>○</a:t>
            </a:r>
          </a:p>
        </p:txBody>
      </p:sp>
      <p:sp>
        <p:nvSpPr>
          <p:cNvPr id="39" name="TextBox 38"/>
          <p:cNvSpPr txBox="1"/>
          <p:nvPr/>
        </p:nvSpPr>
        <p:spPr>
          <a:xfrm>
            <a:off x="4450080" y="3490825"/>
            <a:ext cx="329184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24. Takazawa 1998</a:t>
            </a:r>
          </a:p>
        </p:txBody>
      </p:sp>
      <p:sp>
        <p:nvSpPr>
          <p:cNvPr id="40" name="TextBox 39"/>
          <p:cNvSpPr txBox="1"/>
          <p:nvPr/>
        </p:nvSpPr>
        <p:spPr>
          <a:xfrm>
            <a:off x="4450080" y="3893161"/>
            <a:ext cx="3291840" cy="384048"/>
          </a:xfrm>
          <a:prstGeom prst="rect">
            <a:avLst/>
          </a:prstGeom>
          <a:noFill/>
        </p:spPr>
        <p:txBody>
          <a:bodyPr wrap="square" lIns="0" tIns="0" rIns="0" bIns="0" anchor="t">
            <a:spAutoFit/>
          </a:bodyPr>
          <a:lstStyle/>
          <a:p>
            <a:pPr algn="l">
              <a:spcAft>
                <a:spcPts val="100"/>
              </a:spcAft>
            </a:pPr>
            <a:r>
              <a:rPr sz="2200" b="0">
                <a:solidFill>
                  <a:srgbClr val="808080"/>
                </a:solidFill>
                <a:latin typeface="Meiryo"/>
                <a:ea typeface="Meiryo"/>
                <a:cs typeface="Meiryo"/>
              </a:rPr>
              <a:t>AGI と年齢 r=0.80</a:t>
            </a:r>
          </a:p>
        </p:txBody>
      </p:sp>
      <p:sp>
        <p:nvSpPr>
          <p:cNvPr id="41" name="TextBox 40"/>
          <p:cNvSpPr txBox="1"/>
          <p:nvPr/>
        </p:nvSpPr>
        <p:spPr>
          <a:xfrm>
            <a:off x="4450080" y="4405225"/>
            <a:ext cx="329184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26. Otsuka 2006</a:t>
            </a:r>
          </a:p>
        </p:txBody>
      </p:sp>
      <p:sp>
        <p:nvSpPr>
          <p:cNvPr id="42" name="TextBox 41"/>
          <p:cNvSpPr txBox="1"/>
          <p:nvPr/>
        </p:nvSpPr>
        <p:spPr>
          <a:xfrm>
            <a:off x="4450080" y="4807561"/>
            <a:ext cx="3291840" cy="768096"/>
          </a:xfrm>
          <a:prstGeom prst="rect">
            <a:avLst/>
          </a:prstGeom>
          <a:noFill/>
        </p:spPr>
        <p:txBody>
          <a:bodyPr wrap="square" lIns="0" tIns="0" rIns="0" bIns="0" anchor="t">
            <a:spAutoFit/>
          </a:bodyPr>
          <a:lstStyle/>
          <a:p>
            <a:pPr algn="l">
              <a:spcAft>
                <a:spcPts val="100"/>
              </a:spcAft>
            </a:pPr>
            <a:r>
              <a:rPr sz="2200" b="0">
                <a:solidFill>
                  <a:srgbClr val="808080"/>
                </a:solidFill>
                <a:latin typeface="Meiryo"/>
                <a:ea typeface="Meiryo"/>
                <a:cs typeface="Meiryo"/>
              </a:rPr>
              <a:t>Framingham risk</a:t>
            </a:r>
          </a:p>
          <a:p>
            <a:pPr algn="l">
              <a:spcAft>
                <a:spcPts val="100"/>
              </a:spcAft>
            </a:pPr>
            <a:r>
              <a:rPr sz="2200" b="0">
                <a:solidFill>
                  <a:srgbClr val="808080"/>
                </a:solidFill>
                <a:latin typeface="Meiryo"/>
                <a:ea typeface="Meiryo"/>
                <a:cs typeface="Meiryo"/>
              </a:rPr>
              <a:t>score と相関</a:t>
            </a:r>
          </a:p>
        </p:txBody>
      </p:sp>
      <p:sp>
        <p:nvSpPr>
          <p:cNvPr id="43" name="Rounded Rectangle 42"/>
          <p:cNvSpPr/>
          <p:nvPr/>
        </p:nvSpPr>
        <p:spPr>
          <a:xfrm>
            <a:off x="8153400" y="2155801"/>
            <a:ext cx="3566160" cy="3703320"/>
          </a:xfrm>
          <a:prstGeom prst="roundRect">
            <a:avLst/>
          </a:prstGeom>
          <a:solidFill>
            <a:srgbClr val="F2F2F2"/>
          </a:solidFill>
          <a:ln w="2857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8263128" y="2320393"/>
            <a:ext cx="3346704" cy="457200"/>
          </a:xfrm>
          <a:prstGeom prst="rect">
            <a:avLst/>
          </a:prstGeom>
          <a:noFill/>
        </p:spPr>
        <p:txBody>
          <a:bodyPr wrap="square" lIns="0" tIns="0" rIns="0" bIns="0" anchor="t">
            <a:spAutoFit/>
          </a:bodyPr>
          <a:lstStyle/>
          <a:p>
            <a:pPr algn="ctr"/>
            <a:r>
              <a:rPr sz="2400" b="1">
                <a:solidFill>
                  <a:srgbClr val="D55E00"/>
                </a:solidFill>
                <a:latin typeface="Meiryo"/>
                <a:ea typeface="Meiryo"/>
                <a:cs typeface="Meiryo"/>
              </a:rPr>
              <a:t>臓器障害・動脈硬化</a:t>
            </a:r>
          </a:p>
        </p:txBody>
      </p:sp>
      <p:sp>
        <p:nvSpPr>
          <p:cNvPr id="45" name="TextBox 44"/>
          <p:cNvSpPr txBox="1"/>
          <p:nvPr/>
        </p:nvSpPr>
        <p:spPr>
          <a:xfrm>
            <a:off x="8263128" y="2869033"/>
            <a:ext cx="3346704" cy="457200"/>
          </a:xfrm>
          <a:prstGeom prst="rect">
            <a:avLst/>
          </a:prstGeom>
          <a:noFill/>
        </p:spPr>
        <p:txBody>
          <a:bodyPr wrap="square" lIns="0" tIns="0" rIns="0" bIns="0" anchor="t">
            <a:spAutoFit/>
          </a:bodyPr>
          <a:lstStyle/>
          <a:p>
            <a:pPr algn="ctr"/>
            <a:r>
              <a:rPr lang="ja-JP" altLang="en-US" sz="3000" b="1">
                <a:solidFill>
                  <a:srgbClr val="D55E00"/>
                </a:solidFill>
                <a:latin typeface="Meiryo"/>
                <a:ea typeface="Meiryo"/>
                <a:cs typeface="Meiryo"/>
              </a:rPr>
              <a:t>△</a:t>
            </a:r>
            <a:endParaRPr sz="3000" b="1" dirty="0">
              <a:solidFill>
                <a:srgbClr val="D55E00"/>
              </a:solidFill>
              <a:latin typeface="Meiryo"/>
              <a:ea typeface="Meiryo"/>
              <a:cs typeface="Meiryo"/>
            </a:endParaRPr>
          </a:p>
        </p:txBody>
      </p:sp>
      <p:sp>
        <p:nvSpPr>
          <p:cNvPr id="46" name="TextBox 45"/>
          <p:cNvSpPr txBox="1"/>
          <p:nvPr/>
        </p:nvSpPr>
        <p:spPr>
          <a:xfrm>
            <a:off x="8290560" y="3490825"/>
            <a:ext cx="329184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25. Bortolotto 2000</a:t>
            </a:r>
          </a:p>
        </p:txBody>
      </p:sp>
      <p:sp>
        <p:nvSpPr>
          <p:cNvPr id="47" name="TextBox 46"/>
          <p:cNvSpPr txBox="1"/>
          <p:nvPr/>
        </p:nvSpPr>
        <p:spPr>
          <a:xfrm>
            <a:off x="8290560" y="3893161"/>
            <a:ext cx="3291840" cy="338554"/>
          </a:xfrm>
          <a:prstGeom prst="rect">
            <a:avLst/>
          </a:prstGeom>
          <a:noFill/>
        </p:spPr>
        <p:txBody>
          <a:bodyPr wrap="square" lIns="0" tIns="0" rIns="0" bIns="0" anchor="t">
            <a:spAutoFit/>
          </a:bodyPr>
          <a:lstStyle/>
          <a:p>
            <a:pPr algn="l">
              <a:spcAft>
                <a:spcPts val="100"/>
              </a:spcAft>
            </a:pPr>
            <a:r>
              <a:rPr sz="2200" b="0" dirty="0" err="1">
                <a:solidFill>
                  <a:srgbClr val="808080"/>
                </a:solidFill>
                <a:latin typeface="Meiryo"/>
                <a:ea typeface="Meiryo"/>
                <a:cs typeface="Meiryo"/>
              </a:rPr>
              <a:t>規定因子はPWV</a:t>
            </a:r>
            <a:r>
              <a:rPr sz="2200" b="0" dirty="0">
                <a:solidFill>
                  <a:srgbClr val="808080"/>
                </a:solidFill>
                <a:latin typeface="Meiryo"/>
                <a:ea typeface="Meiryo"/>
                <a:cs typeface="Meiryo"/>
              </a:rPr>
              <a:t> </a:t>
            </a:r>
            <a:r>
              <a:rPr sz="2200" b="0" dirty="0" err="1">
                <a:solidFill>
                  <a:srgbClr val="808080"/>
                </a:solidFill>
                <a:latin typeface="Meiryo"/>
                <a:ea typeface="Meiryo"/>
                <a:cs typeface="Meiryo"/>
              </a:rPr>
              <a:t>が優位</a:t>
            </a:r>
            <a:endParaRPr sz="2200" b="0" dirty="0">
              <a:solidFill>
                <a:srgbClr val="808080"/>
              </a:solidFill>
              <a:latin typeface="Meiryo"/>
              <a:ea typeface="Meiryo"/>
              <a:cs typeface="Meiryo"/>
            </a:endParaRPr>
          </a:p>
        </p:txBody>
      </p:sp>
      <p:sp>
        <p:nvSpPr>
          <p:cNvPr id="48" name="TextBox 47"/>
          <p:cNvSpPr txBox="1"/>
          <p:nvPr/>
        </p:nvSpPr>
        <p:spPr>
          <a:xfrm>
            <a:off x="8290560" y="4404133"/>
            <a:ext cx="3291840" cy="384048"/>
          </a:xfrm>
          <a:prstGeom prst="rect">
            <a:avLst/>
          </a:prstGeom>
          <a:noFill/>
        </p:spPr>
        <p:txBody>
          <a:bodyPr wrap="square" lIns="0" tIns="0" rIns="0" bIns="0" anchor="t">
            <a:spAutoFit/>
          </a:bodyPr>
          <a:lstStyle/>
          <a:p>
            <a:pPr algn="l"/>
            <a:r>
              <a:rPr sz="2200" b="1" dirty="0">
                <a:solidFill>
                  <a:srgbClr val="262626"/>
                </a:solidFill>
                <a:latin typeface="Meiryo"/>
                <a:ea typeface="Meiryo"/>
                <a:cs typeface="Meiryo"/>
              </a:rPr>
              <a:t>27. Tabara 2016</a:t>
            </a:r>
          </a:p>
        </p:txBody>
      </p:sp>
      <p:sp>
        <p:nvSpPr>
          <p:cNvPr id="49" name="TextBox 48"/>
          <p:cNvSpPr txBox="1"/>
          <p:nvPr/>
        </p:nvSpPr>
        <p:spPr>
          <a:xfrm>
            <a:off x="8290560" y="4806469"/>
            <a:ext cx="3291840" cy="384048"/>
          </a:xfrm>
          <a:prstGeom prst="rect">
            <a:avLst/>
          </a:prstGeom>
          <a:noFill/>
        </p:spPr>
        <p:txBody>
          <a:bodyPr wrap="square" lIns="0" tIns="0" rIns="0" bIns="0" anchor="t">
            <a:spAutoFit/>
          </a:bodyPr>
          <a:lstStyle/>
          <a:p>
            <a:pPr algn="l">
              <a:spcAft>
                <a:spcPts val="100"/>
              </a:spcAft>
            </a:pPr>
            <a:r>
              <a:rPr sz="2200" b="0" dirty="0" err="1">
                <a:solidFill>
                  <a:srgbClr val="808080"/>
                </a:solidFill>
                <a:latin typeface="Meiryo"/>
                <a:ea typeface="Meiryo"/>
                <a:cs typeface="Meiryo"/>
              </a:rPr>
              <a:t>関連は弱い</a:t>
            </a:r>
            <a:endParaRPr sz="2200" b="0" dirty="0">
              <a:solidFill>
                <a:srgbClr val="808080"/>
              </a:solidFill>
              <a:latin typeface="Meiryo"/>
              <a:ea typeface="Meiryo"/>
              <a:cs typeface="Meiryo"/>
            </a:endParaRPr>
          </a:p>
        </p:txBody>
      </p:sp>
      <p:sp>
        <p:nvSpPr>
          <p:cNvPr id="5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62/118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4">
            <a:extLst>
              <a:ext uri="{FF2B5EF4-FFF2-40B4-BE49-F238E27FC236}">
                <a16:creationId xmlns:a16="http://schemas.microsoft.com/office/drawing/2014/main" id="{AA9D36CE-3772-F005-B54C-9329ADA7F086}"/>
              </a:ext>
            </a:extLst>
          </p:cNvPr>
          <p:cNvSpPr/>
          <p:nvPr/>
        </p:nvSpPr>
        <p:spPr>
          <a:xfrm>
            <a:off x="953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42A5A-F54E-2A96-5C0C-CDC7E47BE8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859EFC-B386-F317-2F15-3C6CEDA9BD27}"/>
              </a:ext>
            </a:extLst>
          </p:cNvPr>
          <p:cNvSpPr>
            <a:spLocks noGrp="1"/>
          </p:cNvSpPr>
          <p:nvPr>
            <p:ph type="title"/>
          </p:nvPr>
        </p:nvSpPr>
        <p:spPr/>
        <p:txBody>
          <a:bodyPr/>
          <a:lstStyle/>
          <a:p>
            <a:pPr algn="l"/>
            <a:r>
              <a:rPr sz="4600" dirty="0">
                <a:latin typeface="Meiryo"/>
                <a:ea typeface="Meiryo"/>
                <a:cs typeface="Meiryo"/>
              </a:rPr>
              <a:t>3.3  b/a と SI</a:t>
            </a:r>
          </a:p>
        </p:txBody>
      </p:sp>
      <p:graphicFrame>
        <p:nvGraphicFramePr>
          <p:cNvPr id="5" name="表 4">
            <a:extLst>
              <a:ext uri="{FF2B5EF4-FFF2-40B4-BE49-F238E27FC236}">
                <a16:creationId xmlns:a16="http://schemas.microsoft.com/office/drawing/2014/main" id="{5EA9EBCB-6381-8641-46BD-D4F4E87DFAFD}"/>
              </a:ext>
            </a:extLst>
          </p:cNvPr>
          <p:cNvGraphicFramePr>
            <a:graphicFrameLocks noGrp="1"/>
          </p:cNvGraphicFramePr>
          <p:nvPr>
            <p:extLst>
              <p:ext uri="{D42A27DB-BD31-4B8C-83A1-F6EECF244321}">
                <p14:modId xmlns:p14="http://schemas.microsoft.com/office/powerpoint/2010/main" val="1457008109"/>
              </p:ext>
            </p:extLst>
          </p:nvPr>
        </p:nvGraphicFramePr>
        <p:xfrm>
          <a:off x="248659" y="1690688"/>
          <a:ext cx="11694681" cy="3566160"/>
        </p:xfrm>
        <a:graphic>
          <a:graphicData uri="http://schemas.openxmlformats.org/drawingml/2006/table">
            <a:tbl>
              <a:tblPr firstRow="1" bandRow="1">
                <a:tableStyleId>{74C1A8A3-306A-4EB7-A6B1-4F7E0EB9C5D6}</a:tableStyleId>
              </a:tblPr>
              <a:tblGrid>
                <a:gridCol w="3118655">
                  <a:extLst>
                    <a:ext uri="{9D8B030D-6E8A-4147-A177-3AD203B41FA5}">
                      <a16:colId xmlns:a16="http://schemas.microsoft.com/office/drawing/2014/main" val="1747660977"/>
                    </a:ext>
                  </a:extLst>
                </a:gridCol>
                <a:gridCol w="4354286">
                  <a:extLst>
                    <a:ext uri="{9D8B030D-6E8A-4147-A177-3AD203B41FA5}">
                      <a16:colId xmlns:a16="http://schemas.microsoft.com/office/drawing/2014/main" val="3064939031"/>
                    </a:ext>
                  </a:extLst>
                </a:gridCol>
                <a:gridCol w="4221740">
                  <a:extLst>
                    <a:ext uri="{9D8B030D-6E8A-4147-A177-3AD203B41FA5}">
                      <a16:colId xmlns:a16="http://schemas.microsoft.com/office/drawing/2014/main" val="599167054"/>
                    </a:ext>
                  </a:extLst>
                </a:gridCol>
              </a:tblGrid>
              <a:tr h="533276">
                <a:tc>
                  <a:txBody>
                    <a:bodyPr/>
                    <a:lstStyle/>
                    <a:p>
                      <a:pPr algn="ctr">
                        <a:lnSpc>
                          <a:spcPct val="150000"/>
                        </a:lnSpc>
                      </a:pPr>
                      <a:endParaRPr kumimoji="1" lang="ja-JP" altLang="en-US" sz="2400">
                        <a:ln w="12700">
                          <a:solidFill>
                            <a:sysClr val="windowText" lastClr="000000"/>
                          </a:solidFill>
                        </a:ln>
                        <a:latin typeface="+mj-ea"/>
                        <a:ea typeface="+mj-ea"/>
                      </a:endParaRPr>
                    </a:p>
                  </a:txBody>
                  <a:tcPr>
                    <a:noFill/>
                  </a:tcPr>
                </a:tc>
                <a:tc>
                  <a:txBody>
                    <a:bodyPr/>
                    <a:lstStyle/>
                    <a:p>
                      <a:pPr algn="ctr">
                        <a:lnSpc>
                          <a:spcPct val="150000"/>
                        </a:lnSpc>
                      </a:pPr>
                      <a:r>
                        <a:rPr kumimoji="1" lang="en-US" altLang="ja-JP" sz="2400" dirty="0">
                          <a:ln w="12700">
                            <a:solidFill>
                              <a:sysClr val="windowText" lastClr="000000"/>
                            </a:solidFill>
                          </a:ln>
                          <a:solidFill>
                            <a:schemeClr val="tx1"/>
                          </a:solidFill>
                          <a:latin typeface="+mj-ea"/>
                          <a:ea typeface="+mj-ea"/>
                        </a:rPr>
                        <a:t>b/a</a:t>
                      </a:r>
                      <a:r>
                        <a:rPr kumimoji="1" lang="ja-JP" altLang="en-US" sz="2400">
                          <a:ln w="12700">
                            <a:solidFill>
                              <a:sysClr val="windowText" lastClr="000000"/>
                            </a:solidFill>
                          </a:ln>
                          <a:solidFill>
                            <a:schemeClr val="tx1"/>
                          </a:solidFill>
                          <a:latin typeface="+mj-ea"/>
                          <a:ea typeface="+mj-ea"/>
                        </a:rPr>
                        <a:t>（</a:t>
                      </a:r>
                      <a:r>
                        <a:rPr kumimoji="1" lang="en-US" altLang="ja-JP" sz="2400" dirty="0">
                          <a:ln w="12700">
                            <a:solidFill>
                              <a:sysClr val="windowText" lastClr="000000"/>
                            </a:solidFill>
                          </a:ln>
                          <a:solidFill>
                            <a:schemeClr val="tx1"/>
                          </a:solidFill>
                          <a:latin typeface="+mj-ea"/>
                          <a:ea typeface="+mj-ea"/>
                        </a:rPr>
                        <a:t>SDPPG</a:t>
                      </a:r>
                      <a:r>
                        <a:rPr kumimoji="1" lang="ja-JP" altLang="en-US" sz="2400">
                          <a:ln w="12700">
                            <a:solidFill>
                              <a:sysClr val="windowText" lastClr="000000"/>
                            </a:solidFill>
                          </a:ln>
                          <a:solidFill>
                            <a:schemeClr val="tx1"/>
                          </a:solidFill>
                          <a:latin typeface="+mj-ea"/>
                          <a:ea typeface="+mj-ea"/>
                        </a:rPr>
                        <a:t>）</a:t>
                      </a:r>
                    </a:p>
                  </a:txBody>
                  <a:tcPr>
                    <a:noFill/>
                  </a:tcPr>
                </a:tc>
                <a:tc>
                  <a:txBody>
                    <a:bodyPr/>
                    <a:lstStyle/>
                    <a:p>
                      <a:pPr algn="ctr">
                        <a:lnSpc>
                          <a:spcPct val="150000"/>
                        </a:lnSpc>
                      </a:pPr>
                      <a:r>
                        <a:rPr kumimoji="1" lang="en-US" altLang="ja-JP" sz="2400" dirty="0">
                          <a:ln w="12700">
                            <a:solidFill>
                              <a:sysClr val="windowText" lastClr="000000"/>
                            </a:solidFill>
                          </a:ln>
                          <a:solidFill>
                            <a:schemeClr val="tx1"/>
                          </a:solidFill>
                          <a:latin typeface="+mj-ea"/>
                          <a:ea typeface="+mj-ea"/>
                        </a:rPr>
                        <a:t>SI</a:t>
                      </a:r>
                      <a:endParaRPr kumimoji="1" lang="ja-JP" altLang="en-US" sz="2400">
                        <a:ln w="12700">
                          <a:solidFill>
                            <a:sysClr val="windowText" lastClr="000000"/>
                          </a:solidFill>
                        </a:ln>
                        <a:solidFill>
                          <a:schemeClr val="tx1"/>
                        </a:solidFill>
                        <a:latin typeface="+mj-ea"/>
                        <a:ea typeface="+mj-ea"/>
                      </a:endParaRPr>
                    </a:p>
                  </a:txBody>
                  <a:tcPr>
                    <a:noFill/>
                  </a:tcPr>
                </a:tc>
                <a:extLst>
                  <a:ext uri="{0D108BD9-81ED-4DB2-BD59-A6C34878D82A}">
                    <a16:rowId xmlns:a16="http://schemas.microsoft.com/office/drawing/2014/main" val="2530316399"/>
                  </a:ext>
                </a:extLst>
              </a:tr>
              <a:tr h="533276">
                <a:tc>
                  <a:txBody>
                    <a:bodyPr/>
                    <a:lstStyle/>
                    <a:p>
                      <a:pPr>
                        <a:lnSpc>
                          <a:spcPct val="150000"/>
                        </a:lnSpc>
                      </a:pPr>
                      <a:r>
                        <a:rPr kumimoji="1" lang="ja-JP" altLang="en-US" sz="2400">
                          <a:latin typeface="+mj-ea"/>
                          <a:ea typeface="+mj-ea"/>
                        </a:rPr>
                        <a:t>年齢との相関</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a:t>
                      </a:r>
                      <a:r>
                        <a:rPr kumimoji="1" lang="en-US" altLang="ja-JP" sz="2400" dirty="0">
                          <a:latin typeface="+mj-ea"/>
                          <a:ea typeface="+mj-ea"/>
                        </a:rPr>
                        <a:t>0.51</a:t>
                      </a:r>
                      <a:r>
                        <a:rPr kumimoji="1" lang="ja-JP" altLang="en-US" sz="2400">
                          <a:latin typeface="+mj-ea"/>
                          <a:ea typeface="+mj-ea"/>
                        </a:rPr>
                        <a:t>）</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a:t>
                      </a:r>
                      <a:r>
                        <a:rPr kumimoji="1" lang="en-US" altLang="ja-JP" sz="2400" dirty="0">
                          <a:latin typeface="+mj-ea"/>
                          <a:ea typeface="+mj-ea"/>
                        </a:rPr>
                        <a:t>0.63</a:t>
                      </a:r>
                      <a:r>
                        <a:rPr kumimoji="1" lang="ja-JP" altLang="en-US" sz="2400">
                          <a:latin typeface="+mj-ea"/>
                          <a:ea typeface="+mj-ea"/>
                        </a:rPr>
                        <a:t>）</a:t>
                      </a:r>
                    </a:p>
                  </a:txBody>
                  <a:tcPr/>
                </a:tc>
                <a:extLst>
                  <a:ext uri="{0D108BD9-81ED-4DB2-BD59-A6C34878D82A}">
                    <a16:rowId xmlns:a16="http://schemas.microsoft.com/office/drawing/2014/main" val="284507999"/>
                  </a:ext>
                </a:extLst>
              </a:tr>
              <a:tr h="533276">
                <a:tc>
                  <a:txBody>
                    <a:bodyPr/>
                    <a:lstStyle/>
                    <a:p>
                      <a:pPr>
                        <a:lnSpc>
                          <a:spcPct val="150000"/>
                        </a:lnSpc>
                      </a:pPr>
                      <a:r>
                        <a:rPr kumimoji="1" lang="en-US" altLang="ja-JP" sz="2400" dirty="0">
                          <a:latin typeface="+mj-ea"/>
                          <a:ea typeface="+mj-ea"/>
                        </a:rPr>
                        <a:t>PWV</a:t>
                      </a:r>
                      <a:r>
                        <a:rPr kumimoji="1" lang="ja-JP" altLang="en-US" sz="2400">
                          <a:latin typeface="+mj-ea"/>
                          <a:ea typeface="+mj-ea"/>
                        </a:rPr>
                        <a:t>との相関</a:t>
                      </a:r>
                    </a:p>
                  </a:txBody>
                  <a:tcPr/>
                </a:tc>
                <a:tc>
                  <a:txBody>
                    <a:bodyPr/>
                    <a:lstStyle/>
                    <a:p>
                      <a:pPr>
                        <a:lnSpc>
                          <a:spcPct val="150000"/>
                        </a:lnSpc>
                      </a:pPr>
                      <a:r>
                        <a:rPr kumimoji="1" lang="ja-JP" altLang="en-US" sz="2400">
                          <a:latin typeface="+mj-ea"/>
                          <a:ea typeface="+mj-ea"/>
                        </a:rPr>
                        <a:t>○（</a:t>
                      </a:r>
                      <a:r>
                        <a:rPr kumimoji="1" lang="en-US" altLang="ja-JP" sz="2400" dirty="0">
                          <a:latin typeface="+mj-ea"/>
                          <a:ea typeface="+mj-ea"/>
                        </a:rPr>
                        <a:t>0.61</a:t>
                      </a:r>
                      <a:r>
                        <a:rPr kumimoji="1" lang="ja-JP" altLang="en-US" sz="2400">
                          <a:latin typeface="+mj-ea"/>
                          <a:ea typeface="+mj-ea"/>
                        </a:rPr>
                        <a:t>）</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a:t>
                      </a:r>
                      <a:r>
                        <a:rPr kumimoji="1" lang="en-US" altLang="ja-JP" sz="2400" dirty="0">
                          <a:latin typeface="+mj-ea"/>
                          <a:ea typeface="+mj-ea"/>
                        </a:rPr>
                        <a:t>0.65</a:t>
                      </a:r>
                      <a:r>
                        <a:rPr kumimoji="1" lang="ja-JP" altLang="en-US" sz="2400">
                          <a:latin typeface="+mj-ea"/>
                          <a:ea typeface="+mj-ea"/>
                        </a:rPr>
                        <a:t>）</a:t>
                      </a:r>
                    </a:p>
                  </a:txBody>
                  <a:tcPr/>
                </a:tc>
                <a:extLst>
                  <a:ext uri="{0D108BD9-81ED-4DB2-BD59-A6C34878D82A}">
                    <a16:rowId xmlns:a16="http://schemas.microsoft.com/office/drawing/2014/main" val="4154383642"/>
                  </a:ext>
                </a:extLst>
              </a:tr>
              <a:tr h="532175">
                <a:tc>
                  <a:txBody>
                    <a:bodyPr/>
                    <a:lstStyle/>
                    <a:p>
                      <a:pPr>
                        <a:lnSpc>
                          <a:spcPct val="150000"/>
                        </a:lnSpc>
                      </a:pPr>
                      <a:r>
                        <a:rPr kumimoji="1" lang="ja-JP" altLang="en-US" sz="2400">
                          <a:latin typeface="+mj-ea"/>
                          <a:ea typeface="+mj-ea"/>
                        </a:rPr>
                        <a:t>血圧との相関</a:t>
                      </a:r>
                    </a:p>
                  </a:txBody>
                  <a:tcPr/>
                </a:tc>
                <a:tc>
                  <a:txBody>
                    <a:bodyPr/>
                    <a:lstStyle/>
                    <a:p>
                      <a:pPr>
                        <a:lnSpc>
                          <a:spcPct val="150000"/>
                        </a:lnSpc>
                      </a:pPr>
                      <a:r>
                        <a:rPr kumimoji="1" lang="en-US" altLang="ja-JP" sz="2400" dirty="0">
                          <a:latin typeface="+mj-ea"/>
                          <a:ea typeface="+mj-ea"/>
                        </a:rPr>
                        <a:t>×</a:t>
                      </a:r>
                      <a:r>
                        <a:rPr kumimoji="1" lang="ja-JP" altLang="en-US" sz="2400">
                          <a:latin typeface="+mj-ea"/>
                          <a:ea typeface="+mj-ea"/>
                        </a:rPr>
                        <a:t>（</a:t>
                      </a:r>
                      <a:r>
                        <a:rPr kumimoji="1" lang="en-US" altLang="ja-JP" sz="2400" dirty="0">
                          <a:latin typeface="+mj-ea"/>
                          <a:ea typeface="+mj-ea"/>
                        </a:rPr>
                        <a:t>0.19</a:t>
                      </a:r>
                      <a:r>
                        <a:rPr kumimoji="1" lang="ja-JP" altLang="en-US" sz="2400">
                          <a:latin typeface="+mj-ea"/>
                          <a:ea typeface="+mj-ea"/>
                        </a:rPr>
                        <a:t>）</a:t>
                      </a:r>
                    </a:p>
                  </a:txBody>
                  <a:tcPr/>
                </a:tc>
                <a:tc>
                  <a:txBody>
                    <a:bodyPr/>
                    <a:lstStyle/>
                    <a:p>
                      <a:pPr>
                        <a:lnSpc>
                          <a:spcPct val="150000"/>
                        </a:lnSpc>
                      </a:pPr>
                      <a:r>
                        <a:rPr kumimoji="1" lang="ja-JP" altLang="en-US" sz="2400">
                          <a:latin typeface="+mj-ea"/>
                          <a:ea typeface="+mj-ea"/>
                        </a:rPr>
                        <a:t>あり（特に</a:t>
                      </a:r>
                      <a:r>
                        <a:rPr kumimoji="1" lang="en-US" altLang="ja-JP" sz="2400" dirty="0">
                          <a:latin typeface="+mj-ea"/>
                          <a:ea typeface="+mj-ea"/>
                        </a:rPr>
                        <a:t>DBP</a:t>
                      </a:r>
                      <a:r>
                        <a:rPr kumimoji="1" lang="ja-JP" altLang="en-US" sz="2400">
                          <a:latin typeface="+mj-ea"/>
                          <a:ea typeface="+mj-ea"/>
                        </a:rPr>
                        <a:t>で</a:t>
                      </a:r>
                      <a:r>
                        <a:rPr kumimoji="1" lang="en-US" altLang="ja-JP" sz="2400" dirty="0">
                          <a:latin typeface="+mj-ea"/>
                          <a:ea typeface="+mj-ea"/>
                        </a:rPr>
                        <a:t>0.68</a:t>
                      </a:r>
                      <a:r>
                        <a:rPr kumimoji="1" lang="ja-JP" altLang="en-US" sz="2400">
                          <a:latin typeface="+mj-ea"/>
                          <a:ea typeface="+mj-ea"/>
                        </a:rPr>
                        <a:t>）</a:t>
                      </a:r>
                    </a:p>
                  </a:txBody>
                  <a:tcPr/>
                </a:tc>
                <a:extLst>
                  <a:ext uri="{0D108BD9-81ED-4DB2-BD59-A6C34878D82A}">
                    <a16:rowId xmlns:a16="http://schemas.microsoft.com/office/drawing/2014/main" val="1477270729"/>
                  </a:ext>
                </a:extLst>
              </a:tr>
              <a:tr h="533276">
                <a:tc>
                  <a:txBody>
                    <a:bodyPr/>
                    <a:lstStyle/>
                    <a:p>
                      <a:pPr>
                        <a:lnSpc>
                          <a:spcPct val="150000"/>
                        </a:lnSpc>
                      </a:pPr>
                      <a:r>
                        <a:rPr kumimoji="1" lang="ja-JP" altLang="en-US" sz="2400">
                          <a:latin typeface="+mj-ea"/>
                          <a:ea typeface="+mj-ea"/>
                        </a:rPr>
                        <a:t>利点</a:t>
                      </a:r>
                    </a:p>
                  </a:txBody>
                  <a:tcPr/>
                </a:tc>
                <a:tc>
                  <a:txBody>
                    <a:bodyPr/>
                    <a:lstStyle/>
                    <a:p>
                      <a:pPr>
                        <a:lnSpc>
                          <a:spcPct val="150000"/>
                        </a:lnSpc>
                      </a:pPr>
                      <a:r>
                        <a:rPr kumimoji="1" lang="ja-JP" altLang="en-US" sz="2400">
                          <a:latin typeface="+mj-ea"/>
                          <a:ea typeface="+mj-ea"/>
                        </a:rPr>
                        <a:t>検出が頑健</a:t>
                      </a:r>
                    </a:p>
                  </a:txBody>
                  <a:tcPr/>
                </a:tc>
                <a:tc>
                  <a:txBody>
                    <a:bodyPr/>
                    <a:lstStyle/>
                    <a:p>
                      <a:pPr>
                        <a:lnSpc>
                          <a:spcPct val="150000"/>
                        </a:lnSpc>
                      </a:pPr>
                      <a:r>
                        <a:rPr kumimoji="1" lang="ja-JP" altLang="en-US" sz="2400">
                          <a:latin typeface="+mj-ea"/>
                          <a:ea typeface="+mj-ea"/>
                        </a:rPr>
                        <a:t>大動脈弾性と強い相関</a:t>
                      </a:r>
                    </a:p>
                  </a:txBody>
                  <a:tcPr/>
                </a:tc>
                <a:extLst>
                  <a:ext uri="{0D108BD9-81ED-4DB2-BD59-A6C34878D82A}">
                    <a16:rowId xmlns:a16="http://schemas.microsoft.com/office/drawing/2014/main" val="980721823"/>
                  </a:ext>
                </a:extLst>
              </a:tr>
              <a:tr h="533276">
                <a:tc>
                  <a:txBody>
                    <a:bodyPr/>
                    <a:lstStyle/>
                    <a:p>
                      <a:pPr>
                        <a:lnSpc>
                          <a:spcPct val="150000"/>
                        </a:lnSpc>
                      </a:pPr>
                      <a:r>
                        <a:rPr kumimoji="1" lang="ja-JP" altLang="en-US" sz="2400">
                          <a:latin typeface="+mj-ea"/>
                          <a:ea typeface="+mj-ea"/>
                        </a:rPr>
                        <a:t>批判</a:t>
                      </a:r>
                    </a:p>
                  </a:txBody>
                  <a:tcPr/>
                </a:tc>
                <a:tc>
                  <a:txBody>
                    <a:bodyPr/>
                    <a:lstStyle/>
                    <a:p>
                      <a:pPr>
                        <a:lnSpc>
                          <a:spcPct val="150000"/>
                        </a:lnSpc>
                      </a:pPr>
                      <a:r>
                        <a:rPr kumimoji="1" lang="ja-JP" altLang="en-US" sz="2400">
                          <a:latin typeface="+mj-ea"/>
                          <a:ea typeface="+mj-ea"/>
                        </a:rPr>
                        <a:t>臓器障害との関連がない</a:t>
                      </a:r>
                    </a:p>
                  </a:txBody>
                  <a:tcPr/>
                </a:tc>
                <a:tc>
                  <a:txBody>
                    <a:bodyPr/>
                    <a:lstStyle/>
                    <a:p>
                      <a:pPr>
                        <a:lnSpc>
                          <a:spcPct val="150000"/>
                        </a:lnSpc>
                      </a:pPr>
                      <a:r>
                        <a:rPr kumimoji="1" lang="ja-JP" altLang="en-US" sz="2400">
                          <a:latin typeface="+mj-ea"/>
                          <a:ea typeface="+mj-ea"/>
                        </a:rPr>
                        <a:t>前向きアウトカム研究がない</a:t>
                      </a:r>
                    </a:p>
                  </a:txBody>
                  <a:tcPr/>
                </a:tc>
                <a:extLst>
                  <a:ext uri="{0D108BD9-81ED-4DB2-BD59-A6C34878D82A}">
                    <a16:rowId xmlns:a16="http://schemas.microsoft.com/office/drawing/2014/main" val="2897397817"/>
                  </a:ext>
                </a:extLst>
              </a:tr>
            </a:tbl>
          </a:graphicData>
        </a:graphic>
      </p:graphicFrame>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　／　12. Millasseau 2003　／　27. Tabara 2016　／　28. von Wowern 2015　／　29. Elgendi 2014</a:t>
            </a:r>
          </a:p>
        </p:txBody>
      </p:sp>
      <p:sp>
        <p:nvSpPr>
          <p:cNvPr id="1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63/118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4">
            <a:extLst>
              <a:ext uri="{FF2B5EF4-FFF2-40B4-BE49-F238E27FC236}">
                <a16:creationId xmlns:a16="http://schemas.microsoft.com/office/drawing/2014/main" id="{AA9D36CE-3772-F005-B54C-9329ADA7F086}"/>
              </a:ext>
            </a:extLst>
          </p:cNvPr>
          <p:cNvSpPr/>
          <p:nvPr/>
        </p:nvSpPr>
        <p:spPr>
          <a:xfrm>
            <a:off x="953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10260323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0E450-F5BA-B811-63EC-6E48220ABC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CFD4FB-72BD-74DC-D03C-696E61566395}"/>
              </a:ext>
            </a:extLst>
          </p:cNvPr>
          <p:cNvSpPr>
            <a:spLocks noGrp="1"/>
          </p:cNvSpPr>
          <p:nvPr>
            <p:ph type="title"/>
          </p:nvPr>
        </p:nvSpPr>
        <p:spPr/>
        <p:txBody>
          <a:bodyPr/>
          <a:lstStyle/>
          <a:p>
            <a:pPr algn="l"/>
            <a:r>
              <a:rPr sz="4600" dirty="0">
                <a:latin typeface="Meiryo"/>
                <a:ea typeface="Meiryo"/>
                <a:cs typeface="Meiryo"/>
              </a:rPr>
              <a:t>3.3  b/a と SI</a:t>
            </a:r>
          </a:p>
        </p:txBody>
      </p:sp>
      <p:graphicFrame>
        <p:nvGraphicFramePr>
          <p:cNvPr id="5" name="表 4">
            <a:extLst>
              <a:ext uri="{FF2B5EF4-FFF2-40B4-BE49-F238E27FC236}">
                <a16:creationId xmlns:a16="http://schemas.microsoft.com/office/drawing/2014/main" id="{4F010993-BC2F-F701-3624-F2DB11E24D85}"/>
              </a:ext>
            </a:extLst>
          </p:cNvPr>
          <p:cNvGraphicFramePr>
            <a:graphicFrameLocks noGrp="1"/>
          </p:cNvGraphicFramePr>
          <p:nvPr/>
        </p:nvGraphicFramePr>
        <p:xfrm>
          <a:off x="248659" y="1690688"/>
          <a:ext cx="11694681" cy="3566160"/>
        </p:xfrm>
        <a:graphic>
          <a:graphicData uri="http://schemas.openxmlformats.org/drawingml/2006/table">
            <a:tbl>
              <a:tblPr firstRow="1" bandRow="1">
                <a:tableStyleId>{74C1A8A3-306A-4EB7-A6B1-4F7E0EB9C5D6}</a:tableStyleId>
              </a:tblPr>
              <a:tblGrid>
                <a:gridCol w="3118655">
                  <a:extLst>
                    <a:ext uri="{9D8B030D-6E8A-4147-A177-3AD203B41FA5}">
                      <a16:colId xmlns:a16="http://schemas.microsoft.com/office/drawing/2014/main" val="1747660977"/>
                    </a:ext>
                  </a:extLst>
                </a:gridCol>
                <a:gridCol w="4354286">
                  <a:extLst>
                    <a:ext uri="{9D8B030D-6E8A-4147-A177-3AD203B41FA5}">
                      <a16:colId xmlns:a16="http://schemas.microsoft.com/office/drawing/2014/main" val="3064939031"/>
                    </a:ext>
                  </a:extLst>
                </a:gridCol>
                <a:gridCol w="4221740">
                  <a:extLst>
                    <a:ext uri="{9D8B030D-6E8A-4147-A177-3AD203B41FA5}">
                      <a16:colId xmlns:a16="http://schemas.microsoft.com/office/drawing/2014/main" val="599167054"/>
                    </a:ext>
                  </a:extLst>
                </a:gridCol>
              </a:tblGrid>
              <a:tr h="533276">
                <a:tc>
                  <a:txBody>
                    <a:bodyPr/>
                    <a:lstStyle/>
                    <a:p>
                      <a:pPr algn="ctr">
                        <a:lnSpc>
                          <a:spcPct val="150000"/>
                        </a:lnSpc>
                      </a:pPr>
                      <a:endParaRPr kumimoji="1" lang="ja-JP" altLang="en-US" sz="2400">
                        <a:ln w="12700">
                          <a:solidFill>
                            <a:sysClr val="windowText" lastClr="000000"/>
                          </a:solidFill>
                        </a:ln>
                        <a:latin typeface="+mj-ea"/>
                        <a:ea typeface="+mj-ea"/>
                      </a:endParaRPr>
                    </a:p>
                  </a:txBody>
                  <a:tcPr>
                    <a:noFill/>
                  </a:tcPr>
                </a:tc>
                <a:tc>
                  <a:txBody>
                    <a:bodyPr/>
                    <a:lstStyle/>
                    <a:p>
                      <a:pPr algn="ctr">
                        <a:lnSpc>
                          <a:spcPct val="150000"/>
                        </a:lnSpc>
                      </a:pPr>
                      <a:r>
                        <a:rPr kumimoji="1" lang="en-US" altLang="ja-JP" sz="2400" dirty="0">
                          <a:ln w="12700">
                            <a:solidFill>
                              <a:sysClr val="windowText" lastClr="000000"/>
                            </a:solidFill>
                          </a:ln>
                          <a:solidFill>
                            <a:schemeClr val="tx1"/>
                          </a:solidFill>
                          <a:latin typeface="+mj-ea"/>
                          <a:ea typeface="+mj-ea"/>
                        </a:rPr>
                        <a:t>b/a</a:t>
                      </a:r>
                      <a:r>
                        <a:rPr kumimoji="1" lang="ja-JP" altLang="en-US" sz="2400">
                          <a:ln w="12700">
                            <a:solidFill>
                              <a:sysClr val="windowText" lastClr="000000"/>
                            </a:solidFill>
                          </a:ln>
                          <a:solidFill>
                            <a:schemeClr val="tx1"/>
                          </a:solidFill>
                          <a:latin typeface="+mj-ea"/>
                          <a:ea typeface="+mj-ea"/>
                        </a:rPr>
                        <a:t>（</a:t>
                      </a:r>
                      <a:r>
                        <a:rPr kumimoji="1" lang="en-US" altLang="ja-JP" sz="2400" dirty="0">
                          <a:ln w="12700">
                            <a:solidFill>
                              <a:sysClr val="windowText" lastClr="000000"/>
                            </a:solidFill>
                          </a:ln>
                          <a:solidFill>
                            <a:schemeClr val="tx1"/>
                          </a:solidFill>
                          <a:latin typeface="+mj-ea"/>
                          <a:ea typeface="+mj-ea"/>
                        </a:rPr>
                        <a:t>SDPPG</a:t>
                      </a:r>
                      <a:r>
                        <a:rPr kumimoji="1" lang="ja-JP" altLang="en-US" sz="2400">
                          <a:ln w="12700">
                            <a:solidFill>
                              <a:sysClr val="windowText" lastClr="000000"/>
                            </a:solidFill>
                          </a:ln>
                          <a:solidFill>
                            <a:schemeClr val="tx1"/>
                          </a:solidFill>
                          <a:latin typeface="+mj-ea"/>
                          <a:ea typeface="+mj-ea"/>
                        </a:rPr>
                        <a:t>）</a:t>
                      </a:r>
                    </a:p>
                  </a:txBody>
                  <a:tcPr>
                    <a:noFill/>
                  </a:tcPr>
                </a:tc>
                <a:tc>
                  <a:txBody>
                    <a:bodyPr/>
                    <a:lstStyle/>
                    <a:p>
                      <a:pPr algn="ctr">
                        <a:lnSpc>
                          <a:spcPct val="150000"/>
                        </a:lnSpc>
                      </a:pPr>
                      <a:r>
                        <a:rPr kumimoji="1" lang="en-US" altLang="ja-JP" sz="2400" dirty="0">
                          <a:ln w="12700">
                            <a:solidFill>
                              <a:sysClr val="windowText" lastClr="000000"/>
                            </a:solidFill>
                          </a:ln>
                          <a:solidFill>
                            <a:schemeClr val="tx1"/>
                          </a:solidFill>
                          <a:latin typeface="+mj-ea"/>
                          <a:ea typeface="+mj-ea"/>
                        </a:rPr>
                        <a:t>SI</a:t>
                      </a:r>
                      <a:endParaRPr kumimoji="1" lang="ja-JP" altLang="en-US" sz="2400">
                        <a:ln w="12700">
                          <a:solidFill>
                            <a:sysClr val="windowText" lastClr="000000"/>
                          </a:solidFill>
                        </a:ln>
                        <a:solidFill>
                          <a:schemeClr val="tx1"/>
                        </a:solidFill>
                        <a:latin typeface="+mj-ea"/>
                        <a:ea typeface="+mj-ea"/>
                      </a:endParaRPr>
                    </a:p>
                  </a:txBody>
                  <a:tcPr>
                    <a:noFill/>
                  </a:tcPr>
                </a:tc>
                <a:extLst>
                  <a:ext uri="{0D108BD9-81ED-4DB2-BD59-A6C34878D82A}">
                    <a16:rowId xmlns:a16="http://schemas.microsoft.com/office/drawing/2014/main" val="2530316399"/>
                  </a:ext>
                </a:extLst>
              </a:tr>
              <a:tr h="533276">
                <a:tc>
                  <a:txBody>
                    <a:bodyPr/>
                    <a:lstStyle/>
                    <a:p>
                      <a:pPr>
                        <a:lnSpc>
                          <a:spcPct val="150000"/>
                        </a:lnSpc>
                      </a:pPr>
                      <a:r>
                        <a:rPr kumimoji="1" lang="ja-JP" altLang="en-US" sz="2400">
                          <a:latin typeface="+mj-ea"/>
                          <a:ea typeface="+mj-ea"/>
                        </a:rPr>
                        <a:t>年齢との相関</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a:t>
                      </a:r>
                      <a:r>
                        <a:rPr kumimoji="1" lang="en-US" altLang="ja-JP" sz="2400" dirty="0">
                          <a:latin typeface="+mj-ea"/>
                          <a:ea typeface="+mj-ea"/>
                        </a:rPr>
                        <a:t>0.51</a:t>
                      </a:r>
                      <a:r>
                        <a:rPr kumimoji="1" lang="ja-JP" altLang="en-US" sz="2400">
                          <a:latin typeface="+mj-ea"/>
                          <a:ea typeface="+mj-ea"/>
                        </a:rPr>
                        <a:t>）</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a:t>
                      </a:r>
                      <a:r>
                        <a:rPr kumimoji="1" lang="en-US" altLang="ja-JP" sz="2400" dirty="0">
                          <a:latin typeface="+mj-ea"/>
                          <a:ea typeface="+mj-ea"/>
                        </a:rPr>
                        <a:t>0.63</a:t>
                      </a:r>
                      <a:r>
                        <a:rPr kumimoji="1" lang="ja-JP" altLang="en-US" sz="2400">
                          <a:latin typeface="+mj-ea"/>
                          <a:ea typeface="+mj-ea"/>
                        </a:rPr>
                        <a:t>）</a:t>
                      </a:r>
                    </a:p>
                  </a:txBody>
                  <a:tcPr/>
                </a:tc>
                <a:extLst>
                  <a:ext uri="{0D108BD9-81ED-4DB2-BD59-A6C34878D82A}">
                    <a16:rowId xmlns:a16="http://schemas.microsoft.com/office/drawing/2014/main" val="284507999"/>
                  </a:ext>
                </a:extLst>
              </a:tr>
              <a:tr h="533276">
                <a:tc>
                  <a:txBody>
                    <a:bodyPr/>
                    <a:lstStyle/>
                    <a:p>
                      <a:pPr>
                        <a:lnSpc>
                          <a:spcPct val="150000"/>
                        </a:lnSpc>
                      </a:pPr>
                      <a:r>
                        <a:rPr kumimoji="1" lang="en-US" altLang="ja-JP" sz="2400" dirty="0">
                          <a:latin typeface="+mj-ea"/>
                          <a:ea typeface="+mj-ea"/>
                        </a:rPr>
                        <a:t>PWV</a:t>
                      </a:r>
                      <a:r>
                        <a:rPr kumimoji="1" lang="ja-JP" altLang="en-US" sz="2400">
                          <a:latin typeface="+mj-ea"/>
                          <a:ea typeface="+mj-ea"/>
                        </a:rPr>
                        <a:t>との相関</a:t>
                      </a:r>
                    </a:p>
                  </a:txBody>
                  <a:tcPr/>
                </a:tc>
                <a:tc>
                  <a:txBody>
                    <a:bodyPr/>
                    <a:lstStyle/>
                    <a:p>
                      <a:pPr>
                        <a:lnSpc>
                          <a:spcPct val="150000"/>
                        </a:lnSpc>
                      </a:pPr>
                      <a:r>
                        <a:rPr kumimoji="1" lang="ja-JP" altLang="en-US" sz="2400">
                          <a:latin typeface="+mj-ea"/>
                          <a:ea typeface="+mj-ea"/>
                        </a:rPr>
                        <a:t>○（</a:t>
                      </a:r>
                      <a:r>
                        <a:rPr kumimoji="1" lang="en-US" altLang="ja-JP" sz="2400" dirty="0">
                          <a:latin typeface="+mj-ea"/>
                          <a:ea typeface="+mj-ea"/>
                        </a:rPr>
                        <a:t>0.61</a:t>
                      </a:r>
                      <a:r>
                        <a:rPr kumimoji="1" lang="ja-JP" altLang="en-US" sz="2400">
                          <a:latin typeface="+mj-ea"/>
                          <a:ea typeface="+mj-ea"/>
                        </a:rPr>
                        <a:t>）</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a:t>
                      </a:r>
                      <a:r>
                        <a:rPr kumimoji="1" lang="en-US" altLang="ja-JP" sz="2400" dirty="0">
                          <a:latin typeface="+mj-ea"/>
                          <a:ea typeface="+mj-ea"/>
                        </a:rPr>
                        <a:t>0.65</a:t>
                      </a:r>
                      <a:r>
                        <a:rPr kumimoji="1" lang="ja-JP" altLang="en-US" sz="2400">
                          <a:latin typeface="+mj-ea"/>
                          <a:ea typeface="+mj-ea"/>
                        </a:rPr>
                        <a:t>）</a:t>
                      </a:r>
                    </a:p>
                  </a:txBody>
                  <a:tcPr/>
                </a:tc>
                <a:extLst>
                  <a:ext uri="{0D108BD9-81ED-4DB2-BD59-A6C34878D82A}">
                    <a16:rowId xmlns:a16="http://schemas.microsoft.com/office/drawing/2014/main" val="4154383642"/>
                  </a:ext>
                </a:extLst>
              </a:tr>
              <a:tr h="532175">
                <a:tc>
                  <a:txBody>
                    <a:bodyPr/>
                    <a:lstStyle/>
                    <a:p>
                      <a:pPr>
                        <a:lnSpc>
                          <a:spcPct val="150000"/>
                        </a:lnSpc>
                      </a:pPr>
                      <a:r>
                        <a:rPr kumimoji="1" lang="ja-JP" altLang="en-US" sz="2400">
                          <a:latin typeface="+mj-ea"/>
                          <a:ea typeface="+mj-ea"/>
                        </a:rPr>
                        <a:t>血圧との相関</a:t>
                      </a:r>
                    </a:p>
                  </a:txBody>
                  <a:tcPr/>
                </a:tc>
                <a:tc>
                  <a:txBody>
                    <a:bodyPr/>
                    <a:lstStyle/>
                    <a:p>
                      <a:pPr>
                        <a:lnSpc>
                          <a:spcPct val="150000"/>
                        </a:lnSpc>
                      </a:pPr>
                      <a:r>
                        <a:rPr kumimoji="1" lang="en-US" altLang="ja-JP" sz="2400" dirty="0">
                          <a:latin typeface="+mj-ea"/>
                          <a:ea typeface="+mj-ea"/>
                        </a:rPr>
                        <a:t>×</a:t>
                      </a:r>
                      <a:r>
                        <a:rPr kumimoji="1" lang="ja-JP" altLang="en-US" sz="2400">
                          <a:latin typeface="+mj-ea"/>
                          <a:ea typeface="+mj-ea"/>
                        </a:rPr>
                        <a:t>（</a:t>
                      </a:r>
                      <a:r>
                        <a:rPr kumimoji="1" lang="en-US" altLang="ja-JP" sz="2400" dirty="0">
                          <a:latin typeface="+mj-ea"/>
                          <a:ea typeface="+mj-ea"/>
                        </a:rPr>
                        <a:t>0.19</a:t>
                      </a:r>
                      <a:r>
                        <a:rPr kumimoji="1" lang="ja-JP" altLang="en-US" sz="2400">
                          <a:latin typeface="+mj-ea"/>
                          <a:ea typeface="+mj-ea"/>
                        </a:rPr>
                        <a:t>）</a:t>
                      </a:r>
                    </a:p>
                  </a:txBody>
                  <a:tcPr/>
                </a:tc>
                <a:tc>
                  <a:txBody>
                    <a:bodyPr/>
                    <a:lstStyle/>
                    <a:p>
                      <a:pPr>
                        <a:lnSpc>
                          <a:spcPct val="150000"/>
                        </a:lnSpc>
                      </a:pPr>
                      <a:r>
                        <a:rPr kumimoji="1" lang="ja-JP" altLang="en-US" sz="2400">
                          <a:latin typeface="+mj-ea"/>
                          <a:ea typeface="+mj-ea"/>
                        </a:rPr>
                        <a:t>あり（特に</a:t>
                      </a:r>
                      <a:r>
                        <a:rPr kumimoji="1" lang="en-US" altLang="ja-JP" sz="2400" dirty="0">
                          <a:latin typeface="+mj-ea"/>
                          <a:ea typeface="+mj-ea"/>
                        </a:rPr>
                        <a:t>DBP</a:t>
                      </a:r>
                      <a:r>
                        <a:rPr kumimoji="1" lang="ja-JP" altLang="en-US" sz="2400">
                          <a:latin typeface="+mj-ea"/>
                          <a:ea typeface="+mj-ea"/>
                        </a:rPr>
                        <a:t>で</a:t>
                      </a:r>
                      <a:r>
                        <a:rPr kumimoji="1" lang="en-US" altLang="ja-JP" sz="2400" dirty="0">
                          <a:latin typeface="+mj-ea"/>
                          <a:ea typeface="+mj-ea"/>
                        </a:rPr>
                        <a:t>0.68</a:t>
                      </a:r>
                      <a:r>
                        <a:rPr kumimoji="1" lang="ja-JP" altLang="en-US" sz="2400">
                          <a:latin typeface="+mj-ea"/>
                          <a:ea typeface="+mj-ea"/>
                        </a:rPr>
                        <a:t>）</a:t>
                      </a:r>
                    </a:p>
                  </a:txBody>
                  <a:tcPr/>
                </a:tc>
                <a:extLst>
                  <a:ext uri="{0D108BD9-81ED-4DB2-BD59-A6C34878D82A}">
                    <a16:rowId xmlns:a16="http://schemas.microsoft.com/office/drawing/2014/main" val="1477270729"/>
                  </a:ext>
                </a:extLst>
              </a:tr>
              <a:tr h="533276">
                <a:tc>
                  <a:txBody>
                    <a:bodyPr/>
                    <a:lstStyle/>
                    <a:p>
                      <a:pPr>
                        <a:lnSpc>
                          <a:spcPct val="150000"/>
                        </a:lnSpc>
                      </a:pPr>
                      <a:r>
                        <a:rPr kumimoji="1" lang="ja-JP" altLang="en-US" sz="2400">
                          <a:latin typeface="+mj-ea"/>
                          <a:ea typeface="+mj-ea"/>
                        </a:rPr>
                        <a:t>利点</a:t>
                      </a:r>
                    </a:p>
                  </a:txBody>
                  <a:tcPr/>
                </a:tc>
                <a:tc>
                  <a:txBody>
                    <a:bodyPr/>
                    <a:lstStyle/>
                    <a:p>
                      <a:pPr>
                        <a:lnSpc>
                          <a:spcPct val="150000"/>
                        </a:lnSpc>
                      </a:pPr>
                      <a:r>
                        <a:rPr kumimoji="1" lang="ja-JP" altLang="en-US" sz="2400">
                          <a:latin typeface="+mj-ea"/>
                          <a:ea typeface="+mj-ea"/>
                        </a:rPr>
                        <a:t>検出が頑健</a:t>
                      </a:r>
                    </a:p>
                  </a:txBody>
                  <a:tcPr/>
                </a:tc>
                <a:tc>
                  <a:txBody>
                    <a:bodyPr/>
                    <a:lstStyle/>
                    <a:p>
                      <a:pPr>
                        <a:lnSpc>
                          <a:spcPct val="150000"/>
                        </a:lnSpc>
                      </a:pPr>
                      <a:r>
                        <a:rPr kumimoji="1" lang="ja-JP" altLang="en-US" sz="2400">
                          <a:latin typeface="+mj-ea"/>
                          <a:ea typeface="+mj-ea"/>
                        </a:rPr>
                        <a:t>大動脈弾性と強い相関</a:t>
                      </a:r>
                    </a:p>
                  </a:txBody>
                  <a:tcPr/>
                </a:tc>
                <a:extLst>
                  <a:ext uri="{0D108BD9-81ED-4DB2-BD59-A6C34878D82A}">
                    <a16:rowId xmlns:a16="http://schemas.microsoft.com/office/drawing/2014/main" val="980721823"/>
                  </a:ext>
                </a:extLst>
              </a:tr>
              <a:tr h="533276">
                <a:tc>
                  <a:txBody>
                    <a:bodyPr/>
                    <a:lstStyle/>
                    <a:p>
                      <a:pPr>
                        <a:lnSpc>
                          <a:spcPct val="150000"/>
                        </a:lnSpc>
                      </a:pPr>
                      <a:r>
                        <a:rPr kumimoji="1" lang="ja-JP" altLang="en-US" sz="2400">
                          <a:latin typeface="+mj-ea"/>
                          <a:ea typeface="+mj-ea"/>
                        </a:rPr>
                        <a:t>批判</a:t>
                      </a:r>
                    </a:p>
                  </a:txBody>
                  <a:tcPr/>
                </a:tc>
                <a:tc>
                  <a:txBody>
                    <a:bodyPr/>
                    <a:lstStyle/>
                    <a:p>
                      <a:pPr>
                        <a:lnSpc>
                          <a:spcPct val="150000"/>
                        </a:lnSpc>
                      </a:pPr>
                      <a:r>
                        <a:rPr kumimoji="1" lang="ja-JP" altLang="en-US" sz="2400">
                          <a:latin typeface="+mj-ea"/>
                          <a:ea typeface="+mj-ea"/>
                        </a:rPr>
                        <a:t>臓器障害との関連がない</a:t>
                      </a:r>
                    </a:p>
                  </a:txBody>
                  <a:tcPr/>
                </a:tc>
                <a:tc>
                  <a:txBody>
                    <a:bodyPr/>
                    <a:lstStyle/>
                    <a:p>
                      <a:pPr>
                        <a:lnSpc>
                          <a:spcPct val="150000"/>
                        </a:lnSpc>
                      </a:pPr>
                      <a:r>
                        <a:rPr kumimoji="1" lang="ja-JP" altLang="en-US" sz="2400">
                          <a:latin typeface="+mj-ea"/>
                          <a:ea typeface="+mj-ea"/>
                        </a:rPr>
                        <a:t>前向きアウトカム研究がない</a:t>
                      </a:r>
                    </a:p>
                  </a:txBody>
                  <a:tcPr/>
                </a:tc>
                <a:extLst>
                  <a:ext uri="{0D108BD9-81ED-4DB2-BD59-A6C34878D82A}">
                    <a16:rowId xmlns:a16="http://schemas.microsoft.com/office/drawing/2014/main" val="2897397817"/>
                  </a:ext>
                </a:extLst>
              </a:tr>
            </a:tbl>
          </a:graphicData>
        </a:graphic>
      </p:graphicFrame>
      <p:sp>
        <p:nvSpPr>
          <p:cNvPr id="17" name="Source">
            <a:extLst>
              <a:ext uri="{FF2B5EF4-FFF2-40B4-BE49-F238E27FC236}">
                <a16:creationId xmlns:a16="http://schemas.microsoft.com/office/drawing/2014/main" id="{7EB3939B-817A-0AE9-C71C-BA2B09A3DB38}"/>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　／　12. Millasseau 2003　／　27. Tabara 2016　／　28. von Wowern 2015　／　29. Elgendi 2014</a:t>
            </a:r>
          </a:p>
        </p:txBody>
      </p:sp>
      <p:sp>
        <p:nvSpPr>
          <p:cNvPr id="18" name="PageNo">
            <a:extLst>
              <a:ext uri="{FF2B5EF4-FFF2-40B4-BE49-F238E27FC236}">
                <a16:creationId xmlns:a16="http://schemas.microsoft.com/office/drawing/2014/main" id="{4D3C528E-186E-B544-54DD-2CF5DB467DB0}"/>
              </a:ext>
            </a:extLst>
          </p:cNvPr>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64/118</a:t>
            </a:r>
          </a:p>
        </p:txBody>
      </p:sp>
      <p:sp>
        <p:nvSpPr>
          <p:cNvPr id="3" name="Rounded Rectangle 49">
            <a:extLst>
              <a:ext uri="{FF2B5EF4-FFF2-40B4-BE49-F238E27FC236}">
                <a16:creationId xmlns:a16="http://schemas.microsoft.com/office/drawing/2014/main" id="{1CBEFFFE-D48D-011E-52C6-EC4FC8FA18D9}"/>
              </a:ext>
            </a:extLst>
          </p:cNvPr>
          <p:cNvSpPr/>
          <p:nvPr/>
        </p:nvSpPr>
        <p:spPr>
          <a:xfrm>
            <a:off x="472439" y="3429000"/>
            <a:ext cx="11247120" cy="77724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ja-JP" altLang="en-US" sz="3200" b="1">
                <a:solidFill>
                  <a:schemeClr val="tx1"/>
                </a:solidFill>
                <a:latin typeface="+mn-ea"/>
              </a:rPr>
              <a:t>動脈硬化の指標としては</a:t>
            </a:r>
            <a:r>
              <a:rPr lang="en-US" altLang="ja-JP" sz="3200" b="1" dirty="0">
                <a:solidFill>
                  <a:schemeClr val="tx1"/>
                </a:solidFill>
                <a:latin typeface="+mn-ea"/>
              </a:rPr>
              <a:t>SI</a:t>
            </a:r>
            <a:r>
              <a:rPr lang="ja-JP" altLang="en-US" sz="3200" b="1">
                <a:solidFill>
                  <a:schemeClr val="tx1"/>
                </a:solidFill>
                <a:latin typeface="+mn-ea"/>
              </a:rPr>
              <a:t>が有利。</a:t>
            </a:r>
            <a:endParaRPr sz="3200" b="1" dirty="0">
              <a:solidFill>
                <a:schemeClr val="tx1"/>
              </a:solidFill>
              <a:latin typeface="+mn-ea"/>
            </a:endParaRP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4">
            <a:extLst>
              <a:ext uri="{FF2B5EF4-FFF2-40B4-BE49-F238E27FC236}">
                <a16:creationId xmlns:a16="http://schemas.microsoft.com/office/drawing/2014/main" id="{AA9D36CE-3772-F005-B54C-9329ADA7F086}"/>
              </a:ext>
            </a:extLst>
          </p:cNvPr>
          <p:cNvSpPr/>
          <p:nvPr/>
        </p:nvSpPr>
        <p:spPr>
          <a:xfrm>
            <a:off x="953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228103811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F3C04-3644-8CAA-2A00-DA61634C81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108F11-8283-08BE-58A9-332E53339E22}"/>
              </a:ext>
            </a:extLst>
          </p:cNvPr>
          <p:cNvSpPr>
            <a:spLocks noGrp="1"/>
          </p:cNvSpPr>
          <p:nvPr>
            <p:ph type="title"/>
          </p:nvPr>
        </p:nvSpPr>
        <p:spPr/>
        <p:txBody>
          <a:bodyPr/>
          <a:lstStyle/>
          <a:p>
            <a:pPr algn="l"/>
            <a:r>
              <a:rPr sz="4600" dirty="0">
                <a:latin typeface="Meiryo"/>
                <a:ea typeface="Meiryo"/>
                <a:cs typeface="Meiryo"/>
              </a:rPr>
              <a:t>3.3  d/a と RI</a:t>
            </a:r>
          </a:p>
        </p:txBody>
      </p:sp>
      <p:graphicFrame>
        <p:nvGraphicFramePr>
          <p:cNvPr id="5" name="表 4">
            <a:extLst>
              <a:ext uri="{FF2B5EF4-FFF2-40B4-BE49-F238E27FC236}">
                <a16:creationId xmlns:a16="http://schemas.microsoft.com/office/drawing/2014/main" id="{2364539F-58C8-53A8-3467-FB73BD3962B2}"/>
              </a:ext>
            </a:extLst>
          </p:cNvPr>
          <p:cNvGraphicFramePr>
            <a:graphicFrameLocks noGrp="1"/>
          </p:cNvGraphicFramePr>
          <p:nvPr>
            <p:extLst>
              <p:ext uri="{D42A27DB-BD31-4B8C-83A1-F6EECF244321}">
                <p14:modId xmlns:p14="http://schemas.microsoft.com/office/powerpoint/2010/main" val="837418225"/>
              </p:ext>
            </p:extLst>
          </p:nvPr>
        </p:nvGraphicFramePr>
        <p:xfrm>
          <a:off x="248659" y="1690688"/>
          <a:ext cx="11694681" cy="4495800"/>
        </p:xfrm>
        <a:graphic>
          <a:graphicData uri="http://schemas.openxmlformats.org/drawingml/2006/table">
            <a:tbl>
              <a:tblPr firstRow="1" bandRow="1">
                <a:tableStyleId>{74C1A8A3-306A-4EB7-A6B1-4F7E0EB9C5D6}</a:tableStyleId>
              </a:tblPr>
              <a:tblGrid>
                <a:gridCol w="3678572">
                  <a:extLst>
                    <a:ext uri="{9D8B030D-6E8A-4147-A177-3AD203B41FA5}">
                      <a16:colId xmlns:a16="http://schemas.microsoft.com/office/drawing/2014/main" val="1747660977"/>
                    </a:ext>
                  </a:extLst>
                </a:gridCol>
                <a:gridCol w="4117882">
                  <a:extLst>
                    <a:ext uri="{9D8B030D-6E8A-4147-A177-3AD203B41FA5}">
                      <a16:colId xmlns:a16="http://schemas.microsoft.com/office/drawing/2014/main" val="3064939031"/>
                    </a:ext>
                  </a:extLst>
                </a:gridCol>
                <a:gridCol w="3898227">
                  <a:extLst>
                    <a:ext uri="{9D8B030D-6E8A-4147-A177-3AD203B41FA5}">
                      <a16:colId xmlns:a16="http://schemas.microsoft.com/office/drawing/2014/main" val="599167054"/>
                    </a:ext>
                  </a:extLst>
                </a:gridCol>
              </a:tblGrid>
              <a:tr h="533276">
                <a:tc>
                  <a:txBody>
                    <a:bodyPr/>
                    <a:lstStyle/>
                    <a:p>
                      <a:pPr algn="ctr">
                        <a:lnSpc>
                          <a:spcPct val="150000"/>
                        </a:lnSpc>
                      </a:pPr>
                      <a:endParaRPr kumimoji="1" lang="ja-JP" altLang="en-US" sz="2400">
                        <a:ln w="12700">
                          <a:solidFill>
                            <a:sysClr val="windowText" lastClr="000000"/>
                          </a:solidFill>
                        </a:ln>
                        <a:latin typeface="+mj-ea"/>
                        <a:ea typeface="+mj-ea"/>
                      </a:endParaRPr>
                    </a:p>
                  </a:txBody>
                  <a:tcPr>
                    <a:noFill/>
                  </a:tcPr>
                </a:tc>
                <a:tc>
                  <a:txBody>
                    <a:bodyPr/>
                    <a:lstStyle/>
                    <a:p>
                      <a:pPr algn="ctr">
                        <a:lnSpc>
                          <a:spcPct val="150000"/>
                        </a:lnSpc>
                      </a:pPr>
                      <a:r>
                        <a:rPr kumimoji="1" lang="en-US" altLang="ja-JP" sz="2400" dirty="0">
                          <a:ln w="12700">
                            <a:solidFill>
                              <a:sysClr val="windowText" lastClr="000000"/>
                            </a:solidFill>
                          </a:ln>
                          <a:solidFill>
                            <a:schemeClr val="tx1"/>
                          </a:solidFill>
                          <a:latin typeface="+mj-ea"/>
                          <a:ea typeface="+mj-ea"/>
                        </a:rPr>
                        <a:t>d/a</a:t>
                      </a:r>
                      <a:r>
                        <a:rPr kumimoji="1" lang="ja-JP" altLang="en-US" sz="2400">
                          <a:ln w="12700">
                            <a:solidFill>
                              <a:sysClr val="windowText" lastClr="000000"/>
                            </a:solidFill>
                          </a:ln>
                          <a:solidFill>
                            <a:schemeClr val="tx1"/>
                          </a:solidFill>
                          <a:latin typeface="+mj-ea"/>
                          <a:ea typeface="+mj-ea"/>
                        </a:rPr>
                        <a:t>（</a:t>
                      </a:r>
                      <a:r>
                        <a:rPr kumimoji="1" lang="en-US" altLang="ja-JP" sz="2400" dirty="0">
                          <a:ln w="12700">
                            <a:solidFill>
                              <a:sysClr val="windowText" lastClr="000000"/>
                            </a:solidFill>
                          </a:ln>
                          <a:solidFill>
                            <a:schemeClr val="tx1"/>
                          </a:solidFill>
                          <a:latin typeface="+mj-ea"/>
                          <a:ea typeface="+mj-ea"/>
                        </a:rPr>
                        <a:t>SDPPG</a:t>
                      </a:r>
                      <a:r>
                        <a:rPr kumimoji="1" lang="ja-JP" altLang="en-US" sz="2400">
                          <a:ln w="12700">
                            <a:solidFill>
                              <a:sysClr val="windowText" lastClr="000000"/>
                            </a:solidFill>
                          </a:ln>
                          <a:solidFill>
                            <a:schemeClr val="tx1"/>
                          </a:solidFill>
                          <a:latin typeface="+mj-ea"/>
                          <a:ea typeface="+mj-ea"/>
                        </a:rPr>
                        <a:t>）</a:t>
                      </a:r>
                    </a:p>
                  </a:txBody>
                  <a:tcPr>
                    <a:noFill/>
                  </a:tcPr>
                </a:tc>
                <a:tc>
                  <a:txBody>
                    <a:bodyPr/>
                    <a:lstStyle/>
                    <a:p>
                      <a:pPr algn="ctr">
                        <a:lnSpc>
                          <a:spcPct val="150000"/>
                        </a:lnSpc>
                      </a:pPr>
                      <a:r>
                        <a:rPr kumimoji="1" lang="en-US" altLang="ja-JP" sz="2400" dirty="0">
                          <a:ln w="12700">
                            <a:solidFill>
                              <a:sysClr val="windowText" lastClr="000000"/>
                            </a:solidFill>
                          </a:ln>
                          <a:solidFill>
                            <a:schemeClr val="tx1"/>
                          </a:solidFill>
                          <a:latin typeface="+mj-ea"/>
                          <a:ea typeface="+mj-ea"/>
                        </a:rPr>
                        <a:t>RI</a:t>
                      </a:r>
                      <a:endParaRPr kumimoji="1" lang="ja-JP" altLang="en-US" sz="2400">
                        <a:ln w="12700">
                          <a:solidFill>
                            <a:sysClr val="windowText" lastClr="000000"/>
                          </a:solidFill>
                        </a:ln>
                        <a:solidFill>
                          <a:schemeClr val="tx1"/>
                        </a:solidFill>
                        <a:latin typeface="+mj-ea"/>
                        <a:ea typeface="+mj-ea"/>
                      </a:endParaRPr>
                    </a:p>
                  </a:txBody>
                  <a:tcPr>
                    <a:noFill/>
                  </a:tcPr>
                </a:tc>
                <a:extLst>
                  <a:ext uri="{0D108BD9-81ED-4DB2-BD59-A6C34878D82A}">
                    <a16:rowId xmlns:a16="http://schemas.microsoft.com/office/drawing/2014/main" val="2530316399"/>
                  </a:ext>
                </a:extLst>
              </a:tr>
              <a:tr h="533276">
                <a:tc>
                  <a:txBody>
                    <a:bodyPr/>
                    <a:lstStyle/>
                    <a:p>
                      <a:pPr>
                        <a:lnSpc>
                          <a:spcPct val="150000"/>
                        </a:lnSpc>
                      </a:pPr>
                      <a:r>
                        <a:rPr kumimoji="1" lang="ja-JP" altLang="en-US" sz="2400">
                          <a:latin typeface="+mj-ea"/>
                          <a:ea typeface="+mj-ea"/>
                        </a:rPr>
                        <a:t>昇圧薬</a:t>
                      </a:r>
                      <a:r>
                        <a:rPr kumimoji="1" lang="en-US" altLang="ja-JP" sz="2400" dirty="0">
                          <a:latin typeface="+mj-ea"/>
                          <a:ea typeface="+mj-ea"/>
                        </a:rPr>
                        <a:t>(</a:t>
                      </a:r>
                      <a:r>
                        <a:rPr kumimoji="1" lang="en-US" altLang="ja-JP" sz="2400" dirty="0" err="1">
                          <a:latin typeface="+mj-ea"/>
                          <a:ea typeface="+mj-ea"/>
                        </a:rPr>
                        <a:t>ATⅡ</a:t>
                      </a:r>
                      <a:r>
                        <a:rPr kumimoji="1" lang="en-US" altLang="ja-JP" sz="2400" dirty="0">
                          <a:latin typeface="+mj-ea"/>
                          <a:ea typeface="+mj-ea"/>
                        </a:rPr>
                        <a:t>)</a:t>
                      </a:r>
                      <a:r>
                        <a:rPr kumimoji="1" lang="ja-JP" altLang="en-US" sz="2400">
                          <a:latin typeface="+mj-ea"/>
                          <a:ea typeface="+mj-ea"/>
                        </a:rPr>
                        <a:t>への反応</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○（低下）</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○（低下）</a:t>
                      </a:r>
                    </a:p>
                  </a:txBody>
                  <a:tcPr/>
                </a:tc>
                <a:extLst>
                  <a:ext uri="{0D108BD9-81ED-4DB2-BD59-A6C34878D82A}">
                    <a16:rowId xmlns:a16="http://schemas.microsoft.com/office/drawing/2014/main" val="284507999"/>
                  </a:ext>
                </a:extLst>
              </a:tr>
              <a:tr h="533276">
                <a:tc>
                  <a:txBody>
                    <a:bodyPr/>
                    <a:lstStyle/>
                    <a:p>
                      <a:pPr>
                        <a:lnSpc>
                          <a:spcPct val="150000"/>
                        </a:lnSpc>
                      </a:pPr>
                      <a:r>
                        <a:rPr kumimoji="1" lang="ja-JP" altLang="en-US" sz="2400">
                          <a:latin typeface="+mj-ea"/>
                          <a:ea typeface="+mj-ea"/>
                        </a:rPr>
                        <a:t>降圧薬</a:t>
                      </a:r>
                      <a:r>
                        <a:rPr kumimoji="1" lang="en-US" altLang="ja-JP" sz="2400" dirty="0">
                          <a:latin typeface="+mj-ea"/>
                          <a:ea typeface="+mj-ea"/>
                        </a:rPr>
                        <a:t>(GTN)</a:t>
                      </a:r>
                      <a:r>
                        <a:rPr kumimoji="1" lang="ja-JP" altLang="en-US" sz="2400">
                          <a:latin typeface="+mj-ea"/>
                          <a:ea typeface="+mj-ea"/>
                        </a:rPr>
                        <a:t>への反応</a:t>
                      </a:r>
                    </a:p>
                  </a:txBody>
                  <a:tcPr/>
                </a:tc>
                <a:tc>
                  <a:txBody>
                    <a:bodyPr/>
                    <a:lstStyle/>
                    <a:p>
                      <a:pPr>
                        <a:lnSpc>
                          <a:spcPct val="150000"/>
                        </a:lnSpc>
                      </a:pPr>
                      <a:r>
                        <a:rPr kumimoji="1" lang="ja-JP" altLang="en-US" sz="2400">
                          <a:latin typeface="+mj-ea"/>
                          <a:ea typeface="+mj-ea"/>
                        </a:rPr>
                        <a:t>△</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○（上昇）</a:t>
                      </a:r>
                    </a:p>
                  </a:txBody>
                  <a:tcPr/>
                </a:tc>
                <a:extLst>
                  <a:ext uri="{0D108BD9-81ED-4DB2-BD59-A6C34878D82A}">
                    <a16:rowId xmlns:a16="http://schemas.microsoft.com/office/drawing/2014/main" val="4154383642"/>
                  </a:ext>
                </a:extLst>
              </a:tr>
              <a:tr h="1244310">
                <a:tc>
                  <a:txBody>
                    <a:bodyPr/>
                    <a:lstStyle/>
                    <a:p>
                      <a:pPr>
                        <a:lnSpc>
                          <a:spcPct val="150000"/>
                        </a:lnSpc>
                      </a:pPr>
                      <a:r>
                        <a:rPr kumimoji="1" lang="ja-JP" altLang="en-US" sz="2400">
                          <a:latin typeface="+mj-ea"/>
                          <a:ea typeface="+mj-ea"/>
                        </a:rPr>
                        <a:t>術中の変化</a:t>
                      </a:r>
                    </a:p>
                  </a:txBody>
                  <a:tcPr/>
                </a:tc>
                <a:tc>
                  <a:txBody>
                    <a:bodyPr/>
                    <a:lstStyle/>
                    <a:p>
                      <a:pPr>
                        <a:lnSpc>
                          <a:spcPct val="150000"/>
                        </a:lnSpc>
                      </a:pPr>
                      <a:r>
                        <a:rPr kumimoji="1" lang="ja-JP" altLang="en-US" sz="2400">
                          <a:latin typeface="+mj-ea"/>
                          <a:ea typeface="+mj-ea"/>
                        </a:rPr>
                        <a:t>挿管時高血圧で低下</a:t>
                      </a:r>
                    </a:p>
                  </a:txBody>
                  <a:tcPr/>
                </a:tc>
                <a:tc>
                  <a:txBody>
                    <a:bodyPr/>
                    <a:lstStyle/>
                    <a:p>
                      <a:pPr>
                        <a:lnSpc>
                          <a:spcPct val="150000"/>
                        </a:lnSpc>
                      </a:pPr>
                      <a:r>
                        <a:rPr kumimoji="1" lang="ja-JP" altLang="en-US" sz="2400">
                          <a:latin typeface="+mj-ea"/>
                          <a:ea typeface="+mj-ea"/>
                        </a:rPr>
                        <a:t>麻酔中の低血圧検出</a:t>
                      </a:r>
                      <a:endParaRPr kumimoji="1" lang="en-US" altLang="ja-JP" sz="2400" dirty="0">
                        <a:latin typeface="+mj-ea"/>
                        <a:ea typeface="+mj-ea"/>
                      </a:endParaRPr>
                    </a:p>
                    <a:p>
                      <a:pPr>
                        <a:lnSpc>
                          <a:spcPct val="150000"/>
                        </a:lnSpc>
                      </a:pPr>
                      <a:r>
                        <a:rPr kumimoji="1" lang="ja-JP" altLang="en-US" sz="2400">
                          <a:latin typeface="+mj-ea"/>
                          <a:ea typeface="+mj-ea"/>
                        </a:rPr>
                        <a:t>血管収縮薬に反応</a:t>
                      </a:r>
                      <a:endParaRPr kumimoji="1" lang="en-US" altLang="ja-JP" sz="2400" dirty="0">
                        <a:latin typeface="+mj-ea"/>
                        <a:ea typeface="+mj-ea"/>
                      </a:endParaRPr>
                    </a:p>
                    <a:p>
                      <a:pPr>
                        <a:lnSpc>
                          <a:spcPct val="150000"/>
                        </a:lnSpc>
                      </a:pPr>
                      <a:r>
                        <a:rPr kumimoji="1" lang="ja-JP" altLang="en-US" sz="1600">
                          <a:latin typeface="+mj-ea"/>
                          <a:ea typeface="+mj-ea"/>
                        </a:rPr>
                        <a:t>（厳密には重複切痕</a:t>
                      </a:r>
                      <a:r>
                        <a:rPr kumimoji="1" lang="en-US" altLang="ja-JP" sz="1600" dirty="0">
                          <a:latin typeface="+mj-ea"/>
                          <a:ea typeface="+mj-ea"/>
                        </a:rPr>
                        <a:t>/</a:t>
                      </a:r>
                      <a:r>
                        <a:rPr kumimoji="1" lang="ja-JP" altLang="en-US" sz="1600">
                          <a:latin typeface="+mj-ea"/>
                          <a:ea typeface="+mj-ea"/>
                        </a:rPr>
                        <a:t>前進波ピーク）</a:t>
                      </a:r>
                    </a:p>
                  </a:txBody>
                  <a:tcPr/>
                </a:tc>
                <a:extLst>
                  <a:ext uri="{0D108BD9-81ED-4DB2-BD59-A6C34878D82A}">
                    <a16:rowId xmlns:a16="http://schemas.microsoft.com/office/drawing/2014/main" val="1477270729"/>
                  </a:ext>
                </a:extLst>
              </a:tr>
              <a:tr h="533276">
                <a:tc>
                  <a:txBody>
                    <a:bodyPr/>
                    <a:lstStyle/>
                    <a:p>
                      <a:pPr>
                        <a:lnSpc>
                          <a:spcPct val="150000"/>
                        </a:lnSpc>
                      </a:pPr>
                      <a:r>
                        <a:rPr kumimoji="1" lang="en-US" altLang="ja-JP" sz="2400" dirty="0">
                          <a:latin typeface="+mj-ea"/>
                          <a:ea typeface="+mj-ea"/>
                        </a:rPr>
                        <a:t>SVR</a:t>
                      </a:r>
                      <a:r>
                        <a:rPr kumimoji="1" lang="ja-JP" altLang="en-US" sz="2400">
                          <a:latin typeface="+mj-ea"/>
                          <a:ea typeface="+mj-ea"/>
                        </a:rPr>
                        <a:t>との比較</a:t>
                      </a:r>
                    </a:p>
                  </a:txBody>
                  <a:tcPr/>
                </a:tc>
                <a:tc>
                  <a:txBody>
                    <a:bodyPr/>
                    <a:lstStyle/>
                    <a:p>
                      <a:pPr>
                        <a:lnSpc>
                          <a:spcPct val="150000"/>
                        </a:lnSpc>
                      </a:pPr>
                      <a:r>
                        <a:rPr kumimoji="1" lang="ja-JP" altLang="en-US" sz="2400">
                          <a:latin typeface="+mj-ea"/>
                          <a:ea typeface="+mj-ea"/>
                        </a:rPr>
                        <a:t>なし</a:t>
                      </a:r>
                    </a:p>
                  </a:txBody>
                  <a:tcPr/>
                </a:tc>
                <a:tc>
                  <a:txBody>
                    <a:bodyPr/>
                    <a:lstStyle/>
                    <a:p>
                      <a:pPr>
                        <a:lnSpc>
                          <a:spcPct val="150000"/>
                        </a:lnSpc>
                      </a:pPr>
                      <a:r>
                        <a:rPr kumimoji="1" lang="ja-JP" altLang="en-US" sz="2400">
                          <a:latin typeface="+mj-ea"/>
                          <a:ea typeface="+mj-ea"/>
                        </a:rPr>
                        <a:t>あり（まずまず）</a:t>
                      </a:r>
                    </a:p>
                  </a:txBody>
                  <a:tcPr/>
                </a:tc>
                <a:extLst>
                  <a:ext uri="{0D108BD9-81ED-4DB2-BD59-A6C34878D82A}">
                    <a16:rowId xmlns:a16="http://schemas.microsoft.com/office/drawing/2014/main" val="4185263036"/>
                  </a:ext>
                </a:extLst>
              </a:tr>
              <a:tr h="533276">
                <a:tc>
                  <a:txBody>
                    <a:bodyPr/>
                    <a:lstStyle/>
                    <a:p>
                      <a:pPr>
                        <a:lnSpc>
                          <a:spcPct val="150000"/>
                        </a:lnSpc>
                      </a:pPr>
                      <a:r>
                        <a:rPr kumimoji="1" lang="ja-JP" altLang="en-US" sz="2400">
                          <a:latin typeface="+mj-ea"/>
                          <a:ea typeface="+mj-ea"/>
                        </a:rPr>
                        <a:t>批判</a:t>
                      </a:r>
                    </a:p>
                  </a:txBody>
                  <a:tcPr/>
                </a:tc>
                <a:tc>
                  <a:txBody>
                    <a:bodyPr/>
                    <a:lstStyle/>
                    <a:p>
                      <a:pPr>
                        <a:lnSpc>
                          <a:spcPct val="150000"/>
                        </a:lnSpc>
                      </a:pPr>
                      <a:r>
                        <a:rPr kumimoji="1" lang="ja-JP" altLang="en-US" sz="2400">
                          <a:latin typeface="+mj-ea"/>
                          <a:ea typeface="+mj-ea"/>
                        </a:rPr>
                        <a:t>物理的な意味が明白でない</a:t>
                      </a:r>
                    </a:p>
                  </a:txBody>
                  <a:tcPr/>
                </a:tc>
                <a:tc>
                  <a:txBody>
                    <a:bodyPr/>
                    <a:lstStyle/>
                    <a:p>
                      <a:pPr>
                        <a:lnSpc>
                          <a:spcPct val="150000"/>
                        </a:lnSpc>
                      </a:pPr>
                      <a:r>
                        <a:rPr kumimoji="1" lang="en-US" altLang="ja-JP" sz="2400" dirty="0">
                          <a:latin typeface="+mj-ea"/>
                          <a:ea typeface="+mj-ea"/>
                        </a:rPr>
                        <a:t>HR</a:t>
                      </a:r>
                      <a:r>
                        <a:rPr kumimoji="1" lang="ja-JP" altLang="en-US" sz="2400">
                          <a:latin typeface="+mj-ea"/>
                          <a:ea typeface="+mj-ea"/>
                        </a:rPr>
                        <a:t>との交絡がある</a:t>
                      </a:r>
                    </a:p>
                  </a:txBody>
                  <a:tcPr/>
                </a:tc>
                <a:extLst>
                  <a:ext uri="{0D108BD9-81ED-4DB2-BD59-A6C34878D82A}">
                    <a16:rowId xmlns:a16="http://schemas.microsoft.com/office/drawing/2014/main" val="2897397817"/>
                  </a:ext>
                </a:extLst>
              </a:tr>
            </a:tbl>
          </a:graphicData>
        </a:graphic>
      </p:graphicFrame>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12. Millasseau 2003　／　18. Md Lazim 2020　／　21. Coutrot 2019　／　24. Takazawa 1998　／　30. Kohjitani 2012</a:t>
            </a:r>
          </a:p>
        </p:txBody>
      </p:sp>
      <p:sp>
        <p:nvSpPr>
          <p:cNvPr id="1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65/118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4">
            <a:extLst>
              <a:ext uri="{FF2B5EF4-FFF2-40B4-BE49-F238E27FC236}">
                <a16:creationId xmlns:a16="http://schemas.microsoft.com/office/drawing/2014/main" id="{AA9D36CE-3772-F005-B54C-9329ADA7F086}"/>
              </a:ext>
            </a:extLst>
          </p:cNvPr>
          <p:cNvSpPr/>
          <p:nvPr/>
        </p:nvSpPr>
        <p:spPr>
          <a:xfrm>
            <a:off x="953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352069193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CBD4D-727E-4E00-27F1-04E703BE32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9968E8-3D82-6A35-6165-1D53AB28225B}"/>
              </a:ext>
            </a:extLst>
          </p:cNvPr>
          <p:cNvSpPr>
            <a:spLocks noGrp="1"/>
          </p:cNvSpPr>
          <p:nvPr>
            <p:ph type="title"/>
          </p:nvPr>
        </p:nvSpPr>
        <p:spPr/>
        <p:txBody>
          <a:bodyPr/>
          <a:lstStyle/>
          <a:p>
            <a:pPr algn="l"/>
            <a:r>
              <a:rPr sz="4600" dirty="0">
                <a:latin typeface="Meiryo"/>
                <a:ea typeface="Meiryo"/>
                <a:cs typeface="Meiryo"/>
              </a:rPr>
              <a:t>3.3  d/a と RI</a:t>
            </a:r>
          </a:p>
        </p:txBody>
      </p:sp>
      <p:graphicFrame>
        <p:nvGraphicFramePr>
          <p:cNvPr id="5" name="表 4">
            <a:extLst>
              <a:ext uri="{FF2B5EF4-FFF2-40B4-BE49-F238E27FC236}">
                <a16:creationId xmlns:a16="http://schemas.microsoft.com/office/drawing/2014/main" id="{01536987-B580-321E-5A4E-75502F767AD3}"/>
              </a:ext>
            </a:extLst>
          </p:cNvPr>
          <p:cNvGraphicFramePr>
            <a:graphicFrameLocks noGrp="1"/>
          </p:cNvGraphicFramePr>
          <p:nvPr/>
        </p:nvGraphicFramePr>
        <p:xfrm>
          <a:off x="248659" y="1690688"/>
          <a:ext cx="11694681" cy="4495800"/>
        </p:xfrm>
        <a:graphic>
          <a:graphicData uri="http://schemas.openxmlformats.org/drawingml/2006/table">
            <a:tbl>
              <a:tblPr firstRow="1" bandRow="1">
                <a:tableStyleId>{74C1A8A3-306A-4EB7-A6B1-4F7E0EB9C5D6}</a:tableStyleId>
              </a:tblPr>
              <a:tblGrid>
                <a:gridCol w="3678572">
                  <a:extLst>
                    <a:ext uri="{9D8B030D-6E8A-4147-A177-3AD203B41FA5}">
                      <a16:colId xmlns:a16="http://schemas.microsoft.com/office/drawing/2014/main" val="1747660977"/>
                    </a:ext>
                  </a:extLst>
                </a:gridCol>
                <a:gridCol w="4117882">
                  <a:extLst>
                    <a:ext uri="{9D8B030D-6E8A-4147-A177-3AD203B41FA5}">
                      <a16:colId xmlns:a16="http://schemas.microsoft.com/office/drawing/2014/main" val="3064939031"/>
                    </a:ext>
                  </a:extLst>
                </a:gridCol>
                <a:gridCol w="3898227">
                  <a:extLst>
                    <a:ext uri="{9D8B030D-6E8A-4147-A177-3AD203B41FA5}">
                      <a16:colId xmlns:a16="http://schemas.microsoft.com/office/drawing/2014/main" val="599167054"/>
                    </a:ext>
                  </a:extLst>
                </a:gridCol>
              </a:tblGrid>
              <a:tr h="533276">
                <a:tc>
                  <a:txBody>
                    <a:bodyPr/>
                    <a:lstStyle/>
                    <a:p>
                      <a:pPr algn="ctr">
                        <a:lnSpc>
                          <a:spcPct val="150000"/>
                        </a:lnSpc>
                      </a:pPr>
                      <a:endParaRPr kumimoji="1" lang="ja-JP" altLang="en-US" sz="2400">
                        <a:ln w="12700">
                          <a:solidFill>
                            <a:sysClr val="windowText" lastClr="000000"/>
                          </a:solidFill>
                        </a:ln>
                        <a:latin typeface="+mj-ea"/>
                        <a:ea typeface="+mj-ea"/>
                      </a:endParaRPr>
                    </a:p>
                  </a:txBody>
                  <a:tcPr>
                    <a:noFill/>
                  </a:tcPr>
                </a:tc>
                <a:tc>
                  <a:txBody>
                    <a:bodyPr/>
                    <a:lstStyle/>
                    <a:p>
                      <a:pPr algn="ctr">
                        <a:lnSpc>
                          <a:spcPct val="150000"/>
                        </a:lnSpc>
                      </a:pPr>
                      <a:r>
                        <a:rPr kumimoji="1" lang="en-US" altLang="ja-JP" sz="2400" dirty="0">
                          <a:ln w="12700">
                            <a:solidFill>
                              <a:sysClr val="windowText" lastClr="000000"/>
                            </a:solidFill>
                          </a:ln>
                          <a:solidFill>
                            <a:schemeClr val="tx1"/>
                          </a:solidFill>
                          <a:latin typeface="+mj-ea"/>
                          <a:ea typeface="+mj-ea"/>
                        </a:rPr>
                        <a:t>d/a</a:t>
                      </a:r>
                      <a:r>
                        <a:rPr kumimoji="1" lang="ja-JP" altLang="en-US" sz="2400">
                          <a:ln w="12700">
                            <a:solidFill>
                              <a:sysClr val="windowText" lastClr="000000"/>
                            </a:solidFill>
                          </a:ln>
                          <a:solidFill>
                            <a:schemeClr val="tx1"/>
                          </a:solidFill>
                          <a:latin typeface="+mj-ea"/>
                          <a:ea typeface="+mj-ea"/>
                        </a:rPr>
                        <a:t>（</a:t>
                      </a:r>
                      <a:r>
                        <a:rPr kumimoji="1" lang="en-US" altLang="ja-JP" sz="2400" dirty="0">
                          <a:ln w="12700">
                            <a:solidFill>
                              <a:sysClr val="windowText" lastClr="000000"/>
                            </a:solidFill>
                          </a:ln>
                          <a:solidFill>
                            <a:schemeClr val="tx1"/>
                          </a:solidFill>
                          <a:latin typeface="+mj-ea"/>
                          <a:ea typeface="+mj-ea"/>
                        </a:rPr>
                        <a:t>SDPPG</a:t>
                      </a:r>
                      <a:r>
                        <a:rPr kumimoji="1" lang="ja-JP" altLang="en-US" sz="2400">
                          <a:ln w="12700">
                            <a:solidFill>
                              <a:sysClr val="windowText" lastClr="000000"/>
                            </a:solidFill>
                          </a:ln>
                          <a:solidFill>
                            <a:schemeClr val="tx1"/>
                          </a:solidFill>
                          <a:latin typeface="+mj-ea"/>
                          <a:ea typeface="+mj-ea"/>
                        </a:rPr>
                        <a:t>）</a:t>
                      </a:r>
                    </a:p>
                  </a:txBody>
                  <a:tcPr>
                    <a:noFill/>
                  </a:tcPr>
                </a:tc>
                <a:tc>
                  <a:txBody>
                    <a:bodyPr/>
                    <a:lstStyle/>
                    <a:p>
                      <a:pPr algn="ctr">
                        <a:lnSpc>
                          <a:spcPct val="150000"/>
                        </a:lnSpc>
                      </a:pPr>
                      <a:r>
                        <a:rPr kumimoji="1" lang="en-US" altLang="ja-JP" sz="2400" dirty="0">
                          <a:ln w="12700">
                            <a:solidFill>
                              <a:sysClr val="windowText" lastClr="000000"/>
                            </a:solidFill>
                          </a:ln>
                          <a:solidFill>
                            <a:schemeClr val="tx1"/>
                          </a:solidFill>
                          <a:latin typeface="+mj-ea"/>
                          <a:ea typeface="+mj-ea"/>
                        </a:rPr>
                        <a:t>RI</a:t>
                      </a:r>
                      <a:endParaRPr kumimoji="1" lang="ja-JP" altLang="en-US" sz="2400">
                        <a:ln w="12700">
                          <a:solidFill>
                            <a:sysClr val="windowText" lastClr="000000"/>
                          </a:solidFill>
                        </a:ln>
                        <a:solidFill>
                          <a:schemeClr val="tx1"/>
                        </a:solidFill>
                        <a:latin typeface="+mj-ea"/>
                        <a:ea typeface="+mj-ea"/>
                      </a:endParaRPr>
                    </a:p>
                  </a:txBody>
                  <a:tcPr>
                    <a:noFill/>
                  </a:tcPr>
                </a:tc>
                <a:extLst>
                  <a:ext uri="{0D108BD9-81ED-4DB2-BD59-A6C34878D82A}">
                    <a16:rowId xmlns:a16="http://schemas.microsoft.com/office/drawing/2014/main" val="2530316399"/>
                  </a:ext>
                </a:extLst>
              </a:tr>
              <a:tr h="533276">
                <a:tc>
                  <a:txBody>
                    <a:bodyPr/>
                    <a:lstStyle/>
                    <a:p>
                      <a:pPr>
                        <a:lnSpc>
                          <a:spcPct val="150000"/>
                        </a:lnSpc>
                      </a:pPr>
                      <a:r>
                        <a:rPr kumimoji="1" lang="ja-JP" altLang="en-US" sz="2400">
                          <a:latin typeface="+mj-ea"/>
                          <a:ea typeface="+mj-ea"/>
                        </a:rPr>
                        <a:t>昇圧薬</a:t>
                      </a:r>
                      <a:r>
                        <a:rPr kumimoji="1" lang="en-US" altLang="ja-JP" sz="2400" dirty="0">
                          <a:latin typeface="+mj-ea"/>
                          <a:ea typeface="+mj-ea"/>
                        </a:rPr>
                        <a:t>(</a:t>
                      </a:r>
                      <a:r>
                        <a:rPr kumimoji="1" lang="en-US" altLang="ja-JP" sz="2400" dirty="0" err="1">
                          <a:latin typeface="+mj-ea"/>
                          <a:ea typeface="+mj-ea"/>
                        </a:rPr>
                        <a:t>ATⅡ</a:t>
                      </a:r>
                      <a:r>
                        <a:rPr kumimoji="1" lang="en-US" altLang="ja-JP" sz="2400" dirty="0">
                          <a:latin typeface="+mj-ea"/>
                          <a:ea typeface="+mj-ea"/>
                        </a:rPr>
                        <a:t>)</a:t>
                      </a:r>
                      <a:r>
                        <a:rPr kumimoji="1" lang="ja-JP" altLang="en-US" sz="2400">
                          <a:latin typeface="+mj-ea"/>
                          <a:ea typeface="+mj-ea"/>
                        </a:rPr>
                        <a:t>への反応</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○（低下）</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○（低下）</a:t>
                      </a:r>
                    </a:p>
                  </a:txBody>
                  <a:tcPr/>
                </a:tc>
                <a:extLst>
                  <a:ext uri="{0D108BD9-81ED-4DB2-BD59-A6C34878D82A}">
                    <a16:rowId xmlns:a16="http://schemas.microsoft.com/office/drawing/2014/main" val="284507999"/>
                  </a:ext>
                </a:extLst>
              </a:tr>
              <a:tr h="533276">
                <a:tc>
                  <a:txBody>
                    <a:bodyPr/>
                    <a:lstStyle/>
                    <a:p>
                      <a:pPr>
                        <a:lnSpc>
                          <a:spcPct val="150000"/>
                        </a:lnSpc>
                      </a:pPr>
                      <a:r>
                        <a:rPr kumimoji="1" lang="ja-JP" altLang="en-US" sz="2400">
                          <a:latin typeface="+mj-ea"/>
                          <a:ea typeface="+mj-ea"/>
                        </a:rPr>
                        <a:t>降圧薬</a:t>
                      </a:r>
                      <a:r>
                        <a:rPr kumimoji="1" lang="en-US" altLang="ja-JP" sz="2400" dirty="0">
                          <a:latin typeface="+mj-ea"/>
                          <a:ea typeface="+mj-ea"/>
                        </a:rPr>
                        <a:t>(GTN)</a:t>
                      </a:r>
                      <a:r>
                        <a:rPr kumimoji="1" lang="ja-JP" altLang="en-US" sz="2400">
                          <a:latin typeface="+mj-ea"/>
                          <a:ea typeface="+mj-ea"/>
                        </a:rPr>
                        <a:t>への反応</a:t>
                      </a:r>
                    </a:p>
                  </a:txBody>
                  <a:tcPr/>
                </a:tc>
                <a:tc>
                  <a:txBody>
                    <a:bodyPr/>
                    <a:lstStyle/>
                    <a:p>
                      <a:pPr>
                        <a:lnSpc>
                          <a:spcPct val="150000"/>
                        </a:lnSpc>
                      </a:pPr>
                      <a:r>
                        <a:rPr kumimoji="1" lang="ja-JP" altLang="en-US" sz="2400">
                          <a:latin typeface="+mj-ea"/>
                          <a:ea typeface="+mj-ea"/>
                        </a:rPr>
                        <a:t>△</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○（上昇）</a:t>
                      </a:r>
                    </a:p>
                  </a:txBody>
                  <a:tcPr/>
                </a:tc>
                <a:extLst>
                  <a:ext uri="{0D108BD9-81ED-4DB2-BD59-A6C34878D82A}">
                    <a16:rowId xmlns:a16="http://schemas.microsoft.com/office/drawing/2014/main" val="4154383642"/>
                  </a:ext>
                </a:extLst>
              </a:tr>
              <a:tr h="1244310">
                <a:tc>
                  <a:txBody>
                    <a:bodyPr/>
                    <a:lstStyle/>
                    <a:p>
                      <a:pPr>
                        <a:lnSpc>
                          <a:spcPct val="150000"/>
                        </a:lnSpc>
                      </a:pPr>
                      <a:r>
                        <a:rPr kumimoji="1" lang="ja-JP" altLang="en-US" sz="2400">
                          <a:latin typeface="+mj-ea"/>
                          <a:ea typeface="+mj-ea"/>
                        </a:rPr>
                        <a:t>術中の変化</a:t>
                      </a:r>
                    </a:p>
                  </a:txBody>
                  <a:tcPr/>
                </a:tc>
                <a:tc>
                  <a:txBody>
                    <a:bodyPr/>
                    <a:lstStyle/>
                    <a:p>
                      <a:pPr>
                        <a:lnSpc>
                          <a:spcPct val="150000"/>
                        </a:lnSpc>
                      </a:pPr>
                      <a:r>
                        <a:rPr kumimoji="1" lang="ja-JP" altLang="en-US" sz="2400">
                          <a:latin typeface="+mj-ea"/>
                          <a:ea typeface="+mj-ea"/>
                        </a:rPr>
                        <a:t>挿管時高血圧で低下</a:t>
                      </a:r>
                    </a:p>
                  </a:txBody>
                  <a:tcPr/>
                </a:tc>
                <a:tc>
                  <a:txBody>
                    <a:bodyPr/>
                    <a:lstStyle/>
                    <a:p>
                      <a:pPr>
                        <a:lnSpc>
                          <a:spcPct val="150000"/>
                        </a:lnSpc>
                      </a:pPr>
                      <a:r>
                        <a:rPr kumimoji="1" lang="ja-JP" altLang="en-US" sz="2400">
                          <a:latin typeface="+mj-ea"/>
                          <a:ea typeface="+mj-ea"/>
                        </a:rPr>
                        <a:t>麻酔中の低血圧検出</a:t>
                      </a:r>
                      <a:endParaRPr kumimoji="1" lang="en-US" altLang="ja-JP" sz="2400" dirty="0">
                        <a:latin typeface="+mj-ea"/>
                        <a:ea typeface="+mj-ea"/>
                      </a:endParaRPr>
                    </a:p>
                    <a:p>
                      <a:pPr>
                        <a:lnSpc>
                          <a:spcPct val="150000"/>
                        </a:lnSpc>
                      </a:pPr>
                      <a:r>
                        <a:rPr kumimoji="1" lang="ja-JP" altLang="en-US" sz="2400">
                          <a:latin typeface="+mj-ea"/>
                          <a:ea typeface="+mj-ea"/>
                        </a:rPr>
                        <a:t>血管収縮薬に反応</a:t>
                      </a:r>
                      <a:endParaRPr kumimoji="1" lang="en-US" altLang="ja-JP" sz="2400" dirty="0">
                        <a:latin typeface="+mj-ea"/>
                        <a:ea typeface="+mj-ea"/>
                      </a:endParaRPr>
                    </a:p>
                    <a:p>
                      <a:pPr>
                        <a:lnSpc>
                          <a:spcPct val="150000"/>
                        </a:lnSpc>
                      </a:pPr>
                      <a:r>
                        <a:rPr kumimoji="1" lang="ja-JP" altLang="en-US" sz="1600">
                          <a:latin typeface="+mj-ea"/>
                          <a:ea typeface="+mj-ea"/>
                        </a:rPr>
                        <a:t>（厳密には重複切痕</a:t>
                      </a:r>
                      <a:r>
                        <a:rPr kumimoji="1" lang="en-US" altLang="ja-JP" sz="1600" dirty="0">
                          <a:latin typeface="+mj-ea"/>
                          <a:ea typeface="+mj-ea"/>
                        </a:rPr>
                        <a:t>/</a:t>
                      </a:r>
                      <a:r>
                        <a:rPr kumimoji="1" lang="ja-JP" altLang="en-US" sz="1600">
                          <a:latin typeface="+mj-ea"/>
                          <a:ea typeface="+mj-ea"/>
                        </a:rPr>
                        <a:t>前進波ピーク）</a:t>
                      </a:r>
                    </a:p>
                  </a:txBody>
                  <a:tcPr/>
                </a:tc>
                <a:extLst>
                  <a:ext uri="{0D108BD9-81ED-4DB2-BD59-A6C34878D82A}">
                    <a16:rowId xmlns:a16="http://schemas.microsoft.com/office/drawing/2014/main" val="1477270729"/>
                  </a:ext>
                </a:extLst>
              </a:tr>
              <a:tr h="533276">
                <a:tc>
                  <a:txBody>
                    <a:bodyPr/>
                    <a:lstStyle/>
                    <a:p>
                      <a:pPr>
                        <a:lnSpc>
                          <a:spcPct val="150000"/>
                        </a:lnSpc>
                      </a:pPr>
                      <a:r>
                        <a:rPr kumimoji="1" lang="en-US" altLang="ja-JP" sz="2400" dirty="0">
                          <a:latin typeface="+mj-ea"/>
                          <a:ea typeface="+mj-ea"/>
                        </a:rPr>
                        <a:t>SVR</a:t>
                      </a:r>
                      <a:r>
                        <a:rPr kumimoji="1" lang="ja-JP" altLang="en-US" sz="2400">
                          <a:latin typeface="+mj-ea"/>
                          <a:ea typeface="+mj-ea"/>
                        </a:rPr>
                        <a:t>との比較</a:t>
                      </a:r>
                    </a:p>
                  </a:txBody>
                  <a:tcPr/>
                </a:tc>
                <a:tc>
                  <a:txBody>
                    <a:bodyPr/>
                    <a:lstStyle/>
                    <a:p>
                      <a:pPr>
                        <a:lnSpc>
                          <a:spcPct val="150000"/>
                        </a:lnSpc>
                      </a:pPr>
                      <a:r>
                        <a:rPr kumimoji="1" lang="ja-JP" altLang="en-US" sz="2400">
                          <a:latin typeface="+mj-ea"/>
                          <a:ea typeface="+mj-ea"/>
                        </a:rPr>
                        <a:t>なし</a:t>
                      </a:r>
                    </a:p>
                  </a:txBody>
                  <a:tcPr/>
                </a:tc>
                <a:tc>
                  <a:txBody>
                    <a:bodyPr/>
                    <a:lstStyle/>
                    <a:p>
                      <a:pPr>
                        <a:lnSpc>
                          <a:spcPct val="150000"/>
                        </a:lnSpc>
                      </a:pPr>
                      <a:r>
                        <a:rPr kumimoji="1" lang="ja-JP" altLang="en-US" sz="2400">
                          <a:latin typeface="+mj-ea"/>
                          <a:ea typeface="+mj-ea"/>
                        </a:rPr>
                        <a:t>あり（まずまず）</a:t>
                      </a:r>
                    </a:p>
                  </a:txBody>
                  <a:tcPr/>
                </a:tc>
                <a:extLst>
                  <a:ext uri="{0D108BD9-81ED-4DB2-BD59-A6C34878D82A}">
                    <a16:rowId xmlns:a16="http://schemas.microsoft.com/office/drawing/2014/main" val="4185263036"/>
                  </a:ext>
                </a:extLst>
              </a:tr>
              <a:tr h="533276">
                <a:tc>
                  <a:txBody>
                    <a:bodyPr/>
                    <a:lstStyle/>
                    <a:p>
                      <a:pPr>
                        <a:lnSpc>
                          <a:spcPct val="150000"/>
                        </a:lnSpc>
                      </a:pPr>
                      <a:r>
                        <a:rPr kumimoji="1" lang="ja-JP" altLang="en-US" sz="2400">
                          <a:latin typeface="+mj-ea"/>
                          <a:ea typeface="+mj-ea"/>
                        </a:rPr>
                        <a:t>批判</a:t>
                      </a:r>
                    </a:p>
                  </a:txBody>
                  <a:tcPr/>
                </a:tc>
                <a:tc>
                  <a:txBody>
                    <a:bodyPr/>
                    <a:lstStyle/>
                    <a:p>
                      <a:pPr>
                        <a:lnSpc>
                          <a:spcPct val="150000"/>
                        </a:lnSpc>
                      </a:pPr>
                      <a:r>
                        <a:rPr kumimoji="1" lang="ja-JP" altLang="en-US" sz="2400">
                          <a:latin typeface="+mj-ea"/>
                          <a:ea typeface="+mj-ea"/>
                        </a:rPr>
                        <a:t>物理的な意味が明白でない</a:t>
                      </a:r>
                    </a:p>
                  </a:txBody>
                  <a:tcPr/>
                </a:tc>
                <a:tc>
                  <a:txBody>
                    <a:bodyPr/>
                    <a:lstStyle/>
                    <a:p>
                      <a:pPr>
                        <a:lnSpc>
                          <a:spcPct val="150000"/>
                        </a:lnSpc>
                      </a:pPr>
                      <a:r>
                        <a:rPr kumimoji="1" lang="en-US" altLang="ja-JP" sz="2400" dirty="0">
                          <a:latin typeface="+mj-ea"/>
                          <a:ea typeface="+mj-ea"/>
                        </a:rPr>
                        <a:t>HR</a:t>
                      </a:r>
                      <a:r>
                        <a:rPr kumimoji="1" lang="ja-JP" altLang="en-US" sz="2400">
                          <a:latin typeface="+mj-ea"/>
                          <a:ea typeface="+mj-ea"/>
                        </a:rPr>
                        <a:t>との交絡がある</a:t>
                      </a:r>
                    </a:p>
                  </a:txBody>
                  <a:tcPr/>
                </a:tc>
                <a:extLst>
                  <a:ext uri="{0D108BD9-81ED-4DB2-BD59-A6C34878D82A}">
                    <a16:rowId xmlns:a16="http://schemas.microsoft.com/office/drawing/2014/main" val="2897397817"/>
                  </a:ext>
                </a:extLst>
              </a:tr>
            </a:tbl>
          </a:graphicData>
        </a:graphic>
      </p:graphicFrame>
      <p:sp>
        <p:nvSpPr>
          <p:cNvPr id="17" name="Source">
            <a:extLst>
              <a:ext uri="{FF2B5EF4-FFF2-40B4-BE49-F238E27FC236}">
                <a16:creationId xmlns:a16="http://schemas.microsoft.com/office/drawing/2014/main" id="{1CBC7279-5768-DF14-495E-AF7948B34689}"/>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12. Millasseau 2003　／　18. Md Lazim 2020　／　21. Coutrot 2019　／　24. Takazawa 1998　／　30. Kohjitani 2012</a:t>
            </a:r>
          </a:p>
        </p:txBody>
      </p:sp>
      <p:sp>
        <p:nvSpPr>
          <p:cNvPr id="18" name="PageNo">
            <a:extLst>
              <a:ext uri="{FF2B5EF4-FFF2-40B4-BE49-F238E27FC236}">
                <a16:creationId xmlns:a16="http://schemas.microsoft.com/office/drawing/2014/main" id="{27F77403-9685-5E7C-27C4-B4DBF94705C0}"/>
              </a:ext>
            </a:extLst>
          </p:cNvPr>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66/118</a:t>
            </a:r>
          </a:p>
        </p:txBody>
      </p:sp>
      <p:sp>
        <p:nvSpPr>
          <p:cNvPr id="3" name="Rounded Rectangle 49">
            <a:extLst>
              <a:ext uri="{FF2B5EF4-FFF2-40B4-BE49-F238E27FC236}">
                <a16:creationId xmlns:a16="http://schemas.microsoft.com/office/drawing/2014/main" id="{61FE4FAC-B7F3-AD30-5B94-C997111BE8AB}"/>
              </a:ext>
            </a:extLst>
          </p:cNvPr>
          <p:cNvSpPr/>
          <p:nvPr/>
        </p:nvSpPr>
        <p:spPr>
          <a:xfrm>
            <a:off x="472439" y="3429000"/>
            <a:ext cx="11247120" cy="77724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ja-JP" altLang="en-US" sz="3200" b="1">
                <a:solidFill>
                  <a:schemeClr val="tx1"/>
                </a:solidFill>
                <a:latin typeface="+mj-ea"/>
                <a:ea typeface="+mj-ea"/>
              </a:rPr>
              <a:t>末梢血管トーヌスの指標としては</a:t>
            </a:r>
            <a:r>
              <a:rPr lang="en-US" altLang="ja-JP" sz="3200" b="1" dirty="0">
                <a:solidFill>
                  <a:schemeClr val="tx1"/>
                </a:solidFill>
                <a:latin typeface="+mj-ea"/>
                <a:ea typeface="+mj-ea"/>
              </a:rPr>
              <a:t>RI</a:t>
            </a:r>
            <a:r>
              <a:rPr lang="ja-JP" altLang="en-US" sz="3200" b="1">
                <a:solidFill>
                  <a:schemeClr val="tx1"/>
                </a:solidFill>
                <a:latin typeface="+mj-ea"/>
                <a:ea typeface="+mj-ea"/>
              </a:rPr>
              <a:t>が有利。</a:t>
            </a:r>
            <a:endParaRPr sz="3200" b="1" dirty="0">
              <a:solidFill>
                <a:schemeClr val="tx1"/>
              </a:solidFill>
              <a:latin typeface="+mj-ea"/>
              <a:ea typeface="+mj-ea"/>
            </a:endParaRP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4">
            <a:extLst>
              <a:ext uri="{FF2B5EF4-FFF2-40B4-BE49-F238E27FC236}">
                <a16:creationId xmlns:a16="http://schemas.microsoft.com/office/drawing/2014/main" id="{AA9D36CE-3772-F005-B54C-9329ADA7F086}"/>
              </a:ext>
            </a:extLst>
          </p:cNvPr>
          <p:cNvSpPr/>
          <p:nvPr/>
        </p:nvSpPr>
        <p:spPr>
          <a:xfrm>
            <a:off x="953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394285727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583AA6-895A-DE94-FE9D-DE65225C90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49DB9C-CAED-236C-06FC-5283A9213EA6}"/>
              </a:ext>
            </a:extLst>
          </p:cNvPr>
          <p:cNvSpPr>
            <a:spLocks noGrp="1"/>
          </p:cNvSpPr>
          <p:nvPr>
            <p:ph type="title"/>
          </p:nvPr>
        </p:nvSpPr>
        <p:spPr/>
        <p:txBody>
          <a:bodyPr>
            <a:normAutofit/>
          </a:bodyPr>
          <a:lstStyle/>
          <a:p>
            <a:pPr algn="l"/>
            <a:r>
              <a:rPr sz="4600" dirty="0">
                <a:latin typeface="Meiryo"/>
                <a:ea typeface="Meiryo"/>
                <a:cs typeface="Meiryo"/>
              </a:rPr>
              <a:t>3.4  定量化指標まとめ</a:t>
            </a:r>
          </a:p>
        </p:txBody>
      </p:sp>
      <p:sp>
        <p:nvSpPr>
          <p:cNvPr id="540" name="lbg">
            <a:extLst>
              <a:ext uri="{FF2B5EF4-FFF2-40B4-BE49-F238E27FC236}">
                <a16:creationId xmlns:a16="http://schemas.microsoft.com/office/drawing/2014/main" id="{76739A53-E56E-45CC-3F22-5C7909DBDAB3}"/>
              </a:ext>
            </a:extLst>
          </p:cNvPr>
          <p:cNvSpPr/>
          <p:nvPr/>
        </p:nvSpPr>
        <p:spPr>
          <a:xfrm>
            <a:off x="1544025" y="1976839"/>
            <a:ext cx="4284000" cy="2784951"/>
          </a:xfrm>
          <a:prstGeom prst="roundRect">
            <a:avLst>
              <a:gd name="adj" fmla="val 6000"/>
            </a:avLst>
          </a:prstGeom>
          <a:solidFill>
            <a:srgbClr val="EAF0F8"/>
          </a:solidFill>
          <a:ln w="19050">
            <a:solidFill>
              <a:srgbClr val="2E5395"/>
            </a:solidFill>
          </a:ln>
        </p:spPr>
        <p:txBody>
          <a:bodyPr wrap="square" lIns="45720" tIns="27432" rIns="45720" bIns="27432" anchor="ctr">
            <a:normAutofit/>
          </a:bodyPr>
          <a:lstStyle/>
          <a:p>
            <a:pPr algn="ctr"/>
            <a:r>
              <a:rPr lang="ja-JP" altLang="en-US" sz="2000" b="1" dirty="0">
                <a:solidFill>
                  <a:srgbClr val="262626"/>
                </a:solidFill>
                <a:latin typeface="Meiryo"/>
                <a:ea typeface="Meiryo"/>
                <a:cs typeface="Meiryo"/>
              </a:rPr>
              <a:t> </a:t>
            </a:r>
          </a:p>
        </p:txBody>
      </p:sp>
      <p:sp>
        <p:nvSpPr>
          <p:cNvPr id="541" name="ltitle">
            <a:extLst>
              <a:ext uri="{FF2B5EF4-FFF2-40B4-BE49-F238E27FC236}">
                <a16:creationId xmlns:a16="http://schemas.microsoft.com/office/drawing/2014/main" id="{42763D8D-96D8-C2E6-41FC-AA22D953D18C}"/>
              </a:ext>
            </a:extLst>
          </p:cNvPr>
          <p:cNvSpPr txBox="1"/>
          <p:nvPr/>
        </p:nvSpPr>
        <p:spPr>
          <a:xfrm>
            <a:off x="1715018" y="2311605"/>
            <a:ext cx="3942015" cy="357746"/>
          </a:xfrm>
          <a:prstGeom prst="rect">
            <a:avLst/>
          </a:prstGeom>
          <a:noFill/>
        </p:spPr>
        <p:txBody>
          <a:bodyPr wrap="square" lIns="0" tIns="0" rIns="0" bIns="0" anchor="t">
            <a:noAutofit/>
          </a:bodyPr>
          <a:lstStyle/>
          <a:p>
            <a:pPr algn="ctr"/>
            <a:r>
              <a:rPr lang="ja-JP" altLang="en-US" sz="2400" b="1" dirty="0">
                <a:solidFill>
                  <a:srgbClr val="2E5395"/>
                </a:solidFill>
                <a:latin typeface="Meiryo"/>
                <a:ea typeface="Meiryo"/>
                <a:cs typeface="Meiryo"/>
              </a:rPr>
              <a:t>慢性</a:t>
            </a:r>
            <a:r>
              <a:rPr lang="ja-JP" altLang="en-US" sz="2400" b="1">
                <a:solidFill>
                  <a:srgbClr val="2E5395"/>
                </a:solidFill>
                <a:latin typeface="Meiryo"/>
                <a:ea typeface="Meiryo"/>
                <a:cs typeface="Meiryo"/>
              </a:rPr>
              <a:t>変化＝スティフネス軸</a:t>
            </a:r>
            <a:endParaRPr lang="ja-JP" altLang="en-US" sz="2400" b="1" dirty="0">
              <a:solidFill>
                <a:srgbClr val="2E5395"/>
              </a:solidFill>
              <a:latin typeface="Meiryo"/>
              <a:ea typeface="Meiryo"/>
              <a:cs typeface="Meiryo"/>
            </a:endParaRPr>
          </a:p>
        </p:txBody>
      </p:sp>
      <p:sp>
        <p:nvSpPr>
          <p:cNvPr id="543" name="lbul">
            <a:extLst>
              <a:ext uri="{FF2B5EF4-FFF2-40B4-BE49-F238E27FC236}">
                <a16:creationId xmlns:a16="http://schemas.microsoft.com/office/drawing/2014/main" id="{58737256-E75F-EF1C-057C-9C815B422AEE}"/>
              </a:ext>
            </a:extLst>
          </p:cNvPr>
          <p:cNvSpPr txBox="1"/>
          <p:nvPr/>
        </p:nvSpPr>
        <p:spPr>
          <a:xfrm>
            <a:off x="1972106" y="3102386"/>
            <a:ext cx="3427839" cy="1422000"/>
          </a:xfrm>
          <a:prstGeom prst="rect">
            <a:avLst/>
          </a:prstGeom>
          <a:noFill/>
        </p:spPr>
        <p:txBody>
          <a:bodyPr wrap="square" lIns="0" tIns="0" rIns="0" bIns="0" anchor="t">
            <a:noAutofit/>
          </a:bodyPr>
          <a:lstStyle/>
          <a:p>
            <a:pPr algn="l"/>
            <a:r>
              <a:rPr lang="ja-JP" altLang="en-US" sz="2000" b="1">
                <a:solidFill>
                  <a:srgbClr val="262626"/>
                </a:solidFill>
                <a:latin typeface="Meiryo"/>
                <a:ea typeface="Meiryo"/>
                <a:cs typeface="Meiryo"/>
              </a:rPr>
              <a:t>・切痕の平滑さ</a:t>
            </a:r>
            <a:endParaRPr lang="en-US" altLang="ja-JP" sz="2000" b="1" dirty="0">
              <a:solidFill>
                <a:srgbClr val="262626"/>
              </a:solidFill>
              <a:latin typeface="Meiryo"/>
              <a:ea typeface="Meiryo"/>
              <a:cs typeface="Meiryo"/>
            </a:endParaRPr>
          </a:p>
          <a:p>
            <a:pPr algn="l"/>
            <a:endParaRPr lang="en-US" altLang="ja-JP" sz="2000" b="1" dirty="0">
              <a:solidFill>
                <a:srgbClr val="262626"/>
              </a:solidFill>
              <a:latin typeface="Meiryo"/>
              <a:ea typeface="Meiryo"/>
              <a:cs typeface="Meiryo"/>
            </a:endParaRPr>
          </a:p>
          <a:p>
            <a:pPr algn="l"/>
            <a:r>
              <a:rPr lang="ja-JP" altLang="en-US" sz="2000" b="1">
                <a:solidFill>
                  <a:srgbClr val="262626"/>
                </a:solidFill>
                <a:latin typeface="Meiryo"/>
                <a:ea typeface="Meiryo"/>
                <a:cs typeface="Meiryo"/>
              </a:rPr>
              <a:t>・SI</a:t>
            </a:r>
            <a:br>
              <a:rPr lang="ja-JP" altLang="en-US" sz="2000" b="1">
                <a:solidFill>
                  <a:srgbClr val="262626"/>
                </a:solidFill>
                <a:latin typeface="Meiryo"/>
                <a:ea typeface="Meiryo"/>
                <a:cs typeface="Meiryo"/>
              </a:rPr>
            </a:br>
            <a:br>
              <a:rPr lang="ja-JP" altLang="en-US" sz="2000" b="1" dirty="0">
                <a:solidFill>
                  <a:srgbClr val="262626"/>
                </a:solidFill>
                <a:latin typeface="Meiryo"/>
                <a:ea typeface="Meiryo"/>
                <a:cs typeface="Meiryo"/>
              </a:rPr>
            </a:br>
            <a:r>
              <a:rPr lang="ja-JP" altLang="en-US" sz="2000" b="1" dirty="0">
                <a:solidFill>
                  <a:srgbClr val="262626"/>
                </a:solidFill>
                <a:latin typeface="Meiryo"/>
                <a:ea typeface="Meiryo"/>
                <a:cs typeface="Meiryo"/>
              </a:rPr>
              <a:t>・SDPPG 加齢指数 AGI</a:t>
            </a:r>
          </a:p>
        </p:txBody>
      </p:sp>
      <p:sp>
        <p:nvSpPr>
          <p:cNvPr id="544" name="rbg">
            <a:extLst>
              <a:ext uri="{FF2B5EF4-FFF2-40B4-BE49-F238E27FC236}">
                <a16:creationId xmlns:a16="http://schemas.microsoft.com/office/drawing/2014/main" id="{14F6B24A-8BEA-9492-6857-9FC82B9DAD79}"/>
              </a:ext>
            </a:extLst>
          </p:cNvPr>
          <p:cNvSpPr/>
          <p:nvPr/>
        </p:nvSpPr>
        <p:spPr>
          <a:xfrm>
            <a:off x="6339971" y="1976839"/>
            <a:ext cx="4284000" cy="2784951"/>
          </a:xfrm>
          <a:prstGeom prst="roundRect">
            <a:avLst>
              <a:gd name="adj" fmla="val 6000"/>
            </a:avLst>
          </a:prstGeom>
          <a:solidFill>
            <a:srgbClr val="FDF0E6"/>
          </a:solidFill>
          <a:ln w="19050">
            <a:solidFill>
              <a:srgbClr val="C55A11"/>
            </a:solidFill>
          </a:ln>
        </p:spPr>
        <p:txBody>
          <a:bodyPr wrap="square" lIns="45720" tIns="27432" rIns="45720" bIns="27432" anchor="ctr">
            <a:normAutofit/>
          </a:bodyPr>
          <a:lstStyle/>
          <a:p>
            <a:pPr algn="ctr"/>
            <a:r>
              <a:rPr lang="ja-JP" altLang="en-US" sz="2000" b="1" dirty="0">
                <a:solidFill>
                  <a:srgbClr val="262626"/>
                </a:solidFill>
                <a:latin typeface="Meiryo"/>
                <a:ea typeface="Meiryo"/>
                <a:cs typeface="Meiryo"/>
              </a:rPr>
              <a:t> </a:t>
            </a:r>
          </a:p>
        </p:txBody>
      </p:sp>
      <p:sp>
        <p:nvSpPr>
          <p:cNvPr id="545" name="rtitle">
            <a:extLst>
              <a:ext uri="{FF2B5EF4-FFF2-40B4-BE49-F238E27FC236}">
                <a16:creationId xmlns:a16="http://schemas.microsoft.com/office/drawing/2014/main" id="{777326C6-04E1-8C1C-9B02-14BFBD5F1F72}"/>
              </a:ext>
            </a:extLst>
          </p:cNvPr>
          <p:cNvSpPr txBox="1"/>
          <p:nvPr/>
        </p:nvSpPr>
        <p:spPr>
          <a:xfrm>
            <a:off x="6510964" y="2311605"/>
            <a:ext cx="3942015" cy="357746"/>
          </a:xfrm>
          <a:prstGeom prst="rect">
            <a:avLst/>
          </a:prstGeom>
          <a:noFill/>
        </p:spPr>
        <p:txBody>
          <a:bodyPr wrap="square" lIns="0" tIns="0" rIns="0" bIns="0" anchor="t">
            <a:normAutofit lnSpcReduction="10000"/>
          </a:bodyPr>
          <a:lstStyle/>
          <a:p>
            <a:pPr algn="ctr"/>
            <a:r>
              <a:rPr lang="ja-JP" altLang="en-US" sz="2400" b="1" dirty="0">
                <a:solidFill>
                  <a:srgbClr val="C55A11"/>
                </a:solidFill>
                <a:latin typeface="Meiryo"/>
                <a:ea typeface="Meiryo"/>
                <a:cs typeface="Meiryo"/>
              </a:rPr>
              <a:t>急性変化＝血管トーヌス軸</a:t>
            </a:r>
          </a:p>
        </p:txBody>
      </p:sp>
      <p:sp>
        <p:nvSpPr>
          <p:cNvPr id="547" name="rbul">
            <a:extLst>
              <a:ext uri="{FF2B5EF4-FFF2-40B4-BE49-F238E27FC236}">
                <a16:creationId xmlns:a16="http://schemas.microsoft.com/office/drawing/2014/main" id="{E870DC5E-CBA4-5443-94C2-1875EAFFE0E8}"/>
              </a:ext>
            </a:extLst>
          </p:cNvPr>
          <p:cNvSpPr txBox="1"/>
          <p:nvPr/>
        </p:nvSpPr>
        <p:spPr>
          <a:xfrm>
            <a:off x="6768052" y="3102386"/>
            <a:ext cx="3427839" cy="1878165"/>
          </a:xfrm>
          <a:prstGeom prst="rect">
            <a:avLst/>
          </a:prstGeom>
          <a:noFill/>
        </p:spPr>
        <p:txBody>
          <a:bodyPr wrap="square" lIns="0" tIns="0" rIns="0" bIns="0" anchor="t">
            <a:normAutofit/>
          </a:bodyPr>
          <a:lstStyle/>
          <a:p>
            <a:pPr algn="l"/>
            <a:r>
              <a:rPr lang="ja-JP" altLang="en-US" sz="2000" b="1" dirty="0">
                <a:solidFill>
                  <a:srgbClr val="262626"/>
                </a:solidFill>
                <a:latin typeface="Meiryo"/>
                <a:ea typeface="Meiryo"/>
                <a:cs typeface="Meiryo"/>
              </a:rPr>
              <a:t>・切痕</a:t>
            </a:r>
            <a:r>
              <a:rPr lang="ja-JP" altLang="en-US" sz="2000" b="1">
                <a:solidFill>
                  <a:srgbClr val="262626"/>
                </a:solidFill>
                <a:latin typeface="Meiryo"/>
                <a:ea typeface="Meiryo"/>
                <a:cs typeface="Meiryo"/>
              </a:rPr>
              <a:t>の位置、反射波高さ</a:t>
            </a:r>
            <a:endParaRPr lang="en-US" altLang="ja-JP" sz="2000" b="1" dirty="0">
              <a:solidFill>
                <a:srgbClr val="262626"/>
              </a:solidFill>
              <a:latin typeface="Meiryo"/>
              <a:ea typeface="Meiryo"/>
              <a:cs typeface="Meiryo"/>
            </a:endParaRPr>
          </a:p>
          <a:p>
            <a:pPr algn="l"/>
            <a:endParaRPr lang="en-US" altLang="ja-JP" sz="2000" b="1" dirty="0">
              <a:solidFill>
                <a:srgbClr val="262626"/>
              </a:solidFill>
              <a:latin typeface="Meiryo"/>
              <a:ea typeface="Meiryo"/>
              <a:cs typeface="Meiryo"/>
            </a:endParaRPr>
          </a:p>
          <a:p>
            <a:r>
              <a:rPr lang="ja-JP" altLang="en-US" sz="2000" b="1">
                <a:solidFill>
                  <a:srgbClr val="262626"/>
                </a:solidFill>
                <a:latin typeface="Meiryo"/>
                <a:ea typeface="Meiryo"/>
                <a:cs typeface="Meiryo"/>
              </a:rPr>
              <a:t>・RI</a:t>
            </a:r>
            <a:br>
              <a:rPr lang="ja-JP" altLang="en-US" sz="2000" b="1" dirty="0">
                <a:solidFill>
                  <a:srgbClr val="262626"/>
                </a:solidFill>
                <a:latin typeface="Meiryo"/>
                <a:ea typeface="Meiryo"/>
                <a:cs typeface="Meiryo"/>
              </a:rPr>
            </a:br>
            <a:br>
              <a:rPr lang="ja-JP" altLang="en-US" sz="2000" b="1" dirty="0">
                <a:solidFill>
                  <a:srgbClr val="262626"/>
                </a:solidFill>
                <a:latin typeface="Meiryo"/>
                <a:ea typeface="Meiryo"/>
                <a:cs typeface="Meiryo"/>
              </a:rPr>
            </a:br>
            <a:r>
              <a:rPr lang="ja-JP" altLang="en-US" sz="2000" b="1" dirty="0">
                <a:solidFill>
                  <a:srgbClr val="262626"/>
                </a:solidFill>
                <a:latin typeface="Meiryo"/>
                <a:ea typeface="Meiryo"/>
                <a:cs typeface="Meiryo"/>
              </a:rPr>
              <a:t>・SDPPG の d</a:t>
            </a:r>
            <a:r>
              <a:rPr lang="ja-JP" altLang="en-US" sz="2000" b="1">
                <a:solidFill>
                  <a:srgbClr val="262626"/>
                </a:solidFill>
                <a:latin typeface="Meiryo"/>
                <a:ea typeface="Meiryo"/>
                <a:cs typeface="Meiryo"/>
              </a:rPr>
              <a:t>/a</a:t>
            </a:r>
            <a:endParaRPr lang="en-US" altLang="ja-JP" sz="2000" b="1" dirty="0">
              <a:solidFill>
                <a:srgbClr val="262626"/>
              </a:solidFill>
              <a:latin typeface="Meiryo"/>
              <a:ea typeface="Meiryo"/>
              <a:cs typeface="Meiryo"/>
            </a:endParaRPr>
          </a:p>
          <a:p>
            <a:pPr algn="l"/>
            <a:endParaRPr lang="ja-JP" altLang="en-US" sz="2000" b="1" dirty="0">
              <a:solidFill>
                <a:srgbClr val="262626"/>
              </a:solidFill>
              <a:latin typeface="Meiryo"/>
              <a:ea typeface="Meiryo"/>
              <a:cs typeface="Meiryo"/>
            </a:endParaRPr>
          </a:p>
        </p:txBody>
      </p:sp>
      <p:sp>
        <p:nvSpPr>
          <p:cNvPr id="54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　／　24. Takazawa 1998　／　31. Joachim 2021　／　32. Padilla 2009</a:t>
            </a:r>
          </a:p>
        </p:txBody>
      </p:sp>
      <p:sp>
        <p:nvSpPr>
          <p:cNvPr id="55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67/118</a:t>
            </a:r>
          </a:p>
        </p:txBody>
      </p:sp>
      <p:sp>
        <p:nvSpPr>
          <p:cNvPr id="3" name="Rounded Rectangle 49">
            <a:extLst>
              <a:ext uri="{FF2B5EF4-FFF2-40B4-BE49-F238E27FC236}">
                <a16:creationId xmlns:a16="http://schemas.microsoft.com/office/drawing/2014/main" id="{6E083A77-EEA4-2709-889E-EE5C149EAB1E}"/>
              </a:ext>
            </a:extLst>
          </p:cNvPr>
          <p:cNvSpPr/>
          <p:nvPr/>
        </p:nvSpPr>
        <p:spPr>
          <a:xfrm>
            <a:off x="1544025" y="5266702"/>
            <a:ext cx="9079947" cy="66380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r>
              <a:rPr lang="en-US" sz="2400" b="1" dirty="0" err="1">
                <a:solidFill>
                  <a:schemeClr val="tx1"/>
                </a:solidFill>
                <a:latin typeface="Meiryo" panose="020B0604030504040204" pitchFamily="34" charset="-128"/>
                <a:ea typeface="Meiryo" panose="020B0604030504040204" pitchFamily="34" charset="-128"/>
              </a:rPr>
              <a:t>波形が明瞭でSDPPGが不要なら、SDPPG関連指標</a:t>
            </a:r>
            <a:r>
              <a:rPr lang="en-US" sz="2400" b="1" dirty="0">
                <a:solidFill>
                  <a:schemeClr val="tx1"/>
                </a:solidFill>
                <a:latin typeface="Meiryo" panose="020B0604030504040204" pitchFamily="34" charset="-128"/>
                <a:ea typeface="Meiryo" panose="020B0604030504040204" pitchFamily="34" charset="-128"/>
              </a:rPr>
              <a:t> &lt; SI、RI</a:t>
            </a:r>
            <a:endParaRPr sz="2400" b="1" dirty="0">
              <a:solidFill>
                <a:schemeClr val="tx1"/>
              </a:solidFill>
              <a:latin typeface="Meiryo" panose="020B0604030504040204" pitchFamily="34" charset="-128"/>
              <a:ea typeface="Meiryo" panose="020B0604030504040204" pitchFamily="34" charset="-128"/>
            </a:endParaRPr>
          </a:p>
        </p:txBody>
      </p:sp>
      <p:sp>
        <p:nvSpPr>
          <p:cNvPr id="55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55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553" name="Off-page Connector 4">
            <a:extLst>
              <a:ext uri="{FF2B5EF4-FFF2-40B4-BE49-F238E27FC236}">
                <a16:creationId xmlns:a16="http://schemas.microsoft.com/office/drawing/2014/main" id="{AA9D36CE-3772-F005-B54C-9329ADA7F086}"/>
              </a:ext>
            </a:extLst>
          </p:cNvPr>
          <p:cNvSpPr/>
          <p:nvPr/>
        </p:nvSpPr>
        <p:spPr>
          <a:xfrm>
            <a:off x="953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55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55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55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161074985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4. </a:t>
            </a:r>
            <a:r>
              <a:rPr lang="ja-JP" altLang="en-US" sz="4600">
                <a:latin typeface="Meiryo"/>
                <a:ea typeface="Meiryo"/>
                <a:cs typeface="Meiryo"/>
              </a:rPr>
              <a:t>限界</a:t>
            </a:r>
            <a:endParaRPr sz="4600" dirty="0">
              <a:latin typeface="Meiryo"/>
              <a:ea typeface="Meiryo"/>
              <a:cs typeface="Meiryo"/>
            </a:endParaRPr>
          </a:p>
        </p:txBody>
      </p:sp>
      <p:sp>
        <p:nvSpPr>
          <p:cNvPr id="8" name="TextBox 7"/>
          <p:cNvSpPr txBox="1"/>
          <p:nvPr/>
        </p:nvSpPr>
        <p:spPr>
          <a:xfrm>
            <a:off x="822960" y="1536192"/>
            <a:ext cx="5029200" cy="4956048"/>
          </a:xfrm>
          <a:prstGeom prst="rect">
            <a:avLst/>
          </a:prstGeom>
          <a:noFill/>
        </p:spPr>
        <p:txBody>
          <a:bodyPr wrap="square" lIns="0" tIns="0" rIns="0" bIns="0" anchor="t">
            <a:spAutoFit/>
          </a:bodyPr>
          <a:lstStyle/>
          <a:p>
            <a:pPr>
              <a:lnSpc>
                <a:spcPct val="145000"/>
              </a:lnSpc>
            </a:pPr>
            <a:r>
              <a:rPr sz="3200" b="1">
                <a:solidFill>
                  <a:srgbClr val="D9D9D9"/>
                </a:solidFill>
                <a:latin typeface="Meiryo"/>
                <a:ea typeface="Meiryo"/>
                <a:cs typeface="Meiryo"/>
              </a:rPr>
              <a:t>1. </a:t>
            </a:r>
            <a:r>
              <a:rPr sz="3200" b="0">
                <a:solidFill>
                  <a:srgbClr val="D9D9D9"/>
                </a:solidFill>
                <a:latin typeface="Meiryo"/>
                <a:ea typeface="Meiryo"/>
                <a:cs typeface="Meiryo"/>
              </a:rPr>
              <a:t>PPGの基礎</a:t>
            </a:r>
          </a:p>
          <a:p>
            <a:pPr>
              <a:lnSpc>
                <a:spcPct val="145000"/>
              </a:lnSpc>
            </a:pPr>
            <a:r>
              <a:rPr sz="3200" b="1">
                <a:solidFill>
                  <a:srgbClr val="D9D9D9"/>
                </a:solidFill>
                <a:latin typeface="Meiryo"/>
                <a:ea typeface="Meiryo"/>
                <a:cs typeface="Meiryo"/>
              </a:rPr>
              <a:t>2. </a:t>
            </a:r>
            <a:r>
              <a:rPr sz="3200" b="0">
                <a:solidFill>
                  <a:srgbClr val="D9D9D9"/>
                </a:solidFill>
                <a:latin typeface="Meiryo"/>
                <a:ea typeface="Meiryo"/>
                <a:cs typeface="Meiryo"/>
              </a:rPr>
              <a:t>波形への影響</a:t>
            </a:r>
          </a:p>
          <a:p>
            <a:pPr>
              <a:lnSpc>
                <a:spcPct val="145000"/>
              </a:lnSpc>
            </a:pPr>
            <a:r>
              <a:rPr sz="3200" b="1">
                <a:solidFill>
                  <a:srgbClr val="D9D9D9"/>
                </a:solidFill>
                <a:latin typeface="Meiryo"/>
                <a:ea typeface="Meiryo"/>
                <a:cs typeface="Meiryo"/>
              </a:rPr>
              <a:t>3. </a:t>
            </a:r>
            <a:r>
              <a:rPr sz="3200" b="0">
                <a:solidFill>
                  <a:srgbClr val="D9D9D9"/>
                </a:solidFill>
                <a:latin typeface="Meiryo"/>
                <a:ea typeface="Meiryo"/>
                <a:cs typeface="Meiryo"/>
              </a:rPr>
              <a:t>波形の定量化</a:t>
            </a:r>
          </a:p>
          <a:p>
            <a:pPr>
              <a:lnSpc>
                <a:spcPct val="145000"/>
              </a:lnSpc>
            </a:pPr>
            <a:r>
              <a:rPr sz="3200" b="1">
                <a:solidFill>
                  <a:srgbClr val="BF9000"/>
                </a:solidFill>
                <a:latin typeface="Meiryo"/>
                <a:ea typeface="Meiryo"/>
                <a:cs typeface="Meiryo"/>
              </a:rPr>
              <a:t>4. </a:t>
            </a:r>
            <a:r>
              <a:rPr sz="3200" b="1">
                <a:solidFill>
                  <a:srgbClr val="262626"/>
                </a:solidFill>
                <a:latin typeface="Meiryo"/>
                <a:ea typeface="Meiryo"/>
                <a:cs typeface="Meiryo"/>
              </a:rPr>
              <a:t>限界</a:t>
            </a:r>
          </a:p>
          <a:p>
            <a:pPr>
              <a:lnSpc>
                <a:spcPct val="145000"/>
              </a:lnSpc>
            </a:pPr>
            <a:r>
              <a:rPr sz="3200" b="1">
                <a:solidFill>
                  <a:srgbClr val="D9D9D9"/>
                </a:solidFill>
                <a:latin typeface="Meiryo"/>
                <a:ea typeface="Meiryo"/>
                <a:cs typeface="Meiryo"/>
              </a:rPr>
              <a:t>5. </a:t>
            </a:r>
            <a:r>
              <a:rPr sz="3200" b="0">
                <a:solidFill>
                  <a:srgbClr val="D9D9D9"/>
                </a:solidFill>
                <a:latin typeface="Meiryo"/>
                <a:ea typeface="Meiryo"/>
                <a:cs typeface="Meiryo"/>
              </a:rPr>
              <a:t>PDA（波形分解）</a:t>
            </a:r>
          </a:p>
          <a:p>
            <a:pPr>
              <a:lnSpc>
                <a:spcPct val="145000"/>
              </a:lnSpc>
            </a:pPr>
            <a:r>
              <a:rPr sz="3200" b="0">
                <a:solidFill>
                  <a:srgbClr val="D9D9D9"/>
                </a:solidFill>
                <a:latin typeface="Meiryo"/>
                <a:ea typeface="Meiryo"/>
                <a:cs typeface="Meiryo"/>
              </a:rPr>
              <a:t>6. 提案</a:t>
            </a:r>
          </a:p>
        </p:txBody>
      </p:sp>
      <p:sp>
        <p:nvSpPr>
          <p:cNvPr id="18" name="SubToc"/>
          <p:cNvSpPr txBox="1"/>
          <p:nvPr/>
        </p:nvSpPr>
        <p:spPr>
          <a:xfrm>
            <a:off x="6309360" y="1536192"/>
            <a:ext cx="5394960" cy="4956048"/>
          </a:xfrm>
          <a:prstGeom prst="rect">
            <a:avLst/>
          </a:prstGeom>
          <a:noFill/>
        </p:spPr>
        <p:txBody>
          <a:bodyPr wrap="square" anchor="t">
            <a:spAutoFit/>
          </a:bodyPr>
          <a:lstStyle/>
          <a:p>
            <a:pPr>
              <a:lnSpc>
                <a:spcPct val="145000"/>
              </a:lnSpc>
            </a:pPr>
            <a:r>
              <a:rPr sz="2900" b="1">
                <a:solidFill>
                  <a:srgbClr val="BF9000"/>
                </a:solidFill>
                <a:latin typeface="Meiryo"/>
                <a:ea typeface="Meiryo"/>
                <a:cs typeface="Meiryo"/>
              </a:rPr>
              <a:t>4.1 </a:t>
            </a:r>
            <a:r>
              <a:rPr sz="2900" b="0">
                <a:solidFill>
                  <a:srgbClr val="262626"/>
                </a:solidFill>
                <a:latin typeface="Meiryo"/>
                <a:ea typeface="Meiryo"/>
                <a:cs typeface="Meiryo"/>
              </a:rPr>
              <a:t>自動解析の壁</a:t>
            </a:r>
          </a:p>
          <a:p>
            <a:pPr>
              <a:lnSpc>
                <a:spcPct val="145000"/>
              </a:lnSpc>
            </a:pPr>
            <a:r>
              <a:rPr sz="2900" b="1">
                <a:solidFill>
                  <a:srgbClr val="BF9000"/>
                </a:solidFill>
                <a:latin typeface="Meiryo"/>
                <a:ea typeface="Meiryo"/>
                <a:cs typeface="Meiryo"/>
              </a:rPr>
              <a:t>4.2 </a:t>
            </a:r>
            <a:r>
              <a:rPr sz="2900" b="0">
                <a:solidFill>
                  <a:srgbClr val="262626"/>
                </a:solidFill>
                <a:latin typeface="Meiryo"/>
                <a:ea typeface="Meiryo"/>
                <a:cs typeface="Meiryo"/>
              </a:rPr>
              <a:t>極端な動脈硬化</a:t>
            </a:r>
          </a:p>
          <a:p>
            <a:pPr>
              <a:lnSpc>
                <a:spcPct val="145000"/>
              </a:lnSpc>
            </a:pPr>
            <a:r>
              <a:rPr sz="2900" b="1">
                <a:solidFill>
                  <a:srgbClr val="BF9000"/>
                </a:solidFill>
                <a:latin typeface="Meiryo"/>
                <a:ea typeface="Meiryo"/>
                <a:cs typeface="Meiryo"/>
              </a:rPr>
              <a:t>4.3 </a:t>
            </a:r>
            <a:r>
              <a:rPr sz="2900" b="0">
                <a:solidFill>
                  <a:srgbClr val="262626"/>
                </a:solidFill>
                <a:latin typeface="Meiryo"/>
                <a:ea typeface="Meiryo"/>
                <a:cs typeface="Meiryo"/>
              </a:rPr>
              <a:t>DN-less 信号対策</a:t>
            </a:r>
          </a:p>
        </p:txBody>
      </p:sp>
      <p:sp>
        <p:nvSpPr>
          <p:cNvPr id="1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68/118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4">
            <a:extLst>
              <a:ext uri="{FF2B5EF4-FFF2-40B4-BE49-F238E27FC236}">
                <a16:creationId xmlns:a16="http://schemas.microsoft.com/office/drawing/2014/main" id="{AA9D36CE-3772-F005-B54C-9329ADA7F086}"/>
              </a:ext>
            </a:extLst>
          </p:cNvPr>
          <p:cNvSpPr/>
          <p:nvPr/>
        </p:nvSpPr>
        <p:spPr>
          <a:xfrm>
            <a:off x="1019448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4</a:t>
            </a:r>
          </a:p>
          <a:p>
            <a:pPr algn="ctr"/>
            <a:r>
              <a:rPr sz="1050" b="1">
                <a:solidFill>
                  <a:srgbClr val="FFFFFF"/>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0D6C15-23C4-BD4E-E66A-1DC1D80A41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6A4334-8DAE-BA3C-4523-DCD4DEC351D4}"/>
              </a:ext>
            </a:extLst>
          </p:cNvPr>
          <p:cNvSpPr>
            <a:spLocks noGrp="1"/>
          </p:cNvSpPr>
          <p:nvPr>
            <p:ph type="title"/>
          </p:nvPr>
        </p:nvSpPr>
        <p:spPr/>
        <p:txBody>
          <a:bodyPr/>
          <a:lstStyle/>
          <a:p>
            <a:pPr algn="l"/>
            <a:r>
              <a:rPr sz="4600" dirty="0">
                <a:latin typeface="Meiryo"/>
                <a:ea typeface="Meiryo"/>
                <a:cs typeface="Meiryo"/>
              </a:rPr>
              <a:t>4.1  </a:t>
            </a:r>
            <a:r>
              <a:rPr lang="ja-JP" altLang="en-US" sz="4600">
                <a:latin typeface="Meiryo"/>
                <a:ea typeface="Meiryo"/>
                <a:cs typeface="Meiryo"/>
              </a:rPr>
              <a:t>波形変化をどう読むか</a:t>
            </a:r>
            <a:endParaRPr sz="4600" dirty="0">
              <a:latin typeface="Meiryo"/>
              <a:ea typeface="Meiryo"/>
              <a:cs typeface="Meiryo"/>
            </a:endParaRPr>
          </a:p>
        </p:txBody>
      </p:sp>
      <p:pic>
        <p:nvPicPr>
          <p:cNvPr id="19" name="fig_limits" descr="f71_limits.png">
            <a:extLst>
              <a:ext uri="{FF2B5EF4-FFF2-40B4-BE49-F238E27FC236}">
                <a16:creationId xmlns:a16="http://schemas.microsoft.com/office/drawing/2014/main" id="{2A8D1226-42DB-1E04-3CF2-8FF29C19A532}"/>
              </a:ext>
            </a:extLst>
          </p:cNvPr>
          <p:cNvPicPr>
            <a:picLocks noChangeAspect="1"/>
          </p:cNvPicPr>
          <p:nvPr/>
        </p:nvPicPr>
        <p:blipFill>
          <a:blip r:embed="rId3"/>
          <a:srcRect l="25000"/>
          <a:stretch>
            <a:fillRect/>
          </a:stretch>
        </p:blipFill>
        <p:spPr>
          <a:xfrm>
            <a:off x="2181000" y="2609344"/>
            <a:ext cx="7830000" cy="2141279"/>
          </a:xfrm>
          <a:prstGeom prst="rect">
            <a:avLst/>
          </a:prstGeom>
        </p:spPr>
      </p:pic>
      <p:sp>
        <p:nvSpPr>
          <p:cNvPr id="22" name="TextBox 21">
            <a:extLst>
              <a:ext uri="{FF2B5EF4-FFF2-40B4-BE49-F238E27FC236}">
                <a16:creationId xmlns:a16="http://schemas.microsoft.com/office/drawing/2014/main" id="{7F0E3FF0-A5A9-BEFB-E4AA-D1ED4B0D1F01}"/>
              </a:ext>
            </a:extLst>
          </p:cNvPr>
          <p:cNvSpPr txBox="1"/>
          <p:nvPr/>
        </p:nvSpPr>
        <p:spPr>
          <a:xfrm>
            <a:off x="2181000" y="2177344"/>
            <a:ext cx="2610000" cy="378000"/>
          </a:xfrm>
          <a:prstGeom prst="rect">
            <a:avLst/>
          </a:prstGeom>
          <a:noFill/>
        </p:spPr>
        <p:txBody>
          <a:bodyPr wrap="none" lIns="0" tIns="0" rIns="0" bIns="0" anchor="ctr">
            <a:spAutoFit/>
          </a:bodyPr>
          <a:lstStyle/>
          <a:p>
            <a:pPr algn="ctr">
              <a:spcBef>
                <a:spcPts val="0"/>
              </a:spcBef>
              <a:spcAft>
                <a:spcPts val="0"/>
              </a:spcAft>
            </a:pPr>
            <a:r>
              <a:rPr sz="2200" b="1">
                <a:solidFill>
                  <a:srgbClr val="262626"/>
                </a:solidFill>
                <a:latin typeface="Meiryo"/>
                <a:ea typeface="Meiryo"/>
                <a:cs typeface="Meiryo"/>
              </a:rPr>
              <a:t>反射波が1つ</a:t>
            </a:r>
          </a:p>
        </p:txBody>
      </p:sp>
      <p:sp>
        <p:nvSpPr>
          <p:cNvPr id="23" name="TextBox 22">
            <a:extLst>
              <a:ext uri="{FF2B5EF4-FFF2-40B4-BE49-F238E27FC236}">
                <a16:creationId xmlns:a16="http://schemas.microsoft.com/office/drawing/2014/main" id="{01D2691A-6B02-A091-89AA-5E8946CA9A58}"/>
              </a:ext>
            </a:extLst>
          </p:cNvPr>
          <p:cNvSpPr txBox="1"/>
          <p:nvPr/>
        </p:nvSpPr>
        <p:spPr>
          <a:xfrm>
            <a:off x="2181000" y="4877344"/>
            <a:ext cx="2610000" cy="378000"/>
          </a:xfrm>
          <a:prstGeom prst="rect">
            <a:avLst/>
          </a:prstGeom>
          <a:noFill/>
        </p:spPr>
        <p:txBody>
          <a:bodyPr wrap="none" lIns="0" tIns="0" rIns="0" bIns="0" anchor="ctr">
            <a:spAutoFit/>
          </a:bodyPr>
          <a:lstStyle/>
          <a:p>
            <a:pPr algn="ctr">
              <a:spcBef>
                <a:spcPts val="0"/>
              </a:spcBef>
              <a:spcAft>
                <a:spcPts val="0"/>
              </a:spcAft>
            </a:pPr>
            <a:r>
              <a:rPr sz="2200" b="1">
                <a:solidFill>
                  <a:srgbClr val="262626"/>
                </a:solidFill>
                <a:latin typeface="Meiryo"/>
                <a:ea typeface="Meiryo"/>
                <a:cs typeface="Meiryo"/>
              </a:rPr>
              <a:t>P2 は明瞭</a:t>
            </a:r>
          </a:p>
        </p:txBody>
      </p:sp>
      <p:sp>
        <p:nvSpPr>
          <p:cNvPr id="24" name="TextBox 23">
            <a:extLst>
              <a:ext uri="{FF2B5EF4-FFF2-40B4-BE49-F238E27FC236}">
                <a16:creationId xmlns:a16="http://schemas.microsoft.com/office/drawing/2014/main" id="{FCFEC670-65AF-78E3-0016-B6DDEC18C0EC}"/>
              </a:ext>
            </a:extLst>
          </p:cNvPr>
          <p:cNvSpPr txBox="1"/>
          <p:nvPr/>
        </p:nvSpPr>
        <p:spPr>
          <a:xfrm>
            <a:off x="4790999" y="2177344"/>
            <a:ext cx="2610000" cy="378000"/>
          </a:xfrm>
          <a:prstGeom prst="rect">
            <a:avLst/>
          </a:prstGeom>
          <a:noFill/>
        </p:spPr>
        <p:txBody>
          <a:bodyPr wrap="none" lIns="0" tIns="0" rIns="0" bIns="0" anchor="ctr">
            <a:spAutoFit/>
          </a:bodyPr>
          <a:lstStyle/>
          <a:p>
            <a:pPr algn="ctr">
              <a:spcBef>
                <a:spcPts val="0"/>
              </a:spcBef>
              <a:spcAft>
                <a:spcPts val="0"/>
              </a:spcAft>
            </a:pPr>
            <a:r>
              <a:rPr sz="2200" b="1">
                <a:solidFill>
                  <a:srgbClr val="262626"/>
                </a:solidFill>
                <a:latin typeface="Meiryo"/>
                <a:ea typeface="Meiryo"/>
                <a:cs typeface="Meiryo"/>
              </a:rPr>
              <a:t>収縮期に融合</a:t>
            </a:r>
          </a:p>
        </p:txBody>
      </p:sp>
      <p:sp>
        <p:nvSpPr>
          <p:cNvPr id="25" name="TextBox 24">
            <a:extLst>
              <a:ext uri="{FF2B5EF4-FFF2-40B4-BE49-F238E27FC236}">
                <a16:creationId xmlns:a16="http://schemas.microsoft.com/office/drawing/2014/main" id="{158CB105-4408-4119-290B-82762F865895}"/>
              </a:ext>
            </a:extLst>
          </p:cNvPr>
          <p:cNvSpPr txBox="1"/>
          <p:nvPr/>
        </p:nvSpPr>
        <p:spPr>
          <a:xfrm>
            <a:off x="4790999" y="4877344"/>
            <a:ext cx="2610000" cy="378000"/>
          </a:xfrm>
          <a:prstGeom prst="rect">
            <a:avLst/>
          </a:prstGeom>
          <a:noFill/>
        </p:spPr>
        <p:txBody>
          <a:bodyPr wrap="none" lIns="0" tIns="0" rIns="0" bIns="0" anchor="ctr">
            <a:spAutoFit/>
          </a:bodyPr>
          <a:lstStyle/>
          <a:p>
            <a:pPr algn="ctr">
              <a:spcBef>
                <a:spcPts val="0"/>
              </a:spcBef>
              <a:spcAft>
                <a:spcPts val="0"/>
              </a:spcAft>
            </a:pPr>
            <a:r>
              <a:rPr sz="2200" b="1" dirty="0">
                <a:solidFill>
                  <a:srgbClr val="BF9000"/>
                </a:solidFill>
                <a:latin typeface="Meiryo"/>
                <a:ea typeface="Meiryo"/>
                <a:cs typeface="Meiryo"/>
              </a:rPr>
              <a:t>P2 </a:t>
            </a:r>
            <a:r>
              <a:rPr sz="2200" b="1" dirty="0" err="1">
                <a:solidFill>
                  <a:srgbClr val="BF9000"/>
                </a:solidFill>
                <a:latin typeface="Meiryo"/>
                <a:ea typeface="Meiryo"/>
                <a:cs typeface="Meiryo"/>
              </a:rPr>
              <a:t>が無い</a:t>
            </a:r>
            <a:endParaRPr sz="2200" b="1" dirty="0">
              <a:solidFill>
                <a:srgbClr val="BF9000"/>
              </a:solidFill>
              <a:latin typeface="Meiryo"/>
              <a:ea typeface="Meiryo"/>
              <a:cs typeface="Meiryo"/>
            </a:endParaRPr>
          </a:p>
        </p:txBody>
      </p:sp>
      <p:sp>
        <p:nvSpPr>
          <p:cNvPr id="26" name="TextBox 25">
            <a:extLst>
              <a:ext uri="{FF2B5EF4-FFF2-40B4-BE49-F238E27FC236}">
                <a16:creationId xmlns:a16="http://schemas.microsoft.com/office/drawing/2014/main" id="{157A34AD-FF62-1D74-1974-FA28E03E30F6}"/>
              </a:ext>
            </a:extLst>
          </p:cNvPr>
          <p:cNvSpPr txBox="1"/>
          <p:nvPr/>
        </p:nvSpPr>
        <p:spPr>
          <a:xfrm>
            <a:off x="7401000" y="2177344"/>
            <a:ext cx="2610000" cy="378000"/>
          </a:xfrm>
          <a:prstGeom prst="rect">
            <a:avLst/>
          </a:prstGeom>
          <a:noFill/>
        </p:spPr>
        <p:txBody>
          <a:bodyPr wrap="none" lIns="0" tIns="0" rIns="0" bIns="0" anchor="ctr">
            <a:spAutoFit/>
          </a:bodyPr>
          <a:lstStyle/>
          <a:p>
            <a:pPr algn="ctr">
              <a:spcBef>
                <a:spcPts val="0"/>
              </a:spcBef>
              <a:spcAft>
                <a:spcPts val="0"/>
              </a:spcAft>
            </a:pPr>
            <a:r>
              <a:rPr sz="2200" b="1">
                <a:solidFill>
                  <a:srgbClr val="262626"/>
                </a:solidFill>
                <a:latin typeface="Meiryo"/>
                <a:ea typeface="Meiryo"/>
                <a:cs typeface="Meiryo"/>
              </a:rPr>
              <a:t>切痕が消失</a:t>
            </a:r>
          </a:p>
        </p:txBody>
      </p:sp>
      <p:sp>
        <p:nvSpPr>
          <p:cNvPr id="27" name="TextBox 26">
            <a:extLst>
              <a:ext uri="{FF2B5EF4-FFF2-40B4-BE49-F238E27FC236}">
                <a16:creationId xmlns:a16="http://schemas.microsoft.com/office/drawing/2014/main" id="{145B8214-6ED0-F57E-8034-638E2BACACAF}"/>
              </a:ext>
            </a:extLst>
          </p:cNvPr>
          <p:cNvSpPr txBox="1"/>
          <p:nvPr/>
        </p:nvSpPr>
        <p:spPr>
          <a:xfrm>
            <a:off x="7401000" y="4877344"/>
            <a:ext cx="2610000" cy="378000"/>
          </a:xfrm>
          <a:prstGeom prst="rect">
            <a:avLst/>
          </a:prstGeom>
          <a:noFill/>
        </p:spPr>
        <p:txBody>
          <a:bodyPr wrap="none" lIns="0" tIns="0" rIns="0" bIns="0" anchor="ctr">
            <a:spAutoFit/>
          </a:bodyPr>
          <a:lstStyle/>
          <a:p>
            <a:pPr algn="ctr">
              <a:spcBef>
                <a:spcPts val="0"/>
              </a:spcBef>
              <a:spcAft>
                <a:spcPts val="0"/>
              </a:spcAft>
            </a:pPr>
            <a:r>
              <a:rPr sz="2200" b="1">
                <a:solidFill>
                  <a:srgbClr val="C00000"/>
                </a:solidFill>
                <a:latin typeface="Meiryo"/>
                <a:ea typeface="Meiryo"/>
                <a:cs typeface="Meiryo"/>
              </a:rPr>
              <a:t>候補なし</a:t>
            </a:r>
          </a:p>
        </p:txBody>
      </p:sp>
      <p:sp>
        <p:nvSpPr>
          <p:cNvPr id="29" name="Source">
            <a:extLst>
              <a:ext uri="{FF2B5EF4-FFF2-40B4-BE49-F238E27FC236}">
                <a16:creationId xmlns:a16="http://schemas.microsoft.com/office/drawing/2014/main" id="{194B8F28-E204-6A98-C695-2EC915C4E847}"/>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23. Elgendi 2012</a:t>
            </a:r>
          </a:p>
        </p:txBody>
      </p:sp>
      <p:sp>
        <p:nvSpPr>
          <p:cNvPr id="30" name="PageNo">
            <a:extLst>
              <a:ext uri="{FF2B5EF4-FFF2-40B4-BE49-F238E27FC236}">
                <a16:creationId xmlns:a16="http://schemas.microsoft.com/office/drawing/2014/main" id="{8ECD42C7-8746-1B2A-91B6-0D2445133E5D}"/>
              </a:ext>
            </a:extLst>
          </p:cNvPr>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69/118</a:t>
            </a:r>
          </a:p>
        </p:txBody>
      </p:sp>
      <p:sp>
        <p:nvSpPr>
          <p:cNvPr id="3" name="Rounded Rectangle 47">
            <a:extLst>
              <a:ext uri="{FF2B5EF4-FFF2-40B4-BE49-F238E27FC236}">
                <a16:creationId xmlns:a16="http://schemas.microsoft.com/office/drawing/2014/main" id="{B726A7E9-585F-3C48-22C8-9DDAFCF5A282}"/>
              </a:ext>
            </a:extLst>
          </p:cNvPr>
          <p:cNvSpPr/>
          <p:nvPr/>
        </p:nvSpPr>
        <p:spPr>
          <a:xfrm>
            <a:off x="1728788" y="5792720"/>
            <a:ext cx="8686800" cy="566928"/>
          </a:xfrm>
          <a:prstGeom prst="roundRect">
            <a:avLst/>
          </a:prstGeom>
          <a:solidFill>
            <a:srgbClr val="F2F2F2"/>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TextBox 48">
            <a:extLst>
              <a:ext uri="{FF2B5EF4-FFF2-40B4-BE49-F238E27FC236}">
                <a16:creationId xmlns:a16="http://schemas.microsoft.com/office/drawing/2014/main" id="{8C46D2DE-6537-3F37-0DFD-CD603C2F5978}"/>
              </a:ext>
            </a:extLst>
          </p:cNvPr>
          <p:cNvSpPr txBox="1"/>
          <p:nvPr/>
        </p:nvSpPr>
        <p:spPr>
          <a:xfrm>
            <a:off x="685800" y="5875016"/>
            <a:ext cx="10835640" cy="369332"/>
          </a:xfrm>
          <a:prstGeom prst="rect">
            <a:avLst/>
          </a:prstGeom>
          <a:noFill/>
        </p:spPr>
        <p:txBody>
          <a:bodyPr wrap="square" lIns="0" tIns="0" rIns="0" bIns="0" anchor="t">
            <a:spAutoFit/>
          </a:bodyPr>
          <a:lstStyle/>
          <a:p>
            <a:pPr algn="ctr">
              <a:spcAft>
                <a:spcPts val="0"/>
              </a:spcAft>
            </a:pPr>
            <a:r>
              <a:rPr lang="ja-JP" altLang="en-US" sz="2400" b="1">
                <a:solidFill>
                  <a:srgbClr val="262626"/>
                </a:solidFill>
                <a:latin typeface="Meiryo"/>
                <a:ea typeface="Meiryo"/>
                <a:cs typeface="Meiryo"/>
              </a:rPr>
              <a:t>反射波</a:t>
            </a:r>
            <a:r>
              <a:rPr lang="en-US" altLang="ja-JP" sz="2400" b="1" dirty="0">
                <a:solidFill>
                  <a:srgbClr val="262626"/>
                </a:solidFill>
                <a:latin typeface="Meiryo"/>
                <a:ea typeface="Meiryo"/>
                <a:cs typeface="Meiryo"/>
              </a:rPr>
              <a:t>(P2)</a:t>
            </a:r>
            <a:r>
              <a:rPr lang="ja-JP" altLang="en-US" sz="2400" b="1">
                <a:solidFill>
                  <a:srgbClr val="262626"/>
                </a:solidFill>
                <a:latin typeface="Meiryo"/>
                <a:ea typeface="Meiryo"/>
                <a:cs typeface="Meiryo"/>
              </a:rPr>
              <a:t>は動脈硬化に従い、切痕・ピークが不明瞭になる。</a:t>
            </a:r>
            <a:endParaRPr sz="2400" b="1" dirty="0">
              <a:solidFill>
                <a:srgbClr val="262626"/>
              </a:solidFill>
              <a:latin typeface="Meiryo"/>
              <a:ea typeface="Meiryo"/>
              <a:cs typeface="Meiryo"/>
            </a:endParaRP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4">
            <a:extLst>
              <a:ext uri="{FF2B5EF4-FFF2-40B4-BE49-F238E27FC236}">
                <a16:creationId xmlns:a16="http://schemas.microsoft.com/office/drawing/2014/main" id="{AA9D36CE-3772-F005-B54C-9329ADA7F086}"/>
              </a:ext>
            </a:extLst>
          </p:cNvPr>
          <p:cNvSpPr/>
          <p:nvPr/>
        </p:nvSpPr>
        <p:spPr>
          <a:xfrm>
            <a:off x="1019448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4</a:t>
            </a:r>
          </a:p>
          <a:p>
            <a:pPr algn="ctr"/>
            <a:r>
              <a:rPr sz="1050" b="1">
                <a:solidFill>
                  <a:srgbClr val="FFFFFF"/>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424653750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7F0D2-688B-63A8-B938-CF8D183954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55B74E-3ACC-56E0-3164-B10AF811E337}"/>
              </a:ext>
            </a:extLst>
          </p:cNvPr>
          <p:cNvSpPr>
            <a:spLocks noGrp="1"/>
          </p:cNvSpPr>
          <p:nvPr>
            <p:ph type="title"/>
          </p:nvPr>
        </p:nvSpPr>
        <p:spPr/>
        <p:txBody>
          <a:bodyPr/>
          <a:lstStyle/>
          <a:p>
            <a:pPr algn="l"/>
            <a:r>
              <a:rPr sz="4600" dirty="0">
                <a:latin typeface="Meiryo"/>
                <a:ea typeface="Meiryo"/>
                <a:cs typeface="Meiryo"/>
              </a:rPr>
              <a:t>4.1  </a:t>
            </a:r>
            <a:r>
              <a:rPr lang="ja-JP" altLang="en-US" sz="4600">
                <a:latin typeface="Meiryo"/>
                <a:ea typeface="Meiryo"/>
                <a:cs typeface="Meiryo"/>
              </a:rPr>
              <a:t>切痕が見えないとき</a:t>
            </a:r>
            <a:endParaRPr sz="4600" dirty="0">
              <a:latin typeface="Meiryo"/>
              <a:ea typeface="Meiryo"/>
              <a:cs typeface="Meiryo"/>
            </a:endParaRPr>
          </a:p>
        </p:txBody>
      </p:sp>
      <p:sp>
        <p:nvSpPr>
          <p:cNvPr id="29" name="Source">
            <a:extLst>
              <a:ext uri="{FF2B5EF4-FFF2-40B4-BE49-F238E27FC236}">
                <a16:creationId xmlns:a16="http://schemas.microsoft.com/office/drawing/2014/main" id="{A377F9F1-4C3E-BE06-2B7C-4325909276A5}"/>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11. Chowienczyk 1999　／　33. Couceiro 2015</a:t>
            </a:r>
          </a:p>
        </p:txBody>
      </p:sp>
      <p:sp>
        <p:nvSpPr>
          <p:cNvPr id="30" name="PageNo">
            <a:extLst>
              <a:ext uri="{FF2B5EF4-FFF2-40B4-BE49-F238E27FC236}">
                <a16:creationId xmlns:a16="http://schemas.microsoft.com/office/drawing/2014/main" id="{2037B3D8-8592-EBF6-0E68-29BCC7589FB0}"/>
              </a:ext>
            </a:extLst>
          </p:cNvPr>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70/118</a:t>
            </a:r>
          </a:p>
        </p:txBody>
      </p:sp>
      <p:sp>
        <p:nvSpPr>
          <p:cNvPr id="32" name="TextBox 31">
            <a:extLst>
              <a:ext uri="{FF2B5EF4-FFF2-40B4-BE49-F238E27FC236}">
                <a16:creationId xmlns:a16="http://schemas.microsoft.com/office/drawing/2014/main" id="{C7AB1D1C-7335-1A2D-7CFB-3139606BFC9F}"/>
              </a:ext>
            </a:extLst>
          </p:cNvPr>
          <p:cNvSpPr txBox="1"/>
          <p:nvPr/>
        </p:nvSpPr>
        <p:spPr>
          <a:xfrm>
            <a:off x="685800" y="1865376"/>
            <a:ext cx="6309360" cy="431596"/>
          </a:xfrm>
          <a:prstGeom prst="rect">
            <a:avLst/>
          </a:prstGeom>
          <a:noFill/>
        </p:spPr>
        <p:txBody>
          <a:bodyPr wrap="square" lIns="0" tIns="0" rIns="0" bIns="0" anchor="t">
            <a:spAutoFit/>
          </a:bodyPr>
          <a:lstStyle/>
          <a:p>
            <a:pPr algn="l">
              <a:spcAft>
                <a:spcPts val="0"/>
              </a:spcAft>
            </a:pPr>
            <a:r>
              <a:rPr sz="2400" b="1" dirty="0">
                <a:solidFill>
                  <a:srgbClr val="C00000"/>
                </a:solidFill>
                <a:latin typeface="Meiryo"/>
                <a:ea typeface="Meiryo"/>
                <a:cs typeface="Meiryo"/>
              </a:rPr>
              <a:t>下降脚に埋もれた例</a:t>
            </a:r>
          </a:p>
        </p:txBody>
      </p:sp>
      <p:sp>
        <p:nvSpPr>
          <p:cNvPr id="3" name="Freeform 2">
            <a:extLst>
              <a:ext uri="{FF2B5EF4-FFF2-40B4-BE49-F238E27FC236}">
                <a16:creationId xmlns:a16="http://schemas.microsoft.com/office/drawing/2014/main" id="{78BECB27-0CDD-95F2-5F54-6E20B08CC823}"/>
              </a:ext>
            </a:extLst>
          </p:cNvPr>
          <p:cNvSpPr/>
          <p:nvPr/>
        </p:nvSpPr>
        <p:spPr>
          <a:xfrm>
            <a:off x="868680" y="2523389"/>
            <a:ext cx="6035040" cy="2078974"/>
          </a:xfrm>
          <a:custGeom>
            <a:avLst/>
            <a:gdLst/>
            <a:ahLst/>
            <a:cxnLst/>
            <a:rect l="l" t="t" r="r" b="b"/>
            <a:pathLst>
              <a:path w="6035040" h="2078974">
                <a:moveTo>
                  <a:pt x="0" y="2024838"/>
                </a:moveTo>
                <a:lnTo>
                  <a:pt x="7108" y="2022405"/>
                </a:lnTo>
                <a:lnTo>
                  <a:pt x="14216" y="2019878"/>
                </a:lnTo>
                <a:lnTo>
                  <a:pt x="21325" y="2017255"/>
                </a:lnTo>
                <a:lnTo>
                  <a:pt x="28433" y="2014533"/>
                </a:lnTo>
                <a:lnTo>
                  <a:pt x="35542" y="2011709"/>
                </a:lnTo>
                <a:lnTo>
                  <a:pt x="42650" y="2008780"/>
                </a:lnTo>
                <a:lnTo>
                  <a:pt x="49758" y="2005742"/>
                </a:lnTo>
                <a:lnTo>
                  <a:pt x="56867" y="2002594"/>
                </a:lnTo>
                <a:lnTo>
                  <a:pt x="63975" y="1999333"/>
                </a:lnTo>
                <a:lnTo>
                  <a:pt x="71084" y="1995954"/>
                </a:lnTo>
                <a:lnTo>
                  <a:pt x="78192" y="1992454"/>
                </a:lnTo>
                <a:lnTo>
                  <a:pt x="85300" y="1988832"/>
                </a:lnTo>
                <a:lnTo>
                  <a:pt x="92409" y="1985083"/>
                </a:lnTo>
                <a:lnTo>
                  <a:pt x="99517" y="1981205"/>
                </a:lnTo>
                <a:lnTo>
                  <a:pt x="106626" y="1977194"/>
                </a:lnTo>
                <a:lnTo>
                  <a:pt x="113734" y="1973047"/>
                </a:lnTo>
                <a:lnTo>
                  <a:pt x="120842" y="1968760"/>
                </a:lnTo>
                <a:lnTo>
                  <a:pt x="127951" y="1964331"/>
                </a:lnTo>
                <a:lnTo>
                  <a:pt x="135059" y="1959756"/>
                </a:lnTo>
                <a:lnTo>
                  <a:pt x="142168" y="1955032"/>
                </a:lnTo>
                <a:lnTo>
                  <a:pt x="149276" y="1950156"/>
                </a:lnTo>
                <a:lnTo>
                  <a:pt x="156385" y="1945123"/>
                </a:lnTo>
                <a:lnTo>
                  <a:pt x="163493" y="1939932"/>
                </a:lnTo>
                <a:lnTo>
                  <a:pt x="170601" y="1934578"/>
                </a:lnTo>
                <a:lnTo>
                  <a:pt x="177710" y="1929058"/>
                </a:lnTo>
                <a:lnTo>
                  <a:pt x="184818" y="1923370"/>
                </a:lnTo>
                <a:lnTo>
                  <a:pt x="191927" y="1917509"/>
                </a:lnTo>
                <a:lnTo>
                  <a:pt x="199035" y="1911472"/>
                </a:lnTo>
                <a:lnTo>
                  <a:pt x="206143" y="1905257"/>
                </a:lnTo>
                <a:lnTo>
                  <a:pt x="213252" y="1898860"/>
                </a:lnTo>
                <a:lnTo>
                  <a:pt x="220360" y="1892278"/>
                </a:lnTo>
                <a:lnTo>
                  <a:pt x="227469" y="1885507"/>
                </a:lnTo>
                <a:lnTo>
                  <a:pt x="234577" y="1878545"/>
                </a:lnTo>
                <a:lnTo>
                  <a:pt x="241685" y="1871389"/>
                </a:lnTo>
                <a:lnTo>
                  <a:pt x="248794" y="1864035"/>
                </a:lnTo>
                <a:lnTo>
                  <a:pt x="255902" y="1856481"/>
                </a:lnTo>
                <a:lnTo>
                  <a:pt x="263011" y="1848723"/>
                </a:lnTo>
                <a:lnTo>
                  <a:pt x="270119" y="1840759"/>
                </a:lnTo>
                <a:lnTo>
                  <a:pt x="277227" y="1832587"/>
                </a:lnTo>
                <a:lnTo>
                  <a:pt x="284336" y="1824202"/>
                </a:lnTo>
                <a:lnTo>
                  <a:pt x="291444" y="1815604"/>
                </a:lnTo>
                <a:lnTo>
                  <a:pt x="298553" y="1806789"/>
                </a:lnTo>
                <a:lnTo>
                  <a:pt x="305661" y="1797755"/>
                </a:lnTo>
                <a:lnTo>
                  <a:pt x="312770" y="1788500"/>
                </a:lnTo>
                <a:lnTo>
                  <a:pt x="319878" y="1779021"/>
                </a:lnTo>
                <a:lnTo>
                  <a:pt x="326986" y="1769317"/>
                </a:lnTo>
                <a:lnTo>
                  <a:pt x="334095" y="1759385"/>
                </a:lnTo>
                <a:lnTo>
                  <a:pt x="341203" y="1749223"/>
                </a:lnTo>
                <a:lnTo>
                  <a:pt x="348312" y="1738830"/>
                </a:lnTo>
                <a:lnTo>
                  <a:pt x="355420" y="1728204"/>
                </a:lnTo>
                <a:lnTo>
                  <a:pt x="362528" y="1717345"/>
                </a:lnTo>
                <a:lnTo>
                  <a:pt x="369637" y="1706249"/>
                </a:lnTo>
                <a:lnTo>
                  <a:pt x="376745" y="1694917"/>
                </a:lnTo>
                <a:lnTo>
                  <a:pt x="383854" y="1683347"/>
                </a:lnTo>
                <a:lnTo>
                  <a:pt x="390962" y="1671539"/>
                </a:lnTo>
                <a:lnTo>
                  <a:pt x="398070" y="1659491"/>
                </a:lnTo>
                <a:lnTo>
                  <a:pt x="405179" y="1647203"/>
                </a:lnTo>
                <a:lnTo>
                  <a:pt x="412287" y="1634676"/>
                </a:lnTo>
                <a:lnTo>
                  <a:pt x="419396" y="1621908"/>
                </a:lnTo>
                <a:lnTo>
                  <a:pt x="426504" y="1608901"/>
                </a:lnTo>
                <a:lnTo>
                  <a:pt x="433613" y="1595653"/>
                </a:lnTo>
                <a:lnTo>
                  <a:pt x="440721" y="1582166"/>
                </a:lnTo>
                <a:lnTo>
                  <a:pt x="447829" y="1568440"/>
                </a:lnTo>
                <a:lnTo>
                  <a:pt x="454938" y="1554477"/>
                </a:lnTo>
                <a:lnTo>
                  <a:pt x="462046" y="1540276"/>
                </a:lnTo>
                <a:lnTo>
                  <a:pt x="469155" y="1525840"/>
                </a:lnTo>
                <a:lnTo>
                  <a:pt x="476263" y="1511171"/>
                </a:lnTo>
                <a:lnTo>
                  <a:pt x="483371" y="1496268"/>
                </a:lnTo>
                <a:lnTo>
                  <a:pt x="490480" y="1481136"/>
                </a:lnTo>
                <a:lnTo>
                  <a:pt x="497588" y="1465776"/>
                </a:lnTo>
                <a:lnTo>
                  <a:pt x="504697" y="1450190"/>
                </a:lnTo>
                <a:lnTo>
                  <a:pt x="511805" y="1434381"/>
                </a:lnTo>
                <a:lnTo>
                  <a:pt x="518913" y="1418352"/>
                </a:lnTo>
                <a:lnTo>
                  <a:pt x="526022" y="1402106"/>
                </a:lnTo>
                <a:lnTo>
                  <a:pt x="533130" y="1385647"/>
                </a:lnTo>
                <a:lnTo>
                  <a:pt x="540239" y="1368978"/>
                </a:lnTo>
                <a:lnTo>
                  <a:pt x="547347" y="1352104"/>
                </a:lnTo>
                <a:lnTo>
                  <a:pt x="554455" y="1335028"/>
                </a:lnTo>
                <a:lnTo>
                  <a:pt x="561564" y="1317755"/>
                </a:lnTo>
                <a:lnTo>
                  <a:pt x="568672" y="1300289"/>
                </a:lnTo>
                <a:lnTo>
                  <a:pt x="575781" y="1282636"/>
                </a:lnTo>
                <a:lnTo>
                  <a:pt x="582889" y="1264800"/>
                </a:lnTo>
                <a:lnTo>
                  <a:pt x="589998" y="1246788"/>
                </a:lnTo>
                <a:lnTo>
                  <a:pt x="597106" y="1228604"/>
                </a:lnTo>
                <a:lnTo>
                  <a:pt x="604214" y="1210255"/>
                </a:lnTo>
                <a:lnTo>
                  <a:pt x="611323" y="1191747"/>
                </a:lnTo>
                <a:lnTo>
                  <a:pt x="618431" y="1173086"/>
                </a:lnTo>
                <a:lnTo>
                  <a:pt x="625540" y="1154280"/>
                </a:lnTo>
                <a:lnTo>
                  <a:pt x="632648" y="1135334"/>
                </a:lnTo>
                <a:lnTo>
                  <a:pt x="639756" y="1116257"/>
                </a:lnTo>
                <a:lnTo>
                  <a:pt x="646865" y="1097055"/>
                </a:lnTo>
                <a:lnTo>
                  <a:pt x="653973" y="1077737"/>
                </a:lnTo>
                <a:lnTo>
                  <a:pt x="661082" y="1058309"/>
                </a:lnTo>
                <a:lnTo>
                  <a:pt x="668190" y="1038781"/>
                </a:lnTo>
                <a:lnTo>
                  <a:pt x="675298" y="1019161"/>
                </a:lnTo>
                <a:lnTo>
                  <a:pt x="682407" y="999456"/>
                </a:lnTo>
                <a:lnTo>
                  <a:pt x="689515" y="979677"/>
                </a:lnTo>
                <a:lnTo>
                  <a:pt x="696624" y="959831"/>
                </a:lnTo>
                <a:lnTo>
                  <a:pt x="703732" y="939928"/>
                </a:lnTo>
                <a:lnTo>
                  <a:pt x="710840" y="919977"/>
                </a:lnTo>
                <a:lnTo>
                  <a:pt x="717949" y="899988"/>
                </a:lnTo>
                <a:lnTo>
                  <a:pt x="725057" y="879970"/>
                </a:lnTo>
                <a:lnTo>
                  <a:pt x="732166" y="859934"/>
                </a:lnTo>
                <a:lnTo>
                  <a:pt x="739274" y="839889"/>
                </a:lnTo>
                <a:lnTo>
                  <a:pt x="746383" y="819845"/>
                </a:lnTo>
                <a:lnTo>
                  <a:pt x="753491" y="799813"/>
                </a:lnTo>
                <a:lnTo>
                  <a:pt x="760599" y="779803"/>
                </a:lnTo>
                <a:lnTo>
                  <a:pt x="767708" y="759825"/>
                </a:lnTo>
                <a:lnTo>
                  <a:pt x="774816" y="739891"/>
                </a:lnTo>
                <a:lnTo>
                  <a:pt x="781925" y="720010"/>
                </a:lnTo>
                <a:lnTo>
                  <a:pt x="789033" y="700195"/>
                </a:lnTo>
                <a:lnTo>
                  <a:pt x="796141" y="680454"/>
                </a:lnTo>
                <a:lnTo>
                  <a:pt x="803250" y="660801"/>
                </a:lnTo>
                <a:lnTo>
                  <a:pt x="810358" y="641245"/>
                </a:lnTo>
                <a:lnTo>
                  <a:pt x="817467" y="621798"/>
                </a:lnTo>
                <a:lnTo>
                  <a:pt x="824575" y="602471"/>
                </a:lnTo>
                <a:lnTo>
                  <a:pt x="831683" y="583274"/>
                </a:lnTo>
                <a:lnTo>
                  <a:pt x="838792" y="564220"/>
                </a:lnTo>
                <a:lnTo>
                  <a:pt x="845900" y="545318"/>
                </a:lnTo>
                <a:lnTo>
                  <a:pt x="853009" y="526581"/>
                </a:lnTo>
                <a:lnTo>
                  <a:pt x="860117" y="508019"/>
                </a:lnTo>
                <a:lnTo>
                  <a:pt x="867226" y="489643"/>
                </a:lnTo>
                <a:lnTo>
                  <a:pt x="874334" y="471464"/>
                </a:lnTo>
                <a:lnTo>
                  <a:pt x="881442" y="453493"/>
                </a:lnTo>
                <a:lnTo>
                  <a:pt x="888551" y="435741"/>
                </a:lnTo>
                <a:lnTo>
                  <a:pt x="895659" y="418219"/>
                </a:lnTo>
                <a:lnTo>
                  <a:pt x="902768" y="400936"/>
                </a:lnTo>
                <a:lnTo>
                  <a:pt x="909876" y="383905"/>
                </a:lnTo>
                <a:lnTo>
                  <a:pt x="916984" y="367134"/>
                </a:lnTo>
                <a:lnTo>
                  <a:pt x="924093" y="350634"/>
                </a:lnTo>
                <a:lnTo>
                  <a:pt x="931201" y="334415"/>
                </a:lnTo>
                <a:lnTo>
                  <a:pt x="938310" y="318488"/>
                </a:lnTo>
                <a:lnTo>
                  <a:pt x="945418" y="302861"/>
                </a:lnTo>
                <a:lnTo>
                  <a:pt x="952526" y="287544"/>
                </a:lnTo>
                <a:lnTo>
                  <a:pt x="959635" y="272547"/>
                </a:lnTo>
                <a:lnTo>
                  <a:pt x="966743" y="257878"/>
                </a:lnTo>
                <a:lnTo>
                  <a:pt x="973852" y="243546"/>
                </a:lnTo>
                <a:lnTo>
                  <a:pt x="980960" y="229560"/>
                </a:lnTo>
                <a:lnTo>
                  <a:pt x="988068" y="215929"/>
                </a:lnTo>
                <a:lnTo>
                  <a:pt x="995177" y="202659"/>
                </a:lnTo>
                <a:lnTo>
                  <a:pt x="1002285" y="189760"/>
                </a:lnTo>
                <a:lnTo>
                  <a:pt x="1009394" y="177238"/>
                </a:lnTo>
                <a:lnTo>
                  <a:pt x="1016502" y="165102"/>
                </a:lnTo>
                <a:lnTo>
                  <a:pt x="1023611" y="153357"/>
                </a:lnTo>
                <a:lnTo>
                  <a:pt x="1030719" y="142010"/>
                </a:lnTo>
                <a:lnTo>
                  <a:pt x="1037827" y="131068"/>
                </a:lnTo>
                <a:lnTo>
                  <a:pt x="1044936" y="120536"/>
                </a:lnTo>
                <a:lnTo>
                  <a:pt x="1052044" y="110420"/>
                </a:lnTo>
                <a:lnTo>
                  <a:pt x="1059153" y="100726"/>
                </a:lnTo>
                <a:lnTo>
                  <a:pt x="1066261" y="91459"/>
                </a:lnTo>
                <a:lnTo>
                  <a:pt x="1073369" y="82622"/>
                </a:lnTo>
                <a:lnTo>
                  <a:pt x="1080478" y="74221"/>
                </a:lnTo>
                <a:lnTo>
                  <a:pt x="1087586" y="66259"/>
                </a:lnTo>
                <a:lnTo>
                  <a:pt x="1094695" y="58739"/>
                </a:lnTo>
                <a:lnTo>
                  <a:pt x="1101803" y="51666"/>
                </a:lnTo>
                <a:lnTo>
                  <a:pt x="1108911" y="45040"/>
                </a:lnTo>
                <a:lnTo>
                  <a:pt x="1116020" y="38866"/>
                </a:lnTo>
                <a:lnTo>
                  <a:pt x="1123128" y="33144"/>
                </a:lnTo>
                <a:lnTo>
                  <a:pt x="1130237" y="27876"/>
                </a:lnTo>
                <a:lnTo>
                  <a:pt x="1137345" y="23065"/>
                </a:lnTo>
                <a:lnTo>
                  <a:pt x="1144453" y="18709"/>
                </a:lnTo>
                <a:lnTo>
                  <a:pt x="1151562" y="14811"/>
                </a:lnTo>
                <a:lnTo>
                  <a:pt x="1158670" y="11370"/>
                </a:lnTo>
                <a:lnTo>
                  <a:pt x="1165779" y="8385"/>
                </a:lnTo>
                <a:lnTo>
                  <a:pt x="1172887" y="5856"/>
                </a:lnTo>
                <a:lnTo>
                  <a:pt x="1179996" y="3782"/>
                </a:lnTo>
                <a:lnTo>
                  <a:pt x="1187104" y="2162"/>
                </a:lnTo>
                <a:lnTo>
                  <a:pt x="1194212" y="993"/>
                </a:lnTo>
                <a:lnTo>
                  <a:pt x="1201321" y="273"/>
                </a:lnTo>
                <a:lnTo>
                  <a:pt x="1208429" y="0"/>
                </a:lnTo>
                <a:lnTo>
                  <a:pt x="1215538" y="171"/>
                </a:lnTo>
                <a:lnTo>
                  <a:pt x="1222646" y="782"/>
                </a:lnTo>
                <a:lnTo>
                  <a:pt x="1229754" y="1831"/>
                </a:lnTo>
                <a:lnTo>
                  <a:pt x="1236863" y="3312"/>
                </a:lnTo>
                <a:lnTo>
                  <a:pt x="1243971" y="5222"/>
                </a:lnTo>
                <a:lnTo>
                  <a:pt x="1251080" y="7555"/>
                </a:lnTo>
                <a:lnTo>
                  <a:pt x="1258188" y="10308"/>
                </a:lnTo>
                <a:lnTo>
                  <a:pt x="1265296" y="13474"/>
                </a:lnTo>
                <a:lnTo>
                  <a:pt x="1272405" y="17047"/>
                </a:lnTo>
                <a:lnTo>
                  <a:pt x="1279513" y="21023"/>
                </a:lnTo>
                <a:lnTo>
                  <a:pt x="1286622" y="25395"/>
                </a:lnTo>
                <a:lnTo>
                  <a:pt x="1293730" y="30156"/>
                </a:lnTo>
                <a:lnTo>
                  <a:pt x="1300839" y="35300"/>
                </a:lnTo>
                <a:lnTo>
                  <a:pt x="1307947" y="40819"/>
                </a:lnTo>
                <a:lnTo>
                  <a:pt x="1315055" y="46707"/>
                </a:lnTo>
                <a:lnTo>
                  <a:pt x="1322164" y="52955"/>
                </a:lnTo>
                <a:lnTo>
                  <a:pt x="1329272" y="59557"/>
                </a:lnTo>
                <a:lnTo>
                  <a:pt x="1336381" y="66503"/>
                </a:lnTo>
                <a:lnTo>
                  <a:pt x="1343489" y="73787"/>
                </a:lnTo>
                <a:lnTo>
                  <a:pt x="1350597" y="81399"/>
                </a:lnTo>
                <a:lnTo>
                  <a:pt x="1357706" y="89331"/>
                </a:lnTo>
                <a:lnTo>
                  <a:pt x="1364814" y="97574"/>
                </a:lnTo>
                <a:lnTo>
                  <a:pt x="1371923" y="106120"/>
                </a:lnTo>
                <a:lnTo>
                  <a:pt x="1379031" y="114960"/>
                </a:lnTo>
                <a:lnTo>
                  <a:pt x="1386139" y="124084"/>
                </a:lnTo>
                <a:lnTo>
                  <a:pt x="1393248" y="133483"/>
                </a:lnTo>
                <a:lnTo>
                  <a:pt x="1400356" y="143148"/>
                </a:lnTo>
                <a:lnTo>
                  <a:pt x="1407465" y="153069"/>
                </a:lnTo>
                <a:lnTo>
                  <a:pt x="1414573" y="163238"/>
                </a:lnTo>
                <a:lnTo>
                  <a:pt x="1421681" y="173643"/>
                </a:lnTo>
                <a:lnTo>
                  <a:pt x="1428790" y="184276"/>
                </a:lnTo>
                <a:lnTo>
                  <a:pt x="1435898" y="195126"/>
                </a:lnTo>
                <a:lnTo>
                  <a:pt x="1443007" y="206185"/>
                </a:lnTo>
                <a:lnTo>
                  <a:pt x="1450115" y="217442"/>
                </a:lnTo>
                <a:lnTo>
                  <a:pt x="1457224" y="228887"/>
                </a:lnTo>
                <a:lnTo>
                  <a:pt x="1464332" y="240512"/>
                </a:lnTo>
                <a:lnTo>
                  <a:pt x="1471440" y="252305"/>
                </a:lnTo>
                <a:lnTo>
                  <a:pt x="1478549" y="264258"/>
                </a:lnTo>
                <a:lnTo>
                  <a:pt x="1485657" y="276361"/>
                </a:lnTo>
                <a:lnTo>
                  <a:pt x="1492766" y="288603"/>
                </a:lnTo>
                <a:lnTo>
                  <a:pt x="1499874" y="300976"/>
                </a:lnTo>
                <a:lnTo>
                  <a:pt x="1506982" y="313470"/>
                </a:lnTo>
                <a:lnTo>
                  <a:pt x="1514091" y="326076"/>
                </a:lnTo>
                <a:lnTo>
                  <a:pt x="1521199" y="338784"/>
                </a:lnTo>
                <a:lnTo>
                  <a:pt x="1528308" y="351585"/>
                </a:lnTo>
                <a:lnTo>
                  <a:pt x="1535416" y="364470"/>
                </a:lnTo>
                <a:lnTo>
                  <a:pt x="1542524" y="377429"/>
                </a:lnTo>
                <a:lnTo>
                  <a:pt x="1549633" y="390455"/>
                </a:lnTo>
                <a:lnTo>
                  <a:pt x="1556741" y="403539"/>
                </a:lnTo>
                <a:lnTo>
                  <a:pt x="1563850" y="416671"/>
                </a:lnTo>
                <a:lnTo>
                  <a:pt x="1570958" y="429844"/>
                </a:lnTo>
                <a:lnTo>
                  <a:pt x="1578066" y="443049"/>
                </a:lnTo>
                <a:lnTo>
                  <a:pt x="1585175" y="456278"/>
                </a:lnTo>
                <a:lnTo>
                  <a:pt x="1592283" y="469524"/>
                </a:lnTo>
                <a:lnTo>
                  <a:pt x="1599392" y="482778"/>
                </a:lnTo>
                <a:lnTo>
                  <a:pt x="1606500" y="496033"/>
                </a:lnTo>
                <a:lnTo>
                  <a:pt x="1613609" y="509282"/>
                </a:lnTo>
                <a:lnTo>
                  <a:pt x="1620717" y="522518"/>
                </a:lnTo>
                <a:lnTo>
                  <a:pt x="1627825" y="535733"/>
                </a:lnTo>
                <a:lnTo>
                  <a:pt x="1634934" y="548921"/>
                </a:lnTo>
                <a:lnTo>
                  <a:pt x="1642042" y="562076"/>
                </a:lnTo>
                <a:lnTo>
                  <a:pt x="1649151" y="575191"/>
                </a:lnTo>
                <a:lnTo>
                  <a:pt x="1656259" y="588261"/>
                </a:lnTo>
                <a:lnTo>
                  <a:pt x="1663367" y="601278"/>
                </a:lnTo>
                <a:lnTo>
                  <a:pt x="1670476" y="614239"/>
                </a:lnTo>
                <a:lnTo>
                  <a:pt x="1677584" y="627137"/>
                </a:lnTo>
                <a:lnTo>
                  <a:pt x="1684693" y="639967"/>
                </a:lnTo>
                <a:lnTo>
                  <a:pt x="1691801" y="652724"/>
                </a:lnTo>
                <a:lnTo>
                  <a:pt x="1698909" y="665405"/>
                </a:lnTo>
                <a:lnTo>
                  <a:pt x="1706018" y="678003"/>
                </a:lnTo>
                <a:lnTo>
                  <a:pt x="1713126" y="690516"/>
                </a:lnTo>
                <a:lnTo>
                  <a:pt x="1720235" y="702938"/>
                </a:lnTo>
                <a:lnTo>
                  <a:pt x="1727343" y="715267"/>
                </a:lnTo>
                <a:lnTo>
                  <a:pt x="1734452" y="727499"/>
                </a:lnTo>
                <a:lnTo>
                  <a:pt x="1741560" y="739630"/>
                </a:lnTo>
                <a:lnTo>
                  <a:pt x="1748668" y="751658"/>
                </a:lnTo>
                <a:lnTo>
                  <a:pt x="1755777" y="763579"/>
                </a:lnTo>
                <a:lnTo>
                  <a:pt x="1762885" y="775391"/>
                </a:lnTo>
                <a:lnTo>
                  <a:pt x="1769994" y="787092"/>
                </a:lnTo>
                <a:lnTo>
                  <a:pt x="1777102" y="798680"/>
                </a:lnTo>
                <a:lnTo>
                  <a:pt x="1784210" y="810151"/>
                </a:lnTo>
                <a:lnTo>
                  <a:pt x="1791319" y="821506"/>
                </a:lnTo>
                <a:lnTo>
                  <a:pt x="1798427" y="832742"/>
                </a:lnTo>
                <a:lnTo>
                  <a:pt x="1805536" y="843857"/>
                </a:lnTo>
                <a:lnTo>
                  <a:pt x="1812644" y="854852"/>
                </a:lnTo>
                <a:lnTo>
                  <a:pt x="1819752" y="865724"/>
                </a:lnTo>
                <a:lnTo>
                  <a:pt x="1826861" y="876473"/>
                </a:lnTo>
                <a:lnTo>
                  <a:pt x="1833969" y="887099"/>
                </a:lnTo>
                <a:lnTo>
                  <a:pt x="1841078" y="897601"/>
                </a:lnTo>
                <a:lnTo>
                  <a:pt x="1848186" y="907978"/>
                </a:lnTo>
                <a:lnTo>
                  <a:pt x="1855294" y="918232"/>
                </a:lnTo>
                <a:lnTo>
                  <a:pt x="1862403" y="928362"/>
                </a:lnTo>
                <a:lnTo>
                  <a:pt x="1869511" y="938368"/>
                </a:lnTo>
                <a:lnTo>
                  <a:pt x="1876620" y="948251"/>
                </a:lnTo>
                <a:lnTo>
                  <a:pt x="1883728" y="958011"/>
                </a:lnTo>
                <a:lnTo>
                  <a:pt x="1890837" y="967650"/>
                </a:lnTo>
                <a:lnTo>
                  <a:pt x="1897945" y="977167"/>
                </a:lnTo>
                <a:lnTo>
                  <a:pt x="1905053" y="986565"/>
                </a:lnTo>
                <a:lnTo>
                  <a:pt x="1912162" y="995844"/>
                </a:lnTo>
                <a:lnTo>
                  <a:pt x="1919270" y="1005005"/>
                </a:lnTo>
                <a:lnTo>
                  <a:pt x="1926379" y="1014051"/>
                </a:lnTo>
                <a:lnTo>
                  <a:pt x="1933487" y="1022981"/>
                </a:lnTo>
                <a:lnTo>
                  <a:pt x="1940595" y="1031799"/>
                </a:lnTo>
                <a:lnTo>
                  <a:pt x="1947704" y="1040505"/>
                </a:lnTo>
                <a:lnTo>
                  <a:pt x="1954812" y="1049102"/>
                </a:lnTo>
                <a:lnTo>
                  <a:pt x="1961921" y="1057591"/>
                </a:lnTo>
                <a:lnTo>
                  <a:pt x="1969029" y="1065975"/>
                </a:lnTo>
                <a:lnTo>
                  <a:pt x="1976137" y="1074255"/>
                </a:lnTo>
                <a:lnTo>
                  <a:pt x="1983246" y="1082433"/>
                </a:lnTo>
                <a:lnTo>
                  <a:pt x="1990354" y="1090511"/>
                </a:lnTo>
                <a:lnTo>
                  <a:pt x="1997463" y="1098493"/>
                </a:lnTo>
                <a:lnTo>
                  <a:pt x="2004571" y="1106379"/>
                </a:lnTo>
                <a:lnTo>
                  <a:pt x="2011680" y="1114173"/>
                </a:lnTo>
                <a:lnTo>
                  <a:pt x="2018788" y="1121876"/>
                </a:lnTo>
                <a:lnTo>
                  <a:pt x="2025896" y="1129491"/>
                </a:lnTo>
                <a:lnTo>
                  <a:pt x="2033005" y="1137021"/>
                </a:lnTo>
                <a:lnTo>
                  <a:pt x="2040113" y="1144467"/>
                </a:lnTo>
                <a:lnTo>
                  <a:pt x="2047222" y="1151833"/>
                </a:lnTo>
                <a:lnTo>
                  <a:pt x="2054330" y="1159120"/>
                </a:lnTo>
                <a:lnTo>
                  <a:pt x="2061438" y="1166332"/>
                </a:lnTo>
                <a:lnTo>
                  <a:pt x="2068547" y="1173470"/>
                </a:lnTo>
                <a:lnTo>
                  <a:pt x="2075655" y="1180538"/>
                </a:lnTo>
                <a:lnTo>
                  <a:pt x="2082764" y="1187537"/>
                </a:lnTo>
                <a:lnTo>
                  <a:pt x="2089872" y="1194470"/>
                </a:lnTo>
                <a:lnTo>
                  <a:pt x="2096980" y="1201339"/>
                </a:lnTo>
                <a:lnTo>
                  <a:pt x="2104089" y="1208147"/>
                </a:lnTo>
                <a:lnTo>
                  <a:pt x="2111197" y="1214897"/>
                </a:lnTo>
                <a:lnTo>
                  <a:pt x="2118306" y="1221590"/>
                </a:lnTo>
                <a:lnTo>
                  <a:pt x="2125414" y="1228230"/>
                </a:lnTo>
                <a:lnTo>
                  <a:pt x="2132522" y="1234817"/>
                </a:lnTo>
                <a:lnTo>
                  <a:pt x="2139631" y="1241356"/>
                </a:lnTo>
                <a:lnTo>
                  <a:pt x="2146739" y="1247847"/>
                </a:lnTo>
                <a:lnTo>
                  <a:pt x="2153848" y="1254293"/>
                </a:lnTo>
                <a:lnTo>
                  <a:pt x="2160956" y="1260697"/>
                </a:lnTo>
                <a:lnTo>
                  <a:pt x="2168065" y="1267060"/>
                </a:lnTo>
                <a:lnTo>
                  <a:pt x="2175173" y="1273384"/>
                </a:lnTo>
                <a:lnTo>
                  <a:pt x="2182281" y="1279672"/>
                </a:lnTo>
                <a:lnTo>
                  <a:pt x="2189390" y="1285925"/>
                </a:lnTo>
                <a:lnTo>
                  <a:pt x="2196498" y="1292146"/>
                </a:lnTo>
                <a:lnTo>
                  <a:pt x="2203607" y="1298336"/>
                </a:lnTo>
                <a:lnTo>
                  <a:pt x="2210715" y="1304497"/>
                </a:lnTo>
                <a:lnTo>
                  <a:pt x="2217823" y="1310631"/>
                </a:lnTo>
                <a:lnTo>
                  <a:pt x="2224932" y="1316739"/>
                </a:lnTo>
                <a:lnTo>
                  <a:pt x="2232040" y="1322824"/>
                </a:lnTo>
                <a:lnTo>
                  <a:pt x="2239149" y="1328886"/>
                </a:lnTo>
                <a:lnTo>
                  <a:pt x="2246257" y="1334927"/>
                </a:lnTo>
                <a:lnTo>
                  <a:pt x="2253365" y="1340950"/>
                </a:lnTo>
                <a:lnTo>
                  <a:pt x="2260474" y="1346954"/>
                </a:lnTo>
                <a:lnTo>
                  <a:pt x="2267582" y="1352941"/>
                </a:lnTo>
                <a:lnTo>
                  <a:pt x="2274691" y="1358913"/>
                </a:lnTo>
                <a:lnTo>
                  <a:pt x="2281799" y="1364871"/>
                </a:lnTo>
                <a:lnTo>
                  <a:pt x="2288907" y="1370816"/>
                </a:lnTo>
                <a:lnTo>
                  <a:pt x="2296016" y="1376749"/>
                </a:lnTo>
                <a:lnTo>
                  <a:pt x="2303124" y="1382670"/>
                </a:lnTo>
                <a:lnTo>
                  <a:pt x="2310233" y="1388582"/>
                </a:lnTo>
                <a:lnTo>
                  <a:pt x="2317341" y="1394484"/>
                </a:lnTo>
                <a:lnTo>
                  <a:pt x="2324450" y="1400378"/>
                </a:lnTo>
                <a:lnTo>
                  <a:pt x="2331558" y="1406265"/>
                </a:lnTo>
                <a:lnTo>
                  <a:pt x="2338666" y="1412144"/>
                </a:lnTo>
                <a:lnTo>
                  <a:pt x="2345775" y="1418017"/>
                </a:lnTo>
                <a:lnTo>
                  <a:pt x="2352883" y="1423884"/>
                </a:lnTo>
                <a:lnTo>
                  <a:pt x="2359992" y="1429745"/>
                </a:lnTo>
                <a:lnTo>
                  <a:pt x="2367100" y="1435602"/>
                </a:lnTo>
                <a:lnTo>
                  <a:pt x="2374208" y="1441454"/>
                </a:lnTo>
                <a:lnTo>
                  <a:pt x="2381317" y="1447302"/>
                </a:lnTo>
                <a:lnTo>
                  <a:pt x="2388425" y="1453146"/>
                </a:lnTo>
                <a:lnTo>
                  <a:pt x="2395534" y="1458986"/>
                </a:lnTo>
                <a:lnTo>
                  <a:pt x="2402642" y="1464823"/>
                </a:lnTo>
                <a:lnTo>
                  <a:pt x="2409750" y="1470656"/>
                </a:lnTo>
                <a:lnTo>
                  <a:pt x="2416859" y="1476485"/>
                </a:lnTo>
                <a:lnTo>
                  <a:pt x="2423967" y="1482312"/>
                </a:lnTo>
                <a:lnTo>
                  <a:pt x="2431076" y="1488134"/>
                </a:lnTo>
                <a:lnTo>
                  <a:pt x="2438184" y="1493953"/>
                </a:lnTo>
                <a:lnTo>
                  <a:pt x="2445293" y="1499768"/>
                </a:lnTo>
                <a:lnTo>
                  <a:pt x="2452401" y="1505579"/>
                </a:lnTo>
                <a:lnTo>
                  <a:pt x="2459509" y="1511386"/>
                </a:lnTo>
                <a:lnTo>
                  <a:pt x="2466618" y="1517189"/>
                </a:lnTo>
                <a:lnTo>
                  <a:pt x="2473726" y="1522987"/>
                </a:lnTo>
                <a:lnTo>
                  <a:pt x="2480835" y="1528779"/>
                </a:lnTo>
                <a:lnTo>
                  <a:pt x="2487943" y="1534566"/>
                </a:lnTo>
                <a:lnTo>
                  <a:pt x="2495051" y="1540347"/>
                </a:lnTo>
                <a:lnTo>
                  <a:pt x="2502160" y="1546122"/>
                </a:lnTo>
                <a:lnTo>
                  <a:pt x="2509268" y="1551890"/>
                </a:lnTo>
                <a:lnTo>
                  <a:pt x="2516377" y="1557650"/>
                </a:lnTo>
                <a:lnTo>
                  <a:pt x="2523485" y="1563403"/>
                </a:lnTo>
                <a:lnTo>
                  <a:pt x="2530593" y="1569147"/>
                </a:lnTo>
                <a:lnTo>
                  <a:pt x="2537702" y="1574882"/>
                </a:lnTo>
                <a:lnTo>
                  <a:pt x="2544810" y="1580607"/>
                </a:lnTo>
                <a:lnTo>
                  <a:pt x="2551919" y="1586322"/>
                </a:lnTo>
                <a:lnTo>
                  <a:pt x="2559027" y="1592025"/>
                </a:lnTo>
                <a:lnTo>
                  <a:pt x="2566135" y="1597717"/>
                </a:lnTo>
                <a:lnTo>
                  <a:pt x="2573244" y="1603397"/>
                </a:lnTo>
                <a:lnTo>
                  <a:pt x="2580352" y="1609063"/>
                </a:lnTo>
                <a:lnTo>
                  <a:pt x="2587461" y="1614715"/>
                </a:lnTo>
                <a:lnTo>
                  <a:pt x="2594569" y="1620353"/>
                </a:lnTo>
                <a:lnTo>
                  <a:pt x="2601678" y="1625976"/>
                </a:lnTo>
                <a:lnTo>
                  <a:pt x="2608786" y="1631582"/>
                </a:lnTo>
                <a:lnTo>
                  <a:pt x="2615894" y="1637171"/>
                </a:lnTo>
                <a:lnTo>
                  <a:pt x="2623003" y="1642743"/>
                </a:lnTo>
                <a:lnTo>
                  <a:pt x="2630111" y="1648296"/>
                </a:lnTo>
                <a:lnTo>
                  <a:pt x="2637220" y="1653829"/>
                </a:lnTo>
                <a:lnTo>
                  <a:pt x="2644328" y="1659343"/>
                </a:lnTo>
                <a:lnTo>
                  <a:pt x="2651436" y="1664836"/>
                </a:lnTo>
                <a:lnTo>
                  <a:pt x="2658545" y="1670306"/>
                </a:lnTo>
                <a:lnTo>
                  <a:pt x="2665653" y="1675755"/>
                </a:lnTo>
                <a:lnTo>
                  <a:pt x="2672762" y="1681180"/>
                </a:lnTo>
                <a:lnTo>
                  <a:pt x="2679870" y="1686581"/>
                </a:lnTo>
                <a:lnTo>
                  <a:pt x="2686978" y="1691957"/>
                </a:lnTo>
                <a:lnTo>
                  <a:pt x="2694087" y="1697307"/>
                </a:lnTo>
                <a:lnTo>
                  <a:pt x="2701195" y="1702631"/>
                </a:lnTo>
                <a:lnTo>
                  <a:pt x="2708304" y="1707927"/>
                </a:lnTo>
                <a:lnTo>
                  <a:pt x="2715412" y="1713195"/>
                </a:lnTo>
                <a:lnTo>
                  <a:pt x="2722520" y="1718435"/>
                </a:lnTo>
                <a:lnTo>
                  <a:pt x="2729629" y="1723645"/>
                </a:lnTo>
                <a:lnTo>
                  <a:pt x="2736737" y="1728824"/>
                </a:lnTo>
                <a:lnTo>
                  <a:pt x="2743846" y="1733973"/>
                </a:lnTo>
                <a:lnTo>
                  <a:pt x="2750954" y="1739090"/>
                </a:lnTo>
                <a:lnTo>
                  <a:pt x="2758063" y="1744174"/>
                </a:lnTo>
                <a:lnTo>
                  <a:pt x="2765171" y="1749225"/>
                </a:lnTo>
                <a:lnTo>
                  <a:pt x="2772279" y="1754242"/>
                </a:lnTo>
                <a:lnTo>
                  <a:pt x="2779388" y="1759224"/>
                </a:lnTo>
                <a:lnTo>
                  <a:pt x="2786496" y="1764171"/>
                </a:lnTo>
                <a:lnTo>
                  <a:pt x="2793605" y="1769083"/>
                </a:lnTo>
                <a:lnTo>
                  <a:pt x="2800713" y="1773957"/>
                </a:lnTo>
                <a:lnTo>
                  <a:pt x="2807821" y="1778795"/>
                </a:lnTo>
                <a:lnTo>
                  <a:pt x="2814930" y="1783595"/>
                </a:lnTo>
                <a:lnTo>
                  <a:pt x="2822038" y="1788357"/>
                </a:lnTo>
                <a:lnTo>
                  <a:pt x="2829147" y="1793080"/>
                </a:lnTo>
                <a:lnTo>
                  <a:pt x="2836255" y="1797763"/>
                </a:lnTo>
                <a:lnTo>
                  <a:pt x="2843363" y="1802407"/>
                </a:lnTo>
                <a:lnTo>
                  <a:pt x="2850472" y="1807010"/>
                </a:lnTo>
                <a:lnTo>
                  <a:pt x="2857580" y="1811572"/>
                </a:lnTo>
                <a:lnTo>
                  <a:pt x="2864689" y="1816093"/>
                </a:lnTo>
                <a:lnTo>
                  <a:pt x="2871797" y="1820572"/>
                </a:lnTo>
                <a:lnTo>
                  <a:pt x="2878906" y="1825008"/>
                </a:lnTo>
                <a:lnTo>
                  <a:pt x="2886014" y="1829403"/>
                </a:lnTo>
                <a:lnTo>
                  <a:pt x="2893122" y="1833754"/>
                </a:lnTo>
                <a:lnTo>
                  <a:pt x="2900231" y="1838061"/>
                </a:lnTo>
                <a:lnTo>
                  <a:pt x="2907339" y="1842325"/>
                </a:lnTo>
                <a:lnTo>
                  <a:pt x="2914448" y="1846545"/>
                </a:lnTo>
                <a:lnTo>
                  <a:pt x="2921556" y="1850720"/>
                </a:lnTo>
                <a:lnTo>
                  <a:pt x="2928664" y="1854851"/>
                </a:lnTo>
                <a:lnTo>
                  <a:pt x="2935773" y="1858937"/>
                </a:lnTo>
                <a:lnTo>
                  <a:pt x="2942881" y="1862978"/>
                </a:lnTo>
                <a:lnTo>
                  <a:pt x="2949990" y="1866973"/>
                </a:lnTo>
                <a:lnTo>
                  <a:pt x="2957098" y="1870922"/>
                </a:lnTo>
                <a:lnTo>
                  <a:pt x="2964206" y="1874826"/>
                </a:lnTo>
                <a:lnTo>
                  <a:pt x="2971315" y="1878684"/>
                </a:lnTo>
                <a:lnTo>
                  <a:pt x="2978423" y="1882495"/>
                </a:lnTo>
                <a:lnTo>
                  <a:pt x="2985532" y="1886261"/>
                </a:lnTo>
                <a:lnTo>
                  <a:pt x="2992640" y="1889979"/>
                </a:lnTo>
                <a:lnTo>
                  <a:pt x="2999748" y="1893652"/>
                </a:lnTo>
                <a:lnTo>
                  <a:pt x="3006857" y="1897278"/>
                </a:lnTo>
                <a:lnTo>
                  <a:pt x="3013965" y="1900857"/>
                </a:lnTo>
                <a:lnTo>
                  <a:pt x="3021074" y="1904390"/>
                </a:lnTo>
                <a:lnTo>
                  <a:pt x="3028182" y="1907876"/>
                </a:lnTo>
                <a:lnTo>
                  <a:pt x="3035291" y="1911315"/>
                </a:lnTo>
                <a:lnTo>
                  <a:pt x="3042399" y="1914708"/>
                </a:lnTo>
                <a:lnTo>
                  <a:pt x="3049507" y="1918054"/>
                </a:lnTo>
                <a:lnTo>
                  <a:pt x="3056616" y="1921353"/>
                </a:lnTo>
                <a:lnTo>
                  <a:pt x="3063724" y="1924606"/>
                </a:lnTo>
                <a:lnTo>
                  <a:pt x="3070833" y="1927813"/>
                </a:lnTo>
                <a:lnTo>
                  <a:pt x="3077941" y="1930973"/>
                </a:lnTo>
                <a:lnTo>
                  <a:pt x="3085049" y="1934087"/>
                </a:lnTo>
                <a:lnTo>
                  <a:pt x="3092158" y="1937156"/>
                </a:lnTo>
                <a:lnTo>
                  <a:pt x="3099266" y="1940178"/>
                </a:lnTo>
                <a:lnTo>
                  <a:pt x="3106375" y="1943154"/>
                </a:lnTo>
                <a:lnTo>
                  <a:pt x="3113483" y="1946085"/>
                </a:lnTo>
                <a:lnTo>
                  <a:pt x="3120591" y="1948971"/>
                </a:lnTo>
                <a:lnTo>
                  <a:pt x="3127700" y="1951811"/>
                </a:lnTo>
                <a:lnTo>
                  <a:pt x="3134808" y="1954607"/>
                </a:lnTo>
                <a:lnTo>
                  <a:pt x="3141917" y="1957358"/>
                </a:lnTo>
                <a:lnTo>
                  <a:pt x="3149025" y="1960064"/>
                </a:lnTo>
                <a:lnTo>
                  <a:pt x="3156133" y="1962726"/>
                </a:lnTo>
                <a:lnTo>
                  <a:pt x="3163242" y="1965344"/>
                </a:lnTo>
                <a:lnTo>
                  <a:pt x="3170350" y="1967919"/>
                </a:lnTo>
                <a:lnTo>
                  <a:pt x="3177459" y="1970450"/>
                </a:lnTo>
                <a:lnTo>
                  <a:pt x="3184567" y="1972938"/>
                </a:lnTo>
                <a:lnTo>
                  <a:pt x="3191676" y="1975383"/>
                </a:lnTo>
                <a:lnTo>
                  <a:pt x="3198784" y="1977786"/>
                </a:lnTo>
                <a:lnTo>
                  <a:pt x="3205892" y="1980147"/>
                </a:lnTo>
                <a:lnTo>
                  <a:pt x="3213001" y="1982466"/>
                </a:lnTo>
                <a:lnTo>
                  <a:pt x="3220109" y="1984743"/>
                </a:lnTo>
                <a:lnTo>
                  <a:pt x="3227218" y="1986980"/>
                </a:lnTo>
                <a:lnTo>
                  <a:pt x="3234326" y="1989176"/>
                </a:lnTo>
                <a:lnTo>
                  <a:pt x="3241434" y="1991331"/>
                </a:lnTo>
                <a:lnTo>
                  <a:pt x="3248543" y="1993447"/>
                </a:lnTo>
                <a:lnTo>
                  <a:pt x="3255651" y="1995523"/>
                </a:lnTo>
                <a:lnTo>
                  <a:pt x="3262760" y="1997560"/>
                </a:lnTo>
                <a:lnTo>
                  <a:pt x="3269868" y="1999558"/>
                </a:lnTo>
                <a:lnTo>
                  <a:pt x="3276976" y="2001518"/>
                </a:lnTo>
                <a:lnTo>
                  <a:pt x="3284085" y="2003440"/>
                </a:lnTo>
                <a:lnTo>
                  <a:pt x="3291193" y="2005324"/>
                </a:lnTo>
                <a:lnTo>
                  <a:pt x="3298302" y="2007171"/>
                </a:lnTo>
                <a:lnTo>
                  <a:pt x="3305410" y="2008982"/>
                </a:lnTo>
                <a:lnTo>
                  <a:pt x="3312519" y="2010756"/>
                </a:lnTo>
                <a:lnTo>
                  <a:pt x="3319627" y="2012495"/>
                </a:lnTo>
                <a:lnTo>
                  <a:pt x="3326735" y="2014198"/>
                </a:lnTo>
                <a:lnTo>
                  <a:pt x="3333844" y="2015867"/>
                </a:lnTo>
                <a:lnTo>
                  <a:pt x="3340952" y="2017500"/>
                </a:lnTo>
                <a:lnTo>
                  <a:pt x="3348061" y="2019100"/>
                </a:lnTo>
                <a:lnTo>
                  <a:pt x="3355169" y="2020667"/>
                </a:lnTo>
                <a:lnTo>
                  <a:pt x="3362277" y="2022200"/>
                </a:lnTo>
                <a:lnTo>
                  <a:pt x="3369386" y="2023700"/>
                </a:lnTo>
                <a:lnTo>
                  <a:pt x="3376494" y="2025168"/>
                </a:lnTo>
                <a:lnTo>
                  <a:pt x="3383603" y="2026605"/>
                </a:lnTo>
                <a:lnTo>
                  <a:pt x="3390711" y="2028010"/>
                </a:lnTo>
                <a:lnTo>
                  <a:pt x="3397819" y="2029384"/>
                </a:lnTo>
                <a:lnTo>
                  <a:pt x="3404928" y="2030728"/>
                </a:lnTo>
                <a:lnTo>
                  <a:pt x="3412036" y="2032042"/>
                </a:lnTo>
                <a:lnTo>
                  <a:pt x="3419145" y="2033327"/>
                </a:lnTo>
                <a:lnTo>
                  <a:pt x="3426253" y="2034583"/>
                </a:lnTo>
                <a:lnTo>
                  <a:pt x="3433361" y="2035810"/>
                </a:lnTo>
                <a:lnTo>
                  <a:pt x="3440470" y="2037008"/>
                </a:lnTo>
                <a:lnTo>
                  <a:pt x="3447578" y="2038180"/>
                </a:lnTo>
                <a:lnTo>
                  <a:pt x="3454687" y="2039324"/>
                </a:lnTo>
                <a:lnTo>
                  <a:pt x="3461795" y="2040441"/>
                </a:lnTo>
                <a:lnTo>
                  <a:pt x="3468904" y="2041532"/>
                </a:lnTo>
                <a:lnTo>
                  <a:pt x="3476012" y="2042597"/>
                </a:lnTo>
                <a:lnTo>
                  <a:pt x="3483120" y="2043637"/>
                </a:lnTo>
                <a:lnTo>
                  <a:pt x="3490229" y="2044651"/>
                </a:lnTo>
                <a:lnTo>
                  <a:pt x="3497337" y="2045642"/>
                </a:lnTo>
                <a:lnTo>
                  <a:pt x="3504446" y="2046608"/>
                </a:lnTo>
                <a:lnTo>
                  <a:pt x="3511554" y="2047550"/>
                </a:lnTo>
                <a:lnTo>
                  <a:pt x="3518662" y="2048469"/>
                </a:lnTo>
                <a:lnTo>
                  <a:pt x="3525771" y="2049366"/>
                </a:lnTo>
                <a:lnTo>
                  <a:pt x="3532879" y="2050240"/>
                </a:lnTo>
                <a:lnTo>
                  <a:pt x="3539988" y="2051092"/>
                </a:lnTo>
                <a:lnTo>
                  <a:pt x="3547096" y="2051923"/>
                </a:lnTo>
                <a:lnTo>
                  <a:pt x="3554204" y="2052732"/>
                </a:lnTo>
                <a:lnTo>
                  <a:pt x="3561313" y="2053521"/>
                </a:lnTo>
                <a:lnTo>
                  <a:pt x="3568421" y="2054289"/>
                </a:lnTo>
                <a:lnTo>
                  <a:pt x="3575530" y="2055038"/>
                </a:lnTo>
                <a:lnTo>
                  <a:pt x="3582638" y="2055767"/>
                </a:lnTo>
                <a:lnTo>
                  <a:pt x="3589746" y="2056477"/>
                </a:lnTo>
                <a:lnTo>
                  <a:pt x="3596855" y="2057169"/>
                </a:lnTo>
                <a:lnTo>
                  <a:pt x="3603963" y="2057842"/>
                </a:lnTo>
                <a:lnTo>
                  <a:pt x="3611072" y="2058497"/>
                </a:lnTo>
                <a:lnTo>
                  <a:pt x="3618180" y="2059134"/>
                </a:lnTo>
                <a:lnTo>
                  <a:pt x="3625289" y="2059754"/>
                </a:lnTo>
                <a:lnTo>
                  <a:pt x="3632397" y="2060358"/>
                </a:lnTo>
                <a:lnTo>
                  <a:pt x="3639505" y="2060945"/>
                </a:lnTo>
                <a:lnTo>
                  <a:pt x="3646614" y="2061516"/>
                </a:lnTo>
                <a:lnTo>
                  <a:pt x="3653722" y="2062071"/>
                </a:lnTo>
                <a:lnTo>
                  <a:pt x="3660831" y="2062611"/>
                </a:lnTo>
                <a:lnTo>
                  <a:pt x="3667939" y="2063136"/>
                </a:lnTo>
                <a:lnTo>
                  <a:pt x="3675047" y="2063646"/>
                </a:lnTo>
                <a:lnTo>
                  <a:pt x="3682156" y="2064141"/>
                </a:lnTo>
                <a:lnTo>
                  <a:pt x="3689264" y="2064623"/>
                </a:lnTo>
                <a:lnTo>
                  <a:pt x="3696373" y="2065091"/>
                </a:lnTo>
                <a:lnTo>
                  <a:pt x="3703481" y="2065546"/>
                </a:lnTo>
                <a:lnTo>
                  <a:pt x="3710589" y="2065987"/>
                </a:lnTo>
                <a:lnTo>
                  <a:pt x="3717698" y="2066416"/>
                </a:lnTo>
                <a:lnTo>
                  <a:pt x="3724806" y="2066832"/>
                </a:lnTo>
                <a:lnTo>
                  <a:pt x="3731915" y="2067236"/>
                </a:lnTo>
                <a:lnTo>
                  <a:pt x="3739023" y="2067628"/>
                </a:lnTo>
                <a:lnTo>
                  <a:pt x="3746132" y="2068009"/>
                </a:lnTo>
                <a:lnTo>
                  <a:pt x="3753240" y="2068378"/>
                </a:lnTo>
                <a:lnTo>
                  <a:pt x="3760348" y="2068736"/>
                </a:lnTo>
                <a:lnTo>
                  <a:pt x="3767457" y="2069084"/>
                </a:lnTo>
                <a:lnTo>
                  <a:pt x="3774565" y="2069421"/>
                </a:lnTo>
                <a:lnTo>
                  <a:pt x="3781674" y="2069748"/>
                </a:lnTo>
                <a:lnTo>
                  <a:pt x="3788782" y="2070064"/>
                </a:lnTo>
                <a:lnTo>
                  <a:pt x="3795890" y="2070372"/>
                </a:lnTo>
                <a:lnTo>
                  <a:pt x="3802999" y="2070669"/>
                </a:lnTo>
                <a:lnTo>
                  <a:pt x="3810107" y="2070958"/>
                </a:lnTo>
                <a:lnTo>
                  <a:pt x="3817216" y="2071238"/>
                </a:lnTo>
                <a:lnTo>
                  <a:pt x="3824324" y="2071508"/>
                </a:lnTo>
                <a:lnTo>
                  <a:pt x="3831432" y="2071771"/>
                </a:lnTo>
                <a:lnTo>
                  <a:pt x="3838541" y="2072025"/>
                </a:lnTo>
                <a:lnTo>
                  <a:pt x="3845649" y="2072271"/>
                </a:lnTo>
                <a:lnTo>
                  <a:pt x="3852758" y="2072509"/>
                </a:lnTo>
                <a:lnTo>
                  <a:pt x="3859866" y="2072740"/>
                </a:lnTo>
                <a:lnTo>
                  <a:pt x="3866974" y="2072963"/>
                </a:lnTo>
                <a:lnTo>
                  <a:pt x="3874083" y="2073179"/>
                </a:lnTo>
                <a:lnTo>
                  <a:pt x="3881191" y="2073388"/>
                </a:lnTo>
                <a:lnTo>
                  <a:pt x="3888300" y="2073591"/>
                </a:lnTo>
                <a:lnTo>
                  <a:pt x="3895408" y="2073786"/>
                </a:lnTo>
                <a:lnTo>
                  <a:pt x="3902517" y="2073976"/>
                </a:lnTo>
                <a:lnTo>
                  <a:pt x="3909625" y="2074159"/>
                </a:lnTo>
                <a:lnTo>
                  <a:pt x="3916733" y="2074336"/>
                </a:lnTo>
                <a:lnTo>
                  <a:pt x="3923842" y="2074507"/>
                </a:lnTo>
                <a:lnTo>
                  <a:pt x="3930950" y="2074672"/>
                </a:lnTo>
                <a:lnTo>
                  <a:pt x="3938059" y="2074832"/>
                </a:lnTo>
                <a:lnTo>
                  <a:pt x="3945167" y="2074986"/>
                </a:lnTo>
                <a:lnTo>
                  <a:pt x="3952275" y="2075135"/>
                </a:lnTo>
                <a:lnTo>
                  <a:pt x="3959384" y="2075280"/>
                </a:lnTo>
                <a:lnTo>
                  <a:pt x="3966492" y="2075419"/>
                </a:lnTo>
                <a:lnTo>
                  <a:pt x="3973601" y="2075553"/>
                </a:lnTo>
                <a:lnTo>
                  <a:pt x="3980709" y="2075683"/>
                </a:lnTo>
                <a:lnTo>
                  <a:pt x="3987817" y="2075808"/>
                </a:lnTo>
                <a:lnTo>
                  <a:pt x="3994926" y="2075929"/>
                </a:lnTo>
                <a:lnTo>
                  <a:pt x="4002034" y="2076046"/>
                </a:lnTo>
                <a:lnTo>
                  <a:pt x="4009143" y="2076159"/>
                </a:lnTo>
                <a:lnTo>
                  <a:pt x="4016251" y="2076267"/>
                </a:lnTo>
                <a:lnTo>
                  <a:pt x="4023360" y="2076372"/>
                </a:lnTo>
                <a:lnTo>
                  <a:pt x="4030468" y="2076473"/>
                </a:lnTo>
                <a:lnTo>
                  <a:pt x="4037576" y="2076571"/>
                </a:lnTo>
                <a:lnTo>
                  <a:pt x="4044685" y="2076665"/>
                </a:lnTo>
                <a:lnTo>
                  <a:pt x="4051793" y="2076756"/>
                </a:lnTo>
                <a:lnTo>
                  <a:pt x="4058902" y="2076843"/>
                </a:lnTo>
                <a:lnTo>
                  <a:pt x="4066010" y="2076928"/>
                </a:lnTo>
                <a:lnTo>
                  <a:pt x="4073118" y="2077009"/>
                </a:lnTo>
                <a:lnTo>
                  <a:pt x="4080227" y="2077087"/>
                </a:lnTo>
                <a:lnTo>
                  <a:pt x="4087335" y="2077162"/>
                </a:lnTo>
                <a:lnTo>
                  <a:pt x="4094444" y="2077235"/>
                </a:lnTo>
                <a:lnTo>
                  <a:pt x="4101552" y="2077305"/>
                </a:lnTo>
                <a:lnTo>
                  <a:pt x="4108660" y="2077372"/>
                </a:lnTo>
                <a:lnTo>
                  <a:pt x="4115769" y="2077437"/>
                </a:lnTo>
                <a:lnTo>
                  <a:pt x="4122877" y="2077499"/>
                </a:lnTo>
                <a:lnTo>
                  <a:pt x="4129986" y="2077560"/>
                </a:lnTo>
                <a:lnTo>
                  <a:pt x="4137094" y="2077617"/>
                </a:lnTo>
                <a:lnTo>
                  <a:pt x="4144202" y="2077673"/>
                </a:lnTo>
                <a:lnTo>
                  <a:pt x="4151311" y="2077727"/>
                </a:lnTo>
                <a:lnTo>
                  <a:pt x="4158419" y="2077778"/>
                </a:lnTo>
                <a:lnTo>
                  <a:pt x="4165528" y="2077828"/>
                </a:lnTo>
                <a:lnTo>
                  <a:pt x="4172636" y="2077875"/>
                </a:lnTo>
                <a:lnTo>
                  <a:pt x="4179745" y="2077921"/>
                </a:lnTo>
                <a:lnTo>
                  <a:pt x="4186853" y="2077965"/>
                </a:lnTo>
                <a:lnTo>
                  <a:pt x="4193961" y="2078007"/>
                </a:lnTo>
                <a:lnTo>
                  <a:pt x="4201070" y="2078048"/>
                </a:lnTo>
                <a:lnTo>
                  <a:pt x="4208178" y="2078087"/>
                </a:lnTo>
                <a:lnTo>
                  <a:pt x="4215287" y="2078125"/>
                </a:lnTo>
                <a:lnTo>
                  <a:pt x="4222395" y="2078161"/>
                </a:lnTo>
                <a:lnTo>
                  <a:pt x="4229503" y="2078195"/>
                </a:lnTo>
                <a:lnTo>
                  <a:pt x="4236612" y="2078229"/>
                </a:lnTo>
                <a:lnTo>
                  <a:pt x="4243720" y="2078261"/>
                </a:lnTo>
                <a:lnTo>
                  <a:pt x="4250829" y="2078291"/>
                </a:lnTo>
                <a:lnTo>
                  <a:pt x="4257937" y="2078321"/>
                </a:lnTo>
                <a:lnTo>
                  <a:pt x="4265045" y="2078349"/>
                </a:lnTo>
                <a:lnTo>
                  <a:pt x="4272154" y="2078376"/>
                </a:lnTo>
                <a:lnTo>
                  <a:pt x="4279262" y="2078402"/>
                </a:lnTo>
                <a:lnTo>
                  <a:pt x="4286371" y="2078427"/>
                </a:lnTo>
                <a:lnTo>
                  <a:pt x="4293479" y="2078451"/>
                </a:lnTo>
                <a:lnTo>
                  <a:pt x="4300587" y="2078474"/>
                </a:lnTo>
                <a:lnTo>
                  <a:pt x="4307696" y="2078496"/>
                </a:lnTo>
                <a:lnTo>
                  <a:pt x="4314804" y="2078517"/>
                </a:lnTo>
                <a:lnTo>
                  <a:pt x="4321913" y="2078537"/>
                </a:lnTo>
                <a:lnTo>
                  <a:pt x="4329021" y="2078557"/>
                </a:lnTo>
                <a:lnTo>
                  <a:pt x="4336130" y="2078575"/>
                </a:lnTo>
                <a:lnTo>
                  <a:pt x="4343238" y="2078593"/>
                </a:lnTo>
                <a:lnTo>
                  <a:pt x="4350346" y="2078610"/>
                </a:lnTo>
                <a:lnTo>
                  <a:pt x="4357455" y="2078627"/>
                </a:lnTo>
                <a:lnTo>
                  <a:pt x="4364563" y="2078642"/>
                </a:lnTo>
                <a:lnTo>
                  <a:pt x="4371672" y="2078657"/>
                </a:lnTo>
                <a:lnTo>
                  <a:pt x="4378780" y="2078672"/>
                </a:lnTo>
                <a:lnTo>
                  <a:pt x="4385888" y="2078686"/>
                </a:lnTo>
                <a:lnTo>
                  <a:pt x="4392997" y="2078699"/>
                </a:lnTo>
                <a:lnTo>
                  <a:pt x="4400105" y="2078711"/>
                </a:lnTo>
                <a:lnTo>
                  <a:pt x="4407214" y="2078723"/>
                </a:lnTo>
                <a:lnTo>
                  <a:pt x="4414322" y="2078735"/>
                </a:lnTo>
                <a:lnTo>
                  <a:pt x="4421430" y="2078746"/>
                </a:lnTo>
                <a:lnTo>
                  <a:pt x="4428539" y="2078757"/>
                </a:lnTo>
                <a:lnTo>
                  <a:pt x="4435647" y="2078767"/>
                </a:lnTo>
                <a:lnTo>
                  <a:pt x="4442756" y="2078776"/>
                </a:lnTo>
                <a:lnTo>
                  <a:pt x="4449864" y="2078786"/>
                </a:lnTo>
                <a:lnTo>
                  <a:pt x="4456973" y="2078794"/>
                </a:lnTo>
                <a:lnTo>
                  <a:pt x="4464081" y="2078803"/>
                </a:lnTo>
                <a:lnTo>
                  <a:pt x="4471189" y="2078811"/>
                </a:lnTo>
                <a:lnTo>
                  <a:pt x="4478298" y="2078819"/>
                </a:lnTo>
                <a:lnTo>
                  <a:pt x="4485406" y="2078826"/>
                </a:lnTo>
                <a:lnTo>
                  <a:pt x="4492515" y="2078833"/>
                </a:lnTo>
                <a:lnTo>
                  <a:pt x="4499623" y="2078840"/>
                </a:lnTo>
                <a:lnTo>
                  <a:pt x="4506731" y="2078846"/>
                </a:lnTo>
                <a:lnTo>
                  <a:pt x="4513840" y="2078852"/>
                </a:lnTo>
                <a:lnTo>
                  <a:pt x="4520948" y="2078858"/>
                </a:lnTo>
                <a:lnTo>
                  <a:pt x="4528057" y="2078864"/>
                </a:lnTo>
                <a:lnTo>
                  <a:pt x="4535165" y="2078869"/>
                </a:lnTo>
                <a:lnTo>
                  <a:pt x="4542273" y="2078874"/>
                </a:lnTo>
                <a:lnTo>
                  <a:pt x="4549382" y="2078879"/>
                </a:lnTo>
                <a:lnTo>
                  <a:pt x="4556490" y="2078884"/>
                </a:lnTo>
                <a:lnTo>
                  <a:pt x="4563599" y="2078888"/>
                </a:lnTo>
                <a:lnTo>
                  <a:pt x="4570707" y="2078892"/>
                </a:lnTo>
                <a:lnTo>
                  <a:pt x="4577815" y="2078896"/>
                </a:lnTo>
                <a:lnTo>
                  <a:pt x="4584924" y="2078900"/>
                </a:lnTo>
                <a:lnTo>
                  <a:pt x="4592032" y="2078904"/>
                </a:lnTo>
                <a:lnTo>
                  <a:pt x="4599141" y="2078907"/>
                </a:lnTo>
                <a:lnTo>
                  <a:pt x="4606249" y="2078911"/>
                </a:lnTo>
                <a:lnTo>
                  <a:pt x="4613358" y="2078914"/>
                </a:lnTo>
                <a:lnTo>
                  <a:pt x="4620466" y="2078917"/>
                </a:lnTo>
                <a:lnTo>
                  <a:pt x="4627574" y="2078920"/>
                </a:lnTo>
                <a:lnTo>
                  <a:pt x="4634683" y="2078922"/>
                </a:lnTo>
                <a:lnTo>
                  <a:pt x="4641791" y="2078925"/>
                </a:lnTo>
                <a:lnTo>
                  <a:pt x="4648900" y="2078927"/>
                </a:lnTo>
                <a:lnTo>
                  <a:pt x="4656008" y="2078930"/>
                </a:lnTo>
                <a:lnTo>
                  <a:pt x="4663116" y="2078932"/>
                </a:lnTo>
                <a:lnTo>
                  <a:pt x="4670225" y="2078934"/>
                </a:lnTo>
                <a:lnTo>
                  <a:pt x="4677333" y="2078936"/>
                </a:lnTo>
                <a:lnTo>
                  <a:pt x="4684442" y="2078938"/>
                </a:lnTo>
                <a:lnTo>
                  <a:pt x="4691550" y="2078940"/>
                </a:lnTo>
                <a:lnTo>
                  <a:pt x="4698658" y="2078942"/>
                </a:lnTo>
                <a:lnTo>
                  <a:pt x="4705767" y="2078943"/>
                </a:lnTo>
                <a:lnTo>
                  <a:pt x="4712875" y="2078945"/>
                </a:lnTo>
                <a:lnTo>
                  <a:pt x="4719984" y="2078947"/>
                </a:lnTo>
                <a:lnTo>
                  <a:pt x="4727092" y="2078948"/>
                </a:lnTo>
                <a:lnTo>
                  <a:pt x="4734200" y="2078949"/>
                </a:lnTo>
                <a:lnTo>
                  <a:pt x="4741309" y="2078951"/>
                </a:lnTo>
                <a:lnTo>
                  <a:pt x="4748417" y="2078952"/>
                </a:lnTo>
                <a:lnTo>
                  <a:pt x="4755526" y="2078953"/>
                </a:lnTo>
                <a:lnTo>
                  <a:pt x="4762634" y="2078954"/>
                </a:lnTo>
                <a:lnTo>
                  <a:pt x="4769743" y="2078955"/>
                </a:lnTo>
                <a:lnTo>
                  <a:pt x="4776851" y="2078956"/>
                </a:lnTo>
                <a:lnTo>
                  <a:pt x="4783959" y="2078957"/>
                </a:lnTo>
                <a:lnTo>
                  <a:pt x="4791068" y="2078958"/>
                </a:lnTo>
                <a:lnTo>
                  <a:pt x="4798176" y="2078959"/>
                </a:lnTo>
                <a:lnTo>
                  <a:pt x="4805285" y="2078960"/>
                </a:lnTo>
                <a:lnTo>
                  <a:pt x="4812393" y="2078960"/>
                </a:lnTo>
                <a:lnTo>
                  <a:pt x="4819501" y="2078961"/>
                </a:lnTo>
                <a:lnTo>
                  <a:pt x="4826610" y="2078962"/>
                </a:lnTo>
                <a:lnTo>
                  <a:pt x="4833718" y="2078963"/>
                </a:lnTo>
                <a:lnTo>
                  <a:pt x="4840827" y="2078963"/>
                </a:lnTo>
                <a:lnTo>
                  <a:pt x="4847935" y="2078964"/>
                </a:lnTo>
                <a:lnTo>
                  <a:pt x="4855043" y="2078964"/>
                </a:lnTo>
                <a:lnTo>
                  <a:pt x="4862152" y="2078965"/>
                </a:lnTo>
                <a:lnTo>
                  <a:pt x="4869260" y="2078965"/>
                </a:lnTo>
                <a:lnTo>
                  <a:pt x="4876369" y="2078966"/>
                </a:lnTo>
                <a:lnTo>
                  <a:pt x="4883477" y="2078966"/>
                </a:lnTo>
                <a:lnTo>
                  <a:pt x="4890586" y="2078967"/>
                </a:lnTo>
                <a:lnTo>
                  <a:pt x="4897694" y="2078967"/>
                </a:lnTo>
                <a:lnTo>
                  <a:pt x="4904802" y="2078968"/>
                </a:lnTo>
                <a:lnTo>
                  <a:pt x="4911911" y="2078968"/>
                </a:lnTo>
                <a:lnTo>
                  <a:pt x="4919019" y="2078968"/>
                </a:lnTo>
                <a:lnTo>
                  <a:pt x="4926128" y="2078969"/>
                </a:lnTo>
                <a:lnTo>
                  <a:pt x="4933236" y="2078969"/>
                </a:lnTo>
                <a:lnTo>
                  <a:pt x="4940344" y="2078969"/>
                </a:lnTo>
                <a:lnTo>
                  <a:pt x="4947453" y="2078969"/>
                </a:lnTo>
                <a:lnTo>
                  <a:pt x="4954561" y="2078970"/>
                </a:lnTo>
                <a:lnTo>
                  <a:pt x="4961670" y="2078970"/>
                </a:lnTo>
                <a:lnTo>
                  <a:pt x="4968778" y="2078970"/>
                </a:lnTo>
                <a:lnTo>
                  <a:pt x="4975886" y="2078970"/>
                </a:lnTo>
                <a:lnTo>
                  <a:pt x="4982995" y="2078971"/>
                </a:lnTo>
                <a:lnTo>
                  <a:pt x="4990103" y="2078971"/>
                </a:lnTo>
                <a:lnTo>
                  <a:pt x="4997212" y="2078971"/>
                </a:lnTo>
                <a:lnTo>
                  <a:pt x="5004320" y="2078971"/>
                </a:lnTo>
                <a:lnTo>
                  <a:pt x="5011428" y="2078971"/>
                </a:lnTo>
                <a:lnTo>
                  <a:pt x="5018537" y="2078972"/>
                </a:lnTo>
                <a:lnTo>
                  <a:pt x="5025645" y="2078972"/>
                </a:lnTo>
                <a:lnTo>
                  <a:pt x="5032754" y="2078972"/>
                </a:lnTo>
                <a:lnTo>
                  <a:pt x="5039862" y="2078972"/>
                </a:lnTo>
                <a:lnTo>
                  <a:pt x="5046971" y="2078972"/>
                </a:lnTo>
                <a:lnTo>
                  <a:pt x="5054079" y="2078972"/>
                </a:lnTo>
                <a:lnTo>
                  <a:pt x="5061187" y="2078972"/>
                </a:lnTo>
                <a:lnTo>
                  <a:pt x="5068296" y="2078972"/>
                </a:lnTo>
                <a:lnTo>
                  <a:pt x="5075404" y="2078973"/>
                </a:lnTo>
                <a:lnTo>
                  <a:pt x="5082513" y="2078973"/>
                </a:lnTo>
                <a:lnTo>
                  <a:pt x="5089621" y="2078973"/>
                </a:lnTo>
                <a:lnTo>
                  <a:pt x="5096729" y="2078973"/>
                </a:lnTo>
                <a:lnTo>
                  <a:pt x="5103838" y="2078973"/>
                </a:lnTo>
                <a:lnTo>
                  <a:pt x="5110946" y="2078973"/>
                </a:lnTo>
                <a:lnTo>
                  <a:pt x="5118055" y="2078973"/>
                </a:lnTo>
                <a:lnTo>
                  <a:pt x="5125163" y="2078973"/>
                </a:lnTo>
                <a:lnTo>
                  <a:pt x="5132271" y="2078973"/>
                </a:lnTo>
                <a:lnTo>
                  <a:pt x="5139380" y="2078973"/>
                </a:lnTo>
                <a:lnTo>
                  <a:pt x="5146488" y="2078973"/>
                </a:lnTo>
                <a:lnTo>
                  <a:pt x="5153597" y="2078973"/>
                </a:lnTo>
                <a:lnTo>
                  <a:pt x="5160705" y="2078973"/>
                </a:lnTo>
                <a:lnTo>
                  <a:pt x="5167813" y="2078973"/>
                </a:lnTo>
                <a:lnTo>
                  <a:pt x="5174922" y="2078973"/>
                </a:lnTo>
                <a:lnTo>
                  <a:pt x="5182030" y="2078974"/>
                </a:lnTo>
                <a:lnTo>
                  <a:pt x="5189139" y="2078974"/>
                </a:lnTo>
                <a:lnTo>
                  <a:pt x="5196247" y="2078974"/>
                </a:lnTo>
                <a:lnTo>
                  <a:pt x="5203356" y="2078974"/>
                </a:lnTo>
                <a:lnTo>
                  <a:pt x="5210464" y="2078974"/>
                </a:lnTo>
                <a:lnTo>
                  <a:pt x="5217572" y="2078974"/>
                </a:lnTo>
                <a:lnTo>
                  <a:pt x="5224681" y="2078974"/>
                </a:lnTo>
                <a:lnTo>
                  <a:pt x="5231789" y="2078974"/>
                </a:lnTo>
                <a:lnTo>
                  <a:pt x="5238898" y="2078974"/>
                </a:lnTo>
                <a:lnTo>
                  <a:pt x="5246006" y="2078974"/>
                </a:lnTo>
                <a:lnTo>
                  <a:pt x="5253114" y="2078974"/>
                </a:lnTo>
                <a:lnTo>
                  <a:pt x="5260223" y="2078974"/>
                </a:lnTo>
                <a:lnTo>
                  <a:pt x="5267331" y="2078974"/>
                </a:lnTo>
                <a:lnTo>
                  <a:pt x="5274440" y="2078974"/>
                </a:lnTo>
                <a:lnTo>
                  <a:pt x="5281548" y="2078974"/>
                </a:lnTo>
                <a:lnTo>
                  <a:pt x="5288656" y="2078974"/>
                </a:lnTo>
                <a:lnTo>
                  <a:pt x="5295765" y="2078974"/>
                </a:lnTo>
                <a:lnTo>
                  <a:pt x="5302873" y="2078974"/>
                </a:lnTo>
                <a:lnTo>
                  <a:pt x="5309982" y="2078974"/>
                </a:lnTo>
                <a:lnTo>
                  <a:pt x="5317090" y="2078974"/>
                </a:lnTo>
                <a:lnTo>
                  <a:pt x="5324199" y="2078974"/>
                </a:lnTo>
                <a:lnTo>
                  <a:pt x="5331307" y="2078974"/>
                </a:lnTo>
                <a:lnTo>
                  <a:pt x="5338415" y="2078974"/>
                </a:lnTo>
                <a:lnTo>
                  <a:pt x="5345524" y="2078974"/>
                </a:lnTo>
                <a:lnTo>
                  <a:pt x="5352632" y="2078974"/>
                </a:lnTo>
                <a:lnTo>
                  <a:pt x="5359741" y="2078974"/>
                </a:lnTo>
                <a:lnTo>
                  <a:pt x="5366849" y="2078974"/>
                </a:lnTo>
                <a:lnTo>
                  <a:pt x="5373957" y="2078974"/>
                </a:lnTo>
                <a:lnTo>
                  <a:pt x="5381066" y="2078974"/>
                </a:lnTo>
                <a:lnTo>
                  <a:pt x="5388174" y="2078974"/>
                </a:lnTo>
                <a:lnTo>
                  <a:pt x="5395283" y="2078974"/>
                </a:lnTo>
                <a:lnTo>
                  <a:pt x="5402391" y="2078974"/>
                </a:lnTo>
                <a:lnTo>
                  <a:pt x="5409499" y="2078974"/>
                </a:lnTo>
                <a:lnTo>
                  <a:pt x="5416608" y="2078974"/>
                </a:lnTo>
                <a:lnTo>
                  <a:pt x="5423716" y="2078974"/>
                </a:lnTo>
                <a:lnTo>
                  <a:pt x="5430825" y="2078974"/>
                </a:lnTo>
                <a:lnTo>
                  <a:pt x="5437933" y="2078974"/>
                </a:lnTo>
                <a:lnTo>
                  <a:pt x="5445041" y="2078974"/>
                </a:lnTo>
                <a:lnTo>
                  <a:pt x="5452150" y="2078974"/>
                </a:lnTo>
                <a:lnTo>
                  <a:pt x="5459258" y="2078974"/>
                </a:lnTo>
                <a:lnTo>
                  <a:pt x="5466367" y="2078974"/>
                </a:lnTo>
                <a:lnTo>
                  <a:pt x="5473475" y="2078974"/>
                </a:lnTo>
                <a:lnTo>
                  <a:pt x="5480584" y="2078974"/>
                </a:lnTo>
                <a:lnTo>
                  <a:pt x="5487692" y="2078974"/>
                </a:lnTo>
                <a:lnTo>
                  <a:pt x="5494800" y="2078974"/>
                </a:lnTo>
                <a:lnTo>
                  <a:pt x="5501909" y="2078974"/>
                </a:lnTo>
                <a:lnTo>
                  <a:pt x="5509017" y="2078974"/>
                </a:lnTo>
                <a:lnTo>
                  <a:pt x="5516126" y="2078974"/>
                </a:lnTo>
                <a:lnTo>
                  <a:pt x="5523234" y="2078974"/>
                </a:lnTo>
                <a:lnTo>
                  <a:pt x="5530342" y="2078974"/>
                </a:lnTo>
                <a:lnTo>
                  <a:pt x="5537451" y="2078974"/>
                </a:lnTo>
                <a:lnTo>
                  <a:pt x="5544559" y="2078974"/>
                </a:lnTo>
                <a:lnTo>
                  <a:pt x="5551668" y="2078974"/>
                </a:lnTo>
                <a:lnTo>
                  <a:pt x="5558776" y="2078974"/>
                </a:lnTo>
                <a:lnTo>
                  <a:pt x="5565884" y="2078974"/>
                </a:lnTo>
                <a:lnTo>
                  <a:pt x="5572993" y="2078974"/>
                </a:lnTo>
                <a:lnTo>
                  <a:pt x="5580101" y="2078974"/>
                </a:lnTo>
                <a:lnTo>
                  <a:pt x="5587210" y="2078974"/>
                </a:lnTo>
                <a:lnTo>
                  <a:pt x="5594318" y="2078974"/>
                </a:lnTo>
                <a:lnTo>
                  <a:pt x="5601426" y="2078974"/>
                </a:lnTo>
                <a:lnTo>
                  <a:pt x="5608535" y="2078974"/>
                </a:lnTo>
                <a:lnTo>
                  <a:pt x="5615643" y="2078974"/>
                </a:lnTo>
                <a:lnTo>
                  <a:pt x="5622752" y="2078974"/>
                </a:lnTo>
                <a:lnTo>
                  <a:pt x="5629860" y="2078974"/>
                </a:lnTo>
                <a:lnTo>
                  <a:pt x="5636969" y="2078974"/>
                </a:lnTo>
                <a:lnTo>
                  <a:pt x="5644077" y="2078974"/>
                </a:lnTo>
                <a:lnTo>
                  <a:pt x="5651185" y="2078974"/>
                </a:lnTo>
                <a:lnTo>
                  <a:pt x="5658294" y="2078974"/>
                </a:lnTo>
                <a:lnTo>
                  <a:pt x="5665402" y="2078974"/>
                </a:lnTo>
                <a:lnTo>
                  <a:pt x="5672511" y="2078974"/>
                </a:lnTo>
                <a:lnTo>
                  <a:pt x="5679619" y="2078974"/>
                </a:lnTo>
                <a:lnTo>
                  <a:pt x="5686727" y="2078974"/>
                </a:lnTo>
                <a:lnTo>
                  <a:pt x="5693836" y="2078974"/>
                </a:lnTo>
                <a:lnTo>
                  <a:pt x="5700944" y="2078974"/>
                </a:lnTo>
                <a:lnTo>
                  <a:pt x="5708053" y="2078974"/>
                </a:lnTo>
                <a:lnTo>
                  <a:pt x="5715161" y="2078974"/>
                </a:lnTo>
                <a:lnTo>
                  <a:pt x="5722269" y="2078974"/>
                </a:lnTo>
                <a:lnTo>
                  <a:pt x="5729378" y="2078974"/>
                </a:lnTo>
                <a:lnTo>
                  <a:pt x="5736486" y="2078974"/>
                </a:lnTo>
                <a:lnTo>
                  <a:pt x="5743595" y="2078974"/>
                </a:lnTo>
                <a:lnTo>
                  <a:pt x="5750703" y="2078974"/>
                </a:lnTo>
                <a:lnTo>
                  <a:pt x="5757812" y="2078974"/>
                </a:lnTo>
                <a:lnTo>
                  <a:pt x="5764920" y="2078974"/>
                </a:lnTo>
                <a:lnTo>
                  <a:pt x="5772028" y="2078974"/>
                </a:lnTo>
                <a:lnTo>
                  <a:pt x="5779137" y="2078974"/>
                </a:lnTo>
                <a:lnTo>
                  <a:pt x="5786245" y="2078974"/>
                </a:lnTo>
                <a:lnTo>
                  <a:pt x="5793354" y="2078974"/>
                </a:lnTo>
                <a:lnTo>
                  <a:pt x="5800462" y="2078974"/>
                </a:lnTo>
                <a:lnTo>
                  <a:pt x="5807570" y="2078974"/>
                </a:lnTo>
                <a:lnTo>
                  <a:pt x="5814679" y="2078974"/>
                </a:lnTo>
                <a:lnTo>
                  <a:pt x="5821787" y="2078974"/>
                </a:lnTo>
                <a:lnTo>
                  <a:pt x="5828896" y="2078974"/>
                </a:lnTo>
                <a:lnTo>
                  <a:pt x="5836004" y="2078974"/>
                </a:lnTo>
                <a:lnTo>
                  <a:pt x="5843112" y="2078974"/>
                </a:lnTo>
                <a:lnTo>
                  <a:pt x="5850221" y="2078974"/>
                </a:lnTo>
                <a:lnTo>
                  <a:pt x="5857329" y="2078974"/>
                </a:lnTo>
                <a:lnTo>
                  <a:pt x="5864438" y="2078974"/>
                </a:lnTo>
                <a:lnTo>
                  <a:pt x="5871546" y="2078974"/>
                </a:lnTo>
                <a:lnTo>
                  <a:pt x="5878654" y="2078974"/>
                </a:lnTo>
                <a:lnTo>
                  <a:pt x="5885763" y="2078974"/>
                </a:lnTo>
                <a:lnTo>
                  <a:pt x="5892871" y="2078974"/>
                </a:lnTo>
                <a:lnTo>
                  <a:pt x="5899980" y="2078974"/>
                </a:lnTo>
                <a:lnTo>
                  <a:pt x="5907088" y="2078974"/>
                </a:lnTo>
                <a:lnTo>
                  <a:pt x="5914197" y="2078974"/>
                </a:lnTo>
                <a:lnTo>
                  <a:pt x="5921305" y="2078974"/>
                </a:lnTo>
                <a:lnTo>
                  <a:pt x="5928413" y="2078974"/>
                </a:lnTo>
                <a:lnTo>
                  <a:pt x="5935522" y="2078974"/>
                </a:lnTo>
                <a:lnTo>
                  <a:pt x="5942630" y="2078974"/>
                </a:lnTo>
                <a:lnTo>
                  <a:pt x="5949739" y="2078974"/>
                </a:lnTo>
                <a:lnTo>
                  <a:pt x="5956847" y="2078974"/>
                </a:lnTo>
                <a:lnTo>
                  <a:pt x="5963955" y="2078974"/>
                </a:lnTo>
                <a:lnTo>
                  <a:pt x="5971064" y="2078974"/>
                </a:lnTo>
                <a:lnTo>
                  <a:pt x="5978172" y="2078974"/>
                </a:lnTo>
                <a:lnTo>
                  <a:pt x="5985281" y="2078974"/>
                </a:lnTo>
                <a:lnTo>
                  <a:pt x="5992389" y="2078974"/>
                </a:lnTo>
                <a:lnTo>
                  <a:pt x="5999497" y="2078974"/>
                </a:lnTo>
                <a:lnTo>
                  <a:pt x="6006606" y="2078974"/>
                </a:lnTo>
                <a:lnTo>
                  <a:pt x="6013714" y="2078974"/>
                </a:lnTo>
                <a:lnTo>
                  <a:pt x="6020823" y="2078974"/>
                </a:lnTo>
                <a:lnTo>
                  <a:pt x="6027931" y="2078974"/>
                </a:lnTo>
                <a:lnTo>
                  <a:pt x="6035040" y="2078974"/>
                </a:lnTo>
              </a:path>
            </a:pathLst>
          </a:custGeom>
          <a:noFill/>
          <a:ln w="31750">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a:extLst>
              <a:ext uri="{FF2B5EF4-FFF2-40B4-BE49-F238E27FC236}">
                <a16:creationId xmlns:a16="http://schemas.microsoft.com/office/drawing/2014/main" id="{694DF8E8-342F-AD85-914B-92965C347216}"/>
              </a:ext>
            </a:extLst>
          </p:cNvPr>
          <p:cNvSpPr/>
          <p:nvPr/>
        </p:nvSpPr>
        <p:spPr>
          <a:xfrm>
            <a:off x="868680" y="2822424"/>
            <a:ext cx="6035040" cy="1779939"/>
          </a:xfrm>
          <a:custGeom>
            <a:avLst/>
            <a:gdLst/>
            <a:ahLst/>
            <a:cxnLst/>
            <a:rect l="l" t="t" r="r" b="b"/>
            <a:pathLst>
              <a:path w="6035040" h="1779939">
                <a:moveTo>
                  <a:pt x="0" y="1729094"/>
                </a:moveTo>
                <a:lnTo>
                  <a:pt x="7108" y="1726791"/>
                </a:lnTo>
                <a:lnTo>
                  <a:pt x="14216" y="1724399"/>
                </a:lnTo>
                <a:lnTo>
                  <a:pt x="21325" y="1721915"/>
                </a:lnTo>
                <a:lnTo>
                  <a:pt x="28433" y="1719337"/>
                </a:lnTo>
                <a:lnTo>
                  <a:pt x="35542" y="1716662"/>
                </a:lnTo>
                <a:lnTo>
                  <a:pt x="42650" y="1713887"/>
                </a:lnTo>
                <a:lnTo>
                  <a:pt x="49758" y="1711010"/>
                </a:lnTo>
                <a:lnTo>
                  <a:pt x="56867" y="1708027"/>
                </a:lnTo>
                <a:lnTo>
                  <a:pt x="63975" y="1704936"/>
                </a:lnTo>
                <a:lnTo>
                  <a:pt x="71084" y="1701734"/>
                </a:lnTo>
                <a:lnTo>
                  <a:pt x="78192" y="1698418"/>
                </a:lnTo>
                <a:lnTo>
                  <a:pt x="85300" y="1694985"/>
                </a:lnTo>
                <a:lnTo>
                  <a:pt x="92409" y="1691432"/>
                </a:lnTo>
                <a:lnTo>
                  <a:pt x="99517" y="1687756"/>
                </a:lnTo>
                <a:lnTo>
                  <a:pt x="106626" y="1683954"/>
                </a:lnTo>
                <a:lnTo>
                  <a:pt x="113734" y="1680023"/>
                </a:lnTo>
                <a:lnTo>
                  <a:pt x="120842" y="1675959"/>
                </a:lnTo>
                <a:lnTo>
                  <a:pt x="127951" y="1671761"/>
                </a:lnTo>
                <a:lnTo>
                  <a:pt x="135059" y="1667424"/>
                </a:lnTo>
                <a:lnTo>
                  <a:pt x="142168" y="1662946"/>
                </a:lnTo>
                <a:lnTo>
                  <a:pt x="149276" y="1658324"/>
                </a:lnTo>
                <a:lnTo>
                  <a:pt x="156385" y="1653554"/>
                </a:lnTo>
                <a:lnTo>
                  <a:pt x="163493" y="1648633"/>
                </a:lnTo>
                <a:lnTo>
                  <a:pt x="170601" y="1643559"/>
                </a:lnTo>
                <a:lnTo>
                  <a:pt x="177710" y="1638328"/>
                </a:lnTo>
                <a:lnTo>
                  <a:pt x="184818" y="1632937"/>
                </a:lnTo>
                <a:lnTo>
                  <a:pt x="191927" y="1627384"/>
                </a:lnTo>
                <a:lnTo>
                  <a:pt x="199035" y="1621664"/>
                </a:lnTo>
                <a:lnTo>
                  <a:pt x="206143" y="1615776"/>
                </a:lnTo>
                <a:lnTo>
                  <a:pt x="213252" y="1609716"/>
                </a:lnTo>
                <a:lnTo>
                  <a:pt x="220360" y="1603481"/>
                </a:lnTo>
                <a:lnTo>
                  <a:pt x="227469" y="1597069"/>
                </a:lnTo>
                <a:lnTo>
                  <a:pt x="234577" y="1590476"/>
                </a:lnTo>
                <a:lnTo>
                  <a:pt x="241685" y="1583700"/>
                </a:lnTo>
                <a:lnTo>
                  <a:pt x="248794" y="1576738"/>
                </a:lnTo>
                <a:lnTo>
                  <a:pt x="255902" y="1569588"/>
                </a:lnTo>
                <a:lnTo>
                  <a:pt x="263011" y="1562246"/>
                </a:lnTo>
                <a:lnTo>
                  <a:pt x="270119" y="1554711"/>
                </a:lnTo>
                <a:lnTo>
                  <a:pt x="277227" y="1546980"/>
                </a:lnTo>
                <a:lnTo>
                  <a:pt x="284336" y="1539051"/>
                </a:lnTo>
                <a:lnTo>
                  <a:pt x="291444" y="1530920"/>
                </a:lnTo>
                <a:lnTo>
                  <a:pt x="298553" y="1522587"/>
                </a:lnTo>
                <a:lnTo>
                  <a:pt x="305661" y="1514049"/>
                </a:lnTo>
                <a:lnTo>
                  <a:pt x="312770" y="1505303"/>
                </a:lnTo>
                <a:lnTo>
                  <a:pt x="319878" y="1496349"/>
                </a:lnTo>
                <a:lnTo>
                  <a:pt x="326986" y="1487185"/>
                </a:lnTo>
                <a:lnTo>
                  <a:pt x="334095" y="1477808"/>
                </a:lnTo>
                <a:lnTo>
                  <a:pt x="341203" y="1468217"/>
                </a:lnTo>
                <a:lnTo>
                  <a:pt x="348312" y="1458411"/>
                </a:lnTo>
                <a:lnTo>
                  <a:pt x="355420" y="1448389"/>
                </a:lnTo>
                <a:lnTo>
                  <a:pt x="362528" y="1438150"/>
                </a:lnTo>
                <a:lnTo>
                  <a:pt x="369637" y="1427692"/>
                </a:lnTo>
                <a:lnTo>
                  <a:pt x="376745" y="1417014"/>
                </a:lnTo>
                <a:lnTo>
                  <a:pt x="383854" y="1406118"/>
                </a:lnTo>
                <a:lnTo>
                  <a:pt x="390962" y="1395000"/>
                </a:lnTo>
                <a:lnTo>
                  <a:pt x="398070" y="1383663"/>
                </a:lnTo>
                <a:lnTo>
                  <a:pt x="405179" y="1372104"/>
                </a:lnTo>
                <a:lnTo>
                  <a:pt x="412287" y="1360326"/>
                </a:lnTo>
                <a:lnTo>
                  <a:pt x="419396" y="1348326"/>
                </a:lnTo>
                <a:lnTo>
                  <a:pt x="426504" y="1336107"/>
                </a:lnTo>
                <a:lnTo>
                  <a:pt x="433613" y="1323669"/>
                </a:lnTo>
                <a:lnTo>
                  <a:pt x="440721" y="1311013"/>
                </a:lnTo>
                <a:lnTo>
                  <a:pt x="447829" y="1298139"/>
                </a:lnTo>
                <a:lnTo>
                  <a:pt x="454938" y="1285050"/>
                </a:lnTo>
                <a:lnTo>
                  <a:pt x="462046" y="1271746"/>
                </a:lnTo>
                <a:lnTo>
                  <a:pt x="469155" y="1258229"/>
                </a:lnTo>
                <a:lnTo>
                  <a:pt x="476263" y="1244502"/>
                </a:lnTo>
                <a:lnTo>
                  <a:pt x="483371" y="1230566"/>
                </a:lnTo>
                <a:lnTo>
                  <a:pt x="490480" y="1216423"/>
                </a:lnTo>
                <a:lnTo>
                  <a:pt x="497588" y="1202078"/>
                </a:lnTo>
                <a:lnTo>
                  <a:pt x="504697" y="1187531"/>
                </a:lnTo>
                <a:lnTo>
                  <a:pt x="511805" y="1172787"/>
                </a:lnTo>
                <a:lnTo>
                  <a:pt x="518913" y="1157849"/>
                </a:lnTo>
                <a:lnTo>
                  <a:pt x="526022" y="1142721"/>
                </a:lnTo>
                <a:lnTo>
                  <a:pt x="533130" y="1127406"/>
                </a:lnTo>
                <a:lnTo>
                  <a:pt x="540239" y="1111908"/>
                </a:lnTo>
                <a:lnTo>
                  <a:pt x="547347" y="1096233"/>
                </a:lnTo>
                <a:lnTo>
                  <a:pt x="554455" y="1080383"/>
                </a:lnTo>
                <a:lnTo>
                  <a:pt x="561564" y="1064366"/>
                </a:lnTo>
                <a:lnTo>
                  <a:pt x="568672" y="1048184"/>
                </a:lnTo>
                <a:lnTo>
                  <a:pt x="575781" y="1031845"/>
                </a:lnTo>
                <a:lnTo>
                  <a:pt x="582889" y="1015353"/>
                </a:lnTo>
                <a:lnTo>
                  <a:pt x="589998" y="998715"/>
                </a:lnTo>
                <a:lnTo>
                  <a:pt x="597106" y="981936"/>
                </a:lnTo>
                <a:lnTo>
                  <a:pt x="604214" y="965024"/>
                </a:lnTo>
                <a:lnTo>
                  <a:pt x="611323" y="947984"/>
                </a:lnTo>
                <a:lnTo>
                  <a:pt x="618431" y="930823"/>
                </a:lnTo>
                <a:lnTo>
                  <a:pt x="625540" y="913550"/>
                </a:lnTo>
                <a:lnTo>
                  <a:pt x="632648" y="896170"/>
                </a:lnTo>
                <a:lnTo>
                  <a:pt x="639756" y="878693"/>
                </a:lnTo>
                <a:lnTo>
                  <a:pt x="646865" y="861125"/>
                </a:lnTo>
                <a:lnTo>
                  <a:pt x="653973" y="843474"/>
                </a:lnTo>
                <a:lnTo>
                  <a:pt x="661082" y="825750"/>
                </a:lnTo>
                <a:lnTo>
                  <a:pt x="668190" y="807960"/>
                </a:lnTo>
                <a:lnTo>
                  <a:pt x="675298" y="790114"/>
                </a:lnTo>
                <a:lnTo>
                  <a:pt x="682407" y="772219"/>
                </a:lnTo>
                <a:lnTo>
                  <a:pt x="689515" y="754287"/>
                </a:lnTo>
                <a:lnTo>
                  <a:pt x="696624" y="736325"/>
                </a:lnTo>
                <a:lnTo>
                  <a:pt x="703732" y="718343"/>
                </a:lnTo>
                <a:lnTo>
                  <a:pt x="710840" y="700352"/>
                </a:lnTo>
                <a:lnTo>
                  <a:pt x="717949" y="682360"/>
                </a:lnTo>
                <a:lnTo>
                  <a:pt x="725057" y="664379"/>
                </a:lnTo>
                <a:lnTo>
                  <a:pt x="732166" y="646418"/>
                </a:lnTo>
                <a:lnTo>
                  <a:pt x="739274" y="628487"/>
                </a:lnTo>
                <a:lnTo>
                  <a:pt x="746383" y="610598"/>
                </a:lnTo>
                <a:lnTo>
                  <a:pt x="753491" y="592761"/>
                </a:lnTo>
                <a:lnTo>
                  <a:pt x="760599" y="574987"/>
                </a:lnTo>
                <a:lnTo>
                  <a:pt x="767708" y="557286"/>
                </a:lnTo>
                <a:lnTo>
                  <a:pt x="774816" y="539669"/>
                </a:lnTo>
                <a:lnTo>
                  <a:pt x="781925" y="522148"/>
                </a:lnTo>
                <a:lnTo>
                  <a:pt x="789033" y="504734"/>
                </a:lnTo>
                <a:lnTo>
                  <a:pt x="796141" y="487438"/>
                </a:lnTo>
                <a:lnTo>
                  <a:pt x="803250" y="470271"/>
                </a:lnTo>
                <a:lnTo>
                  <a:pt x="810358" y="453245"/>
                </a:lnTo>
                <a:lnTo>
                  <a:pt x="817467" y="436371"/>
                </a:lnTo>
                <a:lnTo>
                  <a:pt x="824575" y="419660"/>
                </a:lnTo>
                <a:lnTo>
                  <a:pt x="831683" y="403123"/>
                </a:lnTo>
                <a:lnTo>
                  <a:pt x="838792" y="386773"/>
                </a:lnTo>
                <a:lnTo>
                  <a:pt x="845900" y="370620"/>
                </a:lnTo>
                <a:lnTo>
                  <a:pt x="853009" y="354675"/>
                </a:lnTo>
                <a:lnTo>
                  <a:pt x="860117" y="338951"/>
                </a:lnTo>
                <a:lnTo>
                  <a:pt x="867226" y="323458"/>
                </a:lnTo>
                <a:lnTo>
                  <a:pt x="874334" y="308207"/>
                </a:lnTo>
                <a:lnTo>
                  <a:pt x="881442" y="293209"/>
                </a:lnTo>
                <a:lnTo>
                  <a:pt x="888551" y="278476"/>
                </a:lnTo>
                <a:lnTo>
                  <a:pt x="895659" y="264018"/>
                </a:lnTo>
                <a:lnTo>
                  <a:pt x="902768" y="249845"/>
                </a:lnTo>
                <a:lnTo>
                  <a:pt x="909876" y="235969"/>
                </a:lnTo>
                <a:lnTo>
                  <a:pt x="916984" y="222400"/>
                </a:lnTo>
                <a:lnTo>
                  <a:pt x="924093" y="209149"/>
                </a:lnTo>
                <a:lnTo>
                  <a:pt x="931201" y="196224"/>
                </a:lnTo>
                <a:lnTo>
                  <a:pt x="938310" y="183636"/>
                </a:lnTo>
                <a:lnTo>
                  <a:pt x="945418" y="171396"/>
                </a:lnTo>
                <a:lnTo>
                  <a:pt x="952526" y="159511"/>
                </a:lnTo>
                <a:lnTo>
                  <a:pt x="959635" y="147993"/>
                </a:lnTo>
                <a:lnTo>
                  <a:pt x="966743" y="136848"/>
                </a:lnTo>
                <a:lnTo>
                  <a:pt x="973852" y="126088"/>
                </a:lnTo>
                <a:lnTo>
                  <a:pt x="980960" y="115719"/>
                </a:lnTo>
                <a:lnTo>
                  <a:pt x="988068" y="105750"/>
                </a:lnTo>
                <a:lnTo>
                  <a:pt x="995177" y="96189"/>
                </a:lnTo>
                <a:lnTo>
                  <a:pt x="1002285" y="87044"/>
                </a:lnTo>
                <a:lnTo>
                  <a:pt x="1009394" y="78322"/>
                </a:lnTo>
                <a:lnTo>
                  <a:pt x="1016502" y="70030"/>
                </a:lnTo>
                <a:lnTo>
                  <a:pt x="1023611" y="62175"/>
                </a:lnTo>
                <a:lnTo>
                  <a:pt x="1030719" y="54763"/>
                </a:lnTo>
                <a:lnTo>
                  <a:pt x="1037827" y="47801"/>
                </a:lnTo>
                <a:lnTo>
                  <a:pt x="1044936" y="41293"/>
                </a:lnTo>
                <a:lnTo>
                  <a:pt x="1052044" y="35245"/>
                </a:lnTo>
                <a:lnTo>
                  <a:pt x="1059153" y="29663"/>
                </a:lnTo>
                <a:lnTo>
                  <a:pt x="1066261" y="24551"/>
                </a:lnTo>
                <a:lnTo>
                  <a:pt x="1073369" y="19912"/>
                </a:lnTo>
                <a:lnTo>
                  <a:pt x="1080478" y="15752"/>
                </a:lnTo>
                <a:lnTo>
                  <a:pt x="1087586" y="12073"/>
                </a:lnTo>
                <a:lnTo>
                  <a:pt x="1094695" y="8878"/>
                </a:lnTo>
                <a:lnTo>
                  <a:pt x="1101803" y="6170"/>
                </a:lnTo>
                <a:lnTo>
                  <a:pt x="1108911" y="3951"/>
                </a:lnTo>
                <a:lnTo>
                  <a:pt x="1116020" y="2224"/>
                </a:lnTo>
                <a:lnTo>
                  <a:pt x="1123128" y="989"/>
                </a:lnTo>
                <a:lnTo>
                  <a:pt x="1130237" y="247"/>
                </a:lnTo>
                <a:lnTo>
                  <a:pt x="1137345" y="0"/>
                </a:lnTo>
                <a:lnTo>
                  <a:pt x="1144453" y="247"/>
                </a:lnTo>
                <a:lnTo>
                  <a:pt x="1151562" y="989"/>
                </a:lnTo>
                <a:lnTo>
                  <a:pt x="1158670" y="2224"/>
                </a:lnTo>
                <a:lnTo>
                  <a:pt x="1165779" y="3951"/>
                </a:lnTo>
                <a:lnTo>
                  <a:pt x="1172887" y="6170"/>
                </a:lnTo>
                <a:lnTo>
                  <a:pt x="1179996" y="8878"/>
                </a:lnTo>
                <a:lnTo>
                  <a:pt x="1187104" y="12073"/>
                </a:lnTo>
                <a:lnTo>
                  <a:pt x="1194212" y="15752"/>
                </a:lnTo>
                <a:lnTo>
                  <a:pt x="1201321" y="19912"/>
                </a:lnTo>
                <a:lnTo>
                  <a:pt x="1208429" y="24551"/>
                </a:lnTo>
                <a:lnTo>
                  <a:pt x="1215538" y="29663"/>
                </a:lnTo>
                <a:lnTo>
                  <a:pt x="1222646" y="35245"/>
                </a:lnTo>
                <a:lnTo>
                  <a:pt x="1229754" y="41293"/>
                </a:lnTo>
                <a:lnTo>
                  <a:pt x="1236863" y="47801"/>
                </a:lnTo>
                <a:lnTo>
                  <a:pt x="1243971" y="54763"/>
                </a:lnTo>
                <a:lnTo>
                  <a:pt x="1251080" y="62175"/>
                </a:lnTo>
                <a:lnTo>
                  <a:pt x="1258188" y="70030"/>
                </a:lnTo>
                <a:lnTo>
                  <a:pt x="1265296" y="78322"/>
                </a:lnTo>
                <a:lnTo>
                  <a:pt x="1272405" y="87044"/>
                </a:lnTo>
                <a:lnTo>
                  <a:pt x="1279513" y="96189"/>
                </a:lnTo>
                <a:lnTo>
                  <a:pt x="1286622" y="105750"/>
                </a:lnTo>
                <a:lnTo>
                  <a:pt x="1293730" y="115719"/>
                </a:lnTo>
                <a:lnTo>
                  <a:pt x="1300839" y="126088"/>
                </a:lnTo>
                <a:lnTo>
                  <a:pt x="1307947" y="136848"/>
                </a:lnTo>
                <a:lnTo>
                  <a:pt x="1315055" y="147993"/>
                </a:lnTo>
                <a:lnTo>
                  <a:pt x="1322164" y="159511"/>
                </a:lnTo>
                <a:lnTo>
                  <a:pt x="1329272" y="171396"/>
                </a:lnTo>
                <a:lnTo>
                  <a:pt x="1336381" y="183636"/>
                </a:lnTo>
                <a:lnTo>
                  <a:pt x="1343489" y="196224"/>
                </a:lnTo>
                <a:lnTo>
                  <a:pt x="1350597" y="209149"/>
                </a:lnTo>
                <a:lnTo>
                  <a:pt x="1357706" y="222400"/>
                </a:lnTo>
                <a:lnTo>
                  <a:pt x="1364814" y="235969"/>
                </a:lnTo>
                <a:lnTo>
                  <a:pt x="1371923" y="249845"/>
                </a:lnTo>
                <a:lnTo>
                  <a:pt x="1379031" y="264018"/>
                </a:lnTo>
                <a:lnTo>
                  <a:pt x="1386139" y="278476"/>
                </a:lnTo>
                <a:lnTo>
                  <a:pt x="1393248" y="293209"/>
                </a:lnTo>
                <a:lnTo>
                  <a:pt x="1400356" y="308207"/>
                </a:lnTo>
                <a:lnTo>
                  <a:pt x="1407465" y="323458"/>
                </a:lnTo>
                <a:lnTo>
                  <a:pt x="1414573" y="338951"/>
                </a:lnTo>
                <a:lnTo>
                  <a:pt x="1421681" y="354675"/>
                </a:lnTo>
                <a:lnTo>
                  <a:pt x="1428790" y="370620"/>
                </a:lnTo>
                <a:lnTo>
                  <a:pt x="1435898" y="386773"/>
                </a:lnTo>
                <a:lnTo>
                  <a:pt x="1443007" y="403123"/>
                </a:lnTo>
                <a:lnTo>
                  <a:pt x="1450115" y="419660"/>
                </a:lnTo>
                <a:lnTo>
                  <a:pt x="1457224" y="436371"/>
                </a:lnTo>
                <a:lnTo>
                  <a:pt x="1464332" y="453245"/>
                </a:lnTo>
                <a:lnTo>
                  <a:pt x="1471440" y="470271"/>
                </a:lnTo>
                <a:lnTo>
                  <a:pt x="1478549" y="487438"/>
                </a:lnTo>
                <a:lnTo>
                  <a:pt x="1485657" y="504734"/>
                </a:lnTo>
                <a:lnTo>
                  <a:pt x="1492766" y="522148"/>
                </a:lnTo>
                <a:lnTo>
                  <a:pt x="1499874" y="539669"/>
                </a:lnTo>
                <a:lnTo>
                  <a:pt x="1506982" y="557286"/>
                </a:lnTo>
                <a:lnTo>
                  <a:pt x="1514091" y="574987"/>
                </a:lnTo>
                <a:lnTo>
                  <a:pt x="1521199" y="592761"/>
                </a:lnTo>
                <a:lnTo>
                  <a:pt x="1528308" y="610598"/>
                </a:lnTo>
                <a:lnTo>
                  <a:pt x="1535416" y="628487"/>
                </a:lnTo>
                <a:lnTo>
                  <a:pt x="1542524" y="646418"/>
                </a:lnTo>
                <a:lnTo>
                  <a:pt x="1549633" y="664379"/>
                </a:lnTo>
                <a:lnTo>
                  <a:pt x="1556741" y="682360"/>
                </a:lnTo>
                <a:lnTo>
                  <a:pt x="1563850" y="700352"/>
                </a:lnTo>
                <a:lnTo>
                  <a:pt x="1570958" y="718343"/>
                </a:lnTo>
                <a:lnTo>
                  <a:pt x="1578066" y="736325"/>
                </a:lnTo>
                <a:lnTo>
                  <a:pt x="1585175" y="754287"/>
                </a:lnTo>
                <a:lnTo>
                  <a:pt x="1592283" y="772219"/>
                </a:lnTo>
                <a:lnTo>
                  <a:pt x="1599392" y="790114"/>
                </a:lnTo>
                <a:lnTo>
                  <a:pt x="1606500" y="807960"/>
                </a:lnTo>
                <a:lnTo>
                  <a:pt x="1613609" y="825750"/>
                </a:lnTo>
                <a:lnTo>
                  <a:pt x="1620717" y="843474"/>
                </a:lnTo>
                <a:lnTo>
                  <a:pt x="1627825" y="861125"/>
                </a:lnTo>
                <a:lnTo>
                  <a:pt x="1634934" y="878693"/>
                </a:lnTo>
                <a:lnTo>
                  <a:pt x="1642042" y="896170"/>
                </a:lnTo>
                <a:lnTo>
                  <a:pt x="1649151" y="913550"/>
                </a:lnTo>
                <a:lnTo>
                  <a:pt x="1656259" y="930823"/>
                </a:lnTo>
                <a:lnTo>
                  <a:pt x="1663367" y="947984"/>
                </a:lnTo>
                <a:lnTo>
                  <a:pt x="1670476" y="965024"/>
                </a:lnTo>
                <a:lnTo>
                  <a:pt x="1677584" y="981936"/>
                </a:lnTo>
                <a:lnTo>
                  <a:pt x="1684693" y="998715"/>
                </a:lnTo>
                <a:lnTo>
                  <a:pt x="1691801" y="1015353"/>
                </a:lnTo>
                <a:lnTo>
                  <a:pt x="1698909" y="1031845"/>
                </a:lnTo>
                <a:lnTo>
                  <a:pt x="1706018" y="1048184"/>
                </a:lnTo>
                <a:lnTo>
                  <a:pt x="1713126" y="1064366"/>
                </a:lnTo>
                <a:lnTo>
                  <a:pt x="1720235" y="1080383"/>
                </a:lnTo>
                <a:lnTo>
                  <a:pt x="1727343" y="1096233"/>
                </a:lnTo>
                <a:lnTo>
                  <a:pt x="1734452" y="1111908"/>
                </a:lnTo>
                <a:lnTo>
                  <a:pt x="1741560" y="1127406"/>
                </a:lnTo>
                <a:lnTo>
                  <a:pt x="1748668" y="1142721"/>
                </a:lnTo>
                <a:lnTo>
                  <a:pt x="1755777" y="1157849"/>
                </a:lnTo>
                <a:lnTo>
                  <a:pt x="1762885" y="1172787"/>
                </a:lnTo>
                <a:lnTo>
                  <a:pt x="1769994" y="1187531"/>
                </a:lnTo>
                <a:lnTo>
                  <a:pt x="1777102" y="1202078"/>
                </a:lnTo>
                <a:lnTo>
                  <a:pt x="1784210" y="1216423"/>
                </a:lnTo>
                <a:lnTo>
                  <a:pt x="1791319" y="1230566"/>
                </a:lnTo>
                <a:lnTo>
                  <a:pt x="1798427" y="1244502"/>
                </a:lnTo>
                <a:lnTo>
                  <a:pt x="1805536" y="1258229"/>
                </a:lnTo>
                <a:lnTo>
                  <a:pt x="1812644" y="1271746"/>
                </a:lnTo>
                <a:lnTo>
                  <a:pt x="1819752" y="1285050"/>
                </a:lnTo>
                <a:lnTo>
                  <a:pt x="1826861" y="1298139"/>
                </a:lnTo>
                <a:lnTo>
                  <a:pt x="1833969" y="1311013"/>
                </a:lnTo>
                <a:lnTo>
                  <a:pt x="1841078" y="1323669"/>
                </a:lnTo>
                <a:lnTo>
                  <a:pt x="1848186" y="1336107"/>
                </a:lnTo>
                <a:lnTo>
                  <a:pt x="1855294" y="1348326"/>
                </a:lnTo>
                <a:lnTo>
                  <a:pt x="1862403" y="1360326"/>
                </a:lnTo>
                <a:lnTo>
                  <a:pt x="1869511" y="1372104"/>
                </a:lnTo>
                <a:lnTo>
                  <a:pt x="1876620" y="1383663"/>
                </a:lnTo>
                <a:lnTo>
                  <a:pt x="1883728" y="1395000"/>
                </a:lnTo>
                <a:lnTo>
                  <a:pt x="1890837" y="1406118"/>
                </a:lnTo>
                <a:lnTo>
                  <a:pt x="1897945" y="1417014"/>
                </a:lnTo>
                <a:lnTo>
                  <a:pt x="1905053" y="1427692"/>
                </a:lnTo>
                <a:lnTo>
                  <a:pt x="1912162" y="1438150"/>
                </a:lnTo>
                <a:lnTo>
                  <a:pt x="1919270" y="1448389"/>
                </a:lnTo>
                <a:lnTo>
                  <a:pt x="1926379" y="1458411"/>
                </a:lnTo>
                <a:lnTo>
                  <a:pt x="1933487" y="1468217"/>
                </a:lnTo>
                <a:lnTo>
                  <a:pt x="1940595" y="1477808"/>
                </a:lnTo>
                <a:lnTo>
                  <a:pt x="1947704" y="1487185"/>
                </a:lnTo>
                <a:lnTo>
                  <a:pt x="1954812" y="1496349"/>
                </a:lnTo>
                <a:lnTo>
                  <a:pt x="1961921" y="1505303"/>
                </a:lnTo>
                <a:lnTo>
                  <a:pt x="1969029" y="1514049"/>
                </a:lnTo>
                <a:lnTo>
                  <a:pt x="1976137" y="1522587"/>
                </a:lnTo>
                <a:lnTo>
                  <a:pt x="1983246" y="1530920"/>
                </a:lnTo>
                <a:lnTo>
                  <a:pt x="1990354" y="1539051"/>
                </a:lnTo>
                <a:lnTo>
                  <a:pt x="1997463" y="1546980"/>
                </a:lnTo>
                <a:lnTo>
                  <a:pt x="2004571" y="1554711"/>
                </a:lnTo>
                <a:lnTo>
                  <a:pt x="2011680" y="1562246"/>
                </a:lnTo>
                <a:lnTo>
                  <a:pt x="2018788" y="1569588"/>
                </a:lnTo>
                <a:lnTo>
                  <a:pt x="2025896" y="1576738"/>
                </a:lnTo>
                <a:lnTo>
                  <a:pt x="2033005" y="1583700"/>
                </a:lnTo>
                <a:lnTo>
                  <a:pt x="2040113" y="1590476"/>
                </a:lnTo>
                <a:lnTo>
                  <a:pt x="2047222" y="1597069"/>
                </a:lnTo>
                <a:lnTo>
                  <a:pt x="2054330" y="1603481"/>
                </a:lnTo>
                <a:lnTo>
                  <a:pt x="2061438" y="1609716"/>
                </a:lnTo>
                <a:lnTo>
                  <a:pt x="2068547" y="1615776"/>
                </a:lnTo>
                <a:lnTo>
                  <a:pt x="2075655" y="1621664"/>
                </a:lnTo>
                <a:lnTo>
                  <a:pt x="2082764" y="1627384"/>
                </a:lnTo>
                <a:lnTo>
                  <a:pt x="2089872" y="1632937"/>
                </a:lnTo>
                <a:lnTo>
                  <a:pt x="2096980" y="1638328"/>
                </a:lnTo>
                <a:lnTo>
                  <a:pt x="2104089" y="1643559"/>
                </a:lnTo>
                <a:lnTo>
                  <a:pt x="2111197" y="1648633"/>
                </a:lnTo>
                <a:lnTo>
                  <a:pt x="2118306" y="1653554"/>
                </a:lnTo>
                <a:lnTo>
                  <a:pt x="2125414" y="1658324"/>
                </a:lnTo>
                <a:lnTo>
                  <a:pt x="2132522" y="1662946"/>
                </a:lnTo>
                <a:lnTo>
                  <a:pt x="2139631" y="1667424"/>
                </a:lnTo>
                <a:lnTo>
                  <a:pt x="2146739" y="1671761"/>
                </a:lnTo>
                <a:lnTo>
                  <a:pt x="2153848" y="1675959"/>
                </a:lnTo>
                <a:lnTo>
                  <a:pt x="2160956" y="1680023"/>
                </a:lnTo>
                <a:lnTo>
                  <a:pt x="2168065" y="1683954"/>
                </a:lnTo>
                <a:lnTo>
                  <a:pt x="2175173" y="1687756"/>
                </a:lnTo>
                <a:lnTo>
                  <a:pt x="2182281" y="1691432"/>
                </a:lnTo>
                <a:lnTo>
                  <a:pt x="2189390" y="1694985"/>
                </a:lnTo>
                <a:lnTo>
                  <a:pt x="2196498" y="1698418"/>
                </a:lnTo>
                <a:lnTo>
                  <a:pt x="2203607" y="1701734"/>
                </a:lnTo>
                <a:lnTo>
                  <a:pt x="2210715" y="1704936"/>
                </a:lnTo>
                <a:lnTo>
                  <a:pt x="2217823" y="1708027"/>
                </a:lnTo>
                <a:lnTo>
                  <a:pt x="2224932" y="1711010"/>
                </a:lnTo>
                <a:lnTo>
                  <a:pt x="2232040" y="1713887"/>
                </a:lnTo>
                <a:lnTo>
                  <a:pt x="2239149" y="1716662"/>
                </a:lnTo>
                <a:lnTo>
                  <a:pt x="2246257" y="1719337"/>
                </a:lnTo>
                <a:lnTo>
                  <a:pt x="2253365" y="1721915"/>
                </a:lnTo>
                <a:lnTo>
                  <a:pt x="2260474" y="1724399"/>
                </a:lnTo>
                <a:lnTo>
                  <a:pt x="2267582" y="1726791"/>
                </a:lnTo>
                <a:lnTo>
                  <a:pt x="2274691" y="1729094"/>
                </a:lnTo>
                <a:lnTo>
                  <a:pt x="2281799" y="1731311"/>
                </a:lnTo>
                <a:lnTo>
                  <a:pt x="2288907" y="1733445"/>
                </a:lnTo>
                <a:lnTo>
                  <a:pt x="2296016" y="1735497"/>
                </a:lnTo>
                <a:lnTo>
                  <a:pt x="2303124" y="1737470"/>
                </a:lnTo>
                <a:lnTo>
                  <a:pt x="2310233" y="1739367"/>
                </a:lnTo>
                <a:lnTo>
                  <a:pt x="2317341" y="1741190"/>
                </a:lnTo>
                <a:lnTo>
                  <a:pt x="2324450" y="1742941"/>
                </a:lnTo>
                <a:lnTo>
                  <a:pt x="2331558" y="1744623"/>
                </a:lnTo>
                <a:lnTo>
                  <a:pt x="2338666" y="1746238"/>
                </a:lnTo>
                <a:lnTo>
                  <a:pt x="2345775" y="1747788"/>
                </a:lnTo>
                <a:lnTo>
                  <a:pt x="2352883" y="1749275"/>
                </a:lnTo>
                <a:lnTo>
                  <a:pt x="2359992" y="1750702"/>
                </a:lnTo>
                <a:lnTo>
                  <a:pt x="2367100" y="1752070"/>
                </a:lnTo>
                <a:lnTo>
                  <a:pt x="2374208" y="1753381"/>
                </a:lnTo>
                <a:lnTo>
                  <a:pt x="2381317" y="1754638"/>
                </a:lnTo>
                <a:lnTo>
                  <a:pt x="2388425" y="1755842"/>
                </a:lnTo>
                <a:lnTo>
                  <a:pt x="2395534" y="1756995"/>
                </a:lnTo>
                <a:lnTo>
                  <a:pt x="2402642" y="1758098"/>
                </a:lnTo>
                <a:lnTo>
                  <a:pt x="2409750" y="1759155"/>
                </a:lnTo>
                <a:lnTo>
                  <a:pt x="2416859" y="1760166"/>
                </a:lnTo>
                <a:lnTo>
                  <a:pt x="2423967" y="1761133"/>
                </a:lnTo>
                <a:lnTo>
                  <a:pt x="2431076" y="1762057"/>
                </a:lnTo>
                <a:lnTo>
                  <a:pt x="2438184" y="1762941"/>
                </a:lnTo>
                <a:lnTo>
                  <a:pt x="2445293" y="1763786"/>
                </a:lnTo>
                <a:lnTo>
                  <a:pt x="2452401" y="1764593"/>
                </a:lnTo>
                <a:lnTo>
                  <a:pt x="2459509" y="1765364"/>
                </a:lnTo>
                <a:lnTo>
                  <a:pt x="2466618" y="1766100"/>
                </a:lnTo>
                <a:lnTo>
                  <a:pt x="2473726" y="1766802"/>
                </a:lnTo>
                <a:lnTo>
                  <a:pt x="2480835" y="1767472"/>
                </a:lnTo>
                <a:lnTo>
                  <a:pt x="2487943" y="1768111"/>
                </a:lnTo>
                <a:lnTo>
                  <a:pt x="2495051" y="1768721"/>
                </a:lnTo>
                <a:lnTo>
                  <a:pt x="2502160" y="1769302"/>
                </a:lnTo>
                <a:lnTo>
                  <a:pt x="2509268" y="1769856"/>
                </a:lnTo>
                <a:lnTo>
                  <a:pt x="2516377" y="1770384"/>
                </a:lnTo>
                <a:lnTo>
                  <a:pt x="2523485" y="1770886"/>
                </a:lnTo>
                <a:lnTo>
                  <a:pt x="2530593" y="1771365"/>
                </a:lnTo>
                <a:lnTo>
                  <a:pt x="2537702" y="1771820"/>
                </a:lnTo>
                <a:lnTo>
                  <a:pt x="2544810" y="1772254"/>
                </a:lnTo>
                <a:lnTo>
                  <a:pt x="2551919" y="1772666"/>
                </a:lnTo>
                <a:lnTo>
                  <a:pt x="2559027" y="1773058"/>
                </a:lnTo>
                <a:lnTo>
                  <a:pt x="2566135" y="1773431"/>
                </a:lnTo>
                <a:lnTo>
                  <a:pt x="2573244" y="1773785"/>
                </a:lnTo>
                <a:lnTo>
                  <a:pt x="2580352" y="1774122"/>
                </a:lnTo>
                <a:lnTo>
                  <a:pt x="2587461" y="1774441"/>
                </a:lnTo>
                <a:lnTo>
                  <a:pt x="2594569" y="1774745"/>
                </a:lnTo>
                <a:lnTo>
                  <a:pt x="2601678" y="1775033"/>
                </a:lnTo>
                <a:lnTo>
                  <a:pt x="2608786" y="1775307"/>
                </a:lnTo>
                <a:lnTo>
                  <a:pt x="2615894" y="1775566"/>
                </a:lnTo>
                <a:lnTo>
                  <a:pt x="2623003" y="1775812"/>
                </a:lnTo>
                <a:lnTo>
                  <a:pt x="2630111" y="1776046"/>
                </a:lnTo>
                <a:lnTo>
                  <a:pt x="2637220" y="1776267"/>
                </a:lnTo>
                <a:lnTo>
                  <a:pt x="2644328" y="1776476"/>
                </a:lnTo>
                <a:lnTo>
                  <a:pt x="2651436" y="1776675"/>
                </a:lnTo>
                <a:lnTo>
                  <a:pt x="2658545" y="1776863"/>
                </a:lnTo>
                <a:lnTo>
                  <a:pt x="2665653" y="1777041"/>
                </a:lnTo>
                <a:lnTo>
                  <a:pt x="2672762" y="1777209"/>
                </a:lnTo>
                <a:lnTo>
                  <a:pt x="2679870" y="1777368"/>
                </a:lnTo>
                <a:lnTo>
                  <a:pt x="2686978" y="1777519"/>
                </a:lnTo>
                <a:lnTo>
                  <a:pt x="2694087" y="1777662"/>
                </a:lnTo>
                <a:lnTo>
                  <a:pt x="2701195" y="1777796"/>
                </a:lnTo>
                <a:lnTo>
                  <a:pt x="2708304" y="1777924"/>
                </a:lnTo>
                <a:lnTo>
                  <a:pt x="2715412" y="1778044"/>
                </a:lnTo>
                <a:lnTo>
                  <a:pt x="2722520" y="1778158"/>
                </a:lnTo>
                <a:lnTo>
                  <a:pt x="2729629" y="1778265"/>
                </a:lnTo>
                <a:lnTo>
                  <a:pt x="2736737" y="1778366"/>
                </a:lnTo>
                <a:lnTo>
                  <a:pt x="2743846" y="1778462"/>
                </a:lnTo>
                <a:lnTo>
                  <a:pt x="2750954" y="1778552"/>
                </a:lnTo>
                <a:lnTo>
                  <a:pt x="2758063" y="1778637"/>
                </a:lnTo>
                <a:lnTo>
                  <a:pt x="2765171" y="1778717"/>
                </a:lnTo>
                <a:lnTo>
                  <a:pt x="2772279" y="1778792"/>
                </a:lnTo>
                <a:lnTo>
                  <a:pt x="2779388" y="1778863"/>
                </a:lnTo>
                <a:lnTo>
                  <a:pt x="2786496" y="1778930"/>
                </a:lnTo>
                <a:lnTo>
                  <a:pt x="2793605" y="1778993"/>
                </a:lnTo>
                <a:lnTo>
                  <a:pt x="2800713" y="1779053"/>
                </a:lnTo>
                <a:lnTo>
                  <a:pt x="2807821" y="1779109"/>
                </a:lnTo>
                <a:lnTo>
                  <a:pt x="2814930" y="1779161"/>
                </a:lnTo>
                <a:lnTo>
                  <a:pt x="2822038" y="1779211"/>
                </a:lnTo>
                <a:lnTo>
                  <a:pt x="2829147" y="1779257"/>
                </a:lnTo>
                <a:lnTo>
                  <a:pt x="2836255" y="1779301"/>
                </a:lnTo>
                <a:lnTo>
                  <a:pt x="2843363" y="1779342"/>
                </a:lnTo>
                <a:lnTo>
                  <a:pt x="2850472" y="1779381"/>
                </a:lnTo>
                <a:lnTo>
                  <a:pt x="2857580" y="1779417"/>
                </a:lnTo>
                <a:lnTo>
                  <a:pt x="2864689" y="1779451"/>
                </a:lnTo>
                <a:lnTo>
                  <a:pt x="2871797" y="1779483"/>
                </a:lnTo>
                <a:lnTo>
                  <a:pt x="2878906" y="1779513"/>
                </a:lnTo>
                <a:lnTo>
                  <a:pt x="2886014" y="1779541"/>
                </a:lnTo>
                <a:lnTo>
                  <a:pt x="2893122" y="1779567"/>
                </a:lnTo>
                <a:lnTo>
                  <a:pt x="2900231" y="1779592"/>
                </a:lnTo>
                <a:lnTo>
                  <a:pt x="2907339" y="1779615"/>
                </a:lnTo>
                <a:lnTo>
                  <a:pt x="2914448" y="1779637"/>
                </a:lnTo>
                <a:lnTo>
                  <a:pt x="2921556" y="1779657"/>
                </a:lnTo>
                <a:lnTo>
                  <a:pt x="2928664" y="1779676"/>
                </a:lnTo>
                <a:lnTo>
                  <a:pt x="2935773" y="1779694"/>
                </a:lnTo>
                <a:lnTo>
                  <a:pt x="2942881" y="1779711"/>
                </a:lnTo>
                <a:lnTo>
                  <a:pt x="2949990" y="1779726"/>
                </a:lnTo>
                <a:lnTo>
                  <a:pt x="2957098" y="1779741"/>
                </a:lnTo>
                <a:lnTo>
                  <a:pt x="2964206" y="1779754"/>
                </a:lnTo>
                <a:lnTo>
                  <a:pt x="2971315" y="1779767"/>
                </a:lnTo>
                <a:lnTo>
                  <a:pt x="2978423" y="1779779"/>
                </a:lnTo>
                <a:lnTo>
                  <a:pt x="2985532" y="1779790"/>
                </a:lnTo>
                <a:lnTo>
                  <a:pt x="2992640" y="1779801"/>
                </a:lnTo>
                <a:lnTo>
                  <a:pt x="2999748" y="1779810"/>
                </a:lnTo>
                <a:lnTo>
                  <a:pt x="3006857" y="1779819"/>
                </a:lnTo>
                <a:lnTo>
                  <a:pt x="3013965" y="1779828"/>
                </a:lnTo>
                <a:lnTo>
                  <a:pt x="3021074" y="1779836"/>
                </a:lnTo>
                <a:lnTo>
                  <a:pt x="3028182" y="1779843"/>
                </a:lnTo>
                <a:lnTo>
                  <a:pt x="3035291" y="1779850"/>
                </a:lnTo>
                <a:lnTo>
                  <a:pt x="3042399" y="1779856"/>
                </a:lnTo>
                <a:lnTo>
                  <a:pt x="3049507" y="1779862"/>
                </a:lnTo>
                <a:lnTo>
                  <a:pt x="3056616" y="1779868"/>
                </a:lnTo>
                <a:lnTo>
                  <a:pt x="3063724" y="1779873"/>
                </a:lnTo>
                <a:lnTo>
                  <a:pt x="3070833" y="1779878"/>
                </a:lnTo>
                <a:lnTo>
                  <a:pt x="3077941" y="1779882"/>
                </a:lnTo>
                <a:lnTo>
                  <a:pt x="3085049" y="1779886"/>
                </a:lnTo>
                <a:lnTo>
                  <a:pt x="3092158" y="1779890"/>
                </a:lnTo>
                <a:lnTo>
                  <a:pt x="3099266" y="1779894"/>
                </a:lnTo>
                <a:lnTo>
                  <a:pt x="3106375" y="1779897"/>
                </a:lnTo>
                <a:lnTo>
                  <a:pt x="3113483" y="1779900"/>
                </a:lnTo>
                <a:lnTo>
                  <a:pt x="3120591" y="1779903"/>
                </a:lnTo>
                <a:lnTo>
                  <a:pt x="3127700" y="1779906"/>
                </a:lnTo>
                <a:lnTo>
                  <a:pt x="3134808" y="1779908"/>
                </a:lnTo>
                <a:lnTo>
                  <a:pt x="3141917" y="1779911"/>
                </a:lnTo>
                <a:lnTo>
                  <a:pt x="3149025" y="1779913"/>
                </a:lnTo>
                <a:lnTo>
                  <a:pt x="3156133" y="1779915"/>
                </a:lnTo>
                <a:lnTo>
                  <a:pt x="3163242" y="1779917"/>
                </a:lnTo>
                <a:lnTo>
                  <a:pt x="3170350" y="1779918"/>
                </a:lnTo>
                <a:lnTo>
                  <a:pt x="3177459" y="1779920"/>
                </a:lnTo>
                <a:lnTo>
                  <a:pt x="3184567" y="1779921"/>
                </a:lnTo>
                <a:lnTo>
                  <a:pt x="3191676" y="1779923"/>
                </a:lnTo>
                <a:lnTo>
                  <a:pt x="3198784" y="1779924"/>
                </a:lnTo>
                <a:lnTo>
                  <a:pt x="3205892" y="1779925"/>
                </a:lnTo>
                <a:lnTo>
                  <a:pt x="3213001" y="1779926"/>
                </a:lnTo>
                <a:lnTo>
                  <a:pt x="3220109" y="1779927"/>
                </a:lnTo>
                <a:lnTo>
                  <a:pt x="3227218" y="1779928"/>
                </a:lnTo>
                <a:lnTo>
                  <a:pt x="3234326" y="1779929"/>
                </a:lnTo>
                <a:lnTo>
                  <a:pt x="3241434" y="1779930"/>
                </a:lnTo>
                <a:lnTo>
                  <a:pt x="3248543" y="1779931"/>
                </a:lnTo>
                <a:lnTo>
                  <a:pt x="3255651" y="1779931"/>
                </a:lnTo>
                <a:lnTo>
                  <a:pt x="3262760" y="1779932"/>
                </a:lnTo>
                <a:lnTo>
                  <a:pt x="3269868" y="1779933"/>
                </a:lnTo>
                <a:lnTo>
                  <a:pt x="3276976" y="1779933"/>
                </a:lnTo>
                <a:lnTo>
                  <a:pt x="3284085" y="1779934"/>
                </a:lnTo>
                <a:lnTo>
                  <a:pt x="3291193" y="1779934"/>
                </a:lnTo>
                <a:lnTo>
                  <a:pt x="3298302" y="1779934"/>
                </a:lnTo>
                <a:lnTo>
                  <a:pt x="3305410" y="1779935"/>
                </a:lnTo>
                <a:lnTo>
                  <a:pt x="3312519" y="1779935"/>
                </a:lnTo>
                <a:lnTo>
                  <a:pt x="3319627" y="1779935"/>
                </a:lnTo>
                <a:lnTo>
                  <a:pt x="3326735" y="1779936"/>
                </a:lnTo>
                <a:lnTo>
                  <a:pt x="3333844" y="1779936"/>
                </a:lnTo>
                <a:lnTo>
                  <a:pt x="3340952" y="1779936"/>
                </a:lnTo>
                <a:lnTo>
                  <a:pt x="3348061" y="1779937"/>
                </a:lnTo>
                <a:lnTo>
                  <a:pt x="3355169" y="1779937"/>
                </a:lnTo>
                <a:lnTo>
                  <a:pt x="3362277" y="1779937"/>
                </a:lnTo>
                <a:lnTo>
                  <a:pt x="3369386" y="1779937"/>
                </a:lnTo>
                <a:lnTo>
                  <a:pt x="3376494" y="1779937"/>
                </a:lnTo>
                <a:lnTo>
                  <a:pt x="3383603" y="1779937"/>
                </a:lnTo>
                <a:lnTo>
                  <a:pt x="3390711" y="1779938"/>
                </a:lnTo>
                <a:lnTo>
                  <a:pt x="3397819" y="1779938"/>
                </a:lnTo>
                <a:lnTo>
                  <a:pt x="3404928" y="1779938"/>
                </a:lnTo>
                <a:lnTo>
                  <a:pt x="3412036" y="1779938"/>
                </a:lnTo>
                <a:lnTo>
                  <a:pt x="3419145" y="1779938"/>
                </a:lnTo>
                <a:lnTo>
                  <a:pt x="3426253" y="1779938"/>
                </a:lnTo>
                <a:lnTo>
                  <a:pt x="3433361" y="1779938"/>
                </a:lnTo>
                <a:lnTo>
                  <a:pt x="3440470" y="1779938"/>
                </a:lnTo>
                <a:lnTo>
                  <a:pt x="3447578" y="1779938"/>
                </a:lnTo>
                <a:lnTo>
                  <a:pt x="3454687" y="1779938"/>
                </a:lnTo>
                <a:lnTo>
                  <a:pt x="3461795" y="1779939"/>
                </a:lnTo>
                <a:lnTo>
                  <a:pt x="3468904" y="1779939"/>
                </a:lnTo>
                <a:lnTo>
                  <a:pt x="3476012" y="1779939"/>
                </a:lnTo>
                <a:lnTo>
                  <a:pt x="3483120" y="1779939"/>
                </a:lnTo>
                <a:lnTo>
                  <a:pt x="3490229" y="1779939"/>
                </a:lnTo>
                <a:lnTo>
                  <a:pt x="3497337" y="1779939"/>
                </a:lnTo>
                <a:lnTo>
                  <a:pt x="3504446" y="1779939"/>
                </a:lnTo>
                <a:lnTo>
                  <a:pt x="3511554" y="1779939"/>
                </a:lnTo>
                <a:lnTo>
                  <a:pt x="3518662" y="1779939"/>
                </a:lnTo>
                <a:lnTo>
                  <a:pt x="3525771" y="1779939"/>
                </a:lnTo>
                <a:lnTo>
                  <a:pt x="3532879" y="1779939"/>
                </a:lnTo>
                <a:lnTo>
                  <a:pt x="3539988" y="1779939"/>
                </a:lnTo>
                <a:lnTo>
                  <a:pt x="3547096" y="1779939"/>
                </a:lnTo>
                <a:lnTo>
                  <a:pt x="3554204" y="1779939"/>
                </a:lnTo>
                <a:lnTo>
                  <a:pt x="3561313" y="1779939"/>
                </a:lnTo>
                <a:lnTo>
                  <a:pt x="3568421" y="1779939"/>
                </a:lnTo>
                <a:lnTo>
                  <a:pt x="3575530" y="1779939"/>
                </a:lnTo>
                <a:lnTo>
                  <a:pt x="3582638" y="1779939"/>
                </a:lnTo>
                <a:lnTo>
                  <a:pt x="3589746" y="1779939"/>
                </a:lnTo>
                <a:lnTo>
                  <a:pt x="3596855" y="1779939"/>
                </a:lnTo>
                <a:lnTo>
                  <a:pt x="3603963" y="1779939"/>
                </a:lnTo>
                <a:lnTo>
                  <a:pt x="3611072" y="1779939"/>
                </a:lnTo>
                <a:lnTo>
                  <a:pt x="3618180" y="1779939"/>
                </a:lnTo>
                <a:lnTo>
                  <a:pt x="3625289" y="1779939"/>
                </a:lnTo>
                <a:lnTo>
                  <a:pt x="3632397" y="1779939"/>
                </a:lnTo>
                <a:lnTo>
                  <a:pt x="3639505" y="1779939"/>
                </a:lnTo>
                <a:lnTo>
                  <a:pt x="3646614" y="1779939"/>
                </a:lnTo>
                <a:lnTo>
                  <a:pt x="3653722" y="1779939"/>
                </a:lnTo>
                <a:lnTo>
                  <a:pt x="3660831" y="1779939"/>
                </a:lnTo>
                <a:lnTo>
                  <a:pt x="3667939" y="1779939"/>
                </a:lnTo>
                <a:lnTo>
                  <a:pt x="3675047" y="1779939"/>
                </a:lnTo>
                <a:lnTo>
                  <a:pt x="3682156" y="1779939"/>
                </a:lnTo>
                <a:lnTo>
                  <a:pt x="3689264" y="1779939"/>
                </a:lnTo>
                <a:lnTo>
                  <a:pt x="3696373" y="1779939"/>
                </a:lnTo>
                <a:lnTo>
                  <a:pt x="3703481" y="1779939"/>
                </a:lnTo>
                <a:lnTo>
                  <a:pt x="3710589" y="1779939"/>
                </a:lnTo>
                <a:lnTo>
                  <a:pt x="3717698" y="1779939"/>
                </a:lnTo>
                <a:lnTo>
                  <a:pt x="3724806" y="1779939"/>
                </a:lnTo>
                <a:lnTo>
                  <a:pt x="3731915" y="1779939"/>
                </a:lnTo>
                <a:lnTo>
                  <a:pt x="3739023" y="1779939"/>
                </a:lnTo>
                <a:lnTo>
                  <a:pt x="3746132" y="1779939"/>
                </a:lnTo>
                <a:lnTo>
                  <a:pt x="3753240" y="1779939"/>
                </a:lnTo>
                <a:lnTo>
                  <a:pt x="3760348" y="1779939"/>
                </a:lnTo>
                <a:lnTo>
                  <a:pt x="3767457" y="1779939"/>
                </a:lnTo>
                <a:lnTo>
                  <a:pt x="3774565" y="1779939"/>
                </a:lnTo>
                <a:lnTo>
                  <a:pt x="3781674" y="1779939"/>
                </a:lnTo>
                <a:lnTo>
                  <a:pt x="3788782" y="1779939"/>
                </a:lnTo>
                <a:lnTo>
                  <a:pt x="3795890" y="1779939"/>
                </a:lnTo>
                <a:lnTo>
                  <a:pt x="3802999" y="1779939"/>
                </a:lnTo>
                <a:lnTo>
                  <a:pt x="3810107" y="1779939"/>
                </a:lnTo>
                <a:lnTo>
                  <a:pt x="3817216" y="1779939"/>
                </a:lnTo>
                <a:lnTo>
                  <a:pt x="3824324" y="1779939"/>
                </a:lnTo>
                <a:lnTo>
                  <a:pt x="3831432" y="1779939"/>
                </a:lnTo>
                <a:lnTo>
                  <a:pt x="3838541" y="1779939"/>
                </a:lnTo>
                <a:lnTo>
                  <a:pt x="3845649" y="1779939"/>
                </a:lnTo>
                <a:lnTo>
                  <a:pt x="3852758" y="1779939"/>
                </a:lnTo>
                <a:lnTo>
                  <a:pt x="3859866" y="1779939"/>
                </a:lnTo>
                <a:lnTo>
                  <a:pt x="3866974" y="1779939"/>
                </a:lnTo>
                <a:lnTo>
                  <a:pt x="3874083" y="1779939"/>
                </a:lnTo>
                <a:lnTo>
                  <a:pt x="3881191" y="1779939"/>
                </a:lnTo>
                <a:lnTo>
                  <a:pt x="3888300" y="1779939"/>
                </a:lnTo>
                <a:lnTo>
                  <a:pt x="3895408" y="1779939"/>
                </a:lnTo>
                <a:lnTo>
                  <a:pt x="3902517" y="1779939"/>
                </a:lnTo>
                <a:lnTo>
                  <a:pt x="3909625" y="1779939"/>
                </a:lnTo>
                <a:lnTo>
                  <a:pt x="3916733" y="1779939"/>
                </a:lnTo>
                <a:lnTo>
                  <a:pt x="3923842" y="1779939"/>
                </a:lnTo>
                <a:lnTo>
                  <a:pt x="3930950" y="1779939"/>
                </a:lnTo>
                <a:lnTo>
                  <a:pt x="3938059" y="1779939"/>
                </a:lnTo>
                <a:lnTo>
                  <a:pt x="3945167" y="1779939"/>
                </a:lnTo>
                <a:lnTo>
                  <a:pt x="3952275" y="1779939"/>
                </a:lnTo>
                <a:lnTo>
                  <a:pt x="3959384" y="1779939"/>
                </a:lnTo>
                <a:lnTo>
                  <a:pt x="3966492" y="1779939"/>
                </a:lnTo>
                <a:lnTo>
                  <a:pt x="3973601" y="1779939"/>
                </a:lnTo>
                <a:lnTo>
                  <a:pt x="3980709" y="1779939"/>
                </a:lnTo>
                <a:lnTo>
                  <a:pt x="3987817" y="1779939"/>
                </a:lnTo>
                <a:lnTo>
                  <a:pt x="3994926" y="1779939"/>
                </a:lnTo>
                <a:lnTo>
                  <a:pt x="4002034" y="1779939"/>
                </a:lnTo>
                <a:lnTo>
                  <a:pt x="4009143" y="1779939"/>
                </a:lnTo>
                <a:lnTo>
                  <a:pt x="4016251" y="1779939"/>
                </a:lnTo>
                <a:lnTo>
                  <a:pt x="4023360" y="1779939"/>
                </a:lnTo>
                <a:lnTo>
                  <a:pt x="4030468" y="1779939"/>
                </a:lnTo>
                <a:lnTo>
                  <a:pt x="4037576" y="1779939"/>
                </a:lnTo>
                <a:lnTo>
                  <a:pt x="4044685" y="1779939"/>
                </a:lnTo>
                <a:lnTo>
                  <a:pt x="4051793" y="1779939"/>
                </a:lnTo>
                <a:lnTo>
                  <a:pt x="4058902" y="1779939"/>
                </a:lnTo>
                <a:lnTo>
                  <a:pt x="4066010" y="1779939"/>
                </a:lnTo>
                <a:lnTo>
                  <a:pt x="4073118" y="1779939"/>
                </a:lnTo>
                <a:lnTo>
                  <a:pt x="4080227" y="1779939"/>
                </a:lnTo>
                <a:lnTo>
                  <a:pt x="4087335" y="1779939"/>
                </a:lnTo>
                <a:lnTo>
                  <a:pt x="4094444" y="1779939"/>
                </a:lnTo>
                <a:lnTo>
                  <a:pt x="4101552" y="1779939"/>
                </a:lnTo>
                <a:lnTo>
                  <a:pt x="4108660" y="1779939"/>
                </a:lnTo>
                <a:lnTo>
                  <a:pt x="4115769" y="1779939"/>
                </a:lnTo>
                <a:lnTo>
                  <a:pt x="4122877" y="1779939"/>
                </a:lnTo>
                <a:lnTo>
                  <a:pt x="4129986" y="1779939"/>
                </a:lnTo>
                <a:lnTo>
                  <a:pt x="4137094" y="1779939"/>
                </a:lnTo>
                <a:lnTo>
                  <a:pt x="4144202" y="1779939"/>
                </a:lnTo>
                <a:lnTo>
                  <a:pt x="4151311" y="1779939"/>
                </a:lnTo>
                <a:lnTo>
                  <a:pt x="4158419" y="1779939"/>
                </a:lnTo>
                <a:lnTo>
                  <a:pt x="4165528" y="1779939"/>
                </a:lnTo>
                <a:lnTo>
                  <a:pt x="4172636" y="1779939"/>
                </a:lnTo>
                <a:lnTo>
                  <a:pt x="4179745" y="1779939"/>
                </a:lnTo>
                <a:lnTo>
                  <a:pt x="4186853" y="1779939"/>
                </a:lnTo>
                <a:lnTo>
                  <a:pt x="4193961" y="1779939"/>
                </a:lnTo>
                <a:lnTo>
                  <a:pt x="4201070" y="1779939"/>
                </a:lnTo>
                <a:lnTo>
                  <a:pt x="4208178" y="1779939"/>
                </a:lnTo>
                <a:lnTo>
                  <a:pt x="4215287" y="1779939"/>
                </a:lnTo>
                <a:lnTo>
                  <a:pt x="4222395" y="1779939"/>
                </a:lnTo>
                <a:lnTo>
                  <a:pt x="4229503" y="1779939"/>
                </a:lnTo>
                <a:lnTo>
                  <a:pt x="4236612" y="1779939"/>
                </a:lnTo>
                <a:lnTo>
                  <a:pt x="4243720" y="1779939"/>
                </a:lnTo>
                <a:lnTo>
                  <a:pt x="4250829" y="1779939"/>
                </a:lnTo>
                <a:lnTo>
                  <a:pt x="4257937" y="1779939"/>
                </a:lnTo>
                <a:lnTo>
                  <a:pt x="4265045" y="1779939"/>
                </a:lnTo>
                <a:lnTo>
                  <a:pt x="4272154" y="1779939"/>
                </a:lnTo>
                <a:lnTo>
                  <a:pt x="4279262" y="1779939"/>
                </a:lnTo>
                <a:lnTo>
                  <a:pt x="4286371" y="1779939"/>
                </a:lnTo>
                <a:lnTo>
                  <a:pt x="4293479" y="1779939"/>
                </a:lnTo>
                <a:lnTo>
                  <a:pt x="4300587" y="1779939"/>
                </a:lnTo>
                <a:lnTo>
                  <a:pt x="4307696" y="1779939"/>
                </a:lnTo>
                <a:lnTo>
                  <a:pt x="4314804" y="1779939"/>
                </a:lnTo>
                <a:lnTo>
                  <a:pt x="4321913" y="1779939"/>
                </a:lnTo>
                <a:lnTo>
                  <a:pt x="4329021" y="1779939"/>
                </a:lnTo>
                <a:lnTo>
                  <a:pt x="4336130" y="1779939"/>
                </a:lnTo>
                <a:lnTo>
                  <a:pt x="4343238" y="1779939"/>
                </a:lnTo>
                <a:lnTo>
                  <a:pt x="4350346" y="1779939"/>
                </a:lnTo>
                <a:lnTo>
                  <a:pt x="4357455" y="1779939"/>
                </a:lnTo>
                <a:lnTo>
                  <a:pt x="4364563" y="1779939"/>
                </a:lnTo>
                <a:lnTo>
                  <a:pt x="4371672" y="1779939"/>
                </a:lnTo>
                <a:lnTo>
                  <a:pt x="4378780" y="1779939"/>
                </a:lnTo>
                <a:lnTo>
                  <a:pt x="4385888" y="1779939"/>
                </a:lnTo>
                <a:lnTo>
                  <a:pt x="4392997" y="1779939"/>
                </a:lnTo>
                <a:lnTo>
                  <a:pt x="4400105" y="1779939"/>
                </a:lnTo>
                <a:lnTo>
                  <a:pt x="4407214" y="1779939"/>
                </a:lnTo>
                <a:lnTo>
                  <a:pt x="4414322" y="1779939"/>
                </a:lnTo>
                <a:lnTo>
                  <a:pt x="4421430" y="1779939"/>
                </a:lnTo>
                <a:lnTo>
                  <a:pt x="4428539" y="1779939"/>
                </a:lnTo>
                <a:lnTo>
                  <a:pt x="4435647" y="1779939"/>
                </a:lnTo>
                <a:lnTo>
                  <a:pt x="4442756" y="1779939"/>
                </a:lnTo>
                <a:lnTo>
                  <a:pt x="4449864" y="1779939"/>
                </a:lnTo>
                <a:lnTo>
                  <a:pt x="4456973" y="1779939"/>
                </a:lnTo>
                <a:lnTo>
                  <a:pt x="4464081" y="1779939"/>
                </a:lnTo>
                <a:lnTo>
                  <a:pt x="4471189" y="1779939"/>
                </a:lnTo>
                <a:lnTo>
                  <a:pt x="4478298" y="1779939"/>
                </a:lnTo>
                <a:lnTo>
                  <a:pt x="4485406" y="1779939"/>
                </a:lnTo>
                <a:lnTo>
                  <a:pt x="4492515" y="1779939"/>
                </a:lnTo>
                <a:lnTo>
                  <a:pt x="4499623" y="1779939"/>
                </a:lnTo>
                <a:lnTo>
                  <a:pt x="4506731" y="1779939"/>
                </a:lnTo>
                <a:lnTo>
                  <a:pt x="4513840" y="1779939"/>
                </a:lnTo>
                <a:lnTo>
                  <a:pt x="4520948" y="1779939"/>
                </a:lnTo>
                <a:lnTo>
                  <a:pt x="4528057" y="1779939"/>
                </a:lnTo>
                <a:lnTo>
                  <a:pt x="4535165" y="1779939"/>
                </a:lnTo>
                <a:lnTo>
                  <a:pt x="4542273" y="1779939"/>
                </a:lnTo>
                <a:lnTo>
                  <a:pt x="4549382" y="1779939"/>
                </a:lnTo>
                <a:lnTo>
                  <a:pt x="4556490" y="1779939"/>
                </a:lnTo>
                <a:lnTo>
                  <a:pt x="4563599" y="1779939"/>
                </a:lnTo>
                <a:lnTo>
                  <a:pt x="4570707" y="1779939"/>
                </a:lnTo>
                <a:lnTo>
                  <a:pt x="4577815" y="1779939"/>
                </a:lnTo>
                <a:lnTo>
                  <a:pt x="4584924" y="1779939"/>
                </a:lnTo>
                <a:lnTo>
                  <a:pt x="4592032" y="1779939"/>
                </a:lnTo>
                <a:lnTo>
                  <a:pt x="4599141" y="1779939"/>
                </a:lnTo>
                <a:lnTo>
                  <a:pt x="4606249" y="1779939"/>
                </a:lnTo>
                <a:lnTo>
                  <a:pt x="4613358" y="1779939"/>
                </a:lnTo>
                <a:lnTo>
                  <a:pt x="4620466" y="1779939"/>
                </a:lnTo>
                <a:lnTo>
                  <a:pt x="4627574" y="1779939"/>
                </a:lnTo>
                <a:lnTo>
                  <a:pt x="4634683" y="1779939"/>
                </a:lnTo>
                <a:lnTo>
                  <a:pt x="4641791" y="1779939"/>
                </a:lnTo>
                <a:lnTo>
                  <a:pt x="4648900" y="1779939"/>
                </a:lnTo>
                <a:lnTo>
                  <a:pt x="4656008" y="1779939"/>
                </a:lnTo>
                <a:lnTo>
                  <a:pt x="4663116" y="1779939"/>
                </a:lnTo>
                <a:lnTo>
                  <a:pt x="4670225" y="1779939"/>
                </a:lnTo>
                <a:lnTo>
                  <a:pt x="4677333" y="1779939"/>
                </a:lnTo>
                <a:lnTo>
                  <a:pt x="4684442" y="1779939"/>
                </a:lnTo>
                <a:lnTo>
                  <a:pt x="4691550" y="1779939"/>
                </a:lnTo>
                <a:lnTo>
                  <a:pt x="4698658" y="1779939"/>
                </a:lnTo>
                <a:lnTo>
                  <a:pt x="4705767" y="1779939"/>
                </a:lnTo>
                <a:lnTo>
                  <a:pt x="4712875" y="1779939"/>
                </a:lnTo>
                <a:lnTo>
                  <a:pt x="4719984" y="1779939"/>
                </a:lnTo>
                <a:lnTo>
                  <a:pt x="4727092" y="1779939"/>
                </a:lnTo>
                <a:lnTo>
                  <a:pt x="4734200" y="1779939"/>
                </a:lnTo>
                <a:lnTo>
                  <a:pt x="4741309" y="1779939"/>
                </a:lnTo>
                <a:lnTo>
                  <a:pt x="4748417" y="1779939"/>
                </a:lnTo>
                <a:lnTo>
                  <a:pt x="4755526" y="1779939"/>
                </a:lnTo>
                <a:lnTo>
                  <a:pt x="4762634" y="1779939"/>
                </a:lnTo>
                <a:lnTo>
                  <a:pt x="4769743" y="1779939"/>
                </a:lnTo>
                <a:lnTo>
                  <a:pt x="4776851" y="1779939"/>
                </a:lnTo>
                <a:lnTo>
                  <a:pt x="4783959" y="1779939"/>
                </a:lnTo>
                <a:lnTo>
                  <a:pt x="4791068" y="1779939"/>
                </a:lnTo>
                <a:lnTo>
                  <a:pt x="4798176" y="1779939"/>
                </a:lnTo>
                <a:lnTo>
                  <a:pt x="4805285" y="1779939"/>
                </a:lnTo>
                <a:lnTo>
                  <a:pt x="4812393" y="1779939"/>
                </a:lnTo>
                <a:lnTo>
                  <a:pt x="4819501" y="1779939"/>
                </a:lnTo>
                <a:lnTo>
                  <a:pt x="4826610" y="1779939"/>
                </a:lnTo>
                <a:lnTo>
                  <a:pt x="4833718" y="1779939"/>
                </a:lnTo>
                <a:lnTo>
                  <a:pt x="4840827" y="1779939"/>
                </a:lnTo>
                <a:lnTo>
                  <a:pt x="4847935" y="1779939"/>
                </a:lnTo>
                <a:lnTo>
                  <a:pt x="4855043" y="1779939"/>
                </a:lnTo>
                <a:lnTo>
                  <a:pt x="4862152" y="1779939"/>
                </a:lnTo>
                <a:lnTo>
                  <a:pt x="4869260" y="1779939"/>
                </a:lnTo>
                <a:lnTo>
                  <a:pt x="4876369" y="1779939"/>
                </a:lnTo>
                <a:lnTo>
                  <a:pt x="4883477" y="1779939"/>
                </a:lnTo>
                <a:lnTo>
                  <a:pt x="4890586" y="1779939"/>
                </a:lnTo>
                <a:lnTo>
                  <a:pt x="4897694" y="1779939"/>
                </a:lnTo>
                <a:lnTo>
                  <a:pt x="4904802" y="1779939"/>
                </a:lnTo>
                <a:lnTo>
                  <a:pt x="4911911" y="1779939"/>
                </a:lnTo>
                <a:lnTo>
                  <a:pt x="4919019" y="1779939"/>
                </a:lnTo>
                <a:lnTo>
                  <a:pt x="4926128" y="1779939"/>
                </a:lnTo>
                <a:lnTo>
                  <a:pt x="4933236" y="1779939"/>
                </a:lnTo>
                <a:lnTo>
                  <a:pt x="4940344" y="1779939"/>
                </a:lnTo>
                <a:lnTo>
                  <a:pt x="4947453" y="1779939"/>
                </a:lnTo>
                <a:lnTo>
                  <a:pt x="4954561" y="1779939"/>
                </a:lnTo>
                <a:lnTo>
                  <a:pt x="4961670" y="1779939"/>
                </a:lnTo>
                <a:lnTo>
                  <a:pt x="4968778" y="1779939"/>
                </a:lnTo>
                <a:lnTo>
                  <a:pt x="4975886" y="1779939"/>
                </a:lnTo>
                <a:lnTo>
                  <a:pt x="4982995" y="1779939"/>
                </a:lnTo>
                <a:lnTo>
                  <a:pt x="4990103" y="1779939"/>
                </a:lnTo>
                <a:lnTo>
                  <a:pt x="4997212" y="1779939"/>
                </a:lnTo>
                <a:lnTo>
                  <a:pt x="5004320" y="1779939"/>
                </a:lnTo>
                <a:lnTo>
                  <a:pt x="5011428" y="1779939"/>
                </a:lnTo>
                <a:lnTo>
                  <a:pt x="5018537" y="1779939"/>
                </a:lnTo>
                <a:lnTo>
                  <a:pt x="5025645" y="1779939"/>
                </a:lnTo>
                <a:lnTo>
                  <a:pt x="5032754" y="1779939"/>
                </a:lnTo>
                <a:lnTo>
                  <a:pt x="5039862" y="1779939"/>
                </a:lnTo>
                <a:lnTo>
                  <a:pt x="5046971" y="1779939"/>
                </a:lnTo>
                <a:lnTo>
                  <a:pt x="5054079" y="1779939"/>
                </a:lnTo>
                <a:lnTo>
                  <a:pt x="5061187" y="1779939"/>
                </a:lnTo>
                <a:lnTo>
                  <a:pt x="5068296" y="1779939"/>
                </a:lnTo>
                <a:lnTo>
                  <a:pt x="5075404" y="1779939"/>
                </a:lnTo>
                <a:lnTo>
                  <a:pt x="5082513" y="1779939"/>
                </a:lnTo>
                <a:lnTo>
                  <a:pt x="5089621" y="1779939"/>
                </a:lnTo>
                <a:lnTo>
                  <a:pt x="5096729" y="1779939"/>
                </a:lnTo>
                <a:lnTo>
                  <a:pt x="5103838" y="1779939"/>
                </a:lnTo>
                <a:lnTo>
                  <a:pt x="5110946" y="1779939"/>
                </a:lnTo>
                <a:lnTo>
                  <a:pt x="5118055" y="1779939"/>
                </a:lnTo>
                <a:lnTo>
                  <a:pt x="5125163" y="1779939"/>
                </a:lnTo>
                <a:lnTo>
                  <a:pt x="5132271" y="1779939"/>
                </a:lnTo>
                <a:lnTo>
                  <a:pt x="5139380" y="1779939"/>
                </a:lnTo>
                <a:lnTo>
                  <a:pt x="5146488" y="1779939"/>
                </a:lnTo>
                <a:lnTo>
                  <a:pt x="5153597" y="1779939"/>
                </a:lnTo>
                <a:lnTo>
                  <a:pt x="5160705" y="1779939"/>
                </a:lnTo>
                <a:lnTo>
                  <a:pt x="5167813" y="1779939"/>
                </a:lnTo>
                <a:lnTo>
                  <a:pt x="5174922" y="1779939"/>
                </a:lnTo>
                <a:lnTo>
                  <a:pt x="5182030" y="1779939"/>
                </a:lnTo>
                <a:lnTo>
                  <a:pt x="5189139" y="1779939"/>
                </a:lnTo>
                <a:lnTo>
                  <a:pt x="5196247" y="1779939"/>
                </a:lnTo>
                <a:lnTo>
                  <a:pt x="5203356" y="1779939"/>
                </a:lnTo>
                <a:lnTo>
                  <a:pt x="5210464" y="1779939"/>
                </a:lnTo>
                <a:lnTo>
                  <a:pt x="5217572" y="1779939"/>
                </a:lnTo>
                <a:lnTo>
                  <a:pt x="5224681" y="1779939"/>
                </a:lnTo>
                <a:lnTo>
                  <a:pt x="5231789" y="1779939"/>
                </a:lnTo>
                <a:lnTo>
                  <a:pt x="5238898" y="1779939"/>
                </a:lnTo>
                <a:lnTo>
                  <a:pt x="5246006" y="1779939"/>
                </a:lnTo>
                <a:lnTo>
                  <a:pt x="5253114" y="1779939"/>
                </a:lnTo>
                <a:lnTo>
                  <a:pt x="5260223" y="1779939"/>
                </a:lnTo>
                <a:lnTo>
                  <a:pt x="5267331" y="1779939"/>
                </a:lnTo>
                <a:lnTo>
                  <a:pt x="5274440" y="1779939"/>
                </a:lnTo>
                <a:lnTo>
                  <a:pt x="5281548" y="1779939"/>
                </a:lnTo>
                <a:lnTo>
                  <a:pt x="5288656" y="1779939"/>
                </a:lnTo>
                <a:lnTo>
                  <a:pt x="5295765" y="1779939"/>
                </a:lnTo>
                <a:lnTo>
                  <a:pt x="5302873" y="1779939"/>
                </a:lnTo>
                <a:lnTo>
                  <a:pt x="5309982" y="1779939"/>
                </a:lnTo>
                <a:lnTo>
                  <a:pt x="5317090" y="1779939"/>
                </a:lnTo>
                <a:lnTo>
                  <a:pt x="5324199" y="1779939"/>
                </a:lnTo>
                <a:lnTo>
                  <a:pt x="5331307" y="1779939"/>
                </a:lnTo>
                <a:lnTo>
                  <a:pt x="5338415" y="1779939"/>
                </a:lnTo>
                <a:lnTo>
                  <a:pt x="5345524" y="1779939"/>
                </a:lnTo>
                <a:lnTo>
                  <a:pt x="5352632" y="1779939"/>
                </a:lnTo>
                <a:lnTo>
                  <a:pt x="5359741" y="1779939"/>
                </a:lnTo>
                <a:lnTo>
                  <a:pt x="5366849" y="1779939"/>
                </a:lnTo>
                <a:lnTo>
                  <a:pt x="5373957" y="1779939"/>
                </a:lnTo>
                <a:lnTo>
                  <a:pt x="5381066" y="1779939"/>
                </a:lnTo>
                <a:lnTo>
                  <a:pt x="5388174" y="1779939"/>
                </a:lnTo>
                <a:lnTo>
                  <a:pt x="5395283" y="1779939"/>
                </a:lnTo>
                <a:lnTo>
                  <a:pt x="5402391" y="1779939"/>
                </a:lnTo>
                <a:lnTo>
                  <a:pt x="5409499" y="1779939"/>
                </a:lnTo>
                <a:lnTo>
                  <a:pt x="5416608" y="1779939"/>
                </a:lnTo>
                <a:lnTo>
                  <a:pt x="5423716" y="1779939"/>
                </a:lnTo>
                <a:lnTo>
                  <a:pt x="5430825" y="1779939"/>
                </a:lnTo>
                <a:lnTo>
                  <a:pt x="5437933" y="1779939"/>
                </a:lnTo>
                <a:lnTo>
                  <a:pt x="5445041" y="1779939"/>
                </a:lnTo>
                <a:lnTo>
                  <a:pt x="5452150" y="1779939"/>
                </a:lnTo>
                <a:lnTo>
                  <a:pt x="5459258" y="1779939"/>
                </a:lnTo>
                <a:lnTo>
                  <a:pt x="5466367" y="1779939"/>
                </a:lnTo>
                <a:lnTo>
                  <a:pt x="5473475" y="1779939"/>
                </a:lnTo>
                <a:lnTo>
                  <a:pt x="5480584" y="1779939"/>
                </a:lnTo>
                <a:lnTo>
                  <a:pt x="5487692" y="1779939"/>
                </a:lnTo>
                <a:lnTo>
                  <a:pt x="5494800" y="1779939"/>
                </a:lnTo>
                <a:lnTo>
                  <a:pt x="5501909" y="1779939"/>
                </a:lnTo>
                <a:lnTo>
                  <a:pt x="5509017" y="1779939"/>
                </a:lnTo>
                <a:lnTo>
                  <a:pt x="5516126" y="1779939"/>
                </a:lnTo>
                <a:lnTo>
                  <a:pt x="5523234" y="1779939"/>
                </a:lnTo>
                <a:lnTo>
                  <a:pt x="5530342" y="1779939"/>
                </a:lnTo>
                <a:lnTo>
                  <a:pt x="5537451" y="1779939"/>
                </a:lnTo>
                <a:lnTo>
                  <a:pt x="5544559" y="1779939"/>
                </a:lnTo>
                <a:lnTo>
                  <a:pt x="5551668" y="1779939"/>
                </a:lnTo>
                <a:lnTo>
                  <a:pt x="5558776" y="1779939"/>
                </a:lnTo>
                <a:lnTo>
                  <a:pt x="5565884" y="1779939"/>
                </a:lnTo>
                <a:lnTo>
                  <a:pt x="5572993" y="1779939"/>
                </a:lnTo>
                <a:lnTo>
                  <a:pt x="5580101" y="1779939"/>
                </a:lnTo>
                <a:lnTo>
                  <a:pt x="5587210" y="1779939"/>
                </a:lnTo>
                <a:lnTo>
                  <a:pt x="5594318" y="1779939"/>
                </a:lnTo>
                <a:lnTo>
                  <a:pt x="5601426" y="1779939"/>
                </a:lnTo>
                <a:lnTo>
                  <a:pt x="5608535" y="1779939"/>
                </a:lnTo>
                <a:lnTo>
                  <a:pt x="5615643" y="1779939"/>
                </a:lnTo>
                <a:lnTo>
                  <a:pt x="5622752" y="1779939"/>
                </a:lnTo>
                <a:lnTo>
                  <a:pt x="5629860" y="1779939"/>
                </a:lnTo>
                <a:lnTo>
                  <a:pt x="5636969" y="1779939"/>
                </a:lnTo>
                <a:lnTo>
                  <a:pt x="5644077" y="1779939"/>
                </a:lnTo>
                <a:lnTo>
                  <a:pt x="5651185" y="1779939"/>
                </a:lnTo>
                <a:lnTo>
                  <a:pt x="5658294" y="1779939"/>
                </a:lnTo>
                <a:lnTo>
                  <a:pt x="5665402" y="1779939"/>
                </a:lnTo>
                <a:lnTo>
                  <a:pt x="5672511" y="1779939"/>
                </a:lnTo>
                <a:lnTo>
                  <a:pt x="5679619" y="1779939"/>
                </a:lnTo>
                <a:lnTo>
                  <a:pt x="5686727" y="1779939"/>
                </a:lnTo>
                <a:lnTo>
                  <a:pt x="5693836" y="1779939"/>
                </a:lnTo>
                <a:lnTo>
                  <a:pt x="5700944" y="1779939"/>
                </a:lnTo>
                <a:lnTo>
                  <a:pt x="5708053" y="1779939"/>
                </a:lnTo>
                <a:lnTo>
                  <a:pt x="5715161" y="1779939"/>
                </a:lnTo>
                <a:lnTo>
                  <a:pt x="5722269" y="1779939"/>
                </a:lnTo>
                <a:lnTo>
                  <a:pt x="5729378" y="1779939"/>
                </a:lnTo>
                <a:lnTo>
                  <a:pt x="5736486" y="1779939"/>
                </a:lnTo>
                <a:lnTo>
                  <a:pt x="5743595" y="1779939"/>
                </a:lnTo>
                <a:lnTo>
                  <a:pt x="5750703" y="1779939"/>
                </a:lnTo>
                <a:lnTo>
                  <a:pt x="5757812" y="1779939"/>
                </a:lnTo>
                <a:lnTo>
                  <a:pt x="5764920" y="1779939"/>
                </a:lnTo>
                <a:lnTo>
                  <a:pt x="5772028" y="1779939"/>
                </a:lnTo>
                <a:lnTo>
                  <a:pt x="5779137" y="1779939"/>
                </a:lnTo>
                <a:lnTo>
                  <a:pt x="5786245" y="1779939"/>
                </a:lnTo>
                <a:lnTo>
                  <a:pt x="5793354" y="1779939"/>
                </a:lnTo>
                <a:lnTo>
                  <a:pt x="5800462" y="1779939"/>
                </a:lnTo>
                <a:lnTo>
                  <a:pt x="5807570" y="1779939"/>
                </a:lnTo>
                <a:lnTo>
                  <a:pt x="5814679" y="1779939"/>
                </a:lnTo>
                <a:lnTo>
                  <a:pt x="5821787" y="1779939"/>
                </a:lnTo>
                <a:lnTo>
                  <a:pt x="5828896" y="1779939"/>
                </a:lnTo>
                <a:lnTo>
                  <a:pt x="5836004" y="1779939"/>
                </a:lnTo>
                <a:lnTo>
                  <a:pt x="5843112" y="1779939"/>
                </a:lnTo>
                <a:lnTo>
                  <a:pt x="5850221" y="1779939"/>
                </a:lnTo>
                <a:lnTo>
                  <a:pt x="5857329" y="1779939"/>
                </a:lnTo>
                <a:lnTo>
                  <a:pt x="5864438" y="1779939"/>
                </a:lnTo>
                <a:lnTo>
                  <a:pt x="5871546" y="1779939"/>
                </a:lnTo>
                <a:lnTo>
                  <a:pt x="5878654" y="1779939"/>
                </a:lnTo>
                <a:lnTo>
                  <a:pt x="5885763" y="1779939"/>
                </a:lnTo>
                <a:lnTo>
                  <a:pt x="5892871" y="1779939"/>
                </a:lnTo>
                <a:lnTo>
                  <a:pt x="5899980" y="1779939"/>
                </a:lnTo>
                <a:lnTo>
                  <a:pt x="5907088" y="1779939"/>
                </a:lnTo>
                <a:lnTo>
                  <a:pt x="5914197" y="1779939"/>
                </a:lnTo>
                <a:lnTo>
                  <a:pt x="5921305" y="1779939"/>
                </a:lnTo>
                <a:lnTo>
                  <a:pt x="5928413" y="1779939"/>
                </a:lnTo>
                <a:lnTo>
                  <a:pt x="5935522" y="1779939"/>
                </a:lnTo>
                <a:lnTo>
                  <a:pt x="5942630" y="1779939"/>
                </a:lnTo>
                <a:lnTo>
                  <a:pt x="5949739" y="1779939"/>
                </a:lnTo>
                <a:lnTo>
                  <a:pt x="5956847" y="1779939"/>
                </a:lnTo>
                <a:lnTo>
                  <a:pt x="5963955" y="1779939"/>
                </a:lnTo>
                <a:lnTo>
                  <a:pt x="5971064" y="1779939"/>
                </a:lnTo>
                <a:lnTo>
                  <a:pt x="5978172" y="1779939"/>
                </a:lnTo>
                <a:lnTo>
                  <a:pt x="5985281" y="1779939"/>
                </a:lnTo>
                <a:lnTo>
                  <a:pt x="5992389" y="1779939"/>
                </a:lnTo>
                <a:lnTo>
                  <a:pt x="5999497" y="1779939"/>
                </a:lnTo>
                <a:lnTo>
                  <a:pt x="6006606" y="1779939"/>
                </a:lnTo>
                <a:lnTo>
                  <a:pt x="6013714" y="1779939"/>
                </a:lnTo>
                <a:lnTo>
                  <a:pt x="6020823" y="1779939"/>
                </a:lnTo>
                <a:lnTo>
                  <a:pt x="6027931" y="1779939"/>
                </a:lnTo>
                <a:lnTo>
                  <a:pt x="6035040" y="1779939"/>
                </a:lnTo>
              </a:path>
            </a:pathLst>
          </a:custGeom>
          <a:noFill/>
          <a:ln w="25400">
            <a:solidFill>
              <a:srgbClr val="0072B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Freeform 4">
            <a:extLst>
              <a:ext uri="{FF2B5EF4-FFF2-40B4-BE49-F238E27FC236}">
                <a16:creationId xmlns:a16="http://schemas.microsoft.com/office/drawing/2014/main" id="{7AE13BC5-DEDA-F452-F741-C5C06D6E4740}"/>
              </a:ext>
            </a:extLst>
          </p:cNvPr>
          <p:cNvSpPr/>
          <p:nvPr/>
        </p:nvSpPr>
        <p:spPr>
          <a:xfrm>
            <a:off x="868680" y="3854789"/>
            <a:ext cx="6035040" cy="747574"/>
          </a:xfrm>
          <a:custGeom>
            <a:avLst/>
            <a:gdLst/>
            <a:ahLst/>
            <a:cxnLst/>
            <a:rect l="l" t="t" r="r" b="b"/>
            <a:pathLst>
              <a:path w="6035040" h="747574">
                <a:moveTo>
                  <a:pt x="0" y="744283"/>
                </a:moveTo>
                <a:lnTo>
                  <a:pt x="7108" y="744153"/>
                </a:lnTo>
                <a:lnTo>
                  <a:pt x="14216" y="744019"/>
                </a:lnTo>
                <a:lnTo>
                  <a:pt x="21325" y="743880"/>
                </a:lnTo>
                <a:lnTo>
                  <a:pt x="28433" y="743735"/>
                </a:lnTo>
                <a:lnTo>
                  <a:pt x="35542" y="743586"/>
                </a:lnTo>
                <a:lnTo>
                  <a:pt x="42650" y="743432"/>
                </a:lnTo>
                <a:lnTo>
                  <a:pt x="49758" y="743272"/>
                </a:lnTo>
                <a:lnTo>
                  <a:pt x="56867" y="743107"/>
                </a:lnTo>
                <a:lnTo>
                  <a:pt x="63975" y="742936"/>
                </a:lnTo>
                <a:lnTo>
                  <a:pt x="71084" y="742759"/>
                </a:lnTo>
                <a:lnTo>
                  <a:pt x="78192" y="742576"/>
                </a:lnTo>
                <a:lnTo>
                  <a:pt x="85300" y="742386"/>
                </a:lnTo>
                <a:lnTo>
                  <a:pt x="92409" y="742191"/>
                </a:lnTo>
                <a:lnTo>
                  <a:pt x="99517" y="741988"/>
                </a:lnTo>
                <a:lnTo>
                  <a:pt x="106626" y="741779"/>
                </a:lnTo>
                <a:lnTo>
                  <a:pt x="113734" y="741563"/>
                </a:lnTo>
                <a:lnTo>
                  <a:pt x="120842" y="741340"/>
                </a:lnTo>
                <a:lnTo>
                  <a:pt x="127951" y="741109"/>
                </a:lnTo>
                <a:lnTo>
                  <a:pt x="135059" y="740871"/>
                </a:lnTo>
                <a:lnTo>
                  <a:pt x="142168" y="740625"/>
                </a:lnTo>
                <a:lnTo>
                  <a:pt x="149276" y="740371"/>
                </a:lnTo>
                <a:lnTo>
                  <a:pt x="156385" y="740108"/>
                </a:lnTo>
                <a:lnTo>
                  <a:pt x="163493" y="739838"/>
                </a:lnTo>
                <a:lnTo>
                  <a:pt x="170601" y="739558"/>
                </a:lnTo>
                <a:lnTo>
                  <a:pt x="177710" y="739269"/>
                </a:lnTo>
                <a:lnTo>
                  <a:pt x="184818" y="738972"/>
                </a:lnTo>
                <a:lnTo>
                  <a:pt x="191927" y="738664"/>
                </a:lnTo>
                <a:lnTo>
                  <a:pt x="199035" y="738348"/>
                </a:lnTo>
                <a:lnTo>
                  <a:pt x="206143" y="738021"/>
                </a:lnTo>
                <a:lnTo>
                  <a:pt x="213252" y="737684"/>
                </a:lnTo>
                <a:lnTo>
                  <a:pt x="220360" y="737336"/>
                </a:lnTo>
                <a:lnTo>
                  <a:pt x="227469" y="736978"/>
                </a:lnTo>
                <a:lnTo>
                  <a:pt x="234577" y="736609"/>
                </a:lnTo>
                <a:lnTo>
                  <a:pt x="241685" y="736228"/>
                </a:lnTo>
                <a:lnTo>
                  <a:pt x="248794" y="735836"/>
                </a:lnTo>
                <a:lnTo>
                  <a:pt x="255902" y="735432"/>
                </a:lnTo>
                <a:lnTo>
                  <a:pt x="263011" y="735016"/>
                </a:lnTo>
                <a:lnTo>
                  <a:pt x="270119" y="734587"/>
                </a:lnTo>
                <a:lnTo>
                  <a:pt x="277227" y="734146"/>
                </a:lnTo>
                <a:lnTo>
                  <a:pt x="284336" y="733691"/>
                </a:lnTo>
                <a:lnTo>
                  <a:pt x="291444" y="733223"/>
                </a:lnTo>
                <a:lnTo>
                  <a:pt x="298553" y="732741"/>
                </a:lnTo>
                <a:lnTo>
                  <a:pt x="305661" y="732246"/>
                </a:lnTo>
                <a:lnTo>
                  <a:pt x="312770" y="731736"/>
                </a:lnTo>
                <a:lnTo>
                  <a:pt x="319878" y="731211"/>
                </a:lnTo>
                <a:lnTo>
                  <a:pt x="326986" y="730671"/>
                </a:lnTo>
                <a:lnTo>
                  <a:pt x="334095" y="730116"/>
                </a:lnTo>
                <a:lnTo>
                  <a:pt x="341203" y="729545"/>
                </a:lnTo>
                <a:lnTo>
                  <a:pt x="348312" y="728958"/>
                </a:lnTo>
                <a:lnTo>
                  <a:pt x="355420" y="728354"/>
                </a:lnTo>
                <a:lnTo>
                  <a:pt x="362528" y="727734"/>
                </a:lnTo>
                <a:lnTo>
                  <a:pt x="369637" y="727097"/>
                </a:lnTo>
                <a:lnTo>
                  <a:pt x="376745" y="726442"/>
                </a:lnTo>
                <a:lnTo>
                  <a:pt x="383854" y="725769"/>
                </a:lnTo>
                <a:lnTo>
                  <a:pt x="390962" y="725077"/>
                </a:lnTo>
                <a:lnTo>
                  <a:pt x="398070" y="724367"/>
                </a:lnTo>
                <a:lnTo>
                  <a:pt x="405179" y="723638"/>
                </a:lnTo>
                <a:lnTo>
                  <a:pt x="412287" y="722890"/>
                </a:lnTo>
                <a:lnTo>
                  <a:pt x="419396" y="722121"/>
                </a:lnTo>
                <a:lnTo>
                  <a:pt x="426504" y="721332"/>
                </a:lnTo>
                <a:lnTo>
                  <a:pt x="433613" y="720523"/>
                </a:lnTo>
                <a:lnTo>
                  <a:pt x="440721" y="719692"/>
                </a:lnTo>
                <a:lnTo>
                  <a:pt x="447829" y="718840"/>
                </a:lnTo>
                <a:lnTo>
                  <a:pt x="454938" y="717966"/>
                </a:lnTo>
                <a:lnTo>
                  <a:pt x="462046" y="717070"/>
                </a:lnTo>
                <a:lnTo>
                  <a:pt x="469155" y="716151"/>
                </a:lnTo>
                <a:lnTo>
                  <a:pt x="476263" y="715208"/>
                </a:lnTo>
                <a:lnTo>
                  <a:pt x="483371" y="714242"/>
                </a:lnTo>
                <a:lnTo>
                  <a:pt x="490480" y="713252"/>
                </a:lnTo>
                <a:lnTo>
                  <a:pt x="497588" y="712237"/>
                </a:lnTo>
                <a:lnTo>
                  <a:pt x="504697" y="711198"/>
                </a:lnTo>
                <a:lnTo>
                  <a:pt x="511805" y="710132"/>
                </a:lnTo>
                <a:lnTo>
                  <a:pt x="518913" y="709042"/>
                </a:lnTo>
                <a:lnTo>
                  <a:pt x="526022" y="707924"/>
                </a:lnTo>
                <a:lnTo>
                  <a:pt x="533130" y="706780"/>
                </a:lnTo>
                <a:lnTo>
                  <a:pt x="540239" y="705609"/>
                </a:lnTo>
                <a:lnTo>
                  <a:pt x="547347" y="704410"/>
                </a:lnTo>
                <a:lnTo>
                  <a:pt x="554455" y="703184"/>
                </a:lnTo>
                <a:lnTo>
                  <a:pt x="561564" y="701928"/>
                </a:lnTo>
                <a:lnTo>
                  <a:pt x="568672" y="700644"/>
                </a:lnTo>
                <a:lnTo>
                  <a:pt x="575781" y="699330"/>
                </a:lnTo>
                <a:lnTo>
                  <a:pt x="582889" y="697986"/>
                </a:lnTo>
                <a:lnTo>
                  <a:pt x="589998" y="696612"/>
                </a:lnTo>
                <a:lnTo>
                  <a:pt x="597106" y="695207"/>
                </a:lnTo>
                <a:lnTo>
                  <a:pt x="604214" y="693770"/>
                </a:lnTo>
                <a:lnTo>
                  <a:pt x="611323" y="692302"/>
                </a:lnTo>
                <a:lnTo>
                  <a:pt x="618431" y="690802"/>
                </a:lnTo>
                <a:lnTo>
                  <a:pt x="625540" y="689269"/>
                </a:lnTo>
                <a:lnTo>
                  <a:pt x="632648" y="687703"/>
                </a:lnTo>
                <a:lnTo>
                  <a:pt x="639756" y="686103"/>
                </a:lnTo>
                <a:lnTo>
                  <a:pt x="646865" y="684470"/>
                </a:lnTo>
                <a:lnTo>
                  <a:pt x="653973" y="682802"/>
                </a:lnTo>
                <a:lnTo>
                  <a:pt x="661082" y="681099"/>
                </a:lnTo>
                <a:lnTo>
                  <a:pt x="668190" y="679360"/>
                </a:lnTo>
                <a:lnTo>
                  <a:pt x="675298" y="677586"/>
                </a:lnTo>
                <a:lnTo>
                  <a:pt x="682407" y="675776"/>
                </a:lnTo>
                <a:lnTo>
                  <a:pt x="689515" y="673929"/>
                </a:lnTo>
                <a:lnTo>
                  <a:pt x="696624" y="672045"/>
                </a:lnTo>
                <a:lnTo>
                  <a:pt x="703732" y="670124"/>
                </a:lnTo>
                <a:lnTo>
                  <a:pt x="710840" y="668165"/>
                </a:lnTo>
                <a:lnTo>
                  <a:pt x="717949" y="666167"/>
                </a:lnTo>
                <a:lnTo>
                  <a:pt x="725057" y="664131"/>
                </a:lnTo>
                <a:lnTo>
                  <a:pt x="732166" y="662055"/>
                </a:lnTo>
                <a:lnTo>
                  <a:pt x="739274" y="659940"/>
                </a:lnTo>
                <a:lnTo>
                  <a:pt x="746383" y="657786"/>
                </a:lnTo>
                <a:lnTo>
                  <a:pt x="753491" y="655591"/>
                </a:lnTo>
                <a:lnTo>
                  <a:pt x="760599" y="653355"/>
                </a:lnTo>
                <a:lnTo>
                  <a:pt x="767708" y="651078"/>
                </a:lnTo>
                <a:lnTo>
                  <a:pt x="774816" y="648761"/>
                </a:lnTo>
                <a:lnTo>
                  <a:pt x="781925" y="646401"/>
                </a:lnTo>
                <a:lnTo>
                  <a:pt x="789033" y="643999"/>
                </a:lnTo>
                <a:lnTo>
                  <a:pt x="796141" y="641555"/>
                </a:lnTo>
                <a:lnTo>
                  <a:pt x="803250" y="639069"/>
                </a:lnTo>
                <a:lnTo>
                  <a:pt x="810358" y="636539"/>
                </a:lnTo>
                <a:lnTo>
                  <a:pt x="817467" y="633967"/>
                </a:lnTo>
                <a:lnTo>
                  <a:pt x="824575" y="631350"/>
                </a:lnTo>
                <a:lnTo>
                  <a:pt x="831683" y="628690"/>
                </a:lnTo>
                <a:lnTo>
                  <a:pt x="838792" y="625986"/>
                </a:lnTo>
                <a:lnTo>
                  <a:pt x="845900" y="623237"/>
                </a:lnTo>
                <a:lnTo>
                  <a:pt x="853009" y="620445"/>
                </a:lnTo>
                <a:lnTo>
                  <a:pt x="860117" y="617607"/>
                </a:lnTo>
                <a:lnTo>
                  <a:pt x="867226" y="614724"/>
                </a:lnTo>
                <a:lnTo>
                  <a:pt x="874334" y="611796"/>
                </a:lnTo>
                <a:lnTo>
                  <a:pt x="881442" y="608823"/>
                </a:lnTo>
                <a:lnTo>
                  <a:pt x="888551" y="605804"/>
                </a:lnTo>
                <a:lnTo>
                  <a:pt x="895659" y="602740"/>
                </a:lnTo>
                <a:lnTo>
                  <a:pt x="902768" y="599630"/>
                </a:lnTo>
                <a:lnTo>
                  <a:pt x="909876" y="596474"/>
                </a:lnTo>
                <a:lnTo>
                  <a:pt x="916984" y="593272"/>
                </a:lnTo>
                <a:lnTo>
                  <a:pt x="924093" y="590025"/>
                </a:lnTo>
                <a:lnTo>
                  <a:pt x="931201" y="586731"/>
                </a:lnTo>
                <a:lnTo>
                  <a:pt x="938310" y="583390"/>
                </a:lnTo>
                <a:lnTo>
                  <a:pt x="945418" y="580004"/>
                </a:lnTo>
                <a:lnTo>
                  <a:pt x="952526" y="576572"/>
                </a:lnTo>
                <a:lnTo>
                  <a:pt x="959635" y="573093"/>
                </a:lnTo>
                <a:lnTo>
                  <a:pt x="966743" y="569568"/>
                </a:lnTo>
                <a:lnTo>
                  <a:pt x="973852" y="565997"/>
                </a:lnTo>
                <a:lnTo>
                  <a:pt x="980960" y="562381"/>
                </a:lnTo>
                <a:lnTo>
                  <a:pt x="988068" y="558718"/>
                </a:lnTo>
                <a:lnTo>
                  <a:pt x="995177" y="555009"/>
                </a:lnTo>
                <a:lnTo>
                  <a:pt x="1002285" y="551255"/>
                </a:lnTo>
                <a:lnTo>
                  <a:pt x="1009394" y="547456"/>
                </a:lnTo>
                <a:lnTo>
                  <a:pt x="1016502" y="543611"/>
                </a:lnTo>
                <a:lnTo>
                  <a:pt x="1023611" y="539721"/>
                </a:lnTo>
                <a:lnTo>
                  <a:pt x="1030719" y="535786"/>
                </a:lnTo>
                <a:lnTo>
                  <a:pt x="1037827" y="531806"/>
                </a:lnTo>
                <a:lnTo>
                  <a:pt x="1044936" y="527782"/>
                </a:lnTo>
                <a:lnTo>
                  <a:pt x="1052044" y="523714"/>
                </a:lnTo>
                <a:lnTo>
                  <a:pt x="1059153" y="519603"/>
                </a:lnTo>
                <a:lnTo>
                  <a:pt x="1066261" y="515447"/>
                </a:lnTo>
                <a:lnTo>
                  <a:pt x="1073369" y="511249"/>
                </a:lnTo>
                <a:lnTo>
                  <a:pt x="1080478" y="507009"/>
                </a:lnTo>
                <a:lnTo>
                  <a:pt x="1087586" y="502726"/>
                </a:lnTo>
                <a:lnTo>
                  <a:pt x="1094695" y="498401"/>
                </a:lnTo>
                <a:lnTo>
                  <a:pt x="1101803" y="494035"/>
                </a:lnTo>
                <a:lnTo>
                  <a:pt x="1108911" y="489628"/>
                </a:lnTo>
                <a:lnTo>
                  <a:pt x="1116020" y="485181"/>
                </a:lnTo>
                <a:lnTo>
                  <a:pt x="1123128" y="480694"/>
                </a:lnTo>
                <a:lnTo>
                  <a:pt x="1130237" y="476168"/>
                </a:lnTo>
                <a:lnTo>
                  <a:pt x="1137345" y="471604"/>
                </a:lnTo>
                <a:lnTo>
                  <a:pt x="1144453" y="467001"/>
                </a:lnTo>
                <a:lnTo>
                  <a:pt x="1151562" y="462361"/>
                </a:lnTo>
                <a:lnTo>
                  <a:pt x="1158670" y="457685"/>
                </a:lnTo>
                <a:lnTo>
                  <a:pt x="1165779" y="452973"/>
                </a:lnTo>
                <a:lnTo>
                  <a:pt x="1172887" y="448226"/>
                </a:lnTo>
                <a:lnTo>
                  <a:pt x="1179996" y="443444"/>
                </a:lnTo>
                <a:lnTo>
                  <a:pt x="1187104" y="438628"/>
                </a:lnTo>
                <a:lnTo>
                  <a:pt x="1194212" y="433780"/>
                </a:lnTo>
                <a:lnTo>
                  <a:pt x="1201321" y="428900"/>
                </a:lnTo>
                <a:lnTo>
                  <a:pt x="1208429" y="423989"/>
                </a:lnTo>
                <a:lnTo>
                  <a:pt x="1215538" y="419047"/>
                </a:lnTo>
                <a:lnTo>
                  <a:pt x="1222646" y="414076"/>
                </a:lnTo>
                <a:lnTo>
                  <a:pt x="1229754" y="409077"/>
                </a:lnTo>
                <a:lnTo>
                  <a:pt x="1236863" y="404051"/>
                </a:lnTo>
                <a:lnTo>
                  <a:pt x="1243971" y="398998"/>
                </a:lnTo>
                <a:lnTo>
                  <a:pt x="1251080" y="393919"/>
                </a:lnTo>
                <a:lnTo>
                  <a:pt x="1258188" y="388817"/>
                </a:lnTo>
                <a:lnTo>
                  <a:pt x="1265296" y="383691"/>
                </a:lnTo>
                <a:lnTo>
                  <a:pt x="1272405" y="378543"/>
                </a:lnTo>
                <a:lnTo>
                  <a:pt x="1279513" y="373373"/>
                </a:lnTo>
                <a:lnTo>
                  <a:pt x="1286622" y="368184"/>
                </a:lnTo>
                <a:lnTo>
                  <a:pt x="1293730" y="362977"/>
                </a:lnTo>
                <a:lnTo>
                  <a:pt x="1300839" y="357752"/>
                </a:lnTo>
                <a:lnTo>
                  <a:pt x="1307947" y="352510"/>
                </a:lnTo>
                <a:lnTo>
                  <a:pt x="1315055" y="347253"/>
                </a:lnTo>
                <a:lnTo>
                  <a:pt x="1322164" y="341983"/>
                </a:lnTo>
                <a:lnTo>
                  <a:pt x="1329272" y="336700"/>
                </a:lnTo>
                <a:lnTo>
                  <a:pt x="1336381" y="331406"/>
                </a:lnTo>
                <a:lnTo>
                  <a:pt x="1343489" y="326102"/>
                </a:lnTo>
                <a:lnTo>
                  <a:pt x="1350597" y="320789"/>
                </a:lnTo>
                <a:lnTo>
                  <a:pt x="1357706" y="315470"/>
                </a:lnTo>
                <a:lnTo>
                  <a:pt x="1364814" y="310144"/>
                </a:lnTo>
                <a:lnTo>
                  <a:pt x="1371923" y="304814"/>
                </a:lnTo>
                <a:lnTo>
                  <a:pt x="1379031" y="299482"/>
                </a:lnTo>
                <a:lnTo>
                  <a:pt x="1386139" y="294147"/>
                </a:lnTo>
                <a:lnTo>
                  <a:pt x="1393248" y="288813"/>
                </a:lnTo>
                <a:lnTo>
                  <a:pt x="1400356" y="283481"/>
                </a:lnTo>
                <a:lnTo>
                  <a:pt x="1407465" y="278151"/>
                </a:lnTo>
                <a:lnTo>
                  <a:pt x="1414573" y="272826"/>
                </a:lnTo>
                <a:lnTo>
                  <a:pt x="1421681" y="267506"/>
                </a:lnTo>
                <a:lnTo>
                  <a:pt x="1428790" y="262195"/>
                </a:lnTo>
                <a:lnTo>
                  <a:pt x="1435898" y="256892"/>
                </a:lnTo>
                <a:lnTo>
                  <a:pt x="1443007" y="251601"/>
                </a:lnTo>
                <a:lnTo>
                  <a:pt x="1450115" y="246321"/>
                </a:lnTo>
                <a:lnTo>
                  <a:pt x="1457224" y="241056"/>
                </a:lnTo>
                <a:lnTo>
                  <a:pt x="1464332" y="235806"/>
                </a:lnTo>
                <a:lnTo>
                  <a:pt x="1471440" y="230573"/>
                </a:lnTo>
                <a:lnTo>
                  <a:pt x="1478549" y="225359"/>
                </a:lnTo>
                <a:lnTo>
                  <a:pt x="1485657" y="220166"/>
                </a:lnTo>
                <a:lnTo>
                  <a:pt x="1492766" y="214994"/>
                </a:lnTo>
                <a:lnTo>
                  <a:pt x="1499874" y="209846"/>
                </a:lnTo>
                <a:lnTo>
                  <a:pt x="1506982" y="204724"/>
                </a:lnTo>
                <a:lnTo>
                  <a:pt x="1514091" y="199628"/>
                </a:lnTo>
                <a:lnTo>
                  <a:pt x="1521199" y="194562"/>
                </a:lnTo>
                <a:lnTo>
                  <a:pt x="1528308" y="189525"/>
                </a:lnTo>
                <a:lnTo>
                  <a:pt x="1535416" y="184521"/>
                </a:lnTo>
                <a:lnTo>
                  <a:pt x="1542524" y="179551"/>
                </a:lnTo>
                <a:lnTo>
                  <a:pt x="1549633" y="174616"/>
                </a:lnTo>
                <a:lnTo>
                  <a:pt x="1556741" y="169718"/>
                </a:lnTo>
                <a:lnTo>
                  <a:pt x="1563850" y="164859"/>
                </a:lnTo>
                <a:lnTo>
                  <a:pt x="1570958" y="160040"/>
                </a:lnTo>
                <a:lnTo>
                  <a:pt x="1578066" y="155264"/>
                </a:lnTo>
                <a:lnTo>
                  <a:pt x="1585175" y="150531"/>
                </a:lnTo>
                <a:lnTo>
                  <a:pt x="1592283" y="145844"/>
                </a:lnTo>
                <a:lnTo>
                  <a:pt x="1599392" y="141204"/>
                </a:lnTo>
                <a:lnTo>
                  <a:pt x="1606500" y="136612"/>
                </a:lnTo>
                <a:lnTo>
                  <a:pt x="1613609" y="132071"/>
                </a:lnTo>
                <a:lnTo>
                  <a:pt x="1620717" y="127583"/>
                </a:lnTo>
                <a:lnTo>
                  <a:pt x="1627825" y="123148"/>
                </a:lnTo>
                <a:lnTo>
                  <a:pt x="1634934" y="118768"/>
                </a:lnTo>
                <a:lnTo>
                  <a:pt x="1642042" y="114445"/>
                </a:lnTo>
                <a:lnTo>
                  <a:pt x="1649151" y="110181"/>
                </a:lnTo>
                <a:lnTo>
                  <a:pt x="1656259" y="105976"/>
                </a:lnTo>
                <a:lnTo>
                  <a:pt x="1663367" y="101834"/>
                </a:lnTo>
                <a:lnTo>
                  <a:pt x="1670476" y="97754"/>
                </a:lnTo>
                <a:lnTo>
                  <a:pt x="1677584" y="93739"/>
                </a:lnTo>
                <a:lnTo>
                  <a:pt x="1684693" y="89791"/>
                </a:lnTo>
                <a:lnTo>
                  <a:pt x="1691801" y="85910"/>
                </a:lnTo>
                <a:lnTo>
                  <a:pt x="1698909" y="82099"/>
                </a:lnTo>
                <a:lnTo>
                  <a:pt x="1706018" y="78358"/>
                </a:lnTo>
                <a:lnTo>
                  <a:pt x="1713126" y="74689"/>
                </a:lnTo>
                <a:lnTo>
                  <a:pt x="1720235" y="71094"/>
                </a:lnTo>
                <a:lnTo>
                  <a:pt x="1727343" y="67574"/>
                </a:lnTo>
                <a:lnTo>
                  <a:pt x="1734452" y="64130"/>
                </a:lnTo>
                <a:lnTo>
                  <a:pt x="1741560" y="60763"/>
                </a:lnTo>
                <a:lnTo>
                  <a:pt x="1748668" y="57476"/>
                </a:lnTo>
                <a:lnTo>
                  <a:pt x="1755777" y="54269"/>
                </a:lnTo>
                <a:lnTo>
                  <a:pt x="1762885" y="51143"/>
                </a:lnTo>
                <a:lnTo>
                  <a:pt x="1769994" y="48100"/>
                </a:lnTo>
                <a:lnTo>
                  <a:pt x="1777102" y="45141"/>
                </a:lnTo>
                <a:lnTo>
                  <a:pt x="1784210" y="42267"/>
                </a:lnTo>
                <a:lnTo>
                  <a:pt x="1791319" y="39480"/>
                </a:lnTo>
                <a:lnTo>
                  <a:pt x="1798427" y="36779"/>
                </a:lnTo>
                <a:lnTo>
                  <a:pt x="1805536" y="34167"/>
                </a:lnTo>
                <a:lnTo>
                  <a:pt x="1812644" y="31645"/>
                </a:lnTo>
                <a:lnTo>
                  <a:pt x="1819752" y="29213"/>
                </a:lnTo>
                <a:lnTo>
                  <a:pt x="1826861" y="26873"/>
                </a:lnTo>
                <a:lnTo>
                  <a:pt x="1833969" y="24625"/>
                </a:lnTo>
                <a:lnTo>
                  <a:pt x="1841078" y="22470"/>
                </a:lnTo>
                <a:lnTo>
                  <a:pt x="1848186" y="20410"/>
                </a:lnTo>
                <a:lnTo>
                  <a:pt x="1855294" y="18445"/>
                </a:lnTo>
                <a:lnTo>
                  <a:pt x="1862403" y="16576"/>
                </a:lnTo>
                <a:lnTo>
                  <a:pt x="1869511" y="14803"/>
                </a:lnTo>
                <a:lnTo>
                  <a:pt x="1876620" y="13127"/>
                </a:lnTo>
                <a:lnTo>
                  <a:pt x="1883728" y="11550"/>
                </a:lnTo>
                <a:lnTo>
                  <a:pt x="1890837" y="10071"/>
                </a:lnTo>
                <a:lnTo>
                  <a:pt x="1897945" y="8692"/>
                </a:lnTo>
                <a:lnTo>
                  <a:pt x="1905053" y="7413"/>
                </a:lnTo>
                <a:lnTo>
                  <a:pt x="1912162" y="6234"/>
                </a:lnTo>
                <a:lnTo>
                  <a:pt x="1919270" y="5155"/>
                </a:lnTo>
                <a:lnTo>
                  <a:pt x="1926379" y="4179"/>
                </a:lnTo>
                <a:lnTo>
                  <a:pt x="1933487" y="3304"/>
                </a:lnTo>
                <a:lnTo>
                  <a:pt x="1940595" y="2531"/>
                </a:lnTo>
                <a:lnTo>
                  <a:pt x="1947704" y="1860"/>
                </a:lnTo>
                <a:lnTo>
                  <a:pt x="1954812" y="1292"/>
                </a:lnTo>
                <a:lnTo>
                  <a:pt x="1961921" y="827"/>
                </a:lnTo>
                <a:lnTo>
                  <a:pt x="1969029" y="465"/>
                </a:lnTo>
                <a:lnTo>
                  <a:pt x="1976137" y="207"/>
                </a:lnTo>
                <a:lnTo>
                  <a:pt x="1983246" y="52"/>
                </a:lnTo>
                <a:lnTo>
                  <a:pt x="1990354" y="0"/>
                </a:lnTo>
                <a:lnTo>
                  <a:pt x="1997463" y="52"/>
                </a:lnTo>
                <a:lnTo>
                  <a:pt x="2004571" y="207"/>
                </a:lnTo>
                <a:lnTo>
                  <a:pt x="2011680" y="465"/>
                </a:lnTo>
                <a:lnTo>
                  <a:pt x="2018788" y="827"/>
                </a:lnTo>
                <a:lnTo>
                  <a:pt x="2025896" y="1292"/>
                </a:lnTo>
                <a:lnTo>
                  <a:pt x="2033005" y="1860"/>
                </a:lnTo>
                <a:lnTo>
                  <a:pt x="2040113" y="2531"/>
                </a:lnTo>
                <a:lnTo>
                  <a:pt x="2047222" y="3304"/>
                </a:lnTo>
                <a:lnTo>
                  <a:pt x="2054330" y="4179"/>
                </a:lnTo>
                <a:lnTo>
                  <a:pt x="2061438" y="5155"/>
                </a:lnTo>
                <a:lnTo>
                  <a:pt x="2068547" y="6234"/>
                </a:lnTo>
                <a:lnTo>
                  <a:pt x="2075655" y="7413"/>
                </a:lnTo>
                <a:lnTo>
                  <a:pt x="2082764" y="8692"/>
                </a:lnTo>
                <a:lnTo>
                  <a:pt x="2089872" y="10071"/>
                </a:lnTo>
                <a:lnTo>
                  <a:pt x="2096980" y="11550"/>
                </a:lnTo>
                <a:lnTo>
                  <a:pt x="2104089" y="13127"/>
                </a:lnTo>
                <a:lnTo>
                  <a:pt x="2111197" y="14803"/>
                </a:lnTo>
                <a:lnTo>
                  <a:pt x="2118306" y="16576"/>
                </a:lnTo>
                <a:lnTo>
                  <a:pt x="2125414" y="18445"/>
                </a:lnTo>
                <a:lnTo>
                  <a:pt x="2132522" y="20410"/>
                </a:lnTo>
                <a:lnTo>
                  <a:pt x="2139631" y="22470"/>
                </a:lnTo>
                <a:lnTo>
                  <a:pt x="2146739" y="24625"/>
                </a:lnTo>
                <a:lnTo>
                  <a:pt x="2153848" y="26873"/>
                </a:lnTo>
                <a:lnTo>
                  <a:pt x="2160956" y="29213"/>
                </a:lnTo>
                <a:lnTo>
                  <a:pt x="2168065" y="31645"/>
                </a:lnTo>
                <a:lnTo>
                  <a:pt x="2175173" y="34167"/>
                </a:lnTo>
                <a:lnTo>
                  <a:pt x="2182281" y="36779"/>
                </a:lnTo>
                <a:lnTo>
                  <a:pt x="2189390" y="39480"/>
                </a:lnTo>
                <a:lnTo>
                  <a:pt x="2196498" y="42267"/>
                </a:lnTo>
                <a:lnTo>
                  <a:pt x="2203607" y="45141"/>
                </a:lnTo>
                <a:lnTo>
                  <a:pt x="2210715" y="48100"/>
                </a:lnTo>
                <a:lnTo>
                  <a:pt x="2217823" y="51143"/>
                </a:lnTo>
                <a:lnTo>
                  <a:pt x="2224932" y="54269"/>
                </a:lnTo>
                <a:lnTo>
                  <a:pt x="2232040" y="57476"/>
                </a:lnTo>
                <a:lnTo>
                  <a:pt x="2239149" y="60763"/>
                </a:lnTo>
                <a:lnTo>
                  <a:pt x="2246257" y="64130"/>
                </a:lnTo>
                <a:lnTo>
                  <a:pt x="2253365" y="67574"/>
                </a:lnTo>
                <a:lnTo>
                  <a:pt x="2260474" y="71094"/>
                </a:lnTo>
                <a:lnTo>
                  <a:pt x="2267582" y="74689"/>
                </a:lnTo>
                <a:lnTo>
                  <a:pt x="2274691" y="78358"/>
                </a:lnTo>
                <a:lnTo>
                  <a:pt x="2281799" y="82099"/>
                </a:lnTo>
                <a:lnTo>
                  <a:pt x="2288907" y="85910"/>
                </a:lnTo>
                <a:lnTo>
                  <a:pt x="2296016" y="89791"/>
                </a:lnTo>
                <a:lnTo>
                  <a:pt x="2303124" y="93739"/>
                </a:lnTo>
                <a:lnTo>
                  <a:pt x="2310233" y="97754"/>
                </a:lnTo>
                <a:lnTo>
                  <a:pt x="2317341" y="101834"/>
                </a:lnTo>
                <a:lnTo>
                  <a:pt x="2324450" y="105976"/>
                </a:lnTo>
                <a:lnTo>
                  <a:pt x="2331558" y="110181"/>
                </a:lnTo>
                <a:lnTo>
                  <a:pt x="2338666" y="114445"/>
                </a:lnTo>
                <a:lnTo>
                  <a:pt x="2345775" y="118768"/>
                </a:lnTo>
                <a:lnTo>
                  <a:pt x="2352883" y="123148"/>
                </a:lnTo>
                <a:lnTo>
                  <a:pt x="2359992" y="127583"/>
                </a:lnTo>
                <a:lnTo>
                  <a:pt x="2367100" y="132071"/>
                </a:lnTo>
                <a:lnTo>
                  <a:pt x="2374208" y="136612"/>
                </a:lnTo>
                <a:lnTo>
                  <a:pt x="2381317" y="141204"/>
                </a:lnTo>
                <a:lnTo>
                  <a:pt x="2388425" y="145844"/>
                </a:lnTo>
                <a:lnTo>
                  <a:pt x="2395534" y="150531"/>
                </a:lnTo>
                <a:lnTo>
                  <a:pt x="2402642" y="155264"/>
                </a:lnTo>
                <a:lnTo>
                  <a:pt x="2409750" y="160040"/>
                </a:lnTo>
                <a:lnTo>
                  <a:pt x="2416859" y="164859"/>
                </a:lnTo>
                <a:lnTo>
                  <a:pt x="2423967" y="169718"/>
                </a:lnTo>
                <a:lnTo>
                  <a:pt x="2431076" y="174616"/>
                </a:lnTo>
                <a:lnTo>
                  <a:pt x="2438184" y="179551"/>
                </a:lnTo>
                <a:lnTo>
                  <a:pt x="2445293" y="184521"/>
                </a:lnTo>
                <a:lnTo>
                  <a:pt x="2452401" y="189525"/>
                </a:lnTo>
                <a:lnTo>
                  <a:pt x="2459509" y="194562"/>
                </a:lnTo>
                <a:lnTo>
                  <a:pt x="2466618" y="199628"/>
                </a:lnTo>
                <a:lnTo>
                  <a:pt x="2473726" y="204724"/>
                </a:lnTo>
                <a:lnTo>
                  <a:pt x="2480835" y="209846"/>
                </a:lnTo>
                <a:lnTo>
                  <a:pt x="2487943" y="214994"/>
                </a:lnTo>
                <a:lnTo>
                  <a:pt x="2495051" y="220166"/>
                </a:lnTo>
                <a:lnTo>
                  <a:pt x="2502160" y="225359"/>
                </a:lnTo>
                <a:lnTo>
                  <a:pt x="2509268" y="230573"/>
                </a:lnTo>
                <a:lnTo>
                  <a:pt x="2516377" y="235806"/>
                </a:lnTo>
                <a:lnTo>
                  <a:pt x="2523485" y="241056"/>
                </a:lnTo>
                <a:lnTo>
                  <a:pt x="2530593" y="246321"/>
                </a:lnTo>
                <a:lnTo>
                  <a:pt x="2537702" y="251601"/>
                </a:lnTo>
                <a:lnTo>
                  <a:pt x="2544810" y="256892"/>
                </a:lnTo>
                <a:lnTo>
                  <a:pt x="2551919" y="262195"/>
                </a:lnTo>
                <a:lnTo>
                  <a:pt x="2559027" y="267506"/>
                </a:lnTo>
                <a:lnTo>
                  <a:pt x="2566135" y="272826"/>
                </a:lnTo>
                <a:lnTo>
                  <a:pt x="2573244" y="278151"/>
                </a:lnTo>
                <a:lnTo>
                  <a:pt x="2580352" y="283481"/>
                </a:lnTo>
                <a:lnTo>
                  <a:pt x="2587461" y="288813"/>
                </a:lnTo>
                <a:lnTo>
                  <a:pt x="2594569" y="294147"/>
                </a:lnTo>
                <a:lnTo>
                  <a:pt x="2601678" y="299482"/>
                </a:lnTo>
                <a:lnTo>
                  <a:pt x="2608786" y="304814"/>
                </a:lnTo>
                <a:lnTo>
                  <a:pt x="2615894" y="310144"/>
                </a:lnTo>
                <a:lnTo>
                  <a:pt x="2623003" y="315470"/>
                </a:lnTo>
                <a:lnTo>
                  <a:pt x="2630111" y="320789"/>
                </a:lnTo>
                <a:lnTo>
                  <a:pt x="2637220" y="326102"/>
                </a:lnTo>
                <a:lnTo>
                  <a:pt x="2644328" y="331406"/>
                </a:lnTo>
                <a:lnTo>
                  <a:pt x="2651436" y="336700"/>
                </a:lnTo>
                <a:lnTo>
                  <a:pt x="2658545" y="341983"/>
                </a:lnTo>
                <a:lnTo>
                  <a:pt x="2665653" y="347253"/>
                </a:lnTo>
                <a:lnTo>
                  <a:pt x="2672762" y="352510"/>
                </a:lnTo>
                <a:lnTo>
                  <a:pt x="2679870" y="357752"/>
                </a:lnTo>
                <a:lnTo>
                  <a:pt x="2686978" y="362977"/>
                </a:lnTo>
                <a:lnTo>
                  <a:pt x="2694087" y="368184"/>
                </a:lnTo>
                <a:lnTo>
                  <a:pt x="2701195" y="373373"/>
                </a:lnTo>
                <a:lnTo>
                  <a:pt x="2708304" y="378543"/>
                </a:lnTo>
                <a:lnTo>
                  <a:pt x="2715412" y="383691"/>
                </a:lnTo>
                <a:lnTo>
                  <a:pt x="2722520" y="388817"/>
                </a:lnTo>
                <a:lnTo>
                  <a:pt x="2729629" y="393919"/>
                </a:lnTo>
                <a:lnTo>
                  <a:pt x="2736737" y="398998"/>
                </a:lnTo>
                <a:lnTo>
                  <a:pt x="2743846" y="404051"/>
                </a:lnTo>
                <a:lnTo>
                  <a:pt x="2750954" y="409077"/>
                </a:lnTo>
                <a:lnTo>
                  <a:pt x="2758063" y="414076"/>
                </a:lnTo>
                <a:lnTo>
                  <a:pt x="2765171" y="419047"/>
                </a:lnTo>
                <a:lnTo>
                  <a:pt x="2772279" y="423989"/>
                </a:lnTo>
                <a:lnTo>
                  <a:pt x="2779388" y="428900"/>
                </a:lnTo>
                <a:lnTo>
                  <a:pt x="2786496" y="433780"/>
                </a:lnTo>
                <a:lnTo>
                  <a:pt x="2793605" y="438628"/>
                </a:lnTo>
                <a:lnTo>
                  <a:pt x="2800713" y="443444"/>
                </a:lnTo>
                <a:lnTo>
                  <a:pt x="2807821" y="448226"/>
                </a:lnTo>
                <a:lnTo>
                  <a:pt x="2814930" y="452973"/>
                </a:lnTo>
                <a:lnTo>
                  <a:pt x="2822038" y="457685"/>
                </a:lnTo>
                <a:lnTo>
                  <a:pt x="2829147" y="462361"/>
                </a:lnTo>
                <a:lnTo>
                  <a:pt x="2836255" y="467001"/>
                </a:lnTo>
                <a:lnTo>
                  <a:pt x="2843363" y="471604"/>
                </a:lnTo>
                <a:lnTo>
                  <a:pt x="2850472" y="476168"/>
                </a:lnTo>
                <a:lnTo>
                  <a:pt x="2857580" y="480694"/>
                </a:lnTo>
                <a:lnTo>
                  <a:pt x="2864689" y="485181"/>
                </a:lnTo>
                <a:lnTo>
                  <a:pt x="2871797" y="489628"/>
                </a:lnTo>
                <a:lnTo>
                  <a:pt x="2878906" y="494035"/>
                </a:lnTo>
                <a:lnTo>
                  <a:pt x="2886014" y="498401"/>
                </a:lnTo>
                <a:lnTo>
                  <a:pt x="2893122" y="502726"/>
                </a:lnTo>
                <a:lnTo>
                  <a:pt x="2900231" y="507009"/>
                </a:lnTo>
                <a:lnTo>
                  <a:pt x="2907339" y="511249"/>
                </a:lnTo>
                <a:lnTo>
                  <a:pt x="2914448" y="515447"/>
                </a:lnTo>
                <a:lnTo>
                  <a:pt x="2921556" y="519603"/>
                </a:lnTo>
                <a:lnTo>
                  <a:pt x="2928664" y="523714"/>
                </a:lnTo>
                <a:lnTo>
                  <a:pt x="2935773" y="527782"/>
                </a:lnTo>
                <a:lnTo>
                  <a:pt x="2942881" y="531806"/>
                </a:lnTo>
                <a:lnTo>
                  <a:pt x="2949990" y="535786"/>
                </a:lnTo>
                <a:lnTo>
                  <a:pt x="2957098" y="539721"/>
                </a:lnTo>
                <a:lnTo>
                  <a:pt x="2964206" y="543611"/>
                </a:lnTo>
                <a:lnTo>
                  <a:pt x="2971315" y="547456"/>
                </a:lnTo>
                <a:lnTo>
                  <a:pt x="2978423" y="551255"/>
                </a:lnTo>
                <a:lnTo>
                  <a:pt x="2985532" y="555009"/>
                </a:lnTo>
                <a:lnTo>
                  <a:pt x="2992640" y="558718"/>
                </a:lnTo>
                <a:lnTo>
                  <a:pt x="2999748" y="562381"/>
                </a:lnTo>
                <a:lnTo>
                  <a:pt x="3006857" y="565997"/>
                </a:lnTo>
                <a:lnTo>
                  <a:pt x="3013965" y="569568"/>
                </a:lnTo>
                <a:lnTo>
                  <a:pt x="3021074" y="573093"/>
                </a:lnTo>
                <a:lnTo>
                  <a:pt x="3028182" y="576572"/>
                </a:lnTo>
                <a:lnTo>
                  <a:pt x="3035291" y="580004"/>
                </a:lnTo>
                <a:lnTo>
                  <a:pt x="3042399" y="583390"/>
                </a:lnTo>
                <a:lnTo>
                  <a:pt x="3049507" y="586731"/>
                </a:lnTo>
                <a:lnTo>
                  <a:pt x="3056616" y="590025"/>
                </a:lnTo>
                <a:lnTo>
                  <a:pt x="3063724" y="593272"/>
                </a:lnTo>
                <a:lnTo>
                  <a:pt x="3070833" y="596474"/>
                </a:lnTo>
                <a:lnTo>
                  <a:pt x="3077941" y="599630"/>
                </a:lnTo>
                <a:lnTo>
                  <a:pt x="3085049" y="602740"/>
                </a:lnTo>
                <a:lnTo>
                  <a:pt x="3092158" y="605804"/>
                </a:lnTo>
                <a:lnTo>
                  <a:pt x="3099266" y="608823"/>
                </a:lnTo>
                <a:lnTo>
                  <a:pt x="3106375" y="611796"/>
                </a:lnTo>
                <a:lnTo>
                  <a:pt x="3113483" y="614724"/>
                </a:lnTo>
                <a:lnTo>
                  <a:pt x="3120591" y="617607"/>
                </a:lnTo>
                <a:lnTo>
                  <a:pt x="3127700" y="620445"/>
                </a:lnTo>
                <a:lnTo>
                  <a:pt x="3134808" y="623237"/>
                </a:lnTo>
                <a:lnTo>
                  <a:pt x="3141917" y="625986"/>
                </a:lnTo>
                <a:lnTo>
                  <a:pt x="3149025" y="628690"/>
                </a:lnTo>
                <a:lnTo>
                  <a:pt x="3156133" y="631350"/>
                </a:lnTo>
                <a:lnTo>
                  <a:pt x="3163242" y="633967"/>
                </a:lnTo>
                <a:lnTo>
                  <a:pt x="3170350" y="636539"/>
                </a:lnTo>
                <a:lnTo>
                  <a:pt x="3177459" y="639069"/>
                </a:lnTo>
                <a:lnTo>
                  <a:pt x="3184567" y="641555"/>
                </a:lnTo>
                <a:lnTo>
                  <a:pt x="3191676" y="643999"/>
                </a:lnTo>
                <a:lnTo>
                  <a:pt x="3198784" y="646401"/>
                </a:lnTo>
                <a:lnTo>
                  <a:pt x="3205892" y="648761"/>
                </a:lnTo>
                <a:lnTo>
                  <a:pt x="3213001" y="651078"/>
                </a:lnTo>
                <a:lnTo>
                  <a:pt x="3220109" y="653355"/>
                </a:lnTo>
                <a:lnTo>
                  <a:pt x="3227218" y="655591"/>
                </a:lnTo>
                <a:lnTo>
                  <a:pt x="3234326" y="657786"/>
                </a:lnTo>
                <a:lnTo>
                  <a:pt x="3241434" y="659940"/>
                </a:lnTo>
                <a:lnTo>
                  <a:pt x="3248543" y="662055"/>
                </a:lnTo>
                <a:lnTo>
                  <a:pt x="3255651" y="664131"/>
                </a:lnTo>
                <a:lnTo>
                  <a:pt x="3262760" y="666167"/>
                </a:lnTo>
                <a:lnTo>
                  <a:pt x="3269868" y="668165"/>
                </a:lnTo>
                <a:lnTo>
                  <a:pt x="3276976" y="670124"/>
                </a:lnTo>
                <a:lnTo>
                  <a:pt x="3284085" y="672045"/>
                </a:lnTo>
                <a:lnTo>
                  <a:pt x="3291193" y="673929"/>
                </a:lnTo>
                <a:lnTo>
                  <a:pt x="3298302" y="675776"/>
                </a:lnTo>
                <a:lnTo>
                  <a:pt x="3305410" y="677586"/>
                </a:lnTo>
                <a:lnTo>
                  <a:pt x="3312519" y="679360"/>
                </a:lnTo>
                <a:lnTo>
                  <a:pt x="3319627" y="681099"/>
                </a:lnTo>
                <a:lnTo>
                  <a:pt x="3326735" y="682802"/>
                </a:lnTo>
                <a:lnTo>
                  <a:pt x="3333844" y="684470"/>
                </a:lnTo>
                <a:lnTo>
                  <a:pt x="3340952" y="686103"/>
                </a:lnTo>
                <a:lnTo>
                  <a:pt x="3348061" y="687703"/>
                </a:lnTo>
                <a:lnTo>
                  <a:pt x="3355169" y="689269"/>
                </a:lnTo>
                <a:lnTo>
                  <a:pt x="3362277" y="690802"/>
                </a:lnTo>
                <a:lnTo>
                  <a:pt x="3369386" y="692302"/>
                </a:lnTo>
                <a:lnTo>
                  <a:pt x="3376494" y="693770"/>
                </a:lnTo>
                <a:lnTo>
                  <a:pt x="3383603" y="695207"/>
                </a:lnTo>
                <a:lnTo>
                  <a:pt x="3390711" y="696612"/>
                </a:lnTo>
                <a:lnTo>
                  <a:pt x="3397819" y="697986"/>
                </a:lnTo>
                <a:lnTo>
                  <a:pt x="3404928" y="699330"/>
                </a:lnTo>
                <a:lnTo>
                  <a:pt x="3412036" y="700644"/>
                </a:lnTo>
                <a:lnTo>
                  <a:pt x="3419145" y="701928"/>
                </a:lnTo>
                <a:lnTo>
                  <a:pt x="3426253" y="703184"/>
                </a:lnTo>
                <a:lnTo>
                  <a:pt x="3433361" y="704410"/>
                </a:lnTo>
                <a:lnTo>
                  <a:pt x="3440470" y="705609"/>
                </a:lnTo>
                <a:lnTo>
                  <a:pt x="3447578" y="706780"/>
                </a:lnTo>
                <a:lnTo>
                  <a:pt x="3454687" y="707924"/>
                </a:lnTo>
                <a:lnTo>
                  <a:pt x="3461795" y="709042"/>
                </a:lnTo>
                <a:lnTo>
                  <a:pt x="3468904" y="710132"/>
                </a:lnTo>
                <a:lnTo>
                  <a:pt x="3476012" y="711198"/>
                </a:lnTo>
                <a:lnTo>
                  <a:pt x="3483120" y="712237"/>
                </a:lnTo>
                <a:lnTo>
                  <a:pt x="3490229" y="713252"/>
                </a:lnTo>
                <a:lnTo>
                  <a:pt x="3497337" y="714242"/>
                </a:lnTo>
                <a:lnTo>
                  <a:pt x="3504446" y="715208"/>
                </a:lnTo>
                <a:lnTo>
                  <a:pt x="3511554" y="716151"/>
                </a:lnTo>
                <a:lnTo>
                  <a:pt x="3518662" y="717070"/>
                </a:lnTo>
                <a:lnTo>
                  <a:pt x="3525771" y="717966"/>
                </a:lnTo>
                <a:lnTo>
                  <a:pt x="3532879" y="718840"/>
                </a:lnTo>
                <a:lnTo>
                  <a:pt x="3539988" y="719692"/>
                </a:lnTo>
                <a:lnTo>
                  <a:pt x="3547096" y="720523"/>
                </a:lnTo>
                <a:lnTo>
                  <a:pt x="3554204" y="721332"/>
                </a:lnTo>
                <a:lnTo>
                  <a:pt x="3561313" y="722121"/>
                </a:lnTo>
                <a:lnTo>
                  <a:pt x="3568421" y="722890"/>
                </a:lnTo>
                <a:lnTo>
                  <a:pt x="3575530" y="723638"/>
                </a:lnTo>
                <a:lnTo>
                  <a:pt x="3582638" y="724367"/>
                </a:lnTo>
                <a:lnTo>
                  <a:pt x="3589746" y="725077"/>
                </a:lnTo>
                <a:lnTo>
                  <a:pt x="3596855" y="725769"/>
                </a:lnTo>
                <a:lnTo>
                  <a:pt x="3603963" y="726442"/>
                </a:lnTo>
                <a:lnTo>
                  <a:pt x="3611072" y="727097"/>
                </a:lnTo>
                <a:lnTo>
                  <a:pt x="3618180" y="727734"/>
                </a:lnTo>
                <a:lnTo>
                  <a:pt x="3625289" y="728354"/>
                </a:lnTo>
                <a:lnTo>
                  <a:pt x="3632397" y="728958"/>
                </a:lnTo>
                <a:lnTo>
                  <a:pt x="3639505" y="729545"/>
                </a:lnTo>
                <a:lnTo>
                  <a:pt x="3646614" y="730116"/>
                </a:lnTo>
                <a:lnTo>
                  <a:pt x="3653722" y="730671"/>
                </a:lnTo>
                <a:lnTo>
                  <a:pt x="3660831" y="731211"/>
                </a:lnTo>
                <a:lnTo>
                  <a:pt x="3667939" y="731736"/>
                </a:lnTo>
                <a:lnTo>
                  <a:pt x="3675047" y="732246"/>
                </a:lnTo>
                <a:lnTo>
                  <a:pt x="3682156" y="732741"/>
                </a:lnTo>
                <a:lnTo>
                  <a:pt x="3689264" y="733223"/>
                </a:lnTo>
                <a:lnTo>
                  <a:pt x="3696373" y="733691"/>
                </a:lnTo>
                <a:lnTo>
                  <a:pt x="3703481" y="734146"/>
                </a:lnTo>
                <a:lnTo>
                  <a:pt x="3710589" y="734587"/>
                </a:lnTo>
                <a:lnTo>
                  <a:pt x="3717698" y="735016"/>
                </a:lnTo>
                <a:lnTo>
                  <a:pt x="3724806" y="735432"/>
                </a:lnTo>
                <a:lnTo>
                  <a:pt x="3731915" y="735836"/>
                </a:lnTo>
                <a:lnTo>
                  <a:pt x="3739023" y="736228"/>
                </a:lnTo>
                <a:lnTo>
                  <a:pt x="3746132" y="736609"/>
                </a:lnTo>
                <a:lnTo>
                  <a:pt x="3753240" y="736978"/>
                </a:lnTo>
                <a:lnTo>
                  <a:pt x="3760348" y="737336"/>
                </a:lnTo>
                <a:lnTo>
                  <a:pt x="3767457" y="737684"/>
                </a:lnTo>
                <a:lnTo>
                  <a:pt x="3774565" y="738021"/>
                </a:lnTo>
                <a:lnTo>
                  <a:pt x="3781674" y="738348"/>
                </a:lnTo>
                <a:lnTo>
                  <a:pt x="3788782" y="738664"/>
                </a:lnTo>
                <a:lnTo>
                  <a:pt x="3795890" y="738972"/>
                </a:lnTo>
                <a:lnTo>
                  <a:pt x="3802999" y="739269"/>
                </a:lnTo>
                <a:lnTo>
                  <a:pt x="3810107" y="739558"/>
                </a:lnTo>
                <a:lnTo>
                  <a:pt x="3817216" y="739838"/>
                </a:lnTo>
                <a:lnTo>
                  <a:pt x="3824324" y="740108"/>
                </a:lnTo>
                <a:lnTo>
                  <a:pt x="3831432" y="740371"/>
                </a:lnTo>
                <a:lnTo>
                  <a:pt x="3838541" y="740625"/>
                </a:lnTo>
                <a:lnTo>
                  <a:pt x="3845649" y="740871"/>
                </a:lnTo>
                <a:lnTo>
                  <a:pt x="3852758" y="741109"/>
                </a:lnTo>
                <a:lnTo>
                  <a:pt x="3859866" y="741340"/>
                </a:lnTo>
                <a:lnTo>
                  <a:pt x="3866974" y="741563"/>
                </a:lnTo>
                <a:lnTo>
                  <a:pt x="3874083" y="741779"/>
                </a:lnTo>
                <a:lnTo>
                  <a:pt x="3881191" y="741988"/>
                </a:lnTo>
                <a:lnTo>
                  <a:pt x="3888300" y="742191"/>
                </a:lnTo>
                <a:lnTo>
                  <a:pt x="3895408" y="742386"/>
                </a:lnTo>
                <a:lnTo>
                  <a:pt x="3902517" y="742576"/>
                </a:lnTo>
                <a:lnTo>
                  <a:pt x="3909625" y="742759"/>
                </a:lnTo>
                <a:lnTo>
                  <a:pt x="3916733" y="742936"/>
                </a:lnTo>
                <a:lnTo>
                  <a:pt x="3923842" y="743107"/>
                </a:lnTo>
                <a:lnTo>
                  <a:pt x="3930950" y="743272"/>
                </a:lnTo>
                <a:lnTo>
                  <a:pt x="3938059" y="743432"/>
                </a:lnTo>
                <a:lnTo>
                  <a:pt x="3945167" y="743586"/>
                </a:lnTo>
                <a:lnTo>
                  <a:pt x="3952275" y="743735"/>
                </a:lnTo>
                <a:lnTo>
                  <a:pt x="3959384" y="743880"/>
                </a:lnTo>
                <a:lnTo>
                  <a:pt x="3966492" y="744019"/>
                </a:lnTo>
                <a:lnTo>
                  <a:pt x="3973601" y="744153"/>
                </a:lnTo>
                <a:lnTo>
                  <a:pt x="3980709" y="744283"/>
                </a:lnTo>
                <a:lnTo>
                  <a:pt x="3987817" y="744408"/>
                </a:lnTo>
                <a:lnTo>
                  <a:pt x="3994926" y="744529"/>
                </a:lnTo>
                <a:lnTo>
                  <a:pt x="4002034" y="744646"/>
                </a:lnTo>
                <a:lnTo>
                  <a:pt x="4009143" y="744759"/>
                </a:lnTo>
                <a:lnTo>
                  <a:pt x="4016251" y="744867"/>
                </a:lnTo>
                <a:lnTo>
                  <a:pt x="4023360" y="744972"/>
                </a:lnTo>
                <a:lnTo>
                  <a:pt x="4030468" y="745073"/>
                </a:lnTo>
                <a:lnTo>
                  <a:pt x="4037576" y="745171"/>
                </a:lnTo>
                <a:lnTo>
                  <a:pt x="4044685" y="745265"/>
                </a:lnTo>
                <a:lnTo>
                  <a:pt x="4051793" y="745356"/>
                </a:lnTo>
                <a:lnTo>
                  <a:pt x="4058902" y="745443"/>
                </a:lnTo>
                <a:lnTo>
                  <a:pt x="4066010" y="745528"/>
                </a:lnTo>
                <a:lnTo>
                  <a:pt x="4073118" y="745609"/>
                </a:lnTo>
                <a:lnTo>
                  <a:pt x="4080227" y="745687"/>
                </a:lnTo>
                <a:lnTo>
                  <a:pt x="4087335" y="745762"/>
                </a:lnTo>
                <a:lnTo>
                  <a:pt x="4094444" y="745835"/>
                </a:lnTo>
                <a:lnTo>
                  <a:pt x="4101552" y="745905"/>
                </a:lnTo>
                <a:lnTo>
                  <a:pt x="4108660" y="745972"/>
                </a:lnTo>
                <a:lnTo>
                  <a:pt x="4115769" y="746037"/>
                </a:lnTo>
                <a:lnTo>
                  <a:pt x="4122877" y="746099"/>
                </a:lnTo>
                <a:lnTo>
                  <a:pt x="4129986" y="746160"/>
                </a:lnTo>
                <a:lnTo>
                  <a:pt x="4137094" y="746217"/>
                </a:lnTo>
                <a:lnTo>
                  <a:pt x="4144202" y="746273"/>
                </a:lnTo>
                <a:lnTo>
                  <a:pt x="4151311" y="746327"/>
                </a:lnTo>
                <a:lnTo>
                  <a:pt x="4158419" y="746378"/>
                </a:lnTo>
                <a:lnTo>
                  <a:pt x="4165528" y="746428"/>
                </a:lnTo>
                <a:lnTo>
                  <a:pt x="4172636" y="746475"/>
                </a:lnTo>
                <a:lnTo>
                  <a:pt x="4179745" y="746521"/>
                </a:lnTo>
                <a:lnTo>
                  <a:pt x="4186853" y="746565"/>
                </a:lnTo>
                <a:lnTo>
                  <a:pt x="4193961" y="746607"/>
                </a:lnTo>
                <a:lnTo>
                  <a:pt x="4201070" y="746648"/>
                </a:lnTo>
                <a:lnTo>
                  <a:pt x="4208178" y="746687"/>
                </a:lnTo>
                <a:lnTo>
                  <a:pt x="4215287" y="746725"/>
                </a:lnTo>
                <a:lnTo>
                  <a:pt x="4222395" y="746761"/>
                </a:lnTo>
                <a:lnTo>
                  <a:pt x="4229503" y="746795"/>
                </a:lnTo>
                <a:lnTo>
                  <a:pt x="4236612" y="746829"/>
                </a:lnTo>
                <a:lnTo>
                  <a:pt x="4243720" y="746861"/>
                </a:lnTo>
                <a:lnTo>
                  <a:pt x="4250829" y="746891"/>
                </a:lnTo>
                <a:lnTo>
                  <a:pt x="4257937" y="746921"/>
                </a:lnTo>
                <a:lnTo>
                  <a:pt x="4265045" y="746949"/>
                </a:lnTo>
                <a:lnTo>
                  <a:pt x="4272154" y="746976"/>
                </a:lnTo>
                <a:lnTo>
                  <a:pt x="4279262" y="747002"/>
                </a:lnTo>
                <a:lnTo>
                  <a:pt x="4286371" y="747027"/>
                </a:lnTo>
                <a:lnTo>
                  <a:pt x="4293479" y="747051"/>
                </a:lnTo>
                <a:lnTo>
                  <a:pt x="4300587" y="747074"/>
                </a:lnTo>
                <a:lnTo>
                  <a:pt x="4307696" y="747096"/>
                </a:lnTo>
                <a:lnTo>
                  <a:pt x="4314804" y="747117"/>
                </a:lnTo>
                <a:lnTo>
                  <a:pt x="4321913" y="747137"/>
                </a:lnTo>
                <a:lnTo>
                  <a:pt x="4329021" y="747157"/>
                </a:lnTo>
                <a:lnTo>
                  <a:pt x="4336130" y="747175"/>
                </a:lnTo>
                <a:lnTo>
                  <a:pt x="4343238" y="747193"/>
                </a:lnTo>
                <a:lnTo>
                  <a:pt x="4350346" y="747210"/>
                </a:lnTo>
                <a:lnTo>
                  <a:pt x="4357455" y="747227"/>
                </a:lnTo>
                <a:lnTo>
                  <a:pt x="4364563" y="747242"/>
                </a:lnTo>
                <a:lnTo>
                  <a:pt x="4371672" y="747257"/>
                </a:lnTo>
                <a:lnTo>
                  <a:pt x="4378780" y="747272"/>
                </a:lnTo>
                <a:lnTo>
                  <a:pt x="4385888" y="747286"/>
                </a:lnTo>
                <a:lnTo>
                  <a:pt x="4392997" y="747299"/>
                </a:lnTo>
                <a:lnTo>
                  <a:pt x="4400105" y="747311"/>
                </a:lnTo>
                <a:lnTo>
                  <a:pt x="4407214" y="747323"/>
                </a:lnTo>
                <a:lnTo>
                  <a:pt x="4414322" y="747335"/>
                </a:lnTo>
                <a:lnTo>
                  <a:pt x="4421430" y="747346"/>
                </a:lnTo>
                <a:lnTo>
                  <a:pt x="4428539" y="747357"/>
                </a:lnTo>
                <a:lnTo>
                  <a:pt x="4435647" y="747367"/>
                </a:lnTo>
                <a:lnTo>
                  <a:pt x="4442756" y="747376"/>
                </a:lnTo>
                <a:lnTo>
                  <a:pt x="4449864" y="747386"/>
                </a:lnTo>
                <a:lnTo>
                  <a:pt x="4456973" y="747394"/>
                </a:lnTo>
                <a:lnTo>
                  <a:pt x="4464081" y="747403"/>
                </a:lnTo>
                <a:lnTo>
                  <a:pt x="4471189" y="747411"/>
                </a:lnTo>
                <a:lnTo>
                  <a:pt x="4478298" y="747419"/>
                </a:lnTo>
                <a:lnTo>
                  <a:pt x="4485406" y="747426"/>
                </a:lnTo>
                <a:lnTo>
                  <a:pt x="4492515" y="747433"/>
                </a:lnTo>
                <a:lnTo>
                  <a:pt x="4499623" y="747440"/>
                </a:lnTo>
                <a:lnTo>
                  <a:pt x="4506731" y="747446"/>
                </a:lnTo>
                <a:lnTo>
                  <a:pt x="4513840" y="747452"/>
                </a:lnTo>
                <a:lnTo>
                  <a:pt x="4520948" y="747458"/>
                </a:lnTo>
                <a:lnTo>
                  <a:pt x="4528057" y="747464"/>
                </a:lnTo>
                <a:lnTo>
                  <a:pt x="4535165" y="747469"/>
                </a:lnTo>
                <a:lnTo>
                  <a:pt x="4542273" y="747474"/>
                </a:lnTo>
                <a:lnTo>
                  <a:pt x="4549382" y="747479"/>
                </a:lnTo>
                <a:lnTo>
                  <a:pt x="4556490" y="747484"/>
                </a:lnTo>
                <a:lnTo>
                  <a:pt x="4563599" y="747488"/>
                </a:lnTo>
                <a:lnTo>
                  <a:pt x="4570707" y="747492"/>
                </a:lnTo>
                <a:lnTo>
                  <a:pt x="4577815" y="747496"/>
                </a:lnTo>
                <a:lnTo>
                  <a:pt x="4584924" y="747500"/>
                </a:lnTo>
                <a:lnTo>
                  <a:pt x="4592032" y="747504"/>
                </a:lnTo>
                <a:lnTo>
                  <a:pt x="4599141" y="747507"/>
                </a:lnTo>
                <a:lnTo>
                  <a:pt x="4606249" y="747511"/>
                </a:lnTo>
                <a:lnTo>
                  <a:pt x="4613358" y="747514"/>
                </a:lnTo>
                <a:lnTo>
                  <a:pt x="4620466" y="747517"/>
                </a:lnTo>
                <a:lnTo>
                  <a:pt x="4627574" y="747520"/>
                </a:lnTo>
                <a:lnTo>
                  <a:pt x="4634683" y="747522"/>
                </a:lnTo>
                <a:lnTo>
                  <a:pt x="4641791" y="747525"/>
                </a:lnTo>
                <a:lnTo>
                  <a:pt x="4648900" y="747527"/>
                </a:lnTo>
                <a:lnTo>
                  <a:pt x="4656008" y="747530"/>
                </a:lnTo>
                <a:lnTo>
                  <a:pt x="4663116" y="747532"/>
                </a:lnTo>
                <a:lnTo>
                  <a:pt x="4670225" y="747534"/>
                </a:lnTo>
                <a:lnTo>
                  <a:pt x="4677333" y="747536"/>
                </a:lnTo>
                <a:lnTo>
                  <a:pt x="4684442" y="747538"/>
                </a:lnTo>
                <a:lnTo>
                  <a:pt x="4691550" y="747540"/>
                </a:lnTo>
                <a:lnTo>
                  <a:pt x="4698658" y="747542"/>
                </a:lnTo>
                <a:lnTo>
                  <a:pt x="4705767" y="747543"/>
                </a:lnTo>
                <a:lnTo>
                  <a:pt x="4712875" y="747545"/>
                </a:lnTo>
                <a:lnTo>
                  <a:pt x="4719984" y="747547"/>
                </a:lnTo>
                <a:lnTo>
                  <a:pt x="4727092" y="747548"/>
                </a:lnTo>
                <a:lnTo>
                  <a:pt x="4734200" y="747549"/>
                </a:lnTo>
                <a:lnTo>
                  <a:pt x="4741309" y="747551"/>
                </a:lnTo>
                <a:lnTo>
                  <a:pt x="4748417" y="747552"/>
                </a:lnTo>
                <a:lnTo>
                  <a:pt x="4755526" y="747553"/>
                </a:lnTo>
                <a:lnTo>
                  <a:pt x="4762634" y="747554"/>
                </a:lnTo>
                <a:lnTo>
                  <a:pt x="4769743" y="747555"/>
                </a:lnTo>
                <a:lnTo>
                  <a:pt x="4776851" y="747556"/>
                </a:lnTo>
                <a:lnTo>
                  <a:pt x="4783959" y="747557"/>
                </a:lnTo>
                <a:lnTo>
                  <a:pt x="4791068" y="747558"/>
                </a:lnTo>
                <a:lnTo>
                  <a:pt x="4798176" y="747559"/>
                </a:lnTo>
                <a:lnTo>
                  <a:pt x="4805285" y="747560"/>
                </a:lnTo>
                <a:lnTo>
                  <a:pt x="4812393" y="747560"/>
                </a:lnTo>
                <a:lnTo>
                  <a:pt x="4819501" y="747561"/>
                </a:lnTo>
                <a:lnTo>
                  <a:pt x="4826610" y="747562"/>
                </a:lnTo>
                <a:lnTo>
                  <a:pt x="4833718" y="747563"/>
                </a:lnTo>
                <a:lnTo>
                  <a:pt x="4840827" y="747563"/>
                </a:lnTo>
                <a:lnTo>
                  <a:pt x="4847935" y="747564"/>
                </a:lnTo>
                <a:lnTo>
                  <a:pt x="4855043" y="747564"/>
                </a:lnTo>
                <a:lnTo>
                  <a:pt x="4862152" y="747565"/>
                </a:lnTo>
                <a:lnTo>
                  <a:pt x="4869260" y="747565"/>
                </a:lnTo>
                <a:lnTo>
                  <a:pt x="4876369" y="747566"/>
                </a:lnTo>
                <a:lnTo>
                  <a:pt x="4883477" y="747566"/>
                </a:lnTo>
                <a:lnTo>
                  <a:pt x="4890586" y="747567"/>
                </a:lnTo>
                <a:lnTo>
                  <a:pt x="4897694" y="747567"/>
                </a:lnTo>
                <a:lnTo>
                  <a:pt x="4904802" y="747568"/>
                </a:lnTo>
                <a:lnTo>
                  <a:pt x="4911911" y="747568"/>
                </a:lnTo>
                <a:lnTo>
                  <a:pt x="4919019" y="747568"/>
                </a:lnTo>
                <a:lnTo>
                  <a:pt x="4926128" y="747569"/>
                </a:lnTo>
                <a:lnTo>
                  <a:pt x="4933236" y="747569"/>
                </a:lnTo>
                <a:lnTo>
                  <a:pt x="4940344" y="747569"/>
                </a:lnTo>
                <a:lnTo>
                  <a:pt x="4947453" y="747569"/>
                </a:lnTo>
                <a:lnTo>
                  <a:pt x="4954561" y="747570"/>
                </a:lnTo>
                <a:lnTo>
                  <a:pt x="4961670" y="747570"/>
                </a:lnTo>
                <a:lnTo>
                  <a:pt x="4968778" y="747570"/>
                </a:lnTo>
                <a:lnTo>
                  <a:pt x="4975886" y="747570"/>
                </a:lnTo>
                <a:lnTo>
                  <a:pt x="4982995" y="747571"/>
                </a:lnTo>
                <a:lnTo>
                  <a:pt x="4990103" y="747571"/>
                </a:lnTo>
                <a:lnTo>
                  <a:pt x="4997212" y="747571"/>
                </a:lnTo>
                <a:lnTo>
                  <a:pt x="5004320" y="747571"/>
                </a:lnTo>
                <a:lnTo>
                  <a:pt x="5011428" y="747571"/>
                </a:lnTo>
                <a:lnTo>
                  <a:pt x="5018537" y="747572"/>
                </a:lnTo>
                <a:lnTo>
                  <a:pt x="5025645" y="747572"/>
                </a:lnTo>
                <a:lnTo>
                  <a:pt x="5032754" y="747572"/>
                </a:lnTo>
                <a:lnTo>
                  <a:pt x="5039862" y="747572"/>
                </a:lnTo>
                <a:lnTo>
                  <a:pt x="5046971" y="747572"/>
                </a:lnTo>
                <a:lnTo>
                  <a:pt x="5054079" y="747572"/>
                </a:lnTo>
                <a:lnTo>
                  <a:pt x="5061187" y="747572"/>
                </a:lnTo>
                <a:lnTo>
                  <a:pt x="5068296" y="747572"/>
                </a:lnTo>
                <a:lnTo>
                  <a:pt x="5075404" y="747573"/>
                </a:lnTo>
                <a:lnTo>
                  <a:pt x="5082513" y="747573"/>
                </a:lnTo>
                <a:lnTo>
                  <a:pt x="5089621" y="747573"/>
                </a:lnTo>
                <a:lnTo>
                  <a:pt x="5096729" y="747573"/>
                </a:lnTo>
                <a:lnTo>
                  <a:pt x="5103838" y="747573"/>
                </a:lnTo>
                <a:lnTo>
                  <a:pt x="5110946" y="747573"/>
                </a:lnTo>
                <a:lnTo>
                  <a:pt x="5118055" y="747573"/>
                </a:lnTo>
                <a:lnTo>
                  <a:pt x="5125163" y="747573"/>
                </a:lnTo>
                <a:lnTo>
                  <a:pt x="5132271" y="747573"/>
                </a:lnTo>
                <a:lnTo>
                  <a:pt x="5139380" y="747573"/>
                </a:lnTo>
                <a:lnTo>
                  <a:pt x="5146488" y="747573"/>
                </a:lnTo>
                <a:lnTo>
                  <a:pt x="5153597" y="747573"/>
                </a:lnTo>
                <a:lnTo>
                  <a:pt x="5160705" y="747573"/>
                </a:lnTo>
                <a:lnTo>
                  <a:pt x="5167813" y="747573"/>
                </a:lnTo>
                <a:lnTo>
                  <a:pt x="5174922" y="747573"/>
                </a:lnTo>
                <a:lnTo>
                  <a:pt x="5182030" y="747574"/>
                </a:lnTo>
                <a:lnTo>
                  <a:pt x="5189139" y="747574"/>
                </a:lnTo>
                <a:lnTo>
                  <a:pt x="5196247" y="747574"/>
                </a:lnTo>
                <a:lnTo>
                  <a:pt x="5203356" y="747574"/>
                </a:lnTo>
                <a:lnTo>
                  <a:pt x="5210464" y="747574"/>
                </a:lnTo>
                <a:lnTo>
                  <a:pt x="5217572" y="747574"/>
                </a:lnTo>
                <a:lnTo>
                  <a:pt x="5224681" y="747574"/>
                </a:lnTo>
                <a:lnTo>
                  <a:pt x="5231789" y="747574"/>
                </a:lnTo>
                <a:lnTo>
                  <a:pt x="5238898" y="747574"/>
                </a:lnTo>
                <a:lnTo>
                  <a:pt x="5246006" y="747574"/>
                </a:lnTo>
                <a:lnTo>
                  <a:pt x="5253114" y="747574"/>
                </a:lnTo>
                <a:lnTo>
                  <a:pt x="5260223" y="747574"/>
                </a:lnTo>
                <a:lnTo>
                  <a:pt x="5267331" y="747574"/>
                </a:lnTo>
                <a:lnTo>
                  <a:pt x="5274440" y="747574"/>
                </a:lnTo>
                <a:lnTo>
                  <a:pt x="5281548" y="747574"/>
                </a:lnTo>
                <a:lnTo>
                  <a:pt x="5288656" y="747574"/>
                </a:lnTo>
                <a:lnTo>
                  <a:pt x="5295765" y="747574"/>
                </a:lnTo>
                <a:lnTo>
                  <a:pt x="5302873" y="747574"/>
                </a:lnTo>
                <a:lnTo>
                  <a:pt x="5309982" y="747574"/>
                </a:lnTo>
                <a:lnTo>
                  <a:pt x="5317090" y="747574"/>
                </a:lnTo>
                <a:lnTo>
                  <a:pt x="5324199" y="747574"/>
                </a:lnTo>
                <a:lnTo>
                  <a:pt x="5331307" y="747574"/>
                </a:lnTo>
                <a:lnTo>
                  <a:pt x="5338415" y="747574"/>
                </a:lnTo>
                <a:lnTo>
                  <a:pt x="5345524" y="747574"/>
                </a:lnTo>
                <a:lnTo>
                  <a:pt x="5352632" y="747574"/>
                </a:lnTo>
                <a:lnTo>
                  <a:pt x="5359741" y="747574"/>
                </a:lnTo>
                <a:lnTo>
                  <a:pt x="5366849" y="747574"/>
                </a:lnTo>
                <a:lnTo>
                  <a:pt x="5373957" y="747574"/>
                </a:lnTo>
                <a:lnTo>
                  <a:pt x="5381066" y="747574"/>
                </a:lnTo>
                <a:lnTo>
                  <a:pt x="5388174" y="747574"/>
                </a:lnTo>
                <a:lnTo>
                  <a:pt x="5395283" y="747574"/>
                </a:lnTo>
                <a:lnTo>
                  <a:pt x="5402391" y="747574"/>
                </a:lnTo>
                <a:lnTo>
                  <a:pt x="5409499" y="747574"/>
                </a:lnTo>
                <a:lnTo>
                  <a:pt x="5416608" y="747574"/>
                </a:lnTo>
                <a:lnTo>
                  <a:pt x="5423716" y="747574"/>
                </a:lnTo>
                <a:lnTo>
                  <a:pt x="5430825" y="747574"/>
                </a:lnTo>
                <a:lnTo>
                  <a:pt x="5437933" y="747574"/>
                </a:lnTo>
                <a:lnTo>
                  <a:pt x="5445041" y="747574"/>
                </a:lnTo>
                <a:lnTo>
                  <a:pt x="5452150" y="747574"/>
                </a:lnTo>
                <a:lnTo>
                  <a:pt x="5459258" y="747574"/>
                </a:lnTo>
                <a:lnTo>
                  <a:pt x="5466367" y="747574"/>
                </a:lnTo>
                <a:lnTo>
                  <a:pt x="5473475" y="747574"/>
                </a:lnTo>
                <a:lnTo>
                  <a:pt x="5480584" y="747574"/>
                </a:lnTo>
                <a:lnTo>
                  <a:pt x="5487692" y="747574"/>
                </a:lnTo>
                <a:lnTo>
                  <a:pt x="5494800" y="747574"/>
                </a:lnTo>
                <a:lnTo>
                  <a:pt x="5501909" y="747574"/>
                </a:lnTo>
                <a:lnTo>
                  <a:pt x="5509017" y="747574"/>
                </a:lnTo>
                <a:lnTo>
                  <a:pt x="5516126" y="747574"/>
                </a:lnTo>
                <a:lnTo>
                  <a:pt x="5523234" y="747574"/>
                </a:lnTo>
                <a:lnTo>
                  <a:pt x="5530342" y="747574"/>
                </a:lnTo>
                <a:lnTo>
                  <a:pt x="5537451" y="747574"/>
                </a:lnTo>
                <a:lnTo>
                  <a:pt x="5544559" y="747574"/>
                </a:lnTo>
                <a:lnTo>
                  <a:pt x="5551668" y="747574"/>
                </a:lnTo>
                <a:lnTo>
                  <a:pt x="5558776" y="747574"/>
                </a:lnTo>
                <a:lnTo>
                  <a:pt x="5565884" y="747574"/>
                </a:lnTo>
                <a:lnTo>
                  <a:pt x="5572993" y="747574"/>
                </a:lnTo>
                <a:lnTo>
                  <a:pt x="5580101" y="747574"/>
                </a:lnTo>
                <a:lnTo>
                  <a:pt x="5587210" y="747574"/>
                </a:lnTo>
                <a:lnTo>
                  <a:pt x="5594318" y="747574"/>
                </a:lnTo>
                <a:lnTo>
                  <a:pt x="5601426" y="747574"/>
                </a:lnTo>
                <a:lnTo>
                  <a:pt x="5608535" y="747574"/>
                </a:lnTo>
                <a:lnTo>
                  <a:pt x="5615643" y="747574"/>
                </a:lnTo>
                <a:lnTo>
                  <a:pt x="5622752" y="747574"/>
                </a:lnTo>
                <a:lnTo>
                  <a:pt x="5629860" y="747574"/>
                </a:lnTo>
                <a:lnTo>
                  <a:pt x="5636969" y="747574"/>
                </a:lnTo>
                <a:lnTo>
                  <a:pt x="5644077" y="747574"/>
                </a:lnTo>
                <a:lnTo>
                  <a:pt x="5651185" y="747574"/>
                </a:lnTo>
                <a:lnTo>
                  <a:pt x="5658294" y="747574"/>
                </a:lnTo>
                <a:lnTo>
                  <a:pt x="5665402" y="747574"/>
                </a:lnTo>
                <a:lnTo>
                  <a:pt x="5672511" y="747574"/>
                </a:lnTo>
                <a:lnTo>
                  <a:pt x="5679619" y="747574"/>
                </a:lnTo>
                <a:lnTo>
                  <a:pt x="5686727" y="747574"/>
                </a:lnTo>
                <a:lnTo>
                  <a:pt x="5693836" y="747574"/>
                </a:lnTo>
                <a:lnTo>
                  <a:pt x="5700944" y="747574"/>
                </a:lnTo>
                <a:lnTo>
                  <a:pt x="5708053" y="747574"/>
                </a:lnTo>
                <a:lnTo>
                  <a:pt x="5715161" y="747574"/>
                </a:lnTo>
                <a:lnTo>
                  <a:pt x="5722269" y="747574"/>
                </a:lnTo>
                <a:lnTo>
                  <a:pt x="5729378" y="747574"/>
                </a:lnTo>
                <a:lnTo>
                  <a:pt x="5736486" y="747574"/>
                </a:lnTo>
                <a:lnTo>
                  <a:pt x="5743595" y="747574"/>
                </a:lnTo>
                <a:lnTo>
                  <a:pt x="5750703" y="747574"/>
                </a:lnTo>
                <a:lnTo>
                  <a:pt x="5757812" y="747574"/>
                </a:lnTo>
                <a:lnTo>
                  <a:pt x="5764920" y="747574"/>
                </a:lnTo>
                <a:lnTo>
                  <a:pt x="5772028" y="747574"/>
                </a:lnTo>
                <a:lnTo>
                  <a:pt x="5779137" y="747574"/>
                </a:lnTo>
                <a:lnTo>
                  <a:pt x="5786245" y="747574"/>
                </a:lnTo>
                <a:lnTo>
                  <a:pt x="5793354" y="747574"/>
                </a:lnTo>
                <a:lnTo>
                  <a:pt x="5800462" y="747574"/>
                </a:lnTo>
                <a:lnTo>
                  <a:pt x="5807570" y="747574"/>
                </a:lnTo>
                <a:lnTo>
                  <a:pt x="5814679" y="747574"/>
                </a:lnTo>
                <a:lnTo>
                  <a:pt x="5821787" y="747574"/>
                </a:lnTo>
                <a:lnTo>
                  <a:pt x="5828896" y="747574"/>
                </a:lnTo>
                <a:lnTo>
                  <a:pt x="5836004" y="747574"/>
                </a:lnTo>
                <a:lnTo>
                  <a:pt x="5843112" y="747574"/>
                </a:lnTo>
                <a:lnTo>
                  <a:pt x="5850221" y="747574"/>
                </a:lnTo>
                <a:lnTo>
                  <a:pt x="5857329" y="747574"/>
                </a:lnTo>
                <a:lnTo>
                  <a:pt x="5864438" y="747574"/>
                </a:lnTo>
                <a:lnTo>
                  <a:pt x="5871546" y="747574"/>
                </a:lnTo>
                <a:lnTo>
                  <a:pt x="5878654" y="747574"/>
                </a:lnTo>
                <a:lnTo>
                  <a:pt x="5885763" y="747574"/>
                </a:lnTo>
                <a:lnTo>
                  <a:pt x="5892871" y="747574"/>
                </a:lnTo>
                <a:lnTo>
                  <a:pt x="5899980" y="747574"/>
                </a:lnTo>
                <a:lnTo>
                  <a:pt x="5907088" y="747574"/>
                </a:lnTo>
                <a:lnTo>
                  <a:pt x="5914197" y="747574"/>
                </a:lnTo>
                <a:lnTo>
                  <a:pt x="5921305" y="747574"/>
                </a:lnTo>
                <a:lnTo>
                  <a:pt x="5928413" y="747574"/>
                </a:lnTo>
                <a:lnTo>
                  <a:pt x="5935522" y="747574"/>
                </a:lnTo>
                <a:lnTo>
                  <a:pt x="5942630" y="747574"/>
                </a:lnTo>
                <a:lnTo>
                  <a:pt x="5949739" y="747574"/>
                </a:lnTo>
                <a:lnTo>
                  <a:pt x="5956847" y="747574"/>
                </a:lnTo>
                <a:lnTo>
                  <a:pt x="5963955" y="747574"/>
                </a:lnTo>
                <a:lnTo>
                  <a:pt x="5971064" y="747574"/>
                </a:lnTo>
                <a:lnTo>
                  <a:pt x="5978172" y="747574"/>
                </a:lnTo>
                <a:lnTo>
                  <a:pt x="5985281" y="747574"/>
                </a:lnTo>
                <a:lnTo>
                  <a:pt x="5992389" y="747574"/>
                </a:lnTo>
                <a:lnTo>
                  <a:pt x="5999497" y="747574"/>
                </a:lnTo>
                <a:lnTo>
                  <a:pt x="6006606" y="747574"/>
                </a:lnTo>
                <a:lnTo>
                  <a:pt x="6013714" y="747574"/>
                </a:lnTo>
                <a:lnTo>
                  <a:pt x="6020823" y="747574"/>
                </a:lnTo>
                <a:lnTo>
                  <a:pt x="6027931" y="747574"/>
                </a:lnTo>
                <a:lnTo>
                  <a:pt x="6035040" y="747574"/>
                </a:lnTo>
              </a:path>
            </a:pathLst>
          </a:custGeom>
          <a:noFill/>
          <a:ln w="25400">
            <a:solidFill>
              <a:srgbClr val="BF90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3" name="Connector 32">
            <a:extLst>
              <a:ext uri="{FF2B5EF4-FFF2-40B4-BE49-F238E27FC236}">
                <a16:creationId xmlns:a16="http://schemas.microsoft.com/office/drawing/2014/main" id="{3D96EB77-EAE0-E25E-9508-B288F78D674B}"/>
              </a:ext>
            </a:extLst>
          </p:cNvPr>
          <p:cNvCxnSpPr/>
          <p:nvPr/>
        </p:nvCxnSpPr>
        <p:spPr>
          <a:xfrm>
            <a:off x="2716866" y="2377440"/>
            <a:ext cx="0" cy="2331720"/>
          </a:xfrm>
          <a:prstGeom prst="line">
            <a:avLst/>
          </a:prstGeom>
          <a:ln w="19050">
            <a:solidFill>
              <a:srgbClr val="C00000"/>
            </a:solidFill>
            <a:prstDash val="dash"/>
          </a:ln>
        </p:spPr>
        <p:style>
          <a:lnRef idx="2">
            <a:schemeClr val="accent1"/>
          </a:lnRef>
          <a:fillRef idx="0">
            <a:schemeClr val="accent1"/>
          </a:fillRef>
          <a:effectRef idx="1">
            <a:schemeClr val="accent1"/>
          </a:effectRef>
          <a:fontRef idx="minor">
            <a:schemeClr val="tx1"/>
          </a:fontRef>
        </p:style>
      </p:cxnSp>
      <p:sp>
        <p:nvSpPr>
          <p:cNvPr id="34" name="Oval 33">
            <a:extLst>
              <a:ext uri="{FF2B5EF4-FFF2-40B4-BE49-F238E27FC236}">
                <a16:creationId xmlns:a16="http://schemas.microsoft.com/office/drawing/2014/main" id="{63734044-4728-EEB9-F63B-0E14C3F6FAF3}"/>
              </a:ext>
            </a:extLst>
          </p:cNvPr>
          <p:cNvSpPr/>
          <p:nvPr/>
        </p:nvSpPr>
        <p:spPr>
          <a:xfrm>
            <a:off x="2017673" y="2463953"/>
            <a:ext cx="118872" cy="118872"/>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Oval 34">
            <a:extLst>
              <a:ext uri="{FF2B5EF4-FFF2-40B4-BE49-F238E27FC236}">
                <a16:creationId xmlns:a16="http://schemas.microsoft.com/office/drawing/2014/main" id="{C7C7BED8-D398-FF28-DADF-88513ADDF718}"/>
              </a:ext>
            </a:extLst>
          </p:cNvPr>
          <p:cNvSpPr/>
          <p:nvPr/>
        </p:nvSpPr>
        <p:spPr>
          <a:xfrm>
            <a:off x="2657430" y="3371931"/>
            <a:ext cx="118872" cy="118872"/>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Oval 35">
            <a:extLst>
              <a:ext uri="{FF2B5EF4-FFF2-40B4-BE49-F238E27FC236}">
                <a16:creationId xmlns:a16="http://schemas.microsoft.com/office/drawing/2014/main" id="{A7DD86F0-6D94-1007-DCEB-D6FCA2EC8B46}"/>
              </a:ext>
            </a:extLst>
          </p:cNvPr>
          <p:cNvSpPr/>
          <p:nvPr/>
        </p:nvSpPr>
        <p:spPr>
          <a:xfrm>
            <a:off x="2799598" y="3795353"/>
            <a:ext cx="118872" cy="118872"/>
          </a:xfrm>
          <a:prstGeom prst="ellipse">
            <a:avLst/>
          </a:prstGeom>
          <a:solidFill>
            <a:srgbClr val="BF9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cxnSp>
        <p:nvCxnSpPr>
          <p:cNvPr id="37" name="Connector 36">
            <a:extLst>
              <a:ext uri="{FF2B5EF4-FFF2-40B4-BE49-F238E27FC236}">
                <a16:creationId xmlns:a16="http://schemas.microsoft.com/office/drawing/2014/main" id="{0116398D-E00B-800E-642F-A8FC9FFBEC57}"/>
              </a:ext>
            </a:extLst>
          </p:cNvPr>
          <p:cNvCxnSpPr/>
          <p:nvPr/>
        </p:nvCxnSpPr>
        <p:spPr>
          <a:xfrm>
            <a:off x="2972898" y="3431367"/>
            <a:ext cx="0" cy="443832"/>
          </a:xfrm>
          <a:prstGeom prst="line">
            <a:avLst/>
          </a:prstGeom>
          <a:ln w="44450">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38" name="Connector 37">
            <a:extLst>
              <a:ext uri="{FF2B5EF4-FFF2-40B4-BE49-F238E27FC236}">
                <a16:creationId xmlns:a16="http://schemas.microsoft.com/office/drawing/2014/main" id="{6DC07E9B-ABF5-693B-C2B4-30F9CC6D35AC}"/>
              </a:ext>
            </a:extLst>
          </p:cNvPr>
          <p:cNvCxnSpPr/>
          <p:nvPr/>
        </p:nvCxnSpPr>
        <p:spPr>
          <a:xfrm>
            <a:off x="2972898" y="3875199"/>
            <a:ext cx="0" cy="727164"/>
          </a:xfrm>
          <a:prstGeom prst="line">
            <a:avLst/>
          </a:prstGeom>
          <a:ln w="44450">
            <a:solidFill>
              <a:srgbClr val="BF9000"/>
            </a:solidFill>
          </a:ln>
        </p:spPr>
        <p:style>
          <a:lnRef idx="2">
            <a:schemeClr val="accent1"/>
          </a:lnRef>
          <a:fillRef idx="0">
            <a:schemeClr val="accent1"/>
          </a:fillRef>
          <a:effectRef idx="1">
            <a:schemeClr val="accent1"/>
          </a:effectRef>
          <a:fontRef idx="minor">
            <a:schemeClr val="tx1"/>
          </a:fontRef>
        </p:style>
      </p:cxnSp>
      <p:cxnSp>
        <p:nvCxnSpPr>
          <p:cNvPr id="39" name="Connector 38">
            <a:extLst>
              <a:ext uri="{FF2B5EF4-FFF2-40B4-BE49-F238E27FC236}">
                <a16:creationId xmlns:a16="http://schemas.microsoft.com/office/drawing/2014/main" id="{96ECECA1-C5D5-4C27-512C-5A22ED0D740E}"/>
              </a:ext>
            </a:extLst>
          </p:cNvPr>
          <p:cNvCxnSpPr/>
          <p:nvPr/>
        </p:nvCxnSpPr>
        <p:spPr>
          <a:xfrm flipV="1">
            <a:off x="3027762" y="3310128"/>
            <a:ext cx="1233342" cy="343155"/>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40" name="Connector 39">
            <a:extLst>
              <a:ext uri="{FF2B5EF4-FFF2-40B4-BE49-F238E27FC236}">
                <a16:creationId xmlns:a16="http://schemas.microsoft.com/office/drawing/2014/main" id="{95F0951E-9FE6-7989-92D8-2DC801AA2F6C}"/>
              </a:ext>
            </a:extLst>
          </p:cNvPr>
          <p:cNvCxnSpPr/>
          <p:nvPr/>
        </p:nvCxnSpPr>
        <p:spPr>
          <a:xfrm flipV="1">
            <a:off x="3027762" y="3813048"/>
            <a:ext cx="1233342" cy="425733"/>
          </a:xfrm>
          <a:prstGeom prst="line">
            <a:avLst/>
          </a:prstGeom>
          <a:ln w="15875">
            <a:solidFill>
              <a:srgbClr val="BF9000"/>
            </a:solidFill>
          </a:ln>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08A92469-F8E8-0A63-3927-756BB5251546}"/>
              </a:ext>
            </a:extLst>
          </p:cNvPr>
          <p:cNvSpPr txBox="1"/>
          <p:nvPr/>
        </p:nvSpPr>
        <p:spPr>
          <a:xfrm>
            <a:off x="4315968" y="3108960"/>
            <a:ext cx="2606040" cy="395630"/>
          </a:xfrm>
          <a:prstGeom prst="rect">
            <a:avLst/>
          </a:prstGeom>
          <a:noFill/>
        </p:spPr>
        <p:txBody>
          <a:bodyPr wrap="square" lIns="0" tIns="0" rIns="0" bIns="0" anchor="t">
            <a:spAutoFit/>
          </a:bodyPr>
          <a:lstStyle/>
          <a:p>
            <a:pPr algn="l">
              <a:spcAft>
                <a:spcPts val="0"/>
              </a:spcAft>
            </a:pPr>
            <a:r>
              <a:rPr sz="2200" b="1" dirty="0">
                <a:solidFill>
                  <a:srgbClr val="0072B2"/>
                </a:solidFill>
                <a:latin typeface="Meiryo"/>
                <a:ea typeface="Meiryo"/>
                <a:cs typeface="Meiryo"/>
              </a:rPr>
              <a:t>前進波の裾 0.25</a:t>
            </a:r>
          </a:p>
        </p:txBody>
      </p:sp>
      <p:sp>
        <p:nvSpPr>
          <p:cNvPr id="42" name="TextBox 41">
            <a:extLst>
              <a:ext uri="{FF2B5EF4-FFF2-40B4-BE49-F238E27FC236}">
                <a16:creationId xmlns:a16="http://schemas.microsoft.com/office/drawing/2014/main" id="{940B95EE-4AE7-7CF0-8119-F3D84E629D23}"/>
              </a:ext>
            </a:extLst>
          </p:cNvPr>
          <p:cNvSpPr txBox="1"/>
          <p:nvPr/>
        </p:nvSpPr>
        <p:spPr>
          <a:xfrm>
            <a:off x="4315968" y="3611880"/>
            <a:ext cx="2606040" cy="395630"/>
          </a:xfrm>
          <a:prstGeom prst="rect">
            <a:avLst/>
          </a:prstGeom>
          <a:noFill/>
        </p:spPr>
        <p:txBody>
          <a:bodyPr wrap="square" lIns="0" tIns="0" rIns="0" bIns="0" anchor="t">
            <a:spAutoFit/>
          </a:bodyPr>
          <a:lstStyle/>
          <a:p>
            <a:pPr algn="l">
              <a:spcAft>
                <a:spcPts val="0"/>
              </a:spcAft>
            </a:pPr>
            <a:r>
              <a:rPr sz="2200" b="1" dirty="0">
                <a:solidFill>
                  <a:srgbClr val="BF9000"/>
                </a:solidFill>
                <a:latin typeface="Meiryo"/>
                <a:ea typeface="Meiryo"/>
                <a:cs typeface="Meiryo"/>
              </a:rPr>
              <a:t>反射波 0.41</a:t>
            </a:r>
          </a:p>
        </p:txBody>
      </p:sp>
      <p:sp>
        <p:nvSpPr>
          <p:cNvPr id="43" name="TextBox 42">
            <a:extLst>
              <a:ext uri="{FF2B5EF4-FFF2-40B4-BE49-F238E27FC236}">
                <a16:creationId xmlns:a16="http://schemas.microsoft.com/office/drawing/2014/main" id="{06453058-4BDA-63C4-7839-6BD37A8ED562}"/>
              </a:ext>
            </a:extLst>
          </p:cNvPr>
          <p:cNvSpPr txBox="1"/>
          <p:nvPr/>
        </p:nvSpPr>
        <p:spPr>
          <a:xfrm>
            <a:off x="685800" y="4773168"/>
            <a:ext cx="6309360" cy="395630"/>
          </a:xfrm>
          <a:prstGeom prst="rect">
            <a:avLst/>
          </a:prstGeom>
          <a:noFill/>
        </p:spPr>
        <p:txBody>
          <a:bodyPr wrap="square" lIns="0" tIns="0" rIns="0" bIns="0" anchor="t">
            <a:spAutoFit/>
          </a:bodyPr>
          <a:lstStyle/>
          <a:p>
            <a:pPr algn="l">
              <a:spcAft>
                <a:spcPts val="0"/>
              </a:spcAft>
            </a:pPr>
            <a:r>
              <a:rPr sz="2200" b="0" dirty="0">
                <a:solidFill>
                  <a:srgbClr val="595959"/>
                </a:solidFill>
                <a:latin typeface="Meiryo"/>
                <a:ea typeface="Meiryo"/>
                <a:cs typeface="Meiryo"/>
              </a:rPr>
              <a:t>黒＝合成波　破線＝分解した2成分</a:t>
            </a:r>
          </a:p>
        </p:txBody>
      </p:sp>
      <p:sp>
        <p:nvSpPr>
          <p:cNvPr id="44" name="TextBox 43">
            <a:extLst>
              <a:ext uri="{FF2B5EF4-FFF2-40B4-BE49-F238E27FC236}">
                <a16:creationId xmlns:a16="http://schemas.microsoft.com/office/drawing/2014/main" id="{87E43024-B622-89C6-215E-2F033049DB25}"/>
              </a:ext>
            </a:extLst>
          </p:cNvPr>
          <p:cNvSpPr txBox="1"/>
          <p:nvPr/>
        </p:nvSpPr>
        <p:spPr>
          <a:xfrm>
            <a:off x="685800" y="5120640"/>
            <a:ext cx="6309360" cy="395630"/>
          </a:xfrm>
          <a:prstGeom prst="rect">
            <a:avLst/>
          </a:prstGeom>
          <a:noFill/>
        </p:spPr>
        <p:txBody>
          <a:bodyPr wrap="square" lIns="0" tIns="0" rIns="0" bIns="0" anchor="t">
            <a:spAutoFit/>
          </a:bodyPr>
          <a:lstStyle/>
          <a:p>
            <a:pPr algn="l">
              <a:spcAft>
                <a:spcPts val="0"/>
              </a:spcAft>
            </a:pPr>
            <a:r>
              <a:rPr sz="2200" b="1" dirty="0">
                <a:solidFill>
                  <a:srgbClr val="C00000"/>
                </a:solidFill>
                <a:latin typeface="Meiryo"/>
                <a:ea typeface="Meiryo"/>
                <a:cs typeface="Meiryo"/>
              </a:rPr>
              <a:t>従来法は 変曲点の高さをそのまま P2 とする。</a:t>
            </a:r>
          </a:p>
        </p:txBody>
      </p:sp>
      <p:sp>
        <p:nvSpPr>
          <p:cNvPr id="45" name="Rounded Rectangle 44">
            <a:extLst>
              <a:ext uri="{FF2B5EF4-FFF2-40B4-BE49-F238E27FC236}">
                <a16:creationId xmlns:a16="http://schemas.microsoft.com/office/drawing/2014/main" id="{F09FD079-4026-16FC-AA03-656A0A42176C}"/>
              </a:ext>
            </a:extLst>
          </p:cNvPr>
          <p:cNvSpPr/>
          <p:nvPr/>
        </p:nvSpPr>
        <p:spPr>
          <a:xfrm>
            <a:off x="7406640" y="1737360"/>
            <a:ext cx="4297680" cy="1143000"/>
          </a:xfrm>
          <a:prstGeom prst="roundRect">
            <a:avLst/>
          </a:prstGeom>
          <a:solidFill>
            <a:srgbClr val="F2F2F2"/>
          </a:solidFill>
          <a:ln w="28575">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Box 45">
            <a:extLst>
              <a:ext uri="{FF2B5EF4-FFF2-40B4-BE49-F238E27FC236}">
                <a16:creationId xmlns:a16="http://schemas.microsoft.com/office/drawing/2014/main" id="{C8EEF86C-F2F1-5BAE-94AD-11F3C78B3008}"/>
              </a:ext>
            </a:extLst>
          </p:cNvPr>
          <p:cNvSpPr txBox="1"/>
          <p:nvPr/>
        </p:nvSpPr>
        <p:spPr>
          <a:xfrm>
            <a:off x="7571231" y="1865376"/>
            <a:ext cx="2103120" cy="431596"/>
          </a:xfrm>
          <a:prstGeom prst="rect">
            <a:avLst/>
          </a:prstGeom>
          <a:noFill/>
        </p:spPr>
        <p:txBody>
          <a:bodyPr wrap="square" lIns="0" tIns="0" rIns="0" bIns="0" anchor="t">
            <a:spAutoFit/>
          </a:bodyPr>
          <a:lstStyle/>
          <a:p>
            <a:pPr algn="l">
              <a:spcAft>
                <a:spcPts val="0"/>
              </a:spcAft>
            </a:pPr>
            <a:r>
              <a:rPr sz="2400" b="1" dirty="0">
                <a:solidFill>
                  <a:srgbClr val="C00000"/>
                </a:solidFill>
                <a:latin typeface="Meiryo"/>
                <a:ea typeface="Meiryo"/>
                <a:cs typeface="Meiryo"/>
              </a:rPr>
              <a:t>従来 RI</a:t>
            </a:r>
          </a:p>
        </p:txBody>
      </p:sp>
      <p:sp>
        <p:nvSpPr>
          <p:cNvPr id="47" name="TextBox 46">
            <a:extLst>
              <a:ext uri="{FF2B5EF4-FFF2-40B4-BE49-F238E27FC236}">
                <a16:creationId xmlns:a16="http://schemas.microsoft.com/office/drawing/2014/main" id="{3AB0886E-5E3C-DD43-2D5F-88076AAD6FFF}"/>
              </a:ext>
            </a:extLst>
          </p:cNvPr>
          <p:cNvSpPr txBox="1"/>
          <p:nvPr/>
        </p:nvSpPr>
        <p:spPr>
          <a:xfrm>
            <a:off x="7571231" y="2340864"/>
            <a:ext cx="2103120" cy="395630"/>
          </a:xfrm>
          <a:prstGeom prst="rect">
            <a:avLst/>
          </a:prstGeom>
          <a:noFill/>
        </p:spPr>
        <p:txBody>
          <a:bodyPr wrap="square" lIns="0" tIns="0" rIns="0" bIns="0" anchor="t">
            <a:spAutoFit/>
          </a:bodyPr>
          <a:lstStyle/>
          <a:p>
            <a:pPr algn="l">
              <a:spcAft>
                <a:spcPts val="0"/>
              </a:spcAft>
            </a:pPr>
            <a:r>
              <a:rPr sz="2200" b="0" dirty="0">
                <a:solidFill>
                  <a:srgbClr val="595959"/>
                </a:solidFill>
                <a:latin typeface="Meiryo"/>
                <a:ea typeface="Meiryo"/>
                <a:cs typeface="Meiryo"/>
              </a:rPr>
              <a:t>変曲点 ÷ P1</a:t>
            </a:r>
          </a:p>
        </p:txBody>
      </p:sp>
      <p:sp>
        <p:nvSpPr>
          <p:cNvPr id="48" name="TextBox 47">
            <a:extLst>
              <a:ext uri="{FF2B5EF4-FFF2-40B4-BE49-F238E27FC236}">
                <a16:creationId xmlns:a16="http://schemas.microsoft.com/office/drawing/2014/main" id="{009836C3-52A7-4895-8FCE-23BC644928B1}"/>
              </a:ext>
            </a:extLst>
          </p:cNvPr>
          <p:cNvSpPr txBox="1"/>
          <p:nvPr/>
        </p:nvSpPr>
        <p:spPr>
          <a:xfrm>
            <a:off x="9692640" y="2011679"/>
            <a:ext cx="1874519" cy="539496"/>
          </a:xfrm>
          <a:prstGeom prst="rect">
            <a:avLst/>
          </a:prstGeom>
          <a:noFill/>
        </p:spPr>
        <p:txBody>
          <a:bodyPr wrap="square" lIns="0" tIns="0" rIns="0" bIns="0" anchor="t">
            <a:spAutoFit/>
          </a:bodyPr>
          <a:lstStyle/>
          <a:p>
            <a:pPr algn="r">
              <a:spcAft>
                <a:spcPts val="0"/>
              </a:spcAft>
            </a:pPr>
            <a:r>
              <a:rPr sz="3000" b="1" dirty="0">
                <a:solidFill>
                  <a:srgbClr val="C00000"/>
                </a:solidFill>
                <a:latin typeface="Meiryo"/>
                <a:ea typeface="Meiryo"/>
                <a:cs typeface="Meiryo"/>
              </a:rPr>
              <a:t>0.563</a:t>
            </a:r>
          </a:p>
        </p:txBody>
      </p:sp>
      <p:sp>
        <p:nvSpPr>
          <p:cNvPr id="49" name="Rounded Rectangle 48">
            <a:extLst>
              <a:ext uri="{FF2B5EF4-FFF2-40B4-BE49-F238E27FC236}">
                <a16:creationId xmlns:a16="http://schemas.microsoft.com/office/drawing/2014/main" id="{6C2C9749-2342-094F-4479-C3F78FFFF300}"/>
              </a:ext>
            </a:extLst>
          </p:cNvPr>
          <p:cNvSpPr/>
          <p:nvPr/>
        </p:nvSpPr>
        <p:spPr>
          <a:xfrm>
            <a:off x="7406640" y="3063239"/>
            <a:ext cx="4297680" cy="1143000"/>
          </a:xfrm>
          <a:prstGeom prst="roundRect">
            <a:avLst/>
          </a:prstGeom>
          <a:solidFill>
            <a:srgbClr val="F2F2F2"/>
          </a:solidFill>
          <a:ln w="28575">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TextBox 49">
            <a:extLst>
              <a:ext uri="{FF2B5EF4-FFF2-40B4-BE49-F238E27FC236}">
                <a16:creationId xmlns:a16="http://schemas.microsoft.com/office/drawing/2014/main" id="{86B03656-E0F3-3858-3C0C-1A1615D569E4}"/>
              </a:ext>
            </a:extLst>
          </p:cNvPr>
          <p:cNvSpPr txBox="1"/>
          <p:nvPr/>
        </p:nvSpPr>
        <p:spPr>
          <a:xfrm>
            <a:off x="7571231" y="3191256"/>
            <a:ext cx="2103120" cy="431596"/>
          </a:xfrm>
          <a:prstGeom prst="rect">
            <a:avLst/>
          </a:prstGeom>
          <a:noFill/>
        </p:spPr>
        <p:txBody>
          <a:bodyPr wrap="square" lIns="0" tIns="0" rIns="0" bIns="0" anchor="t">
            <a:spAutoFit/>
          </a:bodyPr>
          <a:lstStyle/>
          <a:p>
            <a:pPr algn="l">
              <a:spcAft>
                <a:spcPts val="0"/>
              </a:spcAft>
            </a:pPr>
            <a:r>
              <a:rPr sz="2400" b="1" dirty="0">
                <a:solidFill>
                  <a:srgbClr val="0072B2"/>
                </a:solidFill>
                <a:latin typeface="Meiryo"/>
                <a:ea typeface="Meiryo"/>
                <a:cs typeface="Meiryo"/>
              </a:rPr>
              <a:t>分離 RI</a:t>
            </a:r>
          </a:p>
        </p:txBody>
      </p:sp>
      <p:sp>
        <p:nvSpPr>
          <p:cNvPr id="51" name="TextBox 50">
            <a:extLst>
              <a:ext uri="{FF2B5EF4-FFF2-40B4-BE49-F238E27FC236}">
                <a16:creationId xmlns:a16="http://schemas.microsoft.com/office/drawing/2014/main" id="{17543D27-81C7-9173-CC11-A5CC33C88221}"/>
              </a:ext>
            </a:extLst>
          </p:cNvPr>
          <p:cNvSpPr txBox="1"/>
          <p:nvPr/>
        </p:nvSpPr>
        <p:spPr>
          <a:xfrm>
            <a:off x="7571231" y="3666744"/>
            <a:ext cx="2103120" cy="395630"/>
          </a:xfrm>
          <a:prstGeom prst="rect">
            <a:avLst/>
          </a:prstGeom>
          <a:noFill/>
        </p:spPr>
        <p:txBody>
          <a:bodyPr wrap="square" lIns="0" tIns="0" rIns="0" bIns="0" anchor="t">
            <a:spAutoFit/>
          </a:bodyPr>
          <a:lstStyle/>
          <a:p>
            <a:pPr algn="l">
              <a:spcAft>
                <a:spcPts val="0"/>
              </a:spcAft>
            </a:pPr>
            <a:r>
              <a:rPr sz="2200" b="0" dirty="0">
                <a:solidFill>
                  <a:srgbClr val="595959"/>
                </a:solidFill>
                <a:latin typeface="Meiryo"/>
                <a:ea typeface="Meiryo"/>
                <a:cs typeface="Meiryo"/>
              </a:rPr>
              <a:t>反射波 a₂ ÷ a₁</a:t>
            </a:r>
          </a:p>
        </p:txBody>
      </p:sp>
      <p:sp>
        <p:nvSpPr>
          <p:cNvPr id="52" name="TextBox 51">
            <a:extLst>
              <a:ext uri="{FF2B5EF4-FFF2-40B4-BE49-F238E27FC236}">
                <a16:creationId xmlns:a16="http://schemas.microsoft.com/office/drawing/2014/main" id="{DE71DA68-96B1-259D-5544-849724ABA1AB}"/>
              </a:ext>
            </a:extLst>
          </p:cNvPr>
          <p:cNvSpPr txBox="1"/>
          <p:nvPr/>
        </p:nvSpPr>
        <p:spPr>
          <a:xfrm>
            <a:off x="9692640" y="3337559"/>
            <a:ext cx="1874519" cy="539496"/>
          </a:xfrm>
          <a:prstGeom prst="rect">
            <a:avLst/>
          </a:prstGeom>
          <a:noFill/>
        </p:spPr>
        <p:txBody>
          <a:bodyPr wrap="square" lIns="0" tIns="0" rIns="0" bIns="0" anchor="t">
            <a:spAutoFit/>
          </a:bodyPr>
          <a:lstStyle/>
          <a:p>
            <a:pPr algn="r">
              <a:spcAft>
                <a:spcPts val="0"/>
              </a:spcAft>
            </a:pPr>
            <a:r>
              <a:rPr sz="3000" b="1" dirty="0">
                <a:solidFill>
                  <a:srgbClr val="0072B2"/>
                </a:solidFill>
                <a:latin typeface="Meiryo"/>
                <a:ea typeface="Meiryo"/>
                <a:cs typeface="Meiryo"/>
              </a:rPr>
              <a:t>0.420</a:t>
            </a:r>
          </a:p>
        </p:txBody>
      </p:sp>
      <p:sp>
        <p:nvSpPr>
          <p:cNvPr id="53" name="Rounded Rectangle 52">
            <a:extLst>
              <a:ext uri="{FF2B5EF4-FFF2-40B4-BE49-F238E27FC236}">
                <a16:creationId xmlns:a16="http://schemas.microsoft.com/office/drawing/2014/main" id="{C5E2E2AF-B002-DB87-7AB5-02160035E181}"/>
              </a:ext>
            </a:extLst>
          </p:cNvPr>
          <p:cNvSpPr/>
          <p:nvPr/>
        </p:nvSpPr>
        <p:spPr>
          <a:xfrm>
            <a:off x="7406640" y="4389120"/>
            <a:ext cx="4297680" cy="1143000"/>
          </a:xfrm>
          <a:prstGeom prst="roundRect">
            <a:avLst/>
          </a:prstGeom>
          <a:solidFill>
            <a:srgbClr val="F2F2F2"/>
          </a:solidFill>
          <a:ln w="28575">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TextBox 53">
            <a:extLst>
              <a:ext uri="{FF2B5EF4-FFF2-40B4-BE49-F238E27FC236}">
                <a16:creationId xmlns:a16="http://schemas.microsoft.com/office/drawing/2014/main" id="{BA3F3E17-021F-9AEC-5674-36AB85B9DF2D}"/>
              </a:ext>
            </a:extLst>
          </p:cNvPr>
          <p:cNvSpPr txBox="1"/>
          <p:nvPr/>
        </p:nvSpPr>
        <p:spPr>
          <a:xfrm>
            <a:off x="7571231" y="4517136"/>
            <a:ext cx="2103120" cy="431596"/>
          </a:xfrm>
          <a:prstGeom prst="rect">
            <a:avLst/>
          </a:prstGeom>
          <a:noFill/>
        </p:spPr>
        <p:txBody>
          <a:bodyPr wrap="square" lIns="0" tIns="0" rIns="0" bIns="0" anchor="t">
            <a:spAutoFit/>
          </a:bodyPr>
          <a:lstStyle/>
          <a:p>
            <a:pPr algn="l">
              <a:spcAft>
                <a:spcPts val="0"/>
              </a:spcAft>
            </a:pPr>
            <a:r>
              <a:rPr sz="2400" b="1" dirty="0">
                <a:solidFill>
                  <a:srgbClr val="C00000"/>
                </a:solidFill>
                <a:latin typeface="Meiryo"/>
                <a:ea typeface="Meiryo"/>
                <a:cs typeface="Meiryo"/>
              </a:rPr>
              <a:t>差</a:t>
            </a:r>
          </a:p>
        </p:txBody>
      </p:sp>
      <p:sp>
        <p:nvSpPr>
          <p:cNvPr id="55" name="TextBox 54">
            <a:extLst>
              <a:ext uri="{FF2B5EF4-FFF2-40B4-BE49-F238E27FC236}">
                <a16:creationId xmlns:a16="http://schemas.microsoft.com/office/drawing/2014/main" id="{32C3D319-ABEF-7A49-EB9E-D01D89B75BB7}"/>
              </a:ext>
            </a:extLst>
          </p:cNvPr>
          <p:cNvSpPr txBox="1"/>
          <p:nvPr/>
        </p:nvSpPr>
        <p:spPr>
          <a:xfrm>
            <a:off x="7571231" y="4992624"/>
            <a:ext cx="2103120" cy="395630"/>
          </a:xfrm>
          <a:prstGeom prst="rect">
            <a:avLst/>
          </a:prstGeom>
          <a:noFill/>
        </p:spPr>
        <p:txBody>
          <a:bodyPr wrap="square" lIns="0" tIns="0" rIns="0" bIns="0" anchor="t">
            <a:spAutoFit/>
          </a:bodyPr>
          <a:lstStyle/>
          <a:p>
            <a:pPr algn="l">
              <a:spcAft>
                <a:spcPts val="0"/>
              </a:spcAft>
            </a:pPr>
            <a:r>
              <a:rPr sz="2200" b="0" dirty="0">
                <a:solidFill>
                  <a:srgbClr val="595959"/>
                </a:solidFill>
                <a:latin typeface="Meiryo"/>
                <a:ea typeface="Meiryo"/>
                <a:cs typeface="Meiryo"/>
              </a:rPr>
              <a:t>＋34% 過大</a:t>
            </a:r>
          </a:p>
        </p:txBody>
      </p:sp>
      <p:sp>
        <p:nvSpPr>
          <p:cNvPr id="56" name="TextBox 55">
            <a:extLst>
              <a:ext uri="{FF2B5EF4-FFF2-40B4-BE49-F238E27FC236}">
                <a16:creationId xmlns:a16="http://schemas.microsoft.com/office/drawing/2014/main" id="{F3997D55-D6B3-71AC-4682-6FCC9258450B}"/>
              </a:ext>
            </a:extLst>
          </p:cNvPr>
          <p:cNvSpPr txBox="1"/>
          <p:nvPr/>
        </p:nvSpPr>
        <p:spPr>
          <a:xfrm>
            <a:off x="9692640" y="4663440"/>
            <a:ext cx="1874519" cy="539496"/>
          </a:xfrm>
          <a:prstGeom prst="rect">
            <a:avLst/>
          </a:prstGeom>
          <a:noFill/>
        </p:spPr>
        <p:txBody>
          <a:bodyPr wrap="square" lIns="0" tIns="0" rIns="0" bIns="0" anchor="t">
            <a:spAutoFit/>
          </a:bodyPr>
          <a:lstStyle/>
          <a:p>
            <a:pPr algn="r">
              <a:spcAft>
                <a:spcPts val="0"/>
              </a:spcAft>
            </a:pPr>
            <a:r>
              <a:rPr sz="3000" b="1" dirty="0">
                <a:solidFill>
                  <a:srgbClr val="C00000"/>
                </a:solidFill>
                <a:latin typeface="Meiryo"/>
                <a:ea typeface="Meiryo"/>
                <a:cs typeface="Meiryo"/>
              </a:rPr>
              <a:t>＋0.143</a:t>
            </a:r>
          </a:p>
        </p:txBody>
      </p:sp>
      <p:sp>
        <p:nvSpPr>
          <p:cNvPr id="6" name="Rounded Rectangle 29">
            <a:extLst>
              <a:ext uri="{FF2B5EF4-FFF2-40B4-BE49-F238E27FC236}">
                <a16:creationId xmlns:a16="http://schemas.microsoft.com/office/drawing/2014/main" id="{DB7F9C11-2F16-8FE3-5A1F-CF5EB7CFE45F}"/>
              </a:ext>
            </a:extLst>
          </p:cNvPr>
          <p:cNvSpPr/>
          <p:nvPr/>
        </p:nvSpPr>
        <p:spPr>
          <a:xfrm>
            <a:off x="502920" y="5708328"/>
            <a:ext cx="11201400" cy="603572"/>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r>
              <a:rPr lang="ja-JP" altLang="en-US" sz="2400" b="1">
                <a:solidFill>
                  <a:schemeClr val="tx1"/>
                </a:solidFill>
              </a:rPr>
              <a:t>反射波ピークが見えない状況では合理的な評価ができているのか？</a:t>
            </a:r>
            <a:endParaRPr lang="en-US" altLang="ja-JP" sz="2400" b="1" dirty="0">
              <a:solidFill>
                <a:schemeClr val="tx1"/>
              </a:solidFill>
            </a:endParaRP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4">
            <a:extLst>
              <a:ext uri="{FF2B5EF4-FFF2-40B4-BE49-F238E27FC236}">
                <a16:creationId xmlns:a16="http://schemas.microsoft.com/office/drawing/2014/main" id="{AA9D36CE-3772-F005-B54C-9329ADA7F086}"/>
              </a:ext>
            </a:extLst>
          </p:cNvPr>
          <p:cNvSpPr/>
          <p:nvPr/>
        </p:nvSpPr>
        <p:spPr>
          <a:xfrm>
            <a:off x="1019448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4</a:t>
            </a:r>
          </a:p>
          <a:p>
            <a:pPr algn="ctr"/>
            <a:r>
              <a:rPr sz="1050" b="1">
                <a:solidFill>
                  <a:srgbClr val="FFFFFF"/>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196486490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A7392572-0B25-0AF1-6C00-4AE6580A1D5A}"/>
              </a:ext>
            </a:extLst>
          </p:cNvPr>
          <p:cNvSpPr>
            <a:spLocks noGrp="1"/>
          </p:cNvSpPr>
          <p:nvPr>
            <p:ph idx="1"/>
          </p:nvPr>
        </p:nvSpPr>
        <p:spPr/>
        <p:txBody>
          <a:bodyPr>
            <a:normAutofit/>
          </a:bodyPr>
          <a:lstStyle/>
          <a:p>
            <a:pPr>
              <a:lnSpc>
                <a:spcPct val="150000"/>
              </a:lnSpc>
            </a:pPr>
            <a:r>
              <a:rPr kumimoji="1" lang="ja-JP" altLang="en-US"/>
              <a:t>動脈硬化が強いと</a:t>
            </a:r>
            <a:r>
              <a:rPr kumimoji="1" lang="en-US" altLang="ja-JP" dirty="0"/>
              <a:t>SI</a:t>
            </a:r>
            <a:r>
              <a:rPr kumimoji="1" lang="ja-JP" altLang="en-US"/>
              <a:t>や</a:t>
            </a:r>
            <a:r>
              <a:rPr kumimoji="1" lang="en-US" altLang="ja-JP" dirty="0"/>
              <a:t>RI</a:t>
            </a:r>
            <a:r>
              <a:rPr kumimoji="1" lang="ja-JP" altLang="en-US"/>
              <a:t>の正確な決定が妨げられるのでは</a:t>
            </a:r>
            <a:r>
              <a:rPr lang="ja-JP" altLang="en-US"/>
              <a:t>。</a:t>
            </a:r>
            <a:endParaRPr kumimoji="1" lang="en-US" altLang="ja-JP" dirty="0"/>
          </a:p>
          <a:p>
            <a:pPr>
              <a:lnSpc>
                <a:spcPct val="150000"/>
              </a:lnSpc>
            </a:pPr>
            <a:r>
              <a:rPr kumimoji="1" lang="ja-JP" altLang="en-US"/>
              <a:t>前進波の下降脚が平滑なほどの動脈硬化では</a:t>
            </a:r>
            <a:r>
              <a:rPr kumimoji="1" lang="en-US" altLang="ja-JP" dirty="0"/>
              <a:t>SDPPG</a:t>
            </a:r>
            <a:r>
              <a:rPr kumimoji="1" lang="ja-JP" altLang="en-US"/>
              <a:t>も不安定。</a:t>
            </a:r>
            <a:endParaRPr kumimoji="1" lang="en-US" altLang="ja-JP" dirty="0"/>
          </a:p>
          <a:p>
            <a:pPr>
              <a:lnSpc>
                <a:spcPct val="150000"/>
              </a:lnSpc>
            </a:pPr>
            <a:r>
              <a:rPr lang="en" altLang="ja-JP" dirty="0"/>
              <a:t>PPG </a:t>
            </a:r>
            <a:r>
              <a:rPr lang="ja-JP" altLang="en-US"/>
              <a:t>情報がある</a:t>
            </a:r>
            <a:r>
              <a:rPr lang="en-US" altLang="ja-JP" dirty="0"/>
              <a:t>169,787</a:t>
            </a:r>
            <a:r>
              <a:rPr lang="ja-JP" altLang="en-US"/>
              <a:t>人のうち、切痕不明瞭（</a:t>
            </a:r>
            <a:r>
              <a:rPr lang="en-US" altLang="ja-JP" dirty="0"/>
              <a:t> DN-less signal </a:t>
            </a:r>
            <a:r>
              <a:rPr lang="ja-JP" altLang="en-US"/>
              <a:t>）なのは</a:t>
            </a:r>
            <a:r>
              <a:rPr lang="en-US" altLang="ja-JP" dirty="0"/>
              <a:t>25,286</a:t>
            </a:r>
            <a:r>
              <a:rPr lang="ja-JP" altLang="en-US"/>
              <a:t>人。（</a:t>
            </a:r>
            <a:r>
              <a:rPr lang="en-US" altLang="ja-JP" dirty="0"/>
              <a:t>14%  UK Biobank</a:t>
            </a:r>
            <a:r>
              <a:rPr lang="ja-JP" altLang="en-US"/>
              <a:t>）</a:t>
            </a:r>
            <a:endParaRPr lang="en-US" altLang="ja-JP" dirty="0"/>
          </a:p>
          <a:p>
            <a:pPr marL="0" indent="0">
              <a:lnSpc>
                <a:spcPct val="150000"/>
              </a:lnSpc>
              <a:buNone/>
            </a:pPr>
            <a:endParaRPr kumimoji="1" lang="en-US" altLang="ja-JP" dirty="0"/>
          </a:p>
          <a:p>
            <a:pPr>
              <a:lnSpc>
                <a:spcPct val="150000"/>
              </a:lnSpc>
            </a:pPr>
            <a:endParaRPr kumimoji="1" lang="ja-JP" altLang="en-US"/>
          </a:p>
        </p:txBody>
      </p:sp>
      <p:sp>
        <p:nvSpPr>
          <p:cNvPr id="12" name="Title 1">
            <a:extLst>
              <a:ext uri="{FF2B5EF4-FFF2-40B4-BE49-F238E27FC236}">
                <a16:creationId xmlns:a16="http://schemas.microsoft.com/office/drawing/2014/main" id="{A8336E59-A444-1AA3-5626-6E3BF53BCDB2}"/>
              </a:ext>
            </a:extLst>
          </p:cNvPr>
          <p:cNvSpPr>
            <a:spLocks noGrp="1"/>
          </p:cNvSpPr>
          <p:nvPr>
            <p:ph type="title"/>
          </p:nvPr>
        </p:nvSpPr>
        <p:spPr>
          <a:xfrm>
            <a:off x="838200" y="365125"/>
            <a:ext cx="10515600" cy="1325563"/>
          </a:xfrm>
        </p:spPr>
        <p:txBody>
          <a:bodyPr/>
          <a:lstStyle/>
          <a:p>
            <a:pPr algn="l"/>
            <a:r>
              <a:rPr sz="4600" dirty="0">
                <a:latin typeface="Meiryo"/>
                <a:ea typeface="Meiryo"/>
                <a:cs typeface="Meiryo"/>
              </a:rPr>
              <a:t>4.2  極端な動脈硬化</a:t>
            </a:r>
          </a:p>
        </p:txBody>
      </p:sp>
      <p:sp>
        <p:nvSpPr>
          <p:cNvPr id="20" name="Source"/>
          <p:cNvSpPr txBox="1"/>
          <p:nvPr/>
        </p:nvSpPr>
        <p:spPr>
          <a:xfrm>
            <a:off x="720000" y="6606000"/>
            <a:ext cx="10881360" cy="161583"/>
          </a:xfrm>
          <a:prstGeom prst="rect">
            <a:avLst/>
          </a:prstGeom>
          <a:noFill/>
        </p:spPr>
        <p:txBody>
          <a:bodyPr wrap="square" lIns="0" tIns="0" rIns="0" bIns="0" anchor="t">
            <a:spAutoFit/>
          </a:bodyPr>
          <a:lstStyle/>
          <a:p>
            <a:r>
              <a:rPr sz="1050" b="0" dirty="0">
                <a:solidFill>
                  <a:srgbClr val="808080"/>
                </a:solidFill>
                <a:latin typeface="Meiryo"/>
                <a:ea typeface="Meiryo"/>
                <a:cs typeface="Meiryo"/>
              </a:rPr>
              <a:t>8. Cunningham 2023　／　23. Elgendi 2012　／　34. Wu 2010　／　35. Pal 2024</a:t>
            </a:r>
          </a:p>
        </p:txBody>
      </p:sp>
      <p:sp>
        <p:nvSpPr>
          <p:cNvPr id="4" name="Rounded Rectangle 29">
            <a:extLst>
              <a:ext uri="{FF2B5EF4-FFF2-40B4-BE49-F238E27FC236}">
                <a16:creationId xmlns:a16="http://schemas.microsoft.com/office/drawing/2014/main" id="{30979800-63B4-BEA8-4536-DEE5986A2B3B}"/>
              </a:ext>
            </a:extLst>
          </p:cNvPr>
          <p:cNvSpPr/>
          <p:nvPr/>
        </p:nvSpPr>
        <p:spPr>
          <a:xfrm>
            <a:off x="838200" y="5708328"/>
            <a:ext cx="10440000" cy="603572"/>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r>
              <a:rPr lang="en-US" altLang="ja-JP" sz="2400" b="1" dirty="0">
                <a:solidFill>
                  <a:schemeClr val="tx1"/>
                </a:solidFill>
                <a:latin typeface="+mn-ea"/>
              </a:rPr>
              <a:t>D-N less signal</a:t>
            </a:r>
            <a:r>
              <a:rPr lang="ja-JP" altLang="en-US" sz="2400" b="1">
                <a:solidFill>
                  <a:schemeClr val="tx1"/>
                </a:solidFill>
                <a:latin typeface="+mn-ea"/>
              </a:rPr>
              <a:t>でも</a:t>
            </a:r>
            <a:r>
              <a:rPr lang="en-US" altLang="ja-JP" sz="2400" b="1" dirty="0">
                <a:solidFill>
                  <a:schemeClr val="tx1"/>
                </a:solidFill>
                <a:latin typeface="+mn-ea"/>
              </a:rPr>
              <a:t>PPG</a:t>
            </a:r>
            <a:r>
              <a:rPr lang="ja-JP" altLang="en-US" sz="2400" b="1">
                <a:solidFill>
                  <a:schemeClr val="tx1"/>
                </a:solidFill>
                <a:latin typeface="+mn-ea"/>
              </a:rPr>
              <a:t>から特徴量を抽出し解析できないか？？</a:t>
            </a:r>
            <a:endParaRPr lang="en-US" altLang="ja-JP" sz="2400" b="1" dirty="0">
              <a:solidFill>
                <a:schemeClr val="tx1"/>
              </a:solidFill>
              <a:latin typeface="+mn-ea"/>
            </a:endParaRPr>
          </a:p>
        </p:txBody>
      </p:sp>
      <p:sp>
        <p:nvSpPr>
          <p:cNvPr id="21"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71/118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4">
            <a:extLst>
              <a:ext uri="{FF2B5EF4-FFF2-40B4-BE49-F238E27FC236}">
                <a16:creationId xmlns:a16="http://schemas.microsoft.com/office/drawing/2014/main" id="{AA9D36CE-3772-F005-B54C-9329ADA7F086}"/>
              </a:ext>
            </a:extLst>
          </p:cNvPr>
          <p:cNvSpPr/>
          <p:nvPr/>
        </p:nvSpPr>
        <p:spPr>
          <a:xfrm>
            <a:off x="1019448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4</a:t>
            </a:r>
          </a:p>
          <a:p>
            <a:pPr algn="ctr"/>
            <a:r>
              <a:rPr sz="1050" b="1">
                <a:solidFill>
                  <a:srgbClr val="FFFFFF"/>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242668866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BBB73-783B-E8E4-8365-C8155A6201B8}"/>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4087CD51-FC20-156F-F681-25D93AF3EAF6}"/>
              </a:ext>
            </a:extLst>
          </p:cNvPr>
          <p:cNvSpPr>
            <a:spLocks noGrp="1"/>
          </p:cNvSpPr>
          <p:nvPr>
            <p:ph type="title"/>
          </p:nvPr>
        </p:nvSpPr>
        <p:spPr>
          <a:xfrm>
            <a:off x="838200" y="365125"/>
            <a:ext cx="10515600" cy="1325563"/>
          </a:xfrm>
        </p:spPr>
        <p:txBody>
          <a:bodyPr/>
          <a:lstStyle/>
          <a:p>
            <a:pPr algn="l"/>
            <a:r>
              <a:rPr sz="4600" dirty="0">
                <a:latin typeface="Meiryo"/>
                <a:ea typeface="Meiryo"/>
                <a:cs typeface="Meiryo"/>
              </a:rPr>
              <a:t>4.3  DN-less 信号対策</a:t>
            </a:r>
          </a:p>
        </p:txBody>
      </p:sp>
      <p:graphicFrame>
        <p:nvGraphicFramePr>
          <p:cNvPr id="3" name="表 2">
            <a:extLst>
              <a:ext uri="{FF2B5EF4-FFF2-40B4-BE49-F238E27FC236}">
                <a16:creationId xmlns:a16="http://schemas.microsoft.com/office/drawing/2014/main" id="{CE7D4D29-D054-3381-57CF-9CD85BA5559C}"/>
              </a:ext>
            </a:extLst>
          </p:cNvPr>
          <p:cNvGraphicFramePr>
            <a:graphicFrameLocks noGrp="1"/>
          </p:cNvGraphicFramePr>
          <p:nvPr/>
        </p:nvGraphicFramePr>
        <p:xfrm>
          <a:off x="352425" y="1562100"/>
          <a:ext cx="11487150" cy="4699554"/>
        </p:xfrm>
        <a:graphic>
          <a:graphicData uri="http://schemas.openxmlformats.org/drawingml/2006/table">
            <a:tbl>
              <a:tblPr firstRow="1" bandRow="1">
                <a:tableStyleId>{1FECB4D8-DB02-4DC6-A0A2-4F2EBAE1DC90}</a:tableStyleId>
              </a:tblPr>
              <a:tblGrid>
                <a:gridCol w="2668995">
                  <a:extLst>
                    <a:ext uri="{9D8B030D-6E8A-4147-A177-3AD203B41FA5}">
                      <a16:colId xmlns:a16="http://schemas.microsoft.com/office/drawing/2014/main" val="881284321"/>
                    </a:ext>
                  </a:extLst>
                </a:gridCol>
                <a:gridCol w="4989104">
                  <a:extLst>
                    <a:ext uri="{9D8B030D-6E8A-4147-A177-3AD203B41FA5}">
                      <a16:colId xmlns:a16="http://schemas.microsoft.com/office/drawing/2014/main" val="2024379729"/>
                    </a:ext>
                  </a:extLst>
                </a:gridCol>
                <a:gridCol w="3829051">
                  <a:extLst>
                    <a:ext uri="{9D8B030D-6E8A-4147-A177-3AD203B41FA5}">
                      <a16:colId xmlns:a16="http://schemas.microsoft.com/office/drawing/2014/main" val="3994138474"/>
                    </a:ext>
                  </a:extLst>
                </a:gridCol>
              </a:tblGrid>
              <a:tr h="582874">
                <a:tc>
                  <a:txBody>
                    <a:bodyPr/>
                    <a:lstStyle/>
                    <a:p>
                      <a:pPr algn="ctr">
                        <a:lnSpc>
                          <a:spcPct val="150000"/>
                        </a:lnSpc>
                      </a:pPr>
                      <a:r>
                        <a:rPr kumimoji="1" lang="ja-JP" altLang="en-US" sz="2200">
                          <a:solidFill>
                            <a:schemeClr val="tx1"/>
                          </a:solidFill>
                          <a:latin typeface="+mj-ea"/>
                          <a:ea typeface="+mj-ea"/>
                        </a:rPr>
                        <a:t>対策の分類</a:t>
                      </a:r>
                    </a:p>
                  </a:txBody>
                  <a:tcPr>
                    <a:lnL w="12700" cmpd="sng">
                      <a:noFill/>
                    </a:lnL>
                    <a:lnR>
                      <a:noFill/>
                    </a:lnR>
                    <a:lnT w="12700" cmpd="sng">
                      <a:noFill/>
                    </a:lnT>
                    <a:lnB w="12700" cmpd="sng">
                      <a:noFill/>
                    </a:lnB>
                    <a:lnTlToBr w="12700" cmpd="sng">
                      <a:noFill/>
                      <a:prstDash val="solid"/>
                    </a:lnTlToBr>
                    <a:lnBlToTr w="12700" cmpd="sng">
                      <a:noFill/>
                      <a:prstDash val="solid"/>
                    </a:lnBlToTr>
                    <a:noFill/>
                  </a:tcPr>
                </a:tc>
                <a:tc>
                  <a:txBody>
                    <a:bodyPr/>
                    <a:lstStyle/>
                    <a:p>
                      <a:pPr algn="ctr">
                        <a:lnSpc>
                          <a:spcPct val="150000"/>
                        </a:lnSpc>
                      </a:pPr>
                      <a:r>
                        <a:rPr kumimoji="1" lang="ja-JP" altLang="en-US" sz="2200">
                          <a:solidFill>
                            <a:schemeClr val="tx1"/>
                          </a:solidFill>
                          <a:latin typeface="+mj-ea"/>
                          <a:ea typeface="+mj-ea"/>
                        </a:rPr>
                        <a:t>方法</a:t>
                      </a:r>
                    </a:p>
                  </a:txBody>
                  <a:tcPr>
                    <a:lnL>
                      <a:noFill/>
                    </a:lnL>
                    <a:lnR>
                      <a:noFill/>
                    </a:lnR>
                    <a:lnT w="12700" cmpd="sng">
                      <a:noFill/>
                    </a:lnT>
                    <a:lnB w="12700" cmpd="sng">
                      <a:noFill/>
                    </a:lnB>
                    <a:lnTlToBr w="12700" cmpd="sng">
                      <a:noFill/>
                      <a:prstDash val="solid"/>
                    </a:lnTlToBr>
                    <a:lnBlToTr w="12700" cmpd="sng">
                      <a:noFill/>
                      <a:prstDash val="solid"/>
                    </a:lnBlToTr>
                    <a:noFill/>
                  </a:tcPr>
                </a:tc>
                <a:tc>
                  <a:txBody>
                    <a:bodyPr/>
                    <a:lstStyle/>
                    <a:p>
                      <a:pPr algn="ctr">
                        <a:lnSpc>
                          <a:spcPct val="150000"/>
                        </a:lnSpc>
                      </a:pPr>
                      <a:r>
                        <a:rPr kumimoji="1" lang="ja-JP" altLang="en-US" sz="2200">
                          <a:solidFill>
                            <a:schemeClr val="tx1"/>
                          </a:solidFill>
                          <a:latin typeface="+mj-ea"/>
                          <a:ea typeface="+mj-ea"/>
                        </a:rPr>
                        <a:t>内容</a:t>
                      </a:r>
                    </a:p>
                  </a:txBody>
                  <a:tcPr>
                    <a:lnL>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48711975"/>
                  </a:ext>
                </a:extLst>
              </a:tr>
              <a:tr h="600075">
                <a:tc>
                  <a:txBody>
                    <a:bodyPr/>
                    <a:lstStyle/>
                    <a:p>
                      <a:pPr>
                        <a:lnSpc>
                          <a:spcPct val="150000"/>
                        </a:lnSpc>
                      </a:pPr>
                      <a:r>
                        <a:rPr kumimoji="1" lang="ja-JP" altLang="en-US" sz="2000">
                          <a:latin typeface="+mj-ea"/>
                          <a:ea typeface="+mj-ea"/>
                        </a:rPr>
                        <a:t>ノッチの直接検出</a:t>
                      </a:r>
                    </a:p>
                  </a:txBody>
                  <a:tcP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en-US" altLang="ja-JP" sz="2000" dirty="0">
                          <a:latin typeface="+mj-ea"/>
                          <a:ea typeface="+mj-ea"/>
                        </a:rPr>
                        <a:t>SDPPG</a:t>
                      </a:r>
                      <a:r>
                        <a:rPr kumimoji="1" lang="ja-JP" altLang="en-US" sz="2000">
                          <a:latin typeface="+mj-ea"/>
                          <a:ea typeface="+mj-ea"/>
                        </a:rPr>
                        <a:t>、</a:t>
                      </a:r>
                      <a:r>
                        <a:rPr kumimoji="1" lang="en-US" altLang="ja-JP" sz="2000" dirty="0">
                          <a:latin typeface="+mj-ea"/>
                          <a:ea typeface="+mj-ea"/>
                        </a:rPr>
                        <a:t>IEM (</a:t>
                      </a:r>
                      <a:r>
                        <a:rPr kumimoji="1" lang="ja-JP" altLang="en-US" sz="2000">
                          <a:latin typeface="+mj-ea"/>
                          <a:ea typeface="+mj-ea"/>
                        </a:rPr>
                        <a:t>反復エンベロープ平均</a:t>
                      </a:r>
                      <a:r>
                        <a:rPr kumimoji="1" lang="en-US" altLang="ja-JP" sz="2000" dirty="0">
                          <a:latin typeface="+mj-ea"/>
                          <a:ea typeface="+mj-ea"/>
                        </a:rPr>
                        <a:t>)</a:t>
                      </a:r>
                      <a:endParaRPr kumimoji="1" lang="ja-JP" altLang="en-US" sz="2000">
                        <a:latin typeface="+mj-ea"/>
                        <a:ea typeface="+mj-ea"/>
                      </a:endParaRP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ja-JP" altLang="en-US" sz="2000">
                          <a:latin typeface="+mj-ea"/>
                          <a:ea typeface="+mj-ea"/>
                        </a:rPr>
                        <a:t>重複切痕の直接検出。</a:t>
                      </a:r>
                    </a:p>
                  </a:txBody>
                  <a:tcP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76303986"/>
                  </a:ext>
                </a:extLst>
              </a:tr>
              <a:tr h="926898">
                <a:tc>
                  <a:txBody>
                    <a:bodyPr/>
                    <a:lstStyle/>
                    <a:p>
                      <a:pPr>
                        <a:lnSpc>
                          <a:spcPct val="150000"/>
                        </a:lnSpc>
                      </a:pPr>
                      <a:r>
                        <a:rPr kumimoji="1" lang="ja-JP" altLang="en-US" sz="2000">
                          <a:latin typeface="+mj-ea"/>
                          <a:ea typeface="+mj-ea"/>
                        </a:rPr>
                        <a:t>信号強調</a:t>
                      </a:r>
                      <a:endParaRPr kumimoji="1" lang="en-US" altLang="ja-JP" sz="2000" dirty="0">
                        <a:latin typeface="+mj-ea"/>
                        <a:ea typeface="+mj-ea"/>
                      </a:endParaRPr>
                    </a:p>
                  </a:txBody>
                  <a:tcP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en-US" altLang="ja-JP" sz="2000" dirty="0">
                          <a:latin typeface="+mj-ea"/>
                          <a:ea typeface="+mj-ea"/>
                        </a:rPr>
                        <a:t>MODWT</a:t>
                      </a:r>
                      <a:r>
                        <a:rPr kumimoji="1" lang="ja-JP" altLang="en-US" sz="2000">
                          <a:latin typeface="+mj-ea"/>
                          <a:ea typeface="+mj-ea"/>
                        </a:rPr>
                        <a:t>ウェーブレット強調</a:t>
                      </a:r>
                      <a:endParaRPr kumimoji="1" lang="en-US" altLang="ja-JP" sz="2000" dirty="0">
                        <a:latin typeface="+mj-ea"/>
                        <a:ea typeface="+mj-ea"/>
                      </a:endParaRPr>
                    </a:p>
                    <a:p>
                      <a:pPr>
                        <a:lnSpc>
                          <a:spcPct val="150000"/>
                        </a:lnSpc>
                        <a:buNone/>
                      </a:pPr>
                      <a:r>
                        <a:rPr lang="en" altLang="ja-JP" sz="2000" dirty="0">
                          <a:latin typeface="+mj-ea"/>
                          <a:ea typeface="+mj-ea"/>
                        </a:rPr>
                        <a:t>Harmonic-selective Gaussian </a:t>
                      </a:r>
                      <a:r>
                        <a:rPr lang="ja-JP" altLang="en-US" sz="2000">
                          <a:latin typeface="+mj-ea"/>
                          <a:ea typeface="+mj-ea"/>
                        </a:rPr>
                        <a:t>フィルタ</a:t>
                      </a: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ja-JP" altLang="en-US" sz="2000">
                          <a:latin typeface="+mj-ea"/>
                          <a:ea typeface="+mj-ea"/>
                        </a:rPr>
                        <a:t>ノイズを削って重複切痕を強調。</a:t>
                      </a:r>
                    </a:p>
                  </a:txBody>
                  <a:tcP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70517196"/>
                  </a:ext>
                </a:extLst>
              </a:tr>
              <a:tr h="926898">
                <a:tc>
                  <a:txBody>
                    <a:bodyPr/>
                    <a:lstStyle/>
                    <a:p>
                      <a:pPr>
                        <a:lnSpc>
                          <a:spcPct val="150000"/>
                        </a:lnSpc>
                      </a:pPr>
                      <a:r>
                        <a:rPr kumimoji="1" lang="ja-JP" altLang="en-US" sz="2000">
                          <a:latin typeface="+mj-ea"/>
                          <a:ea typeface="+mj-ea"/>
                        </a:rPr>
                        <a:t>パルス分解分析</a:t>
                      </a:r>
                    </a:p>
                  </a:txBody>
                  <a:tcP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ja-JP" altLang="en-US" sz="2000">
                          <a:latin typeface="+mj-ea"/>
                          <a:ea typeface="+mj-ea"/>
                        </a:rPr>
                        <a:t>モデル別で数種類</a:t>
                      </a: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en-US" altLang="ja-JP" sz="2000" dirty="0">
                          <a:latin typeface="+mj-ea"/>
                          <a:ea typeface="+mj-ea"/>
                        </a:rPr>
                        <a:t>PPG</a:t>
                      </a:r>
                      <a:r>
                        <a:rPr kumimoji="1" lang="ja-JP" altLang="en-US" sz="2000">
                          <a:latin typeface="+mj-ea"/>
                          <a:ea typeface="+mj-ea"/>
                        </a:rPr>
                        <a:t>の合成波を分解して、各波を推定する。</a:t>
                      </a:r>
                    </a:p>
                  </a:txBody>
                  <a:tcP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893143561"/>
                  </a:ext>
                </a:extLst>
              </a:tr>
              <a:tr h="926898">
                <a:tc>
                  <a:txBody>
                    <a:bodyPr/>
                    <a:lstStyle/>
                    <a:p>
                      <a:pPr>
                        <a:lnSpc>
                          <a:spcPct val="150000"/>
                        </a:lnSpc>
                      </a:pPr>
                      <a:r>
                        <a:rPr kumimoji="1" lang="ja-JP" altLang="en-US" sz="2000">
                          <a:latin typeface="+mj-ea"/>
                          <a:ea typeface="+mj-ea"/>
                        </a:rPr>
                        <a:t>機械学習・深層学習</a:t>
                      </a:r>
                    </a:p>
                  </a:txBody>
                  <a:tcP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en-US" altLang="ja-JP" sz="2000" dirty="0">
                          <a:latin typeface="+mj-ea"/>
                          <a:ea typeface="+mj-ea"/>
                        </a:rPr>
                        <a:t>CNN</a:t>
                      </a:r>
                      <a:r>
                        <a:rPr kumimoji="1" lang="ja-JP" altLang="en-US" sz="2000">
                          <a:latin typeface="+mj-ea"/>
                          <a:ea typeface="+mj-ea"/>
                        </a:rPr>
                        <a:t>による直接推定</a:t>
                      </a: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ja-JP" altLang="en-US" sz="2000">
                          <a:latin typeface="+mj-ea"/>
                          <a:ea typeface="+mj-ea"/>
                        </a:rPr>
                        <a:t>重複切痕に非依存。</a:t>
                      </a:r>
                      <a:endParaRPr kumimoji="1" lang="en-US" altLang="ja-JP" sz="2000" dirty="0">
                        <a:latin typeface="+mj-ea"/>
                        <a:ea typeface="+mj-ea"/>
                      </a:endParaRPr>
                    </a:p>
                    <a:p>
                      <a:pPr>
                        <a:lnSpc>
                          <a:spcPct val="150000"/>
                        </a:lnSpc>
                      </a:pPr>
                      <a:r>
                        <a:rPr kumimoji="1" lang="ja-JP" altLang="en-US" sz="2000">
                          <a:latin typeface="+mj-ea"/>
                          <a:ea typeface="+mj-ea"/>
                        </a:rPr>
                        <a:t>生理学的な理由は不明。</a:t>
                      </a:r>
                      <a:endParaRPr kumimoji="1" lang="en-US" altLang="ja-JP" sz="2000" dirty="0">
                        <a:latin typeface="+mj-ea"/>
                        <a:ea typeface="+mj-ea"/>
                      </a:endParaRPr>
                    </a:p>
                  </a:txBody>
                  <a:tcP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23142675"/>
                  </a:ext>
                </a:extLst>
              </a:tr>
              <a:tr h="613385">
                <a:tc>
                  <a:txBody>
                    <a:bodyPr/>
                    <a:lstStyle/>
                    <a:p>
                      <a:pPr>
                        <a:lnSpc>
                          <a:spcPct val="150000"/>
                        </a:lnSpc>
                      </a:pPr>
                      <a:r>
                        <a:rPr kumimoji="1" lang="ja-JP" altLang="en-US" sz="2000">
                          <a:latin typeface="+mj-ea"/>
                          <a:ea typeface="+mj-ea"/>
                        </a:rPr>
                        <a:t>グラフ理論</a:t>
                      </a:r>
                    </a:p>
                  </a:txBody>
                  <a:tcP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 altLang="ja-JP" sz="2000" dirty="0">
                          <a:latin typeface="+mj-ea"/>
                          <a:ea typeface="+mj-ea"/>
                        </a:rPr>
                        <a:t>Visibility Graph</a:t>
                      </a:r>
                      <a:r>
                        <a:rPr lang="ja-JP" altLang="en-US" sz="2000">
                          <a:latin typeface="+mj-ea"/>
                          <a:ea typeface="+mj-ea"/>
                        </a:rPr>
                        <a:t>特徴量</a:t>
                      </a: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ja-JP" altLang="en-US" sz="2000">
                          <a:latin typeface="+mj-ea"/>
                          <a:ea typeface="+mj-ea"/>
                        </a:rPr>
                        <a:t>波形を図形として数値化</a:t>
                      </a:r>
                    </a:p>
                  </a:txBody>
                  <a:tcP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04044554"/>
                  </a:ext>
                </a:extLst>
              </a:tr>
            </a:tbl>
          </a:graphicData>
        </a:graphic>
      </p:graphicFrame>
      <p:sp>
        <p:nvSpPr>
          <p:cNvPr id="2" name="Source">
            <a:extLst>
              <a:ext uri="{FF2B5EF4-FFF2-40B4-BE49-F238E27FC236}">
                <a16:creationId xmlns:a16="http://schemas.microsoft.com/office/drawing/2014/main" id="{CA62D685-2543-C2A5-28B6-BB9D3072FDE0}"/>
              </a:ext>
            </a:extLst>
          </p:cNvPr>
          <p:cNvSpPr txBox="1"/>
          <p:nvPr/>
        </p:nvSpPr>
        <p:spPr>
          <a:xfrm>
            <a:off x="472440" y="6606000"/>
            <a:ext cx="10881360" cy="200000"/>
          </a:xfrm>
          <a:prstGeom prst="rect">
            <a:avLst/>
          </a:prstGeom>
          <a:noFill/>
        </p:spPr>
        <p:txBody>
          <a:bodyPr wrap="square" lIns="0" tIns="0" rIns="0" bIns="0" anchor="t">
            <a:spAutoFit/>
          </a:bodyPr>
          <a:lstStyle/>
          <a:p>
            <a:pPr algn="l"/>
            <a:r>
              <a:rPr sz="1050" b="0" dirty="0">
                <a:solidFill>
                  <a:srgbClr val="808080"/>
                </a:solidFill>
                <a:latin typeface="Meiryo"/>
                <a:ea typeface="Meiryo"/>
                <a:cs typeface="Meiryo"/>
              </a:rPr>
              <a:t>35. Pal 2024　／　36. Fleischhauer 2020　／　37. Attivissimo 2023　／　38. Domínguez-Hernández 2026　／　39. Shin 2022　／　40. Vargas 2025</a:t>
            </a:r>
          </a:p>
        </p:txBody>
      </p:sp>
      <p:sp>
        <p:nvSpPr>
          <p:cNvPr id="2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72/118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4">
            <a:extLst>
              <a:ext uri="{FF2B5EF4-FFF2-40B4-BE49-F238E27FC236}">
                <a16:creationId xmlns:a16="http://schemas.microsoft.com/office/drawing/2014/main" id="{AA9D36CE-3772-F005-B54C-9329ADA7F086}"/>
              </a:ext>
            </a:extLst>
          </p:cNvPr>
          <p:cNvSpPr/>
          <p:nvPr/>
        </p:nvSpPr>
        <p:spPr>
          <a:xfrm>
            <a:off x="1019448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4</a:t>
            </a:r>
          </a:p>
          <a:p>
            <a:pPr algn="ctr"/>
            <a:r>
              <a:rPr sz="1050" b="1">
                <a:solidFill>
                  <a:srgbClr val="FFFFFF"/>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374964878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FC2C86-11C8-43AF-38D4-266F9FEB9C3A}"/>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176D710D-46ED-BA22-7899-01AD435D9D4D}"/>
              </a:ext>
            </a:extLst>
          </p:cNvPr>
          <p:cNvSpPr>
            <a:spLocks noGrp="1"/>
          </p:cNvSpPr>
          <p:nvPr>
            <p:ph type="title"/>
          </p:nvPr>
        </p:nvSpPr>
        <p:spPr>
          <a:xfrm>
            <a:off x="838200" y="365125"/>
            <a:ext cx="10515600" cy="1325563"/>
          </a:xfrm>
        </p:spPr>
        <p:txBody>
          <a:bodyPr/>
          <a:lstStyle/>
          <a:p>
            <a:pPr algn="l"/>
            <a:r>
              <a:rPr sz="4600" dirty="0">
                <a:latin typeface="Meiryo"/>
                <a:ea typeface="Meiryo"/>
                <a:cs typeface="Meiryo"/>
              </a:rPr>
              <a:t>4.3  DN-less 信号対策</a:t>
            </a:r>
          </a:p>
        </p:txBody>
      </p:sp>
      <p:graphicFrame>
        <p:nvGraphicFramePr>
          <p:cNvPr id="3" name="表 2">
            <a:extLst>
              <a:ext uri="{FF2B5EF4-FFF2-40B4-BE49-F238E27FC236}">
                <a16:creationId xmlns:a16="http://schemas.microsoft.com/office/drawing/2014/main" id="{3CBFC6E6-0790-4298-1FD2-3BEAC224C453}"/>
              </a:ext>
            </a:extLst>
          </p:cNvPr>
          <p:cNvGraphicFramePr>
            <a:graphicFrameLocks noGrp="1"/>
          </p:cNvGraphicFramePr>
          <p:nvPr/>
        </p:nvGraphicFramePr>
        <p:xfrm>
          <a:off x="352425" y="1562100"/>
          <a:ext cx="11487150" cy="4699554"/>
        </p:xfrm>
        <a:graphic>
          <a:graphicData uri="http://schemas.openxmlformats.org/drawingml/2006/table">
            <a:tbl>
              <a:tblPr firstRow="1" bandRow="1">
                <a:tableStyleId>{1FECB4D8-DB02-4DC6-A0A2-4F2EBAE1DC90}</a:tableStyleId>
              </a:tblPr>
              <a:tblGrid>
                <a:gridCol w="2668995">
                  <a:extLst>
                    <a:ext uri="{9D8B030D-6E8A-4147-A177-3AD203B41FA5}">
                      <a16:colId xmlns:a16="http://schemas.microsoft.com/office/drawing/2014/main" val="881284321"/>
                    </a:ext>
                  </a:extLst>
                </a:gridCol>
                <a:gridCol w="4989104">
                  <a:extLst>
                    <a:ext uri="{9D8B030D-6E8A-4147-A177-3AD203B41FA5}">
                      <a16:colId xmlns:a16="http://schemas.microsoft.com/office/drawing/2014/main" val="2024379729"/>
                    </a:ext>
                  </a:extLst>
                </a:gridCol>
                <a:gridCol w="3829051">
                  <a:extLst>
                    <a:ext uri="{9D8B030D-6E8A-4147-A177-3AD203B41FA5}">
                      <a16:colId xmlns:a16="http://schemas.microsoft.com/office/drawing/2014/main" val="3994138474"/>
                    </a:ext>
                  </a:extLst>
                </a:gridCol>
              </a:tblGrid>
              <a:tr h="582874">
                <a:tc>
                  <a:txBody>
                    <a:bodyPr/>
                    <a:lstStyle/>
                    <a:p>
                      <a:pPr algn="ctr">
                        <a:lnSpc>
                          <a:spcPct val="150000"/>
                        </a:lnSpc>
                      </a:pPr>
                      <a:r>
                        <a:rPr kumimoji="1" lang="ja-JP" altLang="en-US" sz="2200">
                          <a:solidFill>
                            <a:schemeClr val="tx1"/>
                          </a:solidFill>
                          <a:latin typeface="+mj-ea"/>
                          <a:ea typeface="+mj-ea"/>
                        </a:rPr>
                        <a:t>対策の分類</a:t>
                      </a:r>
                    </a:p>
                  </a:txBody>
                  <a:tcPr>
                    <a:lnL w="12700" cmpd="sng">
                      <a:noFill/>
                    </a:lnL>
                    <a:lnR>
                      <a:noFill/>
                    </a:lnR>
                    <a:lnT w="12700" cmpd="sng">
                      <a:noFill/>
                    </a:lnT>
                    <a:lnB w="12700" cmpd="sng">
                      <a:noFill/>
                    </a:lnB>
                    <a:lnTlToBr w="12700" cmpd="sng">
                      <a:noFill/>
                      <a:prstDash val="solid"/>
                    </a:lnTlToBr>
                    <a:lnBlToTr w="12700" cmpd="sng">
                      <a:noFill/>
                      <a:prstDash val="solid"/>
                    </a:lnBlToTr>
                    <a:noFill/>
                  </a:tcPr>
                </a:tc>
                <a:tc>
                  <a:txBody>
                    <a:bodyPr/>
                    <a:lstStyle/>
                    <a:p>
                      <a:pPr algn="ctr">
                        <a:lnSpc>
                          <a:spcPct val="150000"/>
                        </a:lnSpc>
                      </a:pPr>
                      <a:r>
                        <a:rPr kumimoji="1" lang="ja-JP" altLang="en-US" sz="2200">
                          <a:solidFill>
                            <a:schemeClr val="tx1"/>
                          </a:solidFill>
                          <a:latin typeface="+mj-ea"/>
                          <a:ea typeface="+mj-ea"/>
                        </a:rPr>
                        <a:t>方法</a:t>
                      </a:r>
                    </a:p>
                  </a:txBody>
                  <a:tcPr>
                    <a:lnL>
                      <a:noFill/>
                    </a:lnL>
                    <a:lnR>
                      <a:noFill/>
                    </a:lnR>
                    <a:lnT w="12700" cmpd="sng">
                      <a:noFill/>
                    </a:lnT>
                    <a:lnB w="12700" cmpd="sng">
                      <a:noFill/>
                    </a:lnB>
                    <a:lnTlToBr w="12700" cmpd="sng">
                      <a:noFill/>
                      <a:prstDash val="solid"/>
                    </a:lnTlToBr>
                    <a:lnBlToTr w="12700" cmpd="sng">
                      <a:noFill/>
                      <a:prstDash val="solid"/>
                    </a:lnBlToTr>
                    <a:noFill/>
                  </a:tcPr>
                </a:tc>
                <a:tc>
                  <a:txBody>
                    <a:bodyPr/>
                    <a:lstStyle/>
                    <a:p>
                      <a:pPr algn="ctr">
                        <a:lnSpc>
                          <a:spcPct val="150000"/>
                        </a:lnSpc>
                      </a:pPr>
                      <a:r>
                        <a:rPr kumimoji="1" lang="ja-JP" altLang="en-US" sz="2200">
                          <a:solidFill>
                            <a:schemeClr val="tx1"/>
                          </a:solidFill>
                          <a:latin typeface="+mj-ea"/>
                          <a:ea typeface="+mj-ea"/>
                        </a:rPr>
                        <a:t>内容</a:t>
                      </a:r>
                    </a:p>
                  </a:txBody>
                  <a:tcPr>
                    <a:lnL>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48711975"/>
                  </a:ext>
                </a:extLst>
              </a:tr>
              <a:tr h="600075">
                <a:tc>
                  <a:txBody>
                    <a:bodyPr/>
                    <a:lstStyle/>
                    <a:p>
                      <a:pPr>
                        <a:lnSpc>
                          <a:spcPct val="150000"/>
                        </a:lnSpc>
                      </a:pPr>
                      <a:r>
                        <a:rPr kumimoji="1" lang="ja-JP" altLang="en-US" sz="2000">
                          <a:latin typeface="+mj-ea"/>
                          <a:ea typeface="+mj-ea"/>
                        </a:rPr>
                        <a:t>ノッチの直接検出</a:t>
                      </a:r>
                    </a:p>
                  </a:txBody>
                  <a:tcP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en-US" altLang="ja-JP" sz="2000" dirty="0">
                          <a:latin typeface="+mj-ea"/>
                          <a:ea typeface="+mj-ea"/>
                        </a:rPr>
                        <a:t>SDPPG</a:t>
                      </a:r>
                      <a:r>
                        <a:rPr kumimoji="1" lang="ja-JP" altLang="en-US" sz="2000">
                          <a:latin typeface="+mj-ea"/>
                          <a:ea typeface="+mj-ea"/>
                        </a:rPr>
                        <a:t>、</a:t>
                      </a:r>
                      <a:r>
                        <a:rPr kumimoji="1" lang="en-US" altLang="ja-JP" sz="2000" dirty="0">
                          <a:latin typeface="+mj-ea"/>
                          <a:ea typeface="+mj-ea"/>
                        </a:rPr>
                        <a:t>IEM (</a:t>
                      </a:r>
                      <a:r>
                        <a:rPr kumimoji="1" lang="ja-JP" altLang="en-US" sz="2000">
                          <a:latin typeface="+mj-ea"/>
                          <a:ea typeface="+mj-ea"/>
                        </a:rPr>
                        <a:t>反復エンベロープ平均</a:t>
                      </a:r>
                      <a:r>
                        <a:rPr kumimoji="1" lang="en-US" altLang="ja-JP" sz="2000" dirty="0">
                          <a:latin typeface="+mj-ea"/>
                          <a:ea typeface="+mj-ea"/>
                        </a:rPr>
                        <a:t>)</a:t>
                      </a:r>
                      <a:endParaRPr kumimoji="1" lang="ja-JP" altLang="en-US" sz="2000">
                        <a:latin typeface="+mj-ea"/>
                        <a:ea typeface="+mj-ea"/>
                      </a:endParaRP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ja-JP" altLang="en-US" sz="2000">
                          <a:latin typeface="+mj-ea"/>
                          <a:ea typeface="+mj-ea"/>
                        </a:rPr>
                        <a:t>重複切痕の直接検出。</a:t>
                      </a:r>
                    </a:p>
                  </a:txBody>
                  <a:tcP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76303986"/>
                  </a:ext>
                </a:extLst>
              </a:tr>
              <a:tr h="926898">
                <a:tc>
                  <a:txBody>
                    <a:bodyPr/>
                    <a:lstStyle/>
                    <a:p>
                      <a:pPr>
                        <a:lnSpc>
                          <a:spcPct val="150000"/>
                        </a:lnSpc>
                      </a:pPr>
                      <a:r>
                        <a:rPr kumimoji="1" lang="ja-JP" altLang="en-US" sz="2000">
                          <a:latin typeface="+mj-ea"/>
                          <a:ea typeface="+mj-ea"/>
                        </a:rPr>
                        <a:t>信号強調</a:t>
                      </a:r>
                      <a:endParaRPr kumimoji="1" lang="en-US" altLang="ja-JP" sz="2000" dirty="0">
                        <a:latin typeface="+mj-ea"/>
                        <a:ea typeface="+mj-ea"/>
                      </a:endParaRPr>
                    </a:p>
                  </a:txBody>
                  <a:tcP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en-US" altLang="ja-JP" sz="2000" dirty="0">
                          <a:latin typeface="+mj-ea"/>
                          <a:ea typeface="+mj-ea"/>
                        </a:rPr>
                        <a:t>MODWT</a:t>
                      </a:r>
                      <a:r>
                        <a:rPr kumimoji="1" lang="ja-JP" altLang="en-US" sz="2000">
                          <a:latin typeface="+mj-ea"/>
                          <a:ea typeface="+mj-ea"/>
                        </a:rPr>
                        <a:t>ウェーブレット強調</a:t>
                      </a:r>
                      <a:endParaRPr kumimoji="1" lang="en-US" altLang="ja-JP" sz="2000" dirty="0">
                        <a:latin typeface="+mj-ea"/>
                        <a:ea typeface="+mj-ea"/>
                      </a:endParaRPr>
                    </a:p>
                    <a:p>
                      <a:pPr>
                        <a:lnSpc>
                          <a:spcPct val="150000"/>
                        </a:lnSpc>
                        <a:buNone/>
                      </a:pPr>
                      <a:r>
                        <a:rPr lang="en" altLang="ja-JP" sz="2000" dirty="0">
                          <a:latin typeface="+mj-ea"/>
                          <a:ea typeface="+mj-ea"/>
                        </a:rPr>
                        <a:t>Harmonic-selective Gaussian </a:t>
                      </a:r>
                      <a:r>
                        <a:rPr lang="ja-JP" altLang="en-US" sz="2000">
                          <a:latin typeface="+mj-ea"/>
                          <a:ea typeface="+mj-ea"/>
                        </a:rPr>
                        <a:t>フィルタ</a:t>
                      </a: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ja-JP" altLang="en-US" sz="2000">
                          <a:latin typeface="+mj-ea"/>
                          <a:ea typeface="+mj-ea"/>
                        </a:rPr>
                        <a:t>ノイズを削って重複切痕を強調。</a:t>
                      </a:r>
                    </a:p>
                  </a:txBody>
                  <a:tcP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70517196"/>
                  </a:ext>
                </a:extLst>
              </a:tr>
              <a:tr h="926898">
                <a:tc>
                  <a:txBody>
                    <a:bodyPr/>
                    <a:lstStyle/>
                    <a:p>
                      <a:pPr>
                        <a:lnSpc>
                          <a:spcPct val="150000"/>
                        </a:lnSpc>
                      </a:pPr>
                      <a:r>
                        <a:rPr kumimoji="1" lang="ja-JP" altLang="en-US" sz="2000" b="1">
                          <a:latin typeface="+mj-ea"/>
                          <a:ea typeface="+mj-ea"/>
                        </a:rPr>
                        <a:t>パルス分解分析</a:t>
                      </a:r>
                    </a:p>
                  </a:txBody>
                  <a:tcPr>
                    <a:lnL w="12700" cmpd="sng">
                      <a:noFill/>
                    </a:lnL>
                    <a:lnR>
                      <a:noFill/>
                    </a:lnR>
                    <a:lnT w="12700" cmpd="sng">
                      <a:noFill/>
                    </a:lnT>
                    <a:lnB w="127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nSpc>
                          <a:spcPct val="150000"/>
                        </a:lnSpc>
                      </a:pPr>
                      <a:r>
                        <a:rPr kumimoji="1" lang="ja-JP" altLang="en-US" sz="2000" b="1">
                          <a:latin typeface="+mj-ea"/>
                          <a:ea typeface="+mj-ea"/>
                        </a:rPr>
                        <a:t>モデル別で数種類</a:t>
                      </a:r>
                    </a:p>
                  </a:txBody>
                  <a:tcPr>
                    <a:lnL>
                      <a:noFill/>
                    </a:lnL>
                    <a:lnR>
                      <a:noFill/>
                    </a:lnR>
                    <a:lnT w="12700" cmpd="sng">
                      <a:noFill/>
                    </a:lnT>
                    <a:lnB w="127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nSpc>
                          <a:spcPct val="150000"/>
                        </a:lnSpc>
                      </a:pPr>
                      <a:r>
                        <a:rPr kumimoji="1" lang="en-US" altLang="ja-JP" sz="2000" b="1" dirty="0">
                          <a:latin typeface="+mj-ea"/>
                          <a:ea typeface="+mj-ea"/>
                        </a:rPr>
                        <a:t>PPG</a:t>
                      </a:r>
                      <a:r>
                        <a:rPr kumimoji="1" lang="ja-JP" altLang="en-US" sz="2000" b="1">
                          <a:latin typeface="+mj-ea"/>
                          <a:ea typeface="+mj-ea"/>
                        </a:rPr>
                        <a:t>の合成波を分解して、各波を推定する。</a:t>
                      </a:r>
                    </a:p>
                  </a:txBody>
                  <a:tcPr>
                    <a:lnL>
                      <a:noFill/>
                    </a:lnL>
                    <a:lnR w="12700" cmpd="sng">
                      <a:noFill/>
                    </a:lnR>
                    <a:lnT w="12700" cmpd="sng">
                      <a:noFill/>
                    </a:lnT>
                    <a:lnB w="12700" cmpd="sng">
                      <a:noFill/>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893143561"/>
                  </a:ext>
                </a:extLst>
              </a:tr>
              <a:tr h="926898">
                <a:tc>
                  <a:txBody>
                    <a:bodyPr/>
                    <a:lstStyle/>
                    <a:p>
                      <a:pPr>
                        <a:lnSpc>
                          <a:spcPct val="150000"/>
                        </a:lnSpc>
                      </a:pPr>
                      <a:r>
                        <a:rPr kumimoji="1" lang="ja-JP" altLang="en-US" sz="2000">
                          <a:latin typeface="+mj-ea"/>
                          <a:ea typeface="+mj-ea"/>
                        </a:rPr>
                        <a:t>機械学習・深層学習</a:t>
                      </a:r>
                    </a:p>
                  </a:txBody>
                  <a:tcP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en-US" altLang="ja-JP" sz="2000" dirty="0">
                          <a:latin typeface="+mj-ea"/>
                          <a:ea typeface="+mj-ea"/>
                        </a:rPr>
                        <a:t>CNN</a:t>
                      </a:r>
                      <a:r>
                        <a:rPr kumimoji="1" lang="ja-JP" altLang="en-US" sz="2000">
                          <a:latin typeface="+mj-ea"/>
                          <a:ea typeface="+mj-ea"/>
                        </a:rPr>
                        <a:t>による直接推定</a:t>
                      </a: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ja-JP" altLang="en-US" sz="2000">
                          <a:latin typeface="+mj-ea"/>
                          <a:ea typeface="+mj-ea"/>
                        </a:rPr>
                        <a:t>重複切痕に非依存。</a:t>
                      </a:r>
                      <a:endParaRPr kumimoji="1" lang="en-US" altLang="ja-JP" sz="2000" dirty="0">
                        <a:latin typeface="+mj-ea"/>
                        <a:ea typeface="+mj-ea"/>
                      </a:endParaRPr>
                    </a:p>
                    <a:p>
                      <a:pPr>
                        <a:lnSpc>
                          <a:spcPct val="150000"/>
                        </a:lnSpc>
                      </a:pPr>
                      <a:r>
                        <a:rPr kumimoji="1" lang="ja-JP" altLang="en-US" sz="2000">
                          <a:latin typeface="+mj-ea"/>
                          <a:ea typeface="+mj-ea"/>
                        </a:rPr>
                        <a:t>生理学的な理由は不明。</a:t>
                      </a:r>
                      <a:endParaRPr kumimoji="1" lang="en-US" altLang="ja-JP" sz="2000" dirty="0">
                        <a:latin typeface="+mj-ea"/>
                        <a:ea typeface="+mj-ea"/>
                      </a:endParaRPr>
                    </a:p>
                  </a:txBody>
                  <a:tcP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23142675"/>
                  </a:ext>
                </a:extLst>
              </a:tr>
              <a:tr h="613385">
                <a:tc>
                  <a:txBody>
                    <a:bodyPr/>
                    <a:lstStyle/>
                    <a:p>
                      <a:pPr>
                        <a:lnSpc>
                          <a:spcPct val="150000"/>
                        </a:lnSpc>
                      </a:pPr>
                      <a:r>
                        <a:rPr kumimoji="1" lang="ja-JP" altLang="en-US" sz="2000">
                          <a:latin typeface="+mj-ea"/>
                          <a:ea typeface="+mj-ea"/>
                        </a:rPr>
                        <a:t>グラフ理論</a:t>
                      </a:r>
                    </a:p>
                  </a:txBody>
                  <a:tcP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 altLang="ja-JP" sz="2000" dirty="0">
                          <a:latin typeface="+mj-ea"/>
                          <a:ea typeface="+mj-ea"/>
                        </a:rPr>
                        <a:t>Visibility Graph</a:t>
                      </a:r>
                      <a:r>
                        <a:rPr lang="ja-JP" altLang="en-US" sz="2000">
                          <a:latin typeface="+mj-ea"/>
                          <a:ea typeface="+mj-ea"/>
                        </a:rPr>
                        <a:t>特徴量</a:t>
                      </a: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ja-JP" altLang="en-US" sz="2000">
                          <a:latin typeface="+mj-ea"/>
                          <a:ea typeface="+mj-ea"/>
                        </a:rPr>
                        <a:t>波形を図形として数値化</a:t>
                      </a:r>
                    </a:p>
                  </a:txBody>
                  <a:tcP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04044554"/>
                  </a:ext>
                </a:extLst>
              </a:tr>
            </a:tbl>
          </a:graphicData>
        </a:graphic>
      </p:graphicFrame>
      <p:sp>
        <p:nvSpPr>
          <p:cNvPr id="2" name="Source">
            <a:extLst>
              <a:ext uri="{FF2B5EF4-FFF2-40B4-BE49-F238E27FC236}">
                <a16:creationId xmlns:a16="http://schemas.microsoft.com/office/drawing/2014/main" id="{4D36DBBC-C376-D9E0-BC45-7F268A42F7DE}"/>
              </a:ext>
            </a:extLst>
          </p:cNvPr>
          <p:cNvSpPr txBox="1"/>
          <p:nvPr/>
        </p:nvSpPr>
        <p:spPr>
          <a:xfrm>
            <a:off x="472440" y="6606000"/>
            <a:ext cx="10881360" cy="200000"/>
          </a:xfrm>
          <a:prstGeom prst="rect">
            <a:avLst/>
          </a:prstGeom>
          <a:noFill/>
        </p:spPr>
        <p:txBody>
          <a:bodyPr wrap="square" lIns="0" tIns="0" rIns="0" bIns="0" anchor="t">
            <a:spAutoFit/>
          </a:bodyPr>
          <a:lstStyle/>
          <a:p>
            <a:pPr algn="l"/>
            <a:r>
              <a:rPr sz="1050" b="0" dirty="0">
                <a:solidFill>
                  <a:srgbClr val="808080"/>
                </a:solidFill>
                <a:latin typeface="Meiryo"/>
                <a:ea typeface="Meiryo"/>
                <a:cs typeface="Meiryo"/>
              </a:rPr>
              <a:t>35. Pal 2024　／　36. Fleischhauer 2020　／　37. Attivissimo 2023　／　38. Domínguez-Hernández 2026　／　39. Shin 2022　／　40. Vargas 2025</a:t>
            </a:r>
          </a:p>
        </p:txBody>
      </p:sp>
      <p:sp>
        <p:nvSpPr>
          <p:cNvPr id="2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73/118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4">
            <a:extLst>
              <a:ext uri="{FF2B5EF4-FFF2-40B4-BE49-F238E27FC236}">
                <a16:creationId xmlns:a16="http://schemas.microsoft.com/office/drawing/2014/main" id="{AA9D36CE-3772-F005-B54C-9329ADA7F086}"/>
              </a:ext>
            </a:extLst>
          </p:cNvPr>
          <p:cNvSpPr/>
          <p:nvPr/>
        </p:nvSpPr>
        <p:spPr>
          <a:xfrm>
            <a:off x="1019448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4</a:t>
            </a:r>
          </a:p>
          <a:p>
            <a:pPr algn="ctr"/>
            <a:r>
              <a:rPr sz="1050" b="1">
                <a:solidFill>
                  <a:srgbClr val="FFFFFF"/>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207505641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 PDA（波形分解）</a:t>
            </a:r>
          </a:p>
        </p:txBody>
      </p:sp>
      <p:sp>
        <p:nvSpPr>
          <p:cNvPr id="8" name="TextBox 7"/>
          <p:cNvSpPr txBox="1"/>
          <p:nvPr/>
        </p:nvSpPr>
        <p:spPr>
          <a:xfrm>
            <a:off x="822960" y="1536192"/>
            <a:ext cx="5029200" cy="4956048"/>
          </a:xfrm>
          <a:prstGeom prst="rect">
            <a:avLst/>
          </a:prstGeom>
          <a:noFill/>
        </p:spPr>
        <p:txBody>
          <a:bodyPr wrap="square" lIns="0" tIns="0" rIns="0" bIns="0" anchor="t">
            <a:spAutoFit/>
          </a:bodyPr>
          <a:lstStyle/>
          <a:p>
            <a:pPr>
              <a:lnSpc>
                <a:spcPct val="145000"/>
              </a:lnSpc>
            </a:pPr>
            <a:r>
              <a:rPr sz="3200" b="1">
                <a:solidFill>
                  <a:srgbClr val="D9D9D9"/>
                </a:solidFill>
                <a:latin typeface="Meiryo"/>
                <a:ea typeface="Meiryo"/>
                <a:cs typeface="Meiryo"/>
              </a:rPr>
              <a:t>1. </a:t>
            </a:r>
            <a:r>
              <a:rPr sz="3200" b="0">
                <a:solidFill>
                  <a:srgbClr val="D9D9D9"/>
                </a:solidFill>
                <a:latin typeface="Meiryo"/>
                <a:ea typeface="Meiryo"/>
                <a:cs typeface="Meiryo"/>
              </a:rPr>
              <a:t>PPGの基礎</a:t>
            </a:r>
          </a:p>
          <a:p>
            <a:pPr>
              <a:lnSpc>
                <a:spcPct val="145000"/>
              </a:lnSpc>
            </a:pPr>
            <a:r>
              <a:rPr sz="3200" b="1">
                <a:solidFill>
                  <a:srgbClr val="D9D9D9"/>
                </a:solidFill>
                <a:latin typeface="Meiryo"/>
                <a:ea typeface="Meiryo"/>
                <a:cs typeface="Meiryo"/>
              </a:rPr>
              <a:t>2. </a:t>
            </a:r>
            <a:r>
              <a:rPr sz="3200" b="0">
                <a:solidFill>
                  <a:srgbClr val="D9D9D9"/>
                </a:solidFill>
                <a:latin typeface="Meiryo"/>
                <a:ea typeface="Meiryo"/>
                <a:cs typeface="Meiryo"/>
              </a:rPr>
              <a:t>波形への影響</a:t>
            </a:r>
          </a:p>
          <a:p>
            <a:pPr>
              <a:lnSpc>
                <a:spcPct val="145000"/>
              </a:lnSpc>
            </a:pPr>
            <a:r>
              <a:rPr sz="3200" b="1">
                <a:solidFill>
                  <a:srgbClr val="D9D9D9"/>
                </a:solidFill>
                <a:latin typeface="Meiryo"/>
                <a:ea typeface="Meiryo"/>
                <a:cs typeface="Meiryo"/>
              </a:rPr>
              <a:t>3. </a:t>
            </a:r>
            <a:r>
              <a:rPr sz="3200" b="0">
                <a:solidFill>
                  <a:srgbClr val="D9D9D9"/>
                </a:solidFill>
                <a:latin typeface="Meiryo"/>
                <a:ea typeface="Meiryo"/>
                <a:cs typeface="Meiryo"/>
              </a:rPr>
              <a:t>波形の定量化</a:t>
            </a:r>
          </a:p>
          <a:p>
            <a:pPr>
              <a:lnSpc>
                <a:spcPct val="145000"/>
              </a:lnSpc>
            </a:pPr>
            <a:r>
              <a:rPr sz="3200" b="1">
                <a:solidFill>
                  <a:srgbClr val="D9D9D9"/>
                </a:solidFill>
                <a:latin typeface="Meiryo"/>
                <a:ea typeface="Meiryo"/>
                <a:cs typeface="Meiryo"/>
              </a:rPr>
              <a:t>4. </a:t>
            </a:r>
            <a:r>
              <a:rPr sz="3200" b="0">
                <a:solidFill>
                  <a:srgbClr val="D9D9D9"/>
                </a:solidFill>
                <a:latin typeface="Meiryo"/>
                <a:ea typeface="Meiryo"/>
                <a:cs typeface="Meiryo"/>
              </a:rPr>
              <a:t>限界</a:t>
            </a:r>
          </a:p>
          <a:p>
            <a:pPr>
              <a:lnSpc>
                <a:spcPct val="145000"/>
              </a:lnSpc>
            </a:pPr>
            <a:r>
              <a:rPr sz="3200" b="1">
                <a:solidFill>
                  <a:srgbClr val="BF9000"/>
                </a:solidFill>
                <a:latin typeface="Meiryo"/>
                <a:ea typeface="Meiryo"/>
                <a:cs typeface="Meiryo"/>
              </a:rPr>
              <a:t>5. </a:t>
            </a:r>
            <a:r>
              <a:rPr sz="3200" b="1">
                <a:solidFill>
                  <a:srgbClr val="262626"/>
                </a:solidFill>
                <a:latin typeface="Meiryo"/>
                <a:ea typeface="Meiryo"/>
                <a:cs typeface="Meiryo"/>
              </a:rPr>
              <a:t>PDA（波形分解）</a:t>
            </a:r>
          </a:p>
          <a:p>
            <a:pPr>
              <a:lnSpc>
                <a:spcPct val="145000"/>
              </a:lnSpc>
            </a:pPr>
            <a:r>
              <a:rPr sz="3200" b="0">
                <a:solidFill>
                  <a:srgbClr val="D9D9D9"/>
                </a:solidFill>
                <a:latin typeface="Meiryo"/>
                <a:ea typeface="Meiryo"/>
                <a:cs typeface="Meiryo"/>
              </a:rPr>
              <a:t>6. 提案</a:t>
            </a:r>
          </a:p>
        </p:txBody>
      </p:sp>
      <p:sp>
        <p:nvSpPr>
          <p:cNvPr id="18" name="SubToc"/>
          <p:cNvSpPr txBox="1"/>
          <p:nvPr/>
        </p:nvSpPr>
        <p:spPr>
          <a:xfrm>
            <a:off x="6309360" y="1536192"/>
            <a:ext cx="5394960" cy="4956048"/>
          </a:xfrm>
          <a:prstGeom prst="rect">
            <a:avLst/>
          </a:prstGeom>
          <a:noFill/>
        </p:spPr>
        <p:txBody>
          <a:bodyPr wrap="square" anchor="t">
            <a:spAutoFit/>
          </a:bodyPr>
          <a:lstStyle/>
          <a:p>
            <a:pPr>
              <a:lnSpc>
                <a:spcPct val="145000"/>
              </a:lnSpc>
            </a:pPr>
            <a:r>
              <a:rPr sz="2900" b="1">
                <a:solidFill>
                  <a:srgbClr val="BF9000"/>
                </a:solidFill>
                <a:latin typeface="Meiryo"/>
                <a:ea typeface="Meiryo"/>
                <a:cs typeface="Meiryo"/>
              </a:rPr>
              <a:t>5.1 </a:t>
            </a:r>
            <a:r>
              <a:rPr sz="2900" b="0">
                <a:solidFill>
                  <a:srgbClr val="262626"/>
                </a:solidFill>
                <a:latin typeface="Meiryo"/>
                <a:ea typeface="Meiryo"/>
                <a:cs typeface="Meiryo"/>
              </a:rPr>
              <a:t>PDA とは</a:t>
            </a:r>
          </a:p>
          <a:p>
            <a:pPr>
              <a:lnSpc>
                <a:spcPct val="145000"/>
              </a:lnSpc>
            </a:pPr>
            <a:r>
              <a:rPr sz="2900" b="1">
                <a:solidFill>
                  <a:srgbClr val="BF9000"/>
                </a:solidFill>
                <a:latin typeface="Meiryo"/>
                <a:ea typeface="Meiryo"/>
                <a:cs typeface="Meiryo"/>
              </a:rPr>
              <a:t>5.2 </a:t>
            </a:r>
            <a:r>
              <a:rPr sz="2900" b="0">
                <a:solidFill>
                  <a:srgbClr val="262626"/>
                </a:solidFill>
                <a:latin typeface="Meiryo"/>
                <a:ea typeface="Meiryo"/>
                <a:cs typeface="Meiryo"/>
              </a:rPr>
              <a:t>分解のしくみ</a:t>
            </a:r>
          </a:p>
          <a:p>
            <a:pPr>
              <a:lnSpc>
                <a:spcPct val="145000"/>
              </a:lnSpc>
            </a:pPr>
            <a:r>
              <a:rPr sz="2900" b="1">
                <a:solidFill>
                  <a:srgbClr val="BF9000"/>
                </a:solidFill>
                <a:latin typeface="Meiryo"/>
                <a:ea typeface="Meiryo"/>
                <a:cs typeface="Meiryo"/>
              </a:rPr>
              <a:t>5.3 </a:t>
            </a:r>
            <a:r>
              <a:rPr sz="2900" b="0">
                <a:solidFill>
                  <a:srgbClr val="262626"/>
                </a:solidFill>
                <a:latin typeface="Meiryo"/>
                <a:ea typeface="Meiryo"/>
                <a:cs typeface="Meiryo"/>
              </a:rPr>
              <a:t>当てはめ方</a:t>
            </a:r>
          </a:p>
          <a:p>
            <a:pPr>
              <a:lnSpc>
                <a:spcPct val="145000"/>
              </a:lnSpc>
            </a:pPr>
            <a:r>
              <a:rPr sz="2900" b="1">
                <a:solidFill>
                  <a:srgbClr val="BF9000"/>
                </a:solidFill>
                <a:latin typeface="Meiryo"/>
                <a:ea typeface="Meiryo"/>
                <a:cs typeface="Meiryo"/>
              </a:rPr>
              <a:t>5.4 </a:t>
            </a:r>
            <a:r>
              <a:rPr sz="2900" b="0">
                <a:solidFill>
                  <a:srgbClr val="262626"/>
                </a:solidFill>
                <a:latin typeface="Meiryo"/>
                <a:ea typeface="Meiryo"/>
                <a:cs typeface="Meiryo"/>
              </a:rPr>
              <a:t>重要文献</a:t>
            </a:r>
          </a:p>
          <a:p>
            <a:pPr>
              <a:lnSpc>
                <a:spcPct val="145000"/>
              </a:lnSpc>
            </a:pPr>
            <a:r>
              <a:rPr sz="2900" b="1">
                <a:solidFill>
                  <a:srgbClr val="BF9000"/>
                </a:solidFill>
                <a:latin typeface="Meiryo"/>
                <a:ea typeface="Meiryo"/>
                <a:cs typeface="Meiryo"/>
              </a:rPr>
              <a:t>5.5 </a:t>
            </a:r>
            <a:r>
              <a:rPr sz="2900" b="0">
                <a:solidFill>
                  <a:srgbClr val="262626"/>
                </a:solidFill>
                <a:latin typeface="Meiryo"/>
                <a:ea typeface="Meiryo"/>
                <a:cs typeface="Meiryo"/>
              </a:rPr>
              <a:t>限界</a:t>
            </a:r>
          </a:p>
        </p:txBody>
      </p:sp>
      <p:sp>
        <p:nvSpPr>
          <p:cNvPr id="1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74/118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4">
            <a:extLst>
              <a:ext uri="{FF2B5EF4-FFF2-40B4-BE49-F238E27FC236}">
                <a16:creationId xmlns:a16="http://schemas.microsoft.com/office/drawing/2014/main" id="{AA9D36CE-3772-F005-B54C-9329ADA7F086}"/>
              </a:ext>
            </a:extLst>
          </p:cNvPr>
          <p:cNvSpPr/>
          <p:nvPr/>
        </p:nvSpPr>
        <p:spPr>
          <a:xfrm>
            <a:off x="1085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sz="4600" dirty="0">
                <a:latin typeface="Meiryo"/>
                <a:ea typeface="Meiryo"/>
                <a:cs typeface="Meiryo"/>
              </a:rPr>
              <a:t>5.1  PDA とは</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41. Rubins 2008　／　42. Goswami 2010　／　33. Couceiro 2015</a:t>
            </a:r>
          </a:p>
        </p:txBody>
      </p:sp>
      <p:sp>
        <p:nvSpPr>
          <p:cNvPr id="18" name="TextBox 17"/>
          <p:cNvSpPr txBox="1"/>
          <p:nvPr/>
        </p:nvSpPr>
        <p:spPr>
          <a:xfrm>
            <a:off x="720630" y="1923864"/>
            <a:ext cx="5486400" cy="523030"/>
          </a:xfrm>
          <a:prstGeom prst="rect">
            <a:avLst/>
          </a:prstGeom>
          <a:noFill/>
        </p:spPr>
        <p:txBody>
          <a:bodyPr wrap="square" lIns="0" tIns="0" rIns="0" bIns="0" anchor="t">
            <a:spAutoFit/>
          </a:bodyPr>
          <a:lstStyle/>
          <a:p>
            <a:pPr algn="l"/>
            <a:r>
              <a:rPr sz="2400" b="1">
                <a:solidFill>
                  <a:srgbClr val="262626"/>
                </a:solidFill>
                <a:latin typeface="Meiryo"/>
                <a:ea typeface="Meiryo"/>
                <a:cs typeface="Meiryo"/>
              </a:rPr>
              <a:t>見えている波（実測）</a:t>
            </a:r>
          </a:p>
        </p:txBody>
      </p:sp>
      <p:sp>
        <p:nvSpPr>
          <p:cNvPr id="3" name="Freeform 2"/>
          <p:cNvSpPr/>
          <p:nvPr/>
        </p:nvSpPr>
        <p:spPr>
          <a:xfrm>
            <a:off x="766350" y="2335344"/>
            <a:ext cx="4846320" cy="1462022"/>
          </a:xfrm>
          <a:custGeom>
            <a:avLst/>
            <a:gdLst/>
            <a:ahLst/>
            <a:cxnLst/>
            <a:rect l="l" t="t" r="r" b="b"/>
            <a:pathLst>
              <a:path w="4846320" h="1462022">
                <a:moveTo>
                  <a:pt x="0" y="1412367"/>
                </a:moveTo>
                <a:lnTo>
                  <a:pt x="28508" y="1402571"/>
                </a:lnTo>
                <a:lnTo>
                  <a:pt x="57016" y="1391225"/>
                </a:lnTo>
                <a:lnTo>
                  <a:pt x="85523" y="1378158"/>
                </a:lnTo>
                <a:lnTo>
                  <a:pt x="114031" y="1363192"/>
                </a:lnTo>
                <a:lnTo>
                  <a:pt x="142539" y="1346147"/>
                </a:lnTo>
                <a:lnTo>
                  <a:pt x="171047" y="1326847"/>
                </a:lnTo>
                <a:lnTo>
                  <a:pt x="199554" y="1305117"/>
                </a:lnTo>
                <a:lnTo>
                  <a:pt x="228062" y="1280794"/>
                </a:lnTo>
                <a:lnTo>
                  <a:pt x="256570" y="1253729"/>
                </a:lnTo>
                <a:lnTo>
                  <a:pt x="285078" y="1223792"/>
                </a:lnTo>
                <a:lnTo>
                  <a:pt x="313585" y="1190877"/>
                </a:lnTo>
                <a:lnTo>
                  <a:pt x="342093" y="1154911"/>
                </a:lnTo>
                <a:lnTo>
                  <a:pt x="370601" y="1115856"/>
                </a:lnTo>
                <a:lnTo>
                  <a:pt x="399109" y="1073716"/>
                </a:lnTo>
                <a:lnTo>
                  <a:pt x="427616" y="1028542"/>
                </a:lnTo>
                <a:lnTo>
                  <a:pt x="456124" y="980438"/>
                </a:lnTo>
                <a:lnTo>
                  <a:pt x="484632" y="929563"/>
                </a:lnTo>
                <a:lnTo>
                  <a:pt x="513140" y="876133"/>
                </a:lnTo>
                <a:lnTo>
                  <a:pt x="541648" y="820427"/>
                </a:lnTo>
                <a:lnTo>
                  <a:pt x="570155" y="762781"/>
                </a:lnTo>
                <a:lnTo>
                  <a:pt x="598663" y="703595"/>
                </a:lnTo>
                <a:lnTo>
                  <a:pt x="627171" y="643321"/>
                </a:lnTo>
                <a:lnTo>
                  <a:pt x="655679" y="582466"/>
                </a:lnTo>
                <a:lnTo>
                  <a:pt x="684186" y="521584"/>
                </a:lnTo>
                <a:lnTo>
                  <a:pt x="712694" y="461266"/>
                </a:lnTo>
                <a:lnTo>
                  <a:pt x="741202" y="402133"/>
                </a:lnTo>
                <a:lnTo>
                  <a:pt x="769710" y="344825"/>
                </a:lnTo>
                <a:lnTo>
                  <a:pt x="798217" y="289991"/>
                </a:lnTo>
                <a:lnTo>
                  <a:pt x="826725" y="238271"/>
                </a:lnTo>
                <a:lnTo>
                  <a:pt x="855233" y="190291"/>
                </a:lnTo>
                <a:lnTo>
                  <a:pt x="883741" y="146643"/>
                </a:lnTo>
                <a:lnTo>
                  <a:pt x="912248" y="107876"/>
                </a:lnTo>
                <a:lnTo>
                  <a:pt x="940756" y="74480"/>
                </a:lnTo>
                <a:lnTo>
                  <a:pt x="969264" y="46881"/>
                </a:lnTo>
                <a:lnTo>
                  <a:pt x="997772" y="25421"/>
                </a:lnTo>
                <a:lnTo>
                  <a:pt x="1026280" y="10361"/>
                </a:lnTo>
                <a:lnTo>
                  <a:pt x="1054787" y="1865"/>
                </a:lnTo>
                <a:lnTo>
                  <a:pt x="1083295" y="0"/>
                </a:lnTo>
                <a:lnTo>
                  <a:pt x="1111803" y="4734"/>
                </a:lnTo>
                <a:lnTo>
                  <a:pt x="1140311" y="15937"/>
                </a:lnTo>
                <a:lnTo>
                  <a:pt x="1168818" y="33378"/>
                </a:lnTo>
                <a:lnTo>
                  <a:pt x="1197326" y="56739"/>
                </a:lnTo>
                <a:lnTo>
                  <a:pt x="1225834" y="85615"/>
                </a:lnTo>
                <a:lnTo>
                  <a:pt x="1254342" y="119526"/>
                </a:lnTo>
                <a:lnTo>
                  <a:pt x="1282849" y="157927"/>
                </a:lnTo>
                <a:lnTo>
                  <a:pt x="1311357" y="200218"/>
                </a:lnTo>
                <a:lnTo>
                  <a:pt x="1339865" y="245761"/>
                </a:lnTo>
                <a:lnTo>
                  <a:pt x="1368373" y="293889"/>
                </a:lnTo>
                <a:lnTo>
                  <a:pt x="1396880" y="343924"/>
                </a:lnTo>
                <a:lnTo>
                  <a:pt x="1425388" y="395183"/>
                </a:lnTo>
                <a:lnTo>
                  <a:pt x="1453896" y="447000"/>
                </a:lnTo>
                <a:lnTo>
                  <a:pt x="1482404" y="498730"/>
                </a:lnTo>
                <a:lnTo>
                  <a:pt x="1510912" y="549763"/>
                </a:lnTo>
                <a:lnTo>
                  <a:pt x="1539419" y="599533"/>
                </a:lnTo>
                <a:lnTo>
                  <a:pt x="1567927" y="647525"/>
                </a:lnTo>
                <a:lnTo>
                  <a:pt x="1596435" y="693281"/>
                </a:lnTo>
                <a:lnTo>
                  <a:pt x="1624943" y="736407"/>
                </a:lnTo>
                <a:lnTo>
                  <a:pt x="1653450" y="776570"/>
                </a:lnTo>
                <a:lnTo>
                  <a:pt x="1681958" y="813505"/>
                </a:lnTo>
                <a:lnTo>
                  <a:pt x="1710466" y="847013"/>
                </a:lnTo>
                <a:lnTo>
                  <a:pt x="1738974" y="876955"/>
                </a:lnTo>
                <a:lnTo>
                  <a:pt x="1767481" y="903256"/>
                </a:lnTo>
                <a:lnTo>
                  <a:pt x="1795989" y="925897"/>
                </a:lnTo>
                <a:lnTo>
                  <a:pt x="1824497" y="944909"/>
                </a:lnTo>
                <a:lnTo>
                  <a:pt x="1853005" y="960374"/>
                </a:lnTo>
                <a:lnTo>
                  <a:pt x="1881512" y="972413"/>
                </a:lnTo>
                <a:lnTo>
                  <a:pt x="1910020" y="981182"/>
                </a:lnTo>
                <a:lnTo>
                  <a:pt x="1938528" y="986870"/>
                </a:lnTo>
                <a:lnTo>
                  <a:pt x="1967036" y="989688"/>
                </a:lnTo>
                <a:lnTo>
                  <a:pt x="1995544" y="989867"/>
                </a:lnTo>
                <a:lnTo>
                  <a:pt x="2024051" y="987652"/>
                </a:lnTo>
                <a:lnTo>
                  <a:pt x="2052559" y="983297"/>
                </a:lnTo>
                <a:lnTo>
                  <a:pt x="2081067" y="977061"/>
                </a:lnTo>
                <a:lnTo>
                  <a:pt x="2109575" y="969205"/>
                </a:lnTo>
                <a:lnTo>
                  <a:pt x="2138082" y="959987"/>
                </a:lnTo>
                <a:lnTo>
                  <a:pt x="2166590" y="949663"/>
                </a:lnTo>
                <a:lnTo>
                  <a:pt x="2195098" y="938479"/>
                </a:lnTo>
                <a:lnTo>
                  <a:pt x="2223606" y="926673"/>
                </a:lnTo>
                <a:lnTo>
                  <a:pt x="2252113" y="914474"/>
                </a:lnTo>
                <a:lnTo>
                  <a:pt x="2280621" y="902097"/>
                </a:lnTo>
                <a:lnTo>
                  <a:pt x="2309129" y="889747"/>
                </a:lnTo>
                <a:lnTo>
                  <a:pt x="2337637" y="877613"/>
                </a:lnTo>
                <a:lnTo>
                  <a:pt x="2366144" y="865873"/>
                </a:lnTo>
                <a:lnTo>
                  <a:pt x="2394652" y="854689"/>
                </a:lnTo>
                <a:lnTo>
                  <a:pt x="2423160" y="844209"/>
                </a:lnTo>
                <a:lnTo>
                  <a:pt x="2451668" y="834568"/>
                </a:lnTo>
                <a:lnTo>
                  <a:pt x="2480176" y="825886"/>
                </a:lnTo>
                <a:lnTo>
                  <a:pt x="2508683" y="818267"/>
                </a:lnTo>
                <a:lnTo>
                  <a:pt x="2537191" y="811804"/>
                </a:lnTo>
                <a:lnTo>
                  <a:pt x="2565699" y="806573"/>
                </a:lnTo>
                <a:lnTo>
                  <a:pt x="2594207" y="802640"/>
                </a:lnTo>
                <a:lnTo>
                  <a:pt x="2622714" y="800054"/>
                </a:lnTo>
                <a:lnTo>
                  <a:pt x="2651222" y="798852"/>
                </a:lnTo>
                <a:lnTo>
                  <a:pt x="2679730" y="799059"/>
                </a:lnTo>
                <a:lnTo>
                  <a:pt x="2708238" y="800687"/>
                </a:lnTo>
                <a:lnTo>
                  <a:pt x="2736745" y="803736"/>
                </a:lnTo>
                <a:lnTo>
                  <a:pt x="2765253" y="808195"/>
                </a:lnTo>
                <a:lnTo>
                  <a:pt x="2793761" y="814040"/>
                </a:lnTo>
                <a:lnTo>
                  <a:pt x="2822269" y="821240"/>
                </a:lnTo>
                <a:lnTo>
                  <a:pt x="2850776" y="829751"/>
                </a:lnTo>
                <a:lnTo>
                  <a:pt x="2879284" y="839522"/>
                </a:lnTo>
                <a:lnTo>
                  <a:pt x="2907792" y="850493"/>
                </a:lnTo>
                <a:lnTo>
                  <a:pt x="2936300" y="862597"/>
                </a:lnTo>
                <a:lnTo>
                  <a:pt x="2964808" y="875760"/>
                </a:lnTo>
                <a:lnTo>
                  <a:pt x="2993315" y="889902"/>
                </a:lnTo>
                <a:lnTo>
                  <a:pt x="3021823" y="904939"/>
                </a:lnTo>
                <a:lnTo>
                  <a:pt x="3050331" y="920782"/>
                </a:lnTo>
                <a:lnTo>
                  <a:pt x="3078839" y="937339"/>
                </a:lnTo>
                <a:lnTo>
                  <a:pt x="3107346" y="954517"/>
                </a:lnTo>
                <a:lnTo>
                  <a:pt x="3135854" y="972222"/>
                </a:lnTo>
                <a:lnTo>
                  <a:pt x="3164362" y="990357"/>
                </a:lnTo>
                <a:lnTo>
                  <a:pt x="3192870" y="1008830"/>
                </a:lnTo>
                <a:lnTo>
                  <a:pt x="3221377" y="1027545"/>
                </a:lnTo>
                <a:lnTo>
                  <a:pt x="3249885" y="1046413"/>
                </a:lnTo>
                <a:lnTo>
                  <a:pt x="3278393" y="1065345"/>
                </a:lnTo>
                <a:lnTo>
                  <a:pt x="3306901" y="1084256"/>
                </a:lnTo>
                <a:lnTo>
                  <a:pt x="3335408" y="1103066"/>
                </a:lnTo>
                <a:lnTo>
                  <a:pt x="3363916" y="1121699"/>
                </a:lnTo>
                <a:lnTo>
                  <a:pt x="3392424" y="1140083"/>
                </a:lnTo>
                <a:lnTo>
                  <a:pt x="3420932" y="1158153"/>
                </a:lnTo>
                <a:lnTo>
                  <a:pt x="3449440" y="1175849"/>
                </a:lnTo>
                <a:lnTo>
                  <a:pt x="3477947" y="1193116"/>
                </a:lnTo>
                <a:lnTo>
                  <a:pt x="3506455" y="1209906"/>
                </a:lnTo>
                <a:lnTo>
                  <a:pt x="3534963" y="1226177"/>
                </a:lnTo>
                <a:lnTo>
                  <a:pt x="3563471" y="1241892"/>
                </a:lnTo>
                <a:lnTo>
                  <a:pt x="3591978" y="1257021"/>
                </a:lnTo>
                <a:lnTo>
                  <a:pt x="3620486" y="1271540"/>
                </a:lnTo>
                <a:lnTo>
                  <a:pt x="3648994" y="1285429"/>
                </a:lnTo>
                <a:lnTo>
                  <a:pt x="3677502" y="1298676"/>
                </a:lnTo>
                <a:lnTo>
                  <a:pt x="3706009" y="1311271"/>
                </a:lnTo>
                <a:lnTo>
                  <a:pt x="3734517" y="1323210"/>
                </a:lnTo>
                <a:lnTo>
                  <a:pt x="3763025" y="1334496"/>
                </a:lnTo>
                <a:lnTo>
                  <a:pt x="3791533" y="1345132"/>
                </a:lnTo>
                <a:lnTo>
                  <a:pt x="3820040" y="1355127"/>
                </a:lnTo>
                <a:lnTo>
                  <a:pt x="3848548" y="1364494"/>
                </a:lnTo>
                <a:lnTo>
                  <a:pt x="3877056" y="1373246"/>
                </a:lnTo>
                <a:lnTo>
                  <a:pt x="3905564" y="1381402"/>
                </a:lnTo>
                <a:lnTo>
                  <a:pt x="3934072" y="1388982"/>
                </a:lnTo>
                <a:lnTo>
                  <a:pt x="3962579" y="1396006"/>
                </a:lnTo>
                <a:lnTo>
                  <a:pt x="3991087" y="1402498"/>
                </a:lnTo>
                <a:lnTo>
                  <a:pt x="4019595" y="1408483"/>
                </a:lnTo>
                <a:lnTo>
                  <a:pt x="4048103" y="1413985"/>
                </a:lnTo>
                <a:lnTo>
                  <a:pt x="4076610" y="1419029"/>
                </a:lnTo>
                <a:lnTo>
                  <a:pt x="4105118" y="1423642"/>
                </a:lnTo>
                <a:lnTo>
                  <a:pt x="4133626" y="1427850"/>
                </a:lnTo>
                <a:lnTo>
                  <a:pt x="4162134" y="1431677"/>
                </a:lnTo>
                <a:lnTo>
                  <a:pt x="4190641" y="1435151"/>
                </a:lnTo>
                <a:lnTo>
                  <a:pt x="4219149" y="1438294"/>
                </a:lnTo>
                <a:lnTo>
                  <a:pt x="4247657" y="1441132"/>
                </a:lnTo>
                <a:lnTo>
                  <a:pt x="4276165" y="1443687"/>
                </a:lnTo>
                <a:lnTo>
                  <a:pt x="4304672" y="1445982"/>
                </a:lnTo>
                <a:lnTo>
                  <a:pt x="4333180" y="1448038"/>
                </a:lnTo>
                <a:lnTo>
                  <a:pt x="4361688" y="1449876"/>
                </a:lnTo>
                <a:lnTo>
                  <a:pt x="4390196" y="1451514"/>
                </a:lnTo>
                <a:lnTo>
                  <a:pt x="4418704" y="1452970"/>
                </a:lnTo>
                <a:lnTo>
                  <a:pt x="4447211" y="1454262"/>
                </a:lnTo>
                <a:lnTo>
                  <a:pt x="4475719" y="1455405"/>
                </a:lnTo>
                <a:lnTo>
                  <a:pt x="4504227" y="1456414"/>
                </a:lnTo>
                <a:lnTo>
                  <a:pt x="4532735" y="1457302"/>
                </a:lnTo>
                <a:lnTo>
                  <a:pt x="4561242" y="1458082"/>
                </a:lnTo>
                <a:lnTo>
                  <a:pt x="4589750" y="1458766"/>
                </a:lnTo>
                <a:lnTo>
                  <a:pt x="4618258" y="1459364"/>
                </a:lnTo>
                <a:lnTo>
                  <a:pt x="4646766" y="1459885"/>
                </a:lnTo>
                <a:lnTo>
                  <a:pt x="4675273" y="1460338"/>
                </a:lnTo>
                <a:lnTo>
                  <a:pt x="4703781" y="1460731"/>
                </a:lnTo>
                <a:lnTo>
                  <a:pt x="4732289" y="1461071"/>
                </a:lnTo>
                <a:lnTo>
                  <a:pt x="4760797" y="1461365"/>
                </a:lnTo>
                <a:lnTo>
                  <a:pt x="4789304" y="1461618"/>
                </a:lnTo>
                <a:lnTo>
                  <a:pt x="4817812" y="1461836"/>
                </a:lnTo>
                <a:lnTo>
                  <a:pt x="4846320" y="1462022"/>
                </a:lnTo>
              </a:path>
            </a:pathLst>
          </a:custGeom>
          <a:noFill/>
          <a:ln w="38100">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9" name="Connector 18"/>
          <p:cNvCxnSpPr/>
          <p:nvPr/>
        </p:nvCxnSpPr>
        <p:spPr>
          <a:xfrm>
            <a:off x="813271" y="3833840"/>
            <a:ext cx="484632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252750" y="1940080"/>
            <a:ext cx="5486400" cy="369332"/>
          </a:xfrm>
          <a:prstGeom prst="rect">
            <a:avLst/>
          </a:prstGeom>
          <a:noFill/>
        </p:spPr>
        <p:txBody>
          <a:bodyPr wrap="square" lIns="0" tIns="0" rIns="0" bIns="0" anchor="t">
            <a:spAutoFit/>
          </a:bodyPr>
          <a:lstStyle/>
          <a:p>
            <a:pPr algn="l"/>
            <a:r>
              <a:rPr sz="2400" b="1" dirty="0">
                <a:solidFill>
                  <a:srgbClr val="262626"/>
                </a:solidFill>
                <a:latin typeface="Meiryo"/>
                <a:ea typeface="Meiryo"/>
                <a:cs typeface="Meiryo"/>
              </a:rPr>
              <a:t> </a:t>
            </a:r>
            <a:r>
              <a:rPr sz="2400" b="1" dirty="0" err="1">
                <a:solidFill>
                  <a:srgbClr val="262626"/>
                </a:solidFill>
                <a:latin typeface="Meiryo"/>
                <a:ea typeface="Meiryo"/>
                <a:cs typeface="Meiryo"/>
              </a:rPr>
              <a:t>成分波</a:t>
            </a:r>
            <a:r>
              <a:rPr lang="ja-JP" altLang="en-US" sz="2400" b="1">
                <a:solidFill>
                  <a:srgbClr val="262626"/>
                </a:solidFill>
                <a:latin typeface="Meiryo"/>
                <a:ea typeface="Meiryo"/>
                <a:cs typeface="Meiryo"/>
              </a:rPr>
              <a:t>に分解する（推測）</a:t>
            </a:r>
            <a:endParaRPr sz="2400" b="1" dirty="0">
              <a:solidFill>
                <a:srgbClr val="262626"/>
              </a:solidFill>
              <a:latin typeface="Meiryo"/>
              <a:ea typeface="Meiryo"/>
              <a:cs typeface="Meiryo"/>
            </a:endParaRPr>
          </a:p>
        </p:txBody>
      </p:sp>
      <p:sp>
        <p:nvSpPr>
          <p:cNvPr id="4" name="Freeform 3"/>
          <p:cNvSpPr/>
          <p:nvPr/>
        </p:nvSpPr>
        <p:spPr>
          <a:xfrm>
            <a:off x="6298470" y="2399547"/>
            <a:ext cx="4846320" cy="1396765"/>
          </a:xfrm>
          <a:custGeom>
            <a:avLst/>
            <a:gdLst/>
            <a:ahLst/>
            <a:cxnLst/>
            <a:rect l="l" t="t" r="r" b="b"/>
            <a:pathLst>
              <a:path w="4846320" h="1396765">
                <a:moveTo>
                  <a:pt x="0" y="1347716"/>
                </a:moveTo>
                <a:lnTo>
                  <a:pt x="28508" y="1338235"/>
                </a:lnTo>
                <a:lnTo>
                  <a:pt x="57016" y="1327255"/>
                </a:lnTo>
                <a:lnTo>
                  <a:pt x="85523" y="1314609"/>
                </a:lnTo>
                <a:lnTo>
                  <a:pt x="114031" y="1300127"/>
                </a:lnTo>
                <a:lnTo>
                  <a:pt x="142539" y="1283635"/>
                </a:lnTo>
                <a:lnTo>
                  <a:pt x="171047" y="1264962"/>
                </a:lnTo>
                <a:lnTo>
                  <a:pt x="199554" y="1243939"/>
                </a:lnTo>
                <a:lnTo>
                  <a:pt x="228062" y="1220411"/>
                </a:lnTo>
                <a:lnTo>
                  <a:pt x="256570" y="1194232"/>
                </a:lnTo>
                <a:lnTo>
                  <a:pt x="285078" y="1165278"/>
                </a:lnTo>
                <a:lnTo>
                  <a:pt x="313585" y="1133450"/>
                </a:lnTo>
                <a:lnTo>
                  <a:pt x="342093" y="1098676"/>
                </a:lnTo>
                <a:lnTo>
                  <a:pt x="370601" y="1060922"/>
                </a:lnTo>
                <a:lnTo>
                  <a:pt x="399109" y="1020194"/>
                </a:lnTo>
                <a:lnTo>
                  <a:pt x="427616" y="976545"/>
                </a:lnTo>
                <a:lnTo>
                  <a:pt x="456124" y="930076"/>
                </a:lnTo>
                <a:lnTo>
                  <a:pt x="484632" y="880945"/>
                </a:lnTo>
                <a:lnTo>
                  <a:pt x="513140" y="829366"/>
                </a:lnTo>
                <a:lnTo>
                  <a:pt x="541648" y="775611"/>
                </a:lnTo>
                <a:lnTo>
                  <a:pt x="570155" y="720012"/>
                </a:lnTo>
                <a:lnTo>
                  <a:pt x="598663" y="662960"/>
                </a:lnTo>
                <a:lnTo>
                  <a:pt x="627171" y="604899"/>
                </a:lnTo>
                <a:lnTo>
                  <a:pt x="655679" y="546327"/>
                </a:lnTo>
                <a:lnTo>
                  <a:pt x="684186" y="487786"/>
                </a:lnTo>
                <a:lnTo>
                  <a:pt x="712694" y="429858"/>
                </a:lnTo>
                <a:lnTo>
                  <a:pt x="741202" y="373152"/>
                </a:lnTo>
                <a:lnTo>
                  <a:pt x="769710" y="318297"/>
                </a:lnTo>
                <a:lnTo>
                  <a:pt x="798217" y="265932"/>
                </a:lnTo>
                <a:lnTo>
                  <a:pt x="826725" y="216689"/>
                </a:lnTo>
                <a:lnTo>
                  <a:pt x="855233" y="171186"/>
                </a:lnTo>
                <a:lnTo>
                  <a:pt x="883741" y="130009"/>
                </a:lnTo>
                <a:lnTo>
                  <a:pt x="912248" y="93705"/>
                </a:lnTo>
                <a:lnTo>
                  <a:pt x="940756" y="62764"/>
                </a:lnTo>
                <a:lnTo>
                  <a:pt x="969264" y="37614"/>
                </a:lnTo>
                <a:lnTo>
                  <a:pt x="997772" y="18605"/>
                </a:lnTo>
                <a:lnTo>
                  <a:pt x="1026280" y="6007"/>
                </a:lnTo>
                <a:lnTo>
                  <a:pt x="1054787" y="0"/>
                </a:lnTo>
                <a:lnTo>
                  <a:pt x="1083295" y="669"/>
                </a:lnTo>
                <a:lnTo>
                  <a:pt x="1111803" y="8004"/>
                </a:lnTo>
                <a:lnTo>
                  <a:pt x="1140311" y="21901"/>
                </a:lnTo>
                <a:lnTo>
                  <a:pt x="1168818" y="42163"/>
                </a:lnTo>
                <a:lnTo>
                  <a:pt x="1197326" y="68502"/>
                </a:lnTo>
                <a:lnTo>
                  <a:pt x="1225834" y="100552"/>
                </a:lnTo>
                <a:lnTo>
                  <a:pt x="1254342" y="137872"/>
                </a:lnTo>
                <a:lnTo>
                  <a:pt x="1282849" y="179959"/>
                </a:lnTo>
                <a:lnTo>
                  <a:pt x="1311357" y="226258"/>
                </a:lnTo>
                <a:lnTo>
                  <a:pt x="1339865" y="276175"/>
                </a:lnTo>
                <a:lnTo>
                  <a:pt x="1368373" y="329089"/>
                </a:lnTo>
                <a:lnTo>
                  <a:pt x="1396880" y="384365"/>
                </a:lnTo>
                <a:lnTo>
                  <a:pt x="1425388" y="441366"/>
                </a:lnTo>
                <a:lnTo>
                  <a:pt x="1453896" y="499464"/>
                </a:lnTo>
                <a:lnTo>
                  <a:pt x="1482404" y="558057"/>
                </a:lnTo>
                <a:lnTo>
                  <a:pt x="1510912" y="616569"/>
                </a:lnTo>
                <a:lnTo>
                  <a:pt x="1539419" y="674466"/>
                </a:lnTo>
                <a:lnTo>
                  <a:pt x="1567927" y="731262"/>
                </a:lnTo>
                <a:lnTo>
                  <a:pt x="1596435" y="786521"/>
                </a:lnTo>
                <a:lnTo>
                  <a:pt x="1624943" y="839865"/>
                </a:lnTo>
                <a:lnTo>
                  <a:pt x="1653450" y="890975"/>
                </a:lnTo>
                <a:lnTo>
                  <a:pt x="1681958" y="939589"/>
                </a:lnTo>
                <a:lnTo>
                  <a:pt x="1710466" y="985504"/>
                </a:lnTo>
                <a:lnTo>
                  <a:pt x="1738974" y="1028576"/>
                </a:lnTo>
                <a:lnTo>
                  <a:pt x="1767481" y="1068711"/>
                </a:lnTo>
                <a:lnTo>
                  <a:pt x="1795989" y="1105868"/>
                </a:lnTo>
                <a:lnTo>
                  <a:pt x="1824497" y="1140049"/>
                </a:lnTo>
                <a:lnTo>
                  <a:pt x="1853005" y="1171296"/>
                </a:lnTo>
                <a:lnTo>
                  <a:pt x="1881512" y="1199686"/>
                </a:lnTo>
                <a:lnTo>
                  <a:pt x="1910020" y="1225324"/>
                </a:lnTo>
                <a:lnTo>
                  <a:pt x="1938528" y="1248340"/>
                </a:lnTo>
                <a:lnTo>
                  <a:pt x="1967036" y="1268879"/>
                </a:lnTo>
                <a:lnTo>
                  <a:pt x="1995544" y="1287103"/>
                </a:lnTo>
                <a:lnTo>
                  <a:pt x="2024051" y="1303179"/>
                </a:lnTo>
                <a:lnTo>
                  <a:pt x="2052559" y="1317280"/>
                </a:lnTo>
                <a:lnTo>
                  <a:pt x="2081067" y="1329579"/>
                </a:lnTo>
                <a:lnTo>
                  <a:pt x="2109575" y="1340246"/>
                </a:lnTo>
                <a:lnTo>
                  <a:pt x="2138082" y="1349447"/>
                </a:lnTo>
                <a:lnTo>
                  <a:pt x="2166590" y="1357339"/>
                </a:lnTo>
                <a:lnTo>
                  <a:pt x="2195098" y="1364072"/>
                </a:lnTo>
                <a:lnTo>
                  <a:pt x="2223606" y="1369784"/>
                </a:lnTo>
                <a:lnTo>
                  <a:pt x="2252113" y="1374605"/>
                </a:lnTo>
                <a:lnTo>
                  <a:pt x="2280621" y="1378651"/>
                </a:lnTo>
                <a:lnTo>
                  <a:pt x="2309129" y="1382030"/>
                </a:lnTo>
                <a:lnTo>
                  <a:pt x="2337637" y="1384835"/>
                </a:lnTo>
                <a:lnTo>
                  <a:pt x="2366144" y="1387153"/>
                </a:lnTo>
                <a:lnTo>
                  <a:pt x="2394652" y="1389057"/>
                </a:lnTo>
                <a:lnTo>
                  <a:pt x="2423160" y="1390614"/>
                </a:lnTo>
                <a:lnTo>
                  <a:pt x="2451668" y="1391879"/>
                </a:lnTo>
                <a:lnTo>
                  <a:pt x="2480176" y="1392903"/>
                </a:lnTo>
                <a:lnTo>
                  <a:pt x="2508683" y="1393727"/>
                </a:lnTo>
                <a:lnTo>
                  <a:pt x="2537191" y="1394386"/>
                </a:lnTo>
                <a:lnTo>
                  <a:pt x="2565699" y="1394912"/>
                </a:lnTo>
                <a:lnTo>
                  <a:pt x="2594207" y="1395328"/>
                </a:lnTo>
                <a:lnTo>
                  <a:pt x="2622714" y="1395656"/>
                </a:lnTo>
                <a:lnTo>
                  <a:pt x="2651222" y="1395913"/>
                </a:lnTo>
                <a:lnTo>
                  <a:pt x="2679730" y="1396114"/>
                </a:lnTo>
                <a:lnTo>
                  <a:pt x="2708238" y="1396270"/>
                </a:lnTo>
                <a:lnTo>
                  <a:pt x="2736745" y="1396390"/>
                </a:lnTo>
                <a:lnTo>
                  <a:pt x="2765253" y="1396482"/>
                </a:lnTo>
                <a:lnTo>
                  <a:pt x="2793761" y="1396553"/>
                </a:lnTo>
                <a:lnTo>
                  <a:pt x="2822269" y="1396607"/>
                </a:lnTo>
                <a:lnTo>
                  <a:pt x="2850776" y="1396648"/>
                </a:lnTo>
                <a:lnTo>
                  <a:pt x="2879284" y="1396678"/>
                </a:lnTo>
                <a:lnTo>
                  <a:pt x="2907792" y="1396701"/>
                </a:lnTo>
                <a:lnTo>
                  <a:pt x="2936300" y="1396718"/>
                </a:lnTo>
                <a:lnTo>
                  <a:pt x="2964808" y="1396731"/>
                </a:lnTo>
                <a:lnTo>
                  <a:pt x="2993315" y="1396740"/>
                </a:lnTo>
                <a:lnTo>
                  <a:pt x="3021823" y="1396747"/>
                </a:lnTo>
                <a:lnTo>
                  <a:pt x="3050331" y="1396752"/>
                </a:lnTo>
                <a:lnTo>
                  <a:pt x="3078839" y="1396756"/>
                </a:lnTo>
                <a:lnTo>
                  <a:pt x="3107346" y="1396758"/>
                </a:lnTo>
                <a:lnTo>
                  <a:pt x="3135854" y="1396760"/>
                </a:lnTo>
                <a:lnTo>
                  <a:pt x="3164362" y="1396762"/>
                </a:lnTo>
                <a:lnTo>
                  <a:pt x="3192870" y="1396763"/>
                </a:lnTo>
                <a:lnTo>
                  <a:pt x="3221377" y="1396763"/>
                </a:lnTo>
                <a:lnTo>
                  <a:pt x="3249885" y="1396764"/>
                </a:lnTo>
                <a:lnTo>
                  <a:pt x="3278393" y="1396764"/>
                </a:lnTo>
                <a:lnTo>
                  <a:pt x="3306901" y="1396764"/>
                </a:lnTo>
                <a:lnTo>
                  <a:pt x="3335408" y="1396765"/>
                </a:lnTo>
                <a:lnTo>
                  <a:pt x="3363916" y="1396765"/>
                </a:lnTo>
                <a:lnTo>
                  <a:pt x="3392424" y="1396765"/>
                </a:lnTo>
                <a:lnTo>
                  <a:pt x="3420932" y="1396765"/>
                </a:lnTo>
                <a:lnTo>
                  <a:pt x="3449440" y="1396765"/>
                </a:lnTo>
                <a:lnTo>
                  <a:pt x="3477947" y="1396765"/>
                </a:lnTo>
                <a:lnTo>
                  <a:pt x="3506455" y="1396765"/>
                </a:lnTo>
                <a:lnTo>
                  <a:pt x="3534963" y="1396765"/>
                </a:lnTo>
                <a:lnTo>
                  <a:pt x="3563471" y="1396765"/>
                </a:lnTo>
                <a:lnTo>
                  <a:pt x="3591978" y="1396765"/>
                </a:lnTo>
                <a:lnTo>
                  <a:pt x="3620486" y="1396765"/>
                </a:lnTo>
                <a:lnTo>
                  <a:pt x="3648994" y="1396765"/>
                </a:lnTo>
                <a:lnTo>
                  <a:pt x="3677502" y="1396765"/>
                </a:lnTo>
                <a:lnTo>
                  <a:pt x="3706009" y="1396765"/>
                </a:lnTo>
                <a:lnTo>
                  <a:pt x="3734517" y="1396765"/>
                </a:lnTo>
                <a:lnTo>
                  <a:pt x="3763025" y="1396765"/>
                </a:lnTo>
                <a:lnTo>
                  <a:pt x="3791533" y="1396765"/>
                </a:lnTo>
                <a:lnTo>
                  <a:pt x="3820040" y="1396765"/>
                </a:lnTo>
                <a:lnTo>
                  <a:pt x="3848548" y="1396765"/>
                </a:lnTo>
                <a:lnTo>
                  <a:pt x="3877056" y="1396765"/>
                </a:lnTo>
                <a:lnTo>
                  <a:pt x="3905564" y="1396765"/>
                </a:lnTo>
                <a:lnTo>
                  <a:pt x="3934072" y="1396765"/>
                </a:lnTo>
                <a:lnTo>
                  <a:pt x="3962579" y="1396765"/>
                </a:lnTo>
                <a:lnTo>
                  <a:pt x="3991087" y="1396765"/>
                </a:lnTo>
                <a:lnTo>
                  <a:pt x="4019595" y="1396765"/>
                </a:lnTo>
                <a:lnTo>
                  <a:pt x="4048103" y="1396765"/>
                </a:lnTo>
                <a:lnTo>
                  <a:pt x="4076610" y="1396765"/>
                </a:lnTo>
                <a:lnTo>
                  <a:pt x="4105118" y="1396765"/>
                </a:lnTo>
                <a:lnTo>
                  <a:pt x="4133626" y="1396765"/>
                </a:lnTo>
                <a:lnTo>
                  <a:pt x="4162134" y="1396765"/>
                </a:lnTo>
                <a:lnTo>
                  <a:pt x="4190641" y="1396765"/>
                </a:lnTo>
                <a:lnTo>
                  <a:pt x="4219149" y="1396765"/>
                </a:lnTo>
                <a:lnTo>
                  <a:pt x="4247657" y="1396765"/>
                </a:lnTo>
                <a:lnTo>
                  <a:pt x="4276165" y="1396765"/>
                </a:lnTo>
                <a:lnTo>
                  <a:pt x="4304672" y="1396765"/>
                </a:lnTo>
                <a:lnTo>
                  <a:pt x="4333180" y="1396765"/>
                </a:lnTo>
                <a:lnTo>
                  <a:pt x="4361688" y="1396765"/>
                </a:lnTo>
                <a:lnTo>
                  <a:pt x="4390196" y="1396765"/>
                </a:lnTo>
                <a:lnTo>
                  <a:pt x="4418704" y="1396765"/>
                </a:lnTo>
                <a:lnTo>
                  <a:pt x="4447211" y="1396765"/>
                </a:lnTo>
                <a:lnTo>
                  <a:pt x="4475719" y="1396765"/>
                </a:lnTo>
                <a:lnTo>
                  <a:pt x="4504227" y="1396765"/>
                </a:lnTo>
                <a:lnTo>
                  <a:pt x="4532735" y="1396765"/>
                </a:lnTo>
                <a:lnTo>
                  <a:pt x="4561242" y="1396765"/>
                </a:lnTo>
                <a:lnTo>
                  <a:pt x="4589750" y="1396765"/>
                </a:lnTo>
                <a:lnTo>
                  <a:pt x="4618258" y="1396765"/>
                </a:lnTo>
                <a:lnTo>
                  <a:pt x="4646766" y="1396765"/>
                </a:lnTo>
                <a:lnTo>
                  <a:pt x="4675273" y="1396765"/>
                </a:lnTo>
                <a:lnTo>
                  <a:pt x="4703781" y="1396765"/>
                </a:lnTo>
                <a:lnTo>
                  <a:pt x="4732289" y="1396765"/>
                </a:lnTo>
                <a:lnTo>
                  <a:pt x="4760797" y="1396765"/>
                </a:lnTo>
                <a:lnTo>
                  <a:pt x="4789304" y="1396765"/>
                </a:lnTo>
                <a:lnTo>
                  <a:pt x="4817812" y="1396765"/>
                </a:lnTo>
                <a:lnTo>
                  <a:pt x="4846320" y="1396765"/>
                </a:lnTo>
              </a:path>
            </a:pathLst>
          </a:custGeom>
          <a:noFill/>
          <a:ln w="31750">
            <a:solidFill>
              <a:srgbClr val="0072B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Freeform 4"/>
          <p:cNvSpPr/>
          <p:nvPr/>
        </p:nvSpPr>
        <p:spPr>
          <a:xfrm>
            <a:off x="6298470" y="3153732"/>
            <a:ext cx="4846320" cy="642540"/>
          </a:xfrm>
          <a:custGeom>
            <a:avLst/>
            <a:gdLst/>
            <a:ahLst/>
            <a:cxnLst/>
            <a:rect l="l" t="t" r="r" b="b"/>
            <a:pathLst>
              <a:path w="4846320" h="642540">
                <a:moveTo>
                  <a:pt x="0" y="642540"/>
                </a:moveTo>
                <a:lnTo>
                  <a:pt x="28508" y="642531"/>
                </a:lnTo>
                <a:lnTo>
                  <a:pt x="57016" y="642519"/>
                </a:lnTo>
                <a:lnTo>
                  <a:pt x="85523" y="642506"/>
                </a:lnTo>
                <a:lnTo>
                  <a:pt x="114031" y="642490"/>
                </a:lnTo>
                <a:lnTo>
                  <a:pt x="142539" y="642470"/>
                </a:lnTo>
                <a:lnTo>
                  <a:pt x="171047" y="642446"/>
                </a:lnTo>
                <a:lnTo>
                  <a:pt x="199554" y="642418"/>
                </a:lnTo>
                <a:lnTo>
                  <a:pt x="228062" y="642384"/>
                </a:lnTo>
                <a:lnTo>
                  <a:pt x="256570" y="642343"/>
                </a:lnTo>
                <a:lnTo>
                  <a:pt x="285078" y="642295"/>
                </a:lnTo>
                <a:lnTo>
                  <a:pt x="313585" y="642237"/>
                </a:lnTo>
                <a:lnTo>
                  <a:pt x="342093" y="642169"/>
                </a:lnTo>
                <a:lnTo>
                  <a:pt x="370601" y="642088"/>
                </a:lnTo>
                <a:lnTo>
                  <a:pt x="399109" y="641993"/>
                </a:lnTo>
                <a:lnTo>
                  <a:pt x="427616" y="641881"/>
                </a:lnTo>
                <a:lnTo>
                  <a:pt x="456124" y="641749"/>
                </a:lnTo>
                <a:lnTo>
                  <a:pt x="484632" y="641594"/>
                </a:lnTo>
                <a:lnTo>
                  <a:pt x="513140" y="641413"/>
                </a:lnTo>
                <a:lnTo>
                  <a:pt x="541648" y="641203"/>
                </a:lnTo>
                <a:lnTo>
                  <a:pt x="570155" y="640957"/>
                </a:lnTo>
                <a:lnTo>
                  <a:pt x="598663" y="640673"/>
                </a:lnTo>
                <a:lnTo>
                  <a:pt x="627171" y="640343"/>
                </a:lnTo>
                <a:lnTo>
                  <a:pt x="655679" y="639962"/>
                </a:lnTo>
                <a:lnTo>
                  <a:pt x="684186" y="639523"/>
                </a:lnTo>
                <a:lnTo>
                  <a:pt x="712694" y="639018"/>
                </a:lnTo>
                <a:lnTo>
                  <a:pt x="741202" y="638440"/>
                </a:lnTo>
                <a:lnTo>
                  <a:pt x="769710" y="637777"/>
                </a:lnTo>
                <a:lnTo>
                  <a:pt x="798217" y="637022"/>
                </a:lnTo>
                <a:lnTo>
                  <a:pt x="826725" y="636161"/>
                </a:lnTo>
                <a:lnTo>
                  <a:pt x="855233" y="635184"/>
                </a:lnTo>
                <a:lnTo>
                  <a:pt x="883741" y="634076"/>
                </a:lnTo>
                <a:lnTo>
                  <a:pt x="912248" y="632825"/>
                </a:lnTo>
                <a:lnTo>
                  <a:pt x="940756" y="631414"/>
                </a:lnTo>
                <a:lnTo>
                  <a:pt x="969264" y="629827"/>
                </a:lnTo>
                <a:lnTo>
                  <a:pt x="997772" y="628047"/>
                </a:lnTo>
                <a:lnTo>
                  <a:pt x="1026280" y="626055"/>
                </a:lnTo>
                <a:lnTo>
                  <a:pt x="1054787" y="623832"/>
                </a:lnTo>
                <a:lnTo>
                  <a:pt x="1083295" y="621356"/>
                </a:lnTo>
                <a:lnTo>
                  <a:pt x="1111803" y="618607"/>
                </a:lnTo>
                <a:lnTo>
                  <a:pt x="1140311" y="615562"/>
                </a:lnTo>
                <a:lnTo>
                  <a:pt x="1168818" y="612198"/>
                </a:lnTo>
                <a:lnTo>
                  <a:pt x="1197326" y="608489"/>
                </a:lnTo>
                <a:lnTo>
                  <a:pt x="1225834" y="604413"/>
                </a:lnTo>
                <a:lnTo>
                  <a:pt x="1254342" y="599944"/>
                </a:lnTo>
                <a:lnTo>
                  <a:pt x="1282849" y="595058"/>
                </a:lnTo>
                <a:lnTo>
                  <a:pt x="1311357" y="589728"/>
                </a:lnTo>
                <a:lnTo>
                  <a:pt x="1339865" y="583930"/>
                </a:lnTo>
                <a:lnTo>
                  <a:pt x="1368373" y="577641"/>
                </a:lnTo>
                <a:lnTo>
                  <a:pt x="1396880" y="570836"/>
                </a:lnTo>
                <a:lnTo>
                  <a:pt x="1425388" y="563493"/>
                </a:lnTo>
                <a:lnTo>
                  <a:pt x="1453896" y="555592"/>
                </a:lnTo>
                <a:lnTo>
                  <a:pt x="1482404" y="547113"/>
                </a:lnTo>
                <a:lnTo>
                  <a:pt x="1510912" y="538039"/>
                </a:lnTo>
                <a:lnTo>
                  <a:pt x="1539419" y="528357"/>
                </a:lnTo>
                <a:lnTo>
                  <a:pt x="1567927" y="518053"/>
                </a:lnTo>
                <a:lnTo>
                  <a:pt x="1596435" y="507120"/>
                </a:lnTo>
                <a:lnTo>
                  <a:pt x="1624943" y="495553"/>
                </a:lnTo>
                <a:lnTo>
                  <a:pt x="1653450" y="483352"/>
                </a:lnTo>
                <a:lnTo>
                  <a:pt x="1681958" y="470520"/>
                </a:lnTo>
                <a:lnTo>
                  <a:pt x="1710466" y="457064"/>
                </a:lnTo>
                <a:lnTo>
                  <a:pt x="1738974" y="442999"/>
                </a:lnTo>
                <a:lnTo>
                  <a:pt x="1767481" y="428343"/>
                </a:lnTo>
                <a:lnTo>
                  <a:pt x="1795989" y="413119"/>
                </a:lnTo>
                <a:lnTo>
                  <a:pt x="1824497" y="397357"/>
                </a:lnTo>
                <a:lnTo>
                  <a:pt x="1853005" y="381091"/>
                </a:lnTo>
                <a:lnTo>
                  <a:pt x="1881512" y="364364"/>
                </a:lnTo>
                <a:lnTo>
                  <a:pt x="1910020" y="347221"/>
                </a:lnTo>
                <a:lnTo>
                  <a:pt x="1938528" y="329716"/>
                </a:lnTo>
                <a:lnTo>
                  <a:pt x="1967036" y="311906"/>
                </a:lnTo>
                <a:lnTo>
                  <a:pt x="1995544" y="293856"/>
                </a:lnTo>
                <a:lnTo>
                  <a:pt x="2024051" y="275634"/>
                </a:lnTo>
                <a:lnTo>
                  <a:pt x="2052559" y="257314"/>
                </a:lnTo>
                <a:lnTo>
                  <a:pt x="2081067" y="238974"/>
                </a:lnTo>
                <a:lnTo>
                  <a:pt x="2109575" y="220696"/>
                </a:lnTo>
                <a:lnTo>
                  <a:pt x="2138082" y="202566"/>
                </a:lnTo>
                <a:lnTo>
                  <a:pt x="2166590" y="184672"/>
                </a:lnTo>
                <a:lnTo>
                  <a:pt x="2195098" y="167104"/>
                </a:lnTo>
                <a:lnTo>
                  <a:pt x="2223606" y="149955"/>
                </a:lnTo>
                <a:lnTo>
                  <a:pt x="2252113" y="133316"/>
                </a:lnTo>
                <a:lnTo>
                  <a:pt x="2280621" y="117280"/>
                </a:lnTo>
                <a:lnTo>
                  <a:pt x="2309129" y="101937"/>
                </a:lnTo>
                <a:lnTo>
                  <a:pt x="2337637" y="87378"/>
                </a:lnTo>
                <a:lnTo>
                  <a:pt x="2366144" y="73687"/>
                </a:lnTo>
                <a:lnTo>
                  <a:pt x="2394652" y="60948"/>
                </a:lnTo>
                <a:lnTo>
                  <a:pt x="2423160" y="49239"/>
                </a:lnTo>
                <a:lnTo>
                  <a:pt x="2451668" y="38634"/>
                </a:lnTo>
                <a:lnTo>
                  <a:pt x="2480176" y="29199"/>
                </a:lnTo>
                <a:lnTo>
                  <a:pt x="2508683" y="20994"/>
                </a:lnTo>
                <a:lnTo>
                  <a:pt x="2537191" y="14073"/>
                </a:lnTo>
                <a:lnTo>
                  <a:pt x="2565699" y="8481"/>
                </a:lnTo>
                <a:lnTo>
                  <a:pt x="2594207" y="4255"/>
                </a:lnTo>
                <a:lnTo>
                  <a:pt x="2622714" y="1421"/>
                </a:lnTo>
                <a:lnTo>
                  <a:pt x="2651222" y="0"/>
                </a:lnTo>
                <a:lnTo>
                  <a:pt x="2679730" y="0"/>
                </a:lnTo>
                <a:lnTo>
                  <a:pt x="2708238" y="1421"/>
                </a:lnTo>
                <a:lnTo>
                  <a:pt x="2736745" y="4255"/>
                </a:lnTo>
                <a:lnTo>
                  <a:pt x="2765253" y="8481"/>
                </a:lnTo>
                <a:lnTo>
                  <a:pt x="2793761" y="14073"/>
                </a:lnTo>
                <a:lnTo>
                  <a:pt x="2822269" y="20994"/>
                </a:lnTo>
                <a:lnTo>
                  <a:pt x="2850776" y="29199"/>
                </a:lnTo>
                <a:lnTo>
                  <a:pt x="2879284" y="38634"/>
                </a:lnTo>
                <a:lnTo>
                  <a:pt x="2907792" y="49239"/>
                </a:lnTo>
                <a:lnTo>
                  <a:pt x="2936300" y="60948"/>
                </a:lnTo>
                <a:lnTo>
                  <a:pt x="2964808" y="73687"/>
                </a:lnTo>
                <a:lnTo>
                  <a:pt x="2993315" y="87378"/>
                </a:lnTo>
                <a:lnTo>
                  <a:pt x="3021823" y="101937"/>
                </a:lnTo>
                <a:lnTo>
                  <a:pt x="3050331" y="117280"/>
                </a:lnTo>
                <a:lnTo>
                  <a:pt x="3078839" y="133316"/>
                </a:lnTo>
                <a:lnTo>
                  <a:pt x="3107346" y="149955"/>
                </a:lnTo>
                <a:lnTo>
                  <a:pt x="3135854" y="167104"/>
                </a:lnTo>
                <a:lnTo>
                  <a:pt x="3164362" y="184672"/>
                </a:lnTo>
                <a:lnTo>
                  <a:pt x="3192870" y="202566"/>
                </a:lnTo>
                <a:lnTo>
                  <a:pt x="3221377" y="220696"/>
                </a:lnTo>
                <a:lnTo>
                  <a:pt x="3249885" y="238974"/>
                </a:lnTo>
                <a:lnTo>
                  <a:pt x="3278393" y="257314"/>
                </a:lnTo>
                <a:lnTo>
                  <a:pt x="3306901" y="275634"/>
                </a:lnTo>
                <a:lnTo>
                  <a:pt x="3335408" y="293856"/>
                </a:lnTo>
                <a:lnTo>
                  <a:pt x="3363916" y="311906"/>
                </a:lnTo>
                <a:lnTo>
                  <a:pt x="3392424" y="329716"/>
                </a:lnTo>
                <a:lnTo>
                  <a:pt x="3420932" y="347221"/>
                </a:lnTo>
                <a:lnTo>
                  <a:pt x="3449440" y="364364"/>
                </a:lnTo>
                <a:lnTo>
                  <a:pt x="3477947" y="381091"/>
                </a:lnTo>
                <a:lnTo>
                  <a:pt x="3506455" y="397357"/>
                </a:lnTo>
                <a:lnTo>
                  <a:pt x="3534963" y="413119"/>
                </a:lnTo>
                <a:lnTo>
                  <a:pt x="3563471" y="428343"/>
                </a:lnTo>
                <a:lnTo>
                  <a:pt x="3591978" y="442999"/>
                </a:lnTo>
                <a:lnTo>
                  <a:pt x="3620486" y="457064"/>
                </a:lnTo>
                <a:lnTo>
                  <a:pt x="3648994" y="470520"/>
                </a:lnTo>
                <a:lnTo>
                  <a:pt x="3677502" y="483352"/>
                </a:lnTo>
                <a:lnTo>
                  <a:pt x="3706009" y="495553"/>
                </a:lnTo>
                <a:lnTo>
                  <a:pt x="3734517" y="507120"/>
                </a:lnTo>
                <a:lnTo>
                  <a:pt x="3763025" y="518053"/>
                </a:lnTo>
                <a:lnTo>
                  <a:pt x="3791533" y="528357"/>
                </a:lnTo>
                <a:lnTo>
                  <a:pt x="3820040" y="538039"/>
                </a:lnTo>
                <a:lnTo>
                  <a:pt x="3848548" y="547113"/>
                </a:lnTo>
                <a:lnTo>
                  <a:pt x="3877056" y="555592"/>
                </a:lnTo>
                <a:lnTo>
                  <a:pt x="3905564" y="563493"/>
                </a:lnTo>
                <a:lnTo>
                  <a:pt x="3934072" y="570836"/>
                </a:lnTo>
                <a:lnTo>
                  <a:pt x="3962579" y="577641"/>
                </a:lnTo>
                <a:lnTo>
                  <a:pt x="3991087" y="583930"/>
                </a:lnTo>
                <a:lnTo>
                  <a:pt x="4019595" y="589728"/>
                </a:lnTo>
                <a:lnTo>
                  <a:pt x="4048103" y="595058"/>
                </a:lnTo>
                <a:lnTo>
                  <a:pt x="4076610" y="599944"/>
                </a:lnTo>
                <a:lnTo>
                  <a:pt x="4105118" y="604413"/>
                </a:lnTo>
                <a:lnTo>
                  <a:pt x="4133626" y="608489"/>
                </a:lnTo>
                <a:lnTo>
                  <a:pt x="4162134" y="612198"/>
                </a:lnTo>
                <a:lnTo>
                  <a:pt x="4190641" y="615562"/>
                </a:lnTo>
                <a:lnTo>
                  <a:pt x="4219149" y="618607"/>
                </a:lnTo>
                <a:lnTo>
                  <a:pt x="4247657" y="621356"/>
                </a:lnTo>
                <a:lnTo>
                  <a:pt x="4276165" y="623832"/>
                </a:lnTo>
                <a:lnTo>
                  <a:pt x="4304672" y="626055"/>
                </a:lnTo>
                <a:lnTo>
                  <a:pt x="4333180" y="628047"/>
                </a:lnTo>
                <a:lnTo>
                  <a:pt x="4361688" y="629827"/>
                </a:lnTo>
                <a:lnTo>
                  <a:pt x="4390196" y="631414"/>
                </a:lnTo>
                <a:lnTo>
                  <a:pt x="4418704" y="632825"/>
                </a:lnTo>
                <a:lnTo>
                  <a:pt x="4447211" y="634076"/>
                </a:lnTo>
                <a:lnTo>
                  <a:pt x="4475719" y="635184"/>
                </a:lnTo>
                <a:lnTo>
                  <a:pt x="4504227" y="636161"/>
                </a:lnTo>
                <a:lnTo>
                  <a:pt x="4532735" y="637022"/>
                </a:lnTo>
                <a:lnTo>
                  <a:pt x="4561242" y="637777"/>
                </a:lnTo>
                <a:lnTo>
                  <a:pt x="4589750" y="638440"/>
                </a:lnTo>
                <a:lnTo>
                  <a:pt x="4618258" y="639018"/>
                </a:lnTo>
                <a:lnTo>
                  <a:pt x="4646766" y="639523"/>
                </a:lnTo>
                <a:lnTo>
                  <a:pt x="4675273" y="639962"/>
                </a:lnTo>
                <a:lnTo>
                  <a:pt x="4703781" y="640343"/>
                </a:lnTo>
                <a:lnTo>
                  <a:pt x="4732289" y="640673"/>
                </a:lnTo>
                <a:lnTo>
                  <a:pt x="4760797" y="640957"/>
                </a:lnTo>
                <a:lnTo>
                  <a:pt x="4789304" y="641203"/>
                </a:lnTo>
                <a:lnTo>
                  <a:pt x="4817812" y="641413"/>
                </a:lnTo>
                <a:lnTo>
                  <a:pt x="4846320" y="641594"/>
                </a:lnTo>
              </a:path>
            </a:pathLst>
          </a:custGeom>
          <a:noFill/>
          <a:ln w="31750">
            <a:solidFill>
              <a:srgbClr val="D55E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1" name="Connector 20"/>
          <p:cNvCxnSpPr/>
          <p:nvPr/>
        </p:nvCxnSpPr>
        <p:spPr>
          <a:xfrm>
            <a:off x="6285771" y="3796391"/>
            <a:ext cx="484632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298470" y="3896896"/>
            <a:ext cx="2377440" cy="485985"/>
          </a:xfrm>
          <a:prstGeom prst="rect">
            <a:avLst/>
          </a:prstGeom>
          <a:noFill/>
        </p:spPr>
        <p:txBody>
          <a:bodyPr wrap="square" lIns="0" tIns="0" rIns="0" bIns="0" anchor="t">
            <a:spAutoFit/>
          </a:bodyPr>
          <a:lstStyle/>
          <a:p>
            <a:pPr algn="l"/>
            <a:r>
              <a:rPr sz="2200" b="1">
                <a:solidFill>
                  <a:srgbClr val="0072B2"/>
                </a:solidFill>
                <a:latin typeface="Meiryo"/>
                <a:ea typeface="Meiryo"/>
                <a:cs typeface="Meiryo"/>
              </a:rPr>
              <a:t>前進波</a:t>
            </a:r>
          </a:p>
        </p:txBody>
      </p:sp>
      <p:sp>
        <p:nvSpPr>
          <p:cNvPr id="23" name="TextBox 22"/>
          <p:cNvSpPr txBox="1"/>
          <p:nvPr/>
        </p:nvSpPr>
        <p:spPr>
          <a:xfrm>
            <a:off x="8767350" y="3896896"/>
            <a:ext cx="2377440" cy="485985"/>
          </a:xfrm>
          <a:prstGeom prst="rect">
            <a:avLst/>
          </a:prstGeom>
          <a:noFill/>
        </p:spPr>
        <p:txBody>
          <a:bodyPr wrap="square" lIns="0" tIns="0" rIns="0" bIns="0" anchor="t">
            <a:spAutoFit/>
          </a:bodyPr>
          <a:lstStyle/>
          <a:p>
            <a:pPr algn="l"/>
            <a:r>
              <a:rPr sz="2200" b="1">
                <a:solidFill>
                  <a:srgbClr val="D55E00"/>
                </a:solidFill>
                <a:latin typeface="Meiryo"/>
                <a:ea typeface="Meiryo"/>
                <a:cs typeface="Meiryo"/>
              </a:rPr>
              <a:t>反射波</a:t>
            </a:r>
          </a:p>
        </p:txBody>
      </p:sp>
      <p:sp>
        <p:nvSpPr>
          <p:cNvPr id="26" name="Rounded Rectangle 25"/>
          <p:cNvSpPr/>
          <p:nvPr/>
        </p:nvSpPr>
        <p:spPr>
          <a:xfrm>
            <a:off x="720000" y="4459410"/>
            <a:ext cx="10412092" cy="1829935"/>
          </a:xfrm>
          <a:prstGeom prst="roundRect">
            <a:avLst/>
          </a:prstGeom>
          <a:solidFill>
            <a:srgbClr val="F2F2F2"/>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1420111" y="4522805"/>
            <a:ext cx="9617397" cy="1671611"/>
          </a:xfrm>
          <a:prstGeom prst="rect">
            <a:avLst/>
          </a:prstGeom>
          <a:noFill/>
        </p:spPr>
        <p:txBody>
          <a:bodyPr wrap="square" lIns="0" tIns="0" rIns="0" bIns="0" anchor="t">
            <a:spAutoFit/>
          </a:bodyPr>
          <a:lstStyle/>
          <a:p>
            <a:pPr algn="l">
              <a:lnSpc>
                <a:spcPct val="150000"/>
              </a:lnSpc>
              <a:spcAft>
                <a:spcPts val="300"/>
              </a:spcAft>
            </a:pPr>
            <a:r>
              <a:rPr lang="en" sz="2500" b="1" dirty="0">
                <a:solidFill>
                  <a:srgbClr val="BF9000"/>
                </a:solidFill>
                <a:latin typeface="Meiryo"/>
                <a:ea typeface="Meiryo"/>
                <a:cs typeface="Meiryo"/>
              </a:rPr>
              <a:t>PDA</a:t>
            </a:r>
            <a:r>
              <a:rPr lang="ja-JP" altLang="en-US" sz="2500" b="1">
                <a:solidFill>
                  <a:srgbClr val="BF9000"/>
                </a:solidFill>
                <a:latin typeface="Meiryo"/>
                <a:ea typeface="Meiryo"/>
                <a:cs typeface="Meiryo"/>
              </a:rPr>
              <a:t>　</a:t>
            </a:r>
            <a:r>
              <a:rPr sz="2100" b="0" dirty="0">
                <a:solidFill>
                  <a:srgbClr val="BF9000"/>
                </a:solidFill>
                <a:latin typeface="Meiryo"/>
                <a:ea typeface="Meiryo"/>
                <a:cs typeface="Meiryo"/>
              </a:rPr>
              <a:t>Pulse Decomposition Analysis</a:t>
            </a:r>
          </a:p>
          <a:p>
            <a:pPr algn="l">
              <a:lnSpc>
                <a:spcPct val="150000"/>
              </a:lnSpc>
              <a:spcAft>
                <a:spcPts val="300"/>
              </a:spcAft>
            </a:pPr>
            <a:r>
              <a:rPr lang="en-US" altLang="ja-JP" sz="2300" b="0" dirty="0">
                <a:solidFill>
                  <a:srgbClr val="262626"/>
                </a:solidFill>
                <a:latin typeface="Meiryo"/>
                <a:ea typeface="Meiryo"/>
                <a:cs typeface="Meiryo"/>
              </a:rPr>
              <a:t>PPG</a:t>
            </a:r>
            <a:r>
              <a:rPr lang="ja-JP" altLang="en-US" sz="2300" b="0">
                <a:solidFill>
                  <a:srgbClr val="262626"/>
                </a:solidFill>
                <a:latin typeface="Meiryo"/>
                <a:ea typeface="Meiryo"/>
                <a:cs typeface="Meiryo"/>
              </a:rPr>
              <a:t>実</a:t>
            </a:r>
            <a:r>
              <a:rPr sz="2300" b="0" dirty="0" err="1">
                <a:solidFill>
                  <a:srgbClr val="262626"/>
                </a:solidFill>
                <a:latin typeface="Meiryo"/>
                <a:ea typeface="Meiryo"/>
                <a:cs typeface="Meiryo"/>
              </a:rPr>
              <a:t>波形を</a:t>
            </a:r>
            <a:r>
              <a:rPr lang="ja-JP" altLang="en-US" sz="2300" b="0">
                <a:solidFill>
                  <a:srgbClr val="262626"/>
                </a:solidFill>
                <a:latin typeface="Meiryo"/>
                <a:ea typeface="Meiryo"/>
                <a:cs typeface="Meiryo"/>
              </a:rPr>
              <a:t>、前進波と反射波の</a:t>
            </a:r>
            <a:r>
              <a:rPr sz="2300" b="0" dirty="0" err="1">
                <a:solidFill>
                  <a:srgbClr val="262626"/>
                </a:solidFill>
                <a:latin typeface="Meiryo"/>
                <a:ea typeface="Meiryo"/>
                <a:cs typeface="Meiryo"/>
              </a:rPr>
              <a:t>成分波</a:t>
            </a:r>
            <a:r>
              <a:rPr lang="ja-JP" altLang="en-US" sz="2300" b="0">
                <a:solidFill>
                  <a:srgbClr val="262626"/>
                </a:solidFill>
                <a:latin typeface="Meiryo"/>
                <a:ea typeface="Meiryo"/>
                <a:cs typeface="Meiryo"/>
              </a:rPr>
              <a:t>として分解する。</a:t>
            </a:r>
            <a:endParaRPr sz="2300" b="1" dirty="0">
              <a:solidFill>
                <a:srgbClr val="262626"/>
              </a:solidFill>
              <a:latin typeface="Meiryo"/>
              <a:ea typeface="Meiryo"/>
              <a:cs typeface="Meiryo"/>
            </a:endParaRPr>
          </a:p>
          <a:p>
            <a:pPr algn="l">
              <a:lnSpc>
                <a:spcPct val="150000"/>
              </a:lnSpc>
              <a:spcAft>
                <a:spcPts val="300"/>
              </a:spcAft>
            </a:pPr>
            <a:r>
              <a:rPr sz="2300" b="1" dirty="0">
                <a:solidFill>
                  <a:srgbClr val="BF9000"/>
                </a:solidFill>
                <a:latin typeface="Meiryo"/>
                <a:ea typeface="Meiryo"/>
                <a:cs typeface="Meiryo"/>
              </a:rPr>
              <a:t>→ </a:t>
            </a:r>
            <a:r>
              <a:rPr sz="2300" b="1" dirty="0" err="1">
                <a:solidFill>
                  <a:srgbClr val="BF9000"/>
                </a:solidFill>
                <a:latin typeface="Meiryo"/>
                <a:ea typeface="Meiryo"/>
                <a:cs typeface="Meiryo"/>
              </a:rPr>
              <a:t>切痕が消えていても</a:t>
            </a:r>
            <a:r>
              <a:rPr lang="ja-JP" altLang="en-US" sz="2300" b="1">
                <a:solidFill>
                  <a:srgbClr val="BF9000"/>
                </a:solidFill>
                <a:latin typeface="Meiryo"/>
                <a:ea typeface="Meiryo"/>
                <a:cs typeface="Meiryo"/>
              </a:rPr>
              <a:t>成分波情報から</a:t>
            </a:r>
            <a:r>
              <a:rPr sz="2300" b="1" dirty="0" err="1">
                <a:solidFill>
                  <a:srgbClr val="BF9000"/>
                </a:solidFill>
                <a:latin typeface="Meiryo"/>
                <a:ea typeface="Meiryo"/>
                <a:cs typeface="Meiryo"/>
              </a:rPr>
              <a:t>値が出せる。</a:t>
            </a:r>
            <a:endParaRPr sz="2300" b="1" dirty="0">
              <a:solidFill>
                <a:srgbClr val="BF9000"/>
              </a:solidFill>
              <a:latin typeface="Meiryo"/>
              <a:ea typeface="Meiryo"/>
              <a:cs typeface="Meiryo"/>
            </a:endParaRPr>
          </a:p>
        </p:txBody>
      </p:sp>
      <p:sp>
        <p:nvSpPr>
          <p:cNvPr id="3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75/118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4">
            <a:extLst>
              <a:ext uri="{FF2B5EF4-FFF2-40B4-BE49-F238E27FC236}">
                <a16:creationId xmlns:a16="http://schemas.microsoft.com/office/drawing/2014/main" id="{AA9D36CE-3772-F005-B54C-9329ADA7F086}"/>
              </a:ext>
            </a:extLst>
          </p:cNvPr>
          <p:cNvSpPr/>
          <p:nvPr/>
        </p:nvSpPr>
        <p:spPr>
          <a:xfrm>
            <a:off x="1085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1EE00B-48AB-42C3-B6BD-F31EBF7BFE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184395-3AF3-17EB-2363-9F7ED1165DC4}"/>
              </a:ext>
            </a:extLst>
          </p:cNvPr>
          <p:cNvSpPr>
            <a:spLocks noGrp="1"/>
          </p:cNvSpPr>
          <p:nvPr>
            <p:ph type="title"/>
          </p:nvPr>
        </p:nvSpPr>
        <p:spPr/>
        <p:txBody>
          <a:bodyPr/>
          <a:lstStyle/>
          <a:p>
            <a:pPr algn="l"/>
            <a:r>
              <a:rPr sz="4600" dirty="0">
                <a:latin typeface="Meiryo"/>
                <a:ea typeface="Meiryo"/>
                <a:cs typeface="Meiryo"/>
              </a:rPr>
              <a:t>5.2  合成波と成分波</a:t>
            </a:r>
          </a:p>
        </p:txBody>
      </p:sp>
      <p:sp>
        <p:nvSpPr>
          <p:cNvPr id="29" name="Source">
            <a:extLst>
              <a:ext uri="{FF2B5EF4-FFF2-40B4-BE49-F238E27FC236}">
                <a16:creationId xmlns:a16="http://schemas.microsoft.com/office/drawing/2014/main" id="{E41460A9-967A-2D03-57C5-16A52AD40D25}"/>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41. Rubins 2008　／　33. Couceiro 2015</a:t>
            </a:r>
          </a:p>
        </p:txBody>
      </p:sp>
      <p:sp>
        <p:nvSpPr>
          <p:cNvPr id="30" name="TextBox 29">
            <a:extLst>
              <a:ext uri="{FF2B5EF4-FFF2-40B4-BE49-F238E27FC236}">
                <a16:creationId xmlns:a16="http://schemas.microsoft.com/office/drawing/2014/main" id="{9516527D-7ECD-3C16-7E71-2BAFFEF1D2E0}"/>
              </a:ext>
            </a:extLst>
          </p:cNvPr>
          <p:cNvSpPr txBox="1"/>
          <p:nvPr/>
        </p:nvSpPr>
        <p:spPr>
          <a:xfrm>
            <a:off x="502920" y="1691640"/>
            <a:ext cx="5394960" cy="411480"/>
          </a:xfrm>
          <a:prstGeom prst="rect">
            <a:avLst/>
          </a:prstGeom>
          <a:noFill/>
        </p:spPr>
        <p:txBody>
          <a:bodyPr wrap="square" lIns="0" tIns="0" rIns="0" bIns="0" anchor="t">
            <a:spAutoFit/>
          </a:bodyPr>
          <a:lstStyle/>
          <a:p>
            <a:pPr algn="l"/>
            <a:r>
              <a:rPr sz="2400" b="1">
                <a:solidFill>
                  <a:srgbClr val="262626"/>
                </a:solidFill>
                <a:latin typeface="Meiryo"/>
                <a:ea typeface="Meiryo"/>
                <a:cs typeface="Meiryo"/>
              </a:rPr>
              <a:t>合成波（実際に見える波）</a:t>
            </a:r>
          </a:p>
        </p:txBody>
      </p:sp>
      <p:sp>
        <p:nvSpPr>
          <p:cNvPr id="3" name="Freeform 2">
            <a:extLst>
              <a:ext uri="{FF2B5EF4-FFF2-40B4-BE49-F238E27FC236}">
                <a16:creationId xmlns:a16="http://schemas.microsoft.com/office/drawing/2014/main" id="{E3694FE6-2DEE-29C8-E904-049315E8928A}"/>
              </a:ext>
            </a:extLst>
          </p:cNvPr>
          <p:cNvSpPr/>
          <p:nvPr/>
        </p:nvSpPr>
        <p:spPr>
          <a:xfrm>
            <a:off x="548640" y="2148840"/>
            <a:ext cx="4846320" cy="1324958"/>
          </a:xfrm>
          <a:custGeom>
            <a:avLst/>
            <a:gdLst/>
            <a:ahLst/>
            <a:cxnLst/>
            <a:rect l="l" t="t" r="r" b="b"/>
            <a:pathLst>
              <a:path w="4846320" h="1324958">
                <a:moveTo>
                  <a:pt x="0" y="1279958"/>
                </a:moveTo>
                <a:lnTo>
                  <a:pt x="28508" y="1271080"/>
                </a:lnTo>
                <a:lnTo>
                  <a:pt x="57016" y="1260798"/>
                </a:lnTo>
                <a:lnTo>
                  <a:pt x="85523" y="1248955"/>
                </a:lnTo>
                <a:lnTo>
                  <a:pt x="114031" y="1235392"/>
                </a:lnTo>
                <a:lnTo>
                  <a:pt x="142539" y="1219946"/>
                </a:lnTo>
                <a:lnTo>
                  <a:pt x="171047" y="1202455"/>
                </a:lnTo>
                <a:lnTo>
                  <a:pt x="199554" y="1182762"/>
                </a:lnTo>
                <a:lnTo>
                  <a:pt x="228062" y="1160720"/>
                </a:lnTo>
                <a:lnTo>
                  <a:pt x="256570" y="1136192"/>
                </a:lnTo>
                <a:lnTo>
                  <a:pt x="285078" y="1109061"/>
                </a:lnTo>
                <a:lnTo>
                  <a:pt x="313585" y="1079232"/>
                </a:lnTo>
                <a:lnTo>
                  <a:pt x="342093" y="1046638"/>
                </a:lnTo>
                <a:lnTo>
                  <a:pt x="370601" y="1011244"/>
                </a:lnTo>
                <a:lnTo>
                  <a:pt x="399109" y="973055"/>
                </a:lnTo>
                <a:lnTo>
                  <a:pt x="427616" y="932116"/>
                </a:lnTo>
                <a:lnTo>
                  <a:pt x="456124" y="888522"/>
                </a:lnTo>
                <a:lnTo>
                  <a:pt x="484632" y="842417"/>
                </a:lnTo>
                <a:lnTo>
                  <a:pt x="513140" y="793996"/>
                </a:lnTo>
                <a:lnTo>
                  <a:pt x="541648" y="743512"/>
                </a:lnTo>
                <a:lnTo>
                  <a:pt x="570155" y="691271"/>
                </a:lnTo>
                <a:lnTo>
                  <a:pt x="598663" y="637633"/>
                </a:lnTo>
                <a:lnTo>
                  <a:pt x="627171" y="583009"/>
                </a:lnTo>
                <a:lnTo>
                  <a:pt x="655679" y="527860"/>
                </a:lnTo>
                <a:lnTo>
                  <a:pt x="684186" y="472685"/>
                </a:lnTo>
                <a:lnTo>
                  <a:pt x="712694" y="418022"/>
                </a:lnTo>
                <a:lnTo>
                  <a:pt x="741202" y="364433"/>
                </a:lnTo>
                <a:lnTo>
                  <a:pt x="769710" y="312498"/>
                </a:lnTo>
                <a:lnTo>
                  <a:pt x="798217" y="262804"/>
                </a:lnTo>
                <a:lnTo>
                  <a:pt x="826725" y="215933"/>
                </a:lnTo>
                <a:lnTo>
                  <a:pt x="855233" y="172451"/>
                </a:lnTo>
                <a:lnTo>
                  <a:pt x="883741" y="132895"/>
                </a:lnTo>
                <a:lnTo>
                  <a:pt x="912248" y="97762"/>
                </a:lnTo>
                <a:lnTo>
                  <a:pt x="940756" y="67498"/>
                </a:lnTo>
                <a:lnTo>
                  <a:pt x="969264" y="42486"/>
                </a:lnTo>
                <a:lnTo>
                  <a:pt x="997772" y="23038"/>
                </a:lnTo>
                <a:lnTo>
                  <a:pt x="1026280" y="9390"/>
                </a:lnTo>
                <a:lnTo>
                  <a:pt x="1054787" y="1690"/>
                </a:lnTo>
                <a:lnTo>
                  <a:pt x="1083295" y="0"/>
                </a:lnTo>
                <a:lnTo>
                  <a:pt x="1111803" y="4291"/>
                </a:lnTo>
                <a:lnTo>
                  <a:pt x="1140311" y="14442"/>
                </a:lnTo>
                <a:lnTo>
                  <a:pt x="1168818" y="30249"/>
                </a:lnTo>
                <a:lnTo>
                  <a:pt x="1197326" y="51420"/>
                </a:lnTo>
                <a:lnTo>
                  <a:pt x="1225834" y="77589"/>
                </a:lnTo>
                <a:lnTo>
                  <a:pt x="1254342" y="108321"/>
                </a:lnTo>
                <a:lnTo>
                  <a:pt x="1282849" y="143121"/>
                </a:lnTo>
                <a:lnTo>
                  <a:pt x="1311357" y="181447"/>
                </a:lnTo>
                <a:lnTo>
                  <a:pt x="1339865" y="222721"/>
                </a:lnTo>
                <a:lnTo>
                  <a:pt x="1368373" y="266337"/>
                </a:lnTo>
                <a:lnTo>
                  <a:pt x="1396880" y="311681"/>
                </a:lnTo>
                <a:lnTo>
                  <a:pt x="1425388" y="358135"/>
                </a:lnTo>
                <a:lnTo>
                  <a:pt x="1453896" y="405094"/>
                </a:lnTo>
                <a:lnTo>
                  <a:pt x="1482404" y="451974"/>
                </a:lnTo>
                <a:lnTo>
                  <a:pt x="1510912" y="498223"/>
                </a:lnTo>
                <a:lnTo>
                  <a:pt x="1539419" y="543327"/>
                </a:lnTo>
                <a:lnTo>
                  <a:pt x="1567927" y="586819"/>
                </a:lnTo>
                <a:lnTo>
                  <a:pt x="1596435" y="628286"/>
                </a:lnTo>
                <a:lnTo>
                  <a:pt x="1624943" y="667368"/>
                </a:lnTo>
                <a:lnTo>
                  <a:pt x="1653450" y="703766"/>
                </a:lnTo>
                <a:lnTo>
                  <a:pt x="1681958" y="737239"/>
                </a:lnTo>
                <a:lnTo>
                  <a:pt x="1710466" y="767605"/>
                </a:lnTo>
                <a:lnTo>
                  <a:pt x="1738974" y="794740"/>
                </a:lnTo>
                <a:lnTo>
                  <a:pt x="1767481" y="818576"/>
                </a:lnTo>
                <a:lnTo>
                  <a:pt x="1795989" y="839094"/>
                </a:lnTo>
                <a:lnTo>
                  <a:pt x="1824497" y="856324"/>
                </a:lnTo>
                <a:lnTo>
                  <a:pt x="1853005" y="870339"/>
                </a:lnTo>
                <a:lnTo>
                  <a:pt x="1881512" y="881249"/>
                </a:lnTo>
                <a:lnTo>
                  <a:pt x="1910020" y="889196"/>
                </a:lnTo>
                <a:lnTo>
                  <a:pt x="1938528" y="894351"/>
                </a:lnTo>
                <a:lnTo>
                  <a:pt x="1967036" y="896905"/>
                </a:lnTo>
                <a:lnTo>
                  <a:pt x="1995544" y="897067"/>
                </a:lnTo>
                <a:lnTo>
                  <a:pt x="2024051" y="895060"/>
                </a:lnTo>
                <a:lnTo>
                  <a:pt x="2052559" y="891113"/>
                </a:lnTo>
                <a:lnTo>
                  <a:pt x="2081067" y="885461"/>
                </a:lnTo>
                <a:lnTo>
                  <a:pt x="2109575" y="878342"/>
                </a:lnTo>
                <a:lnTo>
                  <a:pt x="2138082" y="869988"/>
                </a:lnTo>
                <a:lnTo>
                  <a:pt x="2166590" y="860632"/>
                </a:lnTo>
                <a:lnTo>
                  <a:pt x="2195098" y="850496"/>
                </a:lnTo>
                <a:lnTo>
                  <a:pt x="2223606" y="839797"/>
                </a:lnTo>
                <a:lnTo>
                  <a:pt x="2252113" y="828742"/>
                </a:lnTo>
                <a:lnTo>
                  <a:pt x="2280621" y="817525"/>
                </a:lnTo>
                <a:lnTo>
                  <a:pt x="2309129" y="806333"/>
                </a:lnTo>
                <a:lnTo>
                  <a:pt x="2337637" y="795337"/>
                </a:lnTo>
                <a:lnTo>
                  <a:pt x="2366144" y="784698"/>
                </a:lnTo>
                <a:lnTo>
                  <a:pt x="2394652" y="774562"/>
                </a:lnTo>
                <a:lnTo>
                  <a:pt x="2423160" y="765065"/>
                </a:lnTo>
                <a:lnTo>
                  <a:pt x="2451668" y="756328"/>
                </a:lnTo>
                <a:lnTo>
                  <a:pt x="2480176" y="748459"/>
                </a:lnTo>
                <a:lnTo>
                  <a:pt x="2508683" y="741554"/>
                </a:lnTo>
                <a:lnTo>
                  <a:pt x="2537191" y="735697"/>
                </a:lnTo>
                <a:lnTo>
                  <a:pt x="2565699" y="730957"/>
                </a:lnTo>
                <a:lnTo>
                  <a:pt x="2594207" y="727392"/>
                </a:lnTo>
                <a:lnTo>
                  <a:pt x="2622714" y="725049"/>
                </a:lnTo>
                <a:lnTo>
                  <a:pt x="2651222" y="723960"/>
                </a:lnTo>
                <a:lnTo>
                  <a:pt x="2679730" y="724147"/>
                </a:lnTo>
                <a:lnTo>
                  <a:pt x="2708238" y="725623"/>
                </a:lnTo>
                <a:lnTo>
                  <a:pt x="2736745" y="728386"/>
                </a:lnTo>
                <a:lnTo>
                  <a:pt x="2765253" y="732427"/>
                </a:lnTo>
                <a:lnTo>
                  <a:pt x="2793761" y="737724"/>
                </a:lnTo>
                <a:lnTo>
                  <a:pt x="2822269" y="744249"/>
                </a:lnTo>
                <a:lnTo>
                  <a:pt x="2850776" y="751962"/>
                </a:lnTo>
                <a:lnTo>
                  <a:pt x="2879284" y="760817"/>
                </a:lnTo>
                <a:lnTo>
                  <a:pt x="2907792" y="770760"/>
                </a:lnTo>
                <a:lnTo>
                  <a:pt x="2936300" y="781729"/>
                </a:lnTo>
                <a:lnTo>
                  <a:pt x="2964808" y="793658"/>
                </a:lnTo>
                <a:lnTo>
                  <a:pt x="2993315" y="806474"/>
                </a:lnTo>
                <a:lnTo>
                  <a:pt x="3021823" y="820101"/>
                </a:lnTo>
                <a:lnTo>
                  <a:pt x="3050331" y="834458"/>
                </a:lnTo>
                <a:lnTo>
                  <a:pt x="3078839" y="849463"/>
                </a:lnTo>
                <a:lnTo>
                  <a:pt x="3107346" y="865031"/>
                </a:lnTo>
                <a:lnTo>
                  <a:pt x="3135854" y="881076"/>
                </a:lnTo>
                <a:lnTo>
                  <a:pt x="3164362" y="897511"/>
                </a:lnTo>
                <a:lnTo>
                  <a:pt x="3192870" y="914252"/>
                </a:lnTo>
                <a:lnTo>
                  <a:pt x="3221377" y="931213"/>
                </a:lnTo>
                <a:lnTo>
                  <a:pt x="3249885" y="948312"/>
                </a:lnTo>
                <a:lnTo>
                  <a:pt x="3278393" y="965469"/>
                </a:lnTo>
                <a:lnTo>
                  <a:pt x="3306901" y="982607"/>
                </a:lnTo>
                <a:lnTo>
                  <a:pt x="3335408" y="999654"/>
                </a:lnTo>
                <a:lnTo>
                  <a:pt x="3363916" y="1016540"/>
                </a:lnTo>
                <a:lnTo>
                  <a:pt x="3392424" y="1033201"/>
                </a:lnTo>
                <a:lnTo>
                  <a:pt x="3420932" y="1049577"/>
                </a:lnTo>
                <a:lnTo>
                  <a:pt x="3449440" y="1065613"/>
                </a:lnTo>
                <a:lnTo>
                  <a:pt x="3477947" y="1081261"/>
                </a:lnTo>
                <a:lnTo>
                  <a:pt x="3506455" y="1096477"/>
                </a:lnTo>
                <a:lnTo>
                  <a:pt x="3534963" y="1111223"/>
                </a:lnTo>
                <a:lnTo>
                  <a:pt x="3563471" y="1125465"/>
                </a:lnTo>
                <a:lnTo>
                  <a:pt x="3591978" y="1139176"/>
                </a:lnTo>
                <a:lnTo>
                  <a:pt x="3620486" y="1152333"/>
                </a:lnTo>
                <a:lnTo>
                  <a:pt x="3648994" y="1164920"/>
                </a:lnTo>
                <a:lnTo>
                  <a:pt x="3677502" y="1176925"/>
                </a:lnTo>
                <a:lnTo>
                  <a:pt x="3706009" y="1188339"/>
                </a:lnTo>
                <a:lnTo>
                  <a:pt x="3734517" y="1199160"/>
                </a:lnTo>
                <a:lnTo>
                  <a:pt x="3763025" y="1209387"/>
                </a:lnTo>
                <a:lnTo>
                  <a:pt x="3791533" y="1219026"/>
                </a:lnTo>
                <a:lnTo>
                  <a:pt x="3820040" y="1228084"/>
                </a:lnTo>
                <a:lnTo>
                  <a:pt x="3848548" y="1236572"/>
                </a:lnTo>
                <a:lnTo>
                  <a:pt x="3877056" y="1244504"/>
                </a:lnTo>
                <a:lnTo>
                  <a:pt x="3905564" y="1251896"/>
                </a:lnTo>
                <a:lnTo>
                  <a:pt x="3934072" y="1258765"/>
                </a:lnTo>
                <a:lnTo>
                  <a:pt x="3962579" y="1265130"/>
                </a:lnTo>
                <a:lnTo>
                  <a:pt x="3991087" y="1271014"/>
                </a:lnTo>
                <a:lnTo>
                  <a:pt x="4019595" y="1276438"/>
                </a:lnTo>
                <a:lnTo>
                  <a:pt x="4048103" y="1281424"/>
                </a:lnTo>
                <a:lnTo>
                  <a:pt x="4076610" y="1285995"/>
                </a:lnTo>
                <a:lnTo>
                  <a:pt x="4105118" y="1290176"/>
                </a:lnTo>
                <a:lnTo>
                  <a:pt x="4133626" y="1293989"/>
                </a:lnTo>
                <a:lnTo>
                  <a:pt x="4162134" y="1297458"/>
                </a:lnTo>
                <a:lnTo>
                  <a:pt x="4190641" y="1300605"/>
                </a:lnTo>
                <a:lnTo>
                  <a:pt x="4219149" y="1303454"/>
                </a:lnTo>
                <a:lnTo>
                  <a:pt x="4247657" y="1306026"/>
                </a:lnTo>
                <a:lnTo>
                  <a:pt x="4276165" y="1308341"/>
                </a:lnTo>
                <a:lnTo>
                  <a:pt x="4304672" y="1310421"/>
                </a:lnTo>
                <a:lnTo>
                  <a:pt x="4333180" y="1312285"/>
                </a:lnTo>
                <a:lnTo>
                  <a:pt x="4361688" y="1313950"/>
                </a:lnTo>
                <a:lnTo>
                  <a:pt x="4390196" y="1315434"/>
                </a:lnTo>
                <a:lnTo>
                  <a:pt x="4418704" y="1316754"/>
                </a:lnTo>
                <a:lnTo>
                  <a:pt x="4447211" y="1317925"/>
                </a:lnTo>
                <a:lnTo>
                  <a:pt x="4475719" y="1318961"/>
                </a:lnTo>
                <a:lnTo>
                  <a:pt x="4504227" y="1319875"/>
                </a:lnTo>
                <a:lnTo>
                  <a:pt x="4532735" y="1320680"/>
                </a:lnTo>
                <a:lnTo>
                  <a:pt x="4561242" y="1321387"/>
                </a:lnTo>
                <a:lnTo>
                  <a:pt x="4589750" y="1322007"/>
                </a:lnTo>
                <a:lnTo>
                  <a:pt x="4618258" y="1322548"/>
                </a:lnTo>
                <a:lnTo>
                  <a:pt x="4646766" y="1323020"/>
                </a:lnTo>
                <a:lnTo>
                  <a:pt x="4675273" y="1323431"/>
                </a:lnTo>
                <a:lnTo>
                  <a:pt x="4703781" y="1323787"/>
                </a:lnTo>
                <a:lnTo>
                  <a:pt x="4732289" y="1324096"/>
                </a:lnTo>
                <a:lnTo>
                  <a:pt x="4760797" y="1324362"/>
                </a:lnTo>
                <a:lnTo>
                  <a:pt x="4789304" y="1324592"/>
                </a:lnTo>
                <a:lnTo>
                  <a:pt x="4817812" y="1324789"/>
                </a:lnTo>
                <a:lnTo>
                  <a:pt x="4846320" y="1324958"/>
                </a:lnTo>
              </a:path>
            </a:pathLst>
          </a:custGeom>
          <a:noFill/>
          <a:ln w="38100">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1" name="Connector 30">
            <a:extLst>
              <a:ext uri="{FF2B5EF4-FFF2-40B4-BE49-F238E27FC236}">
                <a16:creationId xmlns:a16="http://schemas.microsoft.com/office/drawing/2014/main" id="{F06D1CD5-592F-F186-D1EC-A75ED7217C64}"/>
              </a:ext>
            </a:extLst>
          </p:cNvPr>
          <p:cNvCxnSpPr/>
          <p:nvPr/>
        </p:nvCxnSpPr>
        <p:spPr>
          <a:xfrm>
            <a:off x="548640" y="3493008"/>
            <a:ext cx="484632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E10FFA6A-EDC7-4BEF-9D99-1204749F3D4D}"/>
              </a:ext>
            </a:extLst>
          </p:cNvPr>
          <p:cNvSpPr txBox="1"/>
          <p:nvPr/>
        </p:nvSpPr>
        <p:spPr>
          <a:xfrm>
            <a:off x="502920" y="3703320"/>
            <a:ext cx="5394960" cy="411480"/>
          </a:xfrm>
          <a:prstGeom prst="rect">
            <a:avLst/>
          </a:prstGeom>
          <a:noFill/>
        </p:spPr>
        <p:txBody>
          <a:bodyPr wrap="square" lIns="0" tIns="0" rIns="0" bIns="0" anchor="t">
            <a:spAutoFit/>
          </a:bodyPr>
          <a:lstStyle/>
          <a:p>
            <a:pPr algn="l"/>
            <a:r>
              <a:rPr sz="2400" b="1">
                <a:solidFill>
                  <a:srgbClr val="262626"/>
                </a:solidFill>
                <a:latin typeface="Meiryo"/>
                <a:ea typeface="Meiryo"/>
                <a:cs typeface="Meiryo"/>
              </a:rPr>
              <a:t>成分波（分けて考えた波）</a:t>
            </a:r>
          </a:p>
        </p:txBody>
      </p:sp>
      <p:sp>
        <p:nvSpPr>
          <p:cNvPr id="4" name="Freeform 3">
            <a:extLst>
              <a:ext uri="{FF2B5EF4-FFF2-40B4-BE49-F238E27FC236}">
                <a16:creationId xmlns:a16="http://schemas.microsoft.com/office/drawing/2014/main" id="{9AEBB0DF-26F9-5618-CDC9-150726698DBB}"/>
              </a:ext>
            </a:extLst>
          </p:cNvPr>
          <p:cNvSpPr/>
          <p:nvPr/>
        </p:nvSpPr>
        <p:spPr>
          <a:xfrm>
            <a:off x="548640" y="4179086"/>
            <a:ext cx="4846320" cy="1261594"/>
          </a:xfrm>
          <a:custGeom>
            <a:avLst/>
            <a:gdLst/>
            <a:ahLst/>
            <a:cxnLst/>
            <a:rect l="l" t="t" r="r" b="b"/>
            <a:pathLst>
              <a:path w="4846320" h="1261594">
                <a:moveTo>
                  <a:pt x="0" y="1217292"/>
                </a:moveTo>
                <a:lnTo>
                  <a:pt x="28508" y="1208728"/>
                </a:lnTo>
                <a:lnTo>
                  <a:pt x="57016" y="1198811"/>
                </a:lnTo>
                <a:lnTo>
                  <a:pt x="85523" y="1187389"/>
                </a:lnTo>
                <a:lnTo>
                  <a:pt x="114031" y="1174308"/>
                </a:lnTo>
                <a:lnTo>
                  <a:pt x="142539" y="1159412"/>
                </a:lnTo>
                <a:lnTo>
                  <a:pt x="171047" y="1142546"/>
                </a:lnTo>
                <a:lnTo>
                  <a:pt x="199554" y="1123558"/>
                </a:lnTo>
                <a:lnTo>
                  <a:pt x="228062" y="1102306"/>
                </a:lnTo>
                <a:lnTo>
                  <a:pt x="256570" y="1078661"/>
                </a:lnTo>
                <a:lnTo>
                  <a:pt x="285078" y="1052509"/>
                </a:lnTo>
                <a:lnTo>
                  <a:pt x="313585" y="1023761"/>
                </a:lnTo>
                <a:lnTo>
                  <a:pt x="342093" y="992352"/>
                </a:lnTo>
                <a:lnTo>
                  <a:pt x="370601" y="958252"/>
                </a:lnTo>
                <a:lnTo>
                  <a:pt x="399109" y="921465"/>
                </a:lnTo>
                <a:lnTo>
                  <a:pt x="427616" y="882040"/>
                </a:lnTo>
                <a:lnTo>
                  <a:pt x="456124" y="840068"/>
                </a:lnTo>
                <a:lnTo>
                  <a:pt x="484632" y="795692"/>
                </a:lnTo>
                <a:lnTo>
                  <a:pt x="513140" y="749104"/>
                </a:lnTo>
                <a:lnTo>
                  <a:pt x="541648" y="700552"/>
                </a:lnTo>
                <a:lnTo>
                  <a:pt x="570155" y="650333"/>
                </a:lnTo>
                <a:lnTo>
                  <a:pt x="598663" y="598802"/>
                </a:lnTo>
                <a:lnTo>
                  <a:pt x="627171" y="546360"/>
                </a:lnTo>
                <a:lnTo>
                  <a:pt x="655679" y="493456"/>
                </a:lnTo>
                <a:lnTo>
                  <a:pt x="684186" y="440581"/>
                </a:lnTo>
                <a:lnTo>
                  <a:pt x="712694" y="388258"/>
                </a:lnTo>
                <a:lnTo>
                  <a:pt x="741202" y="337040"/>
                </a:lnTo>
                <a:lnTo>
                  <a:pt x="769710" y="287494"/>
                </a:lnTo>
                <a:lnTo>
                  <a:pt x="798217" y="240196"/>
                </a:lnTo>
                <a:lnTo>
                  <a:pt x="826725" y="195719"/>
                </a:lnTo>
                <a:lnTo>
                  <a:pt x="855233" y="154619"/>
                </a:lnTo>
                <a:lnTo>
                  <a:pt x="883741" y="117428"/>
                </a:lnTo>
                <a:lnTo>
                  <a:pt x="912248" y="84637"/>
                </a:lnTo>
                <a:lnTo>
                  <a:pt x="940756" y="56690"/>
                </a:lnTo>
                <a:lnTo>
                  <a:pt x="969264" y="33973"/>
                </a:lnTo>
                <a:lnTo>
                  <a:pt x="997772" y="16804"/>
                </a:lnTo>
                <a:lnTo>
                  <a:pt x="1026280" y="5426"/>
                </a:lnTo>
                <a:lnTo>
                  <a:pt x="1054787" y="0"/>
                </a:lnTo>
                <a:lnTo>
                  <a:pt x="1083295" y="604"/>
                </a:lnTo>
                <a:lnTo>
                  <a:pt x="1111803" y="7229"/>
                </a:lnTo>
                <a:lnTo>
                  <a:pt x="1140311" y="19782"/>
                </a:lnTo>
                <a:lnTo>
                  <a:pt x="1168818" y="38082"/>
                </a:lnTo>
                <a:lnTo>
                  <a:pt x="1197326" y="61872"/>
                </a:lnTo>
                <a:lnTo>
                  <a:pt x="1225834" y="90821"/>
                </a:lnTo>
                <a:lnTo>
                  <a:pt x="1254342" y="124529"/>
                </a:lnTo>
                <a:lnTo>
                  <a:pt x="1282849" y="162543"/>
                </a:lnTo>
                <a:lnTo>
                  <a:pt x="1311357" y="204362"/>
                </a:lnTo>
                <a:lnTo>
                  <a:pt x="1339865" y="249448"/>
                </a:lnTo>
                <a:lnTo>
                  <a:pt x="1368373" y="297242"/>
                </a:lnTo>
                <a:lnTo>
                  <a:pt x="1396880" y="347168"/>
                </a:lnTo>
                <a:lnTo>
                  <a:pt x="1425388" y="398653"/>
                </a:lnTo>
                <a:lnTo>
                  <a:pt x="1453896" y="451129"/>
                </a:lnTo>
                <a:lnTo>
                  <a:pt x="1482404" y="504051"/>
                </a:lnTo>
                <a:lnTo>
                  <a:pt x="1510912" y="556900"/>
                </a:lnTo>
                <a:lnTo>
                  <a:pt x="1539419" y="609195"/>
                </a:lnTo>
                <a:lnTo>
                  <a:pt x="1567927" y="660494"/>
                </a:lnTo>
                <a:lnTo>
                  <a:pt x="1596435" y="710406"/>
                </a:lnTo>
                <a:lnTo>
                  <a:pt x="1624943" y="758588"/>
                </a:lnTo>
                <a:lnTo>
                  <a:pt x="1653450" y="804751"/>
                </a:lnTo>
                <a:lnTo>
                  <a:pt x="1681958" y="848660"/>
                </a:lnTo>
                <a:lnTo>
                  <a:pt x="1710466" y="890133"/>
                </a:lnTo>
                <a:lnTo>
                  <a:pt x="1738974" y="929036"/>
                </a:lnTo>
                <a:lnTo>
                  <a:pt x="1767481" y="965288"/>
                </a:lnTo>
                <a:lnTo>
                  <a:pt x="1795989" y="998849"/>
                </a:lnTo>
                <a:lnTo>
                  <a:pt x="1824497" y="1029722"/>
                </a:lnTo>
                <a:lnTo>
                  <a:pt x="1853005" y="1057945"/>
                </a:lnTo>
                <a:lnTo>
                  <a:pt x="1881512" y="1083587"/>
                </a:lnTo>
                <a:lnTo>
                  <a:pt x="1910020" y="1106744"/>
                </a:lnTo>
                <a:lnTo>
                  <a:pt x="1938528" y="1127532"/>
                </a:lnTo>
                <a:lnTo>
                  <a:pt x="1967036" y="1146084"/>
                </a:lnTo>
                <a:lnTo>
                  <a:pt x="1995544" y="1162544"/>
                </a:lnTo>
                <a:lnTo>
                  <a:pt x="2024051" y="1177065"/>
                </a:lnTo>
                <a:lnTo>
                  <a:pt x="2052559" y="1189801"/>
                </a:lnTo>
                <a:lnTo>
                  <a:pt x="2081067" y="1200910"/>
                </a:lnTo>
                <a:lnTo>
                  <a:pt x="2109575" y="1210545"/>
                </a:lnTo>
                <a:lnTo>
                  <a:pt x="2138082" y="1218855"/>
                </a:lnTo>
                <a:lnTo>
                  <a:pt x="2166590" y="1225983"/>
                </a:lnTo>
                <a:lnTo>
                  <a:pt x="2195098" y="1232065"/>
                </a:lnTo>
                <a:lnTo>
                  <a:pt x="2223606" y="1237224"/>
                </a:lnTo>
                <a:lnTo>
                  <a:pt x="2252113" y="1241579"/>
                </a:lnTo>
                <a:lnTo>
                  <a:pt x="2280621" y="1245233"/>
                </a:lnTo>
                <a:lnTo>
                  <a:pt x="2309129" y="1248285"/>
                </a:lnTo>
                <a:lnTo>
                  <a:pt x="2337637" y="1250819"/>
                </a:lnTo>
                <a:lnTo>
                  <a:pt x="2366144" y="1252912"/>
                </a:lnTo>
                <a:lnTo>
                  <a:pt x="2394652" y="1254632"/>
                </a:lnTo>
                <a:lnTo>
                  <a:pt x="2423160" y="1256038"/>
                </a:lnTo>
                <a:lnTo>
                  <a:pt x="2451668" y="1257181"/>
                </a:lnTo>
                <a:lnTo>
                  <a:pt x="2480176" y="1258106"/>
                </a:lnTo>
                <a:lnTo>
                  <a:pt x="2508683" y="1258850"/>
                </a:lnTo>
                <a:lnTo>
                  <a:pt x="2537191" y="1259446"/>
                </a:lnTo>
                <a:lnTo>
                  <a:pt x="2565699" y="1259920"/>
                </a:lnTo>
                <a:lnTo>
                  <a:pt x="2594207" y="1260296"/>
                </a:lnTo>
                <a:lnTo>
                  <a:pt x="2622714" y="1260592"/>
                </a:lnTo>
                <a:lnTo>
                  <a:pt x="2651222" y="1260825"/>
                </a:lnTo>
                <a:lnTo>
                  <a:pt x="2679730" y="1261006"/>
                </a:lnTo>
                <a:lnTo>
                  <a:pt x="2708238" y="1261147"/>
                </a:lnTo>
                <a:lnTo>
                  <a:pt x="2736745" y="1261255"/>
                </a:lnTo>
                <a:lnTo>
                  <a:pt x="2765253" y="1261339"/>
                </a:lnTo>
                <a:lnTo>
                  <a:pt x="2793761" y="1261403"/>
                </a:lnTo>
                <a:lnTo>
                  <a:pt x="2822269" y="1261451"/>
                </a:lnTo>
                <a:lnTo>
                  <a:pt x="2850776" y="1261488"/>
                </a:lnTo>
                <a:lnTo>
                  <a:pt x="2879284" y="1261516"/>
                </a:lnTo>
                <a:lnTo>
                  <a:pt x="2907792" y="1261536"/>
                </a:lnTo>
                <a:lnTo>
                  <a:pt x="2936300" y="1261552"/>
                </a:lnTo>
                <a:lnTo>
                  <a:pt x="2964808" y="1261563"/>
                </a:lnTo>
                <a:lnTo>
                  <a:pt x="2993315" y="1261572"/>
                </a:lnTo>
                <a:lnTo>
                  <a:pt x="3021823" y="1261578"/>
                </a:lnTo>
                <a:lnTo>
                  <a:pt x="3050331" y="1261582"/>
                </a:lnTo>
                <a:lnTo>
                  <a:pt x="3078839" y="1261586"/>
                </a:lnTo>
                <a:lnTo>
                  <a:pt x="3107346" y="1261588"/>
                </a:lnTo>
                <a:lnTo>
                  <a:pt x="3135854" y="1261590"/>
                </a:lnTo>
                <a:lnTo>
                  <a:pt x="3164362" y="1261591"/>
                </a:lnTo>
                <a:lnTo>
                  <a:pt x="3192870" y="1261592"/>
                </a:lnTo>
                <a:lnTo>
                  <a:pt x="3221377" y="1261593"/>
                </a:lnTo>
                <a:lnTo>
                  <a:pt x="3249885" y="1261593"/>
                </a:lnTo>
                <a:lnTo>
                  <a:pt x="3278393" y="1261593"/>
                </a:lnTo>
                <a:lnTo>
                  <a:pt x="3306901" y="1261594"/>
                </a:lnTo>
                <a:lnTo>
                  <a:pt x="3335408" y="1261594"/>
                </a:lnTo>
                <a:lnTo>
                  <a:pt x="3363916" y="1261594"/>
                </a:lnTo>
                <a:lnTo>
                  <a:pt x="3392424" y="1261594"/>
                </a:lnTo>
                <a:lnTo>
                  <a:pt x="3420932" y="1261594"/>
                </a:lnTo>
                <a:lnTo>
                  <a:pt x="3449440" y="1261594"/>
                </a:lnTo>
                <a:lnTo>
                  <a:pt x="3477947" y="1261594"/>
                </a:lnTo>
                <a:lnTo>
                  <a:pt x="3506455" y="1261594"/>
                </a:lnTo>
                <a:lnTo>
                  <a:pt x="3534963" y="1261594"/>
                </a:lnTo>
                <a:lnTo>
                  <a:pt x="3563471" y="1261594"/>
                </a:lnTo>
                <a:lnTo>
                  <a:pt x="3591978" y="1261594"/>
                </a:lnTo>
                <a:lnTo>
                  <a:pt x="3620486" y="1261594"/>
                </a:lnTo>
                <a:lnTo>
                  <a:pt x="3648994" y="1261594"/>
                </a:lnTo>
                <a:lnTo>
                  <a:pt x="3677502" y="1261594"/>
                </a:lnTo>
                <a:lnTo>
                  <a:pt x="3706009" y="1261594"/>
                </a:lnTo>
                <a:lnTo>
                  <a:pt x="3734517" y="1261594"/>
                </a:lnTo>
                <a:lnTo>
                  <a:pt x="3763025" y="1261594"/>
                </a:lnTo>
                <a:lnTo>
                  <a:pt x="3791533" y="1261594"/>
                </a:lnTo>
                <a:lnTo>
                  <a:pt x="3820040" y="1261594"/>
                </a:lnTo>
                <a:lnTo>
                  <a:pt x="3848548" y="1261594"/>
                </a:lnTo>
                <a:lnTo>
                  <a:pt x="3877056" y="1261594"/>
                </a:lnTo>
                <a:lnTo>
                  <a:pt x="3905564" y="1261594"/>
                </a:lnTo>
                <a:lnTo>
                  <a:pt x="3934072" y="1261594"/>
                </a:lnTo>
                <a:lnTo>
                  <a:pt x="3962579" y="1261594"/>
                </a:lnTo>
                <a:lnTo>
                  <a:pt x="3991087" y="1261594"/>
                </a:lnTo>
                <a:lnTo>
                  <a:pt x="4019595" y="1261594"/>
                </a:lnTo>
                <a:lnTo>
                  <a:pt x="4048103" y="1261594"/>
                </a:lnTo>
                <a:lnTo>
                  <a:pt x="4076610" y="1261594"/>
                </a:lnTo>
                <a:lnTo>
                  <a:pt x="4105118" y="1261594"/>
                </a:lnTo>
                <a:lnTo>
                  <a:pt x="4133626" y="1261594"/>
                </a:lnTo>
                <a:lnTo>
                  <a:pt x="4162134" y="1261594"/>
                </a:lnTo>
                <a:lnTo>
                  <a:pt x="4190641" y="1261594"/>
                </a:lnTo>
                <a:lnTo>
                  <a:pt x="4219149" y="1261594"/>
                </a:lnTo>
                <a:lnTo>
                  <a:pt x="4247657" y="1261594"/>
                </a:lnTo>
                <a:lnTo>
                  <a:pt x="4276165" y="1261594"/>
                </a:lnTo>
                <a:lnTo>
                  <a:pt x="4304672" y="1261594"/>
                </a:lnTo>
                <a:lnTo>
                  <a:pt x="4333180" y="1261594"/>
                </a:lnTo>
                <a:lnTo>
                  <a:pt x="4361688" y="1261594"/>
                </a:lnTo>
                <a:lnTo>
                  <a:pt x="4390196" y="1261594"/>
                </a:lnTo>
                <a:lnTo>
                  <a:pt x="4418704" y="1261594"/>
                </a:lnTo>
                <a:lnTo>
                  <a:pt x="4447211" y="1261594"/>
                </a:lnTo>
                <a:lnTo>
                  <a:pt x="4475719" y="1261594"/>
                </a:lnTo>
                <a:lnTo>
                  <a:pt x="4504227" y="1261594"/>
                </a:lnTo>
                <a:lnTo>
                  <a:pt x="4532735" y="1261594"/>
                </a:lnTo>
                <a:lnTo>
                  <a:pt x="4561242" y="1261594"/>
                </a:lnTo>
                <a:lnTo>
                  <a:pt x="4589750" y="1261594"/>
                </a:lnTo>
                <a:lnTo>
                  <a:pt x="4618258" y="1261594"/>
                </a:lnTo>
                <a:lnTo>
                  <a:pt x="4646766" y="1261594"/>
                </a:lnTo>
                <a:lnTo>
                  <a:pt x="4675273" y="1261594"/>
                </a:lnTo>
                <a:lnTo>
                  <a:pt x="4703781" y="1261594"/>
                </a:lnTo>
                <a:lnTo>
                  <a:pt x="4732289" y="1261594"/>
                </a:lnTo>
                <a:lnTo>
                  <a:pt x="4760797" y="1261594"/>
                </a:lnTo>
                <a:lnTo>
                  <a:pt x="4789304" y="1261594"/>
                </a:lnTo>
                <a:lnTo>
                  <a:pt x="4817812" y="1261594"/>
                </a:lnTo>
                <a:lnTo>
                  <a:pt x="4846320" y="1261594"/>
                </a:lnTo>
              </a:path>
            </a:pathLst>
          </a:custGeom>
          <a:noFill/>
          <a:ln w="31750">
            <a:solidFill>
              <a:srgbClr val="0072B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Freeform 4">
            <a:extLst>
              <a:ext uri="{FF2B5EF4-FFF2-40B4-BE49-F238E27FC236}">
                <a16:creationId xmlns:a16="http://schemas.microsoft.com/office/drawing/2014/main" id="{745482D8-ABF6-2440-146D-402976F04DD7}"/>
              </a:ext>
            </a:extLst>
          </p:cNvPr>
          <p:cNvSpPr/>
          <p:nvPr/>
        </p:nvSpPr>
        <p:spPr>
          <a:xfrm>
            <a:off x="548640" y="4860285"/>
            <a:ext cx="4846320" cy="580359"/>
          </a:xfrm>
          <a:custGeom>
            <a:avLst/>
            <a:gdLst/>
            <a:ahLst/>
            <a:cxnLst/>
            <a:rect l="l" t="t" r="r" b="b"/>
            <a:pathLst>
              <a:path w="4846320" h="580359">
                <a:moveTo>
                  <a:pt x="0" y="580359"/>
                </a:moveTo>
                <a:lnTo>
                  <a:pt x="28508" y="580350"/>
                </a:lnTo>
                <a:lnTo>
                  <a:pt x="57016" y="580340"/>
                </a:lnTo>
                <a:lnTo>
                  <a:pt x="85523" y="580328"/>
                </a:lnTo>
                <a:lnTo>
                  <a:pt x="114031" y="580313"/>
                </a:lnTo>
                <a:lnTo>
                  <a:pt x="142539" y="580296"/>
                </a:lnTo>
                <a:lnTo>
                  <a:pt x="171047" y="580274"/>
                </a:lnTo>
                <a:lnTo>
                  <a:pt x="199554" y="580249"/>
                </a:lnTo>
                <a:lnTo>
                  <a:pt x="228062" y="580218"/>
                </a:lnTo>
                <a:lnTo>
                  <a:pt x="256570" y="580181"/>
                </a:lnTo>
                <a:lnTo>
                  <a:pt x="285078" y="580137"/>
                </a:lnTo>
                <a:lnTo>
                  <a:pt x="313585" y="580085"/>
                </a:lnTo>
                <a:lnTo>
                  <a:pt x="342093" y="580024"/>
                </a:lnTo>
                <a:lnTo>
                  <a:pt x="370601" y="579951"/>
                </a:lnTo>
                <a:lnTo>
                  <a:pt x="399109" y="579865"/>
                </a:lnTo>
                <a:lnTo>
                  <a:pt x="427616" y="579763"/>
                </a:lnTo>
                <a:lnTo>
                  <a:pt x="456124" y="579644"/>
                </a:lnTo>
                <a:lnTo>
                  <a:pt x="484632" y="579505"/>
                </a:lnTo>
                <a:lnTo>
                  <a:pt x="513140" y="579341"/>
                </a:lnTo>
                <a:lnTo>
                  <a:pt x="541648" y="579151"/>
                </a:lnTo>
                <a:lnTo>
                  <a:pt x="570155" y="578929"/>
                </a:lnTo>
                <a:lnTo>
                  <a:pt x="598663" y="578672"/>
                </a:lnTo>
                <a:lnTo>
                  <a:pt x="627171" y="578374"/>
                </a:lnTo>
                <a:lnTo>
                  <a:pt x="655679" y="578030"/>
                </a:lnTo>
                <a:lnTo>
                  <a:pt x="684186" y="577634"/>
                </a:lnTo>
                <a:lnTo>
                  <a:pt x="712694" y="577178"/>
                </a:lnTo>
                <a:lnTo>
                  <a:pt x="741202" y="576655"/>
                </a:lnTo>
                <a:lnTo>
                  <a:pt x="769710" y="576057"/>
                </a:lnTo>
                <a:lnTo>
                  <a:pt x="798217" y="575374"/>
                </a:lnTo>
                <a:lnTo>
                  <a:pt x="826725" y="574597"/>
                </a:lnTo>
                <a:lnTo>
                  <a:pt x="855233" y="573714"/>
                </a:lnTo>
                <a:lnTo>
                  <a:pt x="883741" y="572714"/>
                </a:lnTo>
                <a:lnTo>
                  <a:pt x="912248" y="571584"/>
                </a:lnTo>
                <a:lnTo>
                  <a:pt x="940756" y="570309"/>
                </a:lnTo>
                <a:lnTo>
                  <a:pt x="969264" y="568876"/>
                </a:lnTo>
                <a:lnTo>
                  <a:pt x="997772" y="567268"/>
                </a:lnTo>
                <a:lnTo>
                  <a:pt x="1026280" y="565469"/>
                </a:lnTo>
                <a:lnTo>
                  <a:pt x="1054787" y="563461"/>
                </a:lnTo>
                <a:lnTo>
                  <a:pt x="1083295" y="561225"/>
                </a:lnTo>
                <a:lnTo>
                  <a:pt x="1111803" y="558742"/>
                </a:lnTo>
                <a:lnTo>
                  <a:pt x="1140311" y="555992"/>
                </a:lnTo>
                <a:lnTo>
                  <a:pt x="1168818" y="552953"/>
                </a:lnTo>
                <a:lnTo>
                  <a:pt x="1197326" y="549604"/>
                </a:lnTo>
                <a:lnTo>
                  <a:pt x="1225834" y="545922"/>
                </a:lnTo>
                <a:lnTo>
                  <a:pt x="1254342" y="541885"/>
                </a:lnTo>
                <a:lnTo>
                  <a:pt x="1282849" y="537472"/>
                </a:lnTo>
                <a:lnTo>
                  <a:pt x="1311357" y="532658"/>
                </a:lnTo>
                <a:lnTo>
                  <a:pt x="1339865" y="527421"/>
                </a:lnTo>
                <a:lnTo>
                  <a:pt x="1368373" y="521740"/>
                </a:lnTo>
                <a:lnTo>
                  <a:pt x="1396880" y="515594"/>
                </a:lnTo>
                <a:lnTo>
                  <a:pt x="1425388" y="508962"/>
                </a:lnTo>
                <a:lnTo>
                  <a:pt x="1453896" y="501825"/>
                </a:lnTo>
                <a:lnTo>
                  <a:pt x="1482404" y="494167"/>
                </a:lnTo>
                <a:lnTo>
                  <a:pt x="1510912" y="485971"/>
                </a:lnTo>
                <a:lnTo>
                  <a:pt x="1539419" y="477225"/>
                </a:lnTo>
                <a:lnTo>
                  <a:pt x="1567927" y="467919"/>
                </a:lnTo>
                <a:lnTo>
                  <a:pt x="1596435" y="458044"/>
                </a:lnTo>
                <a:lnTo>
                  <a:pt x="1624943" y="447597"/>
                </a:lnTo>
                <a:lnTo>
                  <a:pt x="1653450" y="436576"/>
                </a:lnTo>
                <a:lnTo>
                  <a:pt x="1681958" y="424986"/>
                </a:lnTo>
                <a:lnTo>
                  <a:pt x="1710466" y="412833"/>
                </a:lnTo>
                <a:lnTo>
                  <a:pt x="1738974" y="400129"/>
                </a:lnTo>
                <a:lnTo>
                  <a:pt x="1767481" y="386890"/>
                </a:lnTo>
                <a:lnTo>
                  <a:pt x="1795989" y="373140"/>
                </a:lnTo>
                <a:lnTo>
                  <a:pt x="1824497" y="358903"/>
                </a:lnTo>
                <a:lnTo>
                  <a:pt x="1853005" y="344212"/>
                </a:lnTo>
                <a:lnTo>
                  <a:pt x="1881512" y="329103"/>
                </a:lnTo>
                <a:lnTo>
                  <a:pt x="1910020" y="313619"/>
                </a:lnTo>
                <a:lnTo>
                  <a:pt x="1938528" y="297808"/>
                </a:lnTo>
                <a:lnTo>
                  <a:pt x="1967036" y="281722"/>
                </a:lnTo>
                <a:lnTo>
                  <a:pt x="1995544" y="265418"/>
                </a:lnTo>
                <a:lnTo>
                  <a:pt x="2024051" y="248960"/>
                </a:lnTo>
                <a:lnTo>
                  <a:pt x="2052559" y="232413"/>
                </a:lnTo>
                <a:lnTo>
                  <a:pt x="2081067" y="215847"/>
                </a:lnTo>
                <a:lnTo>
                  <a:pt x="2109575" y="199338"/>
                </a:lnTo>
                <a:lnTo>
                  <a:pt x="2138082" y="182963"/>
                </a:lnTo>
                <a:lnTo>
                  <a:pt x="2166590" y="166801"/>
                </a:lnTo>
                <a:lnTo>
                  <a:pt x="2195098" y="150933"/>
                </a:lnTo>
                <a:lnTo>
                  <a:pt x="2223606" y="135444"/>
                </a:lnTo>
                <a:lnTo>
                  <a:pt x="2252113" y="120415"/>
                </a:lnTo>
                <a:lnTo>
                  <a:pt x="2280621" y="105931"/>
                </a:lnTo>
                <a:lnTo>
                  <a:pt x="2309129" y="92073"/>
                </a:lnTo>
                <a:lnTo>
                  <a:pt x="2337637" y="78922"/>
                </a:lnTo>
                <a:lnTo>
                  <a:pt x="2366144" y="66556"/>
                </a:lnTo>
                <a:lnTo>
                  <a:pt x="2394652" y="55050"/>
                </a:lnTo>
                <a:lnTo>
                  <a:pt x="2423160" y="44474"/>
                </a:lnTo>
                <a:lnTo>
                  <a:pt x="2451668" y="34895"/>
                </a:lnTo>
                <a:lnTo>
                  <a:pt x="2480176" y="26373"/>
                </a:lnTo>
                <a:lnTo>
                  <a:pt x="2508683" y="18963"/>
                </a:lnTo>
                <a:lnTo>
                  <a:pt x="2537191" y="12712"/>
                </a:lnTo>
                <a:lnTo>
                  <a:pt x="2565699" y="7661"/>
                </a:lnTo>
                <a:lnTo>
                  <a:pt x="2594207" y="3843"/>
                </a:lnTo>
                <a:lnTo>
                  <a:pt x="2622714" y="1284"/>
                </a:lnTo>
                <a:lnTo>
                  <a:pt x="2651222" y="0"/>
                </a:lnTo>
                <a:lnTo>
                  <a:pt x="2679730" y="0"/>
                </a:lnTo>
                <a:lnTo>
                  <a:pt x="2708238" y="1284"/>
                </a:lnTo>
                <a:lnTo>
                  <a:pt x="2736745" y="3843"/>
                </a:lnTo>
                <a:lnTo>
                  <a:pt x="2765253" y="7661"/>
                </a:lnTo>
                <a:lnTo>
                  <a:pt x="2793761" y="12712"/>
                </a:lnTo>
                <a:lnTo>
                  <a:pt x="2822269" y="18963"/>
                </a:lnTo>
                <a:lnTo>
                  <a:pt x="2850776" y="26373"/>
                </a:lnTo>
                <a:lnTo>
                  <a:pt x="2879284" y="34895"/>
                </a:lnTo>
                <a:lnTo>
                  <a:pt x="2907792" y="44474"/>
                </a:lnTo>
                <a:lnTo>
                  <a:pt x="2936300" y="55050"/>
                </a:lnTo>
                <a:lnTo>
                  <a:pt x="2964808" y="66556"/>
                </a:lnTo>
                <a:lnTo>
                  <a:pt x="2993315" y="78922"/>
                </a:lnTo>
                <a:lnTo>
                  <a:pt x="3021823" y="92073"/>
                </a:lnTo>
                <a:lnTo>
                  <a:pt x="3050331" y="105931"/>
                </a:lnTo>
                <a:lnTo>
                  <a:pt x="3078839" y="120415"/>
                </a:lnTo>
                <a:lnTo>
                  <a:pt x="3107346" y="135444"/>
                </a:lnTo>
                <a:lnTo>
                  <a:pt x="3135854" y="150933"/>
                </a:lnTo>
                <a:lnTo>
                  <a:pt x="3164362" y="166801"/>
                </a:lnTo>
                <a:lnTo>
                  <a:pt x="3192870" y="182963"/>
                </a:lnTo>
                <a:lnTo>
                  <a:pt x="3221377" y="199338"/>
                </a:lnTo>
                <a:lnTo>
                  <a:pt x="3249885" y="215847"/>
                </a:lnTo>
                <a:lnTo>
                  <a:pt x="3278393" y="232413"/>
                </a:lnTo>
                <a:lnTo>
                  <a:pt x="3306901" y="248960"/>
                </a:lnTo>
                <a:lnTo>
                  <a:pt x="3335408" y="265418"/>
                </a:lnTo>
                <a:lnTo>
                  <a:pt x="3363916" y="281722"/>
                </a:lnTo>
                <a:lnTo>
                  <a:pt x="3392424" y="297808"/>
                </a:lnTo>
                <a:lnTo>
                  <a:pt x="3420932" y="313619"/>
                </a:lnTo>
                <a:lnTo>
                  <a:pt x="3449440" y="329103"/>
                </a:lnTo>
                <a:lnTo>
                  <a:pt x="3477947" y="344212"/>
                </a:lnTo>
                <a:lnTo>
                  <a:pt x="3506455" y="358903"/>
                </a:lnTo>
                <a:lnTo>
                  <a:pt x="3534963" y="373140"/>
                </a:lnTo>
                <a:lnTo>
                  <a:pt x="3563471" y="386890"/>
                </a:lnTo>
                <a:lnTo>
                  <a:pt x="3591978" y="400129"/>
                </a:lnTo>
                <a:lnTo>
                  <a:pt x="3620486" y="412833"/>
                </a:lnTo>
                <a:lnTo>
                  <a:pt x="3648994" y="424986"/>
                </a:lnTo>
                <a:lnTo>
                  <a:pt x="3677502" y="436576"/>
                </a:lnTo>
                <a:lnTo>
                  <a:pt x="3706009" y="447597"/>
                </a:lnTo>
                <a:lnTo>
                  <a:pt x="3734517" y="458044"/>
                </a:lnTo>
                <a:lnTo>
                  <a:pt x="3763025" y="467919"/>
                </a:lnTo>
                <a:lnTo>
                  <a:pt x="3791533" y="477225"/>
                </a:lnTo>
                <a:lnTo>
                  <a:pt x="3820040" y="485971"/>
                </a:lnTo>
                <a:lnTo>
                  <a:pt x="3848548" y="494167"/>
                </a:lnTo>
                <a:lnTo>
                  <a:pt x="3877056" y="501825"/>
                </a:lnTo>
                <a:lnTo>
                  <a:pt x="3905564" y="508962"/>
                </a:lnTo>
                <a:lnTo>
                  <a:pt x="3934072" y="515594"/>
                </a:lnTo>
                <a:lnTo>
                  <a:pt x="3962579" y="521740"/>
                </a:lnTo>
                <a:lnTo>
                  <a:pt x="3991087" y="527421"/>
                </a:lnTo>
                <a:lnTo>
                  <a:pt x="4019595" y="532658"/>
                </a:lnTo>
                <a:lnTo>
                  <a:pt x="4048103" y="537472"/>
                </a:lnTo>
                <a:lnTo>
                  <a:pt x="4076610" y="541885"/>
                </a:lnTo>
                <a:lnTo>
                  <a:pt x="4105118" y="545922"/>
                </a:lnTo>
                <a:lnTo>
                  <a:pt x="4133626" y="549604"/>
                </a:lnTo>
                <a:lnTo>
                  <a:pt x="4162134" y="552953"/>
                </a:lnTo>
                <a:lnTo>
                  <a:pt x="4190641" y="555992"/>
                </a:lnTo>
                <a:lnTo>
                  <a:pt x="4219149" y="558742"/>
                </a:lnTo>
                <a:lnTo>
                  <a:pt x="4247657" y="561225"/>
                </a:lnTo>
                <a:lnTo>
                  <a:pt x="4276165" y="563461"/>
                </a:lnTo>
                <a:lnTo>
                  <a:pt x="4304672" y="565469"/>
                </a:lnTo>
                <a:lnTo>
                  <a:pt x="4333180" y="567268"/>
                </a:lnTo>
                <a:lnTo>
                  <a:pt x="4361688" y="568876"/>
                </a:lnTo>
                <a:lnTo>
                  <a:pt x="4390196" y="570309"/>
                </a:lnTo>
                <a:lnTo>
                  <a:pt x="4418704" y="571584"/>
                </a:lnTo>
                <a:lnTo>
                  <a:pt x="4447211" y="572714"/>
                </a:lnTo>
                <a:lnTo>
                  <a:pt x="4475719" y="573714"/>
                </a:lnTo>
                <a:lnTo>
                  <a:pt x="4504227" y="574597"/>
                </a:lnTo>
                <a:lnTo>
                  <a:pt x="4532735" y="575374"/>
                </a:lnTo>
                <a:lnTo>
                  <a:pt x="4561242" y="576057"/>
                </a:lnTo>
                <a:lnTo>
                  <a:pt x="4589750" y="576655"/>
                </a:lnTo>
                <a:lnTo>
                  <a:pt x="4618258" y="577178"/>
                </a:lnTo>
                <a:lnTo>
                  <a:pt x="4646766" y="577634"/>
                </a:lnTo>
                <a:lnTo>
                  <a:pt x="4675273" y="578030"/>
                </a:lnTo>
                <a:lnTo>
                  <a:pt x="4703781" y="578374"/>
                </a:lnTo>
                <a:lnTo>
                  <a:pt x="4732289" y="578672"/>
                </a:lnTo>
                <a:lnTo>
                  <a:pt x="4760797" y="578929"/>
                </a:lnTo>
                <a:lnTo>
                  <a:pt x="4789304" y="579151"/>
                </a:lnTo>
                <a:lnTo>
                  <a:pt x="4817812" y="579341"/>
                </a:lnTo>
                <a:lnTo>
                  <a:pt x="4846320" y="579505"/>
                </a:lnTo>
              </a:path>
            </a:pathLst>
          </a:custGeom>
          <a:noFill/>
          <a:ln w="31750">
            <a:solidFill>
              <a:srgbClr val="D55E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3" name="Connector 32">
            <a:extLst>
              <a:ext uri="{FF2B5EF4-FFF2-40B4-BE49-F238E27FC236}">
                <a16:creationId xmlns:a16="http://schemas.microsoft.com/office/drawing/2014/main" id="{41529799-9603-A82B-3ACB-CB15E6D2C700}"/>
              </a:ext>
            </a:extLst>
          </p:cNvPr>
          <p:cNvCxnSpPr/>
          <p:nvPr/>
        </p:nvCxnSpPr>
        <p:spPr>
          <a:xfrm>
            <a:off x="548640" y="5458968"/>
            <a:ext cx="484632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9B4BDD27-782E-737E-D7D2-E73A68006D8E}"/>
              </a:ext>
            </a:extLst>
          </p:cNvPr>
          <p:cNvSpPr txBox="1"/>
          <p:nvPr/>
        </p:nvSpPr>
        <p:spPr>
          <a:xfrm>
            <a:off x="548640" y="5559552"/>
            <a:ext cx="2377440" cy="411480"/>
          </a:xfrm>
          <a:prstGeom prst="rect">
            <a:avLst/>
          </a:prstGeom>
          <a:noFill/>
        </p:spPr>
        <p:txBody>
          <a:bodyPr wrap="square" lIns="0" tIns="0" rIns="0" bIns="0" anchor="t">
            <a:spAutoFit/>
          </a:bodyPr>
          <a:lstStyle/>
          <a:p>
            <a:pPr algn="l"/>
            <a:r>
              <a:rPr sz="2200" b="1">
                <a:solidFill>
                  <a:srgbClr val="0072B2"/>
                </a:solidFill>
                <a:latin typeface="Meiryo"/>
                <a:ea typeface="Meiryo"/>
                <a:cs typeface="Meiryo"/>
              </a:rPr>
              <a:t>第1成分波</a:t>
            </a:r>
          </a:p>
        </p:txBody>
      </p:sp>
      <p:sp>
        <p:nvSpPr>
          <p:cNvPr id="35" name="TextBox 34">
            <a:extLst>
              <a:ext uri="{FF2B5EF4-FFF2-40B4-BE49-F238E27FC236}">
                <a16:creationId xmlns:a16="http://schemas.microsoft.com/office/drawing/2014/main" id="{BD3AAAAF-5E61-65E7-7451-5148D2653C78}"/>
              </a:ext>
            </a:extLst>
          </p:cNvPr>
          <p:cNvSpPr txBox="1"/>
          <p:nvPr/>
        </p:nvSpPr>
        <p:spPr>
          <a:xfrm>
            <a:off x="3017520" y="5559552"/>
            <a:ext cx="2377440" cy="411480"/>
          </a:xfrm>
          <a:prstGeom prst="rect">
            <a:avLst/>
          </a:prstGeom>
          <a:noFill/>
        </p:spPr>
        <p:txBody>
          <a:bodyPr wrap="square" lIns="0" tIns="0" rIns="0" bIns="0" anchor="t">
            <a:spAutoFit/>
          </a:bodyPr>
          <a:lstStyle/>
          <a:p>
            <a:pPr algn="l"/>
            <a:r>
              <a:rPr sz="2200" b="1">
                <a:solidFill>
                  <a:srgbClr val="D55E00"/>
                </a:solidFill>
                <a:latin typeface="Meiryo"/>
                <a:ea typeface="Meiryo"/>
                <a:cs typeface="Meiryo"/>
              </a:rPr>
              <a:t>第2成分波</a:t>
            </a:r>
          </a:p>
        </p:txBody>
      </p:sp>
      <p:sp>
        <p:nvSpPr>
          <p:cNvPr id="36" name="Rounded Rectangle 35">
            <a:extLst>
              <a:ext uri="{FF2B5EF4-FFF2-40B4-BE49-F238E27FC236}">
                <a16:creationId xmlns:a16="http://schemas.microsoft.com/office/drawing/2014/main" id="{16C680A4-13E9-D21E-885D-BC081720A757}"/>
              </a:ext>
            </a:extLst>
          </p:cNvPr>
          <p:cNvSpPr/>
          <p:nvPr/>
        </p:nvSpPr>
        <p:spPr>
          <a:xfrm>
            <a:off x="6126480" y="1737360"/>
            <a:ext cx="5623560" cy="1078992"/>
          </a:xfrm>
          <a:prstGeom prst="roundRect">
            <a:avLst/>
          </a:prstGeom>
          <a:solidFill>
            <a:srgbClr val="F2F2F2"/>
          </a:solidFill>
          <a:ln w="28575">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a:extLst>
              <a:ext uri="{FF2B5EF4-FFF2-40B4-BE49-F238E27FC236}">
                <a16:creationId xmlns:a16="http://schemas.microsoft.com/office/drawing/2014/main" id="{40AD6C26-ECBE-0627-116C-9875BA8542DC}"/>
              </a:ext>
            </a:extLst>
          </p:cNvPr>
          <p:cNvSpPr txBox="1"/>
          <p:nvPr/>
        </p:nvSpPr>
        <p:spPr>
          <a:xfrm>
            <a:off x="6309360" y="1847088"/>
            <a:ext cx="5257800" cy="384048"/>
          </a:xfrm>
          <a:prstGeom prst="rect">
            <a:avLst/>
          </a:prstGeom>
          <a:noFill/>
        </p:spPr>
        <p:txBody>
          <a:bodyPr wrap="square" lIns="0" tIns="0" rIns="0" bIns="0" anchor="t">
            <a:spAutoFit/>
          </a:bodyPr>
          <a:lstStyle/>
          <a:p>
            <a:pPr algn="l"/>
            <a:r>
              <a:rPr sz="2400" b="1">
                <a:solidFill>
                  <a:srgbClr val="262626"/>
                </a:solidFill>
                <a:latin typeface="Meiryo"/>
                <a:ea typeface="Meiryo"/>
                <a:cs typeface="Meiryo"/>
              </a:rPr>
              <a:t>合成波</a:t>
            </a:r>
          </a:p>
        </p:txBody>
      </p:sp>
      <p:sp>
        <p:nvSpPr>
          <p:cNvPr id="38" name="TextBox 37">
            <a:extLst>
              <a:ext uri="{FF2B5EF4-FFF2-40B4-BE49-F238E27FC236}">
                <a16:creationId xmlns:a16="http://schemas.microsoft.com/office/drawing/2014/main" id="{4B6B0F96-330A-22FF-B37E-B58435341C04}"/>
              </a:ext>
            </a:extLst>
          </p:cNvPr>
          <p:cNvSpPr txBox="1"/>
          <p:nvPr/>
        </p:nvSpPr>
        <p:spPr>
          <a:xfrm>
            <a:off x="6309360" y="2304288"/>
            <a:ext cx="5257800" cy="384048"/>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実際に記録された 1 拍の波形</a:t>
            </a:r>
          </a:p>
        </p:txBody>
      </p:sp>
      <p:sp>
        <p:nvSpPr>
          <p:cNvPr id="39" name="Rounded Rectangle 38">
            <a:extLst>
              <a:ext uri="{FF2B5EF4-FFF2-40B4-BE49-F238E27FC236}">
                <a16:creationId xmlns:a16="http://schemas.microsoft.com/office/drawing/2014/main" id="{98D58F3E-73C8-BC33-F4C7-41025EE21AE2}"/>
              </a:ext>
            </a:extLst>
          </p:cNvPr>
          <p:cNvSpPr/>
          <p:nvPr/>
        </p:nvSpPr>
        <p:spPr>
          <a:xfrm>
            <a:off x="6126480" y="2926080"/>
            <a:ext cx="5623560" cy="1078992"/>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a:extLst>
              <a:ext uri="{FF2B5EF4-FFF2-40B4-BE49-F238E27FC236}">
                <a16:creationId xmlns:a16="http://schemas.microsoft.com/office/drawing/2014/main" id="{F57A6FCB-FA4E-1CBD-0D56-D7BFDBFCC954}"/>
              </a:ext>
            </a:extLst>
          </p:cNvPr>
          <p:cNvSpPr txBox="1"/>
          <p:nvPr/>
        </p:nvSpPr>
        <p:spPr>
          <a:xfrm>
            <a:off x="6309360" y="3035808"/>
            <a:ext cx="5257800" cy="384048"/>
          </a:xfrm>
          <a:prstGeom prst="rect">
            <a:avLst/>
          </a:prstGeom>
          <a:noFill/>
        </p:spPr>
        <p:txBody>
          <a:bodyPr wrap="square" lIns="0" tIns="0" rIns="0" bIns="0" anchor="t">
            <a:spAutoFit/>
          </a:bodyPr>
          <a:lstStyle/>
          <a:p>
            <a:pPr algn="l"/>
            <a:r>
              <a:rPr sz="2400" b="1" dirty="0" err="1">
                <a:solidFill>
                  <a:srgbClr val="0072B2"/>
                </a:solidFill>
                <a:latin typeface="Meiryo"/>
                <a:ea typeface="Meiryo"/>
                <a:cs typeface="Meiryo"/>
              </a:rPr>
              <a:t>成分波</a:t>
            </a:r>
            <a:r>
              <a:rPr lang="ja-JP" altLang="en-US" sz="2400" b="1">
                <a:solidFill>
                  <a:srgbClr val="0072B2"/>
                </a:solidFill>
                <a:latin typeface="Meiryo"/>
                <a:ea typeface="Meiryo"/>
                <a:cs typeface="Meiryo"/>
              </a:rPr>
              <a:t>（カーネル）</a:t>
            </a:r>
            <a:endParaRPr sz="2400" b="1" dirty="0">
              <a:solidFill>
                <a:srgbClr val="0072B2"/>
              </a:solidFill>
              <a:latin typeface="Meiryo"/>
              <a:ea typeface="Meiryo"/>
              <a:cs typeface="Meiryo"/>
            </a:endParaRPr>
          </a:p>
        </p:txBody>
      </p:sp>
      <p:sp>
        <p:nvSpPr>
          <p:cNvPr id="41" name="TextBox 40">
            <a:extLst>
              <a:ext uri="{FF2B5EF4-FFF2-40B4-BE49-F238E27FC236}">
                <a16:creationId xmlns:a16="http://schemas.microsoft.com/office/drawing/2014/main" id="{9105FBDE-7F10-D0EC-916B-A9C7BEDDA292}"/>
              </a:ext>
            </a:extLst>
          </p:cNvPr>
          <p:cNvSpPr txBox="1"/>
          <p:nvPr/>
        </p:nvSpPr>
        <p:spPr>
          <a:xfrm>
            <a:off x="6309360" y="3493008"/>
            <a:ext cx="5257800" cy="384048"/>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合成波を作っているとみなす個々の波</a:t>
            </a:r>
          </a:p>
        </p:txBody>
      </p:sp>
      <p:sp>
        <p:nvSpPr>
          <p:cNvPr id="45" name="Rounded Rectangle 44">
            <a:extLst>
              <a:ext uri="{FF2B5EF4-FFF2-40B4-BE49-F238E27FC236}">
                <a16:creationId xmlns:a16="http://schemas.microsoft.com/office/drawing/2014/main" id="{B5FC49D9-B584-6852-4B66-08C06016B80B}"/>
              </a:ext>
            </a:extLst>
          </p:cNvPr>
          <p:cNvSpPr/>
          <p:nvPr/>
        </p:nvSpPr>
        <p:spPr>
          <a:xfrm>
            <a:off x="6126480" y="4548781"/>
            <a:ext cx="5623560" cy="96012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Box 45">
            <a:extLst>
              <a:ext uri="{FF2B5EF4-FFF2-40B4-BE49-F238E27FC236}">
                <a16:creationId xmlns:a16="http://schemas.microsoft.com/office/drawing/2014/main" id="{CBD7A859-E11D-F16B-4BA4-42944B527E47}"/>
              </a:ext>
            </a:extLst>
          </p:cNvPr>
          <p:cNvSpPr txBox="1"/>
          <p:nvPr/>
        </p:nvSpPr>
        <p:spPr>
          <a:xfrm>
            <a:off x="6291072" y="4662541"/>
            <a:ext cx="5294376" cy="746358"/>
          </a:xfrm>
          <a:prstGeom prst="rect">
            <a:avLst/>
          </a:prstGeom>
          <a:noFill/>
        </p:spPr>
        <p:txBody>
          <a:bodyPr wrap="square" lIns="0" tIns="0" rIns="0" bIns="0" anchor="t">
            <a:spAutoFit/>
          </a:bodyPr>
          <a:lstStyle/>
          <a:p>
            <a:pPr algn="ctr">
              <a:spcAft>
                <a:spcPts val="300"/>
              </a:spcAft>
            </a:pPr>
            <a:r>
              <a:rPr lang="en-US" altLang="ja-JP" sz="2300" b="1" dirty="0">
                <a:solidFill>
                  <a:srgbClr val="262626"/>
                </a:solidFill>
                <a:latin typeface="Meiryo"/>
                <a:ea typeface="Meiryo"/>
                <a:cs typeface="Meiryo"/>
              </a:rPr>
              <a:t>PDA</a:t>
            </a:r>
            <a:r>
              <a:rPr lang="ja-JP" altLang="en-US" sz="2300" b="1">
                <a:solidFill>
                  <a:srgbClr val="262626"/>
                </a:solidFill>
                <a:latin typeface="Meiryo"/>
                <a:ea typeface="Meiryo"/>
                <a:cs typeface="Meiryo"/>
              </a:rPr>
              <a:t>では成分波を</a:t>
            </a:r>
            <a:endParaRPr lang="en-US" altLang="ja-JP" sz="2300" b="1" dirty="0">
              <a:solidFill>
                <a:srgbClr val="262626"/>
              </a:solidFill>
              <a:latin typeface="Meiryo"/>
              <a:ea typeface="Meiryo"/>
              <a:cs typeface="Meiryo"/>
            </a:endParaRPr>
          </a:p>
          <a:p>
            <a:pPr algn="ctr">
              <a:spcAft>
                <a:spcPts val="300"/>
              </a:spcAft>
            </a:pPr>
            <a:r>
              <a:rPr lang="ja-JP" altLang="en-US" sz="2300" b="1">
                <a:solidFill>
                  <a:srgbClr val="262626"/>
                </a:solidFill>
                <a:latin typeface="Meiryo"/>
                <a:ea typeface="Meiryo"/>
                <a:cs typeface="Meiryo"/>
              </a:rPr>
              <a:t>波形（基底関数）と個数で推測する。</a:t>
            </a:r>
            <a:endParaRPr sz="2300" b="1" dirty="0">
              <a:solidFill>
                <a:srgbClr val="262626"/>
              </a:solidFill>
              <a:latin typeface="Meiryo"/>
              <a:ea typeface="Meiryo"/>
              <a:cs typeface="Meiryo"/>
            </a:endParaRPr>
          </a:p>
        </p:txBody>
      </p:sp>
      <p:sp>
        <p:nvSpPr>
          <p:cNvPr id="47" name="PageNo">
            <a:extLst>
              <a:ext uri="{FF2B5EF4-FFF2-40B4-BE49-F238E27FC236}">
                <a16:creationId xmlns:a16="http://schemas.microsoft.com/office/drawing/2014/main" id="{F89D066F-442F-74B8-D60A-FDE9AAD182BE}"/>
              </a:ext>
            </a:extLst>
          </p:cNvPr>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76/118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4">
            <a:extLst>
              <a:ext uri="{FF2B5EF4-FFF2-40B4-BE49-F238E27FC236}">
                <a16:creationId xmlns:a16="http://schemas.microsoft.com/office/drawing/2014/main" id="{AA9D36CE-3772-F005-B54C-9329ADA7F086}"/>
              </a:ext>
            </a:extLst>
          </p:cNvPr>
          <p:cNvSpPr/>
          <p:nvPr/>
        </p:nvSpPr>
        <p:spPr>
          <a:xfrm>
            <a:off x="1085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548295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5DBDF-236A-9AB8-D8EF-FDC06CE642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055108-5849-D257-6BA6-4DCC3765698F}"/>
              </a:ext>
            </a:extLst>
          </p:cNvPr>
          <p:cNvSpPr>
            <a:spLocks noGrp="1"/>
          </p:cNvSpPr>
          <p:nvPr>
            <p:ph type="title"/>
          </p:nvPr>
        </p:nvSpPr>
        <p:spPr/>
        <p:txBody>
          <a:bodyPr/>
          <a:lstStyle/>
          <a:p>
            <a:pPr algn="l"/>
            <a:r>
              <a:rPr sz="4600" dirty="0">
                <a:latin typeface="Meiryo"/>
                <a:ea typeface="Meiryo"/>
                <a:cs typeface="Meiryo"/>
              </a:rPr>
              <a:t>5.2  基底関数とは</a:t>
            </a:r>
          </a:p>
        </p:txBody>
      </p:sp>
      <p:sp>
        <p:nvSpPr>
          <p:cNvPr id="29" name="Source">
            <a:extLst>
              <a:ext uri="{FF2B5EF4-FFF2-40B4-BE49-F238E27FC236}">
                <a16:creationId xmlns:a16="http://schemas.microsoft.com/office/drawing/2014/main" id="{662B7479-B9B2-F535-E7EE-58039C18EEE1}"/>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41. Rubins 2008　／　43. Tigges 2017</a:t>
            </a:r>
          </a:p>
        </p:txBody>
      </p:sp>
      <p:sp>
        <p:nvSpPr>
          <p:cNvPr id="46" name="PageNo">
            <a:extLst>
              <a:ext uri="{FF2B5EF4-FFF2-40B4-BE49-F238E27FC236}">
                <a16:creationId xmlns:a16="http://schemas.microsoft.com/office/drawing/2014/main" id="{FB34E537-A4B6-4B2C-821E-4EBB58053961}"/>
              </a:ext>
            </a:extLst>
          </p:cNvPr>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77/118</a:t>
            </a:r>
          </a:p>
        </p:txBody>
      </p:sp>
      <p:sp>
        <p:nvSpPr>
          <p:cNvPr id="3" name="Freeform 2">
            <a:extLst>
              <a:ext uri="{FF2B5EF4-FFF2-40B4-BE49-F238E27FC236}">
                <a16:creationId xmlns:a16="http://schemas.microsoft.com/office/drawing/2014/main" id="{0FE731D5-BA96-DC1D-C281-A27E5751337C}"/>
              </a:ext>
            </a:extLst>
          </p:cNvPr>
          <p:cNvSpPr/>
          <p:nvPr/>
        </p:nvSpPr>
        <p:spPr>
          <a:xfrm>
            <a:off x="1051560" y="2358039"/>
            <a:ext cx="5577840" cy="2110844"/>
          </a:xfrm>
          <a:custGeom>
            <a:avLst/>
            <a:gdLst/>
            <a:ahLst/>
            <a:cxnLst/>
            <a:rect l="l" t="t" r="r" b="b"/>
            <a:pathLst>
              <a:path w="5577840" h="2110844">
                <a:moveTo>
                  <a:pt x="0" y="2110844"/>
                </a:moveTo>
                <a:lnTo>
                  <a:pt x="23338" y="2109787"/>
                </a:lnTo>
                <a:lnTo>
                  <a:pt x="46676" y="2108643"/>
                </a:lnTo>
                <a:lnTo>
                  <a:pt x="70014" y="2107408"/>
                </a:lnTo>
                <a:lnTo>
                  <a:pt x="93352" y="2106076"/>
                </a:lnTo>
                <a:lnTo>
                  <a:pt x="116691" y="2104638"/>
                </a:lnTo>
                <a:lnTo>
                  <a:pt x="140029" y="2103089"/>
                </a:lnTo>
                <a:lnTo>
                  <a:pt x="163367" y="2101421"/>
                </a:lnTo>
                <a:lnTo>
                  <a:pt x="186705" y="2099627"/>
                </a:lnTo>
                <a:lnTo>
                  <a:pt x="210044" y="2097699"/>
                </a:lnTo>
                <a:lnTo>
                  <a:pt x="233382" y="2095627"/>
                </a:lnTo>
                <a:lnTo>
                  <a:pt x="256720" y="2093404"/>
                </a:lnTo>
                <a:lnTo>
                  <a:pt x="280058" y="2091020"/>
                </a:lnTo>
                <a:lnTo>
                  <a:pt x="303397" y="2088465"/>
                </a:lnTo>
                <a:lnTo>
                  <a:pt x="326735" y="2085731"/>
                </a:lnTo>
                <a:lnTo>
                  <a:pt x="350073" y="2082805"/>
                </a:lnTo>
                <a:lnTo>
                  <a:pt x="373411" y="2079679"/>
                </a:lnTo>
                <a:lnTo>
                  <a:pt x="396750" y="2076339"/>
                </a:lnTo>
                <a:lnTo>
                  <a:pt x="420088" y="2072776"/>
                </a:lnTo>
                <a:lnTo>
                  <a:pt x="443426" y="2068977"/>
                </a:lnTo>
                <a:lnTo>
                  <a:pt x="466764" y="2064930"/>
                </a:lnTo>
                <a:lnTo>
                  <a:pt x="490103" y="2060622"/>
                </a:lnTo>
                <a:lnTo>
                  <a:pt x="513441" y="2056040"/>
                </a:lnTo>
                <a:lnTo>
                  <a:pt x="536779" y="2051171"/>
                </a:lnTo>
                <a:lnTo>
                  <a:pt x="560117" y="2046001"/>
                </a:lnTo>
                <a:lnTo>
                  <a:pt x="583456" y="2040516"/>
                </a:lnTo>
                <a:lnTo>
                  <a:pt x="606794" y="2034702"/>
                </a:lnTo>
                <a:lnTo>
                  <a:pt x="630132" y="2028545"/>
                </a:lnTo>
                <a:lnTo>
                  <a:pt x="653470" y="2022029"/>
                </a:lnTo>
                <a:lnTo>
                  <a:pt x="676809" y="2015139"/>
                </a:lnTo>
                <a:lnTo>
                  <a:pt x="700147" y="2007861"/>
                </a:lnTo>
                <a:lnTo>
                  <a:pt x="723485" y="2000178"/>
                </a:lnTo>
                <a:lnTo>
                  <a:pt x="746823" y="1992076"/>
                </a:lnTo>
                <a:lnTo>
                  <a:pt x="770162" y="1983539"/>
                </a:lnTo>
                <a:lnTo>
                  <a:pt x="793500" y="1974550"/>
                </a:lnTo>
                <a:lnTo>
                  <a:pt x="816838" y="1965096"/>
                </a:lnTo>
                <a:lnTo>
                  <a:pt x="840176" y="1955159"/>
                </a:lnTo>
                <a:lnTo>
                  <a:pt x="863514" y="1944724"/>
                </a:lnTo>
                <a:lnTo>
                  <a:pt x="886853" y="1933777"/>
                </a:lnTo>
                <a:lnTo>
                  <a:pt x="910191" y="1922301"/>
                </a:lnTo>
                <a:lnTo>
                  <a:pt x="933529" y="1910282"/>
                </a:lnTo>
                <a:lnTo>
                  <a:pt x="956867" y="1897706"/>
                </a:lnTo>
                <a:lnTo>
                  <a:pt x="980206" y="1884558"/>
                </a:lnTo>
                <a:lnTo>
                  <a:pt x="1003544" y="1870824"/>
                </a:lnTo>
                <a:lnTo>
                  <a:pt x="1026882" y="1856492"/>
                </a:lnTo>
                <a:lnTo>
                  <a:pt x="1050220" y="1841549"/>
                </a:lnTo>
                <a:lnTo>
                  <a:pt x="1073559" y="1825982"/>
                </a:lnTo>
                <a:lnTo>
                  <a:pt x="1096897" y="1809781"/>
                </a:lnTo>
                <a:lnTo>
                  <a:pt x="1120235" y="1792935"/>
                </a:lnTo>
                <a:lnTo>
                  <a:pt x="1143573" y="1775434"/>
                </a:lnTo>
                <a:lnTo>
                  <a:pt x="1166912" y="1757271"/>
                </a:lnTo>
                <a:lnTo>
                  <a:pt x="1190250" y="1738437"/>
                </a:lnTo>
                <a:lnTo>
                  <a:pt x="1213588" y="1718926"/>
                </a:lnTo>
                <a:lnTo>
                  <a:pt x="1236926" y="1698732"/>
                </a:lnTo>
                <a:lnTo>
                  <a:pt x="1260265" y="1677853"/>
                </a:lnTo>
                <a:lnTo>
                  <a:pt x="1283603" y="1656285"/>
                </a:lnTo>
                <a:lnTo>
                  <a:pt x="1306941" y="1634026"/>
                </a:lnTo>
                <a:lnTo>
                  <a:pt x="1330279" y="1611078"/>
                </a:lnTo>
                <a:lnTo>
                  <a:pt x="1353618" y="1587442"/>
                </a:lnTo>
                <a:lnTo>
                  <a:pt x="1376956" y="1563121"/>
                </a:lnTo>
                <a:lnTo>
                  <a:pt x="1400294" y="1538121"/>
                </a:lnTo>
                <a:lnTo>
                  <a:pt x="1423632" y="1512449"/>
                </a:lnTo>
                <a:lnTo>
                  <a:pt x="1446971" y="1486112"/>
                </a:lnTo>
                <a:lnTo>
                  <a:pt x="1470309" y="1459122"/>
                </a:lnTo>
                <a:lnTo>
                  <a:pt x="1493647" y="1431491"/>
                </a:lnTo>
                <a:lnTo>
                  <a:pt x="1516985" y="1403234"/>
                </a:lnTo>
                <a:lnTo>
                  <a:pt x="1540324" y="1374366"/>
                </a:lnTo>
                <a:lnTo>
                  <a:pt x="1563662" y="1344907"/>
                </a:lnTo>
                <a:lnTo>
                  <a:pt x="1587000" y="1314877"/>
                </a:lnTo>
                <a:lnTo>
                  <a:pt x="1610338" y="1284297"/>
                </a:lnTo>
                <a:lnTo>
                  <a:pt x="1633676" y="1253194"/>
                </a:lnTo>
                <a:lnTo>
                  <a:pt x="1657015" y="1221593"/>
                </a:lnTo>
                <a:lnTo>
                  <a:pt x="1680353" y="1189524"/>
                </a:lnTo>
                <a:lnTo>
                  <a:pt x="1703691" y="1157017"/>
                </a:lnTo>
                <a:lnTo>
                  <a:pt x="1727029" y="1124105"/>
                </a:lnTo>
                <a:lnTo>
                  <a:pt x="1750368" y="1090824"/>
                </a:lnTo>
                <a:lnTo>
                  <a:pt x="1773706" y="1057209"/>
                </a:lnTo>
                <a:lnTo>
                  <a:pt x="1797044" y="1023301"/>
                </a:lnTo>
                <a:lnTo>
                  <a:pt x="1820382" y="989139"/>
                </a:lnTo>
                <a:lnTo>
                  <a:pt x="1843721" y="954767"/>
                </a:lnTo>
                <a:lnTo>
                  <a:pt x="1867059" y="920229"/>
                </a:lnTo>
                <a:lnTo>
                  <a:pt x="1890397" y="885572"/>
                </a:lnTo>
                <a:lnTo>
                  <a:pt x="1913735" y="850842"/>
                </a:lnTo>
                <a:lnTo>
                  <a:pt x="1937074" y="816089"/>
                </a:lnTo>
                <a:lnTo>
                  <a:pt x="1960412" y="781364"/>
                </a:lnTo>
                <a:lnTo>
                  <a:pt x="1983750" y="746720"/>
                </a:lnTo>
                <a:lnTo>
                  <a:pt x="2007088" y="712208"/>
                </a:lnTo>
                <a:lnTo>
                  <a:pt x="2030427" y="677884"/>
                </a:lnTo>
                <a:lnTo>
                  <a:pt x="2053765" y="643802"/>
                </a:lnTo>
                <a:lnTo>
                  <a:pt x="2077103" y="610019"/>
                </a:lnTo>
                <a:lnTo>
                  <a:pt x="2100441" y="576590"/>
                </a:lnTo>
                <a:lnTo>
                  <a:pt x="2123780" y="543574"/>
                </a:lnTo>
                <a:lnTo>
                  <a:pt x="2147118" y="511028"/>
                </a:lnTo>
                <a:lnTo>
                  <a:pt x="2170456" y="479008"/>
                </a:lnTo>
                <a:lnTo>
                  <a:pt x="2193794" y="447574"/>
                </a:lnTo>
                <a:lnTo>
                  <a:pt x="2217133" y="416781"/>
                </a:lnTo>
                <a:lnTo>
                  <a:pt x="2240471" y="386688"/>
                </a:lnTo>
                <a:lnTo>
                  <a:pt x="2263809" y="357351"/>
                </a:lnTo>
                <a:lnTo>
                  <a:pt x="2287147" y="328825"/>
                </a:lnTo>
                <a:lnTo>
                  <a:pt x="2310486" y="301166"/>
                </a:lnTo>
                <a:lnTo>
                  <a:pt x="2333824" y="274428"/>
                </a:lnTo>
                <a:lnTo>
                  <a:pt x="2357162" y="248663"/>
                </a:lnTo>
                <a:lnTo>
                  <a:pt x="2380500" y="223923"/>
                </a:lnTo>
                <a:lnTo>
                  <a:pt x="2403838" y="200258"/>
                </a:lnTo>
                <a:lnTo>
                  <a:pt x="2427177" y="177715"/>
                </a:lnTo>
                <a:lnTo>
                  <a:pt x="2450515" y="156341"/>
                </a:lnTo>
                <a:lnTo>
                  <a:pt x="2473853" y="136180"/>
                </a:lnTo>
                <a:lnTo>
                  <a:pt x="2497191" y="117274"/>
                </a:lnTo>
                <a:lnTo>
                  <a:pt x="2520530" y="99663"/>
                </a:lnTo>
                <a:lnTo>
                  <a:pt x="2543868" y="83383"/>
                </a:lnTo>
                <a:lnTo>
                  <a:pt x="2567206" y="68470"/>
                </a:lnTo>
                <a:lnTo>
                  <a:pt x="2590544" y="54955"/>
                </a:lnTo>
                <a:lnTo>
                  <a:pt x="2613883" y="42867"/>
                </a:lnTo>
                <a:lnTo>
                  <a:pt x="2637221" y="32232"/>
                </a:lnTo>
                <a:lnTo>
                  <a:pt x="2660559" y="23073"/>
                </a:lnTo>
                <a:lnTo>
                  <a:pt x="2683897" y="15410"/>
                </a:lnTo>
                <a:lnTo>
                  <a:pt x="2707236" y="9259"/>
                </a:lnTo>
                <a:lnTo>
                  <a:pt x="2730574" y="4634"/>
                </a:lnTo>
                <a:lnTo>
                  <a:pt x="2753912" y="1546"/>
                </a:lnTo>
                <a:lnTo>
                  <a:pt x="2777250" y="0"/>
                </a:lnTo>
                <a:lnTo>
                  <a:pt x="2800589" y="0"/>
                </a:lnTo>
                <a:lnTo>
                  <a:pt x="2823927" y="1546"/>
                </a:lnTo>
                <a:lnTo>
                  <a:pt x="2847265" y="4634"/>
                </a:lnTo>
                <a:lnTo>
                  <a:pt x="2870603" y="9259"/>
                </a:lnTo>
                <a:lnTo>
                  <a:pt x="2893942" y="15410"/>
                </a:lnTo>
                <a:lnTo>
                  <a:pt x="2917280" y="23073"/>
                </a:lnTo>
                <a:lnTo>
                  <a:pt x="2940618" y="32232"/>
                </a:lnTo>
                <a:lnTo>
                  <a:pt x="2963956" y="42867"/>
                </a:lnTo>
                <a:lnTo>
                  <a:pt x="2987295" y="54955"/>
                </a:lnTo>
                <a:lnTo>
                  <a:pt x="3010633" y="68470"/>
                </a:lnTo>
                <a:lnTo>
                  <a:pt x="3033971" y="83383"/>
                </a:lnTo>
                <a:lnTo>
                  <a:pt x="3057309" y="99663"/>
                </a:lnTo>
                <a:lnTo>
                  <a:pt x="3080648" y="117274"/>
                </a:lnTo>
                <a:lnTo>
                  <a:pt x="3103986" y="136180"/>
                </a:lnTo>
                <a:lnTo>
                  <a:pt x="3127324" y="156341"/>
                </a:lnTo>
                <a:lnTo>
                  <a:pt x="3150662" y="177715"/>
                </a:lnTo>
                <a:lnTo>
                  <a:pt x="3174001" y="200258"/>
                </a:lnTo>
                <a:lnTo>
                  <a:pt x="3197339" y="223923"/>
                </a:lnTo>
                <a:lnTo>
                  <a:pt x="3220677" y="248663"/>
                </a:lnTo>
                <a:lnTo>
                  <a:pt x="3244015" y="274428"/>
                </a:lnTo>
                <a:lnTo>
                  <a:pt x="3267353" y="301166"/>
                </a:lnTo>
                <a:lnTo>
                  <a:pt x="3290692" y="328825"/>
                </a:lnTo>
                <a:lnTo>
                  <a:pt x="3314030" y="357351"/>
                </a:lnTo>
                <a:lnTo>
                  <a:pt x="3337368" y="386688"/>
                </a:lnTo>
                <a:lnTo>
                  <a:pt x="3360706" y="416781"/>
                </a:lnTo>
                <a:lnTo>
                  <a:pt x="3384045" y="447574"/>
                </a:lnTo>
                <a:lnTo>
                  <a:pt x="3407383" y="479008"/>
                </a:lnTo>
                <a:lnTo>
                  <a:pt x="3430721" y="511028"/>
                </a:lnTo>
                <a:lnTo>
                  <a:pt x="3454059" y="543574"/>
                </a:lnTo>
                <a:lnTo>
                  <a:pt x="3477398" y="576590"/>
                </a:lnTo>
                <a:lnTo>
                  <a:pt x="3500736" y="610019"/>
                </a:lnTo>
                <a:lnTo>
                  <a:pt x="3524074" y="643802"/>
                </a:lnTo>
                <a:lnTo>
                  <a:pt x="3547412" y="677884"/>
                </a:lnTo>
                <a:lnTo>
                  <a:pt x="3570751" y="712208"/>
                </a:lnTo>
                <a:lnTo>
                  <a:pt x="3594089" y="746720"/>
                </a:lnTo>
                <a:lnTo>
                  <a:pt x="3617427" y="781364"/>
                </a:lnTo>
                <a:lnTo>
                  <a:pt x="3640765" y="816089"/>
                </a:lnTo>
                <a:lnTo>
                  <a:pt x="3664104" y="850842"/>
                </a:lnTo>
                <a:lnTo>
                  <a:pt x="3687442" y="885572"/>
                </a:lnTo>
                <a:lnTo>
                  <a:pt x="3710780" y="920229"/>
                </a:lnTo>
                <a:lnTo>
                  <a:pt x="3734118" y="954767"/>
                </a:lnTo>
                <a:lnTo>
                  <a:pt x="3757457" y="989139"/>
                </a:lnTo>
                <a:lnTo>
                  <a:pt x="3780795" y="1023301"/>
                </a:lnTo>
                <a:lnTo>
                  <a:pt x="3804133" y="1057209"/>
                </a:lnTo>
                <a:lnTo>
                  <a:pt x="3827471" y="1090824"/>
                </a:lnTo>
                <a:lnTo>
                  <a:pt x="3850810" y="1124105"/>
                </a:lnTo>
                <a:lnTo>
                  <a:pt x="3874148" y="1157017"/>
                </a:lnTo>
                <a:lnTo>
                  <a:pt x="3897486" y="1189524"/>
                </a:lnTo>
                <a:lnTo>
                  <a:pt x="3920824" y="1221593"/>
                </a:lnTo>
                <a:lnTo>
                  <a:pt x="3944163" y="1253194"/>
                </a:lnTo>
                <a:lnTo>
                  <a:pt x="3967501" y="1284297"/>
                </a:lnTo>
                <a:lnTo>
                  <a:pt x="3990839" y="1314877"/>
                </a:lnTo>
                <a:lnTo>
                  <a:pt x="4014177" y="1344907"/>
                </a:lnTo>
                <a:lnTo>
                  <a:pt x="4037515" y="1374366"/>
                </a:lnTo>
                <a:lnTo>
                  <a:pt x="4060854" y="1403234"/>
                </a:lnTo>
                <a:lnTo>
                  <a:pt x="4084192" y="1431491"/>
                </a:lnTo>
                <a:lnTo>
                  <a:pt x="4107530" y="1459122"/>
                </a:lnTo>
                <a:lnTo>
                  <a:pt x="4130868" y="1486112"/>
                </a:lnTo>
                <a:lnTo>
                  <a:pt x="4154207" y="1512449"/>
                </a:lnTo>
                <a:lnTo>
                  <a:pt x="4177545" y="1538121"/>
                </a:lnTo>
                <a:lnTo>
                  <a:pt x="4200883" y="1563121"/>
                </a:lnTo>
                <a:lnTo>
                  <a:pt x="4224221" y="1587442"/>
                </a:lnTo>
                <a:lnTo>
                  <a:pt x="4247560" y="1611078"/>
                </a:lnTo>
                <a:lnTo>
                  <a:pt x="4270898" y="1634026"/>
                </a:lnTo>
                <a:lnTo>
                  <a:pt x="4294236" y="1656285"/>
                </a:lnTo>
                <a:lnTo>
                  <a:pt x="4317574" y="1677853"/>
                </a:lnTo>
                <a:lnTo>
                  <a:pt x="4340913" y="1698732"/>
                </a:lnTo>
                <a:lnTo>
                  <a:pt x="4364251" y="1718926"/>
                </a:lnTo>
                <a:lnTo>
                  <a:pt x="4387589" y="1738437"/>
                </a:lnTo>
                <a:lnTo>
                  <a:pt x="4410927" y="1757271"/>
                </a:lnTo>
                <a:lnTo>
                  <a:pt x="4434266" y="1775434"/>
                </a:lnTo>
                <a:lnTo>
                  <a:pt x="4457604" y="1792935"/>
                </a:lnTo>
                <a:lnTo>
                  <a:pt x="4480942" y="1809781"/>
                </a:lnTo>
                <a:lnTo>
                  <a:pt x="4504280" y="1825982"/>
                </a:lnTo>
                <a:lnTo>
                  <a:pt x="4527619" y="1841549"/>
                </a:lnTo>
                <a:lnTo>
                  <a:pt x="4550957" y="1856492"/>
                </a:lnTo>
                <a:lnTo>
                  <a:pt x="4574295" y="1870824"/>
                </a:lnTo>
                <a:lnTo>
                  <a:pt x="4597633" y="1884558"/>
                </a:lnTo>
                <a:lnTo>
                  <a:pt x="4620972" y="1897706"/>
                </a:lnTo>
                <a:lnTo>
                  <a:pt x="4644310" y="1910282"/>
                </a:lnTo>
                <a:lnTo>
                  <a:pt x="4667648" y="1922301"/>
                </a:lnTo>
                <a:lnTo>
                  <a:pt x="4690986" y="1933777"/>
                </a:lnTo>
                <a:lnTo>
                  <a:pt x="4714325" y="1944724"/>
                </a:lnTo>
                <a:lnTo>
                  <a:pt x="4737663" y="1955159"/>
                </a:lnTo>
                <a:lnTo>
                  <a:pt x="4761001" y="1965096"/>
                </a:lnTo>
                <a:lnTo>
                  <a:pt x="4784339" y="1974550"/>
                </a:lnTo>
                <a:lnTo>
                  <a:pt x="4807677" y="1983539"/>
                </a:lnTo>
                <a:lnTo>
                  <a:pt x="4831016" y="1992076"/>
                </a:lnTo>
                <a:lnTo>
                  <a:pt x="4854354" y="2000178"/>
                </a:lnTo>
                <a:lnTo>
                  <a:pt x="4877692" y="2007861"/>
                </a:lnTo>
                <a:lnTo>
                  <a:pt x="4901030" y="2015139"/>
                </a:lnTo>
                <a:lnTo>
                  <a:pt x="4924369" y="2022029"/>
                </a:lnTo>
                <a:lnTo>
                  <a:pt x="4947707" y="2028545"/>
                </a:lnTo>
                <a:lnTo>
                  <a:pt x="4971045" y="2034702"/>
                </a:lnTo>
                <a:lnTo>
                  <a:pt x="4994383" y="2040516"/>
                </a:lnTo>
                <a:lnTo>
                  <a:pt x="5017722" y="2046001"/>
                </a:lnTo>
                <a:lnTo>
                  <a:pt x="5041060" y="2051171"/>
                </a:lnTo>
                <a:lnTo>
                  <a:pt x="5064398" y="2056040"/>
                </a:lnTo>
                <a:lnTo>
                  <a:pt x="5087736" y="2060622"/>
                </a:lnTo>
                <a:lnTo>
                  <a:pt x="5111075" y="2064930"/>
                </a:lnTo>
                <a:lnTo>
                  <a:pt x="5134413" y="2068977"/>
                </a:lnTo>
                <a:lnTo>
                  <a:pt x="5157751" y="2072776"/>
                </a:lnTo>
                <a:lnTo>
                  <a:pt x="5181089" y="2076339"/>
                </a:lnTo>
                <a:lnTo>
                  <a:pt x="5204428" y="2079679"/>
                </a:lnTo>
                <a:lnTo>
                  <a:pt x="5227766" y="2082805"/>
                </a:lnTo>
                <a:lnTo>
                  <a:pt x="5251104" y="2085731"/>
                </a:lnTo>
                <a:lnTo>
                  <a:pt x="5274442" y="2088465"/>
                </a:lnTo>
                <a:lnTo>
                  <a:pt x="5297781" y="2091020"/>
                </a:lnTo>
                <a:lnTo>
                  <a:pt x="5321119" y="2093404"/>
                </a:lnTo>
                <a:lnTo>
                  <a:pt x="5344457" y="2095627"/>
                </a:lnTo>
                <a:lnTo>
                  <a:pt x="5367795" y="2097699"/>
                </a:lnTo>
                <a:lnTo>
                  <a:pt x="5391134" y="2099627"/>
                </a:lnTo>
                <a:lnTo>
                  <a:pt x="5414472" y="2101421"/>
                </a:lnTo>
                <a:lnTo>
                  <a:pt x="5437810" y="2103089"/>
                </a:lnTo>
                <a:lnTo>
                  <a:pt x="5461148" y="2104638"/>
                </a:lnTo>
                <a:lnTo>
                  <a:pt x="5484487" y="2106076"/>
                </a:lnTo>
                <a:lnTo>
                  <a:pt x="5507825" y="2107408"/>
                </a:lnTo>
                <a:lnTo>
                  <a:pt x="5531163" y="2108643"/>
                </a:lnTo>
                <a:lnTo>
                  <a:pt x="5554501" y="2109787"/>
                </a:lnTo>
                <a:lnTo>
                  <a:pt x="5577840" y="2110844"/>
                </a:lnTo>
              </a:path>
            </a:pathLst>
          </a:custGeom>
          <a:noFill/>
          <a:ln w="34925">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8" name="Connector 47">
            <a:extLst>
              <a:ext uri="{FF2B5EF4-FFF2-40B4-BE49-F238E27FC236}">
                <a16:creationId xmlns:a16="http://schemas.microsoft.com/office/drawing/2014/main" id="{D723C86C-A8B6-53CC-65B4-F18B76C6B91E}"/>
              </a:ext>
            </a:extLst>
          </p:cNvPr>
          <p:cNvCxnSpPr/>
          <p:nvPr/>
        </p:nvCxnSpPr>
        <p:spPr>
          <a:xfrm>
            <a:off x="914399" y="4480560"/>
            <a:ext cx="5806441" cy="0"/>
          </a:xfrm>
          <a:prstGeom prst="line">
            <a:avLst/>
          </a:prstGeom>
          <a:ln w="15875">
            <a:solidFill>
              <a:srgbClr val="595959"/>
            </a:solidFill>
          </a:ln>
        </p:spPr>
        <p:style>
          <a:lnRef idx="2">
            <a:schemeClr val="accent1"/>
          </a:lnRef>
          <a:fillRef idx="0">
            <a:schemeClr val="accent1"/>
          </a:fillRef>
          <a:effectRef idx="1">
            <a:schemeClr val="accent1"/>
          </a:effectRef>
          <a:fontRef idx="minor">
            <a:schemeClr val="tx1"/>
          </a:fontRef>
        </p:style>
      </p:cxnSp>
      <p:cxnSp>
        <p:nvCxnSpPr>
          <p:cNvPr id="49" name="Connector 48">
            <a:extLst>
              <a:ext uri="{FF2B5EF4-FFF2-40B4-BE49-F238E27FC236}">
                <a16:creationId xmlns:a16="http://schemas.microsoft.com/office/drawing/2014/main" id="{3A4A9AA7-9B22-8233-3F84-A001808EDAC9}"/>
              </a:ext>
            </a:extLst>
          </p:cNvPr>
          <p:cNvCxnSpPr/>
          <p:nvPr/>
        </p:nvCxnSpPr>
        <p:spPr>
          <a:xfrm>
            <a:off x="3840479" y="2357845"/>
            <a:ext cx="0" cy="2122715"/>
          </a:xfrm>
          <a:prstGeom prst="line">
            <a:avLst/>
          </a:prstGeom>
          <a:ln w="15875">
            <a:solidFill>
              <a:srgbClr val="595959"/>
            </a:solidFill>
            <a:prstDash val="dash"/>
          </a:ln>
        </p:spPr>
        <p:style>
          <a:lnRef idx="2">
            <a:schemeClr val="accent1"/>
          </a:lnRef>
          <a:fillRef idx="0">
            <a:schemeClr val="accent1"/>
          </a:fillRef>
          <a:effectRef idx="1">
            <a:schemeClr val="accent1"/>
          </a:effectRef>
          <a:fontRef idx="minor">
            <a:schemeClr val="tx1"/>
          </a:fontRef>
        </p:style>
      </p:cxnSp>
      <p:cxnSp>
        <p:nvCxnSpPr>
          <p:cNvPr id="50" name="Connector 49">
            <a:extLst>
              <a:ext uri="{FF2B5EF4-FFF2-40B4-BE49-F238E27FC236}">
                <a16:creationId xmlns:a16="http://schemas.microsoft.com/office/drawing/2014/main" id="{86BBF978-9149-B2A0-5A6D-6C78EF6ACC17}"/>
              </a:ext>
            </a:extLst>
          </p:cNvPr>
          <p:cNvCxnSpPr/>
          <p:nvPr/>
        </p:nvCxnSpPr>
        <p:spPr>
          <a:xfrm>
            <a:off x="1325880" y="2357845"/>
            <a:ext cx="0" cy="2122715"/>
          </a:xfrm>
          <a:prstGeom prst="line">
            <a:avLst/>
          </a:prstGeom>
          <a:ln w="28575">
            <a:solidFill>
              <a:srgbClr val="0072B2"/>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51" name="Connector 50">
            <a:extLst>
              <a:ext uri="{FF2B5EF4-FFF2-40B4-BE49-F238E27FC236}">
                <a16:creationId xmlns:a16="http://schemas.microsoft.com/office/drawing/2014/main" id="{E32EB686-CAE3-A8A5-8F18-05FDFBD9B4E3}"/>
              </a:ext>
            </a:extLst>
          </p:cNvPr>
          <p:cNvCxnSpPr/>
          <p:nvPr/>
        </p:nvCxnSpPr>
        <p:spPr>
          <a:xfrm>
            <a:off x="1325880" y="2357845"/>
            <a:ext cx="2514599" cy="0"/>
          </a:xfrm>
          <a:prstGeom prst="line">
            <a:avLst/>
          </a:prstGeom>
          <a:ln w="12700">
            <a:solidFill>
              <a:srgbClr val="595959"/>
            </a:solidFill>
            <a:prstDash val="dash"/>
          </a:ln>
        </p:spPr>
        <p:style>
          <a:lnRef idx="2">
            <a:schemeClr val="accent1"/>
          </a:lnRef>
          <a:fillRef idx="0">
            <a:schemeClr val="accent1"/>
          </a:fillRef>
          <a:effectRef idx="1">
            <a:schemeClr val="accent1"/>
          </a:effectRef>
          <a:fontRef idx="minor">
            <a:schemeClr val="tx1"/>
          </a:fontRef>
        </p:style>
      </p:cxnSp>
      <p:sp>
        <p:nvSpPr>
          <p:cNvPr id="52" name="TextBox 51">
            <a:extLst>
              <a:ext uri="{FF2B5EF4-FFF2-40B4-BE49-F238E27FC236}">
                <a16:creationId xmlns:a16="http://schemas.microsoft.com/office/drawing/2014/main" id="{404A1514-5E42-A41B-59A8-F02F83AAFBE0}"/>
              </a:ext>
            </a:extLst>
          </p:cNvPr>
          <p:cNvSpPr txBox="1"/>
          <p:nvPr/>
        </p:nvSpPr>
        <p:spPr>
          <a:xfrm>
            <a:off x="594359" y="3163170"/>
            <a:ext cx="566928" cy="503529"/>
          </a:xfrm>
          <a:prstGeom prst="rect">
            <a:avLst/>
          </a:prstGeom>
          <a:noFill/>
        </p:spPr>
        <p:txBody>
          <a:bodyPr wrap="square" lIns="0" tIns="0" rIns="0" bIns="0" anchor="t">
            <a:spAutoFit/>
          </a:bodyPr>
          <a:lstStyle/>
          <a:p>
            <a:pPr algn="r">
              <a:spcAft>
                <a:spcPts val="0"/>
              </a:spcAft>
            </a:pPr>
            <a:r>
              <a:rPr sz="2800" b="1" dirty="0">
                <a:solidFill>
                  <a:srgbClr val="0072B2"/>
                </a:solidFill>
                <a:latin typeface="Meiryo"/>
                <a:ea typeface="Meiryo"/>
                <a:cs typeface="Meiryo"/>
              </a:rPr>
              <a:t>a</a:t>
            </a:r>
          </a:p>
        </p:txBody>
      </p:sp>
      <p:cxnSp>
        <p:nvCxnSpPr>
          <p:cNvPr id="53" name="Connector 52">
            <a:extLst>
              <a:ext uri="{FF2B5EF4-FFF2-40B4-BE49-F238E27FC236}">
                <a16:creationId xmlns:a16="http://schemas.microsoft.com/office/drawing/2014/main" id="{233EA447-2266-77D7-55FB-FFF1EA77E6AA}"/>
              </a:ext>
            </a:extLst>
          </p:cNvPr>
          <p:cNvCxnSpPr/>
          <p:nvPr/>
        </p:nvCxnSpPr>
        <p:spPr>
          <a:xfrm>
            <a:off x="3840479" y="3193068"/>
            <a:ext cx="864566" cy="0"/>
          </a:xfrm>
          <a:prstGeom prst="line">
            <a:avLst/>
          </a:prstGeom>
          <a:ln w="28575">
            <a:solidFill>
              <a:srgbClr val="BF9000"/>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54" name="TextBox 53">
            <a:extLst>
              <a:ext uri="{FF2B5EF4-FFF2-40B4-BE49-F238E27FC236}">
                <a16:creationId xmlns:a16="http://schemas.microsoft.com/office/drawing/2014/main" id="{971EB6DD-9FCC-2BE5-CCC7-60BA6AC0D461}"/>
              </a:ext>
            </a:extLst>
          </p:cNvPr>
          <p:cNvSpPr txBox="1"/>
          <p:nvPr/>
        </p:nvSpPr>
        <p:spPr>
          <a:xfrm>
            <a:off x="3989298" y="2626140"/>
            <a:ext cx="566928" cy="503529"/>
          </a:xfrm>
          <a:prstGeom prst="rect">
            <a:avLst/>
          </a:prstGeom>
          <a:noFill/>
        </p:spPr>
        <p:txBody>
          <a:bodyPr wrap="square" lIns="0" tIns="0" rIns="0" bIns="0" anchor="t">
            <a:spAutoFit/>
          </a:bodyPr>
          <a:lstStyle/>
          <a:p>
            <a:pPr algn="ctr">
              <a:spcAft>
                <a:spcPts val="0"/>
              </a:spcAft>
            </a:pPr>
            <a:r>
              <a:rPr sz="2800" b="1" dirty="0">
                <a:solidFill>
                  <a:srgbClr val="BF9000"/>
                </a:solidFill>
                <a:latin typeface="Meiryo"/>
                <a:ea typeface="Meiryo"/>
                <a:cs typeface="Meiryo"/>
              </a:rPr>
              <a:t>σ</a:t>
            </a:r>
          </a:p>
        </p:txBody>
      </p:sp>
      <p:cxnSp>
        <p:nvCxnSpPr>
          <p:cNvPr id="55" name="Connector 54">
            <a:extLst>
              <a:ext uri="{FF2B5EF4-FFF2-40B4-BE49-F238E27FC236}">
                <a16:creationId xmlns:a16="http://schemas.microsoft.com/office/drawing/2014/main" id="{CC448DA4-5076-4C76-D6EB-2B1CC5D47E6D}"/>
              </a:ext>
            </a:extLst>
          </p:cNvPr>
          <p:cNvCxnSpPr/>
          <p:nvPr/>
        </p:nvCxnSpPr>
        <p:spPr>
          <a:xfrm>
            <a:off x="1051560" y="4736592"/>
            <a:ext cx="2788919" cy="0"/>
          </a:xfrm>
          <a:prstGeom prst="line">
            <a:avLst/>
          </a:prstGeom>
          <a:ln w="28575">
            <a:solidFill>
              <a:srgbClr val="00A8AA"/>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56" name="Connector 55">
            <a:extLst>
              <a:ext uri="{FF2B5EF4-FFF2-40B4-BE49-F238E27FC236}">
                <a16:creationId xmlns:a16="http://schemas.microsoft.com/office/drawing/2014/main" id="{8315A788-A84F-A537-6A25-91690325AF65}"/>
              </a:ext>
            </a:extLst>
          </p:cNvPr>
          <p:cNvCxnSpPr/>
          <p:nvPr/>
        </p:nvCxnSpPr>
        <p:spPr>
          <a:xfrm>
            <a:off x="1051560" y="4480560"/>
            <a:ext cx="0" cy="347472"/>
          </a:xfrm>
          <a:prstGeom prst="line">
            <a:avLst/>
          </a:prstGeom>
          <a:ln w="12700">
            <a:solidFill>
              <a:srgbClr val="595959"/>
            </a:solidFill>
            <a:prstDash val="dash"/>
          </a:ln>
        </p:spPr>
        <p:style>
          <a:lnRef idx="2">
            <a:schemeClr val="accent1"/>
          </a:lnRef>
          <a:fillRef idx="0">
            <a:schemeClr val="accent1"/>
          </a:fillRef>
          <a:effectRef idx="1">
            <a:schemeClr val="accent1"/>
          </a:effectRef>
          <a:fontRef idx="minor">
            <a:schemeClr val="tx1"/>
          </a:fontRef>
        </p:style>
      </p:cxnSp>
      <p:sp>
        <p:nvSpPr>
          <p:cNvPr id="57" name="TextBox 56">
            <a:extLst>
              <a:ext uri="{FF2B5EF4-FFF2-40B4-BE49-F238E27FC236}">
                <a16:creationId xmlns:a16="http://schemas.microsoft.com/office/drawing/2014/main" id="{7528FAB6-2CE0-EAE2-F1C0-77F618B7160C}"/>
              </a:ext>
            </a:extLst>
          </p:cNvPr>
          <p:cNvSpPr txBox="1"/>
          <p:nvPr/>
        </p:nvSpPr>
        <p:spPr>
          <a:xfrm>
            <a:off x="2171700" y="4809744"/>
            <a:ext cx="548640" cy="503529"/>
          </a:xfrm>
          <a:prstGeom prst="rect">
            <a:avLst/>
          </a:prstGeom>
          <a:noFill/>
        </p:spPr>
        <p:txBody>
          <a:bodyPr wrap="square" lIns="0" tIns="0" rIns="0" bIns="0" anchor="t">
            <a:spAutoFit/>
          </a:bodyPr>
          <a:lstStyle/>
          <a:p>
            <a:pPr algn="ctr">
              <a:spcAft>
                <a:spcPts val="0"/>
              </a:spcAft>
            </a:pPr>
            <a:r>
              <a:rPr sz="2800" b="1" dirty="0">
                <a:solidFill>
                  <a:srgbClr val="00A8AA"/>
                </a:solidFill>
                <a:latin typeface="Meiryo"/>
                <a:ea typeface="Meiryo"/>
                <a:cs typeface="Meiryo"/>
              </a:rPr>
              <a:t>μ</a:t>
            </a:r>
          </a:p>
        </p:txBody>
      </p:sp>
      <p:sp>
        <p:nvSpPr>
          <p:cNvPr id="58" name="TextBox 57">
            <a:extLst>
              <a:ext uri="{FF2B5EF4-FFF2-40B4-BE49-F238E27FC236}">
                <a16:creationId xmlns:a16="http://schemas.microsoft.com/office/drawing/2014/main" id="{D840242B-7538-1A2D-09B2-39C8DC604436}"/>
              </a:ext>
            </a:extLst>
          </p:cNvPr>
          <p:cNvSpPr txBox="1"/>
          <p:nvPr/>
        </p:nvSpPr>
        <p:spPr>
          <a:xfrm>
            <a:off x="548639" y="4791456"/>
            <a:ext cx="457200" cy="395630"/>
          </a:xfrm>
          <a:prstGeom prst="rect">
            <a:avLst/>
          </a:prstGeom>
          <a:noFill/>
        </p:spPr>
        <p:txBody>
          <a:bodyPr wrap="square" lIns="0" tIns="0" rIns="0" bIns="0" anchor="t">
            <a:spAutoFit/>
          </a:bodyPr>
          <a:lstStyle/>
          <a:p>
            <a:pPr algn="ctr">
              <a:spcAft>
                <a:spcPts val="0"/>
              </a:spcAft>
            </a:pPr>
            <a:r>
              <a:rPr sz="2200" b="0" dirty="0">
                <a:solidFill>
                  <a:srgbClr val="595959"/>
                </a:solidFill>
                <a:latin typeface="Meiryo"/>
                <a:ea typeface="Meiryo"/>
                <a:cs typeface="Meiryo"/>
              </a:rPr>
              <a:t>0</a:t>
            </a:r>
          </a:p>
        </p:txBody>
      </p:sp>
      <p:sp>
        <p:nvSpPr>
          <p:cNvPr id="59" name="Rounded Rectangle 58">
            <a:extLst>
              <a:ext uri="{FF2B5EF4-FFF2-40B4-BE49-F238E27FC236}">
                <a16:creationId xmlns:a16="http://schemas.microsoft.com/office/drawing/2014/main" id="{651F4394-2218-A6EA-358F-C06B9AB19878}"/>
              </a:ext>
            </a:extLst>
          </p:cNvPr>
          <p:cNvSpPr/>
          <p:nvPr/>
        </p:nvSpPr>
        <p:spPr>
          <a:xfrm>
            <a:off x="7406640" y="1737360"/>
            <a:ext cx="4297680" cy="114300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0" name="TextBox 59">
            <a:extLst>
              <a:ext uri="{FF2B5EF4-FFF2-40B4-BE49-F238E27FC236}">
                <a16:creationId xmlns:a16="http://schemas.microsoft.com/office/drawing/2014/main" id="{AF905B47-5077-94DD-49F1-F5ED623522AF}"/>
              </a:ext>
            </a:extLst>
          </p:cNvPr>
          <p:cNvSpPr txBox="1"/>
          <p:nvPr/>
        </p:nvSpPr>
        <p:spPr>
          <a:xfrm>
            <a:off x="7571231" y="1883664"/>
            <a:ext cx="3968496" cy="467563"/>
          </a:xfrm>
          <a:prstGeom prst="rect">
            <a:avLst/>
          </a:prstGeom>
          <a:noFill/>
        </p:spPr>
        <p:txBody>
          <a:bodyPr wrap="square" lIns="0" tIns="0" rIns="0" bIns="0" anchor="t">
            <a:spAutoFit/>
          </a:bodyPr>
          <a:lstStyle/>
          <a:p>
            <a:pPr algn="l">
              <a:spcAft>
                <a:spcPts val="0"/>
              </a:spcAft>
            </a:pPr>
            <a:r>
              <a:rPr sz="2600" b="1" dirty="0">
                <a:solidFill>
                  <a:srgbClr val="0072B2"/>
                </a:solidFill>
                <a:latin typeface="Meiryo"/>
                <a:ea typeface="Meiryo"/>
                <a:cs typeface="Meiryo"/>
              </a:rPr>
              <a:t>a　高さ</a:t>
            </a:r>
          </a:p>
        </p:txBody>
      </p:sp>
      <p:sp>
        <p:nvSpPr>
          <p:cNvPr id="61" name="TextBox 60">
            <a:extLst>
              <a:ext uri="{FF2B5EF4-FFF2-40B4-BE49-F238E27FC236}">
                <a16:creationId xmlns:a16="http://schemas.microsoft.com/office/drawing/2014/main" id="{7E955104-3772-8BF9-4657-CECAC2B107AD}"/>
              </a:ext>
            </a:extLst>
          </p:cNvPr>
          <p:cNvSpPr txBox="1"/>
          <p:nvPr/>
        </p:nvSpPr>
        <p:spPr>
          <a:xfrm>
            <a:off x="7571231" y="2395728"/>
            <a:ext cx="3968496" cy="338554"/>
          </a:xfrm>
          <a:prstGeom prst="rect">
            <a:avLst/>
          </a:prstGeom>
          <a:noFill/>
        </p:spPr>
        <p:txBody>
          <a:bodyPr wrap="square" lIns="0" tIns="0" rIns="0" bIns="0" anchor="t">
            <a:spAutoFit/>
          </a:bodyPr>
          <a:lstStyle/>
          <a:p>
            <a:pPr algn="l">
              <a:spcAft>
                <a:spcPts val="0"/>
              </a:spcAft>
            </a:pPr>
            <a:r>
              <a:rPr lang="ja-JP" altLang="en-US" sz="2200" b="0">
                <a:solidFill>
                  <a:srgbClr val="262626"/>
                </a:solidFill>
                <a:latin typeface="Meiryo"/>
                <a:ea typeface="Meiryo"/>
                <a:cs typeface="Meiryo"/>
              </a:rPr>
              <a:t>成分波の振幅</a:t>
            </a:r>
            <a:endParaRPr sz="2200" b="0" dirty="0">
              <a:solidFill>
                <a:srgbClr val="262626"/>
              </a:solidFill>
              <a:latin typeface="Meiryo"/>
              <a:ea typeface="Meiryo"/>
              <a:cs typeface="Meiryo"/>
            </a:endParaRPr>
          </a:p>
        </p:txBody>
      </p:sp>
      <p:sp>
        <p:nvSpPr>
          <p:cNvPr id="62" name="Rounded Rectangle 61">
            <a:extLst>
              <a:ext uri="{FF2B5EF4-FFF2-40B4-BE49-F238E27FC236}">
                <a16:creationId xmlns:a16="http://schemas.microsoft.com/office/drawing/2014/main" id="{CDE88096-54A2-B3E1-1141-43DD12F9745F}"/>
              </a:ext>
            </a:extLst>
          </p:cNvPr>
          <p:cNvSpPr/>
          <p:nvPr/>
        </p:nvSpPr>
        <p:spPr>
          <a:xfrm>
            <a:off x="7406640" y="3063239"/>
            <a:ext cx="4297680" cy="114300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3" name="TextBox 62">
            <a:extLst>
              <a:ext uri="{FF2B5EF4-FFF2-40B4-BE49-F238E27FC236}">
                <a16:creationId xmlns:a16="http://schemas.microsoft.com/office/drawing/2014/main" id="{60670455-4920-AF06-50A0-E656DD070331}"/>
              </a:ext>
            </a:extLst>
          </p:cNvPr>
          <p:cNvSpPr txBox="1"/>
          <p:nvPr/>
        </p:nvSpPr>
        <p:spPr>
          <a:xfrm>
            <a:off x="7571231" y="3209544"/>
            <a:ext cx="3968496" cy="467563"/>
          </a:xfrm>
          <a:prstGeom prst="rect">
            <a:avLst/>
          </a:prstGeom>
          <a:noFill/>
        </p:spPr>
        <p:txBody>
          <a:bodyPr wrap="square" lIns="0" tIns="0" rIns="0" bIns="0" anchor="t">
            <a:spAutoFit/>
          </a:bodyPr>
          <a:lstStyle/>
          <a:p>
            <a:pPr algn="l">
              <a:spcAft>
                <a:spcPts val="0"/>
              </a:spcAft>
            </a:pPr>
            <a:r>
              <a:rPr sz="2600" b="1" dirty="0">
                <a:solidFill>
                  <a:srgbClr val="00A8AA"/>
                </a:solidFill>
                <a:latin typeface="Meiryo"/>
                <a:ea typeface="Meiryo"/>
                <a:cs typeface="Meiryo"/>
              </a:rPr>
              <a:t>μ　位置</a:t>
            </a:r>
          </a:p>
        </p:txBody>
      </p:sp>
      <p:sp>
        <p:nvSpPr>
          <p:cNvPr id="64" name="TextBox 63">
            <a:extLst>
              <a:ext uri="{FF2B5EF4-FFF2-40B4-BE49-F238E27FC236}">
                <a16:creationId xmlns:a16="http://schemas.microsoft.com/office/drawing/2014/main" id="{4A0CE04C-9397-0830-F9CF-630C43E40DAA}"/>
              </a:ext>
            </a:extLst>
          </p:cNvPr>
          <p:cNvSpPr txBox="1"/>
          <p:nvPr/>
        </p:nvSpPr>
        <p:spPr>
          <a:xfrm>
            <a:off x="7571231" y="3721607"/>
            <a:ext cx="3968496" cy="338554"/>
          </a:xfrm>
          <a:prstGeom prst="rect">
            <a:avLst/>
          </a:prstGeom>
          <a:noFill/>
        </p:spPr>
        <p:txBody>
          <a:bodyPr wrap="square" lIns="0" tIns="0" rIns="0" bIns="0" anchor="t">
            <a:spAutoFit/>
          </a:bodyPr>
          <a:lstStyle/>
          <a:p>
            <a:pPr algn="l">
              <a:spcAft>
                <a:spcPts val="0"/>
              </a:spcAft>
            </a:pPr>
            <a:r>
              <a:rPr lang="ja-JP" altLang="en-US" sz="2200">
                <a:solidFill>
                  <a:srgbClr val="262626"/>
                </a:solidFill>
                <a:latin typeface="Meiryo"/>
                <a:ea typeface="Meiryo"/>
                <a:cs typeface="Meiryo"/>
              </a:rPr>
              <a:t>成分波のピーク</a:t>
            </a:r>
            <a:r>
              <a:rPr sz="2200" b="0" dirty="0" err="1">
                <a:solidFill>
                  <a:srgbClr val="262626"/>
                </a:solidFill>
                <a:latin typeface="Meiryo"/>
                <a:ea typeface="Meiryo"/>
                <a:cs typeface="Meiryo"/>
              </a:rPr>
              <a:t>時刻</a:t>
            </a:r>
            <a:endParaRPr sz="2200" b="0" dirty="0">
              <a:solidFill>
                <a:srgbClr val="262626"/>
              </a:solidFill>
              <a:latin typeface="Meiryo"/>
              <a:ea typeface="Meiryo"/>
              <a:cs typeface="Meiryo"/>
            </a:endParaRPr>
          </a:p>
        </p:txBody>
      </p:sp>
      <p:sp>
        <p:nvSpPr>
          <p:cNvPr id="65" name="Rounded Rectangle 64">
            <a:extLst>
              <a:ext uri="{FF2B5EF4-FFF2-40B4-BE49-F238E27FC236}">
                <a16:creationId xmlns:a16="http://schemas.microsoft.com/office/drawing/2014/main" id="{AED4DA3D-0E9C-0A3D-CF8D-2118E122E25C}"/>
              </a:ext>
            </a:extLst>
          </p:cNvPr>
          <p:cNvSpPr/>
          <p:nvPr/>
        </p:nvSpPr>
        <p:spPr>
          <a:xfrm>
            <a:off x="7406640" y="4389120"/>
            <a:ext cx="4297680" cy="1143000"/>
          </a:xfrm>
          <a:prstGeom prst="roundRect">
            <a:avLst/>
          </a:prstGeom>
          <a:solidFill>
            <a:srgbClr val="F2F2F2"/>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6" name="TextBox 65">
            <a:extLst>
              <a:ext uri="{FF2B5EF4-FFF2-40B4-BE49-F238E27FC236}">
                <a16:creationId xmlns:a16="http://schemas.microsoft.com/office/drawing/2014/main" id="{7C758299-557A-264A-1B89-9D6AC796D0BD}"/>
              </a:ext>
            </a:extLst>
          </p:cNvPr>
          <p:cNvSpPr txBox="1"/>
          <p:nvPr/>
        </p:nvSpPr>
        <p:spPr>
          <a:xfrm>
            <a:off x="7571231" y="4535424"/>
            <a:ext cx="3968496" cy="467563"/>
          </a:xfrm>
          <a:prstGeom prst="rect">
            <a:avLst/>
          </a:prstGeom>
          <a:noFill/>
        </p:spPr>
        <p:txBody>
          <a:bodyPr wrap="square" lIns="0" tIns="0" rIns="0" bIns="0" anchor="t">
            <a:spAutoFit/>
          </a:bodyPr>
          <a:lstStyle/>
          <a:p>
            <a:pPr algn="l">
              <a:spcAft>
                <a:spcPts val="0"/>
              </a:spcAft>
            </a:pPr>
            <a:r>
              <a:rPr sz="2600" b="1" dirty="0">
                <a:solidFill>
                  <a:srgbClr val="BF9000"/>
                </a:solidFill>
                <a:latin typeface="Meiryo"/>
                <a:ea typeface="Meiryo"/>
                <a:cs typeface="Meiryo"/>
              </a:rPr>
              <a:t>σ　幅</a:t>
            </a:r>
          </a:p>
        </p:txBody>
      </p:sp>
      <p:sp>
        <p:nvSpPr>
          <p:cNvPr id="67" name="TextBox 66">
            <a:extLst>
              <a:ext uri="{FF2B5EF4-FFF2-40B4-BE49-F238E27FC236}">
                <a16:creationId xmlns:a16="http://schemas.microsoft.com/office/drawing/2014/main" id="{896860CB-82F2-E2AD-9E5B-89E6779E649D}"/>
              </a:ext>
            </a:extLst>
          </p:cNvPr>
          <p:cNvSpPr txBox="1"/>
          <p:nvPr/>
        </p:nvSpPr>
        <p:spPr>
          <a:xfrm>
            <a:off x="7571231" y="5047488"/>
            <a:ext cx="3968496" cy="395630"/>
          </a:xfrm>
          <a:prstGeom prst="rect">
            <a:avLst/>
          </a:prstGeom>
          <a:noFill/>
        </p:spPr>
        <p:txBody>
          <a:bodyPr wrap="square" lIns="0" tIns="0" rIns="0" bIns="0" anchor="t">
            <a:spAutoFit/>
          </a:bodyPr>
          <a:lstStyle/>
          <a:p>
            <a:pPr algn="l">
              <a:spcAft>
                <a:spcPts val="0"/>
              </a:spcAft>
            </a:pPr>
            <a:r>
              <a:rPr sz="2200" b="0" dirty="0">
                <a:solidFill>
                  <a:srgbClr val="262626"/>
                </a:solidFill>
                <a:latin typeface="Meiryo"/>
                <a:ea typeface="Meiryo"/>
                <a:cs typeface="Meiryo"/>
              </a:rPr>
              <a:t>波が続く長さ</a:t>
            </a:r>
          </a:p>
        </p:txBody>
      </p:sp>
      <p:sp>
        <p:nvSpPr>
          <p:cNvPr id="68" name="Rounded Rectangle 67">
            <a:extLst>
              <a:ext uri="{FF2B5EF4-FFF2-40B4-BE49-F238E27FC236}">
                <a16:creationId xmlns:a16="http://schemas.microsoft.com/office/drawing/2014/main" id="{7872691D-D8AB-CAF0-8723-B68315306F83}"/>
              </a:ext>
            </a:extLst>
          </p:cNvPr>
          <p:cNvSpPr/>
          <p:nvPr/>
        </p:nvSpPr>
        <p:spPr>
          <a:xfrm>
            <a:off x="502920" y="5742432"/>
            <a:ext cx="11201400" cy="658368"/>
          </a:xfrm>
          <a:prstGeom prst="roundRect">
            <a:avLst/>
          </a:prstGeom>
          <a:solidFill>
            <a:srgbClr val="F2F2F2"/>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9" name="TextBox 68">
            <a:extLst>
              <a:ext uri="{FF2B5EF4-FFF2-40B4-BE49-F238E27FC236}">
                <a16:creationId xmlns:a16="http://schemas.microsoft.com/office/drawing/2014/main" id="{04C1D317-E71C-EF56-4D1F-3BA4DA1D7040}"/>
              </a:ext>
            </a:extLst>
          </p:cNvPr>
          <p:cNvSpPr txBox="1"/>
          <p:nvPr/>
        </p:nvSpPr>
        <p:spPr>
          <a:xfrm>
            <a:off x="685800" y="5907024"/>
            <a:ext cx="10835640" cy="369332"/>
          </a:xfrm>
          <a:prstGeom prst="rect">
            <a:avLst/>
          </a:prstGeom>
          <a:noFill/>
        </p:spPr>
        <p:txBody>
          <a:bodyPr wrap="square" lIns="0" tIns="0" rIns="0" bIns="0" anchor="t">
            <a:spAutoFit/>
          </a:bodyPr>
          <a:lstStyle/>
          <a:p>
            <a:pPr algn="ctr">
              <a:spcAft>
                <a:spcPts val="0"/>
              </a:spcAft>
            </a:pPr>
            <a:r>
              <a:rPr lang="ja-JP" altLang="en-US" sz="2400" b="1">
                <a:solidFill>
                  <a:srgbClr val="262626"/>
                </a:solidFill>
                <a:latin typeface="Meiryo"/>
                <a:ea typeface="Meiryo"/>
                <a:cs typeface="Meiryo"/>
              </a:rPr>
              <a:t>基底関数：成分波の形を表す関数　</a:t>
            </a:r>
            <a:r>
              <a:rPr lang="en-US" altLang="ja-JP" sz="2400" b="1" dirty="0">
                <a:solidFill>
                  <a:srgbClr val="262626"/>
                </a:solidFill>
                <a:latin typeface="Meiryo"/>
                <a:ea typeface="Meiryo"/>
                <a:cs typeface="Meiryo"/>
              </a:rPr>
              <a:t>3</a:t>
            </a:r>
            <a:r>
              <a:rPr lang="ja-JP" altLang="en-US" sz="2400" b="1">
                <a:solidFill>
                  <a:srgbClr val="262626"/>
                </a:solidFill>
                <a:latin typeface="Meiryo"/>
                <a:ea typeface="Meiryo"/>
                <a:cs typeface="Meiryo"/>
              </a:rPr>
              <a:t>つのパラメータで決まる。</a:t>
            </a:r>
            <a:endParaRPr lang="ja-JP" altLang="en-US" sz="2400" b="1" dirty="0">
              <a:solidFill>
                <a:srgbClr val="262626"/>
              </a:solidFill>
              <a:latin typeface="Meiryo"/>
              <a:ea typeface="Meiryo"/>
              <a:cs typeface="Meiryo"/>
            </a:endParaRP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4">
            <a:extLst>
              <a:ext uri="{FF2B5EF4-FFF2-40B4-BE49-F238E27FC236}">
                <a16:creationId xmlns:a16="http://schemas.microsoft.com/office/drawing/2014/main" id="{AA9D36CE-3772-F005-B54C-9329ADA7F086}"/>
              </a:ext>
            </a:extLst>
          </p:cNvPr>
          <p:cNvSpPr/>
          <p:nvPr/>
        </p:nvSpPr>
        <p:spPr>
          <a:xfrm>
            <a:off x="1085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318361196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0D30EA-04E5-625D-0B07-FC40AEA5F8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C8A658-D80F-4D48-F033-E27EBFE0F4EF}"/>
              </a:ext>
            </a:extLst>
          </p:cNvPr>
          <p:cNvSpPr>
            <a:spLocks noGrp="1"/>
          </p:cNvSpPr>
          <p:nvPr>
            <p:ph type="title"/>
          </p:nvPr>
        </p:nvSpPr>
        <p:spPr/>
        <p:txBody>
          <a:bodyPr/>
          <a:lstStyle/>
          <a:p>
            <a:r>
              <a:rPr sz="4600" dirty="0">
                <a:latin typeface="Meiryo"/>
                <a:ea typeface="Meiryo"/>
                <a:cs typeface="Meiryo"/>
              </a:rPr>
              <a:t>5.2</a:t>
            </a:r>
            <a:r>
              <a:rPr lang="en-US" sz="4600" dirty="0">
                <a:latin typeface="Meiryo"/>
                <a:ea typeface="Meiryo"/>
                <a:cs typeface="Meiryo"/>
              </a:rPr>
              <a:t>  </a:t>
            </a:r>
            <a:r>
              <a:rPr lang="ja-JP" altLang="en-US" sz="4600">
                <a:latin typeface="Meiryo"/>
                <a:ea typeface="Meiryo"/>
                <a:cs typeface="Meiryo"/>
              </a:rPr>
              <a:t>代表的な基底関数の形</a:t>
            </a:r>
            <a:endParaRPr sz="4600" dirty="0">
              <a:latin typeface="Meiryo"/>
              <a:ea typeface="Meiryo"/>
              <a:cs typeface="Meiryo"/>
            </a:endParaRPr>
          </a:p>
        </p:txBody>
      </p:sp>
      <p:sp>
        <p:nvSpPr>
          <p:cNvPr id="17" name="Source">
            <a:extLst>
              <a:ext uri="{FF2B5EF4-FFF2-40B4-BE49-F238E27FC236}">
                <a16:creationId xmlns:a16="http://schemas.microsoft.com/office/drawing/2014/main" id="{791A7FE7-9F34-BABB-F951-C8EED51C1EBC}"/>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36. Fleischhauer 2020　／　43. Tigges 2017　／　44. Basso 2024</a:t>
            </a:r>
          </a:p>
        </p:txBody>
      </p:sp>
      <p:sp>
        <p:nvSpPr>
          <p:cNvPr id="18" name="TextBox 17">
            <a:extLst>
              <a:ext uri="{FF2B5EF4-FFF2-40B4-BE49-F238E27FC236}">
                <a16:creationId xmlns:a16="http://schemas.microsoft.com/office/drawing/2014/main" id="{F7170AA8-D267-0134-E8A6-0E5CF85D4AF0}"/>
              </a:ext>
            </a:extLst>
          </p:cNvPr>
          <p:cNvSpPr txBox="1"/>
          <p:nvPr/>
        </p:nvSpPr>
        <p:spPr>
          <a:xfrm>
            <a:off x="548640" y="2259871"/>
            <a:ext cx="3383280" cy="541553"/>
          </a:xfrm>
          <a:prstGeom prst="rect">
            <a:avLst/>
          </a:prstGeom>
          <a:noFill/>
        </p:spPr>
        <p:txBody>
          <a:bodyPr wrap="square" lIns="0" tIns="0" rIns="0" bIns="0" anchor="t">
            <a:spAutoFit/>
          </a:bodyPr>
          <a:lstStyle/>
          <a:p>
            <a:pPr algn="ctr"/>
            <a:r>
              <a:rPr sz="2500" b="1">
                <a:solidFill>
                  <a:srgbClr val="0072B2"/>
                </a:solidFill>
                <a:latin typeface="Meiryo"/>
                <a:ea typeface="Meiryo"/>
                <a:cs typeface="Meiryo"/>
              </a:rPr>
              <a:t>Gaussian</a:t>
            </a:r>
          </a:p>
        </p:txBody>
      </p:sp>
      <p:sp>
        <p:nvSpPr>
          <p:cNvPr id="3" name="Freeform 2">
            <a:extLst>
              <a:ext uri="{FF2B5EF4-FFF2-40B4-BE49-F238E27FC236}">
                <a16:creationId xmlns:a16="http://schemas.microsoft.com/office/drawing/2014/main" id="{7CE107D5-1BA4-3200-A36B-7648D710D64D}"/>
              </a:ext>
            </a:extLst>
          </p:cNvPr>
          <p:cNvSpPr/>
          <p:nvPr/>
        </p:nvSpPr>
        <p:spPr>
          <a:xfrm>
            <a:off x="777240" y="2735359"/>
            <a:ext cx="2926080" cy="1320754"/>
          </a:xfrm>
          <a:custGeom>
            <a:avLst/>
            <a:gdLst/>
            <a:ahLst/>
            <a:cxnLst/>
            <a:rect l="l" t="t" r="r" b="b"/>
            <a:pathLst>
              <a:path w="2926080" h="1320754">
                <a:moveTo>
                  <a:pt x="0" y="1320754"/>
                </a:moveTo>
                <a:lnTo>
                  <a:pt x="20901" y="1319879"/>
                </a:lnTo>
                <a:lnTo>
                  <a:pt x="41801" y="1318871"/>
                </a:lnTo>
                <a:lnTo>
                  <a:pt x="62702" y="1317712"/>
                </a:lnTo>
                <a:lnTo>
                  <a:pt x="83602" y="1316382"/>
                </a:lnTo>
                <a:lnTo>
                  <a:pt x="104503" y="1314861"/>
                </a:lnTo>
                <a:lnTo>
                  <a:pt x="125403" y="1313126"/>
                </a:lnTo>
                <a:lnTo>
                  <a:pt x="146304" y="1311151"/>
                </a:lnTo>
                <a:lnTo>
                  <a:pt x="167205" y="1308908"/>
                </a:lnTo>
                <a:lnTo>
                  <a:pt x="188105" y="1306368"/>
                </a:lnTo>
                <a:lnTo>
                  <a:pt x="209006" y="1303499"/>
                </a:lnTo>
                <a:lnTo>
                  <a:pt x="229906" y="1300266"/>
                </a:lnTo>
                <a:lnTo>
                  <a:pt x="250807" y="1296633"/>
                </a:lnTo>
                <a:lnTo>
                  <a:pt x="271707" y="1292560"/>
                </a:lnTo>
                <a:lnTo>
                  <a:pt x="292608" y="1288006"/>
                </a:lnTo>
                <a:lnTo>
                  <a:pt x="313509" y="1282926"/>
                </a:lnTo>
                <a:lnTo>
                  <a:pt x="334409" y="1277276"/>
                </a:lnTo>
                <a:lnTo>
                  <a:pt x="355310" y="1271007"/>
                </a:lnTo>
                <a:lnTo>
                  <a:pt x="376210" y="1264070"/>
                </a:lnTo>
                <a:lnTo>
                  <a:pt x="397111" y="1256413"/>
                </a:lnTo>
                <a:lnTo>
                  <a:pt x="418011" y="1247985"/>
                </a:lnTo>
                <a:lnTo>
                  <a:pt x="438912" y="1238732"/>
                </a:lnTo>
                <a:lnTo>
                  <a:pt x="459813" y="1228601"/>
                </a:lnTo>
                <a:lnTo>
                  <a:pt x="480713" y="1217538"/>
                </a:lnTo>
                <a:lnTo>
                  <a:pt x="501614" y="1205490"/>
                </a:lnTo>
                <a:lnTo>
                  <a:pt x="522514" y="1192405"/>
                </a:lnTo>
                <a:lnTo>
                  <a:pt x="543415" y="1178234"/>
                </a:lnTo>
                <a:lnTo>
                  <a:pt x="564315" y="1162927"/>
                </a:lnTo>
                <a:lnTo>
                  <a:pt x="585216" y="1146442"/>
                </a:lnTo>
                <a:lnTo>
                  <a:pt x="606117" y="1128736"/>
                </a:lnTo>
                <a:lnTo>
                  <a:pt x="627017" y="1109773"/>
                </a:lnTo>
                <a:lnTo>
                  <a:pt x="647918" y="1089523"/>
                </a:lnTo>
                <a:lnTo>
                  <a:pt x="668818" y="1067962"/>
                </a:lnTo>
                <a:lnTo>
                  <a:pt x="689719" y="1045070"/>
                </a:lnTo>
                <a:lnTo>
                  <a:pt x="710619" y="1020840"/>
                </a:lnTo>
                <a:lnTo>
                  <a:pt x="731520" y="995269"/>
                </a:lnTo>
                <a:lnTo>
                  <a:pt x="752421" y="968366"/>
                </a:lnTo>
                <a:lnTo>
                  <a:pt x="773321" y="940150"/>
                </a:lnTo>
                <a:lnTo>
                  <a:pt x="794222" y="910649"/>
                </a:lnTo>
                <a:lnTo>
                  <a:pt x="815122" y="879905"/>
                </a:lnTo>
                <a:lnTo>
                  <a:pt x="836023" y="847969"/>
                </a:lnTo>
                <a:lnTo>
                  <a:pt x="856923" y="814907"/>
                </a:lnTo>
                <a:lnTo>
                  <a:pt x="877824" y="780794"/>
                </a:lnTo>
                <a:lnTo>
                  <a:pt x="898725" y="745722"/>
                </a:lnTo>
                <a:lnTo>
                  <a:pt x="919625" y="709791"/>
                </a:lnTo>
                <a:lnTo>
                  <a:pt x="940526" y="673117"/>
                </a:lnTo>
                <a:lnTo>
                  <a:pt x="961426" y="635826"/>
                </a:lnTo>
                <a:lnTo>
                  <a:pt x="982327" y="598057"/>
                </a:lnTo>
                <a:lnTo>
                  <a:pt x="1003227" y="559959"/>
                </a:lnTo>
                <a:lnTo>
                  <a:pt x="1024128" y="521693"/>
                </a:lnTo>
                <a:lnTo>
                  <a:pt x="1045029" y="483428"/>
                </a:lnTo>
                <a:lnTo>
                  <a:pt x="1065929" y="445341"/>
                </a:lnTo>
                <a:lnTo>
                  <a:pt x="1086830" y="407616"/>
                </a:lnTo>
                <a:lnTo>
                  <a:pt x="1107730" y="370444"/>
                </a:lnTo>
                <a:lnTo>
                  <a:pt x="1128631" y="334020"/>
                </a:lnTo>
                <a:lnTo>
                  <a:pt x="1149531" y="298539"/>
                </a:lnTo>
                <a:lnTo>
                  <a:pt x="1170432" y="264198"/>
                </a:lnTo>
                <a:lnTo>
                  <a:pt x="1191333" y="231195"/>
                </a:lnTo>
                <a:lnTo>
                  <a:pt x="1212233" y="199723"/>
                </a:lnTo>
                <a:lnTo>
                  <a:pt x="1233134" y="169970"/>
                </a:lnTo>
                <a:lnTo>
                  <a:pt x="1254034" y="142118"/>
                </a:lnTo>
                <a:lnTo>
                  <a:pt x="1274935" y="116341"/>
                </a:lnTo>
                <a:lnTo>
                  <a:pt x="1295835" y="92801"/>
                </a:lnTo>
                <a:lnTo>
                  <a:pt x="1316736" y="71651"/>
                </a:lnTo>
                <a:lnTo>
                  <a:pt x="1337637" y="53028"/>
                </a:lnTo>
                <a:lnTo>
                  <a:pt x="1358537" y="37054"/>
                </a:lnTo>
                <a:lnTo>
                  <a:pt x="1379438" y="23835"/>
                </a:lnTo>
                <a:lnTo>
                  <a:pt x="1400338" y="13461"/>
                </a:lnTo>
                <a:lnTo>
                  <a:pt x="1421239" y="5999"/>
                </a:lnTo>
                <a:lnTo>
                  <a:pt x="1442139" y="1502"/>
                </a:lnTo>
                <a:lnTo>
                  <a:pt x="1463040" y="0"/>
                </a:lnTo>
                <a:lnTo>
                  <a:pt x="1483941" y="1502"/>
                </a:lnTo>
                <a:lnTo>
                  <a:pt x="1504841" y="5999"/>
                </a:lnTo>
                <a:lnTo>
                  <a:pt x="1525742" y="13461"/>
                </a:lnTo>
                <a:lnTo>
                  <a:pt x="1546642" y="23835"/>
                </a:lnTo>
                <a:lnTo>
                  <a:pt x="1567543" y="37054"/>
                </a:lnTo>
                <a:lnTo>
                  <a:pt x="1588443" y="53028"/>
                </a:lnTo>
                <a:lnTo>
                  <a:pt x="1609344" y="71651"/>
                </a:lnTo>
                <a:lnTo>
                  <a:pt x="1630245" y="92801"/>
                </a:lnTo>
                <a:lnTo>
                  <a:pt x="1651145" y="116341"/>
                </a:lnTo>
                <a:lnTo>
                  <a:pt x="1672046" y="142118"/>
                </a:lnTo>
                <a:lnTo>
                  <a:pt x="1692946" y="169970"/>
                </a:lnTo>
                <a:lnTo>
                  <a:pt x="1713847" y="199723"/>
                </a:lnTo>
                <a:lnTo>
                  <a:pt x="1734747" y="231195"/>
                </a:lnTo>
                <a:lnTo>
                  <a:pt x="1755648" y="264198"/>
                </a:lnTo>
                <a:lnTo>
                  <a:pt x="1776549" y="298539"/>
                </a:lnTo>
                <a:lnTo>
                  <a:pt x="1797449" y="334020"/>
                </a:lnTo>
                <a:lnTo>
                  <a:pt x="1818350" y="370444"/>
                </a:lnTo>
                <a:lnTo>
                  <a:pt x="1839250" y="407616"/>
                </a:lnTo>
                <a:lnTo>
                  <a:pt x="1860151" y="445341"/>
                </a:lnTo>
                <a:lnTo>
                  <a:pt x="1881051" y="483428"/>
                </a:lnTo>
                <a:lnTo>
                  <a:pt x="1901952" y="521693"/>
                </a:lnTo>
                <a:lnTo>
                  <a:pt x="1922853" y="559959"/>
                </a:lnTo>
                <a:lnTo>
                  <a:pt x="1943753" y="598057"/>
                </a:lnTo>
                <a:lnTo>
                  <a:pt x="1964654" y="635826"/>
                </a:lnTo>
                <a:lnTo>
                  <a:pt x="1985554" y="673117"/>
                </a:lnTo>
                <a:lnTo>
                  <a:pt x="2006455" y="709791"/>
                </a:lnTo>
                <a:lnTo>
                  <a:pt x="2027355" y="745722"/>
                </a:lnTo>
                <a:lnTo>
                  <a:pt x="2048256" y="780794"/>
                </a:lnTo>
                <a:lnTo>
                  <a:pt x="2069157" y="814907"/>
                </a:lnTo>
                <a:lnTo>
                  <a:pt x="2090057" y="847969"/>
                </a:lnTo>
                <a:lnTo>
                  <a:pt x="2110958" y="879905"/>
                </a:lnTo>
                <a:lnTo>
                  <a:pt x="2131858" y="910649"/>
                </a:lnTo>
                <a:lnTo>
                  <a:pt x="2152759" y="940150"/>
                </a:lnTo>
                <a:lnTo>
                  <a:pt x="2173659" y="968366"/>
                </a:lnTo>
                <a:lnTo>
                  <a:pt x="2194560" y="995269"/>
                </a:lnTo>
                <a:lnTo>
                  <a:pt x="2215461" y="1020840"/>
                </a:lnTo>
                <a:lnTo>
                  <a:pt x="2236361" y="1045070"/>
                </a:lnTo>
                <a:lnTo>
                  <a:pt x="2257262" y="1067962"/>
                </a:lnTo>
                <a:lnTo>
                  <a:pt x="2278162" y="1089523"/>
                </a:lnTo>
                <a:lnTo>
                  <a:pt x="2299063" y="1109773"/>
                </a:lnTo>
                <a:lnTo>
                  <a:pt x="2319963" y="1128736"/>
                </a:lnTo>
                <a:lnTo>
                  <a:pt x="2340864" y="1146442"/>
                </a:lnTo>
                <a:lnTo>
                  <a:pt x="2361765" y="1162927"/>
                </a:lnTo>
                <a:lnTo>
                  <a:pt x="2382665" y="1178234"/>
                </a:lnTo>
                <a:lnTo>
                  <a:pt x="2403566" y="1192405"/>
                </a:lnTo>
                <a:lnTo>
                  <a:pt x="2424466" y="1205490"/>
                </a:lnTo>
                <a:lnTo>
                  <a:pt x="2445367" y="1217538"/>
                </a:lnTo>
                <a:lnTo>
                  <a:pt x="2466267" y="1228601"/>
                </a:lnTo>
                <a:lnTo>
                  <a:pt x="2487168" y="1238732"/>
                </a:lnTo>
                <a:lnTo>
                  <a:pt x="2508069" y="1247985"/>
                </a:lnTo>
                <a:lnTo>
                  <a:pt x="2528969" y="1256413"/>
                </a:lnTo>
                <a:lnTo>
                  <a:pt x="2549870" y="1264070"/>
                </a:lnTo>
                <a:lnTo>
                  <a:pt x="2570770" y="1271007"/>
                </a:lnTo>
                <a:lnTo>
                  <a:pt x="2591671" y="1277276"/>
                </a:lnTo>
                <a:lnTo>
                  <a:pt x="2612571" y="1282926"/>
                </a:lnTo>
                <a:lnTo>
                  <a:pt x="2633472" y="1288006"/>
                </a:lnTo>
                <a:lnTo>
                  <a:pt x="2654373" y="1292560"/>
                </a:lnTo>
                <a:lnTo>
                  <a:pt x="2675273" y="1296633"/>
                </a:lnTo>
                <a:lnTo>
                  <a:pt x="2696174" y="1300266"/>
                </a:lnTo>
                <a:lnTo>
                  <a:pt x="2717074" y="1303499"/>
                </a:lnTo>
                <a:lnTo>
                  <a:pt x="2737975" y="1306368"/>
                </a:lnTo>
                <a:lnTo>
                  <a:pt x="2758875" y="1308908"/>
                </a:lnTo>
                <a:lnTo>
                  <a:pt x="2779776" y="1311151"/>
                </a:lnTo>
                <a:lnTo>
                  <a:pt x="2800677" y="1313126"/>
                </a:lnTo>
                <a:lnTo>
                  <a:pt x="2821577" y="1314861"/>
                </a:lnTo>
                <a:lnTo>
                  <a:pt x="2842478" y="1316382"/>
                </a:lnTo>
                <a:lnTo>
                  <a:pt x="2863378" y="1317712"/>
                </a:lnTo>
                <a:lnTo>
                  <a:pt x="2884279" y="1318871"/>
                </a:lnTo>
                <a:lnTo>
                  <a:pt x="2905179" y="1319879"/>
                </a:lnTo>
                <a:lnTo>
                  <a:pt x="2926080" y="1320754"/>
                </a:lnTo>
              </a:path>
            </a:pathLst>
          </a:custGeom>
          <a:noFill/>
          <a:ln w="3492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9" name="Connector 18">
            <a:extLst>
              <a:ext uri="{FF2B5EF4-FFF2-40B4-BE49-F238E27FC236}">
                <a16:creationId xmlns:a16="http://schemas.microsoft.com/office/drawing/2014/main" id="{A541E21D-3657-A2CE-3494-58917D18142A}"/>
              </a:ext>
            </a:extLst>
          </p:cNvPr>
          <p:cNvCxnSpPr/>
          <p:nvPr/>
        </p:nvCxnSpPr>
        <p:spPr>
          <a:xfrm>
            <a:off x="777240" y="4079527"/>
            <a:ext cx="292608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F90670FD-9CB6-E3A0-FE2C-E93F1F4CC189}"/>
              </a:ext>
            </a:extLst>
          </p:cNvPr>
          <p:cNvSpPr txBox="1"/>
          <p:nvPr/>
        </p:nvSpPr>
        <p:spPr>
          <a:xfrm>
            <a:off x="640080" y="4225831"/>
            <a:ext cx="3200400" cy="1418712"/>
          </a:xfrm>
          <a:prstGeom prst="rect">
            <a:avLst/>
          </a:prstGeom>
          <a:noFill/>
        </p:spPr>
        <p:txBody>
          <a:bodyPr wrap="square" lIns="0" tIns="0" rIns="0" bIns="0" anchor="t">
            <a:spAutoFit/>
          </a:bodyPr>
          <a:lstStyle/>
          <a:p>
            <a:pPr algn="ctr">
              <a:spcAft>
                <a:spcPts val="500"/>
              </a:spcAft>
            </a:pPr>
            <a:r>
              <a:rPr sz="2200" b="0">
                <a:solidFill>
                  <a:srgbClr val="262626"/>
                </a:solidFill>
                <a:latin typeface="Meiryo"/>
                <a:ea typeface="Meiryo"/>
                <a:cs typeface="Meiryo"/>
              </a:rPr>
              <a:t>左右対称の釣鐘。</a:t>
            </a:r>
          </a:p>
          <a:p>
            <a:pPr algn="ctr">
              <a:spcAft>
                <a:spcPts val="500"/>
              </a:spcAft>
            </a:pPr>
            <a:r>
              <a:rPr sz="2200" b="0">
                <a:solidFill>
                  <a:srgbClr val="262626"/>
                </a:solidFill>
                <a:latin typeface="Meiryo"/>
                <a:ea typeface="Meiryo"/>
                <a:cs typeface="Meiryo"/>
              </a:rPr>
              <a:t>扱いやすいが</a:t>
            </a:r>
          </a:p>
          <a:p>
            <a:pPr algn="ctr">
              <a:spcAft>
                <a:spcPts val="500"/>
              </a:spcAft>
            </a:pPr>
            <a:r>
              <a:rPr sz="2200" b="0">
                <a:solidFill>
                  <a:srgbClr val="262626"/>
                </a:solidFill>
                <a:latin typeface="Meiryo"/>
                <a:ea typeface="Meiryo"/>
                <a:cs typeface="Meiryo"/>
              </a:rPr>
              <a:t>実波形は非対称。</a:t>
            </a:r>
          </a:p>
        </p:txBody>
      </p:sp>
      <p:sp>
        <p:nvSpPr>
          <p:cNvPr id="21" name="TextBox 20">
            <a:extLst>
              <a:ext uri="{FF2B5EF4-FFF2-40B4-BE49-F238E27FC236}">
                <a16:creationId xmlns:a16="http://schemas.microsoft.com/office/drawing/2014/main" id="{A52898C0-09C2-0C77-4126-D7433F350FBB}"/>
              </a:ext>
            </a:extLst>
          </p:cNvPr>
          <p:cNvSpPr txBox="1"/>
          <p:nvPr/>
        </p:nvSpPr>
        <p:spPr>
          <a:xfrm>
            <a:off x="4389120" y="2259871"/>
            <a:ext cx="3383280" cy="541553"/>
          </a:xfrm>
          <a:prstGeom prst="rect">
            <a:avLst/>
          </a:prstGeom>
          <a:noFill/>
        </p:spPr>
        <p:txBody>
          <a:bodyPr wrap="square" lIns="0" tIns="0" rIns="0" bIns="0" anchor="t">
            <a:spAutoFit/>
          </a:bodyPr>
          <a:lstStyle/>
          <a:p>
            <a:pPr algn="ctr"/>
            <a:r>
              <a:rPr sz="2500" b="1">
                <a:solidFill>
                  <a:srgbClr val="00A8AA"/>
                </a:solidFill>
                <a:latin typeface="Meiryo"/>
                <a:ea typeface="Meiryo"/>
                <a:cs typeface="Meiryo"/>
              </a:rPr>
              <a:t>Gamma</a:t>
            </a:r>
          </a:p>
        </p:txBody>
      </p:sp>
      <p:sp>
        <p:nvSpPr>
          <p:cNvPr id="4" name="Freeform 3">
            <a:extLst>
              <a:ext uri="{FF2B5EF4-FFF2-40B4-BE49-F238E27FC236}">
                <a16:creationId xmlns:a16="http://schemas.microsoft.com/office/drawing/2014/main" id="{0A688535-C768-759F-D813-57F73C13B208}"/>
              </a:ext>
            </a:extLst>
          </p:cNvPr>
          <p:cNvSpPr/>
          <p:nvPr/>
        </p:nvSpPr>
        <p:spPr>
          <a:xfrm>
            <a:off x="4617720" y="2735359"/>
            <a:ext cx="2926080" cy="1325880"/>
          </a:xfrm>
          <a:custGeom>
            <a:avLst/>
            <a:gdLst/>
            <a:ahLst/>
            <a:cxnLst/>
            <a:rect l="l" t="t" r="r" b="b"/>
            <a:pathLst>
              <a:path w="2926080" h="1325880">
                <a:moveTo>
                  <a:pt x="0" y="1325880"/>
                </a:moveTo>
                <a:lnTo>
                  <a:pt x="20901" y="1323901"/>
                </a:lnTo>
                <a:lnTo>
                  <a:pt x="41801" y="1317168"/>
                </a:lnTo>
                <a:lnTo>
                  <a:pt x="62702" y="1305513"/>
                </a:lnTo>
                <a:lnTo>
                  <a:pt x="83602" y="1289137"/>
                </a:lnTo>
                <a:lnTo>
                  <a:pt x="104503" y="1268367"/>
                </a:lnTo>
                <a:lnTo>
                  <a:pt x="125403" y="1243589"/>
                </a:lnTo>
                <a:lnTo>
                  <a:pt x="146304" y="1215212"/>
                </a:lnTo>
                <a:lnTo>
                  <a:pt x="167205" y="1183650"/>
                </a:lnTo>
                <a:lnTo>
                  <a:pt x="188105" y="1149311"/>
                </a:lnTo>
                <a:lnTo>
                  <a:pt x="209006" y="1112592"/>
                </a:lnTo>
                <a:lnTo>
                  <a:pt x="229906" y="1073870"/>
                </a:lnTo>
                <a:lnTo>
                  <a:pt x="250807" y="1033505"/>
                </a:lnTo>
                <a:lnTo>
                  <a:pt x="271707" y="991835"/>
                </a:lnTo>
                <a:lnTo>
                  <a:pt x="292608" y="949178"/>
                </a:lnTo>
                <a:lnTo>
                  <a:pt x="313509" y="905826"/>
                </a:lnTo>
                <a:lnTo>
                  <a:pt x="334409" y="862054"/>
                </a:lnTo>
                <a:lnTo>
                  <a:pt x="355310" y="818111"/>
                </a:lnTo>
                <a:lnTo>
                  <a:pt x="376210" y="774227"/>
                </a:lnTo>
                <a:lnTo>
                  <a:pt x="397111" y="730613"/>
                </a:lnTo>
                <a:lnTo>
                  <a:pt x="418011" y="687459"/>
                </a:lnTo>
                <a:lnTo>
                  <a:pt x="438912" y="644937"/>
                </a:lnTo>
                <a:lnTo>
                  <a:pt x="459813" y="603201"/>
                </a:lnTo>
                <a:lnTo>
                  <a:pt x="480713" y="562388"/>
                </a:lnTo>
                <a:lnTo>
                  <a:pt x="501614" y="522622"/>
                </a:lnTo>
                <a:lnTo>
                  <a:pt x="522514" y="484008"/>
                </a:lnTo>
                <a:lnTo>
                  <a:pt x="543415" y="446641"/>
                </a:lnTo>
                <a:lnTo>
                  <a:pt x="564315" y="410602"/>
                </a:lnTo>
                <a:lnTo>
                  <a:pt x="585216" y="375958"/>
                </a:lnTo>
                <a:lnTo>
                  <a:pt x="606117" y="342768"/>
                </a:lnTo>
                <a:lnTo>
                  <a:pt x="627017" y="311077"/>
                </a:lnTo>
                <a:lnTo>
                  <a:pt x="647918" y="280924"/>
                </a:lnTo>
                <a:lnTo>
                  <a:pt x="668818" y="252337"/>
                </a:lnTo>
                <a:lnTo>
                  <a:pt x="689719" y="225335"/>
                </a:lnTo>
                <a:lnTo>
                  <a:pt x="710619" y="199933"/>
                </a:lnTo>
                <a:lnTo>
                  <a:pt x="731520" y="176135"/>
                </a:lnTo>
                <a:lnTo>
                  <a:pt x="752421" y="153942"/>
                </a:lnTo>
                <a:lnTo>
                  <a:pt x="773321" y="133347"/>
                </a:lnTo>
                <a:lnTo>
                  <a:pt x="794222" y="114340"/>
                </a:lnTo>
                <a:lnTo>
                  <a:pt x="815122" y="96904"/>
                </a:lnTo>
                <a:lnTo>
                  <a:pt x="836023" y="81020"/>
                </a:lnTo>
                <a:lnTo>
                  <a:pt x="856923" y="66663"/>
                </a:lnTo>
                <a:lnTo>
                  <a:pt x="877824" y="53808"/>
                </a:lnTo>
                <a:lnTo>
                  <a:pt x="898725" y="42423"/>
                </a:lnTo>
                <a:lnTo>
                  <a:pt x="919625" y="32476"/>
                </a:lnTo>
                <a:lnTo>
                  <a:pt x="940526" y="23934"/>
                </a:lnTo>
                <a:lnTo>
                  <a:pt x="961426" y="16758"/>
                </a:lnTo>
                <a:lnTo>
                  <a:pt x="982327" y="10911"/>
                </a:lnTo>
                <a:lnTo>
                  <a:pt x="1003227" y="6353"/>
                </a:lnTo>
                <a:lnTo>
                  <a:pt x="1024128" y="3043"/>
                </a:lnTo>
                <a:lnTo>
                  <a:pt x="1045029" y="939"/>
                </a:lnTo>
                <a:lnTo>
                  <a:pt x="1065929" y="0"/>
                </a:lnTo>
                <a:lnTo>
                  <a:pt x="1086830" y="182"/>
                </a:lnTo>
                <a:lnTo>
                  <a:pt x="1107730" y="1442"/>
                </a:lnTo>
                <a:lnTo>
                  <a:pt x="1128631" y="3738"/>
                </a:lnTo>
                <a:lnTo>
                  <a:pt x="1149531" y="7024"/>
                </a:lnTo>
                <a:lnTo>
                  <a:pt x="1170432" y="11260"/>
                </a:lnTo>
                <a:lnTo>
                  <a:pt x="1191333" y="16400"/>
                </a:lnTo>
                <a:lnTo>
                  <a:pt x="1212233" y="22404"/>
                </a:lnTo>
                <a:lnTo>
                  <a:pt x="1233134" y="29228"/>
                </a:lnTo>
                <a:lnTo>
                  <a:pt x="1254034" y="36832"/>
                </a:lnTo>
                <a:lnTo>
                  <a:pt x="1274935" y="45175"/>
                </a:lnTo>
                <a:lnTo>
                  <a:pt x="1295835" y="54215"/>
                </a:lnTo>
                <a:lnTo>
                  <a:pt x="1316736" y="63914"/>
                </a:lnTo>
                <a:lnTo>
                  <a:pt x="1337637" y="74233"/>
                </a:lnTo>
                <a:lnTo>
                  <a:pt x="1358537" y="85135"/>
                </a:lnTo>
                <a:lnTo>
                  <a:pt x="1379438" y="96582"/>
                </a:lnTo>
                <a:lnTo>
                  <a:pt x="1400338" y="108538"/>
                </a:lnTo>
                <a:lnTo>
                  <a:pt x="1421239" y="120969"/>
                </a:lnTo>
                <a:lnTo>
                  <a:pt x="1442139" y="133840"/>
                </a:lnTo>
                <a:lnTo>
                  <a:pt x="1463040" y="147119"/>
                </a:lnTo>
                <a:lnTo>
                  <a:pt x="1483941" y="160773"/>
                </a:lnTo>
                <a:lnTo>
                  <a:pt x="1504841" y="174771"/>
                </a:lnTo>
                <a:lnTo>
                  <a:pt x="1525742" y="189084"/>
                </a:lnTo>
                <a:lnTo>
                  <a:pt x="1546642" y="203682"/>
                </a:lnTo>
                <a:lnTo>
                  <a:pt x="1567543" y="218538"/>
                </a:lnTo>
                <a:lnTo>
                  <a:pt x="1588443" y="233625"/>
                </a:lnTo>
                <a:lnTo>
                  <a:pt x="1609344" y="248916"/>
                </a:lnTo>
                <a:lnTo>
                  <a:pt x="1630245" y="264387"/>
                </a:lnTo>
                <a:lnTo>
                  <a:pt x="1651145" y="280014"/>
                </a:lnTo>
                <a:lnTo>
                  <a:pt x="1672046" y="295774"/>
                </a:lnTo>
                <a:lnTo>
                  <a:pt x="1692946" y="311646"/>
                </a:lnTo>
                <a:lnTo>
                  <a:pt x="1713847" y="327608"/>
                </a:lnTo>
                <a:lnTo>
                  <a:pt x="1734747" y="343640"/>
                </a:lnTo>
                <a:lnTo>
                  <a:pt x="1755648" y="359723"/>
                </a:lnTo>
                <a:lnTo>
                  <a:pt x="1776549" y="375839"/>
                </a:lnTo>
                <a:lnTo>
                  <a:pt x="1797449" y="391971"/>
                </a:lnTo>
                <a:lnTo>
                  <a:pt x="1818350" y="408102"/>
                </a:lnTo>
                <a:lnTo>
                  <a:pt x="1839250" y="424216"/>
                </a:lnTo>
                <a:lnTo>
                  <a:pt x="1860151" y="440299"/>
                </a:lnTo>
                <a:lnTo>
                  <a:pt x="1881051" y="456337"/>
                </a:lnTo>
                <a:lnTo>
                  <a:pt x="1901952" y="472316"/>
                </a:lnTo>
                <a:lnTo>
                  <a:pt x="1922853" y="488224"/>
                </a:lnTo>
                <a:lnTo>
                  <a:pt x="1943753" y="504050"/>
                </a:lnTo>
                <a:lnTo>
                  <a:pt x="1964654" y="519781"/>
                </a:lnTo>
                <a:lnTo>
                  <a:pt x="1985554" y="535408"/>
                </a:lnTo>
                <a:lnTo>
                  <a:pt x="2006455" y="550921"/>
                </a:lnTo>
                <a:lnTo>
                  <a:pt x="2027355" y="566311"/>
                </a:lnTo>
                <a:lnTo>
                  <a:pt x="2048256" y="581570"/>
                </a:lnTo>
                <a:lnTo>
                  <a:pt x="2069157" y="596689"/>
                </a:lnTo>
                <a:lnTo>
                  <a:pt x="2090057" y="611661"/>
                </a:lnTo>
                <a:lnTo>
                  <a:pt x="2110958" y="626480"/>
                </a:lnTo>
                <a:lnTo>
                  <a:pt x="2131858" y="641139"/>
                </a:lnTo>
                <a:lnTo>
                  <a:pt x="2152759" y="655632"/>
                </a:lnTo>
                <a:lnTo>
                  <a:pt x="2173659" y="669955"/>
                </a:lnTo>
                <a:lnTo>
                  <a:pt x="2194560" y="684102"/>
                </a:lnTo>
                <a:lnTo>
                  <a:pt x="2215461" y="698069"/>
                </a:lnTo>
                <a:lnTo>
                  <a:pt x="2236361" y="711853"/>
                </a:lnTo>
                <a:lnTo>
                  <a:pt x="2257262" y="725450"/>
                </a:lnTo>
                <a:lnTo>
                  <a:pt x="2278162" y="738856"/>
                </a:lnTo>
                <a:lnTo>
                  <a:pt x="2299063" y="752069"/>
                </a:lnTo>
                <a:lnTo>
                  <a:pt x="2319963" y="765086"/>
                </a:lnTo>
                <a:lnTo>
                  <a:pt x="2340864" y="777906"/>
                </a:lnTo>
                <a:lnTo>
                  <a:pt x="2361765" y="790527"/>
                </a:lnTo>
                <a:lnTo>
                  <a:pt x="2382665" y="802948"/>
                </a:lnTo>
                <a:lnTo>
                  <a:pt x="2403566" y="815166"/>
                </a:lnTo>
                <a:lnTo>
                  <a:pt x="2424466" y="827183"/>
                </a:lnTo>
                <a:lnTo>
                  <a:pt x="2445367" y="838996"/>
                </a:lnTo>
                <a:lnTo>
                  <a:pt x="2466267" y="850605"/>
                </a:lnTo>
                <a:lnTo>
                  <a:pt x="2487168" y="862011"/>
                </a:lnTo>
                <a:lnTo>
                  <a:pt x="2508069" y="873214"/>
                </a:lnTo>
                <a:lnTo>
                  <a:pt x="2528969" y="884214"/>
                </a:lnTo>
                <a:lnTo>
                  <a:pt x="2549870" y="895011"/>
                </a:lnTo>
                <a:lnTo>
                  <a:pt x="2570770" y="905606"/>
                </a:lnTo>
                <a:lnTo>
                  <a:pt x="2591671" y="916000"/>
                </a:lnTo>
                <a:lnTo>
                  <a:pt x="2612571" y="926195"/>
                </a:lnTo>
                <a:lnTo>
                  <a:pt x="2633472" y="936191"/>
                </a:lnTo>
                <a:lnTo>
                  <a:pt x="2654373" y="945989"/>
                </a:lnTo>
                <a:lnTo>
                  <a:pt x="2675273" y="955592"/>
                </a:lnTo>
                <a:lnTo>
                  <a:pt x="2696174" y="965000"/>
                </a:lnTo>
                <a:lnTo>
                  <a:pt x="2717074" y="974216"/>
                </a:lnTo>
                <a:lnTo>
                  <a:pt x="2737975" y="983241"/>
                </a:lnTo>
                <a:lnTo>
                  <a:pt x="2758875" y="992077"/>
                </a:lnTo>
                <a:lnTo>
                  <a:pt x="2779776" y="1000726"/>
                </a:lnTo>
                <a:lnTo>
                  <a:pt x="2800677" y="1009191"/>
                </a:lnTo>
                <a:lnTo>
                  <a:pt x="2821577" y="1017473"/>
                </a:lnTo>
                <a:lnTo>
                  <a:pt x="2842478" y="1025575"/>
                </a:lnTo>
                <a:lnTo>
                  <a:pt x="2863378" y="1033499"/>
                </a:lnTo>
                <a:lnTo>
                  <a:pt x="2884279" y="1041247"/>
                </a:lnTo>
                <a:lnTo>
                  <a:pt x="2905179" y="1048821"/>
                </a:lnTo>
                <a:lnTo>
                  <a:pt x="2926080" y="1056225"/>
                </a:lnTo>
              </a:path>
            </a:pathLst>
          </a:custGeom>
          <a:noFill/>
          <a:ln w="3492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2" name="Connector 21">
            <a:extLst>
              <a:ext uri="{FF2B5EF4-FFF2-40B4-BE49-F238E27FC236}">
                <a16:creationId xmlns:a16="http://schemas.microsoft.com/office/drawing/2014/main" id="{E1D9305B-4CA5-3329-25D8-D6FD1F59071E}"/>
              </a:ext>
            </a:extLst>
          </p:cNvPr>
          <p:cNvCxnSpPr/>
          <p:nvPr/>
        </p:nvCxnSpPr>
        <p:spPr>
          <a:xfrm>
            <a:off x="4617720" y="4079527"/>
            <a:ext cx="292608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6F175083-A54C-952A-ACCE-CD43F6A45651}"/>
              </a:ext>
            </a:extLst>
          </p:cNvPr>
          <p:cNvSpPr txBox="1"/>
          <p:nvPr/>
        </p:nvSpPr>
        <p:spPr>
          <a:xfrm>
            <a:off x="4480560" y="4225831"/>
            <a:ext cx="3200400" cy="1418712"/>
          </a:xfrm>
          <a:prstGeom prst="rect">
            <a:avLst/>
          </a:prstGeom>
          <a:noFill/>
        </p:spPr>
        <p:txBody>
          <a:bodyPr wrap="square" lIns="0" tIns="0" rIns="0" bIns="0" anchor="t">
            <a:spAutoFit/>
          </a:bodyPr>
          <a:lstStyle/>
          <a:p>
            <a:pPr algn="ctr">
              <a:spcAft>
                <a:spcPts val="500"/>
              </a:spcAft>
            </a:pPr>
            <a:r>
              <a:rPr sz="2200" b="0">
                <a:solidFill>
                  <a:srgbClr val="262626"/>
                </a:solidFill>
                <a:latin typeface="Meiryo"/>
                <a:ea typeface="Meiryo"/>
                <a:cs typeface="Meiryo"/>
              </a:rPr>
              <a:t>立ち上がりが急で</a:t>
            </a:r>
          </a:p>
          <a:p>
            <a:pPr algn="ctr">
              <a:spcAft>
                <a:spcPts val="500"/>
              </a:spcAft>
            </a:pPr>
            <a:r>
              <a:rPr sz="2200" b="0">
                <a:solidFill>
                  <a:srgbClr val="262626"/>
                </a:solidFill>
                <a:latin typeface="Meiryo"/>
                <a:ea typeface="Meiryo"/>
                <a:cs typeface="Meiryo"/>
              </a:rPr>
              <a:t>下りが緩やか</a:t>
            </a:r>
          </a:p>
          <a:p>
            <a:pPr algn="ctr">
              <a:spcAft>
                <a:spcPts val="500"/>
              </a:spcAft>
            </a:pPr>
            <a:r>
              <a:rPr sz="2200" b="0">
                <a:solidFill>
                  <a:srgbClr val="262626"/>
                </a:solidFill>
                <a:latin typeface="Meiryo"/>
                <a:ea typeface="Meiryo"/>
                <a:cs typeface="Meiryo"/>
              </a:rPr>
              <a:t>実波形に近い。</a:t>
            </a:r>
          </a:p>
        </p:txBody>
      </p:sp>
      <p:sp>
        <p:nvSpPr>
          <p:cNvPr id="24" name="TextBox 23">
            <a:extLst>
              <a:ext uri="{FF2B5EF4-FFF2-40B4-BE49-F238E27FC236}">
                <a16:creationId xmlns:a16="http://schemas.microsoft.com/office/drawing/2014/main" id="{E32F5BC0-B2E6-B7F2-540D-15B9EE5C1E43}"/>
              </a:ext>
            </a:extLst>
          </p:cNvPr>
          <p:cNvSpPr txBox="1"/>
          <p:nvPr/>
        </p:nvSpPr>
        <p:spPr>
          <a:xfrm>
            <a:off x="8229600" y="2259871"/>
            <a:ext cx="3383280" cy="541553"/>
          </a:xfrm>
          <a:prstGeom prst="rect">
            <a:avLst/>
          </a:prstGeom>
          <a:noFill/>
        </p:spPr>
        <p:txBody>
          <a:bodyPr wrap="square" lIns="0" tIns="0" rIns="0" bIns="0" anchor="t">
            <a:spAutoFit/>
          </a:bodyPr>
          <a:lstStyle/>
          <a:p>
            <a:pPr algn="ctr"/>
            <a:r>
              <a:rPr sz="2500" b="1">
                <a:solidFill>
                  <a:srgbClr val="D55E00"/>
                </a:solidFill>
                <a:latin typeface="Meiryo"/>
                <a:ea typeface="Meiryo"/>
                <a:cs typeface="Meiryo"/>
              </a:rPr>
              <a:t>skewed-Gaussian</a:t>
            </a:r>
          </a:p>
        </p:txBody>
      </p:sp>
      <p:sp>
        <p:nvSpPr>
          <p:cNvPr id="5" name="Freeform 4">
            <a:extLst>
              <a:ext uri="{FF2B5EF4-FFF2-40B4-BE49-F238E27FC236}">
                <a16:creationId xmlns:a16="http://schemas.microsoft.com/office/drawing/2014/main" id="{ED0DE803-E607-5A8F-2A34-6FE1596CAA47}"/>
              </a:ext>
            </a:extLst>
          </p:cNvPr>
          <p:cNvSpPr/>
          <p:nvPr/>
        </p:nvSpPr>
        <p:spPr>
          <a:xfrm>
            <a:off x="8458200" y="2735359"/>
            <a:ext cx="2926080" cy="1325879"/>
          </a:xfrm>
          <a:custGeom>
            <a:avLst/>
            <a:gdLst/>
            <a:ahLst/>
            <a:cxnLst/>
            <a:rect l="l" t="t" r="r" b="b"/>
            <a:pathLst>
              <a:path w="2926080" h="1325879">
                <a:moveTo>
                  <a:pt x="0" y="1325879"/>
                </a:moveTo>
                <a:lnTo>
                  <a:pt x="20901" y="1325879"/>
                </a:lnTo>
                <a:lnTo>
                  <a:pt x="41801" y="1325878"/>
                </a:lnTo>
                <a:lnTo>
                  <a:pt x="62702" y="1325877"/>
                </a:lnTo>
                <a:lnTo>
                  <a:pt x="83602" y="1325874"/>
                </a:lnTo>
                <a:lnTo>
                  <a:pt x="104503" y="1325870"/>
                </a:lnTo>
                <a:lnTo>
                  <a:pt x="125403" y="1325863"/>
                </a:lnTo>
                <a:lnTo>
                  <a:pt x="146304" y="1325852"/>
                </a:lnTo>
                <a:lnTo>
                  <a:pt x="167205" y="1325833"/>
                </a:lnTo>
                <a:lnTo>
                  <a:pt x="188105" y="1325802"/>
                </a:lnTo>
                <a:lnTo>
                  <a:pt x="209006" y="1325755"/>
                </a:lnTo>
                <a:lnTo>
                  <a:pt x="229906" y="1325680"/>
                </a:lnTo>
                <a:lnTo>
                  <a:pt x="250807" y="1325564"/>
                </a:lnTo>
                <a:lnTo>
                  <a:pt x="271707" y="1325389"/>
                </a:lnTo>
                <a:lnTo>
                  <a:pt x="292608" y="1325126"/>
                </a:lnTo>
                <a:lnTo>
                  <a:pt x="313509" y="1324738"/>
                </a:lnTo>
                <a:lnTo>
                  <a:pt x="334409" y="1324173"/>
                </a:lnTo>
                <a:lnTo>
                  <a:pt x="355310" y="1323361"/>
                </a:lnTo>
                <a:lnTo>
                  <a:pt x="376210" y="1322210"/>
                </a:lnTo>
                <a:lnTo>
                  <a:pt x="397111" y="1320603"/>
                </a:lnTo>
                <a:lnTo>
                  <a:pt x="418011" y="1318388"/>
                </a:lnTo>
                <a:lnTo>
                  <a:pt x="438912" y="1315380"/>
                </a:lnTo>
                <a:lnTo>
                  <a:pt x="459813" y="1311350"/>
                </a:lnTo>
                <a:lnTo>
                  <a:pt x="480713" y="1306028"/>
                </a:lnTo>
                <a:lnTo>
                  <a:pt x="501614" y="1299095"/>
                </a:lnTo>
                <a:lnTo>
                  <a:pt x="522514" y="1290192"/>
                </a:lnTo>
                <a:lnTo>
                  <a:pt x="543415" y="1278916"/>
                </a:lnTo>
                <a:lnTo>
                  <a:pt x="564315" y="1264837"/>
                </a:lnTo>
                <a:lnTo>
                  <a:pt x="585216" y="1247501"/>
                </a:lnTo>
                <a:lnTo>
                  <a:pt x="606117" y="1226456"/>
                </a:lnTo>
                <a:lnTo>
                  <a:pt x="627017" y="1201266"/>
                </a:lnTo>
                <a:lnTo>
                  <a:pt x="647918" y="1171538"/>
                </a:lnTo>
                <a:lnTo>
                  <a:pt x="668818" y="1136950"/>
                </a:lnTo>
                <a:lnTo>
                  <a:pt x="689719" y="1097277"/>
                </a:lnTo>
                <a:lnTo>
                  <a:pt x="710619" y="1052416"/>
                </a:lnTo>
                <a:lnTo>
                  <a:pt x="731520" y="1002412"/>
                </a:lnTo>
                <a:lnTo>
                  <a:pt x="752421" y="947475"/>
                </a:lnTo>
                <a:lnTo>
                  <a:pt x="773321" y="887988"/>
                </a:lnTo>
                <a:lnTo>
                  <a:pt x="794222" y="824512"/>
                </a:lnTo>
                <a:lnTo>
                  <a:pt x="815122" y="757776"/>
                </a:lnTo>
                <a:lnTo>
                  <a:pt x="836023" y="688655"/>
                </a:lnTo>
                <a:lnTo>
                  <a:pt x="856923" y="618149"/>
                </a:lnTo>
                <a:lnTo>
                  <a:pt x="877824" y="547338"/>
                </a:lnTo>
                <a:lnTo>
                  <a:pt x="898725" y="477347"/>
                </a:lnTo>
                <a:lnTo>
                  <a:pt x="919625" y="409299"/>
                </a:lnTo>
                <a:lnTo>
                  <a:pt x="940526" y="344268"/>
                </a:lnTo>
                <a:lnTo>
                  <a:pt x="961426" y="283239"/>
                </a:lnTo>
                <a:lnTo>
                  <a:pt x="982327" y="227070"/>
                </a:lnTo>
                <a:lnTo>
                  <a:pt x="1003227" y="176467"/>
                </a:lnTo>
                <a:lnTo>
                  <a:pt x="1024128" y="131962"/>
                </a:lnTo>
                <a:lnTo>
                  <a:pt x="1045029" y="93908"/>
                </a:lnTo>
                <a:lnTo>
                  <a:pt x="1065929" y="62475"/>
                </a:lnTo>
                <a:lnTo>
                  <a:pt x="1086830" y="37669"/>
                </a:lnTo>
                <a:lnTo>
                  <a:pt x="1107730" y="19341"/>
                </a:lnTo>
                <a:lnTo>
                  <a:pt x="1128631" y="7216"/>
                </a:lnTo>
                <a:lnTo>
                  <a:pt x="1149531" y="918"/>
                </a:lnTo>
                <a:lnTo>
                  <a:pt x="1170432" y="0"/>
                </a:lnTo>
                <a:lnTo>
                  <a:pt x="1191333" y="3965"/>
                </a:lnTo>
                <a:lnTo>
                  <a:pt x="1212233" y="12299"/>
                </a:lnTo>
                <a:lnTo>
                  <a:pt x="1233134" y="24483"/>
                </a:lnTo>
                <a:lnTo>
                  <a:pt x="1254034" y="40019"/>
                </a:lnTo>
                <a:lnTo>
                  <a:pt x="1274935" y="58437"/>
                </a:lnTo>
                <a:lnTo>
                  <a:pt x="1295835" y="79306"/>
                </a:lnTo>
                <a:lnTo>
                  <a:pt x="1316736" y="102236"/>
                </a:lnTo>
                <a:lnTo>
                  <a:pt x="1337637" y="126884"/>
                </a:lnTo>
                <a:lnTo>
                  <a:pt x="1358537" y="152949"/>
                </a:lnTo>
                <a:lnTo>
                  <a:pt x="1379438" y="180170"/>
                </a:lnTo>
                <a:lnTo>
                  <a:pt x="1400338" y="208324"/>
                </a:lnTo>
                <a:lnTo>
                  <a:pt x="1421239" y="237219"/>
                </a:lnTo>
                <a:lnTo>
                  <a:pt x="1442139" y="266691"/>
                </a:lnTo>
                <a:lnTo>
                  <a:pt x="1463040" y="296599"/>
                </a:lnTo>
                <a:lnTo>
                  <a:pt x="1483941" y="326822"/>
                </a:lnTo>
                <a:lnTo>
                  <a:pt x="1504841" y="357251"/>
                </a:lnTo>
                <a:lnTo>
                  <a:pt x="1525742" y="387793"/>
                </a:lnTo>
                <a:lnTo>
                  <a:pt x="1546642" y="418363"/>
                </a:lnTo>
                <a:lnTo>
                  <a:pt x="1567543" y="448884"/>
                </a:lnTo>
                <a:lnTo>
                  <a:pt x="1588443" y="479286"/>
                </a:lnTo>
                <a:lnTo>
                  <a:pt x="1609344" y="509504"/>
                </a:lnTo>
                <a:lnTo>
                  <a:pt x="1630245" y="539480"/>
                </a:lnTo>
                <a:lnTo>
                  <a:pt x="1651145" y="569156"/>
                </a:lnTo>
                <a:lnTo>
                  <a:pt x="1672046" y="598482"/>
                </a:lnTo>
                <a:lnTo>
                  <a:pt x="1692946" y="627410"/>
                </a:lnTo>
                <a:lnTo>
                  <a:pt x="1713847" y="655895"/>
                </a:lnTo>
                <a:lnTo>
                  <a:pt x="1734747" y="683896"/>
                </a:lnTo>
                <a:lnTo>
                  <a:pt x="1755648" y="711375"/>
                </a:lnTo>
                <a:lnTo>
                  <a:pt x="1776549" y="738297"/>
                </a:lnTo>
                <a:lnTo>
                  <a:pt x="1797449" y="764632"/>
                </a:lnTo>
                <a:lnTo>
                  <a:pt x="1818350" y="790352"/>
                </a:lnTo>
                <a:lnTo>
                  <a:pt x="1839250" y="815432"/>
                </a:lnTo>
                <a:lnTo>
                  <a:pt x="1860151" y="839849"/>
                </a:lnTo>
                <a:lnTo>
                  <a:pt x="1881051" y="863586"/>
                </a:lnTo>
                <a:lnTo>
                  <a:pt x="1901952" y="886627"/>
                </a:lnTo>
                <a:lnTo>
                  <a:pt x="1922853" y="908960"/>
                </a:lnTo>
                <a:lnTo>
                  <a:pt x="1943753" y="930574"/>
                </a:lnTo>
                <a:lnTo>
                  <a:pt x="1964654" y="951462"/>
                </a:lnTo>
                <a:lnTo>
                  <a:pt x="1985554" y="971620"/>
                </a:lnTo>
                <a:lnTo>
                  <a:pt x="2006455" y="991046"/>
                </a:lnTo>
                <a:lnTo>
                  <a:pt x="2027355" y="1009741"/>
                </a:lnTo>
                <a:lnTo>
                  <a:pt x="2048256" y="1027706"/>
                </a:lnTo>
                <a:lnTo>
                  <a:pt x="2069157" y="1044946"/>
                </a:lnTo>
                <a:lnTo>
                  <a:pt x="2090057" y="1061469"/>
                </a:lnTo>
                <a:lnTo>
                  <a:pt x="2110958" y="1077282"/>
                </a:lnTo>
                <a:lnTo>
                  <a:pt x="2131858" y="1092395"/>
                </a:lnTo>
                <a:lnTo>
                  <a:pt x="2152759" y="1106821"/>
                </a:lnTo>
                <a:lnTo>
                  <a:pt x="2173659" y="1120572"/>
                </a:lnTo>
                <a:lnTo>
                  <a:pt x="2194560" y="1133662"/>
                </a:lnTo>
                <a:lnTo>
                  <a:pt x="2215461" y="1146108"/>
                </a:lnTo>
                <a:lnTo>
                  <a:pt x="2236361" y="1157925"/>
                </a:lnTo>
                <a:lnTo>
                  <a:pt x="2257262" y="1169130"/>
                </a:lnTo>
                <a:lnTo>
                  <a:pt x="2278162" y="1179742"/>
                </a:lnTo>
                <a:lnTo>
                  <a:pt x="2299063" y="1189779"/>
                </a:lnTo>
                <a:lnTo>
                  <a:pt x="2319963" y="1199260"/>
                </a:lnTo>
                <a:lnTo>
                  <a:pt x="2340864" y="1208205"/>
                </a:lnTo>
                <a:lnTo>
                  <a:pt x="2361765" y="1216633"/>
                </a:lnTo>
                <a:lnTo>
                  <a:pt x="2382665" y="1224565"/>
                </a:lnTo>
                <a:lnTo>
                  <a:pt x="2403566" y="1232019"/>
                </a:lnTo>
                <a:lnTo>
                  <a:pt x="2424466" y="1239017"/>
                </a:lnTo>
                <a:lnTo>
                  <a:pt x="2445367" y="1245578"/>
                </a:lnTo>
                <a:lnTo>
                  <a:pt x="2466267" y="1251721"/>
                </a:lnTo>
                <a:lnTo>
                  <a:pt x="2487168" y="1257466"/>
                </a:lnTo>
                <a:lnTo>
                  <a:pt x="2508069" y="1262833"/>
                </a:lnTo>
                <a:lnTo>
                  <a:pt x="2528969" y="1267840"/>
                </a:lnTo>
                <a:lnTo>
                  <a:pt x="2549870" y="1272506"/>
                </a:lnTo>
                <a:lnTo>
                  <a:pt x="2570770" y="1276849"/>
                </a:lnTo>
                <a:lnTo>
                  <a:pt x="2591671" y="1280885"/>
                </a:lnTo>
                <a:lnTo>
                  <a:pt x="2612571" y="1284633"/>
                </a:lnTo>
                <a:lnTo>
                  <a:pt x="2633472" y="1288108"/>
                </a:lnTo>
                <a:lnTo>
                  <a:pt x="2654373" y="1291327"/>
                </a:lnTo>
                <a:lnTo>
                  <a:pt x="2675273" y="1294305"/>
                </a:lnTo>
                <a:lnTo>
                  <a:pt x="2696174" y="1297057"/>
                </a:lnTo>
                <a:lnTo>
                  <a:pt x="2717074" y="1299597"/>
                </a:lnTo>
                <a:lnTo>
                  <a:pt x="2737975" y="1301938"/>
                </a:lnTo>
                <a:lnTo>
                  <a:pt x="2758875" y="1304093"/>
                </a:lnTo>
                <a:lnTo>
                  <a:pt x="2779776" y="1306076"/>
                </a:lnTo>
                <a:lnTo>
                  <a:pt x="2800677" y="1307897"/>
                </a:lnTo>
                <a:lnTo>
                  <a:pt x="2821577" y="1309567"/>
                </a:lnTo>
                <a:lnTo>
                  <a:pt x="2842478" y="1311098"/>
                </a:lnTo>
                <a:lnTo>
                  <a:pt x="2863378" y="1312500"/>
                </a:lnTo>
                <a:lnTo>
                  <a:pt x="2884279" y="1313781"/>
                </a:lnTo>
                <a:lnTo>
                  <a:pt x="2905179" y="1314952"/>
                </a:lnTo>
                <a:lnTo>
                  <a:pt x="2926080" y="1316019"/>
                </a:lnTo>
              </a:path>
            </a:pathLst>
          </a:custGeom>
          <a:noFill/>
          <a:ln w="3492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5" name="Connector 24">
            <a:extLst>
              <a:ext uri="{FF2B5EF4-FFF2-40B4-BE49-F238E27FC236}">
                <a16:creationId xmlns:a16="http://schemas.microsoft.com/office/drawing/2014/main" id="{BDA5D69C-5DA3-185C-C483-D28948C96F68}"/>
              </a:ext>
            </a:extLst>
          </p:cNvPr>
          <p:cNvCxnSpPr/>
          <p:nvPr/>
        </p:nvCxnSpPr>
        <p:spPr>
          <a:xfrm>
            <a:off x="8458200" y="4079527"/>
            <a:ext cx="292608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94922340-E2D9-7A33-D201-691CCBDECFBE}"/>
              </a:ext>
            </a:extLst>
          </p:cNvPr>
          <p:cNvSpPr txBox="1"/>
          <p:nvPr/>
        </p:nvSpPr>
        <p:spPr>
          <a:xfrm>
            <a:off x="8321040" y="4225831"/>
            <a:ext cx="3200400" cy="1143903"/>
          </a:xfrm>
          <a:prstGeom prst="rect">
            <a:avLst/>
          </a:prstGeom>
          <a:noFill/>
        </p:spPr>
        <p:txBody>
          <a:bodyPr wrap="square" lIns="0" tIns="0" rIns="0" bIns="0" anchor="t">
            <a:spAutoFit/>
          </a:bodyPr>
          <a:lstStyle/>
          <a:p>
            <a:pPr algn="ctr">
              <a:spcAft>
                <a:spcPts val="500"/>
              </a:spcAft>
            </a:pPr>
            <a:r>
              <a:rPr sz="2200" b="0" dirty="0" err="1">
                <a:solidFill>
                  <a:srgbClr val="262626"/>
                </a:solidFill>
                <a:latin typeface="Meiryo"/>
                <a:ea typeface="Meiryo"/>
                <a:cs typeface="Meiryo"/>
              </a:rPr>
              <a:t>対称形に歪みを</a:t>
            </a:r>
            <a:r>
              <a:rPr lang="ja-JP" altLang="en-US" sz="2200">
                <a:solidFill>
                  <a:srgbClr val="262626"/>
                </a:solidFill>
                <a:latin typeface="Meiryo"/>
                <a:ea typeface="Meiryo"/>
                <a:cs typeface="Meiryo"/>
              </a:rPr>
              <a:t>足す。</a:t>
            </a:r>
            <a:endParaRPr sz="2200" b="0" dirty="0">
              <a:solidFill>
                <a:srgbClr val="262626"/>
              </a:solidFill>
              <a:latin typeface="Meiryo"/>
              <a:ea typeface="Meiryo"/>
              <a:cs typeface="Meiryo"/>
            </a:endParaRPr>
          </a:p>
          <a:p>
            <a:pPr algn="ctr">
              <a:spcAft>
                <a:spcPts val="500"/>
              </a:spcAft>
            </a:pPr>
            <a:r>
              <a:rPr lang="ja-JP" altLang="en-US" sz="2200">
                <a:solidFill>
                  <a:srgbClr val="262626"/>
                </a:solidFill>
                <a:latin typeface="Meiryo"/>
                <a:ea typeface="Meiryo"/>
                <a:cs typeface="Meiryo"/>
              </a:rPr>
              <a:t>頂点の位置や幅といった</a:t>
            </a:r>
            <a:endParaRPr lang="en-US" altLang="ja-JP" sz="2200" dirty="0">
              <a:solidFill>
                <a:srgbClr val="262626"/>
              </a:solidFill>
              <a:latin typeface="Meiryo"/>
              <a:ea typeface="Meiryo"/>
              <a:cs typeface="Meiryo"/>
            </a:endParaRPr>
          </a:p>
          <a:p>
            <a:pPr algn="ctr">
              <a:spcAft>
                <a:spcPts val="500"/>
              </a:spcAft>
            </a:pPr>
            <a:r>
              <a:rPr lang="ja-JP" altLang="en-US" sz="2200" b="0">
                <a:solidFill>
                  <a:srgbClr val="262626"/>
                </a:solidFill>
                <a:latin typeface="Meiryo"/>
                <a:ea typeface="Meiryo"/>
                <a:cs typeface="Meiryo"/>
              </a:rPr>
              <a:t>意味が保たれやすい。</a:t>
            </a:r>
            <a:endParaRPr sz="2200" b="0" dirty="0">
              <a:solidFill>
                <a:srgbClr val="262626"/>
              </a:solidFill>
              <a:latin typeface="Meiryo"/>
              <a:ea typeface="Meiryo"/>
              <a:cs typeface="Meiryo"/>
            </a:endParaRPr>
          </a:p>
        </p:txBody>
      </p:sp>
      <p:sp>
        <p:nvSpPr>
          <p:cNvPr id="29" name="PageNo">
            <a:extLst>
              <a:ext uri="{FF2B5EF4-FFF2-40B4-BE49-F238E27FC236}">
                <a16:creationId xmlns:a16="http://schemas.microsoft.com/office/drawing/2014/main" id="{95549798-D60B-80BD-C801-3F5B2F2F1363}"/>
              </a:ext>
            </a:extLst>
          </p:cNvPr>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78/118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4">
            <a:extLst>
              <a:ext uri="{FF2B5EF4-FFF2-40B4-BE49-F238E27FC236}">
                <a16:creationId xmlns:a16="http://schemas.microsoft.com/office/drawing/2014/main" id="{AA9D36CE-3772-F005-B54C-9329ADA7F086}"/>
              </a:ext>
            </a:extLst>
          </p:cNvPr>
          <p:cNvSpPr/>
          <p:nvPr/>
        </p:nvSpPr>
        <p:spPr>
          <a:xfrm>
            <a:off x="1085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156496110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82E97-FD86-89BC-9E40-3D844B6951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D8BAA0-C300-1338-66CD-A25E11D77395}"/>
              </a:ext>
            </a:extLst>
          </p:cNvPr>
          <p:cNvSpPr>
            <a:spLocks noGrp="1"/>
          </p:cNvSpPr>
          <p:nvPr>
            <p:ph type="title"/>
          </p:nvPr>
        </p:nvSpPr>
        <p:spPr/>
        <p:txBody>
          <a:bodyPr/>
          <a:lstStyle/>
          <a:p>
            <a:pPr algn="l"/>
            <a:r>
              <a:rPr sz="4600" dirty="0">
                <a:latin typeface="Meiryo"/>
                <a:ea typeface="Meiryo"/>
                <a:cs typeface="Meiryo"/>
              </a:rPr>
              <a:t>5.2  </a:t>
            </a:r>
            <a:r>
              <a:rPr lang="ja-JP" altLang="en-US" sz="4600">
                <a:latin typeface="Meiryo"/>
                <a:ea typeface="Meiryo"/>
                <a:cs typeface="Meiryo"/>
              </a:rPr>
              <a:t>カーネル数</a:t>
            </a:r>
            <a:endParaRPr sz="4600" dirty="0">
              <a:latin typeface="Meiryo"/>
              <a:ea typeface="Meiryo"/>
              <a:cs typeface="Meiryo"/>
            </a:endParaRPr>
          </a:p>
        </p:txBody>
      </p:sp>
      <p:sp>
        <p:nvSpPr>
          <p:cNvPr id="29" name="Source">
            <a:extLst>
              <a:ext uri="{FF2B5EF4-FFF2-40B4-BE49-F238E27FC236}">
                <a16:creationId xmlns:a16="http://schemas.microsoft.com/office/drawing/2014/main" id="{4A79E67F-B058-1420-ABEB-F5967EADE170}"/>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36. Fleischhauer 2020　／　43. Tigges 2017</a:t>
            </a:r>
          </a:p>
        </p:txBody>
      </p:sp>
      <p:sp>
        <p:nvSpPr>
          <p:cNvPr id="31" name="Rounded Rectangle 30">
            <a:extLst>
              <a:ext uri="{FF2B5EF4-FFF2-40B4-BE49-F238E27FC236}">
                <a16:creationId xmlns:a16="http://schemas.microsoft.com/office/drawing/2014/main" id="{A95E1915-411C-BBFF-7024-2E42B82CDA0C}"/>
              </a:ext>
            </a:extLst>
          </p:cNvPr>
          <p:cNvSpPr/>
          <p:nvPr/>
        </p:nvSpPr>
        <p:spPr>
          <a:xfrm>
            <a:off x="502920" y="2240280"/>
            <a:ext cx="3529584" cy="256032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a:extLst>
              <a:ext uri="{FF2B5EF4-FFF2-40B4-BE49-F238E27FC236}">
                <a16:creationId xmlns:a16="http://schemas.microsoft.com/office/drawing/2014/main" id="{1EFFEE4A-30A1-22B8-0D9C-A917263018AD}"/>
              </a:ext>
            </a:extLst>
          </p:cNvPr>
          <p:cNvSpPr txBox="1"/>
          <p:nvPr/>
        </p:nvSpPr>
        <p:spPr>
          <a:xfrm>
            <a:off x="640080" y="2423160"/>
            <a:ext cx="3255264" cy="457200"/>
          </a:xfrm>
          <a:prstGeom prst="rect">
            <a:avLst/>
          </a:prstGeom>
          <a:noFill/>
        </p:spPr>
        <p:txBody>
          <a:bodyPr wrap="square" lIns="0" tIns="0" rIns="0" bIns="0" anchor="t">
            <a:spAutoFit/>
          </a:bodyPr>
          <a:lstStyle/>
          <a:p>
            <a:pPr algn="ctr"/>
            <a:r>
              <a:rPr sz="2700" b="1">
                <a:solidFill>
                  <a:srgbClr val="0072B2"/>
                </a:solidFill>
                <a:latin typeface="Meiryo"/>
                <a:ea typeface="Meiryo"/>
                <a:cs typeface="Meiryo"/>
              </a:rPr>
              <a:t>2 本</a:t>
            </a:r>
          </a:p>
        </p:txBody>
      </p:sp>
      <p:sp>
        <p:nvSpPr>
          <p:cNvPr id="33" name="TextBox 32">
            <a:extLst>
              <a:ext uri="{FF2B5EF4-FFF2-40B4-BE49-F238E27FC236}">
                <a16:creationId xmlns:a16="http://schemas.microsoft.com/office/drawing/2014/main" id="{D6572F29-EF6B-6F34-6C3E-D08DB7C870CD}"/>
              </a:ext>
            </a:extLst>
          </p:cNvPr>
          <p:cNvSpPr txBox="1"/>
          <p:nvPr/>
        </p:nvSpPr>
        <p:spPr>
          <a:xfrm>
            <a:off x="612648" y="2999232"/>
            <a:ext cx="3310128" cy="1118255"/>
          </a:xfrm>
          <a:prstGeom prst="rect">
            <a:avLst/>
          </a:prstGeom>
          <a:noFill/>
        </p:spPr>
        <p:txBody>
          <a:bodyPr wrap="square" lIns="0" tIns="0" rIns="0" bIns="0" anchor="t">
            <a:spAutoFit/>
          </a:bodyPr>
          <a:lstStyle/>
          <a:p>
            <a:pPr algn="ctr">
              <a:spcAft>
                <a:spcPts val="400"/>
              </a:spcAft>
            </a:pPr>
            <a:r>
              <a:rPr sz="2200" b="0" dirty="0" err="1">
                <a:solidFill>
                  <a:srgbClr val="262626"/>
                </a:solidFill>
                <a:latin typeface="Meiryo"/>
                <a:ea typeface="Meiryo"/>
                <a:cs typeface="Meiryo"/>
              </a:rPr>
              <a:t>前進波</a:t>
            </a:r>
            <a:r>
              <a:rPr sz="2200" b="0" dirty="0">
                <a:solidFill>
                  <a:srgbClr val="262626"/>
                </a:solidFill>
                <a:latin typeface="Meiryo"/>
                <a:ea typeface="Meiryo"/>
                <a:cs typeface="Meiryo"/>
              </a:rPr>
              <a:t> ＋ </a:t>
            </a:r>
            <a:r>
              <a:rPr sz="2200" b="0" dirty="0" err="1">
                <a:solidFill>
                  <a:srgbClr val="262626"/>
                </a:solidFill>
                <a:latin typeface="Meiryo"/>
                <a:ea typeface="Meiryo"/>
                <a:cs typeface="Meiryo"/>
              </a:rPr>
              <a:t>反射波</a:t>
            </a:r>
            <a:endParaRPr sz="2200" b="0" dirty="0">
              <a:solidFill>
                <a:srgbClr val="262626"/>
              </a:solidFill>
              <a:latin typeface="Meiryo"/>
              <a:ea typeface="Meiryo"/>
              <a:cs typeface="Meiryo"/>
            </a:endParaRPr>
          </a:p>
          <a:p>
            <a:pPr algn="ctr">
              <a:spcAft>
                <a:spcPts val="400"/>
              </a:spcAft>
            </a:pPr>
            <a:r>
              <a:rPr sz="2200" b="0" dirty="0" err="1">
                <a:solidFill>
                  <a:srgbClr val="262626"/>
                </a:solidFill>
                <a:latin typeface="Meiryo"/>
                <a:ea typeface="Meiryo"/>
                <a:cs typeface="Meiryo"/>
              </a:rPr>
              <a:t>解釈がはっきりする</a:t>
            </a:r>
            <a:r>
              <a:rPr lang="ja-JP" altLang="en-US" sz="2200" b="0">
                <a:solidFill>
                  <a:srgbClr val="262626"/>
                </a:solidFill>
                <a:latin typeface="Meiryo"/>
                <a:ea typeface="Meiryo"/>
                <a:cs typeface="Meiryo"/>
              </a:rPr>
              <a:t>。</a:t>
            </a:r>
            <a:endParaRPr sz="2200" b="0" dirty="0">
              <a:solidFill>
                <a:srgbClr val="262626"/>
              </a:solidFill>
              <a:latin typeface="Meiryo"/>
              <a:ea typeface="Meiryo"/>
              <a:cs typeface="Meiryo"/>
            </a:endParaRPr>
          </a:p>
          <a:p>
            <a:pPr algn="ctr">
              <a:spcAft>
                <a:spcPts val="400"/>
              </a:spcAft>
            </a:pPr>
            <a:r>
              <a:rPr sz="2200" b="0" dirty="0" err="1">
                <a:solidFill>
                  <a:srgbClr val="262626"/>
                </a:solidFill>
                <a:latin typeface="Meiryo"/>
                <a:ea typeface="Meiryo"/>
                <a:cs typeface="Meiryo"/>
              </a:rPr>
              <a:t>ノイズに強い</a:t>
            </a:r>
            <a:r>
              <a:rPr lang="ja-JP" altLang="en-US" sz="2200" b="0">
                <a:solidFill>
                  <a:srgbClr val="262626"/>
                </a:solidFill>
                <a:latin typeface="Meiryo"/>
                <a:ea typeface="Meiryo"/>
                <a:cs typeface="Meiryo"/>
              </a:rPr>
              <a:t>。</a:t>
            </a:r>
            <a:endParaRPr sz="2200" b="0" dirty="0">
              <a:solidFill>
                <a:srgbClr val="262626"/>
              </a:solidFill>
              <a:latin typeface="Meiryo"/>
              <a:ea typeface="Meiryo"/>
              <a:cs typeface="Meiryo"/>
            </a:endParaRPr>
          </a:p>
        </p:txBody>
      </p:sp>
      <p:sp>
        <p:nvSpPr>
          <p:cNvPr id="34" name="TextBox 33">
            <a:extLst>
              <a:ext uri="{FF2B5EF4-FFF2-40B4-BE49-F238E27FC236}">
                <a16:creationId xmlns:a16="http://schemas.microsoft.com/office/drawing/2014/main" id="{3411C040-6134-7A41-60FA-F972649B0155}"/>
              </a:ext>
            </a:extLst>
          </p:cNvPr>
          <p:cNvSpPr txBox="1"/>
          <p:nvPr/>
        </p:nvSpPr>
        <p:spPr>
          <a:xfrm>
            <a:off x="640080" y="4315968"/>
            <a:ext cx="3255264" cy="411480"/>
          </a:xfrm>
          <a:prstGeom prst="rect">
            <a:avLst/>
          </a:prstGeom>
          <a:noFill/>
        </p:spPr>
        <p:txBody>
          <a:bodyPr wrap="square" lIns="0" tIns="0" rIns="0" bIns="0" anchor="t">
            <a:spAutoFit/>
          </a:bodyPr>
          <a:lstStyle/>
          <a:p>
            <a:pPr algn="ctr"/>
            <a:r>
              <a:rPr sz="2700" b="1">
                <a:solidFill>
                  <a:srgbClr val="0072B2"/>
                </a:solidFill>
                <a:latin typeface="Meiryo"/>
                <a:ea typeface="Meiryo"/>
                <a:cs typeface="Meiryo"/>
              </a:rPr>
              <a:t>○</a:t>
            </a:r>
          </a:p>
        </p:txBody>
      </p:sp>
      <p:sp>
        <p:nvSpPr>
          <p:cNvPr id="35" name="Rounded Rectangle 34">
            <a:extLst>
              <a:ext uri="{FF2B5EF4-FFF2-40B4-BE49-F238E27FC236}">
                <a16:creationId xmlns:a16="http://schemas.microsoft.com/office/drawing/2014/main" id="{42608DC1-FA05-609C-A861-E753F8668473}"/>
              </a:ext>
            </a:extLst>
          </p:cNvPr>
          <p:cNvSpPr/>
          <p:nvPr/>
        </p:nvSpPr>
        <p:spPr>
          <a:xfrm>
            <a:off x="4306824" y="2240280"/>
            <a:ext cx="3529584" cy="256032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a:extLst>
              <a:ext uri="{FF2B5EF4-FFF2-40B4-BE49-F238E27FC236}">
                <a16:creationId xmlns:a16="http://schemas.microsoft.com/office/drawing/2014/main" id="{4FEB43BB-95B2-A27B-F5CE-83052F26CA33}"/>
              </a:ext>
            </a:extLst>
          </p:cNvPr>
          <p:cNvSpPr txBox="1"/>
          <p:nvPr/>
        </p:nvSpPr>
        <p:spPr>
          <a:xfrm>
            <a:off x="4443984" y="2423160"/>
            <a:ext cx="3255264" cy="457200"/>
          </a:xfrm>
          <a:prstGeom prst="rect">
            <a:avLst/>
          </a:prstGeom>
          <a:noFill/>
        </p:spPr>
        <p:txBody>
          <a:bodyPr wrap="square" lIns="0" tIns="0" rIns="0" bIns="0" anchor="t">
            <a:spAutoFit/>
          </a:bodyPr>
          <a:lstStyle/>
          <a:p>
            <a:pPr algn="ctr"/>
            <a:r>
              <a:rPr sz="2700" b="1">
                <a:solidFill>
                  <a:srgbClr val="00A8AA"/>
                </a:solidFill>
                <a:latin typeface="Meiryo"/>
                <a:ea typeface="Meiryo"/>
                <a:cs typeface="Meiryo"/>
              </a:rPr>
              <a:t>3〜5 本</a:t>
            </a:r>
          </a:p>
        </p:txBody>
      </p:sp>
      <p:sp>
        <p:nvSpPr>
          <p:cNvPr id="37" name="TextBox 36">
            <a:extLst>
              <a:ext uri="{FF2B5EF4-FFF2-40B4-BE49-F238E27FC236}">
                <a16:creationId xmlns:a16="http://schemas.microsoft.com/office/drawing/2014/main" id="{9269C179-15EA-DE8D-8DE6-3BCB5A663BD7}"/>
              </a:ext>
            </a:extLst>
          </p:cNvPr>
          <p:cNvSpPr txBox="1"/>
          <p:nvPr/>
        </p:nvSpPr>
        <p:spPr>
          <a:xfrm>
            <a:off x="4416552" y="2999232"/>
            <a:ext cx="3310128" cy="1118255"/>
          </a:xfrm>
          <a:prstGeom prst="rect">
            <a:avLst/>
          </a:prstGeom>
          <a:noFill/>
        </p:spPr>
        <p:txBody>
          <a:bodyPr wrap="square" lIns="0" tIns="0" rIns="0" bIns="0" anchor="t">
            <a:spAutoFit/>
          </a:bodyPr>
          <a:lstStyle/>
          <a:p>
            <a:pPr algn="ctr">
              <a:spcAft>
                <a:spcPts val="400"/>
              </a:spcAft>
            </a:pPr>
            <a:r>
              <a:rPr sz="2200" b="0" dirty="0" err="1">
                <a:solidFill>
                  <a:srgbClr val="262626"/>
                </a:solidFill>
                <a:latin typeface="Meiryo"/>
                <a:ea typeface="Meiryo"/>
                <a:cs typeface="Meiryo"/>
              </a:rPr>
              <a:t>反射が複数回戻ると</a:t>
            </a:r>
            <a:endParaRPr sz="2200" b="0" dirty="0">
              <a:solidFill>
                <a:srgbClr val="262626"/>
              </a:solidFill>
              <a:latin typeface="Meiryo"/>
              <a:ea typeface="Meiryo"/>
              <a:cs typeface="Meiryo"/>
            </a:endParaRPr>
          </a:p>
          <a:p>
            <a:pPr algn="ctr">
              <a:spcAft>
                <a:spcPts val="400"/>
              </a:spcAft>
            </a:pPr>
            <a:r>
              <a:rPr sz="2200" b="0" dirty="0" err="1">
                <a:solidFill>
                  <a:srgbClr val="262626"/>
                </a:solidFill>
                <a:latin typeface="Meiryo"/>
                <a:ea typeface="Meiryo"/>
                <a:cs typeface="Meiryo"/>
              </a:rPr>
              <a:t>みなす</a:t>
            </a:r>
            <a:r>
              <a:rPr lang="ja-JP" altLang="en-US" sz="2200" b="0">
                <a:solidFill>
                  <a:srgbClr val="262626"/>
                </a:solidFill>
                <a:latin typeface="Meiryo"/>
                <a:ea typeface="Meiryo"/>
                <a:cs typeface="Meiryo"/>
              </a:rPr>
              <a:t>。</a:t>
            </a:r>
            <a:endParaRPr sz="2200" b="0" dirty="0">
              <a:solidFill>
                <a:srgbClr val="262626"/>
              </a:solidFill>
              <a:latin typeface="Meiryo"/>
              <a:ea typeface="Meiryo"/>
              <a:cs typeface="Meiryo"/>
            </a:endParaRPr>
          </a:p>
          <a:p>
            <a:pPr algn="ctr">
              <a:spcAft>
                <a:spcPts val="400"/>
              </a:spcAft>
            </a:pPr>
            <a:r>
              <a:rPr sz="2200" b="0" dirty="0" err="1">
                <a:solidFill>
                  <a:srgbClr val="262626"/>
                </a:solidFill>
                <a:latin typeface="Meiryo"/>
                <a:ea typeface="Meiryo"/>
                <a:cs typeface="Meiryo"/>
              </a:rPr>
              <a:t>当てはまりは良い</a:t>
            </a:r>
            <a:r>
              <a:rPr lang="ja-JP" altLang="en-US" sz="2200" b="0">
                <a:solidFill>
                  <a:srgbClr val="262626"/>
                </a:solidFill>
                <a:latin typeface="Meiryo"/>
                <a:ea typeface="Meiryo"/>
                <a:cs typeface="Meiryo"/>
              </a:rPr>
              <a:t>。</a:t>
            </a:r>
            <a:endParaRPr sz="2200" b="0" dirty="0">
              <a:solidFill>
                <a:srgbClr val="262626"/>
              </a:solidFill>
              <a:latin typeface="Meiryo"/>
              <a:ea typeface="Meiryo"/>
              <a:cs typeface="Meiryo"/>
            </a:endParaRPr>
          </a:p>
        </p:txBody>
      </p:sp>
      <p:sp>
        <p:nvSpPr>
          <p:cNvPr id="38" name="TextBox 37">
            <a:extLst>
              <a:ext uri="{FF2B5EF4-FFF2-40B4-BE49-F238E27FC236}">
                <a16:creationId xmlns:a16="http://schemas.microsoft.com/office/drawing/2014/main" id="{B4D79022-9F78-EEE6-6DD3-41AF1A5CA922}"/>
              </a:ext>
            </a:extLst>
          </p:cNvPr>
          <p:cNvSpPr txBox="1"/>
          <p:nvPr/>
        </p:nvSpPr>
        <p:spPr>
          <a:xfrm>
            <a:off x="4443984" y="4315968"/>
            <a:ext cx="3255264" cy="411480"/>
          </a:xfrm>
          <a:prstGeom prst="rect">
            <a:avLst/>
          </a:prstGeom>
          <a:noFill/>
        </p:spPr>
        <p:txBody>
          <a:bodyPr wrap="square" lIns="0" tIns="0" rIns="0" bIns="0" anchor="t">
            <a:spAutoFit/>
          </a:bodyPr>
          <a:lstStyle/>
          <a:p>
            <a:pPr algn="ctr"/>
            <a:r>
              <a:rPr sz="2700" b="1">
                <a:solidFill>
                  <a:srgbClr val="00A8AA"/>
                </a:solidFill>
                <a:latin typeface="Meiryo"/>
                <a:ea typeface="Meiryo"/>
                <a:cs typeface="Meiryo"/>
              </a:rPr>
              <a:t>△</a:t>
            </a:r>
          </a:p>
        </p:txBody>
      </p:sp>
      <p:sp>
        <p:nvSpPr>
          <p:cNvPr id="39" name="Rounded Rectangle 38">
            <a:extLst>
              <a:ext uri="{FF2B5EF4-FFF2-40B4-BE49-F238E27FC236}">
                <a16:creationId xmlns:a16="http://schemas.microsoft.com/office/drawing/2014/main" id="{9744C5AD-C28B-24E3-F38C-FB3E8BB1BAF2}"/>
              </a:ext>
            </a:extLst>
          </p:cNvPr>
          <p:cNvSpPr/>
          <p:nvPr/>
        </p:nvSpPr>
        <p:spPr>
          <a:xfrm>
            <a:off x="8110728" y="2240280"/>
            <a:ext cx="3529584" cy="2560320"/>
          </a:xfrm>
          <a:prstGeom prst="roundRect">
            <a:avLst/>
          </a:prstGeom>
          <a:solidFill>
            <a:srgbClr val="F2F2F2"/>
          </a:solidFill>
          <a:ln w="2857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a:extLst>
              <a:ext uri="{FF2B5EF4-FFF2-40B4-BE49-F238E27FC236}">
                <a16:creationId xmlns:a16="http://schemas.microsoft.com/office/drawing/2014/main" id="{57463DA3-D3A8-358B-4B01-A0D8F9A0BAD2}"/>
              </a:ext>
            </a:extLst>
          </p:cNvPr>
          <p:cNvSpPr txBox="1"/>
          <p:nvPr/>
        </p:nvSpPr>
        <p:spPr>
          <a:xfrm>
            <a:off x="8247888" y="2423160"/>
            <a:ext cx="3255264" cy="415498"/>
          </a:xfrm>
          <a:prstGeom prst="rect">
            <a:avLst/>
          </a:prstGeom>
          <a:noFill/>
        </p:spPr>
        <p:txBody>
          <a:bodyPr wrap="square" lIns="0" tIns="0" rIns="0" bIns="0" anchor="t">
            <a:spAutoFit/>
          </a:bodyPr>
          <a:lstStyle/>
          <a:p>
            <a:pPr algn="ctr"/>
            <a:r>
              <a:rPr lang="en-US" altLang="ja-JP" sz="2700" b="1" dirty="0">
                <a:solidFill>
                  <a:srgbClr val="D55E00"/>
                </a:solidFill>
                <a:latin typeface="Meiryo"/>
                <a:ea typeface="Meiryo"/>
                <a:cs typeface="Meiryo"/>
              </a:rPr>
              <a:t>6</a:t>
            </a:r>
            <a:r>
              <a:rPr lang="ja-JP" altLang="en-US" sz="2700" b="1">
                <a:solidFill>
                  <a:srgbClr val="D55E00"/>
                </a:solidFill>
                <a:latin typeface="Meiryo"/>
                <a:ea typeface="Meiryo"/>
                <a:cs typeface="Meiryo"/>
              </a:rPr>
              <a:t>本以上</a:t>
            </a:r>
            <a:endParaRPr sz="2700" b="1" dirty="0">
              <a:solidFill>
                <a:srgbClr val="D55E00"/>
              </a:solidFill>
              <a:latin typeface="Meiryo"/>
              <a:ea typeface="Meiryo"/>
              <a:cs typeface="Meiryo"/>
            </a:endParaRPr>
          </a:p>
        </p:txBody>
      </p:sp>
      <p:sp>
        <p:nvSpPr>
          <p:cNvPr id="41" name="TextBox 40">
            <a:extLst>
              <a:ext uri="{FF2B5EF4-FFF2-40B4-BE49-F238E27FC236}">
                <a16:creationId xmlns:a16="http://schemas.microsoft.com/office/drawing/2014/main" id="{2A9B0B9E-0ABE-2D28-A0BE-9D4B60AC99B7}"/>
              </a:ext>
            </a:extLst>
          </p:cNvPr>
          <p:cNvSpPr txBox="1"/>
          <p:nvPr/>
        </p:nvSpPr>
        <p:spPr>
          <a:xfrm>
            <a:off x="8220456" y="2999232"/>
            <a:ext cx="3310128" cy="1118255"/>
          </a:xfrm>
          <a:prstGeom prst="rect">
            <a:avLst/>
          </a:prstGeom>
          <a:noFill/>
        </p:spPr>
        <p:txBody>
          <a:bodyPr wrap="square" lIns="0" tIns="0" rIns="0" bIns="0" anchor="t">
            <a:spAutoFit/>
          </a:bodyPr>
          <a:lstStyle/>
          <a:p>
            <a:pPr algn="ctr">
              <a:spcAft>
                <a:spcPts val="400"/>
              </a:spcAft>
            </a:pPr>
            <a:r>
              <a:rPr lang="ja-JP" altLang="en-US" sz="2200">
                <a:solidFill>
                  <a:srgbClr val="262626"/>
                </a:solidFill>
                <a:latin typeface="Meiryo"/>
                <a:ea typeface="Meiryo"/>
                <a:cs typeface="Meiryo"/>
              </a:rPr>
              <a:t>誤差</a:t>
            </a:r>
            <a:r>
              <a:rPr sz="2200" b="0" dirty="0" err="1">
                <a:solidFill>
                  <a:srgbClr val="262626"/>
                </a:solidFill>
                <a:latin typeface="Meiryo"/>
                <a:ea typeface="Meiryo"/>
                <a:cs typeface="Meiryo"/>
              </a:rPr>
              <a:t>はいくらでも</a:t>
            </a:r>
            <a:endParaRPr sz="2200" b="0" dirty="0">
              <a:solidFill>
                <a:srgbClr val="262626"/>
              </a:solidFill>
              <a:latin typeface="Meiryo"/>
              <a:ea typeface="Meiryo"/>
              <a:cs typeface="Meiryo"/>
            </a:endParaRPr>
          </a:p>
          <a:p>
            <a:pPr algn="ctr">
              <a:spcAft>
                <a:spcPts val="400"/>
              </a:spcAft>
            </a:pPr>
            <a:r>
              <a:rPr sz="2200" b="0" dirty="0" err="1">
                <a:solidFill>
                  <a:srgbClr val="262626"/>
                </a:solidFill>
                <a:latin typeface="Meiryo"/>
                <a:ea typeface="Meiryo"/>
                <a:cs typeface="Meiryo"/>
              </a:rPr>
              <a:t>小さくできるが</a:t>
            </a:r>
            <a:endParaRPr sz="2200" b="0" dirty="0">
              <a:solidFill>
                <a:srgbClr val="262626"/>
              </a:solidFill>
              <a:latin typeface="Meiryo"/>
              <a:ea typeface="Meiryo"/>
              <a:cs typeface="Meiryo"/>
            </a:endParaRPr>
          </a:p>
          <a:p>
            <a:pPr algn="ctr">
              <a:spcAft>
                <a:spcPts val="400"/>
              </a:spcAft>
            </a:pPr>
            <a:r>
              <a:rPr sz="2200" b="0" dirty="0" err="1">
                <a:solidFill>
                  <a:srgbClr val="262626"/>
                </a:solidFill>
                <a:latin typeface="Meiryo"/>
                <a:ea typeface="Meiryo"/>
                <a:cs typeface="Meiryo"/>
              </a:rPr>
              <a:t>解が定まらない。</a:t>
            </a:r>
            <a:endParaRPr sz="2200" b="0" dirty="0">
              <a:solidFill>
                <a:srgbClr val="262626"/>
              </a:solidFill>
              <a:latin typeface="Meiryo"/>
              <a:ea typeface="Meiryo"/>
              <a:cs typeface="Meiryo"/>
            </a:endParaRPr>
          </a:p>
        </p:txBody>
      </p:sp>
      <p:sp>
        <p:nvSpPr>
          <p:cNvPr id="42" name="TextBox 41">
            <a:extLst>
              <a:ext uri="{FF2B5EF4-FFF2-40B4-BE49-F238E27FC236}">
                <a16:creationId xmlns:a16="http://schemas.microsoft.com/office/drawing/2014/main" id="{F95EBEB7-8EEC-6C5D-AA68-DDA11F54812B}"/>
              </a:ext>
            </a:extLst>
          </p:cNvPr>
          <p:cNvSpPr txBox="1"/>
          <p:nvPr/>
        </p:nvSpPr>
        <p:spPr>
          <a:xfrm>
            <a:off x="8247888" y="4315968"/>
            <a:ext cx="3255264" cy="411480"/>
          </a:xfrm>
          <a:prstGeom prst="rect">
            <a:avLst/>
          </a:prstGeom>
          <a:noFill/>
        </p:spPr>
        <p:txBody>
          <a:bodyPr wrap="square" lIns="0" tIns="0" rIns="0" bIns="0" anchor="t">
            <a:spAutoFit/>
          </a:bodyPr>
          <a:lstStyle/>
          <a:p>
            <a:pPr algn="ctr"/>
            <a:r>
              <a:rPr sz="2700" b="1">
                <a:solidFill>
                  <a:srgbClr val="D55E00"/>
                </a:solidFill>
                <a:latin typeface="Meiryo"/>
                <a:ea typeface="Meiryo"/>
                <a:cs typeface="Meiryo"/>
              </a:rPr>
              <a:t>×</a:t>
            </a:r>
          </a:p>
        </p:txBody>
      </p:sp>
      <p:sp>
        <p:nvSpPr>
          <p:cNvPr id="43" name="Rounded Rectangle 42">
            <a:extLst>
              <a:ext uri="{FF2B5EF4-FFF2-40B4-BE49-F238E27FC236}">
                <a16:creationId xmlns:a16="http://schemas.microsoft.com/office/drawing/2014/main" id="{4744AEBD-8016-06E9-6521-FE10F73D4EA6}"/>
              </a:ext>
            </a:extLst>
          </p:cNvPr>
          <p:cNvSpPr/>
          <p:nvPr/>
        </p:nvSpPr>
        <p:spPr>
          <a:xfrm>
            <a:off x="502920" y="5047488"/>
            <a:ext cx="11201400" cy="109728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a:extLst>
              <a:ext uri="{FF2B5EF4-FFF2-40B4-BE49-F238E27FC236}">
                <a16:creationId xmlns:a16="http://schemas.microsoft.com/office/drawing/2014/main" id="{BE942A84-6E8B-1210-0C06-4286F0CCD0E8}"/>
              </a:ext>
            </a:extLst>
          </p:cNvPr>
          <p:cNvSpPr txBox="1"/>
          <p:nvPr/>
        </p:nvSpPr>
        <p:spPr>
          <a:xfrm>
            <a:off x="685800" y="5248656"/>
            <a:ext cx="10835640" cy="777136"/>
          </a:xfrm>
          <a:prstGeom prst="rect">
            <a:avLst/>
          </a:prstGeom>
          <a:noFill/>
        </p:spPr>
        <p:txBody>
          <a:bodyPr wrap="square" lIns="0" tIns="0" rIns="0" bIns="0" anchor="t">
            <a:spAutoFit/>
          </a:bodyPr>
          <a:lstStyle/>
          <a:p>
            <a:pPr algn="ctr">
              <a:spcAft>
                <a:spcPts val="300"/>
              </a:spcAft>
            </a:pPr>
            <a:r>
              <a:rPr sz="2400" b="1" dirty="0" err="1">
                <a:solidFill>
                  <a:srgbClr val="262626"/>
                </a:solidFill>
                <a:latin typeface="Meiryo"/>
                <a:ea typeface="Meiryo"/>
                <a:cs typeface="Meiryo"/>
              </a:rPr>
              <a:t>本数を増やせば</a:t>
            </a:r>
            <a:r>
              <a:rPr lang="ja-JP" altLang="en-US" sz="2400" b="1">
                <a:solidFill>
                  <a:srgbClr val="262626"/>
                </a:solidFill>
                <a:latin typeface="Meiryo"/>
                <a:ea typeface="Meiryo"/>
                <a:cs typeface="Meiryo"/>
              </a:rPr>
              <a:t>よく近似できる</a:t>
            </a:r>
            <a:r>
              <a:rPr sz="2400" b="1" dirty="0" err="1">
                <a:solidFill>
                  <a:srgbClr val="262626"/>
                </a:solidFill>
                <a:latin typeface="Meiryo"/>
                <a:ea typeface="Meiryo"/>
                <a:cs typeface="Meiryo"/>
              </a:rPr>
              <a:t>が、解が一意でなくなる</a:t>
            </a:r>
            <a:r>
              <a:rPr lang="ja-JP" altLang="en-US" sz="2400" b="1">
                <a:solidFill>
                  <a:srgbClr val="262626"/>
                </a:solidFill>
                <a:latin typeface="Meiryo"/>
                <a:ea typeface="Meiryo"/>
                <a:cs typeface="Meiryo"/>
              </a:rPr>
              <a:t>。</a:t>
            </a:r>
            <a:endParaRPr sz="2400" b="1" dirty="0">
              <a:solidFill>
                <a:srgbClr val="262626"/>
              </a:solidFill>
              <a:latin typeface="Meiryo"/>
              <a:ea typeface="Meiryo"/>
              <a:cs typeface="Meiryo"/>
            </a:endParaRPr>
          </a:p>
          <a:p>
            <a:pPr algn="ctr">
              <a:spcAft>
                <a:spcPts val="300"/>
              </a:spcAft>
            </a:pPr>
            <a:r>
              <a:rPr lang="ja-JP" altLang="en-US" sz="2400" b="1">
                <a:solidFill>
                  <a:srgbClr val="262626"/>
                </a:solidFill>
                <a:latin typeface="Meiryo"/>
                <a:ea typeface="Meiryo"/>
                <a:cs typeface="Meiryo"/>
              </a:rPr>
              <a:t>バランスが良いモデルを評価する基準がある。</a:t>
            </a:r>
            <a:endParaRPr sz="2400" b="1" dirty="0">
              <a:solidFill>
                <a:srgbClr val="262626"/>
              </a:solidFill>
              <a:latin typeface="Meiryo"/>
              <a:ea typeface="Meiryo"/>
              <a:cs typeface="Meiryo"/>
            </a:endParaRPr>
          </a:p>
        </p:txBody>
      </p:sp>
      <p:sp>
        <p:nvSpPr>
          <p:cNvPr id="45" name="PageNo">
            <a:extLst>
              <a:ext uri="{FF2B5EF4-FFF2-40B4-BE49-F238E27FC236}">
                <a16:creationId xmlns:a16="http://schemas.microsoft.com/office/drawing/2014/main" id="{2D1C4157-71B4-AFE4-950B-4DF058758475}"/>
              </a:ext>
            </a:extLst>
          </p:cNvPr>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79/118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4">
            <a:extLst>
              <a:ext uri="{FF2B5EF4-FFF2-40B4-BE49-F238E27FC236}">
                <a16:creationId xmlns:a16="http://schemas.microsoft.com/office/drawing/2014/main" id="{AA9D36CE-3772-F005-B54C-9329ADA7F086}"/>
              </a:ext>
            </a:extLst>
          </p:cNvPr>
          <p:cNvSpPr/>
          <p:nvPr/>
        </p:nvSpPr>
        <p:spPr>
          <a:xfrm>
            <a:off x="1085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303747905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6EC7E-CC25-35A5-F86E-4D3BC9F9C53C}"/>
              </a:ext>
            </a:extLst>
          </p:cNvPr>
          <p:cNvSpPr>
            <a:spLocks noGrp="1"/>
          </p:cNvSpPr>
          <p:nvPr>
            <p:ph type="title"/>
          </p:nvPr>
        </p:nvSpPr>
        <p:spPr/>
        <p:txBody>
          <a:bodyPr/>
          <a:lstStyle/>
          <a:p>
            <a:pPr algn="l"/>
            <a:r>
              <a:rPr sz="4600" dirty="0">
                <a:latin typeface="Meiryo"/>
                <a:ea typeface="Meiryo"/>
                <a:cs typeface="Meiryo"/>
              </a:rPr>
              <a:t>5.3  </a:t>
            </a:r>
            <a:r>
              <a:rPr lang="ja-JP" altLang="en-US" sz="4600">
                <a:latin typeface="Meiryo"/>
                <a:ea typeface="Meiryo"/>
                <a:cs typeface="Meiryo"/>
              </a:rPr>
              <a:t>どうやって推測するのか</a:t>
            </a:r>
            <a:endParaRPr sz="4600" dirty="0">
              <a:latin typeface="Meiryo"/>
              <a:ea typeface="Meiryo"/>
              <a:cs typeface="Meiryo"/>
            </a:endParaRPr>
          </a:p>
        </p:txBody>
      </p:sp>
      <p:sp>
        <p:nvSpPr>
          <p:cNvPr id="2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33. Couceiro 2015　／　43. Tigges 2017　／　44. Basso 2024</a:t>
            </a:r>
          </a:p>
        </p:txBody>
      </p:sp>
      <p:sp>
        <p:nvSpPr>
          <p:cNvPr id="43"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80/118</a:t>
            </a:r>
          </a:p>
        </p:txBody>
      </p:sp>
      <p:sp>
        <p:nvSpPr>
          <p:cNvPr id="44" name="Rounded Rectangle 43"/>
          <p:cNvSpPr/>
          <p:nvPr/>
        </p:nvSpPr>
        <p:spPr>
          <a:xfrm>
            <a:off x="502920" y="2187303"/>
            <a:ext cx="2615184" cy="301752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Rounded Rectangle 44"/>
          <p:cNvSpPr/>
          <p:nvPr/>
        </p:nvSpPr>
        <p:spPr>
          <a:xfrm>
            <a:off x="3364992" y="2187303"/>
            <a:ext cx="2615184" cy="301752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Rounded Rectangle 45"/>
          <p:cNvSpPr/>
          <p:nvPr/>
        </p:nvSpPr>
        <p:spPr>
          <a:xfrm>
            <a:off x="6227064" y="2187303"/>
            <a:ext cx="2615184" cy="301752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Rounded Rectangle 46"/>
          <p:cNvSpPr/>
          <p:nvPr/>
        </p:nvSpPr>
        <p:spPr>
          <a:xfrm>
            <a:off x="9089136" y="2187303"/>
            <a:ext cx="2615184" cy="3017520"/>
          </a:xfrm>
          <a:prstGeom prst="roundRect">
            <a:avLst/>
          </a:prstGeom>
          <a:solidFill>
            <a:srgbClr val="F2F2F2"/>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Right Arrow 47"/>
          <p:cNvSpPr/>
          <p:nvPr/>
        </p:nvSpPr>
        <p:spPr>
          <a:xfrm>
            <a:off x="3159252" y="3549758"/>
            <a:ext cx="164592" cy="292608"/>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Right Arrow 48"/>
          <p:cNvSpPr/>
          <p:nvPr/>
        </p:nvSpPr>
        <p:spPr>
          <a:xfrm>
            <a:off x="6021324" y="3549758"/>
            <a:ext cx="164592" cy="292608"/>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Right Arrow 49"/>
          <p:cNvSpPr/>
          <p:nvPr/>
        </p:nvSpPr>
        <p:spPr>
          <a:xfrm>
            <a:off x="8883396" y="3549758"/>
            <a:ext cx="164592" cy="292608"/>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TextBox 50"/>
          <p:cNvSpPr txBox="1"/>
          <p:nvPr/>
        </p:nvSpPr>
        <p:spPr>
          <a:xfrm>
            <a:off x="612648" y="2333607"/>
            <a:ext cx="2395728" cy="503529"/>
          </a:xfrm>
          <a:prstGeom prst="rect">
            <a:avLst/>
          </a:prstGeom>
          <a:noFill/>
        </p:spPr>
        <p:txBody>
          <a:bodyPr wrap="square" lIns="0" tIns="0" rIns="0" bIns="0" anchor="t">
            <a:spAutoFit/>
          </a:bodyPr>
          <a:lstStyle/>
          <a:p>
            <a:pPr algn="ctr">
              <a:spcAft>
                <a:spcPts val="0"/>
              </a:spcAft>
            </a:pPr>
            <a:r>
              <a:rPr sz="2800" b="1" dirty="0">
                <a:solidFill>
                  <a:srgbClr val="0072B2"/>
                </a:solidFill>
                <a:latin typeface="Meiryo"/>
                <a:ea typeface="Meiryo"/>
                <a:cs typeface="Meiryo"/>
              </a:rPr>
              <a:t>①</a:t>
            </a:r>
          </a:p>
        </p:txBody>
      </p:sp>
      <p:sp>
        <p:nvSpPr>
          <p:cNvPr id="52" name="TextBox 51"/>
          <p:cNvSpPr txBox="1"/>
          <p:nvPr/>
        </p:nvSpPr>
        <p:spPr>
          <a:xfrm>
            <a:off x="612648" y="2900534"/>
            <a:ext cx="2395728" cy="863193"/>
          </a:xfrm>
          <a:prstGeom prst="rect">
            <a:avLst/>
          </a:prstGeom>
          <a:noFill/>
        </p:spPr>
        <p:txBody>
          <a:bodyPr wrap="square" lIns="0" tIns="0" rIns="0" bIns="0" anchor="t">
            <a:spAutoFit/>
          </a:bodyPr>
          <a:lstStyle/>
          <a:p>
            <a:pPr algn="ctr">
              <a:spcAft>
                <a:spcPts val="0"/>
              </a:spcAft>
            </a:pPr>
            <a:r>
              <a:rPr sz="2400" b="1" dirty="0">
                <a:solidFill>
                  <a:srgbClr val="262626"/>
                </a:solidFill>
                <a:latin typeface="Meiryo"/>
                <a:ea typeface="Meiryo"/>
                <a:cs typeface="Meiryo"/>
              </a:rPr>
              <a:t>モデルを</a:t>
            </a:r>
          </a:p>
          <a:p>
            <a:pPr algn="ctr">
              <a:spcAft>
                <a:spcPts val="0"/>
              </a:spcAft>
            </a:pPr>
            <a:r>
              <a:rPr sz="2400" b="1" dirty="0">
                <a:solidFill>
                  <a:srgbClr val="262626"/>
                </a:solidFill>
                <a:latin typeface="Meiryo"/>
                <a:ea typeface="Meiryo"/>
                <a:cs typeface="Meiryo"/>
              </a:rPr>
              <a:t>決める</a:t>
            </a:r>
          </a:p>
        </p:txBody>
      </p:sp>
      <p:sp>
        <p:nvSpPr>
          <p:cNvPr id="53" name="TextBox 52"/>
          <p:cNvSpPr txBox="1"/>
          <p:nvPr/>
        </p:nvSpPr>
        <p:spPr>
          <a:xfrm>
            <a:off x="612648" y="3878943"/>
            <a:ext cx="2395728" cy="1186891"/>
          </a:xfrm>
          <a:prstGeom prst="rect">
            <a:avLst/>
          </a:prstGeom>
          <a:noFill/>
        </p:spPr>
        <p:txBody>
          <a:bodyPr wrap="square" lIns="0" tIns="0" rIns="0" bIns="0" anchor="t">
            <a:spAutoFit/>
          </a:bodyPr>
          <a:lstStyle/>
          <a:p>
            <a:pPr algn="ctr">
              <a:spcAft>
                <a:spcPts val="0"/>
              </a:spcAft>
            </a:pPr>
            <a:r>
              <a:rPr sz="2200" b="0" dirty="0">
                <a:solidFill>
                  <a:srgbClr val="595959"/>
                </a:solidFill>
                <a:latin typeface="Meiryo"/>
                <a:ea typeface="Meiryo"/>
                <a:cs typeface="Meiryo"/>
              </a:rPr>
              <a:t>基底関数の</a:t>
            </a:r>
          </a:p>
          <a:p>
            <a:pPr algn="ctr">
              <a:spcAft>
                <a:spcPts val="0"/>
              </a:spcAft>
            </a:pPr>
            <a:r>
              <a:rPr sz="2200" b="0" dirty="0">
                <a:solidFill>
                  <a:srgbClr val="595959"/>
                </a:solidFill>
                <a:latin typeface="Meiryo"/>
                <a:ea typeface="Meiryo"/>
                <a:cs typeface="Meiryo"/>
              </a:rPr>
              <a:t>種類と本数</a:t>
            </a:r>
          </a:p>
          <a:p>
            <a:pPr algn="ctr">
              <a:spcAft>
                <a:spcPts val="0"/>
              </a:spcAft>
            </a:pPr>
            <a:r>
              <a:rPr sz="2200" b="0" dirty="0">
                <a:solidFill>
                  <a:srgbClr val="595959"/>
                </a:solidFill>
                <a:latin typeface="Meiryo"/>
                <a:ea typeface="Meiryo"/>
                <a:cs typeface="Meiryo"/>
              </a:rPr>
              <a:t>（設計値）</a:t>
            </a:r>
          </a:p>
        </p:txBody>
      </p:sp>
      <p:sp>
        <p:nvSpPr>
          <p:cNvPr id="54" name="TextBox 53"/>
          <p:cNvSpPr txBox="1"/>
          <p:nvPr/>
        </p:nvSpPr>
        <p:spPr>
          <a:xfrm>
            <a:off x="3474720" y="2333607"/>
            <a:ext cx="2395728" cy="503529"/>
          </a:xfrm>
          <a:prstGeom prst="rect">
            <a:avLst/>
          </a:prstGeom>
          <a:noFill/>
        </p:spPr>
        <p:txBody>
          <a:bodyPr wrap="square" lIns="0" tIns="0" rIns="0" bIns="0" anchor="t">
            <a:spAutoFit/>
          </a:bodyPr>
          <a:lstStyle/>
          <a:p>
            <a:pPr algn="ctr">
              <a:spcAft>
                <a:spcPts val="0"/>
              </a:spcAft>
            </a:pPr>
            <a:r>
              <a:rPr sz="2800" b="1" dirty="0">
                <a:solidFill>
                  <a:srgbClr val="0072B2"/>
                </a:solidFill>
                <a:latin typeface="Meiryo"/>
                <a:ea typeface="Meiryo"/>
                <a:cs typeface="Meiryo"/>
              </a:rPr>
              <a:t>②</a:t>
            </a:r>
          </a:p>
        </p:txBody>
      </p:sp>
      <p:sp>
        <p:nvSpPr>
          <p:cNvPr id="55" name="TextBox 54"/>
          <p:cNvSpPr txBox="1"/>
          <p:nvPr/>
        </p:nvSpPr>
        <p:spPr>
          <a:xfrm>
            <a:off x="3474720" y="2900534"/>
            <a:ext cx="2395728" cy="738664"/>
          </a:xfrm>
          <a:prstGeom prst="rect">
            <a:avLst/>
          </a:prstGeom>
          <a:noFill/>
        </p:spPr>
        <p:txBody>
          <a:bodyPr wrap="square" lIns="0" tIns="0" rIns="0" bIns="0" anchor="t">
            <a:spAutoFit/>
          </a:bodyPr>
          <a:lstStyle/>
          <a:p>
            <a:pPr algn="ctr">
              <a:spcAft>
                <a:spcPts val="0"/>
              </a:spcAft>
            </a:pPr>
            <a:r>
              <a:rPr sz="2400" b="1" dirty="0">
                <a:solidFill>
                  <a:srgbClr val="262626"/>
                </a:solidFill>
                <a:latin typeface="Meiryo"/>
                <a:ea typeface="Meiryo"/>
                <a:cs typeface="Meiryo"/>
              </a:rPr>
              <a:t>初期値と</a:t>
            </a:r>
          </a:p>
          <a:p>
            <a:pPr algn="ctr">
              <a:spcAft>
                <a:spcPts val="0"/>
              </a:spcAft>
            </a:pPr>
            <a:r>
              <a:rPr sz="2400" b="1" dirty="0" err="1">
                <a:solidFill>
                  <a:srgbClr val="262626"/>
                </a:solidFill>
                <a:latin typeface="Meiryo"/>
                <a:ea typeface="Meiryo"/>
                <a:cs typeface="Meiryo"/>
              </a:rPr>
              <a:t>境界を</a:t>
            </a:r>
            <a:r>
              <a:rPr lang="ja-JP" altLang="en-US" sz="2400" b="1">
                <a:solidFill>
                  <a:srgbClr val="262626"/>
                </a:solidFill>
                <a:latin typeface="Meiryo"/>
                <a:ea typeface="Meiryo"/>
                <a:cs typeface="Meiryo"/>
              </a:rPr>
              <a:t>決める</a:t>
            </a:r>
            <a:endParaRPr sz="2400" b="1" dirty="0">
              <a:solidFill>
                <a:srgbClr val="262626"/>
              </a:solidFill>
              <a:latin typeface="Meiryo"/>
              <a:ea typeface="Meiryo"/>
              <a:cs typeface="Meiryo"/>
            </a:endParaRPr>
          </a:p>
        </p:txBody>
      </p:sp>
      <p:sp>
        <p:nvSpPr>
          <p:cNvPr id="56" name="TextBox 55"/>
          <p:cNvSpPr txBox="1"/>
          <p:nvPr/>
        </p:nvSpPr>
        <p:spPr>
          <a:xfrm>
            <a:off x="3474720" y="3878943"/>
            <a:ext cx="2395728" cy="1186891"/>
          </a:xfrm>
          <a:prstGeom prst="rect">
            <a:avLst/>
          </a:prstGeom>
          <a:noFill/>
        </p:spPr>
        <p:txBody>
          <a:bodyPr wrap="square" lIns="0" tIns="0" rIns="0" bIns="0" anchor="t">
            <a:spAutoFit/>
          </a:bodyPr>
          <a:lstStyle/>
          <a:p>
            <a:pPr algn="ctr">
              <a:spcAft>
                <a:spcPts val="0"/>
              </a:spcAft>
            </a:pPr>
            <a:r>
              <a:rPr sz="2200" b="0" dirty="0">
                <a:solidFill>
                  <a:srgbClr val="595959"/>
                </a:solidFill>
                <a:latin typeface="Meiryo"/>
                <a:ea typeface="Meiryo"/>
                <a:cs typeface="Meiryo"/>
              </a:rPr>
              <a:t>どこから探すか。</a:t>
            </a:r>
          </a:p>
          <a:p>
            <a:pPr algn="ctr">
              <a:spcAft>
                <a:spcPts val="0"/>
              </a:spcAft>
            </a:pPr>
            <a:r>
              <a:rPr sz="2200" b="0" dirty="0">
                <a:solidFill>
                  <a:srgbClr val="595959"/>
                </a:solidFill>
                <a:latin typeface="Meiryo"/>
                <a:ea typeface="Meiryo"/>
                <a:cs typeface="Meiryo"/>
              </a:rPr>
              <a:t>どこまで許すか。</a:t>
            </a:r>
          </a:p>
          <a:p>
            <a:pPr algn="ctr">
              <a:spcAft>
                <a:spcPts val="0"/>
              </a:spcAft>
            </a:pPr>
            <a:r>
              <a:rPr sz="2200" b="0" dirty="0">
                <a:solidFill>
                  <a:srgbClr val="595959"/>
                </a:solidFill>
                <a:latin typeface="Meiryo"/>
                <a:ea typeface="Meiryo"/>
                <a:cs typeface="Meiryo"/>
              </a:rPr>
              <a:t>（設計値）</a:t>
            </a:r>
          </a:p>
        </p:txBody>
      </p:sp>
      <p:sp>
        <p:nvSpPr>
          <p:cNvPr id="57" name="TextBox 56"/>
          <p:cNvSpPr txBox="1"/>
          <p:nvPr/>
        </p:nvSpPr>
        <p:spPr>
          <a:xfrm>
            <a:off x="6336792" y="2333607"/>
            <a:ext cx="2395728" cy="503529"/>
          </a:xfrm>
          <a:prstGeom prst="rect">
            <a:avLst/>
          </a:prstGeom>
          <a:noFill/>
        </p:spPr>
        <p:txBody>
          <a:bodyPr wrap="square" lIns="0" tIns="0" rIns="0" bIns="0" anchor="t">
            <a:spAutoFit/>
          </a:bodyPr>
          <a:lstStyle/>
          <a:p>
            <a:pPr algn="ctr">
              <a:spcAft>
                <a:spcPts val="0"/>
              </a:spcAft>
            </a:pPr>
            <a:r>
              <a:rPr sz="2800" b="1" dirty="0">
                <a:solidFill>
                  <a:srgbClr val="00A8AA"/>
                </a:solidFill>
                <a:latin typeface="Meiryo"/>
                <a:ea typeface="Meiryo"/>
                <a:cs typeface="Meiryo"/>
              </a:rPr>
              <a:t>③</a:t>
            </a:r>
          </a:p>
        </p:txBody>
      </p:sp>
      <p:sp>
        <p:nvSpPr>
          <p:cNvPr id="58" name="TextBox 57"/>
          <p:cNvSpPr txBox="1"/>
          <p:nvPr/>
        </p:nvSpPr>
        <p:spPr>
          <a:xfrm>
            <a:off x="6336792" y="2900534"/>
            <a:ext cx="2395728" cy="738664"/>
          </a:xfrm>
          <a:prstGeom prst="rect">
            <a:avLst/>
          </a:prstGeom>
          <a:noFill/>
        </p:spPr>
        <p:txBody>
          <a:bodyPr wrap="square" lIns="0" tIns="0" rIns="0" bIns="0" anchor="t">
            <a:spAutoFit/>
          </a:bodyPr>
          <a:lstStyle/>
          <a:p>
            <a:pPr algn="ctr">
              <a:spcAft>
                <a:spcPts val="0"/>
              </a:spcAft>
            </a:pPr>
            <a:r>
              <a:rPr lang="ja-JP" altLang="en-US" sz="2400" b="1">
                <a:solidFill>
                  <a:srgbClr val="262626"/>
                </a:solidFill>
                <a:latin typeface="Meiryo"/>
                <a:ea typeface="Meiryo"/>
                <a:cs typeface="Meiryo"/>
              </a:rPr>
              <a:t>モデルを</a:t>
            </a:r>
            <a:endParaRPr lang="en-US" altLang="ja-JP" sz="2400" b="1" dirty="0">
              <a:solidFill>
                <a:srgbClr val="262626"/>
              </a:solidFill>
              <a:latin typeface="Meiryo"/>
              <a:ea typeface="Meiryo"/>
              <a:cs typeface="Meiryo"/>
            </a:endParaRPr>
          </a:p>
          <a:p>
            <a:pPr algn="ctr">
              <a:spcAft>
                <a:spcPts val="0"/>
              </a:spcAft>
            </a:pPr>
            <a:r>
              <a:rPr lang="ja-JP" altLang="en-US" sz="2400" b="1">
                <a:solidFill>
                  <a:srgbClr val="262626"/>
                </a:solidFill>
                <a:latin typeface="Meiryo"/>
                <a:ea typeface="Meiryo"/>
                <a:cs typeface="Meiryo"/>
              </a:rPr>
              <a:t>当てはめる</a:t>
            </a:r>
            <a:endParaRPr sz="2400" b="1" dirty="0">
              <a:solidFill>
                <a:srgbClr val="262626"/>
              </a:solidFill>
              <a:latin typeface="Meiryo"/>
              <a:ea typeface="Meiryo"/>
              <a:cs typeface="Meiryo"/>
            </a:endParaRPr>
          </a:p>
        </p:txBody>
      </p:sp>
      <p:sp>
        <p:nvSpPr>
          <p:cNvPr id="59" name="TextBox 58"/>
          <p:cNvSpPr txBox="1"/>
          <p:nvPr/>
        </p:nvSpPr>
        <p:spPr>
          <a:xfrm>
            <a:off x="6336792" y="3878943"/>
            <a:ext cx="2395728" cy="1015663"/>
          </a:xfrm>
          <a:prstGeom prst="rect">
            <a:avLst/>
          </a:prstGeom>
          <a:noFill/>
        </p:spPr>
        <p:txBody>
          <a:bodyPr wrap="square" lIns="0" tIns="0" rIns="0" bIns="0" anchor="t">
            <a:spAutoFit/>
          </a:bodyPr>
          <a:lstStyle/>
          <a:p>
            <a:pPr algn="ctr">
              <a:spcAft>
                <a:spcPts val="0"/>
              </a:spcAft>
            </a:pPr>
            <a:r>
              <a:rPr lang="ja-JP" altLang="en-US" sz="2200" b="0">
                <a:solidFill>
                  <a:srgbClr val="595959"/>
                </a:solidFill>
                <a:latin typeface="Meiryo"/>
                <a:ea typeface="Meiryo"/>
                <a:cs typeface="Meiryo"/>
              </a:rPr>
              <a:t>実波形と誤差を　最小にするように反復計算。</a:t>
            </a:r>
            <a:endParaRPr sz="2200" b="0" dirty="0">
              <a:solidFill>
                <a:srgbClr val="595959"/>
              </a:solidFill>
              <a:latin typeface="Meiryo"/>
              <a:ea typeface="Meiryo"/>
              <a:cs typeface="Meiryo"/>
            </a:endParaRPr>
          </a:p>
        </p:txBody>
      </p:sp>
      <p:sp>
        <p:nvSpPr>
          <p:cNvPr id="60" name="TextBox 59"/>
          <p:cNvSpPr txBox="1"/>
          <p:nvPr/>
        </p:nvSpPr>
        <p:spPr>
          <a:xfrm>
            <a:off x="9198863" y="2333607"/>
            <a:ext cx="2395728" cy="503529"/>
          </a:xfrm>
          <a:prstGeom prst="rect">
            <a:avLst/>
          </a:prstGeom>
          <a:noFill/>
        </p:spPr>
        <p:txBody>
          <a:bodyPr wrap="square" lIns="0" tIns="0" rIns="0" bIns="0" anchor="t">
            <a:spAutoFit/>
          </a:bodyPr>
          <a:lstStyle/>
          <a:p>
            <a:pPr algn="ctr">
              <a:spcAft>
                <a:spcPts val="0"/>
              </a:spcAft>
            </a:pPr>
            <a:r>
              <a:rPr sz="2800" b="1" dirty="0">
                <a:solidFill>
                  <a:srgbClr val="BF9000"/>
                </a:solidFill>
                <a:latin typeface="Meiryo"/>
                <a:ea typeface="Meiryo"/>
                <a:cs typeface="Meiryo"/>
              </a:rPr>
              <a:t>④</a:t>
            </a:r>
          </a:p>
        </p:txBody>
      </p:sp>
      <p:sp>
        <p:nvSpPr>
          <p:cNvPr id="61" name="TextBox 60"/>
          <p:cNvSpPr txBox="1"/>
          <p:nvPr/>
        </p:nvSpPr>
        <p:spPr>
          <a:xfrm>
            <a:off x="9198863" y="2900534"/>
            <a:ext cx="2395728" cy="863193"/>
          </a:xfrm>
          <a:prstGeom prst="rect">
            <a:avLst/>
          </a:prstGeom>
          <a:noFill/>
        </p:spPr>
        <p:txBody>
          <a:bodyPr wrap="square" lIns="0" tIns="0" rIns="0" bIns="0" anchor="t">
            <a:spAutoFit/>
          </a:bodyPr>
          <a:lstStyle/>
          <a:p>
            <a:pPr algn="ctr">
              <a:spcAft>
                <a:spcPts val="0"/>
              </a:spcAft>
            </a:pPr>
            <a:r>
              <a:rPr sz="2400" b="1" dirty="0">
                <a:solidFill>
                  <a:srgbClr val="262626"/>
                </a:solidFill>
                <a:latin typeface="Meiryo"/>
                <a:ea typeface="Meiryo"/>
                <a:cs typeface="Meiryo"/>
              </a:rPr>
              <a:t>出た値を</a:t>
            </a:r>
          </a:p>
          <a:p>
            <a:pPr algn="ctr">
              <a:spcAft>
                <a:spcPts val="0"/>
              </a:spcAft>
            </a:pPr>
            <a:r>
              <a:rPr sz="2400" b="1" dirty="0">
                <a:solidFill>
                  <a:srgbClr val="262626"/>
                </a:solidFill>
                <a:latin typeface="Meiryo"/>
                <a:ea typeface="Meiryo"/>
                <a:cs typeface="Meiryo"/>
              </a:rPr>
              <a:t>検算する</a:t>
            </a:r>
          </a:p>
        </p:txBody>
      </p:sp>
      <p:sp>
        <p:nvSpPr>
          <p:cNvPr id="62" name="TextBox 61"/>
          <p:cNvSpPr txBox="1"/>
          <p:nvPr/>
        </p:nvSpPr>
        <p:spPr>
          <a:xfrm>
            <a:off x="9198863" y="3878943"/>
            <a:ext cx="2395728" cy="1186891"/>
          </a:xfrm>
          <a:prstGeom prst="rect">
            <a:avLst/>
          </a:prstGeom>
          <a:noFill/>
        </p:spPr>
        <p:txBody>
          <a:bodyPr wrap="square" lIns="0" tIns="0" rIns="0" bIns="0" anchor="t">
            <a:spAutoFit/>
          </a:bodyPr>
          <a:lstStyle/>
          <a:p>
            <a:pPr algn="ctr">
              <a:spcAft>
                <a:spcPts val="0"/>
              </a:spcAft>
            </a:pPr>
            <a:r>
              <a:rPr sz="2200" b="0" dirty="0">
                <a:solidFill>
                  <a:srgbClr val="595959"/>
                </a:solidFill>
                <a:latin typeface="Meiryo"/>
                <a:ea typeface="Meiryo"/>
                <a:cs typeface="Meiryo"/>
              </a:rPr>
              <a:t>境界・再現性</a:t>
            </a:r>
          </a:p>
          <a:p>
            <a:pPr algn="ctr">
              <a:spcAft>
                <a:spcPts val="0"/>
              </a:spcAft>
            </a:pPr>
            <a:r>
              <a:rPr sz="2200" b="0" dirty="0">
                <a:solidFill>
                  <a:srgbClr val="595959"/>
                </a:solidFill>
                <a:latin typeface="Meiryo"/>
                <a:ea typeface="Meiryo"/>
                <a:cs typeface="Meiryo"/>
              </a:rPr>
              <a:t>残差の谷の幅</a:t>
            </a:r>
          </a:p>
          <a:p>
            <a:pPr algn="ctr">
              <a:spcAft>
                <a:spcPts val="0"/>
              </a:spcAft>
            </a:pPr>
            <a:r>
              <a:rPr sz="2200" b="0" dirty="0">
                <a:solidFill>
                  <a:srgbClr val="595959"/>
                </a:solidFill>
                <a:latin typeface="Meiryo"/>
                <a:ea typeface="Meiryo"/>
                <a:cs typeface="Meiryo"/>
              </a:rPr>
              <a:t>を確かめる。</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4">
            <a:extLst>
              <a:ext uri="{FF2B5EF4-FFF2-40B4-BE49-F238E27FC236}">
                <a16:creationId xmlns:a16="http://schemas.microsoft.com/office/drawing/2014/main" id="{AA9D36CE-3772-F005-B54C-9329ADA7F086}"/>
              </a:ext>
            </a:extLst>
          </p:cNvPr>
          <p:cNvSpPr/>
          <p:nvPr/>
        </p:nvSpPr>
        <p:spPr>
          <a:xfrm>
            <a:off x="1085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9BAF1-D080-BCF1-C775-EF02AED5DA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A02141-412B-3B17-89BE-5CD04F81F38F}"/>
              </a:ext>
            </a:extLst>
          </p:cNvPr>
          <p:cNvSpPr>
            <a:spLocks noGrp="1"/>
          </p:cNvSpPr>
          <p:nvPr>
            <p:ph type="title"/>
          </p:nvPr>
        </p:nvSpPr>
        <p:spPr/>
        <p:txBody>
          <a:bodyPr/>
          <a:lstStyle/>
          <a:p>
            <a:pPr algn="l"/>
            <a:r>
              <a:rPr sz="4600" dirty="0">
                <a:latin typeface="Meiryo"/>
                <a:ea typeface="Meiryo"/>
                <a:cs typeface="Meiryo"/>
              </a:rPr>
              <a:t>5.3  </a:t>
            </a:r>
            <a:r>
              <a:rPr sz="4600" dirty="0" err="1">
                <a:latin typeface="Meiryo"/>
                <a:ea typeface="Meiryo"/>
                <a:cs typeface="Meiryo"/>
              </a:rPr>
              <a:t>初期値</a:t>
            </a:r>
            <a:r>
              <a:rPr lang="en-US" sz="4600" dirty="0">
                <a:latin typeface="Meiryo"/>
                <a:ea typeface="Meiryo"/>
                <a:cs typeface="Meiryo"/>
              </a:rPr>
              <a:t>/</a:t>
            </a:r>
            <a:r>
              <a:rPr lang="en-US" sz="4600" dirty="0" err="1">
                <a:latin typeface="Meiryo"/>
                <a:ea typeface="Meiryo"/>
                <a:cs typeface="Meiryo"/>
              </a:rPr>
              <a:t>境界条件</a:t>
            </a:r>
            <a:r>
              <a:rPr sz="4600" dirty="0" err="1">
                <a:latin typeface="Meiryo"/>
                <a:ea typeface="Meiryo"/>
                <a:cs typeface="Meiryo"/>
              </a:rPr>
              <a:t>の決め方</a:t>
            </a:r>
            <a:endParaRPr sz="4600" dirty="0">
              <a:latin typeface="Meiryo"/>
              <a:ea typeface="Meiryo"/>
              <a:cs typeface="Meiryo"/>
            </a:endParaRPr>
          </a:p>
        </p:txBody>
      </p:sp>
      <p:sp>
        <p:nvSpPr>
          <p:cNvPr id="29" name="Source">
            <a:extLst>
              <a:ext uri="{FF2B5EF4-FFF2-40B4-BE49-F238E27FC236}">
                <a16:creationId xmlns:a16="http://schemas.microsoft.com/office/drawing/2014/main" id="{CE79008C-0971-4506-B231-E302718AADB1}"/>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33. Couceiro 2015　／　44. Basso 2024</a:t>
            </a:r>
          </a:p>
        </p:txBody>
      </p:sp>
      <p:sp>
        <p:nvSpPr>
          <p:cNvPr id="43" name="PageNo">
            <a:extLst>
              <a:ext uri="{FF2B5EF4-FFF2-40B4-BE49-F238E27FC236}">
                <a16:creationId xmlns:a16="http://schemas.microsoft.com/office/drawing/2014/main" id="{EC0D748C-7033-54F9-47FE-918CEEE015FD}"/>
              </a:ext>
            </a:extLst>
          </p:cNvPr>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81/118</a:t>
            </a:r>
          </a:p>
        </p:txBody>
      </p:sp>
      <p:sp>
        <p:nvSpPr>
          <p:cNvPr id="44" name="Rounded Rectangle 43">
            <a:extLst>
              <a:ext uri="{FF2B5EF4-FFF2-40B4-BE49-F238E27FC236}">
                <a16:creationId xmlns:a16="http://schemas.microsoft.com/office/drawing/2014/main" id="{2A54BB95-76BF-6D5D-EF12-190C90768AAC}"/>
              </a:ext>
            </a:extLst>
          </p:cNvPr>
          <p:cNvSpPr/>
          <p:nvPr/>
        </p:nvSpPr>
        <p:spPr>
          <a:xfrm>
            <a:off x="627508" y="1609950"/>
            <a:ext cx="3529584" cy="3550310"/>
          </a:xfrm>
          <a:prstGeom prst="roundRect">
            <a:avLst>
              <a:gd name="adj" fmla="val 5333"/>
            </a:avLst>
          </a:prstGeom>
          <a:solidFill>
            <a:srgbClr val="F2F2F2"/>
          </a:solidFill>
          <a:ln w="28575">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Rounded Rectangle 44">
            <a:extLst>
              <a:ext uri="{FF2B5EF4-FFF2-40B4-BE49-F238E27FC236}">
                <a16:creationId xmlns:a16="http://schemas.microsoft.com/office/drawing/2014/main" id="{D6B52CC5-42EE-DFE1-4050-8054FBF6D494}"/>
              </a:ext>
            </a:extLst>
          </p:cNvPr>
          <p:cNvSpPr/>
          <p:nvPr/>
        </p:nvSpPr>
        <p:spPr>
          <a:xfrm>
            <a:off x="4431412" y="1609950"/>
            <a:ext cx="3529584" cy="3550310"/>
          </a:xfrm>
          <a:prstGeom prst="roundRect">
            <a:avLst>
              <a:gd name="adj" fmla="val 4928"/>
            </a:avLst>
          </a:prstGeom>
          <a:solidFill>
            <a:srgbClr val="F2F2F2"/>
          </a:solidFill>
          <a:ln w="28575">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Rounded Rectangle 45">
            <a:extLst>
              <a:ext uri="{FF2B5EF4-FFF2-40B4-BE49-F238E27FC236}">
                <a16:creationId xmlns:a16="http://schemas.microsoft.com/office/drawing/2014/main" id="{5BE53AEF-DC8B-BCAE-3B0B-34F8F1641EB4}"/>
              </a:ext>
            </a:extLst>
          </p:cNvPr>
          <p:cNvSpPr/>
          <p:nvPr/>
        </p:nvSpPr>
        <p:spPr>
          <a:xfrm>
            <a:off x="8235315" y="1609950"/>
            <a:ext cx="3529584" cy="3550310"/>
          </a:xfrm>
          <a:prstGeom prst="roundRect">
            <a:avLst>
              <a:gd name="adj" fmla="val 4928"/>
            </a:avLst>
          </a:prstGeom>
          <a:solidFill>
            <a:srgbClr val="F2F2F2"/>
          </a:solidFill>
          <a:ln w="28575">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a:extLst>
              <a:ext uri="{FF2B5EF4-FFF2-40B4-BE49-F238E27FC236}">
                <a16:creationId xmlns:a16="http://schemas.microsoft.com/office/drawing/2014/main" id="{7E73A356-97F5-066D-9A92-FDBD230E6143}"/>
              </a:ext>
            </a:extLst>
          </p:cNvPr>
          <p:cNvSpPr txBox="1"/>
          <p:nvPr/>
        </p:nvSpPr>
        <p:spPr>
          <a:xfrm>
            <a:off x="773812" y="1756254"/>
            <a:ext cx="3236976" cy="413613"/>
          </a:xfrm>
          <a:prstGeom prst="rect">
            <a:avLst/>
          </a:prstGeom>
          <a:noFill/>
        </p:spPr>
        <p:txBody>
          <a:bodyPr wrap="square" lIns="0" tIns="0" rIns="0" bIns="0" anchor="t">
            <a:spAutoFit/>
          </a:bodyPr>
          <a:lstStyle/>
          <a:p>
            <a:pPr algn="l">
              <a:spcAft>
                <a:spcPts val="0"/>
              </a:spcAft>
            </a:pPr>
            <a:r>
              <a:rPr sz="2300" b="1" dirty="0">
                <a:solidFill>
                  <a:srgbClr val="0072B2"/>
                </a:solidFill>
                <a:latin typeface="Meiryo"/>
                <a:ea typeface="Meiryo"/>
                <a:cs typeface="Meiryo"/>
              </a:rPr>
              <a:t>a　ランドマーク方式</a:t>
            </a:r>
          </a:p>
        </p:txBody>
      </p:sp>
      <p:sp>
        <p:nvSpPr>
          <p:cNvPr id="3" name="Freeform 2">
            <a:extLst>
              <a:ext uri="{FF2B5EF4-FFF2-40B4-BE49-F238E27FC236}">
                <a16:creationId xmlns:a16="http://schemas.microsoft.com/office/drawing/2014/main" id="{861FC59D-5B28-FD95-6391-DC397A735644}"/>
              </a:ext>
            </a:extLst>
          </p:cNvPr>
          <p:cNvSpPr/>
          <p:nvPr/>
        </p:nvSpPr>
        <p:spPr>
          <a:xfrm>
            <a:off x="901828" y="2300191"/>
            <a:ext cx="2969020" cy="981938"/>
          </a:xfrm>
          <a:custGeom>
            <a:avLst/>
            <a:gdLst/>
            <a:ahLst/>
            <a:cxnLst/>
            <a:rect l="l" t="t" r="r" b="b"/>
            <a:pathLst>
              <a:path w="2969020" h="981938">
                <a:moveTo>
                  <a:pt x="0" y="955016"/>
                </a:moveTo>
                <a:lnTo>
                  <a:pt x="11923" y="949848"/>
                </a:lnTo>
                <a:lnTo>
                  <a:pt x="23847" y="943856"/>
                </a:lnTo>
                <a:lnTo>
                  <a:pt x="35771" y="936946"/>
                </a:lnTo>
                <a:lnTo>
                  <a:pt x="47695" y="929017"/>
                </a:lnTo>
                <a:lnTo>
                  <a:pt x="59618" y="919966"/>
                </a:lnTo>
                <a:lnTo>
                  <a:pt x="71542" y="909687"/>
                </a:lnTo>
                <a:lnTo>
                  <a:pt x="83466" y="898076"/>
                </a:lnTo>
                <a:lnTo>
                  <a:pt x="95390" y="885029"/>
                </a:lnTo>
                <a:lnTo>
                  <a:pt x="107313" y="870447"/>
                </a:lnTo>
                <a:lnTo>
                  <a:pt x="119237" y="854237"/>
                </a:lnTo>
                <a:lnTo>
                  <a:pt x="131161" y="836317"/>
                </a:lnTo>
                <a:lnTo>
                  <a:pt x="143085" y="816614"/>
                </a:lnTo>
                <a:lnTo>
                  <a:pt x="155009" y="795073"/>
                </a:lnTo>
                <a:lnTo>
                  <a:pt x="166932" y="771658"/>
                </a:lnTo>
                <a:lnTo>
                  <a:pt x="178856" y="746350"/>
                </a:lnTo>
                <a:lnTo>
                  <a:pt x="190780" y="719159"/>
                </a:lnTo>
                <a:lnTo>
                  <a:pt x="202704" y="690120"/>
                </a:lnTo>
                <a:lnTo>
                  <a:pt x="214627" y="659298"/>
                </a:lnTo>
                <a:lnTo>
                  <a:pt x="226551" y="626787"/>
                </a:lnTo>
                <a:lnTo>
                  <a:pt x="238475" y="592717"/>
                </a:lnTo>
                <a:lnTo>
                  <a:pt x="250399" y="557248"/>
                </a:lnTo>
                <a:lnTo>
                  <a:pt x="262323" y="520578"/>
                </a:lnTo>
                <a:lnTo>
                  <a:pt x="274246" y="482934"/>
                </a:lnTo>
                <a:lnTo>
                  <a:pt x="286170" y="444575"/>
                </a:lnTo>
                <a:lnTo>
                  <a:pt x="298094" y="405791"/>
                </a:lnTo>
                <a:lnTo>
                  <a:pt x="310018" y="366895"/>
                </a:lnTo>
                <a:lnTo>
                  <a:pt x="321941" y="328225"/>
                </a:lnTo>
                <a:lnTo>
                  <a:pt x="333865" y="290133"/>
                </a:lnTo>
                <a:lnTo>
                  <a:pt x="345789" y="252982"/>
                </a:lnTo>
                <a:lnTo>
                  <a:pt x="357713" y="217143"/>
                </a:lnTo>
                <a:lnTo>
                  <a:pt x="369637" y="182983"/>
                </a:lnTo>
                <a:lnTo>
                  <a:pt x="381560" y="150861"/>
                </a:lnTo>
                <a:lnTo>
                  <a:pt x="393484" y="121122"/>
                </a:lnTo>
                <a:lnTo>
                  <a:pt x="405408" y="94086"/>
                </a:lnTo>
                <a:lnTo>
                  <a:pt x="417332" y="70046"/>
                </a:lnTo>
                <a:lnTo>
                  <a:pt x="429255" y="49259"/>
                </a:lnTo>
                <a:lnTo>
                  <a:pt x="441179" y="31942"/>
                </a:lnTo>
                <a:lnTo>
                  <a:pt x="453103" y="18263"/>
                </a:lnTo>
                <a:lnTo>
                  <a:pt x="465027" y="8344"/>
                </a:lnTo>
                <a:lnTo>
                  <a:pt x="476951" y="2251"/>
                </a:lnTo>
                <a:lnTo>
                  <a:pt x="488874" y="0"/>
                </a:lnTo>
                <a:lnTo>
                  <a:pt x="500798" y="1548"/>
                </a:lnTo>
                <a:lnTo>
                  <a:pt x="512722" y="6802"/>
                </a:lnTo>
                <a:lnTo>
                  <a:pt x="524646" y="15614"/>
                </a:lnTo>
                <a:lnTo>
                  <a:pt x="536569" y="27789"/>
                </a:lnTo>
                <a:lnTo>
                  <a:pt x="548493" y="43089"/>
                </a:lnTo>
                <a:lnTo>
                  <a:pt x="560417" y="61235"/>
                </a:lnTo>
                <a:lnTo>
                  <a:pt x="572341" y="81916"/>
                </a:lnTo>
                <a:lnTo>
                  <a:pt x="584265" y="104792"/>
                </a:lnTo>
                <a:lnTo>
                  <a:pt x="596188" y="129508"/>
                </a:lnTo>
                <a:lnTo>
                  <a:pt x="608112" y="155692"/>
                </a:lnTo>
                <a:lnTo>
                  <a:pt x="620036" y="182971"/>
                </a:lnTo>
                <a:lnTo>
                  <a:pt x="631960" y="210971"/>
                </a:lnTo>
                <a:lnTo>
                  <a:pt x="643883" y="239329"/>
                </a:lnTo>
                <a:lnTo>
                  <a:pt x="655807" y="267697"/>
                </a:lnTo>
                <a:lnTo>
                  <a:pt x="667731" y="295748"/>
                </a:lnTo>
                <a:lnTo>
                  <a:pt x="679655" y="323179"/>
                </a:lnTo>
                <a:lnTo>
                  <a:pt x="691579" y="349720"/>
                </a:lnTo>
                <a:lnTo>
                  <a:pt x="703502" y="375132"/>
                </a:lnTo>
                <a:lnTo>
                  <a:pt x="715426" y="399213"/>
                </a:lnTo>
                <a:lnTo>
                  <a:pt x="727350" y="421796"/>
                </a:lnTo>
                <a:lnTo>
                  <a:pt x="739274" y="442753"/>
                </a:lnTo>
                <a:lnTo>
                  <a:pt x="751197" y="461993"/>
                </a:lnTo>
                <a:lnTo>
                  <a:pt x="763121" y="479462"/>
                </a:lnTo>
                <a:lnTo>
                  <a:pt x="775045" y="495137"/>
                </a:lnTo>
                <a:lnTo>
                  <a:pt x="786969" y="509032"/>
                </a:lnTo>
                <a:lnTo>
                  <a:pt x="798892" y="521186"/>
                </a:lnTo>
                <a:lnTo>
                  <a:pt x="810816" y="531666"/>
                </a:lnTo>
                <a:lnTo>
                  <a:pt x="822740" y="540562"/>
                </a:lnTo>
                <a:lnTo>
                  <a:pt x="834664" y="547983"/>
                </a:lnTo>
                <a:lnTo>
                  <a:pt x="846588" y="554054"/>
                </a:lnTo>
                <a:lnTo>
                  <a:pt x="858511" y="558912"/>
                </a:lnTo>
                <a:lnTo>
                  <a:pt x="870435" y="562702"/>
                </a:lnTo>
                <a:lnTo>
                  <a:pt x="882359" y="565576"/>
                </a:lnTo>
                <a:lnTo>
                  <a:pt x="894283" y="567686"/>
                </a:lnTo>
                <a:lnTo>
                  <a:pt x="906206" y="569187"/>
                </a:lnTo>
                <a:lnTo>
                  <a:pt x="918130" y="570228"/>
                </a:lnTo>
                <a:lnTo>
                  <a:pt x="930054" y="570954"/>
                </a:lnTo>
                <a:lnTo>
                  <a:pt x="941978" y="571504"/>
                </a:lnTo>
                <a:lnTo>
                  <a:pt x="953902" y="572007"/>
                </a:lnTo>
                <a:lnTo>
                  <a:pt x="965825" y="572583"/>
                </a:lnTo>
                <a:lnTo>
                  <a:pt x="977749" y="573341"/>
                </a:lnTo>
                <a:lnTo>
                  <a:pt x="989673" y="574378"/>
                </a:lnTo>
                <a:lnTo>
                  <a:pt x="1001597" y="575782"/>
                </a:lnTo>
                <a:lnTo>
                  <a:pt x="1013520" y="577624"/>
                </a:lnTo>
                <a:lnTo>
                  <a:pt x="1025444" y="579968"/>
                </a:lnTo>
                <a:lnTo>
                  <a:pt x="1037368" y="582862"/>
                </a:lnTo>
                <a:lnTo>
                  <a:pt x="1049292" y="586344"/>
                </a:lnTo>
                <a:lnTo>
                  <a:pt x="1061216" y="590442"/>
                </a:lnTo>
                <a:lnTo>
                  <a:pt x="1073139" y="595171"/>
                </a:lnTo>
                <a:lnTo>
                  <a:pt x="1085063" y="600539"/>
                </a:lnTo>
                <a:lnTo>
                  <a:pt x="1096987" y="606540"/>
                </a:lnTo>
                <a:lnTo>
                  <a:pt x="1108911" y="613166"/>
                </a:lnTo>
                <a:lnTo>
                  <a:pt x="1120834" y="620394"/>
                </a:lnTo>
                <a:lnTo>
                  <a:pt x="1132758" y="628201"/>
                </a:lnTo>
                <a:lnTo>
                  <a:pt x="1144682" y="636552"/>
                </a:lnTo>
                <a:lnTo>
                  <a:pt x="1156606" y="645410"/>
                </a:lnTo>
                <a:lnTo>
                  <a:pt x="1168530" y="654734"/>
                </a:lnTo>
                <a:lnTo>
                  <a:pt x="1180453" y="664478"/>
                </a:lnTo>
                <a:lnTo>
                  <a:pt x="1192377" y="674592"/>
                </a:lnTo>
                <a:lnTo>
                  <a:pt x="1204301" y="685026"/>
                </a:lnTo>
                <a:lnTo>
                  <a:pt x="1216225" y="695729"/>
                </a:lnTo>
                <a:lnTo>
                  <a:pt x="1228148" y="706646"/>
                </a:lnTo>
                <a:lnTo>
                  <a:pt x="1240072" y="717725"/>
                </a:lnTo>
                <a:lnTo>
                  <a:pt x="1251996" y="728913"/>
                </a:lnTo>
                <a:lnTo>
                  <a:pt x="1263920" y="740159"/>
                </a:lnTo>
                <a:lnTo>
                  <a:pt x="1275844" y="751414"/>
                </a:lnTo>
                <a:lnTo>
                  <a:pt x="1287767" y="762628"/>
                </a:lnTo>
                <a:lnTo>
                  <a:pt x="1299691" y="773756"/>
                </a:lnTo>
                <a:lnTo>
                  <a:pt x="1311615" y="784755"/>
                </a:lnTo>
                <a:lnTo>
                  <a:pt x="1323539" y="795585"/>
                </a:lnTo>
                <a:lnTo>
                  <a:pt x="1335462" y="806210"/>
                </a:lnTo>
                <a:lnTo>
                  <a:pt x="1347386" y="816594"/>
                </a:lnTo>
                <a:lnTo>
                  <a:pt x="1359310" y="826709"/>
                </a:lnTo>
                <a:lnTo>
                  <a:pt x="1371234" y="836526"/>
                </a:lnTo>
                <a:lnTo>
                  <a:pt x="1383158" y="846024"/>
                </a:lnTo>
                <a:lnTo>
                  <a:pt x="1395081" y="855183"/>
                </a:lnTo>
                <a:lnTo>
                  <a:pt x="1407005" y="863986"/>
                </a:lnTo>
                <a:lnTo>
                  <a:pt x="1418929" y="872420"/>
                </a:lnTo>
                <a:lnTo>
                  <a:pt x="1430853" y="880476"/>
                </a:lnTo>
                <a:lnTo>
                  <a:pt x="1442776" y="888147"/>
                </a:lnTo>
                <a:lnTo>
                  <a:pt x="1454700" y="895430"/>
                </a:lnTo>
                <a:lnTo>
                  <a:pt x="1466624" y="902324"/>
                </a:lnTo>
                <a:lnTo>
                  <a:pt x="1478548" y="908830"/>
                </a:lnTo>
                <a:lnTo>
                  <a:pt x="1490472" y="914954"/>
                </a:lnTo>
                <a:lnTo>
                  <a:pt x="1502395" y="920700"/>
                </a:lnTo>
                <a:lnTo>
                  <a:pt x="1514319" y="926077"/>
                </a:lnTo>
                <a:lnTo>
                  <a:pt x="1526243" y="931095"/>
                </a:lnTo>
                <a:lnTo>
                  <a:pt x="1538167" y="935764"/>
                </a:lnTo>
                <a:lnTo>
                  <a:pt x="1550090" y="940097"/>
                </a:lnTo>
                <a:lnTo>
                  <a:pt x="1562014" y="944108"/>
                </a:lnTo>
                <a:lnTo>
                  <a:pt x="1573938" y="947810"/>
                </a:lnTo>
                <a:lnTo>
                  <a:pt x="1585862" y="951217"/>
                </a:lnTo>
                <a:lnTo>
                  <a:pt x="1597785" y="954346"/>
                </a:lnTo>
                <a:lnTo>
                  <a:pt x="1609709" y="957211"/>
                </a:lnTo>
                <a:lnTo>
                  <a:pt x="1621633" y="959827"/>
                </a:lnTo>
                <a:lnTo>
                  <a:pt x="1633557" y="962210"/>
                </a:lnTo>
                <a:lnTo>
                  <a:pt x="1645481" y="964376"/>
                </a:lnTo>
                <a:lnTo>
                  <a:pt x="1657404" y="966338"/>
                </a:lnTo>
                <a:lnTo>
                  <a:pt x="1669328" y="968111"/>
                </a:lnTo>
                <a:lnTo>
                  <a:pt x="1681252" y="969711"/>
                </a:lnTo>
                <a:lnTo>
                  <a:pt x="1693176" y="971149"/>
                </a:lnTo>
                <a:lnTo>
                  <a:pt x="1705099" y="972439"/>
                </a:lnTo>
                <a:lnTo>
                  <a:pt x="1717023" y="973593"/>
                </a:lnTo>
                <a:lnTo>
                  <a:pt x="1728947" y="974623"/>
                </a:lnTo>
                <a:lnTo>
                  <a:pt x="1740871" y="975540"/>
                </a:lnTo>
                <a:lnTo>
                  <a:pt x="1752795" y="976355"/>
                </a:lnTo>
                <a:lnTo>
                  <a:pt x="1764718" y="977077"/>
                </a:lnTo>
                <a:lnTo>
                  <a:pt x="1776642" y="977714"/>
                </a:lnTo>
                <a:lnTo>
                  <a:pt x="1788566" y="978277"/>
                </a:lnTo>
                <a:lnTo>
                  <a:pt x="1800490" y="978771"/>
                </a:lnTo>
                <a:lnTo>
                  <a:pt x="1812413" y="979205"/>
                </a:lnTo>
                <a:lnTo>
                  <a:pt x="1824337" y="979584"/>
                </a:lnTo>
                <a:lnTo>
                  <a:pt x="1836261" y="979916"/>
                </a:lnTo>
                <a:lnTo>
                  <a:pt x="1848185" y="980204"/>
                </a:lnTo>
                <a:lnTo>
                  <a:pt x="1860109" y="980455"/>
                </a:lnTo>
                <a:lnTo>
                  <a:pt x="1872032" y="980672"/>
                </a:lnTo>
                <a:lnTo>
                  <a:pt x="1883956" y="980860"/>
                </a:lnTo>
                <a:lnTo>
                  <a:pt x="1895880" y="981022"/>
                </a:lnTo>
                <a:lnTo>
                  <a:pt x="1907804" y="981161"/>
                </a:lnTo>
                <a:lnTo>
                  <a:pt x="1919727" y="981281"/>
                </a:lnTo>
                <a:lnTo>
                  <a:pt x="1931651" y="981383"/>
                </a:lnTo>
                <a:lnTo>
                  <a:pt x="1943575" y="981471"/>
                </a:lnTo>
                <a:lnTo>
                  <a:pt x="1955499" y="981545"/>
                </a:lnTo>
                <a:lnTo>
                  <a:pt x="1967423" y="981609"/>
                </a:lnTo>
                <a:lnTo>
                  <a:pt x="1979346" y="981663"/>
                </a:lnTo>
                <a:lnTo>
                  <a:pt x="1991270" y="981708"/>
                </a:lnTo>
                <a:lnTo>
                  <a:pt x="2003194" y="981747"/>
                </a:lnTo>
                <a:lnTo>
                  <a:pt x="2015118" y="981779"/>
                </a:lnTo>
                <a:lnTo>
                  <a:pt x="2027041" y="981806"/>
                </a:lnTo>
                <a:lnTo>
                  <a:pt x="2038965" y="981829"/>
                </a:lnTo>
                <a:lnTo>
                  <a:pt x="2050889" y="981848"/>
                </a:lnTo>
                <a:lnTo>
                  <a:pt x="2062813" y="981864"/>
                </a:lnTo>
                <a:lnTo>
                  <a:pt x="2074737" y="981877"/>
                </a:lnTo>
                <a:lnTo>
                  <a:pt x="2086660" y="981888"/>
                </a:lnTo>
                <a:lnTo>
                  <a:pt x="2098584" y="981897"/>
                </a:lnTo>
                <a:lnTo>
                  <a:pt x="2110508" y="981905"/>
                </a:lnTo>
                <a:lnTo>
                  <a:pt x="2122432" y="981911"/>
                </a:lnTo>
                <a:lnTo>
                  <a:pt x="2134355" y="981916"/>
                </a:lnTo>
                <a:lnTo>
                  <a:pt x="2146279" y="981920"/>
                </a:lnTo>
                <a:lnTo>
                  <a:pt x="2158203" y="981924"/>
                </a:lnTo>
                <a:lnTo>
                  <a:pt x="2170127" y="981926"/>
                </a:lnTo>
                <a:lnTo>
                  <a:pt x="2182051" y="981929"/>
                </a:lnTo>
                <a:lnTo>
                  <a:pt x="2193974" y="981931"/>
                </a:lnTo>
                <a:lnTo>
                  <a:pt x="2205898" y="981932"/>
                </a:lnTo>
                <a:lnTo>
                  <a:pt x="2217822" y="981933"/>
                </a:lnTo>
                <a:lnTo>
                  <a:pt x="2229746" y="981934"/>
                </a:lnTo>
                <a:lnTo>
                  <a:pt x="2241669" y="981935"/>
                </a:lnTo>
                <a:lnTo>
                  <a:pt x="2253593" y="981936"/>
                </a:lnTo>
                <a:lnTo>
                  <a:pt x="2265517" y="981936"/>
                </a:lnTo>
                <a:lnTo>
                  <a:pt x="2277441" y="981937"/>
                </a:lnTo>
                <a:lnTo>
                  <a:pt x="2289364" y="981937"/>
                </a:lnTo>
                <a:lnTo>
                  <a:pt x="2301288" y="981937"/>
                </a:lnTo>
                <a:lnTo>
                  <a:pt x="2313212" y="981937"/>
                </a:lnTo>
                <a:lnTo>
                  <a:pt x="2325136" y="981938"/>
                </a:lnTo>
                <a:lnTo>
                  <a:pt x="2337060" y="981938"/>
                </a:lnTo>
                <a:lnTo>
                  <a:pt x="2348983" y="981938"/>
                </a:lnTo>
                <a:lnTo>
                  <a:pt x="2360907" y="981938"/>
                </a:lnTo>
                <a:lnTo>
                  <a:pt x="2372831" y="981938"/>
                </a:lnTo>
                <a:lnTo>
                  <a:pt x="2384755" y="981938"/>
                </a:lnTo>
                <a:lnTo>
                  <a:pt x="2396678" y="981938"/>
                </a:lnTo>
                <a:lnTo>
                  <a:pt x="2408602" y="981938"/>
                </a:lnTo>
                <a:lnTo>
                  <a:pt x="2420526" y="981938"/>
                </a:lnTo>
                <a:lnTo>
                  <a:pt x="2432450" y="981938"/>
                </a:lnTo>
                <a:lnTo>
                  <a:pt x="2444374" y="981938"/>
                </a:lnTo>
                <a:lnTo>
                  <a:pt x="2456297" y="981938"/>
                </a:lnTo>
                <a:lnTo>
                  <a:pt x="2468221" y="981938"/>
                </a:lnTo>
                <a:lnTo>
                  <a:pt x="2480145" y="981938"/>
                </a:lnTo>
                <a:lnTo>
                  <a:pt x="2492069" y="981938"/>
                </a:lnTo>
                <a:lnTo>
                  <a:pt x="2503992" y="981938"/>
                </a:lnTo>
                <a:lnTo>
                  <a:pt x="2515916" y="981938"/>
                </a:lnTo>
                <a:lnTo>
                  <a:pt x="2527840" y="981938"/>
                </a:lnTo>
                <a:lnTo>
                  <a:pt x="2539764" y="981938"/>
                </a:lnTo>
                <a:lnTo>
                  <a:pt x="2551688" y="981938"/>
                </a:lnTo>
                <a:lnTo>
                  <a:pt x="2563611" y="981938"/>
                </a:lnTo>
                <a:lnTo>
                  <a:pt x="2575535" y="981938"/>
                </a:lnTo>
                <a:lnTo>
                  <a:pt x="2587459" y="981938"/>
                </a:lnTo>
                <a:lnTo>
                  <a:pt x="2599383" y="981938"/>
                </a:lnTo>
                <a:lnTo>
                  <a:pt x="2611306" y="981938"/>
                </a:lnTo>
                <a:lnTo>
                  <a:pt x="2623230" y="981938"/>
                </a:lnTo>
                <a:lnTo>
                  <a:pt x="2635154" y="981938"/>
                </a:lnTo>
                <a:lnTo>
                  <a:pt x="2647078" y="981938"/>
                </a:lnTo>
                <a:lnTo>
                  <a:pt x="2659002" y="981938"/>
                </a:lnTo>
                <a:lnTo>
                  <a:pt x="2670925" y="981938"/>
                </a:lnTo>
                <a:lnTo>
                  <a:pt x="2682849" y="981938"/>
                </a:lnTo>
                <a:lnTo>
                  <a:pt x="2694773" y="981938"/>
                </a:lnTo>
                <a:lnTo>
                  <a:pt x="2706697" y="981938"/>
                </a:lnTo>
                <a:lnTo>
                  <a:pt x="2718620" y="981938"/>
                </a:lnTo>
                <a:lnTo>
                  <a:pt x="2730544" y="981938"/>
                </a:lnTo>
                <a:lnTo>
                  <a:pt x="2742468" y="981938"/>
                </a:lnTo>
                <a:lnTo>
                  <a:pt x="2754392" y="981938"/>
                </a:lnTo>
                <a:lnTo>
                  <a:pt x="2766316" y="981938"/>
                </a:lnTo>
                <a:lnTo>
                  <a:pt x="2778239" y="981938"/>
                </a:lnTo>
                <a:lnTo>
                  <a:pt x="2790163" y="981938"/>
                </a:lnTo>
                <a:lnTo>
                  <a:pt x="2802087" y="981938"/>
                </a:lnTo>
                <a:lnTo>
                  <a:pt x="2814011" y="981938"/>
                </a:lnTo>
                <a:lnTo>
                  <a:pt x="2825934" y="981938"/>
                </a:lnTo>
                <a:lnTo>
                  <a:pt x="2837858" y="981938"/>
                </a:lnTo>
                <a:lnTo>
                  <a:pt x="2849782" y="981938"/>
                </a:lnTo>
                <a:lnTo>
                  <a:pt x="2861706" y="981938"/>
                </a:lnTo>
                <a:lnTo>
                  <a:pt x="2873630" y="981938"/>
                </a:lnTo>
                <a:lnTo>
                  <a:pt x="2885553" y="981938"/>
                </a:lnTo>
                <a:lnTo>
                  <a:pt x="2897477" y="981938"/>
                </a:lnTo>
                <a:lnTo>
                  <a:pt x="2909401" y="981938"/>
                </a:lnTo>
                <a:lnTo>
                  <a:pt x="2921325" y="981938"/>
                </a:lnTo>
                <a:lnTo>
                  <a:pt x="2933248" y="981938"/>
                </a:lnTo>
                <a:lnTo>
                  <a:pt x="2945172" y="981938"/>
                </a:lnTo>
                <a:lnTo>
                  <a:pt x="2957096" y="981938"/>
                </a:lnTo>
                <a:lnTo>
                  <a:pt x="2969020" y="981938"/>
                </a:lnTo>
              </a:path>
            </a:pathLst>
          </a:custGeom>
          <a:noFill/>
          <a:ln w="2540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a:extLst>
              <a:ext uri="{FF2B5EF4-FFF2-40B4-BE49-F238E27FC236}">
                <a16:creationId xmlns:a16="http://schemas.microsoft.com/office/drawing/2014/main" id="{54582177-D00D-46CD-95A3-17596EBBDB2B}"/>
              </a:ext>
            </a:extLst>
          </p:cNvPr>
          <p:cNvSpPr/>
          <p:nvPr/>
        </p:nvSpPr>
        <p:spPr>
          <a:xfrm>
            <a:off x="901828" y="3861439"/>
            <a:ext cx="2969020" cy="679269"/>
          </a:xfrm>
          <a:custGeom>
            <a:avLst/>
            <a:gdLst/>
            <a:ahLst/>
            <a:cxnLst/>
            <a:rect l="l" t="t" r="r" b="b"/>
            <a:pathLst>
              <a:path w="2969020" h="679269">
                <a:moveTo>
                  <a:pt x="0" y="175256"/>
                </a:moveTo>
                <a:lnTo>
                  <a:pt x="11923" y="147944"/>
                </a:lnTo>
                <a:lnTo>
                  <a:pt x="23847" y="114810"/>
                </a:lnTo>
                <a:lnTo>
                  <a:pt x="35771" y="102942"/>
                </a:lnTo>
                <a:lnTo>
                  <a:pt x="47695" y="90701"/>
                </a:lnTo>
                <a:lnTo>
                  <a:pt x="59618" y="78254"/>
                </a:lnTo>
                <a:lnTo>
                  <a:pt x="71542" y="65801"/>
                </a:lnTo>
                <a:lnTo>
                  <a:pt x="83466" y="53578"/>
                </a:lnTo>
                <a:lnTo>
                  <a:pt x="95390" y="41851"/>
                </a:lnTo>
                <a:lnTo>
                  <a:pt x="107313" y="30918"/>
                </a:lnTo>
                <a:lnTo>
                  <a:pt x="119237" y="21100"/>
                </a:lnTo>
                <a:lnTo>
                  <a:pt x="131161" y="12740"/>
                </a:lnTo>
                <a:lnTo>
                  <a:pt x="143085" y="6196"/>
                </a:lnTo>
                <a:lnTo>
                  <a:pt x="155009" y="1830"/>
                </a:lnTo>
                <a:lnTo>
                  <a:pt x="166932" y="0"/>
                </a:lnTo>
                <a:lnTo>
                  <a:pt x="178856" y="1049"/>
                </a:lnTo>
                <a:lnTo>
                  <a:pt x="190780" y="5294"/>
                </a:lnTo>
                <a:lnTo>
                  <a:pt x="202704" y="13014"/>
                </a:lnTo>
                <a:lnTo>
                  <a:pt x="214627" y="24438"/>
                </a:lnTo>
                <a:lnTo>
                  <a:pt x="226551" y="39730"/>
                </a:lnTo>
                <a:lnTo>
                  <a:pt x="238475" y="58983"/>
                </a:lnTo>
                <a:lnTo>
                  <a:pt x="250399" y="82205"/>
                </a:lnTo>
                <a:lnTo>
                  <a:pt x="262323" y="109311"/>
                </a:lnTo>
                <a:lnTo>
                  <a:pt x="274246" y="140121"/>
                </a:lnTo>
                <a:lnTo>
                  <a:pt x="286170" y="174352"/>
                </a:lnTo>
                <a:lnTo>
                  <a:pt x="298094" y="211619"/>
                </a:lnTo>
                <a:lnTo>
                  <a:pt x="310018" y="251440"/>
                </a:lnTo>
                <a:lnTo>
                  <a:pt x="321941" y="293238"/>
                </a:lnTo>
                <a:lnTo>
                  <a:pt x="333865" y="336357"/>
                </a:lnTo>
                <a:lnTo>
                  <a:pt x="345789" y="380069"/>
                </a:lnTo>
                <a:lnTo>
                  <a:pt x="357713" y="423592"/>
                </a:lnTo>
                <a:lnTo>
                  <a:pt x="369637" y="466111"/>
                </a:lnTo>
                <a:lnTo>
                  <a:pt x="381560" y="506794"/>
                </a:lnTo>
                <a:lnTo>
                  <a:pt x="393484" y="544820"/>
                </a:lnTo>
                <a:lnTo>
                  <a:pt x="405408" y="579395"/>
                </a:lnTo>
                <a:lnTo>
                  <a:pt x="417332" y="609781"/>
                </a:lnTo>
                <a:lnTo>
                  <a:pt x="429255" y="635312"/>
                </a:lnTo>
                <a:lnTo>
                  <a:pt x="441179" y="655419"/>
                </a:lnTo>
                <a:lnTo>
                  <a:pt x="453103" y="669645"/>
                </a:lnTo>
                <a:lnTo>
                  <a:pt x="465027" y="677659"/>
                </a:lnTo>
                <a:lnTo>
                  <a:pt x="476951" y="679269"/>
                </a:lnTo>
                <a:lnTo>
                  <a:pt x="488874" y="674423"/>
                </a:lnTo>
                <a:lnTo>
                  <a:pt x="500798" y="663220"/>
                </a:lnTo>
                <a:lnTo>
                  <a:pt x="512722" y="645899"/>
                </a:lnTo>
                <a:lnTo>
                  <a:pt x="524646" y="622837"/>
                </a:lnTo>
                <a:lnTo>
                  <a:pt x="536569" y="594535"/>
                </a:lnTo>
                <a:lnTo>
                  <a:pt x="548493" y="561608"/>
                </a:lnTo>
                <a:lnTo>
                  <a:pt x="560417" y="524760"/>
                </a:lnTo>
                <a:lnTo>
                  <a:pt x="572341" y="484772"/>
                </a:lnTo>
                <a:lnTo>
                  <a:pt x="584265" y="442472"/>
                </a:lnTo>
                <a:lnTo>
                  <a:pt x="596188" y="398717"/>
                </a:lnTo>
                <a:lnTo>
                  <a:pt x="608112" y="354367"/>
                </a:lnTo>
                <a:lnTo>
                  <a:pt x="620036" y="310267"/>
                </a:lnTo>
                <a:lnTo>
                  <a:pt x="631960" y="267220"/>
                </a:lnTo>
                <a:lnTo>
                  <a:pt x="643883" y="225971"/>
                </a:lnTo>
                <a:lnTo>
                  <a:pt x="655807" y="187192"/>
                </a:lnTo>
                <a:lnTo>
                  <a:pt x="667731" y="151467"/>
                </a:lnTo>
                <a:lnTo>
                  <a:pt x="679655" y="119282"/>
                </a:lnTo>
                <a:lnTo>
                  <a:pt x="691579" y="91019"/>
                </a:lnTo>
                <a:lnTo>
                  <a:pt x="703502" y="66953"/>
                </a:lnTo>
                <a:lnTo>
                  <a:pt x="715426" y="47253"/>
                </a:lnTo>
                <a:lnTo>
                  <a:pt x="727350" y="31982"/>
                </a:lnTo>
                <a:lnTo>
                  <a:pt x="739274" y="21107"/>
                </a:lnTo>
                <a:lnTo>
                  <a:pt x="751197" y="14505"/>
                </a:lnTo>
                <a:lnTo>
                  <a:pt x="763121" y="11975"/>
                </a:lnTo>
                <a:lnTo>
                  <a:pt x="775045" y="13247"/>
                </a:lnTo>
                <a:lnTo>
                  <a:pt x="786969" y="17995"/>
                </a:lnTo>
                <a:lnTo>
                  <a:pt x="798892" y="25851"/>
                </a:lnTo>
                <a:lnTo>
                  <a:pt x="810816" y="36417"/>
                </a:lnTo>
                <a:lnTo>
                  <a:pt x="822740" y="49276"/>
                </a:lnTo>
                <a:lnTo>
                  <a:pt x="834664" y="64006"/>
                </a:lnTo>
                <a:lnTo>
                  <a:pt x="846588" y="80184"/>
                </a:lnTo>
                <a:lnTo>
                  <a:pt x="858511" y="97405"/>
                </a:lnTo>
                <a:lnTo>
                  <a:pt x="870435" y="115279"/>
                </a:lnTo>
                <a:lnTo>
                  <a:pt x="882359" y="133447"/>
                </a:lnTo>
                <a:lnTo>
                  <a:pt x="894283" y="151575"/>
                </a:lnTo>
                <a:lnTo>
                  <a:pt x="906206" y="169369"/>
                </a:lnTo>
                <a:lnTo>
                  <a:pt x="918130" y="186568"/>
                </a:lnTo>
                <a:lnTo>
                  <a:pt x="930054" y="202948"/>
                </a:lnTo>
                <a:lnTo>
                  <a:pt x="941978" y="218325"/>
                </a:lnTo>
                <a:lnTo>
                  <a:pt x="953902" y="232548"/>
                </a:lnTo>
                <a:lnTo>
                  <a:pt x="965825" y="245501"/>
                </a:lnTo>
                <a:lnTo>
                  <a:pt x="977749" y="257102"/>
                </a:lnTo>
                <a:lnTo>
                  <a:pt x="989673" y="267298"/>
                </a:lnTo>
                <a:lnTo>
                  <a:pt x="1001597" y="276062"/>
                </a:lnTo>
                <a:lnTo>
                  <a:pt x="1013520" y="283391"/>
                </a:lnTo>
                <a:lnTo>
                  <a:pt x="1025444" y="289305"/>
                </a:lnTo>
                <a:lnTo>
                  <a:pt x="1037368" y="293840"/>
                </a:lnTo>
                <a:lnTo>
                  <a:pt x="1049292" y="297048"/>
                </a:lnTo>
                <a:lnTo>
                  <a:pt x="1061216" y="298994"/>
                </a:lnTo>
                <a:lnTo>
                  <a:pt x="1073139" y="299753"/>
                </a:lnTo>
                <a:lnTo>
                  <a:pt x="1085063" y="299409"/>
                </a:lnTo>
                <a:lnTo>
                  <a:pt x="1096987" y="298051"/>
                </a:lnTo>
                <a:lnTo>
                  <a:pt x="1108911" y="295773"/>
                </a:lnTo>
                <a:lnTo>
                  <a:pt x="1120834" y="292671"/>
                </a:lnTo>
                <a:lnTo>
                  <a:pt x="1132758" y="288844"/>
                </a:lnTo>
                <a:lnTo>
                  <a:pt x="1144682" y="284390"/>
                </a:lnTo>
                <a:lnTo>
                  <a:pt x="1156606" y="279404"/>
                </a:lnTo>
                <a:lnTo>
                  <a:pt x="1168530" y="273984"/>
                </a:lnTo>
                <a:lnTo>
                  <a:pt x="1180453" y="268221"/>
                </a:lnTo>
                <a:lnTo>
                  <a:pt x="1192377" y="262204"/>
                </a:lnTo>
                <a:lnTo>
                  <a:pt x="1204301" y="256019"/>
                </a:lnTo>
                <a:lnTo>
                  <a:pt x="1216225" y="249745"/>
                </a:lnTo>
                <a:lnTo>
                  <a:pt x="1228148" y="243458"/>
                </a:lnTo>
                <a:lnTo>
                  <a:pt x="1240072" y="237228"/>
                </a:lnTo>
                <a:lnTo>
                  <a:pt x="1251996" y="231118"/>
                </a:lnTo>
                <a:lnTo>
                  <a:pt x="1263920" y="225187"/>
                </a:lnTo>
                <a:lnTo>
                  <a:pt x="1275844" y="219485"/>
                </a:lnTo>
                <a:lnTo>
                  <a:pt x="1287767" y="214059"/>
                </a:lnTo>
                <a:lnTo>
                  <a:pt x="1299691" y="208947"/>
                </a:lnTo>
                <a:lnTo>
                  <a:pt x="1311615" y="204181"/>
                </a:lnTo>
                <a:lnTo>
                  <a:pt x="1323539" y="199788"/>
                </a:lnTo>
                <a:lnTo>
                  <a:pt x="1335462" y="195788"/>
                </a:lnTo>
                <a:lnTo>
                  <a:pt x="1347386" y="192196"/>
                </a:lnTo>
                <a:lnTo>
                  <a:pt x="1359310" y="189018"/>
                </a:lnTo>
                <a:lnTo>
                  <a:pt x="1371234" y="186260"/>
                </a:lnTo>
                <a:lnTo>
                  <a:pt x="1383158" y="183918"/>
                </a:lnTo>
                <a:lnTo>
                  <a:pt x="1395081" y="181987"/>
                </a:lnTo>
                <a:lnTo>
                  <a:pt x="1407005" y="180456"/>
                </a:lnTo>
                <a:lnTo>
                  <a:pt x="1418929" y="179311"/>
                </a:lnTo>
                <a:lnTo>
                  <a:pt x="1430853" y="178535"/>
                </a:lnTo>
                <a:lnTo>
                  <a:pt x="1442776" y="178106"/>
                </a:lnTo>
                <a:lnTo>
                  <a:pt x="1454700" y="178004"/>
                </a:lnTo>
                <a:lnTo>
                  <a:pt x="1466624" y="178203"/>
                </a:lnTo>
                <a:lnTo>
                  <a:pt x="1478548" y="178678"/>
                </a:lnTo>
                <a:lnTo>
                  <a:pt x="1490472" y="179402"/>
                </a:lnTo>
                <a:lnTo>
                  <a:pt x="1502395" y="180349"/>
                </a:lnTo>
                <a:lnTo>
                  <a:pt x="1514319" y="181492"/>
                </a:lnTo>
                <a:lnTo>
                  <a:pt x="1526243" y="182804"/>
                </a:lnTo>
                <a:lnTo>
                  <a:pt x="1538167" y="184258"/>
                </a:lnTo>
                <a:lnTo>
                  <a:pt x="1550090" y="185830"/>
                </a:lnTo>
                <a:lnTo>
                  <a:pt x="1562014" y="187494"/>
                </a:lnTo>
                <a:lnTo>
                  <a:pt x="1573938" y="189229"/>
                </a:lnTo>
                <a:lnTo>
                  <a:pt x="1585862" y="191013"/>
                </a:lnTo>
                <a:lnTo>
                  <a:pt x="1597785" y="192826"/>
                </a:lnTo>
                <a:lnTo>
                  <a:pt x="1609709" y="194650"/>
                </a:lnTo>
                <a:lnTo>
                  <a:pt x="1621633" y="196468"/>
                </a:lnTo>
                <a:lnTo>
                  <a:pt x="1633557" y="198266"/>
                </a:lnTo>
                <a:lnTo>
                  <a:pt x="1645481" y="200031"/>
                </a:lnTo>
                <a:lnTo>
                  <a:pt x="1657404" y="201752"/>
                </a:lnTo>
                <a:lnTo>
                  <a:pt x="1669328" y="203419"/>
                </a:lnTo>
                <a:lnTo>
                  <a:pt x="1681252" y="205026"/>
                </a:lnTo>
                <a:lnTo>
                  <a:pt x="1693176" y="206564"/>
                </a:lnTo>
                <a:lnTo>
                  <a:pt x="1705099" y="208030"/>
                </a:lnTo>
                <a:lnTo>
                  <a:pt x="1717023" y="209421"/>
                </a:lnTo>
                <a:lnTo>
                  <a:pt x="1728947" y="210733"/>
                </a:lnTo>
                <a:lnTo>
                  <a:pt x="1740871" y="211965"/>
                </a:lnTo>
                <a:lnTo>
                  <a:pt x="1752795" y="213118"/>
                </a:lnTo>
                <a:lnTo>
                  <a:pt x="1764718" y="214192"/>
                </a:lnTo>
                <a:lnTo>
                  <a:pt x="1776642" y="215188"/>
                </a:lnTo>
                <a:lnTo>
                  <a:pt x="1788566" y="216108"/>
                </a:lnTo>
                <a:lnTo>
                  <a:pt x="1800490" y="216955"/>
                </a:lnTo>
                <a:lnTo>
                  <a:pt x="1812413" y="217732"/>
                </a:lnTo>
                <a:lnTo>
                  <a:pt x="1824337" y="218441"/>
                </a:lnTo>
                <a:lnTo>
                  <a:pt x="1836261" y="219087"/>
                </a:lnTo>
                <a:lnTo>
                  <a:pt x="1848185" y="219672"/>
                </a:lnTo>
                <a:lnTo>
                  <a:pt x="1860109" y="220202"/>
                </a:lnTo>
                <a:lnTo>
                  <a:pt x="1872032" y="220679"/>
                </a:lnTo>
                <a:lnTo>
                  <a:pt x="1883956" y="221107"/>
                </a:lnTo>
                <a:lnTo>
                  <a:pt x="1895880" y="221491"/>
                </a:lnTo>
                <a:lnTo>
                  <a:pt x="1907804" y="221833"/>
                </a:lnTo>
                <a:lnTo>
                  <a:pt x="1919727" y="222137"/>
                </a:lnTo>
                <a:lnTo>
                  <a:pt x="1931651" y="222407"/>
                </a:lnTo>
                <a:lnTo>
                  <a:pt x="1943575" y="222645"/>
                </a:lnTo>
                <a:lnTo>
                  <a:pt x="1955499" y="222855"/>
                </a:lnTo>
                <a:lnTo>
                  <a:pt x="1967423" y="223039"/>
                </a:lnTo>
                <a:lnTo>
                  <a:pt x="1979346" y="223201"/>
                </a:lnTo>
                <a:lnTo>
                  <a:pt x="1991270" y="223342"/>
                </a:lnTo>
                <a:lnTo>
                  <a:pt x="2003194" y="223465"/>
                </a:lnTo>
                <a:lnTo>
                  <a:pt x="2015118" y="223571"/>
                </a:lnTo>
                <a:lnTo>
                  <a:pt x="2027041" y="223663"/>
                </a:lnTo>
                <a:lnTo>
                  <a:pt x="2038965" y="223743"/>
                </a:lnTo>
                <a:lnTo>
                  <a:pt x="2050889" y="223812"/>
                </a:lnTo>
                <a:lnTo>
                  <a:pt x="2062813" y="223870"/>
                </a:lnTo>
                <a:lnTo>
                  <a:pt x="2074737" y="223921"/>
                </a:lnTo>
                <a:lnTo>
                  <a:pt x="2086660" y="223964"/>
                </a:lnTo>
                <a:lnTo>
                  <a:pt x="2098584" y="224000"/>
                </a:lnTo>
                <a:lnTo>
                  <a:pt x="2110508" y="224031"/>
                </a:lnTo>
                <a:lnTo>
                  <a:pt x="2122432" y="224058"/>
                </a:lnTo>
                <a:lnTo>
                  <a:pt x="2134355" y="224080"/>
                </a:lnTo>
                <a:lnTo>
                  <a:pt x="2146279" y="224099"/>
                </a:lnTo>
                <a:lnTo>
                  <a:pt x="2158203" y="224114"/>
                </a:lnTo>
                <a:lnTo>
                  <a:pt x="2170127" y="224127"/>
                </a:lnTo>
                <a:lnTo>
                  <a:pt x="2182051" y="224138"/>
                </a:lnTo>
                <a:lnTo>
                  <a:pt x="2193974" y="224148"/>
                </a:lnTo>
                <a:lnTo>
                  <a:pt x="2205898" y="224155"/>
                </a:lnTo>
                <a:lnTo>
                  <a:pt x="2217822" y="224161"/>
                </a:lnTo>
                <a:lnTo>
                  <a:pt x="2229746" y="224167"/>
                </a:lnTo>
                <a:lnTo>
                  <a:pt x="2241669" y="224171"/>
                </a:lnTo>
                <a:lnTo>
                  <a:pt x="2253593" y="224174"/>
                </a:lnTo>
                <a:lnTo>
                  <a:pt x="2265517" y="224177"/>
                </a:lnTo>
                <a:lnTo>
                  <a:pt x="2277441" y="224180"/>
                </a:lnTo>
                <a:lnTo>
                  <a:pt x="2289364" y="224182"/>
                </a:lnTo>
                <a:lnTo>
                  <a:pt x="2301288" y="224183"/>
                </a:lnTo>
                <a:lnTo>
                  <a:pt x="2313212" y="224184"/>
                </a:lnTo>
                <a:lnTo>
                  <a:pt x="2325136" y="224185"/>
                </a:lnTo>
                <a:lnTo>
                  <a:pt x="2337060" y="224186"/>
                </a:lnTo>
                <a:lnTo>
                  <a:pt x="2348983" y="224187"/>
                </a:lnTo>
                <a:lnTo>
                  <a:pt x="2360907" y="224188"/>
                </a:lnTo>
                <a:lnTo>
                  <a:pt x="2372831" y="224188"/>
                </a:lnTo>
                <a:lnTo>
                  <a:pt x="2384755" y="224188"/>
                </a:lnTo>
                <a:lnTo>
                  <a:pt x="2396678" y="224189"/>
                </a:lnTo>
                <a:lnTo>
                  <a:pt x="2408602" y="224189"/>
                </a:lnTo>
                <a:lnTo>
                  <a:pt x="2420526" y="224189"/>
                </a:lnTo>
                <a:lnTo>
                  <a:pt x="2432450" y="224189"/>
                </a:lnTo>
                <a:lnTo>
                  <a:pt x="2444374" y="224189"/>
                </a:lnTo>
                <a:lnTo>
                  <a:pt x="2456297" y="224189"/>
                </a:lnTo>
                <a:lnTo>
                  <a:pt x="2468221" y="224189"/>
                </a:lnTo>
                <a:lnTo>
                  <a:pt x="2480145" y="224189"/>
                </a:lnTo>
                <a:lnTo>
                  <a:pt x="2492069" y="224189"/>
                </a:lnTo>
                <a:lnTo>
                  <a:pt x="2503992" y="224189"/>
                </a:lnTo>
                <a:lnTo>
                  <a:pt x="2515916" y="224190"/>
                </a:lnTo>
                <a:lnTo>
                  <a:pt x="2527840" y="224190"/>
                </a:lnTo>
                <a:lnTo>
                  <a:pt x="2539764" y="224190"/>
                </a:lnTo>
                <a:lnTo>
                  <a:pt x="2551688" y="224190"/>
                </a:lnTo>
                <a:lnTo>
                  <a:pt x="2563611" y="224190"/>
                </a:lnTo>
                <a:lnTo>
                  <a:pt x="2575535" y="224190"/>
                </a:lnTo>
                <a:lnTo>
                  <a:pt x="2587459" y="224190"/>
                </a:lnTo>
                <a:lnTo>
                  <a:pt x="2599383" y="224190"/>
                </a:lnTo>
                <a:lnTo>
                  <a:pt x="2611306" y="224190"/>
                </a:lnTo>
                <a:lnTo>
                  <a:pt x="2623230" y="224190"/>
                </a:lnTo>
                <a:lnTo>
                  <a:pt x="2635154" y="224190"/>
                </a:lnTo>
                <a:lnTo>
                  <a:pt x="2647078" y="224190"/>
                </a:lnTo>
                <a:lnTo>
                  <a:pt x="2659002" y="224190"/>
                </a:lnTo>
                <a:lnTo>
                  <a:pt x="2670925" y="224190"/>
                </a:lnTo>
                <a:lnTo>
                  <a:pt x="2682849" y="224190"/>
                </a:lnTo>
                <a:lnTo>
                  <a:pt x="2694773" y="224190"/>
                </a:lnTo>
                <a:lnTo>
                  <a:pt x="2706697" y="224190"/>
                </a:lnTo>
                <a:lnTo>
                  <a:pt x="2718620" y="224190"/>
                </a:lnTo>
                <a:lnTo>
                  <a:pt x="2730544" y="224190"/>
                </a:lnTo>
                <a:lnTo>
                  <a:pt x="2742468" y="224190"/>
                </a:lnTo>
                <a:lnTo>
                  <a:pt x="2754392" y="224190"/>
                </a:lnTo>
                <a:lnTo>
                  <a:pt x="2766316" y="224190"/>
                </a:lnTo>
                <a:lnTo>
                  <a:pt x="2778239" y="224190"/>
                </a:lnTo>
                <a:lnTo>
                  <a:pt x="2790163" y="224190"/>
                </a:lnTo>
                <a:lnTo>
                  <a:pt x="2802087" y="224190"/>
                </a:lnTo>
                <a:lnTo>
                  <a:pt x="2814011" y="224190"/>
                </a:lnTo>
                <a:lnTo>
                  <a:pt x="2825934" y="224190"/>
                </a:lnTo>
                <a:lnTo>
                  <a:pt x="2837858" y="224190"/>
                </a:lnTo>
                <a:lnTo>
                  <a:pt x="2849782" y="224190"/>
                </a:lnTo>
                <a:lnTo>
                  <a:pt x="2861706" y="224190"/>
                </a:lnTo>
                <a:lnTo>
                  <a:pt x="2873630" y="224190"/>
                </a:lnTo>
                <a:lnTo>
                  <a:pt x="2885553" y="224190"/>
                </a:lnTo>
                <a:lnTo>
                  <a:pt x="2897477" y="224190"/>
                </a:lnTo>
                <a:lnTo>
                  <a:pt x="2909401" y="224190"/>
                </a:lnTo>
                <a:lnTo>
                  <a:pt x="2921325" y="224190"/>
                </a:lnTo>
                <a:lnTo>
                  <a:pt x="2933248" y="224190"/>
                </a:lnTo>
                <a:lnTo>
                  <a:pt x="2945172" y="224190"/>
                </a:lnTo>
                <a:lnTo>
                  <a:pt x="2957096" y="224190"/>
                </a:lnTo>
                <a:lnTo>
                  <a:pt x="2969020" y="224190"/>
                </a:lnTo>
              </a:path>
            </a:pathLst>
          </a:custGeom>
          <a:noFill/>
          <a:ln w="2222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8" name="Connector 47">
            <a:extLst>
              <a:ext uri="{FF2B5EF4-FFF2-40B4-BE49-F238E27FC236}">
                <a16:creationId xmlns:a16="http://schemas.microsoft.com/office/drawing/2014/main" id="{1AB5A718-1941-BCED-86C6-ECDB6CA43569}"/>
              </a:ext>
            </a:extLst>
          </p:cNvPr>
          <p:cNvCxnSpPr/>
          <p:nvPr/>
        </p:nvCxnSpPr>
        <p:spPr>
          <a:xfrm>
            <a:off x="1390702" y="2231742"/>
            <a:ext cx="0" cy="1097280"/>
          </a:xfrm>
          <a:prstGeom prst="line">
            <a:avLst/>
          </a:prstGeom>
          <a:ln w="15875">
            <a:solidFill>
              <a:srgbClr val="BF9000"/>
            </a:solidFill>
            <a:prstDash val="dash"/>
          </a:ln>
        </p:spPr>
        <p:style>
          <a:lnRef idx="2">
            <a:schemeClr val="accent1"/>
          </a:lnRef>
          <a:fillRef idx="0">
            <a:schemeClr val="accent1"/>
          </a:fillRef>
          <a:effectRef idx="1">
            <a:schemeClr val="accent1"/>
          </a:effectRef>
          <a:fontRef idx="minor">
            <a:schemeClr val="tx1"/>
          </a:fontRef>
        </p:style>
      </p:cxnSp>
      <p:cxnSp>
        <p:nvCxnSpPr>
          <p:cNvPr id="49" name="Connector 48">
            <a:extLst>
              <a:ext uri="{FF2B5EF4-FFF2-40B4-BE49-F238E27FC236}">
                <a16:creationId xmlns:a16="http://schemas.microsoft.com/office/drawing/2014/main" id="{BD0794C6-90A6-8A3F-E549-0A4320344EE4}"/>
              </a:ext>
            </a:extLst>
          </p:cNvPr>
          <p:cNvCxnSpPr/>
          <p:nvPr/>
        </p:nvCxnSpPr>
        <p:spPr>
          <a:xfrm>
            <a:off x="1390702" y="3850229"/>
            <a:ext cx="0" cy="713233"/>
          </a:xfrm>
          <a:prstGeom prst="line">
            <a:avLst/>
          </a:prstGeom>
          <a:ln w="15875">
            <a:solidFill>
              <a:srgbClr val="BF9000"/>
            </a:solidFill>
            <a:prstDash val="dash"/>
          </a:ln>
        </p:spPr>
        <p:style>
          <a:lnRef idx="2">
            <a:schemeClr val="accent1"/>
          </a:lnRef>
          <a:fillRef idx="0">
            <a:schemeClr val="accent1"/>
          </a:fillRef>
          <a:effectRef idx="1">
            <a:schemeClr val="accent1"/>
          </a:effectRef>
          <a:fontRef idx="minor">
            <a:schemeClr val="tx1"/>
          </a:fontRef>
        </p:style>
      </p:cxnSp>
      <p:sp>
        <p:nvSpPr>
          <p:cNvPr id="50" name="Oval 49">
            <a:extLst>
              <a:ext uri="{FF2B5EF4-FFF2-40B4-BE49-F238E27FC236}">
                <a16:creationId xmlns:a16="http://schemas.microsoft.com/office/drawing/2014/main" id="{8710D38F-5DA1-DB7D-DD62-D749693B00F9}"/>
              </a:ext>
            </a:extLst>
          </p:cNvPr>
          <p:cNvSpPr/>
          <p:nvPr/>
        </p:nvSpPr>
        <p:spPr>
          <a:xfrm>
            <a:off x="1322122" y="2231611"/>
            <a:ext cx="137160" cy="13716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cxnSp>
        <p:nvCxnSpPr>
          <p:cNvPr id="51" name="Connector 50">
            <a:extLst>
              <a:ext uri="{FF2B5EF4-FFF2-40B4-BE49-F238E27FC236}">
                <a16:creationId xmlns:a16="http://schemas.microsoft.com/office/drawing/2014/main" id="{BDCC9C84-1839-C155-029F-E9104DF2FFF4}"/>
              </a:ext>
            </a:extLst>
          </p:cNvPr>
          <p:cNvCxnSpPr/>
          <p:nvPr/>
        </p:nvCxnSpPr>
        <p:spPr>
          <a:xfrm>
            <a:off x="1664949" y="2231742"/>
            <a:ext cx="0" cy="1097280"/>
          </a:xfrm>
          <a:prstGeom prst="line">
            <a:avLst/>
          </a:prstGeom>
          <a:ln w="15875">
            <a:solidFill>
              <a:srgbClr val="BF9000"/>
            </a:solidFill>
            <a:prstDash val="dash"/>
          </a:ln>
        </p:spPr>
        <p:style>
          <a:lnRef idx="2">
            <a:schemeClr val="accent1"/>
          </a:lnRef>
          <a:fillRef idx="0">
            <a:schemeClr val="accent1"/>
          </a:fillRef>
          <a:effectRef idx="1">
            <a:schemeClr val="accent1"/>
          </a:effectRef>
          <a:fontRef idx="minor">
            <a:schemeClr val="tx1"/>
          </a:fontRef>
        </p:style>
      </p:cxnSp>
      <p:cxnSp>
        <p:nvCxnSpPr>
          <p:cNvPr id="52" name="Connector 51">
            <a:extLst>
              <a:ext uri="{FF2B5EF4-FFF2-40B4-BE49-F238E27FC236}">
                <a16:creationId xmlns:a16="http://schemas.microsoft.com/office/drawing/2014/main" id="{A72BB71D-5072-DA60-F45A-E3498F67F193}"/>
              </a:ext>
            </a:extLst>
          </p:cNvPr>
          <p:cNvCxnSpPr/>
          <p:nvPr/>
        </p:nvCxnSpPr>
        <p:spPr>
          <a:xfrm>
            <a:off x="1664949" y="3850229"/>
            <a:ext cx="0" cy="713233"/>
          </a:xfrm>
          <a:prstGeom prst="line">
            <a:avLst/>
          </a:prstGeom>
          <a:ln w="15875">
            <a:solidFill>
              <a:srgbClr val="BF9000"/>
            </a:solidFill>
            <a:prstDash val="dash"/>
          </a:ln>
        </p:spPr>
        <p:style>
          <a:lnRef idx="2">
            <a:schemeClr val="accent1"/>
          </a:lnRef>
          <a:fillRef idx="0">
            <a:schemeClr val="accent1"/>
          </a:fillRef>
          <a:effectRef idx="1">
            <a:schemeClr val="accent1"/>
          </a:effectRef>
          <a:fontRef idx="minor">
            <a:schemeClr val="tx1"/>
          </a:fontRef>
        </p:style>
      </p:cxnSp>
      <p:sp>
        <p:nvSpPr>
          <p:cNvPr id="53" name="Oval 52">
            <a:extLst>
              <a:ext uri="{FF2B5EF4-FFF2-40B4-BE49-F238E27FC236}">
                <a16:creationId xmlns:a16="http://schemas.microsoft.com/office/drawing/2014/main" id="{F43E2691-9469-533A-BBC2-3AE137836B81}"/>
              </a:ext>
            </a:extLst>
          </p:cNvPr>
          <p:cNvSpPr/>
          <p:nvPr/>
        </p:nvSpPr>
        <p:spPr>
          <a:xfrm>
            <a:off x="1596369" y="2711073"/>
            <a:ext cx="137160" cy="13716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TextBox 53">
            <a:extLst>
              <a:ext uri="{FF2B5EF4-FFF2-40B4-BE49-F238E27FC236}">
                <a16:creationId xmlns:a16="http://schemas.microsoft.com/office/drawing/2014/main" id="{D8F76A40-C0DB-85E7-50AD-067959A36B4E}"/>
              </a:ext>
            </a:extLst>
          </p:cNvPr>
          <p:cNvSpPr txBox="1"/>
          <p:nvPr/>
        </p:nvSpPr>
        <p:spPr>
          <a:xfrm>
            <a:off x="773812" y="3411318"/>
            <a:ext cx="3236976" cy="395630"/>
          </a:xfrm>
          <a:prstGeom prst="rect">
            <a:avLst/>
          </a:prstGeom>
          <a:noFill/>
        </p:spPr>
        <p:txBody>
          <a:bodyPr wrap="square" lIns="0" tIns="0" rIns="0" bIns="0" anchor="t">
            <a:spAutoFit/>
          </a:bodyPr>
          <a:lstStyle/>
          <a:p>
            <a:pPr algn="l">
              <a:spcAft>
                <a:spcPts val="0"/>
              </a:spcAft>
            </a:pPr>
            <a:r>
              <a:rPr sz="2200" b="0" dirty="0">
                <a:solidFill>
                  <a:srgbClr val="00A8AA"/>
                </a:solidFill>
                <a:latin typeface="Meiryo"/>
                <a:ea typeface="Meiryo"/>
                <a:cs typeface="Meiryo"/>
              </a:rPr>
              <a:t>2次微分</a:t>
            </a:r>
          </a:p>
        </p:txBody>
      </p:sp>
      <p:sp>
        <p:nvSpPr>
          <p:cNvPr id="55" name="TextBox 54">
            <a:extLst>
              <a:ext uri="{FF2B5EF4-FFF2-40B4-BE49-F238E27FC236}">
                <a16:creationId xmlns:a16="http://schemas.microsoft.com/office/drawing/2014/main" id="{61503E04-E08B-1040-C1E7-08C9FEF4019C}"/>
              </a:ext>
            </a:extLst>
          </p:cNvPr>
          <p:cNvSpPr txBox="1"/>
          <p:nvPr/>
        </p:nvSpPr>
        <p:spPr>
          <a:xfrm>
            <a:off x="773812" y="4764630"/>
            <a:ext cx="3236976" cy="338554"/>
          </a:xfrm>
          <a:prstGeom prst="rect">
            <a:avLst/>
          </a:prstGeom>
          <a:noFill/>
        </p:spPr>
        <p:txBody>
          <a:bodyPr wrap="square" lIns="0" tIns="0" rIns="0" bIns="0" anchor="t">
            <a:spAutoFit/>
          </a:bodyPr>
          <a:lstStyle/>
          <a:p>
            <a:pPr algn="l">
              <a:spcAft>
                <a:spcPts val="0"/>
              </a:spcAft>
            </a:pPr>
            <a:r>
              <a:rPr sz="2200" b="0" dirty="0" err="1">
                <a:solidFill>
                  <a:srgbClr val="262626"/>
                </a:solidFill>
                <a:latin typeface="Meiryo"/>
                <a:ea typeface="Meiryo"/>
                <a:cs typeface="Meiryo"/>
              </a:rPr>
              <a:t>微分で見つけた時刻</a:t>
            </a:r>
            <a:endParaRPr sz="2200" b="0" dirty="0">
              <a:solidFill>
                <a:srgbClr val="262626"/>
              </a:solidFill>
              <a:latin typeface="Meiryo"/>
              <a:ea typeface="Meiryo"/>
              <a:cs typeface="Meiryo"/>
            </a:endParaRPr>
          </a:p>
        </p:txBody>
      </p:sp>
      <p:sp>
        <p:nvSpPr>
          <p:cNvPr id="56" name="TextBox 55">
            <a:extLst>
              <a:ext uri="{FF2B5EF4-FFF2-40B4-BE49-F238E27FC236}">
                <a16:creationId xmlns:a16="http://schemas.microsoft.com/office/drawing/2014/main" id="{AA98D87C-E43B-E7D9-32BB-5DC5A1EF9908}"/>
              </a:ext>
            </a:extLst>
          </p:cNvPr>
          <p:cNvSpPr txBox="1"/>
          <p:nvPr/>
        </p:nvSpPr>
        <p:spPr>
          <a:xfrm>
            <a:off x="4577716" y="1756254"/>
            <a:ext cx="3236976" cy="413613"/>
          </a:xfrm>
          <a:prstGeom prst="rect">
            <a:avLst/>
          </a:prstGeom>
          <a:noFill/>
        </p:spPr>
        <p:txBody>
          <a:bodyPr wrap="square" lIns="0" tIns="0" rIns="0" bIns="0" anchor="t">
            <a:spAutoFit/>
          </a:bodyPr>
          <a:lstStyle/>
          <a:p>
            <a:pPr algn="l">
              <a:spcAft>
                <a:spcPts val="0"/>
              </a:spcAft>
            </a:pPr>
            <a:r>
              <a:rPr sz="2300" b="1" dirty="0">
                <a:solidFill>
                  <a:srgbClr val="0072B2"/>
                </a:solidFill>
                <a:latin typeface="Meiryo"/>
                <a:ea typeface="Meiryo"/>
                <a:cs typeface="Meiryo"/>
              </a:rPr>
              <a:t>b　前の拍を引き継ぐ</a:t>
            </a:r>
          </a:p>
        </p:txBody>
      </p:sp>
      <p:sp>
        <p:nvSpPr>
          <p:cNvPr id="5" name="Freeform 4">
            <a:extLst>
              <a:ext uri="{FF2B5EF4-FFF2-40B4-BE49-F238E27FC236}">
                <a16:creationId xmlns:a16="http://schemas.microsoft.com/office/drawing/2014/main" id="{A0034942-B9B4-C65F-B785-5A28F82F3653}"/>
              </a:ext>
            </a:extLst>
          </p:cNvPr>
          <p:cNvSpPr/>
          <p:nvPr/>
        </p:nvSpPr>
        <p:spPr>
          <a:xfrm>
            <a:off x="4650868" y="2475603"/>
            <a:ext cx="3084490" cy="1268337"/>
          </a:xfrm>
          <a:custGeom>
            <a:avLst/>
            <a:gdLst/>
            <a:ahLst/>
            <a:cxnLst/>
            <a:rect l="l" t="t" r="r" b="b"/>
            <a:pathLst>
              <a:path w="3084490" h="1268337">
                <a:moveTo>
                  <a:pt x="0" y="1233563"/>
                </a:moveTo>
                <a:lnTo>
                  <a:pt x="6181" y="1226887"/>
                </a:lnTo>
                <a:lnTo>
                  <a:pt x="12362" y="1219148"/>
                </a:lnTo>
                <a:lnTo>
                  <a:pt x="18544" y="1210222"/>
                </a:lnTo>
                <a:lnTo>
                  <a:pt x="24725" y="1199980"/>
                </a:lnTo>
                <a:lnTo>
                  <a:pt x="30906" y="1188289"/>
                </a:lnTo>
                <a:lnTo>
                  <a:pt x="37088" y="1175013"/>
                </a:lnTo>
                <a:lnTo>
                  <a:pt x="43269" y="1160015"/>
                </a:lnTo>
                <a:lnTo>
                  <a:pt x="49450" y="1143163"/>
                </a:lnTo>
                <a:lnTo>
                  <a:pt x="55632" y="1124328"/>
                </a:lnTo>
                <a:lnTo>
                  <a:pt x="61813" y="1103391"/>
                </a:lnTo>
                <a:lnTo>
                  <a:pt x="67994" y="1080243"/>
                </a:lnTo>
                <a:lnTo>
                  <a:pt x="74176" y="1054794"/>
                </a:lnTo>
                <a:lnTo>
                  <a:pt x="80357" y="1026970"/>
                </a:lnTo>
                <a:lnTo>
                  <a:pt x="86538" y="996725"/>
                </a:lnTo>
                <a:lnTo>
                  <a:pt x="92720" y="964036"/>
                </a:lnTo>
                <a:lnTo>
                  <a:pt x="98901" y="928915"/>
                </a:lnTo>
                <a:lnTo>
                  <a:pt x="105082" y="891406"/>
                </a:lnTo>
                <a:lnTo>
                  <a:pt x="111264" y="851593"/>
                </a:lnTo>
                <a:lnTo>
                  <a:pt x="117445" y="809600"/>
                </a:lnTo>
                <a:lnTo>
                  <a:pt x="123626" y="765593"/>
                </a:lnTo>
                <a:lnTo>
                  <a:pt x="129808" y="719780"/>
                </a:lnTo>
                <a:lnTo>
                  <a:pt x="135989" y="672414"/>
                </a:lnTo>
                <a:lnTo>
                  <a:pt x="142170" y="623790"/>
                </a:lnTo>
                <a:lnTo>
                  <a:pt x="148352" y="574243"/>
                </a:lnTo>
                <a:lnTo>
                  <a:pt x="154533" y="524147"/>
                </a:lnTo>
                <a:lnTo>
                  <a:pt x="160714" y="473907"/>
                </a:lnTo>
                <a:lnTo>
                  <a:pt x="166896" y="423958"/>
                </a:lnTo>
                <a:lnTo>
                  <a:pt x="173077" y="374755"/>
                </a:lnTo>
                <a:lnTo>
                  <a:pt x="179258" y="326769"/>
                </a:lnTo>
                <a:lnTo>
                  <a:pt x="185440" y="280477"/>
                </a:lnTo>
                <a:lnTo>
                  <a:pt x="191621" y="236353"/>
                </a:lnTo>
                <a:lnTo>
                  <a:pt x="197803" y="194863"/>
                </a:lnTo>
                <a:lnTo>
                  <a:pt x="203984" y="156449"/>
                </a:lnTo>
                <a:lnTo>
                  <a:pt x="210165" y="121528"/>
                </a:lnTo>
                <a:lnTo>
                  <a:pt x="216347" y="90477"/>
                </a:lnTo>
                <a:lnTo>
                  <a:pt x="222528" y="63627"/>
                </a:lnTo>
                <a:lnTo>
                  <a:pt x="228709" y="41259"/>
                </a:lnTo>
                <a:lnTo>
                  <a:pt x="234891" y="23590"/>
                </a:lnTo>
                <a:lnTo>
                  <a:pt x="241072" y="10778"/>
                </a:lnTo>
                <a:lnTo>
                  <a:pt x="247253" y="2908"/>
                </a:lnTo>
                <a:lnTo>
                  <a:pt x="253435" y="0"/>
                </a:lnTo>
                <a:lnTo>
                  <a:pt x="259616" y="2000"/>
                </a:lnTo>
                <a:lnTo>
                  <a:pt x="265797" y="8786"/>
                </a:lnTo>
                <a:lnTo>
                  <a:pt x="271979" y="20168"/>
                </a:lnTo>
                <a:lnTo>
                  <a:pt x="278160" y="35895"/>
                </a:lnTo>
                <a:lnTo>
                  <a:pt x="284341" y="55658"/>
                </a:lnTo>
                <a:lnTo>
                  <a:pt x="290523" y="79096"/>
                </a:lnTo>
                <a:lnTo>
                  <a:pt x="296704" y="105808"/>
                </a:lnTo>
                <a:lnTo>
                  <a:pt x="302885" y="135357"/>
                </a:lnTo>
                <a:lnTo>
                  <a:pt x="309067" y="167281"/>
                </a:lnTo>
                <a:lnTo>
                  <a:pt x="315248" y="201103"/>
                </a:lnTo>
                <a:lnTo>
                  <a:pt x="321429" y="236338"/>
                </a:lnTo>
                <a:lnTo>
                  <a:pt x="327611" y="272505"/>
                </a:lnTo>
                <a:lnTo>
                  <a:pt x="333792" y="309134"/>
                </a:lnTo>
                <a:lnTo>
                  <a:pt x="339973" y="345776"/>
                </a:lnTo>
                <a:lnTo>
                  <a:pt x="346155" y="382008"/>
                </a:lnTo>
                <a:lnTo>
                  <a:pt x="352336" y="417440"/>
                </a:lnTo>
                <a:lnTo>
                  <a:pt x="358517" y="451722"/>
                </a:lnTo>
                <a:lnTo>
                  <a:pt x="364699" y="484546"/>
                </a:lnTo>
                <a:lnTo>
                  <a:pt x="370880" y="515650"/>
                </a:lnTo>
                <a:lnTo>
                  <a:pt x="377061" y="544820"/>
                </a:lnTo>
                <a:lnTo>
                  <a:pt x="383243" y="571890"/>
                </a:lnTo>
                <a:lnTo>
                  <a:pt x="389424" y="596742"/>
                </a:lnTo>
                <a:lnTo>
                  <a:pt x="395606" y="619305"/>
                </a:lnTo>
                <a:lnTo>
                  <a:pt x="401787" y="639553"/>
                </a:lnTo>
                <a:lnTo>
                  <a:pt x="407968" y="657500"/>
                </a:lnTo>
                <a:lnTo>
                  <a:pt x="414150" y="673199"/>
                </a:lnTo>
                <a:lnTo>
                  <a:pt x="420331" y="686735"/>
                </a:lnTo>
                <a:lnTo>
                  <a:pt x="426512" y="698226"/>
                </a:lnTo>
                <a:lnTo>
                  <a:pt x="432694" y="707812"/>
                </a:lnTo>
                <a:lnTo>
                  <a:pt x="438875" y="715654"/>
                </a:lnTo>
                <a:lnTo>
                  <a:pt x="445056" y="721928"/>
                </a:lnTo>
                <a:lnTo>
                  <a:pt x="451238" y="726824"/>
                </a:lnTo>
                <a:lnTo>
                  <a:pt x="457419" y="730536"/>
                </a:lnTo>
                <a:lnTo>
                  <a:pt x="463600" y="733262"/>
                </a:lnTo>
                <a:lnTo>
                  <a:pt x="469782" y="735200"/>
                </a:lnTo>
                <a:lnTo>
                  <a:pt x="475963" y="736545"/>
                </a:lnTo>
                <a:lnTo>
                  <a:pt x="482144" y="737483"/>
                </a:lnTo>
                <a:lnTo>
                  <a:pt x="488326" y="738193"/>
                </a:lnTo>
                <a:lnTo>
                  <a:pt x="494507" y="738843"/>
                </a:lnTo>
                <a:lnTo>
                  <a:pt x="500688" y="739587"/>
                </a:lnTo>
                <a:lnTo>
                  <a:pt x="506870" y="740566"/>
                </a:lnTo>
                <a:lnTo>
                  <a:pt x="513051" y="741906"/>
                </a:lnTo>
                <a:lnTo>
                  <a:pt x="519232" y="743719"/>
                </a:lnTo>
                <a:lnTo>
                  <a:pt x="525414" y="746098"/>
                </a:lnTo>
                <a:lnTo>
                  <a:pt x="531595" y="749125"/>
                </a:lnTo>
                <a:lnTo>
                  <a:pt x="537776" y="752863"/>
                </a:lnTo>
                <a:lnTo>
                  <a:pt x="543958" y="757361"/>
                </a:lnTo>
                <a:lnTo>
                  <a:pt x="550139" y="762655"/>
                </a:lnTo>
                <a:lnTo>
                  <a:pt x="556320" y="768763"/>
                </a:lnTo>
                <a:lnTo>
                  <a:pt x="562502" y="775696"/>
                </a:lnTo>
                <a:lnTo>
                  <a:pt x="568683" y="783449"/>
                </a:lnTo>
                <a:lnTo>
                  <a:pt x="574864" y="792006"/>
                </a:lnTo>
                <a:lnTo>
                  <a:pt x="581046" y="801343"/>
                </a:lnTo>
                <a:lnTo>
                  <a:pt x="587227" y="811426"/>
                </a:lnTo>
                <a:lnTo>
                  <a:pt x="593409" y="822213"/>
                </a:lnTo>
                <a:lnTo>
                  <a:pt x="599590" y="833656"/>
                </a:lnTo>
                <a:lnTo>
                  <a:pt x="605771" y="845699"/>
                </a:lnTo>
                <a:lnTo>
                  <a:pt x="611953" y="858284"/>
                </a:lnTo>
                <a:lnTo>
                  <a:pt x="618134" y="871349"/>
                </a:lnTo>
                <a:lnTo>
                  <a:pt x="624315" y="884826"/>
                </a:lnTo>
                <a:lnTo>
                  <a:pt x="630497" y="898650"/>
                </a:lnTo>
                <a:lnTo>
                  <a:pt x="636678" y="912751"/>
                </a:lnTo>
                <a:lnTo>
                  <a:pt x="642859" y="927061"/>
                </a:lnTo>
                <a:lnTo>
                  <a:pt x="649041" y="941513"/>
                </a:lnTo>
                <a:lnTo>
                  <a:pt x="655222" y="956040"/>
                </a:lnTo>
                <a:lnTo>
                  <a:pt x="661403" y="970576"/>
                </a:lnTo>
                <a:lnTo>
                  <a:pt x="667585" y="985061"/>
                </a:lnTo>
                <a:lnTo>
                  <a:pt x="673766" y="999435"/>
                </a:lnTo>
                <a:lnTo>
                  <a:pt x="679947" y="1013642"/>
                </a:lnTo>
                <a:lnTo>
                  <a:pt x="686129" y="1027632"/>
                </a:lnTo>
                <a:lnTo>
                  <a:pt x="692310" y="1041354"/>
                </a:lnTo>
                <a:lnTo>
                  <a:pt x="698491" y="1054768"/>
                </a:lnTo>
                <a:lnTo>
                  <a:pt x="704673" y="1067832"/>
                </a:lnTo>
                <a:lnTo>
                  <a:pt x="710854" y="1080514"/>
                </a:lnTo>
                <a:lnTo>
                  <a:pt x="717035" y="1092782"/>
                </a:lnTo>
                <a:lnTo>
                  <a:pt x="723217" y="1104612"/>
                </a:lnTo>
                <a:lnTo>
                  <a:pt x="729398" y="1115982"/>
                </a:lnTo>
                <a:lnTo>
                  <a:pt x="735579" y="1126876"/>
                </a:lnTo>
                <a:lnTo>
                  <a:pt x="741761" y="1137281"/>
                </a:lnTo>
                <a:lnTo>
                  <a:pt x="747942" y="1147190"/>
                </a:lnTo>
                <a:lnTo>
                  <a:pt x="754123" y="1156597"/>
                </a:lnTo>
                <a:lnTo>
                  <a:pt x="760305" y="1165502"/>
                </a:lnTo>
                <a:lnTo>
                  <a:pt x="766486" y="1173906"/>
                </a:lnTo>
                <a:lnTo>
                  <a:pt x="772668" y="1181816"/>
                </a:lnTo>
                <a:lnTo>
                  <a:pt x="778849" y="1189238"/>
                </a:lnTo>
                <a:lnTo>
                  <a:pt x="785030" y="1196183"/>
                </a:lnTo>
                <a:lnTo>
                  <a:pt x="791212" y="1202665"/>
                </a:lnTo>
                <a:lnTo>
                  <a:pt x="797393" y="1208696"/>
                </a:lnTo>
                <a:lnTo>
                  <a:pt x="803574" y="1214293"/>
                </a:lnTo>
                <a:lnTo>
                  <a:pt x="809756" y="1219473"/>
                </a:lnTo>
                <a:lnTo>
                  <a:pt x="815937" y="1224255"/>
                </a:lnTo>
                <a:lnTo>
                  <a:pt x="822118" y="1228656"/>
                </a:lnTo>
                <a:lnTo>
                  <a:pt x="828300" y="1232697"/>
                </a:lnTo>
                <a:lnTo>
                  <a:pt x="834481" y="1236397"/>
                </a:lnTo>
                <a:lnTo>
                  <a:pt x="840662" y="1239777"/>
                </a:lnTo>
                <a:lnTo>
                  <a:pt x="846844" y="1242855"/>
                </a:lnTo>
                <a:lnTo>
                  <a:pt x="853025" y="1245652"/>
                </a:lnTo>
                <a:lnTo>
                  <a:pt x="859206" y="1248187"/>
                </a:lnTo>
                <a:lnTo>
                  <a:pt x="865388" y="1250478"/>
                </a:lnTo>
                <a:lnTo>
                  <a:pt x="871569" y="1252543"/>
                </a:lnTo>
                <a:lnTo>
                  <a:pt x="877750" y="1254401"/>
                </a:lnTo>
                <a:lnTo>
                  <a:pt x="883932" y="1256067"/>
                </a:lnTo>
                <a:lnTo>
                  <a:pt x="890113" y="1257558"/>
                </a:lnTo>
                <a:lnTo>
                  <a:pt x="896294" y="1258889"/>
                </a:lnTo>
                <a:lnTo>
                  <a:pt x="902476" y="1260074"/>
                </a:lnTo>
                <a:lnTo>
                  <a:pt x="908657" y="1261126"/>
                </a:lnTo>
                <a:lnTo>
                  <a:pt x="914838" y="1262058"/>
                </a:lnTo>
                <a:lnTo>
                  <a:pt x="921020" y="1262882"/>
                </a:lnTo>
                <a:lnTo>
                  <a:pt x="927201" y="1263608"/>
                </a:lnTo>
                <a:lnTo>
                  <a:pt x="933382" y="1264246"/>
                </a:lnTo>
                <a:lnTo>
                  <a:pt x="939564" y="1264807"/>
                </a:lnTo>
                <a:lnTo>
                  <a:pt x="945745" y="1265297"/>
                </a:lnTo>
                <a:lnTo>
                  <a:pt x="951926" y="1265725"/>
                </a:lnTo>
                <a:lnTo>
                  <a:pt x="958108" y="1266097"/>
                </a:lnTo>
                <a:lnTo>
                  <a:pt x="964289" y="1266421"/>
                </a:lnTo>
                <a:lnTo>
                  <a:pt x="970471" y="1266702"/>
                </a:lnTo>
                <a:lnTo>
                  <a:pt x="976652" y="1266944"/>
                </a:lnTo>
                <a:lnTo>
                  <a:pt x="982833" y="1267154"/>
                </a:lnTo>
                <a:lnTo>
                  <a:pt x="989015" y="1267334"/>
                </a:lnTo>
                <a:lnTo>
                  <a:pt x="995196" y="1267488"/>
                </a:lnTo>
                <a:lnTo>
                  <a:pt x="1001377" y="1267620"/>
                </a:lnTo>
                <a:lnTo>
                  <a:pt x="1007559" y="1267734"/>
                </a:lnTo>
                <a:lnTo>
                  <a:pt x="1013740" y="1267830"/>
                </a:lnTo>
                <a:lnTo>
                  <a:pt x="1019921" y="1267912"/>
                </a:lnTo>
                <a:lnTo>
                  <a:pt x="1026103" y="1267981"/>
                </a:lnTo>
                <a:lnTo>
                  <a:pt x="1032284" y="1268040"/>
                </a:lnTo>
                <a:lnTo>
                  <a:pt x="1038465" y="1268090"/>
                </a:lnTo>
                <a:lnTo>
                  <a:pt x="1044647" y="1268131"/>
                </a:lnTo>
                <a:lnTo>
                  <a:pt x="1050828" y="1268167"/>
                </a:lnTo>
                <a:lnTo>
                  <a:pt x="1057009" y="1268196"/>
                </a:lnTo>
                <a:lnTo>
                  <a:pt x="1063191" y="1268221"/>
                </a:lnTo>
                <a:lnTo>
                  <a:pt x="1069372" y="1268241"/>
                </a:lnTo>
                <a:lnTo>
                  <a:pt x="1075553" y="1268258"/>
                </a:lnTo>
                <a:lnTo>
                  <a:pt x="1081735" y="1268272"/>
                </a:lnTo>
                <a:lnTo>
                  <a:pt x="1087916" y="1268284"/>
                </a:lnTo>
                <a:lnTo>
                  <a:pt x="1094097" y="1268294"/>
                </a:lnTo>
                <a:lnTo>
                  <a:pt x="1100279" y="1268302"/>
                </a:lnTo>
                <a:lnTo>
                  <a:pt x="1106460" y="1268309"/>
                </a:lnTo>
                <a:lnTo>
                  <a:pt x="1112641" y="1268314"/>
                </a:lnTo>
                <a:lnTo>
                  <a:pt x="1118823" y="1268318"/>
                </a:lnTo>
                <a:lnTo>
                  <a:pt x="1125004" y="1268322"/>
                </a:lnTo>
                <a:lnTo>
                  <a:pt x="1131185" y="1268325"/>
                </a:lnTo>
                <a:lnTo>
                  <a:pt x="1137367" y="1268327"/>
                </a:lnTo>
                <a:lnTo>
                  <a:pt x="1143548" y="1268329"/>
                </a:lnTo>
                <a:lnTo>
                  <a:pt x="1149729" y="1268331"/>
                </a:lnTo>
                <a:lnTo>
                  <a:pt x="1155911" y="1268332"/>
                </a:lnTo>
                <a:lnTo>
                  <a:pt x="1162092" y="1268333"/>
                </a:lnTo>
                <a:lnTo>
                  <a:pt x="1168274" y="1268334"/>
                </a:lnTo>
                <a:lnTo>
                  <a:pt x="1174455" y="1268335"/>
                </a:lnTo>
                <a:lnTo>
                  <a:pt x="1180636" y="1268335"/>
                </a:lnTo>
                <a:lnTo>
                  <a:pt x="1186818" y="1268336"/>
                </a:lnTo>
                <a:lnTo>
                  <a:pt x="1192999" y="1268336"/>
                </a:lnTo>
                <a:lnTo>
                  <a:pt x="1199180" y="1268336"/>
                </a:lnTo>
                <a:lnTo>
                  <a:pt x="1205362" y="1268336"/>
                </a:lnTo>
                <a:lnTo>
                  <a:pt x="1211543" y="1268337"/>
                </a:lnTo>
                <a:lnTo>
                  <a:pt x="1217724" y="1268337"/>
                </a:lnTo>
                <a:lnTo>
                  <a:pt x="1223906" y="1268337"/>
                </a:lnTo>
                <a:lnTo>
                  <a:pt x="1230087" y="1268337"/>
                </a:lnTo>
                <a:lnTo>
                  <a:pt x="1236268" y="1268337"/>
                </a:lnTo>
                <a:lnTo>
                  <a:pt x="1242450" y="1268337"/>
                </a:lnTo>
                <a:lnTo>
                  <a:pt x="1248631" y="1268337"/>
                </a:lnTo>
                <a:lnTo>
                  <a:pt x="1254812" y="1268337"/>
                </a:lnTo>
                <a:lnTo>
                  <a:pt x="1260994" y="1268337"/>
                </a:lnTo>
                <a:lnTo>
                  <a:pt x="1267175" y="1268337"/>
                </a:lnTo>
                <a:lnTo>
                  <a:pt x="1273356" y="1268337"/>
                </a:lnTo>
                <a:lnTo>
                  <a:pt x="1279538" y="1268337"/>
                </a:lnTo>
                <a:lnTo>
                  <a:pt x="1285719" y="1268337"/>
                </a:lnTo>
                <a:lnTo>
                  <a:pt x="1291900" y="1268337"/>
                </a:lnTo>
                <a:lnTo>
                  <a:pt x="1298082" y="1268337"/>
                </a:lnTo>
                <a:lnTo>
                  <a:pt x="1304263" y="1268337"/>
                </a:lnTo>
                <a:lnTo>
                  <a:pt x="1310444" y="1268337"/>
                </a:lnTo>
                <a:lnTo>
                  <a:pt x="1316626" y="1268337"/>
                </a:lnTo>
                <a:lnTo>
                  <a:pt x="1322807" y="1268337"/>
                </a:lnTo>
                <a:lnTo>
                  <a:pt x="1328988" y="1268337"/>
                </a:lnTo>
                <a:lnTo>
                  <a:pt x="1335170" y="1268337"/>
                </a:lnTo>
                <a:lnTo>
                  <a:pt x="1341351" y="1268337"/>
                </a:lnTo>
                <a:lnTo>
                  <a:pt x="1347532" y="1268337"/>
                </a:lnTo>
                <a:lnTo>
                  <a:pt x="1353714" y="1268337"/>
                </a:lnTo>
                <a:lnTo>
                  <a:pt x="1359895" y="1268337"/>
                </a:lnTo>
                <a:lnTo>
                  <a:pt x="1366077" y="1268337"/>
                </a:lnTo>
                <a:lnTo>
                  <a:pt x="1372258" y="1268337"/>
                </a:lnTo>
                <a:lnTo>
                  <a:pt x="1378439" y="1268337"/>
                </a:lnTo>
                <a:lnTo>
                  <a:pt x="1384621" y="1268337"/>
                </a:lnTo>
                <a:lnTo>
                  <a:pt x="1390802" y="1268337"/>
                </a:lnTo>
                <a:lnTo>
                  <a:pt x="1396983" y="1268337"/>
                </a:lnTo>
                <a:lnTo>
                  <a:pt x="1403165" y="1268337"/>
                </a:lnTo>
                <a:lnTo>
                  <a:pt x="1409346" y="1268337"/>
                </a:lnTo>
                <a:lnTo>
                  <a:pt x="1415527" y="1268337"/>
                </a:lnTo>
                <a:lnTo>
                  <a:pt x="1421709" y="1268337"/>
                </a:lnTo>
                <a:lnTo>
                  <a:pt x="1427890" y="1268337"/>
                </a:lnTo>
                <a:lnTo>
                  <a:pt x="1434071" y="1268337"/>
                </a:lnTo>
                <a:lnTo>
                  <a:pt x="1440253" y="1268337"/>
                </a:lnTo>
                <a:lnTo>
                  <a:pt x="1446434" y="1268337"/>
                </a:lnTo>
                <a:lnTo>
                  <a:pt x="1452615" y="1268337"/>
                </a:lnTo>
                <a:lnTo>
                  <a:pt x="1458797" y="1268337"/>
                </a:lnTo>
                <a:lnTo>
                  <a:pt x="1464978" y="1268337"/>
                </a:lnTo>
                <a:lnTo>
                  <a:pt x="1471159" y="1268337"/>
                </a:lnTo>
                <a:lnTo>
                  <a:pt x="1477341" y="1268337"/>
                </a:lnTo>
                <a:lnTo>
                  <a:pt x="1483522" y="1268337"/>
                </a:lnTo>
                <a:lnTo>
                  <a:pt x="1489703" y="1268337"/>
                </a:lnTo>
                <a:lnTo>
                  <a:pt x="1495885" y="1268337"/>
                </a:lnTo>
                <a:lnTo>
                  <a:pt x="1502066" y="1268337"/>
                </a:lnTo>
                <a:lnTo>
                  <a:pt x="1508247" y="1268337"/>
                </a:lnTo>
                <a:lnTo>
                  <a:pt x="1514429" y="1268337"/>
                </a:lnTo>
                <a:lnTo>
                  <a:pt x="1520610" y="1268337"/>
                </a:lnTo>
                <a:lnTo>
                  <a:pt x="1526791" y="1268337"/>
                </a:lnTo>
                <a:lnTo>
                  <a:pt x="1532973" y="1268337"/>
                </a:lnTo>
                <a:lnTo>
                  <a:pt x="1539154" y="1268337"/>
                </a:lnTo>
                <a:lnTo>
                  <a:pt x="1545336" y="1235997"/>
                </a:lnTo>
                <a:lnTo>
                  <a:pt x="1551517" y="1229788"/>
                </a:lnTo>
                <a:lnTo>
                  <a:pt x="1557698" y="1222591"/>
                </a:lnTo>
                <a:lnTo>
                  <a:pt x="1563880" y="1214290"/>
                </a:lnTo>
                <a:lnTo>
                  <a:pt x="1570061" y="1204765"/>
                </a:lnTo>
                <a:lnTo>
                  <a:pt x="1576242" y="1193893"/>
                </a:lnTo>
                <a:lnTo>
                  <a:pt x="1582424" y="1181546"/>
                </a:lnTo>
                <a:lnTo>
                  <a:pt x="1588605" y="1167598"/>
                </a:lnTo>
                <a:lnTo>
                  <a:pt x="1594786" y="1151925"/>
                </a:lnTo>
                <a:lnTo>
                  <a:pt x="1600968" y="1134409"/>
                </a:lnTo>
                <a:lnTo>
                  <a:pt x="1607149" y="1114937"/>
                </a:lnTo>
                <a:lnTo>
                  <a:pt x="1613330" y="1093410"/>
                </a:lnTo>
                <a:lnTo>
                  <a:pt x="1619512" y="1069742"/>
                </a:lnTo>
                <a:lnTo>
                  <a:pt x="1625693" y="1043866"/>
                </a:lnTo>
                <a:lnTo>
                  <a:pt x="1631874" y="1015738"/>
                </a:lnTo>
                <a:lnTo>
                  <a:pt x="1638056" y="985337"/>
                </a:lnTo>
                <a:lnTo>
                  <a:pt x="1644237" y="952674"/>
                </a:lnTo>
                <a:lnTo>
                  <a:pt x="1650418" y="917791"/>
                </a:lnTo>
                <a:lnTo>
                  <a:pt x="1656600" y="880765"/>
                </a:lnTo>
                <a:lnTo>
                  <a:pt x="1662781" y="841712"/>
                </a:lnTo>
                <a:lnTo>
                  <a:pt x="1668962" y="800785"/>
                </a:lnTo>
                <a:lnTo>
                  <a:pt x="1675144" y="758179"/>
                </a:lnTo>
                <a:lnTo>
                  <a:pt x="1681325" y="714128"/>
                </a:lnTo>
                <a:lnTo>
                  <a:pt x="1687506" y="668908"/>
                </a:lnTo>
                <a:lnTo>
                  <a:pt x="1693688" y="622830"/>
                </a:lnTo>
                <a:lnTo>
                  <a:pt x="1699869" y="576240"/>
                </a:lnTo>
                <a:lnTo>
                  <a:pt x="1706050" y="529517"/>
                </a:lnTo>
                <a:lnTo>
                  <a:pt x="1712232" y="483064"/>
                </a:lnTo>
                <a:lnTo>
                  <a:pt x="1718413" y="437306"/>
                </a:lnTo>
                <a:lnTo>
                  <a:pt x="1724594" y="392679"/>
                </a:lnTo>
                <a:lnTo>
                  <a:pt x="1730776" y="349627"/>
                </a:lnTo>
                <a:lnTo>
                  <a:pt x="1736957" y="308592"/>
                </a:lnTo>
                <a:lnTo>
                  <a:pt x="1743139" y="270006"/>
                </a:lnTo>
                <a:lnTo>
                  <a:pt x="1749320" y="234281"/>
                </a:lnTo>
                <a:lnTo>
                  <a:pt x="1755501" y="201805"/>
                </a:lnTo>
                <a:lnTo>
                  <a:pt x="1761683" y="172927"/>
                </a:lnTo>
                <a:lnTo>
                  <a:pt x="1767864" y="147957"/>
                </a:lnTo>
                <a:lnTo>
                  <a:pt x="1774045" y="127154"/>
                </a:lnTo>
                <a:lnTo>
                  <a:pt x="1780227" y="110722"/>
                </a:lnTo>
                <a:lnTo>
                  <a:pt x="1786408" y="98807"/>
                </a:lnTo>
                <a:lnTo>
                  <a:pt x="1792589" y="91488"/>
                </a:lnTo>
                <a:lnTo>
                  <a:pt x="1798771" y="88784"/>
                </a:lnTo>
                <a:lnTo>
                  <a:pt x="1804952" y="90644"/>
                </a:lnTo>
                <a:lnTo>
                  <a:pt x="1811133" y="96954"/>
                </a:lnTo>
                <a:lnTo>
                  <a:pt x="1817315" y="107540"/>
                </a:lnTo>
                <a:lnTo>
                  <a:pt x="1823496" y="122166"/>
                </a:lnTo>
                <a:lnTo>
                  <a:pt x="1829677" y="140545"/>
                </a:lnTo>
                <a:lnTo>
                  <a:pt x="1835859" y="162343"/>
                </a:lnTo>
                <a:lnTo>
                  <a:pt x="1842040" y="187185"/>
                </a:lnTo>
                <a:lnTo>
                  <a:pt x="1848221" y="214666"/>
                </a:lnTo>
                <a:lnTo>
                  <a:pt x="1854403" y="244355"/>
                </a:lnTo>
                <a:lnTo>
                  <a:pt x="1860584" y="275809"/>
                </a:lnTo>
                <a:lnTo>
                  <a:pt x="1866765" y="308578"/>
                </a:lnTo>
                <a:lnTo>
                  <a:pt x="1872947" y="342213"/>
                </a:lnTo>
                <a:lnTo>
                  <a:pt x="1879128" y="376278"/>
                </a:lnTo>
                <a:lnTo>
                  <a:pt x="1885309" y="410356"/>
                </a:lnTo>
                <a:lnTo>
                  <a:pt x="1891491" y="444051"/>
                </a:lnTo>
                <a:lnTo>
                  <a:pt x="1897672" y="477003"/>
                </a:lnTo>
                <a:lnTo>
                  <a:pt x="1903853" y="508885"/>
                </a:lnTo>
                <a:lnTo>
                  <a:pt x="1910035" y="539411"/>
                </a:lnTo>
                <a:lnTo>
                  <a:pt x="1916216" y="568338"/>
                </a:lnTo>
                <a:lnTo>
                  <a:pt x="1922397" y="595466"/>
                </a:lnTo>
                <a:lnTo>
                  <a:pt x="1928579" y="620641"/>
                </a:lnTo>
                <a:lnTo>
                  <a:pt x="1934760" y="643754"/>
                </a:lnTo>
                <a:lnTo>
                  <a:pt x="1940942" y="664737"/>
                </a:lnTo>
                <a:lnTo>
                  <a:pt x="1947123" y="683568"/>
                </a:lnTo>
                <a:lnTo>
                  <a:pt x="1953304" y="700259"/>
                </a:lnTo>
                <a:lnTo>
                  <a:pt x="1959486" y="714858"/>
                </a:lnTo>
                <a:lnTo>
                  <a:pt x="1965667" y="727447"/>
                </a:lnTo>
                <a:lnTo>
                  <a:pt x="1971848" y="738134"/>
                </a:lnTo>
                <a:lnTo>
                  <a:pt x="1978030" y="747049"/>
                </a:lnTo>
                <a:lnTo>
                  <a:pt x="1984211" y="754341"/>
                </a:lnTo>
                <a:lnTo>
                  <a:pt x="1990392" y="760177"/>
                </a:lnTo>
                <a:lnTo>
                  <a:pt x="1996574" y="764730"/>
                </a:lnTo>
                <a:lnTo>
                  <a:pt x="2002755" y="768182"/>
                </a:lnTo>
                <a:lnTo>
                  <a:pt x="2008936" y="770717"/>
                </a:lnTo>
                <a:lnTo>
                  <a:pt x="2015118" y="772520"/>
                </a:lnTo>
                <a:lnTo>
                  <a:pt x="2021299" y="773770"/>
                </a:lnTo>
                <a:lnTo>
                  <a:pt x="2027480" y="774643"/>
                </a:lnTo>
                <a:lnTo>
                  <a:pt x="2033662" y="775303"/>
                </a:lnTo>
                <a:lnTo>
                  <a:pt x="2039843" y="775907"/>
                </a:lnTo>
                <a:lnTo>
                  <a:pt x="2046024" y="776599"/>
                </a:lnTo>
                <a:lnTo>
                  <a:pt x="2052206" y="777510"/>
                </a:lnTo>
                <a:lnTo>
                  <a:pt x="2058387" y="778756"/>
                </a:lnTo>
                <a:lnTo>
                  <a:pt x="2064568" y="780442"/>
                </a:lnTo>
                <a:lnTo>
                  <a:pt x="2070750" y="782655"/>
                </a:lnTo>
                <a:lnTo>
                  <a:pt x="2076931" y="785470"/>
                </a:lnTo>
                <a:lnTo>
                  <a:pt x="2083112" y="788947"/>
                </a:lnTo>
                <a:lnTo>
                  <a:pt x="2089294" y="793130"/>
                </a:lnTo>
                <a:lnTo>
                  <a:pt x="2095475" y="798052"/>
                </a:lnTo>
                <a:lnTo>
                  <a:pt x="2101656" y="803734"/>
                </a:lnTo>
                <a:lnTo>
                  <a:pt x="2107838" y="810181"/>
                </a:lnTo>
                <a:lnTo>
                  <a:pt x="2114019" y="817391"/>
                </a:lnTo>
                <a:lnTo>
                  <a:pt x="2120200" y="825349"/>
                </a:lnTo>
                <a:lnTo>
                  <a:pt x="2126382" y="834033"/>
                </a:lnTo>
                <a:lnTo>
                  <a:pt x="2132563" y="843410"/>
                </a:lnTo>
                <a:lnTo>
                  <a:pt x="2138745" y="853442"/>
                </a:lnTo>
                <a:lnTo>
                  <a:pt x="2144926" y="864083"/>
                </a:lnTo>
                <a:lnTo>
                  <a:pt x="2151107" y="875284"/>
                </a:lnTo>
                <a:lnTo>
                  <a:pt x="2157289" y="886988"/>
                </a:lnTo>
                <a:lnTo>
                  <a:pt x="2163470" y="899138"/>
                </a:lnTo>
                <a:lnTo>
                  <a:pt x="2169651" y="911672"/>
                </a:lnTo>
                <a:lnTo>
                  <a:pt x="2175833" y="924528"/>
                </a:lnTo>
                <a:lnTo>
                  <a:pt x="2182014" y="937642"/>
                </a:lnTo>
                <a:lnTo>
                  <a:pt x="2188195" y="950951"/>
                </a:lnTo>
                <a:lnTo>
                  <a:pt x="2194377" y="964391"/>
                </a:lnTo>
                <a:lnTo>
                  <a:pt x="2200558" y="977900"/>
                </a:lnTo>
                <a:lnTo>
                  <a:pt x="2206739" y="991420"/>
                </a:lnTo>
                <a:lnTo>
                  <a:pt x="2212921" y="1004890"/>
                </a:lnTo>
                <a:lnTo>
                  <a:pt x="2219102" y="1018258"/>
                </a:lnTo>
                <a:lnTo>
                  <a:pt x="2225283" y="1031471"/>
                </a:lnTo>
                <a:lnTo>
                  <a:pt x="2231465" y="1044481"/>
                </a:lnTo>
                <a:lnTo>
                  <a:pt x="2237646" y="1057243"/>
                </a:lnTo>
                <a:lnTo>
                  <a:pt x="2243827" y="1069718"/>
                </a:lnTo>
                <a:lnTo>
                  <a:pt x="2250009" y="1081868"/>
                </a:lnTo>
                <a:lnTo>
                  <a:pt x="2256190" y="1093661"/>
                </a:lnTo>
                <a:lnTo>
                  <a:pt x="2262371" y="1105071"/>
                </a:lnTo>
                <a:lnTo>
                  <a:pt x="2268553" y="1116072"/>
                </a:lnTo>
                <a:lnTo>
                  <a:pt x="2274734" y="1126647"/>
                </a:lnTo>
                <a:lnTo>
                  <a:pt x="2280915" y="1136778"/>
                </a:lnTo>
                <a:lnTo>
                  <a:pt x="2287097" y="1146455"/>
                </a:lnTo>
                <a:lnTo>
                  <a:pt x="2293278" y="1155670"/>
                </a:lnTo>
                <a:lnTo>
                  <a:pt x="2299459" y="1164419"/>
                </a:lnTo>
                <a:lnTo>
                  <a:pt x="2305641" y="1172700"/>
                </a:lnTo>
                <a:lnTo>
                  <a:pt x="2311822" y="1180517"/>
                </a:lnTo>
                <a:lnTo>
                  <a:pt x="2318004" y="1187872"/>
                </a:lnTo>
                <a:lnTo>
                  <a:pt x="2324185" y="1194775"/>
                </a:lnTo>
                <a:lnTo>
                  <a:pt x="2330366" y="1201234"/>
                </a:lnTo>
                <a:lnTo>
                  <a:pt x="2336548" y="1207262"/>
                </a:lnTo>
                <a:lnTo>
                  <a:pt x="2342729" y="1212871"/>
                </a:lnTo>
                <a:lnTo>
                  <a:pt x="2348910" y="1218076"/>
                </a:lnTo>
                <a:lnTo>
                  <a:pt x="2355092" y="1222894"/>
                </a:lnTo>
                <a:lnTo>
                  <a:pt x="2361273" y="1227340"/>
                </a:lnTo>
                <a:lnTo>
                  <a:pt x="2367454" y="1231434"/>
                </a:lnTo>
                <a:lnTo>
                  <a:pt x="2373636" y="1235192"/>
                </a:lnTo>
                <a:lnTo>
                  <a:pt x="2379817" y="1238633"/>
                </a:lnTo>
                <a:lnTo>
                  <a:pt x="2385998" y="1241776"/>
                </a:lnTo>
                <a:lnTo>
                  <a:pt x="2392180" y="1244639"/>
                </a:lnTo>
                <a:lnTo>
                  <a:pt x="2398361" y="1247240"/>
                </a:lnTo>
                <a:lnTo>
                  <a:pt x="2404542" y="1249597"/>
                </a:lnTo>
                <a:lnTo>
                  <a:pt x="2410724" y="1251728"/>
                </a:lnTo>
                <a:lnTo>
                  <a:pt x="2416905" y="1253649"/>
                </a:lnTo>
                <a:lnTo>
                  <a:pt x="2423086" y="1255376"/>
                </a:lnTo>
                <a:lnTo>
                  <a:pt x="2429268" y="1256926"/>
                </a:lnTo>
                <a:lnTo>
                  <a:pt x="2435449" y="1258313"/>
                </a:lnTo>
                <a:lnTo>
                  <a:pt x="2441630" y="1259550"/>
                </a:lnTo>
                <a:lnTo>
                  <a:pt x="2447812" y="1260652"/>
                </a:lnTo>
                <a:lnTo>
                  <a:pt x="2453993" y="1261631"/>
                </a:lnTo>
                <a:lnTo>
                  <a:pt x="2460174" y="1262497"/>
                </a:lnTo>
                <a:lnTo>
                  <a:pt x="2466356" y="1263263"/>
                </a:lnTo>
                <a:lnTo>
                  <a:pt x="2472537" y="1263939"/>
                </a:lnTo>
                <a:lnTo>
                  <a:pt x="2478718" y="1264533"/>
                </a:lnTo>
                <a:lnTo>
                  <a:pt x="2484900" y="1265054"/>
                </a:lnTo>
                <a:lnTo>
                  <a:pt x="2491081" y="1265510"/>
                </a:lnTo>
                <a:lnTo>
                  <a:pt x="2497262" y="1265908"/>
                </a:lnTo>
                <a:lnTo>
                  <a:pt x="2503444" y="1266254"/>
                </a:lnTo>
                <a:lnTo>
                  <a:pt x="2509625" y="1266555"/>
                </a:lnTo>
                <a:lnTo>
                  <a:pt x="2515807" y="1266816"/>
                </a:lnTo>
                <a:lnTo>
                  <a:pt x="2521988" y="1267042"/>
                </a:lnTo>
                <a:lnTo>
                  <a:pt x="2528169" y="1267236"/>
                </a:lnTo>
                <a:lnTo>
                  <a:pt x="2534351" y="1267404"/>
                </a:lnTo>
                <a:lnTo>
                  <a:pt x="2540532" y="1267548"/>
                </a:lnTo>
                <a:lnTo>
                  <a:pt x="2546713" y="1267671"/>
                </a:lnTo>
                <a:lnTo>
                  <a:pt x="2552895" y="1267776"/>
                </a:lnTo>
                <a:lnTo>
                  <a:pt x="2559076" y="1267865"/>
                </a:lnTo>
                <a:lnTo>
                  <a:pt x="2565257" y="1267942"/>
                </a:lnTo>
                <a:lnTo>
                  <a:pt x="2571439" y="1268006"/>
                </a:lnTo>
                <a:lnTo>
                  <a:pt x="2577620" y="1268061"/>
                </a:lnTo>
                <a:lnTo>
                  <a:pt x="2583801" y="1268107"/>
                </a:lnTo>
                <a:lnTo>
                  <a:pt x="2589983" y="1268146"/>
                </a:lnTo>
                <a:lnTo>
                  <a:pt x="2596164" y="1268179"/>
                </a:lnTo>
                <a:lnTo>
                  <a:pt x="2602345" y="1268206"/>
                </a:lnTo>
                <a:lnTo>
                  <a:pt x="2608527" y="1268229"/>
                </a:lnTo>
                <a:lnTo>
                  <a:pt x="2614708" y="1268248"/>
                </a:lnTo>
                <a:lnTo>
                  <a:pt x="2620889" y="1268264"/>
                </a:lnTo>
                <a:lnTo>
                  <a:pt x="2627071" y="1268277"/>
                </a:lnTo>
                <a:lnTo>
                  <a:pt x="2633252" y="1268288"/>
                </a:lnTo>
                <a:lnTo>
                  <a:pt x="2639433" y="1268297"/>
                </a:lnTo>
                <a:lnTo>
                  <a:pt x="2645615" y="1268304"/>
                </a:lnTo>
                <a:lnTo>
                  <a:pt x="2651796" y="1268311"/>
                </a:lnTo>
                <a:lnTo>
                  <a:pt x="2657977" y="1268316"/>
                </a:lnTo>
                <a:lnTo>
                  <a:pt x="2664159" y="1268320"/>
                </a:lnTo>
                <a:lnTo>
                  <a:pt x="2670340" y="1268323"/>
                </a:lnTo>
                <a:lnTo>
                  <a:pt x="2676521" y="1268326"/>
                </a:lnTo>
                <a:lnTo>
                  <a:pt x="2682703" y="1268328"/>
                </a:lnTo>
                <a:lnTo>
                  <a:pt x="2688884" y="1268330"/>
                </a:lnTo>
                <a:lnTo>
                  <a:pt x="2695065" y="1268331"/>
                </a:lnTo>
                <a:lnTo>
                  <a:pt x="2701247" y="1268333"/>
                </a:lnTo>
                <a:lnTo>
                  <a:pt x="2707428" y="1268334"/>
                </a:lnTo>
                <a:lnTo>
                  <a:pt x="2713610" y="1268334"/>
                </a:lnTo>
                <a:lnTo>
                  <a:pt x="2719791" y="1268335"/>
                </a:lnTo>
                <a:lnTo>
                  <a:pt x="2725972" y="1268335"/>
                </a:lnTo>
                <a:lnTo>
                  <a:pt x="2732154" y="1268336"/>
                </a:lnTo>
                <a:lnTo>
                  <a:pt x="2738335" y="1268336"/>
                </a:lnTo>
                <a:lnTo>
                  <a:pt x="2744516" y="1268336"/>
                </a:lnTo>
                <a:lnTo>
                  <a:pt x="2750698" y="1268337"/>
                </a:lnTo>
                <a:lnTo>
                  <a:pt x="2756879" y="1268337"/>
                </a:lnTo>
                <a:lnTo>
                  <a:pt x="2763060" y="1268337"/>
                </a:lnTo>
                <a:lnTo>
                  <a:pt x="2769242" y="1268337"/>
                </a:lnTo>
                <a:lnTo>
                  <a:pt x="2775423" y="1268337"/>
                </a:lnTo>
                <a:lnTo>
                  <a:pt x="2781604" y="1268337"/>
                </a:lnTo>
                <a:lnTo>
                  <a:pt x="2787786" y="1268337"/>
                </a:lnTo>
                <a:lnTo>
                  <a:pt x="2793967" y="1268337"/>
                </a:lnTo>
                <a:lnTo>
                  <a:pt x="2800148" y="1268337"/>
                </a:lnTo>
                <a:lnTo>
                  <a:pt x="2806330" y="1268337"/>
                </a:lnTo>
                <a:lnTo>
                  <a:pt x="2812511" y="1268337"/>
                </a:lnTo>
                <a:lnTo>
                  <a:pt x="2818692" y="1268337"/>
                </a:lnTo>
                <a:lnTo>
                  <a:pt x="2824874" y="1268337"/>
                </a:lnTo>
                <a:lnTo>
                  <a:pt x="2831055" y="1268337"/>
                </a:lnTo>
                <a:lnTo>
                  <a:pt x="2837236" y="1268337"/>
                </a:lnTo>
                <a:lnTo>
                  <a:pt x="2843418" y="1268337"/>
                </a:lnTo>
                <a:lnTo>
                  <a:pt x="2849599" y="1268337"/>
                </a:lnTo>
                <a:lnTo>
                  <a:pt x="2855780" y="1268337"/>
                </a:lnTo>
                <a:lnTo>
                  <a:pt x="2861962" y="1268337"/>
                </a:lnTo>
                <a:lnTo>
                  <a:pt x="2868143" y="1268337"/>
                </a:lnTo>
                <a:lnTo>
                  <a:pt x="2874324" y="1268337"/>
                </a:lnTo>
                <a:lnTo>
                  <a:pt x="2880506" y="1268337"/>
                </a:lnTo>
                <a:lnTo>
                  <a:pt x="2886687" y="1268337"/>
                </a:lnTo>
                <a:lnTo>
                  <a:pt x="2892868" y="1268337"/>
                </a:lnTo>
                <a:lnTo>
                  <a:pt x="2899050" y="1268337"/>
                </a:lnTo>
                <a:lnTo>
                  <a:pt x="2905231" y="1268337"/>
                </a:lnTo>
                <a:lnTo>
                  <a:pt x="2911413" y="1268337"/>
                </a:lnTo>
                <a:lnTo>
                  <a:pt x="2917594" y="1268337"/>
                </a:lnTo>
                <a:lnTo>
                  <a:pt x="2923775" y="1268337"/>
                </a:lnTo>
                <a:lnTo>
                  <a:pt x="2929957" y="1268337"/>
                </a:lnTo>
                <a:lnTo>
                  <a:pt x="2936138" y="1268337"/>
                </a:lnTo>
                <a:lnTo>
                  <a:pt x="2942319" y="1268337"/>
                </a:lnTo>
                <a:lnTo>
                  <a:pt x="2948501" y="1268337"/>
                </a:lnTo>
                <a:lnTo>
                  <a:pt x="2954682" y="1268337"/>
                </a:lnTo>
                <a:lnTo>
                  <a:pt x="2960863" y="1268337"/>
                </a:lnTo>
                <a:lnTo>
                  <a:pt x="2967045" y="1268337"/>
                </a:lnTo>
                <a:lnTo>
                  <a:pt x="2973226" y="1268337"/>
                </a:lnTo>
                <a:lnTo>
                  <a:pt x="2979407" y="1268337"/>
                </a:lnTo>
                <a:lnTo>
                  <a:pt x="2985589" y="1268337"/>
                </a:lnTo>
                <a:lnTo>
                  <a:pt x="2991770" y="1268337"/>
                </a:lnTo>
                <a:lnTo>
                  <a:pt x="2997951" y="1268337"/>
                </a:lnTo>
                <a:lnTo>
                  <a:pt x="3004133" y="1268337"/>
                </a:lnTo>
                <a:lnTo>
                  <a:pt x="3010314" y="1268337"/>
                </a:lnTo>
                <a:lnTo>
                  <a:pt x="3016495" y="1268337"/>
                </a:lnTo>
                <a:lnTo>
                  <a:pt x="3022677" y="1268337"/>
                </a:lnTo>
                <a:lnTo>
                  <a:pt x="3028858" y="1268337"/>
                </a:lnTo>
                <a:lnTo>
                  <a:pt x="3035039" y="1268337"/>
                </a:lnTo>
                <a:lnTo>
                  <a:pt x="3041221" y="1268337"/>
                </a:lnTo>
                <a:lnTo>
                  <a:pt x="3047402" y="1268337"/>
                </a:lnTo>
                <a:lnTo>
                  <a:pt x="3053583" y="1268337"/>
                </a:lnTo>
                <a:lnTo>
                  <a:pt x="3059765" y="1268337"/>
                </a:lnTo>
                <a:lnTo>
                  <a:pt x="3065946" y="1268337"/>
                </a:lnTo>
                <a:lnTo>
                  <a:pt x="3072127" y="1268337"/>
                </a:lnTo>
                <a:lnTo>
                  <a:pt x="3078309" y="1268337"/>
                </a:lnTo>
                <a:lnTo>
                  <a:pt x="3084490" y="1268337"/>
                </a:lnTo>
              </a:path>
            </a:pathLst>
          </a:custGeom>
          <a:noFill/>
          <a:ln w="2540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7" name="Connector 56">
            <a:extLst>
              <a:ext uri="{FF2B5EF4-FFF2-40B4-BE49-F238E27FC236}">
                <a16:creationId xmlns:a16="http://schemas.microsoft.com/office/drawing/2014/main" id="{775F73F5-3F1C-7CC0-697B-4C81416AF989}"/>
              </a:ext>
            </a:extLst>
          </p:cNvPr>
          <p:cNvCxnSpPr/>
          <p:nvPr/>
        </p:nvCxnSpPr>
        <p:spPr>
          <a:xfrm>
            <a:off x="6196204" y="2387190"/>
            <a:ext cx="0" cy="1417320"/>
          </a:xfrm>
          <a:prstGeom prst="line">
            <a:avLst/>
          </a:prstGeom>
          <a:ln w="15875">
            <a:solidFill>
              <a:srgbClr val="595959"/>
            </a:solidFill>
            <a:prstDash val="dash"/>
          </a:ln>
        </p:spPr>
        <p:style>
          <a:lnRef idx="2">
            <a:schemeClr val="accent1"/>
          </a:lnRef>
          <a:fillRef idx="0">
            <a:schemeClr val="accent1"/>
          </a:fillRef>
          <a:effectRef idx="1">
            <a:schemeClr val="accent1"/>
          </a:effectRef>
          <a:fontRef idx="minor">
            <a:schemeClr val="tx1"/>
          </a:fontRef>
        </p:style>
      </p:cxnSp>
      <p:sp>
        <p:nvSpPr>
          <p:cNvPr id="58" name="Oval 57">
            <a:extLst>
              <a:ext uri="{FF2B5EF4-FFF2-40B4-BE49-F238E27FC236}">
                <a16:creationId xmlns:a16="http://schemas.microsoft.com/office/drawing/2014/main" id="{D6932E2E-1AB0-46A4-E47A-B7A565235A8B}"/>
              </a:ext>
            </a:extLst>
          </p:cNvPr>
          <p:cNvSpPr/>
          <p:nvPr/>
        </p:nvSpPr>
        <p:spPr>
          <a:xfrm>
            <a:off x="4835723" y="2407023"/>
            <a:ext cx="137160" cy="13716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Oval 58">
            <a:extLst>
              <a:ext uri="{FF2B5EF4-FFF2-40B4-BE49-F238E27FC236}">
                <a16:creationId xmlns:a16="http://schemas.microsoft.com/office/drawing/2014/main" id="{C2765A0B-CB25-766C-DA5B-EB4E4C62AF5A}"/>
              </a:ext>
            </a:extLst>
          </p:cNvPr>
          <p:cNvSpPr/>
          <p:nvPr/>
        </p:nvSpPr>
        <p:spPr>
          <a:xfrm>
            <a:off x="6381059" y="2495807"/>
            <a:ext cx="137160" cy="137160"/>
          </a:xfrm>
          <a:prstGeom prst="ellipse">
            <a:avLst/>
          </a:prstGeom>
          <a:solidFill>
            <a:srgbClr val="FFFFFF"/>
          </a:solidFill>
          <a:ln w="254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cxnSp>
        <p:nvCxnSpPr>
          <p:cNvPr id="60" name="Connector 59">
            <a:extLst>
              <a:ext uri="{FF2B5EF4-FFF2-40B4-BE49-F238E27FC236}">
                <a16:creationId xmlns:a16="http://schemas.microsoft.com/office/drawing/2014/main" id="{75CEA661-AAB0-0C40-4481-A90EC7C81798}"/>
              </a:ext>
            </a:extLst>
          </p:cNvPr>
          <p:cNvCxnSpPr/>
          <p:nvPr/>
        </p:nvCxnSpPr>
        <p:spPr>
          <a:xfrm>
            <a:off x="4904303" y="2274435"/>
            <a:ext cx="1499616" cy="88784"/>
          </a:xfrm>
          <a:prstGeom prst="line">
            <a:avLst/>
          </a:prstGeom>
          <a:ln w="22225">
            <a:solidFill>
              <a:srgbClr val="00A8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1" name="Oval 60">
            <a:extLst>
              <a:ext uri="{FF2B5EF4-FFF2-40B4-BE49-F238E27FC236}">
                <a16:creationId xmlns:a16="http://schemas.microsoft.com/office/drawing/2014/main" id="{5CAFF811-24B7-E7F5-295F-F8CF1F131E92}"/>
              </a:ext>
            </a:extLst>
          </p:cNvPr>
          <p:cNvSpPr/>
          <p:nvPr/>
        </p:nvSpPr>
        <p:spPr>
          <a:xfrm>
            <a:off x="4977894" y="3026328"/>
            <a:ext cx="137160" cy="13716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2" name="Oval 61">
            <a:extLst>
              <a:ext uri="{FF2B5EF4-FFF2-40B4-BE49-F238E27FC236}">
                <a16:creationId xmlns:a16="http://schemas.microsoft.com/office/drawing/2014/main" id="{A3181D2A-9D61-893B-FA68-F833E92A2B5B}"/>
              </a:ext>
            </a:extLst>
          </p:cNvPr>
          <p:cNvSpPr/>
          <p:nvPr/>
        </p:nvSpPr>
        <p:spPr>
          <a:xfrm>
            <a:off x="6523230" y="3071760"/>
            <a:ext cx="137160" cy="137160"/>
          </a:xfrm>
          <a:prstGeom prst="ellipse">
            <a:avLst/>
          </a:prstGeom>
          <a:solidFill>
            <a:srgbClr val="FFFFFF"/>
          </a:solidFill>
          <a:ln w="254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cxnSp>
        <p:nvCxnSpPr>
          <p:cNvPr id="63" name="Connector 62">
            <a:extLst>
              <a:ext uri="{FF2B5EF4-FFF2-40B4-BE49-F238E27FC236}">
                <a16:creationId xmlns:a16="http://schemas.microsoft.com/office/drawing/2014/main" id="{4CCEAAFC-B61A-BC3C-9D0A-A3B9C5F15DD4}"/>
              </a:ext>
            </a:extLst>
          </p:cNvPr>
          <p:cNvCxnSpPr/>
          <p:nvPr/>
        </p:nvCxnSpPr>
        <p:spPr>
          <a:xfrm>
            <a:off x="5046474" y="2893740"/>
            <a:ext cx="1499616" cy="45432"/>
          </a:xfrm>
          <a:prstGeom prst="line">
            <a:avLst/>
          </a:prstGeom>
          <a:ln w="22225">
            <a:solidFill>
              <a:srgbClr val="00A8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4" name="TextBox 63">
            <a:extLst>
              <a:ext uri="{FF2B5EF4-FFF2-40B4-BE49-F238E27FC236}">
                <a16:creationId xmlns:a16="http://schemas.microsoft.com/office/drawing/2014/main" id="{1C81BD15-367E-52FE-3FB8-85EE9330D50D}"/>
              </a:ext>
            </a:extLst>
          </p:cNvPr>
          <p:cNvSpPr txBox="1"/>
          <p:nvPr/>
        </p:nvSpPr>
        <p:spPr>
          <a:xfrm>
            <a:off x="4650868" y="3877662"/>
            <a:ext cx="1417320" cy="395630"/>
          </a:xfrm>
          <a:prstGeom prst="rect">
            <a:avLst/>
          </a:prstGeom>
          <a:noFill/>
        </p:spPr>
        <p:txBody>
          <a:bodyPr wrap="square" lIns="0" tIns="0" rIns="0" bIns="0" anchor="t">
            <a:spAutoFit/>
          </a:bodyPr>
          <a:lstStyle/>
          <a:p>
            <a:pPr algn="ctr">
              <a:spcAft>
                <a:spcPts val="0"/>
              </a:spcAft>
            </a:pPr>
            <a:r>
              <a:rPr sz="2200" b="0" dirty="0">
                <a:solidFill>
                  <a:srgbClr val="595959"/>
                </a:solidFill>
                <a:latin typeface="Meiryo"/>
                <a:ea typeface="Meiryo"/>
                <a:cs typeface="Meiryo"/>
              </a:rPr>
              <a:t>前の拍</a:t>
            </a:r>
          </a:p>
        </p:txBody>
      </p:sp>
      <p:sp>
        <p:nvSpPr>
          <p:cNvPr id="65" name="TextBox 64">
            <a:extLst>
              <a:ext uri="{FF2B5EF4-FFF2-40B4-BE49-F238E27FC236}">
                <a16:creationId xmlns:a16="http://schemas.microsoft.com/office/drawing/2014/main" id="{5BB2921D-9568-310B-6063-0963B6731159}"/>
              </a:ext>
            </a:extLst>
          </p:cNvPr>
          <p:cNvSpPr txBox="1"/>
          <p:nvPr/>
        </p:nvSpPr>
        <p:spPr>
          <a:xfrm>
            <a:off x="6214492" y="3877662"/>
            <a:ext cx="1417320" cy="395630"/>
          </a:xfrm>
          <a:prstGeom prst="rect">
            <a:avLst/>
          </a:prstGeom>
          <a:noFill/>
        </p:spPr>
        <p:txBody>
          <a:bodyPr wrap="square" lIns="0" tIns="0" rIns="0" bIns="0" anchor="t">
            <a:spAutoFit/>
          </a:bodyPr>
          <a:lstStyle/>
          <a:p>
            <a:pPr algn="ctr">
              <a:spcAft>
                <a:spcPts val="0"/>
              </a:spcAft>
            </a:pPr>
            <a:r>
              <a:rPr sz="2200" b="0" dirty="0">
                <a:solidFill>
                  <a:srgbClr val="595959"/>
                </a:solidFill>
                <a:latin typeface="Meiryo"/>
                <a:ea typeface="Meiryo"/>
                <a:cs typeface="Meiryo"/>
              </a:rPr>
              <a:t>この拍</a:t>
            </a:r>
          </a:p>
        </p:txBody>
      </p:sp>
      <p:sp>
        <p:nvSpPr>
          <p:cNvPr id="66" name="TextBox 65">
            <a:extLst>
              <a:ext uri="{FF2B5EF4-FFF2-40B4-BE49-F238E27FC236}">
                <a16:creationId xmlns:a16="http://schemas.microsoft.com/office/drawing/2014/main" id="{1B23B1AF-0674-789C-C36E-6D57588EFC61}"/>
              </a:ext>
            </a:extLst>
          </p:cNvPr>
          <p:cNvSpPr txBox="1"/>
          <p:nvPr/>
        </p:nvSpPr>
        <p:spPr>
          <a:xfrm>
            <a:off x="4577716" y="4764630"/>
            <a:ext cx="3236976" cy="338554"/>
          </a:xfrm>
          <a:prstGeom prst="rect">
            <a:avLst/>
          </a:prstGeom>
          <a:noFill/>
        </p:spPr>
        <p:txBody>
          <a:bodyPr wrap="square" lIns="0" tIns="0" rIns="0" bIns="0" anchor="t">
            <a:spAutoFit/>
          </a:bodyPr>
          <a:lstStyle/>
          <a:p>
            <a:pPr algn="l">
              <a:spcAft>
                <a:spcPts val="0"/>
              </a:spcAft>
            </a:pPr>
            <a:r>
              <a:rPr sz="2200" b="0" dirty="0" err="1">
                <a:solidFill>
                  <a:srgbClr val="262626"/>
                </a:solidFill>
                <a:latin typeface="Meiryo"/>
                <a:ea typeface="Meiryo"/>
                <a:cs typeface="Meiryo"/>
              </a:rPr>
              <a:t>直前の解を出発点</a:t>
            </a:r>
            <a:endParaRPr sz="2200" b="0" dirty="0">
              <a:solidFill>
                <a:srgbClr val="262626"/>
              </a:solidFill>
              <a:latin typeface="Meiryo"/>
              <a:ea typeface="Meiryo"/>
              <a:cs typeface="Meiryo"/>
            </a:endParaRPr>
          </a:p>
        </p:txBody>
      </p:sp>
      <p:sp>
        <p:nvSpPr>
          <p:cNvPr id="67" name="TextBox 66">
            <a:extLst>
              <a:ext uri="{FF2B5EF4-FFF2-40B4-BE49-F238E27FC236}">
                <a16:creationId xmlns:a16="http://schemas.microsoft.com/office/drawing/2014/main" id="{FEF853AE-E5DD-AE85-CDB2-2D3FA0FD746C}"/>
              </a:ext>
            </a:extLst>
          </p:cNvPr>
          <p:cNvSpPr txBox="1"/>
          <p:nvPr/>
        </p:nvSpPr>
        <p:spPr>
          <a:xfrm>
            <a:off x="8381619" y="1756254"/>
            <a:ext cx="3236976" cy="413613"/>
          </a:xfrm>
          <a:prstGeom prst="rect">
            <a:avLst/>
          </a:prstGeom>
          <a:noFill/>
        </p:spPr>
        <p:txBody>
          <a:bodyPr wrap="square" lIns="0" tIns="0" rIns="0" bIns="0" anchor="t">
            <a:spAutoFit/>
          </a:bodyPr>
          <a:lstStyle/>
          <a:p>
            <a:pPr algn="l">
              <a:spcAft>
                <a:spcPts val="0"/>
              </a:spcAft>
            </a:pPr>
            <a:r>
              <a:rPr sz="2300" b="1" dirty="0">
                <a:solidFill>
                  <a:srgbClr val="0072B2"/>
                </a:solidFill>
                <a:latin typeface="Meiryo"/>
                <a:ea typeface="Meiryo"/>
                <a:cs typeface="Meiryo"/>
              </a:rPr>
              <a:t>c　多点スタート</a:t>
            </a:r>
          </a:p>
        </p:txBody>
      </p:sp>
      <p:sp>
        <p:nvSpPr>
          <p:cNvPr id="6" name="Freeform 5">
            <a:extLst>
              <a:ext uri="{FF2B5EF4-FFF2-40B4-BE49-F238E27FC236}">
                <a16:creationId xmlns:a16="http://schemas.microsoft.com/office/drawing/2014/main" id="{F78F2B2B-81F1-11B3-3F67-84951F521AA5}"/>
              </a:ext>
            </a:extLst>
          </p:cNvPr>
          <p:cNvSpPr/>
          <p:nvPr/>
        </p:nvSpPr>
        <p:spPr>
          <a:xfrm>
            <a:off x="8509636" y="2475603"/>
            <a:ext cx="2969020" cy="1268337"/>
          </a:xfrm>
          <a:custGeom>
            <a:avLst/>
            <a:gdLst/>
            <a:ahLst/>
            <a:cxnLst/>
            <a:rect l="l" t="t" r="r" b="b"/>
            <a:pathLst>
              <a:path w="2969020" h="1268337">
                <a:moveTo>
                  <a:pt x="0" y="1233563"/>
                </a:moveTo>
                <a:lnTo>
                  <a:pt x="11923" y="1226887"/>
                </a:lnTo>
                <a:lnTo>
                  <a:pt x="23847" y="1219148"/>
                </a:lnTo>
                <a:lnTo>
                  <a:pt x="35771" y="1210222"/>
                </a:lnTo>
                <a:lnTo>
                  <a:pt x="47695" y="1199980"/>
                </a:lnTo>
                <a:lnTo>
                  <a:pt x="59618" y="1188289"/>
                </a:lnTo>
                <a:lnTo>
                  <a:pt x="71542" y="1175013"/>
                </a:lnTo>
                <a:lnTo>
                  <a:pt x="83466" y="1160015"/>
                </a:lnTo>
                <a:lnTo>
                  <a:pt x="95390" y="1143163"/>
                </a:lnTo>
                <a:lnTo>
                  <a:pt x="107313" y="1124328"/>
                </a:lnTo>
                <a:lnTo>
                  <a:pt x="119237" y="1103391"/>
                </a:lnTo>
                <a:lnTo>
                  <a:pt x="131161" y="1080243"/>
                </a:lnTo>
                <a:lnTo>
                  <a:pt x="143085" y="1054794"/>
                </a:lnTo>
                <a:lnTo>
                  <a:pt x="155009" y="1026970"/>
                </a:lnTo>
                <a:lnTo>
                  <a:pt x="166932" y="996725"/>
                </a:lnTo>
                <a:lnTo>
                  <a:pt x="178856" y="964036"/>
                </a:lnTo>
                <a:lnTo>
                  <a:pt x="190780" y="928915"/>
                </a:lnTo>
                <a:lnTo>
                  <a:pt x="202704" y="891406"/>
                </a:lnTo>
                <a:lnTo>
                  <a:pt x="214627" y="851593"/>
                </a:lnTo>
                <a:lnTo>
                  <a:pt x="226551" y="809600"/>
                </a:lnTo>
                <a:lnTo>
                  <a:pt x="238475" y="765593"/>
                </a:lnTo>
                <a:lnTo>
                  <a:pt x="250399" y="719780"/>
                </a:lnTo>
                <a:lnTo>
                  <a:pt x="262323" y="672414"/>
                </a:lnTo>
                <a:lnTo>
                  <a:pt x="274246" y="623790"/>
                </a:lnTo>
                <a:lnTo>
                  <a:pt x="286170" y="574243"/>
                </a:lnTo>
                <a:lnTo>
                  <a:pt x="298094" y="524147"/>
                </a:lnTo>
                <a:lnTo>
                  <a:pt x="310018" y="473907"/>
                </a:lnTo>
                <a:lnTo>
                  <a:pt x="321941" y="423958"/>
                </a:lnTo>
                <a:lnTo>
                  <a:pt x="333865" y="374755"/>
                </a:lnTo>
                <a:lnTo>
                  <a:pt x="345789" y="326769"/>
                </a:lnTo>
                <a:lnTo>
                  <a:pt x="357713" y="280477"/>
                </a:lnTo>
                <a:lnTo>
                  <a:pt x="369637" y="236353"/>
                </a:lnTo>
                <a:lnTo>
                  <a:pt x="381560" y="194863"/>
                </a:lnTo>
                <a:lnTo>
                  <a:pt x="393484" y="156449"/>
                </a:lnTo>
                <a:lnTo>
                  <a:pt x="405408" y="121528"/>
                </a:lnTo>
                <a:lnTo>
                  <a:pt x="417332" y="90477"/>
                </a:lnTo>
                <a:lnTo>
                  <a:pt x="429255" y="63627"/>
                </a:lnTo>
                <a:lnTo>
                  <a:pt x="441179" y="41259"/>
                </a:lnTo>
                <a:lnTo>
                  <a:pt x="453103" y="23590"/>
                </a:lnTo>
                <a:lnTo>
                  <a:pt x="465027" y="10778"/>
                </a:lnTo>
                <a:lnTo>
                  <a:pt x="476951" y="2908"/>
                </a:lnTo>
                <a:lnTo>
                  <a:pt x="488874" y="0"/>
                </a:lnTo>
                <a:lnTo>
                  <a:pt x="500798" y="2000"/>
                </a:lnTo>
                <a:lnTo>
                  <a:pt x="512722" y="8786"/>
                </a:lnTo>
                <a:lnTo>
                  <a:pt x="524646" y="20168"/>
                </a:lnTo>
                <a:lnTo>
                  <a:pt x="536569" y="35895"/>
                </a:lnTo>
                <a:lnTo>
                  <a:pt x="548493" y="55658"/>
                </a:lnTo>
                <a:lnTo>
                  <a:pt x="560417" y="79096"/>
                </a:lnTo>
                <a:lnTo>
                  <a:pt x="572341" y="105808"/>
                </a:lnTo>
                <a:lnTo>
                  <a:pt x="584265" y="135357"/>
                </a:lnTo>
                <a:lnTo>
                  <a:pt x="596188" y="167281"/>
                </a:lnTo>
                <a:lnTo>
                  <a:pt x="608112" y="201103"/>
                </a:lnTo>
                <a:lnTo>
                  <a:pt x="620036" y="236338"/>
                </a:lnTo>
                <a:lnTo>
                  <a:pt x="631960" y="272505"/>
                </a:lnTo>
                <a:lnTo>
                  <a:pt x="643883" y="309134"/>
                </a:lnTo>
                <a:lnTo>
                  <a:pt x="655807" y="345776"/>
                </a:lnTo>
                <a:lnTo>
                  <a:pt x="667731" y="382008"/>
                </a:lnTo>
                <a:lnTo>
                  <a:pt x="679655" y="417440"/>
                </a:lnTo>
                <a:lnTo>
                  <a:pt x="691579" y="451722"/>
                </a:lnTo>
                <a:lnTo>
                  <a:pt x="703502" y="484546"/>
                </a:lnTo>
                <a:lnTo>
                  <a:pt x="715426" y="515650"/>
                </a:lnTo>
                <a:lnTo>
                  <a:pt x="727350" y="544820"/>
                </a:lnTo>
                <a:lnTo>
                  <a:pt x="739274" y="571890"/>
                </a:lnTo>
                <a:lnTo>
                  <a:pt x="751197" y="596742"/>
                </a:lnTo>
                <a:lnTo>
                  <a:pt x="763121" y="619305"/>
                </a:lnTo>
                <a:lnTo>
                  <a:pt x="775045" y="639553"/>
                </a:lnTo>
                <a:lnTo>
                  <a:pt x="786969" y="657500"/>
                </a:lnTo>
                <a:lnTo>
                  <a:pt x="798892" y="673199"/>
                </a:lnTo>
                <a:lnTo>
                  <a:pt x="810816" y="686735"/>
                </a:lnTo>
                <a:lnTo>
                  <a:pt x="822740" y="698226"/>
                </a:lnTo>
                <a:lnTo>
                  <a:pt x="834664" y="707812"/>
                </a:lnTo>
                <a:lnTo>
                  <a:pt x="846588" y="715654"/>
                </a:lnTo>
                <a:lnTo>
                  <a:pt x="858511" y="721928"/>
                </a:lnTo>
                <a:lnTo>
                  <a:pt x="870435" y="726824"/>
                </a:lnTo>
                <a:lnTo>
                  <a:pt x="882359" y="730536"/>
                </a:lnTo>
                <a:lnTo>
                  <a:pt x="894283" y="733262"/>
                </a:lnTo>
                <a:lnTo>
                  <a:pt x="906206" y="735200"/>
                </a:lnTo>
                <a:lnTo>
                  <a:pt x="918130" y="736545"/>
                </a:lnTo>
                <a:lnTo>
                  <a:pt x="930054" y="737483"/>
                </a:lnTo>
                <a:lnTo>
                  <a:pt x="941978" y="738193"/>
                </a:lnTo>
                <a:lnTo>
                  <a:pt x="953902" y="738843"/>
                </a:lnTo>
                <a:lnTo>
                  <a:pt x="965825" y="739587"/>
                </a:lnTo>
                <a:lnTo>
                  <a:pt x="977749" y="740566"/>
                </a:lnTo>
                <a:lnTo>
                  <a:pt x="989673" y="741906"/>
                </a:lnTo>
                <a:lnTo>
                  <a:pt x="1001597" y="743719"/>
                </a:lnTo>
                <a:lnTo>
                  <a:pt x="1013520" y="746098"/>
                </a:lnTo>
                <a:lnTo>
                  <a:pt x="1025444" y="749125"/>
                </a:lnTo>
                <a:lnTo>
                  <a:pt x="1037368" y="752863"/>
                </a:lnTo>
                <a:lnTo>
                  <a:pt x="1049292" y="757361"/>
                </a:lnTo>
                <a:lnTo>
                  <a:pt x="1061216" y="762655"/>
                </a:lnTo>
                <a:lnTo>
                  <a:pt x="1073139" y="768763"/>
                </a:lnTo>
                <a:lnTo>
                  <a:pt x="1085063" y="775696"/>
                </a:lnTo>
                <a:lnTo>
                  <a:pt x="1096987" y="783449"/>
                </a:lnTo>
                <a:lnTo>
                  <a:pt x="1108911" y="792006"/>
                </a:lnTo>
                <a:lnTo>
                  <a:pt x="1120834" y="801343"/>
                </a:lnTo>
                <a:lnTo>
                  <a:pt x="1132758" y="811426"/>
                </a:lnTo>
                <a:lnTo>
                  <a:pt x="1144682" y="822213"/>
                </a:lnTo>
                <a:lnTo>
                  <a:pt x="1156606" y="833656"/>
                </a:lnTo>
                <a:lnTo>
                  <a:pt x="1168530" y="845699"/>
                </a:lnTo>
                <a:lnTo>
                  <a:pt x="1180453" y="858284"/>
                </a:lnTo>
                <a:lnTo>
                  <a:pt x="1192377" y="871349"/>
                </a:lnTo>
                <a:lnTo>
                  <a:pt x="1204301" y="884826"/>
                </a:lnTo>
                <a:lnTo>
                  <a:pt x="1216225" y="898650"/>
                </a:lnTo>
                <a:lnTo>
                  <a:pt x="1228148" y="912751"/>
                </a:lnTo>
                <a:lnTo>
                  <a:pt x="1240072" y="927061"/>
                </a:lnTo>
                <a:lnTo>
                  <a:pt x="1251996" y="941513"/>
                </a:lnTo>
                <a:lnTo>
                  <a:pt x="1263920" y="956040"/>
                </a:lnTo>
                <a:lnTo>
                  <a:pt x="1275844" y="970576"/>
                </a:lnTo>
                <a:lnTo>
                  <a:pt x="1287767" y="985061"/>
                </a:lnTo>
                <a:lnTo>
                  <a:pt x="1299691" y="999435"/>
                </a:lnTo>
                <a:lnTo>
                  <a:pt x="1311615" y="1013642"/>
                </a:lnTo>
                <a:lnTo>
                  <a:pt x="1323539" y="1027632"/>
                </a:lnTo>
                <a:lnTo>
                  <a:pt x="1335462" y="1041354"/>
                </a:lnTo>
                <a:lnTo>
                  <a:pt x="1347386" y="1054768"/>
                </a:lnTo>
                <a:lnTo>
                  <a:pt x="1359310" y="1067832"/>
                </a:lnTo>
                <a:lnTo>
                  <a:pt x="1371234" y="1080514"/>
                </a:lnTo>
                <a:lnTo>
                  <a:pt x="1383158" y="1092782"/>
                </a:lnTo>
                <a:lnTo>
                  <a:pt x="1395081" y="1104612"/>
                </a:lnTo>
                <a:lnTo>
                  <a:pt x="1407005" y="1115982"/>
                </a:lnTo>
                <a:lnTo>
                  <a:pt x="1418929" y="1126876"/>
                </a:lnTo>
                <a:lnTo>
                  <a:pt x="1430853" y="1137281"/>
                </a:lnTo>
                <a:lnTo>
                  <a:pt x="1442776" y="1147190"/>
                </a:lnTo>
                <a:lnTo>
                  <a:pt x="1454700" y="1156597"/>
                </a:lnTo>
                <a:lnTo>
                  <a:pt x="1466624" y="1165502"/>
                </a:lnTo>
                <a:lnTo>
                  <a:pt x="1478548" y="1173906"/>
                </a:lnTo>
                <a:lnTo>
                  <a:pt x="1490472" y="1181816"/>
                </a:lnTo>
                <a:lnTo>
                  <a:pt x="1502395" y="1189238"/>
                </a:lnTo>
                <a:lnTo>
                  <a:pt x="1514319" y="1196183"/>
                </a:lnTo>
                <a:lnTo>
                  <a:pt x="1526243" y="1202665"/>
                </a:lnTo>
                <a:lnTo>
                  <a:pt x="1538167" y="1208696"/>
                </a:lnTo>
                <a:lnTo>
                  <a:pt x="1550090" y="1214293"/>
                </a:lnTo>
                <a:lnTo>
                  <a:pt x="1562014" y="1219473"/>
                </a:lnTo>
                <a:lnTo>
                  <a:pt x="1573938" y="1224255"/>
                </a:lnTo>
                <a:lnTo>
                  <a:pt x="1585862" y="1228656"/>
                </a:lnTo>
                <a:lnTo>
                  <a:pt x="1597785" y="1232697"/>
                </a:lnTo>
                <a:lnTo>
                  <a:pt x="1609709" y="1236397"/>
                </a:lnTo>
                <a:lnTo>
                  <a:pt x="1621633" y="1239777"/>
                </a:lnTo>
                <a:lnTo>
                  <a:pt x="1633557" y="1242855"/>
                </a:lnTo>
                <a:lnTo>
                  <a:pt x="1645481" y="1245652"/>
                </a:lnTo>
                <a:lnTo>
                  <a:pt x="1657404" y="1248187"/>
                </a:lnTo>
                <a:lnTo>
                  <a:pt x="1669328" y="1250478"/>
                </a:lnTo>
                <a:lnTo>
                  <a:pt x="1681252" y="1252543"/>
                </a:lnTo>
                <a:lnTo>
                  <a:pt x="1693176" y="1254401"/>
                </a:lnTo>
                <a:lnTo>
                  <a:pt x="1705099" y="1256067"/>
                </a:lnTo>
                <a:lnTo>
                  <a:pt x="1717023" y="1257558"/>
                </a:lnTo>
                <a:lnTo>
                  <a:pt x="1728947" y="1258889"/>
                </a:lnTo>
                <a:lnTo>
                  <a:pt x="1740871" y="1260074"/>
                </a:lnTo>
                <a:lnTo>
                  <a:pt x="1752795" y="1261126"/>
                </a:lnTo>
                <a:lnTo>
                  <a:pt x="1764718" y="1262058"/>
                </a:lnTo>
                <a:lnTo>
                  <a:pt x="1776642" y="1262882"/>
                </a:lnTo>
                <a:lnTo>
                  <a:pt x="1788566" y="1263608"/>
                </a:lnTo>
                <a:lnTo>
                  <a:pt x="1800490" y="1264246"/>
                </a:lnTo>
                <a:lnTo>
                  <a:pt x="1812413" y="1264807"/>
                </a:lnTo>
                <a:lnTo>
                  <a:pt x="1824337" y="1265297"/>
                </a:lnTo>
                <a:lnTo>
                  <a:pt x="1836261" y="1265725"/>
                </a:lnTo>
                <a:lnTo>
                  <a:pt x="1848185" y="1266097"/>
                </a:lnTo>
                <a:lnTo>
                  <a:pt x="1860109" y="1266421"/>
                </a:lnTo>
                <a:lnTo>
                  <a:pt x="1872032" y="1266702"/>
                </a:lnTo>
                <a:lnTo>
                  <a:pt x="1883956" y="1266944"/>
                </a:lnTo>
                <a:lnTo>
                  <a:pt x="1895880" y="1267154"/>
                </a:lnTo>
                <a:lnTo>
                  <a:pt x="1907804" y="1267334"/>
                </a:lnTo>
                <a:lnTo>
                  <a:pt x="1919727" y="1267488"/>
                </a:lnTo>
                <a:lnTo>
                  <a:pt x="1931651" y="1267620"/>
                </a:lnTo>
                <a:lnTo>
                  <a:pt x="1943575" y="1267734"/>
                </a:lnTo>
                <a:lnTo>
                  <a:pt x="1955499" y="1267830"/>
                </a:lnTo>
                <a:lnTo>
                  <a:pt x="1967423" y="1267912"/>
                </a:lnTo>
                <a:lnTo>
                  <a:pt x="1979346" y="1267981"/>
                </a:lnTo>
                <a:lnTo>
                  <a:pt x="1991270" y="1268040"/>
                </a:lnTo>
                <a:lnTo>
                  <a:pt x="2003194" y="1268090"/>
                </a:lnTo>
                <a:lnTo>
                  <a:pt x="2015118" y="1268131"/>
                </a:lnTo>
                <a:lnTo>
                  <a:pt x="2027041" y="1268167"/>
                </a:lnTo>
                <a:lnTo>
                  <a:pt x="2038965" y="1268196"/>
                </a:lnTo>
                <a:lnTo>
                  <a:pt x="2050889" y="1268221"/>
                </a:lnTo>
                <a:lnTo>
                  <a:pt x="2062813" y="1268241"/>
                </a:lnTo>
                <a:lnTo>
                  <a:pt x="2074737" y="1268258"/>
                </a:lnTo>
                <a:lnTo>
                  <a:pt x="2086660" y="1268272"/>
                </a:lnTo>
                <a:lnTo>
                  <a:pt x="2098584" y="1268284"/>
                </a:lnTo>
                <a:lnTo>
                  <a:pt x="2110508" y="1268294"/>
                </a:lnTo>
                <a:lnTo>
                  <a:pt x="2122432" y="1268302"/>
                </a:lnTo>
                <a:lnTo>
                  <a:pt x="2134355" y="1268309"/>
                </a:lnTo>
                <a:lnTo>
                  <a:pt x="2146279" y="1268314"/>
                </a:lnTo>
                <a:lnTo>
                  <a:pt x="2158203" y="1268318"/>
                </a:lnTo>
                <a:lnTo>
                  <a:pt x="2170127" y="1268322"/>
                </a:lnTo>
                <a:lnTo>
                  <a:pt x="2182051" y="1268325"/>
                </a:lnTo>
                <a:lnTo>
                  <a:pt x="2193974" y="1268327"/>
                </a:lnTo>
                <a:lnTo>
                  <a:pt x="2205898" y="1268329"/>
                </a:lnTo>
                <a:lnTo>
                  <a:pt x="2217822" y="1268331"/>
                </a:lnTo>
                <a:lnTo>
                  <a:pt x="2229746" y="1268332"/>
                </a:lnTo>
                <a:lnTo>
                  <a:pt x="2241669" y="1268333"/>
                </a:lnTo>
                <a:lnTo>
                  <a:pt x="2253593" y="1268334"/>
                </a:lnTo>
                <a:lnTo>
                  <a:pt x="2265517" y="1268335"/>
                </a:lnTo>
                <a:lnTo>
                  <a:pt x="2277441" y="1268335"/>
                </a:lnTo>
                <a:lnTo>
                  <a:pt x="2289364" y="1268336"/>
                </a:lnTo>
                <a:lnTo>
                  <a:pt x="2301288" y="1268336"/>
                </a:lnTo>
                <a:lnTo>
                  <a:pt x="2313212" y="1268336"/>
                </a:lnTo>
                <a:lnTo>
                  <a:pt x="2325136" y="1268336"/>
                </a:lnTo>
                <a:lnTo>
                  <a:pt x="2337060" y="1268337"/>
                </a:lnTo>
                <a:lnTo>
                  <a:pt x="2348983" y="1268337"/>
                </a:lnTo>
                <a:lnTo>
                  <a:pt x="2360907" y="1268337"/>
                </a:lnTo>
                <a:lnTo>
                  <a:pt x="2372831" y="1268337"/>
                </a:lnTo>
                <a:lnTo>
                  <a:pt x="2384755" y="1268337"/>
                </a:lnTo>
                <a:lnTo>
                  <a:pt x="2396678" y="1268337"/>
                </a:lnTo>
                <a:lnTo>
                  <a:pt x="2408602" y="1268337"/>
                </a:lnTo>
                <a:lnTo>
                  <a:pt x="2420526" y="1268337"/>
                </a:lnTo>
                <a:lnTo>
                  <a:pt x="2432450" y="1268337"/>
                </a:lnTo>
                <a:lnTo>
                  <a:pt x="2444374" y="1268337"/>
                </a:lnTo>
                <a:lnTo>
                  <a:pt x="2456297" y="1268337"/>
                </a:lnTo>
                <a:lnTo>
                  <a:pt x="2468221" y="1268337"/>
                </a:lnTo>
                <a:lnTo>
                  <a:pt x="2480145" y="1268337"/>
                </a:lnTo>
                <a:lnTo>
                  <a:pt x="2492069" y="1268337"/>
                </a:lnTo>
                <a:lnTo>
                  <a:pt x="2503992" y="1268337"/>
                </a:lnTo>
                <a:lnTo>
                  <a:pt x="2515916" y="1268337"/>
                </a:lnTo>
                <a:lnTo>
                  <a:pt x="2527840" y="1268337"/>
                </a:lnTo>
                <a:lnTo>
                  <a:pt x="2539764" y="1268337"/>
                </a:lnTo>
                <a:lnTo>
                  <a:pt x="2551688" y="1268337"/>
                </a:lnTo>
                <a:lnTo>
                  <a:pt x="2563611" y="1268337"/>
                </a:lnTo>
                <a:lnTo>
                  <a:pt x="2575535" y="1268337"/>
                </a:lnTo>
                <a:lnTo>
                  <a:pt x="2587459" y="1268337"/>
                </a:lnTo>
                <a:lnTo>
                  <a:pt x="2599383" y="1268337"/>
                </a:lnTo>
                <a:lnTo>
                  <a:pt x="2611306" y="1268337"/>
                </a:lnTo>
                <a:lnTo>
                  <a:pt x="2623230" y="1268337"/>
                </a:lnTo>
                <a:lnTo>
                  <a:pt x="2635154" y="1268337"/>
                </a:lnTo>
                <a:lnTo>
                  <a:pt x="2647078" y="1268337"/>
                </a:lnTo>
                <a:lnTo>
                  <a:pt x="2659002" y="1268337"/>
                </a:lnTo>
                <a:lnTo>
                  <a:pt x="2670925" y="1268337"/>
                </a:lnTo>
                <a:lnTo>
                  <a:pt x="2682849" y="1268337"/>
                </a:lnTo>
                <a:lnTo>
                  <a:pt x="2694773" y="1268337"/>
                </a:lnTo>
                <a:lnTo>
                  <a:pt x="2706697" y="1268337"/>
                </a:lnTo>
                <a:lnTo>
                  <a:pt x="2718620" y="1268337"/>
                </a:lnTo>
                <a:lnTo>
                  <a:pt x="2730544" y="1268337"/>
                </a:lnTo>
                <a:lnTo>
                  <a:pt x="2742468" y="1268337"/>
                </a:lnTo>
                <a:lnTo>
                  <a:pt x="2754392" y="1268337"/>
                </a:lnTo>
                <a:lnTo>
                  <a:pt x="2766316" y="1268337"/>
                </a:lnTo>
                <a:lnTo>
                  <a:pt x="2778239" y="1268337"/>
                </a:lnTo>
                <a:lnTo>
                  <a:pt x="2790163" y="1268337"/>
                </a:lnTo>
                <a:lnTo>
                  <a:pt x="2802087" y="1268337"/>
                </a:lnTo>
                <a:lnTo>
                  <a:pt x="2814011" y="1268337"/>
                </a:lnTo>
                <a:lnTo>
                  <a:pt x="2825934" y="1268337"/>
                </a:lnTo>
                <a:lnTo>
                  <a:pt x="2837858" y="1268337"/>
                </a:lnTo>
                <a:lnTo>
                  <a:pt x="2849782" y="1268337"/>
                </a:lnTo>
                <a:lnTo>
                  <a:pt x="2861706" y="1268337"/>
                </a:lnTo>
                <a:lnTo>
                  <a:pt x="2873630" y="1268337"/>
                </a:lnTo>
                <a:lnTo>
                  <a:pt x="2885553" y="1268337"/>
                </a:lnTo>
                <a:lnTo>
                  <a:pt x="2897477" y="1268337"/>
                </a:lnTo>
                <a:lnTo>
                  <a:pt x="2909401" y="1268337"/>
                </a:lnTo>
                <a:lnTo>
                  <a:pt x="2921325" y="1268337"/>
                </a:lnTo>
                <a:lnTo>
                  <a:pt x="2933248" y="1268337"/>
                </a:lnTo>
                <a:lnTo>
                  <a:pt x="2945172" y="1268337"/>
                </a:lnTo>
                <a:lnTo>
                  <a:pt x="2957096" y="1268337"/>
                </a:lnTo>
                <a:lnTo>
                  <a:pt x="2969020" y="1268337"/>
                </a:lnTo>
              </a:path>
            </a:pathLst>
          </a:custGeom>
          <a:noFill/>
          <a:ln w="2540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val 67">
            <a:extLst>
              <a:ext uri="{FF2B5EF4-FFF2-40B4-BE49-F238E27FC236}">
                <a16:creationId xmlns:a16="http://schemas.microsoft.com/office/drawing/2014/main" id="{36CAB625-9892-1D86-CE8B-76141C3C9B29}"/>
              </a:ext>
            </a:extLst>
          </p:cNvPr>
          <p:cNvSpPr/>
          <p:nvPr/>
        </p:nvSpPr>
        <p:spPr>
          <a:xfrm>
            <a:off x="10128672" y="3675789"/>
            <a:ext cx="100584" cy="100584"/>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9" name="Oval 68">
            <a:extLst>
              <a:ext uri="{FF2B5EF4-FFF2-40B4-BE49-F238E27FC236}">
                <a16:creationId xmlns:a16="http://schemas.microsoft.com/office/drawing/2014/main" id="{03EF0F03-7E17-60E8-8973-6A328089F216}"/>
              </a:ext>
            </a:extLst>
          </p:cNvPr>
          <p:cNvSpPr/>
          <p:nvPr/>
        </p:nvSpPr>
        <p:spPr>
          <a:xfrm>
            <a:off x="10748708" y="3693647"/>
            <a:ext cx="100584" cy="100584"/>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0" name="Oval 69">
            <a:extLst>
              <a:ext uri="{FF2B5EF4-FFF2-40B4-BE49-F238E27FC236}">
                <a16:creationId xmlns:a16="http://schemas.microsoft.com/office/drawing/2014/main" id="{B03B1516-2FE7-2B09-57C0-8AE62B726472}"/>
              </a:ext>
            </a:extLst>
          </p:cNvPr>
          <p:cNvSpPr/>
          <p:nvPr/>
        </p:nvSpPr>
        <p:spPr>
          <a:xfrm>
            <a:off x="10474462" y="3693442"/>
            <a:ext cx="100584" cy="100584"/>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1" name="Oval 70">
            <a:extLst>
              <a:ext uri="{FF2B5EF4-FFF2-40B4-BE49-F238E27FC236}">
                <a16:creationId xmlns:a16="http://schemas.microsoft.com/office/drawing/2014/main" id="{1846C7D4-C14F-9A6D-BF72-592E0D4FB19A}"/>
              </a:ext>
            </a:extLst>
          </p:cNvPr>
          <p:cNvSpPr/>
          <p:nvPr/>
        </p:nvSpPr>
        <p:spPr>
          <a:xfrm>
            <a:off x="9210541" y="3022053"/>
            <a:ext cx="100584" cy="100584"/>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2" name="Oval 71">
            <a:extLst>
              <a:ext uri="{FF2B5EF4-FFF2-40B4-BE49-F238E27FC236}">
                <a16:creationId xmlns:a16="http://schemas.microsoft.com/office/drawing/2014/main" id="{A094C6E7-98DE-3091-C182-3C1694D55AD5}"/>
              </a:ext>
            </a:extLst>
          </p:cNvPr>
          <p:cNvSpPr/>
          <p:nvPr/>
        </p:nvSpPr>
        <p:spPr>
          <a:xfrm>
            <a:off x="9377474" y="3161856"/>
            <a:ext cx="100584" cy="100584"/>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3" name="Oval 72">
            <a:extLst>
              <a:ext uri="{FF2B5EF4-FFF2-40B4-BE49-F238E27FC236}">
                <a16:creationId xmlns:a16="http://schemas.microsoft.com/office/drawing/2014/main" id="{9637DB76-31B7-ED47-778C-A459D392FD79}"/>
              </a:ext>
            </a:extLst>
          </p:cNvPr>
          <p:cNvSpPr/>
          <p:nvPr/>
        </p:nvSpPr>
        <p:spPr>
          <a:xfrm>
            <a:off x="10701013" y="3693644"/>
            <a:ext cx="100584" cy="100584"/>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4" name="Oval 73">
            <a:extLst>
              <a:ext uri="{FF2B5EF4-FFF2-40B4-BE49-F238E27FC236}">
                <a16:creationId xmlns:a16="http://schemas.microsoft.com/office/drawing/2014/main" id="{D4878887-F079-0D63-C002-F4CDA2184B3C}"/>
              </a:ext>
            </a:extLst>
          </p:cNvPr>
          <p:cNvSpPr/>
          <p:nvPr/>
        </p:nvSpPr>
        <p:spPr>
          <a:xfrm>
            <a:off x="8709743" y="3145091"/>
            <a:ext cx="100584" cy="100584"/>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5" name="Oval 74">
            <a:extLst>
              <a:ext uri="{FF2B5EF4-FFF2-40B4-BE49-F238E27FC236}">
                <a16:creationId xmlns:a16="http://schemas.microsoft.com/office/drawing/2014/main" id="{D9D4CEFE-E8E5-9565-112E-E828C13FD395}"/>
              </a:ext>
            </a:extLst>
          </p:cNvPr>
          <p:cNvSpPr/>
          <p:nvPr/>
        </p:nvSpPr>
        <p:spPr>
          <a:xfrm>
            <a:off x="10581776" y="3693613"/>
            <a:ext cx="100584" cy="100584"/>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6" name="Oval 75">
            <a:extLst>
              <a:ext uri="{FF2B5EF4-FFF2-40B4-BE49-F238E27FC236}">
                <a16:creationId xmlns:a16="http://schemas.microsoft.com/office/drawing/2014/main" id="{B5D27F72-872A-BB05-458D-96ADA57740DA}"/>
              </a:ext>
            </a:extLst>
          </p:cNvPr>
          <p:cNvSpPr/>
          <p:nvPr/>
        </p:nvSpPr>
        <p:spPr>
          <a:xfrm>
            <a:off x="10522157" y="3693552"/>
            <a:ext cx="100584" cy="100584"/>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7" name="Oval 76">
            <a:extLst>
              <a:ext uri="{FF2B5EF4-FFF2-40B4-BE49-F238E27FC236}">
                <a16:creationId xmlns:a16="http://schemas.microsoft.com/office/drawing/2014/main" id="{F13F8C18-A2D4-CEE5-AAE2-5E2CE43A46E9}"/>
              </a:ext>
            </a:extLst>
          </p:cNvPr>
          <p:cNvSpPr/>
          <p:nvPr/>
        </p:nvSpPr>
        <p:spPr>
          <a:xfrm>
            <a:off x="9770959" y="3438953"/>
            <a:ext cx="100584" cy="100584"/>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8" name="Oval 77">
            <a:extLst>
              <a:ext uri="{FF2B5EF4-FFF2-40B4-BE49-F238E27FC236}">
                <a16:creationId xmlns:a16="http://schemas.microsoft.com/office/drawing/2014/main" id="{F65A2C54-D061-D4E7-0828-CA6EA2E62EB6}"/>
              </a:ext>
            </a:extLst>
          </p:cNvPr>
          <p:cNvSpPr/>
          <p:nvPr/>
        </p:nvSpPr>
        <p:spPr>
          <a:xfrm>
            <a:off x="9389398" y="3162794"/>
            <a:ext cx="100584" cy="100584"/>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9" name="Oval 78">
            <a:extLst>
              <a:ext uri="{FF2B5EF4-FFF2-40B4-BE49-F238E27FC236}">
                <a16:creationId xmlns:a16="http://schemas.microsoft.com/office/drawing/2014/main" id="{8AD90F55-9E2C-FF88-E01B-56EC1390A261}"/>
              </a:ext>
            </a:extLst>
          </p:cNvPr>
          <p:cNvSpPr/>
          <p:nvPr/>
        </p:nvSpPr>
        <p:spPr>
          <a:xfrm>
            <a:off x="9329779" y="3152135"/>
            <a:ext cx="100584" cy="100584"/>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0" name="Oval 79">
            <a:extLst>
              <a:ext uri="{FF2B5EF4-FFF2-40B4-BE49-F238E27FC236}">
                <a16:creationId xmlns:a16="http://schemas.microsoft.com/office/drawing/2014/main" id="{149753E6-C32A-D36C-B716-3970A799942F}"/>
              </a:ext>
            </a:extLst>
          </p:cNvPr>
          <p:cNvSpPr/>
          <p:nvPr/>
        </p:nvSpPr>
        <p:spPr>
          <a:xfrm>
            <a:off x="8929930" y="2407023"/>
            <a:ext cx="137160" cy="13716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1" name="Oval 80">
            <a:extLst>
              <a:ext uri="{FF2B5EF4-FFF2-40B4-BE49-F238E27FC236}">
                <a16:creationId xmlns:a16="http://schemas.microsoft.com/office/drawing/2014/main" id="{B18C6522-517B-4FE1-7414-987053C8B09A}"/>
              </a:ext>
            </a:extLst>
          </p:cNvPr>
          <p:cNvSpPr/>
          <p:nvPr/>
        </p:nvSpPr>
        <p:spPr>
          <a:xfrm>
            <a:off x="9204177" y="3026328"/>
            <a:ext cx="137160" cy="13716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2" name="TextBox 81">
            <a:extLst>
              <a:ext uri="{FF2B5EF4-FFF2-40B4-BE49-F238E27FC236}">
                <a16:creationId xmlns:a16="http://schemas.microsoft.com/office/drawing/2014/main" id="{4D604B71-F966-F680-16DA-22C9178DD715}"/>
              </a:ext>
            </a:extLst>
          </p:cNvPr>
          <p:cNvSpPr txBox="1"/>
          <p:nvPr/>
        </p:nvSpPr>
        <p:spPr>
          <a:xfrm>
            <a:off x="8381619" y="3987390"/>
            <a:ext cx="3236976" cy="395630"/>
          </a:xfrm>
          <a:prstGeom prst="rect">
            <a:avLst/>
          </a:prstGeom>
          <a:noFill/>
        </p:spPr>
        <p:txBody>
          <a:bodyPr wrap="square" lIns="0" tIns="0" rIns="0" bIns="0" anchor="t">
            <a:spAutoFit/>
          </a:bodyPr>
          <a:lstStyle/>
          <a:p>
            <a:pPr algn="l">
              <a:spcAft>
                <a:spcPts val="0"/>
              </a:spcAft>
            </a:pPr>
            <a:r>
              <a:rPr sz="2200" b="0" dirty="0">
                <a:solidFill>
                  <a:srgbClr val="595959"/>
                </a:solidFill>
                <a:latin typeface="Meiryo"/>
                <a:ea typeface="Meiryo"/>
                <a:cs typeface="Meiryo"/>
              </a:rPr>
              <a:t>青＝ばらまいた出発点</a:t>
            </a:r>
          </a:p>
        </p:txBody>
      </p:sp>
      <p:sp>
        <p:nvSpPr>
          <p:cNvPr id="83" name="TextBox 82">
            <a:extLst>
              <a:ext uri="{FF2B5EF4-FFF2-40B4-BE49-F238E27FC236}">
                <a16:creationId xmlns:a16="http://schemas.microsoft.com/office/drawing/2014/main" id="{80386FC2-5AC8-5471-9DC4-0285F17F44DF}"/>
              </a:ext>
            </a:extLst>
          </p:cNvPr>
          <p:cNvSpPr txBox="1"/>
          <p:nvPr/>
        </p:nvSpPr>
        <p:spPr>
          <a:xfrm>
            <a:off x="8381619" y="4764630"/>
            <a:ext cx="3236976" cy="395630"/>
          </a:xfrm>
          <a:prstGeom prst="rect">
            <a:avLst/>
          </a:prstGeom>
          <a:noFill/>
        </p:spPr>
        <p:txBody>
          <a:bodyPr wrap="square" lIns="0" tIns="0" rIns="0" bIns="0" anchor="t">
            <a:spAutoFit/>
          </a:bodyPr>
          <a:lstStyle/>
          <a:p>
            <a:pPr algn="l">
              <a:spcAft>
                <a:spcPts val="0"/>
              </a:spcAft>
            </a:pPr>
            <a:r>
              <a:rPr sz="2200" b="0" dirty="0">
                <a:solidFill>
                  <a:srgbClr val="262626"/>
                </a:solidFill>
                <a:latin typeface="Meiryo"/>
                <a:ea typeface="Meiryo"/>
                <a:cs typeface="Meiryo"/>
              </a:rPr>
              <a:t>最も残差の小さい解</a:t>
            </a:r>
          </a:p>
        </p:txBody>
      </p:sp>
      <p:sp>
        <p:nvSpPr>
          <p:cNvPr id="7" name="Rounded Rectangle 55">
            <a:extLst>
              <a:ext uri="{FF2B5EF4-FFF2-40B4-BE49-F238E27FC236}">
                <a16:creationId xmlns:a16="http://schemas.microsoft.com/office/drawing/2014/main" id="{3AD7EF4C-2A5F-8EAF-3FAD-169CABE8AE19}"/>
              </a:ext>
            </a:extLst>
          </p:cNvPr>
          <p:cNvSpPr/>
          <p:nvPr/>
        </p:nvSpPr>
        <p:spPr>
          <a:xfrm>
            <a:off x="627508" y="5306392"/>
            <a:ext cx="11201400" cy="1055189"/>
          </a:xfrm>
          <a:prstGeom prst="roundRect">
            <a:avLst/>
          </a:prstGeom>
          <a:solidFill>
            <a:srgbClr val="F2F2F2"/>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56">
            <a:extLst>
              <a:ext uri="{FF2B5EF4-FFF2-40B4-BE49-F238E27FC236}">
                <a16:creationId xmlns:a16="http://schemas.microsoft.com/office/drawing/2014/main" id="{448BDD49-C528-543B-7232-427FA27963EF}"/>
              </a:ext>
            </a:extLst>
          </p:cNvPr>
          <p:cNvSpPr txBox="1"/>
          <p:nvPr/>
        </p:nvSpPr>
        <p:spPr>
          <a:xfrm>
            <a:off x="810388" y="5507560"/>
            <a:ext cx="10835640" cy="738664"/>
          </a:xfrm>
          <a:prstGeom prst="rect">
            <a:avLst/>
          </a:prstGeom>
          <a:noFill/>
        </p:spPr>
        <p:txBody>
          <a:bodyPr wrap="square" lIns="0" tIns="0" rIns="0" bIns="0" anchor="t">
            <a:spAutoFit/>
          </a:bodyPr>
          <a:lstStyle/>
          <a:p>
            <a:pPr algn="ctr">
              <a:spcAft>
                <a:spcPts val="0"/>
              </a:spcAft>
            </a:pPr>
            <a:r>
              <a:rPr sz="2500" b="1" dirty="0" err="1">
                <a:solidFill>
                  <a:srgbClr val="262626"/>
                </a:solidFill>
                <a:latin typeface="Meiryo"/>
                <a:ea typeface="Meiryo"/>
                <a:cs typeface="Meiryo"/>
              </a:rPr>
              <a:t>境界条件</a:t>
            </a:r>
            <a:r>
              <a:rPr lang="ja-JP" altLang="en-US" sz="2500" b="1">
                <a:solidFill>
                  <a:srgbClr val="262626"/>
                </a:solidFill>
                <a:latin typeface="Meiryo"/>
                <a:ea typeface="Meiryo"/>
                <a:cs typeface="Meiryo"/>
              </a:rPr>
              <a:t>の設定も重要。</a:t>
            </a:r>
            <a:endParaRPr sz="2500" b="1" dirty="0">
              <a:solidFill>
                <a:srgbClr val="262626"/>
              </a:solidFill>
              <a:latin typeface="Meiryo"/>
              <a:ea typeface="Meiryo"/>
              <a:cs typeface="Meiryo"/>
            </a:endParaRPr>
          </a:p>
          <a:p>
            <a:pPr algn="ctr">
              <a:spcAft>
                <a:spcPts val="0"/>
              </a:spcAft>
            </a:pPr>
            <a:r>
              <a:rPr lang="ja-JP" altLang="en-US" sz="2300" b="0">
                <a:solidFill>
                  <a:srgbClr val="262626"/>
                </a:solidFill>
                <a:latin typeface="Meiryo"/>
                <a:ea typeface="Meiryo"/>
                <a:cs typeface="Meiryo"/>
              </a:rPr>
              <a:t>高さ</a:t>
            </a:r>
            <a:r>
              <a:rPr lang="en-US" altLang="ja-JP" sz="2300" b="0" dirty="0">
                <a:solidFill>
                  <a:srgbClr val="262626"/>
                </a:solidFill>
                <a:latin typeface="Meiryo"/>
                <a:ea typeface="Meiryo"/>
                <a:cs typeface="Meiryo"/>
              </a:rPr>
              <a:t> </a:t>
            </a:r>
            <a:r>
              <a:rPr sz="2300" b="0" dirty="0">
                <a:solidFill>
                  <a:srgbClr val="262626"/>
                </a:solidFill>
                <a:latin typeface="Meiryo"/>
                <a:ea typeface="Meiryo"/>
                <a:cs typeface="Meiryo"/>
              </a:rPr>
              <a:t>a &gt; 0　／　</a:t>
            </a:r>
            <a:r>
              <a:rPr lang="ja-JP" altLang="en-US" sz="2300" b="0">
                <a:solidFill>
                  <a:srgbClr val="262626"/>
                </a:solidFill>
                <a:latin typeface="Meiryo"/>
                <a:ea typeface="Meiryo"/>
                <a:cs typeface="Meiryo"/>
              </a:rPr>
              <a:t>位置</a:t>
            </a:r>
            <a:r>
              <a:rPr lang="en-US" altLang="ja-JP" sz="2300" b="0" dirty="0">
                <a:solidFill>
                  <a:srgbClr val="262626"/>
                </a:solidFill>
                <a:latin typeface="Meiryo"/>
                <a:ea typeface="Meiryo"/>
                <a:cs typeface="Meiryo"/>
              </a:rPr>
              <a:t> </a:t>
            </a:r>
            <a:r>
              <a:rPr sz="2300" b="0" dirty="0" err="1">
                <a:solidFill>
                  <a:srgbClr val="262626"/>
                </a:solidFill>
                <a:latin typeface="Meiryo"/>
                <a:ea typeface="Meiryo"/>
                <a:cs typeface="Meiryo"/>
              </a:rPr>
              <a:t>μ</a:t>
            </a:r>
            <a:r>
              <a:rPr sz="2300" b="0" dirty="0">
                <a:solidFill>
                  <a:srgbClr val="262626"/>
                </a:solidFill>
                <a:latin typeface="Meiryo"/>
                <a:ea typeface="Meiryo"/>
                <a:cs typeface="Meiryo"/>
              </a:rPr>
              <a:t>₁ &lt; μ₂ &lt; …（順序を固定）　／　</a:t>
            </a:r>
            <a:r>
              <a:rPr lang="ja-JP" altLang="en-US" sz="2300" b="0">
                <a:solidFill>
                  <a:srgbClr val="262626"/>
                </a:solidFill>
                <a:latin typeface="Meiryo"/>
                <a:ea typeface="Meiryo"/>
                <a:cs typeface="Meiryo"/>
              </a:rPr>
              <a:t>幅</a:t>
            </a:r>
            <a:r>
              <a:rPr lang="en-US" altLang="ja-JP" sz="2300" b="0" dirty="0">
                <a:solidFill>
                  <a:srgbClr val="262626"/>
                </a:solidFill>
                <a:latin typeface="Meiryo"/>
                <a:ea typeface="Meiryo"/>
                <a:cs typeface="Meiryo"/>
              </a:rPr>
              <a:t> </a:t>
            </a:r>
            <a:r>
              <a:rPr sz="2300" b="0" dirty="0" err="1">
                <a:solidFill>
                  <a:srgbClr val="262626"/>
                </a:solidFill>
                <a:latin typeface="Meiryo"/>
                <a:ea typeface="Meiryo"/>
                <a:cs typeface="Meiryo"/>
              </a:rPr>
              <a:t>σ</a:t>
            </a:r>
            <a:r>
              <a:rPr sz="2300" b="0" dirty="0">
                <a:solidFill>
                  <a:srgbClr val="262626"/>
                </a:solidFill>
                <a:latin typeface="Meiryo"/>
                <a:ea typeface="Meiryo"/>
                <a:cs typeface="Meiryo"/>
              </a:rPr>
              <a:t> </a:t>
            </a:r>
            <a:r>
              <a:rPr sz="2300" b="0" dirty="0" err="1">
                <a:solidFill>
                  <a:srgbClr val="262626"/>
                </a:solidFill>
                <a:latin typeface="Meiryo"/>
                <a:ea typeface="Meiryo"/>
                <a:cs typeface="Meiryo"/>
              </a:rPr>
              <a:t>の上下限</a:t>
            </a:r>
            <a:endParaRPr sz="2300" b="0" dirty="0">
              <a:solidFill>
                <a:srgbClr val="262626"/>
              </a:solidFill>
              <a:latin typeface="Meiryo"/>
              <a:ea typeface="Meiryo"/>
              <a:cs typeface="Meiryo"/>
            </a:endParaRP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4">
            <a:extLst>
              <a:ext uri="{FF2B5EF4-FFF2-40B4-BE49-F238E27FC236}">
                <a16:creationId xmlns:a16="http://schemas.microsoft.com/office/drawing/2014/main" id="{AA9D36CE-3772-F005-B54C-9329ADA7F086}"/>
              </a:ext>
            </a:extLst>
          </p:cNvPr>
          <p:cNvSpPr/>
          <p:nvPr/>
        </p:nvSpPr>
        <p:spPr>
          <a:xfrm>
            <a:off x="1085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343643808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9DB609-BF7B-1143-2EF7-98AC3B99D8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383EE8-D08C-AA2E-3FFB-C6FEC47CC43A}"/>
              </a:ext>
            </a:extLst>
          </p:cNvPr>
          <p:cNvSpPr>
            <a:spLocks noGrp="1"/>
          </p:cNvSpPr>
          <p:nvPr>
            <p:ph type="title"/>
          </p:nvPr>
        </p:nvSpPr>
        <p:spPr/>
        <p:txBody>
          <a:bodyPr/>
          <a:lstStyle/>
          <a:p>
            <a:pPr algn="l"/>
            <a:r>
              <a:rPr sz="4600" dirty="0">
                <a:latin typeface="Meiryo"/>
                <a:ea typeface="Meiryo"/>
                <a:cs typeface="Meiryo"/>
              </a:rPr>
              <a:t>5.3  </a:t>
            </a:r>
            <a:r>
              <a:rPr sz="4600" dirty="0" err="1">
                <a:latin typeface="Meiryo"/>
                <a:ea typeface="Meiryo"/>
                <a:cs typeface="Meiryo"/>
              </a:rPr>
              <a:t>当てはめ方</a:t>
            </a:r>
            <a:endParaRPr sz="4600" dirty="0">
              <a:latin typeface="Meiryo"/>
              <a:ea typeface="Meiryo"/>
              <a:cs typeface="Meiryo"/>
            </a:endParaRPr>
          </a:p>
        </p:txBody>
      </p:sp>
      <p:sp>
        <p:nvSpPr>
          <p:cNvPr id="29" name="Source">
            <a:extLst>
              <a:ext uri="{FF2B5EF4-FFF2-40B4-BE49-F238E27FC236}">
                <a16:creationId xmlns:a16="http://schemas.microsoft.com/office/drawing/2014/main" id="{8E106894-D722-4C7A-E1EA-CBACD8E4B69F}"/>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33. Couceiro 2015　／　44. Basso 2024</a:t>
            </a:r>
          </a:p>
        </p:txBody>
      </p:sp>
      <p:sp>
        <p:nvSpPr>
          <p:cNvPr id="43" name="PageNo">
            <a:extLst>
              <a:ext uri="{FF2B5EF4-FFF2-40B4-BE49-F238E27FC236}">
                <a16:creationId xmlns:a16="http://schemas.microsoft.com/office/drawing/2014/main" id="{BCCC4A31-3940-F94B-8D9D-C344CF9764B0}"/>
              </a:ext>
            </a:extLst>
          </p:cNvPr>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82/118</a:t>
            </a:r>
          </a:p>
        </p:txBody>
      </p:sp>
      <p:sp>
        <p:nvSpPr>
          <p:cNvPr id="44" name="Rounded Rectangle 43">
            <a:extLst>
              <a:ext uri="{FF2B5EF4-FFF2-40B4-BE49-F238E27FC236}">
                <a16:creationId xmlns:a16="http://schemas.microsoft.com/office/drawing/2014/main" id="{86B9BE77-B4C2-588F-278B-09F532190A51}"/>
              </a:ext>
            </a:extLst>
          </p:cNvPr>
          <p:cNvSpPr/>
          <p:nvPr/>
        </p:nvSpPr>
        <p:spPr>
          <a:xfrm>
            <a:off x="502920" y="1737360"/>
            <a:ext cx="5532120" cy="3794760"/>
          </a:xfrm>
          <a:prstGeom prst="roundRect">
            <a:avLst>
              <a:gd name="adj" fmla="val 5748"/>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TextBox 44">
            <a:extLst>
              <a:ext uri="{FF2B5EF4-FFF2-40B4-BE49-F238E27FC236}">
                <a16:creationId xmlns:a16="http://schemas.microsoft.com/office/drawing/2014/main" id="{C3730EBE-AD6E-DF22-78A7-630BEB0C1264}"/>
              </a:ext>
            </a:extLst>
          </p:cNvPr>
          <p:cNvSpPr txBox="1"/>
          <p:nvPr/>
        </p:nvSpPr>
        <p:spPr>
          <a:xfrm>
            <a:off x="685800" y="1883664"/>
            <a:ext cx="5166360" cy="369332"/>
          </a:xfrm>
          <a:prstGeom prst="rect">
            <a:avLst/>
          </a:prstGeom>
          <a:noFill/>
        </p:spPr>
        <p:txBody>
          <a:bodyPr wrap="square" lIns="0" tIns="0" rIns="0" bIns="0" anchor="t">
            <a:spAutoFit/>
          </a:bodyPr>
          <a:lstStyle/>
          <a:p>
            <a:pPr algn="l">
              <a:spcAft>
                <a:spcPts val="0"/>
              </a:spcAft>
            </a:pPr>
            <a:r>
              <a:rPr sz="2400" b="1" dirty="0" err="1">
                <a:solidFill>
                  <a:srgbClr val="0072B2"/>
                </a:solidFill>
                <a:latin typeface="Meiryo"/>
                <a:ea typeface="Meiryo"/>
                <a:cs typeface="Meiryo"/>
              </a:rPr>
              <a:t>目的関数の</a:t>
            </a:r>
            <a:r>
              <a:rPr lang="ja-JP" altLang="en-US" sz="2400" b="1">
                <a:solidFill>
                  <a:srgbClr val="0072B2"/>
                </a:solidFill>
                <a:latin typeface="Meiryo"/>
                <a:ea typeface="Meiryo"/>
                <a:cs typeface="Meiryo"/>
              </a:rPr>
              <a:t>代表</a:t>
            </a:r>
            <a:endParaRPr sz="2400" b="1" dirty="0">
              <a:solidFill>
                <a:srgbClr val="0072B2"/>
              </a:solidFill>
              <a:latin typeface="Meiryo"/>
              <a:ea typeface="Meiryo"/>
              <a:cs typeface="Meiryo"/>
            </a:endParaRPr>
          </a:p>
        </p:txBody>
      </p:sp>
      <p:sp>
        <p:nvSpPr>
          <p:cNvPr id="46" name="TextBox 45">
            <a:extLst>
              <a:ext uri="{FF2B5EF4-FFF2-40B4-BE49-F238E27FC236}">
                <a16:creationId xmlns:a16="http://schemas.microsoft.com/office/drawing/2014/main" id="{2CE67400-24AF-9195-3A1D-D45B3E286791}"/>
              </a:ext>
            </a:extLst>
          </p:cNvPr>
          <p:cNvSpPr txBox="1"/>
          <p:nvPr/>
        </p:nvSpPr>
        <p:spPr>
          <a:xfrm>
            <a:off x="685800" y="2340864"/>
            <a:ext cx="5166360" cy="467563"/>
          </a:xfrm>
          <a:prstGeom prst="rect">
            <a:avLst/>
          </a:prstGeom>
          <a:noFill/>
        </p:spPr>
        <p:txBody>
          <a:bodyPr wrap="square" lIns="0" tIns="0" rIns="0" bIns="0" anchor="t">
            <a:spAutoFit/>
          </a:bodyPr>
          <a:lstStyle/>
          <a:p>
            <a:pPr algn="l">
              <a:spcAft>
                <a:spcPts val="0"/>
              </a:spcAft>
            </a:pPr>
            <a:r>
              <a:rPr sz="2600" b="1" dirty="0">
                <a:solidFill>
                  <a:srgbClr val="262626"/>
                </a:solidFill>
                <a:latin typeface="Meiryo"/>
                <a:ea typeface="Meiryo"/>
                <a:cs typeface="Meiryo"/>
              </a:rPr>
              <a:t>残差平方和</a:t>
            </a:r>
          </a:p>
        </p:txBody>
      </p:sp>
      <p:cxnSp>
        <p:nvCxnSpPr>
          <p:cNvPr id="47" name="Connector 46">
            <a:extLst>
              <a:ext uri="{FF2B5EF4-FFF2-40B4-BE49-F238E27FC236}">
                <a16:creationId xmlns:a16="http://schemas.microsoft.com/office/drawing/2014/main" id="{0C5F7BB2-283E-19F9-D1FE-7A4154962448}"/>
              </a:ext>
            </a:extLst>
          </p:cNvPr>
          <p:cNvCxnSpPr/>
          <p:nvPr/>
        </p:nvCxnSpPr>
        <p:spPr>
          <a:xfrm flipV="1">
            <a:off x="936711" y="4003438"/>
            <a:ext cx="0" cy="252754"/>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48" name="Connector 47">
            <a:extLst>
              <a:ext uri="{FF2B5EF4-FFF2-40B4-BE49-F238E27FC236}">
                <a16:creationId xmlns:a16="http://schemas.microsoft.com/office/drawing/2014/main" id="{3FBB72E6-59BE-76CE-9C21-9D310AF91689}"/>
              </a:ext>
            </a:extLst>
          </p:cNvPr>
          <p:cNvCxnSpPr/>
          <p:nvPr/>
        </p:nvCxnSpPr>
        <p:spPr>
          <a:xfrm flipV="1">
            <a:off x="1175918" y="3724096"/>
            <a:ext cx="0" cy="112063"/>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49" name="Connector 48">
            <a:extLst>
              <a:ext uri="{FF2B5EF4-FFF2-40B4-BE49-F238E27FC236}">
                <a16:creationId xmlns:a16="http://schemas.microsoft.com/office/drawing/2014/main" id="{DB40EAC0-9777-2C09-43FA-DFB3D5DEA7E1}"/>
              </a:ext>
            </a:extLst>
          </p:cNvPr>
          <p:cNvCxnSpPr/>
          <p:nvPr/>
        </p:nvCxnSpPr>
        <p:spPr>
          <a:xfrm>
            <a:off x="1415125" y="3209190"/>
            <a:ext cx="0" cy="208800"/>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50" name="Connector 49">
            <a:extLst>
              <a:ext uri="{FF2B5EF4-FFF2-40B4-BE49-F238E27FC236}">
                <a16:creationId xmlns:a16="http://schemas.microsoft.com/office/drawing/2014/main" id="{9E928DA5-C63D-6E0E-680E-94740CA3140D}"/>
              </a:ext>
            </a:extLst>
          </p:cNvPr>
          <p:cNvCxnSpPr/>
          <p:nvPr/>
        </p:nvCxnSpPr>
        <p:spPr>
          <a:xfrm>
            <a:off x="1654332" y="3035574"/>
            <a:ext cx="0" cy="157834"/>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51" name="Connector 50">
            <a:extLst>
              <a:ext uri="{FF2B5EF4-FFF2-40B4-BE49-F238E27FC236}">
                <a16:creationId xmlns:a16="http://schemas.microsoft.com/office/drawing/2014/main" id="{87C280A4-12F7-C399-0497-4E9FDC8192E2}"/>
              </a:ext>
            </a:extLst>
          </p:cNvPr>
          <p:cNvCxnSpPr/>
          <p:nvPr/>
        </p:nvCxnSpPr>
        <p:spPr>
          <a:xfrm flipV="1">
            <a:off x="1893539" y="3149679"/>
            <a:ext cx="0" cy="271177"/>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52" name="Connector 51">
            <a:extLst>
              <a:ext uri="{FF2B5EF4-FFF2-40B4-BE49-F238E27FC236}">
                <a16:creationId xmlns:a16="http://schemas.microsoft.com/office/drawing/2014/main" id="{4B8A604C-3968-0129-236E-B0423E8B35BB}"/>
              </a:ext>
            </a:extLst>
          </p:cNvPr>
          <p:cNvCxnSpPr/>
          <p:nvPr/>
        </p:nvCxnSpPr>
        <p:spPr>
          <a:xfrm flipV="1">
            <a:off x="2132746" y="3307731"/>
            <a:ext cx="0" cy="479409"/>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53" name="Connector 52">
            <a:extLst>
              <a:ext uri="{FF2B5EF4-FFF2-40B4-BE49-F238E27FC236}">
                <a16:creationId xmlns:a16="http://schemas.microsoft.com/office/drawing/2014/main" id="{8C671B60-2AEF-DF33-DD70-5B7D33D1F88E}"/>
              </a:ext>
            </a:extLst>
          </p:cNvPr>
          <p:cNvCxnSpPr/>
          <p:nvPr/>
        </p:nvCxnSpPr>
        <p:spPr>
          <a:xfrm flipV="1">
            <a:off x="2371953" y="3594282"/>
            <a:ext cx="0" cy="186054"/>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54" name="Connector 53">
            <a:extLst>
              <a:ext uri="{FF2B5EF4-FFF2-40B4-BE49-F238E27FC236}">
                <a16:creationId xmlns:a16="http://schemas.microsoft.com/office/drawing/2014/main" id="{04FF3033-3842-AD93-79BE-6D456D11E65B}"/>
              </a:ext>
            </a:extLst>
          </p:cNvPr>
          <p:cNvCxnSpPr/>
          <p:nvPr/>
        </p:nvCxnSpPr>
        <p:spPr>
          <a:xfrm>
            <a:off x="2611160" y="3852060"/>
            <a:ext cx="0" cy="43474"/>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55" name="Connector 54">
            <a:extLst>
              <a:ext uri="{FF2B5EF4-FFF2-40B4-BE49-F238E27FC236}">
                <a16:creationId xmlns:a16="http://schemas.microsoft.com/office/drawing/2014/main" id="{C332AF07-7CB4-8491-9BC4-884C172BD60D}"/>
              </a:ext>
            </a:extLst>
          </p:cNvPr>
          <p:cNvCxnSpPr/>
          <p:nvPr/>
        </p:nvCxnSpPr>
        <p:spPr>
          <a:xfrm>
            <a:off x="2850367" y="4022951"/>
            <a:ext cx="0" cy="105093"/>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56" name="Connector 55">
            <a:extLst>
              <a:ext uri="{FF2B5EF4-FFF2-40B4-BE49-F238E27FC236}">
                <a16:creationId xmlns:a16="http://schemas.microsoft.com/office/drawing/2014/main" id="{93027837-DBCA-9DE1-9D3E-A681E123394C}"/>
              </a:ext>
            </a:extLst>
          </p:cNvPr>
          <p:cNvCxnSpPr/>
          <p:nvPr/>
        </p:nvCxnSpPr>
        <p:spPr>
          <a:xfrm>
            <a:off x="3089574" y="4225195"/>
            <a:ext cx="0" cy="43472"/>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57" name="Connector 56">
            <a:extLst>
              <a:ext uri="{FF2B5EF4-FFF2-40B4-BE49-F238E27FC236}">
                <a16:creationId xmlns:a16="http://schemas.microsoft.com/office/drawing/2014/main" id="{97119BCC-BE3D-F7F1-6031-5B47B9123B30}"/>
              </a:ext>
            </a:extLst>
          </p:cNvPr>
          <p:cNvCxnSpPr/>
          <p:nvPr/>
        </p:nvCxnSpPr>
        <p:spPr>
          <a:xfrm>
            <a:off x="3328781" y="4277185"/>
            <a:ext cx="0" cy="59989"/>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58" name="Connector 57">
            <a:extLst>
              <a:ext uri="{FF2B5EF4-FFF2-40B4-BE49-F238E27FC236}">
                <a16:creationId xmlns:a16="http://schemas.microsoft.com/office/drawing/2014/main" id="{896FFA0C-8661-2CFF-7E65-537DAEBC3EAF}"/>
              </a:ext>
            </a:extLst>
          </p:cNvPr>
          <p:cNvCxnSpPr/>
          <p:nvPr/>
        </p:nvCxnSpPr>
        <p:spPr>
          <a:xfrm flipV="1">
            <a:off x="3567988" y="4364442"/>
            <a:ext cx="0" cy="8070"/>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59" name="Connector 58">
            <a:extLst>
              <a:ext uri="{FF2B5EF4-FFF2-40B4-BE49-F238E27FC236}">
                <a16:creationId xmlns:a16="http://schemas.microsoft.com/office/drawing/2014/main" id="{D327BE8C-52DA-21EA-3A37-24218C104531}"/>
              </a:ext>
            </a:extLst>
          </p:cNvPr>
          <p:cNvCxnSpPr/>
          <p:nvPr/>
        </p:nvCxnSpPr>
        <p:spPr>
          <a:xfrm>
            <a:off x="3807195" y="4370423"/>
            <a:ext cx="0" cy="2960"/>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60" name="Connector 59">
            <a:extLst>
              <a:ext uri="{FF2B5EF4-FFF2-40B4-BE49-F238E27FC236}">
                <a16:creationId xmlns:a16="http://schemas.microsoft.com/office/drawing/2014/main" id="{BBAF8EE3-D898-573B-712A-DCE87FF85F83}"/>
              </a:ext>
            </a:extLst>
          </p:cNvPr>
          <p:cNvCxnSpPr/>
          <p:nvPr/>
        </p:nvCxnSpPr>
        <p:spPr>
          <a:xfrm>
            <a:off x="4046402" y="4365397"/>
            <a:ext cx="0" cy="10415"/>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61" name="Connector 60">
            <a:extLst>
              <a:ext uri="{FF2B5EF4-FFF2-40B4-BE49-F238E27FC236}">
                <a16:creationId xmlns:a16="http://schemas.microsoft.com/office/drawing/2014/main" id="{059FC0BB-E0F0-3A77-0E4D-18371AC1FFB4}"/>
              </a:ext>
            </a:extLst>
          </p:cNvPr>
          <p:cNvCxnSpPr/>
          <p:nvPr/>
        </p:nvCxnSpPr>
        <p:spPr>
          <a:xfrm flipV="1">
            <a:off x="4285609" y="4376360"/>
            <a:ext cx="0" cy="2369"/>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62" name="Connector 61">
            <a:extLst>
              <a:ext uri="{FF2B5EF4-FFF2-40B4-BE49-F238E27FC236}">
                <a16:creationId xmlns:a16="http://schemas.microsoft.com/office/drawing/2014/main" id="{30277475-E665-1B0B-C68E-8AD8CDB203D2}"/>
              </a:ext>
            </a:extLst>
          </p:cNvPr>
          <p:cNvCxnSpPr/>
          <p:nvPr/>
        </p:nvCxnSpPr>
        <p:spPr>
          <a:xfrm flipV="1">
            <a:off x="4524816" y="4376463"/>
            <a:ext cx="0" cy="289"/>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63" name="Connector 62">
            <a:extLst>
              <a:ext uri="{FF2B5EF4-FFF2-40B4-BE49-F238E27FC236}">
                <a16:creationId xmlns:a16="http://schemas.microsoft.com/office/drawing/2014/main" id="{F490D6D6-0288-3AC6-5B31-8139E76F35A6}"/>
              </a:ext>
            </a:extLst>
          </p:cNvPr>
          <p:cNvCxnSpPr/>
          <p:nvPr/>
        </p:nvCxnSpPr>
        <p:spPr>
          <a:xfrm>
            <a:off x="4764024" y="4349802"/>
            <a:ext cx="0" cy="26677"/>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64" name="Connector 63">
            <a:extLst>
              <a:ext uri="{FF2B5EF4-FFF2-40B4-BE49-F238E27FC236}">
                <a16:creationId xmlns:a16="http://schemas.microsoft.com/office/drawing/2014/main" id="{89BB81E9-60E7-FAAF-E4EF-ADB224F66F9C}"/>
              </a:ext>
            </a:extLst>
          </p:cNvPr>
          <p:cNvCxnSpPr/>
          <p:nvPr/>
        </p:nvCxnSpPr>
        <p:spPr>
          <a:xfrm>
            <a:off x="5003231" y="4370631"/>
            <a:ext cx="0" cy="5850"/>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65" name="Connector 64">
            <a:extLst>
              <a:ext uri="{FF2B5EF4-FFF2-40B4-BE49-F238E27FC236}">
                <a16:creationId xmlns:a16="http://schemas.microsoft.com/office/drawing/2014/main" id="{825B157E-B150-405B-953D-6F5BB80A6323}"/>
              </a:ext>
            </a:extLst>
          </p:cNvPr>
          <p:cNvCxnSpPr/>
          <p:nvPr/>
        </p:nvCxnSpPr>
        <p:spPr>
          <a:xfrm>
            <a:off x="5242438" y="4355724"/>
            <a:ext cx="0" cy="20757"/>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66" name="Connector 65">
            <a:extLst>
              <a:ext uri="{FF2B5EF4-FFF2-40B4-BE49-F238E27FC236}">
                <a16:creationId xmlns:a16="http://schemas.microsoft.com/office/drawing/2014/main" id="{3C57A991-AAAF-E2B0-75E0-61FFCDB35635}"/>
              </a:ext>
            </a:extLst>
          </p:cNvPr>
          <p:cNvCxnSpPr/>
          <p:nvPr/>
        </p:nvCxnSpPr>
        <p:spPr>
          <a:xfrm>
            <a:off x="5481645" y="4366418"/>
            <a:ext cx="0" cy="10063"/>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sp>
        <p:nvSpPr>
          <p:cNvPr id="3" name="Freeform 2">
            <a:extLst>
              <a:ext uri="{FF2B5EF4-FFF2-40B4-BE49-F238E27FC236}">
                <a16:creationId xmlns:a16="http://schemas.microsoft.com/office/drawing/2014/main" id="{A9662F63-A171-267E-F861-2724C72E1A1A}"/>
              </a:ext>
            </a:extLst>
          </p:cNvPr>
          <p:cNvSpPr/>
          <p:nvPr/>
        </p:nvSpPr>
        <p:spPr>
          <a:xfrm>
            <a:off x="777240" y="3002890"/>
            <a:ext cx="4963546" cy="1408544"/>
          </a:xfrm>
          <a:custGeom>
            <a:avLst/>
            <a:gdLst/>
            <a:ahLst/>
            <a:cxnLst/>
            <a:rect l="l" t="t" r="r" b="b"/>
            <a:pathLst>
              <a:path w="4963546" h="1408544">
                <a:moveTo>
                  <a:pt x="0" y="1302885"/>
                </a:moveTo>
                <a:lnTo>
                  <a:pt x="19933" y="1370850"/>
                </a:lnTo>
                <a:lnTo>
                  <a:pt x="39867" y="1313930"/>
                </a:lnTo>
                <a:lnTo>
                  <a:pt x="59801" y="1320459"/>
                </a:lnTo>
                <a:lnTo>
                  <a:pt x="79735" y="1307578"/>
                </a:lnTo>
                <a:lnTo>
                  <a:pt x="99669" y="1291147"/>
                </a:lnTo>
                <a:lnTo>
                  <a:pt x="119603" y="1306383"/>
                </a:lnTo>
                <a:lnTo>
                  <a:pt x="139537" y="1261049"/>
                </a:lnTo>
                <a:lnTo>
                  <a:pt x="159471" y="1253302"/>
                </a:lnTo>
                <a:lnTo>
                  <a:pt x="179405" y="1164615"/>
                </a:lnTo>
                <a:lnTo>
                  <a:pt x="199339" y="1192755"/>
                </a:lnTo>
                <a:lnTo>
                  <a:pt x="219273" y="1177350"/>
                </a:lnTo>
                <a:lnTo>
                  <a:pt x="239207" y="1148852"/>
                </a:lnTo>
                <a:lnTo>
                  <a:pt x="259140" y="1125293"/>
                </a:lnTo>
                <a:lnTo>
                  <a:pt x="279074" y="1099138"/>
                </a:lnTo>
                <a:lnTo>
                  <a:pt x="299008" y="1053173"/>
                </a:lnTo>
                <a:lnTo>
                  <a:pt x="318942" y="1001188"/>
                </a:lnTo>
                <a:lnTo>
                  <a:pt x="338876" y="972683"/>
                </a:lnTo>
                <a:lnTo>
                  <a:pt x="358810" y="910371"/>
                </a:lnTo>
                <a:lnTo>
                  <a:pt x="378744" y="884193"/>
                </a:lnTo>
                <a:lnTo>
                  <a:pt x="398678" y="833269"/>
                </a:lnTo>
                <a:lnTo>
                  <a:pt x="418612" y="759196"/>
                </a:lnTo>
                <a:lnTo>
                  <a:pt x="438546" y="724685"/>
                </a:lnTo>
                <a:lnTo>
                  <a:pt x="458480" y="689633"/>
                </a:lnTo>
                <a:lnTo>
                  <a:pt x="478414" y="631152"/>
                </a:lnTo>
                <a:lnTo>
                  <a:pt x="498348" y="565527"/>
                </a:lnTo>
                <a:lnTo>
                  <a:pt x="518281" y="488777"/>
                </a:lnTo>
                <a:lnTo>
                  <a:pt x="538215" y="471171"/>
                </a:lnTo>
                <a:lnTo>
                  <a:pt x="558149" y="417903"/>
                </a:lnTo>
                <a:lnTo>
                  <a:pt x="578083" y="346004"/>
                </a:lnTo>
                <a:lnTo>
                  <a:pt x="598017" y="327161"/>
                </a:lnTo>
                <a:lnTo>
                  <a:pt x="617951" y="270053"/>
                </a:lnTo>
                <a:lnTo>
                  <a:pt x="637885" y="206300"/>
                </a:lnTo>
                <a:lnTo>
                  <a:pt x="657819" y="169985"/>
                </a:lnTo>
                <a:lnTo>
                  <a:pt x="677753" y="140471"/>
                </a:lnTo>
                <a:lnTo>
                  <a:pt x="697687" y="97666"/>
                </a:lnTo>
                <a:lnTo>
                  <a:pt x="717621" y="126012"/>
                </a:lnTo>
                <a:lnTo>
                  <a:pt x="737555" y="39067"/>
                </a:lnTo>
                <a:lnTo>
                  <a:pt x="757488" y="52472"/>
                </a:lnTo>
                <a:lnTo>
                  <a:pt x="777422" y="50300"/>
                </a:lnTo>
                <a:lnTo>
                  <a:pt x="797356" y="10056"/>
                </a:lnTo>
                <a:lnTo>
                  <a:pt x="817290" y="0"/>
                </a:lnTo>
                <a:lnTo>
                  <a:pt x="837224" y="20869"/>
                </a:lnTo>
                <a:lnTo>
                  <a:pt x="857158" y="38481"/>
                </a:lnTo>
                <a:lnTo>
                  <a:pt x="877092" y="32684"/>
                </a:lnTo>
                <a:lnTo>
                  <a:pt x="897026" y="50863"/>
                </a:lnTo>
                <a:lnTo>
                  <a:pt x="916960" y="48250"/>
                </a:lnTo>
                <a:lnTo>
                  <a:pt x="936894" y="84180"/>
                </a:lnTo>
                <a:lnTo>
                  <a:pt x="956828" y="121917"/>
                </a:lnTo>
                <a:lnTo>
                  <a:pt x="976762" y="138649"/>
                </a:lnTo>
                <a:lnTo>
                  <a:pt x="996696" y="194463"/>
                </a:lnTo>
                <a:lnTo>
                  <a:pt x="1016629" y="242561"/>
                </a:lnTo>
                <a:lnTo>
                  <a:pt x="1036563" y="255721"/>
                </a:lnTo>
                <a:lnTo>
                  <a:pt x="1056497" y="294588"/>
                </a:lnTo>
                <a:lnTo>
                  <a:pt x="1076431" y="346960"/>
                </a:lnTo>
                <a:lnTo>
                  <a:pt x="1096365" y="395596"/>
                </a:lnTo>
                <a:lnTo>
                  <a:pt x="1116299" y="417966"/>
                </a:lnTo>
                <a:lnTo>
                  <a:pt x="1136233" y="500529"/>
                </a:lnTo>
                <a:lnTo>
                  <a:pt x="1156167" y="485301"/>
                </a:lnTo>
                <a:lnTo>
                  <a:pt x="1176101" y="523801"/>
                </a:lnTo>
                <a:lnTo>
                  <a:pt x="1196035" y="592026"/>
                </a:lnTo>
                <a:lnTo>
                  <a:pt x="1215969" y="595562"/>
                </a:lnTo>
                <a:lnTo>
                  <a:pt x="1235903" y="641395"/>
                </a:lnTo>
                <a:lnTo>
                  <a:pt x="1255836" y="639949"/>
                </a:lnTo>
                <a:lnTo>
                  <a:pt x="1275770" y="709808"/>
                </a:lnTo>
                <a:lnTo>
                  <a:pt x="1295704" y="713252"/>
                </a:lnTo>
                <a:lnTo>
                  <a:pt x="1315638" y="705980"/>
                </a:lnTo>
                <a:lnTo>
                  <a:pt x="1335572" y="715536"/>
                </a:lnTo>
                <a:lnTo>
                  <a:pt x="1355506" y="784250"/>
                </a:lnTo>
                <a:lnTo>
                  <a:pt x="1375440" y="769457"/>
                </a:lnTo>
                <a:lnTo>
                  <a:pt x="1395374" y="766249"/>
                </a:lnTo>
                <a:lnTo>
                  <a:pt x="1415308" y="789991"/>
                </a:lnTo>
                <a:lnTo>
                  <a:pt x="1435242" y="760771"/>
                </a:lnTo>
                <a:lnTo>
                  <a:pt x="1455176" y="811500"/>
                </a:lnTo>
                <a:lnTo>
                  <a:pt x="1475110" y="790220"/>
                </a:lnTo>
                <a:lnTo>
                  <a:pt x="1495044" y="816080"/>
                </a:lnTo>
                <a:lnTo>
                  <a:pt x="1514977" y="778044"/>
                </a:lnTo>
                <a:lnTo>
                  <a:pt x="1534911" y="802823"/>
                </a:lnTo>
                <a:lnTo>
                  <a:pt x="1554845" y="809561"/>
                </a:lnTo>
                <a:lnTo>
                  <a:pt x="1574779" y="832324"/>
                </a:lnTo>
                <a:lnTo>
                  <a:pt x="1594713" y="777446"/>
                </a:lnTo>
                <a:lnTo>
                  <a:pt x="1614647" y="793431"/>
                </a:lnTo>
                <a:lnTo>
                  <a:pt x="1634581" y="794470"/>
                </a:lnTo>
                <a:lnTo>
                  <a:pt x="1654515" y="789627"/>
                </a:lnTo>
                <a:lnTo>
                  <a:pt x="1674449" y="804465"/>
                </a:lnTo>
                <a:lnTo>
                  <a:pt x="1694383" y="823178"/>
                </a:lnTo>
                <a:lnTo>
                  <a:pt x="1714317" y="829060"/>
                </a:lnTo>
                <a:lnTo>
                  <a:pt x="1734251" y="833074"/>
                </a:lnTo>
                <a:lnTo>
                  <a:pt x="1754184" y="802430"/>
                </a:lnTo>
                <a:lnTo>
                  <a:pt x="1774118" y="854381"/>
                </a:lnTo>
                <a:lnTo>
                  <a:pt x="1794052" y="846818"/>
                </a:lnTo>
                <a:lnTo>
                  <a:pt x="1813986" y="849767"/>
                </a:lnTo>
                <a:lnTo>
                  <a:pt x="1833920" y="849170"/>
                </a:lnTo>
                <a:lnTo>
                  <a:pt x="1853854" y="852627"/>
                </a:lnTo>
                <a:lnTo>
                  <a:pt x="1873788" y="892477"/>
                </a:lnTo>
                <a:lnTo>
                  <a:pt x="1893722" y="911167"/>
                </a:lnTo>
                <a:lnTo>
                  <a:pt x="1913656" y="894545"/>
                </a:lnTo>
                <a:lnTo>
                  <a:pt x="1933590" y="886925"/>
                </a:lnTo>
                <a:lnTo>
                  <a:pt x="1953524" y="907321"/>
                </a:lnTo>
                <a:lnTo>
                  <a:pt x="1973458" y="929687"/>
                </a:lnTo>
                <a:lnTo>
                  <a:pt x="1993392" y="952427"/>
                </a:lnTo>
                <a:lnTo>
                  <a:pt x="2013325" y="956924"/>
                </a:lnTo>
                <a:lnTo>
                  <a:pt x="2033259" y="980540"/>
                </a:lnTo>
                <a:lnTo>
                  <a:pt x="2053193" y="978349"/>
                </a:lnTo>
                <a:lnTo>
                  <a:pt x="2073127" y="1020061"/>
                </a:lnTo>
                <a:lnTo>
                  <a:pt x="2093061" y="1020402"/>
                </a:lnTo>
                <a:lnTo>
                  <a:pt x="2112995" y="1040008"/>
                </a:lnTo>
                <a:lnTo>
                  <a:pt x="2132929" y="1044927"/>
                </a:lnTo>
                <a:lnTo>
                  <a:pt x="2152863" y="1065693"/>
                </a:lnTo>
                <a:lnTo>
                  <a:pt x="2172797" y="1043120"/>
                </a:lnTo>
                <a:lnTo>
                  <a:pt x="2192731" y="1075564"/>
                </a:lnTo>
                <a:lnTo>
                  <a:pt x="2212665" y="1090619"/>
                </a:lnTo>
                <a:lnTo>
                  <a:pt x="2232599" y="1163159"/>
                </a:lnTo>
                <a:lnTo>
                  <a:pt x="2252532" y="1149790"/>
                </a:lnTo>
                <a:lnTo>
                  <a:pt x="2272466" y="1168206"/>
                </a:lnTo>
                <a:lnTo>
                  <a:pt x="2292400" y="1163169"/>
                </a:lnTo>
                <a:lnTo>
                  <a:pt x="2312334" y="1222305"/>
                </a:lnTo>
                <a:lnTo>
                  <a:pt x="2332268" y="1178559"/>
                </a:lnTo>
                <a:lnTo>
                  <a:pt x="2352202" y="1192528"/>
                </a:lnTo>
                <a:lnTo>
                  <a:pt x="2372136" y="1242951"/>
                </a:lnTo>
                <a:lnTo>
                  <a:pt x="2392070" y="1248838"/>
                </a:lnTo>
                <a:lnTo>
                  <a:pt x="2412004" y="1256580"/>
                </a:lnTo>
                <a:lnTo>
                  <a:pt x="2431938" y="1252880"/>
                </a:lnTo>
                <a:lnTo>
                  <a:pt x="2451872" y="1252674"/>
                </a:lnTo>
                <a:lnTo>
                  <a:pt x="2471806" y="1238703"/>
                </a:lnTo>
                <a:lnTo>
                  <a:pt x="2491740" y="1283898"/>
                </a:lnTo>
                <a:lnTo>
                  <a:pt x="2511673" y="1276097"/>
                </a:lnTo>
                <a:lnTo>
                  <a:pt x="2531607" y="1293561"/>
                </a:lnTo>
                <a:lnTo>
                  <a:pt x="2551541" y="1274295"/>
                </a:lnTo>
                <a:lnTo>
                  <a:pt x="2571475" y="1297408"/>
                </a:lnTo>
                <a:lnTo>
                  <a:pt x="2591409" y="1293180"/>
                </a:lnTo>
                <a:lnTo>
                  <a:pt x="2611343" y="1338729"/>
                </a:lnTo>
                <a:lnTo>
                  <a:pt x="2631277" y="1329391"/>
                </a:lnTo>
                <a:lnTo>
                  <a:pt x="2651211" y="1344277"/>
                </a:lnTo>
                <a:lnTo>
                  <a:pt x="2671145" y="1310716"/>
                </a:lnTo>
                <a:lnTo>
                  <a:pt x="2691079" y="1328540"/>
                </a:lnTo>
                <a:lnTo>
                  <a:pt x="2711013" y="1347907"/>
                </a:lnTo>
                <a:lnTo>
                  <a:pt x="2730947" y="1353621"/>
                </a:lnTo>
                <a:lnTo>
                  <a:pt x="2750880" y="1341306"/>
                </a:lnTo>
                <a:lnTo>
                  <a:pt x="2770814" y="1363417"/>
                </a:lnTo>
                <a:lnTo>
                  <a:pt x="2790748" y="1369622"/>
                </a:lnTo>
                <a:lnTo>
                  <a:pt x="2810682" y="1348763"/>
                </a:lnTo>
                <a:lnTo>
                  <a:pt x="2830616" y="1318363"/>
                </a:lnTo>
                <a:lnTo>
                  <a:pt x="2850550" y="1364437"/>
                </a:lnTo>
                <a:lnTo>
                  <a:pt x="2870484" y="1371101"/>
                </a:lnTo>
                <a:lnTo>
                  <a:pt x="2890418" y="1382587"/>
                </a:lnTo>
                <a:lnTo>
                  <a:pt x="2910352" y="1386538"/>
                </a:lnTo>
                <a:lnTo>
                  <a:pt x="2930286" y="1357265"/>
                </a:lnTo>
                <a:lnTo>
                  <a:pt x="2950220" y="1352941"/>
                </a:lnTo>
                <a:lnTo>
                  <a:pt x="2970154" y="1367582"/>
                </a:lnTo>
                <a:lnTo>
                  <a:pt x="2990088" y="1363076"/>
                </a:lnTo>
                <a:lnTo>
                  <a:pt x="3010021" y="1367303"/>
                </a:lnTo>
                <a:lnTo>
                  <a:pt x="3029955" y="1367533"/>
                </a:lnTo>
                <a:lnTo>
                  <a:pt x="3049889" y="1395272"/>
                </a:lnTo>
                <a:lnTo>
                  <a:pt x="3069823" y="1378274"/>
                </a:lnTo>
                <a:lnTo>
                  <a:pt x="3089757" y="1369364"/>
                </a:lnTo>
                <a:lnTo>
                  <a:pt x="3109691" y="1384335"/>
                </a:lnTo>
                <a:lnTo>
                  <a:pt x="3129625" y="1379623"/>
                </a:lnTo>
                <a:lnTo>
                  <a:pt x="3149559" y="1385485"/>
                </a:lnTo>
                <a:lnTo>
                  <a:pt x="3169493" y="1377771"/>
                </a:lnTo>
                <a:lnTo>
                  <a:pt x="3189427" y="1358569"/>
                </a:lnTo>
                <a:lnTo>
                  <a:pt x="3209361" y="1379325"/>
                </a:lnTo>
                <a:lnTo>
                  <a:pt x="3229295" y="1375337"/>
                </a:lnTo>
                <a:lnTo>
                  <a:pt x="3249228" y="1359642"/>
                </a:lnTo>
                <a:lnTo>
                  <a:pt x="3269162" y="1362507"/>
                </a:lnTo>
                <a:lnTo>
                  <a:pt x="3289096" y="1345425"/>
                </a:lnTo>
                <a:lnTo>
                  <a:pt x="3309030" y="1407380"/>
                </a:lnTo>
                <a:lnTo>
                  <a:pt x="3328964" y="1359266"/>
                </a:lnTo>
                <a:lnTo>
                  <a:pt x="3348898" y="1381209"/>
                </a:lnTo>
                <a:lnTo>
                  <a:pt x="3368832" y="1371169"/>
                </a:lnTo>
                <a:lnTo>
                  <a:pt x="3388766" y="1359715"/>
                </a:lnTo>
                <a:lnTo>
                  <a:pt x="3408700" y="1355733"/>
                </a:lnTo>
                <a:lnTo>
                  <a:pt x="3428634" y="1356477"/>
                </a:lnTo>
                <a:lnTo>
                  <a:pt x="3448568" y="1370953"/>
                </a:lnTo>
                <a:lnTo>
                  <a:pt x="3468502" y="1347196"/>
                </a:lnTo>
                <a:lnTo>
                  <a:pt x="3488436" y="1378147"/>
                </a:lnTo>
                <a:lnTo>
                  <a:pt x="3508369" y="1375839"/>
                </a:lnTo>
                <a:lnTo>
                  <a:pt x="3528303" y="1360479"/>
                </a:lnTo>
                <a:lnTo>
                  <a:pt x="3548237" y="1382566"/>
                </a:lnTo>
                <a:lnTo>
                  <a:pt x="3568171" y="1338239"/>
                </a:lnTo>
                <a:lnTo>
                  <a:pt x="3588105" y="1356907"/>
                </a:lnTo>
                <a:lnTo>
                  <a:pt x="3608039" y="1338010"/>
                </a:lnTo>
                <a:lnTo>
                  <a:pt x="3627973" y="1374010"/>
                </a:lnTo>
                <a:lnTo>
                  <a:pt x="3647907" y="1379840"/>
                </a:lnTo>
                <a:lnTo>
                  <a:pt x="3667841" y="1370850"/>
                </a:lnTo>
                <a:lnTo>
                  <a:pt x="3687775" y="1361576"/>
                </a:lnTo>
                <a:lnTo>
                  <a:pt x="3707709" y="1383187"/>
                </a:lnTo>
                <a:lnTo>
                  <a:pt x="3727643" y="1367380"/>
                </a:lnTo>
                <a:lnTo>
                  <a:pt x="3747576" y="1373862"/>
                </a:lnTo>
                <a:lnTo>
                  <a:pt x="3767510" y="1347179"/>
                </a:lnTo>
                <a:lnTo>
                  <a:pt x="3787444" y="1384421"/>
                </a:lnTo>
                <a:lnTo>
                  <a:pt x="3807378" y="1356489"/>
                </a:lnTo>
                <a:lnTo>
                  <a:pt x="3827312" y="1384114"/>
                </a:lnTo>
                <a:lnTo>
                  <a:pt x="3847246" y="1389292"/>
                </a:lnTo>
                <a:lnTo>
                  <a:pt x="3867180" y="1385201"/>
                </a:lnTo>
                <a:lnTo>
                  <a:pt x="3887114" y="1393045"/>
                </a:lnTo>
                <a:lnTo>
                  <a:pt x="3907048" y="1371199"/>
                </a:lnTo>
                <a:lnTo>
                  <a:pt x="3926982" y="1356734"/>
                </a:lnTo>
                <a:lnTo>
                  <a:pt x="3946916" y="1370905"/>
                </a:lnTo>
                <a:lnTo>
                  <a:pt x="3966850" y="1363386"/>
                </a:lnTo>
                <a:lnTo>
                  <a:pt x="3986784" y="1346912"/>
                </a:lnTo>
                <a:lnTo>
                  <a:pt x="4006717" y="1369177"/>
                </a:lnTo>
                <a:lnTo>
                  <a:pt x="4026651" y="1370401"/>
                </a:lnTo>
                <a:lnTo>
                  <a:pt x="4046585" y="1378087"/>
                </a:lnTo>
                <a:lnTo>
                  <a:pt x="4066519" y="1399879"/>
                </a:lnTo>
                <a:lnTo>
                  <a:pt x="4086453" y="1361173"/>
                </a:lnTo>
                <a:lnTo>
                  <a:pt x="4106387" y="1402302"/>
                </a:lnTo>
                <a:lnTo>
                  <a:pt x="4126321" y="1362923"/>
                </a:lnTo>
                <a:lnTo>
                  <a:pt x="4146255" y="1373825"/>
                </a:lnTo>
                <a:lnTo>
                  <a:pt x="4166189" y="1355173"/>
                </a:lnTo>
                <a:lnTo>
                  <a:pt x="4186123" y="1374699"/>
                </a:lnTo>
                <a:lnTo>
                  <a:pt x="4206057" y="1387047"/>
                </a:lnTo>
                <a:lnTo>
                  <a:pt x="4225991" y="1367741"/>
                </a:lnTo>
                <a:lnTo>
                  <a:pt x="4245924" y="1382749"/>
                </a:lnTo>
                <a:lnTo>
                  <a:pt x="4265858" y="1376549"/>
                </a:lnTo>
                <a:lnTo>
                  <a:pt x="4285792" y="1372907"/>
                </a:lnTo>
                <a:lnTo>
                  <a:pt x="4305726" y="1375791"/>
                </a:lnTo>
                <a:lnTo>
                  <a:pt x="4325660" y="1376678"/>
                </a:lnTo>
                <a:lnTo>
                  <a:pt x="4345594" y="1387198"/>
                </a:lnTo>
                <a:lnTo>
                  <a:pt x="4365528" y="1376683"/>
                </a:lnTo>
                <a:lnTo>
                  <a:pt x="4385462" y="1408544"/>
                </a:lnTo>
                <a:lnTo>
                  <a:pt x="4405396" y="1376163"/>
                </a:lnTo>
                <a:lnTo>
                  <a:pt x="4425330" y="1393174"/>
                </a:lnTo>
                <a:lnTo>
                  <a:pt x="4445264" y="1355280"/>
                </a:lnTo>
                <a:lnTo>
                  <a:pt x="4465198" y="1352834"/>
                </a:lnTo>
                <a:lnTo>
                  <a:pt x="4485132" y="1405482"/>
                </a:lnTo>
                <a:lnTo>
                  <a:pt x="4505065" y="1371223"/>
                </a:lnTo>
                <a:lnTo>
                  <a:pt x="4524999" y="1375657"/>
                </a:lnTo>
                <a:lnTo>
                  <a:pt x="4544933" y="1390701"/>
                </a:lnTo>
                <a:lnTo>
                  <a:pt x="4564867" y="1364901"/>
                </a:lnTo>
                <a:lnTo>
                  <a:pt x="4584801" y="1381138"/>
                </a:lnTo>
                <a:lnTo>
                  <a:pt x="4604735" y="1402484"/>
                </a:lnTo>
                <a:lnTo>
                  <a:pt x="4624669" y="1377950"/>
                </a:lnTo>
                <a:lnTo>
                  <a:pt x="4644603" y="1376015"/>
                </a:lnTo>
                <a:lnTo>
                  <a:pt x="4664537" y="1371852"/>
                </a:lnTo>
                <a:lnTo>
                  <a:pt x="4684471" y="1393717"/>
                </a:lnTo>
                <a:lnTo>
                  <a:pt x="4704405" y="1363528"/>
                </a:lnTo>
                <a:lnTo>
                  <a:pt x="4724339" y="1361570"/>
                </a:lnTo>
                <a:lnTo>
                  <a:pt x="4744272" y="1392321"/>
                </a:lnTo>
                <a:lnTo>
                  <a:pt x="4764206" y="1384361"/>
                </a:lnTo>
                <a:lnTo>
                  <a:pt x="4784140" y="1374905"/>
                </a:lnTo>
                <a:lnTo>
                  <a:pt x="4804074" y="1382842"/>
                </a:lnTo>
                <a:lnTo>
                  <a:pt x="4824008" y="1345089"/>
                </a:lnTo>
                <a:lnTo>
                  <a:pt x="4843942" y="1370185"/>
                </a:lnTo>
                <a:lnTo>
                  <a:pt x="4863876" y="1390110"/>
                </a:lnTo>
                <a:lnTo>
                  <a:pt x="4883810" y="1386474"/>
                </a:lnTo>
                <a:lnTo>
                  <a:pt x="4903744" y="1374531"/>
                </a:lnTo>
                <a:lnTo>
                  <a:pt x="4923678" y="1336065"/>
                </a:lnTo>
                <a:lnTo>
                  <a:pt x="4943612" y="1376505"/>
                </a:lnTo>
                <a:lnTo>
                  <a:pt x="4963546" y="1371508"/>
                </a:lnTo>
              </a:path>
            </a:pathLst>
          </a:custGeom>
          <a:noFill/>
          <a:ln w="25400">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a:extLst>
              <a:ext uri="{FF2B5EF4-FFF2-40B4-BE49-F238E27FC236}">
                <a16:creationId xmlns:a16="http://schemas.microsoft.com/office/drawing/2014/main" id="{D5A2CDD0-5587-EA15-13F3-AC5BDE0A5AF7}"/>
              </a:ext>
            </a:extLst>
          </p:cNvPr>
          <p:cNvSpPr/>
          <p:nvPr/>
        </p:nvSpPr>
        <p:spPr>
          <a:xfrm>
            <a:off x="777240" y="3140742"/>
            <a:ext cx="4963546" cy="1235739"/>
          </a:xfrm>
          <a:custGeom>
            <a:avLst/>
            <a:gdLst/>
            <a:ahLst/>
            <a:cxnLst/>
            <a:rect l="l" t="t" r="r" b="b"/>
            <a:pathLst>
              <a:path w="4963546" h="1235739">
                <a:moveTo>
                  <a:pt x="0" y="1002450"/>
                </a:moveTo>
                <a:lnTo>
                  <a:pt x="19933" y="987302"/>
                </a:lnTo>
                <a:lnTo>
                  <a:pt x="39867" y="971490"/>
                </a:lnTo>
                <a:lnTo>
                  <a:pt x="59801" y="955012"/>
                </a:lnTo>
                <a:lnTo>
                  <a:pt x="79735" y="937867"/>
                </a:lnTo>
                <a:lnTo>
                  <a:pt x="99669" y="920057"/>
                </a:lnTo>
                <a:lnTo>
                  <a:pt x="119603" y="901586"/>
                </a:lnTo>
                <a:lnTo>
                  <a:pt x="139537" y="882463"/>
                </a:lnTo>
                <a:lnTo>
                  <a:pt x="159471" y="862696"/>
                </a:lnTo>
                <a:lnTo>
                  <a:pt x="179405" y="842300"/>
                </a:lnTo>
                <a:lnTo>
                  <a:pt x="199339" y="821291"/>
                </a:lnTo>
                <a:lnTo>
                  <a:pt x="219273" y="799687"/>
                </a:lnTo>
                <a:lnTo>
                  <a:pt x="239207" y="777512"/>
                </a:lnTo>
                <a:lnTo>
                  <a:pt x="259140" y="754792"/>
                </a:lnTo>
                <a:lnTo>
                  <a:pt x="279074" y="731555"/>
                </a:lnTo>
                <a:lnTo>
                  <a:pt x="299008" y="707835"/>
                </a:lnTo>
                <a:lnTo>
                  <a:pt x="318942" y="683667"/>
                </a:lnTo>
                <a:lnTo>
                  <a:pt x="338876" y="659091"/>
                </a:lnTo>
                <a:lnTo>
                  <a:pt x="358810" y="634149"/>
                </a:lnTo>
                <a:lnTo>
                  <a:pt x="378744" y="608887"/>
                </a:lnTo>
                <a:lnTo>
                  <a:pt x="398678" y="583354"/>
                </a:lnTo>
                <a:lnTo>
                  <a:pt x="418612" y="557602"/>
                </a:lnTo>
                <a:lnTo>
                  <a:pt x="438546" y="531686"/>
                </a:lnTo>
                <a:lnTo>
                  <a:pt x="458480" y="505663"/>
                </a:lnTo>
                <a:lnTo>
                  <a:pt x="478414" y="479594"/>
                </a:lnTo>
                <a:lnTo>
                  <a:pt x="498348" y="453540"/>
                </a:lnTo>
                <a:lnTo>
                  <a:pt x="518281" y="427567"/>
                </a:lnTo>
                <a:lnTo>
                  <a:pt x="538215" y="401742"/>
                </a:lnTo>
                <a:lnTo>
                  <a:pt x="558149" y="376132"/>
                </a:lnTo>
                <a:lnTo>
                  <a:pt x="578083" y="350806"/>
                </a:lnTo>
                <a:lnTo>
                  <a:pt x="598017" y="325836"/>
                </a:lnTo>
                <a:lnTo>
                  <a:pt x="617951" y="301293"/>
                </a:lnTo>
                <a:lnTo>
                  <a:pt x="637885" y="277248"/>
                </a:lnTo>
                <a:lnTo>
                  <a:pt x="657819" y="253773"/>
                </a:lnTo>
                <a:lnTo>
                  <a:pt x="677753" y="230939"/>
                </a:lnTo>
                <a:lnTo>
                  <a:pt x="697687" y="208817"/>
                </a:lnTo>
                <a:lnTo>
                  <a:pt x="717621" y="187478"/>
                </a:lnTo>
                <a:lnTo>
                  <a:pt x="737555" y="166989"/>
                </a:lnTo>
                <a:lnTo>
                  <a:pt x="757488" y="147417"/>
                </a:lnTo>
                <a:lnTo>
                  <a:pt x="777422" y="128826"/>
                </a:lnTo>
                <a:lnTo>
                  <a:pt x="797356" y="111279"/>
                </a:lnTo>
                <a:lnTo>
                  <a:pt x="817290" y="94835"/>
                </a:lnTo>
                <a:lnTo>
                  <a:pt x="837224" y="79550"/>
                </a:lnTo>
                <a:lnTo>
                  <a:pt x="857158" y="65478"/>
                </a:lnTo>
                <a:lnTo>
                  <a:pt x="877092" y="52666"/>
                </a:lnTo>
                <a:lnTo>
                  <a:pt x="897026" y="41159"/>
                </a:lnTo>
                <a:lnTo>
                  <a:pt x="916960" y="31000"/>
                </a:lnTo>
                <a:lnTo>
                  <a:pt x="936894" y="22223"/>
                </a:lnTo>
                <a:lnTo>
                  <a:pt x="956828" y="14860"/>
                </a:lnTo>
                <a:lnTo>
                  <a:pt x="976762" y="8937"/>
                </a:lnTo>
                <a:lnTo>
                  <a:pt x="996696" y="4476"/>
                </a:lnTo>
                <a:lnTo>
                  <a:pt x="1016629" y="1494"/>
                </a:lnTo>
                <a:lnTo>
                  <a:pt x="1036563" y="0"/>
                </a:lnTo>
                <a:lnTo>
                  <a:pt x="1056497" y="0"/>
                </a:lnTo>
                <a:lnTo>
                  <a:pt x="1076431" y="1494"/>
                </a:lnTo>
                <a:lnTo>
                  <a:pt x="1096365" y="4476"/>
                </a:lnTo>
                <a:lnTo>
                  <a:pt x="1116299" y="8937"/>
                </a:lnTo>
                <a:lnTo>
                  <a:pt x="1136233" y="14860"/>
                </a:lnTo>
                <a:lnTo>
                  <a:pt x="1156167" y="22223"/>
                </a:lnTo>
                <a:lnTo>
                  <a:pt x="1176101" y="31000"/>
                </a:lnTo>
                <a:lnTo>
                  <a:pt x="1196035" y="41159"/>
                </a:lnTo>
                <a:lnTo>
                  <a:pt x="1215969" y="52666"/>
                </a:lnTo>
                <a:lnTo>
                  <a:pt x="1235903" y="65478"/>
                </a:lnTo>
                <a:lnTo>
                  <a:pt x="1255836" y="79550"/>
                </a:lnTo>
                <a:lnTo>
                  <a:pt x="1275770" y="94835"/>
                </a:lnTo>
                <a:lnTo>
                  <a:pt x="1295704" y="111279"/>
                </a:lnTo>
                <a:lnTo>
                  <a:pt x="1315638" y="128826"/>
                </a:lnTo>
                <a:lnTo>
                  <a:pt x="1335572" y="147417"/>
                </a:lnTo>
                <a:lnTo>
                  <a:pt x="1355506" y="166989"/>
                </a:lnTo>
                <a:lnTo>
                  <a:pt x="1375440" y="187478"/>
                </a:lnTo>
                <a:lnTo>
                  <a:pt x="1395374" y="208817"/>
                </a:lnTo>
                <a:lnTo>
                  <a:pt x="1415308" y="230939"/>
                </a:lnTo>
                <a:lnTo>
                  <a:pt x="1435242" y="253773"/>
                </a:lnTo>
                <a:lnTo>
                  <a:pt x="1455176" y="277248"/>
                </a:lnTo>
                <a:lnTo>
                  <a:pt x="1475110" y="301293"/>
                </a:lnTo>
                <a:lnTo>
                  <a:pt x="1495044" y="325836"/>
                </a:lnTo>
                <a:lnTo>
                  <a:pt x="1514977" y="350806"/>
                </a:lnTo>
                <a:lnTo>
                  <a:pt x="1534911" y="376132"/>
                </a:lnTo>
                <a:lnTo>
                  <a:pt x="1554845" y="401742"/>
                </a:lnTo>
                <a:lnTo>
                  <a:pt x="1574779" y="427567"/>
                </a:lnTo>
                <a:lnTo>
                  <a:pt x="1594713" y="453540"/>
                </a:lnTo>
                <a:lnTo>
                  <a:pt x="1614647" y="479594"/>
                </a:lnTo>
                <a:lnTo>
                  <a:pt x="1634581" y="505663"/>
                </a:lnTo>
                <a:lnTo>
                  <a:pt x="1654515" y="531686"/>
                </a:lnTo>
                <a:lnTo>
                  <a:pt x="1674449" y="557602"/>
                </a:lnTo>
                <a:lnTo>
                  <a:pt x="1694383" y="583354"/>
                </a:lnTo>
                <a:lnTo>
                  <a:pt x="1714317" y="608887"/>
                </a:lnTo>
                <a:lnTo>
                  <a:pt x="1734251" y="634149"/>
                </a:lnTo>
                <a:lnTo>
                  <a:pt x="1754184" y="659091"/>
                </a:lnTo>
                <a:lnTo>
                  <a:pt x="1774118" y="683667"/>
                </a:lnTo>
                <a:lnTo>
                  <a:pt x="1794052" y="707835"/>
                </a:lnTo>
                <a:lnTo>
                  <a:pt x="1813986" y="731555"/>
                </a:lnTo>
                <a:lnTo>
                  <a:pt x="1833920" y="754792"/>
                </a:lnTo>
                <a:lnTo>
                  <a:pt x="1853854" y="777512"/>
                </a:lnTo>
                <a:lnTo>
                  <a:pt x="1873788" y="799687"/>
                </a:lnTo>
                <a:lnTo>
                  <a:pt x="1893722" y="821291"/>
                </a:lnTo>
                <a:lnTo>
                  <a:pt x="1913656" y="842300"/>
                </a:lnTo>
                <a:lnTo>
                  <a:pt x="1933590" y="862696"/>
                </a:lnTo>
                <a:lnTo>
                  <a:pt x="1953524" y="882463"/>
                </a:lnTo>
                <a:lnTo>
                  <a:pt x="1973458" y="901586"/>
                </a:lnTo>
                <a:lnTo>
                  <a:pt x="1993392" y="920057"/>
                </a:lnTo>
                <a:lnTo>
                  <a:pt x="2013325" y="937867"/>
                </a:lnTo>
                <a:lnTo>
                  <a:pt x="2033259" y="955012"/>
                </a:lnTo>
                <a:lnTo>
                  <a:pt x="2053193" y="971490"/>
                </a:lnTo>
                <a:lnTo>
                  <a:pt x="2073127" y="987302"/>
                </a:lnTo>
                <a:lnTo>
                  <a:pt x="2093061" y="1002450"/>
                </a:lnTo>
                <a:lnTo>
                  <a:pt x="2112995" y="1016939"/>
                </a:lnTo>
                <a:lnTo>
                  <a:pt x="2132929" y="1030777"/>
                </a:lnTo>
                <a:lnTo>
                  <a:pt x="2152863" y="1043971"/>
                </a:lnTo>
                <a:lnTo>
                  <a:pt x="2172797" y="1056533"/>
                </a:lnTo>
                <a:lnTo>
                  <a:pt x="2192731" y="1068475"/>
                </a:lnTo>
                <a:lnTo>
                  <a:pt x="2212665" y="1079810"/>
                </a:lnTo>
                <a:lnTo>
                  <a:pt x="2232599" y="1090552"/>
                </a:lnTo>
                <a:lnTo>
                  <a:pt x="2252532" y="1100718"/>
                </a:lnTo>
                <a:lnTo>
                  <a:pt x="2272466" y="1110323"/>
                </a:lnTo>
                <a:lnTo>
                  <a:pt x="2292400" y="1119387"/>
                </a:lnTo>
                <a:lnTo>
                  <a:pt x="2312334" y="1127925"/>
                </a:lnTo>
                <a:lnTo>
                  <a:pt x="2332268" y="1135958"/>
                </a:lnTo>
                <a:lnTo>
                  <a:pt x="2352202" y="1143504"/>
                </a:lnTo>
                <a:lnTo>
                  <a:pt x="2372136" y="1150583"/>
                </a:lnTo>
                <a:lnTo>
                  <a:pt x="2392070" y="1157213"/>
                </a:lnTo>
                <a:lnTo>
                  <a:pt x="2412004" y="1163415"/>
                </a:lnTo>
                <a:lnTo>
                  <a:pt x="2431938" y="1169207"/>
                </a:lnTo>
                <a:lnTo>
                  <a:pt x="2451872" y="1174610"/>
                </a:lnTo>
                <a:lnTo>
                  <a:pt x="2471806" y="1179641"/>
                </a:lnTo>
                <a:lnTo>
                  <a:pt x="2491740" y="1184321"/>
                </a:lnTo>
                <a:lnTo>
                  <a:pt x="2511673" y="1188668"/>
                </a:lnTo>
                <a:lnTo>
                  <a:pt x="2531607" y="1192699"/>
                </a:lnTo>
                <a:lnTo>
                  <a:pt x="2551541" y="1196432"/>
                </a:lnTo>
                <a:lnTo>
                  <a:pt x="2571475" y="1199885"/>
                </a:lnTo>
                <a:lnTo>
                  <a:pt x="2591409" y="1203074"/>
                </a:lnTo>
                <a:lnTo>
                  <a:pt x="2611343" y="1206016"/>
                </a:lnTo>
                <a:lnTo>
                  <a:pt x="2631277" y="1208725"/>
                </a:lnTo>
                <a:lnTo>
                  <a:pt x="2651211" y="1211217"/>
                </a:lnTo>
                <a:lnTo>
                  <a:pt x="2671145" y="1213506"/>
                </a:lnTo>
                <a:lnTo>
                  <a:pt x="2691079" y="1215606"/>
                </a:lnTo>
                <a:lnTo>
                  <a:pt x="2711013" y="1217530"/>
                </a:lnTo>
                <a:lnTo>
                  <a:pt x="2730947" y="1219289"/>
                </a:lnTo>
                <a:lnTo>
                  <a:pt x="2750880" y="1220897"/>
                </a:lnTo>
                <a:lnTo>
                  <a:pt x="2770814" y="1222364"/>
                </a:lnTo>
                <a:lnTo>
                  <a:pt x="2790748" y="1223700"/>
                </a:lnTo>
                <a:lnTo>
                  <a:pt x="2810682" y="1224916"/>
                </a:lnTo>
                <a:lnTo>
                  <a:pt x="2830616" y="1226021"/>
                </a:lnTo>
                <a:lnTo>
                  <a:pt x="2850550" y="1227023"/>
                </a:lnTo>
                <a:lnTo>
                  <a:pt x="2870484" y="1227932"/>
                </a:lnTo>
                <a:lnTo>
                  <a:pt x="2890418" y="1228754"/>
                </a:lnTo>
                <a:lnTo>
                  <a:pt x="2910352" y="1229498"/>
                </a:lnTo>
                <a:lnTo>
                  <a:pt x="2930286" y="1230169"/>
                </a:lnTo>
                <a:lnTo>
                  <a:pt x="2950220" y="1230774"/>
                </a:lnTo>
                <a:lnTo>
                  <a:pt x="2970154" y="1231318"/>
                </a:lnTo>
                <a:lnTo>
                  <a:pt x="2990088" y="1231808"/>
                </a:lnTo>
                <a:lnTo>
                  <a:pt x="3010021" y="1232247"/>
                </a:lnTo>
                <a:lnTo>
                  <a:pt x="3029955" y="1232641"/>
                </a:lnTo>
                <a:lnTo>
                  <a:pt x="3049889" y="1232994"/>
                </a:lnTo>
                <a:lnTo>
                  <a:pt x="3069823" y="1233310"/>
                </a:lnTo>
                <a:lnTo>
                  <a:pt x="3089757" y="1233592"/>
                </a:lnTo>
                <a:lnTo>
                  <a:pt x="3109691" y="1233844"/>
                </a:lnTo>
                <a:lnTo>
                  <a:pt x="3129625" y="1234068"/>
                </a:lnTo>
                <a:lnTo>
                  <a:pt x="3149559" y="1234267"/>
                </a:lnTo>
                <a:lnTo>
                  <a:pt x="3169493" y="1234444"/>
                </a:lnTo>
                <a:lnTo>
                  <a:pt x="3189427" y="1234602"/>
                </a:lnTo>
                <a:lnTo>
                  <a:pt x="3209361" y="1234741"/>
                </a:lnTo>
                <a:lnTo>
                  <a:pt x="3229295" y="1234864"/>
                </a:lnTo>
                <a:lnTo>
                  <a:pt x="3249228" y="1234973"/>
                </a:lnTo>
                <a:lnTo>
                  <a:pt x="3269162" y="1235070"/>
                </a:lnTo>
                <a:lnTo>
                  <a:pt x="3289096" y="1235155"/>
                </a:lnTo>
                <a:lnTo>
                  <a:pt x="3309030" y="1235229"/>
                </a:lnTo>
                <a:lnTo>
                  <a:pt x="3328964" y="1235295"/>
                </a:lnTo>
                <a:lnTo>
                  <a:pt x="3348898" y="1235353"/>
                </a:lnTo>
                <a:lnTo>
                  <a:pt x="3368832" y="1235403"/>
                </a:lnTo>
                <a:lnTo>
                  <a:pt x="3388766" y="1235448"/>
                </a:lnTo>
                <a:lnTo>
                  <a:pt x="3408700" y="1235487"/>
                </a:lnTo>
                <a:lnTo>
                  <a:pt x="3428634" y="1235520"/>
                </a:lnTo>
                <a:lnTo>
                  <a:pt x="3448568" y="1235550"/>
                </a:lnTo>
                <a:lnTo>
                  <a:pt x="3468502" y="1235576"/>
                </a:lnTo>
                <a:lnTo>
                  <a:pt x="3488436" y="1235598"/>
                </a:lnTo>
                <a:lnTo>
                  <a:pt x="3508369" y="1235618"/>
                </a:lnTo>
                <a:lnTo>
                  <a:pt x="3528303" y="1235635"/>
                </a:lnTo>
                <a:lnTo>
                  <a:pt x="3548237" y="1235649"/>
                </a:lnTo>
                <a:lnTo>
                  <a:pt x="3568171" y="1235662"/>
                </a:lnTo>
                <a:lnTo>
                  <a:pt x="3588105" y="1235673"/>
                </a:lnTo>
                <a:lnTo>
                  <a:pt x="3608039" y="1235683"/>
                </a:lnTo>
                <a:lnTo>
                  <a:pt x="3627973" y="1235691"/>
                </a:lnTo>
                <a:lnTo>
                  <a:pt x="3647907" y="1235698"/>
                </a:lnTo>
                <a:lnTo>
                  <a:pt x="3667841" y="1235704"/>
                </a:lnTo>
                <a:lnTo>
                  <a:pt x="3687775" y="1235709"/>
                </a:lnTo>
                <a:lnTo>
                  <a:pt x="3707709" y="1235714"/>
                </a:lnTo>
                <a:lnTo>
                  <a:pt x="3727643" y="1235718"/>
                </a:lnTo>
                <a:lnTo>
                  <a:pt x="3747576" y="1235721"/>
                </a:lnTo>
                <a:lnTo>
                  <a:pt x="3767510" y="1235724"/>
                </a:lnTo>
                <a:lnTo>
                  <a:pt x="3787444" y="1235726"/>
                </a:lnTo>
                <a:lnTo>
                  <a:pt x="3807378" y="1235728"/>
                </a:lnTo>
                <a:lnTo>
                  <a:pt x="3827312" y="1235730"/>
                </a:lnTo>
                <a:lnTo>
                  <a:pt x="3847246" y="1235731"/>
                </a:lnTo>
                <a:lnTo>
                  <a:pt x="3867180" y="1235733"/>
                </a:lnTo>
                <a:lnTo>
                  <a:pt x="3887114" y="1235734"/>
                </a:lnTo>
                <a:lnTo>
                  <a:pt x="3907048" y="1235735"/>
                </a:lnTo>
                <a:lnTo>
                  <a:pt x="3926982" y="1235735"/>
                </a:lnTo>
                <a:lnTo>
                  <a:pt x="3946916" y="1235736"/>
                </a:lnTo>
                <a:lnTo>
                  <a:pt x="3966850" y="1235737"/>
                </a:lnTo>
                <a:lnTo>
                  <a:pt x="3986784" y="1235737"/>
                </a:lnTo>
                <a:lnTo>
                  <a:pt x="4006717" y="1235737"/>
                </a:lnTo>
                <a:lnTo>
                  <a:pt x="4026651" y="1235738"/>
                </a:lnTo>
                <a:lnTo>
                  <a:pt x="4046585" y="1235738"/>
                </a:lnTo>
                <a:lnTo>
                  <a:pt x="4066519" y="1235738"/>
                </a:lnTo>
                <a:lnTo>
                  <a:pt x="4086453" y="1235738"/>
                </a:lnTo>
                <a:lnTo>
                  <a:pt x="4106387" y="1235739"/>
                </a:lnTo>
                <a:lnTo>
                  <a:pt x="4126321" y="1235739"/>
                </a:lnTo>
                <a:lnTo>
                  <a:pt x="4146255" y="1235739"/>
                </a:lnTo>
                <a:lnTo>
                  <a:pt x="4166189" y="1235739"/>
                </a:lnTo>
                <a:lnTo>
                  <a:pt x="4186123" y="1235739"/>
                </a:lnTo>
                <a:lnTo>
                  <a:pt x="4206057" y="1235739"/>
                </a:lnTo>
                <a:lnTo>
                  <a:pt x="4225991" y="1235739"/>
                </a:lnTo>
                <a:lnTo>
                  <a:pt x="4245924" y="1235739"/>
                </a:lnTo>
                <a:lnTo>
                  <a:pt x="4265858" y="1235739"/>
                </a:lnTo>
                <a:lnTo>
                  <a:pt x="4285792" y="1235739"/>
                </a:lnTo>
                <a:lnTo>
                  <a:pt x="4305726" y="1235739"/>
                </a:lnTo>
                <a:lnTo>
                  <a:pt x="4325660" y="1235739"/>
                </a:lnTo>
                <a:lnTo>
                  <a:pt x="4345594" y="1235739"/>
                </a:lnTo>
                <a:lnTo>
                  <a:pt x="4365528" y="1235739"/>
                </a:lnTo>
                <a:lnTo>
                  <a:pt x="4385462" y="1235739"/>
                </a:lnTo>
                <a:lnTo>
                  <a:pt x="4405396" y="1235739"/>
                </a:lnTo>
                <a:lnTo>
                  <a:pt x="4425330" y="1235739"/>
                </a:lnTo>
                <a:lnTo>
                  <a:pt x="4445264" y="1235739"/>
                </a:lnTo>
                <a:lnTo>
                  <a:pt x="4465198" y="1235739"/>
                </a:lnTo>
                <a:lnTo>
                  <a:pt x="4485132" y="1235739"/>
                </a:lnTo>
                <a:lnTo>
                  <a:pt x="4505065" y="1235739"/>
                </a:lnTo>
                <a:lnTo>
                  <a:pt x="4524999" y="1235739"/>
                </a:lnTo>
                <a:lnTo>
                  <a:pt x="4544933" y="1235739"/>
                </a:lnTo>
                <a:lnTo>
                  <a:pt x="4564867" y="1235739"/>
                </a:lnTo>
                <a:lnTo>
                  <a:pt x="4584801" y="1235739"/>
                </a:lnTo>
                <a:lnTo>
                  <a:pt x="4604735" y="1235739"/>
                </a:lnTo>
                <a:lnTo>
                  <a:pt x="4624669" y="1235739"/>
                </a:lnTo>
                <a:lnTo>
                  <a:pt x="4644603" y="1235739"/>
                </a:lnTo>
                <a:lnTo>
                  <a:pt x="4664537" y="1235739"/>
                </a:lnTo>
                <a:lnTo>
                  <a:pt x="4684471" y="1235739"/>
                </a:lnTo>
                <a:lnTo>
                  <a:pt x="4704405" y="1235739"/>
                </a:lnTo>
                <a:lnTo>
                  <a:pt x="4724339" y="1235739"/>
                </a:lnTo>
                <a:lnTo>
                  <a:pt x="4744272" y="1235739"/>
                </a:lnTo>
                <a:lnTo>
                  <a:pt x="4764206" y="1235739"/>
                </a:lnTo>
                <a:lnTo>
                  <a:pt x="4784140" y="1235739"/>
                </a:lnTo>
                <a:lnTo>
                  <a:pt x="4804074" y="1235739"/>
                </a:lnTo>
                <a:lnTo>
                  <a:pt x="4824008" y="1235739"/>
                </a:lnTo>
                <a:lnTo>
                  <a:pt x="4843942" y="1235739"/>
                </a:lnTo>
                <a:lnTo>
                  <a:pt x="4863876" y="1235739"/>
                </a:lnTo>
                <a:lnTo>
                  <a:pt x="4883810" y="1235739"/>
                </a:lnTo>
                <a:lnTo>
                  <a:pt x="4903744" y="1235739"/>
                </a:lnTo>
                <a:lnTo>
                  <a:pt x="4923678" y="1235739"/>
                </a:lnTo>
                <a:lnTo>
                  <a:pt x="4943612" y="1235739"/>
                </a:lnTo>
                <a:lnTo>
                  <a:pt x="4963546" y="1235739"/>
                </a:lnTo>
              </a:path>
            </a:pathLst>
          </a:custGeom>
          <a:noFill/>
          <a:ln w="25400">
            <a:solidFill>
              <a:srgbClr val="BF90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a:extLst>
              <a:ext uri="{FF2B5EF4-FFF2-40B4-BE49-F238E27FC236}">
                <a16:creationId xmlns:a16="http://schemas.microsoft.com/office/drawing/2014/main" id="{49F8E8B7-2DC5-4983-620C-05D3BC902B22}"/>
              </a:ext>
            </a:extLst>
          </p:cNvPr>
          <p:cNvSpPr txBox="1"/>
          <p:nvPr/>
        </p:nvSpPr>
        <p:spPr>
          <a:xfrm>
            <a:off x="685800" y="5029200"/>
            <a:ext cx="5166360" cy="395630"/>
          </a:xfrm>
          <a:prstGeom prst="rect">
            <a:avLst/>
          </a:prstGeom>
          <a:noFill/>
        </p:spPr>
        <p:txBody>
          <a:bodyPr wrap="square" lIns="0" tIns="0" rIns="0" bIns="0" anchor="t">
            <a:spAutoFit/>
          </a:bodyPr>
          <a:lstStyle/>
          <a:p>
            <a:pPr algn="l">
              <a:spcAft>
                <a:spcPts val="0"/>
              </a:spcAft>
            </a:pPr>
            <a:r>
              <a:rPr sz="2200" b="1" dirty="0">
                <a:solidFill>
                  <a:srgbClr val="0072B2"/>
                </a:solidFill>
                <a:latin typeface="Meiryo"/>
                <a:ea typeface="Meiryo"/>
                <a:cs typeface="Meiryo"/>
              </a:rPr>
              <a:t>縦の差を 二乗して 全時点で足す。</a:t>
            </a:r>
          </a:p>
        </p:txBody>
      </p:sp>
      <p:sp>
        <p:nvSpPr>
          <p:cNvPr id="69" name="Rounded Rectangle 68">
            <a:extLst>
              <a:ext uri="{FF2B5EF4-FFF2-40B4-BE49-F238E27FC236}">
                <a16:creationId xmlns:a16="http://schemas.microsoft.com/office/drawing/2014/main" id="{ADBD1A02-D562-C612-51CC-949951BE0904}"/>
              </a:ext>
            </a:extLst>
          </p:cNvPr>
          <p:cNvSpPr/>
          <p:nvPr/>
        </p:nvSpPr>
        <p:spPr>
          <a:xfrm>
            <a:off x="6153912" y="1737360"/>
            <a:ext cx="5532120" cy="3794760"/>
          </a:xfrm>
          <a:prstGeom prst="roundRect">
            <a:avLst>
              <a:gd name="adj" fmla="val 5748"/>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0" name="TextBox 69">
            <a:extLst>
              <a:ext uri="{FF2B5EF4-FFF2-40B4-BE49-F238E27FC236}">
                <a16:creationId xmlns:a16="http://schemas.microsoft.com/office/drawing/2014/main" id="{E900558E-59CB-0CAD-61D7-8DD8EDDDDA11}"/>
              </a:ext>
            </a:extLst>
          </p:cNvPr>
          <p:cNvSpPr txBox="1"/>
          <p:nvPr/>
        </p:nvSpPr>
        <p:spPr>
          <a:xfrm>
            <a:off x="6336792" y="1883664"/>
            <a:ext cx="5166360" cy="369332"/>
          </a:xfrm>
          <a:prstGeom prst="rect">
            <a:avLst/>
          </a:prstGeom>
          <a:noFill/>
        </p:spPr>
        <p:txBody>
          <a:bodyPr wrap="square" lIns="0" tIns="0" rIns="0" bIns="0" anchor="t">
            <a:spAutoFit/>
          </a:bodyPr>
          <a:lstStyle/>
          <a:p>
            <a:pPr algn="l">
              <a:spcAft>
                <a:spcPts val="0"/>
              </a:spcAft>
            </a:pPr>
            <a:r>
              <a:rPr sz="2400" b="1" dirty="0" err="1">
                <a:solidFill>
                  <a:srgbClr val="00A8AA"/>
                </a:solidFill>
                <a:latin typeface="Meiryo"/>
                <a:ea typeface="Meiryo"/>
                <a:cs typeface="Meiryo"/>
              </a:rPr>
              <a:t>探索法の</a:t>
            </a:r>
            <a:r>
              <a:rPr lang="ja-JP" altLang="en-US" sz="2400" b="1">
                <a:solidFill>
                  <a:srgbClr val="00A8AA"/>
                </a:solidFill>
                <a:latin typeface="Meiryo"/>
                <a:ea typeface="Meiryo"/>
                <a:cs typeface="Meiryo"/>
              </a:rPr>
              <a:t>代表</a:t>
            </a:r>
            <a:endParaRPr sz="2400" b="1" dirty="0">
              <a:solidFill>
                <a:srgbClr val="00A8AA"/>
              </a:solidFill>
              <a:latin typeface="Meiryo"/>
              <a:ea typeface="Meiryo"/>
              <a:cs typeface="Meiryo"/>
            </a:endParaRPr>
          </a:p>
        </p:txBody>
      </p:sp>
      <p:sp>
        <p:nvSpPr>
          <p:cNvPr id="71" name="TextBox 70">
            <a:extLst>
              <a:ext uri="{FF2B5EF4-FFF2-40B4-BE49-F238E27FC236}">
                <a16:creationId xmlns:a16="http://schemas.microsoft.com/office/drawing/2014/main" id="{2EE70026-C091-9EDA-81D8-D2C11F2F6B3E}"/>
              </a:ext>
            </a:extLst>
          </p:cNvPr>
          <p:cNvSpPr txBox="1"/>
          <p:nvPr/>
        </p:nvSpPr>
        <p:spPr>
          <a:xfrm>
            <a:off x="6336792" y="2340864"/>
            <a:ext cx="5166360" cy="467563"/>
          </a:xfrm>
          <a:prstGeom prst="rect">
            <a:avLst/>
          </a:prstGeom>
          <a:noFill/>
        </p:spPr>
        <p:txBody>
          <a:bodyPr wrap="square" lIns="0" tIns="0" rIns="0" bIns="0" anchor="t">
            <a:spAutoFit/>
          </a:bodyPr>
          <a:lstStyle/>
          <a:p>
            <a:pPr algn="l">
              <a:spcAft>
                <a:spcPts val="0"/>
              </a:spcAft>
            </a:pPr>
            <a:r>
              <a:rPr sz="2600" b="1" dirty="0">
                <a:solidFill>
                  <a:srgbClr val="262626"/>
                </a:solidFill>
                <a:latin typeface="Meiryo"/>
                <a:ea typeface="Meiryo"/>
                <a:cs typeface="Meiryo"/>
              </a:rPr>
              <a:t>Levenberg–Marquardt 法</a:t>
            </a:r>
          </a:p>
        </p:txBody>
      </p:sp>
      <p:sp>
        <p:nvSpPr>
          <p:cNvPr id="5" name="Freeform 4">
            <a:extLst>
              <a:ext uri="{FF2B5EF4-FFF2-40B4-BE49-F238E27FC236}">
                <a16:creationId xmlns:a16="http://schemas.microsoft.com/office/drawing/2014/main" id="{2100CD6C-5F75-5654-A7CE-9B8CF9D3A0A3}"/>
              </a:ext>
            </a:extLst>
          </p:cNvPr>
          <p:cNvSpPr/>
          <p:nvPr/>
        </p:nvSpPr>
        <p:spPr>
          <a:xfrm>
            <a:off x="6355080" y="3013602"/>
            <a:ext cx="1457187" cy="1006102"/>
          </a:xfrm>
          <a:custGeom>
            <a:avLst/>
            <a:gdLst/>
            <a:ahLst/>
            <a:cxnLst/>
            <a:rect l="l" t="t" r="r" b="b"/>
            <a:pathLst>
              <a:path w="1457187" h="1006102">
                <a:moveTo>
                  <a:pt x="0" y="930631"/>
                </a:moveTo>
                <a:lnTo>
                  <a:pt x="5852" y="979178"/>
                </a:lnTo>
                <a:lnTo>
                  <a:pt x="11704" y="938521"/>
                </a:lnTo>
                <a:lnTo>
                  <a:pt x="17556" y="943184"/>
                </a:lnTo>
                <a:lnTo>
                  <a:pt x="23408" y="933984"/>
                </a:lnTo>
                <a:lnTo>
                  <a:pt x="29260" y="922247"/>
                </a:lnTo>
                <a:lnTo>
                  <a:pt x="35112" y="933130"/>
                </a:lnTo>
                <a:lnTo>
                  <a:pt x="40965" y="900749"/>
                </a:lnTo>
                <a:lnTo>
                  <a:pt x="46817" y="895215"/>
                </a:lnTo>
                <a:lnTo>
                  <a:pt x="52669" y="831867"/>
                </a:lnTo>
                <a:lnTo>
                  <a:pt x="58521" y="851967"/>
                </a:lnTo>
                <a:lnTo>
                  <a:pt x="64373" y="840964"/>
                </a:lnTo>
                <a:lnTo>
                  <a:pt x="70225" y="820608"/>
                </a:lnTo>
                <a:lnTo>
                  <a:pt x="76078" y="803780"/>
                </a:lnTo>
                <a:lnTo>
                  <a:pt x="81930" y="785098"/>
                </a:lnTo>
                <a:lnTo>
                  <a:pt x="87782" y="752266"/>
                </a:lnTo>
                <a:lnTo>
                  <a:pt x="93634" y="715134"/>
                </a:lnTo>
                <a:lnTo>
                  <a:pt x="99486" y="694773"/>
                </a:lnTo>
                <a:lnTo>
                  <a:pt x="105338" y="650264"/>
                </a:lnTo>
                <a:lnTo>
                  <a:pt x="111191" y="631566"/>
                </a:lnTo>
                <a:lnTo>
                  <a:pt x="117043" y="595191"/>
                </a:lnTo>
                <a:lnTo>
                  <a:pt x="122895" y="542282"/>
                </a:lnTo>
                <a:lnTo>
                  <a:pt x="128747" y="517631"/>
                </a:lnTo>
                <a:lnTo>
                  <a:pt x="134599" y="492594"/>
                </a:lnTo>
                <a:lnTo>
                  <a:pt x="140451" y="450822"/>
                </a:lnTo>
                <a:lnTo>
                  <a:pt x="146304" y="403947"/>
                </a:lnTo>
                <a:lnTo>
                  <a:pt x="152156" y="349126"/>
                </a:lnTo>
                <a:lnTo>
                  <a:pt x="158008" y="336550"/>
                </a:lnTo>
                <a:lnTo>
                  <a:pt x="163860" y="298502"/>
                </a:lnTo>
                <a:lnTo>
                  <a:pt x="169712" y="247145"/>
                </a:lnTo>
                <a:lnTo>
                  <a:pt x="175564" y="233686"/>
                </a:lnTo>
                <a:lnTo>
                  <a:pt x="181416" y="192894"/>
                </a:lnTo>
                <a:lnTo>
                  <a:pt x="187269" y="147356"/>
                </a:lnTo>
                <a:lnTo>
                  <a:pt x="193121" y="121417"/>
                </a:lnTo>
                <a:lnTo>
                  <a:pt x="198973" y="100336"/>
                </a:lnTo>
                <a:lnTo>
                  <a:pt x="204825" y="69761"/>
                </a:lnTo>
                <a:lnTo>
                  <a:pt x="210677" y="90008"/>
                </a:lnTo>
                <a:lnTo>
                  <a:pt x="216529" y="27904"/>
                </a:lnTo>
                <a:lnTo>
                  <a:pt x="222382" y="37479"/>
                </a:lnTo>
                <a:lnTo>
                  <a:pt x="228234" y="35928"/>
                </a:lnTo>
                <a:lnTo>
                  <a:pt x="234086" y="7182"/>
                </a:lnTo>
                <a:lnTo>
                  <a:pt x="239938" y="0"/>
                </a:lnTo>
                <a:lnTo>
                  <a:pt x="245790" y="14906"/>
                </a:lnTo>
                <a:lnTo>
                  <a:pt x="251642" y="27486"/>
                </a:lnTo>
                <a:lnTo>
                  <a:pt x="257495" y="23345"/>
                </a:lnTo>
                <a:lnTo>
                  <a:pt x="263347" y="36330"/>
                </a:lnTo>
                <a:lnTo>
                  <a:pt x="269199" y="34463"/>
                </a:lnTo>
                <a:lnTo>
                  <a:pt x="275051" y="60128"/>
                </a:lnTo>
                <a:lnTo>
                  <a:pt x="280903" y="87083"/>
                </a:lnTo>
                <a:lnTo>
                  <a:pt x="286755" y="99034"/>
                </a:lnTo>
                <a:lnTo>
                  <a:pt x="292608" y="138902"/>
                </a:lnTo>
                <a:lnTo>
                  <a:pt x="298460" y="173257"/>
                </a:lnTo>
                <a:lnTo>
                  <a:pt x="304312" y="182657"/>
                </a:lnTo>
                <a:lnTo>
                  <a:pt x="310164" y="210419"/>
                </a:lnTo>
                <a:lnTo>
                  <a:pt x="316016" y="247828"/>
                </a:lnTo>
                <a:lnTo>
                  <a:pt x="321868" y="282568"/>
                </a:lnTo>
                <a:lnTo>
                  <a:pt x="327720" y="298546"/>
                </a:lnTo>
                <a:lnTo>
                  <a:pt x="333573" y="357520"/>
                </a:lnTo>
                <a:lnTo>
                  <a:pt x="339425" y="346643"/>
                </a:lnTo>
                <a:lnTo>
                  <a:pt x="345277" y="374143"/>
                </a:lnTo>
                <a:lnTo>
                  <a:pt x="351129" y="422875"/>
                </a:lnTo>
                <a:lnTo>
                  <a:pt x="356981" y="425400"/>
                </a:lnTo>
                <a:lnTo>
                  <a:pt x="362833" y="458139"/>
                </a:lnTo>
                <a:lnTo>
                  <a:pt x="368686" y="457106"/>
                </a:lnTo>
                <a:lnTo>
                  <a:pt x="374538" y="507005"/>
                </a:lnTo>
                <a:lnTo>
                  <a:pt x="380390" y="509465"/>
                </a:lnTo>
                <a:lnTo>
                  <a:pt x="386242" y="504270"/>
                </a:lnTo>
                <a:lnTo>
                  <a:pt x="392094" y="511096"/>
                </a:lnTo>
                <a:lnTo>
                  <a:pt x="397946" y="560178"/>
                </a:lnTo>
                <a:lnTo>
                  <a:pt x="403799" y="549611"/>
                </a:lnTo>
                <a:lnTo>
                  <a:pt x="409651" y="547320"/>
                </a:lnTo>
                <a:lnTo>
                  <a:pt x="415503" y="564278"/>
                </a:lnTo>
                <a:lnTo>
                  <a:pt x="421355" y="543407"/>
                </a:lnTo>
                <a:lnTo>
                  <a:pt x="427207" y="579642"/>
                </a:lnTo>
                <a:lnTo>
                  <a:pt x="433059" y="564442"/>
                </a:lnTo>
                <a:lnTo>
                  <a:pt x="438912" y="582914"/>
                </a:lnTo>
                <a:lnTo>
                  <a:pt x="444764" y="555745"/>
                </a:lnTo>
                <a:lnTo>
                  <a:pt x="450616" y="573444"/>
                </a:lnTo>
                <a:lnTo>
                  <a:pt x="456468" y="578257"/>
                </a:lnTo>
                <a:lnTo>
                  <a:pt x="462320" y="594516"/>
                </a:lnTo>
                <a:lnTo>
                  <a:pt x="468172" y="555318"/>
                </a:lnTo>
                <a:lnTo>
                  <a:pt x="474024" y="566736"/>
                </a:lnTo>
                <a:lnTo>
                  <a:pt x="479877" y="567478"/>
                </a:lnTo>
                <a:lnTo>
                  <a:pt x="485729" y="564019"/>
                </a:lnTo>
                <a:lnTo>
                  <a:pt x="491581" y="574617"/>
                </a:lnTo>
                <a:lnTo>
                  <a:pt x="497433" y="587984"/>
                </a:lnTo>
                <a:lnTo>
                  <a:pt x="503285" y="592185"/>
                </a:lnTo>
                <a:lnTo>
                  <a:pt x="509137" y="595052"/>
                </a:lnTo>
                <a:lnTo>
                  <a:pt x="514990" y="573164"/>
                </a:lnTo>
                <a:lnTo>
                  <a:pt x="520842" y="610271"/>
                </a:lnTo>
                <a:lnTo>
                  <a:pt x="526694" y="604870"/>
                </a:lnTo>
                <a:lnTo>
                  <a:pt x="532546" y="606975"/>
                </a:lnTo>
                <a:lnTo>
                  <a:pt x="538398" y="606549"/>
                </a:lnTo>
                <a:lnTo>
                  <a:pt x="544250" y="609019"/>
                </a:lnTo>
                <a:lnTo>
                  <a:pt x="550103" y="637483"/>
                </a:lnTo>
                <a:lnTo>
                  <a:pt x="555955" y="650833"/>
                </a:lnTo>
                <a:lnTo>
                  <a:pt x="561807" y="638960"/>
                </a:lnTo>
                <a:lnTo>
                  <a:pt x="567659" y="633517"/>
                </a:lnTo>
                <a:lnTo>
                  <a:pt x="573511" y="648086"/>
                </a:lnTo>
                <a:lnTo>
                  <a:pt x="579363" y="664061"/>
                </a:lnTo>
                <a:lnTo>
                  <a:pt x="585216" y="680304"/>
                </a:lnTo>
                <a:lnTo>
                  <a:pt x="591068" y="683516"/>
                </a:lnTo>
                <a:lnTo>
                  <a:pt x="596920" y="700385"/>
                </a:lnTo>
                <a:lnTo>
                  <a:pt x="602772" y="698820"/>
                </a:lnTo>
                <a:lnTo>
                  <a:pt x="608624" y="728615"/>
                </a:lnTo>
                <a:lnTo>
                  <a:pt x="614476" y="728858"/>
                </a:lnTo>
                <a:lnTo>
                  <a:pt x="620328" y="742862"/>
                </a:lnTo>
                <a:lnTo>
                  <a:pt x="626181" y="746376"/>
                </a:lnTo>
                <a:lnTo>
                  <a:pt x="632033" y="761209"/>
                </a:lnTo>
                <a:lnTo>
                  <a:pt x="637885" y="745085"/>
                </a:lnTo>
                <a:lnTo>
                  <a:pt x="643737" y="768259"/>
                </a:lnTo>
                <a:lnTo>
                  <a:pt x="649589" y="779013"/>
                </a:lnTo>
                <a:lnTo>
                  <a:pt x="655441" y="830827"/>
                </a:lnTo>
                <a:lnTo>
                  <a:pt x="661294" y="821278"/>
                </a:lnTo>
                <a:lnTo>
                  <a:pt x="667146" y="834432"/>
                </a:lnTo>
                <a:lnTo>
                  <a:pt x="672998" y="830834"/>
                </a:lnTo>
                <a:lnTo>
                  <a:pt x="678850" y="873074"/>
                </a:lnTo>
                <a:lnTo>
                  <a:pt x="684702" y="841827"/>
                </a:lnTo>
                <a:lnTo>
                  <a:pt x="690554" y="851805"/>
                </a:lnTo>
                <a:lnTo>
                  <a:pt x="696407" y="887822"/>
                </a:lnTo>
                <a:lnTo>
                  <a:pt x="702259" y="892026"/>
                </a:lnTo>
                <a:lnTo>
                  <a:pt x="708111" y="897557"/>
                </a:lnTo>
                <a:lnTo>
                  <a:pt x="713963" y="894913"/>
                </a:lnTo>
                <a:lnTo>
                  <a:pt x="719815" y="894766"/>
                </a:lnTo>
                <a:lnTo>
                  <a:pt x="725667" y="884787"/>
                </a:lnTo>
                <a:lnTo>
                  <a:pt x="731520" y="917070"/>
                </a:lnTo>
                <a:lnTo>
                  <a:pt x="737372" y="911497"/>
                </a:lnTo>
                <a:lnTo>
                  <a:pt x="743224" y="923971"/>
                </a:lnTo>
                <a:lnTo>
                  <a:pt x="749076" y="910210"/>
                </a:lnTo>
                <a:lnTo>
                  <a:pt x="754928" y="926719"/>
                </a:lnTo>
                <a:lnTo>
                  <a:pt x="760780" y="923699"/>
                </a:lnTo>
                <a:lnTo>
                  <a:pt x="766632" y="956234"/>
                </a:lnTo>
                <a:lnTo>
                  <a:pt x="772485" y="949564"/>
                </a:lnTo>
                <a:lnTo>
                  <a:pt x="778337" y="960197"/>
                </a:lnTo>
                <a:lnTo>
                  <a:pt x="784189" y="936225"/>
                </a:lnTo>
                <a:lnTo>
                  <a:pt x="790041" y="948956"/>
                </a:lnTo>
                <a:lnTo>
                  <a:pt x="795893" y="962790"/>
                </a:lnTo>
                <a:lnTo>
                  <a:pt x="801745" y="966871"/>
                </a:lnTo>
                <a:lnTo>
                  <a:pt x="807598" y="958075"/>
                </a:lnTo>
                <a:lnTo>
                  <a:pt x="813450" y="973869"/>
                </a:lnTo>
                <a:lnTo>
                  <a:pt x="819302" y="978301"/>
                </a:lnTo>
                <a:lnTo>
                  <a:pt x="825154" y="963401"/>
                </a:lnTo>
                <a:lnTo>
                  <a:pt x="831006" y="941687"/>
                </a:lnTo>
                <a:lnTo>
                  <a:pt x="836858" y="974597"/>
                </a:lnTo>
                <a:lnTo>
                  <a:pt x="842711" y="979357"/>
                </a:lnTo>
                <a:lnTo>
                  <a:pt x="848563" y="987562"/>
                </a:lnTo>
                <a:lnTo>
                  <a:pt x="854415" y="990384"/>
                </a:lnTo>
                <a:lnTo>
                  <a:pt x="860267" y="969475"/>
                </a:lnTo>
                <a:lnTo>
                  <a:pt x="866119" y="966385"/>
                </a:lnTo>
                <a:lnTo>
                  <a:pt x="871971" y="976844"/>
                </a:lnTo>
                <a:lnTo>
                  <a:pt x="877824" y="973625"/>
                </a:lnTo>
                <a:lnTo>
                  <a:pt x="883676" y="976644"/>
                </a:lnTo>
                <a:lnTo>
                  <a:pt x="889528" y="976809"/>
                </a:lnTo>
                <a:lnTo>
                  <a:pt x="895380" y="996622"/>
                </a:lnTo>
                <a:lnTo>
                  <a:pt x="901232" y="984481"/>
                </a:lnTo>
                <a:lnTo>
                  <a:pt x="907084" y="978116"/>
                </a:lnTo>
                <a:lnTo>
                  <a:pt x="912936" y="988810"/>
                </a:lnTo>
                <a:lnTo>
                  <a:pt x="918789" y="985444"/>
                </a:lnTo>
                <a:lnTo>
                  <a:pt x="924641" y="989631"/>
                </a:lnTo>
                <a:lnTo>
                  <a:pt x="930493" y="984122"/>
                </a:lnTo>
                <a:lnTo>
                  <a:pt x="936345" y="970406"/>
                </a:lnTo>
                <a:lnTo>
                  <a:pt x="942197" y="985232"/>
                </a:lnTo>
                <a:lnTo>
                  <a:pt x="948049" y="982383"/>
                </a:lnTo>
                <a:lnTo>
                  <a:pt x="953902" y="971172"/>
                </a:lnTo>
                <a:lnTo>
                  <a:pt x="959754" y="973219"/>
                </a:lnTo>
                <a:lnTo>
                  <a:pt x="965606" y="961017"/>
                </a:lnTo>
                <a:lnTo>
                  <a:pt x="971458" y="1005270"/>
                </a:lnTo>
                <a:lnTo>
                  <a:pt x="977310" y="970904"/>
                </a:lnTo>
                <a:lnTo>
                  <a:pt x="983162" y="986577"/>
                </a:lnTo>
                <a:lnTo>
                  <a:pt x="989015" y="979406"/>
                </a:lnTo>
                <a:lnTo>
                  <a:pt x="994867" y="971224"/>
                </a:lnTo>
                <a:lnTo>
                  <a:pt x="1000719" y="968380"/>
                </a:lnTo>
                <a:lnTo>
                  <a:pt x="1006571" y="968912"/>
                </a:lnTo>
                <a:lnTo>
                  <a:pt x="1012423" y="979251"/>
                </a:lnTo>
                <a:lnTo>
                  <a:pt x="1018275" y="962282"/>
                </a:lnTo>
                <a:lnTo>
                  <a:pt x="1024128" y="984390"/>
                </a:lnTo>
                <a:lnTo>
                  <a:pt x="1029980" y="982741"/>
                </a:lnTo>
                <a:lnTo>
                  <a:pt x="1035832" y="971770"/>
                </a:lnTo>
                <a:lnTo>
                  <a:pt x="1041684" y="987547"/>
                </a:lnTo>
                <a:lnTo>
                  <a:pt x="1047536" y="955884"/>
                </a:lnTo>
                <a:lnTo>
                  <a:pt x="1053388" y="969218"/>
                </a:lnTo>
                <a:lnTo>
                  <a:pt x="1059240" y="955721"/>
                </a:lnTo>
                <a:lnTo>
                  <a:pt x="1065093" y="981435"/>
                </a:lnTo>
                <a:lnTo>
                  <a:pt x="1070945" y="985599"/>
                </a:lnTo>
                <a:lnTo>
                  <a:pt x="1076797" y="979178"/>
                </a:lnTo>
                <a:lnTo>
                  <a:pt x="1082649" y="972553"/>
                </a:lnTo>
                <a:lnTo>
                  <a:pt x="1088501" y="987990"/>
                </a:lnTo>
                <a:lnTo>
                  <a:pt x="1094353" y="976699"/>
                </a:lnTo>
                <a:lnTo>
                  <a:pt x="1100206" y="981329"/>
                </a:lnTo>
                <a:lnTo>
                  <a:pt x="1106058" y="962270"/>
                </a:lnTo>
                <a:lnTo>
                  <a:pt x="1111910" y="988871"/>
                </a:lnTo>
                <a:lnTo>
                  <a:pt x="1117762" y="968920"/>
                </a:lnTo>
                <a:lnTo>
                  <a:pt x="1123614" y="988652"/>
                </a:lnTo>
                <a:lnTo>
                  <a:pt x="1129466" y="992351"/>
                </a:lnTo>
                <a:lnTo>
                  <a:pt x="1135319" y="989428"/>
                </a:lnTo>
                <a:lnTo>
                  <a:pt x="1141171" y="995031"/>
                </a:lnTo>
                <a:lnTo>
                  <a:pt x="1147023" y="979427"/>
                </a:lnTo>
                <a:lnTo>
                  <a:pt x="1152875" y="969095"/>
                </a:lnTo>
                <a:lnTo>
                  <a:pt x="1158727" y="979217"/>
                </a:lnTo>
                <a:lnTo>
                  <a:pt x="1164579" y="973847"/>
                </a:lnTo>
                <a:lnTo>
                  <a:pt x="1170432" y="962079"/>
                </a:lnTo>
                <a:lnTo>
                  <a:pt x="1176284" y="977983"/>
                </a:lnTo>
                <a:lnTo>
                  <a:pt x="1182136" y="978857"/>
                </a:lnTo>
                <a:lnTo>
                  <a:pt x="1187988" y="984347"/>
                </a:lnTo>
                <a:lnTo>
                  <a:pt x="1193840" y="999913"/>
                </a:lnTo>
                <a:lnTo>
                  <a:pt x="1199692" y="972266"/>
                </a:lnTo>
                <a:lnTo>
                  <a:pt x="1205544" y="1001644"/>
                </a:lnTo>
                <a:lnTo>
                  <a:pt x="1211397" y="973516"/>
                </a:lnTo>
                <a:lnTo>
                  <a:pt x="1217249" y="981303"/>
                </a:lnTo>
                <a:lnTo>
                  <a:pt x="1223101" y="967980"/>
                </a:lnTo>
                <a:lnTo>
                  <a:pt x="1228953" y="981927"/>
                </a:lnTo>
                <a:lnTo>
                  <a:pt x="1234805" y="990747"/>
                </a:lnTo>
                <a:lnTo>
                  <a:pt x="1240657" y="976957"/>
                </a:lnTo>
                <a:lnTo>
                  <a:pt x="1246510" y="987677"/>
                </a:lnTo>
                <a:lnTo>
                  <a:pt x="1252362" y="983249"/>
                </a:lnTo>
                <a:lnTo>
                  <a:pt x="1258214" y="980647"/>
                </a:lnTo>
                <a:lnTo>
                  <a:pt x="1264066" y="982707"/>
                </a:lnTo>
                <a:lnTo>
                  <a:pt x="1269918" y="983340"/>
                </a:lnTo>
                <a:lnTo>
                  <a:pt x="1275770" y="990855"/>
                </a:lnTo>
                <a:lnTo>
                  <a:pt x="1281623" y="983344"/>
                </a:lnTo>
                <a:lnTo>
                  <a:pt x="1287475" y="1006102"/>
                </a:lnTo>
                <a:lnTo>
                  <a:pt x="1293327" y="982973"/>
                </a:lnTo>
                <a:lnTo>
                  <a:pt x="1299179" y="995124"/>
                </a:lnTo>
                <a:lnTo>
                  <a:pt x="1305031" y="968056"/>
                </a:lnTo>
                <a:lnTo>
                  <a:pt x="1310883" y="966309"/>
                </a:lnTo>
                <a:lnTo>
                  <a:pt x="1316736" y="1003915"/>
                </a:lnTo>
                <a:lnTo>
                  <a:pt x="1322588" y="979444"/>
                </a:lnTo>
                <a:lnTo>
                  <a:pt x="1328440" y="982611"/>
                </a:lnTo>
                <a:lnTo>
                  <a:pt x="1334292" y="993357"/>
                </a:lnTo>
                <a:lnTo>
                  <a:pt x="1340144" y="974929"/>
                </a:lnTo>
                <a:lnTo>
                  <a:pt x="1345996" y="986526"/>
                </a:lnTo>
                <a:lnTo>
                  <a:pt x="1351848" y="1001774"/>
                </a:lnTo>
                <a:lnTo>
                  <a:pt x="1357701" y="984250"/>
                </a:lnTo>
                <a:lnTo>
                  <a:pt x="1363553" y="982867"/>
                </a:lnTo>
                <a:lnTo>
                  <a:pt x="1369405" y="979893"/>
                </a:lnTo>
                <a:lnTo>
                  <a:pt x="1375257" y="995511"/>
                </a:lnTo>
                <a:lnTo>
                  <a:pt x="1381109" y="973948"/>
                </a:lnTo>
                <a:lnTo>
                  <a:pt x="1386961" y="972549"/>
                </a:lnTo>
                <a:lnTo>
                  <a:pt x="1392814" y="994514"/>
                </a:lnTo>
                <a:lnTo>
                  <a:pt x="1398666" y="988828"/>
                </a:lnTo>
                <a:lnTo>
                  <a:pt x="1404518" y="982074"/>
                </a:lnTo>
                <a:lnTo>
                  <a:pt x="1410370" y="987743"/>
                </a:lnTo>
                <a:lnTo>
                  <a:pt x="1416222" y="960777"/>
                </a:lnTo>
                <a:lnTo>
                  <a:pt x="1422074" y="978703"/>
                </a:lnTo>
                <a:lnTo>
                  <a:pt x="1427927" y="992935"/>
                </a:lnTo>
                <a:lnTo>
                  <a:pt x="1433779" y="990338"/>
                </a:lnTo>
                <a:lnTo>
                  <a:pt x="1439631" y="981807"/>
                </a:lnTo>
                <a:lnTo>
                  <a:pt x="1445483" y="954332"/>
                </a:lnTo>
                <a:lnTo>
                  <a:pt x="1451335" y="983217"/>
                </a:lnTo>
                <a:lnTo>
                  <a:pt x="1457187" y="979648"/>
                </a:lnTo>
              </a:path>
            </a:pathLst>
          </a:custGeom>
          <a:noFill/>
          <a:ln w="190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Freeform 5">
            <a:extLst>
              <a:ext uri="{FF2B5EF4-FFF2-40B4-BE49-F238E27FC236}">
                <a16:creationId xmlns:a16="http://schemas.microsoft.com/office/drawing/2014/main" id="{F6BBDF11-FD71-7AB5-FDBF-9E05E30A02F4}"/>
              </a:ext>
            </a:extLst>
          </p:cNvPr>
          <p:cNvSpPr/>
          <p:nvPr/>
        </p:nvSpPr>
        <p:spPr>
          <a:xfrm>
            <a:off x="6355080" y="3251507"/>
            <a:ext cx="1457187" cy="743231"/>
          </a:xfrm>
          <a:custGeom>
            <a:avLst/>
            <a:gdLst/>
            <a:ahLst/>
            <a:cxnLst/>
            <a:rect l="l" t="t" r="r" b="b"/>
            <a:pathLst>
              <a:path w="1457187" h="743231">
                <a:moveTo>
                  <a:pt x="0" y="663164"/>
                </a:moveTo>
                <a:lnTo>
                  <a:pt x="5852" y="655375"/>
                </a:lnTo>
                <a:lnTo>
                  <a:pt x="11704" y="647018"/>
                </a:lnTo>
                <a:lnTo>
                  <a:pt x="17556" y="638074"/>
                </a:lnTo>
                <a:lnTo>
                  <a:pt x="23408" y="628526"/>
                </a:lnTo>
                <a:lnTo>
                  <a:pt x="29260" y="618357"/>
                </a:lnTo>
                <a:lnTo>
                  <a:pt x="35112" y="607555"/>
                </a:lnTo>
                <a:lnTo>
                  <a:pt x="40965" y="596110"/>
                </a:lnTo>
                <a:lnTo>
                  <a:pt x="46817" y="584014"/>
                </a:lnTo>
                <a:lnTo>
                  <a:pt x="52669" y="571264"/>
                </a:lnTo>
                <a:lnTo>
                  <a:pt x="58521" y="557859"/>
                </a:lnTo>
                <a:lnTo>
                  <a:pt x="64373" y="543803"/>
                </a:lnTo>
                <a:lnTo>
                  <a:pt x="70225" y="529105"/>
                </a:lnTo>
                <a:lnTo>
                  <a:pt x="76078" y="513778"/>
                </a:lnTo>
                <a:lnTo>
                  <a:pt x="81930" y="497839"/>
                </a:lnTo>
                <a:lnTo>
                  <a:pt x="87782" y="481310"/>
                </a:lnTo>
                <a:lnTo>
                  <a:pt x="93634" y="464219"/>
                </a:lnTo>
                <a:lnTo>
                  <a:pt x="99486" y="446600"/>
                </a:lnTo>
                <a:lnTo>
                  <a:pt x="105338" y="428491"/>
                </a:lnTo>
                <a:lnTo>
                  <a:pt x="111191" y="409935"/>
                </a:lnTo>
                <a:lnTo>
                  <a:pt x="117043" y="390981"/>
                </a:lnTo>
                <a:lnTo>
                  <a:pt x="122895" y="371685"/>
                </a:lnTo>
                <a:lnTo>
                  <a:pt x="128747" y="352104"/>
                </a:lnTo>
                <a:lnTo>
                  <a:pt x="134599" y="332305"/>
                </a:lnTo>
                <a:lnTo>
                  <a:pt x="140451" y="312354"/>
                </a:lnTo>
                <a:lnTo>
                  <a:pt x="146304" y="292327"/>
                </a:lnTo>
                <a:lnTo>
                  <a:pt x="152156" y="272300"/>
                </a:lnTo>
                <a:lnTo>
                  <a:pt x="158008" y="252355"/>
                </a:lnTo>
                <a:lnTo>
                  <a:pt x="163860" y="232574"/>
                </a:lnTo>
                <a:lnTo>
                  <a:pt x="169712" y="213044"/>
                </a:lnTo>
                <a:lnTo>
                  <a:pt x="175564" y="193854"/>
                </a:lnTo>
                <a:lnTo>
                  <a:pt x="181416" y="175093"/>
                </a:lnTo>
                <a:lnTo>
                  <a:pt x="187269" y="156850"/>
                </a:lnTo>
                <a:lnTo>
                  <a:pt x="193121" y="139216"/>
                </a:lnTo>
                <a:lnTo>
                  <a:pt x="198973" y="122279"/>
                </a:lnTo>
                <a:lnTo>
                  <a:pt x="204825" y="106127"/>
                </a:lnTo>
                <a:lnTo>
                  <a:pt x="210677" y="90845"/>
                </a:lnTo>
                <a:lnTo>
                  <a:pt x="216529" y="76514"/>
                </a:lnTo>
                <a:lnTo>
                  <a:pt x="222382" y="63214"/>
                </a:lnTo>
                <a:lnTo>
                  <a:pt x="228234" y="51017"/>
                </a:lnTo>
                <a:lnTo>
                  <a:pt x="234086" y="39991"/>
                </a:lnTo>
                <a:lnTo>
                  <a:pt x="239938" y="30200"/>
                </a:lnTo>
                <a:lnTo>
                  <a:pt x="245790" y="21699"/>
                </a:lnTo>
                <a:lnTo>
                  <a:pt x="251642" y="14537"/>
                </a:lnTo>
                <a:lnTo>
                  <a:pt x="257495" y="8757"/>
                </a:lnTo>
                <a:lnTo>
                  <a:pt x="263347" y="4391"/>
                </a:lnTo>
                <a:lnTo>
                  <a:pt x="269199" y="1467"/>
                </a:lnTo>
                <a:lnTo>
                  <a:pt x="275051" y="0"/>
                </a:lnTo>
                <a:lnTo>
                  <a:pt x="280903" y="0"/>
                </a:lnTo>
                <a:lnTo>
                  <a:pt x="286755" y="1467"/>
                </a:lnTo>
                <a:lnTo>
                  <a:pt x="292608" y="4391"/>
                </a:lnTo>
                <a:lnTo>
                  <a:pt x="298460" y="8757"/>
                </a:lnTo>
                <a:lnTo>
                  <a:pt x="304312" y="14537"/>
                </a:lnTo>
                <a:lnTo>
                  <a:pt x="310164" y="21699"/>
                </a:lnTo>
                <a:lnTo>
                  <a:pt x="316016" y="30200"/>
                </a:lnTo>
                <a:lnTo>
                  <a:pt x="321868" y="39991"/>
                </a:lnTo>
                <a:lnTo>
                  <a:pt x="327720" y="51017"/>
                </a:lnTo>
                <a:lnTo>
                  <a:pt x="333573" y="63214"/>
                </a:lnTo>
                <a:lnTo>
                  <a:pt x="339425" y="76514"/>
                </a:lnTo>
                <a:lnTo>
                  <a:pt x="345277" y="90845"/>
                </a:lnTo>
                <a:lnTo>
                  <a:pt x="351129" y="106127"/>
                </a:lnTo>
                <a:lnTo>
                  <a:pt x="356981" y="122279"/>
                </a:lnTo>
                <a:lnTo>
                  <a:pt x="362833" y="139216"/>
                </a:lnTo>
                <a:lnTo>
                  <a:pt x="368686" y="156850"/>
                </a:lnTo>
                <a:lnTo>
                  <a:pt x="374538" y="175093"/>
                </a:lnTo>
                <a:lnTo>
                  <a:pt x="380390" y="193854"/>
                </a:lnTo>
                <a:lnTo>
                  <a:pt x="386242" y="213044"/>
                </a:lnTo>
                <a:lnTo>
                  <a:pt x="392094" y="232574"/>
                </a:lnTo>
                <a:lnTo>
                  <a:pt x="397946" y="252355"/>
                </a:lnTo>
                <a:lnTo>
                  <a:pt x="403799" y="272300"/>
                </a:lnTo>
                <a:lnTo>
                  <a:pt x="409651" y="292327"/>
                </a:lnTo>
                <a:lnTo>
                  <a:pt x="415503" y="312354"/>
                </a:lnTo>
                <a:lnTo>
                  <a:pt x="421355" y="332305"/>
                </a:lnTo>
                <a:lnTo>
                  <a:pt x="427207" y="352104"/>
                </a:lnTo>
                <a:lnTo>
                  <a:pt x="433059" y="371685"/>
                </a:lnTo>
                <a:lnTo>
                  <a:pt x="438912" y="390981"/>
                </a:lnTo>
                <a:lnTo>
                  <a:pt x="444764" y="409935"/>
                </a:lnTo>
                <a:lnTo>
                  <a:pt x="450616" y="428491"/>
                </a:lnTo>
                <a:lnTo>
                  <a:pt x="456468" y="446600"/>
                </a:lnTo>
                <a:lnTo>
                  <a:pt x="462320" y="464219"/>
                </a:lnTo>
                <a:lnTo>
                  <a:pt x="468172" y="481310"/>
                </a:lnTo>
                <a:lnTo>
                  <a:pt x="474024" y="497839"/>
                </a:lnTo>
                <a:lnTo>
                  <a:pt x="479877" y="513778"/>
                </a:lnTo>
                <a:lnTo>
                  <a:pt x="485729" y="529105"/>
                </a:lnTo>
                <a:lnTo>
                  <a:pt x="491581" y="543803"/>
                </a:lnTo>
                <a:lnTo>
                  <a:pt x="497433" y="557859"/>
                </a:lnTo>
                <a:lnTo>
                  <a:pt x="503285" y="571264"/>
                </a:lnTo>
                <a:lnTo>
                  <a:pt x="509137" y="584014"/>
                </a:lnTo>
                <a:lnTo>
                  <a:pt x="514990" y="596110"/>
                </a:lnTo>
                <a:lnTo>
                  <a:pt x="520842" y="607555"/>
                </a:lnTo>
                <a:lnTo>
                  <a:pt x="526694" y="618357"/>
                </a:lnTo>
                <a:lnTo>
                  <a:pt x="532546" y="628526"/>
                </a:lnTo>
                <a:lnTo>
                  <a:pt x="538398" y="638074"/>
                </a:lnTo>
                <a:lnTo>
                  <a:pt x="544250" y="647018"/>
                </a:lnTo>
                <a:lnTo>
                  <a:pt x="550103" y="655375"/>
                </a:lnTo>
                <a:lnTo>
                  <a:pt x="555955" y="663164"/>
                </a:lnTo>
                <a:lnTo>
                  <a:pt x="561807" y="670407"/>
                </a:lnTo>
                <a:lnTo>
                  <a:pt x="567659" y="677125"/>
                </a:lnTo>
                <a:lnTo>
                  <a:pt x="573511" y="683342"/>
                </a:lnTo>
                <a:lnTo>
                  <a:pt x="579363" y="689082"/>
                </a:lnTo>
                <a:lnTo>
                  <a:pt x="585216" y="694367"/>
                </a:lnTo>
                <a:lnTo>
                  <a:pt x="591068" y="699224"/>
                </a:lnTo>
                <a:lnTo>
                  <a:pt x="596920" y="703677"/>
                </a:lnTo>
                <a:lnTo>
                  <a:pt x="602772" y="707749"/>
                </a:lnTo>
                <a:lnTo>
                  <a:pt x="608624" y="711464"/>
                </a:lnTo>
                <a:lnTo>
                  <a:pt x="614476" y="714847"/>
                </a:lnTo>
                <a:lnTo>
                  <a:pt x="620328" y="717920"/>
                </a:lnTo>
                <a:lnTo>
                  <a:pt x="626181" y="720704"/>
                </a:lnTo>
                <a:lnTo>
                  <a:pt x="632033" y="723222"/>
                </a:lnTo>
                <a:lnTo>
                  <a:pt x="637885" y="725493"/>
                </a:lnTo>
                <a:lnTo>
                  <a:pt x="643737" y="727538"/>
                </a:lnTo>
                <a:lnTo>
                  <a:pt x="649589" y="729374"/>
                </a:lnTo>
                <a:lnTo>
                  <a:pt x="655441" y="731020"/>
                </a:lnTo>
                <a:lnTo>
                  <a:pt x="661294" y="732491"/>
                </a:lnTo>
                <a:lnTo>
                  <a:pt x="667146" y="733804"/>
                </a:lnTo>
                <a:lnTo>
                  <a:pt x="672998" y="734972"/>
                </a:lnTo>
                <a:lnTo>
                  <a:pt x="678850" y="736010"/>
                </a:lnTo>
                <a:lnTo>
                  <a:pt x="684702" y="736930"/>
                </a:lnTo>
                <a:lnTo>
                  <a:pt x="690554" y="737744"/>
                </a:lnTo>
                <a:lnTo>
                  <a:pt x="696407" y="738462"/>
                </a:lnTo>
                <a:lnTo>
                  <a:pt x="702259" y="739094"/>
                </a:lnTo>
                <a:lnTo>
                  <a:pt x="708111" y="739650"/>
                </a:lnTo>
                <a:lnTo>
                  <a:pt x="713963" y="740137"/>
                </a:lnTo>
                <a:lnTo>
                  <a:pt x="719815" y="740563"/>
                </a:lnTo>
                <a:lnTo>
                  <a:pt x="725667" y="740935"/>
                </a:lnTo>
                <a:lnTo>
                  <a:pt x="731520" y="741259"/>
                </a:lnTo>
                <a:lnTo>
                  <a:pt x="737372" y="741540"/>
                </a:lnTo>
                <a:lnTo>
                  <a:pt x="743224" y="741785"/>
                </a:lnTo>
                <a:lnTo>
                  <a:pt x="749076" y="741996"/>
                </a:lnTo>
                <a:lnTo>
                  <a:pt x="754928" y="742179"/>
                </a:lnTo>
                <a:lnTo>
                  <a:pt x="760780" y="742336"/>
                </a:lnTo>
                <a:lnTo>
                  <a:pt x="766632" y="742471"/>
                </a:lnTo>
                <a:lnTo>
                  <a:pt x="772485" y="742588"/>
                </a:lnTo>
                <a:lnTo>
                  <a:pt x="778337" y="742687"/>
                </a:lnTo>
                <a:lnTo>
                  <a:pt x="784189" y="742772"/>
                </a:lnTo>
                <a:lnTo>
                  <a:pt x="790041" y="742844"/>
                </a:lnTo>
                <a:lnTo>
                  <a:pt x="795893" y="742906"/>
                </a:lnTo>
                <a:lnTo>
                  <a:pt x="801745" y="742959"/>
                </a:lnTo>
                <a:lnTo>
                  <a:pt x="807598" y="743003"/>
                </a:lnTo>
                <a:lnTo>
                  <a:pt x="813450" y="743040"/>
                </a:lnTo>
                <a:lnTo>
                  <a:pt x="819302" y="743072"/>
                </a:lnTo>
                <a:lnTo>
                  <a:pt x="825154" y="743099"/>
                </a:lnTo>
                <a:lnTo>
                  <a:pt x="831006" y="743121"/>
                </a:lnTo>
                <a:lnTo>
                  <a:pt x="836858" y="743140"/>
                </a:lnTo>
                <a:lnTo>
                  <a:pt x="842711" y="743156"/>
                </a:lnTo>
                <a:lnTo>
                  <a:pt x="848563" y="743169"/>
                </a:lnTo>
                <a:lnTo>
                  <a:pt x="854415" y="743180"/>
                </a:lnTo>
                <a:lnTo>
                  <a:pt x="860267" y="743189"/>
                </a:lnTo>
                <a:lnTo>
                  <a:pt x="866119" y="743196"/>
                </a:lnTo>
                <a:lnTo>
                  <a:pt x="871971" y="743203"/>
                </a:lnTo>
                <a:lnTo>
                  <a:pt x="877824" y="743208"/>
                </a:lnTo>
                <a:lnTo>
                  <a:pt x="883676" y="743212"/>
                </a:lnTo>
                <a:lnTo>
                  <a:pt x="889528" y="743216"/>
                </a:lnTo>
                <a:lnTo>
                  <a:pt x="895380" y="743219"/>
                </a:lnTo>
                <a:lnTo>
                  <a:pt x="901232" y="743221"/>
                </a:lnTo>
                <a:lnTo>
                  <a:pt x="907084" y="743223"/>
                </a:lnTo>
                <a:lnTo>
                  <a:pt x="912936" y="743224"/>
                </a:lnTo>
                <a:lnTo>
                  <a:pt x="918789" y="743226"/>
                </a:lnTo>
                <a:lnTo>
                  <a:pt x="924641" y="743227"/>
                </a:lnTo>
                <a:lnTo>
                  <a:pt x="930493" y="743228"/>
                </a:lnTo>
                <a:lnTo>
                  <a:pt x="936345" y="743228"/>
                </a:lnTo>
                <a:lnTo>
                  <a:pt x="942197" y="743229"/>
                </a:lnTo>
                <a:lnTo>
                  <a:pt x="948049" y="743229"/>
                </a:lnTo>
                <a:lnTo>
                  <a:pt x="953902" y="743230"/>
                </a:lnTo>
                <a:lnTo>
                  <a:pt x="959754" y="743230"/>
                </a:lnTo>
                <a:lnTo>
                  <a:pt x="965606" y="743230"/>
                </a:lnTo>
                <a:lnTo>
                  <a:pt x="971458" y="743230"/>
                </a:lnTo>
                <a:lnTo>
                  <a:pt x="977310" y="743230"/>
                </a:lnTo>
                <a:lnTo>
                  <a:pt x="983162" y="743231"/>
                </a:lnTo>
                <a:lnTo>
                  <a:pt x="989015" y="743231"/>
                </a:lnTo>
                <a:lnTo>
                  <a:pt x="994867" y="743231"/>
                </a:lnTo>
                <a:lnTo>
                  <a:pt x="1000719" y="743231"/>
                </a:lnTo>
                <a:lnTo>
                  <a:pt x="1006571" y="743231"/>
                </a:lnTo>
                <a:lnTo>
                  <a:pt x="1012423" y="743231"/>
                </a:lnTo>
                <a:lnTo>
                  <a:pt x="1018275" y="743231"/>
                </a:lnTo>
                <a:lnTo>
                  <a:pt x="1024128" y="743231"/>
                </a:lnTo>
                <a:lnTo>
                  <a:pt x="1029980" y="743231"/>
                </a:lnTo>
                <a:lnTo>
                  <a:pt x="1035832" y="743231"/>
                </a:lnTo>
                <a:lnTo>
                  <a:pt x="1041684" y="743231"/>
                </a:lnTo>
                <a:lnTo>
                  <a:pt x="1047536" y="743231"/>
                </a:lnTo>
                <a:lnTo>
                  <a:pt x="1053388" y="743231"/>
                </a:lnTo>
                <a:lnTo>
                  <a:pt x="1059240" y="743231"/>
                </a:lnTo>
                <a:lnTo>
                  <a:pt x="1065093" y="743231"/>
                </a:lnTo>
                <a:lnTo>
                  <a:pt x="1070945" y="743231"/>
                </a:lnTo>
                <a:lnTo>
                  <a:pt x="1076797" y="743231"/>
                </a:lnTo>
                <a:lnTo>
                  <a:pt x="1082649" y="743231"/>
                </a:lnTo>
                <a:lnTo>
                  <a:pt x="1088501" y="743231"/>
                </a:lnTo>
                <a:lnTo>
                  <a:pt x="1094353" y="743231"/>
                </a:lnTo>
                <a:lnTo>
                  <a:pt x="1100206" y="743231"/>
                </a:lnTo>
                <a:lnTo>
                  <a:pt x="1106058" y="743231"/>
                </a:lnTo>
                <a:lnTo>
                  <a:pt x="1111910" y="743231"/>
                </a:lnTo>
                <a:lnTo>
                  <a:pt x="1117762" y="743231"/>
                </a:lnTo>
                <a:lnTo>
                  <a:pt x="1123614" y="743231"/>
                </a:lnTo>
                <a:lnTo>
                  <a:pt x="1129466" y="743231"/>
                </a:lnTo>
                <a:lnTo>
                  <a:pt x="1135319" y="743231"/>
                </a:lnTo>
                <a:lnTo>
                  <a:pt x="1141171" y="743231"/>
                </a:lnTo>
                <a:lnTo>
                  <a:pt x="1147023" y="743231"/>
                </a:lnTo>
                <a:lnTo>
                  <a:pt x="1152875" y="743231"/>
                </a:lnTo>
                <a:lnTo>
                  <a:pt x="1158727" y="743231"/>
                </a:lnTo>
                <a:lnTo>
                  <a:pt x="1164579" y="743231"/>
                </a:lnTo>
                <a:lnTo>
                  <a:pt x="1170432" y="743231"/>
                </a:lnTo>
                <a:lnTo>
                  <a:pt x="1176284" y="743231"/>
                </a:lnTo>
                <a:lnTo>
                  <a:pt x="1182136" y="743231"/>
                </a:lnTo>
                <a:lnTo>
                  <a:pt x="1187988" y="743231"/>
                </a:lnTo>
                <a:lnTo>
                  <a:pt x="1193840" y="743231"/>
                </a:lnTo>
                <a:lnTo>
                  <a:pt x="1199692" y="743231"/>
                </a:lnTo>
                <a:lnTo>
                  <a:pt x="1205544" y="743231"/>
                </a:lnTo>
                <a:lnTo>
                  <a:pt x="1211397" y="743231"/>
                </a:lnTo>
                <a:lnTo>
                  <a:pt x="1217249" y="743231"/>
                </a:lnTo>
                <a:lnTo>
                  <a:pt x="1223101" y="743231"/>
                </a:lnTo>
                <a:lnTo>
                  <a:pt x="1228953" y="743231"/>
                </a:lnTo>
                <a:lnTo>
                  <a:pt x="1234805" y="743231"/>
                </a:lnTo>
                <a:lnTo>
                  <a:pt x="1240657" y="743231"/>
                </a:lnTo>
                <a:lnTo>
                  <a:pt x="1246510" y="743231"/>
                </a:lnTo>
                <a:lnTo>
                  <a:pt x="1252362" y="743231"/>
                </a:lnTo>
                <a:lnTo>
                  <a:pt x="1258214" y="743231"/>
                </a:lnTo>
                <a:lnTo>
                  <a:pt x="1264066" y="743231"/>
                </a:lnTo>
                <a:lnTo>
                  <a:pt x="1269918" y="743231"/>
                </a:lnTo>
                <a:lnTo>
                  <a:pt x="1275770" y="743231"/>
                </a:lnTo>
                <a:lnTo>
                  <a:pt x="1281623" y="743231"/>
                </a:lnTo>
                <a:lnTo>
                  <a:pt x="1287475" y="743231"/>
                </a:lnTo>
                <a:lnTo>
                  <a:pt x="1293327" y="743231"/>
                </a:lnTo>
                <a:lnTo>
                  <a:pt x="1299179" y="743231"/>
                </a:lnTo>
                <a:lnTo>
                  <a:pt x="1305031" y="743231"/>
                </a:lnTo>
                <a:lnTo>
                  <a:pt x="1310883" y="743231"/>
                </a:lnTo>
                <a:lnTo>
                  <a:pt x="1316736" y="743231"/>
                </a:lnTo>
                <a:lnTo>
                  <a:pt x="1322588" y="743231"/>
                </a:lnTo>
                <a:lnTo>
                  <a:pt x="1328440" y="743231"/>
                </a:lnTo>
                <a:lnTo>
                  <a:pt x="1334292" y="743231"/>
                </a:lnTo>
                <a:lnTo>
                  <a:pt x="1340144" y="743231"/>
                </a:lnTo>
                <a:lnTo>
                  <a:pt x="1345996" y="743231"/>
                </a:lnTo>
                <a:lnTo>
                  <a:pt x="1351848" y="743231"/>
                </a:lnTo>
                <a:lnTo>
                  <a:pt x="1357701" y="743231"/>
                </a:lnTo>
                <a:lnTo>
                  <a:pt x="1363553" y="743231"/>
                </a:lnTo>
                <a:lnTo>
                  <a:pt x="1369405" y="743231"/>
                </a:lnTo>
                <a:lnTo>
                  <a:pt x="1375257" y="743231"/>
                </a:lnTo>
                <a:lnTo>
                  <a:pt x="1381109" y="743231"/>
                </a:lnTo>
                <a:lnTo>
                  <a:pt x="1386961" y="743231"/>
                </a:lnTo>
                <a:lnTo>
                  <a:pt x="1392814" y="743231"/>
                </a:lnTo>
                <a:lnTo>
                  <a:pt x="1398666" y="743231"/>
                </a:lnTo>
                <a:lnTo>
                  <a:pt x="1404518" y="743231"/>
                </a:lnTo>
                <a:lnTo>
                  <a:pt x="1410370" y="743231"/>
                </a:lnTo>
                <a:lnTo>
                  <a:pt x="1416222" y="743231"/>
                </a:lnTo>
                <a:lnTo>
                  <a:pt x="1422074" y="743231"/>
                </a:lnTo>
                <a:lnTo>
                  <a:pt x="1427927" y="743231"/>
                </a:lnTo>
                <a:lnTo>
                  <a:pt x="1433779" y="743231"/>
                </a:lnTo>
                <a:lnTo>
                  <a:pt x="1439631" y="743231"/>
                </a:lnTo>
                <a:lnTo>
                  <a:pt x="1445483" y="743231"/>
                </a:lnTo>
                <a:lnTo>
                  <a:pt x="1451335" y="743231"/>
                </a:lnTo>
                <a:lnTo>
                  <a:pt x="1457187" y="743231"/>
                </a:lnTo>
              </a:path>
            </a:pathLst>
          </a:custGeom>
          <a:noFill/>
          <a:ln w="17780">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Freeform 6">
            <a:extLst>
              <a:ext uri="{FF2B5EF4-FFF2-40B4-BE49-F238E27FC236}">
                <a16:creationId xmlns:a16="http://schemas.microsoft.com/office/drawing/2014/main" id="{7C809C6A-F9D6-6392-FCD9-A0EEBB2106CE}"/>
              </a:ext>
            </a:extLst>
          </p:cNvPr>
          <p:cNvSpPr/>
          <p:nvPr/>
        </p:nvSpPr>
        <p:spPr>
          <a:xfrm>
            <a:off x="6355080" y="3715958"/>
            <a:ext cx="1457187" cy="278780"/>
          </a:xfrm>
          <a:custGeom>
            <a:avLst/>
            <a:gdLst/>
            <a:ahLst/>
            <a:cxnLst/>
            <a:rect l="l" t="t" r="r" b="b"/>
            <a:pathLst>
              <a:path w="1457187" h="278780">
                <a:moveTo>
                  <a:pt x="0" y="277702"/>
                </a:moveTo>
                <a:lnTo>
                  <a:pt x="5852" y="277531"/>
                </a:lnTo>
                <a:lnTo>
                  <a:pt x="11704" y="277336"/>
                </a:lnTo>
                <a:lnTo>
                  <a:pt x="17556" y="277114"/>
                </a:lnTo>
                <a:lnTo>
                  <a:pt x="23408" y="276861"/>
                </a:lnTo>
                <a:lnTo>
                  <a:pt x="29260" y="276575"/>
                </a:lnTo>
                <a:lnTo>
                  <a:pt x="35112" y="276250"/>
                </a:lnTo>
                <a:lnTo>
                  <a:pt x="40965" y="275884"/>
                </a:lnTo>
                <a:lnTo>
                  <a:pt x="46817" y="275470"/>
                </a:lnTo>
                <a:lnTo>
                  <a:pt x="52669" y="275006"/>
                </a:lnTo>
                <a:lnTo>
                  <a:pt x="58521" y="274484"/>
                </a:lnTo>
                <a:lnTo>
                  <a:pt x="64373" y="273901"/>
                </a:lnTo>
                <a:lnTo>
                  <a:pt x="70225" y="273249"/>
                </a:lnTo>
                <a:lnTo>
                  <a:pt x="76078" y="272522"/>
                </a:lnTo>
                <a:lnTo>
                  <a:pt x="81930" y="271714"/>
                </a:lnTo>
                <a:lnTo>
                  <a:pt x="87782" y="270817"/>
                </a:lnTo>
                <a:lnTo>
                  <a:pt x="93634" y="269823"/>
                </a:lnTo>
                <a:lnTo>
                  <a:pt x="99486" y="268726"/>
                </a:lnTo>
                <a:lnTo>
                  <a:pt x="105338" y="267517"/>
                </a:lnTo>
                <a:lnTo>
                  <a:pt x="111191" y="266187"/>
                </a:lnTo>
                <a:lnTo>
                  <a:pt x="117043" y="264728"/>
                </a:lnTo>
                <a:lnTo>
                  <a:pt x="122895" y="263131"/>
                </a:lnTo>
                <a:lnTo>
                  <a:pt x="128747" y="261386"/>
                </a:lnTo>
                <a:lnTo>
                  <a:pt x="134599" y="259486"/>
                </a:lnTo>
                <a:lnTo>
                  <a:pt x="140451" y="257420"/>
                </a:lnTo>
                <a:lnTo>
                  <a:pt x="146304" y="255179"/>
                </a:lnTo>
                <a:lnTo>
                  <a:pt x="152156" y="252755"/>
                </a:lnTo>
                <a:lnTo>
                  <a:pt x="158008" y="250138"/>
                </a:lnTo>
                <a:lnTo>
                  <a:pt x="163860" y="247321"/>
                </a:lnTo>
                <a:lnTo>
                  <a:pt x="169712" y="244294"/>
                </a:lnTo>
                <a:lnTo>
                  <a:pt x="175564" y="241051"/>
                </a:lnTo>
                <a:lnTo>
                  <a:pt x="181416" y="237585"/>
                </a:lnTo>
                <a:lnTo>
                  <a:pt x="187269" y="233888"/>
                </a:lnTo>
                <a:lnTo>
                  <a:pt x="193121" y="229957"/>
                </a:lnTo>
                <a:lnTo>
                  <a:pt x="198973" y="225786"/>
                </a:lnTo>
                <a:lnTo>
                  <a:pt x="204825" y="221372"/>
                </a:lnTo>
                <a:lnTo>
                  <a:pt x="210677" y="216714"/>
                </a:lnTo>
                <a:lnTo>
                  <a:pt x="216529" y="211810"/>
                </a:lnTo>
                <a:lnTo>
                  <a:pt x="222382" y="206660"/>
                </a:lnTo>
                <a:lnTo>
                  <a:pt x="228234" y="201269"/>
                </a:lnTo>
                <a:lnTo>
                  <a:pt x="234086" y="195638"/>
                </a:lnTo>
                <a:lnTo>
                  <a:pt x="239938" y="189775"/>
                </a:lnTo>
                <a:lnTo>
                  <a:pt x="245790" y="183686"/>
                </a:lnTo>
                <a:lnTo>
                  <a:pt x="251642" y="177381"/>
                </a:lnTo>
                <a:lnTo>
                  <a:pt x="257495" y="170871"/>
                </a:lnTo>
                <a:lnTo>
                  <a:pt x="263347" y="164170"/>
                </a:lnTo>
                <a:lnTo>
                  <a:pt x="269199" y="157293"/>
                </a:lnTo>
                <a:lnTo>
                  <a:pt x="275051" y="150258"/>
                </a:lnTo>
                <a:lnTo>
                  <a:pt x="280903" y="143083"/>
                </a:lnTo>
                <a:lnTo>
                  <a:pt x="286755" y="135791"/>
                </a:lnTo>
                <a:lnTo>
                  <a:pt x="292608" y="128404"/>
                </a:lnTo>
                <a:lnTo>
                  <a:pt x="298460" y="120947"/>
                </a:lnTo>
                <a:lnTo>
                  <a:pt x="304312" y="113448"/>
                </a:lnTo>
                <a:lnTo>
                  <a:pt x="310164" y="105934"/>
                </a:lnTo>
                <a:lnTo>
                  <a:pt x="316016" y="98435"/>
                </a:lnTo>
                <a:lnTo>
                  <a:pt x="321868" y="90983"/>
                </a:lnTo>
                <a:lnTo>
                  <a:pt x="327720" y="83608"/>
                </a:lnTo>
                <a:lnTo>
                  <a:pt x="333573" y="76344"/>
                </a:lnTo>
                <a:lnTo>
                  <a:pt x="339425" y="69224"/>
                </a:lnTo>
                <a:lnTo>
                  <a:pt x="345277" y="62281"/>
                </a:lnTo>
                <a:lnTo>
                  <a:pt x="351129" y="55550"/>
                </a:lnTo>
                <a:lnTo>
                  <a:pt x="356981" y="49064"/>
                </a:lnTo>
                <a:lnTo>
                  <a:pt x="362833" y="42856"/>
                </a:lnTo>
                <a:lnTo>
                  <a:pt x="368686" y="36958"/>
                </a:lnTo>
                <a:lnTo>
                  <a:pt x="374538" y="31402"/>
                </a:lnTo>
                <a:lnTo>
                  <a:pt x="380390" y="26217"/>
                </a:lnTo>
                <a:lnTo>
                  <a:pt x="386242" y="21433"/>
                </a:lnTo>
                <a:lnTo>
                  <a:pt x="392094" y="17076"/>
                </a:lnTo>
                <a:lnTo>
                  <a:pt x="397946" y="13170"/>
                </a:lnTo>
                <a:lnTo>
                  <a:pt x="403799" y="9738"/>
                </a:lnTo>
                <a:lnTo>
                  <a:pt x="409651" y="6799"/>
                </a:lnTo>
                <a:lnTo>
                  <a:pt x="415503" y="4370"/>
                </a:lnTo>
                <a:lnTo>
                  <a:pt x="421355" y="2467"/>
                </a:lnTo>
                <a:lnTo>
                  <a:pt x="427207" y="1099"/>
                </a:lnTo>
                <a:lnTo>
                  <a:pt x="433059" y="275"/>
                </a:lnTo>
                <a:lnTo>
                  <a:pt x="438912" y="0"/>
                </a:lnTo>
                <a:lnTo>
                  <a:pt x="444764" y="275"/>
                </a:lnTo>
                <a:lnTo>
                  <a:pt x="450616" y="1099"/>
                </a:lnTo>
                <a:lnTo>
                  <a:pt x="456468" y="2467"/>
                </a:lnTo>
                <a:lnTo>
                  <a:pt x="462320" y="4370"/>
                </a:lnTo>
                <a:lnTo>
                  <a:pt x="468172" y="6799"/>
                </a:lnTo>
                <a:lnTo>
                  <a:pt x="474024" y="9738"/>
                </a:lnTo>
                <a:lnTo>
                  <a:pt x="479877" y="13170"/>
                </a:lnTo>
                <a:lnTo>
                  <a:pt x="485729" y="17076"/>
                </a:lnTo>
                <a:lnTo>
                  <a:pt x="491581" y="21433"/>
                </a:lnTo>
                <a:lnTo>
                  <a:pt x="497433" y="26217"/>
                </a:lnTo>
                <a:lnTo>
                  <a:pt x="503285" y="31402"/>
                </a:lnTo>
                <a:lnTo>
                  <a:pt x="509137" y="36958"/>
                </a:lnTo>
                <a:lnTo>
                  <a:pt x="514990" y="42856"/>
                </a:lnTo>
                <a:lnTo>
                  <a:pt x="520842" y="49064"/>
                </a:lnTo>
                <a:lnTo>
                  <a:pt x="526694" y="55550"/>
                </a:lnTo>
                <a:lnTo>
                  <a:pt x="532546" y="62281"/>
                </a:lnTo>
                <a:lnTo>
                  <a:pt x="538398" y="69224"/>
                </a:lnTo>
                <a:lnTo>
                  <a:pt x="544250" y="76344"/>
                </a:lnTo>
                <a:lnTo>
                  <a:pt x="550103" y="83608"/>
                </a:lnTo>
                <a:lnTo>
                  <a:pt x="555955" y="90983"/>
                </a:lnTo>
                <a:lnTo>
                  <a:pt x="561807" y="98435"/>
                </a:lnTo>
                <a:lnTo>
                  <a:pt x="567659" y="105934"/>
                </a:lnTo>
                <a:lnTo>
                  <a:pt x="573511" y="113448"/>
                </a:lnTo>
                <a:lnTo>
                  <a:pt x="579363" y="120947"/>
                </a:lnTo>
                <a:lnTo>
                  <a:pt x="585216" y="128404"/>
                </a:lnTo>
                <a:lnTo>
                  <a:pt x="591068" y="135791"/>
                </a:lnTo>
                <a:lnTo>
                  <a:pt x="596920" y="143083"/>
                </a:lnTo>
                <a:lnTo>
                  <a:pt x="602772" y="150258"/>
                </a:lnTo>
                <a:lnTo>
                  <a:pt x="608624" y="157293"/>
                </a:lnTo>
                <a:lnTo>
                  <a:pt x="614476" y="164170"/>
                </a:lnTo>
                <a:lnTo>
                  <a:pt x="620328" y="170871"/>
                </a:lnTo>
                <a:lnTo>
                  <a:pt x="626181" y="177381"/>
                </a:lnTo>
                <a:lnTo>
                  <a:pt x="632033" y="183686"/>
                </a:lnTo>
                <a:lnTo>
                  <a:pt x="637885" y="189775"/>
                </a:lnTo>
                <a:lnTo>
                  <a:pt x="643737" y="195638"/>
                </a:lnTo>
                <a:lnTo>
                  <a:pt x="649589" y="201269"/>
                </a:lnTo>
                <a:lnTo>
                  <a:pt x="655441" y="206660"/>
                </a:lnTo>
                <a:lnTo>
                  <a:pt x="661294" y="211810"/>
                </a:lnTo>
                <a:lnTo>
                  <a:pt x="667146" y="216714"/>
                </a:lnTo>
                <a:lnTo>
                  <a:pt x="672998" y="221372"/>
                </a:lnTo>
                <a:lnTo>
                  <a:pt x="678850" y="225786"/>
                </a:lnTo>
                <a:lnTo>
                  <a:pt x="684702" y="229957"/>
                </a:lnTo>
                <a:lnTo>
                  <a:pt x="690554" y="233888"/>
                </a:lnTo>
                <a:lnTo>
                  <a:pt x="696407" y="237585"/>
                </a:lnTo>
                <a:lnTo>
                  <a:pt x="702259" y="241051"/>
                </a:lnTo>
                <a:lnTo>
                  <a:pt x="708111" y="244294"/>
                </a:lnTo>
                <a:lnTo>
                  <a:pt x="713963" y="247321"/>
                </a:lnTo>
                <a:lnTo>
                  <a:pt x="719815" y="250138"/>
                </a:lnTo>
                <a:lnTo>
                  <a:pt x="725667" y="252755"/>
                </a:lnTo>
                <a:lnTo>
                  <a:pt x="731520" y="255179"/>
                </a:lnTo>
                <a:lnTo>
                  <a:pt x="737372" y="257420"/>
                </a:lnTo>
                <a:lnTo>
                  <a:pt x="743224" y="259486"/>
                </a:lnTo>
                <a:lnTo>
                  <a:pt x="749076" y="261386"/>
                </a:lnTo>
                <a:lnTo>
                  <a:pt x="754928" y="263131"/>
                </a:lnTo>
                <a:lnTo>
                  <a:pt x="760780" y="264728"/>
                </a:lnTo>
                <a:lnTo>
                  <a:pt x="766632" y="266187"/>
                </a:lnTo>
                <a:lnTo>
                  <a:pt x="772485" y="267517"/>
                </a:lnTo>
                <a:lnTo>
                  <a:pt x="778337" y="268726"/>
                </a:lnTo>
                <a:lnTo>
                  <a:pt x="784189" y="269823"/>
                </a:lnTo>
                <a:lnTo>
                  <a:pt x="790041" y="270817"/>
                </a:lnTo>
                <a:lnTo>
                  <a:pt x="795893" y="271714"/>
                </a:lnTo>
                <a:lnTo>
                  <a:pt x="801745" y="272522"/>
                </a:lnTo>
                <a:lnTo>
                  <a:pt x="807598" y="273249"/>
                </a:lnTo>
                <a:lnTo>
                  <a:pt x="813450" y="273901"/>
                </a:lnTo>
                <a:lnTo>
                  <a:pt x="819302" y="274484"/>
                </a:lnTo>
                <a:lnTo>
                  <a:pt x="825154" y="275006"/>
                </a:lnTo>
                <a:lnTo>
                  <a:pt x="831006" y="275470"/>
                </a:lnTo>
                <a:lnTo>
                  <a:pt x="836858" y="275884"/>
                </a:lnTo>
                <a:lnTo>
                  <a:pt x="842711" y="276250"/>
                </a:lnTo>
                <a:lnTo>
                  <a:pt x="848563" y="276575"/>
                </a:lnTo>
                <a:lnTo>
                  <a:pt x="854415" y="276861"/>
                </a:lnTo>
                <a:lnTo>
                  <a:pt x="860267" y="277114"/>
                </a:lnTo>
                <a:lnTo>
                  <a:pt x="866119" y="277336"/>
                </a:lnTo>
                <a:lnTo>
                  <a:pt x="871971" y="277531"/>
                </a:lnTo>
                <a:lnTo>
                  <a:pt x="877824" y="277702"/>
                </a:lnTo>
                <a:lnTo>
                  <a:pt x="883676" y="277852"/>
                </a:lnTo>
                <a:lnTo>
                  <a:pt x="889528" y="277982"/>
                </a:lnTo>
                <a:lnTo>
                  <a:pt x="895380" y="278095"/>
                </a:lnTo>
                <a:lnTo>
                  <a:pt x="901232" y="278194"/>
                </a:lnTo>
                <a:lnTo>
                  <a:pt x="907084" y="278279"/>
                </a:lnTo>
                <a:lnTo>
                  <a:pt x="912936" y="278352"/>
                </a:lnTo>
                <a:lnTo>
                  <a:pt x="918789" y="278416"/>
                </a:lnTo>
                <a:lnTo>
                  <a:pt x="924641" y="278471"/>
                </a:lnTo>
                <a:lnTo>
                  <a:pt x="930493" y="278518"/>
                </a:lnTo>
                <a:lnTo>
                  <a:pt x="936345" y="278558"/>
                </a:lnTo>
                <a:lnTo>
                  <a:pt x="942197" y="278593"/>
                </a:lnTo>
                <a:lnTo>
                  <a:pt x="948049" y="278622"/>
                </a:lnTo>
                <a:lnTo>
                  <a:pt x="953902" y="278647"/>
                </a:lnTo>
                <a:lnTo>
                  <a:pt x="959754" y="278668"/>
                </a:lnTo>
                <a:lnTo>
                  <a:pt x="965606" y="278687"/>
                </a:lnTo>
                <a:lnTo>
                  <a:pt x="971458" y="278702"/>
                </a:lnTo>
                <a:lnTo>
                  <a:pt x="977310" y="278715"/>
                </a:lnTo>
                <a:lnTo>
                  <a:pt x="983162" y="278726"/>
                </a:lnTo>
                <a:lnTo>
                  <a:pt x="989015" y="278735"/>
                </a:lnTo>
                <a:lnTo>
                  <a:pt x="994867" y="278743"/>
                </a:lnTo>
                <a:lnTo>
                  <a:pt x="1000719" y="278749"/>
                </a:lnTo>
                <a:lnTo>
                  <a:pt x="1006571" y="278754"/>
                </a:lnTo>
                <a:lnTo>
                  <a:pt x="1012423" y="278759"/>
                </a:lnTo>
                <a:lnTo>
                  <a:pt x="1018275" y="278763"/>
                </a:lnTo>
                <a:lnTo>
                  <a:pt x="1024128" y="278766"/>
                </a:lnTo>
                <a:lnTo>
                  <a:pt x="1029980" y="278768"/>
                </a:lnTo>
                <a:lnTo>
                  <a:pt x="1035832" y="278770"/>
                </a:lnTo>
                <a:lnTo>
                  <a:pt x="1041684" y="278772"/>
                </a:lnTo>
                <a:lnTo>
                  <a:pt x="1047536" y="278774"/>
                </a:lnTo>
                <a:lnTo>
                  <a:pt x="1053388" y="278775"/>
                </a:lnTo>
                <a:lnTo>
                  <a:pt x="1059240" y="278776"/>
                </a:lnTo>
                <a:lnTo>
                  <a:pt x="1065093" y="278777"/>
                </a:lnTo>
                <a:lnTo>
                  <a:pt x="1070945" y="278777"/>
                </a:lnTo>
                <a:lnTo>
                  <a:pt x="1076797" y="278778"/>
                </a:lnTo>
                <a:lnTo>
                  <a:pt x="1082649" y="278778"/>
                </a:lnTo>
                <a:lnTo>
                  <a:pt x="1088501" y="278779"/>
                </a:lnTo>
                <a:lnTo>
                  <a:pt x="1094353" y="278779"/>
                </a:lnTo>
                <a:lnTo>
                  <a:pt x="1100206" y="278779"/>
                </a:lnTo>
                <a:lnTo>
                  <a:pt x="1106058" y="278779"/>
                </a:lnTo>
                <a:lnTo>
                  <a:pt x="1111910" y="278779"/>
                </a:lnTo>
                <a:lnTo>
                  <a:pt x="1117762" y="278780"/>
                </a:lnTo>
                <a:lnTo>
                  <a:pt x="1123614" y="278780"/>
                </a:lnTo>
                <a:lnTo>
                  <a:pt x="1129466" y="278780"/>
                </a:lnTo>
                <a:lnTo>
                  <a:pt x="1135319" y="278780"/>
                </a:lnTo>
                <a:lnTo>
                  <a:pt x="1141171" y="278780"/>
                </a:lnTo>
                <a:lnTo>
                  <a:pt x="1147023" y="278780"/>
                </a:lnTo>
                <a:lnTo>
                  <a:pt x="1152875" y="278780"/>
                </a:lnTo>
                <a:lnTo>
                  <a:pt x="1158727" y="278780"/>
                </a:lnTo>
                <a:lnTo>
                  <a:pt x="1164579" y="278780"/>
                </a:lnTo>
                <a:lnTo>
                  <a:pt x="1170432" y="278780"/>
                </a:lnTo>
                <a:lnTo>
                  <a:pt x="1176284" y="278780"/>
                </a:lnTo>
                <a:lnTo>
                  <a:pt x="1182136" y="278780"/>
                </a:lnTo>
                <a:lnTo>
                  <a:pt x="1187988" y="278780"/>
                </a:lnTo>
                <a:lnTo>
                  <a:pt x="1193840" y="278780"/>
                </a:lnTo>
                <a:lnTo>
                  <a:pt x="1199692" y="278780"/>
                </a:lnTo>
                <a:lnTo>
                  <a:pt x="1205544" y="278780"/>
                </a:lnTo>
                <a:lnTo>
                  <a:pt x="1211397" y="278780"/>
                </a:lnTo>
                <a:lnTo>
                  <a:pt x="1217249" y="278780"/>
                </a:lnTo>
                <a:lnTo>
                  <a:pt x="1223101" y="278780"/>
                </a:lnTo>
                <a:lnTo>
                  <a:pt x="1228953" y="278780"/>
                </a:lnTo>
                <a:lnTo>
                  <a:pt x="1234805" y="278780"/>
                </a:lnTo>
                <a:lnTo>
                  <a:pt x="1240657" y="278780"/>
                </a:lnTo>
                <a:lnTo>
                  <a:pt x="1246510" y="278780"/>
                </a:lnTo>
                <a:lnTo>
                  <a:pt x="1252362" y="278780"/>
                </a:lnTo>
                <a:lnTo>
                  <a:pt x="1258214" y="278780"/>
                </a:lnTo>
                <a:lnTo>
                  <a:pt x="1264066" y="278780"/>
                </a:lnTo>
                <a:lnTo>
                  <a:pt x="1269918" y="278780"/>
                </a:lnTo>
                <a:lnTo>
                  <a:pt x="1275770" y="278780"/>
                </a:lnTo>
                <a:lnTo>
                  <a:pt x="1281623" y="278780"/>
                </a:lnTo>
                <a:lnTo>
                  <a:pt x="1287475" y="278780"/>
                </a:lnTo>
                <a:lnTo>
                  <a:pt x="1293327" y="278780"/>
                </a:lnTo>
                <a:lnTo>
                  <a:pt x="1299179" y="278780"/>
                </a:lnTo>
                <a:lnTo>
                  <a:pt x="1305031" y="278780"/>
                </a:lnTo>
                <a:lnTo>
                  <a:pt x="1310883" y="278780"/>
                </a:lnTo>
                <a:lnTo>
                  <a:pt x="1316736" y="278780"/>
                </a:lnTo>
                <a:lnTo>
                  <a:pt x="1322588" y="278780"/>
                </a:lnTo>
                <a:lnTo>
                  <a:pt x="1328440" y="278780"/>
                </a:lnTo>
                <a:lnTo>
                  <a:pt x="1334292" y="278780"/>
                </a:lnTo>
                <a:lnTo>
                  <a:pt x="1340144" y="278780"/>
                </a:lnTo>
                <a:lnTo>
                  <a:pt x="1345996" y="278780"/>
                </a:lnTo>
                <a:lnTo>
                  <a:pt x="1351848" y="278780"/>
                </a:lnTo>
                <a:lnTo>
                  <a:pt x="1357701" y="278780"/>
                </a:lnTo>
                <a:lnTo>
                  <a:pt x="1363553" y="278780"/>
                </a:lnTo>
                <a:lnTo>
                  <a:pt x="1369405" y="278780"/>
                </a:lnTo>
                <a:lnTo>
                  <a:pt x="1375257" y="278780"/>
                </a:lnTo>
                <a:lnTo>
                  <a:pt x="1381109" y="278780"/>
                </a:lnTo>
                <a:lnTo>
                  <a:pt x="1386961" y="278780"/>
                </a:lnTo>
                <a:lnTo>
                  <a:pt x="1392814" y="278780"/>
                </a:lnTo>
                <a:lnTo>
                  <a:pt x="1398666" y="278780"/>
                </a:lnTo>
                <a:lnTo>
                  <a:pt x="1404518" y="278780"/>
                </a:lnTo>
                <a:lnTo>
                  <a:pt x="1410370" y="278780"/>
                </a:lnTo>
                <a:lnTo>
                  <a:pt x="1416222" y="278780"/>
                </a:lnTo>
                <a:lnTo>
                  <a:pt x="1422074" y="278780"/>
                </a:lnTo>
                <a:lnTo>
                  <a:pt x="1427927" y="278780"/>
                </a:lnTo>
                <a:lnTo>
                  <a:pt x="1433779" y="278780"/>
                </a:lnTo>
                <a:lnTo>
                  <a:pt x="1439631" y="278780"/>
                </a:lnTo>
                <a:lnTo>
                  <a:pt x="1445483" y="278780"/>
                </a:lnTo>
                <a:lnTo>
                  <a:pt x="1451335" y="278780"/>
                </a:lnTo>
                <a:lnTo>
                  <a:pt x="1457187" y="278780"/>
                </a:lnTo>
              </a:path>
            </a:pathLst>
          </a:custGeom>
          <a:noFill/>
          <a:ln w="1778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a:extLst>
              <a:ext uri="{FF2B5EF4-FFF2-40B4-BE49-F238E27FC236}">
                <a16:creationId xmlns:a16="http://schemas.microsoft.com/office/drawing/2014/main" id="{714B1C49-3BAB-CF2C-9C7C-1DE06D437943}"/>
              </a:ext>
            </a:extLst>
          </p:cNvPr>
          <p:cNvSpPr txBox="1"/>
          <p:nvPr/>
        </p:nvSpPr>
        <p:spPr>
          <a:xfrm>
            <a:off x="6355080" y="4133087"/>
            <a:ext cx="1463040" cy="395630"/>
          </a:xfrm>
          <a:prstGeom prst="rect">
            <a:avLst/>
          </a:prstGeom>
          <a:noFill/>
        </p:spPr>
        <p:txBody>
          <a:bodyPr wrap="square" lIns="0" tIns="0" rIns="0" bIns="0" anchor="t">
            <a:spAutoFit/>
          </a:bodyPr>
          <a:lstStyle/>
          <a:p>
            <a:pPr algn="ctr">
              <a:spcAft>
                <a:spcPts val="0"/>
              </a:spcAft>
            </a:pPr>
            <a:r>
              <a:rPr sz="2200" b="1" dirty="0">
                <a:solidFill>
                  <a:srgbClr val="262626"/>
                </a:solidFill>
                <a:latin typeface="Meiryo"/>
                <a:ea typeface="Meiryo"/>
                <a:cs typeface="Meiryo"/>
              </a:rPr>
              <a:t>反復 0</a:t>
            </a:r>
          </a:p>
        </p:txBody>
      </p:sp>
      <p:sp>
        <p:nvSpPr>
          <p:cNvPr id="73" name="TextBox 72">
            <a:extLst>
              <a:ext uri="{FF2B5EF4-FFF2-40B4-BE49-F238E27FC236}">
                <a16:creationId xmlns:a16="http://schemas.microsoft.com/office/drawing/2014/main" id="{FD69283A-BCEB-BA92-63AF-19CD7785F49B}"/>
              </a:ext>
            </a:extLst>
          </p:cNvPr>
          <p:cNvSpPr txBox="1"/>
          <p:nvPr/>
        </p:nvSpPr>
        <p:spPr>
          <a:xfrm>
            <a:off x="6355080" y="4526280"/>
            <a:ext cx="1463040" cy="395630"/>
          </a:xfrm>
          <a:prstGeom prst="rect">
            <a:avLst/>
          </a:prstGeom>
          <a:noFill/>
        </p:spPr>
        <p:txBody>
          <a:bodyPr wrap="square" lIns="0" tIns="0" rIns="0" bIns="0" anchor="t">
            <a:spAutoFit/>
          </a:bodyPr>
          <a:lstStyle/>
          <a:p>
            <a:pPr algn="ctr">
              <a:spcAft>
                <a:spcPts val="0"/>
              </a:spcAft>
            </a:pPr>
            <a:r>
              <a:rPr sz="2200" b="0" dirty="0">
                <a:solidFill>
                  <a:srgbClr val="C00000"/>
                </a:solidFill>
                <a:latin typeface="Meiryo"/>
                <a:ea typeface="Meiryo"/>
                <a:cs typeface="Meiryo"/>
              </a:rPr>
              <a:t>10.9%</a:t>
            </a:r>
          </a:p>
        </p:txBody>
      </p:sp>
      <p:cxnSp>
        <p:nvCxnSpPr>
          <p:cNvPr id="74" name="Connector 73">
            <a:extLst>
              <a:ext uri="{FF2B5EF4-FFF2-40B4-BE49-F238E27FC236}">
                <a16:creationId xmlns:a16="http://schemas.microsoft.com/office/drawing/2014/main" id="{91BF88BD-903E-1825-7686-81788D9C189C}"/>
              </a:ext>
            </a:extLst>
          </p:cNvPr>
          <p:cNvCxnSpPr/>
          <p:nvPr/>
        </p:nvCxnSpPr>
        <p:spPr>
          <a:xfrm>
            <a:off x="7872983" y="3474720"/>
            <a:ext cx="182881" cy="0"/>
          </a:xfrm>
          <a:prstGeom prst="line">
            <a:avLst/>
          </a:prstGeom>
          <a:ln w="25400">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Freeform 7">
            <a:extLst>
              <a:ext uri="{FF2B5EF4-FFF2-40B4-BE49-F238E27FC236}">
                <a16:creationId xmlns:a16="http://schemas.microsoft.com/office/drawing/2014/main" id="{F87E7C2A-E3E5-1F02-A44B-E18C48D94A61}"/>
              </a:ext>
            </a:extLst>
          </p:cNvPr>
          <p:cNvSpPr/>
          <p:nvPr/>
        </p:nvSpPr>
        <p:spPr>
          <a:xfrm>
            <a:off x="8110728" y="3013602"/>
            <a:ext cx="1457187" cy="1006102"/>
          </a:xfrm>
          <a:custGeom>
            <a:avLst/>
            <a:gdLst/>
            <a:ahLst/>
            <a:cxnLst/>
            <a:rect l="l" t="t" r="r" b="b"/>
            <a:pathLst>
              <a:path w="1457187" h="1006102">
                <a:moveTo>
                  <a:pt x="0" y="930631"/>
                </a:moveTo>
                <a:lnTo>
                  <a:pt x="5852" y="979178"/>
                </a:lnTo>
                <a:lnTo>
                  <a:pt x="11704" y="938521"/>
                </a:lnTo>
                <a:lnTo>
                  <a:pt x="17556" y="943184"/>
                </a:lnTo>
                <a:lnTo>
                  <a:pt x="23408" y="933984"/>
                </a:lnTo>
                <a:lnTo>
                  <a:pt x="29260" y="922247"/>
                </a:lnTo>
                <a:lnTo>
                  <a:pt x="35112" y="933130"/>
                </a:lnTo>
                <a:lnTo>
                  <a:pt x="40965" y="900749"/>
                </a:lnTo>
                <a:lnTo>
                  <a:pt x="46817" y="895215"/>
                </a:lnTo>
                <a:lnTo>
                  <a:pt x="52669" y="831867"/>
                </a:lnTo>
                <a:lnTo>
                  <a:pt x="58521" y="851967"/>
                </a:lnTo>
                <a:lnTo>
                  <a:pt x="64373" y="840964"/>
                </a:lnTo>
                <a:lnTo>
                  <a:pt x="70225" y="820608"/>
                </a:lnTo>
                <a:lnTo>
                  <a:pt x="76078" y="803780"/>
                </a:lnTo>
                <a:lnTo>
                  <a:pt x="81930" y="785098"/>
                </a:lnTo>
                <a:lnTo>
                  <a:pt x="87782" y="752266"/>
                </a:lnTo>
                <a:lnTo>
                  <a:pt x="93634" y="715134"/>
                </a:lnTo>
                <a:lnTo>
                  <a:pt x="99486" y="694773"/>
                </a:lnTo>
                <a:lnTo>
                  <a:pt x="105338" y="650264"/>
                </a:lnTo>
                <a:lnTo>
                  <a:pt x="111191" y="631566"/>
                </a:lnTo>
                <a:lnTo>
                  <a:pt x="117043" y="595191"/>
                </a:lnTo>
                <a:lnTo>
                  <a:pt x="122895" y="542282"/>
                </a:lnTo>
                <a:lnTo>
                  <a:pt x="128747" y="517631"/>
                </a:lnTo>
                <a:lnTo>
                  <a:pt x="134599" y="492594"/>
                </a:lnTo>
                <a:lnTo>
                  <a:pt x="140451" y="450822"/>
                </a:lnTo>
                <a:lnTo>
                  <a:pt x="146304" y="403947"/>
                </a:lnTo>
                <a:lnTo>
                  <a:pt x="152156" y="349126"/>
                </a:lnTo>
                <a:lnTo>
                  <a:pt x="158008" y="336550"/>
                </a:lnTo>
                <a:lnTo>
                  <a:pt x="163860" y="298502"/>
                </a:lnTo>
                <a:lnTo>
                  <a:pt x="169712" y="247145"/>
                </a:lnTo>
                <a:lnTo>
                  <a:pt x="175564" y="233686"/>
                </a:lnTo>
                <a:lnTo>
                  <a:pt x="181416" y="192894"/>
                </a:lnTo>
                <a:lnTo>
                  <a:pt x="187269" y="147356"/>
                </a:lnTo>
                <a:lnTo>
                  <a:pt x="193121" y="121417"/>
                </a:lnTo>
                <a:lnTo>
                  <a:pt x="198973" y="100336"/>
                </a:lnTo>
                <a:lnTo>
                  <a:pt x="204825" y="69761"/>
                </a:lnTo>
                <a:lnTo>
                  <a:pt x="210677" y="90008"/>
                </a:lnTo>
                <a:lnTo>
                  <a:pt x="216529" y="27904"/>
                </a:lnTo>
                <a:lnTo>
                  <a:pt x="222382" y="37479"/>
                </a:lnTo>
                <a:lnTo>
                  <a:pt x="228234" y="35928"/>
                </a:lnTo>
                <a:lnTo>
                  <a:pt x="234086" y="7182"/>
                </a:lnTo>
                <a:lnTo>
                  <a:pt x="239938" y="0"/>
                </a:lnTo>
                <a:lnTo>
                  <a:pt x="245790" y="14906"/>
                </a:lnTo>
                <a:lnTo>
                  <a:pt x="251642" y="27486"/>
                </a:lnTo>
                <a:lnTo>
                  <a:pt x="257495" y="23345"/>
                </a:lnTo>
                <a:lnTo>
                  <a:pt x="263347" y="36330"/>
                </a:lnTo>
                <a:lnTo>
                  <a:pt x="269199" y="34463"/>
                </a:lnTo>
                <a:lnTo>
                  <a:pt x="275051" y="60128"/>
                </a:lnTo>
                <a:lnTo>
                  <a:pt x="280903" y="87083"/>
                </a:lnTo>
                <a:lnTo>
                  <a:pt x="286755" y="99034"/>
                </a:lnTo>
                <a:lnTo>
                  <a:pt x="292608" y="138902"/>
                </a:lnTo>
                <a:lnTo>
                  <a:pt x="298460" y="173257"/>
                </a:lnTo>
                <a:lnTo>
                  <a:pt x="304312" y="182657"/>
                </a:lnTo>
                <a:lnTo>
                  <a:pt x="310164" y="210419"/>
                </a:lnTo>
                <a:lnTo>
                  <a:pt x="316016" y="247828"/>
                </a:lnTo>
                <a:lnTo>
                  <a:pt x="321868" y="282568"/>
                </a:lnTo>
                <a:lnTo>
                  <a:pt x="327720" y="298546"/>
                </a:lnTo>
                <a:lnTo>
                  <a:pt x="333573" y="357520"/>
                </a:lnTo>
                <a:lnTo>
                  <a:pt x="339425" y="346643"/>
                </a:lnTo>
                <a:lnTo>
                  <a:pt x="345277" y="374143"/>
                </a:lnTo>
                <a:lnTo>
                  <a:pt x="351129" y="422875"/>
                </a:lnTo>
                <a:lnTo>
                  <a:pt x="356981" y="425400"/>
                </a:lnTo>
                <a:lnTo>
                  <a:pt x="362833" y="458139"/>
                </a:lnTo>
                <a:lnTo>
                  <a:pt x="368686" y="457106"/>
                </a:lnTo>
                <a:lnTo>
                  <a:pt x="374538" y="507005"/>
                </a:lnTo>
                <a:lnTo>
                  <a:pt x="380390" y="509465"/>
                </a:lnTo>
                <a:lnTo>
                  <a:pt x="386242" y="504270"/>
                </a:lnTo>
                <a:lnTo>
                  <a:pt x="392094" y="511096"/>
                </a:lnTo>
                <a:lnTo>
                  <a:pt x="397946" y="560178"/>
                </a:lnTo>
                <a:lnTo>
                  <a:pt x="403799" y="549611"/>
                </a:lnTo>
                <a:lnTo>
                  <a:pt x="409651" y="547320"/>
                </a:lnTo>
                <a:lnTo>
                  <a:pt x="415503" y="564278"/>
                </a:lnTo>
                <a:lnTo>
                  <a:pt x="421355" y="543407"/>
                </a:lnTo>
                <a:lnTo>
                  <a:pt x="427207" y="579642"/>
                </a:lnTo>
                <a:lnTo>
                  <a:pt x="433059" y="564442"/>
                </a:lnTo>
                <a:lnTo>
                  <a:pt x="438912" y="582914"/>
                </a:lnTo>
                <a:lnTo>
                  <a:pt x="444764" y="555745"/>
                </a:lnTo>
                <a:lnTo>
                  <a:pt x="450616" y="573444"/>
                </a:lnTo>
                <a:lnTo>
                  <a:pt x="456468" y="578257"/>
                </a:lnTo>
                <a:lnTo>
                  <a:pt x="462320" y="594516"/>
                </a:lnTo>
                <a:lnTo>
                  <a:pt x="468172" y="555318"/>
                </a:lnTo>
                <a:lnTo>
                  <a:pt x="474024" y="566736"/>
                </a:lnTo>
                <a:lnTo>
                  <a:pt x="479877" y="567478"/>
                </a:lnTo>
                <a:lnTo>
                  <a:pt x="485729" y="564019"/>
                </a:lnTo>
                <a:lnTo>
                  <a:pt x="491581" y="574617"/>
                </a:lnTo>
                <a:lnTo>
                  <a:pt x="497433" y="587984"/>
                </a:lnTo>
                <a:lnTo>
                  <a:pt x="503285" y="592185"/>
                </a:lnTo>
                <a:lnTo>
                  <a:pt x="509137" y="595052"/>
                </a:lnTo>
                <a:lnTo>
                  <a:pt x="514990" y="573164"/>
                </a:lnTo>
                <a:lnTo>
                  <a:pt x="520842" y="610271"/>
                </a:lnTo>
                <a:lnTo>
                  <a:pt x="526694" y="604870"/>
                </a:lnTo>
                <a:lnTo>
                  <a:pt x="532546" y="606975"/>
                </a:lnTo>
                <a:lnTo>
                  <a:pt x="538398" y="606549"/>
                </a:lnTo>
                <a:lnTo>
                  <a:pt x="544250" y="609019"/>
                </a:lnTo>
                <a:lnTo>
                  <a:pt x="550103" y="637483"/>
                </a:lnTo>
                <a:lnTo>
                  <a:pt x="555955" y="650833"/>
                </a:lnTo>
                <a:lnTo>
                  <a:pt x="561807" y="638960"/>
                </a:lnTo>
                <a:lnTo>
                  <a:pt x="567659" y="633517"/>
                </a:lnTo>
                <a:lnTo>
                  <a:pt x="573511" y="648086"/>
                </a:lnTo>
                <a:lnTo>
                  <a:pt x="579363" y="664061"/>
                </a:lnTo>
                <a:lnTo>
                  <a:pt x="585216" y="680304"/>
                </a:lnTo>
                <a:lnTo>
                  <a:pt x="591068" y="683516"/>
                </a:lnTo>
                <a:lnTo>
                  <a:pt x="596920" y="700385"/>
                </a:lnTo>
                <a:lnTo>
                  <a:pt x="602772" y="698820"/>
                </a:lnTo>
                <a:lnTo>
                  <a:pt x="608624" y="728615"/>
                </a:lnTo>
                <a:lnTo>
                  <a:pt x="614476" y="728858"/>
                </a:lnTo>
                <a:lnTo>
                  <a:pt x="620328" y="742862"/>
                </a:lnTo>
                <a:lnTo>
                  <a:pt x="626181" y="746376"/>
                </a:lnTo>
                <a:lnTo>
                  <a:pt x="632033" y="761209"/>
                </a:lnTo>
                <a:lnTo>
                  <a:pt x="637885" y="745085"/>
                </a:lnTo>
                <a:lnTo>
                  <a:pt x="643737" y="768259"/>
                </a:lnTo>
                <a:lnTo>
                  <a:pt x="649589" y="779013"/>
                </a:lnTo>
                <a:lnTo>
                  <a:pt x="655441" y="830827"/>
                </a:lnTo>
                <a:lnTo>
                  <a:pt x="661294" y="821278"/>
                </a:lnTo>
                <a:lnTo>
                  <a:pt x="667146" y="834432"/>
                </a:lnTo>
                <a:lnTo>
                  <a:pt x="672998" y="830834"/>
                </a:lnTo>
                <a:lnTo>
                  <a:pt x="678850" y="873074"/>
                </a:lnTo>
                <a:lnTo>
                  <a:pt x="684702" y="841827"/>
                </a:lnTo>
                <a:lnTo>
                  <a:pt x="690554" y="851805"/>
                </a:lnTo>
                <a:lnTo>
                  <a:pt x="696407" y="887822"/>
                </a:lnTo>
                <a:lnTo>
                  <a:pt x="702259" y="892026"/>
                </a:lnTo>
                <a:lnTo>
                  <a:pt x="708111" y="897557"/>
                </a:lnTo>
                <a:lnTo>
                  <a:pt x="713963" y="894913"/>
                </a:lnTo>
                <a:lnTo>
                  <a:pt x="719815" y="894766"/>
                </a:lnTo>
                <a:lnTo>
                  <a:pt x="725667" y="884787"/>
                </a:lnTo>
                <a:lnTo>
                  <a:pt x="731520" y="917070"/>
                </a:lnTo>
                <a:lnTo>
                  <a:pt x="737372" y="911497"/>
                </a:lnTo>
                <a:lnTo>
                  <a:pt x="743224" y="923971"/>
                </a:lnTo>
                <a:lnTo>
                  <a:pt x="749076" y="910210"/>
                </a:lnTo>
                <a:lnTo>
                  <a:pt x="754928" y="926719"/>
                </a:lnTo>
                <a:lnTo>
                  <a:pt x="760780" y="923699"/>
                </a:lnTo>
                <a:lnTo>
                  <a:pt x="766632" y="956234"/>
                </a:lnTo>
                <a:lnTo>
                  <a:pt x="772485" y="949564"/>
                </a:lnTo>
                <a:lnTo>
                  <a:pt x="778337" y="960197"/>
                </a:lnTo>
                <a:lnTo>
                  <a:pt x="784189" y="936225"/>
                </a:lnTo>
                <a:lnTo>
                  <a:pt x="790041" y="948956"/>
                </a:lnTo>
                <a:lnTo>
                  <a:pt x="795893" y="962790"/>
                </a:lnTo>
                <a:lnTo>
                  <a:pt x="801745" y="966871"/>
                </a:lnTo>
                <a:lnTo>
                  <a:pt x="807598" y="958075"/>
                </a:lnTo>
                <a:lnTo>
                  <a:pt x="813450" y="973869"/>
                </a:lnTo>
                <a:lnTo>
                  <a:pt x="819302" y="978301"/>
                </a:lnTo>
                <a:lnTo>
                  <a:pt x="825154" y="963401"/>
                </a:lnTo>
                <a:lnTo>
                  <a:pt x="831006" y="941687"/>
                </a:lnTo>
                <a:lnTo>
                  <a:pt x="836858" y="974597"/>
                </a:lnTo>
                <a:lnTo>
                  <a:pt x="842711" y="979357"/>
                </a:lnTo>
                <a:lnTo>
                  <a:pt x="848563" y="987562"/>
                </a:lnTo>
                <a:lnTo>
                  <a:pt x="854415" y="990384"/>
                </a:lnTo>
                <a:lnTo>
                  <a:pt x="860267" y="969475"/>
                </a:lnTo>
                <a:lnTo>
                  <a:pt x="866119" y="966385"/>
                </a:lnTo>
                <a:lnTo>
                  <a:pt x="871971" y="976844"/>
                </a:lnTo>
                <a:lnTo>
                  <a:pt x="877824" y="973625"/>
                </a:lnTo>
                <a:lnTo>
                  <a:pt x="883676" y="976644"/>
                </a:lnTo>
                <a:lnTo>
                  <a:pt x="889528" y="976809"/>
                </a:lnTo>
                <a:lnTo>
                  <a:pt x="895380" y="996622"/>
                </a:lnTo>
                <a:lnTo>
                  <a:pt x="901232" y="984481"/>
                </a:lnTo>
                <a:lnTo>
                  <a:pt x="907084" y="978116"/>
                </a:lnTo>
                <a:lnTo>
                  <a:pt x="912936" y="988810"/>
                </a:lnTo>
                <a:lnTo>
                  <a:pt x="918789" y="985444"/>
                </a:lnTo>
                <a:lnTo>
                  <a:pt x="924641" y="989631"/>
                </a:lnTo>
                <a:lnTo>
                  <a:pt x="930493" y="984122"/>
                </a:lnTo>
                <a:lnTo>
                  <a:pt x="936345" y="970406"/>
                </a:lnTo>
                <a:lnTo>
                  <a:pt x="942197" y="985232"/>
                </a:lnTo>
                <a:lnTo>
                  <a:pt x="948049" y="982383"/>
                </a:lnTo>
                <a:lnTo>
                  <a:pt x="953902" y="971172"/>
                </a:lnTo>
                <a:lnTo>
                  <a:pt x="959754" y="973219"/>
                </a:lnTo>
                <a:lnTo>
                  <a:pt x="965606" y="961017"/>
                </a:lnTo>
                <a:lnTo>
                  <a:pt x="971458" y="1005270"/>
                </a:lnTo>
                <a:lnTo>
                  <a:pt x="977310" y="970904"/>
                </a:lnTo>
                <a:lnTo>
                  <a:pt x="983162" y="986577"/>
                </a:lnTo>
                <a:lnTo>
                  <a:pt x="989015" y="979406"/>
                </a:lnTo>
                <a:lnTo>
                  <a:pt x="994867" y="971224"/>
                </a:lnTo>
                <a:lnTo>
                  <a:pt x="1000719" y="968380"/>
                </a:lnTo>
                <a:lnTo>
                  <a:pt x="1006571" y="968912"/>
                </a:lnTo>
                <a:lnTo>
                  <a:pt x="1012423" y="979251"/>
                </a:lnTo>
                <a:lnTo>
                  <a:pt x="1018275" y="962282"/>
                </a:lnTo>
                <a:lnTo>
                  <a:pt x="1024128" y="984390"/>
                </a:lnTo>
                <a:lnTo>
                  <a:pt x="1029980" y="982741"/>
                </a:lnTo>
                <a:lnTo>
                  <a:pt x="1035832" y="971770"/>
                </a:lnTo>
                <a:lnTo>
                  <a:pt x="1041684" y="987547"/>
                </a:lnTo>
                <a:lnTo>
                  <a:pt x="1047536" y="955884"/>
                </a:lnTo>
                <a:lnTo>
                  <a:pt x="1053388" y="969218"/>
                </a:lnTo>
                <a:lnTo>
                  <a:pt x="1059240" y="955721"/>
                </a:lnTo>
                <a:lnTo>
                  <a:pt x="1065093" y="981435"/>
                </a:lnTo>
                <a:lnTo>
                  <a:pt x="1070945" y="985599"/>
                </a:lnTo>
                <a:lnTo>
                  <a:pt x="1076797" y="979178"/>
                </a:lnTo>
                <a:lnTo>
                  <a:pt x="1082649" y="972553"/>
                </a:lnTo>
                <a:lnTo>
                  <a:pt x="1088501" y="987990"/>
                </a:lnTo>
                <a:lnTo>
                  <a:pt x="1094353" y="976699"/>
                </a:lnTo>
                <a:lnTo>
                  <a:pt x="1100206" y="981329"/>
                </a:lnTo>
                <a:lnTo>
                  <a:pt x="1106058" y="962270"/>
                </a:lnTo>
                <a:lnTo>
                  <a:pt x="1111910" y="988871"/>
                </a:lnTo>
                <a:lnTo>
                  <a:pt x="1117762" y="968920"/>
                </a:lnTo>
                <a:lnTo>
                  <a:pt x="1123614" y="988652"/>
                </a:lnTo>
                <a:lnTo>
                  <a:pt x="1129466" y="992351"/>
                </a:lnTo>
                <a:lnTo>
                  <a:pt x="1135319" y="989428"/>
                </a:lnTo>
                <a:lnTo>
                  <a:pt x="1141171" y="995031"/>
                </a:lnTo>
                <a:lnTo>
                  <a:pt x="1147023" y="979427"/>
                </a:lnTo>
                <a:lnTo>
                  <a:pt x="1152875" y="969095"/>
                </a:lnTo>
                <a:lnTo>
                  <a:pt x="1158727" y="979217"/>
                </a:lnTo>
                <a:lnTo>
                  <a:pt x="1164579" y="973847"/>
                </a:lnTo>
                <a:lnTo>
                  <a:pt x="1170432" y="962079"/>
                </a:lnTo>
                <a:lnTo>
                  <a:pt x="1176284" y="977983"/>
                </a:lnTo>
                <a:lnTo>
                  <a:pt x="1182136" y="978857"/>
                </a:lnTo>
                <a:lnTo>
                  <a:pt x="1187988" y="984347"/>
                </a:lnTo>
                <a:lnTo>
                  <a:pt x="1193840" y="999913"/>
                </a:lnTo>
                <a:lnTo>
                  <a:pt x="1199692" y="972266"/>
                </a:lnTo>
                <a:lnTo>
                  <a:pt x="1205544" y="1001644"/>
                </a:lnTo>
                <a:lnTo>
                  <a:pt x="1211397" y="973516"/>
                </a:lnTo>
                <a:lnTo>
                  <a:pt x="1217249" y="981303"/>
                </a:lnTo>
                <a:lnTo>
                  <a:pt x="1223101" y="967980"/>
                </a:lnTo>
                <a:lnTo>
                  <a:pt x="1228953" y="981927"/>
                </a:lnTo>
                <a:lnTo>
                  <a:pt x="1234805" y="990747"/>
                </a:lnTo>
                <a:lnTo>
                  <a:pt x="1240657" y="976957"/>
                </a:lnTo>
                <a:lnTo>
                  <a:pt x="1246510" y="987677"/>
                </a:lnTo>
                <a:lnTo>
                  <a:pt x="1252362" y="983249"/>
                </a:lnTo>
                <a:lnTo>
                  <a:pt x="1258214" y="980647"/>
                </a:lnTo>
                <a:lnTo>
                  <a:pt x="1264066" y="982707"/>
                </a:lnTo>
                <a:lnTo>
                  <a:pt x="1269918" y="983340"/>
                </a:lnTo>
                <a:lnTo>
                  <a:pt x="1275770" y="990855"/>
                </a:lnTo>
                <a:lnTo>
                  <a:pt x="1281623" y="983344"/>
                </a:lnTo>
                <a:lnTo>
                  <a:pt x="1287475" y="1006102"/>
                </a:lnTo>
                <a:lnTo>
                  <a:pt x="1293327" y="982973"/>
                </a:lnTo>
                <a:lnTo>
                  <a:pt x="1299179" y="995124"/>
                </a:lnTo>
                <a:lnTo>
                  <a:pt x="1305031" y="968056"/>
                </a:lnTo>
                <a:lnTo>
                  <a:pt x="1310883" y="966309"/>
                </a:lnTo>
                <a:lnTo>
                  <a:pt x="1316736" y="1003915"/>
                </a:lnTo>
                <a:lnTo>
                  <a:pt x="1322588" y="979444"/>
                </a:lnTo>
                <a:lnTo>
                  <a:pt x="1328440" y="982611"/>
                </a:lnTo>
                <a:lnTo>
                  <a:pt x="1334292" y="993357"/>
                </a:lnTo>
                <a:lnTo>
                  <a:pt x="1340144" y="974929"/>
                </a:lnTo>
                <a:lnTo>
                  <a:pt x="1345996" y="986526"/>
                </a:lnTo>
                <a:lnTo>
                  <a:pt x="1351848" y="1001774"/>
                </a:lnTo>
                <a:lnTo>
                  <a:pt x="1357701" y="984250"/>
                </a:lnTo>
                <a:lnTo>
                  <a:pt x="1363553" y="982867"/>
                </a:lnTo>
                <a:lnTo>
                  <a:pt x="1369405" y="979893"/>
                </a:lnTo>
                <a:lnTo>
                  <a:pt x="1375257" y="995511"/>
                </a:lnTo>
                <a:lnTo>
                  <a:pt x="1381109" y="973948"/>
                </a:lnTo>
                <a:lnTo>
                  <a:pt x="1386961" y="972549"/>
                </a:lnTo>
                <a:lnTo>
                  <a:pt x="1392814" y="994514"/>
                </a:lnTo>
                <a:lnTo>
                  <a:pt x="1398666" y="988828"/>
                </a:lnTo>
                <a:lnTo>
                  <a:pt x="1404518" y="982074"/>
                </a:lnTo>
                <a:lnTo>
                  <a:pt x="1410370" y="987743"/>
                </a:lnTo>
                <a:lnTo>
                  <a:pt x="1416222" y="960777"/>
                </a:lnTo>
                <a:lnTo>
                  <a:pt x="1422074" y="978703"/>
                </a:lnTo>
                <a:lnTo>
                  <a:pt x="1427927" y="992935"/>
                </a:lnTo>
                <a:lnTo>
                  <a:pt x="1433779" y="990338"/>
                </a:lnTo>
                <a:lnTo>
                  <a:pt x="1439631" y="981807"/>
                </a:lnTo>
                <a:lnTo>
                  <a:pt x="1445483" y="954332"/>
                </a:lnTo>
                <a:lnTo>
                  <a:pt x="1451335" y="983217"/>
                </a:lnTo>
                <a:lnTo>
                  <a:pt x="1457187" y="979648"/>
                </a:lnTo>
              </a:path>
            </a:pathLst>
          </a:custGeom>
          <a:noFill/>
          <a:ln w="190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Freeform 8">
            <a:extLst>
              <a:ext uri="{FF2B5EF4-FFF2-40B4-BE49-F238E27FC236}">
                <a16:creationId xmlns:a16="http://schemas.microsoft.com/office/drawing/2014/main" id="{1C2DE695-BE4D-F9CD-4E3A-B2F851B48C5A}"/>
              </a:ext>
            </a:extLst>
          </p:cNvPr>
          <p:cNvSpPr/>
          <p:nvPr/>
        </p:nvSpPr>
        <p:spPr>
          <a:xfrm>
            <a:off x="8110728" y="3158499"/>
            <a:ext cx="1457187" cy="836239"/>
          </a:xfrm>
          <a:custGeom>
            <a:avLst/>
            <a:gdLst/>
            <a:ahLst/>
            <a:cxnLst/>
            <a:rect l="l" t="t" r="r" b="b"/>
            <a:pathLst>
              <a:path w="1457187" h="836239">
                <a:moveTo>
                  <a:pt x="0" y="788225"/>
                </a:moveTo>
                <a:lnTo>
                  <a:pt x="5852" y="780596"/>
                </a:lnTo>
                <a:lnTo>
                  <a:pt x="11704" y="772007"/>
                </a:lnTo>
                <a:lnTo>
                  <a:pt x="17556" y="762380"/>
                </a:lnTo>
                <a:lnTo>
                  <a:pt x="23408" y="751642"/>
                </a:lnTo>
                <a:lnTo>
                  <a:pt x="29260" y="739720"/>
                </a:lnTo>
                <a:lnTo>
                  <a:pt x="35112" y="726548"/>
                </a:lnTo>
                <a:lnTo>
                  <a:pt x="40965" y="712064"/>
                </a:lnTo>
                <a:lnTo>
                  <a:pt x="46817" y="696216"/>
                </a:lnTo>
                <a:lnTo>
                  <a:pt x="52669" y="678961"/>
                </a:lnTo>
                <a:lnTo>
                  <a:pt x="58521" y="660268"/>
                </a:lnTo>
                <a:lnTo>
                  <a:pt x="64373" y="640120"/>
                </a:lnTo>
                <a:lnTo>
                  <a:pt x="70225" y="618519"/>
                </a:lnTo>
                <a:lnTo>
                  <a:pt x="76078" y="595480"/>
                </a:lnTo>
                <a:lnTo>
                  <a:pt x="81930" y="571041"/>
                </a:lnTo>
                <a:lnTo>
                  <a:pt x="87782" y="545260"/>
                </a:lnTo>
                <a:lnTo>
                  <a:pt x="93634" y="518218"/>
                </a:lnTo>
                <a:lnTo>
                  <a:pt x="99486" y="490017"/>
                </a:lnTo>
                <a:lnTo>
                  <a:pt x="105338" y="460786"/>
                </a:lnTo>
                <a:lnTo>
                  <a:pt x="111191" y="430674"/>
                </a:lnTo>
                <a:lnTo>
                  <a:pt x="117043" y="399854"/>
                </a:lnTo>
                <a:lnTo>
                  <a:pt x="122895" y="368524"/>
                </a:lnTo>
                <a:lnTo>
                  <a:pt x="128747" y="336898"/>
                </a:lnTo>
                <a:lnTo>
                  <a:pt x="134599" y="305212"/>
                </a:lnTo>
                <a:lnTo>
                  <a:pt x="140451" y="273717"/>
                </a:lnTo>
                <a:lnTo>
                  <a:pt x="146304" y="242677"/>
                </a:lnTo>
                <a:lnTo>
                  <a:pt x="152156" y="212366"/>
                </a:lnTo>
                <a:lnTo>
                  <a:pt x="158008" y="183064"/>
                </a:lnTo>
                <a:lnTo>
                  <a:pt x="163860" y="155052"/>
                </a:lnTo>
                <a:lnTo>
                  <a:pt x="169712" y="128608"/>
                </a:lnTo>
                <a:lnTo>
                  <a:pt x="175564" y="104003"/>
                </a:lnTo>
                <a:lnTo>
                  <a:pt x="181416" y="81497"/>
                </a:lnTo>
                <a:lnTo>
                  <a:pt x="187269" y="61332"/>
                </a:lnTo>
                <a:lnTo>
                  <a:pt x="193121" y="43730"/>
                </a:lnTo>
                <a:lnTo>
                  <a:pt x="198973" y="28888"/>
                </a:lnTo>
                <a:lnTo>
                  <a:pt x="204825" y="16974"/>
                </a:lnTo>
                <a:lnTo>
                  <a:pt x="210677" y="8126"/>
                </a:lnTo>
                <a:lnTo>
                  <a:pt x="216529" y="2446"/>
                </a:lnTo>
                <a:lnTo>
                  <a:pt x="222382" y="0"/>
                </a:lnTo>
                <a:lnTo>
                  <a:pt x="228234" y="816"/>
                </a:lnTo>
                <a:lnTo>
                  <a:pt x="234086" y="4885"/>
                </a:lnTo>
                <a:lnTo>
                  <a:pt x="239938" y="12160"/>
                </a:lnTo>
                <a:lnTo>
                  <a:pt x="245790" y="22556"/>
                </a:lnTo>
                <a:lnTo>
                  <a:pt x="251642" y="35953"/>
                </a:lnTo>
                <a:lnTo>
                  <a:pt x="257495" y="52198"/>
                </a:lnTo>
                <a:lnTo>
                  <a:pt x="263347" y="71108"/>
                </a:lnTo>
                <a:lnTo>
                  <a:pt x="269199" y="92472"/>
                </a:lnTo>
                <a:lnTo>
                  <a:pt x="275051" y="116059"/>
                </a:lnTo>
                <a:lnTo>
                  <a:pt x="280903" y="141617"/>
                </a:lnTo>
                <a:lnTo>
                  <a:pt x="286755" y="168879"/>
                </a:lnTo>
                <a:lnTo>
                  <a:pt x="292608" y="197572"/>
                </a:lnTo>
                <a:lnTo>
                  <a:pt x="298460" y="227413"/>
                </a:lnTo>
                <a:lnTo>
                  <a:pt x="304312" y="258123"/>
                </a:lnTo>
                <a:lnTo>
                  <a:pt x="310164" y="289424"/>
                </a:lnTo>
                <a:lnTo>
                  <a:pt x="316016" y="321047"/>
                </a:lnTo>
                <a:lnTo>
                  <a:pt x="321868" y="352733"/>
                </a:lnTo>
                <a:lnTo>
                  <a:pt x="327720" y="384240"/>
                </a:lnTo>
                <a:lnTo>
                  <a:pt x="333573" y="415341"/>
                </a:lnTo>
                <a:lnTo>
                  <a:pt x="339425" y="445830"/>
                </a:lnTo>
                <a:lnTo>
                  <a:pt x="345277" y="475522"/>
                </a:lnTo>
                <a:lnTo>
                  <a:pt x="351129" y="504255"/>
                </a:lnTo>
                <a:lnTo>
                  <a:pt x="356981" y="531891"/>
                </a:lnTo>
                <a:lnTo>
                  <a:pt x="362833" y="558314"/>
                </a:lnTo>
                <a:lnTo>
                  <a:pt x="368686" y="583432"/>
                </a:lnTo>
                <a:lnTo>
                  <a:pt x="374538" y="607177"/>
                </a:lnTo>
                <a:lnTo>
                  <a:pt x="380390" y="629501"/>
                </a:lnTo>
                <a:lnTo>
                  <a:pt x="386242" y="650376"/>
                </a:lnTo>
                <a:lnTo>
                  <a:pt x="392094" y="669795"/>
                </a:lnTo>
                <a:lnTo>
                  <a:pt x="397946" y="687767"/>
                </a:lnTo>
                <a:lnTo>
                  <a:pt x="403799" y="704314"/>
                </a:lnTo>
                <a:lnTo>
                  <a:pt x="409651" y="719474"/>
                </a:lnTo>
                <a:lnTo>
                  <a:pt x="415503" y="733295"/>
                </a:lnTo>
                <a:lnTo>
                  <a:pt x="421355" y="745833"/>
                </a:lnTo>
                <a:lnTo>
                  <a:pt x="427207" y="757155"/>
                </a:lnTo>
                <a:lnTo>
                  <a:pt x="433059" y="767328"/>
                </a:lnTo>
                <a:lnTo>
                  <a:pt x="438912" y="776426"/>
                </a:lnTo>
                <a:lnTo>
                  <a:pt x="444764" y="784526"/>
                </a:lnTo>
                <a:lnTo>
                  <a:pt x="450616" y="791703"/>
                </a:lnTo>
                <a:lnTo>
                  <a:pt x="456468" y="798034"/>
                </a:lnTo>
                <a:lnTo>
                  <a:pt x="462320" y="803592"/>
                </a:lnTo>
                <a:lnTo>
                  <a:pt x="468172" y="808451"/>
                </a:lnTo>
                <a:lnTo>
                  <a:pt x="474024" y="812678"/>
                </a:lnTo>
                <a:lnTo>
                  <a:pt x="479877" y="816341"/>
                </a:lnTo>
                <a:lnTo>
                  <a:pt x="485729" y="819499"/>
                </a:lnTo>
                <a:lnTo>
                  <a:pt x="491581" y="822211"/>
                </a:lnTo>
                <a:lnTo>
                  <a:pt x="497433" y="824530"/>
                </a:lnTo>
                <a:lnTo>
                  <a:pt x="503285" y="826503"/>
                </a:lnTo>
                <a:lnTo>
                  <a:pt x="509137" y="828176"/>
                </a:lnTo>
                <a:lnTo>
                  <a:pt x="514990" y="829587"/>
                </a:lnTo>
                <a:lnTo>
                  <a:pt x="520842" y="830773"/>
                </a:lnTo>
                <a:lnTo>
                  <a:pt x="526694" y="831764"/>
                </a:lnTo>
                <a:lnTo>
                  <a:pt x="532546" y="832590"/>
                </a:lnTo>
                <a:lnTo>
                  <a:pt x="538398" y="833276"/>
                </a:lnTo>
                <a:lnTo>
                  <a:pt x="544250" y="833842"/>
                </a:lnTo>
                <a:lnTo>
                  <a:pt x="550103" y="834307"/>
                </a:lnTo>
                <a:lnTo>
                  <a:pt x="555955" y="834688"/>
                </a:lnTo>
                <a:lnTo>
                  <a:pt x="561807" y="834999"/>
                </a:lnTo>
                <a:lnTo>
                  <a:pt x="567659" y="835251"/>
                </a:lnTo>
                <a:lnTo>
                  <a:pt x="573511" y="835455"/>
                </a:lnTo>
                <a:lnTo>
                  <a:pt x="579363" y="835620"/>
                </a:lnTo>
                <a:lnTo>
                  <a:pt x="585216" y="835751"/>
                </a:lnTo>
                <a:lnTo>
                  <a:pt x="591068" y="835857"/>
                </a:lnTo>
                <a:lnTo>
                  <a:pt x="596920" y="835940"/>
                </a:lnTo>
                <a:lnTo>
                  <a:pt x="602772" y="836007"/>
                </a:lnTo>
                <a:lnTo>
                  <a:pt x="608624" y="836059"/>
                </a:lnTo>
                <a:lnTo>
                  <a:pt x="614476" y="836100"/>
                </a:lnTo>
                <a:lnTo>
                  <a:pt x="620328" y="836132"/>
                </a:lnTo>
                <a:lnTo>
                  <a:pt x="626181" y="836157"/>
                </a:lnTo>
                <a:lnTo>
                  <a:pt x="632033" y="836177"/>
                </a:lnTo>
                <a:lnTo>
                  <a:pt x="637885" y="836192"/>
                </a:lnTo>
                <a:lnTo>
                  <a:pt x="643737" y="836203"/>
                </a:lnTo>
                <a:lnTo>
                  <a:pt x="649589" y="836212"/>
                </a:lnTo>
                <a:lnTo>
                  <a:pt x="655441" y="836219"/>
                </a:lnTo>
                <a:lnTo>
                  <a:pt x="661294" y="836224"/>
                </a:lnTo>
                <a:lnTo>
                  <a:pt x="667146" y="836228"/>
                </a:lnTo>
                <a:lnTo>
                  <a:pt x="672998" y="836231"/>
                </a:lnTo>
                <a:lnTo>
                  <a:pt x="678850" y="836233"/>
                </a:lnTo>
                <a:lnTo>
                  <a:pt x="684702" y="836234"/>
                </a:lnTo>
                <a:lnTo>
                  <a:pt x="690554" y="836236"/>
                </a:lnTo>
                <a:lnTo>
                  <a:pt x="696407" y="836237"/>
                </a:lnTo>
                <a:lnTo>
                  <a:pt x="702259" y="836237"/>
                </a:lnTo>
                <a:lnTo>
                  <a:pt x="708111" y="836238"/>
                </a:lnTo>
                <a:lnTo>
                  <a:pt x="713963" y="836238"/>
                </a:lnTo>
                <a:lnTo>
                  <a:pt x="719815" y="836238"/>
                </a:lnTo>
                <a:lnTo>
                  <a:pt x="725667" y="836239"/>
                </a:lnTo>
                <a:lnTo>
                  <a:pt x="731520" y="836239"/>
                </a:lnTo>
                <a:lnTo>
                  <a:pt x="737372" y="836239"/>
                </a:lnTo>
                <a:lnTo>
                  <a:pt x="743224" y="836239"/>
                </a:lnTo>
                <a:lnTo>
                  <a:pt x="749076" y="836239"/>
                </a:lnTo>
                <a:lnTo>
                  <a:pt x="754928" y="836239"/>
                </a:lnTo>
                <a:lnTo>
                  <a:pt x="760780" y="836239"/>
                </a:lnTo>
                <a:lnTo>
                  <a:pt x="766632" y="836239"/>
                </a:lnTo>
                <a:lnTo>
                  <a:pt x="772485" y="836239"/>
                </a:lnTo>
                <a:lnTo>
                  <a:pt x="778337" y="836239"/>
                </a:lnTo>
                <a:lnTo>
                  <a:pt x="784189" y="836239"/>
                </a:lnTo>
                <a:lnTo>
                  <a:pt x="790041" y="836239"/>
                </a:lnTo>
                <a:lnTo>
                  <a:pt x="795893" y="836239"/>
                </a:lnTo>
                <a:lnTo>
                  <a:pt x="801745" y="836239"/>
                </a:lnTo>
                <a:lnTo>
                  <a:pt x="807598" y="836239"/>
                </a:lnTo>
                <a:lnTo>
                  <a:pt x="813450" y="836239"/>
                </a:lnTo>
                <a:lnTo>
                  <a:pt x="819302" y="836239"/>
                </a:lnTo>
                <a:lnTo>
                  <a:pt x="825154" y="836239"/>
                </a:lnTo>
                <a:lnTo>
                  <a:pt x="831006" y="836239"/>
                </a:lnTo>
                <a:lnTo>
                  <a:pt x="836858" y="836239"/>
                </a:lnTo>
                <a:lnTo>
                  <a:pt x="842711" y="836239"/>
                </a:lnTo>
                <a:lnTo>
                  <a:pt x="848563" y="836239"/>
                </a:lnTo>
                <a:lnTo>
                  <a:pt x="854415" y="836239"/>
                </a:lnTo>
                <a:lnTo>
                  <a:pt x="860267" y="836239"/>
                </a:lnTo>
                <a:lnTo>
                  <a:pt x="866119" y="836239"/>
                </a:lnTo>
                <a:lnTo>
                  <a:pt x="871971" y="836239"/>
                </a:lnTo>
                <a:lnTo>
                  <a:pt x="877824" y="836239"/>
                </a:lnTo>
                <a:lnTo>
                  <a:pt x="883676" y="836239"/>
                </a:lnTo>
                <a:lnTo>
                  <a:pt x="889528" y="836239"/>
                </a:lnTo>
                <a:lnTo>
                  <a:pt x="895380" y="836239"/>
                </a:lnTo>
                <a:lnTo>
                  <a:pt x="901232" y="836239"/>
                </a:lnTo>
                <a:lnTo>
                  <a:pt x="907084" y="836239"/>
                </a:lnTo>
                <a:lnTo>
                  <a:pt x="912936" y="836239"/>
                </a:lnTo>
                <a:lnTo>
                  <a:pt x="918789" y="836239"/>
                </a:lnTo>
                <a:lnTo>
                  <a:pt x="924641" y="836239"/>
                </a:lnTo>
                <a:lnTo>
                  <a:pt x="930493" y="836239"/>
                </a:lnTo>
                <a:lnTo>
                  <a:pt x="936345" y="836239"/>
                </a:lnTo>
                <a:lnTo>
                  <a:pt x="942197" y="836239"/>
                </a:lnTo>
                <a:lnTo>
                  <a:pt x="948049" y="836239"/>
                </a:lnTo>
                <a:lnTo>
                  <a:pt x="953902" y="836239"/>
                </a:lnTo>
                <a:lnTo>
                  <a:pt x="959754" y="836239"/>
                </a:lnTo>
                <a:lnTo>
                  <a:pt x="965606" y="836239"/>
                </a:lnTo>
                <a:lnTo>
                  <a:pt x="971458" y="836239"/>
                </a:lnTo>
                <a:lnTo>
                  <a:pt x="977310" y="836239"/>
                </a:lnTo>
                <a:lnTo>
                  <a:pt x="983162" y="836239"/>
                </a:lnTo>
                <a:lnTo>
                  <a:pt x="989015" y="836239"/>
                </a:lnTo>
                <a:lnTo>
                  <a:pt x="994867" y="836239"/>
                </a:lnTo>
                <a:lnTo>
                  <a:pt x="1000719" y="836239"/>
                </a:lnTo>
                <a:lnTo>
                  <a:pt x="1006571" y="836239"/>
                </a:lnTo>
                <a:lnTo>
                  <a:pt x="1012423" y="836239"/>
                </a:lnTo>
                <a:lnTo>
                  <a:pt x="1018275" y="836239"/>
                </a:lnTo>
                <a:lnTo>
                  <a:pt x="1024128" y="836239"/>
                </a:lnTo>
                <a:lnTo>
                  <a:pt x="1029980" y="836239"/>
                </a:lnTo>
                <a:lnTo>
                  <a:pt x="1035832" y="836239"/>
                </a:lnTo>
                <a:lnTo>
                  <a:pt x="1041684" y="836239"/>
                </a:lnTo>
                <a:lnTo>
                  <a:pt x="1047536" y="836239"/>
                </a:lnTo>
                <a:lnTo>
                  <a:pt x="1053388" y="836239"/>
                </a:lnTo>
                <a:lnTo>
                  <a:pt x="1059240" y="836239"/>
                </a:lnTo>
                <a:lnTo>
                  <a:pt x="1065093" y="836239"/>
                </a:lnTo>
                <a:lnTo>
                  <a:pt x="1070945" y="836239"/>
                </a:lnTo>
                <a:lnTo>
                  <a:pt x="1076797" y="836239"/>
                </a:lnTo>
                <a:lnTo>
                  <a:pt x="1082649" y="836239"/>
                </a:lnTo>
                <a:lnTo>
                  <a:pt x="1088501" y="836239"/>
                </a:lnTo>
                <a:lnTo>
                  <a:pt x="1094353" y="836239"/>
                </a:lnTo>
                <a:lnTo>
                  <a:pt x="1100206" y="836239"/>
                </a:lnTo>
                <a:lnTo>
                  <a:pt x="1106058" y="836239"/>
                </a:lnTo>
                <a:lnTo>
                  <a:pt x="1111910" y="836239"/>
                </a:lnTo>
                <a:lnTo>
                  <a:pt x="1117762" y="836239"/>
                </a:lnTo>
                <a:lnTo>
                  <a:pt x="1123614" y="836239"/>
                </a:lnTo>
                <a:lnTo>
                  <a:pt x="1129466" y="836239"/>
                </a:lnTo>
                <a:lnTo>
                  <a:pt x="1135319" y="836239"/>
                </a:lnTo>
                <a:lnTo>
                  <a:pt x="1141171" y="836239"/>
                </a:lnTo>
                <a:lnTo>
                  <a:pt x="1147023" y="836239"/>
                </a:lnTo>
                <a:lnTo>
                  <a:pt x="1152875" y="836239"/>
                </a:lnTo>
                <a:lnTo>
                  <a:pt x="1158727" y="836239"/>
                </a:lnTo>
                <a:lnTo>
                  <a:pt x="1164579" y="836239"/>
                </a:lnTo>
                <a:lnTo>
                  <a:pt x="1170432" y="836239"/>
                </a:lnTo>
                <a:lnTo>
                  <a:pt x="1176284" y="836239"/>
                </a:lnTo>
                <a:lnTo>
                  <a:pt x="1182136" y="836239"/>
                </a:lnTo>
                <a:lnTo>
                  <a:pt x="1187988" y="836239"/>
                </a:lnTo>
                <a:lnTo>
                  <a:pt x="1193840" y="836239"/>
                </a:lnTo>
                <a:lnTo>
                  <a:pt x="1199692" y="836239"/>
                </a:lnTo>
                <a:lnTo>
                  <a:pt x="1205544" y="836239"/>
                </a:lnTo>
                <a:lnTo>
                  <a:pt x="1211397" y="836239"/>
                </a:lnTo>
                <a:lnTo>
                  <a:pt x="1217249" y="836239"/>
                </a:lnTo>
                <a:lnTo>
                  <a:pt x="1223101" y="836239"/>
                </a:lnTo>
                <a:lnTo>
                  <a:pt x="1228953" y="836239"/>
                </a:lnTo>
                <a:lnTo>
                  <a:pt x="1234805" y="836239"/>
                </a:lnTo>
                <a:lnTo>
                  <a:pt x="1240657" y="836239"/>
                </a:lnTo>
                <a:lnTo>
                  <a:pt x="1246510" y="836239"/>
                </a:lnTo>
                <a:lnTo>
                  <a:pt x="1252362" y="836239"/>
                </a:lnTo>
                <a:lnTo>
                  <a:pt x="1258214" y="836239"/>
                </a:lnTo>
                <a:lnTo>
                  <a:pt x="1264066" y="836239"/>
                </a:lnTo>
                <a:lnTo>
                  <a:pt x="1269918" y="836239"/>
                </a:lnTo>
                <a:lnTo>
                  <a:pt x="1275770" y="836239"/>
                </a:lnTo>
                <a:lnTo>
                  <a:pt x="1281623" y="836239"/>
                </a:lnTo>
                <a:lnTo>
                  <a:pt x="1287475" y="836239"/>
                </a:lnTo>
                <a:lnTo>
                  <a:pt x="1293327" y="836239"/>
                </a:lnTo>
                <a:lnTo>
                  <a:pt x="1299179" y="836239"/>
                </a:lnTo>
                <a:lnTo>
                  <a:pt x="1305031" y="836239"/>
                </a:lnTo>
                <a:lnTo>
                  <a:pt x="1310883" y="836239"/>
                </a:lnTo>
                <a:lnTo>
                  <a:pt x="1316736" y="836239"/>
                </a:lnTo>
                <a:lnTo>
                  <a:pt x="1322588" y="836239"/>
                </a:lnTo>
                <a:lnTo>
                  <a:pt x="1328440" y="836239"/>
                </a:lnTo>
                <a:lnTo>
                  <a:pt x="1334292" y="836239"/>
                </a:lnTo>
                <a:lnTo>
                  <a:pt x="1340144" y="836239"/>
                </a:lnTo>
                <a:lnTo>
                  <a:pt x="1345996" y="836239"/>
                </a:lnTo>
                <a:lnTo>
                  <a:pt x="1351848" y="836239"/>
                </a:lnTo>
                <a:lnTo>
                  <a:pt x="1357701" y="836239"/>
                </a:lnTo>
                <a:lnTo>
                  <a:pt x="1363553" y="836239"/>
                </a:lnTo>
                <a:lnTo>
                  <a:pt x="1369405" y="836239"/>
                </a:lnTo>
                <a:lnTo>
                  <a:pt x="1375257" y="836239"/>
                </a:lnTo>
                <a:lnTo>
                  <a:pt x="1381109" y="836239"/>
                </a:lnTo>
                <a:lnTo>
                  <a:pt x="1386961" y="836239"/>
                </a:lnTo>
                <a:lnTo>
                  <a:pt x="1392814" y="836239"/>
                </a:lnTo>
                <a:lnTo>
                  <a:pt x="1398666" y="836239"/>
                </a:lnTo>
                <a:lnTo>
                  <a:pt x="1404518" y="836239"/>
                </a:lnTo>
                <a:lnTo>
                  <a:pt x="1410370" y="836239"/>
                </a:lnTo>
                <a:lnTo>
                  <a:pt x="1416222" y="836239"/>
                </a:lnTo>
                <a:lnTo>
                  <a:pt x="1422074" y="836239"/>
                </a:lnTo>
                <a:lnTo>
                  <a:pt x="1427927" y="836239"/>
                </a:lnTo>
                <a:lnTo>
                  <a:pt x="1433779" y="836239"/>
                </a:lnTo>
                <a:lnTo>
                  <a:pt x="1439631" y="836239"/>
                </a:lnTo>
                <a:lnTo>
                  <a:pt x="1445483" y="836239"/>
                </a:lnTo>
                <a:lnTo>
                  <a:pt x="1451335" y="836239"/>
                </a:lnTo>
                <a:lnTo>
                  <a:pt x="1457187" y="836239"/>
                </a:lnTo>
              </a:path>
            </a:pathLst>
          </a:custGeom>
          <a:noFill/>
          <a:ln w="17780">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Freeform 9">
            <a:extLst>
              <a:ext uri="{FF2B5EF4-FFF2-40B4-BE49-F238E27FC236}">
                <a16:creationId xmlns:a16="http://schemas.microsoft.com/office/drawing/2014/main" id="{A7047C9F-54EE-9391-39E7-FD65743C0E9A}"/>
              </a:ext>
            </a:extLst>
          </p:cNvPr>
          <p:cNvSpPr/>
          <p:nvPr/>
        </p:nvSpPr>
        <p:spPr>
          <a:xfrm>
            <a:off x="8110728" y="3669494"/>
            <a:ext cx="1457187" cy="325244"/>
          </a:xfrm>
          <a:custGeom>
            <a:avLst/>
            <a:gdLst/>
            <a:ahLst/>
            <a:cxnLst/>
            <a:rect l="l" t="t" r="r" b="b"/>
            <a:pathLst>
              <a:path w="1457187" h="325244">
                <a:moveTo>
                  <a:pt x="0" y="324425"/>
                </a:moveTo>
                <a:lnTo>
                  <a:pt x="5852" y="324317"/>
                </a:lnTo>
                <a:lnTo>
                  <a:pt x="11704" y="324196"/>
                </a:lnTo>
                <a:lnTo>
                  <a:pt x="17556" y="324060"/>
                </a:lnTo>
                <a:lnTo>
                  <a:pt x="23408" y="323909"/>
                </a:lnTo>
                <a:lnTo>
                  <a:pt x="29260" y="323741"/>
                </a:lnTo>
                <a:lnTo>
                  <a:pt x="35112" y="323553"/>
                </a:lnTo>
                <a:lnTo>
                  <a:pt x="40965" y="323345"/>
                </a:lnTo>
                <a:lnTo>
                  <a:pt x="46817" y="323113"/>
                </a:lnTo>
                <a:lnTo>
                  <a:pt x="52669" y="322857"/>
                </a:lnTo>
                <a:lnTo>
                  <a:pt x="58521" y="322573"/>
                </a:lnTo>
                <a:lnTo>
                  <a:pt x="64373" y="322260"/>
                </a:lnTo>
                <a:lnTo>
                  <a:pt x="70225" y="321914"/>
                </a:lnTo>
                <a:lnTo>
                  <a:pt x="76078" y="321532"/>
                </a:lnTo>
                <a:lnTo>
                  <a:pt x="81930" y="321112"/>
                </a:lnTo>
                <a:lnTo>
                  <a:pt x="87782" y="320651"/>
                </a:lnTo>
                <a:lnTo>
                  <a:pt x="93634" y="320145"/>
                </a:lnTo>
                <a:lnTo>
                  <a:pt x="99486" y="319590"/>
                </a:lnTo>
                <a:lnTo>
                  <a:pt x="105338" y="318984"/>
                </a:lnTo>
                <a:lnTo>
                  <a:pt x="111191" y="318321"/>
                </a:lnTo>
                <a:lnTo>
                  <a:pt x="117043" y="317598"/>
                </a:lnTo>
                <a:lnTo>
                  <a:pt x="122895" y="316810"/>
                </a:lnTo>
                <a:lnTo>
                  <a:pt x="128747" y="315953"/>
                </a:lnTo>
                <a:lnTo>
                  <a:pt x="134599" y="315023"/>
                </a:lnTo>
                <a:lnTo>
                  <a:pt x="140451" y="314014"/>
                </a:lnTo>
                <a:lnTo>
                  <a:pt x="146304" y="312921"/>
                </a:lnTo>
                <a:lnTo>
                  <a:pt x="152156" y="311740"/>
                </a:lnTo>
                <a:lnTo>
                  <a:pt x="158008" y="310464"/>
                </a:lnTo>
                <a:lnTo>
                  <a:pt x="163860" y="309089"/>
                </a:lnTo>
                <a:lnTo>
                  <a:pt x="169712" y="307609"/>
                </a:lnTo>
                <a:lnTo>
                  <a:pt x="175564" y="306019"/>
                </a:lnTo>
                <a:lnTo>
                  <a:pt x="181416" y="304312"/>
                </a:lnTo>
                <a:lnTo>
                  <a:pt x="187269" y="302483"/>
                </a:lnTo>
                <a:lnTo>
                  <a:pt x="193121" y="300527"/>
                </a:lnTo>
                <a:lnTo>
                  <a:pt x="198973" y="298437"/>
                </a:lnTo>
                <a:lnTo>
                  <a:pt x="204825" y="296208"/>
                </a:lnTo>
                <a:lnTo>
                  <a:pt x="210677" y="293835"/>
                </a:lnTo>
                <a:lnTo>
                  <a:pt x="216529" y="291312"/>
                </a:lnTo>
                <a:lnTo>
                  <a:pt x="222382" y="288633"/>
                </a:lnTo>
                <a:lnTo>
                  <a:pt x="228234" y="285795"/>
                </a:lnTo>
                <a:lnTo>
                  <a:pt x="234086" y="282792"/>
                </a:lnTo>
                <a:lnTo>
                  <a:pt x="239938" y="279619"/>
                </a:lnTo>
                <a:lnTo>
                  <a:pt x="245790" y="276273"/>
                </a:lnTo>
                <a:lnTo>
                  <a:pt x="251642" y="272750"/>
                </a:lnTo>
                <a:lnTo>
                  <a:pt x="257495" y="269046"/>
                </a:lnTo>
                <a:lnTo>
                  <a:pt x="263347" y="265160"/>
                </a:lnTo>
                <a:lnTo>
                  <a:pt x="269199" y="261087"/>
                </a:lnTo>
                <a:lnTo>
                  <a:pt x="275051" y="256828"/>
                </a:lnTo>
                <a:lnTo>
                  <a:pt x="280903" y="252380"/>
                </a:lnTo>
                <a:lnTo>
                  <a:pt x="286755" y="247744"/>
                </a:lnTo>
                <a:lnTo>
                  <a:pt x="292608" y="242920"/>
                </a:lnTo>
                <a:lnTo>
                  <a:pt x="298460" y="237909"/>
                </a:lnTo>
                <a:lnTo>
                  <a:pt x="304312" y="232714"/>
                </a:lnTo>
                <a:lnTo>
                  <a:pt x="310164" y="227337"/>
                </a:lnTo>
                <a:lnTo>
                  <a:pt x="316016" y="221781"/>
                </a:lnTo>
                <a:lnTo>
                  <a:pt x="321868" y="216052"/>
                </a:lnTo>
                <a:lnTo>
                  <a:pt x="327720" y="210156"/>
                </a:lnTo>
                <a:lnTo>
                  <a:pt x="333573" y="204098"/>
                </a:lnTo>
                <a:lnTo>
                  <a:pt x="339425" y="197888"/>
                </a:lnTo>
                <a:lnTo>
                  <a:pt x="345277" y="191532"/>
                </a:lnTo>
                <a:lnTo>
                  <a:pt x="351129" y="185042"/>
                </a:lnTo>
                <a:lnTo>
                  <a:pt x="356981" y="178427"/>
                </a:lnTo>
                <a:lnTo>
                  <a:pt x="362833" y="171700"/>
                </a:lnTo>
                <a:lnTo>
                  <a:pt x="368686" y="164873"/>
                </a:lnTo>
                <a:lnTo>
                  <a:pt x="374538" y="157960"/>
                </a:lnTo>
                <a:lnTo>
                  <a:pt x="380390" y="150975"/>
                </a:lnTo>
                <a:lnTo>
                  <a:pt x="386242" y="143934"/>
                </a:lnTo>
                <a:lnTo>
                  <a:pt x="392094" y="136854"/>
                </a:lnTo>
                <a:lnTo>
                  <a:pt x="397946" y="129751"/>
                </a:lnTo>
                <a:lnTo>
                  <a:pt x="403799" y="122643"/>
                </a:lnTo>
                <a:lnTo>
                  <a:pt x="409651" y="115550"/>
                </a:lnTo>
                <a:lnTo>
                  <a:pt x="415503" y="108490"/>
                </a:lnTo>
                <a:lnTo>
                  <a:pt x="421355" y="101483"/>
                </a:lnTo>
                <a:lnTo>
                  <a:pt x="427207" y="94549"/>
                </a:lnTo>
                <a:lnTo>
                  <a:pt x="433059" y="87709"/>
                </a:lnTo>
                <a:lnTo>
                  <a:pt x="438912" y="80984"/>
                </a:lnTo>
                <a:lnTo>
                  <a:pt x="444764" y="74394"/>
                </a:lnTo>
                <a:lnTo>
                  <a:pt x="450616" y="67960"/>
                </a:lnTo>
                <a:lnTo>
                  <a:pt x="456468" y="61705"/>
                </a:lnTo>
                <a:lnTo>
                  <a:pt x="462320" y="55647"/>
                </a:lnTo>
                <a:lnTo>
                  <a:pt x="468172" y="49808"/>
                </a:lnTo>
                <a:lnTo>
                  <a:pt x="474024" y="44208"/>
                </a:lnTo>
                <a:lnTo>
                  <a:pt x="479877" y="38866"/>
                </a:lnTo>
                <a:lnTo>
                  <a:pt x="485729" y="33801"/>
                </a:lnTo>
                <a:lnTo>
                  <a:pt x="491581" y="29032"/>
                </a:lnTo>
                <a:lnTo>
                  <a:pt x="497433" y="24575"/>
                </a:lnTo>
                <a:lnTo>
                  <a:pt x="503285" y="20447"/>
                </a:lnTo>
                <a:lnTo>
                  <a:pt x="509137" y="16664"/>
                </a:lnTo>
                <a:lnTo>
                  <a:pt x="514990" y="13239"/>
                </a:lnTo>
                <a:lnTo>
                  <a:pt x="520842" y="10185"/>
                </a:lnTo>
                <a:lnTo>
                  <a:pt x="526694" y="7514"/>
                </a:lnTo>
                <a:lnTo>
                  <a:pt x="532546" y="5237"/>
                </a:lnTo>
                <a:lnTo>
                  <a:pt x="538398" y="3362"/>
                </a:lnTo>
                <a:lnTo>
                  <a:pt x="544250" y="1895"/>
                </a:lnTo>
                <a:lnTo>
                  <a:pt x="550103" y="844"/>
                </a:lnTo>
                <a:lnTo>
                  <a:pt x="555955" y="211"/>
                </a:lnTo>
                <a:lnTo>
                  <a:pt x="561807" y="0"/>
                </a:lnTo>
                <a:lnTo>
                  <a:pt x="567659" y="211"/>
                </a:lnTo>
                <a:lnTo>
                  <a:pt x="573511" y="844"/>
                </a:lnTo>
                <a:lnTo>
                  <a:pt x="579363" y="1895"/>
                </a:lnTo>
                <a:lnTo>
                  <a:pt x="585216" y="3362"/>
                </a:lnTo>
                <a:lnTo>
                  <a:pt x="591068" y="5237"/>
                </a:lnTo>
                <a:lnTo>
                  <a:pt x="596920" y="7514"/>
                </a:lnTo>
                <a:lnTo>
                  <a:pt x="602772" y="10185"/>
                </a:lnTo>
                <a:lnTo>
                  <a:pt x="608624" y="13239"/>
                </a:lnTo>
                <a:lnTo>
                  <a:pt x="614476" y="16664"/>
                </a:lnTo>
                <a:lnTo>
                  <a:pt x="620328" y="20447"/>
                </a:lnTo>
                <a:lnTo>
                  <a:pt x="626181" y="24575"/>
                </a:lnTo>
                <a:lnTo>
                  <a:pt x="632033" y="29032"/>
                </a:lnTo>
                <a:lnTo>
                  <a:pt x="637885" y="33801"/>
                </a:lnTo>
                <a:lnTo>
                  <a:pt x="643737" y="38866"/>
                </a:lnTo>
                <a:lnTo>
                  <a:pt x="649589" y="44208"/>
                </a:lnTo>
                <a:lnTo>
                  <a:pt x="655441" y="49808"/>
                </a:lnTo>
                <a:lnTo>
                  <a:pt x="661294" y="55647"/>
                </a:lnTo>
                <a:lnTo>
                  <a:pt x="667146" y="61705"/>
                </a:lnTo>
                <a:lnTo>
                  <a:pt x="672998" y="67960"/>
                </a:lnTo>
                <a:lnTo>
                  <a:pt x="678850" y="74394"/>
                </a:lnTo>
                <a:lnTo>
                  <a:pt x="684702" y="80984"/>
                </a:lnTo>
                <a:lnTo>
                  <a:pt x="690554" y="87709"/>
                </a:lnTo>
                <a:lnTo>
                  <a:pt x="696407" y="94549"/>
                </a:lnTo>
                <a:lnTo>
                  <a:pt x="702259" y="101483"/>
                </a:lnTo>
                <a:lnTo>
                  <a:pt x="708111" y="108490"/>
                </a:lnTo>
                <a:lnTo>
                  <a:pt x="713963" y="115550"/>
                </a:lnTo>
                <a:lnTo>
                  <a:pt x="719815" y="122643"/>
                </a:lnTo>
                <a:lnTo>
                  <a:pt x="725667" y="129751"/>
                </a:lnTo>
                <a:lnTo>
                  <a:pt x="731520" y="136854"/>
                </a:lnTo>
                <a:lnTo>
                  <a:pt x="737372" y="143934"/>
                </a:lnTo>
                <a:lnTo>
                  <a:pt x="743224" y="150975"/>
                </a:lnTo>
                <a:lnTo>
                  <a:pt x="749076" y="157960"/>
                </a:lnTo>
                <a:lnTo>
                  <a:pt x="754928" y="164873"/>
                </a:lnTo>
                <a:lnTo>
                  <a:pt x="760780" y="171700"/>
                </a:lnTo>
                <a:lnTo>
                  <a:pt x="766632" y="178427"/>
                </a:lnTo>
                <a:lnTo>
                  <a:pt x="772485" y="185042"/>
                </a:lnTo>
                <a:lnTo>
                  <a:pt x="778337" y="191532"/>
                </a:lnTo>
                <a:lnTo>
                  <a:pt x="784189" y="197888"/>
                </a:lnTo>
                <a:lnTo>
                  <a:pt x="790041" y="204098"/>
                </a:lnTo>
                <a:lnTo>
                  <a:pt x="795893" y="210156"/>
                </a:lnTo>
                <a:lnTo>
                  <a:pt x="801745" y="216052"/>
                </a:lnTo>
                <a:lnTo>
                  <a:pt x="807598" y="221781"/>
                </a:lnTo>
                <a:lnTo>
                  <a:pt x="813450" y="227337"/>
                </a:lnTo>
                <a:lnTo>
                  <a:pt x="819302" y="232714"/>
                </a:lnTo>
                <a:lnTo>
                  <a:pt x="825154" y="237909"/>
                </a:lnTo>
                <a:lnTo>
                  <a:pt x="831006" y="242920"/>
                </a:lnTo>
                <a:lnTo>
                  <a:pt x="836858" y="247744"/>
                </a:lnTo>
                <a:lnTo>
                  <a:pt x="842711" y="252380"/>
                </a:lnTo>
                <a:lnTo>
                  <a:pt x="848563" y="256828"/>
                </a:lnTo>
                <a:lnTo>
                  <a:pt x="854415" y="261087"/>
                </a:lnTo>
                <a:lnTo>
                  <a:pt x="860267" y="265160"/>
                </a:lnTo>
                <a:lnTo>
                  <a:pt x="866119" y="269046"/>
                </a:lnTo>
                <a:lnTo>
                  <a:pt x="871971" y="272750"/>
                </a:lnTo>
                <a:lnTo>
                  <a:pt x="877824" y="276273"/>
                </a:lnTo>
                <a:lnTo>
                  <a:pt x="883676" y="279619"/>
                </a:lnTo>
                <a:lnTo>
                  <a:pt x="889528" y="282792"/>
                </a:lnTo>
                <a:lnTo>
                  <a:pt x="895380" y="285795"/>
                </a:lnTo>
                <a:lnTo>
                  <a:pt x="901232" y="288633"/>
                </a:lnTo>
                <a:lnTo>
                  <a:pt x="907084" y="291312"/>
                </a:lnTo>
                <a:lnTo>
                  <a:pt x="912936" y="293835"/>
                </a:lnTo>
                <a:lnTo>
                  <a:pt x="918789" y="296208"/>
                </a:lnTo>
                <a:lnTo>
                  <a:pt x="924641" y="298437"/>
                </a:lnTo>
                <a:lnTo>
                  <a:pt x="930493" y="300527"/>
                </a:lnTo>
                <a:lnTo>
                  <a:pt x="936345" y="302483"/>
                </a:lnTo>
                <a:lnTo>
                  <a:pt x="942197" y="304312"/>
                </a:lnTo>
                <a:lnTo>
                  <a:pt x="948049" y="306019"/>
                </a:lnTo>
                <a:lnTo>
                  <a:pt x="953902" y="307609"/>
                </a:lnTo>
                <a:lnTo>
                  <a:pt x="959754" y="309089"/>
                </a:lnTo>
                <a:lnTo>
                  <a:pt x="965606" y="310464"/>
                </a:lnTo>
                <a:lnTo>
                  <a:pt x="971458" y="311740"/>
                </a:lnTo>
                <a:lnTo>
                  <a:pt x="977310" y="312921"/>
                </a:lnTo>
                <a:lnTo>
                  <a:pt x="983162" y="314014"/>
                </a:lnTo>
                <a:lnTo>
                  <a:pt x="989015" y="315023"/>
                </a:lnTo>
                <a:lnTo>
                  <a:pt x="994867" y="315953"/>
                </a:lnTo>
                <a:lnTo>
                  <a:pt x="1000719" y="316810"/>
                </a:lnTo>
                <a:lnTo>
                  <a:pt x="1006571" y="317598"/>
                </a:lnTo>
                <a:lnTo>
                  <a:pt x="1012423" y="318321"/>
                </a:lnTo>
                <a:lnTo>
                  <a:pt x="1018275" y="318984"/>
                </a:lnTo>
                <a:lnTo>
                  <a:pt x="1024128" y="319590"/>
                </a:lnTo>
                <a:lnTo>
                  <a:pt x="1029980" y="320145"/>
                </a:lnTo>
                <a:lnTo>
                  <a:pt x="1035832" y="320651"/>
                </a:lnTo>
                <a:lnTo>
                  <a:pt x="1041684" y="321112"/>
                </a:lnTo>
                <a:lnTo>
                  <a:pt x="1047536" y="321532"/>
                </a:lnTo>
                <a:lnTo>
                  <a:pt x="1053388" y="321914"/>
                </a:lnTo>
                <a:lnTo>
                  <a:pt x="1059240" y="322260"/>
                </a:lnTo>
                <a:lnTo>
                  <a:pt x="1065093" y="322573"/>
                </a:lnTo>
                <a:lnTo>
                  <a:pt x="1070945" y="322857"/>
                </a:lnTo>
                <a:lnTo>
                  <a:pt x="1076797" y="323113"/>
                </a:lnTo>
                <a:lnTo>
                  <a:pt x="1082649" y="323345"/>
                </a:lnTo>
                <a:lnTo>
                  <a:pt x="1088501" y="323553"/>
                </a:lnTo>
                <a:lnTo>
                  <a:pt x="1094353" y="323741"/>
                </a:lnTo>
                <a:lnTo>
                  <a:pt x="1100206" y="323909"/>
                </a:lnTo>
                <a:lnTo>
                  <a:pt x="1106058" y="324060"/>
                </a:lnTo>
                <a:lnTo>
                  <a:pt x="1111910" y="324196"/>
                </a:lnTo>
                <a:lnTo>
                  <a:pt x="1117762" y="324317"/>
                </a:lnTo>
                <a:lnTo>
                  <a:pt x="1123614" y="324425"/>
                </a:lnTo>
                <a:lnTo>
                  <a:pt x="1129466" y="324521"/>
                </a:lnTo>
                <a:lnTo>
                  <a:pt x="1135319" y="324607"/>
                </a:lnTo>
                <a:lnTo>
                  <a:pt x="1141171" y="324684"/>
                </a:lnTo>
                <a:lnTo>
                  <a:pt x="1147023" y="324752"/>
                </a:lnTo>
                <a:lnTo>
                  <a:pt x="1152875" y="324812"/>
                </a:lnTo>
                <a:lnTo>
                  <a:pt x="1158727" y="324865"/>
                </a:lnTo>
                <a:lnTo>
                  <a:pt x="1164579" y="324912"/>
                </a:lnTo>
                <a:lnTo>
                  <a:pt x="1170432" y="324954"/>
                </a:lnTo>
                <a:lnTo>
                  <a:pt x="1176284" y="324991"/>
                </a:lnTo>
                <a:lnTo>
                  <a:pt x="1182136" y="325023"/>
                </a:lnTo>
                <a:lnTo>
                  <a:pt x="1187988" y="325052"/>
                </a:lnTo>
                <a:lnTo>
                  <a:pt x="1193840" y="325077"/>
                </a:lnTo>
                <a:lnTo>
                  <a:pt x="1199692" y="325099"/>
                </a:lnTo>
                <a:lnTo>
                  <a:pt x="1205544" y="325118"/>
                </a:lnTo>
                <a:lnTo>
                  <a:pt x="1211397" y="325135"/>
                </a:lnTo>
                <a:lnTo>
                  <a:pt x="1217249" y="325150"/>
                </a:lnTo>
                <a:lnTo>
                  <a:pt x="1223101" y="325162"/>
                </a:lnTo>
                <a:lnTo>
                  <a:pt x="1228953" y="325174"/>
                </a:lnTo>
                <a:lnTo>
                  <a:pt x="1234805" y="325183"/>
                </a:lnTo>
                <a:lnTo>
                  <a:pt x="1240657" y="325192"/>
                </a:lnTo>
                <a:lnTo>
                  <a:pt x="1246510" y="325199"/>
                </a:lnTo>
                <a:lnTo>
                  <a:pt x="1252362" y="325206"/>
                </a:lnTo>
                <a:lnTo>
                  <a:pt x="1258214" y="325211"/>
                </a:lnTo>
                <a:lnTo>
                  <a:pt x="1264066" y="325216"/>
                </a:lnTo>
                <a:lnTo>
                  <a:pt x="1269918" y="325220"/>
                </a:lnTo>
                <a:lnTo>
                  <a:pt x="1275770" y="325223"/>
                </a:lnTo>
                <a:lnTo>
                  <a:pt x="1281623" y="325226"/>
                </a:lnTo>
                <a:lnTo>
                  <a:pt x="1287475" y="325229"/>
                </a:lnTo>
                <a:lnTo>
                  <a:pt x="1293327" y="325231"/>
                </a:lnTo>
                <a:lnTo>
                  <a:pt x="1299179" y="325233"/>
                </a:lnTo>
                <a:lnTo>
                  <a:pt x="1305031" y="325235"/>
                </a:lnTo>
                <a:lnTo>
                  <a:pt x="1310883" y="325236"/>
                </a:lnTo>
                <a:lnTo>
                  <a:pt x="1316736" y="325237"/>
                </a:lnTo>
                <a:lnTo>
                  <a:pt x="1322588" y="325238"/>
                </a:lnTo>
                <a:lnTo>
                  <a:pt x="1328440" y="325239"/>
                </a:lnTo>
                <a:lnTo>
                  <a:pt x="1334292" y="325240"/>
                </a:lnTo>
                <a:lnTo>
                  <a:pt x="1340144" y="325241"/>
                </a:lnTo>
                <a:lnTo>
                  <a:pt x="1345996" y="325241"/>
                </a:lnTo>
                <a:lnTo>
                  <a:pt x="1351848" y="325242"/>
                </a:lnTo>
                <a:lnTo>
                  <a:pt x="1357701" y="325242"/>
                </a:lnTo>
                <a:lnTo>
                  <a:pt x="1363553" y="325242"/>
                </a:lnTo>
                <a:lnTo>
                  <a:pt x="1369405" y="325243"/>
                </a:lnTo>
                <a:lnTo>
                  <a:pt x="1375257" y="325243"/>
                </a:lnTo>
                <a:lnTo>
                  <a:pt x="1381109" y="325243"/>
                </a:lnTo>
                <a:lnTo>
                  <a:pt x="1386961" y="325243"/>
                </a:lnTo>
                <a:lnTo>
                  <a:pt x="1392814" y="325243"/>
                </a:lnTo>
                <a:lnTo>
                  <a:pt x="1398666" y="325243"/>
                </a:lnTo>
                <a:lnTo>
                  <a:pt x="1404518" y="325244"/>
                </a:lnTo>
                <a:lnTo>
                  <a:pt x="1410370" y="325244"/>
                </a:lnTo>
                <a:lnTo>
                  <a:pt x="1416222" y="325244"/>
                </a:lnTo>
                <a:lnTo>
                  <a:pt x="1422074" y="325244"/>
                </a:lnTo>
                <a:lnTo>
                  <a:pt x="1427927" y="325244"/>
                </a:lnTo>
                <a:lnTo>
                  <a:pt x="1433779" y="325244"/>
                </a:lnTo>
                <a:lnTo>
                  <a:pt x="1439631" y="325244"/>
                </a:lnTo>
                <a:lnTo>
                  <a:pt x="1445483" y="325244"/>
                </a:lnTo>
                <a:lnTo>
                  <a:pt x="1451335" y="325244"/>
                </a:lnTo>
                <a:lnTo>
                  <a:pt x="1457187" y="325244"/>
                </a:lnTo>
              </a:path>
            </a:pathLst>
          </a:custGeom>
          <a:noFill/>
          <a:ln w="1778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a:extLst>
              <a:ext uri="{FF2B5EF4-FFF2-40B4-BE49-F238E27FC236}">
                <a16:creationId xmlns:a16="http://schemas.microsoft.com/office/drawing/2014/main" id="{B2FB2BF0-055A-0538-4804-AC76DE4A7D91}"/>
              </a:ext>
            </a:extLst>
          </p:cNvPr>
          <p:cNvSpPr txBox="1"/>
          <p:nvPr/>
        </p:nvSpPr>
        <p:spPr>
          <a:xfrm>
            <a:off x="8110728" y="4133087"/>
            <a:ext cx="1463040" cy="395630"/>
          </a:xfrm>
          <a:prstGeom prst="rect">
            <a:avLst/>
          </a:prstGeom>
          <a:noFill/>
        </p:spPr>
        <p:txBody>
          <a:bodyPr wrap="square" lIns="0" tIns="0" rIns="0" bIns="0" anchor="t">
            <a:spAutoFit/>
          </a:bodyPr>
          <a:lstStyle/>
          <a:p>
            <a:pPr algn="ctr">
              <a:spcAft>
                <a:spcPts val="0"/>
              </a:spcAft>
            </a:pPr>
            <a:r>
              <a:rPr sz="2200" b="1" dirty="0">
                <a:solidFill>
                  <a:srgbClr val="262626"/>
                </a:solidFill>
                <a:latin typeface="Meiryo"/>
                <a:ea typeface="Meiryo"/>
                <a:cs typeface="Meiryo"/>
              </a:rPr>
              <a:t>反復 2</a:t>
            </a:r>
          </a:p>
        </p:txBody>
      </p:sp>
      <p:sp>
        <p:nvSpPr>
          <p:cNvPr id="76" name="TextBox 75">
            <a:extLst>
              <a:ext uri="{FF2B5EF4-FFF2-40B4-BE49-F238E27FC236}">
                <a16:creationId xmlns:a16="http://schemas.microsoft.com/office/drawing/2014/main" id="{A0BA0C62-3C8E-9677-EE4A-BFB2F6B44539}"/>
              </a:ext>
            </a:extLst>
          </p:cNvPr>
          <p:cNvSpPr txBox="1"/>
          <p:nvPr/>
        </p:nvSpPr>
        <p:spPr>
          <a:xfrm>
            <a:off x="8110728" y="4526280"/>
            <a:ext cx="1463040" cy="395630"/>
          </a:xfrm>
          <a:prstGeom prst="rect">
            <a:avLst/>
          </a:prstGeom>
          <a:noFill/>
        </p:spPr>
        <p:txBody>
          <a:bodyPr wrap="square" lIns="0" tIns="0" rIns="0" bIns="0" anchor="t">
            <a:spAutoFit/>
          </a:bodyPr>
          <a:lstStyle/>
          <a:p>
            <a:pPr algn="ctr">
              <a:spcAft>
                <a:spcPts val="0"/>
              </a:spcAft>
            </a:pPr>
            <a:r>
              <a:rPr sz="2200" b="0" dirty="0">
                <a:solidFill>
                  <a:srgbClr val="C00000"/>
                </a:solidFill>
                <a:latin typeface="Meiryo"/>
                <a:ea typeface="Meiryo"/>
                <a:cs typeface="Meiryo"/>
              </a:rPr>
              <a:t>6.8%</a:t>
            </a:r>
          </a:p>
        </p:txBody>
      </p:sp>
      <p:cxnSp>
        <p:nvCxnSpPr>
          <p:cNvPr id="77" name="Connector 76">
            <a:extLst>
              <a:ext uri="{FF2B5EF4-FFF2-40B4-BE49-F238E27FC236}">
                <a16:creationId xmlns:a16="http://schemas.microsoft.com/office/drawing/2014/main" id="{2DD6B5A6-D266-3170-EF7A-80C2C8FFAC28}"/>
              </a:ext>
            </a:extLst>
          </p:cNvPr>
          <p:cNvCxnSpPr/>
          <p:nvPr/>
        </p:nvCxnSpPr>
        <p:spPr>
          <a:xfrm>
            <a:off x="9628632" y="3474720"/>
            <a:ext cx="182880" cy="0"/>
          </a:xfrm>
          <a:prstGeom prst="line">
            <a:avLst/>
          </a:prstGeom>
          <a:ln w="25400">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Freeform 10">
            <a:extLst>
              <a:ext uri="{FF2B5EF4-FFF2-40B4-BE49-F238E27FC236}">
                <a16:creationId xmlns:a16="http://schemas.microsoft.com/office/drawing/2014/main" id="{D3B3BB1E-C822-CAE7-0164-2481828B2791}"/>
              </a:ext>
            </a:extLst>
          </p:cNvPr>
          <p:cNvSpPr/>
          <p:nvPr/>
        </p:nvSpPr>
        <p:spPr>
          <a:xfrm>
            <a:off x="9866376" y="3013602"/>
            <a:ext cx="1457187" cy="1006102"/>
          </a:xfrm>
          <a:custGeom>
            <a:avLst/>
            <a:gdLst/>
            <a:ahLst/>
            <a:cxnLst/>
            <a:rect l="l" t="t" r="r" b="b"/>
            <a:pathLst>
              <a:path w="1457187" h="1006102">
                <a:moveTo>
                  <a:pt x="0" y="930631"/>
                </a:moveTo>
                <a:lnTo>
                  <a:pt x="5852" y="979178"/>
                </a:lnTo>
                <a:lnTo>
                  <a:pt x="11704" y="938521"/>
                </a:lnTo>
                <a:lnTo>
                  <a:pt x="17556" y="943184"/>
                </a:lnTo>
                <a:lnTo>
                  <a:pt x="23408" y="933984"/>
                </a:lnTo>
                <a:lnTo>
                  <a:pt x="29260" y="922247"/>
                </a:lnTo>
                <a:lnTo>
                  <a:pt x="35112" y="933130"/>
                </a:lnTo>
                <a:lnTo>
                  <a:pt x="40965" y="900749"/>
                </a:lnTo>
                <a:lnTo>
                  <a:pt x="46817" y="895215"/>
                </a:lnTo>
                <a:lnTo>
                  <a:pt x="52669" y="831867"/>
                </a:lnTo>
                <a:lnTo>
                  <a:pt x="58521" y="851967"/>
                </a:lnTo>
                <a:lnTo>
                  <a:pt x="64373" y="840964"/>
                </a:lnTo>
                <a:lnTo>
                  <a:pt x="70225" y="820608"/>
                </a:lnTo>
                <a:lnTo>
                  <a:pt x="76078" y="803780"/>
                </a:lnTo>
                <a:lnTo>
                  <a:pt x="81930" y="785098"/>
                </a:lnTo>
                <a:lnTo>
                  <a:pt x="87782" y="752266"/>
                </a:lnTo>
                <a:lnTo>
                  <a:pt x="93634" y="715134"/>
                </a:lnTo>
                <a:lnTo>
                  <a:pt x="99486" y="694773"/>
                </a:lnTo>
                <a:lnTo>
                  <a:pt x="105338" y="650264"/>
                </a:lnTo>
                <a:lnTo>
                  <a:pt x="111191" y="631566"/>
                </a:lnTo>
                <a:lnTo>
                  <a:pt x="117043" y="595191"/>
                </a:lnTo>
                <a:lnTo>
                  <a:pt x="122895" y="542282"/>
                </a:lnTo>
                <a:lnTo>
                  <a:pt x="128747" y="517631"/>
                </a:lnTo>
                <a:lnTo>
                  <a:pt x="134599" y="492594"/>
                </a:lnTo>
                <a:lnTo>
                  <a:pt x="140451" y="450822"/>
                </a:lnTo>
                <a:lnTo>
                  <a:pt x="146304" y="403947"/>
                </a:lnTo>
                <a:lnTo>
                  <a:pt x="152156" y="349126"/>
                </a:lnTo>
                <a:lnTo>
                  <a:pt x="158008" y="336550"/>
                </a:lnTo>
                <a:lnTo>
                  <a:pt x="163860" y="298502"/>
                </a:lnTo>
                <a:lnTo>
                  <a:pt x="169712" y="247145"/>
                </a:lnTo>
                <a:lnTo>
                  <a:pt x="175564" y="233686"/>
                </a:lnTo>
                <a:lnTo>
                  <a:pt x="181416" y="192894"/>
                </a:lnTo>
                <a:lnTo>
                  <a:pt x="187269" y="147356"/>
                </a:lnTo>
                <a:lnTo>
                  <a:pt x="193121" y="121417"/>
                </a:lnTo>
                <a:lnTo>
                  <a:pt x="198973" y="100336"/>
                </a:lnTo>
                <a:lnTo>
                  <a:pt x="204825" y="69761"/>
                </a:lnTo>
                <a:lnTo>
                  <a:pt x="210677" y="90008"/>
                </a:lnTo>
                <a:lnTo>
                  <a:pt x="216529" y="27904"/>
                </a:lnTo>
                <a:lnTo>
                  <a:pt x="222382" y="37479"/>
                </a:lnTo>
                <a:lnTo>
                  <a:pt x="228234" y="35928"/>
                </a:lnTo>
                <a:lnTo>
                  <a:pt x="234086" y="7182"/>
                </a:lnTo>
                <a:lnTo>
                  <a:pt x="239938" y="0"/>
                </a:lnTo>
                <a:lnTo>
                  <a:pt x="245790" y="14906"/>
                </a:lnTo>
                <a:lnTo>
                  <a:pt x="251642" y="27486"/>
                </a:lnTo>
                <a:lnTo>
                  <a:pt x="257495" y="23345"/>
                </a:lnTo>
                <a:lnTo>
                  <a:pt x="263347" y="36330"/>
                </a:lnTo>
                <a:lnTo>
                  <a:pt x="269199" y="34463"/>
                </a:lnTo>
                <a:lnTo>
                  <a:pt x="275051" y="60128"/>
                </a:lnTo>
                <a:lnTo>
                  <a:pt x="280903" y="87083"/>
                </a:lnTo>
                <a:lnTo>
                  <a:pt x="286755" y="99034"/>
                </a:lnTo>
                <a:lnTo>
                  <a:pt x="292608" y="138902"/>
                </a:lnTo>
                <a:lnTo>
                  <a:pt x="298460" y="173257"/>
                </a:lnTo>
                <a:lnTo>
                  <a:pt x="304312" y="182657"/>
                </a:lnTo>
                <a:lnTo>
                  <a:pt x="310164" y="210419"/>
                </a:lnTo>
                <a:lnTo>
                  <a:pt x="316016" y="247828"/>
                </a:lnTo>
                <a:lnTo>
                  <a:pt x="321868" y="282568"/>
                </a:lnTo>
                <a:lnTo>
                  <a:pt x="327720" y="298546"/>
                </a:lnTo>
                <a:lnTo>
                  <a:pt x="333573" y="357520"/>
                </a:lnTo>
                <a:lnTo>
                  <a:pt x="339425" y="346643"/>
                </a:lnTo>
                <a:lnTo>
                  <a:pt x="345277" y="374143"/>
                </a:lnTo>
                <a:lnTo>
                  <a:pt x="351129" y="422875"/>
                </a:lnTo>
                <a:lnTo>
                  <a:pt x="356981" y="425400"/>
                </a:lnTo>
                <a:lnTo>
                  <a:pt x="362833" y="458139"/>
                </a:lnTo>
                <a:lnTo>
                  <a:pt x="368686" y="457106"/>
                </a:lnTo>
                <a:lnTo>
                  <a:pt x="374538" y="507005"/>
                </a:lnTo>
                <a:lnTo>
                  <a:pt x="380390" y="509465"/>
                </a:lnTo>
                <a:lnTo>
                  <a:pt x="386242" y="504270"/>
                </a:lnTo>
                <a:lnTo>
                  <a:pt x="392094" y="511096"/>
                </a:lnTo>
                <a:lnTo>
                  <a:pt x="397946" y="560178"/>
                </a:lnTo>
                <a:lnTo>
                  <a:pt x="403799" y="549611"/>
                </a:lnTo>
                <a:lnTo>
                  <a:pt x="409651" y="547320"/>
                </a:lnTo>
                <a:lnTo>
                  <a:pt x="415503" y="564278"/>
                </a:lnTo>
                <a:lnTo>
                  <a:pt x="421355" y="543407"/>
                </a:lnTo>
                <a:lnTo>
                  <a:pt x="427207" y="579642"/>
                </a:lnTo>
                <a:lnTo>
                  <a:pt x="433059" y="564442"/>
                </a:lnTo>
                <a:lnTo>
                  <a:pt x="438912" y="582914"/>
                </a:lnTo>
                <a:lnTo>
                  <a:pt x="444764" y="555745"/>
                </a:lnTo>
                <a:lnTo>
                  <a:pt x="450616" y="573444"/>
                </a:lnTo>
                <a:lnTo>
                  <a:pt x="456468" y="578257"/>
                </a:lnTo>
                <a:lnTo>
                  <a:pt x="462320" y="594516"/>
                </a:lnTo>
                <a:lnTo>
                  <a:pt x="468172" y="555318"/>
                </a:lnTo>
                <a:lnTo>
                  <a:pt x="474024" y="566736"/>
                </a:lnTo>
                <a:lnTo>
                  <a:pt x="479877" y="567478"/>
                </a:lnTo>
                <a:lnTo>
                  <a:pt x="485729" y="564019"/>
                </a:lnTo>
                <a:lnTo>
                  <a:pt x="491581" y="574617"/>
                </a:lnTo>
                <a:lnTo>
                  <a:pt x="497433" y="587984"/>
                </a:lnTo>
                <a:lnTo>
                  <a:pt x="503285" y="592185"/>
                </a:lnTo>
                <a:lnTo>
                  <a:pt x="509137" y="595052"/>
                </a:lnTo>
                <a:lnTo>
                  <a:pt x="514990" y="573164"/>
                </a:lnTo>
                <a:lnTo>
                  <a:pt x="520842" y="610271"/>
                </a:lnTo>
                <a:lnTo>
                  <a:pt x="526694" y="604870"/>
                </a:lnTo>
                <a:lnTo>
                  <a:pt x="532546" y="606975"/>
                </a:lnTo>
                <a:lnTo>
                  <a:pt x="538398" y="606549"/>
                </a:lnTo>
                <a:lnTo>
                  <a:pt x="544250" y="609019"/>
                </a:lnTo>
                <a:lnTo>
                  <a:pt x="550103" y="637483"/>
                </a:lnTo>
                <a:lnTo>
                  <a:pt x="555955" y="650833"/>
                </a:lnTo>
                <a:lnTo>
                  <a:pt x="561807" y="638960"/>
                </a:lnTo>
                <a:lnTo>
                  <a:pt x="567659" y="633517"/>
                </a:lnTo>
                <a:lnTo>
                  <a:pt x="573511" y="648086"/>
                </a:lnTo>
                <a:lnTo>
                  <a:pt x="579363" y="664061"/>
                </a:lnTo>
                <a:lnTo>
                  <a:pt x="585216" y="680304"/>
                </a:lnTo>
                <a:lnTo>
                  <a:pt x="591068" y="683516"/>
                </a:lnTo>
                <a:lnTo>
                  <a:pt x="596920" y="700385"/>
                </a:lnTo>
                <a:lnTo>
                  <a:pt x="602772" y="698820"/>
                </a:lnTo>
                <a:lnTo>
                  <a:pt x="608624" y="728615"/>
                </a:lnTo>
                <a:lnTo>
                  <a:pt x="614476" y="728858"/>
                </a:lnTo>
                <a:lnTo>
                  <a:pt x="620328" y="742862"/>
                </a:lnTo>
                <a:lnTo>
                  <a:pt x="626181" y="746376"/>
                </a:lnTo>
                <a:lnTo>
                  <a:pt x="632033" y="761209"/>
                </a:lnTo>
                <a:lnTo>
                  <a:pt x="637885" y="745085"/>
                </a:lnTo>
                <a:lnTo>
                  <a:pt x="643737" y="768259"/>
                </a:lnTo>
                <a:lnTo>
                  <a:pt x="649589" y="779013"/>
                </a:lnTo>
                <a:lnTo>
                  <a:pt x="655441" y="830827"/>
                </a:lnTo>
                <a:lnTo>
                  <a:pt x="661294" y="821278"/>
                </a:lnTo>
                <a:lnTo>
                  <a:pt x="667146" y="834432"/>
                </a:lnTo>
                <a:lnTo>
                  <a:pt x="672998" y="830834"/>
                </a:lnTo>
                <a:lnTo>
                  <a:pt x="678850" y="873074"/>
                </a:lnTo>
                <a:lnTo>
                  <a:pt x="684702" y="841827"/>
                </a:lnTo>
                <a:lnTo>
                  <a:pt x="690554" y="851805"/>
                </a:lnTo>
                <a:lnTo>
                  <a:pt x="696407" y="887822"/>
                </a:lnTo>
                <a:lnTo>
                  <a:pt x="702259" y="892026"/>
                </a:lnTo>
                <a:lnTo>
                  <a:pt x="708111" y="897557"/>
                </a:lnTo>
                <a:lnTo>
                  <a:pt x="713963" y="894913"/>
                </a:lnTo>
                <a:lnTo>
                  <a:pt x="719815" y="894766"/>
                </a:lnTo>
                <a:lnTo>
                  <a:pt x="725667" y="884787"/>
                </a:lnTo>
                <a:lnTo>
                  <a:pt x="731520" y="917070"/>
                </a:lnTo>
                <a:lnTo>
                  <a:pt x="737372" y="911497"/>
                </a:lnTo>
                <a:lnTo>
                  <a:pt x="743224" y="923971"/>
                </a:lnTo>
                <a:lnTo>
                  <a:pt x="749076" y="910210"/>
                </a:lnTo>
                <a:lnTo>
                  <a:pt x="754928" y="926719"/>
                </a:lnTo>
                <a:lnTo>
                  <a:pt x="760780" y="923699"/>
                </a:lnTo>
                <a:lnTo>
                  <a:pt x="766632" y="956234"/>
                </a:lnTo>
                <a:lnTo>
                  <a:pt x="772485" y="949564"/>
                </a:lnTo>
                <a:lnTo>
                  <a:pt x="778337" y="960197"/>
                </a:lnTo>
                <a:lnTo>
                  <a:pt x="784189" y="936225"/>
                </a:lnTo>
                <a:lnTo>
                  <a:pt x="790041" y="948956"/>
                </a:lnTo>
                <a:lnTo>
                  <a:pt x="795893" y="962790"/>
                </a:lnTo>
                <a:lnTo>
                  <a:pt x="801745" y="966871"/>
                </a:lnTo>
                <a:lnTo>
                  <a:pt x="807598" y="958075"/>
                </a:lnTo>
                <a:lnTo>
                  <a:pt x="813450" y="973869"/>
                </a:lnTo>
                <a:lnTo>
                  <a:pt x="819302" y="978301"/>
                </a:lnTo>
                <a:lnTo>
                  <a:pt x="825154" y="963401"/>
                </a:lnTo>
                <a:lnTo>
                  <a:pt x="831006" y="941687"/>
                </a:lnTo>
                <a:lnTo>
                  <a:pt x="836858" y="974597"/>
                </a:lnTo>
                <a:lnTo>
                  <a:pt x="842711" y="979357"/>
                </a:lnTo>
                <a:lnTo>
                  <a:pt x="848563" y="987562"/>
                </a:lnTo>
                <a:lnTo>
                  <a:pt x="854415" y="990384"/>
                </a:lnTo>
                <a:lnTo>
                  <a:pt x="860267" y="969475"/>
                </a:lnTo>
                <a:lnTo>
                  <a:pt x="866119" y="966385"/>
                </a:lnTo>
                <a:lnTo>
                  <a:pt x="871971" y="976844"/>
                </a:lnTo>
                <a:lnTo>
                  <a:pt x="877824" y="973625"/>
                </a:lnTo>
                <a:lnTo>
                  <a:pt x="883676" y="976644"/>
                </a:lnTo>
                <a:lnTo>
                  <a:pt x="889528" y="976809"/>
                </a:lnTo>
                <a:lnTo>
                  <a:pt x="895380" y="996622"/>
                </a:lnTo>
                <a:lnTo>
                  <a:pt x="901232" y="984481"/>
                </a:lnTo>
                <a:lnTo>
                  <a:pt x="907084" y="978116"/>
                </a:lnTo>
                <a:lnTo>
                  <a:pt x="912936" y="988810"/>
                </a:lnTo>
                <a:lnTo>
                  <a:pt x="918789" y="985444"/>
                </a:lnTo>
                <a:lnTo>
                  <a:pt x="924641" y="989631"/>
                </a:lnTo>
                <a:lnTo>
                  <a:pt x="930493" y="984122"/>
                </a:lnTo>
                <a:lnTo>
                  <a:pt x="936345" y="970406"/>
                </a:lnTo>
                <a:lnTo>
                  <a:pt x="942197" y="985232"/>
                </a:lnTo>
                <a:lnTo>
                  <a:pt x="948049" y="982383"/>
                </a:lnTo>
                <a:lnTo>
                  <a:pt x="953902" y="971172"/>
                </a:lnTo>
                <a:lnTo>
                  <a:pt x="959754" y="973219"/>
                </a:lnTo>
                <a:lnTo>
                  <a:pt x="965606" y="961017"/>
                </a:lnTo>
                <a:lnTo>
                  <a:pt x="971458" y="1005270"/>
                </a:lnTo>
                <a:lnTo>
                  <a:pt x="977310" y="970904"/>
                </a:lnTo>
                <a:lnTo>
                  <a:pt x="983162" y="986577"/>
                </a:lnTo>
                <a:lnTo>
                  <a:pt x="989015" y="979406"/>
                </a:lnTo>
                <a:lnTo>
                  <a:pt x="994867" y="971224"/>
                </a:lnTo>
                <a:lnTo>
                  <a:pt x="1000719" y="968380"/>
                </a:lnTo>
                <a:lnTo>
                  <a:pt x="1006571" y="968912"/>
                </a:lnTo>
                <a:lnTo>
                  <a:pt x="1012423" y="979251"/>
                </a:lnTo>
                <a:lnTo>
                  <a:pt x="1018275" y="962282"/>
                </a:lnTo>
                <a:lnTo>
                  <a:pt x="1024128" y="984390"/>
                </a:lnTo>
                <a:lnTo>
                  <a:pt x="1029980" y="982741"/>
                </a:lnTo>
                <a:lnTo>
                  <a:pt x="1035832" y="971770"/>
                </a:lnTo>
                <a:lnTo>
                  <a:pt x="1041684" y="987547"/>
                </a:lnTo>
                <a:lnTo>
                  <a:pt x="1047536" y="955884"/>
                </a:lnTo>
                <a:lnTo>
                  <a:pt x="1053388" y="969218"/>
                </a:lnTo>
                <a:lnTo>
                  <a:pt x="1059240" y="955721"/>
                </a:lnTo>
                <a:lnTo>
                  <a:pt x="1065093" y="981435"/>
                </a:lnTo>
                <a:lnTo>
                  <a:pt x="1070945" y="985599"/>
                </a:lnTo>
                <a:lnTo>
                  <a:pt x="1076797" y="979178"/>
                </a:lnTo>
                <a:lnTo>
                  <a:pt x="1082649" y="972553"/>
                </a:lnTo>
                <a:lnTo>
                  <a:pt x="1088501" y="987990"/>
                </a:lnTo>
                <a:lnTo>
                  <a:pt x="1094353" y="976699"/>
                </a:lnTo>
                <a:lnTo>
                  <a:pt x="1100206" y="981329"/>
                </a:lnTo>
                <a:lnTo>
                  <a:pt x="1106058" y="962270"/>
                </a:lnTo>
                <a:lnTo>
                  <a:pt x="1111910" y="988871"/>
                </a:lnTo>
                <a:lnTo>
                  <a:pt x="1117762" y="968920"/>
                </a:lnTo>
                <a:lnTo>
                  <a:pt x="1123614" y="988652"/>
                </a:lnTo>
                <a:lnTo>
                  <a:pt x="1129466" y="992351"/>
                </a:lnTo>
                <a:lnTo>
                  <a:pt x="1135319" y="989428"/>
                </a:lnTo>
                <a:lnTo>
                  <a:pt x="1141171" y="995031"/>
                </a:lnTo>
                <a:lnTo>
                  <a:pt x="1147023" y="979427"/>
                </a:lnTo>
                <a:lnTo>
                  <a:pt x="1152875" y="969095"/>
                </a:lnTo>
                <a:lnTo>
                  <a:pt x="1158727" y="979217"/>
                </a:lnTo>
                <a:lnTo>
                  <a:pt x="1164579" y="973847"/>
                </a:lnTo>
                <a:lnTo>
                  <a:pt x="1170432" y="962079"/>
                </a:lnTo>
                <a:lnTo>
                  <a:pt x="1176284" y="977983"/>
                </a:lnTo>
                <a:lnTo>
                  <a:pt x="1182136" y="978857"/>
                </a:lnTo>
                <a:lnTo>
                  <a:pt x="1187988" y="984347"/>
                </a:lnTo>
                <a:lnTo>
                  <a:pt x="1193840" y="999913"/>
                </a:lnTo>
                <a:lnTo>
                  <a:pt x="1199692" y="972266"/>
                </a:lnTo>
                <a:lnTo>
                  <a:pt x="1205544" y="1001644"/>
                </a:lnTo>
                <a:lnTo>
                  <a:pt x="1211397" y="973516"/>
                </a:lnTo>
                <a:lnTo>
                  <a:pt x="1217249" y="981303"/>
                </a:lnTo>
                <a:lnTo>
                  <a:pt x="1223101" y="967980"/>
                </a:lnTo>
                <a:lnTo>
                  <a:pt x="1228953" y="981927"/>
                </a:lnTo>
                <a:lnTo>
                  <a:pt x="1234805" y="990747"/>
                </a:lnTo>
                <a:lnTo>
                  <a:pt x="1240657" y="976957"/>
                </a:lnTo>
                <a:lnTo>
                  <a:pt x="1246510" y="987677"/>
                </a:lnTo>
                <a:lnTo>
                  <a:pt x="1252362" y="983249"/>
                </a:lnTo>
                <a:lnTo>
                  <a:pt x="1258214" y="980647"/>
                </a:lnTo>
                <a:lnTo>
                  <a:pt x="1264066" y="982707"/>
                </a:lnTo>
                <a:lnTo>
                  <a:pt x="1269918" y="983340"/>
                </a:lnTo>
                <a:lnTo>
                  <a:pt x="1275770" y="990855"/>
                </a:lnTo>
                <a:lnTo>
                  <a:pt x="1281623" y="983344"/>
                </a:lnTo>
                <a:lnTo>
                  <a:pt x="1287475" y="1006102"/>
                </a:lnTo>
                <a:lnTo>
                  <a:pt x="1293327" y="982973"/>
                </a:lnTo>
                <a:lnTo>
                  <a:pt x="1299179" y="995124"/>
                </a:lnTo>
                <a:lnTo>
                  <a:pt x="1305031" y="968056"/>
                </a:lnTo>
                <a:lnTo>
                  <a:pt x="1310883" y="966309"/>
                </a:lnTo>
                <a:lnTo>
                  <a:pt x="1316735" y="1003915"/>
                </a:lnTo>
                <a:lnTo>
                  <a:pt x="1322588" y="979444"/>
                </a:lnTo>
                <a:lnTo>
                  <a:pt x="1328440" y="982611"/>
                </a:lnTo>
                <a:lnTo>
                  <a:pt x="1334292" y="993357"/>
                </a:lnTo>
                <a:lnTo>
                  <a:pt x="1340144" y="974929"/>
                </a:lnTo>
                <a:lnTo>
                  <a:pt x="1345996" y="986526"/>
                </a:lnTo>
                <a:lnTo>
                  <a:pt x="1351848" y="1001774"/>
                </a:lnTo>
                <a:lnTo>
                  <a:pt x="1357701" y="984250"/>
                </a:lnTo>
                <a:lnTo>
                  <a:pt x="1363553" y="982867"/>
                </a:lnTo>
                <a:lnTo>
                  <a:pt x="1369405" y="979893"/>
                </a:lnTo>
                <a:lnTo>
                  <a:pt x="1375257" y="995511"/>
                </a:lnTo>
                <a:lnTo>
                  <a:pt x="1381109" y="973948"/>
                </a:lnTo>
                <a:lnTo>
                  <a:pt x="1386961" y="972549"/>
                </a:lnTo>
                <a:lnTo>
                  <a:pt x="1392814" y="994514"/>
                </a:lnTo>
                <a:lnTo>
                  <a:pt x="1398666" y="988828"/>
                </a:lnTo>
                <a:lnTo>
                  <a:pt x="1404518" y="982074"/>
                </a:lnTo>
                <a:lnTo>
                  <a:pt x="1410370" y="987743"/>
                </a:lnTo>
                <a:lnTo>
                  <a:pt x="1416222" y="960777"/>
                </a:lnTo>
                <a:lnTo>
                  <a:pt x="1422074" y="978703"/>
                </a:lnTo>
                <a:lnTo>
                  <a:pt x="1427927" y="992935"/>
                </a:lnTo>
                <a:lnTo>
                  <a:pt x="1433779" y="990338"/>
                </a:lnTo>
                <a:lnTo>
                  <a:pt x="1439631" y="981807"/>
                </a:lnTo>
                <a:lnTo>
                  <a:pt x="1445483" y="954332"/>
                </a:lnTo>
                <a:lnTo>
                  <a:pt x="1451335" y="983217"/>
                </a:lnTo>
                <a:lnTo>
                  <a:pt x="1457187" y="979648"/>
                </a:lnTo>
              </a:path>
            </a:pathLst>
          </a:custGeom>
          <a:noFill/>
          <a:ln w="190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Freeform 16">
            <a:extLst>
              <a:ext uri="{FF2B5EF4-FFF2-40B4-BE49-F238E27FC236}">
                <a16:creationId xmlns:a16="http://schemas.microsoft.com/office/drawing/2014/main" id="{4AB53AB9-701C-9BEE-6482-A2BFF29CC6D8}"/>
              </a:ext>
            </a:extLst>
          </p:cNvPr>
          <p:cNvSpPr/>
          <p:nvPr/>
        </p:nvSpPr>
        <p:spPr>
          <a:xfrm>
            <a:off x="9866376" y="3065470"/>
            <a:ext cx="1457187" cy="929268"/>
          </a:xfrm>
          <a:custGeom>
            <a:avLst/>
            <a:gdLst/>
            <a:ahLst/>
            <a:cxnLst/>
            <a:rect l="l" t="t" r="r" b="b"/>
            <a:pathLst>
              <a:path w="1457187" h="929268">
                <a:moveTo>
                  <a:pt x="0" y="902723"/>
                </a:moveTo>
                <a:lnTo>
                  <a:pt x="5852" y="897629"/>
                </a:lnTo>
                <a:lnTo>
                  <a:pt x="11704" y="891724"/>
                </a:lnTo>
                <a:lnTo>
                  <a:pt x="17556" y="884915"/>
                </a:lnTo>
                <a:lnTo>
                  <a:pt x="23408" y="877104"/>
                </a:lnTo>
                <a:lnTo>
                  <a:pt x="29260" y="868189"/>
                </a:lnTo>
                <a:lnTo>
                  <a:pt x="35112" y="858067"/>
                </a:lnTo>
                <a:lnTo>
                  <a:pt x="40965" y="846636"/>
                </a:lnTo>
                <a:lnTo>
                  <a:pt x="46817" y="833795"/>
                </a:lnTo>
                <a:lnTo>
                  <a:pt x="52669" y="819448"/>
                </a:lnTo>
                <a:lnTo>
                  <a:pt x="58521" y="803505"/>
                </a:lnTo>
                <a:lnTo>
                  <a:pt x="64373" y="785887"/>
                </a:lnTo>
                <a:lnTo>
                  <a:pt x="70225" y="766525"/>
                </a:lnTo>
                <a:lnTo>
                  <a:pt x="76078" y="745367"/>
                </a:lnTo>
                <a:lnTo>
                  <a:pt x="81930" y="722381"/>
                </a:lnTo>
                <a:lnTo>
                  <a:pt x="87782" y="697553"/>
                </a:lnTo>
                <a:lnTo>
                  <a:pt x="93634" y="670897"/>
                </a:lnTo>
                <a:lnTo>
                  <a:pt x="99486" y="642452"/>
                </a:lnTo>
                <a:lnTo>
                  <a:pt x="105338" y="612287"/>
                </a:lnTo>
                <a:lnTo>
                  <a:pt x="111191" y="580503"/>
                </a:lnTo>
                <a:lnTo>
                  <a:pt x="117043" y="547234"/>
                </a:lnTo>
                <a:lnTo>
                  <a:pt x="122895" y="512648"/>
                </a:lnTo>
                <a:lnTo>
                  <a:pt x="128747" y="476945"/>
                </a:lnTo>
                <a:lnTo>
                  <a:pt x="134599" y="440360"/>
                </a:lnTo>
                <a:lnTo>
                  <a:pt x="140451" y="403159"/>
                </a:lnTo>
                <a:lnTo>
                  <a:pt x="146304" y="365638"/>
                </a:lnTo>
                <a:lnTo>
                  <a:pt x="152156" y="328120"/>
                </a:lnTo>
                <a:lnTo>
                  <a:pt x="158008" y="290947"/>
                </a:lnTo>
                <a:lnTo>
                  <a:pt x="163860" y="254481"/>
                </a:lnTo>
                <a:lnTo>
                  <a:pt x="169712" y="219095"/>
                </a:lnTo>
                <a:lnTo>
                  <a:pt x="175564" y="185168"/>
                </a:lnTo>
                <a:lnTo>
                  <a:pt x="181416" y="153078"/>
                </a:lnTo>
                <a:lnTo>
                  <a:pt x="187269" y="123194"/>
                </a:lnTo>
                <a:lnTo>
                  <a:pt x="193121" y="95872"/>
                </a:lnTo>
                <a:lnTo>
                  <a:pt x="198973" y="71445"/>
                </a:lnTo>
                <a:lnTo>
                  <a:pt x="204825" y="50218"/>
                </a:lnTo>
                <a:lnTo>
                  <a:pt x="210677" y="32460"/>
                </a:lnTo>
                <a:lnTo>
                  <a:pt x="216529" y="18400"/>
                </a:lnTo>
                <a:lnTo>
                  <a:pt x="222382" y="8223"/>
                </a:lnTo>
                <a:lnTo>
                  <a:pt x="228234" y="2062"/>
                </a:lnTo>
                <a:lnTo>
                  <a:pt x="234086" y="0"/>
                </a:lnTo>
                <a:lnTo>
                  <a:pt x="239938" y="2062"/>
                </a:lnTo>
                <a:lnTo>
                  <a:pt x="245790" y="8223"/>
                </a:lnTo>
                <a:lnTo>
                  <a:pt x="251642" y="18400"/>
                </a:lnTo>
                <a:lnTo>
                  <a:pt x="257495" y="32460"/>
                </a:lnTo>
                <a:lnTo>
                  <a:pt x="263347" y="50218"/>
                </a:lnTo>
                <a:lnTo>
                  <a:pt x="269199" y="71445"/>
                </a:lnTo>
                <a:lnTo>
                  <a:pt x="275051" y="95872"/>
                </a:lnTo>
                <a:lnTo>
                  <a:pt x="280903" y="123194"/>
                </a:lnTo>
                <a:lnTo>
                  <a:pt x="286755" y="153078"/>
                </a:lnTo>
                <a:lnTo>
                  <a:pt x="292608" y="185168"/>
                </a:lnTo>
                <a:lnTo>
                  <a:pt x="298460" y="219095"/>
                </a:lnTo>
                <a:lnTo>
                  <a:pt x="304312" y="254481"/>
                </a:lnTo>
                <a:lnTo>
                  <a:pt x="310164" y="290947"/>
                </a:lnTo>
                <a:lnTo>
                  <a:pt x="316016" y="328120"/>
                </a:lnTo>
                <a:lnTo>
                  <a:pt x="321868" y="365638"/>
                </a:lnTo>
                <a:lnTo>
                  <a:pt x="327720" y="403159"/>
                </a:lnTo>
                <a:lnTo>
                  <a:pt x="333573" y="440360"/>
                </a:lnTo>
                <a:lnTo>
                  <a:pt x="339425" y="476945"/>
                </a:lnTo>
                <a:lnTo>
                  <a:pt x="345277" y="512648"/>
                </a:lnTo>
                <a:lnTo>
                  <a:pt x="351129" y="547234"/>
                </a:lnTo>
                <a:lnTo>
                  <a:pt x="356981" y="580503"/>
                </a:lnTo>
                <a:lnTo>
                  <a:pt x="362833" y="612287"/>
                </a:lnTo>
                <a:lnTo>
                  <a:pt x="368686" y="642452"/>
                </a:lnTo>
                <a:lnTo>
                  <a:pt x="374538" y="670897"/>
                </a:lnTo>
                <a:lnTo>
                  <a:pt x="380390" y="697553"/>
                </a:lnTo>
                <a:lnTo>
                  <a:pt x="386242" y="722381"/>
                </a:lnTo>
                <a:lnTo>
                  <a:pt x="392094" y="745367"/>
                </a:lnTo>
                <a:lnTo>
                  <a:pt x="397946" y="766525"/>
                </a:lnTo>
                <a:lnTo>
                  <a:pt x="403799" y="785887"/>
                </a:lnTo>
                <a:lnTo>
                  <a:pt x="409651" y="803505"/>
                </a:lnTo>
                <a:lnTo>
                  <a:pt x="415503" y="819448"/>
                </a:lnTo>
                <a:lnTo>
                  <a:pt x="421355" y="833795"/>
                </a:lnTo>
                <a:lnTo>
                  <a:pt x="427207" y="846636"/>
                </a:lnTo>
                <a:lnTo>
                  <a:pt x="433059" y="858067"/>
                </a:lnTo>
                <a:lnTo>
                  <a:pt x="438912" y="868189"/>
                </a:lnTo>
                <a:lnTo>
                  <a:pt x="444764" y="877104"/>
                </a:lnTo>
                <a:lnTo>
                  <a:pt x="450616" y="884915"/>
                </a:lnTo>
                <a:lnTo>
                  <a:pt x="456468" y="891724"/>
                </a:lnTo>
                <a:lnTo>
                  <a:pt x="462320" y="897629"/>
                </a:lnTo>
                <a:lnTo>
                  <a:pt x="468172" y="902723"/>
                </a:lnTo>
                <a:lnTo>
                  <a:pt x="474024" y="907096"/>
                </a:lnTo>
                <a:lnTo>
                  <a:pt x="479877" y="910830"/>
                </a:lnTo>
                <a:lnTo>
                  <a:pt x="485729" y="914004"/>
                </a:lnTo>
                <a:lnTo>
                  <a:pt x="491581" y="916687"/>
                </a:lnTo>
                <a:lnTo>
                  <a:pt x="497433" y="918945"/>
                </a:lnTo>
                <a:lnTo>
                  <a:pt x="503285" y="920835"/>
                </a:lnTo>
                <a:lnTo>
                  <a:pt x="509137" y="922409"/>
                </a:lnTo>
                <a:lnTo>
                  <a:pt x="514990" y="923715"/>
                </a:lnTo>
                <a:lnTo>
                  <a:pt x="520842" y="924792"/>
                </a:lnTo>
                <a:lnTo>
                  <a:pt x="526694" y="925676"/>
                </a:lnTo>
                <a:lnTo>
                  <a:pt x="532546" y="926398"/>
                </a:lnTo>
                <a:lnTo>
                  <a:pt x="538398" y="926985"/>
                </a:lnTo>
                <a:lnTo>
                  <a:pt x="544250" y="927460"/>
                </a:lnTo>
                <a:lnTo>
                  <a:pt x="550103" y="927843"/>
                </a:lnTo>
                <a:lnTo>
                  <a:pt x="555955" y="928149"/>
                </a:lnTo>
                <a:lnTo>
                  <a:pt x="561807" y="928394"/>
                </a:lnTo>
                <a:lnTo>
                  <a:pt x="567659" y="928588"/>
                </a:lnTo>
                <a:lnTo>
                  <a:pt x="573511" y="928741"/>
                </a:lnTo>
                <a:lnTo>
                  <a:pt x="579363" y="928862"/>
                </a:lnTo>
                <a:lnTo>
                  <a:pt x="585216" y="928956"/>
                </a:lnTo>
                <a:lnTo>
                  <a:pt x="591068" y="929030"/>
                </a:lnTo>
                <a:lnTo>
                  <a:pt x="596920" y="929087"/>
                </a:lnTo>
                <a:lnTo>
                  <a:pt x="602772" y="929131"/>
                </a:lnTo>
                <a:lnTo>
                  <a:pt x="608624" y="929164"/>
                </a:lnTo>
                <a:lnTo>
                  <a:pt x="614476" y="929190"/>
                </a:lnTo>
                <a:lnTo>
                  <a:pt x="620328" y="929210"/>
                </a:lnTo>
                <a:lnTo>
                  <a:pt x="626181" y="929225"/>
                </a:lnTo>
                <a:lnTo>
                  <a:pt x="632033" y="929236"/>
                </a:lnTo>
                <a:lnTo>
                  <a:pt x="637885" y="929244"/>
                </a:lnTo>
                <a:lnTo>
                  <a:pt x="643737" y="929251"/>
                </a:lnTo>
                <a:lnTo>
                  <a:pt x="649589" y="929255"/>
                </a:lnTo>
                <a:lnTo>
                  <a:pt x="655441" y="929259"/>
                </a:lnTo>
                <a:lnTo>
                  <a:pt x="661294" y="929261"/>
                </a:lnTo>
                <a:lnTo>
                  <a:pt x="667146" y="929263"/>
                </a:lnTo>
                <a:lnTo>
                  <a:pt x="672998" y="929265"/>
                </a:lnTo>
                <a:lnTo>
                  <a:pt x="678850" y="929266"/>
                </a:lnTo>
                <a:lnTo>
                  <a:pt x="684702" y="929266"/>
                </a:lnTo>
                <a:lnTo>
                  <a:pt x="690554" y="929267"/>
                </a:lnTo>
                <a:lnTo>
                  <a:pt x="696407" y="929267"/>
                </a:lnTo>
                <a:lnTo>
                  <a:pt x="702259" y="929267"/>
                </a:lnTo>
                <a:lnTo>
                  <a:pt x="708111" y="929268"/>
                </a:lnTo>
                <a:lnTo>
                  <a:pt x="713963" y="929268"/>
                </a:lnTo>
                <a:lnTo>
                  <a:pt x="719815" y="929268"/>
                </a:lnTo>
                <a:lnTo>
                  <a:pt x="725667" y="929268"/>
                </a:lnTo>
                <a:lnTo>
                  <a:pt x="731520" y="929268"/>
                </a:lnTo>
                <a:lnTo>
                  <a:pt x="737372" y="929268"/>
                </a:lnTo>
                <a:lnTo>
                  <a:pt x="743224" y="929268"/>
                </a:lnTo>
                <a:lnTo>
                  <a:pt x="749076" y="929268"/>
                </a:lnTo>
                <a:lnTo>
                  <a:pt x="754928" y="929268"/>
                </a:lnTo>
                <a:lnTo>
                  <a:pt x="760780" y="929268"/>
                </a:lnTo>
                <a:lnTo>
                  <a:pt x="766632" y="929268"/>
                </a:lnTo>
                <a:lnTo>
                  <a:pt x="772485" y="929268"/>
                </a:lnTo>
                <a:lnTo>
                  <a:pt x="778337" y="929268"/>
                </a:lnTo>
                <a:lnTo>
                  <a:pt x="784189" y="929268"/>
                </a:lnTo>
                <a:lnTo>
                  <a:pt x="790041" y="929268"/>
                </a:lnTo>
                <a:lnTo>
                  <a:pt x="795893" y="929268"/>
                </a:lnTo>
                <a:lnTo>
                  <a:pt x="801745" y="929268"/>
                </a:lnTo>
                <a:lnTo>
                  <a:pt x="807598" y="929268"/>
                </a:lnTo>
                <a:lnTo>
                  <a:pt x="813450" y="929268"/>
                </a:lnTo>
                <a:lnTo>
                  <a:pt x="819302" y="929268"/>
                </a:lnTo>
                <a:lnTo>
                  <a:pt x="825154" y="929268"/>
                </a:lnTo>
                <a:lnTo>
                  <a:pt x="831006" y="929268"/>
                </a:lnTo>
                <a:lnTo>
                  <a:pt x="836858" y="929268"/>
                </a:lnTo>
                <a:lnTo>
                  <a:pt x="842711" y="929268"/>
                </a:lnTo>
                <a:lnTo>
                  <a:pt x="848563" y="929268"/>
                </a:lnTo>
                <a:lnTo>
                  <a:pt x="854415" y="929268"/>
                </a:lnTo>
                <a:lnTo>
                  <a:pt x="860267" y="929268"/>
                </a:lnTo>
                <a:lnTo>
                  <a:pt x="866119" y="929268"/>
                </a:lnTo>
                <a:lnTo>
                  <a:pt x="871971" y="929268"/>
                </a:lnTo>
                <a:lnTo>
                  <a:pt x="877824" y="929268"/>
                </a:lnTo>
                <a:lnTo>
                  <a:pt x="883676" y="929268"/>
                </a:lnTo>
                <a:lnTo>
                  <a:pt x="889528" y="929268"/>
                </a:lnTo>
                <a:lnTo>
                  <a:pt x="895380" y="929268"/>
                </a:lnTo>
                <a:lnTo>
                  <a:pt x="901232" y="929268"/>
                </a:lnTo>
                <a:lnTo>
                  <a:pt x="907084" y="929268"/>
                </a:lnTo>
                <a:lnTo>
                  <a:pt x="912936" y="929268"/>
                </a:lnTo>
                <a:lnTo>
                  <a:pt x="918789" y="929268"/>
                </a:lnTo>
                <a:lnTo>
                  <a:pt x="924641" y="929268"/>
                </a:lnTo>
                <a:lnTo>
                  <a:pt x="930493" y="929268"/>
                </a:lnTo>
                <a:lnTo>
                  <a:pt x="936345" y="929268"/>
                </a:lnTo>
                <a:lnTo>
                  <a:pt x="942197" y="929268"/>
                </a:lnTo>
                <a:lnTo>
                  <a:pt x="948049" y="929268"/>
                </a:lnTo>
                <a:lnTo>
                  <a:pt x="953902" y="929268"/>
                </a:lnTo>
                <a:lnTo>
                  <a:pt x="959754" y="929268"/>
                </a:lnTo>
                <a:lnTo>
                  <a:pt x="965606" y="929268"/>
                </a:lnTo>
                <a:lnTo>
                  <a:pt x="971458" y="929268"/>
                </a:lnTo>
                <a:lnTo>
                  <a:pt x="977310" y="929268"/>
                </a:lnTo>
                <a:lnTo>
                  <a:pt x="983162" y="929268"/>
                </a:lnTo>
                <a:lnTo>
                  <a:pt x="989015" y="929268"/>
                </a:lnTo>
                <a:lnTo>
                  <a:pt x="994867" y="929268"/>
                </a:lnTo>
                <a:lnTo>
                  <a:pt x="1000719" y="929268"/>
                </a:lnTo>
                <a:lnTo>
                  <a:pt x="1006571" y="929268"/>
                </a:lnTo>
                <a:lnTo>
                  <a:pt x="1012423" y="929268"/>
                </a:lnTo>
                <a:lnTo>
                  <a:pt x="1018275" y="929268"/>
                </a:lnTo>
                <a:lnTo>
                  <a:pt x="1024128" y="929268"/>
                </a:lnTo>
                <a:lnTo>
                  <a:pt x="1029980" y="929268"/>
                </a:lnTo>
                <a:lnTo>
                  <a:pt x="1035832" y="929268"/>
                </a:lnTo>
                <a:lnTo>
                  <a:pt x="1041684" y="929268"/>
                </a:lnTo>
                <a:lnTo>
                  <a:pt x="1047536" y="929268"/>
                </a:lnTo>
                <a:lnTo>
                  <a:pt x="1053388" y="929268"/>
                </a:lnTo>
                <a:lnTo>
                  <a:pt x="1059240" y="929268"/>
                </a:lnTo>
                <a:lnTo>
                  <a:pt x="1065093" y="929268"/>
                </a:lnTo>
                <a:lnTo>
                  <a:pt x="1070945" y="929268"/>
                </a:lnTo>
                <a:lnTo>
                  <a:pt x="1076797" y="929268"/>
                </a:lnTo>
                <a:lnTo>
                  <a:pt x="1082649" y="929268"/>
                </a:lnTo>
                <a:lnTo>
                  <a:pt x="1088501" y="929268"/>
                </a:lnTo>
                <a:lnTo>
                  <a:pt x="1094353" y="929268"/>
                </a:lnTo>
                <a:lnTo>
                  <a:pt x="1100206" y="929268"/>
                </a:lnTo>
                <a:lnTo>
                  <a:pt x="1106058" y="929268"/>
                </a:lnTo>
                <a:lnTo>
                  <a:pt x="1111910" y="929268"/>
                </a:lnTo>
                <a:lnTo>
                  <a:pt x="1117762" y="929268"/>
                </a:lnTo>
                <a:lnTo>
                  <a:pt x="1123614" y="929268"/>
                </a:lnTo>
                <a:lnTo>
                  <a:pt x="1129466" y="929268"/>
                </a:lnTo>
                <a:lnTo>
                  <a:pt x="1135319" y="929268"/>
                </a:lnTo>
                <a:lnTo>
                  <a:pt x="1141171" y="929268"/>
                </a:lnTo>
                <a:lnTo>
                  <a:pt x="1147023" y="929268"/>
                </a:lnTo>
                <a:lnTo>
                  <a:pt x="1152875" y="929268"/>
                </a:lnTo>
                <a:lnTo>
                  <a:pt x="1158727" y="929268"/>
                </a:lnTo>
                <a:lnTo>
                  <a:pt x="1164579" y="929268"/>
                </a:lnTo>
                <a:lnTo>
                  <a:pt x="1170432" y="929268"/>
                </a:lnTo>
                <a:lnTo>
                  <a:pt x="1176284" y="929268"/>
                </a:lnTo>
                <a:lnTo>
                  <a:pt x="1182136" y="929268"/>
                </a:lnTo>
                <a:lnTo>
                  <a:pt x="1187988" y="929268"/>
                </a:lnTo>
                <a:lnTo>
                  <a:pt x="1193840" y="929268"/>
                </a:lnTo>
                <a:lnTo>
                  <a:pt x="1199692" y="929268"/>
                </a:lnTo>
                <a:lnTo>
                  <a:pt x="1205544" y="929268"/>
                </a:lnTo>
                <a:lnTo>
                  <a:pt x="1211397" y="929268"/>
                </a:lnTo>
                <a:lnTo>
                  <a:pt x="1217249" y="929268"/>
                </a:lnTo>
                <a:lnTo>
                  <a:pt x="1223101" y="929268"/>
                </a:lnTo>
                <a:lnTo>
                  <a:pt x="1228953" y="929268"/>
                </a:lnTo>
                <a:lnTo>
                  <a:pt x="1234805" y="929268"/>
                </a:lnTo>
                <a:lnTo>
                  <a:pt x="1240657" y="929268"/>
                </a:lnTo>
                <a:lnTo>
                  <a:pt x="1246510" y="929268"/>
                </a:lnTo>
                <a:lnTo>
                  <a:pt x="1252362" y="929268"/>
                </a:lnTo>
                <a:lnTo>
                  <a:pt x="1258214" y="929268"/>
                </a:lnTo>
                <a:lnTo>
                  <a:pt x="1264066" y="929268"/>
                </a:lnTo>
                <a:lnTo>
                  <a:pt x="1269918" y="929268"/>
                </a:lnTo>
                <a:lnTo>
                  <a:pt x="1275770" y="929268"/>
                </a:lnTo>
                <a:lnTo>
                  <a:pt x="1281623" y="929268"/>
                </a:lnTo>
                <a:lnTo>
                  <a:pt x="1287475" y="929268"/>
                </a:lnTo>
                <a:lnTo>
                  <a:pt x="1293327" y="929268"/>
                </a:lnTo>
                <a:lnTo>
                  <a:pt x="1299179" y="929268"/>
                </a:lnTo>
                <a:lnTo>
                  <a:pt x="1305031" y="929268"/>
                </a:lnTo>
                <a:lnTo>
                  <a:pt x="1310883" y="929268"/>
                </a:lnTo>
                <a:lnTo>
                  <a:pt x="1316735" y="929268"/>
                </a:lnTo>
                <a:lnTo>
                  <a:pt x="1322588" y="929268"/>
                </a:lnTo>
                <a:lnTo>
                  <a:pt x="1328440" y="929268"/>
                </a:lnTo>
                <a:lnTo>
                  <a:pt x="1334292" y="929268"/>
                </a:lnTo>
                <a:lnTo>
                  <a:pt x="1340144" y="929268"/>
                </a:lnTo>
                <a:lnTo>
                  <a:pt x="1345996" y="929268"/>
                </a:lnTo>
                <a:lnTo>
                  <a:pt x="1351848" y="929268"/>
                </a:lnTo>
                <a:lnTo>
                  <a:pt x="1357701" y="929268"/>
                </a:lnTo>
                <a:lnTo>
                  <a:pt x="1363553" y="929268"/>
                </a:lnTo>
                <a:lnTo>
                  <a:pt x="1369405" y="929268"/>
                </a:lnTo>
                <a:lnTo>
                  <a:pt x="1375257" y="929268"/>
                </a:lnTo>
                <a:lnTo>
                  <a:pt x="1381109" y="929268"/>
                </a:lnTo>
                <a:lnTo>
                  <a:pt x="1386961" y="929268"/>
                </a:lnTo>
                <a:lnTo>
                  <a:pt x="1392814" y="929268"/>
                </a:lnTo>
                <a:lnTo>
                  <a:pt x="1398666" y="929268"/>
                </a:lnTo>
                <a:lnTo>
                  <a:pt x="1404518" y="929268"/>
                </a:lnTo>
                <a:lnTo>
                  <a:pt x="1410370" y="929268"/>
                </a:lnTo>
                <a:lnTo>
                  <a:pt x="1416222" y="929268"/>
                </a:lnTo>
                <a:lnTo>
                  <a:pt x="1422074" y="929268"/>
                </a:lnTo>
                <a:lnTo>
                  <a:pt x="1427927" y="929268"/>
                </a:lnTo>
                <a:lnTo>
                  <a:pt x="1433779" y="929268"/>
                </a:lnTo>
                <a:lnTo>
                  <a:pt x="1439631" y="929268"/>
                </a:lnTo>
                <a:lnTo>
                  <a:pt x="1445483" y="929268"/>
                </a:lnTo>
                <a:lnTo>
                  <a:pt x="1451335" y="929268"/>
                </a:lnTo>
                <a:lnTo>
                  <a:pt x="1457187" y="929268"/>
                </a:lnTo>
              </a:path>
            </a:pathLst>
          </a:custGeom>
          <a:noFill/>
          <a:ln w="17780">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Freeform 17">
            <a:extLst>
              <a:ext uri="{FF2B5EF4-FFF2-40B4-BE49-F238E27FC236}">
                <a16:creationId xmlns:a16="http://schemas.microsoft.com/office/drawing/2014/main" id="{1C1B4132-508C-50AF-1960-BB070D398813}"/>
              </a:ext>
            </a:extLst>
          </p:cNvPr>
          <p:cNvSpPr/>
          <p:nvPr/>
        </p:nvSpPr>
        <p:spPr>
          <a:xfrm>
            <a:off x="9866376" y="3604445"/>
            <a:ext cx="1457187" cy="390293"/>
          </a:xfrm>
          <a:custGeom>
            <a:avLst/>
            <a:gdLst/>
            <a:ahLst/>
            <a:cxnLst/>
            <a:rect l="l" t="t" r="r" b="b"/>
            <a:pathLst>
              <a:path w="1457187" h="390293">
                <a:moveTo>
                  <a:pt x="0" y="390136"/>
                </a:moveTo>
                <a:lnTo>
                  <a:pt x="5852" y="390104"/>
                </a:lnTo>
                <a:lnTo>
                  <a:pt x="11704" y="390066"/>
                </a:lnTo>
                <a:lnTo>
                  <a:pt x="17556" y="390022"/>
                </a:lnTo>
                <a:lnTo>
                  <a:pt x="23408" y="389970"/>
                </a:lnTo>
                <a:lnTo>
                  <a:pt x="29260" y="389909"/>
                </a:lnTo>
                <a:lnTo>
                  <a:pt x="35112" y="389836"/>
                </a:lnTo>
                <a:lnTo>
                  <a:pt x="40965" y="389752"/>
                </a:lnTo>
                <a:lnTo>
                  <a:pt x="46817" y="389653"/>
                </a:lnTo>
                <a:lnTo>
                  <a:pt x="52669" y="389538"/>
                </a:lnTo>
                <a:lnTo>
                  <a:pt x="58521" y="389404"/>
                </a:lnTo>
                <a:lnTo>
                  <a:pt x="64373" y="389248"/>
                </a:lnTo>
                <a:lnTo>
                  <a:pt x="70225" y="389068"/>
                </a:lnTo>
                <a:lnTo>
                  <a:pt x="76078" y="388860"/>
                </a:lnTo>
                <a:lnTo>
                  <a:pt x="81930" y="388621"/>
                </a:lnTo>
                <a:lnTo>
                  <a:pt x="87782" y="388345"/>
                </a:lnTo>
                <a:lnTo>
                  <a:pt x="93634" y="388029"/>
                </a:lnTo>
                <a:lnTo>
                  <a:pt x="99486" y="387668"/>
                </a:lnTo>
                <a:lnTo>
                  <a:pt x="105338" y="387255"/>
                </a:lnTo>
                <a:lnTo>
                  <a:pt x="111191" y="386785"/>
                </a:lnTo>
                <a:lnTo>
                  <a:pt x="117043" y="386251"/>
                </a:lnTo>
                <a:lnTo>
                  <a:pt x="122895" y="385645"/>
                </a:lnTo>
                <a:lnTo>
                  <a:pt x="128747" y="384961"/>
                </a:lnTo>
                <a:lnTo>
                  <a:pt x="134599" y="384189"/>
                </a:lnTo>
                <a:lnTo>
                  <a:pt x="140451" y="383320"/>
                </a:lnTo>
                <a:lnTo>
                  <a:pt x="146304" y="382345"/>
                </a:lnTo>
                <a:lnTo>
                  <a:pt x="152156" y="381253"/>
                </a:lnTo>
                <a:lnTo>
                  <a:pt x="158008" y="380034"/>
                </a:lnTo>
                <a:lnTo>
                  <a:pt x="163860" y="378675"/>
                </a:lnTo>
                <a:lnTo>
                  <a:pt x="169712" y="377164"/>
                </a:lnTo>
                <a:lnTo>
                  <a:pt x="175564" y="375490"/>
                </a:lnTo>
                <a:lnTo>
                  <a:pt x="181416" y="373637"/>
                </a:lnTo>
                <a:lnTo>
                  <a:pt x="187269" y="371594"/>
                </a:lnTo>
                <a:lnTo>
                  <a:pt x="193121" y="369344"/>
                </a:lnTo>
                <a:lnTo>
                  <a:pt x="198973" y="366876"/>
                </a:lnTo>
                <a:lnTo>
                  <a:pt x="204825" y="364172"/>
                </a:lnTo>
                <a:lnTo>
                  <a:pt x="210677" y="361220"/>
                </a:lnTo>
                <a:lnTo>
                  <a:pt x="216529" y="358004"/>
                </a:lnTo>
                <a:lnTo>
                  <a:pt x="222382" y="354509"/>
                </a:lnTo>
                <a:lnTo>
                  <a:pt x="228234" y="350722"/>
                </a:lnTo>
                <a:lnTo>
                  <a:pt x="234086" y="346629"/>
                </a:lnTo>
                <a:lnTo>
                  <a:pt x="239938" y="342217"/>
                </a:lnTo>
                <a:lnTo>
                  <a:pt x="245790" y="337473"/>
                </a:lnTo>
                <a:lnTo>
                  <a:pt x="251642" y="332386"/>
                </a:lnTo>
                <a:lnTo>
                  <a:pt x="257495" y="326947"/>
                </a:lnTo>
                <a:lnTo>
                  <a:pt x="263347" y="321146"/>
                </a:lnTo>
                <a:lnTo>
                  <a:pt x="269199" y="314978"/>
                </a:lnTo>
                <a:lnTo>
                  <a:pt x="275051" y="308436"/>
                </a:lnTo>
                <a:lnTo>
                  <a:pt x="280903" y="301519"/>
                </a:lnTo>
                <a:lnTo>
                  <a:pt x="286755" y="294225"/>
                </a:lnTo>
                <a:lnTo>
                  <a:pt x="292608" y="286556"/>
                </a:lnTo>
                <a:lnTo>
                  <a:pt x="298460" y="278518"/>
                </a:lnTo>
                <a:lnTo>
                  <a:pt x="304312" y="270116"/>
                </a:lnTo>
                <a:lnTo>
                  <a:pt x="310164" y="261363"/>
                </a:lnTo>
                <a:lnTo>
                  <a:pt x="316016" y="252271"/>
                </a:lnTo>
                <a:lnTo>
                  <a:pt x="321868" y="242857"/>
                </a:lnTo>
                <a:lnTo>
                  <a:pt x="327720" y="233141"/>
                </a:lnTo>
                <a:lnTo>
                  <a:pt x="333573" y="223146"/>
                </a:lnTo>
                <a:lnTo>
                  <a:pt x="339425" y="212901"/>
                </a:lnTo>
                <a:lnTo>
                  <a:pt x="345277" y="202434"/>
                </a:lnTo>
                <a:lnTo>
                  <a:pt x="351129" y="191780"/>
                </a:lnTo>
                <a:lnTo>
                  <a:pt x="356981" y="180974"/>
                </a:lnTo>
                <a:lnTo>
                  <a:pt x="362833" y="170058"/>
                </a:lnTo>
                <a:lnTo>
                  <a:pt x="368686" y="159073"/>
                </a:lnTo>
                <a:lnTo>
                  <a:pt x="374538" y="148064"/>
                </a:lnTo>
                <a:lnTo>
                  <a:pt x="380390" y="137080"/>
                </a:lnTo>
                <a:lnTo>
                  <a:pt x="386242" y="126170"/>
                </a:lnTo>
                <a:lnTo>
                  <a:pt x="392094" y="115385"/>
                </a:lnTo>
                <a:lnTo>
                  <a:pt x="397946" y="104778"/>
                </a:lnTo>
                <a:lnTo>
                  <a:pt x="403799" y="94402"/>
                </a:lnTo>
                <a:lnTo>
                  <a:pt x="409651" y="84312"/>
                </a:lnTo>
                <a:lnTo>
                  <a:pt x="415503" y="74562"/>
                </a:lnTo>
                <a:lnTo>
                  <a:pt x="421355" y="65205"/>
                </a:lnTo>
                <a:lnTo>
                  <a:pt x="427207" y="56294"/>
                </a:lnTo>
                <a:lnTo>
                  <a:pt x="433059" y="47881"/>
                </a:lnTo>
                <a:lnTo>
                  <a:pt x="438912" y="40014"/>
                </a:lnTo>
                <a:lnTo>
                  <a:pt x="444764" y="32741"/>
                </a:lnTo>
                <a:lnTo>
                  <a:pt x="450616" y="26105"/>
                </a:lnTo>
                <a:lnTo>
                  <a:pt x="456468" y="20148"/>
                </a:lnTo>
                <a:lnTo>
                  <a:pt x="462320" y="14906"/>
                </a:lnTo>
                <a:lnTo>
                  <a:pt x="468172" y="10413"/>
                </a:lnTo>
                <a:lnTo>
                  <a:pt x="474024" y="6697"/>
                </a:lnTo>
                <a:lnTo>
                  <a:pt x="479877" y="3781"/>
                </a:lnTo>
                <a:lnTo>
                  <a:pt x="485729" y="1685"/>
                </a:lnTo>
                <a:lnTo>
                  <a:pt x="491581" y="422"/>
                </a:lnTo>
                <a:lnTo>
                  <a:pt x="497433" y="0"/>
                </a:lnTo>
                <a:lnTo>
                  <a:pt x="503285" y="422"/>
                </a:lnTo>
                <a:lnTo>
                  <a:pt x="509137" y="1685"/>
                </a:lnTo>
                <a:lnTo>
                  <a:pt x="514990" y="3781"/>
                </a:lnTo>
                <a:lnTo>
                  <a:pt x="520842" y="6697"/>
                </a:lnTo>
                <a:lnTo>
                  <a:pt x="526694" y="10413"/>
                </a:lnTo>
                <a:lnTo>
                  <a:pt x="532546" y="14906"/>
                </a:lnTo>
                <a:lnTo>
                  <a:pt x="538398" y="20148"/>
                </a:lnTo>
                <a:lnTo>
                  <a:pt x="544250" y="26105"/>
                </a:lnTo>
                <a:lnTo>
                  <a:pt x="550103" y="32741"/>
                </a:lnTo>
                <a:lnTo>
                  <a:pt x="555955" y="40014"/>
                </a:lnTo>
                <a:lnTo>
                  <a:pt x="561807" y="47881"/>
                </a:lnTo>
                <a:lnTo>
                  <a:pt x="567659" y="56294"/>
                </a:lnTo>
                <a:lnTo>
                  <a:pt x="573511" y="65205"/>
                </a:lnTo>
                <a:lnTo>
                  <a:pt x="579363" y="74562"/>
                </a:lnTo>
                <a:lnTo>
                  <a:pt x="585216" y="84312"/>
                </a:lnTo>
                <a:lnTo>
                  <a:pt x="591068" y="94402"/>
                </a:lnTo>
                <a:lnTo>
                  <a:pt x="596920" y="104778"/>
                </a:lnTo>
                <a:lnTo>
                  <a:pt x="602772" y="115385"/>
                </a:lnTo>
                <a:lnTo>
                  <a:pt x="608624" y="126170"/>
                </a:lnTo>
                <a:lnTo>
                  <a:pt x="614476" y="137080"/>
                </a:lnTo>
                <a:lnTo>
                  <a:pt x="620328" y="148064"/>
                </a:lnTo>
                <a:lnTo>
                  <a:pt x="626181" y="159073"/>
                </a:lnTo>
                <a:lnTo>
                  <a:pt x="632033" y="170058"/>
                </a:lnTo>
                <a:lnTo>
                  <a:pt x="637885" y="180974"/>
                </a:lnTo>
                <a:lnTo>
                  <a:pt x="643737" y="191780"/>
                </a:lnTo>
                <a:lnTo>
                  <a:pt x="649589" y="202434"/>
                </a:lnTo>
                <a:lnTo>
                  <a:pt x="655441" y="212901"/>
                </a:lnTo>
                <a:lnTo>
                  <a:pt x="661294" y="223146"/>
                </a:lnTo>
                <a:lnTo>
                  <a:pt x="667146" y="233141"/>
                </a:lnTo>
                <a:lnTo>
                  <a:pt x="672998" y="242857"/>
                </a:lnTo>
                <a:lnTo>
                  <a:pt x="678850" y="252271"/>
                </a:lnTo>
                <a:lnTo>
                  <a:pt x="684702" y="261363"/>
                </a:lnTo>
                <a:lnTo>
                  <a:pt x="690554" y="270116"/>
                </a:lnTo>
                <a:lnTo>
                  <a:pt x="696407" y="278518"/>
                </a:lnTo>
                <a:lnTo>
                  <a:pt x="702259" y="286556"/>
                </a:lnTo>
                <a:lnTo>
                  <a:pt x="708111" y="294225"/>
                </a:lnTo>
                <a:lnTo>
                  <a:pt x="713963" y="301519"/>
                </a:lnTo>
                <a:lnTo>
                  <a:pt x="719815" y="308436"/>
                </a:lnTo>
                <a:lnTo>
                  <a:pt x="725667" y="314978"/>
                </a:lnTo>
                <a:lnTo>
                  <a:pt x="731520" y="321146"/>
                </a:lnTo>
                <a:lnTo>
                  <a:pt x="737372" y="326947"/>
                </a:lnTo>
                <a:lnTo>
                  <a:pt x="743224" y="332386"/>
                </a:lnTo>
                <a:lnTo>
                  <a:pt x="749076" y="337473"/>
                </a:lnTo>
                <a:lnTo>
                  <a:pt x="754928" y="342217"/>
                </a:lnTo>
                <a:lnTo>
                  <a:pt x="760780" y="346629"/>
                </a:lnTo>
                <a:lnTo>
                  <a:pt x="766632" y="350722"/>
                </a:lnTo>
                <a:lnTo>
                  <a:pt x="772485" y="354509"/>
                </a:lnTo>
                <a:lnTo>
                  <a:pt x="778337" y="358004"/>
                </a:lnTo>
                <a:lnTo>
                  <a:pt x="784189" y="361220"/>
                </a:lnTo>
                <a:lnTo>
                  <a:pt x="790041" y="364172"/>
                </a:lnTo>
                <a:lnTo>
                  <a:pt x="795893" y="366876"/>
                </a:lnTo>
                <a:lnTo>
                  <a:pt x="801745" y="369344"/>
                </a:lnTo>
                <a:lnTo>
                  <a:pt x="807598" y="371594"/>
                </a:lnTo>
                <a:lnTo>
                  <a:pt x="813450" y="373637"/>
                </a:lnTo>
                <a:lnTo>
                  <a:pt x="819302" y="375490"/>
                </a:lnTo>
                <a:lnTo>
                  <a:pt x="825154" y="377164"/>
                </a:lnTo>
                <a:lnTo>
                  <a:pt x="831006" y="378675"/>
                </a:lnTo>
                <a:lnTo>
                  <a:pt x="836858" y="380034"/>
                </a:lnTo>
                <a:lnTo>
                  <a:pt x="842711" y="381253"/>
                </a:lnTo>
                <a:lnTo>
                  <a:pt x="848563" y="382345"/>
                </a:lnTo>
                <a:lnTo>
                  <a:pt x="854415" y="383320"/>
                </a:lnTo>
                <a:lnTo>
                  <a:pt x="860267" y="384189"/>
                </a:lnTo>
                <a:lnTo>
                  <a:pt x="866119" y="384961"/>
                </a:lnTo>
                <a:lnTo>
                  <a:pt x="871971" y="385645"/>
                </a:lnTo>
                <a:lnTo>
                  <a:pt x="877824" y="386251"/>
                </a:lnTo>
                <a:lnTo>
                  <a:pt x="883676" y="386785"/>
                </a:lnTo>
                <a:lnTo>
                  <a:pt x="889528" y="387255"/>
                </a:lnTo>
                <a:lnTo>
                  <a:pt x="895380" y="387668"/>
                </a:lnTo>
                <a:lnTo>
                  <a:pt x="901232" y="388029"/>
                </a:lnTo>
                <a:lnTo>
                  <a:pt x="907084" y="388345"/>
                </a:lnTo>
                <a:lnTo>
                  <a:pt x="912936" y="388621"/>
                </a:lnTo>
                <a:lnTo>
                  <a:pt x="918789" y="388860"/>
                </a:lnTo>
                <a:lnTo>
                  <a:pt x="924641" y="389068"/>
                </a:lnTo>
                <a:lnTo>
                  <a:pt x="930493" y="389248"/>
                </a:lnTo>
                <a:lnTo>
                  <a:pt x="936345" y="389404"/>
                </a:lnTo>
                <a:lnTo>
                  <a:pt x="942197" y="389538"/>
                </a:lnTo>
                <a:lnTo>
                  <a:pt x="948049" y="389653"/>
                </a:lnTo>
                <a:lnTo>
                  <a:pt x="953902" y="389752"/>
                </a:lnTo>
                <a:lnTo>
                  <a:pt x="959754" y="389836"/>
                </a:lnTo>
                <a:lnTo>
                  <a:pt x="965606" y="389909"/>
                </a:lnTo>
                <a:lnTo>
                  <a:pt x="971458" y="389970"/>
                </a:lnTo>
                <a:lnTo>
                  <a:pt x="977310" y="390022"/>
                </a:lnTo>
                <a:lnTo>
                  <a:pt x="983162" y="390066"/>
                </a:lnTo>
                <a:lnTo>
                  <a:pt x="989015" y="390104"/>
                </a:lnTo>
                <a:lnTo>
                  <a:pt x="994867" y="390136"/>
                </a:lnTo>
                <a:lnTo>
                  <a:pt x="1000719" y="390162"/>
                </a:lnTo>
                <a:lnTo>
                  <a:pt x="1006571" y="390184"/>
                </a:lnTo>
                <a:lnTo>
                  <a:pt x="1012423" y="390203"/>
                </a:lnTo>
                <a:lnTo>
                  <a:pt x="1018275" y="390219"/>
                </a:lnTo>
                <a:lnTo>
                  <a:pt x="1024128" y="390232"/>
                </a:lnTo>
                <a:lnTo>
                  <a:pt x="1029980" y="390243"/>
                </a:lnTo>
                <a:lnTo>
                  <a:pt x="1035832" y="390252"/>
                </a:lnTo>
                <a:lnTo>
                  <a:pt x="1041684" y="390259"/>
                </a:lnTo>
                <a:lnTo>
                  <a:pt x="1047536" y="390265"/>
                </a:lnTo>
                <a:lnTo>
                  <a:pt x="1053388" y="390271"/>
                </a:lnTo>
                <a:lnTo>
                  <a:pt x="1059240" y="390275"/>
                </a:lnTo>
                <a:lnTo>
                  <a:pt x="1065093" y="390278"/>
                </a:lnTo>
                <a:lnTo>
                  <a:pt x="1070945" y="390281"/>
                </a:lnTo>
                <a:lnTo>
                  <a:pt x="1076797" y="390283"/>
                </a:lnTo>
                <a:lnTo>
                  <a:pt x="1082649" y="390285"/>
                </a:lnTo>
                <a:lnTo>
                  <a:pt x="1088501" y="390287"/>
                </a:lnTo>
                <a:lnTo>
                  <a:pt x="1094353" y="390288"/>
                </a:lnTo>
                <a:lnTo>
                  <a:pt x="1100206" y="390289"/>
                </a:lnTo>
                <a:lnTo>
                  <a:pt x="1106058" y="390290"/>
                </a:lnTo>
                <a:lnTo>
                  <a:pt x="1111910" y="390290"/>
                </a:lnTo>
                <a:lnTo>
                  <a:pt x="1117762" y="390291"/>
                </a:lnTo>
                <a:lnTo>
                  <a:pt x="1123614" y="390291"/>
                </a:lnTo>
                <a:lnTo>
                  <a:pt x="1129466" y="390292"/>
                </a:lnTo>
                <a:lnTo>
                  <a:pt x="1135319" y="390292"/>
                </a:lnTo>
                <a:lnTo>
                  <a:pt x="1141171" y="390292"/>
                </a:lnTo>
                <a:lnTo>
                  <a:pt x="1147023" y="390292"/>
                </a:lnTo>
                <a:lnTo>
                  <a:pt x="1152875" y="390293"/>
                </a:lnTo>
                <a:lnTo>
                  <a:pt x="1158727" y="390293"/>
                </a:lnTo>
                <a:lnTo>
                  <a:pt x="1164579" y="390293"/>
                </a:lnTo>
                <a:lnTo>
                  <a:pt x="1170432" y="390293"/>
                </a:lnTo>
                <a:lnTo>
                  <a:pt x="1176284" y="390293"/>
                </a:lnTo>
                <a:lnTo>
                  <a:pt x="1182136" y="390293"/>
                </a:lnTo>
                <a:lnTo>
                  <a:pt x="1187988" y="390293"/>
                </a:lnTo>
                <a:lnTo>
                  <a:pt x="1193840" y="390293"/>
                </a:lnTo>
                <a:lnTo>
                  <a:pt x="1199692" y="390293"/>
                </a:lnTo>
                <a:lnTo>
                  <a:pt x="1205544" y="390293"/>
                </a:lnTo>
                <a:lnTo>
                  <a:pt x="1211397" y="390293"/>
                </a:lnTo>
                <a:lnTo>
                  <a:pt x="1217249" y="390293"/>
                </a:lnTo>
                <a:lnTo>
                  <a:pt x="1223101" y="390293"/>
                </a:lnTo>
                <a:lnTo>
                  <a:pt x="1228953" y="390293"/>
                </a:lnTo>
                <a:lnTo>
                  <a:pt x="1234805" y="390293"/>
                </a:lnTo>
                <a:lnTo>
                  <a:pt x="1240657" y="390293"/>
                </a:lnTo>
                <a:lnTo>
                  <a:pt x="1246510" y="390293"/>
                </a:lnTo>
                <a:lnTo>
                  <a:pt x="1252362" y="390293"/>
                </a:lnTo>
                <a:lnTo>
                  <a:pt x="1258214" y="390293"/>
                </a:lnTo>
                <a:lnTo>
                  <a:pt x="1264066" y="390293"/>
                </a:lnTo>
                <a:lnTo>
                  <a:pt x="1269918" y="390293"/>
                </a:lnTo>
                <a:lnTo>
                  <a:pt x="1275770" y="390293"/>
                </a:lnTo>
                <a:lnTo>
                  <a:pt x="1281623" y="390293"/>
                </a:lnTo>
                <a:lnTo>
                  <a:pt x="1287475" y="390293"/>
                </a:lnTo>
                <a:lnTo>
                  <a:pt x="1293327" y="390293"/>
                </a:lnTo>
                <a:lnTo>
                  <a:pt x="1299179" y="390293"/>
                </a:lnTo>
                <a:lnTo>
                  <a:pt x="1305031" y="390293"/>
                </a:lnTo>
                <a:lnTo>
                  <a:pt x="1310883" y="390293"/>
                </a:lnTo>
                <a:lnTo>
                  <a:pt x="1316735" y="390293"/>
                </a:lnTo>
                <a:lnTo>
                  <a:pt x="1322588" y="390293"/>
                </a:lnTo>
                <a:lnTo>
                  <a:pt x="1328440" y="390293"/>
                </a:lnTo>
                <a:lnTo>
                  <a:pt x="1334292" y="390293"/>
                </a:lnTo>
                <a:lnTo>
                  <a:pt x="1340144" y="390293"/>
                </a:lnTo>
                <a:lnTo>
                  <a:pt x="1345996" y="390293"/>
                </a:lnTo>
                <a:lnTo>
                  <a:pt x="1351848" y="390293"/>
                </a:lnTo>
                <a:lnTo>
                  <a:pt x="1357701" y="390293"/>
                </a:lnTo>
                <a:lnTo>
                  <a:pt x="1363553" y="390293"/>
                </a:lnTo>
                <a:lnTo>
                  <a:pt x="1369405" y="390293"/>
                </a:lnTo>
                <a:lnTo>
                  <a:pt x="1375257" y="390293"/>
                </a:lnTo>
                <a:lnTo>
                  <a:pt x="1381109" y="390293"/>
                </a:lnTo>
                <a:lnTo>
                  <a:pt x="1386961" y="390293"/>
                </a:lnTo>
                <a:lnTo>
                  <a:pt x="1392814" y="390293"/>
                </a:lnTo>
                <a:lnTo>
                  <a:pt x="1398666" y="390293"/>
                </a:lnTo>
                <a:lnTo>
                  <a:pt x="1404518" y="390293"/>
                </a:lnTo>
                <a:lnTo>
                  <a:pt x="1410370" y="390293"/>
                </a:lnTo>
                <a:lnTo>
                  <a:pt x="1416222" y="390293"/>
                </a:lnTo>
                <a:lnTo>
                  <a:pt x="1422074" y="390293"/>
                </a:lnTo>
                <a:lnTo>
                  <a:pt x="1427927" y="390293"/>
                </a:lnTo>
                <a:lnTo>
                  <a:pt x="1433779" y="390293"/>
                </a:lnTo>
                <a:lnTo>
                  <a:pt x="1439631" y="390293"/>
                </a:lnTo>
                <a:lnTo>
                  <a:pt x="1445483" y="390293"/>
                </a:lnTo>
                <a:lnTo>
                  <a:pt x="1451335" y="390293"/>
                </a:lnTo>
                <a:lnTo>
                  <a:pt x="1457187" y="390293"/>
                </a:lnTo>
              </a:path>
            </a:pathLst>
          </a:custGeom>
          <a:noFill/>
          <a:ln w="1778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a:extLst>
              <a:ext uri="{FF2B5EF4-FFF2-40B4-BE49-F238E27FC236}">
                <a16:creationId xmlns:a16="http://schemas.microsoft.com/office/drawing/2014/main" id="{8C45FBB7-1177-9FBD-18C0-E3D486AD9935}"/>
              </a:ext>
            </a:extLst>
          </p:cNvPr>
          <p:cNvSpPr txBox="1"/>
          <p:nvPr/>
        </p:nvSpPr>
        <p:spPr>
          <a:xfrm>
            <a:off x="9866376" y="4133087"/>
            <a:ext cx="1463040" cy="395630"/>
          </a:xfrm>
          <a:prstGeom prst="rect">
            <a:avLst/>
          </a:prstGeom>
          <a:noFill/>
        </p:spPr>
        <p:txBody>
          <a:bodyPr wrap="square" lIns="0" tIns="0" rIns="0" bIns="0" anchor="t">
            <a:spAutoFit/>
          </a:bodyPr>
          <a:lstStyle/>
          <a:p>
            <a:pPr algn="ctr">
              <a:spcAft>
                <a:spcPts val="0"/>
              </a:spcAft>
            </a:pPr>
            <a:r>
              <a:rPr sz="2200" b="1" dirty="0">
                <a:solidFill>
                  <a:srgbClr val="262626"/>
                </a:solidFill>
                <a:latin typeface="Meiryo"/>
                <a:ea typeface="Meiryo"/>
                <a:cs typeface="Meiryo"/>
              </a:rPr>
              <a:t>収束</a:t>
            </a:r>
          </a:p>
        </p:txBody>
      </p:sp>
      <p:sp>
        <p:nvSpPr>
          <p:cNvPr id="79" name="TextBox 78">
            <a:extLst>
              <a:ext uri="{FF2B5EF4-FFF2-40B4-BE49-F238E27FC236}">
                <a16:creationId xmlns:a16="http://schemas.microsoft.com/office/drawing/2014/main" id="{C02CD0BC-A6A5-5D2E-BB47-B16A75186CF8}"/>
              </a:ext>
            </a:extLst>
          </p:cNvPr>
          <p:cNvSpPr txBox="1"/>
          <p:nvPr/>
        </p:nvSpPr>
        <p:spPr>
          <a:xfrm>
            <a:off x="9866376" y="4526280"/>
            <a:ext cx="1463040" cy="395630"/>
          </a:xfrm>
          <a:prstGeom prst="rect">
            <a:avLst/>
          </a:prstGeom>
          <a:noFill/>
        </p:spPr>
        <p:txBody>
          <a:bodyPr wrap="square" lIns="0" tIns="0" rIns="0" bIns="0" anchor="t">
            <a:spAutoFit/>
          </a:bodyPr>
          <a:lstStyle/>
          <a:p>
            <a:pPr algn="ctr">
              <a:spcAft>
                <a:spcPts val="0"/>
              </a:spcAft>
            </a:pPr>
            <a:r>
              <a:rPr sz="2200" b="0" dirty="0">
                <a:solidFill>
                  <a:srgbClr val="C00000"/>
                </a:solidFill>
                <a:latin typeface="Meiryo"/>
                <a:ea typeface="Meiryo"/>
                <a:cs typeface="Meiryo"/>
              </a:rPr>
              <a:t>1.2%</a:t>
            </a:r>
          </a:p>
        </p:txBody>
      </p:sp>
      <p:sp>
        <p:nvSpPr>
          <p:cNvPr id="80" name="TextBox 79">
            <a:extLst>
              <a:ext uri="{FF2B5EF4-FFF2-40B4-BE49-F238E27FC236}">
                <a16:creationId xmlns:a16="http://schemas.microsoft.com/office/drawing/2014/main" id="{DE26DCE6-2B71-363E-870B-5F8B90040858}"/>
              </a:ext>
            </a:extLst>
          </p:cNvPr>
          <p:cNvSpPr txBox="1"/>
          <p:nvPr/>
        </p:nvSpPr>
        <p:spPr>
          <a:xfrm>
            <a:off x="6336792" y="5029200"/>
            <a:ext cx="5166360" cy="338554"/>
          </a:xfrm>
          <a:prstGeom prst="rect">
            <a:avLst/>
          </a:prstGeom>
          <a:noFill/>
        </p:spPr>
        <p:txBody>
          <a:bodyPr wrap="square" lIns="0" tIns="0" rIns="0" bIns="0" anchor="t">
            <a:spAutoFit/>
          </a:bodyPr>
          <a:lstStyle/>
          <a:p>
            <a:pPr algn="l">
              <a:spcAft>
                <a:spcPts val="0"/>
              </a:spcAft>
            </a:pPr>
            <a:r>
              <a:rPr lang="ja-JP" altLang="en-US" sz="2200" b="1">
                <a:solidFill>
                  <a:srgbClr val="00A8AA"/>
                </a:solidFill>
                <a:latin typeface="Meiryo"/>
                <a:ea typeface="Meiryo"/>
                <a:cs typeface="Meiryo"/>
              </a:rPr>
              <a:t>高さ</a:t>
            </a:r>
            <a:r>
              <a:rPr lang="en-US" altLang="ja-JP" sz="2200" b="1" dirty="0">
                <a:solidFill>
                  <a:srgbClr val="00A8AA"/>
                </a:solidFill>
                <a:latin typeface="Meiryo"/>
                <a:ea typeface="Meiryo"/>
                <a:cs typeface="Meiryo"/>
              </a:rPr>
              <a:t>a</a:t>
            </a:r>
            <a:r>
              <a:rPr lang="ja-JP" altLang="en-US" sz="2200" b="1">
                <a:solidFill>
                  <a:srgbClr val="00A8AA"/>
                </a:solidFill>
                <a:latin typeface="Meiryo"/>
                <a:ea typeface="Meiryo"/>
                <a:cs typeface="Meiryo"/>
              </a:rPr>
              <a:t>、位置</a:t>
            </a:r>
            <a:r>
              <a:rPr lang="en-US" altLang="ja-JP" sz="2200" b="1" dirty="0">
                <a:solidFill>
                  <a:srgbClr val="00A8AA"/>
                </a:solidFill>
                <a:latin typeface="Meiryo"/>
                <a:ea typeface="Meiryo"/>
                <a:cs typeface="Meiryo"/>
              </a:rPr>
              <a:t>u</a:t>
            </a:r>
            <a:r>
              <a:rPr lang="ja-JP" altLang="en-US" sz="2200" b="1">
                <a:solidFill>
                  <a:srgbClr val="00A8AA"/>
                </a:solidFill>
                <a:latin typeface="Meiryo"/>
                <a:ea typeface="Meiryo"/>
                <a:cs typeface="Meiryo"/>
              </a:rPr>
              <a:t>、幅</a:t>
            </a:r>
            <a:r>
              <a:rPr lang="en-US" altLang="ja-JP" sz="2200" b="1" dirty="0" err="1">
                <a:solidFill>
                  <a:srgbClr val="00A8AA"/>
                </a:solidFill>
                <a:latin typeface="Meiryo"/>
                <a:ea typeface="Meiryo"/>
                <a:cs typeface="Meiryo"/>
              </a:rPr>
              <a:t>δ</a:t>
            </a:r>
            <a:r>
              <a:rPr sz="2200" b="1" dirty="0" err="1">
                <a:solidFill>
                  <a:srgbClr val="00A8AA"/>
                </a:solidFill>
                <a:latin typeface="Meiryo"/>
                <a:ea typeface="Meiryo"/>
                <a:cs typeface="Meiryo"/>
              </a:rPr>
              <a:t>を</a:t>
            </a:r>
            <a:r>
              <a:rPr sz="2200" b="1" dirty="0">
                <a:solidFill>
                  <a:srgbClr val="00A8AA"/>
                </a:solidFill>
                <a:latin typeface="Meiryo"/>
                <a:ea typeface="Meiryo"/>
                <a:cs typeface="Meiryo"/>
              </a:rPr>
              <a:t> 少しずつ動かす。</a:t>
            </a:r>
          </a:p>
        </p:txBody>
      </p:sp>
      <p:sp>
        <p:nvSpPr>
          <p:cNvPr id="19" name="Rounded Rectangle 42">
            <a:extLst>
              <a:ext uri="{FF2B5EF4-FFF2-40B4-BE49-F238E27FC236}">
                <a16:creationId xmlns:a16="http://schemas.microsoft.com/office/drawing/2014/main" id="{477B063E-4887-BFDE-E0F7-21664B7760A9}"/>
              </a:ext>
            </a:extLst>
          </p:cNvPr>
          <p:cNvSpPr/>
          <p:nvPr/>
        </p:nvSpPr>
        <p:spPr>
          <a:xfrm>
            <a:off x="502920" y="5681467"/>
            <a:ext cx="11183112" cy="736721"/>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 altLang="ja-JP" sz="2200" b="1" dirty="0">
                <a:solidFill>
                  <a:srgbClr val="262626"/>
                </a:solidFill>
                <a:latin typeface="Meiryo"/>
                <a:ea typeface="Meiryo"/>
                <a:cs typeface="Meiryo"/>
              </a:rPr>
              <a:t>Levenberg–Marquardt </a:t>
            </a:r>
            <a:r>
              <a:rPr lang="ja-JP" altLang="en-US" sz="2200" b="1">
                <a:solidFill>
                  <a:srgbClr val="262626"/>
                </a:solidFill>
                <a:latin typeface="Meiryo"/>
                <a:ea typeface="Meiryo"/>
                <a:cs typeface="Meiryo"/>
              </a:rPr>
              <a:t>法でパラメータを動かし、残差平方和を最小にする。</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4">
            <a:extLst>
              <a:ext uri="{FF2B5EF4-FFF2-40B4-BE49-F238E27FC236}">
                <a16:creationId xmlns:a16="http://schemas.microsoft.com/office/drawing/2014/main" id="{AA9D36CE-3772-F005-B54C-9329ADA7F086}"/>
              </a:ext>
            </a:extLst>
          </p:cNvPr>
          <p:cNvSpPr/>
          <p:nvPr/>
        </p:nvSpPr>
        <p:spPr>
          <a:xfrm>
            <a:off x="1085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131299661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6EC7E-CC25-35A5-F86E-4D3BC9F9C53C}"/>
              </a:ext>
            </a:extLst>
          </p:cNvPr>
          <p:cNvSpPr>
            <a:spLocks noGrp="1"/>
          </p:cNvSpPr>
          <p:nvPr>
            <p:ph type="title"/>
          </p:nvPr>
        </p:nvSpPr>
        <p:spPr/>
        <p:txBody>
          <a:bodyPr/>
          <a:lstStyle/>
          <a:p>
            <a:pPr algn="l"/>
            <a:r>
              <a:rPr sz="4600" dirty="0">
                <a:latin typeface="Meiryo"/>
                <a:ea typeface="Meiryo"/>
                <a:cs typeface="Meiryo"/>
              </a:rPr>
              <a:t>5.3  収束の検算</a:t>
            </a:r>
          </a:p>
        </p:txBody>
      </p:sp>
      <p:sp>
        <p:nvSpPr>
          <p:cNvPr id="2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43. Tigges 2017　／　44. Basso 2024</a:t>
            </a:r>
          </a:p>
        </p:txBody>
      </p:sp>
      <p:sp>
        <p:nvSpPr>
          <p:cNvPr id="43"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83/118</a:t>
            </a:r>
          </a:p>
        </p:txBody>
      </p:sp>
      <p:sp>
        <p:nvSpPr>
          <p:cNvPr id="44" name="Rounded Rectangle 43"/>
          <p:cNvSpPr/>
          <p:nvPr/>
        </p:nvSpPr>
        <p:spPr>
          <a:xfrm>
            <a:off x="502920" y="1719072"/>
            <a:ext cx="11201400" cy="86868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Rounded Rectangle 44"/>
          <p:cNvSpPr/>
          <p:nvPr/>
        </p:nvSpPr>
        <p:spPr>
          <a:xfrm>
            <a:off x="502920" y="2679191"/>
            <a:ext cx="11201400" cy="86868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Rounded Rectangle 45"/>
          <p:cNvSpPr/>
          <p:nvPr/>
        </p:nvSpPr>
        <p:spPr>
          <a:xfrm>
            <a:off x="502920" y="3639312"/>
            <a:ext cx="11201400" cy="86868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Rounded Rectangle 46"/>
          <p:cNvSpPr/>
          <p:nvPr/>
        </p:nvSpPr>
        <p:spPr>
          <a:xfrm>
            <a:off x="502920" y="4599432"/>
            <a:ext cx="11201400" cy="86868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TextBox 47"/>
          <p:cNvSpPr txBox="1"/>
          <p:nvPr/>
        </p:nvSpPr>
        <p:spPr>
          <a:xfrm>
            <a:off x="685800" y="1865376"/>
            <a:ext cx="566928" cy="467563"/>
          </a:xfrm>
          <a:prstGeom prst="rect">
            <a:avLst/>
          </a:prstGeom>
          <a:noFill/>
        </p:spPr>
        <p:txBody>
          <a:bodyPr wrap="square" lIns="0" tIns="0" rIns="0" bIns="0" anchor="t">
            <a:spAutoFit/>
          </a:bodyPr>
          <a:lstStyle/>
          <a:p>
            <a:pPr algn="l">
              <a:spcAft>
                <a:spcPts val="0"/>
              </a:spcAft>
            </a:pPr>
            <a:r>
              <a:rPr sz="2600" b="1" dirty="0">
                <a:solidFill>
                  <a:srgbClr val="0072B2"/>
                </a:solidFill>
                <a:latin typeface="Meiryo"/>
                <a:ea typeface="Meiryo"/>
                <a:cs typeface="Meiryo"/>
              </a:rPr>
              <a:t>①</a:t>
            </a:r>
          </a:p>
        </p:txBody>
      </p:sp>
      <p:sp>
        <p:nvSpPr>
          <p:cNvPr id="49" name="TextBox 48"/>
          <p:cNvSpPr txBox="1"/>
          <p:nvPr/>
        </p:nvSpPr>
        <p:spPr>
          <a:xfrm>
            <a:off x="1371600" y="1783080"/>
            <a:ext cx="10149840" cy="413613"/>
          </a:xfrm>
          <a:prstGeom prst="rect">
            <a:avLst/>
          </a:prstGeom>
          <a:noFill/>
        </p:spPr>
        <p:txBody>
          <a:bodyPr wrap="square" lIns="0" tIns="0" rIns="0" bIns="0" anchor="t">
            <a:spAutoFit/>
          </a:bodyPr>
          <a:lstStyle/>
          <a:p>
            <a:pPr algn="l">
              <a:spcAft>
                <a:spcPts val="0"/>
              </a:spcAft>
            </a:pPr>
            <a:r>
              <a:rPr sz="2300" b="1" dirty="0">
                <a:solidFill>
                  <a:srgbClr val="262626"/>
                </a:solidFill>
                <a:latin typeface="Meiryo"/>
                <a:ea typeface="Meiryo"/>
                <a:cs typeface="Meiryo"/>
              </a:rPr>
              <a:t>境界に張り付いていないか</a:t>
            </a:r>
          </a:p>
        </p:txBody>
      </p:sp>
      <p:sp>
        <p:nvSpPr>
          <p:cNvPr id="50" name="TextBox 49"/>
          <p:cNvSpPr txBox="1"/>
          <p:nvPr/>
        </p:nvSpPr>
        <p:spPr>
          <a:xfrm>
            <a:off x="1371600" y="2176272"/>
            <a:ext cx="10149840" cy="338554"/>
          </a:xfrm>
          <a:prstGeom prst="rect">
            <a:avLst/>
          </a:prstGeom>
          <a:noFill/>
        </p:spPr>
        <p:txBody>
          <a:bodyPr wrap="square" lIns="0" tIns="0" rIns="0" bIns="0" anchor="t">
            <a:spAutoFit/>
          </a:bodyPr>
          <a:lstStyle/>
          <a:p>
            <a:pPr algn="l">
              <a:spcAft>
                <a:spcPts val="0"/>
              </a:spcAft>
            </a:pPr>
            <a:r>
              <a:rPr lang="ja-JP" altLang="en-US" sz="2200">
                <a:solidFill>
                  <a:srgbClr val="595959"/>
                </a:solidFill>
                <a:latin typeface="Meiryo"/>
                <a:ea typeface="Meiryo"/>
                <a:cs typeface="Meiryo"/>
              </a:rPr>
              <a:t>境界条件外に最適解がある可能性がある。</a:t>
            </a:r>
            <a:endParaRPr sz="2200" b="0" dirty="0">
              <a:solidFill>
                <a:srgbClr val="595959"/>
              </a:solidFill>
              <a:latin typeface="Meiryo"/>
              <a:ea typeface="Meiryo"/>
              <a:cs typeface="Meiryo"/>
            </a:endParaRPr>
          </a:p>
        </p:txBody>
      </p:sp>
      <p:sp>
        <p:nvSpPr>
          <p:cNvPr id="51" name="TextBox 50"/>
          <p:cNvSpPr txBox="1"/>
          <p:nvPr/>
        </p:nvSpPr>
        <p:spPr>
          <a:xfrm>
            <a:off x="685800" y="2825496"/>
            <a:ext cx="566928" cy="467563"/>
          </a:xfrm>
          <a:prstGeom prst="rect">
            <a:avLst/>
          </a:prstGeom>
          <a:noFill/>
        </p:spPr>
        <p:txBody>
          <a:bodyPr wrap="square" lIns="0" tIns="0" rIns="0" bIns="0" anchor="t">
            <a:spAutoFit/>
          </a:bodyPr>
          <a:lstStyle/>
          <a:p>
            <a:pPr algn="l">
              <a:spcAft>
                <a:spcPts val="0"/>
              </a:spcAft>
            </a:pPr>
            <a:r>
              <a:rPr sz="2600" b="1" dirty="0">
                <a:solidFill>
                  <a:srgbClr val="0072B2"/>
                </a:solidFill>
                <a:latin typeface="Meiryo"/>
                <a:ea typeface="Meiryo"/>
                <a:cs typeface="Meiryo"/>
              </a:rPr>
              <a:t>②</a:t>
            </a:r>
          </a:p>
        </p:txBody>
      </p:sp>
      <p:sp>
        <p:nvSpPr>
          <p:cNvPr id="52" name="TextBox 51"/>
          <p:cNvSpPr txBox="1"/>
          <p:nvPr/>
        </p:nvSpPr>
        <p:spPr>
          <a:xfrm>
            <a:off x="1371600" y="2743199"/>
            <a:ext cx="10149840" cy="413613"/>
          </a:xfrm>
          <a:prstGeom prst="rect">
            <a:avLst/>
          </a:prstGeom>
          <a:noFill/>
        </p:spPr>
        <p:txBody>
          <a:bodyPr wrap="square" lIns="0" tIns="0" rIns="0" bIns="0" anchor="t">
            <a:spAutoFit/>
          </a:bodyPr>
          <a:lstStyle/>
          <a:p>
            <a:pPr algn="l">
              <a:spcAft>
                <a:spcPts val="0"/>
              </a:spcAft>
            </a:pPr>
            <a:r>
              <a:rPr sz="2300" b="1" dirty="0">
                <a:solidFill>
                  <a:srgbClr val="262626"/>
                </a:solidFill>
                <a:latin typeface="Meiryo"/>
                <a:ea typeface="Meiryo"/>
                <a:cs typeface="Meiryo"/>
              </a:rPr>
              <a:t>振幅ゼロのカーネルが無いか</a:t>
            </a:r>
          </a:p>
        </p:txBody>
      </p:sp>
      <p:sp>
        <p:nvSpPr>
          <p:cNvPr id="53" name="TextBox 52"/>
          <p:cNvSpPr txBox="1"/>
          <p:nvPr/>
        </p:nvSpPr>
        <p:spPr>
          <a:xfrm>
            <a:off x="1371600" y="3136391"/>
            <a:ext cx="10149840" cy="395630"/>
          </a:xfrm>
          <a:prstGeom prst="rect">
            <a:avLst/>
          </a:prstGeom>
          <a:noFill/>
        </p:spPr>
        <p:txBody>
          <a:bodyPr wrap="square" lIns="0" tIns="0" rIns="0" bIns="0" anchor="t">
            <a:spAutoFit/>
          </a:bodyPr>
          <a:lstStyle/>
          <a:p>
            <a:pPr algn="l">
              <a:spcAft>
                <a:spcPts val="0"/>
              </a:spcAft>
            </a:pPr>
            <a:r>
              <a:rPr sz="2200" b="0" dirty="0">
                <a:solidFill>
                  <a:srgbClr val="595959"/>
                </a:solidFill>
                <a:latin typeface="Meiryo"/>
                <a:ea typeface="Meiryo"/>
                <a:cs typeface="Meiryo"/>
              </a:rPr>
              <a:t>実質使われていない ＝ 本数が多すぎる。</a:t>
            </a:r>
          </a:p>
        </p:txBody>
      </p:sp>
      <p:sp>
        <p:nvSpPr>
          <p:cNvPr id="54" name="TextBox 53"/>
          <p:cNvSpPr txBox="1"/>
          <p:nvPr/>
        </p:nvSpPr>
        <p:spPr>
          <a:xfrm>
            <a:off x="685800" y="3785615"/>
            <a:ext cx="566928" cy="467563"/>
          </a:xfrm>
          <a:prstGeom prst="rect">
            <a:avLst/>
          </a:prstGeom>
          <a:noFill/>
        </p:spPr>
        <p:txBody>
          <a:bodyPr wrap="square" lIns="0" tIns="0" rIns="0" bIns="0" anchor="t">
            <a:spAutoFit/>
          </a:bodyPr>
          <a:lstStyle/>
          <a:p>
            <a:pPr algn="l">
              <a:spcAft>
                <a:spcPts val="0"/>
              </a:spcAft>
            </a:pPr>
            <a:r>
              <a:rPr sz="2600" b="1" dirty="0">
                <a:solidFill>
                  <a:srgbClr val="00A8AA"/>
                </a:solidFill>
                <a:latin typeface="Meiryo"/>
                <a:ea typeface="Meiryo"/>
                <a:cs typeface="Meiryo"/>
              </a:rPr>
              <a:t>③</a:t>
            </a:r>
          </a:p>
        </p:txBody>
      </p:sp>
      <p:sp>
        <p:nvSpPr>
          <p:cNvPr id="55" name="TextBox 54"/>
          <p:cNvSpPr txBox="1"/>
          <p:nvPr/>
        </p:nvSpPr>
        <p:spPr>
          <a:xfrm>
            <a:off x="1371600" y="3703320"/>
            <a:ext cx="10149840" cy="413613"/>
          </a:xfrm>
          <a:prstGeom prst="rect">
            <a:avLst/>
          </a:prstGeom>
          <a:noFill/>
        </p:spPr>
        <p:txBody>
          <a:bodyPr wrap="square" lIns="0" tIns="0" rIns="0" bIns="0" anchor="t">
            <a:spAutoFit/>
          </a:bodyPr>
          <a:lstStyle/>
          <a:p>
            <a:pPr algn="l">
              <a:spcAft>
                <a:spcPts val="0"/>
              </a:spcAft>
            </a:pPr>
            <a:r>
              <a:rPr sz="2300" b="1" dirty="0">
                <a:solidFill>
                  <a:srgbClr val="262626"/>
                </a:solidFill>
                <a:latin typeface="Meiryo"/>
                <a:ea typeface="Meiryo"/>
                <a:cs typeface="Meiryo"/>
              </a:rPr>
              <a:t>初期値を変えても同じ解か</a:t>
            </a:r>
          </a:p>
        </p:txBody>
      </p:sp>
      <p:sp>
        <p:nvSpPr>
          <p:cNvPr id="56" name="TextBox 55"/>
          <p:cNvSpPr txBox="1"/>
          <p:nvPr/>
        </p:nvSpPr>
        <p:spPr>
          <a:xfrm>
            <a:off x="1371600" y="4096512"/>
            <a:ext cx="10149840" cy="395630"/>
          </a:xfrm>
          <a:prstGeom prst="rect">
            <a:avLst/>
          </a:prstGeom>
          <a:noFill/>
        </p:spPr>
        <p:txBody>
          <a:bodyPr wrap="square" lIns="0" tIns="0" rIns="0" bIns="0" anchor="t">
            <a:spAutoFit/>
          </a:bodyPr>
          <a:lstStyle/>
          <a:p>
            <a:pPr algn="l">
              <a:spcAft>
                <a:spcPts val="0"/>
              </a:spcAft>
            </a:pPr>
            <a:r>
              <a:rPr sz="2200" b="0" dirty="0">
                <a:solidFill>
                  <a:srgbClr val="595959"/>
                </a:solidFill>
                <a:latin typeface="Meiryo"/>
                <a:ea typeface="Meiryo"/>
                <a:cs typeface="Meiryo"/>
              </a:rPr>
              <a:t>違う解に落ちるなら その拍では定まっていない。</a:t>
            </a:r>
          </a:p>
        </p:txBody>
      </p:sp>
      <p:sp>
        <p:nvSpPr>
          <p:cNvPr id="57" name="TextBox 56"/>
          <p:cNvSpPr txBox="1"/>
          <p:nvPr/>
        </p:nvSpPr>
        <p:spPr>
          <a:xfrm>
            <a:off x="685800" y="4745736"/>
            <a:ext cx="566928" cy="467563"/>
          </a:xfrm>
          <a:prstGeom prst="rect">
            <a:avLst/>
          </a:prstGeom>
          <a:noFill/>
        </p:spPr>
        <p:txBody>
          <a:bodyPr wrap="square" lIns="0" tIns="0" rIns="0" bIns="0" anchor="t">
            <a:spAutoFit/>
          </a:bodyPr>
          <a:lstStyle/>
          <a:p>
            <a:pPr algn="l">
              <a:spcAft>
                <a:spcPts val="0"/>
              </a:spcAft>
            </a:pPr>
            <a:r>
              <a:rPr sz="2600" b="1" dirty="0">
                <a:solidFill>
                  <a:srgbClr val="00A8AA"/>
                </a:solidFill>
                <a:latin typeface="Meiryo"/>
                <a:ea typeface="Meiryo"/>
                <a:cs typeface="Meiryo"/>
              </a:rPr>
              <a:t>④</a:t>
            </a:r>
          </a:p>
        </p:txBody>
      </p:sp>
      <p:sp>
        <p:nvSpPr>
          <p:cNvPr id="58" name="TextBox 57"/>
          <p:cNvSpPr txBox="1"/>
          <p:nvPr/>
        </p:nvSpPr>
        <p:spPr>
          <a:xfrm>
            <a:off x="1371600" y="4663440"/>
            <a:ext cx="10149840" cy="413613"/>
          </a:xfrm>
          <a:prstGeom prst="rect">
            <a:avLst/>
          </a:prstGeom>
          <a:noFill/>
        </p:spPr>
        <p:txBody>
          <a:bodyPr wrap="square" lIns="0" tIns="0" rIns="0" bIns="0" anchor="t">
            <a:spAutoFit/>
          </a:bodyPr>
          <a:lstStyle/>
          <a:p>
            <a:pPr algn="l">
              <a:spcAft>
                <a:spcPts val="0"/>
              </a:spcAft>
            </a:pPr>
            <a:r>
              <a:rPr sz="2300" b="1" dirty="0">
                <a:solidFill>
                  <a:srgbClr val="262626"/>
                </a:solidFill>
                <a:latin typeface="Meiryo"/>
                <a:ea typeface="Meiryo"/>
                <a:cs typeface="Meiryo"/>
              </a:rPr>
              <a:t>残差プロファイルの幅</a:t>
            </a:r>
          </a:p>
        </p:txBody>
      </p:sp>
      <p:sp>
        <p:nvSpPr>
          <p:cNvPr id="59" name="TextBox 58"/>
          <p:cNvSpPr txBox="1"/>
          <p:nvPr/>
        </p:nvSpPr>
        <p:spPr>
          <a:xfrm>
            <a:off x="1371600" y="5056632"/>
            <a:ext cx="10149840" cy="395630"/>
          </a:xfrm>
          <a:prstGeom prst="rect">
            <a:avLst/>
          </a:prstGeom>
          <a:noFill/>
        </p:spPr>
        <p:txBody>
          <a:bodyPr wrap="square" lIns="0" tIns="0" rIns="0" bIns="0" anchor="t">
            <a:spAutoFit/>
          </a:bodyPr>
          <a:lstStyle/>
          <a:p>
            <a:pPr algn="l">
              <a:spcAft>
                <a:spcPts val="0"/>
              </a:spcAft>
            </a:pPr>
            <a:r>
              <a:rPr sz="2200" b="0" dirty="0">
                <a:solidFill>
                  <a:srgbClr val="595959"/>
                </a:solidFill>
                <a:latin typeface="Meiryo"/>
                <a:ea typeface="Meiryo"/>
                <a:cs typeface="Meiryo"/>
              </a:rPr>
              <a:t>時間差 T を固定して当てはめ直し 谷の幅を見る。</a:t>
            </a:r>
          </a:p>
        </p:txBody>
      </p:sp>
      <p:sp>
        <p:nvSpPr>
          <p:cNvPr id="60" name="Rounded Rectangle 59"/>
          <p:cNvSpPr/>
          <p:nvPr/>
        </p:nvSpPr>
        <p:spPr>
          <a:xfrm>
            <a:off x="502920" y="5687568"/>
            <a:ext cx="11201400" cy="658368"/>
          </a:xfrm>
          <a:prstGeom prst="roundRect">
            <a:avLst/>
          </a:prstGeom>
          <a:solidFill>
            <a:srgbClr val="F2F2F2"/>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1" name="TextBox 60"/>
          <p:cNvSpPr txBox="1"/>
          <p:nvPr/>
        </p:nvSpPr>
        <p:spPr>
          <a:xfrm>
            <a:off x="685800" y="5852160"/>
            <a:ext cx="10835640" cy="431596"/>
          </a:xfrm>
          <a:prstGeom prst="rect">
            <a:avLst/>
          </a:prstGeom>
          <a:noFill/>
        </p:spPr>
        <p:txBody>
          <a:bodyPr wrap="square" lIns="0" tIns="0" rIns="0" bIns="0" anchor="t">
            <a:spAutoFit/>
          </a:bodyPr>
          <a:lstStyle/>
          <a:p>
            <a:pPr algn="ctr">
              <a:spcAft>
                <a:spcPts val="0"/>
              </a:spcAft>
            </a:pPr>
            <a:r>
              <a:rPr sz="2400" b="1" dirty="0">
                <a:solidFill>
                  <a:srgbClr val="262626"/>
                </a:solidFill>
                <a:latin typeface="Meiryo"/>
                <a:ea typeface="Meiryo"/>
                <a:cs typeface="Meiryo"/>
              </a:rPr>
              <a:t>残差が小さいことは 検算の代わりにならない。</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4">
            <a:extLst>
              <a:ext uri="{FF2B5EF4-FFF2-40B4-BE49-F238E27FC236}">
                <a16:creationId xmlns:a16="http://schemas.microsoft.com/office/drawing/2014/main" id="{AA9D36CE-3772-F005-B54C-9329ADA7F086}"/>
              </a:ext>
            </a:extLst>
          </p:cNvPr>
          <p:cNvSpPr/>
          <p:nvPr/>
        </p:nvSpPr>
        <p:spPr>
          <a:xfrm>
            <a:off x="1085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E6923-ADF6-5286-7959-170A04144B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C41482-7699-516D-F4F3-160284764BFD}"/>
              </a:ext>
            </a:extLst>
          </p:cNvPr>
          <p:cNvSpPr>
            <a:spLocks noGrp="1"/>
          </p:cNvSpPr>
          <p:nvPr>
            <p:ph type="title"/>
          </p:nvPr>
        </p:nvSpPr>
        <p:spPr/>
        <p:txBody>
          <a:bodyPr/>
          <a:lstStyle/>
          <a:p>
            <a:pPr algn="l"/>
            <a:r>
              <a:rPr sz="4600" dirty="0">
                <a:latin typeface="Meiryo"/>
                <a:ea typeface="Meiryo"/>
                <a:cs typeface="Meiryo"/>
              </a:rPr>
              <a:t>5.4  重要文献の全体像</a:t>
            </a:r>
          </a:p>
        </p:txBody>
      </p:sp>
      <p:sp>
        <p:nvSpPr>
          <p:cNvPr id="17" name="TextBox 16">
            <a:extLst>
              <a:ext uri="{FF2B5EF4-FFF2-40B4-BE49-F238E27FC236}">
                <a16:creationId xmlns:a16="http://schemas.microsoft.com/office/drawing/2014/main" id="{186CB620-B1E0-BB1A-C3C5-7FAA7C66DE59}"/>
              </a:ext>
            </a:extLst>
          </p:cNvPr>
          <p:cNvSpPr txBox="1"/>
          <p:nvPr/>
        </p:nvSpPr>
        <p:spPr>
          <a:xfrm>
            <a:off x="411480" y="1645920"/>
            <a:ext cx="2103120" cy="36576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群</a:t>
            </a:r>
          </a:p>
        </p:txBody>
      </p:sp>
      <p:sp>
        <p:nvSpPr>
          <p:cNvPr id="18" name="TextBox 17">
            <a:extLst>
              <a:ext uri="{FF2B5EF4-FFF2-40B4-BE49-F238E27FC236}">
                <a16:creationId xmlns:a16="http://schemas.microsoft.com/office/drawing/2014/main" id="{57FFA168-86DC-BDC3-D25F-B5106EA60BE5}"/>
              </a:ext>
            </a:extLst>
          </p:cNvPr>
          <p:cNvSpPr txBox="1"/>
          <p:nvPr/>
        </p:nvSpPr>
        <p:spPr>
          <a:xfrm>
            <a:off x="2743200" y="1645920"/>
            <a:ext cx="3017520" cy="36576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文献</a:t>
            </a:r>
          </a:p>
        </p:txBody>
      </p:sp>
      <p:sp>
        <p:nvSpPr>
          <p:cNvPr id="19" name="TextBox 18">
            <a:extLst>
              <a:ext uri="{FF2B5EF4-FFF2-40B4-BE49-F238E27FC236}">
                <a16:creationId xmlns:a16="http://schemas.microsoft.com/office/drawing/2014/main" id="{BBDA85C2-3E6F-AF75-33BE-A1D8AFF3D3AE}"/>
              </a:ext>
            </a:extLst>
          </p:cNvPr>
          <p:cNvSpPr txBox="1"/>
          <p:nvPr/>
        </p:nvSpPr>
        <p:spPr>
          <a:xfrm>
            <a:off x="6918040" y="1645920"/>
            <a:ext cx="4787205" cy="338554"/>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何を示したか</a:t>
            </a:r>
          </a:p>
        </p:txBody>
      </p:sp>
      <p:sp>
        <p:nvSpPr>
          <p:cNvPr id="20" name="Rounded Rectangle 19">
            <a:extLst>
              <a:ext uri="{FF2B5EF4-FFF2-40B4-BE49-F238E27FC236}">
                <a16:creationId xmlns:a16="http://schemas.microsoft.com/office/drawing/2014/main" id="{E9AD2845-8FCE-04F8-4265-BAB3464FC50E}"/>
              </a:ext>
            </a:extLst>
          </p:cNvPr>
          <p:cNvSpPr/>
          <p:nvPr/>
        </p:nvSpPr>
        <p:spPr>
          <a:xfrm>
            <a:off x="365760" y="1993392"/>
            <a:ext cx="11457432" cy="4572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a:extLst>
              <a:ext uri="{FF2B5EF4-FFF2-40B4-BE49-F238E27FC236}">
                <a16:creationId xmlns:a16="http://schemas.microsoft.com/office/drawing/2014/main" id="{52871629-3C8D-6B79-576C-A0F7A618EF9D}"/>
              </a:ext>
            </a:extLst>
          </p:cNvPr>
          <p:cNvSpPr txBox="1"/>
          <p:nvPr/>
        </p:nvSpPr>
        <p:spPr>
          <a:xfrm>
            <a:off x="411480" y="2048256"/>
            <a:ext cx="2240280" cy="384048"/>
          </a:xfrm>
          <a:prstGeom prst="rect">
            <a:avLst/>
          </a:prstGeom>
          <a:noFill/>
        </p:spPr>
        <p:txBody>
          <a:bodyPr wrap="square" lIns="0" tIns="0" rIns="0" bIns="0" anchor="t">
            <a:spAutoFit/>
          </a:bodyPr>
          <a:lstStyle/>
          <a:p>
            <a:pPr algn="l"/>
            <a:r>
              <a:rPr sz="2200" b="1">
                <a:solidFill>
                  <a:srgbClr val="0072B2"/>
                </a:solidFill>
                <a:latin typeface="Meiryo"/>
                <a:ea typeface="Meiryo"/>
                <a:cs typeface="Meiryo"/>
              </a:rPr>
              <a:t>A 指標を作った</a:t>
            </a:r>
          </a:p>
        </p:txBody>
      </p:sp>
      <p:sp>
        <p:nvSpPr>
          <p:cNvPr id="22" name="TextBox 21">
            <a:extLst>
              <a:ext uri="{FF2B5EF4-FFF2-40B4-BE49-F238E27FC236}">
                <a16:creationId xmlns:a16="http://schemas.microsoft.com/office/drawing/2014/main" id="{4E81EC52-6880-F79E-6884-2FDB8B93CD42}"/>
              </a:ext>
            </a:extLst>
          </p:cNvPr>
          <p:cNvSpPr txBox="1"/>
          <p:nvPr/>
        </p:nvSpPr>
        <p:spPr>
          <a:xfrm>
            <a:off x="2697480" y="20482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41. Rubins 2008</a:t>
            </a:r>
          </a:p>
        </p:txBody>
      </p:sp>
      <p:sp>
        <p:nvSpPr>
          <p:cNvPr id="23" name="TextBox 22">
            <a:extLst>
              <a:ext uri="{FF2B5EF4-FFF2-40B4-BE49-F238E27FC236}">
                <a16:creationId xmlns:a16="http://schemas.microsoft.com/office/drawing/2014/main" id="{7315B619-3EF2-697F-3522-3B64E2F2A8A1}"/>
              </a:ext>
            </a:extLst>
          </p:cNvPr>
          <p:cNvSpPr txBox="1"/>
          <p:nvPr/>
        </p:nvSpPr>
        <p:spPr>
          <a:xfrm>
            <a:off x="6918040" y="2048256"/>
            <a:ext cx="4825199" cy="338554"/>
          </a:xfrm>
          <a:prstGeom prst="rect">
            <a:avLst/>
          </a:prstGeom>
          <a:noFill/>
        </p:spPr>
        <p:txBody>
          <a:bodyPr wrap="square" lIns="0" tIns="0" rIns="0" bIns="0" anchor="t">
            <a:spAutoFit/>
          </a:bodyPr>
          <a:lstStyle/>
          <a:p>
            <a:pPr algn="l"/>
            <a:r>
              <a:rPr sz="2200" b="0" dirty="0" err="1">
                <a:solidFill>
                  <a:srgbClr val="262626"/>
                </a:solidFill>
                <a:latin typeface="Meiryo"/>
                <a:ea typeface="Meiryo"/>
                <a:cs typeface="Meiryo"/>
              </a:rPr>
              <a:t>ガウス当てはめで</a:t>
            </a:r>
            <a:r>
              <a:rPr sz="2200" b="0" dirty="0">
                <a:solidFill>
                  <a:srgbClr val="262626"/>
                </a:solidFill>
                <a:latin typeface="Meiryo"/>
                <a:ea typeface="Meiryo"/>
                <a:cs typeface="Meiryo"/>
              </a:rPr>
              <a:t> </a:t>
            </a:r>
            <a:r>
              <a:rPr sz="2200" b="1" dirty="0">
                <a:solidFill>
                  <a:srgbClr val="262626"/>
                </a:solidFill>
                <a:latin typeface="Meiryo"/>
                <a:ea typeface="Meiryo"/>
                <a:cs typeface="Meiryo"/>
              </a:rPr>
              <a:t>RI </a:t>
            </a:r>
            <a:r>
              <a:rPr sz="2200" b="0" dirty="0" err="1">
                <a:solidFill>
                  <a:srgbClr val="262626"/>
                </a:solidFill>
                <a:latin typeface="Meiryo"/>
                <a:ea typeface="Meiryo"/>
                <a:cs typeface="Meiryo"/>
              </a:rPr>
              <a:t>を算出</a:t>
            </a:r>
            <a:endParaRPr sz="2200" b="0" dirty="0">
              <a:solidFill>
                <a:srgbClr val="262626"/>
              </a:solidFill>
              <a:latin typeface="Meiryo"/>
              <a:ea typeface="Meiryo"/>
              <a:cs typeface="Meiryo"/>
            </a:endParaRPr>
          </a:p>
        </p:txBody>
      </p:sp>
      <p:sp>
        <p:nvSpPr>
          <p:cNvPr id="24" name="TextBox 23">
            <a:extLst>
              <a:ext uri="{FF2B5EF4-FFF2-40B4-BE49-F238E27FC236}">
                <a16:creationId xmlns:a16="http://schemas.microsoft.com/office/drawing/2014/main" id="{6E078EE1-86E4-6559-8E93-6E5B82A2D4CE}"/>
              </a:ext>
            </a:extLst>
          </p:cNvPr>
          <p:cNvSpPr txBox="1"/>
          <p:nvPr/>
        </p:nvSpPr>
        <p:spPr>
          <a:xfrm>
            <a:off x="2697480" y="25054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42. Goswami 2010</a:t>
            </a:r>
          </a:p>
        </p:txBody>
      </p:sp>
      <p:sp>
        <p:nvSpPr>
          <p:cNvPr id="25" name="TextBox 24">
            <a:extLst>
              <a:ext uri="{FF2B5EF4-FFF2-40B4-BE49-F238E27FC236}">
                <a16:creationId xmlns:a16="http://schemas.microsoft.com/office/drawing/2014/main" id="{651322E1-5F5B-CE01-C833-97880126295F}"/>
              </a:ext>
            </a:extLst>
          </p:cNvPr>
          <p:cNvSpPr txBox="1"/>
          <p:nvPr/>
        </p:nvSpPr>
        <p:spPr>
          <a:xfrm>
            <a:off x="6918040" y="2505456"/>
            <a:ext cx="4825199" cy="338554"/>
          </a:xfrm>
          <a:prstGeom prst="rect">
            <a:avLst/>
          </a:prstGeom>
          <a:noFill/>
        </p:spPr>
        <p:txBody>
          <a:bodyPr wrap="square" lIns="0" tIns="0" rIns="0" bIns="0" anchor="t">
            <a:spAutoFit/>
          </a:bodyPr>
          <a:lstStyle/>
          <a:p>
            <a:pPr algn="l"/>
            <a:r>
              <a:rPr sz="2200" b="0" dirty="0">
                <a:solidFill>
                  <a:srgbClr val="262626"/>
                </a:solidFill>
                <a:latin typeface="Meiryo"/>
                <a:ea typeface="Meiryo"/>
                <a:cs typeface="Meiryo"/>
              </a:rPr>
              <a:t>Rayleigh 2 </a:t>
            </a:r>
            <a:r>
              <a:rPr sz="2200" b="0" dirty="0" err="1">
                <a:solidFill>
                  <a:srgbClr val="262626"/>
                </a:solidFill>
                <a:latin typeface="Meiryo"/>
                <a:ea typeface="Meiryo"/>
                <a:cs typeface="Meiryo"/>
              </a:rPr>
              <a:t>波合成で</a:t>
            </a:r>
            <a:r>
              <a:rPr sz="2200" b="0" dirty="0">
                <a:solidFill>
                  <a:srgbClr val="262626"/>
                </a:solidFill>
                <a:latin typeface="Meiryo"/>
                <a:ea typeface="Meiryo"/>
                <a:cs typeface="Meiryo"/>
              </a:rPr>
              <a:t> </a:t>
            </a:r>
            <a:r>
              <a:rPr sz="2200" b="1" dirty="0">
                <a:solidFill>
                  <a:srgbClr val="262626"/>
                </a:solidFill>
                <a:latin typeface="Meiryo"/>
                <a:ea typeface="Meiryo"/>
                <a:cs typeface="Meiryo"/>
              </a:rPr>
              <a:t>SI</a:t>
            </a:r>
            <a:r>
              <a:rPr sz="2200" b="0" dirty="0">
                <a:solidFill>
                  <a:srgbClr val="262626"/>
                </a:solidFill>
                <a:latin typeface="Meiryo"/>
                <a:ea typeface="Meiryo"/>
                <a:cs typeface="Meiryo"/>
              </a:rPr>
              <a:t> </a:t>
            </a:r>
            <a:r>
              <a:rPr sz="2200" b="0" dirty="0" err="1">
                <a:solidFill>
                  <a:srgbClr val="262626"/>
                </a:solidFill>
                <a:latin typeface="Meiryo"/>
                <a:ea typeface="Meiryo"/>
                <a:cs typeface="Meiryo"/>
              </a:rPr>
              <a:t>と</a:t>
            </a:r>
            <a:r>
              <a:rPr sz="2200" b="0" dirty="0">
                <a:solidFill>
                  <a:srgbClr val="262626"/>
                </a:solidFill>
                <a:latin typeface="Meiryo"/>
                <a:ea typeface="Meiryo"/>
                <a:cs typeface="Meiryo"/>
              </a:rPr>
              <a:t> </a:t>
            </a:r>
            <a:r>
              <a:rPr sz="2200" b="1" dirty="0">
                <a:solidFill>
                  <a:srgbClr val="262626"/>
                </a:solidFill>
                <a:latin typeface="Meiryo"/>
                <a:ea typeface="Meiryo"/>
                <a:cs typeface="Meiryo"/>
              </a:rPr>
              <a:t>RI</a:t>
            </a:r>
          </a:p>
        </p:txBody>
      </p:sp>
      <p:sp>
        <p:nvSpPr>
          <p:cNvPr id="26" name="Rounded Rectangle 25">
            <a:extLst>
              <a:ext uri="{FF2B5EF4-FFF2-40B4-BE49-F238E27FC236}">
                <a16:creationId xmlns:a16="http://schemas.microsoft.com/office/drawing/2014/main" id="{7445C69C-4ADB-3E90-5D79-E83D2A3E47E7}"/>
              </a:ext>
            </a:extLst>
          </p:cNvPr>
          <p:cNvSpPr/>
          <p:nvPr/>
        </p:nvSpPr>
        <p:spPr>
          <a:xfrm>
            <a:off x="365760" y="2907792"/>
            <a:ext cx="11457432" cy="4572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a:extLst>
              <a:ext uri="{FF2B5EF4-FFF2-40B4-BE49-F238E27FC236}">
                <a16:creationId xmlns:a16="http://schemas.microsoft.com/office/drawing/2014/main" id="{6E1E291D-98FB-8692-CE5D-53B55313513A}"/>
              </a:ext>
            </a:extLst>
          </p:cNvPr>
          <p:cNvSpPr txBox="1"/>
          <p:nvPr/>
        </p:nvSpPr>
        <p:spPr>
          <a:xfrm>
            <a:off x="2697480" y="29626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45. Couceiro 2012</a:t>
            </a:r>
          </a:p>
        </p:txBody>
      </p:sp>
      <p:sp>
        <p:nvSpPr>
          <p:cNvPr id="28" name="TextBox 27">
            <a:extLst>
              <a:ext uri="{FF2B5EF4-FFF2-40B4-BE49-F238E27FC236}">
                <a16:creationId xmlns:a16="http://schemas.microsoft.com/office/drawing/2014/main" id="{B43AAF18-01A9-8697-1E81-FC27033C5827}"/>
              </a:ext>
            </a:extLst>
          </p:cNvPr>
          <p:cNvSpPr txBox="1"/>
          <p:nvPr/>
        </p:nvSpPr>
        <p:spPr>
          <a:xfrm>
            <a:off x="6918040" y="2962656"/>
            <a:ext cx="4825199" cy="338554"/>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多ガウス分解で LVET を推定</a:t>
            </a:r>
          </a:p>
        </p:txBody>
      </p:sp>
      <p:sp>
        <p:nvSpPr>
          <p:cNvPr id="29" name="TextBox 28">
            <a:extLst>
              <a:ext uri="{FF2B5EF4-FFF2-40B4-BE49-F238E27FC236}">
                <a16:creationId xmlns:a16="http://schemas.microsoft.com/office/drawing/2014/main" id="{151D8EB3-BE30-83A2-AACD-09BA4E7908C3}"/>
              </a:ext>
            </a:extLst>
          </p:cNvPr>
          <p:cNvSpPr txBox="1"/>
          <p:nvPr/>
        </p:nvSpPr>
        <p:spPr>
          <a:xfrm>
            <a:off x="2697480" y="34198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33. Couceiro 2015</a:t>
            </a:r>
          </a:p>
        </p:txBody>
      </p:sp>
      <p:sp>
        <p:nvSpPr>
          <p:cNvPr id="30" name="TextBox 29">
            <a:extLst>
              <a:ext uri="{FF2B5EF4-FFF2-40B4-BE49-F238E27FC236}">
                <a16:creationId xmlns:a16="http://schemas.microsoft.com/office/drawing/2014/main" id="{B07BBE08-7D1B-6F4A-FEC3-2F5399204B5C}"/>
              </a:ext>
            </a:extLst>
          </p:cNvPr>
          <p:cNvSpPr txBox="1"/>
          <p:nvPr/>
        </p:nvSpPr>
        <p:spPr>
          <a:xfrm>
            <a:off x="6918040" y="3419856"/>
            <a:ext cx="4825199" cy="338554"/>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血圧・血管抵抗まで対比した到達点</a:t>
            </a:r>
          </a:p>
        </p:txBody>
      </p:sp>
      <p:sp>
        <p:nvSpPr>
          <p:cNvPr id="31" name="Rounded Rectangle 30">
            <a:extLst>
              <a:ext uri="{FF2B5EF4-FFF2-40B4-BE49-F238E27FC236}">
                <a16:creationId xmlns:a16="http://schemas.microsoft.com/office/drawing/2014/main" id="{6A95C85F-E698-6B7E-69EF-A4794C2AC3A8}"/>
              </a:ext>
            </a:extLst>
          </p:cNvPr>
          <p:cNvSpPr/>
          <p:nvPr/>
        </p:nvSpPr>
        <p:spPr>
          <a:xfrm>
            <a:off x="365760" y="3822192"/>
            <a:ext cx="11457432" cy="4572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a:extLst>
              <a:ext uri="{FF2B5EF4-FFF2-40B4-BE49-F238E27FC236}">
                <a16:creationId xmlns:a16="http://schemas.microsoft.com/office/drawing/2014/main" id="{18686F07-5D8B-429B-FF98-27DA7417EA7F}"/>
              </a:ext>
            </a:extLst>
          </p:cNvPr>
          <p:cNvSpPr txBox="1"/>
          <p:nvPr/>
        </p:nvSpPr>
        <p:spPr>
          <a:xfrm>
            <a:off x="411480" y="3877056"/>
            <a:ext cx="2240280" cy="384048"/>
          </a:xfrm>
          <a:prstGeom prst="rect">
            <a:avLst/>
          </a:prstGeom>
          <a:noFill/>
        </p:spPr>
        <p:txBody>
          <a:bodyPr wrap="square" lIns="0" tIns="0" rIns="0" bIns="0" anchor="t">
            <a:spAutoFit/>
          </a:bodyPr>
          <a:lstStyle/>
          <a:p>
            <a:pPr algn="l"/>
            <a:r>
              <a:rPr sz="2200" b="1">
                <a:solidFill>
                  <a:srgbClr val="00A8AA"/>
                </a:solidFill>
                <a:latin typeface="Meiryo"/>
                <a:ea typeface="Meiryo"/>
                <a:cs typeface="Meiryo"/>
              </a:rPr>
              <a:t>B モデル選択</a:t>
            </a:r>
          </a:p>
        </p:txBody>
      </p:sp>
      <p:sp>
        <p:nvSpPr>
          <p:cNvPr id="33" name="TextBox 32">
            <a:extLst>
              <a:ext uri="{FF2B5EF4-FFF2-40B4-BE49-F238E27FC236}">
                <a16:creationId xmlns:a16="http://schemas.microsoft.com/office/drawing/2014/main" id="{3008C4FA-2DA4-7FE6-074F-E0348BAD6433}"/>
              </a:ext>
            </a:extLst>
          </p:cNvPr>
          <p:cNvSpPr txBox="1"/>
          <p:nvPr/>
        </p:nvSpPr>
        <p:spPr>
          <a:xfrm>
            <a:off x="2697480" y="38770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43. Tigges 2017</a:t>
            </a:r>
          </a:p>
        </p:txBody>
      </p:sp>
      <p:sp>
        <p:nvSpPr>
          <p:cNvPr id="34" name="TextBox 33">
            <a:extLst>
              <a:ext uri="{FF2B5EF4-FFF2-40B4-BE49-F238E27FC236}">
                <a16:creationId xmlns:a16="http://schemas.microsoft.com/office/drawing/2014/main" id="{C3853DF1-3472-188D-3692-9805E69B6A7C}"/>
              </a:ext>
            </a:extLst>
          </p:cNvPr>
          <p:cNvSpPr txBox="1"/>
          <p:nvPr/>
        </p:nvSpPr>
        <p:spPr>
          <a:xfrm>
            <a:off x="6918040" y="3877056"/>
            <a:ext cx="4825199" cy="338554"/>
          </a:xfrm>
          <a:prstGeom prst="rect">
            <a:avLst/>
          </a:prstGeom>
          <a:noFill/>
        </p:spPr>
        <p:txBody>
          <a:bodyPr wrap="square" lIns="0" tIns="0" rIns="0" bIns="0" anchor="t">
            <a:spAutoFit/>
          </a:bodyPr>
          <a:lstStyle/>
          <a:p>
            <a:pPr algn="l"/>
            <a:r>
              <a:rPr sz="2200" b="1" dirty="0">
                <a:solidFill>
                  <a:srgbClr val="262626"/>
                </a:solidFill>
                <a:latin typeface="Meiryo"/>
                <a:ea typeface="Meiryo"/>
                <a:cs typeface="Meiryo"/>
              </a:rPr>
              <a:t>最良モデルは決まらない（28.1%）</a:t>
            </a:r>
          </a:p>
        </p:txBody>
      </p:sp>
      <p:sp>
        <p:nvSpPr>
          <p:cNvPr id="35" name="TextBox 34">
            <a:extLst>
              <a:ext uri="{FF2B5EF4-FFF2-40B4-BE49-F238E27FC236}">
                <a16:creationId xmlns:a16="http://schemas.microsoft.com/office/drawing/2014/main" id="{8834D4EA-6B31-D9E2-0DEA-50B372810229}"/>
              </a:ext>
            </a:extLst>
          </p:cNvPr>
          <p:cNvSpPr txBox="1"/>
          <p:nvPr/>
        </p:nvSpPr>
        <p:spPr>
          <a:xfrm>
            <a:off x="2697480" y="4334256"/>
            <a:ext cx="3531870" cy="338554"/>
          </a:xfrm>
          <a:prstGeom prst="rect">
            <a:avLst/>
          </a:prstGeom>
          <a:noFill/>
        </p:spPr>
        <p:txBody>
          <a:bodyPr wrap="square" lIns="0" tIns="0" rIns="0" bIns="0" anchor="t">
            <a:spAutoFit/>
          </a:bodyPr>
          <a:lstStyle/>
          <a:p>
            <a:pPr algn="l"/>
            <a:r>
              <a:rPr sz="2200" b="1" dirty="0">
                <a:solidFill>
                  <a:srgbClr val="262626"/>
                </a:solidFill>
                <a:latin typeface="Meiryo"/>
                <a:ea typeface="Meiryo"/>
                <a:cs typeface="Meiryo"/>
              </a:rPr>
              <a:t>36. Fleischhauer 2020</a:t>
            </a:r>
          </a:p>
        </p:txBody>
      </p:sp>
      <p:sp>
        <p:nvSpPr>
          <p:cNvPr id="36" name="TextBox 35">
            <a:extLst>
              <a:ext uri="{FF2B5EF4-FFF2-40B4-BE49-F238E27FC236}">
                <a16:creationId xmlns:a16="http://schemas.microsoft.com/office/drawing/2014/main" id="{DF9D1F6D-75C3-2EC5-8DA3-FC0D47DEFE4C}"/>
              </a:ext>
            </a:extLst>
          </p:cNvPr>
          <p:cNvSpPr txBox="1"/>
          <p:nvPr/>
        </p:nvSpPr>
        <p:spPr>
          <a:xfrm>
            <a:off x="6918040" y="4334256"/>
            <a:ext cx="4825199" cy="338554"/>
          </a:xfrm>
          <a:prstGeom prst="rect">
            <a:avLst/>
          </a:prstGeom>
          <a:noFill/>
        </p:spPr>
        <p:txBody>
          <a:bodyPr wrap="square" lIns="0" tIns="0" rIns="0" bIns="0" anchor="t">
            <a:spAutoFit/>
          </a:bodyPr>
          <a:lstStyle/>
          <a:p>
            <a:pPr algn="l"/>
            <a:r>
              <a:rPr sz="2200" b="0" dirty="0" err="1">
                <a:solidFill>
                  <a:srgbClr val="262626"/>
                </a:solidFill>
                <a:latin typeface="Meiryo"/>
                <a:ea typeface="Meiryo"/>
                <a:cs typeface="Meiryo"/>
              </a:rPr>
              <a:t>カーネル</a:t>
            </a:r>
            <a:r>
              <a:rPr sz="2200" b="0" dirty="0">
                <a:solidFill>
                  <a:srgbClr val="262626"/>
                </a:solidFill>
                <a:latin typeface="Meiryo"/>
                <a:ea typeface="Meiryo"/>
                <a:cs typeface="Meiryo"/>
              </a:rPr>
              <a:t> 2 </a:t>
            </a:r>
            <a:r>
              <a:rPr sz="2200" b="0" dirty="0" err="1">
                <a:solidFill>
                  <a:srgbClr val="262626"/>
                </a:solidFill>
                <a:latin typeface="Meiryo"/>
                <a:ea typeface="Meiryo"/>
                <a:cs typeface="Meiryo"/>
              </a:rPr>
              <a:t>本が最も頑健</a:t>
            </a:r>
            <a:endParaRPr sz="2200" b="0" dirty="0">
              <a:solidFill>
                <a:srgbClr val="262626"/>
              </a:solidFill>
              <a:latin typeface="Meiryo"/>
              <a:ea typeface="Meiryo"/>
              <a:cs typeface="Meiryo"/>
            </a:endParaRPr>
          </a:p>
        </p:txBody>
      </p:sp>
      <p:sp>
        <p:nvSpPr>
          <p:cNvPr id="37" name="Rounded Rectangle 36">
            <a:extLst>
              <a:ext uri="{FF2B5EF4-FFF2-40B4-BE49-F238E27FC236}">
                <a16:creationId xmlns:a16="http://schemas.microsoft.com/office/drawing/2014/main" id="{5FA6C2C3-9751-B17F-AA17-4B1CC03F6CFA}"/>
              </a:ext>
            </a:extLst>
          </p:cNvPr>
          <p:cNvSpPr/>
          <p:nvPr/>
        </p:nvSpPr>
        <p:spPr>
          <a:xfrm>
            <a:off x="365760" y="4736592"/>
            <a:ext cx="11457432" cy="4572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a:extLst>
              <a:ext uri="{FF2B5EF4-FFF2-40B4-BE49-F238E27FC236}">
                <a16:creationId xmlns:a16="http://schemas.microsoft.com/office/drawing/2014/main" id="{65634A11-D451-E1CE-5F7C-BC7FA90D14FB}"/>
              </a:ext>
            </a:extLst>
          </p:cNvPr>
          <p:cNvSpPr txBox="1"/>
          <p:nvPr/>
        </p:nvSpPr>
        <p:spPr>
          <a:xfrm>
            <a:off x="2697480" y="47914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44. Basso 2024</a:t>
            </a:r>
          </a:p>
        </p:txBody>
      </p:sp>
      <p:sp>
        <p:nvSpPr>
          <p:cNvPr id="39" name="TextBox 38">
            <a:extLst>
              <a:ext uri="{FF2B5EF4-FFF2-40B4-BE49-F238E27FC236}">
                <a16:creationId xmlns:a16="http://schemas.microsoft.com/office/drawing/2014/main" id="{8527810F-EDBB-5FF1-7404-CC73E274E2C6}"/>
              </a:ext>
            </a:extLst>
          </p:cNvPr>
          <p:cNvSpPr txBox="1"/>
          <p:nvPr/>
        </p:nvSpPr>
        <p:spPr>
          <a:xfrm>
            <a:off x="6918040" y="4791456"/>
            <a:ext cx="4825199" cy="338554"/>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skewed-Gaussian は初期値に頑健</a:t>
            </a:r>
          </a:p>
        </p:txBody>
      </p:sp>
      <p:sp>
        <p:nvSpPr>
          <p:cNvPr id="40" name="TextBox 39">
            <a:extLst>
              <a:ext uri="{FF2B5EF4-FFF2-40B4-BE49-F238E27FC236}">
                <a16:creationId xmlns:a16="http://schemas.microsoft.com/office/drawing/2014/main" id="{18B2EFF6-9693-1CED-BE13-C9A61751EE7B}"/>
              </a:ext>
            </a:extLst>
          </p:cNvPr>
          <p:cNvSpPr txBox="1"/>
          <p:nvPr/>
        </p:nvSpPr>
        <p:spPr>
          <a:xfrm>
            <a:off x="411480" y="5248656"/>
            <a:ext cx="2240280" cy="384048"/>
          </a:xfrm>
          <a:prstGeom prst="rect">
            <a:avLst/>
          </a:prstGeom>
          <a:noFill/>
        </p:spPr>
        <p:txBody>
          <a:bodyPr wrap="square" lIns="0" tIns="0" rIns="0" bIns="0" anchor="t">
            <a:spAutoFit/>
          </a:bodyPr>
          <a:lstStyle/>
          <a:p>
            <a:pPr algn="l"/>
            <a:r>
              <a:rPr sz="2200" b="1">
                <a:solidFill>
                  <a:srgbClr val="BF9000"/>
                </a:solidFill>
                <a:latin typeface="Meiryo"/>
                <a:ea typeface="Meiryo"/>
                <a:cs typeface="Meiryo"/>
              </a:rPr>
              <a:t>C 臨床応用</a:t>
            </a:r>
          </a:p>
        </p:txBody>
      </p:sp>
      <p:sp>
        <p:nvSpPr>
          <p:cNvPr id="41" name="TextBox 40">
            <a:extLst>
              <a:ext uri="{FF2B5EF4-FFF2-40B4-BE49-F238E27FC236}">
                <a16:creationId xmlns:a16="http://schemas.microsoft.com/office/drawing/2014/main" id="{3A2715EA-B066-D709-8530-6B36DA25C5A7}"/>
              </a:ext>
            </a:extLst>
          </p:cNvPr>
          <p:cNvSpPr txBox="1"/>
          <p:nvPr/>
        </p:nvSpPr>
        <p:spPr>
          <a:xfrm>
            <a:off x="2697480" y="52486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46. Baruch 2014</a:t>
            </a:r>
          </a:p>
        </p:txBody>
      </p:sp>
      <p:sp>
        <p:nvSpPr>
          <p:cNvPr id="42" name="TextBox 41">
            <a:extLst>
              <a:ext uri="{FF2B5EF4-FFF2-40B4-BE49-F238E27FC236}">
                <a16:creationId xmlns:a16="http://schemas.microsoft.com/office/drawing/2014/main" id="{87D86F67-B73C-3D4E-9FDF-990BA0A5F56F}"/>
              </a:ext>
            </a:extLst>
          </p:cNvPr>
          <p:cNvSpPr txBox="1"/>
          <p:nvPr/>
        </p:nvSpPr>
        <p:spPr>
          <a:xfrm>
            <a:off x="6918040" y="5248656"/>
            <a:ext cx="4825199" cy="338554"/>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中心動脈圧の推定に実装済み</a:t>
            </a:r>
          </a:p>
        </p:txBody>
      </p:sp>
      <p:sp>
        <p:nvSpPr>
          <p:cNvPr id="43" name="Rounded Rectangle 42">
            <a:extLst>
              <a:ext uri="{FF2B5EF4-FFF2-40B4-BE49-F238E27FC236}">
                <a16:creationId xmlns:a16="http://schemas.microsoft.com/office/drawing/2014/main" id="{E00C7189-DFC2-FF73-0E43-575CB01E4327}"/>
              </a:ext>
            </a:extLst>
          </p:cNvPr>
          <p:cNvSpPr/>
          <p:nvPr/>
        </p:nvSpPr>
        <p:spPr>
          <a:xfrm>
            <a:off x="365760" y="5650992"/>
            <a:ext cx="11457432" cy="4572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a:extLst>
              <a:ext uri="{FF2B5EF4-FFF2-40B4-BE49-F238E27FC236}">
                <a16:creationId xmlns:a16="http://schemas.microsoft.com/office/drawing/2014/main" id="{F6A0CD54-D1B6-EA14-1EAE-AB822684EF04}"/>
              </a:ext>
            </a:extLst>
          </p:cNvPr>
          <p:cNvSpPr txBox="1"/>
          <p:nvPr/>
        </p:nvSpPr>
        <p:spPr>
          <a:xfrm>
            <a:off x="411480" y="5705856"/>
            <a:ext cx="2240280" cy="384048"/>
          </a:xfrm>
          <a:prstGeom prst="rect">
            <a:avLst/>
          </a:prstGeom>
          <a:noFill/>
        </p:spPr>
        <p:txBody>
          <a:bodyPr wrap="square" lIns="0" tIns="0" rIns="0" bIns="0" anchor="t">
            <a:spAutoFit/>
          </a:bodyPr>
          <a:lstStyle/>
          <a:p>
            <a:pPr algn="l"/>
            <a:r>
              <a:rPr sz="2200" b="1">
                <a:solidFill>
                  <a:srgbClr val="D55E00"/>
                </a:solidFill>
                <a:latin typeface="Meiryo"/>
                <a:ea typeface="Meiryo"/>
                <a:cs typeface="Meiryo"/>
              </a:rPr>
              <a:t>D 比較対象</a:t>
            </a:r>
          </a:p>
        </p:txBody>
      </p:sp>
      <p:sp>
        <p:nvSpPr>
          <p:cNvPr id="45" name="TextBox 44">
            <a:extLst>
              <a:ext uri="{FF2B5EF4-FFF2-40B4-BE49-F238E27FC236}">
                <a16:creationId xmlns:a16="http://schemas.microsoft.com/office/drawing/2014/main" id="{BAD60E5D-D426-3AB3-78E4-92C73B99DAD8}"/>
              </a:ext>
            </a:extLst>
          </p:cNvPr>
          <p:cNvSpPr txBox="1"/>
          <p:nvPr/>
        </p:nvSpPr>
        <p:spPr>
          <a:xfrm>
            <a:off x="2697480" y="57058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35. Pal 2024</a:t>
            </a:r>
          </a:p>
        </p:txBody>
      </p:sp>
      <p:sp>
        <p:nvSpPr>
          <p:cNvPr id="46" name="TextBox 45">
            <a:extLst>
              <a:ext uri="{FF2B5EF4-FFF2-40B4-BE49-F238E27FC236}">
                <a16:creationId xmlns:a16="http://schemas.microsoft.com/office/drawing/2014/main" id="{60499368-D144-44A5-28C1-A576F6AAEF72}"/>
              </a:ext>
            </a:extLst>
          </p:cNvPr>
          <p:cNvSpPr txBox="1"/>
          <p:nvPr/>
        </p:nvSpPr>
        <p:spPr>
          <a:xfrm>
            <a:off x="6918040" y="5705856"/>
            <a:ext cx="4825199" cy="338554"/>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分解ではなく切痕を直接検出</a:t>
            </a:r>
          </a:p>
        </p:txBody>
      </p:sp>
      <p:sp>
        <p:nvSpPr>
          <p:cNvPr id="48" name="PageNo">
            <a:extLst>
              <a:ext uri="{FF2B5EF4-FFF2-40B4-BE49-F238E27FC236}">
                <a16:creationId xmlns:a16="http://schemas.microsoft.com/office/drawing/2014/main" id="{8497CB2C-E27E-64B3-FCCA-CD40958E8DED}"/>
              </a:ext>
            </a:extLst>
          </p:cNvPr>
          <p:cNvSpPr txBox="1"/>
          <p:nvPr/>
        </p:nvSpPr>
        <p:spPr>
          <a:xfrm>
            <a:off x="11049000" y="6606000"/>
            <a:ext cx="835861" cy="276999"/>
          </a:xfrm>
          <a:prstGeom prst="rect">
            <a:avLst/>
          </a:prstGeom>
          <a:noFill/>
        </p:spPr>
        <p:txBody>
          <a:bodyPr wrap="square">
            <a:spAutoFit/>
          </a:bodyPr>
          <a:lstStyle/>
          <a:p>
            <a:pPr algn="r"/>
            <a:r>
              <a:rPr sz="1200">
                <a:solidFill>
                  <a:srgbClr val="808080"/>
                </a:solidFill>
                <a:latin typeface="Meiryo"/>
                <a:ea typeface="Meiryo"/>
                <a:cs typeface="Meiryo"/>
              </a:rPr>
              <a:t>84/118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4">
            <a:extLst>
              <a:ext uri="{FF2B5EF4-FFF2-40B4-BE49-F238E27FC236}">
                <a16:creationId xmlns:a16="http://schemas.microsoft.com/office/drawing/2014/main" id="{AA9D36CE-3772-F005-B54C-9329ADA7F086}"/>
              </a:ext>
            </a:extLst>
          </p:cNvPr>
          <p:cNvSpPr/>
          <p:nvPr/>
        </p:nvSpPr>
        <p:spPr>
          <a:xfrm>
            <a:off x="1085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extLst>
      <p:ext uri="{BB962C8B-B14F-4D97-AF65-F5344CB8AC3E}">
        <p14:creationId xmlns:p14="http://schemas.microsoft.com/office/powerpoint/2010/main" val="132670093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5.4  Rubins 2008</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41. Rubins 2008</a:t>
            </a:r>
          </a:p>
        </p:txBody>
      </p:sp>
      <p:sp>
        <p:nvSpPr>
          <p:cNvPr id="18" name="Rounded Rectangle 17"/>
          <p:cNvSpPr/>
          <p:nvPr/>
        </p:nvSpPr>
        <p:spPr>
          <a:xfrm>
            <a:off x="411480" y="1664208"/>
            <a:ext cx="11365992" cy="9144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4360" y="1883664"/>
            <a:ext cx="11000232" cy="384721"/>
          </a:xfrm>
          <a:prstGeom prst="rect">
            <a:avLst/>
          </a:prstGeom>
          <a:noFill/>
        </p:spPr>
        <p:txBody>
          <a:bodyPr wrap="square" lIns="0" tIns="0" rIns="0" bIns="0" anchor="t">
            <a:spAutoFit/>
          </a:bodyPr>
          <a:lstStyle/>
          <a:p>
            <a:pPr algn="l"/>
            <a:r>
              <a:rPr sz="2500" b="1" dirty="0">
                <a:solidFill>
                  <a:srgbClr val="0072B2"/>
                </a:solidFill>
                <a:latin typeface="Meiryo"/>
                <a:ea typeface="Meiryo"/>
                <a:cs typeface="Meiryo"/>
              </a:rPr>
              <a:t>① </a:t>
            </a:r>
            <a:r>
              <a:rPr lang="en-US" sz="2500" b="1" dirty="0" err="1">
                <a:solidFill>
                  <a:srgbClr val="0072B2"/>
                </a:solidFill>
                <a:latin typeface="Meiryo"/>
                <a:ea typeface="Meiryo"/>
                <a:cs typeface="Meiryo"/>
              </a:rPr>
              <a:t>PPGに対するPDAの最初期文献。</a:t>
            </a:r>
            <a:endParaRPr sz="2500" b="1" dirty="0">
              <a:solidFill>
                <a:srgbClr val="0072B2"/>
              </a:solidFill>
              <a:latin typeface="Meiryo"/>
              <a:ea typeface="Meiryo"/>
              <a:cs typeface="Meiryo"/>
            </a:endParaRPr>
          </a:p>
        </p:txBody>
      </p:sp>
      <p:sp>
        <p:nvSpPr>
          <p:cNvPr id="20" name="TextBox 19"/>
          <p:cNvSpPr txBox="1"/>
          <p:nvPr/>
        </p:nvSpPr>
        <p:spPr>
          <a:xfrm>
            <a:off x="457200" y="2816352"/>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対象</a:t>
            </a:r>
          </a:p>
        </p:txBody>
      </p:sp>
      <p:sp>
        <p:nvSpPr>
          <p:cNvPr id="21" name="TextBox 20"/>
          <p:cNvSpPr txBox="1"/>
          <p:nvPr/>
        </p:nvSpPr>
        <p:spPr>
          <a:xfrm>
            <a:off x="1737360" y="2816352"/>
            <a:ext cx="10058400" cy="411480"/>
          </a:xfrm>
          <a:prstGeom prst="rect">
            <a:avLst/>
          </a:prstGeom>
          <a:noFill/>
        </p:spPr>
        <p:txBody>
          <a:bodyPr wrap="square" lIns="0" tIns="0" rIns="0" bIns="0" anchor="t">
            <a:spAutoFit/>
          </a:bodyPr>
          <a:lstStyle/>
          <a:p>
            <a:pPr algn="l">
              <a:spcAft>
                <a:spcPts val="200"/>
              </a:spcAft>
            </a:pPr>
            <a:r>
              <a:rPr sz="2200" b="0" dirty="0" err="1">
                <a:solidFill>
                  <a:srgbClr val="262626"/>
                </a:solidFill>
                <a:latin typeface="Meiryo"/>
                <a:ea typeface="Meiryo"/>
                <a:cs typeface="Meiryo"/>
              </a:rPr>
              <a:t>健常者</a:t>
            </a:r>
            <a:r>
              <a:rPr sz="2200" b="0" dirty="0">
                <a:solidFill>
                  <a:srgbClr val="262626"/>
                </a:solidFill>
                <a:latin typeface="Meiryo"/>
                <a:ea typeface="Meiryo"/>
                <a:cs typeface="Meiryo"/>
              </a:rPr>
              <a:t> 40 </a:t>
            </a:r>
            <a:r>
              <a:rPr sz="2200" b="0" dirty="0" err="1">
                <a:solidFill>
                  <a:srgbClr val="262626"/>
                </a:solidFill>
                <a:latin typeface="Meiryo"/>
                <a:ea typeface="Meiryo"/>
                <a:cs typeface="Meiryo"/>
              </a:rPr>
              <a:t>名。指と耳の</a:t>
            </a:r>
            <a:r>
              <a:rPr sz="2200" b="0" dirty="0">
                <a:solidFill>
                  <a:srgbClr val="262626"/>
                </a:solidFill>
                <a:latin typeface="Meiryo"/>
                <a:ea typeface="Meiryo"/>
                <a:cs typeface="Meiryo"/>
              </a:rPr>
              <a:t> PPG </a:t>
            </a:r>
            <a:r>
              <a:rPr sz="2200" b="0" dirty="0" err="1">
                <a:solidFill>
                  <a:srgbClr val="262626"/>
                </a:solidFill>
                <a:latin typeface="Meiryo"/>
                <a:ea typeface="Meiryo"/>
                <a:cs typeface="Meiryo"/>
              </a:rPr>
              <a:t>を同時記録。</a:t>
            </a:r>
            <a:endParaRPr sz="2200" b="0" dirty="0">
              <a:solidFill>
                <a:srgbClr val="262626"/>
              </a:solidFill>
              <a:latin typeface="Meiryo"/>
              <a:ea typeface="Meiryo"/>
              <a:cs typeface="Meiryo"/>
            </a:endParaRPr>
          </a:p>
        </p:txBody>
      </p:sp>
      <p:sp>
        <p:nvSpPr>
          <p:cNvPr id="22" name="TextBox 21"/>
          <p:cNvSpPr txBox="1"/>
          <p:nvPr/>
        </p:nvSpPr>
        <p:spPr>
          <a:xfrm>
            <a:off x="457200" y="3291840"/>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方法</a:t>
            </a:r>
          </a:p>
        </p:txBody>
      </p:sp>
      <p:sp>
        <p:nvSpPr>
          <p:cNvPr id="23" name="TextBox 22"/>
          <p:cNvSpPr txBox="1"/>
          <p:nvPr/>
        </p:nvSpPr>
        <p:spPr>
          <a:xfrm>
            <a:off x="1737360" y="3291840"/>
            <a:ext cx="10058400" cy="702756"/>
          </a:xfrm>
          <a:prstGeom prst="rect">
            <a:avLst/>
          </a:prstGeom>
          <a:noFill/>
        </p:spPr>
        <p:txBody>
          <a:bodyPr wrap="square" lIns="0" tIns="0" rIns="0" bIns="0" anchor="t">
            <a:spAutoFit/>
          </a:bodyPr>
          <a:lstStyle/>
          <a:p>
            <a:pPr algn="l">
              <a:spcAft>
                <a:spcPts val="200"/>
              </a:spcAft>
            </a:pPr>
            <a:r>
              <a:rPr sz="2200" b="0" dirty="0" err="1">
                <a:solidFill>
                  <a:srgbClr val="262626"/>
                </a:solidFill>
                <a:latin typeface="Meiryo"/>
                <a:ea typeface="Meiryo"/>
                <a:cs typeface="Meiryo"/>
              </a:rPr>
              <a:t>収縮期波と拡張期波を、それぞれ</a:t>
            </a:r>
            <a:r>
              <a:rPr sz="2200" b="0" dirty="0">
                <a:solidFill>
                  <a:srgbClr val="262626"/>
                </a:solidFill>
                <a:latin typeface="Meiryo"/>
                <a:ea typeface="Meiryo"/>
                <a:cs typeface="Meiryo"/>
              </a:rPr>
              <a:t> 2 </a:t>
            </a:r>
            <a:r>
              <a:rPr sz="2200" b="0" dirty="0" err="1">
                <a:solidFill>
                  <a:srgbClr val="262626"/>
                </a:solidFill>
                <a:latin typeface="Meiryo"/>
                <a:ea typeface="Meiryo"/>
                <a:cs typeface="Meiryo"/>
              </a:rPr>
              <a:t>つ</a:t>
            </a:r>
            <a:r>
              <a:rPr lang="ja-JP" altLang="en-US" sz="2200" b="0">
                <a:solidFill>
                  <a:srgbClr val="262626"/>
                </a:solidFill>
                <a:latin typeface="Meiryo"/>
                <a:ea typeface="Meiryo"/>
                <a:cs typeface="Meiryo"/>
              </a:rPr>
              <a:t>（</a:t>
            </a:r>
            <a:r>
              <a:rPr lang="en-US" altLang="ja-JP" sz="2200" b="0" dirty="0">
                <a:solidFill>
                  <a:srgbClr val="262626"/>
                </a:solidFill>
                <a:latin typeface="Meiryo"/>
                <a:ea typeface="Meiryo"/>
                <a:cs typeface="Meiryo"/>
              </a:rPr>
              <a:t>4</a:t>
            </a:r>
            <a:r>
              <a:rPr lang="ja-JP" altLang="en-US" sz="2200" b="0">
                <a:solidFill>
                  <a:srgbClr val="262626"/>
                </a:solidFill>
                <a:latin typeface="Meiryo"/>
                <a:ea typeface="Meiryo"/>
                <a:cs typeface="Meiryo"/>
              </a:rPr>
              <a:t>カーネル）</a:t>
            </a:r>
            <a:r>
              <a:rPr sz="2200" b="0" dirty="0" err="1">
                <a:solidFill>
                  <a:srgbClr val="262626"/>
                </a:solidFill>
                <a:latin typeface="Meiryo"/>
                <a:ea typeface="Meiryo"/>
                <a:cs typeface="Meiryo"/>
              </a:rPr>
              <a:t>の</a:t>
            </a:r>
            <a:endParaRPr sz="2200" b="0" dirty="0">
              <a:solidFill>
                <a:srgbClr val="262626"/>
              </a:solidFill>
              <a:latin typeface="Meiryo"/>
              <a:ea typeface="Meiryo"/>
              <a:cs typeface="Meiryo"/>
            </a:endParaRPr>
          </a:p>
          <a:p>
            <a:pPr algn="l">
              <a:spcAft>
                <a:spcPts val="200"/>
              </a:spcAft>
            </a:pPr>
            <a:r>
              <a:rPr sz="2200" b="0" dirty="0" err="1">
                <a:solidFill>
                  <a:srgbClr val="262626"/>
                </a:solidFill>
                <a:latin typeface="Meiryo"/>
                <a:ea typeface="Meiryo"/>
                <a:cs typeface="Meiryo"/>
              </a:rPr>
              <a:t>ガウス関数の和で当てはめ、RI</a:t>
            </a:r>
            <a:r>
              <a:rPr sz="2200" b="0" dirty="0">
                <a:solidFill>
                  <a:srgbClr val="262626"/>
                </a:solidFill>
                <a:latin typeface="Meiryo"/>
                <a:ea typeface="Meiryo"/>
                <a:cs typeface="Meiryo"/>
              </a:rPr>
              <a:t> </a:t>
            </a:r>
            <a:r>
              <a:rPr sz="2200" b="0" dirty="0" err="1">
                <a:solidFill>
                  <a:srgbClr val="262626"/>
                </a:solidFill>
                <a:latin typeface="Meiryo"/>
                <a:ea typeface="Meiryo"/>
                <a:cs typeface="Meiryo"/>
              </a:rPr>
              <a:t>を算出。</a:t>
            </a:r>
            <a:endParaRPr sz="2200" b="0" dirty="0">
              <a:solidFill>
                <a:srgbClr val="262626"/>
              </a:solidFill>
              <a:latin typeface="Meiryo"/>
              <a:ea typeface="Meiryo"/>
              <a:cs typeface="Meiryo"/>
            </a:endParaRPr>
          </a:p>
        </p:txBody>
      </p:sp>
      <p:sp>
        <p:nvSpPr>
          <p:cNvPr id="24" name="TextBox 23"/>
          <p:cNvSpPr txBox="1"/>
          <p:nvPr/>
        </p:nvSpPr>
        <p:spPr>
          <a:xfrm>
            <a:off x="457200" y="4151376"/>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結果</a:t>
            </a:r>
          </a:p>
        </p:txBody>
      </p:sp>
      <p:sp>
        <p:nvSpPr>
          <p:cNvPr id="25" name="TextBox 24"/>
          <p:cNvSpPr txBox="1"/>
          <p:nvPr/>
        </p:nvSpPr>
        <p:spPr>
          <a:xfrm>
            <a:off x="1737360" y="4151376"/>
            <a:ext cx="10058400" cy="733534"/>
          </a:xfrm>
          <a:prstGeom prst="rect">
            <a:avLst/>
          </a:prstGeom>
          <a:noFill/>
        </p:spPr>
        <p:txBody>
          <a:bodyPr wrap="square" lIns="0" tIns="0" rIns="0" bIns="0" anchor="t">
            <a:spAutoFit/>
          </a:bodyPr>
          <a:lstStyle/>
          <a:p>
            <a:pPr>
              <a:spcAft>
                <a:spcPts val="200"/>
              </a:spcAft>
            </a:pPr>
            <a:r>
              <a:rPr lang="en-US" altLang="ja-JP" sz="2400" dirty="0"/>
              <a:t>RI </a:t>
            </a:r>
            <a:r>
              <a:rPr lang="ja-JP" altLang="ja-JP" sz="2400"/>
              <a:t>r = 0.98, p&lt;0.0001</a:t>
            </a:r>
            <a:endParaRPr lang="en-US" sz="2200" b="0" dirty="0">
              <a:solidFill>
                <a:srgbClr val="262626"/>
              </a:solidFill>
              <a:latin typeface="Meiryo"/>
              <a:ea typeface="Meiryo"/>
              <a:cs typeface="Meiryo"/>
            </a:endParaRPr>
          </a:p>
          <a:p>
            <a:pPr algn="l">
              <a:spcAft>
                <a:spcPts val="200"/>
              </a:spcAft>
            </a:pPr>
            <a:r>
              <a:rPr sz="2200" b="0" dirty="0" err="1">
                <a:solidFill>
                  <a:srgbClr val="262626"/>
                </a:solidFill>
                <a:latin typeface="Meiryo"/>
                <a:ea typeface="Meiryo"/>
                <a:cs typeface="Meiryo"/>
              </a:rPr>
              <a:t>従来の微分法</a:t>
            </a:r>
            <a:r>
              <a:rPr lang="ja-JP" altLang="en-US" sz="2200">
                <a:solidFill>
                  <a:srgbClr val="262626"/>
                </a:solidFill>
                <a:latin typeface="Meiryo"/>
                <a:ea typeface="Meiryo"/>
                <a:cs typeface="Meiryo"/>
              </a:rPr>
              <a:t>より</a:t>
            </a:r>
            <a:r>
              <a:rPr lang="en-US" altLang="ja-JP" sz="2200" dirty="0">
                <a:solidFill>
                  <a:srgbClr val="262626"/>
                </a:solidFill>
                <a:latin typeface="Meiryo"/>
                <a:ea typeface="Meiryo"/>
                <a:cs typeface="Meiryo"/>
              </a:rPr>
              <a:t>PDA</a:t>
            </a:r>
            <a:r>
              <a:rPr lang="ja-JP" altLang="en-US" sz="2200">
                <a:solidFill>
                  <a:srgbClr val="262626"/>
                </a:solidFill>
                <a:latin typeface="Meiryo"/>
                <a:ea typeface="Meiryo"/>
                <a:cs typeface="Meiryo"/>
              </a:rPr>
              <a:t>の方がばらつきが少なかった。</a:t>
            </a:r>
            <a:endParaRPr sz="2200" b="0" dirty="0">
              <a:solidFill>
                <a:srgbClr val="262626"/>
              </a:solidFill>
              <a:latin typeface="Meiryo"/>
              <a:ea typeface="Meiryo"/>
              <a:cs typeface="Meiryo"/>
            </a:endParaRPr>
          </a:p>
        </p:txBody>
      </p:sp>
      <p:sp>
        <p:nvSpPr>
          <p:cNvPr id="26" name="Rounded Rectangle 25"/>
          <p:cNvSpPr/>
          <p:nvPr/>
        </p:nvSpPr>
        <p:spPr>
          <a:xfrm>
            <a:off x="411480" y="5413248"/>
            <a:ext cx="11365992" cy="91440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nchorCtr="1"/>
          <a:lstStyle/>
          <a:p>
            <a:pPr algn="ctr"/>
            <a:r>
              <a:rPr lang="ja-JP" altLang="en-US" sz="2400" b="1">
                <a:solidFill>
                  <a:srgbClr val="262626"/>
                </a:solidFill>
                <a:latin typeface="Meiryo"/>
                <a:ea typeface="Meiryo"/>
                <a:cs typeface="Meiryo"/>
              </a:rPr>
              <a:t>従来法より</a:t>
            </a:r>
            <a:r>
              <a:rPr lang="en" altLang="ja-JP" sz="2400" b="1" dirty="0">
                <a:solidFill>
                  <a:srgbClr val="262626"/>
                </a:solidFill>
                <a:latin typeface="Meiryo"/>
                <a:ea typeface="Meiryo"/>
                <a:cs typeface="Meiryo"/>
              </a:rPr>
              <a:t>PDA</a:t>
            </a:r>
            <a:r>
              <a:rPr lang="ja-JP" altLang="en-US" sz="2400" b="1">
                <a:solidFill>
                  <a:srgbClr val="262626"/>
                </a:solidFill>
                <a:latin typeface="Meiryo"/>
                <a:ea typeface="Meiryo"/>
                <a:cs typeface="Meiryo"/>
              </a:rPr>
              <a:t>の方が精度が高く、この方法で</a:t>
            </a:r>
            <a:r>
              <a:rPr lang="en" altLang="ja-JP" sz="2400" b="1" dirty="0">
                <a:solidFill>
                  <a:srgbClr val="262626"/>
                </a:solidFill>
                <a:latin typeface="Meiryo"/>
                <a:ea typeface="Meiryo"/>
                <a:cs typeface="Meiryo"/>
              </a:rPr>
              <a:t>RI</a:t>
            </a:r>
            <a:r>
              <a:rPr lang="ja-JP" altLang="en-US" sz="2400" b="1">
                <a:solidFill>
                  <a:srgbClr val="262626"/>
                </a:solidFill>
                <a:latin typeface="Meiryo"/>
                <a:ea typeface="Meiryo"/>
                <a:cs typeface="Meiryo"/>
              </a:rPr>
              <a:t>も導出可能。</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85/118</a:t>
            </a:r>
          </a:p>
        </p:txBody>
      </p:sp>
      <p:pic>
        <p:nvPicPr>
          <p:cNvPr id="4" name="図 3">
            <a:extLst>
              <a:ext uri="{FF2B5EF4-FFF2-40B4-BE49-F238E27FC236}">
                <a16:creationId xmlns:a16="http://schemas.microsoft.com/office/drawing/2014/main" id="{F0564319-2023-EDB9-E9A8-CD2597E2275D}"/>
              </a:ext>
            </a:extLst>
          </p:cNvPr>
          <p:cNvPicPr>
            <a:picLocks noChangeAspect="1"/>
          </p:cNvPicPr>
          <p:nvPr/>
        </p:nvPicPr>
        <p:blipFill>
          <a:blip r:embed="rId3"/>
          <a:srcRect l="25264" t="49939" r="35855"/>
          <a:stretch>
            <a:fillRect/>
          </a:stretch>
        </p:blipFill>
        <p:spPr>
          <a:xfrm>
            <a:off x="8948299" y="2820897"/>
            <a:ext cx="3012681" cy="2424361"/>
          </a:xfrm>
          <a:prstGeom prst="rect">
            <a:avLst/>
          </a:prstGeom>
        </p:spPr>
      </p:pic>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4">
            <a:extLst>
              <a:ext uri="{FF2B5EF4-FFF2-40B4-BE49-F238E27FC236}">
                <a16:creationId xmlns:a16="http://schemas.microsoft.com/office/drawing/2014/main" id="{AA9D36CE-3772-F005-B54C-9329ADA7F086}"/>
              </a:ext>
            </a:extLst>
          </p:cNvPr>
          <p:cNvSpPr/>
          <p:nvPr/>
        </p:nvSpPr>
        <p:spPr>
          <a:xfrm>
            <a:off x="1085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5.4  Goswami 2010</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42. Goswami 2010</a:t>
            </a:r>
          </a:p>
        </p:txBody>
      </p:sp>
      <p:sp>
        <p:nvSpPr>
          <p:cNvPr id="18" name="Rounded Rectangle 17"/>
          <p:cNvSpPr/>
          <p:nvPr/>
        </p:nvSpPr>
        <p:spPr>
          <a:xfrm>
            <a:off x="411480" y="1664208"/>
            <a:ext cx="11365992" cy="9144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4360" y="1883664"/>
            <a:ext cx="11000232" cy="384721"/>
          </a:xfrm>
          <a:prstGeom prst="rect">
            <a:avLst/>
          </a:prstGeom>
          <a:noFill/>
        </p:spPr>
        <p:txBody>
          <a:bodyPr wrap="square" lIns="0" tIns="0" rIns="0" bIns="0" anchor="t">
            <a:spAutoFit/>
          </a:bodyPr>
          <a:lstStyle/>
          <a:p>
            <a:pPr algn="l"/>
            <a:r>
              <a:rPr sz="2500" b="1" dirty="0">
                <a:solidFill>
                  <a:srgbClr val="0072B2"/>
                </a:solidFill>
                <a:latin typeface="Meiryo"/>
                <a:ea typeface="Meiryo"/>
                <a:cs typeface="Meiryo"/>
              </a:rPr>
              <a:t>② </a:t>
            </a:r>
            <a:r>
              <a:rPr lang="ja-JP" altLang="en-US" sz="2500" b="1">
                <a:solidFill>
                  <a:srgbClr val="0072B2"/>
                </a:solidFill>
                <a:latin typeface="Meiryo"/>
                <a:ea typeface="Meiryo"/>
                <a:cs typeface="Meiryo"/>
              </a:rPr>
              <a:t>成分波からの指標導出。</a:t>
            </a:r>
            <a:r>
              <a:rPr sz="2500" b="1" dirty="0">
                <a:solidFill>
                  <a:srgbClr val="0072B2"/>
                </a:solidFill>
                <a:latin typeface="Meiryo"/>
                <a:ea typeface="Meiryo"/>
                <a:cs typeface="Meiryo"/>
              </a:rPr>
              <a:t>SI </a:t>
            </a:r>
            <a:r>
              <a:rPr sz="2500" b="1" dirty="0" err="1">
                <a:solidFill>
                  <a:srgbClr val="0072B2"/>
                </a:solidFill>
                <a:latin typeface="Meiryo"/>
                <a:ea typeface="Meiryo"/>
                <a:cs typeface="Meiryo"/>
              </a:rPr>
              <a:t>と</a:t>
            </a:r>
            <a:r>
              <a:rPr sz="2500" b="1" dirty="0">
                <a:solidFill>
                  <a:srgbClr val="0072B2"/>
                </a:solidFill>
                <a:latin typeface="Meiryo"/>
                <a:ea typeface="Meiryo"/>
                <a:cs typeface="Meiryo"/>
              </a:rPr>
              <a:t> RI </a:t>
            </a:r>
            <a:r>
              <a:rPr sz="2500" b="1" dirty="0" err="1">
                <a:solidFill>
                  <a:srgbClr val="0072B2"/>
                </a:solidFill>
                <a:latin typeface="Meiryo"/>
                <a:ea typeface="Meiryo"/>
                <a:cs typeface="Meiryo"/>
              </a:rPr>
              <a:t>を同時に導出</a:t>
            </a:r>
            <a:r>
              <a:rPr lang="ja-JP" altLang="en-US" sz="2500" b="1">
                <a:solidFill>
                  <a:srgbClr val="0072B2"/>
                </a:solidFill>
                <a:latin typeface="Meiryo"/>
                <a:ea typeface="Meiryo"/>
                <a:cs typeface="Meiryo"/>
              </a:rPr>
              <a:t>。</a:t>
            </a:r>
            <a:endParaRPr sz="2500" b="1" dirty="0">
              <a:solidFill>
                <a:srgbClr val="0072B2"/>
              </a:solidFill>
              <a:latin typeface="Meiryo"/>
              <a:ea typeface="Meiryo"/>
              <a:cs typeface="Meiryo"/>
            </a:endParaRPr>
          </a:p>
        </p:txBody>
      </p:sp>
      <p:sp>
        <p:nvSpPr>
          <p:cNvPr id="20" name="TextBox 19"/>
          <p:cNvSpPr txBox="1"/>
          <p:nvPr/>
        </p:nvSpPr>
        <p:spPr>
          <a:xfrm>
            <a:off x="457200" y="2816352"/>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対象</a:t>
            </a:r>
          </a:p>
        </p:txBody>
      </p:sp>
      <p:sp>
        <p:nvSpPr>
          <p:cNvPr id="21" name="TextBox 20"/>
          <p:cNvSpPr txBox="1"/>
          <p:nvPr/>
        </p:nvSpPr>
        <p:spPr>
          <a:xfrm>
            <a:off x="1737360" y="2816352"/>
            <a:ext cx="10058400" cy="41148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健常者と治療中の高血圧者の指尖容積脈波 113 信号。</a:t>
            </a:r>
          </a:p>
        </p:txBody>
      </p:sp>
      <p:sp>
        <p:nvSpPr>
          <p:cNvPr id="22" name="TextBox 21"/>
          <p:cNvSpPr txBox="1"/>
          <p:nvPr/>
        </p:nvSpPr>
        <p:spPr>
          <a:xfrm>
            <a:off x="457200" y="3291840"/>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方法</a:t>
            </a:r>
          </a:p>
        </p:txBody>
      </p:sp>
      <p:sp>
        <p:nvSpPr>
          <p:cNvPr id="23" name="TextBox 22"/>
          <p:cNvSpPr txBox="1"/>
          <p:nvPr/>
        </p:nvSpPr>
        <p:spPr>
          <a:xfrm>
            <a:off x="1737360" y="3291840"/>
            <a:ext cx="10058400" cy="702756"/>
          </a:xfrm>
          <a:prstGeom prst="rect">
            <a:avLst/>
          </a:prstGeom>
          <a:noFill/>
        </p:spPr>
        <p:txBody>
          <a:bodyPr wrap="square" lIns="0" tIns="0" rIns="0" bIns="0" anchor="t">
            <a:spAutoFit/>
          </a:bodyPr>
          <a:lstStyle/>
          <a:p>
            <a:pPr algn="l">
              <a:spcAft>
                <a:spcPts val="200"/>
              </a:spcAft>
            </a:pPr>
            <a:r>
              <a:rPr sz="2200" b="0" dirty="0">
                <a:solidFill>
                  <a:srgbClr val="262626"/>
                </a:solidFill>
                <a:latin typeface="Meiryo"/>
                <a:ea typeface="Meiryo"/>
                <a:cs typeface="Meiryo"/>
              </a:rPr>
              <a:t>Rayleigh </a:t>
            </a:r>
            <a:r>
              <a:rPr sz="2200" b="0" dirty="0" err="1">
                <a:solidFill>
                  <a:srgbClr val="262626"/>
                </a:solidFill>
                <a:latin typeface="Meiryo"/>
                <a:ea typeface="Meiryo"/>
                <a:cs typeface="Meiryo"/>
              </a:rPr>
              <a:t>関数による</a:t>
            </a:r>
            <a:r>
              <a:rPr sz="2200" b="0" dirty="0">
                <a:solidFill>
                  <a:srgbClr val="262626"/>
                </a:solidFill>
                <a:latin typeface="Meiryo"/>
                <a:ea typeface="Meiryo"/>
                <a:cs typeface="Meiryo"/>
              </a:rPr>
              <a:t> 2 </a:t>
            </a:r>
            <a:r>
              <a:rPr sz="2200" b="0" dirty="0" err="1">
                <a:solidFill>
                  <a:srgbClr val="262626"/>
                </a:solidFill>
                <a:latin typeface="Meiryo"/>
                <a:ea typeface="Meiryo"/>
                <a:cs typeface="Meiryo"/>
              </a:rPr>
              <a:t>波合成モデル</a:t>
            </a:r>
            <a:r>
              <a:rPr lang="ja-JP" altLang="en-US" sz="2200" b="0">
                <a:solidFill>
                  <a:srgbClr val="262626"/>
                </a:solidFill>
                <a:latin typeface="Meiryo"/>
                <a:ea typeface="Meiryo"/>
                <a:cs typeface="Meiryo"/>
              </a:rPr>
              <a:t>（</a:t>
            </a:r>
            <a:r>
              <a:rPr lang="en-US" altLang="ja-JP" sz="2200" b="0" dirty="0">
                <a:solidFill>
                  <a:srgbClr val="262626"/>
                </a:solidFill>
                <a:latin typeface="Meiryo"/>
                <a:ea typeface="Meiryo"/>
                <a:cs typeface="Meiryo"/>
              </a:rPr>
              <a:t>2</a:t>
            </a:r>
            <a:r>
              <a:rPr lang="ja-JP" altLang="en-US" sz="2200" b="0">
                <a:solidFill>
                  <a:srgbClr val="262626"/>
                </a:solidFill>
                <a:latin typeface="Meiryo"/>
                <a:ea typeface="Meiryo"/>
                <a:cs typeface="Meiryo"/>
              </a:rPr>
              <a:t>カーネル）</a:t>
            </a:r>
            <a:endParaRPr sz="2200" b="0" dirty="0">
              <a:solidFill>
                <a:srgbClr val="262626"/>
              </a:solidFill>
              <a:latin typeface="Meiryo"/>
              <a:ea typeface="Meiryo"/>
              <a:cs typeface="Meiryo"/>
            </a:endParaRPr>
          </a:p>
          <a:p>
            <a:pPr algn="l">
              <a:spcAft>
                <a:spcPts val="200"/>
              </a:spcAft>
            </a:pPr>
            <a:r>
              <a:rPr lang="en-US" sz="2200" dirty="0" err="1">
                <a:solidFill>
                  <a:srgbClr val="262626"/>
                </a:solidFill>
                <a:latin typeface="Meiryo"/>
                <a:ea typeface="Meiryo"/>
                <a:cs typeface="Meiryo"/>
              </a:rPr>
              <a:t>分解した成分波から、</a:t>
            </a:r>
            <a:r>
              <a:rPr sz="2200" b="0" dirty="0" err="1">
                <a:solidFill>
                  <a:srgbClr val="262626"/>
                </a:solidFill>
                <a:latin typeface="Meiryo"/>
                <a:ea typeface="Meiryo"/>
                <a:cs typeface="Meiryo"/>
              </a:rPr>
              <a:t>RI・SI</a:t>
            </a:r>
            <a:r>
              <a:rPr lang="ja-JP" altLang="en-US" sz="2200" b="0">
                <a:solidFill>
                  <a:srgbClr val="262626"/>
                </a:solidFill>
                <a:latin typeface="Meiryo"/>
                <a:ea typeface="Meiryo"/>
                <a:cs typeface="Meiryo"/>
              </a:rPr>
              <a:t>を導出。</a:t>
            </a:r>
            <a:endParaRPr sz="2200" b="0" dirty="0">
              <a:solidFill>
                <a:srgbClr val="262626"/>
              </a:solidFill>
              <a:latin typeface="Meiryo"/>
              <a:ea typeface="Meiryo"/>
              <a:cs typeface="Meiryo"/>
            </a:endParaRPr>
          </a:p>
        </p:txBody>
      </p:sp>
      <p:sp>
        <p:nvSpPr>
          <p:cNvPr id="24" name="TextBox 23"/>
          <p:cNvSpPr txBox="1"/>
          <p:nvPr/>
        </p:nvSpPr>
        <p:spPr>
          <a:xfrm>
            <a:off x="457200" y="4151376"/>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結果</a:t>
            </a:r>
          </a:p>
        </p:txBody>
      </p:sp>
      <p:sp>
        <p:nvSpPr>
          <p:cNvPr id="25" name="TextBox 24"/>
          <p:cNvSpPr txBox="1"/>
          <p:nvPr/>
        </p:nvSpPr>
        <p:spPr>
          <a:xfrm>
            <a:off x="1737360" y="4151376"/>
            <a:ext cx="10058400" cy="338554"/>
          </a:xfrm>
          <a:prstGeom prst="rect">
            <a:avLst/>
          </a:prstGeom>
          <a:noFill/>
        </p:spPr>
        <p:txBody>
          <a:bodyPr wrap="square" lIns="0" tIns="0" rIns="0" bIns="0" anchor="t">
            <a:spAutoFit/>
          </a:bodyPr>
          <a:lstStyle/>
          <a:p>
            <a:pPr algn="l">
              <a:spcAft>
                <a:spcPts val="200"/>
              </a:spcAft>
            </a:pPr>
            <a:r>
              <a:rPr sz="2200" b="0" dirty="0" err="1">
                <a:solidFill>
                  <a:srgbClr val="262626"/>
                </a:solidFill>
                <a:latin typeface="Meiryo"/>
                <a:ea typeface="Meiryo"/>
                <a:cs typeface="Meiryo"/>
              </a:rPr>
              <a:t>従来のランドマーク法・微分法とよく一致し</a:t>
            </a:r>
            <a:r>
              <a:rPr lang="ja-JP" altLang="en-US" sz="2200" b="0">
                <a:solidFill>
                  <a:srgbClr val="262626"/>
                </a:solidFill>
                <a:latin typeface="Meiryo"/>
                <a:ea typeface="Meiryo"/>
                <a:cs typeface="Meiryo"/>
              </a:rPr>
              <a:t>、ばらつきが少ない。</a:t>
            </a:r>
            <a:endParaRPr sz="2200" b="0" dirty="0">
              <a:solidFill>
                <a:srgbClr val="262626"/>
              </a:solidFill>
              <a:latin typeface="Meiryo"/>
              <a:ea typeface="Meiryo"/>
              <a:cs typeface="Meiryo"/>
            </a:endParaRPr>
          </a:p>
        </p:txBody>
      </p:sp>
      <p:sp>
        <p:nvSpPr>
          <p:cNvPr id="26" name="Rounded Rectangle 25"/>
          <p:cNvSpPr/>
          <p:nvPr/>
        </p:nvSpPr>
        <p:spPr>
          <a:xfrm>
            <a:off x="411480" y="5413248"/>
            <a:ext cx="11365992" cy="91440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ja-JP" altLang="en-US" sz="2400" b="1">
                <a:solidFill>
                  <a:srgbClr val="262626"/>
                </a:solidFill>
                <a:latin typeface="Meiryo"/>
                <a:ea typeface="Meiryo"/>
                <a:cs typeface="Meiryo"/>
              </a:rPr>
              <a:t>成分波による</a:t>
            </a:r>
            <a:r>
              <a:rPr lang="en" altLang="ja-JP" sz="2400" b="1" dirty="0">
                <a:solidFill>
                  <a:srgbClr val="262626"/>
                </a:solidFill>
                <a:latin typeface="Meiryo"/>
                <a:ea typeface="Meiryo"/>
                <a:cs typeface="Meiryo"/>
              </a:rPr>
              <a:t>SI</a:t>
            </a:r>
            <a:r>
              <a:rPr lang="ja-JP" altLang="en" sz="2400" b="1">
                <a:solidFill>
                  <a:srgbClr val="262626"/>
                </a:solidFill>
                <a:latin typeface="Meiryo"/>
                <a:ea typeface="Meiryo"/>
                <a:cs typeface="Meiryo"/>
              </a:rPr>
              <a:t>、</a:t>
            </a:r>
            <a:r>
              <a:rPr lang="en" altLang="ja-JP" sz="2400" b="1" dirty="0">
                <a:solidFill>
                  <a:srgbClr val="262626"/>
                </a:solidFill>
                <a:latin typeface="Meiryo"/>
                <a:ea typeface="Meiryo"/>
                <a:cs typeface="Meiryo"/>
              </a:rPr>
              <a:t>RI</a:t>
            </a:r>
            <a:r>
              <a:rPr lang="ja-JP" altLang="en-US" sz="2400" b="1">
                <a:solidFill>
                  <a:srgbClr val="262626"/>
                </a:solidFill>
                <a:latin typeface="Meiryo"/>
                <a:ea typeface="Meiryo"/>
                <a:cs typeface="Meiryo"/>
              </a:rPr>
              <a:t>を導出した。</a:t>
            </a:r>
          </a:p>
          <a:p>
            <a:pPr algn="ctr"/>
            <a:r>
              <a:rPr lang="ja-JP" altLang="en-US" sz="2400" b="1">
                <a:solidFill>
                  <a:srgbClr val="262626"/>
                </a:solidFill>
                <a:latin typeface="Meiryo"/>
                <a:ea typeface="Meiryo"/>
                <a:cs typeface="Meiryo"/>
              </a:rPr>
              <a:t>成分波の</a:t>
            </a:r>
            <a:r>
              <a:rPr lang="en" altLang="ja-JP" sz="2400" b="1" dirty="0">
                <a:solidFill>
                  <a:srgbClr val="262626"/>
                </a:solidFill>
                <a:latin typeface="Meiryo"/>
                <a:ea typeface="Meiryo"/>
                <a:cs typeface="Meiryo"/>
              </a:rPr>
              <a:t>RI</a:t>
            </a:r>
            <a:r>
              <a:rPr lang="ja-JP" altLang="en-US" sz="2400" b="1">
                <a:solidFill>
                  <a:srgbClr val="262626"/>
                </a:solidFill>
                <a:latin typeface="Meiryo"/>
                <a:ea typeface="Meiryo"/>
                <a:cs typeface="Meiryo"/>
              </a:rPr>
              <a:t>では従来法より精度が高い。</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86/118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4">
            <a:extLst>
              <a:ext uri="{FF2B5EF4-FFF2-40B4-BE49-F238E27FC236}">
                <a16:creationId xmlns:a16="http://schemas.microsoft.com/office/drawing/2014/main" id="{AA9D36CE-3772-F005-B54C-9329ADA7F086}"/>
              </a:ext>
            </a:extLst>
          </p:cNvPr>
          <p:cNvSpPr/>
          <p:nvPr/>
        </p:nvSpPr>
        <p:spPr>
          <a:xfrm>
            <a:off x="1085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5.4  Couceiro 2012</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45. Couceiro 2012</a:t>
            </a:r>
          </a:p>
        </p:txBody>
      </p:sp>
      <p:sp>
        <p:nvSpPr>
          <p:cNvPr id="18" name="Rounded Rectangle 17"/>
          <p:cNvSpPr/>
          <p:nvPr/>
        </p:nvSpPr>
        <p:spPr>
          <a:xfrm>
            <a:off x="411480" y="1664208"/>
            <a:ext cx="11365992" cy="9144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4360" y="1883664"/>
            <a:ext cx="11000232" cy="384721"/>
          </a:xfrm>
          <a:prstGeom prst="rect">
            <a:avLst/>
          </a:prstGeom>
          <a:noFill/>
        </p:spPr>
        <p:txBody>
          <a:bodyPr wrap="square" lIns="0" tIns="0" rIns="0" bIns="0" anchor="t">
            <a:spAutoFit/>
          </a:bodyPr>
          <a:lstStyle/>
          <a:p>
            <a:pPr algn="l"/>
            <a:r>
              <a:rPr sz="2500" b="1" dirty="0">
                <a:solidFill>
                  <a:srgbClr val="00A8AA"/>
                </a:solidFill>
                <a:latin typeface="Meiryo"/>
                <a:ea typeface="Meiryo"/>
                <a:cs typeface="Meiryo"/>
              </a:rPr>
              <a:t>③ </a:t>
            </a:r>
            <a:r>
              <a:rPr sz="2500" b="1" dirty="0" err="1">
                <a:solidFill>
                  <a:srgbClr val="00A8AA"/>
                </a:solidFill>
                <a:latin typeface="Meiryo"/>
                <a:ea typeface="Meiryo"/>
                <a:cs typeface="Meiryo"/>
              </a:rPr>
              <a:t>ガウス分解</a:t>
            </a:r>
            <a:r>
              <a:rPr lang="ja-JP" altLang="en-US" sz="2500" b="1">
                <a:solidFill>
                  <a:srgbClr val="00A8AA"/>
                </a:solidFill>
                <a:latin typeface="Meiryo"/>
                <a:ea typeface="Meiryo"/>
                <a:cs typeface="Meiryo"/>
              </a:rPr>
              <a:t>指標を他モダリティと比較。</a:t>
            </a:r>
            <a:endParaRPr sz="2500" b="1" dirty="0">
              <a:solidFill>
                <a:srgbClr val="00A8AA"/>
              </a:solidFill>
              <a:latin typeface="Meiryo"/>
              <a:ea typeface="Meiryo"/>
              <a:cs typeface="Meiryo"/>
            </a:endParaRPr>
          </a:p>
        </p:txBody>
      </p:sp>
      <p:sp>
        <p:nvSpPr>
          <p:cNvPr id="20" name="TextBox 19"/>
          <p:cNvSpPr txBox="1"/>
          <p:nvPr/>
        </p:nvSpPr>
        <p:spPr>
          <a:xfrm>
            <a:off x="457200" y="2816352"/>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対象</a:t>
            </a:r>
          </a:p>
        </p:txBody>
      </p:sp>
      <p:sp>
        <p:nvSpPr>
          <p:cNvPr id="21" name="TextBox 20"/>
          <p:cNvSpPr txBox="1"/>
          <p:nvPr/>
        </p:nvSpPr>
        <p:spPr>
          <a:xfrm>
            <a:off x="1737360" y="2816352"/>
            <a:ext cx="10058400" cy="338554"/>
          </a:xfrm>
          <a:prstGeom prst="rect">
            <a:avLst/>
          </a:prstGeom>
          <a:noFill/>
        </p:spPr>
        <p:txBody>
          <a:bodyPr wrap="square" lIns="0" tIns="0" rIns="0" bIns="0" anchor="t">
            <a:spAutoFit/>
          </a:bodyPr>
          <a:lstStyle/>
          <a:p>
            <a:pPr algn="l">
              <a:spcAft>
                <a:spcPts val="200"/>
              </a:spcAft>
            </a:pPr>
            <a:r>
              <a:rPr sz="2200" b="0" dirty="0" err="1">
                <a:solidFill>
                  <a:srgbClr val="262626"/>
                </a:solidFill>
                <a:latin typeface="Meiryo"/>
                <a:ea typeface="Meiryo"/>
                <a:cs typeface="Meiryo"/>
              </a:rPr>
              <a:t>心エコーによる参照値が得られた</a:t>
            </a:r>
            <a:r>
              <a:rPr lang="ja-JP" altLang="en-US" sz="2200" b="0">
                <a:solidFill>
                  <a:srgbClr val="262626"/>
                </a:solidFill>
                <a:latin typeface="Meiryo"/>
                <a:ea typeface="Meiryo"/>
                <a:cs typeface="Meiryo"/>
              </a:rPr>
              <a:t>健常者</a:t>
            </a:r>
            <a:r>
              <a:rPr lang="en-US" altLang="ja-JP" sz="2200" b="0" dirty="0">
                <a:solidFill>
                  <a:srgbClr val="262626"/>
                </a:solidFill>
                <a:latin typeface="Meiryo"/>
                <a:ea typeface="Meiryo"/>
                <a:cs typeface="Meiryo"/>
              </a:rPr>
              <a:t>33</a:t>
            </a:r>
            <a:r>
              <a:rPr lang="ja-JP" altLang="en-US" sz="2200" b="0">
                <a:solidFill>
                  <a:srgbClr val="262626"/>
                </a:solidFill>
                <a:latin typeface="Meiryo"/>
                <a:ea typeface="Meiryo"/>
                <a:cs typeface="Meiryo"/>
              </a:rPr>
              <a:t>人、</a:t>
            </a:r>
            <a:r>
              <a:rPr lang="en-US" altLang="ja-JP" sz="2200" b="0" dirty="0">
                <a:solidFill>
                  <a:srgbClr val="262626"/>
                </a:solidFill>
                <a:latin typeface="Meiryo"/>
                <a:ea typeface="Meiryo"/>
                <a:cs typeface="Meiryo"/>
              </a:rPr>
              <a:t>CVD</a:t>
            </a:r>
            <a:r>
              <a:rPr lang="ja-JP" altLang="en-US" sz="2200" b="0">
                <a:solidFill>
                  <a:srgbClr val="262626"/>
                </a:solidFill>
                <a:latin typeface="Meiryo"/>
                <a:ea typeface="Meiryo"/>
                <a:cs typeface="Meiryo"/>
              </a:rPr>
              <a:t>群</a:t>
            </a:r>
            <a:r>
              <a:rPr lang="en-US" altLang="ja-JP" sz="2200" b="0" dirty="0">
                <a:solidFill>
                  <a:srgbClr val="262626"/>
                </a:solidFill>
                <a:latin typeface="Meiryo"/>
                <a:ea typeface="Meiryo"/>
                <a:cs typeface="Meiryo"/>
              </a:rPr>
              <a:t>35</a:t>
            </a:r>
            <a:r>
              <a:rPr lang="ja-JP" altLang="en-US" sz="2200" b="0">
                <a:solidFill>
                  <a:srgbClr val="262626"/>
                </a:solidFill>
                <a:latin typeface="Meiryo"/>
                <a:ea typeface="Meiryo"/>
                <a:cs typeface="Meiryo"/>
              </a:rPr>
              <a:t>人。</a:t>
            </a:r>
            <a:endParaRPr sz="2200" b="0" dirty="0">
              <a:solidFill>
                <a:srgbClr val="262626"/>
              </a:solidFill>
              <a:latin typeface="Meiryo"/>
              <a:ea typeface="Meiryo"/>
              <a:cs typeface="Meiryo"/>
            </a:endParaRPr>
          </a:p>
        </p:txBody>
      </p:sp>
      <p:sp>
        <p:nvSpPr>
          <p:cNvPr id="22" name="TextBox 21"/>
          <p:cNvSpPr txBox="1"/>
          <p:nvPr/>
        </p:nvSpPr>
        <p:spPr>
          <a:xfrm>
            <a:off x="457200" y="3291840"/>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方法</a:t>
            </a:r>
          </a:p>
        </p:txBody>
      </p:sp>
      <p:sp>
        <p:nvSpPr>
          <p:cNvPr id="23" name="TextBox 22"/>
          <p:cNvSpPr txBox="1"/>
          <p:nvPr/>
        </p:nvSpPr>
        <p:spPr>
          <a:xfrm>
            <a:off x="1737360" y="3291840"/>
            <a:ext cx="10058400" cy="702756"/>
          </a:xfrm>
          <a:prstGeom prst="rect">
            <a:avLst/>
          </a:prstGeom>
          <a:noFill/>
        </p:spPr>
        <p:txBody>
          <a:bodyPr wrap="square" lIns="0" tIns="0" rIns="0" bIns="0" anchor="t">
            <a:spAutoFit/>
          </a:bodyPr>
          <a:lstStyle/>
          <a:p>
            <a:pPr algn="l">
              <a:spcAft>
                <a:spcPts val="200"/>
              </a:spcAft>
            </a:pPr>
            <a:r>
              <a:rPr sz="2200" b="0" dirty="0">
                <a:solidFill>
                  <a:srgbClr val="262626"/>
                </a:solidFill>
                <a:latin typeface="Meiryo"/>
                <a:ea typeface="Meiryo"/>
                <a:cs typeface="Meiryo"/>
              </a:rPr>
              <a:t>ガウス関数で</a:t>
            </a:r>
            <a:r>
              <a:rPr lang="en-US" altLang="ja-JP" sz="2200" b="0" dirty="0">
                <a:solidFill>
                  <a:srgbClr val="262626"/>
                </a:solidFill>
                <a:latin typeface="Meiryo"/>
                <a:ea typeface="Meiryo"/>
                <a:cs typeface="Meiryo"/>
              </a:rPr>
              <a:t>4</a:t>
            </a:r>
            <a:r>
              <a:rPr lang="ja-JP" altLang="en-US" sz="2200" b="0">
                <a:solidFill>
                  <a:srgbClr val="262626"/>
                </a:solidFill>
                <a:latin typeface="Meiryo"/>
                <a:ea typeface="Meiryo"/>
                <a:cs typeface="Meiryo"/>
              </a:rPr>
              <a:t>カーネル　</a:t>
            </a:r>
            <a:r>
              <a:rPr sz="2200" b="0" dirty="0">
                <a:solidFill>
                  <a:srgbClr val="262626"/>
                </a:solidFill>
                <a:latin typeface="Meiryo"/>
                <a:ea typeface="Meiryo"/>
                <a:cs typeface="Meiryo"/>
              </a:rPr>
              <a:t>3 </a:t>
            </a:r>
            <a:r>
              <a:rPr sz="2200" b="0" dirty="0" err="1">
                <a:solidFill>
                  <a:srgbClr val="262626"/>
                </a:solidFill>
                <a:latin typeface="Meiryo"/>
                <a:ea typeface="Meiryo"/>
                <a:cs typeface="Meiryo"/>
              </a:rPr>
              <a:t>次微分からLVET</a:t>
            </a:r>
            <a:r>
              <a:rPr sz="2200" b="0" dirty="0">
                <a:solidFill>
                  <a:srgbClr val="262626"/>
                </a:solidFill>
                <a:latin typeface="Meiryo"/>
                <a:ea typeface="Meiryo"/>
                <a:cs typeface="Meiryo"/>
              </a:rPr>
              <a:t> </a:t>
            </a:r>
            <a:r>
              <a:rPr sz="2200" b="0" dirty="0" err="1">
                <a:solidFill>
                  <a:srgbClr val="262626"/>
                </a:solidFill>
                <a:latin typeface="Meiryo"/>
                <a:ea typeface="Meiryo"/>
                <a:cs typeface="Meiryo"/>
              </a:rPr>
              <a:t>を推定</a:t>
            </a:r>
            <a:r>
              <a:rPr lang="ja-JP" altLang="en-US" sz="2200" b="0">
                <a:solidFill>
                  <a:srgbClr val="262626"/>
                </a:solidFill>
                <a:latin typeface="Meiryo"/>
                <a:ea typeface="Meiryo"/>
                <a:cs typeface="Meiryo"/>
              </a:rPr>
              <a:t>。</a:t>
            </a:r>
            <a:endParaRPr lang="en-US" sz="2200" b="0" dirty="0">
              <a:solidFill>
                <a:srgbClr val="262626"/>
              </a:solidFill>
              <a:latin typeface="Meiryo"/>
              <a:ea typeface="Meiryo"/>
              <a:cs typeface="Meiryo"/>
            </a:endParaRPr>
          </a:p>
          <a:p>
            <a:pPr algn="l">
              <a:spcAft>
                <a:spcPts val="200"/>
              </a:spcAft>
            </a:pPr>
            <a:r>
              <a:rPr lang="ja-JP" altLang="en-US" sz="2200">
                <a:solidFill>
                  <a:srgbClr val="262626"/>
                </a:solidFill>
                <a:latin typeface="Meiryo"/>
                <a:ea typeface="Meiryo"/>
                <a:cs typeface="Meiryo"/>
              </a:rPr>
              <a:t>既存</a:t>
            </a:r>
            <a:r>
              <a:rPr lang="ja-JP" altLang="en-US" sz="2200" b="0">
                <a:solidFill>
                  <a:srgbClr val="262626"/>
                </a:solidFill>
                <a:latin typeface="Meiryo"/>
                <a:ea typeface="Meiryo"/>
                <a:cs typeface="Meiryo"/>
              </a:rPr>
              <a:t>の</a:t>
            </a:r>
            <a:r>
              <a:rPr lang="en-US" altLang="ja-JP" sz="2200" b="0" dirty="0">
                <a:solidFill>
                  <a:srgbClr val="262626"/>
                </a:solidFill>
                <a:latin typeface="Meiryo"/>
                <a:ea typeface="Meiryo"/>
                <a:cs typeface="Meiryo"/>
              </a:rPr>
              <a:t>PPG</a:t>
            </a:r>
            <a:r>
              <a:rPr lang="ja-JP" altLang="en-US" sz="2200" b="0">
                <a:solidFill>
                  <a:srgbClr val="262626"/>
                </a:solidFill>
                <a:latin typeface="Meiryo"/>
                <a:ea typeface="Meiryo"/>
                <a:cs typeface="Meiryo"/>
              </a:rPr>
              <a:t>から</a:t>
            </a:r>
            <a:r>
              <a:rPr lang="en-US" altLang="ja-JP" sz="2200" b="0" dirty="0">
                <a:solidFill>
                  <a:srgbClr val="262626"/>
                </a:solidFill>
                <a:latin typeface="Meiryo"/>
                <a:ea typeface="Meiryo"/>
                <a:cs typeface="Meiryo"/>
              </a:rPr>
              <a:t>LVET</a:t>
            </a:r>
            <a:r>
              <a:rPr lang="ja-JP" altLang="en-US" sz="2200" b="0">
                <a:solidFill>
                  <a:srgbClr val="262626"/>
                </a:solidFill>
                <a:latin typeface="Meiryo"/>
                <a:ea typeface="Meiryo"/>
                <a:cs typeface="Meiryo"/>
              </a:rPr>
              <a:t>を推定する方法との比較。</a:t>
            </a:r>
            <a:endParaRPr sz="2200" b="0" dirty="0">
              <a:solidFill>
                <a:srgbClr val="262626"/>
              </a:solidFill>
              <a:latin typeface="Meiryo"/>
              <a:ea typeface="Meiryo"/>
              <a:cs typeface="Meiryo"/>
            </a:endParaRPr>
          </a:p>
        </p:txBody>
      </p:sp>
      <p:sp>
        <p:nvSpPr>
          <p:cNvPr id="24" name="TextBox 23"/>
          <p:cNvSpPr txBox="1"/>
          <p:nvPr/>
        </p:nvSpPr>
        <p:spPr>
          <a:xfrm>
            <a:off x="457200" y="4151376"/>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結果</a:t>
            </a:r>
          </a:p>
        </p:txBody>
      </p:sp>
      <p:sp>
        <p:nvSpPr>
          <p:cNvPr id="25" name="TextBox 24"/>
          <p:cNvSpPr txBox="1"/>
          <p:nvPr/>
        </p:nvSpPr>
        <p:spPr>
          <a:xfrm>
            <a:off x="1737360" y="4151376"/>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推定誤差 15.84 ± 13.56 ms（既存法 23.01 ± 14.60）</a:t>
            </a:r>
          </a:p>
          <a:p>
            <a:pPr algn="l">
              <a:spcAft>
                <a:spcPts val="200"/>
              </a:spcAft>
            </a:pPr>
            <a:r>
              <a:rPr sz="2200" b="0">
                <a:solidFill>
                  <a:srgbClr val="262626"/>
                </a:solidFill>
                <a:latin typeface="Meiryo"/>
                <a:ea typeface="Meiryo"/>
                <a:cs typeface="Meiryo"/>
              </a:rPr>
              <a:t>心エコーとの相関は同等（0.73 vs 0.75）</a:t>
            </a:r>
          </a:p>
        </p:txBody>
      </p:sp>
      <p:sp>
        <p:nvSpPr>
          <p:cNvPr id="26" name="Rounded Rectangle 25"/>
          <p:cNvSpPr/>
          <p:nvPr/>
        </p:nvSpPr>
        <p:spPr>
          <a:xfrm>
            <a:off x="411480" y="5413248"/>
            <a:ext cx="11365992" cy="91440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nchorCtr="1"/>
          <a:lstStyle/>
          <a:p>
            <a:r>
              <a:rPr lang="en-US" altLang="ja-JP" sz="2800" b="1" dirty="0">
                <a:solidFill>
                  <a:srgbClr val="262626"/>
                </a:solidFill>
                <a:latin typeface="Meiryo"/>
                <a:ea typeface="Meiryo"/>
                <a:cs typeface="Meiryo"/>
              </a:rPr>
              <a:t>PDA</a:t>
            </a:r>
            <a:r>
              <a:rPr lang="ja-JP" altLang="en-US" sz="2800" b="1">
                <a:solidFill>
                  <a:srgbClr val="262626"/>
                </a:solidFill>
                <a:latin typeface="Meiryo"/>
                <a:ea typeface="Meiryo"/>
                <a:cs typeface="Meiryo"/>
              </a:rPr>
              <a:t>から得られた指標が他モダリティと関連する。</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87/118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4">
            <a:extLst>
              <a:ext uri="{FF2B5EF4-FFF2-40B4-BE49-F238E27FC236}">
                <a16:creationId xmlns:a16="http://schemas.microsoft.com/office/drawing/2014/main" id="{AA9D36CE-3772-F005-B54C-9329ADA7F086}"/>
              </a:ext>
            </a:extLst>
          </p:cNvPr>
          <p:cNvSpPr/>
          <p:nvPr/>
        </p:nvSpPr>
        <p:spPr>
          <a:xfrm>
            <a:off x="1085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5.4  Couceiro 2015</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33. Couceiro 2015</a:t>
            </a:r>
          </a:p>
        </p:txBody>
      </p:sp>
      <p:sp>
        <p:nvSpPr>
          <p:cNvPr id="18" name="Rounded Rectangle 17"/>
          <p:cNvSpPr/>
          <p:nvPr/>
        </p:nvSpPr>
        <p:spPr>
          <a:xfrm>
            <a:off x="411480" y="1664208"/>
            <a:ext cx="11365992" cy="9144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4360" y="1883664"/>
            <a:ext cx="11000232" cy="384721"/>
          </a:xfrm>
          <a:prstGeom prst="rect">
            <a:avLst/>
          </a:prstGeom>
          <a:noFill/>
        </p:spPr>
        <p:txBody>
          <a:bodyPr wrap="square" lIns="0" tIns="0" rIns="0" bIns="0" anchor="t">
            <a:spAutoFit/>
          </a:bodyPr>
          <a:lstStyle/>
          <a:p>
            <a:pPr algn="l"/>
            <a:r>
              <a:rPr sz="2500" b="1" dirty="0">
                <a:solidFill>
                  <a:srgbClr val="D55E00"/>
                </a:solidFill>
                <a:latin typeface="Meiryo"/>
                <a:ea typeface="Meiryo"/>
                <a:cs typeface="Meiryo"/>
              </a:rPr>
              <a:t>④ </a:t>
            </a:r>
            <a:r>
              <a:rPr sz="2500" b="1" dirty="0" err="1">
                <a:solidFill>
                  <a:srgbClr val="D55E00"/>
                </a:solidFill>
                <a:latin typeface="Meiryo"/>
                <a:ea typeface="Meiryo"/>
                <a:cs typeface="Meiryo"/>
              </a:rPr>
              <a:t>ガウス分解から血圧・血管抵抗まで対比</a:t>
            </a:r>
            <a:r>
              <a:rPr lang="ja-JP" altLang="en-US" sz="2500" b="1">
                <a:solidFill>
                  <a:srgbClr val="D55E00"/>
                </a:solidFill>
                <a:latin typeface="Meiryo"/>
                <a:ea typeface="Meiryo"/>
                <a:cs typeface="Meiryo"/>
              </a:rPr>
              <a:t>。</a:t>
            </a:r>
            <a:endParaRPr sz="2500" b="1" dirty="0">
              <a:solidFill>
                <a:srgbClr val="D55E00"/>
              </a:solidFill>
              <a:latin typeface="Meiryo"/>
              <a:ea typeface="Meiryo"/>
              <a:cs typeface="Meiryo"/>
            </a:endParaRPr>
          </a:p>
        </p:txBody>
      </p:sp>
      <p:sp>
        <p:nvSpPr>
          <p:cNvPr id="20" name="TextBox 19"/>
          <p:cNvSpPr txBox="1"/>
          <p:nvPr/>
        </p:nvSpPr>
        <p:spPr>
          <a:xfrm>
            <a:off x="457200" y="2816352"/>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対象</a:t>
            </a:r>
          </a:p>
        </p:txBody>
      </p:sp>
      <p:sp>
        <p:nvSpPr>
          <p:cNvPr id="21" name="TextBox 20"/>
          <p:cNvSpPr txBox="1"/>
          <p:nvPr/>
        </p:nvSpPr>
        <p:spPr>
          <a:xfrm>
            <a:off x="1737360" y="2816352"/>
            <a:ext cx="10058400" cy="702756"/>
          </a:xfrm>
          <a:prstGeom prst="rect">
            <a:avLst/>
          </a:prstGeom>
          <a:noFill/>
        </p:spPr>
        <p:txBody>
          <a:bodyPr wrap="square" lIns="0" tIns="0" rIns="0" bIns="0" anchor="t">
            <a:spAutoFit/>
          </a:bodyPr>
          <a:lstStyle/>
          <a:p>
            <a:pPr algn="l">
              <a:spcAft>
                <a:spcPts val="200"/>
              </a:spcAft>
            </a:pPr>
            <a:r>
              <a:rPr sz="2200" b="0" dirty="0">
                <a:solidFill>
                  <a:srgbClr val="262626"/>
                </a:solidFill>
                <a:latin typeface="Meiryo"/>
                <a:ea typeface="Meiryo"/>
                <a:cs typeface="Meiryo"/>
              </a:rPr>
              <a:t>LVET </a:t>
            </a:r>
            <a:r>
              <a:rPr sz="2200" b="0" dirty="0" err="1">
                <a:solidFill>
                  <a:srgbClr val="262626"/>
                </a:solidFill>
                <a:latin typeface="Meiryo"/>
                <a:ea typeface="Meiryo"/>
                <a:cs typeface="Meiryo"/>
              </a:rPr>
              <a:t>の検証は健常＋心血管疾患</a:t>
            </a:r>
            <a:r>
              <a:rPr sz="2200" b="0" dirty="0">
                <a:solidFill>
                  <a:srgbClr val="262626"/>
                </a:solidFill>
                <a:latin typeface="Meiryo"/>
                <a:ea typeface="Meiryo"/>
                <a:cs typeface="Meiryo"/>
              </a:rPr>
              <a:t> 68 </a:t>
            </a:r>
            <a:r>
              <a:rPr sz="2200" b="0" dirty="0" err="1">
                <a:solidFill>
                  <a:srgbClr val="262626"/>
                </a:solidFill>
                <a:latin typeface="Meiryo"/>
                <a:ea typeface="Meiryo"/>
                <a:cs typeface="Meiryo"/>
              </a:rPr>
              <a:t>名。</a:t>
            </a:r>
            <a:endParaRPr sz="2200" b="0" dirty="0">
              <a:solidFill>
                <a:srgbClr val="262626"/>
              </a:solidFill>
              <a:latin typeface="Meiryo"/>
              <a:ea typeface="Meiryo"/>
              <a:cs typeface="Meiryo"/>
            </a:endParaRPr>
          </a:p>
          <a:p>
            <a:pPr algn="l">
              <a:spcAft>
                <a:spcPts val="200"/>
              </a:spcAft>
            </a:pPr>
            <a:r>
              <a:rPr sz="2200" b="0" dirty="0" err="1">
                <a:solidFill>
                  <a:srgbClr val="262626"/>
                </a:solidFill>
                <a:latin typeface="Meiryo"/>
                <a:ea typeface="Meiryo"/>
                <a:cs typeface="Meiryo"/>
              </a:rPr>
              <a:t>血圧・血管抵抗の対比は</a:t>
            </a:r>
            <a:r>
              <a:rPr lang="ja-JP" altLang="en-US" sz="2200" b="0">
                <a:solidFill>
                  <a:srgbClr val="262626"/>
                </a:solidFill>
                <a:latin typeface="Meiryo"/>
                <a:ea typeface="Meiryo"/>
                <a:cs typeface="Meiryo"/>
              </a:rPr>
              <a:t>ヘッドアップティルト</a:t>
            </a:r>
            <a:r>
              <a:rPr sz="2200" b="0" dirty="0">
                <a:solidFill>
                  <a:srgbClr val="262626"/>
                </a:solidFill>
                <a:latin typeface="Meiryo"/>
                <a:ea typeface="Meiryo"/>
                <a:cs typeface="Meiryo"/>
              </a:rPr>
              <a:t> 43 </a:t>
            </a:r>
            <a:r>
              <a:rPr sz="2200" b="0" dirty="0" err="1">
                <a:solidFill>
                  <a:srgbClr val="262626"/>
                </a:solidFill>
                <a:latin typeface="Meiryo"/>
                <a:ea typeface="Meiryo"/>
                <a:cs typeface="Meiryo"/>
              </a:rPr>
              <a:t>名</a:t>
            </a:r>
            <a:r>
              <a:rPr lang="ja-JP" altLang="en-US" sz="2200" b="0">
                <a:solidFill>
                  <a:srgbClr val="262626"/>
                </a:solidFill>
                <a:latin typeface="Meiryo"/>
                <a:ea typeface="Meiryo"/>
                <a:cs typeface="Meiryo"/>
              </a:rPr>
              <a:t>（陽性者</a:t>
            </a:r>
            <a:r>
              <a:rPr lang="en-US" altLang="ja-JP" sz="2200" b="0" dirty="0">
                <a:solidFill>
                  <a:srgbClr val="262626"/>
                </a:solidFill>
                <a:latin typeface="Meiryo"/>
                <a:ea typeface="Meiryo"/>
                <a:cs typeface="Meiryo"/>
              </a:rPr>
              <a:t>21</a:t>
            </a:r>
            <a:r>
              <a:rPr lang="ja-JP" altLang="en-US" sz="2200" b="0">
                <a:solidFill>
                  <a:srgbClr val="262626"/>
                </a:solidFill>
                <a:latin typeface="Meiryo"/>
                <a:ea typeface="Meiryo"/>
                <a:cs typeface="Meiryo"/>
              </a:rPr>
              <a:t>名）</a:t>
            </a:r>
            <a:endParaRPr sz="2200" b="0" dirty="0">
              <a:solidFill>
                <a:srgbClr val="262626"/>
              </a:solidFill>
              <a:latin typeface="Meiryo"/>
              <a:ea typeface="Meiryo"/>
              <a:cs typeface="Meiryo"/>
            </a:endParaRPr>
          </a:p>
        </p:txBody>
      </p:sp>
      <p:sp>
        <p:nvSpPr>
          <p:cNvPr id="22" name="TextBox 21"/>
          <p:cNvSpPr txBox="1"/>
          <p:nvPr/>
        </p:nvSpPr>
        <p:spPr>
          <a:xfrm>
            <a:off x="457200" y="3675888"/>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方法</a:t>
            </a:r>
          </a:p>
        </p:txBody>
      </p:sp>
      <p:sp>
        <p:nvSpPr>
          <p:cNvPr id="23" name="TextBox 22"/>
          <p:cNvSpPr txBox="1"/>
          <p:nvPr/>
        </p:nvSpPr>
        <p:spPr>
          <a:xfrm>
            <a:off x="1737360" y="3675888"/>
            <a:ext cx="10058400" cy="702756"/>
          </a:xfrm>
          <a:prstGeom prst="rect">
            <a:avLst/>
          </a:prstGeom>
          <a:noFill/>
        </p:spPr>
        <p:txBody>
          <a:bodyPr wrap="square" lIns="0" tIns="0" rIns="0" bIns="0" anchor="t">
            <a:spAutoFit/>
          </a:bodyPr>
          <a:lstStyle/>
          <a:p>
            <a:pPr algn="l">
              <a:spcAft>
                <a:spcPts val="200"/>
              </a:spcAft>
            </a:pPr>
            <a:r>
              <a:rPr sz="2200" b="0" dirty="0" err="1">
                <a:solidFill>
                  <a:srgbClr val="262626"/>
                </a:solidFill>
                <a:latin typeface="Meiryo"/>
                <a:ea typeface="Meiryo"/>
                <a:cs typeface="Meiryo"/>
              </a:rPr>
              <a:t>ガウス関数</a:t>
            </a:r>
            <a:r>
              <a:rPr lang="ja-JP" altLang="en-US" sz="2200" b="0">
                <a:solidFill>
                  <a:srgbClr val="262626"/>
                </a:solidFill>
                <a:latin typeface="Meiryo"/>
                <a:ea typeface="Meiryo"/>
                <a:cs typeface="Meiryo"/>
              </a:rPr>
              <a:t>で</a:t>
            </a:r>
            <a:r>
              <a:rPr lang="en-US" altLang="ja-JP" sz="2200" b="0" dirty="0">
                <a:solidFill>
                  <a:srgbClr val="262626"/>
                </a:solidFill>
                <a:latin typeface="Meiryo"/>
                <a:ea typeface="Meiryo"/>
                <a:cs typeface="Meiryo"/>
              </a:rPr>
              <a:t>5</a:t>
            </a:r>
            <a:r>
              <a:rPr lang="ja-JP" altLang="en-US" sz="2200" b="0">
                <a:solidFill>
                  <a:srgbClr val="262626"/>
                </a:solidFill>
                <a:latin typeface="Meiryo"/>
                <a:ea typeface="Meiryo"/>
                <a:cs typeface="Meiryo"/>
              </a:rPr>
              <a:t>カーネル　</a:t>
            </a:r>
            <a:r>
              <a:rPr lang="en-US" altLang="ja-JP" sz="2200" b="0" dirty="0">
                <a:solidFill>
                  <a:srgbClr val="262626"/>
                </a:solidFill>
                <a:latin typeface="Meiryo"/>
                <a:ea typeface="Meiryo"/>
                <a:cs typeface="Meiryo"/>
              </a:rPr>
              <a:t>LVET</a:t>
            </a:r>
            <a:r>
              <a:rPr lang="ja-JP" altLang="en-US" sz="2200" b="0">
                <a:solidFill>
                  <a:srgbClr val="262626"/>
                </a:solidFill>
                <a:latin typeface="Meiryo"/>
                <a:ea typeface="Meiryo"/>
                <a:cs typeface="Meiryo"/>
              </a:rPr>
              <a:t>を既報と比較。</a:t>
            </a:r>
            <a:endParaRPr lang="en-US" altLang="ja-JP" sz="2200" b="0" dirty="0">
              <a:solidFill>
                <a:srgbClr val="262626"/>
              </a:solidFill>
              <a:latin typeface="Meiryo"/>
              <a:ea typeface="Meiryo"/>
              <a:cs typeface="Meiryo"/>
            </a:endParaRPr>
          </a:p>
          <a:p>
            <a:pPr algn="l">
              <a:spcAft>
                <a:spcPts val="200"/>
              </a:spcAft>
            </a:pPr>
            <a:r>
              <a:rPr lang="ja-JP" altLang="en-US" sz="2200" b="0">
                <a:solidFill>
                  <a:srgbClr val="262626"/>
                </a:solidFill>
                <a:latin typeface="Meiryo"/>
                <a:ea typeface="Meiryo"/>
                <a:cs typeface="Meiryo"/>
              </a:rPr>
              <a:t>成分波の</a:t>
            </a:r>
            <a:r>
              <a:rPr sz="2200" b="0" dirty="0">
                <a:solidFill>
                  <a:srgbClr val="262626"/>
                </a:solidFill>
                <a:latin typeface="Meiryo"/>
                <a:ea typeface="Meiryo"/>
                <a:cs typeface="Meiryo"/>
              </a:rPr>
              <a:t>SI・RI</a:t>
            </a:r>
            <a:r>
              <a:rPr lang="ja-JP" altLang="en-US" sz="2200" b="0">
                <a:solidFill>
                  <a:srgbClr val="262626"/>
                </a:solidFill>
                <a:latin typeface="Meiryo"/>
                <a:ea typeface="Meiryo"/>
                <a:cs typeface="Meiryo"/>
              </a:rPr>
              <a:t>を血圧や</a:t>
            </a:r>
            <a:r>
              <a:rPr sz="2200" b="0" dirty="0">
                <a:solidFill>
                  <a:srgbClr val="262626"/>
                </a:solidFill>
                <a:latin typeface="Meiryo"/>
                <a:ea typeface="Meiryo"/>
                <a:cs typeface="Meiryo"/>
              </a:rPr>
              <a:t> </a:t>
            </a:r>
            <a:r>
              <a:rPr lang="en-US" sz="2200" dirty="0" err="1">
                <a:solidFill>
                  <a:srgbClr val="262626"/>
                </a:solidFill>
                <a:latin typeface="Meiryo"/>
                <a:ea typeface="Meiryo"/>
                <a:cs typeface="Meiryo"/>
              </a:rPr>
              <a:t>末梢血管抵抗係数と比較。</a:t>
            </a:r>
            <a:endParaRPr sz="2200" b="0" dirty="0">
              <a:solidFill>
                <a:srgbClr val="262626"/>
              </a:solidFill>
              <a:latin typeface="Meiryo"/>
              <a:ea typeface="Meiryo"/>
              <a:cs typeface="Meiryo"/>
            </a:endParaRPr>
          </a:p>
        </p:txBody>
      </p:sp>
      <p:sp>
        <p:nvSpPr>
          <p:cNvPr id="24" name="TextBox 23"/>
          <p:cNvSpPr txBox="1"/>
          <p:nvPr/>
        </p:nvSpPr>
        <p:spPr>
          <a:xfrm>
            <a:off x="457200" y="4535424"/>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結果</a:t>
            </a:r>
          </a:p>
        </p:txBody>
      </p:sp>
      <p:sp>
        <p:nvSpPr>
          <p:cNvPr id="25" name="TextBox 24"/>
          <p:cNvSpPr txBox="1"/>
          <p:nvPr/>
        </p:nvSpPr>
        <p:spPr>
          <a:xfrm>
            <a:off x="1737360" y="4535424"/>
            <a:ext cx="10058400" cy="702756"/>
          </a:xfrm>
          <a:prstGeom prst="rect">
            <a:avLst/>
          </a:prstGeom>
          <a:noFill/>
        </p:spPr>
        <p:txBody>
          <a:bodyPr wrap="square" lIns="0" tIns="0" rIns="0" bIns="0" anchor="t">
            <a:spAutoFit/>
          </a:bodyPr>
          <a:lstStyle/>
          <a:p>
            <a:pPr algn="l">
              <a:spcAft>
                <a:spcPts val="200"/>
              </a:spcAft>
            </a:pPr>
            <a:r>
              <a:rPr sz="2200" b="0" dirty="0">
                <a:solidFill>
                  <a:srgbClr val="262626"/>
                </a:solidFill>
                <a:latin typeface="Meiryo"/>
                <a:ea typeface="Meiryo"/>
                <a:cs typeface="Meiryo"/>
              </a:rPr>
              <a:t>LVET </a:t>
            </a:r>
            <a:r>
              <a:rPr sz="2200" b="0" dirty="0" err="1">
                <a:solidFill>
                  <a:srgbClr val="262626"/>
                </a:solidFill>
                <a:latin typeface="Meiryo"/>
                <a:ea typeface="Meiryo"/>
                <a:cs typeface="Meiryo"/>
              </a:rPr>
              <a:t>絶対誤差</a:t>
            </a:r>
            <a:r>
              <a:rPr sz="2200" b="0" dirty="0">
                <a:solidFill>
                  <a:srgbClr val="262626"/>
                </a:solidFill>
                <a:latin typeface="Meiryo"/>
                <a:ea typeface="Meiryo"/>
                <a:cs typeface="Meiryo"/>
              </a:rPr>
              <a:t> 15.41 ± 13.66 </a:t>
            </a:r>
            <a:r>
              <a:rPr sz="2200" b="0" dirty="0" err="1">
                <a:solidFill>
                  <a:srgbClr val="262626"/>
                </a:solidFill>
                <a:latin typeface="Meiryo"/>
                <a:ea typeface="Meiryo"/>
                <a:cs typeface="Meiryo"/>
              </a:rPr>
              <a:t>ms（ρ</a:t>
            </a:r>
            <a:r>
              <a:rPr sz="2200" b="0" dirty="0">
                <a:solidFill>
                  <a:srgbClr val="262626"/>
                </a:solidFill>
                <a:latin typeface="Meiryo"/>
                <a:ea typeface="Meiryo"/>
                <a:cs typeface="Meiryo"/>
              </a:rPr>
              <a:t>=0.78）</a:t>
            </a:r>
            <a:r>
              <a:rPr lang="ja-JP" altLang="en-US" sz="2200" b="0">
                <a:solidFill>
                  <a:srgbClr val="262626"/>
                </a:solidFill>
                <a:latin typeface="Meiryo"/>
                <a:ea typeface="Meiryo"/>
                <a:cs typeface="Meiryo"/>
              </a:rPr>
              <a:t>　心エコーの誤差率と同等。</a:t>
            </a:r>
            <a:endParaRPr lang="en-US" altLang="ja-JP" sz="2200" b="0" dirty="0">
              <a:solidFill>
                <a:srgbClr val="262626"/>
              </a:solidFill>
              <a:latin typeface="Meiryo"/>
              <a:ea typeface="Meiryo"/>
              <a:cs typeface="Meiryo"/>
            </a:endParaRPr>
          </a:p>
          <a:p>
            <a:pPr algn="l">
              <a:spcAft>
                <a:spcPts val="200"/>
              </a:spcAft>
            </a:pPr>
            <a:r>
              <a:rPr lang="en-US" altLang="ja-JP" sz="2200" b="0" dirty="0">
                <a:solidFill>
                  <a:srgbClr val="262626"/>
                </a:solidFill>
                <a:latin typeface="Meiryo"/>
                <a:ea typeface="Meiryo"/>
                <a:cs typeface="Meiryo"/>
              </a:rPr>
              <a:t>SI</a:t>
            </a:r>
            <a:r>
              <a:rPr lang="ja-JP" altLang="en-US" sz="2200" b="0">
                <a:solidFill>
                  <a:srgbClr val="262626"/>
                </a:solidFill>
                <a:latin typeface="Meiryo"/>
                <a:ea typeface="Meiryo"/>
                <a:cs typeface="Meiryo"/>
              </a:rPr>
              <a:t>、</a:t>
            </a:r>
            <a:r>
              <a:rPr lang="en-US" altLang="ja-JP" sz="2200" b="0" dirty="0">
                <a:solidFill>
                  <a:srgbClr val="262626"/>
                </a:solidFill>
                <a:latin typeface="Meiryo"/>
                <a:ea typeface="Meiryo"/>
                <a:cs typeface="Meiryo"/>
              </a:rPr>
              <a:t>RI</a:t>
            </a:r>
            <a:r>
              <a:rPr lang="ja-JP" altLang="en-US" sz="2200" b="0">
                <a:solidFill>
                  <a:srgbClr val="262626"/>
                </a:solidFill>
                <a:latin typeface="Meiryo"/>
                <a:ea typeface="Meiryo"/>
                <a:cs typeface="Meiryo"/>
              </a:rPr>
              <a:t>との関連はそこそこ。</a:t>
            </a:r>
            <a:endParaRPr sz="2200" b="0" dirty="0">
              <a:solidFill>
                <a:srgbClr val="262626"/>
              </a:solidFill>
              <a:latin typeface="Meiryo"/>
              <a:ea typeface="Meiryo"/>
              <a:cs typeface="Meiryo"/>
            </a:endParaRPr>
          </a:p>
        </p:txBody>
      </p:sp>
      <p:sp>
        <p:nvSpPr>
          <p:cNvPr id="26" name="Rounded Rectangle 25"/>
          <p:cNvSpPr/>
          <p:nvPr/>
        </p:nvSpPr>
        <p:spPr>
          <a:xfrm>
            <a:off x="411480" y="5413248"/>
            <a:ext cx="11365992" cy="91440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nchorCtr="1"/>
          <a:lstStyle/>
          <a:p>
            <a:r>
              <a:rPr lang="en-US" altLang="ja-JP" sz="2800" b="1" dirty="0">
                <a:solidFill>
                  <a:srgbClr val="262626"/>
                </a:solidFill>
                <a:latin typeface="Meiryo"/>
                <a:ea typeface="Meiryo"/>
                <a:cs typeface="Meiryo"/>
              </a:rPr>
              <a:t>SI,RI</a:t>
            </a:r>
            <a:r>
              <a:rPr lang="ja-JP" altLang="en-US" sz="2800" b="1">
                <a:solidFill>
                  <a:srgbClr val="262626"/>
                </a:solidFill>
                <a:latin typeface="Meiryo"/>
                <a:ea typeface="Meiryo"/>
                <a:cs typeface="Meiryo"/>
              </a:rPr>
              <a:t>ともティルト陽性群で相関が上がる。</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88/118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4">
            <a:extLst>
              <a:ext uri="{FF2B5EF4-FFF2-40B4-BE49-F238E27FC236}">
                <a16:creationId xmlns:a16="http://schemas.microsoft.com/office/drawing/2014/main" id="{AA9D36CE-3772-F005-B54C-9329ADA7F086}"/>
              </a:ext>
            </a:extLst>
          </p:cNvPr>
          <p:cNvSpPr/>
          <p:nvPr/>
        </p:nvSpPr>
        <p:spPr>
          <a:xfrm>
            <a:off x="1085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5.4  Tigges 2017</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43. Tigges 2017</a:t>
            </a:r>
          </a:p>
        </p:txBody>
      </p:sp>
      <p:sp>
        <p:nvSpPr>
          <p:cNvPr id="18" name="Rounded Rectangle 17"/>
          <p:cNvSpPr/>
          <p:nvPr/>
        </p:nvSpPr>
        <p:spPr>
          <a:xfrm>
            <a:off x="411480" y="1664208"/>
            <a:ext cx="11365992" cy="9144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4360" y="1883664"/>
            <a:ext cx="11000232" cy="384721"/>
          </a:xfrm>
          <a:prstGeom prst="rect">
            <a:avLst/>
          </a:prstGeom>
          <a:noFill/>
        </p:spPr>
        <p:txBody>
          <a:bodyPr wrap="square" lIns="0" tIns="0" rIns="0" bIns="0" anchor="t">
            <a:spAutoFit/>
          </a:bodyPr>
          <a:lstStyle/>
          <a:p>
            <a:pPr algn="l"/>
            <a:r>
              <a:rPr sz="2500" b="1" dirty="0">
                <a:solidFill>
                  <a:srgbClr val="C00000"/>
                </a:solidFill>
                <a:latin typeface="Meiryo"/>
                <a:ea typeface="Meiryo"/>
                <a:cs typeface="Meiryo"/>
              </a:rPr>
              <a:t>⑤</a:t>
            </a:r>
            <a:r>
              <a:rPr lang="ja-JP" altLang="en-US" sz="2500" b="1">
                <a:solidFill>
                  <a:srgbClr val="C00000"/>
                </a:solidFill>
                <a:latin typeface="Meiryo"/>
                <a:ea typeface="Meiryo"/>
                <a:cs typeface="Meiryo"/>
              </a:rPr>
              <a:t> 最良のモデル選択について検討。</a:t>
            </a:r>
            <a:endParaRPr sz="2500" b="1" dirty="0">
              <a:solidFill>
                <a:srgbClr val="C00000"/>
              </a:solidFill>
              <a:latin typeface="Meiryo"/>
              <a:ea typeface="Meiryo"/>
              <a:cs typeface="Meiryo"/>
            </a:endParaRPr>
          </a:p>
        </p:txBody>
      </p:sp>
      <p:sp>
        <p:nvSpPr>
          <p:cNvPr id="20" name="TextBox 19"/>
          <p:cNvSpPr txBox="1"/>
          <p:nvPr/>
        </p:nvSpPr>
        <p:spPr>
          <a:xfrm>
            <a:off x="457200" y="2816352"/>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対象</a:t>
            </a:r>
          </a:p>
        </p:txBody>
      </p:sp>
      <p:sp>
        <p:nvSpPr>
          <p:cNvPr id="21" name="TextBox 20"/>
          <p:cNvSpPr txBox="1"/>
          <p:nvPr/>
        </p:nvSpPr>
        <p:spPr>
          <a:xfrm>
            <a:off x="1737360" y="2816352"/>
            <a:ext cx="10058400" cy="41148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ほとんどの波形形態を含む指尖容積脈波 7,805 拍。</a:t>
            </a:r>
          </a:p>
        </p:txBody>
      </p:sp>
      <p:sp>
        <p:nvSpPr>
          <p:cNvPr id="22" name="TextBox 21"/>
          <p:cNvSpPr txBox="1"/>
          <p:nvPr/>
        </p:nvSpPr>
        <p:spPr>
          <a:xfrm>
            <a:off x="457200" y="3291840"/>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方法</a:t>
            </a:r>
          </a:p>
        </p:txBody>
      </p:sp>
      <p:sp>
        <p:nvSpPr>
          <p:cNvPr id="23" name="TextBox 22"/>
          <p:cNvSpPr txBox="1"/>
          <p:nvPr/>
        </p:nvSpPr>
        <p:spPr>
          <a:xfrm>
            <a:off x="1737360" y="3291840"/>
            <a:ext cx="10058400" cy="822960"/>
          </a:xfrm>
          <a:prstGeom prst="rect">
            <a:avLst/>
          </a:prstGeom>
          <a:noFill/>
        </p:spPr>
        <p:txBody>
          <a:bodyPr wrap="square" lIns="0" tIns="0" rIns="0" bIns="0" anchor="t">
            <a:spAutoFit/>
          </a:bodyPr>
          <a:lstStyle/>
          <a:p>
            <a:pPr algn="l">
              <a:spcAft>
                <a:spcPts val="200"/>
              </a:spcAft>
            </a:pPr>
            <a:r>
              <a:rPr sz="2200" b="0" dirty="0">
                <a:solidFill>
                  <a:srgbClr val="262626"/>
                </a:solidFill>
                <a:latin typeface="Meiryo"/>
                <a:ea typeface="Meiryo"/>
                <a:cs typeface="Meiryo"/>
              </a:rPr>
              <a:t>4 </a:t>
            </a:r>
            <a:r>
              <a:rPr sz="2200" b="0" dirty="0" err="1">
                <a:solidFill>
                  <a:srgbClr val="262626"/>
                </a:solidFill>
                <a:latin typeface="Meiryo"/>
                <a:ea typeface="Meiryo"/>
                <a:cs typeface="Meiryo"/>
              </a:rPr>
              <a:t>種類の基底関数とモデル次数を総当たりし</a:t>
            </a:r>
            <a:r>
              <a:rPr sz="2200" b="0" dirty="0">
                <a:solidFill>
                  <a:srgbClr val="262626"/>
                </a:solidFill>
                <a:latin typeface="Meiryo"/>
                <a:ea typeface="Meiryo"/>
                <a:cs typeface="Meiryo"/>
              </a:rPr>
              <a:t>、</a:t>
            </a:r>
          </a:p>
          <a:p>
            <a:pPr algn="l">
              <a:spcAft>
                <a:spcPts val="200"/>
              </a:spcAft>
            </a:pPr>
            <a:r>
              <a:rPr sz="2200" b="0" dirty="0" err="1">
                <a:solidFill>
                  <a:srgbClr val="262626"/>
                </a:solidFill>
                <a:latin typeface="Meiryo"/>
                <a:ea typeface="Meiryo"/>
                <a:cs typeface="Meiryo"/>
              </a:rPr>
              <a:t>補正赤池情報量規準（AICc）で最良モデルを選択。</a:t>
            </a:r>
            <a:endParaRPr sz="2200" b="0" dirty="0">
              <a:solidFill>
                <a:srgbClr val="262626"/>
              </a:solidFill>
              <a:latin typeface="Meiryo"/>
              <a:ea typeface="Meiryo"/>
              <a:cs typeface="Meiryo"/>
            </a:endParaRPr>
          </a:p>
        </p:txBody>
      </p:sp>
      <p:sp>
        <p:nvSpPr>
          <p:cNvPr id="24" name="TextBox 23"/>
          <p:cNvSpPr txBox="1"/>
          <p:nvPr/>
        </p:nvSpPr>
        <p:spPr>
          <a:xfrm>
            <a:off x="457200" y="4151376"/>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結果</a:t>
            </a:r>
          </a:p>
        </p:txBody>
      </p:sp>
      <p:sp>
        <p:nvSpPr>
          <p:cNvPr id="25" name="TextBox 24"/>
          <p:cNvSpPr txBox="1"/>
          <p:nvPr/>
        </p:nvSpPr>
        <p:spPr>
          <a:xfrm>
            <a:off x="1737360" y="4151376"/>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最頻の最良モデル（Gamma 3 個）でも 28.1%。</a:t>
            </a:r>
          </a:p>
          <a:p>
            <a:pPr algn="l">
              <a:spcAft>
                <a:spcPts val="200"/>
              </a:spcAft>
            </a:pPr>
            <a:r>
              <a:rPr sz="2200" b="0">
                <a:solidFill>
                  <a:srgbClr val="262626"/>
                </a:solidFill>
                <a:latin typeface="Meiryo"/>
                <a:ea typeface="Meiryo"/>
                <a:cs typeface="Meiryo"/>
              </a:rPr>
              <a:t>次点の Rayleigh 2 個が 14.4%。足しても半数未満。</a:t>
            </a:r>
          </a:p>
        </p:txBody>
      </p:sp>
      <p:sp>
        <p:nvSpPr>
          <p:cNvPr id="26" name="Rounded Rectangle 25"/>
          <p:cNvSpPr/>
          <p:nvPr/>
        </p:nvSpPr>
        <p:spPr>
          <a:xfrm>
            <a:off x="411480" y="5413248"/>
            <a:ext cx="11365992" cy="91440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nchorCtr="1"/>
          <a:lstStyle/>
          <a:p>
            <a:r>
              <a:rPr lang="ja-JP" altLang="en-US" sz="2800" b="1">
                <a:solidFill>
                  <a:srgbClr val="262626"/>
                </a:solidFill>
                <a:latin typeface="Meiryo"/>
                <a:ea typeface="Meiryo"/>
                <a:cs typeface="Meiryo"/>
              </a:rPr>
              <a:t>最良の基底関数、最良のカーネル数についてはばらつきがある。</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89/118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4">
            <a:extLst>
              <a:ext uri="{FF2B5EF4-FFF2-40B4-BE49-F238E27FC236}">
                <a16:creationId xmlns:a16="http://schemas.microsoft.com/office/drawing/2014/main" id="{AA9D36CE-3772-F005-B54C-9329ADA7F086}"/>
              </a:ext>
            </a:extLst>
          </p:cNvPr>
          <p:cNvSpPr/>
          <p:nvPr/>
        </p:nvSpPr>
        <p:spPr>
          <a:xfrm>
            <a:off x="1085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5.4  Fleischhauer</a:t>
            </a:r>
            <a:r>
              <a:rPr lang="en-US" sz="4600" dirty="0">
                <a:latin typeface="Meiryo"/>
                <a:ea typeface="Meiryo"/>
                <a:cs typeface="Meiryo"/>
              </a:rPr>
              <a:t> 2020</a:t>
            </a:r>
            <a:endParaRPr sz="4600" dirty="0">
              <a:latin typeface="Meiryo"/>
              <a:ea typeface="Meiryo"/>
              <a:cs typeface="Meiryo"/>
            </a:endParaRP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36. Fleischhauer 2020</a:t>
            </a:r>
          </a:p>
        </p:txBody>
      </p:sp>
      <p:sp>
        <p:nvSpPr>
          <p:cNvPr id="18" name="Rounded Rectangle 17"/>
          <p:cNvSpPr/>
          <p:nvPr/>
        </p:nvSpPr>
        <p:spPr>
          <a:xfrm>
            <a:off x="411480" y="1664208"/>
            <a:ext cx="11365992" cy="9144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4360" y="1883664"/>
            <a:ext cx="11000232" cy="502920"/>
          </a:xfrm>
          <a:prstGeom prst="rect">
            <a:avLst/>
          </a:prstGeom>
          <a:noFill/>
        </p:spPr>
        <p:txBody>
          <a:bodyPr wrap="square" lIns="0" tIns="0" rIns="0" bIns="0" anchor="t">
            <a:spAutoFit/>
          </a:bodyPr>
          <a:lstStyle/>
          <a:p>
            <a:pPr algn="l"/>
            <a:r>
              <a:rPr sz="2500" b="1" dirty="0">
                <a:solidFill>
                  <a:srgbClr val="00A8AA"/>
                </a:solidFill>
                <a:latin typeface="Meiryo"/>
                <a:ea typeface="Meiryo"/>
                <a:cs typeface="Meiryo"/>
              </a:rPr>
              <a:t>⑥ Gamma ＋ </a:t>
            </a:r>
            <a:r>
              <a:rPr sz="2500" b="1" dirty="0" err="1">
                <a:solidFill>
                  <a:srgbClr val="00A8AA"/>
                </a:solidFill>
                <a:latin typeface="Meiryo"/>
                <a:ea typeface="Meiryo"/>
                <a:cs typeface="Meiryo"/>
              </a:rPr>
              <a:t>Gaussian、カーネル</a:t>
            </a:r>
            <a:r>
              <a:rPr sz="2500" b="1" dirty="0">
                <a:solidFill>
                  <a:srgbClr val="00A8AA"/>
                </a:solidFill>
                <a:latin typeface="Meiryo"/>
                <a:ea typeface="Meiryo"/>
                <a:cs typeface="Meiryo"/>
              </a:rPr>
              <a:t> 2 </a:t>
            </a:r>
            <a:r>
              <a:rPr sz="2500" b="1" dirty="0" err="1">
                <a:solidFill>
                  <a:srgbClr val="00A8AA"/>
                </a:solidFill>
                <a:latin typeface="Meiryo"/>
                <a:ea typeface="Meiryo"/>
                <a:cs typeface="Meiryo"/>
              </a:rPr>
              <a:t>個が最も頑健。</a:t>
            </a:r>
            <a:endParaRPr sz="2500" b="1" dirty="0">
              <a:solidFill>
                <a:srgbClr val="00A8AA"/>
              </a:solidFill>
              <a:latin typeface="Meiryo"/>
              <a:ea typeface="Meiryo"/>
              <a:cs typeface="Meiryo"/>
            </a:endParaRPr>
          </a:p>
        </p:txBody>
      </p:sp>
      <p:sp>
        <p:nvSpPr>
          <p:cNvPr id="20" name="TextBox 19"/>
          <p:cNvSpPr txBox="1"/>
          <p:nvPr/>
        </p:nvSpPr>
        <p:spPr>
          <a:xfrm>
            <a:off x="457200" y="2816352"/>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対象</a:t>
            </a:r>
          </a:p>
        </p:txBody>
      </p:sp>
      <p:sp>
        <p:nvSpPr>
          <p:cNvPr id="21" name="TextBox 20"/>
          <p:cNvSpPr txBox="1"/>
          <p:nvPr/>
        </p:nvSpPr>
        <p:spPr>
          <a:xfrm>
            <a:off x="1737360" y="2816352"/>
            <a:ext cx="10058400" cy="41148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合成脈波と、PPG イメージングの実測データ。</a:t>
            </a:r>
          </a:p>
        </p:txBody>
      </p:sp>
      <p:sp>
        <p:nvSpPr>
          <p:cNvPr id="22" name="TextBox 21"/>
          <p:cNvSpPr txBox="1"/>
          <p:nvPr/>
        </p:nvSpPr>
        <p:spPr>
          <a:xfrm>
            <a:off x="457200" y="3291840"/>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方法</a:t>
            </a:r>
          </a:p>
        </p:txBody>
      </p:sp>
      <p:sp>
        <p:nvSpPr>
          <p:cNvPr id="23" name="TextBox 22"/>
          <p:cNvSpPr txBox="1"/>
          <p:nvPr/>
        </p:nvSpPr>
        <p:spPr>
          <a:xfrm>
            <a:off x="1737360" y="3291840"/>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各種の脈波分解アルゴリズムを実装し、</a:t>
            </a:r>
          </a:p>
          <a:p>
            <a:pPr algn="l">
              <a:spcAft>
                <a:spcPts val="200"/>
              </a:spcAft>
            </a:pPr>
            <a:r>
              <a:rPr sz="2200" b="0">
                <a:solidFill>
                  <a:srgbClr val="262626"/>
                </a:solidFill>
                <a:latin typeface="Meiryo"/>
                <a:ea typeface="Meiryo"/>
                <a:cs typeface="Meiryo"/>
              </a:rPr>
              <a:t>カーネルの種類と個数を変えて耐性を比較。</a:t>
            </a:r>
          </a:p>
        </p:txBody>
      </p:sp>
      <p:sp>
        <p:nvSpPr>
          <p:cNvPr id="24" name="TextBox 23"/>
          <p:cNvSpPr txBox="1"/>
          <p:nvPr/>
        </p:nvSpPr>
        <p:spPr>
          <a:xfrm>
            <a:off x="457200" y="4151376"/>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結果</a:t>
            </a:r>
          </a:p>
        </p:txBody>
      </p:sp>
      <p:sp>
        <p:nvSpPr>
          <p:cNvPr id="25" name="TextBox 24"/>
          <p:cNvSpPr txBox="1"/>
          <p:nvPr/>
        </p:nvSpPr>
        <p:spPr>
          <a:xfrm>
            <a:off x="1737360" y="4151376"/>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Gamma と Gaussian の組合せが他を上回った。</a:t>
            </a:r>
          </a:p>
          <a:p>
            <a:pPr algn="l">
              <a:spcAft>
                <a:spcPts val="200"/>
              </a:spcAft>
            </a:pPr>
            <a:r>
              <a:rPr sz="2200" b="0">
                <a:solidFill>
                  <a:srgbClr val="262626"/>
                </a:solidFill>
                <a:latin typeface="Meiryo"/>
                <a:ea typeface="Meiryo"/>
                <a:cs typeface="Meiryo"/>
              </a:rPr>
              <a:t>カーネル 2 個が最も頑健で、指標が 14.09% 改善。</a:t>
            </a:r>
          </a:p>
        </p:txBody>
      </p:sp>
      <p:sp>
        <p:nvSpPr>
          <p:cNvPr id="26" name="Rounded Rectangle 25"/>
          <p:cNvSpPr/>
          <p:nvPr/>
        </p:nvSpPr>
        <p:spPr>
          <a:xfrm>
            <a:off x="411480" y="5413248"/>
            <a:ext cx="11365992" cy="91440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nchorCtr="1"/>
          <a:lstStyle/>
          <a:p>
            <a:r>
              <a:rPr lang="ja-JP" altLang="en-US" sz="2400" b="1">
                <a:solidFill>
                  <a:srgbClr val="262626"/>
                </a:solidFill>
                <a:latin typeface="Meiryo"/>
                <a:ea typeface="Meiryo"/>
                <a:cs typeface="Meiryo"/>
              </a:rPr>
              <a:t>体動およびノイズに対する頑健性は、カーネル数が低い方が有利。</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90/118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4">
            <a:extLst>
              <a:ext uri="{FF2B5EF4-FFF2-40B4-BE49-F238E27FC236}">
                <a16:creationId xmlns:a16="http://schemas.microsoft.com/office/drawing/2014/main" id="{AA9D36CE-3772-F005-B54C-9329ADA7F086}"/>
              </a:ext>
            </a:extLst>
          </p:cNvPr>
          <p:cNvSpPr/>
          <p:nvPr/>
        </p:nvSpPr>
        <p:spPr>
          <a:xfrm>
            <a:off x="1085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5.4  Basso 2024</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44. Basso 2024</a:t>
            </a:r>
          </a:p>
        </p:txBody>
      </p:sp>
      <p:sp>
        <p:nvSpPr>
          <p:cNvPr id="18" name="Rounded Rectangle 17"/>
          <p:cNvSpPr/>
          <p:nvPr/>
        </p:nvSpPr>
        <p:spPr>
          <a:xfrm>
            <a:off x="411480" y="1664208"/>
            <a:ext cx="11365992" cy="9144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4360" y="1883664"/>
            <a:ext cx="11000232" cy="384721"/>
          </a:xfrm>
          <a:prstGeom prst="rect">
            <a:avLst/>
          </a:prstGeom>
          <a:noFill/>
        </p:spPr>
        <p:txBody>
          <a:bodyPr wrap="square" lIns="0" tIns="0" rIns="0" bIns="0" anchor="t">
            <a:spAutoFit/>
          </a:bodyPr>
          <a:lstStyle/>
          <a:p>
            <a:pPr algn="l"/>
            <a:r>
              <a:rPr sz="2500" b="1" dirty="0">
                <a:solidFill>
                  <a:srgbClr val="D55E00"/>
                </a:solidFill>
                <a:latin typeface="Meiryo"/>
                <a:ea typeface="Meiryo"/>
                <a:cs typeface="Meiryo"/>
              </a:rPr>
              <a:t>⑦ </a:t>
            </a:r>
            <a:r>
              <a:rPr lang="ja-JP" altLang="en-US" sz="2500" b="1">
                <a:solidFill>
                  <a:srgbClr val="D55E00"/>
                </a:solidFill>
                <a:latin typeface="Meiryo"/>
                <a:ea typeface="Meiryo"/>
                <a:cs typeface="Meiryo"/>
              </a:rPr>
              <a:t>最良の基底関数を探す。</a:t>
            </a:r>
            <a:endParaRPr sz="2500" b="1" dirty="0">
              <a:solidFill>
                <a:srgbClr val="D55E00"/>
              </a:solidFill>
              <a:latin typeface="Meiryo"/>
              <a:ea typeface="Meiryo"/>
              <a:cs typeface="Meiryo"/>
            </a:endParaRPr>
          </a:p>
        </p:txBody>
      </p:sp>
      <p:sp>
        <p:nvSpPr>
          <p:cNvPr id="20" name="TextBox 19"/>
          <p:cNvSpPr txBox="1"/>
          <p:nvPr/>
        </p:nvSpPr>
        <p:spPr>
          <a:xfrm>
            <a:off x="457200" y="2816352"/>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対象</a:t>
            </a:r>
          </a:p>
        </p:txBody>
      </p:sp>
      <p:sp>
        <p:nvSpPr>
          <p:cNvPr id="21" name="TextBox 20"/>
          <p:cNvSpPr txBox="1"/>
          <p:nvPr/>
        </p:nvSpPr>
        <p:spPr>
          <a:xfrm>
            <a:off x="1737360" y="2816352"/>
            <a:ext cx="10058400" cy="41148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MIMIC-III から抽出した PPG 脈波 8,000 拍。</a:t>
            </a:r>
          </a:p>
        </p:txBody>
      </p:sp>
      <p:sp>
        <p:nvSpPr>
          <p:cNvPr id="22" name="TextBox 21"/>
          <p:cNvSpPr txBox="1"/>
          <p:nvPr/>
        </p:nvSpPr>
        <p:spPr>
          <a:xfrm>
            <a:off x="457200" y="3291840"/>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方法</a:t>
            </a:r>
          </a:p>
        </p:txBody>
      </p:sp>
      <p:sp>
        <p:nvSpPr>
          <p:cNvPr id="23" name="TextBox 22"/>
          <p:cNvSpPr txBox="1"/>
          <p:nvPr/>
        </p:nvSpPr>
        <p:spPr>
          <a:xfrm>
            <a:off x="1737360" y="3291840"/>
            <a:ext cx="10058400" cy="702756"/>
          </a:xfrm>
          <a:prstGeom prst="rect">
            <a:avLst/>
          </a:prstGeom>
          <a:noFill/>
        </p:spPr>
        <p:txBody>
          <a:bodyPr wrap="square" lIns="0" tIns="0" rIns="0" bIns="0" anchor="t">
            <a:spAutoFit/>
          </a:bodyPr>
          <a:lstStyle/>
          <a:p>
            <a:pPr algn="l">
              <a:spcAft>
                <a:spcPts val="200"/>
              </a:spcAft>
            </a:pPr>
            <a:r>
              <a:rPr sz="2200" b="0" dirty="0" err="1">
                <a:solidFill>
                  <a:srgbClr val="262626"/>
                </a:solidFill>
                <a:latin typeface="Meiryo"/>
                <a:ea typeface="Meiryo"/>
                <a:cs typeface="Meiryo"/>
              </a:rPr>
              <a:t>非対称分解モデル（skewed-Gaussian）を提案。</a:t>
            </a:r>
            <a:endParaRPr sz="2200" b="0" dirty="0">
              <a:solidFill>
                <a:srgbClr val="262626"/>
              </a:solidFill>
              <a:latin typeface="Meiryo"/>
              <a:ea typeface="Meiryo"/>
              <a:cs typeface="Meiryo"/>
            </a:endParaRPr>
          </a:p>
          <a:p>
            <a:pPr algn="l">
              <a:spcAft>
                <a:spcPts val="200"/>
              </a:spcAft>
            </a:pPr>
            <a:r>
              <a:rPr sz="2200" b="0" dirty="0" err="1">
                <a:solidFill>
                  <a:srgbClr val="262626"/>
                </a:solidFill>
                <a:latin typeface="Meiryo"/>
                <a:ea typeface="Meiryo"/>
                <a:cs typeface="Meiryo"/>
              </a:rPr>
              <a:t>参照モデルは</a:t>
            </a:r>
            <a:r>
              <a:rPr sz="2200" b="0" dirty="0">
                <a:solidFill>
                  <a:srgbClr val="262626"/>
                </a:solidFill>
                <a:latin typeface="Meiryo"/>
                <a:ea typeface="Meiryo"/>
                <a:cs typeface="Meiryo"/>
              </a:rPr>
              <a:t> Gamma-Gaussian </a:t>
            </a:r>
            <a:r>
              <a:rPr sz="2200" b="0" dirty="0" err="1">
                <a:solidFill>
                  <a:srgbClr val="262626"/>
                </a:solidFill>
                <a:latin typeface="Meiryo"/>
                <a:ea typeface="Meiryo"/>
                <a:cs typeface="Meiryo"/>
              </a:rPr>
              <a:t>モデル</a:t>
            </a:r>
            <a:r>
              <a:rPr lang="ja-JP" altLang="en-US" sz="2200" b="0">
                <a:solidFill>
                  <a:srgbClr val="262626"/>
                </a:solidFill>
                <a:latin typeface="Meiryo"/>
                <a:ea typeface="Meiryo"/>
                <a:cs typeface="Meiryo"/>
              </a:rPr>
              <a:t>で精度を比較。</a:t>
            </a:r>
            <a:endParaRPr sz="2200" b="0" dirty="0">
              <a:solidFill>
                <a:srgbClr val="262626"/>
              </a:solidFill>
              <a:latin typeface="Meiryo"/>
              <a:ea typeface="Meiryo"/>
              <a:cs typeface="Meiryo"/>
            </a:endParaRPr>
          </a:p>
        </p:txBody>
      </p:sp>
      <p:sp>
        <p:nvSpPr>
          <p:cNvPr id="24" name="TextBox 23"/>
          <p:cNvSpPr txBox="1"/>
          <p:nvPr/>
        </p:nvSpPr>
        <p:spPr>
          <a:xfrm>
            <a:off x="457200" y="4151376"/>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結果</a:t>
            </a:r>
          </a:p>
        </p:txBody>
      </p:sp>
      <p:sp>
        <p:nvSpPr>
          <p:cNvPr id="25" name="TextBox 24"/>
          <p:cNvSpPr txBox="1"/>
          <p:nvPr/>
        </p:nvSpPr>
        <p:spPr>
          <a:xfrm>
            <a:off x="1737360" y="4151376"/>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残差平方和による評価で参照モデルより高精度。</a:t>
            </a:r>
          </a:p>
          <a:p>
            <a:pPr algn="l">
              <a:spcAft>
                <a:spcPts val="200"/>
              </a:spcAft>
            </a:pPr>
            <a:r>
              <a:rPr sz="2200" b="0">
                <a:solidFill>
                  <a:srgbClr val="262626"/>
                </a:solidFill>
                <a:latin typeface="Meiryo"/>
                <a:ea typeface="Meiryo"/>
                <a:cs typeface="Meiryo"/>
              </a:rPr>
              <a:t>ランダム初期値への感度が低く、一貫して頑健。</a:t>
            </a:r>
          </a:p>
        </p:txBody>
      </p:sp>
      <p:sp>
        <p:nvSpPr>
          <p:cNvPr id="26" name="Rounded Rectangle 25"/>
          <p:cNvSpPr/>
          <p:nvPr/>
        </p:nvSpPr>
        <p:spPr>
          <a:xfrm>
            <a:off x="411480" y="5413248"/>
            <a:ext cx="11365992" cy="91440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nchorCtr="1"/>
          <a:lstStyle/>
          <a:p>
            <a:r>
              <a:rPr lang="en-US" altLang="ja-JP" sz="2800" b="1" dirty="0">
                <a:solidFill>
                  <a:srgbClr val="262626"/>
                </a:solidFill>
                <a:latin typeface="Meiryo"/>
                <a:ea typeface="Meiryo"/>
                <a:cs typeface="Meiryo"/>
              </a:rPr>
              <a:t>Skewed– Gaussian </a:t>
            </a:r>
            <a:r>
              <a:rPr lang="ja-JP" altLang="en-US" sz="2800" b="1">
                <a:solidFill>
                  <a:srgbClr val="262626"/>
                </a:solidFill>
                <a:latin typeface="Meiryo"/>
                <a:ea typeface="Meiryo"/>
                <a:cs typeface="Meiryo"/>
              </a:rPr>
              <a:t>モデルが初期値まで含め高精度。</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91/118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4">
            <a:extLst>
              <a:ext uri="{FF2B5EF4-FFF2-40B4-BE49-F238E27FC236}">
                <a16:creationId xmlns:a16="http://schemas.microsoft.com/office/drawing/2014/main" id="{AA9D36CE-3772-F005-B54C-9329ADA7F086}"/>
              </a:ext>
            </a:extLst>
          </p:cNvPr>
          <p:cNvSpPr/>
          <p:nvPr/>
        </p:nvSpPr>
        <p:spPr>
          <a:xfrm>
            <a:off x="1085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5.5  PDA の限界</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33. Couceiro 2015　／　43. Tigges 2017　／　44. Basso 2024　／　47. Epstein 2014</a:t>
            </a:r>
          </a:p>
        </p:txBody>
      </p:sp>
      <p:sp>
        <p:nvSpPr>
          <p:cNvPr id="18" name="Rounded Rectangle 17"/>
          <p:cNvSpPr/>
          <p:nvPr/>
        </p:nvSpPr>
        <p:spPr>
          <a:xfrm>
            <a:off x="411480" y="1755648"/>
            <a:ext cx="11365992" cy="1152144"/>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621792" y="1901952"/>
            <a:ext cx="566928" cy="578598"/>
          </a:xfrm>
          <a:prstGeom prst="rect">
            <a:avLst/>
          </a:prstGeom>
          <a:noFill/>
        </p:spPr>
        <p:txBody>
          <a:bodyPr wrap="square" lIns="0" tIns="0" rIns="0" bIns="0" anchor="t">
            <a:spAutoFit/>
          </a:bodyPr>
          <a:lstStyle/>
          <a:p>
            <a:pPr algn="l"/>
            <a:r>
              <a:rPr sz="2700" b="1">
                <a:solidFill>
                  <a:srgbClr val="C00000"/>
                </a:solidFill>
                <a:latin typeface="Meiryo"/>
                <a:ea typeface="Meiryo"/>
                <a:cs typeface="Meiryo"/>
              </a:rPr>
              <a:t>①</a:t>
            </a:r>
          </a:p>
        </p:txBody>
      </p:sp>
      <p:sp>
        <p:nvSpPr>
          <p:cNvPr id="20" name="TextBox 19"/>
          <p:cNvSpPr txBox="1"/>
          <p:nvPr/>
        </p:nvSpPr>
        <p:spPr>
          <a:xfrm>
            <a:off x="1298448" y="1920240"/>
            <a:ext cx="10241280" cy="541553"/>
          </a:xfrm>
          <a:prstGeom prst="rect">
            <a:avLst/>
          </a:prstGeom>
          <a:noFill/>
        </p:spPr>
        <p:txBody>
          <a:bodyPr wrap="square" lIns="0" tIns="0" rIns="0" bIns="0" anchor="t">
            <a:spAutoFit/>
          </a:bodyPr>
          <a:lstStyle/>
          <a:p>
            <a:pPr algn="l"/>
            <a:r>
              <a:rPr sz="2500" b="1">
                <a:solidFill>
                  <a:srgbClr val="C00000"/>
                </a:solidFill>
                <a:latin typeface="Meiryo"/>
                <a:ea typeface="Meiryo"/>
                <a:cs typeface="Meiryo"/>
              </a:rPr>
              <a:t>解が一意に決まらない</a:t>
            </a:r>
          </a:p>
        </p:txBody>
      </p:sp>
      <p:sp>
        <p:nvSpPr>
          <p:cNvPr id="21" name="TextBox 20"/>
          <p:cNvSpPr txBox="1"/>
          <p:nvPr/>
        </p:nvSpPr>
        <p:spPr>
          <a:xfrm>
            <a:off x="1298448" y="2414016"/>
            <a:ext cx="10241280" cy="504508"/>
          </a:xfrm>
          <a:prstGeom prst="rect">
            <a:avLst/>
          </a:prstGeom>
          <a:noFill/>
        </p:spPr>
        <p:txBody>
          <a:bodyPr wrap="square" lIns="0" tIns="0" rIns="0" bIns="0" anchor="t">
            <a:spAutoFit/>
          </a:bodyPr>
          <a:lstStyle/>
          <a:p>
            <a:pPr algn="l"/>
            <a:r>
              <a:rPr sz="2300" b="0">
                <a:solidFill>
                  <a:srgbClr val="262626"/>
                </a:solidFill>
                <a:latin typeface="Meiryo"/>
                <a:ea typeface="Meiryo"/>
                <a:cs typeface="Meiryo"/>
              </a:rPr>
              <a:t>基底関数の種類と個数が決着しておらず、初期値でも解が動く。</a:t>
            </a:r>
          </a:p>
        </p:txBody>
      </p:sp>
      <p:sp>
        <p:nvSpPr>
          <p:cNvPr id="22" name="Rounded Rectangle 21"/>
          <p:cNvSpPr/>
          <p:nvPr/>
        </p:nvSpPr>
        <p:spPr>
          <a:xfrm>
            <a:off x="411480" y="3017520"/>
            <a:ext cx="11365992" cy="1152144"/>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621792" y="3163824"/>
            <a:ext cx="566928" cy="578598"/>
          </a:xfrm>
          <a:prstGeom prst="rect">
            <a:avLst/>
          </a:prstGeom>
          <a:noFill/>
        </p:spPr>
        <p:txBody>
          <a:bodyPr wrap="square" lIns="0" tIns="0" rIns="0" bIns="0" anchor="t">
            <a:spAutoFit/>
          </a:bodyPr>
          <a:lstStyle/>
          <a:p>
            <a:pPr algn="l"/>
            <a:r>
              <a:rPr sz="2700" b="1">
                <a:solidFill>
                  <a:srgbClr val="C00000"/>
                </a:solidFill>
                <a:latin typeface="Meiryo"/>
                <a:ea typeface="Meiryo"/>
                <a:cs typeface="Meiryo"/>
              </a:rPr>
              <a:t>②</a:t>
            </a:r>
          </a:p>
        </p:txBody>
      </p:sp>
      <p:sp>
        <p:nvSpPr>
          <p:cNvPr id="24" name="TextBox 23"/>
          <p:cNvSpPr txBox="1"/>
          <p:nvPr/>
        </p:nvSpPr>
        <p:spPr>
          <a:xfrm>
            <a:off x="1298448" y="3182112"/>
            <a:ext cx="10241280" cy="541553"/>
          </a:xfrm>
          <a:prstGeom prst="rect">
            <a:avLst/>
          </a:prstGeom>
          <a:noFill/>
        </p:spPr>
        <p:txBody>
          <a:bodyPr wrap="square" lIns="0" tIns="0" rIns="0" bIns="0" anchor="t">
            <a:spAutoFit/>
          </a:bodyPr>
          <a:lstStyle/>
          <a:p>
            <a:pPr algn="l"/>
            <a:r>
              <a:rPr sz="2500" b="1">
                <a:solidFill>
                  <a:srgbClr val="C00000"/>
                </a:solidFill>
                <a:latin typeface="Meiryo"/>
                <a:ea typeface="Meiryo"/>
                <a:cs typeface="Meiryo"/>
              </a:rPr>
              <a:t>「第2の山＝反射波」とは限らない</a:t>
            </a:r>
          </a:p>
        </p:txBody>
      </p:sp>
      <p:sp>
        <p:nvSpPr>
          <p:cNvPr id="25" name="TextBox 24"/>
          <p:cNvSpPr txBox="1"/>
          <p:nvPr/>
        </p:nvSpPr>
        <p:spPr>
          <a:xfrm>
            <a:off x="1298448" y="3675888"/>
            <a:ext cx="10241280" cy="504508"/>
          </a:xfrm>
          <a:prstGeom prst="rect">
            <a:avLst/>
          </a:prstGeom>
          <a:noFill/>
        </p:spPr>
        <p:txBody>
          <a:bodyPr wrap="square" lIns="0" tIns="0" rIns="0" bIns="0" anchor="t">
            <a:spAutoFit/>
          </a:bodyPr>
          <a:lstStyle/>
          <a:p>
            <a:pPr algn="l"/>
            <a:r>
              <a:rPr sz="2300" b="0">
                <a:solidFill>
                  <a:srgbClr val="262626"/>
                </a:solidFill>
                <a:latin typeface="Meiryo"/>
                <a:ea typeface="Meiryo"/>
                <a:cs typeface="Meiryo"/>
              </a:rPr>
              <a:t>数値モデルでは第2ピークの主因はインピーダンス不整合。</a:t>
            </a:r>
          </a:p>
        </p:txBody>
      </p:sp>
      <p:sp>
        <p:nvSpPr>
          <p:cNvPr id="26" name="Rounded Rectangle 25"/>
          <p:cNvSpPr/>
          <p:nvPr/>
        </p:nvSpPr>
        <p:spPr>
          <a:xfrm>
            <a:off x="411480" y="4279392"/>
            <a:ext cx="11365992" cy="1152144"/>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621792" y="4425696"/>
            <a:ext cx="566928" cy="578598"/>
          </a:xfrm>
          <a:prstGeom prst="rect">
            <a:avLst/>
          </a:prstGeom>
          <a:noFill/>
        </p:spPr>
        <p:txBody>
          <a:bodyPr wrap="square" lIns="0" tIns="0" rIns="0" bIns="0" anchor="t">
            <a:spAutoFit/>
          </a:bodyPr>
          <a:lstStyle/>
          <a:p>
            <a:pPr algn="l"/>
            <a:r>
              <a:rPr sz="2700" b="1">
                <a:solidFill>
                  <a:srgbClr val="D55E00"/>
                </a:solidFill>
                <a:latin typeface="Meiryo"/>
                <a:ea typeface="Meiryo"/>
                <a:cs typeface="Meiryo"/>
              </a:rPr>
              <a:t>③</a:t>
            </a:r>
          </a:p>
        </p:txBody>
      </p:sp>
      <p:sp>
        <p:nvSpPr>
          <p:cNvPr id="28" name="TextBox 27"/>
          <p:cNvSpPr txBox="1"/>
          <p:nvPr/>
        </p:nvSpPr>
        <p:spPr>
          <a:xfrm>
            <a:off x="1298448" y="4443984"/>
            <a:ext cx="10241280" cy="541553"/>
          </a:xfrm>
          <a:prstGeom prst="rect">
            <a:avLst/>
          </a:prstGeom>
          <a:noFill/>
        </p:spPr>
        <p:txBody>
          <a:bodyPr wrap="square" lIns="0" tIns="0" rIns="0" bIns="0" anchor="t">
            <a:spAutoFit/>
          </a:bodyPr>
          <a:lstStyle/>
          <a:p>
            <a:pPr algn="l"/>
            <a:r>
              <a:rPr sz="2500" b="1">
                <a:solidFill>
                  <a:srgbClr val="D55E00"/>
                </a:solidFill>
                <a:latin typeface="Meiryo"/>
                <a:ea typeface="Meiryo"/>
                <a:cs typeface="Meiryo"/>
              </a:rPr>
              <a:t>振幅側の成績が弱い</a:t>
            </a:r>
          </a:p>
        </p:txBody>
      </p:sp>
      <p:sp>
        <p:nvSpPr>
          <p:cNvPr id="29" name="TextBox 28"/>
          <p:cNvSpPr txBox="1"/>
          <p:nvPr/>
        </p:nvSpPr>
        <p:spPr>
          <a:xfrm>
            <a:off x="1298448" y="4937760"/>
            <a:ext cx="10241280" cy="504508"/>
          </a:xfrm>
          <a:prstGeom prst="rect">
            <a:avLst/>
          </a:prstGeom>
          <a:noFill/>
        </p:spPr>
        <p:txBody>
          <a:bodyPr wrap="square" lIns="0" tIns="0" rIns="0" bIns="0" anchor="t">
            <a:spAutoFit/>
          </a:bodyPr>
          <a:lstStyle/>
          <a:p>
            <a:pPr algn="l"/>
            <a:r>
              <a:rPr sz="2300" b="0">
                <a:solidFill>
                  <a:srgbClr val="262626"/>
                </a:solidFill>
                <a:latin typeface="Meiryo"/>
                <a:ea typeface="Meiryo"/>
                <a:cs typeface="Meiryo"/>
              </a:rPr>
              <a:t>振幅比はすべての参照値と低相関。時間側でも ρ=0.45</a:t>
            </a:r>
          </a:p>
        </p:txBody>
      </p:sp>
      <p:sp>
        <p:nvSpPr>
          <p:cNvPr id="30" name="Rounded Rectangle 29"/>
          <p:cNvSpPr/>
          <p:nvPr/>
        </p:nvSpPr>
        <p:spPr>
          <a:xfrm>
            <a:off x="411480" y="5614416"/>
            <a:ext cx="11365992" cy="713232"/>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nchorCtr="1"/>
          <a:lstStyle/>
          <a:p>
            <a:r>
              <a:rPr lang="ja-JP" altLang="en-US" sz="2400" b="1">
                <a:solidFill>
                  <a:srgbClr val="262626"/>
                </a:solidFill>
                <a:latin typeface="Meiryo"/>
                <a:ea typeface="Meiryo"/>
                <a:cs typeface="Meiryo"/>
              </a:rPr>
              <a:t>当てはまりが良くなっても、その成分波が何かという帰属は保証されない。</a:t>
            </a:r>
          </a:p>
        </p:txBody>
      </p:sp>
      <p:sp>
        <p:nvSpPr>
          <p:cNvPr id="3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92/118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4">
            <a:extLst>
              <a:ext uri="{FF2B5EF4-FFF2-40B4-BE49-F238E27FC236}">
                <a16:creationId xmlns:a16="http://schemas.microsoft.com/office/drawing/2014/main" id="{AA9D36CE-3772-F005-B54C-9329ADA7F086}"/>
              </a:ext>
            </a:extLst>
          </p:cNvPr>
          <p:cNvSpPr/>
          <p:nvPr/>
        </p:nvSpPr>
        <p:spPr>
          <a:xfrm>
            <a:off x="1085436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6. </a:t>
            </a:r>
            <a:r>
              <a:rPr lang="ja-JP" altLang="en-US" sz="4600">
                <a:latin typeface="Meiryo"/>
                <a:ea typeface="Meiryo"/>
                <a:cs typeface="Meiryo"/>
              </a:rPr>
              <a:t>提案</a:t>
            </a:r>
            <a:endParaRPr sz="4600" dirty="0">
              <a:latin typeface="Meiryo"/>
              <a:ea typeface="Meiryo"/>
              <a:cs typeface="Meiryo"/>
            </a:endParaRPr>
          </a:p>
        </p:txBody>
      </p:sp>
      <p:sp>
        <p:nvSpPr>
          <p:cNvPr id="8" name="TextBox 7"/>
          <p:cNvSpPr txBox="1"/>
          <p:nvPr/>
        </p:nvSpPr>
        <p:spPr>
          <a:xfrm>
            <a:off x="822960" y="1536192"/>
            <a:ext cx="5029200" cy="4956048"/>
          </a:xfrm>
          <a:prstGeom prst="rect">
            <a:avLst/>
          </a:prstGeom>
          <a:noFill/>
        </p:spPr>
        <p:txBody>
          <a:bodyPr wrap="square" lIns="0" tIns="0" rIns="0" bIns="0" anchor="t">
            <a:spAutoFit/>
          </a:bodyPr>
          <a:lstStyle/>
          <a:p>
            <a:pPr>
              <a:lnSpc>
                <a:spcPct val="145000"/>
              </a:lnSpc>
            </a:pPr>
            <a:r>
              <a:rPr sz="3200" b="1">
                <a:solidFill>
                  <a:srgbClr val="D9D9D9"/>
                </a:solidFill>
                <a:latin typeface="Meiryo"/>
                <a:ea typeface="Meiryo"/>
                <a:cs typeface="Meiryo"/>
              </a:rPr>
              <a:t>1. </a:t>
            </a:r>
            <a:r>
              <a:rPr sz="3200" b="0">
                <a:solidFill>
                  <a:srgbClr val="D9D9D9"/>
                </a:solidFill>
                <a:latin typeface="Meiryo"/>
                <a:ea typeface="Meiryo"/>
                <a:cs typeface="Meiryo"/>
              </a:rPr>
              <a:t>PPGの基礎</a:t>
            </a:r>
          </a:p>
          <a:p>
            <a:pPr>
              <a:lnSpc>
                <a:spcPct val="145000"/>
              </a:lnSpc>
            </a:pPr>
            <a:r>
              <a:rPr sz="3200" b="1">
                <a:solidFill>
                  <a:srgbClr val="D9D9D9"/>
                </a:solidFill>
                <a:latin typeface="Meiryo"/>
                <a:ea typeface="Meiryo"/>
                <a:cs typeface="Meiryo"/>
              </a:rPr>
              <a:t>2. </a:t>
            </a:r>
            <a:r>
              <a:rPr sz="3200" b="0">
                <a:solidFill>
                  <a:srgbClr val="D9D9D9"/>
                </a:solidFill>
                <a:latin typeface="Meiryo"/>
                <a:ea typeface="Meiryo"/>
                <a:cs typeface="Meiryo"/>
              </a:rPr>
              <a:t>波形への影響</a:t>
            </a:r>
          </a:p>
          <a:p>
            <a:pPr>
              <a:lnSpc>
                <a:spcPct val="145000"/>
              </a:lnSpc>
            </a:pPr>
            <a:r>
              <a:rPr sz="3200" b="1">
                <a:solidFill>
                  <a:srgbClr val="D9D9D9"/>
                </a:solidFill>
                <a:latin typeface="Meiryo"/>
                <a:ea typeface="Meiryo"/>
                <a:cs typeface="Meiryo"/>
              </a:rPr>
              <a:t>3. </a:t>
            </a:r>
            <a:r>
              <a:rPr sz="3200" b="0">
                <a:solidFill>
                  <a:srgbClr val="D9D9D9"/>
                </a:solidFill>
                <a:latin typeface="Meiryo"/>
                <a:ea typeface="Meiryo"/>
                <a:cs typeface="Meiryo"/>
              </a:rPr>
              <a:t>波形の定量化</a:t>
            </a:r>
          </a:p>
          <a:p>
            <a:pPr>
              <a:lnSpc>
                <a:spcPct val="145000"/>
              </a:lnSpc>
            </a:pPr>
            <a:r>
              <a:rPr sz="3200" b="0">
                <a:solidFill>
                  <a:srgbClr val="D9D9D9"/>
                </a:solidFill>
                <a:latin typeface="Meiryo"/>
                <a:ea typeface="Meiryo"/>
                <a:cs typeface="Meiryo"/>
              </a:rPr>
              <a:t>4. 限界</a:t>
            </a:r>
          </a:p>
          <a:p>
            <a:pPr>
              <a:lnSpc>
                <a:spcPct val="145000"/>
              </a:lnSpc>
            </a:pPr>
            <a:r>
              <a:rPr sz="3200" b="1">
                <a:solidFill>
                  <a:srgbClr val="D9D9D9"/>
                </a:solidFill>
                <a:latin typeface="Meiryo"/>
                <a:ea typeface="Meiryo"/>
                <a:cs typeface="Meiryo"/>
              </a:rPr>
              <a:t>5. </a:t>
            </a:r>
            <a:r>
              <a:rPr sz="3200" b="0">
                <a:solidFill>
                  <a:srgbClr val="D9D9D9"/>
                </a:solidFill>
                <a:latin typeface="Meiryo"/>
                <a:ea typeface="Meiryo"/>
                <a:cs typeface="Meiryo"/>
              </a:rPr>
              <a:t>PDA（波形分解）</a:t>
            </a:r>
          </a:p>
          <a:p>
            <a:pPr>
              <a:lnSpc>
                <a:spcPct val="145000"/>
              </a:lnSpc>
            </a:pPr>
            <a:r>
              <a:rPr sz="3200" b="1">
                <a:solidFill>
                  <a:srgbClr val="BF9000"/>
                </a:solidFill>
                <a:latin typeface="Meiryo"/>
                <a:ea typeface="Meiryo"/>
                <a:cs typeface="Meiryo"/>
              </a:rPr>
              <a:t>6. </a:t>
            </a:r>
            <a:r>
              <a:rPr sz="3200" b="1">
                <a:solidFill>
                  <a:srgbClr val="262626"/>
                </a:solidFill>
                <a:latin typeface="Meiryo"/>
                <a:ea typeface="Meiryo"/>
                <a:cs typeface="Meiryo"/>
              </a:rPr>
              <a:t>提案</a:t>
            </a:r>
          </a:p>
        </p:txBody>
      </p:sp>
      <p:sp>
        <p:nvSpPr>
          <p:cNvPr id="18" name="SubToc"/>
          <p:cNvSpPr txBox="1"/>
          <p:nvPr/>
        </p:nvSpPr>
        <p:spPr>
          <a:xfrm>
            <a:off x="6309360" y="1536192"/>
            <a:ext cx="5394960" cy="4956048"/>
          </a:xfrm>
          <a:prstGeom prst="rect">
            <a:avLst/>
          </a:prstGeom>
          <a:noFill/>
        </p:spPr>
        <p:txBody>
          <a:bodyPr wrap="square" anchor="t">
            <a:spAutoFit/>
          </a:bodyPr>
          <a:lstStyle/>
          <a:p>
            <a:pPr>
              <a:lnSpc>
                <a:spcPct val="145000"/>
              </a:lnSpc>
            </a:pPr>
            <a:r>
              <a:rPr sz="2900" b="1">
                <a:solidFill>
                  <a:srgbClr val="BF9000"/>
                </a:solidFill>
                <a:latin typeface="Meiryo"/>
                <a:ea typeface="Meiryo"/>
                <a:cs typeface="Meiryo"/>
              </a:rPr>
              <a:t>6.1 </a:t>
            </a:r>
            <a:r>
              <a:rPr sz="2900" b="0">
                <a:solidFill>
                  <a:srgbClr val="262626"/>
                </a:solidFill>
                <a:latin typeface="Meiryo"/>
                <a:ea typeface="Meiryo"/>
                <a:cs typeface="Meiryo"/>
              </a:rPr>
              <a:t>esCCO の構造</a:t>
            </a:r>
          </a:p>
          <a:p>
            <a:pPr>
              <a:lnSpc>
                <a:spcPct val="145000"/>
              </a:lnSpc>
            </a:pPr>
            <a:r>
              <a:rPr sz="2900" b="1">
                <a:solidFill>
                  <a:srgbClr val="BF9000"/>
                </a:solidFill>
                <a:latin typeface="Meiryo"/>
                <a:ea typeface="Meiryo"/>
                <a:cs typeface="Meiryo"/>
              </a:rPr>
              <a:t>6.2 </a:t>
            </a:r>
            <a:r>
              <a:rPr sz="2900" b="0">
                <a:solidFill>
                  <a:srgbClr val="262626"/>
                </a:solidFill>
                <a:latin typeface="Meiryo"/>
                <a:ea typeface="Meiryo"/>
                <a:cs typeface="Meiryo"/>
              </a:rPr>
              <a:t>誤差と血管抵抗の関係</a:t>
            </a:r>
          </a:p>
          <a:p>
            <a:pPr>
              <a:lnSpc>
                <a:spcPct val="145000"/>
              </a:lnSpc>
            </a:pPr>
            <a:r>
              <a:rPr sz="2900" b="1">
                <a:solidFill>
                  <a:srgbClr val="BF9000"/>
                </a:solidFill>
                <a:latin typeface="Meiryo"/>
                <a:ea typeface="Meiryo"/>
                <a:cs typeface="Meiryo"/>
              </a:rPr>
              <a:t>6.3 </a:t>
            </a:r>
            <a:r>
              <a:rPr sz="2900" b="0">
                <a:solidFill>
                  <a:srgbClr val="262626"/>
                </a:solidFill>
                <a:latin typeface="Meiryo"/>
                <a:ea typeface="Meiryo"/>
                <a:cs typeface="Meiryo"/>
              </a:rPr>
              <a:t>提案：K の補正</a:t>
            </a:r>
          </a:p>
          <a:p>
            <a:pPr>
              <a:lnSpc>
                <a:spcPct val="145000"/>
              </a:lnSpc>
            </a:pPr>
            <a:r>
              <a:rPr sz="2900" b="1">
                <a:solidFill>
                  <a:srgbClr val="BF9000"/>
                </a:solidFill>
                <a:latin typeface="Meiryo"/>
                <a:ea typeface="Meiryo"/>
                <a:cs typeface="Meiryo"/>
              </a:rPr>
              <a:t>6.4 </a:t>
            </a:r>
            <a:r>
              <a:rPr sz="2900" b="0">
                <a:solidFill>
                  <a:srgbClr val="262626"/>
                </a:solidFill>
                <a:latin typeface="Meiryo"/>
                <a:ea typeface="Meiryo"/>
                <a:cs typeface="Meiryo"/>
              </a:rPr>
              <a:t>期待される利点</a:t>
            </a:r>
          </a:p>
          <a:p>
            <a:pPr>
              <a:lnSpc>
                <a:spcPct val="145000"/>
              </a:lnSpc>
            </a:pPr>
            <a:r>
              <a:rPr sz="2900" b="1">
                <a:solidFill>
                  <a:srgbClr val="BF9000"/>
                </a:solidFill>
                <a:latin typeface="Meiryo"/>
                <a:ea typeface="Meiryo"/>
                <a:cs typeface="Meiryo"/>
              </a:rPr>
              <a:t>6.5 </a:t>
            </a:r>
            <a:r>
              <a:rPr sz="2900" b="0">
                <a:solidFill>
                  <a:srgbClr val="262626"/>
                </a:solidFill>
                <a:latin typeface="Meiryo"/>
                <a:ea typeface="Meiryo"/>
                <a:cs typeface="Meiryo"/>
              </a:rPr>
              <a:t>限界と留意点</a:t>
            </a:r>
          </a:p>
          <a:p>
            <a:pPr>
              <a:lnSpc>
                <a:spcPct val="145000"/>
              </a:lnSpc>
            </a:pPr>
            <a:r>
              <a:rPr sz="2900" b="1">
                <a:solidFill>
                  <a:srgbClr val="BF9000"/>
                </a:solidFill>
                <a:latin typeface="Meiryo"/>
                <a:ea typeface="Meiryo"/>
                <a:cs typeface="Meiryo"/>
              </a:rPr>
              <a:t>6.6–6.12 </a:t>
            </a:r>
            <a:r>
              <a:rPr sz="2900" b="0">
                <a:solidFill>
                  <a:srgbClr val="262626"/>
                </a:solidFill>
                <a:latin typeface="Meiryo"/>
                <a:ea typeface="Meiryo"/>
                <a:cs typeface="Meiryo"/>
              </a:rPr>
              <a:t>実現までの計画</a:t>
            </a:r>
          </a:p>
        </p:txBody>
      </p:sp>
      <p:sp>
        <p:nvSpPr>
          <p:cNvPr id="1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93/118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4">
            <a:extLst>
              <a:ext uri="{FF2B5EF4-FFF2-40B4-BE49-F238E27FC236}">
                <a16:creationId xmlns:a16="http://schemas.microsoft.com/office/drawing/2014/main" id="{AA9D36CE-3772-F005-B54C-9329ADA7F086}"/>
              </a:ext>
            </a:extLst>
          </p:cNvPr>
          <p:cNvSpPr/>
          <p:nvPr/>
        </p:nvSpPr>
        <p:spPr>
          <a:xfrm>
            <a:off x="1151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6</a:t>
            </a:r>
          </a:p>
          <a:p>
            <a:pPr algn="ctr"/>
            <a:r>
              <a:rPr sz="1050" b="1">
                <a:solidFill>
                  <a:srgbClr val="FFFFFF"/>
                </a:solidFill>
                <a:latin typeface="Meiryo"/>
                <a:ea typeface="Meiryo"/>
                <a:cs typeface="Meiryo"/>
              </a:rPr>
              <a:t>提案</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F3A11F-DFEF-FC3D-62A5-3AB8C75102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3CBD25-238A-7BE8-D5EB-7F3BDA2FD0D5}"/>
              </a:ext>
            </a:extLst>
          </p:cNvPr>
          <p:cNvSpPr>
            <a:spLocks noGrp="1"/>
          </p:cNvSpPr>
          <p:nvPr>
            <p:ph type="title"/>
          </p:nvPr>
        </p:nvSpPr>
        <p:spPr/>
        <p:txBody>
          <a:bodyPr/>
          <a:lstStyle/>
          <a:p>
            <a:pPr algn="l"/>
            <a:r>
              <a:rPr sz="4600" dirty="0">
                <a:latin typeface="Meiryo"/>
                <a:ea typeface="Meiryo"/>
                <a:cs typeface="Meiryo"/>
              </a:rPr>
              <a:t>6.1  esCCO の推定構造</a:t>
            </a:r>
          </a:p>
        </p:txBody>
      </p:sp>
      <p:sp>
        <p:nvSpPr>
          <p:cNvPr id="105" name="Source">
            <a:extLst>
              <a:ext uri="{FF2B5EF4-FFF2-40B4-BE49-F238E27FC236}">
                <a16:creationId xmlns:a16="http://schemas.microsoft.com/office/drawing/2014/main" id="{59D316A2-FDA1-2658-563E-98625DB215D6}"/>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a:solidFill>
                  <a:srgbClr val="808080"/>
                </a:solidFill>
                <a:latin typeface="Meiryo"/>
                <a:ea typeface="Meiryo"/>
                <a:cs typeface="Meiryo"/>
              </a:rPr>
              <a:t>48. Sugo 2010　／　49. Yamada 2012</a:t>
            </a:r>
          </a:p>
        </p:txBody>
      </p:sp>
      <p:sp>
        <p:nvSpPr>
          <p:cNvPr id="107" name="formula">
            <a:extLst>
              <a:ext uri="{FF2B5EF4-FFF2-40B4-BE49-F238E27FC236}">
                <a16:creationId xmlns:a16="http://schemas.microsoft.com/office/drawing/2014/main" id="{CC9F799C-B867-055B-51F7-4164FA34B3C1}"/>
              </a:ext>
            </a:extLst>
          </p:cNvPr>
          <p:cNvSpPr/>
          <p:nvPr/>
        </p:nvSpPr>
        <p:spPr>
          <a:xfrm>
            <a:off x="502920" y="1760000"/>
            <a:ext cx="11140000" cy="1450000"/>
          </a:xfrm>
          <a:prstGeom prst="roundRect">
            <a:avLst>
              <a:gd name="adj" fmla="val 4000"/>
            </a:avLst>
          </a:prstGeom>
          <a:solidFill>
            <a:schemeClr val="bg1">
              <a:lumMod val="95000"/>
            </a:schemeClr>
          </a:solidFill>
          <a:ln w="28575">
            <a:noFill/>
          </a:ln>
          <a:effectLst/>
        </p:spPr>
        <p:txBody>
          <a:bodyPr wrap="square" lIns="91440" tIns="45720" rIns="91440" bIns="45720" rtlCol="0" anchor="ctr">
            <a:noAutofit/>
          </a:bodyPr>
          <a:lstStyle/>
          <a:p>
            <a:pPr algn="ctr">
              <a:lnSpc>
                <a:spcPct val="120000"/>
              </a:lnSpc>
            </a:pPr>
            <a:r>
              <a:rPr lang="ja-JP" altLang="en-US" sz="2800" b="1" dirty="0">
                <a:solidFill>
                  <a:srgbClr val="262626"/>
                </a:solidFill>
                <a:latin typeface="Meiryo"/>
                <a:ea typeface="Meiryo"/>
                <a:cs typeface="Meiryo"/>
              </a:rPr>
              <a:t>esCCO ＝ esSV × HR</a:t>
            </a:r>
          </a:p>
          <a:p>
            <a:pPr algn="ctr">
              <a:lnSpc>
                <a:spcPct val="120000"/>
              </a:lnSpc>
            </a:pPr>
            <a:r>
              <a:rPr lang="ja-JP" altLang="en-US" sz="2800" b="1" dirty="0">
                <a:solidFill>
                  <a:srgbClr val="262626"/>
                </a:solidFill>
                <a:latin typeface="Meiryo"/>
                <a:ea typeface="Meiryo"/>
                <a:cs typeface="Meiryo"/>
              </a:rPr>
              <a:t>esSV ＝ K ×（β − α・PWTT）</a:t>
            </a:r>
          </a:p>
        </p:txBody>
      </p:sp>
      <p:sp>
        <p:nvSpPr>
          <p:cNvPr id="108" name="l-bg">
            <a:extLst>
              <a:ext uri="{FF2B5EF4-FFF2-40B4-BE49-F238E27FC236}">
                <a16:creationId xmlns:a16="http://schemas.microsoft.com/office/drawing/2014/main" id="{3AD2A2C9-3E87-9B74-FCDD-BBE45176FFCA}"/>
              </a:ext>
            </a:extLst>
          </p:cNvPr>
          <p:cNvSpPr/>
          <p:nvPr/>
        </p:nvSpPr>
        <p:spPr>
          <a:xfrm>
            <a:off x="502920" y="3340000"/>
            <a:ext cx="5432840" cy="1750000"/>
          </a:xfrm>
          <a:prstGeom prst="roundRect">
            <a:avLst>
              <a:gd name="adj" fmla="val 6000"/>
            </a:avLst>
          </a:prstGeom>
          <a:solidFill>
            <a:srgbClr val="EAF0F8"/>
          </a:solidFill>
          <a:ln w="19050">
            <a:noFill/>
          </a:ln>
          <a:effectLst/>
        </p:spPr>
        <p:txBody>
          <a:bodyPr wrap="square" lIns="91440" tIns="45720" rIns="91440" bIns="45720" rtlCol="0" anchor="ctr">
            <a:noAutofit/>
          </a:bodyPr>
          <a:lstStyle/>
          <a:p>
            <a:endParaRPr/>
          </a:p>
        </p:txBody>
      </p:sp>
      <p:sp>
        <p:nvSpPr>
          <p:cNvPr id="109" name="l-t">
            <a:extLst>
              <a:ext uri="{FF2B5EF4-FFF2-40B4-BE49-F238E27FC236}">
                <a16:creationId xmlns:a16="http://schemas.microsoft.com/office/drawing/2014/main" id="{DE87088B-73B3-052C-BF75-8FB77542AE00}"/>
              </a:ext>
            </a:extLst>
          </p:cNvPr>
          <p:cNvSpPr txBox="1"/>
          <p:nvPr/>
        </p:nvSpPr>
        <p:spPr>
          <a:xfrm>
            <a:off x="702920" y="349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2E5395"/>
                </a:solidFill>
                <a:latin typeface="Meiryo"/>
                <a:ea typeface="Meiryo"/>
                <a:cs typeface="Meiryo"/>
              </a:rPr>
              <a:t>PWTT ＝ PEP ＋ VTT</a:t>
            </a:r>
          </a:p>
        </p:txBody>
      </p:sp>
      <p:sp>
        <p:nvSpPr>
          <p:cNvPr id="110" name="l-b">
            <a:extLst>
              <a:ext uri="{FF2B5EF4-FFF2-40B4-BE49-F238E27FC236}">
                <a16:creationId xmlns:a16="http://schemas.microsoft.com/office/drawing/2014/main" id="{A63FEAA6-3B4F-BC43-FD10-6A864E925C93}"/>
              </a:ext>
            </a:extLst>
          </p:cNvPr>
          <p:cNvSpPr txBox="1"/>
          <p:nvPr/>
        </p:nvSpPr>
        <p:spPr>
          <a:xfrm>
            <a:off x="702920" y="404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・PEP：心臓側の時間</a:t>
            </a:r>
          </a:p>
          <a:p>
            <a:pPr algn="l">
              <a:lnSpc>
                <a:spcPct val="120000"/>
              </a:lnSpc>
            </a:pPr>
            <a:r>
              <a:rPr lang="ja-JP" altLang="en-US" sz="2200" b="1" dirty="0">
                <a:solidFill>
                  <a:srgbClr val="262626"/>
                </a:solidFill>
                <a:latin typeface="Meiryo"/>
                <a:ea typeface="Meiryo"/>
                <a:cs typeface="Meiryo"/>
              </a:rPr>
              <a:t>・VTT：血管側の時間</a:t>
            </a:r>
          </a:p>
        </p:txBody>
      </p:sp>
      <p:sp>
        <p:nvSpPr>
          <p:cNvPr id="111" name="r-bg">
            <a:extLst>
              <a:ext uri="{FF2B5EF4-FFF2-40B4-BE49-F238E27FC236}">
                <a16:creationId xmlns:a16="http://schemas.microsoft.com/office/drawing/2014/main" id="{76A83126-6FE6-4ECB-C71A-37321C433EFD}"/>
              </a:ext>
            </a:extLst>
          </p:cNvPr>
          <p:cNvSpPr/>
          <p:nvPr/>
        </p:nvSpPr>
        <p:spPr>
          <a:xfrm>
            <a:off x="6210080" y="3340000"/>
            <a:ext cx="5432840" cy="1750000"/>
          </a:xfrm>
          <a:prstGeom prst="roundRect">
            <a:avLst>
              <a:gd name="adj" fmla="val 6000"/>
            </a:avLst>
          </a:prstGeom>
          <a:solidFill>
            <a:srgbClr val="FDF0E6"/>
          </a:solidFill>
          <a:ln w="19050">
            <a:noFill/>
          </a:ln>
          <a:effectLst/>
        </p:spPr>
        <p:txBody>
          <a:bodyPr wrap="square" lIns="91440" tIns="45720" rIns="91440" bIns="45720" rtlCol="0" anchor="ctr">
            <a:noAutofit/>
          </a:bodyPr>
          <a:lstStyle/>
          <a:p>
            <a:endParaRPr/>
          </a:p>
        </p:txBody>
      </p:sp>
      <p:sp>
        <p:nvSpPr>
          <p:cNvPr id="112" name="r-t">
            <a:extLst>
              <a:ext uri="{FF2B5EF4-FFF2-40B4-BE49-F238E27FC236}">
                <a16:creationId xmlns:a16="http://schemas.microsoft.com/office/drawing/2014/main" id="{95CAC4F5-9C55-75C5-B1CB-D1CCCD982151}"/>
              </a:ext>
            </a:extLst>
          </p:cNvPr>
          <p:cNvSpPr txBox="1"/>
          <p:nvPr/>
        </p:nvSpPr>
        <p:spPr>
          <a:xfrm>
            <a:off x="6410080" y="349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C55A11"/>
                </a:solidFill>
                <a:latin typeface="Meiryo"/>
                <a:ea typeface="Meiryo"/>
                <a:cs typeface="Meiryo"/>
              </a:rPr>
              <a:t>K ＝ 較正で決まる定数</a:t>
            </a:r>
          </a:p>
        </p:txBody>
      </p:sp>
      <p:sp>
        <p:nvSpPr>
          <p:cNvPr id="113" name="r-b">
            <a:extLst>
              <a:ext uri="{FF2B5EF4-FFF2-40B4-BE49-F238E27FC236}">
                <a16:creationId xmlns:a16="http://schemas.microsoft.com/office/drawing/2014/main" id="{564EF271-A5D4-AD1A-7D11-E985913D5553}"/>
              </a:ext>
            </a:extLst>
          </p:cNvPr>
          <p:cNvSpPr txBox="1"/>
          <p:nvPr/>
        </p:nvSpPr>
        <p:spPr>
          <a:xfrm>
            <a:off x="6410080" y="404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・年齢・身長・体重 から</a:t>
            </a:r>
          </a:p>
          <a:p>
            <a:pPr algn="l">
              <a:lnSpc>
                <a:spcPct val="120000"/>
              </a:lnSpc>
            </a:pPr>
            <a:r>
              <a:rPr lang="ja-JP" altLang="en-US" sz="2200" b="1" dirty="0">
                <a:solidFill>
                  <a:srgbClr val="262626"/>
                </a:solidFill>
                <a:latin typeface="Meiryo"/>
                <a:ea typeface="Meiryo"/>
                <a:cs typeface="Meiryo"/>
              </a:rPr>
              <a:t>・または実測 CO で較正</a:t>
            </a:r>
          </a:p>
        </p:txBody>
      </p:sp>
      <p:sp>
        <p:nvSpPr>
          <p:cNvPr id="115" name="PageNo">
            <a:extLst>
              <a:ext uri="{FF2B5EF4-FFF2-40B4-BE49-F238E27FC236}">
                <a16:creationId xmlns:a16="http://schemas.microsoft.com/office/drawing/2014/main" id="{C6DFC5F2-7815-9A21-22CA-F17CFDDE3DEA}"/>
              </a:ext>
            </a:extLst>
          </p:cNvPr>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94/118</a:t>
            </a:r>
          </a:p>
        </p:txBody>
      </p:sp>
      <p:sp>
        <p:nvSpPr>
          <p:cNvPr id="116"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17"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18"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19"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20"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21" name="Off-page Connector 4">
            <a:extLst>
              <a:ext uri="{FF2B5EF4-FFF2-40B4-BE49-F238E27FC236}">
                <a16:creationId xmlns:a16="http://schemas.microsoft.com/office/drawing/2014/main" id="{AA9D36CE-3772-F005-B54C-9329ADA7F086}"/>
              </a:ext>
            </a:extLst>
          </p:cNvPr>
          <p:cNvSpPr/>
          <p:nvPr/>
        </p:nvSpPr>
        <p:spPr>
          <a:xfrm>
            <a:off x="1151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6</a:t>
            </a:r>
          </a:p>
          <a:p>
            <a:pPr algn="ctr"/>
            <a:r>
              <a:rPr sz="1050" b="1">
                <a:solidFill>
                  <a:srgbClr val="FFFFFF"/>
                </a:solidFill>
                <a:latin typeface="Meiryo"/>
                <a:ea typeface="Meiryo"/>
                <a:cs typeface="Meiryo"/>
              </a:rPr>
              <a:t>提案</a:t>
            </a:r>
          </a:p>
        </p:txBody>
      </p:sp>
    </p:spTree>
    <p:extLst>
      <p:ext uri="{BB962C8B-B14F-4D97-AF65-F5344CB8AC3E}">
        <p14:creationId xmlns:p14="http://schemas.microsoft.com/office/powerpoint/2010/main" val="15378040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6.1  esCCO の推定構造</a:t>
            </a:r>
          </a:p>
        </p:txBody>
      </p:sp>
      <p:sp>
        <p:nvSpPr>
          <p:cNvPr id="105" name="Source"/>
          <p:cNvSpPr txBox="1"/>
          <p:nvPr/>
        </p:nvSpPr>
        <p:spPr>
          <a:xfrm>
            <a:off x="720000" y="6606000"/>
            <a:ext cx="10881360" cy="200000"/>
          </a:xfrm>
          <a:prstGeom prst="rect">
            <a:avLst/>
          </a:prstGeom>
          <a:noFill/>
        </p:spPr>
        <p:txBody>
          <a:bodyPr wrap="square" lIns="0" tIns="0" rIns="0" bIns="0" anchor="t">
            <a:spAutoFit/>
          </a:bodyPr>
          <a:lstStyle/>
          <a:p>
            <a:pPr algn="l"/>
            <a:r>
              <a:rPr sz="1050">
                <a:solidFill>
                  <a:srgbClr val="808080"/>
                </a:solidFill>
                <a:latin typeface="Meiryo"/>
                <a:ea typeface="Meiryo"/>
                <a:cs typeface="Meiryo"/>
              </a:rPr>
              <a:t>48. Sugo 2010　／　49. Yamada 2012</a:t>
            </a:r>
          </a:p>
        </p:txBody>
      </p:sp>
      <p:sp>
        <p:nvSpPr>
          <p:cNvPr id="107" name="formula"/>
          <p:cNvSpPr/>
          <p:nvPr/>
        </p:nvSpPr>
        <p:spPr>
          <a:xfrm>
            <a:off x="502920" y="1760000"/>
            <a:ext cx="11140000" cy="1450000"/>
          </a:xfrm>
          <a:prstGeom prst="roundRect">
            <a:avLst>
              <a:gd name="adj" fmla="val 4000"/>
            </a:avLst>
          </a:prstGeom>
          <a:solidFill>
            <a:schemeClr val="bg1">
              <a:lumMod val="95000"/>
            </a:schemeClr>
          </a:solidFill>
          <a:ln w="28575">
            <a:noFill/>
          </a:ln>
          <a:effectLst/>
        </p:spPr>
        <p:txBody>
          <a:bodyPr wrap="square" lIns="91440" tIns="45720" rIns="91440" bIns="45720" rtlCol="0" anchor="ctr">
            <a:noAutofit/>
          </a:bodyPr>
          <a:lstStyle/>
          <a:p>
            <a:pPr algn="ctr">
              <a:lnSpc>
                <a:spcPct val="120000"/>
              </a:lnSpc>
            </a:pPr>
            <a:r>
              <a:rPr lang="ja-JP" altLang="en-US" sz="2800" b="1" dirty="0">
                <a:solidFill>
                  <a:srgbClr val="262626"/>
                </a:solidFill>
                <a:latin typeface="Meiryo"/>
                <a:ea typeface="Meiryo"/>
                <a:cs typeface="Meiryo"/>
              </a:rPr>
              <a:t>esCCO ＝ esSV × HR</a:t>
            </a:r>
          </a:p>
          <a:p>
            <a:pPr algn="ctr">
              <a:lnSpc>
                <a:spcPct val="120000"/>
              </a:lnSpc>
            </a:pPr>
            <a:r>
              <a:rPr lang="ja-JP" altLang="en-US" sz="2800" b="1" dirty="0">
                <a:solidFill>
                  <a:srgbClr val="262626"/>
                </a:solidFill>
                <a:latin typeface="Meiryo"/>
                <a:ea typeface="Meiryo"/>
                <a:cs typeface="Meiryo"/>
              </a:rPr>
              <a:t>esSV ＝ K ×（β − α・PWTT）</a:t>
            </a:r>
          </a:p>
        </p:txBody>
      </p:sp>
      <p:sp>
        <p:nvSpPr>
          <p:cNvPr id="108" name="l-bg"/>
          <p:cNvSpPr/>
          <p:nvPr/>
        </p:nvSpPr>
        <p:spPr>
          <a:xfrm>
            <a:off x="502920" y="3340000"/>
            <a:ext cx="5432840" cy="1750000"/>
          </a:xfrm>
          <a:prstGeom prst="roundRect">
            <a:avLst>
              <a:gd name="adj" fmla="val 6000"/>
            </a:avLst>
          </a:prstGeom>
          <a:solidFill>
            <a:srgbClr val="EAF0F8"/>
          </a:solidFill>
          <a:ln w="19050">
            <a:noFill/>
          </a:ln>
          <a:effectLst/>
        </p:spPr>
        <p:txBody>
          <a:bodyPr wrap="square" lIns="91440" tIns="45720" rIns="91440" bIns="45720" rtlCol="0" anchor="ctr">
            <a:noAutofit/>
          </a:bodyPr>
          <a:lstStyle/>
          <a:p>
            <a:endParaRPr/>
          </a:p>
        </p:txBody>
      </p:sp>
      <p:sp>
        <p:nvSpPr>
          <p:cNvPr id="109" name="l-t"/>
          <p:cNvSpPr txBox="1"/>
          <p:nvPr/>
        </p:nvSpPr>
        <p:spPr>
          <a:xfrm>
            <a:off x="702920" y="349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2E5395"/>
                </a:solidFill>
                <a:latin typeface="Meiryo"/>
                <a:ea typeface="Meiryo"/>
                <a:cs typeface="Meiryo"/>
              </a:rPr>
              <a:t>PWTT ＝ PEP ＋ VTT</a:t>
            </a:r>
          </a:p>
        </p:txBody>
      </p:sp>
      <p:sp>
        <p:nvSpPr>
          <p:cNvPr id="110" name="l-b"/>
          <p:cNvSpPr txBox="1"/>
          <p:nvPr/>
        </p:nvSpPr>
        <p:spPr>
          <a:xfrm>
            <a:off x="702920" y="404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・PEP：心臓側の時間</a:t>
            </a:r>
          </a:p>
          <a:p>
            <a:pPr algn="l">
              <a:lnSpc>
                <a:spcPct val="120000"/>
              </a:lnSpc>
            </a:pPr>
            <a:r>
              <a:rPr lang="ja-JP" altLang="en-US" sz="2200" b="1" dirty="0">
                <a:solidFill>
                  <a:srgbClr val="262626"/>
                </a:solidFill>
                <a:latin typeface="Meiryo"/>
                <a:ea typeface="Meiryo"/>
                <a:cs typeface="Meiryo"/>
              </a:rPr>
              <a:t>・VTT：血管側の時間</a:t>
            </a:r>
          </a:p>
        </p:txBody>
      </p:sp>
      <p:sp>
        <p:nvSpPr>
          <p:cNvPr id="111" name="r-bg"/>
          <p:cNvSpPr/>
          <p:nvPr/>
        </p:nvSpPr>
        <p:spPr>
          <a:xfrm>
            <a:off x="6210080" y="3340000"/>
            <a:ext cx="5432840" cy="1750000"/>
          </a:xfrm>
          <a:prstGeom prst="roundRect">
            <a:avLst>
              <a:gd name="adj" fmla="val 6000"/>
            </a:avLst>
          </a:prstGeom>
          <a:solidFill>
            <a:srgbClr val="FDF0E6"/>
          </a:solidFill>
          <a:ln w="19050">
            <a:noFill/>
          </a:ln>
          <a:effectLst/>
        </p:spPr>
        <p:txBody>
          <a:bodyPr wrap="square" lIns="91440" tIns="45720" rIns="91440" bIns="45720" rtlCol="0" anchor="ctr">
            <a:noAutofit/>
          </a:bodyPr>
          <a:lstStyle/>
          <a:p>
            <a:endParaRPr/>
          </a:p>
        </p:txBody>
      </p:sp>
      <p:sp>
        <p:nvSpPr>
          <p:cNvPr id="112" name="r-t"/>
          <p:cNvSpPr txBox="1"/>
          <p:nvPr/>
        </p:nvSpPr>
        <p:spPr>
          <a:xfrm>
            <a:off x="6410080" y="349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C55A11"/>
                </a:solidFill>
                <a:latin typeface="Meiryo"/>
                <a:ea typeface="Meiryo"/>
                <a:cs typeface="Meiryo"/>
              </a:rPr>
              <a:t>K ＝ 較正で決まる定数</a:t>
            </a:r>
          </a:p>
        </p:txBody>
      </p:sp>
      <p:sp>
        <p:nvSpPr>
          <p:cNvPr id="113" name="r-b"/>
          <p:cNvSpPr txBox="1"/>
          <p:nvPr/>
        </p:nvSpPr>
        <p:spPr>
          <a:xfrm>
            <a:off x="6410080" y="404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・年齢・身長・体重 から</a:t>
            </a:r>
          </a:p>
          <a:p>
            <a:pPr algn="l">
              <a:lnSpc>
                <a:spcPct val="120000"/>
              </a:lnSpc>
            </a:pPr>
            <a:r>
              <a:rPr lang="ja-JP" altLang="en-US" sz="2200" b="1" dirty="0">
                <a:solidFill>
                  <a:srgbClr val="262626"/>
                </a:solidFill>
                <a:latin typeface="Meiryo"/>
                <a:ea typeface="Meiryo"/>
                <a:cs typeface="Meiryo"/>
              </a:rPr>
              <a:t>・または実測 CO で較正</a:t>
            </a:r>
          </a:p>
        </p:txBody>
      </p:sp>
      <p:sp>
        <p:nvSpPr>
          <p:cNvPr id="115"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95/118</a:t>
            </a:r>
          </a:p>
        </p:txBody>
      </p:sp>
      <p:sp>
        <p:nvSpPr>
          <p:cNvPr id="3" name="formula">
            <a:extLst>
              <a:ext uri="{FF2B5EF4-FFF2-40B4-BE49-F238E27FC236}">
                <a16:creationId xmlns:a16="http://schemas.microsoft.com/office/drawing/2014/main" id="{92DDB458-E35C-38EE-28FC-C8A4CA89D426}"/>
              </a:ext>
            </a:extLst>
          </p:cNvPr>
          <p:cNvSpPr/>
          <p:nvPr/>
        </p:nvSpPr>
        <p:spPr>
          <a:xfrm>
            <a:off x="502920" y="5194872"/>
            <a:ext cx="11140000" cy="900000"/>
          </a:xfrm>
          <a:prstGeom prst="roundRect">
            <a:avLst>
              <a:gd name="adj" fmla="val 4000"/>
            </a:avLst>
          </a:prstGeom>
          <a:solidFill>
            <a:srgbClr val="FFF3D6"/>
          </a:solidFill>
          <a:ln w="28575">
            <a:solidFill>
              <a:srgbClr val="BF9000"/>
            </a:solidFill>
          </a:ln>
          <a:effectLst/>
        </p:spPr>
        <p:txBody>
          <a:bodyPr wrap="square" lIns="91440" tIns="45720" rIns="91440" bIns="45720" rtlCol="0" anchor="ctr">
            <a:noAutofit/>
          </a:bodyPr>
          <a:lstStyle/>
          <a:p>
            <a:pPr algn="ctr">
              <a:lnSpc>
                <a:spcPct val="120000"/>
              </a:lnSpc>
            </a:pPr>
            <a:r>
              <a:rPr lang="en-US" altLang="ja-JP" sz="2800" b="1" dirty="0">
                <a:solidFill>
                  <a:srgbClr val="262626"/>
                </a:solidFill>
                <a:latin typeface="Meiryo"/>
                <a:ea typeface="Meiryo"/>
                <a:cs typeface="Meiryo"/>
              </a:rPr>
              <a:t>K</a:t>
            </a:r>
            <a:r>
              <a:rPr lang="ja-JP" altLang="en-US" sz="2800" b="1">
                <a:solidFill>
                  <a:srgbClr val="262626"/>
                </a:solidFill>
                <a:latin typeface="Meiryo"/>
                <a:ea typeface="Meiryo"/>
                <a:cs typeface="Meiryo"/>
              </a:rPr>
              <a:t>に血管側の情報が入っていない。</a:t>
            </a:r>
            <a:endParaRPr lang="ja-JP" altLang="en-US" sz="2800" b="1" dirty="0">
              <a:solidFill>
                <a:srgbClr val="262626"/>
              </a:solidFill>
              <a:latin typeface="Meiryo"/>
              <a:ea typeface="Meiryo"/>
              <a:cs typeface="Meiryo"/>
            </a:endParaRPr>
          </a:p>
        </p:txBody>
      </p:sp>
      <p:sp>
        <p:nvSpPr>
          <p:cNvPr id="116"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17"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18"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19"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20"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21" name="Off-page Connector 4">
            <a:extLst>
              <a:ext uri="{FF2B5EF4-FFF2-40B4-BE49-F238E27FC236}">
                <a16:creationId xmlns:a16="http://schemas.microsoft.com/office/drawing/2014/main" id="{AA9D36CE-3772-F005-B54C-9329ADA7F086}"/>
              </a:ext>
            </a:extLst>
          </p:cNvPr>
          <p:cNvSpPr/>
          <p:nvPr/>
        </p:nvSpPr>
        <p:spPr>
          <a:xfrm>
            <a:off x="1151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6</a:t>
            </a:r>
          </a:p>
          <a:p>
            <a:pPr algn="ctr"/>
            <a:r>
              <a:rPr sz="1050" b="1">
                <a:solidFill>
                  <a:srgbClr val="FFFFFF"/>
                </a:solidFill>
                <a:latin typeface="Meiryo"/>
                <a:ea typeface="Meiryo"/>
                <a:cs typeface="Meiryo"/>
              </a:rPr>
              <a:t>提案</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6.1  後負荷で符号が反転</a:t>
            </a:r>
          </a:p>
        </p:txBody>
      </p:sp>
      <p:sp>
        <p:nvSpPr>
          <p:cNvPr id="119" name="Source"/>
          <p:cNvSpPr txBox="1"/>
          <p:nvPr/>
        </p:nvSpPr>
        <p:spPr>
          <a:xfrm>
            <a:off x="720000" y="6606000"/>
            <a:ext cx="10881360" cy="200000"/>
          </a:xfrm>
          <a:prstGeom prst="rect">
            <a:avLst/>
          </a:prstGeom>
          <a:noFill/>
        </p:spPr>
        <p:txBody>
          <a:bodyPr wrap="square" lIns="0" tIns="0" rIns="0" bIns="0" anchor="t">
            <a:spAutoFit/>
          </a:bodyPr>
          <a:lstStyle/>
          <a:p>
            <a:pPr algn="l"/>
            <a:r>
              <a:rPr sz="1050">
                <a:solidFill>
                  <a:srgbClr val="808080"/>
                </a:solidFill>
                <a:latin typeface="Meiryo"/>
                <a:ea typeface="Meiryo"/>
                <a:cs typeface="Meiryo"/>
              </a:rPr>
              <a:t>50. Sugo 2012　／　51. Nakamura 1983</a:t>
            </a:r>
          </a:p>
        </p:txBody>
      </p:sp>
      <p:sp>
        <p:nvSpPr>
          <p:cNvPr id="121" name="c0-bg"/>
          <p:cNvSpPr/>
          <p:nvPr/>
        </p:nvSpPr>
        <p:spPr>
          <a:xfrm>
            <a:off x="590680" y="2757077"/>
            <a:ext cx="3560933" cy="1365226"/>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122" name="c0-t"/>
          <p:cNvSpPr txBox="1"/>
          <p:nvPr/>
        </p:nvSpPr>
        <p:spPr>
          <a:xfrm>
            <a:off x="790680" y="2907077"/>
            <a:ext cx="3160933" cy="480000"/>
          </a:xfrm>
          <a:prstGeom prst="rect">
            <a:avLst/>
          </a:prstGeom>
          <a:noFill/>
        </p:spPr>
        <p:txBody>
          <a:bodyPr wrap="square" lIns="0" tIns="0" rIns="0" bIns="0" anchor="t">
            <a:noAutofit/>
          </a:bodyPr>
          <a:lstStyle/>
          <a:p>
            <a:pPr algn="ctr">
              <a:lnSpc>
                <a:spcPct val="120000"/>
              </a:lnSpc>
            </a:pPr>
            <a:r>
              <a:rPr lang="ja-JP" altLang="en-US" sz="2400" b="1" dirty="0">
                <a:solidFill>
                  <a:srgbClr val="2E5395"/>
                </a:solidFill>
                <a:latin typeface="Meiryo"/>
                <a:ea typeface="Meiryo"/>
                <a:cs typeface="Meiryo"/>
              </a:rPr>
              <a:t>PEP ＝ 延長</a:t>
            </a:r>
          </a:p>
        </p:txBody>
      </p:sp>
      <p:sp>
        <p:nvSpPr>
          <p:cNvPr id="123" name="c0-b"/>
          <p:cNvSpPr txBox="1"/>
          <p:nvPr/>
        </p:nvSpPr>
        <p:spPr>
          <a:xfrm>
            <a:off x="790680" y="3457077"/>
            <a:ext cx="3160933" cy="471830"/>
          </a:xfrm>
          <a:prstGeom prst="rect">
            <a:avLst/>
          </a:prstGeom>
          <a:noFill/>
        </p:spPr>
        <p:txBody>
          <a:bodyPr wrap="square" lIns="0" tIns="0" rIns="0" bIns="0" anchor="t">
            <a:noAutofit/>
          </a:bodyPr>
          <a:lstStyle/>
          <a:p>
            <a:pPr algn="ctr">
              <a:lnSpc>
                <a:spcPct val="120000"/>
              </a:lnSpc>
            </a:pPr>
            <a:r>
              <a:rPr lang="ja-JP" altLang="en-US" sz="2200" b="1" dirty="0">
                <a:solidFill>
                  <a:srgbClr val="262626"/>
                </a:solidFill>
                <a:latin typeface="Meiryo"/>
                <a:ea typeface="Meiryo"/>
                <a:cs typeface="Meiryo"/>
              </a:rPr>
              <a:t>大動脈拡張期圧 ↑</a:t>
            </a:r>
          </a:p>
        </p:txBody>
      </p:sp>
      <p:sp>
        <p:nvSpPr>
          <p:cNvPr id="124" name="c1-bg"/>
          <p:cNvSpPr/>
          <p:nvPr/>
        </p:nvSpPr>
        <p:spPr>
          <a:xfrm>
            <a:off x="4380213" y="2757077"/>
            <a:ext cx="3560933" cy="1365226"/>
          </a:xfrm>
          <a:prstGeom prst="roundRect">
            <a:avLst>
              <a:gd name="adj" fmla="val 6000"/>
            </a:avLst>
          </a:prstGeom>
          <a:solidFill>
            <a:srgbClr val="FDF0E6"/>
          </a:solidFill>
          <a:ln w="19050">
            <a:solidFill>
              <a:srgbClr val="C55A11"/>
            </a:solidFill>
          </a:ln>
          <a:effectLst/>
        </p:spPr>
        <p:txBody>
          <a:bodyPr wrap="square" lIns="91440" tIns="45720" rIns="91440" bIns="45720" rtlCol="0" anchor="ctr">
            <a:noAutofit/>
          </a:bodyPr>
          <a:lstStyle/>
          <a:p>
            <a:endParaRPr/>
          </a:p>
        </p:txBody>
      </p:sp>
      <p:sp>
        <p:nvSpPr>
          <p:cNvPr id="125" name="c1-t"/>
          <p:cNvSpPr txBox="1"/>
          <p:nvPr/>
        </p:nvSpPr>
        <p:spPr>
          <a:xfrm>
            <a:off x="4580213" y="2907077"/>
            <a:ext cx="3160933" cy="480000"/>
          </a:xfrm>
          <a:prstGeom prst="rect">
            <a:avLst/>
          </a:prstGeom>
          <a:noFill/>
        </p:spPr>
        <p:txBody>
          <a:bodyPr wrap="square" lIns="0" tIns="0" rIns="0" bIns="0" anchor="t">
            <a:noAutofit/>
          </a:bodyPr>
          <a:lstStyle/>
          <a:p>
            <a:pPr algn="ctr">
              <a:lnSpc>
                <a:spcPct val="120000"/>
              </a:lnSpc>
            </a:pPr>
            <a:r>
              <a:rPr lang="ja-JP" altLang="en-US" sz="2400" b="1" dirty="0">
                <a:solidFill>
                  <a:srgbClr val="C55A11"/>
                </a:solidFill>
                <a:latin typeface="Meiryo"/>
                <a:ea typeface="Meiryo"/>
                <a:cs typeface="Meiryo"/>
              </a:rPr>
              <a:t>VTT ＝ 短縮</a:t>
            </a:r>
          </a:p>
        </p:txBody>
      </p:sp>
      <p:sp>
        <p:nvSpPr>
          <p:cNvPr id="126" name="c1-b"/>
          <p:cNvSpPr txBox="1"/>
          <p:nvPr/>
        </p:nvSpPr>
        <p:spPr>
          <a:xfrm>
            <a:off x="4580213" y="3457077"/>
            <a:ext cx="3160933" cy="471830"/>
          </a:xfrm>
          <a:prstGeom prst="rect">
            <a:avLst/>
          </a:prstGeom>
          <a:noFill/>
        </p:spPr>
        <p:txBody>
          <a:bodyPr wrap="square" lIns="0" tIns="0" rIns="0" bIns="0" anchor="t">
            <a:noAutofit/>
          </a:bodyPr>
          <a:lstStyle/>
          <a:p>
            <a:pPr algn="ctr">
              <a:lnSpc>
                <a:spcPct val="120000"/>
              </a:lnSpc>
            </a:pPr>
            <a:r>
              <a:rPr lang="ja-JP" altLang="en-US" sz="2200" b="1" dirty="0">
                <a:solidFill>
                  <a:srgbClr val="262626"/>
                </a:solidFill>
                <a:latin typeface="Meiryo"/>
                <a:ea typeface="Meiryo"/>
                <a:cs typeface="Meiryo"/>
              </a:rPr>
              <a:t>PWV ↑ で速く伝わる</a:t>
            </a:r>
          </a:p>
        </p:txBody>
      </p:sp>
      <p:sp>
        <p:nvSpPr>
          <p:cNvPr id="127" name="c2-bg"/>
          <p:cNvSpPr/>
          <p:nvPr/>
        </p:nvSpPr>
        <p:spPr>
          <a:xfrm>
            <a:off x="8169746" y="2757077"/>
            <a:ext cx="3560933" cy="1365226"/>
          </a:xfrm>
          <a:prstGeom prst="roundRect">
            <a:avLst>
              <a:gd name="adj" fmla="val 6000"/>
            </a:avLst>
          </a:prstGeom>
          <a:solidFill>
            <a:srgbClr val="E4F5F5"/>
          </a:solidFill>
          <a:ln w="19050">
            <a:solidFill>
              <a:srgbClr val="00A8AA"/>
            </a:solidFill>
          </a:ln>
          <a:effectLst/>
        </p:spPr>
        <p:txBody>
          <a:bodyPr wrap="square" lIns="91440" tIns="45720" rIns="91440" bIns="45720" rtlCol="0" anchor="ctr">
            <a:noAutofit/>
          </a:bodyPr>
          <a:lstStyle/>
          <a:p>
            <a:endParaRPr/>
          </a:p>
        </p:txBody>
      </p:sp>
      <p:sp>
        <p:nvSpPr>
          <p:cNvPr id="128" name="c2-t"/>
          <p:cNvSpPr txBox="1"/>
          <p:nvPr/>
        </p:nvSpPr>
        <p:spPr>
          <a:xfrm>
            <a:off x="8369746" y="2907077"/>
            <a:ext cx="3160933" cy="480000"/>
          </a:xfrm>
          <a:prstGeom prst="rect">
            <a:avLst/>
          </a:prstGeom>
          <a:noFill/>
        </p:spPr>
        <p:txBody>
          <a:bodyPr wrap="square" lIns="0" tIns="0" rIns="0" bIns="0" anchor="t">
            <a:noAutofit/>
          </a:bodyPr>
          <a:lstStyle/>
          <a:p>
            <a:pPr algn="ctr">
              <a:lnSpc>
                <a:spcPct val="120000"/>
              </a:lnSpc>
            </a:pPr>
            <a:r>
              <a:rPr lang="ja-JP" altLang="en-US" sz="2400" b="1" dirty="0">
                <a:solidFill>
                  <a:srgbClr val="00A8AA"/>
                </a:solidFill>
                <a:latin typeface="Meiryo"/>
                <a:ea typeface="Meiryo"/>
                <a:cs typeface="Meiryo"/>
              </a:rPr>
              <a:t>PWTT ＝ 不定</a:t>
            </a:r>
          </a:p>
        </p:txBody>
      </p:sp>
      <p:sp>
        <p:nvSpPr>
          <p:cNvPr id="129" name="c2-b"/>
          <p:cNvSpPr txBox="1"/>
          <p:nvPr/>
        </p:nvSpPr>
        <p:spPr>
          <a:xfrm>
            <a:off x="8369746" y="3457077"/>
            <a:ext cx="3160933" cy="471830"/>
          </a:xfrm>
          <a:prstGeom prst="rect">
            <a:avLst/>
          </a:prstGeom>
          <a:noFill/>
        </p:spPr>
        <p:txBody>
          <a:bodyPr wrap="square" lIns="0" tIns="0" rIns="0" bIns="0" anchor="t">
            <a:noAutofit/>
          </a:bodyPr>
          <a:lstStyle/>
          <a:p>
            <a:pPr algn="ctr">
              <a:lnSpc>
                <a:spcPct val="120000"/>
              </a:lnSpc>
            </a:pPr>
            <a:r>
              <a:rPr lang="ja-JP" altLang="en-US" sz="2200" b="1" dirty="0">
                <a:solidFill>
                  <a:srgbClr val="262626"/>
                </a:solidFill>
                <a:latin typeface="Meiryo"/>
                <a:ea typeface="Meiryo"/>
                <a:cs typeface="Meiryo"/>
              </a:rPr>
              <a:t>二つが打ち消し合う</a:t>
            </a:r>
          </a:p>
        </p:txBody>
      </p:sp>
      <p:sp>
        <p:nvSpPr>
          <p:cNvPr id="131" name="note"/>
          <p:cNvSpPr/>
          <p:nvPr/>
        </p:nvSpPr>
        <p:spPr>
          <a:xfrm>
            <a:off x="590680" y="4446632"/>
            <a:ext cx="11140000" cy="900000"/>
          </a:xfrm>
          <a:prstGeom prst="roundRect">
            <a:avLst>
              <a:gd name="adj" fmla="val 4000"/>
            </a:avLst>
          </a:prstGeom>
          <a:solidFill>
            <a:srgbClr val="FFF3D6"/>
          </a:solidFill>
          <a:ln w="28575">
            <a:solidFill>
              <a:srgbClr val="BF9000"/>
            </a:solidFill>
          </a:ln>
          <a:effectLst/>
        </p:spPr>
        <p:txBody>
          <a:bodyPr wrap="square" lIns="91440" tIns="45720" rIns="91440" bIns="45720" rtlCol="0" anchor="ctr">
            <a:noAutofit/>
          </a:bodyPr>
          <a:lstStyle/>
          <a:p>
            <a:pPr algn="ctr">
              <a:lnSpc>
                <a:spcPct val="120000"/>
              </a:lnSpc>
            </a:pPr>
            <a:r>
              <a:rPr lang="ja-JP" altLang="en-US" sz="2400" b="1">
                <a:latin typeface="Meiryo"/>
                <a:ea typeface="Meiryo"/>
                <a:cs typeface="Meiryo"/>
              </a:rPr>
              <a:t>真の SV は低下、esCCO は上昇（の可能性） ＝ 符号が逆。</a:t>
            </a:r>
            <a:endParaRPr lang="ja-JP" altLang="en-US" sz="2400" b="1" dirty="0">
              <a:latin typeface="Meiryo"/>
              <a:ea typeface="Meiryo"/>
              <a:cs typeface="Meiryo"/>
            </a:endParaRPr>
          </a:p>
        </p:txBody>
      </p:sp>
      <p:sp>
        <p:nvSpPr>
          <p:cNvPr id="13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96/118</a:t>
            </a:r>
          </a:p>
        </p:txBody>
      </p:sp>
      <p:sp>
        <p:nvSpPr>
          <p:cNvPr id="3" name="テキスト ボックス 2">
            <a:extLst>
              <a:ext uri="{FF2B5EF4-FFF2-40B4-BE49-F238E27FC236}">
                <a16:creationId xmlns:a16="http://schemas.microsoft.com/office/drawing/2014/main" id="{E9B4569C-0641-A844-3396-AC58C8BA732A}"/>
              </a:ext>
            </a:extLst>
          </p:cNvPr>
          <p:cNvSpPr txBox="1"/>
          <p:nvPr/>
        </p:nvSpPr>
        <p:spPr>
          <a:xfrm>
            <a:off x="590680" y="2063416"/>
            <a:ext cx="3416320" cy="523220"/>
          </a:xfrm>
          <a:prstGeom prst="rect">
            <a:avLst/>
          </a:prstGeom>
          <a:noFill/>
        </p:spPr>
        <p:txBody>
          <a:bodyPr wrap="none" rtlCol="0">
            <a:spAutoFit/>
          </a:bodyPr>
          <a:lstStyle/>
          <a:p>
            <a:r>
              <a:rPr lang="ja-JP" altLang="en-US" sz="2800" b="1">
                <a:latin typeface="Meiryo"/>
                <a:ea typeface="Meiryo"/>
                <a:cs typeface="Meiryo"/>
              </a:rPr>
              <a:t>後負荷が増大すると</a:t>
            </a:r>
          </a:p>
        </p:txBody>
      </p:sp>
      <p:sp>
        <p:nvSpPr>
          <p:cNvPr id="133"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4"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35"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36"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37"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38" name="Off-page Connector 4">
            <a:extLst>
              <a:ext uri="{FF2B5EF4-FFF2-40B4-BE49-F238E27FC236}">
                <a16:creationId xmlns:a16="http://schemas.microsoft.com/office/drawing/2014/main" id="{AA9D36CE-3772-F005-B54C-9329ADA7F086}"/>
              </a:ext>
            </a:extLst>
          </p:cNvPr>
          <p:cNvSpPr/>
          <p:nvPr/>
        </p:nvSpPr>
        <p:spPr>
          <a:xfrm>
            <a:off x="1151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6</a:t>
            </a:r>
          </a:p>
          <a:p>
            <a:pPr algn="ctr"/>
            <a:r>
              <a:rPr sz="1050" b="1">
                <a:solidFill>
                  <a:srgbClr val="FFFFFF"/>
                </a:solidFill>
                <a:latin typeface="Meiryo"/>
                <a:ea typeface="Meiryo"/>
                <a:cs typeface="Meiryo"/>
              </a:rPr>
              <a:t>提案</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6.2  誤差と血管抵抗の関係</a:t>
            </a:r>
          </a:p>
        </p:txBody>
      </p:sp>
      <p:sp>
        <p:nvSpPr>
          <p:cNvPr id="136" name="Source"/>
          <p:cNvSpPr txBox="1"/>
          <p:nvPr/>
        </p:nvSpPr>
        <p:spPr>
          <a:xfrm>
            <a:off x="720000" y="6606000"/>
            <a:ext cx="10881360" cy="200000"/>
          </a:xfrm>
          <a:prstGeom prst="rect">
            <a:avLst/>
          </a:prstGeom>
          <a:noFill/>
        </p:spPr>
        <p:txBody>
          <a:bodyPr wrap="square" lIns="0" tIns="0" rIns="0" bIns="0" anchor="t">
            <a:spAutoFit/>
          </a:bodyPr>
          <a:lstStyle/>
          <a:p>
            <a:pPr algn="l"/>
            <a:r>
              <a:rPr sz="1050">
                <a:solidFill>
                  <a:srgbClr val="808080"/>
                </a:solidFill>
                <a:latin typeface="Meiryo"/>
                <a:ea typeface="Meiryo"/>
                <a:cs typeface="Meiryo"/>
              </a:rPr>
              <a:t>49. Yamada 2012　／　52. Biais 2015　／　53. Magliocca 2018</a:t>
            </a:r>
          </a:p>
        </p:txBody>
      </p:sp>
      <p:sp>
        <p:nvSpPr>
          <p:cNvPr id="138" name="c0-bg"/>
          <p:cNvSpPr/>
          <p:nvPr/>
        </p:nvSpPr>
        <p:spPr>
          <a:xfrm>
            <a:off x="526000" y="2019456"/>
            <a:ext cx="3560933" cy="240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139" name="c0-t"/>
          <p:cNvSpPr txBox="1"/>
          <p:nvPr/>
        </p:nvSpPr>
        <p:spPr>
          <a:xfrm>
            <a:off x="726000" y="2169456"/>
            <a:ext cx="3160933" cy="480000"/>
          </a:xfrm>
          <a:prstGeom prst="rect">
            <a:avLst/>
          </a:prstGeom>
          <a:noFill/>
        </p:spPr>
        <p:txBody>
          <a:bodyPr wrap="square" lIns="0" tIns="0" rIns="0" bIns="0" anchor="t">
            <a:noAutofit/>
          </a:bodyPr>
          <a:lstStyle/>
          <a:p>
            <a:pPr algn="ctr">
              <a:lnSpc>
                <a:spcPct val="120000"/>
              </a:lnSpc>
            </a:pPr>
            <a:r>
              <a:rPr lang="ja-JP" altLang="en-US" sz="2400" b="1" dirty="0">
                <a:solidFill>
                  <a:srgbClr val="2E5395"/>
                </a:solidFill>
                <a:latin typeface="Meiryo"/>
                <a:ea typeface="Meiryo"/>
                <a:cs typeface="Meiryo"/>
              </a:rPr>
              <a:t>Yamada 2012</a:t>
            </a:r>
          </a:p>
        </p:txBody>
      </p:sp>
      <p:sp>
        <p:nvSpPr>
          <p:cNvPr id="140" name="c0-b"/>
          <p:cNvSpPr txBox="1"/>
          <p:nvPr/>
        </p:nvSpPr>
        <p:spPr>
          <a:xfrm>
            <a:off x="726000" y="2719456"/>
            <a:ext cx="3160933" cy="1415491"/>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誤差 と SVR</a:t>
            </a:r>
          </a:p>
          <a:p>
            <a:pPr algn="l">
              <a:lnSpc>
                <a:spcPct val="120000"/>
              </a:lnSpc>
            </a:pPr>
            <a:r>
              <a:rPr lang="ja-JP" altLang="en-US" sz="2200" b="1" dirty="0">
                <a:solidFill>
                  <a:srgbClr val="262626"/>
                </a:solidFill>
                <a:latin typeface="Meiryo"/>
                <a:ea typeface="Meiryo"/>
                <a:cs typeface="Meiryo"/>
              </a:rPr>
              <a:t>r ＝ 0.37</a:t>
            </a:r>
          </a:p>
          <a:p>
            <a:pPr algn="l">
              <a:lnSpc>
                <a:spcPct val="120000"/>
              </a:lnSpc>
            </a:pPr>
            <a:r>
              <a:rPr lang="ja-JP" altLang="en-US" sz="2200" b="1" dirty="0">
                <a:solidFill>
                  <a:srgbClr val="262626"/>
                </a:solidFill>
                <a:latin typeface="Meiryo"/>
                <a:ea typeface="Meiryo"/>
                <a:cs typeface="Meiryo"/>
              </a:rPr>
              <a:t>（P&lt;0.0001）</a:t>
            </a:r>
          </a:p>
        </p:txBody>
      </p:sp>
      <p:sp>
        <p:nvSpPr>
          <p:cNvPr id="141" name="c1-bg"/>
          <p:cNvSpPr/>
          <p:nvPr/>
        </p:nvSpPr>
        <p:spPr>
          <a:xfrm>
            <a:off x="4315533" y="2019456"/>
            <a:ext cx="3560933" cy="2400000"/>
          </a:xfrm>
          <a:prstGeom prst="roundRect">
            <a:avLst>
              <a:gd name="adj" fmla="val 6000"/>
            </a:avLst>
          </a:prstGeom>
          <a:solidFill>
            <a:srgbClr val="FDF0E6"/>
          </a:solidFill>
          <a:ln w="19050">
            <a:solidFill>
              <a:srgbClr val="C55A11"/>
            </a:solidFill>
          </a:ln>
          <a:effectLst/>
        </p:spPr>
        <p:txBody>
          <a:bodyPr wrap="square" lIns="91440" tIns="45720" rIns="91440" bIns="45720" rtlCol="0" anchor="ctr">
            <a:noAutofit/>
          </a:bodyPr>
          <a:lstStyle/>
          <a:p>
            <a:endParaRPr/>
          </a:p>
        </p:txBody>
      </p:sp>
      <p:sp>
        <p:nvSpPr>
          <p:cNvPr id="142" name="c1-t"/>
          <p:cNvSpPr txBox="1"/>
          <p:nvPr/>
        </p:nvSpPr>
        <p:spPr>
          <a:xfrm>
            <a:off x="4515533" y="2169456"/>
            <a:ext cx="3160933" cy="480000"/>
          </a:xfrm>
          <a:prstGeom prst="rect">
            <a:avLst/>
          </a:prstGeom>
          <a:noFill/>
        </p:spPr>
        <p:txBody>
          <a:bodyPr wrap="square" lIns="0" tIns="0" rIns="0" bIns="0" anchor="t">
            <a:noAutofit/>
          </a:bodyPr>
          <a:lstStyle/>
          <a:p>
            <a:pPr algn="ctr">
              <a:lnSpc>
                <a:spcPct val="120000"/>
              </a:lnSpc>
            </a:pPr>
            <a:r>
              <a:rPr lang="ja-JP" altLang="en-US" sz="2400" b="1" dirty="0">
                <a:solidFill>
                  <a:srgbClr val="C55A11"/>
                </a:solidFill>
                <a:latin typeface="Meiryo"/>
                <a:ea typeface="Meiryo"/>
                <a:cs typeface="Meiryo"/>
              </a:rPr>
              <a:t>Magliocca 2018</a:t>
            </a:r>
          </a:p>
        </p:txBody>
      </p:sp>
      <p:sp>
        <p:nvSpPr>
          <p:cNvPr id="143" name="c1-b"/>
          <p:cNvSpPr txBox="1"/>
          <p:nvPr/>
        </p:nvSpPr>
        <p:spPr>
          <a:xfrm>
            <a:off x="4515533" y="2719456"/>
            <a:ext cx="3160933" cy="1415491"/>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バイアス と</a:t>
            </a:r>
          </a:p>
          <a:p>
            <a:pPr algn="l">
              <a:lnSpc>
                <a:spcPct val="120000"/>
              </a:lnSpc>
            </a:pPr>
            <a:r>
              <a:rPr lang="ja-JP" altLang="en-US" sz="2200" b="1" dirty="0">
                <a:solidFill>
                  <a:srgbClr val="262626"/>
                </a:solidFill>
                <a:latin typeface="Meiryo"/>
                <a:ea typeface="Meiryo"/>
                <a:cs typeface="Meiryo"/>
              </a:rPr>
              <a:t>SVR　r ＝ 0.610</a:t>
            </a:r>
          </a:p>
          <a:p>
            <a:pPr algn="l">
              <a:lnSpc>
                <a:spcPct val="120000"/>
              </a:lnSpc>
            </a:pPr>
            <a:r>
              <a:rPr lang="ja-JP" altLang="en-US" sz="2200" b="1" dirty="0">
                <a:solidFill>
                  <a:srgbClr val="262626"/>
                </a:solidFill>
                <a:latin typeface="Meiryo"/>
                <a:ea typeface="Meiryo"/>
                <a:cs typeface="Meiryo"/>
              </a:rPr>
              <a:t>Ea　　r ＝ 0.692</a:t>
            </a:r>
          </a:p>
        </p:txBody>
      </p:sp>
      <p:sp>
        <p:nvSpPr>
          <p:cNvPr id="144" name="c2-bg"/>
          <p:cNvSpPr/>
          <p:nvPr/>
        </p:nvSpPr>
        <p:spPr>
          <a:xfrm>
            <a:off x="8105066" y="2019456"/>
            <a:ext cx="3560933" cy="2400000"/>
          </a:xfrm>
          <a:prstGeom prst="roundRect">
            <a:avLst>
              <a:gd name="adj" fmla="val 6000"/>
            </a:avLst>
          </a:prstGeom>
          <a:solidFill>
            <a:srgbClr val="E4F5F5"/>
          </a:solidFill>
          <a:ln w="19050">
            <a:solidFill>
              <a:srgbClr val="00A8AA"/>
            </a:solidFill>
          </a:ln>
          <a:effectLst/>
        </p:spPr>
        <p:txBody>
          <a:bodyPr wrap="square" lIns="91440" tIns="45720" rIns="91440" bIns="45720" rtlCol="0" anchor="ctr">
            <a:noAutofit/>
          </a:bodyPr>
          <a:lstStyle/>
          <a:p>
            <a:endParaRPr/>
          </a:p>
        </p:txBody>
      </p:sp>
      <p:sp>
        <p:nvSpPr>
          <p:cNvPr id="145" name="c2-t"/>
          <p:cNvSpPr txBox="1"/>
          <p:nvPr/>
        </p:nvSpPr>
        <p:spPr>
          <a:xfrm>
            <a:off x="8305066" y="2169456"/>
            <a:ext cx="3160933" cy="480000"/>
          </a:xfrm>
          <a:prstGeom prst="rect">
            <a:avLst/>
          </a:prstGeom>
          <a:noFill/>
        </p:spPr>
        <p:txBody>
          <a:bodyPr wrap="square" lIns="0" tIns="0" rIns="0" bIns="0" anchor="t">
            <a:noAutofit/>
          </a:bodyPr>
          <a:lstStyle/>
          <a:p>
            <a:pPr algn="ctr">
              <a:lnSpc>
                <a:spcPct val="120000"/>
              </a:lnSpc>
            </a:pPr>
            <a:r>
              <a:rPr lang="ja-JP" altLang="en-US" sz="2400" b="1" dirty="0">
                <a:solidFill>
                  <a:srgbClr val="00A8AA"/>
                </a:solidFill>
                <a:latin typeface="Meiryo"/>
                <a:ea typeface="Meiryo"/>
                <a:cs typeface="Meiryo"/>
              </a:rPr>
              <a:t>Biais 2015</a:t>
            </a:r>
          </a:p>
        </p:txBody>
      </p:sp>
      <p:sp>
        <p:nvSpPr>
          <p:cNvPr id="146" name="c2-b"/>
          <p:cNvSpPr txBox="1"/>
          <p:nvPr/>
        </p:nvSpPr>
        <p:spPr>
          <a:xfrm>
            <a:off x="8305066" y="2719456"/>
            <a:ext cx="3160933" cy="1415491"/>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バイアス と SVR</a:t>
            </a:r>
          </a:p>
          <a:p>
            <a:pPr algn="l">
              <a:lnSpc>
                <a:spcPct val="120000"/>
              </a:lnSpc>
            </a:pPr>
            <a:r>
              <a:rPr lang="ja-JP" altLang="en-US" sz="2200" b="1" dirty="0">
                <a:solidFill>
                  <a:srgbClr val="262626"/>
                </a:solidFill>
                <a:latin typeface="Meiryo"/>
                <a:ea typeface="Meiryo"/>
                <a:cs typeface="Meiryo"/>
              </a:rPr>
              <a:t>r² ＝ 0.60</a:t>
            </a:r>
          </a:p>
          <a:p>
            <a:pPr algn="l">
              <a:lnSpc>
                <a:spcPct val="120000"/>
              </a:lnSpc>
            </a:pPr>
            <a:r>
              <a:rPr lang="ja-JP" altLang="en-US" sz="2200" b="1" dirty="0">
                <a:solidFill>
                  <a:srgbClr val="262626"/>
                </a:solidFill>
                <a:latin typeface="Meiryo"/>
                <a:ea typeface="Meiryo"/>
                <a:cs typeface="Meiryo"/>
              </a:rPr>
              <a:t>CO 変化は追えず</a:t>
            </a:r>
          </a:p>
        </p:txBody>
      </p:sp>
      <p:sp>
        <p:nvSpPr>
          <p:cNvPr id="147" name="b1"/>
          <p:cNvSpPr/>
          <p:nvPr/>
        </p:nvSpPr>
        <p:spPr>
          <a:xfrm>
            <a:off x="526000" y="4619456"/>
            <a:ext cx="11140000" cy="1148912"/>
          </a:xfrm>
          <a:prstGeom prst="roundRect">
            <a:avLst>
              <a:gd name="adj" fmla="val 4000"/>
            </a:avLst>
          </a:prstGeom>
          <a:solidFill>
            <a:srgbClr val="FFF3D6"/>
          </a:solidFill>
          <a:ln w="28575">
            <a:solidFill>
              <a:srgbClr val="BF9000"/>
            </a:solidFill>
          </a:ln>
          <a:effectLst/>
        </p:spPr>
        <p:txBody>
          <a:bodyPr wrap="square" lIns="91440" tIns="45720" rIns="91440" bIns="45720" rtlCol="0" anchor="ctr">
            <a:noAutofit/>
          </a:bodyPr>
          <a:lstStyle/>
          <a:p>
            <a:pPr algn="ctr">
              <a:lnSpc>
                <a:spcPct val="120000"/>
              </a:lnSpc>
            </a:pPr>
            <a:r>
              <a:rPr lang="en-US" altLang="ja-JP" sz="2400" b="1" dirty="0" err="1">
                <a:solidFill>
                  <a:srgbClr val="262626"/>
                </a:solidFill>
                <a:latin typeface="Meiryo"/>
                <a:ea typeface="Meiryo"/>
                <a:cs typeface="Meiryo"/>
              </a:rPr>
              <a:t>esCCO</a:t>
            </a:r>
            <a:r>
              <a:rPr lang="ja-JP" altLang="en-US" sz="2400" b="1">
                <a:solidFill>
                  <a:srgbClr val="262626"/>
                </a:solidFill>
                <a:latin typeface="Meiryo"/>
                <a:ea typeface="Meiryo"/>
                <a:cs typeface="Meiryo"/>
              </a:rPr>
              <a:t>の誤差</a:t>
            </a:r>
            <a:r>
              <a:rPr lang="ja-JP" altLang="en-US" sz="2400" b="1" dirty="0">
                <a:solidFill>
                  <a:srgbClr val="262626"/>
                </a:solidFill>
                <a:latin typeface="Meiryo"/>
                <a:ea typeface="Meiryo"/>
                <a:cs typeface="Meiryo"/>
              </a:rPr>
              <a:t>はランダムではなく、</a:t>
            </a:r>
            <a:r>
              <a:rPr lang="ja-JP" altLang="en-US" sz="2400" b="1">
                <a:solidFill>
                  <a:srgbClr val="262626"/>
                </a:solidFill>
                <a:latin typeface="Meiryo"/>
                <a:ea typeface="Meiryo"/>
                <a:cs typeface="Meiryo"/>
              </a:rPr>
              <a:t>血管抵抗に関連する。</a:t>
            </a:r>
            <a:endParaRPr lang="en-US" altLang="ja-JP" sz="2400" b="1" dirty="0">
              <a:solidFill>
                <a:srgbClr val="262626"/>
              </a:solidFill>
              <a:latin typeface="Meiryo"/>
              <a:ea typeface="Meiryo"/>
              <a:cs typeface="Meiryo"/>
            </a:endParaRPr>
          </a:p>
          <a:p>
            <a:pPr algn="ctr">
              <a:lnSpc>
                <a:spcPct val="120000"/>
              </a:lnSpc>
            </a:pPr>
            <a:r>
              <a:rPr lang="ja-JP" altLang="en-US" sz="2400" b="1">
                <a:solidFill>
                  <a:srgbClr val="262626"/>
                </a:solidFill>
                <a:latin typeface="Meiryo"/>
                <a:ea typeface="Meiryo"/>
                <a:cs typeface="Meiryo"/>
              </a:rPr>
              <a:t>血管抵抗の情報で</a:t>
            </a:r>
            <a:r>
              <a:rPr lang="en-US" altLang="ja-JP" sz="2400" b="1" dirty="0" err="1">
                <a:solidFill>
                  <a:srgbClr val="262626"/>
                </a:solidFill>
                <a:latin typeface="Meiryo"/>
                <a:ea typeface="Meiryo"/>
                <a:cs typeface="Meiryo"/>
              </a:rPr>
              <a:t>esCCO</a:t>
            </a:r>
            <a:r>
              <a:rPr lang="ja-JP" altLang="en-US" sz="2400" b="1">
                <a:solidFill>
                  <a:srgbClr val="262626"/>
                </a:solidFill>
                <a:latin typeface="Meiryo"/>
                <a:ea typeface="Meiryo"/>
                <a:cs typeface="Meiryo"/>
              </a:rPr>
              <a:t>を補正できるのでは？</a:t>
            </a:r>
            <a:endParaRPr lang="ja-JP" altLang="en-US" sz="2400" b="1" dirty="0">
              <a:solidFill>
                <a:srgbClr val="262626"/>
              </a:solidFill>
              <a:latin typeface="Meiryo"/>
              <a:ea typeface="Meiryo"/>
              <a:cs typeface="Meiryo"/>
            </a:endParaRPr>
          </a:p>
        </p:txBody>
      </p:sp>
      <p:sp>
        <p:nvSpPr>
          <p:cNvPr id="14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97/118</a:t>
            </a:r>
          </a:p>
        </p:txBody>
      </p:sp>
      <p:sp>
        <p:nvSpPr>
          <p:cNvPr id="150"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51"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2"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3"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54"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55" name="Off-page Connector 4">
            <a:extLst>
              <a:ext uri="{FF2B5EF4-FFF2-40B4-BE49-F238E27FC236}">
                <a16:creationId xmlns:a16="http://schemas.microsoft.com/office/drawing/2014/main" id="{AA9D36CE-3772-F005-B54C-9329ADA7F086}"/>
              </a:ext>
            </a:extLst>
          </p:cNvPr>
          <p:cNvSpPr/>
          <p:nvPr/>
        </p:nvSpPr>
        <p:spPr>
          <a:xfrm>
            <a:off x="1151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6</a:t>
            </a:r>
          </a:p>
          <a:p>
            <a:pPr algn="ctr"/>
            <a:r>
              <a:rPr sz="1050" b="1">
                <a:solidFill>
                  <a:srgbClr val="FFFFFF"/>
                </a:solidFill>
                <a:latin typeface="Meiryo"/>
                <a:ea typeface="Meiryo"/>
                <a:cs typeface="Meiryo"/>
              </a:rPr>
              <a:t>提案</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6.2  精度の現在地</a:t>
            </a:r>
          </a:p>
        </p:txBody>
      </p:sp>
      <p:sp>
        <p:nvSpPr>
          <p:cNvPr id="153" name="Source"/>
          <p:cNvSpPr txBox="1"/>
          <p:nvPr/>
        </p:nvSpPr>
        <p:spPr>
          <a:xfrm>
            <a:off x="720000" y="6606000"/>
            <a:ext cx="10881360" cy="200000"/>
          </a:xfrm>
          <a:prstGeom prst="rect">
            <a:avLst/>
          </a:prstGeom>
          <a:noFill/>
        </p:spPr>
        <p:txBody>
          <a:bodyPr wrap="square" lIns="0" tIns="0" rIns="0" bIns="0" anchor="t">
            <a:spAutoFit/>
          </a:bodyPr>
          <a:lstStyle/>
          <a:p>
            <a:pPr algn="l"/>
            <a:r>
              <a:rPr sz="1050">
                <a:solidFill>
                  <a:srgbClr val="808080"/>
                </a:solidFill>
                <a:latin typeface="Meiryo"/>
                <a:ea typeface="Meiryo"/>
                <a:cs typeface="Meiryo"/>
              </a:rPr>
              <a:t>54. Tsutsui 2013　／　55. Critchley 1999</a:t>
            </a:r>
          </a:p>
        </p:txBody>
      </p:sp>
      <p:sp>
        <p:nvSpPr>
          <p:cNvPr id="155" name="l-bg"/>
          <p:cNvSpPr/>
          <p:nvPr/>
        </p:nvSpPr>
        <p:spPr>
          <a:xfrm>
            <a:off x="526000" y="2191238"/>
            <a:ext cx="5432840" cy="230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156" name="l-t"/>
          <p:cNvSpPr txBox="1"/>
          <p:nvPr/>
        </p:nvSpPr>
        <p:spPr>
          <a:xfrm>
            <a:off x="726000" y="2341238"/>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2E5395"/>
                </a:solidFill>
                <a:latin typeface="Meiryo"/>
                <a:ea typeface="Meiryo"/>
                <a:cs typeface="Meiryo"/>
              </a:rPr>
              <a:t>絶対値としての一致</a:t>
            </a:r>
          </a:p>
        </p:txBody>
      </p:sp>
      <p:sp>
        <p:nvSpPr>
          <p:cNvPr id="157" name="l-b"/>
          <p:cNvSpPr txBox="1"/>
          <p:nvPr/>
        </p:nvSpPr>
        <p:spPr>
          <a:xfrm>
            <a:off x="726000" y="2891238"/>
            <a:ext cx="5032840" cy="1415491"/>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・バイアス 約 1.6 L/min</a:t>
            </a:r>
          </a:p>
          <a:p>
            <a:pPr algn="l">
              <a:lnSpc>
                <a:spcPct val="120000"/>
              </a:lnSpc>
            </a:pPr>
            <a:r>
              <a:rPr lang="ja-JP" altLang="en-US" sz="2200" b="1" dirty="0">
                <a:solidFill>
                  <a:srgbClr val="262626"/>
                </a:solidFill>
                <a:latin typeface="Meiryo"/>
                <a:ea typeface="Meiryo"/>
                <a:cs typeface="Meiryo"/>
              </a:rPr>
              <a:t>・誤差率 約 47 %</a:t>
            </a:r>
          </a:p>
          <a:p>
            <a:pPr algn="l">
              <a:lnSpc>
                <a:spcPct val="120000"/>
              </a:lnSpc>
            </a:pPr>
            <a:r>
              <a:rPr lang="ja-JP" altLang="en-US" sz="2200" b="1" dirty="0">
                <a:solidFill>
                  <a:srgbClr val="262626"/>
                </a:solidFill>
                <a:latin typeface="Meiryo"/>
                <a:ea typeface="Meiryo"/>
                <a:cs typeface="Meiryo"/>
              </a:rPr>
              <a:t>・許容基準 ±30 %</a:t>
            </a:r>
          </a:p>
        </p:txBody>
      </p:sp>
      <p:sp>
        <p:nvSpPr>
          <p:cNvPr id="158" name="r-bg"/>
          <p:cNvSpPr/>
          <p:nvPr/>
        </p:nvSpPr>
        <p:spPr>
          <a:xfrm>
            <a:off x="6233160" y="2191238"/>
            <a:ext cx="5432840" cy="2300000"/>
          </a:xfrm>
          <a:prstGeom prst="roundRect">
            <a:avLst>
              <a:gd name="adj" fmla="val 6000"/>
            </a:avLst>
          </a:prstGeom>
          <a:solidFill>
            <a:srgbClr val="FDF0E6"/>
          </a:solidFill>
          <a:ln w="19050">
            <a:solidFill>
              <a:srgbClr val="C55A11"/>
            </a:solidFill>
          </a:ln>
          <a:effectLst/>
        </p:spPr>
        <p:txBody>
          <a:bodyPr wrap="square" lIns="91440" tIns="45720" rIns="91440" bIns="45720" rtlCol="0" anchor="ctr">
            <a:noAutofit/>
          </a:bodyPr>
          <a:lstStyle/>
          <a:p>
            <a:endParaRPr/>
          </a:p>
        </p:txBody>
      </p:sp>
      <p:sp>
        <p:nvSpPr>
          <p:cNvPr id="159" name="r-t"/>
          <p:cNvSpPr txBox="1"/>
          <p:nvPr/>
        </p:nvSpPr>
        <p:spPr>
          <a:xfrm>
            <a:off x="6433160" y="2341238"/>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C55A11"/>
                </a:solidFill>
                <a:latin typeface="Meiryo"/>
                <a:ea typeface="Meiryo"/>
                <a:cs typeface="Meiryo"/>
              </a:rPr>
              <a:t>変化のトレンド</a:t>
            </a:r>
          </a:p>
        </p:txBody>
      </p:sp>
      <p:sp>
        <p:nvSpPr>
          <p:cNvPr id="160" name="r-b"/>
          <p:cNvSpPr txBox="1"/>
          <p:nvPr/>
        </p:nvSpPr>
        <p:spPr>
          <a:xfrm>
            <a:off x="6433160" y="2891238"/>
            <a:ext cx="5032840" cy="1415491"/>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・concordance 96.0 %</a:t>
            </a:r>
          </a:p>
          <a:p>
            <a:pPr algn="l">
              <a:lnSpc>
                <a:spcPct val="120000"/>
              </a:lnSpc>
            </a:pPr>
            <a:r>
              <a:rPr lang="ja-JP" altLang="en-US" sz="2200" b="1" dirty="0">
                <a:solidFill>
                  <a:srgbClr val="262626"/>
                </a:solidFill>
                <a:latin typeface="Meiryo"/>
                <a:ea typeface="Meiryo"/>
                <a:cs typeface="Meiryo"/>
              </a:rPr>
              <a:t>・向きは追える</a:t>
            </a:r>
          </a:p>
          <a:p>
            <a:pPr algn="l">
              <a:lnSpc>
                <a:spcPct val="120000"/>
              </a:lnSpc>
            </a:pPr>
            <a:r>
              <a:rPr lang="ja-JP" altLang="en-US" sz="2200" b="1" dirty="0">
                <a:solidFill>
                  <a:srgbClr val="262626"/>
                </a:solidFill>
                <a:latin typeface="Meiryo"/>
                <a:ea typeface="Meiryo"/>
                <a:cs typeface="Meiryo"/>
              </a:rPr>
              <a:t>・部分肝切除 31 例</a:t>
            </a:r>
          </a:p>
        </p:txBody>
      </p:sp>
      <p:sp>
        <p:nvSpPr>
          <p:cNvPr id="162" name="note"/>
          <p:cNvSpPr/>
          <p:nvPr/>
        </p:nvSpPr>
        <p:spPr>
          <a:xfrm>
            <a:off x="526000" y="4754089"/>
            <a:ext cx="11140000" cy="1121491"/>
          </a:xfrm>
          <a:prstGeom prst="roundRect">
            <a:avLst>
              <a:gd name="adj" fmla="val 4000"/>
            </a:avLst>
          </a:prstGeom>
          <a:solidFill>
            <a:srgbClr val="FFF3D6"/>
          </a:solidFill>
          <a:ln w="28575">
            <a:solidFill>
              <a:srgbClr val="BF9000"/>
            </a:solidFill>
          </a:ln>
          <a:effectLst/>
        </p:spPr>
        <p:txBody>
          <a:bodyPr wrap="square" lIns="91440" tIns="45720" rIns="91440" bIns="45720" rtlCol="0" anchor="ctr">
            <a:noAutofit/>
          </a:bodyPr>
          <a:lstStyle/>
          <a:p>
            <a:pPr algn="ctr">
              <a:lnSpc>
                <a:spcPct val="120000"/>
              </a:lnSpc>
            </a:pPr>
            <a:r>
              <a:rPr lang="ja-JP" altLang="en-US" sz="2400" b="1">
                <a:solidFill>
                  <a:srgbClr val="262626"/>
                </a:solidFill>
                <a:latin typeface="Meiryo"/>
                <a:ea typeface="Meiryo"/>
                <a:cs typeface="Meiryo"/>
              </a:rPr>
              <a:t>誤差率をどれだけ許容基準に収められるか。</a:t>
            </a:r>
            <a:endParaRPr lang="en-US" altLang="ja-JP" sz="2400" b="1" dirty="0">
              <a:solidFill>
                <a:srgbClr val="262626"/>
              </a:solidFill>
              <a:latin typeface="Meiryo"/>
              <a:ea typeface="Meiryo"/>
              <a:cs typeface="Meiryo"/>
            </a:endParaRPr>
          </a:p>
          <a:p>
            <a:pPr algn="ctr">
              <a:lnSpc>
                <a:spcPct val="120000"/>
              </a:lnSpc>
            </a:pPr>
            <a:r>
              <a:rPr lang="ja-JP" altLang="en-US" sz="2400" b="1">
                <a:solidFill>
                  <a:srgbClr val="262626"/>
                </a:solidFill>
                <a:latin typeface="Meiryo"/>
                <a:ea typeface="Meiryo"/>
                <a:cs typeface="Meiryo"/>
              </a:rPr>
              <a:t>後負荷要因による調整が効くのではないか。</a:t>
            </a:r>
            <a:endParaRPr lang="ja-JP" altLang="en-US" sz="2400" b="1" dirty="0">
              <a:solidFill>
                <a:srgbClr val="262626"/>
              </a:solidFill>
              <a:latin typeface="Meiryo"/>
              <a:ea typeface="Meiryo"/>
              <a:cs typeface="Meiryo"/>
            </a:endParaRPr>
          </a:p>
        </p:txBody>
      </p:sp>
      <p:sp>
        <p:nvSpPr>
          <p:cNvPr id="163"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98/118</a:t>
            </a:r>
          </a:p>
        </p:txBody>
      </p:sp>
      <p:sp>
        <p:nvSpPr>
          <p:cNvPr id="164"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65"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66"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7"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8"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69" name="Off-page Connector 4">
            <a:extLst>
              <a:ext uri="{FF2B5EF4-FFF2-40B4-BE49-F238E27FC236}">
                <a16:creationId xmlns:a16="http://schemas.microsoft.com/office/drawing/2014/main" id="{AA9D36CE-3772-F005-B54C-9329ADA7F086}"/>
              </a:ext>
            </a:extLst>
          </p:cNvPr>
          <p:cNvSpPr/>
          <p:nvPr/>
        </p:nvSpPr>
        <p:spPr>
          <a:xfrm>
            <a:off x="1151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6</a:t>
            </a:r>
          </a:p>
          <a:p>
            <a:pPr algn="ctr"/>
            <a:r>
              <a:rPr sz="1050" b="1">
                <a:solidFill>
                  <a:srgbClr val="FFFFFF"/>
                </a:solidFill>
                <a:latin typeface="Meiryo"/>
                <a:ea typeface="Meiryo"/>
                <a:cs typeface="Meiryo"/>
              </a:rPr>
              <a:t>提案</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6.3  提案 ― K を動的に補正</a:t>
            </a:r>
          </a:p>
        </p:txBody>
      </p:sp>
      <p:sp>
        <p:nvSpPr>
          <p:cNvPr id="167" name="Source"/>
          <p:cNvSpPr txBox="1"/>
          <p:nvPr/>
        </p:nvSpPr>
        <p:spPr>
          <a:xfrm>
            <a:off x="720000" y="6606000"/>
            <a:ext cx="10881360" cy="200000"/>
          </a:xfrm>
          <a:prstGeom prst="rect">
            <a:avLst/>
          </a:prstGeom>
          <a:noFill/>
        </p:spPr>
        <p:txBody>
          <a:bodyPr wrap="square" lIns="0" tIns="0" rIns="0" bIns="0" anchor="t">
            <a:spAutoFit/>
          </a:bodyPr>
          <a:lstStyle/>
          <a:p>
            <a:pPr algn="l"/>
            <a:r>
              <a:rPr sz="1050">
                <a:solidFill>
                  <a:srgbClr val="808080"/>
                </a:solidFill>
                <a:latin typeface="Meiryo"/>
                <a:ea typeface="Meiryo"/>
                <a:cs typeface="Meiryo"/>
              </a:rPr>
              <a:t>6. Millasseau 2002　／　11. Chowienczyk 1999</a:t>
            </a:r>
          </a:p>
        </p:txBody>
      </p:sp>
      <p:sp>
        <p:nvSpPr>
          <p:cNvPr id="169" name="l-bg"/>
          <p:cNvSpPr/>
          <p:nvPr/>
        </p:nvSpPr>
        <p:spPr>
          <a:xfrm>
            <a:off x="502920" y="1800000"/>
            <a:ext cx="5432840" cy="220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170" name="l-t"/>
          <p:cNvSpPr txBox="1"/>
          <p:nvPr/>
        </p:nvSpPr>
        <p:spPr>
          <a:xfrm>
            <a:off x="702920" y="195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2E5395"/>
                </a:solidFill>
                <a:latin typeface="Meiryo"/>
                <a:ea typeface="Meiryo"/>
                <a:cs typeface="Meiryo"/>
              </a:rPr>
              <a:t>時間軸（既存）</a:t>
            </a:r>
          </a:p>
        </p:txBody>
      </p:sp>
      <p:sp>
        <p:nvSpPr>
          <p:cNvPr id="171" name="l-b"/>
          <p:cNvSpPr txBox="1"/>
          <p:nvPr/>
        </p:nvSpPr>
        <p:spPr>
          <a:xfrm>
            <a:off x="702920" y="250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PWTT → esSV</a:t>
            </a:r>
          </a:p>
          <a:p>
            <a:pPr algn="l">
              <a:lnSpc>
                <a:spcPct val="120000"/>
              </a:lnSpc>
            </a:pPr>
            <a:r>
              <a:rPr lang="ja-JP" altLang="en-US" sz="2200" b="1" dirty="0">
                <a:solidFill>
                  <a:srgbClr val="262626"/>
                </a:solidFill>
                <a:latin typeface="Meiryo"/>
                <a:ea typeface="Meiryo"/>
                <a:cs typeface="Meiryo"/>
              </a:rPr>
              <a:t>・心臓と血管が混在</a:t>
            </a:r>
          </a:p>
        </p:txBody>
      </p:sp>
      <p:sp>
        <p:nvSpPr>
          <p:cNvPr id="172" name="r-bg"/>
          <p:cNvSpPr/>
          <p:nvPr/>
        </p:nvSpPr>
        <p:spPr>
          <a:xfrm>
            <a:off x="6210080" y="1800000"/>
            <a:ext cx="5432840" cy="2200000"/>
          </a:xfrm>
          <a:prstGeom prst="roundRect">
            <a:avLst>
              <a:gd name="adj" fmla="val 6000"/>
            </a:avLst>
          </a:prstGeom>
          <a:solidFill>
            <a:srgbClr val="FDF0E6"/>
          </a:solidFill>
          <a:ln w="19050">
            <a:solidFill>
              <a:srgbClr val="C55A11"/>
            </a:solidFill>
          </a:ln>
          <a:effectLst/>
        </p:spPr>
        <p:txBody>
          <a:bodyPr wrap="square" lIns="91440" tIns="45720" rIns="91440" bIns="45720" rtlCol="0" anchor="ctr">
            <a:noAutofit/>
          </a:bodyPr>
          <a:lstStyle/>
          <a:p>
            <a:endParaRPr/>
          </a:p>
        </p:txBody>
      </p:sp>
      <p:sp>
        <p:nvSpPr>
          <p:cNvPr id="173" name="r-t"/>
          <p:cNvSpPr txBox="1"/>
          <p:nvPr/>
        </p:nvSpPr>
        <p:spPr>
          <a:xfrm>
            <a:off x="6410080" y="195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C55A11"/>
                </a:solidFill>
                <a:latin typeface="Meiryo"/>
                <a:ea typeface="Meiryo"/>
                <a:cs typeface="Meiryo"/>
              </a:rPr>
              <a:t>形態軸（提案）</a:t>
            </a:r>
          </a:p>
        </p:txBody>
      </p:sp>
      <p:sp>
        <p:nvSpPr>
          <p:cNvPr id="174" name="r-b"/>
          <p:cNvSpPr txBox="1"/>
          <p:nvPr/>
        </p:nvSpPr>
        <p:spPr>
          <a:xfrm>
            <a:off x="6410080" y="250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SI・RI → 血管の状態</a:t>
            </a:r>
          </a:p>
          <a:p>
            <a:pPr algn="l">
              <a:lnSpc>
                <a:spcPct val="120000"/>
              </a:lnSpc>
            </a:pPr>
            <a:r>
              <a:rPr lang="ja-JP" altLang="en-US" sz="2200" b="1" dirty="0">
                <a:solidFill>
                  <a:srgbClr val="262626"/>
                </a:solidFill>
                <a:latin typeface="Meiryo"/>
                <a:ea typeface="Meiryo"/>
                <a:cs typeface="Meiryo"/>
              </a:rPr>
              <a:t>・同じ波形</a:t>
            </a:r>
            <a:r>
              <a:rPr lang="ja-JP" altLang="en-US" sz="2200" b="1">
                <a:solidFill>
                  <a:srgbClr val="262626"/>
                </a:solidFill>
                <a:latin typeface="Meiryo"/>
                <a:ea typeface="Meiryo"/>
                <a:cs typeface="Meiryo"/>
              </a:rPr>
              <a:t>から取得</a:t>
            </a:r>
            <a:endParaRPr lang="en-US" altLang="ja-JP" sz="2200" b="1" dirty="0">
              <a:solidFill>
                <a:srgbClr val="262626"/>
              </a:solidFill>
              <a:latin typeface="Meiryo"/>
              <a:ea typeface="Meiryo"/>
              <a:cs typeface="Meiryo"/>
            </a:endParaRPr>
          </a:p>
          <a:p>
            <a:pPr algn="l">
              <a:lnSpc>
                <a:spcPct val="120000"/>
              </a:lnSpc>
            </a:pPr>
            <a:r>
              <a:rPr lang="ja-JP" altLang="en-US" sz="2200" b="1">
                <a:solidFill>
                  <a:srgbClr val="262626"/>
                </a:solidFill>
                <a:latin typeface="Meiryo"/>
                <a:ea typeface="Meiryo"/>
                <a:cs typeface="Meiryo"/>
              </a:rPr>
              <a:t>・</a:t>
            </a:r>
            <a:r>
              <a:rPr lang="en-US" altLang="ja-JP" sz="2200" b="1" dirty="0">
                <a:solidFill>
                  <a:srgbClr val="262626"/>
                </a:solidFill>
                <a:latin typeface="Meiryo"/>
                <a:ea typeface="Meiryo"/>
                <a:cs typeface="Meiryo"/>
              </a:rPr>
              <a:t>Skewed – Gaussian </a:t>
            </a:r>
            <a:r>
              <a:rPr lang="ja-JP" altLang="en-US" sz="2200" b="1">
                <a:solidFill>
                  <a:srgbClr val="262626"/>
                </a:solidFill>
                <a:latin typeface="Meiryo"/>
                <a:ea typeface="Meiryo"/>
                <a:cs typeface="Meiryo"/>
              </a:rPr>
              <a:t>２カーネル</a:t>
            </a:r>
            <a:endParaRPr lang="en-US" altLang="ja-JP" sz="2200" b="1" dirty="0">
              <a:solidFill>
                <a:srgbClr val="262626"/>
              </a:solidFill>
              <a:latin typeface="Meiryo"/>
              <a:ea typeface="Meiryo"/>
              <a:cs typeface="Meiryo"/>
            </a:endParaRPr>
          </a:p>
        </p:txBody>
      </p:sp>
      <p:sp>
        <p:nvSpPr>
          <p:cNvPr id="175" name="banner"/>
          <p:cNvSpPr/>
          <p:nvPr/>
        </p:nvSpPr>
        <p:spPr>
          <a:xfrm>
            <a:off x="502920" y="4200000"/>
            <a:ext cx="11140000" cy="1750000"/>
          </a:xfrm>
          <a:prstGeom prst="roundRect">
            <a:avLst>
              <a:gd name="adj" fmla="val 4000"/>
            </a:avLst>
          </a:prstGeom>
          <a:solidFill>
            <a:srgbClr val="FFF3D6"/>
          </a:solidFill>
          <a:ln w="28575">
            <a:solidFill>
              <a:srgbClr val="BF9000"/>
            </a:solidFill>
          </a:ln>
          <a:effectLst/>
        </p:spPr>
        <p:txBody>
          <a:bodyPr wrap="square" lIns="91440" tIns="45720" rIns="91440" bIns="45720" rtlCol="0" anchor="ctr">
            <a:noAutofit/>
          </a:bodyPr>
          <a:lstStyle/>
          <a:p>
            <a:pPr algn="ctr">
              <a:lnSpc>
                <a:spcPct val="120000"/>
              </a:lnSpc>
            </a:pPr>
            <a:r>
              <a:rPr lang="ja-JP" altLang="en-US" sz="2600" b="1" dirty="0">
                <a:solidFill>
                  <a:srgbClr val="262626"/>
                </a:solidFill>
                <a:latin typeface="Meiryo"/>
                <a:ea typeface="Meiryo"/>
                <a:cs typeface="Meiryo"/>
              </a:rPr>
              <a:t>K → K ( SI , RI )</a:t>
            </a:r>
          </a:p>
          <a:p>
            <a:pPr algn="ctr">
              <a:lnSpc>
                <a:spcPct val="120000"/>
              </a:lnSpc>
            </a:pPr>
            <a:r>
              <a:rPr lang="ja-JP" altLang="en-US" sz="2600" b="1" dirty="0">
                <a:solidFill>
                  <a:srgbClr val="262626"/>
                </a:solidFill>
                <a:latin typeface="Meiryo"/>
                <a:ea typeface="Meiryo"/>
                <a:cs typeface="Meiryo"/>
              </a:rPr>
              <a:t>波形の形（血管）で 波形の時間（PWTT）を較正。</a:t>
            </a:r>
          </a:p>
        </p:txBody>
      </p:sp>
      <p:sp>
        <p:nvSpPr>
          <p:cNvPr id="17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99/118</a:t>
            </a:r>
          </a:p>
        </p:txBody>
      </p:sp>
      <p:sp>
        <p:nvSpPr>
          <p:cNvPr id="177"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78"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79"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80"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81"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82" name="Off-page Connector 4">
            <a:extLst>
              <a:ext uri="{FF2B5EF4-FFF2-40B4-BE49-F238E27FC236}">
                <a16:creationId xmlns:a16="http://schemas.microsoft.com/office/drawing/2014/main" id="{AA9D36CE-3772-F005-B54C-9329ADA7F086}"/>
              </a:ext>
            </a:extLst>
          </p:cNvPr>
          <p:cNvSpPr/>
          <p:nvPr/>
        </p:nvSpPr>
        <p:spPr>
          <a:xfrm>
            <a:off x="1151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6</a:t>
            </a:r>
          </a:p>
          <a:p>
            <a:pPr algn="ctr"/>
            <a:r>
              <a:rPr sz="1050" b="1">
                <a:solidFill>
                  <a:srgbClr val="FFFFFF"/>
                </a:solidFill>
                <a:latin typeface="Meiryo"/>
                <a:ea typeface="Meiryo"/>
                <a:cs typeface="Meiryo"/>
              </a:rPr>
              <a:t>提案</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6.3  なぜ SI・RI か</a:t>
            </a:r>
          </a:p>
        </p:txBody>
      </p:sp>
      <p:sp>
        <p:nvSpPr>
          <p:cNvPr id="180" name="Source"/>
          <p:cNvSpPr txBox="1"/>
          <p:nvPr/>
        </p:nvSpPr>
        <p:spPr>
          <a:xfrm>
            <a:off x="720000" y="6606000"/>
            <a:ext cx="10881360" cy="200000"/>
          </a:xfrm>
          <a:prstGeom prst="rect">
            <a:avLst/>
          </a:prstGeom>
          <a:noFill/>
        </p:spPr>
        <p:txBody>
          <a:bodyPr wrap="square" lIns="0" tIns="0" rIns="0" bIns="0" anchor="t">
            <a:spAutoFit/>
          </a:bodyPr>
          <a:lstStyle/>
          <a:p>
            <a:pPr algn="l"/>
            <a:r>
              <a:rPr sz="1050">
                <a:solidFill>
                  <a:srgbClr val="808080"/>
                </a:solidFill>
                <a:latin typeface="Meiryo"/>
                <a:ea typeface="Meiryo"/>
                <a:cs typeface="Meiryo"/>
              </a:rPr>
              <a:t>6. Millasseau 2002　／　11. Chowienczyk 1999　／　56. Awad 2007</a:t>
            </a:r>
          </a:p>
        </p:txBody>
      </p:sp>
      <p:sp>
        <p:nvSpPr>
          <p:cNvPr id="182" name="l-bg"/>
          <p:cNvSpPr/>
          <p:nvPr/>
        </p:nvSpPr>
        <p:spPr>
          <a:xfrm>
            <a:off x="502920" y="1800000"/>
            <a:ext cx="5432840" cy="240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183" name="l-t"/>
          <p:cNvSpPr txBox="1"/>
          <p:nvPr/>
        </p:nvSpPr>
        <p:spPr>
          <a:xfrm>
            <a:off x="702920" y="195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2E5395"/>
                </a:solidFill>
                <a:latin typeface="Meiryo"/>
                <a:ea typeface="Meiryo"/>
                <a:cs typeface="Meiryo"/>
              </a:rPr>
              <a:t>SI ＝ 身長 ÷ ΔT</a:t>
            </a:r>
          </a:p>
        </p:txBody>
      </p:sp>
      <p:sp>
        <p:nvSpPr>
          <p:cNvPr id="184" name="l-b"/>
          <p:cNvSpPr txBox="1"/>
          <p:nvPr/>
        </p:nvSpPr>
        <p:spPr>
          <a:xfrm>
            <a:off x="702920" y="2500000"/>
            <a:ext cx="5032840" cy="1415491"/>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 PWV</a:t>
            </a:r>
          </a:p>
          <a:p>
            <a:pPr algn="l">
              <a:lnSpc>
                <a:spcPct val="120000"/>
              </a:lnSpc>
            </a:pPr>
            <a:r>
              <a:rPr lang="ja-JP" altLang="en-US" sz="2200" b="1" dirty="0">
                <a:solidFill>
                  <a:srgbClr val="262626"/>
                </a:solidFill>
                <a:latin typeface="Meiryo"/>
                <a:ea typeface="Meiryo"/>
                <a:cs typeface="Meiryo"/>
              </a:rPr>
              <a:t>・大血管スティフネス</a:t>
            </a:r>
          </a:p>
          <a:p>
            <a:pPr algn="l">
              <a:lnSpc>
                <a:spcPct val="120000"/>
              </a:lnSpc>
            </a:pPr>
            <a:r>
              <a:rPr lang="ja-JP" altLang="en-US" sz="2200" b="1" dirty="0">
                <a:solidFill>
                  <a:srgbClr val="262626"/>
                </a:solidFill>
                <a:latin typeface="Meiryo"/>
                <a:ea typeface="Meiryo"/>
                <a:cs typeface="Meiryo"/>
              </a:rPr>
              <a:t>・時間軸（位置）</a:t>
            </a:r>
          </a:p>
        </p:txBody>
      </p:sp>
      <p:sp>
        <p:nvSpPr>
          <p:cNvPr id="185" name="r-bg"/>
          <p:cNvSpPr/>
          <p:nvPr/>
        </p:nvSpPr>
        <p:spPr>
          <a:xfrm>
            <a:off x="6210080" y="1800000"/>
            <a:ext cx="5432840" cy="2400000"/>
          </a:xfrm>
          <a:prstGeom prst="roundRect">
            <a:avLst>
              <a:gd name="adj" fmla="val 6000"/>
            </a:avLst>
          </a:prstGeom>
          <a:solidFill>
            <a:srgbClr val="FDF0E6"/>
          </a:solidFill>
          <a:ln w="19050">
            <a:solidFill>
              <a:srgbClr val="C55A11"/>
            </a:solidFill>
          </a:ln>
          <a:effectLst/>
        </p:spPr>
        <p:txBody>
          <a:bodyPr wrap="square" lIns="91440" tIns="45720" rIns="91440" bIns="45720" rtlCol="0" anchor="ctr">
            <a:noAutofit/>
          </a:bodyPr>
          <a:lstStyle/>
          <a:p>
            <a:endParaRPr/>
          </a:p>
        </p:txBody>
      </p:sp>
      <p:sp>
        <p:nvSpPr>
          <p:cNvPr id="186" name="r-t"/>
          <p:cNvSpPr txBox="1"/>
          <p:nvPr/>
        </p:nvSpPr>
        <p:spPr>
          <a:xfrm>
            <a:off x="6410080" y="195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C55A11"/>
                </a:solidFill>
                <a:latin typeface="Meiryo"/>
                <a:ea typeface="Meiryo"/>
                <a:cs typeface="Meiryo"/>
              </a:rPr>
              <a:t>RI ＝ P2 ÷ P1</a:t>
            </a:r>
          </a:p>
        </p:txBody>
      </p:sp>
      <p:sp>
        <p:nvSpPr>
          <p:cNvPr id="187" name="r-b"/>
          <p:cNvSpPr txBox="1"/>
          <p:nvPr/>
        </p:nvSpPr>
        <p:spPr>
          <a:xfrm>
            <a:off x="6410080" y="2500000"/>
            <a:ext cx="5032840" cy="1415491"/>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・反射係数 </a:t>
            </a:r>
            <a:r>
              <a:rPr lang="ja-JP" altLang="en-US" sz="2200" b="1">
                <a:solidFill>
                  <a:srgbClr val="262626"/>
                </a:solidFill>
                <a:latin typeface="Meiryo"/>
                <a:ea typeface="Meiryo"/>
                <a:cs typeface="Meiryo"/>
              </a:rPr>
              <a:t>Γ （＝振幅）に</a:t>
            </a:r>
            <a:r>
              <a:rPr lang="ja-JP" altLang="en-US" sz="2200" b="1" dirty="0">
                <a:solidFill>
                  <a:srgbClr val="262626"/>
                </a:solidFill>
                <a:latin typeface="Meiryo"/>
                <a:ea typeface="Meiryo"/>
                <a:cs typeface="Meiryo"/>
              </a:rPr>
              <a:t>相当</a:t>
            </a:r>
          </a:p>
          <a:p>
            <a:pPr algn="l">
              <a:lnSpc>
                <a:spcPct val="120000"/>
              </a:lnSpc>
            </a:pPr>
            <a:r>
              <a:rPr lang="ja-JP" altLang="en-US" sz="2200" b="1" dirty="0">
                <a:solidFill>
                  <a:srgbClr val="262626"/>
                </a:solidFill>
                <a:latin typeface="Meiryo"/>
                <a:ea typeface="Meiryo"/>
                <a:cs typeface="Meiryo"/>
              </a:rPr>
              <a:t>・末梢トーヌス・SVR</a:t>
            </a:r>
          </a:p>
          <a:p>
            <a:pPr algn="l">
              <a:lnSpc>
                <a:spcPct val="120000"/>
              </a:lnSpc>
            </a:pPr>
            <a:r>
              <a:rPr lang="ja-JP" altLang="en-US" sz="2200" b="1" dirty="0">
                <a:solidFill>
                  <a:srgbClr val="262626"/>
                </a:solidFill>
                <a:latin typeface="Meiryo"/>
                <a:ea typeface="Meiryo"/>
                <a:cs typeface="Meiryo"/>
              </a:rPr>
              <a:t>・高さ軸（大きさ）</a:t>
            </a:r>
          </a:p>
        </p:txBody>
      </p:sp>
      <p:sp>
        <p:nvSpPr>
          <p:cNvPr id="188" name="b1"/>
          <p:cNvSpPr/>
          <p:nvPr/>
        </p:nvSpPr>
        <p:spPr>
          <a:xfrm>
            <a:off x="502920" y="4400000"/>
            <a:ext cx="11140000" cy="950000"/>
          </a:xfrm>
          <a:prstGeom prst="roundRect">
            <a:avLst>
              <a:gd name="adj" fmla="val 4000"/>
            </a:avLst>
          </a:prstGeom>
          <a:solidFill>
            <a:srgbClr val="FFF3D6"/>
          </a:solidFill>
          <a:ln w="28575">
            <a:solidFill>
              <a:srgbClr val="BF9000"/>
            </a:solidFill>
          </a:ln>
          <a:effectLst/>
        </p:spPr>
        <p:txBody>
          <a:bodyPr wrap="square" lIns="91440" tIns="45720" rIns="91440" bIns="45720" rtlCol="0" anchor="ctr">
            <a:noAutofit/>
          </a:bodyPr>
          <a:lstStyle/>
          <a:p>
            <a:pPr algn="ctr">
              <a:lnSpc>
                <a:spcPct val="120000"/>
              </a:lnSpc>
            </a:pPr>
            <a:r>
              <a:rPr lang="ja-JP" altLang="en-US" sz="2400" b="1" dirty="0">
                <a:solidFill>
                  <a:srgbClr val="262626"/>
                </a:solidFill>
                <a:latin typeface="Meiryo"/>
                <a:ea typeface="Meiryo"/>
                <a:cs typeface="Meiryo"/>
              </a:rPr>
              <a:t>交絡している後負荷そのものを 2 軸で測る。</a:t>
            </a:r>
          </a:p>
        </p:txBody>
      </p:sp>
      <p:sp>
        <p:nvSpPr>
          <p:cNvPr id="189" name="b2"/>
          <p:cNvSpPr/>
          <p:nvPr/>
        </p:nvSpPr>
        <p:spPr>
          <a:xfrm>
            <a:off x="502920" y="5500000"/>
            <a:ext cx="11140000" cy="850000"/>
          </a:xfrm>
          <a:prstGeom prst="roundRect">
            <a:avLst>
              <a:gd name="adj" fmla="val 4000"/>
            </a:avLst>
          </a:prstGeom>
          <a:solidFill>
            <a:srgbClr val="E4F5F5"/>
          </a:solidFill>
          <a:ln w="28575">
            <a:solidFill>
              <a:srgbClr val="00A8AA"/>
            </a:solidFill>
          </a:ln>
          <a:effectLst/>
        </p:spPr>
        <p:txBody>
          <a:bodyPr wrap="square" lIns="91440" tIns="45720" rIns="91440" bIns="45720" rtlCol="0" anchor="ctr">
            <a:noAutofit/>
          </a:bodyPr>
          <a:lstStyle/>
          <a:p>
            <a:pPr algn="ctr">
              <a:lnSpc>
                <a:spcPct val="120000"/>
              </a:lnSpc>
            </a:pPr>
            <a:r>
              <a:rPr lang="ja-JP" altLang="en-US" sz="2400" b="1" dirty="0">
                <a:solidFill>
                  <a:srgbClr val="262626"/>
                </a:solidFill>
                <a:latin typeface="Meiryo"/>
                <a:ea typeface="Meiryo"/>
                <a:cs typeface="Meiryo"/>
              </a:rPr>
              <a:t>SVR ↑ → 反射 ↑ → RI ↑</a:t>
            </a:r>
          </a:p>
        </p:txBody>
      </p:sp>
      <p:sp>
        <p:nvSpPr>
          <p:cNvPr id="19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100/118</a:t>
            </a:r>
          </a:p>
        </p:txBody>
      </p:sp>
      <p:sp>
        <p:nvSpPr>
          <p:cNvPr id="19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9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9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9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9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96" name="Off-page Connector 4">
            <a:extLst>
              <a:ext uri="{FF2B5EF4-FFF2-40B4-BE49-F238E27FC236}">
                <a16:creationId xmlns:a16="http://schemas.microsoft.com/office/drawing/2014/main" id="{AA9D36CE-3772-F005-B54C-9329ADA7F086}"/>
              </a:ext>
            </a:extLst>
          </p:cNvPr>
          <p:cNvSpPr/>
          <p:nvPr/>
        </p:nvSpPr>
        <p:spPr>
          <a:xfrm>
            <a:off x="1151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6</a:t>
            </a:r>
          </a:p>
          <a:p>
            <a:pPr algn="ctr"/>
            <a:r>
              <a:rPr sz="1050" b="1">
                <a:solidFill>
                  <a:srgbClr val="FFFFFF"/>
                </a:solidFill>
                <a:latin typeface="Meiryo"/>
                <a:ea typeface="Meiryo"/>
                <a:cs typeface="Meiryo"/>
              </a:rPr>
              <a:t>提案</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6.3  ΔT は PEP を含まない</a:t>
            </a:r>
          </a:p>
        </p:txBody>
      </p:sp>
      <p:sp>
        <p:nvSpPr>
          <p:cNvPr id="182"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50. Sugo 2012　／　57. Beutel 2021</a:t>
            </a:r>
          </a:p>
        </p:txBody>
      </p:sp>
      <p:sp>
        <p:nvSpPr>
          <p:cNvPr id="183" name="l-bg"/>
          <p:cNvSpPr/>
          <p:nvPr/>
        </p:nvSpPr>
        <p:spPr>
          <a:xfrm>
            <a:off x="527304" y="2005413"/>
            <a:ext cx="5431536" cy="2834640"/>
          </a:xfrm>
          <a:prstGeom prst="roundRect">
            <a:avLst>
              <a:gd name="adj" fmla="val 6000"/>
            </a:avLst>
          </a:prstGeom>
          <a:solidFill>
            <a:srgbClr val="EAF0F8"/>
          </a:solidFill>
          <a:ln w="19050">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4" name="TextBox 183"/>
          <p:cNvSpPr txBox="1"/>
          <p:nvPr/>
        </p:nvSpPr>
        <p:spPr>
          <a:xfrm>
            <a:off x="728472" y="2204795"/>
            <a:ext cx="5029200" cy="369332"/>
          </a:xfrm>
          <a:prstGeom prst="rect">
            <a:avLst/>
          </a:prstGeom>
          <a:noFill/>
        </p:spPr>
        <p:txBody>
          <a:bodyPr wrap="square" lIns="0" tIns="0" rIns="0" bIns="0" anchor="ctr">
            <a:spAutoFit/>
          </a:bodyPr>
          <a:lstStyle/>
          <a:p>
            <a:pPr algn="ctr"/>
            <a:r>
              <a:rPr sz="2400" b="1" dirty="0">
                <a:solidFill>
                  <a:srgbClr val="2E5395"/>
                </a:solidFill>
                <a:latin typeface="Meiryo"/>
                <a:ea typeface="Meiryo"/>
                <a:cs typeface="Meiryo"/>
              </a:rPr>
              <a:t>PWTT</a:t>
            </a:r>
          </a:p>
        </p:txBody>
      </p:sp>
      <p:sp>
        <p:nvSpPr>
          <p:cNvPr id="185" name="TextBox 184"/>
          <p:cNvSpPr txBox="1"/>
          <p:nvPr/>
        </p:nvSpPr>
        <p:spPr>
          <a:xfrm>
            <a:off x="801624" y="2773989"/>
            <a:ext cx="1280160" cy="384048"/>
          </a:xfrm>
          <a:prstGeom prst="rect">
            <a:avLst/>
          </a:prstGeom>
          <a:noFill/>
        </p:spPr>
        <p:txBody>
          <a:bodyPr wrap="square" lIns="0" tIns="0" rIns="0" bIns="0" anchor="t">
            <a:spAutoFit/>
          </a:bodyPr>
          <a:lstStyle/>
          <a:p>
            <a:pPr algn="l"/>
            <a:r>
              <a:rPr sz="1600" b="0">
                <a:solidFill>
                  <a:srgbClr val="808080"/>
                </a:solidFill>
                <a:latin typeface="Meiryo"/>
                <a:ea typeface="Meiryo"/>
                <a:cs typeface="Meiryo"/>
              </a:rPr>
              <a:t>R 波</a:t>
            </a:r>
          </a:p>
        </p:txBody>
      </p:sp>
      <p:sp>
        <p:nvSpPr>
          <p:cNvPr id="186" name="TextBox 185"/>
          <p:cNvSpPr txBox="1"/>
          <p:nvPr/>
        </p:nvSpPr>
        <p:spPr>
          <a:xfrm>
            <a:off x="1944624" y="2773989"/>
            <a:ext cx="1371600" cy="384048"/>
          </a:xfrm>
          <a:prstGeom prst="rect">
            <a:avLst/>
          </a:prstGeom>
          <a:noFill/>
        </p:spPr>
        <p:txBody>
          <a:bodyPr wrap="square" lIns="0" tIns="0" rIns="0" bIns="0" anchor="t">
            <a:spAutoFit/>
          </a:bodyPr>
          <a:lstStyle/>
          <a:p>
            <a:pPr algn="ctr"/>
            <a:r>
              <a:rPr sz="1600" b="0">
                <a:solidFill>
                  <a:srgbClr val="808080"/>
                </a:solidFill>
                <a:latin typeface="Meiryo"/>
                <a:ea typeface="Meiryo"/>
                <a:cs typeface="Meiryo"/>
              </a:rPr>
              <a:t>弁が開く</a:t>
            </a:r>
          </a:p>
        </p:txBody>
      </p:sp>
      <p:sp>
        <p:nvSpPr>
          <p:cNvPr id="187" name="TextBox 186"/>
          <p:cNvSpPr txBox="1"/>
          <p:nvPr/>
        </p:nvSpPr>
        <p:spPr>
          <a:xfrm>
            <a:off x="4276344" y="2773989"/>
            <a:ext cx="1417320" cy="384048"/>
          </a:xfrm>
          <a:prstGeom prst="rect">
            <a:avLst/>
          </a:prstGeom>
          <a:noFill/>
        </p:spPr>
        <p:txBody>
          <a:bodyPr wrap="square" lIns="0" tIns="0" rIns="0" bIns="0" anchor="t">
            <a:spAutoFit/>
          </a:bodyPr>
          <a:lstStyle/>
          <a:p>
            <a:pPr algn="r"/>
            <a:r>
              <a:rPr sz="1600" b="0">
                <a:solidFill>
                  <a:srgbClr val="808080"/>
                </a:solidFill>
                <a:latin typeface="Meiryo"/>
                <a:ea typeface="Meiryo"/>
                <a:cs typeface="Meiryo"/>
              </a:rPr>
              <a:t>脈波が届く</a:t>
            </a:r>
          </a:p>
        </p:txBody>
      </p:sp>
      <p:cxnSp>
        <p:nvCxnSpPr>
          <p:cNvPr id="188" name="Connector 187"/>
          <p:cNvCxnSpPr/>
          <p:nvPr/>
        </p:nvCxnSpPr>
        <p:spPr>
          <a:xfrm>
            <a:off x="801624" y="3158037"/>
            <a:ext cx="0" cy="576072"/>
          </a:xfrm>
          <a:prstGeom prst="line">
            <a:avLst/>
          </a:prstGeom>
          <a:ln w="12700">
            <a:solidFill>
              <a:srgbClr val="808080"/>
            </a:solidFill>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a:off x="2630424" y="3158037"/>
            <a:ext cx="0" cy="576072"/>
          </a:xfrm>
          <a:prstGeom prst="line">
            <a:avLst/>
          </a:prstGeom>
          <a:ln w="12700">
            <a:solidFill>
              <a:srgbClr val="808080"/>
            </a:solidFill>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a:off x="5693664" y="3158037"/>
            <a:ext cx="0" cy="576072"/>
          </a:xfrm>
          <a:prstGeom prst="line">
            <a:avLst/>
          </a:prstGeom>
          <a:ln w="12700">
            <a:solidFill>
              <a:srgbClr val="808080"/>
            </a:solidFill>
          </a:ln>
        </p:spPr>
        <p:style>
          <a:lnRef idx="2">
            <a:schemeClr val="accent1"/>
          </a:lnRef>
          <a:fillRef idx="0">
            <a:schemeClr val="accent1"/>
          </a:fillRef>
          <a:effectRef idx="1">
            <a:schemeClr val="accent1"/>
          </a:effectRef>
          <a:fontRef idx="minor">
            <a:schemeClr val="tx1"/>
          </a:fontRef>
        </p:style>
      </p:cxnSp>
      <p:sp>
        <p:nvSpPr>
          <p:cNvPr id="191" name="Rounded Rectangle 190"/>
          <p:cNvSpPr/>
          <p:nvPr/>
        </p:nvSpPr>
        <p:spPr>
          <a:xfrm>
            <a:off x="801624" y="3212901"/>
            <a:ext cx="1828800" cy="475488"/>
          </a:xfrm>
          <a:prstGeom prst="roundRect">
            <a:avLst>
              <a:gd name="adj" fmla="val 10000"/>
            </a:avLst>
          </a:prstGeom>
          <a:solidFill>
            <a:srgbClr val="C55A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2" name="TextBox 191"/>
          <p:cNvSpPr txBox="1"/>
          <p:nvPr/>
        </p:nvSpPr>
        <p:spPr>
          <a:xfrm>
            <a:off x="801624" y="3212901"/>
            <a:ext cx="1828800" cy="475488"/>
          </a:xfrm>
          <a:prstGeom prst="rect">
            <a:avLst/>
          </a:prstGeom>
          <a:noFill/>
        </p:spPr>
        <p:txBody>
          <a:bodyPr wrap="square" lIns="0" tIns="0" rIns="0" bIns="0" anchor="ctr">
            <a:spAutoFit/>
          </a:bodyPr>
          <a:lstStyle/>
          <a:p>
            <a:pPr algn="ctr"/>
            <a:r>
              <a:rPr sz="2200" b="1">
                <a:solidFill>
                  <a:srgbClr val="FFFFFF"/>
                </a:solidFill>
                <a:latin typeface="Meiryo"/>
                <a:ea typeface="Meiryo"/>
                <a:cs typeface="Meiryo"/>
              </a:rPr>
              <a:t>PEP</a:t>
            </a:r>
          </a:p>
        </p:txBody>
      </p:sp>
      <p:sp>
        <p:nvSpPr>
          <p:cNvPr id="193" name="Rounded Rectangle 192"/>
          <p:cNvSpPr/>
          <p:nvPr/>
        </p:nvSpPr>
        <p:spPr>
          <a:xfrm>
            <a:off x="2630424" y="3212901"/>
            <a:ext cx="3063240" cy="475488"/>
          </a:xfrm>
          <a:prstGeom prst="roundRect">
            <a:avLst>
              <a:gd name="adj" fmla="val 10000"/>
            </a:avLst>
          </a:prstGeom>
          <a:solidFill>
            <a:srgbClr val="2E53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4" name="TextBox 193"/>
          <p:cNvSpPr txBox="1"/>
          <p:nvPr/>
        </p:nvSpPr>
        <p:spPr>
          <a:xfrm>
            <a:off x="2630424" y="3212901"/>
            <a:ext cx="3063240" cy="475488"/>
          </a:xfrm>
          <a:prstGeom prst="rect">
            <a:avLst/>
          </a:prstGeom>
          <a:noFill/>
        </p:spPr>
        <p:txBody>
          <a:bodyPr wrap="square" lIns="0" tIns="0" rIns="0" bIns="0" anchor="ctr">
            <a:spAutoFit/>
          </a:bodyPr>
          <a:lstStyle/>
          <a:p>
            <a:pPr algn="ctr"/>
            <a:r>
              <a:rPr sz="2200" b="1" dirty="0">
                <a:solidFill>
                  <a:srgbClr val="FFFFFF"/>
                </a:solidFill>
                <a:latin typeface="Meiryo"/>
                <a:ea typeface="Meiryo"/>
                <a:cs typeface="Meiryo"/>
              </a:rPr>
              <a:t>VTT</a:t>
            </a:r>
          </a:p>
        </p:txBody>
      </p:sp>
      <p:sp>
        <p:nvSpPr>
          <p:cNvPr id="195" name="TextBox 194"/>
          <p:cNvSpPr txBox="1"/>
          <p:nvPr/>
        </p:nvSpPr>
        <p:spPr>
          <a:xfrm>
            <a:off x="801624" y="3779829"/>
            <a:ext cx="1828800" cy="512064"/>
          </a:xfrm>
          <a:prstGeom prst="rect">
            <a:avLst/>
          </a:prstGeom>
          <a:noFill/>
        </p:spPr>
        <p:txBody>
          <a:bodyPr wrap="square" lIns="0" tIns="0" rIns="0" bIns="0" anchor="t">
            <a:spAutoFit/>
          </a:bodyPr>
          <a:lstStyle/>
          <a:p>
            <a:pPr algn="ctr"/>
            <a:r>
              <a:rPr sz="2200" b="1" dirty="0" err="1">
                <a:solidFill>
                  <a:srgbClr val="C55A11"/>
                </a:solidFill>
                <a:latin typeface="Meiryo"/>
                <a:ea typeface="Meiryo"/>
                <a:cs typeface="Meiryo"/>
              </a:rPr>
              <a:t>心臓側</a:t>
            </a:r>
            <a:endParaRPr sz="2200" b="1" dirty="0">
              <a:solidFill>
                <a:srgbClr val="C55A11"/>
              </a:solidFill>
              <a:latin typeface="Meiryo"/>
              <a:ea typeface="Meiryo"/>
              <a:cs typeface="Meiryo"/>
            </a:endParaRPr>
          </a:p>
        </p:txBody>
      </p:sp>
      <p:sp>
        <p:nvSpPr>
          <p:cNvPr id="196" name="TextBox 195"/>
          <p:cNvSpPr txBox="1"/>
          <p:nvPr/>
        </p:nvSpPr>
        <p:spPr>
          <a:xfrm>
            <a:off x="2630424" y="3779829"/>
            <a:ext cx="3063240" cy="512064"/>
          </a:xfrm>
          <a:prstGeom prst="rect">
            <a:avLst/>
          </a:prstGeom>
          <a:noFill/>
        </p:spPr>
        <p:txBody>
          <a:bodyPr wrap="square" lIns="0" tIns="0" rIns="0" bIns="0" anchor="t">
            <a:spAutoFit/>
          </a:bodyPr>
          <a:lstStyle/>
          <a:p>
            <a:pPr algn="ctr"/>
            <a:r>
              <a:rPr sz="2200" b="1" dirty="0" err="1">
                <a:solidFill>
                  <a:srgbClr val="2E5395"/>
                </a:solidFill>
                <a:latin typeface="Meiryo"/>
                <a:ea typeface="Meiryo"/>
                <a:cs typeface="Meiryo"/>
              </a:rPr>
              <a:t>血管側</a:t>
            </a:r>
            <a:endParaRPr sz="2200" b="1" dirty="0">
              <a:solidFill>
                <a:srgbClr val="2E5395"/>
              </a:solidFill>
              <a:latin typeface="Meiryo"/>
              <a:ea typeface="Meiryo"/>
              <a:cs typeface="Meiryo"/>
            </a:endParaRPr>
          </a:p>
        </p:txBody>
      </p:sp>
      <p:sp>
        <p:nvSpPr>
          <p:cNvPr id="197" name="TextBox 196"/>
          <p:cNvSpPr txBox="1"/>
          <p:nvPr/>
        </p:nvSpPr>
        <p:spPr>
          <a:xfrm>
            <a:off x="801624" y="4446227"/>
            <a:ext cx="4892040" cy="338554"/>
          </a:xfrm>
          <a:prstGeom prst="rect">
            <a:avLst/>
          </a:prstGeom>
          <a:noFill/>
        </p:spPr>
        <p:txBody>
          <a:bodyPr wrap="square" lIns="0" tIns="0" rIns="0" bIns="0" anchor="b" anchorCtr="0">
            <a:spAutoFit/>
          </a:bodyPr>
          <a:lstStyle/>
          <a:p>
            <a:pPr algn="ctr"/>
            <a:r>
              <a:rPr lang="en-US" altLang="ja-JP" sz="2200" b="1" dirty="0">
                <a:solidFill>
                  <a:srgbClr val="262626"/>
                </a:solidFill>
                <a:latin typeface="Meiryo"/>
                <a:ea typeface="Meiryo"/>
                <a:cs typeface="Meiryo"/>
              </a:rPr>
              <a:t>PWTT</a:t>
            </a:r>
            <a:r>
              <a:rPr lang="ja-JP" altLang="en-US" sz="2200" b="1">
                <a:solidFill>
                  <a:srgbClr val="262626"/>
                </a:solidFill>
                <a:latin typeface="Meiryo"/>
                <a:ea typeface="Meiryo"/>
                <a:cs typeface="Meiryo"/>
              </a:rPr>
              <a:t>には心臓側の要素が含まれる。</a:t>
            </a:r>
            <a:endParaRPr sz="2200" b="1" dirty="0">
              <a:solidFill>
                <a:srgbClr val="262626"/>
              </a:solidFill>
              <a:latin typeface="Meiryo"/>
              <a:ea typeface="Meiryo"/>
              <a:cs typeface="Meiryo"/>
            </a:endParaRPr>
          </a:p>
        </p:txBody>
      </p:sp>
      <p:sp>
        <p:nvSpPr>
          <p:cNvPr id="198" name="r-bg"/>
          <p:cNvSpPr/>
          <p:nvPr/>
        </p:nvSpPr>
        <p:spPr>
          <a:xfrm>
            <a:off x="6233160" y="2005413"/>
            <a:ext cx="5431536" cy="2834640"/>
          </a:xfrm>
          <a:prstGeom prst="roundRect">
            <a:avLst>
              <a:gd name="adj" fmla="val 6000"/>
            </a:avLst>
          </a:prstGeom>
          <a:solidFill>
            <a:srgbClr val="E4F5F5"/>
          </a:solidFill>
          <a:ln w="19050">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9" name="TextBox 198"/>
          <p:cNvSpPr txBox="1"/>
          <p:nvPr/>
        </p:nvSpPr>
        <p:spPr>
          <a:xfrm>
            <a:off x="6434328" y="2204795"/>
            <a:ext cx="5029200" cy="369332"/>
          </a:xfrm>
          <a:prstGeom prst="rect">
            <a:avLst/>
          </a:prstGeom>
          <a:noFill/>
        </p:spPr>
        <p:txBody>
          <a:bodyPr wrap="square" lIns="0" tIns="0" rIns="0" bIns="0" anchor="ctr">
            <a:spAutoFit/>
          </a:bodyPr>
          <a:lstStyle/>
          <a:p>
            <a:pPr algn="ctr"/>
            <a:r>
              <a:rPr lang="en-US" altLang="ja-JP" sz="2400" b="1" dirty="0">
                <a:solidFill>
                  <a:srgbClr val="00A8AA"/>
                </a:solidFill>
                <a:latin typeface="Meiryo"/>
                <a:ea typeface="Meiryo"/>
                <a:cs typeface="Meiryo"/>
              </a:rPr>
              <a:t>PPG</a:t>
            </a:r>
            <a:endParaRPr sz="2400" b="1" dirty="0">
              <a:solidFill>
                <a:srgbClr val="00A8AA"/>
              </a:solidFill>
              <a:latin typeface="Meiryo"/>
              <a:ea typeface="Meiryo"/>
              <a:cs typeface="Meiryo"/>
            </a:endParaRPr>
          </a:p>
        </p:txBody>
      </p:sp>
      <p:cxnSp>
        <p:nvCxnSpPr>
          <p:cNvPr id="200" name="Connector 199"/>
          <p:cNvCxnSpPr/>
          <p:nvPr/>
        </p:nvCxnSpPr>
        <p:spPr>
          <a:xfrm>
            <a:off x="6745224" y="3761061"/>
            <a:ext cx="457200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sp>
        <p:nvSpPr>
          <p:cNvPr id="3" name="Freeform 2"/>
          <p:cNvSpPr/>
          <p:nvPr/>
        </p:nvSpPr>
        <p:spPr>
          <a:xfrm>
            <a:off x="6745224" y="2709501"/>
            <a:ext cx="4572000" cy="1051202"/>
          </a:xfrm>
          <a:custGeom>
            <a:avLst/>
            <a:gdLst/>
            <a:ahLst/>
            <a:cxnLst/>
            <a:rect l="l" t="t" r="r" b="b"/>
            <a:pathLst>
              <a:path w="4572000" h="1051202">
                <a:moveTo>
                  <a:pt x="0" y="1032241"/>
                </a:moveTo>
                <a:lnTo>
                  <a:pt x="26894" y="1028128"/>
                </a:lnTo>
                <a:lnTo>
                  <a:pt x="53788" y="1023275"/>
                </a:lnTo>
                <a:lnTo>
                  <a:pt x="80682" y="1017580"/>
                </a:lnTo>
                <a:lnTo>
                  <a:pt x="107576" y="1010933"/>
                </a:lnTo>
                <a:lnTo>
                  <a:pt x="134471" y="1003219"/>
                </a:lnTo>
                <a:lnTo>
                  <a:pt x="161365" y="994314"/>
                </a:lnTo>
                <a:lnTo>
                  <a:pt x="188259" y="984092"/>
                </a:lnTo>
                <a:lnTo>
                  <a:pt x="215153" y="972425"/>
                </a:lnTo>
                <a:lnTo>
                  <a:pt x="242047" y="959184"/>
                </a:lnTo>
                <a:lnTo>
                  <a:pt x="268941" y="944241"/>
                </a:lnTo>
                <a:lnTo>
                  <a:pt x="295835" y="927478"/>
                </a:lnTo>
                <a:lnTo>
                  <a:pt x="322729" y="908780"/>
                </a:lnTo>
                <a:lnTo>
                  <a:pt x="349624" y="888050"/>
                </a:lnTo>
                <a:lnTo>
                  <a:pt x="376518" y="865203"/>
                </a:lnTo>
                <a:lnTo>
                  <a:pt x="403412" y="840179"/>
                </a:lnTo>
                <a:lnTo>
                  <a:pt x="430306" y="812937"/>
                </a:lnTo>
                <a:lnTo>
                  <a:pt x="457200" y="783471"/>
                </a:lnTo>
                <a:lnTo>
                  <a:pt x="484094" y="751803"/>
                </a:lnTo>
                <a:lnTo>
                  <a:pt x="510988" y="717992"/>
                </a:lnTo>
                <a:lnTo>
                  <a:pt x="537882" y="682139"/>
                </a:lnTo>
                <a:lnTo>
                  <a:pt x="564776" y="644382"/>
                </a:lnTo>
                <a:lnTo>
                  <a:pt x="591671" y="604904"/>
                </a:lnTo>
                <a:lnTo>
                  <a:pt x="618565" y="563934"/>
                </a:lnTo>
                <a:lnTo>
                  <a:pt x="645459" y="521741"/>
                </a:lnTo>
                <a:lnTo>
                  <a:pt x="672353" y="478637"/>
                </a:lnTo>
                <a:lnTo>
                  <a:pt x="699247" y="434973"/>
                </a:lnTo>
                <a:lnTo>
                  <a:pt x="726141" y="391137"/>
                </a:lnTo>
                <a:lnTo>
                  <a:pt x="753035" y="347543"/>
                </a:lnTo>
                <a:lnTo>
                  <a:pt x="779929" y="304635"/>
                </a:lnTo>
                <a:lnTo>
                  <a:pt x="806824" y="262868"/>
                </a:lnTo>
                <a:lnTo>
                  <a:pt x="833718" y="222709"/>
                </a:lnTo>
                <a:lnTo>
                  <a:pt x="860612" y="184623"/>
                </a:lnTo>
                <a:lnTo>
                  <a:pt x="887506" y="149067"/>
                </a:lnTo>
                <a:lnTo>
                  <a:pt x="914400" y="116478"/>
                </a:lnTo>
                <a:lnTo>
                  <a:pt x="941294" y="87265"/>
                </a:lnTo>
                <a:lnTo>
                  <a:pt x="968188" y="61798"/>
                </a:lnTo>
                <a:lnTo>
                  <a:pt x="995082" y="40403"/>
                </a:lnTo>
                <a:lnTo>
                  <a:pt x="1021976" y="23349"/>
                </a:lnTo>
                <a:lnTo>
                  <a:pt x="1048871" y="10846"/>
                </a:lnTo>
                <a:lnTo>
                  <a:pt x="1075765" y="3039"/>
                </a:lnTo>
                <a:lnTo>
                  <a:pt x="1102659" y="0"/>
                </a:lnTo>
                <a:lnTo>
                  <a:pt x="1129553" y="1732"/>
                </a:lnTo>
                <a:lnTo>
                  <a:pt x="1156447" y="8165"/>
                </a:lnTo>
                <a:lnTo>
                  <a:pt x="1183341" y="19156"/>
                </a:lnTo>
                <a:lnTo>
                  <a:pt x="1210235" y="34495"/>
                </a:lnTo>
                <a:lnTo>
                  <a:pt x="1237129" y="53908"/>
                </a:lnTo>
                <a:lnTo>
                  <a:pt x="1264024" y="77063"/>
                </a:lnTo>
                <a:lnTo>
                  <a:pt x="1290918" y="103577"/>
                </a:lnTo>
                <a:lnTo>
                  <a:pt x="1317812" y="133025"/>
                </a:lnTo>
                <a:lnTo>
                  <a:pt x="1344706" y="164949"/>
                </a:lnTo>
                <a:lnTo>
                  <a:pt x="1371600" y="198865"/>
                </a:lnTo>
                <a:lnTo>
                  <a:pt x="1398494" y="234277"/>
                </a:lnTo>
                <a:lnTo>
                  <a:pt x="1425388" y="270684"/>
                </a:lnTo>
                <a:lnTo>
                  <a:pt x="1452282" y="307589"/>
                </a:lnTo>
                <a:lnTo>
                  <a:pt x="1479176" y="344512"/>
                </a:lnTo>
                <a:lnTo>
                  <a:pt x="1506071" y="380990"/>
                </a:lnTo>
                <a:lnTo>
                  <a:pt x="1532965" y="416594"/>
                </a:lnTo>
                <a:lnTo>
                  <a:pt x="1559859" y="450928"/>
                </a:lnTo>
                <a:lnTo>
                  <a:pt x="1586753" y="483636"/>
                </a:lnTo>
                <a:lnTo>
                  <a:pt x="1613647" y="514408"/>
                </a:lnTo>
                <a:lnTo>
                  <a:pt x="1640541" y="542980"/>
                </a:lnTo>
                <a:lnTo>
                  <a:pt x="1667435" y="569135"/>
                </a:lnTo>
                <a:lnTo>
                  <a:pt x="1694329" y="592707"/>
                </a:lnTo>
                <a:lnTo>
                  <a:pt x="1721224" y="613577"/>
                </a:lnTo>
                <a:lnTo>
                  <a:pt x="1748118" y="631672"/>
                </a:lnTo>
                <a:lnTo>
                  <a:pt x="1775012" y="646965"/>
                </a:lnTo>
                <a:lnTo>
                  <a:pt x="1801906" y="659467"/>
                </a:lnTo>
                <a:lnTo>
                  <a:pt x="1828800" y="669229"/>
                </a:lnTo>
                <a:lnTo>
                  <a:pt x="1855694" y="676337"/>
                </a:lnTo>
                <a:lnTo>
                  <a:pt x="1882588" y="680904"/>
                </a:lnTo>
                <a:lnTo>
                  <a:pt x="1909482" y="683072"/>
                </a:lnTo>
                <a:lnTo>
                  <a:pt x="1936376" y="683003"/>
                </a:lnTo>
                <a:lnTo>
                  <a:pt x="1963271" y="680875"/>
                </a:lnTo>
                <a:lnTo>
                  <a:pt x="1990165" y="676885"/>
                </a:lnTo>
                <a:lnTo>
                  <a:pt x="2017059" y="671234"/>
                </a:lnTo>
                <a:lnTo>
                  <a:pt x="2043953" y="664135"/>
                </a:lnTo>
                <a:lnTo>
                  <a:pt x="2070847" y="655803"/>
                </a:lnTo>
                <a:lnTo>
                  <a:pt x="2097741" y="646453"/>
                </a:lnTo>
                <a:lnTo>
                  <a:pt x="2124635" y="636300"/>
                </a:lnTo>
                <a:lnTo>
                  <a:pt x="2151529" y="625555"/>
                </a:lnTo>
                <a:lnTo>
                  <a:pt x="2178424" y="614424"/>
                </a:lnTo>
                <a:lnTo>
                  <a:pt x="2205318" y="603106"/>
                </a:lnTo>
                <a:lnTo>
                  <a:pt x="2232212" y="591790"/>
                </a:lnTo>
                <a:lnTo>
                  <a:pt x="2259106" y="580657"/>
                </a:lnTo>
                <a:lnTo>
                  <a:pt x="2286000" y="569877"/>
                </a:lnTo>
                <a:lnTo>
                  <a:pt x="2312894" y="559607"/>
                </a:lnTo>
                <a:lnTo>
                  <a:pt x="2339788" y="549994"/>
                </a:lnTo>
                <a:lnTo>
                  <a:pt x="2366682" y="541171"/>
                </a:lnTo>
                <a:lnTo>
                  <a:pt x="2393576" y="533258"/>
                </a:lnTo>
                <a:lnTo>
                  <a:pt x="2420471" y="526361"/>
                </a:lnTo>
                <a:lnTo>
                  <a:pt x="2447365" y="520571"/>
                </a:lnTo>
                <a:lnTo>
                  <a:pt x="2474259" y="515966"/>
                </a:lnTo>
                <a:lnTo>
                  <a:pt x="2501153" y="512612"/>
                </a:lnTo>
                <a:lnTo>
                  <a:pt x="2528047" y="510556"/>
                </a:lnTo>
                <a:lnTo>
                  <a:pt x="2554941" y="509835"/>
                </a:lnTo>
                <a:lnTo>
                  <a:pt x="2581835" y="510471"/>
                </a:lnTo>
                <a:lnTo>
                  <a:pt x="2608729" y="512471"/>
                </a:lnTo>
                <a:lnTo>
                  <a:pt x="2635624" y="515830"/>
                </a:lnTo>
                <a:lnTo>
                  <a:pt x="2662518" y="520532"/>
                </a:lnTo>
                <a:lnTo>
                  <a:pt x="2689412" y="526546"/>
                </a:lnTo>
                <a:lnTo>
                  <a:pt x="2716306" y="533831"/>
                </a:lnTo>
                <a:lnTo>
                  <a:pt x="2743200" y="542337"/>
                </a:lnTo>
                <a:lnTo>
                  <a:pt x="2770094" y="552002"/>
                </a:lnTo>
                <a:lnTo>
                  <a:pt x="2796988" y="562757"/>
                </a:lnTo>
                <a:lnTo>
                  <a:pt x="2823882" y="574525"/>
                </a:lnTo>
                <a:lnTo>
                  <a:pt x="2850776" y="587222"/>
                </a:lnTo>
                <a:lnTo>
                  <a:pt x="2877671" y="600759"/>
                </a:lnTo>
                <a:lnTo>
                  <a:pt x="2904565" y="615042"/>
                </a:lnTo>
                <a:lnTo>
                  <a:pt x="2931459" y="629976"/>
                </a:lnTo>
                <a:lnTo>
                  <a:pt x="2958353" y="645462"/>
                </a:lnTo>
                <a:lnTo>
                  <a:pt x="2985247" y="661400"/>
                </a:lnTo>
                <a:lnTo>
                  <a:pt x="3012141" y="677692"/>
                </a:lnTo>
                <a:lnTo>
                  <a:pt x="3039035" y="694239"/>
                </a:lnTo>
                <a:lnTo>
                  <a:pt x="3065929" y="710945"/>
                </a:lnTo>
                <a:lnTo>
                  <a:pt x="3092824" y="727719"/>
                </a:lnTo>
                <a:lnTo>
                  <a:pt x="3119718" y="744471"/>
                </a:lnTo>
                <a:lnTo>
                  <a:pt x="3146612" y="761117"/>
                </a:lnTo>
                <a:lnTo>
                  <a:pt x="3173506" y="777578"/>
                </a:lnTo>
                <a:lnTo>
                  <a:pt x="3200400" y="793782"/>
                </a:lnTo>
                <a:lnTo>
                  <a:pt x="3227294" y="809661"/>
                </a:lnTo>
                <a:lnTo>
                  <a:pt x="3254188" y="825156"/>
                </a:lnTo>
                <a:lnTo>
                  <a:pt x="3281082" y="840211"/>
                </a:lnTo>
                <a:lnTo>
                  <a:pt x="3307976" y="854781"/>
                </a:lnTo>
                <a:lnTo>
                  <a:pt x="3334871" y="868825"/>
                </a:lnTo>
                <a:lnTo>
                  <a:pt x="3361765" y="882310"/>
                </a:lnTo>
                <a:lnTo>
                  <a:pt x="3388659" y="895210"/>
                </a:lnTo>
                <a:lnTo>
                  <a:pt x="3415553" y="907503"/>
                </a:lnTo>
                <a:lnTo>
                  <a:pt x="3442447" y="919177"/>
                </a:lnTo>
                <a:lnTo>
                  <a:pt x="3469341" y="930223"/>
                </a:lnTo>
                <a:lnTo>
                  <a:pt x="3496235" y="940638"/>
                </a:lnTo>
                <a:lnTo>
                  <a:pt x="3523129" y="950424"/>
                </a:lnTo>
                <a:lnTo>
                  <a:pt x="3550024" y="959587"/>
                </a:lnTo>
                <a:lnTo>
                  <a:pt x="3576918" y="968139"/>
                </a:lnTo>
                <a:lnTo>
                  <a:pt x="3603812" y="976093"/>
                </a:lnTo>
                <a:lnTo>
                  <a:pt x="3630706" y="983468"/>
                </a:lnTo>
                <a:lnTo>
                  <a:pt x="3657600" y="990282"/>
                </a:lnTo>
                <a:lnTo>
                  <a:pt x="3684494" y="996558"/>
                </a:lnTo>
                <a:lnTo>
                  <a:pt x="3711388" y="1002321"/>
                </a:lnTo>
                <a:lnTo>
                  <a:pt x="3738282" y="1007595"/>
                </a:lnTo>
                <a:lnTo>
                  <a:pt x="3765176" y="1012406"/>
                </a:lnTo>
                <a:lnTo>
                  <a:pt x="3792071" y="1016783"/>
                </a:lnTo>
                <a:lnTo>
                  <a:pt x="3818965" y="1020750"/>
                </a:lnTo>
                <a:lnTo>
                  <a:pt x="3845859" y="1024337"/>
                </a:lnTo>
                <a:lnTo>
                  <a:pt x="3872753" y="1027568"/>
                </a:lnTo>
                <a:lnTo>
                  <a:pt x="3899647" y="1030472"/>
                </a:lnTo>
                <a:lnTo>
                  <a:pt x="3926541" y="1033072"/>
                </a:lnTo>
                <a:lnTo>
                  <a:pt x="3953435" y="1035394"/>
                </a:lnTo>
                <a:lnTo>
                  <a:pt x="3980329" y="1037462"/>
                </a:lnTo>
                <a:lnTo>
                  <a:pt x="4007224" y="1039297"/>
                </a:lnTo>
                <a:lnTo>
                  <a:pt x="4034118" y="1040921"/>
                </a:lnTo>
                <a:lnTo>
                  <a:pt x="4061012" y="1042354"/>
                </a:lnTo>
                <a:lnTo>
                  <a:pt x="4087906" y="1043615"/>
                </a:lnTo>
                <a:lnTo>
                  <a:pt x="4114800" y="1044721"/>
                </a:lnTo>
                <a:lnTo>
                  <a:pt x="4141694" y="1045689"/>
                </a:lnTo>
                <a:lnTo>
                  <a:pt x="4168588" y="1046533"/>
                </a:lnTo>
                <a:lnTo>
                  <a:pt x="4195482" y="1047266"/>
                </a:lnTo>
                <a:lnTo>
                  <a:pt x="4222376" y="1047903"/>
                </a:lnTo>
                <a:lnTo>
                  <a:pt x="4249271" y="1048453"/>
                </a:lnTo>
                <a:lnTo>
                  <a:pt x="4276165" y="1048927"/>
                </a:lnTo>
                <a:lnTo>
                  <a:pt x="4303059" y="1049335"/>
                </a:lnTo>
                <a:lnTo>
                  <a:pt x="4329953" y="1049684"/>
                </a:lnTo>
                <a:lnTo>
                  <a:pt x="4356847" y="1049983"/>
                </a:lnTo>
                <a:lnTo>
                  <a:pt x="4383741" y="1050238"/>
                </a:lnTo>
                <a:lnTo>
                  <a:pt x="4410635" y="1050454"/>
                </a:lnTo>
                <a:lnTo>
                  <a:pt x="4437529" y="1050637"/>
                </a:lnTo>
                <a:lnTo>
                  <a:pt x="4464424" y="1050792"/>
                </a:lnTo>
                <a:lnTo>
                  <a:pt x="4491318" y="1050923"/>
                </a:lnTo>
                <a:lnTo>
                  <a:pt x="4518212" y="1051033"/>
                </a:lnTo>
                <a:lnTo>
                  <a:pt x="4545106" y="1051125"/>
                </a:lnTo>
                <a:lnTo>
                  <a:pt x="4572000" y="1051202"/>
                </a:lnTo>
              </a:path>
            </a:pathLst>
          </a:custGeom>
          <a:noFill/>
          <a:ln w="34925">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01" name="Connector 200"/>
          <p:cNvCxnSpPr/>
          <p:nvPr/>
        </p:nvCxnSpPr>
        <p:spPr>
          <a:xfrm>
            <a:off x="7847883" y="2709501"/>
            <a:ext cx="0" cy="1225296"/>
          </a:xfrm>
          <a:prstGeom prst="line">
            <a:avLst/>
          </a:prstGeom>
          <a:ln w="15875">
            <a:solidFill>
              <a:srgbClr val="00A8AA"/>
            </a:solidFill>
            <a:prstDash val="dash"/>
          </a:ln>
        </p:spPr>
        <p:style>
          <a:lnRef idx="2">
            <a:schemeClr val="accent1"/>
          </a:lnRef>
          <a:fillRef idx="0">
            <a:schemeClr val="accent1"/>
          </a:fillRef>
          <a:effectRef idx="1">
            <a:schemeClr val="accent1"/>
          </a:effectRef>
          <a:fontRef idx="minor">
            <a:schemeClr val="tx1"/>
          </a:fontRef>
        </p:style>
      </p:cxnSp>
      <p:sp>
        <p:nvSpPr>
          <p:cNvPr id="202" name="TextBox 201"/>
          <p:cNvSpPr txBox="1"/>
          <p:nvPr/>
        </p:nvSpPr>
        <p:spPr>
          <a:xfrm>
            <a:off x="6915035" y="2581485"/>
            <a:ext cx="777240" cy="384048"/>
          </a:xfrm>
          <a:prstGeom prst="rect">
            <a:avLst/>
          </a:prstGeom>
          <a:noFill/>
        </p:spPr>
        <p:txBody>
          <a:bodyPr wrap="square" lIns="0" tIns="0" rIns="0" bIns="0" anchor="t">
            <a:spAutoFit/>
          </a:bodyPr>
          <a:lstStyle/>
          <a:p>
            <a:pPr algn="r"/>
            <a:r>
              <a:rPr sz="1600" b="1" dirty="0">
                <a:solidFill>
                  <a:srgbClr val="808080"/>
                </a:solidFill>
                <a:latin typeface="Meiryo"/>
                <a:ea typeface="Meiryo"/>
                <a:cs typeface="Meiryo"/>
              </a:rPr>
              <a:t>P1</a:t>
            </a:r>
          </a:p>
        </p:txBody>
      </p:sp>
      <p:cxnSp>
        <p:nvCxnSpPr>
          <p:cNvPr id="203" name="Connector 202"/>
          <p:cNvCxnSpPr/>
          <p:nvPr/>
        </p:nvCxnSpPr>
        <p:spPr>
          <a:xfrm>
            <a:off x="9300165" y="3219336"/>
            <a:ext cx="0" cy="715461"/>
          </a:xfrm>
          <a:prstGeom prst="line">
            <a:avLst/>
          </a:prstGeom>
          <a:ln w="15875">
            <a:solidFill>
              <a:srgbClr val="00A8AA"/>
            </a:solidFill>
            <a:prstDash val="dash"/>
          </a:ln>
        </p:spPr>
        <p:style>
          <a:lnRef idx="2">
            <a:schemeClr val="accent1"/>
          </a:lnRef>
          <a:fillRef idx="0">
            <a:schemeClr val="accent1"/>
          </a:fillRef>
          <a:effectRef idx="1">
            <a:schemeClr val="accent1"/>
          </a:effectRef>
          <a:fontRef idx="minor">
            <a:schemeClr val="tx1"/>
          </a:fontRef>
        </p:style>
      </p:cxnSp>
      <p:sp>
        <p:nvSpPr>
          <p:cNvPr id="204" name="TextBox 203"/>
          <p:cNvSpPr txBox="1"/>
          <p:nvPr/>
        </p:nvSpPr>
        <p:spPr>
          <a:xfrm>
            <a:off x="9471815" y="3011110"/>
            <a:ext cx="777240" cy="384048"/>
          </a:xfrm>
          <a:prstGeom prst="rect">
            <a:avLst/>
          </a:prstGeom>
          <a:noFill/>
        </p:spPr>
        <p:txBody>
          <a:bodyPr wrap="square" lIns="0" tIns="0" rIns="0" bIns="0" anchor="t">
            <a:spAutoFit/>
          </a:bodyPr>
          <a:lstStyle/>
          <a:p>
            <a:pPr algn="l"/>
            <a:r>
              <a:rPr sz="1600" b="1" dirty="0">
                <a:solidFill>
                  <a:srgbClr val="808080"/>
                </a:solidFill>
                <a:latin typeface="Meiryo"/>
                <a:ea typeface="Meiryo"/>
                <a:cs typeface="Meiryo"/>
              </a:rPr>
              <a:t>P2</a:t>
            </a:r>
          </a:p>
        </p:txBody>
      </p:sp>
      <p:sp>
        <p:nvSpPr>
          <p:cNvPr id="205" name="Left-Right Arrow 204"/>
          <p:cNvSpPr/>
          <p:nvPr/>
        </p:nvSpPr>
        <p:spPr>
          <a:xfrm>
            <a:off x="7847883" y="3898221"/>
            <a:ext cx="1452282" cy="164592"/>
          </a:xfrm>
          <a:prstGeom prst="leftRightArrow">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6" name="TextBox 205"/>
          <p:cNvSpPr txBox="1"/>
          <p:nvPr/>
        </p:nvSpPr>
        <p:spPr>
          <a:xfrm>
            <a:off x="7933944" y="4081101"/>
            <a:ext cx="1280160" cy="548640"/>
          </a:xfrm>
          <a:prstGeom prst="rect">
            <a:avLst/>
          </a:prstGeom>
          <a:noFill/>
        </p:spPr>
        <p:txBody>
          <a:bodyPr wrap="square" lIns="0" tIns="0" rIns="0" bIns="0" anchor="t">
            <a:spAutoFit/>
          </a:bodyPr>
          <a:lstStyle/>
          <a:p>
            <a:pPr algn="ctr"/>
            <a:r>
              <a:rPr sz="2400" b="1">
                <a:solidFill>
                  <a:srgbClr val="00A8AA"/>
                </a:solidFill>
                <a:latin typeface="Meiryo"/>
                <a:ea typeface="Meiryo"/>
                <a:cs typeface="Meiryo"/>
              </a:rPr>
              <a:t>ΔT</a:t>
            </a:r>
          </a:p>
        </p:txBody>
      </p:sp>
      <p:sp>
        <p:nvSpPr>
          <p:cNvPr id="207" name="TextBox 206"/>
          <p:cNvSpPr txBox="1"/>
          <p:nvPr/>
        </p:nvSpPr>
        <p:spPr>
          <a:xfrm>
            <a:off x="6434328" y="4446227"/>
            <a:ext cx="5029200" cy="338554"/>
          </a:xfrm>
          <a:prstGeom prst="rect">
            <a:avLst/>
          </a:prstGeom>
          <a:noFill/>
        </p:spPr>
        <p:txBody>
          <a:bodyPr wrap="square" lIns="0" tIns="0" rIns="0" bIns="0" anchor="b">
            <a:spAutoFit/>
          </a:bodyPr>
          <a:lstStyle/>
          <a:p>
            <a:pPr algn="ctr"/>
            <a:r>
              <a:rPr lang="en-US" altLang="ja-JP" sz="2200" b="1" dirty="0">
                <a:solidFill>
                  <a:srgbClr val="262626"/>
                </a:solidFill>
                <a:latin typeface="Meiryo"/>
                <a:ea typeface="Meiryo"/>
                <a:cs typeface="Meiryo"/>
              </a:rPr>
              <a:t>PPG</a:t>
            </a:r>
            <a:r>
              <a:rPr lang="ja-JP" altLang="en-US" sz="2200" b="1">
                <a:solidFill>
                  <a:srgbClr val="262626"/>
                </a:solidFill>
                <a:latin typeface="Meiryo"/>
                <a:ea typeface="Meiryo"/>
                <a:cs typeface="Meiryo"/>
              </a:rPr>
              <a:t>の</a:t>
            </a:r>
            <a:r>
              <a:rPr lang="en-US" altLang="ja-JP" sz="2200" b="1" dirty="0">
                <a:solidFill>
                  <a:srgbClr val="262626"/>
                </a:solidFill>
                <a:latin typeface="Meiryo"/>
                <a:ea typeface="Meiryo"/>
                <a:cs typeface="Meiryo"/>
              </a:rPr>
              <a:t>ΔT</a:t>
            </a:r>
            <a:r>
              <a:rPr lang="ja-JP" altLang="en-US" sz="2200" b="1">
                <a:solidFill>
                  <a:srgbClr val="262626"/>
                </a:solidFill>
                <a:latin typeface="Meiryo"/>
                <a:ea typeface="Meiryo"/>
                <a:cs typeface="Meiryo"/>
              </a:rPr>
              <a:t>は心臓側の</a:t>
            </a:r>
            <a:r>
              <a:rPr sz="2200" b="1" dirty="0" err="1">
                <a:solidFill>
                  <a:srgbClr val="262626"/>
                </a:solidFill>
                <a:latin typeface="Meiryo"/>
                <a:ea typeface="Meiryo"/>
                <a:cs typeface="Meiryo"/>
              </a:rPr>
              <a:t>基準点を使わない。</a:t>
            </a:r>
            <a:endParaRPr sz="2200" b="1" dirty="0">
              <a:solidFill>
                <a:srgbClr val="262626"/>
              </a:solidFill>
              <a:latin typeface="Meiryo"/>
              <a:ea typeface="Meiryo"/>
              <a:cs typeface="Meiryo"/>
            </a:endParaRPr>
          </a:p>
        </p:txBody>
      </p:sp>
      <p:sp>
        <p:nvSpPr>
          <p:cNvPr id="208" name="Rounded Rectangle 207"/>
          <p:cNvSpPr/>
          <p:nvPr/>
        </p:nvSpPr>
        <p:spPr>
          <a:xfrm>
            <a:off x="527304" y="5111952"/>
            <a:ext cx="11137392" cy="1308523"/>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9" name="TextBox 208"/>
          <p:cNvSpPr txBox="1"/>
          <p:nvPr/>
        </p:nvSpPr>
        <p:spPr>
          <a:xfrm>
            <a:off x="573024" y="5191055"/>
            <a:ext cx="10771632" cy="1150315"/>
          </a:xfrm>
          <a:prstGeom prst="rect">
            <a:avLst/>
          </a:prstGeom>
          <a:noFill/>
        </p:spPr>
        <p:txBody>
          <a:bodyPr wrap="square" lIns="0" tIns="0" rIns="0" bIns="0" anchor="ctr">
            <a:spAutoFit/>
          </a:bodyPr>
          <a:lstStyle/>
          <a:p>
            <a:pPr algn="ctr">
              <a:lnSpc>
                <a:spcPct val="150000"/>
              </a:lnSpc>
            </a:pPr>
            <a:r>
              <a:rPr sz="2600" b="1" dirty="0">
                <a:solidFill>
                  <a:srgbClr val="262626"/>
                </a:solidFill>
                <a:latin typeface="Meiryo"/>
                <a:ea typeface="Meiryo"/>
                <a:cs typeface="Meiryo"/>
              </a:rPr>
              <a:t>ΔT </a:t>
            </a:r>
            <a:r>
              <a:rPr lang="ja-JP" altLang="en-US" sz="2600" b="1">
                <a:solidFill>
                  <a:srgbClr val="262626"/>
                </a:solidFill>
                <a:latin typeface="Meiryo"/>
                <a:ea typeface="Meiryo"/>
                <a:cs typeface="Meiryo"/>
              </a:rPr>
              <a:t>には心臓側の要素が含まれず、血管側によって変化する。</a:t>
            </a:r>
            <a:endParaRPr lang="en-US" altLang="ja-JP" sz="2600" b="1" dirty="0">
              <a:solidFill>
                <a:srgbClr val="262626"/>
              </a:solidFill>
              <a:latin typeface="Meiryo"/>
              <a:ea typeface="Meiryo"/>
              <a:cs typeface="Meiryo"/>
            </a:endParaRPr>
          </a:p>
          <a:p>
            <a:pPr algn="ctr">
              <a:lnSpc>
                <a:spcPct val="150000"/>
              </a:lnSpc>
            </a:pPr>
            <a:r>
              <a:rPr lang="en-US" altLang="ja-JP" sz="2600" b="1" dirty="0">
                <a:solidFill>
                  <a:srgbClr val="262626"/>
                </a:solidFill>
                <a:latin typeface="Meiryo"/>
                <a:ea typeface="Meiryo"/>
                <a:cs typeface="Meiryo"/>
              </a:rPr>
              <a:t>VTT</a:t>
            </a:r>
            <a:r>
              <a:rPr lang="ja-JP" altLang="en-US" sz="2600" b="1">
                <a:solidFill>
                  <a:srgbClr val="262626"/>
                </a:solidFill>
                <a:latin typeface="Meiryo"/>
                <a:ea typeface="Meiryo"/>
                <a:cs typeface="Meiryo"/>
              </a:rPr>
              <a:t>の変化は</a:t>
            </a:r>
            <a:r>
              <a:rPr lang="en-US" altLang="ja-JP" sz="2600" b="1" dirty="0">
                <a:solidFill>
                  <a:srgbClr val="262626"/>
                </a:solidFill>
                <a:latin typeface="Meiryo"/>
                <a:ea typeface="Meiryo"/>
                <a:cs typeface="Meiryo"/>
              </a:rPr>
              <a:t>ΔT</a:t>
            </a:r>
            <a:r>
              <a:rPr lang="ja-JP" altLang="en-US" sz="2600" b="1">
                <a:solidFill>
                  <a:srgbClr val="262626"/>
                </a:solidFill>
                <a:latin typeface="Meiryo"/>
                <a:ea typeface="Meiryo"/>
                <a:cs typeface="Meiryo"/>
              </a:rPr>
              <a:t>と関連があるはず。</a:t>
            </a:r>
            <a:endParaRPr sz="2600" b="1" dirty="0">
              <a:solidFill>
                <a:srgbClr val="262626"/>
              </a:solidFill>
              <a:latin typeface="Meiryo"/>
              <a:ea typeface="Meiryo"/>
              <a:cs typeface="Meiryo"/>
            </a:endParaRPr>
          </a:p>
        </p:txBody>
      </p:sp>
      <p:sp>
        <p:nvSpPr>
          <p:cNvPr id="21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101/118</a:t>
            </a:r>
          </a:p>
        </p:txBody>
      </p:sp>
      <p:sp>
        <p:nvSpPr>
          <p:cNvPr id="213"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214"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215"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216"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217"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18" name="Off-page Connector 4">
            <a:extLst>
              <a:ext uri="{FF2B5EF4-FFF2-40B4-BE49-F238E27FC236}">
                <a16:creationId xmlns:a16="http://schemas.microsoft.com/office/drawing/2014/main" id="{AA9D36CE-3772-F005-B54C-9329ADA7F086}"/>
              </a:ext>
            </a:extLst>
          </p:cNvPr>
          <p:cNvSpPr/>
          <p:nvPr/>
        </p:nvSpPr>
        <p:spPr>
          <a:xfrm>
            <a:off x="1151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6</a:t>
            </a:r>
          </a:p>
          <a:p>
            <a:pPr algn="ctr"/>
            <a:r>
              <a:rPr sz="1050" b="1">
                <a:solidFill>
                  <a:srgbClr val="FFFFFF"/>
                </a:solidFill>
                <a:latin typeface="Meiryo"/>
                <a:ea typeface="Meiryo"/>
                <a:cs typeface="Meiryo"/>
              </a:rPr>
              <a:t>提案</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6.4  期待される利点</a:t>
            </a:r>
          </a:p>
        </p:txBody>
      </p:sp>
      <p:sp>
        <p:nvSpPr>
          <p:cNvPr id="211" name="Source"/>
          <p:cNvSpPr txBox="1"/>
          <p:nvPr/>
        </p:nvSpPr>
        <p:spPr>
          <a:xfrm>
            <a:off x="720000" y="6606000"/>
            <a:ext cx="10881360" cy="200000"/>
          </a:xfrm>
          <a:prstGeom prst="rect">
            <a:avLst/>
          </a:prstGeom>
          <a:noFill/>
        </p:spPr>
        <p:txBody>
          <a:bodyPr wrap="square" lIns="0" tIns="0" rIns="0" bIns="0" anchor="t">
            <a:spAutoFit/>
          </a:bodyPr>
          <a:lstStyle/>
          <a:p>
            <a:pPr algn="l"/>
            <a:r>
              <a:rPr sz="1050">
                <a:solidFill>
                  <a:srgbClr val="808080"/>
                </a:solidFill>
                <a:latin typeface="Meiryo"/>
                <a:ea typeface="Meiryo"/>
                <a:cs typeface="Meiryo"/>
              </a:rPr>
              <a:t>6. Millasseau 2002　／　11. Chowienczyk 1999　／　48. Sugo 2010</a:t>
            </a:r>
          </a:p>
        </p:txBody>
      </p:sp>
      <p:sp>
        <p:nvSpPr>
          <p:cNvPr id="213" name="c0-bg"/>
          <p:cNvSpPr/>
          <p:nvPr/>
        </p:nvSpPr>
        <p:spPr>
          <a:xfrm>
            <a:off x="502920" y="1780000"/>
            <a:ext cx="5432840" cy="175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214" name="c0-t"/>
          <p:cNvSpPr txBox="1"/>
          <p:nvPr/>
        </p:nvSpPr>
        <p:spPr>
          <a:xfrm>
            <a:off x="702920" y="193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2E5395"/>
                </a:solidFill>
                <a:latin typeface="Meiryo"/>
                <a:ea typeface="Meiryo"/>
                <a:cs typeface="Meiryo"/>
              </a:rPr>
              <a:t>① 追加センサ 不要</a:t>
            </a:r>
          </a:p>
        </p:txBody>
      </p:sp>
      <p:sp>
        <p:nvSpPr>
          <p:cNvPr id="215" name="c0-b"/>
          <p:cNvSpPr txBox="1"/>
          <p:nvPr/>
        </p:nvSpPr>
        <p:spPr>
          <a:xfrm>
            <a:off x="702920" y="248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PWTT と同じ SpO₂ 信号</a:t>
            </a:r>
          </a:p>
          <a:p>
            <a:pPr algn="l">
              <a:lnSpc>
                <a:spcPct val="120000"/>
              </a:lnSpc>
            </a:pPr>
            <a:r>
              <a:rPr lang="ja-JP" altLang="en-US" sz="2200" b="1" dirty="0">
                <a:solidFill>
                  <a:srgbClr val="262626"/>
                </a:solidFill>
                <a:latin typeface="Meiryo"/>
                <a:ea typeface="Meiryo"/>
                <a:cs typeface="Meiryo"/>
              </a:rPr>
              <a:t>追加コスト ゼロ</a:t>
            </a:r>
          </a:p>
        </p:txBody>
      </p:sp>
      <p:sp>
        <p:nvSpPr>
          <p:cNvPr id="216" name="c1-bg"/>
          <p:cNvSpPr/>
          <p:nvPr/>
        </p:nvSpPr>
        <p:spPr>
          <a:xfrm>
            <a:off x="6210080" y="1780000"/>
            <a:ext cx="5432840" cy="1750000"/>
          </a:xfrm>
          <a:prstGeom prst="roundRect">
            <a:avLst>
              <a:gd name="adj" fmla="val 6000"/>
            </a:avLst>
          </a:prstGeom>
          <a:solidFill>
            <a:srgbClr val="FDF0E6"/>
          </a:solidFill>
          <a:ln w="19050">
            <a:solidFill>
              <a:srgbClr val="C55A11"/>
            </a:solidFill>
          </a:ln>
          <a:effectLst/>
        </p:spPr>
        <p:txBody>
          <a:bodyPr wrap="square" lIns="91440" tIns="45720" rIns="91440" bIns="45720" rtlCol="0" anchor="ctr">
            <a:noAutofit/>
          </a:bodyPr>
          <a:lstStyle/>
          <a:p>
            <a:endParaRPr/>
          </a:p>
        </p:txBody>
      </p:sp>
      <p:sp>
        <p:nvSpPr>
          <p:cNvPr id="217" name="c1-t"/>
          <p:cNvSpPr txBox="1"/>
          <p:nvPr/>
        </p:nvSpPr>
        <p:spPr>
          <a:xfrm>
            <a:off x="6410080" y="193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C55A11"/>
                </a:solidFill>
                <a:latin typeface="Meiryo"/>
                <a:ea typeface="Meiryo"/>
                <a:cs typeface="Meiryo"/>
              </a:rPr>
              <a:t>② AGC に強い</a:t>
            </a:r>
          </a:p>
        </p:txBody>
      </p:sp>
      <p:sp>
        <p:nvSpPr>
          <p:cNvPr id="218" name="c1-b"/>
          <p:cNvSpPr txBox="1"/>
          <p:nvPr/>
        </p:nvSpPr>
        <p:spPr>
          <a:xfrm>
            <a:off x="6410080" y="248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同一拍内の振幅比</a:t>
            </a:r>
          </a:p>
          <a:p>
            <a:pPr algn="l">
              <a:lnSpc>
                <a:spcPct val="120000"/>
              </a:lnSpc>
            </a:pPr>
            <a:r>
              <a:rPr lang="ja-JP" altLang="en-US" sz="2200" b="1" dirty="0">
                <a:solidFill>
                  <a:srgbClr val="262626"/>
                </a:solidFill>
                <a:latin typeface="Meiryo"/>
                <a:ea typeface="Meiryo"/>
                <a:cs typeface="Meiryo"/>
              </a:rPr>
              <a:t>絶対振幅に依存しない</a:t>
            </a:r>
          </a:p>
        </p:txBody>
      </p:sp>
      <p:sp>
        <p:nvSpPr>
          <p:cNvPr id="219" name="c2-bg"/>
          <p:cNvSpPr/>
          <p:nvPr/>
        </p:nvSpPr>
        <p:spPr>
          <a:xfrm>
            <a:off x="502920" y="3680000"/>
            <a:ext cx="5432840" cy="1750000"/>
          </a:xfrm>
          <a:prstGeom prst="roundRect">
            <a:avLst>
              <a:gd name="adj" fmla="val 6000"/>
            </a:avLst>
          </a:prstGeom>
          <a:solidFill>
            <a:srgbClr val="E4F5F5"/>
          </a:solidFill>
          <a:ln w="19050">
            <a:solidFill>
              <a:srgbClr val="00A8AA"/>
            </a:solidFill>
          </a:ln>
          <a:effectLst/>
        </p:spPr>
        <p:txBody>
          <a:bodyPr wrap="square" lIns="91440" tIns="45720" rIns="91440" bIns="45720" rtlCol="0" anchor="ctr">
            <a:noAutofit/>
          </a:bodyPr>
          <a:lstStyle/>
          <a:p>
            <a:endParaRPr/>
          </a:p>
        </p:txBody>
      </p:sp>
      <p:sp>
        <p:nvSpPr>
          <p:cNvPr id="220" name="c2-t"/>
          <p:cNvSpPr txBox="1"/>
          <p:nvPr/>
        </p:nvSpPr>
        <p:spPr>
          <a:xfrm>
            <a:off x="702920" y="383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00A8AA"/>
                </a:solidFill>
                <a:latin typeface="Meiryo"/>
                <a:ea typeface="Meiryo"/>
                <a:cs typeface="Meiryo"/>
              </a:rPr>
              <a:t>③ 後負荷を直接測る</a:t>
            </a:r>
          </a:p>
        </p:txBody>
      </p:sp>
      <p:sp>
        <p:nvSpPr>
          <p:cNvPr id="221" name="c2-b"/>
          <p:cNvSpPr txBox="1"/>
          <p:nvPr/>
        </p:nvSpPr>
        <p:spPr>
          <a:xfrm>
            <a:off x="702920" y="438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交絡変数そのもの</a:t>
            </a:r>
          </a:p>
          <a:p>
            <a:pPr algn="l">
              <a:lnSpc>
                <a:spcPct val="120000"/>
              </a:lnSpc>
            </a:pPr>
            <a:r>
              <a:rPr lang="ja-JP" altLang="en-US" sz="2200" b="1" dirty="0">
                <a:solidFill>
                  <a:srgbClr val="262626"/>
                </a:solidFill>
                <a:latin typeface="Meiryo"/>
                <a:ea typeface="Meiryo"/>
                <a:cs typeface="Meiryo"/>
              </a:rPr>
              <a:t>2 軸で分離できる</a:t>
            </a:r>
          </a:p>
        </p:txBody>
      </p:sp>
      <p:sp>
        <p:nvSpPr>
          <p:cNvPr id="222" name="c3-bg"/>
          <p:cNvSpPr/>
          <p:nvPr/>
        </p:nvSpPr>
        <p:spPr>
          <a:xfrm>
            <a:off x="6210080" y="3680000"/>
            <a:ext cx="5432840" cy="175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223" name="c3-t"/>
          <p:cNvSpPr txBox="1"/>
          <p:nvPr/>
        </p:nvSpPr>
        <p:spPr>
          <a:xfrm>
            <a:off x="6410080" y="383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2E5395"/>
                </a:solidFill>
                <a:latin typeface="Meiryo"/>
                <a:ea typeface="Meiryo"/>
                <a:cs typeface="Meiryo"/>
              </a:rPr>
              <a:t>④ 個人内 Δ で追う</a:t>
            </a:r>
          </a:p>
        </p:txBody>
      </p:sp>
      <p:sp>
        <p:nvSpPr>
          <p:cNvPr id="224" name="c3-b"/>
          <p:cNvSpPr txBox="1"/>
          <p:nvPr/>
        </p:nvSpPr>
        <p:spPr>
          <a:xfrm>
            <a:off x="6410080" y="438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絶対較正が不要</a:t>
            </a:r>
          </a:p>
          <a:p>
            <a:pPr algn="l">
              <a:lnSpc>
                <a:spcPct val="120000"/>
              </a:lnSpc>
            </a:pPr>
            <a:r>
              <a:rPr lang="ja-JP" altLang="en-US" sz="2200" b="1" dirty="0">
                <a:solidFill>
                  <a:srgbClr val="262626"/>
                </a:solidFill>
                <a:latin typeface="Meiryo"/>
                <a:ea typeface="Meiryo"/>
                <a:cs typeface="Meiryo"/>
              </a:rPr>
              <a:t>加齢交絡に強い</a:t>
            </a:r>
          </a:p>
        </p:txBody>
      </p:sp>
      <p:sp>
        <p:nvSpPr>
          <p:cNvPr id="225" name="b"/>
          <p:cNvSpPr/>
          <p:nvPr/>
        </p:nvSpPr>
        <p:spPr>
          <a:xfrm>
            <a:off x="502920" y="5580000"/>
            <a:ext cx="11140000" cy="780000"/>
          </a:xfrm>
          <a:prstGeom prst="roundRect">
            <a:avLst>
              <a:gd name="adj" fmla="val 4000"/>
            </a:avLst>
          </a:prstGeom>
          <a:solidFill>
            <a:srgbClr val="FFF3D6"/>
          </a:solidFill>
          <a:ln w="28575">
            <a:solidFill>
              <a:srgbClr val="BF9000"/>
            </a:solidFill>
          </a:ln>
          <a:effectLst/>
        </p:spPr>
        <p:txBody>
          <a:bodyPr wrap="square" lIns="91440" tIns="45720" rIns="91440" bIns="45720" rtlCol="0" anchor="ctr">
            <a:noAutofit/>
          </a:bodyPr>
          <a:lstStyle/>
          <a:p>
            <a:pPr algn="ctr">
              <a:lnSpc>
                <a:spcPct val="120000"/>
              </a:lnSpc>
            </a:pPr>
            <a:r>
              <a:rPr lang="ja-JP" altLang="en-US" sz="2400" b="1" dirty="0">
                <a:solidFill>
                  <a:srgbClr val="262626"/>
                </a:solidFill>
                <a:latin typeface="Meiryo"/>
                <a:ea typeface="Meiryo"/>
                <a:cs typeface="Meiryo"/>
              </a:rPr>
              <a:t>既存モニタに後付けできる（信号は同一）</a:t>
            </a:r>
          </a:p>
        </p:txBody>
      </p:sp>
      <p:sp>
        <p:nvSpPr>
          <p:cNvPr id="22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102/118</a:t>
            </a:r>
          </a:p>
        </p:txBody>
      </p:sp>
      <p:sp>
        <p:nvSpPr>
          <p:cNvPr id="227"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228"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229"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230"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231"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32" name="Off-page Connector 4">
            <a:extLst>
              <a:ext uri="{FF2B5EF4-FFF2-40B4-BE49-F238E27FC236}">
                <a16:creationId xmlns:a16="http://schemas.microsoft.com/office/drawing/2014/main" id="{AA9D36CE-3772-F005-B54C-9329ADA7F086}"/>
              </a:ext>
            </a:extLst>
          </p:cNvPr>
          <p:cNvSpPr/>
          <p:nvPr/>
        </p:nvSpPr>
        <p:spPr>
          <a:xfrm>
            <a:off x="1151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6</a:t>
            </a:r>
          </a:p>
          <a:p>
            <a:pPr algn="ctr"/>
            <a:r>
              <a:rPr sz="1050" b="1">
                <a:solidFill>
                  <a:srgbClr val="FFFFFF"/>
                </a:solidFill>
                <a:latin typeface="Meiryo"/>
                <a:ea typeface="Meiryo"/>
                <a:cs typeface="Meiryo"/>
              </a:rPr>
              <a:t>提案</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6.5  限界 ― 指標の側</a:t>
            </a:r>
          </a:p>
        </p:txBody>
      </p:sp>
      <p:sp>
        <p:nvSpPr>
          <p:cNvPr id="230" name="Source"/>
          <p:cNvSpPr txBox="1"/>
          <p:nvPr/>
        </p:nvSpPr>
        <p:spPr>
          <a:xfrm>
            <a:off x="720000" y="6606000"/>
            <a:ext cx="10881360" cy="200000"/>
          </a:xfrm>
          <a:prstGeom prst="rect">
            <a:avLst/>
          </a:prstGeom>
          <a:noFill/>
        </p:spPr>
        <p:txBody>
          <a:bodyPr wrap="square" lIns="0" tIns="0" rIns="0" bIns="0" anchor="t">
            <a:spAutoFit/>
          </a:bodyPr>
          <a:lstStyle/>
          <a:p>
            <a:pPr algn="l"/>
            <a:r>
              <a:rPr sz="1050">
                <a:solidFill>
                  <a:srgbClr val="808080"/>
                </a:solidFill>
                <a:latin typeface="Meiryo"/>
                <a:ea typeface="Meiryo"/>
                <a:cs typeface="Meiryo"/>
              </a:rPr>
              <a:t>18. Md Lazim 2020　／　22. Lee 2011　／　58. Middleton 2011　／　59. Charlton 2022</a:t>
            </a:r>
          </a:p>
        </p:txBody>
      </p:sp>
      <p:sp>
        <p:nvSpPr>
          <p:cNvPr id="232" name="c0-bg"/>
          <p:cNvSpPr/>
          <p:nvPr/>
        </p:nvSpPr>
        <p:spPr>
          <a:xfrm>
            <a:off x="502920" y="1780000"/>
            <a:ext cx="5432840" cy="1750000"/>
          </a:xfrm>
          <a:prstGeom prst="roundRect">
            <a:avLst>
              <a:gd name="adj" fmla="val 6000"/>
            </a:avLst>
          </a:prstGeom>
          <a:solidFill>
            <a:srgbClr val="FCEAEA"/>
          </a:solidFill>
          <a:ln w="19050">
            <a:solidFill>
              <a:srgbClr val="C00000"/>
            </a:solidFill>
          </a:ln>
          <a:effectLst/>
        </p:spPr>
        <p:txBody>
          <a:bodyPr wrap="square" lIns="91440" tIns="45720" rIns="91440" bIns="45720" rtlCol="0" anchor="ctr">
            <a:noAutofit/>
          </a:bodyPr>
          <a:lstStyle/>
          <a:p>
            <a:endParaRPr/>
          </a:p>
        </p:txBody>
      </p:sp>
      <p:sp>
        <p:nvSpPr>
          <p:cNvPr id="233" name="c0-t"/>
          <p:cNvSpPr txBox="1"/>
          <p:nvPr/>
        </p:nvSpPr>
        <p:spPr>
          <a:xfrm>
            <a:off x="702920" y="193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C00000"/>
                </a:solidFill>
                <a:latin typeface="Meiryo"/>
                <a:ea typeface="Meiryo"/>
                <a:cs typeface="Meiryo"/>
              </a:rPr>
              <a:t>① 時間スケール</a:t>
            </a:r>
          </a:p>
        </p:txBody>
      </p:sp>
      <p:sp>
        <p:nvSpPr>
          <p:cNvPr id="234" name="c0-b"/>
          <p:cNvSpPr txBox="1"/>
          <p:nvPr/>
        </p:nvSpPr>
        <p:spPr>
          <a:xfrm>
            <a:off x="702920" y="248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安静時・半慢性で検証</a:t>
            </a:r>
          </a:p>
          <a:p>
            <a:pPr algn="l">
              <a:lnSpc>
                <a:spcPct val="120000"/>
              </a:lnSpc>
            </a:pPr>
            <a:r>
              <a:rPr lang="ja-JP" altLang="en-US" sz="2200" b="1" dirty="0">
                <a:solidFill>
                  <a:srgbClr val="262626"/>
                </a:solidFill>
                <a:latin typeface="Meiryo"/>
                <a:ea typeface="Meiryo"/>
                <a:cs typeface="Meiryo"/>
              </a:rPr>
              <a:t>術中の急性変化は未検証</a:t>
            </a:r>
          </a:p>
        </p:txBody>
      </p:sp>
      <p:sp>
        <p:nvSpPr>
          <p:cNvPr id="235" name="c1-bg"/>
          <p:cNvSpPr/>
          <p:nvPr/>
        </p:nvSpPr>
        <p:spPr>
          <a:xfrm>
            <a:off x="6210080" y="1780000"/>
            <a:ext cx="5432840" cy="1750000"/>
          </a:xfrm>
          <a:prstGeom prst="roundRect">
            <a:avLst>
              <a:gd name="adj" fmla="val 6000"/>
            </a:avLst>
          </a:prstGeom>
          <a:solidFill>
            <a:srgbClr val="FDF0E6"/>
          </a:solidFill>
          <a:ln w="19050">
            <a:solidFill>
              <a:srgbClr val="C55A11"/>
            </a:solidFill>
          </a:ln>
          <a:effectLst/>
        </p:spPr>
        <p:txBody>
          <a:bodyPr wrap="square" lIns="91440" tIns="45720" rIns="91440" bIns="45720" rtlCol="0" anchor="ctr">
            <a:noAutofit/>
          </a:bodyPr>
          <a:lstStyle/>
          <a:p>
            <a:endParaRPr/>
          </a:p>
        </p:txBody>
      </p:sp>
      <p:sp>
        <p:nvSpPr>
          <p:cNvPr id="236" name="c1-t"/>
          <p:cNvSpPr txBox="1"/>
          <p:nvPr/>
        </p:nvSpPr>
        <p:spPr>
          <a:xfrm>
            <a:off x="6410080" y="193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C55A11"/>
                </a:solidFill>
                <a:latin typeface="Meiryo"/>
                <a:ea typeface="Meiryo"/>
                <a:cs typeface="Meiryo"/>
              </a:rPr>
              <a:t>② HR 交絡</a:t>
            </a:r>
          </a:p>
        </p:txBody>
      </p:sp>
      <p:sp>
        <p:nvSpPr>
          <p:cNvPr id="237" name="c1-b"/>
          <p:cNvSpPr txBox="1"/>
          <p:nvPr/>
        </p:nvSpPr>
        <p:spPr>
          <a:xfrm>
            <a:off x="6410080" y="248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RI は振幅比 → HR 依存</a:t>
            </a:r>
          </a:p>
          <a:p>
            <a:pPr algn="l">
              <a:lnSpc>
                <a:spcPct val="120000"/>
              </a:lnSpc>
            </a:pPr>
            <a:r>
              <a:rPr lang="ja-JP" altLang="en-US" sz="2200" b="1" dirty="0">
                <a:solidFill>
                  <a:srgbClr val="262626"/>
                </a:solidFill>
                <a:latin typeface="Meiryo"/>
                <a:ea typeface="Meiryo"/>
                <a:cs typeface="Meiryo"/>
              </a:rPr>
              <a:t>確立した補正式なし</a:t>
            </a:r>
          </a:p>
        </p:txBody>
      </p:sp>
      <p:sp>
        <p:nvSpPr>
          <p:cNvPr id="238" name="c2-bg"/>
          <p:cNvSpPr/>
          <p:nvPr/>
        </p:nvSpPr>
        <p:spPr>
          <a:xfrm>
            <a:off x="502920" y="3680000"/>
            <a:ext cx="5432840" cy="175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239" name="c2-t"/>
          <p:cNvSpPr txBox="1"/>
          <p:nvPr/>
        </p:nvSpPr>
        <p:spPr>
          <a:xfrm>
            <a:off x="702920" y="383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2E5395"/>
                </a:solidFill>
                <a:latin typeface="Meiryo"/>
                <a:ea typeface="Meiryo"/>
                <a:cs typeface="Meiryo"/>
              </a:rPr>
              <a:t>③ SI の血圧依存</a:t>
            </a:r>
          </a:p>
        </p:txBody>
      </p:sp>
      <p:sp>
        <p:nvSpPr>
          <p:cNvPr id="240" name="c2-b"/>
          <p:cNvSpPr txBox="1"/>
          <p:nvPr/>
        </p:nvSpPr>
        <p:spPr>
          <a:xfrm>
            <a:off x="702920" y="438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PWV 自体が伸展圧依存</a:t>
            </a:r>
          </a:p>
          <a:p>
            <a:pPr algn="l">
              <a:lnSpc>
                <a:spcPct val="120000"/>
              </a:lnSpc>
            </a:pPr>
            <a:r>
              <a:rPr lang="ja-JP" altLang="en-US" sz="2200" b="1" dirty="0">
                <a:solidFill>
                  <a:srgbClr val="262626"/>
                </a:solidFill>
                <a:latin typeface="Meiryo"/>
                <a:ea typeface="Meiryo"/>
                <a:cs typeface="Meiryo"/>
              </a:rPr>
              <a:t>硬さと血圧が不可分</a:t>
            </a:r>
          </a:p>
        </p:txBody>
      </p:sp>
      <p:sp>
        <p:nvSpPr>
          <p:cNvPr id="241" name="c3-bg"/>
          <p:cNvSpPr/>
          <p:nvPr/>
        </p:nvSpPr>
        <p:spPr>
          <a:xfrm>
            <a:off x="6210080" y="3680000"/>
            <a:ext cx="5432840" cy="1750000"/>
          </a:xfrm>
          <a:prstGeom prst="roundRect">
            <a:avLst>
              <a:gd name="adj" fmla="val 6000"/>
            </a:avLst>
          </a:prstGeom>
          <a:solidFill>
            <a:srgbClr val="E4F5F5"/>
          </a:solidFill>
          <a:ln w="19050">
            <a:solidFill>
              <a:srgbClr val="00A8AA"/>
            </a:solidFill>
          </a:ln>
          <a:effectLst/>
        </p:spPr>
        <p:txBody>
          <a:bodyPr wrap="square" lIns="91440" tIns="45720" rIns="91440" bIns="45720" rtlCol="0" anchor="ctr">
            <a:noAutofit/>
          </a:bodyPr>
          <a:lstStyle/>
          <a:p>
            <a:endParaRPr/>
          </a:p>
        </p:txBody>
      </p:sp>
      <p:sp>
        <p:nvSpPr>
          <p:cNvPr id="242" name="c3-t"/>
          <p:cNvSpPr txBox="1"/>
          <p:nvPr/>
        </p:nvSpPr>
        <p:spPr>
          <a:xfrm>
            <a:off x="6410080" y="383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00A8AA"/>
                </a:solidFill>
                <a:latin typeface="Meiryo"/>
                <a:ea typeface="Meiryo"/>
                <a:cs typeface="Meiryo"/>
              </a:rPr>
              <a:t>④ 局所か全身か</a:t>
            </a:r>
          </a:p>
        </p:txBody>
      </p:sp>
      <p:sp>
        <p:nvSpPr>
          <p:cNvPr id="243" name="c3-b"/>
          <p:cNvSpPr txBox="1"/>
          <p:nvPr/>
        </p:nvSpPr>
        <p:spPr>
          <a:xfrm>
            <a:off x="6410080" y="438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指尖 PPG と SVR</a:t>
            </a:r>
          </a:p>
          <a:p>
            <a:pPr algn="l">
              <a:lnSpc>
                <a:spcPct val="120000"/>
              </a:lnSpc>
            </a:pPr>
            <a:r>
              <a:rPr lang="ja-JP" altLang="en-US" sz="2200" b="1" dirty="0">
                <a:solidFill>
                  <a:srgbClr val="262626"/>
                </a:solidFill>
                <a:latin typeface="Meiryo"/>
                <a:ea typeface="Meiryo"/>
                <a:cs typeface="Meiryo"/>
              </a:rPr>
              <a:t>r ＝ 0.54 ／ κ ＝ 0.33</a:t>
            </a:r>
          </a:p>
        </p:txBody>
      </p:sp>
      <p:sp>
        <p:nvSpPr>
          <p:cNvPr id="244" name="b"/>
          <p:cNvSpPr/>
          <p:nvPr/>
        </p:nvSpPr>
        <p:spPr>
          <a:xfrm>
            <a:off x="502920" y="5580000"/>
            <a:ext cx="11140000" cy="780000"/>
          </a:xfrm>
          <a:prstGeom prst="roundRect">
            <a:avLst>
              <a:gd name="adj" fmla="val 4000"/>
            </a:avLst>
          </a:prstGeom>
          <a:solidFill>
            <a:srgbClr val="FCEAEA"/>
          </a:solidFill>
          <a:ln w="28575">
            <a:solidFill>
              <a:srgbClr val="C00000"/>
            </a:solidFill>
          </a:ln>
          <a:effectLst/>
        </p:spPr>
        <p:txBody>
          <a:bodyPr wrap="square" lIns="91440" tIns="45720" rIns="91440" bIns="45720" rtlCol="0" anchor="ctr">
            <a:noAutofit/>
          </a:bodyPr>
          <a:lstStyle/>
          <a:p>
            <a:pPr algn="ctr">
              <a:lnSpc>
                <a:spcPct val="120000"/>
              </a:lnSpc>
            </a:pPr>
            <a:r>
              <a:rPr lang="ja-JP" altLang="en-US" sz="2400" b="1" dirty="0">
                <a:solidFill>
                  <a:srgbClr val="C00000"/>
                </a:solidFill>
                <a:latin typeface="Meiryo"/>
                <a:ea typeface="Meiryo"/>
                <a:cs typeface="Meiryo"/>
              </a:rPr>
              <a:t>SI・RI は「安静時の指標」として検証されてきた。</a:t>
            </a:r>
          </a:p>
        </p:txBody>
      </p:sp>
      <p:sp>
        <p:nvSpPr>
          <p:cNvPr id="245"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103/118</a:t>
            </a:r>
          </a:p>
        </p:txBody>
      </p:sp>
      <p:sp>
        <p:nvSpPr>
          <p:cNvPr id="246"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247"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248"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249"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250"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51" name="Off-page Connector 4">
            <a:extLst>
              <a:ext uri="{FF2B5EF4-FFF2-40B4-BE49-F238E27FC236}">
                <a16:creationId xmlns:a16="http://schemas.microsoft.com/office/drawing/2014/main" id="{AA9D36CE-3772-F005-B54C-9329ADA7F086}"/>
              </a:ext>
            </a:extLst>
          </p:cNvPr>
          <p:cNvSpPr/>
          <p:nvPr/>
        </p:nvSpPr>
        <p:spPr>
          <a:xfrm>
            <a:off x="1151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6</a:t>
            </a:r>
          </a:p>
          <a:p>
            <a:pPr algn="ctr"/>
            <a:r>
              <a:rPr sz="1050" b="1">
                <a:solidFill>
                  <a:srgbClr val="FFFFFF"/>
                </a:solidFill>
                <a:latin typeface="Meiryo"/>
                <a:ea typeface="Meiryo"/>
                <a:cs typeface="Meiryo"/>
              </a:rPr>
              <a:t>提案</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6.5  限界 ― 信号と検証の側</a:t>
            </a:r>
          </a:p>
        </p:txBody>
      </p:sp>
      <p:sp>
        <p:nvSpPr>
          <p:cNvPr id="249" name="Source"/>
          <p:cNvSpPr txBox="1"/>
          <p:nvPr/>
        </p:nvSpPr>
        <p:spPr>
          <a:xfrm>
            <a:off x="720000" y="6606000"/>
            <a:ext cx="10881360" cy="200000"/>
          </a:xfrm>
          <a:prstGeom prst="rect">
            <a:avLst/>
          </a:prstGeom>
          <a:noFill/>
        </p:spPr>
        <p:txBody>
          <a:bodyPr wrap="square" lIns="0" tIns="0" rIns="0" bIns="0" anchor="t">
            <a:spAutoFit/>
          </a:bodyPr>
          <a:lstStyle/>
          <a:p>
            <a:pPr algn="l"/>
            <a:r>
              <a:rPr sz="1050">
                <a:solidFill>
                  <a:srgbClr val="808080"/>
                </a:solidFill>
                <a:latin typeface="Meiryo"/>
                <a:ea typeface="Meiryo"/>
                <a:cs typeface="Meiryo"/>
              </a:rPr>
              <a:t>23. Elgendi 2012　／　24. Takazawa 1998　／　57. Beutel 2021</a:t>
            </a:r>
          </a:p>
        </p:txBody>
      </p:sp>
      <p:sp>
        <p:nvSpPr>
          <p:cNvPr id="251" name="c0-bg"/>
          <p:cNvSpPr/>
          <p:nvPr/>
        </p:nvSpPr>
        <p:spPr>
          <a:xfrm>
            <a:off x="502920" y="1800000"/>
            <a:ext cx="3560933" cy="2000000"/>
          </a:xfrm>
          <a:prstGeom prst="roundRect">
            <a:avLst>
              <a:gd name="adj" fmla="val 6000"/>
            </a:avLst>
          </a:prstGeom>
          <a:solidFill>
            <a:srgbClr val="FCEAEA"/>
          </a:solidFill>
          <a:ln w="19050">
            <a:solidFill>
              <a:srgbClr val="C00000"/>
            </a:solidFill>
          </a:ln>
          <a:effectLst/>
        </p:spPr>
        <p:txBody>
          <a:bodyPr wrap="square" lIns="91440" tIns="45720" rIns="91440" bIns="45720" rtlCol="0" anchor="ctr">
            <a:noAutofit/>
          </a:bodyPr>
          <a:lstStyle/>
          <a:p>
            <a:endParaRPr/>
          </a:p>
        </p:txBody>
      </p:sp>
      <p:sp>
        <p:nvSpPr>
          <p:cNvPr id="252" name="c0-t"/>
          <p:cNvSpPr txBox="1"/>
          <p:nvPr/>
        </p:nvSpPr>
        <p:spPr>
          <a:xfrm>
            <a:off x="702920" y="1950000"/>
            <a:ext cx="3160933" cy="480000"/>
          </a:xfrm>
          <a:prstGeom prst="rect">
            <a:avLst/>
          </a:prstGeom>
          <a:noFill/>
        </p:spPr>
        <p:txBody>
          <a:bodyPr wrap="square" lIns="0" tIns="0" rIns="0" bIns="0" anchor="t">
            <a:noAutofit/>
          </a:bodyPr>
          <a:lstStyle/>
          <a:p>
            <a:pPr algn="ctr">
              <a:lnSpc>
                <a:spcPct val="120000"/>
              </a:lnSpc>
            </a:pPr>
            <a:r>
              <a:rPr lang="ja-JP" altLang="en-US" sz="2400" b="1" dirty="0">
                <a:solidFill>
                  <a:srgbClr val="C00000"/>
                </a:solidFill>
                <a:latin typeface="Meiryo"/>
                <a:ea typeface="Meiryo"/>
                <a:cs typeface="Meiryo"/>
              </a:rPr>
              <a:t>① 波形が取れない</a:t>
            </a:r>
          </a:p>
        </p:txBody>
      </p:sp>
      <p:sp>
        <p:nvSpPr>
          <p:cNvPr id="253" name="c0-b"/>
          <p:cNvSpPr txBox="1"/>
          <p:nvPr/>
        </p:nvSpPr>
        <p:spPr>
          <a:xfrm>
            <a:off x="702920" y="2500000"/>
            <a:ext cx="3160933"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一峰性化・低灌流</a:t>
            </a:r>
          </a:p>
          <a:p>
            <a:pPr algn="l">
              <a:lnSpc>
                <a:spcPct val="120000"/>
              </a:lnSpc>
            </a:pPr>
            <a:r>
              <a:rPr lang="ja-JP" altLang="en-US" sz="2200" b="1" dirty="0">
                <a:solidFill>
                  <a:srgbClr val="262626"/>
                </a:solidFill>
                <a:latin typeface="Meiryo"/>
                <a:ea typeface="Meiryo"/>
                <a:cs typeface="Meiryo"/>
              </a:rPr>
              <a:t>P1・P2 が同定不能</a:t>
            </a:r>
          </a:p>
        </p:txBody>
      </p:sp>
      <p:sp>
        <p:nvSpPr>
          <p:cNvPr id="254" name="c1-bg"/>
          <p:cNvSpPr/>
          <p:nvPr/>
        </p:nvSpPr>
        <p:spPr>
          <a:xfrm>
            <a:off x="4292453" y="1800000"/>
            <a:ext cx="3560933" cy="2000000"/>
          </a:xfrm>
          <a:prstGeom prst="roundRect">
            <a:avLst>
              <a:gd name="adj" fmla="val 6000"/>
            </a:avLst>
          </a:prstGeom>
          <a:solidFill>
            <a:srgbClr val="FDF0E6"/>
          </a:solidFill>
          <a:ln w="19050">
            <a:solidFill>
              <a:srgbClr val="C55A11"/>
            </a:solidFill>
          </a:ln>
          <a:effectLst/>
        </p:spPr>
        <p:txBody>
          <a:bodyPr wrap="square" lIns="91440" tIns="45720" rIns="91440" bIns="45720" rtlCol="0" anchor="ctr">
            <a:noAutofit/>
          </a:bodyPr>
          <a:lstStyle/>
          <a:p>
            <a:endParaRPr/>
          </a:p>
        </p:txBody>
      </p:sp>
      <p:sp>
        <p:nvSpPr>
          <p:cNvPr id="255" name="c1-t"/>
          <p:cNvSpPr txBox="1"/>
          <p:nvPr/>
        </p:nvSpPr>
        <p:spPr>
          <a:xfrm>
            <a:off x="4492453" y="1950000"/>
            <a:ext cx="3160933" cy="480000"/>
          </a:xfrm>
          <a:prstGeom prst="rect">
            <a:avLst/>
          </a:prstGeom>
          <a:noFill/>
        </p:spPr>
        <p:txBody>
          <a:bodyPr wrap="square" lIns="0" tIns="0" rIns="0" bIns="0" anchor="t">
            <a:noAutofit/>
          </a:bodyPr>
          <a:lstStyle/>
          <a:p>
            <a:pPr algn="ctr">
              <a:lnSpc>
                <a:spcPct val="120000"/>
              </a:lnSpc>
            </a:pPr>
            <a:r>
              <a:rPr lang="ja-JP" altLang="en-US" sz="2400" b="1" dirty="0">
                <a:solidFill>
                  <a:srgbClr val="C55A11"/>
                </a:solidFill>
                <a:latin typeface="Meiryo"/>
                <a:ea typeface="Meiryo"/>
                <a:cs typeface="Meiryo"/>
              </a:rPr>
              <a:t>② 帯域制限</a:t>
            </a:r>
          </a:p>
        </p:txBody>
      </p:sp>
      <p:sp>
        <p:nvSpPr>
          <p:cNvPr id="256" name="c1-b"/>
          <p:cNvSpPr txBox="1"/>
          <p:nvPr/>
        </p:nvSpPr>
        <p:spPr>
          <a:xfrm>
            <a:off x="4492453" y="2500000"/>
            <a:ext cx="3160933"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モニタ側の前処理</a:t>
            </a:r>
          </a:p>
          <a:p>
            <a:pPr algn="l">
              <a:lnSpc>
                <a:spcPct val="120000"/>
              </a:lnSpc>
            </a:pPr>
            <a:r>
              <a:rPr lang="ja-JP" altLang="en-US" sz="2200" b="1" dirty="0">
                <a:solidFill>
                  <a:srgbClr val="262626"/>
                </a:solidFill>
                <a:latin typeface="Meiryo"/>
                <a:ea typeface="Meiryo"/>
                <a:cs typeface="Meiryo"/>
              </a:rPr>
              <a:t>P2 が消えれば不成立</a:t>
            </a:r>
          </a:p>
        </p:txBody>
      </p:sp>
      <p:sp>
        <p:nvSpPr>
          <p:cNvPr id="257" name="c2-bg"/>
          <p:cNvSpPr/>
          <p:nvPr/>
        </p:nvSpPr>
        <p:spPr>
          <a:xfrm>
            <a:off x="8081986" y="1800000"/>
            <a:ext cx="3560933" cy="200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258" name="c2-t"/>
          <p:cNvSpPr txBox="1"/>
          <p:nvPr/>
        </p:nvSpPr>
        <p:spPr>
          <a:xfrm>
            <a:off x="8281986" y="1950000"/>
            <a:ext cx="3160933" cy="480000"/>
          </a:xfrm>
          <a:prstGeom prst="rect">
            <a:avLst/>
          </a:prstGeom>
          <a:noFill/>
        </p:spPr>
        <p:txBody>
          <a:bodyPr wrap="square" lIns="0" tIns="0" rIns="0" bIns="0" anchor="t">
            <a:noAutofit/>
          </a:bodyPr>
          <a:lstStyle/>
          <a:p>
            <a:pPr algn="ctr">
              <a:lnSpc>
                <a:spcPct val="120000"/>
              </a:lnSpc>
            </a:pPr>
            <a:r>
              <a:rPr lang="ja-JP" altLang="en-US" sz="2400" b="1" dirty="0">
                <a:solidFill>
                  <a:srgbClr val="2E5395"/>
                </a:solidFill>
                <a:latin typeface="Meiryo"/>
                <a:ea typeface="Meiryo"/>
                <a:cs typeface="Meiryo"/>
              </a:rPr>
              <a:t>③ 過学習</a:t>
            </a:r>
          </a:p>
        </p:txBody>
      </p:sp>
      <p:sp>
        <p:nvSpPr>
          <p:cNvPr id="259" name="c2-b"/>
          <p:cNvSpPr txBox="1"/>
          <p:nvPr/>
        </p:nvSpPr>
        <p:spPr>
          <a:xfrm>
            <a:off x="8281986" y="2500000"/>
            <a:ext cx="3160933"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項を足せば当たる</a:t>
            </a:r>
          </a:p>
          <a:p>
            <a:pPr algn="l">
              <a:lnSpc>
                <a:spcPct val="120000"/>
              </a:lnSpc>
            </a:pPr>
            <a:r>
              <a:rPr lang="ja-JP" altLang="en-US" sz="2200" b="1" dirty="0">
                <a:solidFill>
                  <a:srgbClr val="262626"/>
                </a:solidFill>
                <a:latin typeface="Meiryo"/>
                <a:ea typeface="Meiryo"/>
                <a:cs typeface="Meiryo"/>
              </a:rPr>
              <a:t>交差検証が必須</a:t>
            </a:r>
          </a:p>
        </p:txBody>
      </p:sp>
      <p:sp>
        <p:nvSpPr>
          <p:cNvPr id="260" name="b1"/>
          <p:cNvSpPr/>
          <p:nvPr/>
        </p:nvSpPr>
        <p:spPr>
          <a:xfrm>
            <a:off x="502920" y="3950000"/>
            <a:ext cx="11140000" cy="1000000"/>
          </a:xfrm>
          <a:prstGeom prst="roundRect">
            <a:avLst>
              <a:gd name="adj" fmla="val 4000"/>
            </a:avLst>
          </a:prstGeom>
          <a:solidFill>
            <a:srgbClr val="FCEAEA"/>
          </a:solidFill>
          <a:ln w="28575">
            <a:solidFill>
              <a:srgbClr val="C00000"/>
            </a:solidFill>
          </a:ln>
          <a:effectLst/>
        </p:spPr>
        <p:txBody>
          <a:bodyPr wrap="square" lIns="91440" tIns="45720" rIns="91440" bIns="45720" rtlCol="0" anchor="ctr">
            <a:noAutofit/>
          </a:bodyPr>
          <a:lstStyle/>
          <a:p>
            <a:pPr algn="ctr">
              <a:lnSpc>
                <a:spcPct val="120000"/>
              </a:lnSpc>
            </a:pPr>
            <a:r>
              <a:rPr lang="ja-JP" altLang="en-US" sz="2600" b="1" dirty="0">
                <a:solidFill>
                  <a:srgbClr val="C00000"/>
                </a:solidFill>
                <a:latin typeface="Meiryo"/>
                <a:ea typeface="Meiryo"/>
                <a:cs typeface="Meiryo"/>
              </a:rPr>
              <a:t>まず「実波形で SI・RI が取れるか」。</a:t>
            </a:r>
          </a:p>
        </p:txBody>
      </p:sp>
      <p:sp>
        <p:nvSpPr>
          <p:cNvPr id="261" name="b2"/>
          <p:cNvSpPr/>
          <p:nvPr/>
        </p:nvSpPr>
        <p:spPr>
          <a:xfrm>
            <a:off x="502920" y="5100000"/>
            <a:ext cx="11140000" cy="900000"/>
          </a:xfrm>
          <a:prstGeom prst="roundRect">
            <a:avLst>
              <a:gd name="adj" fmla="val 4000"/>
            </a:avLst>
          </a:prstGeom>
          <a:solidFill>
            <a:srgbClr val="FFF3D6"/>
          </a:solidFill>
          <a:ln w="28575">
            <a:solidFill>
              <a:srgbClr val="BF9000"/>
            </a:solidFill>
          </a:ln>
          <a:effectLst/>
        </p:spPr>
        <p:txBody>
          <a:bodyPr wrap="square" lIns="91440" tIns="45720" rIns="91440" bIns="45720" rtlCol="0" anchor="ctr">
            <a:noAutofit/>
          </a:bodyPr>
          <a:lstStyle/>
          <a:p>
            <a:pPr algn="ctr">
              <a:lnSpc>
                <a:spcPct val="120000"/>
              </a:lnSpc>
            </a:pPr>
            <a:r>
              <a:rPr lang="ja-JP" altLang="en-US" sz="2400" b="1" dirty="0">
                <a:solidFill>
                  <a:srgbClr val="262626"/>
                </a:solidFill>
                <a:latin typeface="Meiryo"/>
                <a:ea typeface="Meiryo"/>
                <a:cs typeface="Meiryo"/>
              </a:rPr>
              <a:t>麻酔中のデータが少ない ― 蓄積が要る。</a:t>
            </a:r>
          </a:p>
        </p:txBody>
      </p:sp>
      <p:sp>
        <p:nvSpPr>
          <p:cNvPr id="26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104/118</a:t>
            </a:r>
          </a:p>
        </p:txBody>
      </p:sp>
      <p:sp>
        <p:nvSpPr>
          <p:cNvPr id="263"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264"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265"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266"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267"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68" name="Off-page Connector 4">
            <a:extLst>
              <a:ext uri="{FF2B5EF4-FFF2-40B4-BE49-F238E27FC236}">
                <a16:creationId xmlns:a16="http://schemas.microsoft.com/office/drawing/2014/main" id="{AA9D36CE-3772-F005-B54C-9329ADA7F086}"/>
              </a:ext>
            </a:extLst>
          </p:cNvPr>
          <p:cNvSpPr/>
          <p:nvPr/>
        </p:nvSpPr>
        <p:spPr>
          <a:xfrm>
            <a:off x="1151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6</a:t>
            </a:r>
          </a:p>
          <a:p>
            <a:pPr algn="ctr"/>
            <a:r>
              <a:rPr sz="1050" b="1">
                <a:solidFill>
                  <a:srgbClr val="FFFFFF"/>
                </a:solidFill>
                <a:latin typeface="Meiryo"/>
                <a:ea typeface="Meiryo"/>
                <a:cs typeface="Meiryo"/>
              </a:rPr>
              <a:t>提案</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6.6  実現までの道筋</a:t>
            </a:r>
          </a:p>
        </p:txBody>
      </p:sp>
      <p:sp>
        <p:nvSpPr>
          <p:cNvPr id="266" name="Source"/>
          <p:cNvSpPr txBox="1"/>
          <p:nvPr/>
        </p:nvSpPr>
        <p:spPr>
          <a:xfrm>
            <a:off x="720000" y="6606000"/>
            <a:ext cx="10881360" cy="200000"/>
          </a:xfrm>
          <a:prstGeom prst="rect">
            <a:avLst/>
          </a:prstGeom>
          <a:noFill/>
        </p:spPr>
        <p:txBody>
          <a:bodyPr wrap="square" lIns="0" tIns="0" rIns="0" bIns="0" anchor="t">
            <a:spAutoFit/>
          </a:bodyPr>
          <a:lstStyle/>
          <a:p>
            <a:pPr algn="l"/>
            <a:r>
              <a:rPr sz="1050">
                <a:solidFill>
                  <a:srgbClr val="808080"/>
                </a:solidFill>
                <a:latin typeface="Meiryo"/>
                <a:ea typeface="Meiryo"/>
                <a:cs typeface="Meiryo"/>
              </a:rPr>
              <a:t>52. Biais 2015　／　55. Critchley 1999</a:t>
            </a:r>
          </a:p>
        </p:txBody>
      </p:sp>
      <p:sp>
        <p:nvSpPr>
          <p:cNvPr id="268" name="chip0"/>
          <p:cNvSpPr/>
          <p:nvPr/>
        </p:nvSpPr>
        <p:spPr>
          <a:xfrm>
            <a:off x="502920" y="1750000"/>
            <a:ext cx="1600000" cy="1100000"/>
          </a:xfrm>
          <a:prstGeom prst="roundRect">
            <a:avLst>
              <a:gd name="adj" fmla="val 6000"/>
            </a:avLst>
          </a:prstGeom>
          <a:solidFill>
            <a:srgbClr val="C00000"/>
          </a:solidFill>
          <a:ln w="19050">
            <a:solidFill>
              <a:srgbClr val="C00000"/>
            </a:solidFill>
          </a:ln>
          <a:effectLst/>
        </p:spPr>
        <p:txBody>
          <a:bodyPr wrap="square" lIns="91440" tIns="45720" rIns="91440" bIns="45720" rtlCol="0" anchor="ctr">
            <a:noAutofit/>
          </a:bodyPr>
          <a:lstStyle/>
          <a:p>
            <a:pPr algn="ctr">
              <a:lnSpc>
                <a:spcPct val="120000"/>
              </a:lnSpc>
            </a:pPr>
            <a:r>
              <a:rPr lang="ja-JP" altLang="en-US" sz="2400" b="1" dirty="0">
                <a:solidFill>
                  <a:srgbClr val="FFFFFF"/>
                </a:solidFill>
                <a:latin typeface="Meiryo"/>
                <a:ea typeface="Meiryo"/>
                <a:cs typeface="Meiryo"/>
              </a:rPr>
              <a:t>準備</a:t>
            </a:r>
          </a:p>
        </p:txBody>
      </p:sp>
      <p:sp>
        <p:nvSpPr>
          <p:cNvPr id="269" name="row0"/>
          <p:cNvSpPr/>
          <p:nvPr/>
        </p:nvSpPr>
        <p:spPr>
          <a:xfrm>
            <a:off x="2302920" y="1750000"/>
            <a:ext cx="9340000" cy="1100000"/>
          </a:xfrm>
          <a:prstGeom prst="roundRect">
            <a:avLst>
              <a:gd name="adj" fmla="val 6000"/>
            </a:avLst>
          </a:prstGeom>
          <a:solidFill>
            <a:srgbClr val="FCEAEA"/>
          </a:solidFill>
          <a:ln w="19050">
            <a:solidFill>
              <a:srgbClr val="C00000"/>
            </a:solidFill>
          </a:ln>
          <a:effectLst/>
        </p:spPr>
        <p:txBody>
          <a:bodyPr wrap="square" lIns="91440" tIns="45720" rIns="91440" bIns="45720" rtlCol="0" anchor="ctr">
            <a:noAutofit/>
          </a:bodyPr>
          <a:lstStyle/>
          <a:p>
            <a:endParaRPr/>
          </a:p>
        </p:txBody>
      </p:sp>
      <p:sp>
        <p:nvSpPr>
          <p:cNvPr id="270" name="t0"/>
          <p:cNvSpPr txBox="1"/>
          <p:nvPr/>
        </p:nvSpPr>
        <p:spPr>
          <a:xfrm>
            <a:off x="2502920" y="1830000"/>
            <a:ext cx="8940000" cy="94400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倫理申請・機器確認・解析基盤の整備。</a:t>
            </a:r>
          </a:p>
          <a:p>
            <a:pPr algn="l">
              <a:lnSpc>
                <a:spcPct val="120000"/>
              </a:lnSpc>
            </a:pPr>
            <a:r>
              <a:rPr lang="ja-JP" altLang="en-US" sz="2200" b="1" dirty="0">
                <a:solidFill>
                  <a:srgbClr val="262626"/>
                </a:solidFill>
                <a:latin typeface="Meiryo"/>
                <a:ea typeface="Meiryo"/>
                <a:cs typeface="Meiryo"/>
              </a:rPr>
              <a:t>3〜6 か月　患者登録なし</a:t>
            </a:r>
          </a:p>
        </p:txBody>
      </p:sp>
      <p:sp>
        <p:nvSpPr>
          <p:cNvPr id="271" name="chip1"/>
          <p:cNvSpPr/>
          <p:nvPr/>
        </p:nvSpPr>
        <p:spPr>
          <a:xfrm>
            <a:off x="502920" y="2930000"/>
            <a:ext cx="1600000" cy="1100000"/>
          </a:xfrm>
          <a:prstGeom prst="roundRect">
            <a:avLst>
              <a:gd name="adj" fmla="val 6000"/>
            </a:avLst>
          </a:prstGeom>
          <a:solidFill>
            <a:srgbClr val="2E5395"/>
          </a:solidFill>
          <a:ln w="19050">
            <a:solidFill>
              <a:srgbClr val="2E5395"/>
            </a:solidFill>
          </a:ln>
          <a:effectLst/>
        </p:spPr>
        <p:txBody>
          <a:bodyPr wrap="square" lIns="91440" tIns="45720" rIns="91440" bIns="45720" rtlCol="0" anchor="ctr">
            <a:noAutofit/>
          </a:bodyPr>
          <a:lstStyle/>
          <a:p>
            <a:pPr algn="ctr">
              <a:lnSpc>
                <a:spcPct val="120000"/>
              </a:lnSpc>
            </a:pPr>
            <a:r>
              <a:rPr lang="ja-JP" altLang="en-US" sz="2400" b="1" dirty="0">
                <a:solidFill>
                  <a:srgbClr val="FFFFFF"/>
                </a:solidFill>
                <a:latin typeface="Meiryo"/>
                <a:ea typeface="Meiryo"/>
                <a:cs typeface="Meiryo"/>
              </a:rPr>
              <a:t>事前</a:t>
            </a:r>
          </a:p>
        </p:txBody>
      </p:sp>
      <p:sp>
        <p:nvSpPr>
          <p:cNvPr id="272" name="row1"/>
          <p:cNvSpPr/>
          <p:nvPr/>
        </p:nvSpPr>
        <p:spPr>
          <a:xfrm>
            <a:off x="2302920" y="2930000"/>
            <a:ext cx="9340000" cy="110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273" name="t1"/>
          <p:cNvSpPr txBox="1"/>
          <p:nvPr/>
        </p:nvSpPr>
        <p:spPr>
          <a:xfrm>
            <a:off x="2502920" y="3010000"/>
            <a:ext cx="8940000" cy="94400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公開データ 552 例 ＋ 実機 10 例</a:t>
            </a:r>
          </a:p>
          <a:p>
            <a:pPr algn="l">
              <a:lnSpc>
                <a:spcPct val="120000"/>
              </a:lnSpc>
            </a:pPr>
            <a:r>
              <a:rPr lang="ja-JP" altLang="en-US" sz="2200" b="1" dirty="0">
                <a:solidFill>
                  <a:srgbClr val="262626"/>
                </a:solidFill>
                <a:latin typeface="Meiryo"/>
                <a:ea typeface="Meiryo"/>
                <a:cs typeface="Meiryo"/>
              </a:rPr>
              <a:t>概念実証と、波形が取れるかの確認。</a:t>
            </a:r>
          </a:p>
        </p:txBody>
      </p:sp>
      <p:sp>
        <p:nvSpPr>
          <p:cNvPr id="274" name="chip2"/>
          <p:cNvSpPr/>
          <p:nvPr/>
        </p:nvSpPr>
        <p:spPr>
          <a:xfrm>
            <a:off x="502920" y="4110000"/>
            <a:ext cx="1600000" cy="1100000"/>
          </a:xfrm>
          <a:prstGeom prst="roundRect">
            <a:avLst>
              <a:gd name="adj" fmla="val 6000"/>
            </a:avLst>
          </a:prstGeom>
          <a:solidFill>
            <a:srgbClr val="2E5395"/>
          </a:solidFill>
          <a:ln w="19050">
            <a:solidFill>
              <a:srgbClr val="2E5395"/>
            </a:solidFill>
          </a:ln>
          <a:effectLst/>
        </p:spPr>
        <p:txBody>
          <a:bodyPr wrap="square" lIns="91440" tIns="45720" rIns="91440" bIns="45720" rtlCol="0" anchor="ctr">
            <a:noAutofit/>
          </a:bodyPr>
          <a:lstStyle/>
          <a:p>
            <a:pPr algn="ctr">
              <a:lnSpc>
                <a:spcPct val="120000"/>
              </a:lnSpc>
            </a:pPr>
            <a:r>
              <a:rPr lang="ja-JP" altLang="en-US" sz="2400" b="1" dirty="0">
                <a:solidFill>
                  <a:srgbClr val="FFFFFF"/>
                </a:solidFill>
                <a:latin typeface="Meiryo"/>
                <a:ea typeface="Meiryo"/>
                <a:cs typeface="Meiryo"/>
              </a:rPr>
              <a:t>導出</a:t>
            </a:r>
          </a:p>
        </p:txBody>
      </p:sp>
      <p:sp>
        <p:nvSpPr>
          <p:cNvPr id="275" name="row2"/>
          <p:cNvSpPr/>
          <p:nvPr/>
        </p:nvSpPr>
        <p:spPr>
          <a:xfrm>
            <a:off x="2302920" y="4110000"/>
            <a:ext cx="9340000" cy="110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276" name="t2"/>
          <p:cNvSpPr txBox="1"/>
          <p:nvPr/>
        </p:nvSpPr>
        <p:spPr>
          <a:xfrm>
            <a:off x="2502920" y="4190000"/>
            <a:ext cx="8940000" cy="94400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60 例（登録 74 例）で補正式をつくる。</a:t>
            </a:r>
          </a:p>
          <a:p>
            <a:pPr algn="l">
              <a:lnSpc>
                <a:spcPct val="120000"/>
              </a:lnSpc>
            </a:pPr>
            <a:r>
              <a:rPr lang="ja-JP" altLang="en-US" sz="2200" b="1" dirty="0">
                <a:solidFill>
                  <a:srgbClr val="262626"/>
                </a:solidFill>
                <a:latin typeface="Meiryo"/>
                <a:ea typeface="Meiryo"/>
                <a:cs typeface="Meiryo"/>
              </a:rPr>
              <a:t>交差検証で過学習を除いてから凍結。</a:t>
            </a:r>
          </a:p>
        </p:txBody>
      </p:sp>
      <p:sp>
        <p:nvSpPr>
          <p:cNvPr id="277" name="chip3"/>
          <p:cNvSpPr/>
          <p:nvPr/>
        </p:nvSpPr>
        <p:spPr>
          <a:xfrm>
            <a:off x="502920" y="5290000"/>
            <a:ext cx="1600000" cy="1100000"/>
          </a:xfrm>
          <a:prstGeom prst="roundRect">
            <a:avLst>
              <a:gd name="adj" fmla="val 6000"/>
            </a:avLst>
          </a:prstGeom>
          <a:solidFill>
            <a:srgbClr val="2E5395"/>
          </a:solidFill>
          <a:ln w="19050">
            <a:solidFill>
              <a:srgbClr val="2E5395"/>
            </a:solidFill>
          </a:ln>
          <a:effectLst/>
        </p:spPr>
        <p:txBody>
          <a:bodyPr wrap="square" lIns="91440" tIns="45720" rIns="91440" bIns="45720" rtlCol="0" anchor="ctr">
            <a:noAutofit/>
          </a:bodyPr>
          <a:lstStyle/>
          <a:p>
            <a:pPr algn="ctr">
              <a:lnSpc>
                <a:spcPct val="120000"/>
              </a:lnSpc>
            </a:pPr>
            <a:r>
              <a:rPr lang="ja-JP" altLang="en-US" sz="2400" b="1" dirty="0">
                <a:solidFill>
                  <a:srgbClr val="FFFFFF"/>
                </a:solidFill>
                <a:latin typeface="Meiryo"/>
                <a:ea typeface="Meiryo"/>
                <a:cs typeface="Meiryo"/>
              </a:rPr>
              <a:t>検証</a:t>
            </a:r>
          </a:p>
        </p:txBody>
      </p:sp>
      <p:sp>
        <p:nvSpPr>
          <p:cNvPr id="278" name="row3"/>
          <p:cNvSpPr/>
          <p:nvPr/>
        </p:nvSpPr>
        <p:spPr>
          <a:xfrm>
            <a:off x="2302920" y="5290000"/>
            <a:ext cx="9340000" cy="110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279" name="t3"/>
          <p:cNvSpPr txBox="1"/>
          <p:nvPr/>
        </p:nvSpPr>
        <p:spPr>
          <a:xfrm>
            <a:off x="2502920" y="5370000"/>
            <a:ext cx="8940000" cy="94400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50 例（登録 61 例）に凍結した式を適用。</a:t>
            </a:r>
          </a:p>
          <a:p>
            <a:pPr algn="l">
              <a:lnSpc>
                <a:spcPct val="120000"/>
              </a:lnSpc>
            </a:pPr>
            <a:r>
              <a:rPr lang="ja-JP" altLang="en-US" sz="2200" b="1" dirty="0">
                <a:solidFill>
                  <a:srgbClr val="262626"/>
                </a:solidFill>
                <a:latin typeface="Meiryo"/>
                <a:ea typeface="Meiryo"/>
                <a:cs typeface="Meiryo"/>
              </a:rPr>
              <a:t>誤差率が下がるかを事前登録した基準で判定。</a:t>
            </a:r>
          </a:p>
        </p:txBody>
      </p:sp>
      <p:sp>
        <p:nvSpPr>
          <p:cNvPr id="280"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281"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282"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283"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284"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85" name="Off-page Connector 4">
            <a:extLst>
              <a:ext uri="{FF2B5EF4-FFF2-40B4-BE49-F238E27FC236}">
                <a16:creationId xmlns:a16="http://schemas.microsoft.com/office/drawing/2014/main" id="{AA9D36CE-3772-F005-B54C-9329ADA7F086}"/>
              </a:ext>
            </a:extLst>
          </p:cNvPr>
          <p:cNvSpPr/>
          <p:nvPr/>
        </p:nvSpPr>
        <p:spPr>
          <a:xfrm>
            <a:off x="1151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6</a:t>
            </a:r>
          </a:p>
          <a:p>
            <a:pPr algn="ctr"/>
            <a:r>
              <a:rPr sz="1050" b="1">
                <a:solidFill>
                  <a:srgbClr val="FFFFFF"/>
                </a:solidFill>
                <a:latin typeface="Meiryo"/>
                <a:ea typeface="Meiryo"/>
                <a:cs typeface="Meiryo"/>
              </a:rPr>
              <a:t>提案</a:t>
            </a:r>
          </a:p>
        </p:txBody>
      </p:sp>
      <p:sp>
        <p:nvSpPr>
          <p:cNvPr id="28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105/118</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6.7  まず公開データで試す</a:t>
            </a:r>
          </a:p>
        </p:txBody>
      </p:sp>
      <p:sp>
        <p:nvSpPr>
          <p:cNvPr id="211" name="Source"/>
          <p:cNvSpPr txBox="1"/>
          <p:nvPr/>
        </p:nvSpPr>
        <p:spPr>
          <a:xfrm>
            <a:off x="720000" y="6606000"/>
            <a:ext cx="10881360" cy="200000"/>
          </a:xfrm>
          <a:prstGeom prst="rect">
            <a:avLst/>
          </a:prstGeom>
          <a:noFill/>
        </p:spPr>
        <p:txBody>
          <a:bodyPr wrap="square" lIns="0" tIns="0" rIns="0" bIns="0" anchor="t">
            <a:spAutoFit/>
          </a:bodyPr>
          <a:lstStyle/>
          <a:p>
            <a:pPr algn="l"/>
            <a:r>
              <a:rPr sz="1050">
                <a:solidFill>
                  <a:srgbClr val="808080"/>
                </a:solidFill>
                <a:latin typeface="Meiryo"/>
                <a:ea typeface="Meiryo"/>
                <a:cs typeface="Meiryo"/>
              </a:rPr>
              <a:t>VitalDB（Seoul National University Hospital, 6,388 症例, オープンアクセス）</a:t>
            </a:r>
          </a:p>
        </p:txBody>
      </p:sp>
      <p:sp>
        <p:nvSpPr>
          <p:cNvPr id="213" name="c0-bg"/>
          <p:cNvSpPr/>
          <p:nvPr/>
        </p:nvSpPr>
        <p:spPr>
          <a:xfrm>
            <a:off x="502920" y="1780000"/>
            <a:ext cx="5432840" cy="175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214" name="c0-t"/>
          <p:cNvSpPr txBox="1"/>
          <p:nvPr/>
        </p:nvSpPr>
        <p:spPr>
          <a:xfrm>
            <a:off x="702920" y="193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2E5395"/>
                </a:solidFill>
                <a:latin typeface="Meiryo"/>
                <a:ea typeface="Meiryo"/>
                <a:cs typeface="Meiryo"/>
              </a:rPr>
              <a:t>① 使うデータ</a:t>
            </a:r>
          </a:p>
        </p:txBody>
      </p:sp>
      <p:sp>
        <p:nvSpPr>
          <p:cNvPr id="215" name="c0-b"/>
          <p:cNvSpPr txBox="1"/>
          <p:nvPr/>
        </p:nvSpPr>
        <p:spPr>
          <a:xfrm>
            <a:off x="702920" y="248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ソウル大の手術 6,388 例</a:t>
            </a:r>
          </a:p>
          <a:p>
            <a:pPr algn="l">
              <a:lnSpc>
                <a:spcPct val="120000"/>
              </a:lnSpc>
            </a:pPr>
            <a:r>
              <a:rPr lang="ja-JP" altLang="en-US" sz="2200" b="1" dirty="0">
                <a:solidFill>
                  <a:srgbClr val="262626"/>
                </a:solidFill>
                <a:latin typeface="Meiryo"/>
                <a:ea typeface="Meiryo"/>
                <a:cs typeface="Meiryo"/>
              </a:rPr>
              <a:t>無償・資格審査は不要</a:t>
            </a:r>
          </a:p>
        </p:txBody>
      </p:sp>
      <p:sp>
        <p:nvSpPr>
          <p:cNvPr id="216" name="c1-bg"/>
          <p:cNvSpPr/>
          <p:nvPr/>
        </p:nvSpPr>
        <p:spPr>
          <a:xfrm>
            <a:off x="6210080" y="1780000"/>
            <a:ext cx="5432840" cy="1750000"/>
          </a:xfrm>
          <a:prstGeom prst="roundRect">
            <a:avLst>
              <a:gd name="adj" fmla="val 6000"/>
            </a:avLst>
          </a:prstGeom>
          <a:solidFill>
            <a:srgbClr val="FDF0E6"/>
          </a:solidFill>
          <a:ln w="19050">
            <a:solidFill>
              <a:srgbClr val="C55A11"/>
            </a:solidFill>
          </a:ln>
          <a:effectLst/>
        </p:spPr>
        <p:txBody>
          <a:bodyPr wrap="square" lIns="91440" tIns="45720" rIns="91440" bIns="45720" rtlCol="0" anchor="ctr">
            <a:noAutofit/>
          </a:bodyPr>
          <a:lstStyle/>
          <a:p>
            <a:endParaRPr/>
          </a:p>
        </p:txBody>
      </p:sp>
      <p:sp>
        <p:nvSpPr>
          <p:cNvPr id="217" name="c1-t"/>
          <p:cNvSpPr txBox="1"/>
          <p:nvPr/>
        </p:nvSpPr>
        <p:spPr>
          <a:xfrm>
            <a:off x="6410080" y="193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C55A11"/>
                </a:solidFill>
                <a:latin typeface="Meiryo"/>
                <a:ea typeface="Meiryo"/>
                <a:cs typeface="Meiryo"/>
              </a:rPr>
              <a:t>② 使える症例数</a:t>
            </a:r>
          </a:p>
        </p:txBody>
      </p:sp>
      <p:sp>
        <p:nvSpPr>
          <p:cNvPr id="218" name="c1-b"/>
          <p:cNvSpPr txBox="1"/>
          <p:nvPr/>
        </p:nvSpPr>
        <p:spPr>
          <a:xfrm>
            <a:off x="6410080" y="248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心拍出量＋500 Hz 脈波</a:t>
            </a:r>
          </a:p>
          <a:p>
            <a:pPr algn="l">
              <a:lnSpc>
                <a:spcPct val="120000"/>
              </a:lnSpc>
            </a:pPr>
            <a:r>
              <a:rPr lang="ja-JP" altLang="en-US" sz="2200" b="1" dirty="0">
                <a:solidFill>
                  <a:srgbClr val="262626"/>
                </a:solidFill>
                <a:latin typeface="Meiryo"/>
                <a:ea typeface="Meiryo"/>
                <a:cs typeface="Meiryo"/>
              </a:rPr>
              <a:t>＋心電図＋動脈圧 ＝ 552 例</a:t>
            </a:r>
          </a:p>
        </p:txBody>
      </p:sp>
      <p:sp>
        <p:nvSpPr>
          <p:cNvPr id="219" name="c2-bg"/>
          <p:cNvSpPr/>
          <p:nvPr/>
        </p:nvSpPr>
        <p:spPr>
          <a:xfrm>
            <a:off x="502920" y="3680000"/>
            <a:ext cx="5432840" cy="1750000"/>
          </a:xfrm>
          <a:prstGeom prst="roundRect">
            <a:avLst>
              <a:gd name="adj" fmla="val 6000"/>
            </a:avLst>
          </a:prstGeom>
          <a:solidFill>
            <a:srgbClr val="E4F5F5"/>
          </a:solidFill>
          <a:ln w="19050">
            <a:solidFill>
              <a:srgbClr val="00A8AA"/>
            </a:solidFill>
          </a:ln>
          <a:effectLst/>
        </p:spPr>
        <p:txBody>
          <a:bodyPr wrap="square" lIns="91440" tIns="45720" rIns="91440" bIns="45720" rtlCol="0" anchor="ctr">
            <a:noAutofit/>
          </a:bodyPr>
          <a:lstStyle/>
          <a:p>
            <a:endParaRPr/>
          </a:p>
        </p:txBody>
      </p:sp>
      <p:sp>
        <p:nvSpPr>
          <p:cNvPr id="220" name="c2-t"/>
          <p:cNvSpPr txBox="1"/>
          <p:nvPr/>
        </p:nvSpPr>
        <p:spPr>
          <a:xfrm>
            <a:off x="702920" y="383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00A8AA"/>
                </a:solidFill>
                <a:latin typeface="Meiryo"/>
                <a:ea typeface="Meiryo"/>
                <a:cs typeface="Meiryo"/>
              </a:rPr>
              <a:t>③ 何をするか</a:t>
            </a:r>
          </a:p>
        </p:txBody>
      </p:sp>
      <p:sp>
        <p:nvSpPr>
          <p:cNvPr id="221" name="c2-b"/>
          <p:cNvSpPr txBox="1"/>
          <p:nvPr/>
        </p:nvSpPr>
        <p:spPr>
          <a:xfrm>
            <a:off x="702920" y="438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PWTT を再現して推定式を組む</a:t>
            </a:r>
          </a:p>
          <a:p>
            <a:pPr algn="l">
              <a:lnSpc>
                <a:spcPct val="120000"/>
              </a:lnSpc>
            </a:pPr>
            <a:r>
              <a:rPr lang="ja-JP" altLang="en-US" sz="2200" b="1" dirty="0">
                <a:solidFill>
                  <a:srgbClr val="262626"/>
                </a:solidFill>
                <a:latin typeface="Meiryo"/>
                <a:ea typeface="Meiryo"/>
                <a:cs typeface="Meiryo"/>
              </a:rPr>
              <a:t>SI・RI を足して誤差を比べる</a:t>
            </a:r>
          </a:p>
        </p:txBody>
      </p:sp>
      <p:sp>
        <p:nvSpPr>
          <p:cNvPr id="222" name="c3-bg"/>
          <p:cNvSpPr/>
          <p:nvPr/>
        </p:nvSpPr>
        <p:spPr>
          <a:xfrm>
            <a:off x="6210080" y="3680000"/>
            <a:ext cx="5432840" cy="175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223" name="c3-t"/>
          <p:cNvSpPr txBox="1"/>
          <p:nvPr/>
        </p:nvSpPr>
        <p:spPr>
          <a:xfrm>
            <a:off x="6410080" y="383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2E5395"/>
                </a:solidFill>
                <a:latin typeface="Meiryo"/>
                <a:ea typeface="Meiryo"/>
                <a:cs typeface="Meiryo"/>
              </a:rPr>
              <a:t>④ 判定</a:t>
            </a:r>
          </a:p>
        </p:txBody>
      </p:sp>
      <p:sp>
        <p:nvSpPr>
          <p:cNvPr id="224" name="c3-b"/>
          <p:cNvSpPr txBox="1"/>
          <p:nvPr/>
        </p:nvSpPr>
        <p:spPr>
          <a:xfrm>
            <a:off x="6410080" y="438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誤差が有意に減るか</a:t>
            </a:r>
          </a:p>
          <a:p>
            <a:pPr algn="l">
              <a:lnSpc>
                <a:spcPct val="120000"/>
              </a:lnSpc>
            </a:pPr>
            <a:r>
              <a:rPr lang="ja-JP" altLang="en-US" sz="2200" b="1" dirty="0">
                <a:solidFill>
                  <a:srgbClr val="262626"/>
                </a:solidFill>
                <a:latin typeface="Meiryo"/>
                <a:ea typeface="Meiryo"/>
                <a:cs typeface="Meiryo"/>
              </a:rPr>
              <a:t>減らなければこの時点で中止</a:t>
            </a:r>
          </a:p>
        </p:txBody>
      </p:sp>
      <p:sp>
        <p:nvSpPr>
          <p:cNvPr id="225" name="b"/>
          <p:cNvSpPr/>
          <p:nvPr/>
        </p:nvSpPr>
        <p:spPr>
          <a:xfrm>
            <a:off x="502920" y="5580000"/>
            <a:ext cx="11140000" cy="780000"/>
          </a:xfrm>
          <a:prstGeom prst="roundRect">
            <a:avLst>
              <a:gd name="adj" fmla="val 4000"/>
            </a:avLst>
          </a:prstGeom>
          <a:solidFill>
            <a:srgbClr val="FFF3D6"/>
          </a:solidFill>
          <a:ln w="28575">
            <a:solidFill>
              <a:srgbClr val="BF9000"/>
            </a:solidFill>
          </a:ln>
          <a:effectLst/>
        </p:spPr>
        <p:txBody>
          <a:bodyPr wrap="square" lIns="91440" tIns="45720" rIns="91440" bIns="45720" rtlCol="0" anchor="ctr">
            <a:noAutofit/>
          </a:bodyPr>
          <a:lstStyle/>
          <a:p>
            <a:pPr algn="ctr">
              <a:lnSpc>
                <a:spcPct val="120000"/>
              </a:lnSpc>
            </a:pPr>
            <a:r>
              <a:rPr lang="ja-JP" altLang="en-US" sz="2400" b="1" dirty="0">
                <a:solidFill>
                  <a:srgbClr val="262626"/>
                </a:solidFill>
                <a:latin typeface="Meiryo"/>
                <a:ea typeface="Meiryo"/>
                <a:cs typeface="Meiryo"/>
              </a:rPr>
              <a:t>患者を 1 人も登録せず、費用ゼロで段階 1・2 の答えが出る。</a:t>
            </a:r>
          </a:p>
        </p:txBody>
      </p:sp>
      <p:sp>
        <p:nvSpPr>
          <p:cNvPr id="226"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227"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228"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229"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230"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31" name="Off-page Connector 4">
            <a:extLst>
              <a:ext uri="{FF2B5EF4-FFF2-40B4-BE49-F238E27FC236}">
                <a16:creationId xmlns:a16="http://schemas.microsoft.com/office/drawing/2014/main" id="{AA9D36CE-3772-F005-B54C-9329ADA7F086}"/>
              </a:ext>
            </a:extLst>
          </p:cNvPr>
          <p:cNvSpPr/>
          <p:nvPr/>
        </p:nvSpPr>
        <p:spPr>
          <a:xfrm>
            <a:off x="1151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6</a:t>
            </a:r>
          </a:p>
          <a:p>
            <a:pPr algn="ctr"/>
            <a:r>
              <a:rPr sz="1050" b="1">
                <a:solidFill>
                  <a:srgbClr val="FFFFFF"/>
                </a:solidFill>
                <a:latin typeface="Meiryo"/>
                <a:ea typeface="Meiryo"/>
                <a:cs typeface="Meiryo"/>
              </a:rPr>
              <a:t>提案</a:t>
            </a:r>
          </a:p>
        </p:txBody>
      </p:sp>
      <p:sp>
        <p:nvSpPr>
          <p:cNvPr id="23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106/118</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6.8  実機で波形が取れるか</a:t>
            </a:r>
          </a:p>
        </p:txBody>
      </p:sp>
      <p:sp>
        <p:nvSpPr>
          <p:cNvPr id="213" name="c0-bg"/>
          <p:cNvSpPr/>
          <p:nvPr/>
        </p:nvSpPr>
        <p:spPr>
          <a:xfrm>
            <a:off x="502920" y="1780000"/>
            <a:ext cx="5432840" cy="175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214" name="c0-t"/>
          <p:cNvSpPr txBox="1"/>
          <p:nvPr/>
        </p:nvSpPr>
        <p:spPr>
          <a:xfrm>
            <a:off x="702920" y="193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2E5395"/>
                </a:solidFill>
                <a:latin typeface="Meiryo"/>
                <a:ea typeface="Meiryo"/>
                <a:cs typeface="Meiryo"/>
              </a:rPr>
              <a:t>① 出力</a:t>
            </a:r>
          </a:p>
        </p:txBody>
      </p:sp>
      <p:sp>
        <p:nvSpPr>
          <p:cNvPr id="215" name="c0-b"/>
          <p:cNvSpPr txBox="1"/>
          <p:nvPr/>
        </p:nvSpPr>
        <p:spPr>
          <a:xfrm>
            <a:off x="702920" y="248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生の脈波を外部に出せるか</a:t>
            </a:r>
          </a:p>
          <a:p>
            <a:pPr algn="l">
              <a:lnSpc>
                <a:spcPct val="120000"/>
              </a:lnSpc>
            </a:pPr>
            <a:r>
              <a:rPr lang="ja-JP" altLang="en-US" sz="2200" b="1" dirty="0">
                <a:solidFill>
                  <a:srgbClr val="262626"/>
                </a:solidFill>
                <a:latin typeface="Meiryo"/>
                <a:ea typeface="Meiryo"/>
                <a:cs typeface="Meiryo"/>
              </a:rPr>
              <a:t>250 Hz 以上・500 Hz 推奨</a:t>
            </a:r>
          </a:p>
        </p:txBody>
      </p:sp>
      <p:sp>
        <p:nvSpPr>
          <p:cNvPr id="216" name="c1-bg"/>
          <p:cNvSpPr/>
          <p:nvPr/>
        </p:nvSpPr>
        <p:spPr>
          <a:xfrm>
            <a:off x="6210080" y="1780000"/>
            <a:ext cx="5432840" cy="1750000"/>
          </a:xfrm>
          <a:prstGeom prst="roundRect">
            <a:avLst>
              <a:gd name="adj" fmla="val 6000"/>
            </a:avLst>
          </a:prstGeom>
          <a:solidFill>
            <a:srgbClr val="FDF0E6"/>
          </a:solidFill>
          <a:ln w="19050">
            <a:solidFill>
              <a:srgbClr val="C55A11"/>
            </a:solidFill>
          </a:ln>
          <a:effectLst/>
        </p:spPr>
        <p:txBody>
          <a:bodyPr wrap="square" lIns="91440" tIns="45720" rIns="91440" bIns="45720" rtlCol="0" anchor="ctr">
            <a:noAutofit/>
          </a:bodyPr>
          <a:lstStyle/>
          <a:p>
            <a:endParaRPr/>
          </a:p>
        </p:txBody>
      </p:sp>
      <p:sp>
        <p:nvSpPr>
          <p:cNvPr id="217" name="c1-t"/>
          <p:cNvSpPr txBox="1"/>
          <p:nvPr/>
        </p:nvSpPr>
        <p:spPr>
          <a:xfrm>
            <a:off x="6410080" y="193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C55A11"/>
                </a:solidFill>
                <a:latin typeface="Meiryo"/>
                <a:ea typeface="Meiryo"/>
                <a:cs typeface="Meiryo"/>
              </a:rPr>
              <a:t>② 利得</a:t>
            </a:r>
          </a:p>
        </p:txBody>
      </p:sp>
      <p:sp>
        <p:nvSpPr>
          <p:cNvPr id="218" name="c1-b"/>
          <p:cNvSpPr txBox="1"/>
          <p:nvPr/>
        </p:nvSpPr>
        <p:spPr>
          <a:xfrm>
            <a:off x="6410080" y="248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自動利得制御があると</a:t>
            </a:r>
          </a:p>
          <a:p>
            <a:pPr algn="l">
              <a:lnSpc>
                <a:spcPct val="120000"/>
              </a:lnSpc>
            </a:pPr>
            <a:r>
              <a:rPr lang="ja-JP" altLang="en-US" sz="2200" b="1" dirty="0">
                <a:solidFill>
                  <a:srgbClr val="262626"/>
                </a:solidFill>
                <a:latin typeface="Meiryo"/>
                <a:ea typeface="Meiryo"/>
                <a:cs typeface="Meiryo"/>
              </a:rPr>
              <a:t>振幅比 RI が壊れる</a:t>
            </a:r>
          </a:p>
        </p:txBody>
      </p:sp>
      <p:sp>
        <p:nvSpPr>
          <p:cNvPr id="219" name="c2-bg"/>
          <p:cNvSpPr/>
          <p:nvPr/>
        </p:nvSpPr>
        <p:spPr>
          <a:xfrm>
            <a:off x="502920" y="3680000"/>
            <a:ext cx="5432840" cy="1750000"/>
          </a:xfrm>
          <a:prstGeom prst="roundRect">
            <a:avLst>
              <a:gd name="adj" fmla="val 6000"/>
            </a:avLst>
          </a:prstGeom>
          <a:solidFill>
            <a:srgbClr val="E4F5F5"/>
          </a:solidFill>
          <a:ln w="19050">
            <a:solidFill>
              <a:srgbClr val="00A8AA"/>
            </a:solidFill>
          </a:ln>
          <a:effectLst/>
        </p:spPr>
        <p:txBody>
          <a:bodyPr wrap="square" lIns="91440" tIns="45720" rIns="91440" bIns="45720" rtlCol="0" anchor="ctr">
            <a:noAutofit/>
          </a:bodyPr>
          <a:lstStyle/>
          <a:p>
            <a:endParaRPr/>
          </a:p>
        </p:txBody>
      </p:sp>
      <p:sp>
        <p:nvSpPr>
          <p:cNvPr id="220" name="c2-t"/>
          <p:cNvSpPr txBox="1"/>
          <p:nvPr/>
        </p:nvSpPr>
        <p:spPr>
          <a:xfrm>
            <a:off x="702920" y="383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00A8AA"/>
                </a:solidFill>
                <a:latin typeface="Meiryo"/>
                <a:ea typeface="Meiryo"/>
                <a:cs typeface="Meiryo"/>
              </a:rPr>
              <a:t>③ 品質</a:t>
            </a:r>
          </a:p>
        </p:txBody>
      </p:sp>
      <p:sp>
        <p:nvSpPr>
          <p:cNvPr id="221" name="c2-b"/>
          <p:cNvSpPr txBox="1"/>
          <p:nvPr/>
        </p:nvSpPr>
        <p:spPr>
          <a:xfrm>
            <a:off x="702920" y="438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10 例で通過率を実測する</a:t>
            </a:r>
          </a:p>
          <a:p>
            <a:pPr algn="l">
              <a:lnSpc>
                <a:spcPct val="120000"/>
              </a:lnSpc>
            </a:pPr>
            <a:r>
              <a:rPr lang="ja-JP" altLang="en-US" sz="2200" b="1" dirty="0">
                <a:solidFill>
                  <a:srgbClr val="262626"/>
                </a:solidFill>
                <a:latin typeface="Meiryo"/>
                <a:ea typeface="Meiryo"/>
                <a:cs typeface="Meiryo"/>
              </a:rPr>
              <a:t>ICU の公開データでは 87% 棄却</a:t>
            </a:r>
          </a:p>
        </p:txBody>
      </p:sp>
      <p:sp>
        <p:nvSpPr>
          <p:cNvPr id="222" name="c3-bg"/>
          <p:cNvSpPr/>
          <p:nvPr/>
        </p:nvSpPr>
        <p:spPr>
          <a:xfrm>
            <a:off x="6210080" y="3680000"/>
            <a:ext cx="5432840" cy="175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223" name="c3-t"/>
          <p:cNvSpPr txBox="1"/>
          <p:nvPr/>
        </p:nvSpPr>
        <p:spPr>
          <a:xfrm>
            <a:off x="6410080" y="383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2E5395"/>
                </a:solidFill>
                <a:latin typeface="Meiryo"/>
                <a:ea typeface="Meiryo"/>
                <a:cs typeface="Meiryo"/>
              </a:rPr>
              <a:t>④ 代替</a:t>
            </a:r>
          </a:p>
        </p:txBody>
      </p:sp>
      <p:sp>
        <p:nvSpPr>
          <p:cNvPr id="224" name="c3-b"/>
          <p:cNvSpPr txBox="1"/>
          <p:nvPr/>
        </p:nvSpPr>
        <p:spPr>
          <a:xfrm>
            <a:off x="6410080" y="438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研究用センサを別に併用</a:t>
            </a:r>
          </a:p>
          <a:p>
            <a:pPr algn="l">
              <a:lnSpc>
                <a:spcPct val="120000"/>
              </a:lnSpc>
            </a:pPr>
            <a:r>
              <a:rPr lang="ja-JP" altLang="en-US" sz="2200" b="1" dirty="0">
                <a:solidFill>
                  <a:srgbClr val="262626"/>
                </a:solidFill>
                <a:latin typeface="Meiryo"/>
                <a:ea typeface="Meiryo"/>
                <a:cs typeface="Meiryo"/>
              </a:rPr>
              <a:t>ただし装着部位差が交絡</a:t>
            </a:r>
          </a:p>
        </p:txBody>
      </p:sp>
      <p:sp>
        <p:nvSpPr>
          <p:cNvPr id="225" name="b"/>
          <p:cNvSpPr/>
          <p:nvPr/>
        </p:nvSpPr>
        <p:spPr>
          <a:xfrm>
            <a:off x="502920" y="5580000"/>
            <a:ext cx="11140000" cy="780000"/>
          </a:xfrm>
          <a:prstGeom prst="roundRect">
            <a:avLst>
              <a:gd name="adj" fmla="val 4000"/>
            </a:avLst>
          </a:prstGeom>
          <a:solidFill>
            <a:srgbClr val="FFF3D6"/>
          </a:solidFill>
          <a:ln w="28575">
            <a:solidFill>
              <a:srgbClr val="BF9000"/>
            </a:solidFill>
          </a:ln>
          <a:effectLst/>
        </p:spPr>
        <p:txBody>
          <a:bodyPr wrap="square" lIns="91440" tIns="45720" rIns="91440" bIns="45720" rtlCol="0" anchor="ctr">
            <a:noAutofit/>
          </a:bodyPr>
          <a:lstStyle/>
          <a:p>
            <a:pPr algn="ctr">
              <a:lnSpc>
                <a:spcPct val="120000"/>
              </a:lnSpc>
            </a:pPr>
            <a:r>
              <a:rPr lang="ja-JP" altLang="en-US" sz="2400" b="1" dirty="0">
                <a:solidFill>
                  <a:srgbClr val="262626"/>
                </a:solidFill>
                <a:latin typeface="Meiryo"/>
                <a:ea typeface="Meiryo"/>
                <a:cs typeface="Meiryo"/>
              </a:rPr>
              <a:t>ここが通らなければ提案は成立しない ― 最優先で確認する。</a:t>
            </a:r>
          </a:p>
        </p:txBody>
      </p:sp>
      <p:sp>
        <p:nvSpPr>
          <p:cNvPr id="226"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227"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228"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229"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230"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31" name="Off-page Connector 4">
            <a:extLst>
              <a:ext uri="{FF2B5EF4-FFF2-40B4-BE49-F238E27FC236}">
                <a16:creationId xmlns:a16="http://schemas.microsoft.com/office/drawing/2014/main" id="{AA9D36CE-3772-F005-B54C-9329ADA7F086}"/>
              </a:ext>
            </a:extLst>
          </p:cNvPr>
          <p:cNvSpPr/>
          <p:nvPr/>
        </p:nvSpPr>
        <p:spPr>
          <a:xfrm>
            <a:off x="1151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6</a:t>
            </a:r>
          </a:p>
          <a:p>
            <a:pPr algn="ctr"/>
            <a:r>
              <a:rPr sz="1050" b="1">
                <a:solidFill>
                  <a:srgbClr val="FFFFFF"/>
                </a:solidFill>
                <a:latin typeface="Meiryo"/>
                <a:ea typeface="Meiryo"/>
                <a:cs typeface="Meiryo"/>
              </a:rPr>
              <a:t>提案</a:t>
            </a:r>
          </a:p>
        </p:txBody>
      </p:sp>
      <p:sp>
        <p:nvSpPr>
          <p:cNvPr id="23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107/118</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6.9  必要な症例数</a:t>
            </a:r>
          </a:p>
        </p:txBody>
      </p:sp>
      <p:sp>
        <p:nvSpPr>
          <p:cNvPr id="266" name="Source"/>
          <p:cNvSpPr txBox="1"/>
          <p:nvPr/>
        </p:nvSpPr>
        <p:spPr>
          <a:xfrm>
            <a:off x="720000" y="6606000"/>
            <a:ext cx="10881360" cy="161583"/>
          </a:xfrm>
          <a:prstGeom prst="rect">
            <a:avLst/>
          </a:prstGeom>
          <a:noFill/>
        </p:spPr>
        <p:txBody>
          <a:bodyPr wrap="square" lIns="0" tIns="0" rIns="0" bIns="0" anchor="t">
            <a:spAutoFit/>
          </a:bodyPr>
          <a:lstStyle/>
          <a:p>
            <a:pPr algn="l"/>
            <a:r>
              <a:rPr sz="1050" dirty="0">
                <a:solidFill>
                  <a:srgbClr val="808080"/>
                </a:solidFill>
                <a:latin typeface="Meiryo"/>
                <a:ea typeface="Meiryo"/>
                <a:cs typeface="Meiryo"/>
              </a:rPr>
              <a:t>55. Critchley 1999</a:t>
            </a:r>
          </a:p>
        </p:txBody>
      </p:sp>
      <p:sp>
        <p:nvSpPr>
          <p:cNvPr id="268" name="chip0"/>
          <p:cNvSpPr/>
          <p:nvPr/>
        </p:nvSpPr>
        <p:spPr>
          <a:xfrm>
            <a:off x="502920" y="1750000"/>
            <a:ext cx="1600000" cy="1100000"/>
          </a:xfrm>
          <a:prstGeom prst="roundRect">
            <a:avLst>
              <a:gd name="adj" fmla="val 6000"/>
            </a:avLst>
          </a:prstGeom>
          <a:solidFill>
            <a:srgbClr val="C00000"/>
          </a:solidFill>
          <a:ln w="19050">
            <a:solidFill>
              <a:srgbClr val="C00000"/>
            </a:solidFill>
          </a:ln>
          <a:effectLst/>
        </p:spPr>
        <p:txBody>
          <a:bodyPr wrap="square" lIns="91440" tIns="45720" rIns="91440" bIns="45720" rtlCol="0" anchor="ctr">
            <a:noAutofit/>
          </a:bodyPr>
          <a:lstStyle/>
          <a:p>
            <a:pPr algn="ctr">
              <a:lnSpc>
                <a:spcPct val="120000"/>
              </a:lnSpc>
            </a:pPr>
            <a:r>
              <a:rPr lang="ja-JP" altLang="en-US" sz="2400" b="1" dirty="0">
                <a:solidFill>
                  <a:srgbClr val="FFFFFF"/>
                </a:solidFill>
                <a:latin typeface="Meiryo"/>
                <a:ea typeface="Meiryo"/>
                <a:cs typeface="Meiryo"/>
              </a:rPr>
              <a:t>導出</a:t>
            </a:r>
          </a:p>
        </p:txBody>
      </p:sp>
      <p:sp>
        <p:nvSpPr>
          <p:cNvPr id="269" name="row0"/>
          <p:cNvSpPr/>
          <p:nvPr/>
        </p:nvSpPr>
        <p:spPr>
          <a:xfrm>
            <a:off x="2302920" y="1750000"/>
            <a:ext cx="9340000" cy="1100000"/>
          </a:xfrm>
          <a:prstGeom prst="roundRect">
            <a:avLst>
              <a:gd name="adj" fmla="val 6000"/>
            </a:avLst>
          </a:prstGeom>
          <a:solidFill>
            <a:srgbClr val="FCEAEA"/>
          </a:solidFill>
          <a:ln w="19050">
            <a:solidFill>
              <a:srgbClr val="C00000"/>
            </a:solidFill>
          </a:ln>
          <a:effectLst/>
        </p:spPr>
        <p:txBody>
          <a:bodyPr wrap="square" lIns="91440" tIns="45720" rIns="91440" bIns="45720" rtlCol="0" anchor="ctr">
            <a:noAutofit/>
          </a:bodyPr>
          <a:lstStyle/>
          <a:p>
            <a:endParaRPr/>
          </a:p>
        </p:txBody>
      </p:sp>
      <p:sp>
        <p:nvSpPr>
          <p:cNvPr id="270" name="t0"/>
          <p:cNvSpPr txBox="1"/>
          <p:nvPr/>
        </p:nvSpPr>
        <p:spPr>
          <a:xfrm>
            <a:off x="2502920" y="1830000"/>
            <a:ext cx="8940000" cy="94400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60 例（登録 74 例）</a:t>
            </a:r>
          </a:p>
          <a:p>
            <a:pPr algn="l">
              <a:lnSpc>
                <a:spcPct val="120000"/>
              </a:lnSpc>
            </a:pPr>
            <a:r>
              <a:rPr lang="ja-JP" altLang="en-US" sz="2200" b="1" dirty="0">
                <a:solidFill>
                  <a:srgbClr val="262626"/>
                </a:solidFill>
                <a:latin typeface="Meiryo"/>
                <a:ea typeface="Meiryo"/>
                <a:cs typeface="Meiryo"/>
              </a:rPr>
              <a:t>共変量 4 個 × 15 例 ＝ 被験者レベルの目安。</a:t>
            </a:r>
          </a:p>
        </p:txBody>
      </p:sp>
      <p:sp>
        <p:nvSpPr>
          <p:cNvPr id="271" name="chip1"/>
          <p:cNvSpPr/>
          <p:nvPr/>
        </p:nvSpPr>
        <p:spPr>
          <a:xfrm>
            <a:off x="502920" y="2930000"/>
            <a:ext cx="1600000" cy="1100000"/>
          </a:xfrm>
          <a:prstGeom prst="roundRect">
            <a:avLst>
              <a:gd name="adj" fmla="val 6000"/>
            </a:avLst>
          </a:prstGeom>
          <a:solidFill>
            <a:srgbClr val="2E5395"/>
          </a:solidFill>
          <a:ln w="19050">
            <a:solidFill>
              <a:srgbClr val="2E5395"/>
            </a:solidFill>
          </a:ln>
          <a:effectLst/>
        </p:spPr>
        <p:txBody>
          <a:bodyPr wrap="square" lIns="91440" tIns="45720" rIns="91440" bIns="45720" rtlCol="0" anchor="ctr">
            <a:noAutofit/>
          </a:bodyPr>
          <a:lstStyle/>
          <a:p>
            <a:pPr algn="ctr">
              <a:lnSpc>
                <a:spcPct val="120000"/>
              </a:lnSpc>
            </a:pPr>
            <a:r>
              <a:rPr lang="ja-JP" altLang="en-US" sz="2400" b="1" dirty="0">
                <a:solidFill>
                  <a:srgbClr val="FFFFFF"/>
                </a:solidFill>
                <a:latin typeface="Meiryo"/>
                <a:ea typeface="Meiryo"/>
                <a:cs typeface="Meiryo"/>
              </a:rPr>
              <a:t>検証</a:t>
            </a:r>
          </a:p>
        </p:txBody>
      </p:sp>
      <p:sp>
        <p:nvSpPr>
          <p:cNvPr id="272" name="row1"/>
          <p:cNvSpPr/>
          <p:nvPr/>
        </p:nvSpPr>
        <p:spPr>
          <a:xfrm>
            <a:off x="2302920" y="2930000"/>
            <a:ext cx="9340000" cy="110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273" name="t1"/>
          <p:cNvSpPr txBox="1"/>
          <p:nvPr/>
        </p:nvSpPr>
        <p:spPr>
          <a:xfrm>
            <a:off x="2502920" y="3010000"/>
            <a:ext cx="8940000" cy="94400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50 例（登録 61 例）</a:t>
            </a:r>
          </a:p>
          <a:p>
            <a:pPr algn="l">
              <a:lnSpc>
                <a:spcPct val="120000"/>
              </a:lnSpc>
            </a:pPr>
            <a:r>
              <a:rPr lang="ja-JP" altLang="en-US" sz="2200" b="1" dirty="0">
                <a:solidFill>
                  <a:srgbClr val="262626"/>
                </a:solidFill>
                <a:latin typeface="Meiryo"/>
                <a:ea typeface="Meiryo"/>
                <a:cs typeface="Meiryo"/>
              </a:rPr>
              <a:t>誤差率 60→45% を検出力 80% で検出（必要 51 例）</a:t>
            </a:r>
          </a:p>
        </p:txBody>
      </p:sp>
      <p:sp>
        <p:nvSpPr>
          <p:cNvPr id="274" name="chip2"/>
          <p:cNvSpPr/>
          <p:nvPr/>
        </p:nvSpPr>
        <p:spPr>
          <a:xfrm>
            <a:off x="502920" y="4110000"/>
            <a:ext cx="1600000" cy="1100000"/>
          </a:xfrm>
          <a:prstGeom prst="roundRect">
            <a:avLst>
              <a:gd name="adj" fmla="val 6000"/>
            </a:avLst>
          </a:prstGeom>
          <a:solidFill>
            <a:srgbClr val="2E5395"/>
          </a:solidFill>
          <a:ln w="19050">
            <a:solidFill>
              <a:srgbClr val="2E5395"/>
            </a:solidFill>
          </a:ln>
          <a:effectLst/>
        </p:spPr>
        <p:txBody>
          <a:bodyPr wrap="square" lIns="91440" tIns="45720" rIns="91440" bIns="45720" rtlCol="0" anchor="ctr">
            <a:noAutofit/>
          </a:bodyPr>
          <a:lstStyle/>
          <a:p>
            <a:pPr algn="ctr">
              <a:lnSpc>
                <a:spcPct val="120000"/>
              </a:lnSpc>
            </a:pPr>
            <a:r>
              <a:rPr lang="ja-JP" altLang="en-US" sz="2400" b="1" dirty="0">
                <a:solidFill>
                  <a:srgbClr val="FFFFFF"/>
                </a:solidFill>
                <a:latin typeface="Meiryo"/>
                <a:ea typeface="Meiryo"/>
                <a:cs typeface="Meiryo"/>
              </a:rPr>
              <a:t>下限</a:t>
            </a:r>
          </a:p>
        </p:txBody>
      </p:sp>
      <p:sp>
        <p:nvSpPr>
          <p:cNvPr id="275" name="row2"/>
          <p:cNvSpPr/>
          <p:nvPr/>
        </p:nvSpPr>
        <p:spPr>
          <a:xfrm>
            <a:off x="2302920" y="4110000"/>
            <a:ext cx="9340000" cy="110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276" name="t2"/>
          <p:cNvSpPr txBox="1"/>
          <p:nvPr/>
        </p:nvSpPr>
        <p:spPr>
          <a:xfrm>
            <a:off x="2502920" y="4190000"/>
            <a:ext cx="8940000" cy="94400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一致限界の精度から 45 例。</a:t>
            </a:r>
          </a:p>
          <a:p>
            <a:pPr algn="l">
              <a:lnSpc>
                <a:spcPct val="120000"/>
              </a:lnSpc>
            </a:pPr>
            <a:r>
              <a:rPr lang="ja-JP" altLang="en-US" sz="2200" b="1" dirty="0">
                <a:solidFill>
                  <a:srgbClr val="262626"/>
                </a:solidFill>
                <a:latin typeface="Meiryo"/>
                <a:ea typeface="Meiryo"/>
                <a:cs typeface="Meiryo"/>
              </a:rPr>
              <a:t>反復測定を増やしても被験者数は代替できない。</a:t>
            </a:r>
          </a:p>
        </p:txBody>
      </p:sp>
      <p:sp>
        <p:nvSpPr>
          <p:cNvPr id="277" name="chip3"/>
          <p:cNvSpPr/>
          <p:nvPr/>
        </p:nvSpPr>
        <p:spPr>
          <a:xfrm>
            <a:off x="502920" y="5290000"/>
            <a:ext cx="1600000" cy="1100000"/>
          </a:xfrm>
          <a:prstGeom prst="roundRect">
            <a:avLst>
              <a:gd name="adj" fmla="val 6000"/>
            </a:avLst>
          </a:prstGeom>
          <a:solidFill>
            <a:srgbClr val="2E5395"/>
          </a:solidFill>
          <a:ln w="19050">
            <a:solidFill>
              <a:srgbClr val="2E5395"/>
            </a:solidFill>
          </a:ln>
          <a:effectLst/>
        </p:spPr>
        <p:txBody>
          <a:bodyPr wrap="square" lIns="91440" tIns="45720" rIns="91440" bIns="45720" rtlCol="0" anchor="ctr">
            <a:noAutofit/>
          </a:bodyPr>
          <a:lstStyle/>
          <a:p>
            <a:pPr algn="ctr">
              <a:lnSpc>
                <a:spcPct val="120000"/>
              </a:lnSpc>
            </a:pPr>
            <a:r>
              <a:rPr lang="ja-JP" altLang="en-US" sz="2400" b="1" dirty="0">
                <a:solidFill>
                  <a:srgbClr val="FFFFFF"/>
                </a:solidFill>
                <a:latin typeface="Meiryo"/>
                <a:ea typeface="Meiryo"/>
                <a:cs typeface="Meiryo"/>
              </a:rPr>
              <a:t>合計</a:t>
            </a:r>
          </a:p>
        </p:txBody>
      </p:sp>
      <p:sp>
        <p:nvSpPr>
          <p:cNvPr id="278" name="row3"/>
          <p:cNvSpPr/>
          <p:nvPr/>
        </p:nvSpPr>
        <p:spPr>
          <a:xfrm>
            <a:off x="2302920" y="5290000"/>
            <a:ext cx="9340000" cy="110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279" name="t3"/>
          <p:cNvSpPr txBox="1"/>
          <p:nvPr/>
        </p:nvSpPr>
        <p:spPr>
          <a:xfrm>
            <a:off x="2502920" y="5370000"/>
            <a:ext cx="8940000" cy="94400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解析 110 例 ／ 登録 135 例</a:t>
            </a:r>
          </a:p>
          <a:p>
            <a:pPr algn="l">
              <a:lnSpc>
                <a:spcPct val="120000"/>
              </a:lnSpc>
            </a:pPr>
            <a:r>
              <a:rPr lang="ja-JP" altLang="en-US" sz="2200" b="1" dirty="0">
                <a:solidFill>
                  <a:srgbClr val="262626"/>
                </a:solidFill>
                <a:latin typeface="Meiryo"/>
                <a:ea typeface="Meiryo"/>
                <a:cs typeface="Meiryo"/>
              </a:rPr>
              <a:t>信号品質による脱落 18% を見込む。</a:t>
            </a:r>
          </a:p>
        </p:txBody>
      </p:sp>
      <p:sp>
        <p:nvSpPr>
          <p:cNvPr id="280"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281"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282"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283"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284"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85" name="Off-page Connector 4">
            <a:extLst>
              <a:ext uri="{FF2B5EF4-FFF2-40B4-BE49-F238E27FC236}">
                <a16:creationId xmlns:a16="http://schemas.microsoft.com/office/drawing/2014/main" id="{AA9D36CE-3772-F005-B54C-9329ADA7F086}"/>
              </a:ext>
            </a:extLst>
          </p:cNvPr>
          <p:cNvSpPr/>
          <p:nvPr/>
        </p:nvSpPr>
        <p:spPr>
          <a:xfrm>
            <a:off x="1151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6</a:t>
            </a:r>
          </a:p>
          <a:p>
            <a:pPr algn="ctr"/>
            <a:r>
              <a:rPr sz="1050" b="1">
                <a:solidFill>
                  <a:srgbClr val="FFFFFF"/>
                </a:solidFill>
                <a:latin typeface="Meiryo"/>
                <a:ea typeface="Meiryo"/>
                <a:cs typeface="Meiryo"/>
              </a:rPr>
              <a:t>提案</a:t>
            </a:r>
          </a:p>
        </p:txBody>
      </p:sp>
      <p:sp>
        <p:nvSpPr>
          <p:cNvPr id="28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108/118</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6.10  必要な機器と体制</a:t>
            </a:r>
          </a:p>
        </p:txBody>
      </p:sp>
      <p:sp>
        <p:nvSpPr>
          <p:cNvPr id="213" name="c0-bg"/>
          <p:cNvSpPr/>
          <p:nvPr/>
        </p:nvSpPr>
        <p:spPr>
          <a:xfrm>
            <a:off x="502920" y="1780000"/>
            <a:ext cx="5432840" cy="175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214" name="c0-t"/>
          <p:cNvSpPr txBox="1"/>
          <p:nvPr/>
        </p:nvSpPr>
        <p:spPr>
          <a:xfrm>
            <a:off x="702920" y="193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2E5395"/>
                </a:solidFill>
                <a:latin typeface="Meiryo"/>
                <a:ea typeface="Meiryo"/>
                <a:cs typeface="Meiryo"/>
              </a:rPr>
              <a:t>① モニタ</a:t>
            </a:r>
          </a:p>
        </p:txBody>
      </p:sp>
      <p:sp>
        <p:nvSpPr>
          <p:cNvPr id="215" name="c0-b"/>
          <p:cNvSpPr txBox="1"/>
          <p:nvPr/>
        </p:nvSpPr>
        <p:spPr>
          <a:xfrm>
            <a:off x="702920" y="248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esCCO 搭載ライフスコープ</a:t>
            </a:r>
          </a:p>
          <a:p>
            <a:pPr algn="l">
              <a:lnSpc>
                <a:spcPct val="120000"/>
              </a:lnSpc>
            </a:pPr>
            <a:r>
              <a:rPr lang="ja-JP" altLang="en-US" sz="2200" b="1" dirty="0">
                <a:solidFill>
                  <a:srgbClr val="262626"/>
                </a:solidFill>
                <a:latin typeface="Meiryo"/>
                <a:ea typeface="Meiryo"/>
                <a:cs typeface="Meiryo"/>
              </a:rPr>
              <a:t>生波形の外部出力オプション</a:t>
            </a:r>
          </a:p>
        </p:txBody>
      </p:sp>
      <p:sp>
        <p:nvSpPr>
          <p:cNvPr id="216" name="c1-bg"/>
          <p:cNvSpPr/>
          <p:nvPr/>
        </p:nvSpPr>
        <p:spPr>
          <a:xfrm>
            <a:off x="6210080" y="1780000"/>
            <a:ext cx="5432840" cy="1750000"/>
          </a:xfrm>
          <a:prstGeom prst="roundRect">
            <a:avLst>
              <a:gd name="adj" fmla="val 6000"/>
            </a:avLst>
          </a:prstGeom>
          <a:solidFill>
            <a:srgbClr val="FDF0E6"/>
          </a:solidFill>
          <a:ln w="19050">
            <a:solidFill>
              <a:srgbClr val="C55A11"/>
            </a:solidFill>
          </a:ln>
          <a:effectLst/>
        </p:spPr>
        <p:txBody>
          <a:bodyPr wrap="square" lIns="91440" tIns="45720" rIns="91440" bIns="45720" rtlCol="0" anchor="ctr">
            <a:noAutofit/>
          </a:bodyPr>
          <a:lstStyle/>
          <a:p>
            <a:endParaRPr/>
          </a:p>
        </p:txBody>
      </p:sp>
      <p:sp>
        <p:nvSpPr>
          <p:cNvPr id="217" name="c1-t"/>
          <p:cNvSpPr txBox="1"/>
          <p:nvPr/>
        </p:nvSpPr>
        <p:spPr>
          <a:xfrm>
            <a:off x="6410080" y="193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C55A11"/>
                </a:solidFill>
                <a:latin typeface="Meiryo"/>
                <a:ea typeface="Meiryo"/>
                <a:cs typeface="Meiryo"/>
              </a:rPr>
              <a:t>② 記録</a:t>
            </a:r>
          </a:p>
        </p:txBody>
      </p:sp>
      <p:sp>
        <p:nvSpPr>
          <p:cNvPr id="218" name="c1-b"/>
          <p:cNvSpPr txBox="1"/>
          <p:nvPr/>
        </p:nvSpPr>
        <p:spPr>
          <a:xfrm>
            <a:off x="6410080" y="248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Vital Recorder 等の記録ソフト</a:t>
            </a:r>
          </a:p>
          <a:p>
            <a:pPr algn="l">
              <a:lnSpc>
                <a:spcPct val="120000"/>
              </a:lnSpc>
            </a:pPr>
            <a:r>
              <a:rPr lang="ja-JP" altLang="en-US" sz="2200" b="1" dirty="0">
                <a:solidFill>
                  <a:srgbClr val="262626"/>
                </a:solidFill>
                <a:latin typeface="Meiryo"/>
                <a:ea typeface="Meiryo"/>
                <a:cs typeface="Meiryo"/>
              </a:rPr>
              <a:t>日本光電製の出力ケーブル</a:t>
            </a:r>
          </a:p>
        </p:txBody>
      </p:sp>
      <p:sp>
        <p:nvSpPr>
          <p:cNvPr id="219" name="c2-bg"/>
          <p:cNvSpPr/>
          <p:nvPr/>
        </p:nvSpPr>
        <p:spPr>
          <a:xfrm>
            <a:off x="502920" y="3680000"/>
            <a:ext cx="5432840" cy="1750000"/>
          </a:xfrm>
          <a:prstGeom prst="roundRect">
            <a:avLst>
              <a:gd name="adj" fmla="val 6000"/>
            </a:avLst>
          </a:prstGeom>
          <a:solidFill>
            <a:srgbClr val="E4F5F5"/>
          </a:solidFill>
          <a:ln w="19050">
            <a:solidFill>
              <a:srgbClr val="00A8AA"/>
            </a:solidFill>
          </a:ln>
          <a:effectLst/>
        </p:spPr>
        <p:txBody>
          <a:bodyPr wrap="square" lIns="91440" tIns="45720" rIns="91440" bIns="45720" rtlCol="0" anchor="ctr">
            <a:noAutofit/>
          </a:bodyPr>
          <a:lstStyle/>
          <a:p>
            <a:endParaRPr/>
          </a:p>
        </p:txBody>
      </p:sp>
      <p:sp>
        <p:nvSpPr>
          <p:cNvPr id="220" name="c2-t"/>
          <p:cNvSpPr txBox="1"/>
          <p:nvPr/>
        </p:nvSpPr>
        <p:spPr>
          <a:xfrm>
            <a:off x="702920" y="383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00A8AA"/>
                </a:solidFill>
                <a:latin typeface="Meiryo"/>
                <a:ea typeface="Meiryo"/>
                <a:cs typeface="Meiryo"/>
              </a:rPr>
              <a:t>③ 基準値</a:t>
            </a:r>
          </a:p>
        </p:txBody>
      </p:sp>
      <p:sp>
        <p:nvSpPr>
          <p:cNvPr id="221" name="c2-b"/>
          <p:cNvSpPr txBox="1"/>
          <p:nvPr/>
        </p:nvSpPr>
        <p:spPr>
          <a:xfrm>
            <a:off x="702920" y="438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肺動脈カテーテル間欠熱希釈</a:t>
            </a:r>
          </a:p>
          <a:p>
            <a:pPr algn="l">
              <a:lnSpc>
                <a:spcPct val="120000"/>
              </a:lnSpc>
            </a:pPr>
            <a:r>
              <a:rPr lang="ja-JP" altLang="en-US" sz="2200" b="1" dirty="0">
                <a:solidFill>
                  <a:srgbClr val="262626"/>
                </a:solidFill>
                <a:latin typeface="Meiryo"/>
                <a:ea typeface="Meiryo"/>
                <a:cs typeface="Meiryo"/>
              </a:rPr>
              <a:t>または経肺熱希釈</a:t>
            </a:r>
          </a:p>
        </p:txBody>
      </p:sp>
      <p:sp>
        <p:nvSpPr>
          <p:cNvPr id="222" name="c3-bg"/>
          <p:cNvSpPr/>
          <p:nvPr/>
        </p:nvSpPr>
        <p:spPr>
          <a:xfrm>
            <a:off x="6210080" y="3680000"/>
            <a:ext cx="5432840" cy="175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223" name="c3-t"/>
          <p:cNvSpPr txBox="1"/>
          <p:nvPr/>
        </p:nvSpPr>
        <p:spPr>
          <a:xfrm>
            <a:off x="6410080" y="3830000"/>
            <a:ext cx="5032840" cy="480000"/>
          </a:xfrm>
          <a:prstGeom prst="rect">
            <a:avLst/>
          </a:prstGeom>
          <a:noFill/>
        </p:spPr>
        <p:txBody>
          <a:bodyPr wrap="square" lIns="0" tIns="0" rIns="0" bIns="0" anchor="t">
            <a:noAutofit/>
          </a:bodyPr>
          <a:lstStyle/>
          <a:p>
            <a:pPr algn="ctr">
              <a:lnSpc>
                <a:spcPct val="120000"/>
              </a:lnSpc>
            </a:pPr>
            <a:r>
              <a:rPr lang="ja-JP" altLang="en-US" sz="2400" b="1" dirty="0">
                <a:solidFill>
                  <a:srgbClr val="2E5395"/>
                </a:solidFill>
                <a:latin typeface="Meiryo"/>
                <a:ea typeface="Meiryo"/>
                <a:cs typeface="Meiryo"/>
              </a:rPr>
              <a:t>④ 体制</a:t>
            </a:r>
          </a:p>
        </p:txBody>
      </p:sp>
      <p:sp>
        <p:nvSpPr>
          <p:cNvPr id="224" name="c3-b"/>
          <p:cNvSpPr txBox="1"/>
          <p:nvPr/>
        </p:nvSpPr>
        <p:spPr>
          <a:xfrm>
            <a:off x="6410080" y="4380000"/>
            <a:ext cx="5032840"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臨床工学技士・統計家</a:t>
            </a:r>
          </a:p>
          <a:p>
            <a:pPr algn="l">
              <a:lnSpc>
                <a:spcPct val="120000"/>
              </a:lnSpc>
            </a:pPr>
            <a:r>
              <a:rPr lang="ja-JP" altLang="en-US" sz="2200" b="1" dirty="0">
                <a:solidFill>
                  <a:srgbClr val="262626"/>
                </a:solidFill>
                <a:latin typeface="Meiryo"/>
                <a:ea typeface="Meiryo"/>
                <a:cs typeface="Meiryo"/>
              </a:rPr>
              <a:t>データ管理担当</a:t>
            </a:r>
          </a:p>
        </p:txBody>
      </p:sp>
      <p:sp>
        <p:nvSpPr>
          <p:cNvPr id="225" name="b"/>
          <p:cNvSpPr/>
          <p:nvPr/>
        </p:nvSpPr>
        <p:spPr>
          <a:xfrm>
            <a:off x="502920" y="5580000"/>
            <a:ext cx="11140000" cy="780000"/>
          </a:xfrm>
          <a:prstGeom prst="roundRect">
            <a:avLst>
              <a:gd name="adj" fmla="val 4000"/>
            </a:avLst>
          </a:prstGeom>
          <a:solidFill>
            <a:srgbClr val="FFF3D6"/>
          </a:solidFill>
          <a:ln w="28575">
            <a:solidFill>
              <a:srgbClr val="BF9000"/>
            </a:solidFill>
          </a:ln>
          <a:effectLst/>
        </p:spPr>
        <p:txBody>
          <a:bodyPr wrap="square" lIns="91440" tIns="45720" rIns="91440" bIns="45720" rtlCol="0" anchor="ctr">
            <a:noAutofit/>
          </a:bodyPr>
          <a:lstStyle/>
          <a:p>
            <a:pPr algn="ctr">
              <a:lnSpc>
                <a:spcPct val="120000"/>
              </a:lnSpc>
            </a:pPr>
            <a:r>
              <a:rPr lang="ja-JP" altLang="en-US" sz="2400" b="1" dirty="0">
                <a:solidFill>
                  <a:srgbClr val="262626"/>
                </a:solidFill>
                <a:latin typeface="Meiryo"/>
                <a:ea typeface="Meiryo"/>
                <a:cs typeface="Meiryo"/>
              </a:rPr>
              <a:t>患者に接続された機器への外部接続は臨床工学技士の確認を必ず取る。</a:t>
            </a:r>
          </a:p>
        </p:txBody>
      </p:sp>
      <p:sp>
        <p:nvSpPr>
          <p:cNvPr id="226"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227"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228"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229"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230"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31" name="Off-page Connector 4">
            <a:extLst>
              <a:ext uri="{FF2B5EF4-FFF2-40B4-BE49-F238E27FC236}">
                <a16:creationId xmlns:a16="http://schemas.microsoft.com/office/drawing/2014/main" id="{AA9D36CE-3772-F005-B54C-9329ADA7F086}"/>
              </a:ext>
            </a:extLst>
          </p:cNvPr>
          <p:cNvSpPr/>
          <p:nvPr/>
        </p:nvSpPr>
        <p:spPr>
          <a:xfrm>
            <a:off x="1151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6</a:t>
            </a:r>
          </a:p>
          <a:p>
            <a:pPr algn="ctr"/>
            <a:r>
              <a:rPr sz="1050" b="1">
                <a:solidFill>
                  <a:srgbClr val="FFFFFF"/>
                </a:solidFill>
                <a:latin typeface="Meiryo"/>
                <a:ea typeface="Meiryo"/>
                <a:cs typeface="Meiryo"/>
              </a:rPr>
              <a:t>提案</a:t>
            </a:r>
          </a:p>
        </p:txBody>
      </p:sp>
      <p:sp>
        <p:nvSpPr>
          <p:cNvPr id="23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109/118</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6.11  倫理と手続き</a:t>
            </a:r>
          </a:p>
        </p:txBody>
      </p:sp>
      <p:sp>
        <p:nvSpPr>
          <p:cNvPr id="266" name="Source"/>
          <p:cNvSpPr txBox="1"/>
          <p:nvPr/>
        </p:nvSpPr>
        <p:spPr>
          <a:xfrm>
            <a:off x="720000" y="6606000"/>
            <a:ext cx="10881360" cy="200000"/>
          </a:xfrm>
          <a:prstGeom prst="rect">
            <a:avLst/>
          </a:prstGeom>
          <a:noFill/>
        </p:spPr>
        <p:txBody>
          <a:bodyPr wrap="square" lIns="0" tIns="0" rIns="0" bIns="0" anchor="t">
            <a:spAutoFit/>
          </a:bodyPr>
          <a:lstStyle/>
          <a:p>
            <a:pPr algn="l"/>
            <a:r>
              <a:rPr sz="1050">
                <a:solidFill>
                  <a:srgbClr val="808080"/>
                </a:solidFill>
                <a:latin typeface="Meiryo"/>
                <a:ea typeface="Meiryo"/>
                <a:cs typeface="Meiryo"/>
              </a:rPr>
              <a:t>人を対象とする生命科学・医学系研究に関する倫理指針（文科省・厚労省・経産省）</a:t>
            </a:r>
          </a:p>
        </p:txBody>
      </p:sp>
      <p:sp>
        <p:nvSpPr>
          <p:cNvPr id="268" name="chip0"/>
          <p:cNvSpPr/>
          <p:nvPr/>
        </p:nvSpPr>
        <p:spPr>
          <a:xfrm>
            <a:off x="502920" y="1750000"/>
            <a:ext cx="1600000" cy="1100000"/>
          </a:xfrm>
          <a:prstGeom prst="roundRect">
            <a:avLst>
              <a:gd name="adj" fmla="val 6000"/>
            </a:avLst>
          </a:prstGeom>
          <a:solidFill>
            <a:srgbClr val="C00000"/>
          </a:solidFill>
          <a:ln w="19050">
            <a:solidFill>
              <a:srgbClr val="C00000"/>
            </a:solidFill>
          </a:ln>
          <a:effectLst/>
        </p:spPr>
        <p:txBody>
          <a:bodyPr wrap="square" lIns="91440" tIns="45720" rIns="91440" bIns="45720" rtlCol="0" anchor="ctr">
            <a:noAutofit/>
          </a:bodyPr>
          <a:lstStyle/>
          <a:p>
            <a:pPr algn="ctr">
              <a:lnSpc>
                <a:spcPct val="120000"/>
              </a:lnSpc>
            </a:pPr>
            <a:r>
              <a:rPr lang="ja-JP" altLang="en-US" sz="2400" b="1" dirty="0">
                <a:solidFill>
                  <a:srgbClr val="FFFFFF"/>
                </a:solidFill>
                <a:latin typeface="Meiryo"/>
                <a:ea typeface="Meiryo"/>
                <a:cs typeface="Meiryo"/>
              </a:rPr>
              <a:t>審査</a:t>
            </a:r>
          </a:p>
        </p:txBody>
      </p:sp>
      <p:sp>
        <p:nvSpPr>
          <p:cNvPr id="269" name="row0"/>
          <p:cNvSpPr/>
          <p:nvPr/>
        </p:nvSpPr>
        <p:spPr>
          <a:xfrm>
            <a:off x="2302920" y="1750000"/>
            <a:ext cx="9340000" cy="1100000"/>
          </a:xfrm>
          <a:prstGeom prst="roundRect">
            <a:avLst>
              <a:gd name="adj" fmla="val 6000"/>
            </a:avLst>
          </a:prstGeom>
          <a:solidFill>
            <a:srgbClr val="FCEAEA"/>
          </a:solidFill>
          <a:ln w="19050">
            <a:solidFill>
              <a:srgbClr val="C00000"/>
            </a:solidFill>
          </a:ln>
          <a:effectLst/>
        </p:spPr>
        <p:txBody>
          <a:bodyPr wrap="square" lIns="91440" tIns="45720" rIns="91440" bIns="45720" rtlCol="0" anchor="ctr">
            <a:noAutofit/>
          </a:bodyPr>
          <a:lstStyle/>
          <a:p>
            <a:endParaRPr/>
          </a:p>
        </p:txBody>
      </p:sp>
      <p:sp>
        <p:nvSpPr>
          <p:cNvPr id="270" name="t0"/>
          <p:cNvSpPr txBox="1"/>
          <p:nvPr/>
        </p:nvSpPr>
        <p:spPr>
          <a:xfrm>
            <a:off x="2502920" y="1830000"/>
            <a:ext cx="8940000" cy="94400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倫理審査委員会の承認 ― 着手前に必須。</a:t>
            </a:r>
          </a:p>
          <a:p>
            <a:pPr algn="l">
              <a:lnSpc>
                <a:spcPct val="120000"/>
              </a:lnSpc>
            </a:pPr>
            <a:r>
              <a:rPr lang="ja-JP" altLang="en-US" sz="2200" b="1" dirty="0">
                <a:solidFill>
                  <a:srgbClr val="262626"/>
                </a:solidFill>
                <a:latin typeface="Meiryo"/>
                <a:ea typeface="Meiryo"/>
                <a:cs typeface="Meiryo"/>
              </a:rPr>
              <a:t>公開データのみを使う段階も該当性を照会する。</a:t>
            </a:r>
          </a:p>
        </p:txBody>
      </p:sp>
      <p:sp>
        <p:nvSpPr>
          <p:cNvPr id="271" name="chip1"/>
          <p:cNvSpPr/>
          <p:nvPr/>
        </p:nvSpPr>
        <p:spPr>
          <a:xfrm>
            <a:off x="502920" y="2930000"/>
            <a:ext cx="1600000" cy="1100000"/>
          </a:xfrm>
          <a:prstGeom prst="roundRect">
            <a:avLst>
              <a:gd name="adj" fmla="val 6000"/>
            </a:avLst>
          </a:prstGeom>
          <a:solidFill>
            <a:srgbClr val="2E5395"/>
          </a:solidFill>
          <a:ln w="19050">
            <a:solidFill>
              <a:srgbClr val="2E5395"/>
            </a:solidFill>
          </a:ln>
          <a:effectLst/>
        </p:spPr>
        <p:txBody>
          <a:bodyPr wrap="square" lIns="91440" tIns="45720" rIns="91440" bIns="45720" rtlCol="0" anchor="ctr">
            <a:noAutofit/>
          </a:bodyPr>
          <a:lstStyle/>
          <a:p>
            <a:pPr algn="ctr">
              <a:lnSpc>
                <a:spcPct val="120000"/>
              </a:lnSpc>
            </a:pPr>
            <a:r>
              <a:rPr lang="ja-JP" altLang="en-US" sz="2400" b="1" dirty="0">
                <a:solidFill>
                  <a:srgbClr val="FFFFFF"/>
                </a:solidFill>
                <a:latin typeface="Meiryo"/>
                <a:ea typeface="Meiryo"/>
                <a:cs typeface="Meiryo"/>
              </a:rPr>
              <a:t>区分</a:t>
            </a:r>
          </a:p>
        </p:txBody>
      </p:sp>
      <p:sp>
        <p:nvSpPr>
          <p:cNvPr id="272" name="row1"/>
          <p:cNvSpPr/>
          <p:nvPr/>
        </p:nvSpPr>
        <p:spPr>
          <a:xfrm>
            <a:off x="2302920" y="2930000"/>
            <a:ext cx="9340000" cy="110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273" name="t1"/>
          <p:cNvSpPr txBox="1"/>
          <p:nvPr/>
        </p:nvSpPr>
        <p:spPr>
          <a:xfrm>
            <a:off x="2502920" y="3010000"/>
            <a:ext cx="8940000" cy="94400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介入研究か観察研究かを事前照会する。</a:t>
            </a:r>
          </a:p>
          <a:p>
            <a:pPr algn="l">
              <a:lnSpc>
                <a:spcPct val="120000"/>
              </a:lnSpc>
            </a:pPr>
            <a:r>
              <a:rPr lang="ja-JP" altLang="en-US" sz="2200" b="1" dirty="0">
                <a:solidFill>
                  <a:srgbClr val="262626"/>
                </a:solidFill>
                <a:latin typeface="Meiryo"/>
                <a:ea typeface="Meiryo"/>
                <a:cs typeface="Meiryo"/>
              </a:rPr>
              <a:t>臨床適応の症例を選べば観察研究として設計できる。</a:t>
            </a:r>
          </a:p>
        </p:txBody>
      </p:sp>
      <p:sp>
        <p:nvSpPr>
          <p:cNvPr id="274" name="chip2"/>
          <p:cNvSpPr/>
          <p:nvPr/>
        </p:nvSpPr>
        <p:spPr>
          <a:xfrm>
            <a:off x="502920" y="4110000"/>
            <a:ext cx="1600000" cy="1100000"/>
          </a:xfrm>
          <a:prstGeom prst="roundRect">
            <a:avLst>
              <a:gd name="adj" fmla="val 6000"/>
            </a:avLst>
          </a:prstGeom>
          <a:solidFill>
            <a:srgbClr val="2E5395"/>
          </a:solidFill>
          <a:ln w="19050">
            <a:solidFill>
              <a:srgbClr val="2E5395"/>
            </a:solidFill>
          </a:ln>
          <a:effectLst/>
        </p:spPr>
        <p:txBody>
          <a:bodyPr wrap="square" lIns="91440" tIns="45720" rIns="91440" bIns="45720" rtlCol="0" anchor="ctr">
            <a:noAutofit/>
          </a:bodyPr>
          <a:lstStyle/>
          <a:p>
            <a:pPr algn="ctr">
              <a:lnSpc>
                <a:spcPct val="120000"/>
              </a:lnSpc>
            </a:pPr>
            <a:r>
              <a:rPr lang="ja-JP" altLang="en-US" sz="2400" b="1" dirty="0">
                <a:solidFill>
                  <a:srgbClr val="FFFFFF"/>
                </a:solidFill>
                <a:latin typeface="Meiryo"/>
                <a:ea typeface="Meiryo"/>
                <a:cs typeface="Meiryo"/>
              </a:rPr>
              <a:t>登録</a:t>
            </a:r>
          </a:p>
        </p:txBody>
      </p:sp>
      <p:sp>
        <p:nvSpPr>
          <p:cNvPr id="275" name="row2"/>
          <p:cNvSpPr/>
          <p:nvPr/>
        </p:nvSpPr>
        <p:spPr>
          <a:xfrm>
            <a:off x="2302920" y="4110000"/>
            <a:ext cx="9340000" cy="110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276" name="t2"/>
          <p:cNvSpPr txBox="1"/>
          <p:nvPr/>
        </p:nvSpPr>
        <p:spPr>
          <a:xfrm>
            <a:off x="2502920" y="4190000"/>
            <a:ext cx="8940000" cy="94400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jRCT または UMIN-CTR に事前登録。</a:t>
            </a:r>
          </a:p>
          <a:p>
            <a:pPr algn="l">
              <a:lnSpc>
                <a:spcPct val="120000"/>
              </a:lnSpc>
            </a:pPr>
            <a:r>
              <a:rPr lang="ja-JP" altLang="en-US" sz="2200" b="1" dirty="0">
                <a:solidFill>
                  <a:srgbClr val="262626"/>
                </a:solidFill>
                <a:latin typeface="Meiryo"/>
                <a:ea typeface="Meiryo"/>
                <a:cs typeface="Meiryo"/>
              </a:rPr>
              <a:t>解析計画も含めて登録し、事後変更を疑われないようにする。</a:t>
            </a:r>
          </a:p>
        </p:txBody>
      </p:sp>
      <p:sp>
        <p:nvSpPr>
          <p:cNvPr id="277" name="chip3"/>
          <p:cNvSpPr/>
          <p:nvPr/>
        </p:nvSpPr>
        <p:spPr>
          <a:xfrm>
            <a:off x="502920" y="5290000"/>
            <a:ext cx="1600000" cy="1100000"/>
          </a:xfrm>
          <a:prstGeom prst="roundRect">
            <a:avLst>
              <a:gd name="adj" fmla="val 6000"/>
            </a:avLst>
          </a:prstGeom>
          <a:solidFill>
            <a:srgbClr val="2E5395"/>
          </a:solidFill>
          <a:ln w="19050">
            <a:solidFill>
              <a:srgbClr val="2E5395"/>
            </a:solidFill>
          </a:ln>
          <a:effectLst/>
        </p:spPr>
        <p:txBody>
          <a:bodyPr wrap="square" lIns="91440" tIns="45720" rIns="91440" bIns="45720" rtlCol="0" anchor="ctr">
            <a:noAutofit/>
          </a:bodyPr>
          <a:lstStyle/>
          <a:p>
            <a:pPr algn="ctr">
              <a:lnSpc>
                <a:spcPct val="120000"/>
              </a:lnSpc>
            </a:pPr>
            <a:r>
              <a:rPr lang="ja-JP" altLang="en-US" sz="2400" b="1" dirty="0">
                <a:solidFill>
                  <a:srgbClr val="FFFFFF"/>
                </a:solidFill>
                <a:latin typeface="Meiryo"/>
                <a:ea typeface="Meiryo"/>
                <a:cs typeface="Meiryo"/>
              </a:rPr>
              <a:t>開示</a:t>
            </a:r>
          </a:p>
        </p:txBody>
      </p:sp>
      <p:sp>
        <p:nvSpPr>
          <p:cNvPr id="278" name="row3"/>
          <p:cNvSpPr/>
          <p:nvPr/>
        </p:nvSpPr>
        <p:spPr>
          <a:xfrm>
            <a:off x="2302920" y="5290000"/>
            <a:ext cx="9340000" cy="110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279" name="t3"/>
          <p:cNvSpPr txBox="1"/>
          <p:nvPr/>
        </p:nvSpPr>
        <p:spPr>
          <a:xfrm>
            <a:off x="2502920" y="5370000"/>
            <a:ext cx="8940000" cy="94400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機器貸与を受けるなら COI を申告。</a:t>
            </a:r>
          </a:p>
          <a:p>
            <a:pPr algn="l">
              <a:lnSpc>
                <a:spcPct val="120000"/>
              </a:lnSpc>
            </a:pPr>
            <a:r>
              <a:rPr lang="ja-JP" altLang="en-US" sz="2200" b="1" dirty="0">
                <a:solidFill>
                  <a:srgbClr val="262626"/>
                </a:solidFill>
                <a:latin typeface="Meiryo"/>
                <a:ea typeface="Meiryo"/>
                <a:cs typeface="Meiryo"/>
              </a:rPr>
              <a:t>解析にメーカーが関与しないことを計画書に明記。</a:t>
            </a:r>
          </a:p>
        </p:txBody>
      </p:sp>
      <p:sp>
        <p:nvSpPr>
          <p:cNvPr id="280"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281"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282"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283"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284"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85" name="Off-page Connector 4">
            <a:extLst>
              <a:ext uri="{FF2B5EF4-FFF2-40B4-BE49-F238E27FC236}">
                <a16:creationId xmlns:a16="http://schemas.microsoft.com/office/drawing/2014/main" id="{AA9D36CE-3772-F005-B54C-9329ADA7F086}"/>
              </a:ext>
            </a:extLst>
          </p:cNvPr>
          <p:cNvSpPr/>
          <p:nvPr/>
        </p:nvSpPr>
        <p:spPr>
          <a:xfrm>
            <a:off x="1151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6</a:t>
            </a:r>
          </a:p>
          <a:p>
            <a:pPr algn="ctr"/>
            <a:r>
              <a:rPr sz="1050" b="1">
                <a:solidFill>
                  <a:srgbClr val="FFFFFF"/>
                </a:solidFill>
                <a:latin typeface="Meiryo"/>
                <a:ea typeface="Meiryo"/>
                <a:cs typeface="Meiryo"/>
              </a:rPr>
              <a:t>提案</a:t>
            </a:r>
          </a:p>
        </p:txBody>
      </p:sp>
      <p:sp>
        <p:nvSpPr>
          <p:cNvPr id="28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110/118</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6.12  想定されるつまずき</a:t>
            </a:r>
          </a:p>
        </p:txBody>
      </p:sp>
      <p:sp>
        <p:nvSpPr>
          <p:cNvPr id="268" name="chip0"/>
          <p:cNvSpPr/>
          <p:nvPr/>
        </p:nvSpPr>
        <p:spPr>
          <a:xfrm>
            <a:off x="502920" y="1750000"/>
            <a:ext cx="1600000" cy="1100000"/>
          </a:xfrm>
          <a:prstGeom prst="roundRect">
            <a:avLst>
              <a:gd name="adj" fmla="val 6000"/>
            </a:avLst>
          </a:prstGeom>
          <a:solidFill>
            <a:srgbClr val="C00000"/>
          </a:solidFill>
          <a:ln w="19050">
            <a:solidFill>
              <a:srgbClr val="C00000"/>
            </a:solidFill>
          </a:ln>
          <a:effectLst/>
        </p:spPr>
        <p:txBody>
          <a:bodyPr wrap="square" lIns="91440" tIns="45720" rIns="91440" bIns="45720" rtlCol="0" anchor="ctr">
            <a:noAutofit/>
          </a:bodyPr>
          <a:lstStyle/>
          <a:p>
            <a:pPr algn="ctr">
              <a:lnSpc>
                <a:spcPct val="120000"/>
              </a:lnSpc>
            </a:pPr>
            <a:r>
              <a:rPr lang="ja-JP" altLang="en-US" sz="2400" b="1" dirty="0">
                <a:solidFill>
                  <a:srgbClr val="FFFFFF"/>
                </a:solidFill>
                <a:latin typeface="Meiryo"/>
                <a:ea typeface="Meiryo"/>
                <a:cs typeface="Meiryo"/>
              </a:rPr>
              <a:t>信号</a:t>
            </a:r>
          </a:p>
        </p:txBody>
      </p:sp>
      <p:sp>
        <p:nvSpPr>
          <p:cNvPr id="269" name="row0"/>
          <p:cNvSpPr/>
          <p:nvPr/>
        </p:nvSpPr>
        <p:spPr>
          <a:xfrm>
            <a:off x="2302920" y="1750000"/>
            <a:ext cx="9340000" cy="1100000"/>
          </a:xfrm>
          <a:prstGeom prst="roundRect">
            <a:avLst>
              <a:gd name="adj" fmla="val 6000"/>
            </a:avLst>
          </a:prstGeom>
          <a:solidFill>
            <a:srgbClr val="FCEAEA"/>
          </a:solidFill>
          <a:ln w="19050">
            <a:solidFill>
              <a:srgbClr val="C00000"/>
            </a:solidFill>
          </a:ln>
          <a:effectLst/>
        </p:spPr>
        <p:txBody>
          <a:bodyPr wrap="square" lIns="91440" tIns="45720" rIns="91440" bIns="45720" rtlCol="0" anchor="ctr">
            <a:noAutofit/>
          </a:bodyPr>
          <a:lstStyle/>
          <a:p>
            <a:endParaRPr/>
          </a:p>
        </p:txBody>
      </p:sp>
      <p:sp>
        <p:nvSpPr>
          <p:cNvPr id="270" name="t0"/>
          <p:cNvSpPr txBox="1"/>
          <p:nvPr/>
        </p:nvSpPr>
        <p:spPr>
          <a:xfrm>
            <a:off x="2502920" y="1830000"/>
            <a:ext cx="8940000" cy="94400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生脈波が低レートでしか出せない。</a:t>
            </a:r>
          </a:p>
          <a:p>
            <a:pPr algn="l">
              <a:lnSpc>
                <a:spcPct val="120000"/>
              </a:lnSpc>
            </a:pPr>
            <a:r>
              <a:rPr lang="ja-JP" altLang="en-US" sz="2200" b="1" dirty="0">
                <a:solidFill>
                  <a:srgbClr val="262626"/>
                </a:solidFill>
                <a:latin typeface="Meiryo"/>
                <a:ea typeface="Meiryo"/>
                <a:cs typeface="Meiryo"/>
              </a:rPr>
              <a:t>→ 研究用センサ併用に設計変更（部位差は交絡として明記）</a:t>
            </a:r>
          </a:p>
        </p:txBody>
      </p:sp>
      <p:sp>
        <p:nvSpPr>
          <p:cNvPr id="271" name="chip1"/>
          <p:cNvSpPr/>
          <p:nvPr/>
        </p:nvSpPr>
        <p:spPr>
          <a:xfrm>
            <a:off x="502920" y="2930000"/>
            <a:ext cx="1600000" cy="1100000"/>
          </a:xfrm>
          <a:prstGeom prst="roundRect">
            <a:avLst>
              <a:gd name="adj" fmla="val 6000"/>
            </a:avLst>
          </a:prstGeom>
          <a:solidFill>
            <a:srgbClr val="2E5395"/>
          </a:solidFill>
          <a:ln w="19050">
            <a:solidFill>
              <a:srgbClr val="2E5395"/>
            </a:solidFill>
          </a:ln>
          <a:effectLst/>
        </p:spPr>
        <p:txBody>
          <a:bodyPr wrap="square" lIns="91440" tIns="45720" rIns="91440" bIns="45720" rtlCol="0" anchor="ctr">
            <a:noAutofit/>
          </a:bodyPr>
          <a:lstStyle/>
          <a:p>
            <a:pPr algn="ctr">
              <a:lnSpc>
                <a:spcPct val="120000"/>
              </a:lnSpc>
            </a:pPr>
            <a:r>
              <a:rPr lang="ja-JP" altLang="en-US" sz="2400" b="1" dirty="0">
                <a:solidFill>
                  <a:srgbClr val="FFFFFF"/>
                </a:solidFill>
                <a:latin typeface="Meiryo"/>
                <a:ea typeface="Meiryo"/>
                <a:cs typeface="Meiryo"/>
              </a:rPr>
              <a:t>場面</a:t>
            </a:r>
          </a:p>
        </p:txBody>
      </p:sp>
      <p:sp>
        <p:nvSpPr>
          <p:cNvPr id="272" name="row1"/>
          <p:cNvSpPr/>
          <p:nvPr/>
        </p:nvSpPr>
        <p:spPr>
          <a:xfrm>
            <a:off x="2302920" y="2930000"/>
            <a:ext cx="9340000" cy="110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273" name="t1"/>
          <p:cNvSpPr txBox="1"/>
          <p:nvPr/>
        </p:nvSpPr>
        <p:spPr>
          <a:xfrm>
            <a:off x="2502920" y="3010000"/>
            <a:ext cx="8940000" cy="94400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昇圧薬使用時ほど灌流が落ちて波形が悪化。</a:t>
            </a:r>
          </a:p>
          <a:p>
            <a:pPr algn="l">
              <a:lnSpc>
                <a:spcPct val="120000"/>
              </a:lnSpc>
            </a:pPr>
            <a:r>
              <a:rPr lang="ja-JP" altLang="en-US" sz="2200" b="1" dirty="0">
                <a:solidFill>
                  <a:srgbClr val="262626"/>
                </a:solidFill>
                <a:latin typeface="Meiryo"/>
                <a:ea typeface="Meiryo"/>
                <a:cs typeface="Meiryo"/>
              </a:rPr>
              <a:t>→ 最も補正が要る場面で取れない。耳朶・額を検討。</a:t>
            </a:r>
          </a:p>
        </p:txBody>
      </p:sp>
      <p:sp>
        <p:nvSpPr>
          <p:cNvPr id="274" name="chip2"/>
          <p:cNvSpPr/>
          <p:nvPr/>
        </p:nvSpPr>
        <p:spPr>
          <a:xfrm>
            <a:off x="502920" y="4110000"/>
            <a:ext cx="1600000" cy="1100000"/>
          </a:xfrm>
          <a:prstGeom prst="roundRect">
            <a:avLst>
              <a:gd name="adj" fmla="val 6000"/>
            </a:avLst>
          </a:prstGeom>
          <a:solidFill>
            <a:srgbClr val="2E5395"/>
          </a:solidFill>
          <a:ln w="19050">
            <a:solidFill>
              <a:srgbClr val="2E5395"/>
            </a:solidFill>
          </a:ln>
          <a:effectLst/>
        </p:spPr>
        <p:txBody>
          <a:bodyPr wrap="square" lIns="91440" tIns="45720" rIns="91440" bIns="45720" rtlCol="0" anchor="ctr">
            <a:noAutofit/>
          </a:bodyPr>
          <a:lstStyle/>
          <a:p>
            <a:pPr algn="ctr">
              <a:lnSpc>
                <a:spcPct val="120000"/>
              </a:lnSpc>
            </a:pPr>
            <a:r>
              <a:rPr lang="ja-JP" altLang="en-US" sz="2400" b="1" dirty="0">
                <a:solidFill>
                  <a:srgbClr val="FFFFFF"/>
                </a:solidFill>
                <a:latin typeface="Meiryo"/>
                <a:ea typeface="Meiryo"/>
                <a:cs typeface="Meiryo"/>
              </a:rPr>
              <a:t>分解</a:t>
            </a:r>
          </a:p>
        </p:txBody>
      </p:sp>
      <p:sp>
        <p:nvSpPr>
          <p:cNvPr id="275" name="row2"/>
          <p:cNvSpPr/>
          <p:nvPr/>
        </p:nvSpPr>
        <p:spPr>
          <a:xfrm>
            <a:off x="2302920" y="4110000"/>
            <a:ext cx="9340000" cy="110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276" name="t2"/>
          <p:cNvSpPr txBox="1"/>
          <p:nvPr/>
        </p:nvSpPr>
        <p:spPr>
          <a:xfrm>
            <a:off x="2502920" y="4190000"/>
            <a:ext cx="8940000" cy="94400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2 カーネルでは P2 と P3 が分離しない。</a:t>
            </a:r>
          </a:p>
          <a:p>
            <a:pPr algn="l">
              <a:lnSpc>
                <a:spcPct val="120000"/>
              </a:lnSpc>
            </a:pPr>
            <a:r>
              <a:rPr lang="ja-JP" altLang="en-US" sz="2200" b="1" dirty="0">
                <a:solidFill>
                  <a:srgbClr val="262626"/>
                </a:solidFill>
                <a:latin typeface="Meiryo"/>
                <a:ea typeface="Meiryo"/>
                <a:cs typeface="Meiryo"/>
              </a:rPr>
              <a:t>→ 第 2 成分は両者の加重平均。3 カーネルを感度解析に</a:t>
            </a:r>
          </a:p>
        </p:txBody>
      </p:sp>
      <p:sp>
        <p:nvSpPr>
          <p:cNvPr id="277" name="chip3"/>
          <p:cNvSpPr/>
          <p:nvPr/>
        </p:nvSpPr>
        <p:spPr>
          <a:xfrm>
            <a:off x="502920" y="5290000"/>
            <a:ext cx="1600000" cy="1100000"/>
          </a:xfrm>
          <a:prstGeom prst="roundRect">
            <a:avLst>
              <a:gd name="adj" fmla="val 6000"/>
            </a:avLst>
          </a:prstGeom>
          <a:solidFill>
            <a:srgbClr val="2E5395"/>
          </a:solidFill>
          <a:ln w="19050">
            <a:solidFill>
              <a:srgbClr val="2E5395"/>
            </a:solidFill>
          </a:ln>
          <a:effectLst/>
        </p:spPr>
        <p:txBody>
          <a:bodyPr wrap="square" lIns="91440" tIns="45720" rIns="91440" bIns="45720" rtlCol="0" anchor="ctr">
            <a:noAutofit/>
          </a:bodyPr>
          <a:lstStyle/>
          <a:p>
            <a:pPr algn="ctr">
              <a:lnSpc>
                <a:spcPct val="120000"/>
              </a:lnSpc>
            </a:pPr>
            <a:r>
              <a:rPr lang="ja-JP" altLang="en-US" sz="2400" b="1" dirty="0">
                <a:solidFill>
                  <a:srgbClr val="FFFFFF"/>
                </a:solidFill>
                <a:latin typeface="Meiryo"/>
                <a:ea typeface="Meiryo"/>
                <a:cs typeface="Meiryo"/>
              </a:rPr>
              <a:t>基準</a:t>
            </a:r>
          </a:p>
        </p:txBody>
      </p:sp>
      <p:sp>
        <p:nvSpPr>
          <p:cNvPr id="278" name="row3"/>
          <p:cNvSpPr/>
          <p:nvPr/>
        </p:nvSpPr>
        <p:spPr>
          <a:xfrm>
            <a:off x="2302920" y="5290000"/>
            <a:ext cx="9340000" cy="110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279" name="t3"/>
          <p:cNvSpPr txBox="1"/>
          <p:nvPr/>
        </p:nvSpPr>
        <p:spPr>
          <a:xfrm>
            <a:off x="2502920" y="5370000"/>
            <a:ext cx="8940000" cy="94400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熱希釈自体に 10〜20% の誤差がある。</a:t>
            </a:r>
          </a:p>
          <a:p>
            <a:pPr algn="l">
              <a:lnSpc>
                <a:spcPct val="120000"/>
              </a:lnSpc>
            </a:pPr>
            <a:r>
              <a:rPr lang="ja-JP" altLang="en-US" sz="2200" b="1" dirty="0">
                <a:solidFill>
                  <a:srgbClr val="262626"/>
                </a:solidFill>
                <a:latin typeface="Meiryo"/>
                <a:ea typeface="Meiryo"/>
                <a:cs typeface="Meiryo"/>
              </a:rPr>
              <a:t>→ 誤差率の下限を作る。3 回反復で精度を担保。</a:t>
            </a:r>
          </a:p>
        </p:txBody>
      </p:sp>
      <p:sp>
        <p:nvSpPr>
          <p:cNvPr id="280"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281"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282"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283"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284"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85" name="Off-page Connector 4">
            <a:extLst>
              <a:ext uri="{FF2B5EF4-FFF2-40B4-BE49-F238E27FC236}">
                <a16:creationId xmlns:a16="http://schemas.microsoft.com/office/drawing/2014/main" id="{AA9D36CE-3772-F005-B54C-9329ADA7F086}"/>
              </a:ext>
            </a:extLst>
          </p:cNvPr>
          <p:cNvSpPr/>
          <p:nvPr/>
        </p:nvSpPr>
        <p:spPr>
          <a:xfrm>
            <a:off x="1151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6</a:t>
            </a:r>
          </a:p>
          <a:p>
            <a:pPr algn="ctr"/>
            <a:r>
              <a:rPr sz="1050" b="1">
                <a:solidFill>
                  <a:srgbClr val="FFFFFF"/>
                </a:solidFill>
                <a:latin typeface="Meiryo"/>
                <a:ea typeface="Meiryo"/>
                <a:cs typeface="Meiryo"/>
              </a:rPr>
              <a:t>提案</a:t>
            </a:r>
          </a:p>
        </p:txBody>
      </p:sp>
      <p:sp>
        <p:nvSpPr>
          <p:cNvPr id="28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111/118</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6.  提案のまとめ</a:t>
            </a:r>
          </a:p>
        </p:txBody>
      </p:sp>
      <p:sp>
        <p:nvSpPr>
          <p:cNvPr id="284" name="Source"/>
          <p:cNvSpPr txBox="1"/>
          <p:nvPr/>
        </p:nvSpPr>
        <p:spPr>
          <a:xfrm>
            <a:off x="720000" y="6606000"/>
            <a:ext cx="10881360" cy="200000"/>
          </a:xfrm>
          <a:prstGeom prst="rect">
            <a:avLst/>
          </a:prstGeom>
          <a:noFill/>
        </p:spPr>
        <p:txBody>
          <a:bodyPr wrap="square" lIns="0" tIns="0" rIns="0" bIns="0" anchor="t">
            <a:spAutoFit/>
          </a:bodyPr>
          <a:lstStyle/>
          <a:p>
            <a:pPr algn="l"/>
            <a:r>
              <a:rPr sz="1050">
                <a:solidFill>
                  <a:srgbClr val="808080"/>
                </a:solidFill>
                <a:latin typeface="Meiryo"/>
                <a:ea typeface="Meiryo"/>
                <a:cs typeface="Meiryo"/>
              </a:rPr>
              <a:t>49. Yamada 2012　／　53. Magliocca 2018</a:t>
            </a:r>
          </a:p>
        </p:txBody>
      </p:sp>
      <p:sp>
        <p:nvSpPr>
          <p:cNvPr id="286" name="c0-bg"/>
          <p:cNvSpPr/>
          <p:nvPr/>
        </p:nvSpPr>
        <p:spPr>
          <a:xfrm>
            <a:off x="502920" y="1780000"/>
            <a:ext cx="3560933" cy="215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287" name="c0-t"/>
          <p:cNvSpPr txBox="1"/>
          <p:nvPr/>
        </p:nvSpPr>
        <p:spPr>
          <a:xfrm>
            <a:off x="702920" y="1930000"/>
            <a:ext cx="3160933" cy="480000"/>
          </a:xfrm>
          <a:prstGeom prst="rect">
            <a:avLst/>
          </a:prstGeom>
          <a:noFill/>
        </p:spPr>
        <p:txBody>
          <a:bodyPr wrap="square" lIns="0" tIns="0" rIns="0" bIns="0" anchor="t">
            <a:noAutofit/>
          </a:bodyPr>
          <a:lstStyle/>
          <a:p>
            <a:pPr algn="ctr">
              <a:lnSpc>
                <a:spcPct val="120000"/>
              </a:lnSpc>
            </a:pPr>
            <a:r>
              <a:rPr lang="ja-JP" altLang="en-US" sz="2400" b="1" dirty="0">
                <a:solidFill>
                  <a:srgbClr val="2E5395"/>
                </a:solidFill>
                <a:latin typeface="Meiryo"/>
                <a:ea typeface="Meiryo"/>
                <a:cs typeface="Meiryo"/>
              </a:rPr>
              <a:t>① 説明できる誤差</a:t>
            </a:r>
          </a:p>
        </p:txBody>
      </p:sp>
      <p:sp>
        <p:nvSpPr>
          <p:cNvPr id="288" name="c0-b"/>
          <p:cNvSpPr txBox="1"/>
          <p:nvPr/>
        </p:nvSpPr>
        <p:spPr>
          <a:xfrm>
            <a:off x="702920" y="2480000"/>
            <a:ext cx="3160933"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SVR・Ea と相関</a:t>
            </a:r>
          </a:p>
          <a:p>
            <a:pPr algn="l">
              <a:lnSpc>
                <a:spcPct val="120000"/>
              </a:lnSpc>
            </a:pPr>
            <a:r>
              <a:rPr lang="ja-JP" altLang="en-US" sz="2200" b="1" dirty="0">
                <a:solidFill>
                  <a:srgbClr val="262626"/>
                </a:solidFill>
                <a:latin typeface="Meiryo"/>
                <a:ea typeface="Meiryo"/>
                <a:cs typeface="Meiryo"/>
              </a:rPr>
              <a:t>＝ 補正の余地</a:t>
            </a:r>
          </a:p>
        </p:txBody>
      </p:sp>
      <p:sp>
        <p:nvSpPr>
          <p:cNvPr id="289" name="c1-bg"/>
          <p:cNvSpPr/>
          <p:nvPr/>
        </p:nvSpPr>
        <p:spPr>
          <a:xfrm>
            <a:off x="4292453" y="1780000"/>
            <a:ext cx="3560933" cy="2150000"/>
          </a:xfrm>
          <a:prstGeom prst="roundRect">
            <a:avLst>
              <a:gd name="adj" fmla="val 6000"/>
            </a:avLst>
          </a:prstGeom>
          <a:solidFill>
            <a:srgbClr val="FDF0E6"/>
          </a:solidFill>
          <a:ln w="19050">
            <a:solidFill>
              <a:srgbClr val="C55A11"/>
            </a:solidFill>
          </a:ln>
          <a:effectLst/>
        </p:spPr>
        <p:txBody>
          <a:bodyPr wrap="square" lIns="91440" tIns="45720" rIns="91440" bIns="45720" rtlCol="0" anchor="ctr">
            <a:noAutofit/>
          </a:bodyPr>
          <a:lstStyle/>
          <a:p>
            <a:endParaRPr/>
          </a:p>
        </p:txBody>
      </p:sp>
      <p:sp>
        <p:nvSpPr>
          <p:cNvPr id="290" name="c1-t"/>
          <p:cNvSpPr txBox="1"/>
          <p:nvPr/>
        </p:nvSpPr>
        <p:spPr>
          <a:xfrm>
            <a:off x="4492453" y="1930000"/>
            <a:ext cx="3160933" cy="480000"/>
          </a:xfrm>
          <a:prstGeom prst="rect">
            <a:avLst/>
          </a:prstGeom>
          <a:noFill/>
        </p:spPr>
        <p:txBody>
          <a:bodyPr wrap="square" lIns="0" tIns="0" rIns="0" bIns="0" anchor="t">
            <a:noAutofit/>
          </a:bodyPr>
          <a:lstStyle/>
          <a:p>
            <a:pPr algn="ctr">
              <a:lnSpc>
                <a:spcPct val="120000"/>
              </a:lnSpc>
            </a:pPr>
            <a:r>
              <a:rPr lang="ja-JP" altLang="en-US" sz="2400" b="1" dirty="0">
                <a:solidFill>
                  <a:srgbClr val="C55A11"/>
                </a:solidFill>
                <a:latin typeface="Meiryo"/>
                <a:ea typeface="Meiryo"/>
                <a:cs typeface="Meiryo"/>
              </a:rPr>
              <a:t>② 同じ波形から</a:t>
            </a:r>
          </a:p>
        </p:txBody>
      </p:sp>
      <p:sp>
        <p:nvSpPr>
          <p:cNvPr id="291" name="c1-b"/>
          <p:cNvSpPr txBox="1"/>
          <p:nvPr/>
        </p:nvSpPr>
        <p:spPr>
          <a:xfrm>
            <a:off x="4492453" y="2480000"/>
            <a:ext cx="3160933"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SI ＝ スティフネス</a:t>
            </a:r>
          </a:p>
          <a:p>
            <a:pPr algn="l">
              <a:lnSpc>
                <a:spcPct val="120000"/>
              </a:lnSpc>
            </a:pPr>
            <a:r>
              <a:rPr lang="ja-JP" altLang="en-US" sz="2200" b="1" dirty="0">
                <a:solidFill>
                  <a:srgbClr val="262626"/>
                </a:solidFill>
                <a:latin typeface="Meiryo"/>
                <a:ea typeface="Meiryo"/>
                <a:cs typeface="Meiryo"/>
              </a:rPr>
              <a:t>RI ＝ トーヌス</a:t>
            </a:r>
          </a:p>
        </p:txBody>
      </p:sp>
      <p:sp>
        <p:nvSpPr>
          <p:cNvPr id="292" name="c2-bg"/>
          <p:cNvSpPr/>
          <p:nvPr/>
        </p:nvSpPr>
        <p:spPr>
          <a:xfrm>
            <a:off x="8081986" y="1780000"/>
            <a:ext cx="3560933" cy="2150000"/>
          </a:xfrm>
          <a:prstGeom prst="roundRect">
            <a:avLst>
              <a:gd name="adj" fmla="val 6000"/>
            </a:avLst>
          </a:prstGeom>
          <a:solidFill>
            <a:srgbClr val="E4F5F5"/>
          </a:solidFill>
          <a:ln w="19050">
            <a:solidFill>
              <a:srgbClr val="00A8AA"/>
            </a:solidFill>
          </a:ln>
          <a:effectLst/>
        </p:spPr>
        <p:txBody>
          <a:bodyPr wrap="square" lIns="91440" tIns="45720" rIns="91440" bIns="45720" rtlCol="0" anchor="ctr">
            <a:noAutofit/>
          </a:bodyPr>
          <a:lstStyle/>
          <a:p>
            <a:endParaRPr/>
          </a:p>
        </p:txBody>
      </p:sp>
      <p:sp>
        <p:nvSpPr>
          <p:cNvPr id="293" name="c2-t"/>
          <p:cNvSpPr txBox="1"/>
          <p:nvPr/>
        </p:nvSpPr>
        <p:spPr>
          <a:xfrm>
            <a:off x="8281986" y="1930000"/>
            <a:ext cx="3160933" cy="480000"/>
          </a:xfrm>
          <a:prstGeom prst="rect">
            <a:avLst/>
          </a:prstGeom>
          <a:noFill/>
        </p:spPr>
        <p:txBody>
          <a:bodyPr wrap="square" lIns="0" tIns="0" rIns="0" bIns="0" anchor="t">
            <a:noAutofit/>
          </a:bodyPr>
          <a:lstStyle/>
          <a:p>
            <a:pPr algn="ctr">
              <a:lnSpc>
                <a:spcPct val="120000"/>
              </a:lnSpc>
            </a:pPr>
            <a:r>
              <a:rPr lang="ja-JP" altLang="en-US" sz="2400" b="1" dirty="0">
                <a:solidFill>
                  <a:srgbClr val="00A8AA"/>
                </a:solidFill>
                <a:latin typeface="Meiryo"/>
                <a:ea typeface="Meiryo"/>
                <a:cs typeface="Meiryo"/>
              </a:rPr>
              <a:t>③ 提案</a:t>
            </a:r>
          </a:p>
        </p:txBody>
      </p:sp>
      <p:sp>
        <p:nvSpPr>
          <p:cNvPr id="294" name="c2-b"/>
          <p:cNvSpPr txBox="1"/>
          <p:nvPr/>
        </p:nvSpPr>
        <p:spPr>
          <a:xfrm>
            <a:off x="8281986" y="2480000"/>
            <a:ext cx="3160933"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K を SI・RI で補正</a:t>
            </a:r>
          </a:p>
          <a:p>
            <a:pPr algn="l">
              <a:lnSpc>
                <a:spcPct val="120000"/>
              </a:lnSpc>
            </a:pPr>
            <a:r>
              <a:rPr lang="ja-JP" altLang="en-US" sz="2200" b="1" dirty="0">
                <a:solidFill>
                  <a:srgbClr val="262626"/>
                </a:solidFill>
                <a:latin typeface="Meiryo"/>
                <a:ea typeface="Meiryo"/>
                <a:cs typeface="Meiryo"/>
              </a:rPr>
              <a:t>形で 時間 を較正</a:t>
            </a:r>
          </a:p>
        </p:txBody>
      </p:sp>
      <p:sp>
        <p:nvSpPr>
          <p:cNvPr id="295" name="b1"/>
          <p:cNvSpPr/>
          <p:nvPr/>
        </p:nvSpPr>
        <p:spPr>
          <a:xfrm>
            <a:off x="502920" y="4080000"/>
            <a:ext cx="11140000" cy="900000"/>
          </a:xfrm>
          <a:prstGeom prst="roundRect">
            <a:avLst>
              <a:gd name="adj" fmla="val 4000"/>
            </a:avLst>
          </a:prstGeom>
          <a:solidFill>
            <a:srgbClr val="FFF3D6"/>
          </a:solidFill>
          <a:ln w="28575">
            <a:solidFill>
              <a:srgbClr val="BF9000"/>
            </a:solidFill>
          </a:ln>
          <a:effectLst/>
        </p:spPr>
        <p:txBody>
          <a:bodyPr wrap="square" lIns="91440" tIns="45720" rIns="91440" bIns="45720" rtlCol="0" anchor="ctr">
            <a:noAutofit/>
          </a:bodyPr>
          <a:lstStyle/>
          <a:p>
            <a:pPr algn="ctr">
              <a:lnSpc>
                <a:spcPct val="120000"/>
              </a:lnSpc>
            </a:pPr>
            <a:r>
              <a:rPr lang="ja-JP" altLang="en-US" sz="2400" b="1" dirty="0">
                <a:solidFill>
                  <a:srgbClr val="262626"/>
                </a:solidFill>
                <a:latin typeface="Meiryo"/>
                <a:ea typeface="Meiryo"/>
                <a:cs typeface="Meiryo"/>
              </a:rPr>
              <a:t>次の一歩 ― 実波形で SI・RI が取れるかの確認。</a:t>
            </a:r>
          </a:p>
        </p:txBody>
      </p:sp>
      <p:sp>
        <p:nvSpPr>
          <p:cNvPr id="296" name="b2"/>
          <p:cNvSpPr/>
          <p:nvPr/>
        </p:nvSpPr>
        <p:spPr>
          <a:xfrm>
            <a:off x="502920" y="5130000"/>
            <a:ext cx="11140000" cy="900000"/>
          </a:xfrm>
          <a:prstGeom prst="roundRect">
            <a:avLst>
              <a:gd name="adj" fmla="val 4000"/>
            </a:avLst>
          </a:prstGeom>
          <a:solidFill>
            <a:srgbClr val="FCEAEA"/>
          </a:solidFill>
          <a:ln w="28575">
            <a:solidFill>
              <a:srgbClr val="C00000"/>
            </a:solidFill>
          </a:ln>
          <a:effectLst/>
        </p:spPr>
        <p:txBody>
          <a:bodyPr wrap="square" lIns="91440" tIns="45720" rIns="91440" bIns="45720" rtlCol="0" anchor="ctr">
            <a:noAutofit/>
          </a:bodyPr>
          <a:lstStyle/>
          <a:p>
            <a:pPr algn="ctr">
              <a:lnSpc>
                <a:spcPct val="120000"/>
              </a:lnSpc>
            </a:pPr>
            <a:r>
              <a:rPr lang="ja-JP" altLang="en-US" sz="2200" b="1" dirty="0">
                <a:solidFill>
                  <a:srgbClr val="C00000"/>
                </a:solidFill>
                <a:latin typeface="Meiryo"/>
                <a:ea typeface="Meiryo"/>
                <a:cs typeface="Meiryo"/>
              </a:rPr>
              <a:t>本提案は未検証の作業仮説であり、臨床使用を意図しない。</a:t>
            </a:r>
          </a:p>
        </p:txBody>
      </p:sp>
      <p:sp>
        <p:nvSpPr>
          <p:cNvPr id="297"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112/118</a:t>
            </a:r>
          </a:p>
        </p:txBody>
      </p:sp>
      <p:sp>
        <p:nvSpPr>
          <p:cNvPr id="298"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299"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300"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301"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302"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303" name="Off-page Connector 4">
            <a:extLst>
              <a:ext uri="{FF2B5EF4-FFF2-40B4-BE49-F238E27FC236}">
                <a16:creationId xmlns:a16="http://schemas.microsoft.com/office/drawing/2014/main" id="{AA9D36CE-3772-F005-B54C-9329ADA7F086}"/>
              </a:ext>
            </a:extLst>
          </p:cNvPr>
          <p:cNvSpPr/>
          <p:nvPr/>
        </p:nvSpPr>
        <p:spPr>
          <a:xfrm>
            <a:off x="1151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6</a:t>
            </a:r>
          </a:p>
          <a:p>
            <a:pPr algn="ctr"/>
            <a:r>
              <a:rPr sz="1050" b="1">
                <a:solidFill>
                  <a:srgbClr val="FFFFFF"/>
                </a:solidFill>
                <a:latin typeface="Meiryo"/>
                <a:ea typeface="Meiryo"/>
                <a:cs typeface="Meiryo"/>
              </a:rPr>
              <a:t>提案</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C379B-E343-2B07-6603-567FBC4F53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CE17A6-E985-57C5-90AE-1B9DD7FF08FF}"/>
              </a:ext>
            </a:extLst>
          </p:cNvPr>
          <p:cNvSpPr>
            <a:spLocks noGrp="1"/>
          </p:cNvSpPr>
          <p:nvPr>
            <p:ph type="title"/>
          </p:nvPr>
        </p:nvSpPr>
        <p:spPr/>
        <p:txBody>
          <a:bodyPr/>
          <a:lstStyle/>
          <a:p>
            <a:pPr algn="l"/>
            <a:r>
              <a:rPr sz="4600" dirty="0">
                <a:latin typeface="Meiryo"/>
                <a:ea typeface="Meiryo"/>
                <a:cs typeface="Meiryo"/>
              </a:rPr>
              <a:t>6.  提案のまとめ</a:t>
            </a:r>
          </a:p>
        </p:txBody>
      </p:sp>
      <p:sp>
        <p:nvSpPr>
          <p:cNvPr id="284" name="Source">
            <a:extLst>
              <a:ext uri="{FF2B5EF4-FFF2-40B4-BE49-F238E27FC236}">
                <a16:creationId xmlns:a16="http://schemas.microsoft.com/office/drawing/2014/main" id="{94B2609C-0460-6DA8-62E6-4451E2655B3C}"/>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a:solidFill>
                  <a:srgbClr val="808080"/>
                </a:solidFill>
                <a:latin typeface="Meiryo"/>
                <a:ea typeface="Meiryo"/>
                <a:cs typeface="Meiryo"/>
              </a:rPr>
              <a:t>49. Yamada 2012　／　53. Magliocca 2018</a:t>
            </a:r>
          </a:p>
        </p:txBody>
      </p:sp>
      <p:sp>
        <p:nvSpPr>
          <p:cNvPr id="286" name="c0-bg">
            <a:extLst>
              <a:ext uri="{FF2B5EF4-FFF2-40B4-BE49-F238E27FC236}">
                <a16:creationId xmlns:a16="http://schemas.microsoft.com/office/drawing/2014/main" id="{BE74C31A-DF2B-E131-A692-758F956FC607}"/>
              </a:ext>
            </a:extLst>
          </p:cNvPr>
          <p:cNvSpPr/>
          <p:nvPr/>
        </p:nvSpPr>
        <p:spPr>
          <a:xfrm>
            <a:off x="526000" y="2781485"/>
            <a:ext cx="3560933" cy="2150000"/>
          </a:xfrm>
          <a:prstGeom prst="roundRect">
            <a:avLst>
              <a:gd name="adj" fmla="val 6000"/>
            </a:avLst>
          </a:prstGeom>
          <a:solidFill>
            <a:srgbClr val="EAF0F8"/>
          </a:solidFill>
          <a:ln w="19050">
            <a:solidFill>
              <a:srgbClr val="2E5395"/>
            </a:solidFill>
          </a:ln>
          <a:effectLst/>
        </p:spPr>
        <p:txBody>
          <a:bodyPr wrap="square" lIns="91440" tIns="45720" rIns="91440" bIns="45720" rtlCol="0" anchor="ctr">
            <a:noAutofit/>
          </a:bodyPr>
          <a:lstStyle/>
          <a:p>
            <a:endParaRPr/>
          </a:p>
        </p:txBody>
      </p:sp>
      <p:sp>
        <p:nvSpPr>
          <p:cNvPr id="287" name="c0-t">
            <a:extLst>
              <a:ext uri="{FF2B5EF4-FFF2-40B4-BE49-F238E27FC236}">
                <a16:creationId xmlns:a16="http://schemas.microsoft.com/office/drawing/2014/main" id="{2D31A7F6-0F71-D8E7-0254-375907D7350E}"/>
              </a:ext>
            </a:extLst>
          </p:cNvPr>
          <p:cNvSpPr txBox="1"/>
          <p:nvPr/>
        </p:nvSpPr>
        <p:spPr>
          <a:xfrm>
            <a:off x="726000" y="2931485"/>
            <a:ext cx="3160933" cy="480000"/>
          </a:xfrm>
          <a:prstGeom prst="rect">
            <a:avLst/>
          </a:prstGeom>
          <a:noFill/>
        </p:spPr>
        <p:txBody>
          <a:bodyPr wrap="square" lIns="0" tIns="0" rIns="0" bIns="0" anchor="t">
            <a:noAutofit/>
          </a:bodyPr>
          <a:lstStyle/>
          <a:p>
            <a:pPr algn="ctr">
              <a:lnSpc>
                <a:spcPct val="120000"/>
              </a:lnSpc>
            </a:pPr>
            <a:r>
              <a:rPr lang="ja-JP" altLang="en-US" sz="2400" b="1" dirty="0">
                <a:solidFill>
                  <a:srgbClr val="2E5395"/>
                </a:solidFill>
                <a:latin typeface="Meiryo"/>
                <a:ea typeface="Meiryo"/>
                <a:cs typeface="Meiryo"/>
              </a:rPr>
              <a:t>① 説明できる誤差</a:t>
            </a:r>
          </a:p>
        </p:txBody>
      </p:sp>
      <p:sp>
        <p:nvSpPr>
          <p:cNvPr id="288" name="c0-b">
            <a:extLst>
              <a:ext uri="{FF2B5EF4-FFF2-40B4-BE49-F238E27FC236}">
                <a16:creationId xmlns:a16="http://schemas.microsoft.com/office/drawing/2014/main" id="{28F88F0C-B61A-7F5E-64D7-87C84D199B6B}"/>
              </a:ext>
            </a:extLst>
          </p:cNvPr>
          <p:cNvSpPr txBox="1"/>
          <p:nvPr/>
        </p:nvSpPr>
        <p:spPr>
          <a:xfrm>
            <a:off x="726000" y="3481485"/>
            <a:ext cx="3160933"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SVR・Ea と相関</a:t>
            </a:r>
          </a:p>
          <a:p>
            <a:pPr algn="l">
              <a:lnSpc>
                <a:spcPct val="120000"/>
              </a:lnSpc>
            </a:pPr>
            <a:r>
              <a:rPr lang="ja-JP" altLang="en-US" sz="2200" b="1" dirty="0">
                <a:solidFill>
                  <a:srgbClr val="262626"/>
                </a:solidFill>
                <a:latin typeface="Meiryo"/>
                <a:ea typeface="Meiryo"/>
                <a:cs typeface="Meiryo"/>
              </a:rPr>
              <a:t>＝ 補正の余地</a:t>
            </a:r>
          </a:p>
        </p:txBody>
      </p:sp>
      <p:sp>
        <p:nvSpPr>
          <p:cNvPr id="289" name="c1-bg">
            <a:extLst>
              <a:ext uri="{FF2B5EF4-FFF2-40B4-BE49-F238E27FC236}">
                <a16:creationId xmlns:a16="http://schemas.microsoft.com/office/drawing/2014/main" id="{B2126F63-B85D-369E-B278-46FD0313145A}"/>
              </a:ext>
            </a:extLst>
          </p:cNvPr>
          <p:cNvSpPr/>
          <p:nvPr/>
        </p:nvSpPr>
        <p:spPr>
          <a:xfrm>
            <a:off x="4315533" y="2781485"/>
            <a:ext cx="3560933" cy="2150000"/>
          </a:xfrm>
          <a:prstGeom prst="roundRect">
            <a:avLst>
              <a:gd name="adj" fmla="val 6000"/>
            </a:avLst>
          </a:prstGeom>
          <a:solidFill>
            <a:srgbClr val="FDF0E6"/>
          </a:solidFill>
          <a:ln w="19050">
            <a:solidFill>
              <a:srgbClr val="C55A11"/>
            </a:solidFill>
          </a:ln>
          <a:effectLst/>
        </p:spPr>
        <p:txBody>
          <a:bodyPr wrap="square" lIns="91440" tIns="45720" rIns="91440" bIns="45720" rtlCol="0" anchor="ctr">
            <a:noAutofit/>
          </a:bodyPr>
          <a:lstStyle/>
          <a:p>
            <a:endParaRPr/>
          </a:p>
        </p:txBody>
      </p:sp>
      <p:sp>
        <p:nvSpPr>
          <p:cNvPr id="290" name="c1-t">
            <a:extLst>
              <a:ext uri="{FF2B5EF4-FFF2-40B4-BE49-F238E27FC236}">
                <a16:creationId xmlns:a16="http://schemas.microsoft.com/office/drawing/2014/main" id="{5F78D44A-3D0D-3A7C-869C-38D2AB004815}"/>
              </a:ext>
            </a:extLst>
          </p:cNvPr>
          <p:cNvSpPr txBox="1"/>
          <p:nvPr/>
        </p:nvSpPr>
        <p:spPr>
          <a:xfrm>
            <a:off x="4515533" y="2931485"/>
            <a:ext cx="3160933" cy="480000"/>
          </a:xfrm>
          <a:prstGeom prst="rect">
            <a:avLst/>
          </a:prstGeom>
          <a:noFill/>
        </p:spPr>
        <p:txBody>
          <a:bodyPr wrap="square" lIns="0" tIns="0" rIns="0" bIns="0" anchor="t">
            <a:noAutofit/>
          </a:bodyPr>
          <a:lstStyle/>
          <a:p>
            <a:pPr algn="ctr">
              <a:lnSpc>
                <a:spcPct val="120000"/>
              </a:lnSpc>
            </a:pPr>
            <a:r>
              <a:rPr lang="ja-JP" altLang="en-US" sz="2400" b="1" dirty="0">
                <a:solidFill>
                  <a:srgbClr val="C55A11"/>
                </a:solidFill>
                <a:latin typeface="Meiryo"/>
                <a:ea typeface="Meiryo"/>
                <a:cs typeface="Meiryo"/>
              </a:rPr>
              <a:t>② 同じ波形から</a:t>
            </a:r>
          </a:p>
        </p:txBody>
      </p:sp>
      <p:sp>
        <p:nvSpPr>
          <p:cNvPr id="291" name="c1-b">
            <a:extLst>
              <a:ext uri="{FF2B5EF4-FFF2-40B4-BE49-F238E27FC236}">
                <a16:creationId xmlns:a16="http://schemas.microsoft.com/office/drawing/2014/main" id="{5FEF99C4-A33E-899C-71A4-780328AADD7A}"/>
              </a:ext>
            </a:extLst>
          </p:cNvPr>
          <p:cNvSpPr txBox="1"/>
          <p:nvPr/>
        </p:nvSpPr>
        <p:spPr>
          <a:xfrm>
            <a:off x="4515533" y="3481485"/>
            <a:ext cx="3160933"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SI ＝ スティフネス</a:t>
            </a:r>
          </a:p>
          <a:p>
            <a:pPr algn="l">
              <a:lnSpc>
                <a:spcPct val="120000"/>
              </a:lnSpc>
            </a:pPr>
            <a:r>
              <a:rPr lang="ja-JP" altLang="en-US" sz="2200" b="1" dirty="0">
                <a:solidFill>
                  <a:srgbClr val="262626"/>
                </a:solidFill>
                <a:latin typeface="Meiryo"/>
                <a:ea typeface="Meiryo"/>
                <a:cs typeface="Meiryo"/>
              </a:rPr>
              <a:t>RI </a:t>
            </a:r>
            <a:r>
              <a:rPr lang="ja-JP" altLang="en-US" sz="2200" b="1">
                <a:solidFill>
                  <a:srgbClr val="262626"/>
                </a:solidFill>
                <a:latin typeface="Meiryo"/>
                <a:ea typeface="Meiryo"/>
                <a:cs typeface="Meiryo"/>
              </a:rPr>
              <a:t>＝ トーヌス</a:t>
            </a:r>
            <a:endParaRPr lang="en-US" altLang="ja-JP" sz="2200" b="1" dirty="0">
              <a:solidFill>
                <a:srgbClr val="262626"/>
              </a:solidFill>
              <a:latin typeface="Meiryo"/>
              <a:ea typeface="Meiryo"/>
              <a:cs typeface="Meiryo"/>
            </a:endParaRPr>
          </a:p>
          <a:p>
            <a:pPr algn="l">
              <a:lnSpc>
                <a:spcPct val="120000"/>
              </a:lnSpc>
            </a:pPr>
            <a:r>
              <a:rPr lang="en-US" altLang="ja-JP" sz="2200" b="1" dirty="0">
                <a:solidFill>
                  <a:srgbClr val="262626"/>
                </a:solidFill>
                <a:latin typeface="Meiryo"/>
                <a:ea typeface="Meiryo"/>
                <a:cs typeface="Meiryo"/>
              </a:rPr>
              <a:t>PDA</a:t>
            </a:r>
            <a:r>
              <a:rPr lang="ja-JP" altLang="en-US" sz="2200" b="1">
                <a:solidFill>
                  <a:srgbClr val="262626"/>
                </a:solidFill>
                <a:latin typeface="Meiryo"/>
                <a:ea typeface="Meiryo"/>
                <a:cs typeface="Meiryo"/>
              </a:rPr>
              <a:t>による取得も目指す</a:t>
            </a:r>
            <a:endParaRPr lang="ja-JP" altLang="en-US" sz="2200" b="1" dirty="0">
              <a:solidFill>
                <a:srgbClr val="262626"/>
              </a:solidFill>
              <a:latin typeface="Meiryo"/>
              <a:ea typeface="Meiryo"/>
              <a:cs typeface="Meiryo"/>
            </a:endParaRPr>
          </a:p>
        </p:txBody>
      </p:sp>
      <p:sp>
        <p:nvSpPr>
          <p:cNvPr id="292" name="c2-bg">
            <a:extLst>
              <a:ext uri="{FF2B5EF4-FFF2-40B4-BE49-F238E27FC236}">
                <a16:creationId xmlns:a16="http://schemas.microsoft.com/office/drawing/2014/main" id="{F095B58D-B2F0-5E05-98AE-9EDE7CF10D8D}"/>
              </a:ext>
            </a:extLst>
          </p:cNvPr>
          <p:cNvSpPr/>
          <p:nvPr/>
        </p:nvSpPr>
        <p:spPr>
          <a:xfrm>
            <a:off x="8105066" y="2781485"/>
            <a:ext cx="3560933" cy="2150000"/>
          </a:xfrm>
          <a:prstGeom prst="roundRect">
            <a:avLst>
              <a:gd name="adj" fmla="val 6000"/>
            </a:avLst>
          </a:prstGeom>
          <a:solidFill>
            <a:srgbClr val="E4F5F5"/>
          </a:solidFill>
          <a:ln w="19050">
            <a:solidFill>
              <a:srgbClr val="00A8AA"/>
            </a:solidFill>
          </a:ln>
          <a:effectLst/>
        </p:spPr>
        <p:txBody>
          <a:bodyPr wrap="square" lIns="91440" tIns="45720" rIns="91440" bIns="45720" rtlCol="0" anchor="ctr">
            <a:noAutofit/>
          </a:bodyPr>
          <a:lstStyle/>
          <a:p>
            <a:endParaRPr/>
          </a:p>
        </p:txBody>
      </p:sp>
      <p:sp>
        <p:nvSpPr>
          <p:cNvPr id="293" name="c2-t">
            <a:extLst>
              <a:ext uri="{FF2B5EF4-FFF2-40B4-BE49-F238E27FC236}">
                <a16:creationId xmlns:a16="http://schemas.microsoft.com/office/drawing/2014/main" id="{BB86704F-0887-25A9-BADE-D15BD1D11282}"/>
              </a:ext>
            </a:extLst>
          </p:cNvPr>
          <p:cNvSpPr txBox="1"/>
          <p:nvPr/>
        </p:nvSpPr>
        <p:spPr>
          <a:xfrm>
            <a:off x="8305066" y="2931485"/>
            <a:ext cx="3160933" cy="480000"/>
          </a:xfrm>
          <a:prstGeom prst="rect">
            <a:avLst/>
          </a:prstGeom>
          <a:noFill/>
        </p:spPr>
        <p:txBody>
          <a:bodyPr wrap="square" lIns="0" tIns="0" rIns="0" bIns="0" anchor="t">
            <a:noAutofit/>
          </a:bodyPr>
          <a:lstStyle/>
          <a:p>
            <a:pPr algn="ctr">
              <a:lnSpc>
                <a:spcPct val="120000"/>
              </a:lnSpc>
            </a:pPr>
            <a:r>
              <a:rPr lang="ja-JP" altLang="en-US" sz="2400" b="1" dirty="0">
                <a:solidFill>
                  <a:srgbClr val="00A8AA"/>
                </a:solidFill>
                <a:latin typeface="Meiryo"/>
                <a:ea typeface="Meiryo"/>
                <a:cs typeface="Meiryo"/>
              </a:rPr>
              <a:t>③ 提案</a:t>
            </a:r>
          </a:p>
        </p:txBody>
      </p:sp>
      <p:sp>
        <p:nvSpPr>
          <p:cNvPr id="294" name="c2-b">
            <a:extLst>
              <a:ext uri="{FF2B5EF4-FFF2-40B4-BE49-F238E27FC236}">
                <a16:creationId xmlns:a16="http://schemas.microsoft.com/office/drawing/2014/main" id="{E2BC0CBA-B998-5703-1088-8F6841B0FD41}"/>
              </a:ext>
            </a:extLst>
          </p:cNvPr>
          <p:cNvSpPr txBox="1"/>
          <p:nvPr/>
        </p:nvSpPr>
        <p:spPr>
          <a:xfrm>
            <a:off x="8305066" y="3481485"/>
            <a:ext cx="3160933" cy="943660"/>
          </a:xfrm>
          <a:prstGeom prst="rect">
            <a:avLst/>
          </a:prstGeom>
          <a:noFill/>
        </p:spPr>
        <p:txBody>
          <a:bodyPr wrap="square" lIns="0" tIns="0" rIns="0" bIns="0" anchor="t">
            <a:noAutofit/>
          </a:bodyPr>
          <a:lstStyle/>
          <a:p>
            <a:pPr algn="l">
              <a:lnSpc>
                <a:spcPct val="120000"/>
              </a:lnSpc>
            </a:pPr>
            <a:r>
              <a:rPr lang="ja-JP" altLang="en-US" sz="2200" b="1" dirty="0">
                <a:solidFill>
                  <a:srgbClr val="262626"/>
                </a:solidFill>
                <a:latin typeface="Meiryo"/>
                <a:ea typeface="Meiryo"/>
                <a:cs typeface="Meiryo"/>
              </a:rPr>
              <a:t>K を SI・RI で補正</a:t>
            </a:r>
          </a:p>
          <a:p>
            <a:pPr algn="l">
              <a:lnSpc>
                <a:spcPct val="120000"/>
              </a:lnSpc>
            </a:pPr>
            <a:r>
              <a:rPr lang="ja-JP" altLang="en-US" sz="2200" b="1" dirty="0">
                <a:solidFill>
                  <a:srgbClr val="262626"/>
                </a:solidFill>
                <a:latin typeface="Meiryo"/>
                <a:ea typeface="Meiryo"/>
                <a:cs typeface="Meiryo"/>
              </a:rPr>
              <a:t>形で 時間 を較正</a:t>
            </a:r>
          </a:p>
        </p:txBody>
      </p:sp>
      <p:sp>
        <p:nvSpPr>
          <p:cNvPr id="297" name="PageNo">
            <a:extLst>
              <a:ext uri="{FF2B5EF4-FFF2-40B4-BE49-F238E27FC236}">
                <a16:creationId xmlns:a16="http://schemas.microsoft.com/office/drawing/2014/main" id="{BC525BF3-1893-DA2F-051F-718E209A5377}"/>
              </a:ext>
            </a:extLst>
          </p:cNvPr>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113/118</a:t>
            </a:r>
          </a:p>
        </p:txBody>
      </p:sp>
      <p:sp>
        <p:nvSpPr>
          <p:cNvPr id="298"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299"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300"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301"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302"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303" name="Off-page Connector 4">
            <a:extLst>
              <a:ext uri="{FF2B5EF4-FFF2-40B4-BE49-F238E27FC236}">
                <a16:creationId xmlns:a16="http://schemas.microsoft.com/office/drawing/2014/main" id="{AA9D36CE-3772-F005-B54C-9329ADA7F086}"/>
              </a:ext>
            </a:extLst>
          </p:cNvPr>
          <p:cNvSpPr/>
          <p:nvPr/>
        </p:nvSpPr>
        <p:spPr>
          <a:xfrm>
            <a:off x="11514600"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6</a:t>
            </a:r>
          </a:p>
          <a:p>
            <a:pPr algn="ctr"/>
            <a:r>
              <a:rPr sz="1050" b="1">
                <a:solidFill>
                  <a:srgbClr val="FFFFFF"/>
                </a:solidFill>
                <a:latin typeface="Meiryo"/>
                <a:ea typeface="Meiryo"/>
                <a:cs typeface="Meiryo"/>
              </a:rPr>
              <a:t>提案</a:t>
            </a:r>
          </a:p>
        </p:txBody>
      </p:sp>
    </p:spTree>
    <p:extLst>
      <p:ext uri="{BB962C8B-B14F-4D97-AF65-F5344CB8AC3E}">
        <p14:creationId xmlns:p14="http://schemas.microsoft.com/office/powerpoint/2010/main" val="105440628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参考文献</a:t>
            </a:r>
          </a:p>
        </p:txBody>
      </p:sp>
      <p:sp>
        <p:nvSpPr>
          <p:cNvPr id="16" name="TextBox 15"/>
          <p:cNvSpPr txBox="1"/>
          <p:nvPr/>
        </p:nvSpPr>
        <p:spPr>
          <a:xfrm>
            <a:off x="548640" y="1737360"/>
            <a:ext cx="5440680" cy="466344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1. Allen J. Photoplethysmography and its application in clinical physiological measurement. Physiol Meas 2007;28:R1–39.</a:t>
            </a:r>
          </a:p>
          <a:p>
            <a:pPr algn="l">
              <a:lnSpc>
                <a:spcPct val="115000"/>
              </a:lnSpc>
              <a:spcAft>
                <a:spcPts val="700"/>
              </a:spcAft>
            </a:pPr>
            <a:r>
              <a:rPr sz="1050" b="0">
                <a:solidFill>
                  <a:srgbClr val="262626"/>
                </a:solidFill>
                <a:latin typeface="Meiryo"/>
                <a:ea typeface="Meiryo"/>
                <a:cs typeface="Meiryo"/>
              </a:rPr>
              <a:t>2. Aoyagi T. Pulse oximetry: its invention, theory, and future. J Anesth 2003;17:259–66.</a:t>
            </a:r>
          </a:p>
          <a:p>
            <a:pPr algn="l">
              <a:lnSpc>
                <a:spcPct val="115000"/>
              </a:lnSpc>
              <a:spcAft>
                <a:spcPts val="700"/>
              </a:spcAft>
            </a:pPr>
            <a:r>
              <a:rPr sz="1050" b="0">
                <a:solidFill>
                  <a:srgbClr val="262626"/>
                </a:solidFill>
                <a:latin typeface="Meiryo"/>
                <a:ea typeface="Meiryo"/>
                <a:cs typeface="Meiryo"/>
              </a:rPr>
              <a:t>3. Chan ED, Chan MM, Chan MM. Pulse oximetry: understanding its basic principles facilitates appreciation of its limitations. Respir Med 2013;107:789–99.</a:t>
            </a:r>
          </a:p>
          <a:p>
            <a:pPr algn="l">
              <a:lnSpc>
                <a:spcPct val="115000"/>
              </a:lnSpc>
              <a:spcAft>
                <a:spcPts val="700"/>
              </a:spcAft>
            </a:pPr>
            <a:r>
              <a:rPr sz="1050" b="0">
                <a:solidFill>
                  <a:srgbClr val="262626"/>
                </a:solidFill>
                <a:latin typeface="Meiryo"/>
                <a:ea typeface="Meiryo"/>
                <a:cs typeface="Meiryo"/>
              </a:rPr>
              <a:t>4. Ahmed A, et al. Hemoglobin oxygen saturation discrepancy using various methods in patients with sickle cell vaso-occlusive painful crisis. Eur J Haematol 2005;74:309–14.</a:t>
            </a:r>
          </a:p>
          <a:p>
            <a:pPr algn="l">
              <a:lnSpc>
                <a:spcPct val="115000"/>
              </a:lnSpc>
              <a:spcAft>
                <a:spcPts val="700"/>
              </a:spcAft>
            </a:pPr>
            <a:r>
              <a:rPr sz="1050" b="0">
                <a:solidFill>
                  <a:srgbClr val="262626"/>
                </a:solidFill>
                <a:latin typeface="Meiryo"/>
                <a:ea typeface="Meiryo"/>
                <a:cs typeface="Meiryo"/>
              </a:rPr>
              <a:t>5. Politi MT, et al. The dicrotic notch analyzed by a numerical model. Comput Biol Med 2016;72:54–64.</a:t>
            </a:r>
          </a:p>
          <a:p>
            <a:pPr algn="l">
              <a:lnSpc>
                <a:spcPct val="115000"/>
              </a:lnSpc>
              <a:spcAft>
                <a:spcPts val="700"/>
              </a:spcAft>
            </a:pPr>
            <a:r>
              <a:rPr sz="1050" b="0">
                <a:solidFill>
                  <a:srgbClr val="262626"/>
                </a:solidFill>
                <a:latin typeface="Meiryo"/>
                <a:ea typeface="Meiryo"/>
                <a:cs typeface="Meiryo"/>
              </a:rPr>
              <a:t>6. Millasseau SC, et al. Determination of age-related increases in large artery stiffness by digital pulse contour analysis. Clin Sci (Lond) 2002;103:371–7.</a:t>
            </a:r>
          </a:p>
          <a:p>
            <a:pPr algn="l">
              <a:lnSpc>
                <a:spcPct val="115000"/>
              </a:lnSpc>
              <a:spcAft>
                <a:spcPts val="700"/>
              </a:spcAft>
            </a:pPr>
            <a:r>
              <a:rPr sz="1050" b="0">
                <a:solidFill>
                  <a:srgbClr val="262626"/>
                </a:solidFill>
                <a:latin typeface="Meiryo"/>
                <a:ea typeface="Meiryo"/>
                <a:cs typeface="Meiryo"/>
              </a:rPr>
              <a:t>7. Dawber TR, Thomas HE, McNamara PM. Characteristics of the dicrotic notch of the arterial pulse wave in coronary heart disease. Angiology 1973;24:244–55.</a:t>
            </a:r>
          </a:p>
        </p:txBody>
      </p:sp>
      <p:sp>
        <p:nvSpPr>
          <p:cNvPr id="17" name="TextBox 16"/>
          <p:cNvSpPr txBox="1"/>
          <p:nvPr/>
        </p:nvSpPr>
        <p:spPr>
          <a:xfrm>
            <a:off x="6217920" y="1737360"/>
            <a:ext cx="5440680" cy="474143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8. Cunningham JW, et al. Machine learning to understand genetic and clinical factors associated with the pulse waveform dicrotic notch. Circ Genom Precis Med 2023;16:e003676.</a:t>
            </a:r>
          </a:p>
          <a:p>
            <a:pPr algn="l">
              <a:lnSpc>
                <a:spcPct val="115000"/>
              </a:lnSpc>
              <a:spcAft>
                <a:spcPts val="700"/>
              </a:spcAft>
            </a:pPr>
            <a:r>
              <a:rPr sz="1050" b="0">
                <a:solidFill>
                  <a:srgbClr val="262626"/>
                </a:solidFill>
                <a:latin typeface="Meiryo"/>
                <a:ea typeface="Meiryo"/>
                <a:cs typeface="Meiryo"/>
              </a:rPr>
              <a:t>9. Fry A, et al. Comparison of sociodemographic and health-related characteristics of UK Biobank participants with those of the general population. Am J Epidemiol 2017;186:1026–34.</a:t>
            </a:r>
          </a:p>
          <a:p>
            <a:pPr algn="l">
              <a:lnSpc>
                <a:spcPct val="115000"/>
              </a:lnSpc>
              <a:spcAft>
                <a:spcPts val="700"/>
              </a:spcAft>
            </a:pPr>
            <a:r>
              <a:rPr sz="1050" b="0">
                <a:solidFill>
                  <a:srgbClr val="262626"/>
                </a:solidFill>
                <a:latin typeface="Meiryo"/>
                <a:ea typeface="Meiryo"/>
                <a:cs typeface="Meiryo"/>
              </a:rPr>
              <a:t>10. Alian AA, et al. Impact of central hypovolemia on photoplethysmographic waveform parameters in healthy volunteers. Part 1: time domain analysis. J Clin Monit Comput 2011;25:377–85.</a:t>
            </a:r>
          </a:p>
          <a:p>
            <a:pPr algn="l">
              <a:lnSpc>
                <a:spcPct val="115000"/>
              </a:lnSpc>
              <a:spcAft>
                <a:spcPts val="700"/>
              </a:spcAft>
            </a:pPr>
            <a:r>
              <a:rPr sz="1050" b="0">
                <a:solidFill>
                  <a:srgbClr val="262626"/>
                </a:solidFill>
                <a:latin typeface="Meiryo"/>
                <a:ea typeface="Meiryo"/>
                <a:cs typeface="Meiryo"/>
              </a:rPr>
              <a:t>11. Chowienczyk PJ, et al. Photoplethysmographic assessment of pulse wave reflection: blunted response to endothelium-dependent β2-adrenergic vasodilation in type II diabetes mellitus. J Am Coll Cardiol 1999;34:2007–14.</a:t>
            </a:r>
          </a:p>
          <a:p>
            <a:pPr algn="l">
              <a:lnSpc>
                <a:spcPct val="115000"/>
              </a:lnSpc>
              <a:spcAft>
                <a:spcPts val="700"/>
              </a:spcAft>
            </a:pPr>
            <a:r>
              <a:rPr sz="1050" b="0">
                <a:solidFill>
                  <a:srgbClr val="262626"/>
                </a:solidFill>
                <a:latin typeface="Meiryo"/>
                <a:ea typeface="Meiryo"/>
                <a:cs typeface="Meiryo"/>
              </a:rPr>
              <a:t>12. Millasseau SC, Kelly RP, Ritter JM, Chowienczyk PJ. The vascular impact of aging and vasoactive drugs: comparison of two digital volume pulse measurements. Am J Hypertens 2003;16:467–72.</a:t>
            </a:r>
          </a:p>
          <a:p>
            <a:pPr algn="l">
              <a:lnSpc>
                <a:spcPct val="115000"/>
              </a:lnSpc>
              <a:spcAft>
                <a:spcPts val="700"/>
              </a:spcAft>
            </a:pPr>
            <a:r>
              <a:rPr sz="1050" b="0">
                <a:solidFill>
                  <a:srgbClr val="262626"/>
                </a:solidFill>
                <a:latin typeface="Meiryo"/>
                <a:ea typeface="Meiryo"/>
                <a:cs typeface="Meiryo"/>
              </a:rPr>
              <a:t>13. Pagoulatou S, et al. The effect of left ventricular contractility on arterial hemodynamics: a model-based investigation. PLoS One 2021;16(8):e0255561.</a:t>
            </a:r>
          </a:p>
          <a:p>
            <a:pPr algn="l">
              <a:lnSpc>
                <a:spcPct val="115000"/>
              </a:lnSpc>
              <a:spcAft>
                <a:spcPts val="700"/>
              </a:spcAft>
            </a:pPr>
            <a:r>
              <a:rPr sz="1050" b="0">
                <a:solidFill>
                  <a:srgbClr val="262626"/>
                </a:solidFill>
                <a:latin typeface="Meiryo"/>
                <a:ea typeface="Meiryo"/>
                <a:cs typeface="Meiryo"/>
              </a:rPr>
              <a:t>14. Piccioli F, et al. The effect of cardiac properties on arterial pulse waves: an in-silico study. Int J Numer Method Biomed Eng 2022;38(12):e3658.</a:t>
            </a:r>
          </a:p>
        </p:txBody>
      </p:sp>
      <p:sp>
        <p:nvSpPr>
          <p:cNvPr id="1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114/118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参考文献（2）</a:t>
            </a:r>
          </a:p>
        </p:txBody>
      </p:sp>
      <p:sp>
        <p:nvSpPr>
          <p:cNvPr id="16" name="TextBox 15"/>
          <p:cNvSpPr txBox="1"/>
          <p:nvPr/>
        </p:nvSpPr>
        <p:spPr>
          <a:xfrm>
            <a:off x="548640" y="1737360"/>
            <a:ext cx="5440680" cy="466344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15. Wilkinson IB, et al. The influence of heart rate on augmentation index and central arterial pressure in humans. J Physiol 2000;525:263–70.</a:t>
            </a:r>
          </a:p>
          <a:p>
            <a:pPr algn="l">
              <a:lnSpc>
                <a:spcPct val="115000"/>
              </a:lnSpc>
              <a:spcAft>
                <a:spcPts val="700"/>
              </a:spcAft>
            </a:pPr>
            <a:r>
              <a:rPr sz="1050" b="0">
                <a:solidFill>
                  <a:srgbClr val="262626"/>
                </a:solidFill>
                <a:latin typeface="Meiryo"/>
                <a:ea typeface="Meiryo"/>
                <a:cs typeface="Meiryo"/>
              </a:rPr>
              <a:t>16. Hashimoto J, et al. Pulse wave velocity and the second derivative of the finger photoplethysmogram in treated hypertensive patients. J Hypertens 2002;20:2415–22.</a:t>
            </a:r>
          </a:p>
          <a:p>
            <a:pPr algn="l">
              <a:lnSpc>
                <a:spcPct val="115000"/>
              </a:lnSpc>
              <a:spcAft>
                <a:spcPts val="700"/>
              </a:spcAft>
            </a:pPr>
            <a:r>
              <a:rPr sz="1050" b="0">
                <a:solidFill>
                  <a:srgbClr val="262626"/>
                </a:solidFill>
                <a:latin typeface="Meiryo"/>
                <a:ea typeface="Meiryo"/>
                <a:cs typeface="Meiryo"/>
              </a:rPr>
              <a:t>17. Charlton PH, et al. Modeling arterial pulse waves in healthy aging: a database for in silico evaluation of hemodynamics and pulse wave indexes. Am J Physiol Heart Circ Physiol 2019;317:H1062–85.</a:t>
            </a:r>
          </a:p>
          <a:p>
            <a:pPr algn="l">
              <a:lnSpc>
                <a:spcPct val="115000"/>
              </a:lnSpc>
              <a:spcAft>
                <a:spcPts val="700"/>
              </a:spcAft>
            </a:pPr>
            <a:r>
              <a:rPr sz="1050" b="0">
                <a:solidFill>
                  <a:srgbClr val="262626"/>
                </a:solidFill>
                <a:latin typeface="Meiryo"/>
                <a:ea typeface="Meiryo"/>
                <a:cs typeface="Meiryo"/>
              </a:rPr>
              <a:t>18. Md Lazim MR, et al. Is heart rate a confounding factor for photoplethysmography markers? A systematic review. Int J Environ Res Public Health 2020;17:2591.</a:t>
            </a:r>
          </a:p>
          <a:p>
            <a:pPr algn="l">
              <a:lnSpc>
                <a:spcPct val="115000"/>
              </a:lnSpc>
              <a:spcAft>
                <a:spcPts val="700"/>
              </a:spcAft>
            </a:pPr>
            <a:r>
              <a:rPr sz="1050" b="0">
                <a:solidFill>
                  <a:srgbClr val="262626"/>
                </a:solidFill>
                <a:latin typeface="Meiryo"/>
                <a:ea typeface="Meiryo"/>
                <a:cs typeface="Meiryo"/>
              </a:rPr>
              <a:t>19. Murray WB, Foster PA. The peripheral pulse wave: information overlooked. J Clin Monit 1996;12:365–77.</a:t>
            </a:r>
          </a:p>
          <a:p>
            <a:pPr algn="l">
              <a:lnSpc>
                <a:spcPct val="115000"/>
              </a:lnSpc>
              <a:spcAft>
                <a:spcPts val="700"/>
              </a:spcAft>
            </a:pPr>
            <a:r>
              <a:rPr sz="1050" b="0">
                <a:solidFill>
                  <a:srgbClr val="262626"/>
                </a:solidFill>
                <a:latin typeface="Meiryo"/>
                <a:ea typeface="Meiryo"/>
                <a:cs typeface="Meiryo"/>
              </a:rPr>
              <a:t>20. Tusman G, et al. Photoplethysmographic characterization of vascular tone mediated changes in arterial pressure: an observational study. J Clin Monit Comput 2019;33:815–24.</a:t>
            </a:r>
          </a:p>
          <a:p>
            <a:pPr algn="l">
              <a:lnSpc>
                <a:spcPct val="115000"/>
              </a:lnSpc>
              <a:spcAft>
                <a:spcPts val="700"/>
              </a:spcAft>
            </a:pPr>
            <a:r>
              <a:rPr sz="1050" b="0">
                <a:solidFill>
                  <a:srgbClr val="262626"/>
                </a:solidFill>
                <a:latin typeface="Meiryo"/>
                <a:ea typeface="Meiryo"/>
                <a:cs typeface="Meiryo"/>
              </a:rPr>
              <a:t>21. Coutrot M, et al. Noninvasive continuous detection of arterial hypotension during induction of anaesthesia using a photoplethysmographic signal: proof of concept. Br J Anaesth 2019;122:605–12.</a:t>
            </a:r>
          </a:p>
        </p:txBody>
      </p:sp>
      <p:sp>
        <p:nvSpPr>
          <p:cNvPr id="17" name="TextBox 16"/>
          <p:cNvSpPr txBox="1"/>
          <p:nvPr/>
        </p:nvSpPr>
        <p:spPr>
          <a:xfrm>
            <a:off x="6217920" y="1737360"/>
            <a:ext cx="5440680" cy="466344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22. Lee QY, et al. Multivariate classification of systemic vascular resistance using photoplethysmography. Physiol Meas 2011;32:1117–32.</a:t>
            </a:r>
          </a:p>
          <a:p>
            <a:pPr algn="l">
              <a:lnSpc>
                <a:spcPct val="115000"/>
              </a:lnSpc>
              <a:spcAft>
                <a:spcPts val="700"/>
              </a:spcAft>
            </a:pPr>
            <a:r>
              <a:rPr sz="1050" b="0">
                <a:solidFill>
                  <a:srgbClr val="262626"/>
                </a:solidFill>
                <a:latin typeface="Meiryo"/>
                <a:ea typeface="Meiryo"/>
                <a:cs typeface="Meiryo"/>
              </a:rPr>
              <a:t>23. Elgendi M. On the analysis of fingertip photoplethysmogram signals. Curr Cardiol Rev 2012;8:14–25.</a:t>
            </a:r>
          </a:p>
          <a:p>
            <a:pPr algn="l">
              <a:lnSpc>
                <a:spcPct val="115000"/>
              </a:lnSpc>
              <a:spcAft>
                <a:spcPts val="700"/>
              </a:spcAft>
            </a:pPr>
            <a:r>
              <a:rPr sz="1050" b="0">
                <a:solidFill>
                  <a:srgbClr val="262626"/>
                </a:solidFill>
                <a:latin typeface="Meiryo"/>
                <a:ea typeface="Meiryo"/>
                <a:cs typeface="Meiryo"/>
              </a:rPr>
              <a:t>24. Takazawa K, et al. Assessment of vasoactive agents and vascular aging by the second derivative of the photoplethysmogram waveform. Hypertension 1998;32:365–70.</a:t>
            </a:r>
          </a:p>
          <a:p>
            <a:pPr algn="l">
              <a:lnSpc>
                <a:spcPct val="115000"/>
              </a:lnSpc>
              <a:spcAft>
                <a:spcPts val="700"/>
              </a:spcAft>
            </a:pPr>
            <a:r>
              <a:rPr sz="1050" b="0">
                <a:solidFill>
                  <a:srgbClr val="262626"/>
                </a:solidFill>
                <a:latin typeface="Meiryo"/>
                <a:ea typeface="Meiryo"/>
                <a:cs typeface="Meiryo"/>
              </a:rPr>
              <a:t>25. Bortolotto LA, et al. Assessment of vascular aging and atherosclerosis in hypertensive subjects: second derivative of photoplethysmogram versus pulse wave velocity. Am J Hypertens 2000;13:165–71.</a:t>
            </a:r>
          </a:p>
          <a:p>
            <a:pPr algn="l">
              <a:lnSpc>
                <a:spcPct val="115000"/>
              </a:lnSpc>
              <a:spcAft>
                <a:spcPts val="700"/>
              </a:spcAft>
            </a:pPr>
            <a:r>
              <a:rPr sz="1050" b="0">
                <a:solidFill>
                  <a:srgbClr val="262626"/>
                </a:solidFill>
                <a:latin typeface="Meiryo"/>
                <a:ea typeface="Meiryo"/>
                <a:cs typeface="Meiryo"/>
              </a:rPr>
              <a:t>26. Otsuka T, et al. Utility of second derivative of the finger photoplethysmogram for the estimation of the risk of coronary heart disease in the general population. Circ J 2006;70:304–10.</a:t>
            </a:r>
          </a:p>
          <a:p>
            <a:pPr algn="l">
              <a:lnSpc>
                <a:spcPct val="115000"/>
              </a:lnSpc>
              <a:spcAft>
                <a:spcPts val="700"/>
              </a:spcAft>
            </a:pPr>
            <a:r>
              <a:rPr sz="1050" b="0">
                <a:solidFill>
                  <a:srgbClr val="262626"/>
                </a:solidFill>
                <a:latin typeface="Meiryo"/>
                <a:ea typeface="Meiryo"/>
                <a:cs typeface="Meiryo"/>
              </a:rPr>
              <a:t>27. Tabara Y, et al. Usefulness of the second derivative of the finger photoplethysmogram for assessment of end-organ damage: the J-SHIPP study. Hypertens Res 2016;39:552–6.</a:t>
            </a:r>
          </a:p>
          <a:p>
            <a:pPr algn="l">
              <a:lnSpc>
                <a:spcPct val="115000"/>
              </a:lnSpc>
              <a:spcAft>
                <a:spcPts val="700"/>
              </a:spcAft>
            </a:pPr>
            <a:r>
              <a:rPr sz="1050" b="0">
                <a:solidFill>
                  <a:srgbClr val="262626"/>
                </a:solidFill>
                <a:latin typeface="Meiryo"/>
                <a:ea typeface="Meiryo"/>
                <a:cs typeface="Meiryo"/>
              </a:rPr>
              <a:t>28. von Wowern E, Östling G, Nilsson PM, Olofsson P. Digital photoplethysmography for assessment of arterial stiffness: repeatability and comparison with applanation tonometry. PLoS One 2015;10(8):e0135659.</a:t>
            </a:r>
          </a:p>
        </p:txBody>
      </p:sp>
      <p:sp>
        <p:nvSpPr>
          <p:cNvPr id="1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115/118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参考文献（3）</a:t>
            </a:r>
          </a:p>
        </p:txBody>
      </p:sp>
      <p:sp>
        <p:nvSpPr>
          <p:cNvPr id="16" name="TextBox 15"/>
          <p:cNvSpPr txBox="1"/>
          <p:nvPr/>
        </p:nvSpPr>
        <p:spPr>
          <a:xfrm>
            <a:off x="548640" y="1737360"/>
            <a:ext cx="5440680" cy="466344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29. Elgendi M, et al. Detection of a and b waves in the acceleration photoplethysmogram. Biomed Eng Online 2014;13:139.</a:t>
            </a:r>
          </a:p>
          <a:p>
            <a:pPr algn="l">
              <a:lnSpc>
                <a:spcPct val="115000"/>
              </a:lnSpc>
              <a:spcAft>
                <a:spcPts val="700"/>
              </a:spcAft>
            </a:pPr>
            <a:r>
              <a:rPr sz="1050" b="0">
                <a:solidFill>
                  <a:srgbClr val="262626"/>
                </a:solidFill>
                <a:latin typeface="Meiryo"/>
                <a:ea typeface="Meiryo"/>
                <a:cs typeface="Meiryo"/>
              </a:rPr>
              <a:t>30. Kohjitani A, et al. Responses of the second derivative of the finger photoplethysmogram indices and hemodynamic parameters to anesthesia induction. Hypertens Res 2012;35:53–60.</a:t>
            </a:r>
          </a:p>
          <a:p>
            <a:pPr algn="l">
              <a:lnSpc>
                <a:spcPct val="115000"/>
              </a:lnSpc>
              <a:spcAft>
                <a:spcPts val="700"/>
              </a:spcAft>
            </a:pPr>
            <a:r>
              <a:rPr sz="1050" b="0">
                <a:solidFill>
                  <a:srgbClr val="262626"/>
                </a:solidFill>
                <a:latin typeface="Meiryo"/>
                <a:ea typeface="Meiryo"/>
                <a:cs typeface="Meiryo"/>
              </a:rPr>
              <a:t>31. Joachim J, et al. Real-time estimation of mean arterial blood pressure based on photoplethysmography dicrotic notch and perfusion index: a pilot study. J Clin Monit Comput 2021;35:395–404.</a:t>
            </a:r>
          </a:p>
          <a:p>
            <a:pPr algn="l">
              <a:lnSpc>
                <a:spcPct val="115000"/>
              </a:lnSpc>
              <a:spcAft>
                <a:spcPts val="700"/>
              </a:spcAft>
            </a:pPr>
            <a:r>
              <a:rPr sz="1050" b="0">
                <a:solidFill>
                  <a:srgbClr val="262626"/>
                </a:solidFill>
                <a:latin typeface="Meiryo"/>
                <a:ea typeface="Meiryo"/>
                <a:cs typeface="Meiryo"/>
              </a:rPr>
              <a:t>32. Padilla JM, et al. Pulse wave velocity and digital volume pulse as indirect estimators of blood pressure: pilot study on healthy volunteers. Cardiovasc Eng 2009;9:104–12.</a:t>
            </a:r>
          </a:p>
          <a:p>
            <a:pPr algn="l">
              <a:lnSpc>
                <a:spcPct val="115000"/>
              </a:lnSpc>
              <a:spcAft>
                <a:spcPts val="700"/>
              </a:spcAft>
            </a:pPr>
            <a:r>
              <a:rPr sz="1050" b="0">
                <a:solidFill>
                  <a:srgbClr val="262626"/>
                </a:solidFill>
                <a:latin typeface="Meiryo"/>
                <a:ea typeface="Meiryo"/>
                <a:cs typeface="Meiryo"/>
              </a:rPr>
              <a:t>33. Couceiro R, et al. Assessment of cardiovascular function from multi-Gaussian fitting of a finger photoplethysmogram. Physiol Meas 2015;36:1801–25.</a:t>
            </a:r>
          </a:p>
          <a:p>
            <a:pPr algn="l">
              <a:lnSpc>
                <a:spcPct val="115000"/>
              </a:lnSpc>
              <a:spcAft>
                <a:spcPts val="700"/>
              </a:spcAft>
            </a:pPr>
            <a:r>
              <a:rPr sz="1050" b="0">
                <a:solidFill>
                  <a:srgbClr val="262626"/>
                </a:solidFill>
                <a:latin typeface="Meiryo"/>
                <a:ea typeface="Meiryo"/>
                <a:cs typeface="Meiryo"/>
              </a:rPr>
              <a:t>34. Wu HT, et al. Novel application of parameters in waveform contour analysis for assessing arterial stiffness in aged and atherosclerotic subjects. Atherosclerosis 2010;213:173–7.</a:t>
            </a:r>
          </a:p>
          <a:p>
            <a:pPr algn="l">
              <a:lnSpc>
                <a:spcPct val="115000"/>
              </a:lnSpc>
              <a:spcAft>
                <a:spcPts val="700"/>
              </a:spcAft>
            </a:pPr>
            <a:r>
              <a:rPr sz="1050" b="0">
                <a:solidFill>
                  <a:srgbClr val="262626"/>
                </a:solidFill>
                <a:latin typeface="Meiryo"/>
                <a:ea typeface="Meiryo"/>
                <a:cs typeface="Meiryo"/>
              </a:rPr>
              <a:t>35. Pal R, et al. An algorithm to detect dicrotic notch in arterial blood pressure and photoplethysmography waveforms using the iterative envelope mean method. Comput Methods Programs Biomed 2024;254:108283.</a:t>
            </a:r>
          </a:p>
        </p:txBody>
      </p:sp>
      <p:sp>
        <p:nvSpPr>
          <p:cNvPr id="17" name="TextBox 16"/>
          <p:cNvSpPr txBox="1"/>
          <p:nvPr/>
        </p:nvSpPr>
        <p:spPr>
          <a:xfrm>
            <a:off x="6217920" y="1737360"/>
            <a:ext cx="5440680" cy="466344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36. Fleischhauer V, et al. Pulse decomposition analysis in photoplethysmography imaging. Physiol Meas 2020;41:095009.</a:t>
            </a:r>
          </a:p>
          <a:p>
            <a:pPr algn="l">
              <a:lnSpc>
                <a:spcPct val="115000"/>
              </a:lnSpc>
              <a:spcAft>
                <a:spcPts val="700"/>
              </a:spcAft>
            </a:pPr>
            <a:r>
              <a:rPr sz="1050" b="0">
                <a:solidFill>
                  <a:srgbClr val="262626"/>
                </a:solidFill>
                <a:latin typeface="Meiryo"/>
                <a:ea typeface="Meiryo"/>
                <a:cs typeface="Meiryo"/>
              </a:rPr>
              <a:t>37. Attivissimo F, et al. Photoplethysmography signal wavelet enhancement and novel features selection for non-invasive cuff-less blood pressure monitoring. Sensors 2023;23:2321.</a:t>
            </a:r>
          </a:p>
          <a:p>
            <a:pPr algn="l">
              <a:lnSpc>
                <a:spcPct val="115000"/>
              </a:lnSpc>
              <a:spcAft>
                <a:spcPts val="700"/>
              </a:spcAft>
            </a:pPr>
            <a:r>
              <a:rPr sz="1050" b="0">
                <a:solidFill>
                  <a:srgbClr val="262626"/>
                </a:solidFill>
                <a:latin typeface="Meiryo"/>
                <a:ea typeface="Meiryo"/>
                <a:cs typeface="Meiryo"/>
              </a:rPr>
              <a:t>38. Domínguez-Hernández S, Páez G, Padilla M. Harmonic-selective Gaussian filtering for morphology and timing preservation in PPG signals. Sensors 2026;26:3710.</a:t>
            </a:r>
          </a:p>
          <a:p>
            <a:pPr algn="l">
              <a:lnSpc>
                <a:spcPct val="115000"/>
              </a:lnSpc>
              <a:spcAft>
                <a:spcPts val="700"/>
              </a:spcAft>
            </a:pPr>
            <a:r>
              <a:rPr sz="1050" b="0">
                <a:solidFill>
                  <a:srgbClr val="262626"/>
                </a:solidFill>
                <a:latin typeface="Meiryo"/>
                <a:ea typeface="Meiryo"/>
                <a:cs typeface="Meiryo"/>
              </a:rPr>
              <a:t>39. Shin H, Noh G, Choi BM. Photoplethysmogram based vascular aging assessment using the deep convolutional neural network. Sci Rep 2022;12:11377.</a:t>
            </a:r>
          </a:p>
          <a:p>
            <a:pPr algn="l">
              <a:lnSpc>
                <a:spcPct val="115000"/>
              </a:lnSpc>
              <a:spcAft>
                <a:spcPts val="700"/>
              </a:spcAft>
            </a:pPr>
            <a:r>
              <a:rPr sz="1050" b="0">
                <a:solidFill>
                  <a:srgbClr val="262626"/>
                </a:solidFill>
                <a:latin typeface="Meiryo"/>
                <a:ea typeface="Meiryo"/>
                <a:cs typeface="Meiryo"/>
              </a:rPr>
              <a:t>40. Vargas JM, et al. Assessment of pulse wave velocity through weighted visibility graph metrics from photoplethysmographic signals. Sci Rep 2025;15:31128.</a:t>
            </a:r>
          </a:p>
          <a:p>
            <a:pPr algn="l">
              <a:lnSpc>
                <a:spcPct val="115000"/>
              </a:lnSpc>
              <a:spcAft>
                <a:spcPts val="700"/>
              </a:spcAft>
            </a:pPr>
            <a:r>
              <a:rPr sz="1050" b="0">
                <a:solidFill>
                  <a:srgbClr val="262626"/>
                </a:solidFill>
                <a:latin typeface="Meiryo"/>
                <a:ea typeface="Meiryo"/>
                <a:cs typeface="Meiryo"/>
              </a:rPr>
              <a:t>41. Rubins U. Finger and ear photoplethysmogram waveform analysis by fitting with Gaussians. Med Biol Eng Comput 2008;46:1271–6.</a:t>
            </a:r>
          </a:p>
          <a:p>
            <a:pPr algn="l">
              <a:lnSpc>
                <a:spcPct val="115000"/>
              </a:lnSpc>
              <a:spcAft>
                <a:spcPts val="700"/>
              </a:spcAft>
            </a:pPr>
            <a:r>
              <a:rPr sz="1050" b="0">
                <a:solidFill>
                  <a:srgbClr val="262626"/>
                </a:solidFill>
                <a:latin typeface="Meiryo"/>
                <a:ea typeface="Meiryo"/>
                <a:cs typeface="Meiryo"/>
              </a:rPr>
              <a:t>42. Goswami D, et al. A new two-pulse synthesis model for digital volume pulse signal analysis. Cardiovasc Eng 2010;10:109–17.</a:t>
            </a:r>
          </a:p>
        </p:txBody>
      </p:sp>
      <p:sp>
        <p:nvSpPr>
          <p:cNvPr id="1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116/118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参考文献（4）</a:t>
            </a:r>
          </a:p>
        </p:txBody>
      </p:sp>
      <p:sp>
        <p:nvSpPr>
          <p:cNvPr id="16" name="TextBox 15"/>
          <p:cNvSpPr txBox="1"/>
          <p:nvPr/>
        </p:nvSpPr>
        <p:spPr>
          <a:xfrm>
            <a:off x="548640" y="1737360"/>
            <a:ext cx="5440680" cy="466344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43. Tigges T, et al. Model selection for the pulse decomposition analysis of fingertip photoplethysmograms. Annu Int Conf IEEE EMBC 2017;2017:4014–7.</a:t>
            </a:r>
          </a:p>
          <a:p>
            <a:pPr algn="l">
              <a:lnSpc>
                <a:spcPct val="115000"/>
              </a:lnSpc>
              <a:spcAft>
                <a:spcPts val="700"/>
              </a:spcAft>
            </a:pPr>
            <a:r>
              <a:rPr sz="1050" b="0">
                <a:solidFill>
                  <a:srgbClr val="262626"/>
                </a:solidFill>
                <a:latin typeface="Meiryo"/>
                <a:ea typeface="Meiryo"/>
                <a:cs typeface="Meiryo"/>
              </a:rPr>
              <a:t>44. Basso G, et al. A skewed-Gaussian model for pulse decomposition analysis of photoplethysmography signals. Physiol Meas 2024;45(11):125005.</a:t>
            </a:r>
          </a:p>
          <a:p>
            <a:pPr algn="l">
              <a:lnSpc>
                <a:spcPct val="115000"/>
              </a:lnSpc>
              <a:spcAft>
                <a:spcPts val="700"/>
              </a:spcAft>
            </a:pPr>
            <a:r>
              <a:rPr sz="1050" b="0">
                <a:solidFill>
                  <a:srgbClr val="262626"/>
                </a:solidFill>
                <a:latin typeface="Meiryo"/>
                <a:ea typeface="Meiryo"/>
                <a:cs typeface="Meiryo"/>
              </a:rPr>
              <a:t>45. Couceiro R, et al. Multi-Gaussian fitting for the assessment of left ventricular ejection time from the photoplethysmogram. Annu Int Conf IEEE EMBC 2012;2012:3951–4.</a:t>
            </a:r>
          </a:p>
          <a:p>
            <a:pPr algn="l">
              <a:lnSpc>
                <a:spcPct val="115000"/>
              </a:lnSpc>
              <a:spcAft>
                <a:spcPts val="700"/>
              </a:spcAft>
            </a:pPr>
            <a:r>
              <a:rPr sz="1050" b="0">
                <a:solidFill>
                  <a:srgbClr val="262626"/>
                </a:solidFill>
                <a:latin typeface="Meiryo"/>
                <a:ea typeface="Meiryo"/>
                <a:cs typeface="Meiryo"/>
              </a:rPr>
              <a:t>46. Baruch MC, et al. Validation of the pulse decomposition analysis algorithm using central arterial blood pressure. Biomed Eng Online 2014;13:96.</a:t>
            </a:r>
          </a:p>
          <a:p>
            <a:pPr algn="l">
              <a:lnSpc>
                <a:spcPct val="115000"/>
              </a:lnSpc>
              <a:spcAft>
                <a:spcPts val="700"/>
              </a:spcAft>
            </a:pPr>
            <a:r>
              <a:rPr sz="1050" b="0">
                <a:solidFill>
                  <a:srgbClr val="262626"/>
                </a:solidFill>
                <a:latin typeface="Meiryo"/>
                <a:ea typeface="Meiryo"/>
                <a:cs typeface="Meiryo"/>
              </a:rPr>
              <a:t>47. Epstein S, et al. Numerical assessment of the stiffness index. Annu Int Conf IEEE EMBC 2014;2014:1969–72.</a:t>
            </a:r>
          </a:p>
          <a:p>
            <a:pPr algn="l">
              <a:lnSpc>
                <a:spcPct val="115000"/>
              </a:lnSpc>
              <a:spcAft>
                <a:spcPts val="700"/>
              </a:spcAft>
            </a:pPr>
            <a:r>
              <a:rPr sz="1050" b="0">
                <a:solidFill>
                  <a:srgbClr val="262626"/>
                </a:solidFill>
                <a:latin typeface="Meiryo"/>
                <a:ea typeface="Meiryo"/>
                <a:cs typeface="Meiryo"/>
              </a:rPr>
              <a:t>48. Sugo Y, Ukawa T, Takeda S, et al. A novel continuous cardiac output monitor based on pulse wave transit time. Annu Int Conf IEEE EMBC 2010:2853–6.</a:t>
            </a:r>
          </a:p>
          <a:p>
            <a:pPr algn="l">
              <a:lnSpc>
                <a:spcPct val="115000"/>
              </a:lnSpc>
              <a:spcAft>
                <a:spcPts val="700"/>
              </a:spcAft>
            </a:pPr>
            <a:r>
              <a:rPr sz="1050" b="0">
                <a:solidFill>
                  <a:srgbClr val="262626"/>
                </a:solidFill>
                <a:latin typeface="Meiryo"/>
                <a:ea typeface="Meiryo"/>
                <a:cs typeface="Meiryo"/>
              </a:rPr>
              <a:t>49. Yamada T, Tsutsui M, Sugo Y, et al. Multicenter study verifying a method of noninvasive continuous cardiac output measurement using pulse wave transit time. Anesth Analg 2012;115:82–7.</a:t>
            </a:r>
          </a:p>
        </p:txBody>
      </p:sp>
      <p:sp>
        <p:nvSpPr>
          <p:cNvPr id="17" name="TextBox 16"/>
          <p:cNvSpPr txBox="1"/>
          <p:nvPr/>
        </p:nvSpPr>
        <p:spPr>
          <a:xfrm>
            <a:off x="6217920" y="1737360"/>
            <a:ext cx="5440680" cy="466344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50. Sugo Y, Sakai T, Terao M, et al. The comparison of a novel continuous cardiac output monitor based on pulse wave transit time and echo Doppler during exercise. Annu Int Conf IEEE EMBC 2012:236–9.</a:t>
            </a:r>
          </a:p>
          <a:p>
            <a:pPr algn="l">
              <a:lnSpc>
                <a:spcPct val="115000"/>
              </a:lnSpc>
              <a:spcAft>
                <a:spcPts val="700"/>
              </a:spcAft>
            </a:pPr>
            <a:r>
              <a:rPr sz="1050" b="0">
                <a:solidFill>
                  <a:srgbClr val="262626"/>
                </a:solidFill>
                <a:latin typeface="Meiryo"/>
                <a:ea typeface="Meiryo"/>
                <a:cs typeface="Meiryo"/>
              </a:rPr>
              <a:t>51. Nakamura Y, Wiegner AW, Gaasch WH. Systolic time intervals: assessment by isolated cardiac muscle studies. J Am Coll Cardiol 1983;2:973–8.</a:t>
            </a:r>
          </a:p>
          <a:p>
            <a:pPr algn="l">
              <a:lnSpc>
                <a:spcPct val="115000"/>
              </a:lnSpc>
              <a:spcAft>
                <a:spcPts val="700"/>
              </a:spcAft>
            </a:pPr>
            <a:r>
              <a:rPr sz="1050" b="0">
                <a:solidFill>
                  <a:srgbClr val="262626"/>
                </a:solidFill>
                <a:latin typeface="Meiryo"/>
                <a:ea typeface="Meiryo"/>
                <a:cs typeface="Meiryo"/>
              </a:rPr>
              <a:t>52. Biais M, Berthezène R, Petit L, Cottenceau V, Sztark F. Ability of esCCO to track changes in cardiac output. Br J Anaesth 2015;115:403–10.</a:t>
            </a:r>
          </a:p>
          <a:p>
            <a:pPr algn="l">
              <a:lnSpc>
                <a:spcPct val="115000"/>
              </a:lnSpc>
              <a:spcAft>
                <a:spcPts val="700"/>
              </a:spcAft>
            </a:pPr>
            <a:r>
              <a:rPr sz="1050" b="0">
                <a:solidFill>
                  <a:srgbClr val="262626"/>
                </a:solidFill>
                <a:latin typeface="Meiryo"/>
                <a:ea typeface="Meiryo"/>
                <a:cs typeface="Meiryo"/>
              </a:rPr>
              <a:t>53. Magliocca A, Rezoagli E, Anderson TA, et al. Cardiac output measurements based on the pulse wave transit time and thoracic impedance exhibit limited agreement with thermodilution method during orthotopic liver transplantation. Anesth Analg 2018;126:85–92.</a:t>
            </a:r>
          </a:p>
          <a:p>
            <a:pPr algn="l">
              <a:lnSpc>
                <a:spcPct val="115000"/>
              </a:lnSpc>
              <a:spcAft>
                <a:spcPts val="700"/>
              </a:spcAft>
            </a:pPr>
            <a:r>
              <a:rPr sz="1050" b="0">
                <a:solidFill>
                  <a:srgbClr val="262626"/>
                </a:solidFill>
                <a:latin typeface="Meiryo"/>
                <a:ea typeface="Meiryo"/>
                <a:cs typeface="Meiryo"/>
              </a:rPr>
              <a:t>54. Tsutsui M, Araki Y, Masui K, et al. Pulse wave transit time measurements of cardiac output in patients undergoing partial hepatectomy. Anesth Analg 2013;117:1307–12.</a:t>
            </a:r>
          </a:p>
          <a:p>
            <a:pPr algn="l">
              <a:lnSpc>
                <a:spcPct val="115000"/>
              </a:lnSpc>
              <a:spcAft>
                <a:spcPts val="700"/>
              </a:spcAft>
            </a:pPr>
            <a:r>
              <a:rPr sz="1050" b="0">
                <a:solidFill>
                  <a:srgbClr val="262626"/>
                </a:solidFill>
                <a:latin typeface="Meiryo"/>
                <a:ea typeface="Meiryo"/>
                <a:cs typeface="Meiryo"/>
              </a:rPr>
              <a:t>55. Critchley LA, Critchley JA. A meta-analysis of studies using bias and precision statistics to compare cardiac output measurement techniques. J Clin Monit Comput 1999;15:85–91.</a:t>
            </a:r>
          </a:p>
          <a:p>
            <a:pPr algn="l">
              <a:lnSpc>
                <a:spcPct val="115000"/>
              </a:lnSpc>
              <a:spcAft>
                <a:spcPts val="700"/>
              </a:spcAft>
            </a:pPr>
            <a:r>
              <a:rPr sz="1050" b="0">
                <a:solidFill>
                  <a:srgbClr val="262626"/>
                </a:solidFill>
                <a:latin typeface="Meiryo"/>
                <a:ea typeface="Meiryo"/>
                <a:cs typeface="Meiryo"/>
              </a:rPr>
              <a:t>56. Awad AA, Haddadin AS, Tantawy H, et al. The relationship between the photoplethysmographic waveform and systemic vascular resistance. J Clin Monit Comput 2007;21:365–72.</a:t>
            </a:r>
          </a:p>
        </p:txBody>
      </p:sp>
      <p:sp>
        <p:nvSpPr>
          <p:cNvPr id="1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117/118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参考文献（5）</a:t>
            </a:r>
          </a:p>
        </p:txBody>
      </p:sp>
      <p:sp>
        <p:nvSpPr>
          <p:cNvPr id="16" name="TextBox 15"/>
          <p:cNvSpPr txBox="1"/>
          <p:nvPr/>
        </p:nvSpPr>
        <p:spPr>
          <a:xfrm>
            <a:off x="548640" y="1737360"/>
            <a:ext cx="5440680" cy="466344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57. Beutel F, Van Hoof C, Rottenberg X, Reesink K, Hermeling E. Pulse arrival time segmentation into cardiac and vascular intervals: implications for pulse wave velocity and blood pressure estimation. IEEE Trans Biomed Eng 2021;68:2810–20.</a:t>
            </a:r>
          </a:p>
          <a:p>
            <a:pPr algn="l">
              <a:lnSpc>
                <a:spcPct val="115000"/>
              </a:lnSpc>
              <a:spcAft>
                <a:spcPts val="700"/>
              </a:spcAft>
            </a:pPr>
            <a:r>
              <a:rPr sz="1050" b="0">
                <a:solidFill>
                  <a:srgbClr val="262626"/>
                </a:solidFill>
                <a:latin typeface="Meiryo"/>
                <a:ea typeface="Meiryo"/>
                <a:cs typeface="Meiryo"/>
              </a:rPr>
              <a:t>58. Middleton PM, Chan GS, Steel E, et al. Fingertip photoplethysmographic waveform variability and systemic vascular resistance in intensive care unit patients. Med Biol Eng Comput 2011;49:859–66.</a:t>
            </a:r>
          </a:p>
          <a:p>
            <a:pPr algn="l">
              <a:lnSpc>
                <a:spcPct val="115000"/>
              </a:lnSpc>
              <a:spcAft>
                <a:spcPts val="700"/>
              </a:spcAft>
            </a:pPr>
            <a:r>
              <a:rPr sz="1050" b="0">
                <a:solidFill>
                  <a:srgbClr val="262626"/>
                </a:solidFill>
                <a:latin typeface="Meiryo"/>
                <a:ea typeface="Meiryo"/>
                <a:cs typeface="Meiryo"/>
              </a:rPr>
              <a:t>59. Charlton PH, Kyriacou PA, Mant J, et al. Wearable photoplethysmography for cardiovascular monitoring. Proc IEEE 2022;110:355–81.</a:t>
            </a:r>
          </a:p>
        </p:txBody>
      </p:sp>
      <p:sp>
        <p:nvSpPr>
          <p:cNvPr id="17" name="TextBox 16"/>
          <p:cNvSpPr txBox="1"/>
          <p:nvPr/>
        </p:nvSpPr>
        <p:spPr>
          <a:xfrm>
            <a:off x="6217920" y="1737360"/>
            <a:ext cx="5440680" cy="4663440"/>
          </a:xfrm>
          <a:prstGeom prst="rect">
            <a:avLst/>
          </a:prstGeom>
          <a:noFill/>
        </p:spPr>
        <p:txBody>
          <a:bodyPr wrap="square" lIns="0" tIns="0" rIns="0" bIns="0" anchor="t">
            <a:spAutoFit/>
          </a:bodyPr>
          <a:lstStyle/>
          <a:p>
            <a:endParaRPr/>
          </a:p>
        </p:txBody>
      </p:sp>
      <p:sp>
        <p:nvSpPr>
          <p:cNvPr id="1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118/118</a:t>
            </a:r>
          </a:p>
        </p:txBody>
      </p:sp>
      <p:sp>
        <p:nvSpPr>
          <p:cNvPr id="101" name="Off-page Connector 5">
            <a:extLst>
              <a:ext uri="{FF2B5EF4-FFF2-40B4-BE49-F238E27FC236}">
                <a16:creationId xmlns:a16="http://schemas.microsoft.com/office/drawing/2014/main" id="{601E0A5A-858A-8F2B-FBB6-6D1BA67FFAF2}"/>
              </a:ext>
            </a:extLst>
          </p:cNvPr>
          <p:cNvSpPr/>
          <p:nvPr/>
        </p:nvSpPr>
        <p:spPr>
          <a:xfrm>
            <a:off x="821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02" name="Off-page Connector 5">
            <a:extLst>
              <a:ext uri="{FF2B5EF4-FFF2-40B4-BE49-F238E27FC236}">
                <a16:creationId xmlns:a16="http://schemas.microsoft.com/office/drawing/2014/main" id="{601E0A5A-858A-8F2B-FBB6-6D1BA67FFAF2}"/>
              </a:ext>
            </a:extLst>
          </p:cNvPr>
          <p:cNvSpPr/>
          <p:nvPr/>
        </p:nvSpPr>
        <p:spPr>
          <a:xfrm>
            <a:off x="887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3" name="Off-page Connector 5">
            <a:extLst>
              <a:ext uri="{FF2B5EF4-FFF2-40B4-BE49-F238E27FC236}">
                <a16:creationId xmlns:a16="http://schemas.microsoft.com/office/drawing/2014/main" id="{601E0A5A-858A-8F2B-FBB6-6D1BA67FFAF2}"/>
              </a:ext>
            </a:extLst>
          </p:cNvPr>
          <p:cNvSpPr/>
          <p:nvPr/>
        </p:nvSpPr>
        <p:spPr>
          <a:xfrm>
            <a:off x="953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04" name="Off-page Connector 5">
            <a:extLst>
              <a:ext uri="{FF2B5EF4-FFF2-40B4-BE49-F238E27FC236}">
                <a16:creationId xmlns:a16="http://schemas.microsoft.com/office/drawing/2014/main" id="{601E0A5A-858A-8F2B-FBB6-6D1BA67FFAF2}"/>
              </a:ext>
            </a:extLst>
          </p:cNvPr>
          <p:cNvSpPr/>
          <p:nvPr/>
        </p:nvSpPr>
        <p:spPr>
          <a:xfrm>
            <a:off x="1019448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05" name="Off-page Connector 5">
            <a:extLst>
              <a:ext uri="{FF2B5EF4-FFF2-40B4-BE49-F238E27FC236}">
                <a16:creationId xmlns:a16="http://schemas.microsoft.com/office/drawing/2014/main" id="{601E0A5A-858A-8F2B-FBB6-6D1BA67FFAF2}"/>
              </a:ext>
            </a:extLst>
          </p:cNvPr>
          <p:cNvSpPr/>
          <p:nvPr/>
        </p:nvSpPr>
        <p:spPr>
          <a:xfrm>
            <a:off x="1085436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06" name="Off-page Connector 5">
            <a:extLst>
              <a:ext uri="{FF2B5EF4-FFF2-40B4-BE49-F238E27FC236}">
                <a16:creationId xmlns:a16="http://schemas.microsoft.com/office/drawing/2014/main" id="{601E0A5A-858A-8F2B-FBB6-6D1BA67FFAF2}"/>
              </a:ext>
            </a:extLst>
          </p:cNvPr>
          <p:cNvSpPr/>
          <p:nvPr/>
        </p:nvSpPr>
        <p:spPr>
          <a:xfrm>
            <a:off x="11514600"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6</a:t>
            </a:r>
          </a:p>
          <a:p>
            <a:pPr algn="ctr"/>
            <a:r>
              <a:rPr sz="1050" b="1">
                <a:solidFill>
                  <a:srgbClr val="808080"/>
                </a:solidFill>
                <a:latin typeface="Meiryo"/>
                <a:ea typeface="Meiryo"/>
                <a:cs typeface="Meiryo"/>
              </a:rPr>
              <a:t>提案</a:t>
            </a:r>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808080"/>
      </a:hlink>
      <a:folHlink>
        <a:srgbClr val="808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オレンジ　ユニバーサル" id="{DDF077F7-BA21-FC41-978A-DD4CA4756309}" vid="{43215BA7-B5F4-3049-B00B-423F1BE0E8B6}"/>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808080"/>
      </a:hlink>
      <a:folHlink>
        <a:srgbClr val="808080"/>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テーマ</Template>
  <TotalTime>30894</TotalTime>
  <Words>35882</Words>
  <Application>Microsoft Macintosh PowerPoint</Application>
  <PresentationFormat>ワイド画面</PresentationFormat>
  <Paragraphs>5259</Paragraphs>
  <Slides>121</Slides>
  <Notes>112</Notes>
  <HiddenSlides>3</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121</vt:i4>
      </vt:variant>
    </vt:vector>
  </HeadingPairs>
  <TitlesOfParts>
    <vt:vector size="127" baseType="lpstr">
      <vt:lpstr>Meiryo</vt:lpstr>
      <vt:lpstr>游ゴシック</vt:lpstr>
      <vt:lpstr>Arial</vt:lpstr>
      <vt:lpstr>Calibri</vt:lpstr>
      <vt:lpstr>Cambria Math</vt:lpstr>
      <vt:lpstr>Office テーマ</vt:lpstr>
      <vt:lpstr>光電式容積脈波記録法：PhotoPlethysmoGraphy（ PPG ） 波形解析について</vt:lpstr>
      <vt:lpstr>用語の整理</vt:lpstr>
      <vt:lpstr>目的</vt:lpstr>
      <vt:lpstr>メニュー</vt:lpstr>
      <vt:lpstr>1. PPGの基礎</vt:lpstr>
      <vt:lpstr>1.1  SpO₂の測定原理</vt:lpstr>
      <vt:lpstr>1.1  SpO₂の測定原理</vt:lpstr>
      <vt:lpstr>1.1  SpO₂の測定原理</vt:lpstr>
      <vt:lpstr>1.1  SpO₂の測定原理</vt:lpstr>
      <vt:lpstr>1.1  SpO₂の測定原理</vt:lpstr>
      <vt:lpstr>1.1  SpO₂の測定原理</vt:lpstr>
      <vt:lpstr>1.1  SpO₂の測定原理</vt:lpstr>
      <vt:lpstr>1.1  SpO₂の測定原理</vt:lpstr>
      <vt:lpstr>1.1  SpO₂の測定原理</vt:lpstr>
      <vt:lpstr>＊ 残存動脈血について</vt:lpstr>
      <vt:lpstr>1.2  PPGが測るもの</vt:lpstr>
      <vt:lpstr>1.3  前進波の成因</vt:lpstr>
      <vt:lpstr>1.3  前進波の成因</vt:lpstr>
      <vt:lpstr>1.3  前進波の成因</vt:lpstr>
      <vt:lpstr>1.4  反射波の成因</vt:lpstr>
      <vt:lpstr>1.5  PPG基礎まとめ</vt:lpstr>
      <vt:lpstr>2. 波形への影響</vt:lpstr>
      <vt:lpstr>2. 波形への影響</vt:lpstr>
      <vt:lpstr>2.1.1  フラミンガム研究</vt:lpstr>
      <vt:lpstr>2.1.1  フラミンガム研究</vt:lpstr>
      <vt:lpstr>2.1.1  フラミンガム研究</vt:lpstr>
      <vt:lpstr>2.1.1  フラミンガム研究</vt:lpstr>
      <vt:lpstr>PowerPoint プレゼンテーション</vt:lpstr>
      <vt:lpstr>PowerPoint プレゼンテーション</vt:lpstr>
      <vt:lpstr>2.1.2  UK Biobank</vt:lpstr>
      <vt:lpstr>2.1.2  UK Biobank</vt:lpstr>
      <vt:lpstr>2.1.2  UK Biobank</vt:lpstr>
      <vt:lpstr>2.1.2  UK Biobank</vt:lpstr>
      <vt:lpstr>2.1.3  切痕平滑化の理由</vt:lpstr>
      <vt:lpstr>2.1.3  切痕平滑化の理由</vt:lpstr>
      <vt:lpstr>2. 波形への影響</vt:lpstr>
      <vt:lpstr>2.2.1  前負荷</vt:lpstr>
      <vt:lpstr>2.2.1  前負荷</vt:lpstr>
      <vt:lpstr>2.2.2  後負荷：末梢</vt:lpstr>
      <vt:lpstr>2.2.2  後負荷：末梢</vt:lpstr>
      <vt:lpstr>2.2.3  後負荷の違い</vt:lpstr>
      <vt:lpstr>2.2.4  心収縮力</vt:lpstr>
      <vt:lpstr>2.2.4  心収縮力</vt:lpstr>
      <vt:lpstr>2.2.5  心拍数</vt:lpstr>
      <vt:lpstr>2.2.6  波形変化まとめ</vt:lpstr>
      <vt:lpstr>2. 波形への影響</vt:lpstr>
      <vt:lpstr>2.3.1  切痕位置とトーヌス</vt:lpstr>
      <vt:lpstr>2.3.2  波形の6分類</vt:lpstr>
      <vt:lpstr>2.3.2  波形の6分類</vt:lpstr>
      <vt:lpstr>2.3.2  6分類と血行動態</vt:lpstr>
      <vt:lpstr>2.3.2  6分類と血行動態</vt:lpstr>
      <vt:lpstr>2.3.3  導入時の低血圧</vt:lpstr>
      <vt:lpstr>3. 波形の定量化</vt:lpstr>
      <vt:lpstr>3.1. Stiffness Index</vt:lpstr>
      <vt:lpstr>3.1. Stiffness Index</vt:lpstr>
      <vt:lpstr>3.1. Stiffness Index</vt:lpstr>
      <vt:lpstr>3.2  Reflection Index</vt:lpstr>
      <vt:lpstr>3.2  Reflection Index</vt:lpstr>
      <vt:lpstr>3.2  Reflection Index</vt:lpstr>
      <vt:lpstr>3.2  Reflection Index</vt:lpstr>
      <vt:lpstr>3.2  RI と心拍数</vt:lpstr>
      <vt:lpstr>3.3  加速度脈波 SDPPG</vt:lpstr>
      <vt:lpstr>3.3  加速度脈波 SDPPG</vt:lpstr>
      <vt:lpstr>3.3  SDPPG の主な知見</vt:lpstr>
      <vt:lpstr>3.3  SDPPG は何を測れたか</vt:lpstr>
      <vt:lpstr>3.3  b/a と SI</vt:lpstr>
      <vt:lpstr>3.3  b/a と SI</vt:lpstr>
      <vt:lpstr>3.3  d/a と RI</vt:lpstr>
      <vt:lpstr>3.3  d/a と RI</vt:lpstr>
      <vt:lpstr>3.4  定量化指標まとめ</vt:lpstr>
      <vt:lpstr>4. 限界</vt:lpstr>
      <vt:lpstr>4.1  波形変化をどう読むか</vt:lpstr>
      <vt:lpstr>4.1  切痕が見えないとき</vt:lpstr>
      <vt:lpstr>4.2  極端な動脈硬化</vt:lpstr>
      <vt:lpstr>4.3  DN-less 信号対策</vt:lpstr>
      <vt:lpstr>4.3  DN-less 信号対策</vt:lpstr>
      <vt:lpstr>5. PDA（波形分解）</vt:lpstr>
      <vt:lpstr>5.1  PDA とは</vt:lpstr>
      <vt:lpstr>5.2  合成波と成分波</vt:lpstr>
      <vt:lpstr>5.2  基底関数とは</vt:lpstr>
      <vt:lpstr>5.2  代表的な基底関数の形</vt:lpstr>
      <vt:lpstr>5.2  カーネル数</vt:lpstr>
      <vt:lpstr>5.3  どうやって推測するのか</vt:lpstr>
      <vt:lpstr>5.3  初期値/境界条件の決め方</vt:lpstr>
      <vt:lpstr>5.3  当てはめ方</vt:lpstr>
      <vt:lpstr>5.3  収束の検算</vt:lpstr>
      <vt:lpstr>5.4  重要文献の全体像</vt:lpstr>
      <vt:lpstr>5.4  Rubins 2008</vt:lpstr>
      <vt:lpstr>5.4  Goswami 2010</vt:lpstr>
      <vt:lpstr>5.4  Couceiro 2012</vt:lpstr>
      <vt:lpstr>5.4  Couceiro 2015</vt:lpstr>
      <vt:lpstr>5.4  Tigges 2017</vt:lpstr>
      <vt:lpstr>5.4  Fleischhauer 2020</vt:lpstr>
      <vt:lpstr>5.4  Basso 2024</vt:lpstr>
      <vt:lpstr>5.5  PDA の限界</vt:lpstr>
      <vt:lpstr>6. 提案</vt:lpstr>
      <vt:lpstr>6.1  esCCO の推定構造</vt:lpstr>
      <vt:lpstr>6.1  esCCO の推定構造</vt:lpstr>
      <vt:lpstr>6.1  後負荷で符号が反転</vt:lpstr>
      <vt:lpstr>6.2  誤差と血管抵抗の関係</vt:lpstr>
      <vt:lpstr>6.2  精度の現在地</vt:lpstr>
      <vt:lpstr>6.3  提案 ― K を動的に補正</vt:lpstr>
      <vt:lpstr>6.3  なぜ SI・RI か</vt:lpstr>
      <vt:lpstr>6.3  ΔT は PEP を含まない</vt:lpstr>
      <vt:lpstr>6.4  期待される利点</vt:lpstr>
      <vt:lpstr>6.5  限界 ― 指標の側</vt:lpstr>
      <vt:lpstr>6.5  限界 ― 信号と検証の側</vt:lpstr>
      <vt:lpstr>6.6  実現までの道筋</vt:lpstr>
      <vt:lpstr>6.7  まず公開データで試す</vt:lpstr>
      <vt:lpstr>6.8  実機で波形が取れるか</vt:lpstr>
      <vt:lpstr>6.9  必要な症例数</vt:lpstr>
      <vt:lpstr>6.10  必要な機器と体制</vt:lpstr>
      <vt:lpstr>6.11  倫理と手続き</vt:lpstr>
      <vt:lpstr>6.12  想定されるつまずき</vt:lpstr>
      <vt:lpstr>6.  提案のまとめ</vt:lpstr>
      <vt:lpstr>6.  提案のまとめ</vt:lpstr>
      <vt:lpstr>参考文献</vt:lpstr>
      <vt:lpstr>参考文献（2）</vt:lpstr>
      <vt:lpstr>参考文献（3）</vt:lpstr>
      <vt:lpstr>参考文献（4）</vt:lpstr>
      <vt:lpstr>参考文献（5）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 pauseの（ほぼ）全て</dc:title>
  <dc:creator>靖晃 川副</dc:creator>
  <cp:lastModifiedBy>靖晃 川副</cp:lastModifiedBy>
  <cp:revision>87</cp:revision>
  <dcterms:created xsi:type="dcterms:W3CDTF">2025-01-05T04:32:32Z</dcterms:created>
  <dcterms:modified xsi:type="dcterms:W3CDTF">2026-08-24T03:02:35Z</dcterms:modified>
</cp:coreProperties>
</file>