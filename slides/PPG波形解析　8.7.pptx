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slides/slide121.xml" ContentType="application/vnd.openxmlformats-officedocument.presentationml.slide+xml"/>
  <Override PartName="/ppt/slides/slide12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2"/>
  </p:notesMasterIdLst>
  <p:sldIdLst>
    <p:sldId id="372" r:id="rId2"/>
    <p:sldId id="458" r:id="rId3"/>
    <p:sldId id="498" r:id="rId4"/>
    <p:sldId id="259" r:id="rId5"/>
    <p:sldId id="260" r:id="rId6"/>
    <p:sldId id="368" r:id="rId7"/>
    <p:sldId id="369" r:id="rId8"/>
    <p:sldId id="349" r:id="rId9"/>
    <p:sldId id="380" r:id="rId10"/>
    <p:sldId id="399" r:id="rId11"/>
    <p:sldId id="401" r:id="rId12"/>
    <p:sldId id="402" r:id="rId13"/>
    <p:sldId id="377" r:id="rId14"/>
    <p:sldId id="378" r:id="rId15"/>
    <p:sldId id="397" r:id="rId16"/>
    <p:sldId id="347" r:id="rId17"/>
    <p:sldId id="352" r:id="rId18"/>
    <p:sldId id="379" r:id="rId19"/>
    <p:sldId id="351" r:id="rId20"/>
    <p:sldId id="328" r:id="rId21"/>
    <p:sldId id="432" r:id="rId22"/>
    <p:sldId id="306" r:id="rId23"/>
    <p:sldId id="472" r:id="rId24"/>
    <p:sldId id="354" r:id="rId25"/>
    <p:sldId id="422" r:id="rId26"/>
    <p:sldId id="307" r:id="rId27"/>
    <p:sldId id="382" r:id="rId28"/>
    <p:sldId id="384" r:id="rId29"/>
    <p:sldId id="339" r:id="rId30"/>
    <p:sldId id="425" r:id="rId31"/>
    <p:sldId id="424" r:id="rId32"/>
    <p:sldId id="355" r:id="rId33"/>
    <p:sldId id="311" r:id="rId34"/>
    <p:sldId id="272" r:id="rId35"/>
    <p:sldId id="383" r:id="rId36"/>
    <p:sldId id="473" r:id="rId37"/>
    <p:sldId id="403" r:id="rId38"/>
    <p:sldId id="356" r:id="rId39"/>
    <p:sldId id="427" r:id="rId40"/>
    <p:sldId id="428" r:id="rId41"/>
    <p:sldId id="320" r:id="rId42"/>
    <p:sldId id="410" r:id="rId43"/>
    <p:sldId id="409" r:id="rId44"/>
    <p:sldId id="299" r:id="rId45"/>
    <p:sldId id="362" r:id="rId46"/>
    <p:sldId id="474" r:id="rId47"/>
    <p:sldId id="275" r:id="rId48"/>
    <p:sldId id="321" r:id="rId49"/>
    <p:sldId id="310" r:id="rId50"/>
    <p:sldId id="385" r:id="rId51"/>
    <p:sldId id="433" r:id="rId52"/>
    <p:sldId id="364" r:id="rId53"/>
    <p:sldId id="274" r:id="rId54"/>
    <p:sldId id="517" r:id="rId55"/>
    <p:sldId id="330" r:id="rId56"/>
    <p:sldId id="386" r:id="rId57"/>
    <p:sldId id="518" r:id="rId58"/>
    <p:sldId id="331" r:id="rId59"/>
    <p:sldId id="388" r:id="rId60"/>
    <p:sldId id="398" r:id="rId61"/>
    <p:sldId id="360" r:id="rId62"/>
    <p:sldId id="390" r:id="rId63"/>
    <p:sldId id="391" r:id="rId64"/>
    <p:sldId id="459" r:id="rId65"/>
    <p:sldId id="470" r:id="rId66"/>
    <p:sldId id="414" r:id="rId67"/>
    <p:sldId id="475" r:id="rId68"/>
    <p:sldId id="429" r:id="rId69"/>
    <p:sldId id="476" r:id="rId70"/>
    <p:sldId id="343" r:id="rId71"/>
    <p:sldId id="289" r:id="rId72"/>
    <p:sldId id="497" r:id="rId73"/>
    <p:sldId id="496" r:id="rId74"/>
    <p:sldId id="411" r:id="rId75"/>
    <p:sldId id="460" r:id="rId76"/>
    <p:sldId id="461" r:id="rId77"/>
    <p:sldId id="462" r:id="rId78"/>
    <p:sldId id="442" r:id="rId79"/>
    <p:sldId id="478" r:id="rId80"/>
    <p:sldId id="491" r:id="rId81"/>
    <p:sldId id="480" r:id="rId82"/>
    <p:sldId id="481" r:id="rId83"/>
    <p:sldId id="483" r:id="rId84"/>
    <p:sldId id="492" r:id="rId85"/>
    <p:sldId id="493" r:id="rId86"/>
    <p:sldId id="487" r:id="rId87"/>
    <p:sldId id="482" r:id="rId88"/>
    <p:sldId id="445" r:id="rId89"/>
    <p:sldId id="446" r:id="rId90"/>
    <p:sldId id="447" r:id="rId91"/>
    <p:sldId id="448" r:id="rId92"/>
    <p:sldId id="449" r:id="rId93"/>
    <p:sldId id="450" r:id="rId94"/>
    <p:sldId id="451" r:id="rId95"/>
    <p:sldId id="454" r:id="rId96"/>
    <p:sldId id="499" r:id="rId97"/>
    <p:sldId id="507" r:id="rId98"/>
    <p:sldId id="479" r:id="rId99"/>
    <p:sldId id="500" r:id="rId100"/>
    <p:sldId id="501" r:id="rId101"/>
    <p:sldId id="502" r:id="rId102"/>
    <p:sldId id="503" r:id="rId103"/>
    <p:sldId id="484" r:id="rId104"/>
    <p:sldId id="522" r:id="rId128"/>
    <p:sldId id="523" r:id="rId129"/>
    <p:sldId id="504" r:id="rId105"/>
    <p:sldId id="486" r:id="rId106"/>
    <p:sldId id="506" r:id="rId107"/>
    <p:sldId id="488" r:id="rId108"/>
    <p:sldId id="509" r:id="rId109"/>
    <p:sldId id="510" r:id="rId110"/>
    <p:sldId id="511" r:id="rId111"/>
    <p:sldId id="512" r:id="rId112"/>
    <p:sldId id="513" r:id="rId113"/>
    <p:sldId id="514" r:id="rId114"/>
    <p:sldId id="515" r:id="rId115"/>
    <p:sldId id="520" r:id="rId116"/>
    <p:sldId id="296" r:id="rId117"/>
    <p:sldId id="366" r:id="rId118"/>
    <p:sldId id="456" r:id="rId119"/>
    <p:sldId id="457" r:id="rId120"/>
    <p:sldId id="521" r:id="rId1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93"/>
    <p:restoredTop sz="75068"/>
  </p:normalViewPr>
  <p:slideViewPr>
    <p:cSldViewPr snapToGrid="0">
      <p:cViewPr varScale="1">
        <p:scale>
          <a:sx n="94" d="100"/>
          <a:sy n="94" d="100"/>
        </p:scale>
        <p:origin x="1424" y="184"/>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  <Relationship Id="rId128" Type="http://schemas.openxmlformats.org/officeDocument/2006/relationships/slide" Target="slides/slide121.xml"/>
  <Relationship Id="rId129" Type="http://schemas.openxmlformats.org/officeDocument/2006/relationships/slide" Target="slides/slide12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2"/>
          <a:stretch>
            <a:fillRect/>
          </a:stretch>
        </p:blipFill>
        <p:spPr>
          <a:xfrm>
            <a:off x="4744259" y="5580000"/>
            <a:ext cx="2679481" cy="1044000"/>
          </a:xfrm>
          <a:prstGeom prst="rect">
            <a:avLst/>
          </a:prstGeom>
        </p:spPr>
      </p:pic>
      <p:sp>
        <p:nvSpPr>
          <p:cNvPr id="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1/119</a:t>
            </a:r>
          </a:p>
        </p:txBody>
      </p:sp>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1049000" y="6606000"/>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2/119</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274047" y="4528140"/>
            <a:ext cx="4774953"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362318" y="4751973"/>
            <a:ext cx="4618101" cy="461665"/>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274047" y="5300613"/>
            <a:ext cx="4774952" cy="72840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D31A4B-57F9-8054-D27C-6550DF0111E2}"/>
              </a:ext>
            </a:extLst>
          </p:cNvPr>
          <p:cNvSpPr>
            <a:spLocks noGrp="1"/>
          </p:cNvSpPr>
          <p:nvPr>
            <p:ph type="title"/>
          </p:nvPr>
        </p:nvSpPr>
        <p:spPr/>
        <p:txBody>
          <a:bodyPr/>
          <a:lstStyle/>
          <a:p>
            <a:r>
              <a:rPr kumimoji="1" lang="ja-JP" altLang="en-US"/>
              <a:t>目的</a:t>
            </a:r>
          </a:p>
        </p:txBody>
      </p:sp>
      <p:sp>
        <p:nvSpPr>
          <p:cNvPr id="3" name="コンテンツ プレースホルダー 2">
            <a:extLst>
              <a:ext uri="{FF2B5EF4-FFF2-40B4-BE49-F238E27FC236}">
                <a16:creationId xmlns:a16="http://schemas.microsoft.com/office/drawing/2014/main" id="{6E9FC955-6972-0963-CBF1-DC879DD82717}"/>
              </a:ext>
            </a:extLst>
          </p:cNvPr>
          <p:cNvSpPr>
            <a:spLocks noGrp="1"/>
          </p:cNvSpPr>
          <p:nvPr>
            <p:ph idx="1"/>
          </p:nvPr>
        </p:nvSpPr>
        <p:spPr/>
        <p:txBody>
          <a:bodyPr>
            <a:normAutofit/>
          </a:bodyPr>
          <a:lstStyle/>
          <a:p>
            <a:r>
              <a:rPr kumimoji="1" lang="en-US" altLang="ja-JP" dirty="0">
                <a:latin typeface="+mj-ea"/>
                <a:ea typeface="+mj-ea"/>
              </a:rPr>
              <a:t>PPG</a:t>
            </a:r>
            <a:r>
              <a:rPr kumimoji="1" lang="ja-JP" altLang="en-US">
                <a:latin typeface="+mj-ea"/>
                <a:ea typeface="+mj-ea"/>
              </a:rPr>
              <a:t>波形から</a:t>
            </a:r>
            <a:r>
              <a:rPr kumimoji="1" lang="en-US" altLang="ja-JP" dirty="0">
                <a:latin typeface="+mj-ea"/>
                <a:ea typeface="+mj-ea"/>
              </a:rPr>
              <a:t>PDA (Pulse Decomposition Analysis)</a:t>
            </a:r>
            <a:r>
              <a:rPr kumimoji="1" lang="ja-JP" altLang="en-US">
                <a:latin typeface="+mj-ea"/>
                <a:ea typeface="+mj-ea"/>
              </a:rPr>
              <a:t>によって</a:t>
            </a:r>
            <a:r>
              <a:rPr lang="ja-JP" altLang="en-US">
                <a:latin typeface="+mj-ea"/>
                <a:ea typeface="+mj-ea"/>
              </a:rPr>
              <a:t>　　　</a:t>
            </a:r>
            <a:r>
              <a:rPr kumimoji="1" lang="ja-JP" altLang="en-US">
                <a:latin typeface="+mj-ea"/>
                <a:ea typeface="+mj-ea"/>
              </a:rPr>
              <a:t>反射</a:t>
            </a:r>
            <a:r>
              <a:rPr lang="ja-JP" altLang="en-US">
                <a:latin typeface="+mj-ea"/>
                <a:ea typeface="+mj-ea"/>
              </a:rPr>
              <a:t>波成分を分離し、</a:t>
            </a:r>
            <a:r>
              <a:rPr lang="en-US" altLang="ja-JP" dirty="0">
                <a:latin typeface="+mj-ea"/>
                <a:ea typeface="+mj-ea"/>
              </a:rPr>
              <a:t>Stiffness Index </a:t>
            </a:r>
            <a:r>
              <a:rPr lang="ja-JP" altLang="en-US">
                <a:latin typeface="+mj-ea"/>
                <a:ea typeface="+mj-ea"/>
              </a:rPr>
              <a:t>、</a:t>
            </a:r>
            <a:r>
              <a:rPr lang="en-US" altLang="ja-JP" dirty="0">
                <a:latin typeface="+mj-ea"/>
                <a:ea typeface="+mj-ea"/>
              </a:rPr>
              <a:t>Reflection Index </a:t>
            </a:r>
            <a:r>
              <a:rPr lang="ja-JP" altLang="en-US">
                <a:latin typeface="+mj-ea"/>
                <a:ea typeface="+mj-ea"/>
              </a:rPr>
              <a:t>と　いった指標から非侵襲的に後負荷推定を行う。</a:t>
            </a:r>
            <a:endParaRPr lang="en-US" altLang="ja-JP" dirty="0">
              <a:latin typeface="+mj-ea"/>
              <a:ea typeface="+mj-ea"/>
            </a:endParaRPr>
          </a:p>
          <a:p>
            <a:pPr marL="0" indent="0">
              <a:buNone/>
            </a:pPr>
            <a:endParaRPr lang="en-US" altLang="ja-JP" dirty="0">
              <a:latin typeface="+mj-ea"/>
              <a:ea typeface="+mj-ea"/>
            </a:endParaRPr>
          </a:p>
          <a:p>
            <a:r>
              <a:rPr lang="ja-JP" altLang="en-US" b="1">
                <a:latin typeface="+mj-ea"/>
                <a:ea typeface="+mj-ea"/>
              </a:rPr>
              <a:t>術中管理における非侵襲的な後負荷モニタリングの実装。</a:t>
            </a:r>
            <a:endParaRPr lang="en-US" altLang="ja-JP" b="1" dirty="0">
              <a:latin typeface="+mj-ea"/>
              <a:ea typeface="+mj-ea"/>
            </a:endParaRPr>
          </a:p>
          <a:p>
            <a:pPr lvl="1"/>
            <a:r>
              <a:rPr lang="en-US" altLang="ja-JP" dirty="0">
                <a:latin typeface="+mj-ea"/>
                <a:ea typeface="+mj-ea"/>
              </a:rPr>
              <a:t>PDA</a:t>
            </a:r>
            <a:r>
              <a:rPr lang="ja-JP" altLang="en-US">
                <a:latin typeface="+mj-ea"/>
                <a:ea typeface="+mj-ea"/>
              </a:rPr>
              <a:t>由来の</a:t>
            </a:r>
            <a:r>
              <a:rPr lang="en-US" altLang="ja-JP" dirty="0">
                <a:latin typeface="+mj-ea"/>
                <a:ea typeface="+mj-ea"/>
              </a:rPr>
              <a:t>RI</a:t>
            </a:r>
            <a:r>
              <a:rPr lang="ja-JP" altLang="en-US">
                <a:latin typeface="+mj-ea"/>
                <a:ea typeface="+mj-ea"/>
              </a:rPr>
              <a:t>（</a:t>
            </a:r>
            <a:r>
              <a:rPr lang="en-US" altLang="ja-JP" dirty="0">
                <a:latin typeface="+mj-ea"/>
                <a:ea typeface="+mj-ea"/>
              </a:rPr>
              <a:t>ΔRI</a:t>
            </a:r>
            <a:r>
              <a:rPr lang="ja-JP" altLang="en-US">
                <a:latin typeface="+mj-ea"/>
                <a:ea typeface="+mj-ea"/>
              </a:rPr>
              <a:t>）と</a:t>
            </a:r>
            <a:r>
              <a:rPr lang="en-US" altLang="ja-JP" dirty="0">
                <a:latin typeface="+mj-ea"/>
                <a:ea typeface="+mj-ea"/>
              </a:rPr>
              <a:t>SVR</a:t>
            </a:r>
            <a:r>
              <a:rPr lang="ja-JP" altLang="en-US">
                <a:latin typeface="+mj-ea"/>
                <a:ea typeface="+mj-ea"/>
              </a:rPr>
              <a:t>（</a:t>
            </a:r>
            <a:r>
              <a:rPr lang="en-US" altLang="ja-JP" dirty="0">
                <a:latin typeface="+mj-ea"/>
                <a:ea typeface="+mj-ea"/>
              </a:rPr>
              <a:t>ΔSVR</a:t>
            </a:r>
            <a:r>
              <a:rPr lang="ja-JP" altLang="en-US">
                <a:latin typeface="+mj-ea"/>
                <a:ea typeface="+mj-ea"/>
              </a:rPr>
              <a:t>）との関連を調べたい。</a:t>
            </a:r>
            <a:endParaRPr lang="en-US" altLang="ja-JP" dirty="0">
              <a:latin typeface="+mj-ea"/>
              <a:ea typeface="+mj-ea"/>
            </a:endParaRPr>
          </a:p>
          <a:p>
            <a:pPr lvl="1"/>
            <a:r>
              <a:rPr lang="en-US" altLang="ja-JP" dirty="0">
                <a:latin typeface="+mj-ea"/>
                <a:ea typeface="+mj-ea"/>
              </a:rPr>
              <a:t>SI</a:t>
            </a:r>
            <a:r>
              <a:rPr lang="ja-JP" altLang="en-US">
                <a:latin typeface="+mj-ea"/>
                <a:ea typeface="+mj-ea"/>
              </a:rPr>
              <a:t>（</a:t>
            </a:r>
            <a:r>
              <a:rPr lang="en-US" altLang="ja-JP" dirty="0">
                <a:latin typeface="+mj-ea"/>
                <a:ea typeface="+mj-ea"/>
              </a:rPr>
              <a:t>ΔSI</a:t>
            </a:r>
            <a:r>
              <a:rPr lang="ja-JP" altLang="en-US">
                <a:latin typeface="+mj-ea"/>
                <a:ea typeface="+mj-ea"/>
              </a:rPr>
              <a:t>）と血圧変動の関連を調べたい。</a:t>
            </a:r>
            <a:endParaRPr lang="en-US" altLang="ja-JP" dirty="0">
              <a:latin typeface="+mj-ea"/>
              <a:ea typeface="+mj-ea"/>
            </a:endParaRPr>
          </a:p>
          <a:p>
            <a:endParaRPr kumimoji="1" lang="en-US" altLang="ja-JP" dirty="0">
              <a:latin typeface="+mj-ea"/>
              <a:ea typeface="+mj-ea"/>
            </a:endParaRPr>
          </a:p>
          <a:p>
            <a:r>
              <a:rPr kumimoji="1" lang="en-US" altLang="ja-JP" b="1" dirty="0" err="1">
                <a:latin typeface="+mj-ea"/>
                <a:ea typeface="+mj-ea"/>
              </a:rPr>
              <a:t>esCCO</a:t>
            </a:r>
            <a:r>
              <a:rPr kumimoji="1" lang="ja-JP" altLang="en-US" b="1">
                <a:latin typeface="+mj-ea"/>
                <a:ea typeface="+mj-ea"/>
              </a:rPr>
              <a:t>の推定精度向上。</a:t>
            </a:r>
          </a:p>
        </p:txBody>
      </p:sp>
      <p:sp>
        <p:nvSpPr>
          <p:cNvPr id="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3/119</a:t>
            </a:r>
          </a:p>
        </p:txBody>
      </p:sp>
    </p:spTree>
    <p:extLst>
      <p:ext uri="{BB962C8B-B14F-4D97-AF65-F5344CB8AC3E}">
        <p14:creationId xmlns:p14="http://schemas.microsoft.com/office/powerpoint/2010/main" val="327647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8" name="TextBox 7"/>
          <p:cNvSpPr txBox="1"/>
          <p:nvPr/>
        </p:nvSpPr>
        <p:spPr>
          <a:xfrm>
            <a:off x="774192" y="1805780"/>
            <a:ext cx="10579608" cy="4320000"/>
          </a:xfrm>
          <a:prstGeom prst="rect">
            <a:avLst/>
          </a:prstGeom>
          <a:noFill/>
        </p:spPr>
        <p:txBody>
          <a:bodyPr wrap="square" lIns="0" tIns="0" rIns="0" bIns="0" anchor="ctr">
            <a:spAutoFit/>
          </a:bodyPr>
          <a:lstStyle/>
          <a:p>
            <a:pPr>
              <a:lnSpc>
                <a:spcPct val="145000"/>
              </a:lnSpc>
            </a:pPr>
            <a:r>
              <a:rPr sz="3400" b="1" dirty="0">
                <a:solidFill>
                  <a:srgbClr val="BF9000"/>
                </a:solidFill>
                <a:latin typeface="Meiryo"/>
                <a:ea typeface="Meiryo"/>
                <a:cs typeface="Meiryo"/>
              </a:rPr>
              <a:t>1. </a:t>
            </a:r>
            <a:r>
              <a:rPr sz="3400" b="1" dirty="0" err="1">
                <a:solidFill>
                  <a:srgbClr val="262626"/>
                </a:solidFill>
                <a:latin typeface="Meiryo"/>
                <a:ea typeface="Meiryo"/>
                <a:cs typeface="Meiryo"/>
              </a:rPr>
              <a:t>PPGの基礎</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2. </a:t>
            </a:r>
            <a:r>
              <a:rPr sz="3400" b="1" dirty="0" err="1">
                <a:solidFill>
                  <a:srgbClr val="262626"/>
                </a:solidFill>
                <a:latin typeface="Meiryo"/>
                <a:ea typeface="Meiryo"/>
                <a:cs typeface="Meiryo"/>
              </a:rPr>
              <a:t>波形</a:t>
            </a:r>
            <a:r>
              <a:rPr lang="ja-JP" altLang="en-US" sz="3400" b="1">
                <a:solidFill>
                  <a:srgbClr val="262626"/>
                </a:solidFill>
                <a:latin typeface="Meiryo"/>
                <a:ea typeface="Meiryo"/>
                <a:cs typeface="Meiryo"/>
              </a:rPr>
              <a:t>に影響する因子</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3. </a:t>
            </a:r>
            <a:r>
              <a:rPr sz="3400" b="1" dirty="0" err="1">
                <a:solidFill>
                  <a:srgbClr val="262626"/>
                </a:solidFill>
                <a:latin typeface="Meiryo"/>
                <a:ea typeface="Meiryo"/>
                <a:cs typeface="Meiryo"/>
              </a:rPr>
              <a:t>波形</a:t>
            </a:r>
            <a:r>
              <a:rPr lang="ja-JP" altLang="en-US" sz="3400" b="1">
                <a:solidFill>
                  <a:srgbClr val="262626"/>
                </a:solidFill>
                <a:latin typeface="Meiryo"/>
                <a:ea typeface="Meiryo"/>
                <a:cs typeface="Meiryo"/>
              </a:rPr>
              <a:t>を定量化する方法</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4. </a:t>
            </a:r>
            <a:r>
              <a:rPr sz="3400" b="1" dirty="0" err="1">
                <a:solidFill>
                  <a:srgbClr val="262626"/>
                </a:solidFill>
                <a:latin typeface="Meiryo"/>
                <a:ea typeface="Meiryo"/>
                <a:cs typeface="Meiryo"/>
              </a:rPr>
              <a:t>限界</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5. </a:t>
            </a:r>
            <a:r>
              <a:rPr sz="3400" b="1" dirty="0" err="1">
                <a:solidFill>
                  <a:srgbClr val="262626"/>
                </a:solidFill>
                <a:latin typeface="Meiryo"/>
                <a:ea typeface="Meiryo"/>
                <a:cs typeface="Meiryo"/>
              </a:rPr>
              <a:t>PDA（波形分解</a:t>
            </a:r>
            <a:r>
              <a:rPr sz="3400" b="1" dirty="0">
                <a:solidFill>
                  <a:srgbClr val="262626"/>
                </a:solidFill>
                <a:latin typeface="Meiryo"/>
                <a:ea typeface="Meiryo"/>
                <a:cs typeface="Meiryo"/>
              </a:rPr>
              <a:t>）</a:t>
            </a:r>
            <a:r>
              <a:rPr lang="ja-JP" altLang="en-US" sz="3400" b="1">
                <a:solidFill>
                  <a:srgbClr val="262626"/>
                </a:solidFill>
                <a:latin typeface="Meiryo"/>
                <a:ea typeface="Meiryo"/>
                <a:cs typeface="Meiryo"/>
              </a:rPr>
              <a:t>について</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6. </a:t>
            </a:r>
            <a:r>
              <a:rPr sz="3400" b="1" dirty="0" err="1">
                <a:solidFill>
                  <a:srgbClr val="262626"/>
                </a:solidFill>
                <a:latin typeface="Meiryo"/>
                <a:ea typeface="Meiryo"/>
                <a:cs typeface="Meiryo"/>
              </a:rPr>
              <a:t>提案（esCCO の補正）</a:t>
            </a:r>
            <a:endParaRPr sz="3400" b="1" dirty="0">
              <a:solidFill>
                <a:srgbClr val="262626"/>
              </a:solidFill>
              <a:latin typeface="Meiryo"/>
              <a:ea typeface="Meiryo"/>
              <a:cs typeface="Meiryo"/>
            </a:endParaRP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パルスオキシメトリーではどのように</a:t>
            </a:r>
            <a:r>
              <a:rPr lang="en-US" altLang="ja-JP" dirty="0">
                <a:latin typeface="+mj-ea"/>
                <a:ea typeface="+mj-ea"/>
              </a:rPr>
              <a:t>SaO2</a:t>
            </a:r>
            <a:r>
              <a:rPr lang="ja-JP" altLang="en-US">
                <a:latin typeface="+mj-ea"/>
                <a:ea typeface="+mj-ea"/>
              </a:rPr>
              <a:t>を推定している？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　4.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43635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2"/>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655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2"/>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3"/>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8481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2"/>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3"/>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237144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2"/>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3"/>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8389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271960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2"/>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3"/>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97305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2"/>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13/119</a:t>
            </a:r>
          </a:p>
        </p:txBody>
      </p:sp>
      <p:cxnSp>
        <p:nvCxnSpPr>
          <p:cNvPr id="10" name="直線矢印コネクタ 9">
            <a:extLst>
              <a:ext uri="{FF2B5EF4-FFF2-40B4-BE49-F238E27FC236}">
                <a16:creationId xmlns:a16="http://schemas.microsoft.com/office/drawing/2014/main" id="{0431D18D-1EE8-6C1C-EB9B-3209F773D438}"/>
              </a:ext>
            </a:extLst>
          </p:cNvPr>
          <p:cNvCxnSpPr/>
          <p:nvPr/>
        </p:nvCxnSpPr>
        <p:spPr>
          <a:xfrm>
            <a:off x="6781800" y="2984500"/>
            <a:ext cx="711200" cy="0"/>
          </a:xfrm>
          <a:prstGeom prst="straightConnector1">
            <a:avLst/>
          </a:prstGeom>
          <a:ln w="698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EB46946A-EF5C-D67A-FB74-5F2259F1C80E}"/>
              </a:ext>
            </a:extLst>
          </p:cNvPr>
          <p:cNvCxnSpPr>
            <a:cxnSpLocks/>
          </p:cNvCxnSpPr>
          <p:nvPr/>
        </p:nvCxnSpPr>
        <p:spPr>
          <a:xfrm flipV="1">
            <a:off x="7581900" y="2984500"/>
            <a:ext cx="0" cy="2082800"/>
          </a:xfrm>
          <a:prstGeom prst="straightConnector1">
            <a:avLst/>
          </a:prstGeom>
          <a:ln w="698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07516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2"/>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14/119</a:t>
            </a:r>
          </a:p>
        </p:txBody>
      </p:sp>
      <p:cxnSp>
        <p:nvCxnSpPr>
          <p:cNvPr id="9" name="直線矢印コネクタ 8">
            <a:extLst>
              <a:ext uri="{FF2B5EF4-FFF2-40B4-BE49-F238E27FC236}">
                <a16:creationId xmlns:a16="http://schemas.microsoft.com/office/drawing/2014/main" id="{062F6FC7-4750-33BE-9BE8-1117670723F3}"/>
              </a:ext>
            </a:extLst>
          </p:cNvPr>
          <p:cNvCxnSpPr>
            <a:cxnSpLocks/>
          </p:cNvCxnSpPr>
          <p:nvPr/>
        </p:nvCxnSpPr>
        <p:spPr>
          <a:xfrm flipV="1">
            <a:off x="7581900" y="2984500"/>
            <a:ext cx="0" cy="2082800"/>
          </a:xfrm>
          <a:prstGeom prst="straightConnector1">
            <a:avLst/>
          </a:prstGeom>
          <a:ln w="698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0907120-D4AA-22D8-B7E0-760ABBAE0B2A}"/>
              </a:ext>
            </a:extLst>
          </p:cNvPr>
          <p:cNvCxnSpPr>
            <a:cxnSpLocks/>
          </p:cNvCxnSpPr>
          <p:nvPr/>
        </p:nvCxnSpPr>
        <p:spPr>
          <a:xfrm flipH="1">
            <a:off x="6769218" y="2953613"/>
            <a:ext cx="812682" cy="0"/>
          </a:xfrm>
          <a:prstGeom prst="straightConnector1">
            <a:avLst/>
          </a:prstGeom>
          <a:ln w="698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8CD733AF-B3AA-CA95-2C57-1BFFE03644AE}"/>
              </a:ext>
            </a:extLst>
          </p:cNvPr>
          <p:cNvSpPr txBox="1"/>
          <p:nvPr/>
        </p:nvSpPr>
        <p:spPr>
          <a:xfrm>
            <a:off x="5704540" y="2783137"/>
            <a:ext cx="979755" cy="430887"/>
          </a:xfrm>
          <a:prstGeom prst="rect">
            <a:avLst/>
          </a:prstGeom>
          <a:noFill/>
        </p:spPr>
        <p:txBody>
          <a:bodyPr wrap="none" rtlCol="0">
            <a:spAutoFit/>
          </a:bodyPr>
          <a:lstStyle/>
          <a:p>
            <a:r>
              <a:rPr kumimoji="1" lang="en-US" altLang="ja-JP" sz="2200" b="1" dirty="0">
                <a:latin typeface="+mn-ea"/>
              </a:rPr>
              <a:t>SpO2</a:t>
            </a:r>
            <a:endParaRPr kumimoji="1" lang="ja-JP" altLang="en-US" sz="2200" b="1">
              <a:latin typeface="+mn-ea"/>
            </a:endParaRP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175598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2"/>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3"/>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45179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2"/>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699481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2"/>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76433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2"/>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3"/>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508768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pic>
        <p:nvPicPr>
          <p:cNvPr id="19" name="fig_body" descr="f13_body.png"/>
          <p:cNvPicPr>
            <a:picLocks noChangeAspect="1"/>
          </p:cNvPicPr>
          <p:nvPr/>
        </p:nvPicPr>
        <p:blipFill>
          <a:blip r:embed="rId2"/>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3"/>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dirty="0" err="1">
                <a:solidFill>
                  <a:srgbClr val="262626"/>
                </a:solidFill>
                <a:latin typeface="Meiryo"/>
                <a:ea typeface="Meiryo"/>
                <a:cs typeface="Meiryo"/>
              </a:rPr>
              <a:t>赤色光と赤外光の</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吸収の比</a:t>
            </a:r>
            <a:r>
              <a:rPr sz="2300" b="0" dirty="0">
                <a:solidFill>
                  <a:srgbClr val="262626"/>
                </a:solidFill>
                <a:latin typeface="Meiryo"/>
                <a:ea typeface="Meiryo"/>
                <a:cs typeface="Meiryo"/>
              </a:rPr>
              <a:t> R </a:t>
            </a:r>
            <a:r>
              <a:rPr sz="2300" b="0" dirty="0" err="1">
                <a:solidFill>
                  <a:srgbClr val="262626"/>
                </a:solidFill>
                <a:latin typeface="Meiryo"/>
                <a:ea typeface="Meiryo"/>
                <a:cs typeface="Meiryo"/>
              </a:rPr>
              <a:t>を</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健常者の較正表に</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当てはめた推定値。</a:t>
            </a:r>
            <a:endParaRPr sz="2300" b="0" dirty="0">
              <a:solidFill>
                <a:srgbClr val="262626"/>
              </a:solidFill>
              <a:latin typeface="Meiryo"/>
              <a:ea typeface="Meiryo"/>
              <a:cs typeface="Meiryo"/>
            </a:endParaRP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836126"/>
          </a:xfrm>
          <a:prstGeom prst="rect">
            <a:avLst/>
          </a:prstGeom>
          <a:noFill/>
        </p:spPr>
        <p:txBody>
          <a:bodyPr wrap="square" lIns="0" tIns="0" rIns="0" bIns="0" anchor="t">
            <a:spAutoFit/>
          </a:bodyPr>
          <a:lstStyle/>
          <a:p>
            <a:pPr algn="ctr">
              <a:spcAft>
                <a:spcPts val="400"/>
              </a:spcAft>
            </a:pPr>
            <a:r>
              <a:rPr lang="en-US" altLang="ja-JP" sz="2700" b="1" dirty="0" err="1">
                <a:latin typeface="Meiryo"/>
                <a:ea typeface="Meiryo"/>
                <a:cs typeface="Meiryo"/>
              </a:rPr>
              <a:t>PPG</a:t>
            </a:r>
            <a:r>
              <a:rPr sz="2700" b="1" dirty="0" err="1">
                <a:latin typeface="Meiryo"/>
                <a:ea typeface="Meiryo"/>
                <a:cs typeface="Meiryo"/>
              </a:rPr>
              <a:t>波形は</a:t>
            </a:r>
            <a:r>
              <a:rPr sz="2700" b="1" dirty="0">
                <a:latin typeface="Meiryo"/>
                <a:ea typeface="Meiryo"/>
                <a:cs typeface="Meiryo"/>
              </a:rPr>
              <a:t> </a:t>
            </a:r>
            <a:r>
              <a:rPr sz="2700" b="1" dirty="0" err="1">
                <a:latin typeface="Meiryo"/>
                <a:ea typeface="Meiryo"/>
                <a:cs typeface="Meiryo"/>
              </a:rPr>
              <a:t>どのような因子</a:t>
            </a:r>
            <a:r>
              <a:rPr sz="2700" b="1" dirty="0">
                <a:latin typeface="Meiryo"/>
                <a:ea typeface="Meiryo"/>
                <a:cs typeface="Meiryo"/>
              </a:rPr>
              <a:t> </a:t>
            </a:r>
            <a:r>
              <a:rPr sz="2700" b="1" dirty="0" err="1">
                <a:latin typeface="Meiryo"/>
                <a:ea typeface="Meiryo"/>
                <a:cs typeface="Meiryo"/>
              </a:rPr>
              <a:t>に影響を受けるのか。</a:t>
            </a:r>
            <a:endParaRPr sz="2700" b="1" dirty="0">
              <a:latin typeface="Meiryo"/>
              <a:ea typeface="Meiryo"/>
              <a:cs typeface="Meiryo"/>
            </a:endParaRPr>
          </a:p>
          <a:p>
            <a:pPr algn="ctr">
              <a:spcAft>
                <a:spcPts val="400"/>
              </a:spcAft>
            </a:pPr>
            <a:r>
              <a:rPr sz="2400" b="1" dirty="0">
                <a:latin typeface="Meiryo"/>
                <a:ea typeface="Meiryo"/>
                <a:cs typeface="Meiryo"/>
              </a:rPr>
              <a:t>→　</a:t>
            </a:r>
            <a:r>
              <a:rPr sz="2400" b="1" dirty="0" err="1">
                <a:latin typeface="Meiryo"/>
                <a:ea typeface="Meiryo"/>
                <a:cs typeface="Meiryo"/>
              </a:rPr>
              <a:t>次章から</a:t>
            </a:r>
            <a:r>
              <a:rPr sz="2400" b="1" dirty="0">
                <a:latin typeface="Meiryo"/>
                <a:ea typeface="Meiryo"/>
                <a:cs typeface="Meiryo"/>
              </a:rPr>
              <a:t> </a:t>
            </a:r>
            <a:r>
              <a:rPr sz="2400" b="1" dirty="0" err="1">
                <a:latin typeface="Meiryo"/>
                <a:ea typeface="Meiryo"/>
                <a:cs typeface="Meiryo"/>
              </a:rPr>
              <a:t>加齢・循環・麻酔</a:t>
            </a:r>
            <a:r>
              <a:rPr sz="2400" b="1" dirty="0">
                <a:latin typeface="Meiryo"/>
                <a:ea typeface="Meiryo"/>
                <a:cs typeface="Meiryo"/>
              </a:rPr>
              <a:t> </a:t>
            </a:r>
            <a:r>
              <a:rPr sz="2400" b="1" dirty="0" err="1">
                <a:latin typeface="Meiryo"/>
                <a:ea typeface="Meiryo"/>
                <a:cs typeface="Meiryo"/>
              </a:rPr>
              <a:t>の順に見ていく。</a:t>
            </a:r>
            <a:endParaRPr sz="2400" b="1" dirty="0">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20/119</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21/119</a:t>
            </a:r>
          </a:p>
        </p:txBody>
      </p:sp>
      <p:sp>
        <p:nvSpPr>
          <p:cNvPr id="96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4930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26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26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22/119</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94319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456926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721215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2"/>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25/119</a:t>
            </a:r>
          </a:p>
        </p:txBody>
      </p:sp>
      <p:sp>
        <p:nvSpPr>
          <p:cNvPr id="30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09"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1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1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1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13"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765431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2"/>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2"/>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2"/>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2"/>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26/119</a:t>
            </a:r>
          </a:p>
        </p:txBody>
      </p:sp>
      <p:sp>
        <p:nvSpPr>
          <p:cNvPr id="30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07"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0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1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11"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42908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2"/>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3"/>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4"/>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27/119</a:t>
            </a:r>
          </a:p>
        </p:txBody>
      </p:sp>
    </p:spTree>
    <p:extLst>
      <p:ext uri="{BB962C8B-B14F-4D97-AF65-F5344CB8AC3E}">
        <p14:creationId xmlns:p14="http://schemas.microsoft.com/office/powerpoint/2010/main" val="745935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2"/>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3"/>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4"/>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28/119</a:t>
            </a:r>
          </a:p>
        </p:txBody>
      </p:sp>
    </p:spTree>
    <p:extLst>
      <p:ext uri="{BB962C8B-B14F-4D97-AF65-F5344CB8AC3E}">
        <p14:creationId xmlns:p14="http://schemas.microsoft.com/office/powerpoint/2010/main" val="2595402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43704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391532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2"/>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3"/>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5702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2"/>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3"/>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8719371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pic>
        <p:nvPicPr>
          <p:cNvPr id="9" name="Picture 8" descr="11_stiffness_series.png"/>
          <p:cNvPicPr>
            <a:picLocks noChangeAspect="1"/>
          </p:cNvPicPr>
          <p:nvPr/>
        </p:nvPicPr>
        <p:blipFill>
          <a:blip r:embed="rId2"/>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33/119</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2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2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2"/>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34/119</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2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2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70521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26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26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35/119</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2"/>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3"/>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1663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2"/>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3"/>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3"/>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724995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2"/>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2"/>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3"/>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4"/>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38/119</a:t>
            </a:r>
          </a:p>
        </p:txBody>
      </p:sp>
      <p:sp>
        <p:nvSpPr>
          <p:cNvPr id="36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6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6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6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697726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2"/>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2"/>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3"/>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4"/>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39/119</a:t>
            </a:r>
          </a:p>
        </p:txBody>
      </p:sp>
      <p:sp>
        <p:nvSpPr>
          <p:cNvPr id="36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6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6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6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237688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2"/>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2"/>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40/119</a:t>
            </a:r>
          </a:p>
        </p:txBody>
      </p:sp>
      <p:sp>
        <p:nvSpPr>
          <p:cNvPr id="25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54"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25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5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8"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16611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2"/>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2"/>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41/119</a:t>
            </a:r>
          </a:p>
        </p:txBody>
      </p:sp>
      <p:sp>
        <p:nvSpPr>
          <p:cNvPr id="64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64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64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64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64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5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5994046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2"/>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2"/>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42/119</a:t>
            </a:r>
          </a:p>
        </p:txBody>
      </p:sp>
      <p:sp>
        <p:nvSpPr>
          <p:cNvPr id="64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64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64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64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64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5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62370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2"/>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2"/>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43/119</a:t>
            </a:r>
          </a:p>
        </p:txBody>
      </p:sp>
      <p:sp>
        <p:nvSpPr>
          <p:cNvPr id="901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18"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1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2"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26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26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45/119</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pic>
        <p:nvPicPr>
          <p:cNvPr id="9" name="Picture 8" descr="13_murray.png"/>
          <p:cNvPicPr>
            <a:picLocks noChangeAspect="1"/>
          </p:cNvPicPr>
          <p:nvPr/>
        </p:nvPicPr>
        <p:blipFill>
          <a:blip r:embed="rId2"/>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46/119</a:t>
            </a:r>
          </a:p>
        </p:txBody>
      </p:sp>
      <p:sp>
        <p:nvSpPr>
          <p:cNvPr id="24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49"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25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5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3"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861759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2"/>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833400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2"/>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3"/>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668389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2"/>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339620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7"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20. </a:t>
            </a:r>
            <a:r>
              <a:rPr sz="1050" b="0" dirty="0" err="1">
                <a:solidFill>
                  <a:srgbClr val="808080"/>
                </a:solidFill>
                <a:latin typeface="Meiryo"/>
                <a:ea typeface="Meiryo"/>
                <a:cs typeface="Meiryo"/>
              </a:rPr>
              <a:t>Tusman</a:t>
            </a:r>
            <a:r>
              <a:rPr sz="1050" b="0" dirty="0">
                <a:solidFill>
                  <a:srgbClr val="808080"/>
                </a:solidFill>
                <a:latin typeface="Meiryo"/>
                <a:ea typeface="Meiryo"/>
                <a:cs typeface="Meiryo"/>
              </a:rPr>
              <a:t> 2019</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50/119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21. </a:t>
            </a:r>
            <a:r>
              <a:rPr sz="1050" b="0" dirty="0" err="1">
                <a:solidFill>
                  <a:srgbClr val="808080"/>
                </a:solidFill>
                <a:latin typeface="Meiryo"/>
                <a:ea typeface="Meiryo"/>
                <a:cs typeface="Meiryo"/>
              </a:rPr>
              <a:t>Coutrot</a:t>
            </a:r>
            <a:r>
              <a:rPr sz="1050" b="0" dirty="0">
                <a:solidFill>
                  <a:srgbClr val="808080"/>
                </a:solidFill>
                <a:latin typeface="Meiryo"/>
                <a:ea typeface="Meiryo"/>
                <a:cs typeface="Meiryo"/>
              </a:rPr>
              <a:t> 2019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CC90D-B35D-757D-7300-EC39E91E7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579DF-6D0E-CA1C-96BB-7E708CB6BAF7}"/>
              </a:ext>
            </a:extLst>
          </p:cNvPr>
          <p:cNvSpPr>
            <a:spLocks noGrp="1"/>
          </p:cNvSpPr>
          <p:nvPr>
            <p:ph type="title"/>
          </p:nvPr>
        </p:nvSpPr>
        <p:spPr/>
        <p:txBody>
          <a:bodyPr/>
          <a:lstStyle/>
          <a:p>
            <a:pPr algn="l"/>
            <a:r>
              <a:rPr sz="4600" dirty="0">
                <a:latin typeface="Meiryo"/>
                <a:ea typeface="Meiryo"/>
                <a:cs typeface="Meiryo"/>
              </a:rPr>
              <a:t>3.1. Stiffness Index</a:t>
            </a:r>
          </a:p>
        </p:txBody>
      </p:sp>
      <p:pic>
        <p:nvPicPr>
          <p:cNvPr id="18" name="fig_si" descr="f51_si.png">
            <a:extLst>
              <a:ext uri="{FF2B5EF4-FFF2-40B4-BE49-F238E27FC236}">
                <a16:creationId xmlns:a16="http://schemas.microsoft.com/office/drawing/2014/main" id="{C174A647-D2FA-2532-6661-9A7DFAF68959}"/>
              </a:ext>
            </a:extLst>
          </p:cNvPr>
          <p:cNvPicPr>
            <a:picLocks noChangeAspect="1"/>
          </p:cNvPicPr>
          <p:nvPr/>
        </p:nvPicPr>
        <p:blipFill>
          <a:blip r:embed="rId2"/>
          <a:stretch>
            <a:fillRect/>
          </a:stretch>
        </p:blipFill>
        <p:spPr>
          <a:xfrm>
            <a:off x="1674562" y="2808096"/>
            <a:ext cx="4589438" cy="2195904"/>
          </a:xfrm>
          <a:prstGeom prst="rect">
            <a:avLst/>
          </a:prstGeom>
        </p:spPr>
      </p:pic>
      <p:sp>
        <p:nvSpPr>
          <p:cNvPr id="19" name="TextBox 18">
            <a:extLst>
              <a:ext uri="{FF2B5EF4-FFF2-40B4-BE49-F238E27FC236}">
                <a16:creationId xmlns:a16="http://schemas.microsoft.com/office/drawing/2014/main" id="{A1DD235C-336D-A9AA-2CC4-A83114540EE3}"/>
              </a:ext>
            </a:extLst>
          </p:cNvPr>
          <p:cNvSpPr txBox="1"/>
          <p:nvPr/>
        </p:nvSpPr>
        <p:spPr>
          <a:xfrm>
            <a:off x="594562" y="2601000"/>
            <a:ext cx="2160000" cy="378000"/>
          </a:xfrm>
          <a:prstGeom prst="rect">
            <a:avLst/>
          </a:prstGeom>
          <a:noFill/>
        </p:spPr>
        <p:txBody>
          <a:bodyPr wrap="none" lIns="0" tIns="0" rIns="0" bIns="0" anchor="ctr">
            <a:spAutoFit/>
          </a:bodyPr>
          <a:lstStyle/>
          <a:p>
            <a:pPr algn="r">
              <a:spcBef>
                <a:spcPts val="0"/>
              </a:spcBef>
              <a:spcAft>
                <a:spcPts val="0"/>
              </a:spcAft>
            </a:pPr>
            <a:r>
              <a:rPr sz="2200" b="1" dirty="0">
                <a:solidFill>
                  <a:srgbClr val="0072B2"/>
                </a:solidFill>
                <a:latin typeface="Meiryo"/>
                <a:ea typeface="Meiryo"/>
                <a:cs typeface="Meiryo"/>
              </a:rPr>
              <a:t>P1（前進波）</a:t>
            </a:r>
          </a:p>
        </p:txBody>
      </p:sp>
      <p:sp>
        <p:nvSpPr>
          <p:cNvPr id="20" name="TextBox 19">
            <a:extLst>
              <a:ext uri="{FF2B5EF4-FFF2-40B4-BE49-F238E27FC236}">
                <a16:creationId xmlns:a16="http://schemas.microsoft.com/office/drawing/2014/main" id="{E77D244F-F5F9-2F05-D5F0-4DAB21E693DA}"/>
              </a:ext>
            </a:extLst>
          </p:cNvPr>
          <p:cNvSpPr txBox="1"/>
          <p:nvPr/>
        </p:nvSpPr>
        <p:spPr>
          <a:xfrm>
            <a:off x="4303012" y="259964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a:extLst>
              <a:ext uri="{FF2B5EF4-FFF2-40B4-BE49-F238E27FC236}">
                <a16:creationId xmlns:a16="http://schemas.microsoft.com/office/drawing/2014/main" id="{D026FD44-9397-B498-8D6C-2E646AD1B294}"/>
              </a:ext>
            </a:extLst>
          </p:cNvPr>
          <p:cNvSpPr txBox="1"/>
          <p:nvPr/>
        </p:nvSpPr>
        <p:spPr>
          <a:xfrm>
            <a:off x="3040313" y="4978800"/>
            <a:ext cx="1152000" cy="378000"/>
          </a:xfrm>
          <a:prstGeom prst="rect">
            <a:avLst/>
          </a:prstGeom>
          <a:noFill/>
        </p:spPr>
        <p:txBody>
          <a:bodyPr wrap="none" lIns="0" tIns="0" rIns="0" bIns="0" anchor="ctr">
            <a:spAutoFit/>
          </a:bodyPr>
          <a:lstStyle/>
          <a:p>
            <a:pPr algn="ctr">
              <a:spcBef>
                <a:spcPts val="0"/>
              </a:spcBef>
              <a:spcAft>
                <a:spcPts val="0"/>
              </a:spcAft>
            </a:pPr>
            <a:r>
              <a:rPr sz="2400" b="1" dirty="0">
                <a:solidFill>
                  <a:srgbClr val="BF9000"/>
                </a:solidFill>
                <a:latin typeface="Meiryo"/>
                <a:ea typeface="Meiryo"/>
                <a:cs typeface="Meiryo"/>
              </a:rPr>
              <a:t>ΔT</a:t>
            </a:r>
          </a:p>
        </p:txBody>
      </p:sp>
      <p:sp>
        <p:nvSpPr>
          <p:cNvPr id="22" name="Rounded Rectangle 21">
            <a:extLst>
              <a:ext uri="{FF2B5EF4-FFF2-40B4-BE49-F238E27FC236}">
                <a16:creationId xmlns:a16="http://schemas.microsoft.com/office/drawing/2014/main" id="{0F7CB7E2-8CDE-CDB3-1508-0C2FC7D30743}"/>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ja-JP" altLang="en-US" sz="2600" b="1">
                <a:solidFill>
                  <a:srgbClr val="262626"/>
                </a:solidFill>
                <a:latin typeface="Meiryo"/>
                <a:ea typeface="Meiryo"/>
                <a:cs typeface="Meiryo"/>
              </a:rPr>
              <a:t>大血管スティッフネスは反射波の時相に影響。</a:t>
            </a:r>
            <a:endParaRPr sz="2200" b="1" dirty="0">
              <a:solidFill>
                <a:srgbClr val="262626"/>
              </a:solidFill>
              <a:latin typeface="Meiryo"/>
              <a:ea typeface="Meiryo"/>
              <a:cs typeface="Meiryo"/>
            </a:endParaRPr>
          </a:p>
        </p:txBody>
      </p:sp>
      <p:sp>
        <p:nvSpPr>
          <p:cNvPr id="23" name="Source">
            <a:extLst>
              <a:ext uri="{FF2B5EF4-FFF2-40B4-BE49-F238E27FC236}">
                <a16:creationId xmlns:a16="http://schemas.microsoft.com/office/drawing/2014/main" id="{35B01AA2-D4F2-C592-0838-82885241529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a:extLst>
              <a:ext uri="{FF2B5EF4-FFF2-40B4-BE49-F238E27FC236}">
                <a16:creationId xmlns:a16="http://schemas.microsoft.com/office/drawing/2014/main" id="{92517639-BD73-84AE-5731-1A961867F75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52/119</a:t>
            </a:r>
          </a:p>
        </p:txBody>
      </p:sp>
      <p:cxnSp>
        <p:nvCxnSpPr>
          <p:cNvPr id="8" name="wbase1">
            <a:extLst>
              <a:ext uri="{FF2B5EF4-FFF2-40B4-BE49-F238E27FC236}">
                <a16:creationId xmlns:a16="http://schemas.microsoft.com/office/drawing/2014/main" id="{133A98FF-CA49-B7C0-C4CD-B015298BFECD}"/>
              </a:ext>
            </a:extLst>
          </p:cNvPr>
          <p:cNvCxnSpPr>
            <a:cxnSpLocks/>
          </p:cNvCxnSpPr>
          <p:nvPr/>
        </p:nvCxnSpPr>
        <p:spPr>
          <a:xfrm>
            <a:off x="6983925" y="4524776"/>
            <a:ext cx="3631693"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1">
            <a:extLst>
              <a:ext uri="{FF2B5EF4-FFF2-40B4-BE49-F238E27FC236}">
                <a16:creationId xmlns:a16="http://schemas.microsoft.com/office/drawing/2014/main" id="{7987DBC8-53F5-4280-47E3-025D8E1C2CFE}"/>
              </a:ext>
            </a:extLst>
          </p:cNvPr>
          <p:cNvSpPr/>
          <p:nvPr/>
        </p:nvSpPr>
        <p:spPr>
          <a:xfrm>
            <a:off x="6983925" y="3476915"/>
            <a:ext cx="3631693" cy="1047862"/>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wc1">
            <a:extLst>
              <a:ext uri="{FF2B5EF4-FFF2-40B4-BE49-F238E27FC236}">
                <a16:creationId xmlns:a16="http://schemas.microsoft.com/office/drawing/2014/main" id="{2BB4FA97-87FF-107E-2F95-9222B79D325A}"/>
              </a:ext>
            </a:extLst>
          </p:cNvPr>
          <p:cNvSpPr/>
          <p:nvPr/>
        </p:nvSpPr>
        <p:spPr>
          <a:xfrm>
            <a:off x="6983925" y="3292688"/>
            <a:ext cx="3631693" cy="1232088"/>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直線矢印コネクタ 25">
            <a:extLst>
              <a:ext uri="{FF2B5EF4-FFF2-40B4-BE49-F238E27FC236}">
                <a16:creationId xmlns:a16="http://schemas.microsoft.com/office/drawing/2014/main" id="{CA38BEE4-D78D-B817-8A1F-D75E0268A536}"/>
              </a:ext>
            </a:extLst>
          </p:cNvPr>
          <p:cNvCxnSpPr/>
          <p:nvPr/>
        </p:nvCxnSpPr>
        <p:spPr>
          <a:xfrm flipH="1">
            <a:off x="8015293" y="3829050"/>
            <a:ext cx="485775"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1646133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pic>
        <p:nvPicPr>
          <p:cNvPr id="18" name="fig_si" descr="f51_si.png"/>
          <p:cNvPicPr>
            <a:picLocks noChangeAspect="1"/>
          </p:cNvPicPr>
          <p:nvPr/>
        </p:nvPicPr>
        <p:blipFill>
          <a:blip r:embed="rId2"/>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a:t>
            </a:r>
            <a:r>
              <a:rPr lang="en-US" sz="2600" b="1" dirty="0">
                <a:solidFill>
                  <a:srgbClr val="262626"/>
                </a:solidFill>
                <a:latin typeface="Meiryo"/>
                <a:ea typeface="Meiryo"/>
                <a:cs typeface="Meiryo"/>
              </a:rPr>
              <a:t>tiffness </a:t>
            </a:r>
            <a:r>
              <a:rPr sz="2600" b="1" dirty="0">
                <a:solidFill>
                  <a:srgbClr val="262626"/>
                </a:solidFill>
                <a:latin typeface="Meiryo"/>
                <a:ea typeface="Meiryo"/>
                <a:cs typeface="Meiryo"/>
              </a:rPr>
              <a:t>I</a:t>
            </a:r>
            <a:r>
              <a:rPr lang="en-US" sz="2600" b="1" dirty="0">
                <a:solidFill>
                  <a:srgbClr val="262626"/>
                </a:solidFill>
                <a:latin typeface="Meiryo"/>
                <a:ea typeface="Meiryo"/>
                <a:cs typeface="Meiryo"/>
              </a:rPr>
              <a:t>ndex (SI)</a:t>
            </a:r>
            <a:r>
              <a:rPr sz="2600" b="1" dirty="0">
                <a:solidFill>
                  <a:srgbClr val="262626"/>
                </a:solidFill>
                <a:latin typeface="Meiryo"/>
                <a:ea typeface="Meiryo"/>
                <a:cs typeface="Meiryo"/>
              </a:rPr>
              <a:t>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7" name="Rounded Rectangle 44">
            <a:extLst>
              <a:ext uri="{FF2B5EF4-FFF2-40B4-BE49-F238E27FC236}">
                <a16:creationId xmlns:a16="http://schemas.microsoft.com/office/drawing/2014/main" id="{0B0DCD7B-A83C-5BAE-701D-3DC9824DC0F5}"/>
              </a:ext>
            </a:extLst>
          </p:cNvPr>
          <p:cNvSpPr/>
          <p:nvPr/>
        </p:nvSpPr>
        <p:spPr>
          <a:xfrm>
            <a:off x="6613991" y="2657475"/>
            <a:ext cx="4297680" cy="2453936"/>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2"/>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0086392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3E45-E237-FDE0-B71F-0C451E3F2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170B1-F441-4EF1-8BA9-D9723A291D20}"/>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18" name="fig_ri" descr="f52_ri.png">
            <a:extLst>
              <a:ext uri="{FF2B5EF4-FFF2-40B4-BE49-F238E27FC236}">
                <a16:creationId xmlns:a16="http://schemas.microsoft.com/office/drawing/2014/main" id="{C67CC93B-0E91-8235-CB25-EE46B279E927}"/>
              </a:ext>
            </a:extLst>
          </p:cNvPr>
          <p:cNvPicPr>
            <a:picLocks noChangeAspect="1"/>
          </p:cNvPicPr>
          <p:nvPr/>
        </p:nvPicPr>
        <p:blipFill>
          <a:blip r:embed="rId2"/>
          <a:stretch>
            <a:fillRect/>
          </a:stretch>
        </p:blipFill>
        <p:spPr>
          <a:xfrm>
            <a:off x="1682769" y="2665326"/>
            <a:ext cx="4835803" cy="2314462"/>
          </a:xfrm>
          <a:prstGeom prst="rect">
            <a:avLst/>
          </a:prstGeom>
        </p:spPr>
      </p:pic>
      <p:sp>
        <p:nvSpPr>
          <p:cNvPr id="19" name="TextBox 18">
            <a:extLst>
              <a:ext uri="{FF2B5EF4-FFF2-40B4-BE49-F238E27FC236}">
                <a16:creationId xmlns:a16="http://schemas.microsoft.com/office/drawing/2014/main" id="{F684CCA2-B7E8-C4B2-7FF2-BD04DE328025}"/>
              </a:ext>
            </a:extLst>
          </p:cNvPr>
          <p:cNvSpPr txBox="1"/>
          <p:nvPr/>
        </p:nvSpPr>
        <p:spPr>
          <a:xfrm>
            <a:off x="1169657" y="2528214"/>
            <a:ext cx="1822596" cy="338554"/>
          </a:xfrm>
          <a:prstGeom prst="rect">
            <a:avLst/>
          </a:prstGeom>
          <a:noFill/>
        </p:spPr>
        <p:txBody>
          <a:bodyPr wrap="square" lIns="0" tIns="0" rIns="0" bIns="0" anchor="ctr">
            <a:spAutoFit/>
          </a:bodyPr>
          <a:lstStyle/>
          <a:p>
            <a:pPr algn="r">
              <a:spcBef>
                <a:spcPts val="0"/>
              </a:spcBef>
              <a:spcAft>
                <a:spcPts val="0"/>
              </a:spcAft>
            </a:pPr>
            <a:r>
              <a:rPr sz="2200" b="1" dirty="0">
                <a:solidFill>
                  <a:srgbClr val="0072B2"/>
                </a:solidFill>
                <a:latin typeface="Meiryo"/>
                <a:ea typeface="Meiryo"/>
                <a:cs typeface="Meiryo"/>
              </a:rPr>
              <a:t>P1（前進波）</a:t>
            </a:r>
          </a:p>
        </p:txBody>
      </p:sp>
      <p:sp>
        <p:nvSpPr>
          <p:cNvPr id="20" name="TextBox 19">
            <a:extLst>
              <a:ext uri="{FF2B5EF4-FFF2-40B4-BE49-F238E27FC236}">
                <a16:creationId xmlns:a16="http://schemas.microsoft.com/office/drawing/2014/main" id="{89514AE3-27E4-9A43-ED6D-7B618AF84532}"/>
              </a:ext>
            </a:extLst>
          </p:cNvPr>
          <p:cNvSpPr txBox="1"/>
          <p:nvPr/>
        </p:nvSpPr>
        <p:spPr>
          <a:xfrm>
            <a:off x="4375587" y="2528214"/>
            <a:ext cx="2126363" cy="338554"/>
          </a:xfrm>
          <a:prstGeom prst="rect">
            <a:avLst/>
          </a:prstGeom>
          <a:noFill/>
        </p:spPr>
        <p:txBody>
          <a:bodyPr wrap="squar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a:extLst>
              <a:ext uri="{FF2B5EF4-FFF2-40B4-BE49-F238E27FC236}">
                <a16:creationId xmlns:a16="http://schemas.microsoft.com/office/drawing/2014/main" id="{852E9A33-9FE1-E927-E7F7-F1917186CE39}"/>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600" b="1" dirty="0" err="1">
                <a:solidFill>
                  <a:srgbClr val="262626"/>
                </a:solidFill>
                <a:latin typeface="Meiryo"/>
                <a:ea typeface="Meiryo"/>
                <a:cs typeface="Meiryo"/>
              </a:rPr>
              <a:t>末梢血管トーヌスは反射波振幅に影響。</a:t>
            </a:r>
            <a:endParaRPr sz="2200" b="1" dirty="0">
              <a:solidFill>
                <a:srgbClr val="262626"/>
              </a:solidFill>
              <a:latin typeface="Meiryo"/>
              <a:ea typeface="Meiryo"/>
              <a:cs typeface="Meiryo"/>
            </a:endParaRPr>
          </a:p>
        </p:txBody>
      </p:sp>
      <p:sp>
        <p:nvSpPr>
          <p:cNvPr id="22" name="Source">
            <a:extLst>
              <a:ext uri="{FF2B5EF4-FFF2-40B4-BE49-F238E27FC236}">
                <a16:creationId xmlns:a16="http://schemas.microsoft.com/office/drawing/2014/main" id="{9D3D514A-2392-90D3-6C30-D81EF094A03A}"/>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a:extLst>
              <a:ext uri="{FF2B5EF4-FFF2-40B4-BE49-F238E27FC236}">
                <a16:creationId xmlns:a16="http://schemas.microsoft.com/office/drawing/2014/main" id="{9F97009B-D24D-BA53-EE70-64F368F5FAB6}"/>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55/119</a:t>
            </a:r>
          </a:p>
        </p:txBody>
      </p:sp>
      <p:cxnSp>
        <p:nvCxnSpPr>
          <p:cNvPr id="4" name="wbase2">
            <a:extLst>
              <a:ext uri="{FF2B5EF4-FFF2-40B4-BE49-F238E27FC236}">
                <a16:creationId xmlns:a16="http://schemas.microsoft.com/office/drawing/2014/main" id="{9BA0C197-B81D-AAAB-0FFD-C71D63F5D4E9}"/>
              </a:ext>
            </a:extLst>
          </p:cNvPr>
          <p:cNvCxnSpPr>
            <a:cxnSpLocks/>
          </p:cNvCxnSpPr>
          <p:nvPr/>
        </p:nvCxnSpPr>
        <p:spPr>
          <a:xfrm>
            <a:off x="7031685" y="4605723"/>
            <a:ext cx="4017316"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2">
            <a:extLst>
              <a:ext uri="{FF2B5EF4-FFF2-40B4-BE49-F238E27FC236}">
                <a16:creationId xmlns:a16="http://schemas.microsoft.com/office/drawing/2014/main" id="{3AA6BC7E-484D-23E2-90DB-B2574EB56F2C}"/>
              </a:ext>
            </a:extLst>
          </p:cNvPr>
          <p:cNvSpPr/>
          <p:nvPr/>
        </p:nvSpPr>
        <p:spPr>
          <a:xfrm>
            <a:off x="7031684" y="3282250"/>
            <a:ext cx="4017316" cy="1323474"/>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2">
            <a:extLst>
              <a:ext uri="{FF2B5EF4-FFF2-40B4-BE49-F238E27FC236}">
                <a16:creationId xmlns:a16="http://schemas.microsoft.com/office/drawing/2014/main" id="{8FB8CDAB-E2A9-BC6E-AD9A-487DD96DAD2B}"/>
              </a:ext>
            </a:extLst>
          </p:cNvPr>
          <p:cNvSpPr/>
          <p:nvPr/>
        </p:nvSpPr>
        <p:spPr>
          <a:xfrm>
            <a:off x="7031684" y="3280160"/>
            <a:ext cx="4017316" cy="1325563"/>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直線矢印コネクタ 9">
            <a:extLst>
              <a:ext uri="{FF2B5EF4-FFF2-40B4-BE49-F238E27FC236}">
                <a16:creationId xmlns:a16="http://schemas.microsoft.com/office/drawing/2014/main" id="{C8DE6C5C-D13E-24A4-8A00-0799B271B34A}"/>
              </a:ext>
            </a:extLst>
          </p:cNvPr>
          <p:cNvCxnSpPr/>
          <p:nvPr/>
        </p:nvCxnSpPr>
        <p:spPr>
          <a:xfrm>
            <a:off x="9534519" y="4000500"/>
            <a:ext cx="0" cy="22860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188617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pic>
        <p:nvPicPr>
          <p:cNvPr id="18" name="fig_ri" descr="f52_ri.png"/>
          <p:cNvPicPr>
            <a:picLocks noChangeAspect="1"/>
          </p:cNvPicPr>
          <p:nvPr/>
        </p:nvPicPr>
        <p:blipFill>
          <a:blip r:embed="rId2"/>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R</a:t>
            </a:r>
            <a:r>
              <a:rPr lang="en-US" sz="2600" b="1" dirty="0">
                <a:solidFill>
                  <a:srgbClr val="262626"/>
                </a:solidFill>
                <a:latin typeface="Meiryo"/>
                <a:ea typeface="Meiryo"/>
                <a:cs typeface="Meiryo"/>
              </a:rPr>
              <a:t>eflection </a:t>
            </a:r>
            <a:r>
              <a:rPr sz="2600" b="1" dirty="0">
                <a:solidFill>
                  <a:srgbClr val="262626"/>
                </a:solidFill>
                <a:latin typeface="Meiryo"/>
                <a:ea typeface="Meiryo"/>
                <a:cs typeface="Meiryo"/>
              </a:rPr>
              <a:t>I</a:t>
            </a:r>
            <a:r>
              <a:rPr lang="en-US" sz="2600" b="1" dirty="0">
                <a:solidFill>
                  <a:srgbClr val="262626"/>
                </a:solidFill>
                <a:latin typeface="Meiryo"/>
                <a:ea typeface="Meiryo"/>
                <a:cs typeface="Meiryo"/>
              </a:rPr>
              <a:t>ndex (RI)</a:t>
            </a:r>
            <a:r>
              <a:rPr sz="2600" b="1" dirty="0">
                <a:solidFill>
                  <a:srgbClr val="262626"/>
                </a:solidFill>
                <a:latin typeface="Meiryo"/>
                <a:ea typeface="Meiryo"/>
                <a:cs typeface="Meiryo"/>
              </a:rPr>
              <a:t> ＝ P2 ÷ P1</a:t>
            </a:r>
          </a:p>
          <a:p>
            <a:pPr algn="ctr">
              <a:spcBef>
                <a:spcPts val="0"/>
              </a:spcBef>
              <a:spcAft>
                <a:spcPts val="0"/>
              </a:spcAft>
            </a:pPr>
            <a:r>
              <a:rPr sz="2200" b="1" dirty="0" err="1">
                <a:solidFill>
                  <a:srgbClr val="262626"/>
                </a:solidFill>
                <a:latin typeface="Meiryo"/>
                <a:ea typeface="Meiryo"/>
                <a:cs typeface="Meiryo"/>
              </a:rPr>
              <a:t>末梢血管トーヌスを反映。</a:t>
            </a:r>
            <a:endParaRPr sz="2200" b="1" dirty="0">
              <a:solidFill>
                <a:srgbClr val="262626"/>
              </a:solidFill>
              <a:latin typeface="Meiryo"/>
              <a:ea typeface="Meiryo"/>
              <a:cs typeface="Meiryo"/>
            </a:endParaRP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56/119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2"/>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3"/>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1964551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2"/>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22. Lee 2011</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85975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78077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2"/>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183498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2"/>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811021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435178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lang="ja-JP" altLang="en-US" sz="3000" b="1">
                <a:solidFill>
                  <a:srgbClr val="D55E00"/>
                </a:solidFill>
                <a:latin typeface="Meiryo"/>
                <a:ea typeface="Meiryo"/>
                <a:cs typeface="Meiryo"/>
              </a:rPr>
              <a:t>△</a:t>
            </a:r>
            <a:endParaRPr sz="3000" b="1" dirty="0">
              <a:solidFill>
                <a:srgbClr val="D55E00"/>
              </a:solidFill>
              <a:latin typeface="Meiryo"/>
              <a:ea typeface="Meiryo"/>
              <a:cs typeface="Meiryo"/>
            </a:endParaRP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02603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64/119</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2810381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5206919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66/119</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9428572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67/119</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
        <p:nvSpPr>
          <p:cNvPr id="55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55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55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55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55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55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07498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68/119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D6C15-23C4-BD4E-E66A-1DC1D80A4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A4334-8DAE-BA3C-4523-DCD4DEC351D4}"/>
              </a:ext>
            </a:extLst>
          </p:cNvPr>
          <p:cNvSpPr>
            <a:spLocks noGrp="1"/>
          </p:cNvSpPr>
          <p:nvPr>
            <p:ph type="title"/>
          </p:nvPr>
        </p:nvSpPr>
        <p:spPr/>
        <p:txBody>
          <a:bodyPr/>
          <a:lstStyle/>
          <a:p>
            <a:pPr algn="l"/>
            <a:r>
              <a:rPr sz="4600" dirty="0">
                <a:latin typeface="Meiryo"/>
                <a:ea typeface="Meiryo"/>
                <a:cs typeface="Meiryo"/>
              </a:rPr>
              <a:t>4.1  </a:t>
            </a:r>
            <a:r>
              <a:rPr lang="ja-JP" altLang="en-US" sz="4600">
                <a:latin typeface="Meiryo"/>
                <a:ea typeface="Meiryo"/>
                <a:cs typeface="Meiryo"/>
              </a:rPr>
              <a:t>波形変化をどう読むか</a:t>
            </a:r>
            <a:endParaRPr sz="4600" dirty="0">
              <a:latin typeface="Meiryo"/>
              <a:ea typeface="Meiryo"/>
              <a:cs typeface="Meiryo"/>
            </a:endParaRPr>
          </a:p>
        </p:txBody>
      </p:sp>
      <p:pic>
        <p:nvPicPr>
          <p:cNvPr id="19" name="fig_limits" descr="f71_limits.png">
            <a:extLst>
              <a:ext uri="{FF2B5EF4-FFF2-40B4-BE49-F238E27FC236}">
                <a16:creationId xmlns:a16="http://schemas.microsoft.com/office/drawing/2014/main" id="{2A8D1226-42DB-1E04-3CF2-8FF29C19A532}"/>
              </a:ext>
            </a:extLst>
          </p:cNvPr>
          <p:cNvPicPr>
            <a:picLocks noChangeAspect="1"/>
          </p:cNvPicPr>
          <p:nvPr/>
        </p:nvPicPr>
        <p:blipFill>
          <a:blip r:embed="rId2"/>
          <a:srcRect l="25000"/>
          <a:stretch>
            <a:fillRect/>
          </a:stretch>
        </p:blipFill>
        <p:spPr>
          <a:xfrm>
            <a:off x="2181000" y="2609344"/>
            <a:ext cx="7830000" cy="2141279"/>
          </a:xfrm>
          <a:prstGeom prst="rect">
            <a:avLst/>
          </a:prstGeom>
        </p:spPr>
      </p:pic>
      <p:sp>
        <p:nvSpPr>
          <p:cNvPr id="22" name="TextBox 21">
            <a:extLst>
              <a:ext uri="{FF2B5EF4-FFF2-40B4-BE49-F238E27FC236}">
                <a16:creationId xmlns:a16="http://schemas.microsoft.com/office/drawing/2014/main" id="{7F0E3FF0-A5A9-BEFB-E4AA-D1ED4B0D1F01}"/>
              </a:ext>
            </a:extLst>
          </p:cNvPr>
          <p:cNvSpPr txBox="1"/>
          <p:nvPr/>
        </p:nvSpPr>
        <p:spPr>
          <a:xfrm>
            <a:off x="2181000"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a:extLst>
              <a:ext uri="{FF2B5EF4-FFF2-40B4-BE49-F238E27FC236}">
                <a16:creationId xmlns:a16="http://schemas.microsoft.com/office/drawing/2014/main" id="{01D2691A-6B02-A091-89AA-5E8946CA9A58}"/>
              </a:ext>
            </a:extLst>
          </p:cNvPr>
          <p:cNvSpPr txBox="1"/>
          <p:nvPr/>
        </p:nvSpPr>
        <p:spPr>
          <a:xfrm>
            <a:off x="2181000" y="48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a:extLst>
              <a:ext uri="{FF2B5EF4-FFF2-40B4-BE49-F238E27FC236}">
                <a16:creationId xmlns:a16="http://schemas.microsoft.com/office/drawing/2014/main" id="{FCFEC670-65AF-78E3-0016-B6DDEC18C0EC}"/>
              </a:ext>
            </a:extLst>
          </p:cNvPr>
          <p:cNvSpPr txBox="1"/>
          <p:nvPr/>
        </p:nvSpPr>
        <p:spPr>
          <a:xfrm>
            <a:off x="4790999"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a:extLst>
              <a:ext uri="{FF2B5EF4-FFF2-40B4-BE49-F238E27FC236}">
                <a16:creationId xmlns:a16="http://schemas.microsoft.com/office/drawing/2014/main" id="{158CB105-4408-4119-290B-82762F865895}"/>
              </a:ext>
            </a:extLst>
          </p:cNvPr>
          <p:cNvSpPr txBox="1"/>
          <p:nvPr/>
        </p:nvSpPr>
        <p:spPr>
          <a:xfrm>
            <a:off x="4790999" y="4877344"/>
            <a:ext cx="2610000" cy="378000"/>
          </a:xfrm>
          <a:prstGeom prst="rect">
            <a:avLst/>
          </a:prstGeom>
          <a:noFill/>
        </p:spPr>
        <p:txBody>
          <a:bodyPr wrap="none" lIns="0" tIns="0" rIns="0" bIns="0" anchor="ctr">
            <a:spAutoFit/>
          </a:bodyPr>
          <a:lstStyle/>
          <a:p>
            <a:pPr algn="ctr">
              <a:spcBef>
                <a:spcPts val="0"/>
              </a:spcBef>
              <a:spcAft>
                <a:spcPts val="0"/>
              </a:spcAft>
            </a:pPr>
            <a:r>
              <a:rPr sz="2200" b="1" dirty="0">
                <a:solidFill>
                  <a:srgbClr val="BF9000"/>
                </a:solidFill>
                <a:latin typeface="Meiryo"/>
                <a:ea typeface="Meiryo"/>
                <a:cs typeface="Meiryo"/>
              </a:rPr>
              <a:t>P2 </a:t>
            </a:r>
            <a:r>
              <a:rPr sz="2200" b="1" dirty="0" err="1">
                <a:solidFill>
                  <a:srgbClr val="BF9000"/>
                </a:solidFill>
                <a:latin typeface="Meiryo"/>
                <a:ea typeface="Meiryo"/>
                <a:cs typeface="Meiryo"/>
              </a:rPr>
              <a:t>が無い</a:t>
            </a:r>
            <a:endParaRPr sz="2200" b="1" dirty="0">
              <a:solidFill>
                <a:srgbClr val="BF9000"/>
              </a:solidFill>
              <a:latin typeface="Meiryo"/>
              <a:ea typeface="Meiryo"/>
              <a:cs typeface="Meiryo"/>
            </a:endParaRPr>
          </a:p>
        </p:txBody>
      </p:sp>
      <p:sp>
        <p:nvSpPr>
          <p:cNvPr id="26" name="TextBox 25">
            <a:extLst>
              <a:ext uri="{FF2B5EF4-FFF2-40B4-BE49-F238E27FC236}">
                <a16:creationId xmlns:a16="http://schemas.microsoft.com/office/drawing/2014/main" id="{157A34AD-FF62-1D74-1974-FA28E03E30F6}"/>
              </a:ext>
            </a:extLst>
          </p:cNvPr>
          <p:cNvSpPr txBox="1"/>
          <p:nvPr/>
        </p:nvSpPr>
        <p:spPr>
          <a:xfrm>
            <a:off x="7401000"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a:extLst>
              <a:ext uri="{FF2B5EF4-FFF2-40B4-BE49-F238E27FC236}">
                <a16:creationId xmlns:a16="http://schemas.microsoft.com/office/drawing/2014/main" id="{145B8214-6ED0-F57E-8034-638E2BACACAF}"/>
              </a:ext>
            </a:extLst>
          </p:cNvPr>
          <p:cNvSpPr txBox="1"/>
          <p:nvPr/>
        </p:nvSpPr>
        <p:spPr>
          <a:xfrm>
            <a:off x="7401000" y="48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9" name="Source">
            <a:extLst>
              <a:ext uri="{FF2B5EF4-FFF2-40B4-BE49-F238E27FC236}">
                <a16:creationId xmlns:a16="http://schemas.microsoft.com/office/drawing/2014/main" id="{194B8F28-E204-6A98-C695-2EC915C4E847}"/>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a:extLst>
              <a:ext uri="{FF2B5EF4-FFF2-40B4-BE49-F238E27FC236}">
                <a16:creationId xmlns:a16="http://schemas.microsoft.com/office/drawing/2014/main" id="{8ECD42C7-8746-1B2A-91B6-0D2445133E5D}"/>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69/119</a:t>
            </a:r>
          </a:p>
        </p:txBody>
      </p:sp>
      <p:sp>
        <p:nvSpPr>
          <p:cNvPr id="3" name="Rounded Rectangle 47">
            <a:extLst>
              <a:ext uri="{FF2B5EF4-FFF2-40B4-BE49-F238E27FC236}">
                <a16:creationId xmlns:a16="http://schemas.microsoft.com/office/drawing/2014/main" id="{B726A7E9-585F-3C48-22C8-9DDAFCF5A282}"/>
              </a:ext>
            </a:extLst>
          </p:cNvPr>
          <p:cNvSpPr/>
          <p:nvPr/>
        </p:nvSpPr>
        <p:spPr>
          <a:xfrm>
            <a:off x="1728788" y="5792720"/>
            <a:ext cx="8686800" cy="56692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8">
            <a:extLst>
              <a:ext uri="{FF2B5EF4-FFF2-40B4-BE49-F238E27FC236}">
                <a16:creationId xmlns:a16="http://schemas.microsoft.com/office/drawing/2014/main" id="{8C46D2DE-6537-3F37-0DFD-CD603C2F5978}"/>
              </a:ext>
            </a:extLst>
          </p:cNvPr>
          <p:cNvSpPr txBox="1"/>
          <p:nvPr/>
        </p:nvSpPr>
        <p:spPr>
          <a:xfrm>
            <a:off x="685800" y="5875016"/>
            <a:ext cx="10835640" cy="369332"/>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反射波</a:t>
            </a:r>
            <a:r>
              <a:rPr lang="en-US" altLang="ja-JP" sz="2400" b="1" dirty="0">
                <a:solidFill>
                  <a:srgbClr val="262626"/>
                </a:solidFill>
                <a:latin typeface="Meiryo"/>
                <a:ea typeface="Meiryo"/>
                <a:cs typeface="Meiryo"/>
              </a:rPr>
              <a:t>(P2)</a:t>
            </a:r>
            <a:r>
              <a:rPr lang="ja-JP" altLang="en-US" sz="2400" b="1">
                <a:solidFill>
                  <a:srgbClr val="262626"/>
                </a:solidFill>
                <a:latin typeface="Meiryo"/>
                <a:ea typeface="Meiryo"/>
                <a:cs typeface="Meiryo"/>
              </a:rPr>
              <a:t>は動脈硬化に従い、切痕・ピークが不明瞭になる。</a:t>
            </a:r>
            <a:endParaRPr sz="2400" b="1"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465375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7F0D2-688B-63A8-B938-CF8D18395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5B74E-3ACC-56E0-3164-B10AF811E337}"/>
              </a:ext>
            </a:extLst>
          </p:cNvPr>
          <p:cNvSpPr>
            <a:spLocks noGrp="1"/>
          </p:cNvSpPr>
          <p:nvPr>
            <p:ph type="title"/>
          </p:nvPr>
        </p:nvSpPr>
        <p:spPr/>
        <p:txBody>
          <a:bodyPr/>
          <a:lstStyle/>
          <a:p>
            <a:pPr algn="l"/>
            <a:r>
              <a:rPr sz="4600" dirty="0">
                <a:latin typeface="Meiryo"/>
                <a:ea typeface="Meiryo"/>
                <a:cs typeface="Meiryo"/>
              </a:rPr>
              <a:t>4.1  </a:t>
            </a:r>
            <a:r>
              <a:rPr lang="ja-JP" altLang="en-US" sz="4600">
                <a:latin typeface="Meiryo"/>
                <a:ea typeface="Meiryo"/>
                <a:cs typeface="Meiryo"/>
              </a:rPr>
              <a:t>切痕が見えないとき</a:t>
            </a:r>
            <a:endParaRPr sz="4600" dirty="0">
              <a:latin typeface="Meiryo"/>
              <a:ea typeface="Meiryo"/>
              <a:cs typeface="Meiryo"/>
            </a:endParaRPr>
          </a:p>
        </p:txBody>
      </p:sp>
      <p:sp>
        <p:nvSpPr>
          <p:cNvPr id="29" name="Source">
            <a:extLst>
              <a:ext uri="{FF2B5EF4-FFF2-40B4-BE49-F238E27FC236}">
                <a16:creationId xmlns:a16="http://schemas.microsoft.com/office/drawing/2014/main" id="{A377F9F1-4C3E-BE06-2B7C-4325909276A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33. Couceiro 2015</a:t>
            </a:r>
          </a:p>
        </p:txBody>
      </p:sp>
      <p:sp>
        <p:nvSpPr>
          <p:cNvPr id="30" name="PageNo">
            <a:extLst>
              <a:ext uri="{FF2B5EF4-FFF2-40B4-BE49-F238E27FC236}">
                <a16:creationId xmlns:a16="http://schemas.microsoft.com/office/drawing/2014/main" id="{2037B3D8-8592-EBF6-0E68-29BCC7589F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70/119</a:t>
            </a:r>
          </a:p>
        </p:txBody>
      </p:sp>
      <p:sp>
        <p:nvSpPr>
          <p:cNvPr id="32" name="TextBox 31">
            <a:extLst>
              <a:ext uri="{FF2B5EF4-FFF2-40B4-BE49-F238E27FC236}">
                <a16:creationId xmlns:a16="http://schemas.microsoft.com/office/drawing/2014/main" id="{C7AB1D1C-7335-1A2D-7CFB-3139606BFC9F}"/>
              </a:ext>
            </a:extLst>
          </p:cNvPr>
          <p:cNvSpPr txBox="1"/>
          <p:nvPr/>
        </p:nvSpPr>
        <p:spPr>
          <a:xfrm>
            <a:off x="685800" y="1865376"/>
            <a:ext cx="630936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下降脚に埋もれた例</a:t>
            </a:r>
          </a:p>
        </p:txBody>
      </p:sp>
      <p:sp>
        <p:nvSpPr>
          <p:cNvPr id="3" name="Freeform 2">
            <a:extLst>
              <a:ext uri="{FF2B5EF4-FFF2-40B4-BE49-F238E27FC236}">
                <a16:creationId xmlns:a16="http://schemas.microsoft.com/office/drawing/2014/main" id="{78BECB27-0CDD-95F2-5F54-6E20B08CC823}"/>
              </a:ext>
            </a:extLst>
          </p:cNvPr>
          <p:cNvSpPr/>
          <p:nvPr/>
        </p:nvSpPr>
        <p:spPr>
          <a:xfrm>
            <a:off x="868680" y="2523389"/>
            <a:ext cx="6035040" cy="2078974"/>
          </a:xfrm>
          <a:custGeom>
            <a:avLst/>
            <a:gdLst/>
            <a:ahLst/>
            <a:cxnLst/>
            <a:rect l="l" t="t" r="r" b="b"/>
            <a:pathLst>
              <a:path w="6035040" h="2078974">
                <a:moveTo>
                  <a:pt x="0" y="2024838"/>
                </a:moveTo>
                <a:lnTo>
                  <a:pt x="7108" y="2022405"/>
                </a:lnTo>
                <a:lnTo>
                  <a:pt x="14216" y="2019878"/>
                </a:lnTo>
                <a:lnTo>
                  <a:pt x="21325" y="2017255"/>
                </a:lnTo>
                <a:lnTo>
                  <a:pt x="28433" y="2014533"/>
                </a:lnTo>
                <a:lnTo>
                  <a:pt x="35542" y="2011709"/>
                </a:lnTo>
                <a:lnTo>
                  <a:pt x="42650" y="2008780"/>
                </a:lnTo>
                <a:lnTo>
                  <a:pt x="49758" y="2005742"/>
                </a:lnTo>
                <a:lnTo>
                  <a:pt x="56867" y="2002594"/>
                </a:lnTo>
                <a:lnTo>
                  <a:pt x="63975" y="1999333"/>
                </a:lnTo>
                <a:lnTo>
                  <a:pt x="71084" y="1995954"/>
                </a:lnTo>
                <a:lnTo>
                  <a:pt x="78192" y="1992454"/>
                </a:lnTo>
                <a:lnTo>
                  <a:pt x="85300" y="1988832"/>
                </a:lnTo>
                <a:lnTo>
                  <a:pt x="92409" y="1985083"/>
                </a:lnTo>
                <a:lnTo>
                  <a:pt x="99517" y="1981205"/>
                </a:lnTo>
                <a:lnTo>
                  <a:pt x="106626" y="1977194"/>
                </a:lnTo>
                <a:lnTo>
                  <a:pt x="113734" y="1973047"/>
                </a:lnTo>
                <a:lnTo>
                  <a:pt x="120842" y="1968760"/>
                </a:lnTo>
                <a:lnTo>
                  <a:pt x="127951" y="1964331"/>
                </a:lnTo>
                <a:lnTo>
                  <a:pt x="135059" y="1959756"/>
                </a:lnTo>
                <a:lnTo>
                  <a:pt x="142168" y="1955032"/>
                </a:lnTo>
                <a:lnTo>
                  <a:pt x="149276" y="1950156"/>
                </a:lnTo>
                <a:lnTo>
                  <a:pt x="156385" y="1945123"/>
                </a:lnTo>
                <a:lnTo>
                  <a:pt x="163493" y="1939932"/>
                </a:lnTo>
                <a:lnTo>
                  <a:pt x="170601" y="1934578"/>
                </a:lnTo>
                <a:lnTo>
                  <a:pt x="177710" y="1929058"/>
                </a:lnTo>
                <a:lnTo>
                  <a:pt x="184818" y="1923370"/>
                </a:lnTo>
                <a:lnTo>
                  <a:pt x="191927" y="1917509"/>
                </a:lnTo>
                <a:lnTo>
                  <a:pt x="199035" y="1911472"/>
                </a:lnTo>
                <a:lnTo>
                  <a:pt x="206143" y="1905257"/>
                </a:lnTo>
                <a:lnTo>
                  <a:pt x="213252" y="1898860"/>
                </a:lnTo>
                <a:lnTo>
                  <a:pt x="220360" y="1892278"/>
                </a:lnTo>
                <a:lnTo>
                  <a:pt x="227469" y="1885507"/>
                </a:lnTo>
                <a:lnTo>
                  <a:pt x="234577" y="1878545"/>
                </a:lnTo>
                <a:lnTo>
                  <a:pt x="241685" y="1871389"/>
                </a:lnTo>
                <a:lnTo>
                  <a:pt x="248794" y="1864035"/>
                </a:lnTo>
                <a:lnTo>
                  <a:pt x="255902" y="1856481"/>
                </a:lnTo>
                <a:lnTo>
                  <a:pt x="263011" y="1848723"/>
                </a:lnTo>
                <a:lnTo>
                  <a:pt x="270119" y="1840759"/>
                </a:lnTo>
                <a:lnTo>
                  <a:pt x="277227" y="1832587"/>
                </a:lnTo>
                <a:lnTo>
                  <a:pt x="284336" y="1824202"/>
                </a:lnTo>
                <a:lnTo>
                  <a:pt x="291444" y="1815604"/>
                </a:lnTo>
                <a:lnTo>
                  <a:pt x="298553" y="1806789"/>
                </a:lnTo>
                <a:lnTo>
                  <a:pt x="305661" y="1797755"/>
                </a:lnTo>
                <a:lnTo>
                  <a:pt x="312770" y="1788500"/>
                </a:lnTo>
                <a:lnTo>
                  <a:pt x="319878" y="1779021"/>
                </a:lnTo>
                <a:lnTo>
                  <a:pt x="326986" y="1769317"/>
                </a:lnTo>
                <a:lnTo>
                  <a:pt x="334095" y="1759385"/>
                </a:lnTo>
                <a:lnTo>
                  <a:pt x="341203" y="1749223"/>
                </a:lnTo>
                <a:lnTo>
                  <a:pt x="348312" y="1738830"/>
                </a:lnTo>
                <a:lnTo>
                  <a:pt x="355420" y="1728204"/>
                </a:lnTo>
                <a:lnTo>
                  <a:pt x="362528" y="1717345"/>
                </a:lnTo>
                <a:lnTo>
                  <a:pt x="369637" y="1706249"/>
                </a:lnTo>
                <a:lnTo>
                  <a:pt x="376745" y="1694917"/>
                </a:lnTo>
                <a:lnTo>
                  <a:pt x="383854" y="1683347"/>
                </a:lnTo>
                <a:lnTo>
                  <a:pt x="390962" y="1671539"/>
                </a:lnTo>
                <a:lnTo>
                  <a:pt x="398070" y="1659491"/>
                </a:lnTo>
                <a:lnTo>
                  <a:pt x="405179" y="1647203"/>
                </a:lnTo>
                <a:lnTo>
                  <a:pt x="412287" y="1634676"/>
                </a:lnTo>
                <a:lnTo>
                  <a:pt x="419396" y="1621908"/>
                </a:lnTo>
                <a:lnTo>
                  <a:pt x="426504" y="1608901"/>
                </a:lnTo>
                <a:lnTo>
                  <a:pt x="433613" y="1595653"/>
                </a:lnTo>
                <a:lnTo>
                  <a:pt x="440721" y="1582166"/>
                </a:lnTo>
                <a:lnTo>
                  <a:pt x="447829" y="1568440"/>
                </a:lnTo>
                <a:lnTo>
                  <a:pt x="454938" y="1554477"/>
                </a:lnTo>
                <a:lnTo>
                  <a:pt x="462046" y="1540276"/>
                </a:lnTo>
                <a:lnTo>
                  <a:pt x="469155" y="1525840"/>
                </a:lnTo>
                <a:lnTo>
                  <a:pt x="476263" y="1511171"/>
                </a:lnTo>
                <a:lnTo>
                  <a:pt x="483371" y="1496268"/>
                </a:lnTo>
                <a:lnTo>
                  <a:pt x="490480" y="1481136"/>
                </a:lnTo>
                <a:lnTo>
                  <a:pt x="497588" y="1465776"/>
                </a:lnTo>
                <a:lnTo>
                  <a:pt x="504697" y="1450190"/>
                </a:lnTo>
                <a:lnTo>
                  <a:pt x="511805" y="1434381"/>
                </a:lnTo>
                <a:lnTo>
                  <a:pt x="518913" y="1418352"/>
                </a:lnTo>
                <a:lnTo>
                  <a:pt x="526022" y="1402106"/>
                </a:lnTo>
                <a:lnTo>
                  <a:pt x="533130" y="1385647"/>
                </a:lnTo>
                <a:lnTo>
                  <a:pt x="540239" y="1368978"/>
                </a:lnTo>
                <a:lnTo>
                  <a:pt x="547347" y="1352104"/>
                </a:lnTo>
                <a:lnTo>
                  <a:pt x="554455" y="1335028"/>
                </a:lnTo>
                <a:lnTo>
                  <a:pt x="561564" y="1317755"/>
                </a:lnTo>
                <a:lnTo>
                  <a:pt x="568672" y="1300289"/>
                </a:lnTo>
                <a:lnTo>
                  <a:pt x="575781" y="1282636"/>
                </a:lnTo>
                <a:lnTo>
                  <a:pt x="582889" y="1264800"/>
                </a:lnTo>
                <a:lnTo>
                  <a:pt x="589998" y="1246788"/>
                </a:lnTo>
                <a:lnTo>
                  <a:pt x="597106" y="1228604"/>
                </a:lnTo>
                <a:lnTo>
                  <a:pt x="604214" y="1210255"/>
                </a:lnTo>
                <a:lnTo>
                  <a:pt x="611323" y="1191747"/>
                </a:lnTo>
                <a:lnTo>
                  <a:pt x="618431" y="1173086"/>
                </a:lnTo>
                <a:lnTo>
                  <a:pt x="625540" y="1154280"/>
                </a:lnTo>
                <a:lnTo>
                  <a:pt x="632648" y="1135334"/>
                </a:lnTo>
                <a:lnTo>
                  <a:pt x="639756" y="1116257"/>
                </a:lnTo>
                <a:lnTo>
                  <a:pt x="646865" y="1097055"/>
                </a:lnTo>
                <a:lnTo>
                  <a:pt x="653973" y="1077737"/>
                </a:lnTo>
                <a:lnTo>
                  <a:pt x="661082" y="1058309"/>
                </a:lnTo>
                <a:lnTo>
                  <a:pt x="668190" y="1038781"/>
                </a:lnTo>
                <a:lnTo>
                  <a:pt x="675298" y="1019161"/>
                </a:lnTo>
                <a:lnTo>
                  <a:pt x="682407" y="999456"/>
                </a:lnTo>
                <a:lnTo>
                  <a:pt x="689515" y="979677"/>
                </a:lnTo>
                <a:lnTo>
                  <a:pt x="696624" y="959831"/>
                </a:lnTo>
                <a:lnTo>
                  <a:pt x="703732" y="939928"/>
                </a:lnTo>
                <a:lnTo>
                  <a:pt x="710840" y="919977"/>
                </a:lnTo>
                <a:lnTo>
                  <a:pt x="717949" y="899988"/>
                </a:lnTo>
                <a:lnTo>
                  <a:pt x="725057" y="879970"/>
                </a:lnTo>
                <a:lnTo>
                  <a:pt x="732166" y="859934"/>
                </a:lnTo>
                <a:lnTo>
                  <a:pt x="739274" y="839889"/>
                </a:lnTo>
                <a:lnTo>
                  <a:pt x="746383" y="819845"/>
                </a:lnTo>
                <a:lnTo>
                  <a:pt x="753491" y="799813"/>
                </a:lnTo>
                <a:lnTo>
                  <a:pt x="760599" y="779803"/>
                </a:lnTo>
                <a:lnTo>
                  <a:pt x="767708" y="759825"/>
                </a:lnTo>
                <a:lnTo>
                  <a:pt x="774816" y="739891"/>
                </a:lnTo>
                <a:lnTo>
                  <a:pt x="781925" y="720010"/>
                </a:lnTo>
                <a:lnTo>
                  <a:pt x="789033" y="700195"/>
                </a:lnTo>
                <a:lnTo>
                  <a:pt x="796141" y="680454"/>
                </a:lnTo>
                <a:lnTo>
                  <a:pt x="803250" y="660801"/>
                </a:lnTo>
                <a:lnTo>
                  <a:pt x="810358" y="641245"/>
                </a:lnTo>
                <a:lnTo>
                  <a:pt x="817467" y="621798"/>
                </a:lnTo>
                <a:lnTo>
                  <a:pt x="824575" y="602471"/>
                </a:lnTo>
                <a:lnTo>
                  <a:pt x="831683" y="583274"/>
                </a:lnTo>
                <a:lnTo>
                  <a:pt x="838792" y="564220"/>
                </a:lnTo>
                <a:lnTo>
                  <a:pt x="845900" y="545318"/>
                </a:lnTo>
                <a:lnTo>
                  <a:pt x="853009" y="526581"/>
                </a:lnTo>
                <a:lnTo>
                  <a:pt x="860117" y="508019"/>
                </a:lnTo>
                <a:lnTo>
                  <a:pt x="867226" y="489643"/>
                </a:lnTo>
                <a:lnTo>
                  <a:pt x="874334" y="471464"/>
                </a:lnTo>
                <a:lnTo>
                  <a:pt x="881442" y="453493"/>
                </a:lnTo>
                <a:lnTo>
                  <a:pt x="888551" y="435741"/>
                </a:lnTo>
                <a:lnTo>
                  <a:pt x="895659" y="418219"/>
                </a:lnTo>
                <a:lnTo>
                  <a:pt x="902768" y="400936"/>
                </a:lnTo>
                <a:lnTo>
                  <a:pt x="909876" y="383905"/>
                </a:lnTo>
                <a:lnTo>
                  <a:pt x="916984" y="367134"/>
                </a:lnTo>
                <a:lnTo>
                  <a:pt x="924093" y="350634"/>
                </a:lnTo>
                <a:lnTo>
                  <a:pt x="931201" y="334415"/>
                </a:lnTo>
                <a:lnTo>
                  <a:pt x="938310" y="318488"/>
                </a:lnTo>
                <a:lnTo>
                  <a:pt x="945418" y="302861"/>
                </a:lnTo>
                <a:lnTo>
                  <a:pt x="952526" y="287544"/>
                </a:lnTo>
                <a:lnTo>
                  <a:pt x="959635" y="272547"/>
                </a:lnTo>
                <a:lnTo>
                  <a:pt x="966743" y="257878"/>
                </a:lnTo>
                <a:lnTo>
                  <a:pt x="973852" y="243546"/>
                </a:lnTo>
                <a:lnTo>
                  <a:pt x="980960" y="229560"/>
                </a:lnTo>
                <a:lnTo>
                  <a:pt x="988068" y="215929"/>
                </a:lnTo>
                <a:lnTo>
                  <a:pt x="995177" y="202659"/>
                </a:lnTo>
                <a:lnTo>
                  <a:pt x="1002285" y="189760"/>
                </a:lnTo>
                <a:lnTo>
                  <a:pt x="1009394" y="177238"/>
                </a:lnTo>
                <a:lnTo>
                  <a:pt x="1016502" y="165102"/>
                </a:lnTo>
                <a:lnTo>
                  <a:pt x="1023611" y="153357"/>
                </a:lnTo>
                <a:lnTo>
                  <a:pt x="1030719" y="142010"/>
                </a:lnTo>
                <a:lnTo>
                  <a:pt x="1037827" y="131068"/>
                </a:lnTo>
                <a:lnTo>
                  <a:pt x="1044936" y="120536"/>
                </a:lnTo>
                <a:lnTo>
                  <a:pt x="1052044" y="110420"/>
                </a:lnTo>
                <a:lnTo>
                  <a:pt x="1059153" y="100726"/>
                </a:lnTo>
                <a:lnTo>
                  <a:pt x="1066261" y="91459"/>
                </a:lnTo>
                <a:lnTo>
                  <a:pt x="1073369" y="82622"/>
                </a:lnTo>
                <a:lnTo>
                  <a:pt x="1080478" y="74221"/>
                </a:lnTo>
                <a:lnTo>
                  <a:pt x="1087586" y="66259"/>
                </a:lnTo>
                <a:lnTo>
                  <a:pt x="1094695" y="58739"/>
                </a:lnTo>
                <a:lnTo>
                  <a:pt x="1101803" y="51666"/>
                </a:lnTo>
                <a:lnTo>
                  <a:pt x="1108911" y="45040"/>
                </a:lnTo>
                <a:lnTo>
                  <a:pt x="1116020" y="38866"/>
                </a:lnTo>
                <a:lnTo>
                  <a:pt x="1123128" y="33144"/>
                </a:lnTo>
                <a:lnTo>
                  <a:pt x="1130237" y="27876"/>
                </a:lnTo>
                <a:lnTo>
                  <a:pt x="1137345" y="23065"/>
                </a:lnTo>
                <a:lnTo>
                  <a:pt x="1144453" y="18709"/>
                </a:lnTo>
                <a:lnTo>
                  <a:pt x="1151562" y="14811"/>
                </a:lnTo>
                <a:lnTo>
                  <a:pt x="1158670" y="11370"/>
                </a:lnTo>
                <a:lnTo>
                  <a:pt x="1165779" y="8385"/>
                </a:lnTo>
                <a:lnTo>
                  <a:pt x="1172887" y="5856"/>
                </a:lnTo>
                <a:lnTo>
                  <a:pt x="1179996" y="3782"/>
                </a:lnTo>
                <a:lnTo>
                  <a:pt x="1187104" y="2162"/>
                </a:lnTo>
                <a:lnTo>
                  <a:pt x="1194212" y="993"/>
                </a:lnTo>
                <a:lnTo>
                  <a:pt x="1201321" y="273"/>
                </a:lnTo>
                <a:lnTo>
                  <a:pt x="1208429" y="0"/>
                </a:lnTo>
                <a:lnTo>
                  <a:pt x="1215538" y="171"/>
                </a:lnTo>
                <a:lnTo>
                  <a:pt x="1222646" y="782"/>
                </a:lnTo>
                <a:lnTo>
                  <a:pt x="1229754" y="1831"/>
                </a:lnTo>
                <a:lnTo>
                  <a:pt x="1236863" y="3312"/>
                </a:lnTo>
                <a:lnTo>
                  <a:pt x="1243971" y="5222"/>
                </a:lnTo>
                <a:lnTo>
                  <a:pt x="1251080" y="7555"/>
                </a:lnTo>
                <a:lnTo>
                  <a:pt x="1258188" y="10308"/>
                </a:lnTo>
                <a:lnTo>
                  <a:pt x="1265296" y="13474"/>
                </a:lnTo>
                <a:lnTo>
                  <a:pt x="1272405" y="17047"/>
                </a:lnTo>
                <a:lnTo>
                  <a:pt x="1279513" y="21023"/>
                </a:lnTo>
                <a:lnTo>
                  <a:pt x="1286622" y="25395"/>
                </a:lnTo>
                <a:lnTo>
                  <a:pt x="1293730" y="30156"/>
                </a:lnTo>
                <a:lnTo>
                  <a:pt x="1300839" y="35300"/>
                </a:lnTo>
                <a:lnTo>
                  <a:pt x="1307947" y="40819"/>
                </a:lnTo>
                <a:lnTo>
                  <a:pt x="1315055" y="46707"/>
                </a:lnTo>
                <a:lnTo>
                  <a:pt x="1322164" y="52955"/>
                </a:lnTo>
                <a:lnTo>
                  <a:pt x="1329272" y="59557"/>
                </a:lnTo>
                <a:lnTo>
                  <a:pt x="1336381" y="66503"/>
                </a:lnTo>
                <a:lnTo>
                  <a:pt x="1343489" y="73787"/>
                </a:lnTo>
                <a:lnTo>
                  <a:pt x="1350597" y="81399"/>
                </a:lnTo>
                <a:lnTo>
                  <a:pt x="1357706" y="89331"/>
                </a:lnTo>
                <a:lnTo>
                  <a:pt x="1364814" y="97574"/>
                </a:lnTo>
                <a:lnTo>
                  <a:pt x="1371923" y="106120"/>
                </a:lnTo>
                <a:lnTo>
                  <a:pt x="1379031" y="114960"/>
                </a:lnTo>
                <a:lnTo>
                  <a:pt x="1386139" y="124084"/>
                </a:lnTo>
                <a:lnTo>
                  <a:pt x="1393248" y="133483"/>
                </a:lnTo>
                <a:lnTo>
                  <a:pt x="1400356" y="143148"/>
                </a:lnTo>
                <a:lnTo>
                  <a:pt x="1407465" y="153069"/>
                </a:lnTo>
                <a:lnTo>
                  <a:pt x="1414573" y="163238"/>
                </a:lnTo>
                <a:lnTo>
                  <a:pt x="1421681" y="173643"/>
                </a:lnTo>
                <a:lnTo>
                  <a:pt x="1428790" y="184276"/>
                </a:lnTo>
                <a:lnTo>
                  <a:pt x="1435898" y="195126"/>
                </a:lnTo>
                <a:lnTo>
                  <a:pt x="1443007" y="206185"/>
                </a:lnTo>
                <a:lnTo>
                  <a:pt x="1450115" y="217442"/>
                </a:lnTo>
                <a:lnTo>
                  <a:pt x="1457224" y="228887"/>
                </a:lnTo>
                <a:lnTo>
                  <a:pt x="1464332" y="240512"/>
                </a:lnTo>
                <a:lnTo>
                  <a:pt x="1471440" y="252305"/>
                </a:lnTo>
                <a:lnTo>
                  <a:pt x="1478549" y="264258"/>
                </a:lnTo>
                <a:lnTo>
                  <a:pt x="1485657" y="276361"/>
                </a:lnTo>
                <a:lnTo>
                  <a:pt x="1492766" y="288603"/>
                </a:lnTo>
                <a:lnTo>
                  <a:pt x="1499874" y="300976"/>
                </a:lnTo>
                <a:lnTo>
                  <a:pt x="1506982" y="313470"/>
                </a:lnTo>
                <a:lnTo>
                  <a:pt x="1514091" y="326076"/>
                </a:lnTo>
                <a:lnTo>
                  <a:pt x="1521199" y="338784"/>
                </a:lnTo>
                <a:lnTo>
                  <a:pt x="1528308" y="351585"/>
                </a:lnTo>
                <a:lnTo>
                  <a:pt x="1535416" y="364470"/>
                </a:lnTo>
                <a:lnTo>
                  <a:pt x="1542524" y="377429"/>
                </a:lnTo>
                <a:lnTo>
                  <a:pt x="1549633" y="390455"/>
                </a:lnTo>
                <a:lnTo>
                  <a:pt x="1556741" y="403539"/>
                </a:lnTo>
                <a:lnTo>
                  <a:pt x="1563850" y="416671"/>
                </a:lnTo>
                <a:lnTo>
                  <a:pt x="1570958" y="429844"/>
                </a:lnTo>
                <a:lnTo>
                  <a:pt x="1578066" y="443049"/>
                </a:lnTo>
                <a:lnTo>
                  <a:pt x="1585175" y="456278"/>
                </a:lnTo>
                <a:lnTo>
                  <a:pt x="1592283" y="469524"/>
                </a:lnTo>
                <a:lnTo>
                  <a:pt x="1599392" y="482778"/>
                </a:lnTo>
                <a:lnTo>
                  <a:pt x="1606500" y="496033"/>
                </a:lnTo>
                <a:lnTo>
                  <a:pt x="1613609" y="509282"/>
                </a:lnTo>
                <a:lnTo>
                  <a:pt x="1620717" y="522518"/>
                </a:lnTo>
                <a:lnTo>
                  <a:pt x="1627825" y="535733"/>
                </a:lnTo>
                <a:lnTo>
                  <a:pt x="1634934" y="548921"/>
                </a:lnTo>
                <a:lnTo>
                  <a:pt x="1642042" y="562076"/>
                </a:lnTo>
                <a:lnTo>
                  <a:pt x="1649151" y="575191"/>
                </a:lnTo>
                <a:lnTo>
                  <a:pt x="1656259" y="588261"/>
                </a:lnTo>
                <a:lnTo>
                  <a:pt x="1663367" y="601278"/>
                </a:lnTo>
                <a:lnTo>
                  <a:pt x="1670476" y="614239"/>
                </a:lnTo>
                <a:lnTo>
                  <a:pt x="1677584" y="627137"/>
                </a:lnTo>
                <a:lnTo>
                  <a:pt x="1684693" y="639967"/>
                </a:lnTo>
                <a:lnTo>
                  <a:pt x="1691801" y="652724"/>
                </a:lnTo>
                <a:lnTo>
                  <a:pt x="1698909" y="665405"/>
                </a:lnTo>
                <a:lnTo>
                  <a:pt x="1706018" y="678003"/>
                </a:lnTo>
                <a:lnTo>
                  <a:pt x="1713126" y="690516"/>
                </a:lnTo>
                <a:lnTo>
                  <a:pt x="1720235" y="702938"/>
                </a:lnTo>
                <a:lnTo>
                  <a:pt x="1727343" y="715267"/>
                </a:lnTo>
                <a:lnTo>
                  <a:pt x="1734452" y="727499"/>
                </a:lnTo>
                <a:lnTo>
                  <a:pt x="1741560" y="739630"/>
                </a:lnTo>
                <a:lnTo>
                  <a:pt x="1748668" y="751658"/>
                </a:lnTo>
                <a:lnTo>
                  <a:pt x="1755777" y="763579"/>
                </a:lnTo>
                <a:lnTo>
                  <a:pt x="1762885" y="775391"/>
                </a:lnTo>
                <a:lnTo>
                  <a:pt x="1769994" y="787092"/>
                </a:lnTo>
                <a:lnTo>
                  <a:pt x="1777102" y="798680"/>
                </a:lnTo>
                <a:lnTo>
                  <a:pt x="1784210" y="810151"/>
                </a:lnTo>
                <a:lnTo>
                  <a:pt x="1791319" y="821506"/>
                </a:lnTo>
                <a:lnTo>
                  <a:pt x="1798427" y="832742"/>
                </a:lnTo>
                <a:lnTo>
                  <a:pt x="1805536" y="843857"/>
                </a:lnTo>
                <a:lnTo>
                  <a:pt x="1812644" y="854852"/>
                </a:lnTo>
                <a:lnTo>
                  <a:pt x="1819752" y="865724"/>
                </a:lnTo>
                <a:lnTo>
                  <a:pt x="1826861" y="876473"/>
                </a:lnTo>
                <a:lnTo>
                  <a:pt x="1833969" y="887099"/>
                </a:lnTo>
                <a:lnTo>
                  <a:pt x="1841078" y="897601"/>
                </a:lnTo>
                <a:lnTo>
                  <a:pt x="1848186" y="907978"/>
                </a:lnTo>
                <a:lnTo>
                  <a:pt x="1855294" y="918232"/>
                </a:lnTo>
                <a:lnTo>
                  <a:pt x="1862403" y="928362"/>
                </a:lnTo>
                <a:lnTo>
                  <a:pt x="1869511" y="938368"/>
                </a:lnTo>
                <a:lnTo>
                  <a:pt x="1876620" y="948251"/>
                </a:lnTo>
                <a:lnTo>
                  <a:pt x="1883728" y="958011"/>
                </a:lnTo>
                <a:lnTo>
                  <a:pt x="1890837" y="967650"/>
                </a:lnTo>
                <a:lnTo>
                  <a:pt x="1897945" y="977167"/>
                </a:lnTo>
                <a:lnTo>
                  <a:pt x="1905053" y="986565"/>
                </a:lnTo>
                <a:lnTo>
                  <a:pt x="1912162" y="995844"/>
                </a:lnTo>
                <a:lnTo>
                  <a:pt x="1919270" y="1005005"/>
                </a:lnTo>
                <a:lnTo>
                  <a:pt x="1926379" y="1014051"/>
                </a:lnTo>
                <a:lnTo>
                  <a:pt x="1933487" y="1022981"/>
                </a:lnTo>
                <a:lnTo>
                  <a:pt x="1940595" y="1031799"/>
                </a:lnTo>
                <a:lnTo>
                  <a:pt x="1947704" y="1040505"/>
                </a:lnTo>
                <a:lnTo>
                  <a:pt x="1954812" y="1049102"/>
                </a:lnTo>
                <a:lnTo>
                  <a:pt x="1961921" y="1057591"/>
                </a:lnTo>
                <a:lnTo>
                  <a:pt x="1969029" y="1065975"/>
                </a:lnTo>
                <a:lnTo>
                  <a:pt x="1976137" y="1074255"/>
                </a:lnTo>
                <a:lnTo>
                  <a:pt x="1983246" y="1082433"/>
                </a:lnTo>
                <a:lnTo>
                  <a:pt x="1990354" y="1090511"/>
                </a:lnTo>
                <a:lnTo>
                  <a:pt x="1997463" y="1098493"/>
                </a:lnTo>
                <a:lnTo>
                  <a:pt x="2004571" y="1106379"/>
                </a:lnTo>
                <a:lnTo>
                  <a:pt x="2011680" y="1114173"/>
                </a:lnTo>
                <a:lnTo>
                  <a:pt x="2018788" y="1121876"/>
                </a:lnTo>
                <a:lnTo>
                  <a:pt x="2025896" y="1129491"/>
                </a:lnTo>
                <a:lnTo>
                  <a:pt x="2033005" y="1137021"/>
                </a:lnTo>
                <a:lnTo>
                  <a:pt x="2040113" y="1144467"/>
                </a:lnTo>
                <a:lnTo>
                  <a:pt x="2047222" y="1151833"/>
                </a:lnTo>
                <a:lnTo>
                  <a:pt x="2054330" y="1159120"/>
                </a:lnTo>
                <a:lnTo>
                  <a:pt x="2061438" y="1166332"/>
                </a:lnTo>
                <a:lnTo>
                  <a:pt x="2068547" y="1173470"/>
                </a:lnTo>
                <a:lnTo>
                  <a:pt x="2075655" y="1180538"/>
                </a:lnTo>
                <a:lnTo>
                  <a:pt x="2082764" y="1187537"/>
                </a:lnTo>
                <a:lnTo>
                  <a:pt x="2089872" y="1194470"/>
                </a:lnTo>
                <a:lnTo>
                  <a:pt x="2096980" y="1201339"/>
                </a:lnTo>
                <a:lnTo>
                  <a:pt x="2104089" y="1208147"/>
                </a:lnTo>
                <a:lnTo>
                  <a:pt x="2111197" y="1214897"/>
                </a:lnTo>
                <a:lnTo>
                  <a:pt x="2118306" y="1221590"/>
                </a:lnTo>
                <a:lnTo>
                  <a:pt x="2125414" y="1228230"/>
                </a:lnTo>
                <a:lnTo>
                  <a:pt x="2132522" y="1234817"/>
                </a:lnTo>
                <a:lnTo>
                  <a:pt x="2139631" y="1241356"/>
                </a:lnTo>
                <a:lnTo>
                  <a:pt x="2146739" y="1247847"/>
                </a:lnTo>
                <a:lnTo>
                  <a:pt x="2153848" y="1254293"/>
                </a:lnTo>
                <a:lnTo>
                  <a:pt x="2160956" y="1260697"/>
                </a:lnTo>
                <a:lnTo>
                  <a:pt x="2168065" y="1267060"/>
                </a:lnTo>
                <a:lnTo>
                  <a:pt x="2175173" y="1273384"/>
                </a:lnTo>
                <a:lnTo>
                  <a:pt x="2182281" y="1279672"/>
                </a:lnTo>
                <a:lnTo>
                  <a:pt x="2189390" y="1285925"/>
                </a:lnTo>
                <a:lnTo>
                  <a:pt x="2196498" y="1292146"/>
                </a:lnTo>
                <a:lnTo>
                  <a:pt x="2203607" y="1298336"/>
                </a:lnTo>
                <a:lnTo>
                  <a:pt x="2210715" y="1304497"/>
                </a:lnTo>
                <a:lnTo>
                  <a:pt x="2217823" y="1310631"/>
                </a:lnTo>
                <a:lnTo>
                  <a:pt x="2224932" y="1316739"/>
                </a:lnTo>
                <a:lnTo>
                  <a:pt x="2232040" y="1322824"/>
                </a:lnTo>
                <a:lnTo>
                  <a:pt x="2239149" y="1328886"/>
                </a:lnTo>
                <a:lnTo>
                  <a:pt x="2246257" y="1334927"/>
                </a:lnTo>
                <a:lnTo>
                  <a:pt x="2253365" y="1340950"/>
                </a:lnTo>
                <a:lnTo>
                  <a:pt x="2260474" y="1346954"/>
                </a:lnTo>
                <a:lnTo>
                  <a:pt x="2267582" y="1352941"/>
                </a:lnTo>
                <a:lnTo>
                  <a:pt x="2274691" y="1358913"/>
                </a:lnTo>
                <a:lnTo>
                  <a:pt x="2281799" y="1364871"/>
                </a:lnTo>
                <a:lnTo>
                  <a:pt x="2288907" y="1370816"/>
                </a:lnTo>
                <a:lnTo>
                  <a:pt x="2296016" y="1376749"/>
                </a:lnTo>
                <a:lnTo>
                  <a:pt x="2303124" y="1382670"/>
                </a:lnTo>
                <a:lnTo>
                  <a:pt x="2310233" y="1388582"/>
                </a:lnTo>
                <a:lnTo>
                  <a:pt x="2317341" y="1394484"/>
                </a:lnTo>
                <a:lnTo>
                  <a:pt x="2324450" y="1400378"/>
                </a:lnTo>
                <a:lnTo>
                  <a:pt x="2331558" y="1406265"/>
                </a:lnTo>
                <a:lnTo>
                  <a:pt x="2338666" y="1412144"/>
                </a:lnTo>
                <a:lnTo>
                  <a:pt x="2345775" y="1418017"/>
                </a:lnTo>
                <a:lnTo>
                  <a:pt x="2352883" y="1423884"/>
                </a:lnTo>
                <a:lnTo>
                  <a:pt x="2359992" y="1429745"/>
                </a:lnTo>
                <a:lnTo>
                  <a:pt x="2367100" y="1435602"/>
                </a:lnTo>
                <a:lnTo>
                  <a:pt x="2374208" y="1441454"/>
                </a:lnTo>
                <a:lnTo>
                  <a:pt x="2381317" y="1447302"/>
                </a:lnTo>
                <a:lnTo>
                  <a:pt x="2388425" y="1453146"/>
                </a:lnTo>
                <a:lnTo>
                  <a:pt x="2395534" y="1458986"/>
                </a:lnTo>
                <a:lnTo>
                  <a:pt x="2402642" y="1464823"/>
                </a:lnTo>
                <a:lnTo>
                  <a:pt x="2409750" y="1470656"/>
                </a:lnTo>
                <a:lnTo>
                  <a:pt x="2416859" y="1476485"/>
                </a:lnTo>
                <a:lnTo>
                  <a:pt x="2423967" y="1482312"/>
                </a:lnTo>
                <a:lnTo>
                  <a:pt x="2431076" y="1488134"/>
                </a:lnTo>
                <a:lnTo>
                  <a:pt x="2438184" y="1493953"/>
                </a:lnTo>
                <a:lnTo>
                  <a:pt x="2445293" y="1499768"/>
                </a:lnTo>
                <a:lnTo>
                  <a:pt x="2452401" y="1505579"/>
                </a:lnTo>
                <a:lnTo>
                  <a:pt x="2459509" y="1511386"/>
                </a:lnTo>
                <a:lnTo>
                  <a:pt x="2466618" y="1517189"/>
                </a:lnTo>
                <a:lnTo>
                  <a:pt x="2473726" y="1522987"/>
                </a:lnTo>
                <a:lnTo>
                  <a:pt x="2480835" y="1528779"/>
                </a:lnTo>
                <a:lnTo>
                  <a:pt x="2487943" y="1534566"/>
                </a:lnTo>
                <a:lnTo>
                  <a:pt x="2495051" y="1540347"/>
                </a:lnTo>
                <a:lnTo>
                  <a:pt x="2502160" y="1546122"/>
                </a:lnTo>
                <a:lnTo>
                  <a:pt x="2509268" y="1551890"/>
                </a:lnTo>
                <a:lnTo>
                  <a:pt x="2516377" y="1557650"/>
                </a:lnTo>
                <a:lnTo>
                  <a:pt x="2523485" y="1563403"/>
                </a:lnTo>
                <a:lnTo>
                  <a:pt x="2530593" y="1569147"/>
                </a:lnTo>
                <a:lnTo>
                  <a:pt x="2537702" y="1574882"/>
                </a:lnTo>
                <a:lnTo>
                  <a:pt x="2544810" y="1580607"/>
                </a:lnTo>
                <a:lnTo>
                  <a:pt x="2551919" y="1586322"/>
                </a:lnTo>
                <a:lnTo>
                  <a:pt x="2559027" y="1592025"/>
                </a:lnTo>
                <a:lnTo>
                  <a:pt x="2566135" y="1597717"/>
                </a:lnTo>
                <a:lnTo>
                  <a:pt x="2573244" y="1603397"/>
                </a:lnTo>
                <a:lnTo>
                  <a:pt x="2580352" y="1609063"/>
                </a:lnTo>
                <a:lnTo>
                  <a:pt x="2587461" y="1614715"/>
                </a:lnTo>
                <a:lnTo>
                  <a:pt x="2594569" y="1620353"/>
                </a:lnTo>
                <a:lnTo>
                  <a:pt x="2601678" y="1625976"/>
                </a:lnTo>
                <a:lnTo>
                  <a:pt x="2608786" y="1631582"/>
                </a:lnTo>
                <a:lnTo>
                  <a:pt x="2615894" y="1637171"/>
                </a:lnTo>
                <a:lnTo>
                  <a:pt x="2623003" y="1642743"/>
                </a:lnTo>
                <a:lnTo>
                  <a:pt x="2630111" y="1648296"/>
                </a:lnTo>
                <a:lnTo>
                  <a:pt x="2637220" y="1653829"/>
                </a:lnTo>
                <a:lnTo>
                  <a:pt x="2644328" y="1659343"/>
                </a:lnTo>
                <a:lnTo>
                  <a:pt x="2651436" y="1664836"/>
                </a:lnTo>
                <a:lnTo>
                  <a:pt x="2658545" y="1670306"/>
                </a:lnTo>
                <a:lnTo>
                  <a:pt x="2665653" y="1675755"/>
                </a:lnTo>
                <a:lnTo>
                  <a:pt x="2672762" y="1681180"/>
                </a:lnTo>
                <a:lnTo>
                  <a:pt x="2679870" y="1686581"/>
                </a:lnTo>
                <a:lnTo>
                  <a:pt x="2686978" y="1691957"/>
                </a:lnTo>
                <a:lnTo>
                  <a:pt x="2694087" y="1697307"/>
                </a:lnTo>
                <a:lnTo>
                  <a:pt x="2701195" y="1702631"/>
                </a:lnTo>
                <a:lnTo>
                  <a:pt x="2708304" y="1707927"/>
                </a:lnTo>
                <a:lnTo>
                  <a:pt x="2715412" y="1713195"/>
                </a:lnTo>
                <a:lnTo>
                  <a:pt x="2722520" y="1718435"/>
                </a:lnTo>
                <a:lnTo>
                  <a:pt x="2729629" y="1723645"/>
                </a:lnTo>
                <a:lnTo>
                  <a:pt x="2736737" y="1728824"/>
                </a:lnTo>
                <a:lnTo>
                  <a:pt x="2743846" y="1733973"/>
                </a:lnTo>
                <a:lnTo>
                  <a:pt x="2750954" y="1739090"/>
                </a:lnTo>
                <a:lnTo>
                  <a:pt x="2758063" y="1744174"/>
                </a:lnTo>
                <a:lnTo>
                  <a:pt x="2765171" y="1749225"/>
                </a:lnTo>
                <a:lnTo>
                  <a:pt x="2772279" y="1754242"/>
                </a:lnTo>
                <a:lnTo>
                  <a:pt x="2779388" y="1759224"/>
                </a:lnTo>
                <a:lnTo>
                  <a:pt x="2786496" y="1764171"/>
                </a:lnTo>
                <a:lnTo>
                  <a:pt x="2793605" y="1769083"/>
                </a:lnTo>
                <a:lnTo>
                  <a:pt x="2800713" y="1773957"/>
                </a:lnTo>
                <a:lnTo>
                  <a:pt x="2807821" y="1778795"/>
                </a:lnTo>
                <a:lnTo>
                  <a:pt x="2814930" y="1783595"/>
                </a:lnTo>
                <a:lnTo>
                  <a:pt x="2822038" y="1788357"/>
                </a:lnTo>
                <a:lnTo>
                  <a:pt x="2829147" y="1793080"/>
                </a:lnTo>
                <a:lnTo>
                  <a:pt x="2836255" y="1797763"/>
                </a:lnTo>
                <a:lnTo>
                  <a:pt x="2843363" y="1802407"/>
                </a:lnTo>
                <a:lnTo>
                  <a:pt x="2850472" y="1807010"/>
                </a:lnTo>
                <a:lnTo>
                  <a:pt x="2857580" y="1811572"/>
                </a:lnTo>
                <a:lnTo>
                  <a:pt x="2864689" y="1816093"/>
                </a:lnTo>
                <a:lnTo>
                  <a:pt x="2871797" y="1820572"/>
                </a:lnTo>
                <a:lnTo>
                  <a:pt x="2878906" y="1825008"/>
                </a:lnTo>
                <a:lnTo>
                  <a:pt x="2886014" y="1829403"/>
                </a:lnTo>
                <a:lnTo>
                  <a:pt x="2893122" y="1833754"/>
                </a:lnTo>
                <a:lnTo>
                  <a:pt x="2900231" y="1838061"/>
                </a:lnTo>
                <a:lnTo>
                  <a:pt x="2907339" y="1842325"/>
                </a:lnTo>
                <a:lnTo>
                  <a:pt x="2914448" y="1846545"/>
                </a:lnTo>
                <a:lnTo>
                  <a:pt x="2921556" y="1850720"/>
                </a:lnTo>
                <a:lnTo>
                  <a:pt x="2928664" y="1854851"/>
                </a:lnTo>
                <a:lnTo>
                  <a:pt x="2935773" y="1858937"/>
                </a:lnTo>
                <a:lnTo>
                  <a:pt x="2942881" y="1862978"/>
                </a:lnTo>
                <a:lnTo>
                  <a:pt x="2949990" y="1866973"/>
                </a:lnTo>
                <a:lnTo>
                  <a:pt x="2957098" y="1870922"/>
                </a:lnTo>
                <a:lnTo>
                  <a:pt x="2964206" y="1874826"/>
                </a:lnTo>
                <a:lnTo>
                  <a:pt x="2971315" y="1878684"/>
                </a:lnTo>
                <a:lnTo>
                  <a:pt x="2978423" y="1882495"/>
                </a:lnTo>
                <a:lnTo>
                  <a:pt x="2985532" y="1886261"/>
                </a:lnTo>
                <a:lnTo>
                  <a:pt x="2992640" y="1889979"/>
                </a:lnTo>
                <a:lnTo>
                  <a:pt x="2999748" y="1893652"/>
                </a:lnTo>
                <a:lnTo>
                  <a:pt x="3006857" y="1897278"/>
                </a:lnTo>
                <a:lnTo>
                  <a:pt x="3013965" y="1900857"/>
                </a:lnTo>
                <a:lnTo>
                  <a:pt x="3021074" y="1904390"/>
                </a:lnTo>
                <a:lnTo>
                  <a:pt x="3028182" y="1907876"/>
                </a:lnTo>
                <a:lnTo>
                  <a:pt x="3035291" y="1911315"/>
                </a:lnTo>
                <a:lnTo>
                  <a:pt x="3042399" y="1914708"/>
                </a:lnTo>
                <a:lnTo>
                  <a:pt x="3049507" y="1918054"/>
                </a:lnTo>
                <a:lnTo>
                  <a:pt x="3056616" y="1921353"/>
                </a:lnTo>
                <a:lnTo>
                  <a:pt x="3063724" y="1924606"/>
                </a:lnTo>
                <a:lnTo>
                  <a:pt x="3070833" y="1927813"/>
                </a:lnTo>
                <a:lnTo>
                  <a:pt x="3077941" y="1930973"/>
                </a:lnTo>
                <a:lnTo>
                  <a:pt x="3085049" y="1934087"/>
                </a:lnTo>
                <a:lnTo>
                  <a:pt x="3092158" y="1937156"/>
                </a:lnTo>
                <a:lnTo>
                  <a:pt x="3099266" y="1940178"/>
                </a:lnTo>
                <a:lnTo>
                  <a:pt x="3106375" y="1943154"/>
                </a:lnTo>
                <a:lnTo>
                  <a:pt x="3113483" y="1946085"/>
                </a:lnTo>
                <a:lnTo>
                  <a:pt x="3120591" y="1948971"/>
                </a:lnTo>
                <a:lnTo>
                  <a:pt x="3127700" y="1951811"/>
                </a:lnTo>
                <a:lnTo>
                  <a:pt x="3134808" y="1954607"/>
                </a:lnTo>
                <a:lnTo>
                  <a:pt x="3141917" y="1957358"/>
                </a:lnTo>
                <a:lnTo>
                  <a:pt x="3149025" y="1960064"/>
                </a:lnTo>
                <a:lnTo>
                  <a:pt x="3156133" y="1962726"/>
                </a:lnTo>
                <a:lnTo>
                  <a:pt x="3163242" y="1965344"/>
                </a:lnTo>
                <a:lnTo>
                  <a:pt x="3170350" y="1967919"/>
                </a:lnTo>
                <a:lnTo>
                  <a:pt x="3177459" y="1970450"/>
                </a:lnTo>
                <a:lnTo>
                  <a:pt x="3184567" y="1972938"/>
                </a:lnTo>
                <a:lnTo>
                  <a:pt x="3191676" y="1975383"/>
                </a:lnTo>
                <a:lnTo>
                  <a:pt x="3198784" y="1977786"/>
                </a:lnTo>
                <a:lnTo>
                  <a:pt x="3205892" y="1980147"/>
                </a:lnTo>
                <a:lnTo>
                  <a:pt x="3213001" y="1982466"/>
                </a:lnTo>
                <a:lnTo>
                  <a:pt x="3220109" y="1984743"/>
                </a:lnTo>
                <a:lnTo>
                  <a:pt x="3227218" y="1986980"/>
                </a:lnTo>
                <a:lnTo>
                  <a:pt x="3234326" y="1989176"/>
                </a:lnTo>
                <a:lnTo>
                  <a:pt x="3241434" y="1991331"/>
                </a:lnTo>
                <a:lnTo>
                  <a:pt x="3248543" y="1993447"/>
                </a:lnTo>
                <a:lnTo>
                  <a:pt x="3255651" y="1995523"/>
                </a:lnTo>
                <a:lnTo>
                  <a:pt x="3262760" y="1997560"/>
                </a:lnTo>
                <a:lnTo>
                  <a:pt x="3269868" y="1999558"/>
                </a:lnTo>
                <a:lnTo>
                  <a:pt x="3276976" y="2001518"/>
                </a:lnTo>
                <a:lnTo>
                  <a:pt x="3284085" y="2003440"/>
                </a:lnTo>
                <a:lnTo>
                  <a:pt x="3291193" y="2005324"/>
                </a:lnTo>
                <a:lnTo>
                  <a:pt x="3298302" y="2007171"/>
                </a:lnTo>
                <a:lnTo>
                  <a:pt x="3305410" y="2008982"/>
                </a:lnTo>
                <a:lnTo>
                  <a:pt x="3312519" y="2010756"/>
                </a:lnTo>
                <a:lnTo>
                  <a:pt x="3319627" y="2012495"/>
                </a:lnTo>
                <a:lnTo>
                  <a:pt x="3326735" y="2014198"/>
                </a:lnTo>
                <a:lnTo>
                  <a:pt x="3333844" y="2015867"/>
                </a:lnTo>
                <a:lnTo>
                  <a:pt x="3340952" y="2017500"/>
                </a:lnTo>
                <a:lnTo>
                  <a:pt x="3348061" y="2019100"/>
                </a:lnTo>
                <a:lnTo>
                  <a:pt x="3355169" y="2020667"/>
                </a:lnTo>
                <a:lnTo>
                  <a:pt x="3362277" y="2022200"/>
                </a:lnTo>
                <a:lnTo>
                  <a:pt x="3369386" y="2023700"/>
                </a:lnTo>
                <a:lnTo>
                  <a:pt x="3376494" y="2025168"/>
                </a:lnTo>
                <a:lnTo>
                  <a:pt x="3383603" y="2026605"/>
                </a:lnTo>
                <a:lnTo>
                  <a:pt x="3390711" y="2028010"/>
                </a:lnTo>
                <a:lnTo>
                  <a:pt x="3397819" y="2029384"/>
                </a:lnTo>
                <a:lnTo>
                  <a:pt x="3404928" y="2030728"/>
                </a:lnTo>
                <a:lnTo>
                  <a:pt x="3412036" y="2032042"/>
                </a:lnTo>
                <a:lnTo>
                  <a:pt x="3419145" y="2033327"/>
                </a:lnTo>
                <a:lnTo>
                  <a:pt x="3426253" y="2034583"/>
                </a:lnTo>
                <a:lnTo>
                  <a:pt x="3433361" y="2035810"/>
                </a:lnTo>
                <a:lnTo>
                  <a:pt x="3440470" y="2037008"/>
                </a:lnTo>
                <a:lnTo>
                  <a:pt x="3447578" y="2038180"/>
                </a:lnTo>
                <a:lnTo>
                  <a:pt x="3454687" y="2039324"/>
                </a:lnTo>
                <a:lnTo>
                  <a:pt x="3461795" y="2040441"/>
                </a:lnTo>
                <a:lnTo>
                  <a:pt x="3468904" y="2041532"/>
                </a:lnTo>
                <a:lnTo>
                  <a:pt x="3476012" y="2042597"/>
                </a:lnTo>
                <a:lnTo>
                  <a:pt x="3483120" y="2043637"/>
                </a:lnTo>
                <a:lnTo>
                  <a:pt x="3490229" y="2044651"/>
                </a:lnTo>
                <a:lnTo>
                  <a:pt x="3497337" y="2045642"/>
                </a:lnTo>
                <a:lnTo>
                  <a:pt x="3504446" y="2046608"/>
                </a:lnTo>
                <a:lnTo>
                  <a:pt x="3511554" y="2047550"/>
                </a:lnTo>
                <a:lnTo>
                  <a:pt x="3518662" y="2048469"/>
                </a:lnTo>
                <a:lnTo>
                  <a:pt x="3525771" y="2049366"/>
                </a:lnTo>
                <a:lnTo>
                  <a:pt x="3532879" y="2050240"/>
                </a:lnTo>
                <a:lnTo>
                  <a:pt x="3539988" y="2051092"/>
                </a:lnTo>
                <a:lnTo>
                  <a:pt x="3547096" y="2051923"/>
                </a:lnTo>
                <a:lnTo>
                  <a:pt x="3554204" y="2052732"/>
                </a:lnTo>
                <a:lnTo>
                  <a:pt x="3561313" y="2053521"/>
                </a:lnTo>
                <a:lnTo>
                  <a:pt x="3568421" y="2054289"/>
                </a:lnTo>
                <a:lnTo>
                  <a:pt x="3575530" y="2055038"/>
                </a:lnTo>
                <a:lnTo>
                  <a:pt x="3582638" y="2055767"/>
                </a:lnTo>
                <a:lnTo>
                  <a:pt x="3589746" y="2056477"/>
                </a:lnTo>
                <a:lnTo>
                  <a:pt x="3596855" y="2057169"/>
                </a:lnTo>
                <a:lnTo>
                  <a:pt x="3603963" y="2057842"/>
                </a:lnTo>
                <a:lnTo>
                  <a:pt x="3611072" y="2058497"/>
                </a:lnTo>
                <a:lnTo>
                  <a:pt x="3618180" y="2059134"/>
                </a:lnTo>
                <a:lnTo>
                  <a:pt x="3625289" y="2059754"/>
                </a:lnTo>
                <a:lnTo>
                  <a:pt x="3632397" y="2060358"/>
                </a:lnTo>
                <a:lnTo>
                  <a:pt x="3639505" y="2060945"/>
                </a:lnTo>
                <a:lnTo>
                  <a:pt x="3646614" y="2061516"/>
                </a:lnTo>
                <a:lnTo>
                  <a:pt x="3653722" y="2062071"/>
                </a:lnTo>
                <a:lnTo>
                  <a:pt x="3660831" y="2062611"/>
                </a:lnTo>
                <a:lnTo>
                  <a:pt x="3667939" y="2063136"/>
                </a:lnTo>
                <a:lnTo>
                  <a:pt x="3675047" y="2063646"/>
                </a:lnTo>
                <a:lnTo>
                  <a:pt x="3682156" y="2064141"/>
                </a:lnTo>
                <a:lnTo>
                  <a:pt x="3689264" y="2064623"/>
                </a:lnTo>
                <a:lnTo>
                  <a:pt x="3696373" y="2065091"/>
                </a:lnTo>
                <a:lnTo>
                  <a:pt x="3703481" y="2065546"/>
                </a:lnTo>
                <a:lnTo>
                  <a:pt x="3710589" y="2065987"/>
                </a:lnTo>
                <a:lnTo>
                  <a:pt x="3717698" y="2066416"/>
                </a:lnTo>
                <a:lnTo>
                  <a:pt x="3724806" y="2066832"/>
                </a:lnTo>
                <a:lnTo>
                  <a:pt x="3731915" y="2067236"/>
                </a:lnTo>
                <a:lnTo>
                  <a:pt x="3739023" y="2067628"/>
                </a:lnTo>
                <a:lnTo>
                  <a:pt x="3746132" y="2068009"/>
                </a:lnTo>
                <a:lnTo>
                  <a:pt x="3753240" y="2068378"/>
                </a:lnTo>
                <a:lnTo>
                  <a:pt x="3760348" y="2068736"/>
                </a:lnTo>
                <a:lnTo>
                  <a:pt x="3767457" y="2069084"/>
                </a:lnTo>
                <a:lnTo>
                  <a:pt x="3774565" y="2069421"/>
                </a:lnTo>
                <a:lnTo>
                  <a:pt x="3781674" y="2069748"/>
                </a:lnTo>
                <a:lnTo>
                  <a:pt x="3788782" y="2070064"/>
                </a:lnTo>
                <a:lnTo>
                  <a:pt x="3795890" y="2070372"/>
                </a:lnTo>
                <a:lnTo>
                  <a:pt x="3802999" y="2070669"/>
                </a:lnTo>
                <a:lnTo>
                  <a:pt x="3810107" y="2070958"/>
                </a:lnTo>
                <a:lnTo>
                  <a:pt x="3817216" y="2071238"/>
                </a:lnTo>
                <a:lnTo>
                  <a:pt x="3824324" y="2071508"/>
                </a:lnTo>
                <a:lnTo>
                  <a:pt x="3831432" y="2071771"/>
                </a:lnTo>
                <a:lnTo>
                  <a:pt x="3838541" y="2072025"/>
                </a:lnTo>
                <a:lnTo>
                  <a:pt x="3845649" y="2072271"/>
                </a:lnTo>
                <a:lnTo>
                  <a:pt x="3852758" y="2072509"/>
                </a:lnTo>
                <a:lnTo>
                  <a:pt x="3859866" y="2072740"/>
                </a:lnTo>
                <a:lnTo>
                  <a:pt x="3866974" y="2072963"/>
                </a:lnTo>
                <a:lnTo>
                  <a:pt x="3874083" y="2073179"/>
                </a:lnTo>
                <a:lnTo>
                  <a:pt x="3881191" y="2073388"/>
                </a:lnTo>
                <a:lnTo>
                  <a:pt x="3888300" y="2073591"/>
                </a:lnTo>
                <a:lnTo>
                  <a:pt x="3895408" y="2073786"/>
                </a:lnTo>
                <a:lnTo>
                  <a:pt x="3902517" y="2073976"/>
                </a:lnTo>
                <a:lnTo>
                  <a:pt x="3909625" y="2074159"/>
                </a:lnTo>
                <a:lnTo>
                  <a:pt x="3916733" y="2074336"/>
                </a:lnTo>
                <a:lnTo>
                  <a:pt x="3923842" y="2074507"/>
                </a:lnTo>
                <a:lnTo>
                  <a:pt x="3930950" y="2074672"/>
                </a:lnTo>
                <a:lnTo>
                  <a:pt x="3938059" y="2074832"/>
                </a:lnTo>
                <a:lnTo>
                  <a:pt x="3945167" y="2074986"/>
                </a:lnTo>
                <a:lnTo>
                  <a:pt x="3952275" y="2075135"/>
                </a:lnTo>
                <a:lnTo>
                  <a:pt x="3959384" y="2075280"/>
                </a:lnTo>
                <a:lnTo>
                  <a:pt x="3966492" y="2075419"/>
                </a:lnTo>
                <a:lnTo>
                  <a:pt x="3973601" y="2075553"/>
                </a:lnTo>
                <a:lnTo>
                  <a:pt x="3980709" y="2075683"/>
                </a:lnTo>
                <a:lnTo>
                  <a:pt x="3987817" y="2075808"/>
                </a:lnTo>
                <a:lnTo>
                  <a:pt x="3994926" y="2075929"/>
                </a:lnTo>
                <a:lnTo>
                  <a:pt x="4002034" y="2076046"/>
                </a:lnTo>
                <a:lnTo>
                  <a:pt x="4009143" y="2076159"/>
                </a:lnTo>
                <a:lnTo>
                  <a:pt x="4016251" y="2076267"/>
                </a:lnTo>
                <a:lnTo>
                  <a:pt x="4023360" y="2076372"/>
                </a:lnTo>
                <a:lnTo>
                  <a:pt x="4030468" y="2076473"/>
                </a:lnTo>
                <a:lnTo>
                  <a:pt x="4037576" y="2076571"/>
                </a:lnTo>
                <a:lnTo>
                  <a:pt x="4044685" y="2076665"/>
                </a:lnTo>
                <a:lnTo>
                  <a:pt x="4051793" y="2076756"/>
                </a:lnTo>
                <a:lnTo>
                  <a:pt x="4058902" y="2076843"/>
                </a:lnTo>
                <a:lnTo>
                  <a:pt x="4066010" y="2076928"/>
                </a:lnTo>
                <a:lnTo>
                  <a:pt x="4073118" y="2077009"/>
                </a:lnTo>
                <a:lnTo>
                  <a:pt x="4080227" y="2077087"/>
                </a:lnTo>
                <a:lnTo>
                  <a:pt x="4087335" y="2077162"/>
                </a:lnTo>
                <a:lnTo>
                  <a:pt x="4094444" y="2077235"/>
                </a:lnTo>
                <a:lnTo>
                  <a:pt x="4101552" y="2077305"/>
                </a:lnTo>
                <a:lnTo>
                  <a:pt x="4108660" y="2077372"/>
                </a:lnTo>
                <a:lnTo>
                  <a:pt x="4115769" y="2077437"/>
                </a:lnTo>
                <a:lnTo>
                  <a:pt x="4122877" y="2077499"/>
                </a:lnTo>
                <a:lnTo>
                  <a:pt x="4129986" y="2077560"/>
                </a:lnTo>
                <a:lnTo>
                  <a:pt x="4137094" y="2077617"/>
                </a:lnTo>
                <a:lnTo>
                  <a:pt x="4144202" y="2077673"/>
                </a:lnTo>
                <a:lnTo>
                  <a:pt x="4151311" y="2077727"/>
                </a:lnTo>
                <a:lnTo>
                  <a:pt x="4158419" y="2077778"/>
                </a:lnTo>
                <a:lnTo>
                  <a:pt x="4165528" y="2077828"/>
                </a:lnTo>
                <a:lnTo>
                  <a:pt x="4172636" y="2077875"/>
                </a:lnTo>
                <a:lnTo>
                  <a:pt x="4179745" y="2077921"/>
                </a:lnTo>
                <a:lnTo>
                  <a:pt x="4186853" y="2077965"/>
                </a:lnTo>
                <a:lnTo>
                  <a:pt x="4193961" y="2078007"/>
                </a:lnTo>
                <a:lnTo>
                  <a:pt x="4201070" y="2078048"/>
                </a:lnTo>
                <a:lnTo>
                  <a:pt x="4208178" y="2078087"/>
                </a:lnTo>
                <a:lnTo>
                  <a:pt x="4215287" y="2078125"/>
                </a:lnTo>
                <a:lnTo>
                  <a:pt x="4222395" y="2078161"/>
                </a:lnTo>
                <a:lnTo>
                  <a:pt x="4229503" y="2078195"/>
                </a:lnTo>
                <a:lnTo>
                  <a:pt x="4236612" y="2078229"/>
                </a:lnTo>
                <a:lnTo>
                  <a:pt x="4243720" y="2078261"/>
                </a:lnTo>
                <a:lnTo>
                  <a:pt x="4250829" y="2078291"/>
                </a:lnTo>
                <a:lnTo>
                  <a:pt x="4257937" y="2078321"/>
                </a:lnTo>
                <a:lnTo>
                  <a:pt x="4265045" y="2078349"/>
                </a:lnTo>
                <a:lnTo>
                  <a:pt x="4272154" y="2078376"/>
                </a:lnTo>
                <a:lnTo>
                  <a:pt x="4279262" y="2078402"/>
                </a:lnTo>
                <a:lnTo>
                  <a:pt x="4286371" y="2078427"/>
                </a:lnTo>
                <a:lnTo>
                  <a:pt x="4293479" y="2078451"/>
                </a:lnTo>
                <a:lnTo>
                  <a:pt x="4300587" y="2078474"/>
                </a:lnTo>
                <a:lnTo>
                  <a:pt x="4307696" y="2078496"/>
                </a:lnTo>
                <a:lnTo>
                  <a:pt x="4314804" y="2078517"/>
                </a:lnTo>
                <a:lnTo>
                  <a:pt x="4321913" y="2078537"/>
                </a:lnTo>
                <a:lnTo>
                  <a:pt x="4329021" y="2078557"/>
                </a:lnTo>
                <a:lnTo>
                  <a:pt x="4336130" y="2078575"/>
                </a:lnTo>
                <a:lnTo>
                  <a:pt x="4343238" y="2078593"/>
                </a:lnTo>
                <a:lnTo>
                  <a:pt x="4350346" y="2078610"/>
                </a:lnTo>
                <a:lnTo>
                  <a:pt x="4357455" y="2078627"/>
                </a:lnTo>
                <a:lnTo>
                  <a:pt x="4364563" y="2078642"/>
                </a:lnTo>
                <a:lnTo>
                  <a:pt x="4371672" y="2078657"/>
                </a:lnTo>
                <a:lnTo>
                  <a:pt x="4378780" y="2078672"/>
                </a:lnTo>
                <a:lnTo>
                  <a:pt x="4385888" y="2078686"/>
                </a:lnTo>
                <a:lnTo>
                  <a:pt x="4392997" y="2078699"/>
                </a:lnTo>
                <a:lnTo>
                  <a:pt x="4400105" y="2078711"/>
                </a:lnTo>
                <a:lnTo>
                  <a:pt x="4407214" y="2078723"/>
                </a:lnTo>
                <a:lnTo>
                  <a:pt x="4414322" y="2078735"/>
                </a:lnTo>
                <a:lnTo>
                  <a:pt x="4421430" y="2078746"/>
                </a:lnTo>
                <a:lnTo>
                  <a:pt x="4428539" y="2078757"/>
                </a:lnTo>
                <a:lnTo>
                  <a:pt x="4435647" y="2078767"/>
                </a:lnTo>
                <a:lnTo>
                  <a:pt x="4442756" y="2078776"/>
                </a:lnTo>
                <a:lnTo>
                  <a:pt x="4449864" y="2078786"/>
                </a:lnTo>
                <a:lnTo>
                  <a:pt x="4456973" y="2078794"/>
                </a:lnTo>
                <a:lnTo>
                  <a:pt x="4464081" y="2078803"/>
                </a:lnTo>
                <a:lnTo>
                  <a:pt x="4471189" y="2078811"/>
                </a:lnTo>
                <a:lnTo>
                  <a:pt x="4478298" y="2078819"/>
                </a:lnTo>
                <a:lnTo>
                  <a:pt x="4485406" y="2078826"/>
                </a:lnTo>
                <a:lnTo>
                  <a:pt x="4492515" y="2078833"/>
                </a:lnTo>
                <a:lnTo>
                  <a:pt x="4499623" y="2078840"/>
                </a:lnTo>
                <a:lnTo>
                  <a:pt x="4506731" y="2078846"/>
                </a:lnTo>
                <a:lnTo>
                  <a:pt x="4513840" y="2078852"/>
                </a:lnTo>
                <a:lnTo>
                  <a:pt x="4520948" y="2078858"/>
                </a:lnTo>
                <a:lnTo>
                  <a:pt x="4528057" y="2078864"/>
                </a:lnTo>
                <a:lnTo>
                  <a:pt x="4535165" y="2078869"/>
                </a:lnTo>
                <a:lnTo>
                  <a:pt x="4542273" y="2078874"/>
                </a:lnTo>
                <a:lnTo>
                  <a:pt x="4549382" y="2078879"/>
                </a:lnTo>
                <a:lnTo>
                  <a:pt x="4556490" y="2078884"/>
                </a:lnTo>
                <a:lnTo>
                  <a:pt x="4563599" y="2078888"/>
                </a:lnTo>
                <a:lnTo>
                  <a:pt x="4570707" y="2078892"/>
                </a:lnTo>
                <a:lnTo>
                  <a:pt x="4577815" y="2078896"/>
                </a:lnTo>
                <a:lnTo>
                  <a:pt x="4584924" y="2078900"/>
                </a:lnTo>
                <a:lnTo>
                  <a:pt x="4592032" y="2078904"/>
                </a:lnTo>
                <a:lnTo>
                  <a:pt x="4599141" y="2078907"/>
                </a:lnTo>
                <a:lnTo>
                  <a:pt x="4606249" y="2078911"/>
                </a:lnTo>
                <a:lnTo>
                  <a:pt x="4613358" y="2078914"/>
                </a:lnTo>
                <a:lnTo>
                  <a:pt x="4620466" y="2078917"/>
                </a:lnTo>
                <a:lnTo>
                  <a:pt x="4627574" y="2078920"/>
                </a:lnTo>
                <a:lnTo>
                  <a:pt x="4634683" y="2078922"/>
                </a:lnTo>
                <a:lnTo>
                  <a:pt x="4641791" y="2078925"/>
                </a:lnTo>
                <a:lnTo>
                  <a:pt x="4648900" y="2078927"/>
                </a:lnTo>
                <a:lnTo>
                  <a:pt x="4656008" y="2078930"/>
                </a:lnTo>
                <a:lnTo>
                  <a:pt x="4663116" y="2078932"/>
                </a:lnTo>
                <a:lnTo>
                  <a:pt x="4670225" y="2078934"/>
                </a:lnTo>
                <a:lnTo>
                  <a:pt x="4677333" y="2078936"/>
                </a:lnTo>
                <a:lnTo>
                  <a:pt x="4684442" y="2078938"/>
                </a:lnTo>
                <a:lnTo>
                  <a:pt x="4691550" y="2078940"/>
                </a:lnTo>
                <a:lnTo>
                  <a:pt x="4698658" y="2078942"/>
                </a:lnTo>
                <a:lnTo>
                  <a:pt x="4705767" y="2078943"/>
                </a:lnTo>
                <a:lnTo>
                  <a:pt x="4712875" y="2078945"/>
                </a:lnTo>
                <a:lnTo>
                  <a:pt x="4719984" y="2078947"/>
                </a:lnTo>
                <a:lnTo>
                  <a:pt x="4727092" y="2078948"/>
                </a:lnTo>
                <a:lnTo>
                  <a:pt x="4734200" y="2078949"/>
                </a:lnTo>
                <a:lnTo>
                  <a:pt x="4741309" y="2078951"/>
                </a:lnTo>
                <a:lnTo>
                  <a:pt x="4748417" y="2078952"/>
                </a:lnTo>
                <a:lnTo>
                  <a:pt x="4755526" y="2078953"/>
                </a:lnTo>
                <a:lnTo>
                  <a:pt x="4762634" y="2078954"/>
                </a:lnTo>
                <a:lnTo>
                  <a:pt x="4769743" y="2078955"/>
                </a:lnTo>
                <a:lnTo>
                  <a:pt x="4776851" y="2078956"/>
                </a:lnTo>
                <a:lnTo>
                  <a:pt x="4783959" y="2078957"/>
                </a:lnTo>
                <a:lnTo>
                  <a:pt x="4791068" y="2078958"/>
                </a:lnTo>
                <a:lnTo>
                  <a:pt x="4798176" y="2078959"/>
                </a:lnTo>
                <a:lnTo>
                  <a:pt x="4805285" y="2078960"/>
                </a:lnTo>
                <a:lnTo>
                  <a:pt x="4812393" y="2078960"/>
                </a:lnTo>
                <a:lnTo>
                  <a:pt x="4819501" y="2078961"/>
                </a:lnTo>
                <a:lnTo>
                  <a:pt x="4826610" y="2078962"/>
                </a:lnTo>
                <a:lnTo>
                  <a:pt x="4833718" y="2078963"/>
                </a:lnTo>
                <a:lnTo>
                  <a:pt x="4840827" y="2078963"/>
                </a:lnTo>
                <a:lnTo>
                  <a:pt x="4847935" y="2078964"/>
                </a:lnTo>
                <a:lnTo>
                  <a:pt x="4855043" y="2078964"/>
                </a:lnTo>
                <a:lnTo>
                  <a:pt x="4862152" y="2078965"/>
                </a:lnTo>
                <a:lnTo>
                  <a:pt x="4869260" y="2078965"/>
                </a:lnTo>
                <a:lnTo>
                  <a:pt x="4876369" y="2078966"/>
                </a:lnTo>
                <a:lnTo>
                  <a:pt x="4883477" y="2078966"/>
                </a:lnTo>
                <a:lnTo>
                  <a:pt x="4890586" y="2078967"/>
                </a:lnTo>
                <a:lnTo>
                  <a:pt x="4897694" y="2078967"/>
                </a:lnTo>
                <a:lnTo>
                  <a:pt x="4904802" y="2078968"/>
                </a:lnTo>
                <a:lnTo>
                  <a:pt x="4911911" y="2078968"/>
                </a:lnTo>
                <a:lnTo>
                  <a:pt x="4919019" y="2078968"/>
                </a:lnTo>
                <a:lnTo>
                  <a:pt x="4926128" y="2078969"/>
                </a:lnTo>
                <a:lnTo>
                  <a:pt x="4933236" y="2078969"/>
                </a:lnTo>
                <a:lnTo>
                  <a:pt x="4940344" y="2078969"/>
                </a:lnTo>
                <a:lnTo>
                  <a:pt x="4947453" y="2078969"/>
                </a:lnTo>
                <a:lnTo>
                  <a:pt x="4954561" y="2078970"/>
                </a:lnTo>
                <a:lnTo>
                  <a:pt x="4961670" y="2078970"/>
                </a:lnTo>
                <a:lnTo>
                  <a:pt x="4968778" y="2078970"/>
                </a:lnTo>
                <a:lnTo>
                  <a:pt x="4975886" y="2078970"/>
                </a:lnTo>
                <a:lnTo>
                  <a:pt x="4982995" y="2078971"/>
                </a:lnTo>
                <a:lnTo>
                  <a:pt x="4990103" y="2078971"/>
                </a:lnTo>
                <a:lnTo>
                  <a:pt x="4997212" y="2078971"/>
                </a:lnTo>
                <a:lnTo>
                  <a:pt x="5004320" y="2078971"/>
                </a:lnTo>
                <a:lnTo>
                  <a:pt x="5011428" y="2078971"/>
                </a:lnTo>
                <a:lnTo>
                  <a:pt x="5018537" y="2078972"/>
                </a:lnTo>
                <a:lnTo>
                  <a:pt x="5025645" y="2078972"/>
                </a:lnTo>
                <a:lnTo>
                  <a:pt x="5032754" y="2078972"/>
                </a:lnTo>
                <a:lnTo>
                  <a:pt x="5039862" y="2078972"/>
                </a:lnTo>
                <a:lnTo>
                  <a:pt x="5046971" y="2078972"/>
                </a:lnTo>
                <a:lnTo>
                  <a:pt x="5054079" y="2078972"/>
                </a:lnTo>
                <a:lnTo>
                  <a:pt x="5061187" y="2078972"/>
                </a:lnTo>
                <a:lnTo>
                  <a:pt x="5068296" y="2078972"/>
                </a:lnTo>
                <a:lnTo>
                  <a:pt x="5075404" y="2078973"/>
                </a:lnTo>
                <a:lnTo>
                  <a:pt x="5082513" y="2078973"/>
                </a:lnTo>
                <a:lnTo>
                  <a:pt x="5089621" y="2078973"/>
                </a:lnTo>
                <a:lnTo>
                  <a:pt x="5096729" y="2078973"/>
                </a:lnTo>
                <a:lnTo>
                  <a:pt x="5103838" y="2078973"/>
                </a:lnTo>
                <a:lnTo>
                  <a:pt x="5110946" y="2078973"/>
                </a:lnTo>
                <a:lnTo>
                  <a:pt x="5118055" y="2078973"/>
                </a:lnTo>
                <a:lnTo>
                  <a:pt x="5125163" y="2078973"/>
                </a:lnTo>
                <a:lnTo>
                  <a:pt x="5132271" y="2078973"/>
                </a:lnTo>
                <a:lnTo>
                  <a:pt x="5139380" y="2078973"/>
                </a:lnTo>
                <a:lnTo>
                  <a:pt x="5146488" y="2078973"/>
                </a:lnTo>
                <a:lnTo>
                  <a:pt x="5153597" y="2078973"/>
                </a:lnTo>
                <a:lnTo>
                  <a:pt x="5160705" y="2078973"/>
                </a:lnTo>
                <a:lnTo>
                  <a:pt x="5167813" y="2078973"/>
                </a:lnTo>
                <a:lnTo>
                  <a:pt x="5174922" y="2078973"/>
                </a:lnTo>
                <a:lnTo>
                  <a:pt x="5182030" y="2078974"/>
                </a:lnTo>
                <a:lnTo>
                  <a:pt x="5189139" y="2078974"/>
                </a:lnTo>
                <a:lnTo>
                  <a:pt x="5196247" y="2078974"/>
                </a:lnTo>
                <a:lnTo>
                  <a:pt x="5203356" y="2078974"/>
                </a:lnTo>
                <a:lnTo>
                  <a:pt x="5210464" y="2078974"/>
                </a:lnTo>
                <a:lnTo>
                  <a:pt x="5217572" y="2078974"/>
                </a:lnTo>
                <a:lnTo>
                  <a:pt x="5224681" y="2078974"/>
                </a:lnTo>
                <a:lnTo>
                  <a:pt x="5231789" y="2078974"/>
                </a:lnTo>
                <a:lnTo>
                  <a:pt x="5238898" y="2078974"/>
                </a:lnTo>
                <a:lnTo>
                  <a:pt x="5246006" y="2078974"/>
                </a:lnTo>
                <a:lnTo>
                  <a:pt x="5253114" y="2078974"/>
                </a:lnTo>
                <a:lnTo>
                  <a:pt x="5260223" y="2078974"/>
                </a:lnTo>
                <a:lnTo>
                  <a:pt x="5267331" y="2078974"/>
                </a:lnTo>
                <a:lnTo>
                  <a:pt x="5274440" y="2078974"/>
                </a:lnTo>
                <a:lnTo>
                  <a:pt x="5281548" y="2078974"/>
                </a:lnTo>
                <a:lnTo>
                  <a:pt x="5288656" y="2078974"/>
                </a:lnTo>
                <a:lnTo>
                  <a:pt x="5295765" y="2078974"/>
                </a:lnTo>
                <a:lnTo>
                  <a:pt x="5302873" y="2078974"/>
                </a:lnTo>
                <a:lnTo>
                  <a:pt x="5309982" y="2078974"/>
                </a:lnTo>
                <a:lnTo>
                  <a:pt x="5317090" y="2078974"/>
                </a:lnTo>
                <a:lnTo>
                  <a:pt x="5324199" y="2078974"/>
                </a:lnTo>
                <a:lnTo>
                  <a:pt x="5331307" y="2078974"/>
                </a:lnTo>
                <a:lnTo>
                  <a:pt x="5338415" y="2078974"/>
                </a:lnTo>
                <a:lnTo>
                  <a:pt x="5345524" y="2078974"/>
                </a:lnTo>
                <a:lnTo>
                  <a:pt x="5352632" y="2078974"/>
                </a:lnTo>
                <a:lnTo>
                  <a:pt x="5359741" y="2078974"/>
                </a:lnTo>
                <a:lnTo>
                  <a:pt x="5366849" y="2078974"/>
                </a:lnTo>
                <a:lnTo>
                  <a:pt x="5373957" y="2078974"/>
                </a:lnTo>
                <a:lnTo>
                  <a:pt x="5381066" y="2078974"/>
                </a:lnTo>
                <a:lnTo>
                  <a:pt x="5388174" y="2078974"/>
                </a:lnTo>
                <a:lnTo>
                  <a:pt x="5395283" y="2078974"/>
                </a:lnTo>
                <a:lnTo>
                  <a:pt x="5402391" y="2078974"/>
                </a:lnTo>
                <a:lnTo>
                  <a:pt x="5409499" y="2078974"/>
                </a:lnTo>
                <a:lnTo>
                  <a:pt x="5416608" y="2078974"/>
                </a:lnTo>
                <a:lnTo>
                  <a:pt x="5423716" y="2078974"/>
                </a:lnTo>
                <a:lnTo>
                  <a:pt x="5430825" y="2078974"/>
                </a:lnTo>
                <a:lnTo>
                  <a:pt x="5437933" y="2078974"/>
                </a:lnTo>
                <a:lnTo>
                  <a:pt x="5445041" y="2078974"/>
                </a:lnTo>
                <a:lnTo>
                  <a:pt x="5452150" y="2078974"/>
                </a:lnTo>
                <a:lnTo>
                  <a:pt x="5459258" y="2078974"/>
                </a:lnTo>
                <a:lnTo>
                  <a:pt x="5466367" y="2078974"/>
                </a:lnTo>
                <a:lnTo>
                  <a:pt x="5473475" y="2078974"/>
                </a:lnTo>
                <a:lnTo>
                  <a:pt x="5480584" y="2078974"/>
                </a:lnTo>
                <a:lnTo>
                  <a:pt x="5487692" y="2078974"/>
                </a:lnTo>
                <a:lnTo>
                  <a:pt x="5494800" y="2078974"/>
                </a:lnTo>
                <a:lnTo>
                  <a:pt x="5501909" y="2078974"/>
                </a:lnTo>
                <a:lnTo>
                  <a:pt x="5509017" y="2078974"/>
                </a:lnTo>
                <a:lnTo>
                  <a:pt x="5516126" y="2078974"/>
                </a:lnTo>
                <a:lnTo>
                  <a:pt x="5523234" y="2078974"/>
                </a:lnTo>
                <a:lnTo>
                  <a:pt x="5530342" y="2078974"/>
                </a:lnTo>
                <a:lnTo>
                  <a:pt x="5537451" y="2078974"/>
                </a:lnTo>
                <a:lnTo>
                  <a:pt x="5544559" y="2078974"/>
                </a:lnTo>
                <a:lnTo>
                  <a:pt x="5551668" y="2078974"/>
                </a:lnTo>
                <a:lnTo>
                  <a:pt x="5558776" y="2078974"/>
                </a:lnTo>
                <a:lnTo>
                  <a:pt x="5565884" y="2078974"/>
                </a:lnTo>
                <a:lnTo>
                  <a:pt x="5572993" y="2078974"/>
                </a:lnTo>
                <a:lnTo>
                  <a:pt x="5580101" y="2078974"/>
                </a:lnTo>
                <a:lnTo>
                  <a:pt x="5587210" y="2078974"/>
                </a:lnTo>
                <a:lnTo>
                  <a:pt x="5594318" y="2078974"/>
                </a:lnTo>
                <a:lnTo>
                  <a:pt x="5601426" y="2078974"/>
                </a:lnTo>
                <a:lnTo>
                  <a:pt x="5608535" y="2078974"/>
                </a:lnTo>
                <a:lnTo>
                  <a:pt x="5615643" y="2078974"/>
                </a:lnTo>
                <a:lnTo>
                  <a:pt x="5622752" y="2078974"/>
                </a:lnTo>
                <a:lnTo>
                  <a:pt x="5629860" y="2078974"/>
                </a:lnTo>
                <a:lnTo>
                  <a:pt x="5636969" y="2078974"/>
                </a:lnTo>
                <a:lnTo>
                  <a:pt x="5644077" y="2078974"/>
                </a:lnTo>
                <a:lnTo>
                  <a:pt x="5651185" y="2078974"/>
                </a:lnTo>
                <a:lnTo>
                  <a:pt x="5658294" y="2078974"/>
                </a:lnTo>
                <a:lnTo>
                  <a:pt x="5665402" y="2078974"/>
                </a:lnTo>
                <a:lnTo>
                  <a:pt x="5672511" y="2078974"/>
                </a:lnTo>
                <a:lnTo>
                  <a:pt x="5679619" y="2078974"/>
                </a:lnTo>
                <a:lnTo>
                  <a:pt x="5686727" y="2078974"/>
                </a:lnTo>
                <a:lnTo>
                  <a:pt x="5693836" y="2078974"/>
                </a:lnTo>
                <a:lnTo>
                  <a:pt x="5700944" y="2078974"/>
                </a:lnTo>
                <a:lnTo>
                  <a:pt x="5708053" y="2078974"/>
                </a:lnTo>
                <a:lnTo>
                  <a:pt x="5715161" y="2078974"/>
                </a:lnTo>
                <a:lnTo>
                  <a:pt x="5722269" y="2078974"/>
                </a:lnTo>
                <a:lnTo>
                  <a:pt x="5729378" y="2078974"/>
                </a:lnTo>
                <a:lnTo>
                  <a:pt x="5736486" y="2078974"/>
                </a:lnTo>
                <a:lnTo>
                  <a:pt x="5743595" y="2078974"/>
                </a:lnTo>
                <a:lnTo>
                  <a:pt x="5750703" y="2078974"/>
                </a:lnTo>
                <a:lnTo>
                  <a:pt x="5757812" y="2078974"/>
                </a:lnTo>
                <a:lnTo>
                  <a:pt x="5764920" y="2078974"/>
                </a:lnTo>
                <a:lnTo>
                  <a:pt x="5772028" y="2078974"/>
                </a:lnTo>
                <a:lnTo>
                  <a:pt x="5779137" y="2078974"/>
                </a:lnTo>
                <a:lnTo>
                  <a:pt x="5786245" y="2078974"/>
                </a:lnTo>
                <a:lnTo>
                  <a:pt x="5793354" y="2078974"/>
                </a:lnTo>
                <a:lnTo>
                  <a:pt x="5800462" y="2078974"/>
                </a:lnTo>
                <a:lnTo>
                  <a:pt x="5807570" y="2078974"/>
                </a:lnTo>
                <a:lnTo>
                  <a:pt x="5814679" y="2078974"/>
                </a:lnTo>
                <a:lnTo>
                  <a:pt x="5821787" y="2078974"/>
                </a:lnTo>
                <a:lnTo>
                  <a:pt x="5828896" y="2078974"/>
                </a:lnTo>
                <a:lnTo>
                  <a:pt x="5836004" y="2078974"/>
                </a:lnTo>
                <a:lnTo>
                  <a:pt x="5843112" y="2078974"/>
                </a:lnTo>
                <a:lnTo>
                  <a:pt x="5850221" y="2078974"/>
                </a:lnTo>
                <a:lnTo>
                  <a:pt x="5857329" y="2078974"/>
                </a:lnTo>
                <a:lnTo>
                  <a:pt x="5864438" y="2078974"/>
                </a:lnTo>
                <a:lnTo>
                  <a:pt x="5871546" y="2078974"/>
                </a:lnTo>
                <a:lnTo>
                  <a:pt x="5878654" y="2078974"/>
                </a:lnTo>
                <a:lnTo>
                  <a:pt x="5885763" y="2078974"/>
                </a:lnTo>
                <a:lnTo>
                  <a:pt x="5892871" y="2078974"/>
                </a:lnTo>
                <a:lnTo>
                  <a:pt x="5899980" y="2078974"/>
                </a:lnTo>
                <a:lnTo>
                  <a:pt x="5907088" y="2078974"/>
                </a:lnTo>
                <a:lnTo>
                  <a:pt x="5914197" y="2078974"/>
                </a:lnTo>
                <a:lnTo>
                  <a:pt x="5921305" y="2078974"/>
                </a:lnTo>
                <a:lnTo>
                  <a:pt x="5928413" y="2078974"/>
                </a:lnTo>
                <a:lnTo>
                  <a:pt x="5935522" y="2078974"/>
                </a:lnTo>
                <a:lnTo>
                  <a:pt x="5942630" y="2078974"/>
                </a:lnTo>
                <a:lnTo>
                  <a:pt x="5949739" y="2078974"/>
                </a:lnTo>
                <a:lnTo>
                  <a:pt x="5956847" y="2078974"/>
                </a:lnTo>
                <a:lnTo>
                  <a:pt x="5963955" y="2078974"/>
                </a:lnTo>
                <a:lnTo>
                  <a:pt x="5971064" y="2078974"/>
                </a:lnTo>
                <a:lnTo>
                  <a:pt x="5978172" y="2078974"/>
                </a:lnTo>
                <a:lnTo>
                  <a:pt x="5985281" y="2078974"/>
                </a:lnTo>
                <a:lnTo>
                  <a:pt x="5992389" y="2078974"/>
                </a:lnTo>
                <a:lnTo>
                  <a:pt x="5999497" y="2078974"/>
                </a:lnTo>
                <a:lnTo>
                  <a:pt x="6006606" y="2078974"/>
                </a:lnTo>
                <a:lnTo>
                  <a:pt x="6013714" y="2078974"/>
                </a:lnTo>
                <a:lnTo>
                  <a:pt x="6020823" y="2078974"/>
                </a:lnTo>
                <a:lnTo>
                  <a:pt x="6027931" y="2078974"/>
                </a:lnTo>
                <a:lnTo>
                  <a:pt x="6035040" y="2078974"/>
                </a:lnTo>
              </a:path>
            </a:pathLst>
          </a:custGeom>
          <a:noFill/>
          <a:ln w="317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694DF8E8-342F-AD85-914B-92965C347216}"/>
              </a:ext>
            </a:extLst>
          </p:cNvPr>
          <p:cNvSpPr/>
          <p:nvPr/>
        </p:nvSpPr>
        <p:spPr>
          <a:xfrm>
            <a:off x="868680" y="2822424"/>
            <a:ext cx="6035040" cy="1779939"/>
          </a:xfrm>
          <a:custGeom>
            <a:avLst/>
            <a:gdLst/>
            <a:ahLst/>
            <a:cxnLst/>
            <a:rect l="l" t="t" r="r" b="b"/>
            <a:pathLst>
              <a:path w="6035040" h="1779939">
                <a:moveTo>
                  <a:pt x="0" y="1729094"/>
                </a:moveTo>
                <a:lnTo>
                  <a:pt x="7108" y="1726791"/>
                </a:lnTo>
                <a:lnTo>
                  <a:pt x="14216" y="1724399"/>
                </a:lnTo>
                <a:lnTo>
                  <a:pt x="21325" y="1721915"/>
                </a:lnTo>
                <a:lnTo>
                  <a:pt x="28433" y="1719337"/>
                </a:lnTo>
                <a:lnTo>
                  <a:pt x="35542" y="1716662"/>
                </a:lnTo>
                <a:lnTo>
                  <a:pt x="42650" y="1713887"/>
                </a:lnTo>
                <a:lnTo>
                  <a:pt x="49758" y="1711010"/>
                </a:lnTo>
                <a:lnTo>
                  <a:pt x="56867" y="1708027"/>
                </a:lnTo>
                <a:lnTo>
                  <a:pt x="63975" y="1704936"/>
                </a:lnTo>
                <a:lnTo>
                  <a:pt x="71084" y="1701734"/>
                </a:lnTo>
                <a:lnTo>
                  <a:pt x="78192" y="1698418"/>
                </a:lnTo>
                <a:lnTo>
                  <a:pt x="85300" y="1694985"/>
                </a:lnTo>
                <a:lnTo>
                  <a:pt x="92409" y="1691432"/>
                </a:lnTo>
                <a:lnTo>
                  <a:pt x="99517" y="1687756"/>
                </a:lnTo>
                <a:lnTo>
                  <a:pt x="106626" y="1683954"/>
                </a:lnTo>
                <a:lnTo>
                  <a:pt x="113734" y="1680023"/>
                </a:lnTo>
                <a:lnTo>
                  <a:pt x="120842" y="1675959"/>
                </a:lnTo>
                <a:lnTo>
                  <a:pt x="127951" y="1671761"/>
                </a:lnTo>
                <a:lnTo>
                  <a:pt x="135059" y="1667424"/>
                </a:lnTo>
                <a:lnTo>
                  <a:pt x="142168" y="1662946"/>
                </a:lnTo>
                <a:lnTo>
                  <a:pt x="149276" y="1658324"/>
                </a:lnTo>
                <a:lnTo>
                  <a:pt x="156385" y="1653554"/>
                </a:lnTo>
                <a:lnTo>
                  <a:pt x="163493" y="1648633"/>
                </a:lnTo>
                <a:lnTo>
                  <a:pt x="170601" y="1643559"/>
                </a:lnTo>
                <a:lnTo>
                  <a:pt x="177710" y="1638328"/>
                </a:lnTo>
                <a:lnTo>
                  <a:pt x="184818" y="1632937"/>
                </a:lnTo>
                <a:lnTo>
                  <a:pt x="191927" y="1627384"/>
                </a:lnTo>
                <a:lnTo>
                  <a:pt x="199035" y="1621664"/>
                </a:lnTo>
                <a:lnTo>
                  <a:pt x="206143" y="1615776"/>
                </a:lnTo>
                <a:lnTo>
                  <a:pt x="213252" y="1609716"/>
                </a:lnTo>
                <a:lnTo>
                  <a:pt x="220360" y="1603481"/>
                </a:lnTo>
                <a:lnTo>
                  <a:pt x="227469" y="1597069"/>
                </a:lnTo>
                <a:lnTo>
                  <a:pt x="234577" y="1590476"/>
                </a:lnTo>
                <a:lnTo>
                  <a:pt x="241685" y="1583700"/>
                </a:lnTo>
                <a:lnTo>
                  <a:pt x="248794" y="1576738"/>
                </a:lnTo>
                <a:lnTo>
                  <a:pt x="255902" y="1569588"/>
                </a:lnTo>
                <a:lnTo>
                  <a:pt x="263011" y="1562246"/>
                </a:lnTo>
                <a:lnTo>
                  <a:pt x="270119" y="1554711"/>
                </a:lnTo>
                <a:lnTo>
                  <a:pt x="277227" y="1546980"/>
                </a:lnTo>
                <a:lnTo>
                  <a:pt x="284336" y="1539051"/>
                </a:lnTo>
                <a:lnTo>
                  <a:pt x="291444" y="1530920"/>
                </a:lnTo>
                <a:lnTo>
                  <a:pt x="298553" y="1522587"/>
                </a:lnTo>
                <a:lnTo>
                  <a:pt x="305661" y="1514049"/>
                </a:lnTo>
                <a:lnTo>
                  <a:pt x="312770" y="1505303"/>
                </a:lnTo>
                <a:lnTo>
                  <a:pt x="319878" y="1496349"/>
                </a:lnTo>
                <a:lnTo>
                  <a:pt x="326986" y="1487185"/>
                </a:lnTo>
                <a:lnTo>
                  <a:pt x="334095" y="1477808"/>
                </a:lnTo>
                <a:lnTo>
                  <a:pt x="341203" y="1468217"/>
                </a:lnTo>
                <a:lnTo>
                  <a:pt x="348312" y="1458411"/>
                </a:lnTo>
                <a:lnTo>
                  <a:pt x="355420" y="1448389"/>
                </a:lnTo>
                <a:lnTo>
                  <a:pt x="362528" y="1438150"/>
                </a:lnTo>
                <a:lnTo>
                  <a:pt x="369637" y="1427692"/>
                </a:lnTo>
                <a:lnTo>
                  <a:pt x="376745" y="1417014"/>
                </a:lnTo>
                <a:lnTo>
                  <a:pt x="383854" y="1406118"/>
                </a:lnTo>
                <a:lnTo>
                  <a:pt x="390962" y="1395000"/>
                </a:lnTo>
                <a:lnTo>
                  <a:pt x="398070" y="1383663"/>
                </a:lnTo>
                <a:lnTo>
                  <a:pt x="405179" y="1372104"/>
                </a:lnTo>
                <a:lnTo>
                  <a:pt x="412287" y="1360326"/>
                </a:lnTo>
                <a:lnTo>
                  <a:pt x="419396" y="1348326"/>
                </a:lnTo>
                <a:lnTo>
                  <a:pt x="426504" y="1336107"/>
                </a:lnTo>
                <a:lnTo>
                  <a:pt x="433613" y="1323669"/>
                </a:lnTo>
                <a:lnTo>
                  <a:pt x="440721" y="1311013"/>
                </a:lnTo>
                <a:lnTo>
                  <a:pt x="447829" y="1298139"/>
                </a:lnTo>
                <a:lnTo>
                  <a:pt x="454938" y="1285050"/>
                </a:lnTo>
                <a:lnTo>
                  <a:pt x="462046" y="1271746"/>
                </a:lnTo>
                <a:lnTo>
                  <a:pt x="469155" y="1258229"/>
                </a:lnTo>
                <a:lnTo>
                  <a:pt x="476263" y="1244502"/>
                </a:lnTo>
                <a:lnTo>
                  <a:pt x="483371" y="1230566"/>
                </a:lnTo>
                <a:lnTo>
                  <a:pt x="490480" y="1216423"/>
                </a:lnTo>
                <a:lnTo>
                  <a:pt x="497588" y="1202078"/>
                </a:lnTo>
                <a:lnTo>
                  <a:pt x="504697" y="1187531"/>
                </a:lnTo>
                <a:lnTo>
                  <a:pt x="511805" y="1172787"/>
                </a:lnTo>
                <a:lnTo>
                  <a:pt x="518913" y="1157849"/>
                </a:lnTo>
                <a:lnTo>
                  <a:pt x="526022" y="1142721"/>
                </a:lnTo>
                <a:lnTo>
                  <a:pt x="533130" y="1127406"/>
                </a:lnTo>
                <a:lnTo>
                  <a:pt x="540239" y="1111908"/>
                </a:lnTo>
                <a:lnTo>
                  <a:pt x="547347" y="1096233"/>
                </a:lnTo>
                <a:lnTo>
                  <a:pt x="554455" y="1080383"/>
                </a:lnTo>
                <a:lnTo>
                  <a:pt x="561564" y="1064366"/>
                </a:lnTo>
                <a:lnTo>
                  <a:pt x="568672" y="1048184"/>
                </a:lnTo>
                <a:lnTo>
                  <a:pt x="575781" y="1031845"/>
                </a:lnTo>
                <a:lnTo>
                  <a:pt x="582889" y="1015353"/>
                </a:lnTo>
                <a:lnTo>
                  <a:pt x="589998" y="998715"/>
                </a:lnTo>
                <a:lnTo>
                  <a:pt x="597106" y="981936"/>
                </a:lnTo>
                <a:lnTo>
                  <a:pt x="604214" y="965024"/>
                </a:lnTo>
                <a:lnTo>
                  <a:pt x="611323" y="947984"/>
                </a:lnTo>
                <a:lnTo>
                  <a:pt x="618431" y="930823"/>
                </a:lnTo>
                <a:lnTo>
                  <a:pt x="625540" y="913550"/>
                </a:lnTo>
                <a:lnTo>
                  <a:pt x="632648" y="896170"/>
                </a:lnTo>
                <a:lnTo>
                  <a:pt x="639756" y="878693"/>
                </a:lnTo>
                <a:lnTo>
                  <a:pt x="646865" y="861125"/>
                </a:lnTo>
                <a:lnTo>
                  <a:pt x="653973" y="843474"/>
                </a:lnTo>
                <a:lnTo>
                  <a:pt x="661082" y="825750"/>
                </a:lnTo>
                <a:lnTo>
                  <a:pt x="668190" y="807960"/>
                </a:lnTo>
                <a:lnTo>
                  <a:pt x="675298" y="790114"/>
                </a:lnTo>
                <a:lnTo>
                  <a:pt x="682407" y="772219"/>
                </a:lnTo>
                <a:lnTo>
                  <a:pt x="689515" y="754287"/>
                </a:lnTo>
                <a:lnTo>
                  <a:pt x="696624" y="736325"/>
                </a:lnTo>
                <a:lnTo>
                  <a:pt x="703732" y="718343"/>
                </a:lnTo>
                <a:lnTo>
                  <a:pt x="710840" y="700352"/>
                </a:lnTo>
                <a:lnTo>
                  <a:pt x="717949" y="682360"/>
                </a:lnTo>
                <a:lnTo>
                  <a:pt x="725057" y="664379"/>
                </a:lnTo>
                <a:lnTo>
                  <a:pt x="732166" y="646418"/>
                </a:lnTo>
                <a:lnTo>
                  <a:pt x="739274" y="628487"/>
                </a:lnTo>
                <a:lnTo>
                  <a:pt x="746383" y="610598"/>
                </a:lnTo>
                <a:lnTo>
                  <a:pt x="753491" y="592761"/>
                </a:lnTo>
                <a:lnTo>
                  <a:pt x="760599" y="574987"/>
                </a:lnTo>
                <a:lnTo>
                  <a:pt x="767708" y="557286"/>
                </a:lnTo>
                <a:lnTo>
                  <a:pt x="774816" y="539669"/>
                </a:lnTo>
                <a:lnTo>
                  <a:pt x="781925" y="522148"/>
                </a:lnTo>
                <a:lnTo>
                  <a:pt x="789033" y="504734"/>
                </a:lnTo>
                <a:lnTo>
                  <a:pt x="796141" y="487438"/>
                </a:lnTo>
                <a:lnTo>
                  <a:pt x="803250" y="470271"/>
                </a:lnTo>
                <a:lnTo>
                  <a:pt x="810358" y="453245"/>
                </a:lnTo>
                <a:lnTo>
                  <a:pt x="817467" y="436371"/>
                </a:lnTo>
                <a:lnTo>
                  <a:pt x="824575" y="419660"/>
                </a:lnTo>
                <a:lnTo>
                  <a:pt x="831683" y="403123"/>
                </a:lnTo>
                <a:lnTo>
                  <a:pt x="838792" y="386773"/>
                </a:lnTo>
                <a:lnTo>
                  <a:pt x="845900" y="370620"/>
                </a:lnTo>
                <a:lnTo>
                  <a:pt x="853009" y="354675"/>
                </a:lnTo>
                <a:lnTo>
                  <a:pt x="860117" y="338951"/>
                </a:lnTo>
                <a:lnTo>
                  <a:pt x="867226" y="323458"/>
                </a:lnTo>
                <a:lnTo>
                  <a:pt x="874334" y="308207"/>
                </a:lnTo>
                <a:lnTo>
                  <a:pt x="881442" y="293209"/>
                </a:lnTo>
                <a:lnTo>
                  <a:pt x="888551" y="278476"/>
                </a:lnTo>
                <a:lnTo>
                  <a:pt x="895659" y="264018"/>
                </a:lnTo>
                <a:lnTo>
                  <a:pt x="902768" y="249845"/>
                </a:lnTo>
                <a:lnTo>
                  <a:pt x="909876" y="235969"/>
                </a:lnTo>
                <a:lnTo>
                  <a:pt x="916984" y="222400"/>
                </a:lnTo>
                <a:lnTo>
                  <a:pt x="924093" y="209149"/>
                </a:lnTo>
                <a:lnTo>
                  <a:pt x="931201" y="196224"/>
                </a:lnTo>
                <a:lnTo>
                  <a:pt x="938310" y="183636"/>
                </a:lnTo>
                <a:lnTo>
                  <a:pt x="945418" y="171396"/>
                </a:lnTo>
                <a:lnTo>
                  <a:pt x="952526" y="159511"/>
                </a:lnTo>
                <a:lnTo>
                  <a:pt x="959635" y="147993"/>
                </a:lnTo>
                <a:lnTo>
                  <a:pt x="966743" y="136848"/>
                </a:lnTo>
                <a:lnTo>
                  <a:pt x="973852" y="126088"/>
                </a:lnTo>
                <a:lnTo>
                  <a:pt x="980960" y="115719"/>
                </a:lnTo>
                <a:lnTo>
                  <a:pt x="988068" y="105750"/>
                </a:lnTo>
                <a:lnTo>
                  <a:pt x="995177" y="96189"/>
                </a:lnTo>
                <a:lnTo>
                  <a:pt x="1002285" y="87044"/>
                </a:lnTo>
                <a:lnTo>
                  <a:pt x="1009394" y="78322"/>
                </a:lnTo>
                <a:lnTo>
                  <a:pt x="1016502" y="70030"/>
                </a:lnTo>
                <a:lnTo>
                  <a:pt x="1023611" y="62175"/>
                </a:lnTo>
                <a:lnTo>
                  <a:pt x="1030719" y="54763"/>
                </a:lnTo>
                <a:lnTo>
                  <a:pt x="1037827" y="47801"/>
                </a:lnTo>
                <a:lnTo>
                  <a:pt x="1044936" y="41293"/>
                </a:lnTo>
                <a:lnTo>
                  <a:pt x="1052044" y="35245"/>
                </a:lnTo>
                <a:lnTo>
                  <a:pt x="1059153" y="29663"/>
                </a:lnTo>
                <a:lnTo>
                  <a:pt x="1066261" y="24551"/>
                </a:lnTo>
                <a:lnTo>
                  <a:pt x="1073369" y="19912"/>
                </a:lnTo>
                <a:lnTo>
                  <a:pt x="1080478" y="15752"/>
                </a:lnTo>
                <a:lnTo>
                  <a:pt x="1087586" y="12073"/>
                </a:lnTo>
                <a:lnTo>
                  <a:pt x="1094695" y="8878"/>
                </a:lnTo>
                <a:lnTo>
                  <a:pt x="1101803" y="6170"/>
                </a:lnTo>
                <a:lnTo>
                  <a:pt x="1108911" y="3951"/>
                </a:lnTo>
                <a:lnTo>
                  <a:pt x="1116020" y="2224"/>
                </a:lnTo>
                <a:lnTo>
                  <a:pt x="1123128" y="989"/>
                </a:lnTo>
                <a:lnTo>
                  <a:pt x="1130237" y="247"/>
                </a:lnTo>
                <a:lnTo>
                  <a:pt x="1137345" y="0"/>
                </a:lnTo>
                <a:lnTo>
                  <a:pt x="1144453" y="247"/>
                </a:lnTo>
                <a:lnTo>
                  <a:pt x="1151562" y="989"/>
                </a:lnTo>
                <a:lnTo>
                  <a:pt x="1158670" y="2224"/>
                </a:lnTo>
                <a:lnTo>
                  <a:pt x="1165779" y="3951"/>
                </a:lnTo>
                <a:lnTo>
                  <a:pt x="1172887" y="6170"/>
                </a:lnTo>
                <a:lnTo>
                  <a:pt x="1179996" y="8878"/>
                </a:lnTo>
                <a:lnTo>
                  <a:pt x="1187104" y="12073"/>
                </a:lnTo>
                <a:lnTo>
                  <a:pt x="1194212" y="15752"/>
                </a:lnTo>
                <a:lnTo>
                  <a:pt x="1201321" y="19912"/>
                </a:lnTo>
                <a:lnTo>
                  <a:pt x="1208429" y="24551"/>
                </a:lnTo>
                <a:lnTo>
                  <a:pt x="1215538" y="29663"/>
                </a:lnTo>
                <a:lnTo>
                  <a:pt x="1222646" y="35245"/>
                </a:lnTo>
                <a:lnTo>
                  <a:pt x="1229754" y="41293"/>
                </a:lnTo>
                <a:lnTo>
                  <a:pt x="1236863" y="47801"/>
                </a:lnTo>
                <a:lnTo>
                  <a:pt x="1243971" y="54763"/>
                </a:lnTo>
                <a:lnTo>
                  <a:pt x="1251080" y="62175"/>
                </a:lnTo>
                <a:lnTo>
                  <a:pt x="1258188" y="70030"/>
                </a:lnTo>
                <a:lnTo>
                  <a:pt x="1265296" y="78322"/>
                </a:lnTo>
                <a:lnTo>
                  <a:pt x="1272405" y="87044"/>
                </a:lnTo>
                <a:lnTo>
                  <a:pt x="1279513" y="96189"/>
                </a:lnTo>
                <a:lnTo>
                  <a:pt x="1286622" y="105750"/>
                </a:lnTo>
                <a:lnTo>
                  <a:pt x="1293730" y="115719"/>
                </a:lnTo>
                <a:lnTo>
                  <a:pt x="1300839" y="126088"/>
                </a:lnTo>
                <a:lnTo>
                  <a:pt x="1307947" y="136848"/>
                </a:lnTo>
                <a:lnTo>
                  <a:pt x="1315055" y="147993"/>
                </a:lnTo>
                <a:lnTo>
                  <a:pt x="1322164" y="159511"/>
                </a:lnTo>
                <a:lnTo>
                  <a:pt x="1329272" y="171396"/>
                </a:lnTo>
                <a:lnTo>
                  <a:pt x="1336381" y="183636"/>
                </a:lnTo>
                <a:lnTo>
                  <a:pt x="1343489" y="196224"/>
                </a:lnTo>
                <a:lnTo>
                  <a:pt x="1350597" y="209149"/>
                </a:lnTo>
                <a:lnTo>
                  <a:pt x="1357706" y="222400"/>
                </a:lnTo>
                <a:lnTo>
                  <a:pt x="1364814" y="235969"/>
                </a:lnTo>
                <a:lnTo>
                  <a:pt x="1371923" y="249845"/>
                </a:lnTo>
                <a:lnTo>
                  <a:pt x="1379031" y="264018"/>
                </a:lnTo>
                <a:lnTo>
                  <a:pt x="1386139" y="278476"/>
                </a:lnTo>
                <a:lnTo>
                  <a:pt x="1393248" y="293209"/>
                </a:lnTo>
                <a:lnTo>
                  <a:pt x="1400356" y="308207"/>
                </a:lnTo>
                <a:lnTo>
                  <a:pt x="1407465" y="323458"/>
                </a:lnTo>
                <a:lnTo>
                  <a:pt x="1414573" y="338951"/>
                </a:lnTo>
                <a:lnTo>
                  <a:pt x="1421681" y="354675"/>
                </a:lnTo>
                <a:lnTo>
                  <a:pt x="1428790" y="370620"/>
                </a:lnTo>
                <a:lnTo>
                  <a:pt x="1435898" y="386773"/>
                </a:lnTo>
                <a:lnTo>
                  <a:pt x="1443007" y="403123"/>
                </a:lnTo>
                <a:lnTo>
                  <a:pt x="1450115" y="419660"/>
                </a:lnTo>
                <a:lnTo>
                  <a:pt x="1457224" y="436371"/>
                </a:lnTo>
                <a:lnTo>
                  <a:pt x="1464332" y="453245"/>
                </a:lnTo>
                <a:lnTo>
                  <a:pt x="1471440" y="470271"/>
                </a:lnTo>
                <a:lnTo>
                  <a:pt x="1478549" y="487438"/>
                </a:lnTo>
                <a:lnTo>
                  <a:pt x="1485657" y="504734"/>
                </a:lnTo>
                <a:lnTo>
                  <a:pt x="1492766" y="522148"/>
                </a:lnTo>
                <a:lnTo>
                  <a:pt x="1499874" y="539669"/>
                </a:lnTo>
                <a:lnTo>
                  <a:pt x="1506982" y="557286"/>
                </a:lnTo>
                <a:lnTo>
                  <a:pt x="1514091" y="574987"/>
                </a:lnTo>
                <a:lnTo>
                  <a:pt x="1521199" y="592761"/>
                </a:lnTo>
                <a:lnTo>
                  <a:pt x="1528308" y="610598"/>
                </a:lnTo>
                <a:lnTo>
                  <a:pt x="1535416" y="628487"/>
                </a:lnTo>
                <a:lnTo>
                  <a:pt x="1542524" y="646418"/>
                </a:lnTo>
                <a:lnTo>
                  <a:pt x="1549633" y="664379"/>
                </a:lnTo>
                <a:lnTo>
                  <a:pt x="1556741" y="682360"/>
                </a:lnTo>
                <a:lnTo>
                  <a:pt x="1563850" y="700352"/>
                </a:lnTo>
                <a:lnTo>
                  <a:pt x="1570958" y="718343"/>
                </a:lnTo>
                <a:lnTo>
                  <a:pt x="1578066" y="736325"/>
                </a:lnTo>
                <a:lnTo>
                  <a:pt x="1585175" y="754287"/>
                </a:lnTo>
                <a:lnTo>
                  <a:pt x="1592283" y="772219"/>
                </a:lnTo>
                <a:lnTo>
                  <a:pt x="1599392" y="790114"/>
                </a:lnTo>
                <a:lnTo>
                  <a:pt x="1606500" y="807960"/>
                </a:lnTo>
                <a:lnTo>
                  <a:pt x="1613609" y="825750"/>
                </a:lnTo>
                <a:lnTo>
                  <a:pt x="1620717" y="843474"/>
                </a:lnTo>
                <a:lnTo>
                  <a:pt x="1627825" y="861125"/>
                </a:lnTo>
                <a:lnTo>
                  <a:pt x="1634934" y="878693"/>
                </a:lnTo>
                <a:lnTo>
                  <a:pt x="1642042" y="896170"/>
                </a:lnTo>
                <a:lnTo>
                  <a:pt x="1649151" y="913550"/>
                </a:lnTo>
                <a:lnTo>
                  <a:pt x="1656259" y="930823"/>
                </a:lnTo>
                <a:lnTo>
                  <a:pt x="1663367" y="947984"/>
                </a:lnTo>
                <a:lnTo>
                  <a:pt x="1670476" y="965024"/>
                </a:lnTo>
                <a:lnTo>
                  <a:pt x="1677584" y="981936"/>
                </a:lnTo>
                <a:lnTo>
                  <a:pt x="1684693" y="998715"/>
                </a:lnTo>
                <a:lnTo>
                  <a:pt x="1691801" y="1015353"/>
                </a:lnTo>
                <a:lnTo>
                  <a:pt x="1698909" y="1031845"/>
                </a:lnTo>
                <a:lnTo>
                  <a:pt x="1706018" y="1048184"/>
                </a:lnTo>
                <a:lnTo>
                  <a:pt x="1713126" y="1064366"/>
                </a:lnTo>
                <a:lnTo>
                  <a:pt x="1720235" y="1080383"/>
                </a:lnTo>
                <a:lnTo>
                  <a:pt x="1727343" y="1096233"/>
                </a:lnTo>
                <a:lnTo>
                  <a:pt x="1734452" y="1111908"/>
                </a:lnTo>
                <a:lnTo>
                  <a:pt x="1741560" y="1127406"/>
                </a:lnTo>
                <a:lnTo>
                  <a:pt x="1748668" y="1142721"/>
                </a:lnTo>
                <a:lnTo>
                  <a:pt x="1755777" y="1157849"/>
                </a:lnTo>
                <a:lnTo>
                  <a:pt x="1762885" y="1172787"/>
                </a:lnTo>
                <a:lnTo>
                  <a:pt x="1769994" y="1187531"/>
                </a:lnTo>
                <a:lnTo>
                  <a:pt x="1777102" y="1202078"/>
                </a:lnTo>
                <a:lnTo>
                  <a:pt x="1784210" y="1216423"/>
                </a:lnTo>
                <a:lnTo>
                  <a:pt x="1791319" y="1230566"/>
                </a:lnTo>
                <a:lnTo>
                  <a:pt x="1798427" y="1244502"/>
                </a:lnTo>
                <a:lnTo>
                  <a:pt x="1805536" y="1258229"/>
                </a:lnTo>
                <a:lnTo>
                  <a:pt x="1812644" y="1271746"/>
                </a:lnTo>
                <a:lnTo>
                  <a:pt x="1819752" y="1285050"/>
                </a:lnTo>
                <a:lnTo>
                  <a:pt x="1826861" y="1298139"/>
                </a:lnTo>
                <a:lnTo>
                  <a:pt x="1833969" y="1311013"/>
                </a:lnTo>
                <a:lnTo>
                  <a:pt x="1841078" y="1323669"/>
                </a:lnTo>
                <a:lnTo>
                  <a:pt x="1848186" y="1336107"/>
                </a:lnTo>
                <a:lnTo>
                  <a:pt x="1855294" y="1348326"/>
                </a:lnTo>
                <a:lnTo>
                  <a:pt x="1862403" y="1360326"/>
                </a:lnTo>
                <a:lnTo>
                  <a:pt x="1869511" y="1372104"/>
                </a:lnTo>
                <a:lnTo>
                  <a:pt x="1876620" y="1383663"/>
                </a:lnTo>
                <a:lnTo>
                  <a:pt x="1883728" y="1395000"/>
                </a:lnTo>
                <a:lnTo>
                  <a:pt x="1890837" y="1406118"/>
                </a:lnTo>
                <a:lnTo>
                  <a:pt x="1897945" y="1417014"/>
                </a:lnTo>
                <a:lnTo>
                  <a:pt x="1905053" y="1427692"/>
                </a:lnTo>
                <a:lnTo>
                  <a:pt x="1912162" y="1438150"/>
                </a:lnTo>
                <a:lnTo>
                  <a:pt x="1919270" y="1448389"/>
                </a:lnTo>
                <a:lnTo>
                  <a:pt x="1926379" y="1458411"/>
                </a:lnTo>
                <a:lnTo>
                  <a:pt x="1933487" y="1468217"/>
                </a:lnTo>
                <a:lnTo>
                  <a:pt x="1940595" y="1477808"/>
                </a:lnTo>
                <a:lnTo>
                  <a:pt x="1947704" y="1487185"/>
                </a:lnTo>
                <a:lnTo>
                  <a:pt x="1954812" y="1496349"/>
                </a:lnTo>
                <a:lnTo>
                  <a:pt x="1961921" y="1505303"/>
                </a:lnTo>
                <a:lnTo>
                  <a:pt x="1969029" y="1514049"/>
                </a:lnTo>
                <a:lnTo>
                  <a:pt x="1976137" y="1522587"/>
                </a:lnTo>
                <a:lnTo>
                  <a:pt x="1983246" y="1530920"/>
                </a:lnTo>
                <a:lnTo>
                  <a:pt x="1990354" y="1539051"/>
                </a:lnTo>
                <a:lnTo>
                  <a:pt x="1997463" y="1546980"/>
                </a:lnTo>
                <a:lnTo>
                  <a:pt x="2004571" y="1554711"/>
                </a:lnTo>
                <a:lnTo>
                  <a:pt x="2011680" y="1562246"/>
                </a:lnTo>
                <a:lnTo>
                  <a:pt x="2018788" y="1569588"/>
                </a:lnTo>
                <a:lnTo>
                  <a:pt x="2025896" y="1576738"/>
                </a:lnTo>
                <a:lnTo>
                  <a:pt x="2033005" y="1583700"/>
                </a:lnTo>
                <a:lnTo>
                  <a:pt x="2040113" y="1590476"/>
                </a:lnTo>
                <a:lnTo>
                  <a:pt x="2047222" y="1597069"/>
                </a:lnTo>
                <a:lnTo>
                  <a:pt x="2054330" y="1603481"/>
                </a:lnTo>
                <a:lnTo>
                  <a:pt x="2061438" y="1609716"/>
                </a:lnTo>
                <a:lnTo>
                  <a:pt x="2068547" y="1615776"/>
                </a:lnTo>
                <a:lnTo>
                  <a:pt x="2075655" y="1621664"/>
                </a:lnTo>
                <a:lnTo>
                  <a:pt x="2082764" y="1627384"/>
                </a:lnTo>
                <a:lnTo>
                  <a:pt x="2089872" y="1632937"/>
                </a:lnTo>
                <a:lnTo>
                  <a:pt x="2096980" y="1638328"/>
                </a:lnTo>
                <a:lnTo>
                  <a:pt x="2104089" y="1643559"/>
                </a:lnTo>
                <a:lnTo>
                  <a:pt x="2111197" y="1648633"/>
                </a:lnTo>
                <a:lnTo>
                  <a:pt x="2118306" y="1653554"/>
                </a:lnTo>
                <a:lnTo>
                  <a:pt x="2125414" y="1658324"/>
                </a:lnTo>
                <a:lnTo>
                  <a:pt x="2132522" y="1662946"/>
                </a:lnTo>
                <a:lnTo>
                  <a:pt x="2139631" y="1667424"/>
                </a:lnTo>
                <a:lnTo>
                  <a:pt x="2146739" y="1671761"/>
                </a:lnTo>
                <a:lnTo>
                  <a:pt x="2153848" y="1675959"/>
                </a:lnTo>
                <a:lnTo>
                  <a:pt x="2160956" y="1680023"/>
                </a:lnTo>
                <a:lnTo>
                  <a:pt x="2168065" y="1683954"/>
                </a:lnTo>
                <a:lnTo>
                  <a:pt x="2175173" y="1687756"/>
                </a:lnTo>
                <a:lnTo>
                  <a:pt x="2182281" y="1691432"/>
                </a:lnTo>
                <a:lnTo>
                  <a:pt x="2189390" y="1694985"/>
                </a:lnTo>
                <a:lnTo>
                  <a:pt x="2196498" y="1698418"/>
                </a:lnTo>
                <a:lnTo>
                  <a:pt x="2203607" y="1701734"/>
                </a:lnTo>
                <a:lnTo>
                  <a:pt x="2210715" y="1704936"/>
                </a:lnTo>
                <a:lnTo>
                  <a:pt x="2217823" y="1708027"/>
                </a:lnTo>
                <a:lnTo>
                  <a:pt x="2224932" y="1711010"/>
                </a:lnTo>
                <a:lnTo>
                  <a:pt x="2232040" y="1713887"/>
                </a:lnTo>
                <a:lnTo>
                  <a:pt x="2239149" y="1716662"/>
                </a:lnTo>
                <a:lnTo>
                  <a:pt x="2246257" y="1719337"/>
                </a:lnTo>
                <a:lnTo>
                  <a:pt x="2253365" y="1721915"/>
                </a:lnTo>
                <a:lnTo>
                  <a:pt x="2260474" y="1724399"/>
                </a:lnTo>
                <a:lnTo>
                  <a:pt x="2267582" y="1726791"/>
                </a:lnTo>
                <a:lnTo>
                  <a:pt x="2274691" y="1729094"/>
                </a:lnTo>
                <a:lnTo>
                  <a:pt x="2281799" y="1731311"/>
                </a:lnTo>
                <a:lnTo>
                  <a:pt x="2288907" y="1733445"/>
                </a:lnTo>
                <a:lnTo>
                  <a:pt x="2296016" y="1735497"/>
                </a:lnTo>
                <a:lnTo>
                  <a:pt x="2303124" y="1737470"/>
                </a:lnTo>
                <a:lnTo>
                  <a:pt x="2310233" y="1739367"/>
                </a:lnTo>
                <a:lnTo>
                  <a:pt x="2317341" y="1741190"/>
                </a:lnTo>
                <a:lnTo>
                  <a:pt x="2324450" y="1742941"/>
                </a:lnTo>
                <a:lnTo>
                  <a:pt x="2331558" y="1744623"/>
                </a:lnTo>
                <a:lnTo>
                  <a:pt x="2338666" y="1746238"/>
                </a:lnTo>
                <a:lnTo>
                  <a:pt x="2345775" y="1747788"/>
                </a:lnTo>
                <a:lnTo>
                  <a:pt x="2352883" y="1749275"/>
                </a:lnTo>
                <a:lnTo>
                  <a:pt x="2359992" y="1750702"/>
                </a:lnTo>
                <a:lnTo>
                  <a:pt x="2367100" y="1752070"/>
                </a:lnTo>
                <a:lnTo>
                  <a:pt x="2374208" y="1753381"/>
                </a:lnTo>
                <a:lnTo>
                  <a:pt x="2381317" y="1754638"/>
                </a:lnTo>
                <a:lnTo>
                  <a:pt x="2388425" y="1755842"/>
                </a:lnTo>
                <a:lnTo>
                  <a:pt x="2395534" y="1756995"/>
                </a:lnTo>
                <a:lnTo>
                  <a:pt x="2402642" y="1758098"/>
                </a:lnTo>
                <a:lnTo>
                  <a:pt x="2409750" y="1759155"/>
                </a:lnTo>
                <a:lnTo>
                  <a:pt x="2416859" y="1760166"/>
                </a:lnTo>
                <a:lnTo>
                  <a:pt x="2423967" y="1761133"/>
                </a:lnTo>
                <a:lnTo>
                  <a:pt x="2431076" y="1762057"/>
                </a:lnTo>
                <a:lnTo>
                  <a:pt x="2438184" y="1762941"/>
                </a:lnTo>
                <a:lnTo>
                  <a:pt x="2445293" y="1763786"/>
                </a:lnTo>
                <a:lnTo>
                  <a:pt x="2452401" y="1764593"/>
                </a:lnTo>
                <a:lnTo>
                  <a:pt x="2459509" y="1765364"/>
                </a:lnTo>
                <a:lnTo>
                  <a:pt x="2466618" y="1766100"/>
                </a:lnTo>
                <a:lnTo>
                  <a:pt x="2473726" y="1766802"/>
                </a:lnTo>
                <a:lnTo>
                  <a:pt x="2480835" y="1767472"/>
                </a:lnTo>
                <a:lnTo>
                  <a:pt x="2487943" y="1768111"/>
                </a:lnTo>
                <a:lnTo>
                  <a:pt x="2495051" y="1768721"/>
                </a:lnTo>
                <a:lnTo>
                  <a:pt x="2502160" y="1769302"/>
                </a:lnTo>
                <a:lnTo>
                  <a:pt x="2509268" y="1769856"/>
                </a:lnTo>
                <a:lnTo>
                  <a:pt x="2516377" y="1770384"/>
                </a:lnTo>
                <a:lnTo>
                  <a:pt x="2523485" y="1770886"/>
                </a:lnTo>
                <a:lnTo>
                  <a:pt x="2530593" y="1771365"/>
                </a:lnTo>
                <a:lnTo>
                  <a:pt x="2537702" y="1771820"/>
                </a:lnTo>
                <a:lnTo>
                  <a:pt x="2544810" y="1772254"/>
                </a:lnTo>
                <a:lnTo>
                  <a:pt x="2551919" y="1772666"/>
                </a:lnTo>
                <a:lnTo>
                  <a:pt x="2559027" y="1773058"/>
                </a:lnTo>
                <a:lnTo>
                  <a:pt x="2566135" y="1773431"/>
                </a:lnTo>
                <a:lnTo>
                  <a:pt x="2573244" y="1773785"/>
                </a:lnTo>
                <a:lnTo>
                  <a:pt x="2580352" y="1774122"/>
                </a:lnTo>
                <a:lnTo>
                  <a:pt x="2587461" y="1774441"/>
                </a:lnTo>
                <a:lnTo>
                  <a:pt x="2594569" y="1774745"/>
                </a:lnTo>
                <a:lnTo>
                  <a:pt x="2601678" y="1775033"/>
                </a:lnTo>
                <a:lnTo>
                  <a:pt x="2608786" y="1775307"/>
                </a:lnTo>
                <a:lnTo>
                  <a:pt x="2615894" y="1775566"/>
                </a:lnTo>
                <a:lnTo>
                  <a:pt x="2623003" y="1775812"/>
                </a:lnTo>
                <a:lnTo>
                  <a:pt x="2630111" y="1776046"/>
                </a:lnTo>
                <a:lnTo>
                  <a:pt x="2637220" y="1776267"/>
                </a:lnTo>
                <a:lnTo>
                  <a:pt x="2644328" y="1776476"/>
                </a:lnTo>
                <a:lnTo>
                  <a:pt x="2651436" y="1776675"/>
                </a:lnTo>
                <a:lnTo>
                  <a:pt x="2658545" y="1776863"/>
                </a:lnTo>
                <a:lnTo>
                  <a:pt x="2665653" y="1777041"/>
                </a:lnTo>
                <a:lnTo>
                  <a:pt x="2672762" y="1777209"/>
                </a:lnTo>
                <a:lnTo>
                  <a:pt x="2679870" y="1777368"/>
                </a:lnTo>
                <a:lnTo>
                  <a:pt x="2686978" y="1777519"/>
                </a:lnTo>
                <a:lnTo>
                  <a:pt x="2694087" y="1777662"/>
                </a:lnTo>
                <a:lnTo>
                  <a:pt x="2701195" y="1777796"/>
                </a:lnTo>
                <a:lnTo>
                  <a:pt x="2708304" y="1777924"/>
                </a:lnTo>
                <a:lnTo>
                  <a:pt x="2715412" y="1778044"/>
                </a:lnTo>
                <a:lnTo>
                  <a:pt x="2722520" y="1778158"/>
                </a:lnTo>
                <a:lnTo>
                  <a:pt x="2729629" y="1778265"/>
                </a:lnTo>
                <a:lnTo>
                  <a:pt x="2736737" y="1778366"/>
                </a:lnTo>
                <a:lnTo>
                  <a:pt x="2743846" y="1778462"/>
                </a:lnTo>
                <a:lnTo>
                  <a:pt x="2750954" y="1778552"/>
                </a:lnTo>
                <a:lnTo>
                  <a:pt x="2758063" y="1778637"/>
                </a:lnTo>
                <a:lnTo>
                  <a:pt x="2765171" y="1778717"/>
                </a:lnTo>
                <a:lnTo>
                  <a:pt x="2772279" y="1778792"/>
                </a:lnTo>
                <a:lnTo>
                  <a:pt x="2779388" y="1778863"/>
                </a:lnTo>
                <a:lnTo>
                  <a:pt x="2786496" y="1778930"/>
                </a:lnTo>
                <a:lnTo>
                  <a:pt x="2793605" y="1778993"/>
                </a:lnTo>
                <a:lnTo>
                  <a:pt x="2800713" y="1779053"/>
                </a:lnTo>
                <a:lnTo>
                  <a:pt x="2807821" y="1779109"/>
                </a:lnTo>
                <a:lnTo>
                  <a:pt x="2814930" y="1779161"/>
                </a:lnTo>
                <a:lnTo>
                  <a:pt x="2822038" y="1779211"/>
                </a:lnTo>
                <a:lnTo>
                  <a:pt x="2829147" y="1779257"/>
                </a:lnTo>
                <a:lnTo>
                  <a:pt x="2836255" y="1779301"/>
                </a:lnTo>
                <a:lnTo>
                  <a:pt x="2843363" y="1779342"/>
                </a:lnTo>
                <a:lnTo>
                  <a:pt x="2850472" y="1779381"/>
                </a:lnTo>
                <a:lnTo>
                  <a:pt x="2857580" y="1779417"/>
                </a:lnTo>
                <a:lnTo>
                  <a:pt x="2864689" y="1779451"/>
                </a:lnTo>
                <a:lnTo>
                  <a:pt x="2871797" y="1779483"/>
                </a:lnTo>
                <a:lnTo>
                  <a:pt x="2878906" y="1779513"/>
                </a:lnTo>
                <a:lnTo>
                  <a:pt x="2886014" y="1779541"/>
                </a:lnTo>
                <a:lnTo>
                  <a:pt x="2893122" y="1779567"/>
                </a:lnTo>
                <a:lnTo>
                  <a:pt x="2900231" y="1779592"/>
                </a:lnTo>
                <a:lnTo>
                  <a:pt x="2907339" y="1779615"/>
                </a:lnTo>
                <a:lnTo>
                  <a:pt x="2914448" y="1779637"/>
                </a:lnTo>
                <a:lnTo>
                  <a:pt x="2921556" y="1779657"/>
                </a:lnTo>
                <a:lnTo>
                  <a:pt x="2928664" y="1779676"/>
                </a:lnTo>
                <a:lnTo>
                  <a:pt x="2935773" y="1779694"/>
                </a:lnTo>
                <a:lnTo>
                  <a:pt x="2942881" y="1779711"/>
                </a:lnTo>
                <a:lnTo>
                  <a:pt x="2949990" y="1779726"/>
                </a:lnTo>
                <a:lnTo>
                  <a:pt x="2957098" y="1779741"/>
                </a:lnTo>
                <a:lnTo>
                  <a:pt x="2964206" y="1779754"/>
                </a:lnTo>
                <a:lnTo>
                  <a:pt x="2971315" y="1779767"/>
                </a:lnTo>
                <a:lnTo>
                  <a:pt x="2978423" y="1779779"/>
                </a:lnTo>
                <a:lnTo>
                  <a:pt x="2985532" y="1779790"/>
                </a:lnTo>
                <a:lnTo>
                  <a:pt x="2992640" y="1779801"/>
                </a:lnTo>
                <a:lnTo>
                  <a:pt x="2999748" y="1779810"/>
                </a:lnTo>
                <a:lnTo>
                  <a:pt x="3006857" y="1779819"/>
                </a:lnTo>
                <a:lnTo>
                  <a:pt x="3013965" y="1779828"/>
                </a:lnTo>
                <a:lnTo>
                  <a:pt x="3021074" y="1779836"/>
                </a:lnTo>
                <a:lnTo>
                  <a:pt x="3028182" y="1779843"/>
                </a:lnTo>
                <a:lnTo>
                  <a:pt x="3035291" y="1779850"/>
                </a:lnTo>
                <a:lnTo>
                  <a:pt x="3042399" y="1779856"/>
                </a:lnTo>
                <a:lnTo>
                  <a:pt x="3049507" y="1779862"/>
                </a:lnTo>
                <a:lnTo>
                  <a:pt x="3056616" y="1779868"/>
                </a:lnTo>
                <a:lnTo>
                  <a:pt x="3063724" y="1779873"/>
                </a:lnTo>
                <a:lnTo>
                  <a:pt x="3070833" y="1779878"/>
                </a:lnTo>
                <a:lnTo>
                  <a:pt x="3077941" y="1779882"/>
                </a:lnTo>
                <a:lnTo>
                  <a:pt x="3085049" y="1779886"/>
                </a:lnTo>
                <a:lnTo>
                  <a:pt x="3092158" y="1779890"/>
                </a:lnTo>
                <a:lnTo>
                  <a:pt x="3099266" y="1779894"/>
                </a:lnTo>
                <a:lnTo>
                  <a:pt x="3106375" y="1779897"/>
                </a:lnTo>
                <a:lnTo>
                  <a:pt x="3113483" y="1779900"/>
                </a:lnTo>
                <a:lnTo>
                  <a:pt x="3120591" y="1779903"/>
                </a:lnTo>
                <a:lnTo>
                  <a:pt x="3127700" y="1779906"/>
                </a:lnTo>
                <a:lnTo>
                  <a:pt x="3134808" y="1779908"/>
                </a:lnTo>
                <a:lnTo>
                  <a:pt x="3141917" y="1779911"/>
                </a:lnTo>
                <a:lnTo>
                  <a:pt x="3149025" y="1779913"/>
                </a:lnTo>
                <a:lnTo>
                  <a:pt x="3156133" y="1779915"/>
                </a:lnTo>
                <a:lnTo>
                  <a:pt x="3163242" y="1779917"/>
                </a:lnTo>
                <a:lnTo>
                  <a:pt x="3170350" y="1779918"/>
                </a:lnTo>
                <a:lnTo>
                  <a:pt x="3177459" y="1779920"/>
                </a:lnTo>
                <a:lnTo>
                  <a:pt x="3184567" y="1779921"/>
                </a:lnTo>
                <a:lnTo>
                  <a:pt x="3191676" y="1779923"/>
                </a:lnTo>
                <a:lnTo>
                  <a:pt x="3198784" y="1779924"/>
                </a:lnTo>
                <a:lnTo>
                  <a:pt x="3205892" y="1779925"/>
                </a:lnTo>
                <a:lnTo>
                  <a:pt x="3213001" y="1779926"/>
                </a:lnTo>
                <a:lnTo>
                  <a:pt x="3220109" y="1779927"/>
                </a:lnTo>
                <a:lnTo>
                  <a:pt x="3227218" y="1779928"/>
                </a:lnTo>
                <a:lnTo>
                  <a:pt x="3234326" y="1779929"/>
                </a:lnTo>
                <a:lnTo>
                  <a:pt x="3241434" y="1779930"/>
                </a:lnTo>
                <a:lnTo>
                  <a:pt x="3248543" y="1779931"/>
                </a:lnTo>
                <a:lnTo>
                  <a:pt x="3255651" y="1779931"/>
                </a:lnTo>
                <a:lnTo>
                  <a:pt x="3262760" y="1779932"/>
                </a:lnTo>
                <a:lnTo>
                  <a:pt x="3269868" y="1779933"/>
                </a:lnTo>
                <a:lnTo>
                  <a:pt x="3276976" y="1779933"/>
                </a:lnTo>
                <a:lnTo>
                  <a:pt x="3284085" y="1779934"/>
                </a:lnTo>
                <a:lnTo>
                  <a:pt x="3291193" y="1779934"/>
                </a:lnTo>
                <a:lnTo>
                  <a:pt x="3298302" y="1779934"/>
                </a:lnTo>
                <a:lnTo>
                  <a:pt x="3305410" y="1779935"/>
                </a:lnTo>
                <a:lnTo>
                  <a:pt x="3312519" y="1779935"/>
                </a:lnTo>
                <a:lnTo>
                  <a:pt x="3319627" y="1779935"/>
                </a:lnTo>
                <a:lnTo>
                  <a:pt x="3326735" y="1779936"/>
                </a:lnTo>
                <a:lnTo>
                  <a:pt x="3333844" y="1779936"/>
                </a:lnTo>
                <a:lnTo>
                  <a:pt x="3340952" y="1779936"/>
                </a:lnTo>
                <a:lnTo>
                  <a:pt x="3348061" y="1779937"/>
                </a:lnTo>
                <a:lnTo>
                  <a:pt x="3355169" y="1779937"/>
                </a:lnTo>
                <a:lnTo>
                  <a:pt x="3362277" y="1779937"/>
                </a:lnTo>
                <a:lnTo>
                  <a:pt x="3369386" y="1779937"/>
                </a:lnTo>
                <a:lnTo>
                  <a:pt x="3376494" y="1779937"/>
                </a:lnTo>
                <a:lnTo>
                  <a:pt x="3383603" y="1779937"/>
                </a:lnTo>
                <a:lnTo>
                  <a:pt x="3390711" y="1779938"/>
                </a:lnTo>
                <a:lnTo>
                  <a:pt x="3397819" y="1779938"/>
                </a:lnTo>
                <a:lnTo>
                  <a:pt x="3404928" y="1779938"/>
                </a:lnTo>
                <a:lnTo>
                  <a:pt x="3412036" y="1779938"/>
                </a:lnTo>
                <a:lnTo>
                  <a:pt x="3419145" y="1779938"/>
                </a:lnTo>
                <a:lnTo>
                  <a:pt x="3426253" y="1779938"/>
                </a:lnTo>
                <a:lnTo>
                  <a:pt x="3433361" y="1779938"/>
                </a:lnTo>
                <a:lnTo>
                  <a:pt x="3440470" y="1779938"/>
                </a:lnTo>
                <a:lnTo>
                  <a:pt x="3447578" y="1779938"/>
                </a:lnTo>
                <a:lnTo>
                  <a:pt x="3454687" y="1779938"/>
                </a:lnTo>
                <a:lnTo>
                  <a:pt x="3461795" y="1779939"/>
                </a:lnTo>
                <a:lnTo>
                  <a:pt x="3468904" y="1779939"/>
                </a:lnTo>
                <a:lnTo>
                  <a:pt x="3476012" y="1779939"/>
                </a:lnTo>
                <a:lnTo>
                  <a:pt x="3483120" y="1779939"/>
                </a:lnTo>
                <a:lnTo>
                  <a:pt x="3490229" y="1779939"/>
                </a:lnTo>
                <a:lnTo>
                  <a:pt x="3497337" y="1779939"/>
                </a:lnTo>
                <a:lnTo>
                  <a:pt x="3504446" y="1779939"/>
                </a:lnTo>
                <a:lnTo>
                  <a:pt x="3511554" y="1779939"/>
                </a:lnTo>
                <a:lnTo>
                  <a:pt x="3518662" y="1779939"/>
                </a:lnTo>
                <a:lnTo>
                  <a:pt x="3525771" y="1779939"/>
                </a:lnTo>
                <a:lnTo>
                  <a:pt x="3532879" y="1779939"/>
                </a:lnTo>
                <a:lnTo>
                  <a:pt x="3539988" y="1779939"/>
                </a:lnTo>
                <a:lnTo>
                  <a:pt x="3547096" y="1779939"/>
                </a:lnTo>
                <a:lnTo>
                  <a:pt x="3554204" y="1779939"/>
                </a:lnTo>
                <a:lnTo>
                  <a:pt x="3561313" y="1779939"/>
                </a:lnTo>
                <a:lnTo>
                  <a:pt x="3568421" y="1779939"/>
                </a:lnTo>
                <a:lnTo>
                  <a:pt x="3575530" y="1779939"/>
                </a:lnTo>
                <a:lnTo>
                  <a:pt x="3582638" y="1779939"/>
                </a:lnTo>
                <a:lnTo>
                  <a:pt x="3589746" y="1779939"/>
                </a:lnTo>
                <a:lnTo>
                  <a:pt x="3596855" y="1779939"/>
                </a:lnTo>
                <a:lnTo>
                  <a:pt x="3603963" y="1779939"/>
                </a:lnTo>
                <a:lnTo>
                  <a:pt x="3611072" y="1779939"/>
                </a:lnTo>
                <a:lnTo>
                  <a:pt x="3618180" y="1779939"/>
                </a:lnTo>
                <a:lnTo>
                  <a:pt x="3625289" y="1779939"/>
                </a:lnTo>
                <a:lnTo>
                  <a:pt x="3632397" y="1779939"/>
                </a:lnTo>
                <a:lnTo>
                  <a:pt x="3639505" y="1779939"/>
                </a:lnTo>
                <a:lnTo>
                  <a:pt x="3646614" y="1779939"/>
                </a:lnTo>
                <a:lnTo>
                  <a:pt x="3653722" y="1779939"/>
                </a:lnTo>
                <a:lnTo>
                  <a:pt x="3660831" y="1779939"/>
                </a:lnTo>
                <a:lnTo>
                  <a:pt x="3667939" y="1779939"/>
                </a:lnTo>
                <a:lnTo>
                  <a:pt x="3675047" y="1779939"/>
                </a:lnTo>
                <a:lnTo>
                  <a:pt x="3682156" y="1779939"/>
                </a:lnTo>
                <a:lnTo>
                  <a:pt x="3689264" y="1779939"/>
                </a:lnTo>
                <a:lnTo>
                  <a:pt x="3696373" y="1779939"/>
                </a:lnTo>
                <a:lnTo>
                  <a:pt x="3703481" y="1779939"/>
                </a:lnTo>
                <a:lnTo>
                  <a:pt x="3710589" y="1779939"/>
                </a:lnTo>
                <a:lnTo>
                  <a:pt x="3717698" y="1779939"/>
                </a:lnTo>
                <a:lnTo>
                  <a:pt x="3724806" y="1779939"/>
                </a:lnTo>
                <a:lnTo>
                  <a:pt x="3731915" y="1779939"/>
                </a:lnTo>
                <a:lnTo>
                  <a:pt x="3739023" y="1779939"/>
                </a:lnTo>
                <a:lnTo>
                  <a:pt x="3746132" y="1779939"/>
                </a:lnTo>
                <a:lnTo>
                  <a:pt x="3753240" y="1779939"/>
                </a:lnTo>
                <a:lnTo>
                  <a:pt x="3760348" y="1779939"/>
                </a:lnTo>
                <a:lnTo>
                  <a:pt x="3767457" y="1779939"/>
                </a:lnTo>
                <a:lnTo>
                  <a:pt x="3774565" y="1779939"/>
                </a:lnTo>
                <a:lnTo>
                  <a:pt x="3781674" y="1779939"/>
                </a:lnTo>
                <a:lnTo>
                  <a:pt x="3788782" y="1779939"/>
                </a:lnTo>
                <a:lnTo>
                  <a:pt x="3795890" y="1779939"/>
                </a:lnTo>
                <a:lnTo>
                  <a:pt x="3802999" y="1779939"/>
                </a:lnTo>
                <a:lnTo>
                  <a:pt x="3810107" y="1779939"/>
                </a:lnTo>
                <a:lnTo>
                  <a:pt x="3817216" y="1779939"/>
                </a:lnTo>
                <a:lnTo>
                  <a:pt x="3824324" y="1779939"/>
                </a:lnTo>
                <a:lnTo>
                  <a:pt x="3831432" y="1779939"/>
                </a:lnTo>
                <a:lnTo>
                  <a:pt x="3838541" y="1779939"/>
                </a:lnTo>
                <a:lnTo>
                  <a:pt x="3845649" y="1779939"/>
                </a:lnTo>
                <a:lnTo>
                  <a:pt x="3852758" y="1779939"/>
                </a:lnTo>
                <a:lnTo>
                  <a:pt x="3859866" y="1779939"/>
                </a:lnTo>
                <a:lnTo>
                  <a:pt x="3866974" y="1779939"/>
                </a:lnTo>
                <a:lnTo>
                  <a:pt x="3874083" y="1779939"/>
                </a:lnTo>
                <a:lnTo>
                  <a:pt x="3881191" y="1779939"/>
                </a:lnTo>
                <a:lnTo>
                  <a:pt x="3888300" y="1779939"/>
                </a:lnTo>
                <a:lnTo>
                  <a:pt x="3895408" y="1779939"/>
                </a:lnTo>
                <a:lnTo>
                  <a:pt x="3902517" y="1779939"/>
                </a:lnTo>
                <a:lnTo>
                  <a:pt x="3909625" y="1779939"/>
                </a:lnTo>
                <a:lnTo>
                  <a:pt x="3916733" y="1779939"/>
                </a:lnTo>
                <a:lnTo>
                  <a:pt x="3923842" y="1779939"/>
                </a:lnTo>
                <a:lnTo>
                  <a:pt x="3930950" y="1779939"/>
                </a:lnTo>
                <a:lnTo>
                  <a:pt x="3938059" y="1779939"/>
                </a:lnTo>
                <a:lnTo>
                  <a:pt x="3945167" y="1779939"/>
                </a:lnTo>
                <a:lnTo>
                  <a:pt x="3952275" y="1779939"/>
                </a:lnTo>
                <a:lnTo>
                  <a:pt x="3959384" y="1779939"/>
                </a:lnTo>
                <a:lnTo>
                  <a:pt x="3966492" y="1779939"/>
                </a:lnTo>
                <a:lnTo>
                  <a:pt x="3973601" y="1779939"/>
                </a:lnTo>
                <a:lnTo>
                  <a:pt x="3980709" y="1779939"/>
                </a:lnTo>
                <a:lnTo>
                  <a:pt x="3987817" y="1779939"/>
                </a:lnTo>
                <a:lnTo>
                  <a:pt x="3994926" y="1779939"/>
                </a:lnTo>
                <a:lnTo>
                  <a:pt x="4002034" y="1779939"/>
                </a:lnTo>
                <a:lnTo>
                  <a:pt x="4009143" y="1779939"/>
                </a:lnTo>
                <a:lnTo>
                  <a:pt x="4016251" y="1779939"/>
                </a:lnTo>
                <a:lnTo>
                  <a:pt x="4023360" y="1779939"/>
                </a:lnTo>
                <a:lnTo>
                  <a:pt x="4030468" y="1779939"/>
                </a:lnTo>
                <a:lnTo>
                  <a:pt x="4037576" y="1779939"/>
                </a:lnTo>
                <a:lnTo>
                  <a:pt x="4044685" y="1779939"/>
                </a:lnTo>
                <a:lnTo>
                  <a:pt x="4051793" y="1779939"/>
                </a:lnTo>
                <a:lnTo>
                  <a:pt x="4058902" y="1779939"/>
                </a:lnTo>
                <a:lnTo>
                  <a:pt x="4066010" y="1779939"/>
                </a:lnTo>
                <a:lnTo>
                  <a:pt x="4073118" y="1779939"/>
                </a:lnTo>
                <a:lnTo>
                  <a:pt x="4080227" y="1779939"/>
                </a:lnTo>
                <a:lnTo>
                  <a:pt x="4087335" y="1779939"/>
                </a:lnTo>
                <a:lnTo>
                  <a:pt x="4094444" y="1779939"/>
                </a:lnTo>
                <a:lnTo>
                  <a:pt x="4101552" y="1779939"/>
                </a:lnTo>
                <a:lnTo>
                  <a:pt x="4108660" y="1779939"/>
                </a:lnTo>
                <a:lnTo>
                  <a:pt x="4115769" y="1779939"/>
                </a:lnTo>
                <a:lnTo>
                  <a:pt x="4122877" y="1779939"/>
                </a:lnTo>
                <a:lnTo>
                  <a:pt x="4129986" y="1779939"/>
                </a:lnTo>
                <a:lnTo>
                  <a:pt x="4137094" y="1779939"/>
                </a:lnTo>
                <a:lnTo>
                  <a:pt x="4144202" y="1779939"/>
                </a:lnTo>
                <a:lnTo>
                  <a:pt x="4151311" y="1779939"/>
                </a:lnTo>
                <a:lnTo>
                  <a:pt x="4158419" y="1779939"/>
                </a:lnTo>
                <a:lnTo>
                  <a:pt x="4165528" y="1779939"/>
                </a:lnTo>
                <a:lnTo>
                  <a:pt x="4172636" y="1779939"/>
                </a:lnTo>
                <a:lnTo>
                  <a:pt x="4179745" y="1779939"/>
                </a:lnTo>
                <a:lnTo>
                  <a:pt x="4186853" y="1779939"/>
                </a:lnTo>
                <a:lnTo>
                  <a:pt x="4193961" y="1779939"/>
                </a:lnTo>
                <a:lnTo>
                  <a:pt x="4201070" y="1779939"/>
                </a:lnTo>
                <a:lnTo>
                  <a:pt x="4208178" y="1779939"/>
                </a:lnTo>
                <a:lnTo>
                  <a:pt x="4215287" y="1779939"/>
                </a:lnTo>
                <a:lnTo>
                  <a:pt x="4222395" y="1779939"/>
                </a:lnTo>
                <a:lnTo>
                  <a:pt x="4229503" y="1779939"/>
                </a:lnTo>
                <a:lnTo>
                  <a:pt x="4236612" y="1779939"/>
                </a:lnTo>
                <a:lnTo>
                  <a:pt x="4243720" y="1779939"/>
                </a:lnTo>
                <a:lnTo>
                  <a:pt x="4250829" y="1779939"/>
                </a:lnTo>
                <a:lnTo>
                  <a:pt x="4257937" y="1779939"/>
                </a:lnTo>
                <a:lnTo>
                  <a:pt x="4265045" y="1779939"/>
                </a:lnTo>
                <a:lnTo>
                  <a:pt x="4272154" y="1779939"/>
                </a:lnTo>
                <a:lnTo>
                  <a:pt x="4279262" y="1779939"/>
                </a:lnTo>
                <a:lnTo>
                  <a:pt x="4286371" y="1779939"/>
                </a:lnTo>
                <a:lnTo>
                  <a:pt x="4293479" y="1779939"/>
                </a:lnTo>
                <a:lnTo>
                  <a:pt x="4300587" y="1779939"/>
                </a:lnTo>
                <a:lnTo>
                  <a:pt x="4307696" y="1779939"/>
                </a:lnTo>
                <a:lnTo>
                  <a:pt x="4314804" y="1779939"/>
                </a:lnTo>
                <a:lnTo>
                  <a:pt x="4321913" y="1779939"/>
                </a:lnTo>
                <a:lnTo>
                  <a:pt x="4329021" y="1779939"/>
                </a:lnTo>
                <a:lnTo>
                  <a:pt x="4336130" y="1779939"/>
                </a:lnTo>
                <a:lnTo>
                  <a:pt x="4343238" y="1779939"/>
                </a:lnTo>
                <a:lnTo>
                  <a:pt x="4350346" y="1779939"/>
                </a:lnTo>
                <a:lnTo>
                  <a:pt x="4357455" y="1779939"/>
                </a:lnTo>
                <a:lnTo>
                  <a:pt x="4364563" y="1779939"/>
                </a:lnTo>
                <a:lnTo>
                  <a:pt x="4371672" y="1779939"/>
                </a:lnTo>
                <a:lnTo>
                  <a:pt x="4378780" y="1779939"/>
                </a:lnTo>
                <a:lnTo>
                  <a:pt x="4385888" y="1779939"/>
                </a:lnTo>
                <a:lnTo>
                  <a:pt x="4392997" y="1779939"/>
                </a:lnTo>
                <a:lnTo>
                  <a:pt x="4400105" y="1779939"/>
                </a:lnTo>
                <a:lnTo>
                  <a:pt x="4407214" y="1779939"/>
                </a:lnTo>
                <a:lnTo>
                  <a:pt x="4414322" y="1779939"/>
                </a:lnTo>
                <a:lnTo>
                  <a:pt x="4421430" y="1779939"/>
                </a:lnTo>
                <a:lnTo>
                  <a:pt x="4428539" y="1779939"/>
                </a:lnTo>
                <a:lnTo>
                  <a:pt x="4435647" y="1779939"/>
                </a:lnTo>
                <a:lnTo>
                  <a:pt x="4442756" y="1779939"/>
                </a:lnTo>
                <a:lnTo>
                  <a:pt x="4449864" y="1779939"/>
                </a:lnTo>
                <a:lnTo>
                  <a:pt x="4456973" y="1779939"/>
                </a:lnTo>
                <a:lnTo>
                  <a:pt x="4464081" y="1779939"/>
                </a:lnTo>
                <a:lnTo>
                  <a:pt x="4471189" y="1779939"/>
                </a:lnTo>
                <a:lnTo>
                  <a:pt x="4478298" y="1779939"/>
                </a:lnTo>
                <a:lnTo>
                  <a:pt x="4485406" y="1779939"/>
                </a:lnTo>
                <a:lnTo>
                  <a:pt x="4492515" y="1779939"/>
                </a:lnTo>
                <a:lnTo>
                  <a:pt x="4499623" y="1779939"/>
                </a:lnTo>
                <a:lnTo>
                  <a:pt x="4506731" y="1779939"/>
                </a:lnTo>
                <a:lnTo>
                  <a:pt x="4513840" y="1779939"/>
                </a:lnTo>
                <a:lnTo>
                  <a:pt x="4520948" y="1779939"/>
                </a:lnTo>
                <a:lnTo>
                  <a:pt x="4528057" y="1779939"/>
                </a:lnTo>
                <a:lnTo>
                  <a:pt x="4535165" y="1779939"/>
                </a:lnTo>
                <a:lnTo>
                  <a:pt x="4542273" y="1779939"/>
                </a:lnTo>
                <a:lnTo>
                  <a:pt x="4549382" y="1779939"/>
                </a:lnTo>
                <a:lnTo>
                  <a:pt x="4556490" y="1779939"/>
                </a:lnTo>
                <a:lnTo>
                  <a:pt x="4563599" y="1779939"/>
                </a:lnTo>
                <a:lnTo>
                  <a:pt x="4570707" y="1779939"/>
                </a:lnTo>
                <a:lnTo>
                  <a:pt x="4577815" y="1779939"/>
                </a:lnTo>
                <a:lnTo>
                  <a:pt x="4584924" y="1779939"/>
                </a:lnTo>
                <a:lnTo>
                  <a:pt x="4592032" y="1779939"/>
                </a:lnTo>
                <a:lnTo>
                  <a:pt x="4599141" y="1779939"/>
                </a:lnTo>
                <a:lnTo>
                  <a:pt x="4606249" y="1779939"/>
                </a:lnTo>
                <a:lnTo>
                  <a:pt x="4613358" y="1779939"/>
                </a:lnTo>
                <a:lnTo>
                  <a:pt x="4620466" y="1779939"/>
                </a:lnTo>
                <a:lnTo>
                  <a:pt x="4627574" y="1779939"/>
                </a:lnTo>
                <a:lnTo>
                  <a:pt x="4634683" y="1779939"/>
                </a:lnTo>
                <a:lnTo>
                  <a:pt x="4641791" y="1779939"/>
                </a:lnTo>
                <a:lnTo>
                  <a:pt x="4648900" y="1779939"/>
                </a:lnTo>
                <a:lnTo>
                  <a:pt x="4656008" y="1779939"/>
                </a:lnTo>
                <a:lnTo>
                  <a:pt x="4663116" y="1779939"/>
                </a:lnTo>
                <a:lnTo>
                  <a:pt x="4670225" y="1779939"/>
                </a:lnTo>
                <a:lnTo>
                  <a:pt x="4677333" y="1779939"/>
                </a:lnTo>
                <a:lnTo>
                  <a:pt x="4684442" y="1779939"/>
                </a:lnTo>
                <a:lnTo>
                  <a:pt x="4691550" y="1779939"/>
                </a:lnTo>
                <a:lnTo>
                  <a:pt x="4698658" y="1779939"/>
                </a:lnTo>
                <a:lnTo>
                  <a:pt x="4705767" y="1779939"/>
                </a:lnTo>
                <a:lnTo>
                  <a:pt x="4712875" y="1779939"/>
                </a:lnTo>
                <a:lnTo>
                  <a:pt x="4719984" y="1779939"/>
                </a:lnTo>
                <a:lnTo>
                  <a:pt x="4727092" y="1779939"/>
                </a:lnTo>
                <a:lnTo>
                  <a:pt x="4734200" y="1779939"/>
                </a:lnTo>
                <a:lnTo>
                  <a:pt x="4741309" y="1779939"/>
                </a:lnTo>
                <a:lnTo>
                  <a:pt x="4748417" y="1779939"/>
                </a:lnTo>
                <a:lnTo>
                  <a:pt x="4755526" y="1779939"/>
                </a:lnTo>
                <a:lnTo>
                  <a:pt x="4762634" y="1779939"/>
                </a:lnTo>
                <a:lnTo>
                  <a:pt x="4769743" y="1779939"/>
                </a:lnTo>
                <a:lnTo>
                  <a:pt x="4776851" y="1779939"/>
                </a:lnTo>
                <a:lnTo>
                  <a:pt x="4783959" y="1779939"/>
                </a:lnTo>
                <a:lnTo>
                  <a:pt x="4791068" y="1779939"/>
                </a:lnTo>
                <a:lnTo>
                  <a:pt x="4798176" y="1779939"/>
                </a:lnTo>
                <a:lnTo>
                  <a:pt x="4805285" y="1779939"/>
                </a:lnTo>
                <a:lnTo>
                  <a:pt x="4812393" y="1779939"/>
                </a:lnTo>
                <a:lnTo>
                  <a:pt x="4819501" y="1779939"/>
                </a:lnTo>
                <a:lnTo>
                  <a:pt x="4826610" y="1779939"/>
                </a:lnTo>
                <a:lnTo>
                  <a:pt x="4833718" y="1779939"/>
                </a:lnTo>
                <a:lnTo>
                  <a:pt x="4840827" y="1779939"/>
                </a:lnTo>
                <a:lnTo>
                  <a:pt x="4847935" y="1779939"/>
                </a:lnTo>
                <a:lnTo>
                  <a:pt x="4855043" y="1779939"/>
                </a:lnTo>
                <a:lnTo>
                  <a:pt x="4862152" y="1779939"/>
                </a:lnTo>
                <a:lnTo>
                  <a:pt x="4869260" y="1779939"/>
                </a:lnTo>
                <a:lnTo>
                  <a:pt x="4876369" y="1779939"/>
                </a:lnTo>
                <a:lnTo>
                  <a:pt x="4883477" y="1779939"/>
                </a:lnTo>
                <a:lnTo>
                  <a:pt x="4890586" y="1779939"/>
                </a:lnTo>
                <a:lnTo>
                  <a:pt x="4897694" y="1779939"/>
                </a:lnTo>
                <a:lnTo>
                  <a:pt x="4904802" y="1779939"/>
                </a:lnTo>
                <a:lnTo>
                  <a:pt x="4911911" y="1779939"/>
                </a:lnTo>
                <a:lnTo>
                  <a:pt x="4919019" y="1779939"/>
                </a:lnTo>
                <a:lnTo>
                  <a:pt x="4926128" y="1779939"/>
                </a:lnTo>
                <a:lnTo>
                  <a:pt x="4933236" y="1779939"/>
                </a:lnTo>
                <a:lnTo>
                  <a:pt x="4940344" y="1779939"/>
                </a:lnTo>
                <a:lnTo>
                  <a:pt x="4947453" y="1779939"/>
                </a:lnTo>
                <a:lnTo>
                  <a:pt x="4954561" y="1779939"/>
                </a:lnTo>
                <a:lnTo>
                  <a:pt x="4961670" y="1779939"/>
                </a:lnTo>
                <a:lnTo>
                  <a:pt x="4968778" y="1779939"/>
                </a:lnTo>
                <a:lnTo>
                  <a:pt x="4975886" y="1779939"/>
                </a:lnTo>
                <a:lnTo>
                  <a:pt x="4982995" y="1779939"/>
                </a:lnTo>
                <a:lnTo>
                  <a:pt x="4990103" y="1779939"/>
                </a:lnTo>
                <a:lnTo>
                  <a:pt x="4997212" y="1779939"/>
                </a:lnTo>
                <a:lnTo>
                  <a:pt x="5004320" y="1779939"/>
                </a:lnTo>
                <a:lnTo>
                  <a:pt x="5011428" y="1779939"/>
                </a:lnTo>
                <a:lnTo>
                  <a:pt x="5018537" y="1779939"/>
                </a:lnTo>
                <a:lnTo>
                  <a:pt x="5025645" y="1779939"/>
                </a:lnTo>
                <a:lnTo>
                  <a:pt x="5032754" y="1779939"/>
                </a:lnTo>
                <a:lnTo>
                  <a:pt x="5039862" y="1779939"/>
                </a:lnTo>
                <a:lnTo>
                  <a:pt x="5046971" y="1779939"/>
                </a:lnTo>
                <a:lnTo>
                  <a:pt x="5054079" y="1779939"/>
                </a:lnTo>
                <a:lnTo>
                  <a:pt x="5061187" y="1779939"/>
                </a:lnTo>
                <a:lnTo>
                  <a:pt x="5068296" y="1779939"/>
                </a:lnTo>
                <a:lnTo>
                  <a:pt x="5075404" y="1779939"/>
                </a:lnTo>
                <a:lnTo>
                  <a:pt x="5082513" y="1779939"/>
                </a:lnTo>
                <a:lnTo>
                  <a:pt x="5089621" y="1779939"/>
                </a:lnTo>
                <a:lnTo>
                  <a:pt x="5096729" y="1779939"/>
                </a:lnTo>
                <a:lnTo>
                  <a:pt x="5103838" y="1779939"/>
                </a:lnTo>
                <a:lnTo>
                  <a:pt x="5110946" y="1779939"/>
                </a:lnTo>
                <a:lnTo>
                  <a:pt x="5118055" y="1779939"/>
                </a:lnTo>
                <a:lnTo>
                  <a:pt x="5125163" y="1779939"/>
                </a:lnTo>
                <a:lnTo>
                  <a:pt x="5132271" y="1779939"/>
                </a:lnTo>
                <a:lnTo>
                  <a:pt x="5139380" y="1779939"/>
                </a:lnTo>
                <a:lnTo>
                  <a:pt x="5146488" y="1779939"/>
                </a:lnTo>
                <a:lnTo>
                  <a:pt x="5153597" y="1779939"/>
                </a:lnTo>
                <a:lnTo>
                  <a:pt x="5160705" y="1779939"/>
                </a:lnTo>
                <a:lnTo>
                  <a:pt x="5167813" y="1779939"/>
                </a:lnTo>
                <a:lnTo>
                  <a:pt x="5174922" y="1779939"/>
                </a:lnTo>
                <a:lnTo>
                  <a:pt x="5182030" y="1779939"/>
                </a:lnTo>
                <a:lnTo>
                  <a:pt x="5189139" y="1779939"/>
                </a:lnTo>
                <a:lnTo>
                  <a:pt x="5196247" y="1779939"/>
                </a:lnTo>
                <a:lnTo>
                  <a:pt x="5203356" y="1779939"/>
                </a:lnTo>
                <a:lnTo>
                  <a:pt x="5210464" y="1779939"/>
                </a:lnTo>
                <a:lnTo>
                  <a:pt x="5217572" y="1779939"/>
                </a:lnTo>
                <a:lnTo>
                  <a:pt x="5224681" y="1779939"/>
                </a:lnTo>
                <a:lnTo>
                  <a:pt x="5231789" y="1779939"/>
                </a:lnTo>
                <a:lnTo>
                  <a:pt x="5238898" y="1779939"/>
                </a:lnTo>
                <a:lnTo>
                  <a:pt x="5246006" y="1779939"/>
                </a:lnTo>
                <a:lnTo>
                  <a:pt x="5253114" y="1779939"/>
                </a:lnTo>
                <a:lnTo>
                  <a:pt x="5260223" y="1779939"/>
                </a:lnTo>
                <a:lnTo>
                  <a:pt x="5267331" y="1779939"/>
                </a:lnTo>
                <a:lnTo>
                  <a:pt x="5274440" y="1779939"/>
                </a:lnTo>
                <a:lnTo>
                  <a:pt x="5281548" y="1779939"/>
                </a:lnTo>
                <a:lnTo>
                  <a:pt x="5288656" y="1779939"/>
                </a:lnTo>
                <a:lnTo>
                  <a:pt x="5295765" y="1779939"/>
                </a:lnTo>
                <a:lnTo>
                  <a:pt x="5302873" y="1779939"/>
                </a:lnTo>
                <a:lnTo>
                  <a:pt x="5309982" y="1779939"/>
                </a:lnTo>
                <a:lnTo>
                  <a:pt x="5317090" y="1779939"/>
                </a:lnTo>
                <a:lnTo>
                  <a:pt x="5324199" y="1779939"/>
                </a:lnTo>
                <a:lnTo>
                  <a:pt x="5331307" y="1779939"/>
                </a:lnTo>
                <a:lnTo>
                  <a:pt x="5338415" y="1779939"/>
                </a:lnTo>
                <a:lnTo>
                  <a:pt x="5345524" y="1779939"/>
                </a:lnTo>
                <a:lnTo>
                  <a:pt x="5352632" y="1779939"/>
                </a:lnTo>
                <a:lnTo>
                  <a:pt x="5359741" y="1779939"/>
                </a:lnTo>
                <a:lnTo>
                  <a:pt x="5366849" y="1779939"/>
                </a:lnTo>
                <a:lnTo>
                  <a:pt x="5373957" y="1779939"/>
                </a:lnTo>
                <a:lnTo>
                  <a:pt x="5381066" y="1779939"/>
                </a:lnTo>
                <a:lnTo>
                  <a:pt x="5388174" y="1779939"/>
                </a:lnTo>
                <a:lnTo>
                  <a:pt x="5395283" y="1779939"/>
                </a:lnTo>
                <a:lnTo>
                  <a:pt x="5402391" y="1779939"/>
                </a:lnTo>
                <a:lnTo>
                  <a:pt x="5409499" y="1779939"/>
                </a:lnTo>
                <a:lnTo>
                  <a:pt x="5416608" y="1779939"/>
                </a:lnTo>
                <a:lnTo>
                  <a:pt x="5423716" y="1779939"/>
                </a:lnTo>
                <a:lnTo>
                  <a:pt x="5430825" y="1779939"/>
                </a:lnTo>
                <a:lnTo>
                  <a:pt x="5437933" y="1779939"/>
                </a:lnTo>
                <a:lnTo>
                  <a:pt x="5445041" y="1779939"/>
                </a:lnTo>
                <a:lnTo>
                  <a:pt x="5452150" y="1779939"/>
                </a:lnTo>
                <a:lnTo>
                  <a:pt x="5459258" y="1779939"/>
                </a:lnTo>
                <a:lnTo>
                  <a:pt x="5466367" y="1779939"/>
                </a:lnTo>
                <a:lnTo>
                  <a:pt x="5473475" y="1779939"/>
                </a:lnTo>
                <a:lnTo>
                  <a:pt x="5480584" y="1779939"/>
                </a:lnTo>
                <a:lnTo>
                  <a:pt x="5487692" y="1779939"/>
                </a:lnTo>
                <a:lnTo>
                  <a:pt x="5494800" y="1779939"/>
                </a:lnTo>
                <a:lnTo>
                  <a:pt x="5501909" y="1779939"/>
                </a:lnTo>
                <a:lnTo>
                  <a:pt x="5509017" y="1779939"/>
                </a:lnTo>
                <a:lnTo>
                  <a:pt x="5516126" y="1779939"/>
                </a:lnTo>
                <a:lnTo>
                  <a:pt x="5523234" y="1779939"/>
                </a:lnTo>
                <a:lnTo>
                  <a:pt x="5530342" y="1779939"/>
                </a:lnTo>
                <a:lnTo>
                  <a:pt x="5537451" y="1779939"/>
                </a:lnTo>
                <a:lnTo>
                  <a:pt x="5544559" y="1779939"/>
                </a:lnTo>
                <a:lnTo>
                  <a:pt x="5551668" y="1779939"/>
                </a:lnTo>
                <a:lnTo>
                  <a:pt x="5558776" y="1779939"/>
                </a:lnTo>
                <a:lnTo>
                  <a:pt x="5565884" y="1779939"/>
                </a:lnTo>
                <a:lnTo>
                  <a:pt x="5572993" y="1779939"/>
                </a:lnTo>
                <a:lnTo>
                  <a:pt x="5580101" y="1779939"/>
                </a:lnTo>
                <a:lnTo>
                  <a:pt x="5587210" y="1779939"/>
                </a:lnTo>
                <a:lnTo>
                  <a:pt x="5594318" y="1779939"/>
                </a:lnTo>
                <a:lnTo>
                  <a:pt x="5601426" y="1779939"/>
                </a:lnTo>
                <a:lnTo>
                  <a:pt x="5608535" y="1779939"/>
                </a:lnTo>
                <a:lnTo>
                  <a:pt x="5615643" y="1779939"/>
                </a:lnTo>
                <a:lnTo>
                  <a:pt x="5622752" y="1779939"/>
                </a:lnTo>
                <a:lnTo>
                  <a:pt x="5629860" y="1779939"/>
                </a:lnTo>
                <a:lnTo>
                  <a:pt x="5636969" y="1779939"/>
                </a:lnTo>
                <a:lnTo>
                  <a:pt x="5644077" y="1779939"/>
                </a:lnTo>
                <a:lnTo>
                  <a:pt x="5651185" y="1779939"/>
                </a:lnTo>
                <a:lnTo>
                  <a:pt x="5658294" y="1779939"/>
                </a:lnTo>
                <a:lnTo>
                  <a:pt x="5665402" y="1779939"/>
                </a:lnTo>
                <a:lnTo>
                  <a:pt x="5672511" y="1779939"/>
                </a:lnTo>
                <a:lnTo>
                  <a:pt x="5679619" y="1779939"/>
                </a:lnTo>
                <a:lnTo>
                  <a:pt x="5686727" y="1779939"/>
                </a:lnTo>
                <a:lnTo>
                  <a:pt x="5693836" y="1779939"/>
                </a:lnTo>
                <a:lnTo>
                  <a:pt x="5700944" y="1779939"/>
                </a:lnTo>
                <a:lnTo>
                  <a:pt x="5708053" y="1779939"/>
                </a:lnTo>
                <a:lnTo>
                  <a:pt x="5715161" y="1779939"/>
                </a:lnTo>
                <a:lnTo>
                  <a:pt x="5722269" y="1779939"/>
                </a:lnTo>
                <a:lnTo>
                  <a:pt x="5729378" y="1779939"/>
                </a:lnTo>
                <a:lnTo>
                  <a:pt x="5736486" y="1779939"/>
                </a:lnTo>
                <a:lnTo>
                  <a:pt x="5743595" y="1779939"/>
                </a:lnTo>
                <a:lnTo>
                  <a:pt x="5750703" y="1779939"/>
                </a:lnTo>
                <a:lnTo>
                  <a:pt x="5757812" y="1779939"/>
                </a:lnTo>
                <a:lnTo>
                  <a:pt x="5764920" y="1779939"/>
                </a:lnTo>
                <a:lnTo>
                  <a:pt x="5772028" y="1779939"/>
                </a:lnTo>
                <a:lnTo>
                  <a:pt x="5779137" y="1779939"/>
                </a:lnTo>
                <a:lnTo>
                  <a:pt x="5786245" y="1779939"/>
                </a:lnTo>
                <a:lnTo>
                  <a:pt x="5793354" y="1779939"/>
                </a:lnTo>
                <a:lnTo>
                  <a:pt x="5800462" y="1779939"/>
                </a:lnTo>
                <a:lnTo>
                  <a:pt x="5807570" y="1779939"/>
                </a:lnTo>
                <a:lnTo>
                  <a:pt x="5814679" y="1779939"/>
                </a:lnTo>
                <a:lnTo>
                  <a:pt x="5821787" y="1779939"/>
                </a:lnTo>
                <a:lnTo>
                  <a:pt x="5828896" y="1779939"/>
                </a:lnTo>
                <a:lnTo>
                  <a:pt x="5836004" y="1779939"/>
                </a:lnTo>
                <a:lnTo>
                  <a:pt x="5843112" y="1779939"/>
                </a:lnTo>
                <a:lnTo>
                  <a:pt x="5850221" y="1779939"/>
                </a:lnTo>
                <a:lnTo>
                  <a:pt x="5857329" y="1779939"/>
                </a:lnTo>
                <a:lnTo>
                  <a:pt x="5864438" y="1779939"/>
                </a:lnTo>
                <a:lnTo>
                  <a:pt x="5871546" y="1779939"/>
                </a:lnTo>
                <a:lnTo>
                  <a:pt x="5878654" y="1779939"/>
                </a:lnTo>
                <a:lnTo>
                  <a:pt x="5885763" y="1779939"/>
                </a:lnTo>
                <a:lnTo>
                  <a:pt x="5892871" y="1779939"/>
                </a:lnTo>
                <a:lnTo>
                  <a:pt x="5899980" y="1779939"/>
                </a:lnTo>
                <a:lnTo>
                  <a:pt x="5907088" y="1779939"/>
                </a:lnTo>
                <a:lnTo>
                  <a:pt x="5914197" y="1779939"/>
                </a:lnTo>
                <a:lnTo>
                  <a:pt x="5921305" y="1779939"/>
                </a:lnTo>
                <a:lnTo>
                  <a:pt x="5928413" y="1779939"/>
                </a:lnTo>
                <a:lnTo>
                  <a:pt x="5935522" y="1779939"/>
                </a:lnTo>
                <a:lnTo>
                  <a:pt x="5942630" y="1779939"/>
                </a:lnTo>
                <a:lnTo>
                  <a:pt x="5949739" y="1779939"/>
                </a:lnTo>
                <a:lnTo>
                  <a:pt x="5956847" y="1779939"/>
                </a:lnTo>
                <a:lnTo>
                  <a:pt x="5963955" y="1779939"/>
                </a:lnTo>
                <a:lnTo>
                  <a:pt x="5971064" y="1779939"/>
                </a:lnTo>
                <a:lnTo>
                  <a:pt x="5978172" y="1779939"/>
                </a:lnTo>
                <a:lnTo>
                  <a:pt x="5985281" y="1779939"/>
                </a:lnTo>
                <a:lnTo>
                  <a:pt x="5992389" y="1779939"/>
                </a:lnTo>
                <a:lnTo>
                  <a:pt x="5999497" y="1779939"/>
                </a:lnTo>
                <a:lnTo>
                  <a:pt x="6006606" y="1779939"/>
                </a:lnTo>
                <a:lnTo>
                  <a:pt x="6013714" y="1779939"/>
                </a:lnTo>
                <a:lnTo>
                  <a:pt x="6020823" y="1779939"/>
                </a:lnTo>
                <a:lnTo>
                  <a:pt x="6027931" y="1779939"/>
                </a:lnTo>
                <a:lnTo>
                  <a:pt x="6035040" y="1779939"/>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AE13BC5-DEDA-F452-F741-C5C06D6E4740}"/>
              </a:ext>
            </a:extLst>
          </p:cNvPr>
          <p:cNvSpPr/>
          <p:nvPr/>
        </p:nvSpPr>
        <p:spPr>
          <a:xfrm>
            <a:off x="868680" y="3854789"/>
            <a:ext cx="6035040" cy="747574"/>
          </a:xfrm>
          <a:custGeom>
            <a:avLst/>
            <a:gdLst/>
            <a:ahLst/>
            <a:cxnLst/>
            <a:rect l="l" t="t" r="r" b="b"/>
            <a:pathLst>
              <a:path w="6035040" h="747574">
                <a:moveTo>
                  <a:pt x="0" y="744283"/>
                </a:moveTo>
                <a:lnTo>
                  <a:pt x="7108" y="744153"/>
                </a:lnTo>
                <a:lnTo>
                  <a:pt x="14216" y="744019"/>
                </a:lnTo>
                <a:lnTo>
                  <a:pt x="21325" y="743880"/>
                </a:lnTo>
                <a:lnTo>
                  <a:pt x="28433" y="743735"/>
                </a:lnTo>
                <a:lnTo>
                  <a:pt x="35542" y="743586"/>
                </a:lnTo>
                <a:lnTo>
                  <a:pt x="42650" y="743432"/>
                </a:lnTo>
                <a:lnTo>
                  <a:pt x="49758" y="743272"/>
                </a:lnTo>
                <a:lnTo>
                  <a:pt x="56867" y="743107"/>
                </a:lnTo>
                <a:lnTo>
                  <a:pt x="63975" y="742936"/>
                </a:lnTo>
                <a:lnTo>
                  <a:pt x="71084" y="742759"/>
                </a:lnTo>
                <a:lnTo>
                  <a:pt x="78192" y="742576"/>
                </a:lnTo>
                <a:lnTo>
                  <a:pt x="85300" y="742386"/>
                </a:lnTo>
                <a:lnTo>
                  <a:pt x="92409" y="742191"/>
                </a:lnTo>
                <a:lnTo>
                  <a:pt x="99517" y="741988"/>
                </a:lnTo>
                <a:lnTo>
                  <a:pt x="106626" y="741779"/>
                </a:lnTo>
                <a:lnTo>
                  <a:pt x="113734" y="741563"/>
                </a:lnTo>
                <a:lnTo>
                  <a:pt x="120842" y="741340"/>
                </a:lnTo>
                <a:lnTo>
                  <a:pt x="127951" y="741109"/>
                </a:lnTo>
                <a:lnTo>
                  <a:pt x="135059" y="740871"/>
                </a:lnTo>
                <a:lnTo>
                  <a:pt x="142168" y="740625"/>
                </a:lnTo>
                <a:lnTo>
                  <a:pt x="149276" y="740371"/>
                </a:lnTo>
                <a:lnTo>
                  <a:pt x="156385" y="740108"/>
                </a:lnTo>
                <a:lnTo>
                  <a:pt x="163493" y="739838"/>
                </a:lnTo>
                <a:lnTo>
                  <a:pt x="170601" y="739558"/>
                </a:lnTo>
                <a:lnTo>
                  <a:pt x="177710" y="739269"/>
                </a:lnTo>
                <a:lnTo>
                  <a:pt x="184818" y="738972"/>
                </a:lnTo>
                <a:lnTo>
                  <a:pt x="191927" y="738664"/>
                </a:lnTo>
                <a:lnTo>
                  <a:pt x="199035" y="738348"/>
                </a:lnTo>
                <a:lnTo>
                  <a:pt x="206143" y="738021"/>
                </a:lnTo>
                <a:lnTo>
                  <a:pt x="213252" y="737684"/>
                </a:lnTo>
                <a:lnTo>
                  <a:pt x="220360" y="737336"/>
                </a:lnTo>
                <a:lnTo>
                  <a:pt x="227469" y="736978"/>
                </a:lnTo>
                <a:lnTo>
                  <a:pt x="234577" y="736609"/>
                </a:lnTo>
                <a:lnTo>
                  <a:pt x="241685" y="736228"/>
                </a:lnTo>
                <a:lnTo>
                  <a:pt x="248794" y="735836"/>
                </a:lnTo>
                <a:lnTo>
                  <a:pt x="255902" y="735432"/>
                </a:lnTo>
                <a:lnTo>
                  <a:pt x="263011" y="735016"/>
                </a:lnTo>
                <a:lnTo>
                  <a:pt x="270119" y="734587"/>
                </a:lnTo>
                <a:lnTo>
                  <a:pt x="277227" y="734146"/>
                </a:lnTo>
                <a:lnTo>
                  <a:pt x="284336" y="733691"/>
                </a:lnTo>
                <a:lnTo>
                  <a:pt x="291444" y="733223"/>
                </a:lnTo>
                <a:lnTo>
                  <a:pt x="298553" y="732741"/>
                </a:lnTo>
                <a:lnTo>
                  <a:pt x="305661" y="732246"/>
                </a:lnTo>
                <a:lnTo>
                  <a:pt x="312770" y="731736"/>
                </a:lnTo>
                <a:lnTo>
                  <a:pt x="319878" y="731211"/>
                </a:lnTo>
                <a:lnTo>
                  <a:pt x="326986" y="730671"/>
                </a:lnTo>
                <a:lnTo>
                  <a:pt x="334095" y="730116"/>
                </a:lnTo>
                <a:lnTo>
                  <a:pt x="341203" y="729545"/>
                </a:lnTo>
                <a:lnTo>
                  <a:pt x="348312" y="728958"/>
                </a:lnTo>
                <a:lnTo>
                  <a:pt x="355420" y="728354"/>
                </a:lnTo>
                <a:lnTo>
                  <a:pt x="362528" y="727734"/>
                </a:lnTo>
                <a:lnTo>
                  <a:pt x="369637" y="727097"/>
                </a:lnTo>
                <a:lnTo>
                  <a:pt x="376745" y="726442"/>
                </a:lnTo>
                <a:lnTo>
                  <a:pt x="383854" y="725769"/>
                </a:lnTo>
                <a:lnTo>
                  <a:pt x="390962" y="725077"/>
                </a:lnTo>
                <a:lnTo>
                  <a:pt x="398070" y="724367"/>
                </a:lnTo>
                <a:lnTo>
                  <a:pt x="405179" y="723638"/>
                </a:lnTo>
                <a:lnTo>
                  <a:pt x="412287" y="722890"/>
                </a:lnTo>
                <a:lnTo>
                  <a:pt x="419396" y="722121"/>
                </a:lnTo>
                <a:lnTo>
                  <a:pt x="426504" y="721332"/>
                </a:lnTo>
                <a:lnTo>
                  <a:pt x="433613" y="720523"/>
                </a:lnTo>
                <a:lnTo>
                  <a:pt x="440721" y="719692"/>
                </a:lnTo>
                <a:lnTo>
                  <a:pt x="447829" y="718840"/>
                </a:lnTo>
                <a:lnTo>
                  <a:pt x="454938" y="717966"/>
                </a:lnTo>
                <a:lnTo>
                  <a:pt x="462046" y="717070"/>
                </a:lnTo>
                <a:lnTo>
                  <a:pt x="469155" y="716151"/>
                </a:lnTo>
                <a:lnTo>
                  <a:pt x="476263" y="715208"/>
                </a:lnTo>
                <a:lnTo>
                  <a:pt x="483371" y="714242"/>
                </a:lnTo>
                <a:lnTo>
                  <a:pt x="490480" y="713252"/>
                </a:lnTo>
                <a:lnTo>
                  <a:pt x="497588" y="712237"/>
                </a:lnTo>
                <a:lnTo>
                  <a:pt x="504697" y="711198"/>
                </a:lnTo>
                <a:lnTo>
                  <a:pt x="511805" y="710132"/>
                </a:lnTo>
                <a:lnTo>
                  <a:pt x="518913" y="709042"/>
                </a:lnTo>
                <a:lnTo>
                  <a:pt x="526022" y="707924"/>
                </a:lnTo>
                <a:lnTo>
                  <a:pt x="533130" y="706780"/>
                </a:lnTo>
                <a:lnTo>
                  <a:pt x="540239" y="705609"/>
                </a:lnTo>
                <a:lnTo>
                  <a:pt x="547347" y="704410"/>
                </a:lnTo>
                <a:lnTo>
                  <a:pt x="554455" y="703184"/>
                </a:lnTo>
                <a:lnTo>
                  <a:pt x="561564" y="701928"/>
                </a:lnTo>
                <a:lnTo>
                  <a:pt x="568672" y="700644"/>
                </a:lnTo>
                <a:lnTo>
                  <a:pt x="575781" y="699330"/>
                </a:lnTo>
                <a:lnTo>
                  <a:pt x="582889" y="697986"/>
                </a:lnTo>
                <a:lnTo>
                  <a:pt x="589998" y="696612"/>
                </a:lnTo>
                <a:lnTo>
                  <a:pt x="597106" y="695207"/>
                </a:lnTo>
                <a:lnTo>
                  <a:pt x="604214" y="693770"/>
                </a:lnTo>
                <a:lnTo>
                  <a:pt x="611323" y="692302"/>
                </a:lnTo>
                <a:lnTo>
                  <a:pt x="618431" y="690802"/>
                </a:lnTo>
                <a:lnTo>
                  <a:pt x="625540" y="689269"/>
                </a:lnTo>
                <a:lnTo>
                  <a:pt x="632648" y="687703"/>
                </a:lnTo>
                <a:lnTo>
                  <a:pt x="639756" y="686103"/>
                </a:lnTo>
                <a:lnTo>
                  <a:pt x="646865" y="684470"/>
                </a:lnTo>
                <a:lnTo>
                  <a:pt x="653973" y="682802"/>
                </a:lnTo>
                <a:lnTo>
                  <a:pt x="661082" y="681099"/>
                </a:lnTo>
                <a:lnTo>
                  <a:pt x="668190" y="679360"/>
                </a:lnTo>
                <a:lnTo>
                  <a:pt x="675298" y="677586"/>
                </a:lnTo>
                <a:lnTo>
                  <a:pt x="682407" y="675776"/>
                </a:lnTo>
                <a:lnTo>
                  <a:pt x="689515" y="673929"/>
                </a:lnTo>
                <a:lnTo>
                  <a:pt x="696624" y="672045"/>
                </a:lnTo>
                <a:lnTo>
                  <a:pt x="703732" y="670124"/>
                </a:lnTo>
                <a:lnTo>
                  <a:pt x="710840" y="668165"/>
                </a:lnTo>
                <a:lnTo>
                  <a:pt x="717949" y="666167"/>
                </a:lnTo>
                <a:lnTo>
                  <a:pt x="725057" y="664131"/>
                </a:lnTo>
                <a:lnTo>
                  <a:pt x="732166" y="662055"/>
                </a:lnTo>
                <a:lnTo>
                  <a:pt x="739274" y="659940"/>
                </a:lnTo>
                <a:lnTo>
                  <a:pt x="746383" y="657786"/>
                </a:lnTo>
                <a:lnTo>
                  <a:pt x="753491" y="655591"/>
                </a:lnTo>
                <a:lnTo>
                  <a:pt x="760599" y="653355"/>
                </a:lnTo>
                <a:lnTo>
                  <a:pt x="767708" y="651078"/>
                </a:lnTo>
                <a:lnTo>
                  <a:pt x="774816" y="648761"/>
                </a:lnTo>
                <a:lnTo>
                  <a:pt x="781925" y="646401"/>
                </a:lnTo>
                <a:lnTo>
                  <a:pt x="789033" y="643999"/>
                </a:lnTo>
                <a:lnTo>
                  <a:pt x="796141" y="641555"/>
                </a:lnTo>
                <a:lnTo>
                  <a:pt x="803250" y="639069"/>
                </a:lnTo>
                <a:lnTo>
                  <a:pt x="810358" y="636539"/>
                </a:lnTo>
                <a:lnTo>
                  <a:pt x="817467" y="633967"/>
                </a:lnTo>
                <a:lnTo>
                  <a:pt x="824575" y="631350"/>
                </a:lnTo>
                <a:lnTo>
                  <a:pt x="831683" y="628690"/>
                </a:lnTo>
                <a:lnTo>
                  <a:pt x="838792" y="625986"/>
                </a:lnTo>
                <a:lnTo>
                  <a:pt x="845900" y="623237"/>
                </a:lnTo>
                <a:lnTo>
                  <a:pt x="853009" y="620445"/>
                </a:lnTo>
                <a:lnTo>
                  <a:pt x="860117" y="617607"/>
                </a:lnTo>
                <a:lnTo>
                  <a:pt x="867226" y="614724"/>
                </a:lnTo>
                <a:lnTo>
                  <a:pt x="874334" y="611796"/>
                </a:lnTo>
                <a:lnTo>
                  <a:pt x="881442" y="608823"/>
                </a:lnTo>
                <a:lnTo>
                  <a:pt x="888551" y="605804"/>
                </a:lnTo>
                <a:lnTo>
                  <a:pt x="895659" y="602740"/>
                </a:lnTo>
                <a:lnTo>
                  <a:pt x="902768" y="599630"/>
                </a:lnTo>
                <a:lnTo>
                  <a:pt x="909876" y="596474"/>
                </a:lnTo>
                <a:lnTo>
                  <a:pt x="916984" y="593272"/>
                </a:lnTo>
                <a:lnTo>
                  <a:pt x="924093" y="590025"/>
                </a:lnTo>
                <a:lnTo>
                  <a:pt x="931201" y="586731"/>
                </a:lnTo>
                <a:lnTo>
                  <a:pt x="938310" y="583390"/>
                </a:lnTo>
                <a:lnTo>
                  <a:pt x="945418" y="580004"/>
                </a:lnTo>
                <a:lnTo>
                  <a:pt x="952526" y="576572"/>
                </a:lnTo>
                <a:lnTo>
                  <a:pt x="959635" y="573093"/>
                </a:lnTo>
                <a:lnTo>
                  <a:pt x="966743" y="569568"/>
                </a:lnTo>
                <a:lnTo>
                  <a:pt x="973852" y="565997"/>
                </a:lnTo>
                <a:lnTo>
                  <a:pt x="980960" y="562381"/>
                </a:lnTo>
                <a:lnTo>
                  <a:pt x="988068" y="558718"/>
                </a:lnTo>
                <a:lnTo>
                  <a:pt x="995177" y="555009"/>
                </a:lnTo>
                <a:lnTo>
                  <a:pt x="1002285" y="551255"/>
                </a:lnTo>
                <a:lnTo>
                  <a:pt x="1009394" y="547456"/>
                </a:lnTo>
                <a:lnTo>
                  <a:pt x="1016502" y="543611"/>
                </a:lnTo>
                <a:lnTo>
                  <a:pt x="1023611" y="539721"/>
                </a:lnTo>
                <a:lnTo>
                  <a:pt x="1030719" y="535786"/>
                </a:lnTo>
                <a:lnTo>
                  <a:pt x="1037827" y="531806"/>
                </a:lnTo>
                <a:lnTo>
                  <a:pt x="1044936" y="527782"/>
                </a:lnTo>
                <a:lnTo>
                  <a:pt x="1052044" y="523714"/>
                </a:lnTo>
                <a:lnTo>
                  <a:pt x="1059153" y="519603"/>
                </a:lnTo>
                <a:lnTo>
                  <a:pt x="1066261" y="515447"/>
                </a:lnTo>
                <a:lnTo>
                  <a:pt x="1073369" y="511249"/>
                </a:lnTo>
                <a:lnTo>
                  <a:pt x="1080478" y="507009"/>
                </a:lnTo>
                <a:lnTo>
                  <a:pt x="1087586" y="502726"/>
                </a:lnTo>
                <a:lnTo>
                  <a:pt x="1094695" y="498401"/>
                </a:lnTo>
                <a:lnTo>
                  <a:pt x="1101803" y="494035"/>
                </a:lnTo>
                <a:lnTo>
                  <a:pt x="1108911" y="489628"/>
                </a:lnTo>
                <a:lnTo>
                  <a:pt x="1116020" y="485181"/>
                </a:lnTo>
                <a:lnTo>
                  <a:pt x="1123128" y="480694"/>
                </a:lnTo>
                <a:lnTo>
                  <a:pt x="1130237" y="476168"/>
                </a:lnTo>
                <a:lnTo>
                  <a:pt x="1137345" y="471604"/>
                </a:lnTo>
                <a:lnTo>
                  <a:pt x="1144453" y="467001"/>
                </a:lnTo>
                <a:lnTo>
                  <a:pt x="1151562" y="462361"/>
                </a:lnTo>
                <a:lnTo>
                  <a:pt x="1158670" y="457685"/>
                </a:lnTo>
                <a:lnTo>
                  <a:pt x="1165779" y="452973"/>
                </a:lnTo>
                <a:lnTo>
                  <a:pt x="1172887" y="448226"/>
                </a:lnTo>
                <a:lnTo>
                  <a:pt x="1179996" y="443444"/>
                </a:lnTo>
                <a:lnTo>
                  <a:pt x="1187104" y="438628"/>
                </a:lnTo>
                <a:lnTo>
                  <a:pt x="1194212" y="433780"/>
                </a:lnTo>
                <a:lnTo>
                  <a:pt x="1201321" y="428900"/>
                </a:lnTo>
                <a:lnTo>
                  <a:pt x="1208429" y="423989"/>
                </a:lnTo>
                <a:lnTo>
                  <a:pt x="1215538" y="419047"/>
                </a:lnTo>
                <a:lnTo>
                  <a:pt x="1222646" y="414076"/>
                </a:lnTo>
                <a:lnTo>
                  <a:pt x="1229754" y="409077"/>
                </a:lnTo>
                <a:lnTo>
                  <a:pt x="1236863" y="404051"/>
                </a:lnTo>
                <a:lnTo>
                  <a:pt x="1243971" y="398998"/>
                </a:lnTo>
                <a:lnTo>
                  <a:pt x="1251080" y="393919"/>
                </a:lnTo>
                <a:lnTo>
                  <a:pt x="1258188" y="388817"/>
                </a:lnTo>
                <a:lnTo>
                  <a:pt x="1265296" y="383691"/>
                </a:lnTo>
                <a:lnTo>
                  <a:pt x="1272405" y="378543"/>
                </a:lnTo>
                <a:lnTo>
                  <a:pt x="1279513" y="373373"/>
                </a:lnTo>
                <a:lnTo>
                  <a:pt x="1286622" y="368184"/>
                </a:lnTo>
                <a:lnTo>
                  <a:pt x="1293730" y="362977"/>
                </a:lnTo>
                <a:lnTo>
                  <a:pt x="1300839" y="357752"/>
                </a:lnTo>
                <a:lnTo>
                  <a:pt x="1307947" y="352510"/>
                </a:lnTo>
                <a:lnTo>
                  <a:pt x="1315055" y="347253"/>
                </a:lnTo>
                <a:lnTo>
                  <a:pt x="1322164" y="341983"/>
                </a:lnTo>
                <a:lnTo>
                  <a:pt x="1329272" y="336700"/>
                </a:lnTo>
                <a:lnTo>
                  <a:pt x="1336381" y="331406"/>
                </a:lnTo>
                <a:lnTo>
                  <a:pt x="1343489" y="326102"/>
                </a:lnTo>
                <a:lnTo>
                  <a:pt x="1350597" y="320789"/>
                </a:lnTo>
                <a:lnTo>
                  <a:pt x="1357706" y="315470"/>
                </a:lnTo>
                <a:lnTo>
                  <a:pt x="1364814" y="310144"/>
                </a:lnTo>
                <a:lnTo>
                  <a:pt x="1371923" y="304814"/>
                </a:lnTo>
                <a:lnTo>
                  <a:pt x="1379031" y="299482"/>
                </a:lnTo>
                <a:lnTo>
                  <a:pt x="1386139" y="294147"/>
                </a:lnTo>
                <a:lnTo>
                  <a:pt x="1393248" y="288813"/>
                </a:lnTo>
                <a:lnTo>
                  <a:pt x="1400356" y="283481"/>
                </a:lnTo>
                <a:lnTo>
                  <a:pt x="1407465" y="278151"/>
                </a:lnTo>
                <a:lnTo>
                  <a:pt x="1414573" y="272826"/>
                </a:lnTo>
                <a:lnTo>
                  <a:pt x="1421681" y="267506"/>
                </a:lnTo>
                <a:lnTo>
                  <a:pt x="1428790" y="262195"/>
                </a:lnTo>
                <a:lnTo>
                  <a:pt x="1435898" y="256892"/>
                </a:lnTo>
                <a:lnTo>
                  <a:pt x="1443007" y="251601"/>
                </a:lnTo>
                <a:lnTo>
                  <a:pt x="1450115" y="246321"/>
                </a:lnTo>
                <a:lnTo>
                  <a:pt x="1457224" y="241056"/>
                </a:lnTo>
                <a:lnTo>
                  <a:pt x="1464332" y="235806"/>
                </a:lnTo>
                <a:lnTo>
                  <a:pt x="1471440" y="230573"/>
                </a:lnTo>
                <a:lnTo>
                  <a:pt x="1478549" y="225359"/>
                </a:lnTo>
                <a:lnTo>
                  <a:pt x="1485657" y="220166"/>
                </a:lnTo>
                <a:lnTo>
                  <a:pt x="1492766" y="214994"/>
                </a:lnTo>
                <a:lnTo>
                  <a:pt x="1499874" y="209846"/>
                </a:lnTo>
                <a:lnTo>
                  <a:pt x="1506982" y="204724"/>
                </a:lnTo>
                <a:lnTo>
                  <a:pt x="1514091" y="199628"/>
                </a:lnTo>
                <a:lnTo>
                  <a:pt x="1521199" y="194562"/>
                </a:lnTo>
                <a:lnTo>
                  <a:pt x="1528308" y="189525"/>
                </a:lnTo>
                <a:lnTo>
                  <a:pt x="1535416" y="184521"/>
                </a:lnTo>
                <a:lnTo>
                  <a:pt x="1542524" y="179551"/>
                </a:lnTo>
                <a:lnTo>
                  <a:pt x="1549633" y="174616"/>
                </a:lnTo>
                <a:lnTo>
                  <a:pt x="1556741" y="169718"/>
                </a:lnTo>
                <a:lnTo>
                  <a:pt x="1563850" y="164859"/>
                </a:lnTo>
                <a:lnTo>
                  <a:pt x="1570958" y="160040"/>
                </a:lnTo>
                <a:lnTo>
                  <a:pt x="1578066" y="155264"/>
                </a:lnTo>
                <a:lnTo>
                  <a:pt x="1585175" y="150531"/>
                </a:lnTo>
                <a:lnTo>
                  <a:pt x="1592283" y="145844"/>
                </a:lnTo>
                <a:lnTo>
                  <a:pt x="1599392" y="141204"/>
                </a:lnTo>
                <a:lnTo>
                  <a:pt x="1606500" y="136612"/>
                </a:lnTo>
                <a:lnTo>
                  <a:pt x="1613609" y="132071"/>
                </a:lnTo>
                <a:lnTo>
                  <a:pt x="1620717" y="127583"/>
                </a:lnTo>
                <a:lnTo>
                  <a:pt x="1627825" y="123148"/>
                </a:lnTo>
                <a:lnTo>
                  <a:pt x="1634934" y="118768"/>
                </a:lnTo>
                <a:lnTo>
                  <a:pt x="1642042" y="114445"/>
                </a:lnTo>
                <a:lnTo>
                  <a:pt x="1649151" y="110181"/>
                </a:lnTo>
                <a:lnTo>
                  <a:pt x="1656259" y="105976"/>
                </a:lnTo>
                <a:lnTo>
                  <a:pt x="1663367" y="101834"/>
                </a:lnTo>
                <a:lnTo>
                  <a:pt x="1670476" y="97754"/>
                </a:lnTo>
                <a:lnTo>
                  <a:pt x="1677584" y="93739"/>
                </a:lnTo>
                <a:lnTo>
                  <a:pt x="1684693" y="89791"/>
                </a:lnTo>
                <a:lnTo>
                  <a:pt x="1691801" y="85910"/>
                </a:lnTo>
                <a:lnTo>
                  <a:pt x="1698909" y="82099"/>
                </a:lnTo>
                <a:lnTo>
                  <a:pt x="1706018" y="78358"/>
                </a:lnTo>
                <a:lnTo>
                  <a:pt x="1713126" y="74689"/>
                </a:lnTo>
                <a:lnTo>
                  <a:pt x="1720235" y="71094"/>
                </a:lnTo>
                <a:lnTo>
                  <a:pt x="1727343" y="67574"/>
                </a:lnTo>
                <a:lnTo>
                  <a:pt x="1734452" y="64130"/>
                </a:lnTo>
                <a:lnTo>
                  <a:pt x="1741560" y="60763"/>
                </a:lnTo>
                <a:lnTo>
                  <a:pt x="1748668" y="57476"/>
                </a:lnTo>
                <a:lnTo>
                  <a:pt x="1755777" y="54269"/>
                </a:lnTo>
                <a:lnTo>
                  <a:pt x="1762885" y="51143"/>
                </a:lnTo>
                <a:lnTo>
                  <a:pt x="1769994" y="48100"/>
                </a:lnTo>
                <a:lnTo>
                  <a:pt x="1777102" y="45141"/>
                </a:lnTo>
                <a:lnTo>
                  <a:pt x="1784210" y="42267"/>
                </a:lnTo>
                <a:lnTo>
                  <a:pt x="1791319" y="39480"/>
                </a:lnTo>
                <a:lnTo>
                  <a:pt x="1798427" y="36779"/>
                </a:lnTo>
                <a:lnTo>
                  <a:pt x="1805536" y="34167"/>
                </a:lnTo>
                <a:lnTo>
                  <a:pt x="1812644" y="31645"/>
                </a:lnTo>
                <a:lnTo>
                  <a:pt x="1819752" y="29213"/>
                </a:lnTo>
                <a:lnTo>
                  <a:pt x="1826861" y="26873"/>
                </a:lnTo>
                <a:lnTo>
                  <a:pt x="1833969" y="24625"/>
                </a:lnTo>
                <a:lnTo>
                  <a:pt x="1841078" y="22470"/>
                </a:lnTo>
                <a:lnTo>
                  <a:pt x="1848186" y="20410"/>
                </a:lnTo>
                <a:lnTo>
                  <a:pt x="1855294" y="18445"/>
                </a:lnTo>
                <a:lnTo>
                  <a:pt x="1862403" y="16576"/>
                </a:lnTo>
                <a:lnTo>
                  <a:pt x="1869511" y="14803"/>
                </a:lnTo>
                <a:lnTo>
                  <a:pt x="1876620" y="13127"/>
                </a:lnTo>
                <a:lnTo>
                  <a:pt x="1883728" y="11550"/>
                </a:lnTo>
                <a:lnTo>
                  <a:pt x="1890837" y="10071"/>
                </a:lnTo>
                <a:lnTo>
                  <a:pt x="1897945" y="8692"/>
                </a:lnTo>
                <a:lnTo>
                  <a:pt x="1905053" y="7413"/>
                </a:lnTo>
                <a:lnTo>
                  <a:pt x="1912162" y="6234"/>
                </a:lnTo>
                <a:lnTo>
                  <a:pt x="1919270" y="5155"/>
                </a:lnTo>
                <a:lnTo>
                  <a:pt x="1926379" y="4179"/>
                </a:lnTo>
                <a:lnTo>
                  <a:pt x="1933487" y="3304"/>
                </a:lnTo>
                <a:lnTo>
                  <a:pt x="1940595" y="2531"/>
                </a:lnTo>
                <a:lnTo>
                  <a:pt x="1947704" y="1860"/>
                </a:lnTo>
                <a:lnTo>
                  <a:pt x="1954812" y="1292"/>
                </a:lnTo>
                <a:lnTo>
                  <a:pt x="1961921" y="827"/>
                </a:lnTo>
                <a:lnTo>
                  <a:pt x="1969029" y="465"/>
                </a:lnTo>
                <a:lnTo>
                  <a:pt x="1976137" y="207"/>
                </a:lnTo>
                <a:lnTo>
                  <a:pt x="1983246" y="52"/>
                </a:lnTo>
                <a:lnTo>
                  <a:pt x="1990354" y="0"/>
                </a:lnTo>
                <a:lnTo>
                  <a:pt x="1997463" y="52"/>
                </a:lnTo>
                <a:lnTo>
                  <a:pt x="2004571" y="207"/>
                </a:lnTo>
                <a:lnTo>
                  <a:pt x="2011680" y="465"/>
                </a:lnTo>
                <a:lnTo>
                  <a:pt x="2018788" y="827"/>
                </a:lnTo>
                <a:lnTo>
                  <a:pt x="2025896" y="1292"/>
                </a:lnTo>
                <a:lnTo>
                  <a:pt x="2033005" y="1860"/>
                </a:lnTo>
                <a:lnTo>
                  <a:pt x="2040113" y="2531"/>
                </a:lnTo>
                <a:lnTo>
                  <a:pt x="2047222" y="3304"/>
                </a:lnTo>
                <a:lnTo>
                  <a:pt x="2054330" y="4179"/>
                </a:lnTo>
                <a:lnTo>
                  <a:pt x="2061438" y="5155"/>
                </a:lnTo>
                <a:lnTo>
                  <a:pt x="2068547" y="6234"/>
                </a:lnTo>
                <a:lnTo>
                  <a:pt x="2075655" y="7413"/>
                </a:lnTo>
                <a:lnTo>
                  <a:pt x="2082764" y="8692"/>
                </a:lnTo>
                <a:lnTo>
                  <a:pt x="2089872" y="10071"/>
                </a:lnTo>
                <a:lnTo>
                  <a:pt x="2096980" y="11550"/>
                </a:lnTo>
                <a:lnTo>
                  <a:pt x="2104089" y="13127"/>
                </a:lnTo>
                <a:lnTo>
                  <a:pt x="2111197" y="14803"/>
                </a:lnTo>
                <a:lnTo>
                  <a:pt x="2118306" y="16576"/>
                </a:lnTo>
                <a:lnTo>
                  <a:pt x="2125414" y="18445"/>
                </a:lnTo>
                <a:lnTo>
                  <a:pt x="2132522" y="20410"/>
                </a:lnTo>
                <a:lnTo>
                  <a:pt x="2139631" y="22470"/>
                </a:lnTo>
                <a:lnTo>
                  <a:pt x="2146739" y="24625"/>
                </a:lnTo>
                <a:lnTo>
                  <a:pt x="2153848" y="26873"/>
                </a:lnTo>
                <a:lnTo>
                  <a:pt x="2160956" y="29213"/>
                </a:lnTo>
                <a:lnTo>
                  <a:pt x="2168065" y="31645"/>
                </a:lnTo>
                <a:lnTo>
                  <a:pt x="2175173" y="34167"/>
                </a:lnTo>
                <a:lnTo>
                  <a:pt x="2182281" y="36779"/>
                </a:lnTo>
                <a:lnTo>
                  <a:pt x="2189390" y="39480"/>
                </a:lnTo>
                <a:lnTo>
                  <a:pt x="2196498" y="42267"/>
                </a:lnTo>
                <a:lnTo>
                  <a:pt x="2203607" y="45141"/>
                </a:lnTo>
                <a:lnTo>
                  <a:pt x="2210715" y="48100"/>
                </a:lnTo>
                <a:lnTo>
                  <a:pt x="2217823" y="51143"/>
                </a:lnTo>
                <a:lnTo>
                  <a:pt x="2224932" y="54269"/>
                </a:lnTo>
                <a:lnTo>
                  <a:pt x="2232040" y="57476"/>
                </a:lnTo>
                <a:lnTo>
                  <a:pt x="2239149" y="60763"/>
                </a:lnTo>
                <a:lnTo>
                  <a:pt x="2246257" y="64130"/>
                </a:lnTo>
                <a:lnTo>
                  <a:pt x="2253365" y="67574"/>
                </a:lnTo>
                <a:lnTo>
                  <a:pt x="2260474" y="71094"/>
                </a:lnTo>
                <a:lnTo>
                  <a:pt x="2267582" y="74689"/>
                </a:lnTo>
                <a:lnTo>
                  <a:pt x="2274691" y="78358"/>
                </a:lnTo>
                <a:lnTo>
                  <a:pt x="2281799" y="82099"/>
                </a:lnTo>
                <a:lnTo>
                  <a:pt x="2288907" y="85910"/>
                </a:lnTo>
                <a:lnTo>
                  <a:pt x="2296016" y="89791"/>
                </a:lnTo>
                <a:lnTo>
                  <a:pt x="2303124" y="93739"/>
                </a:lnTo>
                <a:lnTo>
                  <a:pt x="2310233" y="97754"/>
                </a:lnTo>
                <a:lnTo>
                  <a:pt x="2317341" y="101834"/>
                </a:lnTo>
                <a:lnTo>
                  <a:pt x="2324450" y="105976"/>
                </a:lnTo>
                <a:lnTo>
                  <a:pt x="2331558" y="110181"/>
                </a:lnTo>
                <a:lnTo>
                  <a:pt x="2338666" y="114445"/>
                </a:lnTo>
                <a:lnTo>
                  <a:pt x="2345775" y="118768"/>
                </a:lnTo>
                <a:lnTo>
                  <a:pt x="2352883" y="123148"/>
                </a:lnTo>
                <a:lnTo>
                  <a:pt x="2359992" y="127583"/>
                </a:lnTo>
                <a:lnTo>
                  <a:pt x="2367100" y="132071"/>
                </a:lnTo>
                <a:lnTo>
                  <a:pt x="2374208" y="136612"/>
                </a:lnTo>
                <a:lnTo>
                  <a:pt x="2381317" y="141204"/>
                </a:lnTo>
                <a:lnTo>
                  <a:pt x="2388425" y="145844"/>
                </a:lnTo>
                <a:lnTo>
                  <a:pt x="2395534" y="150531"/>
                </a:lnTo>
                <a:lnTo>
                  <a:pt x="2402642" y="155264"/>
                </a:lnTo>
                <a:lnTo>
                  <a:pt x="2409750" y="160040"/>
                </a:lnTo>
                <a:lnTo>
                  <a:pt x="2416859" y="164859"/>
                </a:lnTo>
                <a:lnTo>
                  <a:pt x="2423967" y="169718"/>
                </a:lnTo>
                <a:lnTo>
                  <a:pt x="2431076" y="174616"/>
                </a:lnTo>
                <a:lnTo>
                  <a:pt x="2438184" y="179551"/>
                </a:lnTo>
                <a:lnTo>
                  <a:pt x="2445293" y="184521"/>
                </a:lnTo>
                <a:lnTo>
                  <a:pt x="2452401" y="189525"/>
                </a:lnTo>
                <a:lnTo>
                  <a:pt x="2459509" y="194562"/>
                </a:lnTo>
                <a:lnTo>
                  <a:pt x="2466618" y="199628"/>
                </a:lnTo>
                <a:lnTo>
                  <a:pt x="2473726" y="204724"/>
                </a:lnTo>
                <a:lnTo>
                  <a:pt x="2480835" y="209846"/>
                </a:lnTo>
                <a:lnTo>
                  <a:pt x="2487943" y="214994"/>
                </a:lnTo>
                <a:lnTo>
                  <a:pt x="2495051" y="220166"/>
                </a:lnTo>
                <a:lnTo>
                  <a:pt x="2502160" y="225359"/>
                </a:lnTo>
                <a:lnTo>
                  <a:pt x="2509268" y="230573"/>
                </a:lnTo>
                <a:lnTo>
                  <a:pt x="2516377" y="235806"/>
                </a:lnTo>
                <a:lnTo>
                  <a:pt x="2523485" y="241056"/>
                </a:lnTo>
                <a:lnTo>
                  <a:pt x="2530593" y="246321"/>
                </a:lnTo>
                <a:lnTo>
                  <a:pt x="2537702" y="251601"/>
                </a:lnTo>
                <a:lnTo>
                  <a:pt x="2544810" y="256892"/>
                </a:lnTo>
                <a:lnTo>
                  <a:pt x="2551919" y="262195"/>
                </a:lnTo>
                <a:lnTo>
                  <a:pt x="2559027" y="267506"/>
                </a:lnTo>
                <a:lnTo>
                  <a:pt x="2566135" y="272826"/>
                </a:lnTo>
                <a:lnTo>
                  <a:pt x="2573244" y="278151"/>
                </a:lnTo>
                <a:lnTo>
                  <a:pt x="2580352" y="283481"/>
                </a:lnTo>
                <a:lnTo>
                  <a:pt x="2587461" y="288813"/>
                </a:lnTo>
                <a:lnTo>
                  <a:pt x="2594569" y="294147"/>
                </a:lnTo>
                <a:lnTo>
                  <a:pt x="2601678" y="299482"/>
                </a:lnTo>
                <a:lnTo>
                  <a:pt x="2608786" y="304814"/>
                </a:lnTo>
                <a:lnTo>
                  <a:pt x="2615894" y="310144"/>
                </a:lnTo>
                <a:lnTo>
                  <a:pt x="2623003" y="315470"/>
                </a:lnTo>
                <a:lnTo>
                  <a:pt x="2630111" y="320789"/>
                </a:lnTo>
                <a:lnTo>
                  <a:pt x="2637220" y="326102"/>
                </a:lnTo>
                <a:lnTo>
                  <a:pt x="2644328" y="331406"/>
                </a:lnTo>
                <a:lnTo>
                  <a:pt x="2651436" y="336700"/>
                </a:lnTo>
                <a:lnTo>
                  <a:pt x="2658545" y="341983"/>
                </a:lnTo>
                <a:lnTo>
                  <a:pt x="2665653" y="347253"/>
                </a:lnTo>
                <a:lnTo>
                  <a:pt x="2672762" y="352510"/>
                </a:lnTo>
                <a:lnTo>
                  <a:pt x="2679870" y="357752"/>
                </a:lnTo>
                <a:lnTo>
                  <a:pt x="2686978" y="362977"/>
                </a:lnTo>
                <a:lnTo>
                  <a:pt x="2694087" y="368184"/>
                </a:lnTo>
                <a:lnTo>
                  <a:pt x="2701195" y="373373"/>
                </a:lnTo>
                <a:lnTo>
                  <a:pt x="2708304" y="378543"/>
                </a:lnTo>
                <a:lnTo>
                  <a:pt x="2715412" y="383691"/>
                </a:lnTo>
                <a:lnTo>
                  <a:pt x="2722520" y="388817"/>
                </a:lnTo>
                <a:lnTo>
                  <a:pt x="2729629" y="393919"/>
                </a:lnTo>
                <a:lnTo>
                  <a:pt x="2736737" y="398998"/>
                </a:lnTo>
                <a:lnTo>
                  <a:pt x="2743846" y="404051"/>
                </a:lnTo>
                <a:lnTo>
                  <a:pt x="2750954" y="409077"/>
                </a:lnTo>
                <a:lnTo>
                  <a:pt x="2758063" y="414076"/>
                </a:lnTo>
                <a:lnTo>
                  <a:pt x="2765171" y="419047"/>
                </a:lnTo>
                <a:lnTo>
                  <a:pt x="2772279" y="423989"/>
                </a:lnTo>
                <a:lnTo>
                  <a:pt x="2779388" y="428900"/>
                </a:lnTo>
                <a:lnTo>
                  <a:pt x="2786496" y="433780"/>
                </a:lnTo>
                <a:lnTo>
                  <a:pt x="2793605" y="438628"/>
                </a:lnTo>
                <a:lnTo>
                  <a:pt x="2800713" y="443444"/>
                </a:lnTo>
                <a:lnTo>
                  <a:pt x="2807821" y="448226"/>
                </a:lnTo>
                <a:lnTo>
                  <a:pt x="2814930" y="452973"/>
                </a:lnTo>
                <a:lnTo>
                  <a:pt x="2822038" y="457685"/>
                </a:lnTo>
                <a:lnTo>
                  <a:pt x="2829147" y="462361"/>
                </a:lnTo>
                <a:lnTo>
                  <a:pt x="2836255" y="467001"/>
                </a:lnTo>
                <a:lnTo>
                  <a:pt x="2843363" y="471604"/>
                </a:lnTo>
                <a:lnTo>
                  <a:pt x="2850472" y="476168"/>
                </a:lnTo>
                <a:lnTo>
                  <a:pt x="2857580" y="480694"/>
                </a:lnTo>
                <a:lnTo>
                  <a:pt x="2864689" y="485181"/>
                </a:lnTo>
                <a:lnTo>
                  <a:pt x="2871797" y="489628"/>
                </a:lnTo>
                <a:lnTo>
                  <a:pt x="2878906" y="494035"/>
                </a:lnTo>
                <a:lnTo>
                  <a:pt x="2886014" y="498401"/>
                </a:lnTo>
                <a:lnTo>
                  <a:pt x="2893122" y="502726"/>
                </a:lnTo>
                <a:lnTo>
                  <a:pt x="2900231" y="507009"/>
                </a:lnTo>
                <a:lnTo>
                  <a:pt x="2907339" y="511249"/>
                </a:lnTo>
                <a:lnTo>
                  <a:pt x="2914448" y="515447"/>
                </a:lnTo>
                <a:lnTo>
                  <a:pt x="2921556" y="519603"/>
                </a:lnTo>
                <a:lnTo>
                  <a:pt x="2928664" y="523714"/>
                </a:lnTo>
                <a:lnTo>
                  <a:pt x="2935773" y="527782"/>
                </a:lnTo>
                <a:lnTo>
                  <a:pt x="2942881" y="531806"/>
                </a:lnTo>
                <a:lnTo>
                  <a:pt x="2949990" y="535786"/>
                </a:lnTo>
                <a:lnTo>
                  <a:pt x="2957098" y="539721"/>
                </a:lnTo>
                <a:lnTo>
                  <a:pt x="2964206" y="543611"/>
                </a:lnTo>
                <a:lnTo>
                  <a:pt x="2971315" y="547456"/>
                </a:lnTo>
                <a:lnTo>
                  <a:pt x="2978423" y="551255"/>
                </a:lnTo>
                <a:lnTo>
                  <a:pt x="2985532" y="555009"/>
                </a:lnTo>
                <a:lnTo>
                  <a:pt x="2992640" y="558718"/>
                </a:lnTo>
                <a:lnTo>
                  <a:pt x="2999748" y="562381"/>
                </a:lnTo>
                <a:lnTo>
                  <a:pt x="3006857" y="565997"/>
                </a:lnTo>
                <a:lnTo>
                  <a:pt x="3013965" y="569568"/>
                </a:lnTo>
                <a:lnTo>
                  <a:pt x="3021074" y="573093"/>
                </a:lnTo>
                <a:lnTo>
                  <a:pt x="3028182" y="576572"/>
                </a:lnTo>
                <a:lnTo>
                  <a:pt x="3035291" y="580004"/>
                </a:lnTo>
                <a:lnTo>
                  <a:pt x="3042399" y="583390"/>
                </a:lnTo>
                <a:lnTo>
                  <a:pt x="3049507" y="586731"/>
                </a:lnTo>
                <a:lnTo>
                  <a:pt x="3056616" y="590025"/>
                </a:lnTo>
                <a:lnTo>
                  <a:pt x="3063724" y="593272"/>
                </a:lnTo>
                <a:lnTo>
                  <a:pt x="3070833" y="596474"/>
                </a:lnTo>
                <a:lnTo>
                  <a:pt x="3077941" y="599630"/>
                </a:lnTo>
                <a:lnTo>
                  <a:pt x="3085049" y="602740"/>
                </a:lnTo>
                <a:lnTo>
                  <a:pt x="3092158" y="605804"/>
                </a:lnTo>
                <a:lnTo>
                  <a:pt x="3099266" y="608823"/>
                </a:lnTo>
                <a:lnTo>
                  <a:pt x="3106375" y="611796"/>
                </a:lnTo>
                <a:lnTo>
                  <a:pt x="3113483" y="614724"/>
                </a:lnTo>
                <a:lnTo>
                  <a:pt x="3120591" y="617607"/>
                </a:lnTo>
                <a:lnTo>
                  <a:pt x="3127700" y="620445"/>
                </a:lnTo>
                <a:lnTo>
                  <a:pt x="3134808" y="623237"/>
                </a:lnTo>
                <a:lnTo>
                  <a:pt x="3141917" y="625986"/>
                </a:lnTo>
                <a:lnTo>
                  <a:pt x="3149025" y="628690"/>
                </a:lnTo>
                <a:lnTo>
                  <a:pt x="3156133" y="631350"/>
                </a:lnTo>
                <a:lnTo>
                  <a:pt x="3163242" y="633967"/>
                </a:lnTo>
                <a:lnTo>
                  <a:pt x="3170350" y="636539"/>
                </a:lnTo>
                <a:lnTo>
                  <a:pt x="3177459" y="639069"/>
                </a:lnTo>
                <a:lnTo>
                  <a:pt x="3184567" y="641555"/>
                </a:lnTo>
                <a:lnTo>
                  <a:pt x="3191676" y="643999"/>
                </a:lnTo>
                <a:lnTo>
                  <a:pt x="3198784" y="646401"/>
                </a:lnTo>
                <a:lnTo>
                  <a:pt x="3205892" y="648761"/>
                </a:lnTo>
                <a:lnTo>
                  <a:pt x="3213001" y="651078"/>
                </a:lnTo>
                <a:lnTo>
                  <a:pt x="3220109" y="653355"/>
                </a:lnTo>
                <a:lnTo>
                  <a:pt x="3227218" y="655591"/>
                </a:lnTo>
                <a:lnTo>
                  <a:pt x="3234326" y="657786"/>
                </a:lnTo>
                <a:lnTo>
                  <a:pt x="3241434" y="659940"/>
                </a:lnTo>
                <a:lnTo>
                  <a:pt x="3248543" y="662055"/>
                </a:lnTo>
                <a:lnTo>
                  <a:pt x="3255651" y="664131"/>
                </a:lnTo>
                <a:lnTo>
                  <a:pt x="3262760" y="666167"/>
                </a:lnTo>
                <a:lnTo>
                  <a:pt x="3269868" y="668165"/>
                </a:lnTo>
                <a:lnTo>
                  <a:pt x="3276976" y="670124"/>
                </a:lnTo>
                <a:lnTo>
                  <a:pt x="3284085" y="672045"/>
                </a:lnTo>
                <a:lnTo>
                  <a:pt x="3291193" y="673929"/>
                </a:lnTo>
                <a:lnTo>
                  <a:pt x="3298302" y="675776"/>
                </a:lnTo>
                <a:lnTo>
                  <a:pt x="3305410" y="677586"/>
                </a:lnTo>
                <a:lnTo>
                  <a:pt x="3312519" y="679360"/>
                </a:lnTo>
                <a:lnTo>
                  <a:pt x="3319627" y="681099"/>
                </a:lnTo>
                <a:lnTo>
                  <a:pt x="3326735" y="682802"/>
                </a:lnTo>
                <a:lnTo>
                  <a:pt x="3333844" y="684470"/>
                </a:lnTo>
                <a:lnTo>
                  <a:pt x="3340952" y="686103"/>
                </a:lnTo>
                <a:lnTo>
                  <a:pt x="3348061" y="687703"/>
                </a:lnTo>
                <a:lnTo>
                  <a:pt x="3355169" y="689269"/>
                </a:lnTo>
                <a:lnTo>
                  <a:pt x="3362277" y="690802"/>
                </a:lnTo>
                <a:lnTo>
                  <a:pt x="3369386" y="692302"/>
                </a:lnTo>
                <a:lnTo>
                  <a:pt x="3376494" y="693770"/>
                </a:lnTo>
                <a:lnTo>
                  <a:pt x="3383603" y="695207"/>
                </a:lnTo>
                <a:lnTo>
                  <a:pt x="3390711" y="696612"/>
                </a:lnTo>
                <a:lnTo>
                  <a:pt x="3397819" y="697986"/>
                </a:lnTo>
                <a:lnTo>
                  <a:pt x="3404928" y="699330"/>
                </a:lnTo>
                <a:lnTo>
                  <a:pt x="3412036" y="700644"/>
                </a:lnTo>
                <a:lnTo>
                  <a:pt x="3419145" y="701928"/>
                </a:lnTo>
                <a:lnTo>
                  <a:pt x="3426253" y="703184"/>
                </a:lnTo>
                <a:lnTo>
                  <a:pt x="3433361" y="704410"/>
                </a:lnTo>
                <a:lnTo>
                  <a:pt x="3440470" y="705609"/>
                </a:lnTo>
                <a:lnTo>
                  <a:pt x="3447578" y="706780"/>
                </a:lnTo>
                <a:lnTo>
                  <a:pt x="3454687" y="707924"/>
                </a:lnTo>
                <a:lnTo>
                  <a:pt x="3461795" y="709042"/>
                </a:lnTo>
                <a:lnTo>
                  <a:pt x="3468904" y="710132"/>
                </a:lnTo>
                <a:lnTo>
                  <a:pt x="3476012" y="711198"/>
                </a:lnTo>
                <a:lnTo>
                  <a:pt x="3483120" y="712237"/>
                </a:lnTo>
                <a:lnTo>
                  <a:pt x="3490229" y="713252"/>
                </a:lnTo>
                <a:lnTo>
                  <a:pt x="3497337" y="714242"/>
                </a:lnTo>
                <a:lnTo>
                  <a:pt x="3504446" y="715208"/>
                </a:lnTo>
                <a:lnTo>
                  <a:pt x="3511554" y="716151"/>
                </a:lnTo>
                <a:lnTo>
                  <a:pt x="3518662" y="717070"/>
                </a:lnTo>
                <a:lnTo>
                  <a:pt x="3525771" y="717966"/>
                </a:lnTo>
                <a:lnTo>
                  <a:pt x="3532879" y="718840"/>
                </a:lnTo>
                <a:lnTo>
                  <a:pt x="3539988" y="719692"/>
                </a:lnTo>
                <a:lnTo>
                  <a:pt x="3547096" y="720523"/>
                </a:lnTo>
                <a:lnTo>
                  <a:pt x="3554204" y="721332"/>
                </a:lnTo>
                <a:lnTo>
                  <a:pt x="3561313" y="722121"/>
                </a:lnTo>
                <a:lnTo>
                  <a:pt x="3568421" y="722890"/>
                </a:lnTo>
                <a:lnTo>
                  <a:pt x="3575530" y="723638"/>
                </a:lnTo>
                <a:lnTo>
                  <a:pt x="3582638" y="724367"/>
                </a:lnTo>
                <a:lnTo>
                  <a:pt x="3589746" y="725077"/>
                </a:lnTo>
                <a:lnTo>
                  <a:pt x="3596855" y="725769"/>
                </a:lnTo>
                <a:lnTo>
                  <a:pt x="3603963" y="726442"/>
                </a:lnTo>
                <a:lnTo>
                  <a:pt x="3611072" y="727097"/>
                </a:lnTo>
                <a:lnTo>
                  <a:pt x="3618180" y="727734"/>
                </a:lnTo>
                <a:lnTo>
                  <a:pt x="3625289" y="728354"/>
                </a:lnTo>
                <a:lnTo>
                  <a:pt x="3632397" y="728958"/>
                </a:lnTo>
                <a:lnTo>
                  <a:pt x="3639505" y="729545"/>
                </a:lnTo>
                <a:lnTo>
                  <a:pt x="3646614" y="730116"/>
                </a:lnTo>
                <a:lnTo>
                  <a:pt x="3653722" y="730671"/>
                </a:lnTo>
                <a:lnTo>
                  <a:pt x="3660831" y="731211"/>
                </a:lnTo>
                <a:lnTo>
                  <a:pt x="3667939" y="731736"/>
                </a:lnTo>
                <a:lnTo>
                  <a:pt x="3675047" y="732246"/>
                </a:lnTo>
                <a:lnTo>
                  <a:pt x="3682156" y="732741"/>
                </a:lnTo>
                <a:lnTo>
                  <a:pt x="3689264" y="733223"/>
                </a:lnTo>
                <a:lnTo>
                  <a:pt x="3696373" y="733691"/>
                </a:lnTo>
                <a:lnTo>
                  <a:pt x="3703481" y="734146"/>
                </a:lnTo>
                <a:lnTo>
                  <a:pt x="3710589" y="734587"/>
                </a:lnTo>
                <a:lnTo>
                  <a:pt x="3717698" y="735016"/>
                </a:lnTo>
                <a:lnTo>
                  <a:pt x="3724806" y="735432"/>
                </a:lnTo>
                <a:lnTo>
                  <a:pt x="3731915" y="735836"/>
                </a:lnTo>
                <a:lnTo>
                  <a:pt x="3739023" y="736228"/>
                </a:lnTo>
                <a:lnTo>
                  <a:pt x="3746132" y="736609"/>
                </a:lnTo>
                <a:lnTo>
                  <a:pt x="3753240" y="736978"/>
                </a:lnTo>
                <a:lnTo>
                  <a:pt x="3760348" y="737336"/>
                </a:lnTo>
                <a:lnTo>
                  <a:pt x="3767457" y="737684"/>
                </a:lnTo>
                <a:lnTo>
                  <a:pt x="3774565" y="738021"/>
                </a:lnTo>
                <a:lnTo>
                  <a:pt x="3781674" y="738348"/>
                </a:lnTo>
                <a:lnTo>
                  <a:pt x="3788782" y="738664"/>
                </a:lnTo>
                <a:lnTo>
                  <a:pt x="3795890" y="738972"/>
                </a:lnTo>
                <a:lnTo>
                  <a:pt x="3802999" y="739269"/>
                </a:lnTo>
                <a:lnTo>
                  <a:pt x="3810107" y="739558"/>
                </a:lnTo>
                <a:lnTo>
                  <a:pt x="3817216" y="739838"/>
                </a:lnTo>
                <a:lnTo>
                  <a:pt x="3824324" y="740108"/>
                </a:lnTo>
                <a:lnTo>
                  <a:pt x="3831432" y="740371"/>
                </a:lnTo>
                <a:lnTo>
                  <a:pt x="3838541" y="740625"/>
                </a:lnTo>
                <a:lnTo>
                  <a:pt x="3845649" y="740871"/>
                </a:lnTo>
                <a:lnTo>
                  <a:pt x="3852758" y="741109"/>
                </a:lnTo>
                <a:lnTo>
                  <a:pt x="3859866" y="741340"/>
                </a:lnTo>
                <a:lnTo>
                  <a:pt x="3866974" y="741563"/>
                </a:lnTo>
                <a:lnTo>
                  <a:pt x="3874083" y="741779"/>
                </a:lnTo>
                <a:lnTo>
                  <a:pt x="3881191" y="741988"/>
                </a:lnTo>
                <a:lnTo>
                  <a:pt x="3888300" y="742191"/>
                </a:lnTo>
                <a:lnTo>
                  <a:pt x="3895408" y="742386"/>
                </a:lnTo>
                <a:lnTo>
                  <a:pt x="3902517" y="742576"/>
                </a:lnTo>
                <a:lnTo>
                  <a:pt x="3909625" y="742759"/>
                </a:lnTo>
                <a:lnTo>
                  <a:pt x="3916733" y="742936"/>
                </a:lnTo>
                <a:lnTo>
                  <a:pt x="3923842" y="743107"/>
                </a:lnTo>
                <a:lnTo>
                  <a:pt x="3930950" y="743272"/>
                </a:lnTo>
                <a:lnTo>
                  <a:pt x="3938059" y="743432"/>
                </a:lnTo>
                <a:lnTo>
                  <a:pt x="3945167" y="743586"/>
                </a:lnTo>
                <a:lnTo>
                  <a:pt x="3952275" y="743735"/>
                </a:lnTo>
                <a:lnTo>
                  <a:pt x="3959384" y="743880"/>
                </a:lnTo>
                <a:lnTo>
                  <a:pt x="3966492" y="744019"/>
                </a:lnTo>
                <a:lnTo>
                  <a:pt x="3973601" y="744153"/>
                </a:lnTo>
                <a:lnTo>
                  <a:pt x="3980709" y="744283"/>
                </a:lnTo>
                <a:lnTo>
                  <a:pt x="3987817" y="744408"/>
                </a:lnTo>
                <a:lnTo>
                  <a:pt x="3994926" y="744529"/>
                </a:lnTo>
                <a:lnTo>
                  <a:pt x="4002034" y="744646"/>
                </a:lnTo>
                <a:lnTo>
                  <a:pt x="4009143" y="744759"/>
                </a:lnTo>
                <a:lnTo>
                  <a:pt x="4016251" y="744867"/>
                </a:lnTo>
                <a:lnTo>
                  <a:pt x="4023360" y="744972"/>
                </a:lnTo>
                <a:lnTo>
                  <a:pt x="4030468" y="745073"/>
                </a:lnTo>
                <a:lnTo>
                  <a:pt x="4037576" y="745171"/>
                </a:lnTo>
                <a:lnTo>
                  <a:pt x="4044685" y="745265"/>
                </a:lnTo>
                <a:lnTo>
                  <a:pt x="4051793" y="745356"/>
                </a:lnTo>
                <a:lnTo>
                  <a:pt x="4058902" y="745443"/>
                </a:lnTo>
                <a:lnTo>
                  <a:pt x="4066010" y="745528"/>
                </a:lnTo>
                <a:lnTo>
                  <a:pt x="4073118" y="745609"/>
                </a:lnTo>
                <a:lnTo>
                  <a:pt x="4080227" y="745687"/>
                </a:lnTo>
                <a:lnTo>
                  <a:pt x="4087335" y="745762"/>
                </a:lnTo>
                <a:lnTo>
                  <a:pt x="4094444" y="745835"/>
                </a:lnTo>
                <a:lnTo>
                  <a:pt x="4101552" y="745905"/>
                </a:lnTo>
                <a:lnTo>
                  <a:pt x="4108660" y="745972"/>
                </a:lnTo>
                <a:lnTo>
                  <a:pt x="4115769" y="746037"/>
                </a:lnTo>
                <a:lnTo>
                  <a:pt x="4122877" y="746099"/>
                </a:lnTo>
                <a:lnTo>
                  <a:pt x="4129986" y="746160"/>
                </a:lnTo>
                <a:lnTo>
                  <a:pt x="4137094" y="746217"/>
                </a:lnTo>
                <a:lnTo>
                  <a:pt x="4144202" y="746273"/>
                </a:lnTo>
                <a:lnTo>
                  <a:pt x="4151311" y="746327"/>
                </a:lnTo>
                <a:lnTo>
                  <a:pt x="4158419" y="746378"/>
                </a:lnTo>
                <a:lnTo>
                  <a:pt x="4165528" y="746428"/>
                </a:lnTo>
                <a:lnTo>
                  <a:pt x="4172636" y="746475"/>
                </a:lnTo>
                <a:lnTo>
                  <a:pt x="4179745" y="746521"/>
                </a:lnTo>
                <a:lnTo>
                  <a:pt x="4186853" y="746565"/>
                </a:lnTo>
                <a:lnTo>
                  <a:pt x="4193961" y="746607"/>
                </a:lnTo>
                <a:lnTo>
                  <a:pt x="4201070" y="746648"/>
                </a:lnTo>
                <a:lnTo>
                  <a:pt x="4208178" y="746687"/>
                </a:lnTo>
                <a:lnTo>
                  <a:pt x="4215287" y="746725"/>
                </a:lnTo>
                <a:lnTo>
                  <a:pt x="4222395" y="746761"/>
                </a:lnTo>
                <a:lnTo>
                  <a:pt x="4229503" y="746795"/>
                </a:lnTo>
                <a:lnTo>
                  <a:pt x="4236612" y="746829"/>
                </a:lnTo>
                <a:lnTo>
                  <a:pt x="4243720" y="746861"/>
                </a:lnTo>
                <a:lnTo>
                  <a:pt x="4250829" y="746891"/>
                </a:lnTo>
                <a:lnTo>
                  <a:pt x="4257937" y="746921"/>
                </a:lnTo>
                <a:lnTo>
                  <a:pt x="4265045" y="746949"/>
                </a:lnTo>
                <a:lnTo>
                  <a:pt x="4272154" y="746976"/>
                </a:lnTo>
                <a:lnTo>
                  <a:pt x="4279262" y="747002"/>
                </a:lnTo>
                <a:lnTo>
                  <a:pt x="4286371" y="747027"/>
                </a:lnTo>
                <a:lnTo>
                  <a:pt x="4293479" y="747051"/>
                </a:lnTo>
                <a:lnTo>
                  <a:pt x="4300587" y="747074"/>
                </a:lnTo>
                <a:lnTo>
                  <a:pt x="4307696" y="747096"/>
                </a:lnTo>
                <a:lnTo>
                  <a:pt x="4314804" y="747117"/>
                </a:lnTo>
                <a:lnTo>
                  <a:pt x="4321913" y="747137"/>
                </a:lnTo>
                <a:lnTo>
                  <a:pt x="4329021" y="747157"/>
                </a:lnTo>
                <a:lnTo>
                  <a:pt x="4336130" y="747175"/>
                </a:lnTo>
                <a:lnTo>
                  <a:pt x="4343238" y="747193"/>
                </a:lnTo>
                <a:lnTo>
                  <a:pt x="4350346" y="747210"/>
                </a:lnTo>
                <a:lnTo>
                  <a:pt x="4357455" y="747227"/>
                </a:lnTo>
                <a:lnTo>
                  <a:pt x="4364563" y="747242"/>
                </a:lnTo>
                <a:lnTo>
                  <a:pt x="4371672" y="747257"/>
                </a:lnTo>
                <a:lnTo>
                  <a:pt x="4378780" y="747272"/>
                </a:lnTo>
                <a:lnTo>
                  <a:pt x="4385888" y="747286"/>
                </a:lnTo>
                <a:lnTo>
                  <a:pt x="4392997" y="747299"/>
                </a:lnTo>
                <a:lnTo>
                  <a:pt x="4400105" y="747311"/>
                </a:lnTo>
                <a:lnTo>
                  <a:pt x="4407214" y="747323"/>
                </a:lnTo>
                <a:lnTo>
                  <a:pt x="4414322" y="747335"/>
                </a:lnTo>
                <a:lnTo>
                  <a:pt x="4421430" y="747346"/>
                </a:lnTo>
                <a:lnTo>
                  <a:pt x="4428539" y="747357"/>
                </a:lnTo>
                <a:lnTo>
                  <a:pt x="4435647" y="747367"/>
                </a:lnTo>
                <a:lnTo>
                  <a:pt x="4442756" y="747376"/>
                </a:lnTo>
                <a:lnTo>
                  <a:pt x="4449864" y="747386"/>
                </a:lnTo>
                <a:lnTo>
                  <a:pt x="4456973" y="747394"/>
                </a:lnTo>
                <a:lnTo>
                  <a:pt x="4464081" y="747403"/>
                </a:lnTo>
                <a:lnTo>
                  <a:pt x="4471189" y="747411"/>
                </a:lnTo>
                <a:lnTo>
                  <a:pt x="4478298" y="747419"/>
                </a:lnTo>
                <a:lnTo>
                  <a:pt x="4485406" y="747426"/>
                </a:lnTo>
                <a:lnTo>
                  <a:pt x="4492515" y="747433"/>
                </a:lnTo>
                <a:lnTo>
                  <a:pt x="4499623" y="747440"/>
                </a:lnTo>
                <a:lnTo>
                  <a:pt x="4506731" y="747446"/>
                </a:lnTo>
                <a:lnTo>
                  <a:pt x="4513840" y="747452"/>
                </a:lnTo>
                <a:lnTo>
                  <a:pt x="4520948" y="747458"/>
                </a:lnTo>
                <a:lnTo>
                  <a:pt x="4528057" y="747464"/>
                </a:lnTo>
                <a:lnTo>
                  <a:pt x="4535165" y="747469"/>
                </a:lnTo>
                <a:lnTo>
                  <a:pt x="4542273" y="747474"/>
                </a:lnTo>
                <a:lnTo>
                  <a:pt x="4549382" y="747479"/>
                </a:lnTo>
                <a:lnTo>
                  <a:pt x="4556490" y="747484"/>
                </a:lnTo>
                <a:lnTo>
                  <a:pt x="4563599" y="747488"/>
                </a:lnTo>
                <a:lnTo>
                  <a:pt x="4570707" y="747492"/>
                </a:lnTo>
                <a:lnTo>
                  <a:pt x="4577815" y="747496"/>
                </a:lnTo>
                <a:lnTo>
                  <a:pt x="4584924" y="747500"/>
                </a:lnTo>
                <a:lnTo>
                  <a:pt x="4592032" y="747504"/>
                </a:lnTo>
                <a:lnTo>
                  <a:pt x="4599141" y="747507"/>
                </a:lnTo>
                <a:lnTo>
                  <a:pt x="4606249" y="747511"/>
                </a:lnTo>
                <a:lnTo>
                  <a:pt x="4613358" y="747514"/>
                </a:lnTo>
                <a:lnTo>
                  <a:pt x="4620466" y="747517"/>
                </a:lnTo>
                <a:lnTo>
                  <a:pt x="4627574" y="747520"/>
                </a:lnTo>
                <a:lnTo>
                  <a:pt x="4634683" y="747522"/>
                </a:lnTo>
                <a:lnTo>
                  <a:pt x="4641791" y="747525"/>
                </a:lnTo>
                <a:lnTo>
                  <a:pt x="4648900" y="747527"/>
                </a:lnTo>
                <a:lnTo>
                  <a:pt x="4656008" y="747530"/>
                </a:lnTo>
                <a:lnTo>
                  <a:pt x="4663116" y="747532"/>
                </a:lnTo>
                <a:lnTo>
                  <a:pt x="4670225" y="747534"/>
                </a:lnTo>
                <a:lnTo>
                  <a:pt x="4677333" y="747536"/>
                </a:lnTo>
                <a:lnTo>
                  <a:pt x="4684442" y="747538"/>
                </a:lnTo>
                <a:lnTo>
                  <a:pt x="4691550" y="747540"/>
                </a:lnTo>
                <a:lnTo>
                  <a:pt x="4698658" y="747542"/>
                </a:lnTo>
                <a:lnTo>
                  <a:pt x="4705767" y="747543"/>
                </a:lnTo>
                <a:lnTo>
                  <a:pt x="4712875" y="747545"/>
                </a:lnTo>
                <a:lnTo>
                  <a:pt x="4719984" y="747547"/>
                </a:lnTo>
                <a:lnTo>
                  <a:pt x="4727092" y="747548"/>
                </a:lnTo>
                <a:lnTo>
                  <a:pt x="4734200" y="747549"/>
                </a:lnTo>
                <a:lnTo>
                  <a:pt x="4741309" y="747551"/>
                </a:lnTo>
                <a:lnTo>
                  <a:pt x="4748417" y="747552"/>
                </a:lnTo>
                <a:lnTo>
                  <a:pt x="4755526" y="747553"/>
                </a:lnTo>
                <a:lnTo>
                  <a:pt x="4762634" y="747554"/>
                </a:lnTo>
                <a:lnTo>
                  <a:pt x="4769743" y="747555"/>
                </a:lnTo>
                <a:lnTo>
                  <a:pt x="4776851" y="747556"/>
                </a:lnTo>
                <a:lnTo>
                  <a:pt x="4783959" y="747557"/>
                </a:lnTo>
                <a:lnTo>
                  <a:pt x="4791068" y="747558"/>
                </a:lnTo>
                <a:lnTo>
                  <a:pt x="4798176" y="747559"/>
                </a:lnTo>
                <a:lnTo>
                  <a:pt x="4805285" y="747560"/>
                </a:lnTo>
                <a:lnTo>
                  <a:pt x="4812393" y="747560"/>
                </a:lnTo>
                <a:lnTo>
                  <a:pt x="4819501" y="747561"/>
                </a:lnTo>
                <a:lnTo>
                  <a:pt x="4826610" y="747562"/>
                </a:lnTo>
                <a:lnTo>
                  <a:pt x="4833718" y="747563"/>
                </a:lnTo>
                <a:lnTo>
                  <a:pt x="4840827" y="747563"/>
                </a:lnTo>
                <a:lnTo>
                  <a:pt x="4847935" y="747564"/>
                </a:lnTo>
                <a:lnTo>
                  <a:pt x="4855043" y="747564"/>
                </a:lnTo>
                <a:lnTo>
                  <a:pt x="4862152" y="747565"/>
                </a:lnTo>
                <a:lnTo>
                  <a:pt x="4869260" y="747565"/>
                </a:lnTo>
                <a:lnTo>
                  <a:pt x="4876369" y="747566"/>
                </a:lnTo>
                <a:lnTo>
                  <a:pt x="4883477" y="747566"/>
                </a:lnTo>
                <a:lnTo>
                  <a:pt x="4890586" y="747567"/>
                </a:lnTo>
                <a:lnTo>
                  <a:pt x="4897694" y="747567"/>
                </a:lnTo>
                <a:lnTo>
                  <a:pt x="4904802" y="747568"/>
                </a:lnTo>
                <a:lnTo>
                  <a:pt x="4911911" y="747568"/>
                </a:lnTo>
                <a:lnTo>
                  <a:pt x="4919019" y="747568"/>
                </a:lnTo>
                <a:lnTo>
                  <a:pt x="4926128" y="747569"/>
                </a:lnTo>
                <a:lnTo>
                  <a:pt x="4933236" y="747569"/>
                </a:lnTo>
                <a:lnTo>
                  <a:pt x="4940344" y="747569"/>
                </a:lnTo>
                <a:lnTo>
                  <a:pt x="4947453" y="747569"/>
                </a:lnTo>
                <a:lnTo>
                  <a:pt x="4954561" y="747570"/>
                </a:lnTo>
                <a:lnTo>
                  <a:pt x="4961670" y="747570"/>
                </a:lnTo>
                <a:lnTo>
                  <a:pt x="4968778" y="747570"/>
                </a:lnTo>
                <a:lnTo>
                  <a:pt x="4975886" y="747570"/>
                </a:lnTo>
                <a:lnTo>
                  <a:pt x="4982995" y="747571"/>
                </a:lnTo>
                <a:lnTo>
                  <a:pt x="4990103" y="747571"/>
                </a:lnTo>
                <a:lnTo>
                  <a:pt x="4997212" y="747571"/>
                </a:lnTo>
                <a:lnTo>
                  <a:pt x="5004320" y="747571"/>
                </a:lnTo>
                <a:lnTo>
                  <a:pt x="5011428" y="747571"/>
                </a:lnTo>
                <a:lnTo>
                  <a:pt x="5018537" y="747572"/>
                </a:lnTo>
                <a:lnTo>
                  <a:pt x="5025645" y="747572"/>
                </a:lnTo>
                <a:lnTo>
                  <a:pt x="5032754" y="747572"/>
                </a:lnTo>
                <a:lnTo>
                  <a:pt x="5039862" y="747572"/>
                </a:lnTo>
                <a:lnTo>
                  <a:pt x="5046971" y="747572"/>
                </a:lnTo>
                <a:lnTo>
                  <a:pt x="5054079" y="747572"/>
                </a:lnTo>
                <a:lnTo>
                  <a:pt x="5061187" y="747572"/>
                </a:lnTo>
                <a:lnTo>
                  <a:pt x="5068296" y="747572"/>
                </a:lnTo>
                <a:lnTo>
                  <a:pt x="5075404" y="747573"/>
                </a:lnTo>
                <a:lnTo>
                  <a:pt x="5082513" y="747573"/>
                </a:lnTo>
                <a:lnTo>
                  <a:pt x="5089621" y="747573"/>
                </a:lnTo>
                <a:lnTo>
                  <a:pt x="5096729" y="747573"/>
                </a:lnTo>
                <a:lnTo>
                  <a:pt x="5103838" y="747573"/>
                </a:lnTo>
                <a:lnTo>
                  <a:pt x="5110946" y="747573"/>
                </a:lnTo>
                <a:lnTo>
                  <a:pt x="5118055" y="747573"/>
                </a:lnTo>
                <a:lnTo>
                  <a:pt x="5125163" y="747573"/>
                </a:lnTo>
                <a:lnTo>
                  <a:pt x="5132271" y="747573"/>
                </a:lnTo>
                <a:lnTo>
                  <a:pt x="5139380" y="747573"/>
                </a:lnTo>
                <a:lnTo>
                  <a:pt x="5146488" y="747573"/>
                </a:lnTo>
                <a:lnTo>
                  <a:pt x="5153597" y="747573"/>
                </a:lnTo>
                <a:lnTo>
                  <a:pt x="5160705" y="747573"/>
                </a:lnTo>
                <a:lnTo>
                  <a:pt x="5167813" y="747573"/>
                </a:lnTo>
                <a:lnTo>
                  <a:pt x="5174922" y="747573"/>
                </a:lnTo>
                <a:lnTo>
                  <a:pt x="5182030" y="747574"/>
                </a:lnTo>
                <a:lnTo>
                  <a:pt x="5189139" y="747574"/>
                </a:lnTo>
                <a:lnTo>
                  <a:pt x="5196247" y="747574"/>
                </a:lnTo>
                <a:lnTo>
                  <a:pt x="5203356" y="747574"/>
                </a:lnTo>
                <a:lnTo>
                  <a:pt x="5210464" y="747574"/>
                </a:lnTo>
                <a:lnTo>
                  <a:pt x="5217572" y="747574"/>
                </a:lnTo>
                <a:lnTo>
                  <a:pt x="5224681" y="747574"/>
                </a:lnTo>
                <a:lnTo>
                  <a:pt x="5231789" y="747574"/>
                </a:lnTo>
                <a:lnTo>
                  <a:pt x="5238898" y="747574"/>
                </a:lnTo>
                <a:lnTo>
                  <a:pt x="5246006" y="747574"/>
                </a:lnTo>
                <a:lnTo>
                  <a:pt x="5253114" y="747574"/>
                </a:lnTo>
                <a:lnTo>
                  <a:pt x="5260223" y="747574"/>
                </a:lnTo>
                <a:lnTo>
                  <a:pt x="5267331" y="747574"/>
                </a:lnTo>
                <a:lnTo>
                  <a:pt x="5274440" y="747574"/>
                </a:lnTo>
                <a:lnTo>
                  <a:pt x="5281548" y="747574"/>
                </a:lnTo>
                <a:lnTo>
                  <a:pt x="5288656" y="747574"/>
                </a:lnTo>
                <a:lnTo>
                  <a:pt x="5295765" y="747574"/>
                </a:lnTo>
                <a:lnTo>
                  <a:pt x="5302873" y="747574"/>
                </a:lnTo>
                <a:lnTo>
                  <a:pt x="5309982" y="747574"/>
                </a:lnTo>
                <a:lnTo>
                  <a:pt x="5317090" y="747574"/>
                </a:lnTo>
                <a:lnTo>
                  <a:pt x="5324199" y="747574"/>
                </a:lnTo>
                <a:lnTo>
                  <a:pt x="5331307" y="747574"/>
                </a:lnTo>
                <a:lnTo>
                  <a:pt x="5338415" y="747574"/>
                </a:lnTo>
                <a:lnTo>
                  <a:pt x="5345524" y="747574"/>
                </a:lnTo>
                <a:lnTo>
                  <a:pt x="5352632" y="747574"/>
                </a:lnTo>
                <a:lnTo>
                  <a:pt x="5359741" y="747574"/>
                </a:lnTo>
                <a:lnTo>
                  <a:pt x="5366849" y="747574"/>
                </a:lnTo>
                <a:lnTo>
                  <a:pt x="5373957" y="747574"/>
                </a:lnTo>
                <a:lnTo>
                  <a:pt x="5381066" y="747574"/>
                </a:lnTo>
                <a:lnTo>
                  <a:pt x="5388174" y="747574"/>
                </a:lnTo>
                <a:lnTo>
                  <a:pt x="5395283" y="747574"/>
                </a:lnTo>
                <a:lnTo>
                  <a:pt x="5402391" y="747574"/>
                </a:lnTo>
                <a:lnTo>
                  <a:pt x="5409499" y="747574"/>
                </a:lnTo>
                <a:lnTo>
                  <a:pt x="5416608" y="747574"/>
                </a:lnTo>
                <a:lnTo>
                  <a:pt x="5423716" y="747574"/>
                </a:lnTo>
                <a:lnTo>
                  <a:pt x="5430825" y="747574"/>
                </a:lnTo>
                <a:lnTo>
                  <a:pt x="5437933" y="747574"/>
                </a:lnTo>
                <a:lnTo>
                  <a:pt x="5445041" y="747574"/>
                </a:lnTo>
                <a:lnTo>
                  <a:pt x="5452150" y="747574"/>
                </a:lnTo>
                <a:lnTo>
                  <a:pt x="5459258" y="747574"/>
                </a:lnTo>
                <a:lnTo>
                  <a:pt x="5466367" y="747574"/>
                </a:lnTo>
                <a:lnTo>
                  <a:pt x="5473475" y="747574"/>
                </a:lnTo>
                <a:lnTo>
                  <a:pt x="5480584" y="747574"/>
                </a:lnTo>
                <a:lnTo>
                  <a:pt x="5487692" y="747574"/>
                </a:lnTo>
                <a:lnTo>
                  <a:pt x="5494800" y="747574"/>
                </a:lnTo>
                <a:lnTo>
                  <a:pt x="5501909" y="747574"/>
                </a:lnTo>
                <a:lnTo>
                  <a:pt x="5509017" y="747574"/>
                </a:lnTo>
                <a:lnTo>
                  <a:pt x="5516126" y="747574"/>
                </a:lnTo>
                <a:lnTo>
                  <a:pt x="5523234" y="747574"/>
                </a:lnTo>
                <a:lnTo>
                  <a:pt x="5530342" y="747574"/>
                </a:lnTo>
                <a:lnTo>
                  <a:pt x="5537451" y="747574"/>
                </a:lnTo>
                <a:lnTo>
                  <a:pt x="5544559" y="747574"/>
                </a:lnTo>
                <a:lnTo>
                  <a:pt x="5551668" y="747574"/>
                </a:lnTo>
                <a:lnTo>
                  <a:pt x="5558776" y="747574"/>
                </a:lnTo>
                <a:lnTo>
                  <a:pt x="5565884" y="747574"/>
                </a:lnTo>
                <a:lnTo>
                  <a:pt x="5572993" y="747574"/>
                </a:lnTo>
                <a:lnTo>
                  <a:pt x="5580101" y="747574"/>
                </a:lnTo>
                <a:lnTo>
                  <a:pt x="5587210" y="747574"/>
                </a:lnTo>
                <a:lnTo>
                  <a:pt x="5594318" y="747574"/>
                </a:lnTo>
                <a:lnTo>
                  <a:pt x="5601426" y="747574"/>
                </a:lnTo>
                <a:lnTo>
                  <a:pt x="5608535" y="747574"/>
                </a:lnTo>
                <a:lnTo>
                  <a:pt x="5615643" y="747574"/>
                </a:lnTo>
                <a:lnTo>
                  <a:pt x="5622752" y="747574"/>
                </a:lnTo>
                <a:lnTo>
                  <a:pt x="5629860" y="747574"/>
                </a:lnTo>
                <a:lnTo>
                  <a:pt x="5636969" y="747574"/>
                </a:lnTo>
                <a:lnTo>
                  <a:pt x="5644077" y="747574"/>
                </a:lnTo>
                <a:lnTo>
                  <a:pt x="5651185" y="747574"/>
                </a:lnTo>
                <a:lnTo>
                  <a:pt x="5658294" y="747574"/>
                </a:lnTo>
                <a:lnTo>
                  <a:pt x="5665402" y="747574"/>
                </a:lnTo>
                <a:lnTo>
                  <a:pt x="5672511" y="747574"/>
                </a:lnTo>
                <a:lnTo>
                  <a:pt x="5679619" y="747574"/>
                </a:lnTo>
                <a:lnTo>
                  <a:pt x="5686727" y="747574"/>
                </a:lnTo>
                <a:lnTo>
                  <a:pt x="5693836" y="747574"/>
                </a:lnTo>
                <a:lnTo>
                  <a:pt x="5700944" y="747574"/>
                </a:lnTo>
                <a:lnTo>
                  <a:pt x="5708053" y="747574"/>
                </a:lnTo>
                <a:lnTo>
                  <a:pt x="5715161" y="747574"/>
                </a:lnTo>
                <a:lnTo>
                  <a:pt x="5722269" y="747574"/>
                </a:lnTo>
                <a:lnTo>
                  <a:pt x="5729378" y="747574"/>
                </a:lnTo>
                <a:lnTo>
                  <a:pt x="5736486" y="747574"/>
                </a:lnTo>
                <a:lnTo>
                  <a:pt x="5743595" y="747574"/>
                </a:lnTo>
                <a:lnTo>
                  <a:pt x="5750703" y="747574"/>
                </a:lnTo>
                <a:lnTo>
                  <a:pt x="5757812" y="747574"/>
                </a:lnTo>
                <a:lnTo>
                  <a:pt x="5764920" y="747574"/>
                </a:lnTo>
                <a:lnTo>
                  <a:pt x="5772028" y="747574"/>
                </a:lnTo>
                <a:lnTo>
                  <a:pt x="5779137" y="747574"/>
                </a:lnTo>
                <a:lnTo>
                  <a:pt x="5786245" y="747574"/>
                </a:lnTo>
                <a:lnTo>
                  <a:pt x="5793354" y="747574"/>
                </a:lnTo>
                <a:lnTo>
                  <a:pt x="5800462" y="747574"/>
                </a:lnTo>
                <a:lnTo>
                  <a:pt x="5807570" y="747574"/>
                </a:lnTo>
                <a:lnTo>
                  <a:pt x="5814679" y="747574"/>
                </a:lnTo>
                <a:lnTo>
                  <a:pt x="5821787" y="747574"/>
                </a:lnTo>
                <a:lnTo>
                  <a:pt x="5828896" y="747574"/>
                </a:lnTo>
                <a:lnTo>
                  <a:pt x="5836004" y="747574"/>
                </a:lnTo>
                <a:lnTo>
                  <a:pt x="5843112" y="747574"/>
                </a:lnTo>
                <a:lnTo>
                  <a:pt x="5850221" y="747574"/>
                </a:lnTo>
                <a:lnTo>
                  <a:pt x="5857329" y="747574"/>
                </a:lnTo>
                <a:lnTo>
                  <a:pt x="5864438" y="747574"/>
                </a:lnTo>
                <a:lnTo>
                  <a:pt x="5871546" y="747574"/>
                </a:lnTo>
                <a:lnTo>
                  <a:pt x="5878654" y="747574"/>
                </a:lnTo>
                <a:lnTo>
                  <a:pt x="5885763" y="747574"/>
                </a:lnTo>
                <a:lnTo>
                  <a:pt x="5892871" y="747574"/>
                </a:lnTo>
                <a:lnTo>
                  <a:pt x="5899980" y="747574"/>
                </a:lnTo>
                <a:lnTo>
                  <a:pt x="5907088" y="747574"/>
                </a:lnTo>
                <a:lnTo>
                  <a:pt x="5914197" y="747574"/>
                </a:lnTo>
                <a:lnTo>
                  <a:pt x="5921305" y="747574"/>
                </a:lnTo>
                <a:lnTo>
                  <a:pt x="5928413" y="747574"/>
                </a:lnTo>
                <a:lnTo>
                  <a:pt x="5935522" y="747574"/>
                </a:lnTo>
                <a:lnTo>
                  <a:pt x="5942630" y="747574"/>
                </a:lnTo>
                <a:lnTo>
                  <a:pt x="5949739" y="747574"/>
                </a:lnTo>
                <a:lnTo>
                  <a:pt x="5956847" y="747574"/>
                </a:lnTo>
                <a:lnTo>
                  <a:pt x="5963955" y="747574"/>
                </a:lnTo>
                <a:lnTo>
                  <a:pt x="5971064" y="747574"/>
                </a:lnTo>
                <a:lnTo>
                  <a:pt x="5978172" y="747574"/>
                </a:lnTo>
                <a:lnTo>
                  <a:pt x="5985281" y="747574"/>
                </a:lnTo>
                <a:lnTo>
                  <a:pt x="5992389" y="747574"/>
                </a:lnTo>
                <a:lnTo>
                  <a:pt x="5999497" y="747574"/>
                </a:lnTo>
                <a:lnTo>
                  <a:pt x="6006606" y="747574"/>
                </a:lnTo>
                <a:lnTo>
                  <a:pt x="6013714" y="747574"/>
                </a:lnTo>
                <a:lnTo>
                  <a:pt x="6020823" y="747574"/>
                </a:lnTo>
                <a:lnTo>
                  <a:pt x="6027931" y="747574"/>
                </a:lnTo>
                <a:lnTo>
                  <a:pt x="6035040" y="747574"/>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3D96EB77-EAE0-E25E-9508-B288F78D674B}"/>
              </a:ext>
            </a:extLst>
          </p:cNvPr>
          <p:cNvCxnSpPr/>
          <p:nvPr/>
        </p:nvCxnSpPr>
        <p:spPr>
          <a:xfrm>
            <a:off x="2716866" y="2377440"/>
            <a:ext cx="0" cy="233172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63734044-4728-EEB9-F63B-0E14C3F6FAF3}"/>
              </a:ext>
            </a:extLst>
          </p:cNvPr>
          <p:cNvSpPr/>
          <p:nvPr/>
        </p:nvSpPr>
        <p:spPr>
          <a:xfrm>
            <a:off x="2017673" y="2463953"/>
            <a:ext cx="118872" cy="11887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a:extLst>
              <a:ext uri="{FF2B5EF4-FFF2-40B4-BE49-F238E27FC236}">
                <a16:creationId xmlns:a16="http://schemas.microsoft.com/office/drawing/2014/main" id="{C7C7BED8-D398-FF28-DADF-88513ADDF718}"/>
              </a:ext>
            </a:extLst>
          </p:cNvPr>
          <p:cNvSpPr/>
          <p:nvPr/>
        </p:nvSpPr>
        <p:spPr>
          <a:xfrm>
            <a:off x="2657430" y="337193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a:extLst>
              <a:ext uri="{FF2B5EF4-FFF2-40B4-BE49-F238E27FC236}">
                <a16:creationId xmlns:a16="http://schemas.microsoft.com/office/drawing/2014/main" id="{A7DD86F0-6D94-1007-DCEB-D6FCA2EC8B46}"/>
              </a:ext>
            </a:extLst>
          </p:cNvPr>
          <p:cNvSpPr/>
          <p:nvPr/>
        </p:nvSpPr>
        <p:spPr>
          <a:xfrm>
            <a:off x="2799598" y="3795353"/>
            <a:ext cx="118872" cy="118872"/>
          </a:xfrm>
          <a:prstGeom prst="ellipse">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7" name="Connector 36">
            <a:extLst>
              <a:ext uri="{FF2B5EF4-FFF2-40B4-BE49-F238E27FC236}">
                <a16:creationId xmlns:a16="http://schemas.microsoft.com/office/drawing/2014/main" id="{0116398D-E00B-800E-642F-A8FC9FFBEC57}"/>
              </a:ext>
            </a:extLst>
          </p:cNvPr>
          <p:cNvCxnSpPr/>
          <p:nvPr/>
        </p:nvCxnSpPr>
        <p:spPr>
          <a:xfrm>
            <a:off x="2972898" y="3431367"/>
            <a:ext cx="0" cy="443832"/>
          </a:xfrm>
          <a:prstGeom prst="line">
            <a:avLst/>
          </a:prstGeom>
          <a:ln w="44450">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38" name="Connector 37">
            <a:extLst>
              <a:ext uri="{FF2B5EF4-FFF2-40B4-BE49-F238E27FC236}">
                <a16:creationId xmlns:a16="http://schemas.microsoft.com/office/drawing/2014/main" id="{6DC07E9B-ABF5-693B-C2B4-30F9CC6D35AC}"/>
              </a:ext>
            </a:extLst>
          </p:cNvPr>
          <p:cNvCxnSpPr/>
          <p:nvPr/>
        </p:nvCxnSpPr>
        <p:spPr>
          <a:xfrm>
            <a:off x="2972898" y="3875199"/>
            <a:ext cx="0" cy="727164"/>
          </a:xfrm>
          <a:prstGeom prst="line">
            <a:avLst/>
          </a:prstGeom>
          <a:ln w="44450">
            <a:solidFill>
              <a:srgbClr val="BF9000"/>
            </a:solidFill>
          </a:ln>
        </p:spPr>
        <p:style>
          <a:lnRef idx="2">
            <a:schemeClr val="accent1"/>
          </a:lnRef>
          <a:fillRef idx="0">
            <a:schemeClr val="accent1"/>
          </a:fillRef>
          <a:effectRef idx="1">
            <a:schemeClr val="accent1"/>
          </a:effectRef>
          <a:fontRef idx="minor">
            <a:schemeClr val="tx1"/>
          </a:fontRef>
        </p:style>
      </p:cxnSp>
      <p:cxnSp>
        <p:nvCxnSpPr>
          <p:cNvPr id="39" name="Connector 38">
            <a:extLst>
              <a:ext uri="{FF2B5EF4-FFF2-40B4-BE49-F238E27FC236}">
                <a16:creationId xmlns:a16="http://schemas.microsoft.com/office/drawing/2014/main" id="{96ECECA1-C5D5-4C27-512C-5A22ED0D740E}"/>
              </a:ext>
            </a:extLst>
          </p:cNvPr>
          <p:cNvCxnSpPr/>
          <p:nvPr/>
        </p:nvCxnSpPr>
        <p:spPr>
          <a:xfrm flipV="1">
            <a:off x="3027762" y="3310128"/>
            <a:ext cx="1233342" cy="34315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0" name="Connector 39">
            <a:extLst>
              <a:ext uri="{FF2B5EF4-FFF2-40B4-BE49-F238E27FC236}">
                <a16:creationId xmlns:a16="http://schemas.microsoft.com/office/drawing/2014/main" id="{95F0951E-9FE6-7989-92D8-2DC801AA2F6C}"/>
              </a:ext>
            </a:extLst>
          </p:cNvPr>
          <p:cNvCxnSpPr/>
          <p:nvPr/>
        </p:nvCxnSpPr>
        <p:spPr>
          <a:xfrm flipV="1">
            <a:off x="3027762" y="3813048"/>
            <a:ext cx="1233342" cy="425733"/>
          </a:xfrm>
          <a:prstGeom prst="line">
            <a:avLst/>
          </a:prstGeom>
          <a:ln w="15875">
            <a:solidFill>
              <a:srgbClr val="BF9000"/>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08A92469-F8E8-0A63-3927-756BB5251546}"/>
              </a:ext>
            </a:extLst>
          </p:cNvPr>
          <p:cNvSpPr txBox="1"/>
          <p:nvPr/>
        </p:nvSpPr>
        <p:spPr>
          <a:xfrm>
            <a:off x="4315968" y="3108960"/>
            <a:ext cx="260604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前進波の裾 0.25</a:t>
            </a:r>
          </a:p>
        </p:txBody>
      </p:sp>
      <p:sp>
        <p:nvSpPr>
          <p:cNvPr id="42" name="TextBox 41">
            <a:extLst>
              <a:ext uri="{FF2B5EF4-FFF2-40B4-BE49-F238E27FC236}">
                <a16:creationId xmlns:a16="http://schemas.microsoft.com/office/drawing/2014/main" id="{940B95EE-4AE7-7CF0-8119-F3D84E629D23}"/>
              </a:ext>
            </a:extLst>
          </p:cNvPr>
          <p:cNvSpPr txBox="1"/>
          <p:nvPr/>
        </p:nvSpPr>
        <p:spPr>
          <a:xfrm>
            <a:off x="4315968" y="3611880"/>
            <a:ext cx="2606040" cy="395630"/>
          </a:xfrm>
          <a:prstGeom prst="rect">
            <a:avLst/>
          </a:prstGeom>
          <a:noFill/>
        </p:spPr>
        <p:txBody>
          <a:bodyPr wrap="square" lIns="0" tIns="0" rIns="0" bIns="0" anchor="t">
            <a:spAutoFit/>
          </a:bodyPr>
          <a:lstStyle/>
          <a:p>
            <a:pPr algn="l">
              <a:spcAft>
                <a:spcPts val="0"/>
              </a:spcAft>
            </a:pPr>
            <a:r>
              <a:rPr sz="2200" b="1" dirty="0">
                <a:solidFill>
                  <a:srgbClr val="BF9000"/>
                </a:solidFill>
                <a:latin typeface="Meiryo"/>
                <a:ea typeface="Meiryo"/>
                <a:cs typeface="Meiryo"/>
              </a:rPr>
              <a:t>反射波 0.41</a:t>
            </a:r>
          </a:p>
        </p:txBody>
      </p:sp>
      <p:sp>
        <p:nvSpPr>
          <p:cNvPr id="43" name="TextBox 42">
            <a:extLst>
              <a:ext uri="{FF2B5EF4-FFF2-40B4-BE49-F238E27FC236}">
                <a16:creationId xmlns:a16="http://schemas.microsoft.com/office/drawing/2014/main" id="{06453058-4BDA-63C4-7839-6BD37A8ED562}"/>
              </a:ext>
            </a:extLst>
          </p:cNvPr>
          <p:cNvSpPr txBox="1"/>
          <p:nvPr/>
        </p:nvSpPr>
        <p:spPr>
          <a:xfrm>
            <a:off x="685800" y="4773168"/>
            <a:ext cx="630936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黒＝合成波　破線＝分解した2成分</a:t>
            </a:r>
          </a:p>
        </p:txBody>
      </p:sp>
      <p:sp>
        <p:nvSpPr>
          <p:cNvPr id="44" name="TextBox 43">
            <a:extLst>
              <a:ext uri="{FF2B5EF4-FFF2-40B4-BE49-F238E27FC236}">
                <a16:creationId xmlns:a16="http://schemas.microsoft.com/office/drawing/2014/main" id="{87E43024-B622-89C6-215E-2F033049DB25}"/>
              </a:ext>
            </a:extLst>
          </p:cNvPr>
          <p:cNvSpPr txBox="1"/>
          <p:nvPr/>
        </p:nvSpPr>
        <p:spPr>
          <a:xfrm>
            <a:off x="685800" y="5120640"/>
            <a:ext cx="6309360" cy="395630"/>
          </a:xfrm>
          <a:prstGeom prst="rect">
            <a:avLst/>
          </a:prstGeom>
          <a:noFill/>
        </p:spPr>
        <p:txBody>
          <a:bodyPr wrap="square" lIns="0" tIns="0" rIns="0" bIns="0" anchor="t">
            <a:spAutoFit/>
          </a:bodyPr>
          <a:lstStyle/>
          <a:p>
            <a:pPr algn="l">
              <a:spcAft>
                <a:spcPts val="0"/>
              </a:spcAft>
            </a:pPr>
            <a:r>
              <a:rPr sz="2200" b="1" dirty="0">
                <a:solidFill>
                  <a:srgbClr val="C00000"/>
                </a:solidFill>
                <a:latin typeface="Meiryo"/>
                <a:ea typeface="Meiryo"/>
                <a:cs typeface="Meiryo"/>
              </a:rPr>
              <a:t>従来法は 変曲点の高さをそのまま P2 とする。</a:t>
            </a:r>
          </a:p>
        </p:txBody>
      </p:sp>
      <p:sp>
        <p:nvSpPr>
          <p:cNvPr id="45" name="Rounded Rectangle 44">
            <a:extLst>
              <a:ext uri="{FF2B5EF4-FFF2-40B4-BE49-F238E27FC236}">
                <a16:creationId xmlns:a16="http://schemas.microsoft.com/office/drawing/2014/main" id="{F09FD079-4026-16FC-AA03-656A0A42176C}"/>
              </a:ext>
            </a:extLst>
          </p:cNvPr>
          <p:cNvSpPr/>
          <p:nvPr/>
        </p:nvSpPr>
        <p:spPr>
          <a:xfrm>
            <a:off x="7406640" y="1737360"/>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8EEF86C-F2F1-5BAE-94AD-11F3C78B3008}"/>
              </a:ext>
            </a:extLst>
          </p:cNvPr>
          <p:cNvSpPr txBox="1"/>
          <p:nvPr/>
        </p:nvSpPr>
        <p:spPr>
          <a:xfrm>
            <a:off x="7571231" y="186537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従来 RI</a:t>
            </a:r>
          </a:p>
        </p:txBody>
      </p:sp>
      <p:sp>
        <p:nvSpPr>
          <p:cNvPr id="47" name="TextBox 46">
            <a:extLst>
              <a:ext uri="{FF2B5EF4-FFF2-40B4-BE49-F238E27FC236}">
                <a16:creationId xmlns:a16="http://schemas.microsoft.com/office/drawing/2014/main" id="{3AB0886E-5E3C-DD43-2D5F-88076AAD6FFF}"/>
              </a:ext>
            </a:extLst>
          </p:cNvPr>
          <p:cNvSpPr txBox="1"/>
          <p:nvPr/>
        </p:nvSpPr>
        <p:spPr>
          <a:xfrm>
            <a:off x="7571231" y="234086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変曲点 ÷ P1</a:t>
            </a:r>
          </a:p>
        </p:txBody>
      </p:sp>
      <p:sp>
        <p:nvSpPr>
          <p:cNvPr id="48" name="TextBox 47">
            <a:extLst>
              <a:ext uri="{FF2B5EF4-FFF2-40B4-BE49-F238E27FC236}">
                <a16:creationId xmlns:a16="http://schemas.microsoft.com/office/drawing/2014/main" id="{009836C3-52A7-4895-8FCE-23BC644928B1}"/>
              </a:ext>
            </a:extLst>
          </p:cNvPr>
          <p:cNvSpPr txBox="1"/>
          <p:nvPr/>
        </p:nvSpPr>
        <p:spPr>
          <a:xfrm>
            <a:off x="9692640" y="2011679"/>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0.563</a:t>
            </a:r>
          </a:p>
        </p:txBody>
      </p:sp>
      <p:sp>
        <p:nvSpPr>
          <p:cNvPr id="49" name="Rounded Rectangle 48">
            <a:extLst>
              <a:ext uri="{FF2B5EF4-FFF2-40B4-BE49-F238E27FC236}">
                <a16:creationId xmlns:a16="http://schemas.microsoft.com/office/drawing/2014/main" id="{6C2C9749-2342-094F-4479-C3F78FFFF300}"/>
              </a:ext>
            </a:extLst>
          </p:cNvPr>
          <p:cNvSpPr/>
          <p:nvPr/>
        </p:nvSpPr>
        <p:spPr>
          <a:xfrm>
            <a:off x="7406640" y="3063239"/>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a:extLst>
              <a:ext uri="{FF2B5EF4-FFF2-40B4-BE49-F238E27FC236}">
                <a16:creationId xmlns:a16="http://schemas.microsoft.com/office/drawing/2014/main" id="{86B03656-E0F3-3858-3C0C-1A1615D569E4}"/>
              </a:ext>
            </a:extLst>
          </p:cNvPr>
          <p:cNvSpPr txBox="1"/>
          <p:nvPr/>
        </p:nvSpPr>
        <p:spPr>
          <a:xfrm>
            <a:off x="7571231" y="3191256"/>
            <a:ext cx="210312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分離 RI</a:t>
            </a:r>
          </a:p>
        </p:txBody>
      </p:sp>
      <p:sp>
        <p:nvSpPr>
          <p:cNvPr id="51" name="TextBox 50">
            <a:extLst>
              <a:ext uri="{FF2B5EF4-FFF2-40B4-BE49-F238E27FC236}">
                <a16:creationId xmlns:a16="http://schemas.microsoft.com/office/drawing/2014/main" id="{17543D27-81C7-9173-CC11-A5CC33C88221}"/>
              </a:ext>
            </a:extLst>
          </p:cNvPr>
          <p:cNvSpPr txBox="1"/>
          <p:nvPr/>
        </p:nvSpPr>
        <p:spPr>
          <a:xfrm>
            <a:off x="7571231" y="366674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反射波 a₂ ÷ a₁</a:t>
            </a:r>
          </a:p>
        </p:txBody>
      </p:sp>
      <p:sp>
        <p:nvSpPr>
          <p:cNvPr id="52" name="TextBox 51">
            <a:extLst>
              <a:ext uri="{FF2B5EF4-FFF2-40B4-BE49-F238E27FC236}">
                <a16:creationId xmlns:a16="http://schemas.microsoft.com/office/drawing/2014/main" id="{DE71DA68-96B1-259D-5544-849724ABA1AB}"/>
              </a:ext>
            </a:extLst>
          </p:cNvPr>
          <p:cNvSpPr txBox="1"/>
          <p:nvPr/>
        </p:nvSpPr>
        <p:spPr>
          <a:xfrm>
            <a:off x="9692640" y="3337559"/>
            <a:ext cx="1874519" cy="539496"/>
          </a:xfrm>
          <a:prstGeom prst="rect">
            <a:avLst/>
          </a:prstGeom>
          <a:noFill/>
        </p:spPr>
        <p:txBody>
          <a:bodyPr wrap="square" lIns="0" tIns="0" rIns="0" bIns="0" anchor="t">
            <a:spAutoFit/>
          </a:bodyPr>
          <a:lstStyle/>
          <a:p>
            <a:pPr algn="r">
              <a:spcAft>
                <a:spcPts val="0"/>
              </a:spcAft>
            </a:pPr>
            <a:r>
              <a:rPr sz="3000" b="1" dirty="0">
                <a:solidFill>
                  <a:srgbClr val="0072B2"/>
                </a:solidFill>
                <a:latin typeface="Meiryo"/>
                <a:ea typeface="Meiryo"/>
                <a:cs typeface="Meiryo"/>
              </a:rPr>
              <a:t>0.420</a:t>
            </a:r>
          </a:p>
        </p:txBody>
      </p:sp>
      <p:sp>
        <p:nvSpPr>
          <p:cNvPr id="53" name="Rounded Rectangle 52">
            <a:extLst>
              <a:ext uri="{FF2B5EF4-FFF2-40B4-BE49-F238E27FC236}">
                <a16:creationId xmlns:a16="http://schemas.microsoft.com/office/drawing/2014/main" id="{C5E2E2AF-B002-DB87-7AB5-02160035E181}"/>
              </a:ext>
            </a:extLst>
          </p:cNvPr>
          <p:cNvSpPr/>
          <p:nvPr/>
        </p:nvSpPr>
        <p:spPr>
          <a:xfrm>
            <a:off x="7406640" y="4389120"/>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BA3F3E17-021F-9AEC-5674-36AB85B9DF2D}"/>
              </a:ext>
            </a:extLst>
          </p:cNvPr>
          <p:cNvSpPr txBox="1"/>
          <p:nvPr/>
        </p:nvSpPr>
        <p:spPr>
          <a:xfrm>
            <a:off x="7571231" y="451713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差</a:t>
            </a:r>
          </a:p>
        </p:txBody>
      </p:sp>
      <p:sp>
        <p:nvSpPr>
          <p:cNvPr id="55" name="TextBox 54">
            <a:extLst>
              <a:ext uri="{FF2B5EF4-FFF2-40B4-BE49-F238E27FC236}">
                <a16:creationId xmlns:a16="http://schemas.microsoft.com/office/drawing/2014/main" id="{32C3D319-ABEF-7A49-EB9E-D01D89B75BB7}"/>
              </a:ext>
            </a:extLst>
          </p:cNvPr>
          <p:cNvSpPr txBox="1"/>
          <p:nvPr/>
        </p:nvSpPr>
        <p:spPr>
          <a:xfrm>
            <a:off x="7571231" y="499262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＋34% 過大</a:t>
            </a:r>
          </a:p>
        </p:txBody>
      </p:sp>
      <p:sp>
        <p:nvSpPr>
          <p:cNvPr id="56" name="TextBox 55">
            <a:extLst>
              <a:ext uri="{FF2B5EF4-FFF2-40B4-BE49-F238E27FC236}">
                <a16:creationId xmlns:a16="http://schemas.microsoft.com/office/drawing/2014/main" id="{F3997D55-D6B3-71AC-4682-6FCC9258450B}"/>
              </a:ext>
            </a:extLst>
          </p:cNvPr>
          <p:cNvSpPr txBox="1"/>
          <p:nvPr/>
        </p:nvSpPr>
        <p:spPr>
          <a:xfrm>
            <a:off x="9692640" y="4663440"/>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＋0.143</a:t>
            </a:r>
          </a:p>
        </p:txBody>
      </p:sp>
      <p:sp>
        <p:nvSpPr>
          <p:cNvPr id="6" name="Rounded Rectangle 29">
            <a:extLst>
              <a:ext uri="{FF2B5EF4-FFF2-40B4-BE49-F238E27FC236}">
                <a16:creationId xmlns:a16="http://schemas.microsoft.com/office/drawing/2014/main" id="{DB7F9C11-2F16-8FE3-5A1F-CF5EB7CFE45F}"/>
              </a:ext>
            </a:extLst>
          </p:cNvPr>
          <p:cNvSpPr/>
          <p:nvPr/>
        </p:nvSpPr>
        <p:spPr>
          <a:xfrm>
            <a:off x="502920" y="5708328"/>
            <a:ext cx="112014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rPr>
              <a:t>反射波ピークが見えない状況では合理的な評価ができているのか？</a:t>
            </a:r>
            <a:endParaRPr lang="en-US" altLang="ja-JP" sz="2400" b="1" dirty="0">
              <a:solidFill>
                <a:schemeClr val="tx1"/>
              </a:solidFill>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9648649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の正確な決定が妨げられるのでは</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a:t>
            </a:r>
            <a:r>
              <a:rPr lang="en-US" altLang="ja-JP" dirty="0"/>
              <a:t> DN-less signal </a:t>
            </a:r>
            <a:r>
              <a:rPr lang="ja-JP" altLang="en-US"/>
              <a:t>）なのは</a:t>
            </a:r>
            <a:r>
              <a:rPr lang="en-US" altLang="ja-JP" dirty="0"/>
              <a:t>25,286</a:t>
            </a:r>
            <a:r>
              <a:rPr lang="ja-JP" altLang="en-US"/>
              <a:t>人。（</a:t>
            </a:r>
            <a:r>
              <a:rPr lang="en-US" altLang="ja-JP" dirty="0"/>
              <a:t>14%  UK Biobank</a:t>
            </a:r>
            <a:r>
              <a:rPr lang="ja-JP" altLang="en-US"/>
              <a:t>）</a:t>
            </a:r>
            <a:endParaRPr lang="en-US" altLang="ja-JP" dirty="0"/>
          </a:p>
          <a:p>
            <a:pPr marL="0" indent="0">
              <a:lnSpc>
                <a:spcPct val="150000"/>
              </a:lnSpc>
              <a:buNone/>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34. Wu 2010　／　35.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latin typeface="+mn-ea"/>
              </a:rPr>
              <a:t>D-N less signal</a:t>
            </a:r>
            <a:r>
              <a:rPr lang="ja-JP" altLang="en-US" sz="2400" b="1">
                <a:solidFill>
                  <a:schemeClr val="tx1"/>
                </a:solidFill>
                <a:latin typeface="+mn-ea"/>
              </a:rPr>
              <a:t>でも</a:t>
            </a:r>
            <a:r>
              <a:rPr lang="en-US" altLang="ja-JP" sz="2400" b="1" dirty="0">
                <a:solidFill>
                  <a:schemeClr val="tx1"/>
                </a:solidFill>
                <a:latin typeface="+mn-ea"/>
              </a:rPr>
              <a:t>PPG</a:t>
            </a:r>
            <a:r>
              <a:rPr lang="ja-JP" altLang="en-US" sz="2400" b="1">
                <a:solidFill>
                  <a:schemeClr val="tx1"/>
                </a:solidFill>
                <a:latin typeface="+mn-ea"/>
              </a:rPr>
              <a:t>から特徴量を抽出し解析できないか？？</a:t>
            </a:r>
            <a:endParaRPr lang="en-US" altLang="ja-JP" sz="2400" b="1" dirty="0">
              <a:solidFill>
                <a:schemeClr val="tx1"/>
              </a:solidFill>
              <a:latin typeface="+mn-ea"/>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4266886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35. Pal 2024　／　36. Fleischhauer 2020　／　37. Attivissimo 2023　／　38. Domínguez-Hernández 2026　／　39. Shin 2022　／　40.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72/119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749648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35. Pal 2024　／　36. Fleischhauer 2020　／　37. Attivissimo 2023　／　38. Domínguez-Hernández 2026　／　39. Shin 2022　／　40.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73/119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750564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限界</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74/119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42. Goswami 2010　／　33.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lang="en-US" altLang="ja-JP" sz="2300" b="0" dirty="0">
                <a:solidFill>
                  <a:srgbClr val="262626"/>
                </a:solidFill>
                <a:latin typeface="Meiryo"/>
                <a:ea typeface="Meiryo"/>
                <a:cs typeface="Meiryo"/>
              </a:rPr>
              <a:t>PPG</a:t>
            </a:r>
            <a:r>
              <a:rPr lang="ja-JP" altLang="en-US" sz="2300" b="0">
                <a:solidFill>
                  <a:srgbClr val="262626"/>
                </a:solidFill>
                <a:latin typeface="Meiryo"/>
                <a:ea typeface="Meiryo"/>
                <a:cs typeface="Meiryo"/>
              </a:rPr>
              <a:t>実</a:t>
            </a:r>
            <a:r>
              <a:rPr sz="2300" b="0" dirty="0" err="1">
                <a:solidFill>
                  <a:srgbClr val="262626"/>
                </a:solidFill>
                <a:latin typeface="Meiryo"/>
                <a:ea typeface="Meiryo"/>
                <a:cs typeface="Meiryo"/>
              </a:rPr>
              <a:t>波形を</a:t>
            </a:r>
            <a:r>
              <a:rPr lang="ja-JP" altLang="en-US" sz="2300" b="0">
                <a:solidFill>
                  <a:srgbClr val="262626"/>
                </a:solidFill>
                <a:latin typeface="Meiryo"/>
                <a:ea typeface="Meiryo"/>
                <a:cs typeface="Meiryo"/>
              </a:rPr>
              <a:t>、前進波と反射波の</a:t>
            </a:r>
            <a:r>
              <a:rPr sz="2300" b="0" dirty="0" err="1">
                <a:solidFill>
                  <a:srgbClr val="262626"/>
                </a:solidFill>
                <a:latin typeface="Meiryo"/>
                <a:ea typeface="Meiryo"/>
                <a:cs typeface="Meiryo"/>
              </a:rPr>
              <a:t>成分波</a:t>
            </a:r>
            <a:r>
              <a:rPr lang="ja-JP" altLang="en-US" sz="2300" b="0">
                <a:solidFill>
                  <a:srgbClr val="262626"/>
                </a:solidFill>
                <a:latin typeface="Meiryo"/>
                <a:ea typeface="Meiryo"/>
                <a:cs typeface="Meiryo"/>
              </a:rPr>
              <a:t>として分解する。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a:t>
            </a:r>
            <a:r>
              <a:rPr lang="ja-JP" altLang="en-US" sz="2300" b="1">
                <a:solidFill>
                  <a:srgbClr val="BF9000"/>
                </a:solidFill>
                <a:latin typeface="Meiryo"/>
                <a:ea typeface="Meiryo"/>
                <a:cs typeface="Meiryo"/>
              </a:rPr>
              <a:t>成分波情報から</a:t>
            </a:r>
            <a:r>
              <a:rPr sz="2300" b="1" dirty="0" err="1">
                <a:solidFill>
                  <a:srgbClr val="BF9000"/>
                </a:solidFill>
                <a:latin typeface="Meiryo"/>
                <a:ea typeface="Meiryo"/>
                <a:cs typeface="Meiryo"/>
              </a:rPr>
              <a:t>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E00B-48AB-42C3-B6BD-F31EBF7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84395-3AF3-17EB-2363-9F7ED1165DC4}"/>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29" name="Source">
            <a:extLst>
              <a:ext uri="{FF2B5EF4-FFF2-40B4-BE49-F238E27FC236}">
                <a16:creationId xmlns:a16="http://schemas.microsoft.com/office/drawing/2014/main" id="{E41460A9-967A-2D03-57C5-16A52AD40D2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33. Couceiro 2015</a:t>
            </a:r>
          </a:p>
        </p:txBody>
      </p:sp>
      <p:sp>
        <p:nvSpPr>
          <p:cNvPr id="30" name="TextBox 29">
            <a:extLst>
              <a:ext uri="{FF2B5EF4-FFF2-40B4-BE49-F238E27FC236}">
                <a16:creationId xmlns:a16="http://schemas.microsoft.com/office/drawing/2014/main" id="{9516527D-7ECD-3C16-7E71-2BAFFEF1D2E0}"/>
              </a:ext>
            </a:extLst>
          </p:cNvPr>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a:extLst>
              <a:ext uri="{FF2B5EF4-FFF2-40B4-BE49-F238E27FC236}">
                <a16:creationId xmlns:a16="http://schemas.microsoft.com/office/drawing/2014/main" id="{E3694FE6-2DEE-29C8-E904-049315E8928A}"/>
              </a:ext>
            </a:extLst>
          </p:cNvPr>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a:extLst>
              <a:ext uri="{FF2B5EF4-FFF2-40B4-BE49-F238E27FC236}">
                <a16:creationId xmlns:a16="http://schemas.microsoft.com/office/drawing/2014/main" id="{F06D1CD5-592F-F186-D1EC-A75ED7217C64}"/>
              </a:ext>
            </a:extLst>
          </p:cNvPr>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10FFA6A-EDC7-4BEF-9D99-1204749F3D4D}"/>
              </a:ext>
            </a:extLst>
          </p:cNvPr>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a:extLst>
              <a:ext uri="{FF2B5EF4-FFF2-40B4-BE49-F238E27FC236}">
                <a16:creationId xmlns:a16="http://schemas.microsoft.com/office/drawing/2014/main" id="{9AEBB0DF-26F9-5618-CDC9-150726698DBB}"/>
              </a:ext>
            </a:extLst>
          </p:cNvPr>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45482D8-ABF6-2440-146D-402976F04DD7}"/>
              </a:ext>
            </a:extLst>
          </p:cNvPr>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41529799-9603-A82B-3ACB-CB15E6D2C700}"/>
              </a:ext>
            </a:extLst>
          </p:cNvPr>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B4BDD27-782E-737E-D7D2-E73A68006D8E}"/>
              </a:ext>
            </a:extLst>
          </p:cNvPr>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a:extLst>
              <a:ext uri="{FF2B5EF4-FFF2-40B4-BE49-F238E27FC236}">
                <a16:creationId xmlns:a16="http://schemas.microsoft.com/office/drawing/2014/main" id="{BD3AAAAF-5E61-65E7-7451-5148D2653C78}"/>
              </a:ext>
            </a:extLst>
          </p:cNvPr>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a:extLst>
              <a:ext uri="{FF2B5EF4-FFF2-40B4-BE49-F238E27FC236}">
                <a16:creationId xmlns:a16="http://schemas.microsoft.com/office/drawing/2014/main" id="{16C680A4-13E9-D21E-885D-BC081720A757}"/>
              </a:ext>
            </a:extLst>
          </p:cNvPr>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40AD6C26-ECBE-0627-116C-9875BA8542DC}"/>
              </a:ext>
            </a:extLst>
          </p:cNvPr>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a:extLst>
              <a:ext uri="{FF2B5EF4-FFF2-40B4-BE49-F238E27FC236}">
                <a16:creationId xmlns:a16="http://schemas.microsoft.com/office/drawing/2014/main" id="{4B6B0F96-330A-22FF-B37E-B58435341C04}"/>
              </a:ext>
            </a:extLst>
          </p:cNvPr>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a:extLst>
              <a:ext uri="{FF2B5EF4-FFF2-40B4-BE49-F238E27FC236}">
                <a16:creationId xmlns:a16="http://schemas.microsoft.com/office/drawing/2014/main" id="{98D58F3E-73C8-BC33-F4C7-41025EE21AE2}"/>
              </a:ext>
            </a:extLst>
          </p:cNvPr>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F57A6FCB-FA4E-1CBD-0D56-D7BFDBFCC954}"/>
              </a:ext>
            </a:extLst>
          </p:cNvPr>
          <p:cNvSpPr txBox="1"/>
          <p:nvPr/>
        </p:nvSpPr>
        <p:spPr>
          <a:xfrm>
            <a:off x="6309360" y="3035808"/>
            <a:ext cx="5257800" cy="384048"/>
          </a:xfrm>
          <a:prstGeom prst="rect">
            <a:avLst/>
          </a:prstGeom>
          <a:noFill/>
        </p:spPr>
        <p:txBody>
          <a:bodyPr wrap="square" lIns="0" tIns="0" rIns="0" bIns="0" anchor="t">
            <a:spAutoFit/>
          </a:bodyPr>
          <a:lstStyle/>
          <a:p>
            <a:pPr algn="l"/>
            <a:r>
              <a:rPr sz="2400" b="1" dirty="0" err="1">
                <a:solidFill>
                  <a:srgbClr val="0072B2"/>
                </a:solidFill>
                <a:latin typeface="Meiryo"/>
                <a:ea typeface="Meiryo"/>
                <a:cs typeface="Meiryo"/>
              </a:rPr>
              <a:t>成分波</a:t>
            </a:r>
            <a:r>
              <a:rPr lang="ja-JP" altLang="en-US" sz="2400" b="1">
                <a:solidFill>
                  <a:srgbClr val="0072B2"/>
                </a:solidFill>
                <a:latin typeface="Meiryo"/>
                <a:ea typeface="Meiryo"/>
                <a:cs typeface="Meiryo"/>
              </a:rPr>
              <a:t>（カーネル）</a:t>
            </a:r>
            <a:endParaRPr sz="2400" b="1" dirty="0">
              <a:solidFill>
                <a:srgbClr val="0072B2"/>
              </a:solidFill>
              <a:latin typeface="Meiryo"/>
              <a:ea typeface="Meiryo"/>
              <a:cs typeface="Meiryo"/>
            </a:endParaRPr>
          </a:p>
        </p:txBody>
      </p:sp>
      <p:sp>
        <p:nvSpPr>
          <p:cNvPr id="41" name="TextBox 40">
            <a:extLst>
              <a:ext uri="{FF2B5EF4-FFF2-40B4-BE49-F238E27FC236}">
                <a16:creationId xmlns:a16="http://schemas.microsoft.com/office/drawing/2014/main" id="{9105FBDE-7F10-D0EC-916B-A9C7BEDDA292}"/>
              </a:ext>
            </a:extLst>
          </p:cNvPr>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5" name="Rounded Rectangle 44">
            <a:extLst>
              <a:ext uri="{FF2B5EF4-FFF2-40B4-BE49-F238E27FC236}">
                <a16:creationId xmlns:a16="http://schemas.microsoft.com/office/drawing/2014/main" id="{B5FC49D9-B584-6852-4B66-08C06016B80B}"/>
              </a:ext>
            </a:extLst>
          </p:cNvPr>
          <p:cNvSpPr/>
          <p:nvPr/>
        </p:nvSpPr>
        <p:spPr>
          <a:xfrm>
            <a:off x="6126480" y="4548781"/>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BD7A859-E11D-F16B-4BA4-42944B527E47}"/>
              </a:ext>
            </a:extLst>
          </p:cNvPr>
          <p:cNvSpPr txBox="1"/>
          <p:nvPr/>
        </p:nvSpPr>
        <p:spPr>
          <a:xfrm>
            <a:off x="6291072" y="4662541"/>
            <a:ext cx="5294376" cy="746358"/>
          </a:xfrm>
          <a:prstGeom prst="rect">
            <a:avLst/>
          </a:prstGeom>
          <a:noFill/>
        </p:spPr>
        <p:txBody>
          <a:bodyPr wrap="square" lIns="0" tIns="0" rIns="0" bIns="0" anchor="t">
            <a:spAutoFit/>
          </a:bodyPr>
          <a:lstStyle/>
          <a:p>
            <a:pPr algn="ctr">
              <a:spcAft>
                <a:spcPts val="300"/>
              </a:spcAft>
            </a:pPr>
            <a:r>
              <a:rPr lang="en-US" altLang="ja-JP" sz="2300" b="1" dirty="0">
                <a:solidFill>
                  <a:srgbClr val="262626"/>
                </a:solidFill>
                <a:latin typeface="Meiryo"/>
                <a:ea typeface="Meiryo"/>
                <a:cs typeface="Meiryo"/>
              </a:rPr>
              <a:t>PDA</a:t>
            </a:r>
            <a:r>
              <a:rPr lang="ja-JP" altLang="en-US" sz="2300" b="1">
                <a:solidFill>
                  <a:srgbClr val="262626"/>
                </a:solidFill>
                <a:latin typeface="Meiryo"/>
                <a:ea typeface="Meiryo"/>
                <a:cs typeface="Meiryo"/>
              </a:rPr>
              <a:t>では成分波を</a:t>
            </a:r>
            <a:endParaRPr lang="en-US" altLang="ja-JP" sz="2300" b="1" dirty="0">
              <a:solidFill>
                <a:srgbClr val="262626"/>
              </a:solidFill>
              <a:latin typeface="Meiryo"/>
              <a:ea typeface="Meiryo"/>
              <a:cs typeface="Meiryo"/>
            </a:endParaRPr>
          </a:p>
          <a:p>
            <a:pPr algn="ctr">
              <a:spcAft>
                <a:spcPts val="300"/>
              </a:spcAft>
            </a:pPr>
            <a:r>
              <a:rPr lang="ja-JP" altLang="en-US" sz="2300" b="1">
                <a:solidFill>
                  <a:srgbClr val="262626"/>
                </a:solidFill>
                <a:latin typeface="Meiryo"/>
                <a:ea typeface="Meiryo"/>
                <a:cs typeface="Meiryo"/>
              </a:rPr>
              <a:t>波形（基底関数）と個数で推測する。</a:t>
            </a:r>
            <a:endParaRPr sz="2300" b="1" dirty="0">
              <a:solidFill>
                <a:srgbClr val="262626"/>
              </a:solidFill>
              <a:latin typeface="Meiryo"/>
              <a:ea typeface="Meiryo"/>
              <a:cs typeface="Meiryo"/>
            </a:endParaRPr>
          </a:p>
        </p:txBody>
      </p:sp>
      <p:sp>
        <p:nvSpPr>
          <p:cNvPr id="47" name="PageNo">
            <a:extLst>
              <a:ext uri="{FF2B5EF4-FFF2-40B4-BE49-F238E27FC236}">
                <a16:creationId xmlns:a16="http://schemas.microsoft.com/office/drawing/2014/main" id="{F89D066F-442F-74B8-D60A-FDE9AAD182BE}"/>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76/119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4829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5DBDF-236A-9AB8-D8EF-FDC06CE64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55108-5849-D257-6BA6-4DCC3765698F}"/>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29" name="Source">
            <a:extLst>
              <a:ext uri="{FF2B5EF4-FFF2-40B4-BE49-F238E27FC236}">
                <a16:creationId xmlns:a16="http://schemas.microsoft.com/office/drawing/2014/main" id="{662B7479-B9B2-F535-E7EE-58039C18EEE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43. Tigges 2017</a:t>
            </a:r>
          </a:p>
        </p:txBody>
      </p:sp>
      <p:sp>
        <p:nvSpPr>
          <p:cNvPr id="46" name="PageNo">
            <a:extLst>
              <a:ext uri="{FF2B5EF4-FFF2-40B4-BE49-F238E27FC236}">
                <a16:creationId xmlns:a16="http://schemas.microsoft.com/office/drawing/2014/main" id="{FB34E537-A4B6-4B2C-821E-4EBB58053961}"/>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77/119</a:t>
            </a:r>
          </a:p>
        </p:txBody>
      </p:sp>
      <p:sp>
        <p:nvSpPr>
          <p:cNvPr id="3" name="Freeform 2">
            <a:extLst>
              <a:ext uri="{FF2B5EF4-FFF2-40B4-BE49-F238E27FC236}">
                <a16:creationId xmlns:a16="http://schemas.microsoft.com/office/drawing/2014/main" id="{0FE731D5-BA96-DC1D-C281-A27E5751337C}"/>
              </a:ext>
            </a:extLst>
          </p:cNvPr>
          <p:cNvSpPr/>
          <p:nvPr/>
        </p:nvSpPr>
        <p:spPr>
          <a:xfrm>
            <a:off x="1051560" y="2358039"/>
            <a:ext cx="5577840" cy="2110844"/>
          </a:xfrm>
          <a:custGeom>
            <a:avLst/>
            <a:gdLst/>
            <a:ahLst/>
            <a:cxnLst/>
            <a:rect l="l" t="t" r="r" b="b"/>
            <a:pathLst>
              <a:path w="5577840" h="2110844">
                <a:moveTo>
                  <a:pt x="0" y="2110844"/>
                </a:moveTo>
                <a:lnTo>
                  <a:pt x="23338" y="2109787"/>
                </a:lnTo>
                <a:lnTo>
                  <a:pt x="46676" y="2108643"/>
                </a:lnTo>
                <a:lnTo>
                  <a:pt x="70014" y="2107408"/>
                </a:lnTo>
                <a:lnTo>
                  <a:pt x="93352" y="2106076"/>
                </a:lnTo>
                <a:lnTo>
                  <a:pt x="116691" y="2104638"/>
                </a:lnTo>
                <a:lnTo>
                  <a:pt x="140029" y="2103089"/>
                </a:lnTo>
                <a:lnTo>
                  <a:pt x="163367" y="2101421"/>
                </a:lnTo>
                <a:lnTo>
                  <a:pt x="186705" y="2099627"/>
                </a:lnTo>
                <a:lnTo>
                  <a:pt x="210044" y="2097699"/>
                </a:lnTo>
                <a:lnTo>
                  <a:pt x="233382" y="2095627"/>
                </a:lnTo>
                <a:lnTo>
                  <a:pt x="256720" y="2093404"/>
                </a:lnTo>
                <a:lnTo>
                  <a:pt x="280058" y="2091020"/>
                </a:lnTo>
                <a:lnTo>
                  <a:pt x="303397" y="2088465"/>
                </a:lnTo>
                <a:lnTo>
                  <a:pt x="326735" y="2085731"/>
                </a:lnTo>
                <a:lnTo>
                  <a:pt x="350073" y="2082805"/>
                </a:lnTo>
                <a:lnTo>
                  <a:pt x="373411" y="2079679"/>
                </a:lnTo>
                <a:lnTo>
                  <a:pt x="396750" y="2076339"/>
                </a:lnTo>
                <a:lnTo>
                  <a:pt x="420088" y="2072776"/>
                </a:lnTo>
                <a:lnTo>
                  <a:pt x="443426" y="2068977"/>
                </a:lnTo>
                <a:lnTo>
                  <a:pt x="466764" y="2064930"/>
                </a:lnTo>
                <a:lnTo>
                  <a:pt x="490103" y="2060622"/>
                </a:lnTo>
                <a:lnTo>
                  <a:pt x="513441" y="2056040"/>
                </a:lnTo>
                <a:lnTo>
                  <a:pt x="536779" y="2051171"/>
                </a:lnTo>
                <a:lnTo>
                  <a:pt x="560117" y="2046001"/>
                </a:lnTo>
                <a:lnTo>
                  <a:pt x="583456" y="2040516"/>
                </a:lnTo>
                <a:lnTo>
                  <a:pt x="606794" y="2034702"/>
                </a:lnTo>
                <a:lnTo>
                  <a:pt x="630132" y="2028545"/>
                </a:lnTo>
                <a:lnTo>
                  <a:pt x="653470" y="2022029"/>
                </a:lnTo>
                <a:lnTo>
                  <a:pt x="676809" y="2015139"/>
                </a:lnTo>
                <a:lnTo>
                  <a:pt x="700147" y="2007861"/>
                </a:lnTo>
                <a:lnTo>
                  <a:pt x="723485" y="2000178"/>
                </a:lnTo>
                <a:lnTo>
                  <a:pt x="746823" y="1992076"/>
                </a:lnTo>
                <a:lnTo>
                  <a:pt x="770162" y="1983539"/>
                </a:lnTo>
                <a:lnTo>
                  <a:pt x="793500" y="1974550"/>
                </a:lnTo>
                <a:lnTo>
                  <a:pt x="816838" y="1965096"/>
                </a:lnTo>
                <a:lnTo>
                  <a:pt x="840176" y="1955159"/>
                </a:lnTo>
                <a:lnTo>
                  <a:pt x="863514" y="1944724"/>
                </a:lnTo>
                <a:lnTo>
                  <a:pt x="886853" y="1933777"/>
                </a:lnTo>
                <a:lnTo>
                  <a:pt x="910191" y="1922301"/>
                </a:lnTo>
                <a:lnTo>
                  <a:pt x="933529" y="1910282"/>
                </a:lnTo>
                <a:lnTo>
                  <a:pt x="956867" y="1897706"/>
                </a:lnTo>
                <a:lnTo>
                  <a:pt x="980206" y="1884558"/>
                </a:lnTo>
                <a:lnTo>
                  <a:pt x="1003544" y="1870824"/>
                </a:lnTo>
                <a:lnTo>
                  <a:pt x="1026882" y="1856492"/>
                </a:lnTo>
                <a:lnTo>
                  <a:pt x="1050220" y="1841549"/>
                </a:lnTo>
                <a:lnTo>
                  <a:pt x="1073559" y="1825982"/>
                </a:lnTo>
                <a:lnTo>
                  <a:pt x="1096897" y="1809781"/>
                </a:lnTo>
                <a:lnTo>
                  <a:pt x="1120235" y="1792935"/>
                </a:lnTo>
                <a:lnTo>
                  <a:pt x="1143573" y="1775434"/>
                </a:lnTo>
                <a:lnTo>
                  <a:pt x="1166912" y="1757271"/>
                </a:lnTo>
                <a:lnTo>
                  <a:pt x="1190250" y="1738437"/>
                </a:lnTo>
                <a:lnTo>
                  <a:pt x="1213588" y="1718926"/>
                </a:lnTo>
                <a:lnTo>
                  <a:pt x="1236926" y="1698732"/>
                </a:lnTo>
                <a:lnTo>
                  <a:pt x="1260265" y="1677853"/>
                </a:lnTo>
                <a:lnTo>
                  <a:pt x="1283603" y="1656285"/>
                </a:lnTo>
                <a:lnTo>
                  <a:pt x="1306941" y="1634026"/>
                </a:lnTo>
                <a:lnTo>
                  <a:pt x="1330279" y="1611078"/>
                </a:lnTo>
                <a:lnTo>
                  <a:pt x="1353618" y="1587442"/>
                </a:lnTo>
                <a:lnTo>
                  <a:pt x="1376956" y="1563121"/>
                </a:lnTo>
                <a:lnTo>
                  <a:pt x="1400294" y="1538121"/>
                </a:lnTo>
                <a:lnTo>
                  <a:pt x="1423632" y="1512449"/>
                </a:lnTo>
                <a:lnTo>
                  <a:pt x="1446971" y="1486112"/>
                </a:lnTo>
                <a:lnTo>
                  <a:pt x="1470309" y="1459122"/>
                </a:lnTo>
                <a:lnTo>
                  <a:pt x="1493647" y="1431491"/>
                </a:lnTo>
                <a:lnTo>
                  <a:pt x="1516985" y="1403234"/>
                </a:lnTo>
                <a:lnTo>
                  <a:pt x="1540324" y="1374366"/>
                </a:lnTo>
                <a:lnTo>
                  <a:pt x="1563662" y="1344907"/>
                </a:lnTo>
                <a:lnTo>
                  <a:pt x="1587000" y="1314877"/>
                </a:lnTo>
                <a:lnTo>
                  <a:pt x="1610338" y="1284297"/>
                </a:lnTo>
                <a:lnTo>
                  <a:pt x="1633676" y="1253194"/>
                </a:lnTo>
                <a:lnTo>
                  <a:pt x="1657015" y="1221593"/>
                </a:lnTo>
                <a:lnTo>
                  <a:pt x="1680353" y="1189524"/>
                </a:lnTo>
                <a:lnTo>
                  <a:pt x="1703691" y="1157017"/>
                </a:lnTo>
                <a:lnTo>
                  <a:pt x="1727029" y="1124105"/>
                </a:lnTo>
                <a:lnTo>
                  <a:pt x="1750368" y="1090824"/>
                </a:lnTo>
                <a:lnTo>
                  <a:pt x="1773706" y="1057209"/>
                </a:lnTo>
                <a:lnTo>
                  <a:pt x="1797044" y="1023301"/>
                </a:lnTo>
                <a:lnTo>
                  <a:pt x="1820382" y="989139"/>
                </a:lnTo>
                <a:lnTo>
                  <a:pt x="1843721" y="954767"/>
                </a:lnTo>
                <a:lnTo>
                  <a:pt x="1867059" y="920229"/>
                </a:lnTo>
                <a:lnTo>
                  <a:pt x="1890397" y="885572"/>
                </a:lnTo>
                <a:lnTo>
                  <a:pt x="1913735" y="850842"/>
                </a:lnTo>
                <a:lnTo>
                  <a:pt x="1937074" y="816089"/>
                </a:lnTo>
                <a:lnTo>
                  <a:pt x="1960412" y="781364"/>
                </a:lnTo>
                <a:lnTo>
                  <a:pt x="1983750" y="746720"/>
                </a:lnTo>
                <a:lnTo>
                  <a:pt x="2007088" y="712208"/>
                </a:lnTo>
                <a:lnTo>
                  <a:pt x="2030427" y="677884"/>
                </a:lnTo>
                <a:lnTo>
                  <a:pt x="2053765" y="643802"/>
                </a:lnTo>
                <a:lnTo>
                  <a:pt x="2077103" y="610019"/>
                </a:lnTo>
                <a:lnTo>
                  <a:pt x="2100441" y="576590"/>
                </a:lnTo>
                <a:lnTo>
                  <a:pt x="2123780" y="543574"/>
                </a:lnTo>
                <a:lnTo>
                  <a:pt x="2147118" y="511028"/>
                </a:lnTo>
                <a:lnTo>
                  <a:pt x="2170456" y="479008"/>
                </a:lnTo>
                <a:lnTo>
                  <a:pt x="2193794" y="447574"/>
                </a:lnTo>
                <a:lnTo>
                  <a:pt x="2217133" y="416781"/>
                </a:lnTo>
                <a:lnTo>
                  <a:pt x="2240471" y="386688"/>
                </a:lnTo>
                <a:lnTo>
                  <a:pt x="2263809" y="357351"/>
                </a:lnTo>
                <a:lnTo>
                  <a:pt x="2287147" y="328825"/>
                </a:lnTo>
                <a:lnTo>
                  <a:pt x="2310486" y="301166"/>
                </a:lnTo>
                <a:lnTo>
                  <a:pt x="2333824" y="274428"/>
                </a:lnTo>
                <a:lnTo>
                  <a:pt x="2357162" y="248663"/>
                </a:lnTo>
                <a:lnTo>
                  <a:pt x="2380500" y="223923"/>
                </a:lnTo>
                <a:lnTo>
                  <a:pt x="2403838" y="200258"/>
                </a:lnTo>
                <a:lnTo>
                  <a:pt x="2427177" y="177715"/>
                </a:lnTo>
                <a:lnTo>
                  <a:pt x="2450515" y="156341"/>
                </a:lnTo>
                <a:lnTo>
                  <a:pt x="2473853" y="136180"/>
                </a:lnTo>
                <a:lnTo>
                  <a:pt x="2497191" y="117274"/>
                </a:lnTo>
                <a:lnTo>
                  <a:pt x="2520530" y="99663"/>
                </a:lnTo>
                <a:lnTo>
                  <a:pt x="2543868" y="83383"/>
                </a:lnTo>
                <a:lnTo>
                  <a:pt x="2567206" y="68470"/>
                </a:lnTo>
                <a:lnTo>
                  <a:pt x="2590544" y="54955"/>
                </a:lnTo>
                <a:lnTo>
                  <a:pt x="2613883" y="42867"/>
                </a:lnTo>
                <a:lnTo>
                  <a:pt x="2637221" y="32232"/>
                </a:lnTo>
                <a:lnTo>
                  <a:pt x="2660559" y="23073"/>
                </a:lnTo>
                <a:lnTo>
                  <a:pt x="2683897" y="15410"/>
                </a:lnTo>
                <a:lnTo>
                  <a:pt x="2707236" y="9259"/>
                </a:lnTo>
                <a:lnTo>
                  <a:pt x="2730574" y="4634"/>
                </a:lnTo>
                <a:lnTo>
                  <a:pt x="2753912" y="1546"/>
                </a:lnTo>
                <a:lnTo>
                  <a:pt x="2777250" y="0"/>
                </a:lnTo>
                <a:lnTo>
                  <a:pt x="2800589" y="0"/>
                </a:lnTo>
                <a:lnTo>
                  <a:pt x="2823927" y="1546"/>
                </a:lnTo>
                <a:lnTo>
                  <a:pt x="2847265" y="4634"/>
                </a:lnTo>
                <a:lnTo>
                  <a:pt x="2870603" y="9259"/>
                </a:lnTo>
                <a:lnTo>
                  <a:pt x="2893942" y="15410"/>
                </a:lnTo>
                <a:lnTo>
                  <a:pt x="2917280" y="23073"/>
                </a:lnTo>
                <a:lnTo>
                  <a:pt x="2940618" y="32232"/>
                </a:lnTo>
                <a:lnTo>
                  <a:pt x="2963956" y="42867"/>
                </a:lnTo>
                <a:lnTo>
                  <a:pt x="2987295" y="54955"/>
                </a:lnTo>
                <a:lnTo>
                  <a:pt x="3010633" y="68470"/>
                </a:lnTo>
                <a:lnTo>
                  <a:pt x="3033971" y="83383"/>
                </a:lnTo>
                <a:lnTo>
                  <a:pt x="3057309" y="99663"/>
                </a:lnTo>
                <a:lnTo>
                  <a:pt x="3080648" y="117274"/>
                </a:lnTo>
                <a:lnTo>
                  <a:pt x="3103986" y="136180"/>
                </a:lnTo>
                <a:lnTo>
                  <a:pt x="3127324" y="156341"/>
                </a:lnTo>
                <a:lnTo>
                  <a:pt x="3150662" y="177715"/>
                </a:lnTo>
                <a:lnTo>
                  <a:pt x="3174001" y="200258"/>
                </a:lnTo>
                <a:lnTo>
                  <a:pt x="3197339" y="223923"/>
                </a:lnTo>
                <a:lnTo>
                  <a:pt x="3220677" y="248663"/>
                </a:lnTo>
                <a:lnTo>
                  <a:pt x="3244015" y="274428"/>
                </a:lnTo>
                <a:lnTo>
                  <a:pt x="3267353" y="301166"/>
                </a:lnTo>
                <a:lnTo>
                  <a:pt x="3290692" y="328825"/>
                </a:lnTo>
                <a:lnTo>
                  <a:pt x="3314030" y="357351"/>
                </a:lnTo>
                <a:lnTo>
                  <a:pt x="3337368" y="386688"/>
                </a:lnTo>
                <a:lnTo>
                  <a:pt x="3360706" y="416781"/>
                </a:lnTo>
                <a:lnTo>
                  <a:pt x="3384045" y="447574"/>
                </a:lnTo>
                <a:lnTo>
                  <a:pt x="3407383" y="479008"/>
                </a:lnTo>
                <a:lnTo>
                  <a:pt x="3430721" y="511028"/>
                </a:lnTo>
                <a:lnTo>
                  <a:pt x="3454059" y="543574"/>
                </a:lnTo>
                <a:lnTo>
                  <a:pt x="3477398" y="576590"/>
                </a:lnTo>
                <a:lnTo>
                  <a:pt x="3500736" y="610019"/>
                </a:lnTo>
                <a:lnTo>
                  <a:pt x="3524074" y="643802"/>
                </a:lnTo>
                <a:lnTo>
                  <a:pt x="3547412" y="677884"/>
                </a:lnTo>
                <a:lnTo>
                  <a:pt x="3570751" y="712208"/>
                </a:lnTo>
                <a:lnTo>
                  <a:pt x="3594089" y="746720"/>
                </a:lnTo>
                <a:lnTo>
                  <a:pt x="3617427" y="781364"/>
                </a:lnTo>
                <a:lnTo>
                  <a:pt x="3640765" y="816089"/>
                </a:lnTo>
                <a:lnTo>
                  <a:pt x="3664104" y="850842"/>
                </a:lnTo>
                <a:lnTo>
                  <a:pt x="3687442" y="885572"/>
                </a:lnTo>
                <a:lnTo>
                  <a:pt x="3710780" y="920229"/>
                </a:lnTo>
                <a:lnTo>
                  <a:pt x="3734118" y="954767"/>
                </a:lnTo>
                <a:lnTo>
                  <a:pt x="3757457" y="989139"/>
                </a:lnTo>
                <a:lnTo>
                  <a:pt x="3780795" y="1023301"/>
                </a:lnTo>
                <a:lnTo>
                  <a:pt x="3804133" y="1057209"/>
                </a:lnTo>
                <a:lnTo>
                  <a:pt x="3827471" y="1090824"/>
                </a:lnTo>
                <a:lnTo>
                  <a:pt x="3850810" y="1124105"/>
                </a:lnTo>
                <a:lnTo>
                  <a:pt x="3874148" y="1157017"/>
                </a:lnTo>
                <a:lnTo>
                  <a:pt x="3897486" y="1189524"/>
                </a:lnTo>
                <a:lnTo>
                  <a:pt x="3920824" y="1221593"/>
                </a:lnTo>
                <a:lnTo>
                  <a:pt x="3944163" y="1253194"/>
                </a:lnTo>
                <a:lnTo>
                  <a:pt x="3967501" y="1284297"/>
                </a:lnTo>
                <a:lnTo>
                  <a:pt x="3990839" y="1314877"/>
                </a:lnTo>
                <a:lnTo>
                  <a:pt x="4014177" y="1344907"/>
                </a:lnTo>
                <a:lnTo>
                  <a:pt x="4037515" y="1374366"/>
                </a:lnTo>
                <a:lnTo>
                  <a:pt x="4060854" y="1403234"/>
                </a:lnTo>
                <a:lnTo>
                  <a:pt x="4084192" y="1431491"/>
                </a:lnTo>
                <a:lnTo>
                  <a:pt x="4107530" y="1459122"/>
                </a:lnTo>
                <a:lnTo>
                  <a:pt x="4130868" y="1486112"/>
                </a:lnTo>
                <a:lnTo>
                  <a:pt x="4154207" y="1512449"/>
                </a:lnTo>
                <a:lnTo>
                  <a:pt x="4177545" y="1538121"/>
                </a:lnTo>
                <a:lnTo>
                  <a:pt x="4200883" y="1563121"/>
                </a:lnTo>
                <a:lnTo>
                  <a:pt x="4224221" y="1587442"/>
                </a:lnTo>
                <a:lnTo>
                  <a:pt x="4247560" y="1611078"/>
                </a:lnTo>
                <a:lnTo>
                  <a:pt x="4270898" y="1634026"/>
                </a:lnTo>
                <a:lnTo>
                  <a:pt x="4294236" y="1656285"/>
                </a:lnTo>
                <a:lnTo>
                  <a:pt x="4317574" y="1677853"/>
                </a:lnTo>
                <a:lnTo>
                  <a:pt x="4340913" y="1698732"/>
                </a:lnTo>
                <a:lnTo>
                  <a:pt x="4364251" y="1718926"/>
                </a:lnTo>
                <a:lnTo>
                  <a:pt x="4387589" y="1738437"/>
                </a:lnTo>
                <a:lnTo>
                  <a:pt x="4410927" y="1757271"/>
                </a:lnTo>
                <a:lnTo>
                  <a:pt x="4434266" y="1775434"/>
                </a:lnTo>
                <a:lnTo>
                  <a:pt x="4457604" y="1792935"/>
                </a:lnTo>
                <a:lnTo>
                  <a:pt x="4480942" y="1809781"/>
                </a:lnTo>
                <a:lnTo>
                  <a:pt x="4504280" y="1825982"/>
                </a:lnTo>
                <a:lnTo>
                  <a:pt x="4527619" y="1841549"/>
                </a:lnTo>
                <a:lnTo>
                  <a:pt x="4550957" y="1856492"/>
                </a:lnTo>
                <a:lnTo>
                  <a:pt x="4574295" y="1870824"/>
                </a:lnTo>
                <a:lnTo>
                  <a:pt x="4597633" y="1884558"/>
                </a:lnTo>
                <a:lnTo>
                  <a:pt x="4620972" y="1897706"/>
                </a:lnTo>
                <a:lnTo>
                  <a:pt x="4644310" y="1910282"/>
                </a:lnTo>
                <a:lnTo>
                  <a:pt x="4667648" y="1922301"/>
                </a:lnTo>
                <a:lnTo>
                  <a:pt x="4690986" y="1933777"/>
                </a:lnTo>
                <a:lnTo>
                  <a:pt x="4714325" y="1944724"/>
                </a:lnTo>
                <a:lnTo>
                  <a:pt x="4737663" y="1955159"/>
                </a:lnTo>
                <a:lnTo>
                  <a:pt x="4761001" y="1965096"/>
                </a:lnTo>
                <a:lnTo>
                  <a:pt x="4784339" y="1974550"/>
                </a:lnTo>
                <a:lnTo>
                  <a:pt x="4807677" y="1983539"/>
                </a:lnTo>
                <a:lnTo>
                  <a:pt x="4831016" y="1992076"/>
                </a:lnTo>
                <a:lnTo>
                  <a:pt x="4854354" y="2000178"/>
                </a:lnTo>
                <a:lnTo>
                  <a:pt x="4877692" y="2007861"/>
                </a:lnTo>
                <a:lnTo>
                  <a:pt x="4901030" y="2015139"/>
                </a:lnTo>
                <a:lnTo>
                  <a:pt x="4924369" y="2022029"/>
                </a:lnTo>
                <a:lnTo>
                  <a:pt x="4947707" y="2028545"/>
                </a:lnTo>
                <a:lnTo>
                  <a:pt x="4971045" y="2034702"/>
                </a:lnTo>
                <a:lnTo>
                  <a:pt x="4994383" y="2040516"/>
                </a:lnTo>
                <a:lnTo>
                  <a:pt x="5017722" y="2046001"/>
                </a:lnTo>
                <a:lnTo>
                  <a:pt x="5041060" y="2051171"/>
                </a:lnTo>
                <a:lnTo>
                  <a:pt x="5064398" y="2056040"/>
                </a:lnTo>
                <a:lnTo>
                  <a:pt x="5087736" y="2060622"/>
                </a:lnTo>
                <a:lnTo>
                  <a:pt x="5111075" y="2064930"/>
                </a:lnTo>
                <a:lnTo>
                  <a:pt x="5134413" y="2068977"/>
                </a:lnTo>
                <a:lnTo>
                  <a:pt x="5157751" y="2072776"/>
                </a:lnTo>
                <a:lnTo>
                  <a:pt x="5181089" y="2076339"/>
                </a:lnTo>
                <a:lnTo>
                  <a:pt x="5204428" y="2079679"/>
                </a:lnTo>
                <a:lnTo>
                  <a:pt x="5227766" y="2082805"/>
                </a:lnTo>
                <a:lnTo>
                  <a:pt x="5251104" y="2085731"/>
                </a:lnTo>
                <a:lnTo>
                  <a:pt x="5274442" y="2088465"/>
                </a:lnTo>
                <a:lnTo>
                  <a:pt x="5297781" y="2091020"/>
                </a:lnTo>
                <a:lnTo>
                  <a:pt x="5321119" y="2093404"/>
                </a:lnTo>
                <a:lnTo>
                  <a:pt x="5344457" y="2095627"/>
                </a:lnTo>
                <a:lnTo>
                  <a:pt x="5367795" y="2097699"/>
                </a:lnTo>
                <a:lnTo>
                  <a:pt x="5391134" y="2099627"/>
                </a:lnTo>
                <a:lnTo>
                  <a:pt x="5414472" y="2101421"/>
                </a:lnTo>
                <a:lnTo>
                  <a:pt x="5437810" y="2103089"/>
                </a:lnTo>
                <a:lnTo>
                  <a:pt x="5461148" y="2104638"/>
                </a:lnTo>
                <a:lnTo>
                  <a:pt x="5484487" y="2106076"/>
                </a:lnTo>
                <a:lnTo>
                  <a:pt x="5507825" y="2107408"/>
                </a:lnTo>
                <a:lnTo>
                  <a:pt x="5531163" y="2108643"/>
                </a:lnTo>
                <a:lnTo>
                  <a:pt x="5554501" y="2109787"/>
                </a:lnTo>
                <a:lnTo>
                  <a:pt x="5577840" y="2110844"/>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D723C86C-A8B6-53CC-65B4-F18B76C6B91E}"/>
              </a:ext>
            </a:extLst>
          </p:cNvPr>
          <p:cNvCxnSpPr/>
          <p:nvPr/>
        </p:nvCxnSpPr>
        <p:spPr>
          <a:xfrm>
            <a:off x="914399" y="4480560"/>
            <a:ext cx="5806441" cy="0"/>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3A4A9AA7-9B22-8233-3F84-A001808EDAC9}"/>
              </a:ext>
            </a:extLst>
          </p:cNvPr>
          <p:cNvCxnSpPr/>
          <p:nvPr/>
        </p:nvCxnSpPr>
        <p:spPr>
          <a:xfrm>
            <a:off x="3840479" y="2357845"/>
            <a:ext cx="0" cy="2122715"/>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86BBF978-9149-B2A0-5A6D-6C78EF6ACC17}"/>
              </a:ext>
            </a:extLst>
          </p:cNvPr>
          <p:cNvCxnSpPr/>
          <p:nvPr/>
        </p:nvCxnSpPr>
        <p:spPr>
          <a:xfrm>
            <a:off x="1325880" y="2357845"/>
            <a:ext cx="0" cy="2122715"/>
          </a:xfrm>
          <a:prstGeom prst="line">
            <a:avLst/>
          </a:prstGeom>
          <a:ln w="28575">
            <a:solidFill>
              <a:srgbClr val="0072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E32EB686-CAE3-A8A5-8F18-05FDFBD9B4E3}"/>
              </a:ext>
            </a:extLst>
          </p:cNvPr>
          <p:cNvCxnSpPr/>
          <p:nvPr/>
        </p:nvCxnSpPr>
        <p:spPr>
          <a:xfrm>
            <a:off x="1325880" y="2357845"/>
            <a:ext cx="2514599" cy="0"/>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404A1514-5E42-A41B-59A8-F02F83AAFBE0}"/>
              </a:ext>
            </a:extLst>
          </p:cNvPr>
          <p:cNvSpPr txBox="1"/>
          <p:nvPr/>
        </p:nvSpPr>
        <p:spPr>
          <a:xfrm>
            <a:off x="594359" y="3163170"/>
            <a:ext cx="566928" cy="503529"/>
          </a:xfrm>
          <a:prstGeom prst="rect">
            <a:avLst/>
          </a:prstGeom>
          <a:noFill/>
        </p:spPr>
        <p:txBody>
          <a:bodyPr wrap="square" lIns="0" tIns="0" rIns="0" bIns="0" anchor="t">
            <a:spAutoFit/>
          </a:bodyPr>
          <a:lstStyle/>
          <a:p>
            <a:pPr algn="r">
              <a:spcAft>
                <a:spcPts val="0"/>
              </a:spcAft>
            </a:pPr>
            <a:r>
              <a:rPr sz="2800" b="1" dirty="0">
                <a:solidFill>
                  <a:srgbClr val="0072B2"/>
                </a:solidFill>
                <a:latin typeface="Meiryo"/>
                <a:ea typeface="Meiryo"/>
                <a:cs typeface="Meiryo"/>
              </a:rPr>
              <a:t>a</a:t>
            </a:r>
          </a:p>
        </p:txBody>
      </p:sp>
      <p:cxnSp>
        <p:nvCxnSpPr>
          <p:cNvPr id="53" name="Connector 52">
            <a:extLst>
              <a:ext uri="{FF2B5EF4-FFF2-40B4-BE49-F238E27FC236}">
                <a16:creationId xmlns:a16="http://schemas.microsoft.com/office/drawing/2014/main" id="{233EA447-2266-77D7-55FB-FFF1EA77E6AA}"/>
              </a:ext>
            </a:extLst>
          </p:cNvPr>
          <p:cNvCxnSpPr/>
          <p:nvPr/>
        </p:nvCxnSpPr>
        <p:spPr>
          <a:xfrm>
            <a:off x="3840479" y="3193068"/>
            <a:ext cx="864566" cy="0"/>
          </a:xfrm>
          <a:prstGeom prst="line">
            <a:avLst/>
          </a:prstGeom>
          <a:ln w="28575">
            <a:solidFill>
              <a:srgbClr val="BF9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971EB6DD-9FCC-2BE5-CCC7-60BA6AC0D461}"/>
              </a:ext>
            </a:extLst>
          </p:cNvPr>
          <p:cNvSpPr txBox="1"/>
          <p:nvPr/>
        </p:nvSpPr>
        <p:spPr>
          <a:xfrm>
            <a:off x="3989298" y="2626140"/>
            <a:ext cx="5669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σ</a:t>
            </a:r>
          </a:p>
        </p:txBody>
      </p:sp>
      <p:cxnSp>
        <p:nvCxnSpPr>
          <p:cNvPr id="55" name="Connector 54">
            <a:extLst>
              <a:ext uri="{FF2B5EF4-FFF2-40B4-BE49-F238E27FC236}">
                <a16:creationId xmlns:a16="http://schemas.microsoft.com/office/drawing/2014/main" id="{CC448DA4-5076-4C76-D6EB-2B1CC5D47E6D}"/>
              </a:ext>
            </a:extLst>
          </p:cNvPr>
          <p:cNvCxnSpPr/>
          <p:nvPr/>
        </p:nvCxnSpPr>
        <p:spPr>
          <a:xfrm>
            <a:off x="1051560" y="4736592"/>
            <a:ext cx="2788919" cy="0"/>
          </a:xfrm>
          <a:prstGeom prst="line">
            <a:avLst/>
          </a:prstGeom>
          <a:ln w="28575">
            <a:solidFill>
              <a:srgbClr val="00A8A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8315A788-A84F-A537-6A25-91690325AF65}"/>
              </a:ext>
            </a:extLst>
          </p:cNvPr>
          <p:cNvCxnSpPr/>
          <p:nvPr/>
        </p:nvCxnSpPr>
        <p:spPr>
          <a:xfrm>
            <a:off x="1051560" y="4480560"/>
            <a:ext cx="0" cy="347472"/>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7528FAB6-2CE0-EAE2-F1C0-77F618B7160C}"/>
              </a:ext>
            </a:extLst>
          </p:cNvPr>
          <p:cNvSpPr txBox="1"/>
          <p:nvPr/>
        </p:nvSpPr>
        <p:spPr>
          <a:xfrm>
            <a:off x="2171700" y="4809744"/>
            <a:ext cx="548640"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μ</a:t>
            </a:r>
          </a:p>
        </p:txBody>
      </p:sp>
      <p:sp>
        <p:nvSpPr>
          <p:cNvPr id="58" name="TextBox 57">
            <a:extLst>
              <a:ext uri="{FF2B5EF4-FFF2-40B4-BE49-F238E27FC236}">
                <a16:creationId xmlns:a16="http://schemas.microsoft.com/office/drawing/2014/main" id="{D840242B-7538-1A2D-09B2-39C8DC604436}"/>
              </a:ext>
            </a:extLst>
          </p:cNvPr>
          <p:cNvSpPr txBox="1"/>
          <p:nvPr/>
        </p:nvSpPr>
        <p:spPr>
          <a:xfrm>
            <a:off x="548639" y="4791456"/>
            <a:ext cx="45720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0</a:t>
            </a:r>
          </a:p>
        </p:txBody>
      </p:sp>
      <p:sp>
        <p:nvSpPr>
          <p:cNvPr id="59" name="Rounded Rectangle 58">
            <a:extLst>
              <a:ext uri="{FF2B5EF4-FFF2-40B4-BE49-F238E27FC236}">
                <a16:creationId xmlns:a16="http://schemas.microsoft.com/office/drawing/2014/main" id="{651F4394-2218-A6EA-358F-C06B9AB19878}"/>
              </a:ext>
            </a:extLst>
          </p:cNvPr>
          <p:cNvSpPr/>
          <p:nvPr/>
        </p:nvSpPr>
        <p:spPr>
          <a:xfrm>
            <a:off x="7406640" y="1737360"/>
            <a:ext cx="4297680" cy="114300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a:extLst>
              <a:ext uri="{FF2B5EF4-FFF2-40B4-BE49-F238E27FC236}">
                <a16:creationId xmlns:a16="http://schemas.microsoft.com/office/drawing/2014/main" id="{AF905B47-5077-94DD-49F1-F5ED623522AF}"/>
              </a:ext>
            </a:extLst>
          </p:cNvPr>
          <p:cNvSpPr txBox="1"/>
          <p:nvPr/>
        </p:nvSpPr>
        <p:spPr>
          <a:xfrm>
            <a:off x="7571231" y="1883664"/>
            <a:ext cx="3968496"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a　高さ</a:t>
            </a:r>
          </a:p>
        </p:txBody>
      </p:sp>
      <p:sp>
        <p:nvSpPr>
          <p:cNvPr id="61" name="TextBox 60">
            <a:extLst>
              <a:ext uri="{FF2B5EF4-FFF2-40B4-BE49-F238E27FC236}">
                <a16:creationId xmlns:a16="http://schemas.microsoft.com/office/drawing/2014/main" id="{7E955104-3772-8BF9-4657-CECAC2B107AD}"/>
              </a:ext>
            </a:extLst>
          </p:cNvPr>
          <p:cNvSpPr txBox="1"/>
          <p:nvPr/>
        </p:nvSpPr>
        <p:spPr>
          <a:xfrm>
            <a:off x="7571231" y="2395728"/>
            <a:ext cx="3968496" cy="338554"/>
          </a:xfrm>
          <a:prstGeom prst="rect">
            <a:avLst/>
          </a:prstGeom>
          <a:noFill/>
        </p:spPr>
        <p:txBody>
          <a:bodyPr wrap="square" lIns="0" tIns="0" rIns="0" bIns="0" anchor="t">
            <a:spAutoFit/>
          </a:bodyPr>
          <a:lstStyle/>
          <a:p>
            <a:pPr algn="l">
              <a:spcAft>
                <a:spcPts val="0"/>
              </a:spcAft>
            </a:pPr>
            <a:r>
              <a:rPr lang="ja-JP" altLang="en-US" sz="2200" b="0">
                <a:solidFill>
                  <a:srgbClr val="262626"/>
                </a:solidFill>
                <a:latin typeface="Meiryo"/>
                <a:ea typeface="Meiryo"/>
                <a:cs typeface="Meiryo"/>
              </a:rPr>
              <a:t>成分波の振幅</a:t>
            </a:r>
            <a:endParaRPr sz="2200" b="0" dirty="0">
              <a:solidFill>
                <a:srgbClr val="262626"/>
              </a:solidFill>
              <a:latin typeface="Meiryo"/>
              <a:ea typeface="Meiryo"/>
              <a:cs typeface="Meiryo"/>
            </a:endParaRPr>
          </a:p>
        </p:txBody>
      </p:sp>
      <p:sp>
        <p:nvSpPr>
          <p:cNvPr id="62" name="Rounded Rectangle 61">
            <a:extLst>
              <a:ext uri="{FF2B5EF4-FFF2-40B4-BE49-F238E27FC236}">
                <a16:creationId xmlns:a16="http://schemas.microsoft.com/office/drawing/2014/main" id="{CDE88096-54A2-B3E1-1141-43DD12F9745F}"/>
              </a:ext>
            </a:extLst>
          </p:cNvPr>
          <p:cNvSpPr/>
          <p:nvPr/>
        </p:nvSpPr>
        <p:spPr>
          <a:xfrm>
            <a:off x="7406640" y="3063239"/>
            <a:ext cx="4297680" cy="114300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a:extLst>
              <a:ext uri="{FF2B5EF4-FFF2-40B4-BE49-F238E27FC236}">
                <a16:creationId xmlns:a16="http://schemas.microsoft.com/office/drawing/2014/main" id="{60670455-4920-AF06-50A0-E656DD070331}"/>
              </a:ext>
            </a:extLst>
          </p:cNvPr>
          <p:cNvSpPr txBox="1"/>
          <p:nvPr/>
        </p:nvSpPr>
        <p:spPr>
          <a:xfrm>
            <a:off x="7571231" y="3209544"/>
            <a:ext cx="3968496"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μ　位置</a:t>
            </a:r>
          </a:p>
        </p:txBody>
      </p:sp>
      <p:sp>
        <p:nvSpPr>
          <p:cNvPr id="64" name="TextBox 63">
            <a:extLst>
              <a:ext uri="{FF2B5EF4-FFF2-40B4-BE49-F238E27FC236}">
                <a16:creationId xmlns:a16="http://schemas.microsoft.com/office/drawing/2014/main" id="{4A0CE04C-9397-0830-F9CF-630C43E40DAA}"/>
              </a:ext>
            </a:extLst>
          </p:cNvPr>
          <p:cNvSpPr txBox="1"/>
          <p:nvPr/>
        </p:nvSpPr>
        <p:spPr>
          <a:xfrm>
            <a:off x="7571231" y="3721607"/>
            <a:ext cx="3968496" cy="338554"/>
          </a:xfrm>
          <a:prstGeom prst="rect">
            <a:avLst/>
          </a:prstGeom>
          <a:noFill/>
        </p:spPr>
        <p:txBody>
          <a:bodyPr wrap="square" lIns="0" tIns="0" rIns="0" bIns="0" anchor="t">
            <a:spAutoFit/>
          </a:bodyPr>
          <a:lstStyle/>
          <a:p>
            <a:pPr algn="l">
              <a:spcAft>
                <a:spcPts val="0"/>
              </a:spcAft>
            </a:pPr>
            <a:r>
              <a:rPr lang="ja-JP" altLang="en-US" sz="2200">
                <a:solidFill>
                  <a:srgbClr val="262626"/>
                </a:solidFill>
                <a:latin typeface="Meiryo"/>
                <a:ea typeface="Meiryo"/>
                <a:cs typeface="Meiryo"/>
              </a:rPr>
              <a:t>成分波のピーク</a:t>
            </a:r>
            <a:r>
              <a:rPr sz="2200" b="0" dirty="0" err="1">
                <a:solidFill>
                  <a:srgbClr val="262626"/>
                </a:solidFill>
                <a:latin typeface="Meiryo"/>
                <a:ea typeface="Meiryo"/>
                <a:cs typeface="Meiryo"/>
              </a:rPr>
              <a:t>時刻</a:t>
            </a:r>
            <a:endParaRPr sz="2200" b="0" dirty="0">
              <a:solidFill>
                <a:srgbClr val="262626"/>
              </a:solidFill>
              <a:latin typeface="Meiryo"/>
              <a:ea typeface="Meiryo"/>
              <a:cs typeface="Meiryo"/>
            </a:endParaRPr>
          </a:p>
        </p:txBody>
      </p:sp>
      <p:sp>
        <p:nvSpPr>
          <p:cNvPr id="65" name="Rounded Rectangle 64">
            <a:extLst>
              <a:ext uri="{FF2B5EF4-FFF2-40B4-BE49-F238E27FC236}">
                <a16:creationId xmlns:a16="http://schemas.microsoft.com/office/drawing/2014/main" id="{AED4DA3D-0E9C-0A3D-CF8D-2118E122E25C}"/>
              </a:ext>
            </a:extLst>
          </p:cNvPr>
          <p:cNvSpPr/>
          <p:nvPr/>
        </p:nvSpPr>
        <p:spPr>
          <a:xfrm>
            <a:off x="7406640" y="4389120"/>
            <a:ext cx="4297680" cy="114300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a:extLst>
              <a:ext uri="{FF2B5EF4-FFF2-40B4-BE49-F238E27FC236}">
                <a16:creationId xmlns:a16="http://schemas.microsoft.com/office/drawing/2014/main" id="{7C758299-557A-264A-1B89-9D6AC796D0BD}"/>
              </a:ext>
            </a:extLst>
          </p:cNvPr>
          <p:cNvSpPr txBox="1"/>
          <p:nvPr/>
        </p:nvSpPr>
        <p:spPr>
          <a:xfrm>
            <a:off x="7571231" y="4535424"/>
            <a:ext cx="3968496" cy="467563"/>
          </a:xfrm>
          <a:prstGeom prst="rect">
            <a:avLst/>
          </a:prstGeom>
          <a:noFill/>
        </p:spPr>
        <p:txBody>
          <a:bodyPr wrap="square" lIns="0" tIns="0" rIns="0" bIns="0" anchor="t">
            <a:spAutoFit/>
          </a:bodyPr>
          <a:lstStyle/>
          <a:p>
            <a:pPr algn="l">
              <a:spcAft>
                <a:spcPts val="0"/>
              </a:spcAft>
            </a:pPr>
            <a:r>
              <a:rPr sz="2600" b="1" dirty="0">
                <a:solidFill>
                  <a:srgbClr val="BF9000"/>
                </a:solidFill>
                <a:latin typeface="Meiryo"/>
                <a:ea typeface="Meiryo"/>
                <a:cs typeface="Meiryo"/>
              </a:rPr>
              <a:t>σ　幅</a:t>
            </a:r>
          </a:p>
        </p:txBody>
      </p:sp>
      <p:sp>
        <p:nvSpPr>
          <p:cNvPr id="67" name="TextBox 66">
            <a:extLst>
              <a:ext uri="{FF2B5EF4-FFF2-40B4-BE49-F238E27FC236}">
                <a16:creationId xmlns:a16="http://schemas.microsoft.com/office/drawing/2014/main" id="{896860CB-82F2-E2AD-9E5B-89E6779E649D}"/>
              </a:ext>
            </a:extLst>
          </p:cNvPr>
          <p:cNvSpPr txBox="1"/>
          <p:nvPr/>
        </p:nvSpPr>
        <p:spPr>
          <a:xfrm>
            <a:off x="7571231" y="5047488"/>
            <a:ext cx="396849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波が続く長さ</a:t>
            </a:r>
          </a:p>
        </p:txBody>
      </p:sp>
      <p:sp>
        <p:nvSpPr>
          <p:cNvPr id="68" name="Rounded Rectangle 67">
            <a:extLst>
              <a:ext uri="{FF2B5EF4-FFF2-40B4-BE49-F238E27FC236}">
                <a16:creationId xmlns:a16="http://schemas.microsoft.com/office/drawing/2014/main" id="{7872691D-D8AB-CAF0-8723-B68315306F83}"/>
              </a:ext>
            </a:extLst>
          </p:cNvPr>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a:extLst>
              <a:ext uri="{FF2B5EF4-FFF2-40B4-BE49-F238E27FC236}">
                <a16:creationId xmlns:a16="http://schemas.microsoft.com/office/drawing/2014/main" id="{04C1D317-E71C-EF56-4D1F-3BA4DA1D7040}"/>
              </a:ext>
            </a:extLst>
          </p:cNvPr>
          <p:cNvSpPr txBox="1"/>
          <p:nvPr/>
        </p:nvSpPr>
        <p:spPr>
          <a:xfrm>
            <a:off x="685800" y="5907024"/>
            <a:ext cx="10835640" cy="369332"/>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基底関数：成分波の形を表す関数　</a:t>
            </a:r>
            <a:r>
              <a:rPr lang="en-US" altLang="ja-JP" sz="2400" b="1" dirty="0">
                <a:solidFill>
                  <a:srgbClr val="262626"/>
                </a:solidFill>
                <a:latin typeface="Meiryo"/>
                <a:ea typeface="Meiryo"/>
                <a:cs typeface="Meiryo"/>
              </a:rPr>
              <a:t>3</a:t>
            </a:r>
            <a:r>
              <a:rPr lang="ja-JP" altLang="en-US" sz="2400" b="1">
                <a:solidFill>
                  <a:srgbClr val="262626"/>
                </a:solidFill>
                <a:latin typeface="Meiryo"/>
                <a:ea typeface="Meiryo"/>
                <a:cs typeface="Meiryo"/>
              </a:rPr>
              <a:t>つのパラメータで決まる。</a:t>
            </a:r>
            <a:endParaRPr lang="ja-JP" altLang="en-US" sz="2400" b="1"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1836119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30EA-04E5-625D-0B07-FC40AEA5F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A658-D80F-4D48-F033-E27EBFE0F4EF}"/>
              </a:ext>
            </a:extLst>
          </p:cNvPr>
          <p:cNvSpPr>
            <a:spLocks noGrp="1"/>
          </p:cNvSpPr>
          <p:nvPr>
            <p:ph type="title"/>
          </p:nvPr>
        </p:nvSpPr>
        <p:spPr/>
        <p:txBody>
          <a:bodyPr/>
          <a:lstStyle/>
          <a:p>
            <a:r>
              <a:rPr sz="4600" dirty="0">
                <a:latin typeface="Meiryo"/>
                <a:ea typeface="Meiryo"/>
                <a:cs typeface="Meiryo"/>
              </a:rPr>
              <a:t>5.2</a:t>
            </a:r>
            <a:r>
              <a:rPr lang="en-US" sz="4600" dirty="0">
                <a:latin typeface="Meiryo"/>
                <a:ea typeface="Meiryo"/>
                <a:cs typeface="Meiryo"/>
              </a:rPr>
              <a:t>  </a:t>
            </a:r>
            <a:r>
              <a:rPr lang="ja-JP" altLang="en-US" sz="4600">
                <a:latin typeface="Meiryo"/>
                <a:ea typeface="Meiryo"/>
                <a:cs typeface="Meiryo"/>
              </a:rPr>
              <a:t>代表的な基底関数の形</a:t>
            </a:r>
            <a:endParaRPr sz="4600" dirty="0">
              <a:latin typeface="Meiryo"/>
              <a:ea typeface="Meiryo"/>
              <a:cs typeface="Meiryo"/>
            </a:endParaRPr>
          </a:p>
        </p:txBody>
      </p:sp>
      <p:sp>
        <p:nvSpPr>
          <p:cNvPr id="17" name="Source">
            <a:extLst>
              <a:ext uri="{FF2B5EF4-FFF2-40B4-BE49-F238E27FC236}">
                <a16:creationId xmlns:a16="http://schemas.microsoft.com/office/drawing/2014/main" id="{791A7FE7-9F34-BABB-F951-C8EED51C1EB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　／　43. Tigges 2017　／　44. Basso 2024</a:t>
            </a:r>
          </a:p>
        </p:txBody>
      </p:sp>
      <p:sp>
        <p:nvSpPr>
          <p:cNvPr id="18" name="TextBox 17">
            <a:extLst>
              <a:ext uri="{FF2B5EF4-FFF2-40B4-BE49-F238E27FC236}">
                <a16:creationId xmlns:a16="http://schemas.microsoft.com/office/drawing/2014/main" id="{F7170AA8-D267-0134-E8A6-0E5CF85D4AF0}"/>
              </a:ext>
            </a:extLst>
          </p:cNvPr>
          <p:cNvSpPr txBox="1"/>
          <p:nvPr/>
        </p:nvSpPr>
        <p:spPr>
          <a:xfrm>
            <a:off x="548640" y="2259871"/>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a:extLst>
              <a:ext uri="{FF2B5EF4-FFF2-40B4-BE49-F238E27FC236}">
                <a16:creationId xmlns:a16="http://schemas.microsoft.com/office/drawing/2014/main" id="{7CE107D5-1BA4-3200-A36B-7648D710D64D}"/>
              </a:ext>
            </a:extLst>
          </p:cNvPr>
          <p:cNvSpPr/>
          <p:nvPr/>
        </p:nvSpPr>
        <p:spPr>
          <a:xfrm>
            <a:off x="777240" y="2735359"/>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a:extLst>
              <a:ext uri="{FF2B5EF4-FFF2-40B4-BE49-F238E27FC236}">
                <a16:creationId xmlns:a16="http://schemas.microsoft.com/office/drawing/2014/main" id="{A541E21D-3657-A2CE-3494-58917D18142A}"/>
              </a:ext>
            </a:extLst>
          </p:cNvPr>
          <p:cNvCxnSpPr/>
          <p:nvPr/>
        </p:nvCxnSpPr>
        <p:spPr>
          <a:xfrm>
            <a:off x="77724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90670FD-9CB6-E3A0-FE2C-E93F1F4CC189}"/>
              </a:ext>
            </a:extLst>
          </p:cNvPr>
          <p:cNvSpPr txBox="1"/>
          <p:nvPr/>
        </p:nvSpPr>
        <p:spPr>
          <a:xfrm>
            <a:off x="64008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a:extLst>
              <a:ext uri="{FF2B5EF4-FFF2-40B4-BE49-F238E27FC236}">
                <a16:creationId xmlns:a16="http://schemas.microsoft.com/office/drawing/2014/main" id="{A52898C0-09C2-0C77-4126-D7433F350FBB}"/>
              </a:ext>
            </a:extLst>
          </p:cNvPr>
          <p:cNvSpPr txBox="1"/>
          <p:nvPr/>
        </p:nvSpPr>
        <p:spPr>
          <a:xfrm>
            <a:off x="4389120" y="2259871"/>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a:extLst>
              <a:ext uri="{FF2B5EF4-FFF2-40B4-BE49-F238E27FC236}">
                <a16:creationId xmlns:a16="http://schemas.microsoft.com/office/drawing/2014/main" id="{0A688535-C768-759F-D813-57F73C13B208}"/>
              </a:ext>
            </a:extLst>
          </p:cNvPr>
          <p:cNvSpPr/>
          <p:nvPr/>
        </p:nvSpPr>
        <p:spPr>
          <a:xfrm>
            <a:off x="4617720" y="2735359"/>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a:extLst>
              <a:ext uri="{FF2B5EF4-FFF2-40B4-BE49-F238E27FC236}">
                <a16:creationId xmlns:a16="http://schemas.microsoft.com/office/drawing/2014/main" id="{E1D9305B-4CA5-3329-25D8-D6FD1F59071E}"/>
              </a:ext>
            </a:extLst>
          </p:cNvPr>
          <p:cNvCxnSpPr/>
          <p:nvPr/>
        </p:nvCxnSpPr>
        <p:spPr>
          <a:xfrm>
            <a:off x="461772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175083-A54C-952A-ACCE-CD43F6A45651}"/>
              </a:ext>
            </a:extLst>
          </p:cNvPr>
          <p:cNvSpPr txBox="1"/>
          <p:nvPr/>
        </p:nvSpPr>
        <p:spPr>
          <a:xfrm>
            <a:off x="448056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a:extLst>
              <a:ext uri="{FF2B5EF4-FFF2-40B4-BE49-F238E27FC236}">
                <a16:creationId xmlns:a16="http://schemas.microsoft.com/office/drawing/2014/main" id="{E32F5BC0-B2E6-B7F2-540D-15B9EE5C1E43}"/>
              </a:ext>
            </a:extLst>
          </p:cNvPr>
          <p:cNvSpPr txBox="1"/>
          <p:nvPr/>
        </p:nvSpPr>
        <p:spPr>
          <a:xfrm>
            <a:off x="8229600" y="2259871"/>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a:extLst>
              <a:ext uri="{FF2B5EF4-FFF2-40B4-BE49-F238E27FC236}">
                <a16:creationId xmlns:a16="http://schemas.microsoft.com/office/drawing/2014/main" id="{ED0DE803-E607-5A8F-2A34-6FE1596CAA47}"/>
              </a:ext>
            </a:extLst>
          </p:cNvPr>
          <p:cNvSpPr/>
          <p:nvPr/>
        </p:nvSpPr>
        <p:spPr>
          <a:xfrm>
            <a:off x="8458200" y="2735359"/>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BDA5D69C-5DA3-185C-C483-D28948C96F68}"/>
              </a:ext>
            </a:extLst>
          </p:cNvPr>
          <p:cNvCxnSpPr/>
          <p:nvPr/>
        </p:nvCxnSpPr>
        <p:spPr>
          <a:xfrm>
            <a:off x="845820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22340-E2D9-7A33-D201-691CCBDECFBE}"/>
              </a:ext>
            </a:extLst>
          </p:cNvPr>
          <p:cNvSpPr txBox="1"/>
          <p:nvPr/>
        </p:nvSpPr>
        <p:spPr>
          <a:xfrm>
            <a:off x="8321040" y="4225831"/>
            <a:ext cx="3200400" cy="1143903"/>
          </a:xfrm>
          <a:prstGeom prst="rect">
            <a:avLst/>
          </a:prstGeom>
          <a:noFill/>
        </p:spPr>
        <p:txBody>
          <a:bodyPr wrap="square" lIns="0" tIns="0" rIns="0" bIns="0" anchor="t">
            <a:spAutoFit/>
          </a:bodyPr>
          <a:lstStyle/>
          <a:p>
            <a:pPr algn="ctr">
              <a:spcAft>
                <a:spcPts val="500"/>
              </a:spcAft>
            </a:pPr>
            <a:r>
              <a:rPr sz="2200" b="0" dirty="0" err="1">
                <a:solidFill>
                  <a:srgbClr val="262626"/>
                </a:solidFill>
                <a:latin typeface="Meiryo"/>
                <a:ea typeface="Meiryo"/>
                <a:cs typeface="Meiryo"/>
              </a:rPr>
              <a:t>対称形に歪みを</a:t>
            </a:r>
            <a:r>
              <a:rPr lang="ja-JP" altLang="en-US" sz="2200">
                <a:solidFill>
                  <a:srgbClr val="262626"/>
                </a:solidFill>
                <a:latin typeface="Meiryo"/>
                <a:ea typeface="Meiryo"/>
                <a:cs typeface="Meiryo"/>
              </a:rPr>
              <a:t>足す。</a:t>
            </a:r>
            <a:endParaRPr sz="2200" b="0" dirty="0">
              <a:solidFill>
                <a:srgbClr val="262626"/>
              </a:solidFill>
              <a:latin typeface="Meiryo"/>
              <a:ea typeface="Meiryo"/>
              <a:cs typeface="Meiryo"/>
            </a:endParaRPr>
          </a:p>
          <a:p>
            <a:pPr algn="ctr">
              <a:spcAft>
                <a:spcPts val="500"/>
              </a:spcAft>
            </a:pPr>
            <a:r>
              <a:rPr lang="ja-JP" altLang="en-US" sz="2200">
                <a:solidFill>
                  <a:srgbClr val="262626"/>
                </a:solidFill>
                <a:latin typeface="Meiryo"/>
                <a:ea typeface="Meiryo"/>
                <a:cs typeface="Meiryo"/>
              </a:rPr>
              <a:t>頂点の位置や幅といった</a:t>
            </a:r>
            <a:endParaRPr lang="en-US" altLang="ja-JP" sz="2200" dirty="0">
              <a:solidFill>
                <a:srgbClr val="262626"/>
              </a:solidFill>
              <a:latin typeface="Meiryo"/>
              <a:ea typeface="Meiryo"/>
              <a:cs typeface="Meiryo"/>
            </a:endParaRPr>
          </a:p>
          <a:p>
            <a:pPr algn="ctr">
              <a:spcAft>
                <a:spcPts val="500"/>
              </a:spcAft>
            </a:pPr>
            <a:r>
              <a:rPr lang="ja-JP" altLang="en-US" sz="2200" b="0">
                <a:solidFill>
                  <a:srgbClr val="262626"/>
                </a:solidFill>
                <a:latin typeface="Meiryo"/>
                <a:ea typeface="Meiryo"/>
                <a:cs typeface="Meiryo"/>
              </a:rPr>
              <a:t>意味が保たれやすい。</a:t>
            </a:r>
            <a:endParaRPr sz="2200" b="0" dirty="0">
              <a:solidFill>
                <a:srgbClr val="262626"/>
              </a:solidFill>
              <a:latin typeface="Meiryo"/>
              <a:ea typeface="Meiryo"/>
              <a:cs typeface="Meiryo"/>
            </a:endParaRPr>
          </a:p>
        </p:txBody>
      </p:sp>
      <p:sp>
        <p:nvSpPr>
          <p:cNvPr id="29" name="PageNo">
            <a:extLst>
              <a:ext uri="{FF2B5EF4-FFF2-40B4-BE49-F238E27FC236}">
                <a16:creationId xmlns:a16="http://schemas.microsoft.com/office/drawing/2014/main" id="{95549798-D60B-80BD-C801-3F5B2F2F136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78/119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5649611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2E97-FD86-89BC-9E40-3D844B6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BAA0-C300-1338-66CD-A25E11D77395}"/>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29" name="Source">
            <a:extLst>
              <a:ext uri="{FF2B5EF4-FFF2-40B4-BE49-F238E27FC236}">
                <a16:creationId xmlns:a16="http://schemas.microsoft.com/office/drawing/2014/main" id="{4A79E67F-B058-1420-ABEB-F5967EADE170}"/>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　／　43. Tigges 2017</a:t>
            </a:r>
          </a:p>
        </p:txBody>
      </p:sp>
      <p:sp>
        <p:nvSpPr>
          <p:cNvPr id="31" name="Rounded Rectangle 30">
            <a:extLst>
              <a:ext uri="{FF2B5EF4-FFF2-40B4-BE49-F238E27FC236}">
                <a16:creationId xmlns:a16="http://schemas.microsoft.com/office/drawing/2014/main" id="{A95E1915-411C-BBFF-7024-2E42B82CDA0C}"/>
              </a:ext>
            </a:extLst>
          </p:cNvPr>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EFFEE4A-30A1-22B8-0D9C-A917263018AD}"/>
              </a:ext>
            </a:extLst>
          </p:cNvPr>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a:extLst>
              <a:ext uri="{FF2B5EF4-FFF2-40B4-BE49-F238E27FC236}">
                <a16:creationId xmlns:a16="http://schemas.microsoft.com/office/drawing/2014/main" id="{D6572F29-EF6B-6F34-6C3E-D08DB7C870CD}"/>
              </a:ext>
            </a:extLst>
          </p:cNvPr>
          <p:cNvSpPr txBox="1"/>
          <p:nvPr/>
        </p:nvSpPr>
        <p:spPr>
          <a:xfrm>
            <a:off x="612648"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前進波</a:t>
            </a:r>
            <a:r>
              <a:rPr sz="2200" b="0" dirty="0">
                <a:solidFill>
                  <a:srgbClr val="262626"/>
                </a:solidFill>
                <a:latin typeface="Meiryo"/>
                <a:ea typeface="Meiryo"/>
                <a:cs typeface="Meiryo"/>
              </a:rPr>
              <a:t> ＋ </a:t>
            </a:r>
            <a:r>
              <a:rPr sz="2200" b="0" dirty="0" err="1">
                <a:solidFill>
                  <a:srgbClr val="262626"/>
                </a:solidFill>
                <a:latin typeface="Meiryo"/>
                <a:ea typeface="Meiryo"/>
                <a:cs typeface="Meiryo"/>
              </a:rPr>
              <a:t>反射波</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解釈がはっきりする</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ノイズに強い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4" name="TextBox 33">
            <a:extLst>
              <a:ext uri="{FF2B5EF4-FFF2-40B4-BE49-F238E27FC236}">
                <a16:creationId xmlns:a16="http://schemas.microsoft.com/office/drawing/2014/main" id="{3411C040-6134-7A41-60FA-F972649B0155}"/>
              </a:ext>
            </a:extLst>
          </p:cNvPr>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a:extLst>
              <a:ext uri="{FF2B5EF4-FFF2-40B4-BE49-F238E27FC236}">
                <a16:creationId xmlns:a16="http://schemas.microsoft.com/office/drawing/2014/main" id="{42608DC1-FA05-609C-A861-E753F8668473}"/>
              </a:ext>
            </a:extLst>
          </p:cNvPr>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a:extLst>
              <a:ext uri="{FF2B5EF4-FFF2-40B4-BE49-F238E27FC236}">
                <a16:creationId xmlns:a16="http://schemas.microsoft.com/office/drawing/2014/main" id="{4FEB43BB-95B2-A27B-F5CE-83052F26CA33}"/>
              </a:ext>
            </a:extLst>
          </p:cNvPr>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a:extLst>
              <a:ext uri="{FF2B5EF4-FFF2-40B4-BE49-F238E27FC236}">
                <a16:creationId xmlns:a16="http://schemas.microsoft.com/office/drawing/2014/main" id="{9269C179-15EA-DE8D-8DE6-3BCB5A663BD7}"/>
              </a:ext>
            </a:extLst>
          </p:cNvPr>
          <p:cNvSpPr txBox="1"/>
          <p:nvPr/>
        </p:nvSpPr>
        <p:spPr>
          <a:xfrm>
            <a:off x="4416552"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反射が複数回戻ると</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みなす</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当てはまりは良い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8" name="TextBox 37">
            <a:extLst>
              <a:ext uri="{FF2B5EF4-FFF2-40B4-BE49-F238E27FC236}">
                <a16:creationId xmlns:a16="http://schemas.microsoft.com/office/drawing/2014/main" id="{B4D79022-9F78-EEE6-6DD3-41AF1A5CA922}"/>
              </a:ext>
            </a:extLst>
          </p:cNvPr>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a:extLst>
              <a:ext uri="{FF2B5EF4-FFF2-40B4-BE49-F238E27FC236}">
                <a16:creationId xmlns:a16="http://schemas.microsoft.com/office/drawing/2014/main" id="{9744C5AD-C28B-24E3-F38C-FB3E8BB1BAF2}"/>
              </a:ext>
            </a:extLst>
          </p:cNvPr>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57463DA3-D3A8-358B-4B01-A0D8F9A0BAD2}"/>
              </a:ext>
            </a:extLst>
          </p:cNvPr>
          <p:cNvSpPr txBox="1"/>
          <p:nvPr/>
        </p:nvSpPr>
        <p:spPr>
          <a:xfrm>
            <a:off x="8247888" y="2423160"/>
            <a:ext cx="3255264" cy="415498"/>
          </a:xfrm>
          <a:prstGeom prst="rect">
            <a:avLst/>
          </a:prstGeom>
          <a:noFill/>
        </p:spPr>
        <p:txBody>
          <a:bodyPr wrap="square" lIns="0" tIns="0" rIns="0" bIns="0" anchor="t">
            <a:spAutoFit/>
          </a:bodyPr>
          <a:lstStyle/>
          <a:p>
            <a:pPr algn="ctr"/>
            <a:r>
              <a:rPr lang="en-US" altLang="ja-JP" sz="2700" b="1" dirty="0">
                <a:solidFill>
                  <a:srgbClr val="D55E00"/>
                </a:solidFill>
                <a:latin typeface="Meiryo"/>
                <a:ea typeface="Meiryo"/>
                <a:cs typeface="Meiryo"/>
              </a:rPr>
              <a:t>6</a:t>
            </a:r>
            <a:r>
              <a:rPr lang="ja-JP" altLang="en-US" sz="2700" b="1">
                <a:solidFill>
                  <a:srgbClr val="D55E00"/>
                </a:solidFill>
                <a:latin typeface="Meiryo"/>
                <a:ea typeface="Meiryo"/>
                <a:cs typeface="Meiryo"/>
              </a:rPr>
              <a:t>本以上</a:t>
            </a:r>
            <a:endParaRPr sz="2700" b="1" dirty="0">
              <a:solidFill>
                <a:srgbClr val="D55E00"/>
              </a:solidFill>
              <a:latin typeface="Meiryo"/>
              <a:ea typeface="Meiryo"/>
              <a:cs typeface="Meiryo"/>
            </a:endParaRPr>
          </a:p>
        </p:txBody>
      </p:sp>
      <p:sp>
        <p:nvSpPr>
          <p:cNvPr id="41" name="TextBox 40">
            <a:extLst>
              <a:ext uri="{FF2B5EF4-FFF2-40B4-BE49-F238E27FC236}">
                <a16:creationId xmlns:a16="http://schemas.microsoft.com/office/drawing/2014/main" id="{2A9B0B9E-0ABE-2D28-A0BE-9D4B60AC99B7}"/>
              </a:ext>
            </a:extLst>
          </p:cNvPr>
          <p:cNvSpPr txBox="1"/>
          <p:nvPr/>
        </p:nvSpPr>
        <p:spPr>
          <a:xfrm>
            <a:off x="8220456" y="2999232"/>
            <a:ext cx="3310128" cy="1118255"/>
          </a:xfrm>
          <a:prstGeom prst="rect">
            <a:avLst/>
          </a:prstGeom>
          <a:noFill/>
        </p:spPr>
        <p:txBody>
          <a:bodyPr wrap="square" lIns="0" tIns="0" rIns="0" bIns="0" anchor="t">
            <a:spAutoFit/>
          </a:bodyPr>
          <a:lstStyle/>
          <a:p>
            <a:pPr algn="ctr">
              <a:spcAft>
                <a:spcPts val="400"/>
              </a:spcAft>
            </a:pPr>
            <a:r>
              <a:rPr lang="ja-JP" altLang="en-US" sz="2200">
                <a:solidFill>
                  <a:srgbClr val="262626"/>
                </a:solidFill>
                <a:latin typeface="Meiryo"/>
                <a:ea typeface="Meiryo"/>
                <a:cs typeface="Meiryo"/>
              </a:rPr>
              <a:t>誤差</a:t>
            </a:r>
            <a:r>
              <a:rPr sz="2200" b="0" dirty="0" err="1">
                <a:solidFill>
                  <a:srgbClr val="262626"/>
                </a:solidFill>
                <a:latin typeface="Meiryo"/>
                <a:ea typeface="Meiryo"/>
                <a:cs typeface="Meiryo"/>
              </a:rPr>
              <a:t>はいくらでも</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小さくできるが</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解が定まらない。</a:t>
            </a:r>
            <a:endParaRPr sz="2200" b="0" dirty="0">
              <a:solidFill>
                <a:srgbClr val="262626"/>
              </a:solidFill>
              <a:latin typeface="Meiryo"/>
              <a:ea typeface="Meiryo"/>
              <a:cs typeface="Meiryo"/>
            </a:endParaRPr>
          </a:p>
        </p:txBody>
      </p:sp>
      <p:sp>
        <p:nvSpPr>
          <p:cNvPr id="42" name="TextBox 41">
            <a:extLst>
              <a:ext uri="{FF2B5EF4-FFF2-40B4-BE49-F238E27FC236}">
                <a16:creationId xmlns:a16="http://schemas.microsoft.com/office/drawing/2014/main" id="{F95EBEB7-8EEC-6C5D-AA68-DDA11F54812B}"/>
              </a:ext>
            </a:extLst>
          </p:cNvPr>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a:extLst>
              <a:ext uri="{FF2B5EF4-FFF2-40B4-BE49-F238E27FC236}">
                <a16:creationId xmlns:a16="http://schemas.microsoft.com/office/drawing/2014/main" id="{4744AEBD-8016-06E9-6521-FE10F73D4EA6}"/>
              </a:ext>
            </a:extLst>
          </p:cNvPr>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BE942A84-6E8B-1210-0C06-4286F0CCD0E8}"/>
              </a:ext>
            </a:extLst>
          </p:cNvPr>
          <p:cNvSpPr txBox="1"/>
          <p:nvPr/>
        </p:nvSpPr>
        <p:spPr>
          <a:xfrm>
            <a:off x="685800" y="5248656"/>
            <a:ext cx="10835640" cy="777136"/>
          </a:xfrm>
          <a:prstGeom prst="rect">
            <a:avLst/>
          </a:prstGeom>
          <a:noFill/>
        </p:spPr>
        <p:txBody>
          <a:bodyPr wrap="square" lIns="0" tIns="0" rIns="0" bIns="0" anchor="t">
            <a:spAutoFit/>
          </a:bodyPr>
          <a:lstStyle/>
          <a:p>
            <a:pPr algn="ctr">
              <a:spcAft>
                <a:spcPts val="300"/>
              </a:spcAft>
            </a:pPr>
            <a:r>
              <a:rPr sz="2400" b="1" dirty="0" err="1">
                <a:solidFill>
                  <a:srgbClr val="262626"/>
                </a:solidFill>
                <a:latin typeface="Meiryo"/>
                <a:ea typeface="Meiryo"/>
                <a:cs typeface="Meiryo"/>
              </a:rPr>
              <a:t>本数を増やせば</a:t>
            </a:r>
            <a:r>
              <a:rPr lang="ja-JP" altLang="en-US" sz="2400" b="1">
                <a:solidFill>
                  <a:srgbClr val="262626"/>
                </a:solidFill>
                <a:latin typeface="Meiryo"/>
                <a:ea typeface="Meiryo"/>
                <a:cs typeface="Meiryo"/>
              </a:rPr>
              <a:t>よく近似できる</a:t>
            </a:r>
            <a:r>
              <a:rPr sz="2400" b="1" dirty="0" err="1">
                <a:solidFill>
                  <a:srgbClr val="262626"/>
                </a:solidFill>
                <a:latin typeface="Meiryo"/>
                <a:ea typeface="Meiryo"/>
                <a:cs typeface="Meiryo"/>
              </a:rPr>
              <a:t>が、解が一意でなくなる</a:t>
            </a:r>
            <a:r>
              <a:rPr lang="ja-JP" altLang="en-US" sz="2400" b="1">
                <a:solidFill>
                  <a:srgbClr val="262626"/>
                </a:solidFill>
                <a:latin typeface="Meiryo"/>
                <a:ea typeface="Meiryo"/>
                <a:cs typeface="Meiryo"/>
              </a:rPr>
              <a:t>。</a:t>
            </a:r>
            <a:endParaRPr sz="2400" b="1" dirty="0">
              <a:solidFill>
                <a:srgbClr val="262626"/>
              </a:solidFill>
              <a:latin typeface="Meiryo"/>
              <a:ea typeface="Meiryo"/>
              <a:cs typeface="Meiryo"/>
            </a:endParaRPr>
          </a:p>
          <a:p>
            <a:pPr algn="ctr">
              <a:spcAft>
                <a:spcPts val="300"/>
              </a:spcAft>
            </a:pPr>
            <a:r>
              <a:rPr lang="ja-JP" altLang="en-US" sz="2400" b="1">
                <a:solidFill>
                  <a:srgbClr val="262626"/>
                </a:solidFill>
                <a:latin typeface="Meiryo"/>
                <a:ea typeface="Meiryo"/>
                <a:cs typeface="Meiryo"/>
              </a:rPr>
              <a:t>バランスが良いモデルを評価する基準がある。</a:t>
            </a:r>
            <a:endParaRPr sz="2400" b="1" dirty="0">
              <a:solidFill>
                <a:srgbClr val="262626"/>
              </a:solidFill>
              <a:latin typeface="Meiryo"/>
              <a:ea typeface="Meiryo"/>
              <a:cs typeface="Meiryo"/>
            </a:endParaRPr>
          </a:p>
        </p:txBody>
      </p:sp>
      <p:sp>
        <p:nvSpPr>
          <p:cNvPr id="45" name="PageNo">
            <a:extLst>
              <a:ext uri="{FF2B5EF4-FFF2-40B4-BE49-F238E27FC236}">
                <a16:creationId xmlns:a16="http://schemas.microsoft.com/office/drawing/2014/main" id="{2D1C4157-71B4-AFE4-950B-4DF0587584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79/119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374790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80/119</a:t>
            </a:r>
          </a:p>
        </p:txBody>
      </p:sp>
      <p:sp>
        <p:nvSpPr>
          <p:cNvPr id="44" name="Rounded Rectangle 43"/>
          <p:cNvSpPr/>
          <p:nvPr/>
        </p:nvSpPr>
        <p:spPr>
          <a:xfrm>
            <a:off x="502920"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3364992"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227064" y="2187303"/>
            <a:ext cx="26151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9089136" y="2187303"/>
            <a:ext cx="2615184" cy="30175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ight Arrow 47"/>
          <p:cNvSpPr/>
          <p:nvPr/>
        </p:nvSpPr>
        <p:spPr>
          <a:xfrm>
            <a:off x="3159252"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ight Arrow 48"/>
          <p:cNvSpPr/>
          <p:nvPr/>
        </p:nvSpPr>
        <p:spPr>
          <a:xfrm>
            <a:off x="6021324"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ight Arrow 49"/>
          <p:cNvSpPr/>
          <p:nvPr/>
        </p:nvSpPr>
        <p:spPr>
          <a:xfrm>
            <a:off x="8883396"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12648"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①</a:t>
            </a:r>
          </a:p>
        </p:txBody>
      </p:sp>
      <p:sp>
        <p:nvSpPr>
          <p:cNvPr id="52" name="TextBox 51"/>
          <p:cNvSpPr txBox="1"/>
          <p:nvPr/>
        </p:nvSpPr>
        <p:spPr>
          <a:xfrm>
            <a:off x="612648"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モデルを</a:t>
            </a:r>
          </a:p>
          <a:p>
            <a:pPr algn="ctr">
              <a:spcAft>
                <a:spcPts val="0"/>
              </a:spcAft>
            </a:pPr>
            <a:r>
              <a:rPr sz="2400" b="1" dirty="0">
                <a:solidFill>
                  <a:srgbClr val="262626"/>
                </a:solidFill>
                <a:latin typeface="Meiryo"/>
                <a:ea typeface="Meiryo"/>
                <a:cs typeface="Meiryo"/>
              </a:rPr>
              <a:t>決める</a:t>
            </a:r>
          </a:p>
        </p:txBody>
      </p:sp>
      <p:sp>
        <p:nvSpPr>
          <p:cNvPr id="53" name="TextBox 52"/>
          <p:cNvSpPr txBox="1"/>
          <p:nvPr/>
        </p:nvSpPr>
        <p:spPr>
          <a:xfrm>
            <a:off x="612648"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基底関数の</a:t>
            </a:r>
          </a:p>
          <a:p>
            <a:pPr algn="ctr">
              <a:spcAft>
                <a:spcPts val="0"/>
              </a:spcAft>
            </a:pPr>
            <a:r>
              <a:rPr sz="2200" b="0" dirty="0">
                <a:solidFill>
                  <a:srgbClr val="595959"/>
                </a:solidFill>
                <a:latin typeface="Meiryo"/>
                <a:ea typeface="Meiryo"/>
                <a:cs typeface="Meiryo"/>
              </a:rPr>
              <a:t>種類と本数</a:t>
            </a:r>
          </a:p>
          <a:p>
            <a:pPr algn="ctr">
              <a:spcAft>
                <a:spcPts val="0"/>
              </a:spcAft>
            </a:pPr>
            <a:r>
              <a:rPr sz="2200" b="0" dirty="0">
                <a:solidFill>
                  <a:srgbClr val="595959"/>
                </a:solidFill>
                <a:latin typeface="Meiryo"/>
                <a:ea typeface="Meiryo"/>
                <a:cs typeface="Meiryo"/>
              </a:rPr>
              <a:t>（設計値）</a:t>
            </a:r>
          </a:p>
        </p:txBody>
      </p:sp>
      <p:sp>
        <p:nvSpPr>
          <p:cNvPr id="54" name="TextBox 53"/>
          <p:cNvSpPr txBox="1"/>
          <p:nvPr/>
        </p:nvSpPr>
        <p:spPr>
          <a:xfrm>
            <a:off x="3474720"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②</a:t>
            </a:r>
          </a:p>
        </p:txBody>
      </p:sp>
      <p:sp>
        <p:nvSpPr>
          <p:cNvPr id="55" name="TextBox 54"/>
          <p:cNvSpPr txBox="1"/>
          <p:nvPr/>
        </p:nvSpPr>
        <p:spPr>
          <a:xfrm>
            <a:off x="3474720" y="2900534"/>
            <a:ext cx="2395728" cy="738664"/>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初期値と</a:t>
            </a:r>
          </a:p>
          <a:p>
            <a:pPr algn="ctr">
              <a:spcAft>
                <a:spcPts val="0"/>
              </a:spcAft>
            </a:pPr>
            <a:r>
              <a:rPr sz="2400" b="1" dirty="0" err="1">
                <a:solidFill>
                  <a:srgbClr val="262626"/>
                </a:solidFill>
                <a:latin typeface="Meiryo"/>
                <a:ea typeface="Meiryo"/>
                <a:cs typeface="Meiryo"/>
              </a:rPr>
              <a:t>境界を</a:t>
            </a:r>
            <a:r>
              <a:rPr lang="ja-JP" altLang="en-US" sz="2400" b="1">
                <a:solidFill>
                  <a:srgbClr val="262626"/>
                </a:solidFill>
                <a:latin typeface="Meiryo"/>
                <a:ea typeface="Meiryo"/>
                <a:cs typeface="Meiryo"/>
              </a:rPr>
              <a:t>決める</a:t>
            </a:r>
            <a:endParaRPr sz="2400" b="1" dirty="0">
              <a:solidFill>
                <a:srgbClr val="262626"/>
              </a:solidFill>
              <a:latin typeface="Meiryo"/>
              <a:ea typeface="Meiryo"/>
              <a:cs typeface="Meiryo"/>
            </a:endParaRPr>
          </a:p>
        </p:txBody>
      </p:sp>
      <p:sp>
        <p:nvSpPr>
          <p:cNvPr id="56" name="TextBox 55"/>
          <p:cNvSpPr txBox="1"/>
          <p:nvPr/>
        </p:nvSpPr>
        <p:spPr>
          <a:xfrm>
            <a:off x="3474720"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どこから探すか。</a:t>
            </a:r>
          </a:p>
          <a:p>
            <a:pPr algn="ctr">
              <a:spcAft>
                <a:spcPts val="0"/>
              </a:spcAft>
            </a:pPr>
            <a:r>
              <a:rPr sz="2200" b="0" dirty="0">
                <a:solidFill>
                  <a:srgbClr val="595959"/>
                </a:solidFill>
                <a:latin typeface="Meiryo"/>
                <a:ea typeface="Meiryo"/>
                <a:cs typeface="Meiryo"/>
              </a:rPr>
              <a:t>どこまで許すか。</a:t>
            </a:r>
          </a:p>
          <a:p>
            <a:pPr algn="ctr">
              <a:spcAft>
                <a:spcPts val="0"/>
              </a:spcAft>
            </a:pPr>
            <a:r>
              <a:rPr sz="2200" b="0" dirty="0">
                <a:solidFill>
                  <a:srgbClr val="595959"/>
                </a:solidFill>
                <a:latin typeface="Meiryo"/>
                <a:ea typeface="Meiryo"/>
                <a:cs typeface="Meiryo"/>
              </a:rPr>
              <a:t>（設計値）</a:t>
            </a:r>
          </a:p>
        </p:txBody>
      </p:sp>
      <p:sp>
        <p:nvSpPr>
          <p:cNvPr id="57" name="TextBox 56"/>
          <p:cNvSpPr txBox="1"/>
          <p:nvPr/>
        </p:nvSpPr>
        <p:spPr>
          <a:xfrm>
            <a:off x="6336792" y="2333607"/>
            <a:ext cx="2395728"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③</a:t>
            </a:r>
          </a:p>
        </p:txBody>
      </p:sp>
      <p:sp>
        <p:nvSpPr>
          <p:cNvPr id="58" name="TextBox 57"/>
          <p:cNvSpPr txBox="1"/>
          <p:nvPr/>
        </p:nvSpPr>
        <p:spPr>
          <a:xfrm>
            <a:off x="6336792" y="2900534"/>
            <a:ext cx="2395728" cy="738664"/>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モデルを</a:t>
            </a:r>
            <a:endParaRPr lang="en-US" altLang="ja-JP" sz="2400" b="1" dirty="0">
              <a:solidFill>
                <a:srgbClr val="262626"/>
              </a:solidFill>
              <a:latin typeface="Meiryo"/>
              <a:ea typeface="Meiryo"/>
              <a:cs typeface="Meiryo"/>
            </a:endParaRPr>
          </a:p>
          <a:p>
            <a:pPr algn="ctr">
              <a:spcAft>
                <a:spcPts val="0"/>
              </a:spcAft>
            </a:pPr>
            <a:r>
              <a:rPr lang="ja-JP" altLang="en-US" sz="2400" b="1">
                <a:solidFill>
                  <a:srgbClr val="262626"/>
                </a:solidFill>
                <a:latin typeface="Meiryo"/>
                <a:ea typeface="Meiryo"/>
                <a:cs typeface="Meiryo"/>
              </a:rPr>
              <a:t>当てはめる</a:t>
            </a:r>
            <a:endParaRPr sz="2400" b="1" dirty="0">
              <a:solidFill>
                <a:srgbClr val="262626"/>
              </a:solidFill>
              <a:latin typeface="Meiryo"/>
              <a:ea typeface="Meiryo"/>
              <a:cs typeface="Meiryo"/>
            </a:endParaRPr>
          </a:p>
        </p:txBody>
      </p:sp>
      <p:sp>
        <p:nvSpPr>
          <p:cNvPr id="59" name="TextBox 58"/>
          <p:cNvSpPr txBox="1"/>
          <p:nvPr/>
        </p:nvSpPr>
        <p:spPr>
          <a:xfrm>
            <a:off x="6336792" y="3878943"/>
            <a:ext cx="2395728" cy="1015663"/>
          </a:xfrm>
          <a:prstGeom prst="rect">
            <a:avLst/>
          </a:prstGeom>
          <a:noFill/>
        </p:spPr>
        <p:txBody>
          <a:bodyPr wrap="square" lIns="0" tIns="0" rIns="0" bIns="0" anchor="t">
            <a:spAutoFit/>
          </a:bodyPr>
          <a:lstStyle/>
          <a:p>
            <a:pPr algn="ctr">
              <a:spcAft>
                <a:spcPts val="0"/>
              </a:spcAft>
            </a:pPr>
            <a:r>
              <a:rPr lang="ja-JP" altLang="en-US" sz="2200" b="0">
                <a:solidFill>
                  <a:srgbClr val="595959"/>
                </a:solidFill>
                <a:latin typeface="Meiryo"/>
                <a:ea typeface="Meiryo"/>
                <a:cs typeface="Meiryo"/>
              </a:rPr>
              <a:t>実波形と誤差を　最小にするように反復計算。</a:t>
            </a:r>
            <a:endParaRPr sz="2200" b="0" dirty="0">
              <a:solidFill>
                <a:srgbClr val="595959"/>
              </a:solidFill>
              <a:latin typeface="Meiryo"/>
              <a:ea typeface="Meiryo"/>
              <a:cs typeface="Meiryo"/>
            </a:endParaRPr>
          </a:p>
        </p:txBody>
      </p:sp>
      <p:sp>
        <p:nvSpPr>
          <p:cNvPr id="60" name="TextBox 59"/>
          <p:cNvSpPr txBox="1"/>
          <p:nvPr/>
        </p:nvSpPr>
        <p:spPr>
          <a:xfrm>
            <a:off x="9198863" y="2333607"/>
            <a:ext cx="23957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④</a:t>
            </a:r>
          </a:p>
        </p:txBody>
      </p:sp>
      <p:sp>
        <p:nvSpPr>
          <p:cNvPr id="61" name="TextBox 60"/>
          <p:cNvSpPr txBox="1"/>
          <p:nvPr/>
        </p:nvSpPr>
        <p:spPr>
          <a:xfrm>
            <a:off x="9198863"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出た値を</a:t>
            </a:r>
          </a:p>
          <a:p>
            <a:pPr algn="ctr">
              <a:spcAft>
                <a:spcPts val="0"/>
              </a:spcAft>
            </a:pPr>
            <a:r>
              <a:rPr sz="2400" b="1" dirty="0">
                <a:solidFill>
                  <a:srgbClr val="262626"/>
                </a:solidFill>
                <a:latin typeface="Meiryo"/>
                <a:ea typeface="Meiryo"/>
                <a:cs typeface="Meiryo"/>
              </a:rPr>
              <a:t>検算する</a:t>
            </a:r>
          </a:p>
        </p:txBody>
      </p:sp>
      <p:sp>
        <p:nvSpPr>
          <p:cNvPr id="62" name="TextBox 61"/>
          <p:cNvSpPr txBox="1"/>
          <p:nvPr/>
        </p:nvSpPr>
        <p:spPr>
          <a:xfrm>
            <a:off x="9198863"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境界・再現性</a:t>
            </a:r>
          </a:p>
          <a:p>
            <a:pPr algn="ctr">
              <a:spcAft>
                <a:spcPts val="0"/>
              </a:spcAft>
            </a:pPr>
            <a:r>
              <a:rPr sz="2200" b="0" dirty="0">
                <a:solidFill>
                  <a:srgbClr val="595959"/>
                </a:solidFill>
                <a:latin typeface="Meiryo"/>
                <a:ea typeface="Meiryo"/>
                <a:cs typeface="Meiryo"/>
              </a:rPr>
              <a:t>残差の谷の幅</a:t>
            </a:r>
          </a:p>
          <a:p>
            <a:pPr algn="ctr">
              <a:spcAft>
                <a:spcPts val="0"/>
              </a:spcAft>
            </a:pPr>
            <a:r>
              <a:rPr sz="2200" b="0" dirty="0">
                <a:solidFill>
                  <a:srgbClr val="595959"/>
                </a:solidFill>
                <a:latin typeface="Meiryo"/>
                <a:ea typeface="Meiryo"/>
                <a:cs typeface="Meiryo"/>
              </a:rPr>
              <a:t>を確かめる。</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9BAF1-D080-BCF1-C775-EF02AED5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02141-412B-3B17-89BE-5CD04F81F38F}"/>
              </a:ext>
            </a:extLst>
          </p:cNvPr>
          <p:cNvSpPr>
            <a:spLocks noGrp="1"/>
          </p:cNvSpPr>
          <p:nvPr>
            <p:ph type="title"/>
          </p:nvPr>
        </p:nvSpPr>
        <p:spPr/>
        <p:txBody>
          <a:bodyPr/>
          <a:lstStyle/>
          <a:p>
            <a:pPr algn="l"/>
            <a:r>
              <a:rPr sz="4600" dirty="0">
                <a:latin typeface="Meiryo"/>
                <a:ea typeface="Meiryo"/>
                <a:cs typeface="Meiryo"/>
              </a:rPr>
              <a:t>5.3  </a:t>
            </a:r>
            <a:r>
              <a:rPr sz="4600" dirty="0" err="1">
                <a:latin typeface="Meiryo"/>
                <a:ea typeface="Meiryo"/>
                <a:cs typeface="Meiryo"/>
              </a:rPr>
              <a:t>初期値</a:t>
            </a:r>
            <a:r>
              <a:rPr lang="en-US" sz="4600" dirty="0">
                <a:latin typeface="Meiryo"/>
                <a:ea typeface="Meiryo"/>
                <a:cs typeface="Meiryo"/>
              </a:rPr>
              <a:t>/</a:t>
            </a:r>
            <a:r>
              <a:rPr lang="en-US" sz="4600" dirty="0" err="1">
                <a:latin typeface="Meiryo"/>
                <a:ea typeface="Meiryo"/>
                <a:cs typeface="Meiryo"/>
              </a:rPr>
              <a:t>境界条件</a:t>
            </a:r>
            <a:r>
              <a:rPr sz="4600" dirty="0" err="1">
                <a:latin typeface="Meiryo"/>
                <a:ea typeface="Meiryo"/>
                <a:cs typeface="Meiryo"/>
              </a:rPr>
              <a:t>の決め方</a:t>
            </a:r>
            <a:endParaRPr sz="4600" dirty="0">
              <a:latin typeface="Meiryo"/>
              <a:ea typeface="Meiryo"/>
              <a:cs typeface="Meiryo"/>
            </a:endParaRPr>
          </a:p>
        </p:txBody>
      </p:sp>
      <p:sp>
        <p:nvSpPr>
          <p:cNvPr id="29" name="Source">
            <a:extLst>
              <a:ext uri="{FF2B5EF4-FFF2-40B4-BE49-F238E27FC236}">
                <a16:creationId xmlns:a16="http://schemas.microsoft.com/office/drawing/2014/main" id="{CE79008C-0971-4506-B231-E302718AADB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44. Basso 2024</a:t>
            </a:r>
          </a:p>
        </p:txBody>
      </p:sp>
      <p:sp>
        <p:nvSpPr>
          <p:cNvPr id="43" name="PageNo">
            <a:extLst>
              <a:ext uri="{FF2B5EF4-FFF2-40B4-BE49-F238E27FC236}">
                <a16:creationId xmlns:a16="http://schemas.microsoft.com/office/drawing/2014/main" id="{EC0D748C-7033-54F9-47FE-918CEEE015FD}"/>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81/119</a:t>
            </a:r>
          </a:p>
        </p:txBody>
      </p:sp>
      <p:sp>
        <p:nvSpPr>
          <p:cNvPr id="44" name="Rounded Rectangle 43">
            <a:extLst>
              <a:ext uri="{FF2B5EF4-FFF2-40B4-BE49-F238E27FC236}">
                <a16:creationId xmlns:a16="http://schemas.microsoft.com/office/drawing/2014/main" id="{2A54BB95-76BF-6D5D-EF12-190C90768AAC}"/>
              </a:ext>
            </a:extLst>
          </p:cNvPr>
          <p:cNvSpPr/>
          <p:nvPr/>
        </p:nvSpPr>
        <p:spPr>
          <a:xfrm>
            <a:off x="627508" y="1609950"/>
            <a:ext cx="3529584" cy="3550310"/>
          </a:xfrm>
          <a:prstGeom prst="roundRect">
            <a:avLst>
              <a:gd name="adj" fmla="val 5333"/>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a:extLst>
              <a:ext uri="{FF2B5EF4-FFF2-40B4-BE49-F238E27FC236}">
                <a16:creationId xmlns:a16="http://schemas.microsoft.com/office/drawing/2014/main" id="{D6B52CC5-42EE-DFE1-4050-8054FBF6D494}"/>
              </a:ext>
            </a:extLst>
          </p:cNvPr>
          <p:cNvSpPr/>
          <p:nvPr/>
        </p:nvSpPr>
        <p:spPr>
          <a:xfrm>
            <a:off x="4431412"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a:extLst>
              <a:ext uri="{FF2B5EF4-FFF2-40B4-BE49-F238E27FC236}">
                <a16:creationId xmlns:a16="http://schemas.microsoft.com/office/drawing/2014/main" id="{5BE53AEF-DC8B-BCAE-3B0B-34F8F1641EB4}"/>
              </a:ext>
            </a:extLst>
          </p:cNvPr>
          <p:cNvSpPr/>
          <p:nvPr/>
        </p:nvSpPr>
        <p:spPr>
          <a:xfrm>
            <a:off x="8235315"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a:extLst>
              <a:ext uri="{FF2B5EF4-FFF2-40B4-BE49-F238E27FC236}">
                <a16:creationId xmlns:a16="http://schemas.microsoft.com/office/drawing/2014/main" id="{7E73A356-97F5-066D-9A92-FDBD230E6143}"/>
              </a:ext>
            </a:extLst>
          </p:cNvPr>
          <p:cNvSpPr txBox="1"/>
          <p:nvPr/>
        </p:nvSpPr>
        <p:spPr>
          <a:xfrm>
            <a:off x="773812"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a　ランドマーク方式</a:t>
            </a:r>
          </a:p>
        </p:txBody>
      </p:sp>
      <p:sp>
        <p:nvSpPr>
          <p:cNvPr id="3" name="Freeform 2">
            <a:extLst>
              <a:ext uri="{FF2B5EF4-FFF2-40B4-BE49-F238E27FC236}">
                <a16:creationId xmlns:a16="http://schemas.microsoft.com/office/drawing/2014/main" id="{861FC59D-5B28-FD95-6391-DC397A735644}"/>
              </a:ext>
            </a:extLst>
          </p:cNvPr>
          <p:cNvSpPr/>
          <p:nvPr/>
        </p:nvSpPr>
        <p:spPr>
          <a:xfrm>
            <a:off x="901828" y="2300191"/>
            <a:ext cx="2969020" cy="981938"/>
          </a:xfrm>
          <a:custGeom>
            <a:avLst/>
            <a:gdLst/>
            <a:ahLst/>
            <a:cxnLst/>
            <a:rect l="l" t="t" r="r" b="b"/>
            <a:pathLst>
              <a:path w="2969020" h="981938">
                <a:moveTo>
                  <a:pt x="0" y="955016"/>
                </a:moveTo>
                <a:lnTo>
                  <a:pt x="11923" y="949848"/>
                </a:lnTo>
                <a:lnTo>
                  <a:pt x="23847" y="943856"/>
                </a:lnTo>
                <a:lnTo>
                  <a:pt x="35771" y="936946"/>
                </a:lnTo>
                <a:lnTo>
                  <a:pt x="47695" y="929017"/>
                </a:lnTo>
                <a:lnTo>
                  <a:pt x="59618" y="919966"/>
                </a:lnTo>
                <a:lnTo>
                  <a:pt x="71542" y="909687"/>
                </a:lnTo>
                <a:lnTo>
                  <a:pt x="83466" y="898076"/>
                </a:lnTo>
                <a:lnTo>
                  <a:pt x="95390" y="885029"/>
                </a:lnTo>
                <a:lnTo>
                  <a:pt x="107313" y="870447"/>
                </a:lnTo>
                <a:lnTo>
                  <a:pt x="119237" y="854237"/>
                </a:lnTo>
                <a:lnTo>
                  <a:pt x="131161" y="836317"/>
                </a:lnTo>
                <a:lnTo>
                  <a:pt x="143085" y="816614"/>
                </a:lnTo>
                <a:lnTo>
                  <a:pt x="155009" y="795073"/>
                </a:lnTo>
                <a:lnTo>
                  <a:pt x="166932" y="771658"/>
                </a:lnTo>
                <a:lnTo>
                  <a:pt x="178856" y="746350"/>
                </a:lnTo>
                <a:lnTo>
                  <a:pt x="190780" y="719159"/>
                </a:lnTo>
                <a:lnTo>
                  <a:pt x="202704" y="690120"/>
                </a:lnTo>
                <a:lnTo>
                  <a:pt x="214627" y="659298"/>
                </a:lnTo>
                <a:lnTo>
                  <a:pt x="226551" y="626787"/>
                </a:lnTo>
                <a:lnTo>
                  <a:pt x="238475" y="592717"/>
                </a:lnTo>
                <a:lnTo>
                  <a:pt x="250399" y="557248"/>
                </a:lnTo>
                <a:lnTo>
                  <a:pt x="262323" y="520578"/>
                </a:lnTo>
                <a:lnTo>
                  <a:pt x="274246" y="482934"/>
                </a:lnTo>
                <a:lnTo>
                  <a:pt x="286170" y="444575"/>
                </a:lnTo>
                <a:lnTo>
                  <a:pt x="298094" y="405791"/>
                </a:lnTo>
                <a:lnTo>
                  <a:pt x="310018" y="366895"/>
                </a:lnTo>
                <a:lnTo>
                  <a:pt x="321941" y="328225"/>
                </a:lnTo>
                <a:lnTo>
                  <a:pt x="333865" y="290133"/>
                </a:lnTo>
                <a:lnTo>
                  <a:pt x="345789" y="252982"/>
                </a:lnTo>
                <a:lnTo>
                  <a:pt x="357713" y="217143"/>
                </a:lnTo>
                <a:lnTo>
                  <a:pt x="369637" y="182983"/>
                </a:lnTo>
                <a:lnTo>
                  <a:pt x="381560" y="150861"/>
                </a:lnTo>
                <a:lnTo>
                  <a:pt x="393484" y="121122"/>
                </a:lnTo>
                <a:lnTo>
                  <a:pt x="405408" y="94086"/>
                </a:lnTo>
                <a:lnTo>
                  <a:pt x="417332" y="70046"/>
                </a:lnTo>
                <a:lnTo>
                  <a:pt x="429255" y="49259"/>
                </a:lnTo>
                <a:lnTo>
                  <a:pt x="441179" y="31942"/>
                </a:lnTo>
                <a:lnTo>
                  <a:pt x="453103" y="18263"/>
                </a:lnTo>
                <a:lnTo>
                  <a:pt x="465027" y="8344"/>
                </a:lnTo>
                <a:lnTo>
                  <a:pt x="476951" y="2251"/>
                </a:lnTo>
                <a:lnTo>
                  <a:pt x="488874" y="0"/>
                </a:lnTo>
                <a:lnTo>
                  <a:pt x="500798" y="1548"/>
                </a:lnTo>
                <a:lnTo>
                  <a:pt x="512722" y="6802"/>
                </a:lnTo>
                <a:lnTo>
                  <a:pt x="524646" y="15614"/>
                </a:lnTo>
                <a:lnTo>
                  <a:pt x="536569" y="27789"/>
                </a:lnTo>
                <a:lnTo>
                  <a:pt x="548493" y="43089"/>
                </a:lnTo>
                <a:lnTo>
                  <a:pt x="560417" y="61235"/>
                </a:lnTo>
                <a:lnTo>
                  <a:pt x="572341" y="81916"/>
                </a:lnTo>
                <a:lnTo>
                  <a:pt x="584265" y="104792"/>
                </a:lnTo>
                <a:lnTo>
                  <a:pt x="596188" y="129508"/>
                </a:lnTo>
                <a:lnTo>
                  <a:pt x="608112" y="155692"/>
                </a:lnTo>
                <a:lnTo>
                  <a:pt x="620036" y="182971"/>
                </a:lnTo>
                <a:lnTo>
                  <a:pt x="631960" y="210971"/>
                </a:lnTo>
                <a:lnTo>
                  <a:pt x="643883" y="239329"/>
                </a:lnTo>
                <a:lnTo>
                  <a:pt x="655807" y="267697"/>
                </a:lnTo>
                <a:lnTo>
                  <a:pt x="667731" y="295748"/>
                </a:lnTo>
                <a:lnTo>
                  <a:pt x="679655" y="323179"/>
                </a:lnTo>
                <a:lnTo>
                  <a:pt x="691579" y="349720"/>
                </a:lnTo>
                <a:lnTo>
                  <a:pt x="703502" y="375132"/>
                </a:lnTo>
                <a:lnTo>
                  <a:pt x="715426" y="399213"/>
                </a:lnTo>
                <a:lnTo>
                  <a:pt x="727350" y="421796"/>
                </a:lnTo>
                <a:lnTo>
                  <a:pt x="739274" y="442753"/>
                </a:lnTo>
                <a:lnTo>
                  <a:pt x="751197" y="461993"/>
                </a:lnTo>
                <a:lnTo>
                  <a:pt x="763121" y="479462"/>
                </a:lnTo>
                <a:lnTo>
                  <a:pt x="775045" y="495137"/>
                </a:lnTo>
                <a:lnTo>
                  <a:pt x="786969" y="509032"/>
                </a:lnTo>
                <a:lnTo>
                  <a:pt x="798892" y="521186"/>
                </a:lnTo>
                <a:lnTo>
                  <a:pt x="810816" y="531666"/>
                </a:lnTo>
                <a:lnTo>
                  <a:pt x="822740" y="540562"/>
                </a:lnTo>
                <a:lnTo>
                  <a:pt x="834664" y="547983"/>
                </a:lnTo>
                <a:lnTo>
                  <a:pt x="846588" y="554054"/>
                </a:lnTo>
                <a:lnTo>
                  <a:pt x="858511" y="558912"/>
                </a:lnTo>
                <a:lnTo>
                  <a:pt x="870435" y="562702"/>
                </a:lnTo>
                <a:lnTo>
                  <a:pt x="882359" y="565576"/>
                </a:lnTo>
                <a:lnTo>
                  <a:pt x="894283" y="567686"/>
                </a:lnTo>
                <a:lnTo>
                  <a:pt x="906206" y="569187"/>
                </a:lnTo>
                <a:lnTo>
                  <a:pt x="918130" y="570228"/>
                </a:lnTo>
                <a:lnTo>
                  <a:pt x="930054" y="570954"/>
                </a:lnTo>
                <a:lnTo>
                  <a:pt x="941978" y="571504"/>
                </a:lnTo>
                <a:lnTo>
                  <a:pt x="953902" y="572007"/>
                </a:lnTo>
                <a:lnTo>
                  <a:pt x="965825" y="572583"/>
                </a:lnTo>
                <a:lnTo>
                  <a:pt x="977749" y="573341"/>
                </a:lnTo>
                <a:lnTo>
                  <a:pt x="989673" y="574378"/>
                </a:lnTo>
                <a:lnTo>
                  <a:pt x="1001597" y="575782"/>
                </a:lnTo>
                <a:lnTo>
                  <a:pt x="1013520" y="577624"/>
                </a:lnTo>
                <a:lnTo>
                  <a:pt x="1025444" y="579968"/>
                </a:lnTo>
                <a:lnTo>
                  <a:pt x="1037368" y="582862"/>
                </a:lnTo>
                <a:lnTo>
                  <a:pt x="1049292" y="586344"/>
                </a:lnTo>
                <a:lnTo>
                  <a:pt x="1061216" y="590442"/>
                </a:lnTo>
                <a:lnTo>
                  <a:pt x="1073139" y="595171"/>
                </a:lnTo>
                <a:lnTo>
                  <a:pt x="1085063" y="600539"/>
                </a:lnTo>
                <a:lnTo>
                  <a:pt x="1096987" y="606540"/>
                </a:lnTo>
                <a:lnTo>
                  <a:pt x="1108911" y="613166"/>
                </a:lnTo>
                <a:lnTo>
                  <a:pt x="1120834" y="620394"/>
                </a:lnTo>
                <a:lnTo>
                  <a:pt x="1132758" y="628201"/>
                </a:lnTo>
                <a:lnTo>
                  <a:pt x="1144682" y="636552"/>
                </a:lnTo>
                <a:lnTo>
                  <a:pt x="1156606" y="645410"/>
                </a:lnTo>
                <a:lnTo>
                  <a:pt x="1168530" y="654734"/>
                </a:lnTo>
                <a:lnTo>
                  <a:pt x="1180453" y="664478"/>
                </a:lnTo>
                <a:lnTo>
                  <a:pt x="1192377" y="674592"/>
                </a:lnTo>
                <a:lnTo>
                  <a:pt x="1204301" y="685026"/>
                </a:lnTo>
                <a:lnTo>
                  <a:pt x="1216225" y="695729"/>
                </a:lnTo>
                <a:lnTo>
                  <a:pt x="1228148" y="706646"/>
                </a:lnTo>
                <a:lnTo>
                  <a:pt x="1240072" y="717725"/>
                </a:lnTo>
                <a:lnTo>
                  <a:pt x="1251996" y="728913"/>
                </a:lnTo>
                <a:lnTo>
                  <a:pt x="1263920" y="740159"/>
                </a:lnTo>
                <a:lnTo>
                  <a:pt x="1275844" y="751414"/>
                </a:lnTo>
                <a:lnTo>
                  <a:pt x="1287767" y="762628"/>
                </a:lnTo>
                <a:lnTo>
                  <a:pt x="1299691" y="773756"/>
                </a:lnTo>
                <a:lnTo>
                  <a:pt x="1311615" y="784755"/>
                </a:lnTo>
                <a:lnTo>
                  <a:pt x="1323539" y="795585"/>
                </a:lnTo>
                <a:lnTo>
                  <a:pt x="1335462" y="806210"/>
                </a:lnTo>
                <a:lnTo>
                  <a:pt x="1347386" y="816594"/>
                </a:lnTo>
                <a:lnTo>
                  <a:pt x="1359310" y="826709"/>
                </a:lnTo>
                <a:lnTo>
                  <a:pt x="1371234" y="836526"/>
                </a:lnTo>
                <a:lnTo>
                  <a:pt x="1383158" y="846024"/>
                </a:lnTo>
                <a:lnTo>
                  <a:pt x="1395081" y="855183"/>
                </a:lnTo>
                <a:lnTo>
                  <a:pt x="1407005" y="863986"/>
                </a:lnTo>
                <a:lnTo>
                  <a:pt x="1418929" y="872420"/>
                </a:lnTo>
                <a:lnTo>
                  <a:pt x="1430853" y="880476"/>
                </a:lnTo>
                <a:lnTo>
                  <a:pt x="1442776" y="888147"/>
                </a:lnTo>
                <a:lnTo>
                  <a:pt x="1454700" y="895430"/>
                </a:lnTo>
                <a:lnTo>
                  <a:pt x="1466624" y="902324"/>
                </a:lnTo>
                <a:lnTo>
                  <a:pt x="1478548" y="908830"/>
                </a:lnTo>
                <a:lnTo>
                  <a:pt x="1490472" y="914954"/>
                </a:lnTo>
                <a:lnTo>
                  <a:pt x="1502395" y="920700"/>
                </a:lnTo>
                <a:lnTo>
                  <a:pt x="1514319" y="926077"/>
                </a:lnTo>
                <a:lnTo>
                  <a:pt x="1526243" y="931095"/>
                </a:lnTo>
                <a:lnTo>
                  <a:pt x="1538167" y="935764"/>
                </a:lnTo>
                <a:lnTo>
                  <a:pt x="1550090" y="940097"/>
                </a:lnTo>
                <a:lnTo>
                  <a:pt x="1562014" y="944108"/>
                </a:lnTo>
                <a:lnTo>
                  <a:pt x="1573938" y="947810"/>
                </a:lnTo>
                <a:lnTo>
                  <a:pt x="1585862" y="951217"/>
                </a:lnTo>
                <a:lnTo>
                  <a:pt x="1597785" y="954346"/>
                </a:lnTo>
                <a:lnTo>
                  <a:pt x="1609709" y="957211"/>
                </a:lnTo>
                <a:lnTo>
                  <a:pt x="1621633" y="959827"/>
                </a:lnTo>
                <a:lnTo>
                  <a:pt x="1633557" y="962210"/>
                </a:lnTo>
                <a:lnTo>
                  <a:pt x="1645481" y="964376"/>
                </a:lnTo>
                <a:lnTo>
                  <a:pt x="1657404" y="966338"/>
                </a:lnTo>
                <a:lnTo>
                  <a:pt x="1669328" y="968111"/>
                </a:lnTo>
                <a:lnTo>
                  <a:pt x="1681252" y="969711"/>
                </a:lnTo>
                <a:lnTo>
                  <a:pt x="1693176" y="971149"/>
                </a:lnTo>
                <a:lnTo>
                  <a:pt x="1705099" y="972439"/>
                </a:lnTo>
                <a:lnTo>
                  <a:pt x="1717023" y="973593"/>
                </a:lnTo>
                <a:lnTo>
                  <a:pt x="1728947" y="974623"/>
                </a:lnTo>
                <a:lnTo>
                  <a:pt x="1740871" y="975540"/>
                </a:lnTo>
                <a:lnTo>
                  <a:pt x="1752795" y="976355"/>
                </a:lnTo>
                <a:lnTo>
                  <a:pt x="1764718" y="977077"/>
                </a:lnTo>
                <a:lnTo>
                  <a:pt x="1776642" y="977714"/>
                </a:lnTo>
                <a:lnTo>
                  <a:pt x="1788566" y="978277"/>
                </a:lnTo>
                <a:lnTo>
                  <a:pt x="1800490" y="978771"/>
                </a:lnTo>
                <a:lnTo>
                  <a:pt x="1812413" y="979205"/>
                </a:lnTo>
                <a:lnTo>
                  <a:pt x="1824337" y="979584"/>
                </a:lnTo>
                <a:lnTo>
                  <a:pt x="1836261" y="979916"/>
                </a:lnTo>
                <a:lnTo>
                  <a:pt x="1848185" y="980204"/>
                </a:lnTo>
                <a:lnTo>
                  <a:pt x="1860109" y="980455"/>
                </a:lnTo>
                <a:lnTo>
                  <a:pt x="1872032" y="980672"/>
                </a:lnTo>
                <a:lnTo>
                  <a:pt x="1883956" y="980860"/>
                </a:lnTo>
                <a:lnTo>
                  <a:pt x="1895880" y="981022"/>
                </a:lnTo>
                <a:lnTo>
                  <a:pt x="1907804" y="981161"/>
                </a:lnTo>
                <a:lnTo>
                  <a:pt x="1919727" y="981281"/>
                </a:lnTo>
                <a:lnTo>
                  <a:pt x="1931651" y="981383"/>
                </a:lnTo>
                <a:lnTo>
                  <a:pt x="1943575" y="981471"/>
                </a:lnTo>
                <a:lnTo>
                  <a:pt x="1955499" y="981545"/>
                </a:lnTo>
                <a:lnTo>
                  <a:pt x="1967423" y="981609"/>
                </a:lnTo>
                <a:lnTo>
                  <a:pt x="1979346" y="981663"/>
                </a:lnTo>
                <a:lnTo>
                  <a:pt x="1991270" y="981708"/>
                </a:lnTo>
                <a:lnTo>
                  <a:pt x="2003194" y="981747"/>
                </a:lnTo>
                <a:lnTo>
                  <a:pt x="2015118" y="981779"/>
                </a:lnTo>
                <a:lnTo>
                  <a:pt x="2027041" y="981806"/>
                </a:lnTo>
                <a:lnTo>
                  <a:pt x="2038965" y="981829"/>
                </a:lnTo>
                <a:lnTo>
                  <a:pt x="2050889" y="981848"/>
                </a:lnTo>
                <a:lnTo>
                  <a:pt x="2062813" y="981864"/>
                </a:lnTo>
                <a:lnTo>
                  <a:pt x="2074737" y="981877"/>
                </a:lnTo>
                <a:lnTo>
                  <a:pt x="2086660" y="981888"/>
                </a:lnTo>
                <a:lnTo>
                  <a:pt x="2098584" y="981897"/>
                </a:lnTo>
                <a:lnTo>
                  <a:pt x="2110508" y="981905"/>
                </a:lnTo>
                <a:lnTo>
                  <a:pt x="2122432" y="981911"/>
                </a:lnTo>
                <a:lnTo>
                  <a:pt x="2134355" y="981916"/>
                </a:lnTo>
                <a:lnTo>
                  <a:pt x="2146279" y="981920"/>
                </a:lnTo>
                <a:lnTo>
                  <a:pt x="2158203" y="981924"/>
                </a:lnTo>
                <a:lnTo>
                  <a:pt x="2170127" y="981926"/>
                </a:lnTo>
                <a:lnTo>
                  <a:pt x="2182051" y="981929"/>
                </a:lnTo>
                <a:lnTo>
                  <a:pt x="2193974" y="981931"/>
                </a:lnTo>
                <a:lnTo>
                  <a:pt x="2205898" y="981932"/>
                </a:lnTo>
                <a:lnTo>
                  <a:pt x="2217822" y="981933"/>
                </a:lnTo>
                <a:lnTo>
                  <a:pt x="2229746" y="981934"/>
                </a:lnTo>
                <a:lnTo>
                  <a:pt x="2241669" y="981935"/>
                </a:lnTo>
                <a:lnTo>
                  <a:pt x="2253593" y="981936"/>
                </a:lnTo>
                <a:lnTo>
                  <a:pt x="2265517" y="981936"/>
                </a:lnTo>
                <a:lnTo>
                  <a:pt x="2277441" y="981937"/>
                </a:lnTo>
                <a:lnTo>
                  <a:pt x="2289364" y="981937"/>
                </a:lnTo>
                <a:lnTo>
                  <a:pt x="2301288" y="981937"/>
                </a:lnTo>
                <a:lnTo>
                  <a:pt x="2313212" y="981937"/>
                </a:lnTo>
                <a:lnTo>
                  <a:pt x="2325136" y="981938"/>
                </a:lnTo>
                <a:lnTo>
                  <a:pt x="2337060" y="981938"/>
                </a:lnTo>
                <a:lnTo>
                  <a:pt x="2348983" y="981938"/>
                </a:lnTo>
                <a:lnTo>
                  <a:pt x="2360907" y="981938"/>
                </a:lnTo>
                <a:lnTo>
                  <a:pt x="2372831" y="981938"/>
                </a:lnTo>
                <a:lnTo>
                  <a:pt x="2384755" y="981938"/>
                </a:lnTo>
                <a:lnTo>
                  <a:pt x="2396678" y="981938"/>
                </a:lnTo>
                <a:lnTo>
                  <a:pt x="2408602" y="981938"/>
                </a:lnTo>
                <a:lnTo>
                  <a:pt x="2420526" y="981938"/>
                </a:lnTo>
                <a:lnTo>
                  <a:pt x="2432450" y="981938"/>
                </a:lnTo>
                <a:lnTo>
                  <a:pt x="2444374" y="981938"/>
                </a:lnTo>
                <a:lnTo>
                  <a:pt x="2456297" y="981938"/>
                </a:lnTo>
                <a:lnTo>
                  <a:pt x="2468221" y="981938"/>
                </a:lnTo>
                <a:lnTo>
                  <a:pt x="2480145" y="981938"/>
                </a:lnTo>
                <a:lnTo>
                  <a:pt x="2492069" y="981938"/>
                </a:lnTo>
                <a:lnTo>
                  <a:pt x="2503992" y="981938"/>
                </a:lnTo>
                <a:lnTo>
                  <a:pt x="2515916" y="981938"/>
                </a:lnTo>
                <a:lnTo>
                  <a:pt x="2527840" y="981938"/>
                </a:lnTo>
                <a:lnTo>
                  <a:pt x="2539764" y="981938"/>
                </a:lnTo>
                <a:lnTo>
                  <a:pt x="2551688" y="981938"/>
                </a:lnTo>
                <a:lnTo>
                  <a:pt x="2563611" y="981938"/>
                </a:lnTo>
                <a:lnTo>
                  <a:pt x="2575535" y="981938"/>
                </a:lnTo>
                <a:lnTo>
                  <a:pt x="2587459" y="981938"/>
                </a:lnTo>
                <a:lnTo>
                  <a:pt x="2599383" y="981938"/>
                </a:lnTo>
                <a:lnTo>
                  <a:pt x="2611306" y="981938"/>
                </a:lnTo>
                <a:lnTo>
                  <a:pt x="2623230" y="981938"/>
                </a:lnTo>
                <a:lnTo>
                  <a:pt x="2635154" y="981938"/>
                </a:lnTo>
                <a:lnTo>
                  <a:pt x="2647078" y="981938"/>
                </a:lnTo>
                <a:lnTo>
                  <a:pt x="2659002" y="981938"/>
                </a:lnTo>
                <a:lnTo>
                  <a:pt x="2670925" y="981938"/>
                </a:lnTo>
                <a:lnTo>
                  <a:pt x="2682849" y="981938"/>
                </a:lnTo>
                <a:lnTo>
                  <a:pt x="2694773" y="981938"/>
                </a:lnTo>
                <a:lnTo>
                  <a:pt x="2706697" y="981938"/>
                </a:lnTo>
                <a:lnTo>
                  <a:pt x="2718620" y="981938"/>
                </a:lnTo>
                <a:lnTo>
                  <a:pt x="2730544" y="981938"/>
                </a:lnTo>
                <a:lnTo>
                  <a:pt x="2742468" y="981938"/>
                </a:lnTo>
                <a:lnTo>
                  <a:pt x="2754392" y="981938"/>
                </a:lnTo>
                <a:lnTo>
                  <a:pt x="2766316" y="981938"/>
                </a:lnTo>
                <a:lnTo>
                  <a:pt x="2778239" y="981938"/>
                </a:lnTo>
                <a:lnTo>
                  <a:pt x="2790163" y="981938"/>
                </a:lnTo>
                <a:lnTo>
                  <a:pt x="2802087" y="981938"/>
                </a:lnTo>
                <a:lnTo>
                  <a:pt x="2814011" y="981938"/>
                </a:lnTo>
                <a:lnTo>
                  <a:pt x="2825934" y="981938"/>
                </a:lnTo>
                <a:lnTo>
                  <a:pt x="2837858" y="981938"/>
                </a:lnTo>
                <a:lnTo>
                  <a:pt x="2849782" y="981938"/>
                </a:lnTo>
                <a:lnTo>
                  <a:pt x="2861706" y="981938"/>
                </a:lnTo>
                <a:lnTo>
                  <a:pt x="2873630" y="981938"/>
                </a:lnTo>
                <a:lnTo>
                  <a:pt x="2885553" y="981938"/>
                </a:lnTo>
                <a:lnTo>
                  <a:pt x="2897477" y="981938"/>
                </a:lnTo>
                <a:lnTo>
                  <a:pt x="2909401" y="981938"/>
                </a:lnTo>
                <a:lnTo>
                  <a:pt x="2921325" y="981938"/>
                </a:lnTo>
                <a:lnTo>
                  <a:pt x="2933248" y="981938"/>
                </a:lnTo>
                <a:lnTo>
                  <a:pt x="2945172" y="981938"/>
                </a:lnTo>
                <a:lnTo>
                  <a:pt x="2957096" y="981938"/>
                </a:lnTo>
                <a:lnTo>
                  <a:pt x="2969020" y="981938"/>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54582177-D00D-46CD-95A3-17596EBBDB2B}"/>
              </a:ext>
            </a:extLst>
          </p:cNvPr>
          <p:cNvSpPr/>
          <p:nvPr/>
        </p:nvSpPr>
        <p:spPr>
          <a:xfrm>
            <a:off x="901828" y="3861439"/>
            <a:ext cx="2969020" cy="679269"/>
          </a:xfrm>
          <a:custGeom>
            <a:avLst/>
            <a:gdLst/>
            <a:ahLst/>
            <a:cxnLst/>
            <a:rect l="l" t="t" r="r" b="b"/>
            <a:pathLst>
              <a:path w="2969020" h="679269">
                <a:moveTo>
                  <a:pt x="0" y="175256"/>
                </a:moveTo>
                <a:lnTo>
                  <a:pt x="11923" y="147944"/>
                </a:lnTo>
                <a:lnTo>
                  <a:pt x="23847" y="114810"/>
                </a:lnTo>
                <a:lnTo>
                  <a:pt x="35771" y="102942"/>
                </a:lnTo>
                <a:lnTo>
                  <a:pt x="47695" y="90701"/>
                </a:lnTo>
                <a:lnTo>
                  <a:pt x="59618" y="78254"/>
                </a:lnTo>
                <a:lnTo>
                  <a:pt x="71542" y="65801"/>
                </a:lnTo>
                <a:lnTo>
                  <a:pt x="83466" y="53578"/>
                </a:lnTo>
                <a:lnTo>
                  <a:pt x="95390" y="41851"/>
                </a:lnTo>
                <a:lnTo>
                  <a:pt x="107313" y="30918"/>
                </a:lnTo>
                <a:lnTo>
                  <a:pt x="119237" y="21100"/>
                </a:lnTo>
                <a:lnTo>
                  <a:pt x="131161" y="12740"/>
                </a:lnTo>
                <a:lnTo>
                  <a:pt x="143085" y="6196"/>
                </a:lnTo>
                <a:lnTo>
                  <a:pt x="155009" y="1830"/>
                </a:lnTo>
                <a:lnTo>
                  <a:pt x="166932" y="0"/>
                </a:lnTo>
                <a:lnTo>
                  <a:pt x="178856" y="1049"/>
                </a:lnTo>
                <a:lnTo>
                  <a:pt x="190780" y="5294"/>
                </a:lnTo>
                <a:lnTo>
                  <a:pt x="202704" y="13014"/>
                </a:lnTo>
                <a:lnTo>
                  <a:pt x="214627" y="24438"/>
                </a:lnTo>
                <a:lnTo>
                  <a:pt x="226551" y="39730"/>
                </a:lnTo>
                <a:lnTo>
                  <a:pt x="238475" y="58983"/>
                </a:lnTo>
                <a:lnTo>
                  <a:pt x="250399" y="82205"/>
                </a:lnTo>
                <a:lnTo>
                  <a:pt x="262323" y="109311"/>
                </a:lnTo>
                <a:lnTo>
                  <a:pt x="274246" y="140121"/>
                </a:lnTo>
                <a:lnTo>
                  <a:pt x="286170" y="174352"/>
                </a:lnTo>
                <a:lnTo>
                  <a:pt x="298094" y="211619"/>
                </a:lnTo>
                <a:lnTo>
                  <a:pt x="310018" y="251440"/>
                </a:lnTo>
                <a:lnTo>
                  <a:pt x="321941" y="293238"/>
                </a:lnTo>
                <a:lnTo>
                  <a:pt x="333865" y="336357"/>
                </a:lnTo>
                <a:lnTo>
                  <a:pt x="345789" y="380069"/>
                </a:lnTo>
                <a:lnTo>
                  <a:pt x="357713" y="423592"/>
                </a:lnTo>
                <a:lnTo>
                  <a:pt x="369637" y="466111"/>
                </a:lnTo>
                <a:lnTo>
                  <a:pt x="381560" y="506794"/>
                </a:lnTo>
                <a:lnTo>
                  <a:pt x="393484" y="544820"/>
                </a:lnTo>
                <a:lnTo>
                  <a:pt x="405408" y="579395"/>
                </a:lnTo>
                <a:lnTo>
                  <a:pt x="417332" y="609781"/>
                </a:lnTo>
                <a:lnTo>
                  <a:pt x="429255" y="635312"/>
                </a:lnTo>
                <a:lnTo>
                  <a:pt x="441179" y="655419"/>
                </a:lnTo>
                <a:lnTo>
                  <a:pt x="453103" y="669645"/>
                </a:lnTo>
                <a:lnTo>
                  <a:pt x="465027" y="677659"/>
                </a:lnTo>
                <a:lnTo>
                  <a:pt x="476951" y="679269"/>
                </a:lnTo>
                <a:lnTo>
                  <a:pt x="488874" y="674423"/>
                </a:lnTo>
                <a:lnTo>
                  <a:pt x="500798" y="663220"/>
                </a:lnTo>
                <a:lnTo>
                  <a:pt x="512722" y="645899"/>
                </a:lnTo>
                <a:lnTo>
                  <a:pt x="524646" y="622837"/>
                </a:lnTo>
                <a:lnTo>
                  <a:pt x="536569" y="594535"/>
                </a:lnTo>
                <a:lnTo>
                  <a:pt x="548493" y="561608"/>
                </a:lnTo>
                <a:lnTo>
                  <a:pt x="560417" y="524760"/>
                </a:lnTo>
                <a:lnTo>
                  <a:pt x="572341" y="484772"/>
                </a:lnTo>
                <a:lnTo>
                  <a:pt x="584265" y="442472"/>
                </a:lnTo>
                <a:lnTo>
                  <a:pt x="596188" y="398717"/>
                </a:lnTo>
                <a:lnTo>
                  <a:pt x="608112" y="354367"/>
                </a:lnTo>
                <a:lnTo>
                  <a:pt x="620036" y="310267"/>
                </a:lnTo>
                <a:lnTo>
                  <a:pt x="631960" y="267220"/>
                </a:lnTo>
                <a:lnTo>
                  <a:pt x="643883" y="225971"/>
                </a:lnTo>
                <a:lnTo>
                  <a:pt x="655807" y="187192"/>
                </a:lnTo>
                <a:lnTo>
                  <a:pt x="667731" y="151467"/>
                </a:lnTo>
                <a:lnTo>
                  <a:pt x="679655" y="119282"/>
                </a:lnTo>
                <a:lnTo>
                  <a:pt x="691579" y="91019"/>
                </a:lnTo>
                <a:lnTo>
                  <a:pt x="703502" y="66953"/>
                </a:lnTo>
                <a:lnTo>
                  <a:pt x="715426" y="47253"/>
                </a:lnTo>
                <a:lnTo>
                  <a:pt x="727350" y="31982"/>
                </a:lnTo>
                <a:lnTo>
                  <a:pt x="739274" y="21107"/>
                </a:lnTo>
                <a:lnTo>
                  <a:pt x="751197" y="14505"/>
                </a:lnTo>
                <a:lnTo>
                  <a:pt x="763121" y="11975"/>
                </a:lnTo>
                <a:lnTo>
                  <a:pt x="775045" y="13247"/>
                </a:lnTo>
                <a:lnTo>
                  <a:pt x="786969" y="17995"/>
                </a:lnTo>
                <a:lnTo>
                  <a:pt x="798892" y="25851"/>
                </a:lnTo>
                <a:lnTo>
                  <a:pt x="810816" y="36417"/>
                </a:lnTo>
                <a:lnTo>
                  <a:pt x="822740" y="49276"/>
                </a:lnTo>
                <a:lnTo>
                  <a:pt x="834664" y="64006"/>
                </a:lnTo>
                <a:lnTo>
                  <a:pt x="846588" y="80184"/>
                </a:lnTo>
                <a:lnTo>
                  <a:pt x="858511" y="97405"/>
                </a:lnTo>
                <a:lnTo>
                  <a:pt x="870435" y="115279"/>
                </a:lnTo>
                <a:lnTo>
                  <a:pt x="882359" y="133447"/>
                </a:lnTo>
                <a:lnTo>
                  <a:pt x="894283" y="151575"/>
                </a:lnTo>
                <a:lnTo>
                  <a:pt x="906206" y="169369"/>
                </a:lnTo>
                <a:lnTo>
                  <a:pt x="918130" y="186568"/>
                </a:lnTo>
                <a:lnTo>
                  <a:pt x="930054" y="202948"/>
                </a:lnTo>
                <a:lnTo>
                  <a:pt x="941978" y="218325"/>
                </a:lnTo>
                <a:lnTo>
                  <a:pt x="953902" y="232548"/>
                </a:lnTo>
                <a:lnTo>
                  <a:pt x="965825" y="245501"/>
                </a:lnTo>
                <a:lnTo>
                  <a:pt x="977749" y="257102"/>
                </a:lnTo>
                <a:lnTo>
                  <a:pt x="989673" y="267298"/>
                </a:lnTo>
                <a:lnTo>
                  <a:pt x="1001597" y="276062"/>
                </a:lnTo>
                <a:lnTo>
                  <a:pt x="1013520" y="283391"/>
                </a:lnTo>
                <a:lnTo>
                  <a:pt x="1025444" y="289305"/>
                </a:lnTo>
                <a:lnTo>
                  <a:pt x="1037368" y="293840"/>
                </a:lnTo>
                <a:lnTo>
                  <a:pt x="1049292" y="297048"/>
                </a:lnTo>
                <a:lnTo>
                  <a:pt x="1061216" y="298994"/>
                </a:lnTo>
                <a:lnTo>
                  <a:pt x="1073139" y="299753"/>
                </a:lnTo>
                <a:lnTo>
                  <a:pt x="1085063" y="299409"/>
                </a:lnTo>
                <a:lnTo>
                  <a:pt x="1096987" y="298051"/>
                </a:lnTo>
                <a:lnTo>
                  <a:pt x="1108911" y="295773"/>
                </a:lnTo>
                <a:lnTo>
                  <a:pt x="1120834" y="292671"/>
                </a:lnTo>
                <a:lnTo>
                  <a:pt x="1132758" y="288844"/>
                </a:lnTo>
                <a:lnTo>
                  <a:pt x="1144682" y="284390"/>
                </a:lnTo>
                <a:lnTo>
                  <a:pt x="1156606" y="279404"/>
                </a:lnTo>
                <a:lnTo>
                  <a:pt x="1168530" y="273984"/>
                </a:lnTo>
                <a:lnTo>
                  <a:pt x="1180453" y="268221"/>
                </a:lnTo>
                <a:lnTo>
                  <a:pt x="1192377" y="262204"/>
                </a:lnTo>
                <a:lnTo>
                  <a:pt x="1204301" y="256019"/>
                </a:lnTo>
                <a:lnTo>
                  <a:pt x="1216225" y="249745"/>
                </a:lnTo>
                <a:lnTo>
                  <a:pt x="1228148" y="243458"/>
                </a:lnTo>
                <a:lnTo>
                  <a:pt x="1240072" y="237228"/>
                </a:lnTo>
                <a:lnTo>
                  <a:pt x="1251996" y="231118"/>
                </a:lnTo>
                <a:lnTo>
                  <a:pt x="1263920" y="225187"/>
                </a:lnTo>
                <a:lnTo>
                  <a:pt x="1275844" y="219485"/>
                </a:lnTo>
                <a:lnTo>
                  <a:pt x="1287767" y="214059"/>
                </a:lnTo>
                <a:lnTo>
                  <a:pt x="1299691" y="208947"/>
                </a:lnTo>
                <a:lnTo>
                  <a:pt x="1311615" y="204181"/>
                </a:lnTo>
                <a:lnTo>
                  <a:pt x="1323539" y="199788"/>
                </a:lnTo>
                <a:lnTo>
                  <a:pt x="1335462" y="195788"/>
                </a:lnTo>
                <a:lnTo>
                  <a:pt x="1347386" y="192196"/>
                </a:lnTo>
                <a:lnTo>
                  <a:pt x="1359310" y="189018"/>
                </a:lnTo>
                <a:lnTo>
                  <a:pt x="1371234" y="186260"/>
                </a:lnTo>
                <a:lnTo>
                  <a:pt x="1383158" y="183918"/>
                </a:lnTo>
                <a:lnTo>
                  <a:pt x="1395081" y="181987"/>
                </a:lnTo>
                <a:lnTo>
                  <a:pt x="1407005" y="180456"/>
                </a:lnTo>
                <a:lnTo>
                  <a:pt x="1418929" y="179311"/>
                </a:lnTo>
                <a:lnTo>
                  <a:pt x="1430853" y="178535"/>
                </a:lnTo>
                <a:lnTo>
                  <a:pt x="1442776" y="178106"/>
                </a:lnTo>
                <a:lnTo>
                  <a:pt x="1454700" y="178004"/>
                </a:lnTo>
                <a:lnTo>
                  <a:pt x="1466624" y="178203"/>
                </a:lnTo>
                <a:lnTo>
                  <a:pt x="1478548" y="178678"/>
                </a:lnTo>
                <a:lnTo>
                  <a:pt x="1490472" y="179402"/>
                </a:lnTo>
                <a:lnTo>
                  <a:pt x="1502395" y="180349"/>
                </a:lnTo>
                <a:lnTo>
                  <a:pt x="1514319" y="181492"/>
                </a:lnTo>
                <a:lnTo>
                  <a:pt x="1526243" y="182804"/>
                </a:lnTo>
                <a:lnTo>
                  <a:pt x="1538167" y="184258"/>
                </a:lnTo>
                <a:lnTo>
                  <a:pt x="1550090" y="185830"/>
                </a:lnTo>
                <a:lnTo>
                  <a:pt x="1562014" y="187494"/>
                </a:lnTo>
                <a:lnTo>
                  <a:pt x="1573938" y="189229"/>
                </a:lnTo>
                <a:lnTo>
                  <a:pt x="1585862" y="191013"/>
                </a:lnTo>
                <a:lnTo>
                  <a:pt x="1597785" y="192826"/>
                </a:lnTo>
                <a:lnTo>
                  <a:pt x="1609709" y="194650"/>
                </a:lnTo>
                <a:lnTo>
                  <a:pt x="1621633" y="196468"/>
                </a:lnTo>
                <a:lnTo>
                  <a:pt x="1633557" y="198266"/>
                </a:lnTo>
                <a:lnTo>
                  <a:pt x="1645481" y="200031"/>
                </a:lnTo>
                <a:lnTo>
                  <a:pt x="1657404" y="201752"/>
                </a:lnTo>
                <a:lnTo>
                  <a:pt x="1669328" y="203419"/>
                </a:lnTo>
                <a:lnTo>
                  <a:pt x="1681252" y="205026"/>
                </a:lnTo>
                <a:lnTo>
                  <a:pt x="1693176" y="206564"/>
                </a:lnTo>
                <a:lnTo>
                  <a:pt x="1705099" y="208030"/>
                </a:lnTo>
                <a:lnTo>
                  <a:pt x="1717023" y="209421"/>
                </a:lnTo>
                <a:lnTo>
                  <a:pt x="1728947" y="210733"/>
                </a:lnTo>
                <a:lnTo>
                  <a:pt x="1740871" y="211965"/>
                </a:lnTo>
                <a:lnTo>
                  <a:pt x="1752795" y="213118"/>
                </a:lnTo>
                <a:lnTo>
                  <a:pt x="1764718" y="214192"/>
                </a:lnTo>
                <a:lnTo>
                  <a:pt x="1776642" y="215188"/>
                </a:lnTo>
                <a:lnTo>
                  <a:pt x="1788566" y="216108"/>
                </a:lnTo>
                <a:lnTo>
                  <a:pt x="1800490" y="216955"/>
                </a:lnTo>
                <a:lnTo>
                  <a:pt x="1812413" y="217732"/>
                </a:lnTo>
                <a:lnTo>
                  <a:pt x="1824337" y="218441"/>
                </a:lnTo>
                <a:lnTo>
                  <a:pt x="1836261" y="219087"/>
                </a:lnTo>
                <a:lnTo>
                  <a:pt x="1848185" y="219672"/>
                </a:lnTo>
                <a:lnTo>
                  <a:pt x="1860109" y="220202"/>
                </a:lnTo>
                <a:lnTo>
                  <a:pt x="1872032" y="220679"/>
                </a:lnTo>
                <a:lnTo>
                  <a:pt x="1883956" y="221107"/>
                </a:lnTo>
                <a:lnTo>
                  <a:pt x="1895880" y="221491"/>
                </a:lnTo>
                <a:lnTo>
                  <a:pt x="1907804" y="221833"/>
                </a:lnTo>
                <a:lnTo>
                  <a:pt x="1919727" y="222137"/>
                </a:lnTo>
                <a:lnTo>
                  <a:pt x="1931651" y="222407"/>
                </a:lnTo>
                <a:lnTo>
                  <a:pt x="1943575" y="222645"/>
                </a:lnTo>
                <a:lnTo>
                  <a:pt x="1955499" y="222855"/>
                </a:lnTo>
                <a:lnTo>
                  <a:pt x="1967423" y="223039"/>
                </a:lnTo>
                <a:lnTo>
                  <a:pt x="1979346" y="223201"/>
                </a:lnTo>
                <a:lnTo>
                  <a:pt x="1991270" y="223342"/>
                </a:lnTo>
                <a:lnTo>
                  <a:pt x="2003194" y="223465"/>
                </a:lnTo>
                <a:lnTo>
                  <a:pt x="2015118" y="223571"/>
                </a:lnTo>
                <a:lnTo>
                  <a:pt x="2027041" y="223663"/>
                </a:lnTo>
                <a:lnTo>
                  <a:pt x="2038965" y="223743"/>
                </a:lnTo>
                <a:lnTo>
                  <a:pt x="2050889" y="223812"/>
                </a:lnTo>
                <a:lnTo>
                  <a:pt x="2062813" y="223870"/>
                </a:lnTo>
                <a:lnTo>
                  <a:pt x="2074737" y="223921"/>
                </a:lnTo>
                <a:lnTo>
                  <a:pt x="2086660" y="223964"/>
                </a:lnTo>
                <a:lnTo>
                  <a:pt x="2098584" y="224000"/>
                </a:lnTo>
                <a:lnTo>
                  <a:pt x="2110508" y="224031"/>
                </a:lnTo>
                <a:lnTo>
                  <a:pt x="2122432" y="224058"/>
                </a:lnTo>
                <a:lnTo>
                  <a:pt x="2134355" y="224080"/>
                </a:lnTo>
                <a:lnTo>
                  <a:pt x="2146279" y="224099"/>
                </a:lnTo>
                <a:lnTo>
                  <a:pt x="2158203" y="224114"/>
                </a:lnTo>
                <a:lnTo>
                  <a:pt x="2170127" y="224127"/>
                </a:lnTo>
                <a:lnTo>
                  <a:pt x="2182051" y="224138"/>
                </a:lnTo>
                <a:lnTo>
                  <a:pt x="2193974" y="224148"/>
                </a:lnTo>
                <a:lnTo>
                  <a:pt x="2205898" y="224155"/>
                </a:lnTo>
                <a:lnTo>
                  <a:pt x="2217822" y="224161"/>
                </a:lnTo>
                <a:lnTo>
                  <a:pt x="2229746" y="224167"/>
                </a:lnTo>
                <a:lnTo>
                  <a:pt x="2241669" y="224171"/>
                </a:lnTo>
                <a:lnTo>
                  <a:pt x="2253593" y="224174"/>
                </a:lnTo>
                <a:lnTo>
                  <a:pt x="2265517" y="224177"/>
                </a:lnTo>
                <a:lnTo>
                  <a:pt x="2277441" y="224180"/>
                </a:lnTo>
                <a:lnTo>
                  <a:pt x="2289364" y="224182"/>
                </a:lnTo>
                <a:lnTo>
                  <a:pt x="2301288" y="224183"/>
                </a:lnTo>
                <a:lnTo>
                  <a:pt x="2313212" y="224184"/>
                </a:lnTo>
                <a:lnTo>
                  <a:pt x="2325136" y="224185"/>
                </a:lnTo>
                <a:lnTo>
                  <a:pt x="2337060" y="224186"/>
                </a:lnTo>
                <a:lnTo>
                  <a:pt x="2348983" y="224187"/>
                </a:lnTo>
                <a:lnTo>
                  <a:pt x="2360907" y="224188"/>
                </a:lnTo>
                <a:lnTo>
                  <a:pt x="2372831" y="224188"/>
                </a:lnTo>
                <a:lnTo>
                  <a:pt x="2384755" y="224188"/>
                </a:lnTo>
                <a:lnTo>
                  <a:pt x="2396678" y="224189"/>
                </a:lnTo>
                <a:lnTo>
                  <a:pt x="2408602" y="224189"/>
                </a:lnTo>
                <a:lnTo>
                  <a:pt x="2420526" y="224189"/>
                </a:lnTo>
                <a:lnTo>
                  <a:pt x="2432450" y="224189"/>
                </a:lnTo>
                <a:lnTo>
                  <a:pt x="2444374" y="224189"/>
                </a:lnTo>
                <a:lnTo>
                  <a:pt x="2456297" y="224189"/>
                </a:lnTo>
                <a:lnTo>
                  <a:pt x="2468221" y="224189"/>
                </a:lnTo>
                <a:lnTo>
                  <a:pt x="2480145" y="224189"/>
                </a:lnTo>
                <a:lnTo>
                  <a:pt x="2492069" y="224189"/>
                </a:lnTo>
                <a:lnTo>
                  <a:pt x="2503992" y="224189"/>
                </a:lnTo>
                <a:lnTo>
                  <a:pt x="2515916" y="224190"/>
                </a:lnTo>
                <a:lnTo>
                  <a:pt x="2527840" y="224190"/>
                </a:lnTo>
                <a:lnTo>
                  <a:pt x="2539764" y="224190"/>
                </a:lnTo>
                <a:lnTo>
                  <a:pt x="2551688" y="224190"/>
                </a:lnTo>
                <a:lnTo>
                  <a:pt x="2563611" y="224190"/>
                </a:lnTo>
                <a:lnTo>
                  <a:pt x="2575535" y="224190"/>
                </a:lnTo>
                <a:lnTo>
                  <a:pt x="2587459" y="224190"/>
                </a:lnTo>
                <a:lnTo>
                  <a:pt x="2599383" y="224190"/>
                </a:lnTo>
                <a:lnTo>
                  <a:pt x="2611306" y="224190"/>
                </a:lnTo>
                <a:lnTo>
                  <a:pt x="2623230" y="224190"/>
                </a:lnTo>
                <a:lnTo>
                  <a:pt x="2635154" y="224190"/>
                </a:lnTo>
                <a:lnTo>
                  <a:pt x="2647078" y="224190"/>
                </a:lnTo>
                <a:lnTo>
                  <a:pt x="2659002" y="224190"/>
                </a:lnTo>
                <a:lnTo>
                  <a:pt x="2670925" y="224190"/>
                </a:lnTo>
                <a:lnTo>
                  <a:pt x="2682849" y="224190"/>
                </a:lnTo>
                <a:lnTo>
                  <a:pt x="2694773" y="224190"/>
                </a:lnTo>
                <a:lnTo>
                  <a:pt x="2706697" y="224190"/>
                </a:lnTo>
                <a:lnTo>
                  <a:pt x="2718620" y="224190"/>
                </a:lnTo>
                <a:lnTo>
                  <a:pt x="2730544" y="224190"/>
                </a:lnTo>
                <a:lnTo>
                  <a:pt x="2742468" y="224190"/>
                </a:lnTo>
                <a:lnTo>
                  <a:pt x="2754392" y="224190"/>
                </a:lnTo>
                <a:lnTo>
                  <a:pt x="2766316" y="224190"/>
                </a:lnTo>
                <a:lnTo>
                  <a:pt x="2778239" y="224190"/>
                </a:lnTo>
                <a:lnTo>
                  <a:pt x="2790163" y="224190"/>
                </a:lnTo>
                <a:lnTo>
                  <a:pt x="2802087" y="224190"/>
                </a:lnTo>
                <a:lnTo>
                  <a:pt x="2814011" y="224190"/>
                </a:lnTo>
                <a:lnTo>
                  <a:pt x="2825934" y="224190"/>
                </a:lnTo>
                <a:lnTo>
                  <a:pt x="2837858" y="224190"/>
                </a:lnTo>
                <a:lnTo>
                  <a:pt x="2849782" y="224190"/>
                </a:lnTo>
                <a:lnTo>
                  <a:pt x="2861706" y="224190"/>
                </a:lnTo>
                <a:lnTo>
                  <a:pt x="2873630" y="224190"/>
                </a:lnTo>
                <a:lnTo>
                  <a:pt x="2885553" y="224190"/>
                </a:lnTo>
                <a:lnTo>
                  <a:pt x="2897477" y="224190"/>
                </a:lnTo>
                <a:lnTo>
                  <a:pt x="2909401" y="224190"/>
                </a:lnTo>
                <a:lnTo>
                  <a:pt x="2921325" y="224190"/>
                </a:lnTo>
                <a:lnTo>
                  <a:pt x="2933248" y="224190"/>
                </a:lnTo>
                <a:lnTo>
                  <a:pt x="2945172" y="224190"/>
                </a:lnTo>
                <a:lnTo>
                  <a:pt x="2957096" y="224190"/>
                </a:lnTo>
                <a:lnTo>
                  <a:pt x="2969020" y="224190"/>
                </a:lnTo>
              </a:path>
            </a:pathLst>
          </a:cu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1AB5A718-1941-BCED-86C6-ECDB6CA43569}"/>
              </a:ext>
            </a:extLst>
          </p:cNvPr>
          <p:cNvCxnSpPr/>
          <p:nvPr/>
        </p:nvCxnSpPr>
        <p:spPr>
          <a:xfrm>
            <a:off x="1390702"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BD0794C6-90A6-8A3F-E549-0A4320344EE4}"/>
              </a:ext>
            </a:extLst>
          </p:cNvPr>
          <p:cNvCxnSpPr/>
          <p:nvPr/>
        </p:nvCxnSpPr>
        <p:spPr>
          <a:xfrm>
            <a:off x="1390702"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8710D38F-5DA1-DB7D-DD62-D749693B00F9}"/>
              </a:ext>
            </a:extLst>
          </p:cNvPr>
          <p:cNvSpPr/>
          <p:nvPr/>
        </p:nvSpPr>
        <p:spPr>
          <a:xfrm>
            <a:off x="1322122" y="2231611"/>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51" name="Connector 50">
            <a:extLst>
              <a:ext uri="{FF2B5EF4-FFF2-40B4-BE49-F238E27FC236}">
                <a16:creationId xmlns:a16="http://schemas.microsoft.com/office/drawing/2014/main" id="{BDCC9C84-1839-C155-029F-E9104DF2FFF4}"/>
              </a:ext>
            </a:extLst>
          </p:cNvPr>
          <p:cNvCxnSpPr/>
          <p:nvPr/>
        </p:nvCxnSpPr>
        <p:spPr>
          <a:xfrm>
            <a:off x="1664949"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A72BB71D-5072-DA60-F45A-E3498F67F193}"/>
              </a:ext>
            </a:extLst>
          </p:cNvPr>
          <p:cNvCxnSpPr/>
          <p:nvPr/>
        </p:nvCxnSpPr>
        <p:spPr>
          <a:xfrm>
            <a:off x="1664949"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F43E2691-9469-533A-BBC2-3AE137836B81}"/>
              </a:ext>
            </a:extLst>
          </p:cNvPr>
          <p:cNvSpPr/>
          <p:nvPr/>
        </p:nvSpPr>
        <p:spPr>
          <a:xfrm>
            <a:off x="1596369" y="271107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D8F76A40-C0DB-85E7-50AD-067959A36B4E}"/>
              </a:ext>
            </a:extLst>
          </p:cNvPr>
          <p:cNvSpPr txBox="1"/>
          <p:nvPr/>
        </p:nvSpPr>
        <p:spPr>
          <a:xfrm>
            <a:off x="773812" y="3411318"/>
            <a:ext cx="3236976" cy="395630"/>
          </a:xfrm>
          <a:prstGeom prst="rect">
            <a:avLst/>
          </a:prstGeom>
          <a:noFill/>
        </p:spPr>
        <p:txBody>
          <a:bodyPr wrap="square" lIns="0" tIns="0" rIns="0" bIns="0" anchor="t">
            <a:spAutoFit/>
          </a:bodyPr>
          <a:lstStyle/>
          <a:p>
            <a:pPr algn="l">
              <a:spcAft>
                <a:spcPts val="0"/>
              </a:spcAft>
            </a:pPr>
            <a:r>
              <a:rPr sz="2200" b="0" dirty="0">
                <a:solidFill>
                  <a:srgbClr val="00A8AA"/>
                </a:solidFill>
                <a:latin typeface="Meiryo"/>
                <a:ea typeface="Meiryo"/>
                <a:cs typeface="Meiryo"/>
              </a:rPr>
              <a:t>2次微分</a:t>
            </a:r>
          </a:p>
        </p:txBody>
      </p:sp>
      <p:sp>
        <p:nvSpPr>
          <p:cNvPr id="55" name="TextBox 54">
            <a:extLst>
              <a:ext uri="{FF2B5EF4-FFF2-40B4-BE49-F238E27FC236}">
                <a16:creationId xmlns:a16="http://schemas.microsoft.com/office/drawing/2014/main" id="{61503E04-E08B-1040-C1E7-08C9FEF4019C}"/>
              </a:ext>
            </a:extLst>
          </p:cNvPr>
          <p:cNvSpPr txBox="1"/>
          <p:nvPr/>
        </p:nvSpPr>
        <p:spPr>
          <a:xfrm>
            <a:off x="773812"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微分で見つけた時刻</a:t>
            </a:r>
            <a:endParaRPr sz="2200" b="0" dirty="0">
              <a:solidFill>
                <a:srgbClr val="262626"/>
              </a:solidFill>
              <a:latin typeface="Meiryo"/>
              <a:ea typeface="Meiryo"/>
              <a:cs typeface="Meiryo"/>
            </a:endParaRPr>
          </a:p>
        </p:txBody>
      </p:sp>
      <p:sp>
        <p:nvSpPr>
          <p:cNvPr id="56" name="TextBox 55">
            <a:extLst>
              <a:ext uri="{FF2B5EF4-FFF2-40B4-BE49-F238E27FC236}">
                <a16:creationId xmlns:a16="http://schemas.microsoft.com/office/drawing/2014/main" id="{AA98D87C-E43B-E7D9-32BB-5DC5A1EF9908}"/>
              </a:ext>
            </a:extLst>
          </p:cNvPr>
          <p:cNvSpPr txBox="1"/>
          <p:nvPr/>
        </p:nvSpPr>
        <p:spPr>
          <a:xfrm>
            <a:off x="4577716"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b　前の拍を引き継ぐ</a:t>
            </a:r>
          </a:p>
        </p:txBody>
      </p:sp>
      <p:sp>
        <p:nvSpPr>
          <p:cNvPr id="5" name="Freeform 4">
            <a:extLst>
              <a:ext uri="{FF2B5EF4-FFF2-40B4-BE49-F238E27FC236}">
                <a16:creationId xmlns:a16="http://schemas.microsoft.com/office/drawing/2014/main" id="{A0034942-B9B4-C65F-B785-5A28F82F3653}"/>
              </a:ext>
            </a:extLst>
          </p:cNvPr>
          <p:cNvSpPr/>
          <p:nvPr/>
        </p:nvSpPr>
        <p:spPr>
          <a:xfrm>
            <a:off x="4650868" y="2475603"/>
            <a:ext cx="3084490" cy="1268337"/>
          </a:xfrm>
          <a:custGeom>
            <a:avLst/>
            <a:gdLst/>
            <a:ahLst/>
            <a:cxnLst/>
            <a:rect l="l" t="t" r="r" b="b"/>
            <a:pathLst>
              <a:path w="3084490" h="1268337">
                <a:moveTo>
                  <a:pt x="0" y="1233563"/>
                </a:moveTo>
                <a:lnTo>
                  <a:pt x="6181" y="1226887"/>
                </a:lnTo>
                <a:lnTo>
                  <a:pt x="12362" y="1219148"/>
                </a:lnTo>
                <a:lnTo>
                  <a:pt x="18544" y="1210222"/>
                </a:lnTo>
                <a:lnTo>
                  <a:pt x="24725" y="1199980"/>
                </a:lnTo>
                <a:lnTo>
                  <a:pt x="30906" y="1188289"/>
                </a:lnTo>
                <a:lnTo>
                  <a:pt x="37088" y="1175013"/>
                </a:lnTo>
                <a:lnTo>
                  <a:pt x="43269" y="1160015"/>
                </a:lnTo>
                <a:lnTo>
                  <a:pt x="49450" y="1143163"/>
                </a:lnTo>
                <a:lnTo>
                  <a:pt x="55632" y="1124328"/>
                </a:lnTo>
                <a:lnTo>
                  <a:pt x="61813" y="1103391"/>
                </a:lnTo>
                <a:lnTo>
                  <a:pt x="67994" y="1080243"/>
                </a:lnTo>
                <a:lnTo>
                  <a:pt x="74176" y="1054794"/>
                </a:lnTo>
                <a:lnTo>
                  <a:pt x="80357" y="1026970"/>
                </a:lnTo>
                <a:lnTo>
                  <a:pt x="86538" y="996725"/>
                </a:lnTo>
                <a:lnTo>
                  <a:pt x="92720" y="964036"/>
                </a:lnTo>
                <a:lnTo>
                  <a:pt x="98901" y="928915"/>
                </a:lnTo>
                <a:lnTo>
                  <a:pt x="105082" y="891406"/>
                </a:lnTo>
                <a:lnTo>
                  <a:pt x="111264" y="851593"/>
                </a:lnTo>
                <a:lnTo>
                  <a:pt x="117445" y="809600"/>
                </a:lnTo>
                <a:lnTo>
                  <a:pt x="123626" y="765593"/>
                </a:lnTo>
                <a:lnTo>
                  <a:pt x="129808" y="719780"/>
                </a:lnTo>
                <a:lnTo>
                  <a:pt x="135989" y="672414"/>
                </a:lnTo>
                <a:lnTo>
                  <a:pt x="142170" y="623790"/>
                </a:lnTo>
                <a:lnTo>
                  <a:pt x="148352" y="574243"/>
                </a:lnTo>
                <a:lnTo>
                  <a:pt x="154533" y="524147"/>
                </a:lnTo>
                <a:lnTo>
                  <a:pt x="160714" y="473907"/>
                </a:lnTo>
                <a:lnTo>
                  <a:pt x="166896" y="423958"/>
                </a:lnTo>
                <a:lnTo>
                  <a:pt x="173077" y="374755"/>
                </a:lnTo>
                <a:lnTo>
                  <a:pt x="179258" y="326769"/>
                </a:lnTo>
                <a:lnTo>
                  <a:pt x="185440" y="280477"/>
                </a:lnTo>
                <a:lnTo>
                  <a:pt x="191621" y="236353"/>
                </a:lnTo>
                <a:lnTo>
                  <a:pt x="197803" y="194863"/>
                </a:lnTo>
                <a:lnTo>
                  <a:pt x="203984" y="156449"/>
                </a:lnTo>
                <a:lnTo>
                  <a:pt x="210165" y="121528"/>
                </a:lnTo>
                <a:lnTo>
                  <a:pt x="216347" y="90477"/>
                </a:lnTo>
                <a:lnTo>
                  <a:pt x="222528" y="63627"/>
                </a:lnTo>
                <a:lnTo>
                  <a:pt x="228709" y="41259"/>
                </a:lnTo>
                <a:lnTo>
                  <a:pt x="234891" y="23590"/>
                </a:lnTo>
                <a:lnTo>
                  <a:pt x="241072" y="10778"/>
                </a:lnTo>
                <a:lnTo>
                  <a:pt x="247253" y="2908"/>
                </a:lnTo>
                <a:lnTo>
                  <a:pt x="253435" y="0"/>
                </a:lnTo>
                <a:lnTo>
                  <a:pt x="259616" y="2000"/>
                </a:lnTo>
                <a:lnTo>
                  <a:pt x="265797" y="8786"/>
                </a:lnTo>
                <a:lnTo>
                  <a:pt x="271979" y="20168"/>
                </a:lnTo>
                <a:lnTo>
                  <a:pt x="278160" y="35895"/>
                </a:lnTo>
                <a:lnTo>
                  <a:pt x="284341" y="55658"/>
                </a:lnTo>
                <a:lnTo>
                  <a:pt x="290523" y="79096"/>
                </a:lnTo>
                <a:lnTo>
                  <a:pt x="296704" y="105808"/>
                </a:lnTo>
                <a:lnTo>
                  <a:pt x="302885" y="135357"/>
                </a:lnTo>
                <a:lnTo>
                  <a:pt x="309067" y="167281"/>
                </a:lnTo>
                <a:lnTo>
                  <a:pt x="315248" y="201103"/>
                </a:lnTo>
                <a:lnTo>
                  <a:pt x="321429" y="236338"/>
                </a:lnTo>
                <a:lnTo>
                  <a:pt x="327611" y="272505"/>
                </a:lnTo>
                <a:lnTo>
                  <a:pt x="333792" y="309134"/>
                </a:lnTo>
                <a:lnTo>
                  <a:pt x="339973" y="345776"/>
                </a:lnTo>
                <a:lnTo>
                  <a:pt x="346155" y="382008"/>
                </a:lnTo>
                <a:lnTo>
                  <a:pt x="352336" y="417440"/>
                </a:lnTo>
                <a:lnTo>
                  <a:pt x="358517" y="451722"/>
                </a:lnTo>
                <a:lnTo>
                  <a:pt x="364699" y="484546"/>
                </a:lnTo>
                <a:lnTo>
                  <a:pt x="370880" y="515650"/>
                </a:lnTo>
                <a:lnTo>
                  <a:pt x="377061" y="544820"/>
                </a:lnTo>
                <a:lnTo>
                  <a:pt x="383243" y="571890"/>
                </a:lnTo>
                <a:lnTo>
                  <a:pt x="389424" y="596742"/>
                </a:lnTo>
                <a:lnTo>
                  <a:pt x="395606" y="619305"/>
                </a:lnTo>
                <a:lnTo>
                  <a:pt x="401787" y="639553"/>
                </a:lnTo>
                <a:lnTo>
                  <a:pt x="407968" y="657500"/>
                </a:lnTo>
                <a:lnTo>
                  <a:pt x="414150" y="673199"/>
                </a:lnTo>
                <a:lnTo>
                  <a:pt x="420331" y="686735"/>
                </a:lnTo>
                <a:lnTo>
                  <a:pt x="426512" y="698226"/>
                </a:lnTo>
                <a:lnTo>
                  <a:pt x="432694" y="707812"/>
                </a:lnTo>
                <a:lnTo>
                  <a:pt x="438875" y="715654"/>
                </a:lnTo>
                <a:lnTo>
                  <a:pt x="445056" y="721928"/>
                </a:lnTo>
                <a:lnTo>
                  <a:pt x="451238" y="726824"/>
                </a:lnTo>
                <a:lnTo>
                  <a:pt x="457419" y="730536"/>
                </a:lnTo>
                <a:lnTo>
                  <a:pt x="463600" y="733262"/>
                </a:lnTo>
                <a:lnTo>
                  <a:pt x="469782" y="735200"/>
                </a:lnTo>
                <a:lnTo>
                  <a:pt x="475963" y="736545"/>
                </a:lnTo>
                <a:lnTo>
                  <a:pt x="482144" y="737483"/>
                </a:lnTo>
                <a:lnTo>
                  <a:pt x="488326" y="738193"/>
                </a:lnTo>
                <a:lnTo>
                  <a:pt x="494507" y="738843"/>
                </a:lnTo>
                <a:lnTo>
                  <a:pt x="500688" y="739587"/>
                </a:lnTo>
                <a:lnTo>
                  <a:pt x="506870" y="740566"/>
                </a:lnTo>
                <a:lnTo>
                  <a:pt x="513051" y="741906"/>
                </a:lnTo>
                <a:lnTo>
                  <a:pt x="519232" y="743719"/>
                </a:lnTo>
                <a:lnTo>
                  <a:pt x="525414" y="746098"/>
                </a:lnTo>
                <a:lnTo>
                  <a:pt x="531595" y="749125"/>
                </a:lnTo>
                <a:lnTo>
                  <a:pt x="537776" y="752863"/>
                </a:lnTo>
                <a:lnTo>
                  <a:pt x="543958" y="757361"/>
                </a:lnTo>
                <a:lnTo>
                  <a:pt x="550139" y="762655"/>
                </a:lnTo>
                <a:lnTo>
                  <a:pt x="556320" y="768763"/>
                </a:lnTo>
                <a:lnTo>
                  <a:pt x="562502" y="775696"/>
                </a:lnTo>
                <a:lnTo>
                  <a:pt x="568683" y="783449"/>
                </a:lnTo>
                <a:lnTo>
                  <a:pt x="574864" y="792006"/>
                </a:lnTo>
                <a:lnTo>
                  <a:pt x="581046" y="801343"/>
                </a:lnTo>
                <a:lnTo>
                  <a:pt x="587227" y="811426"/>
                </a:lnTo>
                <a:lnTo>
                  <a:pt x="593409" y="822213"/>
                </a:lnTo>
                <a:lnTo>
                  <a:pt x="599590" y="833656"/>
                </a:lnTo>
                <a:lnTo>
                  <a:pt x="605771" y="845699"/>
                </a:lnTo>
                <a:lnTo>
                  <a:pt x="611953" y="858284"/>
                </a:lnTo>
                <a:lnTo>
                  <a:pt x="618134" y="871349"/>
                </a:lnTo>
                <a:lnTo>
                  <a:pt x="624315" y="884826"/>
                </a:lnTo>
                <a:lnTo>
                  <a:pt x="630497" y="898650"/>
                </a:lnTo>
                <a:lnTo>
                  <a:pt x="636678" y="912751"/>
                </a:lnTo>
                <a:lnTo>
                  <a:pt x="642859" y="927061"/>
                </a:lnTo>
                <a:lnTo>
                  <a:pt x="649041" y="941513"/>
                </a:lnTo>
                <a:lnTo>
                  <a:pt x="655222" y="956040"/>
                </a:lnTo>
                <a:lnTo>
                  <a:pt x="661403" y="970576"/>
                </a:lnTo>
                <a:lnTo>
                  <a:pt x="667585" y="985061"/>
                </a:lnTo>
                <a:lnTo>
                  <a:pt x="673766" y="999435"/>
                </a:lnTo>
                <a:lnTo>
                  <a:pt x="679947" y="1013642"/>
                </a:lnTo>
                <a:lnTo>
                  <a:pt x="686129" y="1027632"/>
                </a:lnTo>
                <a:lnTo>
                  <a:pt x="692310" y="1041354"/>
                </a:lnTo>
                <a:lnTo>
                  <a:pt x="698491" y="1054768"/>
                </a:lnTo>
                <a:lnTo>
                  <a:pt x="704673" y="1067832"/>
                </a:lnTo>
                <a:lnTo>
                  <a:pt x="710854" y="1080514"/>
                </a:lnTo>
                <a:lnTo>
                  <a:pt x="717035" y="1092782"/>
                </a:lnTo>
                <a:lnTo>
                  <a:pt x="723217" y="1104612"/>
                </a:lnTo>
                <a:lnTo>
                  <a:pt x="729398" y="1115982"/>
                </a:lnTo>
                <a:lnTo>
                  <a:pt x="735579" y="1126876"/>
                </a:lnTo>
                <a:lnTo>
                  <a:pt x="741761" y="1137281"/>
                </a:lnTo>
                <a:lnTo>
                  <a:pt x="747942" y="1147190"/>
                </a:lnTo>
                <a:lnTo>
                  <a:pt x="754123" y="1156597"/>
                </a:lnTo>
                <a:lnTo>
                  <a:pt x="760305" y="1165502"/>
                </a:lnTo>
                <a:lnTo>
                  <a:pt x="766486" y="1173906"/>
                </a:lnTo>
                <a:lnTo>
                  <a:pt x="772668" y="1181816"/>
                </a:lnTo>
                <a:lnTo>
                  <a:pt x="778849" y="1189238"/>
                </a:lnTo>
                <a:lnTo>
                  <a:pt x="785030" y="1196183"/>
                </a:lnTo>
                <a:lnTo>
                  <a:pt x="791212" y="1202665"/>
                </a:lnTo>
                <a:lnTo>
                  <a:pt x="797393" y="1208696"/>
                </a:lnTo>
                <a:lnTo>
                  <a:pt x="803574" y="1214293"/>
                </a:lnTo>
                <a:lnTo>
                  <a:pt x="809756" y="1219473"/>
                </a:lnTo>
                <a:lnTo>
                  <a:pt x="815937" y="1224255"/>
                </a:lnTo>
                <a:lnTo>
                  <a:pt x="822118" y="1228656"/>
                </a:lnTo>
                <a:lnTo>
                  <a:pt x="828300" y="1232697"/>
                </a:lnTo>
                <a:lnTo>
                  <a:pt x="834481" y="1236397"/>
                </a:lnTo>
                <a:lnTo>
                  <a:pt x="840662" y="1239777"/>
                </a:lnTo>
                <a:lnTo>
                  <a:pt x="846844" y="1242855"/>
                </a:lnTo>
                <a:lnTo>
                  <a:pt x="853025" y="1245652"/>
                </a:lnTo>
                <a:lnTo>
                  <a:pt x="859206" y="1248187"/>
                </a:lnTo>
                <a:lnTo>
                  <a:pt x="865388" y="1250478"/>
                </a:lnTo>
                <a:lnTo>
                  <a:pt x="871569" y="1252543"/>
                </a:lnTo>
                <a:lnTo>
                  <a:pt x="877750" y="1254401"/>
                </a:lnTo>
                <a:lnTo>
                  <a:pt x="883932" y="1256067"/>
                </a:lnTo>
                <a:lnTo>
                  <a:pt x="890113" y="1257558"/>
                </a:lnTo>
                <a:lnTo>
                  <a:pt x="896294" y="1258889"/>
                </a:lnTo>
                <a:lnTo>
                  <a:pt x="902476" y="1260074"/>
                </a:lnTo>
                <a:lnTo>
                  <a:pt x="908657" y="1261126"/>
                </a:lnTo>
                <a:lnTo>
                  <a:pt x="914838" y="1262058"/>
                </a:lnTo>
                <a:lnTo>
                  <a:pt x="921020" y="1262882"/>
                </a:lnTo>
                <a:lnTo>
                  <a:pt x="927201" y="1263608"/>
                </a:lnTo>
                <a:lnTo>
                  <a:pt x="933382" y="1264246"/>
                </a:lnTo>
                <a:lnTo>
                  <a:pt x="939564" y="1264807"/>
                </a:lnTo>
                <a:lnTo>
                  <a:pt x="945745" y="1265297"/>
                </a:lnTo>
                <a:lnTo>
                  <a:pt x="951926" y="1265725"/>
                </a:lnTo>
                <a:lnTo>
                  <a:pt x="958108" y="1266097"/>
                </a:lnTo>
                <a:lnTo>
                  <a:pt x="964289" y="1266421"/>
                </a:lnTo>
                <a:lnTo>
                  <a:pt x="970471" y="1266702"/>
                </a:lnTo>
                <a:lnTo>
                  <a:pt x="976652" y="1266944"/>
                </a:lnTo>
                <a:lnTo>
                  <a:pt x="982833" y="1267154"/>
                </a:lnTo>
                <a:lnTo>
                  <a:pt x="989015" y="1267334"/>
                </a:lnTo>
                <a:lnTo>
                  <a:pt x="995196" y="1267488"/>
                </a:lnTo>
                <a:lnTo>
                  <a:pt x="1001377" y="1267620"/>
                </a:lnTo>
                <a:lnTo>
                  <a:pt x="1007559" y="1267734"/>
                </a:lnTo>
                <a:lnTo>
                  <a:pt x="1013740" y="1267830"/>
                </a:lnTo>
                <a:lnTo>
                  <a:pt x="1019921" y="1267912"/>
                </a:lnTo>
                <a:lnTo>
                  <a:pt x="1026103" y="1267981"/>
                </a:lnTo>
                <a:lnTo>
                  <a:pt x="1032284" y="1268040"/>
                </a:lnTo>
                <a:lnTo>
                  <a:pt x="1038465" y="1268090"/>
                </a:lnTo>
                <a:lnTo>
                  <a:pt x="1044647" y="1268131"/>
                </a:lnTo>
                <a:lnTo>
                  <a:pt x="1050828" y="1268167"/>
                </a:lnTo>
                <a:lnTo>
                  <a:pt x="1057009" y="1268196"/>
                </a:lnTo>
                <a:lnTo>
                  <a:pt x="1063191" y="1268221"/>
                </a:lnTo>
                <a:lnTo>
                  <a:pt x="1069372" y="1268241"/>
                </a:lnTo>
                <a:lnTo>
                  <a:pt x="1075553" y="1268258"/>
                </a:lnTo>
                <a:lnTo>
                  <a:pt x="1081735" y="1268272"/>
                </a:lnTo>
                <a:lnTo>
                  <a:pt x="1087916" y="1268284"/>
                </a:lnTo>
                <a:lnTo>
                  <a:pt x="1094097" y="1268294"/>
                </a:lnTo>
                <a:lnTo>
                  <a:pt x="1100279" y="1268302"/>
                </a:lnTo>
                <a:lnTo>
                  <a:pt x="1106460" y="1268309"/>
                </a:lnTo>
                <a:lnTo>
                  <a:pt x="1112641" y="1268314"/>
                </a:lnTo>
                <a:lnTo>
                  <a:pt x="1118823" y="1268318"/>
                </a:lnTo>
                <a:lnTo>
                  <a:pt x="1125004" y="1268322"/>
                </a:lnTo>
                <a:lnTo>
                  <a:pt x="1131185" y="1268325"/>
                </a:lnTo>
                <a:lnTo>
                  <a:pt x="1137367" y="1268327"/>
                </a:lnTo>
                <a:lnTo>
                  <a:pt x="1143548" y="1268329"/>
                </a:lnTo>
                <a:lnTo>
                  <a:pt x="1149729" y="1268331"/>
                </a:lnTo>
                <a:lnTo>
                  <a:pt x="1155911" y="1268332"/>
                </a:lnTo>
                <a:lnTo>
                  <a:pt x="1162092" y="1268333"/>
                </a:lnTo>
                <a:lnTo>
                  <a:pt x="1168274" y="1268334"/>
                </a:lnTo>
                <a:lnTo>
                  <a:pt x="1174455" y="1268335"/>
                </a:lnTo>
                <a:lnTo>
                  <a:pt x="1180636" y="1268335"/>
                </a:lnTo>
                <a:lnTo>
                  <a:pt x="1186818" y="1268336"/>
                </a:lnTo>
                <a:lnTo>
                  <a:pt x="1192999" y="1268336"/>
                </a:lnTo>
                <a:lnTo>
                  <a:pt x="1199180" y="1268336"/>
                </a:lnTo>
                <a:lnTo>
                  <a:pt x="1205362" y="1268336"/>
                </a:lnTo>
                <a:lnTo>
                  <a:pt x="1211543" y="1268337"/>
                </a:lnTo>
                <a:lnTo>
                  <a:pt x="1217724" y="1268337"/>
                </a:lnTo>
                <a:lnTo>
                  <a:pt x="1223906" y="1268337"/>
                </a:lnTo>
                <a:lnTo>
                  <a:pt x="1230087" y="1268337"/>
                </a:lnTo>
                <a:lnTo>
                  <a:pt x="1236268" y="1268337"/>
                </a:lnTo>
                <a:lnTo>
                  <a:pt x="1242450" y="1268337"/>
                </a:lnTo>
                <a:lnTo>
                  <a:pt x="1248631" y="1268337"/>
                </a:lnTo>
                <a:lnTo>
                  <a:pt x="1254812" y="1268337"/>
                </a:lnTo>
                <a:lnTo>
                  <a:pt x="1260994" y="1268337"/>
                </a:lnTo>
                <a:lnTo>
                  <a:pt x="1267175" y="1268337"/>
                </a:lnTo>
                <a:lnTo>
                  <a:pt x="1273356" y="1268337"/>
                </a:lnTo>
                <a:lnTo>
                  <a:pt x="1279538" y="1268337"/>
                </a:lnTo>
                <a:lnTo>
                  <a:pt x="1285719" y="1268337"/>
                </a:lnTo>
                <a:lnTo>
                  <a:pt x="1291900" y="1268337"/>
                </a:lnTo>
                <a:lnTo>
                  <a:pt x="1298082" y="1268337"/>
                </a:lnTo>
                <a:lnTo>
                  <a:pt x="1304263" y="1268337"/>
                </a:lnTo>
                <a:lnTo>
                  <a:pt x="1310444" y="1268337"/>
                </a:lnTo>
                <a:lnTo>
                  <a:pt x="1316626" y="1268337"/>
                </a:lnTo>
                <a:lnTo>
                  <a:pt x="1322807" y="1268337"/>
                </a:lnTo>
                <a:lnTo>
                  <a:pt x="1328988" y="1268337"/>
                </a:lnTo>
                <a:lnTo>
                  <a:pt x="1335170" y="1268337"/>
                </a:lnTo>
                <a:lnTo>
                  <a:pt x="1341351" y="1268337"/>
                </a:lnTo>
                <a:lnTo>
                  <a:pt x="1347532" y="1268337"/>
                </a:lnTo>
                <a:lnTo>
                  <a:pt x="1353714" y="1268337"/>
                </a:lnTo>
                <a:lnTo>
                  <a:pt x="1359895" y="1268337"/>
                </a:lnTo>
                <a:lnTo>
                  <a:pt x="1366077" y="1268337"/>
                </a:lnTo>
                <a:lnTo>
                  <a:pt x="1372258" y="1268337"/>
                </a:lnTo>
                <a:lnTo>
                  <a:pt x="1378439" y="1268337"/>
                </a:lnTo>
                <a:lnTo>
                  <a:pt x="1384621" y="1268337"/>
                </a:lnTo>
                <a:lnTo>
                  <a:pt x="1390802" y="1268337"/>
                </a:lnTo>
                <a:lnTo>
                  <a:pt x="1396983" y="1268337"/>
                </a:lnTo>
                <a:lnTo>
                  <a:pt x="1403165" y="1268337"/>
                </a:lnTo>
                <a:lnTo>
                  <a:pt x="1409346" y="1268337"/>
                </a:lnTo>
                <a:lnTo>
                  <a:pt x="1415527" y="1268337"/>
                </a:lnTo>
                <a:lnTo>
                  <a:pt x="1421709" y="1268337"/>
                </a:lnTo>
                <a:lnTo>
                  <a:pt x="1427890" y="1268337"/>
                </a:lnTo>
                <a:lnTo>
                  <a:pt x="1434071" y="1268337"/>
                </a:lnTo>
                <a:lnTo>
                  <a:pt x="1440253" y="1268337"/>
                </a:lnTo>
                <a:lnTo>
                  <a:pt x="1446434" y="1268337"/>
                </a:lnTo>
                <a:lnTo>
                  <a:pt x="1452615" y="1268337"/>
                </a:lnTo>
                <a:lnTo>
                  <a:pt x="1458797" y="1268337"/>
                </a:lnTo>
                <a:lnTo>
                  <a:pt x="1464978" y="1268337"/>
                </a:lnTo>
                <a:lnTo>
                  <a:pt x="1471159" y="1268337"/>
                </a:lnTo>
                <a:lnTo>
                  <a:pt x="1477341" y="1268337"/>
                </a:lnTo>
                <a:lnTo>
                  <a:pt x="1483522" y="1268337"/>
                </a:lnTo>
                <a:lnTo>
                  <a:pt x="1489703" y="1268337"/>
                </a:lnTo>
                <a:lnTo>
                  <a:pt x="1495885" y="1268337"/>
                </a:lnTo>
                <a:lnTo>
                  <a:pt x="1502066" y="1268337"/>
                </a:lnTo>
                <a:lnTo>
                  <a:pt x="1508247" y="1268337"/>
                </a:lnTo>
                <a:lnTo>
                  <a:pt x="1514429" y="1268337"/>
                </a:lnTo>
                <a:lnTo>
                  <a:pt x="1520610" y="1268337"/>
                </a:lnTo>
                <a:lnTo>
                  <a:pt x="1526791" y="1268337"/>
                </a:lnTo>
                <a:lnTo>
                  <a:pt x="1532973" y="1268337"/>
                </a:lnTo>
                <a:lnTo>
                  <a:pt x="1539154" y="1268337"/>
                </a:lnTo>
                <a:lnTo>
                  <a:pt x="1545336" y="1235997"/>
                </a:lnTo>
                <a:lnTo>
                  <a:pt x="1551517" y="1229788"/>
                </a:lnTo>
                <a:lnTo>
                  <a:pt x="1557698" y="1222591"/>
                </a:lnTo>
                <a:lnTo>
                  <a:pt x="1563880" y="1214290"/>
                </a:lnTo>
                <a:lnTo>
                  <a:pt x="1570061" y="1204765"/>
                </a:lnTo>
                <a:lnTo>
                  <a:pt x="1576242" y="1193893"/>
                </a:lnTo>
                <a:lnTo>
                  <a:pt x="1582424" y="1181546"/>
                </a:lnTo>
                <a:lnTo>
                  <a:pt x="1588605" y="1167598"/>
                </a:lnTo>
                <a:lnTo>
                  <a:pt x="1594786" y="1151925"/>
                </a:lnTo>
                <a:lnTo>
                  <a:pt x="1600968" y="1134409"/>
                </a:lnTo>
                <a:lnTo>
                  <a:pt x="1607149" y="1114937"/>
                </a:lnTo>
                <a:lnTo>
                  <a:pt x="1613330" y="1093410"/>
                </a:lnTo>
                <a:lnTo>
                  <a:pt x="1619512" y="1069742"/>
                </a:lnTo>
                <a:lnTo>
                  <a:pt x="1625693" y="1043866"/>
                </a:lnTo>
                <a:lnTo>
                  <a:pt x="1631874" y="1015738"/>
                </a:lnTo>
                <a:lnTo>
                  <a:pt x="1638056" y="985337"/>
                </a:lnTo>
                <a:lnTo>
                  <a:pt x="1644237" y="952674"/>
                </a:lnTo>
                <a:lnTo>
                  <a:pt x="1650418" y="917791"/>
                </a:lnTo>
                <a:lnTo>
                  <a:pt x="1656600" y="880765"/>
                </a:lnTo>
                <a:lnTo>
                  <a:pt x="1662781" y="841712"/>
                </a:lnTo>
                <a:lnTo>
                  <a:pt x="1668962" y="800785"/>
                </a:lnTo>
                <a:lnTo>
                  <a:pt x="1675144" y="758179"/>
                </a:lnTo>
                <a:lnTo>
                  <a:pt x="1681325" y="714128"/>
                </a:lnTo>
                <a:lnTo>
                  <a:pt x="1687506" y="668908"/>
                </a:lnTo>
                <a:lnTo>
                  <a:pt x="1693688" y="622830"/>
                </a:lnTo>
                <a:lnTo>
                  <a:pt x="1699869" y="576240"/>
                </a:lnTo>
                <a:lnTo>
                  <a:pt x="1706050" y="529517"/>
                </a:lnTo>
                <a:lnTo>
                  <a:pt x="1712232" y="483064"/>
                </a:lnTo>
                <a:lnTo>
                  <a:pt x="1718413" y="437306"/>
                </a:lnTo>
                <a:lnTo>
                  <a:pt x="1724594" y="392679"/>
                </a:lnTo>
                <a:lnTo>
                  <a:pt x="1730776" y="349627"/>
                </a:lnTo>
                <a:lnTo>
                  <a:pt x="1736957" y="308592"/>
                </a:lnTo>
                <a:lnTo>
                  <a:pt x="1743139" y="270006"/>
                </a:lnTo>
                <a:lnTo>
                  <a:pt x="1749320" y="234281"/>
                </a:lnTo>
                <a:lnTo>
                  <a:pt x="1755501" y="201805"/>
                </a:lnTo>
                <a:lnTo>
                  <a:pt x="1761683" y="172927"/>
                </a:lnTo>
                <a:lnTo>
                  <a:pt x="1767864" y="147957"/>
                </a:lnTo>
                <a:lnTo>
                  <a:pt x="1774045" y="127154"/>
                </a:lnTo>
                <a:lnTo>
                  <a:pt x="1780227" y="110722"/>
                </a:lnTo>
                <a:lnTo>
                  <a:pt x="1786408" y="98807"/>
                </a:lnTo>
                <a:lnTo>
                  <a:pt x="1792589" y="91488"/>
                </a:lnTo>
                <a:lnTo>
                  <a:pt x="1798771" y="88784"/>
                </a:lnTo>
                <a:lnTo>
                  <a:pt x="1804952" y="90644"/>
                </a:lnTo>
                <a:lnTo>
                  <a:pt x="1811133" y="96954"/>
                </a:lnTo>
                <a:lnTo>
                  <a:pt x="1817315" y="107540"/>
                </a:lnTo>
                <a:lnTo>
                  <a:pt x="1823496" y="122166"/>
                </a:lnTo>
                <a:lnTo>
                  <a:pt x="1829677" y="140545"/>
                </a:lnTo>
                <a:lnTo>
                  <a:pt x="1835859" y="162343"/>
                </a:lnTo>
                <a:lnTo>
                  <a:pt x="1842040" y="187185"/>
                </a:lnTo>
                <a:lnTo>
                  <a:pt x="1848221" y="214666"/>
                </a:lnTo>
                <a:lnTo>
                  <a:pt x="1854403" y="244355"/>
                </a:lnTo>
                <a:lnTo>
                  <a:pt x="1860584" y="275809"/>
                </a:lnTo>
                <a:lnTo>
                  <a:pt x="1866765" y="308578"/>
                </a:lnTo>
                <a:lnTo>
                  <a:pt x="1872947" y="342213"/>
                </a:lnTo>
                <a:lnTo>
                  <a:pt x="1879128" y="376278"/>
                </a:lnTo>
                <a:lnTo>
                  <a:pt x="1885309" y="410356"/>
                </a:lnTo>
                <a:lnTo>
                  <a:pt x="1891491" y="444051"/>
                </a:lnTo>
                <a:lnTo>
                  <a:pt x="1897672" y="477003"/>
                </a:lnTo>
                <a:lnTo>
                  <a:pt x="1903853" y="508885"/>
                </a:lnTo>
                <a:lnTo>
                  <a:pt x="1910035" y="539411"/>
                </a:lnTo>
                <a:lnTo>
                  <a:pt x="1916216" y="568338"/>
                </a:lnTo>
                <a:lnTo>
                  <a:pt x="1922397" y="595466"/>
                </a:lnTo>
                <a:lnTo>
                  <a:pt x="1928579" y="620641"/>
                </a:lnTo>
                <a:lnTo>
                  <a:pt x="1934760" y="643754"/>
                </a:lnTo>
                <a:lnTo>
                  <a:pt x="1940942" y="664737"/>
                </a:lnTo>
                <a:lnTo>
                  <a:pt x="1947123" y="683568"/>
                </a:lnTo>
                <a:lnTo>
                  <a:pt x="1953304" y="700259"/>
                </a:lnTo>
                <a:lnTo>
                  <a:pt x="1959486" y="714858"/>
                </a:lnTo>
                <a:lnTo>
                  <a:pt x="1965667" y="727447"/>
                </a:lnTo>
                <a:lnTo>
                  <a:pt x="1971848" y="738134"/>
                </a:lnTo>
                <a:lnTo>
                  <a:pt x="1978030" y="747049"/>
                </a:lnTo>
                <a:lnTo>
                  <a:pt x="1984211" y="754341"/>
                </a:lnTo>
                <a:lnTo>
                  <a:pt x="1990392" y="760177"/>
                </a:lnTo>
                <a:lnTo>
                  <a:pt x="1996574" y="764730"/>
                </a:lnTo>
                <a:lnTo>
                  <a:pt x="2002755" y="768182"/>
                </a:lnTo>
                <a:lnTo>
                  <a:pt x="2008936" y="770717"/>
                </a:lnTo>
                <a:lnTo>
                  <a:pt x="2015118" y="772520"/>
                </a:lnTo>
                <a:lnTo>
                  <a:pt x="2021299" y="773770"/>
                </a:lnTo>
                <a:lnTo>
                  <a:pt x="2027480" y="774643"/>
                </a:lnTo>
                <a:lnTo>
                  <a:pt x="2033662" y="775303"/>
                </a:lnTo>
                <a:lnTo>
                  <a:pt x="2039843" y="775907"/>
                </a:lnTo>
                <a:lnTo>
                  <a:pt x="2046024" y="776599"/>
                </a:lnTo>
                <a:lnTo>
                  <a:pt x="2052206" y="777510"/>
                </a:lnTo>
                <a:lnTo>
                  <a:pt x="2058387" y="778756"/>
                </a:lnTo>
                <a:lnTo>
                  <a:pt x="2064568" y="780442"/>
                </a:lnTo>
                <a:lnTo>
                  <a:pt x="2070750" y="782655"/>
                </a:lnTo>
                <a:lnTo>
                  <a:pt x="2076931" y="785470"/>
                </a:lnTo>
                <a:lnTo>
                  <a:pt x="2083112" y="788947"/>
                </a:lnTo>
                <a:lnTo>
                  <a:pt x="2089294" y="793130"/>
                </a:lnTo>
                <a:lnTo>
                  <a:pt x="2095475" y="798052"/>
                </a:lnTo>
                <a:lnTo>
                  <a:pt x="2101656" y="803734"/>
                </a:lnTo>
                <a:lnTo>
                  <a:pt x="2107838" y="810181"/>
                </a:lnTo>
                <a:lnTo>
                  <a:pt x="2114019" y="817391"/>
                </a:lnTo>
                <a:lnTo>
                  <a:pt x="2120200" y="825349"/>
                </a:lnTo>
                <a:lnTo>
                  <a:pt x="2126382" y="834033"/>
                </a:lnTo>
                <a:lnTo>
                  <a:pt x="2132563" y="843410"/>
                </a:lnTo>
                <a:lnTo>
                  <a:pt x="2138745" y="853442"/>
                </a:lnTo>
                <a:lnTo>
                  <a:pt x="2144926" y="864083"/>
                </a:lnTo>
                <a:lnTo>
                  <a:pt x="2151107" y="875284"/>
                </a:lnTo>
                <a:lnTo>
                  <a:pt x="2157289" y="886988"/>
                </a:lnTo>
                <a:lnTo>
                  <a:pt x="2163470" y="899138"/>
                </a:lnTo>
                <a:lnTo>
                  <a:pt x="2169651" y="911672"/>
                </a:lnTo>
                <a:lnTo>
                  <a:pt x="2175833" y="924528"/>
                </a:lnTo>
                <a:lnTo>
                  <a:pt x="2182014" y="937642"/>
                </a:lnTo>
                <a:lnTo>
                  <a:pt x="2188195" y="950951"/>
                </a:lnTo>
                <a:lnTo>
                  <a:pt x="2194377" y="964391"/>
                </a:lnTo>
                <a:lnTo>
                  <a:pt x="2200558" y="977900"/>
                </a:lnTo>
                <a:lnTo>
                  <a:pt x="2206739" y="991420"/>
                </a:lnTo>
                <a:lnTo>
                  <a:pt x="2212921" y="1004890"/>
                </a:lnTo>
                <a:lnTo>
                  <a:pt x="2219102" y="1018258"/>
                </a:lnTo>
                <a:lnTo>
                  <a:pt x="2225283" y="1031471"/>
                </a:lnTo>
                <a:lnTo>
                  <a:pt x="2231465" y="1044481"/>
                </a:lnTo>
                <a:lnTo>
                  <a:pt x="2237646" y="1057243"/>
                </a:lnTo>
                <a:lnTo>
                  <a:pt x="2243827" y="1069718"/>
                </a:lnTo>
                <a:lnTo>
                  <a:pt x="2250009" y="1081868"/>
                </a:lnTo>
                <a:lnTo>
                  <a:pt x="2256190" y="1093661"/>
                </a:lnTo>
                <a:lnTo>
                  <a:pt x="2262371" y="1105071"/>
                </a:lnTo>
                <a:lnTo>
                  <a:pt x="2268553" y="1116072"/>
                </a:lnTo>
                <a:lnTo>
                  <a:pt x="2274734" y="1126647"/>
                </a:lnTo>
                <a:lnTo>
                  <a:pt x="2280915" y="1136778"/>
                </a:lnTo>
                <a:lnTo>
                  <a:pt x="2287097" y="1146455"/>
                </a:lnTo>
                <a:lnTo>
                  <a:pt x="2293278" y="1155670"/>
                </a:lnTo>
                <a:lnTo>
                  <a:pt x="2299459" y="1164419"/>
                </a:lnTo>
                <a:lnTo>
                  <a:pt x="2305641" y="1172700"/>
                </a:lnTo>
                <a:lnTo>
                  <a:pt x="2311822" y="1180517"/>
                </a:lnTo>
                <a:lnTo>
                  <a:pt x="2318004" y="1187872"/>
                </a:lnTo>
                <a:lnTo>
                  <a:pt x="2324185" y="1194775"/>
                </a:lnTo>
                <a:lnTo>
                  <a:pt x="2330366" y="1201234"/>
                </a:lnTo>
                <a:lnTo>
                  <a:pt x="2336548" y="1207262"/>
                </a:lnTo>
                <a:lnTo>
                  <a:pt x="2342729" y="1212871"/>
                </a:lnTo>
                <a:lnTo>
                  <a:pt x="2348910" y="1218076"/>
                </a:lnTo>
                <a:lnTo>
                  <a:pt x="2355092" y="1222894"/>
                </a:lnTo>
                <a:lnTo>
                  <a:pt x="2361273" y="1227340"/>
                </a:lnTo>
                <a:lnTo>
                  <a:pt x="2367454" y="1231434"/>
                </a:lnTo>
                <a:lnTo>
                  <a:pt x="2373636" y="1235192"/>
                </a:lnTo>
                <a:lnTo>
                  <a:pt x="2379817" y="1238633"/>
                </a:lnTo>
                <a:lnTo>
                  <a:pt x="2385998" y="1241776"/>
                </a:lnTo>
                <a:lnTo>
                  <a:pt x="2392180" y="1244639"/>
                </a:lnTo>
                <a:lnTo>
                  <a:pt x="2398361" y="1247240"/>
                </a:lnTo>
                <a:lnTo>
                  <a:pt x="2404542" y="1249597"/>
                </a:lnTo>
                <a:lnTo>
                  <a:pt x="2410724" y="1251728"/>
                </a:lnTo>
                <a:lnTo>
                  <a:pt x="2416905" y="1253649"/>
                </a:lnTo>
                <a:lnTo>
                  <a:pt x="2423086" y="1255376"/>
                </a:lnTo>
                <a:lnTo>
                  <a:pt x="2429268" y="1256926"/>
                </a:lnTo>
                <a:lnTo>
                  <a:pt x="2435449" y="1258313"/>
                </a:lnTo>
                <a:lnTo>
                  <a:pt x="2441630" y="1259550"/>
                </a:lnTo>
                <a:lnTo>
                  <a:pt x="2447812" y="1260652"/>
                </a:lnTo>
                <a:lnTo>
                  <a:pt x="2453993" y="1261631"/>
                </a:lnTo>
                <a:lnTo>
                  <a:pt x="2460174" y="1262497"/>
                </a:lnTo>
                <a:lnTo>
                  <a:pt x="2466356" y="1263263"/>
                </a:lnTo>
                <a:lnTo>
                  <a:pt x="2472537" y="1263939"/>
                </a:lnTo>
                <a:lnTo>
                  <a:pt x="2478718" y="1264533"/>
                </a:lnTo>
                <a:lnTo>
                  <a:pt x="2484900" y="1265054"/>
                </a:lnTo>
                <a:lnTo>
                  <a:pt x="2491081" y="1265510"/>
                </a:lnTo>
                <a:lnTo>
                  <a:pt x="2497262" y="1265908"/>
                </a:lnTo>
                <a:lnTo>
                  <a:pt x="2503444" y="1266254"/>
                </a:lnTo>
                <a:lnTo>
                  <a:pt x="2509625" y="1266555"/>
                </a:lnTo>
                <a:lnTo>
                  <a:pt x="2515807" y="1266816"/>
                </a:lnTo>
                <a:lnTo>
                  <a:pt x="2521988" y="1267042"/>
                </a:lnTo>
                <a:lnTo>
                  <a:pt x="2528169" y="1267236"/>
                </a:lnTo>
                <a:lnTo>
                  <a:pt x="2534351" y="1267404"/>
                </a:lnTo>
                <a:lnTo>
                  <a:pt x="2540532" y="1267548"/>
                </a:lnTo>
                <a:lnTo>
                  <a:pt x="2546713" y="1267671"/>
                </a:lnTo>
                <a:lnTo>
                  <a:pt x="2552895" y="1267776"/>
                </a:lnTo>
                <a:lnTo>
                  <a:pt x="2559076" y="1267865"/>
                </a:lnTo>
                <a:lnTo>
                  <a:pt x="2565257" y="1267942"/>
                </a:lnTo>
                <a:lnTo>
                  <a:pt x="2571439" y="1268006"/>
                </a:lnTo>
                <a:lnTo>
                  <a:pt x="2577620" y="1268061"/>
                </a:lnTo>
                <a:lnTo>
                  <a:pt x="2583801" y="1268107"/>
                </a:lnTo>
                <a:lnTo>
                  <a:pt x="2589983" y="1268146"/>
                </a:lnTo>
                <a:lnTo>
                  <a:pt x="2596164" y="1268179"/>
                </a:lnTo>
                <a:lnTo>
                  <a:pt x="2602345" y="1268206"/>
                </a:lnTo>
                <a:lnTo>
                  <a:pt x="2608527" y="1268229"/>
                </a:lnTo>
                <a:lnTo>
                  <a:pt x="2614708" y="1268248"/>
                </a:lnTo>
                <a:lnTo>
                  <a:pt x="2620889" y="1268264"/>
                </a:lnTo>
                <a:lnTo>
                  <a:pt x="2627071" y="1268277"/>
                </a:lnTo>
                <a:lnTo>
                  <a:pt x="2633252" y="1268288"/>
                </a:lnTo>
                <a:lnTo>
                  <a:pt x="2639433" y="1268297"/>
                </a:lnTo>
                <a:lnTo>
                  <a:pt x="2645615" y="1268304"/>
                </a:lnTo>
                <a:lnTo>
                  <a:pt x="2651796" y="1268311"/>
                </a:lnTo>
                <a:lnTo>
                  <a:pt x="2657977" y="1268316"/>
                </a:lnTo>
                <a:lnTo>
                  <a:pt x="2664159" y="1268320"/>
                </a:lnTo>
                <a:lnTo>
                  <a:pt x="2670340" y="1268323"/>
                </a:lnTo>
                <a:lnTo>
                  <a:pt x="2676521" y="1268326"/>
                </a:lnTo>
                <a:lnTo>
                  <a:pt x="2682703" y="1268328"/>
                </a:lnTo>
                <a:lnTo>
                  <a:pt x="2688884" y="1268330"/>
                </a:lnTo>
                <a:lnTo>
                  <a:pt x="2695065" y="1268331"/>
                </a:lnTo>
                <a:lnTo>
                  <a:pt x="2701247" y="1268333"/>
                </a:lnTo>
                <a:lnTo>
                  <a:pt x="2707428" y="1268334"/>
                </a:lnTo>
                <a:lnTo>
                  <a:pt x="2713610" y="1268334"/>
                </a:lnTo>
                <a:lnTo>
                  <a:pt x="2719791" y="1268335"/>
                </a:lnTo>
                <a:lnTo>
                  <a:pt x="2725972" y="1268335"/>
                </a:lnTo>
                <a:lnTo>
                  <a:pt x="2732154" y="1268336"/>
                </a:lnTo>
                <a:lnTo>
                  <a:pt x="2738335" y="1268336"/>
                </a:lnTo>
                <a:lnTo>
                  <a:pt x="2744516" y="1268336"/>
                </a:lnTo>
                <a:lnTo>
                  <a:pt x="2750698" y="1268337"/>
                </a:lnTo>
                <a:lnTo>
                  <a:pt x="2756879" y="1268337"/>
                </a:lnTo>
                <a:lnTo>
                  <a:pt x="2763060" y="1268337"/>
                </a:lnTo>
                <a:lnTo>
                  <a:pt x="2769242" y="1268337"/>
                </a:lnTo>
                <a:lnTo>
                  <a:pt x="2775423" y="1268337"/>
                </a:lnTo>
                <a:lnTo>
                  <a:pt x="2781604" y="1268337"/>
                </a:lnTo>
                <a:lnTo>
                  <a:pt x="2787786" y="1268337"/>
                </a:lnTo>
                <a:lnTo>
                  <a:pt x="2793967" y="1268337"/>
                </a:lnTo>
                <a:lnTo>
                  <a:pt x="2800148" y="1268337"/>
                </a:lnTo>
                <a:lnTo>
                  <a:pt x="2806330" y="1268337"/>
                </a:lnTo>
                <a:lnTo>
                  <a:pt x="2812511" y="1268337"/>
                </a:lnTo>
                <a:lnTo>
                  <a:pt x="2818692" y="1268337"/>
                </a:lnTo>
                <a:lnTo>
                  <a:pt x="2824874" y="1268337"/>
                </a:lnTo>
                <a:lnTo>
                  <a:pt x="2831055" y="1268337"/>
                </a:lnTo>
                <a:lnTo>
                  <a:pt x="2837236" y="1268337"/>
                </a:lnTo>
                <a:lnTo>
                  <a:pt x="2843418" y="1268337"/>
                </a:lnTo>
                <a:lnTo>
                  <a:pt x="2849599" y="1268337"/>
                </a:lnTo>
                <a:lnTo>
                  <a:pt x="2855780" y="1268337"/>
                </a:lnTo>
                <a:lnTo>
                  <a:pt x="2861962" y="1268337"/>
                </a:lnTo>
                <a:lnTo>
                  <a:pt x="2868143" y="1268337"/>
                </a:lnTo>
                <a:lnTo>
                  <a:pt x="2874324" y="1268337"/>
                </a:lnTo>
                <a:lnTo>
                  <a:pt x="2880506" y="1268337"/>
                </a:lnTo>
                <a:lnTo>
                  <a:pt x="2886687" y="1268337"/>
                </a:lnTo>
                <a:lnTo>
                  <a:pt x="2892868" y="1268337"/>
                </a:lnTo>
                <a:lnTo>
                  <a:pt x="2899050" y="1268337"/>
                </a:lnTo>
                <a:lnTo>
                  <a:pt x="2905231" y="1268337"/>
                </a:lnTo>
                <a:lnTo>
                  <a:pt x="2911413" y="1268337"/>
                </a:lnTo>
                <a:lnTo>
                  <a:pt x="2917594" y="1268337"/>
                </a:lnTo>
                <a:lnTo>
                  <a:pt x="2923775" y="1268337"/>
                </a:lnTo>
                <a:lnTo>
                  <a:pt x="2929957" y="1268337"/>
                </a:lnTo>
                <a:lnTo>
                  <a:pt x="2936138" y="1268337"/>
                </a:lnTo>
                <a:lnTo>
                  <a:pt x="2942319" y="1268337"/>
                </a:lnTo>
                <a:lnTo>
                  <a:pt x="2948501" y="1268337"/>
                </a:lnTo>
                <a:lnTo>
                  <a:pt x="2954682" y="1268337"/>
                </a:lnTo>
                <a:lnTo>
                  <a:pt x="2960863" y="1268337"/>
                </a:lnTo>
                <a:lnTo>
                  <a:pt x="2967045" y="1268337"/>
                </a:lnTo>
                <a:lnTo>
                  <a:pt x="2973226" y="1268337"/>
                </a:lnTo>
                <a:lnTo>
                  <a:pt x="2979407" y="1268337"/>
                </a:lnTo>
                <a:lnTo>
                  <a:pt x="2985589" y="1268337"/>
                </a:lnTo>
                <a:lnTo>
                  <a:pt x="2991770" y="1268337"/>
                </a:lnTo>
                <a:lnTo>
                  <a:pt x="2997951" y="1268337"/>
                </a:lnTo>
                <a:lnTo>
                  <a:pt x="3004133" y="1268337"/>
                </a:lnTo>
                <a:lnTo>
                  <a:pt x="3010314" y="1268337"/>
                </a:lnTo>
                <a:lnTo>
                  <a:pt x="3016495" y="1268337"/>
                </a:lnTo>
                <a:lnTo>
                  <a:pt x="3022677" y="1268337"/>
                </a:lnTo>
                <a:lnTo>
                  <a:pt x="3028858" y="1268337"/>
                </a:lnTo>
                <a:lnTo>
                  <a:pt x="3035039" y="1268337"/>
                </a:lnTo>
                <a:lnTo>
                  <a:pt x="3041221" y="1268337"/>
                </a:lnTo>
                <a:lnTo>
                  <a:pt x="3047402" y="1268337"/>
                </a:lnTo>
                <a:lnTo>
                  <a:pt x="3053583" y="1268337"/>
                </a:lnTo>
                <a:lnTo>
                  <a:pt x="3059765" y="1268337"/>
                </a:lnTo>
                <a:lnTo>
                  <a:pt x="3065946" y="1268337"/>
                </a:lnTo>
                <a:lnTo>
                  <a:pt x="3072127" y="1268337"/>
                </a:lnTo>
                <a:lnTo>
                  <a:pt x="3078309" y="1268337"/>
                </a:lnTo>
                <a:lnTo>
                  <a:pt x="308449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775F73F5-3F1C-7CC0-697B-4C81416AF989}"/>
              </a:ext>
            </a:extLst>
          </p:cNvPr>
          <p:cNvCxnSpPr/>
          <p:nvPr/>
        </p:nvCxnSpPr>
        <p:spPr>
          <a:xfrm>
            <a:off x="6196204" y="2387190"/>
            <a:ext cx="0" cy="141732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D6932E2E-1AB0-46A4-E47A-B7A565235A8B}"/>
              </a:ext>
            </a:extLst>
          </p:cNvPr>
          <p:cNvSpPr/>
          <p:nvPr/>
        </p:nvSpPr>
        <p:spPr>
          <a:xfrm>
            <a:off x="4835723"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a:extLst>
              <a:ext uri="{FF2B5EF4-FFF2-40B4-BE49-F238E27FC236}">
                <a16:creationId xmlns:a16="http://schemas.microsoft.com/office/drawing/2014/main" id="{C2765A0B-CB25-766C-DA5B-EB4E4C62AF5A}"/>
              </a:ext>
            </a:extLst>
          </p:cNvPr>
          <p:cNvSpPr/>
          <p:nvPr/>
        </p:nvSpPr>
        <p:spPr>
          <a:xfrm>
            <a:off x="6381059" y="2495807"/>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0" name="Connector 59">
            <a:extLst>
              <a:ext uri="{FF2B5EF4-FFF2-40B4-BE49-F238E27FC236}">
                <a16:creationId xmlns:a16="http://schemas.microsoft.com/office/drawing/2014/main" id="{75CEA661-AAB0-0C40-4481-A90EC7C81798}"/>
              </a:ext>
            </a:extLst>
          </p:cNvPr>
          <p:cNvCxnSpPr/>
          <p:nvPr/>
        </p:nvCxnSpPr>
        <p:spPr>
          <a:xfrm>
            <a:off x="4904303" y="2274435"/>
            <a:ext cx="1499616" cy="88784"/>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5CAFF811-24B7-E7F5-295F-F8CF1F131E92}"/>
              </a:ext>
            </a:extLst>
          </p:cNvPr>
          <p:cNvSpPr/>
          <p:nvPr/>
        </p:nvSpPr>
        <p:spPr>
          <a:xfrm>
            <a:off x="4977894"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a:extLst>
              <a:ext uri="{FF2B5EF4-FFF2-40B4-BE49-F238E27FC236}">
                <a16:creationId xmlns:a16="http://schemas.microsoft.com/office/drawing/2014/main" id="{A3181D2A-9D61-893B-FA68-F833E92A2B5B}"/>
              </a:ext>
            </a:extLst>
          </p:cNvPr>
          <p:cNvSpPr/>
          <p:nvPr/>
        </p:nvSpPr>
        <p:spPr>
          <a:xfrm>
            <a:off x="6523230" y="3071760"/>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3" name="Connector 62">
            <a:extLst>
              <a:ext uri="{FF2B5EF4-FFF2-40B4-BE49-F238E27FC236}">
                <a16:creationId xmlns:a16="http://schemas.microsoft.com/office/drawing/2014/main" id="{4CCEAAFC-B61A-BC3C-9D0A-A3B9C5F15DD4}"/>
              </a:ext>
            </a:extLst>
          </p:cNvPr>
          <p:cNvCxnSpPr/>
          <p:nvPr/>
        </p:nvCxnSpPr>
        <p:spPr>
          <a:xfrm>
            <a:off x="5046474" y="2893740"/>
            <a:ext cx="1499616" cy="45432"/>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1C81BD15-367E-52FE-3FB8-85EE9330D50D}"/>
              </a:ext>
            </a:extLst>
          </p:cNvPr>
          <p:cNvSpPr txBox="1"/>
          <p:nvPr/>
        </p:nvSpPr>
        <p:spPr>
          <a:xfrm>
            <a:off x="4650868"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前の拍</a:t>
            </a:r>
          </a:p>
        </p:txBody>
      </p:sp>
      <p:sp>
        <p:nvSpPr>
          <p:cNvPr id="65" name="TextBox 64">
            <a:extLst>
              <a:ext uri="{FF2B5EF4-FFF2-40B4-BE49-F238E27FC236}">
                <a16:creationId xmlns:a16="http://schemas.microsoft.com/office/drawing/2014/main" id="{5BB2921D-9568-310B-6063-0963B6731159}"/>
              </a:ext>
            </a:extLst>
          </p:cNvPr>
          <p:cNvSpPr txBox="1"/>
          <p:nvPr/>
        </p:nvSpPr>
        <p:spPr>
          <a:xfrm>
            <a:off x="6214492"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この拍</a:t>
            </a:r>
          </a:p>
        </p:txBody>
      </p:sp>
      <p:sp>
        <p:nvSpPr>
          <p:cNvPr id="66" name="TextBox 65">
            <a:extLst>
              <a:ext uri="{FF2B5EF4-FFF2-40B4-BE49-F238E27FC236}">
                <a16:creationId xmlns:a16="http://schemas.microsoft.com/office/drawing/2014/main" id="{1B23B1AF-0674-789C-C36E-6D57588EFC61}"/>
              </a:ext>
            </a:extLst>
          </p:cNvPr>
          <p:cNvSpPr txBox="1"/>
          <p:nvPr/>
        </p:nvSpPr>
        <p:spPr>
          <a:xfrm>
            <a:off x="4577716"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直前の解を出発点</a:t>
            </a:r>
            <a:endParaRPr sz="2200" b="0" dirty="0">
              <a:solidFill>
                <a:srgbClr val="262626"/>
              </a:solidFill>
              <a:latin typeface="Meiryo"/>
              <a:ea typeface="Meiryo"/>
              <a:cs typeface="Meiryo"/>
            </a:endParaRPr>
          </a:p>
        </p:txBody>
      </p:sp>
      <p:sp>
        <p:nvSpPr>
          <p:cNvPr id="67" name="TextBox 66">
            <a:extLst>
              <a:ext uri="{FF2B5EF4-FFF2-40B4-BE49-F238E27FC236}">
                <a16:creationId xmlns:a16="http://schemas.microsoft.com/office/drawing/2014/main" id="{FEF853AE-E5DD-AE85-CDB2-2D3FA0FD746C}"/>
              </a:ext>
            </a:extLst>
          </p:cNvPr>
          <p:cNvSpPr txBox="1"/>
          <p:nvPr/>
        </p:nvSpPr>
        <p:spPr>
          <a:xfrm>
            <a:off x="8381619"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c　多点スタート</a:t>
            </a:r>
          </a:p>
        </p:txBody>
      </p:sp>
      <p:sp>
        <p:nvSpPr>
          <p:cNvPr id="6" name="Freeform 5">
            <a:extLst>
              <a:ext uri="{FF2B5EF4-FFF2-40B4-BE49-F238E27FC236}">
                <a16:creationId xmlns:a16="http://schemas.microsoft.com/office/drawing/2014/main" id="{F78F2B2B-81F1-11B3-3F67-84951F521AA5}"/>
              </a:ext>
            </a:extLst>
          </p:cNvPr>
          <p:cNvSpPr/>
          <p:nvPr/>
        </p:nvSpPr>
        <p:spPr>
          <a:xfrm>
            <a:off x="8509636" y="2475603"/>
            <a:ext cx="2969020" cy="1268337"/>
          </a:xfrm>
          <a:custGeom>
            <a:avLst/>
            <a:gdLst/>
            <a:ahLst/>
            <a:cxnLst/>
            <a:rect l="l" t="t" r="r" b="b"/>
            <a:pathLst>
              <a:path w="2969020" h="1268337">
                <a:moveTo>
                  <a:pt x="0" y="1233563"/>
                </a:moveTo>
                <a:lnTo>
                  <a:pt x="11923" y="1226887"/>
                </a:lnTo>
                <a:lnTo>
                  <a:pt x="23847" y="1219148"/>
                </a:lnTo>
                <a:lnTo>
                  <a:pt x="35771" y="1210222"/>
                </a:lnTo>
                <a:lnTo>
                  <a:pt x="47695" y="1199980"/>
                </a:lnTo>
                <a:lnTo>
                  <a:pt x="59618" y="1188289"/>
                </a:lnTo>
                <a:lnTo>
                  <a:pt x="71542" y="1175013"/>
                </a:lnTo>
                <a:lnTo>
                  <a:pt x="83466" y="1160015"/>
                </a:lnTo>
                <a:lnTo>
                  <a:pt x="95390" y="1143163"/>
                </a:lnTo>
                <a:lnTo>
                  <a:pt x="107313" y="1124328"/>
                </a:lnTo>
                <a:lnTo>
                  <a:pt x="119237" y="1103391"/>
                </a:lnTo>
                <a:lnTo>
                  <a:pt x="131161" y="1080243"/>
                </a:lnTo>
                <a:lnTo>
                  <a:pt x="143085" y="1054794"/>
                </a:lnTo>
                <a:lnTo>
                  <a:pt x="155009" y="1026970"/>
                </a:lnTo>
                <a:lnTo>
                  <a:pt x="166932" y="996725"/>
                </a:lnTo>
                <a:lnTo>
                  <a:pt x="178856" y="964036"/>
                </a:lnTo>
                <a:lnTo>
                  <a:pt x="190780" y="928915"/>
                </a:lnTo>
                <a:lnTo>
                  <a:pt x="202704" y="891406"/>
                </a:lnTo>
                <a:lnTo>
                  <a:pt x="214627" y="851593"/>
                </a:lnTo>
                <a:lnTo>
                  <a:pt x="226551" y="809600"/>
                </a:lnTo>
                <a:lnTo>
                  <a:pt x="238475" y="765593"/>
                </a:lnTo>
                <a:lnTo>
                  <a:pt x="250399" y="719780"/>
                </a:lnTo>
                <a:lnTo>
                  <a:pt x="262323" y="672414"/>
                </a:lnTo>
                <a:lnTo>
                  <a:pt x="274246" y="623790"/>
                </a:lnTo>
                <a:lnTo>
                  <a:pt x="286170" y="574243"/>
                </a:lnTo>
                <a:lnTo>
                  <a:pt x="298094" y="524147"/>
                </a:lnTo>
                <a:lnTo>
                  <a:pt x="310018" y="473907"/>
                </a:lnTo>
                <a:lnTo>
                  <a:pt x="321941" y="423958"/>
                </a:lnTo>
                <a:lnTo>
                  <a:pt x="333865" y="374755"/>
                </a:lnTo>
                <a:lnTo>
                  <a:pt x="345789" y="326769"/>
                </a:lnTo>
                <a:lnTo>
                  <a:pt x="357713" y="280477"/>
                </a:lnTo>
                <a:lnTo>
                  <a:pt x="369637" y="236353"/>
                </a:lnTo>
                <a:lnTo>
                  <a:pt x="381560" y="194863"/>
                </a:lnTo>
                <a:lnTo>
                  <a:pt x="393484" y="156449"/>
                </a:lnTo>
                <a:lnTo>
                  <a:pt x="405408" y="121528"/>
                </a:lnTo>
                <a:lnTo>
                  <a:pt x="417332" y="90477"/>
                </a:lnTo>
                <a:lnTo>
                  <a:pt x="429255" y="63627"/>
                </a:lnTo>
                <a:lnTo>
                  <a:pt x="441179" y="41259"/>
                </a:lnTo>
                <a:lnTo>
                  <a:pt x="453103" y="23590"/>
                </a:lnTo>
                <a:lnTo>
                  <a:pt x="465027" y="10778"/>
                </a:lnTo>
                <a:lnTo>
                  <a:pt x="476951" y="2908"/>
                </a:lnTo>
                <a:lnTo>
                  <a:pt x="488874" y="0"/>
                </a:lnTo>
                <a:lnTo>
                  <a:pt x="500798" y="2000"/>
                </a:lnTo>
                <a:lnTo>
                  <a:pt x="512722" y="8786"/>
                </a:lnTo>
                <a:lnTo>
                  <a:pt x="524646" y="20168"/>
                </a:lnTo>
                <a:lnTo>
                  <a:pt x="536569" y="35895"/>
                </a:lnTo>
                <a:lnTo>
                  <a:pt x="548493" y="55658"/>
                </a:lnTo>
                <a:lnTo>
                  <a:pt x="560417" y="79096"/>
                </a:lnTo>
                <a:lnTo>
                  <a:pt x="572341" y="105808"/>
                </a:lnTo>
                <a:lnTo>
                  <a:pt x="584265" y="135357"/>
                </a:lnTo>
                <a:lnTo>
                  <a:pt x="596188" y="167281"/>
                </a:lnTo>
                <a:lnTo>
                  <a:pt x="608112" y="201103"/>
                </a:lnTo>
                <a:lnTo>
                  <a:pt x="620036" y="236338"/>
                </a:lnTo>
                <a:lnTo>
                  <a:pt x="631960" y="272505"/>
                </a:lnTo>
                <a:lnTo>
                  <a:pt x="643883" y="309134"/>
                </a:lnTo>
                <a:lnTo>
                  <a:pt x="655807" y="345776"/>
                </a:lnTo>
                <a:lnTo>
                  <a:pt x="667731" y="382008"/>
                </a:lnTo>
                <a:lnTo>
                  <a:pt x="679655" y="417440"/>
                </a:lnTo>
                <a:lnTo>
                  <a:pt x="691579" y="451722"/>
                </a:lnTo>
                <a:lnTo>
                  <a:pt x="703502" y="484546"/>
                </a:lnTo>
                <a:lnTo>
                  <a:pt x="715426" y="515650"/>
                </a:lnTo>
                <a:lnTo>
                  <a:pt x="727350" y="544820"/>
                </a:lnTo>
                <a:lnTo>
                  <a:pt x="739274" y="571890"/>
                </a:lnTo>
                <a:lnTo>
                  <a:pt x="751197" y="596742"/>
                </a:lnTo>
                <a:lnTo>
                  <a:pt x="763121" y="619305"/>
                </a:lnTo>
                <a:lnTo>
                  <a:pt x="775045" y="639553"/>
                </a:lnTo>
                <a:lnTo>
                  <a:pt x="786969" y="657500"/>
                </a:lnTo>
                <a:lnTo>
                  <a:pt x="798892" y="673199"/>
                </a:lnTo>
                <a:lnTo>
                  <a:pt x="810816" y="686735"/>
                </a:lnTo>
                <a:lnTo>
                  <a:pt x="822740" y="698226"/>
                </a:lnTo>
                <a:lnTo>
                  <a:pt x="834664" y="707812"/>
                </a:lnTo>
                <a:lnTo>
                  <a:pt x="846588" y="715654"/>
                </a:lnTo>
                <a:lnTo>
                  <a:pt x="858511" y="721928"/>
                </a:lnTo>
                <a:lnTo>
                  <a:pt x="870435" y="726824"/>
                </a:lnTo>
                <a:lnTo>
                  <a:pt x="882359" y="730536"/>
                </a:lnTo>
                <a:lnTo>
                  <a:pt x="894283" y="733262"/>
                </a:lnTo>
                <a:lnTo>
                  <a:pt x="906206" y="735200"/>
                </a:lnTo>
                <a:lnTo>
                  <a:pt x="918130" y="736545"/>
                </a:lnTo>
                <a:lnTo>
                  <a:pt x="930054" y="737483"/>
                </a:lnTo>
                <a:lnTo>
                  <a:pt x="941978" y="738193"/>
                </a:lnTo>
                <a:lnTo>
                  <a:pt x="953902" y="738843"/>
                </a:lnTo>
                <a:lnTo>
                  <a:pt x="965825" y="739587"/>
                </a:lnTo>
                <a:lnTo>
                  <a:pt x="977749" y="740566"/>
                </a:lnTo>
                <a:lnTo>
                  <a:pt x="989673" y="741906"/>
                </a:lnTo>
                <a:lnTo>
                  <a:pt x="1001597" y="743719"/>
                </a:lnTo>
                <a:lnTo>
                  <a:pt x="1013520" y="746098"/>
                </a:lnTo>
                <a:lnTo>
                  <a:pt x="1025444" y="749125"/>
                </a:lnTo>
                <a:lnTo>
                  <a:pt x="1037368" y="752863"/>
                </a:lnTo>
                <a:lnTo>
                  <a:pt x="1049292" y="757361"/>
                </a:lnTo>
                <a:lnTo>
                  <a:pt x="1061216" y="762655"/>
                </a:lnTo>
                <a:lnTo>
                  <a:pt x="1073139" y="768763"/>
                </a:lnTo>
                <a:lnTo>
                  <a:pt x="1085063" y="775696"/>
                </a:lnTo>
                <a:lnTo>
                  <a:pt x="1096987" y="783449"/>
                </a:lnTo>
                <a:lnTo>
                  <a:pt x="1108911" y="792006"/>
                </a:lnTo>
                <a:lnTo>
                  <a:pt x="1120834" y="801343"/>
                </a:lnTo>
                <a:lnTo>
                  <a:pt x="1132758" y="811426"/>
                </a:lnTo>
                <a:lnTo>
                  <a:pt x="1144682" y="822213"/>
                </a:lnTo>
                <a:lnTo>
                  <a:pt x="1156606" y="833656"/>
                </a:lnTo>
                <a:lnTo>
                  <a:pt x="1168530" y="845699"/>
                </a:lnTo>
                <a:lnTo>
                  <a:pt x="1180453" y="858284"/>
                </a:lnTo>
                <a:lnTo>
                  <a:pt x="1192377" y="871349"/>
                </a:lnTo>
                <a:lnTo>
                  <a:pt x="1204301" y="884826"/>
                </a:lnTo>
                <a:lnTo>
                  <a:pt x="1216225" y="898650"/>
                </a:lnTo>
                <a:lnTo>
                  <a:pt x="1228148" y="912751"/>
                </a:lnTo>
                <a:lnTo>
                  <a:pt x="1240072" y="927061"/>
                </a:lnTo>
                <a:lnTo>
                  <a:pt x="1251996" y="941513"/>
                </a:lnTo>
                <a:lnTo>
                  <a:pt x="1263920" y="956040"/>
                </a:lnTo>
                <a:lnTo>
                  <a:pt x="1275844" y="970576"/>
                </a:lnTo>
                <a:lnTo>
                  <a:pt x="1287767" y="985061"/>
                </a:lnTo>
                <a:lnTo>
                  <a:pt x="1299691" y="999435"/>
                </a:lnTo>
                <a:lnTo>
                  <a:pt x="1311615" y="1013642"/>
                </a:lnTo>
                <a:lnTo>
                  <a:pt x="1323539" y="1027632"/>
                </a:lnTo>
                <a:lnTo>
                  <a:pt x="1335462" y="1041354"/>
                </a:lnTo>
                <a:lnTo>
                  <a:pt x="1347386" y="1054768"/>
                </a:lnTo>
                <a:lnTo>
                  <a:pt x="1359310" y="1067832"/>
                </a:lnTo>
                <a:lnTo>
                  <a:pt x="1371234" y="1080514"/>
                </a:lnTo>
                <a:lnTo>
                  <a:pt x="1383158" y="1092782"/>
                </a:lnTo>
                <a:lnTo>
                  <a:pt x="1395081" y="1104612"/>
                </a:lnTo>
                <a:lnTo>
                  <a:pt x="1407005" y="1115982"/>
                </a:lnTo>
                <a:lnTo>
                  <a:pt x="1418929" y="1126876"/>
                </a:lnTo>
                <a:lnTo>
                  <a:pt x="1430853" y="1137281"/>
                </a:lnTo>
                <a:lnTo>
                  <a:pt x="1442776" y="1147190"/>
                </a:lnTo>
                <a:lnTo>
                  <a:pt x="1454700" y="1156597"/>
                </a:lnTo>
                <a:lnTo>
                  <a:pt x="1466624" y="1165502"/>
                </a:lnTo>
                <a:lnTo>
                  <a:pt x="1478548" y="1173906"/>
                </a:lnTo>
                <a:lnTo>
                  <a:pt x="1490472" y="1181816"/>
                </a:lnTo>
                <a:lnTo>
                  <a:pt x="1502395" y="1189238"/>
                </a:lnTo>
                <a:lnTo>
                  <a:pt x="1514319" y="1196183"/>
                </a:lnTo>
                <a:lnTo>
                  <a:pt x="1526243" y="1202665"/>
                </a:lnTo>
                <a:lnTo>
                  <a:pt x="1538167" y="1208696"/>
                </a:lnTo>
                <a:lnTo>
                  <a:pt x="1550090" y="1214293"/>
                </a:lnTo>
                <a:lnTo>
                  <a:pt x="1562014" y="1219473"/>
                </a:lnTo>
                <a:lnTo>
                  <a:pt x="1573938" y="1224255"/>
                </a:lnTo>
                <a:lnTo>
                  <a:pt x="1585862" y="1228656"/>
                </a:lnTo>
                <a:lnTo>
                  <a:pt x="1597785" y="1232697"/>
                </a:lnTo>
                <a:lnTo>
                  <a:pt x="1609709" y="1236397"/>
                </a:lnTo>
                <a:lnTo>
                  <a:pt x="1621633" y="1239777"/>
                </a:lnTo>
                <a:lnTo>
                  <a:pt x="1633557" y="1242855"/>
                </a:lnTo>
                <a:lnTo>
                  <a:pt x="1645481" y="1245652"/>
                </a:lnTo>
                <a:lnTo>
                  <a:pt x="1657404" y="1248187"/>
                </a:lnTo>
                <a:lnTo>
                  <a:pt x="1669328" y="1250478"/>
                </a:lnTo>
                <a:lnTo>
                  <a:pt x="1681252" y="1252543"/>
                </a:lnTo>
                <a:lnTo>
                  <a:pt x="1693176" y="1254401"/>
                </a:lnTo>
                <a:lnTo>
                  <a:pt x="1705099" y="1256067"/>
                </a:lnTo>
                <a:lnTo>
                  <a:pt x="1717023" y="1257558"/>
                </a:lnTo>
                <a:lnTo>
                  <a:pt x="1728947" y="1258889"/>
                </a:lnTo>
                <a:lnTo>
                  <a:pt x="1740871" y="1260074"/>
                </a:lnTo>
                <a:lnTo>
                  <a:pt x="1752795" y="1261126"/>
                </a:lnTo>
                <a:lnTo>
                  <a:pt x="1764718" y="1262058"/>
                </a:lnTo>
                <a:lnTo>
                  <a:pt x="1776642" y="1262882"/>
                </a:lnTo>
                <a:lnTo>
                  <a:pt x="1788566" y="1263608"/>
                </a:lnTo>
                <a:lnTo>
                  <a:pt x="1800490" y="1264246"/>
                </a:lnTo>
                <a:lnTo>
                  <a:pt x="1812413" y="1264807"/>
                </a:lnTo>
                <a:lnTo>
                  <a:pt x="1824337" y="1265297"/>
                </a:lnTo>
                <a:lnTo>
                  <a:pt x="1836261" y="1265725"/>
                </a:lnTo>
                <a:lnTo>
                  <a:pt x="1848185" y="1266097"/>
                </a:lnTo>
                <a:lnTo>
                  <a:pt x="1860109" y="1266421"/>
                </a:lnTo>
                <a:lnTo>
                  <a:pt x="1872032" y="1266702"/>
                </a:lnTo>
                <a:lnTo>
                  <a:pt x="1883956" y="1266944"/>
                </a:lnTo>
                <a:lnTo>
                  <a:pt x="1895880" y="1267154"/>
                </a:lnTo>
                <a:lnTo>
                  <a:pt x="1907804" y="1267334"/>
                </a:lnTo>
                <a:lnTo>
                  <a:pt x="1919727" y="1267488"/>
                </a:lnTo>
                <a:lnTo>
                  <a:pt x="1931651" y="1267620"/>
                </a:lnTo>
                <a:lnTo>
                  <a:pt x="1943575" y="1267734"/>
                </a:lnTo>
                <a:lnTo>
                  <a:pt x="1955499" y="1267830"/>
                </a:lnTo>
                <a:lnTo>
                  <a:pt x="1967423" y="1267912"/>
                </a:lnTo>
                <a:lnTo>
                  <a:pt x="1979346" y="1267981"/>
                </a:lnTo>
                <a:lnTo>
                  <a:pt x="1991270" y="1268040"/>
                </a:lnTo>
                <a:lnTo>
                  <a:pt x="2003194" y="1268090"/>
                </a:lnTo>
                <a:lnTo>
                  <a:pt x="2015118" y="1268131"/>
                </a:lnTo>
                <a:lnTo>
                  <a:pt x="2027041" y="1268167"/>
                </a:lnTo>
                <a:lnTo>
                  <a:pt x="2038965" y="1268196"/>
                </a:lnTo>
                <a:lnTo>
                  <a:pt x="2050889" y="1268221"/>
                </a:lnTo>
                <a:lnTo>
                  <a:pt x="2062813" y="1268241"/>
                </a:lnTo>
                <a:lnTo>
                  <a:pt x="2074737" y="1268258"/>
                </a:lnTo>
                <a:lnTo>
                  <a:pt x="2086660" y="1268272"/>
                </a:lnTo>
                <a:lnTo>
                  <a:pt x="2098584" y="1268284"/>
                </a:lnTo>
                <a:lnTo>
                  <a:pt x="2110508" y="1268294"/>
                </a:lnTo>
                <a:lnTo>
                  <a:pt x="2122432" y="1268302"/>
                </a:lnTo>
                <a:lnTo>
                  <a:pt x="2134355" y="1268309"/>
                </a:lnTo>
                <a:lnTo>
                  <a:pt x="2146279" y="1268314"/>
                </a:lnTo>
                <a:lnTo>
                  <a:pt x="2158203" y="1268318"/>
                </a:lnTo>
                <a:lnTo>
                  <a:pt x="2170127" y="1268322"/>
                </a:lnTo>
                <a:lnTo>
                  <a:pt x="2182051" y="1268325"/>
                </a:lnTo>
                <a:lnTo>
                  <a:pt x="2193974" y="1268327"/>
                </a:lnTo>
                <a:lnTo>
                  <a:pt x="2205898" y="1268329"/>
                </a:lnTo>
                <a:lnTo>
                  <a:pt x="2217822" y="1268331"/>
                </a:lnTo>
                <a:lnTo>
                  <a:pt x="2229746" y="1268332"/>
                </a:lnTo>
                <a:lnTo>
                  <a:pt x="2241669" y="1268333"/>
                </a:lnTo>
                <a:lnTo>
                  <a:pt x="2253593" y="1268334"/>
                </a:lnTo>
                <a:lnTo>
                  <a:pt x="2265517" y="1268335"/>
                </a:lnTo>
                <a:lnTo>
                  <a:pt x="2277441" y="1268335"/>
                </a:lnTo>
                <a:lnTo>
                  <a:pt x="2289364" y="1268336"/>
                </a:lnTo>
                <a:lnTo>
                  <a:pt x="2301288" y="1268336"/>
                </a:lnTo>
                <a:lnTo>
                  <a:pt x="2313212" y="1268336"/>
                </a:lnTo>
                <a:lnTo>
                  <a:pt x="2325136" y="1268336"/>
                </a:lnTo>
                <a:lnTo>
                  <a:pt x="2337060" y="1268337"/>
                </a:lnTo>
                <a:lnTo>
                  <a:pt x="2348983" y="1268337"/>
                </a:lnTo>
                <a:lnTo>
                  <a:pt x="2360907" y="1268337"/>
                </a:lnTo>
                <a:lnTo>
                  <a:pt x="2372831" y="1268337"/>
                </a:lnTo>
                <a:lnTo>
                  <a:pt x="2384755" y="1268337"/>
                </a:lnTo>
                <a:lnTo>
                  <a:pt x="2396678" y="1268337"/>
                </a:lnTo>
                <a:lnTo>
                  <a:pt x="2408602" y="1268337"/>
                </a:lnTo>
                <a:lnTo>
                  <a:pt x="2420526" y="1268337"/>
                </a:lnTo>
                <a:lnTo>
                  <a:pt x="2432450" y="1268337"/>
                </a:lnTo>
                <a:lnTo>
                  <a:pt x="2444374" y="1268337"/>
                </a:lnTo>
                <a:lnTo>
                  <a:pt x="2456297" y="1268337"/>
                </a:lnTo>
                <a:lnTo>
                  <a:pt x="2468221" y="1268337"/>
                </a:lnTo>
                <a:lnTo>
                  <a:pt x="2480145" y="1268337"/>
                </a:lnTo>
                <a:lnTo>
                  <a:pt x="2492069" y="1268337"/>
                </a:lnTo>
                <a:lnTo>
                  <a:pt x="2503992" y="1268337"/>
                </a:lnTo>
                <a:lnTo>
                  <a:pt x="2515916" y="1268337"/>
                </a:lnTo>
                <a:lnTo>
                  <a:pt x="2527840" y="1268337"/>
                </a:lnTo>
                <a:lnTo>
                  <a:pt x="2539764" y="1268337"/>
                </a:lnTo>
                <a:lnTo>
                  <a:pt x="2551688" y="1268337"/>
                </a:lnTo>
                <a:lnTo>
                  <a:pt x="2563611" y="1268337"/>
                </a:lnTo>
                <a:lnTo>
                  <a:pt x="2575535" y="1268337"/>
                </a:lnTo>
                <a:lnTo>
                  <a:pt x="2587459" y="1268337"/>
                </a:lnTo>
                <a:lnTo>
                  <a:pt x="2599383" y="1268337"/>
                </a:lnTo>
                <a:lnTo>
                  <a:pt x="2611306" y="1268337"/>
                </a:lnTo>
                <a:lnTo>
                  <a:pt x="2623230" y="1268337"/>
                </a:lnTo>
                <a:lnTo>
                  <a:pt x="2635154" y="1268337"/>
                </a:lnTo>
                <a:lnTo>
                  <a:pt x="2647078" y="1268337"/>
                </a:lnTo>
                <a:lnTo>
                  <a:pt x="2659002" y="1268337"/>
                </a:lnTo>
                <a:lnTo>
                  <a:pt x="2670925" y="1268337"/>
                </a:lnTo>
                <a:lnTo>
                  <a:pt x="2682849" y="1268337"/>
                </a:lnTo>
                <a:lnTo>
                  <a:pt x="2694773" y="1268337"/>
                </a:lnTo>
                <a:lnTo>
                  <a:pt x="2706697" y="1268337"/>
                </a:lnTo>
                <a:lnTo>
                  <a:pt x="2718620" y="1268337"/>
                </a:lnTo>
                <a:lnTo>
                  <a:pt x="2730544" y="1268337"/>
                </a:lnTo>
                <a:lnTo>
                  <a:pt x="2742468" y="1268337"/>
                </a:lnTo>
                <a:lnTo>
                  <a:pt x="2754392" y="1268337"/>
                </a:lnTo>
                <a:lnTo>
                  <a:pt x="2766316" y="1268337"/>
                </a:lnTo>
                <a:lnTo>
                  <a:pt x="2778239" y="1268337"/>
                </a:lnTo>
                <a:lnTo>
                  <a:pt x="2790163" y="1268337"/>
                </a:lnTo>
                <a:lnTo>
                  <a:pt x="2802087" y="1268337"/>
                </a:lnTo>
                <a:lnTo>
                  <a:pt x="2814011" y="1268337"/>
                </a:lnTo>
                <a:lnTo>
                  <a:pt x="2825934" y="1268337"/>
                </a:lnTo>
                <a:lnTo>
                  <a:pt x="2837858" y="1268337"/>
                </a:lnTo>
                <a:lnTo>
                  <a:pt x="2849782" y="1268337"/>
                </a:lnTo>
                <a:lnTo>
                  <a:pt x="2861706" y="1268337"/>
                </a:lnTo>
                <a:lnTo>
                  <a:pt x="2873630" y="1268337"/>
                </a:lnTo>
                <a:lnTo>
                  <a:pt x="2885553" y="1268337"/>
                </a:lnTo>
                <a:lnTo>
                  <a:pt x="2897477" y="1268337"/>
                </a:lnTo>
                <a:lnTo>
                  <a:pt x="2909401" y="1268337"/>
                </a:lnTo>
                <a:lnTo>
                  <a:pt x="2921325" y="1268337"/>
                </a:lnTo>
                <a:lnTo>
                  <a:pt x="2933248" y="1268337"/>
                </a:lnTo>
                <a:lnTo>
                  <a:pt x="2945172" y="1268337"/>
                </a:lnTo>
                <a:lnTo>
                  <a:pt x="2957096" y="1268337"/>
                </a:lnTo>
                <a:lnTo>
                  <a:pt x="296902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a:extLst>
              <a:ext uri="{FF2B5EF4-FFF2-40B4-BE49-F238E27FC236}">
                <a16:creationId xmlns:a16="http://schemas.microsoft.com/office/drawing/2014/main" id="{36CAB625-9892-1D86-CE8B-76141C3C9B29}"/>
              </a:ext>
            </a:extLst>
          </p:cNvPr>
          <p:cNvSpPr/>
          <p:nvPr/>
        </p:nvSpPr>
        <p:spPr>
          <a:xfrm>
            <a:off x="10128672" y="3675789"/>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a:extLst>
              <a:ext uri="{FF2B5EF4-FFF2-40B4-BE49-F238E27FC236}">
                <a16:creationId xmlns:a16="http://schemas.microsoft.com/office/drawing/2014/main" id="{03EF0F03-7E17-60E8-8973-6A328089F216}"/>
              </a:ext>
            </a:extLst>
          </p:cNvPr>
          <p:cNvSpPr/>
          <p:nvPr/>
        </p:nvSpPr>
        <p:spPr>
          <a:xfrm>
            <a:off x="10748708" y="3693647"/>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a:extLst>
              <a:ext uri="{FF2B5EF4-FFF2-40B4-BE49-F238E27FC236}">
                <a16:creationId xmlns:a16="http://schemas.microsoft.com/office/drawing/2014/main" id="{B03B1516-2FE7-2B09-57C0-8AE62B726472}"/>
              </a:ext>
            </a:extLst>
          </p:cNvPr>
          <p:cNvSpPr/>
          <p:nvPr/>
        </p:nvSpPr>
        <p:spPr>
          <a:xfrm>
            <a:off x="10474462" y="369344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a:extLst>
              <a:ext uri="{FF2B5EF4-FFF2-40B4-BE49-F238E27FC236}">
                <a16:creationId xmlns:a16="http://schemas.microsoft.com/office/drawing/2014/main" id="{1846C7D4-C14F-9A6D-BF72-592E0D4FB19A}"/>
              </a:ext>
            </a:extLst>
          </p:cNvPr>
          <p:cNvSpPr/>
          <p:nvPr/>
        </p:nvSpPr>
        <p:spPr>
          <a:xfrm>
            <a:off x="9210541" y="30220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a:extLst>
              <a:ext uri="{FF2B5EF4-FFF2-40B4-BE49-F238E27FC236}">
                <a16:creationId xmlns:a16="http://schemas.microsoft.com/office/drawing/2014/main" id="{A094C6E7-98DE-3091-C182-3C1694D55AD5}"/>
              </a:ext>
            </a:extLst>
          </p:cNvPr>
          <p:cNvSpPr/>
          <p:nvPr/>
        </p:nvSpPr>
        <p:spPr>
          <a:xfrm>
            <a:off x="9377474" y="3161856"/>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a:extLst>
              <a:ext uri="{FF2B5EF4-FFF2-40B4-BE49-F238E27FC236}">
                <a16:creationId xmlns:a16="http://schemas.microsoft.com/office/drawing/2014/main" id="{9637DB76-31B7-ED47-778C-A459D392FD79}"/>
              </a:ext>
            </a:extLst>
          </p:cNvPr>
          <p:cNvSpPr/>
          <p:nvPr/>
        </p:nvSpPr>
        <p:spPr>
          <a:xfrm>
            <a:off x="10701013" y="369364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a:extLst>
              <a:ext uri="{FF2B5EF4-FFF2-40B4-BE49-F238E27FC236}">
                <a16:creationId xmlns:a16="http://schemas.microsoft.com/office/drawing/2014/main" id="{D4878887-F079-0D63-C002-F4CDA2184B3C}"/>
              </a:ext>
            </a:extLst>
          </p:cNvPr>
          <p:cNvSpPr/>
          <p:nvPr/>
        </p:nvSpPr>
        <p:spPr>
          <a:xfrm>
            <a:off x="8709743" y="3145091"/>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a:extLst>
              <a:ext uri="{FF2B5EF4-FFF2-40B4-BE49-F238E27FC236}">
                <a16:creationId xmlns:a16="http://schemas.microsoft.com/office/drawing/2014/main" id="{D9D4CEFE-E8E5-9565-112E-E828C13FD395}"/>
              </a:ext>
            </a:extLst>
          </p:cNvPr>
          <p:cNvSpPr/>
          <p:nvPr/>
        </p:nvSpPr>
        <p:spPr>
          <a:xfrm>
            <a:off x="10581776" y="369361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a:extLst>
              <a:ext uri="{FF2B5EF4-FFF2-40B4-BE49-F238E27FC236}">
                <a16:creationId xmlns:a16="http://schemas.microsoft.com/office/drawing/2014/main" id="{B5D27F72-872A-BB05-458D-96ADA57740DA}"/>
              </a:ext>
            </a:extLst>
          </p:cNvPr>
          <p:cNvSpPr/>
          <p:nvPr/>
        </p:nvSpPr>
        <p:spPr>
          <a:xfrm>
            <a:off x="10522157" y="369355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a:extLst>
              <a:ext uri="{FF2B5EF4-FFF2-40B4-BE49-F238E27FC236}">
                <a16:creationId xmlns:a16="http://schemas.microsoft.com/office/drawing/2014/main" id="{F13F8C18-A2D4-CEE5-AAE2-5E2CE43A46E9}"/>
              </a:ext>
            </a:extLst>
          </p:cNvPr>
          <p:cNvSpPr/>
          <p:nvPr/>
        </p:nvSpPr>
        <p:spPr>
          <a:xfrm>
            <a:off x="9770959" y="34389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a:extLst>
              <a:ext uri="{FF2B5EF4-FFF2-40B4-BE49-F238E27FC236}">
                <a16:creationId xmlns:a16="http://schemas.microsoft.com/office/drawing/2014/main" id="{F65A2C54-D061-D4E7-0828-CA6EA2E62EB6}"/>
              </a:ext>
            </a:extLst>
          </p:cNvPr>
          <p:cNvSpPr/>
          <p:nvPr/>
        </p:nvSpPr>
        <p:spPr>
          <a:xfrm>
            <a:off x="9389398" y="316279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a:extLst>
              <a:ext uri="{FF2B5EF4-FFF2-40B4-BE49-F238E27FC236}">
                <a16:creationId xmlns:a16="http://schemas.microsoft.com/office/drawing/2014/main" id="{8AD90F55-9E2C-FF88-E01B-56EC1390A261}"/>
              </a:ext>
            </a:extLst>
          </p:cNvPr>
          <p:cNvSpPr/>
          <p:nvPr/>
        </p:nvSpPr>
        <p:spPr>
          <a:xfrm>
            <a:off x="9329779" y="3152135"/>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a:extLst>
              <a:ext uri="{FF2B5EF4-FFF2-40B4-BE49-F238E27FC236}">
                <a16:creationId xmlns:a16="http://schemas.microsoft.com/office/drawing/2014/main" id="{149753E6-C32A-D36C-B716-3970A799942F}"/>
              </a:ext>
            </a:extLst>
          </p:cNvPr>
          <p:cNvSpPr/>
          <p:nvPr/>
        </p:nvSpPr>
        <p:spPr>
          <a:xfrm>
            <a:off x="8929930"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a:extLst>
              <a:ext uri="{FF2B5EF4-FFF2-40B4-BE49-F238E27FC236}">
                <a16:creationId xmlns:a16="http://schemas.microsoft.com/office/drawing/2014/main" id="{B18C6522-517B-4FE1-7414-987053C8B09A}"/>
              </a:ext>
            </a:extLst>
          </p:cNvPr>
          <p:cNvSpPr/>
          <p:nvPr/>
        </p:nvSpPr>
        <p:spPr>
          <a:xfrm>
            <a:off x="9204177"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a:extLst>
              <a:ext uri="{FF2B5EF4-FFF2-40B4-BE49-F238E27FC236}">
                <a16:creationId xmlns:a16="http://schemas.microsoft.com/office/drawing/2014/main" id="{4D604B71-F966-F680-16DA-22C9178DD715}"/>
              </a:ext>
            </a:extLst>
          </p:cNvPr>
          <p:cNvSpPr txBox="1"/>
          <p:nvPr/>
        </p:nvSpPr>
        <p:spPr>
          <a:xfrm>
            <a:off x="8381619" y="3987390"/>
            <a:ext cx="3236976"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青＝ばらまいた出発点</a:t>
            </a:r>
          </a:p>
        </p:txBody>
      </p:sp>
      <p:sp>
        <p:nvSpPr>
          <p:cNvPr id="83" name="TextBox 82">
            <a:extLst>
              <a:ext uri="{FF2B5EF4-FFF2-40B4-BE49-F238E27FC236}">
                <a16:creationId xmlns:a16="http://schemas.microsoft.com/office/drawing/2014/main" id="{80386FC2-5AC8-5471-9DC4-0285F17F44DF}"/>
              </a:ext>
            </a:extLst>
          </p:cNvPr>
          <p:cNvSpPr txBox="1"/>
          <p:nvPr/>
        </p:nvSpPr>
        <p:spPr>
          <a:xfrm>
            <a:off x="8381619" y="4764630"/>
            <a:ext cx="323697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最も残差の小さい解</a:t>
            </a:r>
          </a:p>
        </p:txBody>
      </p:sp>
      <p:sp>
        <p:nvSpPr>
          <p:cNvPr id="7" name="Rounded Rectangle 55">
            <a:extLst>
              <a:ext uri="{FF2B5EF4-FFF2-40B4-BE49-F238E27FC236}">
                <a16:creationId xmlns:a16="http://schemas.microsoft.com/office/drawing/2014/main" id="{3AD7EF4C-2A5F-8EAF-3FAD-169CABE8AE19}"/>
              </a:ext>
            </a:extLst>
          </p:cNvPr>
          <p:cNvSpPr/>
          <p:nvPr/>
        </p:nvSpPr>
        <p:spPr>
          <a:xfrm>
            <a:off x="627508" y="5306392"/>
            <a:ext cx="11201400" cy="1055189"/>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56">
            <a:extLst>
              <a:ext uri="{FF2B5EF4-FFF2-40B4-BE49-F238E27FC236}">
                <a16:creationId xmlns:a16="http://schemas.microsoft.com/office/drawing/2014/main" id="{448BDD49-C528-543B-7232-427FA27963EF}"/>
              </a:ext>
            </a:extLst>
          </p:cNvPr>
          <p:cNvSpPr txBox="1"/>
          <p:nvPr/>
        </p:nvSpPr>
        <p:spPr>
          <a:xfrm>
            <a:off x="810388" y="5507560"/>
            <a:ext cx="10835640" cy="738664"/>
          </a:xfrm>
          <a:prstGeom prst="rect">
            <a:avLst/>
          </a:prstGeom>
          <a:noFill/>
        </p:spPr>
        <p:txBody>
          <a:bodyPr wrap="square" lIns="0" tIns="0" rIns="0" bIns="0" anchor="t">
            <a:spAutoFit/>
          </a:bodyPr>
          <a:lstStyle/>
          <a:p>
            <a:pPr algn="ctr">
              <a:spcAft>
                <a:spcPts val="0"/>
              </a:spcAft>
            </a:pPr>
            <a:r>
              <a:rPr sz="2500" b="1" dirty="0" err="1">
                <a:solidFill>
                  <a:srgbClr val="262626"/>
                </a:solidFill>
                <a:latin typeface="Meiryo"/>
                <a:ea typeface="Meiryo"/>
                <a:cs typeface="Meiryo"/>
              </a:rPr>
              <a:t>境界条件</a:t>
            </a:r>
            <a:r>
              <a:rPr lang="ja-JP" altLang="en-US" sz="2500" b="1">
                <a:solidFill>
                  <a:srgbClr val="262626"/>
                </a:solidFill>
                <a:latin typeface="Meiryo"/>
                <a:ea typeface="Meiryo"/>
                <a:cs typeface="Meiryo"/>
              </a:rPr>
              <a:t>の設定も重要。</a:t>
            </a:r>
            <a:endParaRPr sz="2500" b="1" dirty="0">
              <a:solidFill>
                <a:srgbClr val="262626"/>
              </a:solidFill>
              <a:latin typeface="Meiryo"/>
              <a:ea typeface="Meiryo"/>
              <a:cs typeface="Meiryo"/>
            </a:endParaRPr>
          </a:p>
          <a:p>
            <a:pPr algn="ctr">
              <a:spcAft>
                <a:spcPts val="0"/>
              </a:spcAft>
            </a:pPr>
            <a:r>
              <a:rPr lang="ja-JP" altLang="en-US" sz="2300" b="0">
                <a:solidFill>
                  <a:srgbClr val="262626"/>
                </a:solidFill>
                <a:latin typeface="Meiryo"/>
                <a:ea typeface="Meiryo"/>
                <a:cs typeface="Meiryo"/>
              </a:rPr>
              <a:t>高さ</a:t>
            </a:r>
            <a:r>
              <a:rPr lang="en-US" altLang="ja-JP" sz="2300" b="0" dirty="0">
                <a:solidFill>
                  <a:srgbClr val="262626"/>
                </a:solidFill>
                <a:latin typeface="Meiryo"/>
                <a:ea typeface="Meiryo"/>
                <a:cs typeface="Meiryo"/>
              </a:rPr>
              <a:t> </a:t>
            </a:r>
            <a:r>
              <a:rPr sz="2300" b="0" dirty="0">
                <a:solidFill>
                  <a:srgbClr val="262626"/>
                </a:solidFill>
                <a:latin typeface="Meiryo"/>
                <a:ea typeface="Meiryo"/>
                <a:cs typeface="Meiryo"/>
              </a:rPr>
              <a:t>a &gt; 0　／　</a:t>
            </a:r>
            <a:r>
              <a:rPr lang="ja-JP" altLang="en-US" sz="2300" b="0">
                <a:solidFill>
                  <a:srgbClr val="262626"/>
                </a:solidFill>
                <a:latin typeface="Meiryo"/>
                <a:ea typeface="Meiryo"/>
                <a:cs typeface="Meiryo"/>
              </a:rPr>
              <a:t>位置</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μ</a:t>
            </a:r>
            <a:r>
              <a:rPr sz="2300" b="0" dirty="0">
                <a:solidFill>
                  <a:srgbClr val="262626"/>
                </a:solidFill>
                <a:latin typeface="Meiryo"/>
                <a:ea typeface="Meiryo"/>
                <a:cs typeface="Meiryo"/>
              </a:rPr>
              <a:t>₁ &lt; μ₂ &lt; …（順序を固定）　／　</a:t>
            </a:r>
            <a:r>
              <a:rPr lang="ja-JP" altLang="en-US" sz="2300" b="0">
                <a:solidFill>
                  <a:srgbClr val="262626"/>
                </a:solidFill>
                <a:latin typeface="Meiryo"/>
                <a:ea typeface="Meiryo"/>
                <a:cs typeface="Meiryo"/>
              </a:rPr>
              <a:t>幅</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σ</a:t>
            </a:r>
            <a:r>
              <a:rPr sz="2300" b="0" dirty="0">
                <a:solidFill>
                  <a:srgbClr val="262626"/>
                </a:solidFill>
                <a:latin typeface="Meiryo"/>
                <a:ea typeface="Meiryo"/>
                <a:cs typeface="Meiryo"/>
              </a:rPr>
              <a:t> </a:t>
            </a:r>
            <a:r>
              <a:rPr sz="2300" b="0" dirty="0" err="1">
                <a:solidFill>
                  <a:srgbClr val="262626"/>
                </a:solidFill>
                <a:latin typeface="Meiryo"/>
                <a:ea typeface="Meiryo"/>
                <a:cs typeface="Meiryo"/>
              </a:rPr>
              <a:t>の上下限</a:t>
            </a:r>
            <a:endParaRPr sz="2300" b="0"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4364380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DB609-BF7B-1143-2EF7-98AC3B99D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83EE8-D08C-AA2E-3FFB-C6FEC47CC43A}"/>
              </a:ext>
            </a:extLst>
          </p:cNvPr>
          <p:cNvSpPr>
            <a:spLocks noGrp="1"/>
          </p:cNvSpPr>
          <p:nvPr>
            <p:ph type="title"/>
          </p:nvPr>
        </p:nvSpPr>
        <p:spPr/>
        <p:txBody>
          <a:bodyPr/>
          <a:lstStyle/>
          <a:p>
            <a:pPr algn="l"/>
            <a:r>
              <a:rPr sz="4600" dirty="0">
                <a:latin typeface="Meiryo"/>
                <a:ea typeface="Meiryo"/>
                <a:cs typeface="Meiryo"/>
              </a:rPr>
              <a:t>5.3  </a:t>
            </a:r>
            <a:r>
              <a:rPr sz="4600" dirty="0" err="1">
                <a:latin typeface="Meiryo"/>
                <a:ea typeface="Meiryo"/>
                <a:cs typeface="Meiryo"/>
              </a:rPr>
              <a:t>当てはめ方</a:t>
            </a:r>
            <a:endParaRPr sz="4600" dirty="0">
              <a:latin typeface="Meiryo"/>
              <a:ea typeface="Meiryo"/>
              <a:cs typeface="Meiryo"/>
            </a:endParaRPr>
          </a:p>
        </p:txBody>
      </p:sp>
      <p:sp>
        <p:nvSpPr>
          <p:cNvPr id="29" name="Source">
            <a:extLst>
              <a:ext uri="{FF2B5EF4-FFF2-40B4-BE49-F238E27FC236}">
                <a16:creationId xmlns:a16="http://schemas.microsoft.com/office/drawing/2014/main" id="{8E106894-D722-4C7A-E1EA-CBACD8E4B69F}"/>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44. Basso 2024</a:t>
            </a:r>
          </a:p>
        </p:txBody>
      </p:sp>
      <p:sp>
        <p:nvSpPr>
          <p:cNvPr id="43" name="PageNo">
            <a:extLst>
              <a:ext uri="{FF2B5EF4-FFF2-40B4-BE49-F238E27FC236}">
                <a16:creationId xmlns:a16="http://schemas.microsoft.com/office/drawing/2014/main" id="{BCCC4A31-3940-F94B-8D9D-C344CF9764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82/119</a:t>
            </a:r>
          </a:p>
        </p:txBody>
      </p:sp>
      <p:sp>
        <p:nvSpPr>
          <p:cNvPr id="44" name="Rounded Rectangle 43">
            <a:extLst>
              <a:ext uri="{FF2B5EF4-FFF2-40B4-BE49-F238E27FC236}">
                <a16:creationId xmlns:a16="http://schemas.microsoft.com/office/drawing/2014/main" id="{86B9BE77-B4C2-588F-278B-09F532190A51}"/>
              </a:ext>
            </a:extLst>
          </p:cNvPr>
          <p:cNvSpPr/>
          <p:nvPr/>
        </p:nvSpPr>
        <p:spPr>
          <a:xfrm>
            <a:off x="502920" y="1737360"/>
            <a:ext cx="5532120" cy="3794760"/>
          </a:xfrm>
          <a:prstGeom prst="roundRect">
            <a:avLst>
              <a:gd name="adj" fmla="val 5748"/>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a:extLst>
              <a:ext uri="{FF2B5EF4-FFF2-40B4-BE49-F238E27FC236}">
                <a16:creationId xmlns:a16="http://schemas.microsoft.com/office/drawing/2014/main" id="{C3730EBE-AD6E-DF22-78A7-630BEB0C1264}"/>
              </a:ext>
            </a:extLst>
          </p:cNvPr>
          <p:cNvSpPr txBox="1"/>
          <p:nvPr/>
        </p:nvSpPr>
        <p:spPr>
          <a:xfrm>
            <a:off x="685800"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72B2"/>
                </a:solidFill>
                <a:latin typeface="Meiryo"/>
                <a:ea typeface="Meiryo"/>
                <a:cs typeface="Meiryo"/>
              </a:rPr>
              <a:t>目的関数の</a:t>
            </a:r>
            <a:r>
              <a:rPr lang="ja-JP" altLang="en-US" sz="2400" b="1">
                <a:solidFill>
                  <a:srgbClr val="0072B2"/>
                </a:solidFill>
                <a:latin typeface="Meiryo"/>
                <a:ea typeface="Meiryo"/>
                <a:cs typeface="Meiryo"/>
              </a:rPr>
              <a:t>代表</a:t>
            </a:r>
            <a:endParaRPr sz="2400" b="1" dirty="0">
              <a:solidFill>
                <a:srgbClr val="0072B2"/>
              </a:solidFill>
              <a:latin typeface="Meiryo"/>
              <a:ea typeface="Meiryo"/>
              <a:cs typeface="Meiryo"/>
            </a:endParaRPr>
          </a:p>
        </p:txBody>
      </p:sp>
      <p:sp>
        <p:nvSpPr>
          <p:cNvPr id="46" name="TextBox 45">
            <a:extLst>
              <a:ext uri="{FF2B5EF4-FFF2-40B4-BE49-F238E27FC236}">
                <a16:creationId xmlns:a16="http://schemas.microsoft.com/office/drawing/2014/main" id="{2CE67400-24AF-9195-3A1D-D45B3E286791}"/>
              </a:ext>
            </a:extLst>
          </p:cNvPr>
          <p:cNvSpPr txBox="1"/>
          <p:nvPr/>
        </p:nvSpPr>
        <p:spPr>
          <a:xfrm>
            <a:off x="685800"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残差平方和</a:t>
            </a:r>
          </a:p>
        </p:txBody>
      </p:sp>
      <p:cxnSp>
        <p:nvCxnSpPr>
          <p:cNvPr id="47" name="Connector 46">
            <a:extLst>
              <a:ext uri="{FF2B5EF4-FFF2-40B4-BE49-F238E27FC236}">
                <a16:creationId xmlns:a16="http://schemas.microsoft.com/office/drawing/2014/main" id="{0C5F7BB2-283E-19F9-D1FE-7A4154962448}"/>
              </a:ext>
            </a:extLst>
          </p:cNvPr>
          <p:cNvCxnSpPr/>
          <p:nvPr/>
        </p:nvCxnSpPr>
        <p:spPr>
          <a:xfrm flipV="1">
            <a:off x="936711" y="4003438"/>
            <a:ext cx="0" cy="2527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8" name="Connector 47">
            <a:extLst>
              <a:ext uri="{FF2B5EF4-FFF2-40B4-BE49-F238E27FC236}">
                <a16:creationId xmlns:a16="http://schemas.microsoft.com/office/drawing/2014/main" id="{3FBB72E6-59BE-76CE-9C21-9D310AF91689}"/>
              </a:ext>
            </a:extLst>
          </p:cNvPr>
          <p:cNvCxnSpPr/>
          <p:nvPr/>
        </p:nvCxnSpPr>
        <p:spPr>
          <a:xfrm flipV="1">
            <a:off x="1175918" y="3724096"/>
            <a:ext cx="0" cy="112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DB40EAC0-9777-2C09-43FA-DFB3D5DEA7E1}"/>
              </a:ext>
            </a:extLst>
          </p:cNvPr>
          <p:cNvCxnSpPr/>
          <p:nvPr/>
        </p:nvCxnSpPr>
        <p:spPr>
          <a:xfrm>
            <a:off x="1415125" y="3209190"/>
            <a:ext cx="0" cy="20880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9E928DA5-C63D-6E0E-680E-94740CA3140D}"/>
              </a:ext>
            </a:extLst>
          </p:cNvPr>
          <p:cNvCxnSpPr/>
          <p:nvPr/>
        </p:nvCxnSpPr>
        <p:spPr>
          <a:xfrm>
            <a:off x="1654332" y="3035574"/>
            <a:ext cx="0" cy="15783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87C280A4-12F7-C399-0497-4E9FDC8192E2}"/>
              </a:ext>
            </a:extLst>
          </p:cNvPr>
          <p:cNvCxnSpPr/>
          <p:nvPr/>
        </p:nvCxnSpPr>
        <p:spPr>
          <a:xfrm flipV="1">
            <a:off x="1893539" y="3149679"/>
            <a:ext cx="0" cy="2711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4B8A604C-3968-0129-236E-B0423E8B35BB}"/>
              </a:ext>
            </a:extLst>
          </p:cNvPr>
          <p:cNvCxnSpPr/>
          <p:nvPr/>
        </p:nvCxnSpPr>
        <p:spPr>
          <a:xfrm flipV="1">
            <a:off x="2132746" y="3307731"/>
            <a:ext cx="0" cy="47940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3" name="Connector 52">
            <a:extLst>
              <a:ext uri="{FF2B5EF4-FFF2-40B4-BE49-F238E27FC236}">
                <a16:creationId xmlns:a16="http://schemas.microsoft.com/office/drawing/2014/main" id="{8C671B60-2AEF-DF33-DD70-5B7D33D1F88E}"/>
              </a:ext>
            </a:extLst>
          </p:cNvPr>
          <p:cNvCxnSpPr/>
          <p:nvPr/>
        </p:nvCxnSpPr>
        <p:spPr>
          <a:xfrm flipV="1">
            <a:off x="2371953" y="3594282"/>
            <a:ext cx="0" cy="1860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4" name="Connector 53">
            <a:extLst>
              <a:ext uri="{FF2B5EF4-FFF2-40B4-BE49-F238E27FC236}">
                <a16:creationId xmlns:a16="http://schemas.microsoft.com/office/drawing/2014/main" id="{04FF3033-3842-AD93-79BE-6D456D11E65B}"/>
              </a:ext>
            </a:extLst>
          </p:cNvPr>
          <p:cNvCxnSpPr/>
          <p:nvPr/>
        </p:nvCxnSpPr>
        <p:spPr>
          <a:xfrm>
            <a:off x="2611160" y="3852060"/>
            <a:ext cx="0" cy="4347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5" name="Connector 54">
            <a:extLst>
              <a:ext uri="{FF2B5EF4-FFF2-40B4-BE49-F238E27FC236}">
                <a16:creationId xmlns:a16="http://schemas.microsoft.com/office/drawing/2014/main" id="{C332AF07-7CB4-8491-9BC4-884C172BD60D}"/>
              </a:ext>
            </a:extLst>
          </p:cNvPr>
          <p:cNvCxnSpPr/>
          <p:nvPr/>
        </p:nvCxnSpPr>
        <p:spPr>
          <a:xfrm>
            <a:off x="2850367" y="4022951"/>
            <a:ext cx="0" cy="10509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93027837-DBCA-9DE1-9D3E-A681E123394C}"/>
              </a:ext>
            </a:extLst>
          </p:cNvPr>
          <p:cNvCxnSpPr/>
          <p:nvPr/>
        </p:nvCxnSpPr>
        <p:spPr>
          <a:xfrm>
            <a:off x="3089574" y="4225195"/>
            <a:ext cx="0" cy="43472"/>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7" name="Connector 56">
            <a:extLst>
              <a:ext uri="{FF2B5EF4-FFF2-40B4-BE49-F238E27FC236}">
                <a16:creationId xmlns:a16="http://schemas.microsoft.com/office/drawing/2014/main" id="{97119BCC-BE3D-F7F1-6031-5B47B9123B30}"/>
              </a:ext>
            </a:extLst>
          </p:cNvPr>
          <p:cNvCxnSpPr/>
          <p:nvPr/>
        </p:nvCxnSpPr>
        <p:spPr>
          <a:xfrm>
            <a:off x="3328781" y="4277185"/>
            <a:ext cx="0" cy="599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8" name="Connector 57">
            <a:extLst>
              <a:ext uri="{FF2B5EF4-FFF2-40B4-BE49-F238E27FC236}">
                <a16:creationId xmlns:a16="http://schemas.microsoft.com/office/drawing/2014/main" id="{896FFA0C-8661-2CFF-7E65-537DAEBC3EAF}"/>
              </a:ext>
            </a:extLst>
          </p:cNvPr>
          <p:cNvCxnSpPr/>
          <p:nvPr/>
        </p:nvCxnSpPr>
        <p:spPr>
          <a:xfrm flipV="1">
            <a:off x="3567988" y="4364442"/>
            <a:ext cx="0" cy="807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9" name="Connector 58">
            <a:extLst>
              <a:ext uri="{FF2B5EF4-FFF2-40B4-BE49-F238E27FC236}">
                <a16:creationId xmlns:a16="http://schemas.microsoft.com/office/drawing/2014/main" id="{D327BE8C-52DA-21EA-3A37-24218C104531}"/>
              </a:ext>
            </a:extLst>
          </p:cNvPr>
          <p:cNvCxnSpPr/>
          <p:nvPr/>
        </p:nvCxnSpPr>
        <p:spPr>
          <a:xfrm>
            <a:off x="3807195" y="4370423"/>
            <a:ext cx="0" cy="296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0" name="Connector 59">
            <a:extLst>
              <a:ext uri="{FF2B5EF4-FFF2-40B4-BE49-F238E27FC236}">
                <a16:creationId xmlns:a16="http://schemas.microsoft.com/office/drawing/2014/main" id="{BBAF8EE3-D898-573B-712A-DCE87FF85F83}"/>
              </a:ext>
            </a:extLst>
          </p:cNvPr>
          <p:cNvCxnSpPr/>
          <p:nvPr/>
        </p:nvCxnSpPr>
        <p:spPr>
          <a:xfrm>
            <a:off x="4046402" y="4365397"/>
            <a:ext cx="0" cy="1041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1" name="Connector 60">
            <a:extLst>
              <a:ext uri="{FF2B5EF4-FFF2-40B4-BE49-F238E27FC236}">
                <a16:creationId xmlns:a16="http://schemas.microsoft.com/office/drawing/2014/main" id="{059FC0BB-E0F0-3A77-0E4D-18371AC1FFB4}"/>
              </a:ext>
            </a:extLst>
          </p:cNvPr>
          <p:cNvCxnSpPr/>
          <p:nvPr/>
        </p:nvCxnSpPr>
        <p:spPr>
          <a:xfrm flipV="1">
            <a:off x="4285609" y="4376360"/>
            <a:ext cx="0" cy="236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2" name="Connector 61">
            <a:extLst>
              <a:ext uri="{FF2B5EF4-FFF2-40B4-BE49-F238E27FC236}">
                <a16:creationId xmlns:a16="http://schemas.microsoft.com/office/drawing/2014/main" id="{30277475-E665-1B0B-C68E-8AD8CDB203D2}"/>
              </a:ext>
            </a:extLst>
          </p:cNvPr>
          <p:cNvCxnSpPr/>
          <p:nvPr/>
        </p:nvCxnSpPr>
        <p:spPr>
          <a:xfrm flipV="1">
            <a:off x="4524816" y="4376463"/>
            <a:ext cx="0" cy="2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3" name="Connector 62">
            <a:extLst>
              <a:ext uri="{FF2B5EF4-FFF2-40B4-BE49-F238E27FC236}">
                <a16:creationId xmlns:a16="http://schemas.microsoft.com/office/drawing/2014/main" id="{F490D6D6-0288-3AC6-5B31-8139E76F35A6}"/>
              </a:ext>
            </a:extLst>
          </p:cNvPr>
          <p:cNvCxnSpPr/>
          <p:nvPr/>
        </p:nvCxnSpPr>
        <p:spPr>
          <a:xfrm>
            <a:off x="4764024" y="4349802"/>
            <a:ext cx="0" cy="266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4" name="Connector 63">
            <a:extLst>
              <a:ext uri="{FF2B5EF4-FFF2-40B4-BE49-F238E27FC236}">
                <a16:creationId xmlns:a16="http://schemas.microsoft.com/office/drawing/2014/main" id="{89BB81E9-60E7-FAAF-E4EF-ADB224F66F9C}"/>
              </a:ext>
            </a:extLst>
          </p:cNvPr>
          <p:cNvCxnSpPr/>
          <p:nvPr/>
        </p:nvCxnSpPr>
        <p:spPr>
          <a:xfrm>
            <a:off x="5003231" y="4370631"/>
            <a:ext cx="0" cy="585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5" name="Connector 64">
            <a:extLst>
              <a:ext uri="{FF2B5EF4-FFF2-40B4-BE49-F238E27FC236}">
                <a16:creationId xmlns:a16="http://schemas.microsoft.com/office/drawing/2014/main" id="{825B157E-B150-405B-953D-6F5BB80A6323}"/>
              </a:ext>
            </a:extLst>
          </p:cNvPr>
          <p:cNvCxnSpPr/>
          <p:nvPr/>
        </p:nvCxnSpPr>
        <p:spPr>
          <a:xfrm>
            <a:off x="5242438" y="4355724"/>
            <a:ext cx="0" cy="2075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6" name="Connector 65">
            <a:extLst>
              <a:ext uri="{FF2B5EF4-FFF2-40B4-BE49-F238E27FC236}">
                <a16:creationId xmlns:a16="http://schemas.microsoft.com/office/drawing/2014/main" id="{3C57A991-AAAF-E2B0-75E0-61FFCDB35635}"/>
              </a:ext>
            </a:extLst>
          </p:cNvPr>
          <p:cNvCxnSpPr/>
          <p:nvPr/>
        </p:nvCxnSpPr>
        <p:spPr>
          <a:xfrm>
            <a:off x="5481645" y="4366418"/>
            <a:ext cx="0" cy="10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A9662F63-A171-267E-F861-2724C72E1A1A}"/>
              </a:ext>
            </a:extLst>
          </p:cNvPr>
          <p:cNvSpPr/>
          <p:nvPr/>
        </p:nvSpPr>
        <p:spPr>
          <a:xfrm>
            <a:off x="777240" y="3002890"/>
            <a:ext cx="4963546" cy="1408544"/>
          </a:xfrm>
          <a:custGeom>
            <a:avLst/>
            <a:gdLst/>
            <a:ahLst/>
            <a:cxnLst/>
            <a:rect l="l" t="t" r="r" b="b"/>
            <a:pathLst>
              <a:path w="4963546" h="1408544">
                <a:moveTo>
                  <a:pt x="0" y="1302885"/>
                </a:moveTo>
                <a:lnTo>
                  <a:pt x="19933" y="1370850"/>
                </a:lnTo>
                <a:lnTo>
                  <a:pt x="39867" y="1313930"/>
                </a:lnTo>
                <a:lnTo>
                  <a:pt x="59801" y="1320459"/>
                </a:lnTo>
                <a:lnTo>
                  <a:pt x="79735" y="1307578"/>
                </a:lnTo>
                <a:lnTo>
                  <a:pt x="99669" y="1291147"/>
                </a:lnTo>
                <a:lnTo>
                  <a:pt x="119603" y="1306383"/>
                </a:lnTo>
                <a:lnTo>
                  <a:pt x="139537" y="1261049"/>
                </a:lnTo>
                <a:lnTo>
                  <a:pt x="159471" y="1253302"/>
                </a:lnTo>
                <a:lnTo>
                  <a:pt x="179405" y="1164615"/>
                </a:lnTo>
                <a:lnTo>
                  <a:pt x="199339" y="1192755"/>
                </a:lnTo>
                <a:lnTo>
                  <a:pt x="219273" y="1177350"/>
                </a:lnTo>
                <a:lnTo>
                  <a:pt x="239207" y="1148852"/>
                </a:lnTo>
                <a:lnTo>
                  <a:pt x="259140" y="1125293"/>
                </a:lnTo>
                <a:lnTo>
                  <a:pt x="279074" y="1099138"/>
                </a:lnTo>
                <a:lnTo>
                  <a:pt x="299008" y="1053173"/>
                </a:lnTo>
                <a:lnTo>
                  <a:pt x="318942" y="1001188"/>
                </a:lnTo>
                <a:lnTo>
                  <a:pt x="338876" y="972683"/>
                </a:lnTo>
                <a:lnTo>
                  <a:pt x="358810" y="910371"/>
                </a:lnTo>
                <a:lnTo>
                  <a:pt x="378744" y="884193"/>
                </a:lnTo>
                <a:lnTo>
                  <a:pt x="398678" y="833269"/>
                </a:lnTo>
                <a:lnTo>
                  <a:pt x="418612" y="759196"/>
                </a:lnTo>
                <a:lnTo>
                  <a:pt x="438546" y="724685"/>
                </a:lnTo>
                <a:lnTo>
                  <a:pt x="458480" y="689633"/>
                </a:lnTo>
                <a:lnTo>
                  <a:pt x="478414" y="631152"/>
                </a:lnTo>
                <a:lnTo>
                  <a:pt x="498348" y="565527"/>
                </a:lnTo>
                <a:lnTo>
                  <a:pt x="518281" y="488777"/>
                </a:lnTo>
                <a:lnTo>
                  <a:pt x="538215" y="471171"/>
                </a:lnTo>
                <a:lnTo>
                  <a:pt x="558149" y="417903"/>
                </a:lnTo>
                <a:lnTo>
                  <a:pt x="578083" y="346004"/>
                </a:lnTo>
                <a:lnTo>
                  <a:pt x="598017" y="327161"/>
                </a:lnTo>
                <a:lnTo>
                  <a:pt x="617951" y="270053"/>
                </a:lnTo>
                <a:lnTo>
                  <a:pt x="637885" y="206300"/>
                </a:lnTo>
                <a:lnTo>
                  <a:pt x="657819" y="169985"/>
                </a:lnTo>
                <a:lnTo>
                  <a:pt x="677753" y="140471"/>
                </a:lnTo>
                <a:lnTo>
                  <a:pt x="697687" y="97666"/>
                </a:lnTo>
                <a:lnTo>
                  <a:pt x="717621" y="126012"/>
                </a:lnTo>
                <a:lnTo>
                  <a:pt x="737555" y="39067"/>
                </a:lnTo>
                <a:lnTo>
                  <a:pt x="757488" y="52472"/>
                </a:lnTo>
                <a:lnTo>
                  <a:pt x="777422" y="50300"/>
                </a:lnTo>
                <a:lnTo>
                  <a:pt x="797356" y="10056"/>
                </a:lnTo>
                <a:lnTo>
                  <a:pt x="817290" y="0"/>
                </a:lnTo>
                <a:lnTo>
                  <a:pt x="837224" y="20869"/>
                </a:lnTo>
                <a:lnTo>
                  <a:pt x="857158" y="38481"/>
                </a:lnTo>
                <a:lnTo>
                  <a:pt x="877092" y="32684"/>
                </a:lnTo>
                <a:lnTo>
                  <a:pt x="897026" y="50863"/>
                </a:lnTo>
                <a:lnTo>
                  <a:pt x="916960" y="48250"/>
                </a:lnTo>
                <a:lnTo>
                  <a:pt x="936894" y="84180"/>
                </a:lnTo>
                <a:lnTo>
                  <a:pt x="956828" y="121917"/>
                </a:lnTo>
                <a:lnTo>
                  <a:pt x="976762" y="138649"/>
                </a:lnTo>
                <a:lnTo>
                  <a:pt x="996696" y="194463"/>
                </a:lnTo>
                <a:lnTo>
                  <a:pt x="1016629" y="242561"/>
                </a:lnTo>
                <a:lnTo>
                  <a:pt x="1036563" y="255721"/>
                </a:lnTo>
                <a:lnTo>
                  <a:pt x="1056497" y="294588"/>
                </a:lnTo>
                <a:lnTo>
                  <a:pt x="1076431" y="346960"/>
                </a:lnTo>
                <a:lnTo>
                  <a:pt x="1096365" y="395596"/>
                </a:lnTo>
                <a:lnTo>
                  <a:pt x="1116299" y="417966"/>
                </a:lnTo>
                <a:lnTo>
                  <a:pt x="1136233" y="500529"/>
                </a:lnTo>
                <a:lnTo>
                  <a:pt x="1156167" y="485301"/>
                </a:lnTo>
                <a:lnTo>
                  <a:pt x="1176101" y="523801"/>
                </a:lnTo>
                <a:lnTo>
                  <a:pt x="1196035" y="592026"/>
                </a:lnTo>
                <a:lnTo>
                  <a:pt x="1215969" y="595562"/>
                </a:lnTo>
                <a:lnTo>
                  <a:pt x="1235903" y="641395"/>
                </a:lnTo>
                <a:lnTo>
                  <a:pt x="1255836" y="639949"/>
                </a:lnTo>
                <a:lnTo>
                  <a:pt x="1275770" y="709808"/>
                </a:lnTo>
                <a:lnTo>
                  <a:pt x="1295704" y="713252"/>
                </a:lnTo>
                <a:lnTo>
                  <a:pt x="1315638" y="705980"/>
                </a:lnTo>
                <a:lnTo>
                  <a:pt x="1335572" y="715536"/>
                </a:lnTo>
                <a:lnTo>
                  <a:pt x="1355506" y="784250"/>
                </a:lnTo>
                <a:lnTo>
                  <a:pt x="1375440" y="769457"/>
                </a:lnTo>
                <a:lnTo>
                  <a:pt x="1395374" y="766249"/>
                </a:lnTo>
                <a:lnTo>
                  <a:pt x="1415308" y="789991"/>
                </a:lnTo>
                <a:lnTo>
                  <a:pt x="1435242" y="760771"/>
                </a:lnTo>
                <a:lnTo>
                  <a:pt x="1455176" y="811500"/>
                </a:lnTo>
                <a:lnTo>
                  <a:pt x="1475110" y="790220"/>
                </a:lnTo>
                <a:lnTo>
                  <a:pt x="1495044" y="816080"/>
                </a:lnTo>
                <a:lnTo>
                  <a:pt x="1514977" y="778044"/>
                </a:lnTo>
                <a:lnTo>
                  <a:pt x="1534911" y="802823"/>
                </a:lnTo>
                <a:lnTo>
                  <a:pt x="1554845" y="809561"/>
                </a:lnTo>
                <a:lnTo>
                  <a:pt x="1574779" y="832324"/>
                </a:lnTo>
                <a:lnTo>
                  <a:pt x="1594713" y="777446"/>
                </a:lnTo>
                <a:lnTo>
                  <a:pt x="1614647" y="793431"/>
                </a:lnTo>
                <a:lnTo>
                  <a:pt x="1634581" y="794470"/>
                </a:lnTo>
                <a:lnTo>
                  <a:pt x="1654515" y="789627"/>
                </a:lnTo>
                <a:lnTo>
                  <a:pt x="1674449" y="804465"/>
                </a:lnTo>
                <a:lnTo>
                  <a:pt x="1694383" y="823178"/>
                </a:lnTo>
                <a:lnTo>
                  <a:pt x="1714317" y="829060"/>
                </a:lnTo>
                <a:lnTo>
                  <a:pt x="1734251" y="833074"/>
                </a:lnTo>
                <a:lnTo>
                  <a:pt x="1754184" y="802430"/>
                </a:lnTo>
                <a:lnTo>
                  <a:pt x="1774118" y="854381"/>
                </a:lnTo>
                <a:lnTo>
                  <a:pt x="1794052" y="846818"/>
                </a:lnTo>
                <a:lnTo>
                  <a:pt x="1813986" y="849767"/>
                </a:lnTo>
                <a:lnTo>
                  <a:pt x="1833920" y="849170"/>
                </a:lnTo>
                <a:lnTo>
                  <a:pt x="1853854" y="852627"/>
                </a:lnTo>
                <a:lnTo>
                  <a:pt x="1873788" y="892477"/>
                </a:lnTo>
                <a:lnTo>
                  <a:pt x="1893722" y="911167"/>
                </a:lnTo>
                <a:lnTo>
                  <a:pt x="1913656" y="894545"/>
                </a:lnTo>
                <a:lnTo>
                  <a:pt x="1933590" y="886925"/>
                </a:lnTo>
                <a:lnTo>
                  <a:pt x="1953524" y="907321"/>
                </a:lnTo>
                <a:lnTo>
                  <a:pt x="1973458" y="929687"/>
                </a:lnTo>
                <a:lnTo>
                  <a:pt x="1993392" y="952427"/>
                </a:lnTo>
                <a:lnTo>
                  <a:pt x="2013325" y="956924"/>
                </a:lnTo>
                <a:lnTo>
                  <a:pt x="2033259" y="980540"/>
                </a:lnTo>
                <a:lnTo>
                  <a:pt x="2053193" y="978349"/>
                </a:lnTo>
                <a:lnTo>
                  <a:pt x="2073127" y="1020061"/>
                </a:lnTo>
                <a:lnTo>
                  <a:pt x="2093061" y="1020402"/>
                </a:lnTo>
                <a:lnTo>
                  <a:pt x="2112995" y="1040008"/>
                </a:lnTo>
                <a:lnTo>
                  <a:pt x="2132929" y="1044927"/>
                </a:lnTo>
                <a:lnTo>
                  <a:pt x="2152863" y="1065693"/>
                </a:lnTo>
                <a:lnTo>
                  <a:pt x="2172797" y="1043120"/>
                </a:lnTo>
                <a:lnTo>
                  <a:pt x="2192731" y="1075564"/>
                </a:lnTo>
                <a:lnTo>
                  <a:pt x="2212665" y="1090619"/>
                </a:lnTo>
                <a:lnTo>
                  <a:pt x="2232599" y="1163159"/>
                </a:lnTo>
                <a:lnTo>
                  <a:pt x="2252532" y="1149790"/>
                </a:lnTo>
                <a:lnTo>
                  <a:pt x="2272466" y="1168206"/>
                </a:lnTo>
                <a:lnTo>
                  <a:pt x="2292400" y="1163169"/>
                </a:lnTo>
                <a:lnTo>
                  <a:pt x="2312334" y="1222305"/>
                </a:lnTo>
                <a:lnTo>
                  <a:pt x="2332268" y="1178559"/>
                </a:lnTo>
                <a:lnTo>
                  <a:pt x="2352202" y="1192528"/>
                </a:lnTo>
                <a:lnTo>
                  <a:pt x="2372136" y="1242951"/>
                </a:lnTo>
                <a:lnTo>
                  <a:pt x="2392070" y="1248838"/>
                </a:lnTo>
                <a:lnTo>
                  <a:pt x="2412004" y="1256580"/>
                </a:lnTo>
                <a:lnTo>
                  <a:pt x="2431938" y="1252880"/>
                </a:lnTo>
                <a:lnTo>
                  <a:pt x="2451872" y="1252674"/>
                </a:lnTo>
                <a:lnTo>
                  <a:pt x="2471806" y="1238703"/>
                </a:lnTo>
                <a:lnTo>
                  <a:pt x="2491740" y="1283898"/>
                </a:lnTo>
                <a:lnTo>
                  <a:pt x="2511673" y="1276097"/>
                </a:lnTo>
                <a:lnTo>
                  <a:pt x="2531607" y="1293561"/>
                </a:lnTo>
                <a:lnTo>
                  <a:pt x="2551541" y="1274295"/>
                </a:lnTo>
                <a:lnTo>
                  <a:pt x="2571475" y="1297408"/>
                </a:lnTo>
                <a:lnTo>
                  <a:pt x="2591409" y="1293180"/>
                </a:lnTo>
                <a:lnTo>
                  <a:pt x="2611343" y="1338729"/>
                </a:lnTo>
                <a:lnTo>
                  <a:pt x="2631277" y="1329391"/>
                </a:lnTo>
                <a:lnTo>
                  <a:pt x="2651211" y="1344277"/>
                </a:lnTo>
                <a:lnTo>
                  <a:pt x="2671145" y="1310716"/>
                </a:lnTo>
                <a:lnTo>
                  <a:pt x="2691079" y="1328540"/>
                </a:lnTo>
                <a:lnTo>
                  <a:pt x="2711013" y="1347907"/>
                </a:lnTo>
                <a:lnTo>
                  <a:pt x="2730947" y="1353621"/>
                </a:lnTo>
                <a:lnTo>
                  <a:pt x="2750880" y="1341306"/>
                </a:lnTo>
                <a:lnTo>
                  <a:pt x="2770814" y="1363417"/>
                </a:lnTo>
                <a:lnTo>
                  <a:pt x="2790748" y="1369622"/>
                </a:lnTo>
                <a:lnTo>
                  <a:pt x="2810682" y="1348763"/>
                </a:lnTo>
                <a:lnTo>
                  <a:pt x="2830616" y="1318363"/>
                </a:lnTo>
                <a:lnTo>
                  <a:pt x="2850550" y="1364437"/>
                </a:lnTo>
                <a:lnTo>
                  <a:pt x="2870484" y="1371101"/>
                </a:lnTo>
                <a:lnTo>
                  <a:pt x="2890418" y="1382587"/>
                </a:lnTo>
                <a:lnTo>
                  <a:pt x="2910352" y="1386538"/>
                </a:lnTo>
                <a:lnTo>
                  <a:pt x="2930286" y="1357265"/>
                </a:lnTo>
                <a:lnTo>
                  <a:pt x="2950220" y="1352941"/>
                </a:lnTo>
                <a:lnTo>
                  <a:pt x="2970154" y="1367582"/>
                </a:lnTo>
                <a:lnTo>
                  <a:pt x="2990088" y="1363076"/>
                </a:lnTo>
                <a:lnTo>
                  <a:pt x="3010021" y="1367303"/>
                </a:lnTo>
                <a:lnTo>
                  <a:pt x="3029955" y="1367533"/>
                </a:lnTo>
                <a:lnTo>
                  <a:pt x="3049889" y="1395272"/>
                </a:lnTo>
                <a:lnTo>
                  <a:pt x="3069823" y="1378274"/>
                </a:lnTo>
                <a:lnTo>
                  <a:pt x="3089757" y="1369364"/>
                </a:lnTo>
                <a:lnTo>
                  <a:pt x="3109691" y="1384335"/>
                </a:lnTo>
                <a:lnTo>
                  <a:pt x="3129625" y="1379623"/>
                </a:lnTo>
                <a:lnTo>
                  <a:pt x="3149559" y="1385485"/>
                </a:lnTo>
                <a:lnTo>
                  <a:pt x="3169493" y="1377771"/>
                </a:lnTo>
                <a:lnTo>
                  <a:pt x="3189427" y="1358569"/>
                </a:lnTo>
                <a:lnTo>
                  <a:pt x="3209361" y="1379325"/>
                </a:lnTo>
                <a:lnTo>
                  <a:pt x="3229295" y="1375337"/>
                </a:lnTo>
                <a:lnTo>
                  <a:pt x="3249228" y="1359642"/>
                </a:lnTo>
                <a:lnTo>
                  <a:pt x="3269162" y="1362507"/>
                </a:lnTo>
                <a:lnTo>
                  <a:pt x="3289096" y="1345425"/>
                </a:lnTo>
                <a:lnTo>
                  <a:pt x="3309030" y="1407380"/>
                </a:lnTo>
                <a:lnTo>
                  <a:pt x="3328964" y="1359266"/>
                </a:lnTo>
                <a:lnTo>
                  <a:pt x="3348898" y="1381209"/>
                </a:lnTo>
                <a:lnTo>
                  <a:pt x="3368832" y="1371169"/>
                </a:lnTo>
                <a:lnTo>
                  <a:pt x="3388766" y="1359715"/>
                </a:lnTo>
                <a:lnTo>
                  <a:pt x="3408700" y="1355733"/>
                </a:lnTo>
                <a:lnTo>
                  <a:pt x="3428634" y="1356477"/>
                </a:lnTo>
                <a:lnTo>
                  <a:pt x="3448568" y="1370953"/>
                </a:lnTo>
                <a:lnTo>
                  <a:pt x="3468502" y="1347196"/>
                </a:lnTo>
                <a:lnTo>
                  <a:pt x="3488436" y="1378147"/>
                </a:lnTo>
                <a:lnTo>
                  <a:pt x="3508369" y="1375839"/>
                </a:lnTo>
                <a:lnTo>
                  <a:pt x="3528303" y="1360479"/>
                </a:lnTo>
                <a:lnTo>
                  <a:pt x="3548237" y="1382566"/>
                </a:lnTo>
                <a:lnTo>
                  <a:pt x="3568171" y="1338239"/>
                </a:lnTo>
                <a:lnTo>
                  <a:pt x="3588105" y="1356907"/>
                </a:lnTo>
                <a:lnTo>
                  <a:pt x="3608039" y="1338010"/>
                </a:lnTo>
                <a:lnTo>
                  <a:pt x="3627973" y="1374010"/>
                </a:lnTo>
                <a:lnTo>
                  <a:pt x="3647907" y="1379840"/>
                </a:lnTo>
                <a:lnTo>
                  <a:pt x="3667841" y="1370850"/>
                </a:lnTo>
                <a:lnTo>
                  <a:pt x="3687775" y="1361576"/>
                </a:lnTo>
                <a:lnTo>
                  <a:pt x="3707709" y="1383187"/>
                </a:lnTo>
                <a:lnTo>
                  <a:pt x="3727643" y="1367380"/>
                </a:lnTo>
                <a:lnTo>
                  <a:pt x="3747576" y="1373862"/>
                </a:lnTo>
                <a:lnTo>
                  <a:pt x="3767510" y="1347179"/>
                </a:lnTo>
                <a:lnTo>
                  <a:pt x="3787444" y="1384421"/>
                </a:lnTo>
                <a:lnTo>
                  <a:pt x="3807378" y="1356489"/>
                </a:lnTo>
                <a:lnTo>
                  <a:pt x="3827312" y="1384114"/>
                </a:lnTo>
                <a:lnTo>
                  <a:pt x="3847246" y="1389292"/>
                </a:lnTo>
                <a:lnTo>
                  <a:pt x="3867180" y="1385201"/>
                </a:lnTo>
                <a:lnTo>
                  <a:pt x="3887114" y="1393045"/>
                </a:lnTo>
                <a:lnTo>
                  <a:pt x="3907048" y="1371199"/>
                </a:lnTo>
                <a:lnTo>
                  <a:pt x="3926982" y="1356734"/>
                </a:lnTo>
                <a:lnTo>
                  <a:pt x="3946916" y="1370905"/>
                </a:lnTo>
                <a:lnTo>
                  <a:pt x="3966850" y="1363386"/>
                </a:lnTo>
                <a:lnTo>
                  <a:pt x="3986784" y="1346912"/>
                </a:lnTo>
                <a:lnTo>
                  <a:pt x="4006717" y="1369177"/>
                </a:lnTo>
                <a:lnTo>
                  <a:pt x="4026651" y="1370401"/>
                </a:lnTo>
                <a:lnTo>
                  <a:pt x="4046585" y="1378087"/>
                </a:lnTo>
                <a:lnTo>
                  <a:pt x="4066519" y="1399879"/>
                </a:lnTo>
                <a:lnTo>
                  <a:pt x="4086453" y="1361173"/>
                </a:lnTo>
                <a:lnTo>
                  <a:pt x="4106387" y="1402302"/>
                </a:lnTo>
                <a:lnTo>
                  <a:pt x="4126321" y="1362923"/>
                </a:lnTo>
                <a:lnTo>
                  <a:pt x="4146255" y="1373825"/>
                </a:lnTo>
                <a:lnTo>
                  <a:pt x="4166189" y="1355173"/>
                </a:lnTo>
                <a:lnTo>
                  <a:pt x="4186123" y="1374699"/>
                </a:lnTo>
                <a:lnTo>
                  <a:pt x="4206057" y="1387047"/>
                </a:lnTo>
                <a:lnTo>
                  <a:pt x="4225991" y="1367741"/>
                </a:lnTo>
                <a:lnTo>
                  <a:pt x="4245924" y="1382749"/>
                </a:lnTo>
                <a:lnTo>
                  <a:pt x="4265858" y="1376549"/>
                </a:lnTo>
                <a:lnTo>
                  <a:pt x="4285792" y="1372907"/>
                </a:lnTo>
                <a:lnTo>
                  <a:pt x="4305726" y="1375791"/>
                </a:lnTo>
                <a:lnTo>
                  <a:pt x="4325660" y="1376678"/>
                </a:lnTo>
                <a:lnTo>
                  <a:pt x="4345594" y="1387198"/>
                </a:lnTo>
                <a:lnTo>
                  <a:pt x="4365528" y="1376683"/>
                </a:lnTo>
                <a:lnTo>
                  <a:pt x="4385462" y="1408544"/>
                </a:lnTo>
                <a:lnTo>
                  <a:pt x="4405396" y="1376163"/>
                </a:lnTo>
                <a:lnTo>
                  <a:pt x="4425330" y="1393174"/>
                </a:lnTo>
                <a:lnTo>
                  <a:pt x="4445264" y="1355280"/>
                </a:lnTo>
                <a:lnTo>
                  <a:pt x="4465198" y="1352834"/>
                </a:lnTo>
                <a:lnTo>
                  <a:pt x="4485132" y="1405482"/>
                </a:lnTo>
                <a:lnTo>
                  <a:pt x="4505065" y="1371223"/>
                </a:lnTo>
                <a:lnTo>
                  <a:pt x="4524999" y="1375657"/>
                </a:lnTo>
                <a:lnTo>
                  <a:pt x="4544933" y="1390701"/>
                </a:lnTo>
                <a:lnTo>
                  <a:pt x="4564867" y="1364901"/>
                </a:lnTo>
                <a:lnTo>
                  <a:pt x="4584801" y="1381138"/>
                </a:lnTo>
                <a:lnTo>
                  <a:pt x="4604735" y="1402484"/>
                </a:lnTo>
                <a:lnTo>
                  <a:pt x="4624669" y="1377950"/>
                </a:lnTo>
                <a:lnTo>
                  <a:pt x="4644603" y="1376015"/>
                </a:lnTo>
                <a:lnTo>
                  <a:pt x="4664537" y="1371852"/>
                </a:lnTo>
                <a:lnTo>
                  <a:pt x="4684471" y="1393717"/>
                </a:lnTo>
                <a:lnTo>
                  <a:pt x="4704405" y="1363528"/>
                </a:lnTo>
                <a:lnTo>
                  <a:pt x="4724339" y="1361570"/>
                </a:lnTo>
                <a:lnTo>
                  <a:pt x="4744272" y="1392321"/>
                </a:lnTo>
                <a:lnTo>
                  <a:pt x="4764206" y="1384361"/>
                </a:lnTo>
                <a:lnTo>
                  <a:pt x="4784140" y="1374905"/>
                </a:lnTo>
                <a:lnTo>
                  <a:pt x="4804074" y="1382842"/>
                </a:lnTo>
                <a:lnTo>
                  <a:pt x="4824008" y="1345089"/>
                </a:lnTo>
                <a:lnTo>
                  <a:pt x="4843942" y="1370185"/>
                </a:lnTo>
                <a:lnTo>
                  <a:pt x="4863876" y="1390110"/>
                </a:lnTo>
                <a:lnTo>
                  <a:pt x="4883810" y="1386474"/>
                </a:lnTo>
                <a:lnTo>
                  <a:pt x="4903744" y="1374531"/>
                </a:lnTo>
                <a:lnTo>
                  <a:pt x="4923678" y="1336065"/>
                </a:lnTo>
                <a:lnTo>
                  <a:pt x="4943612" y="1376505"/>
                </a:lnTo>
                <a:lnTo>
                  <a:pt x="4963546" y="1371508"/>
                </a:lnTo>
              </a:path>
            </a:pathLst>
          </a:custGeom>
          <a:noFill/>
          <a:ln w="254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D5A2CDD0-5587-EA15-13F3-AC5BDE0A5AF7}"/>
              </a:ext>
            </a:extLst>
          </p:cNvPr>
          <p:cNvSpPr/>
          <p:nvPr/>
        </p:nvSpPr>
        <p:spPr>
          <a:xfrm>
            <a:off x="777240" y="3140742"/>
            <a:ext cx="4963546" cy="1235739"/>
          </a:xfrm>
          <a:custGeom>
            <a:avLst/>
            <a:gdLst/>
            <a:ahLst/>
            <a:cxnLst/>
            <a:rect l="l" t="t" r="r" b="b"/>
            <a:pathLst>
              <a:path w="4963546" h="1235739">
                <a:moveTo>
                  <a:pt x="0" y="1002450"/>
                </a:moveTo>
                <a:lnTo>
                  <a:pt x="19933" y="987302"/>
                </a:lnTo>
                <a:lnTo>
                  <a:pt x="39867" y="971490"/>
                </a:lnTo>
                <a:lnTo>
                  <a:pt x="59801" y="955012"/>
                </a:lnTo>
                <a:lnTo>
                  <a:pt x="79735" y="937867"/>
                </a:lnTo>
                <a:lnTo>
                  <a:pt x="99669" y="920057"/>
                </a:lnTo>
                <a:lnTo>
                  <a:pt x="119603" y="901586"/>
                </a:lnTo>
                <a:lnTo>
                  <a:pt x="139537" y="882463"/>
                </a:lnTo>
                <a:lnTo>
                  <a:pt x="159471" y="862696"/>
                </a:lnTo>
                <a:lnTo>
                  <a:pt x="179405" y="842300"/>
                </a:lnTo>
                <a:lnTo>
                  <a:pt x="199339" y="821291"/>
                </a:lnTo>
                <a:lnTo>
                  <a:pt x="219273" y="799687"/>
                </a:lnTo>
                <a:lnTo>
                  <a:pt x="239207" y="777512"/>
                </a:lnTo>
                <a:lnTo>
                  <a:pt x="259140" y="754792"/>
                </a:lnTo>
                <a:lnTo>
                  <a:pt x="279074" y="731555"/>
                </a:lnTo>
                <a:lnTo>
                  <a:pt x="299008" y="707835"/>
                </a:lnTo>
                <a:lnTo>
                  <a:pt x="318942" y="683667"/>
                </a:lnTo>
                <a:lnTo>
                  <a:pt x="338876" y="659091"/>
                </a:lnTo>
                <a:lnTo>
                  <a:pt x="358810" y="634149"/>
                </a:lnTo>
                <a:lnTo>
                  <a:pt x="378744" y="608887"/>
                </a:lnTo>
                <a:lnTo>
                  <a:pt x="398678" y="583354"/>
                </a:lnTo>
                <a:lnTo>
                  <a:pt x="418612" y="557602"/>
                </a:lnTo>
                <a:lnTo>
                  <a:pt x="438546" y="531686"/>
                </a:lnTo>
                <a:lnTo>
                  <a:pt x="458480" y="505663"/>
                </a:lnTo>
                <a:lnTo>
                  <a:pt x="478414" y="479594"/>
                </a:lnTo>
                <a:lnTo>
                  <a:pt x="498348" y="453540"/>
                </a:lnTo>
                <a:lnTo>
                  <a:pt x="518281" y="427567"/>
                </a:lnTo>
                <a:lnTo>
                  <a:pt x="538215" y="401742"/>
                </a:lnTo>
                <a:lnTo>
                  <a:pt x="558149" y="376132"/>
                </a:lnTo>
                <a:lnTo>
                  <a:pt x="578083" y="350806"/>
                </a:lnTo>
                <a:lnTo>
                  <a:pt x="598017" y="325836"/>
                </a:lnTo>
                <a:lnTo>
                  <a:pt x="617951" y="301293"/>
                </a:lnTo>
                <a:lnTo>
                  <a:pt x="637885" y="277248"/>
                </a:lnTo>
                <a:lnTo>
                  <a:pt x="657819" y="253773"/>
                </a:lnTo>
                <a:lnTo>
                  <a:pt x="677753" y="230939"/>
                </a:lnTo>
                <a:lnTo>
                  <a:pt x="697687" y="208817"/>
                </a:lnTo>
                <a:lnTo>
                  <a:pt x="717621" y="187478"/>
                </a:lnTo>
                <a:lnTo>
                  <a:pt x="737555" y="166989"/>
                </a:lnTo>
                <a:lnTo>
                  <a:pt x="757488" y="147417"/>
                </a:lnTo>
                <a:lnTo>
                  <a:pt x="777422" y="128826"/>
                </a:lnTo>
                <a:lnTo>
                  <a:pt x="797356" y="111279"/>
                </a:lnTo>
                <a:lnTo>
                  <a:pt x="817290" y="94835"/>
                </a:lnTo>
                <a:lnTo>
                  <a:pt x="837224" y="79550"/>
                </a:lnTo>
                <a:lnTo>
                  <a:pt x="857158" y="65478"/>
                </a:lnTo>
                <a:lnTo>
                  <a:pt x="877092" y="52666"/>
                </a:lnTo>
                <a:lnTo>
                  <a:pt x="897026" y="41159"/>
                </a:lnTo>
                <a:lnTo>
                  <a:pt x="916960" y="31000"/>
                </a:lnTo>
                <a:lnTo>
                  <a:pt x="936894" y="22223"/>
                </a:lnTo>
                <a:lnTo>
                  <a:pt x="956828" y="14860"/>
                </a:lnTo>
                <a:lnTo>
                  <a:pt x="976762" y="8937"/>
                </a:lnTo>
                <a:lnTo>
                  <a:pt x="996696" y="4476"/>
                </a:lnTo>
                <a:lnTo>
                  <a:pt x="1016629" y="1494"/>
                </a:lnTo>
                <a:lnTo>
                  <a:pt x="1036563" y="0"/>
                </a:lnTo>
                <a:lnTo>
                  <a:pt x="1056497" y="0"/>
                </a:lnTo>
                <a:lnTo>
                  <a:pt x="1076431" y="1494"/>
                </a:lnTo>
                <a:lnTo>
                  <a:pt x="1096365" y="4476"/>
                </a:lnTo>
                <a:lnTo>
                  <a:pt x="1116299" y="8937"/>
                </a:lnTo>
                <a:lnTo>
                  <a:pt x="1136233" y="14860"/>
                </a:lnTo>
                <a:lnTo>
                  <a:pt x="1156167" y="22223"/>
                </a:lnTo>
                <a:lnTo>
                  <a:pt x="1176101" y="31000"/>
                </a:lnTo>
                <a:lnTo>
                  <a:pt x="1196035" y="41159"/>
                </a:lnTo>
                <a:lnTo>
                  <a:pt x="1215969" y="52666"/>
                </a:lnTo>
                <a:lnTo>
                  <a:pt x="1235903" y="65478"/>
                </a:lnTo>
                <a:lnTo>
                  <a:pt x="1255836" y="79550"/>
                </a:lnTo>
                <a:lnTo>
                  <a:pt x="1275770" y="94835"/>
                </a:lnTo>
                <a:lnTo>
                  <a:pt x="1295704" y="111279"/>
                </a:lnTo>
                <a:lnTo>
                  <a:pt x="1315638" y="128826"/>
                </a:lnTo>
                <a:lnTo>
                  <a:pt x="1335572" y="147417"/>
                </a:lnTo>
                <a:lnTo>
                  <a:pt x="1355506" y="166989"/>
                </a:lnTo>
                <a:lnTo>
                  <a:pt x="1375440" y="187478"/>
                </a:lnTo>
                <a:lnTo>
                  <a:pt x="1395374" y="208817"/>
                </a:lnTo>
                <a:lnTo>
                  <a:pt x="1415308" y="230939"/>
                </a:lnTo>
                <a:lnTo>
                  <a:pt x="1435242" y="253773"/>
                </a:lnTo>
                <a:lnTo>
                  <a:pt x="1455176" y="277248"/>
                </a:lnTo>
                <a:lnTo>
                  <a:pt x="1475110" y="301293"/>
                </a:lnTo>
                <a:lnTo>
                  <a:pt x="1495044" y="325836"/>
                </a:lnTo>
                <a:lnTo>
                  <a:pt x="1514977" y="350806"/>
                </a:lnTo>
                <a:lnTo>
                  <a:pt x="1534911" y="376132"/>
                </a:lnTo>
                <a:lnTo>
                  <a:pt x="1554845" y="401742"/>
                </a:lnTo>
                <a:lnTo>
                  <a:pt x="1574779" y="427567"/>
                </a:lnTo>
                <a:lnTo>
                  <a:pt x="1594713" y="453540"/>
                </a:lnTo>
                <a:lnTo>
                  <a:pt x="1614647" y="479594"/>
                </a:lnTo>
                <a:lnTo>
                  <a:pt x="1634581" y="505663"/>
                </a:lnTo>
                <a:lnTo>
                  <a:pt x="1654515" y="531686"/>
                </a:lnTo>
                <a:lnTo>
                  <a:pt x="1674449" y="557602"/>
                </a:lnTo>
                <a:lnTo>
                  <a:pt x="1694383" y="583354"/>
                </a:lnTo>
                <a:lnTo>
                  <a:pt x="1714317" y="608887"/>
                </a:lnTo>
                <a:lnTo>
                  <a:pt x="1734251" y="634149"/>
                </a:lnTo>
                <a:lnTo>
                  <a:pt x="1754184" y="659091"/>
                </a:lnTo>
                <a:lnTo>
                  <a:pt x="1774118" y="683667"/>
                </a:lnTo>
                <a:lnTo>
                  <a:pt x="1794052" y="707835"/>
                </a:lnTo>
                <a:lnTo>
                  <a:pt x="1813986" y="731555"/>
                </a:lnTo>
                <a:lnTo>
                  <a:pt x="1833920" y="754792"/>
                </a:lnTo>
                <a:lnTo>
                  <a:pt x="1853854" y="777512"/>
                </a:lnTo>
                <a:lnTo>
                  <a:pt x="1873788" y="799687"/>
                </a:lnTo>
                <a:lnTo>
                  <a:pt x="1893722" y="821291"/>
                </a:lnTo>
                <a:lnTo>
                  <a:pt x="1913656" y="842300"/>
                </a:lnTo>
                <a:lnTo>
                  <a:pt x="1933590" y="862696"/>
                </a:lnTo>
                <a:lnTo>
                  <a:pt x="1953524" y="882463"/>
                </a:lnTo>
                <a:lnTo>
                  <a:pt x="1973458" y="901586"/>
                </a:lnTo>
                <a:lnTo>
                  <a:pt x="1993392" y="920057"/>
                </a:lnTo>
                <a:lnTo>
                  <a:pt x="2013325" y="937867"/>
                </a:lnTo>
                <a:lnTo>
                  <a:pt x="2033259" y="955012"/>
                </a:lnTo>
                <a:lnTo>
                  <a:pt x="2053193" y="971490"/>
                </a:lnTo>
                <a:lnTo>
                  <a:pt x="2073127" y="987302"/>
                </a:lnTo>
                <a:lnTo>
                  <a:pt x="2093061" y="1002450"/>
                </a:lnTo>
                <a:lnTo>
                  <a:pt x="2112995" y="1016939"/>
                </a:lnTo>
                <a:lnTo>
                  <a:pt x="2132929" y="1030777"/>
                </a:lnTo>
                <a:lnTo>
                  <a:pt x="2152863" y="1043971"/>
                </a:lnTo>
                <a:lnTo>
                  <a:pt x="2172797" y="1056533"/>
                </a:lnTo>
                <a:lnTo>
                  <a:pt x="2192731" y="1068475"/>
                </a:lnTo>
                <a:lnTo>
                  <a:pt x="2212665" y="1079810"/>
                </a:lnTo>
                <a:lnTo>
                  <a:pt x="2232599" y="1090552"/>
                </a:lnTo>
                <a:lnTo>
                  <a:pt x="2252532" y="1100718"/>
                </a:lnTo>
                <a:lnTo>
                  <a:pt x="2272466" y="1110323"/>
                </a:lnTo>
                <a:lnTo>
                  <a:pt x="2292400" y="1119387"/>
                </a:lnTo>
                <a:lnTo>
                  <a:pt x="2312334" y="1127925"/>
                </a:lnTo>
                <a:lnTo>
                  <a:pt x="2332268" y="1135958"/>
                </a:lnTo>
                <a:lnTo>
                  <a:pt x="2352202" y="1143504"/>
                </a:lnTo>
                <a:lnTo>
                  <a:pt x="2372136" y="1150583"/>
                </a:lnTo>
                <a:lnTo>
                  <a:pt x="2392070" y="1157213"/>
                </a:lnTo>
                <a:lnTo>
                  <a:pt x="2412004" y="1163415"/>
                </a:lnTo>
                <a:lnTo>
                  <a:pt x="2431938" y="1169207"/>
                </a:lnTo>
                <a:lnTo>
                  <a:pt x="2451872" y="1174610"/>
                </a:lnTo>
                <a:lnTo>
                  <a:pt x="2471806" y="1179641"/>
                </a:lnTo>
                <a:lnTo>
                  <a:pt x="2491740" y="1184321"/>
                </a:lnTo>
                <a:lnTo>
                  <a:pt x="2511673" y="1188668"/>
                </a:lnTo>
                <a:lnTo>
                  <a:pt x="2531607" y="1192699"/>
                </a:lnTo>
                <a:lnTo>
                  <a:pt x="2551541" y="1196432"/>
                </a:lnTo>
                <a:lnTo>
                  <a:pt x="2571475" y="1199885"/>
                </a:lnTo>
                <a:lnTo>
                  <a:pt x="2591409" y="1203074"/>
                </a:lnTo>
                <a:lnTo>
                  <a:pt x="2611343" y="1206016"/>
                </a:lnTo>
                <a:lnTo>
                  <a:pt x="2631277" y="1208725"/>
                </a:lnTo>
                <a:lnTo>
                  <a:pt x="2651211" y="1211217"/>
                </a:lnTo>
                <a:lnTo>
                  <a:pt x="2671145" y="1213506"/>
                </a:lnTo>
                <a:lnTo>
                  <a:pt x="2691079" y="1215606"/>
                </a:lnTo>
                <a:lnTo>
                  <a:pt x="2711013" y="1217530"/>
                </a:lnTo>
                <a:lnTo>
                  <a:pt x="2730947" y="1219289"/>
                </a:lnTo>
                <a:lnTo>
                  <a:pt x="2750880" y="1220897"/>
                </a:lnTo>
                <a:lnTo>
                  <a:pt x="2770814" y="1222364"/>
                </a:lnTo>
                <a:lnTo>
                  <a:pt x="2790748" y="1223700"/>
                </a:lnTo>
                <a:lnTo>
                  <a:pt x="2810682" y="1224916"/>
                </a:lnTo>
                <a:lnTo>
                  <a:pt x="2830616" y="1226021"/>
                </a:lnTo>
                <a:lnTo>
                  <a:pt x="2850550" y="1227023"/>
                </a:lnTo>
                <a:lnTo>
                  <a:pt x="2870484" y="1227932"/>
                </a:lnTo>
                <a:lnTo>
                  <a:pt x="2890418" y="1228754"/>
                </a:lnTo>
                <a:lnTo>
                  <a:pt x="2910352" y="1229498"/>
                </a:lnTo>
                <a:lnTo>
                  <a:pt x="2930286" y="1230169"/>
                </a:lnTo>
                <a:lnTo>
                  <a:pt x="2950220" y="1230774"/>
                </a:lnTo>
                <a:lnTo>
                  <a:pt x="2970154" y="1231318"/>
                </a:lnTo>
                <a:lnTo>
                  <a:pt x="2990088" y="1231808"/>
                </a:lnTo>
                <a:lnTo>
                  <a:pt x="3010021" y="1232247"/>
                </a:lnTo>
                <a:lnTo>
                  <a:pt x="3029955" y="1232641"/>
                </a:lnTo>
                <a:lnTo>
                  <a:pt x="3049889" y="1232994"/>
                </a:lnTo>
                <a:lnTo>
                  <a:pt x="3069823" y="1233310"/>
                </a:lnTo>
                <a:lnTo>
                  <a:pt x="3089757" y="1233592"/>
                </a:lnTo>
                <a:lnTo>
                  <a:pt x="3109691" y="1233844"/>
                </a:lnTo>
                <a:lnTo>
                  <a:pt x="3129625" y="1234068"/>
                </a:lnTo>
                <a:lnTo>
                  <a:pt x="3149559" y="1234267"/>
                </a:lnTo>
                <a:lnTo>
                  <a:pt x="3169493" y="1234444"/>
                </a:lnTo>
                <a:lnTo>
                  <a:pt x="3189427" y="1234602"/>
                </a:lnTo>
                <a:lnTo>
                  <a:pt x="3209361" y="1234741"/>
                </a:lnTo>
                <a:lnTo>
                  <a:pt x="3229295" y="1234864"/>
                </a:lnTo>
                <a:lnTo>
                  <a:pt x="3249228" y="1234973"/>
                </a:lnTo>
                <a:lnTo>
                  <a:pt x="3269162" y="1235070"/>
                </a:lnTo>
                <a:lnTo>
                  <a:pt x="3289096" y="1235155"/>
                </a:lnTo>
                <a:lnTo>
                  <a:pt x="3309030" y="1235229"/>
                </a:lnTo>
                <a:lnTo>
                  <a:pt x="3328964" y="1235295"/>
                </a:lnTo>
                <a:lnTo>
                  <a:pt x="3348898" y="1235353"/>
                </a:lnTo>
                <a:lnTo>
                  <a:pt x="3368832" y="1235403"/>
                </a:lnTo>
                <a:lnTo>
                  <a:pt x="3388766" y="1235448"/>
                </a:lnTo>
                <a:lnTo>
                  <a:pt x="3408700" y="1235487"/>
                </a:lnTo>
                <a:lnTo>
                  <a:pt x="3428634" y="1235520"/>
                </a:lnTo>
                <a:lnTo>
                  <a:pt x="3448568" y="1235550"/>
                </a:lnTo>
                <a:lnTo>
                  <a:pt x="3468502" y="1235576"/>
                </a:lnTo>
                <a:lnTo>
                  <a:pt x="3488436" y="1235598"/>
                </a:lnTo>
                <a:lnTo>
                  <a:pt x="3508369" y="1235618"/>
                </a:lnTo>
                <a:lnTo>
                  <a:pt x="3528303" y="1235635"/>
                </a:lnTo>
                <a:lnTo>
                  <a:pt x="3548237" y="1235649"/>
                </a:lnTo>
                <a:lnTo>
                  <a:pt x="3568171" y="1235662"/>
                </a:lnTo>
                <a:lnTo>
                  <a:pt x="3588105" y="1235673"/>
                </a:lnTo>
                <a:lnTo>
                  <a:pt x="3608039" y="1235683"/>
                </a:lnTo>
                <a:lnTo>
                  <a:pt x="3627973" y="1235691"/>
                </a:lnTo>
                <a:lnTo>
                  <a:pt x="3647907" y="1235698"/>
                </a:lnTo>
                <a:lnTo>
                  <a:pt x="3667841" y="1235704"/>
                </a:lnTo>
                <a:lnTo>
                  <a:pt x="3687775" y="1235709"/>
                </a:lnTo>
                <a:lnTo>
                  <a:pt x="3707709" y="1235714"/>
                </a:lnTo>
                <a:lnTo>
                  <a:pt x="3727643" y="1235718"/>
                </a:lnTo>
                <a:lnTo>
                  <a:pt x="3747576" y="1235721"/>
                </a:lnTo>
                <a:lnTo>
                  <a:pt x="3767510" y="1235724"/>
                </a:lnTo>
                <a:lnTo>
                  <a:pt x="3787444" y="1235726"/>
                </a:lnTo>
                <a:lnTo>
                  <a:pt x="3807378" y="1235728"/>
                </a:lnTo>
                <a:lnTo>
                  <a:pt x="3827312" y="1235730"/>
                </a:lnTo>
                <a:lnTo>
                  <a:pt x="3847246" y="1235731"/>
                </a:lnTo>
                <a:lnTo>
                  <a:pt x="3867180" y="1235733"/>
                </a:lnTo>
                <a:lnTo>
                  <a:pt x="3887114" y="1235734"/>
                </a:lnTo>
                <a:lnTo>
                  <a:pt x="3907048" y="1235735"/>
                </a:lnTo>
                <a:lnTo>
                  <a:pt x="3926982" y="1235735"/>
                </a:lnTo>
                <a:lnTo>
                  <a:pt x="3946916" y="1235736"/>
                </a:lnTo>
                <a:lnTo>
                  <a:pt x="3966850" y="1235737"/>
                </a:lnTo>
                <a:lnTo>
                  <a:pt x="3986784" y="1235737"/>
                </a:lnTo>
                <a:lnTo>
                  <a:pt x="4006717" y="1235737"/>
                </a:lnTo>
                <a:lnTo>
                  <a:pt x="4026651" y="1235738"/>
                </a:lnTo>
                <a:lnTo>
                  <a:pt x="4046585" y="1235738"/>
                </a:lnTo>
                <a:lnTo>
                  <a:pt x="4066519" y="1235738"/>
                </a:lnTo>
                <a:lnTo>
                  <a:pt x="4086453" y="1235738"/>
                </a:lnTo>
                <a:lnTo>
                  <a:pt x="4106387" y="1235739"/>
                </a:lnTo>
                <a:lnTo>
                  <a:pt x="4126321" y="1235739"/>
                </a:lnTo>
                <a:lnTo>
                  <a:pt x="4146255" y="1235739"/>
                </a:lnTo>
                <a:lnTo>
                  <a:pt x="4166189" y="1235739"/>
                </a:lnTo>
                <a:lnTo>
                  <a:pt x="4186123" y="1235739"/>
                </a:lnTo>
                <a:lnTo>
                  <a:pt x="4206057" y="1235739"/>
                </a:lnTo>
                <a:lnTo>
                  <a:pt x="4225991" y="1235739"/>
                </a:lnTo>
                <a:lnTo>
                  <a:pt x="4245924" y="1235739"/>
                </a:lnTo>
                <a:lnTo>
                  <a:pt x="4265858" y="1235739"/>
                </a:lnTo>
                <a:lnTo>
                  <a:pt x="4285792" y="1235739"/>
                </a:lnTo>
                <a:lnTo>
                  <a:pt x="4305726" y="1235739"/>
                </a:lnTo>
                <a:lnTo>
                  <a:pt x="4325660" y="1235739"/>
                </a:lnTo>
                <a:lnTo>
                  <a:pt x="4345594" y="1235739"/>
                </a:lnTo>
                <a:lnTo>
                  <a:pt x="4365528" y="1235739"/>
                </a:lnTo>
                <a:lnTo>
                  <a:pt x="4385462" y="1235739"/>
                </a:lnTo>
                <a:lnTo>
                  <a:pt x="4405396" y="1235739"/>
                </a:lnTo>
                <a:lnTo>
                  <a:pt x="4425330" y="1235739"/>
                </a:lnTo>
                <a:lnTo>
                  <a:pt x="4445264" y="1235739"/>
                </a:lnTo>
                <a:lnTo>
                  <a:pt x="4465198" y="1235739"/>
                </a:lnTo>
                <a:lnTo>
                  <a:pt x="4485132" y="1235739"/>
                </a:lnTo>
                <a:lnTo>
                  <a:pt x="4505065" y="1235739"/>
                </a:lnTo>
                <a:lnTo>
                  <a:pt x="4524999" y="1235739"/>
                </a:lnTo>
                <a:lnTo>
                  <a:pt x="4544933" y="1235739"/>
                </a:lnTo>
                <a:lnTo>
                  <a:pt x="4564867" y="1235739"/>
                </a:lnTo>
                <a:lnTo>
                  <a:pt x="4584801" y="1235739"/>
                </a:lnTo>
                <a:lnTo>
                  <a:pt x="4604735" y="1235739"/>
                </a:lnTo>
                <a:lnTo>
                  <a:pt x="4624669" y="1235739"/>
                </a:lnTo>
                <a:lnTo>
                  <a:pt x="4644603" y="1235739"/>
                </a:lnTo>
                <a:lnTo>
                  <a:pt x="4664537" y="1235739"/>
                </a:lnTo>
                <a:lnTo>
                  <a:pt x="4684471" y="1235739"/>
                </a:lnTo>
                <a:lnTo>
                  <a:pt x="4704405" y="1235739"/>
                </a:lnTo>
                <a:lnTo>
                  <a:pt x="4724339" y="1235739"/>
                </a:lnTo>
                <a:lnTo>
                  <a:pt x="4744272" y="1235739"/>
                </a:lnTo>
                <a:lnTo>
                  <a:pt x="4764206" y="1235739"/>
                </a:lnTo>
                <a:lnTo>
                  <a:pt x="4784140" y="1235739"/>
                </a:lnTo>
                <a:lnTo>
                  <a:pt x="4804074" y="1235739"/>
                </a:lnTo>
                <a:lnTo>
                  <a:pt x="4824008" y="1235739"/>
                </a:lnTo>
                <a:lnTo>
                  <a:pt x="4843942" y="1235739"/>
                </a:lnTo>
                <a:lnTo>
                  <a:pt x="4863876" y="1235739"/>
                </a:lnTo>
                <a:lnTo>
                  <a:pt x="4883810" y="1235739"/>
                </a:lnTo>
                <a:lnTo>
                  <a:pt x="4903744" y="1235739"/>
                </a:lnTo>
                <a:lnTo>
                  <a:pt x="4923678" y="1235739"/>
                </a:lnTo>
                <a:lnTo>
                  <a:pt x="4943612" y="1235739"/>
                </a:lnTo>
                <a:lnTo>
                  <a:pt x="4963546" y="1235739"/>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49F8E8B7-2DC5-4983-620C-05D3BC902B22}"/>
              </a:ext>
            </a:extLst>
          </p:cNvPr>
          <p:cNvSpPr txBox="1"/>
          <p:nvPr/>
        </p:nvSpPr>
        <p:spPr>
          <a:xfrm>
            <a:off x="685800" y="5029200"/>
            <a:ext cx="516636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縦の差を 二乗して 全時点で足す。</a:t>
            </a:r>
          </a:p>
        </p:txBody>
      </p:sp>
      <p:sp>
        <p:nvSpPr>
          <p:cNvPr id="69" name="Rounded Rectangle 68">
            <a:extLst>
              <a:ext uri="{FF2B5EF4-FFF2-40B4-BE49-F238E27FC236}">
                <a16:creationId xmlns:a16="http://schemas.microsoft.com/office/drawing/2014/main" id="{ADBD1A02-D562-C612-51CC-949951BE0904}"/>
              </a:ext>
            </a:extLst>
          </p:cNvPr>
          <p:cNvSpPr/>
          <p:nvPr/>
        </p:nvSpPr>
        <p:spPr>
          <a:xfrm>
            <a:off x="6153912" y="1737360"/>
            <a:ext cx="5532120" cy="3794760"/>
          </a:xfrm>
          <a:prstGeom prst="roundRect">
            <a:avLst>
              <a:gd name="adj" fmla="val 5748"/>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a:extLst>
              <a:ext uri="{FF2B5EF4-FFF2-40B4-BE49-F238E27FC236}">
                <a16:creationId xmlns:a16="http://schemas.microsoft.com/office/drawing/2014/main" id="{E900558E-59CB-0CAD-61D7-8DD8EDDDDA11}"/>
              </a:ext>
            </a:extLst>
          </p:cNvPr>
          <p:cNvSpPr txBox="1"/>
          <p:nvPr/>
        </p:nvSpPr>
        <p:spPr>
          <a:xfrm>
            <a:off x="6336792"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A8AA"/>
                </a:solidFill>
                <a:latin typeface="Meiryo"/>
                <a:ea typeface="Meiryo"/>
                <a:cs typeface="Meiryo"/>
              </a:rPr>
              <a:t>探索法の</a:t>
            </a:r>
            <a:r>
              <a:rPr lang="ja-JP" altLang="en-US" sz="2400" b="1">
                <a:solidFill>
                  <a:srgbClr val="00A8AA"/>
                </a:solidFill>
                <a:latin typeface="Meiryo"/>
                <a:ea typeface="Meiryo"/>
                <a:cs typeface="Meiryo"/>
              </a:rPr>
              <a:t>代表</a:t>
            </a:r>
            <a:endParaRPr sz="2400" b="1" dirty="0">
              <a:solidFill>
                <a:srgbClr val="00A8AA"/>
              </a:solidFill>
              <a:latin typeface="Meiryo"/>
              <a:ea typeface="Meiryo"/>
              <a:cs typeface="Meiryo"/>
            </a:endParaRPr>
          </a:p>
        </p:txBody>
      </p:sp>
      <p:sp>
        <p:nvSpPr>
          <p:cNvPr id="71" name="TextBox 70">
            <a:extLst>
              <a:ext uri="{FF2B5EF4-FFF2-40B4-BE49-F238E27FC236}">
                <a16:creationId xmlns:a16="http://schemas.microsoft.com/office/drawing/2014/main" id="{2EE70026-C091-9EDA-81D8-D2C11F2F6B3E}"/>
              </a:ext>
            </a:extLst>
          </p:cNvPr>
          <p:cNvSpPr txBox="1"/>
          <p:nvPr/>
        </p:nvSpPr>
        <p:spPr>
          <a:xfrm>
            <a:off x="6336792"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Levenberg–Marquardt 法</a:t>
            </a:r>
          </a:p>
        </p:txBody>
      </p:sp>
      <p:sp>
        <p:nvSpPr>
          <p:cNvPr id="5" name="Freeform 4">
            <a:extLst>
              <a:ext uri="{FF2B5EF4-FFF2-40B4-BE49-F238E27FC236}">
                <a16:creationId xmlns:a16="http://schemas.microsoft.com/office/drawing/2014/main" id="{2100CD6C-5F75-5654-A7CE-9B8CF9D3A0A3}"/>
              </a:ext>
            </a:extLst>
          </p:cNvPr>
          <p:cNvSpPr/>
          <p:nvPr/>
        </p:nvSpPr>
        <p:spPr>
          <a:xfrm>
            <a:off x="6355080"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a:extLst>
              <a:ext uri="{FF2B5EF4-FFF2-40B4-BE49-F238E27FC236}">
                <a16:creationId xmlns:a16="http://schemas.microsoft.com/office/drawing/2014/main" id="{F6BBDF11-FD71-7AB5-FDBF-9E05E30A02F4}"/>
              </a:ext>
            </a:extLst>
          </p:cNvPr>
          <p:cNvSpPr/>
          <p:nvPr/>
        </p:nvSpPr>
        <p:spPr>
          <a:xfrm>
            <a:off x="6355080" y="3251507"/>
            <a:ext cx="1457187" cy="743231"/>
          </a:xfrm>
          <a:custGeom>
            <a:avLst/>
            <a:gdLst/>
            <a:ahLst/>
            <a:cxnLst/>
            <a:rect l="l" t="t" r="r" b="b"/>
            <a:pathLst>
              <a:path w="1457187" h="743231">
                <a:moveTo>
                  <a:pt x="0" y="663164"/>
                </a:moveTo>
                <a:lnTo>
                  <a:pt x="5852" y="655375"/>
                </a:lnTo>
                <a:lnTo>
                  <a:pt x="11704" y="647018"/>
                </a:lnTo>
                <a:lnTo>
                  <a:pt x="17556" y="638074"/>
                </a:lnTo>
                <a:lnTo>
                  <a:pt x="23408" y="628526"/>
                </a:lnTo>
                <a:lnTo>
                  <a:pt x="29260" y="618357"/>
                </a:lnTo>
                <a:lnTo>
                  <a:pt x="35112" y="607555"/>
                </a:lnTo>
                <a:lnTo>
                  <a:pt x="40965" y="596110"/>
                </a:lnTo>
                <a:lnTo>
                  <a:pt x="46817" y="584014"/>
                </a:lnTo>
                <a:lnTo>
                  <a:pt x="52669" y="571264"/>
                </a:lnTo>
                <a:lnTo>
                  <a:pt x="58521" y="557859"/>
                </a:lnTo>
                <a:lnTo>
                  <a:pt x="64373" y="543803"/>
                </a:lnTo>
                <a:lnTo>
                  <a:pt x="70225" y="529105"/>
                </a:lnTo>
                <a:lnTo>
                  <a:pt x="76078" y="513778"/>
                </a:lnTo>
                <a:lnTo>
                  <a:pt x="81930" y="497839"/>
                </a:lnTo>
                <a:lnTo>
                  <a:pt x="87782" y="481310"/>
                </a:lnTo>
                <a:lnTo>
                  <a:pt x="93634" y="464219"/>
                </a:lnTo>
                <a:lnTo>
                  <a:pt x="99486" y="446600"/>
                </a:lnTo>
                <a:lnTo>
                  <a:pt x="105338" y="428491"/>
                </a:lnTo>
                <a:lnTo>
                  <a:pt x="111191" y="409935"/>
                </a:lnTo>
                <a:lnTo>
                  <a:pt x="117043" y="390981"/>
                </a:lnTo>
                <a:lnTo>
                  <a:pt x="122895" y="371685"/>
                </a:lnTo>
                <a:lnTo>
                  <a:pt x="128747" y="352104"/>
                </a:lnTo>
                <a:lnTo>
                  <a:pt x="134599" y="332305"/>
                </a:lnTo>
                <a:lnTo>
                  <a:pt x="140451" y="312354"/>
                </a:lnTo>
                <a:lnTo>
                  <a:pt x="146304" y="292327"/>
                </a:lnTo>
                <a:lnTo>
                  <a:pt x="152156" y="272300"/>
                </a:lnTo>
                <a:lnTo>
                  <a:pt x="158008" y="252355"/>
                </a:lnTo>
                <a:lnTo>
                  <a:pt x="163860" y="232574"/>
                </a:lnTo>
                <a:lnTo>
                  <a:pt x="169712" y="213044"/>
                </a:lnTo>
                <a:lnTo>
                  <a:pt x="175564" y="193854"/>
                </a:lnTo>
                <a:lnTo>
                  <a:pt x="181416" y="175093"/>
                </a:lnTo>
                <a:lnTo>
                  <a:pt x="187269" y="156850"/>
                </a:lnTo>
                <a:lnTo>
                  <a:pt x="193121" y="139216"/>
                </a:lnTo>
                <a:lnTo>
                  <a:pt x="198973" y="122279"/>
                </a:lnTo>
                <a:lnTo>
                  <a:pt x="204825" y="106127"/>
                </a:lnTo>
                <a:lnTo>
                  <a:pt x="210677" y="90845"/>
                </a:lnTo>
                <a:lnTo>
                  <a:pt x="216529" y="76514"/>
                </a:lnTo>
                <a:lnTo>
                  <a:pt x="222382" y="63214"/>
                </a:lnTo>
                <a:lnTo>
                  <a:pt x="228234" y="51017"/>
                </a:lnTo>
                <a:lnTo>
                  <a:pt x="234086" y="39991"/>
                </a:lnTo>
                <a:lnTo>
                  <a:pt x="239938" y="30200"/>
                </a:lnTo>
                <a:lnTo>
                  <a:pt x="245790" y="21699"/>
                </a:lnTo>
                <a:lnTo>
                  <a:pt x="251642" y="14537"/>
                </a:lnTo>
                <a:lnTo>
                  <a:pt x="257495" y="8757"/>
                </a:lnTo>
                <a:lnTo>
                  <a:pt x="263347" y="4391"/>
                </a:lnTo>
                <a:lnTo>
                  <a:pt x="269199" y="1467"/>
                </a:lnTo>
                <a:lnTo>
                  <a:pt x="275051" y="0"/>
                </a:lnTo>
                <a:lnTo>
                  <a:pt x="280903" y="0"/>
                </a:lnTo>
                <a:lnTo>
                  <a:pt x="286755" y="1467"/>
                </a:lnTo>
                <a:lnTo>
                  <a:pt x="292608" y="4391"/>
                </a:lnTo>
                <a:lnTo>
                  <a:pt x="298460" y="8757"/>
                </a:lnTo>
                <a:lnTo>
                  <a:pt x="304312" y="14537"/>
                </a:lnTo>
                <a:lnTo>
                  <a:pt x="310164" y="21699"/>
                </a:lnTo>
                <a:lnTo>
                  <a:pt x="316016" y="30200"/>
                </a:lnTo>
                <a:lnTo>
                  <a:pt x="321868" y="39991"/>
                </a:lnTo>
                <a:lnTo>
                  <a:pt x="327720" y="51017"/>
                </a:lnTo>
                <a:lnTo>
                  <a:pt x="333573" y="63214"/>
                </a:lnTo>
                <a:lnTo>
                  <a:pt x="339425" y="76514"/>
                </a:lnTo>
                <a:lnTo>
                  <a:pt x="345277" y="90845"/>
                </a:lnTo>
                <a:lnTo>
                  <a:pt x="351129" y="106127"/>
                </a:lnTo>
                <a:lnTo>
                  <a:pt x="356981" y="122279"/>
                </a:lnTo>
                <a:lnTo>
                  <a:pt x="362833" y="139216"/>
                </a:lnTo>
                <a:lnTo>
                  <a:pt x="368686" y="156850"/>
                </a:lnTo>
                <a:lnTo>
                  <a:pt x="374538" y="175093"/>
                </a:lnTo>
                <a:lnTo>
                  <a:pt x="380390" y="193854"/>
                </a:lnTo>
                <a:lnTo>
                  <a:pt x="386242" y="213044"/>
                </a:lnTo>
                <a:lnTo>
                  <a:pt x="392094" y="232574"/>
                </a:lnTo>
                <a:lnTo>
                  <a:pt x="397946" y="252355"/>
                </a:lnTo>
                <a:lnTo>
                  <a:pt x="403799" y="272300"/>
                </a:lnTo>
                <a:lnTo>
                  <a:pt x="409651" y="292327"/>
                </a:lnTo>
                <a:lnTo>
                  <a:pt x="415503" y="312354"/>
                </a:lnTo>
                <a:lnTo>
                  <a:pt x="421355" y="332305"/>
                </a:lnTo>
                <a:lnTo>
                  <a:pt x="427207" y="352104"/>
                </a:lnTo>
                <a:lnTo>
                  <a:pt x="433059" y="371685"/>
                </a:lnTo>
                <a:lnTo>
                  <a:pt x="438912" y="390981"/>
                </a:lnTo>
                <a:lnTo>
                  <a:pt x="444764" y="409935"/>
                </a:lnTo>
                <a:lnTo>
                  <a:pt x="450616" y="428491"/>
                </a:lnTo>
                <a:lnTo>
                  <a:pt x="456468" y="446600"/>
                </a:lnTo>
                <a:lnTo>
                  <a:pt x="462320" y="464219"/>
                </a:lnTo>
                <a:lnTo>
                  <a:pt x="468172" y="481310"/>
                </a:lnTo>
                <a:lnTo>
                  <a:pt x="474024" y="497839"/>
                </a:lnTo>
                <a:lnTo>
                  <a:pt x="479877" y="513778"/>
                </a:lnTo>
                <a:lnTo>
                  <a:pt x="485729" y="529105"/>
                </a:lnTo>
                <a:lnTo>
                  <a:pt x="491581" y="543803"/>
                </a:lnTo>
                <a:lnTo>
                  <a:pt x="497433" y="557859"/>
                </a:lnTo>
                <a:lnTo>
                  <a:pt x="503285" y="571264"/>
                </a:lnTo>
                <a:lnTo>
                  <a:pt x="509137" y="584014"/>
                </a:lnTo>
                <a:lnTo>
                  <a:pt x="514990" y="596110"/>
                </a:lnTo>
                <a:lnTo>
                  <a:pt x="520842" y="607555"/>
                </a:lnTo>
                <a:lnTo>
                  <a:pt x="526694" y="618357"/>
                </a:lnTo>
                <a:lnTo>
                  <a:pt x="532546" y="628526"/>
                </a:lnTo>
                <a:lnTo>
                  <a:pt x="538398" y="638074"/>
                </a:lnTo>
                <a:lnTo>
                  <a:pt x="544250" y="647018"/>
                </a:lnTo>
                <a:lnTo>
                  <a:pt x="550103" y="655375"/>
                </a:lnTo>
                <a:lnTo>
                  <a:pt x="555955" y="663164"/>
                </a:lnTo>
                <a:lnTo>
                  <a:pt x="561807" y="670407"/>
                </a:lnTo>
                <a:lnTo>
                  <a:pt x="567659" y="677125"/>
                </a:lnTo>
                <a:lnTo>
                  <a:pt x="573511" y="683342"/>
                </a:lnTo>
                <a:lnTo>
                  <a:pt x="579363" y="689082"/>
                </a:lnTo>
                <a:lnTo>
                  <a:pt x="585216" y="694367"/>
                </a:lnTo>
                <a:lnTo>
                  <a:pt x="591068" y="699224"/>
                </a:lnTo>
                <a:lnTo>
                  <a:pt x="596920" y="703677"/>
                </a:lnTo>
                <a:lnTo>
                  <a:pt x="602772" y="707749"/>
                </a:lnTo>
                <a:lnTo>
                  <a:pt x="608624" y="711464"/>
                </a:lnTo>
                <a:lnTo>
                  <a:pt x="614476" y="714847"/>
                </a:lnTo>
                <a:lnTo>
                  <a:pt x="620328" y="717920"/>
                </a:lnTo>
                <a:lnTo>
                  <a:pt x="626181" y="720704"/>
                </a:lnTo>
                <a:lnTo>
                  <a:pt x="632033" y="723222"/>
                </a:lnTo>
                <a:lnTo>
                  <a:pt x="637885" y="725493"/>
                </a:lnTo>
                <a:lnTo>
                  <a:pt x="643737" y="727538"/>
                </a:lnTo>
                <a:lnTo>
                  <a:pt x="649589" y="729374"/>
                </a:lnTo>
                <a:lnTo>
                  <a:pt x="655441" y="731020"/>
                </a:lnTo>
                <a:lnTo>
                  <a:pt x="661294" y="732491"/>
                </a:lnTo>
                <a:lnTo>
                  <a:pt x="667146" y="733804"/>
                </a:lnTo>
                <a:lnTo>
                  <a:pt x="672998" y="734972"/>
                </a:lnTo>
                <a:lnTo>
                  <a:pt x="678850" y="736010"/>
                </a:lnTo>
                <a:lnTo>
                  <a:pt x="684702" y="736930"/>
                </a:lnTo>
                <a:lnTo>
                  <a:pt x="690554" y="737744"/>
                </a:lnTo>
                <a:lnTo>
                  <a:pt x="696407" y="738462"/>
                </a:lnTo>
                <a:lnTo>
                  <a:pt x="702259" y="739094"/>
                </a:lnTo>
                <a:lnTo>
                  <a:pt x="708111" y="739650"/>
                </a:lnTo>
                <a:lnTo>
                  <a:pt x="713963" y="740137"/>
                </a:lnTo>
                <a:lnTo>
                  <a:pt x="719815" y="740563"/>
                </a:lnTo>
                <a:lnTo>
                  <a:pt x="725667" y="740935"/>
                </a:lnTo>
                <a:lnTo>
                  <a:pt x="731520" y="741259"/>
                </a:lnTo>
                <a:lnTo>
                  <a:pt x="737372" y="741540"/>
                </a:lnTo>
                <a:lnTo>
                  <a:pt x="743224" y="741785"/>
                </a:lnTo>
                <a:lnTo>
                  <a:pt x="749076" y="741996"/>
                </a:lnTo>
                <a:lnTo>
                  <a:pt x="754928" y="742179"/>
                </a:lnTo>
                <a:lnTo>
                  <a:pt x="760780" y="742336"/>
                </a:lnTo>
                <a:lnTo>
                  <a:pt x="766632" y="742471"/>
                </a:lnTo>
                <a:lnTo>
                  <a:pt x="772485" y="742588"/>
                </a:lnTo>
                <a:lnTo>
                  <a:pt x="778337" y="742687"/>
                </a:lnTo>
                <a:lnTo>
                  <a:pt x="784189" y="742772"/>
                </a:lnTo>
                <a:lnTo>
                  <a:pt x="790041" y="742844"/>
                </a:lnTo>
                <a:lnTo>
                  <a:pt x="795893" y="742906"/>
                </a:lnTo>
                <a:lnTo>
                  <a:pt x="801745" y="742959"/>
                </a:lnTo>
                <a:lnTo>
                  <a:pt x="807598" y="743003"/>
                </a:lnTo>
                <a:lnTo>
                  <a:pt x="813450" y="743040"/>
                </a:lnTo>
                <a:lnTo>
                  <a:pt x="819302" y="743072"/>
                </a:lnTo>
                <a:lnTo>
                  <a:pt x="825154" y="743099"/>
                </a:lnTo>
                <a:lnTo>
                  <a:pt x="831006" y="743121"/>
                </a:lnTo>
                <a:lnTo>
                  <a:pt x="836858" y="743140"/>
                </a:lnTo>
                <a:lnTo>
                  <a:pt x="842711" y="743156"/>
                </a:lnTo>
                <a:lnTo>
                  <a:pt x="848563" y="743169"/>
                </a:lnTo>
                <a:lnTo>
                  <a:pt x="854415" y="743180"/>
                </a:lnTo>
                <a:lnTo>
                  <a:pt x="860267" y="743189"/>
                </a:lnTo>
                <a:lnTo>
                  <a:pt x="866119" y="743196"/>
                </a:lnTo>
                <a:lnTo>
                  <a:pt x="871971" y="743203"/>
                </a:lnTo>
                <a:lnTo>
                  <a:pt x="877824" y="743208"/>
                </a:lnTo>
                <a:lnTo>
                  <a:pt x="883676" y="743212"/>
                </a:lnTo>
                <a:lnTo>
                  <a:pt x="889528" y="743216"/>
                </a:lnTo>
                <a:lnTo>
                  <a:pt x="895380" y="743219"/>
                </a:lnTo>
                <a:lnTo>
                  <a:pt x="901232" y="743221"/>
                </a:lnTo>
                <a:lnTo>
                  <a:pt x="907084" y="743223"/>
                </a:lnTo>
                <a:lnTo>
                  <a:pt x="912936" y="743224"/>
                </a:lnTo>
                <a:lnTo>
                  <a:pt x="918789" y="743226"/>
                </a:lnTo>
                <a:lnTo>
                  <a:pt x="924641" y="743227"/>
                </a:lnTo>
                <a:lnTo>
                  <a:pt x="930493" y="743228"/>
                </a:lnTo>
                <a:lnTo>
                  <a:pt x="936345" y="743228"/>
                </a:lnTo>
                <a:lnTo>
                  <a:pt x="942197" y="743229"/>
                </a:lnTo>
                <a:lnTo>
                  <a:pt x="948049" y="743229"/>
                </a:lnTo>
                <a:lnTo>
                  <a:pt x="953902" y="743230"/>
                </a:lnTo>
                <a:lnTo>
                  <a:pt x="959754" y="743230"/>
                </a:lnTo>
                <a:lnTo>
                  <a:pt x="965606" y="743230"/>
                </a:lnTo>
                <a:lnTo>
                  <a:pt x="971458" y="743230"/>
                </a:lnTo>
                <a:lnTo>
                  <a:pt x="977310" y="743230"/>
                </a:lnTo>
                <a:lnTo>
                  <a:pt x="983162" y="743231"/>
                </a:lnTo>
                <a:lnTo>
                  <a:pt x="989015" y="743231"/>
                </a:lnTo>
                <a:lnTo>
                  <a:pt x="994867" y="743231"/>
                </a:lnTo>
                <a:lnTo>
                  <a:pt x="1000719" y="743231"/>
                </a:lnTo>
                <a:lnTo>
                  <a:pt x="1006571" y="743231"/>
                </a:lnTo>
                <a:lnTo>
                  <a:pt x="1012423" y="743231"/>
                </a:lnTo>
                <a:lnTo>
                  <a:pt x="1018275" y="743231"/>
                </a:lnTo>
                <a:lnTo>
                  <a:pt x="1024128" y="743231"/>
                </a:lnTo>
                <a:lnTo>
                  <a:pt x="1029980" y="743231"/>
                </a:lnTo>
                <a:lnTo>
                  <a:pt x="1035832" y="743231"/>
                </a:lnTo>
                <a:lnTo>
                  <a:pt x="1041684" y="743231"/>
                </a:lnTo>
                <a:lnTo>
                  <a:pt x="1047536" y="743231"/>
                </a:lnTo>
                <a:lnTo>
                  <a:pt x="1053388" y="743231"/>
                </a:lnTo>
                <a:lnTo>
                  <a:pt x="1059240" y="743231"/>
                </a:lnTo>
                <a:lnTo>
                  <a:pt x="1065093" y="743231"/>
                </a:lnTo>
                <a:lnTo>
                  <a:pt x="1070945" y="743231"/>
                </a:lnTo>
                <a:lnTo>
                  <a:pt x="1076797" y="743231"/>
                </a:lnTo>
                <a:lnTo>
                  <a:pt x="1082649" y="743231"/>
                </a:lnTo>
                <a:lnTo>
                  <a:pt x="1088501" y="743231"/>
                </a:lnTo>
                <a:lnTo>
                  <a:pt x="1094353" y="743231"/>
                </a:lnTo>
                <a:lnTo>
                  <a:pt x="1100206" y="743231"/>
                </a:lnTo>
                <a:lnTo>
                  <a:pt x="1106058" y="743231"/>
                </a:lnTo>
                <a:lnTo>
                  <a:pt x="1111910" y="743231"/>
                </a:lnTo>
                <a:lnTo>
                  <a:pt x="1117762" y="743231"/>
                </a:lnTo>
                <a:lnTo>
                  <a:pt x="1123614" y="743231"/>
                </a:lnTo>
                <a:lnTo>
                  <a:pt x="1129466" y="743231"/>
                </a:lnTo>
                <a:lnTo>
                  <a:pt x="1135319" y="743231"/>
                </a:lnTo>
                <a:lnTo>
                  <a:pt x="1141171" y="743231"/>
                </a:lnTo>
                <a:lnTo>
                  <a:pt x="1147023" y="743231"/>
                </a:lnTo>
                <a:lnTo>
                  <a:pt x="1152875" y="743231"/>
                </a:lnTo>
                <a:lnTo>
                  <a:pt x="1158727" y="743231"/>
                </a:lnTo>
                <a:lnTo>
                  <a:pt x="1164579" y="743231"/>
                </a:lnTo>
                <a:lnTo>
                  <a:pt x="1170432" y="743231"/>
                </a:lnTo>
                <a:lnTo>
                  <a:pt x="1176284" y="743231"/>
                </a:lnTo>
                <a:lnTo>
                  <a:pt x="1182136" y="743231"/>
                </a:lnTo>
                <a:lnTo>
                  <a:pt x="1187988" y="743231"/>
                </a:lnTo>
                <a:lnTo>
                  <a:pt x="1193840" y="743231"/>
                </a:lnTo>
                <a:lnTo>
                  <a:pt x="1199692" y="743231"/>
                </a:lnTo>
                <a:lnTo>
                  <a:pt x="1205544" y="743231"/>
                </a:lnTo>
                <a:lnTo>
                  <a:pt x="1211397" y="743231"/>
                </a:lnTo>
                <a:lnTo>
                  <a:pt x="1217249" y="743231"/>
                </a:lnTo>
                <a:lnTo>
                  <a:pt x="1223101" y="743231"/>
                </a:lnTo>
                <a:lnTo>
                  <a:pt x="1228953" y="743231"/>
                </a:lnTo>
                <a:lnTo>
                  <a:pt x="1234805" y="743231"/>
                </a:lnTo>
                <a:lnTo>
                  <a:pt x="1240657" y="743231"/>
                </a:lnTo>
                <a:lnTo>
                  <a:pt x="1246510" y="743231"/>
                </a:lnTo>
                <a:lnTo>
                  <a:pt x="1252362" y="743231"/>
                </a:lnTo>
                <a:lnTo>
                  <a:pt x="1258214" y="743231"/>
                </a:lnTo>
                <a:lnTo>
                  <a:pt x="1264066" y="743231"/>
                </a:lnTo>
                <a:lnTo>
                  <a:pt x="1269918" y="743231"/>
                </a:lnTo>
                <a:lnTo>
                  <a:pt x="1275770" y="743231"/>
                </a:lnTo>
                <a:lnTo>
                  <a:pt x="1281623" y="743231"/>
                </a:lnTo>
                <a:lnTo>
                  <a:pt x="1287475" y="743231"/>
                </a:lnTo>
                <a:lnTo>
                  <a:pt x="1293327" y="743231"/>
                </a:lnTo>
                <a:lnTo>
                  <a:pt x="1299179" y="743231"/>
                </a:lnTo>
                <a:lnTo>
                  <a:pt x="1305031" y="743231"/>
                </a:lnTo>
                <a:lnTo>
                  <a:pt x="1310883" y="743231"/>
                </a:lnTo>
                <a:lnTo>
                  <a:pt x="1316736" y="743231"/>
                </a:lnTo>
                <a:lnTo>
                  <a:pt x="1322588" y="743231"/>
                </a:lnTo>
                <a:lnTo>
                  <a:pt x="1328440" y="743231"/>
                </a:lnTo>
                <a:lnTo>
                  <a:pt x="1334292" y="743231"/>
                </a:lnTo>
                <a:lnTo>
                  <a:pt x="1340144" y="743231"/>
                </a:lnTo>
                <a:lnTo>
                  <a:pt x="1345996" y="743231"/>
                </a:lnTo>
                <a:lnTo>
                  <a:pt x="1351848" y="743231"/>
                </a:lnTo>
                <a:lnTo>
                  <a:pt x="1357701" y="743231"/>
                </a:lnTo>
                <a:lnTo>
                  <a:pt x="1363553" y="743231"/>
                </a:lnTo>
                <a:lnTo>
                  <a:pt x="1369405" y="743231"/>
                </a:lnTo>
                <a:lnTo>
                  <a:pt x="1375257" y="743231"/>
                </a:lnTo>
                <a:lnTo>
                  <a:pt x="1381109" y="743231"/>
                </a:lnTo>
                <a:lnTo>
                  <a:pt x="1386961" y="743231"/>
                </a:lnTo>
                <a:lnTo>
                  <a:pt x="1392814" y="743231"/>
                </a:lnTo>
                <a:lnTo>
                  <a:pt x="1398666" y="743231"/>
                </a:lnTo>
                <a:lnTo>
                  <a:pt x="1404518" y="743231"/>
                </a:lnTo>
                <a:lnTo>
                  <a:pt x="1410370" y="743231"/>
                </a:lnTo>
                <a:lnTo>
                  <a:pt x="1416222" y="743231"/>
                </a:lnTo>
                <a:lnTo>
                  <a:pt x="1422074" y="743231"/>
                </a:lnTo>
                <a:lnTo>
                  <a:pt x="1427927" y="743231"/>
                </a:lnTo>
                <a:lnTo>
                  <a:pt x="1433779" y="743231"/>
                </a:lnTo>
                <a:lnTo>
                  <a:pt x="1439631" y="743231"/>
                </a:lnTo>
                <a:lnTo>
                  <a:pt x="1445483" y="743231"/>
                </a:lnTo>
                <a:lnTo>
                  <a:pt x="1451335" y="743231"/>
                </a:lnTo>
                <a:lnTo>
                  <a:pt x="1457187" y="743231"/>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a:extLst>
              <a:ext uri="{FF2B5EF4-FFF2-40B4-BE49-F238E27FC236}">
                <a16:creationId xmlns:a16="http://schemas.microsoft.com/office/drawing/2014/main" id="{7C809C6A-F9D6-6392-FCD9-A0EEBB2106CE}"/>
              </a:ext>
            </a:extLst>
          </p:cNvPr>
          <p:cNvSpPr/>
          <p:nvPr/>
        </p:nvSpPr>
        <p:spPr>
          <a:xfrm>
            <a:off x="6355080" y="3715958"/>
            <a:ext cx="1457187" cy="278780"/>
          </a:xfrm>
          <a:custGeom>
            <a:avLst/>
            <a:gdLst/>
            <a:ahLst/>
            <a:cxnLst/>
            <a:rect l="l" t="t" r="r" b="b"/>
            <a:pathLst>
              <a:path w="1457187" h="278780">
                <a:moveTo>
                  <a:pt x="0" y="277702"/>
                </a:moveTo>
                <a:lnTo>
                  <a:pt x="5852" y="277531"/>
                </a:lnTo>
                <a:lnTo>
                  <a:pt x="11704" y="277336"/>
                </a:lnTo>
                <a:lnTo>
                  <a:pt x="17556" y="277114"/>
                </a:lnTo>
                <a:lnTo>
                  <a:pt x="23408" y="276861"/>
                </a:lnTo>
                <a:lnTo>
                  <a:pt x="29260" y="276575"/>
                </a:lnTo>
                <a:lnTo>
                  <a:pt x="35112" y="276250"/>
                </a:lnTo>
                <a:lnTo>
                  <a:pt x="40965" y="275884"/>
                </a:lnTo>
                <a:lnTo>
                  <a:pt x="46817" y="275470"/>
                </a:lnTo>
                <a:lnTo>
                  <a:pt x="52669" y="275006"/>
                </a:lnTo>
                <a:lnTo>
                  <a:pt x="58521" y="274484"/>
                </a:lnTo>
                <a:lnTo>
                  <a:pt x="64373" y="273901"/>
                </a:lnTo>
                <a:lnTo>
                  <a:pt x="70225" y="273249"/>
                </a:lnTo>
                <a:lnTo>
                  <a:pt x="76078" y="272522"/>
                </a:lnTo>
                <a:lnTo>
                  <a:pt x="81930" y="271714"/>
                </a:lnTo>
                <a:lnTo>
                  <a:pt x="87782" y="270817"/>
                </a:lnTo>
                <a:lnTo>
                  <a:pt x="93634" y="269823"/>
                </a:lnTo>
                <a:lnTo>
                  <a:pt x="99486" y="268726"/>
                </a:lnTo>
                <a:lnTo>
                  <a:pt x="105338" y="267517"/>
                </a:lnTo>
                <a:lnTo>
                  <a:pt x="111191" y="266187"/>
                </a:lnTo>
                <a:lnTo>
                  <a:pt x="117043" y="264728"/>
                </a:lnTo>
                <a:lnTo>
                  <a:pt x="122895" y="263131"/>
                </a:lnTo>
                <a:lnTo>
                  <a:pt x="128747" y="261386"/>
                </a:lnTo>
                <a:lnTo>
                  <a:pt x="134599" y="259486"/>
                </a:lnTo>
                <a:lnTo>
                  <a:pt x="140451" y="257420"/>
                </a:lnTo>
                <a:lnTo>
                  <a:pt x="146304" y="255179"/>
                </a:lnTo>
                <a:lnTo>
                  <a:pt x="152156" y="252755"/>
                </a:lnTo>
                <a:lnTo>
                  <a:pt x="158008" y="250138"/>
                </a:lnTo>
                <a:lnTo>
                  <a:pt x="163860" y="247321"/>
                </a:lnTo>
                <a:lnTo>
                  <a:pt x="169712" y="244294"/>
                </a:lnTo>
                <a:lnTo>
                  <a:pt x="175564" y="241051"/>
                </a:lnTo>
                <a:lnTo>
                  <a:pt x="181416" y="237585"/>
                </a:lnTo>
                <a:lnTo>
                  <a:pt x="187269" y="233888"/>
                </a:lnTo>
                <a:lnTo>
                  <a:pt x="193121" y="229957"/>
                </a:lnTo>
                <a:lnTo>
                  <a:pt x="198973" y="225786"/>
                </a:lnTo>
                <a:lnTo>
                  <a:pt x="204825" y="221372"/>
                </a:lnTo>
                <a:lnTo>
                  <a:pt x="210677" y="216714"/>
                </a:lnTo>
                <a:lnTo>
                  <a:pt x="216529" y="211810"/>
                </a:lnTo>
                <a:lnTo>
                  <a:pt x="222382" y="206660"/>
                </a:lnTo>
                <a:lnTo>
                  <a:pt x="228234" y="201269"/>
                </a:lnTo>
                <a:lnTo>
                  <a:pt x="234086" y="195638"/>
                </a:lnTo>
                <a:lnTo>
                  <a:pt x="239938" y="189775"/>
                </a:lnTo>
                <a:lnTo>
                  <a:pt x="245790" y="183686"/>
                </a:lnTo>
                <a:lnTo>
                  <a:pt x="251642" y="177381"/>
                </a:lnTo>
                <a:lnTo>
                  <a:pt x="257495" y="170871"/>
                </a:lnTo>
                <a:lnTo>
                  <a:pt x="263347" y="164170"/>
                </a:lnTo>
                <a:lnTo>
                  <a:pt x="269199" y="157293"/>
                </a:lnTo>
                <a:lnTo>
                  <a:pt x="275051" y="150258"/>
                </a:lnTo>
                <a:lnTo>
                  <a:pt x="280903" y="143083"/>
                </a:lnTo>
                <a:lnTo>
                  <a:pt x="286755" y="135791"/>
                </a:lnTo>
                <a:lnTo>
                  <a:pt x="292608" y="128404"/>
                </a:lnTo>
                <a:lnTo>
                  <a:pt x="298460" y="120947"/>
                </a:lnTo>
                <a:lnTo>
                  <a:pt x="304312" y="113448"/>
                </a:lnTo>
                <a:lnTo>
                  <a:pt x="310164" y="105934"/>
                </a:lnTo>
                <a:lnTo>
                  <a:pt x="316016" y="98435"/>
                </a:lnTo>
                <a:lnTo>
                  <a:pt x="321868" y="90983"/>
                </a:lnTo>
                <a:lnTo>
                  <a:pt x="327720" y="83608"/>
                </a:lnTo>
                <a:lnTo>
                  <a:pt x="333573" y="76344"/>
                </a:lnTo>
                <a:lnTo>
                  <a:pt x="339425" y="69224"/>
                </a:lnTo>
                <a:lnTo>
                  <a:pt x="345277" y="62281"/>
                </a:lnTo>
                <a:lnTo>
                  <a:pt x="351129" y="55550"/>
                </a:lnTo>
                <a:lnTo>
                  <a:pt x="356981" y="49064"/>
                </a:lnTo>
                <a:lnTo>
                  <a:pt x="362833" y="42856"/>
                </a:lnTo>
                <a:lnTo>
                  <a:pt x="368686" y="36958"/>
                </a:lnTo>
                <a:lnTo>
                  <a:pt x="374538" y="31402"/>
                </a:lnTo>
                <a:lnTo>
                  <a:pt x="380390" y="26217"/>
                </a:lnTo>
                <a:lnTo>
                  <a:pt x="386242" y="21433"/>
                </a:lnTo>
                <a:lnTo>
                  <a:pt x="392094" y="17076"/>
                </a:lnTo>
                <a:lnTo>
                  <a:pt x="397946" y="13170"/>
                </a:lnTo>
                <a:lnTo>
                  <a:pt x="403799" y="9738"/>
                </a:lnTo>
                <a:lnTo>
                  <a:pt x="409651" y="6799"/>
                </a:lnTo>
                <a:lnTo>
                  <a:pt x="415503" y="4370"/>
                </a:lnTo>
                <a:lnTo>
                  <a:pt x="421355" y="2467"/>
                </a:lnTo>
                <a:lnTo>
                  <a:pt x="427207" y="1099"/>
                </a:lnTo>
                <a:lnTo>
                  <a:pt x="433059" y="275"/>
                </a:lnTo>
                <a:lnTo>
                  <a:pt x="438912" y="0"/>
                </a:lnTo>
                <a:lnTo>
                  <a:pt x="444764" y="275"/>
                </a:lnTo>
                <a:lnTo>
                  <a:pt x="450616" y="1099"/>
                </a:lnTo>
                <a:lnTo>
                  <a:pt x="456468" y="2467"/>
                </a:lnTo>
                <a:lnTo>
                  <a:pt x="462320" y="4370"/>
                </a:lnTo>
                <a:lnTo>
                  <a:pt x="468172" y="6799"/>
                </a:lnTo>
                <a:lnTo>
                  <a:pt x="474024" y="9738"/>
                </a:lnTo>
                <a:lnTo>
                  <a:pt x="479877" y="13170"/>
                </a:lnTo>
                <a:lnTo>
                  <a:pt x="485729" y="17076"/>
                </a:lnTo>
                <a:lnTo>
                  <a:pt x="491581" y="21433"/>
                </a:lnTo>
                <a:lnTo>
                  <a:pt x="497433" y="26217"/>
                </a:lnTo>
                <a:lnTo>
                  <a:pt x="503285" y="31402"/>
                </a:lnTo>
                <a:lnTo>
                  <a:pt x="509137" y="36958"/>
                </a:lnTo>
                <a:lnTo>
                  <a:pt x="514990" y="42856"/>
                </a:lnTo>
                <a:lnTo>
                  <a:pt x="520842" y="49064"/>
                </a:lnTo>
                <a:lnTo>
                  <a:pt x="526694" y="55550"/>
                </a:lnTo>
                <a:lnTo>
                  <a:pt x="532546" y="62281"/>
                </a:lnTo>
                <a:lnTo>
                  <a:pt x="538398" y="69224"/>
                </a:lnTo>
                <a:lnTo>
                  <a:pt x="544250" y="76344"/>
                </a:lnTo>
                <a:lnTo>
                  <a:pt x="550103" y="83608"/>
                </a:lnTo>
                <a:lnTo>
                  <a:pt x="555955" y="90983"/>
                </a:lnTo>
                <a:lnTo>
                  <a:pt x="561807" y="98435"/>
                </a:lnTo>
                <a:lnTo>
                  <a:pt x="567659" y="105934"/>
                </a:lnTo>
                <a:lnTo>
                  <a:pt x="573511" y="113448"/>
                </a:lnTo>
                <a:lnTo>
                  <a:pt x="579363" y="120947"/>
                </a:lnTo>
                <a:lnTo>
                  <a:pt x="585216" y="128404"/>
                </a:lnTo>
                <a:lnTo>
                  <a:pt x="591068" y="135791"/>
                </a:lnTo>
                <a:lnTo>
                  <a:pt x="596920" y="143083"/>
                </a:lnTo>
                <a:lnTo>
                  <a:pt x="602772" y="150258"/>
                </a:lnTo>
                <a:lnTo>
                  <a:pt x="608624" y="157293"/>
                </a:lnTo>
                <a:lnTo>
                  <a:pt x="614476" y="164170"/>
                </a:lnTo>
                <a:lnTo>
                  <a:pt x="620328" y="170871"/>
                </a:lnTo>
                <a:lnTo>
                  <a:pt x="626181" y="177381"/>
                </a:lnTo>
                <a:lnTo>
                  <a:pt x="632033" y="183686"/>
                </a:lnTo>
                <a:lnTo>
                  <a:pt x="637885" y="189775"/>
                </a:lnTo>
                <a:lnTo>
                  <a:pt x="643737" y="195638"/>
                </a:lnTo>
                <a:lnTo>
                  <a:pt x="649589" y="201269"/>
                </a:lnTo>
                <a:lnTo>
                  <a:pt x="655441" y="206660"/>
                </a:lnTo>
                <a:lnTo>
                  <a:pt x="661294" y="211810"/>
                </a:lnTo>
                <a:lnTo>
                  <a:pt x="667146" y="216714"/>
                </a:lnTo>
                <a:lnTo>
                  <a:pt x="672998" y="221372"/>
                </a:lnTo>
                <a:lnTo>
                  <a:pt x="678850" y="225786"/>
                </a:lnTo>
                <a:lnTo>
                  <a:pt x="684702" y="229957"/>
                </a:lnTo>
                <a:lnTo>
                  <a:pt x="690554" y="233888"/>
                </a:lnTo>
                <a:lnTo>
                  <a:pt x="696407" y="237585"/>
                </a:lnTo>
                <a:lnTo>
                  <a:pt x="702259" y="241051"/>
                </a:lnTo>
                <a:lnTo>
                  <a:pt x="708111" y="244294"/>
                </a:lnTo>
                <a:lnTo>
                  <a:pt x="713963" y="247321"/>
                </a:lnTo>
                <a:lnTo>
                  <a:pt x="719815" y="250138"/>
                </a:lnTo>
                <a:lnTo>
                  <a:pt x="725667" y="252755"/>
                </a:lnTo>
                <a:lnTo>
                  <a:pt x="731520" y="255179"/>
                </a:lnTo>
                <a:lnTo>
                  <a:pt x="737372" y="257420"/>
                </a:lnTo>
                <a:lnTo>
                  <a:pt x="743224" y="259486"/>
                </a:lnTo>
                <a:lnTo>
                  <a:pt x="749076" y="261386"/>
                </a:lnTo>
                <a:lnTo>
                  <a:pt x="754928" y="263131"/>
                </a:lnTo>
                <a:lnTo>
                  <a:pt x="760780" y="264728"/>
                </a:lnTo>
                <a:lnTo>
                  <a:pt x="766632" y="266187"/>
                </a:lnTo>
                <a:lnTo>
                  <a:pt x="772485" y="267517"/>
                </a:lnTo>
                <a:lnTo>
                  <a:pt x="778337" y="268726"/>
                </a:lnTo>
                <a:lnTo>
                  <a:pt x="784189" y="269823"/>
                </a:lnTo>
                <a:lnTo>
                  <a:pt x="790041" y="270817"/>
                </a:lnTo>
                <a:lnTo>
                  <a:pt x="795893" y="271714"/>
                </a:lnTo>
                <a:lnTo>
                  <a:pt x="801745" y="272522"/>
                </a:lnTo>
                <a:lnTo>
                  <a:pt x="807598" y="273249"/>
                </a:lnTo>
                <a:lnTo>
                  <a:pt x="813450" y="273901"/>
                </a:lnTo>
                <a:lnTo>
                  <a:pt x="819302" y="274484"/>
                </a:lnTo>
                <a:lnTo>
                  <a:pt x="825154" y="275006"/>
                </a:lnTo>
                <a:lnTo>
                  <a:pt x="831006" y="275470"/>
                </a:lnTo>
                <a:lnTo>
                  <a:pt x="836858" y="275884"/>
                </a:lnTo>
                <a:lnTo>
                  <a:pt x="842711" y="276250"/>
                </a:lnTo>
                <a:lnTo>
                  <a:pt x="848563" y="276575"/>
                </a:lnTo>
                <a:lnTo>
                  <a:pt x="854415" y="276861"/>
                </a:lnTo>
                <a:lnTo>
                  <a:pt x="860267" y="277114"/>
                </a:lnTo>
                <a:lnTo>
                  <a:pt x="866119" y="277336"/>
                </a:lnTo>
                <a:lnTo>
                  <a:pt x="871971" y="277531"/>
                </a:lnTo>
                <a:lnTo>
                  <a:pt x="877824" y="277702"/>
                </a:lnTo>
                <a:lnTo>
                  <a:pt x="883676" y="277852"/>
                </a:lnTo>
                <a:lnTo>
                  <a:pt x="889528" y="277982"/>
                </a:lnTo>
                <a:lnTo>
                  <a:pt x="895380" y="278095"/>
                </a:lnTo>
                <a:lnTo>
                  <a:pt x="901232" y="278194"/>
                </a:lnTo>
                <a:lnTo>
                  <a:pt x="907084" y="278279"/>
                </a:lnTo>
                <a:lnTo>
                  <a:pt x="912936" y="278352"/>
                </a:lnTo>
                <a:lnTo>
                  <a:pt x="918789" y="278416"/>
                </a:lnTo>
                <a:lnTo>
                  <a:pt x="924641" y="278471"/>
                </a:lnTo>
                <a:lnTo>
                  <a:pt x="930493" y="278518"/>
                </a:lnTo>
                <a:lnTo>
                  <a:pt x="936345" y="278558"/>
                </a:lnTo>
                <a:lnTo>
                  <a:pt x="942197" y="278593"/>
                </a:lnTo>
                <a:lnTo>
                  <a:pt x="948049" y="278622"/>
                </a:lnTo>
                <a:lnTo>
                  <a:pt x="953902" y="278647"/>
                </a:lnTo>
                <a:lnTo>
                  <a:pt x="959754" y="278668"/>
                </a:lnTo>
                <a:lnTo>
                  <a:pt x="965606" y="278687"/>
                </a:lnTo>
                <a:lnTo>
                  <a:pt x="971458" y="278702"/>
                </a:lnTo>
                <a:lnTo>
                  <a:pt x="977310" y="278715"/>
                </a:lnTo>
                <a:lnTo>
                  <a:pt x="983162" y="278726"/>
                </a:lnTo>
                <a:lnTo>
                  <a:pt x="989015" y="278735"/>
                </a:lnTo>
                <a:lnTo>
                  <a:pt x="994867" y="278743"/>
                </a:lnTo>
                <a:lnTo>
                  <a:pt x="1000719" y="278749"/>
                </a:lnTo>
                <a:lnTo>
                  <a:pt x="1006571" y="278754"/>
                </a:lnTo>
                <a:lnTo>
                  <a:pt x="1012423" y="278759"/>
                </a:lnTo>
                <a:lnTo>
                  <a:pt x="1018275" y="278763"/>
                </a:lnTo>
                <a:lnTo>
                  <a:pt x="1024128" y="278766"/>
                </a:lnTo>
                <a:lnTo>
                  <a:pt x="1029980" y="278768"/>
                </a:lnTo>
                <a:lnTo>
                  <a:pt x="1035832" y="278770"/>
                </a:lnTo>
                <a:lnTo>
                  <a:pt x="1041684" y="278772"/>
                </a:lnTo>
                <a:lnTo>
                  <a:pt x="1047536" y="278774"/>
                </a:lnTo>
                <a:lnTo>
                  <a:pt x="1053388" y="278775"/>
                </a:lnTo>
                <a:lnTo>
                  <a:pt x="1059240" y="278776"/>
                </a:lnTo>
                <a:lnTo>
                  <a:pt x="1065093" y="278777"/>
                </a:lnTo>
                <a:lnTo>
                  <a:pt x="1070945" y="278777"/>
                </a:lnTo>
                <a:lnTo>
                  <a:pt x="1076797" y="278778"/>
                </a:lnTo>
                <a:lnTo>
                  <a:pt x="1082649" y="278778"/>
                </a:lnTo>
                <a:lnTo>
                  <a:pt x="1088501" y="278779"/>
                </a:lnTo>
                <a:lnTo>
                  <a:pt x="1094353" y="278779"/>
                </a:lnTo>
                <a:lnTo>
                  <a:pt x="1100206" y="278779"/>
                </a:lnTo>
                <a:lnTo>
                  <a:pt x="1106058" y="278779"/>
                </a:lnTo>
                <a:lnTo>
                  <a:pt x="1111910" y="278779"/>
                </a:lnTo>
                <a:lnTo>
                  <a:pt x="1117762" y="278780"/>
                </a:lnTo>
                <a:lnTo>
                  <a:pt x="1123614" y="278780"/>
                </a:lnTo>
                <a:lnTo>
                  <a:pt x="1129466" y="278780"/>
                </a:lnTo>
                <a:lnTo>
                  <a:pt x="1135319" y="278780"/>
                </a:lnTo>
                <a:lnTo>
                  <a:pt x="1141171" y="278780"/>
                </a:lnTo>
                <a:lnTo>
                  <a:pt x="1147023" y="278780"/>
                </a:lnTo>
                <a:lnTo>
                  <a:pt x="1152875" y="278780"/>
                </a:lnTo>
                <a:lnTo>
                  <a:pt x="1158727" y="278780"/>
                </a:lnTo>
                <a:lnTo>
                  <a:pt x="1164579" y="278780"/>
                </a:lnTo>
                <a:lnTo>
                  <a:pt x="1170432" y="278780"/>
                </a:lnTo>
                <a:lnTo>
                  <a:pt x="1176284" y="278780"/>
                </a:lnTo>
                <a:lnTo>
                  <a:pt x="1182136" y="278780"/>
                </a:lnTo>
                <a:lnTo>
                  <a:pt x="1187988" y="278780"/>
                </a:lnTo>
                <a:lnTo>
                  <a:pt x="1193840" y="278780"/>
                </a:lnTo>
                <a:lnTo>
                  <a:pt x="1199692" y="278780"/>
                </a:lnTo>
                <a:lnTo>
                  <a:pt x="1205544" y="278780"/>
                </a:lnTo>
                <a:lnTo>
                  <a:pt x="1211397" y="278780"/>
                </a:lnTo>
                <a:lnTo>
                  <a:pt x="1217249" y="278780"/>
                </a:lnTo>
                <a:lnTo>
                  <a:pt x="1223101" y="278780"/>
                </a:lnTo>
                <a:lnTo>
                  <a:pt x="1228953" y="278780"/>
                </a:lnTo>
                <a:lnTo>
                  <a:pt x="1234805" y="278780"/>
                </a:lnTo>
                <a:lnTo>
                  <a:pt x="1240657" y="278780"/>
                </a:lnTo>
                <a:lnTo>
                  <a:pt x="1246510" y="278780"/>
                </a:lnTo>
                <a:lnTo>
                  <a:pt x="1252362" y="278780"/>
                </a:lnTo>
                <a:lnTo>
                  <a:pt x="1258214" y="278780"/>
                </a:lnTo>
                <a:lnTo>
                  <a:pt x="1264066" y="278780"/>
                </a:lnTo>
                <a:lnTo>
                  <a:pt x="1269918" y="278780"/>
                </a:lnTo>
                <a:lnTo>
                  <a:pt x="1275770" y="278780"/>
                </a:lnTo>
                <a:lnTo>
                  <a:pt x="1281623" y="278780"/>
                </a:lnTo>
                <a:lnTo>
                  <a:pt x="1287475" y="278780"/>
                </a:lnTo>
                <a:lnTo>
                  <a:pt x="1293327" y="278780"/>
                </a:lnTo>
                <a:lnTo>
                  <a:pt x="1299179" y="278780"/>
                </a:lnTo>
                <a:lnTo>
                  <a:pt x="1305031" y="278780"/>
                </a:lnTo>
                <a:lnTo>
                  <a:pt x="1310883" y="278780"/>
                </a:lnTo>
                <a:lnTo>
                  <a:pt x="1316736" y="278780"/>
                </a:lnTo>
                <a:lnTo>
                  <a:pt x="1322588" y="278780"/>
                </a:lnTo>
                <a:lnTo>
                  <a:pt x="1328440" y="278780"/>
                </a:lnTo>
                <a:lnTo>
                  <a:pt x="1334292" y="278780"/>
                </a:lnTo>
                <a:lnTo>
                  <a:pt x="1340144" y="278780"/>
                </a:lnTo>
                <a:lnTo>
                  <a:pt x="1345996" y="278780"/>
                </a:lnTo>
                <a:lnTo>
                  <a:pt x="1351848" y="278780"/>
                </a:lnTo>
                <a:lnTo>
                  <a:pt x="1357701" y="278780"/>
                </a:lnTo>
                <a:lnTo>
                  <a:pt x="1363553" y="278780"/>
                </a:lnTo>
                <a:lnTo>
                  <a:pt x="1369405" y="278780"/>
                </a:lnTo>
                <a:lnTo>
                  <a:pt x="1375257" y="278780"/>
                </a:lnTo>
                <a:lnTo>
                  <a:pt x="1381109" y="278780"/>
                </a:lnTo>
                <a:lnTo>
                  <a:pt x="1386961" y="278780"/>
                </a:lnTo>
                <a:lnTo>
                  <a:pt x="1392814" y="278780"/>
                </a:lnTo>
                <a:lnTo>
                  <a:pt x="1398666" y="278780"/>
                </a:lnTo>
                <a:lnTo>
                  <a:pt x="1404518" y="278780"/>
                </a:lnTo>
                <a:lnTo>
                  <a:pt x="1410370" y="278780"/>
                </a:lnTo>
                <a:lnTo>
                  <a:pt x="1416222" y="278780"/>
                </a:lnTo>
                <a:lnTo>
                  <a:pt x="1422074" y="278780"/>
                </a:lnTo>
                <a:lnTo>
                  <a:pt x="1427927" y="278780"/>
                </a:lnTo>
                <a:lnTo>
                  <a:pt x="1433779" y="278780"/>
                </a:lnTo>
                <a:lnTo>
                  <a:pt x="1439631" y="278780"/>
                </a:lnTo>
                <a:lnTo>
                  <a:pt x="1445483" y="278780"/>
                </a:lnTo>
                <a:lnTo>
                  <a:pt x="1451335" y="278780"/>
                </a:lnTo>
                <a:lnTo>
                  <a:pt x="1457187" y="278780"/>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714B1C49-3BAB-CF2C-9C7C-1DE06D437943}"/>
              </a:ext>
            </a:extLst>
          </p:cNvPr>
          <p:cNvSpPr txBox="1"/>
          <p:nvPr/>
        </p:nvSpPr>
        <p:spPr>
          <a:xfrm>
            <a:off x="6355080"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0</a:t>
            </a:r>
          </a:p>
        </p:txBody>
      </p:sp>
      <p:sp>
        <p:nvSpPr>
          <p:cNvPr id="73" name="TextBox 72">
            <a:extLst>
              <a:ext uri="{FF2B5EF4-FFF2-40B4-BE49-F238E27FC236}">
                <a16:creationId xmlns:a16="http://schemas.microsoft.com/office/drawing/2014/main" id="{FD69283A-BCEB-BA92-63AF-19CD7785F49B}"/>
              </a:ext>
            </a:extLst>
          </p:cNvPr>
          <p:cNvSpPr txBox="1"/>
          <p:nvPr/>
        </p:nvSpPr>
        <p:spPr>
          <a:xfrm>
            <a:off x="6355080"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10.9%</a:t>
            </a:r>
          </a:p>
        </p:txBody>
      </p:sp>
      <p:cxnSp>
        <p:nvCxnSpPr>
          <p:cNvPr id="74" name="Connector 73">
            <a:extLst>
              <a:ext uri="{FF2B5EF4-FFF2-40B4-BE49-F238E27FC236}">
                <a16:creationId xmlns:a16="http://schemas.microsoft.com/office/drawing/2014/main" id="{91BF88BD-903E-1825-7686-81788D9C189C}"/>
              </a:ext>
            </a:extLst>
          </p:cNvPr>
          <p:cNvCxnSpPr/>
          <p:nvPr/>
        </p:nvCxnSpPr>
        <p:spPr>
          <a:xfrm>
            <a:off x="7872983" y="3474720"/>
            <a:ext cx="182881"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F87E7C2A-E3E5-1F02-A44B-E18C48D94A61}"/>
              </a:ext>
            </a:extLst>
          </p:cNvPr>
          <p:cNvSpPr/>
          <p:nvPr/>
        </p:nvSpPr>
        <p:spPr>
          <a:xfrm>
            <a:off x="8110728"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a:extLst>
              <a:ext uri="{FF2B5EF4-FFF2-40B4-BE49-F238E27FC236}">
                <a16:creationId xmlns:a16="http://schemas.microsoft.com/office/drawing/2014/main" id="{1C2DE695-BE4D-F9CD-4E3A-B2F851B48C5A}"/>
              </a:ext>
            </a:extLst>
          </p:cNvPr>
          <p:cNvSpPr/>
          <p:nvPr/>
        </p:nvSpPr>
        <p:spPr>
          <a:xfrm>
            <a:off x="8110728" y="3158499"/>
            <a:ext cx="1457187" cy="836239"/>
          </a:xfrm>
          <a:custGeom>
            <a:avLst/>
            <a:gdLst/>
            <a:ahLst/>
            <a:cxnLst/>
            <a:rect l="l" t="t" r="r" b="b"/>
            <a:pathLst>
              <a:path w="1457187" h="836239">
                <a:moveTo>
                  <a:pt x="0" y="788225"/>
                </a:moveTo>
                <a:lnTo>
                  <a:pt x="5852" y="780596"/>
                </a:lnTo>
                <a:lnTo>
                  <a:pt x="11704" y="772007"/>
                </a:lnTo>
                <a:lnTo>
                  <a:pt x="17556" y="762380"/>
                </a:lnTo>
                <a:lnTo>
                  <a:pt x="23408" y="751642"/>
                </a:lnTo>
                <a:lnTo>
                  <a:pt x="29260" y="739720"/>
                </a:lnTo>
                <a:lnTo>
                  <a:pt x="35112" y="726548"/>
                </a:lnTo>
                <a:lnTo>
                  <a:pt x="40965" y="712064"/>
                </a:lnTo>
                <a:lnTo>
                  <a:pt x="46817" y="696216"/>
                </a:lnTo>
                <a:lnTo>
                  <a:pt x="52669" y="678961"/>
                </a:lnTo>
                <a:lnTo>
                  <a:pt x="58521" y="660268"/>
                </a:lnTo>
                <a:lnTo>
                  <a:pt x="64373" y="640120"/>
                </a:lnTo>
                <a:lnTo>
                  <a:pt x="70225" y="618519"/>
                </a:lnTo>
                <a:lnTo>
                  <a:pt x="76078" y="595480"/>
                </a:lnTo>
                <a:lnTo>
                  <a:pt x="81930" y="571041"/>
                </a:lnTo>
                <a:lnTo>
                  <a:pt x="87782" y="545260"/>
                </a:lnTo>
                <a:lnTo>
                  <a:pt x="93634" y="518218"/>
                </a:lnTo>
                <a:lnTo>
                  <a:pt x="99486" y="490017"/>
                </a:lnTo>
                <a:lnTo>
                  <a:pt x="105338" y="460786"/>
                </a:lnTo>
                <a:lnTo>
                  <a:pt x="111191" y="430674"/>
                </a:lnTo>
                <a:lnTo>
                  <a:pt x="117043" y="399854"/>
                </a:lnTo>
                <a:lnTo>
                  <a:pt x="122895" y="368524"/>
                </a:lnTo>
                <a:lnTo>
                  <a:pt x="128747" y="336898"/>
                </a:lnTo>
                <a:lnTo>
                  <a:pt x="134599" y="305212"/>
                </a:lnTo>
                <a:lnTo>
                  <a:pt x="140451" y="273717"/>
                </a:lnTo>
                <a:lnTo>
                  <a:pt x="146304" y="242677"/>
                </a:lnTo>
                <a:lnTo>
                  <a:pt x="152156" y="212366"/>
                </a:lnTo>
                <a:lnTo>
                  <a:pt x="158008" y="183064"/>
                </a:lnTo>
                <a:lnTo>
                  <a:pt x="163860" y="155052"/>
                </a:lnTo>
                <a:lnTo>
                  <a:pt x="169712" y="128608"/>
                </a:lnTo>
                <a:lnTo>
                  <a:pt x="175564" y="104003"/>
                </a:lnTo>
                <a:lnTo>
                  <a:pt x="181416" y="81497"/>
                </a:lnTo>
                <a:lnTo>
                  <a:pt x="187269" y="61332"/>
                </a:lnTo>
                <a:lnTo>
                  <a:pt x="193121" y="43730"/>
                </a:lnTo>
                <a:lnTo>
                  <a:pt x="198973" y="28888"/>
                </a:lnTo>
                <a:lnTo>
                  <a:pt x="204825" y="16974"/>
                </a:lnTo>
                <a:lnTo>
                  <a:pt x="210677" y="8126"/>
                </a:lnTo>
                <a:lnTo>
                  <a:pt x="216529" y="2446"/>
                </a:lnTo>
                <a:lnTo>
                  <a:pt x="222382" y="0"/>
                </a:lnTo>
                <a:lnTo>
                  <a:pt x="228234" y="816"/>
                </a:lnTo>
                <a:lnTo>
                  <a:pt x="234086" y="4885"/>
                </a:lnTo>
                <a:lnTo>
                  <a:pt x="239938" y="12160"/>
                </a:lnTo>
                <a:lnTo>
                  <a:pt x="245790" y="22556"/>
                </a:lnTo>
                <a:lnTo>
                  <a:pt x="251642" y="35953"/>
                </a:lnTo>
                <a:lnTo>
                  <a:pt x="257495" y="52198"/>
                </a:lnTo>
                <a:lnTo>
                  <a:pt x="263347" y="71108"/>
                </a:lnTo>
                <a:lnTo>
                  <a:pt x="269199" y="92472"/>
                </a:lnTo>
                <a:lnTo>
                  <a:pt x="275051" y="116059"/>
                </a:lnTo>
                <a:lnTo>
                  <a:pt x="280903" y="141617"/>
                </a:lnTo>
                <a:lnTo>
                  <a:pt x="286755" y="168879"/>
                </a:lnTo>
                <a:lnTo>
                  <a:pt x="292608" y="197572"/>
                </a:lnTo>
                <a:lnTo>
                  <a:pt x="298460" y="227413"/>
                </a:lnTo>
                <a:lnTo>
                  <a:pt x="304312" y="258123"/>
                </a:lnTo>
                <a:lnTo>
                  <a:pt x="310164" y="289424"/>
                </a:lnTo>
                <a:lnTo>
                  <a:pt x="316016" y="321047"/>
                </a:lnTo>
                <a:lnTo>
                  <a:pt x="321868" y="352733"/>
                </a:lnTo>
                <a:lnTo>
                  <a:pt x="327720" y="384240"/>
                </a:lnTo>
                <a:lnTo>
                  <a:pt x="333573" y="415341"/>
                </a:lnTo>
                <a:lnTo>
                  <a:pt x="339425" y="445830"/>
                </a:lnTo>
                <a:lnTo>
                  <a:pt x="345277" y="475522"/>
                </a:lnTo>
                <a:lnTo>
                  <a:pt x="351129" y="504255"/>
                </a:lnTo>
                <a:lnTo>
                  <a:pt x="356981" y="531891"/>
                </a:lnTo>
                <a:lnTo>
                  <a:pt x="362833" y="558314"/>
                </a:lnTo>
                <a:lnTo>
                  <a:pt x="368686" y="583432"/>
                </a:lnTo>
                <a:lnTo>
                  <a:pt x="374538" y="607177"/>
                </a:lnTo>
                <a:lnTo>
                  <a:pt x="380390" y="629501"/>
                </a:lnTo>
                <a:lnTo>
                  <a:pt x="386242" y="650376"/>
                </a:lnTo>
                <a:lnTo>
                  <a:pt x="392094" y="669795"/>
                </a:lnTo>
                <a:lnTo>
                  <a:pt x="397946" y="687767"/>
                </a:lnTo>
                <a:lnTo>
                  <a:pt x="403799" y="704314"/>
                </a:lnTo>
                <a:lnTo>
                  <a:pt x="409651" y="719474"/>
                </a:lnTo>
                <a:lnTo>
                  <a:pt x="415503" y="733295"/>
                </a:lnTo>
                <a:lnTo>
                  <a:pt x="421355" y="745833"/>
                </a:lnTo>
                <a:lnTo>
                  <a:pt x="427207" y="757155"/>
                </a:lnTo>
                <a:lnTo>
                  <a:pt x="433059" y="767328"/>
                </a:lnTo>
                <a:lnTo>
                  <a:pt x="438912" y="776426"/>
                </a:lnTo>
                <a:lnTo>
                  <a:pt x="444764" y="784526"/>
                </a:lnTo>
                <a:lnTo>
                  <a:pt x="450616" y="791703"/>
                </a:lnTo>
                <a:lnTo>
                  <a:pt x="456468" y="798034"/>
                </a:lnTo>
                <a:lnTo>
                  <a:pt x="462320" y="803592"/>
                </a:lnTo>
                <a:lnTo>
                  <a:pt x="468172" y="808451"/>
                </a:lnTo>
                <a:lnTo>
                  <a:pt x="474024" y="812678"/>
                </a:lnTo>
                <a:lnTo>
                  <a:pt x="479877" y="816341"/>
                </a:lnTo>
                <a:lnTo>
                  <a:pt x="485729" y="819499"/>
                </a:lnTo>
                <a:lnTo>
                  <a:pt x="491581" y="822211"/>
                </a:lnTo>
                <a:lnTo>
                  <a:pt x="497433" y="824530"/>
                </a:lnTo>
                <a:lnTo>
                  <a:pt x="503285" y="826503"/>
                </a:lnTo>
                <a:lnTo>
                  <a:pt x="509137" y="828176"/>
                </a:lnTo>
                <a:lnTo>
                  <a:pt x="514990" y="829587"/>
                </a:lnTo>
                <a:lnTo>
                  <a:pt x="520842" y="830773"/>
                </a:lnTo>
                <a:lnTo>
                  <a:pt x="526694" y="831764"/>
                </a:lnTo>
                <a:lnTo>
                  <a:pt x="532546" y="832590"/>
                </a:lnTo>
                <a:lnTo>
                  <a:pt x="538398" y="833276"/>
                </a:lnTo>
                <a:lnTo>
                  <a:pt x="544250" y="833842"/>
                </a:lnTo>
                <a:lnTo>
                  <a:pt x="550103" y="834307"/>
                </a:lnTo>
                <a:lnTo>
                  <a:pt x="555955" y="834688"/>
                </a:lnTo>
                <a:lnTo>
                  <a:pt x="561807" y="834999"/>
                </a:lnTo>
                <a:lnTo>
                  <a:pt x="567659" y="835251"/>
                </a:lnTo>
                <a:lnTo>
                  <a:pt x="573511" y="835455"/>
                </a:lnTo>
                <a:lnTo>
                  <a:pt x="579363" y="835620"/>
                </a:lnTo>
                <a:lnTo>
                  <a:pt x="585216" y="835751"/>
                </a:lnTo>
                <a:lnTo>
                  <a:pt x="591068" y="835857"/>
                </a:lnTo>
                <a:lnTo>
                  <a:pt x="596920" y="835940"/>
                </a:lnTo>
                <a:lnTo>
                  <a:pt x="602772" y="836007"/>
                </a:lnTo>
                <a:lnTo>
                  <a:pt x="608624" y="836059"/>
                </a:lnTo>
                <a:lnTo>
                  <a:pt x="614476" y="836100"/>
                </a:lnTo>
                <a:lnTo>
                  <a:pt x="620328" y="836132"/>
                </a:lnTo>
                <a:lnTo>
                  <a:pt x="626181" y="836157"/>
                </a:lnTo>
                <a:lnTo>
                  <a:pt x="632033" y="836177"/>
                </a:lnTo>
                <a:lnTo>
                  <a:pt x="637885" y="836192"/>
                </a:lnTo>
                <a:lnTo>
                  <a:pt x="643737" y="836203"/>
                </a:lnTo>
                <a:lnTo>
                  <a:pt x="649589" y="836212"/>
                </a:lnTo>
                <a:lnTo>
                  <a:pt x="655441" y="836219"/>
                </a:lnTo>
                <a:lnTo>
                  <a:pt x="661294" y="836224"/>
                </a:lnTo>
                <a:lnTo>
                  <a:pt x="667146" y="836228"/>
                </a:lnTo>
                <a:lnTo>
                  <a:pt x="672998" y="836231"/>
                </a:lnTo>
                <a:lnTo>
                  <a:pt x="678850" y="836233"/>
                </a:lnTo>
                <a:lnTo>
                  <a:pt x="684702" y="836234"/>
                </a:lnTo>
                <a:lnTo>
                  <a:pt x="690554" y="836236"/>
                </a:lnTo>
                <a:lnTo>
                  <a:pt x="696407" y="836237"/>
                </a:lnTo>
                <a:lnTo>
                  <a:pt x="702259" y="836237"/>
                </a:lnTo>
                <a:lnTo>
                  <a:pt x="708111" y="836238"/>
                </a:lnTo>
                <a:lnTo>
                  <a:pt x="713963" y="836238"/>
                </a:lnTo>
                <a:lnTo>
                  <a:pt x="719815" y="836238"/>
                </a:lnTo>
                <a:lnTo>
                  <a:pt x="725667" y="836239"/>
                </a:lnTo>
                <a:lnTo>
                  <a:pt x="731520" y="836239"/>
                </a:lnTo>
                <a:lnTo>
                  <a:pt x="737372" y="836239"/>
                </a:lnTo>
                <a:lnTo>
                  <a:pt x="743224" y="836239"/>
                </a:lnTo>
                <a:lnTo>
                  <a:pt x="749076" y="836239"/>
                </a:lnTo>
                <a:lnTo>
                  <a:pt x="754928" y="836239"/>
                </a:lnTo>
                <a:lnTo>
                  <a:pt x="760780" y="836239"/>
                </a:lnTo>
                <a:lnTo>
                  <a:pt x="766632" y="836239"/>
                </a:lnTo>
                <a:lnTo>
                  <a:pt x="772485" y="836239"/>
                </a:lnTo>
                <a:lnTo>
                  <a:pt x="778337" y="836239"/>
                </a:lnTo>
                <a:lnTo>
                  <a:pt x="784189" y="836239"/>
                </a:lnTo>
                <a:lnTo>
                  <a:pt x="790041" y="836239"/>
                </a:lnTo>
                <a:lnTo>
                  <a:pt x="795893" y="836239"/>
                </a:lnTo>
                <a:lnTo>
                  <a:pt x="801745" y="836239"/>
                </a:lnTo>
                <a:lnTo>
                  <a:pt x="807598" y="836239"/>
                </a:lnTo>
                <a:lnTo>
                  <a:pt x="813450" y="836239"/>
                </a:lnTo>
                <a:lnTo>
                  <a:pt x="819302" y="836239"/>
                </a:lnTo>
                <a:lnTo>
                  <a:pt x="825154" y="836239"/>
                </a:lnTo>
                <a:lnTo>
                  <a:pt x="831006" y="836239"/>
                </a:lnTo>
                <a:lnTo>
                  <a:pt x="836858" y="836239"/>
                </a:lnTo>
                <a:lnTo>
                  <a:pt x="842711" y="836239"/>
                </a:lnTo>
                <a:lnTo>
                  <a:pt x="848563" y="836239"/>
                </a:lnTo>
                <a:lnTo>
                  <a:pt x="854415" y="836239"/>
                </a:lnTo>
                <a:lnTo>
                  <a:pt x="860267" y="836239"/>
                </a:lnTo>
                <a:lnTo>
                  <a:pt x="866119" y="836239"/>
                </a:lnTo>
                <a:lnTo>
                  <a:pt x="871971" y="836239"/>
                </a:lnTo>
                <a:lnTo>
                  <a:pt x="877824" y="836239"/>
                </a:lnTo>
                <a:lnTo>
                  <a:pt x="883676" y="836239"/>
                </a:lnTo>
                <a:lnTo>
                  <a:pt x="889528" y="836239"/>
                </a:lnTo>
                <a:lnTo>
                  <a:pt x="895380" y="836239"/>
                </a:lnTo>
                <a:lnTo>
                  <a:pt x="901232" y="836239"/>
                </a:lnTo>
                <a:lnTo>
                  <a:pt x="907084" y="836239"/>
                </a:lnTo>
                <a:lnTo>
                  <a:pt x="912936" y="836239"/>
                </a:lnTo>
                <a:lnTo>
                  <a:pt x="918789" y="836239"/>
                </a:lnTo>
                <a:lnTo>
                  <a:pt x="924641" y="836239"/>
                </a:lnTo>
                <a:lnTo>
                  <a:pt x="930493" y="836239"/>
                </a:lnTo>
                <a:lnTo>
                  <a:pt x="936345" y="836239"/>
                </a:lnTo>
                <a:lnTo>
                  <a:pt x="942197" y="836239"/>
                </a:lnTo>
                <a:lnTo>
                  <a:pt x="948049" y="836239"/>
                </a:lnTo>
                <a:lnTo>
                  <a:pt x="953902" y="836239"/>
                </a:lnTo>
                <a:lnTo>
                  <a:pt x="959754" y="836239"/>
                </a:lnTo>
                <a:lnTo>
                  <a:pt x="965606" y="836239"/>
                </a:lnTo>
                <a:lnTo>
                  <a:pt x="971458" y="836239"/>
                </a:lnTo>
                <a:lnTo>
                  <a:pt x="977310" y="836239"/>
                </a:lnTo>
                <a:lnTo>
                  <a:pt x="983162" y="836239"/>
                </a:lnTo>
                <a:lnTo>
                  <a:pt x="989015" y="836239"/>
                </a:lnTo>
                <a:lnTo>
                  <a:pt x="994867" y="836239"/>
                </a:lnTo>
                <a:lnTo>
                  <a:pt x="1000719" y="836239"/>
                </a:lnTo>
                <a:lnTo>
                  <a:pt x="1006571" y="836239"/>
                </a:lnTo>
                <a:lnTo>
                  <a:pt x="1012423" y="836239"/>
                </a:lnTo>
                <a:lnTo>
                  <a:pt x="1018275" y="836239"/>
                </a:lnTo>
                <a:lnTo>
                  <a:pt x="1024128" y="836239"/>
                </a:lnTo>
                <a:lnTo>
                  <a:pt x="1029980" y="836239"/>
                </a:lnTo>
                <a:lnTo>
                  <a:pt x="1035832" y="836239"/>
                </a:lnTo>
                <a:lnTo>
                  <a:pt x="1041684" y="836239"/>
                </a:lnTo>
                <a:lnTo>
                  <a:pt x="1047536" y="836239"/>
                </a:lnTo>
                <a:lnTo>
                  <a:pt x="1053388" y="836239"/>
                </a:lnTo>
                <a:lnTo>
                  <a:pt x="1059240" y="836239"/>
                </a:lnTo>
                <a:lnTo>
                  <a:pt x="1065093" y="836239"/>
                </a:lnTo>
                <a:lnTo>
                  <a:pt x="1070945" y="836239"/>
                </a:lnTo>
                <a:lnTo>
                  <a:pt x="1076797" y="836239"/>
                </a:lnTo>
                <a:lnTo>
                  <a:pt x="1082649" y="836239"/>
                </a:lnTo>
                <a:lnTo>
                  <a:pt x="1088501" y="836239"/>
                </a:lnTo>
                <a:lnTo>
                  <a:pt x="1094353" y="836239"/>
                </a:lnTo>
                <a:lnTo>
                  <a:pt x="1100206" y="836239"/>
                </a:lnTo>
                <a:lnTo>
                  <a:pt x="1106058" y="836239"/>
                </a:lnTo>
                <a:lnTo>
                  <a:pt x="1111910" y="836239"/>
                </a:lnTo>
                <a:lnTo>
                  <a:pt x="1117762" y="836239"/>
                </a:lnTo>
                <a:lnTo>
                  <a:pt x="1123614" y="836239"/>
                </a:lnTo>
                <a:lnTo>
                  <a:pt x="1129466" y="836239"/>
                </a:lnTo>
                <a:lnTo>
                  <a:pt x="1135319" y="836239"/>
                </a:lnTo>
                <a:lnTo>
                  <a:pt x="1141171" y="836239"/>
                </a:lnTo>
                <a:lnTo>
                  <a:pt x="1147023" y="836239"/>
                </a:lnTo>
                <a:lnTo>
                  <a:pt x="1152875" y="836239"/>
                </a:lnTo>
                <a:lnTo>
                  <a:pt x="1158727" y="836239"/>
                </a:lnTo>
                <a:lnTo>
                  <a:pt x="1164579" y="836239"/>
                </a:lnTo>
                <a:lnTo>
                  <a:pt x="1170432" y="836239"/>
                </a:lnTo>
                <a:lnTo>
                  <a:pt x="1176284" y="836239"/>
                </a:lnTo>
                <a:lnTo>
                  <a:pt x="1182136" y="836239"/>
                </a:lnTo>
                <a:lnTo>
                  <a:pt x="1187988" y="836239"/>
                </a:lnTo>
                <a:lnTo>
                  <a:pt x="1193840" y="836239"/>
                </a:lnTo>
                <a:lnTo>
                  <a:pt x="1199692" y="836239"/>
                </a:lnTo>
                <a:lnTo>
                  <a:pt x="1205544" y="836239"/>
                </a:lnTo>
                <a:lnTo>
                  <a:pt x="1211397" y="836239"/>
                </a:lnTo>
                <a:lnTo>
                  <a:pt x="1217249" y="836239"/>
                </a:lnTo>
                <a:lnTo>
                  <a:pt x="1223101" y="836239"/>
                </a:lnTo>
                <a:lnTo>
                  <a:pt x="1228953" y="836239"/>
                </a:lnTo>
                <a:lnTo>
                  <a:pt x="1234805" y="836239"/>
                </a:lnTo>
                <a:lnTo>
                  <a:pt x="1240657" y="836239"/>
                </a:lnTo>
                <a:lnTo>
                  <a:pt x="1246510" y="836239"/>
                </a:lnTo>
                <a:lnTo>
                  <a:pt x="1252362" y="836239"/>
                </a:lnTo>
                <a:lnTo>
                  <a:pt x="1258214" y="836239"/>
                </a:lnTo>
                <a:lnTo>
                  <a:pt x="1264066" y="836239"/>
                </a:lnTo>
                <a:lnTo>
                  <a:pt x="1269918" y="836239"/>
                </a:lnTo>
                <a:lnTo>
                  <a:pt x="1275770" y="836239"/>
                </a:lnTo>
                <a:lnTo>
                  <a:pt x="1281623" y="836239"/>
                </a:lnTo>
                <a:lnTo>
                  <a:pt x="1287475" y="836239"/>
                </a:lnTo>
                <a:lnTo>
                  <a:pt x="1293327" y="836239"/>
                </a:lnTo>
                <a:lnTo>
                  <a:pt x="1299179" y="836239"/>
                </a:lnTo>
                <a:lnTo>
                  <a:pt x="1305031" y="836239"/>
                </a:lnTo>
                <a:lnTo>
                  <a:pt x="1310883" y="836239"/>
                </a:lnTo>
                <a:lnTo>
                  <a:pt x="1316736" y="836239"/>
                </a:lnTo>
                <a:lnTo>
                  <a:pt x="1322588" y="836239"/>
                </a:lnTo>
                <a:lnTo>
                  <a:pt x="1328440" y="836239"/>
                </a:lnTo>
                <a:lnTo>
                  <a:pt x="1334292" y="836239"/>
                </a:lnTo>
                <a:lnTo>
                  <a:pt x="1340144" y="836239"/>
                </a:lnTo>
                <a:lnTo>
                  <a:pt x="1345996" y="836239"/>
                </a:lnTo>
                <a:lnTo>
                  <a:pt x="1351848" y="836239"/>
                </a:lnTo>
                <a:lnTo>
                  <a:pt x="1357701" y="836239"/>
                </a:lnTo>
                <a:lnTo>
                  <a:pt x="1363553" y="836239"/>
                </a:lnTo>
                <a:lnTo>
                  <a:pt x="1369405" y="836239"/>
                </a:lnTo>
                <a:lnTo>
                  <a:pt x="1375257" y="836239"/>
                </a:lnTo>
                <a:lnTo>
                  <a:pt x="1381109" y="836239"/>
                </a:lnTo>
                <a:lnTo>
                  <a:pt x="1386961" y="836239"/>
                </a:lnTo>
                <a:lnTo>
                  <a:pt x="1392814" y="836239"/>
                </a:lnTo>
                <a:lnTo>
                  <a:pt x="1398666" y="836239"/>
                </a:lnTo>
                <a:lnTo>
                  <a:pt x="1404518" y="836239"/>
                </a:lnTo>
                <a:lnTo>
                  <a:pt x="1410370" y="836239"/>
                </a:lnTo>
                <a:lnTo>
                  <a:pt x="1416222" y="836239"/>
                </a:lnTo>
                <a:lnTo>
                  <a:pt x="1422074" y="836239"/>
                </a:lnTo>
                <a:lnTo>
                  <a:pt x="1427927" y="836239"/>
                </a:lnTo>
                <a:lnTo>
                  <a:pt x="1433779" y="836239"/>
                </a:lnTo>
                <a:lnTo>
                  <a:pt x="1439631" y="836239"/>
                </a:lnTo>
                <a:lnTo>
                  <a:pt x="1445483" y="836239"/>
                </a:lnTo>
                <a:lnTo>
                  <a:pt x="1451335" y="836239"/>
                </a:lnTo>
                <a:lnTo>
                  <a:pt x="1457187" y="836239"/>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a:extLst>
              <a:ext uri="{FF2B5EF4-FFF2-40B4-BE49-F238E27FC236}">
                <a16:creationId xmlns:a16="http://schemas.microsoft.com/office/drawing/2014/main" id="{A7047C9F-54EE-9391-39E7-FD65743C0E9A}"/>
              </a:ext>
            </a:extLst>
          </p:cNvPr>
          <p:cNvSpPr/>
          <p:nvPr/>
        </p:nvSpPr>
        <p:spPr>
          <a:xfrm>
            <a:off x="8110728" y="3669494"/>
            <a:ext cx="1457187" cy="325244"/>
          </a:xfrm>
          <a:custGeom>
            <a:avLst/>
            <a:gdLst/>
            <a:ahLst/>
            <a:cxnLst/>
            <a:rect l="l" t="t" r="r" b="b"/>
            <a:pathLst>
              <a:path w="1457187" h="325244">
                <a:moveTo>
                  <a:pt x="0" y="324425"/>
                </a:moveTo>
                <a:lnTo>
                  <a:pt x="5852" y="324317"/>
                </a:lnTo>
                <a:lnTo>
                  <a:pt x="11704" y="324196"/>
                </a:lnTo>
                <a:lnTo>
                  <a:pt x="17556" y="324060"/>
                </a:lnTo>
                <a:lnTo>
                  <a:pt x="23408" y="323909"/>
                </a:lnTo>
                <a:lnTo>
                  <a:pt x="29260" y="323741"/>
                </a:lnTo>
                <a:lnTo>
                  <a:pt x="35112" y="323553"/>
                </a:lnTo>
                <a:lnTo>
                  <a:pt x="40965" y="323345"/>
                </a:lnTo>
                <a:lnTo>
                  <a:pt x="46817" y="323113"/>
                </a:lnTo>
                <a:lnTo>
                  <a:pt x="52669" y="322857"/>
                </a:lnTo>
                <a:lnTo>
                  <a:pt x="58521" y="322573"/>
                </a:lnTo>
                <a:lnTo>
                  <a:pt x="64373" y="322260"/>
                </a:lnTo>
                <a:lnTo>
                  <a:pt x="70225" y="321914"/>
                </a:lnTo>
                <a:lnTo>
                  <a:pt x="76078" y="321532"/>
                </a:lnTo>
                <a:lnTo>
                  <a:pt x="81930" y="321112"/>
                </a:lnTo>
                <a:lnTo>
                  <a:pt x="87782" y="320651"/>
                </a:lnTo>
                <a:lnTo>
                  <a:pt x="93634" y="320145"/>
                </a:lnTo>
                <a:lnTo>
                  <a:pt x="99486" y="319590"/>
                </a:lnTo>
                <a:lnTo>
                  <a:pt x="105338" y="318984"/>
                </a:lnTo>
                <a:lnTo>
                  <a:pt x="111191" y="318321"/>
                </a:lnTo>
                <a:lnTo>
                  <a:pt x="117043" y="317598"/>
                </a:lnTo>
                <a:lnTo>
                  <a:pt x="122895" y="316810"/>
                </a:lnTo>
                <a:lnTo>
                  <a:pt x="128747" y="315953"/>
                </a:lnTo>
                <a:lnTo>
                  <a:pt x="134599" y="315023"/>
                </a:lnTo>
                <a:lnTo>
                  <a:pt x="140451" y="314014"/>
                </a:lnTo>
                <a:lnTo>
                  <a:pt x="146304" y="312921"/>
                </a:lnTo>
                <a:lnTo>
                  <a:pt x="152156" y="311740"/>
                </a:lnTo>
                <a:lnTo>
                  <a:pt x="158008" y="310464"/>
                </a:lnTo>
                <a:lnTo>
                  <a:pt x="163860" y="309089"/>
                </a:lnTo>
                <a:lnTo>
                  <a:pt x="169712" y="307609"/>
                </a:lnTo>
                <a:lnTo>
                  <a:pt x="175564" y="306019"/>
                </a:lnTo>
                <a:lnTo>
                  <a:pt x="181416" y="304312"/>
                </a:lnTo>
                <a:lnTo>
                  <a:pt x="187269" y="302483"/>
                </a:lnTo>
                <a:lnTo>
                  <a:pt x="193121" y="300527"/>
                </a:lnTo>
                <a:lnTo>
                  <a:pt x="198973" y="298437"/>
                </a:lnTo>
                <a:lnTo>
                  <a:pt x="204825" y="296208"/>
                </a:lnTo>
                <a:lnTo>
                  <a:pt x="210677" y="293835"/>
                </a:lnTo>
                <a:lnTo>
                  <a:pt x="216529" y="291312"/>
                </a:lnTo>
                <a:lnTo>
                  <a:pt x="222382" y="288633"/>
                </a:lnTo>
                <a:lnTo>
                  <a:pt x="228234" y="285795"/>
                </a:lnTo>
                <a:lnTo>
                  <a:pt x="234086" y="282792"/>
                </a:lnTo>
                <a:lnTo>
                  <a:pt x="239938" y="279619"/>
                </a:lnTo>
                <a:lnTo>
                  <a:pt x="245790" y="276273"/>
                </a:lnTo>
                <a:lnTo>
                  <a:pt x="251642" y="272750"/>
                </a:lnTo>
                <a:lnTo>
                  <a:pt x="257495" y="269046"/>
                </a:lnTo>
                <a:lnTo>
                  <a:pt x="263347" y="265160"/>
                </a:lnTo>
                <a:lnTo>
                  <a:pt x="269199" y="261087"/>
                </a:lnTo>
                <a:lnTo>
                  <a:pt x="275051" y="256828"/>
                </a:lnTo>
                <a:lnTo>
                  <a:pt x="280903" y="252380"/>
                </a:lnTo>
                <a:lnTo>
                  <a:pt x="286755" y="247744"/>
                </a:lnTo>
                <a:lnTo>
                  <a:pt x="292608" y="242920"/>
                </a:lnTo>
                <a:lnTo>
                  <a:pt x="298460" y="237909"/>
                </a:lnTo>
                <a:lnTo>
                  <a:pt x="304312" y="232714"/>
                </a:lnTo>
                <a:lnTo>
                  <a:pt x="310164" y="227337"/>
                </a:lnTo>
                <a:lnTo>
                  <a:pt x="316016" y="221781"/>
                </a:lnTo>
                <a:lnTo>
                  <a:pt x="321868" y="216052"/>
                </a:lnTo>
                <a:lnTo>
                  <a:pt x="327720" y="210156"/>
                </a:lnTo>
                <a:lnTo>
                  <a:pt x="333573" y="204098"/>
                </a:lnTo>
                <a:lnTo>
                  <a:pt x="339425" y="197888"/>
                </a:lnTo>
                <a:lnTo>
                  <a:pt x="345277" y="191532"/>
                </a:lnTo>
                <a:lnTo>
                  <a:pt x="351129" y="185042"/>
                </a:lnTo>
                <a:lnTo>
                  <a:pt x="356981" y="178427"/>
                </a:lnTo>
                <a:lnTo>
                  <a:pt x="362833" y="171700"/>
                </a:lnTo>
                <a:lnTo>
                  <a:pt x="368686" y="164873"/>
                </a:lnTo>
                <a:lnTo>
                  <a:pt x="374538" y="157960"/>
                </a:lnTo>
                <a:lnTo>
                  <a:pt x="380390" y="150975"/>
                </a:lnTo>
                <a:lnTo>
                  <a:pt x="386242" y="143934"/>
                </a:lnTo>
                <a:lnTo>
                  <a:pt x="392094" y="136854"/>
                </a:lnTo>
                <a:lnTo>
                  <a:pt x="397946" y="129751"/>
                </a:lnTo>
                <a:lnTo>
                  <a:pt x="403799" y="122643"/>
                </a:lnTo>
                <a:lnTo>
                  <a:pt x="409651" y="115550"/>
                </a:lnTo>
                <a:lnTo>
                  <a:pt x="415503" y="108490"/>
                </a:lnTo>
                <a:lnTo>
                  <a:pt x="421355" y="101483"/>
                </a:lnTo>
                <a:lnTo>
                  <a:pt x="427207" y="94549"/>
                </a:lnTo>
                <a:lnTo>
                  <a:pt x="433059" y="87709"/>
                </a:lnTo>
                <a:lnTo>
                  <a:pt x="438912" y="80984"/>
                </a:lnTo>
                <a:lnTo>
                  <a:pt x="444764" y="74394"/>
                </a:lnTo>
                <a:lnTo>
                  <a:pt x="450616" y="67960"/>
                </a:lnTo>
                <a:lnTo>
                  <a:pt x="456468" y="61705"/>
                </a:lnTo>
                <a:lnTo>
                  <a:pt x="462320" y="55647"/>
                </a:lnTo>
                <a:lnTo>
                  <a:pt x="468172" y="49808"/>
                </a:lnTo>
                <a:lnTo>
                  <a:pt x="474024" y="44208"/>
                </a:lnTo>
                <a:lnTo>
                  <a:pt x="479877" y="38866"/>
                </a:lnTo>
                <a:lnTo>
                  <a:pt x="485729" y="33801"/>
                </a:lnTo>
                <a:lnTo>
                  <a:pt x="491581" y="29032"/>
                </a:lnTo>
                <a:lnTo>
                  <a:pt x="497433" y="24575"/>
                </a:lnTo>
                <a:lnTo>
                  <a:pt x="503285" y="20447"/>
                </a:lnTo>
                <a:lnTo>
                  <a:pt x="509137" y="16664"/>
                </a:lnTo>
                <a:lnTo>
                  <a:pt x="514990" y="13239"/>
                </a:lnTo>
                <a:lnTo>
                  <a:pt x="520842" y="10185"/>
                </a:lnTo>
                <a:lnTo>
                  <a:pt x="526694" y="7514"/>
                </a:lnTo>
                <a:lnTo>
                  <a:pt x="532546" y="5237"/>
                </a:lnTo>
                <a:lnTo>
                  <a:pt x="538398" y="3362"/>
                </a:lnTo>
                <a:lnTo>
                  <a:pt x="544250" y="1895"/>
                </a:lnTo>
                <a:lnTo>
                  <a:pt x="550103" y="844"/>
                </a:lnTo>
                <a:lnTo>
                  <a:pt x="555955" y="211"/>
                </a:lnTo>
                <a:lnTo>
                  <a:pt x="561807" y="0"/>
                </a:lnTo>
                <a:lnTo>
                  <a:pt x="567659" y="211"/>
                </a:lnTo>
                <a:lnTo>
                  <a:pt x="573511" y="844"/>
                </a:lnTo>
                <a:lnTo>
                  <a:pt x="579363" y="1895"/>
                </a:lnTo>
                <a:lnTo>
                  <a:pt x="585216" y="3362"/>
                </a:lnTo>
                <a:lnTo>
                  <a:pt x="591068" y="5237"/>
                </a:lnTo>
                <a:lnTo>
                  <a:pt x="596920" y="7514"/>
                </a:lnTo>
                <a:lnTo>
                  <a:pt x="602772" y="10185"/>
                </a:lnTo>
                <a:lnTo>
                  <a:pt x="608624" y="13239"/>
                </a:lnTo>
                <a:lnTo>
                  <a:pt x="614476" y="16664"/>
                </a:lnTo>
                <a:lnTo>
                  <a:pt x="620328" y="20447"/>
                </a:lnTo>
                <a:lnTo>
                  <a:pt x="626181" y="24575"/>
                </a:lnTo>
                <a:lnTo>
                  <a:pt x="632033" y="29032"/>
                </a:lnTo>
                <a:lnTo>
                  <a:pt x="637885" y="33801"/>
                </a:lnTo>
                <a:lnTo>
                  <a:pt x="643737" y="38866"/>
                </a:lnTo>
                <a:lnTo>
                  <a:pt x="649589" y="44208"/>
                </a:lnTo>
                <a:lnTo>
                  <a:pt x="655441" y="49808"/>
                </a:lnTo>
                <a:lnTo>
                  <a:pt x="661294" y="55647"/>
                </a:lnTo>
                <a:lnTo>
                  <a:pt x="667146" y="61705"/>
                </a:lnTo>
                <a:lnTo>
                  <a:pt x="672998" y="67960"/>
                </a:lnTo>
                <a:lnTo>
                  <a:pt x="678850" y="74394"/>
                </a:lnTo>
                <a:lnTo>
                  <a:pt x="684702" y="80984"/>
                </a:lnTo>
                <a:lnTo>
                  <a:pt x="690554" y="87709"/>
                </a:lnTo>
                <a:lnTo>
                  <a:pt x="696407" y="94549"/>
                </a:lnTo>
                <a:lnTo>
                  <a:pt x="702259" y="101483"/>
                </a:lnTo>
                <a:lnTo>
                  <a:pt x="708111" y="108490"/>
                </a:lnTo>
                <a:lnTo>
                  <a:pt x="713963" y="115550"/>
                </a:lnTo>
                <a:lnTo>
                  <a:pt x="719815" y="122643"/>
                </a:lnTo>
                <a:lnTo>
                  <a:pt x="725667" y="129751"/>
                </a:lnTo>
                <a:lnTo>
                  <a:pt x="731520" y="136854"/>
                </a:lnTo>
                <a:lnTo>
                  <a:pt x="737372" y="143934"/>
                </a:lnTo>
                <a:lnTo>
                  <a:pt x="743224" y="150975"/>
                </a:lnTo>
                <a:lnTo>
                  <a:pt x="749076" y="157960"/>
                </a:lnTo>
                <a:lnTo>
                  <a:pt x="754928" y="164873"/>
                </a:lnTo>
                <a:lnTo>
                  <a:pt x="760780" y="171700"/>
                </a:lnTo>
                <a:lnTo>
                  <a:pt x="766632" y="178427"/>
                </a:lnTo>
                <a:lnTo>
                  <a:pt x="772485" y="185042"/>
                </a:lnTo>
                <a:lnTo>
                  <a:pt x="778337" y="191532"/>
                </a:lnTo>
                <a:lnTo>
                  <a:pt x="784189" y="197888"/>
                </a:lnTo>
                <a:lnTo>
                  <a:pt x="790041" y="204098"/>
                </a:lnTo>
                <a:lnTo>
                  <a:pt x="795893" y="210156"/>
                </a:lnTo>
                <a:lnTo>
                  <a:pt x="801745" y="216052"/>
                </a:lnTo>
                <a:lnTo>
                  <a:pt x="807598" y="221781"/>
                </a:lnTo>
                <a:lnTo>
                  <a:pt x="813450" y="227337"/>
                </a:lnTo>
                <a:lnTo>
                  <a:pt x="819302" y="232714"/>
                </a:lnTo>
                <a:lnTo>
                  <a:pt x="825154" y="237909"/>
                </a:lnTo>
                <a:lnTo>
                  <a:pt x="831006" y="242920"/>
                </a:lnTo>
                <a:lnTo>
                  <a:pt x="836858" y="247744"/>
                </a:lnTo>
                <a:lnTo>
                  <a:pt x="842711" y="252380"/>
                </a:lnTo>
                <a:lnTo>
                  <a:pt x="848563" y="256828"/>
                </a:lnTo>
                <a:lnTo>
                  <a:pt x="854415" y="261087"/>
                </a:lnTo>
                <a:lnTo>
                  <a:pt x="860267" y="265160"/>
                </a:lnTo>
                <a:lnTo>
                  <a:pt x="866119" y="269046"/>
                </a:lnTo>
                <a:lnTo>
                  <a:pt x="871971" y="272750"/>
                </a:lnTo>
                <a:lnTo>
                  <a:pt x="877824" y="276273"/>
                </a:lnTo>
                <a:lnTo>
                  <a:pt x="883676" y="279619"/>
                </a:lnTo>
                <a:lnTo>
                  <a:pt x="889528" y="282792"/>
                </a:lnTo>
                <a:lnTo>
                  <a:pt x="895380" y="285795"/>
                </a:lnTo>
                <a:lnTo>
                  <a:pt x="901232" y="288633"/>
                </a:lnTo>
                <a:lnTo>
                  <a:pt x="907084" y="291312"/>
                </a:lnTo>
                <a:lnTo>
                  <a:pt x="912936" y="293835"/>
                </a:lnTo>
                <a:lnTo>
                  <a:pt x="918789" y="296208"/>
                </a:lnTo>
                <a:lnTo>
                  <a:pt x="924641" y="298437"/>
                </a:lnTo>
                <a:lnTo>
                  <a:pt x="930493" y="300527"/>
                </a:lnTo>
                <a:lnTo>
                  <a:pt x="936345" y="302483"/>
                </a:lnTo>
                <a:lnTo>
                  <a:pt x="942197" y="304312"/>
                </a:lnTo>
                <a:lnTo>
                  <a:pt x="948049" y="306019"/>
                </a:lnTo>
                <a:lnTo>
                  <a:pt x="953902" y="307609"/>
                </a:lnTo>
                <a:lnTo>
                  <a:pt x="959754" y="309089"/>
                </a:lnTo>
                <a:lnTo>
                  <a:pt x="965606" y="310464"/>
                </a:lnTo>
                <a:lnTo>
                  <a:pt x="971458" y="311740"/>
                </a:lnTo>
                <a:lnTo>
                  <a:pt x="977310" y="312921"/>
                </a:lnTo>
                <a:lnTo>
                  <a:pt x="983162" y="314014"/>
                </a:lnTo>
                <a:lnTo>
                  <a:pt x="989015" y="315023"/>
                </a:lnTo>
                <a:lnTo>
                  <a:pt x="994867" y="315953"/>
                </a:lnTo>
                <a:lnTo>
                  <a:pt x="1000719" y="316810"/>
                </a:lnTo>
                <a:lnTo>
                  <a:pt x="1006571" y="317598"/>
                </a:lnTo>
                <a:lnTo>
                  <a:pt x="1012423" y="318321"/>
                </a:lnTo>
                <a:lnTo>
                  <a:pt x="1018275" y="318984"/>
                </a:lnTo>
                <a:lnTo>
                  <a:pt x="1024128" y="319590"/>
                </a:lnTo>
                <a:lnTo>
                  <a:pt x="1029980" y="320145"/>
                </a:lnTo>
                <a:lnTo>
                  <a:pt x="1035832" y="320651"/>
                </a:lnTo>
                <a:lnTo>
                  <a:pt x="1041684" y="321112"/>
                </a:lnTo>
                <a:lnTo>
                  <a:pt x="1047536" y="321532"/>
                </a:lnTo>
                <a:lnTo>
                  <a:pt x="1053388" y="321914"/>
                </a:lnTo>
                <a:lnTo>
                  <a:pt x="1059240" y="322260"/>
                </a:lnTo>
                <a:lnTo>
                  <a:pt x="1065093" y="322573"/>
                </a:lnTo>
                <a:lnTo>
                  <a:pt x="1070945" y="322857"/>
                </a:lnTo>
                <a:lnTo>
                  <a:pt x="1076797" y="323113"/>
                </a:lnTo>
                <a:lnTo>
                  <a:pt x="1082649" y="323345"/>
                </a:lnTo>
                <a:lnTo>
                  <a:pt x="1088501" y="323553"/>
                </a:lnTo>
                <a:lnTo>
                  <a:pt x="1094353" y="323741"/>
                </a:lnTo>
                <a:lnTo>
                  <a:pt x="1100206" y="323909"/>
                </a:lnTo>
                <a:lnTo>
                  <a:pt x="1106058" y="324060"/>
                </a:lnTo>
                <a:lnTo>
                  <a:pt x="1111910" y="324196"/>
                </a:lnTo>
                <a:lnTo>
                  <a:pt x="1117762" y="324317"/>
                </a:lnTo>
                <a:lnTo>
                  <a:pt x="1123614" y="324425"/>
                </a:lnTo>
                <a:lnTo>
                  <a:pt x="1129466" y="324521"/>
                </a:lnTo>
                <a:lnTo>
                  <a:pt x="1135319" y="324607"/>
                </a:lnTo>
                <a:lnTo>
                  <a:pt x="1141171" y="324684"/>
                </a:lnTo>
                <a:lnTo>
                  <a:pt x="1147023" y="324752"/>
                </a:lnTo>
                <a:lnTo>
                  <a:pt x="1152875" y="324812"/>
                </a:lnTo>
                <a:lnTo>
                  <a:pt x="1158727" y="324865"/>
                </a:lnTo>
                <a:lnTo>
                  <a:pt x="1164579" y="324912"/>
                </a:lnTo>
                <a:lnTo>
                  <a:pt x="1170432" y="324954"/>
                </a:lnTo>
                <a:lnTo>
                  <a:pt x="1176284" y="324991"/>
                </a:lnTo>
                <a:lnTo>
                  <a:pt x="1182136" y="325023"/>
                </a:lnTo>
                <a:lnTo>
                  <a:pt x="1187988" y="325052"/>
                </a:lnTo>
                <a:lnTo>
                  <a:pt x="1193840" y="325077"/>
                </a:lnTo>
                <a:lnTo>
                  <a:pt x="1199692" y="325099"/>
                </a:lnTo>
                <a:lnTo>
                  <a:pt x="1205544" y="325118"/>
                </a:lnTo>
                <a:lnTo>
                  <a:pt x="1211397" y="325135"/>
                </a:lnTo>
                <a:lnTo>
                  <a:pt x="1217249" y="325150"/>
                </a:lnTo>
                <a:lnTo>
                  <a:pt x="1223101" y="325162"/>
                </a:lnTo>
                <a:lnTo>
                  <a:pt x="1228953" y="325174"/>
                </a:lnTo>
                <a:lnTo>
                  <a:pt x="1234805" y="325183"/>
                </a:lnTo>
                <a:lnTo>
                  <a:pt x="1240657" y="325192"/>
                </a:lnTo>
                <a:lnTo>
                  <a:pt x="1246510" y="325199"/>
                </a:lnTo>
                <a:lnTo>
                  <a:pt x="1252362" y="325206"/>
                </a:lnTo>
                <a:lnTo>
                  <a:pt x="1258214" y="325211"/>
                </a:lnTo>
                <a:lnTo>
                  <a:pt x="1264066" y="325216"/>
                </a:lnTo>
                <a:lnTo>
                  <a:pt x="1269918" y="325220"/>
                </a:lnTo>
                <a:lnTo>
                  <a:pt x="1275770" y="325223"/>
                </a:lnTo>
                <a:lnTo>
                  <a:pt x="1281623" y="325226"/>
                </a:lnTo>
                <a:lnTo>
                  <a:pt x="1287475" y="325229"/>
                </a:lnTo>
                <a:lnTo>
                  <a:pt x="1293327" y="325231"/>
                </a:lnTo>
                <a:lnTo>
                  <a:pt x="1299179" y="325233"/>
                </a:lnTo>
                <a:lnTo>
                  <a:pt x="1305031" y="325235"/>
                </a:lnTo>
                <a:lnTo>
                  <a:pt x="1310883" y="325236"/>
                </a:lnTo>
                <a:lnTo>
                  <a:pt x="1316736" y="325237"/>
                </a:lnTo>
                <a:lnTo>
                  <a:pt x="1322588" y="325238"/>
                </a:lnTo>
                <a:lnTo>
                  <a:pt x="1328440" y="325239"/>
                </a:lnTo>
                <a:lnTo>
                  <a:pt x="1334292" y="325240"/>
                </a:lnTo>
                <a:lnTo>
                  <a:pt x="1340144" y="325241"/>
                </a:lnTo>
                <a:lnTo>
                  <a:pt x="1345996" y="325241"/>
                </a:lnTo>
                <a:lnTo>
                  <a:pt x="1351848" y="325242"/>
                </a:lnTo>
                <a:lnTo>
                  <a:pt x="1357701" y="325242"/>
                </a:lnTo>
                <a:lnTo>
                  <a:pt x="1363553" y="325242"/>
                </a:lnTo>
                <a:lnTo>
                  <a:pt x="1369405" y="325243"/>
                </a:lnTo>
                <a:lnTo>
                  <a:pt x="1375257" y="325243"/>
                </a:lnTo>
                <a:lnTo>
                  <a:pt x="1381109" y="325243"/>
                </a:lnTo>
                <a:lnTo>
                  <a:pt x="1386961" y="325243"/>
                </a:lnTo>
                <a:lnTo>
                  <a:pt x="1392814" y="325243"/>
                </a:lnTo>
                <a:lnTo>
                  <a:pt x="1398666" y="325243"/>
                </a:lnTo>
                <a:lnTo>
                  <a:pt x="1404518" y="325244"/>
                </a:lnTo>
                <a:lnTo>
                  <a:pt x="1410370" y="325244"/>
                </a:lnTo>
                <a:lnTo>
                  <a:pt x="1416222" y="325244"/>
                </a:lnTo>
                <a:lnTo>
                  <a:pt x="1422074" y="325244"/>
                </a:lnTo>
                <a:lnTo>
                  <a:pt x="1427927" y="325244"/>
                </a:lnTo>
                <a:lnTo>
                  <a:pt x="1433779" y="325244"/>
                </a:lnTo>
                <a:lnTo>
                  <a:pt x="1439631" y="325244"/>
                </a:lnTo>
                <a:lnTo>
                  <a:pt x="1445483" y="325244"/>
                </a:lnTo>
                <a:lnTo>
                  <a:pt x="1451335" y="325244"/>
                </a:lnTo>
                <a:lnTo>
                  <a:pt x="1457187" y="325244"/>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B2FB2BF0-055A-0538-4804-AC76DE4A7D91}"/>
              </a:ext>
            </a:extLst>
          </p:cNvPr>
          <p:cNvSpPr txBox="1"/>
          <p:nvPr/>
        </p:nvSpPr>
        <p:spPr>
          <a:xfrm>
            <a:off x="8110728"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2</a:t>
            </a:r>
          </a:p>
        </p:txBody>
      </p:sp>
      <p:sp>
        <p:nvSpPr>
          <p:cNvPr id="76" name="TextBox 75">
            <a:extLst>
              <a:ext uri="{FF2B5EF4-FFF2-40B4-BE49-F238E27FC236}">
                <a16:creationId xmlns:a16="http://schemas.microsoft.com/office/drawing/2014/main" id="{A0BA0C62-3C8E-9677-EE4A-BFB2F6B44539}"/>
              </a:ext>
            </a:extLst>
          </p:cNvPr>
          <p:cNvSpPr txBox="1"/>
          <p:nvPr/>
        </p:nvSpPr>
        <p:spPr>
          <a:xfrm>
            <a:off x="8110728"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6.8%</a:t>
            </a:r>
          </a:p>
        </p:txBody>
      </p:sp>
      <p:cxnSp>
        <p:nvCxnSpPr>
          <p:cNvPr id="77" name="Connector 76">
            <a:extLst>
              <a:ext uri="{FF2B5EF4-FFF2-40B4-BE49-F238E27FC236}">
                <a16:creationId xmlns:a16="http://schemas.microsoft.com/office/drawing/2014/main" id="{2DD6B5A6-D266-3170-EF7A-80C2C8FFAC28}"/>
              </a:ext>
            </a:extLst>
          </p:cNvPr>
          <p:cNvCxnSpPr/>
          <p:nvPr/>
        </p:nvCxnSpPr>
        <p:spPr>
          <a:xfrm>
            <a:off x="9628632" y="3474720"/>
            <a:ext cx="1828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D3B3BB1E-C822-CAE7-0164-2481828B2791}"/>
              </a:ext>
            </a:extLst>
          </p:cNvPr>
          <p:cNvSpPr/>
          <p:nvPr/>
        </p:nvSpPr>
        <p:spPr>
          <a:xfrm>
            <a:off x="9866376"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5"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a:extLst>
              <a:ext uri="{FF2B5EF4-FFF2-40B4-BE49-F238E27FC236}">
                <a16:creationId xmlns:a16="http://schemas.microsoft.com/office/drawing/2014/main" id="{4AB53AB9-701C-9BEE-6482-A2BFF29CC6D8}"/>
              </a:ext>
            </a:extLst>
          </p:cNvPr>
          <p:cNvSpPr/>
          <p:nvPr/>
        </p:nvSpPr>
        <p:spPr>
          <a:xfrm>
            <a:off x="9866376" y="3065470"/>
            <a:ext cx="1457187" cy="929268"/>
          </a:xfrm>
          <a:custGeom>
            <a:avLst/>
            <a:gdLst/>
            <a:ahLst/>
            <a:cxnLst/>
            <a:rect l="l" t="t" r="r" b="b"/>
            <a:pathLst>
              <a:path w="1457187" h="929268">
                <a:moveTo>
                  <a:pt x="0" y="902723"/>
                </a:moveTo>
                <a:lnTo>
                  <a:pt x="5852" y="897629"/>
                </a:lnTo>
                <a:lnTo>
                  <a:pt x="11704" y="891724"/>
                </a:lnTo>
                <a:lnTo>
                  <a:pt x="17556" y="884915"/>
                </a:lnTo>
                <a:lnTo>
                  <a:pt x="23408" y="877104"/>
                </a:lnTo>
                <a:lnTo>
                  <a:pt x="29260" y="868189"/>
                </a:lnTo>
                <a:lnTo>
                  <a:pt x="35112" y="858067"/>
                </a:lnTo>
                <a:lnTo>
                  <a:pt x="40965" y="846636"/>
                </a:lnTo>
                <a:lnTo>
                  <a:pt x="46817" y="833795"/>
                </a:lnTo>
                <a:lnTo>
                  <a:pt x="52669" y="819448"/>
                </a:lnTo>
                <a:lnTo>
                  <a:pt x="58521" y="803505"/>
                </a:lnTo>
                <a:lnTo>
                  <a:pt x="64373" y="785887"/>
                </a:lnTo>
                <a:lnTo>
                  <a:pt x="70225" y="766525"/>
                </a:lnTo>
                <a:lnTo>
                  <a:pt x="76078" y="745367"/>
                </a:lnTo>
                <a:lnTo>
                  <a:pt x="81930" y="722381"/>
                </a:lnTo>
                <a:lnTo>
                  <a:pt x="87782" y="697553"/>
                </a:lnTo>
                <a:lnTo>
                  <a:pt x="93634" y="670897"/>
                </a:lnTo>
                <a:lnTo>
                  <a:pt x="99486" y="642452"/>
                </a:lnTo>
                <a:lnTo>
                  <a:pt x="105338" y="612287"/>
                </a:lnTo>
                <a:lnTo>
                  <a:pt x="111191" y="580503"/>
                </a:lnTo>
                <a:lnTo>
                  <a:pt x="117043" y="547234"/>
                </a:lnTo>
                <a:lnTo>
                  <a:pt x="122895" y="512648"/>
                </a:lnTo>
                <a:lnTo>
                  <a:pt x="128747" y="476945"/>
                </a:lnTo>
                <a:lnTo>
                  <a:pt x="134599" y="440360"/>
                </a:lnTo>
                <a:lnTo>
                  <a:pt x="140451" y="403159"/>
                </a:lnTo>
                <a:lnTo>
                  <a:pt x="146304" y="365638"/>
                </a:lnTo>
                <a:lnTo>
                  <a:pt x="152156" y="328120"/>
                </a:lnTo>
                <a:lnTo>
                  <a:pt x="158008" y="290947"/>
                </a:lnTo>
                <a:lnTo>
                  <a:pt x="163860" y="254481"/>
                </a:lnTo>
                <a:lnTo>
                  <a:pt x="169712" y="219095"/>
                </a:lnTo>
                <a:lnTo>
                  <a:pt x="175564" y="185168"/>
                </a:lnTo>
                <a:lnTo>
                  <a:pt x="181416" y="153078"/>
                </a:lnTo>
                <a:lnTo>
                  <a:pt x="187269" y="123194"/>
                </a:lnTo>
                <a:lnTo>
                  <a:pt x="193121" y="95872"/>
                </a:lnTo>
                <a:lnTo>
                  <a:pt x="198973" y="71445"/>
                </a:lnTo>
                <a:lnTo>
                  <a:pt x="204825" y="50218"/>
                </a:lnTo>
                <a:lnTo>
                  <a:pt x="210677" y="32460"/>
                </a:lnTo>
                <a:lnTo>
                  <a:pt x="216529" y="18400"/>
                </a:lnTo>
                <a:lnTo>
                  <a:pt x="222382" y="8223"/>
                </a:lnTo>
                <a:lnTo>
                  <a:pt x="228234" y="2062"/>
                </a:lnTo>
                <a:lnTo>
                  <a:pt x="234086" y="0"/>
                </a:lnTo>
                <a:lnTo>
                  <a:pt x="239938" y="2062"/>
                </a:lnTo>
                <a:lnTo>
                  <a:pt x="245790" y="8223"/>
                </a:lnTo>
                <a:lnTo>
                  <a:pt x="251642" y="18400"/>
                </a:lnTo>
                <a:lnTo>
                  <a:pt x="257495" y="32460"/>
                </a:lnTo>
                <a:lnTo>
                  <a:pt x="263347" y="50218"/>
                </a:lnTo>
                <a:lnTo>
                  <a:pt x="269199" y="71445"/>
                </a:lnTo>
                <a:lnTo>
                  <a:pt x="275051" y="95872"/>
                </a:lnTo>
                <a:lnTo>
                  <a:pt x="280903" y="123194"/>
                </a:lnTo>
                <a:lnTo>
                  <a:pt x="286755" y="153078"/>
                </a:lnTo>
                <a:lnTo>
                  <a:pt x="292608" y="185168"/>
                </a:lnTo>
                <a:lnTo>
                  <a:pt x="298460" y="219095"/>
                </a:lnTo>
                <a:lnTo>
                  <a:pt x="304312" y="254481"/>
                </a:lnTo>
                <a:lnTo>
                  <a:pt x="310164" y="290947"/>
                </a:lnTo>
                <a:lnTo>
                  <a:pt x="316016" y="328120"/>
                </a:lnTo>
                <a:lnTo>
                  <a:pt x="321868" y="365638"/>
                </a:lnTo>
                <a:lnTo>
                  <a:pt x="327720" y="403159"/>
                </a:lnTo>
                <a:lnTo>
                  <a:pt x="333573" y="440360"/>
                </a:lnTo>
                <a:lnTo>
                  <a:pt x="339425" y="476945"/>
                </a:lnTo>
                <a:lnTo>
                  <a:pt x="345277" y="512648"/>
                </a:lnTo>
                <a:lnTo>
                  <a:pt x="351129" y="547234"/>
                </a:lnTo>
                <a:lnTo>
                  <a:pt x="356981" y="580503"/>
                </a:lnTo>
                <a:lnTo>
                  <a:pt x="362833" y="612287"/>
                </a:lnTo>
                <a:lnTo>
                  <a:pt x="368686" y="642452"/>
                </a:lnTo>
                <a:lnTo>
                  <a:pt x="374538" y="670897"/>
                </a:lnTo>
                <a:lnTo>
                  <a:pt x="380390" y="697553"/>
                </a:lnTo>
                <a:lnTo>
                  <a:pt x="386242" y="722381"/>
                </a:lnTo>
                <a:lnTo>
                  <a:pt x="392094" y="745367"/>
                </a:lnTo>
                <a:lnTo>
                  <a:pt x="397946" y="766525"/>
                </a:lnTo>
                <a:lnTo>
                  <a:pt x="403799" y="785887"/>
                </a:lnTo>
                <a:lnTo>
                  <a:pt x="409651" y="803505"/>
                </a:lnTo>
                <a:lnTo>
                  <a:pt x="415503" y="819448"/>
                </a:lnTo>
                <a:lnTo>
                  <a:pt x="421355" y="833795"/>
                </a:lnTo>
                <a:lnTo>
                  <a:pt x="427207" y="846636"/>
                </a:lnTo>
                <a:lnTo>
                  <a:pt x="433059" y="858067"/>
                </a:lnTo>
                <a:lnTo>
                  <a:pt x="438912" y="868189"/>
                </a:lnTo>
                <a:lnTo>
                  <a:pt x="444764" y="877104"/>
                </a:lnTo>
                <a:lnTo>
                  <a:pt x="450616" y="884915"/>
                </a:lnTo>
                <a:lnTo>
                  <a:pt x="456468" y="891724"/>
                </a:lnTo>
                <a:lnTo>
                  <a:pt x="462320" y="897629"/>
                </a:lnTo>
                <a:lnTo>
                  <a:pt x="468172" y="902723"/>
                </a:lnTo>
                <a:lnTo>
                  <a:pt x="474024" y="907096"/>
                </a:lnTo>
                <a:lnTo>
                  <a:pt x="479877" y="910830"/>
                </a:lnTo>
                <a:lnTo>
                  <a:pt x="485729" y="914004"/>
                </a:lnTo>
                <a:lnTo>
                  <a:pt x="491581" y="916687"/>
                </a:lnTo>
                <a:lnTo>
                  <a:pt x="497433" y="918945"/>
                </a:lnTo>
                <a:lnTo>
                  <a:pt x="503285" y="920835"/>
                </a:lnTo>
                <a:lnTo>
                  <a:pt x="509137" y="922409"/>
                </a:lnTo>
                <a:lnTo>
                  <a:pt x="514990" y="923715"/>
                </a:lnTo>
                <a:lnTo>
                  <a:pt x="520842" y="924792"/>
                </a:lnTo>
                <a:lnTo>
                  <a:pt x="526694" y="925676"/>
                </a:lnTo>
                <a:lnTo>
                  <a:pt x="532546" y="926398"/>
                </a:lnTo>
                <a:lnTo>
                  <a:pt x="538398" y="926985"/>
                </a:lnTo>
                <a:lnTo>
                  <a:pt x="544250" y="927460"/>
                </a:lnTo>
                <a:lnTo>
                  <a:pt x="550103" y="927843"/>
                </a:lnTo>
                <a:lnTo>
                  <a:pt x="555955" y="928149"/>
                </a:lnTo>
                <a:lnTo>
                  <a:pt x="561807" y="928394"/>
                </a:lnTo>
                <a:lnTo>
                  <a:pt x="567659" y="928588"/>
                </a:lnTo>
                <a:lnTo>
                  <a:pt x="573511" y="928741"/>
                </a:lnTo>
                <a:lnTo>
                  <a:pt x="579363" y="928862"/>
                </a:lnTo>
                <a:lnTo>
                  <a:pt x="585216" y="928956"/>
                </a:lnTo>
                <a:lnTo>
                  <a:pt x="591068" y="929030"/>
                </a:lnTo>
                <a:lnTo>
                  <a:pt x="596920" y="929087"/>
                </a:lnTo>
                <a:lnTo>
                  <a:pt x="602772" y="929131"/>
                </a:lnTo>
                <a:lnTo>
                  <a:pt x="608624" y="929164"/>
                </a:lnTo>
                <a:lnTo>
                  <a:pt x="614476" y="929190"/>
                </a:lnTo>
                <a:lnTo>
                  <a:pt x="620328" y="929210"/>
                </a:lnTo>
                <a:lnTo>
                  <a:pt x="626181" y="929225"/>
                </a:lnTo>
                <a:lnTo>
                  <a:pt x="632033" y="929236"/>
                </a:lnTo>
                <a:lnTo>
                  <a:pt x="637885" y="929244"/>
                </a:lnTo>
                <a:lnTo>
                  <a:pt x="643737" y="929251"/>
                </a:lnTo>
                <a:lnTo>
                  <a:pt x="649589" y="929255"/>
                </a:lnTo>
                <a:lnTo>
                  <a:pt x="655441" y="929259"/>
                </a:lnTo>
                <a:lnTo>
                  <a:pt x="661294" y="929261"/>
                </a:lnTo>
                <a:lnTo>
                  <a:pt x="667146" y="929263"/>
                </a:lnTo>
                <a:lnTo>
                  <a:pt x="672998" y="929265"/>
                </a:lnTo>
                <a:lnTo>
                  <a:pt x="678850" y="929266"/>
                </a:lnTo>
                <a:lnTo>
                  <a:pt x="684702" y="929266"/>
                </a:lnTo>
                <a:lnTo>
                  <a:pt x="690554" y="929267"/>
                </a:lnTo>
                <a:lnTo>
                  <a:pt x="696407" y="929267"/>
                </a:lnTo>
                <a:lnTo>
                  <a:pt x="702259" y="929267"/>
                </a:lnTo>
                <a:lnTo>
                  <a:pt x="708111" y="929268"/>
                </a:lnTo>
                <a:lnTo>
                  <a:pt x="713963" y="929268"/>
                </a:lnTo>
                <a:lnTo>
                  <a:pt x="719815" y="929268"/>
                </a:lnTo>
                <a:lnTo>
                  <a:pt x="725667" y="929268"/>
                </a:lnTo>
                <a:lnTo>
                  <a:pt x="731520" y="929268"/>
                </a:lnTo>
                <a:lnTo>
                  <a:pt x="737372" y="929268"/>
                </a:lnTo>
                <a:lnTo>
                  <a:pt x="743224" y="929268"/>
                </a:lnTo>
                <a:lnTo>
                  <a:pt x="749076" y="929268"/>
                </a:lnTo>
                <a:lnTo>
                  <a:pt x="754928" y="929268"/>
                </a:lnTo>
                <a:lnTo>
                  <a:pt x="760780" y="929268"/>
                </a:lnTo>
                <a:lnTo>
                  <a:pt x="766632" y="929268"/>
                </a:lnTo>
                <a:lnTo>
                  <a:pt x="772485" y="929268"/>
                </a:lnTo>
                <a:lnTo>
                  <a:pt x="778337" y="929268"/>
                </a:lnTo>
                <a:lnTo>
                  <a:pt x="784189" y="929268"/>
                </a:lnTo>
                <a:lnTo>
                  <a:pt x="790041" y="929268"/>
                </a:lnTo>
                <a:lnTo>
                  <a:pt x="795893" y="929268"/>
                </a:lnTo>
                <a:lnTo>
                  <a:pt x="801745" y="929268"/>
                </a:lnTo>
                <a:lnTo>
                  <a:pt x="807598" y="929268"/>
                </a:lnTo>
                <a:lnTo>
                  <a:pt x="813450" y="929268"/>
                </a:lnTo>
                <a:lnTo>
                  <a:pt x="819302" y="929268"/>
                </a:lnTo>
                <a:lnTo>
                  <a:pt x="825154" y="929268"/>
                </a:lnTo>
                <a:lnTo>
                  <a:pt x="831006" y="929268"/>
                </a:lnTo>
                <a:lnTo>
                  <a:pt x="836858" y="929268"/>
                </a:lnTo>
                <a:lnTo>
                  <a:pt x="842711" y="929268"/>
                </a:lnTo>
                <a:lnTo>
                  <a:pt x="848563" y="929268"/>
                </a:lnTo>
                <a:lnTo>
                  <a:pt x="854415" y="929268"/>
                </a:lnTo>
                <a:lnTo>
                  <a:pt x="860267" y="929268"/>
                </a:lnTo>
                <a:lnTo>
                  <a:pt x="866119" y="929268"/>
                </a:lnTo>
                <a:lnTo>
                  <a:pt x="871971" y="929268"/>
                </a:lnTo>
                <a:lnTo>
                  <a:pt x="877824" y="929268"/>
                </a:lnTo>
                <a:lnTo>
                  <a:pt x="883676" y="929268"/>
                </a:lnTo>
                <a:lnTo>
                  <a:pt x="889528" y="929268"/>
                </a:lnTo>
                <a:lnTo>
                  <a:pt x="895380" y="929268"/>
                </a:lnTo>
                <a:lnTo>
                  <a:pt x="901232" y="929268"/>
                </a:lnTo>
                <a:lnTo>
                  <a:pt x="907084" y="929268"/>
                </a:lnTo>
                <a:lnTo>
                  <a:pt x="912936" y="929268"/>
                </a:lnTo>
                <a:lnTo>
                  <a:pt x="918789" y="929268"/>
                </a:lnTo>
                <a:lnTo>
                  <a:pt x="924641" y="929268"/>
                </a:lnTo>
                <a:lnTo>
                  <a:pt x="930493" y="929268"/>
                </a:lnTo>
                <a:lnTo>
                  <a:pt x="936345" y="929268"/>
                </a:lnTo>
                <a:lnTo>
                  <a:pt x="942197" y="929268"/>
                </a:lnTo>
                <a:lnTo>
                  <a:pt x="948049" y="929268"/>
                </a:lnTo>
                <a:lnTo>
                  <a:pt x="953902" y="929268"/>
                </a:lnTo>
                <a:lnTo>
                  <a:pt x="959754" y="929268"/>
                </a:lnTo>
                <a:lnTo>
                  <a:pt x="965606" y="929268"/>
                </a:lnTo>
                <a:lnTo>
                  <a:pt x="971458" y="929268"/>
                </a:lnTo>
                <a:lnTo>
                  <a:pt x="977310" y="929268"/>
                </a:lnTo>
                <a:lnTo>
                  <a:pt x="983162" y="929268"/>
                </a:lnTo>
                <a:lnTo>
                  <a:pt x="989015" y="929268"/>
                </a:lnTo>
                <a:lnTo>
                  <a:pt x="994867" y="929268"/>
                </a:lnTo>
                <a:lnTo>
                  <a:pt x="1000719" y="929268"/>
                </a:lnTo>
                <a:lnTo>
                  <a:pt x="1006571" y="929268"/>
                </a:lnTo>
                <a:lnTo>
                  <a:pt x="1012423" y="929268"/>
                </a:lnTo>
                <a:lnTo>
                  <a:pt x="1018275" y="929268"/>
                </a:lnTo>
                <a:lnTo>
                  <a:pt x="1024128" y="929268"/>
                </a:lnTo>
                <a:lnTo>
                  <a:pt x="1029980" y="929268"/>
                </a:lnTo>
                <a:lnTo>
                  <a:pt x="1035832" y="929268"/>
                </a:lnTo>
                <a:lnTo>
                  <a:pt x="1041684" y="929268"/>
                </a:lnTo>
                <a:lnTo>
                  <a:pt x="1047536" y="929268"/>
                </a:lnTo>
                <a:lnTo>
                  <a:pt x="1053388" y="929268"/>
                </a:lnTo>
                <a:lnTo>
                  <a:pt x="1059240" y="929268"/>
                </a:lnTo>
                <a:lnTo>
                  <a:pt x="1065093" y="929268"/>
                </a:lnTo>
                <a:lnTo>
                  <a:pt x="1070945" y="929268"/>
                </a:lnTo>
                <a:lnTo>
                  <a:pt x="1076797" y="929268"/>
                </a:lnTo>
                <a:lnTo>
                  <a:pt x="1082649" y="929268"/>
                </a:lnTo>
                <a:lnTo>
                  <a:pt x="1088501" y="929268"/>
                </a:lnTo>
                <a:lnTo>
                  <a:pt x="1094353" y="929268"/>
                </a:lnTo>
                <a:lnTo>
                  <a:pt x="1100206" y="929268"/>
                </a:lnTo>
                <a:lnTo>
                  <a:pt x="1106058" y="929268"/>
                </a:lnTo>
                <a:lnTo>
                  <a:pt x="1111910" y="929268"/>
                </a:lnTo>
                <a:lnTo>
                  <a:pt x="1117762" y="929268"/>
                </a:lnTo>
                <a:lnTo>
                  <a:pt x="1123614" y="929268"/>
                </a:lnTo>
                <a:lnTo>
                  <a:pt x="1129466" y="929268"/>
                </a:lnTo>
                <a:lnTo>
                  <a:pt x="1135319" y="929268"/>
                </a:lnTo>
                <a:lnTo>
                  <a:pt x="1141171" y="929268"/>
                </a:lnTo>
                <a:lnTo>
                  <a:pt x="1147023" y="929268"/>
                </a:lnTo>
                <a:lnTo>
                  <a:pt x="1152875" y="929268"/>
                </a:lnTo>
                <a:lnTo>
                  <a:pt x="1158727" y="929268"/>
                </a:lnTo>
                <a:lnTo>
                  <a:pt x="1164579" y="929268"/>
                </a:lnTo>
                <a:lnTo>
                  <a:pt x="1170432" y="929268"/>
                </a:lnTo>
                <a:lnTo>
                  <a:pt x="1176284" y="929268"/>
                </a:lnTo>
                <a:lnTo>
                  <a:pt x="1182136" y="929268"/>
                </a:lnTo>
                <a:lnTo>
                  <a:pt x="1187988" y="929268"/>
                </a:lnTo>
                <a:lnTo>
                  <a:pt x="1193840" y="929268"/>
                </a:lnTo>
                <a:lnTo>
                  <a:pt x="1199692" y="929268"/>
                </a:lnTo>
                <a:lnTo>
                  <a:pt x="1205544" y="929268"/>
                </a:lnTo>
                <a:lnTo>
                  <a:pt x="1211397" y="929268"/>
                </a:lnTo>
                <a:lnTo>
                  <a:pt x="1217249" y="929268"/>
                </a:lnTo>
                <a:lnTo>
                  <a:pt x="1223101" y="929268"/>
                </a:lnTo>
                <a:lnTo>
                  <a:pt x="1228953" y="929268"/>
                </a:lnTo>
                <a:lnTo>
                  <a:pt x="1234805" y="929268"/>
                </a:lnTo>
                <a:lnTo>
                  <a:pt x="1240657" y="929268"/>
                </a:lnTo>
                <a:lnTo>
                  <a:pt x="1246510" y="929268"/>
                </a:lnTo>
                <a:lnTo>
                  <a:pt x="1252362" y="929268"/>
                </a:lnTo>
                <a:lnTo>
                  <a:pt x="1258214" y="929268"/>
                </a:lnTo>
                <a:lnTo>
                  <a:pt x="1264066" y="929268"/>
                </a:lnTo>
                <a:lnTo>
                  <a:pt x="1269918" y="929268"/>
                </a:lnTo>
                <a:lnTo>
                  <a:pt x="1275770" y="929268"/>
                </a:lnTo>
                <a:lnTo>
                  <a:pt x="1281623" y="929268"/>
                </a:lnTo>
                <a:lnTo>
                  <a:pt x="1287475" y="929268"/>
                </a:lnTo>
                <a:lnTo>
                  <a:pt x="1293327" y="929268"/>
                </a:lnTo>
                <a:lnTo>
                  <a:pt x="1299179" y="929268"/>
                </a:lnTo>
                <a:lnTo>
                  <a:pt x="1305031" y="929268"/>
                </a:lnTo>
                <a:lnTo>
                  <a:pt x="1310883" y="929268"/>
                </a:lnTo>
                <a:lnTo>
                  <a:pt x="1316735" y="929268"/>
                </a:lnTo>
                <a:lnTo>
                  <a:pt x="1322588" y="929268"/>
                </a:lnTo>
                <a:lnTo>
                  <a:pt x="1328440" y="929268"/>
                </a:lnTo>
                <a:lnTo>
                  <a:pt x="1334292" y="929268"/>
                </a:lnTo>
                <a:lnTo>
                  <a:pt x="1340144" y="929268"/>
                </a:lnTo>
                <a:lnTo>
                  <a:pt x="1345996" y="929268"/>
                </a:lnTo>
                <a:lnTo>
                  <a:pt x="1351848" y="929268"/>
                </a:lnTo>
                <a:lnTo>
                  <a:pt x="1357701" y="929268"/>
                </a:lnTo>
                <a:lnTo>
                  <a:pt x="1363553" y="929268"/>
                </a:lnTo>
                <a:lnTo>
                  <a:pt x="1369405" y="929268"/>
                </a:lnTo>
                <a:lnTo>
                  <a:pt x="1375257" y="929268"/>
                </a:lnTo>
                <a:lnTo>
                  <a:pt x="1381109" y="929268"/>
                </a:lnTo>
                <a:lnTo>
                  <a:pt x="1386961" y="929268"/>
                </a:lnTo>
                <a:lnTo>
                  <a:pt x="1392814" y="929268"/>
                </a:lnTo>
                <a:lnTo>
                  <a:pt x="1398666" y="929268"/>
                </a:lnTo>
                <a:lnTo>
                  <a:pt x="1404518" y="929268"/>
                </a:lnTo>
                <a:lnTo>
                  <a:pt x="1410370" y="929268"/>
                </a:lnTo>
                <a:lnTo>
                  <a:pt x="1416222" y="929268"/>
                </a:lnTo>
                <a:lnTo>
                  <a:pt x="1422074" y="929268"/>
                </a:lnTo>
                <a:lnTo>
                  <a:pt x="1427927" y="929268"/>
                </a:lnTo>
                <a:lnTo>
                  <a:pt x="1433779" y="929268"/>
                </a:lnTo>
                <a:lnTo>
                  <a:pt x="1439631" y="929268"/>
                </a:lnTo>
                <a:lnTo>
                  <a:pt x="1445483" y="929268"/>
                </a:lnTo>
                <a:lnTo>
                  <a:pt x="1451335" y="929268"/>
                </a:lnTo>
                <a:lnTo>
                  <a:pt x="1457187" y="929268"/>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a:extLst>
              <a:ext uri="{FF2B5EF4-FFF2-40B4-BE49-F238E27FC236}">
                <a16:creationId xmlns:a16="http://schemas.microsoft.com/office/drawing/2014/main" id="{1C1B4132-508C-50AF-1960-BB070D398813}"/>
              </a:ext>
            </a:extLst>
          </p:cNvPr>
          <p:cNvSpPr/>
          <p:nvPr/>
        </p:nvSpPr>
        <p:spPr>
          <a:xfrm>
            <a:off x="9866376" y="3604445"/>
            <a:ext cx="1457187" cy="390293"/>
          </a:xfrm>
          <a:custGeom>
            <a:avLst/>
            <a:gdLst/>
            <a:ahLst/>
            <a:cxnLst/>
            <a:rect l="l" t="t" r="r" b="b"/>
            <a:pathLst>
              <a:path w="1457187" h="390293">
                <a:moveTo>
                  <a:pt x="0" y="390136"/>
                </a:moveTo>
                <a:lnTo>
                  <a:pt x="5852" y="390104"/>
                </a:lnTo>
                <a:lnTo>
                  <a:pt x="11704" y="390066"/>
                </a:lnTo>
                <a:lnTo>
                  <a:pt x="17556" y="390022"/>
                </a:lnTo>
                <a:lnTo>
                  <a:pt x="23408" y="389970"/>
                </a:lnTo>
                <a:lnTo>
                  <a:pt x="29260" y="389909"/>
                </a:lnTo>
                <a:lnTo>
                  <a:pt x="35112" y="389836"/>
                </a:lnTo>
                <a:lnTo>
                  <a:pt x="40965" y="389752"/>
                </a:lnTo>
                <a:lnTo>
                  <a:pt x="46817" y="389653"/>
                </a:lnTo>
                <a:lnTo>
                  <a:pt x="52669" y="389538"/>
                </a:lnTo>
                <a:lnTo>
                  <a:pt x="58521" y="389404"/>
                </a:lnTo>
                <a:lnTo>
                  <a:pt x="64373" y="389248"/>
                </a:lnTo>
                <a:lnTo>
                  <a:pt x="70225" y="389068"/>
                </a:lnTo>
                <a:lnTo>
                  <a:pt x="76078" y="388860"/>
                </a:lnTo>
                <a:lnTo>
                  <a:pt x="81930" y="388621"/>
                </a:lnTo>
                <a:lnTo>
                  <a:pt x="87782" y="388345"/>
                </a:lnTo>
                <a:lnTo>
                  <a:pt x="93634" y="388029"/>
                </a:lnTo>
                <a:lnTo>
                  <a:pt x="99486" y="387668"/>
                </a:lnTo>
                <a:lnTo>
                  <a:pt x="105338" y="387255"/>
                </a:lnTo>
                <a:lnTo>
                  <a:pt x="111191" y="386785"/>
                </a:lnTo>
                <a:lnTo>
                  <a:pt x="117043" y="386251"/>
                </a:lnTo>
                <a:lnTo>
                  <a:pt x="122895" y="385645"/>
                </a:lnTo>
                <a:lnTo>
                  <a:pt x="128747" y="384961"/>
                </a:lnTo>
                <a:lnTo>
                  <a:pt x="134599" y="384189"/>
                </a:lnTo>
                <a:lnTo>
                  <a:pt x="140451" y="383320"/>
                </a:lnTo>
                <a:lnTo>
                  <a:pt x="146304" y="382345"/>
                </a:lnTo>
                <a:lnTo>
                  <a:pt x="152156" y="381253"/>
                </a:lnTo>
                <a:lnTo>
                  <a:pt x="158008" y="380034"/>
                </a:lnTo>
                <a:lnTo>
                  <a:pt x="163860" y="378675"/>
                </a:lnTo>
                <a:lnTo>
                  <a:pt x="169712" y="377164"/>
                </a:lnTo>
                <a:lnTo>
                  <a:pt x="175564" y="375490"/>
                </a:lnTo>
                <a:lnTo>
                  <a:pt x="181416" y="373637"/>
                </a:lnTo>
                <a:lnTo>
                  <a:pt x="187269" y="371594"/>
                </a:lnTo>
                <a:lnTo>
                  <a:pt x="193121" y="369344"/>
                </a:lnTo>
                <a:lnTo>
                  <a:pt x="198973" y="366876"/>
                </a:lnTo>
                <a:lnTo>
                  <a:pt x="204825" y="364172"/>
                </a:lnTo>
                <a:lnTo>
                  <a:pt x="210677" y="361220"/>
                </a:lnTo>
                <a:lnTo>
                  <a:pt x="216529" y="358004"/>
                </a:lnTo>
                <a:lnTo>
                  <a:pt x="222382" y="354509"/>
                </a:lnTo>
                <a:lnTo>
                  <a:pt x="228234" y="350722"/>
                </a:lnTo>
                <a:lnTo>
                  <a:pt x="234086" y="346629"/>
                </a:lnTo>
                <a:lnTo>
                  <a:pt x="239938" y="342217"/>
                </a:lnTo>
                <a:lnTo>
                  <a:pt x="245790" y="337473"/>
                </a:lnTo>
                <a:lnTo>
                  <a:pt x="251642" y="332386"/>
                </a:lnTo>
                <a:lnTo>
                  <a:pt x="257495" y="326947"/>
                </a:lnTo>
                <a:lnTo>
                  <a:pt x="263347" y="321146"/>
                </a:lnTo>
                <a:lnTo>
                  <a:pt x="269199" y="314978"/>
                </a:lnTo>
                <a:lnTo>
                  <a:pt x="275051" y="308436"/>
                </a:lnTo>
                <a:lnTo>
                  <a:pt x="280903" y="301519"/>
                </a:lnTo>
                <a:lnTo>
                  <a:pt x="286755" y="294225"/>
                </a:lnTo>
                <a:lnTo>
                  <a:pt x="292608" y="286556"/>
                </a:lnTo>
                <a:lnTo>
                  <a:pt x="298460" y="278518"/>
                </a:lnTo>
                <a:lnTo>
                  <a:pt x="304312" y="270116"/>
                </a:lnTo>
                <a:lnTo>
                  <a:pt x="310164" y="261363"/>
                </a:lnTo>
                <a:lnTo>
                  <a:pt x="316016" y="252271"/>
                </a:lnTo>
                <a:lnTo>
                  <a:pt x="321868" y="242857"/>
                </a:lnTo>
                <a:lnTo>
                  <a:pt x="327720" y="233141"/>
                </a:lnTo>
                <a:lnTo>
                  <a:pt x="333573" y="223146"/>
                </a:lnTo>
                <a:lnTo>
                  <a:pt x="339425" y="212901"/>
                </a:lnTo>
                <a:lnTo>
                  <a:pt x="345277" y="202434"/>
                </a:lnTo>
                <a:lnTo>
                  <a:pt x="351129" y="191780"/>
                </a:lnTo>
                <a:lnTo>
                  <a:pt x="356981" y="180974"/>
                </a:lnTo>
                <a:lnTo>
                  <a:pt x="362833" y="170058"/>
                </a:lnTo>
                <a:lnTo>
                  <a:pt x="368686" y="159073"/>
                </a:lnTo>
                <a:lnTo>
                  <a:pt x="374538" y="148064"/>
                </a:lnTo>
                <a:lnTo>
                  <a:pt x="380390" y="137080"/>
                </a:lnTo>
                <a:lnTo>
                  <a:pt x="386242" y="126170"/>
                </a:lnTo>
                <a:lnTo>
                  <a:pt x="392094" y="115385"/>
                </a:lnTo>
                <a:lnTo>
                  <a:pt x="397946" y="104778"/>
                </a:lnTo>
                <a:lnTo>
                  <a:pt x="403799" y="94402"/>
                </a:lnTo>
                <a:lnTo>
                  <a:pt x="409651" y="84312"/>
                </a:lnTo>
                <a:lnTo>
                  <a:pt x="415503" y="74562"/>
                </a:lnTo>
                <a:lnTo>
                  <a:pt x="421355" y="65205"/>
                </a:lnTo>
                <a:lnTo>
                  <a:pt x="427207" y="56294"/>
                </a:lnTo>
                <a:lnTo>
                  <a:pt x="433059" y="47881"/>
                </a:lnTo>
                <a:lnTo>
                  <a:pt x="438912" y="40014"/>
                </a:lnTo>
                <a:lnTo>
                  <a:pt x="444764" y="32741"/>
                </a:lnTo>
                <a:lnTo>
                  <a:pt x="450616" y="26105"/>
                </a:lnTo>
                <a:lnTo>
                  <a:pt x="456468" y="20148"/>
                </a:lnTo>
                <a:lnTo>
                  <a:pt x="462320" y="14906"/>
                </a:lnTo>
                <a:lnTo>
                  <a:pt x="468172" y="10413"/>
                </a:lnTo>
                <a:lnTo>
                  <a:pt x="474024" y="6697"/>
                </a:lnTo>
                <a:lnTo>
                  <a:pt x="479877" y="3781"/>
                </a:lnTo>
                <a:lnTo>
                  <a:pt x="485729" y="1685"/>
                </a:lnTo>
                <a:lnTo>
                  <a:pt x="491581" y="422"/>
                </a:lnTo>
                <a:lnTo>
                  <a:pt x="497433" y="0"/>
                </a:lnTo>
                <a:lnTo>
                  <a:pt x="503285" y="422"/>
                </a:lnTo>
                <a:lnTo>
                  <a:pt x="509137" y="1685"/>
                </a:lnTo>
                <a:lnTo>
                  <a:pt x="514990" y="3781"/>
                </a:lnTo>
                <a:lnTo>
                  <a:pt x="520842" y="6697"/>
                </a:lnTo>
                <a:lnTo>
                  <a:pt x="526694" y="10413"/>
                </a:lnTo>
                <a:lnTo>
                  <a:pt x="532546" y="14906"/>
                </a:lnTo>
                <a:lnTo>
                  <a:pt x="538398" y="20148"/>
                </a:lnTo>
                <a:lnTo>
                  <a:pt x="544250" y="26105"/>
                </a:lnTo>
                <a:lnTo>
                  <a:pt x="550103" y="32741"/>
                </a:lnTo>
                <a:lnTo>
                  <a:pt x="555955" y="40014"/>
                </a:lnTo>
                <a:lnTo>
                  <a:pt x="561807" y="47881"/>
                </a:lnTo>
                <a:lnTo>
                  <a:pt x="567659" y="56294"/>
                </a:lnTo>
                <a:lnTo>
                  <a:pt x="573511" y="65205"/>
                </a:lnTo>
                <a:lnTo>
                  <a:pt x="579363" y="74562"/>
                </a:lnTo>
                <a:lnTo>
                  <a:pt x="585216" y="84312"/>
                </a:lnTo>
                <a:lnTo>
                  <a:pt x="591068" y="94402"/>
                </a:lnTo>
                <a:lnTo>
                  <a:pt x="596920" y="104778"/>
                </a:lnTo>
                <a:lnTo>
                  <a:pt x="602772" y="115385"/>
                </a:lnTo>
                <a:lnTo>
                  <a:pt x="608624" y="126170"/>
                </a:lnTo>
                <a:lnTo>
                  <a:pt x="614476" y="137080"/>
                </a:lnTo>
                <a:lnTo>
                  <a:pt x="620328" y="148064"/>
                </a:lnTo>
                <a:lnTo>
                  <a:pt x="626181" y="159073"/>
                </a:lnTo>
                <a:lnTo>
                  <a:pt x="632033" y="170058"/>
                </a:lnTo>
                <a:lnTo>
                  <a:pt x="637885" y="180974"/>
                </a:lnTo>
                <a:lnTo>
                  <a:pt x="643737" y="191780"/>
                </a:lnTo>
                <a:lnTo>
                  <a:pt x="649589" y="202434"/>
                </a:lnTo>
                <a:lnTo>
                  <a:pt x="655441" y="212901"/>
                </a:lnTo>
                <a:lnTo>
                  <a:pt x="661294" y="223146"/>
                </a:lnTo>
                <a:lnTo>
                  <a:pt x="667146" y="233141"/>
                </a:lnTo>
                <a:lnTo>
                  <a:pt x="672998" y="242857"/>
                </a:lnTo>
                <a:lnTo>
                  <a:pt x="678850" y="252271"/>
                </a:lnTo>
                <a:lnTo>
                  <a:pt x="684702" y="261363"/>
                </a:lnTo>
                <a:lnTo>
                  <a:pt x="690554" y="270116"/>
                </a:lnTo>
                <a:lnTo>
                  <a:pt x="696407" y="278518"/>
                </a:lnTo>
                <a:lnTo>
                  <a:pt x="702259" y="286556"/>
                </a:lnTo>
                <a:lnTo>
                  <a:pt x="708111" y="294225"/>
                </a:lnTo>
                <a:lnTo>
                  <a:pt x="713963" y="301519"/>
                </a:lnTo>
                <a:lnTo>
                  <a:pt x="719815" y="308436"/>
                </a:lnTo>
                <a:lnTo>
                  <a:pt x="725667" y="314978"/>
                </a:lnTo>
                <a:lnTo>
                  <a:pt x="731520" y="321146"/>
                </a:lnTo>
                <a:lnTo>
                  <a:pt x="737372" y="326947"/>
                </a:lnTo>
                <a:lnTo>
                  <a:pt x="743224" y="332386"/>
                </a:lnTo>
                <a:lnTo>
                  <a:pt x="749076" y="337473"/>
                </a:lnTo>
                <a:lnTo>
                  <a:pt x="754928" y="342217"/>
                </a:lnTo>
                <a:lnTo>
                  <a:pt x="760780" y="346629"/>
                </a:lnTo>
                <a:lnTo>
                  <a:pt x="766632" y="350722"/>
                </a:lnTo>
                <a:lnTo>
                  <a:pt x="772485" y="354509"/>
                </a:lnTo>
                <a:lnTo>
                  <a:pt x="778337" y="358004"/>
                </a:lnTo>
                <a:lnTo>
                  <a:pt x="784189" y="361220"/>
                </a:lnTo>
                <a:lnTo>
                  <a:pt x="790041" y="364172"/>
                </a:lnTo>
                <a:lnTo>
                  <a:pt x="795893" y="366876"/>
                </a:lnTo>
                <a:lnTo>
                  <a:pt x="801745" y="369344"/>
                </a:lnTo>
                <a:lnTo>
                  <a:pt x="807598" y="371594"/>
                </a:lnTo>
                <a:lnTo>
                  <a:pt x="813450" y="373637"/>
                </a:lnTo>
                <a:lnTo>
                  <a:pt x="819302" y="375490"/>
                </a:lnTo>
                <a:lnTo>
                  <a:pt x="825154" y="377164"/>
                </a:lnTo>
                <a:lnTo>
                  <a:pt x="831006" y="378675"/>
                </a:lnTo>
                <a:lnTo>
                  <a:pt x="836858" y="380034"/>
                </a:lnTo>
                <a:lnTo>
                  <a:pt x="842711" y="381253"/>
                </a:lnTo>
                <a:lnTo>
                  <a:pt x="848563" y="382345"/>
                </a:lnTo>
                <a:lnTo>
                  <a:pt x="854415" y="383320"/>
                </a:lnTo>
                <a:lnTo>
                  <a:pt x="860267" y="384189"/>
                </a:lnTo>
                <a:lnTo>
                  <a:pt x="866119" y="384961"/>
                </a:lnTo>
                <a:lnTo>
                  <a:pt x="871971" y="385645"/>
                </a:lnTo>
                <a:lnTo>
                  <a:pt x="877824" y="386251"/>
                </a:lnTo>
                <a:lnTo>
                  <a:pt x="883676" y="386785"/>
                </a:lnTo>
                <a:lnTo>
                  <a:pt x="889528" y="387255"/>
                </a:lnTo>
                <a:lnTo>
                  <a:pt x="895380" y="387668"/>
                </a:lnTo>
                <a:lnTo>
                  <a:pt x="901232" y="388029"/>
                </a:lnTo>
                <a:lnTo>
                  <a:pt x="907084" y="388345"/>
                </a:lnTo>
                <a:lnTo>
                  <a:pt x="912936" y="388621"/>
                </a:lnTo>
                <a:lnTo>
                  <a:pt x="918789" y="388860"/>
                </a:lnTo>
                <a:lnTo>
                  <a:pt x="924641" y="389068"/>
                </a:lnTo>
                <a:lnTo>
                  <a:pt x="930493" y="389248"/>
                </a:lnTo>
                <a:lnTo>
                  <a:pt x="936345" y="389404"/>
                </a:lnTo>
                <a:lnTo>
                  <a:pt x="942197" y="389538"/>
                </a:lnTo>
                <a:lnTo>
                  <a:pt x="948049" y="389653"/>
                </a:lnTo>
                <a:lnTo>
                  <a:pt x="953902" y="389752"/>
                </a:lnTo>
                <a:lnTo>
                  <a:pt x="959754" y="389836"/>
                </a:lnTo>
                <a:lnTo>
                  <a:pt x="965606" y="389909"/>
                </a:lnTo>
                <a:lnTo>
                  <a:pt x="971458" y="389970"/>
                </a:lnTo>
                <a:lnTo>
                  <a:pt x="977310" y="390022"/>
                </a:lnTo>
                <a:lnTo>
                  <a:pt x="983162" y="390066"/>
                </a:lnTo>
                <a:lnTo>
                  <a:pt x="989015" y="390104"/>
                </a:lnTo>
                <a:lnTo>
                  <a:pt x="994867" y="390136"/>
                </a:lnTo>
                <a:lnTo>
                  <a:pt x="1000719" y="390162"/>
                </a:lnTo>
                <a:lnTo>
                  <a:pt x="1006571" y="390184"/>
                </a:lnTo>
                <a:lnTo>
                  <a:pt x="1012423" y="390203"/>
                </a:lnTo>
                <a:lnTo>
                  <a:pt x="1018275" y="390219"/>
                </a:lnTo>
                <a:lnTo>
                  <a:pt x="1024128" y="390232"/>
                </a:lnTo>
                <a:lnTo>
                  <a:pt x="1029980" y="390243"/>
                </a:lnTo>
                <a:lnTo>
                  <a:pt x="1035832" y="390252"/>
                </a:lnTo>
                <a:lnTo>
                  <a:pt x="1041684" y="390259"/>
                </a:lnTo>
                <a:lnTo>
                  <a:pt x="1047536" y="390265"/>
                </a:lnTo>
                <a:lnTo>
                  <a:pt x="1053388" y="390271"/>
                </a:lnTo>
                <a:lnTo>
                  <a:pt x="1059240" y="390275"/>
                </a:lnTo>
                <a:lnTo>
                  <a:pt x="1065093" y="390278"/>
                </a:lnTo>
                <a:lnTo>
                  <a:pt x="1070945" y="390281"/>
                </a:lnTo>
                <a:lnTo>
                  <a:pt x="1076797" y="390283"/>
                </a:lnTo>
                <a:lnTo>
                  <a:pt x="1082649" y="390285"/>
                </a:lnTo>
                <a:lnTo>
                  <a:pt x="1088501" y="390287"/>
                </a:lnTo>
                <a:lnTo>
                  <a:pt x="1094353" y="390288"/>
                </a:lnTo>
                <a:lnTo>
                  <a:pt x="1100206" y="390289"/>
                </a:lnTo>
                <a:lnTo>
                  <a:pt x="1106058" y="390290"/>
                </a:lnTo>
                <a:lnTo>
                  <a:pt x="1111910" y="390290"/>
                </a:lnTo>
                <a:lnTo>
                  <a:pt x="1117762" y="390291"/>
                </a:lnTo>
                <a:lnTo>
                  <a:pt x="1123614" y="390291"/>
                </a:lnTo>
                <a:lnTo>
                  <a:pt x="1129466" y="390292"/>
                </a:lnTo>
                <a:lnTo>
                  <a:pt x="1135319" y="390292"/>
                </a:lnTo>
                <a:lnTo>
                  <a:pt x="1141171" y="390292"/>
                </a:lnTo>
                <a:lnTo>
                  <a:pt x="1147023" y="390292"/>
                </a:lnTo>
                <a:lnTo>
                  <a:pt x="1152875" y="390293"/>
                </a:lnTo>
                <a:lnTo>
                  <a:pt x="1158727" y="390293"/>
                </a:lnTo>
                <a:lnTo>
                  <a:pt x="1164579" y="390293"/>
                </a:lnTo>
                <a:lnTo>
                  <a:pt x="1170432" y="390293"/>
                </a:lnTo>
                <a:lnTo>
                  <a:pt x="1176284" y="390293"/>
                </a:lnTo>
                <a:lnTo>
                  <a:pt x="1182136" y="390293"/>
                </a:lnTo>
                <a:lnTo>
                  <a:pt x="1187988" y="390293"/>
                </a:lnTo>
                <a:lnTo>
                  <a:pt x="1193840" y="390293"/>
                </a:lnTo>
                <a:lnTo>
                  <a:pt x="1199692" y="390293"/>
                </a:lnTo>
                <a:lnTo>
                  <a:pt x="1205544" y="390293"/>
                </a:lnTo>
                <a:lnTo>
                  <a:pt x="1211397" y="390293"/>
                </a:lnTo>
                <a:lnTo>
                  <a:pt x="1217249" y="390293"/>
                </a:lnTo>
                <a:lnTo>
                  <a:pt x="1223101" y="390293"/>
                </a:lnTo>
                <a:lnTo>
                  <a:pt x="1228953" y="390293"/>
                </a:lnTo>
                <a:lnTo>
                  <a:pt x="1234805" y="390293"/>
                </a:lnTo>
                <a:lnTo>
                  <a:pt x="1240657" y="390293"/>
                </a:lnTo>
                <a:lnTo>
                  <a:pt x="1246510" y="390293"/>
                </a:lnTo>
                <a:lnTo>
                  <a:pt x="1252362" y="390293"/>
                </a:lnTo>
                <a:lnTo>
                  <a:pt x="1258214" y="390293"/>
                </a:lnTo>
                <a:lnTo>
                  <a:pt x="1264066" y="390293"/>
                </a:lnTo>
                <a:lnTo>
                  <a:pt x="1269918" y="390293"/>
                </a:lnTo>
                <a:lnTo>
                  <a:pt x="1275770" y="390293"/>
                </a:lnTo>
                <a:lnTo>
                  <a:pt x="1281623" y="390293"/>
                </a:lnTo>
                <a:lnTo>
                  <a:pt x="1287475" y="390293"/>
                </a:lnTo>
                <a:lnTo>
                  <a:pt x="1293327" y="390293"/>
                </a:lnTo>
                <a:lnTo>
                  <a:pt x="1299179" y="390293"/>
                </a:lnTo>
                <a:lnTo>
                  <a:pt x="1305031" y="390293"/>
                </a:lnTo>
                <a:lnTo>
                  <a:pt x="1310883" y="390293"/>
                </a:lnTo>
                <a:lnTo>
                  <a:pt x="1316735" y="390293"/>
                </a:lnTo>
                <a:lnTo>
                  <a:pt x="1322588" y="390293"/>
                </a:lnTo>
                <a:lnTo>
                  <a:pt x="1328440" y="390293"/>
                </a:lnTo>
                <a:lnTo>
                  <a:pt x="1334292" y="390293"/>
                </a:lnTo>
                <a:lnTo>
                  <a:pt x="1340144" y="390293"/>
                </a:lnTo>
                <a:lnTo>
                  <a:pt x="1345996" y="390293"/>
                </a:lnTo>
                <a:lnTo>
                  <a:pt x="1351848" y="390293"/>
                </a:lnTo>
                <a:lnTo>
                  <a:pt x="1357701" y="390293"/>
                </a:lnTo>
                <a:lnTo>
                  <a:pt x="1363553" y="390293"/>
                </a:lnTo>
                <a:lnTo>
                  <a:pt x="1369405" y="390293"/>
                </a:lnTo>
                <a:lnTo>
                  <a:pt x="1375257" y="390293"/>
                </a:lnTo>
                <a:lnTo>
                  <a:pt x="1381109" y="390293"/>
                </a:lnTo>
                <a:lnTo>
                  <a:pt x="1386961" y="390293"/>
                </a:lnTo>
                <a:lnTo>
                  <a:pt x="1392814" y="390293"/>
                </a:lnTo>
                <a:lnTo>
                  <a:pt x="1398666" y="390293"/>
                </a:lnTo>
                <a:lnTo>
                  <a:pt x="1404518" y="390293"/>
                </a:lnTo>
                <a:lnTo>
                  <a:pt x="1410370" y="390293"/>
                </a:lnTo>
                <a:lnTo>
                  <a:pt x="1416222" y="390293"/>
                </a:lnTo>
                <a:lnTo>
                  <a:pt x="1422074" y="390293"/>
                </a:lnTo>
                <a:lnTo>
                  <a:pt x="1427927" y="390293"/>
                </a:lnTo>
                <a:lnTo>
                  <a:pt x="1433779" y="390293"/>
                </a:lnTo>
                <a:lnTo>
                  <a:pt x="1439631" y="390293"/>
                </a:lnTo>
                <a:lnTo>
                  <a:pt x="1445483" y="390293"/>
                </a:lnTo>
                <a:lnTo>
                  <a:pt x="1451335" y="390293"/>
                </a:lnTo>
                <a:lnTo>
                  <a:pt x="1457187" y="390293"/>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8C45FBB7-1177-9FBD-18C0-E3D486AD9935}"/>
              </a:ext>
            </a:extLst>
          </p:cNvPr>
          <p:cNvSpPr txBox="1"/>
          <p:nvPr/>
        </p:nvSpPr>
        <p:spPr>
          <a:xfrm>
            <a:off x="9866376"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収束</a:t>
            </a:r>
          </a:p>
        </p:txBody>
      </p:sp>
      <p:sp>
        <p:nvSpPr>
          <p:cNvPr id="79" name="TextBox 78">
            <a:extLst>
              <a:ext uri="{FF2B5EF4-FFF2-40B4-BE49-F238E27FC236}">
                <a16:creationId xmlns:a16="http://schemas.microsoft.com/office/drawing/2014/main" id="{C02CD0BC-A6A5-5D2E-BB47-B16A75186CF8}"/>
              </a:ext>
            </a:extLst>
          </p:cNvPr>
          <p:cNvSpPr txBox="1"/>
          <p:nvPr/>
        </p:nvSpPr>
        <p:spPr>
          <a:xfrm>
            <a:off x="9866376"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1.2%</a:t>
            </a:r>
          </a:p>
        </p:txBody>
      </p:sp>
      <p:sp>
        <p:nvSpPr>
          <p:cNvPr id="80" name="TextBox 79">
            <a:extLst>
              <a:ext uri="{FF2B5EF4-FFF2-40B4-BE49-F238E27FC236}">
                <a16:creationId xmlns:a16="http://schemas.microsoft.com/office/drawing/2014/main" id="{DE26DCE6-2B71-363E-870B-5F8B90040858}"/>
              </a:ext>
            </a:extLst>
          </p:cNvPr>
          <p:cNvSpPr txBox="1"/>
          <p:nvPr/>
        </p:nvSpPr>
        <p:spPr>
          <a:xfrm>
            <a:off x="6336792" y="5029200"/>
            <a:ext cx="5166360" cy="338554"/>
          </a:xfrm>
          <a:prstGeom prst="rect">
            <a:avLst/>
          </a:prstGeom>
          <a:noFill/>
        </p:spPr>
        <p:txBody>
          <a:bodyPr wrap="square" lIns="0" tIns="0" rIns="0" bIns="0" anchor="t">
            <a:spAutoFit/>
          </a:bodyPr>
          <a:lstStyle/>
          <a:p>
            <a:pPr algn="l">
              <a:spcAft>
                <a:spcPts val="0"/>
              </a:spcAft>
            </a:pPr>
            <a:r>
              <a:rPr lang="ja-JP" altLang="en-US" sz="2200" b="1">
                <a:solidFill>
                  <a:srgbClr val="00A8AA"/>
                </a:solidFill>
                <a:latin typeface="Meiryo"/>
                <a:ea typeface="Meiryo"/>
                <a:cs typeface="Meiryo"/>
              </a:rPr>
              <a:t>高さ</a:t>
            </a:r>
            <a:r>
              <a:rPr lang="en-US" altLang="ja-JP" sz="2200" b="1" dirty="0">
                <a:solidFill>
                  <a:srgbClr val="00A8AA"/>
                </a:solidFill>
                <a:latin typeface="Meiryo"/>
                <a:ea typeface="Meiryo"/>
                <a:cs typeface="Meiryo"/>
              </a:rPr>
              <a:t>a</a:t>
            </a:r>
            <a:r>
              <a:rPr lang="ja-JP" altLang="en-US" sz="2200" b="1">
                <a:solidFill>
                  <a:srgbClr val="00A8AA"/>
                </a:solidFill>
                <a:latin typeface="Meiryo"/>
                <a:ea typeface="Meiryo"/>
                <a:cs typeface="Meiryo"/>
              </a:rPr>
              <a:t>、位置</a:t>
            </a:r>
            <a:r>
              <a:rPr lang="en-US" altLang="ja-JP" sz="2200" b="1" dirty="0">
                <a:solidFill>
                  <a:srgbClr val="00A8AA"/>
                </a:solidFill>
                <a:latin typeface="Meiryo"/>
                <a:ea typeface="Meiryo"/>
                <a:cs typeface="Meiryo"/>
              </a:rPr>
              <a:t>u</a:t>
            </a:r>
            <a:r>
              <a:rPr lang="ja-JP" altLang="en-US" sz="2200" b="1">
                <a:solidFill>
                  <a:srgbClr val="00A8AA"/>
                </a:solidFill>
                <a:latin typeface="Meiryo"/>
                <a:ea typeface="Meiryo"/>
                <a:cs typeface="Meiryo"/>
              </a:rPr>
              <a:t>、幅</a:t>
            </a:r>
            <a:r>
              <a:rPr lang="en-US" altLang="ja-JP" sz="2200" b="1" dirty="0" err="1">
                <a:solidFill>
                  <a:srgbClr val="00A8AA"/>
                </a:solidFill>
                <a:latin typeface="Meiryo"/>
                <a:ea typeface="Meiryo"/>
                <a:cs typeface="Meiryo"/>
              </a:rPr>
              <a:t>δ</a:t>
            </a:r>
            <a:r>
              <a:rPr sz="2200" b="1" dirty="0" err="1">
                <a:solidFill>
                  <a:srgbClr val="00A8AA"/>
                </a:solidFill>
                <a:latin typeface="Meiryo"/>
                <a:ea typeface="Meiryo"/>
                <a:cs typeface="Meiryo"/>
              </a:rPr>
              <a:t>を</a:t>
            </a:r>
            <a:r>
              <a:rPr sz="2200" b="1" dirty="0">
                <a:solidFill>
                  <a:srgbClr val="00A8AA"/>
                </a:solidFill>
                <a:latin typeface="Meiryo"/>
                <a:ea typeface="Meiryo"/>
                <a:cs typeface="Meiryo"/>
              </a:rPr>
              <a:t> 少しずつ動かす。</a:t>
            </a:r>
          </a:p>
        </p:txBody>
      </p:sp>
      <p:sp>
        <p:nvSpPr>
          <p:cNvPr id="19" name="Rounded Rectangle 42">
            <a:extLst>
              <a:ext uri="{FF2B5EF4-FFF2-40B4-BE49-F238E27FC236}">
                <a16:creationId xmlns:a16="http://schemas.microsoft.com/office/drawing/2014/main" id="{477B063E-4887-BFDE-E0F7-21664B7760A9}"/>
              </a:ext>
            </a:extLst>
          </p:cNvPr>
          <p:cNvSpPr/>
          <p:nvPr/>
        </p:nvSpPr>
        <p:spPr>
          <a:xfrm>
            <a:off x="502920" y="5681467"/>
            <a:ext cx="11183112" cy="736721"/>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 altLang="ja-JP" sz="2200" b="1" dirty="0">
                <a:solidFill>
                  <a:srgbClr val="262626"/>
                </a:solidFill>
                <a:latin typeface="Meiryo"/>
                <a:ea typeface="Meiryo"/>
                <a:cs typeface="Meiryo"/>
              </a:rPr>
              <a:t>Levenberg–Marquardt </a:t>
            </a:r>
            <a:r>
              <a:rPr lang="ja-JP" altLang="en-US" sz="2200" b="1">
                <a:solidFill>
                  <a:srgbClr val="262626"/>
                </a:solidFill>
                <a:latin typeface="Meiryo"/>
                <a:ea typeface="Meiryo"/>
                <a:cs typeface="Meiryo"/>
              </a:rPr>
              <a:t>法でパラメータを動かし、残差平方和を最小にする。</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129966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収束の検算</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83/119</a:t>
            </a:r>
          </a:p>
        </p:txBody>
      </p:sp>
      <p:sp>
        <p:nvSpPr>
          <p:cNvPr id="44" name="Rounded Rectangle 43"/>
          <p:cNvSpPr/>
          <p:nvPr/>
        </p:nvSpPr>
        <p:spPr>
          <a:xfrm>
            <a:off x="502920" y="1719072"/>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502920" y="2679191"/>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502920" y="363931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502920" y="459943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85800" y="186537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①</a:t>
            </a:r>
          </a:p>
        </p:txBody>
      </p:sp>
      <p:sp>
        <p:nvSpPr>
          <p:cNvPr id="49" name="TextBox 48"/>
          <p:cNvSpPr txBox="1"/>
          <p:nvPr/>
        </p:nvSpPr>
        <p:spPr>
          <a:xfrm>
            <a:off x="1371600" y="178308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境界に張り付いていないか</a:t>
            </a:r>
          </a:p>
        </p:txBody>
      </p:sp>
      <p:sp>
        <p:nvSpPr>
          <p:cNvPr id="50" name="TextBox 49"/>
          <p:cNvSpPr txBox="1"/>
          <p:nvPr/>
        </p:nvSpPr>
        <p:spPr>
          <a:xfrm>
            <a:off x="1371600" y="2176272"/>
            <a:ext cx="10149840" cy="338554"/>
          </a:xfrm>
          <a:prstGeom prst="rect">
            <a:avLst/>
          </a:prstGeom>
          <a:noFill/>
        </p:spPr>
        <p:txBody>
          <a:bodyPr wrap="square" lIns="0" tIns="0" rIns="0" bIns="0" anchor="t">
            <a:spAutoFit/>
          </a:bodyPr>
          <a:lstStyle/>
          <a:p>
            <a:pPr algn="l">
              <a:spcAft>
                <a:spcPts val="0"/>
              </a:spcAft>
            </a:pPr>
            <a:r>
              <a:rPr lang="ja-JP" altLang="en-US" sz="2200">
                <a:solidFill>
                  <a:srgbClr val="595959"/>
                </a:solidFill>
                <a:latin typeface="Meiryo"/>
                <a:ea typeface="Meiryo"/>
                <a:cs typeface="Meiryo"/>
              </a:rPr>
              <a:t>境界条件外に最適解がある可能性がある。</a:t>
            </a:r>
            <a:endParaRPr sz="2200" b="0" dirty="0">
              <a:solidFill>
                <a:srgbClr val="595959"/>
              </a:solidFill>
              <a:latin typeface="Meiryo"/>
              <a:ea typeface="Meiryo"/>
              <a:cs typeface="Meiryo"/>
            </a:endParaRPr>
          </a:p>
        </p:txBody>
      </p:sp>
      <p:sp>
        <p:nvSpPr>
          <p:cNvPr id="51" name="TextBox 50"/>
          <p:cNvSpPr txBox="1"/>
          <p:nvPr/>
        </p:nvSpPr>
        <p:spPr>
          <a:xfrm>
            <a:off x="685800" y="282549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②</a:t>
            </a:r>
          </a:p>
        </p:txBody>
      </p:sp>
      <p:sp>
        <p:nvSpPr>
          <p:cNvPr id="52" name="TextBox 51"/>
          <p:cNvSpPr txBox="1"/>
          <p:nvPr/>
        </p:nvSpPr>
        <p:spPr>
          <a:xfrm>
            <a:off x="1371600" y="2743199"/>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振幅ゼロのカーネルが無いか</a:t>
            </a:r>
          </a:p>
        </p:txBody>
      </p:sp>
      <p:sp>
        <p:nvSpPr>
          <p:cNvPr id="53" name="TextBox 52"/>
          <p:cNvSpPr txBox="1"/>
          <p:nvPr/>
        </p:nvSpPr>
        <p:spPr>
          <a:xfrm>
            <a:off x="1371600" y="3136391"/>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実質使われていない ＝ 本数が多すぎる。</a:t>
            </a:r>
          </a:p>
        </p:txBody>
      </p:sp>
      <p:sp>
        <p:nvSpPr>
          <p:cNvPr id="54" name="TextBox 53"/>
          <p:cNvSpPr txBox="1"/>
          <p:nvPr/>
        </p:nvSpPr>
        <p:spPr>
          <a:xfrm>
            <a:off x="685800" y="3785615"/>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③</a:t>
            </a:r>
          </a:p>
        </p:txBody>
      </p:sp>
      <p:sp>
        <p:nvSpPr>
          <p:cNvPr id="55" name="TextBox 54"/>
          <p:cNvSpPr txBox="1"/>
          <p:nvPr/>
        </p:nvSpPr>
        <p:spPr>
          <a:xfrm>
            <a:off x="1371600" y="370332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初期値を変えても同じ解か</a:t>
            </a:r>
          </a:p>
        </p:txBody>
      </p:sp>
      <p:sp>
        <p:nvSpPr>
          <p:cNvPr id="56" name="TextBox 55"/>
          <p:cNvSpPr txBox="1"/>
          <p:nvPr/>
        </p:nvSpPr>
        <p:spPr>
          <a:xfrm>
            <a:off x="1371600" y="409651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違う解に落ちるなら その拍では定まっていない。</a:t>
            </a:r>
          </a:p>
        </p:txBody>
      </p:sp>
      <p:sp>
        <p:nvSpPr>
          <p:cNvPr id="57" name="TextBox 56"/>
          <p:cNvSpPr txBox="1"/>
          <p:nvPr/>
        </p:nvSpPr>
        <p:spPr>
          <a:xfrm>
            <a:off x="685800" y="4745736"/>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④</a:t>
            </a:r>
          </a:p>
        </p:txBody>
      </p:sp>
      <p:sp>
        <p:nvSpPr>
          <p:cNvPr id="58" name="TextBox 57"/>
          <p:cNvSpPr txBox="1"/>
          <p:nvPr/>
        </p:nvSpPr>
        <p:spPr>
          <a:xfrm>
            <a:off x="1371600" y="466344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残差プロファイルの幅</a:t>
            </a:r>
          </a:p>
        </p:txBody>
      </p:sp>
      <p:sp>
        <p:nvSpPr>
          <p:cNvPr id="59" name="TextBox 58"/>
          <p:cNvSpPr txBox="1"/>
          <p:nvPr/>
        </p:nvSpPr>
        <p:spPr>
          <a:xfrm>
            <a:off x="1371600" y="505663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時間差 T を固定して当てはめ直し 谷の幅を見る。</a:t>
            </a:r>
          </a:p>
        </p:txBody>
      </p:sp>
      <p:sp>
        <p:nvSpPr>
          <p:cNvPr id="60" name="Rounded Rectangle 59"/>
          <p:cNvSpPr/>
          <p:nvPr/>
        </p:nvSpPr>
        <p:spPr>
          <a:xfrm>
            <a:off x="502920" y="5687568"/>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685800" y="585216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残差が小さいことは 検算の代わりにならない。</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923-ADF6-5286-7959-170A04144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1482-7699-516D-F4F3-160284764BFD}"/>
              </a:ext>
            </a:extLst>
          </p:cNvPr>
          <p:cNvSpPr>
            <a:spLocks noGrp="1"/>
          </p:cNvSpPr>
          <p:nvPr>
            <p:ph type="title"/>
          </p:nvPr>
        </p:nvSpPr>
        <p:spPr/>
        <p:txBody>
          <a:bodyPr/>
          <a:lstStyle/>
          <a:p>
            <a:pPr algn="l"/>
            <a:r>
              <a:rPr sz="4600" dirty="0">
                <a:latin typeface="Meiryo"/>
                <a:ea typeface="Meiryo"/>
                <a:cs typeface="Meiryo"/>
              </a:rPr>
              <a:t>5.4  重要文献の全体像</a:t>
            </a:r>
          </a:p>
        </p:txBody>
      </p:sp>
      <p:sp>
        <p:nvSpPr>
          <p:cNvPr id="17" name="TextBox 16">
            <a:extLst>
              <a:ext uri="{FF2B5EF4-FFF2-40B4-BE49-F238E27FC236}">
                <a16:creationId xmlns:a16="http://schemas.microsoft.com/office/drawing/2014/main" id="{186CB620-B1E0-BB1A-C3C5-7FAA7C66DE59}"/>
              </a:ext>
            </a:extLst>
          </p:cNvPr>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a:extLst>
              <a:ext uri="{FF2B5EF4-FFF2-40B4-BE49-F238E27FC236}">
                <a16:creationId xmlns:a16="http://schemas.microsoft.com/office/drawing/2014/main" id="{57FFA168-86DC-BDC3-D25F-B5106EA60BE5}"/>
              </a:ext>
            </a:extLst>
          </p:cNvPr>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a:extLst>
              <a:ext uri="{FF2B5EF4-FFF2-40B4-BE49-F238E27FC236}">
                <a16:creationId xmlns:a16="http://schemas.microsoft.com/office/drawing/2014/main" id="{BBDA85C2-3E6F-AF75-33BE-A1D8AFF3D3AE}"/>
              </a:ext>
            </a:extLst>
          </p:cNvPr>
          <p:cNvSpPr txBox="1"/>
          <p:nvPr/>
        </p:nvSpPr>
        <p:spPr>
          <a:xfrm>
            <a:off x="6918040" y="1645920"/>
            <a:ext cx="4787205" cy="338554"/>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a:extLst>
              <a:ext uri="{FF2B5EF4-FFF2-40B4-BE49-F238E27FC236}">
                <a16:creationId xmlns:a16="http://schemas.microsoft.com/office/drawing/2014/main" id="{E9AD2845-8FCE-04F8-4265-BAB3464FC50E}"/>
              </a:ext>
            </a:extLst>
          </p:cNvPr>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2871629-3C8D-6B79-576C-A0F7A618EF9D}"/>
              </a:ext>
            </a:extLst>
          </p:cNvPr>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a:extLst>
              <a:ext uri="{FF2B5EF4-FFF2-40B4-BE49-F238E27FC236}">
                <a16:creationId xmlns:a16="http://schemas.microsoft.com/office/drawing/2014/main" id="{4E81EC52-6880-F79E-6884-2FDB8B93CD42}"/>
              </a:ext>
            </a:extLst>
          </p:cNvPr>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Rubins 2008</a:t>
            </a:r>
          </a:p>
        </p:txBody>
      </p:sp>
      <p:sp>
        <p:nvSpPr>
          <p:cNvPr id="23" name="TextBox 22">
            <a:extLst>
              <a:ext uri="{FF2B5EF4-FFF2-40B4-BE49-F238E27FC236}">
                <a16:creationId xmlns:a16="http://schemas.microsoft.com/office/drawing/2014/main" id="{7315B619-3EF2-697F-3522-3B64E2F2A8A1}"/>
              </a:ext>
            </a:extLst>
          </p:cNvPr>
          <p:cNvSpPr txBox="1"/>
          <p:nvPr/>
        </p:nvSpPr>
        <p:spPr>
          <a:xfrm>
            <a:off x="6918040" y="2048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ガウス当てはめで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6E078EE1-86E4-6559-8E93-6E5B82A2D4CE}"/>
              </a:ext>
            </a:extLst>
          </p:cNvPr>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Goswami 2010</a:t>
            </a:r>
          </a:p>
        </p:txBody>
      </p:sp>
      <p:sp>
        <p:nvSpPr>
          <p:cNvPr id="25" name="TextBox 24">
            <a:extLst>
              <a:ext uri="{FF2B5EF4-FFF2-40B4-BE49-F238E27FC236}">
                <a16:creationId xmlns:a16="http://schemas.microsoft.com/office/drawing/2014/main" id="{651322E1-5F5B-CE01-C833-97880126295F}"/>
              </a:ext>
            </a:extLst>
          </p:cNvPr>
          <p:cNvSpPr txBox="1"/>
          <p:nvPr/>
        </p:nvSpPr>
        <p:spPr>
          <a:xfrm>
            <a:off x="6918040" y="2505456"/>
            <a:ext cx="4825199" cy="338554"/>
          </a:xfrm>
          <a:prstGeom prst="rect">
            <a:avLst/>
          </a:prstGeom>
          <a:noFill/>
        </p:spPr>
        <p:txBody>
          <a:bodyPr wrap="square" lIns="0" tIns="0" rIns="0" bIns="0" anchor="t">
            <a:spAutoFit/>
          </a:bodyPr>
          <a:lstStyle/>
          <a:p>
            <a:pPr algn="l"/>
            <a:r>
              <a:rPr sz="2200" b="0" dirty="0">
                <a:solidFill>
                  <a:srgbClr val="262626"/>
                </a:solidFill>
                <a:latin typeface="Meiryo"/>
                <a:ea typeface="Meiryo"/>
                <a:cs typeface="Meiryo"/>
              </a:rPr>
              <a:t>Rayleigh 2 </a:t>
            </a:r>
            <a:r>
              <a:rPr sz="2200" b="0" dirty="0" err="1">
                <a:solidFill>
                  <a:srgbClr val="262626"/>
                </a:solidFill>
                <a:latin typeface="Meiryo"/>
                <a:ea typeface="Meiryo"/>
                <a:cs typeface="Meiryo"/>
              </a:rPr>
              <a:t>波合成で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SI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と</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a:t>
            </a:r>
          </a:p>
        </p:txBody>
      </p:sp>
      <p:sp>
        <p:nvSpPr>
          <p:cNvPr id="26" name="Rounded Rectangle 25">
            <a:extLst>
              <a:ext uri="{FF2B5EF4-FFF2-40B4-BE49-F238E27FC236}">
                <a16:creationId xmlns:a16="http://schemas.microsoft.com/office/drawing/2014/main" id="{7445C69C-4ADB-3E90-5D79-E83D2A3E47E7}"/>
              </a:ext>
            </a:extLst>
          </p:cNvPr>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6E1E291D-98FB-8692-CE5D-53B55313513A}"/>
              </a:ext>
            </a:extLst>
          </p:cNvPr>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a:extLst>
              <a:ext uri="{FF2B5EF4-FFF2-40B4-BE49-F238E27FC236}">
                <a16:creationId xmlns:a16="http://schemas.microsoft.com/office/drawing/2014/main" id="{B43AAF18-01A9-8697-1E81-FC27033C5827}"/>
              </a:ext>
            </a:extLst>
          </p:cNvPr>
          <p:cNvSpPr txBox="1"/>
          <p:nvPr/>
        </p:nvSpPr>
        <p:spPr>
          <a:xfrm>
            <a:off x="6918040" y="2962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a:extLst>
              <a:ext uri="{FF2B5EF4-FFF2-40B4-BE49-F238E27FC236}">
                <a16:creationId xmlns:a16="http://schemas.microsoft.com/office/drawing/2014/main" id="{151D8EB3-BE30-83A2-AACD-09BA4E7908C3}"/>
              </a:ext>
            </a:extLst>
          </p:cNvPr>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33. Couceiro 2015</a:t>
            </a:r>
          </a:p>
        </p:txBody>
      </p:sp>
      <p:sp>
        <p:nvSpPr>
          <p:cNvPr id="30" name="TextBox 29">
            <a:extLst>
              <a:ext uri="{FF2B5EF4-FFF2-40B4-BE49-F238E27FC236}">
                <a16:creationId xmlns:a16="http://schemas.microsoft.com/office/drawing/2014/main" id="{B07BBE08-7D1B-6F4A-FEC3-2F5399204B5C}"/>
              </a:ext>
            </a:extLst>
          </p:cNvPr>
          <p:cNvSpPr txBox="1"/>
          <p:nvPr/>
        </p:nvSpPr>
        <p:spPr>
          <a:xfrm>
            <a:off x="6918040" y="3419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a:extLst>
              <a:ext uri="{FF2B5EF4-FFF2-40B4-BE49-F238E27FC236}">
                <a16:creationId xmlns:a16="http://schemas.microsoft.com/office/drawing/2014/main" id="{6A95C85F-E698-6B7E-69EF-A4794C2AC3A8}"/>
              </a:ext>
            </a:extLst>
          </p:cNvPr>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8686F07-5D8B-429B-FF98-27DA7417EA7F}"/>
              </a:ext>
            </a:extLst>
          </p:cNvPr>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a:extLst>
              <a:ext uri="{FF2B5EF4-FFF2-40B4-BE49-F238E27FC236}">
                <a16:creationId xmlns:a16="http://schemas.microsoft.com/office/drawing/2014/main" id="{3008C4FA-2DA4-7FE6-074F-E0348BAD6433}"/>
              </a:ext>
            </a:extLst>
          </p:cNvPr>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a:extLst>
              <a:ext uri="{FF2B5EF4-FFF2-40B4-BE49-F238E27FC236}">
                <a16:creationId xmlns:a16="http://schemas.microsoft.com/office/drawing/2014/main" id="{C3853DF1-3472-188D-3692-9805E69B6A7C}"/>
              </a:ext>
            </a:extLst>
          </p:cNvPr>
          <p:cNvSpPr txBox="1"/>
          <p:nvPr/>
        </p:nvSpPr>
        <p:spPr>
          <a:xfrm>
            <a:off x="6918040" y="3877056"/>
            <a:ext cx="4825199"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最良モデルは決まらない（28.1%）</a:t>
            </a:r>
          </a:p>
        </p:txBody>
      </p:sp>
      <p:sp>
        <p:nvSpPr>
          <p:cNvPr id="35" name="TextBox 34">
            <a:extLst>
              <a:ext uri="{FF2B5EF4-FFF2-40B4-BE49-F238E27FC236}">
                <a16:creationId xmlns:a16="http://schemas.microsoft.com/office/drawing/2014/main" id="{8834D4EA-6B31-D9E2-0DEA-50B372810229}"/>
              </a:ext>
            </a:extLst>
          </p:cNvPr>
          <p:cNvSpPr txBox="1"/>
          <p:nvPr/>
        </p:nvSpPr>
        <p:spPr>
          <a:xfrm>
            <a:off x="2697480" y="4334256"/>
            <a:ext cx="3531870"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36. Fleischhauer 2020</a:t>
            </a:r>
          </a:p>
        </p:txBody>
      </p:sp>
      <p:sp>
        <p:nvSpPr>
          <p:cNvPr id="36" name="TextBox 35">
            <a:extLst>
              <a:ext uri="{FF2B5EF4-FFF2-40B4-BE49-F238E27FC236}">
                <a16:creationId xmlns:a16="http://schemas.microsoft.com/office/drawing/2014/main" id="{DF9D1F6D-75C3-2EC5-8DA3-FC0D47DEFE4C}"/>
              </a:ext>
            </a:extLst>
          </p:cNvPr>
          <p:cNvSpPr txBox="1"/>
          <p:nvPr/>
        </p:nvSpPr>
        <p:spPr>
          <a:xfrm>
            <a:off x="6918040" y="4334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a:extLst>
              <a:ext uri="{FF2B5EF4-FFF2-40B4-BE49-F238E27FC236}">
                <a16:creationId xmlns:a16="http://schemas.microsoft.com/office/drawing/2014/main" id="{5FA6C2C3-9751-B17F-AA17-4B1CC03F6CFA}"/>
              </a:ext>
            </a:extLst>
          </p:cNvPr>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a:extLst>
              <a:ext uri="{FF2B5EF4-FFF2-40B4-BE49-F238E27FC236}">
                <a16:creationId xmlns:a16="http://schemas.microsoft.com/office/drawing/2014/main" id="{65634A11-D451-E1CE-5F7C-BC7FA90D14FB}"/>
              </a:ext>
            </a:extLst>
          </p:cNvPr>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a:extLst>
              <a:ext uri="{FF2B5EF4-FFF2-40B4-BE49-F238E27FC236}">
                <a16:creationId xmlns:a16="http://schemas.microsoft.com/office/drawing/2014/main" id="{8527810F-EDBB-5FF1-7404-CC73E274E2C6}"/>
              </a:ext>
            </a:extLst>
          </p:cNvPr>
          <p:cNvSpPr txBox="1"/>
          <p:nvPr/>
        </p:nvSpPr>
        <p:spPr>
          <a:xfrm>
            <a:off x="6918040" y="47914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a:extLst>
              <a:ext uri="{FF2B5EF4-FFF2-40B4-BE49-F238E27FC236}">
                <a16:creationId xmlns:a16="http://schemas.microsoft.com/office/drawing/2014/main" id="{18B2EFF6-9693-1CED-BE13-C9A61751EE7B}"/>
              </a:ext>
            </a:extLst>
          </p:cNvPr>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a:extLst>
              <a:ext uri="{FF2B5EF4-FFF2-40B4-BE49-F238E27FC236}">
                <a16:creationId xmlns:a16="http://schemas.microsoft.com/office/drawing/2014/main" id="{3A2715EA-B066-D709-8530-6B36DA25C5A7}"/>
              </a:ext>
            </a:extLst>
          </p:cNvPr>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a:extLst>
              <a:ext uri="{FF2B5EF4-FFF2-40B4-BE49-F238E27FC236}">
                <a16:creationId xmlns:a16="http://schemas.microsoft.com/office/drawing/2014/main" id="{87D86F67-B73C-3D4E-9FDF-990BA0A5F56F}"/>
              </a:ext>
            </a:extLst>
          </p:cNvPr>
          <p:cNvSpPr txBox="1"/>
          <p:nvPr/>
        </p:nvSpPr>
        <p:spPr>
          <a:xfrm>
            <a:off x="6918040" y="5248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a:extLst>
              <a:ext uri="{FF2B5EF4-FFF2-40B4-BE49-F238E27FC236}">
                <a16:creationId xmlns:a16="http://schemas.microsoft.com/office/drawing/2014/main" id="{E00C7189-DFC2-FF73-0E43-575CB01E4327}"/>
              </a:ext>
            </a:extLst>
          </p:cNvPr>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F6A0CD54-D1B6-EA14-1EAE-AB822684EF04}"/>
              </a:ext>
            </a:extLst>
          </p:cNvPr>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a:extLst>
              <a:ext uri="{FF2B5EF4-FFF2-40B4-BE49-F238E27FC236}">
                <a16:creationId xmlns:a16="http://schemas.microsoft.com/office/drawing/2014/main" id="{BAD60E5D-D426-3AB3-78E4-92C73B99DAD8}"/>
              </a:ext>
            </a:extLst>
          </p:cNvPr>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35. Pal 2024</a:t>
            </a:r>
          </a:p>
        </p:txBody>
      </p:sp>
      <p:sp>
        <p:nvSpPr>
          <p:cNvPr id="46" name="TextBox 45">
            <a:extLst>
              <a:ext uri="{FF2B5EF4-FFF2-40B4-BE49-F238E27FC236}">
                <a16:creationId xmlns:a16="http://schemas.microsoft.com/office/drawing/2014/main" id="{60499368-D144-44A5-28C1-A576F6AAEF72}"/>
              </a:ext>
            </a:extLst>
          </p:cNvPr>
          <p:cNvSpPr txBox="1"/>
          <p:nvPr/>
        </p:nvSpPr>
        <p:spPr>
          <a:xfrm>
            <a:off x="6918040" y="5705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a:extLst>
              <a:ext uri="{FF2B5EF4-FFF2-40B4-BE49-F238E27FC236}">
                <a16:creationId xmlns:a16="http://schemas.microsoft.com/office/drawing/2014/main" id="{8497CB2C-E27E-64B3-FCCA-CD40958E8DED}"/>
              </a:ext>
            </a:extLst>
          </p:cNvPr>
          <p:cNvSpPr txBox="1"/>
          <p:nvPr/>
        </p:nvSpPr>
        <p:spPr>
          <a:xfrm>
            <a:off x="11049000" y="6606000"/>
            <a:ext cx="1005840" cy="219456"/>
          </a:xfrm>
          <a:prstGeom prst="rect">
            <a:avLst/>
          </a:prstGeom>
          <a:noFill/>
        </p:spPr>
        <p:txBody>
          <a:bodyPr wrap="square">
            <a:spAutoFit/>
          </a:bodyPr>
          <a:lstStyle/>
          <a:p>
            <a:pPr algn="r"/>
            <a:r>
              <a:rPr sz="1200">
                <a:solidFill>
                  <a:srgbClr val="808080"/>
                </a:solidFill>
                <a:latin typeface="Meiryo"/>
                <a:ea typeface="Meiryo"/>
                <a:cs typeface="Meiryo"/>
              </a:rPr>
              <a:t>84/119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267009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Rubins 2008</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① </a:t>
            </a:r>
            <a:r>
              <a:rPr lang="en-US" sz="2500" b="1" dirty="0" err="1">
                <a:solidFill>
                  <a:srgbClr val="0072B2"/>
                </a:solidFill>
                <a:latin typeface="Meiryo"/>
                <a:ea typeface="Meiryo"/>
                <a:cs typeface="Meiryo"/>
              </a:rPr>
              <a:t>PPGに対するPDAの最初期文献。</a:t>
            </a:r>
            <a:endParaRPr sz="2500" b="1" dirty="0">
              <a:solidFill>
                <a:srgbClr val="0072B2"/>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健常者</a:t>
            </a:r>
            <a:r>
              <a:rPr sz="2200" b="0" dirty="0">
                <a:solidFill>
                  <a:srgbClr val="262626"/>
                </a:solidFill>
                <a:latin typeface="Meiryo"/>
                <a:ea typeface="Meiryo"/>
                <a:cs typeface="Meiryo"/>
              </a:rPr>
              <a:t> 40 </a:t>
            </a:r>
            <a:r>
              <a:rPr sz="2200" b="0" dirty="0" err="1">
                <a:solidFill>
                  <a:srgbClr val="262626"/>
                </a:solidFill>
                <a:latin typeface="Meiryo"/>
                <a:ea typeface="Meiryo"/>
                <a:cs typeface="Meiryo"/>
              </a:rPr>
              <a:t>名。指と耳の</a:t>
            </a:r>
            <a:r>
              <a:rPr sz="2200" b="0" dirty="0">
                <a:solidFill>
                  <a:srgbClr val="262626"/>
                </a:solidFill>
                <a:latin typeface="Meiryo"/>
                <a:ea typeface="Meiryo"/>
                <a:cs typeface="Meiryo"/>
              </a:rPr>
              <a:t> PPG </a:t>
            </a:r>
            <a:r>
              <a:rPr sz="2200" b="0" dirty="0" err="1">
                <a:solidFill>
                  <a:srgbClr val="262626"/>
                </a:solidFill>
                <a:latin typeface="Meiryo"/>
                <a:ea typeface="Meiryo"/>
                <a:cs typeface="Meiryo"/>
              </a:rPr>
              <a:t>を同時記録。</a:t>
            </a:r>
            <a:endParaRPr sz="2200" b="0" dirty="0">
              <a:solidFill>
                <a:srgbClr val="262626"/>
              </a:solidFill>
              <a:latin typeface="Meiryo"/>
              <a:ea typeface="Meiryo"/>
              <a:cs typeface="Meiryo"/>
            </a:endParaRP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収縮期波と拡張期波を、それぞれ</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つ</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4</a:t>
            </a:r>
            <a:r>
              <a:rPr lang="ja-JP" altLang="en-US" sz="2200" b="0">
                <a:solidFill>
                  <a:srgbClr val="262626"/>
                </a:solidFill>
                <a:latin typeface="Meiryo"/>
                <a:ea typeface="Meiryo"/>
                <a:cs typeface="Meiryo"/>
              </a:rPr>
              <a:t>カーネル）</a:t>
            </a:r>
            <a:r>
              <a:rPr sz="2200" b="0" dirty="0" err="1">
                <a:solidFill>
                  <a:srgbClr val="262626"/>
                </a:solidFill>
                <a:latin typeface="Meiryo"/>
                <a:ea typeface="Meiryo"/>
                <a:cs typeface="Meiryo"/>
              </a:rPr>
              <a:t>の</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ガウス関数の和で当てはめ、RI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733534"/>
          </a:xfrm>
          <a:prstGeom prst="rect">
            <a:avLst/>
          </a:prstGeom>
          <a:noFill/>
        </p:spPr>
        <p:txBody>
          <a:bodyPr wrap="square" lIns="0" tIns="0" rIns="0" bIns="0" anchor="t">
            <a:spAutoFit/>
          </a:bodyPr>
          <a:lstStyle/>
          <a:p>
            <a:pPr>
              <a:spcAft>
                <a:spcPts val="200"/>
              </a:spcAft>
            </a:pPr>
            <a:r>
              <a:rPr lang="en-US" altLang="ja-JP" sz="2400" dirty="0"/>
              <a:t>RI </a:t>
            </a:r>
            <a:r>
              <a:rPr lang="ja-JP" altLang="ja-JP" sz="2400"/>
              <a:t>r = 0.98, p&lt;0.0001</a:t>
            </a:r>
            <a:endParaRPr lang="en-US"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従来の微分法</a:t>
            </a:r>
            <a:r>
              <a:rPr lang="ja-JP" altLang="en-US" sz="2200">
                <a:solidFill>
                  <a:srgbClr val="262626"/>
                </a:solidFill>
                <a:latin typeface="Meiryo"/>
                <a:ea typeface="Meiryo"/>
                <a:cs typeface="Meiryo"/>
              </a:rPr>
              <a:t>より</a:t>
            </a:r>
            <a:r>
              <a:rPr lang="en-US" altLang="ja-JP" sz="2200" dirty="0">
                <a:solidFill>
                  <a:srgbClr val="262626"/>
                </a:solidFill>
                <a:latin typeface="Meiryo"/>
                <a:ea typeface="Meiryo"/>
                <a:cs typeface="Meiryo"/>
              </a:rPr>
              <a:t>PDA</a:t>
            </a:r>
            <a:r>
              <a:rPr lang="ja-JP" altLang="en-US" sz="2200">
                <a:solidFill>
                  <a:srgbClr val="262626"/>
                </a:solidFill>
                <a:latin typeface="Meiryo"/>
                <a:ea typeface="Meiryo"/>
                <a:cs typeface="Meiryo"/>
              </a:rPr>
              <a:t>の方がばらつきが少なかった。</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ja-JP" altLang="en-US" sz="2400" b="1">
                <a:solidFill>
                  <a:srgbClr val="262626"/>
                </a:solidFill>
                <a:latin typeface="Meiryo"/>
                <a:ea typeface="Meiryo"/>
                <a:cs typeface="Meiryo"/>
              </a:rPr>
              <a:t>従来法より</a:t>
            </a:r>
            <a:r>
              <a:rPr lang="en" altLang="ja-JP" sz="2400" b="1" dirty="0">
                <a:solidFill>
                  <a:srgbClr val="262626"/>
                </a:solidFill>
                <a:latin typeface="Meiryo"/>
                <a:ea typeface="Meiryo"/>
                <a:cs typeface="Meiryo"/>
              </a:rPr>
              <a:t>PDA</a:t>
            </a:r>
            <a:r>
              <a:rPr lang="ja-JP" altLang="en-US" sz="2400" b="1">
                <a:solidFill>
                  <a:srgbClr val="262626"/>
                </a:solidFill>
                <a:latin typeface="Meiryo"/>
                <a:ea typeface="Meiryo"/>
                <a:cs typeface="Meiryo"/>
              </a:rPr>
              <a:t>の方が精度が高く、この方法で</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も導出可能。</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85/119</a:t>
            </a:r>
          </a:p>
        </p:txBody>
      </p:sp>
      <p:pic>
        <p:nvPicPr>
          <p:cNvPr id="4" name="図 3">
            <a:extLst>
              <a:ext uri="{FF2B5EF4-FFF2-40B4-BE49-F238E27FC236}">
                <a16:creationId xmlns:a16="http://schemas.microsoft.com/office/drawing/2014/main" id="{F0564319-2023-EDB9-E9A8-CD2597E2275D}"/>
              </a:ext>
            </a:extLst>
          </p:cNvPr>
          <p:cNvPicPr>
            <a:picLocks noChangeAspect="1"/>
          </p:cNvPicPr>
          <p:nvPr/>
        </p:nvPicPr>
        <p:blipFill>
          <a:blip r:embed="rId2"/>
          <a:srcRect l="25264" t="49939" r="35855"/>
          <a:stretch>
            <a:fillRect/>
          </a:stretch>
        </p:blipFill>
        <p:spPr>
          <a:xfrm>
            <a:off x="8948299" y="2820897"/>
            <a:ext cx="3012681" cy="2424361"/>
          </a:xfrm>
          <a:prstGeom prst="rect">
            <a:avLst/>
          </a:prstGeom>
        </p:spPr>
      </p:pic>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Goswami 2010</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② </a:t>
            </a:r>
            <a:r>
              <a:rPr lang="ja-JP" altLang="en-US" sz="2500" b="1">
                <a:solidFill>
                  <a:srgbClr val="0072B2"/>
                </a:solidFill>
                <a:latin typeface="Meiryo"/>
                <a:ea typeface="Meiryo"/>
                <a:cs typeface="Meiryo"/>
              </a:rPr>
              <a:t>成分波からの指標導出。</a:t>
            </a:r>
            <a:r>
              <a:rPr sz="2500" b="1" dirty="0">
                <a:solidFill>
                  <a:srgbClr val="0072B2"/>
                </a:solidFill>
                <a:latin typeface="Meiryo"/>
                <a:ea typeface="Meiryo"/>
                <a:cs typeface="Meiryo"/>
              </a:rPr>
              <a:t>SI </a:t>
            </a:r>
            <a:r>
              <a:rPr sz="2500" b="1" dirty="0" err="1">
                <a:solidFill>
                  <a:srgbClr val="0072B2"/>
                </a:solidFill>
                <a:latin typeface="Meiryo"/>
                <a:ea typeface="Meiryo"/>
                <a:cs typeface="Meiryo"/>
              </a:rPr>
              <a:t>と</a:t>
            </a:r>
            <a:r>
              <a:rPr sz="2500" b="1" dirty="0">
                <a:solidFill>
                  <a:srgbClr val="0072B2"/>
                </a:solidFill>
                <a:latin typeface="Meiryo"/>
                <a:ea typeface="Meiryo"/>
                <a:cs typeface="Meiryo"/>
              </a:rPr>
              <a:t> RI </a:t>
            </a:r>
            <a:r>
              <a:rPr sz="2500" b="1" dirty="0" err="1">
                <a:solidFill>
                  <a:srgbClr val="0072B2"/>
                </a:solidFill>
                <a:latin typeface="Meiryo"/>
                <a:ea typeface="Meiryo"/>
                <a:cs typeface="Meiryo"/>
              </a:rPr>
              <a:t>を同時に導出</a:t>
            </a:r>
            <a:r>
              <a:rPr lang="ja-JP" altLang="en-US" sz="2500" b="1">
                <a:solidFill>
                  <a:srgbClr val="0072B2"/>
                </a:solidFill>
                <a:latin typeface="Meiryo"/>
                <a:ea typeface="Meiryo"/>
                <a:cs typeface="Meiryo"/>
              </a:rPr>
              <a:t>。</a:t>
            </a:r>
            <a:endParaRPr sz="2500" b="1" dirty="0">
              <a:solidFill>
                <a:srgbClr val="0072B2"/>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Rayleigh </a:t>
            </a:r>
            <a:r>
              <a:rPr sz="2200" b="0" dirty="0" err="1">
                <a:solidFill>
                  <a:srgbClr val="262626"/>
                </a:solidFill>
                <a:latin typeface="Meiryo"/>
                <a:ea typeface="Meiryo"/>
                <a:cs typeface="Meiryo"/>
              </a:rPr>
              <a:t>関数による</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波合成モデル</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2</a:t>
            </a:r>
            <a:r>
              <a:rPr lang="ja-JP" altLang="en-US" sz="2200" b="0">
                <a:solidFill>
                  <a:srgbClr val="262626"/>
                </a:solidFill>
                <a:latin typeface="Meiryo"/>
                <a:ea typeface="Meiryo"/>
                <a:cs typeface="Meiryo"/>
              </a:rPr>
              <a:t>カーネル）</a:t>
            </a:r>
            <a:endParaRPr sz="2200" b="0" dirty="0">
              <a:solidFill>
                <a:srgbClr val="262626"/>
              </a:solidFill>
              <a:latin typeface="Meiryo"/>
              <a:ea typeface="Meiryo"/>
              <a:cs typeface="Meiryo"/>
            </a:endParaRPr>
          </a:p>
          <a:p>
            <a:pPr algn="l">
              <a:spcAft>
                <a:spcPts val="200"/>
              </a:spcAft>
            </a:pPr>
            <a:r>
              <a:rPr lang="en-US" sz="2200" dirty="0" err="1">
                <a:solidFill>
                  <a:srgbClr val="262626"/>
                </a:solidFill>
                <a:latin typeface="Meiryo"/>
                <a:ea typeface="Meiryo"/>
                <a:cs typeface="Meiryo"/>
              </a:rPr>
              <a:t>分解した成分波から、</a:t>
            </a:r>
            <a:r>
              <a:rPr sz="2200" b="0" dirty="0" err="1">
                <a:solidFill>
                  <a:srgbClr val="262626"/>
                </a:solidFill>
                <a:latin typeface="Meiryo"/>
                <a:ea typeface="Meiryo"/>
                <a:cs typeface="Meiryo"/>
              </a:rPr>
              <a:t>RI・SI</a:t>
            </a:r>
            <a:r>
              <a:rPr lang="ja-JP" altLang="en-US" sz="2200" b="0">
                <a:solidFill>
                  <a:srgbClr val="262626"/>
                </a:solidFill>
                <a:latin typeface="Meiryo"/>
                <a:ea typeface="Meiryo"/>
                <a:cs typeface="Meiryo"/>
              </a:rPr>
              <a:t>を導出。</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338554"/>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従来のランドマーク法・微分法とよく一致し</a:t>
            </a:r>
            <a:r>
              <a:rPr lang="ja-JP" altLang="en-US" sz="2200" b="0">
                <a:solidFill>
                  <a:srgbClr val="262626"/>
                </a:solidFill>
                <a:latin typeface="Meiryo"/>
                <a:ea typeface="Meiryo"/>
                <a:cs typeface="Meiryo"/>
              </a:rPr>
              <a:t>、ばらつきが少ない。</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b="1">
                <a:solidFill>
                  <a:srgbClr val="262626"/>
                </a:solidFill>
                <a:latin typeface="Meiryo"/>
                <a:ea typeface="Meiryo"/>
                <a:cs typeface="Meiryo"/>
              </a:rPr>
              <a:t>成分波による</a:t>
            </a:r>
            <a:r>
              <a:rPr lang="en" altLang="ja-JP" sz="2400" b="1" dirty="0">
                <a:solidFill>
                  <a:srgbClr val="262626"/>
                </a:solidFill>
                <a:latin typeface="Meiryo"/>
                <a:ea typeface="Meiryo"/>
                <a:cs typeface="Meiryo"/>
              </a:rPr>
              <a:t>SI</a:t>
            </a:r>
            <a:r>
              <a:rPr lang="ja-JP" altLang="en" sz="2400" b="1">
                <a:solidFill>
                  <a:srgbClr val="262626"/>
                </a:solidFill>
                <a:latin typeface="Meiryo"/>
                <a:ea typeface="Meiryo"/>
                <a:cs typeface="Meiryo"/>
              </a:rPr>
              <a:t>、</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を導出した。</a:t>
            </a:r>
          </a:p>
          <a:p>
            <a:pPr algn="ctr"/>
            <a:r>
              <a:rPr lang="ja-JP" altLang="en-US" sz="2400" b="1">
                <a:solidFill>
                  <a:srgbClr val="262626"/>
                </a:solidFill>
                <a:latin typeface="Meiryo"/>
                <a:ea typeface="Meiryo"/>
                <a:cs typeface="Meiryo"/>
              </a:rPr>
              <a:t>成分波の</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では従来法より精度が高い。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86/119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Couceiro 2012</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A8AA"/>
                </a:solidFill>
                <a:latin typeface="Meiryo"/>
                <a:ea typeface="Meiryo"/>
                <a:cs typeface="Meiryo"/>
              </a:rPr>
              <a:t>③ </a:t>
            </a:r>
            <a:r>
              <a:rPr sz="2500" b="1" dirty="0" err="1">
                <a:solidFill>
                  <a:srgbClr val="00A8AA"/>
                </a:solidFill>
                <a:latin typeface="Meiryo"/>
                <a:ea typeface="Meiryo"/>
                <a:cs typeface="Meiryo"/>
              </a:rPr>
              <a:t>ガウス分解</a:t>
            </a:r>
            <a:r>
              <a:rPr lang="ja-JP" altLang="en-US" sz="2500" b="1">
                <a:solidFill>
                  <a:srgbClr val="00A8AA"/>
                </a:solidFill>
                <a:latin typeface="Meiryo"/>
                <a:ea typeface="Meiryo"/>
                <a:cs typeface="Meiryo"/>
              </a:rPr>
              <a:t>指標を他モダリティと比較。</a:t>
            </a:r>
            <a:endParaRPr sz="2500" b="1" dirty="0">
              <a:solidFill>
                <a:srgbClr val="00A8AA"/>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338554"/>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心エコーによる参照値が得られた</a:t>
            </a:r>
            <a:r>
              <a:rPr lang="ja-JP" altLang="en-US" sz="2200" b="0">
                <a:solidFill>
                  <a:srgbClr val="262626"/>
                </a:solidFill>
                <a:latin typeface="Meiryo"/>
                <a:ea typeface="Meiryo"/>
                <a:cs typeface="Meiryo"/>
              </a:rPr>
              <a:t>健常者</a:t>
            </a:r>
            <a:r>
              <a:rPr lang="en-US" altLang="ja-JP" sz="2200" b="0" dirty="0">
                <a:solidFill>
                  <a:srgbClr val="262626"/>
                </a:solidFill>
                <a:latin typeface="Meiryo"/>
                <a:ea typeface="Meiryo"/>
                <a:cs typeface="Meiryo"/>
              </a:rPr>
              <a:t>33</a:t>
            </a:r>
            <a:r>
              <a:rPr lang="ja-JP" altLang="en-US" sz="2200" b="0">
                <a:solidFill>
                  <a:srgbClr val="262626"/>
                </a:solidFill>
                <a:latin typeface="Meiryo"/>
                <a:ea typeface="Meiryo"/>
                <a:cs typeface="Meiryo"/>
              </a:rPr>
              <a:t>人、</a:t>
            </a:r>
            <a:r>
              <a:rPr lang="en-US" altLang="ja-JP" sz="2200" b="0" dirty="0">
                <a:solidFill>
                  <a:srgbClr val="262626"/>
                </a:solidFill>
                <a:latin typeface="Meiryo"/>
                <a:ea typeface="Meiryo"/>
                <a:cs typeface="Meiryo"/>
              </a:rPr>
              <a:t>CVD</a:t>
            </a:r>
            <a:r>
              <a:rPr lang="ja-JP" altLang="en-US" sz="2200" b="0">
                <a:solidFill>
                  <a:srgbClr val="262626"/>
                </a:solidFill>
                <a:latin typeface="Meiryo"/>
                <a:ea typeface="Meiryo"/>
                <a:cs typeface="Meiryo"/>
              </a:rPr>
              <a:t>群</a:t>
            </a:r>
            <a:r>
              <a:rPr lang="en-US" altLang="ja-JP" sz="2200" b="0" dirty="0">
                <a:solidFill>
                  <a:srgbClr val="262626"/>
                </a:solidFill>
                <a:latin typeface="Meiryo"/>
                <a:ea typeface="Meiryo"/>
                <a:cs typeface="Meiryo"/>
              </a:rPr>
              <a:t>35</a:t>
            </a:r>
            <a:r>
              <a:rPr lang="ja-JP" altLang="en-US" sz="2200" b="0">
                <a:solidFill>
                  <a:srgbClr val="262626"/>
                </a:solidFill>
                <a:latin typeface="Meiryo"/>
                <a:ea typeface="Meiryo"/>
                <a:cs typeface="Meiryo"/>
              </a:rPr>
              <a:t>人。</a:t>
            </a:r>
            <a:endParaRPr sz="2200" b="0" dirty="0">
              <a:solidFill>
                <a:srgbClr val="262626"/>
              </a:solidFill>
              <a:latin typeface="Meiryo"/>
              <a:ea typeface="Meiryo"/>
              <a:cs typeface="Meiryo"/>
            </a:endParaRP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ガウス関数で</a:t>
            </a:r>
            <a:r>
              <a:rPr lang="en-US" altLang="ja-JP" sz="2200" b="0" dirty="0">
                <a:solidFill>
                  <a:srgbClr val="262626"/>
                </a:solidFill>
                <a:latin typeface="Meiryo"/>
                <a:ea typeface="Meiryo"/>
                <a:cs typeface="Meiryo"/>
              </a:rPr>
              <a:t>4</a:t>
            </a:r>
            <a:r>
              <a:rPr lang="ja-JP" altLang="en-US" sz="2200" b="0">
                <a:solidFill>
                  <a:srgbClr val="262626"/>
                </a:solidFill>
                <a:latin typeface="Meiryo"/>
                <a:ea typeface="Meiryo"/>
                <a:cs typeface="Meiryo"/>
              </a:rPr>
              <a:t>カーネル　</a:t>
            </a:r>
            <a:r>
              <a:rPr sz="2200" b="0" dirty="0">
                <a:solidFill>
                  <a:srgbClr val="262626"/>
                </a:solidFill>
                <a:latin typeface="Meiryo"/>
                <a:ea typeface="Meiryo"/>
                <a:cs typeface="Meiryo"/>
              </a:rPr>
              <a:t>3 </a:t>
            </a:r>
            <a:r>
              <a:rPr sz="2200" b="0" dirty="0" err="1">
                <a:solidFill>
                  <a:srgbClr val="262626"/>
                </a:solidFill>
                <a:latin typeface="Meiryo"/>
                <a:ea typeface="Meiryo"/>
                <a:cs typeface="Meiryo"/>
              </a:rPr>
              <a:t>次微分からLVET</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を推定</a:t>
            </a:r>
            <a:r>
              <a:rPr lang="ja-JP" altLang="en-US" sz="2200" b="0">
                <a:solidFill>
                  <a:srgbClr val="262626"/>
                </a:solidFill>
                <a:latin typeface="Meiryo"/>
                <a:ea typeface="Meiryo"/>
                <a:cs typeface="Meiryo"/>
              </a:rPr>
              <a:t>。</a:t>
            </a:r>
            <a:endParaRPr lang="en-US" sz="2200" b="0" dirty="0">
              <a:solidFill>
                <a:srgbClr val="262626"/>
              </a:solidFill>
              <a:latin typeface="Meiryo"/>
              <a:ea typeface="Meiryo"/>
              <a:cs typeface="Meiryo"/>
            </a:endParaRPr>
          </a:p>
          <a:p>
            <a:pPr algn="l">
              <a:spcAft>
                <a:spcPts val="200"/>
              </a:spcAft>
            </a:pPr>
            <a:r>
              <a:rPr lang="ja-JP" altLang="en-US" sz="2200">
                <a:solidFill>
                  <a:srgbClr val="262626"/>
                </a:solidFill>
                <a:latin typeface="Meiryo"/>
                <a:ea typeface="Meiryo"/>
                <a:cs typeface="Meiryo"/>
              </a:rPr>
              <a:t>既存</a:t>
            </a:r>
            <a:r>
              <a:rPr lang="ja-JP" altLang="en-US" sz="2200" b="0">
                <a:solidFill>
                  <a:srgbClr val="262626"/>
                </a:solidFill>
                <a:latin typeface="Meiryo"/>
                <a:ea typeface="Meiryo"/>
                <a:cs typeface="Meiryo"/>
              </a:rPr>
              <a:t>の</a:t>
            </a:r>
            <a:r>
              <a:rPr lang="en-US" altLang="ja-JP" sz="2200" b="0" dirty="0">
                <a:solidFill>
                  <a:srgbClr val="262626"/>
                </a:solidFill>
                <a:latin typeface="Meiryo"/>
                <a:ea typeface="Meiryo"/>
                <a:cs typeface="Meiryo"/>
              </a:rPr>
              <a:t>PPG</a:t>
            </a:r>
            <a:r>
              <a:rPr lang="ja-JP" altLang="en-US" sz="2200" b="0">
                <a:solidFill>
                  <a:srgbClr val="262626"/>
                </a:solidFill>
                <a:latin typeface="Meiryo"/>
                <a:ea typeface="Meiryo"/>
                <a:cs typeface="Meiryo"/>
              </a:rPr>
              <a:t>から</a:t>
            </a:r>
            <a:r>
              <a:rPr lang="en-US" altLang="ja-JP" sz="2200" b="0" dirty="0">
                <a:solidFill>
                  <a:srgbClr val="262626"/>
                </a:solidFill>
                <a:latin typeface="Meiryo"/>
                <a:ea typeface="Meiryo"/>
                <a:cs typeface="Meiryo"/>
              </a:rPr>
              <a:t>LVET</a:t>
            </a:r>
            <a:r>
              <a:rPr lang="ja-JP" altLang="en-US" sz="2200" b="0">
                <a:solidFill>
                  <a:srgbClr val="262626"/>
                </a:solidFill>
                <a:latin typeface="Meiryo"/>
                <a:ea typeface="Meiryo"/>
                <a:cs typeface="Meiryo"/>
              </a:rPr>
              <a:t>を推定する方法との比較。</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PDA</a:t>
            </a:r>
            <a:r>
              <a:rPr lang="ja-JP" altLang="en-US" sz="2800" b="1">
                <a:solidFill>
                  <a:srgbClr val="262626"/>
                </a:solidFill>
                <a:latin typeface="Meiryo"/>
                <a:ea typeface="Meiryo"/>
                <a:cs typeface="Meiryo"/>
              </a:rPr>
              <a:t>から得られた指標が他モダリティと関連する。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Couceiro 2015</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④ </a:t>
            </a:r>
            <a:r>
              <a:rPr sz="2500" b="1" dirty="0" err="1">
                <a:solidFill>
                  <a:srgbClr val="D55E00"/>
                </a:solidFill>
                <a:latin typeface="Meiryo"/>
                <a:ea typeface="Meiryo"/>
                <a:cs typeface="Meiryo"/>
              </a:rPr>
              <a:t>ガウス分解から血圧・血管抵抗まで対比</a:t>
            </a:r>
            <a:r>
              <a:rPr lang="ja-JP" altLang="en-US" sz="2500" b="1">
                <a:solidFill>
                  <a:srgbClr val="D55E00"/>
                </a:solidFill>
                <a:latin typeface="Meiryo"/>
                <a:ea typeface="Meiryo"/>
                <a:cs typeface="Meiryo"/>
              </a:rPr>
              <a:t>。</a:t>
            </a:r>
            <a:endParaRPr sz="2500" b="1" dirty="0">
              <a:solidFill>
                <a:srgbClr val="D55E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LVET </a:t>
            </a:r>
            <a:r>
              <a:rPr sz="2200" b="0" dirty="0" err="1">
                <a:solidFill>
                  <a:srgbClr val="262626"/>
                </a:solidFill>
                <a:latin typeface="Meiryo"/>
                <a:ea typeface="Meiryo"/>
                <a:cs typeface="Meiryo"/>
              </a:rPr>
              <a:t>の検証は健常＋心血管疾患</a:t>
            </a:r>
            <a:r>
              <a:rPr sz="2200" b="0" dirty="0">
                <a:solidFill>
                  <a:srgbClr val="262626"/>
                </a:solidFill>
                <a:latin typeface="Meiryo"/>
                <a:ea typeface="Meiryo"/>
                <a:cs typeface="Meiryo"/>
              </a:rPr>
              <a:t> 68 </a:t>
            </a:r>
            <a:r>
              <a:rPr sz="2200" b="0" dirty="0" err="1">
                <a:solidFill>
                  <a:srgbClr val="262626"/>
                </a:solidFill>
                <a:latin typeface="Meiryo"/>
                <a:ea typeface="Meiryo"/>
                <a:cs typeface="Meiryo"/>
              </a:rPr>
              <a:t>名。</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血圧・血管抵抗の対比は</a:t>
            </a:r>
            <a:r>
              <a:rPr lang="ja-JP" altLang="en-US" sz="2200" b="0">
                <a:solidFill>
                  <a:srgbClr val="262626"/>
                </a:solidFill>
                <a:latin typeface="Meiryo"/>
                <a:ea typeface="Meiryo"/>
                <a:cs typeface="Meiryo"/>
              </a:rPr>
              <a:t>ヘッドアップティルト</a:t>
            </a:r>
            <a:r>
              <a:rPr sz="2200" b="0" dirty="0">
                <a:solidFill>
                  <a:srgbClr val="262626"/>
                </a:solidFill>
                <a:latin typeface="Meiryo"/>
                <a:ea typeface="Meiryo"/>
                <a:cs typeface="Meiryo"/>
              </a:rPr>
              <a:t> 43 </a:t>
            </a:r>
            <a:r>
              <a:rPr sz="2200" b="0" dirty="0" err="1">
                <a:solidFill>
                  <a:srgbClr val="262626"/>
                </a:solidFill>
                <a:latin typeface="Meiryo"/>
                <a:ea typeface="Meiryo"/>
                <a:cs typeface="Meiryo"/>
              </a:rPr>
              <a:t>名</a:t>
            </a:r>
            <a:r>
              <a:rPr lang="ja-JP" altLang="en-US" sz="2200" b="0">
                <a:solidFill>
                  <a:srgbClr val="262626"/>
                </a:solidFill>
                <a:latin typeface="Meiryo"/>
                <a:ea typeface="Meiryo"/>
                <a:cs typeface="Meiryo"/>
              </a:rPr>
              <a:t>（陽性者</a:t>
            </a:r>
            <a:r>
              <a:rPr lang="en-US" altLang="ja-JP" sz="2200" b="0" dirty="0">
                <a:solidFill>
                  <a:srgbClr val="262626"/>
                </a:solidFill>
                <a:latin typeface="Meiryo"/>
                <a:ea typeface="Meiryo"/>
                <a:cs typeface="Meiryo"/>
              </a:rPr>
              <a:t>21</a:t>
            </a:r>
            <a:r>
              <a:rPr lang="ja-JP" altLang="en-US" sz="2200" b="0">
                <a:solidFill>
                  <a:srgbClr val="262626"/>
                </a:solidFill>
                <a:latin typeface="Meiryo"/>
                <a:ea typeface="Meiryo"/>
                <a:cs typeface="Meiryo"/>
              </a:rPr>
              <a:t>名）</a:t>
            </a:r>
            <a:endParaRPr sz="2200" b="0" dirty="0">
              <a:solidFill>
                <a:srgbClr val="262626"/>
              </a:solidFill>
              <a:latin typeface="Meiryo"/>
              <a:ea typeface="Meiryo"/>
              <a:cs typeface="Meiryo"/>
            </a:endParaRP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ガウス関数</a:t>
            </a:r>
            <a:r>
              <a:rPr lang="ja-JP" altLang="en-US" sz="2200" b="0">
                <a:solidFill>
                  <a:srgbClr val="262626"/>
                </a:solidFill>
                <a:latin typeface="Meiryo"/>
                <a:ea typeface="Meiryo"/>
                <a:cs typeface="Meiryo"/>
              </a:rPr>
              <a:t>で</a:t>
            </a:r>
            <a:r>
              <a:rPr lang="en-US" altLang="ja-JP" sz="2200" b="0" dirty="0">
                <a:solidFill>
                  <a:srgbClr val="262626"/>
                </a:solidFill>
                <a:latin typeface="Meiryo"/>
                <a:ea typeface="Meiryo"/>
                <a:cs typeface="Meiryo"/>
              </a:rPr>
              <a:t>5</a:t>
            </a:r>
            <a:r>
              <a:rPr lang="ja-JP" altLang="en-US" sz="2200" b="0">
                <a:solidFill>
                  <a:srgbClr val="262626"/>
                </a:solidFill>
                <a:latin typeface="Meiryo"/>
                <a:ea typeface="Meiryo"/>
                <a:cs typeface="Meiryo"/>
              </a:rPr>
              <a:t>カーネル　</a:t>
            </a:r>
            <a:r>
              <a:rPr lang="en-US" altLang="ja-JP" sz="2200" b="0" dirty="0">
                <a:solidFill>
                  <a:srgbClr val="262626"/>
                </a:solidFill>
                <a:latin typeface="Meiryo"/>
                <a:ea typeface="Meiryo"/>
                <a:cs typeface="Meiryo"/>
              </a:rPr>
              <a:t>LVET</a:t>
            </a:r>
            <a:r>
              <a:rPr lang="ja-JP" altLang="en-US" sz="2200" b="0">
                <a:solidFill>
                  <a:srgbClr val="262626"/>
                </a:solidFill>
                <a:latin typeface="Meiryo"/>
                <a:ea typeface="Meiryo"/>
                <a:cs typeface="Meiryo"/>
              </a:rPr>
              <a:t>を既報と比較。</a:t>
            </a:r>
            <a:endParaRPr lang="en-US" altLang="ja-JP" sz="2200" b="0" dirty="0">
              <a:solidFill>
                <a:srgbClr val="262626"/>
              </a:solidFill>
              <a:latin typeface="Meiryo"/>
              <a:ea typeface="Meiryo"/>
              <a:cs typeface="Meiryo"/>
            </a:endParaRPr>
          </a:p>
          <a:p>
            <a:pPr algn="l">
              <a:spcAft>
                <a:spcPts val="200"/>
              </a:spcAft>
            </a:pPr>
            <a:r>
              <a:rPr lang="ja-JP" altLang="en-US" sz="2200" b="0">
                <a:solidFill>
                  <a:srgbClr val="262626"/>
                </a:solidFill>
                <a:latin typeface="Meiryo"/>
                <a:ea typeface="Meiryo"/>
                <a:cs typeface="Meiryo"/>
              </a:rPr>
              <a:t>成分波の</a:t>
            </a:r>
            <a:r>
              <a:rPr sz="2200" b="0" dirty="0">
                <a:solidFill>
                  <a:srgbClr val="262626"/>
                </a:solidFill>
                <a:latin typeface="Meiryo"/>
                <a:ea typeface="Meiryo"/>
                <a:cs typeface="Meiryo"/>
              </a:rPr>
              <a:t>SI・RI</a:t>
            </a:r>
            <a:r>
              <a:rPr lang="ja-JP" altLang="en-US" sz="2200" b="0">
                <a:solidFill>
                  <a:srgbClr val="262626"/>
                </a:solidFill>
                <a:latin typeface="Meiryo"/>
                <a:ea typeface="Meiryo"/>
                <a:cs typeface="Meiryo"/>
              </a:rPr>
              <a:t>を血圧や</a:t>
            </a:r>
            <a:r>
              <a:rPr sz="2200" b="0" dirty="0">
                <a:solidFill>
                  <a:srgbClr val="262626"/>
                </a:solidFill>
                <a:latin typeface="Meiryo"/>
                <a:ea typeface="Meiryo"/>
                <a:cs typeface="Meiryo"/>
              </a:rPr>
              <a:t> </a:t>
            </a:r>
            <a:r>
              <a:rPr lang="en-US" sz="2200" dirty="0" err="1">
                <a:solidFill>
                  <a:srgbClr val="262626"/>
                </a:solidFill>
                <a:latin typeface="Meiryo"/>
                <a:ea typeface="Meiryo"/>
                <a:cs typeface="Meiryo"/>
              </a:rPr>
              <a:t>末梢血管抵抗係数と比較。</a:t>
            </a:r>
            <a:endParaRPr sz="2200" b="0" dirty="0">
              <a:solidFill>
                <a:srgbClr val="262626"/>
              </a:solidFill>
              <a:latin typeface="Meiryo"/>
              <a:ea typeface="Meiryo"/>
              <a:cs typeface="Meiryo"/>
            </a:endParaRP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LVET </a:t>
            </a:r>
            <a:r>
              <a:rPr sz="2200" b="0" dirty="0" err="1">
                <a:solidFill>
                  <a:srgbClr val="262626"/>
                </a:solidFill>
                <a:latin typeface="Meiryo"/>
                <a:ea typeface="Meiryo"/>
                <a:cs typeface="Meiryo"/>
              </a:rPr>
              <a:t>絶対誤差</a:t>
            </a:r>
            <a:r>
              <a:rPr sz="2200" b="0" dirty="0">
                <a:solidFill>
                  <a:srgbClr val="262626"/>
                </a:solidFill>
                <a:latin typeface="Meiryo"/>
                <a:ea typeface="Meiryo"/>
                <a:cs typeface="Meiryo"/>
              </a:rPr>
              <a:t> 15.41 ± 13.66 </a:t>
            </a:r>
            <a:r>
              <a:rPr sz="2200" b="0" dirty="0" err="1">
                <a:solidFill>
                  <a:srgbClr val="262626"/>
                </a:solidFill>
                <a:latin typeface="Meiryo"/>
                <a:ea typeface="Meiryo"/>
                <a:cs typeface="Meiryo"/>
              </a:rPr>
              <a:t>ms（ρ</a:t>
            </a:r>
            <a:r>
              <a:rPr sz="2200" b="0" dirty="0">
                <a:solidFill>
                  <a:srgbClr val="262626"/>
                </a:solidFill>
                <a:latin typeface="Meiryo"/>
                <a:ea typeface="Meiryo"/>
                <a:cs typeface="Meiryo"/>
              </a:rPr>
              <a:t>=0.78）</a:t>
            </a:r>
            <a:r>
              <a:rPr lang="ja-JP" altLang="en-US" sz="2200" b="0">
                <a:solidFill>
                  <a:srgbClr val="262626"/>
                </a:solidFill>
                <a:latin typeface="Meiryo"/>
                <a:ea typeface="Meiryo"/>
                <a:cs typeface="Meiryo"/>
              </a:rPr>
              <a:t>　心エコーの誤差率と同等。</a:t>
            </a:r>
            <a:endParaRPr lang="en-US" altLang="ja-JP" sz="2200" b="0" dirty="0">
              <a:solidFill>
                <a:srgbClr val="262626"/>
              </a:solidFill>
              <a:latin typeface="Meiryo"/>
              <a:ea typeface="Meiryo"/>
              <a:cs typeface="Meiryo"/>
            </a:endParaRPr>
          </a:p>
          <a:p>
            <a:pPr algn="l">
              <a:spcAft>
                <a:spcPts val="200"/>
              </a:spcAft>
            </a:pPr>
            <a:r>
              <a:rPr lang="en-US" altLang="ja-JP" sz="2200" b="0" dirty="0">
                <a:solidFill>
                  <a:srgbClr val="262626"/>
                </a:solidFill>
                <a:latin typeface="Meiryo"/>
                <a:ea typeface="Meiryo"/>
                <a:cs typeface="Meiryo"/>
              </a:rPr>
              <a:t>SI</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RI</a:t>
            </a:r>
            <a:r>
              <a:rPr lang="ja-JP" altLang="en-US" sz="2200" b="0">
                <a:solidFill>
                  <a:srgbClr val="262626"/>
                </a:solidFill>
                <a:latin typeface="Meiryo"/>
                <a:ea typeface="Meiryo"/>
                <a:cs typeface="Meiryo"/>
              </a:rPr>
              <a:t>との関連はそこそこ。</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SI,RI</a:t>
            </a:r>
            <a:r>
              <a:rPr lang="ja-JP" altLang="en-US" sz="2800" b="1">
                <a:solidFill>
                  <a:srgbClr val="262626"/>
                </a:solidFill>
                <a:latin typeface="Meiryo"/>
                <a:ea typeface="Meiryo"/>
                <a:cs typeface="Meiryo"/>
              </a:rPr>
              <a:t>ともティルト陽性群で相関が上がる。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88/119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Tigges 2017</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C00000"/>
                </a:solidFill>
                <a:latin typeface="Meiryo"/>
                <a:ea typeface="Meiryo"/>
                <a:cs typeface="Meiryo"/>
              </a:rPr>
              <a:t>⑤</a:t>
            </a:r>
            <a:r>
              <a:rPr lang="ja-JP" altLang="en-US" sz="2500" b="1">
                <a:solidFill>
                  <a:srgbClr val="C00000"/>
                </a:solidFill>
                <a:latin typeface="Meiryo"/>
                <a:ea typeface="Meiryo"/>
                <a:cs typeface="Meiryo"/>
              </a:rPr>
              <a:t> 最良のモデル選択について検討。</a:t>
            </a:r>
            <a:endParaRPr sz="2500" b="1" dirty="0">
              <a:solidFill>
                <a:srgbClr val="C000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4 </a:t>
            </a:r>
            <a:r>
              <a:rPr sz="2200" b="0" dirty="0" err="1">
                <a:solidFill>
                  <a:srgbClr val="262626"/>
                </a:solidFill>
                <a:latin typeface="Meiryo"/>
                <a:ea typeface="Meiryo"/>
                <a:cs typeface="Meiryo"/>
              </a:rPr>
              <a:t>種類の基底関数とモデル次数を総当たりし</a:t>
            </a:r>
            <a:r>
              <a:rPr sz="2200" b="0" dirty="0">
                <a:solidFill>
                  <a:srgbClr val="262626"/>
                </a:solidFill>
                <a:latin typeface="Meiryo"/>
                <a:ea typeface="Meiryo"/>
                <a:cs typeface="Meiryo"/>
              </a:rPr>
              <a:t>、</a:t>
            </a:r>
          </a:p>
          <a:p>
            <a:pPr algn="l">
              <a:spcAft>
                <a:spcPts val="200"/>
              </a:spcAft>
            </a:pPr>
            <a:r>
              <a:rPr sz="2200" b="0" dirty="0" err="1">
                <a:solidFill>
                  <a:srgbClr val="262626"/>
                </a:solidFill>
                <a:latin typeface="Meiryo"/>
                <a:ea typeface="Meiryo"/>
                <a:cs typeface="Meiryo"/>
              </a:rPr>
              <a:t>補正赤池情報量規準（AICc）で最良モデルを選択。</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800" b="1">
                <a:solidFill>
                  <a:srgbClr val="262626"/>
                </a:solidFill>
                <a:latin typeface="Meiryo"/>
                <a:ea typeface="Meiryo"/>
                <a:cs typeface="Meiryo"/>
              </a:rPr>
              <a:t>最良の基底関数、最良のカーネル数についてはばらつきがある。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89/119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Fleischhauer</a:t>
            </a:r>
            <a:r>
              <a:rPr lang="en-US" sz="4600" dirty="0">
                <a:latin typeface="Meiryo"/>
                <a:ea typeface="Meiryo"/>
                <a:cs typeface="Meiryo"/>
              </a:rPr>
              <a:t> 2020</a:t>
            </a:r>
            <a:endParaRPr sz="4600" dirty="0">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dirty="0">
                <a:solidFill>
                  <a:srgbClr val="00A8AA"/>
                </a:solidFill>
                <a:latin typeface="Meiryo"/>
                <a:ea typeface="Meiryo"/>
                <a:cs typeface="Meiryo"/>
              </a:rPr>
              <a:t>⑥ Gamma ＋ </a:t>
            </a:r>
            <a:r>
              <a:rPr sz="2500" b="1" dirty="0" err="1">
                <a:solidFill>
                  <a:srgbClr val="00A8AA"/>
                </a:solidFill>
                <a:latin typeface="Meiryo"/>
                <a:ea typeface="Meiryo"/>
                <a:cs typeface="Meiryo"/>
              </a:rPr>
              <a:t>Gaussian、カーネル</a:t>
            </a:r>
            <a:r>
              <a:rPr sz="2500" b="1" dirty="0">
                <a:solidFill>
                  <a:srgbClr val="00A8AA"/>
                </a:solidFill>
                <a:latin typeface="Meiryo"/>
                <a:ea typeface="Meiryo"/>
                <a:cs typeface="Meiryo"/>
              </a:rPr>
              <a:t> 2 </a:t>
            </a:r>
            <a:r>
              <a:rPr sz="2500" b="1" dirty="0" err="1">
                <a:solidFill>
                  <a:srgbClr val="00A8AA"/>
                </a:solidFill>
                <a:latin typeface="Meiryo"/>
                <a:ea typeface="Meiryo"/>
                <a:cs typeface="Meiryo"/>
              </a:rPr>
              <a:t>個が最も頑健。</a:t>
            </a:r>
            <a:endParaRPr sz="2500" b="1" dirty="0">
              <a:solidFill>
                <a:srgbClr val="00A8AA"/>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400" b="1">
                <a:solidFill>
                  <a:srgbClr val="262626"/>
                </a:solidFill>
                <a:latin typeface="Meiryo"/>
                <a:ea typeface="Meiryo"/>
                <a:cs typeface="Meiryo"/>
              </a:rPr>
              <a:t>体動およびノイズに対する頑健性は、カーネル数が低い方が有利。</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90/119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Basso 2024</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⑦ </a:t>
            </a:r>
            <a:r>
              <a:rPr lang="ja-JP" altLang="en-US" sz="2500" b="1">
                <a:solidFill>
                  <a:srgbClr val="D55E00"/>
                </a:solidFill>
                <a:latin typeface="Meiryo"/>
                <a:ea typeface="Meiryo"/>
                <a:cs typeface="Meiryo"/>
              </a:rPr>
              <a:t>最良の基底関数を探す。</a:t>
            </a:r>
            <a:endParaRPr sz="2500" b="1" dirty="0">
              <a:solidFill>
                <a:srgbClr val="D55E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非対称分解モデル（skewed-Gaussian）を提案。</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参照モデルは</a:t>
            </a:r>
            <a:r>
              <a:rPr sz="2200" b="0" dirty="0">
                <a:solidFill>
                  <a:srgbClr val="262626"/>
                </a:solidFill>
                <a:latin typeface="Meiryo"/>
                <a:ea typeface="Meiryo"/>
                <a:cs typeface="Meiryo"/>
              </a:rPr>
              <a:t> Gamma-Gaussian </a:t>
            </a:r>
            <a:r>
              <a:rPr sz="2200" b="0" dirty="0" err="1">
                <a:solidFill>
                  <a:srgbClr val="262626"/>
                </a:solidFill>
                <a:latin typeface="Meiryo"/>
                <a:ea typeface="Meiryo"/>
                <a:cs typeface="Meiryo"/>
              </a:rPr>
              <a:t>モデル</a:t>
            </a:r>
            <a:r>
              <a:rPr lang="ja-JP" altLang="en-US" sz="2200" b="0">
                <a:solidFill>
                  <a:srgbClr val="262626"/>
                </a:solidFill>
                <a:latin typeface="Meiryo"/>
                <a:ea typeface="Meiryo"/>
                <a:cs typeface="Meiryo"/>
              </a:rPr>
              <a:t>で精度を比較。</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Skewed– Gaussian </a:t>
            </a:r>
            <a:r>
              <a:rPr lang="ja-JP" altLang="en-US" sz="2800" b="1">
                <a:solidFill>
                  <a:srgbClr val="262626"/>
                </a:solidFill>
                <a:latin typeface="Meiryo"/>
                <a:ea typeface="Meiryo"/>
                <a:cs typeface="Meiryo"/>
              </a:rPr>
              <a:t>モデルが初期値まで含め高精度。</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91/119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PDA の限界</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4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92/119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 </a:t>
            </a:r>
            <a:r>
              <a:rPr lang="ja-JP" altLang="en-US" sz="4600">
                <a:latin typeface="Meiryo"/>
                <a:ea typeface="Meiryo"/>
                <a:cs typeface="Meiryo"/>
              </a:rPr>
              <a:t>提案</a:t>
            </a:r>
            <a:endParaRPr sz="4600" dirty="0">
              <a:latin typeface="Meiryo"/>
              <a:ea typeface="Meiryo"/>
              <a:cs typeface="Meiryo"/>
            </a:endParaRP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0">
                <a:solidFill>
                  <a:srgbClr val="D9D9D9"/>
                </a:solidFill>
                <a:latin typeface="Meiryo"/>
                <a:ea typeface="Meiryo"/>
                <a:cs typeface="Meiryo"/>
              </a:rPr>
              <a:t>4. 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1">
                <a:solidFill>
                  <a:srgbClr val="BF9000"/>
                </a:solidFill>
                <a:latin typeface="Meiryo"/>
                <a:ea typeface="Meiryo"/>
                <a:cs typeface="Meiryo"/>
              </a:rPr>
              <a:t>6. </a:t>
            </a:r>
            <a:r>
              <a:rPr sz="3200" b="1">
                <a:solidFill>
                  <a:srgbClr val="262626"/>
                </a:solidFill>
                <a:latin typeface="Meiryo"/>
                <a:ea typeface="Meiryo"/>
                <a:cs typeface="Meiryo"/>
              </a:rPr>
              <a:t>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6.1 </a:t>
            </a:r>
            <a:r>
              <a:rPr sz="2900" b="0">
                <a:solidFill>
                  <a:srgbClr val="262626"/>
                </a:solidFill>
                <a:latin typeface="Meiryo"/>
                <a:ea typeface="Meiryo"/>
                <a:cs typeface="Meiryo"/>
              </a:rPr>
              <a:t>esCCO の構造</a:t>
            </a:r>
          </a:p>
          <a:p>
            <a:pPr>
              <a:lnSpc>
                <a:spcPct val="145000"/>
              </a:lnSpc>
            </a:pPr>
            <a:r>
              <a:rPr sz="2900" b="1">
                <a:solidFill>
                  <a:srgbClr val="BF9000"/>
                </a:solidFill>
                <a:latin typeface="Meiryo"/>
                <a:ea typeface="Meiryo"/>
                <a:cs typeface="Meiryo"/>
              </a:rPr>
              <a:t>6.2 </a:t>
            </a:r>
            <a:r>
              <a:rPr sz="2900" b="0">
                <a:solidFill>
                  <a:srgbClr val="262626"/>
                </a:solidFill>
                <a:latin typeface="Meiryo"/>
                <a:ea typeface="Meiryo"/>
                <a:cs typeface="Meiryo"/>
              </a:rPr>
              <a:t>誤差と血管抵抗の関係</a:t>
            </a:r>
          </a:p>
          <a:p>
            <a:pPr>
              <a:lnSpc>
                <a:spcPct val="145000"/>
              </a:lnSpc>
            </a:pPr>
            <a:r>
              <a:rPr sz="2900" b="1">
                <a:solidFill>
                  <a:srgbClr val="BF9000"/>
                </a:solidFill>
                <a:latin typeface="Meiryo"/>
                <a:ea typeface="Meiryo"/>
                <a:cs typeface="Meiryo"/>
              </a:rPr>
              <a:t>6.3 </a:t>
            </a:r>
            <a:r>
              <a:rPr sz="2900" b="0">
                <a:solidFill>
                  <a:srgbClr val="262626"/>
                </a:solidFill>
                <a:latin typeface="Meiryo"/>
                <a:ea typeface="Meiryo"/>
                <a:cs typeface="Meiryo"/>
              </a:rPr>
              <a:t>提案：K の補正</a:t>
            </a:r>
          </a:p>
          <a:p>
            <a:pPr>
              <a:lnSpc>
                <a:spcPct val="145000"/>
              </a:lnSpc>
            </a:pPr>
            <a:r>
              <a:rPr sz="2900" b="1">
                <a:solidFill>
                  <a:srgbClr val="BF9000"/>
                </a:solidFill>
                <a:latin typeface="Meiryo"/>
                <a:ea typeface="Meiryo"/>
                <a:cs typeface="Meiryo"/>
              </a:rPr>
              <a:t>6.4 </a:t>
            </a:r>
            <a:r>
              <a:rPr sz="2900" b="0">
                <a:solidFill>
                  <a:srgbClr val="262626"/>
                </a:solidFill>
                <a:latin typeface="Meiryo"/>
                <a:ea typeface="Meiryo"/>
                <a:cs typeface="Meiryo"/>
              </a:rPr>
              <a:t>期待される利点</a:t>
            </a:r>
          </a:p>
          <a:p>
            <a:pPr>
              <a:lnSpc>
                <a:spcPct val="145000"/>
              </a:lnSpc>
            </a:pPr>
            <a:r>
              <a:rPr sz="2900" b="1">
                <a:solidFill>
                  <a:srgbClr val="BF9000"/>
                </a:solidFill>
                <a:latin typeface="Meiryo"/>
                <a:ea typeface="Meiryo"/>
                <a:cs typeface="Meiryo"/>
              </a:rPr>
              <a:t>6.5 </a:t>
            </a:r>
            <a:r>
              <a:rPr sz="2900" b="0">
                <a:solidFill>
                  <a:srgbClr val="262626"/>
                </a:solidFill>
                <a:latin typeface="Meiryo"/>
                <a:ea typeface="Meiryo"/>
                <a:cs typeface="Meiryo"/>
              </a:rPr>
              <a:t>限界と留意点</a:t>
            </a:r>
          </a:p>
          <a:p>
            <a:pPr>
              <a:lnSpc>
                <a:spcPct val="145000"/>
              </a:lnSpc>
            </a:pPr>
            <a:r>
              <a:rPr sz="2900" b="1">
                <a:solidFill>
                  <a:srgbClr val="BF9000"/>
                </a:solidFill>
                <a:latin typeface="Meiryo"/>
                <a:ea typeface="Meiryo"/>
                <a:cs typeface="Meiryo"/>
              </a:rPr>
              <a:t>6.6–6.12 </a:t>
            </a:r>
            <a:r>
              <a:rPr sz="2900" b="0">
                <a:solidFill>
                  <a:srgbClr val="262626"/>
                </a:solidFill>
                <a:latin typeface="Meiryo"/>
                <a:ea typeface="Meiryo"/>
                <a:cs typeface="Meiryo"/>
              </a:rPr>
              <a:t>実現までの計画</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93/119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3A11F-DFEF-FC3D-62A5-3AB8C751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CBD25-238A-7BE8-D5EB-7F3BDA2FD0D5}"/>
              </a:ext>
            </a:extLst>
          </p:cNvPr>
          <p:cNvSpPr>
            <a:spLocks noGrp="1"/>
          </p:cNvSpPr>
          <p:nvPr>
            <p:ph type="title"/>
          </p:nvPr>
        </p:nvSpPr>
        <p:spPr/>
        <p:txBody>
          <a:bodyPr/>
          <a:lstStyle/>
          <a:p>
            <a:pPr algn="l"/>
            <a:r>
              <a:rPr sz="4600" dirty="0">
                <a:latin typeface="Meiryo"/>
                <a:ea typeface="Meiryo"/>
                <a:cs typeface="Meiryo"/>
              </a:rPr>
              <a:t>6.1  esCCO の推定構造</a:t>
            </a:r>
          </a:p>
        </p:txBody>
      </p:sp>
      <p:sp>
        <p:nvSpPr>
          <p:cNvPr id="105" name="Source">
            <a:extLst>
              <a:ext uri="{FF2B5EF4-FFF2-40B4-BE49-F238E27FC236}">
                <a16:creationId xmlns:a16="http://schemas.microsoft.com/office/drawing/2014/main" id="{59D316A2-FDA1-2658-563E-98625DB215D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48. Sugo 2010　／　49. Yamada 2012</a:t>
            </a:r>
          </a:p>
        </p:txBody>
      </p:sp>
      <p:sp>
        <p:nvSpPr>
          <p:cNvPr id="107" name="formula">
            <a:extLst>
              <a:ext uri="{FF2B5EF4-FFF2-40B4-BE49-F238E27FC236}">
                <a16:creationId xmlns:a16="http://schemas.microsoft.com/office/drawing/2014/main" id="{CC9F799C-B867-055B-51F7-4164FA34B3C1}"/>
              </a:ext>
            </a:extLst>
          </p:cNvPr>
          <p:cNvSpPr/>
          <p:nvPr/>
        </p:nvSpPr>
        <p:spPr>
          <a:xfrm>
            <a:off x="502920" y="1760000"/>
            <a:ext cx="11140000" cy="1450000"/>
          </a:xfrm>
          <a:prstGeom prst="roundRect">
            <a:avLst>
              <a:gd name="adj" fmla="val 4000"/>
            </a:avLst>
          </a:prstGeom>
          <a:solidFill>
            <a:schemeClr val="bg1">
              <a:lumMod val="95000"/>
            </a:schemeClr>
          </a:solidFill>
          <a:ln w="28575">
            <a:noFill/>
          </a:ln>
          <a:effectLst/>
        </p:spPr>
        <p:txBody>
          <a:bodyPr wrap="square" lIns="91440" tIns="45720" rIns="91440" bIns="45720" rtlCol="0" anchor="ctr">
            <a:noAutofit/>
          </a:bodyPr>
          <a:lstStyle/>
          <a:p>
            <a:pPr algn="ctr">
              <a:lnSpc>
                <a:spcPct val="120000"/>
              </a:lnSpc>
            </a:pPr>
            <a:r>
              <a:rPr lang="ja-JP" altLang="en-US" sz="2800" b="1" dirty="0">
                <a:solidFill>
                  <a:srgbClr val="262626"/>
                </a:solidFill>
                <a:latin typeface="Meiryo"/>
                <a:ea typeface="Meiryo"/>
                <a:cs typeface="Meiryo"/>
              </a:rPr>
              <a:t>esCCO ＝ esSV × HR</a:t>
            </a:r>
          </a:p>
          <a:p>
            <a:pPr algn="ctr">
              <a:lnSpc>
                <a:spcPct val="120000"/>
              </a:lnSpc>
            </a:pPr>
            <a:r>
              <a:rPr lang="ja-JP" altLang="en-US" sz="2800" b="1" dirty="0">
                <a:solidFill>
                  <a:srgbClr val="262626"/>
                </a:solidFill>
                <a:latin typeface="Meiryo"/>
                <a:ea typeface="Meiryo"/>
                <a:cs typeface="Meiryo"/>
              </a:rPr>
              <a:t>esSV ＝ K ×（β − α・PWTT）</a:t>
            </a:r>
          </a:p>
        </p:txBody>
      </p:sp>
      <p:sp>
        <p:nvSpPr>
          <p:cNvPr id="108" name="l-bg">
            <a:extLst>
              <a:ext uri="{FF2B5EF4-FFF2-40B4-BE49-F238E27FC236}">
                <a16:creationId xmlns:a16="http://schemas.microsoft.com/office/drawing/2014/main" id="{3AD2A2C9-3E87-9B74-FCDD-BBE45176FFCA}"/>
              </a:ext>
            </a:extLst>
          </p:cNvPr>
          <p:cNvSpPr/>
          <p:nvPr/>
        </p:nvSpPr>
        <p:spPr>
          <a:xfrm>
            <a:off x="502920" y="3340000"/>
            <a:ext cx="5432840" cy="1750000"/>
          </a:xfrm>
          <a:prstGeom prst="roundRect">
            <a:avLst>
              <a:gd name="adj" fmla="val 6000"/>
            </a:avLst>
          </a:prstGeom>
          <a:solidFill>
            <a:srgbClr val="EAF0F8"/>
          </a:solidFill>
          <a:ln w="19050">
            <a:noFill/>
          </a:ln>
          <a:effectLst/>
        </p:spPr>
        <p:txBody>
          <a:bodyPr wrap="square" lIns="91440" tIns="45720" rIns="91440" bIns="45720" rtlCol="0" anchor="ctr">
            <a:noAutofit/>
          </a:bodyPr>
          <a:lstStyle/>
          <a:p>
            <a:endParaRPr/>
          </a:p>
        </p:txBody>
      </p:sp>
      <p:sp>
        <p:nvSpPr>
          <p:cNvPr id="109" name="l-t">
            <a:extLst>
              <a:ext uri="{FF2B5EF4-FFF2-40B4-BE49-F238E27FC236}">
                <a16:creationId xmlns:a16="http://schemas.microsoft.com/office/drawing/2014/main" id="{DE87088B-73B3-052C-BF75-8FB77542AE00}"/>
              </a:ext>
            </a:extLst>
          </p:cNvPr>
          <p:cNvSpPr txBox="1"/>
          <p:nvPr/>
        </p:nvSpPr>
        <p:spPr>
          <a:xfrm>
            <a:off x="70292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PWTT ＝ PEP ＋ VTT</a:t>
            </a:r>
          </a:p>
        </p:txBody>
      </p:sp>
      <p:sp>
        <p:nvSpPr>
          <p:cNvPr id="110" name="l-b">
            <a:extLst>
              <a:ext uri="{FF2B5EF4-FFF2-40B4-BE49-F238E27FC236}">
                <a16:creationId xmlns:a16="http://schemas.microsoft.com/office/drawing/2014/main" id="{A63FEAA6-3B4F-BC43-FD10-6A864E925C93}"/>
              </a:ext>
            </a:extLst>
          </p:cNvPr>
          <p:cNvSpPr txBox="1"/>
          <p:nvPr/>
        </p:nvSpPr>
        <p:spPr>
          <a:xfrm>
            <a:off x="70292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・PEP：心臓側の時間</a:t>
            </a:r>
          </a:p>
          <a:p>
            <a:pPr algn="l">
              <a:lnSpc>
                <a:spcPct val="120000"/>
              </a:lnSpc>
            </a:pPr>
            <a:r>
              <a:rPr lang="ja-JP" altLang="en-US" sz="2200" b="1" dirty="0">
                <a:solidFill>
                  <a:srgbClr val="262626"/>
                </a:solidFill>
                <a:latin typeface="Meiryo"/>
                <a:ea typeface="Meiryo"/>
                <a:cs typeface="Meiryo"/>
              </a:rPr>
              <a:t>・VTT：血管側の時間</a:t>
            </a:r>
          </a:p>
        </p:txBody>
      </p:sp>
      <p:sp>
        <p:nvSpPr>
          <p:cNvPr id="111" name="r-bg">
            <a:extLst>
              <a:ext uri="{FF2B5EF4-FFF2-40B4-BE49-F238E27FC236}">
                <a16:creationId xmlns:a16="http://schemas.microsoft.com/office/drawing/2014/main" id="{76A83126-6FE6-4ECB-C71A-37321C433EFD}"/>
              </a:ext>
            </a:extLst>
          </p:cNvPr>
          <p:cNvSpPr/>
          <p:nvPr/>
        </p:nvSpPr>
        <p:spPr>
          <a:xfrm>
            <a:off x="6210080" y="3340000"/>
            <a:ext cx="5432840" cy="1750000"/>
          </a:xfrm>
          <a:prstGeom prst="roundRect">
            <a:avLst>
              <a:gd name="adj" fmla="val 6000"/>
            </a:avLst>
          </a:prstGeom>
          <a:solidFill>
            <a:srgbClr val="FDF0E6"/>
          </a:solidFill>
          <a:ln w="19050">
            <a:noFill/>
          </a:ln>
          <a:effectLst/>
        </p:spPr>
        <p:txBody>
          <a:bodyPr wrap="square" lIns="91440" tIns="45720" rIns="91440" bIns="45720" rtlCol="0" anchor="ctr">
            <a:noAutofit/>
          </a:bodyPr>
          <a:lstStyle/>
          <a:p>
            <a:endParaRPr/>
          </a:p>
        </p:txBody>
      </p:sp>
      <p:sp>
        <p:nvSpPr>
          <p:cNvPr id="112" name="r-t">
            <a:extLst>
              <a:ext uri="{FF2B5EF4-FFF2-40B4-BE49-F238E27FC236}">
                <a16:creationId xmlns:a16="http://schemas.microsoft.com/office/drawing/2014/main" id="{95CAC4F5-9C55-75C5-B1CB-D1CCCD982151}"/>
              </a:ext>
            </a:extLst>
          </p:cNvPr>
          <p:cNvSpPr txBox="1"/>
          <p:nvPr/>
        </p:nvSpPr>
        <p:spPr>
          <a:xfrm>
            <a:off x="641008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K ＝ 較正で決まる定数</a:t>
            </a:r>
          </a:p>
        </p:txBody>
      </p:sp>
      <p:sp>
        <p:nvSpPr>
          <p:cNvPr id="113" name="r-b">
            <a:extLst>
              <a:ext uri="{FF2B5EF4-FFF2-40B4-BE49-F238E27FC236}">
                <a16:creationId xmlns:a16="http://schemas.microsoft.com/office/drawing/2014/main" id="{564EF271-A5D4-AD1A-7D11-E985913D5553}"/>
              </a:ext>
            </a:extLst>
          </p:cNvPr>
          <p:cNvSpPr txBox="1"/>
          <p:nvPr/>
        </p:nvSpPr>
        <p:spPr>
          <a:xfrm>
            <a:off x="641008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・年齢・身長・体重 から</a:t>
            </a:r>
          </a:p>
          <a:p>
            <a:pPr algn="l">
              <a:lnSpc>
                <a:spcPct val="120000"/>
              </a:lnSpc>
            </a:pPr>
            <a:r>
              <a:rPr lang="ja-JP" altLang="en-US" sz="2200" b="1" dirty="0">
                <a:solidFill>
                  <a:srgbClr val="262626"/>
                </a:solidFill>
                <a:latin typeface="Meiryo"/>
                <a:ea typeface="Meiryo"/>
                <a:cs typeface="Meiryo"/>
              </a:rPr>
              <a:t>・または実測 CO で較正</a:t>
            </a:r>
          </a:p>
        </p:txBody>
      </p:sp>
      <p:sp>
        <p:nvSpPr>
          <p:cNvPr id="115" name="PageNo">
            <a:extLst>
              <a:ext uri="{FF2B5EF4-FFF2-40B4-BE49-F238E27FC236}">
                <a16:creationId xmlns:a16="http://schemas.microsoft.com/office/drawing/2014/main" id="{C6DFC5F2-7815-9A21-22CA-F17CFDDE3DEA}"/>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94/119</a:t>
            </a:r>
          </a:p>
        </p:txBody>
      </p:sp>
      <p:sp>
        <p:nvSpPr>
          <p:cNvPr id="11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1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2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extLst>
      <p:ext uri="{BB962C8B-B14F-4D97-AF65-F5344CB8AC3E}">
        <p14:creationId xmlns:p14="http://schemas.microsoft.com/office/powerpoint/2010/main" val="1537804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  esCCO の推定構造</a:t>
            </a:r>
          </a:p>
        </p:txBody>
      </p:sp>
      <p:sp>
        <p:nvSpPr>
          <p:cNvPr id="105"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48. Sugo 2010　／　49. Yamada 2012</a:t>
            </a:r>
          </a:p>
        </p:txBody>
      </p:sp>
      <p:sp>
        <p:nvSpPr>
          <p:cNvPr id="107" name="formula"/>
          <p:cNvSpPr/>
          <p:nvPr/>
        </p:nvSpPr>
        <p:spPr>
          <a:xfrm>
            <a:off x="502920" y="1760000"/>
            <a:ext cx="11140000" cy="1450000"/>
          </a:xfrm>
          <a:prstGeom prst="roundRect">
            <a:avLst>
              <a:gd name="adj" fmla="val 4000"/>
            </a:avLst>
          </a:prstGeom>
          <a:solidFill>
            <a:schemeClr val="bg1">
              <a:lumMod val="95000"/>
            </a:schemeClr>
          </a:solidFill>
          <a:ln w="28575">
            <a:noFill/>
          </a:ln>
          <a:effectLst/>
        </p:spPr>
        <p:txBody>
          <a:bodyPr wrap="square" lIns="91440" tIns="45720" rIns="91440" bIns="45720" rtlCol="0" anchor="ctr">
            <a:noAutofit/>
          </a:bodyPr>
          <a:lstStyle/>
          <a:p>
            <a:pPr algn="ctr">
              <a:lnSpc>
                <a:spcPct val="120000"/>
              </a:lnSpc>
            </a:pPr>
            <a:r>
              <a:rPr lang="ja-JP" altLang="en-US" sz="2800" b="1" dirty="0">
                <a:solidFill>
                  <a:srgbClr val="262626"/>
                </a:solidFill>
                <a:latin typeface="Meiryo"/>
                <a:ea typeface="Meiryo"/>
                <a:cs typeface="Meiryo"/>
              </a:rPr>
              <a:t>esCCO ＝ esSV × HR</a:t>
            </a:r>
          </a:p>
          <a:p>
            <a:pPr algn="ctr">
              <a:lnSpc>
                <a:spcPct val="120000"/>
              </a:lnSpc>
            </a:pPr>
            <a:r>
              <a:rPr lang="ja-JP" altLang="en-US" sz="2800" b="1" dirty="0">
                <a:solidFill>
                  <a:srgbClr val="262626"/>
                </a:solidFill>
                <a:latin typeface="Meiryo"/>
                <a:ea typeface="Meiryo"/>
                <a:cs typeface="Meiryo"/>
              </a:rPr>
              <a:t>esSV ＝ K ×（β − α・PWTT）</a:t>
            </a:r>
          </a:p>
        </p:txBody>
      </p:sp>
      <p:sp>
        <p:nvSpPr>
          <p:cNvPr id="108" name="l-bg"/>
          <p:cNvSpPr/>
          <p:nvPr/>
        </p:nvSpPr>
        <p:spPr>
          <a:xfrm>
            <a:off x="502920" y="3340000"/>
            <a:ext cx="5432840" cy="1750000"/>
          </a:xfrm>
          <a:prstGeom prst="roundRect">
            <a:avLst>
              <a:gd name="adj" fmla="val 6000"/>
            </a:avLst>
          </a:prstGeom>
          <a:solidFill>
            <a:srgbClr val="EAF0F8"/>
          </a:solidFill>
          <a:ln w="19050">
            <a:noFill/>
          </a:ln>
          <a:effectLst/>
        </p:spPr>
        <p:txBody>
          <a:bodyPr wrap="square" lIns="91440" tIns="45720" rIns="91440" bIns="45720" rtlCol="0" anchor="ctr">
            <a:noAutofit/>
          </a:bodyPr>
          <a:lstStyle/>
          <a:p>
            <a:endParaRPr/>
          </a:p>
        </p:txBody>
      </p:sp>
      <p:sp>
        <p:nvSpPr>
          <p:cNvPr id="109" name="l-t"/>
          <p:cNvSpPr txBox="1"/>
          <p:nvPr/>
        </p:nvSpPr>
        <p:spPr>
          <a:xfrm>
            <a:off x="70292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PWTT ＝ PEP ＋ VTT</a:t>
            </a:r>
          </a:p>
        </p:txBody>
      </p:sp>
      <p:sp>
        <p:nvSpPr>
          <p:cNvPr id="110" name="l-b"/>
          <p:cNvSpPr txBox="1"/>
          <p:nvPr/>
        </p:nvSpPr>
        <p:spPr>
          <a:xfrm>
            <a:off x="70292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・PEP：心臓側の時間</a:t>
            </a:r>
          </a:p>
          <a:p>
            <a:pPr algn="l">
              <a:lnSpc>
                <a:spcPct val="120000"/>
              </a:lnSpc>
            </a:pPr>
            <a:r>
              <a:rPr lang="ja-JP" altLang="en-US" sz="2200" b="1" dirty="0">
                <a:solidFill>
                  <a:srgbClr val="262626"/>
                </a:solidFill>
                <a:latin typeface="Meiryo"/>
                <a:ea typeface="Meiryo"/>
                <a:cs typeface="Meiryo"/>
              </a:rPr>
              <a:t>・VTT：血管側の時間</a:t>
            </a:r>
          </a:p>
        </p:txBody>
      </p:sp>
      <p:sp>
        <p:nvSpPr>
          <p:cNvPr id="111" name="r-bg"/>
          <p:cNvSpPr/>
          <p:nvPr/>
        </p:nvSpPr>
        <p:spPr>
          <a:xfrm>
            <a:off x="6210080" y="3340000"/>
            <a:ext cx="5432840" cy="1750000"/>
          </a:xfrm>
          <a:prstGeom prst="roundRect">
            <a:avLst>
              <a:gd name="adj" fmla="val 6000"/>
            </a:avLst>
          </a:prstGeom>
          <a:solidFill>
            <a:srgbClr val="FDF0E6"/>
          </a:solidFill>
          <a:ln w="19050">
            <a:noFill/>
          </a:ln>
          <a:effectLst/>
        </p:spPr>
        <p:txBody>
          <a:bodyPr wrap="square" lIns="91440" tIns="45720" rIns="91440" bIns="45720" rtlCol="0" anchor="ctr">
            <a:noAutofit/>
          </a:bodyPr>
          <a:lstStyle/>
          <a:p>
            <a:endParaRPr/>
          </a:p>
        </p:txBody>
      </p:sp>
      <p:sp>
        <p:nvSpPr>
          <p:cNvPr id="112" name="r-t"/>
          <p:cNvSpPr txBox="1"/>
          <p:nvPr/>
        </p:nvSpPr>
        <p:spPr>
          <a:xfrm>
            <a:off x="641008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K ＝ 較正で決まる定数</a:t>
            </a:r>
          </a:p>
        </p:txBody>
      </p:sp>
      <p:sp>
        <p:nvSpPr>
          <p:cNvPr id="113" name="r-b"/>
          <p:cNvSpPr txBox="1"/>
          <p:nvPr/>
        </p:nvSpPr>
        <p:spPr>
          <a:xfrm>
            <a:off x="641008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・年齢・身長・体重 から</a:t>
            </a:r>
          </a:p>
          <a:p>
            <a:pPr algn="l">
              <a:lnSpc>
                <a:spcPct val="120000"/>
              </a:lnSpc>
            </a:pPr>
            <a:r>
              <a:rPr lang="ja-JP" altLang="en-US" sz="2200" b="1" dirty="0">
                <a:solidFill>
                  <a:srgbClr val="262626"/>
                </a:solidFill>
                <a:latin typeface="Meiryo"/>
                <a:ea typeface="Meiryo"/>
                <a:cs typeface="Meiryo"/>
              </a:rPr>
              <a:t>・または実測 CO で較正</a:t>
            </a:r>
          </a:p>
        </p:txBody>
      </p:sp>
      <p:sp>
        <p:nvSpPr>
          <p:cNvPr id="11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95/119</a:t>
            </a:r>
          </a:p>
        </p:txBody>
      </p:sp>
      <p:sp>
        <p:nvSpPr>
          <p:cNvPr id="3" name="formula">
            <a:extLst>
              <a:ext uri="{FF2B5EF4-FFF2-40B4-BE49-F238E27FC236}">
                <a16:creationId xmlns:a16="http://schemas.microsoft.com/office/drawing/2014/main" id="{92DDB458-E35C-38EE-28FC-C8A4CA89D426}"/>
              </a:ext>
            </a:extLst>
          </p:cNvPr>
          <p:cNvSpPr/>
          <p:nvPr/>
        </p:nvSpPr>
        <p:spPr>
          <a:xfrm>
            <a:off x="502920" y="5194872"/>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en-US" altLang="ja-JP" sz="2800" b="1" dirty="0">
                <a:solidFill>
                  <a:srgbClr val="262626"/>
                </a:solidFill>
                <a:latin typeface="Meiryo"/>
                <a:ea typeface="Meiryo"/>
                <a:cs typeface="Meiryo"/>
              </a:rPr>
              <a:t>K</a:t>
            </a:r>
            <a:r>
              <a:rPr lang="ja-JP" altLang="en-US" sz="2800" b="1">
                <a:solidFill>
                  <a:srgbClr val="262626"/>
                </a:solidFill>
                <a:latin typeface="Meiryo"/>
                <a:ea typeface="Meiryo"/>
                <a:cs typeface="Meiryo"/>
              </a:rPr>
              <a:t>に血管側の情報が入っていない。</a:t>
            </a:r>
            <a:endParaRPr lang="ja-JP" altLang="en-US" sz="2800" b="1" dirty="0">
              <a:solidFill>
                <a:srgbClr val="262626"/>
              </a:solidFill>
              <a:latin typeface="Meiryo"/>
              <a:ea typeface="Meiryo"/>
              <a:cs typeface="Meiryo"/>
            </a:endParaRPr>
          </a:p>
        </p:txBody>
      </p:sp>
      <p:sp>
        <p:nvSpPr>
          <p:cNvPr id="11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1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2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  後負荷で符号が反転</a:t>
            </a:r>
          </a:p>
        </p:txBody>
      </p:sp>
      <p:sp>
        <p:nvSpPr>
          <p:cNvPr id="11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50. Sugo 2012　／　51. Nakamura 1983</a:t>
            </a:r>
          </a:p>
        </p:txBody>
      </p:sp>
      <p:sp>
        <p:nvSpPr>
          <p:cNvPr id="121" name="c0-bg"/>
          <p:cNvSpPr/>
          <p:nvPr/>
        </p:nvSpPr>
        <p:spPr>
          <a:xfrm>
            <a:off x="590680" y="2757077"/>
            <a:ext cx="3560933" cy="1365226"/>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22" name="c0-t"/>
          <p:cNvSpPr txBox="1"/>
          <p:nvPr/>
        </p:nvSpPr>
        <p:spPr>
          <a:xfrm>
            <a:off x="790680"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PEP ＝ 延長</a:t>
            </a:r>
          </a:p>
        </p:txBody>
      </p:sp>
      <p:sp>
        <p:nvSpPr>
          <p:cNvPr id="123" name="c0-b"/>
          <p:cNvSpPr txBox="1"/>
          <p:nvPr/>
        </p:nvSpPr>
        <p:spPr>
          <a:xfrm>
            <a:off x="790680"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大動脈拡張期圧 ↑</a:t>
            </a:r>
          </a:p>
        </p:txBody>
      </p:sp>
      <p:sp>
        <p:nvSpPr>
          <p:cNvPr id="124" name="c1-bg"/>
          <p:cNvSpPr/>
          <p:nvPr/>
        </p:nvSpPr>
        <p:spPr>
          <a:xfrm>
            <a:off x="4380213" y="2757077"/>
            <a:ext cx="3560933" cy="1365226"/>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25" name="c1-t"/>
          <p:cNvSpPr txBox="1"/>
          <p:nvPr/>
        </p:nvSpPr>
        <p:spPr>
          <a:xfrm>
            <a:off x="4580213"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VTT ＝ 短縮</a:t>
            </a:r>
          </a:p>
        </p:txBody>
      </p:sp>
      <p:sp>
        <p:nvSpPr>
          <p:cNvPr id="126" name="c1-b"/>
          <p:cNvSpPr txBox="1"/>
          <p:nvPr/>
        </p:nvSpPr>
        <p:spPr>
          <a:xfrm>
            <a:off x="4580213"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PWV ↑ で速く伝わる</a:t>
            </a:r>
          </a:p>
        </p:txBody>
      </p:sp>
      <p:sp>
        <p:nvSpPr>
          <p:cNvPr id="127" name="c2-bg"/>
          <p:cNvSpPr/>
          <p:nvPr/>
        </p:nvSpPr>
        <p:spPr>
          <a:xfrm>
            <a:off x="8169746" y="2757077"/>
            <a:ext cx="3560933" cy="1365226"/>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128" name="c2-t"/>
          <p:cNvSpPr txBox="1"/>
          <p:nvPr/>
        </p:nvSpPr>
        <p:spPr>
          <a:xfrm>
            <a:off x="8369746"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PWTT ＝ 不定</a:t>
            </a:r>
          </a:p>
        </p:txBody>
      </p:sp>
      <p:sp>
        <p:nvSpPr>
          <p:cNvPr id="129" name="c2-b"/>
          <p:cNvSpPr txBox="1"/>
          <p:nvPr/>
        </p:nvSpPr>
        <p:spPr>
          <a:xfrm>
            <a:off x="8369746"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二つが打ち消し合う</a:t>
            </a:r>
          </a:p>
        </p:txBody>
      </p:sp>
      <p:sp>
        <p:nvSpPr>
          <p:cNvPr id="131" name="note"/>
          <p:cNvSpPr/>
          <p:nvPr/>
        </p:nvSpPr>
        <p:spPr>
          <a:xfrm>
            <a:off x="590680" y="4446632"/>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a:latin typeface="Meiryo"/>
                <a:ea typeface="Meiryo"/>
                <a:cs typeface="Meiryo"/>
              </a:rPr>
              <a:t>真の SV は低下、esCCO は上昇（の可能性） ＝ 符号が逆。</a:t>
            </a:r>
            <a:endParaRPr lang="ja-JP" altLang="en-US" sz="2400" b="1" dirty="0">
              <a:latin typeface="Meiryo"/>
              <a:ea typeface="Meiryo"/>
              <a:cs typeface="Meiryo"/>
            </a:endParaRPr>
          </a:p>
        </p:txBody>
      </p:sp>
      <p:sp>
        <p:nvSpPr>
          <p:cNvPr id="1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96/119</a:t>
            </a:r>
          </a:p>
        </p:txBody>
      </p:sp>
      <p:sp>
        <p:nvSpPr>
          <p:cNvPr id="3" name="テキスト ボックス 2">
            <a:extLst>
              <a:ext uri="{FF2B5EF4-FFF2-40B4-BE49-F238E27FC236}">
                <a16:creationId xmlns:a16="http://schemas.microsoft.com/office/drawing/2014/main" id="{E9B4569C-0641-A844-3396-AC58C8BA732A}"/>
              </a:ext>
            </a:extLst>
          </p:cNvPr>
          <p:cNvSpPr txBox="1"/>
          <p:nvPr/>
        </p:nvSpPr>
        <p:spPr>
          <a:xfrm>
            <a:off x="590680" y="2063416"/>
            <a:ext cx="3416320" cy="523220"/>
          </a:xfrm>
          <a:prstGeom prst="rect">
            <a:avLst/>
          </a:prstGeom>
          <a:noFill/>
        </p:spPr>
        <p:txBody>
          <a:bodyPr wrap="none" rtlCol="0">
            <a:spAutoFit/>
          </a:bodyPr>
          <a:lstStyle/>
          <a:p>
            <a:r>
              <a:rPr lang="ja-JP" altLang="en-US" sz="2800" b="1">
                <a:latin typeface="Meiryo"/>
                <a:ea typeface="Meiryo"/>
                <a:cs typeface="Meiryo"/>
              </a:rPr>
              <a:t>後負荷が増大すると</a:t>
            </a:r>
          </a:p>
        </p:txBody>
      </p:sp>
      <p:sp>
        <p:nvSpPr>
          <p:cNvPr id="13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3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3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3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3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6.2  誤差と血管抵抗の関係</a:t>
            </a:r>
          </a:p>
        </p:txBody>
      </p:sp>
      <p:sp>
        <p:nvSpPr>
          <p:cNvPr id="13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52. Biais 2015　／　53. Magliocca 2018</a:t>
            </a:r>
          </a:p>
        </p:txBody>
      </p:sp>
      <p:sp>
        <p:nvSpPr>
          <p:cNvPr id="138" name="c0-bg"/>
          <p:cNvSpPr/>
          <p:nvPr/>
        </p:nvSpPr>
        <p:spPr>
          <a:xfrm>
            <a:off x="526000" y="2019456"/>
            <a:ext cx="3560933"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39" name="c0-t"/>
          <p:cNvSpPr txBox="1"/>
          <p:nvPr/>
        </p:nvSpPr>
        <p:spPr>
          <a:xfrm>
            <a:off x="726000"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Yamada 2012</a:t>
            </a:r>
          </a:p>
        </p:txBody>
      </p:sp>
      <p:sp>
        <p:nvSpPr>
          <p:cNvPr id="140" name="c0-b"/>
          <p:cNvSpPr txBox="1"/>
          <p:nvPr/>
        </p:nvSpPr>
        <p:spPr>
          <a:xfrm>
            <a:off x="726000"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誤差 と SVR</a:t>
            </a:r>
          </a:p>
          <a:p>
            <a:pPr algn="l">
              <a:lnSpc>
                <a:spcPct val="120000"/>
              </a:lnSpc>
            </a:pPr>
            <a:r>
              <a:rPr lang="ja-JP" altLang="en-US" sz="2200" b="1" dirty="0">
                <a:solidFill>
                  <a:srgbClr val="262626"/>
                </a:solidFill>
                <a:latin typeface="Meiryo"/>
                <a:ea typeface="Meiryo"/>
                <a:cs typeface="Meiryo"/>
              </a:rPr>
              <a:t>r ＝ 0.37</a:t>
            </a:r>
          </a:p>
          <a:p>
            <a:pPr algn="l">
              <a:lnSpc>
                <a:spcPct val="120000"/>
              </a:lnSpc>
            </a:pPr>
            <a:r>
              <a:rPr lang="ja-JP" altLang="en-US" sz="2200" b="1" dirty="0">
                <a:solidFill>
                  <a:srgbClr val="262626"/>
                </a:solidFill>
                <a:latin typeface="Meiryo"/>
                <a:ea typeface="Meiryo"/>
                <a:cs typeface="Meiryo"/>
              </a:rPr>
              <a:t>（P&lt;0.0001）</a:t>
            </a:r>
          </a:p>
        </p:txBody>
      </p:sp>
      <p:sp>
        <p:nvSpPr>
          <p:cNvPr id="141" name="c1-bg"/>
          <p:cNvSpPr/>
          <p:nvPr/>
        </p:nvSpPr>
        <p:spPr>
          <a:xfrm>
            <a:off x="4315533" y="2019456"/>
            <a:ext cx="3560933"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42" name="c1-t"/>
          <p:cNvSpPr txBox="1"/>
          <p:nvPr/>
        </p:nvSpPr>
        <p:spPr>
          <a:xfrm>
            <a:off x="4515533"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Magliocca 2018</a:t>
            </a:r>
          </a:p>
        </p:txBody>
      </p:sp>
      <p:sp>
        <p:nvSpPr>
          <p:cNvPr id="143" name="c1-b"/>
          <p:cNvSpPr txBox="1"/>
          <p:nvPr/>
        </p:nvSpPr>
        <p:spPr>
          <a:xfrm>
            <a:off x="4515533"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a:t>
            </a:r>
          </a:p>
          <a:p>
            <a:pPr algn="l">
              <a:lnSpc>
                <a:spcPct val="120000"/>
              </a:lnSpc>
            </a:pPr>
            <a:r>
              <a:rPr lang="ja-JP" altLang="en-US" sz="2200" b="1" dirty="0">
                <a:solidFill>
                  <a:srgbClr val="262626"/>
                </a:solidFill>
                <a:latin typeface="Meiryo"/>
                <a:ea typeface="Meiryo"/>
                <a:cs typeface="Meiryo"/>
              </a:rPr>
              <a:t>SVR　r ＝ 0.610</a:t>
            </a:r>
          </a:p>
          <a:p>
            <a:pPr algn="l">
              <a:lnSpc>
                <a:spcPct val="120000"/>
              </a:lnSpc>
            </a:pPr>
            <a:r>
              <a:rPr lang="ja-JP" altLang="en-US" sz="2200" b="1" dirty="0">
                <a:solidFill>
                  <a:srgbClr val="262626"/>
                </a:solidFill>
                <a:latin typeface="Meiryo"/>
                <a:ea typeface="Meiryo"/>
                <a:cs typeface="Meiryo"/>
              </a:rPr>
              <a:t>Ea　　r ＝ 0.692</a:t>
            </a:r>
          </a:p>
        </p:txBody>
      </p:sp>
      <p:sp>
        <p:nvSpPr>
          <p:cNvPr id="144" name="c2-bg"/>
          <p:cNvSpPr/>
          <p:nvPr/>
        </p:nvSpPr>
        <p:spPr>
          <a:xfrm>
            <a:off x="8105066" y="2019456"/>
            <a:ext cx="3560933" cy="240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145" name="c2-t"/>
          <p:cNvSpPr txBox="1"/>
          <p:nvPr/>
        </p:nvSpPr>
        <p:spPr>
          <a:xfrm>
            <a:off x="8305066"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Biais 2015</a:t>
            </a:r>
          </a:p>
        </p:txBody>
      </p:sp>
      <p:sp>
        <p:nvSpPr>
          <p:cNvPr id="146" name="c2-b"/>
          <p:cNvSpPr txBox="1"/>
          <p:nvPr/>
        </p:nvSpPr>
        <p:spPr>
          <a:xfrm>
            <a:off x="8305066"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 SVR</a:t>
            </a:r>
          </a:p>
          <a:p>
            <a:pPr algn="l">
              <a:lnSpc>
                <a:spcPct val="120000"/>
              </a:lnSpc>
            </a:pPr>
            <a:r>
              <a:rPr lang="ja-JP" altLang="en-US" sz="2200" b="1" dirty="0">
                <a:solidFill>
                  <a:srgbClr val="262626"/>
                </a:solidFill>
                <a:latin typeface="Meiryo"/>
                <a:ea typeface="Meiryo"/>
                <a:cs typeface="Meiryo"/>
              </a:rPr>
              <a:t>r² ＝ 0.60</a:t>
            </a:r>
          </a:p>
          <a:p>
            <a:pPr algn="l">
              <a:lnSpc>
                <a:spcPct val="120000"/>
              </a:lnSpc>
            </a:pPr>
            <a:r>
              <a:rPr lang="ja-JP" altLang="en-US" sz="2200" b="1" dirty="0">
                <a:solidFill>
                  <a:srgbClr val="262626"/>
                </a:solidFill>
                <a:latin typeface="Meiryo"/>
                <a:ea typeface="Meiryo"/>
                <a:cs typeface="Meiryo"/>
              </a:rPr>
              <a:t>CO 変化は追えず</a:t>
            </a:r>
          </a:p>
        </p:txBody>
      </p:sp>
      <p:sp>
        <p:nvSpPr>
          <p:cNvPr id="147" name="b1"/>
          <p:cNvSpPr/>
          <p:nvPr/>
        </p:nvSpPr>
        <p:spPr>
          <a:xfrm>
            <a:off x="526000" y="4619456"/>
            <a:ext cx="11140000" cy="1148912"/>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en-US" altLang="ja-JP" sz="2400" b="1" dirty="0" err="1">
                <a:solidFill>
                  <a:srgbClr val="262626"/>
                </a:solidFill>
                <a:latin typeface="Meiryo"/>
                <a:ea typeface="Meiryo"/>
                <a:cs typeface="Meiryo"/>
              </a:rPr>
              <a:t>esCCO</a:t>
            </a:r>
            <a:r>
              <a:rPr lang="ja-JP" altLang="en-US" sz="2400" b="1">
                <a:solidFill>
                  <a:srgbClr val="262626"/>
                </a:solidFill>
                <a:latin typeface="Meiryo"/>
                <a:ea typeface="Meiryo"/>
                <a:cs typeface="Meiryo"/>
              </a:rPr>
              <a:t>の誤差</a:t>
            </a:r>
            <a:r>
              <a:rPr lang="ja-JP" altLang="en-US" sz="2400" b="1" dirty="0">
                <a:solidFill>
                  <a:srgbClr val="262626"/>
                </a:solidFill>
                <a:latin typeface="Meiryo"/>
                <a:ea typeface="Meiryo"/>
                <a:cs typeface="Meiryo"/>
              </a:rPr>
              <a:t>はランダムではなく、</a:t>
            </a:r>
            <a:r>
              <a:rPr lang="ja-JP" altLang="en-US" sz="2400" b="1">
                <a:solidFill>
                  <a:srgbClr val="262626"/>
                </a:solidFill>
                <a:latin typeface="Meiryo"/>
                <a:ea typeface="Meiryo"/>
                <a:cs typeface="Meiryo"/>
              </a:rPr>
              <a:t>血管抵抗に関連する。</a:t>
            </a:r>
            <a:endParaRPr lang="en-US" altLang="ja-JP" sz="2400" b="1" dirty="0">
              <a:solidFill>
                <a:srgbClr val="262626"/>
              </a:solidFill>
              <a:latin typeface="Meiryo"/>
              <a:ea typeface="Meiryo"/>
              <a:cs typeface="Meiryo"/>
            </a:endParaRPr>
          </a:p>
          <a:p>
            <a:pPr algn="ctr">
              <a:lnSpc>
                <a:spcPct val="120000"/>
              </a:lnSpc>
            </a:pPr>
            <a:r>
              <a:rPr lang="ja-JP" altLang="en-US" sz="2400" b="1">
                <a:solidFill>
                  <a:srgbClr val="262626"/>
                </a:solidFill>
                <a:latin typeface="Meiryo"/>
                <a:ea typeface="Meiryo"/>
                <a:cs typeface="Meiryo"/>
              </a:rPr>
              <a:t>血管抵抗の情報で</a:t>
            </a:r>
            <a:r>
              <a:rPr lang="en-US" altLang="ja-JP" sz="2400" b="1" dirty="0" err="1">
                <a:solidFill>
                  <a:srgbClr val="262626"/>
                </a:solidFill>
                <a:latin typeface="Meiryo"/>
                <a:ea typeface="Meiryo"/>
                <a:cs typeface="Meiryo"/>
              </a:rPr>
              <a:t>esCCO</a:t>
            </a:r>
            <a:r>
              <a:rPr lang="ja-JP" altLang="en-US" sz="2400" b="1">
                <a:solidFill>
                  <a:srgbClr val="262626"/>
                </a:solidFill>
                <a:latin typeface="Meiryo"/>
                <a:ea typeface="Meiryo"/>
                <a:cs typeface="Meiryo"/>
              </a:rPr>
              <a:t>を補正できるのでは？</a:t>
            </a:r>
            <a:endParaRPr lang="ja-JP" altLang="en-US" sz="2400" b="1" dirty="0">
              <a:solidFill>
                <a:srgbClr val="262626"/>
              </a:solidFill>
              <a:latin typeface="Meiryo"/>
              <a:ea typeface="Meiryo"/>
              <a:cs typeface="Meiryo"/>
            </a:endParaRPr>
          </a:p>
        </p:txBody>
      </p:sp>
      <p:sp>
        <p:nvSpPr>
          <p:cNvPr id="14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97/119</a:t>
            </a:r>
          </a:p>
        </p:txBody>
      </p:sp>
      <p:sp>
        <p:nvSpPr>
          <p:cNvPr id="15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5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5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6.2  精度の現在地</a:t>
            </a:r>
          </a:p>
        </p:txBody>
      </p:sp>
      <p:sp>
        <p:nvSpPr>
          <p:cNvPr id="153"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54. Tsutsui 2013　／　55. Critchley 1999</a:t>
            </a:r>
          </a:p>
        </p:txBody>
      </p:sp>
      <p:sp>
        <p:nvSpPr>
          <p:cNvPr id="155" name="l-bg"/>
          <p:cNvSpPr/>
          <p:nvPr/>
        </p:nvSpPr>
        <p:spPr>
          <a:xfrm>
            <a:off x="526000" y="2191238"/>
            <a:ext cx="5432840" cy="23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56" name="l-t"/>
          <p:cNvSpPr txBox="1"/>
          <p:nvPr/>
        </p:nvSpPr>
        <p:spPr>
          <a:xfrm>
            <a:off x="726000" y="2341238"/>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絶対値としての一致</a:t>
            </a:r>
          </a:p>
        </p:txBody>
      </p:sp>
      <p:sp>
        <p:nvSpPr>
          <p:cNvPr id="157" name="l-b"/>
          <p:cNvSpPr txBox="1"/>
          <p:nvPr/>
        </p:nvSpPr>
        <p:spPr>
          <a:xfrm>
            <a:off x="726000" y="2891238"/>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約 1.6 L/min</a:t>
            </a:r>
          </a:p>
          <a:p>
            <a:pPr algn="l">
              <a:lnSpc>
                <a:spcPct val="120000"/>
              </a:lnSpc>
            </a:pPr>
            <a:r>
              <a:rPr lang="ja-JP" altLang="en-US" sz="2200" b="1" dirty="0">
                <a:solidFill>
                  <a:srgbClr val="262626"/>
                </a:solidFill>
                <a:latin typeface="Meiryo"/>
                <a:ea typeface="Meiryo"/>
                <a:cs typeface="Meiryo"/>
              </a:rPr>
              <a:t>・誤差率 約 47 %</a:t>
            </a:r>
          </a:p>
          <a:p>
            <a:pPr algn="l">
              <a:lnSpc>
                <a:spcPct val="120000"/>
              </a:lnSpc>
            </a:pPr>
            <a:r>
              <a:rPr lang="ja-JP" altLang="en-US" sz="2200" b="1" dirty="0">
                <a:solidFill>
                  <a:srgbClr val="262626"/>
                </a:solidFill>
                <a:latin typeface="Meiryo"/>
                <a:ea typeface="Meiryo"/>
                <a:cs typeface="Meiryo"/>
              </a:rPr>
              <a:t>・許容基準 ±30 %</a:t>
            </a:r>
          </a:p>
        </p:txBody>
      </p:sp>
      <p:sp>
        <p:nvSpPr>
          <p:cNvPr id="158" name="r-bg"/>
          <p:cNvSpPr/>
          <p:nvPr/>
        </p:nvSpPr>
        <p:spPr>
          <a:xfrm>
            <a:off x="6233160" y="2191238"/>
            <a:ext cx="5432840" cy="23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59" name="r-t"/>
          <p:cNvSpPr txBox="1"/>
          <p:nvPr/>
        </p:nvSpPr>
        <p:spPr>
          <a:xfrm>
            <a:off x="6433160" y="2341238"/>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変化のトレンド</a:t>
            </a:r>
          </a:p>
        </p:txBody>
      </p:sp>
      <p:sp>
        <p:nvSpPr>
          <p:cNvPr id="160" name="r-b"/>
          <p:cNvSpPr txBox="1"/>
          <p:nvPr/>
        </p:nvSpPr>
        <p:spPr>
          <a:xfrm>
            <a:off x="6433160" y="2891238"/>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・concordance 96.0 %</a:t>
            </a:r>
          </a:p>
          <a:p>
            <a:pPr algn="l">
              <a:lnSpc>
                <a:spcPct val="120000"/>
              </a:lnSpc>
            </a:pPr>
            <a:r>
              <a:rPr lang="ja-JP" altLang="en-US" sz="2200" b="1" dirty="0">
                <a:solidFill>
                  <a:srgbClr val="262626"/>
                </a:solidFill>
                <a:latin typeface="Meiryo"/>
                <a:ea typeface="Meiryo"/>
                <a:cs typeface="Meiryo"/>
              </a:rPr>
              <a:t>・向きは追える</a:t>
            </a:r>
          </a:p>
          <a:p>
            <a:pPr algn="l">
              <a:lnSpc>
                <a:spcPct val="120000"/>
              </a:lnSpc>
            </a:pPr>
            <a:r>
              <a:rPr lang="ja-JP" altLang="en-US" sz="2200" b="1" dirty="0">
                <a:solidFill>
                  <a:srgbClr val="262626"/>
                </a:solidFill>
                <a:latin typeface="Meiryo"/>
                <a:ea typeface="Meiryo"/>
                <a:cs typeface="Meiryo"/>
              </a:rPr>
              <a:t>・部分肝切除 31 例</a:t>
            </a:r>
          </a:p>
        </p:txBody>
      </p:sp>
      <p:sp>
        <p:nvSpPr>
          <p:cNvPr id="162" name="note"/>
          <p:cNvSpPr/>
          <p:nvPr/>
        </p:nvSpPr>
        <p:spPr>
          <a:xfrm>
            <a:off x="526000" y="4754089"/>
            <a:ext cx="11140000" cy="1121491"/>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a:solidFill>
                  <a:srgbClr val="262626"/>
                </a:solidFill>
                <a:latin typeface="Meiryo"/>
                <a:ea typeface="Meiryo"/>
                <a:cs typeface="Meiryo"/>
              </a:rPr>
              <a:t>誤差率をどれだけ許容基準に収められるか。</a:t>
            </a:r>
            <a:endParaRPr lang="en-US" altLang="ja-JP" sz="2400" b="1" dirty="0">
              <a:solidFill>
                <a:srgbClr val="262626"/>
              </a:solidFill>
              <a:latin typeface="Meiryo"/>
              <a:ea typeface="Meiryo"/>
              <a:cs typeface="Meiryo"/>
            </a:endParaRPr>
          </a:p>
          <a:p>
            <a:pPr algn="ctr">
              <a:lnSpc>
                <a:spcPct val="120000"/>
              </a:lnSpc>
            </a:pPr>
            <a:r>
              <a:rPr lang="ja-JP" altLang="en-US" sz="2400" b="1">
                <a:solidFill>
                  <a:srgbClr val="262626"/>
                </a:solidFill>
                <a:latin typeface="Meiryo"/>
                <a:ea typeface="Meiryo"/>
                <a:cs typeface="Meiryo"/>
              </a:rPr>
              <a:t>後負荷要因による調整が効くのではないか。</a:t>
            </a:r>
            <a:endParaRPr lang="ja-JP" altLang="en-US" sz="2400" b="1" dirty="0">
              <a:solidFill>
                <a:srgbClr val="262626"/>
              </a:solidFill>
              <a:latin typeface="Meiryo"/>
              <a:ea typeface="Meiryo"/>
              <a:cs typeface="Meiryo"/>
            </a:endParaRPr>
          </a:p>
        </p:txBody>
      </p:sp>
      <p:sp>
        <p:nvSpPr>
          <p:cNvPr id="16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98/119</a:t>
            </a:r>
          </a:p>
        </p:txBody>
      </p:sp>
      <p:sp>
        <p:nvSpPr>
          <p:cNvPr id="164"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5"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66"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7"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8"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69"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提案 ― K を動的に補正</a:t>
            </a:r>
          </a:p>
        </p:txBody>
      </p:sp>
      <p:sp>
        <p:nvSpPr>
          <p:cNvPr id="167"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a:t>
            </a:r>
          </a:p>
        </p:txBody>
      </p:sp>
      <p:sp>
        <p:nvSpPr>
          <p:cNvPr id="169" name="l-bg"/>
          <p:cNvSpPr/>
          <p:nvPr/>
        </p:nvSpPr>
        <p:spPr>
          <a:xfrm>
            <a:off x="502920" y="1800000"/>
            <a:ext cx="5432840" cy="22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70"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時間軸（既存）</a:t>
            </a:r>
          </a:p>
        </p:txBody>
      </p:sp>
      <p:sp>
        <p:nvSpPr>
          <p:cNvPr id="171" name="l-b"/>
          <p:cNvSpPr txBox="1"/>
          <p:nvPr/>
        </p:nvSpPr>
        <p:spPr>
          <a:xfrm>
            <a:off x="70292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 esSV</a:t>
            </a:r>
          </a:p>
          <a:p>
            <a:pPr algn="l">
              <a:lnSpc>
                <a:spcPct val="120000"/>
              </a:lnSpc>
            </a:pPr>
            <a:r>
              <a:rPr lang="ja-JP" altLang="en-US" sz="2200" b="1" dirty="0">
                <a:solidFill>
                  <a:srgbClr val="262626"/>
                </a:solidFill>
                <a:latin typeface="Meiryo"/>
                <a:ea typeface="Meiryo"/>
                <a:cs typeface="Meiryo"/>
              </a:rPr>
              <a:t>・心臓と血管が混在</a:t>
            </a:r>
          </a:p>
        </p:txBody>
      </p:sp>
      <p:sp>
        <p:nvSpPr>
          <p:cNvPr id="172" name="r-bg"/>
          <p:cNvSpPr/>
          <p:nvPr/>
        </p:nvSpPr>
        <p:spPr>
          <a:xfrm>
            <a:off x="6210080" y="1800000"/>
            <a:ext cx="5432840" cy="22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73"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形態軸（提案）</a:t>
            </a:r>
          </a:p>
        </p:txBody>
      </p:sp>
      <p:sp>
        <p:nvSpPr>
          <p:cNvPr id="174" name="r-b"/>
          <p:cNvSpPr txBox="1"/>
          <p:nvPr/>
        </p:nvSpPr>
        <p:spPr>
          <a:xfrm>
            <a:off x="641008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SI・RI → 血管の状態</a:t>
            </a:r>
          </a:p>
          <a:p>
            <a:pPr algn="l">
              <a:lnSpc>
                <a:spcPct val="120000"/>
              </a:lnSpc>
            </a:pPr>
            <a:r>
              <a:rPr lang="ja-JP" altLang="en-US" sz="2200" b="1" dirty="0">
                <a:solidFill>
                  <a:srgbClr val="262626"/>
                </a:solidFill>
                <a:latin typeface="Meiryo"/>
                <a:ea typeface="Meiryo"/>
                <a:cs typeface="Meiryo"/>
              </a:rPr>
              <a:t>・PDA の成分波から取得</a:t>
            </a:r>
            <a:r>
              <a:rPr lang="ja-JP" altLang="en-US" sz="2200" b="1">
                <a:solidFill>
                  <a:srgbClr val="262626"/>
                </a:solidFill>
                <a:latin typeface="Meiryo"/>
                <a:ea typeface="Meiryo"/>
                <a:cs typeface="Meiryo"/>
              </a:rPr>
              <a:t/>
            </a:r>
            <a:endParaRPr lang="en-US" altLang="ja-JP" sz="2200" b="1" dirty="0">
              <a:solidFill>
                <a:srgbClr val="262626"/>
              </a:solidFill>
              <a:latin typeface="Meiryo"/>
              <a:ea typeface="Meiryo"/>
              <a:cs typeface="Meiryo"/>
            </a:endParaRPr>
          </a:p>
          <a:p>
            <a:pPr algn="l">
              <a:lnSpc>
                <a:spcPct val="120000"/>
              </a:lnSpc>
            </a:pPr>
            <a:r>
              <a:rPr lang="ja-JP" altLang="en-US" sz="2200" b="1">
                <a:solidFill>
                  <a:srgbClr val="262626"/>
                </a:solidFill>
                <a:latin typeface="Meiryo"/>
                <a:ea typeface="Meiryo"/>
                <a:cs typeface="Meiryo"/>
              </a:rPr>
              <a:t>・</a:t>
            </a:r>
            <a:r>
              <a:rPr lang="en-US" altLang="ja-JP" sz="2200" b="1" dirty="0">
                <a:solidFill>
                  <a:srgbClr val="262626"/>
                </a:solidFill>
                <a:latin typeface="Meiryo"/>
                <a:ea typeface="Meiryo"/>
                <a:cs typeface="Meiryo"/>
              </a:rPr>
              <a:t>Skewed – Gaussian </a:t>
            </a:r>
            <a:r>
              <a:rPr lang="ja-JP" altLang="en-US" sz="2200" b="1">
                <a:solidFill>
                  <a:srgbClr val="262626"/>
                </a:solidFill>
                <a:latin typeface="Meiryo"/>
                <a:ea typeface="Meiryo"/>
                <a:cs typeface="Meiryo"/>
              </a:rPr>
              <a:t>２カーネル</a:t>
            </a:r>
            <a:endParaRPr lang="en-US" altLang="ja-JP" sz="2200" b="1" dirty="0">
              <a:solidFill>
                <a:srgbClr val="262626"/>
              </a:solidFill>
              <a:latin typeface="Meiryo"/>
              <a:ea typeface="Meiryo"/>
              <a:cs typeface="Meiryo"/>
            </a:endParaRPr>
          </a:p>
        </p:txBody>
      </p:sp>
      <p:sp>
        <p:nvSpPr>
          <p:cNvPr id="175" name="banner"/>
          <p:cNvSpPr/>
          <p:nvPr/>
        </p:nvSpPr>
        <p:spPr>
          <a:xfrm>
            <a:off x="502920" y="4200000"/>
            <a:ext cx="11140000" cy="17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600" b="1" dirty="0">
                <a:solidFill>
                  <a:srgbClr val="262626"/>
                </a:solidFill>
                <a:latin typeface="Meiryo"/>
                <a:ea typeface="Meiryo"/>
                <a:cs typeface="Meiryo"/>
              </a:rPr>
              <a:t>K → K ( SI , RI )</a:t>
            </a:r>
          </a:p>
          <a:p>
            <a:pPr algn="ctr">
              <a:lnSpc>
                <a:spcPct val="120000"/>
              </a:lnSpc>
            </a:pPr>
            <a:r>
              <a:rPr lang="ja-JP" altLang="en-US" sz="2600" b="1" dirty="0">
                <a:solidFill>
                  <a:srgbClr val="262626"/>
                </a:solidFill>
                <a:latin typeface="Meiryo"/>
                <a:ea typeface="Meiryo"/>
                <a:cs typeface="Meiryo"/>
              </a:rPr>
              <a:t>波形の形（血管）で 波形の時間（PWTT）を較正。</a:t>
            </a:r>
          </a:p>
        </p:txBody>
      </p:sp>
      <p:sp>
        <p:nvSpPr>
          <p:cNvPr id="17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99/119</a:t>
            </a:r>
          </a:p>
        </p:txBody>
      </p:sp>
      <p:sp>
        <p:nvSpPr>
          <p:cNvPr id="17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8"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2"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なぜ SI・RI か</a:t>
            </a:r>
          </a:p>
        </p:txBody>
      </p:sp>
      <p:sp>
        <p:nvSpPr>
          <p:cNvPr id="18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56. Awad 2007</a:t>
            </a:r>
          </a:p>
        </p:txBody>
      </p:sp>
      <p:sp>
        <p:nvSpPr>
          <p:cNvPr id="182" name="l-bg"/>
          <p:cNvSpPr/>
          <p:nvPr/>
        </p:nvSpPr>
        <p:spPr>
          <a:xfrm>
            <a:off x="502920" y="1800000"/>
            <a:ext cx="5432840"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83"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SI ＝ 身長 ÷ ΔT</a:t>
            </a:r>
          </a:p>
        </p:txBody>
      </p:sp>
      <p:sp>
        <p:nvSpPr>
          <p:cNvPr id="184" name="l-b"/>
          <p:cNvSpPr txBox="1"/>
          <p:nvPr/>
        </p:nvSpPr>
        <p:spPr>
          <a:xfrm>
            <a:off x="70292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 PWV</a:t>
            </a:r>
          </a:p>
          <a:p>
            <a:pPr algn="l">
              <a:lnSpc>
                <a:spcPct val="120000"/>
              </a:lnSpc>
            </a:pPr>
            <a:r>
              <a:rPr lang="ja-JP" altLang="en-US" sz="2200" b="1" dirty="0">
                <a:solidFill>
                  <a:srgbClr val="262626"/>
                </a:solidFill>
                <a:latin typeface="Meiryo"/>
                <a:ea typeface="Meiryo"/>
                <a:cs typeface="Meiryo"/>
              </a:rPr>
              <a:t>・大血管スティフネス</a:t>
            </a:r>
          </a:p>
          <a:p>
            <a:pPr algn="l">
              <a:lnSpc>
                <a:spcPct val="120000"/>
              </a:lnSpc>
            </a:pPr>
            <a:r>
              <a:rPr lang="ja-JP" altLang="en-US" sz="2200" b="1" dirty="0">
                <a:solidFill>
                  <a:srgbClr val="262626"/>
                </a:solidFill>
                <a:latin typeface="Meiryo"/>
                <a:ea typeface="Meiryo"/>
                <a:cs typeface="Meiryo"/>
              </a:rPr>
              <a:t>・時間軸（位置）</a:t>
            </a:r>
          </a:p>
        </p:txBody>
      </p:sp>
      <p:sp>
        <p:nvSpPr>
          <p:cNvPr id="185" name="r-bg"/>
          <p:cNvSpPr/>
          <p:nvPr/>
        </p:nvSpPr>
        <p:spPr>
          <a:xfrm>
            <a:off x="6210080" y="1800000"/>
            <a:ext cx="5432840"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86"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RI ＝ P2 ÷ P1</a:t>
            </a:r>
          </a:p>
        </p:txBody>
      </p:sp>
      <p:sp>
        <p:nvSpPr>
          <p:cNvPr id="187" name="r-b"/>
          <p:cNvSpPr txBox="1"/>
          <p:nvPr/>
        </p:nvSpPr>
        <p:spPr>
          <a:xfrm>
            <a:off x="641008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・反射係数 </a:t>
            </a:r>
            <a:r>
              <a:rPr lang="ja-JP" altLang="en-US" sz="2200" b="1">
                <a:solidFill>
                  <a:srgbClr val="262626"/>
                </a:solidFill>
                <a:latin typeface="Meiryo"/>
                <a:ea typeface="Meiryo"/>
                <a:cs typeface="Meiryo"/>
              </a:rPr>
              <a:t>Γ （＝振幅）に</a:t>
            </a:r>
            <a:r>
              <a:rPr lang="ja-JP" altLang="en-US" sz="2200" b="1" dirty="0">
                <a:solidFill>
                  <a:srgbClr val="262626"/>
                </a:solidFill>
                <a:latin typeface="Meiryo"/>
                <a:ea typeface="Meiryo"/>
                <a:cs typeface="Meiryo"/>
              </a:rPr>
              <a:t>相当</a:t>
            </a:r>
          </a:p>
          <a:p>
            <a:pPr algn="l">
              <a:lnSpc>
                <a:spcPct val="120000"/>
              </a:lnSpc>
            </a:pPr>
            <a:r>
              <a:rPr lang="ja-JP" altLang="en-US" sz="2200" b="1" dirty="0">
                <a:solidFill>
                  <a:srgbClr val="262626"/>
                </a:solidFill>
                <a:latin typeface="Meiryo"/>
                <a:ea typeface="Meiryo"/>
                <a:cs typeface="Meiryo"/>
              </a:rPr>
              <a:t>・末梢トーヌス・SVR</a:t>
            </a:r>
          </a:p>
          <a:p>
            <a:pPr algn="l">
              <a:lnSpc>
                <a:spcPct val="120000"/>
              </a:lnSpc>
            </a:pPr>
            <a:r>
              <a:rPr lang="ja-JP" altLang="en-US" sz="2200" b="1" dirty="0">
                <a:solidFill>
                  <a:srgbClr val="262626"/>
                </a:solidFill>
                <a:latin typeface="Meiryo"/>
                <a:ea typeface="Meiryo"/>
                <a:cs typeface="Meiryo"/>
              </a:rPr>
              <a:t>・高さ軸（大きさ）</a:t>
            </a:r>
          </a:p>
        </p:txBody>
      </p:sp>
      <p:sp>
        <p:nvSpPr>
          <p:cNvPr id="188" name="b1"/>
          <p:cNvSpPr/>
          <p:nvPr/>
        </p:nvSpPr>
        <p:spPr>
          <a:xfrm>
            <a:off x="502920" y="4400000"/>
            <a:ext cx="11140000" cy="9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交絡している後負荷そのものを 2 軸で測る。</a:t>
            </a:r>
          </a:p>
        </p:txBody>
      </p:sp>
      <p:sp>
        <p:nvSpPr>
          <p:cNvPr id="189" name="b2"/>
          <p:cNvSpPr/>
          <p:nvPr/>
        </p:nvSpPr>
        <p:spPr>
          <a:xfrm>
            <a:off x="502920" y="5500000"/>
            <a:ext cx="11140000" cy="850000"/>
          </a:xfrm>
          <a:prstGeom prst="roundRect">
            <a:avLst>
              <a:gd name="adj" fmla="val 4000"/>
            </a:avLst>
          </a:prstGeom>
          <a:solidFill>
            <a:srgbClr val="E4F5F5"/>
          </a:solidFill>
          <a:ln w="28575">
            <a:solidFill>
              <a:srgbClr val="00A8AA"/>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SVR ↑ → 反射 ↑ → RI ↑</a:t>
            </a:r>
          </a:p>
        </p:txBody>
      </p:sp>
      <p:sp>
        <p:nvSpPr>
          <p:cNvPr id="19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100/119</a:t>
            </a:r>
          </a:p>
        </p:txBody>
      </p:sp>
      <p:sp>
        <p:nvSpPr>
          <p:cNvPr id="19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9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9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9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6"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ΔT は PEP を含まない</a:t>
            </a:r>
          </a:p>
        </p:txBody>
      </p:sp>
      <p:sp>
        <p:nvSpPr>
          <p:cNvPr id="18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50. Sugo 2012　／　57. Beutel 2021</a:t>
            </a:r>
          </a:p>
        </p:txBody>
      </p:sp>
      <p:sp>
        <p:nvSpPr>
          <p:cNvPr id="183" name="l-bg"/>
          <p:cNvSpPr/>
          <p:nvPr/>
        </p:nvSpPr>
        <p:spPr>
          <a:xfrm>
            <a:off x="527304" y="2005413"/>
            <a:ext cx="5431536" cy="2834640"/>
          </a:xfrm>
          <a:prstGeom prst="roundRect">
            <a:avLst>
              <a:gd name="adj" fmla="val 6000"/>
            </a:avLst>
          </a:prstGeom>
          <a:solidFill>
            <a:srgbClr val="EAF0F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TextBox 183"/>
          <p:cNvSpPr txBox="1"/>
          <p:nvPr/>
        </p:nvSpPr>
        <p:spPr>
          <a:xfrm>
            <a:off x="728472" y="2204795"/>
            <a:ext cx="5029200" cy="369332"/>
          </a:xfrm>
          <a:prstGeom prst="rect">
            <a:avLst/>
          </a:prstGeom>
          <a:noFill/>
        </p:spPr>
        <p:txBody>
          <a:bodyPr wrap="square" lIns="0" tIns="0" rIns="0" bIns="0" anchor="ctr">
            <a:spAutoFit/>
          </a:bodyPr>
          <a:lstStyle/>
          <a:p>
            <a:pPr algn="ctr"/>
            <a:r>
              <a:rPr sz="2400" b="1" dirty="0">
                <a:solidFill>
                  <a:srgbClr val="2E5395"/>
                </a:solidFill>
                <a:latin typeface="Meiryo"/>
                <a:ea typeface="Meiryo"/>
                <a:cs typeface="Meiryo"/>
              </a:rPr>
              <a:t>PWTT</a:t>
            </a:r>
          </a:p>
        </p:txBody>
      </p:sp>
      <p:sp>
        <p:nvSpPr>
          <p:cNvPr id="185" name="TextBox 184"/>
          <p:cNvSpPr txBox="1"/>
          <p:nvPr/>
        </p:nvSpPr>
        <p:spPr>
          <a:xfrm>
            <a:off x="801624" y="2773989"/>
            <a:ext cx="1280160" cy="384048"/>
          </a:xfrm>
          <a:prstGeom prst="rect">
            <a:avLst/>
          </a:prstGeom>
          <a:noFill/>
        </p:spPr>
        <p:txBody>
          <a:bodyPr wrap="square" lIns="0" tIns="0" rIns="0" bIns="0" anchor="t">
            <a:spAutoFit/>
          </a:bodyPr>
          <a:lstStyle/>
          <a:p>
            <a:pPr algn="l"/>
            <a:r>
              <a:rPr sz="1600" b="0">
                <a:solidFill>
                  <a:srgbClr val="808080"/>
                </a:solidFill>
                <a:latin typeface="Meiryo"/>
                <a:ea typeface="Meiryo"/>
                <a:cs typeface="Meiryo"/>
              </a:rPr>
              <a:t>R 波</a:t>
            </a:r>
          </a:p>
        </p:txBody>
      </p:sp>
      <p:sp>
        <p:nvSpPr>
          <p:cNvPr id="186" name="TextBox 185"/>
          <p:cNvSpPr txBox="1"/>
          <p:nvPr/>
        </p:nvSpPr>
        <p:spPr>
          <a:xfrm>
            <a:off x="1944624" y="2773989"/>
            <a:ext cx="1371600" cy="384048"/>
          </a:xfrm>
          <a:prstGeom prst="rect">
            <a:avLst/>
          </a:prstGeom>
          <a:noFill/>
        </p:spPr>
        <p:txBody>
          <a:bodyPr wrap="square" lIns="0" tIns="0" rIns="0" bIns="0" anchor="t">
            <a:spAutoFit/>
          </a:bodyPr>
          <a:lstStyle/>
          <a:p>
            <a:pPr algn="ctr"/>
            <a:r>
              <a:rPr sz="1600" b="0">
                <a:solidFill>
                  <a:srgbClr val="808080"/>
                </a:solidFill>
                <a:latin typeface="Meiryo"/>
                <a:ea typeface="Meiryo"/>
                <a:cs typeface="Meiryo"/>
              </a:rPr>
              <a:t>弁が開く</a:t>
            </a:r>
          </a:p>
        </p:txBody>
      </p:sp>
      <p:sp>
        <p:nvSpPr>
          <p:cNvPr id="187" name="TextBox 186"/>
          <p:cNvSpPr txBox="1"/>
          <p:nvPr/>
        </p:nvSpPr>
        <p:spPr>
          <a:xfrm>
            <a:off x="4276344" y="2773989"/>
            <a:ext cx="1417320" cy="384048"/>
          </a:xfrm>
          <a:prstGeom prst="rect">
            <a:avLst/>
          </a:prstGeom>
          <a:noFill/>
        </p:spPr>
        <p:txBody>
          <a:bodyPr wrap="square" lIns="0" tIns="0" rIns="0" bIns="0" anchor="t">
            <a:spAutoFit/>
          </a:bodyPr>
          <a:lstStyle/>
          <a:p>
            <a:pPr algn="r"/>
            <a:r>
              <a:rPr sz="1600" b="0">
                <a:solidFill>
                  <a:srgbClr val="808080"/>
                </a:solidFill>
                <a:latin typeface="Meiryo"/>
                <a:ea typeface="Meiryo"/>
                <a:cs typeface="Meiryo"/>
              </a:rPr>
              <a:t>脈波が届く</a:t>
            </a:r>
          </a:p>
        </p:txBody>
      </p:sp>
      <p:cxnSp>
        <p:nvCxnSpPr>
          <p:cNvPr id="188" name="Connector 187"/>
          <p:cNvCxnSpPr/>
          <p:nvPr/>
        </p:nvCxnSpPr>
        <p:spPr>
          <a:xfrm>
            <a:off x="80162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263042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569366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sp>
        <p:nvSpPr>
          <p:cNvPr id="191" name="Rounded Rectangle 190"/>
          <p:cNvSpPr/>
          <p:nvPr/>
        </p:nvSpPr>
        <p:spPr>
          <a:xfrm>
            <a:off x="801624" y="3212901"/>
            <a:ext cx="1828800" cy="475488"/>
          </a:xfrm>
          <a:prstGeom prst="roundRect">
            <a:avLst>
              <a:gd name="adj" fmla="val 1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Box 191"/>
          <p:cNvSpPr txBox="1"/>
          <p:nvPr/>
        </p:nvSpPr>
        <p:spPr>
          <a:xfrm>
            <a:off x="801624" y="3212901"/>
            <a:ext cx="1828800" cy="475488"/>
          </a:xfrm>
          <a:prstGeom prst="rect">
            <a:avLst/>
          </a:prstGeom>
          <a:noFill/>
        </p:spPr>
        <p:txBody>
          <a:bodyPr wrap="square" lIns="0" tIns="0" rIns="0" bIns="0" anchor="ctr">
            <a:spAutoFit/>
          </a:bodyPr>
          <a:lstStyle/>
          <a:p>
            <a:pPr algn="ctr"/>
            <a:r>
              <a:rPr sz="2200" b="1">
                <a:solidFill>
                  <a:srgbClr val="FFFFFF"/>
                </a:solidFill>
                <a:latin typeface="Meiryo"/>
                <a:ea typeface="Meiryo"/>
                <a:cs typeface="Meiryo"/>
              </a:rPr>
              <a:t>PEP</a:t>
            </a:r>
          </a:p>
        </p:txBody>
      </p:sp>
      <p:sp>
        <p:nvSpPr>
          <p:cNvPr id="193" name="Rounded Rectangle 192"/>
          <p:cNvSpPr/>
          <p:nvPr/>
        </p:nvSpPr>
        <p:spPr>
          <a:xfrm>
            <a:off x="2630424" y="3212901"/>
            <a:ext cx="3063240" cy="475488"/>
          </a:xfrm>
          <a:prstGeom prst="roundRect">
            <a:avLst>
              <a:gd name="adj" fmla="val 10000"/>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TextBox 193"/>
          <p:cNvSpPr txBox="1"/>
          <p:nvPr/>
        </p:nvSpPr>
        <p:spPr>
          <a:xfrm>
            <a:off x="2630424" y="3212901"/>
            <a:ext cx="3063240" cy="475488"/>
          </a:xfrm>
          <a:prstGeom prst="rect">
            <a:avLst/>
          </a:prstGeom>
          <a:noFill/>
        </p:spPr>
        <p:txBody>
          <a:bodyPr wrap="square" lIns="0" tIns="0" rIns="0" bIns="0" anchor="ctr">
            <a:spAutoFit/>
          </a:bodyPr>
          <a:lstStyle/>
          <a:p>
            <a:pPr algn="ctr"/>
            <a:r>
              <a:rPr sz="2200" b="1" dirty="0">
                <a:solidFill>
                  <a:srgbClr val="FFFFFF"/>
                </a:solidFill>
                <a:latin typeface="Meiryo"/>
                <a:ea typeface="Meiryo"/>
                <a:cs typeface="Meiryo"/>
              </a:rPr>
              <a:t>VTT</a:t>
            </a:r>
          </a:p>
        </p:txBody>
      </p:sp>
      <p:sp>
        <p:nvSpPr>
          <p:cNvPr id="195" name="TextBox 194"/>
          <p:cNvSpPr txBox="1"/>
          <p:nvPr/>
        </p:nvSpPr>
        <p:spPr>
          <a:xfrm>
            <a:off x="801624" y="3779829"/>
            <a:ext cx="1828800" cy="512064"/>
          </a:xfrm>
          <a:prstGeom prst="rect">
            <a:avLst/>
          </a:prstGeom>
          <a:noFill/>
        </p:spPr>
        <p:txBody>
          <a:bodyPr wrap="square" lIns="0" tIns="0" rIns="0" bIns="0" anchor="t">
            <a:spAutoFit/>
          </a:bodyPr>
          <a:lstStyle/>
          <a:p>
            <a:pPr algn="ctr"/>
            <a:r>
              <a:rPr sz="2200" b="1" dirty="0" err="1">
                <a:solidFill>
                  <a:srgbClr val="C55A11"/>
                </a:solidFill>
                <a:latin typeface="Meiryo"/>
                <a:ea typeface="Meiryo"/>
                <a:cs typeface="Meiryo"/>
              </a:rPr>
              <a:t>心臓側</a:t>
            </a:r>
            <a:endParaRPr sz="2200" b="1" dirty="0">
              <a:solidFill>
                <a:srgbClr val="C55A11"/>
              </a:solidFill>
              <a:latin typeface="Meiryo"/>
              <a:ea typeface="Meiryo"/>
              <a:cs typeface="Meiryo"/>
            </a:endParaRPr>
          </a:p>
        </p:txBody>
      </p:sp>
      <p:sp>
        <p:nvSpPr>
          <p:cNvPr id="196" name="TextBox 195"/>
          <p:cNvSpPr txBox="1"/>
          <p:nvPr/>
        </p:nvSpPr>
        <p:spPr>
          <a:xfrm>
            <a:off x="2630424" y="3779829"/>
            <a:ext cx="3063240" cy="512064"/>
          </a:xfrm>
          <a:prstGeom prst="rect">
            <a:avLst/>
          </a:prstGeom>
          <a:noFill/>
        </p:spPr>
        <p:txBody>
          <a:bodyPr wrap="square" lIns="0" tIns="0" rIns="0" bIns="0" anchor="t">
            <a:spAutoFit/>
          </a:bodyPr>
          <a:lstStyle/>
          <a:p>
            <a:pPr algn="ctr"/>
            <a:r>
              <a:rPr sz="2200" b="1" dirty="0" err="1">
                <a:solidFill>
                  <a:srgbClr val="2E5395"/>
                </a:solidFill>
                <a:latin typeface="Meiryo"/>
                <a:ea typeface="Meiryo"/>
                <a:cs typeface="Meiryo"/>
              </a:rPr>
              <a:t>血管側</a:t>
            </a:r>
            <a:endParaRPr sz="2200" b="1" dirty="0">
              <a:solidFill>
                <a:srgbClr val="2E5395"/>
              </a:solidFill>
              <a:latin typeface="Meiryo"/>
              <a:ea typeface="Meiryo"/>
              <a:cs typeface="Meiryo"/>
            </a:endParaRPr>
          </a:p>
        </p:txBody>
      </p:sp>
      <p:sp>
        <p:nvSpPr>
          <p:cNvPr id="197" name="TextBox 196"/>
          <p:cNvSpPr txBox="1"/>
          <p:nvPr/>
        </p:nvSpPr>
        <p:spPr>
          <a:xfrm>
            <a:off x="801624" y="4446227"/>
            <a:ext cx="4892040" cy="338554"/>
          </a:xfrm>
          <a:prstGeom prst="rect">
            <a:avLst/>
          </a:prstGeom>
          <a:noFill/>
        </p:spPr>
        <p:txBody>
          <a:bodyPr wrap="square" lIns="0" tIns="0" rIns="0" bIns="0" anchor="b" anchorCtr="0">
            <a:spAutoFit/>
          </a:bodyPr>
          <a:lstStyle/>
          <a:p>
            <a:pPr algn="ctr"/>
            <a:r>
              <a:rPr lang="en-US" altLang="ja-JP" sz="2200" b="1" dirty="0">
                <a:solidFill>
                  <a:srgbClr val="262626"/>
                </a:solidFill>
                <a:latin typeface="Meiryo"/>
                <a:ea typeface="Meiryo"/>
                <a:cs typeface="Meiryo"/>
              </a:rPr>
              <a:t>PWTT</a:t>
            </a:r>
            <a:r>
              <a:rPr lang="ja-JP" altLang="en-US" sz="2200" b="1">
                <a:solidFill>
                  <a:srgbClr val="262626"/>
                </a:solidFill>
                <a:latin typeface="Meiryo"/>
                <a:ea typeface="Meiryo"/>
                <a:cs typeface="Meiryo"/>
              </a:rPr>
              <a:t>には心臓側の要素が含まれる。</a:t>
            </a:r>
            <a:endParaRPr sz="2200" b="1" dirty="0">
              <a:solidFill>
                <a:srgbClr val="262626"/>
              </a:solidFill>
              <a:latin typeface="Meiryo"/>
              <a:ea typeface="Meiryo"/>
              <a:cs typeface="Meiryo"/>
            </a:endParaRPr>
          </a:p>
        </p:txBody>
      </p:sp>
      <p:sp>
        <p:nvSpPr>
          <p:cNvPr id="198" name="r-bg"/>
          <p:cNvSpPr/>
          <p:nvPr/>
        </p:nvSpPr>
        <p:spPr>
          <a:xfrm>
            <a:off x="6233160" y="2005413"/>
            <a:ext cx="5431536" cy="2834640"/>
          </a:xfrm>
          <a:prstGeom prst="roundRect">
            <a:avLst>
              <a:gd name="adj" fmla="val 6000"/>
            </a:avLst>
          </a:prstGeom>
          <a:solidFill>
            <a:srgbClr val="E4F5F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TextBox 198"/>
          <p:cNvSpPr txBox="1"/>
          <p:nvPr/>
        </p:nvSpPr>
        <p:spPr>
          <a:xfrm>
            <a:off x="6434328" y="2204795"/>
            <a:ext cx="5029200" cy="369332"/>
          </a:xfrm>
          <a:prstGeom prst="rect">
            <a:avLst/>
          </a:prstGeom>
          <a:noFill/>
        </p:spPr>
        <p:txBody>
          <a:bodyPr wrap="square" lIns="0" tIns="0" rIns="0" bIns="0" anchor="ctr">
            <a:spAutoFit/>
          </a:bodyPr>
          <a:lstStyle/>
          <a:p>
            <a:pPr algn="ctr"/>
            <a:r>
              <a:rPr lang="en-US" altLang="ja-JP" sz="2400" b="1" dirty="0">
                <a:solidFill>
                  <a:srgbClr val="00A8AA"/>
                </a:solidFill>
                <a:latin typeface="Meiryo"/>
                <a:ea typeface="Meiryo"/>
                <a:cs typeface="Meiryo"/>
              </a:rPr>
              <a:t>PPG</a:t>
            </a:r>
            <a:endParaRPr sz="2400" b="1" dirty="0">
              <a:solidFill>
                <a:srgbClr val="00A8AA"/>
              </a:solidFill>
              <a:latin typeface="Meiryo"/>
              <a:ea typeface="Meiryo"/>
              <a:cs typeface="Meiryo"/>
            </a:endParaRPr>
          </a:p>
        </p:txBody>
      </p:sp>
      <p:cxnSp>
        <p:nvCxnSpPr>
          <p:cNvPr id="200" name="Connector 199"/>
          <p:cNvCxnSpPr/>
          <p:nvPr/>
        </p:nvCxnSpPr>
        <p:spPr>
          <a:xfrm>
            <a:off x="6745224" y="3761061"/>
            <a:ext cx="457200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 name="Freeform 2"/>
          <p:cNvSpPr/>
          <p:nvPr/>
        </p:nvSpPr>
        <p:spPr>
          <a:xfrm>
            <a:off x="6745224" y="2709501"/>
            <a:ext cx="4572000" cy="1051202"/>
          </a:xfrm>
          <a:custGeom>
            <a:avLst/>
            <a:gdLst/>
            <a:ahLst/>
            <a:cxnLst/>
            <a:rect l="l" t="t" r="r" b="b"/>
            <a:pathLst>
              <a:path w="4572000" h="1051202">
                <a:moveTo>
                  <a:pt x="0" y="1032241"/>
                </a:moveTo>
                <a:lnTo>
                  <a:pt x="26894" y="1028128"/>
                </a:lnTo>
                <a:lnTo>
                  <a:pt x="53788" y="1023275"/>
                </a:lnTo>
                <a:lnTo>
                  <a:pt x="80682" y="1017580"/>
                </a:lnTo>
                <a:lnTo>
                  <a:pt x="107576" y="1010933"/>
                </a:lnTo>
                <a:lnTo>
                  <a:pt x="134471" y="1003219"/>
                </a:lnTo>
                <a:lnTo>
                  <a:pt x="161365" y="994314"/>
                </a:lnTo>
                <a:lnTo>
                  <a:pt x="188259" y="984092"/>
                </a:lnTo>
                <a:lnTo>
                  <a:pt x="215153" y="972425"/>
                </a:lnTo>
                <a:lnTo>
                  <a:pt x="242047" y="959184"/>
                </a:lnTo>
                <a:lnTo>
                  <a:pt x="268941" y="944241"/>
                </a:lnTo>
                <a:lnTo>
                  <a:pt x="295835" y="927478"/>
                </a:lnTo>
                <a:lnTo>
                  <a:pt x="322729" y="908780"/>
                </a:lnTo>
                <a:lnTo>
                  <a:pt x="349624" y="888050"/>
                </a:lnTo>
                <a:lnTo>
                  <a:pt x="376518" y="865203"/>
                </a:lnTo>
                <a:lnTo>
                  <a:pt x="403412" y="840179"/>
                </a:lnTo>
                <a:lnTo>
                  <a:pt x="430306" y="812937"/>
                </a:lnTo>
                <a:lnTo>
                  <a:pt x="457200" y="783471"/>
                </a:lnTo>
                <a:lnTo>
                  <a:pt x="484094" y="751803"/>
                </a:lnTo>
                <a:lnTo>
                  <a:pt x="510988" y="717992"/>
                </a:lnTo>
                <a:lnTo>
                  <a:pt x="537882" y="682139"/>
                </a:lnTo>
                <a:lnTo>
                  <a:pt x="564776" y="644382"/>
                </a:lnTo>
                <a:lnTo>
                  <a:pt x="591671" y="604904"/>
                </a:lnTo>
                <a:lnTo>
                  <a:pt x="618565" y="563934"/>
                </a:lnTo>
                <a:lnTo>
                  <a:pt x="645459" y="521741"/>
                </a:lnTo>
                <a:lnTo>
                  <a:pt x="672353" y="478637"/>
                </a:lnTo>
                <a:lnTo>
                  <a:pt x="699247" y="434973"/>
                </a:lnTo>
                <a:lnTo>
                  <a:pt x="726141" y="391137"/>
                </a:lnTo>
                <a:lnTo>
                  <a:pt x="753035" y="347543"/>
                </a:lnTo>
                <a:lnTo>
                  <a:pt x="779929" y="304635"/>
                </a:lnTo>
                <a:lnTo>
                  <a:pt x="806824" y="262868"/>
                </a:lnTo>
                <a:lnTo>
                  <a:pt x="833718" y="222709"/>
                </a:lnTo>
                <a:lnTo>
                  <a:pt x="860612" y="184623"/>
                </a:lnTo>
                <a:lnTo>
                  <a:pt x="887506" y="149067"/>
                </a:lnTo>
                <a:lnTo>
                  <a:pt x="914400" y="116478"/>
                </a:lnTo>
                <a:lnTo>
                  <a:pt x="941294" y="87265"/>
                </a:lnTo>
                <a:lnTo>
                  <a:pt x="968188" y="61798"/>
                </a:lnTo>
                <a:lnTo>
                  <a:pt x="995082" y="40403"/>
                </a:lnTo>
                <a:lnTo>
                  <a:pt x="1021976" y="23349"/>
                </a:lnTo>
                <a:lnTo>
                  <a:pt x="1048871" y="10846"/>
                </a:lnTo>
                <a:lnTo>
                  <a:pt x="1075765" y="3039"/>
                </a:lnTo>
                <a:lnTo>
                  <a:pt x="1102659" y="0"/>
                </a:lnTo>
                <a:lnTo>
                  <a:pt x="1129553" y="1732"/>
                </a:lnTo>
                <a:lnTo>
                  <a:pt x="1156447" y="8165"/>
                </a:lnTo>
                <a:lnTo>
                  <a:pt x="1183341" y="19156"/>
                </a:lnTo>
                <a:lnTo>
                  <a:pt x="1210235" y="34495"/>
                </a:lnTo>
                <a:lnTo>
                  <a:pt x="1237129" y="53908"/>
                </a:lnTo>
                <a:lnTo>
                  <a:pt x="1264024" y="77063"/>
                </a:lnTo>
                <a:lnTo>
                  <a:pt x="1290918" y="103577"/>
                </a:lnTo>
                <a:lnTo>
                  <a:pt x="1317812" y="133025"/>
                </a:lnTo>
                <a:lnTo>
                  <a:pt x="1344706" y="164949"/>
                </a:lnTo>
                <a:lnTo>
                  <a:pt x="1371600" y="198865"/>
                </a:lnTo>
                <a:lnTo>
                  <a:pt x="1398494" y="234277"/>
                </a:lnTo>
                <a:lnTo>
                  <a:pt x="1425388" y="270684"/>
                </a:lnTo>
                <a:lnTo>
                  <a:pt x="1452282" y="307589"/>
                </a:lnTo>
                <a:lnTo>
                  <a:pt x="1479176" y="344512"/>
                </a:lnTo>
                <a:lnTo>
                  <a:pt x="1506071" y="380990"/>
                </a:lnTo>
                <a:lnTo>
                  <a:pt x="1532965" y="416594"/>
                </a:lnTo>
                <a:lnTo>
                  <a:pt x="1559859" y="450928"/>
                </a:lnTo>
                <a:lnTo>
                  <a:pt x="1586753" y="483636"/>
                </a:lnTo>
                <a:lnTo>
                  <a:pt x="1613647" y="514408"/>
                </a:lnTo>
                <a:lnTo>
                  <a:pt x="1640541" y="542980"/>
                </a:lnTo>
                <a:lnTo>
                  <a:pt x="1667435" y="569135"/>
                </a:lnTo>
                <a:lnTo>
                  <a:pt x="1694329" y="592707"/>
                </a:lnTo>
                <a:lnTo>
                  <a:pt x="1721224" y="613577"/>
                </a:lnTo>
                <a:lnTo>
                  <a:pt x="1748118" y="631672"/>
                </a:lnTo>
                <a:lnTo>
                  <a:pt x="1775012" y="646965"/>
                </a:lnTo>
                <a:lnTo>
                  <a:pt x="1801906" y="659467"/>
                </a:lnTo>
                <a:lnTo>
                  <a:pt x="1828800" y="669229"/>
                </a:lnTo>
                <a:lnTo>
                  <a:pt x="1855694" y="676337"/>
                </a:lnTo>
                <a:lnTo>
                  <a:pt x="1882588" y="680904"/>
                </a:lnTo>
                <a:lnTo>
                  <a:pt x="1909482" y="683072"/>
                </a:lnTo>
                <a:lnTo>
                  <a:pt x="1936376" y="683003"/>
                </a:lnTo>
                <a:lnTo>
                  <a:pt x="1963271" y="680875"/>
                </a:lnTo>
                <a:lnTo>
                  <a:pt x="1990165" y="676885"/>
                </a:lnTo>
                <a:lnTo>
                  <a:pt x="2017059" y="671234"/>
                </a:lnTo>
                <a:lnTo>
                  <a:pt x="2043953" y="664135"/>
                </a:lnTo>
                <a:lnTo>
                  <a:pt x="2070847" y="655803"/>
                </a:lnTo>
                <a:lnTo>
                  <a:pt x="2097741" y="646453"/>
                </a:lnTo>
                <a:lnTo>
                  <a:pt x="2124635" y="636300"/>
                </a:lnTo>
                <a:lnTo>
                  <a:pt x="2151529" y="625555"/>
                </a:lnTo>
                <a:lnTo>
                  <a:pt x="2178424" y="614424"/>
                </a:lnTo>
                <a:lnTo>
                  <a:pt x="2205318" y="603106"/>
                </a:lnTo>
                <a:lnTo>
                  <a:pt x="2232212" y="591790"/>
                </a:lnTo>
                <a:lnTo>
                  <a:pt x="2259106" y="580657"/>
                </a:lnTo>
                <a:lnTo>
                  <a:pt x="2286000" y="569877"/>
                </a:lnTo>
                <a:lnTo>
                  <a:pt x="2312894" y="559607"/>
                </a:lnTo>
                <a:lnTo>
                  <a:pt x="2339788" y="549994"/>
                </a:lnTo>
                <a:lnTo>
                  <a:pt x="2366682" y="541171"/>
                </a:lnTo>
                <a:lnTo>
                  <a:pt x="2393576" y="533258"/>
                </a:lnTo>
                <a:lnTo>
                  <a:pt x="2420471" y="526361"/>
                </a:lnTo>
                <a:lnTo>
                  <a:pt x="2447365" y="520571"/>
                </a:lnTo>
                <a:lnTo>
                  <a:pt x="2474259" y="515966"/>
                </a:lnTo>
                <a:lnTo>
                  <a:pt x="2501153" y="512612"/>
                </a:lnTo>
                <a:lnTo>
                  <a:pt x="2528047" y="510556"/>
                </a:lnTo>
                <a:lnTo>
                  <a:pt x="2554941" y="509835"/>
                </a:lnTo>
                <a:lnTo>
                  <a:pt x="2581835" y="510471"/>
                </a:lnTo>
                <a:lnTo>
                  <a:pt x="2608729" y="512471"/>
                </a:lnTo>
                <a:lnTo>
                  <a:pt x="2635624" y="515830"/>
                </a:lnTo>
                <a:lnTo>
                  <a:pt x="2662518" y="520532"/>
                </a:lnTo>
                <a:lnTo>
                  <a:pt x="2689412" y="526546"/>
                </a:lnTo>
                <a:lnTo>
                  <a:pt x="2716306" y="533831"/>
                </a:lnTo>
                <a:lnTo>
                  <a:pt x="2743200" y="542337"/>
                </a:lnTo>
                <a:lnTo>
                  <a:pt x="2770094" y="552002"/>
                </a:lnTo>
                <a:lnTo>
                  <a:pt x="2796988" y="562757"/>
                </a:lnTo>
                <a:lnTo>
                  <a:pt x="2823882" y="574525"/>
                </a:lnTo>
                <a:lnTo>
                  <a:pt x="2850776" y="587222"/>
                </a:lnTo>
                <a:lnTo>
                  <a:pt x="2877671" y="600759"/>
                </a:lnTo>
                <a:lnTo>
                  <a:pt x="2904565" y="615042"/>
                </a:lnTo>
                <a:lnTo>
                  <a:pt x="2931459" y="629976"/>
                </a:lnTo>
                <a:lnTo>
                  <a:pt x="2958353" y="645462"/>
                </a:lnTo>
                <a:lnTo>
                  <a:pt x="2985247" y="661400"/>
                </a:lnTo>
                <a:lnTo>
                  <a:pt x="3012141" y="677692"/>
                </a:lnTo>
                <a:lnTo>
                  <a:pt x="3039035" y="694239"/>
                </a:lnTo>
                <a:lnTo>
                  <a:pt x="3065929" y="710945"/>
                </a:lnTo>
                <a:lnTo>
                  <a:pt x="3092824" y="727719"/>
                </a:lnTo>
                <a:lnTo>
                  <a:pt x="3119718" y="744471"/>
                </a:lnTo>
                <a:lnTo>
                  <a:pt x="3146612" y="761117"/>
                </a:lnTo>
                <a:lnTo>
                  <a:pt x="3173506" y="777578"/>
                </a:lnTo>
                <a:lnTo>
                  <a:pt x="3200400" y="793782"/>
                </a:lnTo>
                <a:lnTo>
                  <a:pt x="3227294" y="809661"/>
                </a:lnTo>
                <a:lnTo>
                  <a:pt x="3254188" y="825156"/>
                </a:lnTo>
                <a:lnTo>
                  <a:pt x="3281082" y="840211"/>
                </a:lnTo>
                <a:lnTo>
                  <a:pt x="3307976" y="854781"/>
                </a:lnTo>
                <a:lnTo>
                  <a:pt x="3334871" y="868825"/>
                </a:lnTo>
                <a:lnTo>
                  <a:pt x="3361765" y="882310"/>
                </a:lnTo>
                <a:lnTo>
                  <a:pt x="3388659" y="895210"/>
                </a:lnTo>
                <a:lnTo>
                  <a:pt x="3415553" y="907503"/>
                </a:lnTo>
                <a:lnTo>
                  <a:pt x="3442447" y="919177"/>
                </a:lnTo>
                <a:lnTo>
                  <a:pt x="3469341" y="930223"/>
                </a:lnTo>
                <a:lnTo>
                  <a:pt x="3496235" y="940638"/>
                </a:lnTo>
                <a:lnTo>
                  <a:pt x="3523129" y="950424"/>
                </a:lnTo>
                <a:lnTo>
                  <a:pt x="3550024" y="959587"/>
                </a:lnTo>
                <a:lnTo>
                  <a:pt x="3576918" y="968139"/>
                </a:lnTo>
                <a:lnTo>
                  <a:pt x="3603812" y="976093"/>
                </a:lnTo>
                <a:lnTo>
                  <a:pt x="3630706" y="983468"/>
                </a:lnTo>
                <a:lnTo>
                  <a:pt x="3657600" y="990282"/>
                </a:lnTo>
                <a:lnTo>
                  <a:pt x="3684494" y="996558"/>
                </a:lnTo>
                <a:lnTo>
                  <a:pt x="3711388" y="1002321"/>
                </a:lnTo>
                <a:lnTo>
                  <a:pt x="3738282" y="1007595"/>
                </a:lnTo>
                <a:lnTo>
                  <a:pt x="3765176" y="1012406"/>
                </a:lnTo>
                <a:lnTo>
                  <a:pt x="3792071" y="1016783"/>
                </a:lnTo>
                <a:lnTo>
                  <a:pt x="3818965" y="1020750"/>
                </a:lnTo>
                <a:lnTo>
                  <a:pt x="3845859" y="1024337"/>
                </a:lnTo>
                <a:lnTo>
                  <a:pt x="3872753" y="1027568"/>
                </a:lnTo>
                <a:lnTo>
                  <a:pt x="3899647" y="1030472"/>
                </a:lnTo>
                <a:lnTo>
                  <a:pt x="3926541" y="1033072"/>
                </a:lnTo>
                <a:lnTo>
                  <a:pt x="3953435" y="1035394"/>
                </a:lnTo>
                <a:lnTo>
                  <a:pt x="3980329" y="1037462"/>
                </a:lnTo>
                <a:lnTo>
                  <a:pt x="4007224" y="1039297"/>
                </a:lnTo>
                <a:lnTo>
                  <a:pt x="4034118" y="1040921"/>
                </a:lnTo>
                <a:lnTo>
                  <a:pt x="4061012" y="1042354"/>
                </a:lnTo>
                <a:lnTo>
                  <a:pt x="4087906" y="1043615"/>
                </a:lnTo>
                <a:lnTo>
                  <a:pt x="4114800" y="1044721"/>
                </a:lnTo>
                <a:lnTo>
                  <a:pt x="4141694" y="1045689"/>
                </a:lnTo>
                <a:lnTo>
                  <a:pt x="4168588" y="1046533"/>
                </a:lnTo>
                <a:lnTo>
                  <a:pt x="4195482" y="1047266"/>
                </a:lnTo>
                <a:lnTo>
                  <a:pt x="4222376" y="1047903"/>
                </a:lnTo>
                <a:lnTo>
                  <a:pt x="4249271" y="1048453"/>
                </a:lnTo>
                <a:lnTo>
                  <a:pt x="4276165" y="1048927"/>
                </a:lnTo>
                <a:lnTo>
                  <a:pt x="4303059" y="1049335"/>
                </a:lnTo>
                <a:lnTo>
                  <a:pt x="4329953" y="1049684"/>
                </a:lnTo>
                <a:lnTo>
                  <a:pt x="4356847" y="1049983"/>
                </a:lnTo>
                <a:lnTo>
                  <a:pt x="4383741" y="1050238"/>
                </a:lnTo>
                <a:lnTo>
                  <a:pt x="4410635" y="1050454"/>
                </a:lnTo>
                <a:lnTo>
                  <a:pt x="4437529" y="1050637"/>
                </a:lnTo>
                <a:lnTo>
                  <a:pt x="4464424" y="1050792"/>
                </a:lnTo>
                <a:lnTo>
                  <a:pt x="4491318" y="1050923"/>
                </a:lnTo>
                <a:lnTo>
                  <a:pt x="4518212" y="1051033"/>
                </a:lnTo>
                <a:lnTo>
                  <a:pt x="4545106" y="1051125"/>
                </a:lnTo>
                <a:lnTo>
                  <a:pt x="4572000" y="1051202"/>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1" name="Connector 200"/>
          <p:cNvCxnSpPr/>
          <p:nvPr/>
        </p:nvCxnSpPr>
        <p:spPr>
          <a:xfrm>
            <a:off x="7847883" y="2709501"/>
            <a:ext cx="0" cy="1225296"/>
          </a:xfrm>
          <a:prstGeom prst="line">
            <a:avLst/>
          </a:prstGeom>
          <a:ln w="15875">
            <a:solidFill>
              <a:srgbClr val="00A8AA"/>
            </a:solidFill>
            <a:prstDash val="dash"/>
          </a:ln>
        </p:spPr>
        <p:style>
          <a:lnRef idx="2">
            <a:schemeClr val="accent1"/>
          </a:lnRef>
          <a:fillRef idx="0">
            <a:schemeClr val="accent1"/>
          </a:fillRef>
          <a:effectRef idx="1">
            <a:schemeClr val="accent1"/>
          </a:effectRef>
          <a:fontRef idx="minor">
            <a:schemeClr val="tx1"/>
          </a:fontRef>
        </p:style>
      </p:cxnSp>
      <p:sp>
        <p:nvSpPr>
          <p:cNvPr id="202" name="TextBox 201"/>
          <p:cNvSpPr txBox="1"/>
          <p:nvPr/>
        </p:nvSpPr>
        <p:spPr>
          <a:xfrm>
            <a:off x="6915035" y="2581485"/>
            <a:ext cx="777240" cy="384048"/>
          </a:xfrm>
          <a:prstGeom prst="rect">
            <a:avLst/>
          </a:prstGeom>
          <a:noFill/>
        </p:spPr>
        <p:txBody>
          <a:bodyPr wrap="square" lIns="0" tIns="0" rIns="0" bIns="0" anchor="t">
            <a:spAutoFit/>
          </a:bodyPr>
          <a:lstStyle/>
          <a:p>
            <a:pPr algn="r"/>
            <a:r>
              <a:rPr sz="1600" b="1" dirty="0">
                <a:solidFill>
                  <a:srgbClr val="808080"/>
                </a:solidFill>
                <a:latin typeface="Meiryo"/>
                <a:ea typeface="Meiryo"/>
                <a:cs typeface="Meiryo"/>
              </a:rPr>
              <a:t>P1</a:t>
            </a:r>
          </a:p>
        </p:txBody>
      </p:sp>
      <p:cxnSp>
        <p:nvCxnSpPr>
          <p:cNvPr id="203" name="Connector 202"/>
          <p:cNvCxnSpPr/>
          <p:nvPr/>
        </p:nvCxnSpPr>
        <p:spPr>
          <a:xfrm>
            <a:off x="9300165" y="3219336"/>
            <a:ext cx="0" cy="715461"/>
          </a:xfrm>
          <a:prstGeom prst="line">
            <a:avLst/>
          </a:prstGeom>
          <a:ln w="15875">
            <a:solidFill>
              <a:srgbClr val="00A8AA"/>
            </a:solidFill>
            <a:prstDash val="dash"/>
          </a:ln>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9471815" y="3011110"/>
            <a:ext cx="777240" cy="384048"/>
          </a:xfrm>
          <a:prstGeom prst="rect">
            <a:avLst/>
          </a:prstGeom>
          <a:noFill/>
        </p:spPr>
        <p:txBody>
          <a:bodyPr wrap="square" lIns="0" tIns="0" rIns="0" bIns="0" anchor="t">
            <a:spAutoFit/>
          </a:bodyPr>
          <a:lstStyle/>
          <a:p>
            <a:pPr algn="l"/>
            <a:r>
              <a:rPr sz="1600" b="1" dirty="0">
                <a:solidFill>
                  <a:srgbClr val="808080"/>
                </a:solidFill>
                <a:latin typeface="Meiryo"/>
                <a:ea typeface="Meiryo"/>
                <a:cs typeface="Meiryo"/>
              </a:rPr>
              <a:t>P2</a:t>
            </a:r>
          </a:p>
        </p:txBody>
      </p:sp>
      <p:sp>
        <p:nvSpPr>
          <p:cNvPr id="205" name="Left-Right Arrow 204"/>
          <p:cNvSpPr/>
          <p:nvPr/>
        </p:nvSpPr>
        <p:spPr>
          <a:xfrm>
            <a:off x="7847883" y="3898221"/>
            <a:ext cx="1452282" cy="164592"/>
          </a:xfrm>
          <a:prstGeom prst="leftRightArrow">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TextBox 205"/>
          <p:cNvSpPr txBox="1"/>
          <p:nvPr/>
        </p:nvSpPr>
        <p:spPr>
          <a:xfrm>
            <a:off x="7933944" y="4081101"/>
            <a:ext cx="1280160" cy="54864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ΔT</a:t>
            </a:r>
          </a:p>
        </p:txBody>
      </p:sp>
      <p:sp>
        <p:nvSpPr>
          <p:cNvPr id="207" name="TextBox 206"/>
          <p:cNvSpPr txBox="1"/>
          <p:nvPr/>
        </p:nvSpPr>
        <p:spPr>
          <a:xfrm>
            <a:off x="6434328" y="4446227"/>
            <a:ext cx="5029200" cy="338554"/>
          </a:xfrm>
          <a:prstGeom prst="rect">
            <a:avLst/>
          </a:prstGeom>
          <a:noFill/>
        </p:spPr>
        <p:txBody>
          <a:bodyPr wrap="square" lIns="0" tIns="0" rIns="0" bIns="0" anchor="b">
            <a:spAutoFit/>
          </a:bodyPr>
          <a:lstStyle/>
          <a:p>
            <a:pPr algn="ctr"/>
            <a:r>
              <a:rPr lang="en-US" altLang="ja-JP" sz="2200" b="1" dirty="0">
                <a:solidFill>
                  <a:srgbClr val="262626"/>
                </a:solidFill>
                <a:latin typeface="Meiryo"/>
                <a:ea typeface="Meiryo"/>
                <a:cs typeface="Meiryo"/>
              </a:rPr>
              <a:t>PPG</a:t>
            </a:r>
            <a:r>
              <a:rPr lang="ja-JP" altLang="en-US" sz="2200" b="1">
                <a:solidFill>
                  <a:srgbClr val="262626"/>
                </a:solidFill>
                <a:latin typeface="Meiryo"/>
                <a:ea typeface="Meiryo"/>
                <a:cs typeface="Meiryo"/>
              </a:rPr>
              <a:t>の</a:t>
            </a:r>
            <a:r>
              <a:rPr lang="en-US" altLang="ja-JP" sz="2200" b="1" dirty="0">
                <a:solidFill>
                  <a:srgbClr val="262626"/>
                </a:solidFill>
                <a:latin typeface="Meiryo"/>
                <a:ea typeface="Meiryo"/>
                <a:cs typeface="Meiryo"/>
              </a:rPr>
              <a:t>ΔT</a:t>
            </a:r>
            <a:r>
              <a:rPr lang="ja-JP" altLang="en-US" sz="2200" b="1">
                <a:solidFill>
                  <a:srgbClr val="262626"/>
                </a:solidFill>
                <a:latin typeface="Meiryo"/>
                <a:ea typeface="Meiryo"/>
                <a:cs typeface="Meiryo"/>
              </a:rPr>
              <a:t>は心臓側の</a:t>
            </a:r>
            <a:r>
              <a:rPr sz="2200" b="1" dirty="0" err="1">
                <a:solidFill>
                  <a:srgbClr val="262626"/>
                </a:solidFill>
                <a:latin typeface="Meiryo"/>
                <a:ea typeface="Meiryo"/>
                <a:cs typeface="Meiryo"/>
              </a:rPr>
              <a:t>基準点を使わない。</a:t>
            </a:r>
            <a:endParaRPr sz="2200" b="1" dirty="0">
              <a:solidFill>
                <a:srgbClr val="262626"/>
              </a:solidFill>
              <a:latin typeface="Meiryo"/>
              <a:ea typeface="Meiryo"/>
              <a:cs typeface="Meiryo"/>
            </a:endParaRPr>
          </a:p>
        </p:txBody>
      </p:sp>
      <p:sp>
        <p:nvSpPr>
          <p:cNvPr id="208" name="Rounded Rectangle 207"/>
          <p:cNvSpPr/>
          <p:nvPr/>
        </p:nvSpPr>
        <p:spPr>
          <a:xfrm>
            <a:off x="527304" y="5111952"/>
            <a:ext cx="11137392" cy="1308523"/>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TextBox 208"/>
          <p:cNvSpPr txBox="1"/>
          <p:nvPr/>
        </p:nvSpPr>
        <p:spPr>
          <a:xfrm>
            <a:off x="573024" y="5191055"/>
            <a:ext cx="10771632" cy="1150315"/>
          </a:xfrm>
          <a:prstGeom prst="rect">
            <a:avLst/>
          </a:prstGeom>
          <a:noFill/>
        </p:spPr>
        <p:txBody>
          <a:bodyPr wrap="square" lIns="0" tIns="0" rIns="0" bIns="0" anchor="ctr">
            <a:spAutoFit/>
          </a:bodyPr>
          <a:lstStyle/>
          <a:p>
            <a:pPr algn="ctr">
              <a:lnSpc>
                <a:spcPct val="150000"/>
              </a:lnSpc>
            </a:pPr>
            <a:r>
              <a:rPr sz="2600" b="1" dirty="0">
                <a:solidFill>
                  <a:srgbClr val="262626"/>
                </a:solidFill>
                <a:latin typeface="Meiryo"/>
                <a:ea typeface="Meiryo"/>
                <a:cs typeface="Meiryo"/>
              </a:rPr>
              <a:t>ΔT </a:t>
            </a:r>
            <a:r>
              <a:rPr lang="ja-JP" altLang="en-US" sz="2600" b="1">
                <a:solidFill>
                  <a:srgbClr val="262626"/>
                </a:solidFill>
                <a:latin typeface="Meiryo"/>
                <a:ea typeface="Meiryo"/>
                <a:cs typeface="Meiryo"/>
              </a:rPr>
              <a:t>には心臓側の要素が含まれず、血管側によって変化する。</a:t>
            </a:r>
            <a:endParaRPr lang="en-US" altLang="ja-JP" sz="2600" b="1" dirty="0">
              <a:solidFill>
                <a:srgbClr val="262626"/>
              </a:solidFill>
              <a:latin typeface="Meiryo"/>
              <a:ea typeface="Meiryo"/>
              <a:cs typeface="Meiryo"/>
            </a:endParaRPr>
          </a:p>
          <a:p>
            <a:pPr algn="ctr">
              <a:lnSpc>
                <a:spcPct val="150000"/>
              </a:lnSpc>
            </a:pPr>
            <a:r>
              <a:rPr lang="en-US" altLang="ja-JP" sz="2600" b="1" dirty="0">
                <a:solidFill>
                  <a:srgbClr val="262626"/>
                </a:solidFill>
                <a:latin typeface="Meiryo"/>
                <a:ea typeface="Meiryo"/>
                <a:cs typeface="Meiryo"/>
              </a:rPr>
              <a:t>VTT</a:t>
            </a:r>
            <a:r>
              <a:rPr lang="ja-JP" altLang="en-US" sz="2600" b="1">
                <a:solidFill>
                  <a:srgbClr val="262626"/>
                </a:solidFill>
                <a:latin typeface="Meiryo"/>
                <a:ea typeface="Meiryo"/>
                <a:cs typeface="Meiryo"/>
              </a:rPr>
              <a:t>の変化は</a:t>
            </a:r>
            <a:r>
              <a:rPr lang="en-US" altLang="ja-JP" sz="2600" b="1" dirty="0">
                <a:solidFill>
                  <a:srgbClr val="262626"/>
                </a:solidFill>
                <a:latin typeface="Meiryo"/>
                <a:ea typeface="Meiryo"/>
                <a:cs typeface="Meiryo"/>
              </a:rPr>
              <a:t>ΔT</a:t>
            </a:r>
            <a:r>
              <a:rPr lang="ja-JP" altLang="en-US" sz="2600" b="1">
                <a:solidFill>
                  <a:srgbClr val="262626"/>
                </a:solidFill>
                <a:latin typeface="Meiryo"/>
                <a:ea typeface="Meiryo"/>
                <a:cs typeface="Meiryo"/>
              </a:rPr>
              <a:t>と関連があるはず。</a:t>
            </a:r>
            <a:endParaRPr sz="2600" b="1" dirty="0">
              <a:solidFill>
                <a:srgbClr val="262626"/>
              </a:solidFill>
              <a:latin typeface="Meiryo"/>
              <a:ea typeface="Meiryo"/>
              <a:cs typeface="Meiryo"/>
            </a:endParaRPr>
          </a:p>
        </p:txBody>
      </p:sp>
      <p:sp>
        <p:nvSpPr>
          <p:cNvPr id="21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103/119</a:t>
            </a:r>
          </a:p>
        </p:txBody>
      </p:sp>
      <p:sp>
        <p:nvSpPr>
          <p:cNvPr id="21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1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1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1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1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6.4  期待される利点</a:t>
            </a:r>
          </a:p>
        </p:txBody>
      </p:sp>
      <p:sp>
        <p:nvSpPr>
          <p:cNvPr id="211"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48. Sugo 2010</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追加センサ 不要</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と同じ SpO₂ 信号</a:t>
            </a:r>
          </a:p>
          <a:p>
            <a:pPr algn="l">
              <a:lnSpc>
                <a:spcPct val="120000"/>
              </a:lnSpc>
            </a:pPr>
            <a:r>
              <a:rPr lang="ja-JP" altLang="en-US" sz="2200" b="1" dirty="0">
                <a:solidFill>
                  <a:srgbClr val="262626"/>
                </a:solidFill>
                <a:latin typeface="Meiryo"/>
                <a:ea typeface="Meiryo"/>
                <a:cs typeface="Meiryo"/>
              </a:rPr>
              <a:t>追加コスト ゼロ</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AGC に強い</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同一拍内の振幅比</a:t>
            </a:r>
          </a:p>
          <a:p>
            <a:pPr algn="l">
              <a:lnSpc>
                <a:spcPct val="120000"/>
              </a:lnSpc>
            </a:pPr>
            <a:r>
              <a:rPr lang="ja-JP" altLang="en-US" sz="2200" b="1" dirty="0">
                <a:solidFill>
                  <a:srgbClr val="262626"/>
                </a:solidFill>
                <a:latin typeface="Meiryo"/>
                <a:ea typeface="Meiryo"/>
                <a:cs typeface="Meiryo"/>
              </a:rPr>
              <a:t>絶対振幅に依存しない</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後負荷を直接測る</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交絡変数そのもの</a:t>
            </a:r>
          </a:p>
          <a:p>
            <a:pPr algn="l">
              <a:lnSpc>
                <a:spcPct val="120000"/>
              </a:lnSpc>
            </a:pPr>
            <a:r>
              <a:rPr lang="ja-JP" altLang="en-US" sz="2200" b="1" dirty="0">
                <a:solidFill>
                  <a:srgbClr val="262626"/>
                </a:solidFill>
                <a:latin typeface="Meiryo"/>
                <a:ea typeface="Meiryo"/>
                <a:cs typeface="Meiryo"/>
              </a:rPr>
              <a:t>2 軸で分離できる</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個人内 Δ で追う</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絶対較正が不要</a:t>
            </a:r>
          </a:p>
          <a:p>
            <a:pPr algn="l">
              <a:lnSpc>
                <a:spcPct val="120000"/>
              </a:lnSpc>
            </a:pPr>
            <a:r>
              <a:rPr lang="ja-JP" altLang="en-US" sz="2200" b="1" dirty="0">
                <a:solidFill>
                  <a:srgbClr val="262626"/>
                </a:solidFill>
                <a:latin typeface="Meiryo"/>
                <a:ea typeface="Meiryo"/>
                <a:cs typeface="Meiryo"/>
              </a:rPr>
              <a:t>加齢交絡に強い</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既存モニタに後付けできる（信号は同一）</a:t>
            </a:r>
          </a:p>
        </p:txBody>
      </p:sp>
      <p:sp>
        <p:nvSpPr>
          <p:cNvPr id="2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104/119</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2"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6.5  限界 ― 指標の側</a:t>
            </a:r>
          </a:p>
        </p:txBody>
      </p:sp>
      <p:sp>
        <p:nvSpPr>
          <p:cNvPr id="23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18. Md Lazim 2020　／　22. Lee 2011　／　58. Middleton 2011　／　59. Charlton 2022</a:t>
            </a:r>
          </a:p>
        </p:txBody>
      </p:sp>
      <p:sp>
        <p:nvSpPr>
          <p:cNvPr id="232" name="c0-bg"/>
          <p:cNvSpPr/>
          <p:nvPr/>
        </p:nvSpPr>
        <p:spPr>
          <a:xfrm>
            <a:off x="502920" y="1780000"/>
            <a:ext cx="5432840" cy="175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33"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時間スケール</a:t>
            </a:r>
          </a:p>
        </p:txBody>
      </p:sp>
      <p:sp>
        <p:nvSpPr>
          <p:cNvPr id="234"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安静時・半慢性で検証</a:t>
            </a:r>
          </a:p>
          <a:p>
            <a:pPr algn="l">
              <a:lnSpc>
                <a:spcPct val="120000"/>
              </a:lnSpc>
            </a:pPr>
            <a:r>
              <a:rPr lang="ja-JP" altLang="en-US" sz="2200" b="1" dirty="0">
                <a:solidFill>
                  <a:srgbClr val="262626"/>
                </a:solidFill>
                <a:latin typeface="Meiryo"/>
                <a:ea typeface="Meiryo"/>
                <a:cs typeface="Meiryo"/>
              </a:rPr>
              <a:t>術中の急性変化は未検証</a:t>
            </a:r>
          </a:p>
        </p:txBody>
      </p:sp>
      <p:sp>
        <p:nvSpPr>
          <p:cNvPr id="235"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36"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HR 交絡</a:t>
            </a:r>
          </a:p>
        </p:txBody>
      </p:sp>
      <p:sp>
        <p:nvSpPr>
          <p:cNvPr id="237"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RI は振幅比 → HR 依存</a:t>
            </a:r>
          </a:p>
          <a:p>
            <a:pPr algn="l">
              <a:lnSpc>
                <a:spcPct val="120000"/>
              </a:lnSpc>
            </a:pPr>
            <a:r>
              <a:rPr lang="ja-JP" altLang="en-US" sz="2200" b="1" dirty="0">
                <a:solidFill>
                  <a:srgbClr val="262626"/>
                </a:solidFill>
                <a:latin typeface="Meiryo"/>
                <a:ea typeface="Meiryo"/>
                <a:cs typeface="Meiryo"/>
              </a:rPr>
              <a:t>確立した補正式なし</a:t>
            </a:r>
          </a:p>
        </p:txBody>
      </p:sp>
      <p:sp>
        <p:nvSpPr>
          <p:cNvPr id="238" name="c2-bg"/>
          <p:cNvSpPr/>
          <p:nvPr/>
        </p:nvSpPr>
        <p:spPr>
          <a:xfrm>
            <a:off x="50292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39"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SI の血圧依存</a:t>
            </a:r>
          </a:p>
        </p:txBody>
      </p:sp>
      <p:sp>
        <p:nvSpPr>
          <p:cNvPr id="240"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PWV 自体が伸展圧依存</a:t>
            </a:r>
          </a:p>
          <a:p>
            <a:pPr algn="l">
              <a:lnSpc>
                <a:spcPct val="120000"/>
              </a:lnSpc>
            </a:pPr>
            <a:r>
              <a:rPr lang="ja-JP" altLang="en-US" sz="2200" b="1" dirty="0">
                <a:solidFill>
                  <a:srgbClr val="262626"/>
                </a:solidFill>
                <a:latin typeface="Meiryo"/>
                <a:ea typeface="Meiryo"/>
                <a:cs typeface="Meiryo"/>
              </a:rPr>
              <a:t>硬さと血圧が不可分</a:t>
            </a:r>
          </a:p>
        </p:txBody>
      </p:sp>
      <p:sp>
        <p:nvSpPr>
          <p:cNvPr id="241" name="c3-bg"/>
          <p:cNvSpPr/>
          <p:nvPr/>
        </p:nvSpPr>
        <p:spPr>
          <a:xfrm>
            <a:off x="621008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42"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④ 局所か全身か</a:t>
            </a:r>
          </a:p>
        </p:txBody>
      </p:sp>
      <p:sp>
        <p:nvSpPr>
          <p:cNvPr id="243"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指尖 PPG と SVR</a:t>
            </a:r>
          </a:p>
          <a:p>
            <a:pPr algn="l">
              <a:lnSpc>
                <a:spcPct val="120000"/>
              </a:lnSpc>
            </a:pPr>
            <a:r>
              <a:rPr lang="ja-JP" altLang="en-US" sz="2200" b="1" dirty="0">
                <a:solidFill>
                  <a:srgbClr val="262626"/>
                </a:solidFill>
                <a:latin typeface="Meiryo"/>
                <a:ea typeface="Meiryo"/>
                <a:cs typeface="Meiryo"/>
              </a:rPr>
              <a:t>r ＝ 0.54 ／ κ ＝ 0.33</a:t>
            </a:r>
          </a:p>
        </p:txBody>
      </p:sp>
      <p:sp>
        <p:nvSpPr>
          <p:cNvPr id="24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105/119</a:t>
            </a:r>
          </a:p>
        </p:txBody>
      </p:sp>
      <p:sp>
        <p:nvSpPr>
          <p:cNvPr id="24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4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4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4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6.5  限界 ― 信号と検証の側</a:t>
            </a:r>
          </a:p>
        </p:txBody>
      </p:sp>
      <p:sp>
        <p:nvSpPr>
          <p:cNvPr id="24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23. Elgendi 2012　／　24. Takazawa 1998　／　57. Beutel 2021</a:t>
            </a:r>
          </a:p>
        </p:txBody>
      </p:sp>
      <p:sp>
        <p:nvSpPr>
          <p:cNvPr id="251" name="c0-bg"/>
          <p:cNvSpPr/>
          <p:nvPr/>
        </p:nvSpPr>
        <p:spPr>
          <a:xfrm>
            <a:off x="502920" y="2264026"/>
            <a:ext cx="3560933" cy="20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52" name="c0-t"/>
          <p:cNvSpPr txBox="1"/>
          <p:nvPr/>
        </p:nvSpPr>
        <p:spPr>
          <a:xfrm>
            <a:off x="702920" y="241402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波形が取れない</a:t>
            </a:r>
          </a:p>
        </p:txBody>
      </p:sp>
      <p:sp>
        <p:nvSpPr>
          <p:cNvPr id="253" name="c0-b"/>
          <p:cNvSpPr txBox="1"/>
          <p:nvPr/>
        </p:nvSpPr>
        <p:spPr>
          <a:xfrm>
            <a:off x="702920" y="2964026"/>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一峰性化・低灌流</a:t>
            </a:r>
          </a:p>
          <a:p>
            <a:pPr algn="l">
              <a:lnSpc>
                <a:spcPct val="120000"/>
              </a:lnSpc>
            </a:pPr>
            <a:r>
              <a:rPr lang="ja-JP" altLang="en-US" sz="2200" b="1" dirty="0">
                <a:solidFill>
                  <a:srgbClr val="262626"/>
                </a:solidFill>
                <a:latin typeface="Meiryo"/>
                <a:ea typeface="Meiryo"/>
                <a:cs typeface="Meiryo"/>
              </a:rPr>
              <a:t>P1・P2 が同定不能</a:t>
            </a:r>
          </a:p>
        </p:txBody>
      </p:sp>
      <p:sp>
        <p:nvSpPr>
          <p:cNvPr id="254" name="c1-bg"/>
          <p:cNvSpPr/>
          <p:nvPr/>
        </p:nvSpPr>
        <p:spPr>
          <a:xfrm>
            <a:off x="4292453" y="2264026"/>
            <a:ext cx="3560933" cy="20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55" name="c1-t"/>
          <p:cNvSpPr txBox="1"/>
          <p:nvPr/>
        </p:nvSpPr>
        <p:spPr>
          <a:xfrm>
            <a:off x="4492453" y="241402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帯域制限</a:t>
            </a:r>
          </a:p>
        </p:txBody>
      </p:sp>
      <p:sp>
        <p:nvSpPr>
          <p:cNvPr id="256" name="c1-b"/>
          <p:cNvSpPr txBox="1"/>
          <p:nvPr/>
        </p:nvSpPr>
        <p:spPr>
          <a:xfrm>
            <a:off x="4492453" y="2964026"/>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モニタ側の前処理</a:t>
            </a:r>
          </a:p>
          <a:p>
            <a:pPr algn="l">
              <a:lnSpc>
                <a:spcPct val="120000"/>
              </a:lnSpc>
            </a:pPr>
            <a:r>
              <a:rPr lang="ja-JP" altLang="en-US" sz="2200" b="1" dirty="0">
                <a:solidFill>
                  <a:srgbClr val="262626"/>
                </a:solidFill>
                <a:latin typeface="Meiryo"/>
                <a:ea typeface="Meiryo"/>
                <a:cs typeface="Meiryo"/>
              </a:rPr>
              <a:t>P2 が消えれば不成立</a:t>
            </a:r>
          </a:p>
        </p:txBody>
      </p:sp>
      <p:sp>
        <p:nvSpPr>
          <p:cNvPr id="257" name="c2-bg"/>
          <p:cNvSpPr/>
          <p:nvPr/>
        </p:nvSpPr>
        <p:spPr>
          <a:xfrm>
            <a:off x="8081986" y="2264026"/>
            <a:ext cx="3560933" cy="20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58" name="c2-t"/>
          <p:cNvSpPr txBox="1"/>
          <p:nvPr/>
        </p:nvSpPr>
        <p:spPr>
          <a:xfrm>
            <a:off x="8281986" y="241402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過学習</a:t>
            </a:r>
          </a:p>
        </p:txBody>
      </p:sp>
      <p:sp>
        <p:nvSpPr>
          <p:cNvPr id="259" name="c2-b"/>
          <p:cNvSpPr txBox="1"/>
          <p:nvPr/>
        </p:nvSpPr>
        <p:spPr>
          <a:xfrm>
            <a:off x="8281986" y="2964026"/>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項を足せば当たる</a:t>
            </a:r>
          </a:p>
          <a:p>
            <a:pPr algn="l">
              <a:lnSpc>
                <a:spcPct val="120000"/>
              </a:lnSpc>
            </a:pPr>
            <a:r>
              <a:rPr lang="ja-JP" altLang="en-US" sz="2200" b="1" dirty="0">
                <a:solidFill>
                  <a:srgbClr val="262626"/>
                </a:solidFill>
                <a:latin typeface="Meiryo"/>
                <a:ea typeface="Meiryo"/>
                <a:cs typeface="Meiryo"/>
              </a:rPr>
              <a:t>交差検証が必須</a:t>
            </a:r>
          </a:p>
        </p:txBody>
      </p:sp>
      <p:sp>
        <p:nvSpPr>
          <p:cNvPr id="261" name="b2"/>
          <p:cNvSpPr/>
          <p:nvPr/>
        </p:nvSpPr>
        <p:spPr>
          <a:xfrm>
            <a:off x="502920" y="4663269"/>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en-US" altLang="ja-JP" sz="2400" b="1" dirty="0">
                <a:solidFill>
                  <a:srgbClr val="262626"/>
                </a:solidFill>
                <a:latin typeface="Meiryo"/>
                <a:ea typeface="Meiryo"/>
                <a:cs typeface="Meiryo"/>
              </a:rPr>
              <a:t>切痕検出に代えて、PDA（Skewed–Gaussian 2 カーネル）の</a:t>
            </a:r>
            <a:r>
              <a:rPr lang="ja-JP" altLang="en-US" sz="2400" b="1">
                <a:solidFill>
                  <a:srgbClr val="262626"/>
                </a:solidFill>
                <a:latin typeface="Meiryo"/>
                <a:ea typeface="Meiryo"/>
                <a:cs typeface="Meiryo"/>
              </a:rPr>
              <a:t/>
            </a:r>
            <a:endParaRPr lang="en-US" altLang="ja-JP" sz="2400" b="1" dirty="0">
              <a:solidFill>
                <a:srgbClr val="262626"/>
              </a:solidFill>
              <a:latin typeface="Meiryo"/>
              <a:ea typeface="Meiryo"/>
              <a:cs typeface="Meiryo"/>
            </a:endParaRPr>
          </a:p>
          <a:p>
            <a:pPr algn="ctr">
              <a:lnSpc>
                <a:spcPct val="120000"/>
              </a:lnSpc>
            </a:pPr>
            <a:r>
              <a:rPr lang="ja-JP" altLang="en-US" sz="2400" b="1">
                <a:solidFill>
                  <a:srgbClr val="262626"/>
                </a:solidFill>
                <a:latin typeface="Meiryo"/>
                <a:ea typeface="Meiryo"/>
                <a:cs typeface="Meiryo"/>
              </a:rPr>
              <a:t>成分波から SI・RI をより頑健に求める。</a:t>
            </a:r>
            <a:r>
              <a:rPr lang="en-US" altLang="ja-JP" sz="2400" b="1" dirty="0">
                <a:solidFill>
                  <a:srgbClr val="262626"/>
                </a:solidFill>
                <a:latin typeface="Meiryo"/>
                <a:ea typeface="Meiryo"/>
                <a:cs typeface="Meiryo"/>
              </a:rPr>
              <a:t/>
            </a:r>
            <a:r>
              <a:rPr lang="ja-JP" altLang="en-US" sz="2400" b="1">
                <a:solidFill>
                  <a:srgbClr val="262626"/>
                </a:solidFill>
                <a:latin typeface="Meiryo"/>
                <a:ea typeface="Meiryo"/>
                <a:cs typeface="Meiryo"/>
              </a:rPr>
              <a:t/>
            </a:r>
            <a:r>
              <a:rPr lang="en-US" altLang="ja-JP" sz="2400" b="1" dirty="0">
                <a:solidFill>
                  <a:srgbClr val="262626"/>
                </a:solidFill>
                <a:latin typeface="Meiryo"/>
                <a:ea typeface="Meiryo"/>
                <a:cs typeface="Meiryo"/>
              </a:rPr>
              <a:t/>
            </a:r>
            <a:r>
              <a:rPr lang="ja-JP" altLang="en-US" sz="2400" b="1">
                <a:solidFill>
                  <a:srgbClr val="262626"/>
                </a:solidFill>
                <a:latin typeface="Meiryo"/>
                <a:ea typeface="Meiryo"/>
                <a:cs typeface="Meiryo"/>
              </a:rPr>
              <a:t/>
            </a:r>
            <a:endParaRPr lang="ja-JP" altLang="en-US" sz="2400" b="1" dirty="0">
              <a:solidFill>
                <a:srgbClr val="C00000"/>
              </a:solidFill>
              <a:latin typeface="Meiryo"/>
              <a:ea typeface="Meiryo"/>
              <a:cs typeface="Meiryo"/>
            </a:endParaRPr>
          </a:p>
        </p:txBody>
      </p:sp>
      <p:sp>
        <p:nvSpPr>
          <p:cNvPr id="26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106/119</a:t>
            </a:r>
          </a:p>
        </p:txBody>
      </p:sp>
      <p:sp>
        <p:nvSpPr>
          <p:cNvPr id="26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6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6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6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6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6.6  実現までの道筋</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52. Biais 2015　／　55. Critchley 1999</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準備</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倫理申請・機器確認・解析基盤の整備。</a:t>
            </a:r>
          </a:p>
          <a:p>
            <a:pPr algn="l">
              <a:lnSpc>
                <a:spcPct val="120000"/>
              </a:lnSpc>
            </a:pPr>
            <a:r>
              <a:rPr lang="ja-JP" altLang="en-US" sz="2200" b="1" dirty="0">
                <a:solidFill>
                  <a:srgbClr val="262626"/>
                </a:solidFill>
                <a:latin typeface="Meiryo"/>
                <a:ea typeface="Meiryo"/>
                <a:cs typeface="Meiryo"/>
              </a:rPr>
              <a:t>3〜6 か月　患者登録なし</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事前</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公開データ 552 例 ＋ 実機 10 例</a:t>
            </a:r>
          </a:p>
          <a:p>
            <a:pPr algn="l">
              <a:lnSpc>
                <a:spcPct val="120000"/>
              </a:lnSpc>
            </a:pPr>
            <a:r>
              <a:rPr lang="ja-JP" altLang="en-US" sz="2200" b="1" dirty="0">
                <a:solidFill>
                  <a:srgbClr val="262626"/>
                </a:solidFill>
                <a:latin typeface="Meiryo"/>
                <a:ea typeface="Meiryo"/>
                <a:cs typeface="Meiryo"/>
              </a:rPr>
              <a:t>概念実証と、波形が取れるかの確認。</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導出</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60 例（登録 74 例）で補正式をつくる。</a:t>
            </a:r>
          </a:p>
          <a:p>
            <a:pPr algn="l">
              <a:lnSpc>
                <a:spcPct val="120000"/>
              </a:lnSpc>
            </a:pPr>
            <a:r>
              <a:rPr lang="ja-JP" altLang="en-US" sz="2200" b="1" dirty="0">
                <a:solidFill>
                  <a:srgbClr val="262626"/>
                </a:solidFill>
                <a:latin typeface="Meiryo"/>
                <a:ea typeface="Meiryo"/>
                <a:cs typeface="Meiryo"/>
              </a:rPr>
              <a:t>交差検証で過学習を除いてから凍結。</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検証</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50 例（登録 61 例）に凍結した式を適用。</a:t>
            </a:r>
          </a:p>
          <a:p>
            <a:pPr algn="l">
              <a:lnSpc>
                <a:spcPct val="120000"/>
              </a:lnSpc>
            </a:pPr>
            <a:r>
              <a:rPr lang="ja-JP" altLang="en-US" sz="2200" b="1" dirty="0">
                <a:solidFill>
                  <a:srgbClr val="262626"/>
                </a:solidFill>
                <a:latin typeface="Meiryo"/>
                <a:ea typeface="Meiryo"/>
                <a:cs typeface="Meiryo"/>
              </a:rPr>
              <a:t>誤差率が下がるかを事前登録した基準で判定。</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107/119</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6.7  </a:t>
            </a:r>
            <a:r>
              <a:rPr lang="en-US" sz="4600" dirty="0">
                <a:latin typeface="Meiryo"/>
                <a:ea typeface="Meiryo"/>
                <a:cs typeface="Meiryo"/>
              </a:rPr>
              <a:t>Vital </a:t>
            </a:r>
            <a:r>
              <a:rPr lang="en-US" sz="4600" dirty="0" err="1">
                <a:latin typeface="Meiryo"/>
                <a:ea typeface="Meiryo"/>
                <a:cs typeface="Meiryo"/>
              </a:rPr>
              <a:t>DBで先行研究</a:t>
            </a:r>
            <a:endParaRPr sz="4600" dirty="0">
              <a:latin typeface="Meiryo"/>
              <a:ea typeface="Meiryo"/>
              <a:cs typeface="Meiryo"/>
            </a:endParaRPr>
          </a:p>
        </p:txBody>
      </p:sp>
      <p:sp>
        <p:nvSpPr>
          <p:cNvPr id="211"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VitalDB（Seoul National University Hospital, 6,388 症例, オープンアクセス）</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使うデータ</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ソウル大の手術 6,388 例</a:t>
            </a:r>
          </a:p>
          <a:p>
            <a:pPr algn="l">
              <a:lnSpc>
                <a:spcPct val="120000"/>
              </a:lnSpc>
            </a:pPr>
            <a:r>
              <a:rPr lang="ja-JP" altLang="en-US" sz="2200" b="1" dirty="0">
                <a:solidFill>
                  <a:srgbClr val="262626"/>
                </a:solidFill>
                <a:latin typeface="Meiryo"/>
                <a:ea typeface="Meiryo"/>
                <a:cs typeface="Meiryo"/>
              </a:rPr>
              <a:t>無償・資格審査は不要</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使える症例数</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心拍出量＋500 Hz 脈波</a:t>
            </a:r>
          </a:p>
          <a:p>
            <a:pPr algn="l">
              <a:lnSpc>
                <a:spcPct val="120000"/>
              </a:lnSpc>
            </a:pPr>
            <a:r>
              <a:rPr lang="ja-JP" altLang="en-US" sz="2200" b="1" dirty="0">
                <a:solidFill>
                  <a:srgbClr val="262626"/>
                </a:solidFill>
                <a:latin typeface="Meiryo"/>
                <a:ea typeface="Meiryo"/>
                <a:cs typeface="Meiryo"/>
              </a:rPr>
              <a:t>＋心電図＋動脈圧 ＝ 552 例</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何をするか</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を再現して推定式を組む</a:t>
            </a:r>
          </a:p>
          <a:p>
            <a:pPr algn="l">
              <a:lnSpc>
                <a:spcPct val="120000"/>
              </a:lnSpc>
            </a:pPr>
            <a:r>
              <a:rPr lang="ja-JP" altLang="en-US" sz="2200" b="1" dirty="0">
                <a:solidFill>
                  <a:srgbClr val="262626"/>
                </a:solidFill>
                <a:latin typeface="Meiryo"/>
                <a:ea typeface="Meiryo"/>
                <a:cs typeface="Meiryo"/>
              </a:rPr>
              <a:t>SI・RI を足して誤差を比べる</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判定</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誤差が有意に減るか</a:t>
            </a:r>
          </a:p>
          <a:p>
            <a:pPr algn="l">
              <a:lnSpc>
                <a:spcPct val="120000"/>
              </a:lnSpc>
            </a:pPr>
            <a:r>
              <a:rPr lang="ja-JP" altLang="en-US" sz="2200" b="1" dirty="0">
                <a:solidFill>
                  <a:srgbClr val="262626"/>
                </a:solidFill>
                <a:latin typeface="Meiryo"/>
                <a:ea typeface="Meiryo"/>
                <a:cs typeface="Meiryo"/>
              </a:rPr>
              <a:t>減らなければこの時点で中止</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108/119</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6.8  実機で波形が取れるか</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出力</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生の脈波を外部に出せるか</a:t>
            </a:r>
          </a:p>
          <a:p>
            <a:pPr algn="l">
              <a:lnSpc>
                <a:spcPct val="120000"/>
              </a:lnSpc>
            </a:pPr>
            <a:r>
              <a:rPr lang="ja-JP" altLang="en-US" sz="2200" b="1" dirty="0">
                <a:solidFill>
                  <a:srgbClr val="262626"/>
                </a:solidFill>
                <a:latin typeface="Meiryo"/>
                <a:ea typeface="Meiryo"/>
                <a:cs typeface="Meiryo"/>
              </a:rPr>
              <a:t>250 Hz 以上・500 Hz 推奨</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利得</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自動利得制御があると</a:t>
            </a:r>
          </a:p>
          <a:p>
            <a:pPr algn="l">
              <a:lnSpc>
                <a:spcPct val="120000"/>
              </a:lnSpc>
            </a:pPr>
            <a:r>
              <a:rPr lang="ja-JP" altLang="en-US" sz="2200" b="1" dirty="0">
                <a:solidFill>
                  <a:srgbClr val="262626"/>
                </a:solidFill>
                <a:latin typeface="Meiryo"/>
                <a:ea typeface="Meiryo"/>
                <a:cs typeface="Meiryo"/>
              </a:rPr>
              <a:t>振幅比 RI が壊れる</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品質</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10 例で通過率を実測する</a:t>
            </a:r>
          </a:p>
          <a:p>
            <a:pPr algn="l">
              <a:lnSpc>
                <a:spcPct val="120000"/>
              </a:lnSpc>
            </a:pPr>
            <a:r>
              <a:rPr lang="ja-JP" altLang="en-US" sz="2200" b="1" dirty="0">
                <a:solidFill>
                  <a:srgbClr val="262626"/>
                </a:solidFill>
                <a:latin typeface="Meiryo"/>
                <a:ea typeface="Meiryo"/>
                <a:cs typeface="Meiryo"/>
              </a:rPr>
              <a:t>ICU の公開データでは 87% 棄却</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代替</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研究用センサを別に併用</a:t>
            </a:r>
          </a:p>
          <a:p>
            <a:pPr algn="l">
              <a:lnSpc>
                <a:spcPct val="120000"/>
              </a:lnSpc>
            </a:pPr>
            <a:r>
              <a:rPr lang="ja-JP" altLang="en-US" sz="2200" b="1" dirty="0">
                <a:solidFill>
                  <a:srgbClr val="262626"/>
                </a:solidFill>
                <a:latin typeface="Meiryo"/>
                <a:ea typeface="Meiryo"/>
                <a:cs typeface="Meiryo"/>
              </a:rPr>
              <a:t>ただし装着部位差が交絡</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109/119</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6.9  必要な症例数</a:t>
            </a:r>
          </a:p>
        </p:txBody>
      </p:sp>
      <p:sp>
        <p:nvSpPr>
          <p:cNvPr id="266" name="Source"/>
          <p:cNvSpPr txBox="1"/>
          <p:nvPr/>
        </p:nvSpPr>
        <p:spPr>
          <a:xfrm>
            <a:off x="720000" y="6606000"/>
            <a:ext cx="10881360" cy="161583"/>
          </a:xfrm>
          <a:prstGeom prst="rect">
            <a:avLst/>
          </a:prstGeom>
          <a:noFill/>
        </p:spPr>
        <p:txBody>
          <a:bodyPr wrap="square" lIns="0" tIns="0" rIns="0" bIns="0" anchor="t">
            <a:spAutoFit/>
          </a:bodyPr>
          <a:lstStyle/>
          <a:p>
            <a:pPr algn="l"/>
            <a:r>
              <a:rPr sz="1050" dirty="0">
                <a:solidFill>
                  <a:srgbClr val="808080"/>
                </a:solidFill>
                <a:latin typeface="Meiryo"/>
                <a:ea typeface="Meiryo"/>
                <a:cs typeface="Meiryo"/>
              </a:rPr>
              <a:t>55. Critchley 1999</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導出</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60 例（登録 74 例）</a:t>
            </a:r>
          </a:p>
          <a:p>
            <a:pPr algn="l">
              <a:lnSpc>
                <a:spcPct val="120000"/>
              </a:lnSpc>
            </a:pPr>
            <a:r>
              <a:rPr lang="ja-JP" altLang="en-US" sz="2200" b="1" dirty="0">
                <a:solidFill>
                  <a:srgbClr val="262626"/>
                </a:solidFill>
                <a:latin typeface="Meiryo"/>
                <a:ea typeface="Meiryo"/>
                <a:cs typeface="Meiryo"/>
              </a:rPr>
              <a:t>共変量 4 個 × 15 例 ＝ 被験者レベルの目安。</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検証</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50 例（登録 61 例）</a:t>
            </a:r>
          </a:p>
          <a:p>
            <a:pPr algn="l">
              <a:lnSpc>
                <a:spcPct val="120000"/>
              </a:lnSpc>
            </a:pPr>
            <a:r>
              <a:rPr lang="ja-JP" altLang="en-US" sz="2200" b="1" dirty="0">
                <a:solidFill>
                  <a:srgbClr val="262626"/>
                </a:solidFill>
                <a:latin typeface="Meiryo"/>
                <a:ea typeface="Meiryo"/>
                <a:cs typeface="Meiryo"/>
              </a:rPr>
              <a:t>誤差率 60→45% を検出力 80% で検出（必要 51 例）</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下限</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一致限界の精度から 45 例。</a:t>
            </a:r>
          </a:p>
          <a:p>
            <a:pPr algn="l">
              <a:lnSpc>
                <a:spcPct val="120000"/>
              </a:lnSpc>
            </a:pPr>
            <a:r>
              <a:rPr lang="ja-JP" altLang="en-US" sz="2200" b="1" dirty="0">
                <a:solidFill>
                  <a:srgbClr val="262626"/>
                </a:solidFill>
                <a:latin typeface="Meiryo"/>
                <a:ea typeface="Meiryo"/>
                <a:cs typeface="Meiryo"/>
              </a:rPr>
              <a:t>反復測定を増やしても被験者数は代替できない。</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合計</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解析 110 例 ／ 登録 135 例</a:t>
            </a:r>
          </a:p>
          <a:p>
            <a:pPr algn="l">
              <a:lnSpc>
                <a:spcPct val="120000"/>
              </a:lnSpc>
            </a:pPr>
            <a:r>
              <a:rPr lang="ja-JP" altLang="en-US" sz="2200" b="1" dirty="0">
                <a:solidFill>
                  <a:srgbClr val="262626"/>
                </a:solidFill>
                <a:latin typeface="Meiryo"/>
                <a:ea typeface="Meiryo"/>
                <a:cs typeface="Meiryo"/>
              </a:rPr>
              <a:t>信号品質による脱落 18% を見込む。</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110/119</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6.10  必要な機器と体制</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モニタ</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esCCO 搭載ライフスコープ</a:t>
            </a:r>
          </a:p>
          <a:p>
            <a:pPr algn="l">
              <a:lnSpc>
                <a:spcPct val="120000"/>
              </a:lnSpc>
            </a:pPr>
            <a:r>
              <a:rPr lang="ja-JP" altLang="en-US" sz="2200" b="1" dirty="0">
                <a:solidFill>
                  <a:srgbClr val="262626"/>
                </a:solidFill>
                <a:latin typeface="Meiryo"/>
                <a:ea typeface="Meiryo"/>
                <a:cs typeface="Meiryo"/>
              </a:rPr>
              <a:t>生波形の外部出力オプション</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記録</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Vital Recorder 等の記録ソフト</a:t>
            </a:r>
          </a:p>
          <a:p>
            <a:pPr algn="l">
              <a:lnSpc>
                <a:spcPct val="120000"/>
              </a:lnSpc>
            </a:pPr>
            <a:r>
              <a:rPr lang="ja-JP" altLang="en-US" sz="2200" b="1" dirty="0">
                <a:solidFill>
                  <a:srgbClr val="262626"/>
                </a:solidFill>
                <a:latin typeface="Meiryo"/>
                <a:ea typeface="Meiryo"/>
                <a:cs typeface="Meiryo"/>
              </a:rPr>
              <a:t>日本光電製の出力ケーブル</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基準値</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肺動脈カテーテル間欠熱希釈</a:t>
            </a:r>
          </a:p>
          <a:p>
            <a:pPr algn="l">
              <a:lnSpc>
                <a:spcPct val="120000"/>
              </a:lnSpc>
            </a:pPr>
            <a:r>
              <a:rPr lang="ja-JP" altLang="en-US" sz="2200" b="1" dirty="0">
                <a:solidFill>
                  <a:srgbClr val="262626"/>
                </a:solidFill>
                <a:latin typeface="Meiryo"/>
                <a:ea typeface="Meiryo"/>
                <a:cs typeface="Meiryo"/>
              </a:rPr>
              <a:t>または経肺熱希釈</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体制</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臨床工学技士・統計家</a:t>
            </a:r>
          </a:p>
          <a:p>
            <a:pPr algn="l">
              <a:lnSpc>
                <a:spcPct val="120000"/>
              </a:lnSpc>
            </a:pPr>
            <a:r>
              <a:rPr lang="ja-JP" altLang="en-US" sz="2200" b="1" dirty="0">
                <a:solidFill>
                  <a:srgbClr val="262626"/>
                </a:solidFill>
                <a:latin typeface="Meiryo"/>
                <a:ea typeface="Meiryo"/>
                <a:cs typeface="Meiryo"/>
              </a:rPr>
              <a:t>データ管理担当</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111/119</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6.11  倫理と手続き</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人を対象とする生命科学・医学系研究に関する倫理指針（文科省・厚労省・経産省）</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審査</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倫理審査委員会の承認 ― 着手前に必須。</a:t>
            </a:r>
          </a:p>
          <a:p>
            <a:pPr algn="l">
              <a:lnSpc>
                <a:spcPct val="120000"/>
              </a:lnSpc>
            </a:pPr>
            <a:r>
              <a:rPr lang="ja-JP" altLang="en-US" sz="2200" b="1" dirty="0">
                <a:solidFill>
                  <a:srgbClr val="262626"/>
                </a:solidFill>
                <a:latin typeface="Meiryo"/>
                <a:ea typeface="Meiryo"/>
                <a:cs typeface="Meiryo"/>
              </a:rPr>
              <a:t>公開データのみを使う段階も該当性を照会する。</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区分</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介入研究か観察研究かを事前照会する。</a:t>
            </a:r>
          </a:p>
          <a:p>
            <a:pPr algn="l">
              <a:lnSpc>
                <a:spcPct val="120000"/>
              </a:lnSpc>
            </a:pPr>
            <a:r>
              <a:rPr lang="ja-JP" altLang="en-US" sz="2200" b="1" dirty="0">
                <a:solidFill>
                  <a:srgbClr val="262626"/>
                </a:solidFill>
                <a:latin typeface="Meiryo"/>
                <a:ea typeface="Meiryo"/>
                <a:cs typeface="Meiryo"/>
              </a:rPr>
              <a:t>臨床適応の症例を選べば観察研究として設計できる。</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登録</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jRCT または UMIN-CTR に事前登録。</a:t>
            </a:r>
          </a:p>
          <a:p>
            <a:pPr algn="l">
              <a:lnSpc>
                <a:spcPct val="120000"/>
              </a:lnSpc>
            </a:pPr>
            <a:r>
              <a:rPr lang="ja-JP" altLang="en-US" sz="2200" b="1" dirty="0">
                <a:solidFill>
                  <a:srgbClr val="262626"/>
                </a:solidFill>
                <a:latin typeface="Meiryo"/>
                <a:ea typeface="Meiryo"/>
                <a:cs typeface="Meiryo"/>
              </a:rPr>
              <a:t>解析計画も含めて登録し、事後変更を疑われないようにする。</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開示</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機器貸与を受けるなら COI を申告。</a:t>
            </a:r>
          </a:p>
          <a:p>
            <a:pPr algn="l">
              <a:lnSpc>
                <a:spcPct val="120000"/>
              </a:lnSpc>
            </a:pPr>
            <a:r>
              <a:rPr lang="ja-JP" altLang="en-US" sz="2200" b="1" dirty="0">
                <a:solidFill>
                  <a:srgbClr val="262626"/>
                </a:solidFill>
                <a:latin typeface="Meiryo"/>
                <a:ea typeface="Meiryo"/>
                <a:cs typeface="Meiryo"/>
              </a:rPr>
              <a:t>解析にメーカーが関与しないことを計画書に明記。</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112/119</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6.12  想定されるつまずき</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信号</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生脈波が低レートでしか出せない。</a:t>
            </a:r>
          </a:p>
          <a:p>
            <a:pPr algn="l">
              <a:lnSpc>
                <a:spcPct val="120000"/>
              </a:lnSpc>
            </a:pPr>
            <a:r>
              <a:rPr lang="ja-JP" altLang="en-US" sz="2200" b="1" dirty="0">
                <a:solidFill>
                  <a:srgbClr val="262626"/>
                </a:solidFill>
                <a:latin typeface="Meiryo"/>
                <a:ea typeface="Meiryo"/>
                <a:cs typeface="Meiryo"/>
              </a:rPr>
              <a:t>→ 研究用センサ併用に設計変更（部位差は交絡として明記）</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場面</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昇圧薬使用時ほど灌流が落ちて波形が悪化。</a:t>
            </a:r>
          </a:p>
          <a:p>
            <a:pPr algn="l">
              <a:lnSpc>
                <a:spcPct val="120000"/>
              </a:lnSpc>
            </a:pPr>
            <a:r>
              <a:rPr lang="ja-JP" altLang="en-US" sz="2200" b="1" dirty="0">
                <a:solidFill>
                  <a:srgbClr val="262626"/>
                </a:solidFill>
                <a:latin typeface="Meiryo"/>
                <a:ea typeface="Meiryo"/>
                <a:cs typeface="Meiryo"/>
              </a:rPr>
              <a:t>→ 最も補正が要る場面で取れない。耳朶・額を検討。</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分解</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2 カーネルでは P2 と P3 が分離しない。</a:t>
            </a:r>
          </a:p>
          <a:p>
            <a:pPr algn="l">
              <a:lnSpc>
                <a:spcPct val="120000"/>
              </a:lnSpc>
            </a:pPr>
            <a:r>
              <a:rPr lang="ja-JP" altLang="en-US" sz="2200" b="1" dirty="0">
                <a:solidFill>
                  <a:srgbClr val="262626"/>
                </a:solidFill>
                <a:latin typeface="Meiryo"/>
                <a:ea typeface="Meiryo"/>
                <a:cs typeface="Meiryo"/>
              </a:rPr>
              <a:t>→ 第 2 成分は両者の加重平均。3 カーネルを感度解析に</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基準</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熱希釈自体に 10〜20% の誤差がある。</a:t>
            </a:r>
          </a:p>
          <a:p>
            <a:pPr algn="l">
              <a:lnSpc>
                <a:spcPct val="120000"/>
              </a:lnSpc>
            </a:pPr>
            <a:r>
              <a:rPr lang="ja-JP" altLang="en-US" sz="2200" b="1" dirty="0">
                <a:solidFill>
                  <a:srgbClr val="262626"/>
                </a:solidFill>
                <a:latin typeface="Meiryo"/>
                <a:ea typeface="Meiryo"/>
                <a:cs typeface="Meiryo"/>
              </a:rPr>
              <a:t>→ 誤差率の下限を作る。3 回反復で精度を担保。</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113/119</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C379B-E343-2B07-6603-567FBC4F5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E17A6-E985-57C5-90AE-1B9DD7FF08FF}"/>
              </a:ext>
            </a:extLst>
          </p:cNvPr>
          <p:cNvSpPr>
            <a:spLocks noGrp="1"/>
          </p:cNvSpPr>
          <p:nvPr>
            <p:ph type="title"/>
          </p:nvPr>
        </p:nvSpPr>
        <p:spPr/>
        <p:txBody>
          <a:bodyPr/>
          <a:lstStyle/>
          <a:p>
            <a:pPr algn="l"/>
            <a:r>
              <a:rPr sz="4600" dirty="0">
                <a:latin typeface="Meiryo"/>
                <a:ea typeface="Meiryo"/>
                <a:cs typeface="Meiryo"/>
              </a:rPr>
              <a:t>6.  提案のまとめ</a:t>
            </a:r>
          </a:p>
        </p:txBody>
      </p:sp>
      <p:sp>
        <p:nvSpPr>
          <p:cNvPr id="284" name="Source">
            <a:extLst>
              <a:ext uri="{FF2B5EF4-FFF2-40B4-BE49-F238E27FC236}">
                <a16:creationId xmlns:a16="http://schemas.microsoft.com/office/drawing/2014/main" id="{94B2609C-0460-6DA8-62E6-4451E2655B3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53. Magliocca 2018</a:t>
            </a:r>
          </a:p>
        </p:txBody>
      </p:sp>
      <p:sp>
        <p:nvSpPr>
          <p:cNvPr id="286" name="c0-bg">
            <a:extLst>
              <a:ext uri="{FF2B5EF4-FFF2-40B4-BE49-F238E27FC236}">
                <a16:creationId xmlns:a16="http://schemas.microsoft.com/office/drawing/2014/main" id="{BE74C31A-DF2B-E131-A692-758F956FC607}"/>
              </a:ext>
            </a:extLst>
          </p:cNvPr>
          <p:cNvSpPr/>
          <p:nvPr/>
        </p:nvSpPr>
        <p:spPr>
          <a:xfrm>
            <a:off x="526000" y="2781485"/>
            <a:ext cx="3560933" cy="21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87" name="c0-t">
            <a:extLst>
              <a:ext uri="{FF2B5EF4-FFF2-40B4-BE49-F238E27FC236}">
                <a16:creationId xmlns:a16="http://schemas.microsoft.com/office/drawing/2014/main" id="{2D31A7F6-0F71-D8E7-0254-375907D7350E}"/>
              </a:ext>
            </a:extLst>
          </p:cNvPr>
          <p:cNvSpPr txBox="1"/>
          <p:nvPr/>
        </p:nvSpPr>
        <p:spPr>
          <a:xfrm>
            <a:off x="726000"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説明できる誤差</a:t>
            </a:r>
          </a:p>
        </p:txBody>
      </p:sp>
      <p:sp>
        <p:nvSpPr>
          <p:cNvPr id="288" name="c0-b">
            <a:extLst>
              <a:ext uri="{FF2B5EF4-FFF2-40B4-BE49-F238E27FC236}">
                <a16:creationId xmlns:a16="http://schemas.microsoft.com/office/drawing/2014/main" id="{28F88F0C-B61A-7F5E-64D7-87C84D199B6B}"/>
              </a:ext>
            </a:extLst>
          </p:cNvPr>
          <p:cNvSpPr txBox="1"/>
          <p:nvPr/>
        </p:nvSpPr>
        <p:spPr>
          <a:xfrm>
            <a:off x="726000"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SVR・Ea と相関</a:t>
            </a:r>
          </a:p>
          <a:p>
            <a:pPr algn="l">
              <a:lnSpc>
                <a:spcPct val="120000"/>
              </a:lnSpc>
            </a:pPr>
            <a:r>
              <a:rPr lang="ja-JP" altLang="en-US" sz="2200" b="1" dirty="0">
                <a:solidFill>
                  <a:srgbClr val="262626"/>
                </a:solidFill>
                <a:latin typeface="Meiryo"/>
                <a:ea typeface="Meiryo"/>
                <a:cs typeface="Meiryo"/>
              </a:rPr>
              <a:t>＝ 補正の余地</a:t>
            </a:r>
          </a:p>
        </p:txBody>
      </p:sp>
      <p:sp>
        <p:nvSpPr>
          <p:cNvPr id="289" name="c1-bg">
            <a:extLst>
              <a:ext uri="{FF2B5EF4-FFF2-40B4-BE49-F238E27FC236}">
                <a16:creationId xmlns:a16="http://schemas.microsoft.com/office/drawing/2014/main" id="{B2126F63-B85D-369E-B278-46FD0313145A}"/>
              </a:ext>
            </a:extLst>
          </p:cNvPr>
          <p:cNvSpPr/>
          <p:nvPr/>
        </p:nvSpPr>
        <p:spPr>
          <a:xfrm>
            <a:off x="4315533" y="2781485"/>
            <a:ext cx="3560933" cy="21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90" name="c1-t">
            <a:extLst>
              <a:ext uri="{FF2B5EF4-FFF2-40B4-BE49-F238E27FC236}">
                <a16:creationId xmlns:a16="http://schemas.microsoft.com/office/drawing/2014/main" id="{5F78D44A-3D0D-3A7C-869C-38D2AB004815}"/>
              </a:ext>
            </a:extLst>
          </p:cNvPr>
          <p:cNvSpPr txBox="1"/>
          <p:nvPr/>
        </p:nvSpPr>
        <p:spPr>
          <a:xfrm>
            <a:off x="4515533"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同じ波形から</a:t>
            </a:r>
          </a:p>
        </p:txBody>
      </p:sp>
      <p:sp>
        <p:nvSpPr>
          <p:cNvPr id="291" name="c1-b">
            <a:extLst>
              <a:ext uri="{FF2B5EF4-FFF2-40B4-BE49-F238E27FC236}">
                <a16:creationId xmlns:a16="http://schemas.microsoft.com/office/drawing/2014/main" id="{5FEF99C4-A33E-899C-71A4-780328AADD7A}"/>
              </a:ext>
            </a:extLst>
          </p:cNvPr>
          <p:cNvSpPr txBox="1"/>
          <p:nvPr/>
        </p:nvSpPr>
        <p:spPr>
          <a:xfrm>
            <a:off x="4515533"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 ＝ スティフネス</a:t>
            </a:r>
          </a:p>
          <a:p>
            <a:pPr algn="l">
              <a:lnSpc>
                <a:spcPct val="120000"/>
              </a:lnSpc>
            </a:pPr>
            <a:r>
              <a:rPr lang="ja-JP" altLang="en-US" sz="2200" b="1" dirty="0">
                <a:solidFill>
                  <a:srgbClr val="262626"/>
                </a:solidFill>
                <a:latin typeface="Meiryo"/>
                <a:ea typeface="Meiryo"/>
                <a:cs typeface="Meiryo"/>
              </a:rPr>
              <a:t>RI </a:t>
            </a:r>
            <a:r>
              <a:rPr lang="ja-JP" altLang="en-US" sz="2200" b="1">
                <a:solidFill>
                  <a:srgbClr val="262626"/>
                </a:solidFill>
                <a:latin typeface="Meiryo"/>
                <a:ea typeface="Meiryo"/>
                <a:cs typeface="Meiryo"/>
              </a:rPr>
              <a:t>＝ トーヌス</a:t>
            </a:r>
            <a:endParaRPr lang="en-US" altLang="ja-JP" sz="2200" b="1" dirty="0">
              <a:solidFill>
                <a:srgbClr val="262626"/>
              </a:solidFill>
              <a:latin typeface="Meiryo"/>
              <a:ea typeface="Meiryo"/>
              <a:cs typeface="Meiryo"/>
            </a:endParaRPr>
          </a:p>
          <a:p>
            <a:pPr algn="l">
              <a:lnSpc>
                <a:spcPct val="120000"/>
              </a:lnSpc>
            </a:pPr>
            <a:r>
              <a:rPr lang="en-US" altLang="ja-JP" sz="2200" b="1" dirty="0">
                <a:solidFill>
                  <a:srgbClr val="262626"/>
                </a:solidFill>
                <a:latin typeface="Meiryo"/>
                <a:ea typeface="Meiryo"/>
                <a:cs typeface="Meiryo"/>
              </a:rPr>
              <a:t>PDA</a:t>
            </a:r>
            <a:r>
              <a:rPr lang="ja-JP" altLang="en-US" sz="2200" b="1">
                <a:solidFill>
                  <a:srgbClr val="262626"/>
                </a:solidFill>
                <a:latin typeface="Meiryo"/>
                <a:ea typeface="Meiryo"/>
                <a:cs typeface="Meiryo"/>
              </a:rPr>
              <a:t>による取得も目指す</a:t>
            </a:r>
            <a:endParaRPr lang="ja-JP" altLang="en-US" sz="2200" b="1" dirty="0">
              <a:solidFill>
                <a:srgbClr val="262626"/>
              </a:solidFill>
              <a:latin typeface="Meiryo"/>
              <a:ea typeface="Meiryo"/>
              <a:cs typeface="Meiryo"/>
            </a:endParaRPr>
          </a:p>
        </p:txBody>
      </p:sp>
      <p:sp>
        <p:nvSpPr>
          <p:cNvPr id="292" name="c2-bg">
            <a:extLst>
              <a:ext uri="{FF2B5EF4-FFF2-40B4-BE49-F238E27FC236}">
                <a16:creationId xmlns:a16="http://schemas.microsoft.com/office/drawing/2014/main" id="{F095B58D-B2F0-5E05-98AE-9EDE7CF10D8D}"/>
              </a:ext>
            </a:extLst>
          </p:cNvPr>
          <p:cNvSpPr/>
          <p:nvPr/>
        </p:nvSpPr>
        <p:spPr>
          <a:xfrm>
            <a:off x="8105066" y="2781485"/>
            <a:ext cx="3560933" cy="21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93" name="c2-t">
            <a:extLst>
              <a:ext uri="{FF2B5EF4-FFF2-40B4-BE49-F238E27FC236}">
                <a16:creationId xmlns:a16="http://schemas.microsoft.com/office/drawing/2014/main" id="{BB86704F-0887-25A9-BADE-D15BD1D11282}"/>
              </a:ext>
            </a:extLst>
          </p:cNvPr>
          <p:cNvSpPr txBox="1"/>
          <p:nvPr/>
        </p:nvSpPr>
        <p:spPr>
          <a:xfrm>
            <a:off x="8305066"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提案</a:t>
            </a:r>
          </a:p>
        </p:txBody>
      </p:sp>
      <p:sp>
        <p:nvSpPr>
          <p:cNvPr id="294" name="c2-b">
            <a:extLst>
              <a:ext uri="{FF2B5EF4-FFF2-40B4-BE49-F238E27FC236}">
                <a16:creationId xmlns:a16="http://schemas.microsoft.com/office/drawing/2014/main" id="{E2BC0CBA-B998-5703-1088-8F6841B0FD41}"/>
              </a:ext>
            </a:extLst>
          </p:cNvPr>
          <p:cNvSpPr txBox="1"/>
          <p:nvPr/>
        </p:nvSpPr>
        <p:spPr>
          <a:xfrm>
            <a:off x="8305066"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K を SI・RI で補正</a:t>
            </a:r>
          </a:p>
          <a:p>
            <a:pPr algn="l">
              <a:lnSpc>
                <a:spcPct val="120000"/>
              </a:lnSpc>
            </a:pPr>
            <a:r>
              <a:rPr lang="ja-JP" altLang="en-US" sz="2200" b="1" dirty="0">
                <a:solidFill>
                  <a:srgbClr val="262626"/>
                </a:solidFill>
                <a:latin typeface="Meiryo"/>
                <a:ea typeface="Meiryo"/>
                <a:cs typeface="Meiryo"/>
              </a:rPr>
              <a:t>形で 時間 を較正</a:t>
            </a:r>
          </a:p>
        </p:txBody>
      </p:sp>
      <p:sp>
        <p:nvSpPr>
          <p:cNvPr id="297" name="PageNo">
            <a:extLst>
              <a:ext uri="{FF2B5EF4-FFF2-40B4-BE49-F238E27FC236}">
                <a16:creationId xmlns:a16="http://schemas.microsoft.com/office/drawing/2014/main" id="{BC525BF3-1893-DA2F-051F-718E209A5377}"/>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114/119</a:t>
            </a:r>
          </a:p>
        </p:txBody>
      </p:sp>
      <p:sp>
        <p:nvSpPr>
          <p:cNvPr id="29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99"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0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0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3"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extLst>
      <p:ext uri="{BB962C8B-B14F-4D97-AF65-F5344CB8AC3E}">
        <p14:creationId xmlns:p14="http://schemas.microsoft.com/office/powerpoint/2010/main" val="105440628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115/119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116/119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Couceiro R, et al. Assessment of cardiovascular function from multi-Gaussian fitting of a finger photoplethysmogram. Physiol Meas 2015;36:1801–25.</a:t>
            </a:r>
          </a:p>
          <a:p>
            <a:pPr algn="l">
              <a:lnSpc>
                <a:spcPct val="115000"/>
              </a:lnSpc>
              <a:spcAft>
                <a:spcPts val="700"/>
              </a:spcAft>
            </a:pPr>
            <a:r>
              <a:rPr sz="1050" b="0">
                <a:solidFill>
                  <a:srgbClr val="262626"/>
                </a:solidFill>
                <a:latin typeface="Meiryo"/>
                <a:ea typeface="Meiryo"/>
                <a:cs typeface="Meiryo"/>
              </a:rPr>
              <a:t>34.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35. Pal R, et al. An algorithm to detect dicrotic notch in arterial blood pressure and photoplethysmography waveforms using the iterative envelope mean method. Comput Methods Programs Biomed 2024;254:108283.</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Fleischhauer V, et al. Pulse decomposition analysis in photoplethysmography imaging. Physiol Meas 2020;41:095009.</a:t>
            </a:r>
          </a:p>
          <a:p>
            <a:pPr algn="l">
              <a:lnSpc>
                <a:spcPct val="115000"/>
              </a:lnSpc>
              <a:spcAft>
                <a:spcPts val="700"/>
              </a:spcAft>
            </a:pPr>
            <a:r>
              <a:rPr sz="1050" b="0">
                <a:solidFill>
                  <a:srgbClr val="262626"/>
                </a:solidFill>
                <a:latin typeface="Meiryo"/>
                <a:ea typeface="Meiryo"/>
                <a:cs typeface="Meiryo"/>
              </a:rPr>
              <a:t>37.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38.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39.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40.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41.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42. Goswami D, et al. A new two-pulse synthesis model for digital volume pulse signal analysis. Cardiovasc Eng 2010;10:109–17.</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a:p>
            <a:pPr algn="l">
              <a:lnSpc>
                <a:spcPct val="115000"/>
              </a:lnSpc>
              <a:spcAft>
                <a:spcPts val="700"/>
              </a:spcAft>
            </a:pPr>
            <a:r>
              <a:rPr sz="1050" b="0">
                <a:solidFill>
                  <a:srgbClr val="262626"/>
                </a:solidFill>
                <a:latin typeface="Meiryo"/>
                <a:ea typeface="Meiryo"/>
                <a:cs typeface="Meiryo"/>
              </a:rPr>
              <a:t>48. Sugo Y, Ukawa T, Takeda S, et al. A novel continuous cardiac output monitor based on pulse wave transit time. Annu Int Conf IEEE EMBC 2010:2853–6.</a:t>
            </a:r>
          </a:p>
          <a:p>
            <a:pPr algn="l">
              <a:lnSpc>
                <a:spcPct val="115000"/>
              </a:lnSpc>
              <a:spcAft>
                <a:spcPts val="700"/>
              </a:spcAft>
            </a:pPr>
            <a:r>
              <a:rPr sz="1050" b="0">
                <a:solidFill>
                  <a:srgbClr val="262626"/>
                </a:solidFill>
                <a:latin typeface="Meiryo"/>
                <a:ea typeface="Meiryo"/>
                <a:cs typeface="Meiryo"/>
              </a:rPr>
              <a:t>49. Yamada T, Tsutsui M, Sugo Y, et al. Multicenter study verifying a method of noninvasive continuous cardiac output measurement using pulse wave transit time. Anesth Analg 2012;115:82–7.</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50. Sugo Y, Sakai T, Terao M, et al. The comparison of a novel continuous cardiac output monitor based on pulse wave transit time and echo Doppler during exercise. Annu Int Conf IEEE EMBC 2012:236–9.</a:t>
            </a:r>
          </a:p>
          <a:p>
            <a:pPr algn="l">
              <a:lnSpc>
                <a:spcPct val="115000"/>
              </a:lnSpc>
              <a:spcAft>
                <a:spcPts val="700"/>
              </a:spcAft>
            </a:pPr>
            <a:r>
              <a:rPr sz="1050" b="0">
                <a:solidFill>
                  <a:srgbClr val="262626"/>
                </a:solidFill>
                <a:latin typeface="Meiryo"/>
                <a:ea typeface="Meiryo"/>
                <a:cs typeface="Meiryo"/>
              </a:rPr>
              <a:t>51. Nakamura Y, Wiegner AW, Gaasch WH. Systolic time intervals: assessment by isolated cardiac muscle studies. J Am Coll Cardiol 1983;2:973–8.</a:t>
            </a:r>
          </a:p>
          <a:p>
            <a:pPr algn="l">
              <a:lnSpc>
                <a:spcPct val="115000"/>
              </a:lnSpc>
              <a:spcAft>
                <a:spcPts val="700"/>
              </a:spcAft>
            </a:pPr>
            <a:r>
              <a:rPr sz="1050" b="0">
                <a:solidFill>
                  <a:srgbClr val="262626"/>
                </a:solidFill>
                <a:latin typeface="Meiryo"/>
                <a:ea typeface="Meiryo"/>
                <a:cs typeface="Meiryo"/>
              </a:rPr>
              <a:t>52. Biais M, Berthezène R, Petit L, Cottenceau V, Sztark F. Ability of esCCO to track changes in cardiac output. Br J Anaesth 2015;115:403–10.</a:t>
            </a:r>
          </a:p>
          <a:p>
            <a:pPr algn="l">
              <a:lnSpc>
                <a:spcPct val="115000"/>
              </a:lnSpc>
              <a:spcAft>
                <a:spcPts val="700"/>
              </a:spcAft>
            </a:pPr>
            <a:r>
              <a:rPr sz="1050" b="0">
                <a:solidFill>
                  <a:srgbClr val="262626"/>
                </a:solidFill>
                <a:latin typeface="Meiryo"/>
                <a:ea typeface="Meiryo"/>
                <a:cs typeface="Meiryo"/>
              </a:rPr>
              <a:t>53. Magliocca A, Rezoagli E, Anderson TA, et al. Cardiac output measurements based on the pulse wave transit time and thoracic impedance exhibit limited agreement with thermodilution method during orthotopic liver transplantation. Anesth Analg 2018;126:85–92.</a:t>
            </a:r>
          </a:p>
          <a:p>
            <a:pPr algn="l">
              <a:lnSpc>
                <a:spcPct val="115000"/>
              </a:lnSpc>
              <a:spcAft>
                <a:spcPts val="700"/>
              </a:spcAft>
            </a:pPr>
            <a:r>
              <a:rPr sz="1050" b="0">
                <a:solidFill>
                  <a:srgbClr val="262626"/>
                </a:solidFill>
                <a:latin typeface="Meiryo"/>
                <a:ea typeface="Meiryo"/>
                <a:cs typeface="Meiryo"/>
              </a:rPr>
              <a:t>54. Tsutsui M, Araki Y, Masui K, et al. Pulse wave transit time measurements of cardiac output in patients undergoing partial hepatectomy. Anesth Analg 2013;117:1307–12.</a:t>
            </a:r>
          </a:p>
          <a:p>
            <a:pPr algn="l">
              <a:lnSpc>
                <a:spcPct val="115000"/>
              </a:lnSpc>
              <a:spcAft>
                <a:spcPts val="700"/>
              </a:spcAft>
            </a:pPr>
            <a:r>
              <a:rPr sz="1050" b="0">
                <a:solidFill>
                  <a:srgbClr val="262626"/>
                </a:solidFill>
                <a:latin typeface="Meiryo"/>
                <a:ea typeface="Meiryo"/>
                <a:cs typeface="Meiryo"/>
              </a:rPr>
              <a:t>55. Critchley LA, Critchley JA. A meta-analysis of studies using bias and precision statistics to compare cardiac output measurement techniques. J Clin Monit Comput 1999;15:85–91.</a:t>
            </a:r>
          </a:p>
          <a:p>
            <a:pPr algn="l">
              <a:lnSpc>
                <a:spcPct val="115000"/>
              </a:lnSpc>
              <a:spcAft>
                <a:spcPts val="700"/>
              </a:spcAft>
            </a:pPr>
            <a:r>
              <a:rPr sz="1050" b="0">
                <a:solidFill>
                  <a:srgbClr val="262626"/>
                </a:solidFill>
                <a:latin typeface="Meiryo"/>
                <a:ea typeface="Meiryo"/>
                <a:cs typeface="Meiryo"/>
              </a:rPr>
              <a:t>56. Awad AA, Haddadin AS, Tantawy H, et al. The relationship between the photoplethysmographic waveform and systemic vascular resistance. J Clin Monit Comput 2007;21:365–72.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118/119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参考文献（5）</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57. Beutel F, Van Hoof C, Rottenberg X, Reesink K, Hermeling E. Pulse arrival time segmentation into cardiac and vascular intervals: implications for pulse wave velocity and blood pressure estimation. IEEE Trans Biomed Eng 2021;68:2810–20.</a:t>
            </a:r>
          </a:p>
          <a:p>
            <a:pPr algn="l">
              <a:lnSpc>
                <a:spcPct val="115000"/>
              </a:lnSpc>
              <a:spcAft>
                <a:spcPts val="700"/>
              </a:spcAft>
            </a:pPr>
            <a:r>
              <a:rPr sz="1050" b="0">
                <a:solidFill>
                  <a:srgbClr val="262626"/>
                </a:solidFill>
                <a:latin typeface="Meiryo"/>
                <a:ea typeface="Meiryo"/>
                <a:cs typeface="Meiryo"/>
              </a:rPr>
              <a:t>58. Middleton PM, Chan GS, Steel E, et al. Fingertip photoplethysmographic waveform variability and systemic vascular resistance in intensive care unit patients. Med Biol Eng Comput 2011;49:859–66.</a:t>
            </a:r>
          </a:p>
          <a:p>
            <a:pPr algn="l">
              <a:lnSpc>
                <a:spcPct val="115000"/>
              </a:lnSpc>
              <a:spcAft>
                <a:spcPts val="700"/>
              </a:spcAft>
            </a:pPr>
            <a:r>
              <a:rPr sz="1050" b="0">
                <a:solidFill>
                  <a:srgbClr val="262626"/>
                </a:solidFill>
                <a:latin typeface="Meiryo"/>
                <a:ea typeface="Meiryo"/>
                <a:cs typeface="Meiryo"/>
              </a:rPr>
              <a:t>59. Charlton PH, Kyriacou PA, Mant J, et al. Wearable photoplethysmography for cardiovascular monitoring. Proc IEEE 2022;110:355–81.</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endParaRP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119/119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なぜ成分波か</a:t>
            </a:r>
          </a:p>
        </p:txBody>
      </p:sp>
      <p:sp>
        <p:nvSpPr>
          <p:cNvPr id="18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8. Cunningham 2023　／　11. Chowienczyk 1999　／　33. Couceiro 2015　／　41. Rubins 2008　／　42. Goswami 2010</a:t>
            </a:r>
          </a:p>
        </p:txBody>
      </p:sp>
      <p:sp>
        <p:nvSpPr>
          <p:cNvPr id="182" name="l-bg"/>
          <p:cNvSpPr/>
          <p:nvPr/>
        </p:nvSpPr>
        <p:spPr>
          <a:xfrm>
            <a:off x="502920" y="1800000"/>
            <a:ext cx="5432840"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83"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従来 ― 切痕・変曲点から</a:t>
            </a:r>
          </a:p>
        </p:txBody>
      </p:sp>
      <p:sp>
        <p:nvSpPr>
          <p:cNvPr id="184" name="l-b"/>
          <p:cNvSpPr txBox="1"/>
          <p:nvPr/>
        </p:nvSpPr>
        <p:spPr>
          <a:xfrm>
            <a:off x="70292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・硬化・収縮で切痕が消える</a:t>
            </a:r>
          </a:p>
          <a:p>
            <a:pPr algn="l">
              <a:lnSpc>
                <a:spcPct val="120000"/>
              </a:lnSpc>
            </a:pPr>
            <a:r>
              <a:rPr lang="ja-JP" altLang="en-US" sz="2200" b="1" dirty="0">
                <a:solidFill>
                  <a:srgbClr val="262626"/>
                </a:solidFill>
                <a:latin typeface="Meiryo"/>
                <a:ea typeface="Meiryo"/>
                <a:cs typeface="Meiryo"/>
              </a:rPr>
              <a:t>・変曲点は反射波を過大評価</a:t>
            </a:r>
          </a:p>
          <a:p>
            <a:pPr algn="l">
              <a:lnSpc>
                <a:spcPct val="120000"/>
              </a:lnSpc>
            </a:pPr>
            <a:r>
              <a:rPr lang="ja-JP" altLang="en-US" sz="2200" b="1" dirty="0">
                <a:solidFill>
                  <a:srgbClr val="262626"/>
                </a:solidFill>
                <a:latin typeface="Meiryo"/>
                <a:ea typeface="Meiryo"/>
                <a:cs typeface="Meiryo"/>
              </a:rPr>
              <a:t>・DN-less は 14%（UK Biobank）</a:t>
            </a:r>
          </a:p>
        </p:txBody>
      </p:sp>
      <p:sp>
        <p:nvSpPr>
          <p:cNvPr id="185" name="r-bg"/>
          <p:cNvSpPr/>
          <p:nvPr/>
        </p:nvSpPr>
        <p:spPr>
          <a:xfrm>
            <a:off x="6210080" y="1800000"/>
            <a:ext cx="5432840"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86"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提案 ― 成分波から</a:t>
            </a:r>
          </a:p>
        </p:txBody>
      </p:sp>
      <p:sp>
        <p:nvSpPr>
          <p:cNvPr id="187" name="r-b"/>
          <p:cNvSpPr txBox="1"/>
          <p:nvPr/>
        </p:nvSpPr>
        <p:spPr>
          <a:xfrm>
            <a:off x="641008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・切痕が消えても反射波はある</a:t>
            </a:r>
            <a:r>
              <a:rPr lang="ja-JP" altLang="en-US" sz="2200" b="1">
                <a:solidFill>
                  <a:srgbClr val="262626"/>
                </a:solidFill>
                <a:latin typeface="Meiryo"/>
                <a:ea typeface="Meiryo"/>
                <a:cs typeface="Meiryo"/>
              </a:rPr>
              <a:t/>
            </a:r>
            <a:r>
              <a:rPr lang="ja-JP" altLang="en-US" sz="2200" b="1" dirty="0">
                <a:solidFill>
                  <a:srgbClr val="262626"/>
                </a:solidFill>
                <a:latin typeface="Meiryo"/>
                <a:ea typeface="Meiryo"/>
                <a:cs typeface="Meiryo"/>
              </a:rPr>
              <a:t/>
            </a:r>
          </a:p>
          <a:p>
            <a:pPr algn="l">
              <a:lnSpc>
                <a:spcPct val="120000"/>
              </a:lnSpc>
            </a:pPr>
            <a:r>
              <a:rPr lang="ja-JP" altLang="en-US" sz="2200" b="1" dirty="0">
                <a:solidFill>
                  <a:srgbClr val="262626"/>
                </a:solidFill>
                <a:latin typeface="Meiryo"/>
                <a:ea typeface="Meiryo"/>
                <a:cs typeface="Meiryo"/>
              </a:rPr>
              <a:t>・反射波の時相と振幅を直接測る</a:t>
            </a:r>
          </a:p>
          <a:p>
            <a:pPr algn="l">
              <a:lnSpc>
                <a:spcPct val="120000"/>
              </a:lnSpc>
            </a:pPr>
            <a:r>
              <a:rPr lang="ja-JP" altLang="en-US" sz="2200" b="1" dirty="0">
                <a:solidFill>
                  <a:srgbClr val="262626"/>
                </a:solidFill>
                <a:latin typeface="Meiryo"/>
                <a:ea typeface="Meiryo"/>
                <a:cs typeface="Meiryo"/>
              </a:rPr>
              <a:t>・従来法との一致は実証済み</a:t>
            </a:r>
          </a:p>
        </p:txBody>
      </p:sp>
      <p:sp>
        <p:nvSpPr>
          <p:cNvPr id="188" name="b1"/>
          <p:cNvSpPr/>
          <p:nvPr/>
        </p:nvSpPr>
        <p:spPr>
          <a:xfrm>
            <a:off x="502920" y="4400000"/>
            <a:ext cx="11140000" cy="9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切痕は前進波と反射波の重なりが作る「見え方」にすぎない。</a:t>
            </a:r>
          </a:p>
        </p:txBody>
      </p:sp>
      <p:sp>
        <p:nvSpPr>
          <p:cNvPr id="189" name="b2"/>
          <p:cNvSpPr/>
          <p:nvPr/>
        </p:nvSpPr>
        <p:spPr>
          <a:xfrm>
            <a:off x="502920" y="5500000"/>
            <a:ext cx="11140000" cy="850000"/>
          </a:xfrm>
          <a:prstGeom prst="roundRect">
            <a:avLst>
              <a:gd name="adj" fmla="val 4000"/>
            </a:avLst>
          </a:prstGeom>
          <a:solidFill>
            <a:srgbClr val="E4F5F5"/>
          </a:solidFill>
          <a:ln w="28575">
            <a:solidFill>
              <a:srgbClr val="00A8AA"/>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反射波そのものを測るのが生理的で合理的 ― そのための PDA。</a:t>
            </a:r>
          </a:p>
        </p:txBody>
      </p:sp>
      <p:sp>
        <p:nvSpPr>
          <p:cNvPr id="19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101/119</a:t>
            </a:r>
          </a:p>
        </p:txBody>
      </p:sp>
      <p:sp>
        <p:nvSpPr>
          <p:cNvPr id="19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9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9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9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6"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PDAで測る SI・RI</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36. Fleischhauer 2020　／　41. Rubins 2008　／　42. Goswami 2010　／　44. Basso 2024</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波形</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SpO₂ と同じセンサの脈波を 1 拍ずつ切り出す。</a:t>
            </a:r>
          </a:p>
          <a:p>
            <a:pPr algn="l">
              <a:lnSpc>
                <a:spcPct val="120000"/>
              </a:lnSpc>
            </a:pPr>
            <a:r>
              <a:rPr lang="ja-JP" altLang="en-US" sz="2200" b="1" dirty="0">
                <a:solidFill>
                  <a:srgbClr val="262626"/>
                </a:solidFill>
                <a:latin typeface="Meiryo"/>
                <a:ea typeface="Meiryo"/>
                <a:cs typeface="Meiryo"/>
              </a:rPr>
              <a:t>追加センサ・追加コストなし</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分解</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Skewed–Gaussian 2 カーネルで前進波と反射波に分ける。</a:t>
            </a:r>
          </a:p>
          <a:p>
            <a:pPr algn="l">
              <a:lnSpc>
                <a:spcPct val="120000"/>
              </a:lnSpc>
            </a:pPr>
            <a:r>
              <a:rPr lang="ja-JP" altLang="en-US" sz="2200" b="1" dirty="0">
                <a:solidFill>
                  <a:srgbClr val="262626"/>
                </a:solidFill>
                <a:latin typeface="Meiryo"/>
                <a:ea typeface="Meiryo"/>
                <a:cs typeface="Meiryo"/>
              </a:rPr>
              <a:t>切痕・変曲点の検出には頼らない。</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算出</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成分波のピーク時間差から SI、高さの比から RI を出す。</a:t>
            </a:r>
          </a:p>
          <a:p>
            <a:pPr algn="l">
              <a:lnSpc>
                <a:spcPct val="120000"/>
              </a:lnSpc>
            </a:pPr>
            <a:r>
              <a:rPr lang="ja-JP" altLang="en-US" sz="2200" b="1" dirty="0">
                <a:solidFill>
                  <a:srgbClr val="262626"/>
                </a:solidFill>
                <a:latin typeface="Meiryo"/>
                <a:ea typeface="Meiryo"/>
                <a:cs typeface="Meiryo"/>
              </a:rPr>
              <a:t>SI ＝ 身長 ÷ ΔT ／ RI ＝ a₂ ÷ a₁</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補正</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得られた SI・RI で K を較正し、esCCO の誤差を減らす。</a:t>
            </a:r>
          </a:p>
          <a:p>
            <a:pPr algn="l">
              <a:lnSpc>
                <a:spcPct val="120000"/>
              </a:lnSpc>
            </a:pPr>
            <a:r>
              <a:rPr lang="ja-JP" altLang="en-US" sz="2200" b="1" dirty="0">
                <a:solidFill>
                  <a:srgbClr val="262626"/>
                </a:solidFill>
                <a:latin typeface="Meiryo"/>
                <a:ea typeface="Meiryo"/>
                <a:cs typeface="Meiryo"/>
              </a:rPr>
              <a:t>DN-less 波形でも同じ手順で計算できる。</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102/119</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30906</TotalTime>
  <Words>10031</Words>
  <Application>Microsoft Macintosh PowerPoint</Application>
  <PresentationFormat>ワイド画面</PresentationFormat>
  <Paragraphs>2890</Paragraphs>
  <Slides>120</Slides>
  <Notes>0</Notes>
  <HiddenSlides>3</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120</vt:i4>
      </vt:variant>
    </vt:vector>
  </HeadingPairs>
  <TitlesOfParts>
    <vt:vector size="125" baseType="lpstr">
      <vt:lpstr>Meiryo</vt:lpstr>
      <vt:lpstr>游ゴシック</vt:lpstr>
      <vt:lpstr>Arial</vt:lpstr>
      <vt:lpstr>Calibri</vt:lpstr>
      <vt:lpstr>Office テーマ</vt:lpstr>
      <vt:lpstr>光電式容積脈波記録法：PhotoPlethysmoGraphy（ PPG ） 波形解析について</vt:lpstr>
      <vt:lpstr>用語の整理</vt:lpstr>
      <vt:lpstr>目的</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3.1. Stiffness Index</vt:lpstr>
      <vt:lpstr>3.2  Reflection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波形変化をどう読むか</vt:lpstr>
      <vt:lpstr>4.1  切痕が見えないとき</vt:lpstr>
      <vt:lpstr>4.2  極端な動脈硬化</vt:lpstr>
      <vt:lpstr>4.3  DN-less 信号対策</vt:lpstr>
      <vt:lpstr>4.3  DN-less 信号対策</vt:lpstr>
      <vt:lpstr>5. PDA（波形分解）</vt:lpstr>
      <vt:lpstr>5.1  PDA とは</vt:lpstr>
      <vt:lpstr>5.2  合成波と成分波</vt:lpstr>
      <vt:lpstr>5.2  基底関数とは</vt:lpstr>
      <vt:lpstr>5.2  代表的な基底関数の形</vt:lpstr>
      <vt:lpstr>5.2  カーネル数</vt:lpstr>
      <vt:lpstr>5.3  どうやって推測するのか</vt:lpstr>
      <vt:lpstr>5.3  初期値/境界条件の決め方</vt:lpstr>
      <vt:lpstr>5.3  当てはめ方</vt:lpstr>
      <vt:lpstr>5.3  収束の検算</vt:lpstr>
      <vt:lpstr>5.4  重要文献の全体像</vt:lpstr>
      <vt:lpstr>5.4  Rubins 2008</vt:lpstr>
      <vt:lpstr>5.4  Goswami 2010</vt:lpstr>
      <vt:lpstr>5.4  Couceiro 2012</vt:lpstr>
      <vt:lpstr>5.4  Couceiro 2015</vt:lpstr>
      <vt:lpstr>5.4  Tigges 2017</vt:lpstr>
      <vt:lpstr>5.4  Fleischhauer 2020</vt:lpstr>
      <vt:lpstr>5.4  Basso 2024</vt:lpstr>
      <vt:lpstr>5.5  PDA の限界</vt:lpstr>
      <vt:lpstr>6. 提案</vt:lpstr>
      <vt:lpstr>6.1  esCCO の推定構造</vt:lpstr>
      <vt:lpstr>6.1  esCCO の推定構造</vt:lpstr>
      <vt:lpstr>6.1  後負荷で符号が反転</vt:lpstr>
      <vt:lpstr>6.2  誤差と血管抵抗の関係</vt:lpstr>
      <vt:lpstr>6.2  精度の現在地</vt:lpstr>
      <vt:lpstr>6.3  提案 ― K を動的に補正</vt:lpstr>
      <vt:lpstr>6.3  なぜ SI・RI か</vt:lpstr>
      <vt:lpstr>6.3  ΔT は PEP を含まない</vt:lpstr>
      <vt:lpstr>6.4  期待される利点</vt:lpstr>
      <vt:lpstr>6.5  限界 ― 指標の側</vt:lpstr>
      <vt:lpstr>6.5  限界 ― 信号と検証の側</vt:lpstr>
      <vt:lpstr>6.6  実現までの道筋</vt:lpstr>
      <vt:lpstr>6.7  Vital DBで先行研究</vt:lpstr>
      <vt:lpstr>6.8  実機で波形が取れるか</vt:lpstr>
      <vt:lpstr>6.9  必要な症例数</vt:lpstr>
      <vt:lpstr>6.10  必要な機器と体制</vt:lpstr>
      <vt:lpstr>6.11  倫理と手続き</vt:lpstr>
      <vt:lpstr>6.12  想定されるつまずき</vt:lpstr>
      <vt:lpstr>6.  提案のまとめ</vt:lpstr>
      <vt:lpstr>参考文献</vt:lpstr>
      <vt:lpstr>参考文献（2）</vt:lpstr>
      <vt:lpstr>参考文献（3）</vt:lpstr>
      <vt:lpstr>参考文献（4）</vt:lpstr>
      <vt:lpstr>参考文献（5）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88</cp:revision>
  <dcterms:created xsi:type="dcterms:W3CDTF">2025-01-05T04:32:32Z</dcterms:created>
  <dcterms:modified xsi:type="dcterms:W3CDTF">2026-08-24T04:16:51Z</dcterms:modified>
</cp:coreProperties>
</file>